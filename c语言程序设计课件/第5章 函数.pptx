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3.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4.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5.xml" ContentType="application/vnd.openxmlformats-officedocument.presentationml.tags+xml"/>
  <Override PartName="/ppt/notesSlides/notesSlide23.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2"/>
  </p:notesMasterIdLst>
  <p:sldIdLst>
    <p:sldId id="276" r:id="rId2"/>
    <p:sldId id="652" r:id="rId3"/>
    <p:sldId id="994" r:id="rId4"/>
    <p:sldId id="995" r:id="rId5"/>
    <p:sldId id="907" r:id="rId6"/>
    <p:sldId id="908" r:id="rId7"/>
    <p:sldId id="909" r:id="rId8"/>
    <p:sldId id="910" r:id="rId9"/>
    <p:sldId id="911" r:id="rId10"/>
    <p:sldId id="912" r:id="rId11"/>
    <p:sldId id="913" r:id="rId12"/>
    <p:sldId id="996" r:id="rId13"/>
    <p:sldId id="914" r:id="rId14"/>
    <p:sldId id="915" r:id="rId15"/>
    <p:sldId id="916" r:id="rId16"/>
    <p:sldId id="997" r:id="rId17"/>
    <p:sldId id="917" r:id="rId18"/>
    <p:sldId id="918" r:id="rId19"/>
    <p:sldId id="919" r:id="rId20"/>
    <p:sldId id="920" r:id="rId21"/>
    <p:sldId id="921" r:id="rId22"/>
    <p:sldId id="922" r:id="rId23"/>
    <p:sldId id="923" r:id="rId24"/>
    <p:sldId id="924" r:id="rId25"/>
    <p:sldId id="925" r:id="rId26"/>
    <p:sldId id="926" r:id="rId27"/>
    <p:sldId id="998" r:id="rId28"/>
    <p:sldId id="927" r:id="rId29"/>
    <p:sldId id="928" r:id="rId30"/>
    <p:sldId id="929" r:id="rId31"/>
    <p:sldId id="930" r:id="rId32"/>
    <p:sldId id="999" r:id="rId33"/>
    <p:sldId id="931" r:id="rId34"/>
    <p:sldId id="932" r:id="rId35"/>
    <p:sldId id="933" r:id="rId36"/>
    <p:sldId id="934" r:id="rId37"/>
    <p:sldId id="935" r:id="rId38"/>
    <p:sldId id="936" r:id="rId39"/>
    <p:sldId id="937" r:id="rId40"/>
    <p:sldId id="938" r:id="rId41"/>
    <p:sldId id="939" r:id="rId42"/>
    <p:sldId id="940" r:id="rId43"/>
    <p:sldId id="1000" r:id="rId44"/>
    <p:sldId id="941" r:id="rId45"/>
    <p:sldId id="942" r:id="rId46"/>
    <p:sldId id="943" r:id="rId47"/>
    <p:sldId id="944" r:id="rId48"/>
    <p:sldId id="945" r:id="rId49"/>
    <p:sldId id="1001" r:id="rId50"/>
    <p:sldId id="946" r:id="rId51"/>
    <p:sldId id="947" r:id="rId52"/>
    <p:sldId id="948" r:id="rId53"/>
    <p:sldId id="949" r:id="rId54"/>
    <p:sldId id="950" r:id="rId55"/>
    <p:sldId id="951" r:id="rId56"/>
    <p:sldId id="952" r:id="rId57"/>
    <p:sldId id="953" r:id="rId58"/>
    <p:sldId id="954" r:id="rId59"/>
    <p:sldId id="955" r:id="rId60"/>
    <p:sldId id="956" r:id="rId61"/>
    <p:sldId id="957" r:id="rId62"/>
    <p:sldId id="958" r:id="rId63"/>
    <p:sldId id="959" r:id="rId64"/>
    <p:sldId id="1002" r:id="rId65"/>
    <p:sldId id="960" r:id="rId66"/>
    <p:sldId id="961" r:id="rId67"/>
    <p:sldId id="962" r:id="rId68"/>
    <p:sldId id="963" r:id="rId69"/>
    <p:sldId id="964" r:id="rId70"/>
    <p:sldId id="965" r:id="rId71"/>
    <p:sldId id="1003" r:id="rId72"/>
    <p:sldId id="966" r:id="rId73"/>
    <p:sldId id="967" r:id="rId74"/>
    <p:sldId id="968" r:id="rId75"/>
    <p:sldId id="969" r:id="rId76"/>
    <p:sldId id="970" r:id="rId77"/>
    <p:sldId id="971" r:id="rId78"/>
    <p:sldId id="972" r:id="rId79"/>
    <p:sldId id="973" r:id="rId80"/>
    <p:sldId id="974" r:id="rId81"/>
    <p:sldId id="975" r:id="rId82"/>
    <p:sldId id="976" r:id="rId83"/>
    <p:sldId id="977" r:id="rId84"/>
    <p:sldId id="978" r:id="rId85"/>
    <p:sldId id="979" r:id="rId86"/>
    <p:sldId id="980" r:id="rId87"/>
    <p:sldId id="981" r:id="rId88"/>
    <p:sldId id="982" r:id="rId89"/>
    <p:sldId id="983" r:id="rId90"/>
    <p:sldId id="984" r:id="rId91"/>
    <p:sldId id="985" r:id="rId92"/>
    <p:sldId id="986" r:id="rId93"/>
    <p:sldId id="987" r:id="rId94"/>
    <p:sldId id="988" r:id="rId95"/>
    <p:sldId id="1004" r:id="rId96"/>
    <p:sldId id="989" r:id="rId97"/>
    <p:sldId id="990" r:id="rId98"/>
    <p:sldId id="991" r:id="rId99"/>
    <p:sldId id="992" r:id="rId100"/>
    <p:sldId id="993" r:id="rId101"/>
  </p:sldIdLst>
  <p:sldSz cx="9144000" cy="5143500" type="screen16x9"/>
  <p:notesSz cx="6858000" cy="9144000"/>
  <p:custDataLst>
    <p:tags r:id="rId10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engdan li" initials="zl" lastIdx="1" clrIdx="0"/>
  <p:cmAuthor id="2" name="lizhengdan" initials="l"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CCFF"/>
    <a:srgbClr val="F2C0FD"/>
    <a:srgbClr val="7823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5" d="100"/>
          <a:sy n="95" d="100"/>
        </p:scale>
        <p:origin x="444"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ags" Target="tags/tag1.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2024/10/30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8DEE91-9E5B-4C90-98E0-D34F93C6BF12}"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8DEE91-9E5B-4C90-98E0-D34F93C6BF12}"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p:cNvSpPr>
          <p:nvPr>
            <p:ph type="sldImg"/>
          </p:nvPr>
        </p:nvSpPr>
        <p:spPr/>
      </p:sp>
      <p:sp>
        <p:nvSpPr>
          <p:cNvPr id="6146" name="文本占位符 2"/>
          <p:cNvSpPr>
            <a:spLocks noGrp="1"/>
          </p:cNvSpPr>
          <p:nvPr>
            <p:ph type="body"/>
          </p:nvPr>
        </p:nvSpPr>
        <p:spPr/>
        <p:txBody>
          <a:bodyPr lIns="91440" tIns="45720" rIns="91440" bIns="45720" anchor="t" anchorCtr="0"/>
          <a:lstStyle/>
          <a:p>
            <a:pPr lvl="0"/>
            <a:endParaRPr lang="zh-CN" altLang="en-US">
              <a:ea typeface="宋体"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幻灯片图像占位符 1"/>
          <p:cNvSpPr>
            <a:spLocks noGrp="1" noRot="1" noChangeAspect="1"/>
          </p:cNvSpPr>
          <p:nvPr>
            <p:ph type="sldImg"/>
          </p:nvPr>
        </p:nvSpPr>
        <p:spPr/>
      </p:sp>
      <p:sp>
        <p:nvSpPr>
          <p:cNvPr id="8194" name="文本占位符 2"/>
          <p:cNvSpPr>
            <a:spLocks noGrp="1"/>
          </p:cNvSpPr>
          <p:nvPr>
            <p:ph type="body"/>
          </p:nvPr>
        </p:nvSpPr>
        <p:spPr/>
        <p:txBody>
          <a:bodyPr lIns="91440" tIns="45720" rIns="91440" bIns="45720" anchor="t" anchorCtr="0"/>
          <a:lstStyle/>
          <a:p>
            <a:pPr lvl="0"/>
            <a:endParaRPr lang="zh-CN" altLang="en-US">
              <a:ea typeface="宋体"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8DEE91-9E5B-4C90-98E0-D34F93C6BF12}" type="slidenum">
              <a:rPr lang="zh-CN" altLang="en-US" smtClean="0"/>
              <a:t>12</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幻灯片图像占位符 1"/>
          <p:cNvSpPr>
            <a:spLocks noGrp="1" noRot="1" noChangeAspect="1"/>
          </p:cNvSpPr>
          <p:nvPr>
            <p:ph type="sldImg"/>
          </p:nvPr>
        </p:nvSpPr>
        <p:spPr/>
      </p:sp>
      <p:sp>
        <p:nvSpPr>
          <p:cNvPr id="15362" name="文本占位符 2"/>
          <p:cNvSpPr>
            <a:spLocks noGrp="1"/>
          </p:cNvSpPr>
          <p:nvPr>
            <p:ph type="body"/>
          </p:nvPr>
        </p:nvSpPr>
        <p:spPr/>
        <p:txBody>
          <a:bodyPr lIns="91440" tIns="45720" rIns="91440" bIns="45720" anchor="t" anchorCtr="0"/>
          <a:lstStyle/>
          <a:p>
            <a:pPr lvl="0"/>
            <a:endParaRPr lang="zh-CN" altLang="en-US">
              <a:ea typeface="宋体"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幻灯片图像占位符 1"/>
          <p:cNvSpPr>
            <a:spLocks noGrp="1" noRot="1" noChangeAspect="1"/>
          </p:cNvSpPr>
          <p:nvPr>
            <p:ph type="sldImg"/>
          </p:nvPr>
        </p:nvSpPr>
        <p:spPr/>
      </p:sp>
      <p:sp>
        <p:nvSpPr>
          <p:cNvPr id="18434" name="文本占位符 2"/>
          <p:cNvSpPr>
            <a:spLocks noGrp="1"/>
          </p:cNvSpPr>
          <p:nvPr>
            <p:ph type="body"/>
          </p:nvPr>
        </p:nvSpPr>
        <p:spPr/>
        <p:txBody>
          <a:bodyPr lIns="91440" tIns="45720" rIns="91440" bIns="45720" anchor="t" anchorCtr="0"/>
          <a:lstStyle/>
          <a:p>
            <a:pPr lvl="0"/>
            <a:r>
              <a:rPr lang="zh-CN" altLang="zh-CN" dirty="0">
                <a:ea typeface="宋体" pitchFamily="2" charset="-122"/>
              </a:rPr>
              <a:t>先用空函数占一个位置，以后</a:t>
            </a:r>
            <a:r>
              <a:rPr lang="zh-CN" altLang="en-US" dirty="0">
                <a:ea typeface="宋体" pitchFamily="2" charset="-122"/>
              </a:rPr>
              <a:t>逐步</a:t>
            </a:r>
            <a:r>
              <a:rPr lang="zh-CN" altLang="zh-CN" dirty="0">
                <a:ea typeface="宋体" pitchFamily="2" charset="-122"/>
              </a:rPr>
              <a:t>扩充</a:t>
            </a:r>
            <a:endParaRPr lang="en-US" altLang="zh-CN" dirty="0"/>
          </a:p>
          <a:p>
            <a:pPr lvl="0"/>
            <a:r>
              <a:rPr lang="zh-CN" altLang="en-US" dirty="0">
                <a:ea typeface="宋体" pitchFamily="2" charset="-122"/>
              </a:rPr>
              <a:t>好处：</a:t>
            </a:r>
            <a:r>
              <a:rPr lang="zh-CN" altLang="zh-CN" dirty="0">
                <a:ea typeface="宋体" pitchFamily="2" charset="-122"/>
              </a:rPr>
              <a:t>程序结构清楚，可读性好，以后扩充新功能方便，对程序结构影响不大</a:t>
            </a:r>
          </a:p>
          <a:p>
            <a:pPr lvl="0"/>
            <a:endParaRPr lang="zh-CN" altLang="en-US">
              <a:ea typeface="宋体"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8DEE91-9E5B-4C90-98E0-D34F93C6BF12}" type="slidenum">
              <a:rPr lang="zh-CN" altLang="en-US" smtClean="0"/>
              <a:t>16</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幻灯片图像占位符 1"/>
          <p:cNvSpPr>
            <a:spLocks noGrp="1" noRot="1" noChangeAspect="1"/>
          </p:cNvSpPr>
          <p:nvPr>
            <p:ph type="sldImg"/>
          </p:nvPr>
        </p:nvSpPr>
        <p:spPr/>
      </p:sp>
      <p:sp>
        <p:nvSpPr>
          <p:cNvPr id="21506" name="文本占位符 2"/>
          <p:cNvSpPr>
            <a:spLocks noGrp="1"/>
          </p:cNvSpPr>
          <p:nvPr>
            <p:ph type="body"/>
          </p:nvPr>
        </p:nvSpPr>
        <p:spPr/>
        <p:txBody>
          <a:bodyPr lIns="91440" tIns="45720" rIns="91440" bIns="45720" anchor="t" anchorCtr="0"/>
          <a:lstStyle/>
          <a:p>
            <a:pPr lvl="0"/>
            <a:r>
              <a:rPr lang="zh-CN" altLang="zh-CN" dirty="0">
                <a:ea typeface="宋体" pitchFamily="2" charset="-122"/>
              </a:rPr>
              <a:t>这时不要求函数带回值，只要求函数完成一定的操作</a:t>
            </a:r>
          </a:p>
          <a:p>
            <a:pPr lvl="0"/>
            <a:r>
              <a:rPr lang="zh-CN" altLang="zh-CN" dirty="0">
                <a:ea typeface="宋体" pitchFamily="2" charset="-122"/>
                <a:sym typeface="宋体" pitchFamily="2" charset="-122"/>
              </a:rPr>
              <a:t>这时要求函数带回一个确定的值以参加表达式的运算</a:t>
            </a:r>
            <a:endParaRPr lang="zh-CN" altLang="zh-CN" dirty="0">
              <a:ea typeface="宋体" pitchFamily="2" charset="-122"/>
            </a:endParaRPr>
          </a:p>
          <a:p>
            <a:pPr lvl="0"/>
            <a:endParaRPr lang="zh-CN" altLang="en-US">
              <a:ea typeface="宋体"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8DEE91-9E5B-4C90-98E0-D34F93C6BF12}" type="slidenum">
              <a:rPr lang="zh-CN" altLang="en-US" smtClean="0"/>
              <a:t>27</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p:cNvSpPr>
            <a:spLocks noGrp="1" noRot="1" noChangeAspect="1"/>
          </p:cNvSpPr>
          <p:nvPr>
            <p:ph type="sldImg"/>
          </p:nvPr>
        </p:nvSpPr>
        <p:spPr/>
      </p:sp>
      <p:sp>
        <p:nvSpPr>
          <p:cNvPr id="31746" name="文本占位符 2"/>
          <p:cNvSpPr>
            <a:spLocks noGrp="1"/>
          </p:cNvSpPr>
          <p:nvPr>
            <p:ph type="body"/>
          </p:nvPr>
        </p:nvSpPr>
        <p:spPr/>
        <p:txBody>
          <a:bodyPr lIns="91440" tIns="45720" rIns="91440" bIns="45720" anchor="t" anchorCtr="0"/>
          <a:lstStyle/>
          <a:p>
            <a:pPr lvl="0"/>
            <a:endParaRPr lang="zh-CN" altLang="en-US">
              <a:ea typeface="宋体"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8DEE91-9E5B-4C90-98E0-D34F93C6BF12}" type="slidenum">
              <a:rPr lang="zh-CN" altLang="en-US" smtClean="0"/>
              <a:t>32</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8DEE91-9E5B-4C90-98E0-D34F93C6BF12}" type="slidenum">
              <a:rPr lang="zh-CN" altLang="en-US" smtClean="0"/>
              <a:t>43</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8DEE91-9E5B-4C90-98E0-D34F93C6BF12}" type="slidenum">
              <a:rPr lang="zh-CN" altLang="en-US" smtClean="0"/>
              <a:t>49</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1</a:t>
            </a:r>
            <a:r>
              <a:rPr lang="zh-CN" altLang="en-US"/>
              <a:t>、实参数组与形参数组类型应一致(今都为 float 型),如不一致，结果将出错。</a:t>
            </a:r>
          </a:p>
          <a:p>
            <a:r>
              <a:rPr lang="en-US" altLang="zh-CN"/>
              <a:t>2</a:t>
            </a:r>
            <a:r>
              <a:rPr lang="zh-CN" altLang="en-US"/>
              <a:t>、在定义average 函数时,声明形参数组的大小为 10,但在实际上,指定其大小是不起任何作用的,因为C语言编译系统并不检查形参数组大小，只是将实参数组的首元素的地址传给形参数组名。形参数组名获得了实参数组的首元素的地址，前已说明,数组名代表组的首元素的地址,因此,可以认为,形参数组首元素array[</a:t>
            </a:r>
            <a:r>
              <a:rPr lang="en-US" altLang="zh-CN"/>
              <a:t>0</a:t>
            </a:r>
            <a:r>
              <a:rPr lang="zh-CN" altLang="en-US"/>
              <a:t>])和实参数组首元素(score</a:t>
            </a:r>
            <a:r>
              <a:rPr lang="en-US" altLang="zh-CN"/>
              <a:t>[0]</a:t>
            </a:r>
            <a:r>
              <a:rPr lang="zh-CN" altLang="en-US"/>
              <a:t>具有同一地址,它们共占同一存储单元,score[n]和 array[n]指的是同一单元。score[n]和array[n]具有相同的值。</a:t>
            </a:r>
          </a:p>
          <a:p>
            <a:r>
              <a:rPr lang="zh-CN" altLang="en-US"/>
              <a:t>(4)形参数组可以不指定大小,在定义数组时在数组名后面跟一个空的方括号,如</a:t>
            </a:r>
            <a:r>
              <a:rPr lang="en-US" altLang="zh-CN" dirty="0">
                <a:solidFill>
                  <a:srgbClr val="0000CC"/>
                </a:solidFill>
                <a:latin typeface="Arial" panose="020B0604020202090204" pitchFamily="34" charset="0"/>
                <a:sym typeface="+mn-ea"/>
              </a:rPr>
              <a:t>float array[ ]</a:t>
            </a:r>
            <a:endParaRPr lang="en-US" altLang="zh-CN">
              <a:sym typeface="+mn-ea"/>
            </a:endParaRPr>
          </a:p>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8DEE91-9E5B-4C90-98E0-D34F93C6BF12}" type="slidenum">
              <a:rPr lang="zh-CN" altLang="en-US" smtClean="0"/>
              <a:t>64</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前配介绍,程序的编译单位是源程序文件，一个源文件可以包含一个或若干个函数。在函数内定义的变量是局部变量，而在函数之外定义的变量称为外部变量,外部变量是全局变量（也称全程变量)。全局变量可以为本文件中其他函数所共用。它的有效范用为从定义变一的位置开始到本源文件结束。</a:t>
            </a:r>
          </a:p>
          <a:p>
            <a:r>
              <a:rPr lang="zh-CN" altLang="en-US"/>
              <a:t>注意: 在函数内定义的变量是局部变量，在函数外定义的变量是全局变量</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分析主函数和</a:t>
            </a:r>
            <a:r>
              <a:rPr lang="en-US" altLang="zh-CN"/>
              <a:t>max</a:t>
            </a:r>
            <a:r>
              <a:rPr lang="zh-CN" altLang="en-US"/>
              <a:t>函数两部分。</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8DEE91-9E5B-4C90-98E0-D34F93C6BF12}" type="slidenum">
              <a:rPr lang="zh-CN" altLang="en-US" smtClean="0"/>
              <a:t>71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先看一下内存中的供用户使用的存储空间的情况。这个存储空间可以分为</a:t>
            </a:r>
            <a:r>
              <a:rPr lang="en-US" altLang="zh-CN"/>
              <a:t>3</a:t>
            </a:r>
            <a:r>
              <a:rPr lang="zh-CN" altLang="en-US"/>
              <a:t>部分：</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1</a:t>
            </a:r>
            <a:r>
              <a:rPr lang="zh-CN" altLang="en-US"/>
              <a:t>、局部静态变量，函数调用结束后不消失而继续保留原值，即占用的存储单位不释放</a:t>
            </a:r>
          </a:p>
          <a:p>
            <a:r>
              <a:rPr lang="en-US" altLang="zh-CN"/>
              <a:t>2</a:t>
            </a:r>
            <a:r>
              <a:rPr lang="zh-CN" altLang="en-US"/>
              <a:t>、实际上，关键字</a:t>
            </a:r>
            <a:r>
              <a:rPr lang="en-US" altLang="zh-CN"/>
              <a:t>auto</a:t>
            </a:r>
            <a:r>
              <a:rPr lang="zh-CN" altLang="en-US"/>
              <a:t>可以省略，不写</a:t>
            </a:r>
            <a:r>
              <a:rPr lang="en-US" altLang="zh-CN"/>
              <a:t>auto</a:t>
            </a:r>
            <a:r>
              <a:rPr lang="zh-CN" altLang="en-US"/>
              <a:t>则隐含指定为</a:t>
            </a:r>
            <a:r>
              <a:rPr lang="en-US" altLang="zh-CN"/>
              <a:t>“</a:t>
            </a:r>
            <a:r>
              <a:rPr lang="zh-CN" altLang="en-US"/>
              <a:t>自动存储类别</a:t>
            </a:r>
            <a:r>
              <a:rPr lang="en-US" altLang="zh-CN"/>
              <a:t>”</a:t>
            </a:r>
            <a:br>
              <a:rPr lang="en-US" altLang="zh-CN"/>
            </a:b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88DEE91-9E5B-4C90-98E0-D34F93C6BF12}" type="slidenum">
              <a:rPr lang="zh-CN" altLang="en-US" smtClean="0"/>
              <a:t>95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886700" cy="994172"/>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69219"/>
            <a:ext cx="7886700" cy="3263504"/>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28650" y="4767263"/>
            <a:ext cx="2057400" cy="273844"/>
          </a:xfrm>
          <a:prstGeom prst="rect">
            <a:avLst/>
          </a:prstGeom>
        </p:spPr>
        <p:txBody>
          <a:bodyPr/>
          <a:lstStyle/>
          <a:p>
            <a:fld id="{1C3BB909-BA8B-4CC5-AF4F-417D76428D47}" type="datetimeFigureOut">
              <a:rPr lang="zh-CN" altLang="en-US" smtClean="0"/>
              <a:t>2024/10/30</a:t>
            </a:fld>
            <a:endParaRPr lang="zh-CN" altLang="en-US"/>
          </a:p>
        </p:txBody>
      </p:sp>
      <p:sp>
        <p:nvSpPr>
          <p:cNvPr id="5" name="页脚占位符 4"/>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457950" y="4767263"/>
            <a:ext cx="2057400" cy="273844"/>
          </a:xfrm>
          <a:prstGeom prst="rect">
            <a:avLst/>
          </a:prstGeom>
        </p:spPr>
        <p:txBody>
          <a:bodyPr/>
          <a:lstStyle/>
          <a:p>
            <a:fld id="{1A1A799A-9E7D-41E1-9473-F8C111ED821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CE1F9FB-DACA-49B5-8A56-3AE278C745E0}"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小结">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6CE1F9FB-DACA-49B5-8A56-3AE278C745E0}"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3_标题幻灯片">
    <p:bg>
      <p:bgPr>
        <a:solidFill>
          <a:schemeClr val="bg1"/>
        </a:solidFill>
        <a:effectLst/>
      </p:bgPr>
    </p:bg>
    <p:spTree>
      <p:nvGrpSpPr>
        <p:cNvPr id="1" name=""/>
        <p:cNvGrpSpPr/>
        <p:nvPr/>
      </p:nvGrpSpPr>
      <p:grpSpPr>
        <a:xfrm>
          <a:off x="0" y="0"/>
          <a:ext cx="0" cy="0"/>
          <a:chOff x="0" y="0"/>
          <a:chExt cx="0" cy="0"/>
        </a:xfrm>
      </p:grpSpPr>
      <p:pic>
        <p:nvPicPr>
          <p:cNvPr id="30724" name="图片 8"/>
          <p:cNvPicPr>
            <a:picLocks noChangeAspect="1"/>
          </p:cNvPicPr>
          <p:nvPr userDrawn="1"/>
        </p:nvPicPr>
        <p:blipFill>
          <a:blip r:embed="rId2"/>
          <a:stretch>
            <a:fillRect/>
          </a:stretch>
        </p:blipFill>
        <p:spPr>
          <a:xfrm>
            <a:off x="-1587" y="0"/>
            <a:ext cx="9145587" cy="5143500"/>
          </a:xfrm>
          <a:prstGeom prst="rect">
            <a:avLst/>
          </a:prstGeom>
          <a:noFill/>
          <a:ln w="9525">
            <a:noFill/>
          </a:ln>
        </p:spPr>
      </p:pic>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4A6649B-253A-46CC-9C65-97B6E8AC2909}"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3" name="页脚占位符 2"/>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灯片编号占位符 3"/>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8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9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0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31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32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3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4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5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6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7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8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9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0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41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2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3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44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45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46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47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48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49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50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51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52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53_正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07950" y="85725"/>
            <a:ext cx="7766050" cy="542925"/>
          </a:xfrm>
          <a:prstGeom prst="rect">
            <a:avLst/>
          </a:prstGeom>
        </p:spPr>
        <p:txBody>
          <a:bodyPr/>
          <a:lstStyle>
            <a:lvl1pPr algn="l">
              <a:defRPr sz="2700" b="1" spc="300">
                <a:solidFill>
                  <a:srgbClr val="FFFF00"/>
                </a:solidFill>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页脚占位符 4"/>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6" name="灯片编号占位符 5"/>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54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55_正文">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800100"/>
            <a:ext cx="8229600" cy="3794522"/>
          </a:xfrm>
          <a:prstGeom prst="rect">
            <a:avLst/>
          </a:prstGeom>
        </p:spPr>
        <p:txBody>
          <a:bodyPr/>
          <a:lstStyle>
            <a:lvl1pPr>
              <a:lnSpc>
                <a:spcPct val="150000"/>
              </a:lnSpc>
              <a:defRPr sz="1800"/>
            </a:lvl1pPr>
            <a:lvl2pPr>
              <a:lnSpc>
                <a:spcPct val="150000"/>
              </a:lnSpc>
              <a:defRPr sz="1500"/>
            </a:lvl2pPr>
            <a:lvl3pPr>
              <a:lnSpc>
                <a:spcPct val="150000"/>
              </a:lnSpc>
              <a:defRPr sz="1350"/>
            </a:lvl3pPr>
            <a:lvl4pPr>
              <a:lnSpc>
                <a:spcPct val="150000"/>
              </a:lnSpc>
              <a:defRPr sz="1200"/>
            </a:lvl4pPr>
            <a:lvl5pPr>
              <a:lnSpc>
                <a:spcPct val="150000"/>
              </a:lnSpc>
              <a:defRPr sz="12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日期占位符 1"/>
          <p:cNvSpPr>
            <a:spLocks noGrp="1"/>
          </p:cNvSpPr>
          <p:nvPr>
            <p:ph type="dt" sz="half" idx="10"/>
          </p:nvPr>
        </p:nvSpPr>
        <p:spPr>
          <a:xfrm>
            <a:off x="628650" y="4767263"/>
            <a:ext cx="2057400" cy="273844"/>
          </a:xfr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01C99CA-61FC-4162-8EF6-6549A53D5973}" type="datetimeFigureOut">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rPr>
              <a:t>2024/10/30</a:t>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4" name="页脚占位符 3"/>
          <p:cNvSpPr>
            <a:spLocks noGrp="1"/>
          </p:cNvSpPr>
          <p:nvPr>
            <p:ph type="ftr" sz="quarter" idx="11"/>
          </p:nvPr>
        </p:nvSpPr>
        <p:spPr>
          <a:xfrm>
            <a:off x="3028950" y="4767263"/>
            <a:ext cx="3086100" cy="273844"/>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宋体" pitchFamily="2" charset="-122"/>
              <a:cs typeface="+mn-cs"/>
            </a:endParaRPr>
          </a:p>
        </p:txBody>
      </p:sp>
      <p:sp>
        <p:nvSpPr>
          <p:cNvPr id="5" name="灯片编号占位符 4"/>
          <p:cNvSpPr>
            <a:spLocks noGrp="1"/>
          </p:cNvSpPr>
          <p:nvPr>
            <p:ph type="sldNum" sz="quarter" idx="12"/>
          </p:nvPr>
        </p:nvSpPr>
        <p:spPr>
          <a:xfrm>
            <a:off x="6457950" y="4767263"/>
            <a:ext cx="2057400" cy="273844"/>
          </a:xfrm>
        </p:spPr>
        <p:txBody>
          <a:bodyPr/>
          <a:lstStyle/>
          <a:p>
            <a:pPr lvl="0" eaLnBrk="1" hangingPunct="1">
              <a:buNone/>
            </a:pPr>
            <a:fld id="{9A0DB2DC-4C9A-4742-B13C-FB6460FD3503}" type="slidenum">
              <a:rPr lang="zh-CN" altLang="en-US" dirty="0"/>
              <a:t>‹#›</a:t>
            </a:fld>
            <a:endParaRPr lang="zh-CN" altLang="en-US" dirty="0">
              <a:latin typeface="Arial" panose="020B0604020202090204" pitchFamily="34"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目录">
    <p:bg>
      <p:bgPr>
        <a:solidFill>
          <a:schemeClr val="bg1"/>
        </a:solidFill>
        <a:effectLst/>
      </p:bgPr>
    </p:bg>
    <p:spTree>
      <p:nvGrpSpPr>
        <p:cNvPr id="1" name=""/>
        <p:cNvGrpSpPr/>
        <p:nvPr/>
      </p:nvGrpSpPr>
      <p:grpSpPr>
        <a:xfrm>
          <a:off x="0" y="0"/>
          <a:ext cx="0" cy="0"/>
          <a:chOff x="0" y="0"/>
          <a:chExt cx="0" cy="0"/>
        </a:xfrm>
      </p:grpSpPr>
      <p:sp>
        <p:nvSpPr>
          <p:cNvPr id="6" name="标题 1"/>
          <p:cNvSpPr>
            <a:spLocks noChangeArrowheads="1"/>
          </p:cNvSpPr>
          <p:nvPr/>
        </p:nvSpPr>
        <p:spPr bwMode="auto">
          <a:xfrm>
            <a:off x="174625" y="76200"/>
            <a:ext cx="5148263" cy="5738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marL="571500" indent="-571500">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571500" marR="0" lvl="0" indent="-571500" algn="l" defTabSz="914400" rtl="0" eaLnBrk="1" fontAlgn="base" latinLnBrk="0" hangingPunct="1">
              <a:lnSpc>
                <a:spcPct val="100000"/>
              </a:lnSpc>
              <a:spcBef>
                <a:spcPct val="0"/>
              </a:spcBef>
              <a:spcAft>
                <a:spcPct val="0"/>
              </a:spcAft>
              <a:buClrTx/>
              <a:buSzTx/>
              <a:buFont typeface="Wingdings" panose="05000000000000000000" pitchFamily="2" charset="2"/>
              <a:buNone/>
              <a:defRPr/>
            </a:pPr>
            <a:r>
              <a:rPr kumimoji="0" lang="en-US" altLang="zh-CN" sz="2700" b="1" i="0" u="none" strike="noStrike" kern="1200" cap="none" spc="300" normalizeH="0" baseline="0" noProof="0" dirty="0">
                <a:ln>
                  <a:noFill/>
                </a:ln>
                <a:solidFill>
                  <a:srgbClr val="FFFF00"/>
                </a:solidFill>
                <a:effectLst/>
                <a:uLnTx/>
                <a:uFillTx/>
                <a:latin typeface="微软雅黑" panose="020B0503020204020204" charset="-122"/>
                <a:ea typeface="微软雅黑" panose="020B0503020204020204" charset="-122"/>
                <a:cs typeface="+mn-cs"/>
                <a:sym typeface="Wingdings" panose="05000000000000000000" pitchFamily="2" charset="2"/>
              </a:rPr>
              <a:t> </a:t>
            </a:r>
            <a:r>
              <a:rPr kumimoji="0" lang="zh-CN" altLang="en-US" sz="2700" b="1" i="0" u="none" strike="noStrike" kern="1200" cap="none" spc="300" normalizeH="0" baseline="0" noProof="0" dirty="0">
                <a:ln>
                  <a:noFill/>
                </a:ln>
                <a:solidFill>
                  <a:srgbClr val="FFFF00"/>
                </a:solidFill>
                <a:effectLst/>
                <a:uLnTx/>
                <a:uFillTx/>
                <a:latin typeface="微软雅黑" panose="020B0503020204020204" charset="-122"/>
                <a:ea typeface="微软雅黑" panose="020B0503020204020204" charset="-122"/>
                <a:cs typeface="+mn-cs"/>
                <a:sym typeface="Wingdings" panose="05000000000000000000" pitchFamily="2" charset="2"/>
              </a:rPr>
              <a:t>目录</a:t>
            </a:r>
            <a:endParaRPr kumimoji="0" lang="zh-CN" altLang="en-US" sz="2700" b="1" i="0" u="none" strike="noStrike" kern="1200" cap="none" spc="300" normalizeH="0" baseline="0" noProof="0" dirty="0">
              <a:ln>
                <a:noFill/>
              </a:ln>
              <a:solidFill>
                <a:srgbClr val="FFFF00"/>
              </a:solidFill>
              <a:effectLst/>
              <a:uLnTx/>
              <a:uFillTx/>
              <a:latin typeface="微软雅黑" panose="020B0503020204020204" charset="-122"/>
              <a:ea typeface="微软雅黑" panose="020B0503020204020204" charset="-122"/>
              <a:cs typeface="+mn-cs"/>
              <a:sym typeface="宋体" pitchFamily="2" charset="-122"/>
            </a:endParaRPr>
          </a:p>
        </p:txBody>
      </p:sp>
      <p:sp>
        <p:nvSpPr>
          <p:cNvPr id="3" name="内容占位符 2"/>
          <p:cNvSpPr>
            <a:spLocks noGrp="1"/>
          </p:cNvSpPr>
          <p:nvPr>
            <p:ph idx="1"/>
          </p:nvPr>
        </p:nvSpPr>
        <p:spPr>
          <a:xfrm>
            <a:off x="457200" y="800100"/>
            <a:ext cx="8229600" cy="3794522"/>
          </a:xfrm>
          <a:prstGeom prst="rect">
            <a:avLst/>
          </a:prstGeo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1">
          <a:blip r:embed="rId2"/>
        </a:blipFill>
        <a:effectLst/>
      </p:bgPr>
    </p:bg>
    <p:spTree>
      <p:nvGrpSpPr>
        <p:cNvPr id="1" name=""/>
        <p:cNvGrpSpPr/>
        <p:nvPr/>
      </p:nvGrpSpPr>
      <p:grpSpPr>
        <a:xfrm>
          <a:off x="0" y="0"/>
          <a:ext cx="0" cy="0"/>
          <a:chOff x="0" y="0"/>
          <a:chExt cx="0" cy="0"/>
        </a:xfrm>
      </p:grpSpPr>
      <p:pic>
        <p:nvPicPr>
          <p:cNvPr id="2052" name="图片 5"/>
          <p:cNvPicPr>
            <a:picLocks noChangeAspect="1"/>
          </p:cNvPicPr>
          <p:nvPr userDrawn="1"/>
        </p:nvPicPr>
        <p:blipFill>
          <a:blip r:embed="rId3"/>
          <a:stretch>
            <a:fillRect/>
          </a:stretch>
        </p:blipFill>
        <p:spPr>
          <a:xfrm>
            <a:off x="0" y="0"/>
            <a:ext cx="9144000" cy="5143500"/>
          </a:xfrm>
          <a:prstGeom prst="rect">
            <a:avLst/>
          </a:prstGeom>
          <a:noFill/>
          <a:ln w="9525">
            <a:noFill/>
          </a:ln>
        </p:spPr>
      </p:pic>
      <p:grpSp>
        <p:nvGrpSpPr>
          <p:cNvPr id="2053" name="Group 5"/>
          <p:cNvGrpSpPr/>
          <p:nvPr userDrawn="1"/>
        </p:nvGrpSpPr>
        <p:grpSpPr>
          <a:xfrm>
            <a:off x="5286375" y="-4762"/>
            <a:ext cx="3863975" cy="481013"/>
            <a:chOff x="80" y="0"/>
            <a:chExt cx="6086" cy="1010"/>
          </a:xfrm>
        </p:grpSpPr>
        <p:pic>
          <p:nvPicPr>
            <p:cNvPr id="2055" name="Picture 6" descr="D:\幻灯片\图片\logo2.pnglogo2"/>
            <p:cNvPicPr>
              <a:picLocks noChangeAspect="1"/>
            </p:cNvPicPr>
            <p:nvPr/>
          </p:nvPicPr>
          <p:blipFill>
            <a:blip r:embed="rId4"/>
            <a:stretch>
              <a:fillRect/>
            </a:stretch>
          </p:blipFill>
          <p:spPr>
            <a:xfrm>
              <a:off x="5050" y="0"/>
              <a:ext cx="1116" cy="1010"/>
            </a:xfrm>
            <a:prstGeom prst="rect">
              <a:avLst/>
            </a:prstGeom>
            <a:noFill/>
            <a:ln w="9525">
              <a:noFill/>
            </a:ln>
          </p:spPr>
        </p:pic>
        <p:sp>
          <p:nvSpPr>
            <p:cNvPr id="9" name="矩形 15"/>
            <p:cNvSpPr>
              <a:spLocks noChangeArrowheads="1"/>
            </p:cNvSpPr>
            <p:nvPr/>
          </p:nvSpPr>
          <p:spPr bwMode="auto">
            <a:xfrm>
              <a:off x="80" y="415"/>
              <a:ext cx="5353" cy="5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90204" pitchFamily="34" charset="0"/>
                  <a:ea typeface="宋体" pitchFamily="2" charset="-122"/>
                </a:defRPr>
              </a:lvl1pPr>
              <a:lvl2pPr marL="742950" indent="-285750">
                <a:defRPr>
                  <a:solidFill>
                    <a:schemeClr val="tx1"/>
                  </a:solidFill>
                  <a:latin typeface="Arial" panose="020B0604020202090204" pitchFamily="34" charset="0"/>
                  <a:ea typeface="宋体" pitchFamily="2" charset="-122"/>
                </a:defRPr>
              </a:lvl2pPr>
              <a:lvl3pPr marL="1143000" indent="-228600">
                <a:defRPr>
                  <a:solidFill>
                    <a:schemeClr val="tx1"/>
                  </a:solidFill>
                  <a:latin typeface="Arial" panose="020B0604020202090204" pitchFamily="34" charset="0"/>
                  <a:ea typeface="宋体" pitchFamily="2" charset="-122"/>
                </a:defRPr>
              </a:lvl3pPr>
              <a:lvl4pPr marL="1600200" indent="-228600">
                <a:defRPr>
                  <a:solidFill>
                    <a:schemeClr val="tx1"/>
                  </a:solidFill>
                  <a:latin typeface="Arial" panose="020B0604020202090204" pitchFamily="34" charset="0"/>
                  <a:ea typeface="宋体" pitchFamily="2" charset="-122"/>
                </a:defRPr>
              </a:lvl4pPr>
              <a:lvl5pPr marL="2057400" indent="-22860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90204" pitchFamily="34" charset="0"/>
                <a:buNone/>
                <a:defRPr/>
              </a:pPr>
              <a:r>
                <a:rPr kumimoji="0" lang="zh-CN" altLang="en-US" sz="1200" b="0" i="0" u="none" strike="noStrike" kern="1200" cap="none" spc="0" normalizeH="0" baseline="0" noProof="0" dirty="0">
                  <a:ln>
                    <a:noFill/>
                  </a:ln>
                  <a:solidFill>
                    <a:srgbClr val="00ACE6"/>
                  </a:solidFill>
                  <a:effectLst/>
                  <a:uLnTx/>
                  <a:uFillTx/>
                  <a:latin typeface="微软雅黑" panose="020B0503020204020204" charset="-122"/>
                  <a:ea typeface="微软雅黑" panose="020B0503020204020204" charset="-122"/>
                  <a:cs typeface="+mn-cs"/>
                  <a:sym typeface="Calibri" panose="020F0502020204030204" pitchFamily="34" charset="0"/>
                </a:rPr>
                <a:t>让</a:t>
              </a:r>
              <a:r>
                <a:rPr kumimoji="0" lang="en-US" altLang="zh-CN" sz="1200" b="0" i="0" u="none" strike="noStrike" kern="1200" cap="none" spc="0" normalizeH="0" baseline="0" noProof="0" dirty="0">
                  <a:ln>
                    <a:noFill/>
                  </a:ln>
                  <a:solidFill>
                    <a:srgbClr val="00ACE6"/>
                  </a:solidFill>
                  <a:effectLst/>
                  <a:uLnTx/>
                  <a:uFillTx/>
                  <a:latin typeface="微软雅黑" panose="020B0503020204020204" charset="-122"/>
                  <a:ea typeface="微软雅黑" panose="020B0503020204020204" charset="-122"/>
                  <a:cs typeface="+mn-cs"/>
                  <a:sym typeface="Calibri" panose="020F0502020204030204" pitchFamily="34" charset="0"/>
                </a:rPr>
                <a:t>IT</a:t>
              </a:r>
              <a:r>
                <a:rPr kumimoji="0" lang="zh-CN" altLang="en-US" sz="1200" b="0" i="0" u="none" strike="noStrike" kern="1200" cap="none" spc="0" normalizeH="0" baseline="0" noProof="0" dirty="0">
                  <a:ln>
                    <a:noFill/>
                  </a:ln>
                  <a:solidFill>
                    <a:srgbClr val="00ACE6"/>
                  </a:solidFill>
                  <a:effectLst/>
                  <a:uLnTx/>
                  <a:uFillTx/>
                  <a:latin typeface="微软雅黑" panose="020B0503020204020204" charset="-122"/>
                  <a:ea typeface="微软雅黑" panose="020B0503020204020204" charset="-122"/>
                  <a:cs typeface="+mn-cs"/>
                  <a:sym typeface="Calibri" panose="020F0502020204030204" pitchFamily="34" charset="0"/>
                </a:rPr>
                <a:t>教学更简单，让</a:t>
              </a:r>
              <a:r>
                <a:rPr kumimoji="0" lang="en-US" altLang="zh-CN" sz="1200" b="0" i="0" u="none" strike="noStrike" kern="1200" cap="none" spc="0" normalizeH="0" baseline="0" noProof="0" dirty="0">
                  <a:ln>
                    <a:noFill/>
                  </a:ln>
                  <a:solidFill>
                    <a:srgbClr val="00ACE6"/>
                  </a:solidFill>
                  <a:effectLst/>
                  <a:uLnTx/>
                  <a:uFillTx/>
                  <a:latin typeface="微软雅黑" panose="020B0503020204020204" charset="-122"/>
                  <a:ea typeface="微软雅黑" panose="020B0503020204020204" charset="-122"/>
                  <a:cs typeface="+mn-cs"/>
                  <a:sym typeface="Calibri" panose="020F0502020204030204" pitchFamily="34" charset="0"/>
                </a:rPr>
                <a:t>IT</a:t>
              </a:r>
              <a:r>
                <a:rPr kumimoji="0" lang="zh-CN" altLang="en-US" sz="1200" b="0" i="0" u="none" strike="noStrike" kern="1200" cap="none" spc="0" normalizeH="0" baseline="0" noProof="0" dirty="0">
                  <a:ln>
                    <a:noFill/>
                  </a:ln>
                  <a:solidFill>
                    <a:srgbClr val="00ACE6"/>
                  </a:solidFill>
                  <a:effectLst/>
                  <a:uLnTx/>
                  <a:uFillTx/>
                  <a:latin typeface="微软雅黑" panose="020B0503020204020204" charset="-122"/>
                  <a:ea typeface="微软雅黑" panose="020B0503020204020204" charset="-122"/>
                  <a:cs typeface="+mn-cs"/>
                  <a:sym typeface="Calibri" panose="020F0502020204030204" pitchFamily="34" charset="0"/>
                </a:rPr>
                <a:t>学习更有效</a:t>
              </a:r>
              <a:endParaRPr kumimoji="0" lang="en-US" altLang="zh-CN" sz="1200" b="0" i="0" u="none" strike="noStrike" kern="1200" cap="none" spc="0" normalizeH="0" baseline="0" noProof="0" dirty="0">
                <a:ln>
                  <a:noFill/>
                </a:ln>
                <a:solidFill>
                  <a:srgbClr val="00ACE6"/>
                </a:solidFill>
                <a:effectLst/>
                <a:uLnTx/>
                <a:uFillTx/>
                <a:latin typeface="微软雅黑" panose="020B0503020204020204" charset="-122"/>
                <a:ea typeface="微软雅黑" panose="020B0503020204020204" charset="-122"/>
                <a:cs typeface="+mn-cs"/>
                <a:sym typeface="Calibri" panose="020F0502020204030204" pitchFamily="34" charset="0"/>
              </a:endParaRPr>
            </a:p>
          </p:txBody>
        </p:sp>
      </p:grpSp>
      <p:pic>
        <p:nvPicPr>
          <p:cNvPr id="2054" name="Picture 2" descr="http://attach.bbs.miui.com/forum/201302/27/231712nzs6bezpzugpbm81.jpg"/>
          <p:cNvPicPr>
            <a:picLocks noChangeAspect="1"/>
          </p:cNvPicPr>
          <p:nvPr userDrawn="1"/>
        </p:nvPicPr>
        <p:blipFill>
          <a:blip r:embed="rId5"/>
          <a:stretch>
            <a:fillRect/>
          </a:stretch>
        </p:blipFill>
        <p:spPr>
          <a:xfrm>
            <a:off x="290513" y="3830241"/>
            <a:ext cx="1292225" cy="1140619"/>
          </a:xfrm>
          <a:prstGeom prst="rect">
            <a:avLst/>
          </a:prstGeom>
          <a:noFill/>
          <a:ln w="9525">
            <a:noFill/>
          </a:ln>
        </p:spPr>
      </p:pic>
      <p:sp>
        <p:nvSpPr>
          <p:cNvPr id="2" name="标题 1"/>
          <p:cNvSpPr>
            <a:spLocks noGrp="1"/>
          </p:cNvSpPr>
          <p:nvPr>
            <p:ph type="ctrTitle"/>
          </p:nvPr>
        </p:nvSpPr>
        <p:spPr>
          <a:xfrm>
            <a:off x="0" y="1847852"/>
            <a:ext cx="7772400" cy="704849"/>
          </a:xfrm>
          <a:prstGeom prst="rect">
            <a:avLst/>
          </a:prstGeom>
        </p:spPr>
        <p:txBody>
          <a:bodyPr/>
          <a:lstStyle>
            <a:lvl1pPr algn="l">
              <a:defRPr sz="3600" b="1">
                <a:solidFill>
                  <a:schemeClr val="bg1"/>
                </a:solidFill>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副标题 2"/>
          <p:cNvSpPr>
            <a:spLocks noGrp="1"/>
          </p:cNvSpPr>
          <p:nvPr>
            <p:ph type="subTitle" idx="1"/>
          </p:nvPr>
        </p:nvSpPr>
        <p:spPr>
          <a:xfrm>
            <a:off x="2743200" y="2914650"/>
            <a:ext cx="6400800" cy="793750"/>
          </a:xfrm>
          <a:prstGeom prst="rect">
            <a:avLst/>
          </a:prstGeom>
        </p:spPr>
        <p:txBody>
          <a:bodyPr/>
          <a:lstStyle>
            <a:lvl1pPr marL="342900" indent="-342900" algn="l">
              <a:buFont typeface="Arial" panose="020B0604020202090204" pitchFamily="34" charset="0"/>
              <a:buChar char="•"/>
              <a:defRPr sz="1500" b="1">
                <a:solidFill>
                  <a:srgbClr val="FFFF00"/>
                </a:solidFill>
                <a:latin typeface="微软雅黑" panose="020B0503020204020204" charset="-122"/>
                <a:ea typeface="微软雅黑" panose="020B0503020204020204" charset="-122"/>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dirty="0"/>
              <a:t>单击此处编辑母版副标题样式</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8360"/>
            <a:ext cx="8229600" cy="854869"/>
          </a:xfrm>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a:xfrm>
            <a:off x="457200" y="4682729"/>
            <a:ext cx="2133600" cy="342900"/>
          </a:xfr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4" name="页脚占位符 3"/>
          <p:cNvSpPr>
            <a:spLocks noGrp="1"/>
          </p:cNvSpPr>
          <p:nvPr>
            <p:ph type="ftr" sz="quarter" idx="11"/>
          </p:nvPr>
        </p:nvSpPr>
        <p:spPr>
          <a:xfrm>
            <a:off x="3124200" y="4686300"/>
            <a:ext cx="2895600" cy="342900"/>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
        <p:nvSpPr>
          <p:cNvPr id="5" name="灯片编号占位符 4"/>
          <p:cNvSpPr>
            <a:spLocks noGrp="1"/>
          </p:cNvSpPr>
          <p:nvPr>
            <p:ph type="sldNum" sz="quarter" idx="12"/>
          </p:nvPr>
        </p:nvSpPr>
        <p:spPr>
          <a:xfrm>
            <a:off x="6553200" y="4682729"/>
            <a:ext cx="2133600" cy="342900"/>
          </a:xfrm>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6BADE0A-06C1-4F98-B0C9-955A98D113B5}" type="slidenum">
              <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mj-lt"/>
              <a:ea typeface="宋体" pitchFamily="2" charset="-122"/>
              <a:cs typeface="+mn-cs"/>
            </a:endParaRPr>
          </a:p>
        </p:txBody>
      </p:sp>
    </p:spTree>
  </p:cSld>
  <p:clrMapOvr>
    <a:masterClrMapping/>
  </p:clrMapOvr>
  <p:transition spd="med">
    <p:checker/>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7.wmf"/></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7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1923"/>
          <p:cNvSpPr txBox="1"/>
          <p:nvPr/>
        </p:nvSpPr>
        <p:spPr>
          <a:xfrm>
            <a:off x="1638300" y="334804"/>
            <a:ext cx="5867400" cy="1824038"/>
          </a:xfrm>
          <a:prstGeom prst="rect">
            <a:avLst/>
          </a:prstGeom>
          <a:noFill/>
          <a:ln w="9525">
            <a:noFill/>
          </a:ln>
        </p:spPr>
        <p:txBody>
          <a:bodyPr anchor="b"/>
          <a:lstStyle>
            <a:lvl1pPr marL="0" lvl="0" indent="0" algn="r" defTabSz="914400" rtl="0" eaLnBrk="1" fontAlgn="base" latinLnBrk="0" hangingPunct="1">
              <a:lnSpc>
                <a:spcPct val="100000"/>
              </a:lnSpc>
              <a:spcBef>
                <a:spcPct val="0"/>
              </a:spcBef>
              <a:spcAft>
                <a:spcPct val="0"/>
              </a:spcAft>
              <a:buClrTx/>
              <a:buSzTx/>
              <a:buFontTx/>
              <a:buNone/>
              <a:defRPr sz="4800" b="1" i="0" u="none" kern="1200" baseline="0">
                <a:solidFill>
                  <a:schemeClr val="tx2"/>
                </a:solidFill>
                <a:latin typeface="+mj-lt"/>
                <a:ea typeface="+mj-ea"/>
                <a:cs typeface="+mj-cs"/>
              </a:defRPr>
            </a:lvl1pPr>
          </a:lstStyle>
          <a:p>
            <a:pPr algn="ctr"/>
            <a:r>
              <a:rPr lang="zh-CN" altLang="en-US" sz="3600"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rPr>
              <a:t>用函数实现模块化程序设计</a:t>
            </a:r>
          </a:p>
        </p:txBody>
      </p:sp>
      <p:sp>
        <p:nvSpPr>
          <p:cNvPr id="3" name="副标题 81924"/>
          <p:cNvSpPr txBox="1"/>
          <p:nvPr/>
        </p:nvSpPr>
        <p:spPr>
          <a:xfrm>
            <a:off x="2195513" y="2914650"/>
            <a:ext cx="4752975" cy="1314450"/>
          </a:xfrm>
          <a:prstGeom prst="rect">
            <a:avLst/>
          </a:prstGeom>
          <a:noFill/>
          <a:ln w="9525">
            <a:noFill/>
          </a:ln>
        </p:spPr>
        <p:txBody>
          <a:bodyPr anchor="t"/>
          <a:lstStyle>
            <a:lvl1pPr marL="0" lvl="0" indent="0" algn="r"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defRPr sz="3200" b="0" i="0" u="none" kern="1200" baseline="0">
                <a:solidFill>
                  <a:schemeClr val="tx1"/>
                </a:solidFill>
                <a:latin typeface="+mn-lt"/>
                <a:ea typeface="+mn-ea"/>
                <a:cs typeface="+mn-cs"/>
              </a:defRPr>
            </a:lvl1pPr>
            <a:lvl2pPr marL="344805" lvl="1" indent="0" algn="ctr"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defRPr sz="3200" b="0" i="0" u="none" kern="1200" baseline="0">
                <a:solidFill>
                  <a:schemeClr val="tx1"/>
                </a:solidFill>
                <a:latin typeface="+mn-lt"/>
                <a:ea typeface="+mn-ea"/>
                <a:cs typeface="+mn-cs"/>
              </a:defRPr>
            </a:lvl2pPr>
            <a:lvl3pPr marL="694055" lvl="2" indent="0" algn="ctr" defTabSz="914400" rtl="0" eaLnBrk="1" fontAlgn="base" latinLnBrk="0" hangingPunct="1">
              <a:lnSpc>
                <a:spcPct val="100000"/>
              </a:lnSpc>
              <a:spcBef>
                <a:spcPct val="20000"/>
              </a:spcBef>
              <a:spcAft>
                <a:spcPct val="0"/>
              </a:spcAft>
              <a:buClr>
                <a:schemeClr val="accent1"/>
              </a:buClr>
              <a:buSzPct val="70000"/>
              <a:buFont typeface="Wingdings" panose="05000000000000000000" pitchFamily="2" charset="2"/>
              <a:buNone/>
              <a:defRPr sz="3200" b="0" i="0" u="none" kern="1200" baseline="0">
                <a:solidFill>
                  <a:schemeClr val="tx1"/>
                </a:solidFill>
                <a:latin typeface="+mn-lt"/>
                <a:ea typeface="+mn-ea"/>
                <a:cs typeface="+mn-cs"/>
              </a:defRPr>
            </a:lvl3pPr>
            <a:lvl4pPr marL="989330" lvl="3" indent="0" algn="ctr"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None/>
              <a:defRPr sz="3200" b="0" i="0" u="none" kern="1200" baseline="0">
                <a:solidFill>
                  <a:schemeClr val="tx1"/>
                </a:solidFill>
                <a:latin typeface="+mn-lt"/>
                <a:ea typeface="+mn-ea"/>
                <a:cs typeface="+mn-cs"/>
              </a:defRPr>
            </a:lvl4pPr>
            <a:lvl5pPr marL="1282700" lvl="4" indent="0" algn="ctr" defTabSz="914400" rtl="0" eaLnBrk="1" fontAlgn="base" latinLnBrk="0" hangingPunct="1">
              <a:lnSpc>
                <a:spcPct val="100000"/>
              </a:lnSpc>
              <a:spcBef>
                <a:spcPct val="20000"/>
              </a:spcBef>
              <a:spcAft>
                <a:spcPct val="0"/>
              </a:spcAft>
              <a:buClr>
                <a:schemeClr val="folHlink"/>
              </a:buClr>
              <a:buSzPct val="80000"/>
              <a:buFont typeface="Wingdings" panose="05000000000000000000" pitchFamily="2" charset="2"/>
              <a:buNone/>
              <a:defRPr sz="32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folHlink"/>
              </a:buClr>
              <a:buSzPct val="80000"/>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folHlink"/>
              </a:buClr>
              <a:buSzPct val="80000"/>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folHlink"/>
              </a:buClr>
              <a:buSzPct val="80000"/>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folHlink"/>
              </a:buClr>
              <a:buSzPct val="80000"/>
              <a:buFont typeface="Wingdings" panose="05000000000000000000" pitchFamily="2" charset="2"/>
              <a:buChar char="§"/>
              <a:defRPr sz="2000" b="0" i="0" u="none" kern="1200" baseline="0">
                <a:solidFill>
                  <a:schemeClr val="tx1"/>
                </a:solidFill>
                <a:latin typeface="+mn-lt"/>
                <a:ea typeface="+mn-ea"/>
                <a:cs typeface="+mn-cs"/>
              </a:defRPr>
            </a:lvl9pPr>
          </a:lstStyle>
          <a:p>
            <a:pPr algn="ctr"/>
            <a:r>
              <a:rPr lang="zh-CN" altLang="en-US" sz="2400" dirty="0">
                <a:solidFill>
                  <a:srgbClr val="193B8F"/>
                </a:solidFill>
                <a:latin typeface="Times New Roman" panose="02020503050405090304" pitchFamily="18" charset="0"/>
                <a:ea typeface="楷体" panose="02010609060101010101" pitchFamily="49" charset="-122"/>
              </a:rPr>
              <a:t>朱静雯</a:t>
            </a:r>
          </a:p>
          <a:p>
            <a:pPr algn="ctr"/>
            <a:r>
              <a:rPr lang="en-US" altLang="zh-CN" sz="2400" dirty="0">
                <a:latin typeface="Times New Roman" panose="02020503050405090304" pitchFamily="18" charset="0"/>
                <a:ea typeface="楷体" panose="02010609060101010101" pitchFamily="49" charset="-122"/>
              </a:rPr>
              <a:t>zhujingwen@nankai.edu.cn</a:t>
            </a:r>
          </a:p>
          <a:p>
            <a:pPr algn="ctr"/>
            <a:r>
              <a:rPr lang="zh-CN" altLang="en-US" sz="2400" dirty="0">
                <a:latin typeface="Times New Roman" panose="02020503050405090304" pitchFamily="18" charset="0"/>
                <a:ea typeface="楷体" panose="02010609060101010101" pitchFamily="49" charset="-122"/>
              </a:rPr>
              <a:t>南开大学</a:t>
            </a:r>
            <a:r>
              <a:rPr lang="en-US" altLang="zh-CN" sz="2400" dirty="0">
                <a:latin typeface="Times New Roman" panose="02020503050405090304" pitchFamily="18" charset="0"/>
                <a:ea typeface="楷体" panose="02010609060101010101" pitchFamily="49" charset="-122"/>
              </a:rPr>
              <a:t>·</a:t>
            </a:r>
            <a:r>
              <a:rPr lang="zh-CN" altLang="en-US" sz="2400" dirty="0">
                <a:latin typeface="Times New Roman" panose="02020503050405090304" pitchFamily="18" charset="0"/>
                <a:ea typeface="楷体" panose="02010609060101010101" pitchFamily="49" charset="-122"/>
              </a:rPr>
              <a:t>软件学院</a:t>
            </a:r>
          </a:p>
        </p:txBody>
      </p:sp>
      <p:cxnSp>
        <p:nvCxnSpPr>
          <p:cNvPr id="4" name="直接连接符 3"/>
          <p:cNvCxnSpPr/>
          <p:nvPr/>
        </p:nvCxnSpPr>
        <p:spPr>
          <a:xfrm>
            <a:off x="323850" y="2352052"/>
            <a:ext cx="8496300" cy="0"/>
          </a:xfrm>
          <a:prstGeom prst="line">
            <a:avLst/>
          </a:prstGeom>
          <a:ln w="25400">
            <a:solidFill>
              <a:srgbClr val="782367"/>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3873" y="185003"/>
            <a:ext cx="430355" cy="4303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3b32313538323734393b56fe4e6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2110" y="135890"/>
            <a:ext cx="731520" cy="731520"/>
          </a:xfrm>
          <a:prstGeom prst="rect">
            <a:avLst/>
          </a:prstGeom>
        </p:spPr>
      </p:pic>
      <p:sp>
        <p:nvSpPr>
          <p:cNvPr id="4" name="文本框 3"/>
          <p:cNvSpPr txBox="1"/>
          <p:nvPr/>
        </p:nvSpPr>
        <p:spPr>
          <a:xfrm>
            <a:off x="1286510" y="248285"/>
            <a:ext cx="998855" cy="506730"/>
          </a:xfrm>
          <a:prstGeom prst="rect">
            <a:avLst/>
          </a:prstGeom>
          <a:noFill/>
        </p:spPr>
        <p:txBody>
          <a:bodyPr wrap="square" rtlCol="0">
            <a:spAutoFit/>
          </a:bodyPr>
          <a:lstStyle/>
          <a:p>
            <a:r>
              <a:rPr lang="zh-CN" altLang="en-US" sz="2700" b="1" kern="0" spc="300" noProof="0" dirty="0">
                <a:ln>
                  <a:noFill/>
                </a:ln>
                <a:solidFill>
                  <a:srgbClr val="782367"/>
                </a:solidFill>
                <a:effectLst/>
                <a:uLnTx/>
                <a:uFillTx/>
                <a:latin typeface="微软雅黑" panose="020B0503020204020204" charset="-122"/>
                <a:ea typeface="微软雅黑" panose="020B0503020204020204" charset="-122"/>
                <a:cs typeface="+mj-cs"/>
                <a:sym typeface="+mn-ea"/>
              </a:rPr>
              <a:t>目录</a:t>
            </a:r>
            <a:endParaRPr lang="zh-CN" altLang="en-US" sz="2700"/>
          </a:p>
        </p:txBody>
      </p:sp>
      <p:grpSp>
        <p:nvGrpSpPr>
          <p:cNvPr id="2" name="组合 1"/>
          <p:cNvGrpSpPr/>
          <p:nvPr/>
        </p:nvGrpSpPr>
        <p:grpSpPr>
          <a:xfrm>
            <a:off x="2426494" y="865585"/>
            <a:ext cx="3031331" cy="445294"/>
            <a:chOff x="1710657" y="1263652"/>
            <a:chExt cx="4042443" cy="592608"/>
          </a:xfrm>
        </p:grpSpPr>
        <p:grpSp>
          <p:nvGrpSpPr>
            <p:cNvPr id="5" name="组合 29"/>
            <p:cNvGrpSpPr/>
            <p:nvPr/>
          </p:nvGrpSpPr>
          <p:grpSpPr>
            <a:xfrm rot="-12767">
              <a:off x="1710657" y="1263652"/>
              <a:ext cx="884411" cy="592608"/>
              <a:chOff x="1936620" y="1275606"/>
              <a:chExt cx="1296144" cy="1728192"/>
            </a:xfrm>
          </p:grpSpPr>
          <p:grpSp>
            <p:nvGrpSpPr>
              <p:cNvPr id="6" name="组合 31"/>
              <p:cNvGrpSpPr/>
              <p:nvPr/>
            </p:nvGrpSpPr>
            <p:grpSpPr>
              <a:xfrm>
                <a:off x="1936620" y="1275606"/>
                <a:ext cx="1296142" cy="1728192"/>
                <a:chOff x="1907704" y="1275606"/>
                <a:chExt cx="1296142" cy="1728192"/>
              </a:xfrm>
            </p:grpSpPr>
            <p:sp>
              <p:nvSpPr>
                <p:cNvPr id="8" name="圆角矩形 7"/>
                <p:cNvSpPr/>
                <p:nvPr/>
              </p:nvSpPr>
              <p:spPr>
                <a:xfrm>
                  <a:off x="1907704" y="1275606"/>
                  <a:ext cx="1296104"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rPr>
                    <a:t>5.1</a:t>
                  </a:r>
                  <a:endParaRPr kumimoji="0" lang="zh-CN" altLang="en-US"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sp>
              <p:nvSpPr>
                <p:cNvPr id="9" name="圆角矩形 8"/>
                <p:cNvSpPr/>
                <p:nvPr/>
              </p:nvSpPr>
              <p:spPr>
                <a:xfrm>
                  <a:off x="1961224" y="1349539"/>
                  <a:ext cx="1189063" cy="1580325"/>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10" name="圆角矩形 5"/>
              <p:cNvSpPr/>
              <p:nvPr/>
            </p:nvSpPr>
            <p:spPr>
              <a:xfrm>
                <a:off x="1931232" y="2065721"/>
                <a:ext cx="1293777" cy="933409"/>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5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11" name="直接连接符 10"/>
            <p:cNvCxnSpPr/>
            <p:nvPr/>
          </p:nvCxnSpPr>
          <p:spPr bwMode="auto">
            <a:xfrm>
              <a:off x="2809389" y="1761189"/>
              <a:ext cx="2943711"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12" name="矩形 35"/>
            <p:cNvSpPr/>
            <p:nvPr/>
          </p:nvSpPr>
          <p:spPr>
            <a:xfrm>
              <a:off x="2836056" y="1286814"/>
              <a:ext cx="2377833" cy="490143"/>
            </a:xfrm>
            <a:prstGeom prst="rect">
              <a:avLst/>
            </a:prstGeom>
            <a:noFill/>
            <a:ln w="9525">
              <a:noFill/>
            </a:ln>
          </p:spPr>
          <p:txBody>
            <a:bodyPr wrap="none">
              <a:spAutoFit/>
            </a:bodyPr>
            <a:lstStyle/>
            <a:p>
              <a:r>
                <a:rPr lang="zh-CN" altLang="en-US" dirty="0">
                  <a:latin typeface="微软雅黑" panose="020B0503020204020204" charset="-122"/>
                  <a:ea typeface="微软雅黑" panose="020B0503020204020204" charset="-122"/>
                </a:rPr>
                <a:t>为什么要用函数</a:t>
              </a:r>
            </a:p>
          </p:txBody>
        </p:sp>
      </p:grpSp>
      <p:grpSp>
        <p:nvGrpSpPr>
          <p:cNvPr id="13" name="组合 195"/>
          <p:cNvGrpSpPr/>
          <p:nvPr/>
        </p:nvGrpSpPr>
        <p:grpSpPr>
          <a:xfrm>
            <a:off x="3250406" y="1758554"/>
            <a:ext cx="3031331" cy="444103"/>
            <a:chOff x="1710657" y="1263652"/>
            <a:chExt cx="4042443" cy="592608"/>
          </a:xfrm>
        </p:grpSpPr>
        <p:grpSp>
          <p:nvGrpSpPr>
            <p:cNvPr id="14" name="组合 29"/>
            <p:cNvGrpSpPr/>
            <p:nvPr/>
          </p:nvGrpSpPr>
          <p:grpSpPr>
            <a:xfrm rot="-12767">
              <a:off x="1710657" y="1263652"/>
              <a:ext cx="884411" cy="592608"/>
              <a:chOff x="1936620" y="1275606"/>
              <a:chExt cx="1296144" cy="1728192"/>
            </a:xfrm>
          </p:grpSpPr>
          <p:grpSp>
            <p:nvGrpSpPr>
              <p:cNvPr id="15" name="组合 31"/>
              <p:cNvGrpSpPr/>
              <p:nvPr/>
            </p:nvGrpSpPr>
            <p:grpSpPr>
              <a:xfrm>
                <a:off x="1936620" y="1275606"/>
                <a:ext cx="1296142" cy="1728192"/>
                <a:chOff x="1907704" y="1275606"/>
                <a:chExt cx="1296142" cy="1728192"/>
              </a:xfrm>
            </p:grpSpPr>
            <p:sp>
              <p:nvSpPr>
                <p:cNvPr id="16" name="圆角矩形 15"/>
                <p:cNvSpPr/>
                <p:nvPr/>
              </p:nvSpPr>
              <p:spPr>
                <a:xfrm>
                  <a:off x="1907704" y="1275606"/>
                  <a:ext cx="1296104"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rPr>
                    <a:t>5.2</a:t>
                  </a:r>
                  <a:endParaRPr kumimoji="0" lang="zh-CN" altLang="en-US"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sp>
              <p:nvSpPr>
                <p:cNvPr id="17" name="圆角矩形 16"/>
                <p:cNvSpPr/>
                <p:nvPr/>
              </p:nvSpPr>
              <p:spPr>
                <a:xfrm>
                  <a:off x="1961224" y="1349737"/>
                  <a:ext cx="1189063" cy="1579929"/>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18" name="圆角矩形 5"/>
              <p:cNvSpPr/>
              <p:nvPr/>
            </p:nvSpPr>
            <p:spPr>
              <a:xfrm>
                <a:off x="1931236" y="2063209"/>
                <a:ext cx="1293777" cy="935912"/>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5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19" name="直接连接符 18"/>
            <p:cNvCxnSpPr/>
            <p:nvPr/>
          </p:nvCxnSpPr>
          <p:spPr bwMode="auto">
            <a:xfrm>
              <a:off x="2809389" y="1760934"/>
              <a:ext cx="2943711"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20" name="矩形 35"/>
            <p:cNvSpPr/>
            <p:nvPr/>
          </p:nvSpPr>
          <p:spPr>
            <a:xfrm>
              <a:off x="2836056" y="1286814"/>
              <a:ext cx="2072983" cy="491457"/>
            </a:xfrm>
            <a:prstGeom prst="rect">
              <a:avLst/>
            </a:prstGeom>
            <a:noFill/>
            <a:ln w="9525">
              <a:noFill/>
            </a:ln>
          </p:spPr>
          <p:txBody>
            <a:bodyPr wrap="none">
              <a:spAutoFit/>
            </a:bodyPr>
            <a:lstStyle/>
            <a:p>
              <a:r>
                <a:rPr lang="zh-CN" altLang="en-US" dirty="0">
                  <a:latin typeface="微软雅黑" panose="020B0503020204020204" charset="-122"/>
                  <a:ea typeface="微软雅黑" panose="020B0503020204020204" charset="-122"/>
                </a:rPr>
                <a:t>怎样定义函数</a:t>
              </a:r>
            </a:p>
          </p:txBody>
        </p:sp>
      </p:grpSp>
      <p:grpSp>
        <p:nvGrpSpPr>
          <p:cNvPr id="21" name="组合 221"/>
          <p:cNvGrpSpPr/>
          <p:nvPr/>
        </p:nvGrpSpPr>
        <p:grpSpPr>
          <a:xfrm>
            <a:off x="2426494" y="2650331"/>
            <a:ext cx="3031331" cy="445294"/>
            <a:chOff x="1710657" y="1263652"/>
            <a:chExt cx="4042443" cy="592608"/>
          </a:xfrm>
        </p:grpSpPr>
        <p:grpSp>
          <p:nvGrpSpPr>
            <p:cNvPr id="22" name="组合 29"/>
            <p:cNvGrpSpPr/>
            <p:nvPr/>
          </p:nvGrpSpPr>
          <p:grpSpPr>
            <a:xfrm rot="-12767">
              <a:off x="1710657" y="1263652"/>
              <a:ext cx="884411" cy="592608"/>
              <a:chOff x="1936620" y="1275606"/>
              <a:chExt cx="1296144" cy="1728192"/>
            </a:xfrm>
          </p:grpSpPr>
          <p:grpSp>
            <p:nvGrpSpPr>
              <p:cNvPr id="23" name="组合 31"/>
              <p:cNvGrpSpPr/>
              <p:nvPr/>
            </p:nvGrpSpPr>
            <p:grpSpPr>
              <a:xfrm>
                <a:off x="1936620" y="1275606"/>
                <a:ext cx="1296142" cy="1728192"/>
                <a:chOff x="1907704" y="1275606"/>
                <a:chExt cx="1296142" cy="1728192"/>
              </a:xfrm>
            </p:grpSpPr>
            <p:sp>
              <p:nvSpPr>
                <p:cNvPr id="24" name="圆角矩形 23"/>
                <p:cNvSpPr/>
                <p:nvPr/>
              </p:nvSpPr>
              <p:spPr>
                <a:xfrm>
                  <a:off x="1907704" y="1275606"/>
                  <a:ext cx="1296104"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rPr>
                    <a:t>5.3</a:t>
                  </a:r>
                  <a:endParaRPr kumimoji="0" lang="zh-CN" altLang="en-US"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sp>
              <p:nvSpPr>
                <p:cNvPr id="25" name="圆角矩形 24"/>
                <p:cNvSpPr/>
                <p:nvPr/>
              </p:nvSpPr>
              <p:spPr>
                <a:xfrm>
                  <a:off x="1961224" y="1349539"/>
                  <a:ext cx="1189063" cy="1580325"/>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26" name="圆角矩形 5"/>
              <p:cNvSpPr/>
              <p:nvPr/>
            </p:nvSpPr>
            <p:spPr>
              <a:xfrm>
                <a:off x="1931232" y="2065724"/>
                <a:ext cx="1293777" cy="933409"/>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5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27" name="直接连接符 26"/>
            <p:cNvCxnSpPr/>
            <p:nvPr/>
          </p:nvCxnSpPr>
          <p:spPr bwMode="auto">
            <a:xfrm>
              <a:off x="2809389" y="1761189"/>
              <a:ext cx="2943711"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28" name="矩形 35"/>
            <p:cNvSpPr/>
            <p:nvPr/>
          </p:nvSpPr>
          <p:spPr>
            <a:xfrm>
              <a:off x="2836056" y="1286814"/>
              <a:ext cx="1463282" cy="490143"/>
            </a:xfrm>
            <a:prstGeom prst="rect">
              <a:avLst/>
            </a:prstGeom>
            <a:noFill/>
            <a:ln w="9525">
              <a:noFill/>
            </a:ln>
          </p:spPr>
          <p:txBody>
            <a:bodyPr wrap="none">
              <a:spAutoFit/>
            </a:bodyPr>
            <a:lstStyle/>
            <a:p>
              <a:r>
                <a:rPr lang="zh-CN" altLang="en-US" dirty="0">
                  <a:latin typeface="微软雅黑" panose="020B0503020204020204" charset="-122"/>
                  <a:ea typeface="微软雅黑" panose="020B0503020204020204" charset="-122"/>
                </a:rPr>
                <a:t>调用函数</a:t>
              </a:r>
            </a:p>
          </p:txBody>
        </p:sp>
      </p:grpSp>
      <p:grpSp>
        <p:nvGrpSpPr>
          <p:cNvPr id="29" name="组合 234"/>
          <p:cNvGrpSpPr/>
          <p:nvPr/>
        </p:nvGrpSpPr>
        <p:grpSpPr>
          <a:xfrm>
            <a:off x="3276600" y="3568304"/>
            <a:ext cx="3998921" cy="444103"/>
            <a:chOff x="1710657" y="1263652"/>
            <a:chExt cx="5330682" cy="592608"/>
          </a:xfrm>
        </p:grpSpPr>
        <p:grpSp>
          <p:nvGrpSpPr>
            <p:cNvPr id="30" name="组合 29"/>
            <p:cNvGrpSpPr/>
            <p:nvPr/>
          </p:nvGrpSpPr>
          <p:grpSpPr>
            <a:xfrm rot="-12767">
              <a:off x="1710657" y="1263652"/>
              <a:ext cx="884411" cy="592608"/>
              <a:chOff x="1936620" y="1275606"/>
              <a:chExt cx="1296144" cy="1728192"/>
            </a:xfrm>
          </p:grpSpPr>
          <p:grpSp>
            <p:nvGrpSpPr>
              <p:cNvPr id="31" name="组合 31"/>
              <p:cNvGrpSpPr/>
              <p:nvPr/>
            </p:nvGrpSpPr>
            <p:grpSpPr>
              <a:xfrm>
                <a:off x="1936620" y="1275606"/>
                <a:ext cx="1296142" cy="1728192"/>
                <a:chOff x="1907704" y="1275606"/>
                <a:chExt cx="1296142" cy="1728192"/>
              </a:xfrm>
            </p:grpSpPr>
            <p:sp>
              <p:nvSpPr>
                <p:cNvPr id="32" name="圆角矩形 31"/>
                <p:cNvSpPr/>
                <p:nvPr/>
              </p:nvSpPr>
              <p:spPr>
                <a:xfrm>
                  <a:off x="1907704" y="1275604"/>
                  <a:ext cx="1295595"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rPr>
                    <a:t>5.4</a:t>
                  </a:r>
                  <a:endParaRPr kumimoji="0" lang="zh-CN" altLang="en-US"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sp>
              <p:nvSpPr>
                <p:cNvPr id="36" name="圆角矩形 35"/>
                <p:cNvSpPr/>
                <p:nvPr/>
              </p:nvSpPr>
              <p:spPr>
                <a:xfrm>
                  <a:off x="1961203" y="1349736"/>
                  <a:ext cx="1188597" cy="1579929"/>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37" name="圆角矩形 5"/>
              <p:cNvSpPr/>
              <p:nvPr/>
            </p:nvSpPr>
            <p:spPr>
              <a:xfrm>
                <a:off x="1931238" y="2063172"/>
                <a:ext cx="1283965" cy="935912"/>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5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38" name="直接连接符 37"/>
            <p:cNvCxnSpPr/>
            <p:nvPr/>
          </p:nvCxnSpPr>
          <p:spPr bwMode="auto">
            <a:xfrm>
              <a:off x="2810545" y="1760934"/>
              <a:ext cx="2942555"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39" name="矩形 35"/>
            <p:cNvSpPr/>
            <p:nvPr/>
          </p:nvSpPr>
          <p:spPr>
            <a:xfrm>
              <a:off x="2836056" y="1286814"/>
              <a:ext cx="4205283" cy="491457"/>
            </a:xfrm>
            <a:prstGeom prst="rect">
              <a:avLst/>
            </a:prstGeom>
            <a:noFill/>
            <a:ln w="9525">
              <a:noFill/>
            </a:ln>
          </p:spPr>
          <p:txBody>
            <a:bodyPr wrap="none">
              <a:spAutoFit/>
            </a:bodyPr>
            <a:lstStyle/>
            <a:p>
              <a:r>
                <a:rPr lang="zh-CN" altLang="en-US" dirty="0">
                  <a:latin typeface="微软雅黑" panose="020B0503020204020204" charset="-122"/>
                  <a:ea typeface="微软雅黑" panose="020B0503020204020204" charset="-122"/>
                </a:rPr>
                <a:t>被调用函数的声明和函数原型</a:t>
              </a:r>
              <a:endParaRPr lang="en-US" altLang="zh-CN" dirty="0">
                <a:latin typeface="微软雅黑" panose="020B0503020204020204" charset="-122"/>
                <a:ea typeface="微软雅黑" panose="020B0503020204020204" charset="-122"/>
              </a:endParaRPr>
            </a:p>
          </p:txBody>
        </p:sp>
      </p:grpSp>
      <p:grpSp>
        <p:nvGrpSpPr>
          <p:cNvPr id="40" name="组合 242"/>
          <p:cNvGrpSpPr/>
          <p:nvPr/>
        </p:nvGrpSpPr>
        <p:grpSpPr>
          <a:xfrm>
            <a:off x="2421731" y="4435079"/>
            <a:ext cx="3032522" cy="444103"/>
            <a:chOff x="1710657" y="1263652"/>
            <a:chExt cx="4042443" cy="592608"/>
          </a:xfrm>
        </p:grpSpPr>
        <p:grpSp>
          <p:nvGrpSpPr>
            <p:cNvPr id="41" name="组合 29"/>
            <p:cNvGrpSpPr/>
            <p:nvPr/>
          </p:nvGrpSpPr>
          <p:grpSpPr>
            <a:xfrm rot="-12767">
              <a:off x="1710657" y="1263652"/>
              <a:ext cx="884411" cy="592608"/>
              <a:chOff x="1936620" y="1275606"/>
              <a:chExt cx="1296144" cy="1728192"/>
            </a:xfrm>
          </p:grpSpPr>
          <p:grpSp>
            <p:nvGrpSpPr>
              <p:cNvPr id="42" name="组合 31"/>
              <p:cNvGrpSpPr/>
              <p:nvPr/>
            </p:nvGrpSpPr>
            <p:grpSpPr>
              <a:xfrm>
                <a:off x="1936620" y="1275606"/>
                <a:ext cx="1296142" cy="1728192"/>
                <a:chOff x="1907704" y="1275606"/>
                <a:chExt cx="1296142" cy="1728192"/>
              </a:xfrm>
            </p:grpSpPr>
            <p:sp>
              <p:nvSpPr>
                <p:cNvPr id="43" name="圆角矩形 42"/>
                <p:cNvSpPr/>
                <p:nvPr/>
              </p:nvSpPr>
              <p:spPr>
                <a:xfrm>
                  <a:off x="1907704" y="1275604"/>
                  <a:ext cx="1295595"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rPr>
                    <a:t>5.5</a:t>
                  </a:r>
                  <a:endParaRPr kumimoji="0" lang="zh-CN" altLang="en-US"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sp>
              <p:nvSpPr>
                <p:cNvPr id="44" name="圆角矩形 43"/>
                <p:cNvSpPr/>
                <p:nvPr/>
              </p:nvSpPr>
              <p:spPr>
                <a:xfrm>
                  <a:off x="1961203" y="1349736"/>
                  <a:ext cx="1188597" cy="1579929"/>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45" name="圆角矩形 5"/>
              <p:cNvSpPr/>
              <p:nvPr/>
            </p:nvSpPr>
            <p:spPr>
              <a:xfrm>
                <a:off x="1931238" y="2063172"/>
                <a:ext cx="1283965" cy="935912"/>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5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46" name="直接连接符 45"/>
            <p:cNvCxnSpPr/>
            <p:nvPr/>
          </p:nvCxnSpPr>
          <p:spPr bwMode="auto">
            <a:xfrm>
              <a:off x="2810545" y="1760934"/>
              <a:ext cx="2942555"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47" name="矩形 35"/>
            <p:cNvSpPr/>
            <p:nvPr/>
          </p:nvSpPr>
          <p:spPr>
            <a:xfrm>
              <a:off x="2836056" y="1286814"/>
              <a:ext cx="2376899" cy="491457"/>
            </a:xfrm>
            <a:prstGeom prst="rect">
              <a:avLst/>
            </a:prstGeom>
            <a:noFill/>
            <a:ln w="9525">
              <a:noFill/>
            </a:ln>
          </p:spPr>
          <p:txBody>
            <a:bodyPr wrap="none">
              <a:spAutoFit/>
            </a:bodyPr>
            <a:lstStyle/>
            <a:p>
              <a:r>
                <a:rPr lang="zh-CN" altLang="en-US" dirty="0">
                  <a:latin typeface="微软雅黑" panose="020B0503020204020204" charset="-122"/>
                  <a:ea typeface="微软雅黑" panose="020B0503020204020204" charset="-122"/>
                </a:rPr>
                <a:t>函数的嵌套调用</a:t>
              </a:r>
              <a:endParaRPr lang="en-US" altLang="zh-CN" dirty="0">
                <a:latin typeface="微软雅黑" panose="020B0503020204020204" charset="-122"/>
                <a:ea typeface="微软雅黑" panose="020B0503020204020204" charset="-122"/>
              </a:endParaRPr>
            </a:p>
          </p:txBody>
        </p:sp>
      </p:gr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3b32313538323734393b56fe4e6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2110" y="135890"/>
            <a:ext cx="731520" cy="731520"/>
          </a:xfrm>
          <a:prstGeom prst="rect">
            <a:avLst/>
          </a:prstGeom>
        </p:spPr>
      </p:pic>
      <p:sp>
        <p:nvSpPr>
          <p:cNvPr id="4" name="文本框 3"/>
          <p:cNvSpPr txBox="1"/>
          <p:nvPr/>
        </p:nvSpPr>
        <p:spPr>
          <a:xfrm>
            <a:off x="1286510" y="248285"/>
            <a:ext cx="998855" cy="506730"/>
          </a:xfrm>
          <a:prstGeom prst="rect">
            <a:avLst/>
          </a:prstGeom>
          <a:noFill/>
        </p:spPr>
        <p:txBody>
          <a:bodyPr wrap="square" rtlCol="0">
            <a:spAutoFit/>
          </a:bodyPr>
          <a:lstStyle/>
          <a:p>
            <a:r>
              <a:rPr lang="zh-CN" altLang="en-US" sz="2700" b="1" kern="0" spc="300" noProof="0" dirty="0">
                <a:ln>
                  <a:noFill/>
                </a:ln>
                <a:solidFill>
                  <a:srgbClr val="782367"/>
                </a:solidFill>
                <a:effectLst/>
                <a:uLnTx/>
                <a:uFillTx/>
                <a:latin typeface="微软雅黑" panose="020B0503020204020204" charset="-122"/>
                <a:ea typeface="微软雅黑" panose="020B0503020204020204" charset="-122"/>
                <a:cs typeface="+mj-cs"/>
                <a:sym typeface="+mn-ea"/>
              </a:rPr>
              <a:t>目录</a:t>
            </a:r>
            <a:endParaRPr lang="zh-CN" altLang="en-US" sz="2700"/>
          </a:p>
        </p:txBody>
      </p:sp>
      <p:grpSp>
        <p:nvGrpSpPr>
          <p:cNvPr id="2" name="组合 1"/>
          <p:cNvGrpSpPr/>
          <p:nvPr/>
        </p:nvGrpSpPr>
        <p:grpSpPr>
          <a:xfrm>
            <a:off x="2426494" y="865585"/>
            <a:ext cx="3031331" cy="445294"/>
            <a:chOff x="1710657" y="1263652"/>
            <a:chExt cx="4042443" cy="592608"/>
          </a:xfrm>
        </p:grpSpPr>
        <p:grpSp>
          <p:nvGrpSpPr>
            <p:cNvPr id="5" name="组合 29"/>
            <p:cNvGrpSpPr/>
            <p:nvPr/>
          </p:nvGrpSpPr>
          <p:grpSpPr>
            <a:xfrm rot="-12767">
              <a:off x="1710657" y="1263652"/>
              <a:ext cx="884411" cy="592608"/>
              <a:chOff x="1936620" y="1275606"/>
              <a:chExt cx="1296144" cy="1728192"/>
            </a:xfrm>
          </p:grpSpPr>
          <p:grpSp>
            <p:nvGrpSpPr>
              <p:cNvPr id="6" name="组合 31"/>
              <p:cNvGrpSpPr/>
              <p:nvPr/>
            </p:nvGrpSpPr>
            <p:grpSpPr>
              <a:xfrm>
                <a:off x="1936620" y="1275606"/>
                <a:ext cx="1296142" cy="1728192"/>
                <a:chOff x="1907704" y="1275606"/>
                <a:chExt cx="1296142" cy="1728192"/>
              </a:xfrm>
            </p:grpSpPr>
            <p:sp>
              <p:nvSpPr>
                <p:cNvPr id="8" name="圆角矩形 7"/>
                <p:cNvSpPr/>
                <p:nvPr/>
              </p:nvSpPr>
              <p:spPr>
                <a:xfrm>
                  <a:off x="1907704" y="1275606"/>
                  <a:ext cx="1296104"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rPr>
                    <a:t>5.6</a:t>
                  </a:r>
                  <a:endParaRPr kumimoji="0" lang="zh-CN" altLang="en-US"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sp>
              <p:nvSpPr>
                <p:cNvPr id="9" name="圆角矩形 8"/>
                <p:cNvSpPr/>
                <p:nvPr/>
              </p:nvSpPr>
              <p:spPr>
                <a:xfrm>
                  <a:off x="1961224" y="1349539"/>
                  <a:ext cx="1189063" cy="1580325"/>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10" name="圆角矩形 5"/>
              <p:cNvSpPr/>
              <p:nvPr/>
            </p:nvSpPr>
            <p:spPr>
              <a:xfrm>
                <a:off x="1931232" y="2065721"/>
                <a:ext cx="1293777" cy="933409"/>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5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11" name="直接连接符 10"/>
            <p:cNvCxnSpPr/>
            <p:nvPr/>
          </p:nvCxnSpPr>
          <p:spPr bwMode="auto">
            <a:xfrm>
              <a:off x="2809389" y="1761189"/>
              <a:ext cx="2943711"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12" name="矩形 35"/>
            <p:cNvSpPr/>
            <p:nvPr/>
          </p:nvSpPr>
          <p:spPr>
            <a:xfrm>
              <a:off x="2836056" y="1286814"/>
              <a:ext cx="2377833" cy="490143"/>
            </a:xfrm>
            <a:prstGeom prst="rect">
              <a:avLst/>
            </a:prstGeom>
            <a:noFill/>
            <a:ln w="9525">
              <a:noFill/>
            </a:ln>
          </p:spPr>
          <p:txBody>
            <a:bodyPr wrap="none">
              <a:spAutoFit/>
            </a:bodyPr>
            <a:lstStyle/>
            <a:p>
              <a:r>
                <a:rPr lang="zh-CN" altLang="en-US" dirty="0">
                  <a:latin typeface="微软雅黑" panose="020B0503020204020204" charset="-122"/>
                  <a:ea typeface="微软雅黑" panose="020B0503020204020204" charset="-122"/>
                </a:rPr>
                <a:t>函数的递归调用</a:t>
              </a:r>
              <a:endParaRPr lang="en-US" altLang="zh-CN" dirty="0">
                <a:latin typeface="微软雅黑" panose="020B0503020204020204" charset="-122"/>
                <a:ea typeface="微软雅黑" panose="020B0503020204020204" charset="-122"/>
              </a:endParaRPr>
            </a:p>
          </p:txBody>
        </p:sp>
      </p:grpSp>
      <p:grpSp>
        <p:nvGrpSpPr>
          <p:cNvPr id="13" name="组合 195"/>
          <p:cNvGrpSpPr/>
          <p:nvPr/>
        </p:nvGrpSpPr>
        <p:grpSpPr>
          <a:xfrm>
            <a:off x="3250406" y="1758554"/>
            <a:ext cx="3031331" cy="444103"/>
            <a:chOff x="1710657" y="1263652"/>
            <a:chExt cx="4042443" cy="592608"/>
          </a:xfrm>
        </p:grpSpPr>
        <p:grpSp>
          <p:nvGrpSpPr>
            <p:cNvPr id="14" name="组合 29"/>
            <p:cNvGrpSpPr/>
            <p:nvPr/>
          </p:nvGrpSpPr>
          <p:grpSpPr>
            <a:xfrm rot="-12767">
              <a:off x="1710657" y="1263652"/>
              <a:ext cx="884411" cy="592608"/>
              <a:chOff x="1936620" y="1275606"/>
              <a:chExt cx="1296144" cy="1728192"/>
            </a:xfrm>
          </p:grpSpPr>
          <p:grpSp>
            <p:nvGrpSpPr>
              <p:cNvPr id="15" name="组合 31"/>
              <p:cNvGrpSpPr/>
              <p:nvPr/>
            </p:nvGrpSpPr>
            <p:grpSpPr>
              <a:xfrm>
                <a:off x="1936620" y="1275606"/>
                <a:ext cx="1296142" cy="1728192"/>
                <a:chOff x="1907704" y="1275606"/>
                <a:chExt cx="1296142" cy="1728192"/>
              </a:xfrm>
            </p:grpSpPr>
            <p:sp>
              <p:nvSpPr>
                <p:cNvPr id="16" name="圆角矩形 15"/>
                <p:cNvSpPr/>
                <p:nvPr/>
              </p:nvSpPr>
              <p:spPr>
                <a:xfrm>
                  <a:off x="1907704" y="1275606"/>
                  <a:ext cx="1296104"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rPr>
                    <a:t>5.7</a:t>
                  </a:r>
                  <a:endParaRPr kumimoji="0" lang="zh-CN" altLang="en-US"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sp>
              <p:nvSpPr>
                <p:cNvPr id="17" name="圆角矩形 16"/>
                <p:cNvSpPr/>
                <p:nvPr/>
              </p:nvSpPr>
              <p:spPr>
                <a:xfrm>
                  <a:off x="1961224" y="1349737"/>
                  <a:ext cx="1189063" cy="1579929"/>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18" name="圆角矩形 5"/>
              <p:cNvSpPr/>
              <p:nvPr/>
            </p:nvSpPr>
            <p:spPr>
              <a:xfrm>
                <a:off x="1931236" y="2063209"/>
                <a:ext cx="1293777" cy="935912"/>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5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19" name="直接连接符 18"/>
            <p:cNvCxnSpPr/>
            <p:nvPr/>
          </p:nvCxnSpPr>
          <p:spPr bwMode="auto">
            <a:xfrm>
              <a:off x="2809389" y="1760934"/>
              <a:ext cx="2943711"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20" name="矩形 35"/>
            <p:cNvSpPr/>
            <p:nvPr/>
          </p:nvSpPr>
          <p:spPr>
            <a:xfrm>
              <a:off x="2836056" y="1286814"/>
              <a:ext cx="2682684" cy="491457"/>
            </a:xfrm>
            <a:prstGeom prst="rect">
              <a:avLst/>
            </a:prstGeom>
            <a:noFill/>
            <a:ln w="9525">
              <a:noFill/>
            </a:ln>
          </p:spPr>
          <p:txBody>
            <a:bodyPr wrap="none">
              <a:spAutoFit/>
            </a:bodyPr>
            <a:lstStyle/>
            <a:p>
              <a:r>
                <a:rPr lang="zh-CN" altLang="en-US" dirty="0">
                  <a:latin typeface="微软雅黑" panose="020B0503020204020204" charset="-122"/>
                  <a:ea typeface="微软雅黑" panose="020B0503020204020204" charset="-122"/>
                </a:rPr>
                <a:t>数组作为函数参数</a:t>
              </a:r>
            </a:p>
          </p:txBody>
        </p:sp>
      </p:grpSp>
      <p:grpSp>
        <p:nvGrpSpPr>
          <p:cNvPr id="21" name="组合 221"/>
          <p:cNvGrpSpPr/>
          <p:nvPr/>
        </p:nvGrpSpPr>
        <p:grpSpPr>
          <a:xfrm>
            <a:off x="2426494" y="2650331"/>
            <a:ext cx="3084189" cy="445294"/>
            <a:chOff x="1710657" y="1263652"/>
            <a:chExt cx="4112933" cy="592608"/>
          </a:xfrm>
        </p:grpSpPr>
        <p:grpSp>
          <p:nvGrpSpPr>
            <p:cNvPr id="22" name="组合 29"/>
            <p:cNvGrpSpPr/>
            <p:nvPr/>
          </p:nvGrpSpPr>
          <p:grpSpPr>
            <a:xfrm rot="-12767">
              <a:off x="1710657" y="1263652"/>
              <a:ext cx="884411" cy="592608"/>
              <a:chOff x="1936620" y="1275606"/>
              <a:chExt cx="1296144" cy="1728192"/>
            </a:xfrm>
          </p:grpSpPr>
          <p:grpSp>
            <p:nvGrpSpPr>
              <p:cNvPr id="23" name="组合 31"/>
              <p:cNvGrpSpPr/>
              <p:nvPr/>
            </p:nvGrpSpPr>
            <p:grpSpPr>
              <a:xfrm>
                <a:off x="1936620" y="1275606"/>
                <a:ext cx="1296142" cy="1728192"/>
                <a:chOff x="1907704" y="1275606"/>
                <a:chExt cx="1296142" cy="1728192"/>
              </a:xfrm>
            </p:grpSpPr>
            <p:sp>
              <p:nvSpPr>
                <p:cNvPr id="24" name="圆角矩形 23"/>
                <p:cNvSpPr/>
                <p:nvPr/>
              </p:nvSpPr>
              <p:spPr>
                <a:xfrm>
                  <a:off x="1907704" y="1275606"/>
                  <a:ext cx="1296104"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rPr>
                    <a:t>5.8</a:t>
                  </a:r>
                  <a:endParaRPr kumimoji="0" lang="zh-CN" altLang="en-US"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sp>
              <p:nvSpPr>
                <p:cNvPr id="25" name="圆角矩形 24"/>
                <p:cNvSpPr/>
                <p:nvPr/>
              </p:nvSpPr>
              <p:spPr>
                <a:xfrm>
                  <a:off x="1961224" y="1349539"/>
                  <a:ext cx="1189063" cy="1580325"/>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26" name="圆角矩形 5"/>
              <p:cNvSpPr/>
              <p:nvPr/>
            </p:nvSpPr>
            <p:spPr>
              <a:xfrm>
                <a:off x="1931232" y="2065724"/>
                <a:ext cx="1293777" cy="933409"/>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5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27" name="直接连接符 26"/>
            <p:cNvCxnSpPr/>
            <p:nvPr/>
          </p:nvCxnSpPr>
          <p:spPr bwMode="auto">
            <a:xfrm>
              <a:off x="2809389" y="1761189"/>
              <a:ext cx="2943711"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28" name="矩形 35"/>
            <p:cNvSpPr/>
            <p:nvPr/>
          </p:nvSpPr>
          <p:spPr>
            <a:xfrm>
              <a:off x="2836056" y="1286814"/>
              <a:ext cx="2987534" cy="490143"/>
            </a:xfrm>
            <a:prstGeom prst="rect">
              <a:avLst/>
            </a:prstGeom>
            <a:noFill/>
            <a:ln w="9525">
              <a:noFill/>
            </a:ln>
          </p:spPr>
          <p:txBody>
            <a:bodyPr wrap="none">
              <a:spAutoFit/>
            </a:bodyPr>
            <a:lstStyle/>
            <a:p>
              <a:r>
                <a:rPr lang="zh-CN" altLang="en-US" dirty="0">
                  <a:latin typeface="微软雅黑" panose="020B0503020204020204" charset="-122"/>
                  <a:ea typeface="微软雅黑" panose="020B0503020204020204" charset="-122"/>
                </a:rPr>
                <a:t>局部变量和全局变量</a:t>
              </a:r>
              <a:endParaRPr lang="en-US" altLang="zh-CN" dirty="0">
                <a:latin typeface="微软雅黑" panose="020B0503020204020204" charset="-122"/>
                <a:ea typeface="微软雅黑" panose="020B0503020204020204" charset="-122"/>
              </a:endParaRPr>
            </a:p>
          </p:txBody>
        </p:sp>
      </p:grpSp>
      <p:grpSp>
        <p:nvGrpSpPr>
          <p:cNvPr id="29" name="组合 234"/>
          <p:cNvGrpSpPr/>
          <p:nvPr/>
        </p:nvGrpSpPr>
        <p:grpSpPr>
          <a:xfrm>
            <a:off x="3276600" y="3568304"/>
            <a:ext cx="3541721" cy="444103"/>
            <a:chOff x="1710657" y="1263652"/>
            <a:chExt cx="4721221" cy="592608"/>
          </a:xfrm>
        </p:grpSpPr>
        <p:grpSp>
          <p:nvGrpSpPr>
            <p:cNvPr id="30" name="组合 29"/>
            <p:cNvGrpSpPr/>
            <p:nvPr/>
          </p:nvGrpSpPr>
          <p:grpSpPr>
            <a:xfrm rot="-12767">
              <a:off x="1710657" y="1263652"/>
              <a:ext cx="884411" cy="592608"/>
              <a:chOff x="1936620" y="1275606"/>
              <a:chExt cx="1296144" cy="1728192"/>
            </a:xfrm>
          </p:grpSpPr>
          <p:grpSp>
            <p:nvGrpSpPr>
              <p:cNvPr id="31" name="组合 31"/>
              <p:cNvGrpSpPr/>
              <p:nvPr/>
            </p:nvGrpSpPr>
            <p:grpSpPr>
              <a:xfrm>
                <a:off x="1936620" y="1275606"/>
                <a:ext cx="1296142" cy="1728192"/>
                <a:chOff x="1907704" y="1275606"/>
                <a:chExt cx="1296142" cy="1728192"/>
              </a:xfrm>
            </p:grpSpPr>
            <p:sp>
              <p:nvSpPr>
                <p:cNvPr id="32" name="圆角矩形 31"/>
                <p:cNvSpPr/>
                <p:nvPr/>
              </p:nvSpPr>
              <p:spPr>
                <a:xfrm>
                  <a:off x="1907704" y="1275604"/>
                  <a:ext cx="1295595"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rPr>
                    <a:t>5.9</a:t>
                  </a:r>
                  <a:endParaRPr kumimoji="0" lang="zh-CN" altLang="en-US" sz="24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sp>
              <p:nvSpPr>
                <p:cNvPr id="36" name="圆角矩形 35"/>
                <p:cNvSpPr/>
                <p:nvPr/>
              </p:nvSpPr>
              <p:spPr>
                <a:xfrm>
                  <a:off x="1961203" y="1349736"/>
                  <a:ext cx="1188597" cy="1579929"/>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37" name="圆角矩形 5"/>
              <p:cNvSpPr/>
              <p:nvPr/>
            </p:nvSpPr>
            <p:spPr>
              <a:xfrm>
                <a:off x="1931238" y="2063172"/>
                <a:ext cx="1283965" cy="935912"/>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5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38" name="直接连接符 37"/>
            <p:cNvCxnSpPr/>
            <p:nvPr/>
          </p:nvCxnSpPr>
          <p:spPr bwMode="auto">
            <a:xfrm>
              <a:off x="2810545" y="1760934"/>
              <a:ext cx="2942555"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39" name="矩形 35"/>
            <p:cNvSpPr/>
            <p:nvPr/>
          </p:nvSpPr>
          <p:spPr>
            <a:xfrm>
              <a:off x="2836056" y="1286814"/>
              <a:ext cx="3595822" cy="491457"/>
            </a:xfrm>
            <a:prstGeom prst="rect">
              <a:avLst/>
            </a:prstGeom>
            <a:noFill/>
            <a:ln w="9525">
              <a:noFill/>
            </a:ln>
          </p:spPr>
          <p:txBody>
            <a:bodyPr wrap="none">
              <a:spAutoFit/>
            </a:bodyPr>
            <a:lstStyle/>
            <a:p>
              <a:r>
                <a:rPr lang="zh-CN" altLang="en-US" dirty="0">
                  <a:latin typeface="微软雅黑" panose="020B0503020204020204" charset="-122"/>
                  <a:ea typeface="微软雅黑" panose="020B0503020204020204" charset="-122"/>
                </a:rPr>
                <a:t>变量的存储方式和生存期</a:t>
              </a:r>
              <a:endParaRPr lang="en-US" altLang="zh-CN" dirty="0">
                <a:latin typeface="微软雅黑" panose="020B0503020204020204" charset="-122"/>
                <a:ea typeface="微软雅黑" panose="020B0503020204020204" charset="-122"/>
              </a:endParaRPr>
            </a:p>
          </p:txBody>
        </p:sp>
      </p:grpSp>
      <p:grpSp>
        <p:nvGrpSpPr>
          <p:cNvPr id="40" name="组合 242"/>
          <p:cNvGrpSpPr/>
          <p:nvPr/>
        </p:nvGrpSpPr>
        <p:grpSpPr>
          <a:xfrm>
            <a:off x="2421731" y="4435079"/>
            <a:ext cx="3084522" cy="444103"/>
            <a:chOff x="1710657" y="1263652"/>
            <a:chExt cx="4111760" cy="592608"/>
          </a:xfrm>
        </p:grpSpPr>
        <p:grpSp>
          <p:nvGrpSpPr>
            <p:cNvPr id="41" name="组合 29"/>
            <p:cNvGrpSpPr/>
            <p:nvPr/>
          </p:nvGrpSpPr>
          <p:grpSpPr>
            <a:xfrm rot="-12767">
              <a:off x="1710657" y="1263652"/>
              <a:ext cx="884411" cy="592608"/>
              <a:chOff x="1936620" y="1275606"/>
              <a:chExt cx="1296144" cy="1728192"/>
            </a:xfrm>
          </p:grpSpPr>
          <p:grpSp>
            <p:nvGrpSpPr>
              <p:cNvPr id="42" name="组合 31"/>
              <p:cNvGrpSpPr/>
              <p:nvPr/>
            </p:nvGrpSpPr>
            <p:grpSpPr>
              <a:xfrm>
                <a:off x="1936620" y="1275606"/>
                <a:ext cx="1296142" cy="1728192"/>
                <a:chOff x="1907704" y="1275606"/>
                <a:chExt cx="1296142" cy="1728192"/>
              </a:xfrm>
            </p:grpSpPr>
            <p:sp>
              <p:nvSpPr>
                <p:cNvPr id="43" name="圆角矩形 42"/>
                <p:cNvSpPr/>
                <p:nvPr/>
              </p:nvSpPr>
              <p:spPr>
                <a:xfrm>
                  <a:off x="1907704" y="1275604"/>
                  <a:ext cx="1295595" cy="1728192"/>
                </a:xfrm>
                <a:prstGeom prst="roundRect">
                  <a:avLst/>
                </a:prstGeom>
                <a:solidFill>
                  <a:srgbClr val="3BCCFF"/>
                </a:solidFill>
                <a:ln w="25400" cap="flat" cmpd="sng" algn="ctr">
                  <a:noFill/>
                  <a:prstDash val="solid"/>
                </a:ln>
                <a:effectLst>
                  <a:outerShdw blurRad="76200" dir="13500000" sy="23000" kx="1200000" algn="br" rotWithShape="0">
                    <a:prstClr val="black">
                      <a:alpha val="20000"/>
                    </a:prstClr>
                  </a:outerShdw>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rPr>
                    <a:t>5.10</a:t>
                  </a:r>
                  <a:endParaRPr kumimoji="0" lang="zh-CN" altLang="en-US"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sp>
              <p:nvSpPr>
                <p:cNvPr id="44" name="圆角矩形 43"/>
                <p:cNvSpPr/>
                <p:nvPr/>
              </p:nvSpPr>
              <p:spPr>
                <a:xfrm>
                  <a:off x="1961203" y="1349736"/>
                  <a:ext cx="1188597" cy="1579929"/>
                </a:xfrm>
                <a:prstGeom prst="roundRect">
                  <a:avLst/>
                </a:prstGeom>
                <a:noFill/>
                <a:ln w="15875" cap="flat" cmpd="sng" algn="ctr">
                  <a:solidFill>
                    <a:sysClr val="window" lastClr="FFFFFF"/>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1" i="0" u="none" strike="noStrike" kern="0" cap="none" spc="0" normalizeH="0" baseline="0" noProof="0">
                    <a:ln>
                      <a:noFill/>
                    </a:ln>
                    <a:solidFill>
                      <a:prstClr val="white"/>
                    </a:solidFill>
                    <a:effectLst/>
                    <a:uLnTx/>
                    <a:uFillTx/>
                    <a:latin typeface="Cambria Math" panose="02040503050406030204" pitchFamily="18" charset="0"/>
                    <a:ea typeface="汉仪综艺体简" pitchFamily="49" charset="-122"/>
                    <a:cs typeface="+mn-cs"/>
                  </a:endParaRPr>
                </a:p>
              </p:txBody>
            </p:sp>
          </p:grpSp>
          <p:sp>
            <p:nvSpPr>
              <p:cNvPr id="45" name="圆角矩形 5"/>
              <p:cNvSpPr/>
              <p:nvPr/>
            </p:nvSpPr>
            <p:spPr>
              <a:xfrm>
                <a:off x="1931238" y="2063172"/>
                <a:ext cx="1283965" cy="935912"/>
              </a:xfrm>
              <a:custGeom>
                <a:avLst/>
                <a:gdLst/>
                <a:ahLst/>
                <a:cxnLst/>
                <a:rect l="l" t="t" r="r" b="b"/>
                <a:pathLst>
                  <a:path w="1292867" h="936362">
                    <a:moveTo>
                      <a:pt x="0" y="0"/>
                    </a:moveTo>
                    <a:lnTo>
                      <a:pt x="1292867" y="752847"/>
                    </a:lnTo>
                    <a:cubicBezTo>
                      <a:pt x="1277961" y="856795"/>
                      <a:pt x="1188330" y="936362"/>
                      <a:pt x="1080116" y="936362"/>
                    </a:cubicBezTo>
                    <a:lnTo>
                      <a:pt x="216028" y="936362"/>
                    </a:lnTo>
                    <a:cubicBezTo>
                      <a:pt x="96719" y="936362"/>
                      <a:pt x="0" y="839643"/>
                      <a:pt x="0" y="720334"/>
                    </a:cubicBezTo>
                    <a:close/>
                  </a:path>
                </a:pathLst>
              </a:custGeom>
              <a:solidFill>
                <a:sysClr val="window" lastClr="FFFFFF">
                  <a:alpha val="43000"/>
                </a:sysClr>
              </a:solidFill>
              <a:ln w="25400" cap="flat" cmpd="sng" algn="ctr">
                <a:no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500" b="1" i="0" u="none" strike="noStrike" kern="0" cap="none" spc="0" normalizeH="0" baseline="0" noProof="0" dirty="0">
                  <a:ln>
                    <a:noFill/>
                  </a:ln>
                  <a:solidFill>
                    <a:prstClr val="white"/>
                  </a:solidFill>
                  <a:effectLst/>
                  <a:uLnTx/>
                  <a:uFillTx/>
                  <a:latin typeface="Cambria Math" panose="02040503050406030204" pitchFamily="18" charset="0"/>
                  <a:ea typeface="汉仪综艺体简" pitchFamily="49" charset="-122"/>
                  <a:cs typeface="+mn-cs"/>
                </a:endParaRPr>
              </a:p>
            </p:txBody>
          </p:sp>
        </p:grpSp>
        <p:cxnSp>
          <p:nvCxnSpPr>
            <p:cNvPr id="46" name="直接连接符 45"/>
            <p:cNvCxnSpPr/>
            <p:nvPr/>
          </p:nvCxnSpPr>
          <p:spPr bwMode="auto">
            <a:xfrm>
              <a:off x="2810545" y="1760934"/>
              <a:ext cx="2942555" cy="0"/>
            </a:xfrm>
            <a:prstGeom prst="line">
              <a:avLst/>
            </a:prstGeom>
            <a:noFill/>
            <a:ln w="3175" cap="flat" cmpd="sng" algn="ctr">
              <a:solidFill>
                <a:schemeClr val="bg1">
                  <a:lumMod val="50000"/>
                </a:schemeClr>
              </a:solidFill>
              <a:prstDash val="sysDot"/>
              <a:headEnd type="oval" w="sm" len="sm"/>
              <a:tailEnd type="oval" w="sm" len="sm"/>
            </a:ln>
            <a:effectLst/>
          </p:spPr>
        </p:cxnSp>
        <p:sp>
          <p:nvSpPr>
            <p:cNvPr id="47" name="矩形 35"/>
            <p:cNvSpPr/>
            <p:nvPr/>
          </p:nvSpPr>
          <p:spPr>
            <a:xfrm>
              <a:off x="2836056" y="1286814"/>
              <a:ext cx="2986361" cy="491457"/>
            </a:xfrm>
            <a:prstGeom prst="rect">
              <a:avLst/>
            </a:prstGeom>
            <a:noFill/>
            <a:ln w="9525">
              <a:noFill/>
            </a:ln>
          </p:spPr>
          <p:txBody>
            <a:bodyPr wrap="none">
              <a:spAutoFit/>
            </a:bodyPr>
            <a:lstStyle/>
            <a:p>
              <a:r>
                <a:rPr lang="zh-CN" altLang="en-US" dirty="0">
                  <a:latin typeface="微软雅黑" panose="020B0503020204020204" charset="-122"/>
                  <a:ea typeface="微软雅黑" panose="020B0503020204020204" charset="-122"/>
                </a:rPr>
                <a:t>内部函数和外部函数</a:t>
              </a:r>
              <a:endParaRPr lang="en-US" altLang="zh-CN" dirty="0">
                <a:latin typeface="微软雅黑" panose="020B0503020204020204" charset="-122"/>
                <a:ea typeface="微软雅黑" panose="020B0503020204020204" charset="-122"/>
              </a:endParaRPr>
            </a:p>
          </p:txBody>
        </p:sp>
      </p:gr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1923"/>
          <p:cNvSpPr txBox="1"/>
          <p:nvPr/>
        </p:nvSpPr>
        <p:spPr>
          <a:xfrm>
            <a:off x="1638300" y="334804"/>
            <a:ext cx="5867400" cy="1824038"/>
          </a:xfrm>
          <a:prstGeom prst="rect">
            <a:avLst/>
          </a:prstGeom>
          <a:noFill/>
          <a:ln w="9525">
            <a:noFill/>
          </a:ln>
        </p:spPr>
        <p:txBody>
          <a:bodyPr anchor="b"/>
          <a:lstStyle>
            <a:lvl1pPr marL="0" lvl="0" indent="0" algn="r" defTabSz="914400" rtl="0" eaLnBrk="1" fontAlgn="base" latinLnBrk="0" hangingPunct="1">
              <a:lnSpc>
                <a:spcPct val="100000"/>
              </a:lnSpc>
              <a:spcBef>
                <a:spcPct val="0"/>
              </a:spcBef>
              <a:spcAft>
                <a:spcPct val="0"/>
              </a:spcAft>
              <a:buClrTx/>
              <a:buSzTx/>
              <a:buFontTx/>
              <a:buNone/>
              <a:defRPr sz="4800" b="1" i="0" u="none" kern="1200" baseline="0">
                <a:solidFill>
                  <a:schemeClr val="tx2"/>
                </a:solidFill>
                <a:latin typeface="+mj-lt"/>
                <a:ea typeface="+mj-ea"/>
                <a:cs typeface="+mj-cs"/>
              </a:defRPr>
            </a:lvl1pPr>
          </a:lstStyle>
          <a:p>
            <a:pPr algn="ctr"/>
            <a:r>
              <a:rPr lang="zh-CN" altLang="en-US" sz="3600"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rPr>
              <a:t>为什么要用函数</a:t>
            </a:r>
          </a:p>
        </p:txBody>
      </p:sp>
      <p:cxnSp>
        <p:nvCxnSpPr>
          <p:cNvPr id="4" name="直接连接符 3"/>
          <p:cNvCxnSpPr/>
          <p:nvPr/>
        </p:nvCxnSpPr>
        <p:spPr>
          <a:xfrm>
            <a:off x="323850" y="2352052"/>
            <a:ext cx="8496300" cy="0"/>
          </a:xfrm>
          <a:prstGeom prst="line">
            <a:avLst/>
          </a:prstGeom>
          <a:ln w="25400">
            <a:solidFill>
              <a:srgbClr val="782367"/>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3873" y="185003"/>
            <a:ext cx="430355" cy="4303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489347"/>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为什么要用函数</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5122" name="Rectangle 3"/>
          <p:cNvSpPr>
            <a:spLocks noGrp="1"/>
          </p:cNvSpPr>
          <p:nvPr>
            <p:ph idx="1" hasCustomPrompt="1"/>
          </p:nvPr>
        </p:nvSpPr>
        <p:spPr>
          <a:xfrm>
            <a:off x="1464469" y="1232297"/>
            <a:ext cx="6375797" cy="3161109"/>
          </a:xfrm>
        </p:spPr>
        <p:txBody>
          <a:bodyPr vert="horz" wrap="square" lIns="68580" tIns="34290" rIns="68580" bIns="34290" anchor="t" anchorCtr="0"/>
          <a:lstStyle/>
          <a:p>
            <a:pPr eaLnBrk="1" hangingPunct="1">
              <a:spcBef>
                <a:spcPct val="50000"/>
              </a:spcBef>
              <a:buClr>
                <a:srgbClr val="782367"/>
              </a:buClr>
              <a:buFont typeface="Wingdings" panose="05000000000000000000" charset="0"/>
              <a:buChar char="n"/>
            </a:pPr>
            <a:r>
              <a:rPr lang="zh-CN" altLang="en-US" sz="1800" dirty="0"/>
              <a:t>问题：</a:t>
            </a:r>
            <a:endParaRPr lang="zh-CN" altLang="en-US" sz="2400" dirty="0"/>
          </a:p>
          <a:p>
            <a:pPr marL="669925" lvl="1" indent="-325120" algn="l" eaLnBrk="1" fontAlgn="base" hangingPunct="1">
              <a:lnSpc>
                <a:spcPct val="100000"/>
              </a:lnSpc>
              <a:spcBef>
                <a:spcPct val="50000"/>
              </a:spcBef>
              <a:buClr>
                <a:schemeClr val="accent2"/>
              </a:buClr>
              <a:buSzPct val="60000"/>
              <a:buFont typeface="Wingdings" panose="05000000000000000000" pitchFamily="2" charset="2"/>
              <a:buChar char="q"/>
            </a:pPr>
            <a:r>
              <a:rPr lang="zh-CN" altLang="zh-CN" sz="1500" dirty="0">
                <a:latin typeface="Arial" panose="020B0604020202090204" pitchFamily="34" charset="0"/>
              </a:rPr>
              <a:t>如果程序的功能比较多，规模比较大</a:t>
            </a:r>
          </a:p>
          <a:p>
            <a:pPr marL="669925" lvl="1" indent="-325120" algn="l" eaLnBrk="1" fontAlgn="base" hangingPunct="1">
              <a:lnSpc>
                <a:spcPct val="100000"/>
              </a:lnSpc>
              <a:spcBef>
                <a:spcPct val="50000"/>
              </a:spcBef>
              <a:buClr>
                <a:schemeClr val="accent2"/>
              </a:buClr>
              <a:buSzPct val="60000"/>
              <a:buFont typeface="Wingdings" panose="05000000000000000000" pitchFamily="2" charset="2"/>
              <a:buChar char="q"/>
            </a:pPr>
            <a:r>
              <a:rPr lang="zh-CN" altLang="zh-CN" sz="1500" dirty="0">
                <a:latin typeface="Arial" panose="020B0604020202090204" pitchFamily="34" charset="0"/>
              </a:rPr>
              <a:t>程序中要多次实现某一功能</a:t>
            </a:r>
          </a:p>
        </p:txBody>
      </p:sp>
      <p:sp>
        <p:nvSpPr>
          <p:cNvPr id="5123" name="Rectangle 3"/>
          <p:cNvSpPr>
            <a:spLocks noGrp="1"/>
          </p:cNvSpPr>
          <p:nvPr/>
        </p:nvSpPr>
        <p:spPr>
          <a:xfrm>
            <a:off x="1470422" y="2508647"/>
            <a:ext cx="5339953" cy="2263378"/>
          </a:xfrm>
          <a:prstGeom prst="rect">
            <a:avLst/>
          </a:prstGeom>
          <a:noFill/>
          <a:ln w="9525">
            <a:noFill/>
          </a:ln>
        </p:spPr>
        <p:txBody>
          <a:bodyPr wrap="square" lIns="68580" tIns="34290" rIns="68580" bIns="34290" anchor="t" anchorCtr="0"/>
          <a:lstStyle/>
          <a:p>
            <a:pPr marL="228600" indent="-228600" algn="l">
              <a:lnSpc>
                <a:spcPct val="90000"/>
              </a:lnSpc>
              <a:spcBef>
                <a:spcPct val="50000"/>
              </a:spcBef>
              <a:buClr>
                <a:srgbClr val="782367"/>
              </a:buClr>
              <a:buSzTx/>
              <a:buFont typeface="Wingdings" panose="05000000000000000000" charset="0"/>
              <a:buChar char="n"/>
            </a:pPr>
            <a:r>
              <a:rPr lang="zh-CN" altLang="en-US" dirty="0"/>
              <a:t>解决方法：用模块化程序设计的思路</a:t>
            </a:r>
          </a:p>
          <a:p>
            <a:pPr marL="669925" lvl="1" indent="-325120" algn="l" rtl="0" eaLnBrk="1" fontAlgn="base" hangingPunct="1">
              <a:spcBef>
                <a:spcPct val="50000"/>
              </a:spcBef>
              <a:spcAft>
                <a:spcPct val="0"/>
              </a:spcAft>
              <a:buClr>
                <a:schemeClr val="accent2"/>
              </a:buClr>
              <a:buSzPct val="60000"/>
              <a:buFont typeface="Wingdings" panose="05000000000000000000" pitchFamily="2" charset="2"/>
              <a:buChar char="q"/>
            </a:pPr>
            <a:r>
              <a:rPr lang="zh-CN" altLang="zh-CN" sz="1500" dirty="0">
                <a:solidFill>
                  <a:schemeClr val="tx1"/>
                </a:solidFill>
                <a:latin typeface="Arial" panose="020B0604020202090204" pitchFamily="34" charset="0"/>
              </a:rPr>
              <a:t>采用“组装”的办法简化程序设计过程</a:t>
            </a:r>
            <a:endParaRPr lang="en-US" altLang="zh-CN" sz="1500" dirty="0">
              <a:solidFill>
                <a:schemeClr val="tx1"/>
              </a:solidFill>
              <a:latin typeface="Arial" panose="020B0604020202090204" pitchFamily="34" charset="0"/>
            </a:endParaRPr>
          </a:p>
          <a:p>
            <a:pPr marL="669925" lvl="1" indent="-325120" algn="l" rtl="0" eaLnBrk="1" fontAlgn="base" hangingPunct="1">
              <a:spcBef>
                <a:spcPct val="50000"/>
              </a:spcBef>
              <a:spcAft>
                <a:spcPct val="0"/>
              </a:spcAft>
              <a:buClr>
                <a:schemeClr val="accent2"/>
              </a:buClr>
              <a:buSzPct val="60000"/>
              <a:buFont typeface="Wingdings" panose="05000000000000000000" pitchFamily="2" charset="2"/>
              <a:buChar char="q"/>
            </a:pPr>
            <a:r>
              <a:rPr lang="zh-CN" altLang="zh-CN" sz="1500" dirty="0">
                <a:solidFill>
                  <a:schemeClr val="tx1"/>
                </a:solidFill>
                <a:latin typeface="Arial" panose="020B0604020202090204" pitchFamily="34" charset="0"/>
              </a:rPr>
              <a:t>事先编好一批实现各种不同功能的函数</a:t>
            </a:r>
            <a:endParaRPr lang="en-US" altLang="zh-CN" sz="1500" dirty="0">
              <a:solidFill>
                <a:schemeClr val="tx1"/>
              </a:solidFill>
              <a:latin typeface="Arial" panose="020B0604020202090204" pitchFamily="34" charset="0"/>
            </a:endParaRPr>
          </a:p>
          <a:p>
            <a:pPr marL="669925" lvl="1" indent="-325120" algn="l" rtl="0" eaLnBrk="1" fontAlgn="base" hangingPunct="1">
              <a:spcBef>
                <a:spcPct val="50000"/>
              </a:spcBef>
              <a:spcAft>
                <a:spcPct val="0"/>
              </a:spcAft>
              <a:buClr>
                <a:schemeClr val="accent2"/>
              </a:buClr>
              <a:buSzPct val="60000"/>
              <a:buFont typeface="Wingdings" panose="05000000000000000000" pitchFamily="2" charset="2"/>
              <a:buChar char="q"/>
            </a:pPr>
            <a:r>
              <a:rPr lang="zh-CN" altLang="zh-CN" sz="1500" dirty="0">
                <a:solidFill>
                  <a:schemeClr val="tx1"/>
                </a:solidFill>
                <a:latin typeface="Arial" panose="020B0604020202090204" pitchFamily="34" charset="0"/>
              </a:rPr>
              <a:t>把它们保存在函数库中</a:t>
            </a:r>
            <a:r>
              <a:rPr lang="zh-CN" altLang="en-US" sz="1500" dirty="0">
                <a:solidFill>
                  <a:schemeClr val="tx1"/>
                </a:solidFill>
                <a:latin typeface="Arial" panose="020B0604020202090204" pitchFamily="34" charset="0"/>
              </a:rPr>
              <a:t>，</a:t>
            </a:r>
            <a:r>
              <a:rPr lang="zh-CN" altLang="zh-CN" sz="1500" dirty="0">
                <a:solidFill>
                  <a:schemeClr val="tx1"/>
                </a:solidFill>
                <a:latin typeface="Arial" panose="020B0604020202090204" pitchFamily="34" charset="0"/>
              </a:rPr>
              <a:t>需要时</a:t>
            </a:r>
            <a:r>
              <a:rPr lang="zh-CN" altLang="en-US" sz="1500" dirty="0">
                <a:solidFill>
                  <a:schemeClr val="tx1"/>
                </a:solidFill>
                <a:latin typeface="Arial" panose="020B0604020202090204" pitchFamily="34" charset="0"/>
              </a:rPr>
              <a:t>直接用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3"/>
                                        </p:tgtEl>
                                        <p:attrNameLst>
                                          <p:attrName>style.visibility</p:attrName>
                                        </p:attrNameLst>
                                      </p:cBhvr>
                                      <p:to>
                                        <p:strVal val="visible"/>
                                      </p:to>
                                    </p:set>
                                    <p:animEffect transition="in" filter="blinds(horizontal)">
                                      <p:cBhvr>
                                        <p:cTn id="7" dur="500"/>
                                        <p:tgtEl>
                                          <p:spTgt spid="5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489347"/>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为什么要用函数</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11267" name="Rectangle 3"/>
          <p:cNvSpPr>
            <a:spLocks noGrp="1"/>
          </p:cNvSpPr>
          <p:nvPr>
            <p:ph idx="1" hasCustomPrompt="1"/>
          </p:nvPr>
        </p:nvSpPr>
        <p:spPr>
          <a:xfrm>
            <a:off x="1464469" y="1232297"/>
            <a:ext cx="6207919" cy="1153715"/>
          </a:xfrm>
        </p:spPr>
        <p:txBody>
          <a:bodyPr vert="horz" wrap="square" lIns="68580" tIns="34290" rIns="68580" bIns="34290" anchor="t" anchorCtr="0"/>
          <a:lstStyle/>
          <a:p>
            <a:pPr eaLnBrk="1" hangingPunct="1">
              <a:spcBef>
                <a:spcPct val="50000"/>
              </a:spcBef>
            </a:pPr>
            <a:r>
              <a:rPr lang="zh-CN" altLang="zh-CN" sz="1500" dirty="0"/>
              <a:t>可以使用库函数</a:t>
            </a:r>
            <a:endParaRPr lang="en-US" altLang="zh-CN" sz="1500" dirty="0"/>
          </a:p>
          <a:p>
            <a:pPr eaLnBrk="1" hangingPunct="1">
              <a:spcBef>
                <a:spcPct val="50000"/>
              </a:spcBef>
            </a:pPr>
            <a:r>
              <a:rPr lang="zh-CN" altLang="en-US" sz="1500" dirty="0"/>
              <a:t>可以使用自己编写的函数</a:t>
            </a:r>
            <a:endParaRPr lang="en-US" altLang="zh-CN" sz="1500" dirty="0"/>
          </a:p>
          <a:p>
            <a:pPr eaLnBrk="1" hangingPunct="1">
              <a:spcBef>
                <a:spcPct val="50000"/>
              </a:spcBef>
            </a:pPr>
            <a:r>
              <a:rPr lang="zh-CN" altLang="zh-CN" sz="1500" dirty="0"/>
              <a:t>在程序设计中要善于利用函数</a:t>
            </a:r>
          </a:p>
        </p:txBody>
      </p:sp>
      <p:sp>
        <p:nvSpPr>
          <p:cNvPr id="7171" name="Rectangle 3"/>
          <p:cNvSpPr>
            <a:spLocks noGrp="1"/>
          </p:cNvSpPr>
          <p:nvPr/>
        </p:nvSpPr>
        <p:spPr>
          <a:xfrm>
            <a:off x="1464469" y="2386013"/>
            <a:ext cx="6285310" cy="1413272"/>
          </a:xfrm>
          <a:prstGeom prst="rect">
            <a:avLst/>
          </a:prstGeom>
          <a:noFill/>
          <a:ln w="9525">
            <a:noFill/>
          </a:ln>
        </p:spPr>
        <p:txBody>
          <a:bodyPr wrap="square" lIns="68580" tIns="34290" rIns="68580" bIns="34290" anchor="t" anchorCtr="0"/>
          <a:lstStyle/>
          <a:p>
            <a:pPr marL="342900" indent="-342900">
              <a:spcBef>
                <a:spcPct val="20000"/>
              </a:spcBef>
              <a:buClr>
                <a:schemeClr val="accent1"/>
              </a:buClr>
              <a:buSzPct val="65000"/>
            </a:pPr>
            <a:r>
              <a:rPr lang="zh-CN" altLang="zh-CN" sz="1500" dirty="0">
                <a:latin typeface="Arial" panose="020B0604020202090204" pitchFamily="34" charset="0"/>
              </a:rPr>
              <a:t>例</a:t>
            </a:r>
            <a:r>
              <a:rPr lang="en-US" altLang="zh-CN" sz="1500" dirty="0">
                <a:latin typeface="Arial" panose="020B0604020202090204" pitchFamily="34" charset="0"/>
              </a:rPr>
              <a:t>5.1</a:t>
            </a:r>
            <a:r>
              <a:rPr lang="zh-CN" altLang="zh-CN" sz="1500" dirty="0">
                <a:latin typeface="Arial" panose="020B0604020202090204" pitchFamily="34" charset="0"/>
              </a:rPr>
              <a:t> 输出以下的结果，用函数调用实现。</a:t>
            </a:r>
          </a:p>
          <a:p>
            <a:pPr marL="342900" indent="-342900">
              <a:spcBef>
                <a:spcPct val="20000"/>
              </a:spcBef>
              <a:buClr>
                <a:schemeClr val="accent1"/>
              </a:buClr>
              <a:buSzPct val="65000"/>
            </a:pPr>
            <a:r>
              <a:rPr lang="en-US" altLang="zh-CN" sz="1500" dirty="0">
                <a:latin typeface="Arial" panose="020B0604020202090204" pitchFamily="34" charset="0"/>
              </a:rPr>
              <a:t>       ******************</a:t>
            </a:r>
            <a:endParaRPr lang="zh-CN" altLang="zh-CN" sz="1500" dirty="0">
              <a:latin typeface="Arial" panose="020B0604020202090204" pitchFamily="34" charset="0"/>
            </a:endParaRPr>
          </a:p>
          <a:p>
            <a:pPr marL="342900" indent="-342900">
              <a:spcBef>
                <a:spcPct val="20000"/>
              </a:spcBef>
              <a:buClr>
                <a:schemeClr val="accent1"/>
              </a:buClr>
              <a:buSzPct val="65000"/>
            </a:pPr>
            <a:r>
              <a:rPr lang="en-US" altLang="zh-CN" sz="1500" dirty="0">
                <a:latin typeface="Arial" panose="020B0604020202090204" pitchFamily="34" charset="0"/>
              </a:rPr>
              <a:t>         How do you do!</a:t>
            </a:r>
            <a:endParaRPr lang="zh-CN" altLang="zh-CN" sz="1500" dirty="0">
              <a:latin typeface="Arial" panose="020B0604020202090204" pitchFamily="34" charset="0"/>
            </a:endParaRPr>
          </a:p>
          <a:p>
            <a:pPr marL="342900" indent="-342900">
              <a:spcBef>
                <a:spcPct val="20000"/>
              </a:spcBef>
              <a:buClr>
                <a:schemeClr val="accent1"/>
              </a:buClr>
              <a:buSzPct val="65000"/>
            </a:pPr>
            <a:r>
              <a:rPr lang="en-US" altLang="zh-CN" sz="1500" dirty="0">
                <a:latin typeface="Arial" panose="020B0604020202090204" pitchFamily="34" charset="0"/>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267">
                                            <p:txEl>
                                              <p:pRg st="2" end="2"/>
                                            </p:txEl>
                                          </p:spTgt>
                                        </p:tgtEl>
                                        <p:attrNameLst>
                                          <p:attrName>style.visibility</p:attrName>
                                        </p:attrNameLst>
                                      </p:cBhvr>
                                      <p:to>
                                        <p:strVal val="visible"/>
                                      </p:to>
                                    </p:set>
                                    <p:animEffect transition="in" filter="blinds(horizontal)">
                                      <p:cBhvr>
                                        <p:cTn id="7" dur="500"/>
                                        <p:tgtEl>
                                          <p:spTgt spid="1126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171"/>
                                        </p:tgtEl>
                                        <p:attrNameLst>
                                          <p:attrName>style.visibility</p:attrName>
                                        </p:attrNameLst>
                                      </p:cBhvr>
                                      <p:to>
                                        <p:strVal val="visible"/>
                                      </p:to>
                                    </p:set>
                                    <p:animEffect transition="in" filter="blinds(horizontal)">
                                      <p:cBhvr>
                                        <p:cTn id="12" dur="500"/>
                                        <p:tgtEl>
                                          <p:spTgt spid="7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3"/>
          <p:cNvSpPr>
            <a:spLocks noGrp="1"/>
          </p:cNvSpPr>
          <p:nvPr>
            <p:ph idx="1" hasCustomPrompt="1"/>
          </p:nvPr>
        </p:nvSpPr>
        <p:spPr>
          <a:xfrm>
            <a:off x="1521619" y="214313"/>
            <a:ext cx="6025754" cy="4492229"/>
          </a:xfrm>
          <a:solidFill>
            <a:schemeClr val="bg1"/>
          </a:solidFill>
        </p:spPr>
        <p:txBody>
          <a:bodyPr vert="horz" wrap="square" lIns="68580" tIns="34290" rIns="68580" bIns="34290" anchor="t" anchorCtr="0"/>
          <a:lstStyle/>
          <a:p>
            <a:pPr eaLnBrk="1" hangingPunct="1">
              <a:buNone/>
            </a:pPr>
            <a:r>
              <a:rPr lang="en-US" altLang="zh-CN" sz="1500" dirty="0"/>
              <a:t>#include &lt;stdio.h&gt;</a:t>
            </a:r>
            <a:endParaRPr lang="zh-CN" altLang="zh-CN" sz="1500" dirty="0"/>
          </a:p>
          <a:p>
            <a:pPr eaLnBrk="1" hangingPunct="1">
              <a:buNone/>
            </a:pPr>
            <a:r>
              <a:rPr lang="en-US" altLang="zh-CN" sz="1500" dirty="0"/>
              <a:t>int main()</a:t>
            </a:r>
            <a:endParaRPr lang="zh-CN" altLang="zh-CN" sz="1500" dirty="0"/>
          </a:p>
          <a:p>
            <a:pPr eaLnBrk="1" hangingPunct="1">
              <a:buNone/>
            </a:pPr>
            <a:r>
              <a:rPr lang="en-US" altLang="zh-CN" sz="1500" dirty="0"/>
              <a:t>{ void </a:t>
            </a:r>
            <a:r>
              <a:rPr lang="en-US" altLang="zh-CN" sz="1500" dirty="0">
                <a:solidFill>
                  <a:srgbClr val="00B050"/>
                </a:solidFill>
              </a:rPr>
              <a:t>print_star</a:t>
            </a:r>
            <a:r>
              <a:rPr lang="en-US" altLang="zh-CN" sz="1500" dirty="0"/>
              <a:t>();          </a:t>
            </a:r>
            <a:endParaRPr lang="zh-CN" altLang="zh-CN" sz="1500" dirty="0"/>
          </a:p>
          <a:p>
            <a:pPr eaLnBrk="1" hangingPunct="1">
              <a:buNone/>
            </a:pPr>
            <a:r>
              <a:rPr lang="en-US" altLang="zh-CN" sz="1500" dirty="0"/>
              <a:t>   void </a:t>
            </a:r>
            <a:r>
              <a:rPr lang="en-US" altLang="zh-CN" sz="1500" dirty="0">
                <a:solidFill>
                  <a:srgbClr val="9D138D"/>
                </a:solidFill>
              </a:rPr>
              <a:t>print_message</a:t>
            </a:r>
            <a:r>
              <a:rPr lang="en-US" altLang="zh-CN" sz="1500" dirty="0"/>
              <a:t>();  </a:t>
            </a:r>
            <a:endParaRPr lang="zh-CN" altLang="zh-CN" sz="1500" dirty="0"/>
          </a:p>
          <a:p>
            <a:pPr eaLnBrk="1" hangingPunct="1">
              <a:buNone/>
            </a:pPr>
            <a:r>
              <a:rPr lang="en-US" altLang="zh-CN" sz="1500" dirty="0"/>
              <a:t>   </a:t>
            </a:r>
            <a:r>
              <a:rPr lang="en-US" altLang="zh-CN" sz="1500" dirty="0">
                <a:solidFill>
                  <a:srgbClr val="00B050"/>
                </a:solidFill>
              </a:rPr>
              <a:t>print_star</a:t>
            </a:r>
            <a:r>
              <a:rPr lang="en-US" altLang="zh-CN" sz="1500" dirty="0"/>
              <a:t>();   </a:t>
            </a:r>
          </a:p>
          <a:p>
            <a:pPr eaLnBrk="1" hangingPunct="1">
              <a:buNone/>
            </a:pPr>
            <a:r>
              <a:rPr lang="en-US" altLang="zh-CN" sz="1500" dirty="0">
                <a:solidFill>
                  <a:srgbClr val="9D138D"/>
                </a:solidFill>
              </a:rPr>
              <a:t>   print_message</a:t>
            </a:r>
            <a:r>
              <a:rPr lang="en-US" altLang="zh-CN" sz="1500" dirty="0"/>
              <a:t>();   </a:t>
            </a:r>
            <a:endParaRPr lang="zh-CN" altLang="zh-CN" sz="1500" dirty="0"/>
          </a:p>
          <a:p>
            <a:pPr eaLnBrk="1" hangingPunct="1">
              <a:buNone/>
            </a:pPr>
            <a:r>
              <a:rPr lang="en-US" altLang="zh-CN" sz="1500" dirty="0"/>
              <a:t>   </a:t>
            </a:r>
            <a:r>
              <a:rPr lang="en-US" altLang="zh-CN" sz="1500" dirty="0">
                <a:solidFill>
                  <a:srgbClr val="00B050"/>
                </a:solidFill>
              </a:rPr>
              <a:t>print_star</a:t>
            </a:r>
            <a:r>
              <a:rPr lang="en-US" altLang="zh-CN" sz="1500" dirty="0"/>
              <a:t>();           </a:t>
            </a:r>
            <a:endParaRPr lang="zh-CN" altLang="zh-CN" sz="1500" dirty="0"/>
          </a:p>
          <a:p>
            <a:pPr eaLnBrk="1" hangingPunct="1">
              <a:buNone/>
            </a:pPr>
            <a:r>
              <a:rPr lang="en-US" altLang="zh-CN" sz="1500" dirty="0"/>
              <a:t>   return 0;</a:t>
            </a:r>
            <a:endParaRPr lang="zh-CN" altLang="zh-CN" sz="1500" dirty="0"/>
          </a:p>
          <a:p>
            <a:pPr eaLnBrk="1" hangingPunct="1">
              <a:buNone/>
            </a:pPr>
            <a:r>
              <a:rPr lang="en-US" altLang="zh-CN" sz="1500" dirty="0"/>
              <a:t>}</a:t>
            </a:r>
          </a:p>
        </p:txBody>
      </p:sp>
      <p:sp>
        <p:nvSpPr>
          <p:cNvPr id="9218" name="Rectangle 3"/>
          <p:cNvSpPr txBox="1"/>
          <p:nvPr/>
        </p:nvSpPr>
        <p:spPr>
          <a:xfrm>
            <a:off x="1521619" y="2881313"/>
            <a:ext cx="6026944" cy="1019175"/>
          </a:xfrm>
          <a:prstGeom prst="rect">
            <a:avLst/>
          </a:prstGeom>
          <a:noFill/>
          <a:ln w="9525">
            <a:noFill/>
          </a:ln>
        </p:spPr>
        <p:txBody>
          <a:bodyPr anchor="t" anchorCtr="0"/>
          <a:lstStyle/>
          <a:p>
            <a:pPr marL="342900" indent="-342900" eaLnBrk="0" hangingPunct="0">
              <a:spcBef>
                <a:spcPct val="20000"/>
              </a:spcBef>
              <a:buSzTx/>
            </a:pPr>
            <a:r>
              <a:rPr lang="en-US" altLang="zh-CN" sz="1500" b="1" dirty="0">
                <a:solidFill>
                  <a:srgbClr val="00B050"/>
                </a:solidFill>
                <a:latin typeface="Arial" panose="020B0604020202090204" pitchFamily="34" charset="0"/>
              </a:rPr>
              <a:t>void </a:t>
            </a:r>
            <a:r>
              <a:rPr lang="en-US" altLang="zh-CN" sz="1500" b="1" dirty="0" err="1">
                <a:solidFill>
                  <a:srgbClr val="00B050"/>
                </a:solidFill>
                <a:latin typeface="Arial" panose="020B0604020202090204" pitchFamily="34" charset="0"/>
              </a:rPr>
              <a:t>print_star</a:t>
            </a:r>
            <a:r>
              <a:rPr lang="en-US" altLang="zh-CN" sz="1500" b="1" dirty="0">
                <a:solidFill>
                  <a:srgbClr val="00B050"/>
                </a:solidFill>
                <a:latin typeface="Arial" panose="020B0604020202090204" pitchFamily="34" charset="0"/>
              </a:rPr>
              <a:t>()</a:t>
            </a:r>
            <a:endParaRPr lang="zh-CN" altLang="zh-CN" sz="1500" b="1" dirty="0">
              <a:solidFill>
                <a:srgbClr val="00B050"/>
              </a:solidFill>
              <a:latin typeface="Arial" panose="020B0604020202090204" pitchFamily="34" charset="0"/>
            </a:endParaRPr>
          </a:p>
          <a:p>
            <a:pPr marL="342900" indent="-342900" eaLnBrk="0" hangingPunct="0">
              <a:spcBef>
                <a:spcPct val="20000"/>
              </a:spcBef>
              <a:buSzTx/>
            </a:pPr>
            <a:r>
              <a:rPr lang="en-US" altLang="zh-CN" sz="1500" b="1" dirty="0">
                <a:solidFill>
                  <a:srgbClr val="00B050"/>
                </a:solidFill>
                <a:latin typeface="Arial" panose="020B0604020202090204" pitchFamily="34" charset="0"/>
              </a:rPr>
              <a:t>{  </a:t>
            </a:r>
            <a:r>
              <a:rPr lang="en-US" altLang="zh-CN" sz="1500" b="1" dirty="0" err="1">
                <a:solidFill>
                  <a:srgbClr val="00B050"/>
                </a:solidFill>
                <a:latin typeface="Arial" panose="020B0604020202090204" pitchFamily="34" charset="0"/>
              </a:rPr>
              <a:t>printf</a:t>
            </a:r>
            <a:r>
              <a:rPr lang="en-US" altLang="zh-CN" sz="1500" b="1" dirty="0">
                <a:solidFill>
                  <a:srgbClr val="00B050"/>
                </a:solidFill>
                <a:latin typeface="Arial" panose="020B0604020202090204" pitchFamily="34" charset="0"/>
              </a:rPr>
              <a:t>(“******************\n”); }</a:t>
            </a:r>
          </a:p>
        </p:txBody>
      </p:sp>
      <p:sp>
        <p:nvSpPr>
          <p:cNvPr id="9219" name="Rectangle 3"/>
          <p:cNvSpPr txBox="1"/>
          <p:nvPr/>
        </p:nvSpPr>
        <p:spPr>
          <a:xfrm>
            <a:off x="1521619" y="3696891"/>
            <a:ext cx="3783806" cy="803672"/>
          </a:xfrm>
          <a:prstGeom prst="rect">
            <a:avLst/>
          </a:prstGeom>
          <a:solidFill>
            <a:schemeClr val="bg1"/>
          </a:solidFill>
          <a:ln w="9525">
            <a:noFill/>
          </a:ln>
        </p:spPr>
        <p:txBody>
          <a:bodyPr anchor="t" anchorCtr="0"/>
          <a:lstStyle/>
          <a:p>
            <a:pPr>
              <a:buSzTx/>
            </a:pPr>
            <a:r>
              <a:rPr lang="en-US" altLang="zh-CN" sz="1500" b="1" dirty="0">
                <a:solidFill>
                  <a:srgbClr val="9D138D"/>
                </a:solidFill>
                <a:latin typeface="Arial" panose="020B0604020202090204" pitchFamily="34" charset="0"/>
              </a:rPr>
              <a:t>void </a:t>
            </a:r>
            <a:r>
              <a:rPr lang="en-US" altLang="zh-CN" sz="1500" b="1" dirty="0" err="1">
                <a:solidFill>
                  <a:srgbClr val="9D138D"/>
                </a:solidFill>
                <a:latin typeface="Arial" panose="020B0604020202090204" pitchFamily="34" charset="0"/>
              </a:rPr>
              <a:t>print_message</a:t>
            </a:r>
            <a:r>
              <a:rPr lang="en-US" altLang="zh-CN" sz="1500" b="1" dirty="0">
                <a:solidFill>
                  <a:srgbClr val="9D138D"/>
                </a:solidFill>
                <a:latin typeface="Arial" panose="020B0604020202090204" pitchFamily="34" charset="0"/>
              </a:rPr>
              <a:t>() </a:t>
            </a:r>
            <a:endParaRPr lang="zh-CN" altLang="zh-CN" sz="1500" b="1" dirty="0">
              <a:solidFill>
                <a:srgbClr val="9D138D"/>
              </a:solidFill>
              <a:latin typeface="Arial" panose="020B0604020202090204" pitchFamily="34" charset="0"/>
            </a:endParaRPr>
          </a:p>
          <a:p>
            <a:pPr>
              <a:buSzTx/>
            </a:pPr>
            <a:r>
              <a:rPr lang="en-US" altLang="zh-CN" sz="1500" b="1" dirty="0">
                <a:solidFill>
                  <a:srgbClr val="9D138D"/>
                </a:solidFill>
                <a:latin typeface="Arial" panose="020B0604020202090204" pitchFamily="34" charset="0"/>
              </a:rPr>
              <a:t>{  </a:t>
            </a:r>
            <a:r>
              <a:rPr lang="en-US" altLang="zh-CN" sz="1500" b="1" dirty="0" err="1">
                <a:solidFill>
                  <a:srgbClr val="9D138D"/>
                </a:solidFill>
                <a:latin typeface="Arial" panose="020B0604020202090204" pitchFamily="34" charset="0"/>
              </a:rPr>
              <a:t>printf</a:t>
            </a:r>
            <a:r>
              <a:rPr lang="en-US" altLang="zh-CN" sz="1500" b="1" dirty="0">
                <a:solidFill>
                  <a:srgbClr val="9D138D"/>
                </a:solidFill>
                <a:latin typeface="Arial" panose="020B0604020202090204" pitchFamily="34" charset="0"/>
              </a:rPr>
              <a:t>(“  How do you do!\n”);  }</a:t>
            </a:r>
          </a:p>
        </p:txBody>
      </p:sp>
      <p:sp>
        <p:nvSpPr>
          <p:cNvPr id="7" name="圆角矩形标注 6"/>
          <p:cNvSpPr/>
          <p:nvPr/>
        </p:nvSpPr>
        <p:spPr>
          <a:xfrm>
            <a:off x="3810000" y="2466975"/>
            <a:ext cx="1314450" cy="350044"/>
          </a:xfrm>
          <a:prstGeom prst="wedgeRoundRectCallout">
            <a:avLst>
              <a:gd name="adj1" fmla="val -44407"/>
              <a:gd name="adj2" fmla="val 124750"/>
              <a:gd name="adj3" fmla="val 16667"/>
            </a:avLst>
          </a:prstGeom>
          <a:solidFill>
            <a:srgbClr val="FFFFCC"/>
          </a:solidFill>
          <a:ln w="9525" cap="flat" cmpd="sng">
            <a:solidFill>
              <a:schemeClr val="tx1"/>
            </a:solidFill>
            <a:prstDash val="solid"/>
            <a:miter/>
            <a:headEnd type="none" w="med" len="med"/>
            <a:tailEnd type="none" w="med" len="med"/>
          </a:ln>
        </p:spPr>
        <p:txBody>
          <a:bodyPr wrap="none" anchor="t" anchorCtr="0"/>
          <a:lstStyle/>
          <a:p>
            <a:pPr algn="ctr">
              <a:buSzTx/>
            </a:pPr>
            <a:r>
              <a:rPr lang="zh-CN" altLang="zh-CN" sz="1500" b="1" dirty="0">
                <a:solidFill>
                  <a:srgbClr val="FF0000"/>
                </a:solidFill>
                <a:latin typeface="Arial" panose="020B0604020202090204" pitchFamily="34" charset="0"/>
              </a:rPr>
              <a:t>输出</a:t>
            </a:r>
            <a:r>
              <a:rPr lang="en-US" altLang="zh-CN" sz="1500" b="1" dirty="0">
                <a:solidFill>
                  <a:srgbClr val="FF0000"/>
                </a:solidFill>
                <a:latin typeface="Arial" panose="020B0604020202090204" pitchFamily="34" charset="0"/>
              </a:rPr>
              <a:t>16</a:t>
            </a:r>
            <a:r>
              <a:rPr lang="zh-CN" altLang="en-US" sz="1500" b="1" dirty="0">
                <a:solidFill>
                  <a:srgbClr val="FF0000"/>
                </a:solidFill>
                <a:latin typeface="Arial" panose="020B0604020202090204" pitchFamily="34" charset="0"/>
              </a:rPr>
              <a:t>个</a:t>
            </a:r>
            <a:r>
              <a:rPr lang="en-US" altLang="zh-CN" sz="1500" b="1" dirty="0">
                <a:solidFill>
                  <a:srgbClr val="FF0000"/>
                </a:solidFill>
                <a:latin typeface="Arial" panose="020B0604020202090204" pitchFamily="34" charset="0"/>
              </a:rPr>
              <a:t>*</a:t>
            </a:r>
          </a:p>
        </p:txBody>
      </p:sp>
      <p:sp>
        <p:nvSpPr>
          <p:cNvPr id="8" name="圆角矩形标注 7"/>
          <p:cNvSpPr/>
          <p:nvPr/>
        </p:nvSpPr>
        <p:spPr>
          <a:xfrm>
            <a:off x="4339829" y="3438525"/>
            <a:ext cx="1314450" cy="353616"/>
          </a:xfrm>
          <a:prstGeom prst="wedgeRoundRectCallout">
            <a:avLst>
              <a:gd name="adj1" fmla="val -53662"/>
              <a:gd name="adj2" fmla="val 97194"/>
              <a:gd name="adj3" fmla="val 16667"/>
            </a:avLst>
          </a:prstGeom>
          <a:solidFill>
            <a:srgbClr val="FFFFCC"/>
          </a:solidFill>
          <a:ln w="9525" cap="flat" cmpd="sng">
            <a:solidFill>
              <a:schemeClr val="tx1"/>
            </a:solidFill>
            <a:prstDash val="solid"/>
            <a:miter/>
            <a:headEnd type="none" w="med" len="med"/>
            <a:tailEnd type="none" w="med" len="med"/>
          </a:ln>
        </p:spPr>
        <p:txBody>
          <a:bodyPr wrap="none" anchor="t" anchorCtr="0"/>
          <a:lstStyle/>
          <a:p>
            <a:pPr algn="ctr">
              <a:buSzTx/>
            </a:pPr>
            <a:r>
              <a:rPr lang="zh-CN" altLang="zh-CN" sz="1500" b="1" dirty="0">
                <a:solidFill>
                  <a:srgbClr val="FF0000"/>
                </a:solidFill>
                <a:latin typeface="Arial" panose="020B0604020202090204" pitchFamily="34" charset="0"/>
              </a:rPr>
              <a:t>输出一行文字</a:t>
            </a:r>
          </a:p>
        </p:txBody>
      </p:sp>
      <p:sp>
        <p:nvSpPr>
          <p:cNvPr id="9" name="矩形 8"/>
          <p:cNvSpPr/>
          <p:nvPr/>
        </p:nvSpPr>
        <p:spPr>
          <a:xfrm>
            <a:off x="1685925" y="856060"/>
            <a:ext cx="2457450" cy="635794"/>
          </a:xfrm>
          <a:prstGeom prst="rect">
            <a:avLst/>
          </a:prstGeom>
          <a:noFill/>
          <a:ln w="38100" cap="flat" cmpd="sng">
            <a:solidFill>
              <a:srgbClr val="FF0000"/>
            </a:solidFill>
            <a:prstDash val="solid"/>
            <a:miter/>
            <a:headEnd type="none" w="med" len="med"/>
            <a:tailEnd type="none" w="med" len="med"/>
          </a:ln>
        </p:spPr>
        <p:txBody>
          <a:bodyPr wrap="none" anchor="t" anchorCtr="0"/>
          <a:lstStyle/>
          <a:p>
            <a:pPr>
              <a:buSzTx/>
            </a:pPr>
            <a:endParaRPr lang="zh-CN" altLang="en-US" sz="3000" dirty="0">
              <a:latin typeface="Arial" panose="020B0604020202090204" pitchFamily="34" charset="0"/>
            </a:endParaRPr>
          </a:p>
        </p:txBody>
      </p:sp>
      <p:sp>
        <p:nvSpPr>
          <p:cNvPr id="10" name="圆角矩形标注 9"/>
          <p:cNvSpPr/>
          <p:nvPr/>
        </p:nvSpPr>
        <p:spPr>
          <a:xfrm>
            <a:off x="4143375" y="317897"/>
            <a:ext cx="981075" cy="314325"/>
          </a:xfrm>
          <a:prstGeom prst="wedgeRoundRectCallout">
            <a:avLst>
              <a:gd name="adj1" fmla="val -44407"/>
              <a:gd name="adj2" fmla="val 124750"/>
              <a:gd name="adj3" fmla="val 16667"/>
            </a:avLst>
          </a:prstGeom>
          <a:solidFill>
            <a:srgbClr val="FFFFCC"/>
          </a:solidFill>
          <a:ln w="9525" cap="flat" cmpd="sng">
            <a:solidFill>
              <a:schemeClr val="tx1"/>
            </a:solidFill>
            <a:prstDash val="solid"/>
            <a:miter/>
            <a:headEnd type="none" w="med" len="med"/>
            <a:tailEnd type="none" w="med" len="med"/>
          </a:ln>
        </p:spPr>
        <p:txBody>
          <a:bodyPr wrap="none" anchor="t" anchorCtr="0"/>
          <a:lstStyle/>
          <a:p>
            <a:pPr algn="ctr">
              <a:buSzTx/>
            </a:pPr>
            <a:r>
              <a:rPr lang="zh-CN" altLang="en-US" sz="1500" b="1" dirty="0">
                <a:solidFill>
                  <a:srgbClr val="FF0000"/>
                </a:solidFill>
                <a:latin typeface="Arial" panose="020B0604020202090204" pitchFamily="34" charset="0"/>
              </a:rPr>
              <a:t>声明函数</a:t>
            </a:r>
          </a:p>
        </p:txBody>
      </p:sp>
      <p:sp>
        <p:nvSpPr>
          <p:cNvPr id="11" name="矩形 10"/>
          <p:cNvSpPr/>
          <p:nvPr/>
        </p:nvSpPr>
        <p:spPr>
          <a:xfrm>
            <a:off x="1406129" y="2881313"/>
            <a:ext cx="4507706" cy="1456135"/>
          </a:xfrm>
          <a:prstGeom prst="rect">
            <a:avLst/>
          </a:prstGeom>
          <a:noFill/>
          <a:ln w="38100" cap="flat" cmpd="sng">
            <a:solidFill>
              <a:srgbClr val="FF0000"/>
            </a:solidFill>
            <a:prstDash val="solid"/>
            <a:miter/>
            <a:headEnd type="none" w="med" len="med"/>
            <a:tailEnd type="none" w="med" len="med"/>
          </a:ln>
        </p:spPr>
        <p:txBody>
          <a:bodyPr wrap="none" anchor="t" anchorCtr="0"/>
          <a:lstStyle/>
          <a:p>
            <a:pPr>
              <a:buSzTx/>
            </a:pPr>
            <a:endParaRPr lang="zh-CN" altLang="en-US" sz="3000" dirty="0">
              <a:latin typeface="Arial" panose="020B0604020202090204" pitchFamily="34" charset="0"/>
            </a:endParaRPr>
          </a:p>
        </p:txBody>
      </p:sp>
      <p:sp>
        <p:nvSpPr>
          <p:cNvPr id="12" name="圆角矩形标注 11"/>
          <p:cNvSpPr/>
          <p:nvPr/>
        </p:nvSpPr>
        <p:spPr>
          <a:xfrm>
            <a:off x="5719763" y="2227660"/>
            <a:ext cx="913210" cy="371475"/>
          </a:xfrm>
          <a:prstGeom prst="wedgeRoundRectCallout">
            <a:avLst>
              <a:gd name="adj1" fmla="val -44407"/>
              <a:gd name="adj2" fmla="val 124750"/>
              <a:gd name="adj3" fmla="val 16667"/>
            </a:avLst>
          </a:prstGeom>
          <a:solidFill>
            <a:srgbClr val="FFFFCC"/>
          </a:solidFill>
          <a:ln w="9525" cap="flat" cmpd="sng">
            <a:solidFill>
              <a:schemeClr val="tx1"/>
            </a:solidFill>
            <a:prstDash val="solid"/>
            <a:miter/>
            <a:headEnd type="none" w="med" len="med"/>
            <a:tailEnd type="none" w="med" len="med"/>
          </a:ln>
        </p:spPr>
        <p:txBody>
          <a:bodyPr wrap="none" anchor="t" anchorCtr="0"/>
          <a:lstStyle/>
          <a:p>
            <a:pPr algn="ctr">
              <a:buSzTx/>
            </a:pPr>
            <a:r>
              <a:rPr lang="zh-CN" altLang="en-US" sz="1500" b="1" dirty="0">
                <a:solidFill>
                  <a:srgbClr val="FF0000"/>
                </a:solidFill>
                <a:latin typeface="Arial" panose="020B0604020202090204" pitchFamily="34" charset="0"/>
              </a:rPr>
              <a:t>定义函数</a:t>
            </a:r>
          </a:p>
        </p:txBody>
      </p:sp>
      <p:pic>
        <p:nvPicPr>
          <p:cNvPr id="110594" name="Picture 2"/>
          <p:cNvPicPr>
            <a:picLocks noChangeAspect="1"/>
          </p:cNvPicPr>
          <p:nvPr/>
        </p:nvPicPr>
        <p:blipFill>
          <a:blip r:embed="rId2"/>
          <a:stretch>
            <a:fillRect/>
          </a:stretch>
        </p:blipFill>
        <p:spPr>
          <a:xfrm>
            <a:off x="5526881" y="960835"/>
            <a:ext cx="2152650" cy="66794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par>
                          <p:cTn id="18" fill="hold">
                            <p:stCondLst>
                              <p:cond delay="500"/>
                            </p:stCondLst>
                            <p:childTnLst>
                              <p:par>
                                <p:cTn id="19" presetID="3" presetClass="entr" presetSubtype="1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linds(horizontal)">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linds(horizontal)">
                                      <p:cBhvr>
                                        <p:cTn id="26" dur="500"/>
                                        <p:tgtEl>
                                          <p:spTgt spid="11"/>
                                        </p:tgtEl>
                                      </p:cBhvr>
                                    </p:animEffect>
                                  </p:childTnLst>
                                </p:cTn>
                              </p:par>
                            </p:childTnLst>
                          </p:cTn>
                        </p:par>
                        <p:par>
                          <p:cTn id="27" fill="hold">
                            <p:stCondLst>
                              <p:cond delay="500"/>
                            </p:stCondLst>
                            <p:childTnLst>
                              <p:par>
                                <p:cTn id="28" presetID="3" presetClass="entr" presetSubtype="10"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blinds(horizontal)">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10594"/>
                                        </p:tgtEl>
                                        <p:attrNameLst>
                                          <p:attrName>style.visibility</p:attrName>
                                        </p:attrNameLst>
                                      </p:cBhvr>
                                      <p:to>
                                        <p:strVal val="visible"/>
                                      </p:to>
                                    </p:set>
                                    <p:animEffect transition="in" filter="blinds(horizontal)">
                                      <p:cBhvr>
                                        <p:cTn id="35" dur="500"/>
                                        <p:tgtEl>
                                          <p:spTgt spid="110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9" grpId="0" bldLvl="0" animBg="1"/>
      <p:bldP spid="10" grpId="0" bldLvl="0" animBg="1"/>
      <p:bldP spid="11" grpId="0" bldLvl="0" animBg="1"/>
      <p:bldP spid="12"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内容占位符 2"/>
          <p:cNvSpPr>
            <a:spLocks noGrp="1"/>
          </p:cNvSpPr>
          <p:nvPr>
            <p:ph idx="1" hasCustomPrompt="1"/>
          </p:nvPr>
        </p:nvSpPr>
        <p:spPr>
          <a:xfrm>
            <a:off x="1514475" y="450056"/>
            <a:ext cx="6115050" cy="3482579"/>
          </a:xfrm>
        </p:spPr>
        <p:txBody>
          <a:bodyPr vert="horz" wrap="square" lIns="68580" tIns="34290" rIns="68580" bIns="34290" anchor="t" anchorCtr="0"/>
          <a:lstStyle/>
          <a:p>
            <a:pPr algn="l" eaLnBrk="1" hangingPunct="1">
              <a:spcBef>
                <a:spcPct val="50000"/>
              </a:spcBef>
              <a:buClr>
                <a:srgbClr val="782367"/>
              </a:buClr>
              <a:buSzTx/>
              <a:buFont typeface="Wingdings" panose="05000000000000000000" charset="0"/>
              <a:buChar char="n"/>
            </a:pPr>
            <a:r>
              <a:rPr lang="zh-CN" altLang="en-US" sz="1800" dirty="0"/>
              <a:t>说明：</a:t>
            </a:r>
          </a:p>
          <a:p>
            <a:pPr lvl="1" indent="-325120" eaLnBrk="1" hangingPunct="1">
              <a:buNone/>
            </a:pPr>
            <a:r>
              <a:rPr lang="en-US" altLang="zh-CN" sz="1500" dirty="0"/>
              <a:t>  (1) </a:t>
            </a:r>
            <a:r>
              <a:rPr lang="zh-CN" altLang="zh-CN" sz="1500" dirty="0"/>
              <a:t>一个Ｃ程序由一个或多个程序模块组成，每一个程序模块作为一个源程序文件。对较大的程序，一般不希望把所有内容全放在一个文件中，而是将它们分别放在若干个源文件中，由若干个源程序文件组成一个</a:t>
            </a:r>
            <a:r>
              <a:rPr lang="en-US" altLang="zh-CN" sz="1500" dirty="0"/>
              <a:t>C</a:t>
            </a:r>
            <a:r>
              <a:rPr lang="zh-CN" altLang="zh-CN" sz="1500" dirty="0"/>
              <a:t>程序。这样便于分别编写、分别编译，</a:t>
            </a:r>
            <a:r>
              <a:rPr lang="zh-CN" altLang="zh-CN" sz="1500" dirty="0">
                <a:solidFill>
                  <a:srgbClr val="FF0000"/>
                </a:solidFill>
              </a:rPr>
              <a:t>提高调试效率</a:t>
            </a:r>
            <a:r>
              <a:rPr lang="zh-CN" altLang="zh-CN" sz="1500" dirty="0"/>
              <a:t>。一个源程序文件可以为多个</a:t>
            </a:r>
            <a:r>
              <a:rPr lang="en-US" altLang="zh-CN" sz="1500" dirty="0"/>
              <a:t>C</a:t>
            </a:r>
            <a:r>
              <a:rPr lang="zh-CN" altLang="zh-CN" sz="1500" dirty="0"/>
              <a:t>程序共用。</a:t>
            </a:r>
          </a:p>
          <a:p>
            <a:pPr lvl="1" indent="-325120" eaLnBrk="1" hangingPunct="1">
              <a:buNone/>
            </a:pPr>
            <a:endParaRPr lang="zh-CN" altLang="zh-CN" sz="1500" dirty="0"/>
          </a:p>
          <a:p>
            <a:pPr lvl="1" indent="-325120" eaLnBrk="1" hangingPunct="1">
              <a:buNone/>
            </a:pPr>
            <a:r>
              <a:rPr lang="en-US" altLang="zh-CN" sz="1500" dirty="0"/>
              <a:t>(2) </a:t>
            </a:r>
            <a:r>
              <a:rPr lang="zh-CN" altLang="zh-CN" sz="1500" dirty="0"/>
              <a:t>一个源程序文件由一个或多个函数以及其他有关内容（如预处理指令、数据声明与定义等）组成。一个源程序文件是一个编译单位，在程序编译时是以源程序文件为单位进行编译的，而不是以函数为单位进行编译的。</a:t>
            </a:r>
          </a:p>
          <a:p>
            <a:pPr eaLnBrk="1" hangingPunct="1"/>
            <a:endParaRPr lang="zh-CN" altLang="zh-CN" sz="1500"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内容占位符 2"/>
          <p:cNvSpPr>
            <a:spLocks noGrp="1"/>
          </p:cNvSpPr>
          <p:nvPr>
            <p:ph idx="1" hasCustomPrompt="1"/>
          </p:nvPr>
        </p:nvSpPr>
        <p:spPr>
          <a:xfrm>
            <a:off x="1518047" y="642938"/>
            <a:ext cx="6115050" cy="3482579"/>
          </a:xfrm>
        </p:spPr>
        <p:txBody>
          <a:bodyPr vert="horz" wrap="square" lIns="68580" tIns="34290" rIns="68580" bIns="34290" anchor="t" anchorCtr="0"/>
          <a:lstStyle/>
          <a:p>
            <a:pPr algn="l" eaLnBrk="1" hangingPunct="1">
              <a:spcBef>
                <a:spcPct val="50000"/>
              </a:spcBef>
              <a:buClr>
                <a:srgbClr val="782367"/>
              </a:buClr>
              <a:buSzTx/>
              <a:buFont typeface="Wingdings" panose="05000000000000000000" charset="0"/>
              <a:buChar char="n"/>
            </a:pPr>
            <a:r>
              <a:rPr lang="zh-CN" altLang="en-US" sz="1800" dirty="0"/>
              <a:t>说明：</a:t>
            </a:r>
          </a:p>
          <a:p>
            <a:pPr lvl="1" indent="-325120" eaLnBrk="1" hangingPunct="1">
              <a:buNone/>
            </a:pPr>
            <a:r>
              <a:rPr lang="en-US" altLang="zh-CN" sz="1500" dirty="0"/>
              <a:t> (3) </a:t>
            </a:r>
            <a:r>
              <a:rPr lang="zh-CN" altLang="zh-CN" sz="1500" dirty="0"/>
              <a:t>Ｃ程序的执行是</a:t>
            </a:r>
            <a:r>
              <a:rPr lang="zh-CN" altLang="zh-CN" sz="1500" dirty="0">
                <a:solidFill>
                  <a:srgbClr val="FF0000"/>
                </a:solidFill>
              </a:rPr>
              <a:t>从</a:t>
            </a:r>
            <a:r>
              <a:rPr lang="en-US" altLang="zh-CN" sz="1500" dirty="0">
                <a:solidFill>
                  <a:srgbClr val="FF0000"/>
                </a:solidFill>
              </a:rPr>
              <a:t>main</a:t>
            </a:r>
            <a:r>
              <a:rPr lang="zh-CN" altLang="zh-CN" sz="1500" dirty="0">
                <a:solidFill>
                  <a:srgbClr val="FF0000"/>
                </a:solidFill>
              </a:rPr>
              <a:t>函数</a:t>
            </a:r>
            <a:r>
              <a:rPr lang="zh-CN" altLang="zh-CN" sz="1500" dirty="0"/>
              <a:t>开始的，如果在</a:t>
            </a:r>
            <a:r>
              <a:rPr lang="en-US" altLang="zh-CN" sz="1500" dirty="0"/>
              <a:t>main</a:t>
            </a:r>
            <a:r>
              <a:rPr lang="zh-CN" altLang="zh-CN" sz="1500" dirty="0"/>
              <a:t>函数中调用其他函数，在调用后流程返回到</a:t>
            </a:r>
            <a:r>
              <a:rPr lang="en-US" altLang="zh-CN" sz="1500" dirty="0"/>
              <a:t>main</a:t>
            </a:r>
            <a:r>
              <a:rPr lang="zh-CN" altLang="zh-CN" sz="1500" dirty="0"/>
              <a:t>函数，在</a:t>
            </a:r>
            <a:r>
              <a:rPr lang="en-US" altLang="zh-CN" sz="1500" dirty="0"/>
              <a:t>main</a:t>
            </a:r>
            <a:r>
              <a:rPr lang="zh-CN" altLang="zh-CN" sz="1500" dirty="0"/>
              <a:t>函数中结束整个程序的运行。</a:t>
            </a:r>
          </a:p>
          <a:p>
            <a:pPr lvl="1" indent="-325120" eaLnBrk="1" hangingPunct="1">
              <a:buNone/>
            </a:pPr>
            <a:endParaRPr lang="zh-CN" altLang="zh-CN" sz="1500" dirty="0"/>
          </a:p>
          <a:p>
            <a:pPr lvl="1" indent="-325120" eaLnBrk="1" hangingPunct="1">
              <a:buNone/>
            </a:pPr>
            <a:r>
              <a:rPr lang="en-US" altLang="zh-CN" sz="1500" dirty="0"/>
              <a:t> (4) </a:t>
            </a:r>
            <a:r>
              <a:rPr lang="zh-CN" altLang="zh-CN" sz="1500" dirty="0"/>
              <a:t>所有函数都是平行的，即在定义函数时是分别进行的，是互相独立的。一个函数并不从属于另一个函数，即</a:t>
            </a:r>
            <a:r>
              <a:rPr lang="zh-CN" altLang="zh-CN" sz="1500" dirty="0">
                <a:solidFill>
                  <a:srgbClr val="FF0000"/>
                </a:solidFill>
              </a:rPr>
              <a:t>函数不能嵌套定义</a:t>
            </a:r>
            <a:r>
              <a:rPr lang="zh-CN" altLang="zh-CN" sz="1500" dirty="0"/>
              <a:t>。函数间可以互相调用，但不能调用</a:t>
            </a:r>
            <a:r>
              <a:rPr lang="en-US" altLang="zh-CN" sz="1500" dirty="0"/>
              <a:t>main</a:t>
            </a:r>
            <a:r>
              <a:rPr lang="zh-CN" altLang="zh-CN" sz="1500" dirty="0"/>
              <a:t>函数。</a:t>
            </a:r>
            <a:r>
              <a:rPr lang="en-US" altLang="zh-CN" sz="1500" dirty="0"/>
              <a:t>main</a:t>
            </a:r>
            <a:r>
              <a:rPr lang="zh-CN" altLang="zh-CN" sz="1500" dirty="0"/>
              <a:t>函数是被操作系统调用的。</a:t>
            </a:r>
          </a:p>
          <a:p>
            <a:pPr lvl="1" indent="-325120" eaLnBrk="1" hangingPunct="1">
              <a:buNone/>
            </a:pPr>
            <a:endParaRPr lang="zh-CN" altLang="zh-CN" sz="1500"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内容占位符 2"/>
          <p:cNvSpPr>
            <a:spLocks noGrp="1"/>
          </p:cNvSpPr>
          <p:nvPr>
            <p:ph idx="1" hasCustomPrompt="1"/>
          </p:nvPr>
        </p:nvSpPr>
        <p:spPr>
          <a:xfrm>
            <a:off x="1518047" y="642938"/>
            <a:ext cx="6115050" cy="1768079"/>
          </a:xfrm>
        </p:spPr>
        <p:txBody>
          <a:bodyPr vert="horz" wrap="square" lIns="68580" tIns="34290" rIns="68580" bIns="34290" anchor="t" anchorCtr="0"/>
          <a:lstStyle/>
          <a:p>
            <a:pPr algn="l" eaLnBrk="1" hangingPunct="1">
              <a:spcBef>
                <a:spcPct val="50000"/>
              </a:spcBef>
              <a:buClr>
                <a:srgbClr val="782367"/>
              </a:buClr>
              <a:buSzTx/>
              <a:buFont typeface="Wingdings" panose="05000000000000000000" charset="0"/>
              <a:buChar char="n"/>
            </a:pPr>
            <a:r>
              <a:rPr lang="zh-CN" altLang="en-US" sz="1800" dirty="0"/>
              <a:t>说明：</a:t>
            </a:r>
          </a:p>
          <a:p>
            <a:pPr lvl="1" indent="-325120" eaLnBrk="1" hangingPunct="1">
              <a:buNone/>
            </a:pPr>
            <a:r>
              <a:rPr lang="en-US" altLang="zh-CN" sz="1500" dirty="0"/>
              <a:t> (5) </a:t>
            </a:r>
            <a:r>
              <a:rPr lang="zh-CN" altLang="zh-CN" sz="1500" dirty="0"/>
              <a:t>从用户使用的角度看，函数有两种。</a:t>
            </a:r>
          </a:p>
          <a:p>
            <a:pPr lvl="1" indent="-325120" eaLnBrk="1" hangingPunct="1"/>
            <a:r>
              <a:rPr lang="zh-CN" altLang="zh-CN" sz="1500" dirty="0"/>
              <a:t>库函数，它是由系统提供的，用户不必自己定义而直接使用它们。应该说明，不同的</a:t>
            </a:r>
            <a:r>
              <a:rPr lang="en-US" altLang="zh-CN" sz="1500" dirty="0"/>
              <a:t>C</a:t>
            </a:r>
            <a:r>
              <a:rPr lang="zh-CN" altLang="zh-CN" sz="1500" dirty="0"/>
              <a:t>语言编译系统提供的库函数的数量和功能会有一些不同，当然许多基本的函数是共同的。</a:t>
            </a:r>
          </a:p>
          <a:p>
            <a:pPr lvl="1" indent="-325120" eaLnBrk="1" hangingPunct="1"/>
            <a:r>
              <a:rPr lang="zh-CN" altLang="zh-CN" sz="1500" dirty="0"/>
              <a:t>用户自己定义的函数。它是用以解决用户专门需要的函数。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506">
                                            <p:txEl>
                                              <p:pRg st="2" end="2"/>
                                            </p:txEl>
                                          </p:spTgt>
                                        </p:tgtEl>
                                        <p:attrNameLst>
                                          <p:attrName>style.visibility</p:attrName>
                                        </p:attrNameLst>
                                      </p:cBhvr>
                                      <p:to>
                                        <p:strVal val="visible"/>
                                      </p:to>
                                    </p:set>
                                    <p:animEffect transition="in" filter="blinds(horizontal)">
                                      <p:cBhvr>
                                        <p:cTn id="7" dur="500"/>
                                        <p:tgtEl>
                                          <p:spTgt spid="2150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506">
                                            <p:txEl>
                                              <p:pRg st="3" end="3"/>
                                            </p:txEl>
                                          </p:spTgt>
                                        </p:tgtEl>
                                        <p:attrNameLst>
                                          <p:attrName>style.visibility</p:attrName>
                                        </p:attrNameLst>
                                      </p:cBhvr>
                                      <p:to>
                                        <p:strVal val="visible"/>
                                      </p:to>
                                    </p:set>
                                    <p:animEffect transition="in" filter="blinds(horizontal)">
                                      <p:cBhvr>
                                        <p:cTn id="12" dur="500"/>
                                        <p:tgtEl>
                                          <p:spTgt spid="2150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2"/>
          <p:cNvSpPr>
            <a:spLocks noGrp="1"/>
          </p:cNvSpPr>
          <p:nvPr>
            <p:ph idx="1" hasCustomPrompt="1"/>
          </p:nvPr>
        </p:nvSpPr>
        <p:spPr>
          <a:xfrm>
            <a:off x="1518047" y="642938"/>
            <a:ext cx="6115050" cy="3911204"/>
          </a:xfrm>
        </p:spPr>
        <p:txBody>
          <a:bodyPr vert="horz" wrap="square" lIns="68580" tIns="34290" rIns="68580" bIns="34290" anchor="t" anchorCtr="0"/>
          <a:lstStyle/>
          <a:p>
            <a:pPr algn="l" eaLnBrk="1" hangingPunct="1">
              <a:spcBef>
                <a:spcPct val="50000"/>
              </a:spcBef>
              <a:buClr>
                <a:srgbClr val="782367"/>
              </a:buClr>
              <a:buSzTx/>
              <a:buFont typeface="Wingdings" panose="05000000000000000000" charset="0"/>
              <a:buChar char="n"/>
            </a:pPr>
            <a:r>
              <a:rPr lang="zh-CN" altLang="en-US" sz="1800" dirty="0"/>
              <a:t>说明：</a:t>
            </a:r>
          </a:p>
          <a:p>
            <a:pPr lvl="1" indent="-325120" eaLnBrk="1" hangingPunct="1">
              <a:buNone/>
            </a:pPr>
            <a:r>
              <a:rPr lang="en-US" altLang="zh-CN" sz="1500" dirty="0"/>
              <a:t>(6) </a:t>
            </a:r>
            <a:r>
              <a:rPr lang="zh-CN" altLang="zh-CN" sz="1500" dirty="0"/>
              <a:t>从函数的形式看，函数分两类。</a:t>
            </a:r>
          </a:p>
          <a:p>
            <a:pPr lvl="1" indent="-325120" eaLnBrk="1" hangingPunct="1">
              <a:buNone/>
            </a:pPr>
            <a:r>
              <a:rPr lang="en-US" altLang="zh-CN" sz="1500" dirty="0"/>
              <a:t> </a:t>
            </a:r>
            <a:r>
              <a:rPr lang="zh-CN" altLang="zh-CN" sz="1500" dirty="0"/>
              <a:t>① 无参函数。无参函数一般用来执行指定的一组操作。无参函数可以带回或不带回函数值，但一般以不带回函数值的居多。</a:t>
            </a:r>
            <a:endParaRPr lang="en-US" altLang="zh-CN" sz="1500" dirty="0"/>
          </a:p>
          <a:p>
            <a:pPr lvl="1" indent="-325120" eaLnBrk="1" hangingPunct="1">
              <a:buNone/>
            </a:pPr>
            <a:r>
              <a:rPr lang="en-US" altLang="zh-CN" sz="1500" dirty="0"/>
              <a:t>  </a:t>
            </a:r>
            <a:r>
              <a:rPr lang="zh-CN" altLang="zh-CN" sz="1500" dirty="0"/>
              <a:t>② 有参函数。在调用函数时，主调函数在调用被调用函数时，通过参数向被调用函数传递数据，一般情况下，执行被调用函数时会得到一个函数值，供主调函数使用。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530">
                                            <p:txEl>
                                              <p:pRg st="2" end="2"/>
                                            </p:txEl>
                                          </p:spTgt>
                                        </p:tgtEl>
                                        <p:attrNameLst>
                                          <p:attrName>style.visibility</p:attrName>
                                        </p:attrNameLst>
                                      </p:cBhvr>
                                      <p:to>
                                        <p:strVal val="visible"/>
                                      </p:to>
                                    </p:set>
                                    <p:animEffect transition="in" filter="blinds(horizontal)">
                                      <p:cBhvr>
                                        <p:cTn id="7" dur="500"/>
                                        <p:tgtEl>
                                          <p:spTgt spid="22530">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530">
                                            <p:txEl>
                                              <p:pRg st="3" end="3"/>
                                            </p:txEl>
                                          </p:spTgt>
                                        </p:tgtEl>
                                        <p:attrNameLst>
                                          <p:attrName>style.visibility</p:attrName>
                                        </p:attrNameLst>
                                      </p:cBhvr>
                                      <p:to>
                                        <p:strVal val="visible"/>
                                      </p:to>
                                    </p:set>
                                    <p:animEffect transition="in" filter="blinds(horizontal)">
                                      <p:cBhvr>
                                        <p:cTn id="12" dur="500"/>
                                        <p:tgtEl>
                                          <p:spTgt spid="2253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1923"/>
          <p:cNvSpPr txBox="1"/>
          <p:nvPr/>
        </p:nvSpPr>
        <p:spPr>
          <a:xfrm>
            <a:off x="1638300" y="334804"/>
            <a:ext cx="5867400" cy="1824038"/>
          </a:xfrm>
          <a:prstGeom prst="rect">
            <a:avLst/>
          </a:prstGeom>
          <a:noFill/>
          <a:ln w="9525">
            <a:noFill/>
          </a:ln>
        </p:spPr>
        <p:txBody>
          <a:bodyPr anchor="b"/>
          <a:lstStyle>
            <a:lvl1pPr marL="0" lvl="0" indent="0" algn="r" defTabSz="914400" rtl="0" eaLnBrk="1" fontAlgn="base" latinLnBrk="0" hangingPunct="1">
              <a:lnSpc>
                <a:spcPct val="100000"/>
              </a:lnSpc>
              <a:spcBef>
                <a:spcPct val="0"/>
              </a:spcBef>
              <a:spcAft>
                <a:spcPct val="0"/>
              </a:spcAft>
              <a:buClrTx/>
              <a:buSzTx/>
              <a:buFontTx/>
              <a:buNone/>
              <a:defRPr sz="4800" b="1" i="0" u="none" kern="1200" baseline="0">
                <a:solidFill>
                  <a:schemeClr val="tx2"/>
                </a:solidFill>
                <a:latin typeface="+mj-lt"/>
                <a:ea typeface="+mj-ea"/>
                <a:cs typeface="+mj-cs"/>
              </a:defRPr>
            </a:lvl1pPr>
          </a:lstStyle>
          <a:p>
            <a:pPr algn="ctr"/>
            <a:r>
              <a:rPr lang="zh-CN" altLang="en-US" sz="3600"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rPr>
              <a:t>怎样定义函数</a:t>
            </a:r>
          </a:p>
        </p:txBody>
      </p:sp>
      <p:cxnSp>
        <p:nvCxnSpPr>
          <p:cNvPr id="4" name="直接连接符 3"/>
          <p:cNvCxnSpPr/>
          <p:nvPr/>
        </p:nvCxnSpPr>
        <p:spPr>
          <a:xfrm>
            <a:off x="323850" y="2352052"/>
            <a:ext cx="8496300" cy="0"/>
          </a:xfrm>
          <a:prstGeom prst="line">
            <a:avLst/>
          </a:prstGeom>
          <a:ln w="25400">
            <a:solidFill>
              <a:srgbClr val="782367"/>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3873" y="185003"/>
            <a:ext cx="430355" cy="4303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489347"/>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sym typeface="+mn-ea"/>
              </a:rPr>
              <a:t>怎样定义函数</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14338" name="Rectangle 3"/>
          <p:cNvSpPr>
            <a:spLocks noGrp="1"/>
          </p:cNvSpPr>
          <p:nvPr>
            <p:ph idx="1" hasCustomPrompt="1"/>
          </p:nvPr>
        </p:nvSpPr>
        <p:spPr>
          <a:xfrm>
            <a:off x="1625204" y="1232297"/>
            <a:ext cx="5679281" cy="1514475"/>
          </a:xfrm>
        </p:spPr>
        <p:txBody>
          <a:bodyPr vert="horz" wrap="square" lIns="68580" tIns="34290" rIns="68580" bIns="34290" anchor="t" anchorCtr="0"/>
          <a:lstStyle/>
          <a:p>
            <a:pPr eaLnBrk="1" hangingPunct="1">
              <a:spcBef>
                <a:spcPct val="50000"/>
              </a:spcBef>
            </a:pPr>
            <a:r>
              <a:rPr lang="en-US" altLang="zh-CN" sz="1800" dirty="0"/>
              <a:t>C</a:t>
            </a:r>
            <a:r>
              <a:rPr lang="zh-CN" altLang="zh-CN" sz="1800" dirty="0"/>
              <a:t>语言要求，在程序中用到的所有函数，必须“</a:t>
            </a:r>
            <a:r>
              <a:rPr lang="zh-CN" altLang="zh-CN" sz="1800" dirty="0">
                <a:solidFill>
                  <a:srgbClr val="C00000"/>
                </a:solidFill>
              </a:rPr>
              <a:t>先定义，后使用</a:t>
            </a:r>
            <a:r>
              <a:rPr lang="zh-CN" altLang="zh-CN" sz="1800" dirty="0"/>
              <a:t>”</a:t>
            </a:r>
            <a:endParaRPr lang="en-US" altLang="zh-CN" sz="1800" dirty="0"/>
          </a:p>
          <a:p>
            <a:pPr eaLnBrk="1" hangingPunct="1">
              <a:spcBef>
                <a:spcPct val="50000"/>
              </a:spcBef>
            </a:pPr>
            <a:r>
              <a:rPr lang="zh-CN" altLang="zh-CN" sz="1800" dirty="0"/>
              <a:t>指定</a:t>
            </a:r>
            <a:r>
              <a:rPr lang="zh-CN" altLang="en-US" sz="1800" dirty="0"/>
              <a:t>函数</a:t>
            </a:r>
            <a:r>
              <a:rPr lang="zh-CN" altLang="zh-CN" sz="1800" dirty="0">
                <a:solidFill>
                  <a:srgbClr val="0000CC"/>
                </a:solidFill>
              </a:rPr>
              <a:t>名字</a:t>
            </a:r>
            <a:r>
              <a:rPr lang="zh-CN" altLang="zh-CN" sz="1800" dirty="0"/>
              <a:t>、函数</a:t>
            </a:r>
            <a:r>
              <a:rPr lang="zh-CN" altLang="zh-CN" sz="1800" dirty="0">
                <a:solidFill>
                  <a:srgbClr val="0000CC"/>
                </a:solidFill>
              </a:rPr>
              <a:t>返回值类型</a:t>
            </a:r>
            <a:r>
              <a:rPr lang="zh-CN" altLang="zh-CN" sz="1800" dirty="0"/>
              <a:t>、函数实现的</a:t>
            </a:r>
            <a:r>
              <a:rPr lang="zh-CN" altLang="zh-CN" sz="1800" dirty="0">
                <a:solidFill>
                  <a:srgbClr val="0000CC"/>
                </a:solidFill>
              </a:rPr>
              <a:t>功能</a:t>
            </a:r>
            <a:r>
              <a:rPr lang="zh-CN" altLang="zh-CN" sz="1800" dirty="0"/>
              <a:t>以及</a:t>
            </a:r>
            <a:r>
              <a:rPr lang="zh-CN" altLang="zh-CN" sz="1800" dirty="0">
                <a:solidFill>
                  <a:srgbClr val="0000CC"/>
                </a:solidFill>
              </a:rPr>
              <a:t>参数的个数与类型</a:t>
            </a:r>
            <a:r>
              <a:rPr lang="zh-CN" altLang="zh-CN" sz="1800" dirty="0"/>
              <a:t>，将这些信息通知编译系统。</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489347"/>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定义函数的方法</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16386" name="Rectangle 3"/>
          <p:cNvSpPr>
            <a:spLocks noGrp="1"/>
          </p:cNvSpPr>
          <p:nvPr>
            <p:ph idx="1" hasCustomPrompt="1"/>
          </p:nvPr>
        </p:nvSpPr>
        <p:spPr>
          <a:xfrm>
            <a:off x="1625204" y="1232297"/>
            <a:ext cx="4286250" cy="1071563"/>
          </a:xfrm>
        </p:spPr>
        <p:txBody>
          <a:bodyPr vert="horz" wrap="square" lIns="68580" tIns="34290" rIns="68580" bIns="34290" anchor="t" anchorCtr="0"/>
          <a:lstStyle/>
          <a:p>
            <a:pPr eaLnBrk="1" hangingPunct="1">
              <a:buNone/>
            </a:pPr>
            <a:r>
              <a:rPr lang="en-US" altLang="zh-CN" sz="1800" dirty="0"/>
              <a:t>1.</a:t>
            </a:r>
            <a:r>
              <a:rPr lang="zh-CN" altLang="zh-CN" sz="1800" dirty="0"/>
              <a:t>定义无参函数</a:t>
            </a:r>
            <a:endParaRPr lang="en-US" altLang="zh-CN" sz="1800" dirty="0"/>
          </a:p>
          <a:p>
            <a:pPr eaLnBrk="1" hangingPunct="1">
              <a:buNone/>
            </a:pPr>
            <a:r>
              <a:rPr lang="zh-CN" altLang="zh-CN" sz="1800" dirty="0"/>
              <a:t>定义无参函数的一般形式为</a:t>
            </a:r>
            <a:r>
              <a:rPr lang="en-US" altLang="zh-CN" sz="1800" dirty="0"/>
              <a:t>:</a:t>
            </a:r>
          </a:p>
        </p:txBody>
      </p:sp>
      <p:sp>
        <p:nvSpPr>
          <p:cNvPr id="16387" name="Rectangle 3"/>
          <p:cNvSpPr txBox="1"/>
          <p:nvPr/>
        </p:nvSpPr>
        <p:spPr>
          <a:xfrm>
            <a:off x="4572000" y="2357438"/>
            <a:ext cx="2118122" cy="1364456"/>
          </a:xfrm>
          <a:prstGeom prst="rect">
            <a:avLst/>
          </a:prstGeom>
          <a:solidFill>
            <a:srgbClr val="FFCCFF"/>
          </a:solidFill>
          <a:ln w="9525">
            <a:noFill/>
          </a:ln>
        </p:spPr>
        <p:txBody>
          <a:bodyPr anchor="t" anchorCtr="0"/>
          <a:lstStyle/>
          <a:p>
            <a:pPr marL="342900" indent="-342900" eaLnBrk="0" hangingPunct="0">
              <a:lnSpc>
                <a:spcPct val="120000"/>
              </a:lnSpc>
              <a:spcBef>
                <a:spcPct val="20000"/>
              </a:spcBef>
              <a:buSzTx/>
            </a:pPr>
            <a:r>
              <a:rPr lang="zh-CN" altLang="zh-CN" sz="1500" b="1" dirty="0">
                <a:latin typeface="Verdana" panose="020B0804030504040204" pitchFamily="34" charset="0"/>
              </a:rPr>
              <a:t>类型名</a:t>
            </a:r>
            <a:r>
              <a:rPr lang="en-US" altLang="zh-CN" sz="1500" b="1" dirty="0">
                <a:latin typeface="Verdana" panose="020B0804030504040204" pitchFamily="34" charset="0"/>
              </a:rPr>
              <a:t>  </a:t>
            </a:r>
            <a:r>
              <a:rPr lang="zh-CN" altLang="zh-CN" sz="1500" b="1" dirty="0">
                <a:latin typeface="Verdana" panose="020B0804030504040204" pitchFamily="34" charset="0"/>
              </a:rPr>
              <a:t>函数名</a:t>
            </a:r>
            <a:r>
              <a:rPr lang="en-US" altLang="zh-CN" sz="1500" b="1" dirty="0">
                <a:latin typeface="Verdana" panose="020B0804030504040204" pitchFamily="34" charset="0"/>
              </a:rPr>
              <a:t>(</a:t>
            </a:r>
            <a:r>
              <a:rPr lang="en-US" altLang="zh-CN" sz="1500" b="1" dirty="0">
                <a:latin typeface="Arial" panose="020B0604020202090204" pitchFamily="34" charset="0"/>
              </a:rPr>
              <a:t>void)</a:t>
            </a:r>
            <a:r>
              <a:rPr lang="en-US" altLang="zh-CN" sz="1500" b="1" dirty="0">
                <a:latin typeface="Verdana" panose="020B0804030504040204" pitchFamily="34" charset="0"/>
              </a:rPr>
              <a:t>                                 </a:t>
            </a:r>
          </a:p>
          <a:p>
            <a:pPr marL="342900" indent="-342900" eaLnBrk="0" hangingPunct="0">
              <a:lnSpc>
                <a:spcPct val="120000"/>
              </a:lnSpc>
              <a:spcBef>
                <a:spcPct val="20000"/>
              </a:spcBef>
              <a:buSzTx/>
            </a:pPr>
            <a:r>
              <a:rPr lang="zh-CN" altLang="zh-CN" sz="1500" b="1" dirty="0">
                <a:latin typeface="Verdana" panose="020B0804030504040204" pitchFamily="34" charset="0"/>
              </a:rPr>
              <a:t>｛</a:t>
            </a:r>
          </a:p>
          <a:p>
            <a:pPr marL="342900" indent="-342900" eaLnBrk="0" hangingPunct="0">
              <a:lnSpc>
                <a:spcPct val="120000"/>
              </a:lnSpc>
              <a:spcBef>
                <a:spcPct val="20000"/>
              </a:spcBef>
              <a:buSzTx/>
            </a:pPr>
            <a:r>
              <a:rPr lang="en-US" altLang="zh-CN" sz="1500" b="1" dirty="0">
                <a:latin typeface="Verdana" panose="020B0804030504040204" pitchFamily="34" charset="0"/>
              </a:rPr>
              <a:t>      </a:t>
            </a:r>
            <a:r>
              <a:rPr lang="zh-CN" altLang="zh-CN" sz="1500" b="1" dirty="0">
                <a:latin typeface="Verdana" panose="020B0804030504040204" pitchFamily="34" charset="0"/>
              </a:rPr>
              <a:t>函数体</a:t>
            </a:r>
            <a:r>
              <a:rPr lang="en-US" altLang="zh-CN" sz="1500" b="1" dirty="0">
                <a:latin typeface="Verdana" panose="020B0804030504040204" pitchFamily="34" charset="0"/>
              </a:rPr>
              <a:t>            </a:t>
            </a:r>
            <a:endParaRPr lang="zh-CN" altLang="zh-CN" sz="1500" b="1" dirty="0">
              <a:latin typeface="Verdana" panose="020B0804030504040204" pitchFamily="34" charset="0"/>
            </a:endParaRPr>
          </a:p>
          <a:p>
            <a:pPr marL="342900" indent="-342900" eaLnBrk="0" hangingPunct="0">
              <a:lnSpc>
                <a:spcPct val="120000"/>
              </a:lnSpc>
              <a:spcBef>
                <a:spcPct val="20000"/>
              </a:spcBef>
              <a:buSzTx/>
            </a:pPr>
            <a:r>
              <a:rPr lang="en-US" altLang="zh-CN" sz="1500" b="1" dirty="0">
                <a:latin typeface="Verdana" panose="020B0804030504040204" pitchFamily="34" charset="0"/>
              </a:rPr>
              <a:t> </a:t>
            </a:r>
            <a:r>
              <a:rPr lang="zh-CN" altLang="zh-CN" sz="1500" b="1" dirty="0">
                <a:latin typeface="Verdana" panose="020B0804030504040204" pitchFamily="34" charset="0"/>
              </a:rPr>
              <a:t>｝</a:t>
            </a:r>
            <a:r>
              <a:rPr lang="en-US" altLang="zh-CN" sz="1500" b="1" dirty="0">
                <a:latin typeface="Verdana" panose="020B0804030504040204" pitchFamily="34" charset="0"/>
              </a:rPr>
              <a:t>                 </a:t>
            </a:r>
            <a:endParaRPr lang="zh-CN" altLang="zh-CN" sz="1500" b="1" dirty="0">
              <a:latin typeface="Verdana" panose="020B0804030504040204" pitchFamily="34" charset="0"/>
            </a:endParaRPr>
          </a:p>
          <a:p>
            <a:pPr marL="342900" indent="-342900" eaLnBrk="0" hangingPunct="0">
              <a:lnSpc>
                <a:spcPct val="120000"/>
              </a:lnSpc>
              <a:spcBef>
                <a:spcPct val="20000"/>
              </a:spcBef>
              <a:buSzTx/>
            </a:pPr>
            <a:endParaRPr lang="zh-CN" altLang="zh-CN" sz="1500" b="1" dirty="0">
              <a:latin typeface="Verdana" panose="020B0804030504040204" pitchFamily="34" charset="0"/>
            </a:endParaRPr>
          </a:p>
        </p:txBody>
      </p:sp>
      <p:sp>
        <p:nvSpPr>
          <p:cNvPr id="16388" name="Rectangle 3"/>
          <p:cNvSpPr txBox="1"/>
          <p:nvPr/>
        </p:nvSpPr>
        <p:spPr>
          <a:xfrm>
            <a:off x="1625204" y="2357438"/>
            <a:ext cx="1875234" cy="1364456"/>
          </a:xfrm>
          <a:prstGeom prst="rect">
            <a:avLst/>
          </a:prstGeom>
          <a:solidFill>
            <a:srgbClr val="FFFFCC"/>
          </a:solidFill>
          <a:ln w="9525">
            <a:noFill/>
          </a:ln>
        </p:spPr>
        <p:txBody>
          <a:bodyPr anchor="t" anchorCtr="0"/>
          <a:lstStyle/>
          <a:p>
            <a:pPr marL="342900" indent="-342900" eaLnBrk="0" hangingPunct="0">
              <a:lnSpc>
                <a:spcPct val="120000"/>
              </a:lnSpc>
              <a:spcBef>
                <a:spcPct val="20000"/>
              </a:spcBef>
              <a:buSzTx/>
            </a:pPr>
            <a:r>
              <a:rPr lang="zh-CN" altLang="zh-CN" sz="1500" b="1" dirty="0">
                <a:latin typeface="Verdana" panose="020B0804030504040204" pitchFamily="34" charset="0"/>
              </a:rPr>
              <a:t>类型名</a:t>
            </a:r>
            <a:r>
              <a:rPr lang="en-US" altLang="zh-CN" sz="1500" b="1" dirty="0">
                <a:latin typeface="Verdana" panose="020B0804030504040204" pitchFamily="34" charset="0"/>
              </a:rPr>
              <a:t>  </a:t>
            </a:r>
            <a:r>
              <a:rPr lang="zh-CN" altLang="zh-CN" sz="1500" b="1" dirty="0">
                <a:latin typeface="Verdana" panose="020B0804030504040204" pitchFamily="34" charset="0"/>
              </a:rPr>
              <a:t>函数名</a:t>
            </a:r>
            <a:r>
              <a:rPr lang="en-US" altLang="zh-CN" sz="1500" b="1" dirty="0">
                <a:latin typeface="Verdana" panose="020B0804030504040204" pitchFamily="34" charset="0"/>
              </a:rPr>
              <a:t>()                                 </a:t>
            </a:r>
          </a:p>
          <a:p>
            <a:pPr marL="342900" indent="-342900" eaLnBrk="0" hangingPunct="0">
              <a:lnSpc>
                <a:spcPct val="120000"/>
              </a:lnSpc>
              <a:spcBef>
                <a:spcPct val="20000"/>
              </a:spcBef>
              <a:buSzTx/>
            </a:pPr>
            <a:r>
              <a:rPr lang="zh-CN" altLang="zh-CN" sz="1500" b="1" dirty="0">
                <a:latin typeface="Verdana" panose="020B0804030504040204" pitchFamily="34" charset="0"/>
              </a:rPr>
              <a:t>｛</a:t>
            </a:r>
          </a:p>
          <a:p>
            <a:pPr marL="342900" indent="-342900" eaLnBrk="0" hangingPunct="0">
              <a:lnSpc>
                <a:spcPct val="120000"/>
              </a:lnSpc>
              <a:spcBef>
                <a:spcPct val="20000"/>
              </a:spcBef>
              <a:buSzTx/>
            </a:pPr>
            <a:r>
              <a:rPr lang="en-US" altLang="zh-CN" sz="1500" b="1" dirty="0">
                <a:latin typeface="Verdana" panose="020B0804030504040204" pitchFamily="34" charset="0"/>
              </a:rPr>
              <a:t>      </a:t>
            </a:r>
            <a:r>
              <a:rPr lang="zh-CN" altLang="zh-CN" sz="1500" b="1" dirty="0">
                <a:latin typeface="Verdana" panose="020B0804030504040204" pitchFamily="34" charset="0"/>
              </a:rPr>
              <a:t>函数体</a:t>
            </a:r>
            <a:r>
              <a:rPr lang="en-US" altLang="zh-CN" sz="1500" b="1" dirty="0">
                <a:latin typeface="Verdana" panose="020B0804030504040204" pitchFamily="34" charset="0"/>
              </a:rPr>
              <a:t>            </a:t>
            </a:r>
            <a:endParaRPr lang="zh-CN" altLang="zh-CN" sz="1500" b="1" dirty="0">
              <a:latin typeface="Verdana" panose="020B0804030504040204" pitchFamily="34" charset="0"/>
            </a:endParaRPr>
          </a:p>
          <a:p>
            <a:pPr marL="342900" indent="-342900" eaLnBrk="0" hangingPunct="0">
              <a:lnSpc>
                <a:spcPct val="120000"/>
              </a:lnSpc>
              <a:spcBef>
                <a:spcPct val="20000"/>
              </a:spcBef>
              <a:buSzTx/>
            </a:pPr>
            <a:r>
              <a:rPr lang="en-US" altLang="zh-CN" sz="1500" b="1" dirty="0">
                <a:latin typeface="Verdana" panose="020B0804030504040204" pitchFamily="34" charset="0"/>
              </a:rPr>
              <a:t> </a:t>
            </a:r>
            <a:r>
              <a:rPr lang="zh-CN" altLang="zh-CN" sz="1500" b="1" dirty="0">
                <a:latin typeface="Verdana" panose="020B0804030504040204" pitchFamily="34" charset="0"/>
              </a:rPr>
              <a:t>｝</a:t>
            </a:r>
            <a:r>
              <a:rPr lang="en-US" altLang="zh-CN" sz="1500" b="1" dirty="0">
                <a:latin typeface="Verdana" panose="020B0804030504040204" pitchFamily="34" charset="0"/>
              </a:rPr>
              <a:t>                 </a:t>
            </a:r>
            <a:endParaRPr lang="zh-CN" altLang="zh-CN" sz="1500" b="1" dirty="0">
              <a:latin typeface="Verdana" panose="020B0804030504040204" pitchFamily="34" charset="0"/>
            </a:endParaRPr>
          </a:p>
          <a:p>
            <a:pPr marL="342900" indent="-342900" eaLnBrk="0" hangingPunct="0">
              <a:lnSpc>
                <a:spcPct val="120000"/>
              </a:lnSpc>
              <a:spcBef>
                <a:spcPct val="20000"/>
              </a:spcBef>
              <a:buSzTx/>
            </a:pPr>
            <a:endParaRPr lang="zh-CN" altLang="zh-CN" sz="1500" b="1" dirty="0">
              <a:latin typeface="Verdana" panose="020B0804030504040204" pitchFamily="34" charset="0"/>
            </a:endParaRPr>
          </a:p>
        </p:txBody>
      </p:sp>
      <p:sp>
        <p:nvSpPr>
          <p:cNvPr id="6" name="圆角矩形标注 5"/>
          <p:cNvSpPr/>
          <p:nvPr/>
        </p:nvSpPr>
        <p:spPr>
          <a:xfrm>
            <a:off x="3214688" y="4232672"/>
            <a:ext cx="1790700" cy="664369"/>
          </a:xfrm>
          <a:prstGeom prst="wedgeRoundRectCallout">
            <a:avLst>
              <a:gd name="adj1" fmla="val 67634"/>
              <a:gd name="adj2" fmla="val -179588"/>
              <a:gd name="adj3" fmla="val 16667"/>
            </a:avLst>
          </a:prstGeom>
          <a:solidFill>
            <a:srgbClr val="E1FFE1"/>
          </a:solidFill>
          <a:ln w="9525" cap="flat" cmpd="sng">
            <a:solidFill>
              <a:schemeClr val="tx1"/>
            </a:solidFill>
            <a:prstDash val="solid"/>
            <a:miter/>
            <a:headEnd type="none" w="med" len="med"/>
            <a:tailEnd type="none" w="med" len="med"/>
          </a:ln>
        </p:spPr>
        <p:txBody>
          <a:bodyPr anchor="t" anchorCtr="0"/>
          <a:lstStyle/>
          <a:p>
            <a:pPr algn="ctr">
              <a:buSzTx/>
            </a:pPr>
            <a:r>
              <a:rPr lang="zh-CN" altLang="zh-CN" sz="1500" b="1" dirty="0">
                <a:solidFill>
                  <a:srgbClr val="FF0000"/>
                </a:solidFill>
                <a:latin typeface="Arial" panose="020B0604020202090204" pitchFamily="34" charset="0"/>
              </a:rPr>
              <a:t>包括声明部分和语句部分</a:t>
            </a:r>
          </a:p>
        </p:txBody>
      </p:sp>
      <p:sp>
        <p:nvSpPr>
          <p:cNvPr id="7" name="圆角矩形标注 6"/>
          <p:cNvSpPr/>
          <p:nvPr/>
        </p:nvSpPr>
        <p:spPr>
          <a:xfrm>
            <a:off x="3214688" y="4232672"/>
            <a:ext cx="1790700" cy="664369"/>
          </a:xfrm>
          <a:prstGeom prst="wedgeRoundRectCallout">
            <a:avLst>
              <a:gd name="adj1" fmla="val -77801"/>
              <a:gd name="adj2" fmla="val -182569"/>
              <a:gd name="adj3" fmla="val 16667"/>
            </a:avLst>
          </a:prstGeom>
          <a:solidFill>
            <a:srgbClr val="E1FFE1"/>
          </a:solidFill>
          <a:ln w="9525" cap="flat" cmpd="sng">
            <a:solidFill>
              <a:schemeClr val="tx1"/>
            </a:solidFill>
            <a:prstDash val="solid"/>
            <a:miter/>
            <a:headEnd type="none" w="med" len="med"/>
            <a:tailEnd type="none" w="med" len="med"/>
          </a:ln>
        </p:spPr>
        <p:txBody>
          <a:bodyPr anchor="t" anchorCtr="0"/>
          <a:lstStyle/>
          <a:p>
            <a:pPr algn="ctr">
              <a:buSzTx/>
            </a:pPr>
            <a:r>
              <a:rPr lang="zh-CN" altLang="zh-CN" sz="1500" b="1" dirty="0">
                <a:solidFill>
                  <a:srgbClr val="FF0000"/>
                </a:solidFill>
                <a:latin typeface="Arial" panose="020B0604020202090204" pitchFamily="34" charset="0"/>
              </a:rPr>
              <a:t>包括声明部分和语句部分</a:t>
            </a:r>
          </a:p>
        </p:txBody>
      </p:sp>
      <p:sp>
        <p:nvSpPr>
          <p:cNvPr id="8" name="圆角矩形标注 7"/>
          <p:cNvSpPr/>
          <p:nvPr/>
        </p:nvSpPr>
        <p:spPr>
          <a:xfrm>
            <a:off x="3006329" y="1372791"/>
            <a:ext cx="1470422" cy="545306"/>
          </a:xfrm>
          <a:prstGeom prst="wedgeRoundRectCallout">
            <a:avLst>
              <a:gd name="adj1" fmla="val 66194"/>
              <a:gd name="adj2" fmla="val 160481"/>
              <a:gd name="adj3" fmla="val 16667"/>
            </a:avLst>
          </a:prstGeom>
          <a:solidFill>
            <a:srgbClr val="E1FFE1"/>
          </a:solidFill>
          <a:ln w="9525" cap="flat" cmpd="sng">
            <a:solidFill>
              <a:schemeClr val="tx1"/>
            </a:solidFill>
            <a:prstDash val="solid"/>
            <a:miter/>
            <a:headEnd type="none" w="med" len="med"/>
            <a:tailEnd type="none" w="med" len="med"/>
          </a:ln>
        </p:spPr>
        <p:txBody>
          <a:bodyPr anchor="t" anchorCtr="0"/>
          <a:lstStyle/>
          <a:p>
            <a:pPr algn="ctr">
              <a:buSzTx/>
            </a:pPr>
            <a:r>
              <a:rPr lang="zh-CN" altLang="zh-CN" sz="1500" b="1" dirty="0">
                <a:solidFill>
                  <a:srgbClr val="FF0000"/>
                </a:solidFill>
                <a:latin typeface="Arial" panose="020B0604020202090204" pitchFamily="34" charset="0"/>
              </a:rPr>
              <a:t>指定函数值的类型</a:t>
            </a:r>
          </a:p>
        </p:txBody>
      </p:sp>
      <p:sp>
        <p:nvSpPr>
          <p:cNvPr id="2" name="圆角矩形标注 1"/>
          <p:cNvSpPr/>
          <p:nvPr/>
        </p:nvSpPr>
        <p:spPr>
          <a:xfrm>
            <a:off x="2976563" y="1372791"/>
            <a:ext cx="1500188" cy="571500"/>
          </a:xfrm>
          <a:prstGeom prst="wedgeRoundRectCallout">
            <a:avLst>
              <a:gd name="adj1" fmla="val -110954"/>
              <a:gd name="adj2" fmla="val 139750"/>
              <a:gd name="adj3" fmla="val 16667"/>
            </a:avLst>
          </a:prstGeom>
          <a:solidFill>
            <a:srgbClr val="E1FFE1"/>
          </a:solidFill>
          <a:ln w="9525" cap="flat" cmpd="sng">
            <a:solidFill>
              <a:schemeClr val="tx1"/>
            </a:solidFill>
            <a:prstDash val="solid"/>
            <a:miter/>
            <a:headEnd type="none" w="med" len="med"/>
            <a:tailEnd type="none" w="med" len="med"/>
          </a:ln>
        </p:spPr>
        <p:txBody>
          <a:bodyPr anchor="t" anchorCtr="0"/>
          <a:lstStyle/>
          <a:p>
            <a:pPr algn="ctr">
              <a:buSzTx/>
            </a:pPr>
            <a:r>
              <a:rPr lang="zh-CN" altLang="zh-CN" sz="1500" b="1" dirty="0">
                <a:solidFill>
                  <a:srgbClr val="FF0000"/>
                </a:solidFill>
                <a:latin typeface="Arial" panose="020B0604020202090204" pitchFamily="34" charset="0"/>
              </a:rPr>
              <a:t>指定函数值的类型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childTnLst>
                          </p:cTn>
                        </p:par>
                        <p:par>
                          <p:cTn id="16" fill="hold">
                            <p:stCondLst>
                              <p:cond delay="500"/>
                            </p:stCondLst>
                            <p:childTnLst>
                              <p:par>
                                <p:cTn id="17" presetID="3" presetClass="entr" presetSubtype="1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P spid="2"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489347"/>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定义函数的方法</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17410" name="Rectangle 3"/>
          <p:cNvSpPr>
            <a:spLocks noGrp="1"/>
          </p:cNvSpPr>
          <p:nvPr>
            <p:ph idx="1" hasCustomPrompt="1"/>
          </p:nvPr>
        </p:nvSpPr>
        <p:spPr>
          <a:xfrm>
            <a:off x="1625204" y="1232297"/>
            <a:ext cx="5786438" cy="3307556"/>
          </a:xfrm>
        </p:spPr>
        <p:txBody>
          <a:bodyPr vert="horz" wrap="square" lIns="68580" tIns="34290" rIns="68580" bIns="34290" anchor="t" anchorCtr="0"/>
          <a:lstStyle/>
          <a:p>
            <a:pPr eaLnBrk="1" hangingPunct="1">
              <a:buNone/>
            </a:pPr>
            <a:r>
              <a:rPr lang="en-US" altLang="zh-CN" sz="1800" dirty="0"/>
              <a:t>2.</a:t>
            </a:r>
            <a:r>
              <a:rPr lang="zh-CN" altLang="zh-CN" sz="1800" dirty="0"/>
              <a:t>定义有参函数</a:t>
            </a:r>
            <a:endParaRPr lang="en-US" altLang="zh-CN" sz="1800" dirty="0"/>
          </a:p>
          <a:p>
            <a:pPr eaLnBrk="1" hangingPunct="1">
              <a:buNone/>
            </a:pPr>
            <a:r>
              <a:rPr lang="zh-CN" altLang="zh-CN" sz="1800" dirty="0"/>
              <a:t>定义有参函数的一般形式为</a:t>
            </a:r>
            <a:r>
              <a:rPr lang="en-US" altLang="zh-CN" sz="1800" dirty="0"/>
              <a:t>:</a:t>
            </a:r>
          </a:p>
          <a:p>
            <a:pPr lvl="1" indent="-325120" eaLnBrk="1" hangingPunct="1">
              <a:buNone/>
            </a:pPr>
            <a:r>
              <a:rPr lang="zh-CN" altLang="zh-CN" sz="1500" dirty="0"/>
              <a:t>类型名 函数名（</a:t>
            </a:r>
            <a:r>
              <a:rPr lang="zh-CN" altLang="zh-CN" sz="1500" dirty="0">
                <a:solidFill>
                  <a:srgbClr val="FF0000"/>
                </a:solidFill>
              </a:rPr>
              <a:t>形式参数表列</a:t>
            </a:r>
            <a:r>
              <a:rPr lang="zh-CN" altLang="zh-CN" sz="1500" dirty="0"/>
              <a:t>）</a:t>
            </a:r>
          </a:p>
          <a:p>
            <a:pPr lvl="1" indent="-325120" eaLnBrk="1" hangingPunct="1">
              <a:buNone/>
            </a:pPr>
            <a:r>
              <a:rPr lang="zh-CN" altLang="zh-CN" sz="1500" dirty="0"/>
              <a:t>｛</a:t>
            </a:r>
          </a:p>
          <a:p>
            <a:pPr lvl="1" indent="-325120" eaLnBrk="1" hangingPunct="1">
              <a:buNone/>
            </a:pPr>
            <a:r>
              <a:rPr lang="en-US" altLang="zh-CN" sz="1500" dirty="0"/>
              <a:t>      </a:t>
            </a:r>
            <a:r>
              <a:rPr lang="zh-CN" altLang="zh-CN" sz="1500" dirty="0"/>
              <a:t>函数体</a:t>
            </a:r>
          </a:p>
          <a:p>
            <a:pPr lvl="1" indent="-325120" eaLnBrk="1" hangingPunct="1">
              <a:buNone/>
            </a:pPr>
            <a:r>
              <a:rPr lang="en-US" altLang="zh-CN" sz="1500" dirty="0"/>
              <a:t> </a:t>
            </a:r>
            <a:r>
              <a:rPr lang="zh-CN" altLang="zh-CN" sz="1500" dirty="0"/>
              <a:t>｝</a:t>
            </a:r>
          </a:p>
          <a:p>
            <a:pPr eaLnBrk="1" hangingPunct="1">
              <a:buNone/>
            </a:pPr>
            <a:r>
              <a:rPr lang="en-US" altLang="zh-CN" sz="1800" dirty="0"/>
              <a:t>3. 定义空函数</a:t>
            </a:r>
          </a:p>
          <a:p>
            <a:pPr eaLnBrk="1" hangingPunct="1">
              <a:buNone/>
            </a:pPr>
            <a:r>
              <a:rPr lang="zh-CN" altLang="zh-CN" sz="1500" dirty="0"/>
              <a:t>定义</a:t>
            </a:r>
            <a:r>
              <a:rPr lang="zh-CN" altLang="en-US" sz="1500" dirty="0"/>
              <a:t>空</a:t>
            </a:r>
            <a:r>
              <a:rPr lang="zh-CN" altLang="zh-CN" sz="1500" dirty="0"/>
              <a:t>函数的一般形式为</a:t>
            </a:r>
            <a:r>
              <a:rPr lang="en-US" altLang="zh-CN" sz="1500" dirty="0"/>
              <a:t>:</a:t>
            </a:r>
          </a:p>
          <a:p>
            <a:pPr lvl="1" indent="-325120" eaLnBrk="1" hangingPunct="1">
              <a:buNone/>
            </a:pPr>
            <a:r>
              <a:rPr lang="zh-CN" altLang="zh-CN" sz="1500" dirty="0"/>
              <a:t>类型名 函数名（</a:t>
            </a:r>
            <a:r>
              <a:rPr lang="en-US" altLang="zh-CN" sz="1500" dirty="0"/>
              <a:t>  </a:t>
            </a:r>
            <a:r>
              <a:rPr lang="zh-CN" altLang="zh-CN" sz="1500" dirty="0"/>
              <a:t>）</a:t>
            </a:r>
          </a:p>
          <a:p>
            <a:pPr lvl="1" indent="-325120" eaLnBrk="1" hangingPunct="1">
              <a:buNone/>
            </a:pPr>
            <a:r>
              <a:rPr lang="zh-CN" altLang="zh-CN" sz="1500" dirty="0"/>
              <a:t>｛</a:t>
            </a:r>
            <a:r>
              <a:rPr lang="en-US" altLang="zh-CN" sz="1500" dirty="0"/>
              <a:t>          </a:t>
            </a:r>
            <a:r>
              <a:rPr lang="zh-CN" altLang="zh-CN" sz="1500" dirty="0"/>
              <a:t>｝</a:t>
            </a:r>
            <a:endParaRPr lang="en-US" altLang="zh-CN" sz="1500" dirty="0"/>
          </a:p>
          <a:p>
            <a:pPr lvl="1" indent="-325120" eaLnBrk="1" hangingPunct="1">
              <a:buNone/>
            </a:pPr>
            <a:endParaRPr lang="zh-CN" altLang="zh-CN" sz="1500" dirty="0"/>
          </a:p>
          <a:p>
            <a:pPr eaLnBrk="1" hangingPunct="1">
              <a:buNone/>
            </a:pPr>
            <a:endParaRPr lang="zh-CN" altLang="zh-CN" sz="1500"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1923"/>
          <p:cNvSpPr txBox="1"/>
          <p:nvPr/>
        </p:nvSpPr>
        <p:spPr>
          <a:xfrm>
            <a:off x="1638300" y="334804"/>
            <a:ext cx="5867400" cy="1824038"/>
          </a:xfrm>
          <a:prstGeom prst="rect">
            <a:avLst/>
          </a:prstGeom>
          <a:noFill/>
          <a:ln w="9525">
            <a:noFill/>
          </a:ln>
        </p:spPr>
        <p:txBody>
          <a:bodyPr anchor="b"/>
          <a:lstStyle>
            <a:lvl1pPr marL="0" lvl="0" indent="0" algn="r" defTabSz="914400" rtl="0" eaLnBrk="1" fontAlgn="base" latinLnBrk="0" hangingPunct="1">
              <a:lnSpc>
                <a:spcPct val="100000"/>
              </a:lnSpc>
              <a:spcBef>
                <a:spcPct val="0"/>
              </a:spcBef>
              <a:spcAft>
                <a:spcPct val="0"/>
              </a:spcAft>
              <a:buClrTx/>
              <a:buSzTx/>
              <a:buFontTx/>
              <a:buNone/>
              <a:defRPr sz="4800" b="1" i="0" u="none" kern="1200" baseline="0">
                <a:solidFill>
                  <a:schemeClr val="tx2"/>
                </a:solidFill>
                <a:latin typeface="+mj-lt"/>
                <a:ea typeface="+mj-ea"/>
                <a:cs typeface="+mj-cs"/>
              </a:defRPr>
            </a:lvl1pPr>
          </a:lstStyle>
          <a:p>
            <a:pPr algn="ctr"/>
            <a:r>
              <a:rPr lang="zh-CN" altLang="en-US" sz="3600"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rPr>
              <a:t>调用函数</a:t>
            </a:r>
          </a:p>
        </p:txBody>
      </p:sp>
      <p:cxnSp>
        <p:nvCxnSpPr>
          <p:cNvPr id="4" name="直接连接符 3"/>
          <p:cNvCxnSpPr/>
          <p:nvPr/>
        </p:nvCxnSpPr>
        <p:spPr>
          <a:xfrm>
            <a:off x="323850" y="2352052"/>
            <a:ext cx="8496300" cy="0"/>
          </a:xfrm>
          <a:prstGeom prst="line">
            <a:avLst/>
          </a:prstGeom>
          <a:ln w="25400">
            <a:solidFill>
              <a:srgbClr val="782367"/>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3873" y="185003"/>
            <a:ext cx="430355" cy="43035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568054" y="939404"/>
            <a:ext cx="3100388" cy="577454"/>
          </a:xfrm>
        </p:spPr>
        <p:txBody>
          <a:bodyPr vert="horz" wrap="square" lIns="68580" tIns="34290" rIns="68580" bIns="3429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210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函数调用的形式</a:t>
            </a:r>
          </a:p>
        </p:txBody>
      </p:sp>
      <p:sp>
        <p:nvSpPr>
          <p:cNvPr id="32771" name="Rectangle 3"/>
          <p:cNvSpPr>
            <a:spLocks noGrp="1"/>
          </p:cNvSpPr>
          <p:nvPr>
            <p:ph idx="1" hasCustomPrompt="1"/>
          </p:nvPr>
        </p:nvSpPr>
        <p:spPr>
          <a:xfrm>
            <a:off x="1568054" y="1646635"/>
            <a:ext cx="5929313" cy="1303734"/>
          </a:xfrm>
        </p:spPr>
        <p:txBody>
          <a:bodyPr vert="horz" wrap="square" lIns="68580" tIns="34290" rIns="68580" bIns="34290" anchor="t" anchorCtr="0"/>
          <a:lstStyle/>
          <a:p>
            <a:pPr eaLnBrk="1" hangingPunct="1"/>
            <a:r>
              <a:rPr lang="zh-CN" altLang="zh-CN" sz="1500" dirty="0"/>
              <a:t>函数调用的一般形式为：</a:t>
            </a:r>
          </a:p>
          <a:p>
            <a:pPr eaLnBrk="1" hangingPunct="1">
              <a:buNone/>
            </a:pPr>
            <a:r>
              <a:rPr lang="en-US" altLang="zh-CN" sz="1500" dirty="0"/>
              <a:t>         </a:t>
            </a:r>
            <a:r>
              <a:rPr lang="zh-CN" altLang="zh-CN" sz="1500" dirty="0"/>
              <a:t>函数名（实参表列）</a:t>
            </a:r>
            <a:endParaRPr lang="en-US" altLang="zh-CN" sz="1500" dirty="0"/>
          </a:p>
          <a:p>
            <a:pPr eaLnBrk="1" hangingPunct="1"/>
            <a:r>
              <a:rPr lang="zh-CN" altLang="zh-CN" sz="1500" dirty="0"/>
              <a:t>如果是调用无参函数，则“实参表列”可以没有，但</a:t>
            </a:r>
            <a:r>
              <a:rPr lang="zh-CN" altLang="zh-CN" sz="1500" dirty="0">
                <a:solidFill>
                  <a:srgbClr val="FF0000"/>
                </a:solidFill>
              </a:rPr>
              <a:t>括号不能省略</a:t>
            </a:r>
            <a:endParaRPr lang="en-US" altLang="zh-CN" sz="1500" dirty="0">
              <a:solidFill>
                <a:srgbClr val="FF0000"/>
              </a:solidFill>
            </a:endParaRPr>
          </a:p>
          <a:p>
            <a:pPr eaLnBrk="1" hangingPunct="1"/>
            <a:r>
              <a:rPr lang="zh-CN" altLang="zh-CN" sz="1500" dirty="0"/>
              <a:t>如果实参表列包含多个实参，则各参数间用</a:t>
            </a:r>
            <a:r>
              <a:rPr lang="zh-CN" altLang="zh-CN" sz="1500" dirty="0">
                <a:solidFill>
                  <a:srgbClr val="FF0000"/>
                </a:solidFill>
              </a:rPr>
              <a:t>逗号隔开</a:t>
            </a:r>
          </a:p>
        </p:txBody>
      </p:sp>
      <p:sp>
        <p:nvSpPr>
          <p:cNvPr id="2" name="Rectangle 2"/>
          <p:cNvSpPr>
            <a:spLocks noGrp="1" noChangeArrowheads="1"/>
          </p:cNvSpPr>
          <p:nvPr/>
        </p:nvSpPr>
        <p:spPr>
          <a:xfrm>
            <a:off x="1421606" y="164306"/>
            <a:ext cx="6215063" cy="577454"/>
          </a:xfrm>
          <a:prstGeom prst="rect">
            <a:avLst/>
          </a:prstGeom>
          <a:noFill/>
          <a:ln w="9525">
            <a:noFill/>
          </a:ln>
        </p:spPr>
        <p:txBody>
          <a:bodyPr vert="horz" wrap="square" lIns="68580" tIns="34290" rIns="68580" bIns="34290" numCol="1" anchor="ctr" anchorCtr="0" compatLnSpc="1"/>
          <a:lstStyle>
            <a:lvl1pPr algn="l" rtl="0" eaLnBrk="0" fontAlgn="base" hangingPunct="0">
              <a:spcBef>
                <a:spcPct val="0"/>
              </a:spcBef>
              <a:spcAft>
                <a:spcPct val="0"/>
              </a:spcAft>
              <a:defRPr sz="4200" kern="1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anose="02020404030301010803" pitchFamily="18" charset="0"/>
                <a:ea typeface="宋体" pitchFamily="2" charset="-122"/>
              </a:defRPr>
            </a:lvl2pPr>
            <a:lvl3pPr algn="l" rtl="0" eaLnBrk="0" fontAlgn="base" hangingPunct="0">
              <a:spcBef>
                <a:spcPct val="0"/>
              </a:spcBef>
              <a:spcAft>
                <a:spcPct val="0"/>
              </a:spcAft>
              <a:defRPr sz="4200">
                <a:solidFill>
                  <a:schemeClr val="tx2"/>
                </a:solidFill>
                <a:latin typeface="Garamond" panose="02020404030301010803" pitchFamily="18" charset="0"/>
                <a:ea typeface="宋体" pitchFamily="2" charset="-122"/>
              </a:defRPr>
            </a:lvl3pPr>
            <a:lvl4pPr algn="l" rtl="0" eaLnBrk="0" fontAlgn="base" hangingPunct="0">
              <a:spcBef>
                <a:spcPct val="0"/>
              </a:spcBef>
              <a:spcAft>
                <a:spcPct val="0"/>
              </a:spcAft>
              <a:defRPr sz="4200">
                <a:solidFill>
                  <a:schemeClr val="tx2"/>
                </a:solidFill>
                <a:latin typeface="Garamond" panose="02020404030301010803" pitchFamily="18" charset="0"/>
                <a:ea typeface="宋体" pitchFamily="2" charset="-122"/>
              </a:defRPr>
            </a:lvl4pPr>
            <a:lvl5pPr algn="l" rtl="0" eaLnBrk="0" fontAlgn="base" hangingPunct="0">
              <a:spcBef>
                <a:spcPct val="0"/>
              </a:spcBef>
              <a:spcAft>
                <a:spcPct val="0"/>
              </a:spcAft>
              <a:defRPr sz="4200">
                <a:solidFill>
                  <a:schemeClr val="tx2"/>
                </a:solidFill>
                <a:latin typeface="Garamond" panose="02020404030301010803" pitchFamily="18" charset="0"/>
                <a:ea typeface="宋体" pitchFamily="2" charset="-122"/>
              </a:defRPr>
            </a:lvl5pPr>
            <a:lvl6pPr marL="457200" algn="l" rtl="0" fontAlgn="base">
              <a:spcBef>
                <a:spcPct val="0"/>
              </a:spcBef>
              <a:spcAft>
                <a:spcPct val="0"/>
              </a:spcAft>
              <a:defRPr sz="4200">
                <a:solidFill>
                  <a:schemeClr val="tx2"/>
                </a:solidFill>
                <a:latin typeface="Garamond" panose="02020404030301010803" pitchFamily="18" charset="0"/>
                <a:ea typeface="宋体" pitchFamily="2" charset="-122"/>
              </a:defRPr>
            </a:lvl6pPr>
            <a:lvl7pPr marL="914400" algn="l" rtl="0" fontAlgn="base">
              <a:spcBef>
                <a:spcPct val="0"/>
              </a:spcBef>
              <a:spcAft>
                <a:spcPct val="0"/>
              </a:spcAft>
              <a:defRPr sz="4200">
                <a:solidFill>
                  <a:schemeClr val="tx2"/>
                </a:solidFill>
                <a:latin typeface="Garamond" panose="02020404030301010803" pitchFamily="18" charset="0"/>
                <a:ea typeface="宋体" pitchFamily="2" charset="-122"/>
              </a:defRPr>
            </a:lvl7pPr>
            <a:lvl8pPr marL="1371600" algn="l" rtl="0" fontAlgn="base">
              <a:spcBef>
                <a:spcPct val="0"/>
              </a:spcBef>
              <a:spcAft>
                <a:spcPct val="0"/>
              </a:spcAft>
              <a:defRPr sz="4200">
                <a:solidFill>
                  <a:schemeClr val="tx2"/>
                </a:solidFill>
                <a:latin typeface="Garamond" panose="02020404030301010803" pitchFamily="18" charset="0"/>
                <a:ea typeface="宋体" pitchFamily="2" charset="-122"/>
              </a:defRPr>
            </a:lvl8pPr>
            <a:lvl9pPr marL="1828800" algn="l" rtl="0" fontAlgn="base">
              <a:spcBef>
                <a:spcPct val="0"/>
              </a:spcBef>
              <a:spcAft>
                <a:spcPct val="0"/>
              </a:spcAft>
              <a:defRPr sz="4200">
                <a:solidFill>
                  <a:schemeClr val="tx2"/>
                </a:solidFill>
                <a:latin typeface="Garamond" panose="02020404030301010803" pitchFamily="18" charset="0"/>
                <a:ea typeface="宋体"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调用函数</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2771">
                                            <p:txEl>
                                              <p:pRg st="2" end="2"/>
                                            </p:txEl>
                                          </p:spTgt>
                                        </p:tgtEl>
                                        <p:attrNameLst>
                                          <p:attrName>style.visibility</p:attrName>
                                        </p:attrNameLst>
                                      </p:cBhvr>
                                      <p:to>
                                        <p:strVal val="visible"/>
                                      </p:to>
                                    </p:set>
                                    <p:animEffect transition="in" filter="blinds(horizontal)">
                                      <p:cBhvr>
                                        <p:cTn id="7" dur="500"/>
                                        <p:tgtEl>
                                          <p:spTgt spid="3277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2771">
                                            <p:txEl>
                                              <p:pRg st="3" end="3"/>
                                            </p:txEl>
                                          </p:spTgt>
                                        </p:tgtEl>
                                        <p:attrNameLst>
                                          <p:attrName>style.visibility</p:attrName>
                                        </p:attrNameLst>
                                      </p:cBhvr>
                                      <p:to>
                                        <p:strVal val="visible"/>
                                      </p:to>
                                    </p:set>
                                    <p:animEffect transition="in" filter="blinds(horizontal)">
                                      <p:cBhvr>
                                        <p:cTn id="12" dur="500"/>
                                        <p:tgtEl>
                                          <p:spTgt spid="327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489347"/>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函数调用的形式</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27651" name="Rectangle 3"/>
          <p:cNvSpPr>
            <a:spLocks noGrp="1"/>
          </p:cNvSpPr>
          <p:nvPr>
            <p:ph idx="1" hasCustomPrompt="1"/>
          </p:nvPr>
        </p:nvSpPr>
        <p:spPr>
          <a:xfrm>
            <a:off x="1625204" y="1066800"/>
            <a:ext cx="5786438" cy="3053954"/>
          </a:xfrm>
        </p:spPr>
        <p:txBody>
          <a:bodyPr vert="horz" wrap="square" lIns="68580" tIns="34290" rIns="68580" bIns="34290" anchor="t"/>
          <a:lstStyle/>
          <a:p>
            <a:pPr marL="342900" marR="0" indent="-3429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pPr>
            <a:r>
              <a:rPr kumimoji="0" lang="zh-CN" altLang="zh-CN" sz="1500" b="0" i="0" u="none" strike="noStrike" kern="1200" cap="none" spc="0" normalizeH="0" baseline="0" noProof="1">
                <a:solidFill>
                  <a:schemeClr val="tx1"/>
                </a:solidFill>
                <a:latin typeface="+mn-lt"/>
                <a:ea typeface="+mn-ea"/>
                <a:cs typeface="+mn-cs"/>
              </a:rPr>
              <a:t>按函数调用在程序中出现的形式和位置来分，可以有以下</a:t>
            </a:r>
            <a:r>
              <a:rPr kumimoji="0" lang="en-US" altLang="zh-CN" sz="1500" b="0" i="0" u="none" strike="noStrike" kern="1200" cap="none" spc="0" normalizeH="0" baseline="0" noProof="1">
                <a:solidFill>
                  <a:schemeClr val="tx1"/>
                </a:solidFill>
                <a:latin typeface="+mn-lt"/>
                <a:ea typeface="+mn-ea"/>
                <a:cs typeface="+mn-cs"/>
              </a:rPr>
              <a:t>3</a:t>
            </a:r>
            <a:r>
              <a:rPr kumimoji="0" lang="zh-CN" altLang="zh-CN" sz="1500" b="0" i="0" u="none" strike="noStrike" kern="1200" cap="none" spc="0" normalizeH="0" baseline="0" noProof="1">
                <a:solidFill>
                  <a:schemeClr val="tx1"/>
                </a:solidFill>
                <a:latin typeface="+mn-lt"/>
                <a:ea typeface="+mn-ea"/>
                <a:cs typeface="+mn-cs"/>
              </a:rPr>
              <a:t>种函数调用方式</a:t>
            </a:r>
            <a:r>
              <a:rPr kumimoji="0" lang="zh-CN" altLang="en-US" sz="1500" b="0" i="0" u="none" strike="noStrike" kern="1200" cap="none" spc="0" normalizeH="0" baseline="0" noProof="1">
                <a:solidFill>
                  <a:schemeClr val="tx1"/>
                </a:solidFill>
                <a:latin typeface="+mn-lt"/>
                <a:ea typeface="+mn-ea"/>
                <a:cs typeface="+mn-cs"/>
              </a:rPr>
              <a:t>：</a:t>
            </a:r>
            <a:endParaRPr kumimoji="0" lang="en-US" altLang="zh-CN" sz="1500" b="0" i="0" u="none" strike="noStrike" kern="1200" cap="none" spc="0" normalizeH="0" baseline="0" noProof="1">
              <a:solidFill>
                <a:schemeClr val="tx1"/>
              </a:solidFill>
              <a:latin typeface="+mn-lt"/>
              <a:ea typeface="+mn-ea"/>
              <a:cs typeface="+mn-cs"/>
            </a:endParaRPr>
          </a:p>
          <a:p>
            <a:pPr marL="342900" marR="0" indent="-3429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zh-CN" sz="1500" b="0" i="0" u="none" strike="noStrike" kern="1200" cap="none" spc="0" normalizeH="0" baseline="0" noProof="1">
                <a:solidFill>
                  <a:srgbClr val="FF0000"/>
                </a:solidFill>
                <a:latin typeface="+mn-lt"/>
                <a:ea typeface="+mn-ea"/>
                <a:cs typeface="+mn-cs"/>
              </a:rPr>
              <a:t>１</a:t>
            </a:r>
            <a:r>
              <a:rPr kumimoji="0" lang="en-US" altLang="zh-CN" sz="1500" b="0" i="0" u="none" strike="noStrike" kern="1200" cap="none" spc="0" normalizeH="0" baseline="0" noProof="1">
                <a:solidFill>
                  <a:srgbClr val="FF0000"/>
                </a:solidFill>
                <a:latin typeface="+mn-lt"/>
                <a:ea typeface="+mn-ea"/>
                <a:cs typeface="+mn-cs"/>
              </a:rPr>
              <a:t>. </a:t>
            </a:r>
            <a:r>
              <a:rPr kumimoji="0" lang="zh-CN" altLang="zh-CN" sz="1500" b="0" i="0" u="none" strike="noStrike" kern="1200" cap="none" spc="0" normalizeH="0" baseline="0" noProof="1">
                <a:solidFill>
                  <a:srgbClr val="FF0000"/>
                </a:solidFill>
                <a:latin typeface="+mn-lt"/>
                <a:ea typeface="+mn-ea"/>
                <a:cs typeface="+mn-cs"/>
              </a:rPr>
              <a:t>函数调用语句</a:t>
            </a:r>
          </a:p>
          <a:p>
            <a:pPr marL="342900" marR="0" indent="-3429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pPr>
            <a:r>
              <a:rPr kumimoji="0" lang="zh-CN" altLang="zh-CN" sz="1500" b="0" i="0" u="none" strike="noStrike" kern="1200" cap="none" spc="0" normalizeH="0" baseline="0" noProof="1">
                <a:solidFill>
                  <a:schemeClr val="tx1"/>
                </a:solidFill>
                <a:latin typeface="+mn-lt"/>
                <a:ea typeface="+mn-ea"/>
                <a:cs typeface="+mn-cs"/>
              </a:rPr>
              <a:t>把函数调用单独作为一个语句</a:t>
            </a:r>
            <a:endParaRPr kumimoji="0" lang="en-US" altLang="zh-CN" sz="1500" b="0" i="0" u="none" strike="noStrike" kern="1200" cap="none" spc="0" normalizeH="0" baseline="0" noProof="1">
              <a:solidFill>
                <a:schemeClr val="tx1"/>
              </a:solidFill>
              <a:latin typeface="+mn-lt"/>
              <a:ea typeface="+mn-ea"/>
              <a:cs typeface="+mn-cs"/>
            </a:endParaRPr>
          </a:p>
          <a:p>
            <a:pPr marL="342900" marR="0" indent="-3429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1500" b="0" i="0" u="none" strike="noStrike" kern="1200" cap="none" spc="0" normalizeH="0" baseline="0" noProof="1">
                <a:solidFill>
                  <a:schemeClr val="tx1"/>
                </a:solidFill>
                <a:latin typeface="+mn-lt"/>
                <a:ea typeface="+mn-ea"/>
                <a:cs typeface="+mn-cs"/>
              </a:rPr>
              <a:t>    </a:t>
            </a:r>
            <a:r>
              <a:rPr kumimoji="0" lang="zh-CN" altLang="zh-CN" sz="1500" b="0" i="0" u="none" strike="noStrike" kern="1200" cap="none" spc="0" normalizeH="0" baseline="0" noProof="1">
                <a:solidFill>
                  <a:schemeClr val="tx1"/>
                </a:solidFill>
                <a:latin typeface="+mn-lt"/>
                <a:ea typeface="+mn-ea"/>
                <a:cs typeface="+mn-cs"/>
              </a:rPr>
              <a:t>如</a:t>
            </a:r>
            <a:r>
              <a:rPr kumimoji="0" lang="en-US" altLang="zh-CN" sz="1500" b="0" i="0" u="none" strike="noStrike" kern="1200" cap="none" spc="0" normalizeH="0" baseline="0" noProof="1">
                <a:solidFill>
                  <a:schemeClr val="tx1"/>
                </a:solidFill>
                <a:latin typeface="+mn-lt"/>
                <a:ea typeface="+mn-ea"/>
                <a:cs typeface="+mn-cs"/>
              </a:rPr>
              <a:t>print_star</a:t>
            </a:r>
            <a:r>
              <a:rPr kumimoji="0" lang="en-US" altLang="zh-CN" sz="1500" b="0" i="0" u="none" strike="noStrike" kern="1200" cap="none" spc="0" normalizeH="0" baseline="0" noProof="1">
                <a:solidFill>
                  <a:srgbClr val="FF0000"/>
                </a:solidFill>
                <a:latin typeface="+mn-lt"/>
                <a:ea typeface="+mn-ea"/>
                <a:cs typeface="+mn-cs"/>
              </a:rPr>
              <a:t>()</a:t>
            </a:r>
            <a:r>
              <a:rPr kumimoji="0" lang="zh-CN" altLang="zh-CN" sz="1500" b="0" i="0" u="none" strike="noStrike" kern="1200" cap="none" spc="0" normalizeH="0" baseline="0" noProof="1">
                <a:solidFill>
                  <a:schemeClr val="tx1"/>
                </a:solidFill>
                <a:latin typeface="+mn-lt"/>
                <a:ea typeface="+mn-ea"/>
                <a:cs typeface="+mn-cs"/>
              </a:rPr>
              <a:t>；</a:t>
            </a:r>
            <a:endParaRPr kumimoji="0" lang="en-US" altLang="zh-CN" sz="1500" b="0" i="0" u="none" strike="noStrike" kern="1200" cap="none" spc="0" normalizeH="0" baseline="0" noProof="1">
              <a:solidFill>
                <a:schemeClr val="tx1"/>
              </a:solidFill>
              <a:latin typeface="+mn-lt"/>
              <a:ea typeface="+mn-ea"/>
              <a:cs typeface="+mn-cs"/>
            </a:endParaRPr>
          </a:p>
          <a:p>
            <a:pPr marL="342900" marR="0" indent="-3429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zh-CN" altLang="zh-CN" sz="1500" b="0" i="0" u="none" strike="noStrike" kern="1200" cap="none" spc="0" normalizeH="0" baseline="0" noProof="1">
                <a:solidFill>
                  <a:srgbClr val="FF0000"/>
                </a:solidFill>
                <a:latin typeface="+mn-lt"/>
                <a:ea typeface="+mn-ea"/>
                <a:cs typeface="+mn-cs"/>
                <a:sym typeface="+mn-ea"/>
              </a:rPr>
              <a:t>２</a:t>
            </a:r>
            <a:r>
              <a:rPr kumimoji="0" lang="en-US" altLang="zh-CN" sz="1500" b="0" i="0" u="none" strike="noStrike" kern="1200" cap="none" spc="0" normalizeH="0" baseline="0" noProof="1">
                <a:solidFill>
                  <a:srgbClr val="FF0000"/>
                </a:solidFill>
                <a:latin typeface="+mn-lt"/>
                <a:ea typeface="+mn-ea"/>
                <a:cs typeface="+mn-cs"/>
                <a:sym typeface="+mn-ea"/>
              </a:rPr>
              <a:t>. </a:t>
            </a:r>
            <a:r>
              <a:rPr kumimoji="0" lang="zh-CN" altLang="zh-CN" sz="1500" b="0" i="0" u="none" strike="noStrike" kern="1200" cap="none" spc="0" normalizeH="0" baseline="0" noProof="1">
                <a:solidFill>
                  <a:srgbClr val="FF0000"/>
                </a:solidFill>
                <a:latin typeface="+mn-lt"/>
                <a:ea typeface="+mn-ea"/>
                <a:cs typeface="+mn-cs"/>
                <a:sym typeface="+mn-ea"/>
              </a:rPr>
              <a:t>函数表达式</a:t>
            </a:r>
            <a:endParaRPr kumimoji="0" lang="zh-CN" altLang="zh-CN" sz="1500" b="0" i="0" u="none" strike="noStrike" kern="1200" cap="none" spc="0" normalizeH="0" baseline="0" noProof="1">
              <a:solidFill>
                <a:srgbClr val="FF0000"/>
              </a:solidFill>
              <a:latin typeface="+mn-lt"/>
              <a:ea typeface="+mn-ea"/>
              <a:cs typeface="+mn-cs"/>
            </a:endParaRPr>
          </a:p>
          <a:p>
            <a:pPr marL="342900" marR="0" indent="-3429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pPr>
            <a:r>
              <a:rPr kumimoji="0" lang="zh-CN" altLang="zh-CN" sz="1500" b="0" i="0" u="none" strike="noStrike" kern="1200" cap="none" spc="0" normalizeH="0" baseline="0" noProof="1">
                <a:solidFill>
                  <a:schemeClr val="tx1"/>
                </a:solidFill>
                <a:latin typeface="+mn-lt"/>
                <a:ea typeface="+mn-ea"/>
                <a:cs typeface="+mn-cs"/>
                <a:sym typeface="+mn-ea"/>
              </a:rPr>
              <a:t>函数调用出现在另一个表达式中</a:t>
            </a:r>
            <a:endParaRPr kumimoji="0" lang="en-US" altLang="zh-CN" sz="1500" b="0" i="0" u="none" strike="noStrike" kern="1200" cap="none" spc="0" normalizeH="0" baseline="0" noProof="1">
              <a:solidFill>
                <a:schemeClr val="tx1"/>
              </a:solidFill>
              <a:latin typeface="+mn-lt"/>
              <a:ea typeface="+mn-ea"/>
              <a:cs typeface="+mn-cs"/>
            </a:endParaRPr>
          </a:p>
          <a:p>
            <a:pPr marL="342900" marR="0" indent="-3429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r>
              <a:rPr kumimoji="0" lang="en-US" altLang="zh-CN" sz="1500" b="0" i="0" u="none" strike="noStrike" kern="1200" cap="none" spc="0" normalizeH="0" baseline="0" noProof="1">
                <a:solidFill>
                  <a:schemeClr val="tx1"/>
                </a:solidFill>
                <a:latin typeface="+mn-lt"/>
                <a:ea typeface="+mn-ea"/>
                <a:cs typeface="+mn-cs"/>
                <a:sym typeface="+mn-ea"/>
              </a:rPr>
              <a:t>   </a:t>
            </a:r>
            <a:r>
              <a:rPr kumimoji="0" lang="zh-CN" altLang="zh-CN" sz="1500" b="0" i="0" u="none" strike="noStrike" kern="1200" cap="none" spc="0" normalizeH="0" baseline="0" noProof="1">
                <a:solidFill>
                  <a:schemeClr val="tx1"/>
                </a:solidFill>
                <a:latin typeface="+mn-lt"/>
                <a:ea typeface="+mn-ea"/>
                <a:cs typeface="+mn-cs"/>
                <a:sym typeface="+mn-ea"/>
              </a:rPr>
              <a:t>如</a:t>
            </a:r>
            <a:r>
              <a:rPr kumimoji="0" lang="en-US" altLang="zh-CN" sz="1500" b="0" i="0" u="none" strike="noStrike" kern="1200" cap="none" spc="0" normalizeH="0" baseline="0" noProof="1">
                <a:solidFill>
                  <a:schemeClr val="tx1"/>
                </a:solidFill>
                <a:latin typeface="+mn-lt"/>
                <a:ea typeface="+mn-ea"/>
                <a:cs typeface="+mn-cs"/>
                <a:sym typeface="+mn-ea"/>
              </a:rPr>
              <a:t>c = </a:t>
            </a:r>
            <a:r>
              <a:rPr kumimoji="0" lang="en-US" altLang="zh-CN" sz="1500" b="0" i="0" u="none" strike="noStrike" kern="1200" cap="none" spc="0" normalizeH="0" baseline="0" noProof="1">
                <a:solidFill>
                  <a:srgbClr val="FF0000"/>
                </a:solidFill>
                <a:latin typeface="+mn-lt"/>
                <a:ea typeface="+mn-ea"/>
                <a:cs typeface="+mn-cs"/>
                <a:sym typeface="+mn-ea"/>
              </a:rPr>
              <a:t>max(a,b)</a:t>
            </a:r>
            <a:r>
              <a:rPr kumimoji="0" lang="en-US" altLang="zh-CN" sz="1500" b="0" i="0" u="none" strike="noStrike" kern="1200" cap="none" spc="0" normalizeH="0" baseline="0" noProof="1">
                <a:solidFill>
                  <a:schemeClr val="tx1"/>
                </a:solidFill>
                <a:latin typeface="+mn-lt"/>
                <a:ea typeface="+mn-ea"/>
                <a:cs typeface="+mn-cs"/>
                <a:sym typeface="+mn-ea"/>
              </a:rPr>
              <a:t>;</a:t>
            </a:r>
            <a:endParaRPr kumimoji="0" lang="en-US" altLang="zh-CN" sz="1500" b="0" i="0" u="none" strike="noStrike" kern="1200" cap="none" spc="0" normalizeH="0" baseline="0" noProof="1">
              <a:solidFill>
                <a:schemeClr val="tx1"/>
              </a:solidFill>
              <a:latin typeface="+mn-lt"/>
              <a:ea typeface="+mn-ea"/>
              <a:cs typeface="+mn-cs"/>
            </a:endParaRPr>
          </a:p>
          <a:p>
            <a:pPr marL="0" marR="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pPr>
            <a:endParaRPr kumimoji="0" lang="zh-CN" altLang="zh-CN" sz="1500" b="0" i="0" u="none" strike="noStrike" kern="1200" cap="none" spc="0" normalizeH="0" baseline="0" noProof="1">
              <a:solidFill>
                <a:schemeClr val="tx1"/>
              </a:solidFill>
              <a:latin typeface="+mn-lt"/>
              <a:ea typeface="+mn-ea"/>
              <a:cs typeface="+mn-cs"/>
            </a:endParaRPr>
          </a:p>
          <a:p>
            <a:pPr marL="342900" marR="0" indent="-3429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pPr>
            <a:endParaRPr kumimoji="0" lang="zh-CN" altLang="zh-CN" sz="1500" b="0" i="0" u="none" strike="noStrike" kern="1200" cap="none" spc="0" normalizeH="0" baseline="0" noProof="1">
              <a:solidFill>
                <a:schemeClr val="tx1"/>
              </a:solidFill>
              <a:latin typeface="+mn-lt"/>
              <a:ea typeface="+mn-ea"/>
              <a:cs typeface="+mn-cs"/>
            </a:endParaRPr>
          </a:p>
        </p:txBody>
      </p:sp>
      <p:sp>
        <p:nvSpPr>
          <p:cNvPr id="20483" name="Rectangle 3"/>
          <p:cNvSpPr>
            <a:spLocks noGrp="1"/>
          </p:cNvSpPr>
          <p:nvPr/>
        </p:nvSpPr>
        <p:spPr>
          <a:xfrm>
            <a:off x="1625204" y="3275410"/>
            <a:ext cx="5936456" cy="1346597"/>
          </a:xfrm>
          <a:prstGeom prst="rect">
            <a:avLst/>
          </a:prstGeom>
          <a:noFill/>
          <a:ln w="9525">
            <a:noFill/>
          </a:ln>
        </p:spPr>
        <p:txBody>
          <a:bodyPr wrap="square" lIns="68580" tIns="34290" rIns="68580" bIns="34290" anchor="t" anchorCtr="0"/>
          <a:lstStyle/>
          <a:p>
            <a:pPr marL="342900" indent="-342900">
              <a:spcBef>
                <a:spcPct val="20000"/>
              </a:spcBef>
              <a:buClr>
                <a:schemeClr val="accent1"/>
              </a:buClr>
              <a:buSzPct val="65000"/>
            </a:pPr>
            <a:r>
              <a:rPr lang="zh-CN" altLang="zh-CN" sz="1500" dirty="0">
                <a:solidFill>
                  <a:srgbClr val="FF0000"/>
                </a:solidFill>
                <a:latin typeface="Arial" panose="020B0604020202090204" pitchFamily="34" charset="0"/>
              </a:rPr>
              <a:t>３</a:t>
            </a:r>
            <a:r>
              <a:rPr lang="en-US" altLang="zh-CN" sz="1500" dirty="0">
                <a:solidFill>
                  <a:srgbClr val="FF0000"/>
                </a:solidFill>
                <a:latin typeface="Arial" panose="020B0604020202090204" pitchFamily="34" charset="0"/>
              </a:rPr>
              <a:t>. </a:t>
            </a:r>
            <a:r>
              <a:rPr lang="zh-CN" altLang="zh-CN" sz="1500" dirty="0">
                <a:solidFill>
                  <a:srgbClr val="FF0000"/>
                </a:solidFill>
                <a:latin typeface="Arial" panose="020B0604020202090204" pitchFamily="34" charset="0"/>
              </a:rPr>
              <a:t>函数参数</a:t>
            </a:r>
          </a:p>
          <a:p>
            <a:pPr marL="342900" indent="-342900">
              <a:spcBef>
                <a:spcPct val="20000"/>
              </a:spcBef>
              <a:buClr>
                <a:schemeClr val="accent1"/>
              </a:buClr>
              <a:buSzPct val="65000"/>
              <a:buFont typeface="Wingdings" panose="05000000000000000000" pitchFamily="2" charset="2"/>
              <a:buChar char="n"/>
            </a:pPr>
            <a:r>
              <a:rPr lang="zh-CN" altLang="zh-CN" sz="1500" dirty="0">
                <a:latin typeface="Arial" panose="020B0604020202090204" pitchFamily="34" charset="0"/>
              </a:rPr>
              <a:t>函数调用作为另一函数调用时的实参</a:t>
            </a:r>
            <a:endParaRPr lang="en-US" altLang="zh-CN" sz="1500" dirty="0">
              <a:latin typeface="Arial" panose="020B0604020202090204" pitchFamily="34" charset="0"/>
            </a:endParaRPr>
          </a:p>
          <a:p>
            <a:pPr marL="342900" indent="-342900">
              <a:spcBef>
                <a:spcPct val="20000"/>
              </a:spcBef>
              <a:buClr>
                <a:schemeClr val="accent1"/>
              </a:buClr>
              <a:buSzPct val="65000"/>
            </a:pPr>
            <a:r>
              <a:rPr lang="en-US" altLang="zh-CN" sz="1500" dirty="0">
                <a:latin typeface="Arial" panose="020B0604020202090204" pitchFamily="34" charset="0"/>
              </a:rPr>
              <a:t>     </a:t>
            </a:r>
            <a:r>
              <a:rPr lang="zh-CN" altLang="zh-CN" sz="1500" dirty="0">
                <a:latin typeface="Arial" panose="020B0604020202090204" pitchFamily="34" charset="0"/>
              </a:rPr>
              <a:t>如</a:t>
            </a:r>
            <a:r>
              <a:rPr lang="en-US" altLang="zh-CN" sz="1500" dirty="0">
                <a:latin typeface="Arial" panose="020B0604020202090204" pitchFamily="34" charset="0"/>
              </a:rPr>
              <a:t>m</a:t>
            </a:r>
            <a:r>
              <a:rPr lang="zh-CN" altLang="zh-CN" sz="1500" dirty="0">
                <a:latin typeface="Arial" panose="020B0604020202090204" pitchFamily="34" charset="0"/>
              </a:rPr>
              <a:t>＝</a:t>
            </a:r>
            <a:r>
              <a:rPr lang="en-US" altLang="zh-CN" sz="1500" dirty="0">
                <a:latin typeface="Arial" panose="020B0604020202090204" pitchFamily="34" charset="0"/>
              </a:rPr>
              <a:t>max(a, </a:t>
            </a:r>
            <a:r>
              <a:rPr lang="en-US" altLang="zh-CN" sz="1500" dirty="0">
                <a:solidFill>
                  <a:srgbClr val="FF0000"/>
                </a:solidFill>
                <a:latin typeface="Arial" panose="020B0604020202090204" pitchFamily="34" charset="0"/>
              </a:rPr>
              <a:t>max(b,c)</a:t>
            </a:r>
            <a:r>
              <a:rPr lang="en-US" altLang="zh-CN" sz="1500" dirty="0">
                <a:latin typeface="Arial" panose="020B0604020202090204" pitchFamily="34" charset="0"/>
              </a:rPr>
              <a:t>);</a:t>
            </a:r>
            <a:endParaRPr lang="zh-CN" altLang="zh-CN" sz="1500" dirty="0">
              <a:latin typeface="Arial" panose="020B0604020202090204" pitchFamily="34" charset="0"/>
            </a:endParaRPr>
          </a:p>
          <a:p>
            <a:pPr marL="342900" indent="-342900">
              <a:spcBef>
                <a:spcPct val="20000"/>
              </a:spcBef>
              <a:buClr>
                <a:schemeClr val="accent1"/>
              </a:buClr>
              <a:buSzPct val="65000"/>
              <a:buFont typeface="Wingdings" panose="05000000000000000000" pitchFamily="2" charset="2"/>
              <a:buChar char="n"/>
            </a:pPr>
            <a:r>
              <a:rPr lang="zh-CN" altLang="zh-CN" sz="1500" dirty="0">
                <a:latin typeface="Arial" panose="020B0604020202090204" pitchFamily="34" charset="0"/>
              </a:rPr>
              <a:t>其中</a:t>
            </a:r>
            <a:r>
              <a:rPr lang="en-US" altLang="zh-CN" sz="1500" dirty="0">
                <a:latin typeface="Arial" panose="020B0604020202090204" pitchFamily="34" charset="0"/>
              </a:rPr>
              <a:t>max(b,c)</a:t>
            </a:r>
            <a:r>
              <a:rPr lang="zh-CN" altLang="zh-CN" sz="1500" dirty="0">
                <a:latin typeface="Arial" panose="020B0604020202090204" pitchFamily="34" charset="0"/>
              </a:rPr>
              <a:t>是一次函数调用，它的值作为</a:t>
            </a:r>
            <a:r>
              <a:rPr lang="en-US" altLang="zh-CN" sz="1500" dirty="0">
                <a:latin typeface="Arial" panose="020B0604020202090204" pitchFamily="34" charset="0"/>
              </a:rPr>
              <a:t>max</a:t>
            </a:r>
            <a:r>
              <a:rPr lang="zh-CN" altLang="zh-CN" sz="1500" dirty="0">
                <a:latin typeface="Arial" panose="020B0604020202090204" pitchFamily="34" charset="0"/>
              </a:rPr>
              <a:t>另一次调用的实参</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489347"/>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函数调用时的数据传递</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36867" name="Rectangle 3"/>
          <p:cNvSpPr>
            <a:spLocks noGrp="1"/>
          </p:cNvSpPr>
          <p:nvPr>
            <p:ph idx="1" hasCustomPrompt="1"/>
          </p:nvPr>
        </p:nvSpPr>
        <p:spPr>
          <a:xfrm>
            <a:off x="1625204" y="1232297"/>
            <a:ext cx="5786438" cy="2260997"/>
          </a:xfrm>
        </p:spPr>
        <p:txBody>
          <a:bodyPr vert="horz" wrap="square" lIns="68580" tIns="34290" rIns="68580" bIns="34290" anchor="t" anchorCtr="0"/>
          <a:lstStyle/>
          <a:p>
            <a:pPr eaLnBrk="1" hangingPunct="1">
              <a:buNone/>
            </a:pPr>
            <a:r>
              <a:rPr lang="en-US" altLang="zh-CN" sz="1800" dirty="0"/>
              <a:t>1.</a:t>
            </a:r>
            <a:r>
              <a:rPr lang="zh-CN" altLang="zh-CN" sz="1800" dirty="0"/>
              <a:t>形式参数和实际参数</a:t>
            </a:r>
          </a:p>
          <a:p>
            <a:pPr lvl="1" indent="-325120" eaLnBrk="1" hangingPunct="1"/>
            <a:r>
              <a:rPr lang="zh-CN" altLang="zh-CN" sz="1500" dirty="0"/>
              <a:t>在调用有参函数时，主调函数和被调用函数之间有数据传递关系</a:t>
            </a:r>
            <a:endParaRPr lang="en-US" altLang="zh-CN" sz="1500" dirty="0"/>
          </a:p>
          <a:p>
            <a:pPr lvl="1" indent="-325120" eaLnBrk="1" hangingPunct="1"/>
            <a:r>
              <a:rPr lang="zh-CN" altLang="zh-CN" sz="1500" dirty="0"/>
              <a:t>定义函数时函数名后面的变量名称为“形式参数”（简称“形参”）</a:t>
            </a:r>
            <a:endParaRPr lang="en-US" altLang="zh-CN" sz="1500" dirty="0"/>
          </a:p>
          <a:p>
            <a:pPr lvl="1" indent="-325120" eaLnBrk="1" hangingPunct="1"/>
            <a:r>
              <a:rPr lang="zh-CN" altLang="zh-CN" sz="1500" dirty="0"/>
              <a:t>主调函数中调用一个函数时，函数名后面参数称为“实际参数”（简称“实参”）</a:t>
            </a:r>
            <a:endParaRPr lang="en-US" altLang="zh-CN" sz="1500" dirty="0"/>
          </a:p>
          <a:p>
            <a:pPr lvl="1" indent="-325120" eaLnBrk="1" hangingPunct="1"/>
            <a:r>
              <a:rPr lang="zh-CN" altLang="zh-CN" sz="1500" dirty="0"/>
              <a:t> 实际参数可以是常量、变量或表达式</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6867">
                                            <p:txEl>
                                              <p:pRg st="2" end="2"/>
                                            </p:txEl>
                                          </p:spTgt>
                                        </p:tgtEl>
                                        <p:attrNameLst>
                                          <p:attrName>style.visibility</p:attrName>
                                        </p:attrNameLst>
                                      </p:cBhvr>
                                      <p:to>
                                        <p:strVal val="visible"/>
                                      </p:to>
                                    </p:set>
                                    <p:animEffect transition="in" filter="blinds(horizontal)">
                                      <p:cBhvr>
                                        <p:cTn id="7" dur="500"/>
                                        <p:tgtEl>
                                          <p:spTgt spid="3686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6867">
                                            <p:txEl>
                                              <p:pRg st="3" end="3"/>
                                            </p:txEl>
                                          </p:spTgt>
                                        </p:tgtEl>
                                        <p:attrNameLst>
                                          <p:attrName>style.visibility</p:attrName>
                                        </p:attrNameLst>
                                      </p:cBhvr>
                                      <p:to>
                                        <p:strVal val="visible"/>
                                      </p:to>
                                    </p:set>
                                    <p:animEffect transition="in" filter="blinds(horizontal)">
                                      <p:cBhvr>
                                        <p:cTn id="12" dur="500"/>
                                        <p:tgtEl>
                                          <p:spTgt spid="3686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6867">
                                            <p:txEl>
                                              <p:pRg st="4" end="4"/>
                                            </p:txEl>
                                          </p:spTgt>
                                        </p:tgtEl>
                                        <p:attrNameLst>
                                          <p:attrName>style.visibility</p:attrName>
                                        </p:attrNameLst>
                                      </p:cBhvr>
                                      <p:to>
                                        <p:strVal val="visible"/>
                                      </p:to>
                                    </p:set>
                                    <p:animEffect transition="in" filter="blinds(horizontal)">
                                      <p:cBhvr>
                                        <p:cTn id="17" dur="500"/>
                                        <p:tgtEl>
                                          <p:spTgt spid="3686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489347"/>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函数调用时的数据传递</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37891" name="Rectangle 3"/>
          <p:cNvSpPr>
            <a:spLocks noGrp="1"/>
          </p:cNvSpPr>
          <p:nvPr>
            <p:ph idx="1" hasCustomPrompt="1"/>
          </p:nvPr>
        </p:nvSpPr>
        <p:spPr>
          <a:xfrm>
            <a:off x="1625204" y="1232297"/>
            <a:ext cx="5786438" cy="2946797"/>
          </a:xfrm>
        </p:spPr>
        <p:txBody>
          <a:bodyPr vert="horz" wrap="square" lIns="68580" tIns="34290" rIns="68580" bIns="34290" anchor="t" anchorCtr="0"/>
          <a:lstStyle/>
          <a:p>
            <a:pPr eaLnBrk="1" hangingPunct="1">
              <a:buNone/>
            </a:pPr>
            <a:r>
              <a:rPr lang="en-US" altLang="zh-CN" sz="1800" dirty="0"/>
              <a:t>2. </a:t>
            </a:r>
            <a:r>
              <a:rPr lang="zh-CN" altLang="zh-CN" sz="1800" dirty="0"/>
              <a:t>实参和形参间的数据传递</a:t>
            </a:r>
          </a:p>
          <a:p>
            <a:pPr lvl="1" indent="-325120" eaLnBrk="1" hangingPunct="1"/>
            <a:r>
              <a:rPr lang="zh-CN" altLang="zh-CN" sz="1500" dirty="0"/>
              <a:t>在调用函数过程中，系统会把实参的值传递给被调用函数的形参</a:t>
            </a:r>
            <a:endParaRPr lang="en-US" altLang="zh-CN" sz="1500" dirty="0"/>
          </a:p>
          <a:p>
            <a:pPr lvl="1" indent="-325120" eaLnBrk="1" hangingPunct="1"/>
            <a:r>
              <a:rPr lang="zh-CN" altLang="zh-CN" sz="1500" dirty="0"/>
              <a:t>或者说，形参从实参得到一个值</a:t>
            </a:r>
            <a:endParaRPr lang="en-US" altLang="zh-CN" sz="1500" dirty="0"/>
          </a:p>
          <a:p>
            <a:pPr lvl="1" indent="-325120" eaLnBrk="1" hangingPunct="1"/>
            <a:r>
              <a:rPr lang="zh-CN" altLang="zh-CN" sz="1500" dirty="0"/>
              <a:t>该值在函数调用期间有效，可以参加</a:t>
            </a:r>
            <a:r>
              <a:rPr lang="zh-CN" altLang="en-US" sz="1500" dirty="0"/>
              <a:t>被调</a:t>
            </a:r>
            <a:r>
              <a:rPr lang="zh-CN" altLang="zh-CN" sz="1500" dirty="0"/>
              <a:t>函数中的运算</a:t>
            </a:r>
          </a:p>
        </p:txBody>
      </p:sp>
      <p:sp>
        <p:nvSpPr>
          <p:cNvPr id="32771" name="Rectangle 3"/>
          <p:cNvSpPr>
            <a:spLocks noGrp="1"/>
          </p:cNvSpPr>
          <p:nvPr/>
        </p:nvSpPr>
        <p:spPr>
          <a:xfrm>
            <a:off x="1466850" y="2868216"/>
            <a:ext cx="6104335" cy="389334"/>
          </a:xfrm>
          <a:prstGeom prst="rect">
            <a:avLst/>
          </a:prstGeom>
          <a:noFill/>
          <a:ln w="9525">
            <a:noFill/>
          </a:ln>
        </p:spPr>
        <p:txBody>
          <a:bodyPr wrap="square" lIns="68580" tIns="34290" rIns="68580" bIns="34290" anchor="t" anchorCtr="0"/>
          <a:lstStyle/>
          <a:p>
            <a:pPr marL="342900" indent="-342900">
              <a:spcBef>
                <a:spcPct val="20000"/>
              </a:spcBef>
              <a:buClr>
                <a:schemeClr val="accent1"/>
              </a:buClr>
              <a:buSzPct val="65000"/>
            </a:pPr>
            <a:r>
              <a:rPr lang="en-US" altLang="zh-CN" sz="1500" dirty="0">
                <a:latin typeface="Arial" panose="020B0604020202090204" pitchFamily="34" charset="0"/>
              </a:rPr>
              <a:t>  </a:t>
            </a:r>
            <a:r>
              <a:rPr lang="zh-CN" altLang="zh-CN" sz="1500" dirty="0">
                <a:latin typeface="Arial" panose="020B0604020202090204" pitchFamily="34" charset="0"/>
              </a:rPr>
              <a:t>例</a:t>
            </a:r>
            <a:r>
              <a:rPr lang="en-US" altLang="zh-CN" sz="1500" dirty="0">
                <a:latin typeface="Arial" panose="020B0604020202090204" pitchFamily="34" charset="0"/>
              </a:rPr>
              <a:t>5.2</a:t>
            </a:r>
            <a:r>
              <a:rPr lang="zh-CN" altLang="zh-CN" sz="1500" dirty="0">
                <a:latin typeface="Arial" panose="020B0604020202090204" pitchFamily="34" charset="0"/>
              </a:rPr>
              <a:t> 输入两个整数，要求输出其中值较大者。要求用函数来找到大数。</a:t>
            </a:r>
          </a:p>
        </p:txBody>
      </p:sp>
      <p:sp>
        <p:nvSpPr>
          <p:cNvPr id="32772" name="Rectangle 3"/>
          <p:cNvSpPr txBox="1"/>
          <p:nvPr/>
        </p:nvSpPr>
        <p:spPr>
          <a:xfrm>
            <a:off x="1700213" y="3162300"/>
            <a:ext cx="3268266" cy="1390650"/>
          </a:xfrm>
          <a:prstGeom prst="rect">
            <a:avLst/>
          </a:prstGeom>
          <a:noFill/>
          <a:ln w="9525">
            <a:noFill/>
          </a:ln>
        </p:spPr>
        <p:txBody>
          <a:bodyPr anchor="t" anchorCtr="0"/>
          <a:lstStyle/>
          <a:p>
            <a:pPr marL="342900" indent="-342900">
              <a:spcBef>
                <a:spcPct val="20000"/>
              </a:spcBef>
              <a:buClr>
                <a:schemeClr val="accent1"/>
              </a:buClr>
              <a:buSzPct val="65000"/>
            </a:pPr>
            <a:r>
              <a:rPr lang="en-US" altLang="zh-CN" sz="1350" dirty="0">
                <a:latin typeface="Arial" panose="020B0604020202090204" pitchFamily="34" charset="0"/>
              </a:rPr>
              <a:t>1</a:t>
            </a:r>
            <a:r>
              <a:rPr lang="zh-CN" altLang="en-US" sz="1350" dirty="0">
                <a:latin typeface="Arial" panose="020B0604020202090204" pitchFamily="34" charset="0"/>
              </a:rPr>
              <a:t>）</a:t>
            </a:r>
            <a:r>
              <a:rPr lang="zh-CN" altLang="zh-CN" sz="1350" dirty="0">
                <a:latin typeface="Arial" panose="020B0604020202090204" pitchFamily="34" charset="0"/>
              </a:rPr>
              <a:t>先编写</a:t>
            </a:r>
            <a:r>
              <a:rPr lang="en-US" altLang="zh-CN" sz="1350" dirty="0">
                <a:latin typeface="Arial" panose="020B0604020202090204" pitchFamily="34" charset="0"/>
              </a:rPr>
              <a:t>max</a:t>
            </a:r>
            <a:r>
              <a:rPr lang="zh-CN" altLang="zh-CN" sz="1350" dirty="0">
                <a:latin typeface="Arial" panose="020B0604020202090204" pitchFamily="34" charset="0"/>
              </a:rPr>
              <a:t>函数：</a:t>
            </a:r>
          </a:p>
          <a:p>
            <a:pPr marL="342900" indent="-342900">
              <a:spcBef>
                <a:spcPct val="20000"/>
              </a:spcBef>
              <a:buClr>
                <a:schemeClr val="accent1"/>
              </a:buClr>
              <a:buSzPct val="65000"/>
            </a:pPr>
            <a:r>
              <a:rPr lang="en-US" altLang="zh-CN" sz="1200" dirty="0">
                <a:latin typeface="Arial" panose="020B0604020202090204" pitchFamily="34" charset="0"/>
              </a:rPr>
              <a:t>int max(int x,int y)</a:t>
            </a:r>
            <a:endParaRPr lang="zh-CN" altLang="zh-CN" sz="1200" dirty="0">
              <a:latin typeface="Arial" panose="020B0604020202090204" pitchFamily="34" charset="0"/>
            </a:endParaRPr>
          </a:p>
          <a:p>
            <a:pPr marL="342900" indent="-342900">
              <a:spcBef>
                <a:spcPct val="20000"/>
              </a:spcBef>
              <a:buClr>
                <a:schemeClr val="accent1"/>
              </a:buClr>
              <a:buSzPct val="65000"/>
            </a:pPr>
            <a:r>
              <a:rPr lang="en-US" altLang="zh-CN" sz="1200" dirty="0">
                <a:latin typeface="Arial" panose="020B0604020202090204" pitchFamily="34" charset="0"/>
              </a:rPr>
              <a:t>{</a:t>
            </a:r>
            <a:endParaRPr lang="zh-CN" altLang="zh-CN" sz="1200" dirty="0">
              <a:latin typeface="Arial" panose="020B0604020202090204" pitchFamily="34" charset="0"/>
            </a:endParaRPr>
          </a:p>
          <a:p>
            <a:pPr marL="342900" indent="-342900">
              <a:spcBef>
                <a:spcPct val="20000"/>
              </a:spcBef>
              <a:buClr>
                <a:schemeClr val="accent1"/>
              </a:buClr>
              <a:buSzPct val="65000"/>
            </a:pPr>
            <a:r>
              <a:rPr lang="en-US" altLang="zh-CN" sz="1200" dirty="0">
                <a:latin typeface="Arial" panose="020B0604020202090204" pitchFamily="34" charset="0"/>
              </a:rPr>
              <a:t>     int z; </a:t>
            </a:r>
            <a:endParaRPr lang="zh-CN" altLang="zh-CN" sz="1200" dirty="0">
              <a:latin typeface="Arial" panose="020B0604020202090204" pitchFamily="34" charset="0"/>
            </a:endParaRPr>
          </a:p>
          <a:p>
            <a:pPr marL="342900" indent="-342900">
              <a:spcBef>
                <a:spcPct val="20000"/>
              </a:spcBef>
              <a:buClr>
                <a:schemeClr val="accent1"/>
              </a:buClr>
              <a:buSzPct val="65000"/>
            </a:pPr>
            <a:r>
              <a:rPr lang="en-US" altLang="zh-CN" sz="1200" dirty="0">
                <a:latin typeface="Arial" panose="020B0604020202090204" pitchFamily="34" charset="0"/>
              </a:rPr>
              <a:t>     z=x&gt;y?x:y; </a:t>
            </a:r>
            <a:endParaRPr lang="zh-CN" altLang="zh-CN" sz="1200" dirty="0">
              <a:latin typeface="Arial" panose="020B0604020202090204" pitchFamily="34" charset="0"/>
            </a:endParaRPr>
          </a:p>
          <a:p>
            <a:pPr marL="342900" indent="-342900">
              <a:spcBef>
                <a:spcPct val="20000"/>
              </a:spcBef>
              <a:buClr>
                <a:schemeClr val="accent1"/>
              </a:buClr>
              <a:buSzPct val="65000"/>
            </a:pPr>
            <a:r>
              <a:rPr lang="en-US" altLang="zh-CN" sz="1200" dirty="0">
                <a:latin typeface="Arial" panose="020B0604020202090204" pitchFamily="34" charset="0"/>
              </a:rPr>
              <a:t>     return(z); </a:t>
            </a:r>
            <a:endParaRPr lang="zh-CN" altLang="zh-CN" sz="1200" dirty="0">
              <a:latin typeface="Arial" panose="020B0604020202090204" pitchFamily="34" charset="0"/>
            </a:endParaRPr>
          </a:p>
          <a:p>
            <a:pPr marL="342900" indent="-342900">
              <a:spcBef>
                <a:spcPct val="20000"/>
              </a:spcBef>
              <a:buClr>
                <a:schemeClr val="accent1"/>
              </a:buClr>
              <a:buSzPct val="65000"/>
            </a:pPr>
            <a:r>
              <a:rPr lang="en-US" altLang="zh-CN" sz="1200" dirty="0">
                <a:latin typeface="Arial" panose="020B0604020202090204" pitchFamily="34" charset="0"/>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891">
                                            <p:txEl>
                                              <p:pRg st="1" end="1"/>
                                            </p:txEl>
                                          </p:spTgt>
                                        </p:tgtEl>
                                        <p:attrNameLst>
                                          <p:attrName>style.visibility</p:attrName>
                                        </p:attrNameLst>
                                      </p:cBhvr>
                                      <p:to>
                                        <p:strVal val="visible"/>
                                      </p:to>
                                    </p:set>
                                    <p:animEffect transition="in" filter="blinds(horizontal)">
                                      <p:cBhvr>
                                        <p:cTn id="7" dur="500"/>
                                        <p:tgtEl>
                                          <p:spTgt spid="3789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891">
                                            <p:txEl>
                                              <p:pRg st="2" end="2"/>
                                            </p:txEl>
                                          </p:spTgt>
                                        </p:tgtEl>
                                        <p:attrNameLst>
                                          <p:attrName>style.visibility</p:attrName>
                                        </p:attrNameLst>
                                      </p:cBhvr>
                                      <p:to>
                                        <p:strVal val="visible"/>
                                      </p:to>
                                    </p:set>
                                    <p:animEffect transition="in" filter="blinds(horizontal)">
                                      <p:cBhvr>
                                        <p:cTn id="12" dur="500"/>
                                        <p:tgtEl>
                                          <p:spTgt spid="3789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7891">
                                            <p:txEl>
                                              <p:pRg st="3" end="3"/>
                                            </p:txEl>
                                          </p:spTgt>
                                        </p:tgtEl>
                                        <p:attrNameLst>
                                          <p:attrName>style.visibility</p:attrName>
                                        </p:attrNameLst>
                                      </p:cBhvr>
                                      <p:to>
                                        <p:strVal val="visible"/>
                                      </p:to>
                                    </p:set>
                                    <p:animEffect transition="in" filter="blinds(horizontal)">
                                      <p:cBhvr>
                                        <p:cTn id="17" dur="500"/>
                                        <p:tgtEl>
                                          <p:spTgt spid="3789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2771"/>
                                        </p:tgtEl>
                                        <p:attrNameLst>
                                          <p:attrName>style.visibility</p:attrName>
                                        </p:attrNameLst>
                                      </p:cBhvr>
                                      <p:to>
                                        <p:strVal val="visible"/>
                                      </p:to>
                                    </p:set>
                                    <p:animEffect transition="in" filter="blinds(horizontal)">
                                      <p:cBhvr>
                                        <p:cTn id="22" dur="500"/>
                                        <p:tgtEl>
                                          <p:spTgt spid="3277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2772"/>
                                        </p:tgtEl>
                                        <p:attrNameLst>
                                          <p:attrName>style.visibility</p:attrName>
                                        </p:attrNameLst>
                                      </p:cBhvr>
                                      <p:to>
                                        <p:strVal val="visible"/>
                                      </p:to>
                                    </p:set>
                                    <p:animEffect transition="in" filter="blinds(horizontal)">
                                      <p:cBhvr>
                                        <p:cTn id="27" dur="500"/>
                                        <p:tgtEl>
                                          <p:spTgt spid="327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p:bldP spid="3277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1656160" y="303610"/>
            <a:ext cx="5893594" cy="3696891"/>
          </a:xfrm>
          <a:prstGeom prst="rect">
            <a:avLst/>
          </a:prstGeom>
          <a:noFill/>
          <a:ln w="9525">
            <a:noFill/>
            <a:miter lim="800000"/>
          </a:ln>
        </p:spPr>
        <p:txBody>
          <a:bodyPr/>
          <a:lstStyle/>
          <a:p>
            <a:pPr marR="0" defTabSz="914400">
              <a:buClrTx/>
              <a:buSzTx/>
              <a:buFontTx/>
              <a:defRPr/>
            </a:pPr>
            <a:r>
              <a:rPr kumimoji="0" lang="en-US" altLang="zh-CN" b="1" kern="1200" cap="none" spc="0" normalizeH="0" baseline="0" noProof="0" dirty="0">
                <a:solidFill>
                  <a:srgbClr val="9D138D"/>
                </a:solidFill>
                <a:latin typeface="+mn-lt"/>
                <a:ea typeface="+mn-ea"/>
                <a:cs typeface="+mn-cs"/>
              </a:rPr>
              <a:t>2</a:t>
            </a:r>
            <a:r>
              <a:rPr kumimoji="0" lang="zh-CN" altLang="en-US" b="1" kern="1200" cap="none" spc="0" normalizeH="0" baseline="0" noProof="0" dirty="0">
                <a:solidFill>
                  <a:srgbClr val="9D138D"/>
                </a:solidFill>
                <a:latin typeface="+mn-lt"/>
                <a:ea typeface="+mn-ea"/>
                <a:cs typeface="+mn-cs"/>
              </a:rPr>
              <a:t>）在</a:t>
            </a:r>
            <a:r>
              <a:rPr kumimoji="0" lang="en-US" altLang="zh-CN" b="1" kern="1200" cap="none" spc="0" normalizeH="0" baseline="0" noProof="0" dirty="0">
                <a:solidFill>
                  <a:srgbClr val="9D138D"/>
                </a:solidFill>
                <a:latin typeface="+mn-lt"/>
                <a:ea typeface="+mn-ea"/>
                <a:cs typeface="+mn-cs"/>
              </a:rPr>
              <a:t>max</a:t>
            </a:r>
            <a:r>
              <a:rPr kumimoji="0" lang="zh-CN" altLang="en-US" b="1" kern="1200" cap="none" spc="0" normalizeH="0" baseline="0" noProof="0" dirty="0">
                <a:solidFill>
                  <a:srgbClr val="9D138D"/>
                </a:solidFill>
                <a:latin typeface="+mn-lt"/>
                <a:ea typeface="+mn-ea"/>
                <a:cs typeface="+mn-cs"/>
              </a:rPr>
              <a:t>函数上面</a:t>
            </a:r>
            <a:r>
              <a:rPr kumimoji="0" lang="zh-CN" altLang="en-US" b="1" kern="1200" cap="none" spc="0" normalizeH="0" baseline="0" noProof="0" dirty="0">
                <a:latin typeface="+mn-lt"/>
                <a:ea typeface="+mn-ea"/>
                <a:cs typeface="+mn-cs"/>
              </a:rPr>
              <a:t>，</a:t>
            </a:r>
            <a:r>
              <a:rPr kumimoji="0" lang="zh-CN" altLang="zh-CN" b="1" kern="1200" cap="none" spc="0" normalizeH="0" baseline="0" noProof="0" dirty="0">
                <a:latin typeface="+mn-lt"/>
                <a:ea typeface="+mn-ea"/>
                <a:cs typeface="+mn-cs"/>
              </a:rPr>
              <a:t>再编写主函数</a:t>
            </a:r>
          </a:p>
          <a:p>
            <a:pPr marL="342900" marR="0" indent="-342900" defTabSz="914400" eaLnBrk="0" hangingPunct="0">
              <a:spcBef>
                <a:spcPct val="20000"/>
              </a:spcBef>
              <a:buClrTx/>
              <a:buSzTx/>
              <a:buFontTx/>
              <a:defRPr/>
            </a:pPr>
            <a:r>
              <a:rPr kumimoji="0" lang="en-US" altLang="zh-CN" sz="1500" b="1" kern="1200" cap="none" spc="0" normalizeH="0" baseline="0" noProof="0" dirty="0">
                <a:latin typeface="+mn-lt"/>
                <a:ea typeface="+mn-ea"/>
                <a:cs typeface="+mn-cs"/>
              </a:rPr>
              <a:t>#include &lt;</a:t>
            </a:r>
            <a:r>
              <a:rPr kumimoji="0" lang="en-US" altLang="zh-CN" sz="1500" b="1" kern="1200" cap="none" spc="0" normalizeH="0" baseline="0" noProof="0" dirty="0" err="1">
                <a:latin typeface="+mn-lt"/>
                <a:ea typeface="+mn-ea"/>
                <a:cs typeface="+mn-cs"/>
              </a:rPr>
              <a:t>stdio.h</a:t>
            </a:r>
            <a:r>
              <a:rPr kumimoji="0" lang="en-US" altLang="zh-CN" sz="1500" b="1" kern="1200" cap="none" spc="0" normalizeH="0" baseline="0" noProof="0" dirty="0">
                <a:latin typeface="+mn-lt"/>
                <a:ea typeface="+mn-ea"/>
                <a:cs typeface="+mn-cs"/>
              </a:rPr>
              <a:t>&gt;</a:t>
            </a:r>
            <a:endParaRPr kumimoji="0" lang="zh-CN" altLang="zh-CN" sz="1500" b="1" kern="1200" cap="none" spc="0" normalizeH="0" baseline="0" noProof="0" dirty="0">
              <a:latin typeface="+mn-lt"/>
              <a:ea typeface="+mn-ea"/>
              <a:cs typeface="+mn-cs"/>
            </a:endParaRPr>
          </a:p>
          <a:p>
            <a:pPr marL="342900" marR="0" indent="-342900" defTabSz="914400" eaLnBrk="0" hangingPunct="0">
              <a:spcBef>
                <a:spcPct val="20000"/>
              </a:spcBef>
              <a:buClrTx/>
              <a:buSzTx/>
              <a:buFontTx/>
              <a:defRPr/>
            </a:pPr>
            <a:r>
              <a:rPr kumimoji="0" lang="en-US" altLang="zh-CN" sz="1500" b="1" kern="1200" cap="none" spc="0" normalizeH="0" baseline="0" noProof="0" dirty="0" err="1">
                <a:latin typeface="+mn-lt"/>
                <a:ea typeface="+mn-ea"/>
                <a:cs typeface="+mn-cs"/>
              </a:rPr>
              <a:t>int</a:t>
            </a:r>
            <a:r>
              <a:rPr kumimoji="0" lang="en-US" altLang="zh-CN" sz="1500" b="1" kern="1200" cap="none" spc="0" normalizeH="0" baseline="0" noProof="0" dirty="0">
                <a:latin typeface="+mn-lt"/>
                <a:ea typeface="+mn-ea"/>
                <a:cs typeface="+mn-cs"/>
              </a:rPr>
              <a:t> main()</a:t>
            </a:r>
            <a:endParaRPr kumimoji="0" lang="zh-CN" altLang="zh-CN" sz="1500" b="1" kern="1200" cap="none" spc="0" normalizeH="0" baseline="0" noProof="0" dirty="0">
              <a:latin typeface="+mn-lt"/>
              <a:ea typeface="+mn-ea"/>
              <a:cs typeface="+mn-cs"/>
            </a:endParaRPr>
          </a:p>
          <a:p>
            <a:pPr marL="342900" marR="0" indent="-342900" defTabSz="914400" eaLnBrk="0" hangingPunct="0">
              <a:spcBef>
                <a:spcPct val="20000"/>
              </a:spcBef>
              <a:buClrTx/>
              <a:buSzTx/>
              <a:buFontTx/>
              <a:defRPr/>
            </a:pPr>
            <a:r>
              <a:rPr kumimoji="0" lang="en-US" altLang="zh-CN" sz="1500" b="1" kern="1200" cap="none" spc="0" normalizeH="0" baseline="0" noProof="0" dirty="0">
                <a:latin typeface="+mn-lt"/>
                <a:ea typeface="+mn-ea"/>
                <a:cs typeface="+mn-cs"/>
              </a:rPr>
              <a:t>{ </a:t>
            </a:r>
          </a:p>
          <a:p>
            <a:pPr marL="342900" marR="0" indent="-342900" defTabSz="914400" eaLnBrk="0" hangingPunct="0">
              <a:spcBef>
                <a:spcPct val="20000"/>
              </a:spcBef>
              <a:buClrTx/>
              <a:buSzTx/>
              <a:buFontTx/>
              <a:defRPr/>
            </a:pPr>
            <a:r>
              <a:rPr kumimoji="0" lang="en-US" altLang="zh-CN" sz="1500" b="1" kern="1200" cap="none" spc="0" normalizeH="0" baseline="0" noProof="0" dirty="0">
                <a:latin typeface="+mn-lt"/>
                <a:ea typeface="+mn-ea"/>
                <a:cs typeface="+mn-cs"/>
              </a:rPr>
              <a:t>   </a:t>
            </a:r>
            <a:r>
              <a:rPr kumimoji="0" lang="en-US" altLang="zh-CN" sz="1500" b="1" kern="1200" cap="none" spc="0" normalizeH="0" baseline="0" noProof="0" dirty="0" err="1">
                <a:latin typeface="+mn-lt"/>
                <a:ea typeface="+mn-ea"/>
                <a:cs typeface="+mn-cs"/>
              </a:rPr>
              <a:t>int</a:t>
            </a:r>
            <a:r>
              <a:rPr kumimoji="0" lang="en-US" altLang="zh-CN" sz="1500" b="1" kern="1200" cap="none" spc="0" normalizeH="0" baseline="0" noProof="0" dirty="0">
                <a:latin typeface="+mn-lt"/>
                <a:ea typeface="+mn-ea"/>
                <a:cs typeface="+mn-cs"/>
              </a:rPr>
              <a:t> max(</a:t>
            </a:r>
            <a:r>
              <a:rPr kumimoji="0" lang="en-US" altLang="zh-CN" sz="1500" b="1" kern="1200" cap="none" spc="0" normalizeH="0" baseline="0" noProof="0" dirty="0" err="1">
                <a:latin typeface="+mn-lt"/>
                <a:ea typeface="+mn-ea"/>
                <a:cs typeface="+mn-cs"/>
              </a:rPr>
              <a:t>int</a:t>
            </a:r>
            <a:r>
              <a:rPr kumimoji="0" lang="en-US" altLang="zh-CN" sz="1500" b="1" kern="1200" cap="none" spc="0" normalizeH="0" baseline="0" noProof="0" dirty="0">
                <a:latin typeface="+mn-lt"/>
                <a:ea typeface="+mn-ea"/>
                <a:cs typeface="+mn-cs"/>
              </a:rPr>
              <a:t> </a:t>
            </a:r>
            <a:r>
              <a:rPr kumimoji="0" lang="en-US" altLang="zh-CN" sz="1500" b="1" kern="1200" cap="none" spc="0" normalizeH="0" baseline="0" noProof="0" dirty="0" err="1">
                <a:latin typeface="+mn-lt"/>
                <a:ea typeface="+mn-ea"/>
                <a:cs typeface="+mn-cs"/>
              </a:rPr>
              <a:t>x,int</a:t>
            </a:r>
            <a:r>
              <a:rPr kumimoji="0" lang="en-US" altLang="zh-CN" sz="1500" b="1" kern="1200" cap="none" spc="0" normalizeH="0" baseline="0" noProof="0" dirty="0">
                <a:latin typeface="+mn-lt"/>
                <a:ea typeface="+mn-ea"/>
                <a:cs typeface="+mn-cs"/>
              </a:rPr>
              <a:t> y);   </a:t>
            </a:r>
          </a:p>
          <a:p>
            <a:pPr marL="342900" marR="0" indent="-342900" defTabSz="914400" eaLnBrk="0" hangingPunct="0">
              <a:spcBef>
                <a:spcPct val="20000"/>
              </a:spcBef>
              <a:buClrTx/>
              <a:buSzTx/>
              <a:buFontTx/>
              <a:defRPr/>
            </a:pPr>
            <a:r>
              <a:rPr kumimoji="0" lang="en-US" altLang="zh-CN" sz="1500" b="1" kern="1200" cap="none" spc="0" normalizeH="0" baseline="0" noProof="0" dirty="0">
                <a:latin typeface="+mn-lt"/>
                <a:ea typeface="+mn-ea"/>
                <a:cs typeface="+mn-cs"/>
              </a:rPr>
              <a:t>   </a:t>
            </a:r>
            <a:r>
              <a:rPr kumimoji="0" lang="en-US" altLang="zh-CN" sz="1500" b="1" kern="1200" cap="none" spc="0" normalizeH="0" baseline="0" noProof="0" dirty="0" err="1">
                <a:latin typeface="+mn-lt"/>
                <a:ea typeface="+mn-ea"/>
                <a:cs typeface="+mn-cs"/>
              </a:rPr>
              <a:t>int</a:t>
            </a:r>
            <a:r>
              <a:rPr kumimoji="0" lang="en-US" altLang="zh-CN" sz="1500" b="1" kern="1200" cap="none" spc="0" normalizeH="0" baseline="0" noProof="0" dirty="0">
                <a:latin typeface="+mn-lt"/>
                <a:ea typeface="+mn-ea"/>
                <a:cs typeface="+mn-cs"/>
              </a:rPr>
              <a:t> </a:t>
            </a:r>
            <a:r>
              <a:rPr kumimoji="0" lang="en-US" altLang="zh-CN" sz="1500" b="1" kern="1200" cap="none" spc="0" normalizeH="0" baseline="0" noProof="0" dirty="0" err="1">
                <a:latin typeface="+mn-lt"/>
                <a:ea typeface="+mn-ea"/>
                <a:cs typeface="+mn-cs"/>
              </a:rPr>
              <a:t>a,b,c</a:t>
            </a:r>
            <a:r>
              <a:rPr kumimoji="0" lang="en-US" altLang="zh-CN" sz="1500" b="1" kern="1200" cap="none" spc="0" normalizeH="0" baseline="0" noProof="0" dirty="0">
                <a:latin typeface="+mn-lt"/>
                <a:ea typeface="+mn-ea"/>
                <a:cs typeface="+mn-cs"/>
              </a:rPr>
              <a:t>;  </a:t>
            </a:r>
            <a:endParaRPr kumimoji="0" lang="zh-CN" altLang="zh-CN" sz="1500" b="1" kern="1200" cap="none" spc="0" normalizeH="0" baseline="0" noProof="0" dirty="0">
              <a:latin typeface="+mn-lt"/>
              <a:ea typeface="+mn-ea"/>
              <a:cs typeface="+mn-cs"/>
            </a:endParaRPr>
          </a:p>
          <a:p>
            <a:pPr marL="342900" marR="0" indent="-342900" defTabSz="914400" eaLnBrk="0" hangingPunct="0">
              <a:spcBef>
                <a:spcPct val="20000"/>
              </a:spcBef>
              <a:buClrTx/>
              <a:buSzTx/>
              <a:buFontTx/>
              <a:defRPr/>
            </a:pPr>
            <a:r>
              <a:rPr kumimoji="0" lang="en-US" altLang="zh-CN" sz="1500" b="1" kern="1200" cap="none" spc="0" normalizeH="0" baseline="0" noProof="0" dirty="0">
                <a:latin typeface="+mn-lt"/>
                <a:ea typeface="+mn-ea"/>
                <a:cs typeface="+mn-cs"/>
              </a:rPr>
              <a:t>   </a:t>
            </a:r>
            <a:r>
              <a:rPr kumimoji="0" lang="en-US" altLang="zh-CN" sz="1500" b="1" kern="1200" cap="none" spc="0" normalizeH="0" baseline="0" noProof="0" dirty="0" err="1">
                <a:latin typeface="+mn-lt"/>
                <a:ea typeface="+mn-ea"/>
                <a:cs typeface="+mn-cs"/>
              </a:rPr>
              <a:t>printf</a:t>
            </a:r>
            <a:r>
              <a:rPr kumimoji="0" lang="en-US" altLang="zh-CN" sz="1500" b="1" kern="1200" cap="none" spc="0" normalizeH="0" baseline="0" noProof="0" dirty="0">
                <a:latin typeface="+mn-lt"/>
                <a:ea typeface="+mn-ea"/>
                <a:cs typeface="+mn-cs"/>
              </a:rPr>
              <a:t>(“two integer numbers: ");   </a:t>
            </a:r>
            <a:endParaRPr kumimoji="0" lang="zh-CN" altLang="zh-CN" sz="1500" b="1" kern="1200" cap="none" spc="0" normalizeH="0" baseline="0" noProof="0" dirty="0" err="1">
              <a:latin typeface="+mn-lt"/>
              <a:ea typeface="+mn-ea"/>
              <a:cs typeface="+mn-cs"/>
            </a:endParaRPr>
          </a:p>
          <a:p>
            <a:pPr marL="342900" marR="0" indent="-342900" defTabSz="914400" eaLnBrk="0" hangingPunct="0">
              <a:spcBef>
                <a:spcPct val="20000"/>
              </a:spcBef>
              <a:buClrTx/>
              <a:buSzTx/>
              <a:buFontTx/>
              <a:defRPr/>
            </a:pPr>
            <a:r>
              <a:rPr kumimoji="0" lang="en-US" altLang="zh-CN" sz="1500" b="1" kern="1200" cap="none" spc="0" normalizeH="0" baseline="0" noProof="0" dirty="0">
                <a:latin typeface="+mn-lt"/>
                <a:ea typeface="+mn-ea"/>
                <a:cs typeface="+mn-cs"/>
              </a:rPr>
              <a:t>   </a:t>
            </a:r>
            <a:r>
              <a:rPr kumimoji="0" lang="en-US" altLang="zh-CN" sz="1500" b="1" kern="1200" cap="none" spc="0" normalizeH="0" baseline="0" noProof="0" dirty="0" err="1">
                <a:latin typeface="+mn-lt"/>
                <a:ea typeface="+mn-ea"/>
                <a:cs typeface="+mn-cs"/>
              </a:rPr>
              <a:t>scanf</a:t>
            </a:r>
            <a:r>
              <a:rPr kumimoji="0" lang="en-US" altLang="zh-CN" sz="1500" b="1" kern="1200" cap="none" spc="0" normalizeH="0" baseline="0" noProof="0" dirty="0">
                <a:latin typeface="+mn-lt"/>
                <a:ea typeface="+mn-ea"/>
                <a:cs typeface="+mn-cs"/>
              </a:rPr>
              <a:t>(“%</a:t>
            </a:r>
            <a:r>
              <a:rPr kumimoji="0" lang="en-US" altLang="zh-CN" sz="1500" b="1" kern="1200" cap="none" spc="0" normalizeH="0" baseline="0" noProof="0" dirty="0" err="1">
                <a:latin typeface="+mn-lt"/>
                <a:ea typeface="+mn-ea"/>
                <a:cs typeface="+mn-cs"/>
              </a:rPr>
              <a:t>d,%d”,&amp;a,&amp;b</a:t>
            </a:r>
            <a:r>
              <a:rPr kumimoji="0" lang="en-US" altLang="zh-CN" sz="1500" b="1" kern="1200" cap="none" spc="0" normalizeH="0" baseline="0" noProof="0" dirty="0">
                <a:latin typeface="+mn-lt"/>
                <a:ea typeface="+mn-ea"/>
                <a:cs typeface="+mn-cs"/>
              </a:rPr>
              <a:t>); </a:t>
            </a:r>
            <a:endParaRPr kumimoji="0" lang="zh-CN" altLang="zh-CN" sz="1500" b="1" kern="1200" cap="none" spc="0" normalizeH="0" baseline="0" noProof="0" dirty="0">
              <a:latin typeface="+mn-lt"/>
              <a:ea typeface="+mn-ea"/>
              <a:cs typeface="+mn-cs"/>
            </a:endParaRPr>
          </a:p>
          <a:p>
            <a:pPr marL="342900" marR="0" indent="-342900" defTabSz="914400" eaLnBrk="0" hangingPunct="0">
              <a:spcBef>
                <a:spcPct val="20000"/>
              </a:spcBef>
              <a:buClrTx/>
              <a:buSzTx/>
              <a:buFontTx/>
              <a:defRPr/>
            </a:pPr>
            <a:r>
              <a:rPr kumimoji="0" lang="en-US" altLang="zh-CN" sz="1500" b="1" kern="1200" cap="none" spc="0" normalizeH="0" baseline="0" noProof="0" dirty="0">
                <a:latin typeface="+mn-lt"/>
                <a:ea typeface="+mn-ea"/>
                <a:cs typeface="+mn-cs"/>
              </a:rPr>
              <a:t>   c=</a:t>
            </a:r>
            <a:r>
              <a:rPr kumimoji="0" lang="en-US" altLang="zh-CN" sz="1500" b="1" kern="1200" cap="none" spc="0" normalizeH="0" baseline="0" noProof="0" dirty="0">
                <a:solidFill>
                  <a:srgbClr val="00B050"/>
                </a:solidFill>
                <a:latin typeface="+mn-lt"/>
                <a:ea typeface="+mn-ea"/>
                <a:cs typeface="+mn-cs"/>
              </a:rPr>
              <a:t>max(</a:t>
            </a:r>
            <a:r>
              <a:rPr kumimoji="0" lang="en-US" altLang="zh-CN" sz="1500" b="1" kern="1200" cap="none" spc="0" normalizeH="0" baseline="0" noProof="0" dirty="0" err="1">
                <a:solidFill>
                  <a:srgbClr val="00B050"/>
                </a:solidFill>
                <a:latin typeface="+mn-lt"/>
                <a:ea typeface="+mn-ea"/>
                <a:cs typeface="+mn-cs"/>
              </a:rPr>
              <a:t>a,b</a:t>
            </a:r>
            <a:r>
              <a:rPr kumimoji="0" lang="en-US" altLang="zh-CN" sz="1500" b="1" kern="1200" cap="none" spc="0" normalizeH="0" baseline="0" noProof="0" dirty="0">
                <a:solidFill>
                  <a:srgbClr val="00B050"/>
                </a:solidFill>
                <a:latin typeface="+mn-lt"/>
                <a:ea typeface="+mn-ea"/>
                <a:cs typeface="+mn-cs"/>
              </a:rPr>
              <a:t>)</a:t>
            </a:r>
            <a:r>
              <a:rPr kumimoji="0" lang="en-US" altLang="zh-CN" sz="1500" b="1" kern="1200" cap="none" spc="0" normalizeH="0" baseline="0" noProof="0" dirty="0">
                <a:latin typeface="+mn-lt"/>
                <a:ea typeface="+mn-ea"/>
                <a:cs typeface="+mn-cs"/>
              </a:rPr>
              <a:t>; </a:t>
            </a:r>
            <a:endParaRPr kumimoji="0" lang="zh-CN" altLang="zh-CN" sz="1500" b="1" kern="1200" cap="none" spc="0" normalizeH="0" baseline="0" noProof="0" dirty="0">
              <a:latin typeface="+mn-lt"/>
              <a:ea typeface="+mn-ea"/>
              <a:cs typeface="+mn-cs"/>
            </a:endParaRPr>
          </a:p>
          <a:p>
            <a:pPr marL="342900" marR="0" indent="-342900" defTabSz="914400" eaLnBrk="0" hangingPunct="0">
              <a:spcBef>
                <a:spcPct val="20000"/>
              </a:spcBef>
              <a:buClrTx/>
              <a:buSzTx/>
              <a:buFontTx/>
              <a:defRPr/>
            </a:pPr>
            <a:r>
              <a:rPr kumimoji="0" lang="en-US" altLang="zh-CN" sz="1500" b="1" kern="1200" cap="none" spc="0" normalizeH="0" baseline="0" noProof="0" dirty="0">
                <a:latin typeface="+mn-lt"/>
                <a:ea typeface="+mn-ea"/>
                <a:cs typeface="+mn-cs"/>
              </a:rPr>
              <a:t>   </a:t>
            </a:r>
            <a:r>
              <a:rPr kumimoji="0" lang="en-US" altLang="zh-CN" sz="1500" b="1" kern="1200" cap="none" spc="0" normalizeH="0" baseline="0" noProof="0" dirty="0" err="1">
                <a:latin typeface="+mn-lt"/>
                <a:ea typeface="+mn-ea"/>
                <a:cs typeface="+mn-cs"/>
              </a:rPr>
              <a:t>printf</a:t>
            </a:r>
            <a:r>
              <a:rPr kumimoji="0" lang="en-US" altLang="zh-CN" sz="1500" b="1" kern="1200" cap="none" spc="0" normalizeH="0" baseline="0" noProof="0" dirty="0">
                <a:latin typeface="+mn-lt"/>
                <a:ea typeface="+mn-ea"/>
                <a:cs typeface="+mn-cs"/>
              </a:rPr>
              <a:t>(“max is %d\</a:t>
            </a:r>
            <a:r>
              <a:rPr kumimoji="0" lang="en-US" altLang="zh-CN" sz="1500" b="1" kern="1200" cap="none" spc="0" normalizeH="0" baseline="0" noProof="0" dirty="0" err="1">
                <a:latin typeface="+mn-lt"/>
                <a:ea typeface="+mn-ea"/>
                <a:cs typeface="+mn-cs"/>
              </a:rPr>
              <a:t>n”,c</a:t>
            </a:r>
            <a:r>
              <a:rPr kumimoji="0" lang="en-US" altLang="zh-CN" sz="1500" b="1" kern="1200" cap="none" spc="0" normalizeH="0" baseline="0" noProof="0" dirty="0">
                <a:latin typeface="+mn-lt"/>
                <a:ea typeface="+mn-ea"/>
                <a:cs typeface="+mn-cs"/>
              </a:rPr>
              <a:t>); </a:t>
            </a:r>
            <a:endParaRPr kumimoji="0" lang="zh-CN" altLang="zh-CN" sz="1500" b="1" kern="1200" cap="none" spc="0" normalizeH="0" baseline="0" noProof="0" dirty="0">
              <a:latin typeface="+mn-lt"/>
              <a:ea typeface="+mn-ea"/>
              <a:cs typeface="+mn-cs"/>
            </a:endParaRPr>
          </a:p>
          <a:p>
            <a:pPr marL="342900" marR="0" indent="-342900" defTabSz="914400" eaLnBrk="0" hangingPunct="0">
              <a:spcBef>
                <a:spcPct val="20000"/>
              </a:spcBef>
              <a:buClrTx/>
              <a:buSzTx/>
              <a:buFontTx/>
              <a:defRPr/>
            </a:pPr>
            <a:r>
              <a:rPr kumimoji="0" lang="en-US" altLang="zh-CN" sz="1500" b="1" kern="1200" cap="none" spc="0" normalizeH="0" baseline="0" noProof="0" dirty="0">
                <a:latin typeface="+mn-lt"/>
                <a:ea typeface="+mn-ea"/>
                <a:cs typeface="+mn-cs"/>
              </a:rPr>
              <a:t>}</a:t>
            </a:r>
          </a:p>
        </p:txBody>
      </p:sp>
      <p:sp>
        <p:nvSpPr>
          <p:cNvPr id="6" name="TextBox 5"/>
          <p:cNvSpPr txBox="1"/>
          <p:nvPr/>
        </p:nvSpPr>
        <p:spPr>
          <a:xfrm>
            <a:off x="3982641" y="2561035"/>
            <a:ext cx="3182540" cy="321945"/>
          </a:xfrm>
          <a:prstGeom prst="rect">
            <a:avLst/>
          </a:prstGeom>
          <a:solidFill>
            <a:schemeClr val="bg1"/>
          </a:solidFill>
          <a:ln w="9525">
            <a:noFill/>
          </a:ln>
        </p:spPr>
        <p:txBody>
          <a:bodyPr wrap="square" anchor="t" anchorCtr="0">
            <a:spAutoFit/>
          </a:bodyPr>
          <a:lstStyle/>
          <a:p>
            <a:pPr>
              <a:buSzTx/>
            </a:pPr>
            <a:r>
              <a:rPr lang="zh-CN" altLang="zh-CN" sz="1500" b="1" dirty="0">
                <a:solidFill>
                  <a:srgbClr val="0000CC"/>
                </a:solidFill>
                <a:latin typeface="Arial" panose="020B0604020202090204" pitchFamily="34" charset="0"/>
              </a:rPr>
              <a:t>实参可以是常量、变量或表达式</a:t>
            </a:r>
          </a:p>
        </p:txBody>
      </p:sp>
      <p:sp>
        <p:nvSpPr>
          <p:cNvPr id="7" name="矩形 6"/>
          <p:cNvSpPr/>
          <p:nvPr/>
        </p:nvSpPr>
        <p:spPr>
          <a:xfrm>
            <a:off x="2480072" y="2561035"/>
            <a:ext cx="421481" cy="271463"/>
          </a:xfrm>
          <a:prstGeom prst="rect">
            <a:avLst/>
          </a:prstGeom>
          <a:noFill/>
          <a:ln w="38100" cap="flat" cmpd="sng">
            <a:solidFill>
              <a:srgbClr val="FF0000"/>
            </a:solidFill>
            <a:prstDash val="solid"/>
            <a:miter/>
            <a:headEnd type="none" w="med" len="med"/>
            <a:tailEnd type="none" w="med" len="med"/>
          </a:ln>
        </p:spPr>
        <p:txBody>
          <a:bodyPr wrap="none" anchor="t" anchorCtr="0"/>
          <a:lstStyle/>
          <a:p>
            <a:pPr>
              <a:buSzTx/>
            </a:pPr>
            <a:endParaRPr lang="zh-CN" altLang="en-US" sz="3000" dirty="0">
              <a:latin typeface="Arial" panose="020B0604020202090204" pitchFamily="34" charset="0"/>
            </a:endParaRPr>
          </a:p>
        </p:txBody>
      </p:sp>
      <p:pic>
        <p:nvPicPr>
          <p:cNvPr id="40966" name="Picture 6"/>
          <p:cNvPicPr>
            <a:picLocks noChangeAspect="1"/>
          </p:cNvPicPr>
          <p:nvPr/>
        </p:nvPicPr>
        <p:blipFill>
          <a:blip r:embed="rId2"/>
          <a:stretch>
            <a:fillRect/>
          </a:stretch>
        </p:blipFill>
        <p:spPr>
          <a:xfrm>
            <a:off x="4258866" y="3459956"/>
            <a:ext cx="3290888" cy="295275"/>
          </a:xfrm>
          <a:prstGeom prst="rect">
            <a:avLst/>
          </a:prstGeom>
          <a:noFill/>
          <a:ln w="9525">
            <a:noFill/>
          </a:ln>
        </p:spPr>
      </p:pic>
      <p:pic>
        <p:nvPicPr>
          <p:cNvPr id="40967" name="Picture 7"/>
          <p:cNvPicPr>
            <a:picLocks noChangeAspect="1"/>
          </p:cNvPicPr>
          <p:nvPr/>
        </p:nvPicPr>
        <p:blipFill>
          <a:blip r:embed="rId3"/>
          <a:stretch>
            <a:fillRect/>
          </a:stretch>
        </p:blipFill>
        <p:spPr>
          <a:xfrm>
            <a:off x="4258866" y="3755231"/>
            <a:ext cx="3290888" cy="267891"/>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40966"/>
                                        </p:tgtEl>
                                        <p:attrNameLst>
                                          <p:attrName>style.visibility</p:attrName>
                                        </p:attrNameLst>
                                      </p:cBhvr>
                                      <p:to>
                                        <p:strVal val="visible"/>
                                      </p:to>
                                    </p:set>
                                    <p:animEffect transition="in" filter="blinds(horizontal)">
                                      <p:cBhvr>
                                        <p:cTn id="16" dur="500"/>
                                        <p:tgtEl>
                                          <p:spTgt spid="40966"/>
                                        </p:tgtEl>
                                      </p:cBhvr>
                                    </p:animEffect>
                                  </p:childTnLst>
                                </p:cTn>
                              </p:par>
                              <p:par>
                                <p:cTn id="17" presetID="3" presetClass="entr" presetSubtype="10" fill="hold" nodeType="withEffect">
                                  <p:stCondLst>
                                    <p:cond delay="0"/>
                                  </p:stCondLst>
                                  <p:childTnLst>
                                    <p:set>
                                      <p:cBhvr>
                                        <p:cTn id="18" dur="1" fill="hold">
                                          <p:stCondLst>
                                            <p:cond delay="0"/>
                                          </p:stCondLst>
                                        </p:cTn>
                                        <p:tgtEl>
                                          <p:spTgt spid="40967"/>
                                        </p:tgtEl>
                                        <p:attrNameLst>
                                          <p:attrName>style.visibility</p:attrName>
                                        </p:attrNameLst>
                                      </p:cBhvr>
                                      <p:to>
                                        <p:strVal val="visible"/>
                                      </p:to>
                                    </p:set>
                                    <p:animEffect transition="in" filter="blinds(horizontal)">
                                      <p:cBhvr>
                                        <p:cTn id="19" dur="500"/>
                                        <p:tgtEl>
                                          <p:spTgt spid="40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3"/>
          <p:cNvSpPr txBox="1"/>
          <p:nvPr/>
        </p:nvSpPr>
        <p:spPr>
          <a:xfrm>
            <a:off x="1732360" y="1125141"/>
            <a:ext cx="5893594" cy="3268265"/>
          </a:xfrm>
          <a:prstGeom prst="rect">
            <a:avLst/>
          </a:prstGeom>
          <a:noFill/>
          <a:ln w="9525">
            <a:noFill/>
          </a:ln>
        </p:spPr>
        <p:txBody>
          <a:bodyPr anchor="t" anchorCtr="0"/>
          <a:lstStyle/>
          <a:p>
            <a:pPr>
              <a:buSzTx/>
            </a:pPr>
            <a:r>
              <a:rPr lang="en-US" altLang="zh-CN" sz="2400" b="1" dirty="0">
                <a:latin typeface="Arial" panose="020B0604020202090204" pitchFamily="34" charset="0"/>
              </a:rPr>
              <a:t>     </a:t>
            </a:r>
            <a:r>
              <a:rPr lang="en-US" altLang="zh-CN" sz="2400" b="1" dirty="0">
                <a:solidFill>
                  <a:srgbClr val="00B050"/>
                </a:solidFill>
                <a:latin typeface="Arial" panose="020B0604020202090204" pitchFamily="34" charset="0"/>
              </a:rPr>
              <a:t>c=max(</a:t>
            </a:r>
            <a:r>
              <a:rPr lang="en-US" altLang="zh-CN" sz="2400" b="1" dirty="0" err="1">
                <a:solidFill>
                  <a:srgbClr val="00B050"/>
                </a:solidFill>
                <a:latin typeface="Arial" panose="020B0604020202090204" pitchFamily="34" charset="0"/>
              </a:rPr>
              <a:t>a,b</a:t>
            </a:r>
            <a:r>
              <a:rPr lang="en-US" altLang="zh-CN" sz="2400" b="1" dirty="0">
                <a:solidFill>
                  <a:srgbClr val="00B050"/>
                </a:solidFill>
                <a:latin typeface="Arial" panose="020B0604020202090204" pitchFamily="34" charset="0"/>
              </a:rPr>
              <a:t>);      </a:t>
            </a:r>
            <a:r>
              <a:rPr lang="zh-CN" altLang="en-US" sz="2400" b="1" dirty="0">
                <a:solidFill>
                  <a:srgbClr val="0000CC"/>
                </a:solidFill>
                <a:latin typeface="Arial" panose="020B0604020202090204" pitchFamily="34" charset="0"/>
              </a:rPr>
              <a:t>（</a:t>
            </a:r>
            <a:r>
              <a:rPr lang="en-US" altLang="zh-CN" sz="2400" b="1" dirty="0">
                <a:solidFill>
                  <a:srgbClr val="0000CC"/>
                </a:solidFill>
                <a:latin typeface="Arial" panose="020B0604020202090204" pitchFamily="34" charset="0"/>
              </a:rPr>
              <a:t>main</a:t>
            </a:r>
            <a:r>
              <a:rPr lang="zh-CN" altLang="en-US" sz="2400" b="1" dirty="0">
                <a:solidFill>
                  <a:srgbClr val="0000CC"/>
                </a:solidFill>
                <a:latin typeface="Arial" panose="020B0604020202090204" pitchFamily="34" charset="0"/>
              </a:rPr>
              <a:t>函数）</a:t>
            </a:r>
            <a:endParaRPr lang="en-US" altLang="zh-CN" sz="2400" b="1" dirty="0">
              <a:solidFill>
                <a:srgbClr val="0000CC"/>
              </a:solidFill>
              <a:latin typeface="Arial" panose="020B0604020202090204" pitchFamily="34" charset="0"/>
            </a:endParaRPr>
          </a:p>
          <a:p>
            <a:pPr>
              <a:buSzTx/>
            </a:pPr>
            <a:endParaRPr lang="zh-CN" altLang="zh-CN" sz="2400" b="1" dirty="0">
              <a:latin typeface="Arial" panose="020B0604020202090204" pitchFamily="34" charset="0"/>
            </a:endParaRPr>
          </a:p>
          <a:p>
            <a:pPr>
              <a:buSzTx/>
            </a:pPr>
            <a:r>
              <a:rPr lang="en-US" altLang="zh-CN" sz="2400" b="1" dirty="0" err="1">
                <a:solidFill>
                  <a:srgbClr val="9D138D"/>
                </a:solidFill>
                <a:latin typeface="Arial" panose="020B0604020202090204" pitchFamily="34" charset="0"/>
              </a:rPr>
              <a:t>int</a:t>
            </a:r>
            <a:r>
              <a:rPr lang="en-US" altLang="zh-CN" sz="2400" b="1" dirty="0">
                <a:solidFill>
                  <a:srgbClr val="9D138D"/>
                </a:solidFill>
                <a:latin typeface="Arial" panose="020B0604020202090204" pitchFamily="34" charset="0"/>
              </a:rPr>
              <a:t> max(</a:t>
            </a:r>
            <a:r>
              <a:rPr lang="en-US" altLang="zh-CN" sz="2400" b="1" dirty="0" err="1">
                <a:solidFill>
                  <a:srgbClr val="9D138D"/>
                </a:solidFill>
                <a:latin typeface="Arial" panose="020B0604020202090204" pitchFamily="34" charset="0"/>
              </a:rPr>
              <a:t>int</a:t>
            </a:r>
            <a:r>
              <a:rPr lang="en-US" altLang="zh-CN" sz="2400" b="1" dirty="0">
                <a:solidFill>
                  <a:srgbClr val="9D138D"/>
                </a:solidFill>
                <a:latin typeface="Arial" panose="020B0604020202090204" pitchFamily="34" charset="0"/>
              </a:rPr>
              <a:t> x, </a:t>
            </a:r>
            <a:r>
              <a:rPr lang="en-US" altLang="zh-CN" sz="2400" b="1" dirty="0" err="1">
                <a:solidFill>
                  <a:srgbClr val="9D138D"/>
                </a:solidFill>
                <a:latin typeface="Arial" panose="020B0604020202090204" pitchFamily="34" charset="0"/>
              </a:rPr>
              <a:t>int</a:t>
            </a:r>
            <a:r>
              <a:rPr lang="en-US" altLang="zh-CN" sz="2400" b="1" dirty="0">
                <a:solidFill>
                  <a:srgbClr val="9D138D"/>
                </a:solidFill>
                <a:latin typeface="Arial" panose="020B0604020202090204" pitchFamily="34" charset="0"/>
              </a:rPr>
              <a:t> y)  </a:t>
            </a:r>
            <a:r>
              <a:rPr lang="zh-CN" altLang="en-US" sz="2400" b="1" dirty="0">
                <a:solidFill>
                  <a:srgbClr val="0000CC"/>
                </a:solidFill>
                <a:latin typeface="Arial" panose="020B0604020202090204" pitchFamily="34" charset="0"/>
              </a:rPr>
              <a:t>（</a:t>
            </a:r>
            <a:r>
              <a:rPr lang="en-US" altLang="zh-CN" sz="2400" b="1" dirty="0">
                <a:solidFill>
                  <a:srgbClr val="0000CC"/>
                </a:solidFill>
                <a:latin typeface="Arial" panose="020B0604020202090204" pitchFamily="34" charset="0"/>
              </a:rPr>
              <a:t>max</a:t>
            </a:r>
            <a:r>
              <a:rPr lang="zh-CN" altLang="en-US" sz="2400" b="1" dirty="0">
                <a:solidFill>
                  <a:srgbClr val="0000CC"/>
                </a:solidFill>
                <a:latin typeface="Arial" panose="020B0604020202090204" pitchFamily="34" charset="0"/>
              </a:rPr>
              <a:t>函数）</a:t>
            </a:r>
            <a:endParaRPr lang="zh-CN" altLang="zh-CN" sz="2400" b="1" dirty="0">
              <a:solidFill>
                <a:srgbClr val="0000CC"/>
              </a:solidFill>
              <a:latin typeface="Arial" panose="020B0604020202090204" pitchFamily="34" charset="0"/>
            </a:endParaRPr>
          </a:p>
          <a:p>
            <a:pPr>
              <a:buSzTx/>
            </a:pPr>
            <a:r>
              <a:rPr lang="en-US" altLang="zh-CN" sz="2400" b="1" dirty="0">
                <a:solidFill>
                  <a:srgbClr val="9D138D"/>
                </a:solidFill>
                <a:latin typeface="Arial" panose="020B0604020202090204" pitchFamily="34" charset="0"/>
              </a:rPr>
              <a:t>{</a:t>
            </a:r>
            <a:endParaRPr lang="zh-CN" altLang="zh-CN" sz="2400" b="1" dirty="0">
              <a:solidFill>
                <a:srgbClr val="9D138D"/>
              </a:solidFill>
              <a:latin typeface="Arial" panose="020B0604020202090204" pitchFamily="34" charset="0"/>
            </a:endParaRPr>
          </a:p>
          <a:p>
            <a:pPr>
              <a:buSzTx/>
            </a:pPr>
            <a:r>
              <a:rPr lang="en-US" altLang="zh-CN" sz="2400" b="1" dirty="0">
                <a:solidFill>
                  <a:srgbClr val="9D138D"/>
                </a:solidFill>
                <a:latin typeface="Arial" panose="020B0604020202090204" pitchFamily="34" charset="0"/>
              </a:rPr>
              <a:t>     </a:t>
            </a:r>
            <a:r>
              <a:rPr lang="en-US" altLang="zh-CN" sz="2400" b="1" dirty="0" err="1">
                <a:solidFill>
                  <a:srgbClr val="9D138D"/>
                </a:solidFill>
                <a:latin typeface="Arial" panose="020B0604020202090204" pitchFamily="34" charset="0"/>
              </a:rPr>
              <a:t>int</a:t>
            </a:r>
            <a:r>
              <a:rPr lang="en-US" altLang="zh-CN" sz="2400" b="1" dirty="0">
                <a:solidFill>
                  <a:srgbClr val="9D138D"/>
                </a:solidFill>
                <a:latin typeface="Arial" panose="020B0604020202090204" pitchFamily="34" charset="0"/>
              </a:rPr>
              <a:t> z; </a:t>
            </a:r>
            <a:endParaRPr lang="zh-CN" altLang="zh-CN" sz="2400" b="1" dirty="0">
              <a:solidFill>
                <a:srgbClr val="9D138D"/>
              </a:solidFill>
              <a:latin typeface="Arial" panose="020B0604020202090204" pitchFamily="34" charset="0"/>
            </a:endParaRPr>
          </a:p>
          <a:p>
            <a:pPr>
              <a:buSzTx/>
            </a:pPr>
            <a:r>
              <a:rPr lang="en-US" altLang="zh-CN" sz="2400" b="1" dirty="0">
                <a:solidFill>
                  <a:srgbClr val="9D138D"/>
                </a:solidFill>
                <a:latin typeface="Arial" panose="020B0604020202090204" pitchFamily="34" charset="0"/>
              </a:rPr>
              <a:t>     z=x&gt;</a:t>
            </a:r>
            <a:r>
              <a:rPr lang="en-US" altLang="zh-CN" sz="2400" b="1" dirty="0" err="1">
                <a:solidFill>
                  <a:srgbClr val="9D138D"/>
                </a:solidFill>
                <a:latin typeface="Arial" panose="020B0604020202090204" pitchFamily="34" charset="0"/>
              </a:rPr>
              <a:t>y?x:y</a:t>
            </a:r>
            <a:r>
              <a:rPr lang="en-US" altLang="zh-CN" sz="2400" b="1" dirty="0">
                <a:solidFill>
                  <a:srgbClr val="9D138D"/>
                </a:solidFill>
                <a:latin typeface="Arial" panose="020B0604020202090204" pitchFamily="34" charset="0"/>
              </a:rPr>
              <a:t>; </a:t>
            </a:r>
            <a:endParaRPr lang="zh-CN" altLang="zh-CN" sz="2400" b="1" dirty="0">
              <a:solidFill>
                <a:srgbClr val="9D138D"/>
              </a:solidFill>
              <a:latin typeface="Arial" panose="020B0604020202090204" pitchFamily="34" charset="0"/>
            </a:endParaRPr>
          </a:p>
          <a:p>
            <a:pPr>
              <a:buSzTx/>
            </a:pPr>
            <a:r>
              <a:rPr lang="en-US" altLang="zh-CN" sz="2400" b="1" dirty="0">
                <a:solidFill>
                  <a:srgbClr val="9D138D"/>
                </a:solidFill>
                <a:latin typeface="Arial" panose="020B0604020202090204" pitchFamily="34" charset="0"/>
              </a:rPr>
              <a:t>     return(z); </a:t>
            </a:r>
            <a:endParaRPr lang="zh-CN" altLang="zh-CN" sz="2400" b="1" dirty="0">
              <a:solidFill>
                <a:srgbClr val="9D138D"/>
              </a:solidFill>
              <a:latin typeface="Arial" panose="020B0604020202090204" pitchFamily="34" charset="0"/>
            </a:endParaRPr>
          </a:p>
          <a:p>
            <a:pPr>
              <a:buSzTx/>
            </a:pPr>
            <a:r>
              <a:rPr lang="en-US" altLang="zh-CN" sz="2400" b="1" dirty="0">
                <a:solidFill>
                  <a:srgbClr val="9D138D"/>
                </a:solidFill>
                <a:latin typeface="Arial" panose="020B0604020202090204" pitchFamily="34" charset="0"/>
              </a:rPr>
              <a:t>} </a:t>
            </a:r>
            <a:endParaRPr lang="zh-CN" altLang="zh-CN" sz="2400" b="1" dirty="0">
              <a:solidFill>
                <a:srgbClr val="9D138D"/>
              </a:solidFill>
              <a:latin typeface="Arial" panose="020B0604020202090204" pitchFamily="34" charset="0"/>
            </a:endParaRPr>
          </a:p>
        </p:txBody>
      </p:sp>
      <p:cxnSp>
        <p:nvCxnSpPr>
          <p:cNvPr id="25602" name="直接连接符 8"/>
          <p:cNvCxnSpPr/>
          <p:nvPr/>
        </p:nvCxnSpPr>
        <p:spPr>
          <a:xfrm>
            <a:off x="1678781" y="1714500"/>
            <a:ext cx="5625704" cy="0"/>
          </a:xfrm>
          <a:prstGeom prst="line">
            <a:avLst/>
          </a:prstGeom>
          <a:ln w="38100" cap="flat" cmpd="sng">
            <a:solidFill>
              <a:schemeClr val="tx1"/>
            </a:solidFill>
            <a:prstDash val="dash"/>
            <a:miter/>
            <a:headEnd type="none" w="med" len="med"/>
            <a:tailEnd type="none" w="med" len="med"/>
          </a:ln>
        </p:spPr>
      </p:cxnSp>
      <p:cxnSp>
        <p:nvCxnSpPr>
          <p:cNvPr id="10" name="直接箭头连接符 55"/>
          <p:cNvCxnSpPr/>
          <p:nvPr/>
        </p:nvCxnSpPr>
        <p:spPr>
          <a:xfrm rot="-5400000" flipH="1">
            <a:off x="3223022" y="1662113"/>
            <a:ext cx="482203" cy="160735"/>
          </a:xfrm>
          <a:prstGeom prst="straightConnector1">
            <a:avLst/>
          </a:prstGeom>
          <a:ln w="38100" cap="flat" cmpd="sng">
            <a:solidFill>
              <a:srgbClr val="FF0000"/>
            </a:solidFill>
            <a:prstDash val="solid"/>
            <a:miter/>
            <a:headEnd type="none" w="med" len="med"/>
            <a:tailEnd type="arrow" w="med" len="med"/>
          </a:ln>
        </p:spPr>
      </p:cxnSp>
      <p:cxnSp>
        <p:nvCxnSpPr>
          <p:cNvPr id="12" name="直接箭头连接符 55"/>
          <p:cNvCxnSpPr/>
          <p:nvPr/>
        </p:nvCxnSpPr>
        <p:spPr>
          <a:xfrm>
            <a:off x="3627835" y="1478756"/>
            <a:ext cx="681038" cy="557213"/>
          </a:xfrm>
          <a:prstGeom prst="straightConnector1">
            <a:avLst/>
          </a:prstGeom>
          <a:ln w="38100" cap="flat" cmpd="sng">
            <a:solidFill>
              <a:srgbClr val="FF0000"/>
            </a:solidFill>
            <a:prstDash val="solid"/>
            <a:miter/>
            <a:headEnd type="none" w="med" len="med"/>
            <a:tailEnd type="arrow" w="med" len="med"/>
          </a:ln>
        </p:spPr>
      </p:cxnSp>
      <p:sp>
        <p:nvSpPr>
          <p:cNvPr id="15" name="任意多边形 14"/>
          <p:cNvSpPr/>
          <p:nvPr/>
        </p:nvSpPr>
        <p:spPr>
          <a:xfrm rot="-686641">
            <a:off x="1601391" y="1484710"/>
            <a:ext cx="1477565" cy="2445544"/>
          </a:xfrm>
          <a:custGeom>
            <a:avLst/>
            <a:gdLst/>
            <a:ahLst/>
            <a:cxnLst>
              <a:cxn ang="0">
                <a:pos x="860371" y="3196357"/>
              </a:cxn>
              <a:cxn ang="0">
                <a:pos x="361502" y="3288049"/>
              </a:cxn>
              <a:cxn ang="0">
                <a:pos x="101219" y="2764051"/>
              </a:cxn>
              <a:cxn ang="0">
                <a:pos x="10846" y="1388581"/>
              </a:cxn>
              <a:cxn ang="0">
                <a:pos x="83147" y="379898"/>
              </a:cxn>
              <a:cxn ang="0">
                <a:pos x="509718" y="0"/>
              </a:cxn>
            </a:cxnLst>
            <a:rect l="0" t="0" r="0" b="0"/>
            <a:pathLst>
              <a:path w="2981195" h="3212926">
                <a:moveTo>
                  <a:pt x="2981195" y="3056351"/>
                </a:moveTo>
                <a:cubicBezTo>
                  <a:pt x="2336104" y="3134638"/>
                  <a:pt x="1691014" y="3212926"/>
                  <a:pt x="1252603" y="3144033"/>
                </a:cubicBezTo>
                <a:cubicBezTo>
                  <a:pt x="814192" y="3075140"/>
                  <a:pt x="553233" y="2945704"/>
                  <a:pt x="350729" y="2642992"/>
                </a:cubicBezTo>
                <a:cubicBezTo>
                  <a:pt x="148225" y="2340280"/>
                  <a:pt x="48017" y="1707715"/>
                  <a:pt x="37579" y="1327759"/>
                </a:cubicBezTo>
                <a:cubicBezTo>
                  <a:pt x="27141" y="947803"/>
                  <a:pt x="0" y="584548"/>
                  <a:pt x="288099" y="363255"/>
                </a:cubicBezTo>
                <a:cubicBezTo>
                  <a:pt x="576198" y="141962"/>
                  <a:pt x="1171184" y="70981"/>
                  <a:pt x="1766171" y="0"/>
                </a:cubicBezTo>
              </a:path>
            </a:pathLst>
          </a:custGeom>
          <a:noFill/>
          <a:ln w="38100" cap="flat" cmpd="sng">
            <a:solidFill>
              <a:srgbClr val="FF0000"/>
            </a:solidFill>
            <a:prstDash val="solid"/>
            <a:miter/>
            <a:headEnd type="none" w="med" len="med"/>
            <a:tailEnd type="arrow" w="med" len="med"/>
          </a:ln>
        </p:spPr>
        <p:txBody>
          <a:bodyPr/>
          <a:lstStyle/>
          <a:p>
            <a:endParaRPr lang="zh-CN" altLang="en-US" sz="135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lide(fromTop)">
                                      <p:cBhvr>
                                        <p:cTn id="7" dur="500"/>
                                        <p:tgtEl>
                                          <p:spTgt spid="10"/>
                                        </p:tgtEl>
                                      </p:cBhvr>
                                    </p:animEffect>
                                  </p:childTnLst>
                                </p:cTn>
                              </p:par>
                            </p:childTnLst>
                          </p:cTn>
                        </p:par>
                        <p:par>
                          <p:cTn id="8" fill="hold">
                            <p:stCondLst>
                              <p:cond delay="500"/>
                            </p:stCondLst>
                            <p:childTnLst>
                              <p:par>
                                <p:cTn id="9" presetID="12" presetClass="entr" presetSubtype="1"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slide(fromTop)">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7" presetClass="entr" presetSubtype="10" fill="hold" nodeType="click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p:cTn id="16" dur="500" fill="hold"/>
                                        <p:tgtEl>
                                          <p:spTgt spid="15"/>
                                        </p:tgtEl>
                                        <p:attrNameLst>
                                          <p:attrName>ppt_w</p:attrName>
                                        </p:attrNameLst>
                                      </p:cBhvr>
                                      <p:tavLst>
                                        <p:tav tm="0">
                                          <p:val>
                                            <p:fltVal val="0"/>
                                          </p:val>
                                        </p:tav>
                                        <p:tav tm="100000">
                                          <p:val>
                                            <p:strVal val="#ppt_w"/>
                                          </p:val>
                                        </p:tav>
                                      </p:tavLst>
                                    </p:anim>
                                    <p:anim calcmode="lin" valueType="num">
                                      <p:cBhvr>
                                        <p:cTn id="17" dur="500" fill="hold"/>
                                        <p:tgtEl>
                                          <p:spTgt spid="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489347"/>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函数调用的过程</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26626" name="Rectangle 3"/>
          <p:cNvSpPr txBox="1"/>
          <p:nvPr/>
        </p:nvSpPr>
        <p:spPr>
          <a:xfrm>
            <a:off x="1732360" y="1125141"/>
            <a:ext cx="5893594" cy="1289447"/>
          </a:xfrm>
          <a:prstGeom prst="rect">
            <a:avLst/>
          </a:prstGeom>
          <a:noFill/>
          <a:ln w="9525">
            <a:noFill/>
          </a:ln>
        </p:spPr>
        <p:txBody>
          <a:bodyPr anchor="t" anchorCtr="0"/>
          <a:lstStyle/>
          <a:p>
            <a:pPr>
              <a:lnSpc>
                <a:spcPct val="120000"/>
              </a:lnSpc>
              <a:buSzTx/>
            </a:pPr>
            <a:r>
              <a:rPr lang="zh-CN" altLang="zh-CN" b="1" dirty="0">
                <a:latin typeface="Arial" panose="020B0604020202090204" pitchFamily="34" charset="0"/>
              </a:rPr>
              <a:t>在定义函数中指定的形参，在未出现函数调用时，它们并不占内存中的存储单元。在发生函数调用时，函数</a:t>
            </a:r>
            <a:r>
              <a:rPr lang="en-US" altLang="zh-CN" b="1" dirty="0">
                <a:latin typeface="Arial" panose="020B0604020202090204" pitchFamily="34" charset="0"/>
              </a:rPr>
              <a:t>max</a:t>
            </a:r>
            <a:r>
              <a:rPr lang="zh-CN" altLang="zh-CN" b="1" dirty="0">
                <a:latin typeface="Arial" panose="020B0604020202090204" pitchFamily="34" charset="0"/>
              </a:rPr>
              <a:t>的形参被临时分配内存单元。</a:t>
            </a:r>
          </a:p>
        </p:txBody>
      </p:sp>
      <p:sp>
        <p:nvSpPr>
          <p:cNvPr id="8" name="流程图: 过程 7"/>
          <p:cNvSpPr/>
          <p:nvPr/>
        </p:nvSpPr>
        <p:spPr>
          <a:xfrm>
            <a:off x="4196954" y="2730104"/>
            <a:ext cx="482203" cy="428625"/>
          </a:xfrm>
          <a:prstGeom prst="flowChartProcess">
            <a:avLst/>
          </a:prstGeom>
          <a:solidFill>
            <a:schemeClr val="accent1"/>
          </a:solidFill>
          <a:ln w="9525" cap="flat" cmpd="sng">
            <a:solidFill>
              <a:schemeClr val="tx1"/>
            </a:solidFill>
            <a:prstDash val="solid"/>
            <a:miter/>
            <a:headEnd type="none" w="med" len="med"/>
            <a:tailEnd type="none" w="med" len="med"/>
          </a:ln>
        </p:spPr>
        <p:txBody>
          <a:bodyPr wrap="none" anchor="t" anchorCtr="0"/>
          <a:lstStyle/>
          <a:p>
            <a:pPr algn="ctr">
              <a:buSzTx/>
            </a:pPr>
            <a:r>
              <a:rPr lang="en-US" altLang="zh-CN" sz="2400" b="1" dirty="0">
                <a:latin typeface="Arial" panose="020B0604020202090204" pitchFamily="34" charset="0"/>
              </a:rPr>
              <a:t>2</a:t>
            </a:r>
            <a:endParaRPr lang="zh-CN" altLang="en-US" sz="2400" b="1" dirty="0">
              <a:latin typeface="Arial" panose="020B0604020202090204" pitchFamily="34" charset="0"/>
            </a:endParaRPr>
          </a:p>
        </p:txBody>
      </p:sp>
      <p:sp>
        <p:nvSpPr>
          <p:cNvPr id="9" name="TextBox 8"/>
          <p:cNvSpPr txBox="1"/>
          <p:nvPr/>
        </p:nvSpPr>
        <p:spPr>
          <a:xfrm>
            <a:off x="3875485" y="2720578"/>
            <a:ext cx="375047"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a</a:t>
            </a:r>
            <a:endParaRPr lang="zh-CN" altLang="en-US" sz="2400" b="1" dirty="0">
              <a:latin typeface="Arial" panose="020B0604020202090204" pitchFamily="34" charset="0"/>
            </a:endParaRPr>
          </a:p>
        </p:txBody>
      </p:sp>
      <p:sp>
        <p:nvSpPr>
          <p:cNvPr id="10" name="流程图: 过程 9"/>
          <p:cNvSpPr/>
          <p:nvPr/>
        </p:nvSpPr>
        <p:spPr>
          <a:xfrm>
            <a:off x="5054204" y="2730104"/>
            <a:ext cx="482203" cy="428625"/>
          </a:xfrm>
          <a:prstGeom prst="flowChartProcess">
            <a:avLst/>
          </a:prstGeom>
          <a:solidFill>
            <a:schemeClr val="accent1"/>
          </a:solidFill>
          <a:ln w="9525" cap="flat" cmpd="sng">
            <a:solidFill>
              <a:schemeClr val="tx1"/>
            </a:solidFill>
            <a:prstDash val="solid"/>
            <a:miter/>
            <a:headEnd type="none" w="med" len="med"/>
            <a:tailEnd type="none" w="med" len="med"/>
          </a:ln>
        </p:spPr>
        <p:txBody>
          <a:bodyPr wrap="none" anchor="t" anchorCtr="0"/>
          <a:lstStyle/>
          <a:p>
            <a:pPr algn="ctr">
              <a:buSzTx/>
            </a:pPr>
            <a:r>
              <a:rPr lang="en-US" altLang="zh-CN" sz="2400" b="1" dirty="0">
                <a:latin typeface="Arial" panose="020B0604020202090204" pitchFamily="34" charset="0"/>
              </a:rPr>
              <a:t>3</a:t>
            </a:r>
            <a:endParaRPr lang="zh-CN" altLang="en-US" sz="2400" b="1" dirty="0">
              <a:latin typeface="Arial" panose="020B0604020202090204" pitchFamily="34" charset="0"/>
            </a:endParaRPr>
          </a:p>
        </p:txBody>
      </p:sp>
      <p:sp>
        <p:nvSpPr>
          <p:cNvPr id="11" name="TextBox 10"/>
          <p:cNvSpPr txBox="1"/>
          <p:nvPr/>
        </p:nvSpPr>
        <p:spPr>
          <a:xfrm>
            <a:off x="5589985" y="2730103"/>
            <a:ext cx="375047"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b</a:t>
            </a:r>
            <a:endParaRPr lang="zh-CN" altLang="en-US" sz="2400" b="1" dirty="0">
              <a:latin typeface="Arial" panose="020B0604020202090204" pitchFamily="34" charset="0"/>
            </a:endParaRPr>
          </a:p>
        </p:txBody>
      </p:sp>
      <p:sp>
        <p:nvSpPr>
          <p:cNvPr id="12" name="流程图: 过程 11"/>
          <p:cNvSpPr/>
          <p:nvPr/>
        </p:nvSpPr>
        <p:spPr>
          <a:xfrm>
            <a:off x="4196954" y="3533775"/>
            <a:ext cx="482203" cy="428625"/>
          </a:xfrm>
          <a:prstGeom prst="flowChartProcess">
            <a:avLst/>
          </a:prstGeom>
          <a:solidFill>
            <a:schemeClr val="accent1"/>
          </a:solidFill>
          <a:ln w="9525" cap="flat" cmpd="sng">
            <a:solidFill>
              <a:schemeClr val="tx1"/>
            </a:solidFill>
            <a:prstDash val="solid"/>
            <a:miter/>
            <a:headEnd type="none" w="med" len="med"/>
            <a:tailEnd type="none" w="med" len="med"/>
          </a:ln>
        </p:spPr>
        <p:txBody>
          <a:bodyPr wrap="none" anchor="t" anchorCtr="0"/>
          <a:lstStyle/>
          <a:p>
            <a:pPr algn="ctr">
              <a:buSzTx/>
            </a:pPr>
            <a:endParaRPr lang="zh-CN" altLang="en-US" sz="2400" b="1" dirty="0">
              <a:latin typeface="Arial" panose="020B0604020202090204" pitchFamily="34" charset="0"/>
            </a:endParaRPr>
          </a:p>
        </p:txBody>
      </p:sp>
      <p:sp>
        <p:nvSpPr>
          <p:cNvPr id="13" name="TextBox 12"/>
          <p:cNvSpPr txBox="1"/>
          <p:nvPr/>
        </p:nvSpPr>
        <p:spPr>
          <a:xfrm>
            <a:off x="3875485" y="3524250"/>
            <a:ext cx="375047"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x</a:t>
            </a:r>
            <a:endParaRPr lang="zh-CN" altLang="en-US" sz="2400" b="1" dirty="0">
              <a:latin typeface="Arial" panose="020B0604020202090204" pitchFamily="34" charset="0"/>
            </a:endParaRPr>
          </a:p>
        </p:txBody>
      </p:sp>
      <p:sp>
        <p:nvSpPr>
          <p:cNvPr id="14" name="流程图: 过程 13"/>
          <p:cNvSpPr/>
          <p:nvPr/>
        </p:nvSpPr>
        <p:spPr>
          <a:xfrm>
            <a:off x="5054204" y="3533775"/>
            <a:ext cx="482203" cy="428625"/>
          </a:xfrm>
          <a:prstGeom prst="flowChartProcess">
            <a:avLst/>
          </a:prstGeom>
          <a:solidFill>
            <a:schemeClr val="accent1"/>
          </a:solidFill>
          <a:ln w="9525" cap="flat" cmpd="sng">
            <a:solidFill>
              <a:schemeClr val="tx1"/>
            </a:solidFill>
            <a:prstDash val="solid"/>
            <a:miter/>
            <a:headEnd type="none" w="med" len="med"/>
            <a:tailEnd type="none" w="med" len="med"/>
          </a:ln>
        </p:spPr>
        <p:txBody>
          <a:bodyPr wrap="none" anchor="t" anchorCtr="0"/>
          <a:lstStyle/>
          <a:p>
            <a:pPr algn="ctr">
              <a:buSzTx/>
            </a:pPr>
            <a:endParaRPr lang="zh-CN" altLang="en-US" sz="2400" b="1" dirty="0">
              <a:latin typeface="Arial" panose="020B0604020202090204" pitchFamily="34" charset="0"/>
            </a:endParaRPr>
          </a:p>
        </p:txBody>
      </p:sp>
      <p:sp>
        <p:nvSpPr>
          <p:cNvPr id="15" name="TextBox 14"/>
          <p:cNvSpPr txBox="1"/>
          <p:nvPr/>
        </p:nvSpPr>
        <p:spPr>
          <a:xfrm>
            <a:off x="5589985" y="3533775"/>
            <a:ext cx="375047"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y</a:t>
            </a:r>
            <a:endParaRPr lang="zh-CN" altLang="en-US" sz="2400" b="1" dirty="0">
              <a:latin typeface="Arial" panose="020B0604020202090204" pitchFamily="34" charset="0"/>
            </a:endParaRPr>
          </a:p>
        </p:txBody>
      </p:sp>
      <p:sp>
        <p:nvSpPr>
          <p:cNvPr id="16" name="流程图: 过程 15"/>
          <p:cNvSpPr/>
          <p:nvPr/>
        </p:nvSpPr>
        <p:spPr>
          <a:xfrm>
            <a:off x="4250531" y="3533775"/>
            <a:ext cx="375047" cy="375047"/>
          </a:xfrm>
          <a:prstGeom prst="flowChartProcess">
            <a:avLst/>
          </a:prstGeom>
          <a:noFill/>
          <a:ln w="9525">
            <a:noFill/>
          </a:ln>
        </p:spPr>
        <p:txBody>
          <a:bodyPr wrap="none" anchor="t" anchorCtr="0"/>
          <a:lstStyle/>
          <a:p>
            <a:pPr algn="ctr">
              <a:buSzTx/>
            </a:pPr>
            <a:r>
              <a:rPr lang="en-US" altLang="zh-CN" sz="2400" b="1" dirty="0">
                <a:solidFill>
                  <a:srgbClr val="FF0000"/>
                </a:solidFill>
                <a:latin typeface="Arial" panose="020B0604020202090204" pitchFamily="34" charset="0"/>
              </a:rPr>
              <a:t>2</a:t>
            </a:r>
            <a:endParaRPr lang="zh-CN" altLang="en-US" sz="2400" b="1" dirty="0">
              <a:solidFill>
                <a:srgbClr val="FF0000"/>
              </a:solidFill>
              <a:latin typeface="Arial" panose="020B0604020202090204" pitchFamily="34" charset="0"/>
            </a:endParaRPr>
          </a:p>
        </p:txBody>
      </p:sp>
      <p:sp>
        <p:nvSpPr>
          <p:cNvPr id="17" name="流程图: 过程 16"/>
          <p:cNvSpPr/>
          <p:nvPr/>
        </p:nvSpPr>
        <p:spPr>
          <a:xfrm>
            <a:off x="5107781" y="3533775"/>
            <a:ext cx="375047" cy="375047"/>
          </a:xfrm>
          <a:prstGeom prst="flowChartProcess">
            <a:avLst/>
          </a:prstGeom>
          <a:noFill/>
          <a:ln w="9525">
            <a:noFill/>
          </a:ln>
        </p:spPr>
        <p:txBody>
          <a:bodyPr wrap="none" anchor="t" anchorCtr="0"/>
          <a:lstStyle/>
          <a:p>
            <a:pPr algn="ctr">
              <a:buSzTx/>
            </a:pPr>
            <a:r>
              <a:rPr lang="en-US" altLang="zh-CN" sz="2400" b="1" dirty="0">
                <a:solidFill>
                  <a:srgbClr val="FF0000"/>
                </a:solidFill>
                <a:latin typeface="Arial" panose="020B0604020202090204" pitchFamily="34" charset="0"/>
              </a:rPr>
              <a:t>3</a:t>
            </a:r>
            <a:endParaRPr lang="zh-CN" altLang="en-US" sz="2400" b="1" dirty="0">
              <a:solidFill>
                <a:srgbClr val="FF0000"/>
              </a:solidFill>
              <a:latin typeface="Arial" panose="020B0604020202090204" pitchFamily="34" charset="0"/>
            </a:endParaRPr>
          </a:p>
        </p:txBody>
      </p:sp>
      <p:cxnSp>
        <p:nvCxnSpPr>
          <p:cNvPr id="19" name="直接连接符 18"/>
          <p:cNvCxnSpPr/>
          <p:nvPr/>
        </p:nvCxnSpPr>
        <p:spPr>
          <a:xfrm>
            <a:off x="4351735" y="1839516"/>
            <a:ext cx="3217069" cy="0"/>
          </a:xfrm>
          <a:prstGeom prst="line">
            <a:avLst/>
          </a:prstGeom>
          <a:ln w="38100" cap="flat" cmpd="sng">
            <a:solidFill>
              <a:srgbClr val="FF0000"/>
            </a:solidFill>
            <a:prstDash val="solid"/>
            <a:miter/>
            <a:headEnd type="none" w="med" len="med"/>
            <a:tailEnd type="none" w="med" len="med"/>
          </a:ln>
        </p:spPr>
      </p:cxnSp>
      <p:cxnSp>
        <p:nvCxnSpPr>
          <p:cNvPr id="20" name="直接连接符 19"/>
          <p:cNvCxnSpPr/>
          <p:nvPr/>
        </p:nvCxnSpPr>
        <p:spPr>
          <a:xfrm>
            <a:off x="1785938" y="2170510"/>
            <a:ext cx="2624138" cy="22622"/>
          </a:xfrm>
          <a:prstGeom prst="line">
            <a:avLst/>
          </a:prstGeom>
          <a:ln w="38100" cap="flat" cmpd="sng">
            <a:solidFill>
              <a:srgbClr val="FF0000"/>
            </a:solidFill>
            <a:prstDash val="solid"/>
            <a:miter/>
            <a:headEnd type="none" w="med" len="med"/>
            <a:tailEnd type="none" w="med" len="med"/>
          </a:ln>
        </p:spPr>
      </p:cxnSp>
      <p:cxnSp>
        <p:nvCxnSpPr>
          <p:cNvPr id="22" name="直接连接符 21"/>
          <p:cNvCxnSpPr/>
          <p:nvPr/>
        </p:nvCxnSpPr>
        <p:spPr>
          <a:xfrm>
            <a:off x="2803922" y="3319463"/>
            <a:ext cx="3161109" cy="0"/>
          </a:xfrm>
          <a:prstGeom prst="line">
            <a:avLst/>
          </a:prstGeom>
          <a:ln w="38100" cap="flat" cmpd="sng">
            <a:solidFill>
              <a:srgbClr val="0000CC"/>
            </a:solidFill>
            <a:prstDash val="solid"/>
            <a:miter/>
            <a:headEnd type="none" w="med" len="med"/>
            <a:tailEnd type="none" w="med" len="med"/>
          </a:ln>
        </p:spPr>
      </p:cxnSp>
      <p:sp>
        <p:nvSpPr>
          <p:cNvPr id="23" name="TextBox 22"/>
          <p:cNvSpPr txBox="1"/>
          <p:nvPr/>
        </p:nvSpPr>
        <p:spPr>
          <a:xfrm>
            <a:off x="2803922" y="2730103"/>
            <a:ext cx="857250" cy="460375"/>
          </a:xfrm>
          <a:prstGeom prst="rect">
            <a:avLst/>
          </a:prstGeom>
          <a:noFill/>
          <a:ln w="9525">
            <a:noFill/>
          </a:ln>
        </p:spPr>
        <p:txBody>
          <a:bodyPr anchor="t" anchorCtr="0">
            <a:spAutoFit/>
          </a:bodyPr>
          <a:lstStyle/>
          <a:p>
            <a:pPr>
              <a:buSzTx/>
            </a:pPr>
            <a:r>
              <a:rPr lang="zh-CN" altLang="en-US" sz="2400" b="1" dirty="0">
                <a:latin typeface="Arial" panose="020B0604020202090204" pitchFamily="34" charset="0"/>
              </a:rPr>
              <a:t>实参</a:t>
            </a:r>
          </a:p>
        </p:txBody>
      </p:sp>
      <p:sp>
        <p:nvSpPr>
          <p:cNvPr id="24" name="TextBox 23"/>
          <p:cNvSpPr txBox="1"/>
          <p:nvPr/>
        </p:nvSpPr>
        <p:spPr>
          <a:xfrm>
            <a:off x="2750344" y="3480197"/>
            <a:ext cx="857250" cy="460375"/>
          </a:xfrm>
          <a:prstGeom prst="rect">
            <a:avLst/>
          </a:prstGeom>
          <a:noFill/>
          <a:ln w="9525">
            <a:noFill/>
          </a:ln>
        </p:spPr>
        <p:txBody>
          <a:bodyPr anchor="t" anchorCtr="0">
            <a:spAutoFit/>
          </a:bodyPr>
          <a:lstStyle/>
          <a:p>
            <a:pPr>
              <a:buSzTx/>
            </a:pPr>
            <a:r>
              <a:rPr lang="zh-CN" altLang="en-US" sz="2400" b="1" dirty="0">
                <a:latin typeface="Arial" panose="020B0604020202090204" pitchFamily="34" charset="0"/>
              </a:rPr>
              <a:t>形参</a:t>
            </a:r>
          </a:p>
        </p:txBody>
      </p:sp>
      <p:cxnSp>
        <p:nvCxnSpPr>
          <p:cNvPr id="26" name="直接箭头连接符 55"/>
          <p:cNvCxnSpPr>
            <a:stCxn id="8" idx="2"/>
            <a:endCxn id="12" idx="0"/>
          </p:cNvCxnSpPr>
          <p:nvPr/>
        </p:nvCxnSpPr>
        <p:spPr>
          <a:xfrm>
            <a:off x="4438650" y="3105150"/>
            <a:ext cx="0" cy="375047"/>
          </a:xfrm>
          <a:prstGeom prst="straightConnector1">
            <a:avLst/>
          </a:prstGeom>
          <a:ln w="38100" cap="flat" cmpd="sng">
            <a:solidFill>
              <a:srgbClr val="FF0000"/>
            </a:solidFill>
            <a:prstDash val="solid"/>
            <a:miter/>
            <a:headEnd type="none" w="med" len="med"/>
            <a:tailEnd type="arrow" w="med" len="med"/>
          </a:ln>
        </p:spPr>
      </p:cxnSp>
      <p:cxnSp>
        <p:nvCxnSpPr>
          <p:cNvPr id="29" name="直接箭头连接符 55"/>
          <p:cNvCxnSpPr>
            <a:stCxn id="8" idx="2"/>
            <a:endCxn id="12" idx="0"/>
          </p:cNvCxnSpPr>
          <p:nvPr/>
        </p:nvCxnSpPr>
        <p:spPr>
          <a:xfrm rot="5400000">
            <a:off x="5135166" y="3345656"/>
            <a:ext cx="375047" cy="1191"/>
          </a:xfrm>
          <a:prstGeom prst="straightConnector1">
            <a:avLst/>
          </a:prstGeom>
          <a:ln w="38100" cap="flat" cmpd="sng">
            <a:solidFill>
              <a:srgbClr val="FF0000"/>
            </a:solidFill>
            <a:prstDash val="solid"/>
            <a:miter/>
            <a:headEnd type="none" w="med" len="med"/>
            <a:tailEnd type="arrow" w="med" len="med"/>
          </a:ln>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linds(horizontal)">
                                      <p:cBhvr>
                                        <p:cTn id="10" dur="500"/>
                                        <p:tgtEl>
                                          <p:spTgt spid="9"/>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linds(horizontal)">
                                      <p:cBhvr>
                                        <p:cTn id="13" dur="500"/>
                                        <p:tgtEl>
                                          <p:spTgt spid="1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blinds(horizontal)">
                                      <p:cBhvr>
                                        <p:cTn id="16" dur="500"/>
                                        <p:tgtEl>
                                          <p:spTgt spid="23"/>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blinds(horizontal)">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slide(fromLeft)">
                                      <p:cBhvr>
                                        <p:cTn id="24" dur="500"/>
                                        <p:tgtEl>
                                          <p:spTgt spid="19"/>
                                        </p:tgtEl>
                                      </p:cBhvr>
                                    </p:animEffect>
                                  </p:childTnLst>
                                </p:cTn>
                              </p:par>
                            </p:childTnLst>
                          </p:cTn>
                        </p:par>
                        <p:par>
                          <p:cTn id="25" fill="hold">
                            <p:stCondLst>
                              <p:cond delay="500"/>
                            </p:stCondLst>
                            <p:childTnLst>
                              <p:par>
                                <p:cTn id="26" presetID="12" presetClass="entr" presetSubtype="8" fill="hold" nodeType="after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slide(fromLeft)">
                                      <p:cBhvr>
                                        <p:cTn id="28" dur="5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blinds(horizontal)">
                                      <p:cBhvr>
                                        <p:cTn id="33" dur="500"/>
                                        <p:tgtEl>
                                          <p:spTgt spid="12"/>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blinds(horizontal)">
                                      <p:cBhvr>
                                        <p:cTn id="36" dur="500"/>
                                        <p:tgtEl>
                                          <p:spTgt spid="13"/>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blinds(horizontal)">
                                      <p:cBhvr>
                                        <p:cTn id="39" dur="500"/>
                                        <p:tgtEl>
                                          <p:spTgt spid="14"/>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blinds(horizontal)">
                                      <p:cBhvr>
                                        <p:cTn id="42" dur="500"/>
                                        <p:tgtEl>
                                          <p:spTgt spid="15"/>
                                        </p:tgtEl>
                                      </p:cBhvr>
                                    </p:animEffect>
                                  </p:childTnLst>
                                </p:cTn>
                              </p:par>
                              <p:par>
                                <p:cTn id="43" presetID="3" presetClass="entr" presetSubtype="10" fill="hold"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blinds(horizontal)">
                                      <p:cBhvr>
                                        <p:cTn id="45" dur="500"/>
                                        <p:tgtEl>
                                          <p:spTgt spid="22"/>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blinds(horizontal)">
                                      <p:cBhvr>
                                        <p:cTn id="48" dur="500"/>
                                        <p:tgtEl>
                                          <p:spTgt spid="24"/>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1" fill="hold" nodeType="click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slide(fromTop)">
                                      <p:cBhvr>
                                        <p:cTn id="53" dur="500"/>
                                        <p:tgtEl>
                                          <p:spTgt spid="26"/>
                                        </p:tgtEl>
                                      </p:cBhvr>
                                    </p:animEffect>
                                  </p:childTnLst>
                                </p:cTn>
                              </p:par>
                            </p:childTnLst>
                          </p:cTn>
                        </p:par>
                        <p:par>
                          <p:cTn id="54" fill="hold">
                            <p:stCondLst>
                              <p:cond delay="500"/>
                            </p:stCondLst>
                            <p:childTnLst>
                              <p:par>
                                <p:cTn id="55" presetID="3" presetClass="entr" presetSubtype="10" fill="hold" grpId="0" nodeType="after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blinds(horizontal)">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1" fill="hold" nodeType="click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slide(fromTop)">
                                      <p:cBhvr>
                                        <p:cTn id="62" dur="500"/>
                                        <p:tgtEl>
                                          <p:spTgt spid="29"/>
                                        </p:tgtEl>
                                      </p:cBhvr>
                                    </p:animEffect>
                                  </p:childTnLst>
                                </p:cTn>
                              </p:par>
                            </p:childTnLst>
                          </p:cTn>
                        </p:par>
                        <p:par>
                          <p:cTn id="63" fill="hold">
                            <p:stCondLst>
                              <p:cond delay="500"/>
                            </p:stCondLst>
                            <p:childTnLst>
                              <p:par>
                                <p:cTn id="64" presetID="3" presetClass="entr" presetSubtype="10" fill="hold" grpId="0"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blinds(horizontal)">
                                      <p:cBhvr>
                                        <p:cTn id="6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p:bldP spid="10" grpId="0" bldLvl="0" animBg="1"/>
      <p:bldP spid="11" grpId="0"/>
      <p:bldP spid="12" grpId="0" bldLvl="0" animBg="1"/>
      <p:bldP spid="13" grpId="0"/>
      <p:bldP spid="14" grpId="0" bldLvl="0" animBg="1"/>
      <p:bldP spid="15" grpId="0"/>
      <p:bldP spid="16" grpId="0"/>
      <p:bldP spid="17" grpId="0"/>
      <p:bldP spid="23" grpId="0"/>
      <p:bldP spid="2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489347"/>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函数调用的过程</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27650" name="Rectangle 3"/>
          <p:cNvSpPr txBox="1"/>
          <p:nvPr/>
        </p:nvSpPr>
        <p:spPr>
          <a:xfrm>
            <a:off x="1732360" y="1125141"/>
            <a:ext cx="5893594" cy="1875234"/>
          </a:xfrm>
          <a:prstGeom prst="rect">
            <a:avLst/>
          </a:prstGeom>
          <a:noFill/>
          <a:ln w="9525">
            <a:noFill/>
          </a:ln>
        </p:spPr>
        <p:txBody>
          <a:bodyPr anchor="t" anchorCtr="0"/>
          <a:lstStyle/>
          <a:p>
            <a:pPr>
              <a:lnSpc>
                <a:spcPct val="120000"/>
              </a:lnSpc>
              <a:buClrTx/>
              <a:buSzTx/>
              <a:buFont typeface="Wingdings" panose="05000000000000000000" pitchFamily="2" charset="2"/>
              <a:buChar char="Ø"/>
            </a:pPr>
            <a:r>
              <a:rPr lang="zh-CN" altLang="zh-CN" b="1" dirty="0">
                <a:latin typeface="Arial" panose="020B0604020202090204" pitchFamily="34" charset="0"/>
              </a:rPr>
              <a:t>调用结束，</a:t>
            </a:r>
            <a:r>
              <a:rPr lang="zh-CN" altLang="zh-CN" b="1" dirty="0">
                <a:solidFill>
                  <a:srgbClr val="FF0000"/>
                </a:solidFill>
                <a:latin typeface="Arial" panose="020B0604020202090204" pitchFamily="34" charset="0"/>
              </a:rPr>
              <a:t>形参单元被释放</a:t>
            </a:r>
            <a:endParaRPr lang="en-US" altLang="zh-CN" b="1" dirty="0">
              <a:solidFill>
                <a:srgbClr val="FF0000"/>
              </a:solidFill>
              <a:latin typeface="Arial" panose="020B0604020202090204" pitchFamily="34" charset="0"/>
            </a:endParaRPr>
          </a:p>
          <a:p>
            <a:pPr>
              <a:lnSpc>
                <a:spcPct val="120000"/>
              </a:lnSpc>
              <a:buClrTx/>
              <a:buSzTx/>
              <a:buFont typeface="Wingdings" panose="05000000000000000000" pitchFamily="2" charset="2"/>
              <a:buChar char="Ø"/>
            </a:pPr>
            <a:r>
              <a:rPr lang="zh-CN" altLang="zh-CN" b="1" dirty="0">
                <a:latin typeface="Arial" panose="020B0604020202090204" pitchFamily="34" charset="0"/>
              </a:rPr>
              <a:t>实参单元仍保留并维持原值，没有改变</a:t>
            </a:r>
            <a:endParaRPr lang="en-US" altLang="zh-CN" b="1" dirty="0">
              <a:latin typeface="Arial" panose="020B0604020202090204" pitchFamily="34" charset="0"/>
            </a:endParaRPr>
          </a:p>
          <a:p>
            <a:pPr>
              <a:lnSpc>
                <a:spcPct val="120000"/>
              </a:lnSpc>
              <a:buClrTx/>
              <a:buSzTx/>
              <a:buFont typeface="Wingdings" panose="05000000000000000000" pitchFamily="2" charset="2"/>
              <a:buChar char="Ø"/>
            </a:pPr>
            <a:r>
              <a:rPr lang="zh-CN" altLang="zh-CN" b="1" dirty="0">
                <a:latin typeface="Arial" panose="020B0604020202090204" pitchFamily="34" charset="0"/>
              </a:rPr>
              <a:t>如果在执行一个被调用函数时，形参的值发生改变，不会改变主调函数的实参的值</a:t>
            </a:r>
          </a:p>
        </p:txBody>
      </p:sp>
      <p:sp>
        <p:nvSpPr>
          <p:cNvPr id="27651" name="流程图: 过程 7"/>
          <p:cNvSpPr/>
          <p:nvPr/>
        </p:nvSpPr>
        <p:spPr>
          <a:xfrm>
            <a:off x="4196954" y="3214688"/>
            <a:ext cx="482203" cy="428625"/>
          </a:xfrm>
          <a:prstGeom prst="flowChartProcess">
            <a:avLst/>
          </a:prstGeom>
          <a:solidFill>
            <a:schemeClr val="accent1"/>
          </a:solidFill>
          <a:ln w="9525" cap="flat" cmpd="sng">
            <a:solidFill>
              <a:schemeClr val="tx1"/>
            </a:solidFill>
            <a:prstDash val="solid"/>
            <a:miter/>
            <a:headEnd type="none" w="med" len="med"/>
            <a:tailEnd type="none" w="med" len="med"/>
          </a:ln>
        </p:spPr>
        <p:txBody>
          <a:bodyPr wrap="none" anchor="t" anchorCtr="0"/>
          <a:lstStyle/>
          <a:p>
            <a:pPr algn="ctr">
              <a:buSzTx/>
            </a:pPr>
            <a:r>
              <a:rPr lang="en-US" altLang="zh-CN" sz="2400" b="1" dirty="0">
                <a:latin typeface="Arial" panose="020B0604020202090204" pitchFamily="34" charset="0"/>
              </a:rPr>
              <a:t>2</a:t>
            </a:r>
            <a:endParaRPr lang="zh-CN" altLang="en-US" sz="2400" b="1" dirty="0">
              <a:latin typeface="Arial" panose="020B0604020202090204" pitchFamily="34" charset="0"/>
            </a:endParaRPr>
          </a:p>
        </p:txBody>
      </p:sp>
      <p:sp>
        <p:nvSpPr>
          <p:cNvPr id="27652" name="TextBox 8"/>
          <p:cNvSpPr txBox="1"/>
          <p:nvPr/>
        </p:nvSpPr>
        <p:spPr>
          <a:xfrm>
            <a:off x="3875485" y="3205163"/>
            <a:ext cx="375047"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a</a:t>
            </a:r>
            <a:endParaRPr lang="zh-CN" altLang="en-US" sz="2400" b="1" dirty="0">
              <a:latin typeface="Arial" panose="020B0604020202090204" pitchFamily="34" charset="0"/>
            </a:endParaRPr>
          </a:p>
        </p:txBody>
      </p:sp>
      <p:sp>
        <p:nvSpPr>
          <p:cNvPr id="27653" name="流程图: 过程 9"/>
          <p:cNvSpPr/>
          <p:nvPr/>
        </p:nvSpPr>
        <p:spPr>
          <a:xfrm>
            <a:off x="5054204" y="3214688"/>
            <a:ext cx="482203" cy="428625"/>
          </a:xfrm>
          <a:prstGeom prst="flowChartProcess">
            <a:avLst/>
          </a:prstGeom>
          <a:solidFill>
            <a:schemeClr val="accent1"/>
          </a:solidFill>
          <a:ln w="9525" cap="flat" cmpd="sng">
            <a:solidFill>
              <a:schemeClr val="tx1"/>
            </a:solidFill>
            <a:prstDash val="solid"/>
            <a:miter/>
            <a:headEnd type="none" w="med" len="med"/>
            <a:tailEnd type="none" w="med" len="med"/>
          </a:ln>
        </p:spPr>
        <p:txBody>
          <a:bodyPr wrap="none" anchor="t" anchorCtr="0"/>
          <a:lstStyle/>
          <a:p>
            <a:pPr algn="ctr">
              <a:buSzTx/>
            </a:pPr>
            <a:r>
              <a:rPr lang="en-US" altLang="zh-CN" sz="2400" b="1" dirty="0">
                <a:latin typeface="Arial" panose="020B0604020202090204" pitchFamily="34" charset="0"/>
              </a:rPr>
              <a:t>3</a:t>
            </a:r>
            <a:endParaRPr lang="zh-CN" altLang="en-US" sz="2400" b="1" dirty="0">
              <a:latin typeface="Arial" panose="020B0604020202090204" pitchFamily="34" charset="0"/>
            </a:endParaRPr>
          </a:p>
        </p:txBody>
      </p:sp>
      <p:sp>
        <p:nvSpPr>
          <p:cNvPr id="27654" name="TextBox 10"/>
          <p:cNvSpPr txBox="1"/>
          <p:nvPr/>
        </p:nvSpPr>
        <p:spPr>
          <a:xfrm>
            <a:off x="5589985" y="3214688"/>
            <a:ext cx="375047"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b</a:t>
            </a:r>
            <a:endParaRPr lang="zh-CN" altLang="en-US" sz="2400" b="1" dirty="0">
              <a:latin typeface="Arial" panose="020B0604020202090204" pitchFamily="34" charset="0"/>
            </a:endParaRPr>
          </a:p>
        </p:txBody>
      </p:sp>
      <p:sp>
        <p:nvSpPr>
          <p:cNvPr id="27655" name="流程图: 过程 11"/>
          <p:cNvSpPr/>
          <p:nvPr/>
        </p:nvSpPr>
        <p:spPr>
          <a:xfrm>
            <a:off x="4196954" y="4018360"/>
            <a:ext cx="482203" cy="428625"/>
          </a:xfrm>
          <a:prstGeom prst="flowChartProcess">
            <a:avLst/>
          </a:prstGeom>
          <a:solidFill>
            <a:schemeClr val="accent1"/>
          </a:solidFill>
          <a:ln w="9525" cap="flat" cmpd="sng">
            <a:solidFill>
              <a:schemeClr val="tx1"/>
            </a:solidFill>
            <a:prstDash val="solid"/>
            <a:miter/>
            <a:headEnd type="none" w="med" len="med"/>
            <a:tailEnd type="none" w="med" len="med"/>
          </a:ln>
        </p:spPr>
        <p:txBody>
          <a:bodyPr wrap="none" anchor="t" anchorCtr="0"/>
          <a:lstStyle/>
          <a:p>
            <a:pPr algn="ctr">
              <a:buSzTx/>
            </a:pPr>
            <a:endParaRPr lang="zh-CN" altLang="en-US" sz="2400" b="1" dirty="0">
              <a:latin typeface="Arial" panose="020B0604020202090204" pitchFamily="34" charset="0"/>
            </a:endParaRPr>
          </a:p>
        </p:txBody>
      </p:sp>
      <p:sp>
        <p:nvSpPr>
          <p:cNvPr id="27656" name="TextBox 12"/>
          <p:cNvSpPr txBox="1"/>
          <p:nvPr/>
        </p:nvSpPr>
        <p:spPr>
          <a:xfrm>
            <a:off x="3875485" y="4008835"/>
            <a:ext cx="375047"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x</a:t>
            </a:r>
            <a:endParaRPr lang="zh-CN" altLang="en-US" sz="2400" b="1" dirty="0">
              <a:latin typeface="Arial" panose="020B0604020202090204" pitchFamily="34" charset="0"/>
            </a:endParaRPr>
          </a:p>
        </p:txBody>
      </p:sp>
      <p:sp>
        <p:nvSpPr>
          <p:cNvPr id="27657" name="流程图: 过程 13"/>
          <p:cNvSpPr/>
          <p:nvPr/>
        </p:nvSpPr>
        <p:spPr>
          <a:xfrm>
            <a:off x="5054204" y="4018360"/>
            <a:ext cx="482203" cy="428625"/>
          </a:xfrm>
          <a:prstGeom prst="flowChartProcess">
            <a:avLst/>
          </a:prstGeom>
          <a:solidFill>
            <a:schemeClr val="accent1"/>
          </a:solidFill>
          <a:ln w="9525" cap="flat" cmpd="sng">
            <a:solidFill>
              <a:schemeClr val="tx1"/>
            </a:solidFill>
            <a:prstDash val="solid"/>
            <a:miter/>
            <a:headEnd type="none" w="med" len="med"/>
            <a:tailEnd type="none" w="med" len="med"/>
          </a:ln>
        </p:spPr>
        <p:txBody>
          <a:bodyPr wrap="none" anchor="t" anchorCtr="0"/>
          <a:lstStyle/>
          <a:p>
            <a:pPr algn="ctr">
              <a:buSzTx/>
            </a:pPr>
            <a:endParaRPr lang="zh-CN" altLang="en-US" sz="2400" b="1" dirty="0">
              <a:latin typeface="Arial" panose="020B0604020202090204" pitchFamily="34" charset="0"/>
            </a:endParaRPr>
          </a:p>
        </p:txBody>
      </p:sp>
      <p:sp>
        <p:nvSpPr>
          <p:cNvPr id="27658" name="TextBox 14"/>
          <p:cNvSpPr txBox="1"/>
          <p:nvPr/>
        </p:nvSpPr>
        <p:spPr>
          <a:xfrm>
            <a:off x="5589985" y="4018360"/>
            <a:ext cx="375047"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y</a:t>
            </a:r>
            <a:endParaRPr lang="zh-CN" altLang="en-US" sz="2400" b="1" dirty="0">
              <a:latin typeface="Arial" panose="020B0604020202090204" pitchFamily="34" charset="0"/>
            </a:endParaRPr>
          </a:p>
        </p:txBody>
      </p:sp>
      <p:sp>
        <p:nvSpPr>
          <p:cNvPr id="27659" name="流程图: 过程 15"/>
          <p:cNvSpPr/>
          <p:nvPr/>
        </p:nvSpPr>
        <p:spPr>
          <a:xfrm>
            <a:off x="4250531" y="4018360"/>
            <a:ext cx="375047" cy="375047"/>
          </a:xfrm>
          <a:prstGeom prst="flowChartProcess">
            <a:avLst/>
          </a:prstGeom>
          <a:noFill/>
          <a:ln w="9525">
            <a:noFill/>
          </a:ln>
        </p:spPr>
        <p:txBody>
          <a:bodyPr wrap="none" anchor="t" anchorCtr="0"/>
          <a:lstStyle/>
          <a:p>
            <a:pPr algn="ctr">
              <a:buSzTx/>
            </a:pPr>
            <a:r>
              <a:rPr lang="en-US" altLang="zh-CN" sz="2400" b="1" dirty="0">
                <a:solidFill>
                  <a:srgbClr val="FF0000"/>
                </a:solidFill>
                <a:latin typeface="Arial" panose="020B0604020202090204" pitchFamily="34" charset="0"/>
              </a:rPr>
              <a:t>2</a:t>
            </a:r>
            <a:endParaRPr lang="zh-CN" altLang="en-US" sz="2400" b="1" dirty="0">
              <a:solidFill>
                <a:srgbClr val="FF0000"/>
              </a:solidFill>
              <a:latin typeface="Arial" panose="020B0604020202090204" pitchFamily="34" charset="0"/>
            </a:endParaRPr>
          </a:p>
        </p:txBody>
      </p:sp>
      <p:sp>
        <p:nvSpPr>
          <p:cNvPr id="27660" name="流程图: 过程 16"/>
          <p:cNvSpPr/>
          <p:nvPr/>
        </p:nvSpPr>
        <p:spPr>
          <a:xfrm>
            <a:off x="5107781" y="4018360"/>
            <a:ext cx="375047" cy="375047"/>
          </a:xfrm>
          <a:prstGeom prst="flowChartProcess">
            <a:avLst/>
          </a:prstGeom>
          <a:noFill/>
          <a:ln w="9525">
            <a:noFill/>
          </a:ln>
        </p:spPr>
        <p:txBody>
          <a:bodyPr wrap="none" anchor="t" anchorCtr="0"/>
          <a:lstStyle/>
          <a:p>
            <a:pPr algn="ctr">
              <a:buSzTx/>
            </a:pPr>
            <a:r>
              <a:rPr lang="en-US" altLang="zh-CN" sz="2400" b="1" dirty="0">
                <a:solidFill>
                  <a:srgbClr val="FF0000"/>
                </a:solidFill>
                <a:latin typeface="Arial" panose="020B0604020202090204" pitchFamily="34" charset="0"/>
              </a:rPr>
              <a:t>3</a:t>
            </a:r>
            <a:endParaRPr lang="zh-CN" altLang="en-US" sz="2400" b="1" dirty="0">
              <a:solidFill>
                <a:srgbClr val="FF0000"/>
              </a:solidFill>
              <a:latin typeface="Arial" panose="020B0604020202090204" pitchFamily="34" charset="0"/>
            </a:endParaRPr>
          </a:p>
        </p:txBody>
      </p:sp>
      <p:cxnSp>
        <p:nvCxnSpPr>
          <p:cNvPr id="27661" name="直接连接符 21"/>
          <p:cNvCxnSpPr/>
          <p:nvPr/>
        </p:nvCxnSpPr>
        <p:spPr>
          <a:xfrm>
            <a:off x="2803922" y="3804047"/>
            <a:ext cx="3161109" cy="0"/>
          </a:xfrm>
          <a:prstGeom prst="line">
            <a:avLst/>
          </a:prstGeom>
          <a:ln w="38100" cap="flat" cmpd="sng">
            <a:solidFill>
              <a:srgbClr val="0000CC"/>
            </a:solidFill>
            <a:prstDash val="solid"/>
            <a:miter/>
            <a:headEnd type="none" w="med" len="med"/>
            <a:tailEnd type="none" w="med" len="med"/>
          </a:ln>
        </p:spPr>
      </p:cxnSp>
      <p:sp>
        <p:nvSpPr>
          <p:cNvPr id="27662" name="TextBox 22"/>
          <p:cNvSpPr txBox="1"/>
          <p:nvPr/>
        </p:nvSpPr>
        <p:spPr>
          <a:xfrm>
            <a:off x="2803922" y="3214688"/>
            <a:ext cx="857250" cy="460375"/>
          </a:xfrm>
          <a:prstGeom prst="rect">
            <a:avLst/>
          </a:prstGeom>
          <a:noFill/>
          <a:ln w="9525">
            <a:noFill/>
          </a:ln>
        </p:spPr>
        <p:txBody>
          <a:bodyPr anchor="t" anchorCtr="0">
            <a:spAutoFit/>
          </a:bodyPr>
          <a:lstStyle/>
          <a:p>
            <a:pPr>
              <a:buSzTx/>
            </a:pPr>
            <a:r>
              <a:rPr lang="zh-CN" altLang="en-US" sz="2400" b="1" dirty="0">
                <a:latin typeface="Arial" panose="020B0604020202090204" pitchFamily="34" charset="0"/>
              </a:rPr>
              <a:t>实参</a:t>
            </a:r>
          </a:p>
        </p:txBody>
      </p:sp>
      <p:sp>
        <p:nvSpPr>
          <p:cNvPr id="27663" name="TextBox 23"/>
          <p:cNvSpPr txBox="1"/>
          <p:nvPr/>
        </p:nvSpPr>
        <p:spPr>
          <a:xfrm>
            <a:off x="2750344" y="3964781"/>
            <a:ext cx="857250" cy="460375"/>
          </a:xfrm>
          <a:prstGeom prst="rect">
            <a:avLst/>
          </a:prstGeom>
          <a:noFill/>
          <a:ln w="9525">
            <a:noFill/>
          </a:ln>
        </p:spPr>
        <p:txBody>
          <a:bodyPr anchor="t" anchorCtr="0">
            <a:spAutoFit/>
          </a:bodyPr>
          <a:lstStyle/>
          <a:p>
            <a:pPr>
              <a:buSzTx/>
            </a:pPr>
            <a:r>
              <a:rPr lang="zh-CN" altLang="en-US" sz="2400" b="1" dirty="0">
                <a:latin typeface="Arial" panose="020B0604020202090204" pitchFamily="34" charset="0"/>
              </a:rPr>
              <a:t>形参</a:t>
            </a:r>
          </a:p>
        </p:txBody>
      </p:sp>
      <p:cxnSp>
        <p:nvCxnSpPr>
          <p:cNvPr id="27664" name="直接箭头连接符 55"/>
          <p:cNvCxnSpPr>
            <a:stCxn id="27651" idx="2"/>
            <a:endCxn id="27655" idx="0"/>
          </p:cNvCxnSpPr>
          <p:nvPr/>
        </p:nvCxnSpPr>
        <p:spPr>
          <a:xfrm rot="5400000">
            <a:off x="4250531" y="3831431"/>
            <a:ext cx="375047" cy="1191"/>
          </a:xfrm>
          <a:prstGeom prst="straightConnector1">
            <a:avLst/>
          </a:prstGeom>
          <a:ln w="38100" cap="flat" cmpd="sng">
            <a:solidFill>
              <a:srgbClr val="FF0000"/>
            </a:solidFill>
            <a:prstDash val="solid"/>
            <a:miter/>
            <a:headEnd type="none" w="med" len="med"/>
            <a:tailEnd type="arrow" w="med" len="med"/>
          </a:ln>
        </p:spPr>
      </p:cxnSp>
      <p:cxnSp>
        <p:nvCxnSpPr>
          <p:cNvPr id="27665" name="直接箭头连接符 55"/>
          <p:cNvCxnSpPr>
            <a:stCxn id="27651" idx="2"/>
            <a:endCxn id="27655" idx="0"/>
          </p:cNvCxnSpPr>
          <p:nvPr/>
        </p:nvCxnSpPr>
        <p:spPr>
          <a:xfrm rot="5400000">
            <a:off x="5135166" y="3830241"/>
            <a:ext cx="375047" cy="1190"/>
          </a:xfrm>
          <a:prstGeom prst="straightConnector1">
            <a:avLst/>
          </a:prstGeom>
          <a:ln w="38100" cap="flat" cmpd="sng">
            <a:solidFill>
              <a:srgbClr val="FF0000"/>
            </a:solidFill>
            <a:prstDash val="solid"/>
            <a:miter/>
            <a:headEnd type="none" w="med" len="med"/>
            <a:tailEnd type="arrow" w="med" len="med"/>
          </a:ln>
        </p:spPr>
      </p:cxn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489347"/>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函数的返回值</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28674" name="Rectangle 3"/>
          <p:cNvSpPr txBox="1"/>
          <p:nvPr/>
        </p:nvSpPr>
        <p:spPr>
          <a:xfrm>
            <a:off x="1732360" y="1125141"/>
            <a:ext cx="5893594" cy="3375422"/>
          </a:xfrm>
          <a:prstGeom prst="rect">
            <a:avLst/>
          </a:prstGeom>
          <a:noFill/>
          <a:ln w="9525">
            <a:noFill/>
          </a:ln>
        </p:spPr>
        <p:txBody>
          <a:bodyPr anchor="t" anchorCtr="0"/>
          <a:lstStyle/>
          <a:p>
            <a:pPr>
              <a:lnSpc>
                <a:spcPct val="120000"/>
              </a:lnSpc>
              <a:buFont typeface="Wingdings" panose="05000000000000000000" pitchFamily="2" charset="2"/>
              <a:buChar char="Ø"/>
            </a:pPr>
            <a:r>
              <a:rPr lang="zh-CN" altLang="zh-CN" dirty="0">
                <a:latin typeface="Arial" panose="020B0604020202090204" pitchFamily="34" charset="0"/>
              </a:rPr>
              <a:t>通常，希望通过函数调用使主调函数能得到一个确定的值，这就是函数值</a:t>
            </a:r>
            <a:r>
              <a:rPr lang="en-US" altLang="zh-CN" dirty="0">
                <a:latin typeface="Arial" panose="020B0604020202090204" pitchFamily="34" charset="0"/>
              </a:rPr>
              <a:t>(</a:t>
            </a:r>
            <a:r>
              <a:rPr lang="zh-CN" altLang="zh-CN" dirty="0">
                <a:latin typeface="Arial" panose="020B0604020202090204" pitchFamily="34" charset="0"/>
              </a:rPr>
              <a:t>函数的返回值</a:t>
            </a:r>
            <a:r>
              <a:rPr lang="en-US" altLang="zh-CN" dirty="0">
                <a:latin typeface="Arial" panose="020B0604020202090204" pitchFamily="34" charset="0"/>
              </a:rPr>
              <a:t>)</a:t>
            </a:r>
          </a:p>
          <a:p>
            <a:pPr>
              <a:lnSpc>
                <a:spcPct val="120000"/>
              </a:lnSpc>
              <a:buFont typeface="Wingdings" panose="05000000000000000000" pitchFamily="2" charset="2"/>
              <a:buChar char="Ø"/>
            </a:pPr>
            <a:r>
              <a:rPr lang="zh-CN" altLang="zh-CN" dirty="0">
                <a:latin typeface="Arial" panose="020B0604020202090204" pitchFamily="34" charset="0"/>
              </a:rPr>
              <a:t>函数的返回值是通过函数中的</a:t>
            </a:r>
            <a:r>
              <a:rPr lang="en-US" altLang="zh-CN" dirty="0">
                <a:latin typeface="Arial" panose="020B0604020202090204" pitchFamily="34" charset="0"/>
              </a:rPr>
              <a:t>return</a:t>
            </a:r>
            <a:r>
              <a:rPr lang="zh-CN" altLang="zh-CN" dirty="0">
                <a:latin typeface="Arial" panose="020B0604020202090204" pitchFamily="34" charset="0"/>
              </a:rPr>
              <a:t>语句获得的。</a:t>
            </a:r>
          </a:p>
          <a:p>
            <a:pPr>
              <a:lnSpc>
                <a:spcPct val="120000"/>
              </a:lnSpc>
              <a:buFont typeface="Wingdings" panose="05000000000000000000" pitchFamily="2" charset="2"/>
              <a:buChar char="Ø"/>
            </a:pPr>
            <a:endParaRPr lang="zh-CN" altLang="zh-CN" b="1" dirty="0">
              <a:latin typeface="Arial" panose="020B0604020202090204" pitchFamily="34" charset="0"/>
            </a:endParaRPr>
          </a:p>
          <a:p>
            <a:pPr>
              <a:lnSpc>
                <a:spcPct val="120000"/>
              </a:lnSpc>
              <a:buSzTx/>
            </a:pPr>
            <a:r>
              <a:rPr lang="zh-CN" altLang="zh-CN" dirty="0">
                <a:latin typeface="Arial" panose="020B0604020202090204" pitchFamily="34" charset="0"/>
              </a:rPr>
              <a:t>例</a:t>
            </a:r>
            <a:r>
              <a:rPr lang="en-US" altLang="zh-CN" dirty="0">
                <a:latin typeface="Arial" panose="020B0604020202090204" pitchFamily="34" charset="0"/>
              </a:rPr>
              <a:t>5.3</a:t>
            </a:r>
            <a:r>
              <a:rPr lang="zh-CN" altLang="zh-CN" dirty="0">
                <a:latin typeface="Arial" panose="020B0604020202090204" pitchFamily="34" charset="0"/>
              </a:rPr>
              <a:t>将例</a:t>
            </a:r>
            <a:r>
              <a:rPr lang="en-US" altLang="zh-CN" dirty="0">
                <a:latin typeface="Arial" panose="020B0604020202090204" pitchFamily="34" charset="0"/>
              </a:rPr>
              <a:t>5.2</a:t>
            </a:r>
            <a:r>
              <a:rPr lang="zh-CN" altLang="zh-CN" dirty="0">
                <a:latin typeface="Arial" panose="020B0604020202090204" pitchFamily="34" charset="0"/>
              </a:rPr>
              <a:t>稍作改动，将在</a:t>
            </a:r>
            <a:r>
              <a:rPr lang="en-US" altLang="zh-CN" dirty="0">
                <a:latin typeface="Arial" panose="020B0604020202090204" pitchFamily="34" charset="0"/>
              </a:rPr>
              <a:t>max</a:t>
            </a:r>
            <a:r>
              <a:rPr lang="zh-CN" altLang="zh-CN" dirty="0">
                <a:latin typeface="Arial" panose="020B0604020202090204" pitchFamily="34" charset="0"/>
              </a:rPr>
              <a:t>函数中定义的变量</a:t>
            </a:r>
            <a:r>
              <a:rPr lang="en-US" altLang="zh-CN" dirty="0">
                <a:latin typeface="Arial" panose="020B0604020202090204" pitchFamily="34" charset="0"/>
              </a:rPr>
              <a:t>z</a:t>
            </a:r>
            <a:r>
              <a:rPr lang="zh-CN" altLang="zh-CN" dirty="0">
                <a:latin typeface="Arial" panose="020B0604020202090204" pitchFamily="34" charset="0"/>
              </a:rPr>
              <a:t>改为</a:t>
            </a:r>
            <a:r>
              <a:rPr lang="en-US" altLang="zh-CN" dirty="0">
                <a:latin typeface="Arial" panose="020B0604020202090204" pitchFamily="34" charset="0"/>
              </a:rPr>
              <a:t>float</a:t>
            </a:r>
            <a:r>
              <a:rPr lang="zh-CN" altLang="zh-CN" dirty="0">
                <a:latin typeface="Arial" panose="020B0604020202090204" pitchFamily="34" charset="0"/>
              </a:rPr>
              <a:t>型。函数返回值的类型与指定的函数类型不同，分析其处理方法。</a:t>
            </a:r>
            <a:endParaRPr lang="en-US" altLang="zh-CN" dirty="0">
              <a:latin typeface="Arial" panose="020B0604020202090204" pitchFamily="34" charset="0"/>
            </a:endParaRPr>
          </a:p>
          <a:p>
            <a:pPr>
              <a:lnSpc>
                <a:spcPct val="120000"/>
              </a:lnSpc>
              <a:buSzTx/>
            </a:pPr>
            <a:r>
              <a:rPr lang="zh-CN" altLang="zh-CN" dirty="0">
                <a:latin typeface="Arial" panose="020B0604020202090204" pitchFamily="34" charset="0"/>
              </a:rPr>
              <a:t>思路：如果函数返回值的类型与指定的函数类型不同，按照赋值规则处理。</a:t>
            </a:r>
          </a:p>
          <a:p>
            <a:pPr>
              <a:lnSpc>
                <a:spcPct val="120000"/>
              </a:lnSpc>
              <a:buFont typeface="Wingdings" panose="05000000000000000000" pitchFamily="2" charset="2"/>
              <a:buChar char="Ø"/>
            </a:pPr>
            <a:endParaRPr lang="zh-CN" altLang="zh-CN" dirty="0">
              <a:latin typeface="Arial" panose="020B0604020202090204" pitchFamily="34" charset="0"/>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p:cNvPicPr>
            <a:picLocks noChangeAspect="1"/>
          </p:cNvPicPr>
          <p:nvPr/>
        </p:nvPicPr>
        <p:blipFill>
          <a:blip r:embed="rId3"/>
          <a:stretch>
            <a:fillRect/>
          </a:stretch>
        </p:blipFill>
        <p:spPr>
          <a:xfrm>
            <a:off x="6066235" y="1671638"/>
            <a:ext cx="1360884" cy="310754"/>
          </a:xfrm>
          <a:prstGeom prst="rect">
            <a:avLst/>
          </a:prstGeom>
          <a:noFill/>
          <a:ln w="9525">
            <a:noFill/>
          </a:ln>
        </p:spPr>
      </p:pic>
      <p:cxnSp>
        <p:nvCxnSpPr>
          <p:cNvPr id="7" name="直接连接符 6"/>
          <p:cNvCxnSpPr/>
          <p:nvPr/>
        </p:nvCxnSpPr>
        <p:spPr>
          <a:xfrm>
            <a:off x="1225233" y="2282429"/>
            <a:ext cx="1115616" cy="19050"/>
          </a:xfrm>
          <a:prstGeom prst="line">
            <a:avLst/>
          </a:prstGeom>
          <a:ln w="38100" cap="flat" cmpd="sng">
            <a:solidFill>
              <a:srgbClr val="0000CC"/>
            </a:solidFill>
            <a:prstDash val="solid"/>
            <a:miter/>
            <a:headEnd type="none" w="med" len="med"/>
            <a:tailEnd type="none" w="med" len="med"/>
          </a:ln>
        </p:spPr>
      </p:cxnSp>
      <p:grpSp>
        <p:nvGrpSpPr>
          <p:cNvPr id="3" name="组合 2"/>
          <p:cNvGrpSpPr/>
          <p:nvPr/>
        </p:nvGrpSpPr>
        <p:grpSpPr>
          <a:xfrm>
            <a:off x="700405" y="158115"/>
            <a:ext cx="7672070" cy="5052695"/>
            <a:chOff x="1103" y="249"/>
            <a:chExt cx="12082" cy="7957"/>
          </a:xfrm>
        </p:grpSpPr>
        <p:sp>
          <p:nvSpPr>
            <p:cNvPr id="29697" name="Rectangle 3"/>
            <p:cNvSpPr txBox="1"/>
            <p:nvPr/>
          </p:nvSpPr>
          <p:spPr>
            <a:xfrm>
              <a:off x="1103" y="249"/>
              <a:ext cx="12083" cy="7377"/>
            </a:xfrm>
            <a:prstGeom prst="rect">
              <a:avLst/>
            </a:prstGeom>
            <a:solidFill>
              <a:schemeClr val="bg1"/>
            </a:solidFill>
            <a:ln w="9525">
              <a:noFill/>
            </a:ln>
          </p:spPr>
          <p:txBody>
            <a:bodyPr anchor="t" anchorCtr="0"/>
            <a:lstStyle/>
            <a:p>
              <a:pPr indent="0" fontAlgn="auto">
                <a:lnSpc>
                  <a:spcPts val="2800"/>
                </a:lnSpc>
                <a:buSzTx/>
              </a:pPr>
              <a:r>
                <a:rPr lang="en-US" altLang="zh-CN" sz="2000" b="1" dirty="0">
                  <a:latin typeface="Arial" panose="020B0604020202090204" pitchFamily="34" charset="0"/>
                </a:rPr>
                <a:t>#include &lt;</a:t>
              </a:r>
              <a:r>
                <a:rPr lang="en-US" altLang="zh-CN" sz="2000" b="1" dirty="0" err="1">
                  <a:latin typeface="Arial" panose="020B0604020202090204" pitchFamily="34" charset="0"/>
                </a:rPr>
                <a:t>stdio.h</a:t>
              </a:r>
              <a:r>
                <a:rPr lang="en-US" altLang="zh-CN" sz="2000" b="1" dirty="0">
                  <a:latin typeface="Arial" panose="020B0604020202090204" pitchFamily="34" charset="0"/>
                </a:rPr>
                <a:t>&gt;</a:t>
              </a:r>
              <a:endParaRPr lang="zh-CN" altLang="zh-CN" sz="2000" b="1" dirty="0">
                <a:latin typeface="Arial" panose="020B0604020202090204" pitchFamily="34" charset="0"/>
              </a:endParaRPr>
            </a:p>
            <a:p>
              <a:pPr indent="0" fontAlgn="auto">
                <a:lnSpc>
                  <a:spcPts val="2800"/>
                </a:lnSpc>
                <a:buSzTx/>
              </a:pPr>
              <a:r>
                <a:rPr lang="en-US" altLang="zh-CN" sz="2000" b="1" dirty="0" err="1">
                  <a:latin typeface="Arial" panose="020B0604020202090204" pitchFamily="34" charset="0"/>
                </a:rPr>
                <a:t>int</a:t>
              </a:r>
              <a:r>
                <a:rPr lang="en-US" altLang="zh-CN" sz="2000" b="1" dirty="0">
                  <a:latin typeface="Arial" panose="020B0604020202090204" pitchFamily="34" charset="0"/>
                </a:rPr>
                <a:t> main()</a:t>
              </a:r>
              <a:endParaRPr lang="zh-CN" altLang="zh-CN" sz="2000" b="1" dirty="0">
                <a:latin typeface="Arial" panose="020B0604020202090204" pitchFamily="34" charset="0"/>
              </a:endParaRPr>
            </a:p>
            <a:p>
              <a:pPr indent="0" fontAlgn="auto">
                <a:lnSpc>
                  <a:spcPts val="2800"/>
                </a:lnSpc>
                <a:buSzTx/>
              </a:pPr>
              <a:r>
                <a:rPr lang="en-US" altLang="zh-CN" sz="2000" b="1" dirty="0">
                  <a:latin typeface="Arial" panose="020B0604020202090204" pitchFamily="34" charset="0"/>
                </a:rPr>
                <a:t> { </a:t>
              </a:r>
              <a:r>
                <a:rPr lang="en-US" altLang="zh-CN" sz="2000" b="1" dirty="0" err="1">
                  <a:latin typeface="Arial" panose="020B0604020202090204" pitchFamily="34" charset="0"/>
                </a:rPr>
                <a:t>int</a:t>
              </a:r>
              <a:r>
                <a:rPr lang="en-US" altLang="zh-CN" sz="2000" b="1" dirty="0">
                  <a:latin typeface="Arial" panose="020B0604020202090204" pitchFamily="34" charset="0"/>
                </a:rPr>
                <a:t> max(float </a:t>
              </a:r>
              <a:r>
                <a:rPr lang="en-US" altLang="zh-CN" sz="2000" b="1" dirty="0" err="1">
                  <a:latin typeface="Arial" panose="020B0604020202090204" pitchFamily="34" charset="0"/>
                </a:rPr>
                <a:t>x,float</a:t>
              </a:r>
              <a:r>
                <a:rPr lang="en-US" altLang="zh-CN" sz="2000" b="1" dirty="0">
                  <a:latin typeface="Arial" panose="020B0604020202090204" pitchFamily="34" charset="0"/>
                </a:rPr>
                <a:t> y);</a:t>
              </a:r>
              <a:endParaRPr lang="zh-CN" altLang="zh-CN" sz="2000" b="1" dirty="0">
                <a:latin typeface="Arial" panose="020B0604020202090204" pitchFamily="34" charset="0"/>
              </a:endParaRPr>
            </a:p>
            <a:p>
              <a:pPr indent="0" fontAlgn="auto">
                <a:lnSpc>
                  <a:spcPts val="2800"/>
                </a:lnSpc>
                <a:buSzTx/>
              </a:pPr>
              <a:r>
                <a:rPr lang="en-US" altLang="zh-CN" sz="2000" b="1" dirty="0">
                  <a:latin typeface="Arial" panose="020B0604020202090204" pitchFamily="34" charset="0"/>
                </a:rPr>
                <a:t>    float </a:t>
              </a:r>
              <a:r>
                <a:rPr lang="en-US" altLang="zh-CN" sz="2000" b="1" dirty="0" err="1">
                  <a:latin typeface="Arial" panose="020B0604020202090204" pitchFamily="34" charset="0"/>
                </a:rPr>
                <a:t>a,b</a:t>
              </a:r>
              <a:r>
                <a:rPr lang="en-US" altLang="zh-CN" sz="2000" b="1" dirty="0">
                  <a:latin typeface="Arial" panose="020B0604020202090204" pitchFamily="34" charset="0"/>
                </a:rPr>
                <a:t>;  </a:t>
              </a:r>
              <a:r>
                <a:rPr lang="en-US" altLang="zh-CN" sz="2000" b="1" dirty="0" err="1">
                  <a:latin typeface="Arial" panose="020B0604020202090204" pitchFamily="34" charset="0"/>
                </a:rPr>
                <a:t>int</a:t>
              </a:r>
              <a:r>
                <a:rPr lang="en-US" altLang="zh-CN" sz="2000" b="1" dirty="0">
                  <a:latin typeface="Arial" panose="020B0604020202090204" pitchFamily="34" charset="0"/>
                </a:rPr>
                <a:t> c;</a:t>
              </a:r>
              <a:endParaRPr lang="zh-CN" altLang="zh-CN" sz="2000" b="1" dirty="0">
                <a:latin typeface="Arial" panose="020B0604020202090204" pitchFamily="34" charset="0"/>
              </a:endParaRPr>
            </a:p>
            <a:p>
              <a:pPr indent="0" fontAlgn="auto">
                <a:lnSpc>
                  <a:spcPts val="2800"/>
                </a:lnSpc>
                <a:buSzTx/>
              </a:pPr>
              <a:r>
                <a:rPr lang="en-US" altLang="zh-CN" sz="2000" b="1" dirty="0">
                  <a:latin typeface="Arial" panose="020B0604020202090204" pitchFamily="34" charset="0"/>
                </a:rPr>
                <a:t>    </a:t>
              </a:r>
              <a:r>
                <a:rPr lang="en-US" altLang="zh-CN" sz="2000" b="1" dirty="0" err="1">
                  <a:latin typeface="Arial" panose="020B0604020202090204" pitchFamily="34" charset="0"/>
                </a:rPr>
                <a:t>scanf</a:t>
              </a:r>
              <a:r>
                <a:rPr lang="en-US" altLang="zh-CN" sz="2000" b="1" dirty="0">
                  <a:latin typeface="Arial" panose="020B0604020202090204" pitchFamily="34" charset="0"/>
                </a:rPr>
                <a:t>("%</a:t>
              </a:r>
              <a:r>
                <a:rPr lang="en-US" altLang="zh-CN" sz="2000" b="1" dirty="0" err="1">
                  <a:latin typeface="Arial" panose="020B0604020202090204" pitchFamily="34" charset="0"/>
                </a:rPr>
                <a:t>f,%f,",&amp;a,&amp;b</a:t>
              </a:r>
              <a:r>
                <a:rPr lang="en-US" altLang="zh-CN" sz="2000" b="1" dirty="0">
                  <a:latin typeface="Arial" panose="020B0604020202090204" pitchFamily="34" charset="0"/>
                </a:rPr>
                <a:t>);</a:t>
              </a:r>
              <a:endParaRPr lang="zh-CN" altLang="zh-CN" sz="2000" b="1" dirty="0">
                <a:latin typeface="Arial" panose="020B0604020202090204" pitchFamily="34" charset="0"/>
              </a:endParaRPr>
            </a:p>
            <a:p>
              <a:pPr indent="0" fontAlgn="auto">
                <a:lnSpc>
                  <a:spcPts val="2800"/>
                </a:lnSpc>
                <a:buSzTx/>
              </a:pPr>
              <a:r>
                <a:rPr lang="en-US" altLang="zh-CN" sz="2000" b="1" dirty="0">
                  <a:latin typeface="Arial" panose="020B0604020202090204" pitchFamily="34" charset="0"/>
                </a:rPr>
                <a:t>    c=max(</a:t>
              </a:r>
              <a:r>
                <a:rPr lang="en-US" altLang="zh-CN" sz="2000" b="1" dirty="0" err="1">
                  <a:latin typeface="Arial" panose="020B0604020202090204" pitchFamily="34" charset="0"/>
                </a:rPr>
                <a:t>a,b</a:t>
              </a:r>
              <a:r>
                <a:rPr lang="en-US" altLang="zh-CN" sz="2000" b="1" dirty="0">
                  <a:latin typeface="Arial" panose="020B0604020202090204" pitchFamily="34" charset="0"/>
                </a:rPr>
                <a:t>);</a:t>
              </a:r>
              <a:endParaRPr lang="zh-CN" altLang="zh-CN" sz="2000" b="1" dirty="0">
                <a:latin typeface="Arial" panose="020B0604020202090204" pitchFamily="34" charset="0"/>
              </a:endParaRPr>
            </a:p>
            <a:p>
              <a:pPr indent="0" fontAlgn="auto">
                <a:lnSpc>
                  <a:spcPts val="2800"/>
                </a:lnSpc>
                <a:buSzTx/>
              </a:pPr>
              <a:r>
                <a:rPr lang="en-US" altLang="zh-CN" sz="2000" b="1" dirty="0">
                  <a:latin typeface="Arial" panose="020B0604020202090204" pitchFamily="34" charset="0"/>
                </a:rPr>
                <a:t>    </a:t>
              </a:r>
              <a:r>
                <a:rPr lang="en-US" altLang="zh-CN" sz="2000" b="1" dirty="0" err="1">
                  <a:latin typeface="Arial" panose="020B0604020202090204" pitchFamily="34" charset="0"/>
                </a:rPr>
                <a:t>printf</a:t>
              </a:r>
              <a:r>
                <a:rPr lang="en-US" altLang="zh-CN" sz="2000" b="1" dirty="0">
                  <a:latin typeface="Arial" panose="020B0604020202090204" pitchFamily="34" charset="0"/>
                </a:rPr>
                <a:t>("max is %d\</a:t>
              </a:r>
              <a:r>
                <a:rPr lang="en-US" altLang="zh-CN" sz="2000" b="1" dirty="0" err="1">
                  <a:latin typeface="Arial" panose="020B0604020202090204" pitchFamily="34" charset="0"/>
                </a:rPr>
                <a:t>n",c</a:t>
              </a:r>
              <a:r>
                <a:rPr lang="en-US" altLang="zh-CN" sz="2000" b="1" dirty="0">
                  <a:latin typeface="Arial" panose="020B0604020202090204" pitchFamily="34" charset="0"/>
                </a:rPr>
                <a:t>);</a:t>
              </a:r>
              <a:endParaRPr lang="zh-CN" altLang="zh-CN" sz="2000" b="1" dirty="0">
                <a:latin typeface="Arial" panose="020B0604020202090204" pitchFamily="34" charset="0"/>
              </a:endParaRPr>
            </a:p>
            <a:p>
              <a:pPr indent="0" fontAlgn="auto">
                <a:lnSpc>
                  <a:spcPts val="2800"/>
                </a:lnSpc>
                <a:buSzTx/>
              </a:pPr>
              <a:r>
                <a:rPr lang="en-US" altLang="zh-CN" sz="2000" b="1" dirty="0">
                  <a:latin typeface="Arial" panose="020B0604020202090204" pitchFamily="34" charset="0"/>
                </a:rPr>
                <a:t>    return 0;</a:t>
              </a:r>
              <a:endParaRPr lang="zh-CN" altLang="zh-CN" sz="2000" b="1" dirty="0">
                <a:latin typeface="Arial" panose="020B0604020202090204" pitchFamily="34" charset="0"/>
              </a:endParaRPr>
            </a:p>
            <a:p>
              <a:pPr indent="0" fontAlgn="auto">
                <a:lnSpc>
                  <a:spcPts val="2800"/>
                </a:lnSpc>
                <a:buSzTx/>
              </a:pPr>
              <a:r>
                <a:rPr lang="en-US" altLang="zh-CN" sz="2000" b="1" dirty="0">
                  <a:latin typeface="Arial" panose="020B0604020202090204" pitchFamily="34" charset="0"/>
                </a:rPr>
                <a:t> }</a:t>
              </a:r>
              <a:endParaRPr lang="zh-CN" altLang="zh-CN" sz="2000" b="1" dirty="0">
                <a:latin typeface="Arial" panose="020B0604020202090204" pitchFamily="34" charset="0"/>
              </a:endParaRPr>
            </a:p>
            <a:p>
              <a:pPr indent="0" fontAlgn="auto">
                <a:lnSpc>
                  <a:spcPts val="2800"/>
                </a:lnSpc>
                <a:buSzTx/>
              </a:pPr>
              <a:r>
                <a:rPr lang="en-US" altLang="zh-CN" sz="2000" b="1" dirty="0" err="1">
                  <a:solidFill>
                    <a:srgbClr val="00B050"/>
                  </a:solidFill>
                  <a:latin typeface="Arial" panose="020B0604020202090204" pitchFamily="34" charset="0"/>
                </a:rPr>
                <a:t>int</a:t>
              </a:r>
              <a:r>
                <a:rPr lang="en-US" altLang="zh-CN" sz="2000" b="1" dirty="0">
                  <a:solidFill>
                    <a:srgbClr val="00B050"/>
                  </a:solidFill>
                  <a:latin typeface="Arial" panose="020B0604020202090204" pitchFamily="34" charset="0"/>
                </a:rPr>
                <a:t> max(float </a:t>
              </a:r>
              <a:r>
                <a:rPr lang="en-US" altLang="zh-CN" sz="2000" b="1" dirty="0" err="1">
                  <a:solidFill>
                    <a:srgbClr val="00B050"/>
                  </a:solidFill>
                  <a:latin typeface="Arial" panose="020B0604020202090204" pitchFamily="34" charset="0"/>
                </a:rPr>
                <a:t>x,float</a:t>
              </a:r>
              <a:r>
                <a:rPr lang="en-US" altLang="zh-CN" sz="2000" b="1" dirty="0">
                  <a:solidFill>
                    <a:srgbClr val="00B050"/>
                  </a:solidFill>
                  <a:latin typeface="Arial" panose="020B0604020202090204" pitchFamily="34" charset="0"/>
                </a:rPr>
                <a:t> y)</a:t>
              </a:r>
              <a:endParaRPr lang="zh-CN" altLang="zh-CN" sz="2000" b="1" dirty="0">
                <a:solidFill>
                  <a:srgbClr val="00B050"/>
                </a:solidFill>
                <a:latin typeface="Arial" panose="020B0604020202090204" pitchFamily="34" charset="0"/>
              </a:endParaRPr>
            </a:p>
            <a:p>
              <a:pPr indent="0" fontAlgn="auto">
                <a:lnSpc>
                  <a:spcPts val="2800"/>
                </a:lnSpc>
                <a:buSzTx/>
              </a:pPr>
              <a:r>
                <a:rPr lang="en-US" altLang="zh-CN" sz="2000" b="1" dirty="0">
                  <a:solidFill>
                    <a:srgbClr val="00B050"/>
                  </a:solidFill>
                  <a:latin typeface="Arial" panose="020B0604020202090204" pitchFamily="34" charset="0"/>
                </a:rPr>
                <a:t> {  float z;                                                </a:t>
              </a:r>
              <a:endParaRPr lang="zh-CN" altLang="zh-CN" sz="2000" b="1" dirty="0">
                <a:solidFill>
                  <a:srgbClr val="00B050"/>
                </a:solidFill>
                <a:latin typeface="Arial" panose="020B0604020202090204" pitchFamily="34" charset="0"/>
              </a:endParaRPr>
            </a:p>
            <a:p>
              <a:pPr indent="0" fontAlgn="auto">
                <a:lnSpc>
                  <a:spcPts val="2800"/>
                </a:lnSpc>
                <a:buSzTx/>
              </a:pPr>
              <a:r>
                <a:rPr lang="en-US" altLang="zh-CN" sz="2000" b="1" dirty="0">
                  <a:solidFill>
                    <a:srgbClr val="00B050"/>
                  </a:solidFill>
                  <a:latin typeface="Arial" panose="020B0604020202090204" pitchFamily="34" charset="0"/>
                </a:rPr>
                <a:t>     z=x&gt;</a:t>
              </a:r>
              <a:r>
                <a:rPr lang="en-US" altLang="zh-CN" sz="2000" b="1" dirty="0" err="1">
                  <a:solidFill>
                    <a:srgbClr val="00B050"/>
                  </a:solidFill>
                  <a:latin typeface="Arial" panose="020B0604020202090204" pitchFamily="34" charset="0"/>
                </a:rPr>
                <a:t>y?x:y</a:t>
              </a:r>
              <a:r>
                <a:rPr lang="en-US" altLang="zh-CN" sz="2000" b="1" dirty="0">
                  <a:solidFill>
                    <a:srgbClr val="00B050"/>
                  </a:solidFill>
                  <a:latin typeface="Arial" panose="020B0604020202090204" pitchFamily="34" charset="0"/>
                </a:rPr>
                <a:t>;</a:t>
              </a:r>
              <a:endParaRPr lang="zh-CN" altLang="zh-CN" sz="2000" b="1" dirty="0">
                <a:solidFill>
                  <a:srgbClr val="00B050"/>
                </a:solidFill>
                <a:latin typeface="Arial" panose="020B0604020202090204" pitchFamily="34" charset="0"/>
              </a:endParaRPr>
            </a:p>
            <a:p>
              <a:pPr indent="0" fontAlgn="auto">
                <a:lnSpc>
                  <a:spcPts val="2800"/>
                </a:lnSpc>
                <a:buSzTx/>
              </a:pPr>
              <a:r>
                <a:rPr lang="en-US" altLang="zh-CN" sz="2000" b="1" dirty="0">
                  <a:solidFill>
                    <a:srgbClr val="00B050"/>
                  </a:solidFill>
                  <a:latin typeface="Arial" panose="020B0604020202090204" pitchFamily="34" charset="0"/>
                </a:rPr>
                <a:t>     return( z ) ;</a:t>
              </a:r>
              <a:endParaRPr lang="zh-CN" altLang="zh-CN" sz="2000" b="1" dirty="0">
                <a:solidFill>
                  <a:srgbClr val="00B050"/>
                </a:solidFill>
                <a:latin typeface="Arial" panose="020B0604020202090204" pitchFamily="34" charset="0"/>
              </a:endParaRPr>
            </a:p>
            <a:p>
              <a:pPr indent="0" fontAlgn="auto">
                <a:lnSpc>
                  <a:spcPts val="2800"/>
                </a:lnSpc>
                <a:buSzTx/>
              </a:pPr>
              <a:r>
                <a:rPr lang="en-US" altLang="zh-CN" sz="2000" b="1" dirty="0">
                  <a:solidFill>
                    <a:srgbClr val="00B050"/>
                  </a:solidFill>
                  <a:latin typeface="Arial" panose="020B0604020202090204" pitchFamily="34" charset="0"/>
                </a:rPr>
                <a:t>}</a:t>
              </a:r>
            </a:p>
          </p:txBody>
        </p:sp>
        <p:sp>
          <p:nvSpPr>
            <p:cNvPr id="6" name="TextBox 5"/>
            <p:cNvSpPr txBox="1"/>
            <p:nvPr/>
          </p:nvSpPr>
          <p:spPr>
            <a:xfrm>
              <a:off x="4620" y="4392"/>
              <a:ext cx="879" cy="533"/>
            </a:xfrm>
            <a:prstGeom prst="rect">
              <a:avLst/>
            </a:prstGeom>
            <a:noFill/>
            <a:ln w="9525">
              <a:noFill/>
            </a:ln>
          </p:spPr>
          <p:txBody>
            <a:bodyPr wrap="square" anchor="t" anchorCtr="0">
              <a:noAutofit/>
            </a:bodyPr>
            <a:lstStyle/>
            <a:p>
              <a:pPr>
                <a:buSzTx/>
              </a:pPr>
              <a:r>
                <a:rPr lang="en-US" altLang="zh-CN" b="1" dirty="0">
                  <a:solidFill>
                    <a:srgbClr val="FF0000"/>
                  </a:solidFill>
                  <a:latin typeface="Arial" panose="020B0604020202090204" pitchFamily="34" charset="0"/>
                </a:rPr>
                <a:t>1.5</a:t>
              </a:r>
            </a:p>
          </p:txBody>
        </p:sp>
        <p:cxnSp>
          <p:nvCxnSpPr>
            <p:cNvPr id="8" name="直接箭头连接符 55"/>
            <p:cNvCxnSpPr/>
            <p:nvPr/>
          </p:nvCxnSpPr>
          <p:spPr>
            <a:xfrm flipH="1">
              <a:off x="3718" y="4925"/>
              <a:ext cx="1037" cy="576"/>
            </a:xfrm>
            <a:prstGeom prst="straightConnector1">
              <a:avLst/>
            </a:prstGeom>
            <a:ln w="38100" cap="flat" cmpd="sng">
              <a:solidFill>
                <a:srgbClr val="0000CC"/>
              </a:solidFill>
              <a:prstDash val="solid"/>
              <a:miter/>
              <a:headEnd type="none" w="med" len="med"/>
              <a:tailEnd type="arrow" w="med" len="med"/>
            </a:ln>
          </p:spPr>
        </p:cxnSp>
        <p:sp>
          <p:nvSpPr>
            <p:cNvPr id="11" name="TextBox 10"/>
            <p:cNvSpPr txBox="1"/>
            <p:nvPr/>
          </p:nvSpPr>
          <p:spPr>
            <a:xfrm>
              <a:off x="5971" y="4411"/>
              <a:ext cx="1013" cy="580"/>
            </a:xfrm>
            <a:prstGeom prst="rect">
              <a:avLst/>
            </a:prstGeom>
            <a:noFill/>
            <a:ln w="9525">
              <a:noFill/>
            </a:ln>
          </p:spPr>
          <p:txBody>
            <a:bodyPr anchor="t" anchorCtr="0">
              <a:spAutoFit/>
            </a:bodyPr>
            <a:lstStyle/>
            <a:p>
              <a:pPr>
                <a:buSzTx/>
              </a:pPr>
              <a:r>
                <a:rPr lang="en-US" altLang="zh-CN" b="1" dirty="0">
                  <a:solidFill>
                    <a:srgbClr val="FF0000"/>
                  </a:solidFill>
                  <a:latin typeface="Arial" panose="020B0604020202090204" pitchFamily="34" charset="0"/>
                </a:rPr>
                <a:t>2.6</a:t>
              </a:r>
            </a:p>
          </p:txBody>
        </p:sp>
        <p:cxnSp>
          <p:nvCxnSpPr>
            <p:cNvPr id="12" name="直接箭头连接符 55"/>
            <p:cNvCxnSpPr/>
            <p:nvPr/>
          </p:nvCxnSpPr>
          <p:spPr>
            <a:xfrm flipH="1">
              <a:off x="5089" y="4991"/>
              <a:ext cx="1020" cy="510"/>
            </a:xfrm>
            <a:prstGeom prst="straightConnector1">
              <a:avLst/>
            </a:prstGeom>
            <a:ln w="38100" cap="flat" cmpd="sng">
              <a:solidFill>
                <a:srgbClr val="0000CC"/>
              </a:solidFill>
              <a:prstDash val="solid"/>
              <a:miter/>
              <a:headEnd type="none" w="med" len="med"/>
              <a:tailEnd type="arrow" w="med" len="med"/>
            </a:ln>
          </p:spPr>
        </p:cxnSp>
        <p:sp>
          <p:nvSpPr>
            <p:cNvPr id="14" name="TextBox 13"/>
            <p:cNvSpPr txBox="1"/>
            <p:nvPr/>
          </p:nvSpPr>
          <p:spPr>
            <a:xfrm>
              <a:off x="3011" y="7626"/>
              <a:ext cx="799" cy="580"/>
            </a:xfrm>
            <a:prstGeom prst="rect">
              <a:avLst/>
            </a:prstGeom>
            <a:noFill/>
            <a:ln w="9525">
              <a:noFill/>
            </a:ln>
          </p:spPr>
          <p:txBody>
            <a:bodyPr wrap="square" anchor="t" anchorCtr="0">
              <a:spAutoFit/>
            </a:bodyPr>
            <a:lstStyle/>
            <a:p>
              <a:pPr>
                <a:buSzTx/>
              </a:pPr>
              <a:r>
                <a:rPr lang="en-US" altLang="zh-CN" b="1" dirty="0">
                  <a:solidFill>
                    <a:srgbClr val="FF0000"/>
                  </a:solidFill>
                  <a:latin typeface="Arial" panose="020B0604020202090204" pitchFamily="34" charset="0"/>
                </a:rPr>
                <a:t>2.6</a:t>
              </a:r>
            </a:p>
          </p:txBody>
        </p:sp>
        <p:cxnSp>
          <p:nvCxnSpPr>
            <p:cNvPr id="15" name="直接连接符 14"/>
            <p:cNvCxnSpPr/>
            <p:nvPr/>
          </p:nvCxnSpPr>
          <p:spPr>
            <a:xfrm>
              <a:off x="3011" y="7626"/>
              <a:ext cx="675" cy="0"/>
            </a:xfrm>
            <a:prstGeom prst="line">
              <a:avLst/>
            </a:prstGeom>
            <a:ln w="38100" cap="flat" cmpd="sng">
              <a:solidFill>
                <a:srgbClr val="0000CC"/>
              </a:solidFill>
              <a:prstDash val="solid"/>
              <a:miter/>
              <a:headEnd type="none" w="med" len="med"/>
              <a:tailEnd type="none" w="med" len="med"/>
            </a:ln>
          </p:spPr>
        </p:cxnSp>
        <p:cxnSp>
          <p:nvCxnSpPr>
            <p:cNvPr id="17" name="直接连接符 16"/>
            <p:cNvCxnSpPr/>
            <p:nvPr/>
          </p:nvCxnSpPr>
          <p:spPr>
            <a:xfrm>
              <a:off x="1289" y="5879"/>
              <a:ext cx="426" cy="0"/>
            </a:xfrm>
            <a:prstGeom prst="line">
              <a:avLst/>
            </a:prstGeom>
            <a:ln w="38100" cap="flat" cmpd="sng">
              <a:solidFill>
                <a:srgbClr val="0000CC"/>
              </a:solidFill>
              <a:prstDash val="solid"/>
              <a:miter/>
              <a:headEnd type="none" w="med" len="med"/>
              <a:tailEnd type="none" w="med" len="med"/>
            </a:ln>
          </p:spPr>
        </p:cxnSp>
        <p:sp>
          <p:nvSpPr>
            <p:cNvPr id="20" name="右箭头 19"/>
            <p:cNvSpPr/>
            <p:nvPr/>
          </p:nvSpPr>
          <p:spPr>
            <a:xfrm>
              <a:off x="5338" y="7120"/>
              <a:ext cx="1181" cy="506"/>
            </a:xfrm>
            <a:prstGeom prst="rightArrow">
              <a:avLst>
                <a:gd name="adj1" fmla="val 50000"/>
                <a:gd name="adj2" fmla="val 49950"/>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buSzTx/>
              </a:pPr>
              <a:endParaRPr lang="zh-CN" altLang="en-US" sz="3000" dirty="0">
                <a:latin typeface="Arial" panose="020B0604020202090204" pitchFamily="34" charset="0"/>
              </a:endParaRPr>
            </a:p>
          </p:txBody>
        </p:sp>
        <p:sp>
          <p:nvSpPr>
            <p:cNvPr id="21" name="TextBox 20"/>
            <p:cNvSpPr txBox="1"/>
            <p:nvPr/>
          </p:nvSpPr>
          <p:spPr>
            <a:xfrm>
              <a:off x="6849" y="7046"/>
              <a:ext cx="591" cy="580"/>
            </a:xfrm>
            <a:prstGeom prst="rect">
              <a:avLst/>
            </a:prstGeom>
            <a:noFill/>
            <a:ln w="9525">
              <a:noFill/>
            </a:ln>
          </p:spPr>
          <p:txBody>
            <a:bodyPr anchor="t" anchorCtr="0">
              <a:spAutoFit/>
            </a:bodyPr>
            <a:lstStyle/>
            <a:p>
              <a:pPr>
                <a:buSzTx/>
              </a:pPr>
              <a:r>
                <a:rPr lang="en-US" altLang="zh-CN" b="1" dirty="0">
                  <a:solidFill>
                    <a:srgbClr val="FF0000"/>
                  </a:solidFill>
                  <a:latin typeface="Arial" panose="020B0604020202090204" pitchFamily="34" charset="0"/>
                </a:rPr>
                <a:t>2</a:t>
              </a:r>
            </a:p>
          </p:txBody>
        </p:sp>
        <p:sp>
          <p:nvSpPr>
            <p:cNvPr id="22" name="矩形 21"/>
            <p:cNvSpPr/>
            <p:nvPr/>
          </p:nvSpPr>
          <p:spPr>
            <a:xfrm>
              <a:off x="1715" y="3031"/>
              <a:ext cx="2252" cy="593"/>
            </a:xfrm>
            <a:prstGeom prst="rect">
              <a:avLst/>
            </a:prstGeom>
            <a:noFill/>
            <a:ln w="38100" cap="flat" cmpd="sng">
              <a:solidFill>
                <a:srgbClr val="FF0000"/>
              </a:solidFill>
              <a:prstDash val="solid"/>
              <a:miter/>
              <a:headEnd type="none" w="med" len="med"/>
              <a:tailEnd type="none" w="med" len="med"/>
            </a:ln>
          </p:spPr>
          <p:txBody>
            <a:bodyPr wrap="none" anchor="t" anchorCtr="0"/>
            <a:lstStyle/>
            <a:p>
              <a:pPr>
                <a:buSzTx/>
              </a:pPr>
              <a:endParaRPr lang="zh-CN" altLang="en-US" sz="3000" dirty="0">
                <a:latin typeface="Arial" panose="020B0604020202090204" pitchFamily="34" charset="0"/>
              </a:endParaRPr>
            </a:p>
          </p:txBody>
        </p:sp>
        <p:sp>
          <p:nvSpPr>
            <p:cNvPr id="24" name="TextBox 23"/>
            <p:cNvSpPr txBox="1"/>
            <p:nvPr/>
          </p:nvSpPr>
          <p:spPr>
            <a:xfrm>
              <a:off x="5971" y="3044"/>
              <a:ext cx="1688" cy="580"/>
            </a:xfrm>
            <a:prstGeom prst="rect">
              <a:avLst/>
            </a:prstGeom>
            <a:noFill/>
            <a:ln w="9525">
              <a:noFill/>
            </a:ln>
          </p:spPr>
          <p:txBody>
            <a:bodyPr anchor="t" anchorCtr="0">
              <a:spAutoFit/>
            </a:bodyPr>
            <a:lstStyle/>
            <a:p>
              <a:pPr>
                <a:buSzTx/>
              </a:pPr>
              <a:r>
                <a:rPr lang="zh-CN" altLang="en-US" b="1" dirty="0">
                  <a:solidFill>
                    <a:srgbClr val="0000CC"/>
                  </a:solidFill>
                  <a:latin typeface="Arial" panose="020B0604020202090204" pitchFamily="34" charset="0"/>
                </a:rPr>
                <a:t>变为</a:t>
              </a:r>
              <a:r>
                <a:rPr lang="en-US" altLang="zh-CN" b="1" dirty="0">
                  <a:solidFill>
                    <a:srgbClr val="0000CC"/>
                  </a:solidFill>
                  <a:latin typeface="Arial" panose="020B0604020202090204" pitchFamily="34" charset="0"/>
                </a:rPr>
                <a:t>2</a:t>
              </a:r>
            </a:p>
          </p:txBody>
        </p:sp>
      </p:grpSp>
      <p:pic>
        <p:nvPicPr>
          <p:cNvPr id="111619" name="Picture 3"/>
          <p:cNvPicPr>
            <a:picLocks noChangeAspect="1"/>
          </p:cNvPicPr>
          <p:nvPr/>
        </p:nvPicPr>
        <p:blipFill>
          <a:blip r:embed="rId4"/>
          <a:stretch>
            <a:fillRect/>
          </a:stretch>
        </p:blipFill>
        <p:spPr>
          <a:xfrm>
            <a:off x="6061710" y="2052955"/>
            <a:ext cx="1818005" cy="415290"/>
          </a:xfrm>
          <a:prstGeom prst="rect">
            <a:avLst/>
          </a:prstGeom>
          <a:noFill/>
          <a:ln w="9525">
            <a:noFill/>
          </a:ln>
        </p:spPr>
      </p:pic>
      <p:pic>
        <p:nvPicPr>
          <p:cNvPr id="4" name="Picture 2"/>
          <p:cNvPicPr>
            <a:picLocks noChangeAspect="1"/>
          </p:cNvPicPr>
          <p:nvPr>
            <p:custDataLst>
              <p:tags r:id="rId1"/>
            </p:custDataLst>
          </p:nvPr>
        </p:nvPicPr>
        <p:blipFill>
          <a:blip r:embed="rId3"/>
          <a:stretch>
            <a:fillRect/>
          </a:stretch>
        </p:blipFill>
        <p:spPr>
          <a:xfrm>
            <a:off x="6065838" y="1510030"/>
            <a:ext cx="1814512" cy="414338"/>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1618"/>
                                        </p:tgtEl>
                                        <p:attrNameLst>
                                          <p:attrName>style.visibility</p:attrName>
                                        </p:attrNameLst>
                                      </p:cBhvr>
                                      <p:to>
                                        <p:strVal val="visible"/>
                                      </p:to>
                                    </p:set>
                                    <p:animEffect transition="in" filter="blinds(horizontal)">
                                      <p:cBhvr>
                                        <p:cTn id="7" dur="500"/>
                                        <p:tgtEl>
                                          <p:spTgt spid="11161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lide(from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1619"/>
                                        </p:tgtEl>
                                        <p:attrNameLst>
                                          <p:attrName>style.visibility</p:attrName>
                                        </p:attrNameLst>
                                      </p:cBhvr>
                                      <p:to>
                                        <p:strVal val="visible"/>
                                      </p:to>
                                    </p:set>
                                    <p:animEffect transition="in" filter="blinds(horizontal)">
                                      <p:cBhvr>
                                        <p:cTn id="17" dur="500"/>
                                        <p:tgtEl>
                                          <p:spTgt spid="11161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1923"/>
          <p:cNvSpPr txBox="1"/>
          <p:nvPr/>
        </p:nvSpPr>
        <p:spPr>
          <a:xfrm>
            <a:off x="1638300" y="334804"/>
            <a:ext cx="5867400" cy="1824038"/>
          </a:xfrm>
          <a:prstGeom prst="rect">
            <a:avLst/>
          </a:prstGeom>
          <a:noFill/>
          <a:ln w="9525">
            <a:noFill/>
          </a:ln>
        </p:spPr>
        <p:txBody>
          <a:bodyPr anchor="b"/>
          <a:lstStyle>
            <a:lvl1pPr marL="0" lvl="0" indent="0" algn="r" defTabSz="914400" rtl="0" eaLnBrk="1" fontAlgn="base" latinLnBrk="0" hangingPunct="1">
              <a:lnSpc>
                <a:spcPct val="100000"/>
              </a:lnSpc>
              <a:spcBef>
                <a:spcPct val="0"/>
              </a:spcBef>
              <a:spcAft>
                <a:spcPct val="0"/>
              </a:spcAft>
              <a:buClrTx/>
              <a:buSzTx/>
              <a:buFontTx/>
              <a:buNone/>
              <a:defRPr sz="4800" b="1" i="0" u="none" kern="1200" baseline="0">
                <a:solidFill>
                  <a:schemeClr val="tx2"/>
                </a:solidFill>
                <a:latin typeface="+mj-lt"/>
                <a:ea typeface="+mj-ea"/>
                <a:cs typeface="+mj-cs"/>
              </a:defRPr>
            </a:lvl1pPr>
          </a:lstStyle>
          <a:p>
            <a:pPr algn="ctr"/>
            <a:r>
              <a:rPr lang="zh-CN" altLang="en-US" sz="3600"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rPr>
              <a:t>对被调用函数的声明和函数原型</a:t>
            </a:r>
          </a:p>
        </p:txBody>
      </p:sp>
      <p:cxnSp>
        <p:nvCxnSpPr>
          <p:cNvPr id="4" name="直接连接符 3"/>
          <p:cNvCxnSpPr/>
          <p:nvPr/>
        </p:nvCxnSpPr>
        <p:spPr>
          <a:xfrm>
            <a:off x="323850" y="2352052"/>
            <a:ext cx="8496300" cy="0"/>
          </a:xfrm>
          <a:prstGeom prst="line">
            <a:avLst/>
          </a:prstGeom>
          <a:ln w="25400">
            <a:solidFill>
              <a:srgbClr val="782367"/>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3873" y="185003"/>
            <a:ext cx="430355" cy="43035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489347"/>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对被调用函数的声明和函数原型</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50179" name="Rectangle 3"/>
          <p:cNvSpPr>
            <a:spLocks noGrp="1"/>
          </p:cNvSpPr>
          <p:nvPr>
            <p:ph idx="1" hasCustomPrompt="1"/>
          </p:nvPr>
        </p:nvSpPr>
        <p:spPr>
          <a:xfrm>
            <a:off x="1464469" y="1178719"/>
            <a:ext cx="6000750" cy="3589735"/>
          </a:xfrm>
        </p:spPr>
        <p:txBody>
          <a:bodyPr vert="horz" wrap="square" lIns="68580" tIns="34290" rIns="68580" bIns="34290" anchor="t" anchorCtr="0"/>
          <a:lstStyle/>
          <a:p>
            <a:pPr eaLnBrk="1" hangingPunct="1"/>
            <a:r>
              <a:rPr lang="zh-CN" altLang="zh-CN" sz="1800" dirty="0"/>
              <a:t>在一个函数中调用另一个函数需要具备如下条件：</a:t>
            </a:r>
            <a:endParaRPr lang="en-US" altLang="zh-CN" sz="1800" dirty="0"/>
          </a:p>
          <a:p>
            <a:pPr lvl="1" indent="-325120" eaLnBrk="1" hangingPunct="1">
              <a:buNone/>
            </a:pPr>
            <a:r>
              <a:rPr lang="en-US" altLang="zh-CN" sz="1500" dirty="0"/>
              <a:t>(1) </a:t>
            </a:r>
            <a:r>
              <a:rPr lang="zh-CN" altLang="zh-CN" sz="1500" dirty="0"/>
              <a:t>被调用函数必须是已经定义的函数（是库函数或用户自己定义的函数）；</a:t>
            </a:r>
            <a:endParaRPr lang="en-US" altLang="zh-CN" sz="1500" dirty="0"/>
          </a:p>
          <a:p>
            <a:pPr lvl="1" indent="-325120" eaLnBrk="1" hangingPunct="1">
              <a:buNone/>
            </a:pPr>
            <a:r>
              <a:rPr lang="en-US" altLang="zh-CN" sz="1500" dirty="0"/>
              <a:t>(2) </a:t>
            </a:r>
            <a:r>
              <a:rPr lang="zh-CN" altLang="zh-CN" sz="1500" dirty="0"/>
              <a:t>如果使用库函数，应该在本文件开头</a:t>
            </a:r>
            <a:r>
              <a:rPr lang="zh-CN" altLang="en-US" sz="1500" dirty="0"/>
              <a:t>加相应的</a:t>
            </a:r>
            <a:r>
              <a:rPr lang="en-US" altLang="zh-CN" sz="1500" dirty="0"/>
              <a:t>#include</a:t>
            </a:r>
            <a:r>
              <a:rPr lang="zh-CN" altLang="zh-CN" sz="1500" dirty="0"/>
              <a:t>指令；</a:t>
            </a:r>
            <a:endParaRPr lang="en-US" altLang="zh-CN" sz="1500" dirty="0"/>
          </a:p>
          <a:p>
            <a:pPr lvl="1" indent="-325120" eaLnBrk="1" hangingPunct="1">
              <a:buNone/>
            </a:pPr>
            <a:r>
              <a:rPr lang="en-US" altLang="zh-CN" sz="1500" dirty="0"/>
              <a:t>(3) </a:t>
            </a:r>
            <a:r>
              <a:rPr lang="zh-CN" altLang="zh-CN" sz="1500" dirty="0"/>
              <a:t>如果使用自己定义的函数，而该函数</a:t>
            </a:r>
            <a:r>
              <a:rPr lang="zh-CN" altLang="en-US" sz="1500" dirty="0"/>
              <a:t>定义的</a:t>
            </a:r>
            <a:r>
              <a:rPr lang="zh-CN" altLang="zh-CN" sz="1500" dirty="0"/>
              <a:t>位置在调用它的函数后面，应该声明。</a:t>
            </a:r>
          </a:p>
        </p:txBody>
      </p:sp>
      <p:sp>
        <p:nvSpPr>
          <p:cNvPr id="51203" name="Rectangle 3"/>
          <p:cNvSpPr>
            <a:spLocks noGrp="1"/>
          </p:cNvSpPr>
          <p:nvPr/>
        </p:nvSpPr>
        <p:spPr>
          <a:xfrm>
            <a:off x="1459706" y="3040856"/>
            <a:ext cx="6223397" cy="1225154"/>
          </a:xfrm>
          <a:prstGeom prst="rect">
            <a:avLst/>
          </a:prstGeom>
          <a:noFill/>
          <a:ln w="9525">
            <a:noFill/>
          </a:ln>
        </p:spPr>
        <p:txBody>
          <a:bodyPr wrap="square" lIns="68580" tIns="34290" rIns="68580" bIns="34290" anchor="t" anchorCtr="0"/>
          <a:lstStyle/>
          <a:p>
            <a:pPr marL="342900" indent="-342900">
              <a:spcBef>
                <a:spcPct val="20000"/>
              </a:spcBef>
              <a:buClr>
                <a:schemeClr val="accent1"/>
              </a:buClr>
              <a:buSzPct val="65000"/>
            </a:pPr>
            <a:r>
              <a:rPr lang="en-US" altLang="zh-CN" sz="1500" dirty="0">
                <a:latin typeface="Arial" panose="020B0604020202090204" pitchFamily="34" charset="0"/>
              </a:rPr>
              <a:t>   </a:t>
            </a:r>
            <a:r>
              <a:rPr lang="zh-CN" altLang="zh-CN" sz="1500" dirty="0">
                <a:latin typeface="Arial" panose="020B0604020202090204" pitchFamily="34" charset="0"/>
              </a:rPr>
              <a:t>例</a:t>
            </a:r>
            <a:r>
              <a:rPr lang="en-US" altLang="zh-CN" sz="1500" dirty="0">
                <a:latin typeface="Arial" panose="020B0604020202090204" pitchFamily="34" charset="0"/>
              </a:rPr>
              <a:t>5.4 </a:t>
            </a:r>
            <a:r>
              <a:rPr lang="zh-CN" altLang="zh-CN" sz="1500" dirty="0">
                <a:latin typeface="Arial" panose="020B0604020202090204" pitchFamily="34" charset="0"/>
              </a:rPr>
              <a:t>输入两个实数，用一个函数求出它们之和。</a:t>
            </a:r>
            <a:endParaRPr lang="en-US" altLang="zh-CN" sz="1500" dirty="0">
              <a:latin typeface="Arial" panose="020B0604020202090204" pitchFamily="34" charset="0"/>
            </a:endParaRPr>
          </a:p>
          <a:p>
            <a:pPr marL="342900" indent="-342900">
              <a:spcBef>
                <a:spcPct val="20000"/>
              </a:spcBef>
              <a:buClr>
                <a:schemeClr val="accent1"/>
              </a:buClr>
              <a:buSzPct val="65000"/>
              <a:buFont typeface="Wingdings" panose="05000000000000000000" pitchFamily="2" charset="2"/>
              <a:buChar char="n"/>
            </a:pPr>
            <a:r>
              <a:rPr lang="zh-CN" altLang="zh-CN" sz="1500" dirty="0">
                <a:latin typeface="Arial" panose="020B0604020202090204" pitchFamily="34" charset="0"/>
              </a:rPr>
              <a:t>用</a:t>
            </a:r>
            <a:r>
              <a:rPr lang="en-US" altLang="zh-CN" sz="1500" dirty="0">
                <a:latin typeface="Arial" panose="020B0604020202090204" pitchFamily="34" charset="0"/>
              </a:rPr>
              <a:t>add</a:t>
            </a:r>
            <a:r>
              <a:rPr lang="zh-CN" altLang="zh-CN" sz="1500" dirty="0">
                <a:latin typeface="Arial" panose="020B0604020202090204" pitchFamily="34" charset="0"/>
              </a:rPr>
              <a:t>函数实现。首先要定义</a:t>
            </a:r>
            <a:r>
              <a:rPr lang="en-US" altLang="zh-CN" sz="1500" dirty="0">
                <a:latin typeface="Arial" panose="020B0604020202090204" pitchFamily="34" charset="0"/>
              </a:rPr>
              <a:t>add</a:t>
            </a:r>
            <a:r>
              <a:rPr lang="zh-CN" altLang="zh-CN" sz="1500" dirty="0">
                <a:latin typeface="Arial" panose="020B0604020202090204" pitchFamily="34" charset="0"/>
              </a:rPr>
              <a:t>函数，它为</a:t>
            </a:r>
            <a:r>
              <a:rPr lang="en-US" altLang="zh-CN" sz="1500" dirty="0">
                <a:latin typeface="Arial" panose="020B0604020202090204" pitchFamily="34" charset="0"/>
              </a:rPr>
              <a:t>float</a:t>
            </a:r>
            <a:r>
              <a:rPr lang="zh-CN" altLang="zh-CN" sz="1500" dirty="0">
                <a:latin typeface="Arial" panose="020B0604020202090204" pitchFamily="34" charset="0"/>
              </a:rPr>
              <a:t>型，它应有两个参数，也应为</a:t>
            </a:r>
            <a:r>
              <a:rPr lang="en-US" altLang="zh-CN" sz="1500" dirty="0">
                <a:latin typeface="Arial" panose="020B0604020202090204" pitchFamily="34" charset="0"/>
              </a:rPr>
              <a:t>float</a:t>
            </a:r>
            <a:r>
              <a:rPr lang="zh-CN" altLang="zh-CN" sz="1500" dirty="0">
                <a:latin typeface="Arial" panose="020B0604020202090204" pitchFamily="34" charset="0"/>
              </a:rPr>
              <a:t>型。特别要注意的是：要对</a:t>
            </a:r>
            <a:r>
              <a:rPr lang="en-US" altLang="zh-CN" sz="1500" dirty="0">
                <a:latin typeface="Arial" panose="020B0604020202090204" pitchFamily="34" charset="0"/>
              </a:rPr>
              <a:t>add</a:t>
            </a:r>
            <a:r>
              <a:rPr lang="zh-CN" altLang="zh-CN" sz="1500" dirty="0">
                <a:latin typeface="Arial" panose="020B0604020202090204" pitchFamily="34" charset="0"/>
              </a:rPr>
              <a:t>函数进行声明。</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0179">
                                            <p:txEl>
                                              <p:charRg st="23" end="59"/>
                                            </p:txEl>
                                          </p:spTgt>
                                        </p:tgtEl>
                                        <p:attrNameLst>
                                          <p:attrName>style.visibility</p:attrName>
                                        </p:attrNameLst>
                                      </p:cBhvr>
                                      <p:to>
                                        <p:strVal val="visible"/>
                                      </p:to>
                                    </p:set>
                                    <p:animEffect transition="in" filter="blinds(horizontal)">
                                      <p:cBhvr>
                                        <p:cTn id="7" dur="500"/>
                                        <p:tgtEl>
                                          <p:spTgt spid="50179">
                                            <p:txEl>
                                              <p:charRg st="23" end="5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0179">
                                            <p:txEl>
                                              <p:charRg st="59" end="94"/>
                                            </p:txEl>
                                          </p:spTgt>
                                        </p:tgtEl>
                                        <p:attrNameLst>
                                          <p:attrName>style.visibility</p:attrName>
                                        </p:attrNameLst>
                                      </p:cBhvr>
                                      <p:to>
                                        <p:strVal val="visible"/>
                                      </p:to>
                                    </p:set>
                                    <p:animEffect transition="in" filter="blinds(horizontal)">
                                      <p:cBhvr>
                                        <p:cTn id="12" dur="500"/>
                                        <p:tgtEl>
                                          <p:spTgt spid="50179">
                                            <p:txEl>
                                              <p:charRg st="59" end="9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0179">
                                            <p:txEl>
                                              <p:charRg st="94" end="134"/>
                                            </p:txEl>
                                          </p:spTgt>
                                        </p:tgtEl>
                                        <p:attrNameLst>
                                          <p:attrName>style.visibility</p:attrName>
                                        </p:attrNameLst>
                                      </p:cBhvr>
                                      <p:to>
                                        <p:strVal val="visible"/>
                                      </p:to>
                                    </p:set>
                                    <p:animEffect transition="in" filter="blinds(horizontal)">
                                      <p:cBhvr>
                                        <p:cTn id="17" dur="500"/>
                                        <p:tgtEl>
                                          <p:spTgt spid="50179">
                                            <p:txEl>
                                              <p:charRg st="94" end="13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1203"/>
                                        </p:tgtEl>
                                        <p:attrNameLst>
                                          <p:attrName>style.visibility</p:attrName>
                                        </p:attrNameLst>
                                      </p:cBhvr>
                                      <p:to>
                                        <p:strVal val="visible"/>
                                      </p:to>
                                    </p:set>
                                    <p:animEffect transition="in" filter="blinds(horizontal)">
                                      <p:cBhvr>
                                        <p:cTn id="22" dur="500"/>
                                        <p:tgtEl>
                                          <p:spTgt spid="51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3"/>
          <p:cNvSpPr>
            <a:spLocks noGrp="1"/>
          </p:cNvSpPr>
          <p:nvPr>
            <p:ph idx="1" hasCustomPrompt="1"/>
          </p:nvPr>
        </p:nvSpPr>
        <p:spPr>
          <a:xfrm>
            <a:off x="1733550" y="590550"/>
            <a:ext cx="5518547" cy="3402806"/>
          </a:xfrm>
          <a:solidFill>
            <a:srgbClr val="CCECFF"/>
          </a:solidFill>
        </p:spPr>
        <p:txBody>
          <a:bodyPr vert="horz" wrap="square" lIns="68580" tIns="34290" rIns="68580" bIns="34290" anchor="t" anchorCtr="0"/>
          <a:lstStyle/>
          <a:p>
            <a:pPr eaLnBrk="1" hangingPunct="1">
              <a:buNone/>
            </a:pPr>
            <a:r>
              <a:rPr lang="en-US" altLang="zh-CN" sz="1500" dirty="0"/>
              <a:t>#include &lt;stdio.h&gt;</a:t>
            </a:r>
            <a:endParaRPr lang="zh-CN" altLang="zh-CN" sz="1500" dirty="0"/>
          </a:p>
          <a:p>
            <a:pPr eaLnBrk="1" hangingPunct="1">
              <a:buNone/>
            </a:pPr>
            <a:r>
              <a:rPr lang="en-US" altLang="zh-CN" sz="1500" dirty="0"/>
              <a:t>int main()</a:t>
            </a:r>
            <a:endParaRPr lang="zh-CN" altLang="zh-CN" sz="1500" dirty="0"/>
          </a:p>
          <a:p>
            <a:pPr eaLnBrk="1" hangingPunct="1">
              <a:buNone/>
            </a:pPr>
            <a:r>
              <a:rPr lang="en-US" altLang="zh-CN" sz="1500" dirty="0"/>
              <a:t>{ float add(float x, float y)</a:t>
            </a:r>
            <a:r>
              <a:rPr lang="en-US" altLang="zh-CN" sz="1500" b="1" dirty="0">
                <a:solidFill>
                  <a:srgbClr val="FF0000"/>
                </a:solidFill>
              </a:rPr>
              <a:t>;</a:t>
            </a:r>
            <a:r>
              <a:rPr lang="en-US" altLang="zh-CN" sz="1500" dirty="0"/>
              <a:t>       </a:t>
            </a:r>
            <a:endParaRPr lang="zh-CN" altLang="zh-CN" sz="1500" dirty="0"/>
          </a:p>
          <a:p>
            <a:pPr eaLnBrk="1" hangingPunct="1">
              <a:buNone/>
            </a:pPr>
            <a:r>
              <a:rPr lang="en-US" altLang="zh-CN" sz="1500" dirty="0"/>
              <a:t>   float a,b,c;</a:t>
            </a:r>
            <a:endParaRPr lang="zh-CN" altLang="zh-CN" sz="1500" dirty="0"/>
          </a:p>
          <a:p>
            <a:pPr eaLnBrk="1" hangingPunct="1">
              <a:buNone/>
            </a:pPr>
            <a:r>
              <a:rPr lang="en-US" altLang="zh-CN" sz="1500" dirty="0"/>
              <a:t>   printf("Please enter a and b:");   </a:t>
            </a:r>
            <a:endParaRPr lang="zh-CN" altLang="zh-CN" sz="1500" dirty="0"/>
          </a:p>
          <a:p>
            <a:pPr eaLnBrk="1" hangingPunct="1">
              <a:buNone/>
            </a:pPr>
            <a:r>
              <a:rPr lang="en-US" altLang="zh-CN" sz="1500" dirty="0"/>
              <a:t>   scanf("%f,%f",&amp;a,&amp;b);              </a:t>
            </a:r>
            <a:endParaRPr lang="zh-CN" altLang="zh-CN" sz="1500" dirty="0"/>
          </a:p>
          <a:p>
            <a:pPr eaLnBrk="1" hangingPunct="1">
              <a:buNone/>
            </a:pPr>
            <a:r>
              <a:rPr lang="en-US" altLang="zh-CN" sz="1500" dirty="0"/>
              <a:t>   c=add(a,b);                       </a:t>
            </a:r>
            <a:endParaRPr lang="zh-CN" altLang="zh-CN" sz="1500" dirty="0"/>
          </a:p>
          <a:p>
            <a:pPr eaLnBrk="1" hangingPunct="1">
              <a:buNone/>
            </a:pPr>
            <a:r>
              <a:rPr lang="en-US" altLang="zh-CN" sz="1500" dirty="0"/>
              <a:t>   printf("sum is %f\n",c);   </a:t>
            </a:r>
            <a:endParaRPr lang="zh-CN" altLang="zh-CN" sz="1500" dirty="0"/>
          </a:p>
          <a:p>
            <a:pPr eaLnBrk="1" hangingPunct="1">
              <a:buNone/>
            </a:pPr>
            <a:r>
              <a:rPr lang="en-US" altLang="zh-CN" sz="1500" dirty="0"/>
              <a:t>   return 0;</a:t>
            </a:r>
            <a:endParaRPr lang="zh-CN" altLang="zh-CN" sz="1500" dirty="0"/>
          </a:p>
          <a:p>
            <a:pPr eaLnBrk="1" hangingPunct="1">
              <a:buNone/>
            </a:pPr>
            <a:r>
              <a:rPr lang="en-US" altLang="zh-CN" sz="1500" dirty="0"/>
              <a:t>}</a:t>
            </a:r>
          </a:p>
        </p:txBody>
      </p:sp>
      <p:sp>
        <p:nvSpPr>
          <p:cNvPr id="32770" name="Rectangle 3"/>
          <p:cNvSpPr txBox="1"/>
          <p:nvPr/>
        </p:nvSpPr>
        <p:spPr>
          <a:xfrm>
            <a:off x="3974306" y="2696766"/>
            <a:ext cx="3277791" cy="1296590"/>
          </a:xfrm>
          <a:prstGeom prst="rect">
            <a:avLst/>
          </a:prstGeom>
          <a:solidFill>
            <a:srgbClr val="FFFFCC"/>
          </a:solidFill>
          <a:ln w="9525">
            <a:noFill/>
          </a:ln>
        </p:spPr>
        <p:txBody>
          <a:bodyPr anchor="t" anchorCtr="0"/>
          <a:lstStyle/>
          <a:p>
            <a:pPr>
              <a:buSzTx/>
            </a:pPr>
            <a:r>
              <a:rPr lang="en-US" altLang="zh-CN" sz="1500" b="1" dirty="0">
                <a:latin typeface="Arial" panose="020B0604020202090204" pitchFamily="34" charset="0"/>
              </a:rPr>
              <a:t>float add(float </a:t>
            </a:r>
            <a:r>
              <a:rPr lang="en-US" altLang="zh-CN" sz="1500" b="1" dirty="0" err="1">
                <a:latin typeface="Arial" panose="020B0604020202090204" pitchFamily="34" charset="0"/>
              </a:rPr>
              <a:t>x,float</a:t>
            </a:r>
            <a:r>
              <a:rPr lang="en-US" altLang="zh-CN" sz="1500" b="1" dirty="0">
                <a:latin typeface="Arial" panose="020B0604020202090204" pitchFamily="34" charset="0"/>
              </a:rPr>
              <a:t> y)</a:t>
            </a:r>
            <a:endParaRPr lang="zh-CN" altLang="zh-CN" sz="1500" b="1" dirty="0">
              <a:latin typeface="Arial" panose="020B0604020202090204" pitchFamily="34" charset="0"/>
            </a:endParaRPr>
          </a:p>
          <a:p>
            <a:pPr>
              <a:buSzTx/>
            </a:pPr>
            <a:r>
              <a:rPr lang="en-US" altLang="zh-CN" sz="1500" b="1" dirty="0">
                <a:latin typeface="Arial" panose="020B0604020202090204" pitchFamily="34" charset="0"/>
              </a:rPr>
              <a:t>{ float z;                          </a:t>
            </a:r>
            <a:endParaRPr lang="zh-CN" altLang="zh-CN" sz="1500" b="1" dirty="0">
              <a:latin typeface="Arial" panose="020B0604020202090204" pitchFamily="34" charset="0"/>
            </a:endParaRPr>
          </a:p>
          <a:p>
            <a:pPr>
              <a:buSzTx/>
            </a:pPr>
            <a:r>
              <a:rPr lang="en-US" altLang="zh-CN" sz="1500" b="1" dirty="0">
                <a:latin typeface="Arial" panose="020B0604020202090204" pitchFamily="34" charset="0"/>
              </a:rPr>
              <a:t>   z=</a:t>
            </a:r>
            <a:r>
              <a:rPr lang="en-US" altLang="zh-CN" sz="1500" b="1" dirty="0" err="1">
                <a:latin typeface="Arial" panose="020B0604020202090204" pitchFamily="34" charset="0"/>
              </a:rPr>
              <a:t>x+y</a:t>
            </a:r>
            <a:r>
              <a:rPr lang="en-US" altLang="zh-CN" sz="1500" b="1" dirty="0">
                <a:latin typeface="Arial" panose="020B0604020202090204" pitchFamily="34" charset="0"/>
              </a:rPr>
              <a:t>;</a:t>
            </a:r>
            <a:endParaRPr lang="zh-CN" altLang="zh-CN" sz="1500" b="1" dirty="0">
              <a:latin typeface="Arial" panose="020B0604020202090204" pitchFamily="34" charset="0"/>
            </a:endParaRPr>
          </a:p>
          <a:p>
            <a:pPr>
              <a:buSzTx/>
            </a:pPr>
            <a:r>
              <a:rPr lang="en-US" altLang="zh-CN" sz="1500" b="1" dirty="0">
                <a:latin typeface="Arial" panose="020B0604020202090204" pitchFamily="34" charset="0"/>
              </a:rPr>
              <a:t>   return(z);                       </a:t>
            </a:r>
            <a:endParaRPr lang="zh-CN" altLang="zh-CN" sz="1500" b="1" dirty="0">
              <a:latin typeface="Arial" panose="020B0604020202090204" pitchFamily="34" charset="0"/>
            </a:endParaRPr>
          </a:p>
          <a:p>
            <a:pPr>
              <a:buSzTx/>
            </a:pPr>
            <a:r>
              <a:rPr lang="en-US" altLang="zh-CN" sz="1500" b="1" dirty="0">
                <a:latin typeface="Arial" panose="020B0604020202090204" pitchFamily="34" charset="0"/>
              </a:rPr>
              <a:t>}</a:t>
            </a:r>
          </a:p>
        </p:txBody>
      </p:sp>
      <p:sp>
        <p:nvSpPr>
          <p:cNvPr id="6" name="圆角矩形标注 5"/>
          <p:cNvSpPr/>
          <p:nvPr/>
        </p:nvSpPr>
        <p:spPr>
          <a:xfrm>
            <a:off x="2127647" y="3375422"/>
            <a:ext cx="1846659" cy="560784"/>
          </a:xfrm>
          <a:prstGeom prst="wedgeRoundRectCallout">
            <a:avLst>
              <a:gd name="adj1" fmla="val 52000"/>
              <a:gd name="adj2" fmla="val -139889"/>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buSzTx/>
            </a:pPr>
            <a:r>
              <a:rPr lang="zh-CN" altLang="zh-CN" sz="1350" b="1" dirty="0">
                <a:solidFill>
                  <a:srgbClr val="0000CC"/>
                </a:solidFill>
                <a:latin typeface="Arial" panose="020B0604020202090204" pitchFamily="34" charset="0"/>
              </a:rPr>
              <a:t>求两个实数之和，函数值也是实型</a:t>
            </a:r>
          </a:p>
        </p:txBody>
      </p:sp>
      <p:sp>
        <p:nvSpPr>
          <p:cNvPr id="7" name="圆角矩形标注 6"/>
          <p:cNvSpPr/>
          <p:nvPr/>
        </p:nvSpPr>
        <p:spPr>
          <a:xfrm>
            <a:off x="4811316" y="752475"/>
            <a:ext cx="1777603" cy="348854"/>
          </a:xfrm>
          <a:prstGeom prst="wedgeRoundRectCallout">
            <a:avLst>
              <a:gd name="adj1" fmla="val -95296"/>
              <a:gd name="adj2" fmla="val 91690"/>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buSzTx/>
            </a:pPr>
            <a:r>
              <a:rPr lang="zh-CN" altLang="zh-CN" sz="1500" b="1" dirty="0">
                <a:solidFill>
                  <a:srgbClr val="0000CC"/>
                </a:solidFill>
                <a:latin typeface="Arial" panose="020B0604020202090204" pitchFamily="34" charset="0"/>
              </a:rPr>
              <a:t>对</a:t>
            </a:r>
            <a:r>
              <a:rPr lang="en-US" altLang="zh-CN" sz="1500" b="1" dirty="0">
                <a:solidFill>
                  <a:srgbClr val="0000CC"/>
                </a:solidFill>
                <a:latin typeface="Arial" panose="020B0604020202090204" pitchFamily="34" charset="0"/>
              </a:rPr>
              <a:t>add</a:t>
            </a:r>
            <a:r>
              <a:rPr lang="zh-CN" altLang="zh-CN" sz="1500" b="1" dirty="0">
                <a:solidFill>
                  <a:srgbClr val="0000CC"/>
                </a:solidFill>
                <a:latin typeface="Arial" panose="020B0604020202090204" pitchFamily="34" charset="0"/>
              </a:rPr>
              <a:t>函数声明</a:t>
            </a:r>
          </a:p>
        </p:txBody>
      </p:sp>
      <p:cxnSp>
        <p:nvCxnSpPr>
          <p:cNvPr id="8" name="直接连接符 7"/>
          <p:cNvCxnSpPr/>
          <p:nvPr/>
        </p:nvCxnSpPr>
        <p:spPr>
          <a:xfrm>
            <a:off x="1878806" y="1538288"/>
            <a:ext cx="2044304" cy="2381"/>
          </a:xfrm>
          <a:prstGeom prst="line">
            <a:avLst/>
          </a:prstGeom>
          <a:ln w="38100" cap="flat" cmpd="sng">
            <a:solidFill>
              <a:srgbClr val="FF0000"/>
            </a:solidFill>
            <a:prstDash val="solid"/>
            <a:miter/>
            <a:headEnd type="none" w="med" len="med"/>
            <a:tailEnd type="none" w="med" len="med"/>
          </a:ln>
        </p:spPr>
      </p:cxnSp>
      <p:sp>
        <p:nvSpPr>
          <p:cNvPr id="9" name="矩形 8"/>
          <p:cNvSpPr/>
          <p:nvPr/>
        </p:nvSpPr>
        <p:spPr>
          <a:xfrm>
            <a:off x="3974306" y="2696766"/>
            <a:ext cx="2264569" cy="278606"/>
          </a:xfrm>
          <a:prstGeom prst="rect">
            <a:avLst/>
          </a:prstGeom>
          <a:noFill/>
          <a:ln w="38100" cap="flat" cmpd="sng">
            <a:solidFill>
              <a:srgbClr val="FF0000"/>
            </a:solidFill>
            <a:prstDash val="solid"/>
            <a:miter/>
            <a:headEnd type="none" w="med" len="med"/>
            <a:tailEnd type="none" w="med" len="med"/>
          </a:ln>
        </p:spPr>
        <p:txBody>
          <a:bodyPr wrap="none" anchor="t" anchorCtr="0"/>
          <a:lstStyle/>
          <a:p>
            <a:pPr>
              <a:buSzTx/>
            </a:pPr>
            <a:endParaRPr lang="zh-CN" altLang="en-US" sz="3000" dirty="0">
              <a:latin typeface="Arial" panose="020B060402020209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slide(fromLeft)">
                                      <p:cBhvr>
                                        <p:cTn id="12" dur="500"/>
                                        <p:tgtEl>
                                          <p:spTgt spid="8"/>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linds(horizontal)">
                                      <p:cBhvr>
                                        <p:cTn id="16" dur="500"/>
                                        <p:tgtEl>
                                          <p:spTgt spid="7"/>
                                        </p:tgtEl>
                                      </p:cBhvr>
                                    </p:animEffect>
                                  </p:childTnLst>
                                </p:cTn>
                              </p:par>
                            </p:childTnLst>
                          </p:cTn>
                        </p:par>
                        <p:par>
                          <p:cTn id="17" fill="hold">
                            <p:stCondLst>
                              <p:cond delay="1000"/>
                            </p:stCondLst>
                            <p:childTnLst>
                              <p:par>
                                <p:cTn id="18" presetID="3" presetClass="entr" presetSubtype="1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horizontal)">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9"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3"/>
          <p:cNvSpPr>
            <a:spLocks noGrp="1"/>
          </p:cNvSpPr>
          <p:nvPr>
            <p:ph idx="1" hasCustomPrompt="1"/>
          </p:nvPr>
        </p:nvSpPr>
        <p:spPr>
          <a:xfrm>
            <a:off x="1410891" y="214313"/>
            <a:ext cx="5518547" cy="3964781"/>
          </a:xfrm>
          <a:solidFill>
            <a:srgbClr val="CCECFF"/>
          </a:solidFill>
        </p:spPr>
        <p:txBody>
          <a:bodyPr vert="horz" wrap="square" lIns="68580" tIns="34290" rIns="68580" bIns="34290" anchor="t" anchorCtr="0"/>
          <a:lstStyle/>
          <a:p>
            <a:pPr eaLnBrk="1" hangingPunct="1">
              <a:buNone/>
            </a:pPr>
            <a:r>
              <a:rPr lang="en-US" altLang="zh-CN" sz="1500" dirty="0"/>
              <a:t>#include &lt;stdio.h&gt;</a:t>
            </a:r>
            <a:endParaRPr lang="zh-CN" altLang="zh-CN" sz="1500" dirty="0"/>
          </a:p>
          <a:p>
            <a:pPr eaLnBrk="1" hangingPunct="1">
              <a:buNone/>
            </a:pPr>
            <a:r>
              <a:rPr lang="en-US" altLang="zh-CN" sz="1500" dirty="0"/>
              <a:t>int main()</a:t>
            </a:r>
            <a:endParaRPr lang="zh-CN" altLang="zh-CN" sz="1500" dirty="0"/>
          </a:p>
          <a:p>
            <a:pPr eaLnBrk="1" hangingPunct="1">
              <a:buNone/>
            </a:pPr>
            <a:r>
              <a:rPr lang="en-US" altLang="zh-CN" sz="1500" dirty="0"/>
              <a:t>{ float add(float x, float y);       </a:t>
            </a:r>
            <a:endParaRPr lang="zh-CN" altLang="zh-CN" sz="1500" dirty="0"/>
          </a:p>
          <a:p>
            <a:pPr eaLnBrk="1" hangingPunct="1">
              <a:buNone/>
            </a:pPr>
            <a:r>
              <a:rPr lang="en-US" altLang="zh-CN" sz="1500" dirty="0"/>
              <a:t>   float a,b,c;</a:t>
            </a:r>
            <a:endParaRPr lang="zh-CN" altLang="zh-CN" sz="1500" dirty="0"/>
          </a:p>
          <a:p>
            <a:pPr eaLnBrk="1" hangingPunct="1">
              <a:buNone/>
            </a:pPr>
            <a:r>
              <a:rPr lang="en-US" altLang="zh-CN" sz="1500" dirty="0"/>
              <a:t>   printf("Please enter a and b:");   </a:t>
            </a:r>
            <a:endParaRPr lang="zh-CN" altLang="zh-CN" sz="1500" dirty="0"/>
          </a:p>
          <a:p>
            <a:pPr eaLnBrk="1" hangingPunct="1">
              <a:buNone/>
            </a:pPr>
            <a:r>
              <a:rPr lang="en-US" altLang="zh-CN" sz="1500" dirty="0"/>
              <a:t>   scanf("%f,%f",&amp;a,&amp;b);              </a:t>
            </a:r>
            <a:endParaRPr lang="zh-CN" altLang="zh-CN" sz="1500" dirty="0"/>
          </a:p>
          <a:p>
            <a:pPr eaLnBrk="1" hangingPunct="1">
              <a:buNone/>
            </a:pPr>
            <a:r>
              <a:rPr lang="en-US" altLang="zh-CN" sz="1500" dirty="0"/>
              <a:t>   c=add(a,b);                       </a:t>
            </a:r>
            <a:endParaRPr lang="zh-CN" altLang="zh-CN" sz="1500" dirty="0"/>
          </a:p>
          <a:p>
            <a:pPr eaLnBrk="1" hangingPunct="1">
              <a:buNone/>
            </a:pPr>
            <a:r>
              <a:rPr lang="en-US" altLang="zh-CN" sz="1500" dirty="0"/>
              <a:t>   printf("sum is %f\n",c);   </a:t>
            </a:r>
            <a:endParaRPr lang="zh-CN" altLang="zh-CN" sz="1500" dirty="0"/>
          </a:p>
          <a:p>
            <a:pPr eaLnBrk="1" hangingPunct="1">
              <a:buNone/>
            </a:pPr>
            <a:r>
              <a:rPr lang="en-US" altLang="zh-CN" sz="1500" dirty="0"/>
              <a:t>   return 0;</a:t>
            </a:r>
            <a:endParaRPr lang="zh-CN" altLang="zh-CN" sz="1500" dirty="0"/>
          </a:p>
          <a:p>
            <a:pPr eaLnBrk="1" hangingPunct="1">
              <a:buNone/>
            </a:pPr>
            <a:r>
              <a:rPr lang="en-US" altLang="zh-CN" sz="1500" dirty="0"/>
              <a:t>}</a:t>
            </a:r>
          </a:p>
        </p:txBody>
      </p:sp>
      <p:sp>
        <p:nvSpPr>
          <p:cNvPr id="33794" name="Rectangle 3"/>
          <p:cNvSpPr txBox="1"/>
          <p:nvPr/>
        </p:nvSpPr>
        <p:spPr>
          <a:xfrm>
            <a:off x="4379119" y="2475310"/>
            <a:ext cx="2366963" cy="1257300"/>
          </a:xfrm>
          <a:prstGeom prst="rect">
            <a:avLst/>
          </a:prstGeom>
          <a:solidFill>
            <a:srgbClr val="FFFFCC"/>
          </a:solidFill>
          <a:ln w="9525">
            <a:noFill/>
          </a:ln>
        </p:spPr>
        <p:txBody>
          <a:bodyPr anchor="t" anchorCtr="0"/>
          <a:lstStyle/>
          <a:p>
            <a:pPr>
              <a:buSzTx/>
            </a:pPr>
            <a:r>
              <a:rPr lang="en-US" altLang="zh-CN" sz="1500" b="1" dirty="0">
                <a:latin typeface="Arial" panose="020B0604020202090204" pitchFamily="34" charset="0"/>
              </a:rPr>
              <a:t>float add(float </a:t>
            </a:r>
            <a:r>
              <a:rPr lang="en-US" altLang="zh-CN" sz="1500" b="1" dirty="0" err="1">
                <a:latin typeface="Arial" panose="020B0604020202090204" pitchFamily="34" charset="0"/>
              </a:rPr>
              <a:t>x,float</a:t>
            </a:r>
            <a:r>
              <a:rPr lang="en-US" altLang="zh-CN" sz="1500" b="1" dirty="0">
                <a:latin typeface="Arial" panose="020B0604020202090204" pitchFamily="34" charset="0"/>
              </a:rPr>
              <a:t> y)</a:t>
            </a:r>
            <a:endParaRPr lang="zh-CN" altLang="zh-CN" sz="1500" b="1" dirty="0">
              <a:latin typeface="Arial" panose="020B0604020202090204" pitchFamily="34" charset="0"/>
            </a:endParaRPr>
          </a:p>
          <a:p>
            <a:pPr>
              <a:buSzTx/>
            </a:pPr>
            <a:r>
              <a:rPr lang="en-US" altLang="zh-CN" sz="1500" b="1" dirty="0">
                <a:latin typeface="Arial" panose="020B0604020202090204" pitchFamily="34" charset="0"/>
              </a:rPr>
              <a:t>{ float z;                          </a:t>
            </a:r>
            <a:endParaRPr lang="zh-CN" altLang="zh-CN" sz="1500" b="1" dirty="0">
              <a:latin typeface="Arial" panose="020B0604020202090204" pitchFamily="34" charset="0"/>
            </a:endParaRPr>
          </a:p>
          <a:p>
            <a:pPr>
              <a:buSzTx/>
            </a:pPr>
            <a:r>
              <a:rPr lang="en-US" altLang="zh-CN" sz="1500" b="1" dirty="0">
                <a:latin typeface="Arial" panose="020B0604020202090204" pitchFamily="34" charset="0"/>
              </a:rPr>
              <a:t>   z=</a:t>
            </a:r>
            <a:r>
              <a:rPr lang="en-US" altLang="zh-CN" sz="1500" b="1" dirty="0" err="1">
                <a:latin typeface="Arial" panose="020B0604020202090204" pitchFamily="34" charset="0"/>
              </a:rPr>
              <a:t>x+y</a:t>
            </a:r>
            <a:r>
              <a:rPr lang="en-US" altLang="zh-CN" sz="1500" b="1" dirty="0">
                <a:latin typeface="Arial" panose="020B0604020202090204" pitchFamily="34" charset="0"/>
              </a:rPr>
              <a:t>;</a:t>
            </a:r>
            <a:endParaRPr lang="zh-CN" altLang="zh-CN" sz="1500" b="1" dirty="0">
              <a:latin typeface="Arial" panose="020B0604020202090204" pitchFamily="34" charset="0"/>
            </a:endParaRPr>
          </a:p>
          <a:p>
            <a:pPr>
              <a:buSzTx/>
            </a:pPr>
            <a:r>
              <a:rPr lang="en-US" altLang="zh-CN" sz="1500" b="1" dirty="0">
                <a:latin typeface="Arial" panose="020B0604020202090204" pitchFamily="34" charset="0"/>
              </a:rPr>
              <a:t>   return(z);                       </a:t>
            </a:r>
            <a:endParaRPr lang="zh-CN" altLang="zh-CN" sz="1500" b="1" dirty="0">
              <a:latin typeface="Arial" panose="020B0604020202090204" pitchFamily="34" charset="0"/>
            </a:endParaRPr>
          </a:p>
          <a:p>
            <a:pPr>
              <a:buSzTx/>
            </a:pPr>
            <a:r>
              <a:rPr lang="en-US" altLang="zh-CN" sz="1500" b="1" dirty="0">
                <a:latin typeface="Arial" panose="020B0604020202090204" pitchFamily="34" charset="0"/>
              </a:rPr>
              <a:t>}</a:t>
            </a:r>
          </a:p>
        </p:txBody>
      </p:sp>
      <p:sp>
        <p:nvSpPr>
          <p:cNvPr id="7" name="圆角矩形标注 6"/>
          <p:cNvSpPr/>
          <p:nvPr/>
        </p:nvSpPr>
        <p:spPr>
          <a:xfrm>
            <a:off x="2788444" y="2925366"/>
            <a:ext cx="1464469" cy="355997"/>
          </a:xfrm>
          <a:prstGeom prst="wedgeRoundRectCallout">
            <a:avLst>
              <a:gd name="adj1" fmla="val 55801"/>
              <a:gd name="adj2" fmla="val -92144"/>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zh-CN" altLang="en-US" sz="1500" b="1" dirty="0">
                <a:solidFill>
                  <a:srgbClr val="0000CC"/>
                </a:solidFill>
                <a:latin typeface="Arial" panose="020B0604020202090204" pitchFamily="34" charset="0"/>
              </a:rPr>
              <a:t>定义</a:t>
            </a:r>
            <a:r>
              <a:rPr lang="en-US" altLang="zh-CN" sz="1500" b="1" dirty="0">
                <a:solidFill>
                  <a:srgbClr val="0000CC"/>
                </a:solidFill>
                <a:latin typeface="Arial" panose="020B0604020202090204" pitchFamily="34" charset="0"/>
              </a:rPr>
              <a:t>add</a:t>
            </a:r>
            <a:r>
              <a:rPr lang="zh-CN" altLang="en-US" sz="1500" b="1" dirty="0">
                <a:solidFill>
                  <a:srgbClr val="0000CC"/>
                </a:solidFill>
                <a:latin typeface="Arial" panose="020B0604020202090204" pitchFamily="34" charset="0"/>
              </a:rPr>
              <a:t>函数</a:t>
            </a:r>
          </a:p>
        </p:txBody>
      </p:sp>
      <p:cxnSp>
        <p:nvCxnSpPr>
          <p:cNvPr id="8" name="直接连接符 7"/>
          <p:cNvCxnSpPr/>
          <p:nvPr/>
        </p:nvCxnSpPr>
        <p:spPr>
          <a:xfrm>
            <a:off x="1518047" y="2467134"/>
            <a:ext cx="1325165" cy="8335"/>
          </a:xfrm>
          <a:prstGeom prst="line">
            <a:avLst/>
          </a:prstGeom>
          <a:ln w="38100" cap="flat" cmpd="sng">
            <a:solidFill>
              <a:srgbClr val="FF0000"/>
            </a:solidFill>
            <a:prstDash val="solid"/>
            <a:miter/>
            <a:headEnd type="none" w="med" len="med"/>
            <a:tailEnd type="none" w="med" len="med"/>
          </a:ln>
        </p:spPr>
      </p:cxnSp>
      <p:sp>
        <p:nvSpPr>
          <p:cNvPr id="11" name="圆角矩形标注 10"/>
          <p:cNvSpPr/>
          <p:nvPr/>
        </p:nvSpPr>
        <p:spPr>
          <a:xfrm>
            <a:off x="4045744" y="2139156"/>
            <a:ext cx="1496616" cy="413147"/>
          </a:xfrm>
          <a:prstGeom prst="wedgeRoundRectCallout">
            <a:avLst>
              <a:gd name="adj1" fmla="val -130255"/>
              <a:gd name="adj2" fmla="val 21829"/>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zh-CN" altLang="en-US" sz="1500" b="1" dirty="0">
                <a:solidFill>
                  <a:srgbClr val="0000CC"/>
                </a:solidFill>
                <a:latin typeface="Arial" panose="020B0604020202090204" pitchFamily="34" charset="0"/>
              </a:rPr>
              <a:t>调用</a:t>
            </a:r>
            <a:r>
              <a:rPr lang="en-US" altLang="zh-CN" sz="1500" b="1" dirty="0">
                <a:solidFill>
                  <a:srgbClr val="0000CC"/>
                </a:solidFill>
                <a:latin typeface="Arial" panose="020B0604020202090204" pitchFamily="34" charset="0"/>
              </a:rPr>
              <a:t>add</a:t>
            </a:r>
            <a:r>
              <a:rPr lang="zh-CN" altLang="en-US" sz="1500" b="1" dirty="0">
                <a:solidFill>
                  <a:srgbClr val="0000CC"/>
                </a:solidFill>
                <a:latin typeface="Arial" panose="020B0604020202090204" pitchFamily="34" charset="0"/>
              </a:rPr>
              <a:t>函数</a:t>
            </a:r>
          </a:p>
        </p:txBody>
      </p:sp>
      <p:pic>
        <p:nvPicPr>
          <p:cNvPr id="112643" name="Picture 3"/>
          <p:cNvPicPr>
            <a:picLocks noChangeAspect="1"/>
          </p:cNvPicPr>
          <p:nvPr/>
        </p:nvPicPr>
        <p:blipFill>
          <a:blip r:embed="rId2"/>
          <a:stretch>
            <a:fillRect/>
          </a:stretch>
        </p:blipFill>
        <p:spPr>
          <a:xfrm>
            <a:off x="5233988" y="377429"/>
            <a:ext cx="2767013" cy="426244"/>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slide(fromLeft)">
                                      <p:cBhvr>
                                        <p:cTn id="12" dur="500"/>
                                        <p:tgtEl>
                                          <p:spTgt spid="8"/>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linds(horizontal)">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12643"/>
                                        </p:tgtEl>
                                        <p:attrNameLst>
                                          <p:attrName>style.visibility</p:attrName>
                                        </p:attrNameLst>
                                      </p:cBhvr>
                                      <p:to>
                                        <p:strVal val="visible"/>
                                      </p:to>
                                    </p:set>
                                    <p:animEffect transition="in" filter="blinds(horizontal)">
                                      <p:cBhvr>
                                        <p:cTn id="21" dur="500"/>
                                        <p:tgtEl>
                                          <p:spTgt spid="112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11"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内容占位符 2"/>
          <p:cNvSpPr>
            <a:spLocks noGrp="1"/>
          </p:cNvSpPr>
          <p:nvPr>
            <p:ph idx="1" hasCustomPrompt="1"/>
          </p:nvPr>
        </p:nvSpPr>
        <p:spPr>
          <a:xfrm>
            <a:off x="1538288" y="573881"/>
            <a:ext cx="6115050" cy="2625329"/>
          </a:xfrm>
        </p:spPr>
        <p:txBody>
          <a:bodyPr vert="horz" wrap="square" lIns="68580" tIns="34290" rIns="68580" bIns="34290" anchor="t" anchorCtr="0"/>
          <a:lstStyle/>
          <a:p>
            <a:pPr eaLnBrk="1" hangingPunct="1"/>
            <a:r>
              <a:rPr lang="zh-CN" altLang="zh-CN" sz="1800" dirty="0"/>
              <a:t>函数原型的一般形式有两种</a:t>
            </a:r>
            <a:r>
              <a:rPr lang="zh-CN" altLang="en-US" sz="1800" dirty="0"/>
              <a:t>：</a:t>
            </a:r>
            <a:endParaRPr lang="zh-CN" altLang="zh-CN" sz="1800" dirty="0"/>
          </a:p>
          <a:p>
            <a:pPr lvl="1" indent="-325120" eaLnBrk="1" hangingPunct="1">
              <a:buNone/>
            </a:pPr>
            <a:r>
              <a:rPr lang="zh-CN" altLang="en-US" sz="1500" dirty="0"/>
              <a:t>如  </a:t>
            </a:r>
            <a:r>
              <a:rPr lang="en-US" altLang="zh-CN" sz="1500" dirty="0"/>
              <a:t>float add(float x, float y);</a:t>
            </a:r>
          </a:p>
          <a:p>
            <a:pPr lvl="1" indent="-325120" eaLnBrk="1" hangingPunct="1">
              <a:buNone/>
            </a:pPr>
            <a:r>
              <a:rPr lang="en-US" altLang="zh-CN" sz="1500" dirty="0"/>
              <a:t>     float add(float, float);</a:t>
            </a:r>
          </a:p>
          <a:p>
            <a:pPr eaLnBrk="1" hangingPunct="1"/>
            <a:r>
              <a:rPr lang="zh-CN" altLang="en-US" sz="1800" dirty="0"/>
              <a:t>原型说明可以放在文件的开头，这时所有函数都可以使用此函数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6322">
                                            <p:txEl>
                                              <p:pRg st="3" end="3"/>
                                            </p:txEl>
                                          </p:spTgt>
                                        </p:tgtEl>
                                        <p:attrNameLst>
                                          <p:attrName>style.visibility</p:attrName>
                                        </p:attrNameLst>
                                      </p:cBhvr>
                                      <p:to>
                                        <p:strVal val="visible"/>
                                      </p:to>
                                    </p:set>
                                    <p:animEffect transition="in" filter="blinds(horizontal)">
                                      <p:cBhvr>
                                        <p:cTn id="7" dur="500"/>
                                        <p:tgtEl>
                                          <p:spTgt spid="5632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1923"/>
          <p:cNvSpPr txBox="1"/>
          <p:nvPr/>
        </p:nvSpPr>
        <p:spPr>
          <a:xfrm>
            <a:off x="1638300" y="334804"/>
            <a:ext cx="5867400" cy="1824038"/>
          </a:xfrm>
          <a:prstGeom prst="rect">
            <a:avLst/>
          </a:prstGeom>
          <a:noFill/>
          <a:ln w="9525">
            <a:noFill/>
          </a:ln>
        </p:spPr>
        <p:txBody>
          <a:bodyPr anchor="b"/>
          <a:lstStyle>
            <a:lvl1pPr marL="0" lvl="0" indent="0" algn="r" defTabSz="914400" rtl="0" eaLnBrk="1" fontAlgn="base" latinLnBrk="0" hangingPunct="1">
              <a:lnSpc>
                <a:spcPct val="100000"/>
              </a:lnSpc>
              <a:spcBef>
                <a:spcPct val="0"/>
              </a:spcBef>
              <a:spcAft>
                <a:spcPct val="0"/>
              </a:spcAft>
              <a:buClrTx/>
              <a:buSzTx/>
              <a:buFontTx/>
              <a:buNone/>
              <a:defRPr sz="4800" b="1" i="0" u="none" kern="1200" baseline="0">
                <a:solidFill>
                  <a:schemeClr val="tx2"/>
                </a:solidFill>
                <a:latin typeface="+mj-lt"/>
                <a:ea typeface="+mj-ea"/>
                <a:cs typeface="+mj-cs"/>
              </a:defRPr>
            </a:lvl1pPr>
          </a:lstStyle>
          <a:p>
            <a:pPr algn="ctr"/>
            <a:r>
              <a:rPr lang="zh-CN" altLang="en-US" sz="3600"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rPr>
              <a:t>函数的嵌套调用</a:t>
            </a:r>
          </a:p>
        </p:txBody>
      </p:sp>
      <p:cxnSp>
        <p:nvCxnSpPr>
          <p:cNvPr id="4" name="直接连接符 3"/>
          <p:cNvCxnSpPr/>
          <p:nvPr/>
        </p:nvCxnSpPr>
        <p:spPr>
          <a:xfrm>
            <a:off x="323850" y="2352052"/>
            <a:ext cx="8496300" cy="0"/>
          </a:xfrm>
          <a:prstGeom prst="line">
            <a:avLst/>
          </a:prstGeom>
          <a:ln w="25400">
            <a:solidFill>
              <a:srgbClr val="782367"/>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3873" y="185003"/>
            <a:ext cx="430355" cy="43035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489347"/>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函数的嵌套调用</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5" name="TextBox 4"/>
          <p:cNvSpPr txBox="1"/>
          <p:nvPr/>
        </p:nvSpPr>
        <p:spPr>
          <a:xfrm>
            <a:off x="1630045" y="1445260"/>
            <a:ext cx="1656080" cy="835025"/>
          </a:xfrm>
          <a:prstGeom prst="rect">
            <a:avLst/>
          </a:prstGeom>
          <a:noFill/>
          <a:ln w="9525">
            <a:noFill/>
          </a:ln>
        </p:spPr>
        <p:txBody>
          <a:bodyPr anchor="t" anchorCtr="0">
            <a:noAutofit/>
          </a:bodyPr>
          <a:lstStyle/>
          <a:p>
            <a:pPr algn="ctr">
              <a:buSzTx/>
            </a:pPr>
            <a:r>
              <a:rPr lang="en-US" altLang="zh-CN" sz="2400" b="1" dirty="0">
                <a:latin typeface="Arial" panose="020B0604020202090204" pitchFamily="34" charset="0"/>
              </a:rPr>
              <a:t>main</a:t>
            </a:r>
            <a:r>
              <a:rPr lang="zh-CN" altLang="en-US" sz="2400" b="1" dirty="0">
                <a:latin typeface="Arial" panose="020B0604020202090204" pitchFamily="34" charset="0"/>
              </a:rPr>
              <a:t>函数</a:t>
            </a:r>
          </a:p>
        </p:txBody>
      </p:sp>
      <p:cxnSp>
        <p:nvCxnSpPr>
          <p:cNvPr id="6" name="直接箭头连接符 55"/>
          <p:cNvCxnSpPr/>
          <p:nvPr/>
        </p:nvCxnSpPr>
        <p:spPr>
          <a:xfrm rot="5400000">
            <a:off x="2101454" y="2180035"/>
            <a:ext cx="535781" cy="1190"/>
          </a:xfrm>
          <a:prstGeom prst="straightConnector1">
            <a:avLst/>
          </a:prstGeom>
          <a:ln w="38100" cap="flat" cmpd="sng">
            <a:solidFill>
              <a:schemeClr val="tx1"/>
            </a:solidFill>
            <a:prstDash val="solid"/>
            <a:miter/>
            <a:headEnd type="none" w="med" len="med"/>
            <a:tailEnd type="arrow" w="med" len="med"/>
          </a:ln>
        </p:spPr>
      </p:cxnSp>
      <p:sp>
        <p:nvSpPr>
          <p:cNvPr id="8" name="TextBox 7"/>
          <p:cNvSpPr txBox="1"/>
          <p:nvPr/>
        </p:nvSpPr>
        <p:spPr>
          <a:xfrm>
            <a:off x="1785938" y="1962150"/>
            <a:ext cx="535781"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①</a:t>
            </a:r>
            <a:endParaRPr lang="zh-CN" altLang="en-US" sz="2400" b="1" dirty="0">
              <a:latin typeface="Arial" panose="020B0604020202090204" pitchFamily="34" charset="0"/>
            </a:endParaRPr>
          </a:p>
        </p:txBody>
      </p:sp>
      <p:sp>
        <p:nvSpPr>
          <p:cNvPr id="9" name="TextBox 8"/>
          <p:cNvSpPr txBox="1"/>
          <p:nvPr/>
        </p:nvSpPr>
        <p:spPr>
          <a:xfrm>
            <a:off x="1518047" y="2455069"/>
            <a:ext cx="1768078" cy="460375"/>
          </a:xfrm>
          <a:prstGeom prst="rect">
            <a:avLst/>
          </a:prstGeom>
          <a:noFill/>
          <a:ln w="9525">
            <a:noFill/>
          </a:ln>
        </p:spPr>
        <p:txBody>
          <a:bodyPr anchor="t" anchorCtr="0">
            <a:spAutoFit/>
          </a:bodyPr>
          <a:lstStyle/>
          <a:p>
            <a:pPr algn="ctr">
              <a:buSzTx/>
            </a:pPr>
            <a:r>
              <a:rPr lang="zh-CN" altLang="en-US" sz="2400" b="1" dirty="0">
                <a:latin typeface="Arial" panose="020B0604020202090204" pitchFamily="34" charset="0"/>
              </a:rPr>
              <a:t>调用</a:t>
            </a:r>
            <a:r>
              <a:rPr lang="en-US" altLang="zh-CN" sz="2400" b="1" dirty="0">
                <a:latin typeface="Arial" panose="020B0604020202090204" pitchFamily="34" charset="0"/>
              </a:rPr>
              <a:t>a</a:t>
            </a:r>
            <a:r>
              <a:rPr lang="zh-CN" altLang="en-US" sz="2400" b="1" dirty="0">
                <a:latin typeface="Arial" panose="020B0604020202090204" pitchFamily="34" charset="0"/>
              </a:rPr>
              <a:t>函数</a:t>
            </a:r>
          </a:p>
        </p:txBody>
      </p:sp>
      <p:cxnSp>
        <p:nvCxnSpPr>
          <p:cNvPr id="10" name="直接箭头连接符 55"/>
          <p:cNvCxnSpPr/>
          <p:nvPr/>
        </p:nvCxnSpPr>
        <p:spPr>
          <a:xfrm rot="5400000">
            <a:off x="2106216" y="3211116"/>
            <a:ext cx="535781" cy="2381"/>
          </a:xfrm>
          <a:prstGeom prst="straightConnector1">
            <a:avLst/>
          </a:prstGeom>
          <a:ln w="38100" cap="flat" cmpd="sng">
            <a:solidFill>
              <a:schemeClr val="tx1"/>
            </a:solidFill>
            <a:prstDash val="solid"/>
            <a:miter/>
            <a:headEnd type="none" w="med" len="med"/>
            <a:tailEnd type="arrow" w="med" len="med"/>
          </a:ln>
        </p:spPr>
      </p:cxnSp>
      <p:sp>
        <p:nvSpPr>
          <p:cNvPr id="11" name="TextBox 10"/>
          <p:cNvSpPr txBox="1"/>
          <p:nvPr/>
        </p:nvSpPr>
        <p:spPr>
          <a:xfrm>
            <a:off x="1785938" y="2990850"/>
            <a:ext cx="535781"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⑨</a:t>
            </a:r>
            <a:endParaRPr lang="zh-CN" altLang="en-US" sz="2400" b="1" dirty="0">
              <a:latin typeface="Arial" panose="020B0604020202090204" pitchFamily="34" charset="0"/>
            </a:endParaRPr>
          </a:p>
        </p:txBody>
      </p:sp>
      <p:sp>
        <p:nvSpPr>
          <p:cNvPr id="12" name="TextBox 11"/>
          <p:cNvSpPr txBox="1"/>
          <p:nvPr/>
        </p:nvSpPr>
        <p:spPr>
          <a:xfrm>
            <a:off x="1464469" y="3580210"/>
            <a:ext cx="1768079" cy="460375"/>
          </a:xfrm>
          <a:prstGeom prst="rect">
            <a:avLst/>
          </a:prstGeom>
          <a:noFill/>
          <a:ln w="9525">
            <a:noFill/>
          </a:ln>
        </p:spPr>
        <p:txBody>
          <a:bodyPr anchor="t" anchorCtr="0">
            <a:spAutoFit/>
          </a:bodyPr>
          <a:lstStyle/>
          <a:p>
            <a:pPr algn="ctr">
              <a:buSzTx/>
            </a:pPr>
            <a:r>
              <a:rPr lang="zh-CN" altLang="en-US" sz="2400" b="1" dirty="0">
                <a:latin typeface="Arial" panose="020B0604020202090204" pitchFamily="34" charset="0"/>
              </a:rPr>
              <a:t>结束</a:t>
            </a:r>
          </a:p>
        </p:txBody>
      </p:sp>
      <p:sp>
        <p:nvSpPr>
          <p:cNvPr id="13" name="TextBox 12"/>
          <p:cNvSpPr txBox="1"/>
          <p:nvPr/>
        </p:nvSpPr>
        <p:spPr>
          <a:xfrm>
            <a:off x="3821906" y="1437085"/>
            <a:ext cx="1500188" cy="460375"/>
          </a:xfrm>
          <a:prstGeom prst="rect">
            <a:avLst/>
          </a:prstGeom>
          <a:noFill/>
          <a:ln w="9525">
            <a:noFill/>
          </a:ln>
        </p:spPr>
        <p:txBody>
          <a:bodyPr anchor="t" anchorCtr="0">
            <a:spAutoFit/>
          </a:bodyPr>
          <a:lstStyle/>
          <a:p>
            <a:pPr algn="ctr">
              <a:buSzTx/>
            </a:pPr>
            <a:r>
              <a:rPr lang="en-US" altLang="zh-CN" sz="2400" b="1" dirty="0">
                <a:latin typeface="Arial" panose="020B0604020202090204" pitchFamily="34" charset="0"/>
              </a:rPr>
              <a:t>a</a:t>
            </a:r>
            <a:r>
              <a:rPr lang="zh-CN" altLang="en-US" sz="2400" b="1" dirty="0">
                <a:latin typeface="Arial" panose="020B0604020202090204" pitchFamily="34" charset="0"/>
              </a:rPr>
              <a:t>函数</a:t>
            </a:r>
          </a:p>
        </p:txBody>
      </p:sp>
      <p:cxnSp>
        <p:nvCxnSpPr>
          <p:cNvPr id="14" name="直接箭头连接符 55"/>
          <p:cNvCxnSpPr/>
          <p:nvPr/>
        </p:nvCxnSpPr>
        <p:spPr>
          <a:xfrm rot="5400000">
            <a:off x="4196954" y="2184797"/>
            <a:ext cx="535781" cy="2381"/>
          </a:xfrm>
          <a:prstGeom prst="straightConnector1">
            <a:avLst/>
          </a:prstGeom>
          <a:ln w="38100" cap="flat" cmpd="sng">
            <a:solidFill>
              <a:schemeClr val="tx1"/>
            </a:solidFill>
            <a:prstDash val="solid"/>
            <a:miter/>
            <a:headEnd type="none" w="med" len="med"/>
            <a:tailEnd type="arrow" w="med" len="med"/>
          </a:ln>
        </p:spPr>
      </p:cxnSp>
      <p:sp>
        <p:nvSpPr>
          <p:cNvPr id="15" name="TextBox 14"/>
          <p:cNvSpPr txBox="1"/>
          <p:nvPr/>
        </p:nvSpPr>
        <p:spPr>
          <a:xfrm>
            <a:off x="4518422" y="1972866"/>
            <a:ext cx="535781"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③</a:t>
            </a:r>
            <a:endParaRPr lang="zh-CN" altLang="en-US" sz="2400" b="1" dirty="0">
              <a:latin typeface="Arial" panose="020B0604020202090204" pitchFamily="34" charset="0"/>
            </a:endParaRPr>
          </a:p>
        </p:txBody>
      </p:sp>
      <p:sp>
        <p:nvSpPr>
          <p:cNvPr id="16" name="TextBox 15"/>
          <p:cNvSpPr txBox="1"/>
          <p:nvPr/>
        </p:nvSpPr>
        <p:spPr>
          <a:xfrm>
            <a:off x="3607594" y="2455069"/>
            <a:ext cx="1768079" cy="460375"/>
          </a:xfrm>
          <a:prstGeom prst="rect">
            <a:avLst/>
          </a:prstGeom>
          <a:noFill/>
          <a:ln w="9525">
            <a:noFill/>
          </a:ln>
        </p:spPr>
        <p:txBody>
          <a:bodyPr anchor="t" anchorCtr="0">
            <a:spAutoFit/>
          </a:bodyPr>
          <a:lstStyle/>
          <a:p>
            <a:pPr algn="ctr">
              <a:buSzTx/>
            </a:pPr>
            <a:r>
              <a:rPr lang="zh-CN" altLang="en-US" sz="2400" b="1" dirty="0">
                <a:latin typeface="Arial" panose="020B0604020202090204" pitchFamily="34" charset="0"/>
              </a:rPr>
              <a:t>调用</a:t>
            </a:r>
            <a:r>
              <a:rPr lang="en-US" altLang="zh-CN" sz="2400" b="1" dirty="0">
                <a:latin typeface="Arial" panose="020B0604020202090204" pitchFamily="34" charset="0"/>
              </a:rPr>
              <a:t>b</a:t>
            </a:r>
            <a:r>
              <a:rPr lang="zh-CN" altLang="en-US" sz="2400" b="1" dirty="0">
                <a:latin typeface="Arial" panose="020B0604020202090204" pitchFamily="34" charset="0"/>
              </a:rPr>
              <a:t>函数</a:t>
            </a:r>
          </a:p>
        </p:txBody>
      </p:sp>
      <p:cxnSp>
        <p:nvCxnSpPr>
          <p:cNvPr id="17" name="直接箭头连接符 55"/>
          <p:cNvCxnSpPr/>
          <p:nvPr/>
        </p:nvCxnSpPr>
        <p:spPr>
          <a:xfrm rot="5400000">
            <a:off x="4191000" y="3207544"/>
            <a:ext cx="535781" cy="1191"/>
          </a:xfrm>
          <a:prstGeom prst="straightConnector1">
            <a:avLst/>
          </a:prstGeom>
          <a:ln w="38100" cap="flat" cmpd="sng">
            <a:solidFill>
              <a:schemeClr val="tx1"/>
            </a:solidFill>
            <a:prstDash val="solid"/>
            <a:miter/>
            <a:headEnd type="none" w="med" len="med"/>
            <a:tailEnd type="arrow" w="med" len="med"/>
          </a:ln>
        </p:spPr>
      </p:cxnSp>
      <p:sp>
        <p:nvSpPr>
          <p:cNvPr id="18" name="TextBox 17"/>
          <p:cNvSpPr txBox="1"/>
          <p:nvPr/>
        </p:nvSpPr>
        <p:spPr>
          <a:xfrm>
            <a:off x="4517231" y="2937272"/>
            <a:ext cx="535781"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⑦</a:t>
            </a:r>
            <a:endParaRPr lang="zh-CN" altLang="en-US" sz="2400" b="1" dirty="0">
              <a:latin typeface="Arial" panose="020B0604020202090204" pitchFamily="34" charset="0"/>
            </a:endParaRPr>
          </a:p>
        </p:txBody>
      </p:sp>
      <p:cxnSp>
        <p:nvCxnSpPr>
          <p:cNvPr id="19" name="直接箭头连接符 55"/>
          <p:cNvCxnSpPr/>
          <p:nvPr/>
        </p:nvCxnSpPr>
        <p:spPr>
          <a:xfrm flipV="1">
            <a:off x="3180160" y="1812131"/>
            <a:ext cx="963215" cy="642938"/>
          </a:xfrm>
          <a:prstGeom prst="straightConnector1">
            <a:avLst/>
          </a:prstGeom>
          <a:ln w="38100" cap="flat" cmpd="sng">
            <a:solidFill>
              <a:schemeClr val="tx1"/>
            </a:solidFill>
            <a:prstDash val="solid"/>
            <a:miter/>
            <a:headEnd type="none" w="med" len="med"/>
            <a:tailEnd type="arrow" w="med" len="med"/>
          </a:ln>
        </p:spPr>
      </p:cxnSp>
      <p:sp>
        <p:nvSpPr>
          <p:cNvPr id="21" name="TextBox 20"/>
          <p:cNvSpPr txBox="1"/>
          <p:nvPr/>
        </p:nvSpPr>
        <p:spPr>
          <a:xfrm>
            <a:off x="3178969" y="1812131"/>
            <a:ext cx="535781"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②</a:t>
            </a:r>
            <a:endParaRPr lang="zh-CN" altLang="en-US" sz="2400" b="1" dirty="0">
              <a:latin typeface="Arial" panose="020B0604020202090204" pitchFamily="34" charset="0"/>
            </a:endParaRPr>
          </a:p>
        </p:txBody>
      </p:sp>
      <p:cxnSp>
        <p:nvCxnSpPr>
          <p:cNvPr id="22" name="直接箭头连接符 55"/>
          <p:cNvCxnSpPr/>
          <p:nvPr/>
        </p:nvCxnSpPr>
        <p:spPr>
          <a:xfrm rot="10800000">
            <a:off x="3178969" y="2883694"/>
            <a:ext cx="1072754" cy="589360"/>
          </a:xfrm>
          <a:prstGeom prst="straightConnector1">
            <a:avLst/>
          </a:prstGeom>
          <a:ln w="38100" cap="flat" cmpd="sng">
            <a:solidFill>
              <a:schemeClr val="tx1"/>
            </a:solidFill>
            <a:prstDash val="solid"/>
            <a:miter/>
            <a:headEnd type="none" w="med" len="med"/>
            <a:tailEnd type="arrow" w="med" len="med"/>
          </a:ln>
        </p:spPr>
      </p:cxnSp>
      <p:sp>
        <p:nvSpPr>
          <p:cNvPr id="24" name="TextBox 23"/>
          <p:cNvSpPr txBox="1"/>
          <p:nvPr/>
        </p:nvSpPr>
        <p:spPr>
          <a:xfrm>
            <a:off x="3178969" y="3044428"/>
            <a:ext cx="535781"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⑧</a:t>
            </a:r>
            <a:endParaRPr lang="zh-CN" altLang="en-US" sz="2400" b="1" dirty="0">
              <a:latin typeface="Arial" panose="020B0604020202090204" pitchFamily="34" charset="0"/>
            </a:endParaRPr>
          </a:p>
        </p:txBody>
      </p:sp>
      <p:sp>
        <p:nvSpPr>
          <p:cNvPr id="25" name="TextBox 24"/>
          <p:cNvSpPr txBox="1"/>
          <p:nvPr/>
        </p:nvSpPr>
        <p:spPr>
          <a:xfrm>
            <a:off x="6072188" y="1437085"/>
            <a:ext cx="1500188" cy="460375"/>
          </a:xfrm>
          <a:prstGeom prst="rect">
            <a:avLst/>
          </a:prstGeom>
          <a:noFill/>
          <a:ln w="9525">
            <a:noFill/>
          </a:ln>
        </p:spPr>
        <p:txBody>
          <a:bodyPr anchor="t" anchorCtr="0">
            <a:spAutoFit/>
          </a:bodyPr>
          <a:lstStyle/>
          <a:p>
            <a:pPr algn="ctr">
              <a:buSzTx/>
            </a:pPr>
            <a:r>
              <a:rPr lang="en-US" altLang="zh-CN" sz="2400" b="1" dirty="0">
                <a:latin typeface="Arial" panose="020B0604020202090204" pitchFamily="34" charset="0"/>
              </a:rPr>
              <a:t>b</a:t>
            </a:r>
            <a:r>
              <a:rPr lang="zh-CN" altLang="en-US" sz="2400" b="1" dirty="0">
                <a:latin typeface="Arial" panose="020B0604020202090204" pitchFamily="34" charset="0"/>
              </a:rPr>
              <a:t>函数</a:t>
            </a:r>
          </a:p>
        </p:txBody>
      </p:sp>
      <p:cxnSp>
        <p:nvCxnSpPr>
          <p:cNvPr id="26" name="直接箭头连接符 55"/>
          <p:cNvCxnSpPr/>
          <p:nvPr/>
        </p:nvCxnSpPr>
        <p:spPr>
          <a:xfrm rot="5400000">
            <a:off x="5938838" y="2695575"/>
            <a:ext cx="1553766" cy="1191"/>
          </a:xfrm>
          <a:prstGeom prst="straightConnector1">
            <a:avLst/>
          </a:prstGeom>
          <a:ln w="38100" cap="flat" cmpd="sng">
            <a:solidFill>
              <a:schemeClr val="tx1"/>
            </a:solidFill>
            <a:prstDash val="solid"/>
            <a:miter/>
            <a:headEnd type="none" w="med" len="med"/>
            <a:tailEnd type="arrow" w="med" len="med"/>
          </a:ln>
        </p:spPr>
      </p:cxnSp>
      <p:sp>
        <p:nvSpPr>
          <p:cNvPr id="27" name="TextBox 26"/>
          <p:cNvSpPr txBox="1"/>
          <p:nvPr/>
        </p:nvSpPr>
        <p:spPr>
          <a:xfrm>
            <a:off x="6768704" y="2347913"/>
            <a:ext cx="535781"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⑤</a:t>
            </a:r>
            <a:endParaRPr lang="zh-CN" altLang="en-US" sz="2400" b="1" dirty="0">
              <a:latin typeface="Arial" panose="020B0604020202090204" pitchFamily="34" charset="0"/>
            </a:endParaRPr>
          </a:p>
        </p:txBody>
      </p:sp>
      <p:cxnSp>
        <p:nvCxnSpPr>
          <p:cNvPr id="28" name="直接箭头连接符 55"/>
          <p:cNvCxnSpPr/>
          <p:nvPr/>
        </p:nvCxnSpPr>
        <p:spPr>
          <a:xfrm flipV="1">
            <a:off x="5430441" y="1812131"/>
            <a:ext cx="963215" cy="642938"/>
          </a:xfrm>
          <a:prstGeom prst="straightConnector1">
            <a:avLst/>
          </a:prstGeom>
          <a:ln w="38100" cap="flat" cmpd="sng">
            <a:solidFill>
              <a:schemeClr val="tx1"/>
            </a:solidFill>
            <a:prstDash val="solid"/>
            <a:miter/>
            <a:headEnd type="none" w="med" len="med"/>
            <a:tailEnd type="arrow" w="med" len="med"/>
          </a:ln>
        </p:spPr>
      </p:cxnSp>
      <p:sp>
        <p:nvSpPr>
          <p:cNvPr id="29" name="TextBox 28"/>
          <p:cNvSpPr txBox="1"/>
          <p:nvPr/>
        </p:nvSpPr>
        <p:spPr>
          <a:xfrm>
            <a:off x="5429250" y="1812131"/>
            <a:ext cx="535781"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④</a:t>
            </a:r>
            <a:endParaRPr lang="zh-CN" altLang="en-US" sz="2400" b="1" dirty="0">
              <a:latin typeface="Arial" panose="020B0604020202090204" pitchFamily="34" charset="0"/>
            </a:endParaRPr>
          </a:p>
        </p:txBody>
      </p:sp>
      <p:cxnSp>
        <p:nvCxnSpPr>
          <p:cNvPr id="30" name="直接箭头连接符 55"/>
          <p:cNvCxnSpPr/>
          <p:nvPr/>
        </p:nvCxnSpPr>
        <p:spPr>
          <a:xfrm rot="10800000">
            <a:off x="5429250" y="2883694"/>
            <a:ext cx="1072754" cy="589360"/>
          </a:xfrm>
          <a:prstGeom prst="straightConnector1">
            <a:avLst/>
          </a:prstGeom>
          <a:ln w="38100" cap="flat" cmpd="sng">
            <a:solidFill>
              <a:schemeClr val="tx1"/>
            </a:solidFill>
            <a:prstDash val="solid"/>
            <a:miter/>
            <a:headEnd type="none" w="med" len="med"/>
            <a:tailEnd type="arrow" w="med" len="med"/>
          </a:ln>
        </p:spPr>
      </p:cxnSp>
      <p:sp>
        <p:nvSpPr>
          <p:cNvPr id="31" name="TextBox 30"/>
          <p:cNvSpPr txBox="1"/>
          <p:nvPr/>
        </p:nvSpPr>
        <p:spPr>
          <a:xfrm>
            <a:off x="5429250" y="3044428"/>
            <a:ext cx="535781"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⑥</a:t>
            </a:r>
            <a:endParaRPr lang="zh-CN" altLang="en-US" sz="2400" b="1" dirty="0">
              <a:latin typeface="Arial" panose="020B060402020209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par>
                          <p:cTn id="13" fill="hold">
                            <p:stCondLst>
                              <p:cond delay="500"/>
                            </p:stCondLst>
                            <p:childTnLst>
                              <p:par>
                                <p:cTn id="14" presetID="12" presetClass="entr" presetSubtype="1"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slide(fromTop)">
                                      <p:cBhvr>
                                        <p:cTn id="16" dur="500"/>
                                        <p:tgtEl>
                                          <p:spTgt spid="6"/>
                                        </p:tgtEl>
                                      </p:cBhvr>
                                    </p:animEffect>
                                  </p:childTnLst>
                                </p:cTn>
                              </p:par>
                            </p:childTnLst>
                          </p:cTn>
                        </p:par>
                        <p:par>
                          <p:cTn id="17" fill="hold">
                            <p:stCondLst>
                              <p:cond delay="1000"/>
                            </p:stCondLst>
                            <p:childTnLst>
                              <p:par>
                                <p:cTn id="18" presetID="3" presetClass="entr" presetSubtype="1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horizontal)">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blinds(horizontal)">
                                      <p:cBhvr>
                                        <p:cTn id="25" dur="500"/>
                                        <p:tgtEl>
                                          <p:spTgt spid="21"/>
                                        </p:tgtEl>
                                      </p:cBhvr>
                                    </p:animEffect>
                                  </p:childTnLst>
                                </p:cTn>
                              </p:par>
                            </p:childTnLst>
                          </p:cTn>
                        </p:par>
                        <p:par>
                          <p:cTn id="26" fill="hold">
                            <p:stCondLst>
                              <p:cond delay="500"/>
                            </p:stCondLst>
                            <p:childTnLst>
                              <p:par>
                                <p:cTn id="27" presetID="12" presetClass="entr" presetSubtype="8" fill="hold" nodeType="after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slide(fromLeft)">
                                      <p:cBhvr>
                                        <p:cTn id="29" dur="500"/>
                                        <p:tgtEl>
                                          <p:spTgt spid="19"/>
                                        </p:tgtEl>
                                      </p:cBhvr>
                                    </p:animEffect>
                                  </p:childTnLst>
                                </p:cTn>
                              </p:par>
                            </p:childTnLst>
                          </p:cTn>
                        </p:par>
                        <p:par>
                          <p:cTn id="30" fill="hold">
                            <p:stCondLst>
                              <p:cond delay="1000"/>
                            </p:stCondLst>
                            <p:childTnLst>
                              <p:par>
                                <p:cTn id="31" presetID="3" presetClass="entr" presetSubtype="10"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blinds(horizontal)">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blinds(horizontal)">
                                      <p:cBhvr>
                                        <p:cTn id="38" dur="500"/>
                                        <p:tgtEl>
                                          <p:spTgt spid="15"/>
                                        </p:tgtEl>
                                      </p:cBhvr>
                                    </p:animEffect>
                                  </p:childTnLst>
                                </p:cTn>
                              </p:par>
                            </p:childTnLst>
                          </p:cTn>
                        </p:par>
                        <p:par>
                          <p:cTn id="39" fill="hold">
                            <p:stCondLst>
                              <p:cond delay="500"/>
                            </p:stCondLst>
                            <p:childTnLst>
                              <p:par>
                                <p:cTn id="40" presetID="12" presetClass="entr" presetSubtype="1" fill="hold" nodeType="after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slide(fromTop)">
                                      <p:cBhvr>
                                        <p:cTn id="42" dur="500"/>
                                        <p:tgtEl>
                                          <p:spTgt spid="14"/>
                                        </p:tgtEl>
                                      </p:cBhvr>
                                    </p:animEffect>
                                  </p:childTnLst>
                                </p:cTn>
                              </p:par>
                            </p:childTnLst>
                          </p:cTn>
                        </p:par>
                        <p:par>
                          <p:cTn id="43" fill="hold">
                            <p:stCondLst>
                              <p:cond delay="1000"/>
                            </p:stCondLst>
                            <p:childTnLst>
                              <p:par>
                                <p:cTn id="44" presetID="3" presetClass="entr" presetSubtype="10"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blinds(horizontal)">
                                      <p:cBhvr>
                                        <p:cTn id="46" dur="500"/>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blinds(horizontal)">
                                      <p:cBhvr>
                                        <p:cTn id="51" dur="500"/>
                                        <p:tgtEl>
                                          <p:spTgt spid="29"/>
                                        </p:tgtEl>
                                      </p:cBhvr>
                                    </p:animEffect>
                                  </p:childTnLst>
                                </p:cTn>
                              </p:par>
                            </p:childTnLst>
                          </p:cTn>
                        </p:par>
                        <p:par>
                          <p:cTn id="52" fill="hold">
                            <p:stCondLst>
                              <p:cond delay="500"/>
                            </p:stCondLst>
                            <p:childTnLst>
                              <p:par>
                                <p:cTn id="53" presetID="12" presetClass="entr" presetSubtype="8" fill="hold" nodeType="after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slide(fromLeft)">
                                      <p:cBhvr>
                                        <p:cTn id="55" dur="500"/>
                                        <p:tgtEl>
                                          <p:spTgt spid="28"/>
                                        </p:tgtEl>
                                      </p:cBhvr>
                                    </p:animEffect>
                                  </p:childTnLst>
                                </p:cTn>
                              </p:par>
                            </p:childTnLst>
                          </p:cTn>
                        </p:par>
                        <p:par>
                          <p:cTn id="56" fill="hold">
                            <p:stCondLst>
                              <p:cond delay="1000"/>
                            </p:stCondLst>
                            <p:childTnLst>
                              <p:par>
                                <p:cTn id="57" presetID="3" presetClass="entr" presetSubtype="10" fill="hold" grpId="0" nodeType="after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blinds(horizontal)">
                                      <p:cBhvr>
                                        <p:cTn id="59" dur="500"/>
                                        <p:tgtEl>
                                          <p:spTgt spid="25"/>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blinds(horizontal)">
                                      <p:cBhvr>
                                        <p:cTn id="64" dur="500"/>
                                        <p:tgtEl>
                                          <p:spTgt spid="27"/>
                                        </p:tgtEl>
                                      </p:cBhvr>
                                    </p:animEffect>
                                  </p:childTnLst>
                                </p:cTn>
                              </p:par>
                            </p:childTnLst>
                          </p:cTn>
                        </p:par>
                        <p:par>
                          <p:cTn id="65" fill="hold">
                            <p:stCondLst>
                              <p:cond delay="500"/>
                            </p:stCondLst>
                            <p:childTnLst>
                              <p:par>
                                <p:cTn id="66" presetID="12" presetClass="entr" presetSubtype="1" fill="hold" nodeType="after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slide(fromTop)">
                                      <p:cBhvr>
                                        <p:cTn id="68" dur="500"/>
                                        <p:tgtEl>
                                          <p:spTgt spid="26"/>
                                        </p:tgtEl>
                                      </p:cBhvr>
                                    </p:animEffect>
                                  </p:child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blinds(horizontal)">
                                      <p:cBhvr>
                                        <p:cTn id="73" dur="500"/>
                                        <p:tgtEl>
                                          <p:spTgt spid="31"/>
                                        </p:tgtEl>
                                      </p:cBhvr>
                                    </p:animEffect>
                                  </p:childTnLst>
                                </p:cTn>
                              </p:par>
                            </p:childTnLst>
                          </p:cTn>
                        </p:par>
                        <p:par>
                          <p:cTn id="74" fill="hold">
                            <p:stCondLst>
                              <p:cond delay="500"/>
                            </p:stCondLst>
                            <p:childTnLst>
                              <p:par>
                                <p:cTn id="75" presetID="12" presetClass="entr" presetSubtype="2" fill="hold" nodeType="after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slide(fromRight)">
                                      <p:cBhvr>
                                        <p:cTn id="77" dur="500"/>
                                        <p:tgtEl>
                                          <p:spTgt spid="30"/>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18"/>
                                        </p:tgtEl>
                                        <p:attrNameLst>
                                          <p:attrName>style.visibility</p:attrName>
                                        </p:attrNameLst>
                                      </p:cBhvr>
                                      <p:to>
                                        <p:strVal val="visible"/>
                                      </p:to>
                                    </p:set>
                                    <p:animEffect transition="in" filter="blinds(horizontal)">
                                      <p:cBhvr>
                                        <p:cTn id="82" dur="500"/>
                                        <p:tgtEl>
                                          <p:spTgt spid="18"/>
                                        </p:tgtEl>
                                      </p:cBhvr>
                                    </p:animEffect>
                                  </p:childTnLst>
                                </p:cTn>
                              </p:par>
                            </p:childTnLst>
                          </p:cTn>
                        </p:par>
                        <p:par>
                          <p:cTn id="83" fill="hold">
                            <p:stCondLst>
                              <p:cond delay="500"/>
                            </p:stCondLst>
                            <p:childTnLst>
                              <p:par>
                                <p:cTn id="84" presetID="12" presetClass="entr" presetSubtype="1" fill="hold" nodeType="afterEffect">
                                  <p:stCondLst>
                                    <p:cond delay="0"/>
                                  </p:stCondLst>
                                  <p:childTnLst>
                                    <p:set>
                                      <p:cBhvr>
                                        <p:cTn id="85" dur="1" fill="hold">
                                          <p:stCondLst>
                                            <p:cond delay="0"/>
                                          </p:stCondLst>
                                        </p:cTn>
                                        <p:tgtEl>
                                          <p:spTgt spid="17"/>
                                        </p:tgtEl>
                                        <p:attrNameLst>
                                          <p:attrName>style.visibility</p:attrName>
                                        </p:attrNameLst>
                                      </p:cBhvr>
                                      <p:to>
                                        <p:strVal val="visible"/>
                                      </p:to>
                                    </p:set>
                                    <p:animEffect transition="in" filter="slide(fromTop)">
                                      <p:cBhvr>
                                        <p:cTn id="86" dur="500"/>
                                        <p:tgtEl>
                                          <p:spTgt spid="17"/>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grpId="0" nodeType="clickEffect">
                                  <p:stCondLst>
                                    <p:cond delay="0"/>
                                  </p:stCondLst>
                                  <p:childTnLst>
                                    <p:set>
                                      <p:cBhvr>
                                        <p:cTn id="90" dur="1" fill="hold">
                                          <p:stCondLst>
                                            <p:cond delay="0"/>
                                          </p:stCondLst>
                                        </p:cTn>
                                        <p:tgtEl>
                                          <p:spTgt spid="24"/>
                                        </p:tgtEl>
                                        <p:attrNameLst>
                                          <p:attrName>style.visibility</p:attrName>
                                        </p:attrNameLst>
                                      </p:cBhvr>
                                      <p:to>
                                        <p:strVal val="visible"/>
                                      </p:to>
                                    </p:set>
                                    <p:animEffect transition="in" filter="blinds(horizontal)">
                                      <p:cBhvr>
                                        <p:cTn id="91" dur="500"/>
                                        <p:tgtEl>
                                          <p:spTgt spid="24"/>
                                        </p:tgtEl>
                                      </p:cBhvr>
                                    </p:animEffect>
                                  </p:childTnLst>
                                </p:cTn>
                              </p:par>
                            </p:childTnLst>
                          </p:cTn>
                        </p:par>
                        <p:par>
                          <p:cTn id="92" fill="hold">
                            <p:stCondLst>
                              <p:cond delay="500"/>
                            </p:stCondLst>
                            <p:childTnLst>
                              <p:par>
                                <p:cTn id="93" presetID="12" presetClass="entr" presetSubtype="2" fill="hold" nodeType="afterEffect">
                                  <p:stCondLst>
                                    <p:cond delay="0"/>
                                  </p:stCondLst>
                                  <p:childTnLst>
                                    <p:set>
                                      <p:cBhvr>
                                        <p:cTn id="94" dur="1" fill="hold">
                                          <p:stCondLst>
                                            <p:cond delay="0"/>
                                          </p:stCondLst>
                                        </p:cTn>
                                        <p:tgtEl>
                                          <p:spTgt spid="22"/>
                                        </p:tgtEl>
                                        <p:attrNameLst>
                                          <p:attrName>style.visibility</p:attrName>
                                        </p:attrNameLst>
                                      </p:cBhvr>
                                      <p:to>
                                        <p:strVal val="visible"/>
                                      </p:to>
                                    </p:set>
                                    <p:animEffect transition="in" filter="slide(fromRight)">
                                      <p:cBhvr>
                                        <p:cTn id="95" dur="500"/>
                                        <p:tgtEl>
                                          <p:spTgt spid="22"/>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grpId="0" nodeType="clickEffect">
                                  <p:stCondLst>
                                    <p:cond delay="0"/>
                                  </p:stCondLst>
                                  <p:childTnLst>
                                    <p:set>
                                      <p:cBhvr>
                                        <p:cTn id="99" dur="1" fill="hold">
                                          <p:stCondLst>
                                            <p:cond delay="0"/>
                                          </p:stCondLst>
                                        </p:cTn>
                                        <p:tgtEl>
                                          <p:spTgt spid="11"/>
                                        </p:tgtEl>
                                        <p:attrNameLst>
                                          <p:attrName>style.visibility</p:attrName>
                                        </p:attrNameLst>
                                      </p:cBhvr>
                                      <p:to>
                                        <p:strVal val="visible"/>
                                      </p:to>
                                    </p:set>
                                    <p:animEffect transition="in" filter="blinds(horizontal)">
                                      <p:cBhvr>
                                        <p:cTn id="100" dur="500"/>
                                        <p:tgtEl>
                                          <p:spTgt spid="11"/>
                                        </p:tgtEl>
                                      </p:cBhvr>
                                    </p:animEffect>
                                  </p:childTnLst>
                                </p:cTn>
                              </p:par>
                            </p:childTnLst>
                          </p:cTn>
                        </p:par>
                        <p:par>
                          <p:cTn id="101" fill="hold">
                            <p:stCondLst>
                              <p:cond delay="500"/>
                            </p:stCondLst>
                            <p:childTnLst>
                              <p:par>
                                <p:cTn id="102" presetID="12" presetClass="entr" presetSubtype="1" fill="hold" nodeType="afterEffect">
                                  <p:stCondLst>
                                    <p:cond delay="0"/>
                                  </p:stCondLst>
                                  <p:childTnLst>
                                    <p:set>
                                      <p:cBhvr>
                                        <p:cTn id="103" dur="1" fill="hold">
                                          <p:stCondLst>
                                            <p:cond delay="0"/>
                                          </p:stCondLst>
                                        </p:cTn>
                                        <p:tgtEl>
                                          <p:spTgt spid="10"/>
                                        </p:tgtEl>
                                        <p:attrNameLst>
                                          <p:attrName>style.visibility</p:attrName>
                                        </p:attrNameLst>
                                      </p:cBhvr>
                                      <p:to>
                                        <p:strVal val="visible"/>
                                      </p:to>
                                    </p:set>
                                    <p:animEffect transition="in" filter="slide(fromTop)">
                                      <p:cBhvr>
                                        <p:cTn id="104" dur="500"/>
                                        <p:tgtEl>
                                          <p:spTgt spid="10"/>
                                        </p:tgtEl>
                                      </p:cBhvr>
                                    </p:animEffect>
                                  </p:childTnLst>
                                </p:cTn>
                              </p:par>
                            </p:childTnLst>
                          </p:cTn>
                        </p:par>
                        <p:par>
                          <p:cTn id="105" fill="hold">
                            <p:stCondLst>
                              <p:cond delay="1000"/>
                            </p:stCondLst>
                            <p:childTnLst>
                              <p:par>
                                <p:cTn id="106" presetID="3" presetClass="entr" presetSubtype="10" fill="hold" grpId="0" nodeType="afterEffect">
                                  <p:stCondLst>
                                    <p:cond delay="0"/>
                                  </p:stCondLst>
                                  <p:childTnLst>
                                    <p:set>
                                      <p:cBhvr>
                                        <p:cTn id="107" dur="1" fill="hold">
                                          <p:stCondLst>
                                            <p:cond delay="0"/>
                                          </p:stCondLst>
                                        </p:cTn>
                                        <p:tgtEl>
                                          <p:spTgt spid="12"/>
                                        </p:tgtEl>
                                        <p:attrNameLst>
                                          <p:attrName>style.visibility</p:attrName>
                                        </p:attrNameLst>
                                      </p:cBhvr>
                                      <p:to>
                                        <p:strVal val="visible"/>
                                      </p:to>
                                    </p:set>
                                    <p:animEffect transition="in" filter="blinds(horizontal)">
                                      <p:cBhvr>
                                        <p:cTn id="10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1" grpId="0"/>
      <p:bldP spid="12" grpId="0"/>
      <p:bldP spid="13" grpId="0"/>
      <p:bldP spid="15" grpId="0"/>
      <p:bldP spid="16" grpId="0"/>
      <p:bldP spid="18" grpId="0"/>
      <p:bldP spid="21" grpId="0"/>
      <p:bldP spid="24" grpId="0"/>
      <p:bldP spid="25" grpId="0"/>
      <p:bldP spid="27" grpId="0"/>
      <p:bldP spid="29" grpId="0"/>
      <p:bldP spid="3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489347"/>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函数的嵌套调用</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59395" name="Rectangle 3"/>
          <p:cNvSpPr>
            <a:spLocks noGrp="1"/>
          </p:cNvSpPr>
          <p:nvPr>
            <p:ph idx="1" hasCustomPrompt="1"/>
          </p:nvPr>
        </p:nvSpPr>
        <p:spPr>
          <a:xfrm>
            <a:off x="1518047" y="1178719"/>
            <a:ext cx="6215063" cy="3536156"/>
          </a:xfrm>
        </p:spPr>
        <p:txBody>
          <a:bodyPr vert="horz" wrap="square" lIns="68580" tIns="34290" rIns="68580" bIns="34290" anchor="t" anchorCtr="0"/>
          <a:lstStyle/>
          <a:p>
            <a:pPr eaLnBrk="1" hangingPunct="1">
              <a:buNone/>
            </a:pPr>
            <a:r>
              <a:rPr lang="en-US" altLang="zh-CN" sz="1800" dirty="0"/>
              <a:t>   </a:t>
            </a:r>
            <a:r>
              <a:rPr lang="zh-CN" altLang="zh-CN" sz="1800" dirty="0"/>
              <a:t>例</a:t>
            </a:r>
            <a:r>
              <a:rPr lang="en-US" altLang="zh-CN" sz="1800" dirty="0"/>
              <a:t>5.5 </a:t>
            </a:r>
            <a:r>
              <a:rPr lang="zh-CN" altLang="zh-CN" sz="1800" dirty="0"/>
              <a:t>输入</a:t>
            </a:r>
            <a:r>
              <a:rPr lang="en-US" altLang="zh-CN" sz="1800" dirty="0"/>
              <a:t>4</a:t>
            </a:r>
            <a:r>
              <a:rPr lang="zh-CN" altLang="zh-CN" sz="1800" dirty="0"/>
              <a:t>个整数，找出其中最大的数。用函数的嵌套调用来处理。</a:t>
            </a:r>
            <a:endParaRPr lang="en-US" altLang="zh-CN" sz="1800" dirty="0"/>
          </a:p>
          <a:p>
            <a:pPr eaLnBrk="1" hangingPunct="1"/>
            <a:r>
              <a:rPr lang="zh-CN" altLang="zh-CN" sz="1800" dirty="0"/>
              <a:t>解题思路：</a:t>
            </a:r>
            <a:endParaRPr lang="en-US" altLang="zh-CN" sz="1800" dirty="0"/>
          </a:p>
          <a:p>
            <a:pPr lvl="1" indent="-325120" eaLnBrk="1" hangingPunct="1"/>
            <a:r>
              <a:rPr lang="en-US" altLang="zh-CN" sz="1500" dirty="0"/>
              <a:t>main</a:t>
            </a:r>
            <a:r>
              <a:rPr lang="zh-CN" altLang="zh-CN" sz="1500" dirty="0"/>
              <a:t>中调用</a:t>
            </a:r>
            <a:r>
              <a:rPr lang="en-US" altLang="zh-CN" sz="1500" dirty="0"/>
              <a:t>max4</a:t>
            </a:r>
            <a:r>
              <a:rPr lang="zh-CN" altLang="zh-CN" sz="1500" dirty="0"/>
              <a:t>函数，找</a:t>
            </a:r>
            <a:r>
              <a:rPr lang="en-US" altLang="zh-CN" sz="1500" dirty="0"/>
              <a:t>4</a:t>
            </a:r>
            <a:r>
              <a:rPr lang="zh-CN" altLang="zh-CN" sz="1500" dirty="0"/>
              <a:t>个数中最大者</a:t>
            </a:r>
            <a:endParaRPr lang="en-US" altLang="zh-CN" sz="1500" dirty="0"/>
          </a:p>
          <a:p>
            <a:pPr lvl="1" indent="-325120" eaLnBrk="1" hangingPunct="1"/>
            <a:r>
              <a:rPr lang="en-US" altLang="zh-CN" sz="1500" dirty="0"/>
              <a:t>max4</a:t>
            </a:r>
            <a:r>
              <a:rPr lang="zh-CN" altLang="zh-CN" sz="1500" dirty="0"/>
              <a:t>中调用</a:t>
            </a:r>
            <a:r>
              <a:rPr lang="en-US" altLang="zh-CN" sz="1500" dirty="0"/>
              <a:t>max2</a:t>
            </a:r>
            <a:r>
              <a:rPr lang="zh-CN" altLang="en-US" sz="1500" dirty="0"/>
              <a:t>，可以</a:t>
            </a:r>
            <a:r>
              <a:rPr lang="zh-CN" altLang="zh-CN" sz="1500" dirty="0"/>
              <a:t>找两个数中的大者</a:t>
            </a:r>
            <a:endParaRPr lang="en-US" altLang="zh-CN" sz="1500" dirty="0"/>
          </a:p>
          <a:p>
            <a:pPr lvl="1" indent="-325120" eaLnBrk="1" hangingPunct="1"/>
            <a:r>
              <a:rPr lang="en-US" altLang="zh-CN" sz="1500" dirty="0"/>
              <a:t>max4</a:t>
            </a:r>
            <a:r>
              <a:rPr lang="zh-CN" altLang="zh-CN" sz="1500" dirty="0"/>
              <a:t>中多次调用</a:t>
            </a:r>
            <a:r>
              <a:rPr lang="en-US" altLang="zh-CN" sz="1500" dirty="0"/>
              <a:t>max2</a:t>
            </a:r>
            <a:r>
              <a:rPr lang="zh-CN" altLang="zh-CN" sz="1500" dirty="0"/>
              <a:t>，找出</a:t>
            </a:r>
            <a:r>
              <a:rPr lang="en-US" altLang="zh-CN" sz="1500" dirty="0"/>
              <a:t>4</a:t>
            </a:r>
            <a:r>
              <a:rPr lang="zh-CN" altLang="zh-CN" sz="1500" dirty="0"/>
              <a:t>个数中的最大的那一个，然后把它作为函数值返回给</a:t>
            </a:r>
            <a:r>
              <a:rPr lang="en-US" altLang="zh-CN" sz="1500" dirty="0"/>
              <a:t>main</a:t>
            </a:r>
            <a:r>
              <a:rPr lang="zh-CN" altLang="zh-CN" sz="1500" dirty="0"/>
              <a:t>函数</a:t>
            </a:r>
            <a:endParaRPr lang="en-US" altLang="zh-CN" sz="1500" dirty="0"/>
          </a:p>
          <a:p>
            <a:pPr lvl="1" indent="-325120" eaLnBrk="1" hangingPunct="1"/>
            <a:r>
              <a:rPr lang="zh-CN" altLang="en-US" sz="1500" dirty="0"/>
              <a:t>最后</a:t>
            </a:r>
            <a:r>
              <a:rPr lang="en-US" altLang="zh-CN" sz="1500" dirty="0"/>
              <a:t>main</a:t>
            </a:r>
            <a:r>
              <a:rPr lang="zh-CN" altLang="zh-CN" sz="1500" dirty="0"/>
              <a:t>函数中输出结果</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9395">
                                            <p:txEl>
                                              <p:pRg st="1" end="1"/>
                                            </p:txEl>
                                          </p:spTgt>
                                        </p:tgtEl>
                                        <p:attrNameLst>
                                          <p:attrName>style.visibility</p:attrName>
                                        </p:attrNameLst>
                                      </p:cBhvr>
                                      <p:to>
                                        <p:strVal val="visible"/>
                                      </p:to>
                                    </p:set>
                                    <p:animEffect transition="in" filter="blinds(horizontal)">
                                      <p:cBhvr>
                                        <p:cTn id="7" dur="500"/>
                                        <p:tgtEl>
                                          <p:spTgt spid="5939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9395">
                                            <p:txEl>
                                              <p:pRg st="2" end="2"/>
                                            </p:txEl>
                                          </p:spTgt>
                                        </p:tgtEl>
                                        <p:attrNameLst>
                                          <p:attrName>style.visibility</p:attrName>
                                        </p:attrNameLst>
                                      </p:cBhvr>
                                      <p:to>
                                        <p:strVal val="visible"/>
                                      </p:to>
                                    </p:set>
                                    <p:animEffect transition="in" filter="blinds(horizontal)">
                                      <p:cBhvr>
                                        <p:cTn id="12" dur="500"/>
                                        <p:tgtEl>
                                          <p:spTgt spid="5939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9395">
                                            <p:txEl>
                                              <p:charRg st="66" end="88"/>
                                            </p:txEl>
                                          </p:spTgt>
                                        </p:tgtEl>
                                        <p:attrNameLst>
                                          <p:attrName>style.visibility</p:attrName>
                                        </p:attrNameLst>
                                      </p:cBhvr>
                                      <p:to>
                                        <p:strVal val="visible"/>
                                      </p:to>
                                    </p:set>
                                    <p:animEffect transition="in" filter="blinds(horizontal)">
                                      <p:cBhvr>
                                        <p:cTn id="17" dur="500"/>
                                        <p:tgtEl>
                                          <p:spTgt spid="59395">
                                            <p:txEl>
                                              <p:charRg st="66" end="8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9395">
                                            <p:txEl>
                                              <p:charRg st="88" end="130"/>
                                            </p:txEl>
                                          </p:spTgt>
                                        </p:tgtEl>
                                        <p:attrNameLst>
                                          <p:attrName>style.visibility</p:attrName>
                                        </p:attrNameLst>
                                      </p:cBhvr>
                                      <p:to>
                                        <p:strVal val="visible"/>
                                      </p:to>
                                    </p:set>
                                    <p:animEffect transition="in" filter="blinds(horizontal)">
                                      <p:cBhvr>
                                        <p:cTn id="22" dur="500"/>
                                        <p:tgtEl>
                                          <p:spTgt spid="59395">
                                            <p:txEl>
                                              <p:charRg st="88" end="13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9395">
                                            <p:txEl>
                                              <p:charRg st="130" end="142"/>
                                            </p:txEl>
                                          </p:spTgt>
                                        </p:tgtEl>
                                        <p:attrNameLst>
                                          <p:attrName>style.visibility</p:attrName>
                                        </p:attrNameLst>
                                      </p:cBhvr>
                                      <p:to>
                                        <p:strVal val="visible"/>
                                      </p:to>
                                    </p:set>
                                    <p:animEffect transition="in" filter="blinds(horizontal)">
                                      <p:cBhvr>
                                        <p:cTn id="27" dur="500"/>
                                        <p:tgtEl>
                                          <p:spTgt spid="59395">
                                            <p:txEl>
                                              <p:charRg st="130" end="14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3"/>
          <p:cNvSpPr>
            <a:spLocks noGrp="1"/>
          </p:cNvSpPr>
          <p:nvPr>
            <p:ph idx="1" hasCustomPrompt="1"/>
          </p:nvPr>
        </p:nvSpPr>
        <p:spPr>
          <a:xfrm>
            <a:off x="1518047" y="803672"/>
            <a:ext cx="6215063" cy="4071938"/>
          </a:xfrm>
        </p:spPr>
        <p:txBody>
          <a:bodyPr vert="horz" wrap="square" lIns="68580" tIns="34290" rIns="68580" bIns="34290" anchor="t" anchorCtr="0"/>
          <a:lstStyle/>
          <a:p>
            <a:pPr eaLnBrk="1" hangingPunct="1">
              <a:buNone/>
            </a:pPr>
            <a:r>
              <a:rPr lang="en-US" altLang="zh-CN" sz="1500" dirty="0"/>
              <a:t>#include &lt;stdio.h&gt;</a:t>
            </a:r>
            <a:endParaRPr lang="zh-CN" altLang="zh-CN" sz="1500" dirty="0"/>
          </a:p>
          <a:p>
            <a:pPr eaLnBrk="1" hangingPunct="1">
              <a:buNone/>
            </a:pPr>
            <a:r>
              <a:rPr lang="en-US" altLang="zh-CN" sz="1500" dirty="0"/>
              <a:t>int main()</a:t>
            </a:r>
            <a:endParaRPr lang="zh-CN" altLang="zh-CN" sz="1500" dirty="0"/>
          </a:p>
          <a:p>
            <a:pPr eaLnBrk="1" hangingPunct="1">
              <a:buNone/>
            </a:pPr>
            <a:r>
              <a:rPr lang="en-US" altLang="zh-CN" sz="1500" dirty="0"/>
              <a:t>{ </a:t>
            </a:r>
            <a:r>
              <a:rPr lang="en-US" altLang="zh-CN" sz="1500" dirty="0">
                <a:solidFill>
                  <a:srgbClr val="9D138D"/>
                </a:solidFill>
              </a:rPr>
              <a:t>int max4(int a,int b,int c,int d); </a:t>
            </a:r>
            <a:endParaRPr lang="zh-CN" altLang="zh-CN" sz="1500" dirty="0">
              <a:solidFill>
                <a:srgbClr val="9D138D"/>
              </a:solidFill>
            </a:endParaRPr>
          </a:p>
          <a:p>
            <a:pPr eaLnBrk="1" hangingPunct="1">
              <a:buNone/>
            </a:pPr>
            <a:r>
              <a:rPr lang="en-US" altLang="zh-CN" sz="1500" dirty="0"/>
              <a:t>   int a,b,c,d,max;</a:t>
            </a:r>
            <a:endParaRPr lang="zh-CN" altLang="zh-CN" sz="1500" dirty="0"/>
          </a:p>
          <a:p>
            <a:pPr eaLnBrk="1" hangingPunct="1">
              <a:buNone/>
            </a:pPr>
            <a:r>
              <a:rPr lang="en-US" altLang="zh-CN" sz="1500" dirty="0"/>
              <a:t>   printf(“4 interger numbers:");    </a:t>
            </a:r>
            <a:endParaRPr lang="zh-CN" altLang="zh-CN" sz="1500" dirty="0"/>
          </a:p>
          <a:p>
            <a:pPr eaLnBrk="1" hangingPunct="1">
              <a:buNone/>
            </a:pPr>
            <a:r>
              <a:rPr lang="en-US" altLang="zh-CN" sz="1500" dirty="0"/>
              <a:t>   scanf("%d%d%d%d",&amp;a,&amp;b,&amp;c,&amp;d);              </a:t>
            </a:r>
            <a:endParaRPr lang="zh-CN" altLang="zh-CN" sz="1500" dirty="0"/>
          </a:p>
          <a:p>
            <a:pPr eaLnBrk="1" hangingPunct="1">
              <a:buNone/>
            </a:pPr>
            <a:r>
              <a:rPr lang="en-US" altLang="zh-CN" sz="1500" dirty="0"/>
              <a:t>   max=</a:t>
            </a:r>
            <a:r>
              <a:rPr lang="en-US" altLang="zh-CN" sz="1500" dirty="0">
                <a:solidFill>
                  <a:srgbClr val="9D138D"/>
                </a:solidFill>
              </a:rPr>
              <a:t>max4</a:t>
            </a:r>
            <a:r>
              <a:rPr lang="en-US" altLang="zh-CN" sz="1500" dirty="0"/>
              <a:t>(a,b,c,d); </a:t>
            </a:r>
            <a:endParaRPr lang="zh-CN" altLang="zh-CN" sz="1500" dirty="0"/>
          </a:p>
          <a:p>
            <a:pPr eaLnBrk="1" hangingPunct="1">
              <a:buNone/>
            </a:pPr>
            <a:r>
              <a:rPr lang="en-US" altLang="zh-CN" sz="1500" dirty="0"/>
              <a:t>   printf("max=%d \n",max);   </a:t>
            </a:r>
            <a:endParaRPr lang="zh-CN" altLang="zh-CN" sz="1500" dirty="0"/>
          </a:p>
          <a:p>
            <a:pPr eaLnBrk="1" hangingPunct="1">
              <a:buNone/>
            </a:pPr>
            <a:r>
              <a:rPr lang="en-US" altLang="zh-CN" sz="1500" dirty="0"/>
              <a:t>   return 0;</a:t>
            </a:r>
            <a:endParaRPr lang="zh-CN" altLang="zh-CN" sz="1500" dirty="0"/>
          </a:p>
          <a:p>
            <a:pPr eaLnBrk="1" hangingPunct="1">
              <a:buNone/>
            </a:pPr>
            <a:r>
              <a:rPr lang="en-US" altLang="zh-CN" sz="1500" dirty="0"/>
              <a:t>} </a:t>
            </a:r>
          </a:p>
        </p:txBody>
      </p:sp>
      <p:sp>
        <p:nvSpPr>
          <p:cNvPr id="37890" name="Rectangle 3"/>
          <p:cNvSpPr txBox="1"/>
          <p:nvPr/>
        </p:nvSpPr>
        <p:spPr>
          <a:xfrm>
            <a:off x="1593056" y="357188"/>
            <a:ext cx="907256" cy="326231"/>
          </a:xfrm>
          <a:prstGeom prst="rect">
            <a:avLst/>
          </a:prstGeom>
          <a:solidFill>
            <a:srgbClr val="FFFFCC"/>
          </a:solidFill>
          <a:ln w="9525">
            <a:noFill/>
          </a:ln>
        </p:spPr>
        <p:txBody>
          <a:bodyPr anchor="t" anchorCtr="0"/>
          <a:lstStyle/>
          <a:p>
            <a:pPr algn="ctr">
              <a:buSzTx/>
            </a:pPr>
            <a:r>
              <a:rPr lang="zh-CN" altLang="en-US" sz="1500" b="1" dirty="0">
                <a:solidFill>
                  <a:srgbClr val="0000CC"/>
                </a:solidFill>
                <a:latin typeface="Arial" panose="020B0604020202090204" pitchFamily="34" charset="0"/>
              </a:rPr>
              <a:t>主函数</a:t>
            </a:r>
          </a:p>
        </p:txBody>
      </p:sp>
      <p:sp>
        <p:nvSpPr>
          <p:cNvPr id="6" name="圆角矩形标注 5"/>
          <p:cNvSpPr/>
          <p:nvPr/>
        </p:nvSpPr>
        <p:spPr>
          <a:xfrm>
            <a:off x="5148263" y="803672"/>
            <a:ext cx="1782366" cy="428625"/>
          </a:xfrm>
          <a:prstGeom prst="wedgeRoundRectCallout">
            <a:avLst>
              <a:gd name="adj1" fmla="val -99227"/>
              <a:gd name="adj2" fmla="val 110222"/>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zh-CN" altLang="zh-CN" sz="1500" b="1" dirty="0">
                <a:solidFill>
                  <a:srgbClr val="0000CC"/>
                </a:solidFill>
                <a:latin typeface="Arial" panose="020B0604020202090204" pitchFamily="34" charset="0"/>
              </a:rPr>
              <a:t>对</a:t>
            </a:r>
            <a:r>
              <a:rPr lang="en-US" altLang="zh-CN" sz="1500" b="1" dirty="0">
                <a:solidFill>
                  <a:srgbClr val="0000CC"/>
                </a:solidFill>
                <a:latin typeface="Arial" panose="020B0604020202090204" pitchFamily="34" charset="0"/>
              </a:rPr>
              <a:t>max4</a:t>
            </a:r>
            <a:r>
              <a:rPr lang="en-US" altLang="zh-CN" sz="1500" dirty="0">
                <a:latin typeface="Arial" panose="020B0604020202090204" pitchFamily="34" charset="0"/>
              </a:rPr>
              <a:t> </a:t>
            </a:r>
            <a:r>
              <a:rPr lang="zh-CN" altLang="zh-CN" sz="1500" b="1" dirty="0">
                <a:solidFill>
                  <a:srgbClr val="0000CC"/>
                </a:solidFill>
                <a:latin typeface="Arial" panose="020B0604020202090204" pitchFamily="34" charset="0"/>
              </a:rPr>
              <a:t>函数声明</a:t>
            </a:r>
          </a:p>
        </p:txBody>
      </p:sp>
      <p:sp>
        <p:nvSpPr>
          <p:cNvPr id="2" name="圆角矩形标注 1"/>
          <p:cNvSpPr/>
          <p:nvPr/>
        </p:nvSpPr>
        <p:spPr>
          <a:xfrm>
            <a:off x="5018405" y="1564640"/>
            <a:ext cx="1257300" cy="333375"/>
          </a:xfrm>
          <a:prstGeom prst="wedgeRoundRectCallout">
            <a:avLst>
              <a:gd name="adj1" fmla="val -81065"/>
              <a:gd name="adj2" fmla="val 159171"/>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zh-CN" altLang="en-US" sz="1350" b="1" dirty="0">
                <a:solidFill>
                  <a:srgbClr val="0000CC"/>
                </a:solidFill>
                <a:latin typeface="Arial" panose="020B0604020202090204" pitchFamily="34" charset="0"/>
              </a:rPr>
              <a:t>输入</a:t>
            </a:r>
            <a:r>
              <a:rPr lang="en-US" altLang="zh-CN" sz="1350" b="1" dirty="0">
                <a:solidFill>
                  <a:srgbClr val="0000CC"/>
                </a:solidFill>
                <a:latin typeface="Arial" panose="020B0604020202090204" pitchFamily="34" charset="0"/>
              </a:rPr>
              <a:t>4</a:t>
            </a:r>
            <a:r>
              <a:rPr lang="zh-CN" altLang="en-US" sz="1350" b="1" dirty="0">
                <a:solidFill>
                  <a:srgbClr val="0000CC"/>
                </a:solidFill>
                <a:latin typeface="Arial" panose="020B0604020202090204" pitchFamily="34" charset="0"/>
              </a:rPr>
              <a:t>个整数</a:t>
            </a:r>
          </a:p>
        </p:txBody>
      </p:sp>
      <p:sp>
        <p:nvSpPr>
          <p:cNvPr id="3" name="圆角矩形标注 2"/>
          <p:cNvSpPr/>
          <p:nvPr/>
        </p:nvSpPr>
        <p:spPr>
          <a:xfrm>
            <a:off x="5018485" y="2364581"/>
            <a:ext cx="2581275" cy="414338"/>
          </a:xfrm>
          <a:prstGeom prst="wedgeRoundRectCallout">
            <a:avLst>
              <a:gd name="adj1" fmla="val -107574"/>
              <a:gd name="adj2" fmla="val 10894"/>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buSzTx/>
            </a:pPr>
            <a:r>
              <a:rPr lang="zh-CN" altLang="en-US" sz="1350" b="1" dirty="0">
                <a:solidFill>
                  <a:srgbClr val="0000CC"/>
                </a:solidFill>
                <a:latin typeface="Arial" panose="020B0604020202090204" pitchFamily="34" charset="0"/>
              </a:rPr>
              <a:t>调用后肯定是</a:t>
            </a:r>
            <a:r>
              <a:rPr lang="en-US" altLang="zh-CN" sz="1350" b="1" dirty="0">
                <a:solidFill>
                  <a:srgbClr val="0000CC"/>
                </a:solidFill>
                <a:latin typeface="Arial" panose="020B0604020202090204" pitchFamily="34" charset="0"/>
              </a:rPr>
              <a:t>4</a:t>
            </a:r>
            <a:r>
              <a:rPr lang="zh-CN" altLang="en-US" sz="1350" b="1" dirty="0">
                <a:solidFill>
                  <a:srgbClr val="0000CC"/>
                </a:solidFill>
                <a:latin typeface="Arial" panose="020B0604020202090204" pitchFamily="34" charset="0"/>
              </a:rPr>
              <a:t>个数中最大者</a:t>
            </a:r>
          </a:p>
        </p:txBody>
      </p:sp>
      <p:sp>
        <p:nvSpPr>
          <p:cNvPr id="7" name="圆角矩形标注 6"/>
          <p:cNvSpPr/>
          <p:nvPr/>
        </p:nvSpPr>
        <p:spPr>
          <a:xfrm>
            <a:off x="3120629" y="3212306"/>
            <a:ext cx="1982390" cy="295275"/>
          </a:xfrm>
          <a:prstGeom prst="wedgeRoundRectCallout">
            <a:avLst>
              <a:gd name="adj1" fmla="val -32273"/>
              <a:gd name="adj2" fmla="val -126773"/>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zh-CN" altLang="en-US" sz="1500" b="1" dirty="0">
                <a:solidFill>
                  <a:srgbClr val="0000CC"/>
                </a:solidFill>
                <a:latin typeface="Arial" panose="020B0604020202090204" pitchFamily="34" charset="0"/>
              </a:rPr>
              <a:t>输出最大者</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2" grpId="0" bldLvl="0" animBg="1"/>
      <p:bldP spid="3" grpId="0" bldLvl="0" animBg="1"/>
      <p:bldP spid="7"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3"/>
          <p:cNvSpPr>
            <a:spLocks noGrp="1"/>
          </p:cNvSpPr>
          <p:nvPr>
            <p:ph idx="1" hasCustomPrompt="1"/>
          </p:nvPr>
        </p:nvSpPr>
        <p:spPr>
          <a:xfrm>
            <a:off x="1410891" y="750094"/>
            <a:ext cx="4875609" cy="3161110"/>
          </a:xfrm>
        </p:spPr>
        <p:txBody>
          <a:bodyPr vert="horz" wrap="square" lIns="68580" tIns="34290" rIns="68580" bIns="34290" anchor="t" anchorCtr="0"/>
          <a:lstStyle/>
          <a:p>
            <a:pPr eaLnBrk="1" hangingPunct="1">
              <a:buNone/>
            </a:pPr>
            <a:r>
              <a:rPr lang="en-US" altLang="zh-CN" sz="1500" dirty="0"/>
              <a:t>int max4(int a,int b,int c,int d)</a:t>
            </a:r>
            <a:endParaRPr lang="zh-CN" altLang="zh-CN" sz="1500" dirty="0"/>
          </a:p>
          <a:p>
            <a:pPr eaLnBrk="1" hangingPunct="1">
              <a:buNone/>
            </a:pPr>
            <a:r>
              <a:rPr lang="en-US" altLang="zh-CN" sz="1500" dirty="0"/>
              <a:t>{  </a:t>
            </a:r>
            <a:r>
              <a:rPr lang="en-US" altLang="zh-CN" sz="1500" dirty="0">
                <a:solidFill>
                  <a:srgbClr val="9D138D"/>
                </a:solidFill>
              </a:rPr>
              <a:t>int max2(int a,int b); </a:t>
            </a:r>
            <a:endParaRPr lang="zh-CN" altLang="zh-CN" sz="1500" dirty="0">
              <a:solidFill>
                <a:srgbClr val="9D138D"/>
              </a:solidFill>
            </a:endParaRPr>
          </a:p>
          <a:p>
            <a:pPr eaLnBrk="1" hangingPunct="1">
              <a:buNone/>
            </a:pPr>
            <a:r>
              <a:rPr lang="en-US" altLang="zh-CN" sz="1500" dirty="0"/>
              <a:t>    int m; </a:t>
            </a:r>
            <a:endParaRPr lang="zh-CN" altLang="zh-CN" sz="1500" dirty="0"/>
          </a:p>
          <a:p>
            <a:pPr eaLnBrk="1" hangingPunct="1">
              <a:buNone/>
            </a:pPr>
            <a:r>
              <a:rPr lang="en-US" altLang="zh-CN" sz="1500" dirty="0"/>
              <a:t>    m=</a:t>
            </a:r>
            <a:r>
              <a:rPr lang="en-US" altLang="zh-CN" sz="1500" dirty="0">
                <a:solidFill>
                  <a:srgbClr val="9D138D"/>
                </a:solidFill>
              </a:rPr>
              <a:t>max2</a:t>
            </a:r>
            <a:r>
              <a:rPr lang="en-US" altLang="zh-CN" sz="1500" dirty="0"/>
              <a:t>(a,b); </a:t>
            </a:r>
            <a:endParaRPr lang="zh-CN" altLang="zh-CN" sz="1500" dirty="0"/>
          </a:p>
          <a:p>
            <a:pPr eaLnBrk="1" hangingPunct="1">
              <a:buNone/>
            </a:pPr>
            <a:r>
              <a:rPr lang="en-US" altLang="zh-CN" sz="1500" dirty="0"/>
              <a:t>    m=</a:t>
            </a:r>
            <a:r>
              <a:rPr lang="en-US" altLang="zh-CN" sz="1500" dirty="0">
                <a:solidFill>
                  <a:srgbClr val="9D138D"/>
                </a:solidFill>
              </a:rPr>
              <a:t>max2</a:t>
            </a:r>
            <a:r>
              <a:rPr lang="en-US" altLang="zh-CN" sz="1500" dirty="0"/>
              <a:t>(m,c);                          </a:t>
            </a:r>
            <a:endParaRPr lang="zh-CN" altLang="zh-CN" sz="1500" dirty="0"/>
          </a:p>
          <a:p>
            <a:pPr eaLnBrk="1" hangingPunct="1">
              <a:buNone/>
            </a:pPr>
            <a:r>
              <a:rPr lang="en-US" altLang="zh-CN" sz="1500" dirty="0"/>
              <a:t>    m=</a:t>
            </a:r>
            <a:r>
              <a:rPr lang="en-US" altLang="zh-CN" sz="1500" dirty="0">
                <a:solidFill>
                  <a:srgbClr val="9D138D"/>
                </a:solidFill>
              </a:rPr>
              <a:t>max2</a:t>
            </a:r>
            <a:r>
              <a:rPr lang="en-US" altLang="zh-CN" sz="1500" dirty="0"/>
              <a:t>(m,d);            </a:t>
            </a:r>
            <a:endParaRPr lang="zh-CN" altLang="zh-CN" sz="1500" dirty="0"/>
          </a:p>
          <a:p>
            <a:pPr eaLnBrk="1" hangingPunct="1">
              <a:buNone/>
            </a:pPr>
            <a:r>
              <a:rPr lang="en-US" altLang="zh-CN" sz="1500" dirty="0"/>
              <a:t>    return(m); </a:t>
            </a:r>
            <a:endParaRPr lang="zh-CN" altLang="zh-CN" sz="1500" dirty="0"/>
          </a:p>
          <a:p>
            <a:pPr eaLnBrk="1" hangingPunct="1">
              <a:buNone/>
            </a:pPr>
            <a:r>
              <a:rPr lang="en-US" altLang="zh-CN" sz="1500" dirty="0"/>
              <a:t>}</a:t>
            </a:r>
          </a:p>
        </p:txBody>
      </p:sp>
      <p:sp>
        <p:nvSpPr>
          <p:cNvPr id="38914" name="Rectangle 3"/>
          <p:cNvSpPr txBox="1"/>
          <p:nvPr/>
        </p:nvSpPr>
        <p:spPr>
          <a:xfrm>
            <a:off x="1464469" y="375047"/>
            <a:ext cx="1660922" cy="428625"/>
          </a:xfrm>
          <a:prstGeom prst="rect">
            <a:avLst/>
          </a:prstGeom>
          <a:solidFill>
            <a:srgbClr val="FFFFCC"/>
          </a:solidFill>
          <a:ln w="9525">
            <a:noFill/>
          </a:ln>
        </p:spPr>
        <p:txBody>
          <a:bodyPr anchor="t" anchorCtr="0"/>
          <a:lstStyle/>
          <a:p>
            <a:pPr algn="ctr">
              <a:buSzTx/>
            </a:pPr>
            <a:r>
              <a:rPr lang="en-US" altLang="zh-CN" sz="2100" b="1" dirty="0">
                <a:solidFill>
                  <a:srgbClr val="0000CC"/>
                </a:solidFill>
                <a:latin typeface="Arial" panose="020B0604020202090204" pitchFamily="34" charset="0"/>
              </a:rPr>
              <a:t>max4</a:t>
            </a:r>
            <a:r>
              <a:rPr lang="zh-CN" altLang="zh-CN" sz="2100" b="1" dirty="0">
                <a:solidFill>
                  <a:srgbClr val="0000CC"/>
                </a:solidFill>
                <a:latin typeface="Arial" panose="020B0604020202090204" pitchFamily="34" charset="0"/>
              </a:rPr>
              <a:t>函数</a:t>
            </a:r>
          </a:p>
        </p:txBody>
      </p:sp>
      <p:sp>
        <p:nvSpPr>
          <p:cNvPr id="7" name="圆角矩形标注 6"/>
          <p:cNvSpPr/>
          <p:nvPr/>
        </p:nvSpPr>
        <p:spPr>
          <a:xfrm>
            <a:off x="3912394" y="1345406"/>
            <a:ext cx="1802606" cy="371475"/>
          </a:xfrm>
          <a:prstGeom prst="wedgeRoundRectCallout">
            <a:avLst>
              <a:gd name="adj1" fmla="val -83167"/>
              <a:gd name="adj2" fmla="val -88690"/>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zh-CN" altLang="zh-CN" sz="1500" b="1" dirty="0">
                <a:solidFill>
                  <a:srgbClr val="0000CC"/>
                </a:solidFill>
                <a:latin typeface="Arial" panose="020B0604020202090204" pitchFamily="34" charset="0"/>
              </a:rPr>
              <a:t>对</a:t>
            </a:r>
            <a:r>
              <a:rPr lang="en-US" altLang="zh-CN" sz="1500" b="1" dirty="0">
                <a:solidFill>
                  <a:srgbClr val="0000CC"/>
                </a:solidFill>
                <a:latin typeface="Arial" panose="020B0604020202090204" pitchFamily="34" charset="0"/>
              </a:rPr>
              <a:t>max2</a:t>
            </a:r>
            <a:r>
              <a:rPr lang="en-US" altLang="zh-CN" sz="1500" dirty="0">
                <a:latin typeface="Arial" panose="020B0604020202090204" pitchFamily="34" charset="0"/>
              </a:rPr>
              <a:t> </a:t>
            </a:r>
            <a:r>
              <a:rPr lang="zh-CN" altLang="zh-CN" sz="1500" b="1" dirty="0">
                <a:solidFill>
                  <a:srgbClr val="0000CC"/>
                </a:solidFill>
                <a:latin typeface="Arial" panose="020B0604020202090204" pitchFamily="34" charset="0"/>
              </a:rPr>
              <a:t>函数声明</a:t>
            </a:r>
          </a:p>
        </p:txBody>
      </p:sp>
      <p:sp>
        <p:nvSpPr>
          <p:cNvPr id="2" name="圆角矩形标注 1"/>
          <p:cNvSpPr/>
          <p:nvPr/>
        </p:nvSpPr>
        <p:spPr>
          <a:xfrm>
            <a:off x="3912394" y="1776413"/>
            <a:ext cx="1644254" cy="330994"/>
          </a:xfrm>
          <a:prstGeom prst="wedgeRoundRectCallout">
            <a:avLst>
              <a:gd name="adj1" fmla="val -109977"/>
              <a:gd name="adj2" fmla="val -64366"/>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en-US" altLang="zh-CN" sz="1500" b="1" dirty="0">
                <a:solidFill>
                  <a:srgbClr val="0000CC"/>
                </a:solidFill>
                <a:latin typeface="Arial" panose="020B0604020202090204" pitchFamily="34" charset="0"/>
              </a:rPr>
              <a:t>a,b</a:t>
            </a:r>
            <a:r>
              <a:rPr lang="zh-CN" altLang="en-US" sz="1500" b="1" dirty="0">
                <a:solidFill>
                  <a:srgbClr val="0000CC"/>
                </a:solidFill>
                <a:latin typeface="Arial" panose="020B0604020202090204" pitchFamily="34" charset="0"/>
              </a:rPr>
              <a:t>中较大者</a:t>
            </a:r>
          </a:p>
        </p:txBody>
      </p:sp>
      <p:sp>
        <p:nvSpPr>
          <p:cNvPr id="6" name="圆角矩形标注 5"/>
          <p:cNvSpPr/>
          <p:nvPr/>
        </p:nvSpPr>
        <p:spPr>
          <a:xfrm>
            <a:off x="3964781" y="2151460"/>
            <a:ext cx="1782366" cy="332184"/>
          </a:xfrm>
          <a:prstGeom prst="wedgeRoundRectCallout">
            <a:avLst>
              <a:gd name="adj1" fmla="val -105250"/>
              <a:gd name="adj2" fmla="val -87644"/>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en-US" altLang="zh-CN" sz="1500" b="1" dirty="0">
                <a:solidFill>
                  <a:srgbClr val="0000CC"/>
                </a:solidFill>
                <a:latin typeface="Arial" panose="020B0604020202090204" pitchFamily="34" charset="0"/>
              </a:rPr>
              <a:t>a,b,c</a:t>
            </a:r>
            <a:r>
              <a:rPr lang="zh-CN" altLang="en-US" sz="1500" b="1" dirty="0">
                <a:solidFill>
                  <a:srgbClr val="0000CC"/>
                </a:solidFill>
                <a:latin typeface="Arial" panose="020B0604020202090204" pitchFamily="34" charset="0"/>
              </a:rPr>
              <a:t>中较大者</a:t>
            </a:r>
          </a:p>
        </p:txBody>
      </p:sp>
      <p:sp>
        <p:nvSpPr>
          <p:cNvPr id="8" name="圆角矩形标注 7"/>
          <p:cNvSpPr/>
          <p:nvPr/>
        </p:nvSpPr>
        <p:spPr>
          <a:xfrm>
            <a:off x="3912394" y="2580085"/>
            <a:ext cx="2009775" cy="332184"/>
          </a:xfrm>
          <a:prstGeom prst="wedgeRoundRectCallout">
            <a:avLst>
              <a:gd name="adj1" fmla="val -97676"/>
              <a:gd name="adj2" fmla="val -124713"/>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en-US" altLang="zh-CN" sz="1500" b="1" dirty="0">
                <a:solidFill>
                  <a:srgbClr val="0000CC"/>
                </a:solidFill>
                <a:latin typeface="Arial" panose="020B0604020202090204" pitchFamily="34" charset="0"/>
              </a:rPr>
              <a:t>a,b,c,d</a:t>
            </a:r>
            <a:r>
              <a:rPr lang="zh-CN" altLang="en-US" sz="1500" b="1" dirty="0">
                <a:solidFill>
                  <a:srgbClr val="0000CC"/>
                </a:solidFill>
                <a:latin typeface="Arial" panose="020B0604020202090204" pitchFamily="34" charset="0"/>
              </a:rPr>
              <a:t>中最大者</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2" grpId="0" bldLvl="0" animBg="1"/>
      <p:bldP spid="6" grpId="0" bldLvl="0" animBg="1"/>
      <p:bldP spid="8"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3"/>
          <p:cNvSpPr>
            <a:spLocks noGrp="1"/>
          </p:cNvSpPr>
          <p:nvPr>
            <p:ph idx="1" hasCustomPrompt="1"/>
          </p:nvPr>
        </p:nvSpPr>
        <p:spPr>
          <a:xfrm>
            <a:off x="1410891" y="750094"/>
            <a:ext cx="4875609" cy="3161110"/>
          </a:xfrm>
        </p:spPr>
        <p:txBody>
          <a:bodyPr vert="horz" wrap="square" lIns="68580" tIns="34290" rIns="68580" bIns="34290" anchor="t" anchorCtr="0"/>
          <a:lstStyle/>
          <a:p>
            <a:pPr eaLnBrk="1" hangingPunct="1">
              <a:buNone/>
            </a:pPr>
            <a:r>
              <a:rPr lang="en-US" altLang="zh-CN" sz="1800" dirty="0"/>
              <a:t>int max4(int a,int b,int c,int d)</a:t>
            </a:r>
            <a:endParaRPr lang="zh-CN" altLang="zh-CN" sz="1800" dirty="0"/>
          </a:p>
          <a:p>
            <a:pPr eaLnBrk="1" hangingPunct="1">
              <a:buNone/>
            </a:pPr>
            <a:r>
              <a:rPr lang="en-US" altLang="zh-CN" sz="1800" dirty="0"/>
              <a:t>{  </a:t>
            </a:r>
            <a:r>
              <a:rPr lang="en-US" altLang="zh-CN" sz="1800" dirty="0">
                <a:solidFill>
                  <a:srgbClr val="9D138D"/>
                </a:solidFill>
              </a:rPr>
              <a:t>int max2(int a,int b); </a:t>
            </a:r>
            <a:endParaRPr lang="zh-CN" altLang="zh-CN" sz="1800" dirty="0">
              <a:solidFill>
                <a:srgbClr val="9D138D"/>
              </a:solidFill>
            </a:endParaRPr>
          </a:p>
          <a:p>
            <a:pPr eaLnBrk="1" hangingPunct="1">
              <a:buNone/>
            </a:pPr>
            <a:r>
              <a:rPr lang="en-US" altLang="zh-CN" sz="1800" dirty="0"/>
              <a:t>    int m; </a:t>
            </a:r>
            <a:endParaRPr lang="zh-CN" altLang="zh-CN" sz="1800" dirty="0"/>
          </a:p>
          <a:p>
            <a:pPr eaLnBrk="1" hangingPunct="1">
              <a:buNone/>
            </a:pPr>
            <a:r>
              <a:rPr lang="en-US" altLang="zh-CN" sz="1800" dirty="0"/>
              <a:t>    m=</a:t>
            </a:r>
            <a:r>
              <a:rPr lang="en-US" altLang="zh-CN" sz="1800" dirty="0">
                <a:solidFill>
                  <a:srgbClr val="9D138D"/>
                </a:solidFill>
              </a:rPr>
              <a:t>max2</a:t>
            </a:r>
            <a:r>
              <a:rPr lang="en-US" altLang="zh-CN" sz="1800" dirty="0"/>
              <a:t>(a,b); </a:t>
            </a:r>
            <a:endParaRPr lang="zh-CN" altLang="zh-CN" sz="1800" dirty="0"/>
          </a:p>
          <a:p>
            <a:pPr eaLnBrk="1" hangingPunct="1">
              <a:buNone/>
            </a:pPr>
            <a:r>
              <a:rPr lang="en-US" altLang="zh-CN" sz="1800" dirty="0"/>
              <a:t>    m=</a:t>
            </a:r>
            <a:r>
              <a:rPr lang="en-US" altLang="zh-CN" sz="1800" dirty="0">
                <a:solidFill>
                  <a:srgbClr val="9D138D"/>
                </a:solidFill>
              </a:rPr>
              <a:t>max2</a:t>
            </a:r>
            <a:r>
              <a:rPr lang="en-US" altLang="zh-CN" sz="1800" dirty="0"/>
              <a:t>(m,c);                          </a:t>
            </a:r>
            <a:endParaRPr lang="zh-CN" altLang="zh-CN" sz="1800" dirty="0"/>
          </a:p>
          <a:p>
            <a:pPr eaLnBrk="1" hangingPunct="1">
              <a:buNone/>
            </a:pPr>
            <a:r>
              <a:rPr lang="en-US" altLang="zh-CN" sz="1800" dirty="0"/>
              <a:t>    m=</a:t>
            </a:r>
            <a:r>
              <a:rPr lang="en-US" altLang="zh-CN" sz="1800" dirty="0">
                <a:solidFill>
                  <a:srgbClr val="9D138D"/>
                </a:solidFill>
              </a:rPr>
              <a:t>max2</a:t>
            </a:r>
            <a:r>
              <a:rPr lang="en-US" altLang="zh-CN" sz="1800" dirty="0"/>
              <a:t>(m,d);            </a:t>
            </a:r>
            <a:endParaRPr lang="zh-CN" altLang="zh-CN" sz="1800" dirty="0"/>
          </a:p>
          <a:p>
            <a:pPr eaLnBrk="1" hangingPunct="1">
              <a:buNone/>
            </a:pPr>
            <a:r>
              <a:rPr lang="en-US" altLang="zh-CN" sz="1800" dirty="0"/>
              <a:t>    return(m); </a:t>
            </a:r>
            <a:endParaRPr lang="zh-CN" altLang="zh-CN" sz="1800" dirty="0"/>
          </a:p>
          <a:p>
            <a:pPr eaLnBrk="1" hangingPunct="1">
              <a:buNone/>
            </a:pPr>
            <a:r>
              <a:rPr lang="en-US" altLang="zh-CN" sz="1800" dirty="0"/>
              <a:t>}</a:t>
            </a:r>
          </a:p>
        </p:txBody>
      </p:sp>
      <p:sp>
        <p:nvSpPr>
          <p:cNvPr id="39938" name="Rectangle 3"/>
          <p:cNvSpPr txBox="1"/>
          <p:nvPr/>
        </p:nvSpPr>
        <p:spPr>
          <a:xfrm>
            <a:off x="1464469" y="375047"/>
            <a:ext cx="1660922" cy="428625"/>
          </a:xfrm>
          <a:prstGeom prst="rect">
            <a:avLst/>
          </a:prstGeom>
          <a:solidFill>
            <a:srgbClr val="FFFFCC"/>
          </a:solidFill>
          <a:ln w="9525">
            <a:noFill/>
          </a:ln>
        </p:spPr>
        <p:txBody>
          <a:bodyPr anchor="t" anchorCtr="0"/>
          <a:lstStyle/>
          <a:p>
            <a:pPr algn="ctr">
              <a:buSzTx/>
            </a:pPr>
            <a:r>
              <a:rPr lang="en-US" altLang="zh-CN" sz="2100" b="1" dirty="0">
                <a:solidFill>
                  <a:srgbClr val="0000CC"/>
                </a:solidFill>
                <a:latin typeface="Arial" panose="020B0604020202090204" pitchFamily="34" charset="0"/>
              </a:rPr>
              <a:t>max4</a:t>
            </a:r>
            <a:r>
              <a:rPr lang="zh-CN" altLang="zh-CN" sz="2100" b="1" dirty="0">
                <a:solidFill>
                  <a:srgbClr val="0000CC"/>
                </a:solidFill>
                <a:latin typeface="Arial" panose="020B0604020202090204" pitchFamily="34" charset="0"/>
              </a:rPr>
              <a:t>函数</a:t>
            </a:r>
          </a:p>
        </p:txBody>
      </p:sp>
      <p:sp>
        <p:nvSpPr>
          <p:cNvPr id="4" name="Rectangle 3"/>
          <p:cNvSpPr txBox="1"/>
          <p:nvPr/>
        </p:nvSpPr>
        <p:spPr>
          <a:xfrm>
            <a:off x="4572000" y="2839641"/>
            <a:ext cx="3161110" cy="1487090"/>
          </a:xfrm>
          <a:prstGeom prst="rect">
            <a:avLst/>
          </a:prstGeom>
          <a:solidFill>
            <a:srgbClr val="CCECFF"/>
          </a:solidFill>
          <a:ln w="9525">
            <a:noFill/>
          </a:ln>
        </p:spPr>
        <p:txBody>
          <a:bodyPr anchor="t" anchorCtr="0"/>
          <a:lstStyle/>
          <a:p>
            <a:pPr>
              <a:buSzTx/>
            </a:pPr>
            <a:r>
              <a:rPr lang="en-US" altLang="zh-CN" sz="1500" b="1" dirty="0" err="1">
                <a:latin typeface="Arial" panose="020B0604020202090204" pitchFamily="34" charset="0"/>
              </a:rPr>
              <a:t>int</a:t>
            </a:r>
            <a:r>
              <a:rPr lang="en-US" altLang="zh-CN" sz="1500" b="1" dirty="0">
                <a:latin typeface="Arial" panose="020B0604020202090204" pitchFamily="34" charset="0"/>
              </a:rPr>
              <a:t> max2(</a:t>
            </a:r>
            <a:r>
              <a:rPr lang="en-US" altLang="zh-CN" sz="1500" b="1" dirty="0" err="1">
                <a:latin typeface="Arial" panose="020B0604020202090204" pitchFamily="34" charset="0"/>
              </a:rPr>
              <a:t>int</a:t>
            </a:r>
            <a:r>
              <a:rPr lang="en-US" altLang="zh-CN" sz="1500" b="1" dirty="0">
                <a:latin typeface="Arial" panose="020B0604020202090204" pitchFamily="34" charset="0"/>
              </a:rPr>
              <a:t> </a:t>
            </a:r>
            <a:r>
              <a:rPr lang="en-US" altLang="zh-CN" sz="1500" b="1" dirty="0" err="1">
                <a:latin typeface="Arial" panose="020B0604020202090204" pitchFamily="34" charset="0"/>
              </a:rPr>
              <a:t>a,int</a:t>
            </a:r>
            <a:r>
              <a:rPr lang="en-US" altLang="zh-CN" sz="1500" b="1" dirty="0">
                <a:latin typeface="Arial" panose="020B0604020202090204" pitchFamily="34" charset="0"/>
              </a:rPr>
              <a:t> b) </a:t>
            </a:r>
            <a:endParaRPr lang="zh-CN" altLang="zh-CN" sz="1500" b="1" dirty="0">
              <a:latin typeface="Arial" panose="020B0604020202090204" pitchFamily="34" charset="0"/>
            </a:endParaRPr>
          </a:p>
          <a:p>
            <a:pPr>
              <a:buSzTx/>
            </a:pPr>
            <a:r>
              <a:rPr lang="en-US" altLang="zh-CN" sz="1500" b="1" dirty="0">
                <a:latin typeface="Arial" panose="020B0604020202090204" pitchFamily="34" charset="0"/>
              </a:rPr>
              <a:t>{  if(a&gt;=b)</a:t>
            </a:r>
            <a:endParaRPr lang="zh-CN" altLang="zh-CN" sz="1500" b="1" dirty="0">
              <a:latin typeface="Arial" panose="020B0604020202090204" pitchFamily="34" charset="0"/>
            </a:endParaRPr>
          </a:p>
          <a:p>
            <a:pPr>
              <a:buSzTx/>
            </a:pPr>
            <a:r>
              <a:rPr lang="en-US" altLang="zh-CN" sz="1500" b="1" dirty="0">
                <a:latin typeface="Arial" panose="020B0604020202090204" pitchFamily="34" charset="0"/>
              </a:rPr>
              <a:t>        return a;  </a:t>
            </a:r>
            <a:endParaRPr lang="zh-CN" altLang="zh-CN" sz="1500" b="1" dirty="0">
              <a:latin typeface="Arial" panose="020B0604020202090204" pitchFamily="34" charset="0"/>
            </a:endParaRPr>
          </a:p>
          <a:p>
            <a:pPr>
              <a:buSzTx/>
            </a:pPr>
            <a:r>
              <a:rPr lang="en-US" altLang="zh-CN" sz="1500" b="1" dirty="0">
                <a:latin typeface="Arial" panose="020B0604020202090204" pitchFamily="34" charset="0"/>
              </a:rPr>
              <a:t>    else </a:t>
            </a:r>
            <a:endParaRPr lang="zh-CN" altLang="zh-CN" sz="1500" b="1" dirty="0">
              <a:latin typeface="Arial" panose="020B0604020202090204" pitchFamily="34" charset="0"/>
            </a:endParaRPr>
          </a:p>
          <a:p>
            <a:pPr>
              <a:buSzTx/>
            </a:pPr>
            <a:r>
              <a:rPr lang="en-US" altLang="zh-CN" sz="1500" b="1" dirty="0">
                <a:latin typeface="Arial" panose="020B0604020202090204" pitchFamily="34" charset="0"/>
              </a:rPr>
              <a:t>        return b;       </a:t>
            </a:r>
            <a:endParaRPr lang="zh-CN" altLang="zh-CN" sz="1500" b="1" dirty="0">
              <a:latin typeface="Arial" panose="020B0604020202090204" pitchFamily="34" charset="0"/>
            </a:endParaRPr>
          </a:p>
          <a:p>
            <a:pPr>
              <a:buSzTx/>
            </a:pPr>
            <a:r>
              <a:rPr lang="en-US" altLang="zh-CN" sz="1500" b="1" dirty="0">
                <a:latin typeface="Arial" panose="020B0604020202090204" pitchFamily="34" charset="0"/>
              </a:rPr>
              <a:t>}</a:t>
            </a:r>
          </a:p>
        </p:txBody>
      </p:sp>
      <p:sp>
        <p:nvSpPr>
          <p:cNvPr id="6" name="Rectangle 3"/>
          <p:cNvSpPr txBox="1"/>
          <p:nvPr/>
        </p:nvSpPr>
        <p:spPr>
          <a:xfrm>
            <a:off x="5375672" y="2382441"/>
            <a:ext cx="1660922" cy="428625"/>
          </a:xfrm>
          <a:prstGeom prst="rect">
            <a:avLst/>
          </a:prstGeom>
          <a:solidFill>
            <a:srgbClr val="FFFFCC"/>
          </a:solidFill>
          <a:ln w="9525">
            <a:noFill/>
          </a:ln>
        </p:spPr>
        <p:txBody>
          <a:bodyPr anchor="t" anchorCtr="0"/>
          <a:lstStyle/>
          <a:p>
            <a:pPr algn="ctr">
              <a:buSzTx/>
            </a:pPr>
            <a:r>
              <a:rPr lang="en-US" altLang="zh-CN" sz="2100" b="1" dirty="0">
                <a:solidFill>
                  <a:srgbClr val="0000CC"/>
                </a:solidFill>
                <a:latin typeface="Arial" panose="020B0604020202090204" pitchFamily="34" charset="0"/>
              </a:rPr>
              <a:t>max2</a:t>
            </a:r>
            <a:r>
              <a:rPr lang="zh-CN" altLang="zh-CN" sz="2100" b="1" dirty="0">
                <a:solidFill>
                  <a:srgbClr val="0000CC"/>
                </a:solidFill>
                <a:latin typeface="Arial" panose="020B0604020202090204" pitchFamily="34" charset="0"/>
              </a:rPr>
              <a:t>函数</a:t>
            </a:r>
          </a:p>
        </p:txBody>
      </p:sp>
      <p:sp>
        <p:nvSpPr>
          <p:cNvPr id="7" name="圆角矩形标注 6"/>
          <p:cNvSpPr/>
          <p:nvPr/>
        </p:nvSpPr>
        <p:spPr>
          <a:xfrm>
            <a:off x="2281238" y="3640931"/>
            <a:ext cx="2143125" cy="428625"/>
          </a:xfrm>
          <a:prstGeom prst="wedgeRoundRectCallout">
            <a:avLst>
              <a:gd name="adj1" fmla="val 55245"/>
              <a:gd name="adj2" fmla="val -178500"/>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找</a:t>
            </a:r>
            <a:r>
              <a:rPr lang="en-US" altLang="zh-CN" sz="2100" b="1" dirty="0">
                <a:solidFill>
                  <a:srgbClr val="0000CC"/>
                </a:solidFill>
                <a:latin typeface="Arial" panose="020B0604020202090204" pitchFamily="34" charset="0"/>
              </a:rPr>
              <a:t>a,b</a:t>
            </a:r>
            <a:r>
              <a:rPr lang="zh-CN" altLang="en-US" sz="2100" b="1" dirty="0">
                <a:solidFill>
                  <a:srgbClr val="0000CC"/>
                </a:solidFill>
                <a:latin typeface="Arial" panose="020B0604020202090204" pitchFamily="34" charset="0"/>
              </a:rPr>
              <a:t>中较大者</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linds(horizontal)">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linds(horizontal)">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6" grpId="0" bldLvl="0" animBg="1"/>
      <p:bldP spid="7"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3"/>
          <p:cNvSpPr>
            <a:spLocks noGrp="1"/>
          </p:cNvSpPr>
          <p:nvPr>
            <p:ph idx="1" hasCustomPrompt="1"/>
          </p:nvPr>
        </p:nvSpPr>
        <p:spPr>
          <a:xfrm>
            <a:off x="1410891" y="750094"/>
            <a:ext cx="4875609" cy="3161110"/>
          </a:xfrm>
        </p:spPr>
        <p:txBody>
          <a:bodyPr vert="horz" wrap="square" lIns="68580" tIns="34290" rIns="68580" bIns="34290" anchor="t" anchorCtr="0"/>
          <a:lstStyle/>
          <a:p>
            <a:pPr eaLnBrk="1" hangingPunct="1">
              <a:buNone/>
            </a:pPr>
            <a:r>
              <a:rPr lang="en-US" altLang="zh-CN" sz="1800" dirty="0"/>
              <a:t>int max4(int a,int b,int c,int d)</a:t>
            </a:r>
            <a:endParaRPr lang="zh-CN" altLang="zh-CN" sz="1800" dirty="0"/>
          </a:p>
          <a:p>
            <a:pPr eaLnBrk="1" hangingPunct="1">
              <a:buNone/>
            </a:pPr>
            <a:r>
              <a:rPr lang="en-US" altLang="zh-CN" sz="1800" dirty="0"/>
              <a:t>{  </a:t>
            </a:r>
            <a:r>
              <a:rPr lang="en-US" altLang="zh-CN" sz="1800" dirty="0">
                <a:solidFill>
                  <a:srgbClr val="9D138D"/>
                </a:solidFill>
              </a:rPr>
              <a:t>int max2(int a,int b); </a:t>
            </a:r>
            <a:endParaRPr lang="zh-CN" altLang="zh-CN" sz="1800" dirty="0">
              <a:solidFill>
                <a:srgbClr val="9D138D"/>
              </a:solidFill>
            </a:endParaRPr>
          </a:p>
          <a:p>
            <a:pPr eaLnBrk="1" hangingPunct="1">
              <a:buNone/>
            </a:pPr>
            <a:r>
              <a:rPr lang="en-US" altLang="zh-CN" sz="1800" dirty="0"/>
              <a:t>    int m; </a:t>
            </a:r>
            <a:endParaRPr lang="zh-CN" altLang="zh-CN" sz="1800" dirty="0"/>
          </a:p>
          <a:p>
            <a:pPr eaLnBrk="1" hangingPunct="1">
              <a:buNone/>
            </a:pPr>
            <a:r>
              <a:rPr lang="en-US" altLang="zh-CN" sz="1800" dirty="0"/>
              <a:t>    m=</a:t>
            </a:r>
            <a:r>
              <a:rPr lang="en-US" altLang="zh-CN" sz="1800" dirty="0">
                <a:solidFill>
                  <a:srgbClr val="9D138D"/>
                </a:solidFill>
              </a:rPr>
              <a:t>max2</a:t>
            </a:r>
            <a:r>
              <a:rPr lang="en-US" altLang="zh-CN" sz="1800" dirty="0"/>
              <a:t>(a,b); </a:t>
            </a:r>
            <a:endParaRPr lang="zh-CN" altLang="zh-CN" sz="1800" dirty="0"/>
          </a:p>
          <a:p>
            <a:pPr eaLnBrk="1" hangingPunct="1">
              <a:buNone/>
            </a:pPr>
            <a:r>
              <a:rPr lang="en-US" altLang="zh-CN" sz="1800" dirty="0"/>
              <a:t>    m=</a:t>
            </a:r>
            <a:r>
              <a:rPr lang="en-US" altLang="zh-CN" sz="1800" dirty="0">
                <a:solidFill>
                  <a:srgbClr val="9D138D"/>
                </a:solidFill>
              </a:rPr>
              <a:t>max2</a:t>
            </a:r>
            <a:r>
              <a:rPr lang="en-US" altLang="zh-CN" sz="1800" dirty="0"/>
              <a:t>(m,c);                          </a:t>
            </a:r>
            <a:endParaRPr lang="zh-CN" altLang="zh-CN" sz="1800" dirty="0"/>
          </a:p>
          <a:p>
            <a:pPr eaLnBrk="1" hangingPunct="1">
              <a:buNone/>
            </a:pPr>
            <a:r>
              <a:rPr lang="en-US" altLang="zh-CN" sz="1800" dirty="0"/>
              <a:t>    m=</a:t>
            </a:r>
            <a:r>
              <a:rPr lang="en-US" altLang="zh-CN" sz="1800" dirty="0">
                <a:solidFill>
                  <a:srgbClr val="9D138D"/>
                </a:solidFill>
              </a:rPr>
              <a:t>max2</a:t>
            </a:r>
            <a:r>
              <a:rPr lang="en-US" altLang="zh-CN" sz="1800" dirty="0"/>
              <a:t>(m,d);            </a:t>
            </a:r>
            <a:endParaRPr lang="zh-CN" altLang="zh-CN" sz="1800" dirty="0"/>
          </a:p>
          <a:p>
            <a:pPr eaLnBrk="1" hangingPunct="1">
              <a:buNone/>
            </a:pPr>
            <a:r>
              <a:rPr lang="en-US" altLang="zh-CN" sz="1800" dirty="0"/>
              <a:t>    return(m); </a:t>
            </a:r>
            <a:endParaRPr lang="zh-CN" altLang="zh-CN" sz="1800" dirty="0"/>
          </a:p>
          <a:p>
            <a:pPr eaLnBrk="1" hangingPunct="1">
              <a:buNone/>
            </a:pPr>
            <a:r>
              <a:rPr lang="en-US" altLang="zh-CN" sz="1800" dirty="0"/>
              <a:t>}</a:t>
            </a:r>
          </a:p>
        </p:txBody>
      </p:sp>
      <p:sp>
        <p:nvSpPr>
          <p:cNvPr id="40962" name="Rectangle 3"/>
          <p:cNvSpPr txBox="1"/>
          <p:nvPr/>
        </p:nvSpPr>
        <p:spPr>
          <a:xfrm>
            <a:off x="1464469" y="375047"/>
            <a:ext cx="1660922" cy="428625"/>
          </a:xfrm>
          <a:prstGeom prst="rect">
            <a:avLst/>
          </a:prstGeom>
          <a:solidFill>
            <a:srgbClr val="FFFFCC"/>
          </a:solidFill>
          <a:ln w="9525">
            <a:noFill/>
          </a:ln>
        </p:spPr>
        <p:txBody>
          <a:bodyPr anchor="t" anchorCtr="0"/>
          <a:lstStyle/>
          <a:p>
            <a:pPr algn="ctr">
              <a:buSzTx/>
            </a:pPr>
            <a:r>
              <a:rPr lang="en-US" altLang="zh-CN" sz="2100" b="1" dirty="0">
                <a:solidFill>
                  <a:srgbClr val="0000CC"/>
                </a:solidFill>
                <a:latin typeface="Arial" panose="020B0604020202090204" pitchFamily="34" charset="0"/>
              </a:rPr>
              <a:t>max4</a:t>
            </a:r>
            <a:r>
              <a:rPr lang="zh-CN" altLang="zh-CN" sz="2100" b="1" dirty="0">
                <a:solidFill>
                  <a:srgbClr val="0000CC"/>
                </a:solidFill>
                <a:latin typeface="Arial" panose="020B0604020202090204" pitchFamily="34" charset="0"/>
              </a:rPr>
              <a:t>函数</a:t>
            </a:r>
          </a:p>
        </p:txBody>
      </p:sp>
      <p:sp>
        <p:nvSpPr>
          <p:cNvPr id="40963" name="Rectangle 3"/>
          <p:cNvSpPr txBox="1"/>
          <p:nvPr/>
        </p:nvSpPr>
        <p:spPr>
          <a:xfrm>
            <a:off x="4572000" y="2839641"/>
            <a:ext cx="3161110" cy="1982390"/>
          </a:xfrm>
          <a:prstGeom prst="rect">
            <a:avLst/>
          </a:prstGeom>
          <a:solidFill>
            <a:srgbClr val="CCECFF"/>
          </a:solidFill>
          <a:ln w="9525">
            <a:noFill/>
          </a:ln>
        </p:spPr>
        <p:txBody>
          <a:bodyPr anchor="t" anchorCtr="0"/>
          <a:lstStyle/>
          <a:p>
            <a:pPr>
              <a:buSzTx/>
            </a:pPr>
            <a:r>
              <a:rPr lang="en-US" altLang="zh-CN" b="1" dirty="0" err="1">
                <a:latin typeface="Arial" panose="020B0604020202090204" pitchFamily="34" charset="0"/>
              </a:rPr>
              <a:t>int</a:t>
            </a:r>
            <a:r>
              <a:rPr lang="en-US" altLang="zh-CN" b="1" dirty="0">
                <a:latin typeface="Arial" panose="020B0604020202090204" pitchFamily="34" charset="0"/>
              </a:rPr>
              <a:t> max2(</a:t>
            </a:r>
            <a:r>
              <a:rPr lang="en-US" altLang="zh-CN" b="1" dirty="0" err="1">
                <a:latin typeface="Arial" panose="020B0604020202090204" pitchFamily="34" charset="0"/>
              </a:rPr>
              <a:t>int</a:t>
            </a:r>
            <a:r>
              <a:rPr lang="en-US" altLang="zh-CN" b="1" dirty="0">
                <a:latin typeface="Arial" panose="020B0604020202090204" pitchFamily="34" charset="0"/>
              </a:rPr>
              <a:t> </a:t>
            </a:r>
            <a:r>
              <a:rPr lang="en-US" altLang="zh-CN" b="1" dirty="0" err="1">
                <a:latin typeface="Arial" panose="020B0604020202090204" pitchFamily="34" charset="0"/>
              </a:rPr>
              <a:t>a,int</a:t>
            </a:r>
            <a:r>
              <a:rPr lang="en-US" altLang="zh-CN" b="1" dirty="0">
                <a:latin typeface="Arial" panose="020B0604020202090204" pitchFamily="34" charset="0"/>
              </a:rPr>
              <a:t> b) </a:t>
            </a:r>
            <a:endParaRPr lang="zh-CN" altLang="zh-CN" b="1" dirty="0">
              <a:latin typeface="Arial" panose="020B0604020202090204" pitchFamily="34" charset="0"/>
            </a:endParaRPr>
          </a:p>
          <a:p>
            <a:pPr>
              <a:buSzTx/>
            </a:pPr>
            <a:r>
              <a:rPr lang="en-US" altLang="zh-CN" b="1" dirty="0">
                <a:latin typeface="Arial" panose="020B0604020202090204" pitchFamily="34" charset="0"/>
              </a:rPr>
              <a:t>{  if(a&gt;=b)</a:t>
            </a:r>
            <a:endParaRPr lang="zh-CN" altLang="zh-CN" b="1" dirty="0">
              <a:latin typeface="Arial" panose="020B0604020202090204" pitchFamily="34" charset="0"/>
            </a:endParaRPr>
          </a:p>
          <a:p>
            <a:pPr>
              <a:buSzTx/>
            </a:pPr>
            <a:r>
              <a:rPr lang="en-US" altLang="zh-CN" b="1" dirty="0">
                <a:latin typeface="Arial" panose="020B0604020202090204" pitchFamily="34" charset="0"/>
              </a:rPr>
              <a:t>        return a;  </a:t>
            </a:r>
            <a:endParaRPr lang="zh-CN" altLang="zh-CN" b="1" dirty="0">
              <a:latin typeface="Arial" panose="020B0604020202090204" pitchFamily="34" charset="0"/>
            </a:endParaRPr>
          </a:p>
          <a:p>
            <a:pPr>
              <a:buSzTx/>
            </a:pPr>
            <a:r>
              <a:rPr lang="en-US" altLang="zh-CN" b="1" dirty="0">
                <a:latin typeface="Arial" panose="020B0604020202090204" pitchFamily="34" charset="0"/>
              </a:rPr>
              <a:t>    else </a:t>
            </a:r>
            <a:endParaRPr lang="zh-CN" altLang="zh-CN" b="1" dirty="0">
              <a:latin typeface="Arial" panose="020B0604020202090204" pitchFamily="34" charset="0"/>
            </a:endParaRPr>
          </a:p>
          <a:p>
            <a:pPr>
              <a:buSzTx/>
            </a:pPr>
            <a:r>
              <a:rPr lang="en-US" altLang="zh-CN" b="1" dirty="0">
                <a:latin typeface="Arial" panose="020B0604020202090204" pitchFamily="34" charset="0"/>
              </a:rPr>
              <a:t>        return b;       </a:t>
            </a:r>
            <a:endParaRPr lang="zh-CN" altLang="zh-CN" b="1" dirty="0">
              <a:latin typeface="Arial" panose="020B0604020202090204" pitchFamily="34" charset="0"/>
            </a:endParaRPr>
          </a:p>
          <a:p>
            <a:pPr>
              <a:buSzTx/>
            </a:pPr>
            <a:r>
              <a:rPr lang="en-US" altLang="zh-CN" b="1" dirty="0">
                <a:latin typeface="Arial" panose="020B0604020202090204" pitchFamily="34" charset="0"/>
              </a:rPr>
              <a:t>}</a:t>
            </a:r>
          </a:p>
        </p:txBody>
      </p:sp>
      <p:sp>
        <p:nvSpPr>
          <p:cNvPr id="40964" name="Rectangle 3"/>
          <p:cNvSpPr txBox="1"/>
          <p:nvPr/>
        </p:nvSpPr>
        <p:spPr>
          <a:xfrm>
            <a:off x="5375672" y="2382441"/>
            <a:ext cx="1660922" cy="428625"/>
          </a:xfrm>
          <a:prstGeom prst="rect">
            <a:avLst/>
          </a:prstGeom>
          <a:solidFill>
            <a:srgbClr val="FFFFCC"/>
          </a:solidFill>
          <a:ln w="9525">
            <a:noFill/>
          </a:ln>
        </p:spPr>
        <p:txBody>
          <a:bodyPr anchor="t" anchorCtr="0"/>
          <a:lstStyle/>
          <a:p>
            <a:pPr algn="ctr">
              <a:buSzTx/>
            </a:pPr>
            <a:r>
              <a:rPr lang="en-US" altLang="zh-CN" sz="2100" b="1" dirty="0">
                <a:solidFill>
                  <a:srgbClr val="0000CC"/>
                </a:solidFill>
                <a:latin typeface="Arial" panose="020B0604020202090204" pitchFamily="34" charset="0"/>
              </a:rPr>
              <a:t>max2</a:t>
            </a:r>
            <a:r>
              <a:rPr lang="zh-CN" altLang="zh-CN" sz="2100" b="1" dirty="0">
                <a:solidFill>
                  <a:srgbClr val="0000CC"/>
                </a:solidFill>
                <a:latin typeface="Arial" panose="020B0604020202090204" pitchFamily="34" charset="0"/>
              </a:rPr>
              <a:t>函数</a:t>
            </a:r>
          </a:p>
        </p:txBody>
      </p:sp>
      <p:sp>
        <p:nvSpPr>
          <p:cNvPr id="7" name="圆角矩形标注 6"/>
          <p:cNvSpPr/>
          <p:nvPr/>
        </p:nvSpPr>
        <p:spPr>
          <a:xfrm>
            <a:off x="1882379" y="3994547"/>
            <a:ext cx="2464594" cy="428625"/>
          </a:xfrm>
          <a:prstGeom prst="wedgeRoundRectCallout">
            <a:avLst>
              <a:gd name="adj1" fmla="val 67060"/>
              <a:gd name="adj2" fmla="val -176310"/>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en-US" altLang="zh-CN" sz="2100" b="1" dirty="0">
                <a:solidFill>
                  <a:srgbClr val="0000CC"/>
                </a:solidFill>
                <a:latin typeface="Arial" panose="020B0604020202090204" pitchFamily="34" charset="0"/>
              </a:rPr>
              <a:t>return(a&gt;b?a:b);</a:t>
            </a:r>
            <a:endParaRPr lang="zh-CN" altLang="en-US" sz="2100" b="1" dirty="0">
              <a:solidFill>
                <a:srgbClr val="0000CC"/>
              </a:solidFill>
              <a:latin typeface="Arial" panose="020B0604020202090204" pitchFamily="34" charset="0"/>
            </a:endParaRPr>
          </a:p>
        </p:txBody>
      </p:sp>
      <p:sp>
        <p:nvSpPr>
          <p:cNvPr id="8" name="矩形 7"/>
          <p:cNvSpPr/>
          <p:nvPr/>
        </p:nvSpPr>
        <p:spPr>
          <a:xfrm>
            <a:off x="4797029" y="3131344"/>
            <a:ext cx="1900238" cy="1291829"/>
          </a:xfrm>
          <a:prstGeom prst="rect">
            <a:avLst/>
          </a:prstGeom>
          <a:noFill/>
          <a:ln w="38100" cap="flat" cmpd="sng">
            <a:solidFill>
              <a:srgbClr val="FF0000"/>
            </a:solidFill>
            <a:prstDash val="solid"/>
            <a:miter/>
            <a:headEnd type="none" w="med" len="med"/>
            <a:tailEnd type="none" w="med" len="med"/>
          </a:ln>
        </p:spPr>
        <p:txBody>
          <a:bodyPr wrap="none" anchor="t" anchorCtr="0"/>
          <a:lstStyle/>
          <a:p>
            <a:pPr>
              <a:buSzTx/>
            </a:pPr>
            <a:endParaRPr lang="zh-CN" altLang="en-US" sz="3000" dirty="0">
              <a:latin typeface="Arial" panose="020B060402020209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3"/>
          <p:cNvSpPr>
            <a:spLocks noGrp="1"/>
          </p:cNvSpPr>
          <p:nvPr>
            <p:ph idx="1" hasCustomPrompt="1"/>
          </p:nvPr>
        </p:nvSpPr>
        <p:spPr>
          <a:xfrm>
            <a:off x="1410891" y="750094"/>
            <a:ext cx="4875609" cy="3161110"/>
          </a:xfrm>
        </p:spPr>
        <p:txBody>
          <a:bodyPr vert="horz" wrap="square" lIns="68580" tIns="34290" rIns="68580" bIns="34290" anchor="t" anchorCtr="0"/>
          <a:lstStyle/>
          <a:p>
            <a:pPr eaLnBrk="1" hangingPunct="1">
              <a:buNone/>
            </a:pPr>
            <a:r>
              <a:rPr lang="en-US" altLang="zh-CN" sz="1800" dirty="0"/>
              <a:t>int max4(int a,int b,int c,int d)</a:t>
            </a:r>
            <a:endParaRPr lang="zh-CN" altLang="zh-CN" sz="1800" dirty="0"/>
          </a:p>
          <a:p>
            <a:pPr eaLnBrk="1" hangingPunct="1">
              <a:buNone/>
            </a:pPr>
            <a:r>
              <a:rPr lang="en-US" altLang="zh-CN" sz="1800" dirty="0"/>
              <a:t>{  </a:t>
            </a:r>
            <a:r>
              <a:rPr lang="en-US" altLang="zh-CN" sz="1800" dirty="0">
                <a:solidFill>
                  <a:srgbClr val="9D138D"/>
                </a:solidFill>
              </a:rPr>
              <a:t>int max2(int a,int b); </a:t>
            </a:r>
            <a:endParaRPr lang="zh-CN" altLang="zh-CN" sz="1800" dirty="0">
              <a:solidFill>
                <a:srgbClr val="9D138D"/>
              </a:solidFill>
            </a:endParaRPr>
          </a:p>
          <a:p>
            <a:pPr eaLnBrk="1" hangingPunct="1">
              <a:buNone/>
            </a:pPr>
            <a:r>
              <a:rPr lang="en-US" altLang="zh-CN" sz="1800" dirty="0"/>
              <a:t>    int m; </a:t>
            </a:r>
            <a:endParaRPr lang="zh-CN" altLang="zh-CN" sz="1800" dirty="0"/>
          </a:p>
          <a:p>
            <a:pPr eaLnBrk="1" hangingPunct="1">
              <a:buNone/>
            </a:pPr>
            <a:r>
              <a:rPr lang="en-US" altLang="zh-CN" sz="1800" dirty="0"/>
              <a:t>    m=</a:t>
            </a:r>
            <a:r>
              <a:rPr lang="en-US" altLang="zh-CN" sz="1800" dirty="0">
                <a:solidFill>
                  <a:srgbClr val="9D138D"/>
                </a:solidFill>
              </a:rPr>
              <a:t>max2</a:t>
            </a:r>
            <a:r>
              <a:rPr lang="en-US" altLang="zh-CN" sz="1800" dirty="0"/>
              <a:t>(a,b); </a:t>
            </a:r>
            <a:endParaRPr lang="zh-CN" altLang="zh-CN" sz="1800" dirty="0"/>
          </a:p>
          <a:p>
            <a:pPr eaLnBrk="1" hangingPunct="1">
              <a:buNone/>
            </a:pPr>
            <a:r>
              <a:rPr lang="en-US" altLang="zh-CN" sz="1800" dirty="0"/>
              <a:t>    m=</a:t>
            </a:r>
            <a:r>
              <a:rPr lang="en-US" altLang="zh-CN" sz="1800" dirty="0">
                <a:solidFill>
                  <a:srgbClr val="9D138D"/>
                </a:solidFill>
              </a:rPr>
              <a:t>max2</a:t>
            </a:r>
            <a:r>
              <a:rPr lang="en-US" altLang="zh-CN" sz="1800" dirty="0"/>
              <a:t>(m,c);                          </a:t>
            </a:r>
            <a:endParaRPr lang="zh-CN" altLang="zh-CN" sz="1800" dirty="0"/>
          </a:p>
          <a:p>
            <a:pPr eaLnBrk="1" hangingPunct="1">
              <a:buNone/>
            </a:pPr>
            <a:r>
              <a:rPr lang="en-US" altLang="zh-CN" sz="1800" dirty="0"/>
              <a:t>    m=</a:t>
            </a:r>
            <a:r>
              <a:rPr lang="en-US" altLang="zh-CN" sz="1800" dirty="0">
                <a:solidFill>
                  <a:srgbClr val="9D138D"/>
                </a:solidFill>
              </a:rPr>
              <a:t>max2</a:t>
            </a:r>
            <a:r>
              <a:rPr lang="en-US" altLang="zh-CN" sz="1800" dirty="0"/>
              <a:t>(m,d);            </a:t>
            </a:r>
            <a:endParaRPr lang="zh-CN" altLang="zh-CN" sz="1800" dirty="0"/>
          </a:p>
          <a:p>
            <a:pPr eaLnBrk="1" hangingPunct="1">
              <a:buNone/>
            </a:pPr>
            <a:r>
              <a:rPr lang="en-US" altLang="zh-CN" sz="1800" dirty="0"/>
              <a:t>    return(m); </a:t>
            </a:r>
            <a:endParaRPr lang="zh-CN" altLang="zh-CN" sz="1800" dirty="0"/>
          </a:p>
          <a:p>
            <a:pPr eaLnBrk="1" hangingPunct="1">
              <a:buNone/>
            </a:pPr>
            <a:r>
              <a:rPr lang="en-US" altLang="zh-CN" sz="1800" dirty="0"/>
              <a:t>}</a:t>
            </a:r>
          </a:p>
        </p:txBody>
      </p:sp>
      <p:sp>
        <p:nvSpPr>
          <p:cNvPr id="41986" name="Rectangle 3"/>
          <p:cNvSpPr txBox="1"/>
          <p:nvPr/>
        </p:nvSpPr>
        <p:spPr>
          <a:xfrm>
            <a:off x="1464469" y="375047"/>
            <a:ext cx="1660922" cy="428625"/>
          </a:xfrm>
          <a:prstGeom prst="rect">
            <a:avLst/>
          </a:prstGeom>
          <a:solidFill>
            <a:srgbClr val="FFFFCC"/>
          </a:solidFill>
          <a:ln w="9525">
            <a:noFill/>
          </a:ln>
        </p:spPr>
        <p:txBody>
          <a:bodyPr anchor="t" anchorCtr="0"/>
          <a:lstStyle/>
          <a:p>
            <a:pPr algn="ctr">
              <a:buSzTx/>
            </a:pPr>
            <a:r>
              <a:rPr lang="en-US" altLang="zh-CN" sz="2100" b="1" dirty="0">
                <a:solidFill>
                  <a:srgbClr val="0000CC"/>
                </a:solidFill>
                <a:latin typeface="Arial" panose="020B0604020202090204" pitchFamily="34" charset="0"/>
              </a:rPr>
              <a:t>max4</a:t>
            </a:r>
            <a:r>
              <a:rPr lang="zh-CN" altLang="zh-CN" sz="2100" b="1" dirty="0">
                <a:solidFill>
                  <a:srgbClr val="0000CC"/>
                </a:solidFill>
                <a:latin typeface="Arial" panose="020B0604020202090204" pitchFamily="34" charset="0"/>
              </a:rPr>
              <a:t>函数</a:t>
            </a:r>
          </a:p>
        </p:txBody>
      </p:sp>
      <p:sp>
        <p:nvSpPr>
          <p:cNvPr id="7" name="圆角矩形标注 6"/>
          <p:cNvSpPr/>
          <p:nvPr/>
        </p:nvSpPr>
        <p:spPr>
          <a:xfrm>
            <a:off x="3706416" y="1223963"/>
            <a:ext cx="3161109" cy="535781"/>
          </a:xfrm>
          <a:prstGeom prst="wedgeRoundRectCallout">
            <a:avLst>
              <a:gd name="adj1" fmla="val -46639"/>
              <a:gd name="adj2" fmla="val 111690"/>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en-US" altLang="zh-CN" sz="2100" b="1" dirty="0">
                <a:solidFill>
                  <a:srgbClr val="0000CC"/>
                </a:solidFill>
                <a:latin typeface="Arial" panose="020B0604020202090204" pitchFamily="34" charset="0"/>
              </a:rPr>
              <a:t>m=max2(max2(a,b),c);</a:t>
            </a:r>
            <a:endParaRPr lang="zh-CN" altLang="en-US" sz="2100" b="1" dirty="0">
              <a:solidFill>
                <a:srgbClr val="0000CC"/>
              </a:solidFill>
              <a:latin typeface="Arial" panose="020B0604020202090204" pitchFamily="34" charset="0"/>
            </a:endParaRPr>
          </a:p>
        </p:txBody>
      </p:sp>
      <p:sp>
        <p:nvSpPr>
          <p:cNvPr id="8" name="矩形 7"/>
          <p:cNvSpPr/>
          <p:nvPr/>
        </p:nvSpPr>
        <p:spPr>
          <a:xfrm>
            <a:off x="1599010" y="1900079"/>
            <a:ext cx="2035969" cy="622697"/>
          </a:xfrm>
          <a:prstGeom prst="rect">
            <a:avLst/>
          </a:prstGeom>
          <a:noFill/>
          <a:ln w="38100" cap="flat" cmpd="sng">
            <a:solidFill>
              <a:srgbClr val="FF0000"/>
            </a:solidFill>
            <a:prstDash val="solid"/>
            <a:miter/>
            <a:headEnd type="none" w="med" len="med"/>
            <a:tailEnd type="none" w="med" len="med"/>
          </a:ln>
        </p:spPr>
        <p:txBody>
          <a:bodyPr wrap="none" anchor="t" anchorCtr="0"/>
          <a:lstStyle/>
          <a:p>
            <a:pPr>
              <a:buSzTx/>
            </a:pPr>
            <a:endParaRPr lang="zh-CN" altLang="en-US" sz="3000" dirty="0">
              <a:latin typeface="Arial" panose="020B0604020202090204" pitchFamily="34" charset="0"/>
            </a:endParaRPr>
          </a:p>
        </p:txBody>
      </p:sp>
      <p:sp>
        <p:nvSpPr>
          <p:cNvPr id="41989" name="Rectangle 3"/>
          <p:cNvSpPr txBox="1"/>
          <p:nvPr/>
        </p:nvSpPr>
        <p:spPr>
          <a:xfrm>
            <a:off x="1410891" y="3618310"/>
            <a:ext cx="4071938" cy="803672"/>
          </a:xfrm>
          <a:prstGeom prst="rect">
            <a:avLst/>
          </a:prstGeom>
          <a:solidFill>
            <a:srgbClr val="CCECFF"/>
          </a:solidFill>
          <a:ln w="9525">
            <a:noFill/>
          </a:ln>
        </p:spPr>
        <p:txBody>
          <a:bodyPr anchor="t" anchorCtr="0"/>
          <a:lstStyle/>
          <a:p>
            <a:pPr>
              <a:buSzTx/>
            </a:pPr>
            <a:r>
              <a:rPr lang="en-US" altLang="zh-CN" b="1" dirty="0" err="1">
                <a:latin typeface="Arial" panose="020B0604020202090204" pitchFamily="34" charset="0"/>
              </a:rPr>
              <a:t>int</a:t>
            </a:r>
            <a:r>
              <a:rPr lang="en-US" altLang="zh-CN" b="1" dirty="0">
                <a:latin typeface="Arial" panose="020B0604020202090204" pitchFamily="34" charset="0"/>
              </a:rPr>
              <a:t> max2(</a:t>
            </a:r>
            <a:r>
              <a:rPr lang="en-US" altLang="zh-CN" b="1" dirty="0" err="1">
                <a:latin typeface="Arial" panose="020B0604020202090204" pitchFamily="34" charset="0"/>
              </a:rPr>
              <a:t>int</a:t>
            </a:r>
            <a:r>
              <a:rPr lang="en-US" altLang="zh-CN" b="1" dirty="0">
                <a:latin typeface="Arial" panose="020B0604020202090204" pitchFamily="34" charset="0"/>
              </a:rPr>
              <a:t> </a:t>
            </a:r>
            <a:r>
              <a:rPr lang="en-US" altLang="zh-CN" b="1" dirty="0" err="1">
                <a:latin typeface="Arial" panose="020B0604020202090204" pitchFamily="34" charset="0"/>
              </a:rPr>
              <a:t>a,int</a:t>
            </a:r>
            <a:r>
              <a:rPr lang="en-US" altLang="zh-CN" b="1" dirty="0">
                <a:latin typeface="Arial" panose="020B0604020202090204" pitchFamily="34" charset="0"/>
              </a:rPr>
              <a:t> b) {</a:t>
            </a:r>
            <a:r>
              <a:rPr lang="en-US" altLang="zh-CN" b="1" dirty="0">
                <a:solidFill>
                  <a:srgbClr val="0000CC"/>
                </a:solidFill>
                <a:latin typeface="Arial" panose="020B0604020202090204" pitchFamily="34" charset="0"/>
              </a:rPr>
              <a:t>    </a:t>
            </a:r>
            <a:r>
              <a:rPr lang="en-US" altLang="zh-CN" b="1" dirty="0">
                <a:latin typeface="Arial" panose="020B0604020202090204" pitchFamily="34" charset="0"/>
              </a:rPr>
              <a:t>return(a&gt;</a:t>
            </a:r>
            <a:r>
              <a:rPr lang="en-US" altLang="zh-CN" b="1" dirty="0" err="1">
                <a:latin typeface="Arial" panose="020B0604020202090204" pitchFamily="34" charset="0"/>
              </a:rPr>
              <a:t>b?a:b</a:t>
            </a:r>
            <a:r>
              <a:rPr lang="en-US" altLang="zh-CN" b="1" dirty="0">
                <a:latin typeface="Arial" panose="020B0604020202090204" pitchFamily="34" charset="0"/>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3"/>
          <p:cNvSpPr>
            <a:spLocks noGrp="1"/>
          </p:cNvSpPr>
          <p:nvPr>
            <p:ph idx="1" hasCustomPrompt="1"/>
          </p:nvPr>
        </p:nvSpPr>
        <p:spPr>
          <a:xfrm>
            <a:off x="1410891" y="750094"/>
            <a:ext cx="4875609" cy="3161110"/>
          </a:xfrm>
        </p:spPr>
        <p:txBody>
          <a:bodyPr vert="horz" wrap="square" lIns="68580" tIns="34290" rIns="68580" bIns="34290" anchor="t" anchorCtr="0"/>
          <a:lstStyle/>
          <a:p>
            <a:pPr eaLnBrk="1" hangingPunct="1">
              <a:buNone/>
            </a:pPr>
            <a:r>
              <a:rPr lang="en-US" altLang="zh-CN" sz="1800" dirty="0"/>
              <a:t>int max4(int a,int b,int c,int d)</a:t>
            </a:r>
            <a:endParaRPr lang="zh-CN" altLang="zh-CN" sz="1800" dirty="0"/>
          </a:p>
          <a:p>
            <a:pPr eaLnBrk="1" hangingPunct="1">
              <a:buNone/>
            </a:pPr>
            <a:r>
              <a:rPr lang="en-US" altLang="zh-CN" sz="1800" dirty="0"/>
              <a:t>{  </a:t>
            </a:r>
            <a:r>
              <a:rPr lang="en-US" altLang="zh-CN" sz="1800" dirty="0">
                <a:solidFill>
                  <a:srgbClr val="9D138D"/>
                </a:solidFill>
              </a:rPr>
              <a:t>int max2(int a,int b); </a:t>
            </a:r>
            <a:endParaRPr lang="zh-CN" altLang="zh-CN" sz="1800" dirty="0">
              <a:solidFill>
                <a:srgbClr val="9D138D"/>
              </a:solidFill>
            </a:endParaRPr>
          </a:p>
          <a:p>
            <a:pPr eaLnBrk="1" hangingPunct="1">
              <a:buNone/>
            </a:pPr>
            <a:r>
              <a:rPr lang="en-US" altLang="zh-CN" sz="1800" dirty="0"/>
              <a:t>    int m; </a:t>
            </a:r>
            <a:endParaRPr lang="zh-CN" altLang="zh-CN" sz="1800" dirty="0"/>
          </a:p>
          <a:p>
            <a:pPr eaLnBrk="1" hangingPunct="1">
              <a:buNone/>
            </a:pPr>
            <a:r>
              <a:rPr lang="en-US" altLang="zh-CN" sz="1800" dirty="0"/>
              <a:t>    m=</a:t>
            </a:r>
            <a:r>
              <a:rPr lang="en-US" altLang="zh-CN" sz="1800" dirty="0">
                <a:solidFill>
                  <a:srgbClr val="9D138D"/>
                </a:solidFill>
              </a:rPr>
              <a:t>max2</a:t>
            </a:r>
            <a:r>
              <a:rPr lang="en-US" altLang="zh-CN" sz="1800" dirty="0"/>
              <a:t>(a,b); </a:t>
            </a:r>
            <a:endParaRPr lang="zh-CN" altLang="zh-CN" sz="1800" dirty="0"/>
          </a:p>
          <a:p>
            <a:pPr eaLnBrk="1" hangingPunct="1">
              <a:buNone/>
            </a:pPr>
            <a:r>
              <a:rPr lang="en-US" altLang="zh-CN" sz="1800" dirty="0"/>
              <a:t>    m=</a:t>
            </a:r>
            <a:r>
              <a:rPr lang="en-US" altLang="zh-CN" sz="1800" dirty="0">
                <a:solidFill>
                  <a:srgbClr val="9D138D"/>
                </a:solidFill>
              </a:rPr>
              <a:t>max2</a:t>
            </a:r>
            <a:r>
              <a:rPr lang="en-US" altLang="zh-CN" sz="1800" dirty="0"/>
              <a:t>(m,c);                          </a:t>
            </a:r>
            <a:endParaRPr lang="zh-CN" altLang="zh-CN" sz="1800" dirty="0"/>
          </a:p>
          <a:p>
            <a:pPr eaLnBrk="1" hangingPunct="1">
              <a:buNone/>
            </a:pPr>
            <a:r>
              <a:rPr lang="en-US" altLang="zh-CN" sz="1800" dirty="0"/>
              <a:t>    m=</a:t>
            </a:r>
            <a:r>
              <a:rPr lang="en-US" altLang="zh-CN" sz="1800" dirty="0">
                <a:solidFill>
                  <a:srgbClr val="9D138D"/>
                </a:solidFill>
              </a:rPr>
              <a:t>max2</a:t>
            </a:r>
            <a:r>
              <a:rPr lang="en-US" altLang="zh-CN" sz="1800" dirty="0"/>
              <a:t>(m,d);            </a:t>
            </a:r>
            <a:endParaRPr lang="zh-CN" altLang="zh-CN" sz="1800" dirty="0"/>
          </a:p>
          <a:p>
            <a:pPr eaLnBrk="1" hangingPunct="1">
              <a:buNone/>
            </a:pPr>
            <a:r>
              <a:rPr lang="en-US" altLang="zh-CN" sz="1800" dirty="0"/>
              <a:t>    return(m); </a:t>
            </a:r>
            <a:endParaRPr lang="zh-CN" altLang="zh-CN" sz="1800" dirty="0"/>
          </a:p>
          <a:p>
            <a:pPr eaLnBrk="1" hangingPunct="1">
              <a:buNone/>
            </a:pPr>
            <a:r>
              <a:rPr lang="en-US" altLang="zh-CN" sz="1800" dirty="0"/>
              <a:t>}</a:t>
            </a:r>
          </a:p>
        </p:txBody>
      </p:sp>
      <p:sp>
        <p:nvSpPr>
          <p:cNvPr id="43010" name="Rectangle 3"/>
          <p:cNvSpPr txBox="1"/>
          <p:nvPr/>
        </p:nvSpPr>
        <p:spPr>
          <a:xfrm>
            <a:off x="1464469" y="375047"/>
            <a:ext cx="1660922" cy="428625"/>
          </a:xfrm>
          <a:prstGeom prst="rect">
            <a:avLst/>
          </a:prstGeom>
          <a:solidFill>
            <a:srgbClr val="FFFFCC"/>
          </a:solidFill>
          <a:ln w="9525">
            <a:noFill/>
          </a:ln>
        </p:spPr>
        <p:txBody>
          <a:bodyPr anchor="t" anchorCtr="0"/>
          <a:lstStyle/>
          <a:p>
            <a:pPr algn="ctr">
              <a:buSzTx/>
            </a:pPr>
            <a:r>
              <a:rPr lang="en-US" altLang="zh-CN" sz="2100" b="1" dirty="0">
                <a:solidFill>
                  <a:srgbClr val="0000CC"/>
                </a:solidFill>
                <a:latin typeface="Arial" panose="020B0604020202090204" pitchFamily="34" charset="0"/>
              </a:rPr>
              <a:t>max4</a:t>
            </a:r>
            <a:r>
              <a:rPr lang="zh-CN" altLang="zh-CN" sz="2100" b="1" dirty="0">
                <a:solidFill>
                  <a:srgbClr val="0000CC"/>
                </a:solidFill>
                <a:latin typeface="Arial" panose="020B0604020202090204" pitchFamily="34" charset="0"/>
              </a:rPr>
              <a:t>函数</a:t>
            </a:r>
          </a:p>
        </p:txBody>
      </p:sp>
      <p:sp>
        <p:nvSpPr>
          <p:cNvPr id="7" name="圆角矩形标注 6"/>
          <p:cNvSpPr/>
          <p:nvPr/>
        </p:nvSpPr>
        <p:spPr>
          <a:xfrm>
            <a:off x="3764756" y="1376363"/>
            <a:ext cx="3721894" cy="535781"/>
          </a:xfrm>
          <a:prstGeom prst="wedgeRoundRectCallout">
            <a:avLst>
              <a:gd name="adj1" fmla="val -47097"/>
              <a:gd name="adj2" fmla="val 123690"/>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en-US" altLang="zh-CN" b="1" dirty="0">
                <a:solidFill>
                  <a:srgbClr val="0000CC"/>
                </a:solidFill>
                <a:latin typeface="Arial" panose="020B0604020202090204" pitchFamily="34" charset="0"/>
              </a:rPr>
              <a:t>m=max2(max2(max2(a,b),c),d);</a:t>
            </a:r>
          </a:p>
        </p:txBody>
      </p:sp>
      <p:sp>
        <p:nvSpPr>
          <p:cNvPr id="8" name="矩形 7"/>
          <p:cNvSpPr/>
          <p:nvPr/>
        </p:nvSpPr>
        <p:spPr>
          <a:xfrm>
            <a:off x="1598930" y="1798955"/>
            <a:ext cx="2215515" cy="1159510"/>
          </a:xfrm>
          <a:prstGeom prst="rect">
            <a:avLst/>
          </a:prstGeom>
          <a:noFill/>
          <a:ln w="38100" cap="flat" cmpd="sng">
            <a:solidFill>
              <a:srgbClr val="FF0000"/>
            </a:solidFill>
            <a:prstDash val="solid"/>
            <a:miter/>
            <a:headEnd type="none" w="med" len="med"/>
            <a:tailEnd type="none" w="med" len="med"/>
          </a:ln>
        </p:spPr>
        <p:txBody>
          <a:bodyPr wrap="none" anchor="t" anchorCtr="0"/>
          <a:lstStyle/>
          <a:p>
            <a:pPr>
              <a:buSzTx/>
            </a:pPr>
            <a:endParaRPr lang="zh-CN" altLang="en-US" sz="3000" dirty="0">
              <a:latin typeface="Arial" panose="020B0604020202090204" pitchFamily="34" charset="0"/>
            </a:endParaRPr>
          </a:p>
        </p:txBody>
      </p:sp>
      <p:sp>
        <p:nvSpPr>
          <p:cNvPr id="43013" name="Rectangle 3"/>
          <p:cNvSpPr txBox="1"/>
          <p:nvPr/>
        </p:nvSpPr>
        <p:spPr>
          <a:xfrm>
            <a:off x="1410891" y="3612356"/>
            <a:ext cx="4071938" cy="803672"/>
          </a:xfrm>
          <a:prstGeom prst="rect">
            <a:avLst/>
          </a:prstGeom>
          <a:solidFill>
            <a:srgbClr val="CCECFF"/>
          </a:solidFill>
          <a:ln w="9525">
            <a:noFill/>
          </a:ln>
        </p:spPr>
        <p:txBody>
          <a:bodyPr anchor="t" anchorCtr="0"/>
          <a:lstStyle/>
          <a:p>
            <a:pPr>
              <a:buSzTx/>
            </a:pPr>
            <a:r>
              <a:rPr lang="en-US" altLang="zh-CN" b="1" dirty="0" err="1">
                <a:latin typeface="Arial" panose="020B0604020202090204" pitchFamily="34" charset="0"/>
              </a:rPr>
              <a:t>int</a:t>
            </a:r>
            <a:r>
              <a:rPr lang="en-US" altLang="zh-CN" b="1" dirty="0">
                <a:latin typeface="Arial" panose="020B0604020202090204" pitchFamily="34" charset="0"/>
              </a:rPr>
              <a:t> max2(</a:t>
            </a:r>
            <a:r>
              <a:rPr lang="en-US" altLang="zh-CN" b="1" dirty="0" err="1">
                <a:latin typeface="Arial" panose="020B0604020202090204" pitchFamily="34" charset="0"/>
              </a:rPr>
              <a:t>int</a:t>
            </a:r>
            <a:r>
              <a:rPr lang="en-US" altLang="zh-CN" b="1" dirty="0">
                <a:latin typeface="Arial" panose="020B0604020202090204" pitchFamily="34" charset="0"/>
              </a:rPr>
              <a:t> </a:t>
            </a:r>
            <a:r>
              <a:rPr lang="en-US" altLang="zh-CN" b="1" dirty="0" err="1">
                <a:latin typeface="Arial" panose="020B0604020202090204" pitchFamily="34" charset="0"/>
              </a:rPr>
              <a:t>a,int</a:t>
            </a:r>
            <a:r>
              <a:rPr lang="en-US" altLang="zh-CN" b="1" dirty="0">
                <a:latin typeface="Arial" panose="020B0604020202090204" pitchFamily="34" charset="0"/>
              </a:rPr>
              <a:t> b) {</a:t>
            </a:r>
            <a:r>
              <a:rPr lang="en-US" altLang="zh-CN" b="1" dirty="0">
                <a:solidFill>
                  <a:srgbClr val="0000CC"/>
                </a:solidFill>
                <a:latin typeface="Arial" panose="020B0604020202090204" pitchFamily="34" charset="0"/>
              </a:rPr>
              <a:t>    </a:t>
            </a:r>
            <a:r>
              <a:rPr lang="en-US" altLang="zh-CN" b="1" dirty="0">
                <a:latin typeface="Arial" panose="020B0604020202090204" pitchFamily="34" charset="0"/>
              </a:rPr>
              <a:t>return(a&gt;</a:t>
            </a:r>
            <a:r>
              <a:rPr lang="en-US" altLang="zh-CN" b="1" dirty="0" err="1">
                <a:latin typeface="Arial" panose="020B0604020202090204" pitchFamily="34" charset="0"/>
              </a:rPr>
              <a:t>b?a:b</a:t>
            </a:r>
            <a:r>
              <a:rPr lang="en-US" altLang="zh-CN" b="1" dirty="0">
                <a:latin typeface="Arial" panose="020B0604020202090204" pitchFamily="34" charset="0"/>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3"/>
          <p:cNvSpPr>
            <a:spLocks noGrp="1"/>
          </p:cNvSpPr>
          <p:nvPr>
            <p:ph idx="1" hasCustomPrompt="1"/>
          </p:nvPr>
        </p:nvSpPr>
        <p:spPr>
          <a:xfrm>
            <a:off x="1410891" y="750094"/>
            <a:ext cx="4875609" cy="3161110"/>
          </a:xfrm>
        </p:spPr>
        <p:txBody>
          <a:bodyPr vert="horz" wrap="square" lIns="68580" tIns="34290" rIns="68580" bIns="34290" anchor="t" anchorCtr="0"/>
          <a:lstStyle/>
          <a:p>
            <a:pPr eaLnBrk="1" hangingPunct="1">
              <a:buNone/>
            </a:pPr>
            <a:r>
              <a:rPr lang="en-US" altLang="zh-CN" sz="1800" dirty="0"/>
              <a:t>int max4(int a,int b,int c,int d)</a:t>
            </a:r>
            <a:endParaRPr lang="zh-CN" altLang="zh-CN" sz="1800" dirty="0"/>
          </a:p>
          <a:p>
            <a:pPr eaLnBrk="1" hangingPunct="1">
              <a:buNone/>
            </a:pPr>
            <a:r>
              <a:rPr lang="en-US" altLang="zh-CN" sz="1800" dirty="0"/>
              <a:t>{  </a:t>
            </a:r>
            <a:r>
              <a:rPr lang="en-US" altLang="zh-CN" sz="1800" dirty="0">
                <a:solidFill>
                  <a:srgbClr val="9D138D"/>
                </a:solidFill>
              </a:rPr>
              <a:t>int max2(int a,int b); </a:t>
            </a:r>
            <a:endParaRPr lang="zh-CN" altLang="zh-CN" sz="1800" dirty="0">
              <a:solidFill>
                <a:srgbClr val="9D138D"/>
              </a:solidFill>
            </a:endParaRPr>
          </a:p>
          <a:p>
            <a:pPr eaLnBrk="1" hangingPunct="1">
              <a:buNone/>
            </a:pPr>
            <a:r>
              <a:rPr lang="en-US" altLang="zh-CN" sz="1800" dirty="0"/>
              <a:t>    int m; </a:t>
            </a:r>
            <a:endParaRPr lang="zh-CN" altLang="zh-CN" sz="1800" dirty="0"/>
          </a:p>
          <a:p>
            <a:pPr eaLnBrk="1" hangingPunct="1">
              <a:buNone/>
            </a:pPr>
            <a:r>
              <a:rPr lang="en-US" altLang="zh-CN" sz="1800" dirty="0"/>
              <a:t>    m=</a:t>
            </a:r>
            <a:r>
              <a:rPr lang="en-US" altLang="zh-CN" sz="1800" dirty="0">
                <a:solidFill>
                  <a:srgbClr val="9D138D"/>
                </a:solidFill>
              </a:rPr>
              <a:t>max2</a:t>
            </a:r>
            <a:r>
              <a:rPr lang="en-US" altLang="zh-CN" sz="1800" dirty="0"/>
              <a:t>(a,b); </a:t>
            </a:r>
            <a:endParaRPr lang="zh-CN" altLang="zh-CN" sz="1800" dirty="0"/>
          </a:p>
          <a:p>
            <a:pPr eaLnBrk="1" hangingPunct="1">
              <a:buNone/>
            </a:pPr>
            <a:r>
              <a:rPr lang="en-US" altLang="zh-CN" sz="1800" dirty="0"/>
              <a:t>    m=</a:t>
            </a:r>
            <a:r>
              <a:rPr lang="en-US" altLang="zh-CN" sz="1800" dirty="0">
                <a:solidFill>
                  <a:srgbClr val="9D138D"/>
                </a:solidFill>
              </a:rPr>
              <a:t>max2</a:t>
            </a:r>
            <a:r>
              <a:rPr lang="en-US" altLang="zh-CN" sz="1800" dirty="0"/>
              <a:t>(m,c);                          </a:t>
            </a:r>
            <a:endParaRPr lang="zh-CN" altLang="zh-CN" sz="1800" dirty="0"/>
          </a:p>
          <a:p>
            <a:pPr eaLnBrk="1" hangingPunct="1">
              <a:buNone/>
            </a:pPr>
            <a:r>
              <a:rPr lang="en-US" altLang="zh-CN" sz="1800" dirty="0"/>
              <a:t>    m=</a:t>
            </a:r>
            <a:r>
              <a:rPr lang="en-US" altLang="zh-CN" sz="1800" dirty="0">
                <a:solidFill>
                  <a:srgbClr val="9D138D"/>
                </a:solidFill>
              </a:rPr>
              <a:t>max2</a:t>
            </a:r>
            <a:r>
              <a:rPr lang="en-US" altLang="zh-CN" sz="1800" dirty="0"/>
              <a:t>(m,d);            </a:t>
            </a:r>
            <a:endParaRPr lang="zh-CN" altLang="zh-CN" sz="1800" dirty="0"/>
          </a:p>
          <a:p>
            <a:pPr eaLnBrk="1" hangingPunct="1">
              <a:buNone/>
            </a:pPr>
            <a:r>
              <a:rPr lang="en-US" altLang="zh-CN" sz="1800" dirty="0"/>
              <a:t>    return(m); </a:t>
            </a:r>
            <a:endParaRPr lang="zh-CN" altLang="zh-CN" sz="1800" dirty="0"/>
          </a:p>
          <a:p>
            <a:pPr eaLnBrk="1" hangingPunct="1">
              <a:buNone/>
            </a:pPr>
            <a:r>
              <a:rPr lang="en-US" altLang="zh-CN" sz="1800" dirty="0"/>
              <a:t>}</a:t>
            </a:r>
          </a:p>
        </p:txBody>
      </p:sp>
      <p:sp>
        <p:nvSpPr>
          <p:cNvPr id="44034" name="Rectangle 3"/>
          <p:cNvSpPr txBox="1"/>
          <p:nvPr/>
        </p:nvSpPr>
        <p:spPr>
          <a:xfrm>
            <a:off x="1464469" y="375047"/>
            <a:ext cx="1660922" cy="428625"/>
          </a:xfrm>
          <a:prstGeom prst="rect">
            <a:avLst/>
          </a:prstGeom>
          <a:solidFill>
            <a:srgbClr val="FFFFCC"/>
          </a:solidFill>
          <a:ln w="9525">
            <a:noFill/>
          </a:ln>
        </p:spPr>
        <p:txBody>
          <a:bodyPr anchor="t" anchorCtr="0"/>
          <a:lstStyle/>
          <a:p>
            <a:pPr algn="ctr">
              <a:buSzTx/>
            </a:pPr>
            <a:r>
              <a:rPr lang="en-US" altLang="zh-CN" sz="2100" b="1" dirty="0">
                <a:solidFill>
                  <a:srgbClr val="0000CC"/>
                </a:solidFill>
                <a:latin typeface="Arial" panose="020B0604020202090204" pitchFamily="34" charset="0"/>
              </a:rPr>
              <a:t>max4</a:t>
            </a:r>
            <a:r>
              <a:rPr lang="zh-CN" altLang="zh-CN" sz="2100" b="1" dirty="0">
                <a:solidFill>
                  <a:srgbClr val="0000CC"/>
                </a:solidFill>
                <a:latin typeface="Arial" panose="020B0604020202090204" pitchFamily="34" charset="0"/>
              </a:rPr>
              <a:t>函数</a:t>
            </a:r>
          </a:p>
        </p:txBody>
      </p:sp>
      <p:sp>
        <p:nvSpPr>
          <p:cNvPr id="7" name="圆角矩形标注 6"/>
          <p:cNvSpPr/>
          <p:nvPr/>
        </p:nvSpPr>
        <p:spPr>
          <a:xfrm>
            <a:off x="3692129" y="1594247"/>
            <a:ext cx="3440906" cy="366713"/>
          </a:xfrm>
          <a:prstGeom prst="wedgeRoundRectCallout">
            <a:avLst>
              <a:gd name="adj1" fmla="val -52528"/>
              <a:gd name="adj2" fmla="val 139241"/>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en-US" altLang="zh-CN" sz="1500" b="1" dirty="0">
                <a:solidFill>
                  <a:srgbClr val="0000CC"/>
                </a:solidFill>
                <a:latin typeface="Arial" panose="020B0604020202090204" pitchFamily="34" charset="0"/>
              </a:rPr>
              <a:t>return max2(max2(max2(a,b),c),d);</a:t>
            </a:r>
          </a:p>
        </p:txBody>
      </p:sp>
      <p:sp>
        <p:nvSpPr>
          <p:cNvPr id="8" name="矩形 7"/>
          <p:cNvSpPr/>
          <p:nvPr/>
        </p:nvSpPr>
        <p:spPr>
          <a:xfrm>
            <a:off x="1670685" y="1424940"/>
            <a:ext cx="1866900" cy="1861820"/>
          </a:xfrm>
          <a:prstGeom prst="rect">
            <a:avLst/>
          </a:prstGeom>
          <a:noFill/>
          <a:ln w="38100" cap="flat" cmpd="sng">
            <a:solidFill>
              <a:srgbClr val="FF0000"/>
            </a:solidFill>
            <a:prstDash val="solid"/>
            <a:miter/>
            <a:headEnd type="none" w="med" len="med"/>
            <a:tailEnd type="none" w="med" len="med"/>
          </a:ln>
        </p:spPr>
        <p:txBody>
          <a:bodyPr wrap="none" anchor="t" anchorCtr="0"/>
          <a:lstStyle/>
          <a:p>
            <a:pPr>
              <a:buSzTx/>
            </a:pPr>
            <a:endParaRPr lang="zh-CN" altLang="en-US" sz="3000" dirty="0">
              <a:latin typeface="Arial" panose="020B0604020202090204" pitchFamily="34" charset="0"/>
            </a:endParaRPr>
          </a:p>
        </p:txBody>
      </p:sp>
      <p:sp>
        <p:nvSpPr>
          <p:cNvPr id="44037" name="Rectangle 3"/>
          <p:cNvSpPr txBox="1"/>
          <p:nvPr/>
        </p:nvSpPr>
        <p:spPr>
          <a:xfrm>
            <a:off x="1410891" y="3708797"/>
            <a:ext cx="4071938" cy="803672"/>
          </a:xfrm>
          <a:prstGeom prst="rect">
            <a:avLst/>
          </a:prstGeom>
          <a:solidFill>
            <a:srgbClr val="CCECFF"/>
          </a:solidFill>
          <a:ln w="9525">
            <a:noFill/>
          </a:ln>
        </p:spPr>
        <p:txBody>
          <a:bodyPr anchor="t" anchorCtr="0"/>
          <a:lstStyle/>
          <a:p>
            <a:pPr>
              <a:buSzTx/>
            </a:pPr>
            <a:r>
              <a:rPr lang="en-US" altLang="zh-CN" b="1" dirty="0" err="1">
                <a:latin typeface="Arial" panose="020B0604020202090204" pitchFamily="34" charset="0"/>
              </a:rPr>
              <a:t>int</a:t>
            </a:r>
            <a:r>
              <a:rPr lang="en-US" altLang="zh-CN" b="1" dirty="0">
                <a:latin typeface="Arial" panose="020B0604020202090204" pitchFamily="34" charset="0"/>
              </a:rPr>
              <a:t> max2(</a:t>
            </a:r>
            <a:r>
              <a:rPr lang="en-US" altLang="zh-CN" b="1" dirty="0" err="1">
                <a:latin typeface="Arial" panose="020B0604020202090204" pitchFamily="34" charset="0"/>
              </a:rPr>
              <a:t>int</a:t>
            </a:r>
            <a:r>
              <a:rPr lang="en-US" altLang="zh-CN" b="1" dirty="0">
                <a:latin typeface="Arial" panose="020B0604020202090204" pitchFamily="34" charset="0"/>
              </a:rPr>
              <a:t> </a:t>
            </a:r>
            <a:r>
              <a:rPr lang="en-US" altLang="zh-CN" b="1" dirty="0" err="1">
                <a:latin typeface="Arial" panose="020B0604020202090204" pitchFamily="34" charset="0"/>
              </a:rPr>
              <a:t>a,int</a:t>
            </a:r>
            <a:r>
              <a:rPr lang="en-US" altLang="zh-CN" b="1" dirty="0">
                <a:latin typeface="Arial" panose="020B0604020202090204" pitchFamily="34" charset="0"/>
              </a:rPr>
              <a:t> b) {</a:t>
            </a:r>
            <a:r>
              <a:rPr lang="en-US" altLang="zh-CN" b="1" dirty="0">
                <a:solidFill>
                  <a:srgbClr val="0000CC"/>
                </a:solidFill>
                <a:latin typeface="Arial" panose="020B0604020202090204" pitchFamily="34" charset="0"/>
              </a:rPr>
              <a:t>    </a:t>
            </a:r>
            <a:r>
              <a:rPr lang="en-US" altLang="zh-CN" b="1" dirty="0">
                <a:latin typeface="Arial" panose="020B0604020202090204" pitchFamily="34" charset="0"/>
              </a:rPr>
              <a:t>return(a&gt;</a:t>
            </a:r>
            <a:r>
              <a:rPr lang="en-US" altLang="zh-CN" b="1" dirty="0" err="1">
                <a:latin typeface="Arial" panose="020B0604020202090204" pitchFamily="34" charset="0"/>
              </a:rPr>
              <a:t>b?a:b</a:t>
            </a:r>
            <a:r>
              <a:rPr lang="en-US" altLang="zh-CN" b="1" dirty="0">
                <a:latin typeface="Arial" panose="020B0604020202090204" pitchFamily="34" charset="0"/>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3"/>
          <p:cNvSpPr>
            <a:spLocks noGrp="1"/>
          </p:cNvSpPr>
          <p:nvPr>
            <p:ph idx="1" hasCustomPrompt="1"/>
          </p:nvPr>
        </p:nvSpPr>
        <p:spPr>
          <a:xfrm>
            <a:off x="1464469" y="2411016"/>
            <a:ext cx="6215063" cy="1607344"/>
          </a:xfrm>
        </p:spPr>
        <p:txBody>
          <a:bodyPr vert="horz" wrap="square" lIns="68580" tIns="34290" rIns="68580" bIns="34290" anchor="t" anchorCtr="0"/>
          <a:lstStyle/>
          <a:p>
            <a:pPr eaLnBrk="1" hangingPunct="1">
              <a:buNone/>
            </a:pPr>
            <a:r>
              <a:rPr lang="en-US" altLang="zh-CN" sz="2100" dirty="0">
                <a:solidFill>
                  <a:srgbClr val="00B050"/>
                </a:solidFill>
              </a:rPr>
              <a:t>int max4(int a,int b,int c,int d)</a:t>
            </a:r>
            <a:endParaRPr lang="zh-CN" altLang="zh-CN" sz="2100" dirty="0">
              <a:solidFill>
                <a:srgbClr val="00B050"/>
              </a:solidFill>
            </a:endParaRPr>
          </a:p>
          <a:p>
            <a:pPr eaLnBrk="1" hangingPunct="1">
              <a:buNone/>
            </a:pPr>
            <a:r>
              <a:rPr lang="en-US" altLang="zh-CN" sz="2100" dirty="0">
                <a:solidFill>
                  <a:srgbClr val="00B050"/>
                </a:solidFill>
              </a:rPr>
              <a:t>{  int max2(int a,int b); </a:t>
            </a:r>
          </a:p>
          <a:p>
            <a:pPr eaLnBrk="1" hangingPunct="1">
              <a:buNone/>
            </a:pPr>
            <a:r>
              <a:rPr lang="en-US" altLang="zh-CN" sz="2100" dirty="0">
                <a:solidFill>
                  <a:srgbClr val="00B050"/>
                </a:solidFill>
              </a:rPr>
              <a:t>    return max2(max2(max2(a,b),c),d);</a:t>
            </a:r>
          </a:p>
          <a:p>
            <a:pPr eaLnBrk="1" hangingPunct="1">
              <a:buNone/>
            </a:pPr>
            <a:r>
              <a:rPr lang="en-US" altLang="zh-CN" sz="2100" dirty="0">
                <a:solidFill>
                  <a:srgbClr val="00B050"/>
                </a:solidFill>
              </a:rPr>
              <a:t>}</a:t>
            </a:r>
            <a:endParaRPr lang="zh-CN" altLang="zh-CN" sz="2100" dirty="0">
              <a:solidFill>
                <a:srgbClr val="00B050"/>
              </a:solidFill>
            </a:endParaRPr>
          </a:p>
        </p:txBody>
      </p:sp>
      <p:sp>
        <p:nvSpPr>
          <p:cNvPr id="45058" name="Rectangle 3"/>
          <p:cNvSpPr txBox="1"/>
          <p:nvPr/>
        </p:nvSpPr>
        <p:spPr>
          <a:xfrm>
            <a:off x="1518047" y="4018360"/>
            <a:ext cx="4071938" cy="803672"/>
          </a:xfrm>
          <a:prstGeom prst="rect">
            <a:avLst/>
          </a:prstGeom>
          <a:noFill/>
          <a:ln w="9525">
            <a:noFill/>
          </a:ln>
        </p:spPr>
        <p:txBody>
          <a:bodyPr anchor="t" anchorCtr="0"/>
          <a:lstStyle/>
          <a:p>
            <a:pPr>
              <a:buSzTx/>
            </a:pPr>
            <a:r>
              <a:rPr lang="en-US" altLang="zh-CN" sz="2100" b="1" dirty="0" err="1">
                <a:solidFill>
                  <a:srgbClr val="9D138D"/>
                </a:solidFill>
                <a:latin typeface="Arial" panose="020B0604020202090204" pitchFamily="34" charset="0"/>
              </a:rPr>
              <a:t>int</a:t>
            </a:r>
            <a:r>
              <a:rPr lang="en-US" altLang="zh-CN" sz="2100" b="1" dirty="0">
                <a:solidFill>
                  <a:srgbClr val="9D138D"/>
                </a:solidFill>
                <a:latin typeface="Arial" panose="020B0604020202090204" pitchFamily="34" charset="0"/>
              </a:rPr>
              <a:t> max2(</a:t>
            </a:r>
            <a:r>
              <a:rPr lang="en-US" altLang="zh-CN" sz="2100" b="1" dirty="0" err="1">
                <a:solidFill>
                  <a:srgbClr val="9D138D"/>
                </a:solidFill>
                <a:latin typeface="Arial" panose="020B0604020202090204" pitchFamily="34" charset="0"/>
              </a:rPr>
              <a:t>int</a:t>
            </a:r>
            <a:r>
              <a:rPr lang="en-US" altLang="zh-CN" sz="2100" b="1" dirty="0">
                <a:solidFill>
                  <a:srgbClr val="9D138D"/>
                </a:solidFill>
                <a:latin typeface="Arial" panose="020B0604020202090204" pitchFamily="34" charset="0"/>
              </a:rPr>
              <a:t> </a:t>
            </a:r>
            <a:r>
              <a:rPr lang="en-US" altLang="zh-CN" sz="2100" b="1" dirty="0" err="1">
                <a:solidFill>
                  <a:srgbClr val="9D138D"/>
                </a:solidFill>
                <a:latin typeface="Arial" panose="020B0604020202090204" pitchFamily="34" charset="0"/>
              </a:rPr>
              <a:t>a,int</a:t>
            </a:r>
            <a:r>
              <a:rPr lang="en-US" altLang="zh-CN" sz="2100" b="1" dirty="0">
                <a:solidFill>
                  <a:srgbClr val="9D138D"/>
                </a:solidFill>
                <a:latin typeface="Arial" panose="020B0604020202090204" pitchFamily="34" charset="0"/>
              </a:rPr>
              <a:t> b) {    return(a&gt;</a:t>
            </a:r>
            <a:r>
              <a:rPr lang="en-US" altLang="zh-CN" sz="2100" b="1" dirty="0" err="1">
                <a:solidFill>
                  <a:srgbClr val="9D138D"/>
                </a:solidFill>
                <a:latin typeface="Arial" panose="020B0604020202090204" pitchFamily="34" charset="0"/>
              </a:rPr>
              <a:t>b?a:b</a:t>
            </a:r>
            <a:r>
              <a:rPr lang="en-US" altLang="zh-CN" sz="2100" b="1" dirty="0">
                <a:solidFill>
                  <a:srgbClr val="9D138D"/>
                </a:solidFill>
                <a:latin typeface="Arial" panose="020B0604020202090204" pitchFamily="34" charset="0"/>
              </a:rPr>
              <a:t>);   }</a:t>
            </a:r>
            <a:endParaRPr lang="zh-CN" altLang="zh-CN" sz="2100" b="1" dirty="0">
              <a:solidFill>
                <a:srgbClr val="9D138D"/>
              </a:solidFill>
              <a:latin typeface="Arial" panose="020B0604020202090204" pitchFamily="34" charset="0"/>
            </a:endParaRPr>
          </a:p>
        </p:txBody>
      </p:sp>
      <p:sp>
        <p:nvSpPr>
          <p:cNvPr id="9" name="矩形 8"/>
          <p:cNvSpPr/>
          <p:nvPr/>
        </p:nvSpPr>
        <p:spPr>
          <a:xfrm>
            <a:off x="1464469" y="321469"/>
            <a:ext cx="6161485" cy="2643505"/>
          </a:xfrm>
          <a:prstGeom prst="rect">
            <a:avLst/>
          </a:prstGeom>
        </p:spPr>
        <p:txBody>
          <a:bodyPr>
            <a:spAutoFit/>
          </a:bodyPr>
          <a:lstStyle/>
          <a:p>
            <a:pPr marL="342900" marR="0" lvl="0" indent="-342900" algn="l" defTabSz="914400" rtl="0" eaLnBrk="0" fontAlgn="base" latinLnBrk="0" hangingPunct="0">
              <a:lnSpc>
                <a:spcPts val="2900"/>
              </a:lnSpc>
              <a:spcBef>
                <a:spcPct val="20000"/>
              </a:spcBef>
              <a:spcAft>
                <a:spcPct val="0"/>
              </a:spcAft>
              <a:buClrTx/>
              <a:buSzTx/>
              <a:buFontTx/>
              <a:buNone/>
              <a:defRPr/>
            </a:pPr>
            <a:r>
              <a:rPr kumimoji="0" lang="en-US" altLang="zh-CN" sz="2100" b="1" i="0" u="none" strike="noStrike" kern="1200" cap="none" spc="0" normalizeH="0" baseline="0" noProof="0" dirty="0">
                <a:ln>
                  <a:noFill/>
                </a:ln>
                <a:solidFill>
                  <a:schemeClr val="tx1"/>
                </a:solidFill>
                <a:effectLst/>
                <a:uLnTx/>
                <a:uFillTx/>
                <a:latin typeface="+mn-lt"/>
                <a:ea typeface="+mn-ea"/>
                <a:cs typeface="+mn-cs"/>
              </a:rPr>
              <a:t>#include &lt;</a:t>
            </a:r>
            <a:r>
              <a:rPr kumimoji="0" lang="en-US" altLang="zh-CN" sz="2100" b="1" i="0" u="none" strike="noStrike" kern="1200" cap="none" spc="0" normalizeH="0" baseline="0" noProof="0" dirty="0" err="1">
                <a:ln>
                  <a:noFill/>
                </a:ln>
                <a:solidFill>
                  <a:schemeClr val="tx1"/>
                </a:solidFill>
                <a:effectLst/>
                <a:uLnTx/>
                <a:uFillTx/>
                <a:latin typeface="+mn-lt"/>
                <a:ea typeface="+mn-ea"/>
                <a:cs typeface="+mn-cs"/>
              </a:rPr>
              <a:t>stdio.h</a:t>
            </a:r>
            <a:r>
              <a:rPr kumimoji="0" lang="en-US" altLang="zh-CN" sz="2100" b="1" i="0" u="none" strike="noStrike" kern="1200" cap="none" spc="0" normalizeH="0" baseline="0" noProof="0" dirty="0">
                <a:ln>
                  <a:noFill/>
                </a:ln>
                <a:solidFill>
                  <a:schemeClr val="tx1"/>
                </a:solidFill>
                <a:effectLst/>
                <a:uLnTx/>
                <a:uFillTx/>
                <a:latin typeface="+mn-lt"/>
                <a:ea typeface="+mn-ea"/>
                <a:cs typeface="+mn-cs"/>
              </a:rPr>
              <a:t>&gt;</a:t>
            </a:r>
            <a:endParaRPr kumimoji="0" lang="zh-CN" altLang="zh-CN" sz="21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ts val="2900"/>
              </a:lnSpc>
              <a:spcBef>
                <a:spcPct val="20000"/>
              </a:spcBef>
              <a:spcAft>
                <a:spcPct val="0"/>
              </a:spcAft>
              <a:buClrTx/>
              <a:buSzTx/>
              <a:buFontTx/>
              <a:buNone/>
              <a:defRPr/>
            </a:pPr>
            <a:r>
              <a:rPr kumimoji="0" lang="en-US" altLang="zh-CN" sz="2100" b="1" i="0" u="none" strike="noStrike" kern="1200" cap="none" spc="0" normalizeH="0" baseline="0" noProof="0" dirty="0" err="1">
                <a:ln>
                  <a:noFill/>
                </a:ln>
                <a:solidFill>
                  <a:schemeClr val="tx1"/>
                </a:solidFill>
                <a:effectLst/>
                <a:uLnTx/>
                <a:uFillTx/>
                <a:latin typeface="+mn-lt"/>
                <a:ea typeface="+mn-ea"/>
                <a:cs typeface="+mn-cs"/>
              </a:rPr>
              <a:t>int</a:t>
            </a:r>
            <a:r>
              <a:rPr kumimoji="0" lang="en-US" altLang="zh-CN" sz="2100" b="1" i="0" u="none" strike="noStrike" kern="1200" cap="none" spc="0" normalizeH="0" baseline="0" noProof="0" dirty="0">
                <a:ln>
                  <a:noFill/>
                </a:ln>
                <a:solidFill>
                  <a:schemeClr val="tx1"/>
                </a:solidFill>
                <a:effectLst/>
                <a:uLnTx/>
                <a:uFillTx/>
                <a:latin typeface="+mn-lt"/>
                <a:ea typeface="+mn-ea"/>
                <a:cs typeface="+mn-cs"/>
              </a:rPr>
              <a:t> main()</a:t>
            </a:r>
            <a:endParaRPr kumimoji="0" lang="zh-CN" altLang="zh-CN" sz="21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ts val="2900"/>
              </a:lnSpc>
              <a:spcBef>
                <a:spcPct val="20000"/>
              </a:spcBef>
              <a:spcAft>
                <a:spcPct val="0"/>
              </a:spcAft>
              <a:buClrTx/>
              <a:buSzTx/>
              <a:buFontTx/>
              <a:buNone/>
              <a:defRPr/>
            </a:pPr>
            <a:r>
              <a:rPr kumimoji="0" lang="en-US" altLang="zh-CN" sz="2100" b="1" i="0" u="none" strike="noStrike" kern="1200" cap="none" spc="0" normalizeH="0" baseline="0" noProof="0" dirty="0">
                <a:ln>
                  <a:noFill/>
                </a:ln>
                <a:solidFill>
                  <a:schemeClr val="tx1"/>
                </a:solidFill>
                <a:effectLst/>
                <a:uLnTx/>
                <a:uFillTx/>
                <a:latin typeface="+mn-lt"/>
                <a:ea typeface="+mn-ea"/>
                <a:cs typeface="+mn-cs"/>
              </a:rPr>
              <a:t>{  ……</a:t>
            </a:r>
          </a:p>
          <a:p>
            <a:pPr marL="342900" marR="0" lvl="0" indent="-342900" algn="l" defTabSz="914400" rtl="0" eaLnBrk="0" fontAlgn="base" latinLnBrk="0" hangingPunct="0">
              <a:lnSpc>
                <a:spcPts val="2900"/>
              </a:lnSpc>
              <a:spcBef>
                <a:spcPct val="20000"/>
              </a:spcBef>
              <a:spcAft>
                <a:spcPct val="0"/>
              </a:spcAft>
              <a:buClrTx/>
              <a:buSzTx/>
              <a:buFontTx/>
              <a:buNone/>
              <a:defRPr/>
            </a:pPr>
            <a:r>
              <a:rPr kumimoji="0" lang="en-US" altLang="zh-CN" sz="2100" b="1" i="0" u="none" strike="noStrike" kern="1200" cap="none" spc="0" normalizeH="0" baseline="0" noProof="0" dirty="0">
                <a:ln>
                  <a:noFill/>
                </a:ln>
                <a:solidFill>
                  <a:schemeClr val="tx1"/>
                </a:solidFill>
                <a:effectLst/>
                <a:uLnTx/>
                <a:uFillTx/>
                <a:latin typeface="+mn-lt"/>
                <a:ea typeface="+mn-ea"/>
                <a:cs typeface="+mn-cs"/>
              </a:rPr>
              <a:t>    max=max4(</a:t>
            </a:r>
            <a:r>
              <a:rPr kumimoji="0" lang="en-US" altLang="zh-CN" sz="2100" b="1" i="0" u="none" strike="noStrike" kern="1200" cap="none" spc="0" normalizeH="0" baseline="0" noProof="0" dirty="0" err="1">
                <a:ln>
                  <a:noFill/>
                </a:ln>
                <a:solidFill>
                  <a:schemeClr val="tx1"/>
                </a:solidFill>
                <a:effectLst/>
                <a:uLnTx/>
                <a:uFillTx/>
                <a:latin typeface="+mn-lt"/>
                <a:ea typeface="+mn-ea"/>
                <a:cs typeface="+mn-cs"/>
              </a:rPr>
              <a:t>a,b,c,d</a:t>
            </a:r>
            <a:r>
              <a:rPr kumimoji="0" lang="en-US" altLang="zh-CN" sz="2100" b="1" i="0" u="none" strike="noStrike" kern="1200" cap="none" spc="0" normalizeH="0" baseline="0" noProof="0" dirty="0">
                <a:ln>
                  <a:noFill/>
                </a:ln>
                <a:solidFill>
                  <a:schemeClr val="tx1"/>
                </a:solidFill>
                <a:effectLst/>
                <a:uLnTx/>
                <a:uFillTx/>
                <a:latin typeface="+mn-lt"/>
                <a:ea typeface="+mn-ea"/>
                <a:cs typeface="+mn-cs"/>
              </a:rPr>
              <a:t>); </a:t>
            </a:r>
            <a:endParaRPr kumimoji="0" lang="zh-CN" altLang="zh-CN" sz="2100" b="1"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ts val="2900"/>
              </a:lnSpc>
              <a:spcBef>
                <a:spcPct val="20000"/>
              </a:spcBef>
              <a:spcAft>
                <a:spcPct val="0"/>
              </a:spcAft>
              <a:buClrTx/>
              <a:buSzTx/>
              <a:buFontTx/>
              <a:buNone/>
              <a:defRPr/>
            </a:pPr>
            <a:r>
              <a:rPr kumimoji="0" lang="en-US" altLang="zh-CN" sz="2100" b="1" i="0" u="none" strike="noStrike" kern="1200" cap="none" spc="0" normalizeH="0" baseline="0" noProof="0" dirty="0">
                <a:ln>
                  <a:noFill/>
                </a:ln>
                <a:solidFill>
                  <a:schemeClr val="tx1"/>
                </a:solidFill>
                <a:effectLst/>
                <a:uLnTx/>
                <a:uFillTx/>
                <a:latin typeface="+mn-lt"/>
                <a:ea typeface="+mn-ea"/>
                <a:cs typeface="+mn-cs"/>
              </a:rPr>
              <a:t>   ……</a:t>
            </a:r>
          </a:p>
          <a:p>
            <a:pPr marL="342900" marR="0" lvl="0" indent="-342900" algn="l" defTabSz="914400" rtl="0" eaLnBrk="0" fontAlgn="base" latinLnBrk="0" hangingPunct="0">
              <a:lnSpc>
                <a:spcPts val="2900"/>
              </a:lnSpc>
              <a:spcBef>
                <a:spcPct val="20000"/>
              </a:spcBef>
              <a:spcAft>
                <a:spcPct val="0"/>
              </a:spcAft>
              <a:buClrTx/>
              <a:buSzTx/>
              <a:buFontTx/>
              <a:buNone/>
              <a:defRPr/>
            </a:pPr>
            <a:r>
              <a:rPr kumimoji="0" lang="en-US" altLang="zh-CN" sz="2100" b="1" i="0" u="none" strike="noStrike" kern="1200" cap="none" spc="0" normalizeH="0" baseline="0" noProof="0" dirty="0">
                <a:ln>
                  <a:noFill/>
                </a:ln>
                <a:solidFill>
                  <a:schemeClr val="tx1"/>
                </a:solidFill>
                <a:effectLst/>
                <a:uLnTx/>
                <a:uFillTx/>
                <a:latin typeface="+mn-lt"/>
                <a:ea typeface="+mn-ea"/>
                <a:cs typeface="+mn-cs"/>
              </a:rPr>
              <a:t>}</a:t>
            </a:r>
            <a:endParaRPr kumimoji="0" lang="zh-CN" altLang="en-US" sz="2100" b="1" i="0" u="none" strike="noStrike" kern="1200" cap="none" spc="0" normalizeH="0" baseline="0" noProof="0" dirty="0">
              <a:ln>
                <a:noFill/>
              </a:ln>
              <a:solidFill>
                <a:schemeClr val="tx1"/>
              </a:solidFill>
              <a:effectLst/>
              <a:uLnTx/>
              <a:uFillTx/>
              <a:latin typeface="+mn-lt"/>
              <a:ea typeface="+mn-ea"/>
              <a:cs typeface="+mn-cs"/>
            </a:endParaRPr>
          </a:p>
        </p:txBody>
      </p:sp>
      <p:cxnSp>
        <p:nvCxnSpPr>
          <p:cNvPr id="11" name="直接箭头连接符 55"/>
          <p:cNvCxnSpPr/>
          <p:nvPr/>
        </p:nvCxnSpPr>
        <p:spPr>
          <a:xfrm rot="5400000">
            <a:off x="1090613" y="1123950"/>
            <a:ext cx="642938" cy="2381"/>
          </a:xfrm>
          <a:prstGeom prst="straightConnector1">
            <a:avLst/>
          </a:prstGeom>
          <a:ln w="38100" cap="flat" cmpd="sng">
            <a:solidFill>
              <a:srgbClr val="FF0000"/>
            </a:solidFill>
            <a:prstDash val="solid"/>
            <a:miter/>
            <a:headEnd type="none" w="med" len="med"/>
            <a:tailEnd type="arrow" w="med" len="med"/>
          </a:ln>
        </p:spPr>
      </p:cxnSp>
      <p:cxnSp>
        <p:nvCxnSpPr>
          <p:cNvPr id="13" name="直接箭头连接符 55"/>
          <p:cNvCxnSpPr/>
          <p:nvPr/>
        </p:nvCxnSpPr>
        <p:spPr>
          <a:xfrm rot="5400000">
            <a:off x="2428875" y="1766888"/>
            <a:ext cx="857250" cy="645319"/>
          </a:xfrm>
          <a:prstGeom prst="straightConnector1">
            <a:avLst/>
          </a:prstGeom>
          <a:ln w="38100" cap="flat" cmpd="sng">
            <a:solidFill>
              <a:srgbClr val="FF0000"/>
            </a:solidFill>
            <a:prstDash val="solid"/>
            <a:miter/>
            <a:headEnd type="none" w="med" len="med"/>
            <a:tailEnd type="arrow" w="med" len="med"/>
          </a:ln>
        </p:spPr>
      </p:cxnSp>
      <p:cxnSp>
        <p:nvCxnSpPr>
          <p:cNvPr id="15" name="直接箭头连接符 55"/>
          <p:cNvCxnSpPr/>
          <p:nvPr/>
        </p:nvCxnSpPr>
        <p:spPr>
          <a:xfrm rot="-10800000" flipV="1">
            <a:off x="3018235" y="3536156"/>
            <a:ext cx="2035969" cy="535781"/>
          </a:xfrm>
          <a:prstGeom prst="straightConnector1">
            <a:avLst/>
          </a:prstGeom>
          <a:ln w="38100" cap="flat" cmpd="sng">
            <a:solidFill>
              <a:srgbClr val="FF0000"/>
            </a:solidFill>
            <a:prstDash val="solid"/>
            <a:miter/>
            <a:headEnd type="none" w="med" len="med"/>
            <a:tailEnd type="arrow" w="med" len="med"/>
          </a:ln>
        </p:spPr>
      </p:cxnSp>
      <p:cxnSp>
        <p:nvCxnSpPr>
          <p:cNvPr id="18" name="直接箭头连接符 55"/>
          <p:cNvCxnSpPr/>
          <p:nvPr/>
        </p:nvCxnSpPr>
        <p:spPr>
          <a:xfrm rot="5400000" flipH="1" flipV="1">
            <a:off x="4436269" y="3668316"/>
            <a:ext cx="910829" cy="642938"/>
          </a:xfrm>
          <a:prstGeom prst="straightConnector1">
            <a:avLst/>
          </a:prstGeom>
          <a:ln w="38100" cap="flat" cmpd="sng">
            <a:solidFill>
              <a:srgbClr val="FF0000"/>
            </a:solidFill>
            <a:prstDash val="solid"/>
            <a:miter/>
            <a:headEnd type="none" w="med" len="med"/>
            <a:tailEnd type="arrow" w="med" len="med"/>
          </a:ln>
        </p:spPr>
      </p:cxnSp>
      <p:cxnSp>
        <p:nvCxnSpPr>
          <p:cNvPr id="20" name="直接箭头连接符 55"/>
          <p:cNvCxnSpPr/>
          <p:nvPr/>
        </p:nvCxnSpPr>
        <p:spPr>
          <a:xfrm flipH="1">
            <a:off x="3018394" y="3524726"/>
            <a:ext cx="833755" cy="547370"/>
          </a:xfrm>
          <a:prstGeom prst="straightConnector1">
            <a:avLst/>
          </a:prstGeom>
          <a:ln w="38100" cap="flat" cmpd="sng">
            <a:solidFill>
              <a:srgbClr val="FF0000"/>
            </a:solidFill>
            <a:prstDash val="solid"/>
            <a:miter/>
            <a:headEnd type="none" w="med" len="med"/>
            <a:tailEnd type="arrow" w="med" len="med"/>
          </a:ln>
        </p:spPr>
      </p:cxnSp>
      <p:cxnSp>
        <p:nvCxnSpPr>
          <p:cNvPr id="22" name="直接箭头连接符 55"/>
          <p:cNvCxnSpPr/>
          <p:nvPr/>
        </p:nvCxnSpPr>
        <p:spPr>
          <a:xfrm flipH="1" flipV="1">
            <a:off x="3954781" y="3580845"/>
            <a:ext cx="617220" cy="866140"/>
          </a:xfrm>
          <a:prstGeom prst="straightConnector1">
            <a:avLst/>
          </a:prstGeom>
          <a:ln w="38100" cap="flat" cmpd="sng">
            <a:solidFill>
              <a:srgbClr val="FF0000"/>
            </a:solidFill>
            <a:prstDash val="solid"/>
            <a:miter/>
            <a:headEnd type="none" w="med" len="med"/>
            <a:tailEnd type="arrow" w="med" len="med"/>
          </a:ln>
        </p:spPr>
      </p:cxnSp>
      <p:cxnSp>
        <p:nvCxnSpPr>
          <p:cNvPr id="25" name="直接箭头连接符 55"/>
          <p:cNvCxnSpPr/>
          <p:nvPr/>
        </p:nvCxnSpPr>
        <p:spPr>
          <a:xfrm flipH="1">
            <a:off x="3018076" y="3487342"/>
            <a:ext cx="76200" cy="583565"/>
          </a:xfrm>
          <a:prstGeom prst="straightConnector1">
            <a:avLst/>
          </a:prstGeom>
          <a:ln w="38100" cap="flat" cmpd="sng">
            <a:solidFill>
              <a:srgbClr val="FF0000"/>
            </a:solidFill>
            <a:prstDash val="solid"/>
            <a:miter/>
            <a:headEnd type="none" w="med" len="med"/>
            <a:tailEnd type="arrow" w="med" len="med"/>
          </a:ln>
        </p:spPr>
      </p:cxnSp>
      <p:cxnSp>
        <p:nvCxnSpPr>
          <p:cNvPr id="27" name="直接箭头连接符 55"/>
          <p:cNvCxnSpPr/>
          <p:nvPr/>
        </p:nvCxnSpPr>
        <p:spPr>
          <a:xfrm flipH="1" flipV="1">
            <a:off x="3197225" y="3571320"/>
            <a:ext cx="1374775" cy="875665"/>
          </a:xfrm>
          <a:prstGeom prst="straightConnector1">
            <a:avLst/>
          </a:prstGeom>
          <a:ln w="38100" cap="flat" cmpd="sng">
            <a:solidFill>
              <a:srgbClr val="FF0000"/>
            </a:solidFill>
            <a:prstDash val="solid"/>
            <a:miter/>
            <a:headEnd type="none" w="med" len="med"/>
            <a:tailEnd type="arrow" w="med" len="med"/>
          </a:ln>
        </p:spPr>
      </p:cxnSp>
      <p:cxnSp>
        <p:nvCxnSpPr>
          <p:cNvPr id="29" name="直接箭头连接符 55"/>
          <p:cNvCxnSpPr/>
          <p:nvPr/>
        </p:nvCxnSpPr>
        <p:spPr>
          <a:xfrm rot="5400000" flipH="1" flipV="1">
            <a:off x="2187179" y="2222897"/>
            <a:ext cx="1660922" cy="428625"/>
          </a:xfrm>
          <a:prstGeom prst="straightConnector1">
            <a:avLst/>
          </a:prstGeom>
          <a:ln w="38100" cap="flat" cmpd="sng">
            <a:solidFill>
              <a:srgbClr val="FF0000"/>
            </a:solidFill>
            <a:prstDash val="solid"/>
            <a:miter/>
            <a:headEnd type="none" w="med" len="med"/>
            <a:tailEnd type="arrow" w="med" len="med"/>
          </a:ln>
        </p:spPr>
      </p:cxnSp>
      <p:cxnSp>
        <p:nvCxnSpPr>
          <p:cNvPr id="31" name="直接箭头连接符 55"/>
          <p:cNvCxnSpPr/>
          <p:nvPr/>
        </p:nvCxnSpPr>
        <p:spPr>
          <a:xfrm rot="5400000">
            <a:off x="1090613" y="1981200"/>
            <a:ext cx="642938" cy="2381"/>
          </a:xfrm>
          <a:prstGeom prst="straightConnector1">
            <a:avLst/>
          </a:prstGeom>
          <a:ln w="38100" cap="flat" cmpd="sng">
            <a:solidFill>
              <a:srgbClr val="FF0000"/>
            </a:solidFill>
            <a:prstDash val="solid"/>
            <a:miter/>
            <a:headEnd type="none" w="med" len="med"/>
            <a:tailEnd type="arrow" w="med" len="med"/>
          </a:ln>
        </p:spPr>
      </p:cxnSp>
      <p:pic>
        <p:nvPicPr>
          <p:cNvPr id="72706" name="Picture 2"/>
          <p:cNvPicPr>
            <a:picLocks noChangeAspect="1"/>
          </p:cNvPicPr>
          <p:nvPr/>
        </p:nvPicPr>
        <p:blipFill>
          <a:blip r:embed="rId2"/>
          <a:stretch>
            <a:fillRect/>
          </a:stretch>
        </p:blipFill>
        <p:spPr>
          <a:xfrm>
            <a:off x="3683159" y="804466"/>
            <a:ext cx="5089922" cy="353615"/>
          </a:xfrm>
          <a:prstGeom prst="rect">
            <a:avLst/>
          </a:prstGeom>
          <a:noFill/>
          <a:ln w="9525">
            <a:noFill/>
          </a:ln>
        </p:spPr>
      </p:pic>
      <p:pic>
        <p:nvPicPr>
          <p:cNvPr id="72708" name="Picture 4"/>
          <p:cNvPicPr>
            <a:picLocks noChangeAspect="1"/>
          </p:cNvPicPr>
          <p:nvPr/>
        </p:nvPicPr>
        <p:blipFill>
          <a:blip r:embed="rId3"/>
          <a:stretch>
            <a:fillRect/>
          </a:stretch>
        </p:blipFill>
        <p:spPr>
          <a:xfrm>
            <a:off x="3683159" y="1125935"/>
            <a:ext cx="5089922" cy="26789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lide(fromTop)">
                                      <p:cBhvr>
                                        <p:cTn id="7"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slide(fromTop)">
                                      <p:cBhvr>
                                        <p:cTn id="12"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2" presetClass="entr" presetSubtype="2"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slide(fromRight)">
                                      <p:cBhvr>
                                        <p:cTn id="17"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2" presetClass="entr" presetSubtype="2"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slide(fromRight)">
                                      <p:cBhvr>
                                        <p:cTn id="22" dur="500"/>
                                        <p:tgtEl>
                                          <p:spTgt spid="18"/>
                                        </p:tgtEl>
                                      </p:cBhvr>
                                    </p:animEffec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2" presetClass="entr" presetSubtype="2"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slide(fromRight)">
                                      <p:cBhvr>
                                        <p:cTn id="27" dur="500"/>
                                        <p:tgtEl>
                                          <p:spTgt spid="20"/>
                                        </p:tgtEl>
                                      </p:cBhvr>
                                    </p:animEffec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12" presetClass="entr" presetSubtype="2"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slide(fromRight)">
                                      <p:cBhvr>
                                        <p:cTn id="32" dur="500"/>
                                        <p:tgtEl>
                                          <p:spTgt spid="22"/>
                                        </p:tgtEl>
                                      </p:cBhvr>
                                    </p:animEffect>
                                  </p:childTnLst>
                                  <p:subTnLst>
                                    <p:set>
                                      <p:cBhvr override="childStyle">
                                        <p:cTn dur="1" fill="hold" display="0" masterRel="nextClick" afterEffect="1"/>
                                        <p:tgtEl>
                                          <p:spTgt spid="22"/>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12" presetClass="entr" presetSubtype="2"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slide(fromRight)">
                                      <p:cBhvr>
                                        <p:cTn id="37" dur="500"/>
                                        <p:tgtEl>
                                          <p:spTgt spid="25"/>
                                        </p:tgtEl>
                                      </p:cBhvr>
                                    </p:animEffect>
                                  </p:childTnLst>
                                  <p:subTnLst>
                                    <p:set>
                                      <p:cBhvr override="childStyle">
                                        <p:cTn dur="1" fill="hold" display="0" masterRel="nextClick" afterEffect="1"/>
                                        <p:tgtEl>
                                          <p:spTgt spid="25"/>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12" presetClass="entr" presetSubtype="2" fill="hold"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slide(fromRight)">
                                      <p:cBhvr>
                                        <p:cTn id="42" dur="500"/>
                                        <p:tgtEl>
                                          <p:spTgt spid="27"/>
                                        </p:tgtEl>
                                      </p:cBhvr>
                                    </p:animEffect>
                                  </p:childTnLst>
                                  <p:subTnLst>
                                    <p:set>
                                      <p:cBhvr override="childStyle">
                                        <p:cTn dur="1" fill="hold" display="0" masterRel="nextClick" afterEffect="1"/>
                                        <p:tgtEl>
                                          <p:spTgt spid="27"/>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12" presetClass="entr" presetSubtype="2" fill="hold"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slide(fromRight)">
                                      <p:cBhvr>
                                        <p:cTn id="47" dur="500"/>
                                        <p:tgtEl>
                                          <p:spTgt spid="29"/>
                                        </p:tgtEl>
                                      </p:cBhvr>
                                    </p:animEffect>
                                  </p:childTnLst>
                                  <p:subTnLst>
                                    <p:set>
                                      <p:cBhvr override="childStyle">
                                        <p:cTn dur="1" fill="hold" display="0" masterRel="nextClick" afterEffect="1"/>
                                        <p:tgtEl>
                                          <p:spTgt spid="29"/>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12" presetClass="entr" presetSubtype="1" fill="hold"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slide(fromTop)">
                                      <p:cBhvr>
                                        <p:cTn id="52" dur="500"/>
                                        <p:tgtEl>
                                          <p:spTgt spid="31"/>
                                        </p:tgtEl>
                                      </p:cBhvr>
                                    </p:animEffect>
                                  </p:childTnLst>
                                  <p:subTnLst>
                                    <p:set>
                                      <p:cBhvr override="childStyle">
                                        <p:cTn dur="1" fill="hold" display="0" masterRel="nextClick" afterEffect="1"/>
                                        <p:tgtEl>
                                          <p:spTgt spid="31"/>
                                        </p:tgtEl>
                                        <p:attrNameLst>
                                          <p:attrName>style.visibility</p:attrName>
                                        </p:attrNameLst>
                                      </p:cBhvr>
                                      <p:to>
                                        <p:strVal val="hidden"/>
                                      </p:to>
                                    </p:set>
                                  </p:sub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72706"/>
                                        </p:tgtEl>
                                        <p:attrNameLst>
                                          <p:attrName>style.visibility</p:attrName>
                                        </p:attrNameLst>
                                      </p:cBhvr>
                                      <p:to>
                                        <p:strVal val="visible"/>
                                      </p:to>
                                    </p:set>
                                    <p:animEffect transition="in" filter="blinds(horizontal)">
                                      <p:cBhvr>
                                        <p:cTn id="57" dur="500"/>
                                        <p:tgtEl>
                                          <p:spTgt spid="72706"/>
                                        </p:tgtEl>
                                      </p:cBhvr>
                                    </p:animEffect>
                                  </p:childTnLst>
                                </p:cTn>
                              </p:par>
                              <p:par>
                                <p:cTn id="58" presetID="3" presetClass="entr" presetSubtype="10" fill="hold" nodeType="withEffect">
                                  <p:stCondLst>
                                    <p:cond delay="0"/>
                                  </p:stCondLst>
                                  <p:childTnLst>
                                    <p:set>
                                      <p:cBhvr>
                                        <p:cTn id="59" dur="1" fill="hold">
                                          <p:stCondLst>
                                            <p:cond delay="0"/>
                                          </p:stCondLst>
                                        </p:cTn>
                                        <p:tgtEl>
                                          <p:spTgt spid="72708"/>
                                        </p:tgtEl>
                                        <p:attrNameLst>
                                          <p:attrName>style.visibility</p:attrName>
                                        </p:attrNameLst>
                                      </p:cBhvr>
                                      <p:to>
                                        <p:strVal val="visible"/>
                                      </p:to>
                                    </p:set>
                                    <p:animEffect transition="in" filter="blinds(horizontal)">
                                      <p:cBhvr>
                                        <p:cTn id="60" dur="500"/>
                                        <p:tgtEl>
                                          <p:spTgt spid="72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1923"/>
          <p:cNvSpPr txBox="1"/>
          <p:nvPr/>
        </p:nvSpPr>
        <p:spPr>
          <a:xfrm>
            <a:off x="1638300" y="334804"/>
            <a:ext cx="5867400" cy="1824038"/>
          </a:xfrm>
          <a:prstGeom prst="rect">
            <a:avLst/>
          </a:prstGeom>
          <a:noFill/>
          <a:ln w="9525">
            <a:noFill/>
          </a:ln>
        </p:spPr>
        <p:txBody>
          <a:bodyPr anchor="b"/>
          <a:lstStyle>
            <a:lvl1pPr marL="0" lvl="0" indent="0" algn="r" defTabSz="914400" rtl="0" eaLnBrk="1" fontAlgn="base" latinLnBrk="0" hangingPunct="1">
              <a:lnSpc>
                <a:spcPct val="100000"/>
              </a:lnSpc>
              <a:spcBef>
                <a:spcPct val="0"/>
              </a:spcBef>
              <a:spcAft>
                <a:spcPct val="0"/>
              </a:spcAft>
              <a:buClrTx/>
              <a:buSzTx/>
              <a:buFontTx/>
              <a:buNone/>
              <a:defRPr sz="4800" b="1" i="0" u="none" kern="1200" baseline="0">
                <a:solidFill>
                  <a:schemeClr val="tx2"/>
                </a:solidFill>
                <a:latin typeface="+mj-lt"/>
                <a:ea typeface="+mj-ea"/>
                <a:cs typeface="+mj-cs"/>
              </a:defRPr>
            </a:lvl1pPr>
          </a:lstStyle>
          <a:p>
            <a:pPr algn="ctr"/>
            <a:r>
              <a:rPr lang="zh-CN" altLang="en-US" sz="3600"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rPr>
              <a:t>函数的递归调用</a:t>
            </a:r>
          </a:p>
        </p:txBody>
      </p:sp>
      <p:cxnSp>
        <p:nvCxnSpPr>
          <p:cNvPr id="4" name="直接连接符 3"/>
          <p:cNvCxnSpPr/>
          <p:nvPr/>
        </p:nvCxnSpPr>
        <p:spPr>
          <a:xfrm>
            <a:off x="323850" y="2352052"/>
            <a:ext cx="8496300" cy="0"/>
          </a:xfrm>
          <a:prstGeom prst="line">
            <a:avLst/>
          </a:prstGeom>
          <a:ln w="25400">
            <a:solidFill>
              <a:srgbClr val="782367"/>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3873" y="185003"/>
            <a:ext cx="430355" cy="43035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489347"/>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函数的递归调用</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46082" name="Rectangle 3"/>
          <p:cNvSpPr>
            <a:spLocks noGrp="1"/>
          </p:cNvSpPr>
          <p:nvPr>
            <p:ph idx="1" hasCustomPrompt="1"/>
          </p:nvPr>
        </p:nvSpPr>
        <p:spPr>
          <a:xfrm>
            <a:off x="1678781" y="1178719"/>
            <a:ext cx="5947172" cy="2786063"/>
          </a:xfrm>
        </p:spPr>
        <p:txBody>
          <a:bodyPr vert="horz" wrap="square" lIns="68580" tIns="34290" rIns="68580" bIns="34290" anchor="t" anchorCtr="0"/>
          <a:lstStyle/>
          <a:p>
            <a:pPr eaLnBrk="1" hangingPunct="1"/>
            <a:r>
              <a:rPr lang="zh-CN" altLang="zh-CN" sz="1800" dirty="0"/>
              <a:t>在调用一个函数的过程中又出现直接或间接地调用该函数本身，称为函数的</a:t>
            </a:r>
            <a:r>
              <a:rPr lang="zh-CN" altLang="zh-CN" sz="1800" dirty="0">
                <a:solidFill>
                  <a:srgbClr val="C00000"/>
                </a:solidFill>
              </a:rPr>
              <a:t>递归调用</a:t>
            </a:r>
            <a:r>
              <a:rPr lang="zh-CN" altLang="zh-CN" sz="1800" dirty="0"/>
              <a:t>。</a:t>
            </a:r>
            <a:endParaRPr lang="en-US" altLang="zh-CN" sz="1800" dirty="0"/>
          </a:p>
          <a:p>
            <a:pPr eaLnBrk="1" hangingPunct="1"/>
            <a:r>
              <a:rPr lang="zh-CN" altLang="zh-CN" sz="1800" dirty="0"/>
              <a:t>递归函数必须有</a:t>
            </a:r>
            <a:r>
              <a:rPr lang="zh-CN" altLang="zh-CN" sz="1800" u="sng" dirty="0"/>
              <a:t>递推关系</a:t>
            </a:r>
            <a:r>
              <a:rPr lang="zh-CN" altLang="zh-CN" sz="1800" dirty="0"/>
              <a:t>和</a:t>
            </a:r>
            <a:r>
              <a:rPr lang="zh-CN" altLang="zh-CN" sz="1800" u="sng" dirty="0"/>
              <a:t>结束条件</a:t>
            </a:r>
            <a:r>
              <a:rPr lang="zh-CN" altLang="zh-CN" sz="1800" dirty="0"/>
              <a:t> 。</a:t>
            </a:r>
          </a:p>
          <a:p>
            <a:pPr eaLnBrk="1" hangingPunct="1"/>
            <a:r>
              <a:rPr lang="zh-CN" altLang="zh-CN" sz="1800" dirty="0">
                <a:solidFill>
                  <a:srgbClr val="FF0000"/>
                </a:solidFill>
              </a:rPr>
              <a:t>注:</a:t>
            </a:r>
          </a:p>
          <a:p>
            <a:pPr eaLnBrk="1" hangingPunct="1"/>
            <a:r>
              <a:rPr lang="zh-CN" altLang="zh-CN" sz="1800" dirty="0"/>
              <a:t>递归的时候，每次调用一个函数，系统都会为这个函数分配新的空间，就是说，当被调函数返回的时候，调用函数中的变量依然会保持原先的值，否则也不可能实现反向输出。</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489347"/>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函数的递归调用</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47106" name="Rectangle 3"/>
          <p:cNvSpPr>
            <a:spLocks noGrp="1"/>
          </p:cNvSpPr>
          <p:nvPr>
            <p:ph idx="1" hasCustomPrompt="1"/>
          </p:nvPr>
        </p:nvSpPr>
        <p:spPr>
          <a:xfrm>
            <a:off x="1410891" y="1178719"/>
            <a:ext cx="6322219" cy="3268266"/>
          </a:xfrm>
        </p:spPr>
        <p:txBody>
          <a:bodyPr vert="horz" wrap="square" lIns="68580" tIns="34290" rIns="68580" bIns="34290" anchor="t" anchorCtr="0"/>
          <a:lstStyle/>
          <a:p>
            <a:pPr eaLnBrk="1" hangingPunct="1">
              <a:buNone/>
            </a:pPr>
            <a:r>
              <a:rPr lang="en-US" altLang="zh-CN" dirty="0"/>
              <a:t>  </a:t>
            </a:r>
            <a:r>
              <a:rPr lang="zh-CN" altLang="zh-CN" dirty="0"/>
              <a:t>例</a:t>
            </a:r>
            <a:r>
              <a:rPr lang="en-US" altLang="zh-CN" dirty="0"/>
              <a:t>5.6 </a:t>
            </a:r>
            <a:r>
              <a:rPr lang="zh-CN" altLang="zh-CN" dirty="0"/>
              <a:t>有</a:t>
            </a:r>
            <a:r>
              <a:rPr lang="en-US" altLang="zh-CN" dirty="0"/>
              <a:t>5</a:t>
            </a:r>
            <a:r>
              <a:rPr lang="zh-CN" altLang="zh-CN" dirty="0"/>
              <a:t>个学生坐在一起</a:t>
            </a:r>
            <a:endParaRPr lang="en-US" altLang="zh-CN" dirty="0"/>
          </a:p>
          <a:p>
            <a:pPr lvl="1" indent="-325120" eaLnBrk="1" hangingPunct="1"/>
            <a:r>
              <a:rPr lang="zh-CN" altLang="zh-CN" dirty="0"/>
              <a:t>问第</a:t>
            </a:r>
            <a:r>
              <a:rPr lang="en-US" altLang="zh-CN" dirty="0"/>
              <a:t>5</a:t>
            </a:r>
            <a:r>
              <a:rPr lang="zh-CN" altLang="zh-CN" dirty="0"/>
              <a:t>个学生多少岁？他说比第</a:t>
            </a:r>
            <a:r>
              <a:rPr lang="en-US" altLang="zh-CN" dirty="0"/>
              <a:t>4</a:t>
            </a:r>
            <a:r>
              <a:rPr lang="zh-CN" altLang="zh-CN" dirty="0"/>
              <a:t>个学生大</a:t>
            </a:r>
            <a:r>
              <a:rPr lang="en-US" altLang="zh-CN" dirty="0"/>
              <a:t>2</a:t>
            </a:r>
            <a:r>
              <a:rPr lang="zh-CN" altLang="zh-CN" dirty="0"/>
              <a:t>岁</a:t>
            </a:r>
            <a:endParaRPr lang="en-US" altLang="zh-CN" dirty="0"/>
          </a:p>
          <a:p>
            <a:pPr lvl="1" indent="-325120" eaLnBrk="1" hangingPunct="1"/>
            <a:r>
              <a:rPr lang="zh-CN" altLang="zh-CN" dirty="0"/>
              <a:t>问第</a:t>
            </a:r>
            <a:r>
              <a:rPr lang="en-US" altLang="zh-CN" dirty="0"/>
              <a:t>4</a:t>
            </a:r>
            <a:r>
              <a:rPr lang="zh-CN" altLang="zh-CN" dirty="0"/>
              <a:t>个学生岁数，他说比第</a:t>
            </a:r>
            <a:r>
              <a:rPr lang="en-US" altLang="zh-CN" dirty="0"/>
              <a:t>3</a:t>
            </a:r>
            <a:r>
              <a:rPr lang="zh-CN" altLang="zh-CN" dirty="0"/>
              <a:t>个学生大</a:t>
            </a:r>
            <a:r>
              <a:rPr lang="en-US" altLang="zh-CN" dirty="0"/>
              <a:t>2</a:t>
            </a:r>
            <a:r>
              <a:rPr lang="zh-CN" altLang="zh-CN" dirty="0"/>
              <a:t>岁</a:t>
            </a:r>
            <a:endParaRPr lang="en-US" altLang="zh-CN" dirty="0"/>
          </a:p>
          <a:p>
            <a:pPr lvl="1" indent="-325120" eaLnBrk="1" hangingPunct="1"/>
            <a:r>
              <a:rPr lang="zh-CN" altLang="zh-CN" dirty="0"/>
              <a:t>问第</a:t>
            </a:r>
            <a:r>
              <a:rPr lang="en-US" altLang="zh-CN" dirty="0"/>
              <a:t>3</a:t>
            </a:r>
            <a:r>
              <a:rPr lang="zh-CN" altLang="zh-CN" dirty="0"/>
              <a:t>个学生，又说比第</a:t>
            </a:r>
            <a:r>
              <a:rPr lang="en-US" altLang="zh-CN" dirty="0"/>
              <a:t>2</a:t>
            </a:r>
            <a:r>
              <a:rPr lang="zh-CN" altLang="zh-CN" dirty="0"/>
              <a:t>个学生大</a:t>
            </a:r>
            <a:r>
              <a:rPr lang="en-US" altLang="zh-CN" dirty="0"/>
              <a:t>2</a:t>
            </a:r>
            <a:r>
              <a:rPr lang="zh-CN" altLang="zh-CN" dirty="0"/>
              <a:t>岁</a:t>
            </a:r>
            <a:endParaRPr lang="en-US" altLang="zh-CN" dirty="0"/>
          </a:p>
          <a:p>
            <a:pPr lvl="1" indent="-325120" eaLnBrk="1" hangingPunct="1"/>
            <a:r>
              <a:rPr lang="zh-CN" altLang="zh-CN" dirty="0"/>
              <a:t>问第</a:t>
            </a:r>
            <a:r>
              <a:rPr lang="en-US" altLang="zh-CN" dirty="0"/>
              <a:t>2</a:t>
            </a:r>
            <a:r>
              <a:rPr lang="zh-CN" altLang="zh-CN" dirty="0"/>
              <a:t>个学生，说比第</a:t>
            </a:r>
            <a:r>
              <a:rPr lang="en-US" altLang="zh-CN" dirty="0"/>
              <a:t>1</a:t>
            </a:r>
            <a:r>
              <a:rPr lang="zh-CN" altLang="zh-CN" dirty="0"/>
              <a:t>个学生大</a:t>
            </a:r>
            <a:r>
              <a:rPr lang="en-US" altLang="zh-CN" dirty="0"/>
              <a:t>2</a:t>
            </a:r>
            <a:r>
              <a:rPr lang="zh-CN" altLang="zh-CN" dirty="0"/>
              <a:t>岁</a:t>
            </a:r>
            <a:endParaRPr lang="en-US" altLang="zh-CN" dirty="0"/>
          </a:p>
          <a:p>
            <a:pPr lvl="1" indent="-325120" eaLnBrk="1" hangingPunct="1"/>
            <a:r>
              <a:rPr lang="zh-CN" altLang="zh-CN" dirty="0"/>
              <a:t>最后问第</a:t>
            </a:r>
            <a:r>
              <a:rPr lang="en-US" altLang="zh-CN" dirty="0"/>
              <a:t>1</a:t>
            </a:r>
            <a:r>
              <a:rPr lang="zh-CN" altLang="zh-CN" dirty="0"/>
              <a:t>个学生，他说是</a:t>
            </a:r>
            <a:r>
              <a:rPr lang="en-US" altLang="zh-CN" dirty="0"/>
              <a:t>10</a:t>
            </a:r>
            <a:r>
              <a:rPr lang="zh-CN" altLang="zh-CN" dirty="0"/>
              <a:t>岁</a:t>
            </a:r>
            <a:endParaRPr lang="en-US" altLang="zh-CN" dirty="0"/>
          </a:p>
          <a:p>
            <a:pPr lvl="1" indent="-325120" eaLnBrk="1" hangingPunct="1"/>
            <a:r>
              <a:rPr lang="zh-CN" altLang="zh-CN" dirty="0"/>
              <a:t>请问第</a:t>
            </a:r>
            <a:r>
              <a:rPr lang="en-US" altLang="zh-CN" dirty="0"/>
              <a:t>5</a:t>
            </a:r>
            <a:r>
              <a:rPr lang="zh-CN" altLang="zh-CN" dirty="0"/>
              <a:t>个学生多大</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489347"/>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函数的递归调用</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48130" name="Rectangle 3"/>
          <p:cNvSpPr>
            <a:spLocks noGrp="1"/>
          </p:cNvSpPr>
          <p:nvPr>
            <p:ph idx="1" hasCustomPrompt="1"/>
          </p:nvPr>
        </p:nvSpPr>
        <p:spPr>
          <a:xfrm>
            <a:off x="1410891" y="1178719"/>
            <a:ext cx="6322219" cy="3482579"/>
          </a:xfrm>
        </p:spPr>
        <p:txBody>
          <a:bodyPr vert="horz" wrap="square" lIns="68580" tIns="34290" rIns="68580" bIns="34290" anchor="t" anchorCtr="0"/>
          <a:lstStyle/>
          <a:p>
            <a:pPr eaLnBrk="1" hangingPunct="1"/>
            <a:r>
              <a:rPr lang="zh-CN" altLang="zh-CN" dirty="0"/>
              <a:t>思路：</a:t>
            </a:r>
            <a:endParaRPr lang="en-US" altLang="zh-CN" dirty="0"/>
          </a:p>
          <a:p>
            <a:pPr lvl="1" indent="-325120" eaLnBrk="1" hangingPunct="1"/>
            <a:r>
              <a:rPr lang="zh-CN" altLang="zh-CN" dirty="0"/>
              <a:t>要求第５个年龄，就必须先知道第４个年龄</a:t>
            </a:r>
            <a:endParaRPr lang="en-US" altLang="zh-CN" dirty="0"/>
          </a:p>
          <a:p>
            <a:pPr lvl="1" indent="-325120" eaLnBrk="1" hangingPunct="1"/>
            <a:r>
              <a:rPr lang="zh-CN" altLang="zh-CN" dirty="0"/>
              <a:t>要求第４个年龄必须先知道第３个年龄</a:t>
            </a:r>
            <a:endParaRPr lang="en-US" altLang="zh-CN" dirty="0"/>
          </a:p>
          <a:p>
            <a:pPr lvl="1" indent="-325120" eaLnBrk="1" hangingPunct="1"/>
            <a:r>
              <a:rPr lang="zh-CN" altLang="zh-CN" dirty="0"/>
              <a:t>第３个年龄又取决于第２个年龄</a:t>
            </a:r>
            <a:endParaRPr lang="en-US" altLang="zh-CN" dirty="0"/>
          </a:p>
          <a:p>
            <a:pPr lvl="1" indent="-325120" eaLnBrk="1" hangingPunct="1"/>
            <a:r>
              <a:rPr lang="zh-CN" altLang="zh-CN" dirty="0"/>
              <a:t>第２个年龄取决于第１个年龄</a:t>
            </a:r>
            <a:endParaRPr lang="en-US" altLang="zh-CN" dirty="0"/>
          </a:p>
          <a:p>
            <a:pPr lvl="1" indent="-325120" eaLnBrk="1" hangingPunct="1"/>
            <a:r>
              <a:rPr lang="zh-CN" altLang="zh-CN" dirty="0"/>
              <a:t>每个学生年龄都比其前１个学生的年龄大２</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489347"/>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函数的递归调用</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49154" name="Rectangle 3"/>
          <p:cNvSpPr>
            <a:spLocks noGrp="1"/>
          </p:cNvSpPr>
          <p:nvPr>
            <p:ph idx="1" hasCustomPrompt="1"/>
          </p:nvPr>
        </p:nvSpPr>
        <p:spPr>
          <a:xfrm>
            <a:off x="1410891" y="1113235"/>
            <a:ext cx="6322219" cy="3268265"/>
          </a:xfrm>
        </p:spPr>
        <p:txBody>
          <a:bodyPr vert="horz" wrap="square" lIns="68580" tIns="34290" rIns="68580" bIns="34290" anchor="t" anchorCtr="0"/>
          <a:lstStyle/>
          <a:p>
            <a:pPr eaLnBrk="1" hangingPunct="1"/>
            <a:r>
              <a:rPr lang="zh-CN" altLang="zh-CN" dirty="0"/>
              <a:t>思路：</a:t>
            </a:r>
            <a:endParaRPr lang="en-US" altLang="zh-CN" dirty="0"/>
          </a:p>
          <a:p>
            <a:pPr eaLnBrk="1" hangingPunct="1">
              <a:buNone/>
            </a:pPr>
            <a:r>
              <a:rPr lang="en-US" altLang="zh-CN" dirty="0"/>
              <a:t>age(5)=age(4)+2</a:t>
            </a:r>
          </a:p>
          <a:p>
            <a:pPr eaLnBrk="1" hangingPunct="1">
              <a:buNone/>
            </a:pPr>
            <a:r>
              <a:rPr lang="en-US" altLang="zh-CN" dirty="0"/>
              <a:t>age(4)=age(3)+2</a:t>
            </a:r>
          </a:p>
          <a:p>
            <a:pPr eaLnBrk="1" hangingPunct="1">
              <a:buNone/>
            </a:pPr>
            <a:r>
              <a:rPr lang="en-US" altLang="zh-CN" dirty="0"/>
              <a:t>age(3)=age(2)+2</a:t>
            </a:r>
          </a:p>
          <a:p>
            <a:pPr eaLnBrk="1" hangingPunct="1">
              <a:buNone/>
            </a:pPr>
            <a:r>
              <a:rPr lang="en-US" altLang="zh-CN" dirty="0"/>
              <a:t>age(2)=age(1)+2</a:t>
            </a:r>
          </a:p>
          <a:p>
            <a:pPr eaLnBrk="1" hangingPunct="1">
              <a:buNone/>
            </a:pPr>
            <a:r>
              <a:rPr lang="en-US" altLang="zh-CN" dirty="0"/>
              <a:t>age(1)=10</a:t>
            </a:r>
          </a:p>
        </p:txBody>
      </p:sp>
      <p:sp>
        <p:nvSpPr>
          <p:cNvPr id="4" name="右大括号 3"/>
          <p:cNvSpPr/>
          <p:nvPr/>
        </p:nvSpPr>
        <p:spPr>
          <a:xfrm>
            <a:off x="4240371" y="1702435"/>
            <a:ext cx="375047" cy="2089547"/>
          </a:xfrm>
          <a:prstGeom prst="rightBrace">
            <a:avLst>
              <a:gd name="adj1" fmla="val 8202"/>
              <a:gd name="adj2" fmla="val 50000"/>
            </a:avLst>
          </a:prstGeom>
          <a:noFill/>
          <a:ln w="38100" cap="flat" cmpd="sng">
            <a:solidFill>
              <a:srgbClr val="FF0000"/>
            </a:solidFill>
            <a:prstDash val="solid"/>
            <a:miter/>
            <a:headEnd type="none" w="med" len="med"/>
            <a:tailEnd type="none" w="med" len="med"/>
          </a:ln>
        </p:spPr>
        <p:txBody>
          <a:bodyPr wrap="none" anchor="t" anchorCtr="0"/>
          <a:lstStyle/>
          <a:p>
            <a:pPr>
              <a:buSzTx/>
            </a:pPr>
            <a:endParaRPr lang="zh-CN" altLang="en-US" sz="3000" dirty="0">
              <a:latin typeface="Arial" panose="020B0604020202090204" pitchFamily="34" charset="0"/>
            </a:endParaRPr>
          </a:p>
        </p:txBody>
      </p:sp>
      <p:sp>
        <p:nvSpPr>
          <p:cNvPr id="49156" name="Rectangle 2"/>
          <p:cNvSpPr/>
          <p:nvPr/>
        </p:nvSpPr>
        <p:spPr>
          <a:xfrm>
            <a:off x="1143000" y="-276542"/>
            <a:ext cx="309880" cy="553085"/>
          </a:xfrm>
          <a:prstGeom prst="rect">
            <a:avLst/>
          </a:prstGeom>
          <a:noFill/>
          <a:ln w="9525">
            <a:noFill/>
          </a:ln>
        </p:spPr>
        <p:txBody>
          <a:bodyPr wrap="none" anchor="ctr" anchorCtr="0">
            <a:spAutoFit/>
          </a:bodyPr>
          <a:lstStyle/>
          <a:p>
            <a:pPr>
              <a:buSzTx/>
            </a:pPr>
            <a:endParaRPr lang="zh-CN" altLang="en-US" sz="3000" dirty="0">
              <a:latin typeface="Arial" panose="020B0604020202090204" pitchFamily="34" charset="0"/>
            </a:endParaRPr>
          </a:p>
        </p:txBody>
      </p:sp>
      <p:graphicFrame>
        <p:nvGraphicFramePr>
          <p:cNvPr id="73729" name="Object 1"/>
          <p:cNvGraphicFramePr>
            <a:graphicFrameLocks noChangeAspect="1"/>
          </p:cNvGraphicFramePr>
          <p:nvPr/>
        </p:nvGraphicFramePr>
        <p:xfrm>
          <a:off x="5039440" y="2188369"/>
          <a:ext cx="3861197" cy="857250"/>
        </p:xfrm>
        <a:graphic>
          <a:graphicData uri="http://schemas.openxmlformats.org/presentationml/2006/ole">
            <mc:AlternateContent xmlns:mc="http://schemas.openxmlformats.org/markup-compatibility/2006">
              <mc:Choice xmlns:v="urn:schemas-microsoft-com:vml" Requires="v">
                <p:oleObj spid="_x0000_s3080" r:id="rId3" imgW="1930400" imgH="431800" progId="Equation.3">
                  <p:embed/>
                </p:oleObj>
              </mc:Choice>
              <mc:Fallback>
                <p:oleObj r:id="rId3" imgW="1930400" imgH="431800" progId="Equation.3">
                  <p:embed/>
                  <p:pic>
                    <p:nvPicPr>
                      <p:cNvPr id="0" name="图片 3075"/>
                      <p:cNvPicPr/>
                      <p:nvPr/>
                    </p:nvPicPr>
                    <p:blipFill>
                      <a:blip r:embed="rId4"/>
                      <a:stretch>
                        <a:fillRect/>
                      </a:stretch>
                    </p:blipFill>
                    <p:spPr>
                      <a:xfrm>
                        <a:off x="5039440" y="2188369"/>
                        <a:ext cx="3861197" cy="85725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Righ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3729"/>
                                        </p:tgtEl>
                                        <p:attrNameLst>
                                          <p:attrName>style.visibility</p:attrName>
                                        </p:attrNameLst>
                                      </p:cBhvr>
                                      <p:to>
                                        <p:strVal val="visible"/>
                                      </p:to>
                                    </p:set>
                                    <p:animEffect transition="in" filter="blinds(horizontal)">
                                      <p:cBhvr>
                                        <p:cTn id="12" dur="500"/>
                                        <p:tgtEl>
                                          <p:spTgt spid="73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内容占位符 2"/>
          <p:cNvSpPr>
            <a:spLocks noGrp="1"/>
          </p:cNvSpPr>
          <p:nvPr>
            <p:ph idx="1" hasCustomPrompt="1"/>
          </p:nvPr>
        </p:nvSpPr>
        <p:spPr>
          <a:xfrm>
            <a:off x="1547813" y="375047"/>
            <a:ext cx="5703094" cy="4607719"/>
          </a:xfrm>
        </p:spPr>
        <p:txBody>
          <a:bodyPr vert="horz" wrap="square" lIns="68580" tIns="34290" rIns="68580" bIns="34290" anchor="t" anchorCtr="0"/>
          <a:lstStyle/>
          <a:p>
            <a:pPr eaLnBrk="1" hangingPunct="1">
              <a:buNone/>
            </a:pPr>
            <a:r>
              <a:rPr lang="en-US" altLang="zh-CN" sz="1500" dirty="0"/>
              <a:t>#include &lt;stdio.h&gt;</a:t>
            </a:r>
            <a:endParaRPr lang="zh-CN" altLang="zh-CN" sz="1500" dirty="0"/>
          </a:p>
          <a:p>
            <a:pPr eaLnBrk="1" hangingPunct="1">
              <a:buNone/>
            </a:pPr>
            <a:r>
              <a:rPr lang="en-US" altLang="zh-CN" sz="1500" dirty="0"/>
              <a:t>int main()</a:t>
            </a:r>
            <a:endParaRPr lang="zh-CN" altLang="zh-CN" sz="1500" dirty="0"/>
          </a:p>
          <a:p>
            <a:pPr eaLnBrk="1" hangingPunct="1">
              <a:buNone/>
            </a:pPr>
            <a:r>
              <a:rPr lang="en-US" altLang="zh-CN" sz="1500" dirty="0"/>
              <a:t>{ </a:t>
            </a:r>
            <a:r>
              <a:rPr lang="en-US" altLang="zh-CN" sz="1500" dirty="0">
                <a:solidFill>
                  <a:srgbClr val="9D138D"/>
                </a:solidFill>
              </a:rPr>
              <a:t>int age(int n);</a:t>
            </a:r>
            <a:endParaRPr lang="zh-CN" altLang="zh-CN" sz="1500" dirty="0">
              <a:solidFill>
                <a:srgbClr val="9D138D"/>
              </a:solidFill>
            </a:endParaRPr>
          </a:p>
          <a:p>
            <a:pPr eaLnBrk="1" hangingPunct="1">
              <a:buNone/>
            </a:pPr>
            <a:r>
              <a:rPr lang="en-US" altLang="zh-CN" sz="1500" dirty="0"/>
              <a:t>   printf("NO.5,age:%d\n",</a:t>
            </a:r>
            <a:r>
              <a:rPr lang="en-US" altLang="zh-CN" sz="1500" dirty="0">
                <a:solidFill>
                  <a:srgbClr val="9D138D"/>
                </a:solidFill>
              </a:rPr>
              <a:t>age</a:t>
            </a:r>
            <a:r>
              <a:rPr lang="en-US" altLang="zh-CN" sz="1500" dirty="0"/>
              <a:t>(5)); </a:t>
            </a:r>
            <a:endParaRPr lang="zh-CN" altLang="zh-CN" sz="1500" dirty="0"/>
          </a:p>
          <a:p>
            <a:pPr eaLnBrk="1" hangingPunct="1">
              <a:buNone/>
            </a:pPr>
            <a:r>
              <a:rPr lang="en-US" altLang="zh-CN" sz="1500" dirty="0"/>
              <a:t>   return 0;</a:t>
            </a:r>
            <a:endParaRPr lang="zh-CN" altLang="zh-CN" sz="1500" dirty="0"/>
          </a:p>
          <a:p>
            <a:pPr eaLnBrk="1" hangingPunct="1">
              <a:buNone/>
            </a:pPr>
            <a:r>
              <a:rPr lang="en-US" altLang="zh-CN" sz="1500" dirty="0"/>
              <a:t>}  </a:t>
            </a:r>
            <a:endParaRPr lang="zh-CN" altLang="zh-CN" sz="1500" dirty="0"/>
          </a:p>
          <a:p>
            <a:pPr eaLnBrk="1" hangingPunct="1">
              <a:buNone/>
            </a:pPr>
            <a:r>
              <a:rPr lang="en-US" altLang="zh-CN" sz="1500" dirty="0"/>
              <a:t>int </a:t>
            </a:r>
            <a:r>
              <a:rPr lang="en-US" altLang="zh-CN" sz="1500" dirty="0">
                <a:solidFill>
                  <a:srgbClr val="9D138D"/>
                </a:solidFill>
              </a:rPr>
              <a:t>age</a:t>
            </a:r>
            <a:r>
              <a:rPr lang="en-US" altLang="zh-CN" sz="1500" dirty="0"/>
              <a:t>(int n)     </a:t>
            </a:r>
            <a:endParaRPr lang="zh-CN" altLang="zh-CN" sz="1500" dirty="0"/>
          </a:p>
          <a:p>
            <a:pPr eaLnBrk="1" hangingPunct="1">
              <a:buNone/>
            </a:pPr>
            <a:r>
              <a:rPr lang="en-US" altLang="zh-CN" sz="1500" dirty="0"/>
              <a:t>{ int c;                </a:t>
            </a:r>
            <a:endParaRPr lang="zh-CN" altLang="zh-CN" sz="1500" dirty="0"/>
          </a:p>
          <a:p>
            <a:pPr eaLnBrk="1" hangingPunct="1">
              <a:buNone/>
            </a:pPr>
            <a:r>
              <a:rPr lang="en-US" altLang="zh-CN" sz="1500" dirty="0"/>
              <a:t>   if(n==1)   c=10; </a:t>
            </a:r>
            <a:endParaRPr lang="zh-CN" altLang="zh-CN" sz="1500" dirty="0"/>
          </a:p>
          <a:p>
            <a:pPr eaLnBrk="1" hangingPunct="1">
              <a:buNone/>
            </a:pPr>
            <a:r>
              <a:rPr lang="en-US" altLang="zh-CN" sz="1500" dirty="0"/>
              <a:t>   else    c=</a:t>
            </a:r>
            <a:r>
              <a:rPr lang="en-US" altLang="zh-CN" sz="1500" dirty="0">
                <a:solidFill>
                  <a:srgbClr val="9D138D"/>
                </a:solidFill>
              </a:rPr>
              <a:t>age</a:t>
            </a:r>
            <a:r>
              <a:rPr lang="en-US" altLang="zh-CN" sz="1500" dirty="0"/>
              <a:t>(n-1)+2; </a:t>
            </a:r>
            <a:endParaRPr lang="zh-CN" altLang="zh-CN" sz="1500" dirty="0"/>
          </a:p>
          <a:p>
            <a:pPr eaLnBrk="1" hangingPunct="1">
              <a:buNone/>
            </a:pPr>
            <a:r>
              <a:rPr lang="en-US" altLang="zh-CN" sz="1500" dirty="0"/>
              <a:t>   return(c); </a:t>
            </a:r>
            <a:endParaRPr lang="zh-CN" altLang="zh-CN" sz="1500" dirty="0"/>
          </a:p>
          <a:p>
            <a:pPr eaLnBrk="1" hangingPunct="1">
              <a:buNone/>
            </a:pPr>
            <a:r>
              <a:rPr lang="en-US" altLang="zh-CN" sz="1500" dirty="0"/>
              <a:t>}</a:t>
            </a:r>
            <a:endParaRPr lang="zh-CN" altLang="zh-CN" sz="1500" dirty="0"/>
          </a:p>
          <a:p>
            <a:pPr eaLnBrk="1" hangingPunct="1">
              <a:buNone/>
            </a:pPr>
            <a:endParaRPr lang="zh-CN" altLang="zh-CN" sz="1500" dirty="0"/>
          </a:p>
        </p:txBody>
      </p:sp>
      <p:pic>
        <p:nvPicPr>
          <p:cNvPr id="104450" name="Picture 2" descr="pic7-6"/>
          <p:cNvPicPr>
            <a:picLocks noChangeAspect="1"/>
          </p:cNvPicPr>
          <p:nvPr/>
        </p:nvPicPr>
        <p:blipFill>
          <a:blip r:embed="rId2"/>
          <a:stretch>
            <a:fillRect/>
          </a:stretch>
        </p:blipFill>
        <p:spPr>
          <a:xfrm>
            <a:off x="3695700" y="3431381"/>
            <a:ext cx="3309938" cy="432197"/>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4450"/>
                                        </p:tgtEl>
                                        <p:attrNameLst>
                                          <p:attrName>style.visibility</p:attrName>
                                        </p:attrNameLst>
                                      </p:cBhvr>
                                      <p:to>
                                        <p:strVal val="visible"/>
                                      </p:to>
                                    </p:set>
                                    <p:animEffect transition="in" filter="blinds(horizontal)">
                                      <p:cBhvr>
                                        <p:cTn id="7" dur="500"/>
                                        <p:tgtEl>
                                          <p:spTgt spid="1044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1923"/>
          <p:cNvSpPr txBox="1"/>
          <p:nvPr/>
        </p:nvSpPr>
        <p:spPr>
          <a:xfrm>
            <a:off x="1638300" y="334804"/>
            <a:ext cx="5867400" cy="1824038"/>
          </a:xfrm>
          <a:prstGeom prst="rect">
            <a:avLst/>
          </a:prstGeom>
          <a:noFill/>
          <a:ln w="9525">
            <a:noFill/>
          </a:ln>
        </p:spPr>
        <p:txBody>
          <a:bodyPr anchor="b"/>
          <a:lstStyle>
            <a:lvl1pPr marL="0" lvl="0" indent="0" algn="r" defTabSz="914400" rtl="0" eaLnBrk="1" fontAlgn="base" latinLnBrk="0" hangingPunct="1">
              <a:lnSpc>
                <a:spcPct val="100000"/>
              </a:lnSpc>
              <a:spcBef>
                <a:spcPct val="0"/>
              </a:spcBef>
              <a:spcAft>
                <a:spcPct val="0"/>
              </a:spcAft>
              <a:buClrTx/>
              <a:buSzTx/>
              <a:buFontTx/>
              <a:buNone/>
              <a:defRPr sz="4800" b="1" i="0" u="none" kern="1200" baseline="0">
                <a:solidFill>
                  <a:schemeClr val="tx2"/>
                </a:solidFill>
                <a:latin typeface="+mj-lt"/>
                <a:ea typeface="+mj-ea"/>
                <a:cs typeface="+mj-cs"/>
              </a:defRPr>
            </a:lvl1pPr>
          </a:lstStyle>
          <a:p>
            <a:pPr algn="ctr"/>
            <a:r>
              <a:rPr lang="zh-CN" altLang="en-US" sz="3600"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rPr>
              <a:t>数组作为函数参数</a:t>
            </a:r>
          </a:p>
        </p:txBody>
      </p:sp>
      <p:cxnSp>
        <p:nvCxnSpPr>
          <p:cNvPr id="4" name="直接连接符 3"/>
          <p:cNvCxnSpPr/>
          <p:nvPr/>
        </p:nvCxnSpPr>
        <p:spPr>
          <a:xfrm>
            <a:off x="323850" y="2352052"/>
            <a:ext cx="8496300" cy="0"/>
          </a:xfrm>
          <a:prstGeom prst="line">
            <a:avLst/>
          </a:prstGeom>
          <a:ln w="25400">
            <a:solidFill>
              <a:srgbClr val="782367"/>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3873" y="185003"/>
            <a:ext cx="430355" cy="43035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143000" y="696516"/>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数组作为函数参数</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51202" name="Rectangle 3"/>
          <p:cNvSpPr>
            <a:spLocks noGrp="1"/>
          </p:cNvSpPr>
          <p:nvPr>
            <p:ph idx="1" hasCustomPrompt="1"/>
          </p:nvPr>
        </p:nvSpPr>
        <p:spPr>
          <a:xfrm>
            <a:off x="2053829" y="1607344"/>
            <a:ext cx="5036344" cy="2089547"/>
          </a:xfrm>
        </p:spPr>
        <p:txBody>
          <a:bodyPr vert="horz" wrap="square" lIns="68580" tIns="34290" rIns="68580" bIns="34290" anchor="t" anchorCtr="0"/>
          <a:lstStyle/>
          <a:p>
            <a:pPr eaLnBrk="1" hangingPunct="1">
              <a:buClr>
                <a:srgbClr val="782367"/>
              </a:buClr>
              <a:buSzPct val="60000"/>
              <a:buFont typeface="Wingdings" panose="05000000000000000000" charset="0"/>
              <a:buChar char="n"/>
            </a:pPr>
            <a:r>
              <a:rPr lang="zh-CN" altLang="zh-CN" sz="2700" dirty="0"/>
              <a:t>数组元素作函数实参</a:t>
            </a:r>
            <a:endParaRPr lang="en-US" altLang="zh-CN" sz="2700" dirty="0"/>
          </a:p>
          <a:p>
            <a:pPr eaLnBrk="1" hangingPunct="1">
              <a:buClr>
                <a:srgbClr val="782367"/>
              </a:buClr>
              <a:buSzPct val="60000"/>
              <a:buFont typeface="Wingdings" panose="05000000000000000000" charset="0"/>
              <a:buChar char="n"/>
            </a:pPr>
            <a:r>
              <a:rPr lang="zh-CN" altLang="zh-CN" sz="2700" dirty="0"/>
              <a:t>数组名作函数参数</a:t>
            </a:r>
            <a:endParaRPr lang="en-US" altLang="zh-CN" sz="2700" dirty="0"/>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601266"/>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数组元素作函数实参</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52226" name="Rectangle 3"/>
          <p:cNvSpPr>
            <a:spLocks noGrp="1"/>
          </p:cNvSpPr>
          <p:nvPr>
            <p:ph idx="1" hasCustomPrompt="1"/>
          </p:nvPr>
        </p:nvSpPr>
        <p:spPr>
          <a:xfrm>
            <a:off x="1839516" y="1607344"/>
            <a:ext cx="5518547" cy="1232297"/>
          </a:xfrm>
        </p:spPr>
        <p:txBody>
          <a:bodyPr vert="horz" wrap="square" lIns="68580" tIns="34290" rIns="68580" bIns="34290" anchor="t" anchorCtr="0"/>
          <a:lstStyle/>
          <a:p>
            <a:pPr eaLnBrk="1" hangingPunct="1">
              <a:buNone/>
            </a:pPr>
            <a:r>
              <a:rPr lang="en-US" altLang="zh-CN" dirty="0"/>
              <a:t>  </a:t>
            </a:r>
            <a:r>
              <a:rPr lang="zh-CN" altLang="zh-CN" dirty="0"/>
              <a:t>例</a:t>
            </a:r>
            <a:r>
              <a:rPr lang="en-US" altLang="zh-CN" dirty="0"/>
              <a:t>5.7 </a:t>
            </a:r>
            <a:r>
              <a:rPr lang="zh-CN" altLang="zh-CN" dirty="0"/>
              <a:t>输入</a:t>
            </a:r>
            <a:r>
              <a:rPr lang="en-US" altLang="zh-CN" dirty="0"/>
              <a:t>10</a:t>
            </a:r>
            <a:r>
              <a:rPr lang="zh-CN" altLang="zh-CN" dirty="0"/>
              <a:t>个数，要求输出其中值最大的元素和该数是第几个数。</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601266"/>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数组元素作函数实参</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53250" name="Rectangle 3"/>
          <p:cNvSpPr>
            <a:spLocks noGrp="1"/>
          </p:cNvSpPr>
          <p:nvPr>
            <p:ph idx="1" hasCustomPrompt="1"/>
          </p:nvPr>
        </p:nvSpPr>
        <p:spPr>
          <a:xfrm>
            <a:off x="1625204" y="1285875"/>
            <a:ext cx="5679281" cy="3482579"/>
          </a:xfrm>
        </p:spPr>
        <p:txBody>
          <a:bodyPr vert="horz" wrap="square" lIns="68580" tIns="34290" rIns="68580" bIns="34290" anchor="t" anchorCtr="0"/>
          <a:lstStyle/>
          <a:p>
            <a:pPr eaLnBrk="1" hangingPunct="1"/>
            <a:r>
              <a:rPr lang="zh-CN" altLang="zh-CN" sz="2100" dirty="0"/>
              <a:t>思路：</a:t>
            </a:r>
            <a:endParaRPr lang="en-US" altLang="zh-CN" sz="2100" dirty="0"/>
          </a:p>
          <a:p>
            <a:pPr lvl="1" indent="-325120" eaLnBrk="1" hangingPunct="1"/>
            <a:r>
              <a:rPr lang="zh-CN" altLang="zh-CN" sz="1800" dirty="0"/>
              <a:t>定义数组</a:t>
            </a:r>
            <a:r>
              <a:rPr lang="en-US" altLang="zh-CN" sz="1800" dirty="0"/>
              <a:t>a</a:t>
            </a:r>
            <a:r>
              <a:rPr lang="zh-CN" altLang="zh-CN" sz="1800" dirty="0"/>
              <a:t>，用来存放</a:t>
            </a:r>
            <a:r>
              <a:rPr lang="en-US" altLang="zh-CN" sz="1800" dirty="0"/>
              <a:t>10</a:t>
            </a:r>
            <a:r>
              <a:rPr lang="zh-CN" altLang="zh-CN" sz="1800" dirty="0"/>
              <a:t>个数</a:t>
            </a:r>
            <a:endParaRPr lang="en-US" altLang="zh-CN" sz="1800" dirty="0"/>
          </a:p>
          <a:p>
            <a:pPr lvl="1" indent="-325120" eaLnBrk="1" hangingPunct="1"/>
            <a:r>
              <a:rPr lang="zh-CN" altLang="zh-CN" sz="1800" dirty="0"/>
              <a:t>设计函数</a:t>
            </a:r>
            <a:r>
              <a:rPr lang="en-US" altLang="zh-CN" sz="1800" dirty="0"/>
              <a:t>max</a:t>
            </a:r>
            <a:r>
              <a:rPr lang="zh-CN" altLang="zh-CN" sz="1800" dirty="0"/>
              <a:t>，用来求两个数中的大者</a:t>
            </a:r>
            <a:endParaRPr lang="en-US" altLang="zh-CN" sz="1800" dirty="0"/>
          </a:p>
          <a:p>
            <a:pPr lvl="1" indent="-325120" eaLnBrk="1" hangingPunct="1"/>
            <a:r>
              <a:rPr lang="zh-CN" altLang="zh-CN" sz="1800" dirty="0"/>
              <a:t>在主函数中定义变量</a:t>
            </a:r>
            <a:r>
              <a:rPr lang="en-US" altLang="zh-CN" sz="1800" dirty="0"/>
              <a:t>m</a:t>
            </a:r>
            <a:r>
              <a:rPr lang="zh-CN" altLang="zh-CN" sz="1800" dirty="0"/>
              <a:t>，初值为</a:t>
            </a:r>
            <a:r>
              <a:rPr lang="en-US" altLang="zh-CN" sz="1800" dirty="0"/>
              <a:t>a[0]</a:t>
            </a:r>
            <a:r>
              <a:rPr lang="zh-CN" altLang="zh-CN" sz="1800" dirty="0"/>
              <a:t>，每次调用</a:t>
            </a:r>
            <a:r>
              <a:rPr lang="en-US" altLang="zh-CN" sz="1800" dirty="0"/>
              <a:t>max</a:t>
            </a:r>
            <a:r>
              <a:rPr lang="zh-CN" altLang="zh-CN" sz="1800" dirty="0"/>
              <a:t>函数后的返回值存放在</a:t>
            </a:r>
            <a:r>
              <a:rPr lang="en-US" altLang="zh-CN" sz="1800" dirty="0"/>
              <a:t>m</a:t>
            </a:r>
            <a:r>
              <a:rPr lang="zh-CN" altLang="zh-CN" sz="1800" dirty="0"/>
              <a:t>中</a:t>
            </a:r>
            <a:endParaRPr lang="en-US" altLang="zh-CN" sz="1800" dirty="0"/>
          </a:p>
          <a:p>
            <a:pPr lvl="1" indent="-325120" eaLnBrk="1" hangingPunct="1"/>
            <a:r>
              <a:rPr lang="zh-CN" altLang="zh-CN" sz="1800" dirty="0"/>
              <a:t>用“打擂台”算法，依次将数组元素</a:t>
            </a:r>
            <a:r>
              <a:rPr lang="en-US" altLang="zh-CN" sz="1800" dirty="0"/>
              <a:t>a[1]</a:t>
            </a:r>
            <a:r>
              <a:rPr lang="zh-CN" altLang="zh-CN" sz="1800" dirty="0"/>
              <a:t>到</a:t>
            </a:r>
            <a:r>
              <a:rPr lang="en-US" altLang="zh-CN" sz="1800" dirty="0"/>
              <a:t>a[9]</a:t>
            </a:r>
            <a:r>
              <a:rPr lang="zh-CN" altLang="zh-CN" sz="1800" dirty="0"/>
              <a:t>与</a:t>
            </a:r>
            <a:r>
              <a:rPr lang="en-US" altLang="zh-CN" sz="1800" dirty="0"/>
              <a:t>m</a:t>
            </a:r>
            <a:r>
              <a:rPr lang="zh-CN" altLang="zh-CN" sz="1800" dirty="0"/>
              <a:t>比较，最后得到的</a:t>
            </a:r>
            <a:r>
              <a:rPr lang="en-US" altLang="zh-CN" sz="1800" dirty="0"/>
              <a:t>m</a:t>
            </a:r>
            <a:r>
              <a:rPr lang="zh-CN" altLang="zh-CN" sz="1800" dirty="0"/>
              <a:t>值就是</a:t>
            </a:r>
            <a:r>
              <a:rPr lang="en-US" altLang="zh-CN" sz="1800" dirty="0"/>
              <a:t>10</a:t>
            </a:r>
            <a:r>
              <a:rPr lang="zh-CN" altLang="zh-CN" sz="1800" dirty="0"/>
              <a:t>个数中的最大者</a:t>
            </a:r>
          </a:p>
          <a:p>
            <a:pPr eaLnBrk="1" hangingPunct="1">
              <a:buNone/>
            </a:pPr>
            <a:endParaRPr lang="zh-CN" altLang="zh-CN" sz="1800" dirty="0"/>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内容占位符 2"/>
          <p:cNvSpPr>
            <a:spLocks noGrp="1"/>
          </p:cNvSpPr>
          <p:nvPr>
            <p:ph idx="1" hasCustomPrompt="1"/>
          </p:nvPr>
        </p:nvSpPr>
        <p:spPr>
          <a:xfrm>
            <a:off x="1518047" y="803672"/>
            <a:ext cx="6115050" cy="3375422"/>
          </a:xfrm>
        </p:spPr>
        <p:txBody>
          <a:bodyPr vert="horz" wrap="square" lIns="68580" tIns="34290" rIns="68580" bIns="34290" anchor="t" anchorCtr="0"/>
          <a:lstStyle/>
          <a:p>
            <a:pPr eaLnBrk="1" hangingPunct="1">
              <a:buNone/>
            </a:pPr>
            <a:r>
              <a:rPr lang="en-US" altLang="zh-CN" sz="1800" dirty="0"/>
              <a:t>#include &lt;stdio.h&gt;</a:t>
            </a:r>
            <a:endParaRPr lang="zh-CN" altLang="zh-CN" sz="1800" dirty="0"/>
          </a:p>
          <a:p>
            <a:pPr eaLnBrk="1" hangingPunct="1">
              <a:buNone/>
            </a:pPr>
            <a:r>
              <a:rPr lang="en-US" altLang="zh-CN" sz="1800" dirty="0"/>
              <a:t>int main()</a:t>
            </a:r>
            <a:endParaRPr lang="zh-CN" altLang="zh-CN" sz="1800" dirty="0"/>
          </a:p>
          <a:p>
            <a:pPr eaLnBrk="1" hangingPunct="1">
              <a:buNone/>
            </a:pPr>
            <a:r>
              <a:rPr lang="en-US" altLang="zh-CN" sz="1800" dirty="0"/>
              <a:t>{  </a:t>
            </a:r>
            <a:r>
              <a:rPr lang="en-US" altLang="zh-CN" sz="1800" dirty="0">
                <a:solidFill>
                  <a:srgbClr val="9D138D"/>
                </a:solidFill>
              </a:rPr>
              <a:t>int max(int x,int y); </a:t>
            </a:r>
            <a:endParaRPr lang="zh-CN" altLang="zh-CN" sz="1800" dirty="0">
              <a:solidFill>
                <a:srgbClr val="9D138D"/>
              </a:solidFill>
            </a:endParaRPr>
          </a:p>
          <a:p>
            <a:pPr eaLnBrk="1" hangingPunct="1">
              <a:buNone/>
            </a:pPr>
            <a:r>
              <a:rPr lang="en-US" altLang="zh-CN" sz="1800" dirty="0"/>
              <a:t>    int a[10],m,n,i;</a:t>
            </a:r>
            <a:endParaRPr lang="zh-CN" altLang="zh-CN" sz="1800" dirty="0"/>
          </a:p>
          <a:p>
            <a:pPr eaLnBrk="1" hangingPunct="1">
              <a:buNone/>
            </a:pPr>
            <a:r>
              <a:rPr lang="en-US" altLang="zh-CN" sz="1800" dirty="0"/>
              <a:t>    printf("10 integer numbers:\n");</a:t>
            </a:r>
            <a:endParaRPr lang="zh-CN" altLang="zh-CN" sz="1800" dirty="0"/>
          </a:p>
          <a:p>
            <a:pPr eaLnBrk="1" hangingPunct="1">
              <a:buNone/>
            </a:pPr>
            <a:r>
              <a:rPr lang="en-US" altLang="zh-CN" sz="1800" dirty="0"/>
              <a:t>    for(i=0;i&lt;10;i++) </a:t>
            </a:r>
            <a:endParaRPr lang="zh-CN" altLang="zh-CN" sz="1800" dirty="0"/>
          </a:p>
          <a:p>
            <a:pPr eaLnBrk="1" hangingPunct="1">
              <a:buNone/>
            </a:pPr>
            <a:r>
              <a:rPr lang="en-US" altLang="zh-CN" sz="1800" dirty="0"/>
              <a:t>       scanf("%d",&amp;a[i]);</a:t>
            </a:r>
            <a:endParaRPr lang="zh-CN" altLang="zh-CN" sz="1800" dirty="0"/>
          </a:p>
          <a:p>
            <a:pPr eaLnBrk="1" hangingPunct="1">
              <a:buNone/>
            </a:pPr>
            <a:r>
              <a:rPr lang="en-US" altLang="zh-CN" sz="1800" dirty="0"/>
              <a:t>    printf("\n");</a:t>
            </a:r>
            <a:endParaRPr lang="zh-CN" altLang="zh-CN" sz="1800" dirty="0"/>
          </a:p>
          <a:p>
            <a:pPr eaLnBrk="1" hangingPunct="1">
              <a:buNone/>
            </a:pPr>
            <a:endParaRPr lang="zh-CN" altLang="zh-CN" sz="1800" dirty="0"/>
          </a:p>
        </p:txBody>
      </p:sp>
      <p:grpSp>
        <p:nvGrpSpPr>
          <p:cNvPr id="2" name="组合 7"/>
          <p:cNvGrpSpPr/>
          <p:nvPr/>
        </p:nvGrpSpPr>
        <p:grpSpPr>
          <a:xfrm>
            <a:off x="3152775" y="3690938"/>
            <a:ext cx="3571875" cy="488156"/>
            <a:chOff x="2000232" y="5539652"/>
            <a:chExt cx="5500726" cy="864692"/>
          </a:xfrm>
        </p:grpSpPr>
        <p:pic>
          <p:nvPicPr>
            <p:cNvPr id="54275" name="Picture 3"/>
            <p:cNvPicPr>
              <a:picLocks noChangeAspect="1"/>
            </p:cNvPicPr>
            <p:nvPr/>
          </p:nvPicPr>
          <p:blipFill>
            <a:blip r:embed="rId2"/>
            <a:stretch>
              <a:fillRect/>
            </a:stretch>
          </p:blipFill>
          <p:spPr>
            <a:xfrm>
              <a:off x="2000232" y="5975716"/>
              <a:ext cx="5498263" cy="428628"/>
            </a:xfrm>
            <a:prstGeom prst="rect">
              <a:avLst/>
            </a:prstGeom>
            <a:noFill/>
            <a:ln w="9525">
              <a:noFill/>
            </a:ln>
          </p:spPr>
        </p:pic>
        <p:pic>
          <p:nvPicPr>
            <p:cNvPr id="54276" name="Picture 2"/>
            <p:cNvPicPr>
              <a:picLocks noChangeAspect="1"/>
            </p:cNvPicPr>
            <p:nvPr/>
          </p:nvPicPr>
          <p:blipFill>
            <a:blip r:embed="rId3"/>
            <a:stretch>
              <a:fillRect/>
            </a:stretch>
          </p:blipFill>
          <p:spPr>
            <a:xfrm>
              <a:off x="2000232" y="5539652"/>
              <a:ext cx="3830795" cy="453262"/>
            </a:xfrm>
            <a:prstGeom prst="rect">
              <a:avLst/>
            </a:prstGeom>
            <a:noFill/>
            <a:ln w="9525">
              <a:noFill/>
            </a:ln>
          </p:spPr>
        </p:pic>
        <p:pic>
          <p:nvPicPr>
            <p:cNvPr id="54277" name="Picture 5"/>
            <p:cNvPicPr>
              <a:picLocks noChangeAspect="1"/>
            </p:cNvPicPr>
            <p:nvPr/>
          </p:nvPicPr>
          <p:blipFill>
            <a:blip r:embed="rId4"/>
            <a:stretch>
              <a:fillRect/>
            </a:stretch>
          </p:blipFill>
          <p:spPr>
            <a:xfrm>
              <a:off x="5786446" y="5547087"/>
              <a:ext cx="1714512" cy="450059"/>
            </a:xfrm>
            <a:prstGeom prst="rect">
              <a:avLst/>
            </a:prstGeom>
            <a:noFill/>
            <a:ln w="9525">
              <a:noFill/>
            </a:ln>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内容占位符 2"/>
          <p:cNvSpPr>
            <a:spLocks noGrp="1"/>
          </p:cNvSpPr>
          <p:nvPr>
            <p:ph idx="1" hasCustomPrompt="1"/>
          </p:nvPr>
        </p:nvSpPr>
        <p:spPr>
          <a:xfrm>
            <a:off x="1518047" y="482204"/>
            <a:ext cx="6093619" cy="3932634"/>
          </a:xfrm>
        </p:spPr>
        <p:txBody>
          <a:bodyPr vert="horz" wrap="square" lIns="68580" tIns="34290" rIns="68580" bIns="34290" anchor="t" anchorCtr="0"/>
          <a:lstStyle/>
          <a:p>
            <a:pPr eaLnBrk="1" hangingPunct="1">
              <a:buNone/>
            </a:pPr>
            <a:r>
              <a:rPr lang="en-US" altLang="zh-CN" sz="1800" dirty="0"/>
              <a:t>   for(i=1,m=a[0],n=0;i&lt;10;i++)</a:t>
            </a:r>
            <a:endParaRPr lang="zh-CN" altLang="zh-CN" sz="1800" dirty="0"/>
          </a:p>
          <a:p>
            <a:pPr eaLnBrk="1" hangingPunct="1">
              <a:buNone/>
            </a:pPr>
            <a:r>
              <a:rPr lang="en-US" altLang="zh-CN" sz="1800" dirty="0"/>
              <a:t>   { if (</a:t>
            </a:r>
            <a:r>
              <a:rPr lang="en-US" altLang="zh-CN" sz="1800" dirty="0">
                <a:solidFill>
                  <a:srgbClr val="9D138D"/>
                </a:solidFill>
              </a:rPr>
              <a:t>max</a:t>
            </a:r>
            <a:r>
              <a:rPr lang="en-US" altLang="zh-CN" sz="1800" dirty="0"/>
              <a:t>(m,a[i])&gt;m) </a:t>
            </a:r>
            <a:endParaRPr lang="zh-CN" altLang="zh-CN" sz="1800" dirty="0"/>
          </a:p>
          <a:p>
            <a:pPr eaLnBrk="1" hangingPunct="1">
              <a:buNone/>
            </a:pPr>
            <a:r>
              <a:rPr lang="en-US" altLang="zh-CN" sz="1800" dirty="0"/>
              <a:t>	   {  m=</a:t>
            </a:r>
            <a:r>
              <a:rPr lang="en-US" altLang="zh-CN" sz="1800" dirty="0">
                <a:solidFill>
                  <a:srgbClr val="9D138D"/>
                </a:solidFill>
              </a:rPr>
              <a:t>max</a:t>
            </a:r>
            <a:r>
              <a:rPr lang="en-US" altLang="zh-CN" sz="1800" dirty="0"/>
              <a:t>(m,a[i]); </a:t>
            </a:r>
            <a:endParaRPr lang="zh-CN" altLang="zh-CN" sz="1800" dirty="0"/>
          </a:p>
          <a:p>
            <a:pPr eaLnBrk="1" hangingPunct="1">
              <a:buNone/>
            </a:pPr>
            <a:r>
              <a:rPr lang="en-US" altLang="zh-CN" sz="1800" dirty="0"/>
              <a:t>	       n=i; </a:t>
            </a:r>
            <a:endParaRPr lang="zh-CN" altLang="zh-CN" sz="1800" dirty="0"/>
          </a:p>
          <a:p>
            <a:pPr eaLnBrk="1" hangingPunct="1">
              <a:buNone/>
            </a:pPr>
            <a:r>
              <a:rPr lang="en-US" altLang="zh-CN" sz="1800" dirty="0"/>
              <a:t>	    }</a:t>
            </a:r>
            <a:endParaRPr lang="zh-CN" altLang="zh-CN" sz="1800" dirty="0"/>
          </a:p>
          <a:p>
            <a:pPr eaLnBrk="1" hangingPunct="1">
              <a:buNone/>
            </a:pPr>
            <a:r>
              <a:rPr lang="en-US" altLang="zh-CN" sz="1800" dirty="0"/>
              <a:t>    }</a:t>
            </a:r>
            <a:endParaRPr lang="zh-CN" altLang="zh-CN" sz="1800" dirty="0"/>
          </a:p>
          <a:p>
            <a:pPr eaLnBrk="1" hangingPunct="1">
              <a:buNone/>
            </a:pPr>
            <a:r>
              <a:rPr lang="en-US" altLang="zh-CN" sz="1800" dirty="0"/>
              <a:t>    printf("largest number is %d\n",m);</a:t>
            </a:r>
          </a:p>
          <a:p>
            <a:pPr eaLnBrk="1" hangingPunct="1">
              <a:buNone/>
            </a:pPr>
            <a:r>
              <a:rPr lang="en-US" altLang="zh-CN" sz="1800" dirty="0"/>
              <a:t>    printf("%dth number.\n",n+1);</a:t>
            </a:r>
            <a:endParaRPr lang="zh-CN" altLang="zh-CN" sz="1800" dirty="0"/>
          </a:p>
          <a:p>
            <a:pPr eaLnBrk="1" hangingPunct="1">
              <a:buNone/>
            </a:pPr>
            <a:r>
              <a:rPr lang="en-US" altLang="zh-CN" sz="1800" dirty="0"/>
              <a:t>}</a:t>
            </a:r>
            <a:endParaRPr lang="zh-CN" altLang="zh-CN" sz="1800" dirty="0"/>
          </a:p>
          <a:p>
            <a:pPr eaLnBrk="1" hangingPunct="1">
              <a:buNone/>
            </a:pPr>
            <a:endParaRPr lang="zh-CN" altLang="zh-CN" sz="1800" dirty="0"/>
          </a:p>
        </p:txBody>
      </p:sp>
      <p:sp>
        <p:nvSpPr>
          <p:cNvPr id="4" name="内容占位符 2"/>
          <p:cNvSpPr txBox="1"/>
          <p:nvPr/>
        </p:nvSpPr>
        <p:spPr bwMode="auto">
          <a:xfrm>
            <a:off x="1518047" y="3663554"/>
            <a:ext cx="3804047" cy="857250"/>
          </a:xfrm>
          <a:prstGeom prst="rect">
            <a:avLst/>
          </a:prstGeom>
          <a:noFill/>
          <a:ln w="9525">
            <a:noFill/>
            <a:miter lim="800000"/>
          </a:ln>
        </p:spPr>
        <p:txBody>
          <a:bodyPr/>
          <a:lstStyle/>
          <a:p>
            <a:pPr marR="0" defTabSz="914400">
              <a:buClrTx/>
              <a:buSzTx/>
              <a:buFontTx/>
              <a:defRPr/>
            </a:pPr>
            <a:r>
              <a:rPr kumimoji="0" lang="en-US" altLang="zh-CN" b="1" kern="1200" cap="none" spc="0" normalizeH="0" baseline="0" noProof="0" dirty="0" err="1">
                <a:solidFill>
                  <a:srgbClr val="9D138D"/>
                </a:solidFill>
                <a:latin typeface="+mn-lt"/>
                <a:ea typeface="+mn-ea"/>
                <a:cs typeface="+mn-cs"/>
              </a:rPr>
              <a:t>int</a:t>
            </a:r>
            <a:r>
              <a:rPr kumimoji="0" lang="en-US" altLang="zh-CN" b="1" kern="1200" cap="none" spc="0" normalizeH="0" baseline="0" noProof="0" dirty="0">
                <a:solidFill>
                  <a:srgbClr val="9D138D"/>
                </a:solidFill>
                <a:latin typeface="+mn-lt"/>
                <a:ea typeface="+mn-ea"/>
                <a:cs typeface="+mn-cs"/>
              </a:rPr>
              <a:t> max(</a:t>
            </a:r>
            <a:r>
              <a:rPr kumimoji="0" lang="en-US" altLang="zh-CN" b="1" kern="1200" cap="none" spc="0" normalizeH="0" baseline="0" noProof="0" dirty="0" err="1">
                <a:solidFill>
                  <a:srgbClr val="9D138D"/>
                </a:solidFill>
                <a:latin typeface="+mn-lt"/>
                <a:ea typeface="+mn-ea"/>
                <a:cs typeface="+mn-cs"/>
              </a:rPr>
              <a:t>int</a:t>
            </a:r>
            <a:r>
              <a:rPr kumimoji="0" lang="en-US" altLang="zh-CN" b="1" kern="1200" cap="none" spc="0" normalizeH="0" baseline="0" noProof="0" dirty="0">
                <a:solidFill>
                  <a:srgbClr val="9D138D"/>
                </a:solidFill>
                <a:latin typeface="+mn-lt"/>
                <a:ea typeface="+mn-ea"/>
                <a:cs typeface="+mn-cs"/>
              </a:rPr>
              <a:t> </a:t>
            </a:r>
            <a:r>
              <a:rPr kumimoji="0" lang="en-US" altLang="zh-CN" b="1" kern="1200" cap="none" spc="0" normalizeH="0" baseline="0" noProof="0" dirty="0" err="1">
                <a:solidFill>
                  <a:srgbClr val="9D138D"/>
                </a:solidFill>
                <a:latin typeface="+mn-lt"/>
                <a:ea typeface="+mn-ea"/>
                <a:cs typeface="+mn-cs"/>
              </a:rPr>
              <a:t>x,int</a:t>
            </a:r>
            <a:r>
              <a:rPr kumimoji="0" lang="en-US" altLang="zh-CN" b="1" kern="1200" cap="none" spc="0" normalizeH="0" baseline="0" noProof="0" dirty="0">
                <a:solidFill>
                  <a:srgbClr val="9D138D"/>
                </a:solidFill>
                <a:latin typeface="+mn-lt"/>
                <a:ea typeface="+mn-ea"/>
                <a:cs typeface="+mn-cs"/>
              </a:rPr>
              <a:t> y) </a:t>
            </a:r>
            <a:endParaRPr kumimoji="0" lang="zh-CN" altLang="zh-CN" b="1" kern="1200" cap="none" spc="0" normalizeH="0" baseline="0" noProof="0" dirty="0">
              <a:solidFill>
                <a:srgbClr val="9D138D"/>
              </a:solidFill>
              <a:latin typeface="+mn-lt"/>
              <a:ea typeface="+mn-ea"/>
              <a:cs typeface="+mn-cs"/>
            </a:endParaRPr>
          </a:p>
          <a:p>
            <a:pPr marR="0" defTabSz="914400">
              <a:buClrTx/>
              <a:buSzTx/>
              <a:buFontTx/>
              <a:defRPr/>
            </a:pPr>
            <a:r>
              <a:rPr kumimoji="0" lang="en-US" altLang="zh-CN" b="1" kern="1200" cap="none" spc="0" normalizeH="0" baseline="0" noProof="0" dirty="0">
                <a:solidFill>
                  <a:srgbClr val="9D138D"/>
                </a:solidFill>
                <a:latin typeface="+mn-lt"/>
                <a:ea typeface="+mn-ea"/>
                <a:cs typeface="+mn-cs"/>
              </a:rPr>
              <a:t>{  return(x&gt;</a:t>
            </a:r>
            <a:r>
              <a:rPr kumimoji="0" lang="en-US" altLang="zh-CN" b="1" kern="1200" cap="none" spc="0" normalizeH="0" baseline="0" noProof="0" dirty="0" err="1">
                <a:solidFill>
                  <a:srgbClr val="9D138D"/>
                </a:solidFill>
                <a:latin typeface="+mn-lt"/>
                <a:ea typeface="+mn-ea"/>
                <a:cs typeface="+mn-cs"/>
              </a:rPr>
              <a:t>y?x:y</a:t>
            </a:r>
            <a:r>
              <a:rPr kumimoji="0" lang="en-US" altLang="zh-CN" b="1" kern="1200" cap="none" spc="0" normalizeH="0" baseline="0" noProof="0" dirty="0">
                <a:solidFill>
                  <a:srgbClr val="9D138D"/>
                </a:solidFill>
                <a:latin typeface="+mn-lt"/>
                <a:ea typeface="+mn-ea"/>
                <a:cs typeface="+mn-cs"/>
              </a:rPr>
              <a:t>);  }</a:t>
            </a:r>
            <a:endParaRPr kumimoji="0" lang="zh-CN" altLang="zh-CN" b="1" kern="1200" cap="none" spc="0" normalizeH="0" baseline="0" noProof="0" dirty="0">
              <a:solidFill>
                <a:srgbClr val="9D138D"/>
              </a:solidFill>
              <a:latin typeface="+mn-lt"/>
              <a:ea typeface="+mn-ea"/>
              <a:cs typeface="+mn-cs"/>
            </a:endParaRPr>
          </a:p>
          <a:p>
            <a:pPr marL="342900" marR="0" indent="-342900" defTabSz="914400" eaLnBrk="0" hangingPunct="0">
              <a:spcBef>
                <a:spcPct val="20000"/>
              </a:spcBef>
              <a:buClrTx/>
              <a:buSzTx/>
              <a:buFont typeface="Wingdings" panose="05000000000000000000" pitchFamily="2" charset="2"/>
              <a:defRPr/>
            </a:pPr>
            <a:endParaRPr kumimoji="0" lang="zh-CN" altLang="zh-CN" b="1" kern="1200" cap="none" spc="0" normalizeH="0" baseline="0" noProof="0" dirty="0">
              <a:solidFill>
                <a:srgbClr val="9D138D"/>
              </a:solidFill>
              <a:latin typeface="+mn-lt"/>
              <a:ea typeface="+mn-ea"/>
              <a:cs typeface="+mn-cs"/>
            </a:endParaRPr>
          </a:p>
        </p:txBody>
      </p:sp>
      <p:grpSp>
        <p:nvGrpSpPr>
          <p:cNvPr id="2" name="组合 7"/>
          <p:cNvGrpSpPr/>
          <p:nvPr/>
        </p:nvGrpSpPr>
        <p:grpSpPr>
          <a:xfrm>
            <a:off x="4435079" y="1984772"/>
            <a:ext cx="2869406" cy="479822"/>
            <a:chOff x="4286248" y="2214554"/>
            <a:chExt cx="3590925" cy="647180"/>
          </a:xfrm>
        </p:grpSpPr>
        <p:pic>
          <p:nvPicPr>
            <p:cNvPr id="55300" name="Picture 5"/>
            <p:cNvPicPr>
              <a:picLocks noChangeAspect="1"/>
            </p:cNvPicPr>
            <p:nvPr/>
          </p:nvPicPr>
          <p:blipFill>
            <a:blip r:embed="rId2"/>
            <a:stretch>
              <a:fillRect/>
            </a:stretch>
          </p:blipFill>
          <p:spPr>
            <a:xfrm>
              <a:off x="4286248" y="2214554"/>
              <a:ext cx="3590925" cy="333375"/>
            </a:xfrm>
            <a:prstGeom prst="rect">
              <a:avLst/>
            </a:prstGeom>
            <a:noFill/>
            <a:ln w="9525">
              <a:noFill/>
            </a:ln>
          </p:spPr>
        </p:pic>
        <p:pic>
          <p:nvPicPr>
            <p:cNvPr id="55301" name="Picture 6"/>
            <p:cNvPicPr>
              <a:picLocks noChangeAspect="1"/>
            </p:cNvPicPr>
            <p:nvPr/>
          </p:nvPicPr>
          <p:blipFill>
            <a:blip r:embed="rId3"/>
            <a:stretch>
              <a:fillRect/>
            </a:stretch>
          </p:blipFill>
          <p:spPr>
            <a:xfrm>
              <a:off x="4286248" y="2537884"/>
              <a:ext cx="2800350" cy="323850"/>
            </a:xfrm>
            <a:prstGeom prst="rect">
              <a:avLst/>
            </a:prstGeom>
            <a:noFill/>
            <a:ln w="9525">
              <a:noFill/>
            </a:ln>
          </p:spPr>
        </p:pic>
        <p:pic>
          <p:nvPicPr>
            <p:cNvPr id="55302" name="Picture 7"/>
            <p:cNvPicPr>
              <a:picLocks noChangeAspect="1"/>
            </p:cNvPicPr>
            <p:nvPr/>
          </p:nvPicPr>
          <p:blipFill>
            <a:blip r:embed="rId4"/>
            <a:stretch>
              <a:fillRect/>
            </a:stretch>
          </p:blipFill>
          <p:spPr>
            <a:xfrm>
              <a:off x="7059804" y="2500306"/>
              <a:ext cx="814922" cy="357190"/>
            </a:xfrm>
            <a:prstGeom prst="rect">
              <a:avLst/>
            </a:prstGeom>
            <a:noFill/>
            <a:ln w="9525">
              <a:noFill/>
            </a:ln>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601266"/>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数组名作函数参数</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131075" name="Rectangle 3"/>
          <p:cNvSpPr>
            <a:spLocks noGrp="1"/>
          </p:cNvSpPr>
          <p:nvPr>
            <p:ph idx="1" hasCustomPrompt="1"/>
          </p:nvPr>
        </p:nvSpPr>
        <p:spPr>
          <a:xfrm>
            <a:off x="1839516" y="1339454"/>
            <a:ext cx="5518547" cy="2010965"/>
          </a:xfrm>
        </p:spPr>
        <p:txBody>
          <a:bodyPr vert="horz" wrap="square" lIns="68580" tIns="34290" rIns="68580" bIns="34290" anchor="t" anchorCtr="0"/>
          <a:lstStyle/>
          <a:p>
            <a:pPr eaLnBrk="1" hangingPunct="1"/>
            <a:r>
              <a:rPr lang="zh-CN" altLang="zh-CN" sz="1800" dirty="0"/>
              <a:t>除了可以用数组元素作为函数参数外，还可以用数组名作函数参数</a:t>
            </a:r>
            <a:r>
              <a:rPr lang="en-US" altLang="zh-CN" sz="1800" dirty="0"/>
              <a:t>(</a:t>
            </a:r>
            <a:r>
              <a:rPr lang="zh-CN" altLang="zh-CN" sz="1800" dirty="0"/>
              <a:t>包括实参和形参</a:t>
            </a:r>
            <a:r>
              <a:rPr lang="en-US" altLang="zh-CN" sz="1800" dirty="0"/>
              <a:t>)</a:t>
            </a:r>
          </a:p>
          <a:p>
            <a:pPr eaLnBrk="1" hangingPunct="1"/>
            <a:r>
              <a:rPr lang="zh-CN" altLang="zh-CN" sz="1800" dirty="0"/>
              <a:t>用数组元素作实参时，向形参变量传递的是</a:t>
            </a:r>
            <a:r>
              <a:rPr lang="zh-CN" altLang="zh-CN" sz="1800" dirty="0">
                <a:solidFill>
                  <a:srgbClr val="FF0000"/>
                </a:solidFill>
              </a:rPr>
              <a:t>数组元素的值</a:t>
            </a:r>
            <a:endParaRPr lang="en-US" altLang="zh-CN" sz="1800" dirty="0"/>
          </a:p>
          <a:p>
            <a:pPr eaLnBrk="1" hangingPunct="1"/>
            <a:r>
              <a:rPr lang="zh-CN" altLang="zh-CN" sz="1800" dirty="0"/>
              <a:t>用数组名作函数实参时，向形参传递的是</a:t>
            </a:r>
            <a:r>
              <a:rPr lang="zh-CN" altLang="zh-CN" sz="1800" dirty="0">
                <a:solidFill>
                  <a:srgbClr val="FF0000"/>
                </a:solidFill>
              </a:rPr>
              <a:t>数组首元素的地址</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1075">
                                            <p:txEl>
                                              <p:pRg st="1" end="1"/>
                                            </p:txEl>
                                          </p:spTgt>
                                        </p:tgtEl>
                                        <p:attrNameLst>
                                          <p:attrName>style.visibility</p:attrName>
                                        </p:attrNameLst>
                                      </p:cBhvr>
                                      <p:to>
                                        <p:strVal val="visible"/>
                                      </p:to>
                                    </p:set>
                                    <p:animEffect transition="in" filter="blinds(horizontal)">
                                      <p:cBhvr>
                                        <p:cTn id="7" dur="500"/>
                                        <p:tgtEl>
                                          <p:spTgt spid="13107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1075">
                                            <p:txEl>
                                              <p:pRg st="2" end="2"/>
                                            </p:txEl>
                                          </p:spTgt>
                                        </p:tgtEl>
                                        <p:attrNameLst>
                                          <p:attrName>style.visibility</p:attrName>
                                        </p:attrNameLst>
                                      </p:cBhvr>
                                      <p:to>
                                        <p:strVal val="visible"/>
                                      </p:to>
                                    </p:set>
                                    <p:animEffect transition="in" filter="blinds(horizontal)">
                                      <p:cBhvr>
                                        <p:cTn id="12" dur="500"/>
                                        <p:tgtEl>
                                          <p:spTgt spid="1310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601266"/>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数组名作函数参数</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55299" name="Rectangle 3"/>
          <p:cNvSpPr>
            <a:spLocks noGrp="1"/>
          </p:cNvSpPr>
          <p:nvPr>
            <p:ph idx="1" hasCustomPrompt="1"/>
          </p:nvPr>
        </p:nvSpPr>
        <p:spPr>
          <a:xfrm>
            <a:off x="1563291" y="1393031"/>
            <a:ext cx="5794772" cy="3268266"/>
          </a:xfrm>
        </p:spPr>
        <p:txBody>
          <a:bodyPr vert="horz" wrap="square" lIns="68580" tIns="34290" rIns="68580" bIns="34290" anchor="t" anchorCtr="0"/>
          <a:lstStyle/>
          <a:p>
            <a:pPr eaLnBrk="1" hangingPunct="1">
              <a:buNone/>
            </a:pPr>
            <a:r>
              <a:rPr lang="en-US" altLang="zh-CN" sz="2100" dirty="0"/>
              <a:t>  </a:t>
            </a:r>
            <a:r>
              <a:rPr lang="zh-CN" altLang="zh-CN" sz="2100" dirty="0"/>
              <a:t>例</a:t>
            </a:r>
            <a:r>
              <a:rPr lang="en-US" altLang="zh-CN" sz="2100" dirty="0"/>
              <a:t>5.8 </a:t>
            </a:r>
            <a:r>
              <a:rPr lang="zh-CN" altLang="zh-CN" sz="2100" dirty="0"/>
              <a:t>有一个一维数组</a:t>
            </a:r>
            <a:r>
              <a:rPr lang="en-US" altLang="zh-CN" sz="2100" dirty="0"/>
              <a:t>score</a:t>
            </a:r>
            <a:r>
              <a:rPr lang="zh-CN" altLang="zh-CN" sz="2100" dirty="0"/>
              <a:t>，内放</a:t>
            </a:r>
            <a:r>
              <a:rPr lang="en-US" altLang="zh-CN" sz="2100" dirty="0"/>
              <a:t>10</a:t>
            </a:r>
            <a:r>
              <a:rPr lang="zh-CN" altLang="zh-CN" sz="2100" dirty="0"/>
              <a:t>个学生成绩，求平均成绩。</a:t>
            </a:r>
            <a:endParaRPr lang="en-US" altLang="zh-CN" sz="2100" dirty="0"/>
          </a:p>
          <a:p>
            <a:pPr eaLnBrk="1" hangingPunct="1"/>
            <a:r>
              <a:rPr lang="zh-CN" altLang="zh-CN" sz="2100" dirty="0"/>
              <a:t>思路：</a:t>
            </a:r>
          </a:p>
          <a:p>
            <a:pPr lvl="1" indent="-325120" eaLnBrk="1" hangingPunct="1"/>
            <a:r>
              <a:rPr lang="zh-CN" altLang="zh-CN" sz="1800" dirty="0"/>
              <a:t>用函数</a:t>
            </a:r>
            <a:r>
              <a:rPr lang="en-US" altLang="zh-CN" sz="1800" dirty="0"/>
              <a:t>average</a:t>
            </a:r>
            <a:r>
              <a:rPr lang="zh-CN" altLang="zh-CN" sz="1800" dirty="0"/>
              <a:t>求平均成绩，用数组名作为函数实参，形参也用数组名</a:t>
            </a:r>
            <a:endParaRPr lang="en-US" altLang="zh-CN" sz="1800" dirty="0"/>
          </a:p>
          <a:p>
            <a:pPr lvl="1" indent="-325120" eaLnBrk="1" hangingPunct="1"/>
            <a:r>
              <a:rPr lang="zh-CN" altLang="zh-CN" sz="1800" dirty="0"/>
              <a:t>在</a:t>
            </a:r>
            <a:r>
              <a:rPr lang="en-US" altLang="zh-CN" sz="1800" dirty="0"/>
              <a:t>average</a:t>
            </a:r>
            <a:r>
              <a:rPr lang="zh-CN" altLang="zh-CN" sz="1800" dirty="0"/>
              <a:t>函数中引用各数组元素，求平均成绩并返回</a:t>
            </a:r>
            <a:r>
              <a:rPr lang="en-US" altLang="zh-CN" sz="1800" dirty="0"/>
              <a:t>main</a:t>
            </a:r>
            <a:r>
              <a:rPr lang="zh-CN" altLang="zh-CN" sz="1800" dirty="0"/>
              <a:t>函数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5299">
                                            <p:txEl>
                                              <p:charRg st="37" end="43"/>
                                            </p:txEl>
                                          </p:spTgt>
                                        </p:tgtEl>
                                        <p:attrNameLst>
                                          <p:attrName>style.visibility</p:attrName>
                                        </p:attrNameLst>
                                      </p:cBhvr>
                                      <p:to>
                                        <p:strVal val="visible"/>
                                      </p:to>
                                    </p:set>
                                    <p:animEffect transition="in" filter="blinds(horizontal)">
                                      <p:cBhvr>
                                        <p:cTn id="7" dur="500"/>
                                        <p:tgtEl>
                                          <p:spTgt spid="55299">
                                            <p:txEl>
                                              <p:charRg st="37" end="4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5299">
                                            <p:txEl>
                                              <p:charRg st="43" end="78"/>
                                            </p:txEl>
                                          </p:spTgt>
                                        </p:tgtEl>
                                        <p:attrNameLst>
                                          <p:attrName>style.visibility</p:attrName>
                                        </p:attrNameLst>
                                      </p:cBhvr>
                                      <p:to>
                                        <p:strVal val="visible"/>
                                      </p:to>
                                    </p:set>
                                    <p:animEffect transition="in" filter="blinds(horizontal)">
                                      <p:cBhvr>
                                        <p:cTn id="12" dur="500"/>
                                        <p:tgtEl>
                                          <p:spTgt spid="55299">
                                            <p:txEl>
                                              <p:charRg st="43" end="78"/>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55299">
                                            <p:txEl>
                                              <p:charRg st="78" end="110"/>
                                            </p:txEl>
                                          </p:spTgt>
                                        </p:tgtEl>
                                        <p:attrNameLst>
                                          <p:attrName>style.visibility</p:attrName>
                                        </p:attrNameLst>
                                      </p:cBhvr>
                                      <p:to>
                                        <p:strVal val="visible"/>
                                      </p:to>
                                    </p:set>
                                    <p:animEffect transition="in" filter="blinds(horizontal)">
                                      <p:cBhvr>
                                        <p:cTn id="15" dur="500"/>
                                        <p:tgtEl>
                                          <p:spTgt spid="55299">
                                            <p:txEl>
                                              <p:charRg st="78" end="1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内容占位符 2"/>
          <p:cNvSpPr>
            <a:spLocks noGrp="1"/>
          </p:cNvSpPr>
          <p:nvPr>
            <p:ph idx="1" hasCustomPrompt="1"/>
          </p:nvPr>
        </p:nvSpPr>
        <p:spPr>
          <a:xfrm>
            <a:off x="1515666" y="267891"/>
            <a:ext cx="5679281" cy="4607719"/>
          </a:xfrm>
        </p:spPr>
        <p:txBody>
          <a:bodyPr vert="horz" wrap="square" lIns="68580" tIns="34290" rIns="68580" bIns="34290" anchor="t" anchorCtr="0"/>
          <a:lstStyle/>
          <a:p>
            <a:pPr eaLnBrk="1" hangingPunct="1">
              <a:buNone/>
            </a:pPr>
            <a:r>
              <a:rPr lang="en-US" altLang="zh-CN" sz="1800" dirty="0"/>
              <a:t>#include &lt;stdio.h&gt;</a:t>
            </a:r>
            <a:endParaRPr lang="zh-CN" altLang="zh-CN" sz="1800" dirty="0"/>
          </a:p>
          <a:p>
            <a:pPr eaLnBrk="1" hangingPunct="1">
              <a:buNone/>
            </a:pPr>
            <a:r>
              <a:rPr lang="en-US" altLang="zh-CN" sz="1800" dirty="0"/>
              <a:t>int main()</a:t>
            </a:r>
            <a:endParaRPr lang="zh-CN" altLang="zh-CN" sz="1800" dirty="0"/>
          </a:p>
          <a:p>
            <a:pPr eaLnBrk="1" hangingPunct="1">
              <a:buNone/>
            </a:pPr>
            <a:r>
              <a:rPr lang="en-US" altLang="zh-CN" sz="1800" dirty="0"/>
              <a:t>{ </a:t>
            </a:r>
            <a:r>
              <a:rPr lang="en-US" altLang="zh-CN" sz="1800" dirty="0">
                <a:solidFill>
                  <a:srgbClr val="9D138D"/>
                </a:solidFill>
              </a:rPr>
              <a:t>float average(float array[10]); </a:t>
            </a:r>
            <a:endParaRPr lang="zh-CN" altLang="zh-CN" sz="1800" dirty="0">
              <a:solidFill>
                <a:srgbClr val="9D138D"/>
              </a:solidFill>
            </a:endParaRPr>
          </a:p>
          <a:p>
            <a:pPr eaLnBrk="1" hangingPunct="1">
              <a:buNone/>
            </a:pPr>
            <a:r>
              <a:rPr lang="en-US" altLang="zh-CN" sz="1800" dirty="0"/>
              <a:t>   </a:t>
            </a:r>
            <a:r>
              <a:rPr lang="en-US" altLang="zh-CN" sz="1800" dirty="0">
                <a:solidFill>
                  <a:srgbClr val="00B050"/>
                </a:solidFill>
              </a:rPr>
              <a:t>float score[10]</a:t>
            </a:r>
            <a:r>
              <a:rPr lang="en-US" altLang="zh-CN" sz="1800" dirty="0"/>
              <a:t>,aver;  int i;</a:t>
            </a:r>
            <a:endParaRPr lang="zh-CN" altLang="zh-CN" sz="1800" dirty="0"/>
          </a:p>
          <a:p>
            <a:pPr eaLnBrk="1" hangingPunct="1">
              <a:buNone/>
            </a:pPr>
            <a:r>
              <a:rPr lang="en-US" altLang="zh-CN" sz="1800" dirty="0"/>
              <a:t>   printf("input 10 scores:\n");</a:t>
            </a:r>
            <a:endParaRPr lang="zh-CN" altLang="zh-CN" sz="1800" dirty="0"/>
          </a:p>
          <a:p>
            <a:pPr eaLnBrk="1" hangingPunct="1">
              <a:buNone/>
            </a:pPr>
            <a:r>
              <a:rPr lang="en-US" altLang="zh-CN" sz="1800" dirty="0"/>
              <a:t>   for(i=0;i&lt;10;i++)</a:t>
            </a:r>
            <a:endParaRPr lang="zh-CN" altLang="zh-CN" sz="1800" dirty="0"/>
          </a:p>
          <a:p>
            <a:pPr eaLnBrk="1" hangingPunct="1">
              <a:buNone/>
            </a:pPr>
            <a:r>
              <a:rPr lang="en-US" altLang="zh-CN" sz="1800" dirty="0"/>
              <a:t>      scanf("%f",&amp;score[i]);</a:t>
            </a:r>
            <a:endParaRPr lang="zh-CN" altLang="zh-CN" sz="1800" dirty="0"/>
          </a:p>
          <a:p>
            <a:pPr eaLnBrk="1" hangingPunct="1">
              <a:buNone/>
            </a:pPr>
            <a:r>
              <a:rPr lang="en-US" altLang="zh-CN" sz="1800" dirty="0"/>
              <a:t>   printf("\n");</a:t>
            </a:r>
            <a:endParaRPr lang="zh-CN" altLang="zh-CN" sz="1800" dirty="0"/>
          </a:p>
          <a:p>
            <a:pPr eaLnBrk="1" hangingPunct="1">
              <a:buNone/>
            </a:pPr>
            <a:r>
              <a:rPr lang="en-US" altLang="zh-CN" sz="1800" dirty="0"/>
              <a:t>   aver=</a:t>
            </a:r>
            <a:r>
              <a:rPr lang="en-US" altLang="zh-CN" sz="1800" dirty="0">
                <a:solidFill>
                  <a:srgbClr val="9D138D"/>
                </a:solidFill>
              </a:rPr>
              <a:t>average</a:t>
            </a:r>
            <a:r>
              <a:rPr lang="en-US" altLang="zh-CN" sz="1800" dirty="0"/>
              <a:t>(score); </a:t>
            </a:r>
            <a:endParaRPr lang="zh-CN" altLang="zh-CN" sz="1800" dirty="0"/>
          </a:p>
          <a:p>
            <a:pPr eaLnBrk="1" hangingPunct="1">
              <a:buNone/>
            </a:pPr>
            <a:r>
              <a:rPr lang="en-US" altLang="zh-CN" sz="1800" dirty="0"/>
              <a:t>   printf("%5.2f\n",aver);</a:t>
            </a:r>
            <a:endParaRPr lang="zh-CN" altLang="zh-CN" sz="1800" dirty="0"/>
          </a:p>
          <a:p>
            <a:pPr eaLnBrk="1" hangingPunct="1">
              <a:buNone/>
            </a:pPr>
            <a:r>
              <a:rPr lang="en-US" altLang="zh-CN" sz="1800" dirty="0"/>
              <a:t>   return 0;</a:t>
            </a:r>
            <a:endParaRPr lang="zh-CN" altLang="zh-CN" sz="1800" dirty="0"/>
          </a:p>
          <a:p>
            <a:pPr eaLnBrk="1" hangingPunct="1">
              <a:buNone/>
            </a:pPr>
            <a:r>
              <a:rPr lang="en-US" altLang="zh-CN" sz="1800" dirty="0"/>
              <a:t>} </a:t>
            </a:r>
            <a:endParaRPr lang="zh-CN" altLang="zh-CN" sz="1800" dirty="0"/>
          </a:p>
          <a:p>
            <a:pPr eaLnBrk="1" hangingPunct="1">
              <a:buNone/>
            </a:pPr>
            <a:endParaRPr lang="zh-CN" altLang="zh-CN" sz="1800" dirty="0"/>
          </a:p>
        </p:txBody>
      </p:sp>
      <p:sp>
        <p:nvSpPr>
          <p:cNvPr id="4" name="圆角矩形标注 3"/>
          <p:cNvSpPr/>
          <p:nvPr/>
        </p:nvSpPr>
        <p:spPr>
          <a:xfrm>
            <a:off x="4732735" y="589360"/>
            <a:ext cx="2143125" cy="482203"/>
          </a:xfrm>
          <a:prstGeom prst="wedgeRoundRectCallout">
            <a:avLst>
              <a:gd name="adj1" fmla="val -120523"/>
              <a:gd name="adj2" fmla="val 108074"/>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定义实参数组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内容占位符 2"/>
          <p:cNvSpPr>
            <a:spLocks noGrp="1"/>
          </p:cNvSpPr>
          <p:nvPr>
            <p:ph idx="1" hasCustomPrompt="1"/>
          </p:nvPr>
        </p:nvSpPr>
        <p:spPr>
          <a:xfrm>
            <a:off x="1678781" y="857250"/>
            <a:ext cx="5679281" cy="3321844"/>
          </a:xfrm>
        </p:spPr>
        <p:txBody>
          <a:bodyPr vert="horz" wrap="square" lIns="68580" tIns="34290" rIns="68580" bIns="34290" anchor="t" anchorCtr="0"/>
          <a:lstStyle/>
          <a:p>
            <a:pPr eaLnBrk="1" hangingPunct="1">
              <a:buNone/>
            </a:pPr>
            <a:r>
              <a:rPr lang="en-US" altLang="zh-CN" sz="2100" dirty="0"/>
              <a:t>float </a:t>
            </a:r>
            <a:r>
              <a:rPr lang="en-US" altLang="zh-CN" sz="2100" dirty="0">
                <a:solidFill>
                  <a:srgbClr val="9D138D"/>
                </a:solidFill>
              </a:rPr>
              <a:t>average</a:t>
            </a:r>
            <a:r>
              <a:rPr lang="en-US" altLang="zh-CN" sz="2100" dirty="0"/>
              <a:t>(</a:t>
            </a:r>
            <a:r>
              <a:rPr lang="en-US" altLang="zh-CN" sz="2100" dirty="0">
                <a:solidFill>
                  <a:srgbClr val="00B050"/>
                </a:solidFill>
              </a:rPr>
              <a:t>float</a:t>
            </a:r>
            <a:r>
              <a:rPr lang="en-US" altLang="zh-CN" sz="2100" dirty="0"/>
              <a:t> </a:t>
            </a:r>
            <a:r>
              <a:rPr lang="en-US" altLang="zh-CN" sz="2100" dirty="0">
                <a:solidFill>
                  <a:srgbClr val="00B050"/>
                </a:solidFill>
              </a:rPr>
              <a:t>array[10]</a:t>
            </a:r>
            <a:r>
              <a:rPr lang="en-US" altLang="zh-CN" sz="2100" dirty="0"/>
              <a:t>)</a:t>
            </a:r>
            <a:endParaRPr lang="zh-CN" altLang="zh-CN" sz="2100" dirty="0"/>
          </a:p>
          <a:p>
            <a:pPr eaLnBrk="1" hangingPunct="1">
              <a:buNone/>
            </a:pPr>
            <a:r>
              <a:rPr lang="en-US" altLang="zh-CN" sz="2100" dirty="0"/>
              <a:t>{  int i;</a:t>
            </a:r>
            <a:endParaRPr lang="zh-CN" altLang="zh-CN" sz="2100" dirty="0"/>
          </a:p>
          <a:p>
            <a:pPr eaLnBrk="1" hangingPunct="1">
              <a:buNone/>
            </a:pPr>
            <a:r>
              <a:rPr lang="en-US" altLang="zh-CN" sz="2100" dirty="0"/>
              <a:t>    float aver,sum=array[0];</a:t>
            </a:r>
            <a:endParaRPr lang="zh-CN" altLang="zh-CN" sz="2100" dirty="0"/>
          </a:p>
          <a:p>
            <a:pPr eaLnBrk="1" hangingPunct="1">
              <a:buNone/>
            </a:pPr>
            <a:r>
              <a:rPr lang="en-US" altLang="zh-CN" sz="2100" dirty="0"/>
              <a:t>    for(i=1;i&lt;10;i++)</a:t>
            </a:r>
            <a:endParaRPr lang="zh-CN" altLang="zh-CN" sz="2100" dirty="0"/>
          </a:p>
          <a:p>
            <a:pPr eaLnBrk="1" hangingPunct="1">
              <a:buNone/>
            </a:pPr>
            <a:r>
              <a:rPr lang="en-US" altLang="zh-CN" sz="2100" dirty="0"/>
              <a:t>       sum=sum+array[i]; </a:t>
            </a:r>
            <a:endParaRPr lang="zh-CN" altLang="zh-CN" sz="2100" dirty="0"/>
          </a:p>
          <a:p>
            <a:pPr eaLnBrk="1" hangingPunct="1">
              <a:buNone/>
            </a:pPr>
            <a:r>
              <a:rPr lang="en-US" altLang="zh-CN" sz="2100" dirty="0"/>
              <a:t>    aver=sum/10;</a:t>
            </a:r>
            <a:endParaRPr lang="zh-CN" altLang="zh-CN" sz="2100" dirty="0"/>
          </a:p>
          <a:p>
            <a:pPr eaLnBrk="1" hangingPunct="1">
              <a:buNone/>
            </a:pPr>
            <a:r>
              <a:rPr lang="en-US" altLang="zh-CN" sz="2100" dirty="0"/>
              <a:t>    return(aver);</a:t>
            </a:r>
            <a:endParaRPr lang="zh-CN" altLang="zh-CN" sz="2100" dirty="0"/>
          </a:p>
          <a:p>
            <a:pPr eaLnBrk="1" hangingPunct="1">
              <a:buNone/>
            </a:pPr>
            <a:r>
              <a:rPr lang="en-US" altLang="zh-CN" sz="2100" dirty="0"/>
              <a:t>}</a:t>
            </a:r>
            <a:endParaRPr lang="zh-CN" altLang="zh-CN" sz="2100" dirty="0"/>
          </a:p>
          <a:p>
            <a:pPr eaLnBrk="1" hangingPunct="1">
              <a:buNone/>
            </a:pPr>
            <a:endParaRPr lang="zh-CN" altLang="zh-CN" sz="2100" dirty="0"/>
          </a:p>
          <a:p>
            <a:pPr eaLnBrk="1" hangingPunct="1">
              <a:buNone/>
            </a:pPr>
            <a:endParaRPr lang="zh-CN" altLang="en-US" sz="2100" dirty="0"/>
          </a:p>
        </p:txBody>
      </p:sp>
      <p:sp>
        <p:nvSpPr>
          <p:cNvPr id="4" name="圆角矩形标注 3"/>
          <p:cNvSpPr/>
          <p:nvPr/>
        </p:nvSpPr>
        <p:spPr>
          <a:xfrm>
            <a:off x="4679156" y="267891"/>
            <a:ext cx="2143125" cy="482203"/>
          </a:xfrm>
          <a:prstGeom prst="wedgeRoundRectCallout">
            <a:avLst>
              <a:gd name="adj1" fmla="val -33782"/>
              <a:gd name="adj2" fmla="val 94157"/>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定义形参数组</a:t>
            </a:r>
          </a:p>
        </p:txBody>
      </p:sp>
      <p:sp>
        <p:nvSpPr>
          <p:cNvPr id="5" name="圆角矩形标注 4"/>
          <p:cNvSpPr/>
          <p:nvPr/>
        </p:nvSpPr>
        <p:spPr>
          <a:xfrm>
            <a:off x="5482829" y="2143125"/>
            <a:ext cx="2196703" cy="482204"/>
          </a:xfrm>
          <a:prstGeom prst="wedgeRoundRectCallout">
            <a:avLst>
              <a:gd name="adj1" fmla="val -48750"/>
              <a:gd name="adj2" fmla="val -81185"/>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相当于</a:t>
            </a:r>
            <a:r>
              <a:rPr lang="en-US" altLang="zh-CN" sz="2100" b="1" dirty="0">
                <a:solidFill>
                  <a:srgbClr val="0000CC"/>
                </a:solidFill>
                <a:latin typeface="Arial" panose="020B0604020202090204" pitchFamily="34" charset="0"/>
              </a:rPr>
              <a:t>score[0]</a:t>
            </a:r>
            <a:endParaRPr lang="zh-CN" altLang="en-US" sz="2100" b="1" dirty="0">
              <a:solidFill>
                <a:srgbClr val="0000CC"/>
              </a:solidFill>
              <a:latin typeface="Arial" panose="020B0604020202090204" pitchFamily="34" charset="0"/>
            </a:endParaRPr>
          </a:p>
        </p:txBody>
      </p:sp>
      <p:sp>
        <p:nvSpPr>
          <p:cNvPr id="6" name="圆角矩形标注 5"/>
          <p:cNvSpPr/>
          <p:nvPr/>
        </p:nvSpPr>
        <p:spPr>
          <a:xfrm>
            <a:off x="4786313" y="3000375"/>
            <a:ext cx="2196704" cy="482204"/>
          </a:xfrm>
          <a:prstGeom prst="wedgeRoundRectCallout">
            <a:avLst>
              <a:gd name="adj1" fmla="val -48750"/>
              <a:gd name="adj2" fmla="val -81185"/>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相当于</a:t>
            </a:r>
            <a:r>
              <a:rPr lang="en-US" altLang="zh-CN" sz="2100" b="1" dirty="0">
                <a:solidFill>
                  <a:srgbClr val="0000CC"/>
                </a:solidFill>
                <a:latin typeface="Arial" panose="020B0604020202090204" pitchFamily="34" charset="0"/>
              </a:rPr>
              <a:t>score[i]</a:t>
            </a:r>
            <a:endParaRPr lang="zh-CN" altLang="en-US" sz="2100" b="1" dirty="0">
              <a:solidFill>
                <a:srgbClr val="0000CC"/>
              </a:solidFill>
              <a:latin typeface="Arial" panose="020B0604020202090204" pitchFamily="34" charset="0"/>
            </a:endParaRPr>
          </a:p>
        </p:txBody>
      </p:sp>
      <p:grpSp>
        <p:nvGrpSpPr>
          <p:cNvPr id="2" name="组合 8"/>
          <p:cNvGrpSpPr/>
          <p:nvPr/>
        </p:nvGrpSpPr>
        <p:grpSpPr>
          <a:xfrm>
            <a:off x="2689622" y="3819525"/>
            <a:ext cx="4245769" cy="960835"/>
            <a:chOff x="1785918" y="4941724"/>
            <a:chExt cx="5937493" cy="1444268"/>
          </a:xfrm>
        </p:grpSpPr>
        <p:pic>
          <p:nvPicPr>
            <p:cNvPr id="59398" name="Picture 2"/>
            <p:cNvPicPr>
              <a:picLocks noChangeAspect="1"/>
            </p:cNvPicPr>
            <p:nvPr/>
          </p:nvPicPr>
          <p:blipFill>
            <a:blip r:embed="rId4"/>
            <a:stretch>
              <a:fillRect/>
            </a:stretch>
          </p:blipFill>
          <p:spPr>
            <a:xfrm>
              <a:off x="1785918" y="4941724"/>
              <a:ext cx="5937493" cy="1000132"/>
            </a:xfrm>
            <a:prstGeom prst="rect">
              <a:avLst/>
            </a:prstGeom>
            <a:noFill/>
            <a:ln w="9525">
              <a:noFill/>
            </a:ln>
          </p:spPr>
        </p:pic>
        <p:pic>
          <p:nvPicPr>
            <p:cNvPr id="59399" name="Picture 3"/>
            <p:cNvPicPr>
              <a:picLocks noChangeAspect="1"/>
            </p:cNvPicPr>
            <p:nvPr/>
          </p:nvPicPr>
          <p:blipFill>
            <a:blip r:embed="rId5"/>
            <a:stretch>
              <a:fillRect/>
            </a:stretch>
          </p:blipFill>
          <p:spPr>
            <a:xfrm>
              <a:off x="1823496" y="5941856"/>
              <a:ext cx="4118352" cy="444136"/>
            </a:xfrm>
            <a:prstGeom prst="rect">
              <a:avLst/>
            </a:prstGeom>
            <a:noFill/>
            <a:ln w="9525">
              <a:noFill/>
            </a:ln>
          </p:spPr>
        </p:pic>
        <p:pic>
          <p:nvPicPr>
            <p:cNvPr id="59400" name="Picture 4"/>
            <p:cNvPicPr>
              <a:picLocks noChangeAspect="1"/>
            </p:cNvPicPr>
            <p:nvPr/>
          </p:nvPicPr>
          <p:blipFill>
            <a:blip r:embed="rId6"/>
            <a:stretch>
              <a:fillRect/>
            </a:stretch>
          </p:blipFill>
          <p:spPr>
            <a:xfrm>
              <a:off x="5929322" y="5929330"/>
              <a:ext cx="1785950" cy="449896"/>
            </a:xfrm>
            <a:prstGeom prst="rect">
              <a:avLst/>
            </a:prstGeom>
            <a:noFill/>
            <a:ln w="9525">
              <a:noFill/>
            </a:ln>
          </p:spPr>
        </p:pic>
      </p:grpSp>
      <p:sp>
        <p:nvSpPr>
          <p:cNvPr id="10" name="圆角矩形标注 9"/>
          <p:cNvSpPr/>
          <p:nvPr>
            <p:custDataLst>
              <p:tags r:id="rId1"/>
            </p:custDataLst>
          </p:nvPr>
        </p:nvSpPr>
        <p:spPr>
          <a:xfrm>
            <a:off x="5484099" y="957580"/>
            <a:ext cx="2196703" cy="482204"/>
          </a:xfrm>
          <a:prstGeom prst="wedgeRoundRectCallout">
            <a:avLst>
              <a:gd name="adj1" fmla="val -64984"/>
              <a:gd name="adj2" fmla="val 1621"/>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en-US" altLang="zh-CN" sz="2100" b="1" dirty="0">
                <a:solidFill>
                  <a:srgbClr val="0000CC"/>
                </a:solidFill>
                <a:latin typeface="Arial" panose="020B0604020202090204" pitchFamily="34" charset="0"/>
                <a:sym typeface="+mn-ea"/>
              </a:rPr>
              <a:t>float array[ ]</a:t>
            </a:r>
            <a:endParaRPr lang="en-US" altLang="zh-CN" sz="2100">
              <a:sym typeface="+mn-ea"/>
            </a:endParaRPr>
          </a:p>
          <a:p>
            <a:pPr algn="ctr">
              <a:buSzTx/>
            </a:pPr>
            <a:endParaRPr lang="zh-CN" altLang="en-US" sz="2100" b="1" dirty="0">
              <a:solidFill>
                <a:srgbClr val="0000CC"/>
              </a:solidFill>
              <a:latin typeface="Arial" panose="020B060402020209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10"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内容占位符 2"/>
          <p:cNvSpPr>
            <a:spLocks noGrp="1"/>
          </p:cNvSpPr>
          <p:nvPr>
            <p:ph idx="1" hasCustomPrompt="1"/>
          </p:nvPr>
        </p:nvSpPr>
        <p:spPr/>
        <p:txBody>
          <a:bodyPr vert="horz" wrap="square" lIns="68580" tIns="34290" rIns="68580" bIns="34290" anchor="t" anchorCtr="0"/>
          <a:lstStyle/>
          <a:p>
            <a:pPr eaLnBrk="1" hangingPunct="1">
              <a:buNone/>
            </a:pPr>
            <a:r>
              <a:rPr lang="en-US" altLang="zh-CN" dirty="0"/>
              <a:t>   </a:t>
            </a:r>
            <a:r>
              <a:rPr lang="zh-CN" altLang="zh-CN" dirty="0"/>
              <a:t>例</a:t>
            </a:r>
            <a:r>
              <a:rPr lang="en-US" altLang="zh-CN" dirty="0"/>
              <a:t>5.9 </a:t>
            </a:r>
            <a:r>
              <a:rPr lang="zh-CN" altLang="zh-CN" dirty="0"/>
              <a:t>有两个班级，分别有</a:t>
            </a:r>
            <a:r>
              <a:rPr lang="en-US" altLang="zh-CN" dirty="0"/>
              <a:t>35</a:t>
            </a:r>
            <a:r>
              <a:rPr lang="zh-CN" altLang="zh-CN" dirty="0"/>
              <a:t>名和</a:t>
            </a:r>
            <a:r>
              <a:rPr lang="en-US" altLang="zh-CN" dirty="0"/>
              <a:t>30</a:t>
            </a:r>
            <a:r>
              <a:rPr lang="zh-CN" altLang="zh-CN" dirty="0"/>
              <a:t>名学生，调用一个</a:t>
            </a:r>
            <a:r>
              <a:rPr lang="en-US" altLang="zh-CN" dirty="0"/>
              <a:t>average</a:t>
            </a:r>
            <a:r>
              <a:rPr lang="zh-CN" altLang="zh-CN" dirty="0"/>
              <a:t>函数，分别求这两个班的学生的平均成绩。</a:t>
            </a:r>
            <a:endParaRPr lang="zh-CN" altLang="en-US" dirty="0"/>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内容占位符 2"/>
          <p:cNvSpPr>
            <a:spLocks noGrp="1"/>
          </p:cNvSpPr>
          <p:nvPr>
            <p:ph idx="1" hasCustomPrompt="1"/>
          </p:nvPr>
        </p:nvSpPr>
        <p:spPr>
          <a:xfrm>
            <a:off x="1547813" y="535781"/>
            <a:ext cx="6115050" cy="4057650"/>
          </a:xfrm>
        </p:spPr>
        <p:txBody>
          <a:bodyPr vert="horz" wrap="square" lIns="68580" tIns="34290" rIns="68580" bIns="34290" anchor="t" anchorCtr="0"/>
          <a:lstStyle/>
          <a:p>
            <a:pPr eaLnBrk="1" hangingPunct="1"/>
            <a:r>
              <a:rPr lang="zh-CN" altLang="zh-CN" dirty="0"/>
              <a:t>思路：</a:t>
            </a:r>
          </a:p>
          <a:p>
            <a:pPr lvl="1" indent="-325120" eaLnBrk="1" hangingPunct="1"/>
            <a:r>
              <a:rPr lang="zh-CN" altLang="zh-CN" dirty="0"/>
              <a:t>需要解决怎样用同一个函数求两个不同长度的数组的平均值的问题</a:t>
            </a:r>
            <a:endParaRPr lang="en-US" altLang="zh-CN" dirty="0"/>
          </a:p>
          <a:p>
            <a:pPr lvl="1" indent="-325120" eaLnBrk="1" hangingPunct="1"/>
            <a:r>
              <a:rPr lang="zh-CN" altLang="zh-CN" dirty="0"/>
              <a:t>定义</a:t>
            </a:r>
            <a:r>
              <a:rPr lang="en-US" altLang="zh-CN" dirty="0"/>
              <a:t>average</a:t>
            </a:r>
            <a:r>
              <a:rPr lang="zh-CN" altLang="zh-CN" dirty="0"/>
              <a:t>函数时不指定数组的长度，在形参表中增加一个整型变量</a:t>
            </a:r>
            <a:r>
              <a:rPr lang="en-US" altLang="zh-CN" dirty="0"/>
              <a:t>n</a:t>
            </a:r>
          </a:p>
          <a:p>
            <a:pPr lvl="1" indent="-325120" eaLnBrk="1" hangingPunct="1"/>
            <a:r>
              <a:rPr lang="zh-CN" altLang="zh-CN" dirty="0"/>
              <a:t>从主函数把数组实际长度从实参传递给形参</a:t>
            </a:r>
            <a:r>
              <a:rPr lang="en-US" altLang="zh-CN" dirty="0"/>
              <a:t>n</a:t>
            </a:r>
          </a:p>
          <a:p>
            <a:pPr lvl="1" indent="-325120" eaLnBrk="1" hangingPunct="1"/>
            <a:r>
              <a:rPr lang="zh-CN" altLang="zh-CN" dirty="0"/>
              <a:t>这个</a:t>
            </a:r>
            <a:r>
              <a:rPr lang="en-US" altLang="zh-CN" dirty="0"/>
              <a:t>n</a:t>
            </a:r>
            <a:r>
              <a:rPr lang="zh-CN" altLang="zh-CN" dirty="0"/>
              <a:t>用来在</a:t>
            </a:r>
            <a:r>
              <a:rPr lang="en-US" altLang="zh-CN" dirty="0"/>
              <a:t>average</a:t>
            </a:r>
            <a:r>
              <a:rPr lang="zh-CN" altLang="zh-CN" dirty="0"/>
              <a:t>函数中控制循环的次数</a:t>
            </a:r>
          </a:p>
          <a:p>
            <a:pPr lvl="1" indent="-325120" eaLnBrk="1" hangingPunct="1"/>
            <a:r>
              <a:rPr lang="zh-CN" altLang="zh-CN" dirty="0"/>
              <a:t>为简化，设两个班的学生数分别为</a:t>
            </a:r>
            <a:r>
              <a:rPr lang="en-US" altLang="zh-CN" dirty="0"/>
              <a:t>5</a:t>
            </a:r>
            <a:r>
              <a:rPr lang="zh-CN" altLang="zh-CN" dirty="0"/>
              <a:t>和</a:t>
            </a:r>
            <a:r>
              <a:rPr lang="en-US" altLang="zh-CN" dirty="0"/>
              <a:t>10</a:t>
            </a:r>
            <a:endParaRPr lang="zh-CN" altLang="zh-CN" dirty="0"/>
          </a:p>
          <a:p>
            <a:pPr eaLnBrk="1" hangingPunct="1">
              <a:buNone/>
            </a:pPr>
            <a:endParaRPr lang="zh-CN" altLang="en-US" dirty="0"/>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内容占位符 2"/>
          <p:cNvSpPr>
            <a:spLocks noGrp="1"/>
          </p:cNvSpPr>
          <p:nvPr>
            <p:ph idx="1" hasCustomPrompt="1"/>
          </p:nvPr>
        </p:nvSpPr>
        <p:spPr>
          <a:xfrm>
            <a:off x="1357313" y="642938"/>
            <a:ext cx="6482954" cy="4018360"/>
          </a:xfrm>
        </p:spPr>
        <p:txBody>
          <a:bodyPr vert="horz" wrap="square" lIns="68580" tIns="34290" rIns="68580" bIns="34290" anchor="t" anchorCtr="0"/>
          <a:lstStyle/>
          <a:p>
            <a:pPr eaLnBrk="1" hangingPunct="1">
              <a:buNone/>
            </a:pPr>
            <a:r>
              <a:rPr lang="en-US" altLang="zh-CN" sz="2100" dirty="0"/>
              <a:t>#include &lt;stdio.h&gt;</a:t>
            </a:r>
            <a:endParaRPr lang="zh-CN" altLang="zh-CN" sz="2100" dirty="0"/>
          </a:p>
          <a:p>
            <a:pPr eaLnBrk="1" hangingPunct="1">
              <a:buNone/>
            </a:pPr>
            <a:r>
              <a:rPr lang="en-US" altLang="zh-CN" sz="2100" dirty="0"/>
              <a:t>int main()</a:t>
            </a:r>
            <a:endParaRPr lang="zh-CN" altLang="zh-CN" sz="2100" dirty="0"/>
          </a:p>
          <a:p>
            <a:pPr eaLnBrk="1" hangingPunct="1">
              <a:buNone/>
            </a:pPr>
            <a:r>
              <a:rPr lang="en-US" altLang="zh-CN" sz="2100" dirty="0"/>
              <a:t>{ </a:t>
            </a:r>
            <a:r>
              <a:rPr lang="en-US" altLang="zh-CN" sz="2100" dirty="0">
                <a:solidFill>
                  <a:srgbClr val="9D138D"/>
                </a:solidFill>
              </a:rPr>
              <a:t>float average(float array[ ],int n);</a:t>
            </a:r>
            <a:endParaRPr lang="zh-CN" altLang="zh-CN" sz="2100" dirty="0">
              <a:solidFill>
                <a:srgbClr val="9D138D"/>
              </a:solidFill>
            </a:endParaRPr>
          </a:p>
          <a:p>
            <a:pPr eaLnBrk="1" hangingPunct="1">
              <a:buNone/>
            </a:pPr>
            <a:r>
              <a:rPr lang="en-US" altLang="zh-CN" sz="2100" dirty="0"/>
              <a:t>   float score1[5]={98.5,97,91.5,60,55};                        </a:t>
            </a:r>
            <a:endParaRPr lang="zh-CN" altLang="zh-CN" sz="2100" dirty="0"/>
          </a:p>
          <a:p>
            <a:pPr eaLnBrk="1" hangingPunct="1">
              <a:buNone/>
            </a:pPr>
            <a:r>
              <a:rPr lang="en-US" altLang="zh-CN" sz="2100" dirty="0"/>
              <a:t>   float score2[10]={67.5,89.5,99,69.5,</a:t>
            </a:r>
          </a:p>
          <a:p>
            <a:pPr eaLnBrk="1" hangingPunct="1">
              <a:buNone/>
            </a:pPr>
            <a:r>
              <a:rPr lang="en-US" altLang="zh-CN" sz="2100" dirty="0"/>
              <a:t>                       77,89.5,76.5,54,60,99.5}; </a:t>
            </a:r>
            <a:endParaRPr lang="zh-CN" altLang="zh-CN" sz="2100" dirty="0"/>
          </a:p>
          <a:p>
            <a:pPr eaLnBrk="1" hangingPunct="1">
              <a:buNone/>
            </a:pPr>
            <a:r>
              <a:rPr lang="en-US" altLang="zh-CN" sz="2100" dirty="0"/>
              <a:t>   printf(“%6.2f\n”,</a:t>
            </a:r>
            <a:r>
              <a:rPr lang="en-US" altLang="zh-CN" sz="2100" dirty="0">
                <a:solidFill>
                  <a:srgbClr val="9D138D"/>
                </a:solidFill>
              </a:rPr>
              <a:t>average</a:t>
            </a:r>
            <a:r>
              <a:rPr lang="en-US" altLang="zh-CN" sz="2100" dirty="0"/>
              <a:t>(score1,</a:t>
            </a:r>
            <a:r>
              <a:rPr lang="en-US" altLang="zh-CN" sz="2100" dirty="0">
                <a:solidFill>
                  <a:srgbClr val="FF0000"/>
                </a:solidFill>
              </a:rPr>
              <a:t>5</a:t>
            </a:r>
            <a:r>
              <a:rPr lang="en-US" altLang="zh-CN" sz="2100" dirty="0"/>
              <a:t>)); </a:t>
            </a:r>
            <a:endParaRPr lang="zh-CN" altLang="zh-CN" sz="2100" dirty="0"/>
          </a:p>
          <a:p>
            <a:pPr eaLnBrk="1" hangingPunct="1">
              <a:buNone/>
            </a:pPr>
            <a:r>
              <a:rPr lang="en-US" altLang="zh-CN" sz="2100" dirty="0"/>
              <a:t>   printf(“%6.2f\n”,</a:t>
            </a:r>
            <a:r>
              <a:rPr lang="en-US" altLang="zh-CN" sz="2100" dirty="0">
                <a:solidFill>
                  <a:srgbClr val="9D138D"/>
                </a:solidFill>
              </a:rPr>
              <a:t>average</a:t>
            </a:r>
            <a:r>
              <a:rPr lang="en-US" altLang="zh-CN" sz="2100" dirty="0"/>
              <a:t>(score2,</a:t>
            </a:r>
            <a:r>
              <a:rPr lang="en-US" altLang="zh-CN" sz="2100" dirty="0">
                <a:solidFill>
                  <a:srgbClr val="FF0000"/>
                </a:solidFill>
              </a:rPr>
              <a:t>10</a:t>
            </a:r>
            <a:r>
              <a:rPr lang="en-US" altLang="zh-CN" sz="2100" dirty="0"/>
              <a:t>)); </a:t>
            </a:r>
            <a:endParaRPr lang="zh-CN" altLang="zh-CN" sz="2100" dirty="0"/>
          </a:p>
          <a:p>
            <a:pPr eaLnBrk="1" hangingPunct="1">
              <a:buNone/>
            </a:pPr>
            <a:r>
              <a:rPr lang="en-US" altLang="zh-CN" sz="2100" dirty="0"/>
              <a:t>   return 0;</a:t>
            </a:r>
            <a:endParaRPr lang="zh-CN" altLang="zh-CN" sz="2100" dirty="0"/>
          </a:p>
          <a:p>
            <a:pPr eaLnBrk="1" hangingPunct="1">
              <a:buNone/>
            </a:pPr>
            <a:r>
              <a:rPr lang="en-US" altLang="zh-CN" sz="2100" dirty="0"/>
              <a:t>}</a:t>
            </a:r>
            <a:endParaRPr lang="zh-CN" altLang="zh-CN" sz="2100" dirty="0"/>
          </a:p>
          <a:p>
            <a:pPr eaLnBrk="1" hangingPunct="1">
              <a:buNone/>
            </a:pPr>
            <a:endParaRPr lang="zh-CN" altLang="en-US" sz="2100" dirty="0"/>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内容占位符 2"/>
          <p:cNvSpPr>
            <a:spLocks noGrp="1"/>
          </p:cNvSpPr>
          <p:nvPr>
            <p:ph idx="1" hasCustomPrompt="1"/>
          </p:nvPr>
        </p:nvSpPr>
        <p:spPr>
          <a:xfrm>
            <a:off x="1547813" y="1285875"/>
            <a:ext cx="6115050" cy="3429000"/>
          </a:xfrm>
        </p:spPr>
        <p:txBody>
          <a:bodyPr vert="horz" wrap="square" lIns="68580" tIns="34290" rIns="68580" bIns="34290" anchor="t" anchorCtr="0"/>
          <a:lstStyle/>
          <a:p>
            <a:pPr eaLnBrk="1" hangingPunct="1">
              <a:buNone/>
            </a:pPr>
            <a:r>
              <a:rPr lang="en-US" altLang="zh-CN" sz="2100" dirty="0"/>
              <a:t>float </a:t>
            </a:r>
            <a:r>
              <a:rPr lang="en-US" altLang="zh-CN" sz="2100" dirty="0">
                <a:solidFill>
                  <a:srgbClr val="9D138D"/>
                </a:solidFill>
              </a:rPr>
              <a:t>average</a:t>
            </a:r>
            <a:r>
              <a:rPr lang="en-US" altLang="zh-CN" sz="2100" dirty="0"/>
              <a:t>(float array[ ],</a:t>
            </a:r>
            <a:r>
              <a:rPr lang="en-US" altLang="zh-CN" sz="2100" dirty="0">
                <a:solidFill>
                  <a:srgbClr val="FF0000"/>
                </a:solidFill>
              </a:rPr>
              <a:t>int n</a:t>
            </a:r>
            <a:r>
              <a:rPr lang="en-US" altLang="zh-CN" sz="2100" dirty="0"/>
              <a:t>) </a:t>
            </a:r>
            <a:endParaRPr lang="zh-CN" altLang="zh-CN" sz="2100" dirty="0"/>
          </a:p>
          <a:p>
            <a:pPr eaLnBrk="1" hangingPunct="1">
              <a:buNone/>
            </a:pPr>
            <a:r>
              <a:rPr lang="en-US" altLang="zh-CN" sz="2100" dirty="0"/>
              <a:t> { int i;</a:t>
            </a:r>
            <a:endParaRPr lang="zh-CN" altLang="zh-CN" sz="2100" dirty="0"/>
          </a:p>
          <a:p>
            <a:pPr eaLnBrk="1" hangingPunct="1">
              <a:buNone/>
            </a:pPr>
            <a:r>
              <a:rPr lang="en-US" altLang="zh-CN" sz="2100" dirty="0"/>
              <a:t>    float aver,sum=array[0];</a:t>
            </a:r>
            <a:endParaRPr lang="zh-CN" altLang="zh-CN" sz="2100" dirty="0"/>
          </a:p>
          <a:p>
            <a:pPr eaLnBrk="1" hangingPunct="1">
              <a:buNone/>
            </a:pPr>
            <a:r>
              <a:rPr lang="en-US" altLang="zh-CN" sz="2100" dirty="0"/>
              <a:t>    for(i=1;i&lt;</a:t>
            </a:r>
            <a:r>
              <a:rPr lang="en-US" altLang="zh-CN" sz="2100" dirty="0">
                <a:solidFill>
                  <a:srgbClr val="FF0000"/>
                </a:solidFill>
              </a:rPr>
              <a:t>n</a:t>
            </a:r>
            <a:r>
              <a:rPr lang="en-US" altLang="zh-CN" sz="2100" dirty="0"/>
              <a:t>;i++)</a:t>
            </a:r>
            <a:endParaRPr lang="zh-CN" altLang="zh-CN" sz="2100" dirty="0"/>
          </a:p>
          <a:p>
            <a:pPr eaLnBrk="1" hangingPunct="1">
              <a:buNone/>
            </a:pPr>
            <a:r>
              <a:rPr lang="en-US" altLang="zh-CN" sz="2100" dirty="0"/>
              <a:t>       sum=sum+array[i];  </a:t>
            </a:r>
            <a:endParaRPr lang="zh-CN" altLang="zh-CN" sz="2100" dirty="0"/>
          </a:p>
          <a:p>
            <a:pPr eaLnBrk="1" hangingPunct="1">
              <a:buNone/>
            </a:pPr>
            <a:r>
              <a:rPr lang="en-US" altLang="zh-CN" sz="2100" dirty="0"/>
              <a:t>    aver=sum/</a:t>
            </a:r>
            <a:r>
              <a:rPr lang="en-US" altLang="zh-CN" sz="2100" dirty="0">
                <a:solidFill>
                  <a:srgbClr val="FF0000"/>
                </a:solidFill>
              </a:rPr>
              <a:t>n</a:t>
            </a:r>
            <a:r>
              <a:rPr lang="en-US" altLang="zh-CN" sz="2100" dirty="0"/>
              <a:t>;</a:t>
            </a:r>
            <a:endParaRPr lang="zh-CN" altLang="zh-CN" sz="2100" dirty="0"/>
          </a:p>
          <a:p>
            <a:pPr eaLnBrk="1" hangingPunct="1">
              <a:buNone/>
            </a:pPr>
            <a:r>
              <a:rPr lang="en-US" altLang="zh-CN" sz="2100" dirty="0"/>
              <a:t>    return(aver);</a:t>
            </a:r>
            <a:endParaRPr lang="zh-CN" altLang="zh-CN" sz="2100" dirty="0"/>
          </a:p>
          <a:p>
            <a:pPr eaLnBrk="1" hangingPunct="1">
              <a:buNone/>
            </a:pPr>
            <a:r>
              <a:rPr lang="en-US" altLang="zh-CN" sz="2100" dirty="0"/>
              <a:t>}</a:t>
            </a:r>
            <a:endParaRPr lang="zh-CN" altLang="zh-CN" sz="2100" dirty="0"/>
          </a:p>
          <a:p>
            <a:pPr eaLnBrk="1" hangingPunct="1">
              <a:buNone/>
            </a:pPr>
            <a:endParaRPr lang="zh-CN" altLang="en-US" sz="2100" dirty="0"/>
          </a:p>
        </p:txBody>
      </p:sp>
      <p:sp>
        <p:nvSpPr>
          <p:cNvPr id="5" name="TextBox 4"/>
          <p:cNvSpPr txBox="1"/>
          <p:nvPr/>
        </p:nvSpPr>
        <p:spPr>
          <a:xfrm>
            <a:off x="1785938" y="535781"/>
            <a:ext cx="5197079" cy="414020"/>
          </a:xfrm>
          <a:prstGeom prst="rect">
            <a:avLst/>
          </a:prstGeom>
          <a:noFill/>
          <a:ln w="9525">
            <a:noFill/>
          </a:ln>
        </p:spPr>
        <p:txBody>
          <a:bodyPr anchor="t" anchorCtr="0">
            <a:spAutoFit/>
          </a:bodyPr>
          <a:lstStyle/>
          <a:p>
            <a:pPr>
              <a:buSzTx/>
            </a:pPr>
            <a:r>
              <a:rPr lang="zh-CN" altLang="en-US" sz="2100" b="1" dirty="0">
                <a:latin typeface="Arial" panose="020B0604020202090204" pitchFamily="34" charset="0"/>
              </a:rPr>
              <a:t>调用形式为</a:t>
            </a:r>
            <a:r>
              <a:rPr lang="en-US" altLang="zh-CN" sz="2100" b="1" dirty="0">
                <a:latin typeface="Arial" panose="020B0604020202090204" pitchFamily="34" charset="0"/>
              </a:rPr>
              <a:t>average(</a:t>
            </a:r>
            <a:r>
              <a:rPr lang="en-US" altLang="zh-CN" sz="2100" b="1" dirty="0">
                <a:solidFill>
                  <a:srgbClr val="00B050"/>
                </a:solidFill>
                <a:latin typeface="Arial" panose="020B0604020202090204" pitchFamily="34" charset="0"/>
              </a:rPr>
              <a:t>score1</a:t>
            </a:r>
            <a:r>
              <a:rPr lang="en-US" altLang="zh-CN" sz="2100" b="1" dirty="0">
                <a:latin typeface="Arial" panose="020B0604020202090204" pitchFamily="34" charset="0"/>
              </a:rPr>
              <a:t>,</a:t>
            </a:r>
            <a:r>
              <a:rPr lang="en-US" altLang="zh-CN" sz="2100" b="1" dirty="0">
                <a:solidFill>
                  <a:srgbClr val="00B050"/>
                </a:solidFill>
                <a:latin typeface="Arial" panose="020B0604020202090204" pitchFamily="34" charset="0"/>
              </a:rPr>
              <a:t>5</a:t>
            </a:r>
            <a:r>
              <a:rPr lang="en-US" altLang="zh-CN" sz="2100" b="1" dirty="0">
                <a:latin typeface="Arial" panose="020B0604020202090204" pitchFamily="34" charset="0"/>
              </a:rPr>
              <a:t>)</a:t>
            </a:r>
            <a:r>
              <a:rPr lang="zh-CN" altLang="en-US" sz="2100" b="1" dirty="0">
                <a:latin typeface="Arial" panose="020B0604020202090204" pitchFamily="34" charset="0"/>
              </a:rPr>
              <a:t>时</a:t>
            </a:r>
          </a:p>
        </p:txBody>
      </p:sp>
      <p:sp>
        <p:nvSpPr>
          <p:cNvPr id="6" name="圆角矩形标注 5"/>
          <p:cNvSpPr/>
          <p:nvPr/>
        </p:nvSpPr>
        <p:spPr>
          <a:xfrm>
            <a:off x="5214938" y="2571750"/>
            <a:ext cx="2357438" cy="482204"/>
          </a:xfrm>
          <a:prstGeom prst="wedgeRoundRectCallout">
            <a:avLst>
              <a:gd name="adj1" fmla="val -48750"/>
              <a:gd name="adj2" fmla="val -81185"/>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相当于</a:t>
            </a:r>
            <a:r>
              <a:rPr lang="en-US" altLang="zh-CN" sz="2100" b="1" dirty="0">
                <a:solidFill>
                  <a:srgbClr val="00B050"/>
                </a:solidFill>
                <a:latin typeface="Arial" panose="020B0604020202090204" pitchFamily="34" charset="0"/>
              </a:rPr>
              <a:t>score1</a:t>
            </a:r>
            <a:r>
              <a:rPr lang="en-US" altLang="zh-CN" sz="2100" b="1" dirty="0">
                <a:solidFill>
                  <a:srgbClr val="0000CC"/>
                </a:solidFill>
                <a:latin typeface="Arial" panose="020B0604020202090204" pitchFamily="34" charset="0"/>
              </a:rPr>
              <a:t>[0]</a:t>
            </a:r>
            <a:endParaRPr lang="zh-CN" altLang="en-US" sz="2100" b="1" dirty="0">
              <a:solidFill>
                <a:srgbClr val="0000CC"/>
              </a:solidFill>
              <a:latin typeface="Arial" panose="020B0604020202090204" pitchFamily="34" charset="0"/>
            </a:endParaRPr>
          </a:p>
        </p:txBody>
      </p:sp>
      <p:sp>
        <p:nvSpPr>
          <p:cNvPr id="7" name="圆角矩形标注 6"/>
          <p:cNvSpPr/>
          <p:nvPr/>
        </p:nvSpPr>
        <p:spPr>
          <a:xfrm>
            <a:off x="4411266" y="3429000"/>
            <a:ext cx="2518172" cy="482204"/>
          </a:xfrm>
          <a:prstGeom prst="wedgeRoundRectCallout">
            <a:avLst>
              <a:gd name="adj1" fmla="val -48750"/>
              <a:gd name="adj2" fmla="val -81185"/>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相当于</a:t>
            </a:r>
            <a:r>
              <a:rPr lang="en-US" altLang="zh-CN" sz="2100" b="1" dirty="0">
                <a:solidFill>
                  <a:srgbClr val="00B050"/>
                </a:solidFill>
                <a:latin typeface="Arial" panose="020B0604020202090204" pitchFamily="34" charset="0"/>
              </a:rPr>
              <a:t>score1</a:t>
            </a:r>
            <a:r>
              <a:rPr lang="en-US" altLang="zh-CN" sz="2100" b="1" dirty="0">
                <a:solidFill>
                  <a:srgbClr val="0000CC"/>
                </a:solidFill>
                <a:latin typeface="Arial" panose="020B0604020202090204" pitchFamily="34" charset="0"/>
              </a:rPr>
              <a:t>[i]</a:t>
            </a:r>
            <a:endParaRPr lang="zh-CN" altLang="en-US" sz="2100" b="1" dirty="0">
              <a:solidFill>
                <a:srgbClr val="0000CC"/>
              </a:solidFill>
              <a:latin typeface="Arial" panose="020B0604020202090204" pitchFamily="34" charset="0"/>
            </a:endParaRPr>
          </a:p>
        </p:txBody>
      </p:sp>
      <p:sp>
        <p:nvSpPr>
          <p:cNvPr id="8" name="圆角矩形标注 7"/>
          <p:cNvSpPr/>
          <p:nvPr/>
        </p:nvSpPr>
        <p:spPr>
          <a:xfrm>
            <a:off x="2556272" y="1596629"/>
            <a:ext cx="1500188" cy="482203"/>
          </a:xfrm>
          <a:prstGeom prst="wedgeRoundRectCallout">
            <a:avLst>
              <a:gd name="adj1" fmla="val -17611"/>
              <a:gd name="adj2" fmla="val 135069"/>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相当于</a:t>
            </a:r>
            <a:r>
              <a:rPr lang="en-US" altLang="zh-CN" sz="2100" b="1" dirty="0">
                <a:solidFill>
                  <a:srgbClr val="00B050"/>
                </a:solidFill>
                <a:latin typeface="Arial" panose="020B0604020202090204" pitchFamily="34" charset="0"/>
              </a:rPr>
              <a:t>5</a:t>
            </a:r>
            <a:endParaRPr lang="zh-CN" altLang="en-US" sz="2100" b="1" dirty="0">
              <a:solidFill>
                <a:srgbClr val="0000CC"/>
              </a:solidFill>
              <a:latin typeface="Arial" panose="020B060402020209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ldLvl="0" animBg="1"/>
      <p:bldP spid="7" grpId="0" bldLvl="0" animBg="1"/>
      <p:bldP spid="8"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内容占位符 2"/>
          <p:cNvSpPr>
            <a:spLocks noGrp="1"/>
          </p:cNvSpPr>
          <p:nvPr>
            <p:ph idx="1" hasCustomPrompt="1"/>
          </p:nvPr>
        </p:nvSpPr>
        <p:spPr>
          <a:xfrm>
            <a:off x="1547813" y="1285875"/>
            <a:ext cx="6115050" cy="3429000"/>
          </a:xfrm>
        </p:spPr>
        <p:txBody>
          <a:bodyPr vert="horz" wrap="square" lIns="68580" tIns="34290" rIns="68580" bIns="34290" anchor="t" anchorCtr="0"/>
          <a:lstStyle/>
          <a:p>
            <a:pPr eaLnBrk="1" hangingPunct="1">
              <a:buNone/>
            </a:pPr>
            <a:r>
              <a:rPr lang="en-US" altLang="zh-CN" sz="2100" dirty="0"/>
              <a:t>float </a:t>
            </a:r>
            <a:r>
              <a:rPr lang="en-US" altLang="zh-CN" sz="2100" dirty="0">
                <a:solidFill>
                  <a:srgbClr val="9D138D"/>
                </a:solidFill>
              </a:rPr>
              <a:t>average</a:t>
            </a:r>
            <a:r>
              <a:rPr lang="en-US" altLang="zh-CN" sz="2100" dirty="0"/>
              <a:t>(float array[ ],</a:t>
            </a:r>
            <a:r>
              <a:rPr lang="en-US" altLang="zh-CN" sz="2100" dirty="0">
                <a:solidFill>
                  <a:srgbClr val="FF0000"/>
                </a:solidFill>
              </a:rPr>
              <a:t>int n</a:t>
            </a:r>
            <a:r>
              <a:rPr lang="en-US" altLang="zh-CN" sz="2100" dirty="0"/>
              <a:t>) </a:t>
            </a:r>
            <a:endParaRPr lang="zh-CN" altLang="zh-CN" sz="2100" dirty="0"/>
          </a:p>
          <a:p>
            <a:pPr eaLnBrk="1" hangingPunct="1">
              <a:buNone/>
            </a:pPr>
            <a:r>
              <a:rPr lang="en-US" altLang="zh-CN" sz="2100" dirty="0"/>
              <a:t> { int i;</a:t>
            </a:r>
            <a:endParaRPr lang="zh-CN" altLang="zh-CN" sz="2100" dirty="0"/>
          </a:p>
          <a:p>
            <a:pPr eaLnBrk="1" hangingPunct="1">
              <a:buNone/>
            </a:pPr>
            <a:r>
              <a:rPr lang="en-US" altLang="zh-CN" sz="2100" dirty="0"/>
              <a:t>    float aver,sum=array[0];</a:t>
            </a:r>
            <a:endParaRPr lang="zh-CN" altLang="zh-CN" sz="2100" dirty="0"/>
          </a:p>
          <a:p>
            <a:pPr eaLnBrk="1" hangingPunct="1">
              <a:buNone/>
            </a:pPr>
            <a:r>
              <a:rPr lang="en-US" altLang="zh-CN" sz="2100" dirty="0"/>
              <a:t>    for(i=1;i&lt;</a:t>
            </a:r>
            <a:r>
              <a:rPr lang="en-US" altLang="zh-CN" sz="2100" dirty="0">
                <a:solidFill>
                  <a:srgbClr val="FF0000"/>
                </a:solidFill>
              </a:rPr>
              <a:t>n</a:t>
            </a:r>
            <a:r>
              <a:rPr lang="en-US" altLang="zh-CN" sz="2100" dirty="0"/>
              <a:t>;i++)</a:t>
            </a:r>
            <a:endParaRPr lang="zh-CN" altLang="zh-CN" sz="2100" dirty="0"/>
          </a:p>
          <a:p>
            <a:pPr eaLnBrk="1" hangingPunct="1">
              <a:buNone/>
            </a:pPr>
            <a:r>
              <a:rPr lang="en-US" altLang="zh-CN" sz="2100" dirty="0"/>
              <a:t>       sum=sum+array[i];  </a:t>
            </a:r>
            <a:endParaRPr lang="zh-CN" altLang="zh-CN" sz="2100" dirty="0"/>
          </a:p>
          <a:p>
            <a:pPr eaLnBrk="1" hangingPunct="1">
              <a:buNone/>
            </a:pPr>
            <a:r>
              <a:rPr lang="en-US" altLang="zh-CN" sz="2100" dirty="0"/>
              <a:t>    aver=sum/</a:t>
            </a:r>
            <a:r>
              <a:rPr lang="en-US" altLang="zh-CN" sz="2100" dirty="0">
                <a:solidFill>
                  <a:srgbClr val="FF0000"/>
                </a:solidFill>
              </a:rPr>
              <a:t>n</a:t>
            </a:r>
            <a:r>
              <a:rPr lang="en-US" altLang="zh-CN" sz="2100" dirty="0"/>
              <a:t>;</a:t>
            </a:r>
            <a:endParaRPr lang="zh-CN" altLang="zh-CN" sz="2100" dirty="0"/>
          </a:p>
          <a:p>
            <a:pPr eaLnBrk="1" hangingPunct="1">
              <a:buNone/>
            </a:pPr>
            <a:r>
              <a:rPr lang="en-US" altLang="zh-CN" sz="2100" dirty="0"/>
              <a:t>    return(aver);</a:t>
            </a:r>
            <a:endParaRPr lang="zh-CN" altLang="zh-CN" sz="2100" dirty="0"/>
          </a:p>
          <a:p>
            <a:pPr eaLnBrk="1" hangingPunct="1">
              <a:buNone/>
            </a:pPr>
            <a:r>
              <a:rPr lang="en-US" altLang="zh-CN" sz="2100" dirty="0"/>
              <a:t>}</a:t>
            </a:r>
            <a:endParaRPr lang="zh-CN" altLang="zh-CN" sz="2100" dirty="0"/>
          </a:p>
          <a:p>
            <a:pPr eaLnBrk="1" hangingPunct="1">
              <a:buNone/>
            </a:pPr>
            <a:endParaRPr lang="zh-CN" altLang="en-US" sz="2100" dirty="0"/>
          </a:p>
        </p:txBody>
      </p:sp>
      <p:pic>
        <p:nvPicPr>
          <p:cNvPr id="115714" name="Picture 2"/>
          <p:cNvPicPr>
            <a:picLocks noChangeAspect="1"/>
          </p:cNvPicPr>
          <p:nvPr/>
        </p:nvPicPr>
        <p:blipFill>
          <a:blip r:embed="rId2"/>
          <a:stretch>
            <a:fillRect/>
          </a:stretch>
        </p:blipFill>
        <p:spPr>
          <a:xfrm>
            <a:off x="6018610" y="4232672"/>
            <a:ext cx="1397794" cy="750094"/>
          </a:xfrm>
          <a:prstGeom prst="rect">
            <a:avLst/>
          </a:prstGeom>
          <a:noFill/>
          <a:ln w="9525">
            <a:noFill/>
          </a:ln>
        </p:spPr>
      </p:pic>
      <p:sp>
        <p:nvSpPr>
          <p:cNvPr id="5" name="TextBox 4"/>
          <p:cNvSpPr txBox="1"/>
          <p:nvPr/>
        </p:nvSpPr>
        <p:spPr>
          <a:xfrm>
            <a:off x="1785938" y="535781"/>
            <a:ext cx="5197079" cy="414020"/>
          </a:xfrm>
          <a:prstGeom prst="rect">
            <a:avLst/>
          </a:prstGeom>
          <a:noFill/>
          <a:ln w="9525">
            <a:noFill/>
          </a:ln>
        </p:spPr>
        <p:txBody>
          <a:bodyPr anchor="t" anchorCtr="0">
            <a:spAutoFit/>
          </a:bodyPr>
          <a:lstStyle/>
          <a:p>
            <a:pPr>
              <a:buSzTx/>
            </a:pPr>
            <a:r>
              <a:rPr lang="zh-CN" altLang="en-US" sz="2100" b="1" dirty="0">
                <a:latin typeface="Arial" panose="020B0604020202090204" pitchFamily="34" charset="0"/>
              </a:rPr>
              <a:t>调用形式为</a:t>
            </a:r>
            <a:r>
              <a:rPr lang="en-US" altLang="zh-CN" sz="2100" b="1" dirty="0">
                <a:latin typeface="Arial" panose="020B0604020202090204" pitchFamily="34" charset="0"/>
              </a:rPr>
              <a:t>average(</a:t>
            </a:r>
            <a:r>
              <a:rPr lang="en-US" altLang="zh-CN" sz="2100" b="1" dirty="0">
                <a:solidFill>
                  <a:srgbClr val="00B050"/>
                </a:solidFill>
                <a:latin typeface="Arial" panose="020B0604020202090204" pitchFamily="34" charset="0"/>
              </a:rPr>
              <a:t>score2</a:t>
            </a:r>
            <a:r>
              <a:rPr lang="en-US" altLang="zh-CN" sz="2100" b="1" dirty="0">
                <a:latin typeface="Arial" panose="020B0604020202090204" pitchFamily="34" charset="0"/>
              </a:rPr>
              <a:t>,</a:t>
            </a:r>
            <a:r>
              <a:rPr lang="en-US" altLang="zh-CN" sz="2100" b="1" dirty="0">
                <a:solidFill>
                  <a:srgbClr val="00B050"/>
                </a:solidFill>
                <a:latin typeface="Arial" panose="020B0604020202090204" pitchFamily="34" charset="0"/>
              </a:rPr>
              <a:t>10</a:t>
            </a:r>
            <a:r>
              <a:rPr lang="en-US" altLang="zh-CN" sz="2100" b="1" dirty="0">
                <a:latin typeface="Arial" panose="020B0604020202090204" pitchFamily="34" charset="0"/>
              </a:rPr>
              <a:t>)</a:t>
            </a:r>
            <a:r>
              <a:rPr lang="zh-CN" altLang="en-US" sz="2100" b="1" dirty="0">
                <a:latin typeface="Arial" panose="020B0604020202090204" pitchFamily="34" charset="0"/>
              </a:rPr>
              <a:t>时</a:t>
            </a:r>
          </a:p>
        </p:txBody>
      </p:sp>
      <p:sp>
        <p:nvSpPr>
          <p:cNvPr id="6" name="圆角矩形标注 5"/>
          <p:cNvSpPr/>
          <p:nvPr/>
        </p:nvSpPr>
        <p:spPr>
          <a:xfrm>
            <a:off x="5214938" y="2571750"/>
            <a:ext cx="2357438" cy="482204"/>
          </a:xfrm>
          <a:prstGeom prst="wedgeRoundRectCallout">
            <a:avLst>
              <a:gd name="adj1" fmla="val -48750"/>
              <a:gd name="adj2" fmla="val -81185"/>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相当于</a:t>
            </a:r>
            <a:r>
              <a:rPr lang="en-US" altLang="zh-CN" sz="2100" b="1" dirty="0">
                <a:solidFill>
                  <a:srgbClr val="00B050"/>
                </a:solidFill>
                <a:latin typeface="Arial" panose="020B0604020202090204" pitchFamily="34" charset="0"/>
              </a:rPr>
              <a:t>score2</a:t>
            </a:r>
            <a:r>
              <a:rPr lang="en-US" altLang="zh-CN" sz="2100" b="1" dirty="0">
                <a:solidFill>
                  <a:srgbClr val="0000CC"/>
                </a:solidFill>
                <a:latin typeface="Arial" panose="020B0604020202090204" pitchFamily="34" charset="0"/>
              </a:rPr>
              <a:t>[0]</a:t>
            </a:r>
            <a:endParaRPr lang="zh-CN" altLang="en-US" sz="2100" b="1" dirty="0">
              <a:solidFill>
                <a:srgbClr val="0000CC"/>
              </a:solidFill>
              <a:latin typeface="Arial" panose="020B0604020202090204" pitchFamily="34" charset="0"/>
            </a:endParaRPr>
          </a:p>
        </p:txBody>
      </p:sp>
      <p:sp>
        <p:nvSpPr>
          <p:cNvPr id="7" name="圆角矩形标注 6"/>
          <p:cNvSpPr/>
          <p:nvPr/>
        </p:nvSpPr>
        <p:spPr>
          <a:xfrm>
            <a:off x="4411266" y="3429000"/>
            <a:ext cx="2518172" cy="482204"/>
          </a:xfrm>
          <a:prstGeom prst="wedgeRoundRectCallout">
            <a:avLst>
              <a:gd name="adj1" fmla="val -48750"/>
              <a:gd name="adj2" fmla="val -81185"/>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相当于</a:t>
            </a:r>
            <a:r>
              <a:rPr lang="en-US" altLang="zh-CN" sz="2100" b="1" dirty="0">
                <a:solidFill>
                  <a:srgbClr val="00B050"/>
                </a:solidFill>
                <a:latin typeface="Arial" panose="020B0604020202090204" pitchFamily="34" charset="0"/>
              </a:rPr>
              <a:t>score2</a:t>
            </a:r>
            <a:r>
              <a:rPr lang="en-US" altLang="zh-CN" sz="2100" b="1" dirty="0">
                <a:solidFill>
                  <a:srgbClr val="0000CC"/>
                </a:solidFill>
                <a:latin typeface="Arial" panose="020B0604020202090204" pitchFamily="34" charset="0"/>
              </a:rPr>
              <a:t>[i]</a:t>
            </a:r>
            <a:endParaRPr lang="zh-CN" altLang="en-US" sz="2100" b="1" dirty="0">
              <a:solidFill>
                <a:srgbClr val="0000CC"/>
              </a:solidFill>
              <a:latin typeface="Arial" panose="020B0604020202090204" pitchFamily="34" charset="0"/>
            </a:endParaRPr>
          </a:p>
        </p:txBody>
      </p:sp>
      <p:sp>
        <p:nvSpPr>
          <p:cNvPr id="8" name="圆角矩形标注 7"/>
          <p:cNvSpPr/>
          <p:nvPr/>
        </p:nvSpPr>
        <p:spPr>
          <a:xfrm>
            <a:off x="2556272" y="1647825"/>
            <a:ext cx="1500188" cy="482204"/>
          </a:xfrm>
          <a:prstGeom prst="wedgeRoundRectCallout">
            <a:avLst>
              <a:gd name="adj1" fmla="val -17611"/>
              <a:gd name="adj2" fmla="val 135069"/>
              <a:gd name="adj3" fmla="val 16667"/>
            </a:avLst>
          </a:prstGeom>
          <a:solidFill>
            <a:srgbClr val="FFCCFF"/>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相当于</a:t>
            </a:r>
            <a:r>
              <a:rPr lang="en-US" altLang="zh-CN" sz="2100" b="1" dirty="0">
                <a:solidFill>
                  <a:srgbClr val="00B050"/>
                </a:solidFill>
                <a:latin typeface="Arial" panose="020B0604020202090204" pitchFamily="34" charset="0"/>
              </a:rPr>
              <a:t>10</a:t>
            </a:r>
            <a:endParaRPr lang="zh-CN" altLang="en-US" sz="2100" b="1" dirty="0">
              <a:solidFill>
                <a:srgbClr val="0000CC"/>
              </a:solidFill>
              <a:latin typeface="Arial" panose="020B060402020209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15714"/>
                                        </p:tgtEl>
                                        <p:attrNameLst>
                                          <p:attrName>style.visibility</p:attrName>
                                        </p:attrNameLst>
                                      </p:cBhvr>
                                      <p:to>
                                        <p:strVal val="visible"/>
                                      </p:to>
                                    </p:set>
                                    <p:animEffect transition="in" filter="blinds(horizontal)">
                                      <p:cBhvr>
                                        <p:cTn id="27" dur="500"/>
                                        <p:tgtEl>
                                          <p:spTgt spid="115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ldLvl="0" animBg="1"/>
      <p:bldP spid="7" grpId="0" bldLvl="0" animBg="1"/>
      <p:bldP spid="8" grpId="0" bldLvl="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1923"/>
          <p:cNvSpPr txBox="1"/>
          <p:nvPr/>
        </p:nvSpPr>
        <p:spPr>
          <a:xfrm>
            <a:off x="1638300" y="334804"/>
            <a:ext cx="5867400" cy="1824038"/>
          </a:xfrm>
          <a:prstGeom prst="rect">
            <a:avLst/>
          </a:prstGeom>
          <a:noFill/>
          <a:ln w="9525">
            <a:noFill/>
          </a:ln>
        </p:spPr>
        <p:txBody>
          <a:bodyPr anchor="b"/>
          <a:lstStyle>
            <a:lvl1pPr marL="0" lvl="0" indent="0" algn="r" defTabSz="914400" rtl="0" eaLnBrk="1" fontAlgn="base" latinLnBrk="0" hangingPunct="1">
              <a:lnSpc>
                <a:spcPct val="100000"/>
              </a:lnSpc>
              <a:spcBef>
                <a:spcPct val="0"/>
              </a:spcBef>
              <a:spcAft>
                <a:spcPct val="0"/>
              </a:spcAft>
              <a:buClrTx/>
              <a:buSzTx/>
              <a:buFontTx/>
              <a:buNone/>
              <a:defRPr sz="4800" b="1" i="0" u="none" kern="1200" baseline="0">
                <a:solidFill>
                  <a:schemeClr val="tx2"/>
                </a:solidFill>
                <a:latin typeface="+mj-lt"/>
                <a:ea typeface="+mj-ea"/>
                <a:cs typeface="+mj-cs"/>
              </a:defRPr>
            </a:lvl1pPr>
          </a:lstStyle>
          <a:p>
            <a:pPr algn="ctr"/>
            <a:r>
              <a:rPr lang="zh-CN" altLang="en-US" sz="3600"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rPr>
              <a:t>局部变量和全局变量</a:t>
            </a:r>
          </a:p>
        </p:txBody>
      </p:sp>
      <p:cxnSp>
        <p:nvCxnSpPr>
          <p:cNvPr id="4" name="直接连接符 3"/>
          <p:cNvCxnSpPr/>
          <p:nvPr/>
        </p:nvCxnSpPr>
        <p:spPr>
          <a:xfrm>
            <a:off x="323850" y="2352052"/>
            <a:ext cx="8496300" cy="0"/>
          </a:xfrm>
          <a:prstGeom prst="line">
            <a:avLst/>
          </a:prstGeom>
          <a:ln w="25400">
            <a:solidFill>
              <a:srgbClr val="782367"/>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3873" y="185003"/>
            <a:ext cx="430355" cy="43035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708422"/>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局部变量和全局变量</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65538" name="Rectangle 3"/>
          <p:cNvSpPr>
            <a:spLocks noGrp="1"/>
          </p:cNvSpPr>
          <p:nvPr>
            <p:ph idx="1" hasCustomPrompt="1"/>
          </p:nvPr>
        </p:nvSpPr>
        <p:spPr>
          <a:xfrm>
            <a:off x="1331119" y="1600200"/>
            <a:ext cx="6481763" cy="1607344"/>
          </a:xfrm>
        </p:spPr>
        <p:txBody>
          <a:bodyPr vert="horz" wrap="square" lIns="68580" tIns="34290" rIns="68580" bIns="34290" anchor="t" anchorCtr="0"/>
          <a:lstStyle/>
          <a:p>
            <a:pPr marL="342900" lvl="1" indent="0" eaLnBrk="1" hangingPunct="1">
              <a:buNone/>
            </a:pPr>
            <a:r>
              <a:rPr lang="zh-CN" altLang="zh-CN" dirty="0"/>
              <a:t>局部变量</a:t>
            </a:r>
            <a:r>
              <a:rPr lang="zh-CN" altLang="en-US" dirty="0"/>
              <a:t>：在函数内定义的变量</a:t>
            </a:r>
            <a:endParaRPr lang="en-US" altLang="zh-CN" dirty="0"/>
          </a:p>
          <a:p>
            <a:pPr marL="342900" lvl="1" indent="0" eaLnBrk="1" hangingPunct="1">
              <a:buNone/>
            </a:pPr>
            <a:r>
              <a:rPr lang="zh-CN" altLang="zh-CN" dirty="0"/>
              <a:t>全局变量</a:t>
            </a:r>
            <a:r>
              <a:rPr lang="zh-CN" altLang="en-US" dirty="0"/>
              <a:t>：在函数之外定义的变量</a:t>
            </a:r>
            <a:endParaRPr lang="zh-CN" altLang="zh-CN" dirty="0"/>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内容占位符 2"/>
          <p:cNvSpPr>
            <a:spLocks noGrp="1"/>
          </p:cNvSpPr>
          <p:nvPr>
            <p:ph idx="1" hasCustomPrompt="1"/>
          </p:nvPr>
        </p:nvSpPr>
        <p:spPr>
          <a:xfrm>
            <a:off x="1762125" y="535781"/>
            <a:ext cx="3774281" cy="4446985"/>
          </a:xfrm>
        </p:spPr>
        <p:txBody>
          <a:bodyPr vert="horz" wrap="square" lIns="68580" tIns="34290" rIns="68580" bIns="34290" anchor="t" anchorCtr="0"/>
          <a:lstStyle/>
          <a:p>
            <a:pPr eaLnBrk="1" hangingPunct="1">
              <a:buNone/>
            </a:pPr>
            <a:r>
              <a:rPr lang="en-US" altLang="zh-CN" sz="2100" dirty="0">
                <a:solidFill>
                  <a:srgbClr val="00B050"/>
                </a:solidFill>
              </a:rPr>
              <a:t>int p=1,q=5</a:t>
            </a:r>
          </a:p>
          <a:p>
            <a:pPr eaLnBrk="1" hangingPunct="1">
              <a:buNone/>
            </a:pPr>
            <a:r>
              <a:rPr lang="en-US" altLang="zh-CN" sz="2100" dirty="0"/>
              <a:t>float f1(int a)</a:t>
            </a:r>
          </a:p>
          <a:p>
            <a:pPr eaLnBrk="1" hangingPunct="1">
              <a:buNone/>
            </a:pPr>
            <a:r>
              <a:rPr lang="en-US" altLang="zh-CN" sz="2100" dirty="0"/>
              <a:t>{  int b,c;   ……  }</a:t>
            </a:r>
          </a:p>
          <a:p>
            <a:pPr eaLnBrk="1" hangingPunct="1">
              <a:buNone/>
            </a:pPr>
            <a:r>
              <a:rPr lang="en-US" altLang="zh-CN" sz="2100" dirty="0">
                <a:solidFill>
                  <a:srgbClr val="00B050"/>
                </a:solidFill>
              </a:rPr>
              <a:t>char c1,c2;</a:t>
            </a:r>
          </a:p>
          <a:p>
            <a:pPr eaLnBrk="1" hangingPunct="1">
              <a:buNone/>
            </a:pPr>
            <a:r>
              <a:rPr lang="en-US" altLang="zh-CN" sz="2100" dirty="0"/>
              <a:t>char f2 (int x, int y)</a:t>
            </a:r>
          </a:p>
          <a:p>
            <a:pPr eaLnBrk="1" hangingPunct="1">
              <a:buNone/>
            </a:pPr>
            <a:r>
              <a:rPr lang="en-US" altLang="zh-CN" sz="2100" dirty="0"/>
              <a:t>{  int i,j;   ……  }</a:t>
            </a:r>
          </a:p>
          <a:p>
            <a:pPr eaLnBrk="1" hangingPunct="1">
              <a:buNone/>
            </a:pPr>
            <a:r>
              <a:rPr lang="en-US" altLang="zh-CN" sz="2100" dirty="0"/>
              <a:t>int main ( )</a:t>
            </a:r>
          </a:p>
          <a:p>
            <a:pPr eaLnBrk="1" hangingPunct="1">
              <a:buNone/>
            </a:pPr>
            <a:r>
              <a:rPr lang="en-US" altLang="zh-CN" sz="2100" dirty="0"/>
              <a:t>{  int m,n;</a:t>
            </a:r>
          </a:p>
          <a:p>
            <a:pPr eaLnBrk="1" hangingPunct="1">
              <a:buNone/>
            </a:pPr>
            <a:r>
              <a:rPr lang="en-US" altLang="zh-CN" sz="2100" dirty="0"/>
              <a:t>    ……</a:t>
            </a:r>
          </a:p>
          <a:p>
            <a:pPr eaLnBrk="1" hangingPunct="1">
              <a:buNone/>
            </a:pPr>
            <a:r>
              <a:rPr lang="en-US" altLang="zh-CN" sz="2100" dirty="0"/>
              <a:t>    return 0;</a:t>
            </a:r>
          </a:p>
          <a:p>
            <a:pPr eaLnBrk="1" hangingPunct="1">
              <a:buNone/>
            </a:pPr>
            <a:r>
              <a:rPr lang="en-US" altLang="zh-CN" sz="2100" dirty="0"/>
              <a:t>}</a:t>
            </a:r>
            <a:endParaRPr lang="zh-CN" altLang="en-US" sz="2100" dirty="0"/>
          </a:p>
        </p:txBody>
      </p:sp>
      <p:sp>
        <p:nvSpPr>
          <p:cNvPr id="4" name="矩形 3"/>
          <p:cNvSpPr/>
          <p:nvPr/>
        </p:nvSpPr>
        <p:spPr>
          <a:xfrm>
            <a:off x="1732360" y="482204"/>
            <a:ext cx="2250281" cy="428625"/>
          </a:xfrm>
          <a:prstGeom prst="rect">
            <a:avLst/>
          </a:prstGeom>
          <a:noFill/>
          <a:ln w="38100" cap="flat" cmpd="sng">
            <a:solidFill>
              <a:srgbClr val="FF0000"/>
            </a:solidFill>
            <a:prstDash val="solid"/>
            <a:miter/>
            <a:headEnd type="none" w="med" len="med"/>
            <a:tailEnd type="none" w="med" len="med"/>
          </a:ln>
        </p:spPr>
        <p:txBody>
          <a:bodyPr wrap="none" anchor="t" anchorCtr="0"/>
          <a:lstStyle/>
          <a:p>
            <a:pPr>
              <a:buSzTx/>
            </a:pPr>
            <a:endParaRPr lang="zh-CN" altLang="en-US" sz="3000" dirty="0">
              <a:latin typeface="Arial" panose="020B0604020202090204" pitchFamily="34" charset="0"/>
            </a:endParaRPr>
          </a:p>
        </p:txBody>
      </p:sp>
      <p:sp>
        <p:nvSpPr>
          <p:cNvPr id="5" name="圆角矩形标注 4"/>
          <p:cNvSpPr/>
          <p:nvPr/>
        </p:nvSpPr>
        <p:spPr>
          <a:xfrm>
            <a:off x="4786630" y="727710"/>
            <a:ext cx="2609850" cy="1362075"/>
          </a:xfrm>
          <a:prstGeom prst="wedgeRoundRectCallout">
            <a:avLst>
              <a:gd name="adj1" fmla="val -71116"/>
              <a:gd name="adj2" fmla="val 36079"/>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buSzTx/>
            </a:pPr>
            <a:r>
              <a:rPr lang="en-US" altLang="zh-CN" sz="2100" b="1" dirty="0">
                <a:solidFill>
                  <a:srgbClr val="0000CC"/>
                </a:solidFill>
                <a:latin typeface="Arial" panose="020B0604020202090204" pitchFamily="34" charset="0"/>
              </a:rPr>
              <a:t>p</a:t>
            </a:r>
            <a:r>
              <a:rPr lang="zh-CN" altLang="en-US" sz="2100" b="1" dirty="0">
                <a:solidFill>
                  <a:srgbClr val="0000CC"/>
                </a:solidFill>
                <a:latin typeface="Arial" panose="020B0604020202090204" pitchFamily="34" charset="0"/>
              </a:rPr>
              <a:t>、</a:t>
            </a:r>
            <a:r>
              <a:rPr lang="en-US" altLang="zh-CN" sz="2100" b="1" dirty="0">
                <a:solidFill>
                  <a:srgbClr val="0000CC"/>
                </a:solidFill>
                <a:latin typeface="Arial" panose="020B0604020202090204" pitchFamily="34" charset="0"/>
              </a:rPr>
              <a:t>q</a:t>
            </a:r>
            <a:r>
              <a:rPr lang="zh-CN" altLang="en-US" sz="2100" b="1" dirty="0">
                <a:solidFill>
                  <a:srgbClr val="0000CC"/>
                </a:solidFill>
                <a:latin typeface="Arial" panose="020B0604020202090204" pitchFamily="34" charset="0"/>
              </a:rPr>
              <a:t>、</a:t>
            </a:r>
            <a:r>
              <a:rPr lang="en-US" altLang="zh-CN" sz="2100" b="1" dirty="0">
                <a:solidFill>
                  <a:srgbClr val="0000CC"/>
                </a:solidFill>
                <a:latin typeface="Arial" panose="020B0604020202090204" pitchFamily="34" charset="0"/>
              </a:rPr>
              <a:t>c1</a:t>
            </a:r>
            <a:r>
              <a:rPr lang="zh-CN" altLang="en-US" sz="2100" b="1" dirty="0">
                <a:solidFill>
                  <a:srgbClr val="0000CC"/>
                </a:solidFill>
                <a:latin typeface="Arial" panose="020B0604020202090204" pitchFamily="34" charset="0"/>
              </a:rPr>
              <a:t>、</a:t>
            </a:r>
            <a:r>
              <a:rPr lang="en-US" altLang="zh-CN" sz="2100" b="1" dirty="0">
                <a:solidFill>
                  <a:srgbClr val="0000CC"/>
                </a:solidFill>
                <a:latin typeface="Arial" panose="020B0604020202090204" pitchFamily="34" charset="0"/>
              </a:rPr>
              <a:t>c2</a:t>
            </a:r>
            <a:br>
              <a:rPr lang="en-US" altLang="zh-CN" sz="2100" b="1" dirty="0">
                <a:solidFill>
                  <a:srgbClr val="0000CC"/>
                </a:solidFill>
                <a:latin typeface="Arial" panose="020B0604020202090204" pitchFamily="34" charset="0"/>
              </a:rPr>
            </a:br>
            <a:r>
              <a:rPr lang="zh-CN" altLang="en-US" sz="2100" b="1" dirty="0">
                <a:solidFill>
                  <a:srgbClr val="0000CC"/>
                </a:solidFill>
                <a:latin typeface="Arial" panose="020B0604020202090204" pitchFamily="34" charset="0"/>
              </a:rPr>
              <a:t>为</a:t>
            </a:r>
            <a:r>
              <a:rPr lang="zh-CN" altLang="zh-CN" sz="2100" b="1" dirty="0">
                <a:solidFill>
                  <a:srgbClr val="0000CC"/>
                </a:solidFill>
                <a:latin typeface="Arial" panose="020B0604020202090204" pitchFamily="34" charset="0"/>
              </a:rPr>
              <a:t>全局变量</a:t>
            </a:r>
          </a:p>
          <a:p>
            <a:pPr>
              <a:buSzTx/>
            </a:pPr>
            <a:r>
              <a:rPr lang="en-US" altLang="zh-CN" sz="2100" b="1" dirty="0">
                <a:solidFill>
                  <a:srgbClr val="0000CC"/>
                </a:solidFill>
                <a:latin typeface="Arial" panose="020B0604020202090204" pitchFamily="34" charset="0"/>
              </a:rPr>
              <a:t>b</a:t>
            </a:r>
            <a:r>
              <a:rPr lang="zh-CN" altLang="en-US" sz="2100" b="1" dirty="0">
                <a:solidFill>
                  <a:srgbClr val="0000CC"/>
                </a:solidFill>
                <a:latin typeface="Arial" panose="020B0604020202090204" pitchFamily="34" charset="0"/>
                <a:ea typeface="宋体" pitchFamily="2" charset="-122"/>
              </a:rPr>
              <a:t>、</a:t>
            </a:r>
            <a:r>
              <a:rPr lang="en-US" altLang="zh-CN" sz="2100" b="1" dirty="0">
                <a:solidFill>
                  <a:srgbClr val="0000CC"/>
                </a:solidFill>
                <a:latin typeface="Arial" panose="020B0604020202090204" pitchFamily="34" charset="0"/>
                <a:ea typeface="宋体" pitchFamily="2" charset="-122"/>
              </a:rPr>
              <a:t>c</a:t>
            </a:r>
            <a:r>
              <a:rPr lang="zh-CN" altLang="en-US" sz="2100" b="1" dirty="0">
                <a:solidFill>
                  <a:srgbClr val="0000CC"/>
                </a:solidFill>
                <a:latin typeface="Arial" panose="020B0604020202090204" pitchFamily="34" charset="0"/>
                <a:ea typeface="宋体" pitchFamily="2" charset="-122"/>
              </a:rPr>
              <a:t>、</a:t>
            </a:r>
            <a:r>
              <a:rPr lang="en-US" altLang="zh-CN" sz="2100" b="1" dirty="0">
                <a:solidFill>
                  <a:srgbClr val="0000CC"/>
                </a:solidFill>
                <a:latin typeface="Arial" panose="020B0604020202090204" pitchFamily="34" charset="0"/>
                <a:ea typeface="宋体" pitchFamily="2" charset="-122"/>
              </a:rPr>
              <a:t>i</a:t>
            </a:r>
            <a:r>
              <a:rPr lang="zh-CN" altLang="en-US" sz="2100" b="1" dirty="0">
                <a:solidFill>
                  <a:srgbClr val="0000CC"/>
                </a:solidFill>
                <a:latin typeface="Arial" panose="020B0604020202090204" pitchFamily="34" charset="0"/>
                <a:ea typeface="宋体" pitchFamily="2" charset="-122"/>
              </a:rPr>
              <a:t>、</a:t>
            </a:r>
            <a:r>
              <a:rPr lang="en-US" altLang="zh-CN" sz="2100" b="1" dirty="0">
                <a:solidFill>
                  <a:srgbClr val="0000CC"/>
                </a:solidFill>
                <a:latin typeface="Arial" panose="020B0604020202090204" pitchFamily="34" charset="0"/>
                <a:ea typeface="宋体" pitchFamily="2" charset="-122"/>
              </a:rPr>
              <a:t>j</a:t>
            </a:r>
            <a:r>
              <a:rPr lang="zh-CN" altLang="en-US" sz="2100" b="1" dirty="0">
                <a:solidFill>
                  <a:srgbClr val="0000CC"/>
                </a:solidFill>
                <a:latin typeface="Arial" panose="020B0604020202090204" pitchFamily="34" charset="0"/>
                <a:ea typeface="宋体" pitchFamily="2" charset="-122"/>
              </a:rPr>
              <a:t>、</a:t>
            </a:r>
            <a:r>
              <a:rPr lang="en-US" altLang="zh-CN" sz="2100" b="1" dirty="0">
                <a:solidFill>
                  <a:srgbClr val="0000CC"/>
                </a:solidFill>
                <a:latin typeface="Arial" panose="020B0604020202090204" pitchFamily="34" charset="0"/>
                <a:ea typeface="宋体" pitchFamily="2" charset="-122"/>
              </a:rPr>
              <a:t>m</a:t>
            </a:r>
            <a:r>
              <a:rPr lang="zh-CN" altLang="en-US" sz="2100" b="1" dirty="0">
                <a:solidFill>
                  <a:srgbClr val="0000CC"/>
                </a:solidFill>
                <a:latin typeface="Arial" panose="020B0604020202090204" pitchFamily="34" charset="0"/>
                <a:ea typeface="宋体" pitchFamily="2" charset="-122"/>
              </a:rPr>
              <a:t>、</a:t>
            </a:r>
            <a:r>
              <a:rPr lang="en-US" altLang="zh-CN" sz="2100" b="1" dirty="0">
                <a:solidFill>
                  <a:srgbClr val="0000CC"/>
                </a:solidFill>
                <a:latin typeface="Arial" panose="020B0604020202090204" pitchFamily="34" charset="0"/>
                <a:ea typeface="宋体" pitchFamily="2" charset="-122"/>
              </a:rPr>
              <a:t>n</a:t>
            </a:r>
            <a:br>
              <a:rPr lang="en-US" altLang="zh-CN" sz="2100" b="1" dirty="0">
                <a:solidFill>
                  <a:srgbClr val="0000CC"/>
                </a:solidFill>
                <a:latin typeface="Arial" panose="020B0604020202090204" pitchFamily="34" charset="0"/>
                <a:ea typeface="宋体" pitchFamily="2" charset="-122"/>
              </a:rPr>
            </a:br>
            <a:r>
              <a:rPr lang="zh-CN" altLang="en-US" sz="2100" b="1" dirty="0">
                <a:solidFill>
                  <a:srgbClr val="0000CC"/>
                </a:solidFill>
                <a:latin typeface="Arial" panose="020B0604020202090204" pitchFamily="34" charset="0"/>
                <a:ea typeface="宋体" pitchFamily="2" charset="-122"/>
              </a:rPr>
              <a:t>为局部变量</a:t>
            </a:r>
          </a:p>
        </p:txBody>
      </p:sp>
      <p:sp>
        <p:nvSpPr>
          <p:cNvPr id="6" name="矩形 5"/>
          <p:cNvSpPr/>
          <p:nvPr/>
        </p:nvSpPr>
        <p:spPr>
          <a:xfrm>
            <a:off x="1785938" y="1660922"/>
            <a:ext cx="2250281" cy="428625"/>
          </a:xfrm>
          <a:prstGeom prst="rect">
            <a:avLst/>
          </a:prstGeom>
          <a:noFill/>
          <a:ln w="38100" cap="flat" cmpd="sng">
            <a:solidFill>
              <a:srgbClr val="FF0000"/>
            </a:solidFill>
            <a:prstDash val="solid"/>
            <a:miter/>
            <a:headEnd type="none" w="med" len="med"/>
            <a:tailEnd type="none" w="med" len="med"/>
          </a:ln>
        </p:spPr>
        <p:txBody>
          <a:bodyPr wrap="none" anchor="t" anchorCtr="0"/>
          <a:lstStyle/>
          <a:p>
            <a:pPr>
              <a:buSzTx/>
            </a:pPr>
            <a:endParaRPr lang="zh-CN" altLang="en-US" sz="3000" dirty="0">
              <a:latin typeface="Arial" panose="020B060402020209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linds(horizontal)">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内容占位符 2"/>
          <p:cNvSpPr>
            <a:spLocks noGrp="1"/>
          </p:cNvSpPr>
          <p:nvPr>
            <p:ph idx="1" hasCustomPrompt="1"/>
          </p:nvPr>
        </p:nvSpPr>
        <p:spPr>
          <a:xfrm>
            <a:off x="1601391" y="303610"/>
            <a:ext cx="3774281" cy="4446984"/>
          </a:xfrm>
        </p:spPr>
        <p:txBody>
          <a:bodyPr vert="horz" wrap="square" lIns="68580" tIns="34290" rIns="68580" bIns="34290" anchor="t" anchorCtr="0"/>
          <a:lstStyle/>
          <a:p>
            <a:pPr eaLnBrk="1" hangingPunct="1">
              <a:buNone/>
            </a:pPr>
            <a:r>
              <a:rPr lang="en-US" altLang="zh-CN" sz="2100" dirty="0">
                <a:solidFill>
                  <a:srgbClr val="00B050"/>
                </a:solidFill>
              </a:rPr>
              <a:t>int p=1,q=5</a:t>
            </a:r>
          </a:p>
          <a:p>
            <a:pPr eaLnBrk="1" hangingPunct="1">
              <a:buNone/>
            </a:pPr>
            <a:r>
              <a:rPr lang="en-US" altLang="zh-CN" sz="2100" dirty="0"/>
              <a:t>float f1(int a)</a:t>
            </a:r>
          </a:p>
          <a:p>
            <a:pPr eaLnBrk="1" hangingPunct="1">
              <a:buNone/>
            </a:pPr>
            <a:r>
              <a:rPr lang="en-US" altLang="zh-CN" sz="2100" dirty="0"/>
              <a:t>{  int b,c;   ……  }</a:t>
            </a:r>
          </a:p>
          <a:p>
            <a:pPr eaLnBrk="1" hangingPunct="1">
              <a:buNone/>
            </a:pPr>
            <a:r>
              <a:rPr lang="en-US" altLang="zh-CN" sz="2100" dirty="0">
                <a:solidFill>
                  <a:srgbClr val="00B050"/>
                </a:solidFill>
              </a:rPr>
              <a:t>char c1,c2;</a:t>
            </a:r>
          </a:p>
          <a:p>
            <a:pPr eaLnBrk="1" hangingPunct="1">
              <a:buNone/>
            </a:pPr>
            <a:r>
              <a:rPr lang="en-US" altLang="zh-CN" sz="2100" dirty="0"/>
              <a:t>char f2 (int x, int y)</a:t>
            </a:r>
          </a:p>
          <a:p>
            <a:pPr eaLnBrk="1" hangingPunct="1">
              <a:buNone/>
            </a:pPr>
            <a:r>
              <a:rPr lang="en-US" altLang="zh-CN" sz="2100" dirty="0"/>
              <a:t>{  int i,j;   ……  }</a:t>
            </a:r>
          </a:p>
          <a:p>
            <a:pPr eaLnBrk="1" hangingPunct="1">
              <a:buNone/>
            </a:pPr>
            <a:r>
              <a:rPr lang="en-US" altLang="zh-CN" sz="2100" dirty="0"/>
              <a:t>int main ( )</a:t>
            </a:r>
          </a:p>
          <a:p>
            <a:pPr eaLnBrk="1" hangingPunct="1">
              <a:buNone/>
            </a:pPr>
            <a:r>
              <a:rPr lang="en-US" altLang="zh-CN" sz="2100" dirty="0"/>
              <a:t>{  int m,n;</a:t>
            </a:r>
          </a:p>
          <a:p>
            <a:pPr eaLnBrk="1" hangingPunct="1">
              <a:buNone/>
            </a:pPr>
            <a:r>
              <a:rPr lang="en-US" altLang="zh-CN" sz="2100" dirty="0"/>
              <a:t>    ……</a:t>
            </a:r>
          </a:p>
          <a:p>
            <a:pPr eaLnBrk="1" hangingPunct="1">
              <a:buNone/>
            </a:pPr>
            <a:r>
              <a:rPr lang="en-US" altLang="zh-CN" sz="2100" dirty="0"/>
              <a:t>    return 0;</a:t>
            </a:r>
          </a:p>
          <a:p>
            <a:pPr eaLnBrk="1" hangingPunct="1">
              <a:buNone/>
            </a:pPr>
            <a:r>
              <a:rPr lang="en-US" altLang="zh-CN" sz="2100" dirty="0"/>
              <a:t>}</a:t>
            </a:r>
            <a:endParaRPr lang="zh-CN" altLang="en-US" sz="2100" dirty="0"/>
          </a:p>
        </p:txBody>
      </p:sp>
      <p:sp>
        <p:nvSpPr>
          <p:cNvPr id="4" name="矩形 3"/>
          <p:cNvSpPr/>
          <p:nvPr/>
        </p:nvSpPr>
        <p:spPr>
          <a:xfrm>
            <a:off x="1571625" y="250031"/>
            <a:ext cx="3214688" cy="4446985"/>
          </a:xfrm>
          <a:prstGeom prst="rect">
            <a:avLst/>
          </a:prstGeom>
          <a:noFill/>
          <a:ln w="38100" cap="flat" cmpd="sng">
            <a:solidFill>
              <a:srgbClr val="FF0000"/>
            </a:solidFill>
            <a:prstDash val="solid"/>
            <a:miter/>
            <a:headEnd type="none" w="med" len="med"/>
            <a:tailEnd type="none" w="med" len="med"/>
          </a:ln>
        </p:spPr>
        <p:txBody>
          <a:bodyPr wrap="none" anchor="t" anchorCtr="0"/>
          <a:lstStyle/>
          <a:p>
            <a:pPr>
              <a:buSzTx/>
            </a:pPr>
            <a:endParaRPr lang="zh-CN" altLang="en-US" sz="3000" dirty="0">
              <a:latin typeface="Arial" panose="020B0604020202090204" pitchFamily="34" charset="0"/>
            </a:endParaRPr>
          </a:p>
        </p:txBody>
      </p:sp>
      <p:sp>
        <p:nvSpPr>
          <p:cNvPr id="5" name="圆角矩形标注 4"/>
          <p:cNvSpPr/>
          <p:nvPr/>
        </p:nvSpPr>
        <p:spPr>
          <a:xfrm>
            <a:off x="5107781" y="2018110"/>
            <a:ext cx="2303860" cy="589359"/>
          </a:xfrm>
          <a:prstGeom prst="wedgeRoundRectCallout">
            <a:avLst>
              <a:gd name="adj1" fmla="val -71116"/>
              <a:gd name="adj2" fmla="val 36079"/>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buSzTx/>
            </a:pPr>
            <a:r>
              <a:rPr lang="en-US" altLang="zh-CN" sz="2100" b="1" dirty="0">
                <a:solidFill>
                  <a:srgbClr val="0000CC"/>
                </a:solidFill>
                <a:latin typeface="Arial" panose="020B0604020202090204" pitchFamily="34" charset="0"/>
              </a:rPr>
              <a:t>p</a:t>
            </a:r>
            <a:r>
              <a:rPr lang="zh-CN" altLang="en-US" sz="2100" b="1" dirty="0">
                <a:solidFill>
                  <a:srgbClr val="0000CC"/>
                </a:solidFill>
                <a:latin typeface="Arial" panose="020B0604020202090204" pitchFamily="34" charset="0"/>
              </a:rPr>
              <a:t>、</a:t>
            </a:r>
            <a:r>
              <a:rPr lang="en-US" altLang="zh-CN" sz="2100" b="1" dirty="0">
                <a:solidFill>
                  <a:srgbClr val="0000CC"/>
                </a:solidFill>
                <a:latin typeface="Arial" panose="020B0604020202090204" pitchFamily="34" charset="0"/>
              </a:rPr>
              <a:t>q</a:t>
            </a:r>
            <a:r>
              <a:rPr lang="zh-CN" altLang="en-US" sz="2100" b="1" dirty="0">
                <a:solidFill>
                  <a:srgbClr val="0000CC"/>
                </a:solidFill>
                <a:latin typeface="Arial" panose="020B0604020202090204" pitchFamily="34" charset="0"/>
              </a:rPr>
              <a:t>的有效范围</a:t>
            </a:r>
          </a:p>
        </p:txBody>
      </p:sp>
      <p:sp>
        <p:nvSpPr>
          <p:cNvPr id="7" name="矩形 6"/>
          <p:cNvSpPr/>
          <p:nvPr/>
        </p:nvSpPr>
        <p:spPr>
          <a:xfrm>
            <a:off x="1571625" y="1482329"/>
            <a:ext cx="3214688" cy="3214688"/>
          </a:xfrm>
          <a:prstGeom prst="rect">
            <a:avLst/>
          </a:prstGeom>
          <a:noFill/>
          <a:ln w="38100" cap="flat" cmpd="sng">
            <a:solidFill>
              <a:srgbClr val="FF0000"/>
            </a:solidFill>
            <a:prstDash val="solid"/>
            <a:miter/>
            <a:headEnd type="none" w="med" len="med"/>
            <a:tailEnd type="none" w="med" len="med"/>
          </a:ln>
        </p:spPr>
        <p:txBody>
          <a:bodyPr wrap="none" anchor="t" anchorCtr="0"/>
          <a:lstStyle/>
          <a:p>
            <a:pPr>
              <a:buSzTx/>
            </a:pPr>
            <a:endParaRPr lang="zh-CN" altLang="en-US" sz="3000" dirty="0">
              <a:latin typeface="Arial" panose="020B0604020202090204" pitchFamily="34" charset="0"/>
            </a:endParaRPr>
          </a:p>
        </p:txBody>
      </p:sp>
      <p:sp>
        <p:nvSpPr>
          <p:cNvPr id="8" name="圆角矩形标注 7"/>
          <p:cNvSpPr/>
          <p:nvPr/>
        </p:nvSpPr>
        <p:spPr>
          <a:xfrm>
            <a:off x="5107781" y="2661047"/>
            <a:ext cx="2518172" cy="589359"/>
          </a:xfrm>
          <a:prstGeom prst="wedgeRoundRectCallout">
            <a:avLst>
              <a:gd name="adj1" fmla="val -71116"/>
              <a:gd name="adj2" fmla="val 36079"/>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buSzTx/>
            </a:pPr>
            <a:r>
              <a:rPr lang="en-US" altLang="zh-CN" sz="2100" b="1" dirty="0">
                <a:solidFill>
                  <a:srgbClr val="0000CC"/>
                </a:solidFill>
                <a:latin typeface="Arial" panose="020B0604020202090204" pitchFamily="34" charset="0"/>
              </a:rPr>
              <a:t>c1</a:t>
            </a:r>
            <a:r>
              <a:rPr lang="zh-CN" altLang="en-US" sz="2100" b="1" dirty="0">
                <a:solidFill>
                  <a:srgbClr val="0000CC"/>
                </a:solidFill>
                <a:latin typeface="Arial" panose="020B0604020202090204" pitchFamily="34" charset="0"/>
              </a:rPr>
              <a:t>、</a:t>
            </a:r>
            <a:r>
              <a:rPr lang="en-US" altLang="zh-CN" sz="2100" b="1" dirty="0">
                <a:solidFill>
                  <a:srgbClr val="0000CC"/>
                </a:solidFill>
                <a:latin typeface="Arial" panose="020B0604020202090204" pitchFamily="34" charset="0"/>
              </a:rPr>
              <a:t>c2</a:t>
            </a:r>
            <a:r>
              <a:rPr lang="zh-CN" altLang="en-US" sz="2100" b="1" dirty="0">
                <a:solidFill>
                  <a:srgbClr val="0000CC"/>
                </a:solidFill>
                <a:latin typeface="Arial" panose="020B0604020202090204" pitchFamily="34" charset="0"/>
              </a:rPr>
              <a:t>的有效范围</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linds(horizontal)">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7" grpId="0" bldLvl="0" animBg="1"/>
      <p:bldP spid="8" grpId="0" bldLvl="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内容占位符 2"/>
          <p:cNvSpPr>
            <a:spLocks noGrp="1"/>
          </p:cNvSpPr>
          <p:nvPr>
            <p:ph idx="1" hasCustomPrompt="1"/>
          </p:nvPr>
        </p:nvSpPr>
        <p:spPr/>
        <p:txBody>
          <a:bodyPr vert="horz" wrap="square" lIns="68580" tIns="34290" rIns="68580" bIns="34290" anchor="t" anchorCtr="0"/>
          <a:lstStyle/>
          <a:p>
            <a:pPr eaLnBrk="1" hangingPunct="1">
              <a:buNone/>
            </a:pPr>
            <a:r>
              <a:rPr lang="en-US" altLang="zh-CN" dirty="0"/>
              <a:t>   </a:t>
            </a:r>
            <a:r>
              <a:rPr lang="zh-CN" altLang="zh-CN" dirty="0"/>
              <a:t>例</a:t>
            </a:r>
            <a:r>
              <a:rPr lang="en-US" altLang="zh-CN" dirty="0"/>
              <a:t>5.10 </a:t>
            </a:r>
            <a:r>
              <a:rPr lang="zh-CN" altLang="zh-CN" dirty="0"/>
              <a:t>若外部变量与局部变量同名，分析结果。</a:t>
            </a:r>
            <a:endParaRPr lang="zh-CN" altLang="en-US" dirty="0"/>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内容占位符 2"/>
          <p:cNvSpPr>
            <a:spLocks noGrp="1"/>
          </p:cNvSpPr>
          <p:nvPr>
            <p:ph idx="1" hasCustomPrompt="1"/>
          </p:nvPr>
        </p:nvSpPr>
        <p:spPr>
          <a:xfrm>
            <a:off x="1547813" y="158512"/>
            <a:ext cx="5649516" cy="4607719"/>
          </a:xfrm>
        </p:spPr>
        <p:txBody>
          <a:bodyPr vert="horz" wrap="square" lIns="68580" tIns="34290" rIns="68580" bIns="34290" anchor="t" anchorCtr="0"/>
          <a:lstStyle/>
          <a:p>
            <a:pPr fontAlgn="auto">
              <a:lnSpc>
                <a:spcPts val="2200"/>
              </a:lnSpc>
              <a:buNone/>
            </a:pPr>
            <a:r>
              <a:rPr lang="en-US" altLang="zh-CN" sz="2100" dirty="0"/>
              <a:t>#include &lt;stdio.h&gt;</a:t>
            </a:r>
            <a:endParaRPr lang="zh-CN" altLang="zh-CN" sz="2100" dirty="0"/>
          </a:p>
          <a:p>
            <a:pPr fontAlgn="auto">
              <a:lnSpc>
                <a:spcPts val="2200"/>
              </a:lnSpc>
              <a:buNone/>
            </a:pPr>
            <a:r>
              <a:rPr lang="en-US" altLang="zh-CN" sz="2100" dirty="0">
                <a:solidFill>
                  <a:srgbClr val="00B050"/>
                </a:solidFill>
              </a:rPr>
              <a:t>int </a:t>
            </a:r>
            <a:r>
              <a:rPr lang="en-US" altLang="zh-CN" sz="2100" dirty="0">
                <a:solidFill>
                  <a:srgbClr val="FF0000"/>
                </a:solidFill>
              </a:rPr>
              <a:t>a</a:t>
            </a:r>
            <a:r>
              <a:rPr lang="en-US" altLang="zh-CN" sz="2100" dirty="0">
                <a:solidFill>
                  <a:srgbClr val="00B050"/>
                </a:solidFill>
              </a:rPr>
              <a:t>=3,</a:t>
            </a:r>
            <a:r>
              <a:rPr lang="en-US" altLang="zh-CN" sz="2100" dirty="0">
                <a:solidFill>
                  <a:srgbClr val="FF0000"/>
                </a:solidFill>
              </a:rPr>
              <a:t>b</a:t>
            </a:r>
            <a:r>
              <a:rPr lang="en-US" altLang="zh-CN" sz="2100" dirty="0">
                <a:solidFill>
                  <a:srgbClr val="00B050"/>
                </a:solidFill>
              </a:rPr>
              <a:t>=5; </a:t>
            </a:r>
            <a:endParaRPr lang="zh-CN" altLang="zh-CN" sz="2100" dirty="0">
              <a:solidFill>
                <a:srgbClr val="00B050"/>
              </a:solidFill>
            </a:endParaRPr>
          </a:p>
          <a:p>
            <a:pPr fontAlgn="auto">
              <a:lnSpc>
                <a:spcPts val="2200"/>
              </a:lnSpc>
              <a:buNone/>
            </a:pPr>
            <a:r>
              <a:rPr lang="en-US" altLang="zh-CN" sz="2100" dirty="0"/>
              <a:t>int main()</a:t>
            </a:r>
            <a:endParaRPr lang="zh-CN" altLang="zh-CN" sz="2100" dirty="0"/>
          </a:p>
          <a:p>
            <a:pPr fontAlgn="auto">
              <a:lnSpc>
                <a:spcPts val="2200"/>
              </a:lnSpc>
              <a:buNone/>
            </a:pPr>
            <a:r>
              <a:rPr lang="en-US" altLang="zh-CN" sz="2100" dirty="0"/>
              <a:t>{ int max(int a,int b);  </a:t>
            </a:r>
            <a:endParaRPr lang="zh-CN" altLang="zh-CN" sz="2100" dirty="0"/>
          </a:p>
          <a:p>
            <a:pPr fontAlgn="auto">
              <a:lnSpc>
                <a:spcPts val="2200"/>
              </a:lnSpc>
              <a:buNone/>
            </a:pPr>
            <a:r>
              <a:rPr lang="en-US" altLang="zh-CN" sz="2100" dirty="0"/>
              <a:t>   int </a:t>
            </a:r>
            <a:r>
              <a:rPr lang="en-US" altLang="zh-CN" sz="2100" dirty="0">
                <a:solidFill>
                  <a:srgbClr val="9D138D"/>
                </a:solidFill>
              </a:rPr>
              <a:t>a</a:t>
            </a:r>
            <a:r>
              <a:rPr lang="en-US" altLang="zh-CN" sz="2100" dirty="0"/>
              <a:t>=8; </a:t>
            </a:r>
            <a:endParaRPr lang="zh-CN" altLang="zh-CN" sz="2100" dirty="0"/>
          </a:p>
          <a:p>
            <a:pPr fontAlgn="auto">
              <a:lnSpc>
                <a:spcPts val="2200"/>
              </a:lnSpc>
              <a:buNone/>
            </a:pPr>
            <a:r>
              <a:rPr lang="en-US" altLang="zh-CN" sz="2100" dirty="0"/>
              <a:t>   printf(“max=%d\n”,max(</a:t>
            </a:r>
            <a:r>
              <a:rPr lang="en-US" altLang="zh-CN" sz="2100" dirty="0">
                <a:solidFill>
                  <a:srgbClr val="9D138D"/>
                </a:solidFill>
              </a:rPr>
              <a:t>a</a:t>
            </a:r>
            <a:r>
              <a:rPr lang="en-US" altLang="zh-CN" sz="2100" dirty="0"/>
              <a:t>,</a:t>
            </a:r>
            <a:r>
              <a:rPr lang="en-US" altLang="zh-CN" sz="2100" dirty="0">
                <a:solidFill>
                  <a:srgbClr val="FF0000"/>
                </a:solidFill>
              </a:rPr>
              <a:t>b</a:t>
            </a:r>
            <a:r>
              <a:rPr lang="en-US" altLang="zh-CN" sz="2100" dirty="0"/>
              <a:t>)); </a:t>
            </a:r>
            <a:endParaRPr lang="zh-CN" altLang="zh-CN" sz="2100" dirty="0"/>
          </a:p>
          <a:p>
            <a:pPr fontAlgn="auto">
              <a:lnSpc>
                <a:spcPts val="2200"/>
              </a:lnSpc>
              <a:buNone/>
            </a:pPr>
            <a:r>
              <a:rPr lang="en-US" altLang="zh-CN" sz="2100" dirty="0"/>
              <a:t>   return 0;   </a:t>
            </a:r>
            <a:endParaRPr lang="zh-CN" altLang="zh-CN" sz="2100" dirty="0"/>
          </a:p>
          <a:p>
            <a:pPr fontAlgn="auto">
              <a:lnSpc>
                <a:spcPts val="2200"/>
              </a:lnSpc>
              <a:buNone/>
            </a:pPr>
            <a:r>
              <a:rPr lang="en-US" altLang="zh-CN" sz="2100" dirty="0"/>
              <a:t>}  </a:t>
            </a:r>
            <a:endParaRPr lang="zh-CN" altLang="zh-CN" sz="2100" dirty="0"/>
          </a:p>
          <a:p>
            <a:pPr fontAlgn="auto">
              <a:lnSpc>
                <a:spcPts val="2200"/>
              </a:lnSpc>
              <a:buNone/>
            </a:pPr>
            <a:r>
              <a:rPr lang="en-US" altLang="zh-CN" sz="2100" dirty="0"/>
              <a:t>int max(int </a:t>
            </a:r>
            <a:r>
              <a:rPr lang="en-US" altLang="zh-CN" sz="2100" dirty="0">
                <a:solidFill>
                  <a:srgbClr val="0000CC"/>
                </a:solidFill>
              </a:rPr>
              <a:t>a</a:t>
            </a:r>
            <a:r>
              <a:rPr lang="en-US" altLang="zh-CN" sz="2100" dirty="0"/>
              <a:t>,int </a:t>
            </a:r>
            <a:r>
              <a:rPr lang="en-US" altLang="zh-CN" sz="2100" dirty="0">
                <a:solidFill>
                  <a:srgbClr val="0000CC"/>
                </a:solidFill>
              </a:rPr>
              <a:t>b</a:t>
            </a:r>
            <a:r>
              <a:rPr lang="en-US" altLang="zh-CN" sz="2100" dirty="0"/>
              <a:t>)        </a:t>
            </a:r>
            <a:endParaRPr lang="zh-CN" altLang="zh-CN" sz="2100" dirty="0"/>
          </a:p>
          <a:p>
            <a:pPr fontAlgn="auto">
              <a:lnSpc>
                <a:spcPts val="2200"/>
              </a:lnSpc>
              <a:buNone/>
            </a:pPr>
            <a:r>
              <a:rPr lang="en-US" altLang="zh-CN" sz="2100" dirty="0"/>
              <a:t>{ int c;     </a:t>
            </a:r>
            <a:endParaRPr lang="zh-CN" altLang="zh-CN" sz="2100" dirty="0"/>
          </a:p>
          <a:p>
            <a:pPr fontAlgn="auto">
              <a:lnSpc>
                <a:spcPts val="2200"/>
              </a:lnSpc>
              <a:buNone/>
            </a:pPr>
            <a:r>
              <a:rPr lang="en-US" altLang="zh-CN" sz="2100" dirty="0"/>
              <a:t>   c=a&gt;b?a:b;</a:t>
            </a:r>
            <a:endParaRPr lang="zh-CN" altLang="zh-CN" sz="2100" dirty="0"/>
          </a:p>
          <a:p>
            <a:pPr fontAlgn="auto">
              <a:lnSpc>
                <a:spcPts val="2200"/>
              </a:lnSpc>
              <a:buNone/>
            </a:pPr>
            <a:r>
              <a:rPr lang="en-US" altLang="zh-CN" sz="2100" dirty="0"/>
              <a:t>   return(c); }</a:t>
            </a:r>
            <a:endParaRPr lang="zh-CN" altLang="en-US" sz="2100" dirty="0"/>
          </a:p>
        </p:txBody>
      </p:sp>
      <p:sp>
        <p:nvSpPr>
          <p:cNvPr id="4" name="矩形 3"/>
          <p:cNvSpPr/>
          <p:nvPr/>
        </p:nvSpPr>
        <p:spPr>
          <a:xfrm>
            <a:off x="1785938" y="1768079"/>
            <a:ext cx="4982766" cy="1125140"/>
          </a:xfrm>
          <a:prstGeom prst="rect">
            <a:avLst/>
          </a:prstGeom>
          <a:noFill/>
          <a:ln w="38100" cap="flat" cmpd="sng">
            <a:solidFill>
              <a:srgbClr val="FF0000"/>
            </a:solidFill>
            <a:prstDash val="solid"/>
            <a:miter/>
            <a:headEnd type="none" w="med" len="med"/>
            <a:tailEnd type="none" w="med" len="med"/>
          </a:ln>
        </p:spPr>
        <p:txBody>
          <a:bodyPr wrap="none" anchor="t" anchorCtr="0"/>
          <a:lstStyle/>
          <a:p>
            <a:pPr>
              <a:buSzTx/>
            </a:pPr>
            <a:endParaRPr lang="zh-CN" altLang="en-US" sz="3000" dirty="0">
              <a:latin typeface="Arial" panose="020B0604020202090204" pitchFamily="34" charset="0"/>
            </a:endParaRPr>
          </a:p>
        </p:txBody>
      </p:sp>
      <p:sp>
        <p:nvSpPr>
          <p:cNvPr id="5" name="圆角矩形标注 4"/>
          <p:cNvSpPr/>
          <p:nvPr/>
        </p:nvSpPr>
        <p:spPr>
          <a:xfrm>
            <a:off x="5107781" y="3000375"/>
            <a:ext cx="2464594" cy="910829"/>
          </a:xfrm>
          <a:prstGeom prst="wedgeRoundRectCallout">
            <a:avLst>
              <a:gd name="adj1" fmla="val -30250"/>
              <a:gd name="adj2" fmla="val -79440"/>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buSzTx/>
            </a:pPr>
            <a:r>
              <a:rPr lang="en-US" altLang="zh-CN" sz="2100" b="1" dirty="0">
                <a:solidFill>
                  <a:srgbClr val="9D138D"/>
                </a:solidFill>
                <a:latin typeface="Arial" panose="020B0604020202090204" pitchFamily="34" charset="0"/>
              </a:rPr>
              <a:t>a</a:t>
            </a:r>
            <a:r>
              <a:rPr lang="zh-CN" altLang="en-US" sz="2100" b="1" dirty="0">
                <a:solidFill>
                  <a:srgbClr val="0000CC"/>
                </a:solidFill>
                <a:latin typeface="Arial" panose="020B0604020202090204" pitchFamily="34" charset="0"/>
              </a:rPr>
              <a:t>为</a:t>
            </a:r>
            <a:r>
              <a:rPr lang="zh-CN" altLang="zh-CN" sz="2100" b="1" dirty="0">
                <a:solidFill>
                  <a:srgbClr val="0000CC"/>
                </a:solidFill>
                <a:latin typeface="Arial" panose="020B0604020202090204" pitchFamily="34" charset="0"/>
              </a:rPr>
              <a:t>局</a:t>
            </a:r>
            <a:r>
              <a:rPr lang="zh-CN" altLang="en-US" sz="2100" b="1" dirty="0">
                <a:solidFill>
                  <a:srgbClr val="0000CC"/>
                </a:solidFill>
                <a:latin typeface="Arial" panose="020B0604020202090204" pitchFamily="34" charset="0"/>
              </a:rPr>
              <a:t>部</a:t>
            </a:r>
            <a:r>
              <a:rPr lang="zh-CN" altLang="zh-CN" sz="2100" b="1" dirty="0">
                <a:solidFill>
                  <a:srgbClr val="0000CC"/>
                </a:solidFill>
                <a:latin typeface="Arial" panose="020B0604020202090204" pitchFamily="34" charset="0"/>
              </a:rPr>
              <a:t>变量</a:t>
            </a:r>
            <a:r>
              <a:rPr lang="zh-CN" altLang="en-US" sz="2100" b="1" dirty="0">
                <a:solidFill>
                  <a:srgbClr val="0000CC"/>
                </a:solidFill>
                <a:latin typeface="Arial" panose="020B0604020202090204" pitchFamily="34" charset="0"/>
              </a:rPr>
              <a:t>，仅在此函数内有效</a:t>
            </a:r>
          </a:p>
        </p:txBody>
      </p:sp>
      <p:sp>
        <p:nvSpPr>
          <p:cNvPr id="6" name="圆角矩形标注 5"/>
          <p:cNvSpPr/>
          <p:nvPr/>
        </p:nvSpPr>
        <p:spPr>
          <a:xfrm>
            <a:off x="5161360" y="964406"/>
            <a:ext cx="1875234" cy="535781"/>
          </a:xfrm>
          <a:prstGeom prst="wedgeRoundRectCallout">
            <a:avLst>
              <a:gd name="adj1" fmla="val 3741"/>
              <a:gd name="adj2" fmla="val 175426"/>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a:buSzTx/>
            </a:pPr>
            <a:r>
              <a:rPr lang="en-US" altLang="zh-CN" sz="2100" b="1" dirty="0">
                <a:solidFill>
                  <a:srgbClr val="FF0000"/>
                </a:solidFill>
                <a:latin typeface="Arial" panose="020B0604020202090204" pitchFamily="34" charset="0"/>
              </a:rPr>
              <a:t>b</a:t>
            </a:r>
            <a:r>
              <a:rPr lang="zh-CN" altLang="en-US" sz="2100" b="1" dirty="0">
                <a:solidFill>
                  <a:srgbClr val="0000CC"/>
                </a:solidFill>
                <a:latin typeface="Arial" panose="020B0604020202090204" pitchFamily="34" charset="0"/>
              </a:rPr>
              <a:t>为全局</a:t>
            </a:r>
            <a:r>
              <a:rPr lang="zh-CN" altLang="zh-CN" sz="2100" b="1" dirty="0">
                <a:solidFill>
                  <a:srgbClr val="0000CC"/>
                </a:solidFill>
                <a:latin typeface="Arial" panose="020B0604020202090204" pitchFamily="34" charset="0"/>
              </a:rPr>
              <a:t>变量</a:t>
            </a:r>
            <a:endParaRPr lang="zh-CN" altLang="en-US" sz="2100" b="1" dirty="0">
              <a:solidFill>
                <a:srgbClr val="0000CC"/>
              </a:solidFill>
              <a:latin typeface="Arial" panose="020B060402020209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18285" y="3359785"/>
            <a:ext cx="3215005" cy="1623060"/>
          </a:xfrm>
          <a:prstGeom prst="rect">
            <a:avLst/>
          </a:prstGeom>
          <a:noFill/>
          <a:ln w="38100" cap="flat" cmpd="sng">
            <a:solidFill>
              <a:srgbClr val="FF0000"/>
            </a:solidFill>
            <a:prstDash val="solid"/>
            <a:miter/>
            <a:headEnd type="none" w="med" len="med"/>
            <a:tailEnd type="none" w="med" len="med"/>
          </a:ln>
        </p:spPr>
        <p:txBody>
          <a:bodyPr wrap="none" anchor="t" anchorCtr="0"/>
          <a:lstStyle/>
          <a:p>
            <a:pPr>
              <a:buSzTx/>
            </a:pPr>
            <a:endParaRPr lang="zh-CN" altLang="en-US" sz="3000" dirty="0">
              <a:latin typeface="Arial" panose="020B0604020202090204" pitchFamily="34" charset="0"/>
            </a:endParaRPr>
          </a:p>
        </p:txBody>
      </p:sp>
      <p:sp>
        <p:nvSpPr>
          <p:cNvPr id="5" name="圆角矩形标注 4"/>
          <p:cNvSpPr/>
          <p:nvPr/>
        </p:nvSpPr>
        <p:spPr>
          <a:xfrm>
            <a:off x="4947047" y="3536156"/>
            <a:ext cx="2865834" cy="910829"/>
          </a:xfrm>
          <a:prstGeom prst="wedgeRoundRectCallout">
            <a:avLst>
              <a:gd name="adj1" fmla="val -70398"/>
              <a:gd name="adj2" fmla="val -50523"/>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buSzTx/>
            </a:pPr>
            <a:r>
              <a:rPr lang="en-US" altLang="zh-CN" sz="2100" b="1" dirty="0">
                <a:solidFill>
                  <a:srgbClr val="0000CC"/>
                </a:solidFill>
                <a:latin typeface="Arial" panose="020B0604020202090204" pitchFamily="34" charset="0"/>
              </a:rPr>
              <a:t>a</a:t>
            </a:r>
            <a:r>
              <a:rPr lang="zh-CN" altLang="en-US" sz="2100" b="1" dirty="0">
                <a:solidFill>
                  <a:srgbClr val="0000CC"/>
                </a:solidFill>
                <a:latin typeface="Arial" panose="020B0604020202090204" pitchFamily="34" charset="0"/>
              </a:rPr>
              <a:t>、</a:t>
            </a:r>
            <a:r>
              <a:rPr lang="en-US" altLang="zh-CN" sz="2100" b="1" dirty="0">
                <a:solidFill>
                  <a:srgbClr val="0000CC"/>
                </a:solidFill>
                <a:latin typeface="Arial" panose="020B0604020202090204" pitchFamily="34" charset="0"/>
              </a:rPr>
              <a:t>b</a:t>
            </a:r>
            <a:r>
              <a:rPr lang="zh-CN" altLang="en-US" sz="2100" b="1" dirty="0">
                <a:solidFill>
                  <a:srgbClr val="0000CC"/>
                </a:solidFill>
                <a:latin typeface="Arial" panose="020B0604020202090204" pitchFamily="34" charset="0"/>
              </a:rPr>
              <a:t>为</a:t>
            </a:r>
            <a:r>
              <a:rPr lang="zh-CN" altLang="zh-CN" sz="2100" b="1" dirty="0">
                <a:solidFill>
                  <a:srgbClr val="0000CC"/>
                </a:solidFill>
                <a:latin typeface="Arial" panose="020B0604020202090204" pitchFamily="34" charset="0"/>
              </a:rPr>
              <a:t>局</a:t>
            </a:r>
            <a:r>
              <a:rPr lang="zh-CN" altLang="en-US" sz="2100" b="1" dirty="0">
                <a:solidFill>
                  <a:srgbClr val="0000CC"/>
                </a:solidFill>
                <a:latin typeface="Arial" panose="020B0604020202090204" pitchFamily="34" charset="0"/>
              </a:rPr>
              <a:t>部</a:t>
            </a:r>
            <a:r>
              <a:rPr lang="zh-CN" altLang="zh-CN" sz="2100" b="1" dirty="0">
                <a:solidFill>
                  <a:srgbClr val="0000CC"/>
                </a:solidFill>
                <a:latin typeface="Arial" panose="020B0604020202090204" pitchFamily="34" charset="0"/>
              </a:rPr>
              <a:t>变量</a:t>
            </a:r>
            <a:r>
              <a:rPr lang="zh-CN" altLang="en-US" sz="2100" b="1" dirty="0">
                <a:solidFill>
                  <a:srgbClr val="0000CC"/>
                </a:solidFill>
                <a:latin typeface="Arial" panose="020B0604020202090204" pitchFamily="34" charset="0"/>
              </a:rPr>
              <a:t>，仅在此函数内有效</a:t>
            </a:r>
          </a:p>
        </p:txBody>
      </p:sp>
      <p:pic>
        <p:nvPicPr>
          <p:cNvPr id="158722" name="Picture 2"/>
          <p:cNvPicPr>
            <a:picLocks noChangeAspect="1"/>
          </p:cNvPicPr>
          <p:nvPr/>
        </p:nvPicPr>
        <p:blipFill>
          <a:blip r:embed="rId3"/>
          <a:stretch>
            <a:fillRect/>
          </a:stretch>
        </p:blipFill>
        <p:spPr>
          <a:xfrm>
            <a:off x="5536406" y="2678906"/>
            <a:ext cx="1168004" cy="428625"/>
          </a:xfrm>
          <a:prstGeom prst="rect">
            <a:avLst/>
          </a:prstGeom>
          <a:noFill/>
          <a:ln w="9525">
            <a:noFill/>
          </a:ln>
        </p:spPr>
      </p:pic>
      <p:sp>
        <p:nvSpPr>
          <p:cNvPr id="69633" name="内容占位符 2"/>
          <p:cNvSpPr>
            <a:spLocks noGrp="1"/>
          </p:cNvSpPr>
          <p:nvPr>
            <p:ph idx="1" hasCustomPrompt="1"/>
            <p:custDataLst>
              <p:tags r:id="rId1"/>
            </p:custDataLst>
          </p:nvPr>
        </p:nvSpPr>
        <p:spPr>
          <a:xfrm>
            <a:off x="1547813" y="158512"/>
            <a:ext cx="5649516" cy="4607719"/>
          </a:xfrm>
        </p:spPr>
        <p:txBody>
          <a:bodyPr vert="horz" wrap="square" lIns="68580" tIns="34290" rIns="68580" bIns="34290" anchor="t" anchorCtr="0"/>
          <a:lstStyle/>
          <a:p>
            <a:pPr fontAlgn="auto">
              <a:lnSpc>
                <a:spcPts val="2200"/>
              </a:lnSpc>
              <a:buNone/>
            </a:pPr>
            <a:r>
              <a:rPr lang="en-US" altLang="zh-CN" sz="2100" dirty="0"/>
              <a:t>#include &lt;stdio.h&gt;</a:t>
            </a:r>
            <a:endParaRPr lang="zh-CN" altLang="zh-CN" sz="2100" dirty="0"/>
          </a:p>
          <a:p>
            <a:pPr fontAlgn="auto">
              <a:lnSpc>
                <a:spcPts val="2200"/>
              </a:lnSpc>
              <a:buNone/>
            </a:pPr>
            <a:r>
              <a:rPr lang="en-US" altLang="zh-CN" sz="2100" dirty="0">
                <a:solidFill>
                  <a:srgbClr val="00B050"/>
                </a:solidFill>
              </a:rPr>
              <a:t>int </a:t>
            </a:r>
            <a:r>
              <a:rPr lang="en-US" altLang="zh-CN" sz="2100" dirty="0">
                <a:solidFill>
                  <a:srgbClr val="FF0000"/>
                </a:solidFill>
              </a:rPr>
              <a:t>a</a:t>
            </a:r>
            <a:r>
              <a:rPr lang="en-US" altLang="zh-CN" sz="2100" dirty="0">
                <a:solidFill>
                  <a:srgbClr val="00B050"/>
                </a:solidFill>
              </a:rPr>
              <a:t>=3,</a:t>
            </a:r>
            <a:r>
              <a:rPr lang="en-US" altLang="zh-CN" sz="2100" dirty="0">
                <a:solidFill>
                  <a:srgbClr val="FF0000"/>
                </a:solidFill>
              </a:rPr>
              <a:t>b</a:t>
            </a:r>
            <a:r>
              <a:rPr lang="en-US" altLang="zh-CN" sz="2100" dirty="0">
                <a:solidFill>
                  <a:srgbClr val="00B050"/>
                </a:solidFill>
              </a:rPr>
              <a:t>=5; </a:t>
            </a:r>
            <a:endParaRPr lang="zh-CN" altLang="zh-CN" sz="2100" dirty="0">
              <a:solidFill>
                <a:srgbClr val="00B050"/>
              </a:solidFill>
            </a:endParaRPr>
          </a:p>
          <a:p>
            <a:pPr fontAlgn="auto">
              <a:lnSpc>
                <a:spcPts val="2200"/>
              </a:lnSpc>
              <a:buNone/>
            </a:pPr>
            <a:r>
              <a:rPr lang="en-US" altLang="zh-CN" sz="2100" dirty="0"/>
              <a:t>int main()</a:t>
            </a:r>
            <a:endParaRPr lang="zh-CN" altLang="zh-CN" sz="2100" dirty="0"/>
          </a:p>
          <a:p>
            <a:pPr fontAlgn="auto">
              <a:lnSpc>
                <a:spcPts val="2200"/>
              </a:lnSpc>
              <a:buNone/>
            </a:pPr>
            <a:r>
              <a:rPr lang="en-US" altLang="zh-CN" sz="2100" dirty="0"/>
              <a:t>{ int max(int a,int b);  </a:t>
            </a:r>
            <a:endParaRPr lang="zh-CN" altLang="zh-CN" sz="2100" dirty="0"/>
          </a:p>
          <a:p>
            <a:pPr fontAlgn="auto">
              <a:lnSpc>
                <a:spcPts val="2200"/>
              </a:lnSpc>
              <a:buNone/>
            </a:pPr>
            <a:r>
              <a:rPr lang="en-US" altLang="zh-CN" sz="2100" dirty="0"/>
              <a:t>   int </a:t>
            </a:r>
            <a:r>
              <a:rPr lang="en-US" altLang="zh-CN" sz="2100" dirty="0">
                <a:solidFill>
                  <a:srgbClr val="9D138D"/>
                </a:solidFill>
              </a:rPr>
              <a:t>a</a:t>
            </a:r>
            <a:r>
              <a:rPr lang="en-US" altLang="zh-CN" sz="2100" dirty="0"/>
              <a:t>=8; </a:t>
            </a:r>
            <a:endParaRPr lang="zh-CN" altLang="zh-CN" sz="2100" dirty="0"/>
          </a:p>
          <a:p>
            <a:pPr fontAlgn="auto">
              <a:lnSpc>
                <a:spcPts val="2200"/>
              </a:lnSpc>
              <a:buNone/>
            </a:pPr>
            <a:r>
              <a:rPr lang="en-US" altLang="zh-CN" sz="2100" dirty="0"/>
              <a:t>   printf(“max=%d\n”,max(</a:t>
            </a:r>
            <a:r>
              <a:rPr lang="en-US" altLang="zh-CN" sz="2100" dirty="0">
                <a:solidFill>
                  <a:srgbClr val="9D138D"/>
                </a:solidFill>
              </a:rPr>
              <a:t>a</a:t>
            </a:r>
            <a:r>
              <a:rPr lang="en-US" altLang="zh-CN" sz="2100" dirty="0"/>
              <a:t>,</a:t>
            </a:r>
            <a:r>
              <a:rPr lang="en-US" altLang="zh-CN" sz="2100" dirty="0">
                <a:solidFill>
                  <a:srgbClr val="FF0000"/>
                </a:solidFill>
              </a:rPr>
              <a:t>b</a:t>
            </a:r>
            <a:r>
              <a:rPr lang="en-US" altLang="zh-CN" sz="2100" dirty="0"/>
              <a:t>)); </a:t>
            </a:r>
            <a:endParaRPr lang="zh-CN" altLang="zh-CN" sz="2100" dirty="0"/>
          </a:p>
          <a:p>
            <a:pPr fontAlgn="auto">
              <a:lnSpc>
                <a:spcPts val="2200"/>
              </a:lnSpc>
              <a:buNone/>
            </a:pPr>
            <a:r>
              <a:rPr lang="en-US" altLang="zh-CN" sz="2100" dirty="0"/>
              <a:t>   return 0;   </a:t>
            </a:r>
            <a:endParaRPr lang="zh-CN" altLang="zh-CN" sz="2100" dirty="0"/>
          </a:p>
          <a:p>
            <a:pPr fontAlgn="auto">
              <a:lnSpc>
                <a:spcPts val="2200"/>
              </a:lnSpc>
              <a:buNone/>
            </a:pPr>
            <a:r>
              <a:rPr lang="en-US" altLang="zh-CN" sz="2100" dirty="0"/>
              <a:t>}  </a:t>
            </a:r>
            <a:endParaRPr lang="zh-CN" altLang="zh-CN" sz="2100" dirty="0"/>
          </a:p>
          <a:p>
            <a:pPr fontAlgn="auto">
              <a:lnSpc>
                <a:spcPts val="2200"/>
              </a:lnSpc>
              <a:buNone/>
            </a:pPr>
            <a:r>
              <a:rPr lang="en-US" altLang="zh-CN" sz="2100" dirty="0"/>
              <a:t>int max(int </a:t>
            </a:r>
            <a:r>
              <a:rPr lang="en-US" altLang="zh-CN" sz="2100" dirty="0">
                <a:solidFill>
                  <a:srgbClr val="0000CC"/>
                </a:solidFill>
              </a:rPr>
              <a:t>a</a:t>
            </a:r>
            <a:r>
              <a:rPr lang="en-US" altLang="zh-CN" sz="2100" dirty="0"/>
              <a:t>,int </a:t>
            </a:r>
            <a:r>
              <a:rPr lang="en-US" altLang="zh-CN" sz="2100" dirty="0">
                <a:solidFill>
                  <a:srgbClr val="0000CC"/>
                </a:solidFill>
              </a:rPr>
              <a:t>b</a:t>
            </a:r>
            <a:r>
              <a:rPr lang="en-US" altLang="zh-CN" sz="2100" dirty="0"/>
              <a:t>)        </a:t>
            </a:r>
            <a:endParaRPr lang="zh-CN" altLang="zh-CN" sz="2100" dirty="0"/>
          </a:p>
          <a:p>
            <a:pPr fontAlgn="auto">
              <a:lnSpc>
                <a:spcPts val="2200"/>
              </a:lnSpc>
              <a:buNone/>
            </a:pPr>
            <a:r>
              <a:rPr lang="en-US" altLang="zh-CN" sz="2100" dirty="0"/>
              <a:t>{ int c;     </a:t>
            </a:r>
            <a:endParaRPr lang="zh-CN" altLang="zh-CN" sz="2100" dirty="0"/>
          </a:p>
          <a:p>
            <a:pPr fontAlgn="auto">
              <a:lnSpc>
                <a:spcPts val="2200"/>
              </a:lnSpc>
              <a:buNone/>
            </a:pPr>
            <a:r>
              <a:rPr lang="en-US" altLang="zh-CN" sz="2100" dirty="0"/>
              <a:t>   c=a&gt;b?a:b;</a:t>
            </a:r>
            <a:endParaRPr lang="zh-CN" altLang="zh-CN" sz="2100" dirty="0"/>
          </a:p>
          <a:p>
            <a:pPr fontAlgn="auto">
              <a:lnSpc>
                <a:spcPts val="2200"/>
              </a:lnSpc>
              <a:buNone/>
            </a:pPr>
            <a:r>
              <a:rPr lang="en-US" altLang="zh-CN" sz="2100" dirty="0"/>
              <a:t>   return(c); }</a:t>
            </a:r>
            <a:endParaRPr lang="zh-CN" altLang="en-US" sz="21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58722"/>
                                        </p:tgtEl>
                                        <p:attrNameLst>
                                          <p:attrName>style.visibility</p:attrName>
                                        </p:attrNameLst>
                                      </p:cBhvr>
                                      <p:to>
                                        <p:strVal val="visible"/>
                                      </p:to>
                                    </p:set>
                                    <p:animEffect transition="in" filter="blinds(horizontal)">
                                      <p:cBhvr>
                                        <p:cTn id="15" dur="500"/>
                                        <p:tgtEl>
                                          <p:spTgt spid="1587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1923"/>
          <p:cNvSpPr txBox="1"/>
          <p:nvPr/>
        </p:nvSpPr>
        <p:spPr>
          <a:xfrm>
            <a:off x="1638300" y="334804"/>
            <a:ext cx="5867400" cy="1824038"/>
          </a:xfrm>
          <a:prstGeom prst="rect">
            <a:avLst/>
          </a:prstGeom>
          <a:noFill/>
          <a:ln w="9525">
            <a:noFill/>
          </a:ln>
        </p:spPr>
        <p:txBody>
          <a:bodyPr anchor="b"/>
          <a:lstStyle>
            <a:lvl1pPr marL="0" lvl="0" indent="0" algn="r" defTabSz="914400" rtl="0" eaLnBrk="1" fontAlgn="base" latinLnBrk="0" hangingPunct="1">
              <a:lnSpc>
                <a:spcPct val="100000"/>
              </a:lnSpc>
              <a:spcBef>
                <a:spcPct val="0"/>
              </a:spcBef>
              <a:spcAft>
                <a:spcPct val="0"/>
              </a:spcAft>
              <a:buClrTx/>
              <a:buSzTx/>
              <a:buFontTx/>
              <a:buNone/>
              <a:defRPr sz="4800" b="1" i="0" u="none" kern="1200" baseline="0">
                <a:solidFill>
                  <a:schemeClr val="tx2"/>
                </a:solidFill>
                <a:latin typeface="+mj-lt"/>
                <a:ea typeface="+mj-ea"/>
                <a:cs typeface="+mj-cs"/>
              </a:defRPr>
            </a:lvl1pPr>
          </a:lstStyle>
          <a:p>
            <a:pPr algn="ctr"/>
            <a:r>
              <a:rPr lang="zh-CN" altLang="en-US" sz="3600"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rPr>
              <a:t>变量的存储方式和生存期</a:t>
            </a:r>
          </a:p>
        </p:txBody>
      </p:sp>
      <p:cxnSp>
        <p:nvCxnSpPr>
          <p:cNvPr id="4" name="直接连接符 3"/>
          <p:cNvCxnSpPr/>
          <p:nvPr/>
        </p:nvCxnSpPr>
        <p:spPr>
          <a:xfrm>
            <a:off x="323850" y="2352052"/>
            <a:ext cx="8496300" cy="0"/>
          </a:xfrm>
          <a:prstGeom prst="line">
            <a:avLst/>
          </a:prstGeom>
          <a:ln w="25400">
            <a:solidFill>
              <a:srgbClr val="782367"/>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3873" y="185003"/>
            <a:ext cx="430355" cy="430355"/>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250156" y="601266"/>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变量的存储方式和生存期</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6" name="Rectangle 3"/>
          <p:cNvSpPr txBox="1"/>
          <p:nvPr/>
        </p:nvSpPr>
        <p:spPr>
          <a:xfrm>
            <a:off x="1547813" y="1391841"/>
            <a:ext cx="6346031" cy="3750469"/>
          </a:xfrm>
          <a:prstGeom prst="rect">
            <a:avLst/>
          </a:prstGeom>
          <a:noFill/>
          <a:ln w="9525">
            <a:noFill/>
          </a:ln>
        </p:spPr>
        <p:txBody>
          <a:bodyPr anchor="t" anchorCtr="0"/>
          <a:lstStyle/>
          <a:p>
            <a:pPr marL="342900" indent="-342900">
              <a:spcBef>
                <a:spcPct val="20000"/>
              </a:spcBef>
              <a:buClr>
                <a:schemeClr val="accent1"/>
              </a:buClr>
              <a:buSzPct val="65000"/>
              <a:buFont typeface="Wingdings" panose="05000000000000000000" pitchFamily="2" charset="2"/>
              <a:buChar char="n"/>
            </a:pPr>
            <a:r>
              <a:rPr lang="zh-CN" altLang="zh-CN" sz="2100" dirty="0">
                <a:latin typeface="Arial" panose="020B0604020202090204" pitchFamily="34" charset="0"/>
              </a:rPr>
              <a:t>从变量的作用域的角度来观察，变量可以分为</a:t>
            </a:r>
            <a:r>
              <a:rPr lang="zh-CN" altLang="zh-CN" sz="2100" dirty="0">
                <a:solidFill>
                  <a:srgbClr val="0000CC"/>
                </a:solidFill>
                <a:latin typeface="Arial" panose="020B0604020202090204" pitchFamily="34" charset="0"/>
              </a:rPr>
              <a:t>全局变量</a:t>
            </a:r>
            <a:r>
              <a:rPr lang="zh-CN" altLang="zh-CN" sz="2100" dirty="0">
                <a:latin typeface="Arial" panose="020B0604020202090204" pitchFamily="34" charset="0"/>
              </a:rPr>
              <a:t>和</a:t>
            </a:r>
            <a:r>
              <a:rPr lang="zh-CN" altLang="zh-CN" sz="2100" dirty="0">
                <a:solidFill>
                  <a:srgbClr val="0000CC"/>
                </a:solidFill>
                <a:latin typeface="Arial" panose="020B0604020202090204" pitchFamily="34" charset="0"/>
              </a:rPr>
              <a:t>局部变量</a:t>
            </a:r>
            <a:endParaRPr lang="en-US" altLang="zh-CN" sz="2100" dirty="0">
              <a:solidFill>
                <a:srgbClr val="0000CC"/>
              </a:solidFill>
              <a:latin typeface="Arial" panose="020B0604020202090204" pitchFamily="34" charset="0"/>
            </a:endParaRPr>
          </a:p>
          <a:p>
            <a:pPr marL="342900" indent="-342900">
              <a:spcBef>
                <a:spcPct val="20000"/>
              </a:spcBef>
              <a:buClr>
                <a:schemeClr val="accent1"/>
              </a:buClr>
              <a:buSzPct val="65000"/>
              <a:buFont typeface="Wingdings" panose="05000000000000000000" pitchFamily="2" charset="2"/>
              <a:buChar char="n"/>
            </a:pPr>
            <a:r>
              <a:rPr lang="zh-CN" altLang="zh-CN" sz="2100" dirty="0">
                <a:latin typeface="Arial" panose="020B0604020202090204" pitchFamily="34" charset="0"/>
              </a:rPr>
              <a:t>从变量值存在的时间</a:t>
            </a:r>
            <a:r>
              <a:rPr lang="en-US" altLang="zh-CN" sz="2100" dirty="0">
                <a:latin typeface="Arial" panose="020B0604020202090204" pitchFamily="34" charset="0"/>
              </a:rPr>
              <a:t>(</a:t>
            </a:r>
            <a:r>
              <a:rPr lang="zh-CN" altLang="zh-CN" sz="2100" dirty="0">
                <a:latin typeface="Arial" panose="020B0604020202090204" pitchFamily="34" charset="0"/>
              </a:rPr>
              <a:t>即生存期</a:t>
            </a:r>
            <a:r>
              <a:rPr lang="en-US" altLang="zh-CN" sz="2100" dirty="0">
                <a:latin typeface="Arial" panose="020B0604020202090204" pitchFamily="34" charset="0"/>
              </a:rPr>
              <a:t>)</a:t>
            </a:r>
            <a:r>
              <a:rPr lang="zh-CN" altLang="zh-CN" sz="2100" dirty="0">
                <a:latin typeface="Arial" panose="020B0604020202090204" pitchFamily="34" charset="0"/>
              </a:rPr>
              <a:t>观察</a:t>
            </a:r>
            <a:r>
              <a:rPr lang="zh-CN" altLang="en-US" sz="2100" dirty="0">
                <a:latin typeface="Arial" panose="020B0604020202090204" pitchFamily="34" charset="0"/>
              </a:rPr>
              <a:t>，</a:t>
            </a:r>
            <a:r>
              <a:rPr lang="zh-CN" altLang="zh-CN" sz="2100" dirty="0">
                <a:latin typeface="Arial" panose="020B0604020202090204" pitchFamily="34" charset="0"/>
              </a:rPr>
              <a:t>变量的存储有两种不同的方式：</a:t>
            </a:r>
            <a:r>
              <a:rPr lang="zh-CN" altLang="zh-CN" sz="2100" dirty="0">
                <a:solidFill>
                  <a:srgbClr val="0000CC"/>
                </a:solidFill>
                <a:latin typeface="Arial" panose="020B0604020202090204" pitchFamily="34" charset="0"/>
              </a:rPr>
              <a:t>静态存储方式</a:t>
            </a:r>
            <a:r>
              <a:rPr lang="zh-CN" altLang="zh-CN" sz="2100" dirty="0">
                <a:latin typeface="Arial" panose="020B0604020202090204" pitchFamily="34" charset="0"/>
              </a:rPr>
              <a:t>和</a:t>
            </a:r>
            <a:r>
              <a:rPr lang="zh-CN" altLang="zh-CN" sz="2100" dirty="0">
                <a:solidFill>
                  <a:srgbClr val="0000CC"/>
                </a:solidFill>
                <a:latin typeface="Arial" panose="020B0604020202090204" pitchFamily="34" charset="0"/>
              </a:rPr>
              <a:t>动态存储方式</a:t>
            </a:r>
            <a:endParaRPr lang="en-US" altLang="zh-CN" sz="2100" dirty="0">
              <a:solidFill>
                <a:srgbClr val="0000CC"/>
              </a:solidFill>
              <a:latin typeface="Arial" panose="020B0604020202090204" pitchFamily="34" charset="0"/>
            </a:endParaRPr>
          </a:p>
          <a:p>
            <a:pPr marL="669925" lvl="1" indent="-325120" algn="l" rtl="0" eaLnBrk="1" fontAlgn="base" hangingPunct="1">
              <a:spcBef>
                <a:spcPct val="20000"/>
              </a:spcBef>
              <a:spcAft>
                <a:spcPct val="0"/>
              </a:spcAft>
              <a:buClr>
                <a:schemeClr val="accent2"/>
              </a:buClr>
              <a:buSzPct val="60000"/>
              <a:buFont typeface="Wingdings" panose="05000000000000000000" pitchFamily="2" charset="2"/>
              <a:buChar char="q"/>
            </a:pPr>
            <a:r>
              <a:rPr lang="zh-CN" altLang="zh-CN" sz="1950" dirty="0">
                <a:solidFill>
                  <a:schemeClr val="tx1"/>
                </a:solidFill>
                <a:latin typeface="Arial" panose="020B0604020202090204" pitchFamily="34" charset="0"/>
              </a:rPr>
              <a:t>静态存储方式是指在程序运行期间由系统分配固定的存储空间的方式</a:t>
            </a:r>
            <a:endParaRPr lang="en-US" altLang="zh-CN" sz="1950" dirty="0">
              <a:solidFill>
                <a:schemeClr val="tx1"/>
              </a:solidFill>
              <a:latin typeface="Arial" panose="020B0604020202090204" pitchFamily="34" charset="0"/>
            </a:endParaRPr>
          </a:p>
          <a:p>
            <a:pPr marL="669925" lvl="1" indent="-325120" algn="l" rtl="0" eaLnBrk="1" fontAlgn="base" hangingPunct="1">
              <a:spcBef>
                <a:spcPct val="20000"/>
              </a:spcBef>
              <a:spcAft>
                <a:spcPct val="0"/>
              </a:spcAft>
              <a:buClr>
                <a:schemeClr val="accent2"/>
              </a:buClr>
              <a:buSzPct val="60000"/>
              <a:buFont typeface="Wingdings" panose="05000000000000000000" pitchFamily="2" charset="2"/>
              <a:buChar char="q"/>
            </a:pPr>
            <a:r>
              <a:rPr lang="zh-CN" altLang="zh-CN" sz="1950" dirty="0">
                <a:solidFill>
                  <a:schemeClr val="tx1"/>
                </a:solidFill>
                <a:latin typeface="Arial" panose="020B0604020202090204" pitchFamily="34" charset="0"/>
              </a:rPr>
              <a:t>动态存储方式是在程序运行期间根据需要进行动态的分配存储空间的方式</a:t>
            </a:r>
            <a:endParaRPr lang="zh-CN" altLang="zh-CN" sz="1950" dirty="0">
              <a:solidFill>
                <a:srgbClr val="0000CC"/>
              </a:solidFill>
              <a:latin typeface="Arial" panose="020B060402020209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linds(horizontal)">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blinds(horizontal)">
                                      <p:cBhvr>
                                        <p:cTn id="2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705" name="组合 9"/>
          <p:cNvGrpSpPr/>
          <p:nvPr/>
        </p:nvGrpSpPr>
        <p:grpSpPr>
          <a:xfrm>
            <a:off x="2536031" y="1339454"/>
            <a:ext cx="1821656" cy="2303859"/>
            <a:chOff x="1000100" y="1571612"/>
            <a:chExt cx="2428892" cy="3071834"/>
          </a:xfrm>
        </p:grpSpPr>
        <p:sp>
          <p:nvSpPr>
            <p:cNvPr id="72706" name="流程图: 过程 5"/>
            <p:cNvSpPr/>
            <p:nvPr/>
          </p:nvSpPr>
          <p:spPr>
            <a:xfrm>
              <a:off x="1000100" y="1571612"/>
              <a:ext cx="2428892" cy="3071834"/>
            </a:xfrm>
            <a:prstGeom prst="flowChartProcess">
              <a:avLst/>
            </a:prstGeom>
            <a:solidFill>
              <a:schemeClr val="accent1"/>
            </a:solidFill>
            <a:ln w="38100" cap="flat" cmpd="sng">
              <a:solidFill>
                <a:schemeClr val="tx1"/>
              </a:solidFill>
              <a:prstDash val="solid"/>
              <a:miter/>
              <a:headEnd type="none" w="med" len="med"/>
              <a:tailEnd type="none" w="med" len="med"/>
            </a:ln>
          </p:spPr>
          <p:txBody>
            <a:bodyPr wrap="none" tIns="0" anchor="t" anchorCtr="0"/>
            <a:lstStyle/>
            <a:p>
              <a:pPr algn="ctr">
                <a:lnSpc>
                  <a:spcPct val="200000"/>
                </a:lnSpc>
                <a:buSzTx/>
              </a:pPr>
              <a:r>
                <a:rPr lang="zh-CN" altLang="en-US" sz="2400" b="1" dirty="0">
                  <a:latin typeface="Arial" panose="020B0604020202090204" pitchFamily="34" charset="0"/>
                </a:rPr>
                <a:t>程序区</a:t>
              </a:r>
              <a:endParaRPr lang="en-US" altLang="zh-CN" sz="2400" b="1" dirty="0">
                <a:latin typeface="Arial" panose="020B0604020202090204" pitchFamily="34" charset="0"/>
              </a:endParaRPr>
            </a:p>
            <a:p>
              <a:pPr algn="ctr">
                <a:lnSpc>
                  <a:spcPct val="200000"/>
                </a:lnSpc>
                <a:buSzTx/>
              </a:pPr>
              <a:r>
                <a:rPr lang="zh-CN" altLang="en-US" sz="2400" b="1" dirty="0">
                  <a:latin typeface="Arial" panose="020B0604020202090204" pitchFamily="34" charset="0"/>
                </a:rPr>
                <a:t>静态存储区</a:t>
              </a:r>
              <a:endParaRPr lang="en-US" altLang="zh-CN" sz="2400" b="1" dirty="0">
                <a:latin typeface="Arial" panose="020B0604020202090204" pitchFamily="34" charset="0"/>
              </a:endParaRPr>
            </a:p>
            <a:p>
              <a:pPr algn="ctr">
                <a:lnSpc>
                  <a:spcPct val="200000"/>
                </a:lnSpc>
                <a:buSzTx/>
              </a:pPr>
              <a:r>
                <a:rPr lang="zh-CN" altLang="en-US" sz="2400" b="1" dirty="0">
                  <a:latin typeface="Arial" panose="020B0604020202090204" pitchFamily="34" charset="0"/>
                </a:rPr>
                <a:t>动态存储区</a:t>
              </a:r>
            </a:p>
          </p:txBody>
        </p:sp>
        <p:cxnSp>
          <p:nvCxnSpPr>
            <p:cNvPr id="72707" name="直接连接符 7"/>
            <p:cNvCxnSpPr/>
            <p:nvPr/>
          </p:nvCxnSpPr>
          <p:spPr>
            <a:xfrm>
              <a:off x="1000100" y="2571744"/>
              <a:ext cx="2428892" cy="0"/>
            </a:xfrm>
            <a:prstGeom prst="line">
              <a:avLst/>
            </a:prstGeom>
            <a:ln w="38100" cap="flat" cmpd="sng">
              <a:solidFill>
                <a:schemeClr val="tx1"/>
              </a:solidFill>
              <a:prstDash val="solid"/>
              <a:miter/>
              <a:headEnd type="none" w="med" len="med"/>
              <a:tailEnd type="none" w="med" len="med"/>
            </a:ln>
          </p:spPr>
        </p:cxnSp>
        <p:cxnSp>
          <p:nvCxnSpPr>
            <p:cNvPr id="72708" name="直接连接符 8"/>
            <p:cNvCxnSpPr/>
            <p:nvPr/>
          </p:nvCxnSpPr>
          <p:spPr>
            <a:xfrm>
              <a:off x="1000100" y="3643314"/>
              <a:ext cx="2428892" cy="0"/>
            </a:xfrm>
            <a:prstGeom prst="line">
              <a:avLst/>
            </a:prstGeom>
            <a:ln w="38100" cap="flat" cmpd="sng">
              <a:solidFill>
                <a:schemeClr val="tx1"/>
              </a:solidFill>
              <a:prstDash val="solid"/>
              <a:miter/>
              <a:headEnd type="none" w="med" len="med"/>
              <a:tailEnd type="none" w="med" len="med"/>
            </a:ln>
          </p:spPr>
        </p:cxnSp>
      </p:grpSp>
      <p:sp>
        <p:nvSpPr>
          <p:cNvPr id="72709" name="TextBox 10"/>
          <p:cNvSpPr txBox="1"/>
          <p:nvPr/>
        </p:nvSpPr>
        <p:spPr>
          <a:xfrm>
            <a:off x="2696766" y="857250"/>
            <a:ext cx="1500188" cy="460375"/>
          </a:xfrm>
          <a:prstGeom prst="rect">
            <a:avLst/>
          </a:prstGeom>
          <a:noFill/>
          <a:ln w="9525">
            <a:noFill/>
          </a:ln>
        </p:spPr>
        <p:txBody>
          <a:bodyPr anchor="t" anchorCtr="0">
            <a:spAutoFit/>
          </a:bodyPr>
          <a:lstStyle/>
          <a:p>
            <a:pPr algn="ctr">
              <a:buSzTx/>
            </a:pPr>
            <a:r>
              <a:rPr lang="zh-CN" altLang="en-US" sz="2400" b="1" dirty="0">
                <a:latin typeface="Arial" panose="020B0604020202090204" pitchFamily="34" charset="0"/>
              </a:rPr>
              <a:t>用户区</a:t>
            </a:r>
          </a:p>
        </p:txBody>
      </p:sp>
      <p:sp>
        <p:nvSpPr>
          <p:cNvPr id="12" name="右大括号 11"/>
          <p:cNvSpPr/>
          <p:nvPr/>
        </p:nvSpPr>
        <p:spPr>
          <a:xfrm>
            <a:off x="4464844" y="2143125"/>
            <a:ext cx="375047" cy="1446610"/>
          </a:xfrm>
          <a:prstGeom prst="rightBrace">
            <a:avLst>
              <a:gd name="adj1" fmla="val 8249"/>
              <a:gd name="adj2" fmla="val 50000"/>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buSzTx/>
            </a:pPr>
            <a:endParaRPr lang="zh-CN" altLang="en-US" sz="3000" dirty="0">
              <a:latin typeface="Arial" panose="020B0604020202090204" pitchFamily="34" charset="0"/>
            </a:endParaRPr>
          </a:p>
        </p:txBody>
      </p:sp>
      <p:sp>
        <p:nvSpPr>
          <p:cNvPr id="13" name="TextBox 12"/>
          <p:cNvSpPr txBox="1"/>
          <p:nvPr/>
        </p:nvSpPr>
        <p:spPr>
          <a:xfrm>
            <a:off x="4893469" y="2625328"/>
            <a:ext cx="2839641" cy="460375"/>
          </a:xfrm>
          <a:prstGeom prst="rect">
            <a:avLst/>
          </a:prstGeom>
          <a:noFill/>
          <a:ln w="9525">
            <a:noFill/>
          </a:ln>
        </p:spPr>
        <p:txBody>
          <a:bodyPr anchor="t" anchorCtr="0">
            <a:spAutoFit/>
          </a:bodyPr>
          <a:lstStyle/>
          <a:p>
            <a:pPr algn="ctr">
              <a:buSzTx/>
            </a:pPr>
            <a:r>
              <a:rPr lang="zh-CN" altLang="en-US" sz="2400" b="1" dirty="0">
                <a:solidFill>
                  <a:srgbClr val="0000CC"/>
                </a:solidFill>
                <a:latin typeface="Arial" panose="020B0604020202090204" pitchFamily="34" charset="0"/>
              </a:rPr>
              <a:t>将</a:t>
            </a:r>
            <a:r>
              <a:rPr lang="zh-CN" altLang="zh-CN" sz="2400" b="1" dirty="0">
                <a:solidFill>
                  <a:srgbClr val="0000CC"/>
                </a:solidFill>
                <a:latin typeface="Arial" panose="020B0604020202090204" pitchFamily="34" charset="0"/>
              </a:rPr>
              <a:t>数据存放在</a:t>
            </a:r>
            <a:r>
              <a:rPr lang="zh-CN" altLang="en-US" sz="2400" b="1" dirty="0">
                <a:solidFill>
                  <a:srgbClr val="0000CC"/>
                </a:solidFill>
                <a:latin typeface="Arial" panose="020B0604020202090204" pitchFamily="34" charset="0"/>
              </a:rPr>
              <a:t>此区</a:t>
            </a:r>
          </a:p>
        </p:txBody>
      </p:sp>
      <p:sp>
        <p:nvSpPr>
          <p:cNvPr id="14" name="圆角矩形标注 13"/>
          <p:cNvSpPr/>
          <p:nvPr/>
        </p:nvSpPr>
        <p:spPr>
          <a:xfrm>
            <a:off x="4947047" y="1714500"/>
            <a:ext cx="2464594" cy="910829"/>
          </a:xfrm>
          <a:prstGeom prst="wedgeRoundRectCallout">
            <a:avLst>
              <a:gd name="adj1" fmla="val -75991"/>
              <a:gd name="adj2" fmla="val 42269"/>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buSzTx/>
            </a:pPr>
            <a:r>
              <a:rPr lang="zh-CN" altLang="zh-CN" sz="2100" b="1" dirty="0">
                <a:solidFill>
                  <a:srgbClr val="0000CC"/>
                </a:solidFill>
                <a:latin typeface="Arial" panose="020B0604020202090204" pitchFamily="34" charset="0"/>
              </a:rPr>
              <a:t>全局变量全部存放在静态存储区中</a:t>
            </a:r>
            <a:endParaRPr lang="zh-CN" altLang="en-US" sz="2100" b="1" dirty="0">
              <a:solidFill>
                <a:srgbClr val="0000CC"/>
              </a:solidFill>
              <a:latin typeface="Arial" panose="020B0604020202090204" pitchFamily="34" charset="0"/>
            </a:endParaRPr>
          </a:p>
        </p:txBody>
      </p:sp>
      <p:sp>
        <p:nvSpPr>
          <p:cNvPr id="15" name="圆角矩形标注 14"/>
          <p:cNvSpPr/>
          <p:nvPr/>
        </p:nvSpPr>
        <p:spPr>
          <a:xfrm>
            <a:off x="4786313" y="1768079"/>
            <a:ext cx="3000375" cy="2196703"/>
          </a:xfrm>
          <a:prstGeom prst="wedgeRoundRectCallout">
            <a:avLst>
              <a:gd name="adj1" fmla="val -70356"/>
              <a:gd name="adj2" fmla="val 20352"/>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buSzTx/>
            </a:pPr>
            <a:r>
              <a:rPr lang="zh-CN" altLang="zh-CN" sz="2100" b="1" dirty="0">
                <a:solidFill>
                  <a:srgbClr val="0000CC"/>
                </a:solidFill>
                <a:latin typeface="Arial" panose="020B0604020202090204" pitchFamily="34" charset="0"/>
              </a:rPr>
              <a:t>①函数形式参数②函数中定义的没有用关键字</a:t>
            </a:r>
            <a:r>
              <a:rPr lang="en-US" altLang="zh-CN" sz="2100" b="1" dirty="0">
                <a:solidFill>
                  <a:srgbClr val="0000CC"/>
                </a:solidFill>
                <a:latin typeface="Arial" panose="020B0604020202090204" pitchFamily="34" charset="0"/>
              </a:rPr>
              <a:t>static</a:t>
            </a:r>
            <a:r>
              <a:rPr lang="zh-CN" altLang="zh-CN" sz="2100" b="1" dirty="0">
                <a:solidFill>
                  <a:srgbClr val="0000CC"/>
                </a:solidFill>
                <a:latin typeface="Arial" panose="020B0604020202090204" pitchFamily="34" charset="0"/>
              </a:rPr>
              <a:t>声明的变量③函数调用时的现场保护和返回地址等</a:t>
            </a:r>
            <a:r>
              <a:rPr lang="zh-CN" altLang="en-US" sz="2100" b="1" dirty="0">
                <a:solidFill>
                  <a:srgbClr val="0000CC"/>
                </a:solidFill>
                <a:latin typeface="Arial" panose="020B0604020202090204" pitchFamily="34" charset="0"/>
              </a:rPr>
              <a:t>存放在动态存储区</a:t>
            </a:r>
          </a:p>
        </p:txBody>
      </p:sp>
      <p:sp>
        <p:nvSpPr>
          <p:cNvPr id="16" name="圆角矩形标注 15"/>
          <p:cNvSpPr/>
          <p:nvPr/>
        </p:nvSpPr>
        <p:spPr>
          <a:xfrm>
            <a:off x="4786313" y="1071563"/>
            <a:ext cx="3214688" cy="1928813"/>
          </a:xfrm>
          <a:prstGeom prst="wedgeRoundRectCallout">
            <a:avLst>
              <a:gd name="adj1" fmla="val -69000"/>
              <a:gd name="adj2" fmla="val 20370"/>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buSzTx/>
            </a:pPr>
            <a:r>
              <a:rPr lang="zh-CN" altLang="en-US" sz="2100" b="1" dirty="0">
                <a:solidFill>
                  <a:srgbClr val="9D138D"/>
                </a:solidFill>
                <a:latin typeface="Arial" panose="020B0604020202090204" pitchFamily="34" charset="0"/>
              </a:rPr>
              <a:t>程序</a:t>
            </a:r>
            <a:r>
              <a:rPr lang="zh-CN" altLang="zh-CN" sz="2100" b="1" dirty="0">
                <a:solidFill>
                  <a:srgbClr val="9D138D"/>
                </a:solidFill>
                <a:latin typeface="Arial" panose="020B0604020202090204" pitchFamily="34" charset="0"/>
              </a:rPr>
              <a:t>开始执行时给全局变量分配存储区，程序执行完毕就释放。在程序执行过程中占据固定的存储单元</a:t>
            </a:r>
            <a:endParaRPr lang="zh-CN" altLang="en-US" sz="2100" b="1" dirty="0">
              <a:solidFill>
                <a:srgbClr val="9D138D"/>
              </a:solidFill>
              <a:latin typeface="Arial" panose="020B0604020202090204" pitchFamily="34" charset="0"/>
            </a:endParaRPr>
          </a:p>
        </p:txBody>
      </p:sp>
      <p:sp>
        <p:nvSpPr>
          <p:cNvPr id="17" name="圆角矩形标注 16"/>
          <p:cNvSpPr/>
          <p:nvPr/>
        </p:nvSpPr>
        <p:spPr>
          <a:xfrm>
            <a:off x="4786313" y="2303860"/>
            <a:ext cx="3053954" cy="1553765"/>
          </a:xfrm>
          <a:prstGeom prst="wedgeRoundRectCallout">
            <a:avLst>
              <a:gd name="adj1" fmla="val -70356"/>
              <a:gd name="adj2" fmla="val 20352"/>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buSzTx/>
            </a:pPr>
            <a:r>
              <a:rPr lang="zh-CN" altLang="zh-CN" sz="2100" b="1" dirty="0">
                <a:solidFill>
                  <a:srgbClr val="9D138D"/>
                </a:solidFill>
                <a:latin typeface="Arial" panose="020B0604020202090204" pitchFamily="34" charset="0"/>
              </a:rPr>
              <a:t>函数调用开始时分配，函数结束时释放。在程序执行过程中，这种分配和释放是动态的</a:t>
            </a:r>
            <a:endParaRPr lang="zh-CN" altLang="en-US" sz="2100" b="1" dirty="0">
              <a:solidFill>
                <a:srgbClr val="9D138D"/>
              </a:solidFill>
              <a:latin typeface="Arial" panose="020B060402020209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par>
                                <p:cTn id="8" presetID="3"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linds(horizontal)">
                                      <p:cBhvr>
                                        <p:cTn id="10"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blinds(horizontal)">
                                      <p:cBhvr>
                                        <p:cTn id="15"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blinds(horizontal)">
                                      <p:cBhvr>
                                        <p:cTn id="20"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blinds(horizontal)">
                                      <p:cBhvr>
                                        <p:cTn id="25"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blinds(horizontal)">
                                      <p:cBhvr>
                                        <p:cTn id="3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p:bldP spid="14" grpId="0" bldLvl="0" animBg="1"/>
      <p:bldP spid="15" grpId="0" bldLvl="0" animBg="1"/>
      <p:bldP spid="16" grpId="0" bldLvl="0" animBg="1"/>
      <p:bldP spid="17"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内容占位符 2"/>
          <p:cNvSpPr>
            <a:spLocks noGrp="1"/>
          </p:cNvSpPr>
          <p:nvPr>
            <p:ph idx="1" hasCustomPrompt="1"/>
          </p:nvPr>
        </p:nvSpPr>
        <p:spPr>
          <a:xfrm>
            <a:off x="1303735" y="1055688"/>
            <a:ext cx="5250656" cy="3643313"/>
          </a:xfrm>
        </p:spPr>
        <p:txBody>
          <a:bodyPr vert="horz" wrap="square" lIns="68580" tIns="34290" rIns="68580" bIns="34290" anchor="t" anchorCtr="0"/>
          <a:lstStyle/>
          <a:p>
            <a:pPr eaLnBrk="1" hangingPunct="1">
              <a:buNone/>
            </a:pPr>
            <a:r>
              <a:rPr lang="en-US" altLang="zh-CN" dirty="0"/>
              <a:t>    </a:t>
            </a:r>
            <a:r>
              <a:rPr lang="zh-CN" altLang="zh-CN" dirty="0"/>
              <a:t>例</a:t>
            </a:r>
            <a:r>
              <a:rPr lang="en-US" altLang="zh-CN" dirty="0"/>
              <a:t>5.11 </a:t>
            </a:r>
            <a:r>
              <a:rPr lang="zh-CN" altLang="zh-CN" dirty="0"/>
              <a:t>考察静态局部变量的值。</a:t>
            </a:r>
            <a:endParaRPr lang="en-US" altLang="zh-CN" dirty="0"/>
          </a:p>
          <a:p>
            <a:pPr eaLnBrk="1" hangingPunct="1">
              <a:buNone/>
            </a:pPr>
            <a:r>
              <a:rPr lang="en-US" altLang="zh-CN" sz="2100" dirty="0"/>
              <a:t>#include &lt;stdio.h&gt;</a:t>
            </a:r>
            <a:endParaRPr lang="zh-CN" altLang="zh-CN" sz="2100" dirty="0"/>
          </a:p>
          <a:p>
            <a:pPr eaLnBrk="1" hangingPunct="1">
              <a:buNone/>
            </a:pPr>
            <a:r>
              <a:rPr lang="en-US" altLang="zh-CN" sz="2100" dirty="0"/>
              <a:t>int main()</a:t>
            </a:r>
            <a:endParaRPr lang="zh-CN" altLang="zh-CN" sz="2100" dirty="0"/>
          </a:p>
          <a:p>
            <a:pPr eaLnBrk="1" hangingPunct="1">
              <a:buNone/>
            </a:pPr>
            <a:r>
              <a:rPr lang="en-US" altLang="zh-CN" sz="2100" dirty="0"/>
              <a:t>{ int f(int);           </a:t>
            </a:r>
            <a:endParaRPr lang="zh-CN" altLang="zh-CN" sz="2100" dirty="0"/>
          </a:p>
          <a:p>
            <a:pPr eaLnBrk="1" hangingPunct="1">
              <a:buNone/>
            </a:pPr>
            <a:r>
              <a:rPr lang="en-US" altLang="zh-CN" sz="2100" dirty="0"/>
              <a:t>   int a=2,i;            </a:t>
            </a:r>
            <a:endParaRPr lang="zh-CN" altLang="zh-CN" sz="2100" dirty="0"/>
          </a:p>
          <a:p>
            <a:pPr eaLnBrk="1" hangingPunct="1">
              <a:buNone/>
            </a:pPr>
            <a:r>
              <a:rPr lang="en-US" altLang="zh-CN" sz="2100" dirty="0"/>
              <a:t>   for(i=0;i&lt;3;i++)</a:t>
            </a:r>
            <a:endParaRPr lang="zh-CN" altLang="zh-CN" sz="2100" dirty="0"/>
          </a:p>
          <a:p>
            <a:pPr eaLnBrk="1" hangingPunct="1">
              <a:buNone/>
            </a:pPr>
            <a:r>
              <a:rPr lang="en-US" altLang="zh-CN" sz="2100" dirty="0"/>
              <a:t>     printf(“%d\n”,f(a));</a:t>
            </a:r>
            <a:endParaRPr lang="zh-CN" altLang="zh-CN" sz="2100" dirty="0"/>
          </a:p>
          <a:p>
            <a:pPr eaLnBrk="1" hangingPunct="1">
              <a:buNone/>
            </a:pPr>
            <a:r>
              <a:rPr lang="en-US" altLang="zh-CN" sz="2100" dirty="0"/>
              <a:t>   return 0;</a:t>
            </a:r>
            <a:endParaRPr lang="zh-CN" altLang="zh-CN" sz="2100" dirty="0"/>
          </a:p>
          <a:p>
            <a:pPr eaLnBrk="1" hangingPunct="1">
              <a:buNone/>
            </a:pPr>
            <a:r>
              <a:rPr lang="en-US" altLang="zh-CN" sz="2100" dirty="0"/>
              <a:t>}</a:t>
            </a:r>
            <a:endParaRPr lang="zh-CN" altLang="zh-CN" sz="2100" dirty="0"/>
          </a:p>
          <a:p>
            <a:pPr eaLnBrk="1" hangingPunct="1">
              <a:buNone/>
            </a:pPr>
            <a:endParaRPr lang="zh-CN" altLang="en-US" dirty="0"/>
          </a:p>
        </p:txBody>
      </p:sp>
      <p:sp>
        <p:nvSpPr>
          <p:cNvPr id="4" name="内容占位符 2"/>
          <p:cNvSpPr txBox="1"/>
          <p:nvPr/>
        </p:nvSpPr>
        <p:spPr bwMode="auto">
          <a:xfrm>
            <a:off x="5054204" y="1591469"/>
            <a:ext cx="2946797" cy="2518172"/>
          </a:xfrm>
          <a:prstGeom prst="rect">
            <a:avLst/>
          </a:prstGeom>
          <a:solidFill>
            <a:srgbClr val="E1FFE1"/>
          </a:solidFill>
          <a:ln w="9525">
            <a:noFill/>
            <a:miter lim="800000"/>
          </a:ln>
        </p:spPr>
        <p:txBody>
          <a:bodyPr/>
          <a:lstStyle/>
          <a:p>
            <a:pPr marR="0" defTabSz="914400">
              <a:buClrTx/>
              <a:buSzTx/>
              <a:buFontTx/>
              <a:defRPr/>
            </a:pP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f(</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a)</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auto</a:t>
            </a: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b=0;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static</a:t>
            </a:r>
            <a:r>
              <a:rPr kumimoji="0" lang="en-US" altLang="zh-CN" sz="2100" b="1" kern="1200" cap="none" spc="0" normalizeH="0" baseline="0" noProof="0" dirty="0">
                <a:latin typeface="+mn-lt"/>
                <a:ea typeface="+mn-ea"/>
                <a:cs typeface="+mn-cs"/>
              </a:rPr>
              <a:t> c=3;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b=b+1;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c=c+1;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return(</a:t>
            </a:r>
            <a:r>
              <a:rPr kumimoji="0" lang="en-US" altLang="zh-CN" sz="2100" b="1" kern="1200" cap="none" spc="0" normalizeH="0" baseline="0" noProof="0" dirty="0" err="1">
                <a:latin typeface="+mn-lt"/>
                <a:ea typeface="+mn-ea"/>
                <a:cs typeface="+mn-cs"/>
              </a:rPr>
              <a:t>a+b+c</a:t>
            </a: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L="342900" marR="0" indent="-342900" defTabSz="914400" eaLnBrk="0" hangingPunct="0">
              <a:spcBef>
                <a:spcPct val="20000"/>
              </a:spcBef>
              <a:buClrTx/>
              <a:buSzTx/>
              <a:buFont typeface="Wingdings" panose="05000000000000000000" pitchFamily="2" charset="2"/>
              <a:defRPr/>
            </a:pPr>
            <a:endParaRPr kumimoji="0" lang="zh-CN" altLang="zh-CN" sz="2100" b="1" kern="0" cap="none" spc="0" normalizeH="0" baseline="0" noProof="0" dirty="0">
              <a:latin typeface="+mn-lt"/>
              <a:ea typeface="+mn-ea"/>
              <a:cs typeface="+mn-cs"/>
            </a:endParaRPr>
          </a:p>
          <a:p>
            <a:pPr marL="342900" marR="0" indent="-342900" defTabSz="914400" eaLnBrk="0" hangingPunct="0">
              <a:lnSpc>
                <a:spcPct val="120000"/>
              </a:lnSpc>
              <a:spcBef>
                <a:spcPct val="20000"/>
              </a:spcBef>
              <a:buClrTx/>
              <a:buSzTx/>
              <a:buFont typeface="Wingdings" panose="05000000000000000000" pitchFamily="2" charset="2"/>
              <a:defRPr/>
            </a:pPr>
            <a:endParaRPr kumimoji="0" lang="zh-CN" altLang="en-US" sz="2400" b="1" kern="0" cap="none" spc="0" normalizeH="0" baseline="0" noProof="0" dirty="0">
              <a:latin typeface="+mn-lt"/>
              <a:ea typeface="+mn-ea"/>
              <a:cs typeface="+mn-cs"/>
            </a:endParaRPr>
          </a:p>
        </p:txBody>
      </p:sp>
      <p:sp>
        <p:nvSpPr>
          <p:cNvPr id="5" name="圆角矩形标注 4"/>
          <p:cNvSpPr/>
          <p:nvPr/>
        </p:nvSpPr>
        <p:spPr>
          <a:xfrm>
            <a:off x="2237185" y="4389438"/>
            <a:ext cx="1553765" cy="535781"/>
          </a:xfrm>
          <a:prstGeom prst="wedgeRoundRectCallout">
            <a:avLst>
              <a:gd name="adj1" fmla="val 24560"/>
              <a:gd name="adj2" fmla="val -165667"/>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调用三次</a:t>
            </a:r>
          </a:p>
        </p:txBody>
      </p:sp>
      <p:sp>
        <p:nvSpPr>
          <p:cNvPr id="6" name="圆角矩形标注 5"/>
          <p:cNvSpPr/>
          <p:nvPr/>
        </p:nvSpPr>
        <p:spPr>
          <a:xfrm>
            <a:off x="5268516" y="4216797"/>
            <a:ext cx="2518172" cy="803672"/>
          </a:xfrm>
          <a:prstGeom prst="wedgeRoundRectCallout">
            <a:avLst>
              <a:gd name="adj1" fmla="val -15972"/>
              <a:gd name="adj2" fmla="val -114231"/>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buSzTx/>
            </a:pPr>
            <a:r>
              <a:rPr lang="zh-CN" altLang="en-US" sz="2100" b="1" dirty="0">
                <a:solidFill>
                  <a:srgbClr val="0000CC"/>
                </a:solidFill>
                <a:latin typeface="Arial" panose="020B0604020202090204" pitchFamily="34" charset="0"/>
              </a:rPr>
              <a:t>每调用一次，开辟新</a:t>
            </a:r>
            <a:r>
              <a:rPr lang="en-US" altLang="zh-CN" sz="2100" b="1" dirty="0">
                <a:solidFill>
                  <a:srgbClr val="0000CC"/>
                </a:solidFill>
                <a:latin typeface="Arial" panose="020B0604020202090204" pitchFamily="34" charset="0"/>
              </a:rPr>
              <a:t>a</a:t>
            </a:r>
            <a:r>
              <a:rPr lang="zh-CN" altLang="en-US" sz="2100" b="1" dirty="0">
                <a:solidFill>
                  <a:srgbClr val="0000CC"/>
                </a:solidFill>
                <a:latin typeface="Arial" panose="020B0604020202090204" pitchFamily="34" charset="0"/>
              </a:rPr>
              <a:t>和</a:t>
            </a:r>
            <a:r>
              <a:rPr lang="en-US" altLang="zh-CN" sz="2100" b="1" dirty="0">
                <a:solidFill>
                  <a:srgbClr val="0000CC"/>
                </a:solidFill>
                <a:latin typeface="Arial" panose="020B0604020202090204" pitchFamily="34" charset="0"/>
              </a:rPr>
              <a:t>b</a:t>
            </a:r>
            <a:r>
              <a:rPr lang="zh-CN" altLang="en-US" sz="2100" b="1" dirty="0">
                <a:solidFill>
                  <a:srgbClr val="0000CC"/>
                </a:solidFill>
                <a:latin typeface="Arial" panose="020B0604020202090204" pitchFamily="34" charset="0"/>
              </a:rPr>
              <a:t>，但</a:t>
            </a:r>
            <a:r>
              <a:rPr lang="en-US" altLang="zh-CN" sz="2100" b="1" dirty="0">
                <a:solidFill>
                  <a:srgbClr val="0000CC"/>
                </a:solidFill>
                <a:latin typeface="Arial" panose="020B0604020202090204" pitchFamily="34" charset="0"/>
              </a:rPr>
              <a:t>c</a:t>
            </a:r>
            <a:r>
              <a:rPr lang="zh-CN" altLang="en-US" sz="2100" b="1" dirty="0">
                <a:solidFill>
                  <a:srgbClr val="0000CC"/>
                </a:solidFill>
                <a:latin typeface="Arial" panose="020B0604020202090204" pitchFamily="34" charset="0"/>
              </a:rPr>
              <a:t>不是</a:t>
            </a:r>
          </a:p>
        </p:txBody>
      </p:sp>
      <p:sp>
        <p:nvSpPr>
          <p:cNvPr id="3" name="Rectangle 2"/>
          <p:cNvSpPr>
            <a:spLocks noGrp="1" noChangeArrowheads="1"/>
          </p:cNvSpPr>
          <p:nvPr>
            <p:ph type="title"/>
            <p:custDataLst>
              <p:tags r:id="rId1"/>
            </p:custDataLst>
          </p:nvPr>
        </p:nvSpPr>
        <p:spPr>
          <a:xfrm>
            <a:off x="1250156" y="601266"/>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局部变量的存储类别</a:t>
            </a:r>
            <a:endParaRPr kumimoji="0" lang="en-US"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内容占位符 2"/>
          <p:cNvSpPr>
            <a:spLocks noGrp="1"/>
          </p:cNvSpPr>
          <p:nvPr>
            <p:ph idx="1" hasCustomPrompt="1"/>
          </p:nvPr>
        </p:nvSpPr>
        <p:spPr>
          <a:xfrm>
            <a:off x="1303735" y="642938"/>
            <a:ext cx="5250656" cy="3643313"/>
          </a:xfrm>
        </p:spPr>
        <p:txBody>
          <a:bodyPr vert="horz" wrap="square" lIns="68580" tIns="34290" rIns="68580" bIns="34290" anchor="t" anchorCtr="0"/>
          <a:lstStyle/>
          <a:p>
            <a:pPr eaLnBrk="1" hangingPunct="1">
              <a:buNone/>
            </a:pPr>
            <a:r>
              <a:rPr lang="en-US" altLang="zh-CN" dirty="0"/>
              <a:t>    </a:t>
            </a:r>
            <a:r>
              <a:rPr lang="zh-CN" altLang="zh-CN" dirty="0"/>
              <a:t>例</a:t>
            </a:r>
            <a:r>
              <a:rPr lang="en-US" altLang="zh-CN" dirty="0"/>
              <a:t>5.11 </a:t>
            </a:r>
            <a:r>
              <a:rPr lang="zh-CN" altLang="zh-CN" dirty="0"/>
              <a:t>考察静态局部变量的值。</a:t>
            </a:r>
            <a:endParaRPr lang="en-US" altLang="zh-CN" dirty="0"/>
          </a:p>
          <a:p>
            <a:pPr eaLnBrk="1" hangingPunct="1">
              <a:buNone/>
            </a:pPr>
            <a:r>
              <a:rPr lang="en-US" altLang="zh-CN" sz="2100" dirty="0"/>
              <a:t>#include &lt;stdio.h&gt;</a:t>
            </a:r>
            <a:endParaRPr lang="zh-CN" altLang="zh-CN" sz="2100" dirty="0"/>
          </a:p>
          <a:p>
            <a:pPr eaLnBrk="1" hangingPunct="1">
              <a:buNone/>
            </a:pPr>
            <a:r>
              <a:rPr lang="en-US" altLang="zh-CN" sz="2100" dirty="0"/>
              <a:t>int main()</a:t>
            </a:r>
            <a:endParaRPr lang="zh-CN" altLang="zh-CN" sz="2100" dirty="0"/>
          </a:p>
          <a:p>
            <a:pPr eaLnBrk="1" hangingPunct="1">
              <a:buNone/>
            </a:pPr>
            <a:r>
              <a:rPr lang="en-US" altLang="zh-CN" sz="2100" dirty="0"/>
              <a:t>{ int f(int);           </a:t>
            </a:r>
            <a:endParaRPr lang="zh-CN" altLang="zh-CN" sz="2100" dirty="0"/>
          </a:p>
          <a:p>
            <a:pPr eaLnBrk="1" hangingPunct="1">
              <a:buNone/>
            </a:pPr>
            <a:r>
              <a:rPr lang="en-US" altLang="zh-CN" sz="2100" dirty="0"/>
              <a:t>   int a=2,i;            </a:t>
            </a:r>
            <a:endParaRPr lang="zh-CN" altLang="zh-CN" sz="2100" dirty="0"/>
          </a:p>
          <a:p>
            <a:pPr eaLnBrk="1" hangingPunct="1">
              <a:buNone/>
            </a:pPr>
            <a:r>
              <a:rPr lang="en-US" altLang="zh-CN" sz="2100" dirty="0"/>
              <a:t>   for(i=0;i&lt;3;i++)</a:t>
            </a:r>
            <a:endParaRPr lang="zh-CN" altLang="zh-CN" sz="2100" dirty="0"/>
          </a:p>
          <a:p>
            <a:pPr eaLnBrk="1" hangingPunct="1">
              <a:buNone/>
            </a:pPr>
            <a:r>
              <a:rPr lang="en-US" altLang="zh-CN" sz="2100" dirty="0"/>
              <a:t>     printf(“%d\n”,f(a));</a:t>
            </a:r>
            <a:endParaRPr lang="zh-CN" altLang="zh-CN" sz="2100" dirty="0"/>
          </a:p>
          <a:p>
            <a:pPr eaLnBrk="1" hangingPunct="1">
              <a:buNone/>
            </a:pPr>
            <a:r>
              <a:rPr lang="en-US" altLang="zh-CN" sz="2100" dirty="0"/>
              <a:t>   return 0;</a:t>
            </a:r>
            <a:endParaRPr lang="zh-CN" altLang="zh-CN" sz="2100" dirty="0"/>
          </a:p>
          <a:p>
            <a:pPr eaLnBrk="1" hangingPunct="1">
              <a:buNone/>
            </a:pPr>
            <a:r>
              <a:rPr lang="en-US" altLang="zh-CN" sz="2100" dirty="0"/>
              <a:t>}</a:t>
            </a:r>
            <a:endParaRPr lang="zh-CN" altLang="zh-CN" sz="2100" dirty="0"/>
          </a:p>
          <a:p>
            <a:pPr eaLnBrk="1" hangingPunct="1">
              <a:buNone/>
            </a:pPr>
            <a:endParaRPr lang="zh-CN" altLang="en-US" dirty="0"/>
          </a:p>
        </p:txBody>
      </p:sp>
      <p:sp>
        <p:nvSpPr>
          <p:cNvPr id="4" name="内容占位符 2"/>
          <p:cNvSpPr txBox="1"/>
          <p:nvPr/>
        </p:nvSpPr>
        <p:spPr bwMode="auto">
          <a:xfrm>
            <a:off x="5054204" y="1178719"/>
            <a:ext cx="2946797" cy="2518172"/>
          </a:xfrm>
          <a:prstGeom prst="rect">
            <a:avLst/>
          </a:prstGeom>
          <a:solidFill>
            <a:srgbClr val="E1FFE1"/>
          </a:solidFill>
          <a:ln w="9525">
            <a:noFill/>
            <a:miter lim="800000"/>
          </a:ln>
        </p:spPr>
        <p:txBody>
          <a:bodyPr/>
          <a:lstStyle/>
          <a:p>
            <a:pPr marR="0" defTabSz="914400">
              <a:buClrTx/>
              <a:buSzTx/>
              <a:buFontTx/>
              <a:defRPr/>
            </a:pP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f(</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a)</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auto</a:t>
            </a: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b=0;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static</a:t>
            </a:r>
            <a:r>
              <a:rPr kumimoji="0" lang="en-US" altLang="zh-CN" sz="2100" b="1" kern="1200" cap="none" spc="0" normalizeH="0" baseline="0" noProof="0" dirty="0">
                <a:latin typeface="+mn-lt"/>
                <a:ea typeface="+mn-ea"/>
                <a:cs typeface="+mn-cs"/>
              </a:rPr>
              <a:t> c=3;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b=b+1;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c=c+1;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return(</a:t>
            </a:r>
            <a:r>
              <a:rPr kumimoji="0" lang="en-US" altLang="zh-CN" sz="2100" b="1" kern="1200" cap="none" spc="0" normalizeH="0" baseline="0" noProof="0" dirty="0" err="1">
                <a:latin typeface="+mn-lt"/>
                <a:ea typeface="+mn-ea"/>
                <a:cs typeface="+mn-cs"/>
              </a:rPr>
              <a:t>a+b+c</a:t>
            </a: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L="342900" marR="0" indent="-342900" defTabSz="914400" eaLnBrk="0" hangingPunct="0">
              <a:spcBef>
                <a:spcPct val="20000"/>
              </a:spcBef>
              <a:buClrTx/>
              <a:buSzTx/>
              <a:buFont typeface="Wingdings" panose="05000000000000000000" pitchFamily="2" charset="2"/>
              <a:defRPr/>
            </a:pPr>
            <a:endParaRPr kumimoji="0" lang="zh-CN" altLang="zh-CN" sz="2100" b="1" kern="0" cap="none" spc="0" normalizeH="0" baseline="0" noProof="0" dirty="0">
              <a:latin typeface="+mn-lt"/>
              <a:ea typeface="+mn-ea"/>
              <a:cs typeface="+mn-cs"/>
            </a:endParaRPr>
          </a:p>
          <a:p>
            <a:pPr marL="342900" marR="0" indent="-342900" defTabSz="914400" eaLnBrk="0" hangingPunct="0">
              <a:lnSpc>
                <a:spcPct val="120000"/>
              </a:lnSpc>
              <a:spcBef>
                <a:spcPct val="20000"/>
              </a:spcBef>
              <a:buClrTx/>
              <a:buSzTx/>
              <a:buFont typeface="Wingdings" panose="05000000000000000000" pitchFamily="2" charset="2"/>
              <a:defRPr/>
            </a:pPr>
            <a:endParaRPr kumimoji="0" lang="zh-CN" altLang="en-US" sz="2400" b="1" kern="0" cap="none" spc="0" normalizeH="0" baseline="0" noProof="0" dirty="0">
              <a:latin typeface="+mn-lt"/>
              <a:ea typeface="+mn-ea"/>
              <a:cs typeface="+mn-cs"/>
            </a:endParaRPr>
          </a:p>
        </p:txBody>
      </p:sp>
      <p:sp>
        <p:nvSpPr>
          <p:cNvPr id="7" name="矩形 6"/>
          <p:cNvSpPr/>
          <p:nvPr/>
        </p:nvSpPr>
        <p:spPr>
          <a:xfrm>
            <a:off x="3500438"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latin typeface="Arial" panose="020B0604020202090204" pitchFamily="34" charset="0"/>
              </a:rPr>
              <a:t>0</a:t>
            </a:r>
            <a:endParaRPr lang="zh-CN" altLang="en-US" sz="2400" dirty="0">
              <a:latin typeface="Arial" panose="020B0604020202090204" pitchFamily="34" charset="0"/>
            </a:endParaRPr>
          </a:p>
        </p:txBody>
      </p:sp>
      <p:sp>
        <p:nvSpPr>
          <p:cNvPr id="8" name="矩形 7"/>
          <p:cNvSpPr/>
          <p:nvPr/>
        </p:nvSpPr>
        <p:spPr>
          <a:xfrm>
            <a:off x="4464844"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latin typeface="Arial" panose="020B0604020202090204" pitchFamily="34" charset="0"/>
              </a:rPr>
              <a:t>3</a:t>
            </a:r>
            <a:endParaRPr lang="zh-CN" altLang="en-US" sz="2400" dirty="0">
              <a:latin typeface="Arial" panose="020B0604020202090204" pitchFamily="34" charset="0"/>
            </a:endParaRPr>
          </a:p>
        </p:txBody>
      </p:sp>
      <p:sp>
        <p:nvSpPr>
          <p:cNvPr id="9" name="TextBox 8"/>
          <p:cNvSpPr txBox="1"/>
          <p:nvPr/>
        </p:nvSpPr>
        <p:spPr>
          <a:xfrm>
            <a:off x="3607594" y="3857625"/>
            <a:ext cx="321469"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b</a:t>
            </a:r>
            <a:endParaRPr lang="zh-CN" altLang="en-US" sz="2400" b="1" dirty="0">
              <a:latin typeface="Arial" panose="020B0604020202090204" pitchFamily="34" charset="0"/>
            </a:endParaRPr>
          </a:p>
        </p:txBody>
      </p:sp>
      <p:sp>
        <p:nvSpPr>
          <p:cNvPr id="10" name="TextBox 9"/>
          <p:cNvSpPr txBox="1"/>
          <p:nvPr/>
        </p:nvSpPr>
        <p:spPr>
          <a:xfrm>
            <a:off x="4572000" y="3857625"/>
            <a:ext cx="321469"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c</a:t>
            </a:r>
            <a:endParaRPr lang="zh-CN" altLang="en-US" sz="2400" b="1" dirty="0">
              <a:latin typeface="Arial" panose="020B0604020202090204" pitchFamily="34" charset="0"/>
            </a:endParaRPr>
          </a:p>
        </p:txBody>
      </p:sp>
      <p:sp>
        <p:nvSpPr>
          <p:cNvPr id="11" name="圆角矩形标注 10"/>
          <p:cNvSpPr/>
          <p:nvPr/>
        </p:nvSpPr>
        <p:spPr>
          <a:xfrm>
            <a:off x="5598319" y="3911204"/>
            <a:ext cx="2295525" cy="535781"/>
          </a:xfrm>
          <a:prstGeom prst="wedgeRoundRectCallout">
            <a:avLst>
              <a:gd name="adj1" fmla="val 12343"/>
              <a:gd name="adj2" fmla="val -155111"/>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第一次调用开始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linds(horizontal)">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9" grpId="0"/>
      <p:bldP spid="10" grpId="0"/>
      <p:bldP spid="11" grpId="0" bldLvl="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内容占位符 2"/>
          <p:cNvSpPr>
            <a:spLocks noGrp="1"/>
          </p:cNvSpPr>
          <p:nvPr>
            <p:ph idx="1" hasCustomPrompt="1"/>
          </p:nvPr>
        </p:nvSpPr>
        <p:spPr>
          <a:xfrm>
            <a:off x="1303735" y="642938"/>
            <a:ext cx="5250656" cy="3643313"/>
          </a:xfrm>
        </p:spPr>
        <p:txBody>
          <a:bodyPr vert="horz" wrap="square" lIns="68580" tIns="34290" rIns="68580" bIns="34290" anchor="t" anchorCtr="0"/>
          <a:lstStyle/>
          <a:p>
            <a:pPr eaLnBrk="1" hangingPunct="1">
              <a:buNone/>
            </a:pPr>
            <a:r>
              <a:rPr lang="en-US" altLang="zh-CN" dirty="0"/>
              <a:t>    </a:t>
            </a:r>
            <a:r>
              <a:rPr lang="zh-CN" altLang="zh-CN" dirty="0"/>
              <a:t>例</a:t>
            </a:r>
            <a:r>
              <a:rPr lang="en-US" altLang="zh-CN" dirty="0"/>
              <a:t>5.11 </a:t>
            </a:r>
            <a:r>
              <a:rPr lang="zh-CN" altLang="zh-CN" dirty="0"/>
              <a:t>考察静态局部变量的值。</a:t>
            </a:r>
            <a:endParaRPr lang="en-US" altLang="zh-CN" dirty="0"/>
          </a:p>
          <a:p>
            <a:pPr eaLnBrk="1" hangingPunct="1">
              <a:buNone/>
            </a:pPr>
            <a:r>
              <a:rPr lang="en-US" altLang="zh-CN" sz="2100" dirty="0"/>
              <a:t>#include &lt;stdio.h&gt;</a:t>
            </a:r>
            <a:endParaRPr lang="zh-CN" altLang="zh-CN" sz="2100" dirty="0"/>
          </a:p>
          <a:p>
            <a:pPr eaLnBrk="1" hangingPunct="1">
              <a:buNone/>
            </a:pPr>
            <a:r>
              <a:rPr lang="en-US" altLang="zh-CN" sz="2100" dirty="0"/>
              <a:t>int main()</a:t>
            </a:r>
            <a:endParaRPr lang="zh-CN" altLang="zh-CN" sz="2100" dirty="0"/>
          </a:p>
          <a:p>
            <a:pPr eaLnBrk="1" hangingPunct="1">
              <a:buNone/>
            </a:pPr>
            <a:r>
              <a:rPr lang="en-US" altLang="zh-CN" sz="2100" dirty="0"/>
              <a:t>{ int f(int);           </a:t>
            </a:r>
            <a:endParaRPr lang="zh-CN" altLang="zh-CN" sz="2100" dirty="0"/>
          </a:p>
          <a:p>
            <a:pPr eaLnBrk="1" hangingPunct="1">
              <a:buNone/>
            </a:pPr>
            <a:r>
              <a:rPr lang="en-US" altLang="zh-CN" sz="2100" dirty="0"/>
              <a:t>   int a=2,i;            </a:t>
            </a:r>
            <a:endParaRPr lang="zh-CN" altLang="zh-CN" sz="2100" dirty="0"/>
          </a:p>
          <a:p>
            <a:pPr eaLnBrk="1" hangingPunct="1">
              <a:buNone/>
            </a:pPr>
            <a:r>
              <a:rPr lang="en-US" altLang="zh-CN" sz="2100" dirty="0"/>
              <a:t>   for(i=0;i&lt;3;i++)</a:t>
            </a:r>
            <a:endParaRPr lang="zh-CN" altLang="zh-CN" sz="2100" dirty="0"/>
          </a:p>
          <a:p>
            <a:pPr eaLnBrk="1" hangingPunct="1">
              <a:buNone/>
            </a:pPr>
            <a:r>
              <a:rPr lang="en-US" altLang="zh-CN" sz="2100" dirty="0"/>
              <a:t>     printf(“%d\n”,f(a));</a:t>
            </a:r>
            <a:endParaRPr lang="zh-CN" altLang="zh-CN" sz="2100" dirty="0"/>
          </a:p>
          <a:p>
            <a:pPr eaLnBrk="1" hangingPunct="1">
              <a:buNone/>
            </a:pPr>
            <a:r>
              <a:rPr lang="en-US" altLang="zh-CN" sz="2100" dirty="0"/>
              <a:t>   return 0;</a:t>
            </a:r>
            <a:endParaRPr lang="zh-CN" altLang="zh-CN" sz="2100" dirty="0"/>
          </a:p>
          <a:p>
            <a:pPr eaLnBrk="1" hangingPunct="1">
              <a:buNone/>
            </a:pPr>
            <a:r>
              <a:rPr lang="en-US" altLang="zh-CN" sz="2100" dirty="0"/>
              <a:t>}</a:t>
            </a:r>
            <a:endParaRPr lang="zh-CN" altLang="zh-CN" sz="2100" dirty="0"/>
          </a:p>
          <a:p>
            <a:pPr eaLnBrk="1" hangingPunct="1">
              <a:buNone/>
            </a:pPr>
            <a:endParaRPr lang="zh-CN" altLang="en-US" dirty="0"/>
          </a:p>
        </p:txBody>
      </p:sp>
      <p:sp>
        <p:nvSpPr>
          <p:cNvPr id="4" name="内容占位符 2"/>
          <p:cNvSpPr txBox="1"/>
          <p:nvPr/>
        </p:nvSpPr>
        <p:spPr bwMode="auto">
          <a:xfrm>
            <a:off x="5054204" y="1178719"/>
            <a:ext cx="2946797" cy="2518172"/>
          </a:xfrm>
          <a:prstGeom prst="rect">
            <a:avLst/>
          </a:prstGeom>
          <a:solidFill>
            <a:srgbClr val="E1FFE1"/>
          </a:solidFill>
          <a:ln w="9525">
            <a:noFill/>
            <a:miter lim="800000"/>
          </a:ln>
        </p:spPr>
        <p:txBody>
          <a:bodyPr/>
          <a:lstStyle/>
          <a:p>
            <a:pPr marR="0" defTabSz="914400">
              <a:buClrTx/>
              <a:buSzTx/>
              <a:buFontTx/>
              <a:defRPr/>
            </a:pP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f(</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a)</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auto</a:t>
            </a: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b=0;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static</a:t>
            </a:r>
            <a:r>
              <a:rPr kumimoji="0" lang="en-US" altLang="zh-CN" sz="2100" b="1" kern="1200" cap="none" spc="0" normalizeH="0" baseline="0" noProof="0" dirty="0">
                <a:latin typeface="+mn-lt"/>
                <a:ea typeface="+mn-ea"/>
                <a:cs typeface="+mn-cs"/>
              </a:rPr>
              <a:t> c=3;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b=b+1;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c=c+1;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return(</a:t>
            </a:r>
            <a:r>
              <a:rPr kumimoji="0" lang="en-US" altLang="zh-CN" sz="2100" b="1" kern="1200" cap="none" spc="0" normalizeH="0" baseline="0" noProof="0" dirty="0" err="1">
                <a:latin typeface="+mn-lt"/>
                <a:ea typeface="+mn-ea"/>
                <a:cs typeface="+mn-cs"/>
              </a:rPr>
              <a:t>a+b+c</a:t>
            </a: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L="342900" marR="0" indent="-342900" defTabSz="914400" eaLnBrk="0" hangingPunct="0">
              <a:spcBef>
                <a:spcPct val="20000"/>
              </a:spcBef>
              <a:buClrTx/>
              <a:buSzTx/>
              <a:buFont typeface="Wingdings" panose="05000000000000000000" pitchFamily="2" charset="2"/>
              <a:defRPr/>
            </a:pPr>
            <a:endParaRPr kumimoji="0" lang="zh-CN" altLang="zh-CN" sz="2100" b="1" kern="0" cap="none" spc="0" normalizeH="0" baseline="0" noProof="0" dirty="0">
              <a:latin typeface="+mn-lt"/>
              <a:ea typeface="+mn-ea"/>
              <a:cs typeface="+mn-cs"/>
            </a:endParaRPr>
          </a:p>
          <a:p>
            <a:pPr marL="342900" marR="0" indent="-342900" defTabSz="914400" eaLnBrk="0" hangingPunct="0">
              <a:lnSpc>
                <a:spcPct val="120000"/>
              </a:lnSpc>
              <a:spcBef>
                <a:spcPct val="20000"/>
              </a:spcBef>
              <a:buClrTx/>
              <a:buSzTx/>
              <a:buFont typeface="Wingdings" panose="05000000000000000000" pitchFamily="2" charset="2"/>
              <a:defRPr/>
            </a:pPr>
            <a:endParaRPr kumimoji="0" lang="zh-CN" altLang="en-US" sz="2400" b="1" kern="0" cap="none" spc="0" normalizeH="0" baseline="0" noProof="0" dirty="0">
              <a:latin typeface="+mn-lt"/>
              <a:ea typeface="+mn-ea"/>
              <a:cs typeface="+mn-cs"/>
            </a:endParaRPr>
          </a:p>
        </p:txBody>
      </p:sp>
      <p:sp>
        <p:nvSpPr>
          <p:cNvPr id="75779" name="矩形 6"/>
          <p:cNvSpPr/>
          <p:nvPr/>
        </p:nvSpPr>
        <p:spPr>
          <a:xfrm>
            <a:off x="3500438"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latin typeface="Arial" panose="020B0604020202090204" pitchFamily="34" charset="0"/>
              </a:rPr>
              <a:t>0</a:t>
            </a:r>
            <a:endParaRPr lang="zh-CN" altLang="en-US" sz="2400" dirty="0">
              <a:latin typeface="Arial" panose="020B0604020202090204" pitchFamily="34" charset="0"/>
            </a:endParaRPr>
          </a:p>
        </p:txBody>
      </p:sp>
      <p:sp>
        <p:nvSpPr>
          <p:cNvPr id="75780" name="矩形 7"/>
          <p:cNvSpPr/>
          <p:nvPr/>
        </p:nvSpPr>
        <p:spPr>
          <a:xfrm>
            <a:off x="4464844"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latin typeface="Arial" panose="020B0604020202090204" pitchFamily="34" charset="0"/>
              </a:rPr>
              <a:t>3</a:t>
            </a:r>
            <a:endParaRPr lang="zh-CN" altLang="en-US" sz="2400" dirty="0">
              <a:latin typeface="Arial" panose="020B0604020202090204" pitchFamily="34" charset="0"/>
            </a:endParaRPr>
          </a:p>
        </p:txBody>
      </p:sp>
      <p:sp>
        <p:nvSpPr>
          <p:cNvPr id="75781" name="TextBox 8"/>
          <p:cNvSpPr txBox="1"/>
          <p:nvPr/>
        </p:nvSpPr>
        <p:spPr>
          <a:xfrm>
            <a:off x="3607594" y="3857625"/>
            <a:ext cx="321469"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b</a:t>
            </a:r>
            <a:endParaRPr lang="zh-CN" altLang="en-US" sz="2400" b="1" dirty="0">
              <a:latin typeface="Arial" panose="020B0604020202090204" pitchFamily="34" charset="0"/>
            </a:endParaRPr>
          </a:p>
        </p:txBody>
      </p:sp>
      <p:sp>
        <p:nvSpPr>
          <p:cNvPr id="75782" name="TextBox 9"/>
          <p:cNvSpPr txBox="1"/>
          <p:nvPr/>
        </p:nvSpPr>
        <p:spPr>
          <a:xfrm>
            <a:off x="4572000" y="3857625"/>
            <a:ext cx="321469"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c</a:t>
            </a:r>
            <a:endParaRPr lang="zh-CN" altLang="en-US" sz="2400" b="1" dirty="0">
              <a:latin typeface="Arial" panose="020B0604020202090204" pitchFamily="34" charset="0"/>
            </a:endParaRPr>
          </a:p>
        </p:txBody>
      </p:sp>
      <p:sp>
        <p:nvSpPr>
          <p:cNvPr id="11" name="圆角矩形标注 10"/>
          <p:cNvSpPr/>
          <p:nvPr/>
        </p:nvSpPr>
        <p:spPr>
          <a:xfrm>
            <a:off x="5543550" y="3921919"/>
            <a:ext cx="2350294" cy="535781"/>
          </a:xfrm>
          <a:prstGeom prst="wedgeRoundRectCallout">
            <a:avLst>
              <a:gd name="adj1" fmla="val 13222"/>
              <a:gd name="adj2" fmla="val -155111"/>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第一次调用期间</a:t>
            </a:r>
          </a:p>
        </p:txBody>
      </p:sp>
      <p:sp>
        <p:nvSpPr>
          <p:cNvPr id="12" name="矩形 11"/>
          <p:cNvSpPr/>
          <p:nvPr/>
        </p:nvSpPr>
        <p:spPr>
          <a:xfrm>
            <a:off x="3500438"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solidFill>
                  <a:srgbClr val="FF0000"/>
                </a:solidFill>
                <a:latin typeface="Arial" panose="020B0604020202090204" pitchFamily="34" charset="0"/>
              </a:rPr>
              <a:t>1</a:t>
            </a:r>
            <a:endParaRPr lang="zh-CN" altLang="en-US" sz="2400" dirty="0">
              <a:solidFill>
                <a:srgbClr val="FF0000"/>
              </a:solidFill>
              <a:latin typeface="Arial" panose="020B0604020202090204" pitchFamily="34" charset="0"/>
            </a:endParaRPr>
          </a:p>
        </p:txBody>
      </p:sp>
      <p:sp>
        <p:nvSpPr>
          <p:cNvPr id="13" name="矩形 12"/>
          <p:cNvSpPr/>
          <p:nvPr/>
        </p:nvSpPr>
        <p:spPr>
          <a:xfrm>
            <a:off x="4464844"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solidFill>
                  <a:srgbClr val="FF0000"/>
                </a:solidFill>
                <a:latin typeface="Arial" panose="020B0604020202090204" pitchFamily="34" charset="0"/>
              </a:rPr>
              <a:t>4</a:t>
            </a:r>
            <a:endParaRPr lang="zh-CN" altLang="en-US" sz="2400" dirty="0">
              <a:solidFill>
                <a:srgbClr val="FF0000"/>
              </a:solidFill>
              <a:latin typeface="Arial" panose="020B060402020209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par>
                          <p:cTn id="13" fill="hold">
                            <p:stCondLst>
                              <p:cond delay="500"/>
                            </p:stCondLst>
                            <p:childTnLst>
                              <p:par>
                                <p:cTn id="14" presetID="49" presetClass="entr" presetSubtype="0" decel="100000"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fltVal val="0"/>
                                          </p:val>
                                        </p:tav>
                                        <p:tav tm="100000">
                                          <p:val>
                                            <p:strVal val="#ppt_w"/>
                                          </p:val>
                                        </p:tav>
                                      </p:tavLst>
                                    </p:anim>
                                    <p:anim calcmode="lin" valueType="num">
                                      <p:cBhvr>
                                        <p:cTn id="17" dur="500" fill="hold"/>
                                        <p:tgtEl>
                                          <p:spTgt spid="13"/>
                                        </p:tgtEl>
                                        <p:attrNameLst>
                                          <p:attrName>ppt_h</p:attrName>
                                        </p:attrNameLst>
                                      </p:cBhvr>
                                      <p:tavLst>
                                        <p:tav tm="0">
                                          <p:val>
                                            <p:fltVal val="0"/>
                                          </p:val>
                                        </p:tav>
                                        <p:tav tm="100000">
                                          <p:val>
                                            <p:strVal val="#ppt_h"/>
                                          </p:val>
                                        </p:tav>
                                      </p:tavLst>
                                    </p:anim>
                                    <p:anim calcmode="lin" valueType="num">
                                      <p:cBhvr>
                                        <p:cTn id="18" dur="500" fill="hold"/>
                                        <p:tgtEl>
                                          <p:spTgt spid="13"/>
                                        </p:tgtEl>
                                        <p:attrNameLst>
                                          <p:attrName>style.rotation</p:attrName>
                                        </p:attrNameLst>
                                      </p:cBhvr>
                                      <p:tavLst>
                                        <p:tav tm="0">
                                          <p:val>
                                            <p:fltVal val="360"/>
                                          </p:val>
                                        </p:tav>
                                        <p:tav tm="100000">
                                          <p:val>
                                            <p:fltVal val="0"/>
                                          </p:val>
                                        </p:tav>
                                      </p:tavLst>
                                    </p:anim>
                                    <p:animEffect transition="in" filter="fade">
                                      <p:cBhvr>
                                        <p:cTn id="1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bldLvl="0" animBg="1"/>
      <p:bldP spid="13" grpId="0" bldLvl="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内容占位符 2"/>
          <p:cNvSpPr>
            <a:spLocks noGrp="1"/>
          </p:cNvSpPr>
          <p:nvPr>
            <p:ph idx="1" hasCustomPrompt="1"/>
          </p:nvPr>
        </p:nvSpPr>
        <p:spPr>
          <a:xfrm>
            <a:off x="1303735" y="642938"/>
            <a:ext cx="5250656" cy="3643313"/>
          </a:xfrm>
        </p:spPr>
        <p:txBody>
          <a:bodyPr vert="horz" wrap="square" lIns="68580" tIns="34290" rIns="68580" bIns="34290" anchor="t" anchorCtr="0"/>
          <a:lstStyle/>
          <a:p>
            <a:pPr eaLnBrk="1" hangingPunct="1">
              <a:buNone/>
            </a:pPr>
            <a:r>
              <a:rPr lang="en-US" altLang="zh-CN" dirty="0"/>
              <a:t>    </a:t>
            </a:r>
            <a:r>
              <a:rPr lang="zh-CN" altLang="zh-CN" dirty="0"/>
              <a:t>例</a:t>
            </a:r>
            <a:r>
              <a:rPr lang="en-US" altLang="zh-CN" dirty="0"/>
              <a:t>5.11 </a:t>
            </a:r>
            <a:r>
              <a:rPr lang="zh-CN" altLang="zh-CN" dirty="0"/>
              <a:t>考察静态局部变量的值。</a:t>
            </a:r>
            <a:endParaRPr lang="en-US" altLang="zh-CN" dirty="0"/>
          </a:p>
          <a:p>
            <a:pPr eaLnBrk="1" hangingPunct="1">
              <a:buNone/>
            </a:pPr>
            <a:r>
              <a:rPr lang="en-US" altLang="zh-CN" sz="2100" dirty="0"/>
              <a:t>#include &lt;stdio.h&gt;</a:t>
            </a:r>
            <a:endParaRPr lang="zh-CN" altLang="zh-CN" sz="2100" dirty="0"/>
          </a:p>
          <a:p>
            <a:pPr eaLnBrk="1" hangingPunct="1">
              <a:buNone/>
            </a:pPr>
            <a:r>
              <a:rPr lang="en-US" altLang="zh-CN" sz="2100" dirty="0"/>
              <a:t>int main()</a:t>
            </a:r>
            <a:endParaRPr lang="zh-CN" altLang="zh-CN" sz="2100" dirty="0"/>
          </a:p>
          <a:p>
            <a:pPr eaLnBrk="1" hangingPunct="1">
              <a:buNone/>
            </a:pPr>
            <a:r>
              <a:rPr lang="en-US" altLang="zh-CN" sz="2100" dirty="0"/>
              <a:t>{ int f(int);           </a:t>
            </a:r>
            <a:endParaRPr lang="zh-CN" altLang="zh-CN" sz="2100" dirty="0"/>
          </a:p>
          <a:p>
            <a:pPr eaLnBrk="1" hangingPunct="1">
              <a:buNone/>
            </a:pPr>
            <a:r>
              <a:rPr lang="en-US" altLang="zh-CN" sz="2100" dirty="0"/>
              <a:t>   int a=2,i;            </a:t>
            </a:r>
            <a:endParaRPr lang="zh-CN" altLang="zh-CN" sz="2100" dirty="0"/>
          </a:p>
          <a:p>
            <a:pPr eaLnBrk="1" hangingPunct="1">
              <a:buNone/>
            </a:pPr>
            <a:r>
              <a:rPr lang="en-US" altLang="zh-CN" sz="2100" dirty="0"/>
              <a:t>   for(i=0;i&lt;3;i++)</a:t>
            </a:r>
            <a:endParaRPr lang="zh-CN" altLang="zh-CN" sz="2100" dirty="0"/>
          </a:p>
          <a:p>
            <a:pPr eaLnBrk="1" hangingPunct="1">
              <a:buNone/>
            </a:pPr>
            <a:r>
              <a:rPr lang="en-US" altLang="zh-CN" sz="2100" dirty="0"/>
              <a:t>     printf(“%d\n”,f(a));</a:t>
            </a:r>
            <a:endParaRPr lang="zh-CN" altLang="zh-CN" sz="2100" dirty="0"/>
          </a:p>
          <a:p>
            <a:pPr eaLnBrk="1" hangingPunct="1">
              <a:buNone/>
            </a:pPr>
            <a:r>
              <a:rPr lang="en-US" altLang="zh-CN" sz="2100" dirty="0"/>
              <a:t>   return 0;</a:t>
            </a:r>
            <a:endParaRPr lang="zh-CN" altLang="zh-CN" sz="2100" dirty="0"/>
          </a:p>
          <a:p>
            <a:pPr eaLnBrk="1" hangingPunct="1">
              <a:buNone/>
            </a:pPr>
            <a:r>
              <a:rPr lang="en-US" altLang="zh-CN" sz="2100" dirty="0"/>
              <a:t>}</a:t>
            </a:r>
            <a:endParaRPr lang="zh-CN" altLang="zh-CN" sz="2100" dirty="0"/>
          </a:p>
          <a:p>
            <a:pPr eaLnBrk="1" hangingPunct="1">
              <a:buNone/>
            </a:pPr>
            <a:endParaRPr lang="zh-CN" altLang="en-US" dirty="0"/>
          </a:p>
        </p:txBody>
      </p:sp>
      <p:sp>
        <p:nvSpPr>
          <p:cNvPr id="4" name="内容占位符 2"/>
          <p:cNvSpPr txBox="1"/>
          <p:nvPr/>
        </p:nvSpPr>
        <p:spPr bwMode="auto">
          <a:xfrm>
            <a:off x="5054204" y="1178719"/>
            <a:ext cx="2946797" cy="2518172"/>
          </a:xfrm>
          <a:prstGeom prst="rect">
            <a:avLst/>
          </a:prstGeom>
          <a:solidFill>
            <a:srgbClr val="E1FFE1"/>
          </a:solidFill>
          <a:ln w="9525">
            <a:noFill/>
            <a:miter lim="800000"/>
          </a:ln>
        </p:spPr>
        <p:txBody>
          <a:bodyPr/>
          <a:lstStyle/>
          <a:p>
            <a:pPr marR="0" defTabSz="914400">
              <a:buClrTx/>
              <a:buSzTx/>
              <a:buFontTx/>
              <a:defRPr/>
            </a:pP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f(</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a)</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auto</a:t>
            </a: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b=0;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static</a:t>
            </a:r>
            <a:r>
              <a:rPr kumimoji="0" lang="en-US" altLang="zh-CN" sz="2100" b="1" kern="1200" cap="none" spc="0" normalizeH="0" baseline="0" noProof="0" dirty="0">
                <a:latin typeface="+mn-lt"/>
                <a:ea typeface="+mn-ea"/>
                <a:cs typeface="+mn-cs"/>
              </a:rPr>
              <a:t> c=3;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b=b+1;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c=c+1;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return(</a:t>
            </a:r>
            <a:r>
              <a:rPr kumimoji="0" lang="en-US" altLang="zh-CN" sz="2100" b="1" kern="1200" cap="none" spc="0" normalizeH="0" baseline="0" noProof="0" dirty="0" err="1">
                <a:latin typeface="+mn-lt"/>
                <a:ea typeface="+mn-ea"/>
                <a:cs typeface="+mn-cs"/>
              </a:rPr>
              <a:t>a+b+c</a:t>
            </a: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L="342900" marR="0" indent="-342900" defTabSz="914400" eaLnBrk="0" hangingPunct="0">
              <a:spcBef>
                <a:spcPct val="20000"/>
              </a:spcBef>
              <a:buClrTx/>
              <a:buSzTx/>
              <a:buFont typeface="Wingdings" panose="05000000000000000000" pitchFamily="2" charset="2"/>
              <a:defRPr/>
            </a:pPr>
            <a:endParaRPr kumimoji="0" lang="zh-CN" altLang="zh-CN" sz="2100" b="1" kern="0" cap="none" spc="0" normalizeH="0" baseline="0" noProof="0" dirty="0">
              <a:latin typeface="+mn-lt"/>
              <a:ea typeface="+mn-ea"/>
              <a:cs typeface="+mn-cs"/>
            </a:endParaRPr>
          </a:p>
          <a:p>
            <a:pPr marL="342900" marR="0" indent="-342900" defTabSz="914400" eaLnBrk="0" hangingPunct="0">
              <a:lnSpc>
                <a:spcPct val="120000"/>
              </a:lnSpc>
              <a:spcBef>
                <a:spcPct val="20000"/>
              </a:spcBef>
              <a:buClrTx/>
              <a:buSzTx/>
              <a:buFont typeface="Wingdings" panose="05000000000000000000" pitchFamily="2" charset="2"/>
              <a:defRPr/>
            </a:pPr>
            <a:endParaRPr kumimoji="0" lang="zh-CN" altLang="en-US" sz="2400" b="1" kern="0" cap="none" spc="0" normalizeH="0" baseline="0" noProof="0" dirty="0">
              <a:latin typeface="+mn-lt"/>
              <a:ea typeface="+mn-ea"/>
              <a:cs typeface="+mn-cs"/>
            </a:endParaRPr>
          </a:p>
        </p:txBody>
      </p:sp>
      <p:sp>
        <p:nvSpPr>
          <p:cNvPr id="76803" name="TextBox 8"/>
          <p:cNvSpPr txBox="1"/>
          <p:nvPr/>
        </p:nvSpPr>
        <p:spPr>
          <a:xfrm>
            <a:off x="3607594" y="3857625"/>
            <a:ext cx="321469"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b</a:t>
            </a:r>
            <a:endParaRPr lang="zh-CN" altLang="en-US" sz="2400" b="1" dirty="0">
              <a:latin typeface="Arial" panose="020B0604020202090204" pitchFamily="34" charset="0"/>
            </a:endParaRPr>
          </a:p>
        </p:txBody>
      </p:sp>
      <p:sp>
        <p:nvSpPr>
          <p:cNvPr id="76804" name="TextBox 9"/>
          <p:cNvSpPr txBox="1"/>
          <p:nvPr/>
        </p:nvSpPr>
        <p:spPr>
          <a:xfrm>
            <a:off x="4572000" y="3857625"/>
            <a:ext cx="321469"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c</a:t>
            </a:r>
            <a:endParaRPr lang="zh-CN" altLang="en-US" sz="2400" b="1" dirty="0">
              <a:latin typeface="Arial" panose="020B0604020202090204" pitchFamily="34" charset="0"/>
            </a:endParaRPr>
          </a:p>
        </p:txBody>
      </p:sp>
      <p:sp>
        <p:nvSpPr>
          <p:cNvPr id="11" name="圆角矩形标注 10"/>
          <p:cNvSpPr/>
          <p:nvPr/>
        </p:nvSpPr>
        <p:spPr>
          <a:xfrm>
            <a:off x="5651897" y="3911204"/>
            <a:ext cx="2241947" cy="535781"/>
          </a:xfrm>
          <a:prstGeom prst="wedgeRoundRectCallout">
            <a:avLst>
              <a:gd name="adj1" fmla="val 11444"/>
              <a:gd name="adj2" fmla="val -155111"/>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第一次调用结束</a:t>
            </a:r>
          </a:p>
        </p:txBody>
      </p:sp>
      <p:sp>
        <p:nvSpPr>
          <p:cNvPr id="76806" name="矩形 11"/>
          <p:cNvSpPr/>
          <p:nvPr/>
        </p:nvSpPr>
        <p:spPr>
          <a:xfrm>
            <a:off x="3500438"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solidFill>
                  <a:srgbClr val="FF0000"/>
                </a:solidFill>
                <a:latin typeface="Arial" panose="020B0604020202090204" pitchFamily="34" charset="0"/>
              </a:rPr>
              <a:t>1</a:t>
            </a:r>
            <a:endParaRPr lang="zh-CN" altLang="en-US" sz="2400" dirty="0">
              <a:solidFill>
                <a:srgbClr val="FF0000"/>
              </a:solidFill>
              <a:latin typeface="Arial" panose="020B0604020202090204" pitchFamily="34" charset="0"/>
            </a:endParaRPr>
          </a:p>
        </p:txBody>
      </p:sp>
      <p:sp>
        <p:nvSpPr>
          <p:cNvPr id="76807" name="矩形 12"/>
          <p:cNvSpPr/>
          <p:nvPr/>
        </p:nvSpPr>
        <p:spPr>
          <a:xfrm>
            <a:off x="4464844"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solidFill>
                  <a:srgbClr val="FF0000"/>
                </a:solidFill>
                <a:latin typeface="Arial" panose="020B0604020202090204" pitchFamily="34" charset="0"/>
              </a:rPr>
              <a:t>4</a:t>
            </a:r>
            <a:endParaRPr lang="zh-CN" altLang="en-US" sz="2400" dirty="0">
              <a:solidFill>
                <a:srgbClr val="FF0000"/>
              </a:solidFill>
              <a:latin typeface="Arial" panose="020B0604020202090204" pitchFamily="34" charset="0"/>
            </a:endParaRPr>
          </a:p>
        </p:txBody>
      </p:sp>
      <p:sp>
        <p:nvSpPr>
          <p:cNvPr id="14" name="矩形 13"/>
          <p:cNvSpPr/>
          <p:nvPr/>
        </p:nvSpPr>
        <p:spPr>
          <a:xfrm>
            <a:off x="3232547" y="3911204"/>
            <a:ext cx="1017984" cy="910828"/>
          </a:xfrm>
          <a:prstGeom prst="rect">
            <a:avLst/>
          </a:prstGeom>
          <a:solidFill>
            <a:schemeClr val="accent1"/>
          </a:solidFill>
          <a:ln w="9525">
            <a:noFill/>
          </a:ln>
        </p:spPr>
        <p:txBody>
          <a:bodyPr wrap="none" anchor="t" anchorCtr="0"/>
          <a:lstStyle/>
          <a:p>
            <a:pPr>
              <a:buSzTx/>
            </a:pPr>
            <a:endParaRPr lang="zh-CN" altLang="en-US" sz="3000" dirty="0">
              <a:latin typeface="Arial" panose="020B0604020202090204" pitchFamily="34" charset="0"/>
            </a:endParaRPr>
          </a:p>
        </p:txBody>
      </p:sp>
      <p:sp>
        <p:nvSpPr>
          <p:cNvPr id="15" name="圆角矩形标注 14"/>
          <p:cNvSpPr/>
          <p:nvPr/>
        </p:nvSpPr>
        <p:spPr>
          <a:xfrm>
            <a:off x="4196954" y="2357438"/>
            <a:ext cx="482203" cy="375047"/>
          </a:xfrm>
          <a:prstGeom prst="wedgeRoundRectCallout">
            <a:avLst>
              <a:gd name="adj1" fmla="val 6394"/>
              <a:gd name="adj2" fmla="val 146694"/>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a:buSzTx/>
            </a:pPr>
            <a:r>
              <a:rPr lang="en-US" altLang="zh-CN" sz="2100" b="1" dirty="0">
                <a:solidFill>
                  <a:srgbClr val="0000CC"/>
                </a:solidFill>
                <a:latin typeface="Arial" panose="020B0604020202090204" pitchFamily="34" charset="0"/>
              </a:rPr>
              <a:t>7</a:t>
            </a:r>
            <a:endParaRPr lang="zh-CN" altLang="en-US" sz="2100" b="1" dirty="0">
              <a:solidFill>
                <a:srgbClr val="0000CC"/>
              </a:solidFill>
              <a:latin typeface="Arial" panose="020B060402020209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slide(fromTop)">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4" grpId="0" bldLvl="0" animBg="1"/>
      <p:bldP spid="15" grpId="0" bldLvl="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内容占位符 2"/>
          <p:cNvSpPr>
            <a:spLocks noGrp="1"/>
          </p:cNvSpPr>
          <p:nvPr>
            <p:ph idx="1" hasCustomPrompt="1"/>
          </p:nvPr>
        </p:nvSpPr>
        <p:spPr>
          <a:xfrm>
            <a:off x="1303735" y="642938"/>
            <a:ext cx="5250656" cy="3643313"/>
          </a:xfrm>
        </p:spPr>
        <p:txBody>
          <a:bodyPr vert="horz" wrap="square" lIns="68580" tIns="34290" rIns="68580" bIns="34290" anchor="t" anchorCtr="0"/>
          <a:lstStyle/>
          <a:p>
            <a:pPr eaLnBrk="1" hangingPunct="1">
              <a:buNone/>
            </a:pPr>
            <a:r>
              <a:rPr lang="en-US" altLang="zh-CN" dirty="0"/>
              <a:t>    </a:t>
            </a:r>
            <a:r>
              <a:rPr lang="zh-CN" altLang="zh-CN" dirty="0"/>
              <a:t>例</a:t>
            </a:r>
            <a:r>
              <a:rPr lang="en-US" altLang="zh-CN" dirty="0"/>
              <a:t>5.11 </a:t>
            </a:r>
            <a:r>
              <a:rPr lang="zh-CN" altLang="zh-CN" dirty="0"/>
              <a:t>考察静态局部变量的值。</a:t>
            </a:r>
            <a:endParaRPr lang="en-US" altLang="zh-CN" dirty="0"/>
          </a:p>
          <a:p>
            <a:pPr eaLnBrk="1" hangingPunct="1">
              <a:buNone/>
            </a:pPr>
            <a:r>
              <a:rPr lang="en-US" altLang="zh-CN" sz="2100" dirty="0"/>
              <a:t>#include &lt;stdio.h&gt;</a:t>
            </a:r>
            <a:endParaRPr lang="zh-CN" altLang="zh-CN" sz="2100" dirty="0"/>
          </a:p>
          <a:p>
            <a:pPr eaLnBrk="1" hangingPunct="1">
              <a:buNone/>
            </a:pPr>
            <a:r>
              <a:rPr lang="en-US" altLang="zh-CN" sz="2100" dirty="0"/>
              <a:t>int main()</a:t>
            </a:r>
            <a:endParaRPr lang="zh-CN" altLang="zh-CN" sz="2100" dirty="0"/>
          </a:p>
          <a:p>
            <a:pPr eaLnBrk="1" hangingPunct="1">
              <a:buNone/>
            </a:pPr>
            <a:r>
              <a:rPr lang="en-US" altLang="zh-CN" sz="2100" dirty="0"/>
              <a:t>{ int f(int);           </a:t>
            </a:r>
            <a:endParaRPr lang="zh-CN" altLang="zh-CN" sz="2100" dirty="0"/>
          </a:p>
          <a:p>
            <a:pPr eaLnBrk="1" hangingPunct="1">
              <a:buNone/>
            </a:pPr>
            <a:r>
              <a:rPr lang="en-US" altLang="zh-CN" sz="2100" dirty="0"/>
              <a:t>   int a=2,i;            </a:t>
            </a:r>
            <a:endParaRPr lang="zh-CN" altLang="zh-CN" sz="2100" dirty="0"/>
          </a:p>
          <a:p>
            <a:pPr eaLnBrk="1" hangingPunct="1">
              <a:buNone/>
            </a:pPr>
            <a:r>
              <a:rPr lang="en-US" altLang="zh-CN" sz="2100" dirty="0"/>
              <a:t>   for(i=0;i&lt;3;i++)</a:t>
            </a:r>
            <a:endParaRPr lang="zh-CN" altLang="zh-CN" sz="2100" dirty="0"/>
          </a:p>
          <a:p>
            <a:pPr eaLnBrk="1" hangingPunct="1">
              <a:buNone/>
            </a:pPr>
            <a:r>
              <a:rPr lang="en-US" altLang="zh-CN" sz="2100" dirty="0"/>
              <a:t>     printf(“%d\n”,f(a));</a:t>
            </a:r>
            <a:endParaRPr lang="zh-CN" altLang="zh-CN" sz="2100" dirty="0"/>
          </a:p>
          <a:p>
            <a:pPr eaLnBrk="1" hangingPunct="1">
              <a:buNone/>
            </a:pPr>
            <a:r>
              <a:rPr lang="en-US" altLang="zh-CN" sz="2100" dirty="0"/>
              <a:t>   return 0;</a:t>
            </a:r>
            <a:endParaRPr lang="zh-CN" altLang="zh-CN" sz="2100" dirty="0"/>
          </a:p>
          <a:p>
            <a:pPr eaLnBrk="1" hangingPunct="1">
              <a:buNone/>
            </a:pPr>
            <a:r>
              <a:rPr lang="en-US" altLang="zh-CN" sz="2100" dirty="0"/>
              <a:t>}</a:t>
            </a:r>
            <a:endParaRPr lang="zh-CN" altLang="zh-CN" sz="2100" dirty="0"/>
          </a:p>
          <a:p>
            <a:pPr eaLnBrk="1" hangingPunct="1">
              <a:buNone/>
            </a:pPr>
            <a:endParaRPr lang="zh-CN" altLang="en-US" dirty="0"/>
          </a:p>
        </p:txBody>
      </p:sp>
      <p:sp>
        <p:nvSpPr>
          <p:cNvPr id="4" name="内容占位符 2"/>
          <p:cNvSpPr txBox="1"/>
          <p:nvPr/>
        </p:nvSpPr>
        <p:spPr bwMode="auto">
          <a:xfrm>
            <a:off x="5054204" y="1178719"/>
            <a:ext cx="2946797" cy="2518172"/>
          </a:xfrm>
          <a:prstGeom prst="rect">
            <a:avLst/>
          </a:prstGeom>
          <a:solidFill>
            <a:srgbClr val="E1FFE1"/>
          </a:solidFill>
          <a:ln w="9525">
            <a:noFill/>
            <a:miter lim="800000"/>
          </a:ln>
        </p:spPr>
        <p:txBody>
          <a:bodyPr/>
          <a:lstStyle/>
          <a:p>
            <a:pPr marR="0" defTabSz="914400">
              <a:buClrTx/>
              <a:buSzTx/>
              <a:buFontTx/>
              <a:defRPr/>
            </a:pP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f(</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a)</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auto</a:t>
            </a: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b=0;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static</a:t>
            </a:r>
            <a:r>
              <a:rPr kumimoji="0" lang="en-US" altLang="zh-CN" sz="2100" b="1" kern="1200" cap="none" spc="0" normalizeH="0" baseline="0" noProof="0" dirty="0">
                <a:latin typeface="+mn-lt"/>
                <a:ea typeface="+mn-ea"/>
                <a:cs typeface="+mn-cs"/>
              </a:rPr>
              <a:t> c=3;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b=b+1;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c=c+1;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return(</a:t>
            </a:r>
            <a:r>
              <a:rPr kumimoji="0" lang="en-US" altLang="zh-CN" sz="2100" b="1" kern="1200" cap="none" spc="0" normalizeH="0" baseline="0" noProof="0" dirty="0" err="1">
                <a:latin typeface="+mn-lt"/>
                <a:ea typeface="+mn-ea"/>
                <a:cs typeface="+mn-cs"/>
              </a:rPr>
              <a:t>a+b+c</a:t>
            </a: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L="342900" marR="0" indent="-342900" defTabSz="914400" eaLnBrk="0" hangingPunct="0">
              <a:spcBef>
                <a:spcPct val="20000"/>
              </a:spcBef>
              <a:buClrTx/>
              <a:buSzTx/>
              <a:buFont typeface="Wingdings" panose="05000000000000000000" pitchFamily="2" charset="2"/>
              <a:defRPr/>
            </a:pPr>
            <a:endParaRPr kumimoji="0" lang="zh-CN" altLang="zh-CN" sz="2100" b="1" kern="0" cap="none" spc="0" normalizeH="0" baseline="0" noProof="0" dirty="0">
              <a:latin typeface="+mn-lt"/>
              <a:ea typeface="+mn-ea"/>
              <a:cs typeface="+mn-cs"/>
            </a:endParaRPr>
          </a:p>
          <a:p>
            <a:pPr marL="342900" marR="0" indent="-342900" defTabSz="914400" eaLnBrk="0" hangingPunct="0">
              <a:lnSpc>
                <a:spcPct val="120000"/>
              </a:lnSpc>
              <a:spcBef>
                <a:spcPct val="20000"/>
              </a:spcBef>
              <a:buClrTx/>
              <a:buSzTx/>
              <a:buFont typeface="Wingdings" panose="05000000000000000000" pitchFamily="2" charset="2"/>
              <a:defRPr/>
            </a:pPr>
            <a:endParaRPr kumimoji="0" lang="zh-CN" altLang="en-US" sz="2400" b="1" kern="0" cap="none" spc="0" normalizeH="0" baseline="0" noProof="0" dirty="0">
              <a:latin typeface="+mn-lt"/>
              <a:ea typeface="+mn-ea"/>
              <a:cs typeface="+mn-cs"/>
            </a:endParaRPr>
          </a:p>
        </p:txBody>
      </p:sp>
      <p:sp>
        <p:nvSpPr>
          <p:cNvPr id="9" name="TextBox 8"/>
          <p:cNvSpPr txBox="1"/>
          <p:nvPr/>
        </p:nvSpPr>
        <p:spPr>
          <a:xfrm>
            <a:off x="3607594" y="3857625"/>
            <a:ext cx="321469"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b</a:t>
            </a:r>
            <a:endParaRPr lang="zh-CN" altLang="en-US" sz="2400" b="1" dirty="0">
              <a:latin typeface="Arial" panose="020B0604020202090204" pitchFamily="34" charset="0"/>
            </a:endParaRPr>
          </a:p>
        </p:txBody>
      </p:sp>
      <p:sp>
        <p:nvSpPr>
          <p:cNvPr id="77828" name="TextBox 9"/>
          <p:cNvSpPr txBox="1"/>
          <p:nvPr/>
        </p:nvSpPr>
        <p:spPr>
          <a:xfrm>
            <a:off x="4572000" y="3857625"/>
            <a:ext cx="321469"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c</a:t>
            </a:r>
            <a:endParaRPr lang="zh-CN" altLang="en-US" sz="2400" b="1" dirty="0">
              <a:latin typeface="Arial" panose="020B0604020202090204" pitchFamily="34" charset="0"/>
            </a:endParaRPr>
          </a:p>
        </p:txBody>
      </p:sp>
      <p:sp>
        <p:nvSpPr>
          <p:cNvPr id="11" name="圆角矩形标注 10"/>
          <p:cNvSpPr/>
          <p:nvPr/>
        </p:nvSpPr>
        <p:spPr>
          <a:xfrm>
            <a:off x="5651897" y="3911204"/>
            <a:ext cx="2241947" cy="535781"/>
          </a:xfrm>
          <a:prstGeom prst="wedgeRoundRectCallout">
            <a:avLst>
              <a:gd name="adj1" fmla="val 11444"/>
              <a:gd name="adj2" fmla="val -155111"/>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第二次调用开始</a:t>
            </a:r>
          </a:p>
        </p:txBody>
      </p:sp>
      <p:sp>
        <p:nvSpPr>
          <p:cNvPr id="12" name="矩形 11"/>
          <p:cNvSpPr/>
          <p:nvPr/>
        </p:nvSpPr>
        <p:spPr>
          <a:xfrm>
            <a:off x="3500438"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solidFill>
                  <a:srgbClr val="00B050"/>
                </a:solidFill>
                <a:latin typeface="Arial" panose="020B0604020202090204" pitchFamily="34" charset="0"/>
              </a:rPr>
              <a:t>0</a:t>
            </a:r>
            <a:endParaRPr lang="zh-CN" altLang="en-US" sz="2400" dirty="0">
              <a:solidFill>
                <a:srgbClr val="00B050"/>
              </a:solidFill>
              <a:latin typeface="Arial" panose="020B0604020202090204" pitchFamily="34" charset="0"/>
            </a:endParaRPr>
          </a:p>
        </p:txBody>
      </p:sp>
      <p:sp>
        <p:nvSpPr>
          <p:cNvPr id="77831" name="矩形 12"/>
          <p:cNvSpPr/>
          <p:nvPr/>
        </p:nvSpPr>
        <p:spPr>
          <a:xfrm>
            <a:off x="4464844"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solidFill>
                  <a:srgbClr val="FF0000"/>
                </a:solidFill>
                <a:latin typeface="Arial" panose="020B0604020202090204" pitchFamily="34" charset="0"/>
              </a:rPr>
              <a:t>4</a:t>
            </a:r>
            <a:endParaRPr lang="zh-CN" altLang="en-US" sz="2400" dirty="0">
              <a:solidFill>
                <a:srgbClr val="FF0000"/>
              </a:solidFill>
              <a:latin typeface="Arial" panose="020B060402020209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bldLvl="0" animBg="1"/>
      <p:bldP spid="12" grpId="0"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内容占位符 2"/>
          <p:cNvSpPr>
            <a:spLocks noGrp="1"/>
          </p:cNvSpPr>
          <p:nvPr>
            <p:ph idx="1" hasCustomPrompt="1"/>
          </p:nvPr>
        </p:nvSpPr>
        <p:spPr>
          <a:xfrm>
            <a:off x="1303735" y="642938"/>
            <a:ext cx="5250656" cy="3643313"/>
          </a:xfrm>
        </p:spPr>
        <p:txBody>
          <a:bodyPr vert="horz" wrap="square" lIns="68580" tIns="34290" rIns="68580" bIns="34290" anchor="t" anchorCtr="0"/>
          <a:lstStyle/>
          <a:p>
            <a:pPr eaLnBrk="1" hangingPunct="1">
              <a:buNone/>
            </a:pPr>
            <a:r>
              <a:rPr lang="en-US" altLang="zh-CN" dirty="0"/>
              <a:t>    </a:t>
            </a:r>
            <a:r>
              <a:rPr lang="zh-CN" altLang="zh-CN" dirty="0"/>
              <a:t>例</a:t>
            </a:r>
            <a:r>
              <a:rPr lang="en-US" altLang="zh-CN" dirty="0"/>
              <a:t>5.11 </a:t>
            </a:r>
            <a:r>
              <a:rPr lang="zh-CN" altLang="zh-CN" dirty="0"/>
              <a:t>考察静态局部变量的值。</a:t>
            </a:r>
            <a:endParaRPr lang="en-US" altLang="zh-CN" dirty="0"/>
          </a:p>
          <a:p>
            <a:pPr eaLnBrk="1" hangingPunct="1">
              <a:buNone/>
            </a:pPr>
            <a:r>
              <a:rPr lang="en-US" altLang="zh-CN" sz="2100" dirty="0"/>
              <a:t>#include &lt;stdio.h&gt;</a:t>
            </a:r>
            <a:endParaRPr lang="zh-CN" altLang="zh-CN" sz="2100" dirty="0"/>
          </a:p>
          <a:p>
            <a:pPr eaLnBrk="1" hangingPunct="1">
              <a:buNone/>
            </a:pPr>
            <a:r>
              <a:rPr lang="en-US" altLang="zh-CN" sz="2100" dirty="0"/>
              <a:t>int main()</a:t>
            </a:r>
            <a:endParaRPr lang="zh-CN" altLang="zh-CN" sz="2100" dirty="0"/>
          </a:p>
          <a:p>
            <a:pPr eaLnBrk="1" hangingPunct="1">
              <a:buNone/>
            </a:pPr>
            <a:r>
              <a:rPr lang="en-US" altLang="zh-CN" sz="2100" dirty="0"/>
              <a:t>{ int f(int);           </a:t>
            </a:r>
            <a:endParaRPr lang="zh-CN" altLang="zh-CN" sz="2100" dirty="0"/>
          </a:p>
          <a:p>
            <a:pPr eaLnBrk="1" hangingPunct="1">
              <a:buNone/>
            </a:pPr>
            <a:r>
              <a:rPr lang="en-US" altLang="zh-CN" sz="2100" dirty="0"/>
              <a:t>   int a=2,i;            </a:t>
            </a:r>
            <a:endParaRPr lang="zh-CN" altLang="zh-CN" sz="2100" dirty="0"/>
          </a:p>
          <a:p>
            <a:pPr eaLnBrk="1" hangingPunct="1">
              <a:buNone/>
            </a:pPr>
            <a:r>
              <a:rPr lang="en-US" altLang="zh-CN" sz="2100" dirty="0"/>
              <a:t>   for(i=0;i&lt;3;i++)</a:t>
            </a:r>
            <a:endParaRPr lang="zh-CN" altLang="zh-CN" sz="2100" dirty="0"/>
          </a:p>
          <a:p>
            <a:pPr eaLnBrk="1" hangingPunct="1">
              <a:buNone/>
            </a:pPr>
            <a:r>
              <a:rPr lang="en-US" altLang="zh-CN" sz="2100" dirty="0"/>
              <a:t>     printf(“%d\n”,f(a));</a:t>
            </a:r>
            <a:endParaRPr lang="zh-CN" altLang="zh-CN" sz="2100" dirty="0"/>
          </a:p>
          <a:p>
            <a:pPr eaLnBrk="1" hangingPunct="1">
              <a:buNone/>
            </a:pPr>
            <a:r>
              <a:rPr lang="en-US" altLang="zh-CN" sz="2100" dirty="0"/>
              <a:t>   return 0;</a:t>
            </a:r>
            <a:endParaRPr lang="zh-CN" altLang="zh-CN" sz="2100" dirty="0"/>
          </a:p>
          <a:p>
            <a:pPr eaLnBrk="1" hangingPunct="1">
              <a:buNone/>
            </a:pPr>
            <a:r>
              <a:rPr lang="en-US" altLang="zh-CN" sz="2100" dirty="0"/>
              <a:t>}</a:t>
            </a:r>
            <a:endParaRPr lang="zh-CN" altLang="zh-CN" sz="2100" dirty="0"/>
          </a:p>
          <a:p>
            <a:pPr eaLnBrk="1" hangingPunct="1">
              <a:buNone/>
            </a:pPr>
            <a:endParaRPr lang="zh-CN" altLang="en-US" dirty="0"/>
          </a:p>
        </p:txBody>
      </p:sp>
      <p:sp>
        <p:nvSpPr>
          <p:cNvPr id="4" name="内容占位符 2"/>
          <p:cNvSpPr txBox="1"/>
          <p:nvPr/>
        </p:nvSpPr>
        <p:spPr bwMode="auto">
          <a:xfrm>
            <a:off x="5054204" y="1178719"/>
            <a:ext cx="2946797" cy="2518172"/>
          </a:xfrm>
          <a:prstGeom prst="rect">
            <a:avLst/>
          </a:prstGeom>
          <a:solidFill>
            <a:srgbClr val="E1FFE1"/>
          </a:solidFill>
          <a:ln w="9525">
            <a:noFill/>
            <a:miter lim="800000"/>
          </a:ln>
        </p:spPr>
        <p:txBody>
          <a:bodyPr/>
          <a:lstStyle/>
          <a:p>
            <a:pPr marR="0" defTabSz="914400">
              <a:buClrTx/>
              <a:buSzTx/>
              <a:buFontTx/>
              <a:defRPr/>
            </a:pP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f(</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a)</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auto</a:t>
            </a: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b=0;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static</a:t>
            </a:r>
            <a:r>
              <a:rPr kumimoji="0" lang="en-US" altLang="zh-CN" sz="2100" b="1" kern="1200" cap="none" spc="0" normalizeH="0" baseline="0" noProof="0" dirty="0">
                <a:latin typeface="+mn-lt"/>
                <a:ea typeface="+mn-ea"/>
                <a:cs typeface="+mn-cs"/>
              </a:rPr>
              <a:t> c=3;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b=b+1;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c=c+1;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return(</a:t>
            </a:r>
            <a:r>
              <a:rPr kumimoji="0" lang="en-US" altLang="zh-CN" sz="2100" b="1" kern="1200" cap="none" spc="0" normalizeH="0" baseline="0" noProof="0" dirty="0" err="1">
                <a:latin typeface="+mn-lt"/>
                <a:ea typeface="+mn-ea"/>
                <a:cs typeface="+mn-cs"/>
              </a:rPr>
              <a:t>a+b+c</a:t>
            </a: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L="342900" marR="0" indent="-342900" defTabSz="914400" eaLnBrk="0" hangingPunct="0">
              <a:spcBef>
                <a:spcPct val="20000"/>
              </a:spcBef>
              <a:buClrTx/>
              <a:buSzTx/>
              <a:buFont typeface="Wingdings" panose="05000000000000000000" pitchFamily="2" charset="2"/>
              <a:defRPr/>
            </a:pPr>
            <a:endParaRPr kumimoji="0" lang="zh-CN" altLang="zh-CN" sz="2100" b="1" kern="0" cap="none" spc="0" normalizeH="0" baseline="0" noProof="0" dirty="0">
              <a:latin typeface="+mn-lt"/>
              <a:ea typeface="+mn-ea"/>
              <a:cs typeface="+mn-cs"/>
            </a:endParaRPr>
          </a:p>
          <a:p>
            <a:pPr marL="342900" marR="0" indent="-342900" defTabSz="914400" eaLnBrk="0" hangingPunct="0">
              <a:lnSpc>
                <a:spcPct val="120000"/>
              </a:lnSpc>
              <a:spcBef>
                <a:spcPct val="20000"/>
              </a:spcBef>
              <a:buClrTx/>
              <a:buSzTx/>
              <a:buFont typeface="Wingdings" panose="05000000000000000000" pitchFamily="2" charset="2"/>
              <a:defRPr/>
            </a:pPr>
            <a:endParaRPr kumimoji="0" lang="zh-CN" altLang="en-US" sz="2400" b="1" kern="0" cap="none" spc="0" normalizeH="0" baseline="0" noProof="0" dirty="0">
              <a:latin typeface="+mn-lt"/>
              <a:ea typeface="+mn-ea"/>
              <a:cs typeface="+mn-cs"/>
            </a:endParaRPr>
          </a:p>
        </p:txBody>
      </p:sp>
      <p:sp>
        <p:nvSpPr>
          <p:cNvPr id="78851" name="TextBox 8"/>
          <p:cNvSpPr txBox="1"/>
          <p:nvPr/>
        </p:nvSpPr>
        <p:spPr>
          <a:xfrm>
            <a:off x="3607594" y="3857625"/>
            <a:ext cx="321469"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b</a:t>
            </a:r>
            <a:endParaRPr lang="zh-CN" altLang="en-US" sz="2400" b="1" dirty="0">
              <a:latin typeface="Arial" panose="020B0604020202090204" pitchFamily="34" charset="0"/>
            </a:endParaRPr>
          </a:p>
        </p:txBody>
      </p:sp>
      <p:sp>
        <p:nvSpPr>
          <p:cNvPr id="78852" name="TextBox 9"/>
          <p:cNvSpPr txBox="1"/>
          <p:nvPr/>
        </p:nvSpPr>
        <p:spPr>
          <a:xfrm>
            <a:off x="4572000" y="3857625"/>
            <a:ext cx="321469"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c</a:t>
            </a:r>
            <a:endParaRPr lang="zh-CN" altLang="en-US" sz="2400" b="1" dirty="0">
              <a:latin typeface="Arial" panose="020B0604020202090204" pitchFamily="34" charset="0"/>
            </a:endParaRPr>
          </a:p>
        </p:txBody>
      </p:sp>
      <p:sp>
        <p:nvSpPr>
          <p:cNvPr id="11" name="圆角矩形标注 10"/>
          <p:cNvSpPr/>
          <p:nvPr/>
        </p:nvSpPr>
        <p:spPr>
          <a:xfrm>
            <a:off x="5651897" y="3911204"/>
            <a:ext cx="2241947" cy="535781"/>
          </a:xfrm>
          <a:prstGeom prst="wedgeRoundRectCallout">
            <a:avLst>
              <a:gd name="adj1" fmla="val 11444"/>
              <a:gd name="adj2" fmla="val -155111"/>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第二次调用期间</a:t>
            </a:r>
          </a:p>
        </p:txBody>
      </p:sp>
      <p:sp>
        <p:nvSpPr>
          <p:cNvPr id="78854" name="矩形 11"/>
          <p:cNvSpPr/>
          <p:nvPr/>
        </p:nvSpPr>
        <p:spPr>
          <a:xfrm>
            <a:off x="3500438"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solidFill>
                  <a:srgbClr val="00B050"/>
                </a:solidFill>
                <a:latin typeface="Arial" panose="020B0604020202090204" pitchFamily="34" charset="0"/>
              </a:rPr>
              <a:t>0</a:t>
            </a:r>
            <a:endParaRPr lang="zh-CN" altLang="en-US" sz="2400" dirty="0">
              <a:solidFill>
                <a:srgbClr val="00B050"/>
              </a:solidFill>
              <a:latin typeface="Arial" panose="020B0604020202090204" pitchFamily="34" charset="0"/>
            </a:endParaRPr>
          </a:p>
        </p:txBody>
      </p:sp>
      <p:sp>
        <p:nvSpPr>
          <p:cNvPr id="78855" name="矩形 12"/>
          <p:cNvSpPr/>
          <p:nvPr/>
        </p:nvSpPr>
        <p:spPr>
          <a:xfrm>
            <a:off x="4464844"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solidFill>
                  <a:srgbClr val="FF0000"/>
                </a:solidFill>
                <a:latin typeface="Arial" panose="020B0604020202090204" pitchFamily="34" charset="0"/>
              </a:rPr>
              <a:t>4</a:t>
            </a:r>
            <a:endParaRPr lang="zh-CN" altLang="en-US" sz="2400" dirty="0">
              <a:solidFill>
                <a:srgbClr val="FF0000"/>
              </a:solidFill>
              <a:latin typeface="Arial" panose="020B0604020202090204" pitchFamily="34" charset="0"/>
            </a:endParaRPr>
          </a:p>
        </p:txBody>
      </p:sp>
      <p:sp>
        <p:nvSpPr>
          <p:cNvPr id="14" name="矩形 13"/>
          <p:cNvSpPr/>
          <p:nvPr/>
        </p:nvSpPr>
        <p:spPr>
          <a:xfrm>
            <a:off x="4464844"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solidFill>
                  <a:srgbClr val="FF0000"/>
                </a:solidFill>
                <a:latin typeface="Arial" panose="020B0604020202090204" pitchFamily="34" charset="0"/>
              </a:rPr>
              <a:t>5</a:t>
            </a:r>
            <a:endParaRPr lang="zh-CN" altLang="en-US" sz="2400" dirty="0">
              <a:solidFill>
                <a:srgbClr val="FF0000"/>
              </a:solidFill>
              <a:latin typeface="Arial" panose="020B0604020202090204" pitchFamily="34" charset="0"/>
            </a:endParaRPr>
          </a:p>
        </p:txBody>
      </p:sp>
      <p:sp>
        <p:nvSpPr>
          <p:cNvPr id="15" name="矩形 14"/>
          <p:cNvSpPr/>
          <p:nvPr/>
        </p:nvSpPr>
        <p:spPr>
          <a:xfrm>
            <a:off x="3500438"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solidFill>
                  <a:srgbClr val="FF0000"/>
                </a:solidFill>
                <a:latin typeface="Arial" panose="020B0604020202090204" pitchFamily="34" charset="0"/>
              </a:rPr>
              <a:t>1</a:t>
            </a:r>
            <a:endParaRPr lang="zh-CN" altLang="en-US" sz="2400" dirty="0">
              <a:solidFill>
                <a:srgbClr val="FF0000"/>
              </a:solidFill>
              <a:latin typeface="Arial" panose="020B060402020209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par>
                          <p:cTn id="13" fill="hold">
                            <p:stCondLst>
                              <p:cond delay="500"/>
                            </p:stCondLst>
                            <p:childTnLst>
                              <p:par>
                                <p:cTn id="14" presetID="49" presetClass="entr" presetSubtype="0" decel="100000" fill="hold" grpId="0" nodeType="after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p:cTn id="16" dur="500" fill="hold"/>
                                        <p:tgtEl>
                                          <p:spTgt spid="14"/>
                                        </p:tgtEl>
                                        <p:attrNameLst>
                                          <p:attrName>ppt_w</p:attrName>
                                        </p:attrNameLst>
                                      </p:cBhvr>
                                      <p:tavLst>
                                        <p:tav tm="0">
                                          <p:val>
                                            <p:fltVal val="0"/>
                                          </p:val>
                                        </p:tav>
                                        <p:tav tm="100000">
                                          <p:val>
                                            <p:strVal val="#ppt_w"/>
                                          </p:val>
                                        </p:tav>
                                      </p:tavLst>
                                    </p:anim>
                                    <p:anim calcmode="lin" valueType="num">
                                      <p:cBhvr>
                                        <p:cTn id="17" dur="500" fill="hold"/>
                                        <p:tgtEl>
                                          <p:spTgt spid="14"/>
                                        </p:tgtEl>
                                        <p:attrNameLst>
                                          <p:attrName>ppt_h</p:attrName>
                                        </p:attrNameLst>
                                      </p:cBhvr>
                                      <p:tavLst>
                                        <p:tav tm="0">
                                          <p:val>
                                            <p:fltVal val="0"/>
                                          </p:val>
                                        </p:tav>
                                        <p:tav tm="100000">
                                          <p:val>
                                            <p:strVal val="#ppt_h"/>
                                          </p:val>
                                        </p:tav>
                                      </p:tavLst>
                                    </p:anim>
                                    <p:anim calcmode="lin" valueType="num">
                                      <p:cBhvr>
                                        <p:cTn id="18" dur="500" fill="hold"/>
                                        <p:tgtEl>
                                          <p:spTgt spid="14"/>
                                        </p:tgtEl>
                                        <p:attrNameLst>
                                          <p:attrName>style.rotation</p:attrName>
                                        </p:attrNameLst>
                                      </p:cBhvr>
                                      <p:tavLst>
                                        <p:tav tm="0">
                                          <p:val>
                                            <p:fltVal val="360"/>
                                          </p:val>
                                        </p:tav>
                                        <p:tav tm="100000">
                                          <p:val>
                                            <p:fltVal val="0"/>
                                          </p:val>
                                        </p:tav>
                                      </p:tavLst>
                                    </p:anim>
                                    <p:animEffect transition="in" filter="fade">
                                      <p:cBhvr>
                                        <p:cTn id="1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4" grpId="0" bldLvl="0" animBg="1"/>
      <p:bldP spid="15" grpId="0" bldLvl="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内容占位符 2"/>
          <p:cNvSpPr>
            <a:spLocks noGrp="1"/>
          </p:cNvSpPr>
          <p:nvPr>
            <p:ph idx="1" hasCustomPrompt="1"/>
          </p:nvPr>
        </p:nvSpPr>
        <p:spPr>
          <a:xfrm>
            <a:off x="1303735" y="642938"/>
            <a:ext cx="5250656" cy="3643313"/>
          </a:xfrm>
        </p:spPr>
        <p:txBody>
          <a:bodyPr vert="horz" wrap="square" lIns="68580" tIns="34290" rIns="68580" bIns="34290" anchor="t" anchorCtr="0"/>
          <a:lstStyle/>
          <a:p>
            <a:pPr eaLnBrk="1" hangingPunct="1">
              <a:buNone/>
            </a:pPr>
            <a:r>
              <a:rPr lang="en-US" altLang="zh-CN" dirty="0"/>
              <a:t>    </a:t>
            </a:r>
            <a:r>
              <a:rPr lang="zh-CN" altLang="zh-CN" dirty="0"/>
              <a:t>例</a:t>
            </a:r>
            <a:r>
              <a:rPr lang="en-US" altLang="zh-CN" dirty="0"/>
              <a:t>5.11 </a:t>
            </a:r>
            <a:r>
              <a:rPr lang="zh-CN" altLang="zh-CN" dirty="0"/>
              <a:t>考察静态局部变量的值。</a:t>
            </a:r>
            <a:endParaRPr lang="en-US" altLang="zh-CN" dirty="0"/>
          </a:p>
          <a:p>
            <a:pPr eaLnBrk="1" hangingPunct="1">
              <a:buNone/>
            </a:pPr>
            <a:r>
              <a:rPr lang="en-US" altLang="zh-CN" sz="2100" dirty="0"/>
              <a:t>#include &lt;stdio.h&gt;</a:t>
            </a:r>
            <a:endParaRPr lang="zh-CN" altLang="zh-CN" sz="2100" dirty="0"/>
          </a:p>
          <a:p>
            <a:pPr eaLnBrk="1" hangingPunct="1">
              <a:buNone/>
            </a:pPr>
            <a:r>
              <a:rPr lang="en-US" altLang="zh-CN" sz="2100" dirty="0"/>
              <a:t>int main()</a:t>
            </a:r>
            <a:endParaRPr lang="zh-CN" altLang="zh-CN" sz="2100" dirty="0"/>
          </a:p>
          <a:p>
            <a:pPr eaLnBrk="1" hangingPunct="1">
              <a:buNone/>
            </a:pPr>
            <a:r>
              <a:rPr lang="en-US" altLang="zh-CN" sz="2100" dirty="0"/>
              <a:t>{ int f(int);           </a:t>
            </a:r>
            <a:endParaRPr lang="zh-CN" altLang="zh-CN" sz="2100" dirty="0"/>
          </a:p>
          <a:p>
            <a:pPr eaLnBrk="1" hangingPunct="1">
              <a:buNone/>
            </a:pPr>
            <a:r>
              <a:rPr lang="en-US" altLang="zh-CN" sz="2100" dirty="0"/>
              <a:t>   int a=2,i;            </a:t>
            </a:r>
            <a:endParaRPr lang="zh-CN" altLang="zh-CN" sz="2100" dirty="0"/>
          </a:p>
          <a:p>
            <a:pPr eaLnBrk="1" hangingPunct="1">
              <a:buNone/>
            </a:pPr>
            <a:r>
              <a:rPr lang="en-US" altLang="zh-CN" sz="2100" dirty="0"/>
              <a:t>   for(i=0;i&lt;3;i++)</a:t>
            </a:r>
            <a:endParaRPr lang="zh-CN" altLang="zh-CN" sz="2100" dirty="0"/>
          </a:p>
          <a:p>
            <a:pPr eaLnBrk="1" hangingPunct="1">
              <a:buNone/>
            </a:pPr>
            <a:r>
              <a:rPr lang="en-US" altLang="zh-CN" sz="2100" dirty="0"/>
              <a:t>     printf(“%d\n”,f(a));</a:t>
            </a:r>
            <a:endParaRPr lang="zh-CN" altLang="zh-CN" sz="2100" dirty="0"/>
          </a:p>
          <a:p>
            <a:pPr eaLnBrk="1" hangingPunct="1">
              <a:buNone/>
            </a:pPr>
            <a:r>
              <a:rPr lang="en-US" altLang="zh-CN" sz="2100" dirty="0"/>
              <a:t>   return 0;</a:t>
            </a:r>
            <a:endParaRPr lang="zh-CN" altLang="zh-CN" sz="2100" dirty="0"/>
          </a:p>
          <a:p>
            <a:pPr eaLnBrk="1" hangingPunct="1">
              <a:buNone/>
            </a:pPr>
            <a:r>
              <a:rPr lang="en-US" altLang="zh-CN" sz="2100" dirty="0"/>
              <a:t>}</a:t>
            </a:r>
            <a:endParaRPr lang="zh-CN" altLang="zh-CN" sz="2100" dirty="0"/>
          </a:p>
          <a:p>
            <a:pPr eaLnBrk="1" hangingPunct="1">
              <a:buNone/>
            </a:pPr>
            <a:endParaRPr lang="zh-CN" altLang="en-US" dirty="0"/>
          </a:p>
        </p:txBody>
      </p:sp>
      <p:sp>
        <p:nvSpPr>
          <p:cNvPr id="4" name="内容占位符 2"/>
          <p:cNvSpPr txBox="1"/>
          <p:nvPr/>
        </p:nvSpPr>
        <p:spPr bwMode="auto">
          <a:xfrm>
            <a:off x="5054204" y="1178719"/>
            <a:ext cx="2946797" cy="2518172"/>
          </a:xfrm>
          <a:prstGeom prst="rect">
            <a:avLst/>
          </a:prstGeom>
          <a:solidFill>
            <a:srgbClr val="E1FFE1"/>
          </a:solidFill>
          <a:ln w="9525">
            <a:noFill/>
            <a:miter lim="800000"/>
          </a:ln>
        </p:spPr>
        <p:txBody>
          <a:bodyPr/>
          <a:lstStyle/>
          <a:p>
            <a:pPr marR="0" defTabSz="914400">
              <a:buClrTx/>
              <a:buSzTx/>
              <a:buFontTx/>
              <a:defRPr/>
            </a:pP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f(</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a)</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auto</a:t>
            </a: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b=0;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static</a:t>
            </a:r>
            <a:r>
              <a:rPr kumimoji="0" lang="en-US" altLang="zh-CN" sz="2100" b="1" kern="1200" cap="none" spc="0" normalizeH="0" baseline="0" noProof="0" dirty="0">
                <a:latin typeface="+mn-lt"/>
                <a:ea typeface="+mn-ea"/>
                <a:cs typeface="+mn-cs"/>
              </a:rPr>
              <a:t> c=3;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b=b+1;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c=c+1;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return(</a:t>
            </a:r>
            <a:r>
              <a:rPr kumimoji="0" lang="en-US" altLang="zh-CN" sz="2100" b="1" kern="1200" cap="none" spc="0" normalizeH="0" baseline="0" noProof="0" dirty="0" err="1">
                <a:latin typeface="+mn-lt"/>
                <a:ea typeface="+mn-ea"/>
                <a:cs typeface="+mn-cs"/>
              </a:rPr>
              <a:t>a+b+c</a:t>
            </a: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L="342900" marR="0" indent="-342900" defTabSz="914400" eaLnBrk="0" hangingPunct="0">
              <a:spcBef>
                <a:spcPct val="20000"/>
              </a:spcBef>
              <a:buClrTx/>
              <a:buSzTx/>
              <a:buFont typeface="Wingdings" panose="05000000000000000000" pitchFamily="2" charset="2"/>
              <a:defRPr/>
            </a:pPr>
            <a:endParaRPr kumimoji="0" lang="zh-CN" altLang="zh-CN" sz="2100" b="1" kern="0" cap="none" spc="0" normalizeH="0" baseline="0" noProof="0" dirty="0">
              <a:latin typeface="+mn-lt"/>
              <a:ea typeface="+mn-ea"/>
              <a:cs typeface="+mn-cs"/>
            </a:endParaRPr>
          </a:p>
          <a:p>
            <a:pPr marL="342900" marR="0" indent="-342900" defTabSz="914400" eaLnBrk="0" hangingPunct="0">
              <a:lnSpc>
                <a:spcPct val="120000"/>
              </a:lnSpc>
              <a:spcBef>
                <a:spcPct val="20000"/>
              </a:spcBef>
              <a:buClrTx/>
              <a:buSzTx/>
              <a:buFont typeface="Wingdings" panose="05000000000000000000" pitchFamily="2" charset="2"/>
              <a:defRPr/>
            </a:pPr>
            <a:endParaRPr kumimoji="0" lang="zh-CN" altLang="en-US" sz="2400" b="1" kern="0" cap="none" spc="0" normalizeH="0" baseline="0" noProof="0" dirty="0">
              <a:latin typeface="+mn-lt"/>
              <a:ea typeface="+mn-ea"/>
              <a:cs typeface="+mn-cs"/>
            </a:endParaRPr>
          </a:p>
        </p:txBody>
      </p:sp>
      <p:sp>
        <p:nvSpPr>
          <p:cNvPr id="79875" name="TextBox 8"/>
          <p:cNvSpPr txBox="1"/>
          <p:nvPr/>
        </p:nvSpPr>
        <p:spPr>
          <a:xfrm>
            <a:off x="3607594" y="3857625"/>
            <a:ext cx="321469"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b</a:t>
            </a:r>
            <a:endParaRPr lang="zh-CN" altLang="en-US" sz="2400" b="1" dirty="0">
              <a:latin typeface="Arial" panose="020B0604020202090204" pitchFamily="34" charset="0"/>
            </a:endParaRPr>
          </a:p>
        </p:txBody>
      </p:sp>
      <p:sp>
        <p:nvSpPr>
          <p:cNvPr id="79876" name="TextBox 9"/>
          <p:cNvSpPr txBox="1"/>
          <p:nvPr/>
        </p:nvSpPr>
        <p:spPr>
          <a:xfrm>
            <a:off x="4572000" y="3857625"/>
            <a:ext cx="321469"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c</a:t>
            </a:r>
            <a:endParaRPr lang="zh-CN" altLang="en-US" sz="2400" b="1" dirty="0">
              <a:latin typeface="Arial" panose="020B0604020202090204" pitchFamily="34" charset="0"/>
            </a:endParaRPr>
          </a:p>
        </p:txBody>
      </p:sp>
      <p:sp>
        <p:nvSpPr>
          <p:cNvPr id="11" name="圆角矩形标注 10"/>
          <p:cNvSpPr/>
          <p:nvPr/>
        </p:nvSpPr>
        <p:spPr>
          <a:xfrm>
            <a:off x="5651897" y="3911204"/>
            <a:ext cx="2241947" cy="535781"/>
          </a:xfrm>
          <a:prstGeom prst="wedgeRoundRectCallout">
            <a:avLst>
              <a:gd name="adj1" fmla="val 11444"/>
              <a:gd name="adj2" fmla="val -155111"/>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第二次调用结束</a:t>
            </a:r>
          </a:p>
        </p:txBody>
      </p:sp>
      <p:sp>
        <p:nvSpPr>
          <p:cNvPr id="79878" name="矩形 11"/>
          <p:cNvSpPr/>
          <p:nvPr/>
        </p:nvSpPr>
        <p:spPr>
          <a:xfrm>
            <a:off x="3500438"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solidFill>
                  <a:srgbClr val="FF0000"/>
                </a:solidFill>
                <a:latin typeface="Arial" panose="020B0604020202090204" pitchFamily="34" charset="0"/>
              </a:rPr>
              <a:t>1</a:t>
            </a:r>
            <a:endParaRPr lang="zh-CN" altLang="en-US" sz="2400" dirty="0">
              <a:solidFill>
                <a:srgbClr val="FF0000"/>
              </a:solidFill>
              <a:latin typeface="Arial" panose="020B0604020202090204" pitchFamily="34" charset="0"/>
            </a:endParaRPr>
          </a:p>
        </p:txBody>
      </p:sp>
      <p:sp>
        <p:nvSpPr>
          <p:cNvPr id="79879" name="矩形 13"/>
          <p:cNvSpPr/>
          <p:nvPr/>
        </p:nvSpPr>
        <p:spPr>
          <a:xfrm>
            <a:off x="4464844"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solidFill>
                  <a:srgbClr val="FF0000"/>
                </a:solidFill>
                <a:latin typeface="Arial" panose="020B0604020202090204" pitchFamily="34" charset="0"/>
              </a:rPr>
              <a:t>5</a:t>
            </a:r>
            <a:endParaRPr lang="zh-CN" altLang="en-US" sz="2400" dirty="0">
              <a:solidFill>
                <a:srgbClr val="FF0000"/>
              </a:solidFill>
              <a:latin typeface="Arial" panose="020B0604020202090204" pitchFamily="34" charset="0"/>
            </a:endParaRPr>
          </a:p>
        </p:txBody>
      </p:sp>
      <p:sp>
        <p:nvSpPr>
          <p:cNvPr id="15" name="矩形 14"/>
          <p:cNvSpPr/>
          <p:nvPr/>
        </p:nvSpPr>
        <p:spPr>
          <a:xfrm>
            <a:off x="3232547" y="3911204"/>
            <a:ext cx="1017984" cy="910828"/>
          </a:xfrm>
          <a:prstGeom prst="rect">
            <a:avLst/>
          </a:prstGeom>
          <a:solidFill>
            <a:schemeClr val="accent1"/>
          </a:solidFill>
          <a:ln w="9525">
            <a:noFill/>
          </a:ln>
        </p:spPr>
        <p:txBody>
          <a:bodyPr wrap="none" anchor="t" anchorCtr="0"/>
          <a:lstStyle/>
          <a:p>
            <a:pPr>
              <a:buSzTx/>
            </a:pPr>
            <a:endParaRPr lang="zh-CN" altLang="en-US" sz="3000" dirty="0">
              <a:latin typeface="Arial" panose="020B0604020202090204" pitchFamily="34" charset="0"/>
            </a:endParaRPr>
          </a:p>
        </p:txBody>
      </p:sp>
      <p:sp>
        <p:nvSpPr>
          <p:cNvPr id="16" name="圆角矩形标注 15"/>
          <p:cNvSpPr/>
          <p:nvPr/>
        </p:nvSpPr>
        <p:spPr>
          <a:xfrm>
            <a:off x="4196954" y="2357438"/>
            <a:ext cx="482203" cy="375047"/>
          </a:xfrm>
          <a:prstGeom prst="wedgeRoundRectCallout">
            <a:avLst>
              <a:gd name="adj1" fmla="val 6394"/>
              <a:gd name="adj2" fmla="val 146694"/>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a:buSzTx/>
            </a:pPr>
            <a:r>
              <a:rPr lang="en-US" altLang="zh-CN" sz="2100" b="1" dirty="0">
                <a:solidFill>
                  <a:srgbClr val="0000CC"/>
                </a:solidFill>
                <a:latin typeface="Arial" panose="020B0604020202090204" pitchFamily="34" charset="0"/>
              </a:rPr>
              <a:t>8</a:t>
            </a:r>
            <a:endParaRPr lang="zh-CN" altLang="en-US" sz="2100" b="1" dirty="0">
              <a:solidFill>
                <a:srgbClr val="0000CC"/>
              </a:solidFill>
              <a:latin typeface="Arial" panose="020B060402020209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slide(fromTop)">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5" grpId="0" bldLvl="0" animBg="1"/>
      <p:bldP spid="16" grpId="0" bldLvl="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内容占位符 2"/>
          <p:cNvSpPr>
            <a:spLocks noGrp="1"/>
          </p:cNvSpPr>
          <p:nvPr>
            <p:ph idx="1" hasCustomPrompt="1"/>
          </p:nvPr>
        </p:nvSpPr>
        <p:spPr>
          <a:xfrm>
            <a:off x="1303735" y="642938"/>
            <a:ext cx="5250656" cy="3643313"/>
          </a:xfrm>
        </p:spPr>
        <p:txBody>
          <a:bodyPr vert="horz" wrap="square" lIns="68580" tIns="34290" rIns="68580" bIns="34290" anchor="t" anchorCtr="0"/>
          <a:lstStyle/>
          <a:p>
            <a:pPr eaLnBrk="1" hangingPunct="1">
              <a:buNone/>
            </a:pPr>
            <a:r>
              <a:rPr lang="en-US" altLang="zh-CN" dirty="0"/>
              <a:t>    </a:t>
            </a:r>
            <a:r>
              <a:rPr lang="zh-CN" altLang="zh-CN" dirty="0"/>
              <a:t>例</a:t>
            </a:r>
            <a:r>
              <a:rPr lang="en-US" altLang="zh-CN" dirty="0"/>
              <a:t>5.11 </a:t>
            </a:r>
            <a:r>
              <a:rPr lang="zh-CN" altLang="zh-CN" dirty="0"/>
              <a:t>考察静态局部变量的值。</a:t>
            </a:r>
            <a:endParaRPr lang="en-US" altLang="zh-CN" dirty="0"/>
          </a:p>
          <a:p>
            <a:pPr eaLnBrk="1" hangingPunct="1">
              <a:buNone/>
            </a:pPr>
            <a:r>
              <a:rPr lang="en-US" altLang="zh-CN" sz="2100" dirty="0"/>
              <a:t>#include &lt;stdio.h&gt;</a:t>
            </a:r>
            <a:endParaRPr lang="zh-CN" altLang="zh-CN" sz="2100" dirty="0"/>
          </a:p>
          <a:p>
            <a:pPr eaLnBrk="1" hangingPunct="1">
              <a:buNone/>
            </a:pPr>
            <a:r>
              <a:rPr lang="en-US" altLang="zh-CN" sz="2100" dirty="0"/>
              <a:t>int main()</a:t>
            </a:r>
            <a:endParaRPr lang="zh-CN" altLang="zh-CN" sz="2100" dirty="0"/>
          </a:p>
          <a:p>
            <a:pPr eaLnBrk="1" hangingPunct="1">
              <a:buNone/>
            </a:pPr>
            <a:r>
              <a:rPr lang="en-US" altLang="zh-CN" sz="2100" dirty="0"/>
              <a:t>{ int f(int);           </a:t>
            </a:r>
            <a:endParaRPr lang="zh-CN" altLang="zh-CN" sz="2100" dirty="0"/>
          </a:p>
          <a:p>
            <a:pPr eaLnBrk="1" hangingPunct="1">
              <a:buNone/>
            </a:pPr>
            <a:r>
              <a:rPr lang="en-US" altLang="zh-CN" sz="2100" dirty="0"/>
              <a:t>   int a=2,i;            </a:t>
            </a:r>
            <a:endParaRPr lang="zh-CN" altLang="zh-CN" sz="2100" dirty="0"/>
          </a:p>
          <a:p>
            <a:pPr eaLnBrk="1" hangingPunct="1">
              <a:buNone/>
            </a:pPr>
            <a:r>
              <a:rPr lang="en-US" altLang="zh-CN" sz="2100" dirty="0"/>
              <a:t>   for(i=0;i&lt;3;i++)</a:t>
            </a:r>
            <a:endParaRPr lang="zh-CN" altLang="zh-CN" sz="2100" dirty="0"/>
          </a:p>
          <a:p>
            <a:pPr eaLnBrk="1" hangingPunct="1">
              <a:buNone/>
            </a:pPr>
            <a:r>
              <a:rPr lang="en-US" altLang="zh-CN" sz="2100" dirty="0"/>
              <a:t>     printf(“%d\n”,f(a));</a:t>
            </a:r>
            <a:endParaRPr lang="zh-CN" altLang="zh-CN" sz="2100" dirty="0"/>
          </a:p>
          <a:p>
            <a:pPr eaLnBrk="1" hangingPunct="1">
              <a:buNone/>
            </a:pPr>
            <a:r>
              <a:rPr lang="en-US" altLang="zh-CN" sz="2100" dirty="0"/>
              <a:t>   return 0;</a:t>
            </a:r>
            <a:endParaRPr lang="zh-CN" altLang="zh-CN" sz="2100" dirty="0"/>
          </a:p>
          <a:p>
            <a:pPr eaLnBrk="1" hangingPunct="1">
              <a:buNone/>
            </a:pPr>
            <a:r>
              <a:rPr lang="en-US" altLang="zh-CN" sz="2100" dirty="0"/>
              <a:t>}</a:t>
            </a:r>
            <a:endParaRPr lang="zh-CN" altLang="zh-CN" sz="2100" dirty="0"/>
          </a:p>
          <a:p>
            <a:pPr eaLnBrk="1" hangingPunct="1">
              <a:buNone/>
            </a:pPr>
            <a:endParaRPr lang="zh-CN" altLang="en-US" dirty="0"/>
          </a:p>
        </p:txBody>
      </p:sp>
      <p:sp>
        <p:nvSpPr>
          <p:cNvPr id="4" name="内容占位符 2"/>
          <p:cNvSpPr txBox="1"/>
          <p:nvPr/>
        </p:nvSpPr>
        <p:spPr bwMode="auto">
          <a:xfrm>
            <a:off x="5054204" y="1178719"/>
            <a:ext cx="2946797" cy="2518172"/>
          </a:xfrm>
          <a:prstGeom prst="rect">
            <a:avLst/>
          </a:prstGeom>
          <a:solidFill>
            <a:srgbClr val="E1FFE1"/>
          </a:solidFill>
          <a:ln w="9525">
            <a:noFill/>
            <a:miter lim="800000"/>
          </a:ln>
        </p:spPr>
        <p:txBody>
          <a:bodyPr/>
          <a:lstStyle/>
          <a:p>
            <a:pPr marR="0" defTabSz="914400">
              <a:buClrTx/>
              <a:buSzTx/>
              <a:buFontTx/>
              <a:defRPr/>
            </a:pP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f(</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a)</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auto</a:t>
            </a: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b=0;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static</a:t>
            </a:r>
            <a:r>
              <a:rPr kumimoji="0" lang="en-US" altLang="zh-CN" sz="2100" b="1" kern="1200" cap="none" spc="0" normalizeH="0" baseline="0" noProof="0" dirty="0">
                <a:latin typeface="+mn-lt"/>
                <a:ea typeface="+mn-ea"/>
                <a:cs typeface="+mn-cs"/>
              </a:rPr>
              <a:t> c=3;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b=b+1;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c=c+1;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return(</a:t>
            </a:r>
            <a:r>
              <a:rPr kumimoji="0" lang="en-US" altLang="zh-CN" sz="2100" b="1" kern="1200" cap="none" spc="0" normalizeH="0" baseline="0" noProof="0" dirty="0" err="1">
                <a:latin typeface="+mn-lt"/>
                <a:ea typeface="+mn-ea"/>
                <a:cs typeface="+mn-cs"/>
              </a:rPr>
              <a:t>a+b+c</a:t>
            </a: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L="342900" marR="0" indent="-342900" defTabSz="914400" eaLnBrk="0" hangingPunct="0">
              <a:spcBef>
                <a:spcPct val="20000"/>
              </a:spcBef>
              <a:buClrTx/>
              <a:buSzTx/>
              <a:buFont typeface="Wingdings" panose="05000000000000000000" pitchFamily="2" charset="2"/>
              <a:defRPr/>
            </a:pPr>
            <a:endParaRPr kumimoji="0" lang="zh-CN" altLang="zh-CN" sz="2100" b="1" kern="0" cap="none" spc="0" normalizeH="0" baseline="0" noProof="0" dirty="0">
              <a:latin typeface="+mn-lt"/>
              <a:ea typeface="+mn-ea"/>
              <a:cs typeface="+mn-cs"/>
            </a:endParaRPr>
          </a:p>
          <a:p>
            <a:pPr marL="342900" marR="0" indent="-342900" defTabSz="914400" eaLnBrk="0" hangingPunct="0">
              <a:lnSpc>
                <a:spcPct val="120000"/>
              </a:lnSpc>
              <a:spcBef>
                <a:spcPct val="20000"/>
              </a:spcBef>
              <a:buClrTx/>
              <a:buSzTx/>
              <a:buFont typeface="Wingdings" panose="05000000000000000000" pitchFamily="2" charset="2"/>
              <a:defRPr/>
            </a:pPr>
            <a:endParaRPr kumimoji="0" lang="zh-CN" altLang="en-US" sz="2400" b="1" kern="0" cap="none" spc="0" normalizeH="0" baseline="0" noProof="0" dirty="0">
              <a:latin typeface="+mn-lt"/>
              <a:ea typeface="+mn-ea"/>
              <a:cs typeface="+mn-cs"/>
            </a:endParaRPr>
          </a:p>
        </p:txBody>
      </p:sp>
      <p:sp>
        <p:nvSpPr>
          <p:cNvPr id="9" name="TextBox 8"/>
          <p:cNvSpPr txBox="1"/>
          <p:nvPr/>
        </p:nvSpPr>
        <p:spPr>
          <a:xfrm>
            <a:off x="3607594" y="3857625"/>
            <a:ext cx="321469"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b</a:t>
            </a:r>
            <a:endParaRPr lang="zh-CN" altLang="en-US" sz="2400" b="1" dirty="0">
              <a:latin typeface="Arial" panose="020B0604020202090204" pitchFamily="34" charset="0"/>
            </a:endParaRPr>
          </a:p>
        </p:txBody>
      </p:sp>
      <p:sp>
        <p:nvSpPr>
          <p:cNvPr id="80900" name="TextBox 9"/>
          <p:cNvSpPr txBox="1"/>
          <p:nvPr/>
        </p:nvSpPr>
        <p:spPr>
          <a:xfrm>
            <a:off x="4572000" y="3857625"/>
            <a:ext cx="321469"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c</a:t>
            </a:r>
            <a:endParaRPr lang="zh-CN" altLang="en-US" sz="2400" b="1" dirty="0">
              <a:latin typeface="Arial" panose="020B0604020202090204" pitchFamily="34" charset="0"/>
            </a:endParaRPr>
          </a:p>
        </p:txBody>
      </p:sp>
      <p:sp>
        <p:nvSpPr>
          <p:cNvPr id="11" name="圆角矩形标注 10"/>
          <p:cNvSpPr/>
          <p:nvPr/>
        </p:nvSpPr>
        <p:spPr>
          <a:xfrm>
            <a:off x="5651897" y="3911204"/>
            <a:ext cx="2241947" cy="535781"/>
          </a:xfrm>
          <a:prstGeom prst="wedgeRoundRectCallout">
            <a:avLst>
              <a:gd name="adj1" fmla="val 11444"/>
              <a:gd name="adj2" fmla="val -155111"/>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第三次调用开始</a:t>
            </a:r>
          </a:p>
        </p:txBody>
      </p:sp>
      <p:sp>
        <p:nvSpPr>
          <p:cNvPr id="12" name="矩形 11"/>
          <p:cNvSpPr/>
          <p:nvPr/>
        </p:nvSpPr>
        <p:spPr>
          <a:xfrm>
            <a:off x="3500438"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solidFill>
                  <a:srgbClr val="9D138D"/>
                </a:solidFill>
                <a:latin typeface="Arial" panose="020B0604020202090204" pitchFamily="34" charset="0"/>
              </a:rPr>
              <a:t>0</a:t>
            </a:r>
            <a:endParaRPr lang="zh-CN" altLang="en-US" sz="2400" dirty="0">
              <a:solidFill>
                <a:srgbClr val="9D138D"/>
              </a:solidFill>
              <a:latin typeface="Arial" panose="020B0604020202090204" pitchFamily="34" charset="0"/>
            </a:endParaRPr>
          </a:p>
        </p:txBody>
      </p:sp>
      <p:sp>
        <p:nvSpPr>
          <p:cNvPr id="80903" name="矩形 12"/>
          <p:cNvSpPr/>
          <p:nvPr/>
        </p:nvSpPr>
        <p:spPr>
          <a:xfrm>
            <a:off x="4464844"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solidFill>
                  <a:srgbClr val="FF0000"/>
                </a:solidFill>
                <a:latin typeface="Arial" panose="020B0604020202090204" pitchFamily="34" charset="0"/>
              </a:rPr>
              <a:t>5</a:t>
            </a:r>
            <a:endParaRPr lang="zh-CN" altLang="en-US" sz="2400" dirty="0">
              <a:solidFill>
                <a:srgbClr val="FF0000"/>
              </a:solidFill>
              <a:latin typeface="Arial" panose="020B060402020209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bldLvl="0" animBg="1"/>
      <p:bldP spid="12" grpId="0" bldLvl="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内容占位符 2"/>
          <p:cNvSpPr>
            <a:spLocks noGrp="1"/>
          </p:cNvSpPr>
          <p:nvPr>
            <p:ph idx="1" hasCustomPrompt="1"/>
          </p:nvPr>
        </p:nvSpPr>
        <p:spPr>
          <a:xfrm>
            <a:off x="1303735" y="642938"/>
            <a:ext cx="5250656" cy="3643313"/>
          </a:xfrm>
        </p:spPr>
        <p:txBody>
          <a:bodyPr vert="horz" wrap="square" lIns="68580" tIns="34290" rIns="68580" bIns="34290" anchor="t" anchorCtr="0"/>
          <a:lstStyle/>
          <a:p>
            <a:pPr eaLnBrk="1" hangingPunct="1">
              <a:buNone/>
            </a:pPr>
            <a:r>
              <a:rPr lang="en-US" altLang="zh-CN" dirty="0"/>
              <a:t>    </a:t>
            </a:r>
            <a:r>
              <a:rPr lang="zh-CN" altLang="zh-CN" dirty="0"/>
              <a:t>例</a:t>
            </a:r>
            <a:r>
              <a:rPr lang="en-US" altLang="zh-CN" dirty="0"/>
              <a:t>5.11 </a:t>
            </a:r>
            <a:r>
              <a:rPr lang="zh-CN" altLang="zh-CN" dirty="0"/>
              <a:t>考察静态局部变量的值。</a:t>
            </a:r>
            <a:endParaRPr lang="en-US" altLang="zh-CN" dirty="0"/>
          </a:p>
          <a:p>
            <a:pPr eaLnBrk="1" hangingPunct="1">
              <a:buNone/>
            </a:pPr>
            <a:r>
              <a:rPr lang="en-US" altLang="zh-CN" sz="2100" dirty="0"/>
              <a:t>#include &lt;stdio.h&gt;</a:t>
            </a:r>
            <a:endParaRPr lang="zh-CN" altLang="zh-CN" sz="2100" dirty="0"/>
          </a:p>
          <a:p>
            <a:pPr eaLnBrk="1" hangingPunct="1">
              <a:buNone/>
            </a:pPr>
            <a:r>
              <a:rPr lang="en-US" altLang="zh-CN" sz="2100" dirty="0"/>
              <a:t>int main()</a:t>
            </a:r>
            <a:endParaRPr lang="zh-CN" altLang="zh-CN" sz="2100" dirty="0"/>
          </a:p>
          <a:p>
            <a:pPr eaLnBrk="1" hangingPunct="1">
              <a:buNone/>
            </a:pPr>
            <a:r>
              <a:rPr lang="en-US" altLang="zh-CN" sz="2100" dirty="0"/>
              <a:t>{ int f(int);           </a:t>
            </a:r>
            <a:endParaRPr lang="zh-CN" altLang="zh-CN" sz="2100" dirty="0"/>
          </a:p>
          <a:p>
            <a:pPr eaLnBrk="1" hangingPunct="1">
              <a:buNone/>
            </a:pPr>
            <a:r>
              <a:rPr lang="en-US" altLang="zh-CN" sz="2100" dirty="0"/>
              <a:t>   int a=2,i;            </a:t>
            </a:r>
            <a:endParaRPr lang="zh-CN" altLang="zh-CN" sz="2100" dirty="0"/>
          </a:p>
          <a:p>
            <a:pPr eaLnBrk="1" hangingPunct="1">
              <a:buNone/>
            </a:pPr>
            <a:r>
              <a:rPr lang="en-US" altLang="zh-CN" sz="2100" dirty="0"/>
              <a:t>   for(i=0;i&lt;3;i++)</a:t>
            </a:r>
            <a:endParaRPr lang="zh-CN" altLang="zh-CN" sz="2100" dirty="0"/>
          </a:p>
          <a:p>
            <a:pPr eaLnBrk="1" hangingPunct="1">
              <a:buNone/>
            </a:pPr>
            <a:r>
              <a:rPr lang="en-US" altLang="zh-CN" sz="2100" dirty="0"/>
              <a:t>     printf(“%d\n”,f(a));</a:t>
            </a:r>
            <a:endParaRPr lang="zh-CN" altLang="zh-CN" sz="2100" dirty="0"/>
          </a:p>
          <a:p>
            <a:pPr eaLnBrk="1" hangingPunct="1">
              <a:buNone/>
            </a:pPr>
            <a:r>
              <a:rPr lang="en-US" altLang="zh-CN" sz="2100" dirty="0"/>
              <a:t>   return 0;</a:t>
            </a:r>
            <a:endParaRPr lang="zh-CN" altLang="zh-CN" sz="2100" dirty="0"/>
          </a:p>
          <a:p>
            <a:pPr eaLnBrk="1" hangingPunct="1">
              <a:buNone/>
            </a:pPr>
            <a:r>
              <a:rPr lang="en-US" altLang="zh-CN" sz="2100" dirty="0"/>
              <a:t>}</a:t>
            </a:r>
            <a:endParaRPr lang="zh-CN" altLang="zh-CN" sz="2100" dirty="0"/>
          </a:p>
          <a:p>
            <a:pPr eaLnBrk="1" hangingPunct="1">
              <a:buNone/>
            </a:pPr>
            <a:endParaRPr lang="zh-CN" altLang="en-US" dirty="0"/>
          </a:p>
        </p:txBody>
      </p:sp>
      <p:sp>
        <p:nvSpPr>
          <p:cNvPr id="4" name="内容占位符 2"/>
          <p:cNvSpPr txBox="1"/>
          <p:nvPr/>
        </p:nvSpPr>
        <p:spPr bwMode="auto">
          <a:xfrm>
            <a:off x="5054204" y="1178719"/>
            <a:ext cx="2946797" cy="2518172"/>
          </a:xfrm>
          <a:prstGeom prst="rect">
            <a:avLst/>
          </a:prstGeom>
          <a:solidFill>
            <a:srgbClr val="E1FFE1"/>
          </a:solidFill>
          <a:ln w="9525">
            <a:noFill/>
            <a:miter lim="800000"/>
          </a:ln>
        </p:spPr>
        <p:txBody>
          <a:bodyPr/>
          <a:lstStyle/>
          <a:p>
            <a:pPr marR="0" defTabSz="914400">
              <a:buClrTx/>
              <a:buSzTx/>
              <a:buFontTx/>
              <a:defRPr/>
            </a:pP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f(</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a)</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auto</a:t>
            </a: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b=0;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static</a:t>
            </a:r>
            <a:r>
              <a:rPr kumimoji="0" lang="en-US" altLang="zh-CN" sz="2100" b="1" kern="1200" cap="none" spc="0" normalizeH="0" baseline="0" noProof="0" dirty="0">
                <a:latin typeface="+mn-lt"/>
                <a:ea typeface="+mn-ea"/>
                <a:cs typeface="+mn-cs"/>
              </a:rPr>
              <a:t> c=3;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b=b+1;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c=c+1;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return(</a:t>
            </a:r>
            <a:r>
              <a:rPr kumimoji="0" lang="en-US" altLang="zh-CN" sz="2100" b="1" kern="1200" cap="none" spc="0" normalizeH="0" baseline="0" noProof="0" dirty="0" err="1">
                <a:latin typeface="+mn-lt"/>
                <a:ea typeface="+mn-ea"/>
                <a:cs typeface="+mn-cs"/>
              </a:rPr>
              <a:t>a+b+c</a:t>
            </a: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L="342900" marR="0" indent="-342900" defTabSz="914400" eaLnBrk="0" hangingPunct="0">
              <a:spcBef>
                <a:spcPct val="20000"/>
              </a:spcBef>
              <a:buClrTx/>
              <a:buSzTx/>
              <a:buFont typeface="Wingdings" panose="05000000000000000000" pitchFamily="2" charset="2"/>
              <a:defRPr/>
            </a:pPr>
            <a:endParaRPr kumimoji="0" lang="zh-CN" altLang="zh-CN" sz="2100" b="1" kern="0" cap="none" spc="0" normalizeH="0" baseline="0" noProof="0" dirty="0">
              <a:latin typeface="+mn-lt"/>
              <a:ea typeface="+mn-ea"/>
              <a:cs typeface="+mn-cs"/>
            </a:endParaRPr>
          </a:p>
          <a:p>
            <a:pPr marL="342900" marR="0" indent="-342900" defTabSz="914400" eaLnBrk="0" hangingPunct="0">
              <a:lnSpc>
                <a:spcPct val="120000"/>
              </a:lnSpc>
              <a:spcBef>
                <a:spcPct val="20000"/>
              </a:spcBef>
              <a:buClrTx/>
              <a:buSzTx/>
              <a:buFont typeface="Wingdings" panose="05000000000000000000" pitchFamily="2" charset="2"/>
              <a:defRPr/>
            </a:pPr>
            <a:endParaRPr kumimoji="0" lang="zh-CN" altLang="en-US" sz="2400" b="1" kern="0" cap="none" spc="0" normalizeH="0" baseline="0" noProof="0" dirty="0">
              <a:latin typeface="+mn-lt"/>
              <a:ea typeface="+mn-ea"/>
              <a:cs typeface="+mn-cs"/>
            </a:endParaRPr>
          </a:p>
        </p:txBody>
      </p:sp>
      <p:sp>
        <p:nvSpPr>
          <p:cNvPr id="81923" name="TextBox 8"/>
          <p:cNvSpPr txBox="1"/>
          <p:nvPr/>
        </p:nvSpPr>
        <p:spPr>
          <a:xfrm>
            <a:off x="3607594" y="3857625"/>
            <a:ext cx="321469"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b</a:t>
            </a:r>
            <a:endParaRPr lang="zh-CN" altLang="en-US" sz="2400" b="1" dirty="0">
              <a:latin typeface="Arial" panose="020B0604020202090204" pitchFamily="34" charset="0"/>
            </a:endParaRPr>
          </a:p>
        </p:txBody>
      </p:sp>
      <p:sp>
        <p:nvSpPr>
          <p:cNvPr id="81924" name="TextBox 9"/>
          <p:cNvSpPr txBox="1"/>
          <p:nvPr/>
        </p:nvSpPr>
        <p:spPr>
          <a:xfrm>
            <a:off x="4572000" y="3857625"/>
            <a:ext cx="321469"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c</a:t>
            </a:r>
            <a:endParaRPr lang="zh-CN" altLang="en-US" sz="2400" b="1" dirty="0">
              <a:latin typeface="Arial" panose="020B0604020202090204" pitchFamily="34" charset="0"/>
            </a:endParaRPr>
          </a:p>
        </p:txBody>
      </p:sp>
      <p:sp>
        <p:nvSpPr>
          <p:cNvPr id="11" name="圆角矩形标注 10"/>
          <p:cNvSpPr/>
          <p:nvPr/>
        </p:nvSpPr>
        <p:spPr>
          <a:xfrm>
            <a:off x="5543550" y="3911204"/>
            <a:ext cx="2350294" cy="535781"/>
          </a:xfrm>
          <a:prstGeom prst="wedgeRoundRectCallout">
            <a:avLst>
              <a:gd name="adj1" fmla="val 13222"/>
              <a:gd name="adj2" fmla="val -155111"/>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第三次调用期间</a:t>
            </a:r>
          </a:p>
        </p:txBody>
      </p:sp>
      <p:sp>
        <p:nvSpPr>
          <p:cNvPr id="81926" name="矩形 11"/>
          <p:cNvSpPr/>
          <p:nvPr/>
        </p:nvSpPr>
        <p:spPr>
          <a:xfrm>
            <a:off x="3500438"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solidFill>
                  <a:srgbClr val="9D138D"/>
                </a:solidFill>
                <a:latin typeface="Arial" panose="020B0604020202090204" pitchFamily="34" charset="0"/>
              </a:rPr>
              <a:t>0</a:t>
            </a:r>
            <a:endParaRPr lang="zh-CN" altLang="en-US" sz="2400" dirty="0">
              <a:solidFill>
                <a:srgbClr val="9D138D"/>
              </a:solidFill>
              <a:latin typeface="Arial" panose="020B0604020202090204" pitchFamily="34" charset="0"/>
            </a:endParaRPr>
          </a:p>
        </p:txBody>
      </p:sp>
      <p:sp>
        <p:nvSpPr>
          <p:cNvPr id="81927" name="矩形 12"/>
          <p:cNvSpPr/>
          <p:nvPr/>
        </p:nvSpPr>
        <p:spPr>
          <a:xfrm>
            <a:off x="4464844"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solidFill>
                  <a:srgbClr val="FF0000"/>
                </a:solidFill>
                <a:latin typeface="Arial" panose="020B0604020202090204" pitchFamily="34" charset="0"/>
              </a:rPr>
              <a:t>5</a:t>
            </a:r>
            <a:endParaRPr lang="zh-CN" altLang="en-US" sz="2400" dirty="0">
              <a:solidFill>
                <a:srgbClr val="FF0000"/>
              </a:solidFill>
              <a:latin typeface="Arial" panose="020B0604020202090204" pitchFamily="34" charset="0"/>
            </a:endParaRPr>
          </a:p>
        </p:txBody>
      </p:sp>
      <p:sp>
        <p:nvSpPr>
          <p:cNvPr id="14" name="矩形 13"/>
          <p:cNvSpPr/>
          <p:nvPr/>
        </p:nvSpPr>
        <p:spPr>
          <a:xfrm>
            <a:off x="4464844"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solidFill>
                  <a:srgbClr val="FF0000"/>
                </a:solidFill>
                <a:latin typeface="Arial" panose="020B0604020202090204" pitchFamily="34" charset="0"/>
              </a:rPr>
              <a:t>6</a:t>
            </a:r>
            <a:endParaRPr lang="zh-CN" altLang="en-US" sz="2400" dirty="0">
              <a:solidFill>
                <a:srgbClr val="FF0000"/>
              </a:solidFill>
              <a:latin typeface="Arial" panose="020B0604020202090204" pitchFamily="34" charset="0"/>
            </a:endParaRPr>
          </a:p>
        </p:txBody>
      </p:sp>
      <p:sp>
        <p:nvSpPr>
          <p:cNvPr id="15" name="矩形 14"/>
          <p:cNvSpPr/>
          <p:nvPr/>
        </p:nvSpPr>
        <p:spPr>
          <a:xfrm>
            <a:off x="3500438"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solidFill>
                  <a:srgbClr val="FF0000"/>
                </a:solidFill>
                <a:latin typeface="Arial" panose="020B0604020202090204" pitchFamily="34" charset="0"/>
              </a:rPr>
              <a:t>1</a:t>
            </a:r>
            <a:endParaRPr lang="zh-CN" altLang="en-US" sz="2400" dirty="0">
              <a:solidFill>
                <a:srgbClr val="FF0000"/>
              </a:solidFill>
              <a:latin typeface="Arial" panose="020B060402020209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par>
                          <p:cTn id="13" fill="hold">
                            <p:stCondLst>
                              <p:cond delay="500"/>
                            </p:stCondLst>
                            <p:childTnLst>
                              <p:par>
                                <p:cTn id="14" presetID="49" presetClass="entr" presetSubtype="0" decel="100000" fill="hold" grpId="0" nodeType="after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p:cTn id="16" dur="500" fill="hold"/>
                                        <p:tgtEl>
                                          <p:spTgt spid="14"/>
                                        </p:tgtEl>
                                        <p:attrNameLst>
                                          <p:attrName>ppt_w</p:attrName>
                                        </p:attrNameLst>
                                      </p:cBhvr>
                                      <p:tavLst>
                                        <p:tav tm="0">
                                          <p:val>
                                            <p:fltVal val="0"/>
                                          </p:val>
                                        </p:tav>
                                        <p:tav tm="100000">
                                          <p:val>
                                            <p:strVal val="#ppt_w"/>
                                          </p:val>
                                        </p:tav>
                                      </p:tavLst>
                                    </p:anim>
                                    <p:anim calcmode="lin" valueType="num">
                                      <p:cBhvr>
                                        <p:cTn id="17" dur="500" fill="hold"/>
                                        <p:tgtEl>
                                          <p:spTgt spid="14"/>
                                        </p:tgtEl>
                                        <p:attrNameLst>
                                          <p:attrName>ppt_h</p:attrName>
                                        </p:attrNameLst>
                                      </p:cBhvr>
                                      <p:tavLst>
                                        <p:tav tm="0">
                                          <p:val>
                                            <p:fltVal val="0"/>
                                          </p:val>
                                        </p:tav>
                                        <p:tav tm="100000">
                                          <p:val>
                                            <p:strVal val="#ppt_h"/>
                                          </p:val>
                                        </p:tav>
                                      </p:tavLst>
                                    </p:anim>
                                    <p:anim calcmode="lin" valueType="num">
                                      <p:cBhvr>
                                        <p:cTn id="18" dur="500" fill="hold"/>
                                        <p:tgtEl>
                                          <p:spTgt spid="14"/>
                                        </p:tgtEl>
                                        <p:attrNameLst>
                                          <p:attrName>style.rotation</p:attrName>
                                        </p:attrNameLst>
                                      </p:cBhvr>
                                      <p:tavLst>
                                        <p:tav tm="0">
                                          <p:val>
                                            <p:fltVal val="360"/>
                                          </p:val>
                                        </p:tav>
                                        <p:tav tm="100000">
                                          <p:val>
                                            <p:fltVal val="0"/>
                                          </p:val>
                                        </p:tav>
                                      </p:tavLst>
                                    </p:anim>
                                    <p:animEffect transition="in" filter="fade">
                                      <p:cBhvr>
                                        <p:cTn id="1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4" grpId="0" bldLvl="0" animBg="1"/>
      <p:bldP spid="15" grpId="0" bldLvl="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内容占位符 2"/>
          <p:cNvSpPr>
            <a:spLocks noGrp="1"/>
          </p:cNvSpPr>
          <p:nvPr>
            <p:ph idx="1" hasCustomPrompt="1"/>
          </p:nvPr>
        </p:nvSpPr>
        <p:spPr>
          <a:xfrm>
            <a:off x="1303735" y="642938"/>
            <a:ext cx="5250656" cy="3643313"/>
          </a:xfrm>
        </p:spPr>
        <p:txBody>
          <a:bodyPr vert="horz" wrap="square" lIns="68580" tIns="34290" rIns="68580" bIns="34290" anchor="t" anchorCtr="0"/>
          <a:lstStyle/>
          <a:p>
            <a:pPr eaLnBrk="1" hangingPunct="1">
              <a:buNone/>
            </a:pPr>
            <a:r>
              <a:rPr lang="en-US" altLang="zh-CN" dirty="0"/>
              <a:t>    </a:t>
            </a:r>
            <a:r>
              <a:rPr lang="zh-CN" altLang="zh-CN" dirty="0"/>
              <a:t>例</a:t>
            </a:r>
            <a:r>
              <a:rPr lang="en-US" altLang="zh-CN" dirty="0"/>
              <a:t>5.11 </a:t>
            </a:r>
            <a:r>
              <a:rPr lang="zh-CN" altLang="zh-CN" dirty="0"/>
              <a:t>考察静态局部变量的值。</a:t>
            </a:r>
            <a:endParaRPr lang="en-US" altLang="zh-CN" dirty="0"/>
          </a:p>
          <a:p>
            <a:pPr eaLnBrk="1" hangingPunct="1">
              <a:buNone/>
            </a:pPr>
            <a:r>
              <a:rPr lang="en-US" altLang="zh-CN" sz="2100" dirty="0"/>
              <a:t>#include &lt;stdio.h&gt;</a:t>
            </a:r>
            <a:endParaRPr lang="zh-CN" altLang="zh-CN" sz="2100" dirty="0"/>
          </a:p>
          <a:p>
            <a:pPr eaLnBrk="1" hangingPunct="1">
              <a:buNone/>
            </a:pPr>
            <a:r>
              <a:rPr lang="en-US" altLang="zh-CN" sz="2100" dirty="0"/>
              <a:t>int main()</a:t>
            </a:r>
            <a:endParaRPr lang="zh-CN" altLang="zh-CN" sz="2100" dirty="0"/>
          </a:p>
          <a:p>
            <a:pPr eaLnBrk="1" hangingPunct="1">
              <a:buNone/>
            </a:pPr>
            <a:r>
              <a:rPr lang="en-US" altLang="zh-CN" sz="2100" dirty="0"/>
              <a:t>{ int f(int);           </a:t>
            </a:r>
            <a:endParaRPr lang="zh-CN" altLang="zh-CN" sz="2100" dirty="0"/>
          </a:p>
          <a:p>
            <a:pPr eaLnBrk="1" hangingPunct="1">
              <a:buNone/>
            </a:pPr>
            <a:r>
              <a:rPr lang="en-US" altLang="zh-CN" sz="2100" dirty="0"/>
              <a:t>   int a=2,i;            </a:t>
            </a:r>
            <a:endParaRPr lang="zh-CN" altLang="zh-CN" sz="2100" dirty="0"/>
          </a:p>
          <a:p>
            <a:pPr eaLnBrk="1" hangingPunct="1">
              <a:buNone/>
            </a:pPr>
            <a:r>
              <a:rPr lang="en-US" altLang="zh-CN" sz="2100" dirty="0"/>
              <a:t>   for(i=0;i&lt;3;i++)</a:t>
            </a:r>
            <a:endParaRPr lang="zh-CN" altLang="zh-CN" sz="2100" dirty="0"/>
          </a:p>
          <a:p>
            <a:pPr eaLnBrk="1" hangingPunct="1">
              <a:buNone/>
            </a:pPr>
            <a:r>
              <a:rPr lang="en-US" altLang="zh-CN" sz="2100" dirty="0"/>
              <a:t>     printf(“%d\n”,f(a));</a:t>
            </a:r>
            <a:endParaRPr lang="zh-CN" altLang="zh-CN" sz="2100" dirty="0"/>
          </a:p>
          <a:p>
            <a:pPr eaLnBrk="1" hangingPunct="1">
              <a:buNone/>
            </a:pPr>
            <a:r>
              <a:rPr lang="en-US" altLang="zh-CN" sz="2100" dirty="0"/>
              <a:t>   return 0;</a:t>
            </a:r>
            <a:endParaRPr lang="zh-CN" altLang="zh-CN" sz="2100" dirty="0"/>
          </a:p>
          <a:p>
            <a:pPr eaLnBrk="1" hangingPunct="1">
              <a:buNone/>
            </a:pPr>
            <a:r>
              <a:rPr lang="en-US" altLang="zh-CN" sz="2100" dirty="0"/>
              <a:t>}</a:t>
            </a:r>
            <a:endParaRPr lang="zh-CN" altLang="zh-CN" sz="2100" dirty="0"/>
          </a:p>
          <a:p>
            <a:pPr eaLnBrk="1" hangingPunct="1">
              <a:buNone/>
            </a:pPr>
            <a:endParaRPr lang="zh-CN" altLang="en-US" dirty="0"/>
          </a:p>
        </p:txBody>
      </p:sp>
      <p:sp>
        <p:nvSpPr>
          <p:cNvPr id="4" name="内容占位符 2"/>
          <p:cNvSpPr txBox="1"/>
          <p:nvPr/>
        </p:nvSpPr>
        <p:spPr bwMode="auto">
          <a:xfrm>
            <a:off x="5054204" y="1178719"/>
            <a:ext cx="2946797" cy="2518172"/>
          </a:xfrm>
          <a:prstGeom prst="rect">
            <a:avLst/>
          </a:prstGeom>
          <a:solidFill>
            <a:srgbClr val="E1FFE1"/>
          </a:solidFill>
          <a:ln w="9525">
            <a:noFill/>
            <a:miter lim="800000"/>
          </a:ln>
        </p:spPr>
        <p:txBody>
          <a:bodyPr/>
          <a:lstStyle/>
          <a:p>
            <a:pPr marR="0" defTabSz="914400">
              <a:buClrTx/>
              <a:buSzTx/>
              <a:buFontTx/>
              <a:defRPr/>
            </a:pP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f(</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a)</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auto</a:t>
            </a: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b=0;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static</a:t>
            </a:r>
            <a:r>
              <a:rPr kumimoji="0" lang="en-US" altLang="zh-CN" sz="2100" b="1" kern="1200" cap="none" spc="0" normalizeH="0" baseline="0" noProof="0" dirty="0">
                <a:latin typeface="+mn-lt"/>
                <a:ea typeface="+mn-ea"/>
                <a:cs typeface="+mn-cs"/>
              </a:rPr>
              <a:t> c=3;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b=b+1;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c=c+1;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return(</a:t>
            </a:r>
            <a:r>
              <a:rPr kumimoji="0" lang="en-US" altLang="zh-CN" sz="2100" b="1" kern="1200" cap="none" spc="0" normalizeH="0" baseline="0" noProof="0" dirty="0" err="1">
                <a:latin typeface="+mn-lt"/>
                <a:ea typeface="+mn-ea"/>
                <a:cs typeface="+mn-cs"/>
              </a:rPr>
              <a:t>a+b+c</a:t>
            </a: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L="342900" marR="0" indent="-342900" defTabSz="914400" eaLnBrk="0" hangingPunct="0">
              <a:spcBef>
                <a:spcPct val="20000"/>
              </a:spcBef>
              <a:buClrTx/>
              <a:buSzTx/>
              <a:buFont typeface="Wingdings" panose="05000000000000000000" pitchFamily="2" charset="2"/>
              <a:defRPr/>
            </a:pPr>
            <a:endParaRPr kumimoji="0" lang="zh-CN" altLang="zh-CN" sz="2100" b="1" kern="0" cap="none" spc="0" normalizeH="0" baseline="0" noProof="0" dirty="0">
              <a:latin typeface="+mn-lt"/>
              <a:ea typeface="+mn-ea"/>
              <a:cs typeface="+mn-cs"/>
            </a:endParaRPr>
          </a:p>
          <a:p>
            <a:pPr marL="342900" marR="0" indent="-342900" defTabSz="914400" eaLnBrk="0" hangingPunct="0">
              <a:lnSpc>
                <a:spcPct val="120000"/>
              </a:lnSpc>
              <a:spcBef>
                <a:spcPct val="20000"/>
              </a:spcBef>
              <a:buClrTx/>
              <a:buSzTx/>
              <a:buFont typeface="Wingdings" panose="05000000000000000000" pitchFamily="2" charset="2"/>
              <a:defRPr/>
            </a:pPr>
            <a:endParaRPr kumimoji="0" lang="zh-CN" altLang="en-US" sz="2400" b="1" kern="0" cap="none" spc="0" normalizeH="0" baseline="0" noProof="0" dirty="0">
              <a:latin typeface="+mn-lt"/>
              <a:ea typeface="+mn-ea"/>
              <a:cs typeface="+mn-cs"/>
            </a:endParaRPr>
          </a:p>
        </p:txBody>
      </p:sp>
      <p:sp>
        <p:nvSpPr>
          <p:cNvPr id="82947" name="TextBox 8"/>
          <p:cNvSpPr txBox="1"/>
          <p:nvPr/>
        </p:nvSpPr>
        <p:spPr>
          <a:xfrm>
            <a:off x="3607594" y="3857625"/>
            <a:ext cx="321469"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b</a:t>
            </a:r>
            <a:endParaRPr lang="zh-CN" altLang="en-US" sz="2400" b="1" dirty="0">
              <a:latin typeface="Arial" panose="020B0604020202090204" pitchFamily="34" charset="0"/>
            </a:endParaRPr>
          </a:p>
        </p:txBody>
      </p:sp>
      <p:sp>
        <p:nvSpPr>
          <p:cNvPr id="82948" name="TextBox 9"/>
          <p:cNvSpPr txBox="1"/>
          <p:nvPr/>
        </p:nvSpPr>
        <p:spPr>
          <a:xfrm>
            <a:off x="4572000" y="3857625"/>
            <a:ext cx="321469"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c</a:t>
            </a:r>
            <a:endParaRPr lang="zh-CN" altLang="en-US" sz="2400" b="1" dirty="0">
              <a:latin typeface="Arial" panose="020B0604020202090204" pitchFamily="34" charset="0"/>
            </a:endParaRPr>
          </a:p>
        </p:txBody>
      </p:sp>
      <p:sp>
        <p:nvSpPr>
          <p:cNvPr id="11" name="圆角矩形标注 10"/>
          <p:cNvSpPr/>
          <p:nvPr/>
        </p:nvSpPr>
        <p:spPr>
          <a:xfrm>
            <a:off x="5651897" y="3911204"/>
            <a:ext cx="2241947" cy="535781"/>
          </a:xfrm>
          <a:prstGeom prst="wedgeRoundRectCallout">
            <a:avLst>
              <a:gd name="adj1" fmla="val 11444"/>
              <a:gd name="adj2" fmla="val -155111"/>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第三次调用结束</a:t>
            </a:r>
          </a:p>
        </p:txBody>
      </p:sp>
      <p:sp>
        <p:nvSpPr>
          <p:cNvPr id="82950" name="矩形 11"/>
          <p:cNvSpPr/>
          <p:nvPr/>
        </p:nvSpPr>
        <p:spPr>
          <a:xfrm>
            <a:off x="3500438"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solidFill>
                  <a:srgbClr val="FF0000"/>
                </a:solidFill>
                <a:latin typeface="Arial" panose="020B0604020202090204" pitchFamily="34" charset="0"/>
              </a:rPr>
              <a:t>1</a:t>
            </a:r>
            <a:endParaRPr lang="zh-CN" altLang="en-US" sz="2400" dirty="0">
              <a:solidFill>
                <a:srgbClr val="FF0000"/>
              </a:solidFill>
              <a:latin typeface="Arial" panose="020B0604020202090204" pitchFamily="34" charset="0"/>
            </a:endParaRPr>
          </a:p>
        </p:txBody>
      </p:sp>
      <p:sp>
        <p:nvSpPr>
          <p:cNvPr id="82951" name="矩形 13"/>
          <p:cNvSpPr/>
          <p:nvPr/>
        </p:nvSpPr>
        <p:spPr>
          <a:xfrm>
            <a:off x="4464844"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solidFill>
                  <a:srgbClr val="FF0000"/>
                </a:solidFill>
                <a:latin typeface="Arial" panose="020B0604020202090204" pitchFamily="34" charset="0"/>
              </a:rPr>
              <a:t>6</a:t>
            </a:r>
            <a:endParaRPr lang="zh-CN" altLang="en-US" sz="2400" dirty="0">
              <a:solidFill>
                <a:srgbClr val="FF0000"/>
              </a:solidFill>
              <a:latin typeface="Arial" panose="020B0604020202090204" pitchFamily="34" charset="0"/>
            </a:endParaRPr>
          </a:p>
        </p:txBody>
      </p:sp>
      <p:sp>
        <p:nvSpPr>
          <p:cNvPr id="15" name="矩形 14"/>
          <p:cNvSpPr/>
          <p:nvPr/>
        </p:nvSpPr>
        <p:spPr>
          <a:xfrm>
            <a:off x="3232547" y="3911204"/>
            <a:ext cx="1017984" cy="910828"/>
          </a:xfrm>
          <a:prstGeom prst="rect">
            <a:avLst/>
          </a:prstGeom>
          <a:solidFill>
            <a:schemeClr val="accent1"/>
          </a:solidFill>
          <a:ln w="9525">
            <a:noFill/>
          </a:ln>
        </p:spPr>
        <p:txBody>
          <a:bodyPr wrap="none" anchor="t" anchorCtr="0"/>
          <a:lstStyle/>
          <a:p>
            <a:pPr>
              <a:buSzTx/>
            </a:pPr>
            <a:endParaRPr lang="zh-CN" altLang="en-US" sz="3000" dirty="0">
              <a:latin typeface="Arial" panose="020B0604020202090204" pitchFamily="34" charset="0"/>
            </a:endParaRPr>
          </a:p>
        </p:txBody>
      </p:sp>
      <p:sp>
        <p:nvSpPr>
          <p:cNvPr id="16" name="圆角矩形标注 15"/>
          <p:cNvSpPr/>
          <p:nvPr/>
        </p:nvSpPr>
        <p:spPr>
          <a:xfrm>
            <a:off x="4196954" y="2357438"/>
            <a:ext cx="482203" cy="375047"/>
          </a:xfrm>
          <a:prstGeom prst="wedgeRoundRectCallout">
            <a:avLst>
              <a:gd name="adj1" fmla="val 6394"/>
              <a:gd name="adj2" fmla="val 146694"/>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a:buSzTx/>
            </a:pPr>
            <a:r>
              <a:rPr lang="en-US" altLang="zh-CN" sz="2100" b="1" dirty="0">
                <a:solidFill>
                  <a:srgbClr val="0000CC"/>
                </a:solidFill>
                <a:latin typeface="Arial" panose="020B0604020202090204" pitchFamily="34" charset="0"/>
              </a:rPr>
              <a:t>9</a:t>
            </a:r>
            <a:endParaRPr lang="zh-CN" altLang="en-US" sz="2100" b="1" dirty="0">
              <a:solidFill>
                <a:srgbClr val="0000CC"/>
              </a:solidFill>
              <a:latin typeface="Arial" panose="020B060402020209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slide(fromTop)">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5" grpId="0" bldLvl="0" animBg="1"/>
      <p:bldP spid="16" grpId="0" bldLvl="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内容占位符 2"/>
          <p:cNvSpPr>
            <a:spLocks noGrp="1"/>
          </p:cNvSpPr>
          <p:nvPr>
            <p:ph idx="1" hasCustomPrompt="1"/>
          </p:nvPr>
        </p:nvSpPr>
        <p:spPr>
          <a:xfrm>
            <a:off x="1303735" y="642938"/>
            <a:ext cx="5250656" cy="3643313"/>
          </a:xfrm>
        </p:spPr>
        <p:txBody>
          <a:bodyPr vert="horz" wrap="square" lIns="68580" tIns="34290" rIns="68580" bIns="34290" anchor="t" anchorCtr="0"/>
          <a:lstStyle/>
          <a:p>
            <a:pPr eaLnBrk="1" hangingPunct="1">
              <a:buNone/>
            </a:pPr>
            <a:r>
              <a:rPr lang="en-US" altLang="zh-CN" dirty="0"/>
              <a:t>    </a:t>
            </a:r>
            <a:r>
              <a:rPr lang="zh-CN" altLang="zh-CN" dirty="0"/>
              <a:t>例</a:t>
            </a:r>
            <a:r>
              <a:rPr lang="en-US" altLang="zh-CN" dirty="0"/>
              <a:t>5.11 </a:t>
            </a:r>
            <a:r>
              <a:rPr lang="zh-CN" altLang="zh-CN" dirty="0"/>
              <a:t>考察静态局部变量的值。</a:t>
            </a:r>
            <a:endParaRPr lang="en-US" altLang="zh-CN" dirty="0"/>
          </a:p>
          <a:p>
            <a:pPr eaLnBrk="1" hangingPunct="1">
              <a:buNone/>
            </a:pPr>
            <a:r>
              <a:rPr lang="en-US" altLang="zh-CN" sz="2100" dirty="0"/>
              <a:t>#include &lt;stdio.h&gt;</a:t>
            </a:r>
            <a:endParaRPr lang="zh-CN" altLang="zh-CN" sz="2100" dirty="0"/>
          </a:p>
          <a:p>
            <a:pPr eaLnBrk="1" hangingPunct="1">
              <a:buNone/>
            </a:pPr>
            <a:r>
              <a:rPr lang="en-US" altLang="zh-CN" sz="2100" dirty="0"/>
              <a:t>int main()</a:t>
            </a:r>
            <a:endParaRPr lang="zh-CN" altLang="zh-CN" sz="2100" dirty="0"/>
          </a:p>
          <a:p>
            <a:pPr eaLnBrk="1" hangingPunct="1">
              <a:buNone/>
            </a:pPr>
            <a:r>
              <a:rPr lang="en-US" altLang="zh-CN" sz="2100" dirty="0"/>
              <a:t>{ int f(int);           </a:t>
            </a:r>
            <a:endParaRPr lang="zh-CN" altLang="zh-CN" sz="2100" dirty="0"/>
          </a:p>
          <a:p>
            <a:pPr eaLnBrk="1" hangingPunct="1">
              <a:buNone/>
            </a:pPr>
            <a:r>
              <a:rPr lang="en-US" altLang="zh-CN" sz="2100" dirty="0"/>
              <a:t>   int a=2,i;            </a:t>
            </a:r>
            <a:endParaRPr lang="zh-CN" altLang="zh-CN" sz="2100" dirty="0"/>
          </a:p>
          <a:p>
            <a:pPr eaLnBrk="1" hangingPunct="1">
              <a:buNone/>
            </a:pPr>
            <a:r>
              <a:rPr lang="en-US" altLang="zh-CN" sz="2100" dirty="0"/>
              <a:t>   for(i=0;i&lt;3;i++)</a:t>
            </a:r>
            <a:endParaRPr lang="zh-CN" altLang="zh-CN" sz="2100" dirty="0"/>
          </a:p>
          <a:p>
            <a:pPr eaLnBrk="1" hangingPunct="1">
              <a:buNone/>
            </a:pPr>
            <a:r>
              <a:rPr lang="en-US" altLang="zh-CN" sz="2100" dirty="0"/>
              <a:t>     printf(“%d\n”,f(a));</a:t>
            </a:r>
            <a:endParaRPr lang="zh-CN" altLang="zh-CN" sz="2100" dirty="0"/>
          </a:p>
          <a:p>
            <a:pPr eaLnBrk="1" hangingPunct="1">
              <a:buNone/>
            </a:pPr>
            <a:r>
              <a:rPr lang="en-US" altLang="zh-CN" sz="2100" dirty="0"/>
              <a:t>   return 0;</a:t>
            </a:r>
            <a:endParaRPr lang="zh-CN" altLang="zh-CN" sz="2100" dirty="0"/>
          </a:p>
          <a:p>
            <a:pPr eaLnBrk="1" hangingPunct="1">
              <a:buNone/>
            </a:pPr>
            <a:r>
              <a:rPr lang="en-US" altLang="zh-CN" sz="2100" dirty="0"/>
              <a:t>}</a:t>
            </a:r>
            <a:endParaRPr lang="zh-CN" altLang="zh-CN" sz="2100" dirty="0"/>
          </a:p>
          <a:p>
            <a:pPr eaLnBrk="1" hangingPunct="1">
              <a:buNone/>
            </a:pPr>
            <a:endParaRPr lang="zh-CN" altLang="en-US" dirty="0"/>
          </a:p>
        </p:txBody>
      </p:sp>
      <p:sp>
        <p:nvSpPr>
          <p:cNvPr id="4" name="内容占位符 2"/>
          <p:cNvSpPr txBox="1"/>
          <p:nvPr/>
        </p:nvSpPr>
        <p:spPr bwMode="auto">
          <a:xfrm>
            <a:off x="5054204" y="1178719"/>
            <a:ext cx="2946797" cy="2518172"/>
          </a:xfrm>
          <a:prstGeom prst="rect">
            <a:avLst/>
          </a:prstGeom>
          <a:solidFill>
            <a:srgbClr val="E1FFE1"/>
          </a:solidFill>
          <a:ln w="9525">
            <a:noFill/>
            <a:miter lim="800000"/>
          </a:ln>
        </p:spPr>
        <p:txBody>
          <a:bodyPr/>
          <a:lstStyle/>
          <a:p>
            <a:pPr marR="0" defTabSz="914400">
              <a:buClrTx/>
              <a:buSzTx/>
              <a:buFontTx/>
              <a:defRPr/>
            </a:pP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f(</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a)</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auto</a:t>
            </a: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b=0;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static</a:t>
            </a:r>
            <a:r>
              <a:rPr kumimoji="0" lang="en-US" altLang="zh-CN" sz="2100" b="1" kern="1200" cap="none" spc="0" normalizeH="0" baseline="0" noProof="0" dirty="0">
                <a:latin typeface="+mn-lt"/>
                <a:ea typeface="+mn-ea"/>
                <a:cs typeface="+mn-cs"/>
              </a:rPr>
              <a:t> c=3;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b=b+1;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c=c+1;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return(</a:t>
            </a:r>
            <a:r>
              <a:rPr kumimoji="0" lang="en-US" altLang="zh-CN" sz="2100" b="1" kern="1200" cap="none" spc="0" normalizeH="0" baseline="0" noProof="0" dirty="0" err="1">
                <a:latin typeface="+mn-lt"/>
                <a:ea typeface="+mn-ea"/>
                <a:cs typeface="+mn-cs"/>
              </a:rPr>
              <a:t>a+b+c</a:t>
            </a: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L="342900" marR="0" indent="-342900" defTabSz="914400" eaLnBrk="0" hangingPunct="0">
              <a:spcBef>
                <a:spcPct val="20000"/>
              </a:spcBef>
              <a:buClrTx/>
              <a:buSzTx/>
              <a:buFont typeface="Wingdings" panose="05000000000000000000" pitchFamily="2" charset="2"/>
              <a:defRPr/>
            </a:pPr>
            <a:endParaRPr kumimoji="0" lang="zh-CN" altLang="zh-CN" sz="2100" b="1" kern="0" cap="none" spc="0" normalizeH="0" baseline="0" noProof="0" dirty="0">
              <a:latin typeface="+mn-lt"/>
              <a:ea typeface="+mn-ea"/>
              <a:cs typeface="+mn-cs"/>
            </a:endParaRPr>
          </a:p>
          <a:p>
            <a:pPr marL="342900" marR="0" indent="-342900" defTabSz="914400" eaLnBrk="0" hangingPunct="0">
              <a:lnSpc>
                <a:spcPct val="120000"/>
              </a:lnSpc>
              <a:spcBef>
                <a:spcPct val="20000"/>
              </a:spcBef>
              <a:buClrTx/>
              <a:buSzTx/>
              <a:buFont typeface="Wingdings" panose="05000000000000000000" pitchFamily="2" charset="2"/>
              <a:defRPr/>
            </a:pPr>
            <a:endParaRPr kumimoji="0" lang="zh-CN" altLang="en-US" sz="2400" b="1" kern="0" cap="none" spc="0" normalizeH="0" baseline="0" noProof="0" dirty="0">
              <a:latin typeface="+mn-lt"/>
              <a:ea typeface="+mn-ea"/>
              <a:cs typeface="+mn-cs"/>
            </a:endParaRPr>
          </a:p>
        </p:txBody>
      </p:sp>
      <p:sp>
        <p:nvSpPr>
          <p:cNvPr id="83971" name="TextBox 9"/>
          <p:cNvSpPr txBox="1"/>
          <p:nvPr/>
        </p:nvSpPr>
        <p:spPr>
          <a:xfrm>
            <a:off x="4572000" y="3857625"/>
            <a:ext cx="321469" cy="460375"/>
          </a:xfrm>
          <a:prstGeom prst="rect">
            <a:avLst/>
          </a:prstGeom>
          <a:noFill/>
          <a:ln w="9525">
            <a:noFill/>
          </a:ln>
        </p:spPr>
        <p:txBody>
          <a:bodyPr anchor="t" anchorCtr="0">
            <a:spAutoFit/>
          </a:bodyPr>
          <a:lstStyle/>
          <a:p>
            <a:pPr>
              <a:buSzTx/>
            </a:pPr>
            <a:r>
              <a:rPr lang="en-US" altLang="zh-CN" sz="2400" b="1" dirty="0">
                <a:latin typeface="Arial" panose="020B0604020202090204" pitchFamily="34" charset="0"/>
              </a:rPr>
              <a:t>c</a:t>
            </a:r>
            <a:endParaRPr lang="zh-CN" altLang="en-US" sz="2400" b="1" dirty="0">
              <a:latin typeface="Arial" panose="020B0604020202090204" pitchFamily="34" charset="0"/>
            </a:endParaRPr>
          </a:p>
        </p:txBody>
      </p:sp>
      <p:sp>
        <p:nvSpPr>
          <p:cNvPr id="11" name="圆角矩形标注 10"/>
          <p:cNvSpPr/>
          <p:nvPr/>
        </p:nvSpPr>
        <p:spPr>
          <a:xfrm>
            <a:off x="1678781" y="4393406"/>
            <a:ext cx="1875235" cy="535781"/>
          </a:xfrm>
          <a:prstGeom prst="wedgeRoundRectCallout">
            <a:avLst>
              <a:gd name="adj1" fmla="val 9657"/>
              <a:gd name="adj2" fmla="val -155144"/>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整个程序结束</a:t>
            </a:r>
          </a:p>
        </p:txBody>
      </p:sp>
      <p:sp>
        <p:nvSpPr>
          <p:cNvPr id="83973" name="矩形 13"/>
          <p:cNvSpPr/>
          <p:nvPr/>
        </p:nvSpPr>
        <p:spPr>
          <a:xfrm>
            <a:off x="4464844" y="4286250"/>
            <a:ext cx="482204" cy="428625"/>
          </a:xfrm>
          <a:prstGeom prst="rect">
            <a:avLst/>
          </a:prstGeom>
          <a:solidFill>
            <a:schemeClr val="accent1"/>
          </a:solidFill>
          <a:ln w="38100" cap="flat" cmpd="sng">
            <a:solidFill>
              <a:srgbClr val="0000CC"/>
            </a:solidFill>
            <a:prstDash val="solid"/>
            <a:miter/>
            <a:headEnd type="none" w="med" len="med"/>
            <a:tailEnd type="none" w="med" len="med"/>
          </a:ln>
        </p:spPr>
        <p:txBody>
          <a:bodyPr wrap="none" anchor="t" anchorCtr="0"/>
          <a:lstStyle/>
          <a:p>
            <a:pPr algn="ctr">
              <a:buSzTx/>
            </a:pPr>
            <a:r>
              <a:rPr lang="en-US" altLang="zh-CN" sz="2400" dirty="0">
                <a:solidFill>
                  <a:srgbClr val="FF0000"/>
                </a:solidFill>
                <a:latin typeface="Arial" panose="020B0604020202090204" pitchFamily="34" charset="0"/>
              </a:rPr>
              <a:t>6</a:t>
            </a:r>
            <a:endParaRPr lang="zh-CN" altLang="en-US" sz="2400" dirty="0">
              <a:solidFill>
                <a:srgbClr val="FF0000"/>
              </a:solidFill>
              <a:latin typeface="Arial" panose="020B0604020202090204" pitchFamily="34" charset="0"/>
            </a:endParaRPr>
          </a:p>
        </p:txBody>
      </p:sp>
      <p:sp>
        <p:nvSpPr>
          <p:cNvPr id="15" name="矩形 14"/>
          <p:cNvSpPr/>
          <p:nvPr/>
        </p:nvSpPr>
        <p:spPr>
          <a:xfrm>
            <a:off x="4196954" y="3911204"/>
            <a:ext cx="1017984" cy="910828"/>
          </a:xfrm>
          <a:prstGeom prst="rect">
            <a:avLst/>
          </a:prstGeom>
          <a:solidFill>
            <a:schemeClr val="accent1"/>
          </a:solidFill>
          <a:ln w="9525">
            <a:noFill/>
          </a:ln>
        </p:spPr>
        <p:txBody>
          <a:bodyPr wrap="none" anchor="t" anchorCtr="0"/>
          <a:lstStyle/>
          <a:p>
            <a:pPr>
              <a:buSzTx/>
            </a:pPr>
            <a:endParaRPr lang="zh-CN" altLang="en-US" sz="3000" dirty="0">
              <a:latin typeface="Arial" panose="020B0604020202090204" pitchFamily="34" charset="0"/>
            </a:endParaRPr>
          </a:p>
        </p:txBody>
      </p:sp>
      <p:pic>
        <p:nvPicPr>
          <p:cNvPr id="159746" name="Picture 2" descr="pic7-16"/>
          <p:cNvPicPr>
            <a:picLocks noChangeAspect="1"/>
          </p:cNvPicPr>
          <p:nvPr/>
        </p:nvPicPr>
        <p:blipFill>
          <a:blip r:embed="rId2"/>
          <a:stretch>
            <a:fillRect/>
          </a:stretch>
        </p:blipFill>
        <p:spPr>
          <a:xfrm>
            <a:off x="4732735" y="3750469"/>
            <a:ext cx="750094" cy="1221581"/>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slide(fromTop)">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9746"/>
                                        </p:tgtEl>
                                        <p:attrNameLst>
                                          <p:attrName>style.visibility</p:attrName>
                                        </p:attrNameLst>
                                      </p:cBhvr>
                                      <p:to>
                                        <p:strVal val="visible"/>
                                      </p:to>
                                    </p:set>
                                    <p:animEffect transition="in" filter="blinds(horizontal)">
                                      <p:cBhvr>
                                        <p:cTn id="17" dur="500"/>
                                        <p:tgtEl>
                                          <p:spTgt spid="159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5" grpId="0" bldLvl="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内容占位符 2"/>
          <p:cNvSpPr>
            <a:spLocks noGrp="1"/>
          </p:cNvSpPr>
          <p:nvPr>
            <p:ph idx="1" hasCustomPrompt="1"/>
          </p:nvPr>
        </p:nvSpPr>
        <p:spPr>
          <a:xfrm>
            <a:off x="1303735" y="642938"/>
            <a:ext cx="5250656" cy="3643313"/>
          </a:xfrm>
        </p:spPr>
        <p:txBody>
          <a:bodyPr vert="horz" wrap="square" lIns="68580" tIns="34290" rIns="68580" bIns="34290" anchor="t" anchorCtr="0"/>
          <a:lstStyle/>
          <a:p>
            <a:pPr eaLnBrk="1" hangingPunct="1">
              <a:buNone/>
            </a:pPr>
            <a:r>
              <a:rPr lang="en-US" altLang="zh-CN" dirty="0"/>
              <a:t>    </a:t>
            </a:r>
            <a:r>
              <a:rPr lang="zh-CN" altLang="zh-CN" dirty="0"/>
              <a:t>例</a:t>
            </a:r>
            <a:r>
              <a:rPr lang="en-US" altLang="zh-CN" dirty="0"/>
              <a:t>5.11 </a:t>
            </a:r>
            <a:r>
              <a:rPr lang="zh-CN" altLang="zh-CN" dirty="0"/>
              <a:t>考察静态局部变量的值。</a:t>
            </a:r>
            <a:endParaRPr lang="en-US" altLang="zh-CN" dirty="0"/>
          </a:p>
          <a:p>
            <a:pPr eaLnBrk="1" hangingPunct="1">
              <a:buNone/>
            </a:pPr>
            <a:r>
              <a:rPr lang="en-US" altLang="zh-CN" sz="2100" dirty="0"/>
              <a:t>#include &lt;stdio.h&gt;</a:t>
            </a:r>
            <a:endParaRPr lang="zh-CN" altLang="zh-CN" sz="2100" dirty="0"/>
          </a:p>
          <a:p>
            <a:pPr eaLnBrk="1" hangingPunct="1">
              <a:buNone/>
            </a:pPr>
            <a:r>
              <a:rPr lang="en-US" altLang="zh-CN" sz="2100" dirty="0"/>
              <a:t>int main()</a:t>
            </a:r>
            <a:endParaRPr lang="zh-CN" altLang="zh-CN" sz="2100" dirty="0"/>
          </a:p>
          <a:p>
            <a:pPr eaLnBrk="1" hangingPunct="1">
              <a:buNone/>
            </a:pPr>
            <a:r>
              <a:rPr lang="en-US" altLang="zh-CN" sz="2100" dirty="0"/>
              <a:t>{ int f(int);           </a:t>
            </a:r>
            <a:endParaRPr lang="zh-CN" altLang="zh-CN" sz="2100" dirty="0"/>
          </a:p>
          <a:p>
            <a:pPr eaLnBrk="1" hangingPunct="1">
              <a:buNone/>
            </a:pPr>
            <a:r>
              <a:rPr lang="en-US" altLang="zh-CN" sz="2100" dirty="0"/>
              <a:t>   int a=2,i;            </a:t>
            </a:r>
            <a:endParaRPr lang="zh-CN" altLang="zh-CN" sz="2100" dirty="0"/>
          </a:p>
          <a:p>
            <a:pPr eaLnBrk="1" hangingPunct="1">
              <a:buNone/>
            </a:pPr>
            <a:r>
              <a:rPr lang="en-US" altLang="zh-CN" sz="2100" dirty="0"/>
              <a:t>   for(i=0;i&lt;3;i++)</a:t>
            </a:r>
            <a:endParaRPr lang="zh-CN" altLang="zh-CN" sz="2100" dirty="0"/>
          </a:p>
          <a:p>
            <a:pPr eaLnBrk="1" hangingPunct="1">
              <a:buNone/>
            </a:pPr>
            <a:r>
              <a:rPr lang="en-US" altLang="zh-CN" sz="2100" dirty="0"/>
              <a:t>     printf(“%d\n”,f(a));</a:t>
            </a:r>
            <a:endParaRPr lang="zh-CN" altLang="zh-CN" sz="2100" dirty="0"/>
          </a:p>
          <a:p>
            <a:pPr eaLnBrk="1" hangingPunct="1">
              <a:buNone/>
            </a:pPr>
            <a:r>
              <a:rPr lang="en-US" altLang="zh-CN" sz="2100" dirty="0"/>
              <a:t>   return 0;</a:t>
            </a:r>
            <a:endParaRPr lang="zh-CN" altLang="zh-CN" sz="2100" dirty="0"/>
          </a:p>
          <a:p>
            <a:pPr eaLnBrk="1" hangingPunct="1">
              <a:buNone/>
            </a:pPr>
            <a:r>
              <a:rPr lang="en-US" altLang="zh-CN" sz="2100" dirty="0"/>
              <a:t>}</a:t>
            </a:r>
            <a:endParaRPr lang="zh-CN" altLang="zh-CN" sz="2100" dirty="0"/>
          </a:p>
          <a:p>
            <a:pPr eaLnBrk="1" hangingPunct="1">
              <a:buNone/>
            </a:pPr>
            <a:endParaRPr lang="zh-CN" altLang="en-US" dirty="0"/>
          </a:p>
        </p:txBody>
      </p:sp>
      <p:sp>
        <p:nvSpPr>
          <p:cNvPr id="4" name="内容占位符 2"/>
          <p:cNvSpPr txBox="1"/>
          <p:nvPr/>
        </p:nvSpPr>
        <p:spPr bwMode="auto">
          <a:xfrm>
            <a:off x="5054204" y="1178719"/>
            <a:ext cx="2946797" cy="2518172"/>
          </a:xfrm>
          <a:prstGeom prst="rect">
            <a:avLst/>
          </a:prstGeom>
          <a:solidFill>
            <a:srgbClr val="E1FFE1"/>
          </a:solidFill>
          <a:ln w="9525">
            <a:noFill/>
            <a:miter lim="800000"/>
          </a:ln>
        </p:spPr>
        <p:txBody>
          <a:bodyPr/>
          <a:lstStyle/>
          <a:p>
            <a:pPr marR="0" defTabSz="914400">
              <a:buClrTx/>
              <a:buSzTx/>
              <a:buFontTx/>
              <a:defRPr/>
            </a:pP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f(</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a)</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auto</a:t>
            </a: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b=0;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static</a:t>
            </a:r>
            <a:r>
              <a:rPr kumimoji="0" lang="en-US" altLang="zh-CN" sz="2100" b="1" kern="1200" cap="none" spc="0" normalizeH="0" baseline="0" noProof="0" dirty="0">
                <a:latin typeface="+mn-lt"/>
                <a:ea typeface="+mn-ea"/>
                <a:cs typeface="+mn-cs"/>
              </a:rPr>
              <a:t> c=3;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b=b+1;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c=c+1;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return(</a:t>
            </a:r>
            <a:r>
              <a:rPr kumimoji="0" lang="en-US" altLang="zh-CN" sz="2100" b="1" kern="1200" cap="none" spc="0" normalizeH="0" baseline="0" noProof="0" dirty="0" err="1">
                <a:latin typeface="+mn-lt"/>
                <a:ea typeface="+mn-ea"/>
                <a:cs typeface="+mn-cs"/>
              </a:rPr>
              <a:t>a+b+c</a:t>
            </a: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L="342900" marR="0" indent="-342900" defTabSz="914400" eaLnBrk="0" hangingPunct="0">
              <a:spcBef>
                <a:spcPct val="20000"/>
              </a:spcBef>
              <a:buClrTx/>
              <a:buSzTx/>
              <a:buFont typeface="Wingdings" panose="05000000000000000000" pitchFamily="2" charset="2"/>
              <a:defRPr/>
            </a:pPr>
            <a:endParaRPr kumimoji="0" lang="zh-CN" altLang="zh-CN" sz="2100" b="1" kern="0" cap="none" spc="0" normalizeH="0" baseline="0" noProof="0" dirty="0">
              <a:latin typeface="+mn-lt"/>
              <a:ea typeface="+mn-ea"/>
              <a:cs typeface="+mn-cs"/>
            </a:endParaRPr>
          </a:p>
          <a:p>
            <a:pPr marL="342900" marR="0" indent="-342900" defTabSz="914400" eaLnBrk="0" hangingPunct="0">
              <a:lnSpc>
                <a:spcPct val="120000"/>
              </a:lnSpc>
              <a:spcBef>
                <a:spcPct val="20000"/>
              </a:spcBef>
              <a:buClrTx/>
              <a:buSzTx/>
              <a:buFont typeface="Wingdings" panose="05000000000000000000" pitchFamily="2" charset="2"/>
              <a:defRPr/>
            </a:pPr>
            <a:endParaRPr kumimoji="0" lang="zh-CN" altLang="en-US" sz="2400" b="1" kern="0" cap="none" spc="0" normalizeH="0" baseline="0" noProof="0" dirty="0">
              <a:latin typeface="+mn-lt"/>
              <a:ea typeface="+mn-ea"/>
              <a:cs typeface="+mn-cs"/>
            </a:endParaRPr>
          </a:p>
        </p:txBody>
      </p:sp>
      <p:sp>
        <p:nvSpPr>
          <p:cNvPr id="11" name="圆角矩形标注 10"/>
          <p:cNvSpPr/>
          <p:nvPr/>
        </p:nvSpPr>
        <p:spPr>
          <a:xfrm>
            <a:off x="5268516" y="2678906"/>
            <a:ext cx="2436019" cy="535781"/>
          </a:xfrm>
          <a:prstGeom prst="wedgeRoundRectCallout">
            <a:avLst>
              <a:gd name="adj1" fmla="val 1171"/>
              <a:gd name="adj2" fmla="val -155111"/>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a:buSzTx/>
            </a:pPr>
            <a:r>
              <a:rPr lang="zh-CN" altLang="zh-CN" sz="2100" b="1" dirty="0">
                <a:solidFill>
                  <a:srgbClr val="0000CC"/>
                </a:solidFill>
                <a:latin typeface="Arial" panose="020B0604020202090204" pitchFamily="34" charset="0"/>
              </a:rPr>
              <a:t>在编译时赋初值</a:t>
            </a:r>
            <a:endParaRPr lang="zh-CN" altLang="en-US" sz="2100" b="1" dirty="0">
              <a:solidFill>
                <a:srgbClr val="0000CC"/>
              </a:solidFill>
              <a:latin typeface="Arial" panose="020B0604020202090204" pitchFamily="34" charset="0"/>
            </a:endParaRPr>
          </a:p>
        </p:txBody>
      </p:sp>
      <p:sp>
        <p:nvSpPr>
          <p:cNvPr id="9" name="圆角矩形标注 8"/>
          <p:cNvSpPr/>
          <p:nvPr/>
        </p:nvSpPr>
        <p:spPr>
          <a:xfrm>
            <a:off x="4947047" y="750094"/>
            <a:ext cx="2839640" cy="535781"/>
          </a:xfrm>
          <a:prstGeom prst="wedgeRoundRectCallout">
            <a:avLst>
              <a:gd name="adj1" fmla="val 16602"/>
              <a:gd name="adj2" fmla="val 95593"/>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a:buSzTx/>
            </a:pPr>
            <a:r>
              <a:rPr lang="zh-CN" altLang="zh-CN" sz="2100" b="1" dirty="0">
                <a:solidFill>
                  <a:srgbClr val="0000CC"/>
                </a:solidFill>
                <a:latin typeface="Arial" panose="020B0604020202090204" pitchFamily="34" charset="0"/>
              </a:rPr>
              <a:t>在函数调用时赋初值</a:t>
            </a:r>
            <a:endParaRPr lang="zh-CN" altLang="en-US" sz="2100" b="1" dirty="0">
              <a:solidFill>
                <a:srgbClr val="0000CC"/>
              </a:solidFill>
              <a:latin typeface="Arial" panose="020B060402020209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9" grpId="0" bldLvl="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内容占位符 2"/>
          <p:cNvSpPr>
            <a:spLocks noGrp="1"/>
          </p:cNvSpPr>
          <p:nvPr>
            <p:ph idx="1" hasCustomPrompt="1"/>
          </p:nvPr>
        </p:nvSpPr>
        <p:spPr>
          <a:xfrm>
            <a:off x="1303735" y="642938"/>
            <a:ext cx="5250656" cy="3643313"/>
          </a:xfrm>
        </p:spPr>
        <p:txBody>
          <a:bodyPr vert="horz" wrap="square" lIns="68580" tIns="34290" rIns="68580" bIns="34290" anchor="t" anchorCtr="0"/>
          <a:lstStyle/>
          <a:p>
            <a:pPr eaLnBrk="1" hangingPunct="1">
              <a:buNone/>
            </a:pPr>
            <a:r>
              <a:rPr lang="en-US" altLang="zh-CN" dirty="0"/>
              <a:t>    </a:t>
            </a:r>
            <a:r>
              <a:rPr lang="zh-CN" altLang="zh-CN" dirty="0"/>
              <a:t>例</a:t>
            </a:r>
            <a:r>
              <a:rPr lang="en-US" altLang="zh-CN" dirty="0"/>
              <a:t>5.11 </a:t>
            </a:r>
            <a:r>
              <a:rPr lang="zh-CN" altLang="zh-CN" dirty="0"/>
              <a:t>考察静态局部变量的值。</a:t>
            </a:r>
            <a:endParaRPr lang="en-US" altLang="zh-CN" dirty="0"/>
          </a:p>
          <a:p>
            <a:pPr eaLnBrk="1" hangingPunct="1">
              <a:buNone/>
            </a:pPr>
            <a:r>
              <a:rPr lang="en-US" altLang="zh-CN" sz="2100" dirty="0"/>
              <a:t>#include &lt;stdio.h&gt;</a:t>
            </a:r>
            <a:endParaRPr lang="zh-CN" altLang="zh-CN" sz="2100" dirty="0"/>
          </a:p>
          <a:p>
            <a:pPr eaLnBrk="1" hangingPunct="1">
              <a:buNone/>
            </a:pPr>
            <a:r>
              <a:rPr lang="en-US" altLang="zh-CN" sz="2100" dirty="0"/>
              <a:t>int main()</a:t>
            </a:r>
            <a:endParaRPr lang="zh-CN" altLang="zh-CN" sz="2100" dirty="0"/>
          </a:p>
          <a:p>
            <a:pPr eaLnBrk="1" hangingPunct="1">
              <a:buNone/>
            </a:pPr>
            <a:r>
              <a:rPr lang="en-US" altLang="zh-CN" sz="2100" dirty="0"/>
              <a:t>{ int f(int);           </a:t>
            </a:r>
            <a:endParaRPr lang="zh-CN" altLang="zh-CN" sz="2100" dirty="0"/>
          </a:p>
          <a:p>
            <a:pPr eaLnBrk="1" hangingPunct="1">
              <a:buNone/>
            </a:pPr>
            <a:r>
              <a:rPr lang="en-US" altLang="zh-CN" sz="2100" dirty="0"/>
              <a:t>   int a=2,i;            </a:t>
            </a:r>
            <a:endParaRPr lang="zh-CN" altLang="zh-CN" sz="2100" dirty="0"/>
          </a:p>
          <a:p>
            <a:pPr eaLnBrk="1" hangingPunct="1">
              <a:buNone/>
            </a:pPr>
            <a:r>
              <a:rPr lang="en-US" altLang="zh-CN" sz="2100" dirty="0"/>
              <a:t>   for(i=0;i&lt;3;i++)</a:t>
            </a:r>
            <a:endParaRPr lang="zh-CN" altLang="zh-CN" sz="2100" dirty="0"/>
          </a:p>
          <a:p>
            <a:pPr eaLnBrk="1" hangingPunct="1">
              <a:buNone/>
            </a:pPr>
            <a:r>
              <a:rPr lang="en-US" altLang="zh-CN" sz="2100" dirty="0"/>
              <a:t>     printf(“%d\n”,f(a));</a:t>
            </a:r>
            <a:endParaRPr lang="zh-CN" altLang="zh-CN" sz="2100" dirty="0"/>
          </a:p>
          <a:p>
            <a:pPr eaLnBrk="1" hangingPunct="1">
              <a:buNone/>
            </a:pPr>
            <a:r>
              <a:rPr lang="en-US" altLang="zh-CN" sz="2100" dirty="0"/>
              <a:t>   return 0;</a:t>
            </a:r>
            <a:endParaRPr lang="zh-CN" altLang="zh-CN" sz="2100" dirty="0"/>
          </a:p>
          <a:p>
            <a:pPr eaLnBrk="1" hangingPunct="1">
              <a:buNone/>
            </a:pPr>
            <a:r>
              <a:rPr lang="en-US" altLang="zh-CN" sz="2100" dirty="0"/>
              <a:t>}</a:t>
            </a:r>
            <a:endParaRPr lang="zh-CN" altLang="zh-CN" sz="2100" dirty="0"/>
          </a:p>
          <a:p>
            <a:pPr eaLnBrk="1" hangingPunct="1">
              <a:buNone/>
            </a:pPr>
            <a:endParaRPr lang="zh-CN" altLang="en-US" dirty="0"/>
          </a:p>
        </p:txBody>
      </p:sp>
      <p:sp>
        <p:nvSpPr>
          <p:cNvPr id="4" name="内容占位符 2"/>
          <p:cNvSpPr txBox="1"/>
          <p:nvPr/>
        </p:nvSpPr>
        <p:spPr bwMode="auto">
          <a:xfrm>
            <a:off x="5054204" y="1178719"/>
            <a:ext cx="2946797" cy="2518172"/>
          </a:xfrm>
          <a:prstGeom prst="rect">
            <a:avLst/>
          </a:prstGeom>
          <a:solidFill>
            <a:srgbClr val="E1FFE1"/>
          </a:solidFill>
          <a:ln w="9525">
            <a:noFill/>
            <a:miter lim="800000"/>
          </a:ln>
        </p:spPr>
        <p:txBody>
          <a:bodyPr/>
          <a:lstStyle/>
          <a:p>
            <a:pPr marR="0" defTabSz="914400">
              <a:buClrTx/>
              <a:buSzTx/>
              <a:buFontTx/>
              <a:defRPr/>
            </a:pP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f(</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a)</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auto</a:t>
            </a: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b=0;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static</a:t>
            </a:r>
            <a:r>
              <a:rPr kumimoji="0" lang="en-US" altLang="zh-CN" sz="2100" b="1" kern="1200" cap="none" spc="0" normalizeH="0" baseline="0" noProof="0" dirty="0">
                <a:latin typeface="+mn-lt"/>
                <a:ea typeface="+mn-ea"/>
                <a:cs typeface="+mn-cs"/>
              </a:rPr>
              <a:t> c=3;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b=b+1;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c=c+1;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return(</a:t>
            </a:r>
            <a:r>
              <a:rPr kumimoji="0" lang="en-US" altLang="zh-CN" sz="2100" b="1" kern="1200" cap="none" spc="0" normalizeH="0" baseline="0" noProof="0" dirty="0" err="1">
                <a:latin typeface="+mn-lt"/>
                <a:ea typeface="+mn-ea"/>
                <a:cs typeface="+mn-cs"/>
              </a:rPr>
              <a:t>a+b+c</a:t>
            </a: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L="342900" marR="0" indent="-342900" defTabSz="914400" eaLnBrk="0" hangingPunct="0">
              <a:spcBef>
                <a:spcPct val="20000"/>
              </a:spcBef>
              <a:buClrTx/>
              <a:buSzTx/>
              <a:buFont typeface="Wingdings" panose="05000000000000000000" pitchFamily="2" charset="2"/>
              <a:defRPr/>
            </a:pPr>
            <a:endParaRPr kumimoji="0" lang="zh-CN" altLang="zh-CN" sz="2100" b="1" kern="0" cap="none" spc="0" normalizeH="0" baseline="0" noProof="0" dirty="0">
              <a:latin typeface="+mn-lt"/>
              <a:ea typeface="+mn-ea"/>
              <a:cs typeface="+mn-cs"/>
            </a:endParaRPr>
          </a:p>
          <a:p>
            <a:pPr marL="342900" marR="0" indent="-342900" defTabSz="914400" eaLnBrk="0" hangingPunct="0">
              <a:lnSpc>
                <a:spcPct val="120000"/>
              </a:lnSpc>
              <a:spcBef>
                <a:spcPct val="20000"/>
              </a:spcBef>
              <a:buClrTx/>
              <a:buSzTx/>
              <a:buFont typeface="Wingdings" panose="05000000000000000000" pitchFamily="2" charset="2"/>
              <a:defRPr/>
            </a:pPr>
            <a:endParaRPr kumimoji="0" lang="zh-CN" altLang="en-US" sz="2400" b="1" kern="0" cap="none" spc="0" normalizeH="0" baseline="0" noProof="0" dirty="0">
              <a:latin typeface="+mn-lt"/>
              <a:ea typeface="+mn-ea"/>
              <a:cs typeface="+mn-cs"/>
            </a:endParaRPr>
          </a:p>
        </p:txBody>
      </p:sp>
      <p:sp>
        <p:nvSpPr>
          <p:cNvPr id="11" name="圆角矩形标注 10"/>
          <p:cNvSpPr/>
          <p:nvPr/>
        </p:nvSpPr>
        <p:spPr>
          <a:xfrm>
            <a:off x="5268516" y="2678906"/>
            <a:ext cx="2411015" cy="535781"/>
          </a:xfrm>
          <a:prstGeom prst="wedgeRoundRectCallout">
            <a:avLst>
              <a:gd name="adj1" fmla="val -3593"/>
              <a:gd name="adj2" fmla="val -149884"/>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若不赋</a:t>
            </a:r>
            <a:r>
              <a:rPr lang="zh-CN" altLang="zh-CN" sz="2100" b="1" dirty="0">
                <a:solidFill>
                  <a:srgbClr val="0000CC"/>
                </a:solidFill>
                <a:latin typeface="Arial" panose="020B0604020202090204" pitchFamily="34" charset="0"/>
              </a:rPr>
              <a:t>初值</a:t>
            </a:r>
            <a:r>
              <a:rPr lang="zh-CN" altLang="en-US" sz="2100" b="1" dirty="0">
                <a:solidFill>
                  <a:srgbClr val="0000CC"/>
                </a:solidFill>
                <a:latin typeface="Arial" panose="020B0604020202090204" pitchFamily="34" charset="0"/>
              </a:rPr>
              <a:t>，是</a:t>
            </a:r>
            <a:r>
              <a:rPr lang="en-US" altLang="zh-CN" sz="2100" b="1" dirty="0">
                <a:solidFill>
                  <a:srgbClr val="0000CC"/>
                </a:solidFill>
                <a:latin typeface="Arial" panose="020B0604020202090204" pitchFamily="34" charset="0"/>
              </a:rPr>
              <a:t>0</a:t>
            </a:r>
            <a:endParaRPr lang="zh-CN" altLang="en-US" sz="2100" b="1" dirty="0">
              <a:solidFill>
                <a:srgbClr val="0000CC"/>
              </a:solidFill>
              <a:latin typeface="Arial" panose="020B0604020202090204" pitchFamily="34" charset="0"/>
            </a:endParaRPr>
          </a:p>
        </p:txBody>
      </p:sp>
      <p:sp>
        <p:nvSpPr>
          <p:cNvPr id="9" name="圆角矩形标注 8"/>
          <p:cNvSpPr/>
          <p:nvPr/>
        </p:nvSpPr>
        <p:spPr>
          <a:xfrm>
            <a:off x="4947047" y="750094"/>
            <a:ext cx="2839640" cy="535781"/>
          </a:xfrm>
          <a:prstGeom prst="wedgeRoundRectCallout">
            <a:avLst>
              <a:gd name="adj1" fmla="val 16602"/>
              <a:gd name="adj2" fmla="val 95593"/>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若不</a:t>
            </a:r>
            <a:r>
              <a:rPr lang="zh-CN" altLang="zh-CN" sz="2100" b="1" dirty="0">
                <a:solidFill>
                  <a:srgbClr val="0000CC"/>
                </a:solidFill>
                <a:latin typeface="Arial" panose="020B0604020202090204" pitchFamily="34" charset="0"/>
              </a:rPr>
              <a:t>赋初值</a:t>
            </a:r>
            <a:r>
              <a:rPr lang="zh-CN" altLang="en-US" sz="2100" b="1" dirty="0">
                <a:solidFill>
                  <a:srgbClr val="0000CC"/>
                </a:solidFill>
                <a:latin typeface="Arial" panose="020B0604020202090204" pitchFamily="34" charset="0"/>
              </a:rPr>
              <a:t>，不确定</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9" grpId="0" bldLvl="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内容占位符 2"/>
          <p:cNvSpPr>
            <a:spLocks noGrp="1"/>
          </p:cNvSpPr>
          <p:nvPr>
            <p:ph idx="1" hasCustomPrompt="1"/>
          </p:nvPr>
        </p:nvSpPr>
        <p:spPr>
          <a:xfrm>
            <a:off x="1303735" y="642938"/>
            <a:ext cx="5250656" cy="3643313"/>
          </a:xfrm>
        </p:spPr>
        <p:txBody>
          <a:bodyPr vert="horz" wrap="square" lIns="68580" tIns="34290" rIns="68580" bIns="34290" anchor="t" anchorCtr="0"/>
          <a:lstStyle/>
          <a:p>
            <a:pPr eaLnBrk="1" hangingPunct="1">
              <a:buNone/>
            </a:pPr>
            <a:r>
              <a:rPr lang="en-US" altLang="zh-CN" dirty="0"/>
              <a:t>    </a:t>
            </a:r>
            <a:r>
              <a:rPr lang="zh-CN" altLang="zh-CN" dirty="0"/>
              <a:t>例</a:t>
            </a:r>
            <a:r>
              <a:rPr lang="en-US" altLang="zh-CN" dirty="0"/>
              <a:t>5.11 </a:t>
            </a:r>
            <a:r>
              <a:rPr lang="zh-CN" altLang="zh-CN" dirty="0"/>
              <a:t>考察静态局部变量的值。</a:t>
            </a:r>
            <a:endParaRPr lang="en-US" altLang="zh-CN" dirty="0"/>
          </a:p>
          <a:p>
            <a:pPr eaLnBrk="1" hangingPunct="1">
              <a:buNone/>
            </a:pPr>
            <a:r>
              <a:rPr lang="en-US" altLang="zh-CN" sz="2100" dirty="0"/>
              <a:t>#include &lt;stdio.h&gt;</a:t>
            </a:r>
            <a:endParaRPr lang="zh-CN" altLang="zh-CN" sz="2100" dirty="0"/>
          </a:p>
          <a:p>
            <a:pPr eaLnBrk="1" hangingPunct="1">
              <a:buNone/>
            </a:pPr>
            <a:r>
              <a:rPr lang="en-US" altLang="zh-CN" sz="2100" dirty="0"/>
              <a:t>int main()</a:t>
            </a:r>
            <a:endParaRPr lang="zh-CN" altLang="zh-CN" sz="2100" dirty="0"/>
          </a:p>
          <a:p>
            <a:pPr eaLnBrk="1" hangingPunct="1">
              <a:buNone/>
            </a:pPr>
            <a:r>
              <a:rPr lang="en-US" altLang="zh-CN" sz="2100" dirty="0"/>
              <a:t>{ int f(int);           </a:t>
            </a:r>
            <a:endParaRPr lang="zh-CN" altLang="zh-CN" sz="2100" dirty="0"/>
          </a:p>
          <a:p>
            <a:pPr eaLnBrk="1" hangingPunct="1">
              <a:buNone/>
            </a:pPr>
            <a:r>
              <a:rPr lang="en-US" altLang="zh-CN" sz="2100" dirty="0"/>
              <a:t>   int a=2,i;            </a:t>
            </a:r>
            <a:endParaRPr lang="zh-CN" altLang="zh-CN" sz="2100" dirty="0"/>
          </a:p>
          <a:p>
            <a:pPr eaLnBrk="1" hangingPunct="1">
              <a:buNone/>
            </a:pPr>
            <a:r>
              <a:rPr lang="en-US" altLang="zh-CN" sz="2100" dirty="0"/>
              <a:t>   for(i=0;i&lt;3;i++)</a:t>
            </a:r>
            <a:endParaRPr lang="zh-CN" altLang="zh-CN" sz="2100" dirty="0"/>
          </a:p>
          <a:p>
            <a:pPr eaLnBrk="1" hangingPunct="1">
              <a:buNone/>
            </a:pPr>
            <a:r>
              <a:rPr lang="en-US" altLang="zh-CN" sz="2100" dirty="0"/>
              <a:t>     printf(“%d\n”,f(a));</a:t>
            </a:r>
            <a:endParaRPr lang="zh-CN" altLang="zh-CN" sz="2100" dirty="0"/>
          </a:p>
          <a:p>
            <a:pPr eaLnBrk="1" hangingPunct="1">
              <a:buNone/>
            </a:pPr>
            <a:r>
              <a:rPr lang="en-US" altLang="zh-CN" sz="2100" dirty="0"/>
              <a:t>   return 0;</a:t>
            </a:r>
            <a:endParaRPr lang="zh-CN" altLang="zh-CN" sz="2100" dirty="0"/>
          </a:p>
          <a:p>
            <a:pPr eaLnBrk="1" hangingPunct="1">
              <a:buNone/>
            </a:pPr>
            <a:r>
              <a:rPr lang="en-US" altLang="zh-CN" sz="2100" dirty="0"/>
              <a:t>}</a:t>
            </a:r>
            <a:endParaRPr lang="zh-CN" altLang="zh-CN" sz="2100" dirty="0"/>
          </a:p>
          <a:p>
            <a:pPr eaLnBrk="1" hangingPunct="1">
              <a:buNone/>
            </a:pPr>
            <a:endParaRPr lang="zh-CN" altLang="en-US" dirty="0"/>
          </a:p>
        </p:txBody>
      </p:sp>
      <p:sp>
        <p:nvSpPr>
          <p:cNvPr id="4" name="内容占位符 2"/>
          <p:cNvSpPr txBox="1"/>
          <p:nvPr/>
        </p:nvSpPr>
        <p:spPr bwMode="auto">
          <a:xfrm>
            <a:off x="5054204" y="1178719"/>
            <a:ext cx="2946797" cy="2518172"/>
          </a:xfrm>
          <a:prstGeom prst="rect">
            <a:avLst/>
          </a:prstGeom>
          <a:solidFill>
            <a:srgbClr val="E1FFE1"/>
          </a:solidFill>
          <a:ln w="9525">
            <a:noFill/>
            <a:miter lim="800000"/>
          </a:ln>
        </p:spPr>
        <p:txBody>
          <a:bodyPr/>
          <a:lstStyle/>
          <a:p>
            <a:pPr marR="0" defTabSz="914400">
              <a:buClrTx/>
              <a:buSzTx/>
              <a:buFontTx/>
              <a:defRPr/>
            </a:pP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f(</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a)</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auto</a:t>
            </a: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err="1">
                <a:latin typeface="+mn-lt"/>
                <a:ea typeface="+mn-ea"/>
                <a:cs typeface="+mn-cs"/>
              </a:rPr>
              <a:t>int</a:t>
            </a:r>
            <a:r>
              <a:rPr kumimoji="0" lang="en-US" altLang="zh-CN" sz="2100" b="1" kern="1200" cap="none" spc="0" normalizeH="0" baseline="0" noProof="0" dirty="0">
                <a:latin typeface="+mn-lt"/>
                <a:ea typeface="+mn-ea"/>
                <a:cs typeface="+mn-cs"/>
              </a:rPr>
              <a:t> b=0;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a:t>
            </a:r>
            <a:r>
              <a:rPr kumimoji="0" lang="en-US" altLang="zh-CN" sz="2100" b="1" kern="1200" cap="none" spc="0" normalizeH="0" baseline="0" noProof="0" dirty="0">
                <a:solidFill>
                  <a:srgbClr val="9D138D"/>
                </a:solidFill>
                <a:latin typeface="+mn-lt"/>
                <a:ea typeface="+mn-ea"/>
                <a:cs typeface="+mn-cs"/>
              </a:rPr>
              <a:t>static</a:t>
            </a:r>
            <a:r>
              <a:rPr kumimoji="0" lang="en-US" altLang="zh-CN" sz="2100" b="1" kern="1200" cap="none" spc="0" normalizeH="0" baseline="0" noProof="0" dirty="0">
                <a:latin typeface="+mn-lt"/>
                <a:ea typeface="+mn-ea"/>
                <a:cs typeface="+mn-cs"/>
              </a:rPr>
              <a:t> c=3;      </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b=b+1;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c=c+1;</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   return(</a:t>
            </a:r>
            <a:r>
              <a:rPr kumimoji="0" lang="en-US" altLang="zh-CN" sz="2100" b="1" kern="1200" cap="none" spc="0" normalizeH="0" baseline="0" noProof="0" dirty="0" err="1">
                <a:latin typeface="+mn-lt"/>
                <a:ea typeface="+mn-ea"/>
                <a:cs typeface="+mn-cs"/>
              </a:rPr>
              <a:t>a+b+c</a:t>
            </a: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R="0" defTabSz="914400">
              <a:buClrTx/>
              <a:buSzTx/>
              <a:buFontTx/>
              <a:defRPr/>
            </a:pPr>
            <a:r>
              <a:rPr kumimoji="0" lang="en-US" altLang="zh-CN" sz="2100" b="1" kern="1200" cap="none" spc="0" normalizeH="0" baseline="0" noProof="0" dirty="0">
                <a:latin typeface="+mn-lt"/>
                <a:ea typeface="+mn-ea"/>
                <a:cs typeface="+mn-cs"/>
              </a:rPr>
              <a:t>}</a:t>
            </a:r>
            <a:endParaRPr kumimoji="0" lang="zh-CN" altLang="zh-CN" sz="2100" b="1" kern="1200" cap="none" spc="0" normalizeH="0" baseline="0" noProof="0" dirty="0">
              <a:latin typeface="+mn-lt"/>
              <a:ea typeface="+mn-ea"/>
              <a:cs typeface="+mn-cs"/>
            </a:endParaRPr>
          </a:p>
          <a:p>
            <a:pPr marL="342900" marR="0" indent="-342900" defTabSz="914400" eaLnBrk="0" hangingPunct="0">
              <a:spcBef>
                <a:spcPct val="20000"/>
              </a:spcBef>
              <a:buClrTx/>
              <a:buSzTx/>
              <a:buFont typeface="Wingdings" panose="05000000000000000000" pitchFamily="2" charset="2"/>
              <a:defRPr/>
            </a:pPr>
            <a:endParaRPr kumimoji="0" lang="zh-CN" altLang="zh-CN" sz="2100" b="1" kern="0" cap="none" spc="0" normalizeH="0" baseline="0" noProof="0" dirty="0">
              <a:latin typeface="+mn-lt"/>
              <a:ea typeface="+mn-ea"/>
              <a:cs typeface="+mn-cs"/>
            </a:endParaRPr>
          </a:p>
          <a:p>
            <a:pPr marL="342900" marR="0" indent="-342900" defTabSz="914400" eaLnBrk="0" hangingPunct="0">
              <a:lnSpc>
                <a:spcPct val="120000"/>
              </a:lnSpc>
              <a:spcBef>
                <a:spcPct val="20000"/>
              </a:spcBef>
              <a:buClrTx/>
              <a:buSzTx/>
              <a:buFont typeface="Wingdings" panose="05000000000000000000" pitchFamily="2" charset="2"/>
              <a:defRPr/>
            </a:pPr>
            <a:endParaRPr kumimoji="0" lang="zh-CN" altLang="en-US" sz="2400" b="1" kern="0" cap="none" spc="0" normalizeH="0" baseline="0" noProof="0" dirty="0">
              <a:latin typeface="+mn-lt"/>
              <a:ea typeface="+mn-ea"/>
              <a:cs typeface="+mn-cs"/>
            </a:endParaRPr>
          </a:p>
        </p:txBody>
      </p:sp>
      <p:sp>
        <p:nvSpPr>
          <p:cNvPr id="11" name="圆角矩形标注 10"/>
          <p:cNvSpPr/>
          <p:nvPr/>
        </p:nvSpPr>
        <p:spPr>
          <a:xfrm>
            <a:off x="5268516" y="2678906"/>
            <a:ext cx="2571750" cy="535781"/>
          </a:xfrm>
          <a:prstGeom prst="wedgeRoundRectCallout">
            <a:avLst>
              <a:gd name="adj1" fmla="val -3593"/>
              <a:gd name="adj2" fmla="val -149884"/>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a:buSzTx/>
            </a:pPr>
            <a:r>
              <a:rPr lang="zh-CN" altLang="en-US" sz="2100" b="1" dirty="0">
                <a:solidFill>
                  <a:srgbClr val="0000CC"/>
                </a:solidFill>
                <a:latin typeface="Arial" panose="020B0604020202090204" pitchFamily="34" charset="0"/>
              </a:rPr>
              <a:t>仅在本函数内有效</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3"/>
          <p:cNvSpPr>
            <a:spLocks noGrp="1"/>
          </p:cNvSpPr>
          <p:nvPr>
            <p:ph idx="1" hasCustomPrompt="1"/>
          </p:nvPr>
        </p:nvSpPr>
        <p:spPr>
          <a:xfrm>
            <a:off x="1550035" y="1526540"/>
            <a:ext cx="5732780" cy="3065145"/>
          </a:xfrm>
        </p:spPr>
        <p:txBody>
          <a:bodyPr vert="horz" wrap="square" lIns="68580" tIns="34290" rIns="68580" bIns="34290" anchor="t" anchorCtr="0"/>
          <a:lstStyle/>
          <a:p>
            <a:pPr eaLnBrk="1" hangingPunct="1">
              <a:buNone/>
            </a:pPr>
            <a:r>
              <a:rPr lang="en-US" altLang="zh-CN" sz="1800" dirty="0"/>
              <a:t>1. </a:t>
            </a:r>
            <a:r>
              <a:rPr lang="zh-CN" altLang="zh-CN" sz="1800" dirty="0"/>
              <a:t>在一个文件内扩展外部变量的作用域</a:t>
            </a:r>
          </a:p>
          <a:p>
            <a:pPr eaLnBrk="1" hangingPunct="1"/>
            <a:r>
              <a:rPr lang="zh-CN" altLang="zh-CN" sz="1800" dirty="0"/>
              <a:t>外部变量有效的作用范围只限于定义处到</a:t>
            </a:r>
            <a:r>
              <a:rPr lang="zh-CN" altLang="en-US" sz="1800" dirty="0"/>
              <a:t>本</a:t>
            </a:r>
            <a:r>
              <a:rPr lang="zh-CN" altLang="zh-CN" sz="1800" dirty="0"/>
              <a:t>文件结束。 </a:t>
            </a:r>
            <a:endParaRPr lang="en-US" altLang="zh-CN" sz="1800" dirty="0"/>
          </a:p>
          <a:p>
            <a:pPr eaLnBrk="1" hangingPunct="1"/>
            <a:r>
              <a:rPr lang="zh-CN" altLang="en-US" sz="1800" dirty="0"/>
              <a:t>如果</a:t>
            </a:r>
            <a:r>
              <a:rPr lang="zh-CN" altLang="zh-CN" sz="1800" dirty="0"/>
              <a:t>用关键字</a:t>
            </a:r>
            <a:r>
              <a:rPr lang="en-US" altLang="zh-CN" sz="1800" dirty="0">
                <a:solidFill>
                  <a:srgbClr val="C00000"/>
                </a:solidFill>
              </a:rPr>
              <a:t>extern</a:t>
            </a:r>
            <a:r>
              <a:rPr lang="zh-CN" altLang="zh-CN" sz="1800" dirty="0"/>
              <a:t>对</a:t>
            </a:r>
            <a:r>
              <a:rPr lang="zh-CN" altLang="en-US" sz="1800" dirty="0"/>
              <a:t>某</a:t>
            </a:r>
            <a:r>
              <a:rPr lang="zh-CN" altLang="zh-CN" sz="1800" dirty="0"/>
              <a:t>变量作“外部变量声明”，</a:t>
            </a:r>
            <a:r>
              <a:rPr lang="zh-CN" altLang="en-US" sz="1800" dirty="0"/>
              <a:t>则</a:t>
            </a:r>
            <a:r>
              <a:rPr lang="zh-CN" altLang="zh-CN" sz="1800" dirty="0"/>
              <a:t>可以从“声明”处起，合法地使用该外部变量</a:t>
            </a:r>
          </a:p>
          <a:p>
            <a:pPr eaLnBrk="1" hangingPunct="1">
              <a:buNone/>
            </a:pPr>
            <a:endParaRPr lang="zh-CN" altLang="zh-CN" sz="1800" dirty="0"/>
          </a:p>
          <a:p>
            <a:pPr eaLnBrk="1" hangingPunct="1">
              <a:buNone/>
            </a:pPr>
            <a:r>
              <a:rPr lang="zh-CN" altLang="zh-CN" sz="1800" dirty="0"/>
              <a:t>例</a:t>
            </a:r>
            <a:r>
              <a:rPr lang="en-US" altLang="zh-CN" sz="1800" dirty="0"/>
              <a:t>5.12 </a:t>
            </a:r>
            <a:r>
              <a:rPr lang="zh-CN" altLang="zh-CN" sz="1800" dirty="0"/>
              <a:t>调用函数，求</a:t>
            </a:r>
            <a:r>
              <a:rPr lang="en-US" altLang="zh-CN" sz="1800" dirty="0"/>
              <a:t>3</a:t>
            </a:r>
            <a:r>
              <a:rPr lang="zh-CN" altLang="zh-CN" sz="1800" dirty="0"/>
              <a:t>个整数中的大者。</a:t>
            </a:r>
            <a:endParaRPr lang="en-US" altLang="zh-CN" sz="1800" dirty="0"/>
          </a:p>
          <a:p>
            <a:pPr eaLnBrk="1" hangingPunct="1"/>
            <a:r>
              <a:rPr lang="zh-CN" altLang="zh-CN" sz="1800" dirty="0"/>
              <a:t>思路：用</a:t>
            </a:r>
            <a:r>
              <a:rPr lang="en-US" altLang="zh-CN" sz="1800" dirty="0"/>
              <a:t>extern</a:t>
            </a:r>
            <a:r>
              <a:rPr lang="zh-CN" altLang="zh-CN" sz="1800" dirty="0"/>
              <a:t>声明外部变量，扩展外部变量在程序文件中的作用域。</a:t>
            </a:r>
            <a:endParaRPr lang="zh-CN" altLang="en-US" sz="1800" dirty="0"/>
          </a:p>
          <a:p>
            <a:pPr eaLnBrk="1" hangingPunct="1"/>
            <a:endParaRPr lang="zh-CN" altLang="zh-CN" sz="1800" dirty="0"/>
          </a:p>
        </p:txBody>
      </p:sp>
      <p:sp>
        <p:nvSpPr>
          <p:cNvPr id="3" name="Rectangle 2"/>
          <p:cNvSpPr>
            <a:spLocks noGrp="1" noChangeArrowheads="1"/>
          </p:cNvSpPr>
          <p:nvPr>
            <p:ph type="title"/>
            <p:custDataLst>
              <p:tags r:id="rId1"/>
            </p:custDataLst>
          </p:nvPr>
        </p:nvSpPr>
        <p:spPr>
          <a:xfrm>
            <a:off x="1250156" y="601266"/>
            <a:ext cx="6643688" cy="577454"/>
          </a:xfrm>
        </p:spPr>
        <p:txBody>
          <a:bodyPr vert="horz" wrap="square" lIns="68580" tIns="34290" rIns="68580" bIns="3429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全局变量的存储类别</a:t>
            </a:r>
            <a:endParaRPr kumimoji="0" lang="en-US"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内容占位符 2"/>
          <p:cNvSpPr>
            <a:spLocks noGrp="1"/>
          </p:cNvSpPr>
          <p:nvPr>
            <p:ph idx="1" hasCustomPrompt="1"/>
          </p:nvPr>
        </p:nvSpPr>
        <p:spPr>
          <a:xfrm>
            <a:off x="1464469" y="53579"/>
            <a:ext cx="6115050" cy="5036344"/>
          </a:xfrm>
        </p:spPr>
        <p:txBody>
          <a:bodyPr vert="horz" wrap="square" lIns="68580" tIns="34290" rIns="68580" bIns="34290" anchor="t" anchorCtr="0"/>
          <a:lstStyle/>
          <a:p>
            <a:pPr fontAlgn="auto">
              <a:lnSpc>
                <a:spcPct val="100000"/>
              </a:lnSpc>
              <a:buNone/>
            </a:pPr>
            <a:r>
              <a:rPr lang="en-US" altLang="zh-CN" sz="1600" dirty="0"/>
              <a:t>#include &lt;stdio.h&gt;</a:t>
            </a:r>
            <a:endParaRPr lang="zh-CN" altLang="zh-CN" sz="1600" dirty="0"/>
          </a:p>
          <a:p>
            <a:pPr fontAlgn="auto">
              <a:lnSpc>
                <a:spcPct val="100000"/>
              </a:lnSpc>
              <a:buNone/>
            </a:pPr>
            <a:r>
              <a:rPr lang="en-US" altLang="zh-CN" sz="1600" dirty="0"/>
              <a:t>int main()</a:t>
            </a:r>
            <a:endParaRPr lang="zh-CN" altLang="zh-CN" sz="1600" dirty="0"/>
          </a:p>
          <a:p>
            <a:pPr fontAlgn="auto">
              <a:lnSpc>
                <a:spcPct val="100000"/>
              </a:lnSpc>
              <a:buNone/>
            </a:pPr>
            <a:r>
              <a:rPr lang="en-US" altLang="zh-CN" sz="1600" dirty="0"/>
              <a:t>{ int max( );     </a:t>
            </a:r>
            <a:endParaRPr lang="zh-CN" altLang="zh-CN" sz="1600" dirty="0"/>
          </a:p>
          <a:p>
            <a:pPr fontAlgn="auto">
              <a:lnSpc>
                <a:spcPct val="100000"/>
              </a:lnSpc>
              <a:buNone/>
            </a:pPr>
            <a:r>
              <a:rPr lang="en-US" altLang="zh-CN" sz="1600" dirty="0"/>
              <a:t>   </a:t>
            </a:r>
            <a:r>
              <a:rPr lang="en-US" altLang="zh-CN" sz="1600" dirty="0">
                <a:solidFill>
                  <a:srgbClr val="00B050"/>
                </a:solidFill>
              </a:rPr>
              <a:t>extern int A,B,C;   </a:t>
            </a:r>
            <a:endParaRPr lang="zh-CN" altLang="zh-CN" sz="1600" dirty="0">
              <a:solidFill>
                <a:srgbClr val="00B050"/>
              </a:solidFill>
            </a:endParaRPr>
          </a:p>
          <a:p>
            <a:pPr fontAlgn="auto">
              <a:lnSpc>
                <a:spcPct val="100000"/>
              </a:lnSpc>
              <a:buNone/>
            </a:pPr>
            <a:r>
              <a:rPr lang="en-US" altLang="zh-CN" sz="1600" dirty="0"/>
              <a:t>   scanf(“%d %d %d”,&amp;A,&amp;B,&amp;C); </a:t>
            </a:r>
            <a:endParaRPr lang="zh-CN" altLang="zh-CN" sz="1600" dirty="0"/>
          </a:p>
          <a:p>
            <a:pPr fontAlgn="auto">
              <a:lnSpc>
                <a:spcPct val="100000"/>
              </a:lnSpc>
              <a:buNone/>
            </a:pPr>
            <a:r>
              <a:rPr lang="en-US" altLang="zh-CN" sz="1600" dirty="0"/>
              <a:t>   printf("max is %d\n",max());</a:t>
            </a:r>
            <a:endParaRPr lang="zh-CN" altLang="zh-CN" sz="1600" dirty="0"/>
          </a:p>
          <a:p>
            <a:pPr fontAlgn="auto">
              <a:lnSpc>
                <a:spcPct val="100000"/>
              </a:lnSpc>
              <a:buNone/>
            </a:pPr>
            <a:r>
              <a:rPr lang="en-US" altLang="zh-CN" sz="1600" dirty="0"/>
              <a:t>   return 0;</a:t>
            </a:r>
            <a:endParaRPr lang="zh-CN" altLang="zh-CN" sz="1600" dirty="0"/>
          </a:p>
          <a:p>
            <a:pPr fontAlgn="auto">
              <a:lnSpc>
                <a:spcPct val="100000"/>
              </a:lnSpc>
              <a:buNone/>
            </a:pPr>
            <a:r>
              <a:rPr lang="en-US" altLang="zh-CN" sz="1600" dirty="0"/>
              <a:t>} </a:t>
            </a:r>
            <a:endParaRPr lang="zh-CN" altLang="zh-CN" sz="1600" dirty="0"/>
          </a:p>
          <a:p>
            <a:pPr fontAlgn="auto">
              <a:lnSpc>
                <a:spcPct val="100000"/>
              </a:lnSpc>
              <a:buNone/>
            </a:pPr>
            <a:r>
              <a:rPr lang="en-US" altLang="zh-CN" sz="1600" dirty="0">
                <a:solidFill>
                  <a:srgbClr val="00B050"/>
                </a:solidFill>
              </a:rPr>
              <a:t>int A ,B ,C; </a:t>
            </a:r>
            <a:endParaRPr lang="zh-CN" altLang="zh-CN" sz="1600" dirty="0">
              <a:solidFill>
                <a:srgbClr val="00B050"/>
              </a:solidFill>
            </a:endParaRPr>
          </a:p>
          <a:p>
            <a:pPr fontAlgn="auto">
              <a:lnSpc>
                <a:spcPct val="100000"/>
              </a:lnSpc>
              <a:buNone/>
            </a:pPr>
            <a:r>
              <a:rPr lang="en-US" altLang="zh-CN" sz="1600" dirty="0"/>
              <a:t>int max( )    </a:t>
            </a:r>
            <a:endParaRPr lang="zh-CN" altLang="zh-CN" sz="1600" dirty="0"/>
          </a:p>
          <a:p>
            <a:pPr fontAlgn="auto">
              <a:lnSpc>
                <a:spcPct val="100000"/>
              </a:lnSpc>
              <a:buNone/>
            </a:pPr>
            <a:r>
              <a:rPr lang="en-US" altLang="zh-CN" sz="1600" dirty="0"/>
              <a:t>{ int m;</a:t>
            </a:r>
            <a:endParaRPr lang="zh-CN" altLang="zh-CN" sz="1600" dirty="0"/>
          </a:p>
          <a:p>
            <a:pPr fontAlgn="auto">
              <a:lnSpc>
                <a:spcPct val="100000"/>
              </a:lnSpc>
              <a:buNone/>
            </a:pPr>
            <a:r>
              <a:rPr lang="en-US" altLang="zh-CN" sz="1600" dirty="0"/>
              <a:t>   m=A&gt;B?A:B; </a:t>
            </a:r>
            <a:endParaRPr lang="zh-CN" altLang="zh-CN" sz="1600" dirty="0"/>
          </a:p>
          <a:p>
            <a:pPr fontAlgn="auto">
              <a:lnSpc>
                <a:spcPct val="100000"/>
              </a:lnSpc>
              <a:buNone/>
            </a:pPr>
            <a:r>
              <a:rPr lang="en-US" altLang="zh-CN" sz="1600" dirty="0"/>
              <a:t>   if (C&gt;m) m=C; </a:t>
            </a:r>
            <a:endParaRPr lang="zh-CN" altLang="zh-CN" sz="1600" dirty="0"/>
          </a:p>
          <a:p>
            <a:pPr fontAlgn="auto">
              <a:lnSpc>
                <a:spcPct val="100000"/>
              </a:lnSpc>
              <a:buNone/>
            </a:pPr>
            <a:r>
              <a:rPr lang="en-US" altLang="zh-CN" sz="1600" dirty="0"/>
              <a:t>   return(m); }</a:t>
            </a:r>
          </a:p>
        </p:txBody>
      </p:sp>
      <p:pic>
        <p:nvPicPr>
          <p:cNvPr id="161794" name="Picture 2"/>
          <p:cNvPicPr>
            <a:picLocks noChangeAspect="1"/>
          </p:cNvPicPr>
          <p:nvPr/>
        </p:nvPicPr>
        <p:blipFill>
          <a:blip r:embed="rId3"/>
          <a:stretch>
            <a:fillRect/>
          </a:stretch>
        </p:blipFill>
        <p:spPr>
          <a:xfrm>
            <a:off x="6284040" y="845344"/>
            <a:ext cx="1953815" cy="395288"/>
          </a:xfrm>
          <a:prstGeom prst="rect">
            <a:avLst/>
          </a:prstGeom>
          <a:noFill/>
          <a:ln w="9525">
            <a:noFill/>
          </a:ln>
        </p:spPr>
      </p:pic>
      <p:pic>
        <p:nvPicPr>
          <p:cNvPr id="161796" name="Picture 4"/>
          <p:cNvPicPr>
            <a:picLocks noChangeAspect="1"/>
          </p:cNvPicPr>
          <p:nvPr/>
        </p:nvPicPr>
        <p:blipFill>
          <a:blip r:embed="rId4"/>
          <a:stretch>
            <a:fillRect/>
          </a:stretch>
        </p:blipFill>
        <p:spPr>
          <a:xfrm>
            <a:off x="6284040" y="1240631"/>
            <a:ext cx="1953815" cy="341710"/>
          </a:xfrm>
          <a:prstGeom prst="rect">
            <a:avLst/>
          </a:prstGeom>
          <a:noFill/>
          <a:ln w="9525">
            <a:noFill/>
          </a:ln>
        </p:spPr>
      </p:pic>
      <p:sp>
        <p:nvSpPr>
          <p:cNvPr id="6" name="圆角矩形标注 5"/>
          <p:cNvSpPr/>
          <p:nvPr>
            <p:custDataLst>
              <p:tags r:id="rId1"/>
            </p:custDataLst>
          </p:nvPr>
        </p:nvSpPr>
        <p:spPr>
          <a:xfrm>
            <a:off x="3028950" y="205105"/>
            <a:ext cx="2289810" cy="883285"/>
          </a:xfrm>
          <a:prstGeom prst="wedgeRoundRectCallout">
            <a:avLst>
              <a:gd name="adj1" fmla="val -41625"/>
              <a:gd name="adj2" fmla="val 80553"/>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a:buSzTx/>
            </a:pPr>
            <a:r>
              <a:rPr lang="zh-CN" altLang="en-US" b="1" dirty="0">
                <a:solidFill>
                  <a:srgbClr val="0000CC"/>
                </a:solidFill>
                <a:latin typeface="Arial" panose="020B0604020202090204" pitchFamily="34" charset="0"/>
              </a:rPr>
              <a:t>将外部变量</a:t>
            </a:r>
            <a:r>
              <a:rPr lang="en-US" altLang="zh-CN" b="1" dirty="0">
                <a:solidFill>
                  <a:srgbClr val="0000CC"/>
                </a:solidFill>
                <a:latin typeface="Arial" panose="020B0604020202090204" pitchFamily="34" charset="0"/>
              </a:rPr>
              <a:t>A</a:t>
            </a:r>
            <a:r>
              <a:rPr lang="zh-CN" altLang="en-US" b="1" dirty="0">
                <a:solidFill>
                  <a:srgbClr val="0000CC"/>
                </a:solidFill>
                <a:latin typeface="Arial" panose="020B0604020202090204" pitchFamily="34" charset="0"/>
                <a:ea typeface="宋体" pitchFamily="2" charset="-122"/>
              </a:rPr>
              <a:t>，</a:t>
            </a:r>
            <a:r>
              <a:rPr lang="en-US" altLang="zh-CN" b="1" dirty="0">
                <a:solidFill>
                  <a:srgbClr val="0000CC"/>
                </a:solidFill>
                <a:latin typeface="Arial" panose="020B0604020202090204" pitchFamily="34" charset="0"/>
                <a:ea typeface="宋体" pitchFamily="2" charset="-122"/>
              </a:rPr>
              <a:t>B</a:t>
            </a:r>
            <a:r>
              <a:rPr lang="zh-CN" altLang="en-US" b="1" dirty="0">
                <a:solidFill>
                  <a:srgbClr val="0000CC"/>
                </a:solidFill>
                <a:latin typeface="Arial" panose="020B0604020202090204" pitchFamily="34" charset="0"/>
                <a:ea typeface="宋体" pitchFamily="2" charset="-122"/>
              </a:rPr>
              <a:t>，</a:t>
            </a:r>
            <a:r>
              <a:rPr lang="en-US" altLang="zh-CN" b="1" dirty="0">
                <a:solidFill>
                  <a:srgbClr val="0000CC"/>
                </a:solidFill>
                <a:latin typeface="Arial" panose="020B0604020202090204" pitchFamily="34" charset="0"/>
                <a:ea typeface="宋体" pitchFamily="2" charset="-122"/>
              </a:rPr>
              <a:t>C</a:t>
            </a:r>
            <a:r>
              <a:rPr lang="zh-CN" altLang="en-US" b="1" dirty="0">
                <a:solidFill>
                  <a:srgbClr val="0000CC"/>
                </a:solidFill>
                <a:latin typeface="Arial" panose="020B0604020202090204" pitchFamily="34" charset="0"/>
                <a:ea typeface="宋体" pitchFamily="2" charset="-122"/>
              </a:rPr>
              <a:t>的作用域扩展到从此处开始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1794"/>
                                        </p:tgtEl>
                                        <p:attrNameLst>
                                          <p:attrName>style.visibility</p:attrName>
                                        </p:attrNameLst>
                                      </p:cBhvr>
                                      <p:to>
                                        <p:strVal val="visible"/>
                                      </p:to>
                                    </p:set>
                                    <p:animEffect transition="in" filter="blinds(horizontal)">
                                      <p:cBhvr>
                                        <p:cTn id="7" dur="500"/>
                                        <p:tgtEl>
                                          <p:spTgt spid="161794"/>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61796"/>
                                        </p:tgtEl>
                                        <p:attrNameLst>
                                          <p:attrName>style.visibility</p:attrName>
                                        </p:attrNameLst>
                                      </p:cBhvr>
                                      <p:to>
                                        <p:strVal val="visible"/>
                                      </p:to>
                                    </p:set>
                                    <p:animEffect transition="in" filter="blinds(horizontal)">
                                      <p:cBhvr>
                                        <p:cTn id="11" dur="500"/>
                                        <p:tgtEl>
                                          <p:spTgt spid="161796"/>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linds(horizontal)">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内容占位符 2"/>
          <p:cNvSpPr>
            <a:spLocks noGrp="1"/>
          </p:cNvSpPr>
          <p:nvPr>
            <p:ph idx="1" hasCustomPrompt="1"/>
          </p:nvPr>
        </p:nvSpPr>
        <p:spPr>
          <a:xfrm>
            <a:off x="1547813" y="428625"/>
            <a:ext cx="6115050" cy="4446985"/>
          </a:xfrm>
        </p:spPr>
        <p:txBody>
          <a:bodyPr vert="horz" wrap="square" lIns="68580" tIns="34290" rIns="68580" bIns="34290" anchor="t" anchorCtr="0"/>
          <a:lstStyle/>
          <a:p>
            <a:pPr eaLnBrk="1" hangingPunct="1">
              <a:buNone/>
            </a:pPr>
            <a:r>
              <a:rPr lang="en-US" altLang="zh-CN" sz="1800" dirty="0"/>
              <a:t>2. </a:t>
            </a:r>
            <a:r>
              <a:rPr lang="zh-CN" altLang="zh-CN" sz="1800" dirty="0"/>
              <a:t>将外部变量的作用域扩展到其他文件</a:t>
            </a:r>
            <a:endParaRPr lang="en-US" altLang="zh-CN" sz="1800" dirty="0"/>
          </a:p>
          <a:p>
            <a:pPr lvl="1" indent="-325120" eaLnBrk="1" hangingPunct="1"/>
            <a:r>
              <a:rPr lang="zh-CN" altLang="zh-CN" sz="1500" dirty="0"/>
              <a:t>如果一个程序包含两个文件，在两个文件中都要用到同一个外部变量</a:t>
            </a:r>
            <a:r>
              <a:rPr lang="en-US" altLang="zh-CN" sz="1500" dirty="0"/>
              <a:t>Num</a:t>
            </a:r>
            <a:r>
              <a:rPr lang="zh-CN" altLang="zh-CN" sz="1500" dirty="0"/>
              <a:t>，不能分别在两个文件中各自定义一个外部变量</a:t>
            </a:r>
            <a:r>
              <a:rPr lang="en-US" altLang="zh-CN" sz="1500" dirty="0"/>
              <a:t>Num</a:t>
            </a:r>
          </a:p>
          <a:p>
            <a:pPr lvl="1" indent="-325120" eaLnBrk="1" hangingPunct="1"/>
            <a:r>
              <a:rPr lang="zh-CN" altLang="en-US" sz="1500" dirty="0"/>
              <a:t>应</a:t>
            </a:r>
            <a:r>
              <a:rPr lang="zh-CN" altLang="zh-CN" sz="1500" dirty="0"/>
              <a:t>在任一个文件中定义外部变量</a:t>
            </a:r>
            <a:r>
              <a:rPr lang="en-US" altLang="zh-CN" sz="1500" dirty="0"/>
              <a:t>Num</a:t>
            </a:r>
            <a:r>
              <a:rPr lang="zh-CN" altLang="zh-CN" sz="1500" dirty="0"/>
              <a:t>，而在另一文件中用</a:t>
            </a:r>
            <a:r>
              <a:rPr lang="en-US" altLang="zh-CN" sz="1500" dirty="0">
                <a:solidFill>
                  <a:srgbClr val="C00000"/>
                </a:solidFill>
              </a:rPr>
              <a:t>extern</a:t>
            </a:r>
            <a:r>
              <a:rPr lang="zh-CN" altLang="zh-CN" sz="1500" dirty="0"/>
              <a:t>对</a:t>
            </a:r>
            <a:r>
              <a:rPr lang="en-US" altLang="zh-CN" sz="1500" dirty="0"/>
              <a:t>Num</a:t>
            </a:r>
            <a:r>
              <a:rPr lang="zh-CN" altLang="zh-CN" sz="1500" dirty="0"/>
              <a:t>作“外部变量声明”</a:t>
            </a:r>
            <a:endParaRPr lang="en-US" altLang="zh-CN" sz="1500" dirty="0"/>
          </a:p>
          <a:p>
            <a:pPr lvl="1" indent="-325120" eaLnBrk="1" hangingPunct="1"/>
            <a:r>
              <a:rPr lang="zh-CN" altLang="zh-CN" sz="1500" dirty="0"/>
              <a:t>在编译和连接时，系统会由此知道</a:t>
            </a:r>
            <a:r>
              <a:rPr lang="en-US" altLang="zh-CN" sz="1500" dirty="0"/>
              <a:t>Num</a:t>
            </a:r>
            <a:r>
              <a:rPr lang="zh-CN" altLang="zh-CN" sz="1500" dirty="0"/>
              <a:t>有“外部链接”，可以从别处找到已定义的外部变量</a:t>
            </a:r>
            <a:r>
              <a:rPr lang="en-US" altLang="zh-CN" sz="1500" dirty="0"/>
              <a:t>Num</a:t>
            </a:r>
            <a:r>
              <a:rPr lang="zh-CN" altLang="zh-CN" sz="1500" dirty="0"/>
              <a:t>，并将在另一文件中定义的外部变量</a:t>
            </a:r>
            <a:r>
              <a:rPr lang="en-US" altLang="zh-CN" sz="1500" dirty="0"/>
              <a:t>Num</a:t>
            </a:r>
            <a:r>
              <a:rPr lang="zh-CN" altLang="zh-CN" sz="1500" dirty="0"/>
              <a:t>的作用域</a:t>
            </a:r>
            <a:r>
              <a:rPr lang="zh-CN" altLang="zh-CN" sz="1500" dirty="0">
                <a:solidFill>
                  <a:srgbClr val="C00000"/>
                </a:solidFill>
              </a:rPr>
              <a:t>扩展</a:t>
            </a:r>
            <a:r>
              <a:rPr lang="zh-CN" altLang="zh-CN" sz="1500" dirty="0"/>
              <a:t>到本文件</a:t>
            </a:r>
          </a:p>
          <a:p>
            <a:pPr eaLnBrk="1" hangingPunct="1">
              <a:buNone/>
            </a:pPr>
            <a:r>
              <a:rPr lang="en-US" altLang="zh-CN" sz="1500" dirty="0"/>
              <a:t>  </a:t>
            </a:r>
          </a:p>
          <a:p>
            <a:pPr eaLnBrk="1" hangingPunct="1">
              <a:buNone/>
            </a:pPr>
            <a:r>
              <a:rPr lang="zh-CN" altLang="zh-CN" sz="1500" dirty="0"/>
              <a:t>例</a:t>
            </a:r>
            <a:r>
              <a:rPr lang="en-US" altLang="zh-CN" sz="1500" dirty="0"/>
              <a:t>5.13 </a:t>
            </a:r>
            <a:r>
              <a:rPr lang="zh-CN" altLang="zh-CN" sz="1500" dirty="0"/>
              <a:t>给定</a:t>
            </a:r>
            <a:r>
              <a:rPr lang="en-US" altLang="zh-CN" sz="1500" dirty="0"/>
              <a:t>b</a:t>
            </a:r>
            <a:r>
              <a:rPr lang="zh-CN" altLang="zh-CN" sz="1500" dirty="0"/>
              <a:t>的值，输入</a:t>
            </a:r>
            <a:r>
              <a:rPr lang="en-US" altLang="zh-CN" sz="1500" dirty="0"/>
              <a:t>a</a:t>
            </a:r>
            <a:r>
              <a:rPr lang="zh-CN" altLang="zh-CN" sz="1500" dirty="0"/>
              <a:t>和ｍ，求</a:t>
            </a:r>
            <a:r>
              <a:rPr lang="en-US" altLang="zh-CN" sz="1500" dirty="0"/>
              <a:t>a*b</a:t>
            </a:r>
            <a:r>
              <a:rPr lang="zh-CN" altLang="zh-CN" sz="1500" dirty="0"/>
              <a:t>和</a:t>
            </a:r>
            <a:r>
              <a:rPr lang="en-US" altLang="zh-CN" sz="1500" dirty="0"/>
              <a:t>a</a:t>
            </a:r>
            <a:r>
              <a:rPr lang="en-US" altLang="zh-CN" sz="1500" baseline="30000" dirty="0"/>
              <a:t>m</a:t>
            </a:r>
            <a:r>
              <a:rPr lang="zh-CN" altLang="zh-CN" sz="1500" dirty="0"/>
              <a:t>的值。</a:t>
            </a:r>
            <a:endParaRPr lang="en-US" altLang="zh-CN" sz="1500" dirty="0"/>
          </a:p>
          <a:p>
            <a:pPr eaLnBrk="1" hangingPunct="1"/>
            <a:r>
              <a:rPr lang="zh-CN" altLang="zh-CN" sz="1500" dirty="0"/>
              <a:t>解题思路：</a:t>
            </a:r>
          </a:p>
          <a:p>
            <a:pPr lvl="1" indent="-325120" eaLnBrk="1" hangingPunct="1"/>
            <a:r>
              <a:rPr lang="zh-CN" altLang="zh-CN" sz="1500" dirty="0"/>
              <a:t>分别编写两个文件模块，其中文件</a:t>
            </a:r>
            <a:r>
              <a:rPr lang="en-US" altLang="zh-CN" sz="1500" dirty="0"/>
              <a:t>file1.c</a:t>
            </a:r>
            <a:r>
              <a:rPr lang="zh-CN" altLang="zh-CN" sz="1500" dirty="0"/>
              <a:t>包含主函数，另一个文件</a:t>
            </a:r>
            <a:r>
              <a:rPr lang="en-US" altLang="zh-CN" sz="1500" dirty="0"/>
              <a:t>file2.c</a:t>
            </a:r>
            <a:r>
              <a:rPr lang="zh-CN" altLang="zh-CN" sz="1500" dirty="0"/>
              <a:t>包含求</a:t>
            </a:r>
            <a:r>
              <a:rPr lang="en-US" altLang="zh-CN" sz="1500" dirty="0"/>
              <a:t>a</a:t>
            </a:r>
            <a:r>
              <a:rPr lang="en-US" altLang="zh-CN" sz="1500" baseline="30000" dirty="0"/>
              <a:t>m</a:t>
            </a:r>
            <a:r>
              <a:rPr lang="zh-CN" altLang="zh-CN" sz="1500" dirty="0"/>
              <a:t>的函数。</a:t>
            </a:r>
            <a:endParaRPr lang="en-US" altLang="zh-CN" sz="1500" dirty="0"/>
          </a:p>
          <a:p>
            <a:pPr lvl="1" indent="-325120" eaLnBrk="1" hangingPunct="1"/>
            <a:r>
              <a:rPr lang="zh-CN" altLang="zh-CN" sz="1500" dirty="0"/>
              <a:t>在</a:t>
            </a:r>
            <a:r>
              <a:rPr lang="en-US" altLang="zh-CN" sz="1500" dirty="0"/>
              <a:t>file1.c</a:t>
            </a:r>
            <a:r>
              <a:rPr lang="zh-CN" altLang="zh-CN" sz="1500" dirty="0"/>
              <a:t>文件中定义外部变量</a:t>
            </a:r>
            <a:r>
              <a:rPr lang="en-US" altLang="zh-CN" sz="1500" dirty="0"/>
              <a:t>A</a:t>
            </a:r>
            <a:r>
              <a:rPr lang="zh-CN" altLang="zh-CN" sz="1500" dirty="0"/>
              <a:t>，在</a:t>
            </a:r>
            <a:r>
              <a:rPr lang="en-US" altLang="zh-CN" sz="1500" dirty="0"/>
              <a:t>file2.c</a:t>
            </a:r>
            <a:r>
              <a:rPr lang="zh-CN" altLang="zh-CN" sz="1500" dirty="0"/>
              <a:t>中用</a:t>
            </a:r>
            <a:r>
              <a:rPr lang="en-US" altLang="zh-CN" sz="1500" dirty="0"/>
              <a:t>extern</a:t>
            </a:r>
            <a:r>
              <a:rPr lang="zh-CN" altLang="zh-CN" sz="1500" dirty="0"/>
              <a:t>声明外部变量</a:t>
            </a:r>
            <a:r>
              <a:rPr lang="en-US" altLang="zh-CN" sz="1500" dirty="0"/>
              <a:t>A</a:t>
            </a:r>
            <a:r>
              <a:rPr lang="zh-CN" altLang="zh-CN" sz="1500" dirty="0"/>
              <a:t>，把</a:t>
            </a:r>
            <a:r>
              <a:rPr lang="en-US" altLang="zh-CN" sz="1500" dirty="0"/>
              <a:t>A</a:t>
            </a:r>
            <a:r>
              <a:rPr lang="zh-CN" altLang="zh-CN" sz="1500" dirty="0"/>
              <a:t>的作用域从</a:t>
            </a:r>
            <a:r>
              <a:rPr lang="en-US" altLang="zh-CN" sz="1500" dirty="0"/>
              <a:t>file1.c</a:t>
            </a:r>
            <a:r>
              <a:rPr lang="zh-CN" altLang="zh-CN" sz="1500" dirty="0"/>
              <a:t>扩展到</a:t>
            </a:r>
            <a:r>
              <a:rPr lang="en-US" altLang="zh-CN" sz="1500" dirty="0"/>
              <a:t>file2.c</a:t>
            </a:r>
            <a:r>
              <a:rPr lang="zh-CN" altLang="zh-CN" sz="1500" dirty="0"/>
              <a:t>文件。</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3538">
                                            <p:txEl>
                                              <p:pRg st="2" end="2"/>
                                            </p:txEl>
                                          </p:spTgt>
                                        </p:tgtEl>
                                        <p:attrNameLst>
                                          <p:attrName>style.visibility</p:attrName>
                                        </p:attrNameLst>
                                      </p:cBhvr>
                                      <p:to>
                                        <p:strVal val="visible"/>
                                      </p:to>
                                    </p:set>
                                    <p:animEffect transition="in" filter="blinds(horizontal)">
                                      <p:cBhvr>
                                        <p:cTn id="7" dur="500"/>
                                        <p:tgtEl>
                                          <p:spTgt spid="19353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3538">
                                            <p:txEl>
                                              <p:pRg st="3" end="3"/>
                                            </p:txEl>
                                          </p:spTgt>
                                        </p:tgtEl>
                                        <p:attrNameLst>
                                          <p:attrName>style.visibility</p:attrName>
                                        </p:attrNameLst>
                                      </p:cBhvr>
                                      <p:to>
                                        <p:strVal val="visible"/>
                                      </p:to>
                                    </p:set>
                                    <p:animEffect transition="in" filter="blinds(horizontal)">
                                      <p:cBhvr>
                                        <p:cTn id="12" dur="500"/>
                                        <p:tgtEl>
                                          <p:spTgt spid="19353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93538">
                                            <p:txEl>
                                              <p:pRg st="4" end="4"/>
                                            </p:txEl>
                                          </p:spTgt>
                                        </p:tgtEl>
                                        <p:attrNameLst>
                                          <p:attrName>style.visibility</p:attrName>
                                        </p:attrNameLst>
                                      </p:cBhvr>
                                      <p:to>
                                        <p:strVal val="visible"/>
                                      </p:to>
                                    </p:set>
                                    <p:animEffect transition="in" filter="blinds(horizontal)">
                                      <p:cBhvr>
                                        <p:cTn id="17" dur="500"/>
                                        <p:tgtEl>
                                          <p:spTgt spid="19353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93538">
                                            <p:txEl>
                                              <p:pRg st="5" end="5"/>
                                            </p:txEl>
                                          </p:spTgt>
                                        </p:tgtEl>
                                        <p:attrNameLst>
                                          <p:attrName>style.visibility</p:attrName>
                                        </p:attrNameLst>
                                      </p:cBhvr>
                                      <p:to>
                                        <p:strVal val="visible"/>
                                      </p:to>
                                    </p:set>
                                    <p:animEffect transition="in" filter="blinds(horizontal)">
                                      <p:cBhvr>
                                        <p:cTn id="22" dur="500"/>
                                        <p:tgtEl>
                                          <p:spTgt spid="193538">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93538">
                                            <p:txEl>
                                              <p:pRg st="6" end="6"/>
                                            </p:txEl>
                                          </p:spTgt>
                                        </p:tgtEl>
                                        <p:attrNameLst>
                                          <p:attrName>style.visibility</p:attrName>
                                        </p:attrNameLst>
                                      </p:cBhvr>
                                      <p:to>
                                        <p:strVal val="visible"/>
                                      </p:to>
                                    </p:set>
                                    <p:animEffect transition="in" filter="blinds(horizontal)">
                                      <p:cBhvr>
                                        <p:cTn id="27" dur="500"/>
                                        <p:tgtEl>
                                          <p:spTgt spid="193538">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93538">
                                            <p:txEl>
                                              <p:pRg st="7" end="7"/>
                                            </p:txEl>
                                          </p:spTgt>
                                        </p:tgtEl>
                                        <p:attrNameLst>
                                          <p:attrName>style.visibility</p:attrName>
                                        </p:attrNameLst>
                                      </p:cBhvr>
                                      <p:to>
                                        <p:strVal val="visible"/>
                                      </p:to>
                                    </p:set>
                                    <p:animEffect transition="in" filter="blinds(horizontal)">
                                      <p:cBhvr>
                                        <p:cTn id="32" dur="500"/>
                                        <p:tgtEl>
                                          <p:spTgt spid="193538">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93538">
                                            <p:txEl>
                                              <p:pRg st="8" end="8"/>
                                            </p:txEl>
                                          </p:spTgt>
                                        </p:tgtEl>
                                        <p:attrNameLst>
                                          <p:attrName>style.visibility</p:attrName>
                                        </p:attrNameLst>
                                      </p:cBhvr>
                                      <p:to>
                                        <p:strVal val="visible"/>
                                      </p:to>
                                    </p:set>
                                    <p:animEffect transition="in" filter="blinds(horizontal)">
                                      <p:cBhvr>
                                        <p:cTn id="37" dur="500"/>
                                        <p:tgtEl>
                                          <p:spTgt spid="19353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内容占位符 2"/>
          <p:cNvSpPr>
            <a:spLocks noGrp="1"/>
          </p:cNvSpPr>
          <p:nvPr>
            <p:ph idx="1" hasCustomPrompt="1"/>
          </p:nvPr>
        </p:nvSpPr>
        <p:spPr>
          <a:xfrm>
            <a:off x="1604963" y="198835"/>
            <a:ext cx="3022997" cy="4607719"/>
          </a:xfrm>
        </p:spPr>
        <p:txBody>
          <a:bodyPr vert="horz" wrap="square" lIns="68580" tIns="34290" rIns="68580" bIns="34290" anchor="t" anchorCtr="0"/>
          <a:lstStyle/>
          <a:p>
            <a:pPr eaLnBrk="1" hangingPunct="1">
              <a:lnSpc>
                <a:spcPts val="3000"/>
              </a:lnSpc>
              <a:buNone/>
            </a:pPr>
            <a:r>
              <a:rPr lang="zh-CN" altLang="zh-CN" sz="1200" dirty="0">
                <a:solidFill>
                  <a:srgbClr val="FF0000"/>
                </a:solidFill>
              </a:rPr>
              <a:t>文件</a:t>
            </a:r>
            <a:r>
              <a:rPr lang="en-US" altLang="zh-CN" sz="1200" dirty="0">
                <a:solidFill>
                  <a:srgbClr val="FF0000"/>
                </a:solidFill>
              </a:rPr>
              <a:t>file1.c</a:t>
            </a:r>
            <a:r>
              <a:rPr lang="zh-CN" altLang="zh-CN" sz="1200" dirty="0">
                <a:solidFill>
                  <a:srgbClr val="FF0000"/>
                </a:solidFill>
              </a:rPr>
              <a:t>：</a:t>
            </a:r>
            <a:endParaRPr lang="en-US" altLang="zh-CN" sz="1200" dirty="0">
              <a:solidFill>
                <a:srgbClr val="FF0000"/>
              </a:solidFill>
            </a:endParaRPr>
          </a:p>
          <a:p>
            <a:pPr fontAlgn="auto">
              <a:lnSpc>
                <a:spcPct val="100000"/>
              </a:lnSpc>
              <a:buNone/>
            </a:pPr>
            <a:r>
              <a:rPr lang="en-US" altLang="zh-CN" sz="1200" dirty="0"/>
              <a:t>#include &lt;stdio.h&gt;</a:t>
            </a:r>
            <a:endParaRPr lang="zh-CN" altLang="zh-CN" sz="1200" dirty="0"/>
          </a:p>
          <a:p>
            <a:pPr fontAlgn="auto">
              <a:lnSpc>
                <a:spcPct val="100000"/>
              </a:lnSpc>
              <a:buNone/>
            </a:pPr>
            <a:r>
              <a:rPr lang="en-US" altLang="zh-CN" sz="1200" dirty="0"/>
              <a:t>int A; </a:t>
            </a:r>
            <a:endParaRPr lang="zh-CN" altLang="zh-CN" sz="1200" dirty="0"/>
          </a:p>
          <a:p>
            <a:pPr fontAlgn="auto">
              <a:lnSpc>
                <a:spcPct val="100000"/>
              </a:lnSpc>
              <a:buNone/>
            </a:pPr>
            <a:r>
              <a:rPr lang="en-US" altLang="zh-CN" sz="1200" dirty="0"/>
              <a:t>int main()                          </a:t>
            </a:r>
            <a:endParaRPr lang="zh-CN" altLang="zh-CN" sz="1200" dirty="0"/>
          </a:p>
          <a:p>
            <a:pPr fontAlgn="auto">
              <a:lnSpc>
                <a:spcPct val="100000"/>
              </a:lnSpc>
              <a:buNone/>
            </a:pPr>
            <a:r>
              <a:rPr lang="en-US" altLang="zh-CN" sz="1200" dirty="0"/>
              <a:t>{ int power(int); </a:t>
            </a:r>
            <a:endParaRPr lang="zh-CN" altLang="zh-CN" sz="1200" dirty="0"/>
          </a:p>
          <a:p>
            <a:pPr fontAlgn="auto">
              <a:lnSpc>
                <a:spcPct val="100000"/>
              </a:lnSpc>
              <a:buNone/>
            </a:pPr>
            <a:r>
              <a:rPr lang="en-US" altLang="zh-CN" sz="1200" dirty="0"/>
              <a:t>   int b=3,c,d,m;  </a:t>
            </a:r>
          </a:p>
          <a:p>
            <a:pPr fontAlgn="auto">
              <a:lnSpc>
                <a:spcPct val="100000"/>
              </a:lnSpc>
              <a:buNone/>
            </a:pPr>
            <a:r>
              <a:rPr lang="en-US" altLang="zh-CN" sz="1200" dirty="0"/>
              <a:t>   scanf("%d,%d",&amp;A,&amp;m);</a:t>
            </a:r>
            <a:endParaRPr lang="zh-CN" altLang="zh-CN" sz="1200" dirty="0"/>
          </a:p>
          <a:p>
            <a:pPr fontAlgn="auto">
              <a:lnSpc>
                <a:spcPct val="100000"/>
              </a:lnSpc>
              <a:buNone/>
            </a:pPr>
            <a:r>
              <a:rPr lang="en-US" altLang="zh-CN" sz="1200" dirty="0"/>
              <a:t>   c=A*b;</a:t>
            </a:r>
            <a:endParaRPr lang="zh-CN" altLang="zh-CN" sz="1200" dirty="0"/>
          </a:p>
          <a:p>
            <a:pPr fontAlgn="auto">
              <a:lnSpc>
                <a:spcPct val="100000"/>
              </a:lnSpc>
              <a:buNone/>
            </a:pPr>
            <a:r>
              <a:rPr lang="en-US" altLang="zh-CN" sz="1200" dirty="0"/>
              <a:t>   printf("%d*%d=%d\n",A,b,c);</a:t>
            </a:r>
            <a:endParaRPr lang="zh-CN" altLang="zh-CN" sz="1200" dirty="0"/>
          </a:p>
          <a:p>
            <a:pPr fontAlgn="auto">
              <a:lnSpc>
                <a:spcPct val="100000"/>
              </a:lnSpc>
              <a:buNone/>
            </a:pPr>
            <a:r>
              <a:rPr lang="en-US" altLang="zh-CN" sz="1200" dirty="0"/>
              <a:t>   d=power(m);</a:t>
            </a:r>
            <a:endParaRPr lang="zh-CN" altLang="zh-CN" sz="1200" dirty="0"/>
          </a:p>
          <a:p>
            <a:pPr fontAlgn="auto">
              <a:lnSpc>
                <a:spcPct val="100000"/>
              </a:lnSpc>
              <a:buNone/>
            </a:pPr>
            <a:r>
              <a:rPr lang="en-US" altLang="zh-CN" sz="1200" dirty="0"/>
              <a:t>   printf("%d**%d=%d\n",A,m,d);</a:t>
            </a:r>
            <a:endParaRPr lang="zh-CN" altLang="zh-CN" sz="1200" dirty="0"/>
          </a:p>
          <a:p>
            <a:pPr fontAlgn="auto">
              <a:lnSpc>
                <a:spcPct val="100000"/>
              </a:lnSpc>
              <a:buNone/>
            </a:pPr>
            <a:r>
              <a:rPr lang="en-US" altLang="zh-CN" sz="1200" dirty="0"/>
              <a:t>   return 0;</a:t>
            </a:r>
            <a:endParaRPr lang="zh-CN" altLang="zh-CN" sz="1200" dirty="0"/>
          </a:p>
          <a:p>
            <a:pPr fontAlgn="auto">
              <a:lnSpc>
                <a:spcPct val="100000"/>
              </a:lnSpc>
              <a:buNone/>
            </a:pPr>
            <a:r>
              <a:rPr lang="en-US" altLang="zh-CN" sz="1200" dirty="0"/>
              <a:t>}</a:t>
            </a:r>
          </a:p>
        </p:txBody>
      </p:sp>
      <p:sp>
        <p:nvSpPr>
          <p:cNvPr id="91138" name="内容占位符 2"/>
          <p:cNvSpPr>
            <a:spLocks noGrp="1"/>
          </p:cNvSpPr>
          <p:nvPr/>
        </p:nvSpPr>
        <p:spPr>
          <a:xfrm>
            <a:off x="4627960" y="263129"/>
            <a:ext cx="1703784" cy="4208859"/>
          </a:xfrm>
          <a:prstGeom prst="rect">
            <a:avLst/>
          </a:prstGeom>
          <a:noFill/>
          <a:ln w="9525">
            <a:noFill/>
          </a:ln>
        </p:spPr>
        <p:txBody>
          <a:bodyPr wrap="square" lIns="68580" tIns="34290" rIns="68580" bIns="34290" anchor="t" anchorCtr="0"/>
          <a:lstStyle/>
          <a:p>
            <a:pPr marL="342900" indent="-342900">
              <a:spcBef>
                <a:spcPct val="20000"/>
              </a:spcBef>
              <a:buClr>
                <a:schemeClr val="accent1"/>
              </a:buClr>
              <a:buSzPct val="65000"/>
            </a:pPr>
            <a:r>
              <a:rPr lang="zh-CN" altLang="zh-CN" sz="1200" dirty="0">
                <a:solidFill>
                  <a:srgbClr val="FF0000"/>
                </a:solidFill>
                <a:latin typeface="Arial" panose="020B0604020202090204" pitchFamily="34" charset="0"/>
              </a:rPr>
              <a:t>文件</a:t>
            </a:r>
            <a:r>
              <a:rPr lang="en-US" altLang="zh-CN" sz="1200" dirty="0">
                <a:solidFill>
                  <a:srgbClr val="FF0000"/>
                </a:solidFill>
                <a:latin typeface="Arial" panose="020B0604020202090204" pitchFamily="34" charset="0"/>
              </a:rPr>
              <a:t>file2.c</a:t>
            </a:r>
            <a:r>
              <a:rPr lang="zh-CN" altLang="zh-CN" sz="1200" dirty="0">
                <a:solidFill>
                  <a:srgbClr val="FF0000"/>
                </a:solidFill>
                <a:latin typeface="Arial" panose="020B0604020202090204" pitchFamily="34" charset="0"/>
              </a:rPr>
              <a:t>：</a:t>
            </a:r>
          </a:p>
          <a:p>
            <a:pPr marL="342900" indent="-342900">
              <a:spcBef>
                <a:spcPct val="20000"/>
              </a:spcBef>
              <a:buClr>
                <a:schemeClr val="accent1"/>
              </a:buClr>
              <a:buSzPct val="65000"/>
            </a:pPr>
            <a:r>
              <a:rPr lang="en-US" altLang="zh-CN" sz="1200" dirty="0">
                <a:solidFill>
                  <a:srgbClr val="00B050"/>
                </a:solidFill>
                <a:latin typeface="Arial" panose="020B0604020202090204" pitchFamily="34" charset="0"/>
              </a:rPr>
              <a:t>extern  A; </a:t>
            </a:r>
            <a:endParaRPr lang="zh-CN" altLang="zh-CN" sz="1200" dirty="0">
              <a:solidFill>
                <a:srgbClr val="00B050"/>
              </a:solidFill>
              <a:latin typeface="Arial" panose="020B0604020202090204" pitchFamily="34" charset="0"/>
            </a:endParaRPr>
          </a:p>
          <a:p>
            <a:pPr marL="342900" indent="-342900">
              <a:spcBef>
                <a:spcPct val="20000"/>
              </a:spcBef>
              <a:buClr>
                <a:schemeClr val="accent1"/>
              </a:buClr>
              <a:buSzPct val="65000"/>
            </a:pPr>
            <a:r>
              <a:rPr lang="en-US" altLang="zh-CN" sz="1200" dirty="0">
                <a:latin typeface="Arial" panose="020B0604020202090204" pitchFamily="34" charset="0"/>
              </a:rPr>
              <a:t>int power(int n)</a:t>
            </a:r>
            <a:endParaRPr lang="zh-CN" altLang="zh-CN" sz="1200" dirty="0">
              <a:latin typeface="Arial" panose="020B0604020202090204" pitchFamily="34" charset="0"/>
            </a:endParaRPr>
          </a:p>
          <a:p>
            <a:pPr marL="342900" indent="-342900">
              <a:spcBef>
                <a:spcPct val="20000"/>
              </a:spcBef>
              <a:buClr>
                <a:schemeClr val="accent1"/>
              </a:buClr>
              <a:buSzPct val="65000"/>
            </a:pPr>
            <a:r>
              <a:rPr lang="en-US" altLang="zh-CN" sz="1200" dirty="0">
                <a:latin typeface="Arial" panose="020B0604020202090204" pitchFamily="34" charset="0"/>
              </a:rPr>
              <a:t>{ int i,y=1;</a:t>
            </a:r>
            <a:endParaRPr lang="zh-CN" altLang="zh-CN" sz="1200" dirty="0">
              <a:latin typeface="Arial" panose="020B0604020202090204" pitchFamily="34" charset="0"/>
            </a:endParaRPr>
          </a:p>
          <a:p>
            <a:pPr marL="342900" indent="-342900">
              <a:spcBef>
                <a:spcPct val="20000"/>
              </a:spcBef>
              <a:buClr>
                <a:schemeClr val="accent1"/>
              </a:buClr>
              <a:buSzPct val="65000"/>
            </a:pPr>
            <a:r>
              <a:rPr lang="en-US" altLang="zh-CN" sz="1200" dirty="0">
                <a:latin typeface="Arial" panose="020B0604020202090204" pitchFamily="34" charset="0"/>
              </a:rPr>
              <a:t>   for(i=1;i&lt;=n;i++)</a:t>
            </a:r>
            <a:endParaRPr lang="zh-CN" altLang="zh-CN" sz="1200" dirty="0">
              <a:latin typeface="Arial" panose="020B0604020202090204" pitchFamily="34" charset="0"/>
            </a:endParaRPr>
          </a:p>
          <a:p>
            <a:pPr marL="342900" indent="-342900">
              <a:spcBef>
                <a:spcPct val="20000"/>
              </a:spcBef>
              <a:buClr>
                <a:schemeClr val="accent1"/>
              </a:buClr>
              <a:buSzPct val="65000"/>
            </a:pPr>
            <a:r>
              <a:rPr lang="en-US" altLang="zh-CN" sz="1200" dirty="0">
                <a:latin typeface="Arial" panose="020B0604020202090204" pitchFamily="34" charset="0"/>
              </a:rPr>
              <a:t>      y*=A;</a:t>
            </a:r>
            <a:endParaRPr lang="zh-CN" altLang="zh-CN" sz="1200" dirty="0">
              <a:latin typeface="Arial" panose="020B0604020202090204" pitchFamily="34" charset="0"/>
            </a:endParaRPr>
          </a:p>
          <a:p>
            <a:pPr marL="342900" indent="-342900">
              <a:spcBef>
                <a:spcPct val="20000"/>
              </a:spcBef>
              <a:buClr>
                <a:schemeClr val="accent1"/>
              </a:buClr>
              <a:buSzPct val="65000"/>
            </a:pPr>
            <a:r>
              <a:rPr lang="en-US" altLang="zh-CN" sz="1200" dirty="0">
                <a:latin typeface="Arial" panose="020B0604020202090204" pitchFamily="34" charset="0"/>
              </a:rPr>
              <a:t>   return(y);</a:t>
            </a:r>
            <a:endParaRPr lang="zh-CN" altLang="zh-CN" sz="1200" dirty="0">
              <a:latin typeface="Arial" panose="020B0604020202090204" pitchFamily="34" charset="0"/>
            </a:endParaRPr>
          </a:p>
          <a:p>
            <a:pPr marL="342900" indent="-342900">
              <a:spcBef>
                <a:spcPct val="20000"/>
              </a:spcBef>
              <a:buClr>
                <a:schemeClr val="accent1"/>
              </a:buClr>
              <a:buSzPct val="65000"/>
            </a:pPr>
            <a:r>
              <a:rPr lang="en-US" altLang="zh-CN" sz="1200" dirty="0">
                <a:latin typeface="Arial" panose="020B0604020202090204" pitchFamily="34" charset="0"/>
              </a:rPr>
              <a:t>}</a:t>
            </a:r>
          </a:p>
        </p:txBody>
      </p:sp>
      <p:pic>
        <p:nvPicPr>
          <p:cNvPr id="162818" name="Picture 2"/>
          <p:cNvPicPr>
            <a:picLocks noChangeAspect="1"/>
          </p:cNvPicPr>
          <p:nvPr/>
        </p:nvPicPr>
        <p:blipFill>
          <a:blip r:embed="rId2"/>
          <a:stretch>
            <a:fillRect/>
          </a:stretch>
        </p:blipFill>
        <p:spPr>
          <a:xfrm>
            <a:off x="4627960" y="2508647"/>
            <a:ext cx="1233488" cy="644128"/>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28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内容占位符 2"/>
          <p:cNvSpPr>
            <a:spLocks noGrp="1"/>
          </p:cNvSpPr>
          <p:nvPr>
            <p:ph idx="1" hasCustomPrompt="1"/>
          </p:nvPr>
        </p:nvSpPr>
        <p:spPr>
          <a:xfrm>
            <a:off x="1547813" y="535781"/>
            <a:ext cx="6115050" cy="1928813"/>
          </a:xfrm>
        </p:spPr>
        <p:txBody>
          <a:bodyPr vert="horz" wrap="square" lIns="68580" tIns="34290" rIns="68580" bIns="34290" anchor="t" anchorCtr="0"/>
          <a:lstStyle/>
          <a:p>
            <a:pPr eaLnBrk="1" hangingPunct="1">
              <a:buNone/>
            </a:pPr>
            <a:r>
              <a:rPr lang="en-US" altLang="zh-CN" sz="1800" dirty="0"/>
              <a:t>3.</a:t>
            </a:r>
            <a:r>
              <a:rPr lang="zh-CN" altLang="zh-CN" sz="1800" dirty="0"/>
              <a:t>将外部变量的作用域限制在本文件中</a:t>
            </a:r>
            <a:endParaRPr lang="en-US" altLang="zh-CN" sz="1800" dirty="0"/>
          </a:p>
          <a:p>
            <a:pPr eaLnBrk="1" hangingPunct="1"/>
            <a:r>
              <a:rPr lang="zh-CN" altLang="zh-CN" sz="1800" dirty="0"/>
              <a:t>有时在程序设计中希望某些外部变量只限于被本文件引用。这时可以在定义外部变量时加一个</a:t>
            </a:r>
            <a:r>
              <a:rPr lang="en-US" altLang="zh-CN" sz="1800" dirty="0"/>
              <a:t>static</a:t>
            </a:r>
            <a:r>
              <a:rPr lang="zh-CN" altLang="zh-CN" sz="1800" dirty="0"/>
              <a:t>声明。</a:t>
            </a:r>
          </a:p>
        </p:txBody>
      </p:sp>
      <p:sp>
        <p:nvSpPr>
          <p:cNvPr id="4" name="TextBox 3"/>
          <p:cNvSpPr txBox="1"/>
          <p:nvPr/>
        </p:nvSpPr>
        <p:spPr>
          <a:xfrm>
            <a:off x="1625203" y="2382441"/>
            <a:ext cx="2303859" cy="1753235"/>
          </a:xfrm>
          <a:prstGeom prst="rect">
            <a:avLst/>
          </a:prstGeom>
          <a:solidFill>
            <a:srgbClr val="CCECFF"/>
          </a:solidFill>
          <a:ln w="9525">
            <a:noFill/>
          </a:ln>
        </p:spPr>
        <p:txBody>
          <a:bodyPr anchor="t" anchorCtr="0">
            <a:spAutoFit/>
          </a:bodyPr>
          <a:lstStyle/>
          <a:p>
            <a:pPr>
              <a:buSzTx/>
            </a:pPr>
            <a:r>
              <a:rPr lang="en-US" altLang="zh-CN" b="1" dirty="0">
                <a:solidFill>
                  <a:srgbClr val="FF0000"/>
                </a:solidFill>
                <a:latin typeface="Arial" panose="020B0604020202090204" pitchFamily="34" charset="0"/>
              </a:rPr>
              <a:t>file1.c</a:t>
            </a:r>
          </a:p>
          <a:p>
            <a:pPr>
              <a:buSzTx/>
            </a:pPr>
            <a:r>
              <a:rPr lang="en-US" altLang="zh-CN" b="1" dirty="0">
                <a:latin typeface="Arial" panose="020B0604020202090204" pitchFamily="34" charset="0"/>
              </a:rPr>
              <a:t>static </a:t>
            </a:r>
            <a:r>
              <a:rPr lang="en-US" altLang="zh-CN" b="1" dirty="0" err="1">
                <a:latin typeface="Arial" panose="020B0604020202090204" pitchFamily="34" charset="0"/>
              </a:rPr>
              <a:t>int</a:t>
            </a:r>
            <a:r>
              <a:rPr lang="en-US" altLang="zh-CN" b="1" dirty="0">
                <a:latin typeface="Arial" panose="020B0604020202090204" pitchFamily="34" charset="0"/>
              </a:rPr>
              <a:t> </a:t>
            </a:r>
            <a:r>
              <a:rPr lang="en-US" altLang="zh-CN" b="1" dirty="0">
                <a:solidFill>
                  <a:srgbClr val="9D138D"/>
                </a:solidFill>
                <a:latin typeface="Arial" panose="020B0604020202090204" pitchFamily="34" charset="0"/>
              </a:rPr>
              <a:t>A</a:t>
            </a:r>
            <a:r>
              <a:rPr lang="en-US" altLang="zh-CN" b="1" dirty="0">
                <a:latin typeface="Arial" panose="020B0604020202090204" pitchFamily="34" charset="0"/>
              </a:rPr>
              <a:t>;</a:t>
            </a:r>
          </a:p>
          <a:p>
            <a:pPr>
              <a:buSzTx/>
            </a:pPr>
            <a:r>
              <a:rPr lang="en-US" altLang="zh-CN" b="1" dirty="0" err="1">
                <a:latin typeface="Arial" panose="020B0604020202090204" pitchFamily="34" charset="0"/>
              </a:rPr>
              <a:t>int</a:t>
            </a:r>
            <a:r>
              <a:rPr lang="en-US" altLang="zh-CN" b="1" dirty="0">
                <a:latin typeface="Arial" panose="020B0604020202090204" pitchFamily="34" charset="0"/>
              </a:rPr>
              <a:t> main ( )</a:t>
            </a:r>
          </a:p>
          <a:p>
            <a:pPr>
              <a:buSzTx/>
            </a:pPr>
            <a:r>
              <a:rPr lang="en-US" altLang="zh-CN" b="1" dirty="0">
                <a:latin typeface="Arial" panose="020B0604020202090204" pitchFamily="34" charset="0"/>
              </a:rPr>
              <a:t>{</a:t>
            </a:r>
          </a:p>
          <a:p>
            <a:pPr>
              <a:buSzTx/>
            </a:pPr>
            <a:r>
              <a:rPr lang="en-US" altLang="zh-CN" b="1" dirty="0">
                <a:latin typeface="Arial" panose="020B0604020202090204" pitchFamily="34" charset="0"/>
              </a:rPr>
              <a:t>    ……</a:t>
            </a:r>
          </a:p>
          <a:p>
            <a:pPr>
              <a:buSzTx/>
            </a:pPr>
            <a:r>
              <a:rPr lang="en-US" altLang="zh-CN" b="1" dirty="0">
                <a:latin typeface="Arial" panose="020B0604020202090204" pitchFamily="34" charset="0"/>
              </a:rPr>
              <a:t>}</a:t>
            </a:r>
          </a:p>
        </p:txBody>
      </p:sp>
      <p:sp>
        <p:nvSpPr>
          <p:cNvPr id="5" name="TextBox 4"/>
          <p:cNvSpPr txBox="1"/>
          <p:nvPr/>
        </p:nvSpPr>
        <p:spPr>
          <a:xfrm>
            <a:off x="4464844" y="2382441"/>
            <a:ext cx="2839641" cy="1706880"/>
          </a:xfrm>
          <a:prstGeom prst="rect">
            <a:avLst/>
          </a:prstGeom>
          <a:solidFill>
            <a:srgbClr val="FFFFCC"/>
          </a:solidFill>
          <a:ln w="9525">
            <a:noFill/>
          </a:ln>
        </p:spPr>
        <p:txBody>
          <a:bodyPr anchor="t" anchorCtr="0">
            <a:spAutoFit/>
          </a:bodyPr>
          <a:lstStyle/>
          <a:p>
            <a:pPr>
              <a:buSzTx/>
            </a:pPr>
            <a:r>
              <a:rPr lang="en-US" altLang="zh-CN" sz="1500" b="1" dirty="0">
                <a:solidFill>
                  <a:srgbClr val="FF0000"/>
                </a:solidFill>
                <a:latin typeface="Arial" panose="020B0604020202090204" pitchFamily="34" charset="0"/>
              </a:rPr>
              <a:t>file2.c</a:t>
            </a:r>
          </a:p>
          <a:p>
            <a:pPr>
              <a:buSzTx/>
            </a:pPr>
            <a:r>
              <a:rPr lang="en-US" altLang="zh-CN" sz="1500" b="1" dirty="0">
                <a:latin typeface="Arial" panose="020B0604020202090204" pitchFamily="34" charset="0"/>
              </a:rPr>
              <a:t>extern   </a:t>
            </a:r>
            <a:r>
              <a:rPr lang="en-US" altLang="zh-CN" sz="1500" b="1" dirty="0">
                <a:solidFill>
                  <a:srgbClr val="9D138D"/>
                </a:solidFill>
                <a:latin typeface="Arial" panose="020B0604020202090204" pitchFamily="34" charset="0"/>
              </a:rPr>
              <a:t>A</a:t>
            </a:r>
            <a:r>
              <a:rPr lang="en-US" altLang="zh-CN" sz="1500" b="1" dirty="0">
                <a:latin typeface="Arial" panose="020B0604020202090204" pitchFamily="34" charset="0"/>
              </a:rPr>
              <a:t>;</a:t>
            </a:r>
          </a:p>
          <a:p>
            <a:pPr>
              <a:buSzTx/>
            </a:pPr>
            <a:r>
              <a:rPr lang="en-US" altLang="zh-CN" sz="1500" b="1" dirty="0">
                <a:latin typeface="Arial" panose="020B0604020202090204" pitchFamily="34" charset="0"/>
              </a:rPr>
              <a:t>void fun (</a:t>
            </a:r>
            <a:r>
              <a:rPr lang="en-US" altLang="zh-CN" sz="1500" b="1" dirty="0" err="1">
                <a:latin typeface="Arial" panose="020B0604020202090204" pitchFamily="34" charset="0"/>
              </a:rPr>
              <a:t>int</a:t>
            </a:r>
            <a:r>
              <a:rPr lang="en-US" altLang="zh-CN" sz="1500" b="1" dirty="0">
                <a:latin typeface="Arial" panose="020B0604020202090204" pitchFamily="34" charset="0"/>
              </a:rPr>
              <a:t> n)</a:t>
            </a:r>
          </a:p>
          <a:p>
            <a:pPr>
              <a:buSzTx/>
            </a:pPr>
            <a:r>
              <a:rPr lang="en-US" altLang="zh-CN" sz="1500" b="1" dirty="0">
                <a:latin typeface="Arial" panose="020B0604020202090204" pitchFamily="34" charset="0"/>
              </a:rPr>
              <a:t>{  ……</a:t>
            </a:r>
          </a:p>
          <a:p>
            <a:pPr>
              <a:buSzTx/>
            </a:pPr>
            <a:r>
              <a:rPr lang="en-US" altLang="zh-CN" sz="1500" b="1" dirty="0">
                <a:latin typeface="Arial" panose="020B0604020202090204" pitchFamily="34" charset="0"/>
              </a:rPr>
              <a:t>    A=A*n;</a:t>
            </a:r>
          </a:p>
          <a:p>
            <a:pPr>
              <a:buSzTx/>
            </a:pPr>
            <a:r>
              <a:rPr lang="en-US" altLang="zh-CN" sz="1500" b="1" dirty="0">
                <a:latin typeface="Arial" panose="020B0604020202090204" pitchFamily="34" charset="0"/>
              </a:rPr>
              <a:t>    ……</a:t>
            </a:r>
          </a:p>
          <a:p>
            <a:pPr>
              <a:buSzTx/>
            </a:pPr>
            <a:r>
              <a:rPr lang="en-US" altLang="zh-CN" sz="1500" b="1" dirty="0">
                <a:latin typeface="Arial" panose="020B0604020202090204" pitchFamily="34" charset="0"/>
              </a:rPr>
              <a:t>}</a:t>
            </a:r>
          </a:p>
        </p:txBody>
      </p:sp>
      <p:sp>
        <p:nvSpPr>
          <p:cNvPr id="6" name="圆角矩形标注 5"/>
          <p:cNvSpPr/>
          <p:nvPr/>
        </p:nvSpPr>
        <p:spPr>
          <a:xfrm>
            <a:off x="2014538" y="1683544"/>
            <a:ext cx="2289572" cy="458391"/>
          </a:xfrm>
          <a:prstGeom prst="wedgeRoundRectCallout">
            <a:avLst>
              <a:gd name="adj1" fmla="val 6148"/>
              <a:gd name="adj2" fmla="val 170991"/>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a:buSzTx/>
            </a:pPr>
            <a:r>
              <a:rPr lang="zh-CN" altLang="en-US" b="1" dirty="0">
                <a:solidFill>
                  <a:srgbClr val="0000CC"/>
                </a:solidFill>
                <a:latin typeface="Arial" panose="020B0604020202090204" pitchFamily="34" charset="0"/>
              </a:rPr>
              <a:t>只能用于本文件</a:t>
            </a:r>
          </a:p>
        </p:txBody>
      </p:sp>
      <p:sp>
        <p:nvSpPr>
          <p:cNvPr id="7" name="圆角矩形标注 6"/>
          <p:cNvSpPr/>
          <p:nvPr/>
        </p:nvSpPr>
        <p:spPr>
          <a:xfrm>
            <a:off x="5080468" y="1683544"/>
            <a:ext cx="2352675" cy="452438"/>
          </a:xfrm>
          <a:prstGeom prst="wedgeRoundRectCallout">
            <a:avLst>
              <a:gd name="adj1" fmla="val 3329"/>
              <a:gd name="adj2" fmla="val 170889"/>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lgn="ctr">
              <a:buSzTx/>
            </a:pPr>
            <a:r>
              <a:rPr lang="zh-CN" altLang="en-US" b="1" dirty="0">
                <a:solidFill>
                  <a:srgbClr val="0000CC"/>
                </a:solidFill>
                <a:latin typeface="Arial" panose="020B0604020202090204" pitchFamily="34" charset="0"/>
              </a:rPr>
              <a:t>本文件仍然不能用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linds(horizontal)">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7" grpId="0" bldLvl="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内容占位符 2"/>
          <p:cNvSpPr>
            <a:spLocks noGrp="1"/>
          </p:cNvSpPr>
          <p:nvPr>
            <p:ph idx="1" hasCustomPrompt="1"/>
          </p:nvPr>
        </p:nvSpPr>
        <p:spPr>
          <a:xfrm>
            <a:off x="1547813" y="535781"/>
            <a:ext cx="6115050" cy="4232672"/>
          </a:xfrm>
        </p:spPr>
        <p:txBody>
          <a:bodyPr vert="horz" wrap="square" lIns="68580" tIns="34290" rIns="68580" bIns="34290" anchor="t" anchorCtr="0"/>
          <a:lstStyle/>
          <a:p>
            <a:pPr eaLnBrk="1" hangingPunct="1"/>
            <a:r>
              <a:rPr lang="zh-CN" altLang="zh-CN" sz="2100" dirty="0"/>
              <a:t>说明</a:t>
            </a:r>
            <a:r>
              <a:rPr lang="en-US" altLang="zh-CN" sz="2100" dirty="0"/>
              <a:t>: </a:t>
            </a:r>
          </a:p>
          <a:p>
            <a:pPr lvl="1" indent="-325120" eaLnBrk="1" hangingPunct="1"/>
            <a:r>
              <a:rPr lang="zh-CN" altLang="zh-CN" sz="1800" dirty="0"/>
              <a:t>不要误认为对外部变量加</a:t>
            </a:r>
            <a:r>
              <a:rPr lang="en-US" altLang="zh-CN" sz="1800" dirty="0"/>
              <a:t>static</a:t>
            </a:r>
            <a:r>
              <a:rPr lang="zh-CN" altLang="zh-CN" sz="1800" dirty="0"/>
              <a:t>声明后才采取静态存储方式，而不加</a:t>
            </a:r>
            <a:r>
              <a:rPr lang="en-US" altLang="zh-CN" sz="1800" dirty="0"/>
              <a:t>static</a:t>
            </a:r>
            <a:r>
              <a:rPr lang="zh-CN" altLang="zh-CN" sz="1800" dirty="0"/>
              <a:t>的是采取动态存储</a:t>
            </a:r>
            <a:endParaRPr lang="en-US" altLang="zh-CN" sz="1800" dirty="0"/>
          </a:p>
          <a:p>
            <a:pPr lvl="1" indent="-325120" eaLnBrk="1" hangingPunct="1"/>
            <a:r>
              <a:rPr lang="zh-CN" altLang="zh-CN" sz="1800" dirty="0"/>
              <a:t>声明局部变量的存储类型和声明全局变量的存储类型的含义是不同的</a:t>
            </a:r>
            <a:endParaRPr lang="en-US" altLang="zh-CN" sz="1800" dirty="0"/>
          </a:p>
          <a:p>
            <a:pPr lvl="1" indent="-325120" eaLnBrk="1" hangingPunct="1"/>
            <a:r>
              <a:rPr lang="zh-CN" altLang="zh-CN" sz="1800" dirty="0"/>
              <a:t>对于</a:t>
            </a:r>
            <a:r>
              <a:rPr lang="zh-CN" altLang="zh-CN" sz="1800" dirty="0">
                <a:solidFill>
                  <a:srgbClr val="C00000"/>
                </a:solidFill>
              </a:rPr>
              <a:t>局部变量</a:t>
            </a:r>
            <a:r>
              <a:rPr lang="zh-CN" altLang="zh-CN" sz="1800" dirty="0"/>
              <a:t>来说，声明存储类型的作用是指定变量存储的区域以及由此产生的生存期的问题，而对于</a:t>
            </a:r>
            <a:r>
              <a:rPr lang="zh-CN" altLang="zh-CN" sz="1800" dirty="0">
                <a:solidFill>
                  <a:srgbClr val="C00000"/>
                </a:solidFill>
              </a:rPr>
              <a:t>全局变量</a:t>
            </a:r>
            <a:r>
              <a:rPr lang="zh-CN" altLang="zh-CN" sz="1800" dirty="0"/>
              <a:t>来说，声明存储类型的作用是变量作用域的扩展问题</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8658">
                                            <p:txEl>
                                              <p:pRg st="2" end="2"/>
                                            </p:txEl>
                                          </p:spTgt>
                                        </p:tgtEl>
                                        <p:attrNameLst>
                                          <p:attrName>style.visibility</p:attrName>
                                        </p:attrNameLst>
                                      </p:cBhvr>
                                      <p:to>
                                        <p:strVal val="visible"/>
                                      </p:to>
                                    </p:set>
                                    <p:animEffect transition="in" filter="blinds(horizontal)">
                                      <p:cBhvr>
                                        <p:cTn id="7" dur="500"/>
                                        <p:tgtEl>
                                          <p:spTgt spid="19865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8658">
                                            <p:txEl>
                                              <p:pRg st="3" end="3"/>
                                            </p:txEl>
                                          </p:spTgt>
                                        </p:tgtEl>
                                        <p:attrNameLst>
                                          <p:attrName>style.visibility</p:attrName>
                                        </p:attrNameLst>
                                      </p:cBhvr>
                                      <p:to>
                                        <p:strVal val="visible"/>
                                      </p:to>
                                    </p:set>
                                    <p:animEffect transition="in" filter="blinds(horizontal)">
                                      <p:cBhvr>
                                        <p:cTn id="12" dur="500"/>
                                        <p:tgtEl>
                                          <p:spTgt spid="19865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内容占位符 2"/>
          <p:cNvSpPr>
            <a:spLocks noGrp="1"/>
          </p:cNvSpPr>
          <p:nvPr>
            <p:ph idx="1" hasCustomPrompt="1"/>
          </p:nvPr>
        </p:nvSpPr>
        <p:spPr>
          <a:xfrm>
            <a:off x="1518047" y="964406"/>
            <a:ext cx="6115050" cy="3896916"/>
          </a:xfrm>
        </p:spPr>
        <p:txBody>
          <a:bodyPr vert="horz" wrap="square" lIns="68580" tIns="34290" rIns="68580" bIns="34290" anchor="t" anchorCtr="0"/>
          <a:lstStyle/>
          <a:p>
            <a:pPr eaLnBrk="1" hangingPunct="1"/>
            <a:r>
              <a:rPr lang="zh-CN" altLang="zh-CN" sz="2100" dirty="0"/>
              <a:t>用</a:t>
            </a:r>
            <a:r>
              <a:rPr lang="en-US" altLang="zh-CN" sz="2100" dirty="0"/>
              <a:t>static </a:t>
            </a:r>
            <a:r>
              <a:rPr lang="zh-CN" altLang="zh-CN" sz="2100" dirty="0"/>
              <a:t>声明一个变量的作用：</a:t>
            </a:r>
          </a:p>
          <a:p>
            <a:pPr lvl="1" indent="-325120" eaLnBrk="1" hangingPunct="1">
              <a:buNone/>
            </a:pPr>
            <a:r>
              <a:rPr lang="en-US" altLang="zh-CN" sz="1800" dirty="0"/>
              <a:t>(1) </a:t>
            </a:r>
            <a:r>
              <a:rPr lang="zh-CN" altLang="zh-CN" sz="1800" dirty="0"/>
              <a:t>对</a:t>
            </a:r>
            <a:r>
              <a:rPr lang="zh-CN" altLang="zh-CN" sz="1800" dirty="0">
                <a:solidFill>
                  <a:srgbClr val="C00000"/>
                </a:solidFill>
              </a:rPr>
              <a:t>局部变量</a:t>
            </a:r>
            <a:r>
              <a:rPr lang="zh-CN" altLang="zh-CN" sz="1800" dirty="0"/>
              <a:t>用</a:t>
            </a:r>
            <a:r>
              <a:rPr lang="en-US" altLang="zh-CN" sz="1800" dirty="0"/>
              <a:t>static</a:t>
            </a:r>
            <a:r>
              <a:rPr lang="zh-CN" altLang="zh-CN" sz="1800" dirty="0"/>
              <a:t>声明，把它分配在静态存储区，该变量在整个程序执行期间不释放，其所分配的空间始终存在。</a:t>
            </a:r>
          </a:p>
          <a:p>
            <a:pPr lvl="1" indent="-325120" eaLnBrk="1" hangingPunct="1">
              <a:buNone/>
            </a:pPr>
            <a:r>
              <a:rPr lang="en-US" altLang="zh-CN" sz="1800" dirty="0"/>
              <a:t>(2) </a:t>
            </a:r>
            <a:r>
              <a:rPr lang="zh-CN" altLang="zh-CN" sz="1800" dirty="0"/>
              <a:t>对</a:t>
            </a:r>
            <a:r>
              <a:rPr lang="zh-CN" altLang="zh-CN" sz="1800" dirty="0">
                <a:solidFill>
                  <a:srgbClr val="C00000"/>
                </a:solidFill>
              </a:rPr>
              <a:t>全局变量</a:t>
            </a:r>
            <a:r>
              <a:rPr lang="zh-CN" altLang="zh-CN" sz="1800" dirty="0"/>
              <a:t>用</a:t>
            </a:r>
            <a:r>
              <a:rPr lang="en-US" altLang="zh-CN" sz="1800" dirty="0"/>
              <a:t>static</a:t>
            </a:r>
            <a:r>
              <a:rPr lang="zh-CN" altLang="zh-CN" sz="1800" dirty="0"/>
              <a:t>声明，则该变量的作用域只限于本文件模块</a:t>
            </a:r>
            <a:r>
              <a:rPr lang="en-US" altLang="zh-CN" sz="1800" dirty="0"/>
              <a:t>(</a:t>
            </a:r>
            <a:r>
              <a:rPr lang="zh-CN" altLang="zh-CN" sz="1800" dirty="0"/>
              <a:t>即被声明的文件中</a:t>
            </a:r>
            <a:r>
              <a:rPr lang="en-US" altLang="zh-CN" sz="1800" dirty="0"/>
              <a:t>)</a:t>
            </a:r>
            <a:r>
              <a:rPr lang="zh-CN" altLang="zh-CN" sz="1800" dirty="0"/>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9682">
                                            <p:txEl>
                                              <p:charRg st="21" end="81"/>
                                            </p:txEl>
                                          </p:spTgt>
                                        </p:tgtEl>
                                        <p:attrNameLst>
                                          <p:attrName>style.visibility</p:attrName>
                                        </p:attrNameLst>
                                      </p:cBhvr>
                                      <p:to>
                                        <p:strVal val="visible"/>
                                      </p:to>
                                    </p:set>
                                    <p:animEffect transition="in" filter="blinds(horizontal)">
                                      <p:cBhvr>
                                        <p:cTn id="7" dur="500"/>
                                        <p:tgtEl>
                                          <p:spTgt spid="199682">
                                            <p:txEl>
                                              <p:charRg st="21" end="8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9682">
                                            <p:txEl>
                                              <p:charRg st="81" end="125"/>
                                            </p:txEl>
                                          </p:spTgt>
                                        </p:tgtEl>
                                        <p:attrNameLst>
                                          <p:attrName>style.visibility</p:attrName>
                                        </p:attrNameLst>
                                      </p:cBhvr>
                                      <p:to>
                                        <p:strVal val="visible"/>
                                      </p:to>
                                    </p:set>
                                    <p:animEffect transition="in" filter="blinds(horizontal)">
                                      <p:cBhvr>
                                        <p:cTn id="12" dur="500"/>
                                        <p:tgtEl>
                                          <p:spTgt spid="199682">
                                            <p:txEl>
                                              <p:charRg st="81" end="12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81923"/>
          <p:cNvSpPr txBox="1"/>
          <p:nvPr/>
        </p:nvSpPr>
        <p:spPr>
          <a:xfrm>
            <a:off x="1638300" y="334804"/>
            <a:ext cx="5867400" cy="1824038"/>
          </a:xfrm>
          <a:prstGeom prst="rect">
            <a:avLst/>
          </a:prstGeom>
          <a:noFill/>
          <a:ln w="9525">
            <a:noFill/>
          </a:ln>
        </p:spPr>
        <p:txBody>
          <a:bodyPr anchor="b"/>
          <a:lstStyle>
            <a:lvl1pPr marL="0" lvl="0" indent="0" algn="r" defTabSz="914400" rtl="0" eaLnBrk="1" fontAlgn="base" latinLnBrk="0" hangingPunct="1">
              <a:lnSpc>
                <a:spcPct val="100000"/>
              </a:lnSpc>
              <a:spcBef>
                <a:spcPct val="0"/>
              </a:spcBef>
              <a:spcAft>
                <a:spcPct val="0"/>
              </a:spcAft>
              <a:buClrTx/>
              <a:buSzTx/>
              <a:buFontTx/>
              <a:buNone/>
              <a:defRPr sz="4800" b="1" i="0" u="none" kern="1200" baseline="0">
                <a:solidFill>
                  <a:schemeClr val="tx2"/>
                </a:solidFill>
                <a:latin typeface="+mj-lt"/>
                <a:ea typeface="+mj-ea"/>
                <a:cs typeface="+mj-cs"/>
              </a:defRPr>
            </a:lvl1pPr>
          </a:lstStyle>
          <a:p>
            <a:pPr algn="ctr"/>
            <a:r>
              <a:rPr lang="zh-CN" altLang="en-US" sz="3600" noProof="1">
                <a:solidFill>
                  <a:srgbClr val="330066"/>
                </a:solidFill>
                <a:effectLst>
                  <a:outerShdw blurRad="38100" dist="38100" dir="2700000">
                    <a:srgbClr val="C0C0C0"/>
                  </a:outerShdw>
                </a:effectLst>
                <a:latin typeface="Arial" panose="020B0604020202090204" pitchFamily="34" charset="0"/>
                <a:ea typeface="隶书" panose="02010509060101010101" pitchFamily="49" charset="-122"/>
              </a:rPr>
              <a:t>内部函数和外部函数</a:t>
            </a:r>
          </a:p>
        </p:txBody>
      </p:sp>
      <p:cxnSp>
        <p:nvCxnSpPr>
          <p:cNvPr id="4" name="直接连接符 3"/>
          <p:cNvCxnSpPr/>
          <p:nvPr/>
        </p:nvCxnSpPr>
        <p:spPr>
          <a:xfrm>
            <a:off x="323850" y="2352052"/>
            <a:ext cx="8496300" cy="0"/>
          </a:xfrm>
          <a:prstGeom prst="line">
            <a:avLst/>
          </a:prstGeom>
          <a:ln w="25400">
            <a:solidFill>
              <a:srgbClr val="782367"/>
            </a:solidFill>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3873" y="185003"/>
            <a:ext cx="430355" cy="430355"/>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440656" y="191691"/>
            <a:ext cx="3938588" cy="732235"/>
          </a:xfrm>
        </p:spPr>
        <p:txBody>
          <a:bodyPr vert="horz" wrap="square" lIns="68580" tIns="34290" rIns="68580" bIns="3429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240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内部函数和外部函数</a:t>
            </a:r>
          </a:p>
        </p:txBody>
      </p:sp>
      <p:sp>
        <p:nvSpPr>
          <p:cNvPr id="95234" name="内容占位符 1"/>
          <p:cNvSpPr>
            <a:spLocks noGrp="1"/>
          </p:cNvSpPr>
          <p:nvPr>
            <p:ph idx="1" hasCustomPrompt="1"/>
          </p:nvPr>
        </p:nvSpPr>
        <p:spPr>
          <a:xfrm>
            <a:off x="1485900" y="1307306"/>
            <a:ext cx="6172200" cy="3398044"/>
          </a:xfrm>
        </p:spPr>
        <p:txBody>
          <a:bodyPr anchor="t" anchorCtr="0"/>
          <a:lstStyle/>
          <a:p>
            <a:pPr eaLnBrk="1" hangingPunct="1"/>
            <a:r>
              <a:rPr lang="zh-CN" altLang="zh-CN" sz="1800" dirty="0"/>
              <a:t>如果一个函数只能被本文件中其他函数所调用</a:t>
            </a:r>
            <a:r>
              <a:rPr lang="zh-CN" altLang="en-US" sz="1800" dirty="0"/>
              <a:t>，</a:t>
            </a:r>
            <a:r>
              <a:rPr lang="zh-CN" altLang="zh-CN" sz="1800" dirty="0"/>
              <a:t>它称为</a:t>
            </a:r>
            <a:r>
              <a:rPr lang="zh-CN" altLang="zh-CN" sz="1800" dirty="0">
                <a:solidFill>
                  <a:srgbClr val="C00000"/>
                </a:solidFill>
              </a:rPr>
              <a:t>内部函数</a:t>
            </a:r>
            <a:r>
              <a:rPr lang="zh-CN" altLang="zh-CN" sz="1800" dirty="0"/>
              <a:t>。</a:t>
            </a:r>
            <a:endParaRPr lang="en-US" altLang="zh-CN" sz="1800" dirty="0"/>
          </a:p>
          <a:p>
            <a:pPr eaLnBrk="1" hangingPunct="1"/>
            <a:r>
              <a:rPr lang="zh-CN" altLang="zh-CN" sz="1800" dirty="0"/>
              <a:t>在定义内部函数时</a:t>
            </a:r>
            <a:r>
              <a:rPr lang="zh-CN" altLang="en-US" sz="1800" dirty="0"/>
              <a:t>，</a:t>
            </a:r>
            <a:r>
              <a:rPr lang="zh-CN" altLang="zh-CN" sz="1800" dirty="0"/>
              <a:t>在函数名和函数类型的前面加</a:t>
            </a:r>
            <a:r>
              <a:rPr lang="en-US" altLang="zh-CN" sz="1800" dirty="0"/>
              <a:t>static</a:t>
            </a:r>
            <a:r>
              <a:rPr lang="zh-CN" altLang="zh-CN" sz="1800" dirty="0"/>
              <a:t>，即</a:t>
            </a:r>
            <a:r>
              <a:rPr lang="en-US" altLang="zh-CN" sz="1800" dirty="0"/>
              <a:t>:</a:t>
            </a:r>
            <a:endParaRPr lang="zh-CN" altLang="zh-CN" sz="1800" dirty="0"/>
          </a:p>
          <a:p>
            <a:pPr eaLnBrk="1" hangingPunct="1">
              <a:buNone/>
            </a:pPr>
            <a:r>
              <a:rPr lang="en-US" altLang="zh-CN" sz="1800" dirty="0"/>
              <a:t>    static </a:t>
            </a:r>
            <a:r>
              <a:rPr lang="zh-CN" altLang="zh-CN" sz="1800" dirty="0"/>
              <a:t>类型名 函数名</a:t>
            </a:r>
            <a:r>
              <a:rPr lang="en-US" altLang="zh-CN" sz="1800" dirty="0"/>
              <a:t>(</a:t>
            </a:r>
            <a:r>
              <a:rPr lang="zh-CN" altLang="zh-CN" sz="1800" dirty="0"/>
              <a:t>形参表</a:t>
            </a:r>
            <a:r>
              <a:rPr lang="en-US" altLang="zh-CN" sz="1800" dirty="0"/>
              <a:t>) </a:t>
            </a:r>
          </a:p>
          <a:p>
            <a:endParaRPr lang="en-US" altLang="zh-CN" sz="1800" dirty="0"/>
          </a:p>
        </p:txBody>
      </p:sp>
      <p:sp>
        <p:nvSpPr>
          <p:cNvPr id="3" name="Rectangle 2"/>
          <p:cNvSpPr>
            <a:spLocks noGrp="1" noChangeArrowheads="1"/>
          </p:cNvSpPr>
          <p:nvPr/>
        </p:nvSpPr>
        <p:spPr>
          <a:xfrm>
            <a:off x="1525191" y="854869"/>
            <a:ext cx="5445919" cy="423863"/>
          </a:xfrm>
          <a:prstGeom prst="rect">
            <a:avLst/>
          </a:prstGeom>
          <a:noFill/>
          <a:ln w="9525">
            <a:noFill/>
          </a:ln>
        </p:spPr>
        <p:txBody>
          <a:bodyPr vert="horz" wrap="square" lIns="68580" tIns="34290" rIns="68580" bIns="34290" numCol="1" anchor="ctr" anchorCtr="0" compatLnSpc="1"/>
          <a:lstStyle>
            <a:lvl1pPr algn="l" rtl="0" eaLnBrk="0" fontAlgn="base" hangingPunct="0">
              <a:spcBef>
                <a:spcPct val="0"/>
              </a:spcBef>
              <a:spcAft>
                <a:spcPct val="0"/>
              </a:spcAft>
              <a:defRPr sz="4200" kern="1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anose="02020404030301010803" pitchFamily="18" charset="0"/>
                <a:ea typeface="宋体" pitchFamily="2" charset="-122"/>
              </a:defRPr>
            </a:lvl2pPr>
            <a:lvl3pPr algn="l" rtl="0" eaLnBrk="0" fontAlgn="base" hangingPunct="0">
              <a:spcBef>
                <a:spcPct val="0"/>
              </a:spcBef>
              <a:spcAft>
                <a:spcPct val="0"/>
              </a:spcAft>
              <a:defRPr sz="4200">
                <a:solidFill>
                  <a:schemeClr val="tx2"/>
                </a:solidFill>
                <a:latin typeface="Garamond" panose="02020404030301010803" pitchFamily="18" charset="0"/>
                <a:ea typeface="宋体" pitchFamily="2" charset="-122"/>
              </a:defRPr>
            </a:lvl3pPr>
            <a:lvl4pPr algn="l" rtl="0" eaLnBrk="0" fontAlgn="base" hangingPunct="0">
              <a:spcBef>
                <a:spcPct val="0"/>
              </a:spcBef>
              <a:spcAft>
                <a:spcPct val="0"/>
              </a:spcAft>
              <a:defRPr sz="4200">
                <a:solidFill>
                  <a:schemeClr val="tx2"/>
                </a:solidFill>
                <a:latin typeface="Garamond" panose="02020404030301010803" pitchFamily="18" charset="0"/>
                <a:ea typeface="宋体" pitchFamily="2" charset="-122"/>
              </a:defRPr>
            </a:lvl4pPr>
            <a:lvl5pPr algn="l" rtl="0" eaLnBrk="0" fontAlgn="base" hangingPunct="0">
              <a:spcBef>
                <a:spcPct val="0"/>
              </a:spcBef>
              <a:spcAft>
                <a:spcPct val="0"/>
              </a:spcAft>
              <a:defRPr sz="4200">
                <a:solidFill>
                  <a:schemeClr val="tx2"/>
                </a:solidFill>
                <a:latin typeface="Garamond" panose="02020404030301010803" pitchFamily="18" charset="0"/>
                <a:ea typeface="宋体" pitchFamily="2" charset="-122"/>
              </a:defRPr>
            </a:lvl5pPr>
            <a:lvl6pPr marL="457200" algn="l" rtl="0" fontAlgn="base">
              <a:spcBef>
                <a:spcPct val="0"/>
              </a:spcBef>
              <a:spcAft>
                <a:spcPct val="0"/>
              </a:spcAft>
              <a:defRPr sz="4200">
                <a:solidFill>
                  <a:schemeClr val="tx2"/>
                </a:solidFill>
                <a:latin typeface="Garamond" panose="02020404030301010803" pitchFamily="18" charset="0"/>
                <a:ea typeface="宋体" pitchFamily="2" charset="-122"/>
              </a:defRPr>
            </a:lvl6pPr>
            <a:lvl7pPr marL="914400" algn="l" rtl="0" fontAlgn="base">
              <a:spcBef>
                <a:spcPct val="0"/>
              </a:spcBef>
              <a:spcAft>
                <a:spcPct val="0"/>
              </a:spcAft>
              <a:defRPr sz="4200">
                <a:solidFill>
                  <a:schemeClr val="tx2"/>
                </a:solidFill>
                <a:latin typeface="Garamond" panose="02020404030301010803" pitchFamily="18" charset="0"/>
                <a:ea typeface="宋体" pitchFamily="2" charset="-122"/>
              </a:defRPr>
            </a:lvl7pPr>
            <a:lvl8pPr marL="1371600" algn="l" rtl="0" fontAlgn="base">
              <a:spcBef>
                <a:spcPct val="0"/>
              </a:spcBef>
              <a:spcAft>
                <a:spcPct val="0"/>
              </a:spcAft>
              <a:defRPr sz="4200">
                <a:solidFill>
                  <a:schemeClr val="tx2"/>
                </a:solidFill>
                <a:latin typeface="Garamond" panose="02020404030301010803" pitchFamily="18" charset="0"/>
                <a:ea typeface="宋体" pitchFamily="2" charset="-122"/>
              </a:defRPr>
            </a:lvl8pPr>
            <a:lvl9pPr marL="1828800" algn="l" rtl="0" fontAlgn="base">
              <a:spcBef>
                <a:spcPct val="0"/>
              </a:spcBef>
              <a:spcAft>
                <a:spcPct val="0"/>
              </a:spcAft>
              <a:defRPr sz="4200">
                <a:solidFill>
                  <a:schemeClr val="tx2"/>
                </a:solidFill>
                <a:latin typeface="Garamond" panose="02020404030301010803" pitchFamily="18" charset="0"/>
                <a:ea typeface="宋体"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180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内部函数</a:t>
            </a: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518047" y="642938"/>
            <a:ext cx="6161485" cy="577454"/>
          </a:xfrm>
        </p:spPr>
        <p:txBody>
          <a:bodyPr vert="horz" wrap="square" lIns="68580" tIns="34290" rIns="68580" bIns="3429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内部函数</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214019" name="Rectangle 3"/>
          <p:cNvSpPr>
            <a:spLocks noGrp="1"/>
          </p:cNvSpPr>
          <p:nvPr>
            <p:ph idx="1" hasCustomPrompt="1"/>
          </p:nvPr>
        </p:nvSpPr>
        <p:spPr>
          <a:xfrm>
            <a:off x="1603772" y="1412081"/>
            <a:ext cx="5679281" cy="3161110"/>
          </a:xfrm>
        </p:spPr>
        <p:txBody>
          <a:bodyPr vert="horz" wrap="square" lIns="68580" tIns="34290" rIns="68580" bIns="34290" anchor="t" anchorCtr="0"/>
          <a:lstStyle/>
          <a:p>
            <a:pPr eaLnBrk="1" hangingPunct="1"/>
            <a:r>
              <a:rPr lang="zh-CN" altLang="zh-CN" sz="1800" dirty="0"/>
              <a:t>内部函数又称静态函数，因为它是用</a:t>
            </a:r>
            <a:r>
              <a:rPr lang="en-US" altLang="zh-CN" sz="1800" dirty="0"/>
              <a:t>static</a:t>
            </a:r>
            <a:r>
              <a:rPr lang="zh-CN" altLang="zh-CN" sz="1800" dirty="0"/>
              <a:t>声明的</a:t>
            </a:r>
            <a:endParaRPr lang="en-US" altLang="zh-CN" sz="1800" dirty="0"/>
          </a:p>
          <a:p>
            <a:pPr eaLnBrk="1" hangingPunct="1"/>
            <a:r>
              <a:rPr lang="zh-CN" altLang="zh-CN" sz="1800" dirty="0"/>
              <a:t>通常把只能由本文件使用的函数和外部变量放在文件的开头，前面都冠以</a:t>
            </a:r>
            <a:r>
              <a:rPr lang="en-US" altLang="zh-CN" sz="1800" dirty="0"/>
              <a:t>static</a:t>
            </a:r>
            <a:r>
              <a:rPr lang="zh-CN" altLang="zh-CN" sz="1800" dirty="0"/>
              <a:t>使之局部化，其他文件不能引用</a:t>
            </a:r>
            <a:endParaRPr lang="en-US" altLang="zh-CN" sz="1800" dirty="0"/>
          </a:p>
          <a:p>
            <a:pPr eaLnBrk="1" hangingPunct="1"/>
            <a:r>
              <a:rPr lang="zh-CN" altLang="zh-CN" sz="1800" dirty="0"/>
              <a:t>提高了程序的可靠性</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4019">
                                            <p:txEl>
                                              <p:pRg st="1" end="1"/>
                                            </p:txEl>
                                          </p:spTgt>
                                        </p:tgtEl>
                                        <p:attrNameLst>
                                          <p:attrName>style.visibility</p:attrName>
                                        </p:attrNameLst>
                                      </p:cBhvr>
                                      <p:to>
                                        <p:strVal val="visible"/>
                                      </p:to>
                                    </p:set>
                                    <p:animEffect transition="in" filter="blinds(horizontal)">
                                      <p:cBhvr>
                                        <p:cTn id="7" dur="500"/>
                                        <p:tgtEl>
                                          <p:spTgt spid="2140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4019">
                                            <p:txEl>
                                              <p:pRg st="2" end="2"/>
                                            </p:txEl>
                                          </p:spTgt>
                                        </p:tgtEl>
                                        <p:attrNameLst>
                                          <p:attrName>style.visibility</p:attrName>
                                        </p:attrNameLst>
                                      </p:cBhvr>
                                      <p:to>
                                        <p:strVal val="visible"/>
                                      </p:to>
                                    </p:set>
                                    <p:animEffect transition="in" filter="blinds(horizontal)">
                                      <p:cBhvr>
                                        <p:cTn id="12" dur="500"/>
                                        <p:tgtEl>
                                          <p:spTgt spid="2140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518047" y="642938"/>
            <a:ext cx="6161485" cy="577454"/>
          </a:xfrm>
        </p:spPr>
        <p:txBody>
          <a:bodyPr vert="horz" wrap="square" lIns="68580" tIns="34290" rIns="68580" bIns="34290"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rPr>
              <a:t>外部函数</a:t>
            </a:r>
            <a:endParaRPr kumimoji="0" lang="zh-CN" altLang="en-US" sz="3150" b="0" i="0" u="none" strike="noStrike" kern="1200" cap="none" spc="0" normalizeH="0" baseline="0" noProof="0" dirty="0">
              <a:ln>
                <a:noFill/>
              </a:ln>
              <a:solidFill>
                <a:srgbClr val="800000"/>
              </a:solidFill>
              <a:effectLst>
                <a:outerShdw blurRad="38100" dist="38100" dir="2700000" algn="tl">
                  <a:srgbClr val="000000"/>
                </a:outerShdw>
              </a:effectLst>
              <a:uLnTx/>
              <a:uFillTx/>
              <a:latin typeface="Arial" panose="020B0604020202090204" pitchFamily="34" charset="0"/>
              <a:ea typeface="黑体" panose="02010609060101010101" pitchFamily="49" charset="-122"/>
              <a:cs typeface="+mj-cs"/>
            </a:endParaRPr>
          </a:p>
        </p:txBody>
      </p:sp>
      <p:sp>
        <p:nvSpPr>
          <p:cNvPr id="215043" name="Rectangle 3"/>
          <p:cNvSpPr>
            <a:spLocks noGrp="1"/>
          </p:cNvSpPr>
          <p:nvPr>
            <p:ph idx="1" hasCustomPrompt="1"/>
          </p:nvPr>
        </p:nvSpPr>
        <p:spPr>
          <a:xfrm>
            <a:off x="1732360" y="1285875"/>
            <a:ext cx="5679281" cy="3321844"/>
          </a:xfrm>
        </p:spPr>
        <p:txBody>
          <a:bodyPr vert="horz" wrap="square" lIns="68580" tIns="34290" rIns="68580" bIns="34290" anchor="t" anchorCtr="0"/>
          <a:lstStyle/>
          <a:p>
            <a:pPr eaLnBrk="1" hangingPunct="1"/>
            <a:r>
              <a:rPr lang="zh-CN" altLang="zh-CN" sz="1500" dirty="0"/>
              <a:t>如果在定义函数时</a:t>
            </a:r>
            <a:r>
              <a:rPr lang="zh-CN" altLang="en-US" sz="1500" dirty="0"/>
              <a:t>，</a:t>
            </a:r>
            <a:r>
              <a:rPr lang="zh-CN" altLang="zh-CN" sz="1500" dirty="0"/>
              <a:t>在函数首部的最左端加关键字</a:t>
            </a:r>
            <a:r>
              <a:rPr lang="en-US" altLang="zh-CN" sz="1500" dirty="0"/>
              <a:t>extern</a:t>
            </a:r>
            <a:r>
              <a:rPr lang="zh-CN" altLang="en-US" sz="1500" dirty="0"/>
              <a:t>，</a:t>
            </a:r>
            <a:r>
              <a:rPr lang="zh-CN" altLang="zh-CN" sz="1500" dirty="0"/>
              <a:t>则此函数是</a:t>
            </a:r>
            <a:r>
              <a:rPr lang="zh-CN" altLang="zh-CN" sz="1500" dirty="0">
                <a:solidFill>
                  <a:srgbClr val="C00000"/>
                </a:solidFill>
              </a:rPr>
              <a:t>外部函数</a:t>
            </a:r>
            <a:r>
              <a:rPr lang="zh-CN" altLang="zh-CN" sz="1500" dirty="0"/>
              <a:t>，可供其他文件调用。</a:t>
            </a:r>
          </a:p>
          <a:p>
            <a:pPr eaLnBrk="1" hangingPunct="1"/>
            <a:r>
              <a:rPr lang="zh-CN" altLang="zh-CN" sz="1500" dirty="0"/>
              <a:t>如函数首部可以为</a:t>
            </a:r>
          </a:p>
          <a:p>
            <a:pPr eaLnBrk="1" hangingPunct="1">
              <a:buNone/>
            </a:pPr>
            <a:r>
              <a:rPr lang="en-US" altLang="zh-CN" sz="1500" dirty="0"/>
              <a:t>    extern int fun (int a, int b)</a:t>
            </a:r>
          </a:p>
          <a:p>
            <a:pPr eaLnBrk="1" hangingPunct="1"/>
            <a:r>
              <a:rPr lang="zh-CN" altLang="zh-CN" sz="1500" dirty="0"/>
              <a:t>如果在定义函数时省略</a:t>
            </a:r>
            <a:r>
              <a:rPr lang="en-US" altLang="zh-CN" sz="1500" dirty="0"/>
              <a:t>extern</a:t>
            </a:r>
            <a:r>
              <a:rPr lang="zh-CN" altLang="en-US" sz="1500" dirty="0"/>
              <a:t>，</a:t>
            </a:r>
            <a:r>
              <a:rPr lang="zh-CN" altLang="zh-CN" sz="1500" dirty="0"/>
              <a:t>则默认为外部函数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5043">
                                            <p:txEl>
                                              <p:charRg st="50" end="59"/>
                                            </p:txEl>
                                          </p:spTgt>
                                        </p:tgtEl>
                                        <p:attrNameLst>
                                          <p:attrName>style.visibility</p:attrName>
                                        </p:attrNameLst>
                                      </p:cBhvr>
                                      <p:to>
                                        <p:strVal val="visible"/>
                                      </p:to>
                                    </p:set>
                                    <p:animEffect transition="in" filter="blinds(horizontal)">
                                      <p:cBhvr>
                                        <p:cTn id="7" dur="500"/>
                                        <p:tgtEl>
                                          <p:spTgt spid="215043">
                                            <p:txEl>
                                              <p:charRg st="50" end="59"/>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15043">
                                            <p:txEl>
                                              <p:charRg st="59" end="93"/>
                                            </p:txEl>
                                          </p:spTgt>
                                        </p:tgtEl>
                                        <p:attrNameLst>
                                          <p:attrName>style.visibility</p:attrName>
                                        </p:attrNameLst>
                                      </p:cBhvr>
                                      <p:to>
                                        <p:strVal val="visible"/>
                                      </p:to>
                                    </p:set>
                                    <p:animEffect transition="in" filter="blinds(horizontal)">
                                      <p:cBhvr>
                                        <p:cTn id="10" dur="500"/>
                                        <p:tgtEl>
                                          <p:spTgt spid="215043">
                                            <p:txEl>
                                              <p:charRg st="59" end="9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15043">
                                            <p:txEl>
                                              <p:charRg st="93" end="118"/>
                                            </p:txEl>
                                          </p:spTgt>
                                        </p:tgtEl>
                                        <p:attrNameLst>
                                          <p:attrName>style.visibility</p:attrName>
                                        </p:attrNameLst>
                                      </p:cBhvr>
                                      <p:to>
                                        <p:strVal val="visible"/>
                                      </p:to>
                                    </p:set>
                                    <p:animEffect transition="in" filter="blinds(horizontal)">
                                      <p:cBhvr>
                                        <p:cTn id="15" dur="500"/>
                                        <p:tgtEl>
                                          <p:spTgt spid="215043">
                                            <p:txEl>
                                              <p:charRg st="93" end="1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内容占位符 2"/>
          <p:cNvSpPr>
            <a:spLocks noGrp="1"/>
          </p:cNvSpPr>
          <p:nvPr>
            <p:ph idx="1" hasCustomPrompt="1"/>
          </p:nvPr>
        </p:nvSpPr>
        <p:spPr>
          <a:xfrm>
            <a:off x="1751410" y="267891"/>
            <a:ext cx="5876925" cy="4607719"/>
          </a:xfrm>
        </p:spPr>
        <p:txBody>
          <a:bodyPr vert="horz" wrap="square" lIns="68580" tIns="34290" rIns="68580" bIns="34290" anchor="t" anchorCtr="0"/>
          <a:lstStyle/>
          <a:p>
            <a:pPr fontAlgn="auto">
              <a:lnSpc>
                <a:spcPct val="100000"/>
              </a:lnSpc>
              <a:buNone/>
            </a:pPr>
            <a:r>
              <a:rPr lang="en-US" altLang="zh-CN" sz="1600" dirty="0"/>
              <a:t>#include &lt;stdio.h&gt;</a:t>
            </a:r>
            <a:endParaRPr lang="zh-CN" altLang="zh-CN" sz="1600" dirty="0"/>
          </a:p>
          <a:p>
            <a:pPr fontAlgn="auto">
              <a:lnSpc>
                <a:spcPct val="100000"/>
              </a:lnSpc>
              <a:buNone/>
            </a:pPr>
            <a:r>
              <a:rPr lang="en-US" altLang="zh-CN" sz="1600" dirty="0"/>
              <a:t>int main()</a:t>
            </a:r>
            <a:endParaRPr lang="zh-CN" altLang="zh-CN" sz="1600" dirty="0"/>
          </a:p>
          <a:p>
            <a:pPr fontAlgn="auto">
              <a:lnSpc>
                <a:spcPct val="100000"/>
              </a:lnSpc>
              <a:buNone/>
            </a:pPr>
            <a:r>
              <a:rPr lang="en-US" altLang="zh-CN" sz="1600" dirty="0"/>
              <a:t>{ </a:t>
            </a:r>
          </a:p>
          <a:p>
            <a:pPr fontAlgn="auto">
              <a:lnSpc>
                <a:spcPct val="100000"/>
              </a:lnSpc>
              <a:buNone/>
            </a:pPr>
            <a:r>
              <a:rPr lang="en-US" altLang="zh-CN" sz="1600" dirty="0"/>
              <a:t>   </a:t>
            </a:r>
            <a:r>
              <a:rPr lang="en-US" altLang="zh-CN" sz="1600" dirty="0">
                <a:solidFill>
                  <a:srgbClr val="9D138D"/>
                </a:solidFill>
              </a:rPr>
              <a:t>extern</a:t>
            </a:r>
            <a:r>
              <a:rPr lang="en-US" altLang="zh-CN" sz="1600" dirty="0"/>
              <a:t> void enter_string(char str[]); </a:t>
            </a:r>
            <a:endParaRPr lang="zh-CN" altLang="zh-CN" sz="1600" dirty="0"/>
          </a:p>
          <a:p>
            <a:pPr fontAlgn="auto">
              <a:lnSpc>
                <a:spcPct val="100000"/>
              </a:lnSpc>
              <a:buNone/>
            </a:pPr>
            <a:r>
              <a:rPr lang="en-US" altLang="zh-CN" sz="1600" dirty="0"/>
              <a:t>   </a:t>
            </a:r>
            <a:r>
              <a:rPr lang="en-US" altLang="zh-CN" sz="1600" dirty="0">
                <a:solidFill>
                  <a:srgbClr val="9D138D"/>
                </a:solidFill>
              </a:rPr>
              <a:t>extern</a:t>
            </a:r>
            <a:r>
              <a:rPr lang="en-US" altLang="zh-CN" sz="1600" dirty="0"/>
              <a:t> void delete_string(char str[], char ch); </a:t>
            </a:r>
            <a:endParaRPr lang="zh-CN" altLang="zh-CN" sz="1600" dirty="0"/>
          </a:p>
          <a:p>
            <a:pPr fontAlgn="auto">
              <a:lnSpc>
                <a:spcPct val="100000"/>
              </a:lnSpc>
              <a:buNone/>
            </a:pPr>
            <a:r>
              <a:rPr lang="en-US" altLang="zh-CN" sz="1600" dirty="0"/>
              <a:t>   </a:t>
            </a:r>
            <a:r>
              <a:rPr lang="en-US" altLang="zh-CN" sz="1600" dirty="0">
                <a:solidFill>
                  <a:srgbClr val="9D138D"/>
                </a:solidFill>
              </a:rPr>
              <a:t>extern</a:t>
            </a:r>
            <a:r>
              <a:rPr lang="en-US" altLang="zh-CN" sz="1600" dirty="0"/>
              <a:t> void print_string(char str[]); </a:t>
            </a:r>
            <a:endParaRPr lang="zh-CN" altLang="zh-CN" sz="1600" dirty="0"/>
          </a:p>
          <a:p>
            <a:pPr fontAlgn="auto">
              <a:lnSpc>
                <a:spcPct val="100000"/>
              </a:lnSpc>
              <a:buNone/>
            </a:pPr>
            <a:r>
              <a:rPr lang="en-US" altLang="zh-CN" sz="1600" dirty="0"/>
              <a:t>   char c,str[80];</a:t>
            </a:r>
            <a:endParaRPr lang="zh-CN" altLang="zh-CN" sz="1600" dirty="0"/>
          </a:p>
          <a:p>
            <a:pPr fontAlgn="auto">
              <a:lnSpc>
                <a:spcPct val="100000"/>
              </a:lnSpc>
              <a:buNone/>
            </a:pPr>
            <a:r>
              <a:rPr lang="en-US" altLang="zh-CN" sz="1600" dirty="0"/>
              <a:t>   enter_string(str);             </a:t>
            </a:r>
            <a:endParaRPr lang="zh-CN" altLang="zh-CN" sz="1600" dirty="0"/>
          </a:p>
          <a:p>
            <a:pPr fontAlgn="auto">
              <a:lnSpc>
                <a:spcPct val="100000"/>
              </a:lnSpc>
              <a:buNone/>
            </a:pPr>
            <a:r>
              <a:rPr lang="en-US" altLang="zh-CN" sz="1600" dirty="0"/>
              <a:t>   scanf(“%c”,&amp;c); </a:t>
            </a:r>
            <a:endParaRPr lang="zh-CN" altLang="zh-CN" sz="1600" dirty="0"/>
          </a:p>
          <a:p>
            <a:pPr fontAlgn="auto">
              <a:lnSpc>
                <a:spcPct val="100000"/>
              </a:lnSpc>
              <a:buNone/>
            </a:pPr>
            <a:r>
              <a:rPr lang="en-US" altLang="zh-CN" sz="1600" dirty="0"/>
              <a:t>   delete_string(str,c);  </a:t>
            </a:r>
            <a:endParaRPr lang="zh-CN" altLang="zh-CN" sz="1600" dirty="0"/>
          </a:p>
          <a:p>
            <a:pPr fontAlgn="auto">
              <a:lnSpc>
                <a:spcPct val="100000"/>
              </a:lnSpc>
              <a:buNone/>
            </a:pPr>
            <a:r>
              <a:rPr lang="en-US" altLang="zh-CN" sz="1600" dirty="0"/>
              <a:t>   print_string(str);      </a:t>
            </a:r>
            <a:endParaRPr lang="zh-CN" altLang="zh-CN" sz="1600" dirty="0"/>
          </a:p>
          <a:p>
            <a:pPr fontAlgn="auto">
              <a:lnSpc>
                <a:spcPct val="100000"/>
              </a:lnSpc>
              <a:buNone/>
            </a:pPr>
            <a:r>
              <a:rPr lang="en-US" altLang="zh-CN" sz="1600" dirty="0"/>
              <a:t>   return 0;     </a:t>
            </a:r>
            <a:endParaRPr lang="zh-CN" altLang="zh-CN" sz="1600" dirty="0"/>
          </a:p>
          <a:p>
            <a:pPr fontAlgn="auto">
              <a:lnSpc>
                <a:spcPct val="100000"/>
              </a:lnSpc>
              <a:buNone/>
            </a:pPr>
            <a:r>
              <a:rPr lang="en-US" altLang="zh-CN" sz="1600" dirty="0"/>
              <a:t>}</a:t>
            </a:r>
            <a:endParaRPr lang="zh-CN" altLang="zh-CN" sz="1600" dirty="0"/>
          </a:p>
          <a:p>
            <a:pPr fontAlgn="auto">
              <a:lnSpc>
                <a:spcPct val="100000"/>
              </a:lnSpc>
              <a:buNone/>
            </a:pPr>
            <a:endParaRPr lang="zh-CN" altLang="zh-CN" sz="1600" dirty="0"/>
          </a:p>
        </p:txBody>
      </p:sp>
      <p:sp>
        <p:nvSpPr>
          <p:cNvPr id="98306" name="TextBox 3"/>
          <p:cNvSpPr txBox="1"/>
          <p:nvPr/>
        </p:nvSpPr>
        <p:spPr>
          <a:xfrm>
            <a:off x="4663679" y="581025"/>
            <a:ext cx="2250281" cy="321945"/>
          </a:xfrm>
          <a:prstGeom prst="rect">
            <a:avLst/>
          </a:prstGeom>
          <a:noFill/>
          <a:ln w="9525">
            <a:noFill/>
          </a:ln>
        </p:spPr>
        <p:txBody>
          <a:bodyPr anchor="t" anchorCtr="0">
            <a:spAutoFit/>
          </a:bodyPr>
          <a:lstStyle/>
          <a:p>
            <a:pPr algn="ctr">
              <a:buSzTx/>
            </a:pPr>
            <a:r>
              <a:rPr lang="en-US" altLang="zh-CN" sz="1500" b="1" dirty="0">
                <a:solidFill>
                  <a:srgbClr val="FF0000"/>
                </a:solidFill>
                <a:latin typeface="Arial" panose="020B0604020202090204" pitchFamily="34" charset="0"/>
              </a:rPr>
              <a:t>file1.c</a:t>
            </a:r>
            <a:r>
              <a:rPr lang="zh-CN" altLang="en-US" sz="1500" b="1" dirty="0">
                <a:solidFill>
                  <a:srgbClr val="FF0000"/>
                </a:solidFill>
                <a:latin typeface="Arial" panose="020B0604020202090204" pitchFamily="34" charset="0"/>
              </a:rPr>
              <a:t>（文件</a:t>
            </a:r>
            <a:r>
              <a:rPr lang="en-US" altLang="zh-CN" sz="1500" b="1" dirty="0">
                <a:solidFill>
                  <a:srgbClr val="FF0000"/>
                </a:solidFill>
                <a:latin typeface="Arial" panose="020B0604020202090204" pitchFamily="34" charset="0"/>
              </a:rPr>
              <a:t>1</a:t>
            </a:r>
            <a:r>
              <a:rPr lang="zh-CN" altLang="en-US" sz="1500" b="1" dirty="0">
                <a:solidFill>
                  <a:srgbClr val="FF0000"/>
                </a:solidFill>
                <a:latin typeface="Arial" panose="020B0604020202090204" pitchFamily="34" charset="0"/>
              </a:rPr>
              <a:t>）</a:t>
            </a:r>
          </a:p>
        </p:txBody>
      </p:sp>
      <p:sp>
        <p:nvSpPr>
          <p:cNvPr id="5" name="圆角矩形标注 4"/>
          <p:cNvSpPr/>
          <p:nvPr/>
        </p:nvSpPr>
        <p:spPr>
          <a:xfrm>
            <a:off x="5668486" y="2158604"/>
            <a:ext cx="2664619" cy="556022"/>
          </a:xfrm>
          <a:prstGeom prst="wedgeRoundRectCallout">
            <a:avLst>
              <a:gd name="adj1" fmla="val -36532"/>
              <a:gd name="adj2" fmla="val -80213"/>
              <a:gd name="adj3" fmla="val 16667"/>
            </a:avLst>
          </a:prstGeom>
          <a:solidFill>
            <a:srgbClr val="FFFFCC"/>
          </a:solidFill>
          <a:ln w="9525" cap="flat" cmpd="sng">
            <a:solidFill>
              <a:schemeClr val="tx1"/>
            </a:solidFill>
            <a:prstDash val="solid"/>
            <a:miter/>
            <a:headEnd type="none" w="med" len="med"/>
            <a:tailEnd type="none" w="med" len="med"/>
          </a:ln>
        </p:spPr>
        <p:txBody>
          <a:bodyPr anchor="t" anchorCtr="0"/>
          <a:lstStyle/>
          <a:p>
            <a:pPr>
              <a:buSzTx/>
            </a:pPr>
            <a:r>
              <a:rPr lang="zh-CN" altLang="zh-CN" sz="1350" b="1" dirty="0">
                <a:solidFill>
                  <a:srgbClr val="0000CC"/>
                </a:solidFill>
                <a:latin typeface="Arial" panose="020B0604020202090204" pitchFamily="34" charset="0"/>
              </a:rPr>
              <a:t>声明在本函数中将要调用的已在其他文件中定义的</a:t>
            </a:r>
            <a:r>
              <a:rPr lang="en-US" altLang="zh-CN" sz="1350" b="1" dirty="0">
                <a:solidFill>
                  <a:srgbClr val="0000CC"/>
                </a:solidFill>
                <a:latin typeface="Arial" panose="020B0604020202090204" pitchFamily="34" charset="0"/>
              </a:rPr>
              <a:t>3</a:t>
            </a:r>
            <a:r>
              <a:rPr lang="zh-CN" altLang="zh-CN" sz="1350" b="1" dirty="0">
                <a:solidFill>
                  <a:srgbClr val="0000CC"/>
                </a:solidFill>
                <a:latin typeface="Arial" panose="020B0604020202090204" pitchFamily="34" charset="0"/>
              </a:rPr>
              <a:t>个函数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内容占位符 2"/>
          <p:cNvSpPr>
            <a:spLocks noGrp="1"/>
          </p:cNvSpPr>
          <p:nvPr>
            <p:ph idx="1" hasCustomPrompt="1"/>
          </p:nvPr>
        </p:nvSpPr>
        <p:spPr>
          <a:xfrm>
            <a:off x="1538288" y="154781"/>
            <a:ext cx="5779294" cy="4688681"/>
          </a:xfrm>
        </p:spPr>
        <p:txBody>
          <a:bodyPr vert="horz" wrap="square" lIns="68580" tIns="34290" rIns="68580" bIns="34290" anchor="t" anchorCtr="0"/>
          <a:lstStyle/>
          <a:p>
            <a:pPr fontAlgn="auto">
              <a:lnSpc>
                <a:spcPct val="100000"/>
              </a:lnSpc>
              <a:buNone/>
            </a:pPr>
            <a:r>
              <a:rPr lang="en-US" altLang="zh-CN" sz="1350" dirty="0">
                <a:solidFill>
                  <a:srgbClr val="00B050"/>
                </a:solidFill>
              </a:rPr>
              <a:t>void enter_string(char str[80]) </a:t>
            </a:r>
            <a:endParaRPr lang="zh-CN" altLang="zh-CN" sz="1350" dirty="0">
              <a:solidFill>
                <a:srgbClr val="00B050"/>
              </a:solidFill>
            </a:endParaRPr>
          </a:p>
          <a:p>
            <a:pPr fontAlgn="auto">
              <a:lnSpc>
                <a:spcPct val="100000"/>
              </a:lnSpc>
              <a:buNone/>
            </a:pPr>
            <a:r>
              <a:rPr lang="en-US" altLang="zh-CN" sz="1350" dirty="0">
                <a:solidFill>
                  <a:srgbClr val="00B050"/>
                </a:solidFill>
              </a:rPr>
              <a:t>{  </a:t>
            </a:r>
          </a:p>
          <a:p>
            <a:pPr fontAlgn="auto">
              <a:lnSpc>
                <a:spcPct val="100000"/>
              </a:lnSpc>
              <a:buNone/>
            </a:pPr>
            <a:r>
              <a:rPr lang="en-US" altLang="zh-CN" sz="1350" dirty="0">
                <a:solidFill>
                  <a:srgbClr val="00B050"/>
                </a:solidFill>
              </a:rPr>
              <a:t>   gets(str);   </a:t>
            </a:r>
          </a:p>
          <a:p>
            <a:pPr fontAlgn="auto">
              <a:lnSpc>
                <a:spcPct val="100000"/>
              </a:lnSpc>
              <a:buNone/>
            </a:pPr>
            <a:r>
              <a:rPr lang="en-US" altLang="zh-CN" sz="1350" dirty="0">
                <a:solidFill>
                  <a:srgbClr val="00B050"/>
                </a:solidFill>
              </a:rPr>
              <a:t>} </a:t>
            </a:r>
            <a:endParaRPr lang="en-US" altLang="zh-CN" sz="1350" dirty="0">
              <a:solidFill>
                <a:srgbClr val="9D138D"/>
              </a:solidFill>
            </a:endParaRPr>
          </a:p>
          <a:p>
            <a:pPr fontAlgn="auto">
              <a:lnSpc>
                <a:spcPct val="100000"/>
              </a:lnSpc>
              <a:buNone/>
            </a:pPr>
            <a:r>
              <a:rPr lang="en-US" altLang="zh-CN" sz="1350" dirty="0">
                <a:solidFill>
                  <a:srgbClr val="9D138D"/>
                </a:solidFill>
              </a:rPr>
              <a:t>void delete_string(char str[],char ch)</a:t>
            </a:r>
            <a:endParaRPr lang="zh-CN" altLang="zh-CN" sz="1350" dirty="0">
              <a:solidFill>
                <a:srgbClr val="9D138D"/>
              </a:solidFill>
            </a:endParaRPr>
          </a:p>
          <a:p>
            <a:pPr fontAlgn="auto">
              <a:lnSpc>
                <a:spcPct val="100000"/>
              </a:lnSpc>
              <a:buNone/>
            </a:pPr>
            <a:r>
              <a:rPr lang="en-US" altLang="zh-CN" sz="1350" dirty="0">
                <a:solidFill>
                  <a:srgbClr val="9D138D"/>
                </a:solidFill>
              </a:rPr>
              <a:t>{ int i,j;</a:t>
            </a:r>
            <a:endParaRPr lang="zh-CN" altLang="zh-CN" sz="1350" dirty="0">
              <a:solidFill>
                <a:srgbClr val="9D138D"/>
              </a:solidFill>
            </a:endParaRPr>
          </a:p>
          <a:p>
            <a:pPr fontAlgn="auto">
              <a:lnSpc>
                <a:spcPct val="100000"/>
              </a:lnSpc>
              <a:buNone/>
            </a:pPr>
            <a:r>
              <a:rPr lang="en-US" altLang="zh-CN" sz="1350" dirty="0">
                <a:solidFill>
                  <a:srgbClr val="9D138D"/>
                </a:solidFill>
              </a:rPr>
              <a:t>   for(i=j=0;str[i]!='\0';i++)</a:t>
            </a:r>
            <a:endParaRPr lang="zh-CN" altLang="zh-CN" sz="1350" dirty="0">
              <a:solidFill>
                <a:srgbClr val="9D138D"/>
              </a:solidFill>
            </a:endParaRPr>
          </a:p>
          <a:p>
            <a:pPr fontAlgn="auto">
              <a:lnSpc>
                <a:spcPct val="100000"/>
              </a:lnSpc>
              <a:buNone/>
            </a:pPr>
            <a:r>
              <a:rPr lang="en-US" altLang="zh-CN" sz="1350" dirty="0">
                <a:solidFill>
                  <a:srgbClr val="9D138D"/>
                </a:solidFill>
              </a:rPr>
              <a:t>	   if(str[i]!=ch)   str[j++]=str[i];</a:t>
            </a:r>
            <a:endParaRPr lang="zh-CN" altLang="zh-CN" sz="1350" dirty="0">
              <a:solidFill>
                <a:srgbClr val="9D138D"/>
              </a:solidFill>
            </a:endParaRPr>
          </a:p>
          <a:p>
            <a:pPr fontAlgn="auto">
              <a:lnSpc>
                <a:spcPct val="100000"/>
              </a:lnSpc>
              <a:buNone/>
            </a:pPr>
            <a:r>
              <a:rPr lang="en-US" altLang="zh-CN" sz="1350" dirty="0">
                <a:solidFill>
                  <a:srgbClr val="9D138D"/>
                </a:solidFill>
              </a:rPr>
              <a:t>   str[j]='\0';</a:t>
            </a:r>
            <a:endParaRPr lang="zh-CN" altLang="zh-CN" sz="1350" dirty="0">
              <a:solidFill>
                <a:srgbClr val="9D138D"/>
              </a:solidFill>
            </a:endParaRPr>
          </a:p>
          <a:p>
            <a:pPr fontAlgn="auto">
              <a:lnSpc>
                <a:spcPct val="100000"/>
              </a:lnSpc>
              <a:buNone/>
            </a:pPr>
            <a:r>
              <a:rPr lang="en-US" altLang="zh-CN" sz="1350" dirty="0">
                <a:solidFill>
                  <a:srgbClr val="9D138D"/>
                </a:solidFill>
              </a:rPr>
              <a:t>} </a:t>
            </a:r>
            <a:endParaRPr lang="zh-CN" altLang="zh-CN" sz="1350" dirty="0">
              <a:solidFill>
                <a:srgbClr val="9D138D"/>
              </a:solidFill>
            </a:endParaRPr>
          </a:p>
          <a:p>
            <a:pPr fontAlgn="auto">
              <a:lnSpc>
                <a:spcPct val="100000"/>
              </a:lnSpc>
              <a:buNone/>
            </a:pPr>
            <a:r>
              <a:rPr lang="en-US" altLang="zh-CN" sz="1350" dirty="0">
                <a:solidFill>
                  <a:srgbClr val="0000CC"/>
                </a:solidFill>
              </a:rPr>
              <a:t>void print_string(char str[]) </a:t>
            </a:r>
            <a:endParaRPr lang="zh-CN" altLang="zh-CN" sz="1350" dirty="0">
              <a:solidFill>
                <a:srgbClr val="0000CC"/>
              </a:solidFill>
            </a:endParaRPr>
          </a:p>
          <a:p>
            <a:pPr fontAlgn="auto">
              <a:lnSpc>
                <a:spcPct val="100000"/>
              </a:lnSpc>
              <a:buNone/>
            </a:pPr>
            <a:r>
              <a:rPr lang="en-US" altLang="zh-CN" sz="1350" dirty="0">
                <a:solidFill>
                  <a:srgbClr val="0000CC"/>
                </a:solidFill>
              </a:rPr>
              <a:t>{ </a:t>
            </a:r>
          </a:p>
          <a:p>
            <a:pPr fontAlgn="auto">
              <a:lnSpc>
                <a:spcPct val="100000"/>
              </a:lnSpc>
              <a:buNone/>
            </a:pPr>
            <a:r>
              <a:rPr lang="en-US" altLang="zh-CN" sz="1350" dirty="0">
                <a:solidFill>
                  <a:srgbClr val="0000CC"/>
                </a:solidFill>
              </a:rPr>
              <a:t>    printf("%s\n",str); </a:t>
            </a:r>
          </a:p>
          <a:p>
            <a:pPr fontAlgn="auto">
              <a:lnSpc>
                <a:spcPct val="100000"/>
              </a:lnSpc>
              <a:buNone/>
            </a:pPr>
            <a:r>
              <a:rPr lang="en-US" altLang="zh-CN" sz="1350" dirty="0">
                <a:solidFill>
                  <a:srgbClr val="0000CC"/>
                </a:solidFill>
              </a:rPr>
              <a:t>}</a:t>
            </a:r>
            <a:endParaRPr lang="zh-CN" altLang="zh-CN" sz="1350" dirty="0">
              <a:solidFill>
                <a:srgbClr val="0000CC"/>
              </a:solidFill>
            </a:endParaRPr>
          </a:p>
          <a:p>
            <a:pPr eaLnBrk="1" hangingPunct="1">
              <a:lnSpc>
                <a:spcPts val="3000"/>
              </a:lnSpc>
              <a:buNone/>
            </a:pPr>
            <a:endParaRPr lang="zh-CN" altLang="zh-CN" sz="1350" dirty="0">
              <a:solidFill>
                <a:srgbClr val="0000CC"/>
              </a:solidFill>
            </a:endParaRPr>
          </a:p>
        </p:txBody>
      </p:sp>
      <p:sp>
        <p:nvSpPr>
          <p:cNvPr id="99330" name="TextBox 3"/>
          <p:cNvSpPr txBox="1"/>
          <p:nvPr/>
        </p:nvSpPr>
        <p:spPr>
          <a:xfrm>
            <a:off x="4436269" y="582216"/>
            <a:ext cx="2256235" cy="321945"/>
          </a:xfrm>
          <a:prstGeom prst="rect">
            <a:avLst/>
          </a:prstGeom>
          <a:noFill/>
          <a:ln w="9525">
            <a:noFill/>
          </a:ln>
        </p:spPr>
        <p:txBody>
          <a:bodyPr wrap="square" anchor="t" anchorCtr="0">
            <a:spAutoFit/>
          </a:bodyPr>
          <a:lstStyle/>
          <a:p>
            <a:pPr algn="ctr">
              <a:buSzTx/>
            </a:pPr>
            <a:r>
              <a:rPr lang="en-US" altLang="zh-CN" sz="1500" b="1" dirty="0">
                <a:solidFill>
                  <a:srgbClr val="00B050"/>
                </a:solidFill>
                <a:latin typeface="Arial" panose="020B0604020202090204" pitchFamily="34" charset="0"/>
              </a:rPr>
              <a:t>file2.c</a:t>
            </a:r>
            <a:r>
              <a:rPr lang="zh-CN" altLang="en-US" sz="1500" b="1" dirty="0">
                <a:solidFill>
                  <a:srgbClr val="00B050"/>
                </a:solidFill>
                <a:latin typeface="Arial" panose="020B0604020202090204" pitchFamily="34" charset="0"/>
              </a:rPr>
              <a:t>（文件</a:t>
            </a:r>
            <a:r>
              <a:rPr lang="en-US" altLang="zh-CN" sz="1500" b="1" dirty="0">
                <a:solidFill>
                  <a:srgbClr val="00B050"/>
                </a:solidFill>
                <a:latin typeface="Arial" panose="020B0604020202090204" pitchFamily="34" charset="0"/>
              </a:rPr>
              <a:t>2</a:t>
            </a:r>
            <a:r>
              <a:rPr lang="zh-CN" altLang="en-US" sz="1500" b="1" dirty="0">
                <a:solidFill>
                  <a:srgbClr val="00B050"/>
                </a:solidFill>
                <a:latin typeface="Arial" panose="020B0604020202090204" pitchFamily="34" charset="0"/>
              </a:rPr>
              <a:t>）</a:t>
            </a:r>
          </a:p>
        </p:txBody>
      </p:sp>
      <p:sp>
        <p:nvSpPr>
          <p:cNvPr id="99331" name="TextBox 4"/>
          <p:cNvSpPr txBox="1"/>
          <p:nvPr/>
        </p:nvSpPr>
        <p:spPr>
          <a:xfrm>
            <a:off x="4570810" y="1974056"/>
            <a:ext cx="1993106" cy="321945"/>
          </a:xfrm>
          <a:prstGeom prst="rect">
            <a:avLst/>
          </a:prstGeom>
          <a:noFill/>
          <a:ln w="9525">
            <a:noFill/>
          </a:ln>
        </p:spPr>
        <p:txBody>
          <a:bodyPr wrap="square" anchor="t" anchorCtr="0">
            <a:spAutoFit/>
          </a:bodyPr>
          <a:lstStyle/>
          <a:p>
            <a:pPr algn="ctr">
              <a:buSzTx/>
            </a:pPr>
            <a:r>
              <a:rPr lang="en-US" altLang="zh-CN" sz="1500" b="1" dirty="0">
                <a:solidFill>
                  <a:srgbClr val="AA138D"/>
                </a:solidFill>
                <a:latin typeface="Arial" panose="020B0604020202090204" pitchFamily="34" charset="0"/>
              </a:rPr>
              <a:t>file3.c</a:t>
            </a:r>
            <a:r>
              <a:rPr lang="zh-CN" altLang="en-US" sz="1500" b="1" dirty="0">
                <a:solidFill>
                  <a:srgbClr val="AA138D"/>
                </a:solidFill>
                <a:latin typeface="Arial" panose="020B0604020202090204" pitchFamily="34" charset="0"/>
              </a:rPr>
              <a:t>（文件</a:t>
            </a:r>
            <a:r>
              <a:rPr lang="en-US" altLang="zh-CN" sz="1500" b="1" dirty="0">
                <a:solidFill>
                  <a:srgbClr val="AA138D"/>
                </a:solidFill>
                <a:latin typeface="Arial" panose="020B0604020202090204" pitchFamily="34" charset="0"/>
              </a:rPr>
              <a:t>3</a:t>
            </a:r>
            <a:r>
              <a:rPr lang="zh-CN" altLang="en-US" sz="1500" b="1" dirty="0">
                <a:solidFill>
                  <a:srgbClr val="AA138D"/>
                </a:solidFill>
                <a:latin typeface="Arial" panose="020B0604020202090204" pitchFamily="34" charset="0"/>
              </a:rPr>
              <a:t>）</a:t>
            </a:r>
          </a:p>
        </p:txBody>
      </p:sp>
      <p:sp>
        <p:nvSpPr>
          <p:cNvPr id="99332" name="TextBox 5"/>
          <p:cNvSpPr txBox="1"/>
          <p:nvPr/>
        </p:nvSpPr>
        <p:spPr>
          <a:xfrm>
            <a:off x="4442222" y="3700463"/>
            <a:ext cx="2250281" cy="321945"/>
          </a:xfrm>
          <a:prstGeom prst="rect">
            <a:avLst/>
          </a:prstGeom>
          <a:noFill/>
          <a:ln w="9525">
            <a:noFill/>
          </a:ln>
        </p:spPr>
        <p:txBody>
          <a:bodyPr anchor="t" anchorCtr="0">
            <a:spAutoFit/>
          </a:bodyPr>
          <a:lstStyle/>
          <a:p>
            <a:pPr algn="ctr">
              <a:buSzTx/>
            </a:pPr>
            <a:r>
              <a:rPr lang="en-US" altLang="zh-CN" sz="1500" b="1" dirty="0">
                <a:solidFill>
                  <a:srgbClr val="003BDC"/>
                </a:solidFill>
                <a:latin typeface="Arial" panose="020B0604020202090204" pitchFamily="34" charset="0"/>
              </a:rPr>
              <a:t>file4.c</a:t>
            </a:r>
            <a:r>
              <a:rPr lang="zh-CN" altLang="en-US" sz="1500" b="1" dirty="0">
                <a:solidFill>
                  <a:srgbClr val="003BDC"/>
                </a:solidFill>
                <a:latin typeface="Arial" panose="020B0604020202090204" pitchFamily="34" charset="0"/>
              </a:rPr>
              <a:t>（文件</a:t>
            </a:r>
            <a:r>
              <a:rPr lang="en-US" altLang="zh-CN" sz="1500" b="1" dirty="0">
                <a:solidFill>
                  <a:srgbClr val="003BDC"/>
                </a:solidFill>
                <a:latin typeface="Arial" panose="020B0604020202090204" pitchFamily="34" charset="0"/>
              </a:rPr>
              <a:t>4</a:t>
            </a:r>
            <a:r>
              <a:rPr lang="zh-CN" altLang="en-US" sz="1500" b="1" dirty="0">
                <a:solidFill>
                  <a:srgbClr val="003BDC"/>
                </a:solidFill>
                <a:latin typeface="Arial" panose="020B0604020202090204" pitchFamily="34" charset="0"/>
              </a:rPr>
              <a:t>）</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06e9bb6b-4b73-46d8-a310-5d4bb7e549df"/>
  <p:tag name="COMMONDATA" val="eyJoZGlkIjoiODY5YmNiYTY4NjQ3Zjc2MmM5YTEwNTg4NWRkNjhjOTc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8172</Words>
  <Application>Microsoft Office PowerPoint</Application>
  <PresentationFormat>全屏显示(16:9)</PresentationFormat>
  <Paragraphs>1046</Paragraphs>
  <Slides>100</Slides>
  <Notes>24</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100</vt:i4>
      </vt:variant>
    </vt:vector>
  </HeadingPairs>
  <TitlesOfParts>
    <vt:vector size="109" baseType="lpstr">
      <vt:lpstr>微软雅黑</vt:lpstr>
      <vt:lpstr>Arial</vt:lpstr>
      <vt:lpstr>Calibri</vt:lpstr>
      <vt:lpstr>Cambria Math</vt:lpstr>
      <vt:lpstr>Times New Roman</vt:lpstr>
      <vt:lpstr>Verdana</vt:lpstr>
      <vt:lpstr>Wingdings</vt:lpstr>
      <vt:lpstr>Office theme</vt:lpstr>
      <vt:lpstr>Equation.3</vt:lpstr>
      <vt:lpstr>PowerPoint 演示文稿</vt:lpstr>
      <vt:lpstr>PowerPoint 演示文稿</vt:lpstr>
      <vt:lpstr>PowerPoint 演示文稿</vt:lpstr>
      <vt:lpstr>PowerPoint 演示文稿</vt:lpstr>
      <vt:lpstr>为什么要用函数</vt:lpstr>
      <vt:lpstr>为什么要用函数</vt:lpstr>
      <vt:lpstr>PowerPoint 演示文稿</vt:lpstr>
      <vt:lpstr>PowerPoint 演示文稿</vt:lpstr>
      <vt:lpstr>PowerPoint 演示文稿</vt:lpstr>
      <vt:lpstr>PowerPoint 演示文稿</vt:lpstr>
      <vt:lpstr>PowerPoint 演示文稿</vt:lpstr>
      <vt:lpstr>PowerPoint 演示文稿</vt:lpstr>
      <vt:lpstr>怎样定义函数</vt:lpstr>
      <vt:lpstr>定义函数的方法</vt:lpstr>
      <vt:lpstr>定义函数的方法</vt:lpstr>
      <vt:lpstr>PowerPoint 演示文稿</vt:lpstr>
      <vt:lpstr>函数调用的形式</vt:lpstr>
      <vt:lpstr>函数调用的形式</vt:lpstr>
      <vt:lpstr>函数调用时的数据传递</vt:lpstr>
      <vt:lpstr>函数调用时的数据传递</vt:lpstr>
      <vt:lpstr>PowerPoint 演示文稿</vt:lpstr>
      <vt:lpstr>PowerPoint 演示文稿</vt:lpstr>
      <vt:lpstr>函数调用的过程</vt:lpstr>
      <vt:lpstr>函数调用的过程</vt:lpstr>
      <vt:lpstr>函数的返回值</vt:lpstr>
      <vt:lpstr>PowerPoint 演示文稿</vt:lpstr>
      <vt:lpstr>PowerPoint 演示文稿</vt:lpstr>
      <vt:lpstr>对被调用函数的声明和函数原型</vt:lpstr>
      <vt:lpstr>PowerPoint 演示文稿</vt:lpstr>
      <vt:lpstr>PowerPoint 演示文稿</vt:lpstr>
      <vt:lpstr>PowerPoint 演示文稿</vt:lpstr>
      <vt:lpstr>PowerPoint 演示文稿</vt:lpstr>
      <vt:lpstr>函数的嵌套调用</vt:lpstr>
      <vt:lpstr>函数的嵌套调用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函数的递归调用</vt:lpstr>
      <vt:lpstr>函数的递归调用</vt:lpstr>
      <vt:lpstr>函数的递归调用</vt:lpstr>
      <vt:lpstr>函数的递归调用</vt:lpstr>
      <vt:lpstr>PowerPoint 演示文稿</vt:lpstr>
      <vt:lpstr>PowerPoint 演示文稿</vt:lpstr>
      <vt:lpstr>数组作为函数参数</vt:lpstr>
      <vt:lpstr>数组元素作函数实参</vt:lpstr>
      <vt:lpstr>数组元素作函数实参</vt:lpstr>
      <vt:lpstr>PowerPoint 演示文稿</vt:lpstr>
      <vt:lpstr>PowerPoint 演示文稿</vt:lpstr>
      <vt:lpstr>数组名作函数参数</vt:lpstr>
      <vt:lpstr>数组名作函数参数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局部变量和全局变量</vt:lpstr>
      <vt:lpstr>PowerPoint 演示文稿</vt:lpstr>
      <vt:lpstr>PowerPoint 演示文稿</vt:lpstr>
      <vt:lpstr>PowerPoint 演示文稿</vt:lpstr>
      <vt:lpstr>PowerPoint 演示文稿</vt:lpstr>
      <vt:lpstr>PowerPoint 演示文稿</vt:lpstr>
      <vt:lpstr>PowerPoint 演示文稿</vt:lpstr>
      <vt:lpstr>变量的存储方式和生存期</vt:lpstr>
      <vt:lpstr>PowerPoint 演示文稿</vt:lpstr>
      <vt:lpstr>局部变量的存储类别</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全局变量的存储类别</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内部函数和外部函数</vt:lpstr>
      <vt:lpstr>内部函数</vt:lpstr>
      <vt:lpstr>外部函数</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郭威威</cp:lastModifiedBy>
  <cp:revision>1327</cp:revision>
  <dcterms:created xsi:type="dcterms:W3CDTF">2024-09-23T01:10:50Z</dcterms:created>
  <dcterms:modified xsi:type="dcterms:W3CDTF">2024-10-30T07:39:56Z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wqlLaW5nc29mdCBQREYgdG8gV1BTIDgw</vt:lpwstr>
  </property>
  <property fmtid="{D5CDD505-2E9C-101B-9397-08002B2CF9AE}" pid="3" name="Created">
    <vt:filetime>2023-08-28T23:21:40Z</vt:filetime>
  </property>
  <property fmtid="{D5CDD505-2E9C-101B-9397-08002B2CF9AE}" pid="4" name="ICV">
    <vt:lpwstr>CFDF18D4CA5D469BA19C0723CD8A7A5F_13</vt:lpwstr>
  </property>
  <property fmtid="{D5CDD505-2E9C-101B-9397-08002B2CF9AE}" pid="5" name="KSOProductBuildVer">
    <vt:lpwstr>2052-6.8.2.8850</vt:lpwstr>
  </property>
</Properties>
</file>