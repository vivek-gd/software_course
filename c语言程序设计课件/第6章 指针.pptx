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3"/>
    <p:sldId id="652" r:id="rId5"/>
    <p:sldId id="994" r:id="rId6"/>
    <p:sldId id="995" r:id="rId7"/>
    <p:sldId id="1092" r:id="rId8"/>
    <p:sldId id="1093" r:id="rId9"/>
    <p:sldId id="1094" r:id="rId10"/>
    <p:sldId id="1095" r:id="rId11"/>
    <p:sldId id="1096" r:id="rId12"/>
    <p:sldId id="1097" r:id="rId13"/>
    <p:sldId id="1098" r:id="rId14"/>
    <p:sldId id="1099" r:id="rId15"/>
    <p:sldId id="1165" r:id="rId16"/>
    <p:sldId id="1101" r:id="rId17"/>
    <p:sldId id="1102" r:id="rId18"/>
    <p:sldId id="1103" r:id="rId19"/>
    <p:sldId id="1104" r:id="rId20"/>
    <p:sldId id="1166" r:id="rId21"/>
    <p:sldId id="1106" r:id="rId22"/>
    <p:sldId id="1107" r:id="rId23"/>
    <p:sldId id="1108" r:id="rId24"/>
    <p:sldId id="1109" r:id="rId25"/>
    <p:sldId id="1174" r:id="rId26"/>
    <p:sldId id="1173" r:id="rId27"/>
    <p:sldId id="1110" r:id="rId28"/>
    <p:sldId id="1112" r:id="rId29"/>
    <p:sldId id="1113" r:id="rId30"/>
    <p:sldId id="1114" r:id="rId31"/>
    <p:sldId id="1115" r:id="rId32"/>
    <p:sldId id="1116" r:id="rId33"/>
    <p:sldId id="1117" r:id="rId34"/>
    <p:sldId id="1118" r:id="rId35"/>
    <p:sldId id="1119" r:id="rId36"/>
    <p:sldId id="1120" r:id="rId37"/>
    <p:sldId id="1167" r:id="rId38"/>
    <p:sldId id="1122" r:id="rId39"/>
    <p:sldId id="1123" r:id="rId40"/>
    <p:sldId id="1124" r:id="rId41"/>
    <p:sldId id="1168" r:id="rId42"/>
    <p:sldId id="1126" r:id="rId43"/>
    <p:sldId id="1127" r:id="rId44"/>
    <p:sldId id="1128" r:id="rId45"/>
    <p:sldId id="1129" r:id="rId46"/>
    <p:sldId id="1130" r:id="rId47"/>
    <p:sldId id="1131" r:id="rId48"/>
    <p:sldId id="1132" r:id="rId49"/>
    <p:sldId id="1133" r:id="rId50"/>
    <p:sldId id="1134" r:id="rId51"/>
    <p:sldId id="1135" r:id="rId52"/>
    <p:sldId id="1136" r:id="rId53"/>
    <p:sldId id="1137" r:id="rId54"/>
    <p:sldId id="1169" r:id="rId55"/>
    <p:sldId id="1139" r:id="rId56"/>
    <p:sldId id="1140" r:id="rId57"/>
    <p:sldId id="1141" r:id="rId58"/>
    <p:sldId id="1142" r:id="rId59"/>
    <p:sldId id="1143" r:id="rId60"/>
    <p:sldId id="1144" r:id="rId61"/>
    <p:sldId id="1145" r:id="rId62"/>
    <p:sldId id="1146" r:id="rId63"/>
    <p:sldId id="1170" r:id="rId64"/>
    <p:sldId id="1148" r:id="rId65"/>
    <p:sldId id="1149" r:id="rId66"/>
    <p:sldId id="1150" r:id="rId67"/>
    <p:sldId id="1151" r:id="rId68"/>
    <p:sldId id="1152" r:id="rId69"/>
    <p:sldId id="1171" r:id="rId70"/>
    <p:sldId id="1155" r:id="rId71"/>
    <p:sldId id="1156" r:id="rId72"/>
    <p:sldId id="1157" r:id="rId73"/>
    <p:sldId id="1158" r:id="rId74"/>
    <p:sldId id="1159" r:id="rId75"/>
    <p:sldId id="1160" r:id="rId76"/>
    <p:sldId id="1161" r:id="rId77"/>
    <p:sldId id="1162" r:id="rId78"/>
    <p:sldId id="1163" r:id="rId79"/>
    <p:sldId id="1164" r:id="rId80"/>
    <p:sldId id="1175" r:id="rId81"/>
  </p:sldIdLst>
  <p:sldSz cx="9144000" cy="5143500"/>
  <p:notesSz cx="6858000" cy="9144000"/>
  <p:custDataLst>
    <p:tags r:id="rId8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dan li" initials="zl" lastIdx="1" clrIdx="0"/>
  <p:cmAuthor id="2" name="lizhengdan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2C0FD"/>
    <a:srgbClr val="782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6" Type="http://schemas.openxmlformats.org/officeDocument/2006/relationships/tags" Target="tags/tag12.xml"/><Relationship Id="rId85" Type="http://schemas.openxmlformats.org/officeDocument/2006/relationships/commentAuthors" Target="commentAuthors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921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ea typeface="等线" panose="02010600030101010101" pitchFamily="2" charset="-122"/>
              </a:rPr>
              <a:t>可以把地址看作是变量在内存中的位置。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可以看到，在执行</a:t>
            </a:r>
            <a:r>
              <a:rPr lang="en-US" altLang="zh-CN"/>
              <a:t>swap</a:t>
            </a:r>
            <a:r>
              <a:rPr lang="zh-CN" altLang="en-US"/>
              <a:t>函数后，变量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的值改变了。这个改变不是通过将形参值传回实参来实现的。分析程序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分析程序。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第8行先使指针量p 指向 a数组的首元素(序号为0的元素,</a:t>
            </a:r>
            <a:r>
              <a:rPr lang="en-US" altLang="zh-CN"/>
              <a:t> </a:t>
            </a:r>
            <a:r>
              <a:rPr lang="zh-CN" altLang="en-US"/>
              <a:t>即</a:t>
            </a:r>
            <a:r>
              <a:rPr lang="en-US" altLang="zh-CN"/>
              <a:t>a[0]</a:t>
            </a:r>
            <a:r>
              <a:rPr lang="zh-CN" altLang="en-US"/>
              <a:t>）接着在第9行输出*p,*p就是p当前指向的元素(即 a[</a:t>
            </a:r>
            <a:r>
              <a:rPr lang="en-US" altLang="zh-CN"/>
              <a:t>0</a:t>
            </a:r>
            <a:r>
              <a:rPr lang="zh-CN" altLang="en-US"/>
              <a:t>])的值。然后执行 p十十,使p指下一个元素 a[1],再输出*p,此时 *p是 a[1]的值,依此类推,直到 p=a十10,此时停止执行循环体。</a:t>
            </a:r>
            <a:endParaRPr lang="zh-CN" altLang="en-US"/>
          </a:p>
          <a:p>
            <a:r>
              <a:rPr lang="zh-CN" altLang="en-US"/>
              <a:t>对比</a:t>
            </a:r>
            <a:r>
              <a:rPr lang="en-US" altLang="zh-CN"/>
              <a:t>3</a:t>
            </a:r>
            <a:r>
              <a:rPr lang="zh-CN" altLang="en-US"/>
              <a:t>种方法，方法</a:t>
            </a:r>
            <a:r>
              <a:rPr lang="en-US" altLang="zh-CN"/>
              <a:t>1</a:t>
            </a:r>
            <a:r>
              <a:rPr lang="zh-CN" altLang="en-US"/>
              <a:t>和</a:t>
            </a:r>
            <a:r>
              <a:rPr lang="en-US" altLang="zh-CN"/>
              <a:t>2</a:t>
            </a:r>
            <a:r>
              <a:rPr lang="zh-CN" altLang="en-US"/>
              <a:t>简洁，比较容易看懂。</a:t>
            </a:r>
            <a:r>
              <a:rPr lang="en-US" altLang="zh-CN"/>
              <a:t>3</a:t>
            </a:r>
            <a:r>
              <a:rPr lang="zh-CN" altLang="en-US"/>
              <a:t>高效，不用每次重新计算地址。</a:t>
            </a:r>
            <a:endParaRPr lang="zh-CN" altLang="en-US"/>
          </a:p>
          <a:p>
            <a:r>
              <a:rPr lang="zh-CN" altLang="en-US"/>
              <a:t>因为a它表示的是这个数组的首地址和第一个元素的地址，不能直接去操作a++去移动地址，如果想移动可以</a:t>
            </a:r>
            <a:r>
              <a:rPr lang="en-US" altLang="zh-CN"/>
              <a:t>int</a:t>
            </a:r>
            <a:r>
              <a:rPr lang="zh-CN" altLang="en-US"/>
              <a:t> *p = a；然后再操作p，p++这样是完全正确的。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/>
              <a:t>C</a:t>
            </a:r>
            <a:r>
              <a:rPr lang="zh-CN" altLang="en-US">
                <a:ea typeface="等线" panose="02010600030101010101" pitchFamily="2" charset="-122"/>
              </a:rPr>
              <a:t>语言对字符串常量是按字符数组处理的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624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ea typeface="等线" panose="02010600030101010101" pitchFamily="2" charset="-122"/>
              </a:rPr>
              <a:t>函数名就是函数的指针，代表函数的起始地址。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p=max</a:t>
            </a:r>
            <a:r>
              <a:rPr lang="zh-CN" altLang="en-US" dirty="0">
                <a:sym typeface="+mn-ea"/>
              </a:rPr>
              <a:t>表示将函数入口地址赋给</a:t>
            </a:r>
            <a:r>
              <a:rPr lang="en-US" altLang="zh-CN" dirty="0">
                <a:sym typeface="+mn-ea"/>
              </a:rPr>
              <a:t>p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p=max(a,b)</a:t>
            </a:r>
            <a:r>
              <a:rPr lang="zh-CN" altLang="en-US" dirty="0">
                <a:sym typeface="+mn-ea"/>
              </a:rPr>
              <a:t>的作用是将调用</a:t>
            </a:r>
            <a:r>
              <a:rPr lang="en-US" altLang="zh-CN" dirty="0">
                <a:sym typeface="+mn-ea"/>
              </a:rPr>
              <a:t>max</a:t>
            </a:r>
            <a:r>
              <a:rPr lang="zh-CN" altLang="en-US" dirty="0">
                <a:sym typeface="+mn-ea"/>
              </a:rPr>
              <a:t>函数所得到的函数值赋给</a:t>
            </a:r>
            <a:r>
              <a:rPr lang="en-US" altLang="zh-CN" dirty="0">
                <a:sym typeface="+mn-ea"/>
              </a:rPr>
              <a:t>p</a:t>
            </a:r>
            <a:r>
              <a:rPr lang="zh-CN" altLang="en-US" dirty="0">
                <a:sym typeface="+mn-ea"/>
              </a:rPr>
              <a:t>，而不是将函数入口地址赋给</a:t>
            </a:r>
            <a:r>
              <a:rPr lang="en-US" altLang="zh-CN" dirty="0">
                <a:sym typeface="+mn-ea"/>
              </a:rPr>
              <a:t>p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在程序中，调用函数的语句是</a:t>
            </a:r>
            <a:r>
              <a:rPr lang="en-US" altLang="zh-CN" dirty="0">
                <a:sym typeface="+mn-ea"/>
              </a:rPr>
              <a:t>c=(*</a:t>
            </a:r>
            <a:r>
              <a:rPr lang="en-US" altLang="zh-CN" dirty="0">
                <a:solidFill>
                  <a:srgbClr val="9D138D"/>
                </a:solidFill>
                <a:sym typeface="+mn-ea"/>
              </a:rPr>
              <a:t>p</a:t>
            </a:r>
            <a:r>
              <a:rPr lang="en-US" altLang="zh-CN" dirty="0">
                <a:sym typeface="+mn-ea"/>
              </a:rPr>
              <a:t>)(a,b)</a:t>
            </a:r>
            <a:r>
              <a:rPr lang="zh-CN" altLang="en-US" dirty="0">
                <a:sym typeface="+mn-ea"/>
              </a:rPr>
              <a:t>，从这个语句本身看不出是调用哪一个函数，在程序执行过程中由用户进行选择，输入一个数字，程序根据输入的数字决定指针变量</a:t>
            </a:r>
            <a:r>
              <a:rPr lang="en-US" altLang="zh-CN" dirty="0">
                <a:sym typeface="+mn-ea"/>
              </a:rPr>
              <a:t>p</a:t>
            </a:r>
            <a:r>
              <a:rPr lang="zh-CN" altLang="en-US" dirty="0">
                <a:sym typeface="+mn-ea"/>
              </a:rPr>
              <a:t>指向哪一个函数，然后调用相应函数。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一个函数可以返回一个整型值、字符值、实型值等，也可以返回指针型的数据，即地址。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课程学生数为</a:t>
            </a:r>
            <a:r>
              <a:rPr lang="en-US" altLang="zh-CN"/>
              <a:t>3</a:t>
            </a:r>
            <a:r>
              <a:rPr lang="zh-CN" altLang="en-US"/>
              <a:t>，课程数为</a:t>
            </a:r>
            <a:r>
              <a:rPr lang="en-US" altLang="zh-CN"/>
              <a:t>4</a:t>
            </a:r>
            <a:r>
              <a:rPr lang="zh-CN" altLang="en-US"/>
              <a:t>。形参数指向一维数组的指针变量和整型变量</a:t>
            </a:r>
            <a:r>
              <a:rPr lang="en-US" altLang="zh-CN"/>
              <a:t>n</a:t>
            </a:r>
            <a:r>
              <a:rPr lang="zh-CN" altLang="en-US"/>
              <a:t>，从主函数将数组名</a:t>
            </a:r>
            <a:r>
              <a:rPr lang="en-US" altLang="zh-CN"/>
              <a:t>score</a:t>
            </a:r>
            <a:r>
              <a:rPr lang="zh-CN" altLang="en-US"/>
              <a:t>和要找的学生号</a:t>
            </a:r>
            <a:r>
              <a:rPr lang="en-US" altLang="zh-CN"/>
              <a:t>k</a:t>
            </a:r>
            <a:r>
              <a:rPr lang="zh-CN" altLang="en-US"/>
              <a:t>传递给形参。函数返回值是</a:t>
            </a:r>
            <a:r>
              <a:rPr lang="en-US" altLang="zh-CN"/>
              <a:t>&amp;score[k][0](</a:t>
            </a:r>
            <a:r>
              <a:rPr lang="zh-CN" altLang="en-US"/>
              <a:t>即存放序号为</a:t>
            </a:r>
            <a:r>
              <a:rPr lang="en-US" altLang="zh-CN"/>
              <a:t>k</a:t>
            </a:r>
            <a:r>
              <a:rPr lang="zh-CN" altLang="en-US"/>
              <a:t>的学生的序号为</a:t>
            </a:r>
            <a:r>
              <a:rPr lang="en-US" altLang="zh-CN"/>
              <a:t>0</a:t>
            </a:r>
            <a:r>
              <a:rPr lang="zh-CN" altLang="en-US"/>
              <a:t>的课程的数组元素的地址</a:t>
            </a:r>
            <a:r>
              <a:rPr lang="en-US" altLang="zh-CN"/>
              <a:t>)</a:t>
            </a:r>
            <a:r>
              <a:rPr lang="zh-CN" altLang="en-US"/>
              <a:t>。然后在主函数中输出该生的全部成绩。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7475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*</a:t>
            </a:r>
            <a:r>
              <a:rPr lang="zh-CN" altLang="en-US"/>
              <a:t>运算符的结合率是从右到左。因此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**p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相当于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*(*p)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8089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sym typeface="+mn-ea"/>
              </a:rPr>
              <a:t>由于未在声明部分定义它们为变量或数组,因此不能通过变量名或数组名去引用这些数据，只能通过指针来引用。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对内存的动态分配是通过系统提供的库函数来实现的，主要有 malloc,calloc,free,realloc这4个函数。</a:t>
            </a:r>
            <a:endParaRPr lang="zh-CN" altLang="en-US"/>
          </a:p>
          <a:p>
            <a:pPr lvl="0"/>
            <a:br>
              <a:rPr lang="zh-CN" altLang="en-US">
                <a:ea typeface="等线" panose="02010600030101010101" pitchFamily="2" charset="-122"/>
              </a:rPr>
            </a:br>
            <a:r>
              <a:rPr lang="zh-CN" altLang="en-US">
                <a:ea typeface="等线" panose="02010600030101010101" pitchFamily="2" charset="-122"/>
              </a:rPr>
              <a:t>可以在程序运行时分配更多的内存。主要的工具是malloc()函数，该函数接受一个参数：所需的内存字节数。malloc()函数会找到合适的空闲内存块，这样的内存是匿名的。也就是说，malloc()分配内存，但是不会为其赋名。然而，它确实返回动态分配内存块的首字节地址。因此，可以把该地址赋给一个指针变量，并使用指针访问这块内存。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829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ea typeface="等线" panose="02010600030101010101" pitchFamily="2" charset="-122"/>
              </a:rPr>
              <a:t>如果malloc()分配内存失败，将返回空指针。指针ptd被声明为指向一个double类型，而不是指向内含30个double类型值的块。回忆一下，数组名是该数组首元素的地址。因此，如果让ptd指向这个块的首元素，便可像使用数组名一样使用它。也就是说，可以使用表达式ptd[0]访问该块的首元素，ptd[1]访问第2个元素，以此类推。</a:t>
            </a:r>
            <a:endParaRPr lang="zh-CN" altLang="en-US">
              <a:ea typeface="等线" panose="02010600030101010101" pitchFamily="2" charset="-122"/>
            </a:endParaRPr>
          </a:p>
          <a:p>
            <a:pPr lvl="0"/>
            <a:r>
              <a:rPr lang="zh-CN" altLang="en-US">
                <a:ea typeface="等线" panose="02010600030101010101" pitchFamily="2" charset="-122"/>
              </a:rPr>
              <a:t>在C中，不一定要使用强制类型转换(double *)，但是在C++中必须使用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87042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ea typeface="等线" panose="02010600030101010101" pitchFamily="2" charset="-122"/>
              </a:rPr>
              <a:t>malloc()要与free()配套使用。free()函数的参数是之前malloc()返回的地址，释放之前malloc()分配的内存。因此，动态分配内存的存储期从调用malloc()分配内存到调用free()释放内存为止。设想malloc()和free()管理着一个内存池。每次调用malloc()分配内存给程序使用，每次调用free()把内存归还内存池中，这样便可重复使用这些内存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幻灯片图像占位符 1"/>
          <p:cNvSpPr/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901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ea typeface="等线" panose="02010600030101010101" pitchFamily="2" charset="-122"/>
              </a:rPr>
              <a:t>第1次调用</a:t>
            </a:r>
            <a:r>
              <a:rPr lang="en-US" altLang="zh-CN">
                <a:ea typeface="等线" panose="02010600030101010101" pitchFamily="2" charset="-122"/>
              </a:rPr>
              <a:t>assi</a:t>
            </a:r>
            <a:r>
              <a:rPr lang="zh-CN" altLang="en-US">
                <a:ea typeface="等线" panose="02010600030101010101" pitchFamily="2" charset="-122"/>
              </a:rPr>
              <a:t>()时，它创建了指针tmp，并调用malloc()分配了16000字节的内存（假设double为8字节）。假设如代码注释所示，遗漏了free()。当函数结束时，作为自动变量的指针tmp也会消失。但是它所指向的16000字节的内存却仍然存在。由于tmp指针已被销毁，所以无法访问这块内存，它也不能被重复使用，因为代码中没有调用free()释放这块内存。第2次调用</a:t>
            </a:r>
            <a:r>
              <a:rPr lang="en-US" altLang="zh-CN">
                <a:ea typeface="等线" panose="02010600030101010101" pitchFamily="2" charset="-122"/>
              </a:rPr>
              <a:t>assi</a:t>
            </a:r>
            <a:r>
              <a:rPr lang="zh-CN" altLang="en-US">
                <a:ea typeface="等线" panose="02010600030101010101" pitchFamily="2" charset="-122"/>
              </a:rPr>
              <a:t>()时，它又创建了指针tmp，并调用malloc()分配了16000字节的内存。第1次分配的16000字节内存已不可用，所以malloc()分配了另外一块16000字节的内存。当函数结束时，该内存块也无法被再访问和再使用。循环要执行1000次，所以在循环结束时，内存池中有1600万字节被占用。实际上，也许在循环结束之前就已耗尽所有的内存。这类问题被称为内存泄漏（memory leak）。在函数末尾处调用free()函数可避免这类问题发生。</a:t>
            </a:r>
            <a:endParaRPr lang="zh-CN" altLang="en-US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C3BB909-BA8B-4CC5-AF4F-417D7642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87" y="0"/>
            <a:ext cx="9145587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A6649B-253A-46CC-9C65-97B6E8AC29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85725"/>
            <a:ext cx="7766050" cy="542925"/>
          </a:xfrm>
          <a:prstGeom prst="rect">
            <a:avLst/>
          </a:prstGeom>
        </p:spPr>
        <p:txBody>
          <a:bodyPr/>
          <a:lstStyle>
            <a:lvl1pPr algn="l">
              <a:defRPr sz="27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74625" y="76200"/>
            <a:ext cx="5148263" cy="5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700" b="1" i="0" u="none" strike="noStrike" kern="1200" cap="none" spc="3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 </a:t>
            </a:r>
            <a:r>
              <a:rPr kumimoji="0" lang="zh-CN" altLang="en-US" sz="2700" b="1" i="0" u="none" strike="noStrike" kern="1200" cap="none" spc="3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目录</a:t>
            </a:r>
            <a:endParaRPr kumimoji="0" lang="zh-CN" altLang="en-US" sz="2700" b="1" i="0" u="none" strike="noStrike" kern="1200" cap="none" spc="30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3" name="Group 5"/>
          <p:cNvGrpSpPr/>
          <p:nvPr userDrawn="1"/>
        </p:nvGrpSpPr>
        <p:grpSpPr>
          <a:xfrm>
            <a:off x="5286375" y="-4762"/>
            <a:ext cx="3863975" cy="481013"/>
            <a:chOff x="80" y="0"/>
            <a:chExt cx="6086" cy="1010"/>
          </a:xfrm>
        </p:grpSpPr>
        <p:pic>
          <p:nvPicPr>
            <p:cNvPr id="2055" name="Picture 6" descr="D:\幻灯片\图片\logo2.pnglogo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0" y="0"/>
              <a:ext cx="1116" cy="10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80" y="415"/>
              <a:ext cx="5353" cy="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让</a:t>
              </a:r>
              <a:r>
                <a:rPr kumimoji="0" lang="en-US" altLang="zh-CN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教学更简单，让</a:t>
              </a:r>
              <a:r>
                <a:rPr kumimoji="0" lang="en-US" altLang="zh-CN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学习更有效</a:t>
              </a:r>
              <a:endPara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CE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endParaRPr>
            </a:p>
          </p:txBody>
        </p:sp>
      </p:grpSp>
      <p:pic>
        <p:nvPicPr>
          <p:cNvPr id="2054" name="Picture 2" descr="http://attach.bbs.miui.com/forum/201302/27/231712nzs6bezpzugpbm81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0513" y="3830241"/>
            <a:ext cx="1292225" cy="11406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847852"/>
            <a:ext cx="7772400" cy="704849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43200" y="2914650"/>
            <a:ext cx="6400800" cy="793750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90204" pitchFamily="34" charset="0"/>
              <a:buChar char="•"/>
              <a:defRPr sz="15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8360"/>
            <a:ext cx="8229600" cy="85486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2729"/>
            <a:ext cx="2133600" cy="34290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2729"/>
            <a:ext cx="2133600" cy="3429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BADE0A-06C1-4F98-B0C9-955A98D113B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82729"/>
            <a:ext cx="2133600" cy="34290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682729"/>
            <a:ext cx="2133600" cy="3429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D4F40C-0F41-4629-ABE7-D3938B34B08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8" Type="http://schemas.openxmlformats.org/officeDocument/2006/relationships/theme" Target="../theme/theme1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7.xml"/><Relationship Id="rId2" Type="http://schemas.openxmlformats.org/officeDocument/2006/relationships/image" Target="../media/image25.png"/><Relationship Id="rId1" Type="http://schemas.openxmlformats.org/officeDocument/2006/relationships/tags" Target="../tags/tag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</a:t>
            </a:r>
            <a:endParaRPr lang="zh-CN" altLang="en-US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sp>
        <p:nvSpPr>
          <p:cNvPr id="3" name="副标题 81924"/>
          <p:cNvSpPr txBox="1"/>
          <p:nvPr/>
        </p:nvSpPr>
        <p:spPr>
          <a:xfrm>
            <a:off x="2195513" y="2914650"/>
            <a:ext cx="4752975" cy="13144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805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055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33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27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193B8F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朱静雯</a:t>
            </a:r>
            <a:endParaRPr lang="zh-CN" altLang="en-US" sz="2400" dirty="0">
              <a:solidFill>
                <a:srgbClr val="193B8F"/>
              </a:solidFill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zhujingwen@nankai.edu.cn</a:t>
            </a:r>
            <a:endParaRPr lang="en-US" altLang="zh-CN" sz="2400" dirty="0"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南开大学</a:t>
            </a:r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·</a:t>
            </a:r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软件学院</a:t>
            </a:r>
            <a:endParaRPr lang="zh-CN" altLang="en-US" sz="2400" dirty="0">
              <a:latin typeface="Times New Roman" panose="02020503050405090304" pitchFamily="18" charset="0"/>
              <a:ea typeface="楷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3b32313538323734393b56fe4e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110" y="135890"/>
            <a:ext cx="731520" cy="731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6510" y="248285"/>
            <a:ext cx="9988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kern="0" spc="30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目录</a:t>
            </a:r>
            <a:endParaRPr lang="zh-CN" altLang="en-US" sz="2700"/>
          </a:p>
        </p:txBody>
      </p:sp>
      <p:grpSp>
        <p:nvGrpSpPr>
          <p:cNvPr id="2" name="组合 1"/>
          <p:cNvGrpSpPr/>
          <p:nvPr/>
        </p:nvGrpSpPr>
        <p:grpSpPr>
          <a:xfrm>
            <a:off x="2426494" y="865585"/>
            <a:ext cx="3031331" cy="445294"/>
            <a:chOff x="1710657" y="1263652"/>
            <a:chExt cx="4042443" cy="592608"/>
          </a:xfrm>
        </p:grpSpPr>
        <p:grpSp>
          <p:nvGrpSpPr>
            <p:cNvPr id="5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8" name="圆角矩形 7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6.1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0" name="圆角矩形 5"/>
              <p:cNvSpPr/>
              <p:nvPr/>
            </p:nvSpPr>
            <p:spPr>
              <a:xfrm>
                <a:off x="1931232" y="2065721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12" name="矩形 35"/>
            <p:cNvSpPr/>
            <p:nvPr/>
          </p:nvSpPr>
          <p:spPr>
            <a:xfrm>
              <a:off x="2836056" y="1286814"/>
              <a:ext cx="2682684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指针的定义与引用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" name="组合 195"/>
          <p:cNvGrpSpPr/>
          <p:nvPr/>
        </p:nvGrpSpPr>
        <p:grpSpPr>
          <a:xfrm>
            <a:off x="3250406" y="1758554"/>
            <a:ext cx="3312789" cy="444103"/>
            <a:chOff x="1710657" y="1263652"/>
            <a:chExt cx="4417783" cy="592608"/>
          </a:xfrm>
        </p:grpSpPr>
        <p:grpSp>
          <p:nvGrpSpPr>
            <p:cNvPr id="14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15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16" name="圆角矩形 15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6.2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17" name="圆角矩形 16"/>
                <p:cNvSpPr/>
                <p:nvPr/>
              </p:nvSpPr>
              <p:spPr>
                <a:xfrm>
                  <a:off x="1961224" y="1349737"/>
                  <a:ext cx="1189063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8" name="圆角矩形 5"/>
              <p:cNvSpPr/>
              <p:nvPr/>
            </p:nvSpPr>
            <p:spPr>
              <a:xfrm>
                <a:off x="1931236" y="2063209"/>
                <a:ext cx="129377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 bwMode="auto">
            <a:xfrm>
              <a:off x="2809389" y="1760934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0" name="矩形 35"/>
            <p:cNvSpPr/>
            <p:nvPr/>
          </p:nvSpPr>
          <p:spPr>
            <a:xfrm>
              <a:off x="2836056" y="1286814"/>
              <a:ext cx="3292384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指针变量作为函数参数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21"/>
          <p:cNvGrpSpPr/>
          <p:nvPr/>
        </p:nvGrpSpPr>
        <p:grpSpPr>
          <a:xfrm>
            <a:off x="2426494" y="2650331"/>
            <a:ext cx="3031331" cy="445294"/>
            <a:chOff x="1710657" y="1263652"/>
            <a:chExt cx="4042443" cy="592608"/>
          </a:xfrm>
        </p:grpSpPr>
        <p:grpSp>
          <p:nvGrpSpPr>
            <p:cNvPr id="22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23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" name="圆角矩形 23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6.3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6" name="圆角矩形 5"/>
              <p:cNvSpPr/>
              <p:nvPr/>
            </p:nvSpPr>
            <p:spPr>
              <a:xfrm>
                <a:off x="1931232" y="2065724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8" name="矩形 35"/>
            <p:cNvSpPr/>
            <p:nvPr/>
          </p:nvSpPr>
          <p:spPr>
            <a:xfrm>
              <a:off x="2836056" y="1286814"/>
              <a:ext cx="2377833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指针与一维数组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34"/>
          <p:cNvGrpSpPr/>
          <p:nvPr/>
        </p:nvGrpSpPr>
        <p:grpSpPr>
          <a:xfrm>
            <a:off x="3276600" y="3568304"/>
            <a:ext cx="3032522" cy="444103"/>
            <a:chOff x="1710657" y="1263652"/>
            <a:chExt cx="4042443" cy="592608"/>
          </a:xfrm>
        </p:grpSpPr>
        <p:grpSp>
          <p:nvGrpSpPr>
            <p:cNvPr id="30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31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6.4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37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38" name="直接连接符 37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39" name="矩形 35"/>
            <p:cNvSpPr/>
            <p:nvPr/>
          </p:nvSpPr>
          <p:spPr>
            <a:xfrm>
              <a:off x="2836056" y="1286814"/>
              <a:ext cx="2376899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指针与二维数组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组合 242"/>
          <p:cNvGrpSpPr/>
          <p:nvPr/>
        </p:nvGrpSpPr>
        <p:grpSpPr>
          <a:xfrm>
            <a:off x="2421731" y="4435079"/>
            <a:ext cx="3032522" cy="444103"/>
            <a:chOff x="1710657" y="1263652"/>
            <a:chExt cx="4042443" cy="592608"/>
          </a:xfrm>
        </p:grpSpPr>
        <p:grpSp>
          <p:nvGrpSpPr>
            <p:cNvPr id="41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42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43" name="圆角矩形 42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6.5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44" name="圆角矩形 43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45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46" name="直接连接符 45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7" name="矩形 35"/>
            <p:cNvSpPr/>
            <p:nvPr/>
          </p:nvSpPr>
          <p:spPr>
            <a:xfrm>
              <a:off x="2836056" y="1286814"/>
              <a:ext cx="2072169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指针与字符串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3b32313538323734393b56fe4e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110" y="135890"/>
            <a:ext cx="731520" cy="731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6510" y="248285"/>
            <a:ext cx="9988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kern="0" spc="30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目录</a:t>
            </a:r>
            <a:endParaRPr lang="zh-CN" altLang="en-US" sz="2700"/>
          </a:p>
        </p:txBody>
      </p:sp>
      <p:grpSp>
        <p:nvGrpSpPr>
          <p:cNvPr id="2" name="组合 1"/>
          <p:cNvGrpSpPr/>
          <p:nvPr/>
        </p:nvGrpSpPr>
        <p:grpSpPr>
          <a:xfrm>
            <a:off x="2426494" y="865585"/>
            <a:ext cx="3998590" cy="445294"/>
            <a:chOff x="1710657" y="1263652"/>
            <a:chExt cx="5332335" cy="592608"/>
          </a:xfrm>
        </p:grpSpPr>
        <p:grpSp>
          <p:nvGrpSpPr>
            <p:cNvPr id="5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8" name="圆角矩形 7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6.6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0" name="圆角矩形 5"/>
              <p:cNvSpPr/>
              <p:nvPr/>
            </p:nvSpPr>
            <p:spPr>
              <a:xfrm>
                <a:off x="1931232" y="2065721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12" name="矩形 35"/>
            <p:cNvSpPr/>
            <p:nvPr/>
          </p:nvSpPr>
          <p:spPr>
            <a:xfrm>
              <a:off x="2836056" y="1286814"/>
              <a:ext cx="4206936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函数的指针和返回指针的函数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" name="组合 195"/>
          <p:cNvGrpSpPr/>
          <p:nvPr/>
        </p:nvGrpSpPr>
        <p:grpSpPr>
          <a:xfrm>
            <a:off x="3250406" y="1758554"/>
            <a:ext cx="3031331" cy="444103"/>
            <a:chOff x="1710657" y="1263652"/>
            <a:chExt cx="4042443" cy="592608"/>
          </a:xfrm>
        </p:grpSpPr>
        <p:grpSp>
          <p:nvGrpSpPr>
            <p:cNvPr id="14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15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16" name="圆角矩形 15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6.7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17" name="圆角矩形 16"/>
                <p:cNvSpPr/>
                <p:nvPr/>
              </p:nvSpPr>
              <p:spPr>
                <a:xfrm>
                  <a:off x="1961224" y="1349737"/>
                  <a:ext cx="1189063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8" name="圆角矩形 5"/>
              <p:cNvSpPr/>
              <p:nvPr/>
            </p:nvSpPr>
            <p:spPr>
              <a:xfrm>
                <a:off x="1931236" y="2063209"/>
                <a:ext cx="129377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 bwMode="auto">
            <a:xfrm>
              <a:off x="2809389" y="1760934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0" name="矩形 35"/>
            <p:cNvSpPr/>
            <p:nvPr/>
          </p:nvSpPr>
          <p:spPr>
            <a:xfrm>
              <a:off x="2836056" y="1286814"/>
              <a:ext cx="1463282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指针数组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21"/>
          <p:cNvGrpSpPr/>
          <p:nvPr/>
        </p:nvGrpSpPr>
        <p:grpSpPr>
          <a:xfrm>
            <a:off x="2426494" y="2650331"/>
            <a:ext cx="3031330" cy="445294"/>
            <a:chOff x="1710657" y="1263652"/>
            <a:chExt cx="4042443" cy="592608"/>
          </a:xfrm>
        </p:grpSpPr>
        <p:grpSp>
          <p:nvGrpSpPr>
            <p:cNvPr id="22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23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" name="圆角矩形 23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6.8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6" name="圆角矩形 5"/>
              <p:cNvSpPr/>
              <p:nvPr/>
            </p:nvSpPr>
            <p:spPr>
              <a:xfrm>
                <a:off x="1931232" y="2065724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8" name="矩形 35"/>
            <p:cNvSpPr/>
            <p:nvPr/>
          </p:nvSpPr>
          <p:spPr>
            <a:xfrm>
              <a:off x="2836056" y="1286814"/>
              <a:ext cx="2072983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内存动态管理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指针的定义与引用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4469" y="589360"/>
            <a:ext cx="6322219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怎样定义指针变量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194" name="Rectangle 3"/>
          <p:cNvSpPr>
            <a:spLocks noGrp="1"/>
          </p:cNvSpPr>
          <p:nvPr>
            <p:ph idx="1" hasCustomPrompt="1"/>
          </p:nvPr>
        </p:nvSpPr>
        <p:spPr>
          <a:xfrm>
            <a:off x="1625204" y="1285875"/>
            <a:ext cx="6000750" cy="3375422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定义指针变量的一般形式为：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  </a:t>
            </a:r>
            <a:r>
              <a:rPr lang="zh-CN" altLang="zh-CN" dirty="0"/>
              <a:t>类型  </a:t>
            </a:r>
            <a:r>
              <a:rPr lang="en-US" altLang="zh-CN" dirty="0"/>
              <a:t>* </a:t>
            </a:r>
            <a:r>
              <a:rPr lang="zh-CN" altLang="zh-CN" dirty="0"/>
              <a:t>指针变量名</a:t>
            </a:r>
            <a:r>
              <a:rPr lang="en-US" altLang="zh-CN" dirty="0"/>
              <a:t>;</a:t>
            </a:r>
            <a:endParaRPr lang="en-US" altLang="zh-CN" dirty="0"/>
          </a:p>
          <a:p>
            <a:pPr lvl="1" indent="-325120">
              <a:buNone/>
            </a:pPr>
            <a:r>
              <a:rPr lang="zh-CN" altLang="en-US" dirty="0"/>
              <a:t>如：</a:t>
            </a:r>
            <a:r>
              <a:rPr lang="en-US" altLang="zh-CN" dirty="0"/>
              <a:t>int *pointer_1, *pointer_2;</a:t>
            </a:r>
            <a:endParaRPr lang="en-US" altLang="zh-CN" dirty="0"/>
          </a:p>
          <a:p>
            <a:pPr lvl="1" indent="-325120"/>
            <a:r>
              <a:rPr lang="en-US" altLang="zh-CN" dirty="0"/>
              <a:t>int</a:t>
            </a:r>
            <a:r>
              <a:rPr lang="zh-CN" altLang="zh-CN" dirty="0"/>
              <a:t>是</a:t>
            </a:r>
            <a:r>
              <a:rPr lang="zh-CN" altLang="en-US" dirty="0"/>
              <a:t>为</a:t>
            </a:r>
            <a:r>
              <a:rPr lang="zh-CN" altLang="zh-CN" dirty="0"/>
              <a:t>指针变量指定的“</a:t>
            </a:r>
            <a:r>
              <a:rPr lang="zh-CN" altLang="zh-CN" dirty="0">
                <a:solidFill>
                  <a:srgbClr val="FF0000"/>
                </a:solidFill>
              </a:rPr>
              <a:t>基类型</a:t>
            </a:r>
            <a:r>
              <a:rPr lang="zh-CN" altLang="zh-CN" dirty="0"/>
              <a:t>”</a:t>
            </a:r>
            <a:endParaRPr lang="en-US" altLang="zh-CN" dirty="0"/>
          </a:p>
          <a:p>
            <a:pPr lvl="1" indent="-325120"/>
            <a:r>
              <a:rPr lang="zh-CN" altLang="zh-CN" dirty="0"/>
              <a:t>基类型指定指针变量可指向的变量类型</a:t>
            </a:r>
            <a:endParaRPr lang="en-US" altLang="zh-CN" dirty="0"/>
          </a:p>
          <a:p>
            <a:pPr lvl="1" indent="-325120"/>
            <a:r>
              <a:rPr lang="zh-CN" altLang="en-US" dirty="0"/>
              <a:t>如</a:t>
            </a:r>
            <a:r>
              <a:rPr lang="en-US" altLang="zh-CN" dirty="0"/>
              <a:t>pointer_1</a:t>
            </a:r>
            <a:r>
              <a:rPr lang="zh-CN" altLang="zh-CN" dirty="0"/>
              <a:t>可以指向整型变量，但不能指向浮点型变量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4469" y="589360"/>
            <a:ext cx="6322219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怎样引用指针变量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1285875"/>
            <a:ext cx="6215063" cy="3375422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在引用指针变量时，可能有三种情况：</a:t>
            </a:r>
            <a:endParaRPr lang="en-US" altLang="zh-CN" dirty="0"/>
          </a:p>
          <a:p>
            <a:pPr lvl="1" indent="-325120"/>
            <a:r>
              <a:rPr lang="zh-CN" altLang="zh-CN" dirty="0"/>
              <a:t>给指针变量赋值。如：</a:t>
            </a:r>
            <a:r>
              <a:rPr lang="en-US" altLang="zh-CN" dirty="0"/>
              <a:t>p=&amp;a;</a:t>
            </a:r>
            <a:endParaRPr lang="en-US" altLang="zh-CN" dirty="0"/>
          </a:p>
          <a:p>
            <a:pPr lvl="1" indent="-325120"/>
            <a:r>
              <a:rPr lang="zh-CN" altLang="zh-CN" dirty="0"/>
              <a:t>引用指针变量指向的变量</a:t>
            </a:r>
            <a:r>
              <a:rPr lang="zh-CN" altLang="en-US" dirty="0"/>
              <a:t>。</a:t>
            </a:r>
            <a:r>
              <a:rPr lang="zh-CN" altLang="zh-CN" dirty="0"/>
              <a:t>如</a:t>
            </a:r>
            <a:r>
              <a:rPr lang="zh-CN" altLang="en-US" dirty="0"/>
              <a:t>有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   p=&amp;a;  *p=1;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   </a:t>
            </a:r>
            <a:r>
              <a:rPr lang="zh-CN" altLang="en-US" dirty="0"/>
              <a:t>则执行</a:t>
            </a:r>
            <a:r>
              <a:rPr lang="en-US" altLang="zh-CN" dirty="0"/>
              <a:t>printf(“%d”,*p);  </a:t>
            </a:r>
            <a:r>
              <a:rPr lang="zh-CN" altLang="en-US" dirty="0"/>
              <a:t>将输出</a:t>
            </a:r>
            <a:r>
              <a:rPr lang="en-US" altLang="zh-CN" dirty="0"/>
              <a:t>1</a:t>
            </a:r>
            <a:endParaRPr lang="en-US" altLang="zh-CN" dirty="0"/>
          </a:p>
          <a:p>
            <a:pPr lvl="1" indent="-325120"/>
            <a:r>
              <a:rPr lang="zh-CN" altLang="zh-CN" dirty="0"/>
              <a:t>引用指针变量的值。如：</a:t>
            </a:r>
            <a:r>
              <a:rPr lang="en-US" altLang="zh-CN" dirty="0"/>
              <a:t>printf(“%o”,p);</a:t>
            </a:r>
            <a:endParaRPr lang="en-US" altLang="zh-CN" dirty="0"/>
          </a:p>
          <a:p>
            <a:pPr lvl="1" indent="-325120"/>
            <a:r>
              <a:rPr lang="en-US" altLang="zh-CN" dirty="0"/>
              <a:t>printf(“%x”,p);</a:t>
            </a:r>
            <a:endParaRPr lang="en-US" altLang="zh-CN" dirty="0"/>
          </a:p>
        </p:txBody>
      </p:sp>
      <p:sp>
        <p:nvSpPr>
          <p:cNvPr id="4" name="圆角矩形标注 3"/>
          <p:cNvSpPr/>
          <p:nvPr/>
        </p:nvSpPr>
        <p:spPr>
          <a:xfrm>
            <a:off x="4974431" y="1044179"/>
            <a:ext cx="1660922" cy="482203"/>
          </a:xfrm>
          <a:prstGeom prst="wedgeRoundRectCallout">
            <a:avLst>
              <a:gd name="adj1" fmla="val -41181"/>
              <a:gd name="adj2" fmla="val 120310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使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p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指向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2736056" y="1600200"/>
            <a:ext cx="1660922" cy="482204"/>
          </a:xfrm>
          <a:prstGeom prst="wedgeRoundRectCallout">
            <a:avLst>
              <a:gd name="adj1" fmla="val -41181"/>
              <a:gd name="adj2" fmla="val 120310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*p</a:t>
            </a: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相当于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3869531" y="3598069"/>
            <a:ext cx="1714500" cy="857250"/>
          </a:xfrm>
          <a:prstGeom prst="wedgeRoundRectCallout">
            <a:avLst>
              <a:gd name="adj1" fmla="val 46139"/>
              <a:gd name="adj2" fmla="val -7227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以</a:t>
            </a: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八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进制输出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的地址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1594247" y="3924300"/>
            <a:ext cx="1271588" cy="616744"/>
          </a:xfrm>
          <a:prstGeom prst="wedgeRoundRectCallout">
            <a:avLst>
              <a:gd name="adj1" fmla="val 53074"/>
              <a:gd name="adj2" fmla="val -78472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r>
              <a:rPr lang="zh-CN" altLang="zh-CN" sz="1500" b="1" dirty="0">
                <a:solidFill>
                  <a:srgbClr val="0000CC"/>
                </a:solidFill>
                <a:latin typeface="Arial" panose="020B0604020202090204" pitchFamily="34" charset="0"/>
              </a:rPr>
              <a:t>以十六进制输出</a:t>
            </a:r>
            <a:r>
              <a:rPr lang="en-US" altLang="zh-CN" sz="15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1500" b="1" dirty="0">
                <a:solidFill>
                  <a:srgbClr val="0000CC"/>
                </a:solidFill>
                <a:latin typeface="Arial" panose="020B0604020202090204" pitchFamily="34" charset="0"/>
              </a:rPr>
              <a:t>的地址</a:t>
            </a:r>
            <a:endParaRPr lang="zh-CN" altLang="zh-CN" sz="15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18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charRg st="49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5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charRg st="65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94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147">
                                            <p:txEl>
                                              <p:charRg st="94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21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147">
                                            <p:txEl>
                                              <p:charRg st="121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内容占位符 2"/>
          <p:cNvSpPr>
            <a:spLocks noGrp="1"/>
          </p:cNvSpPr>
          <p:nvPr>
            <p:ph idx="1" hasCustomPrompt="1"/>
          </p:nvPr>
        </p:nvSpPr>
        <p:spPr>
          <a:xfrm>
            <a:off x="1357313" y="535781"/>
            <a:ext cx="6305550" cy="4393406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int a=100,b=10;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FF0000"/>
                </a:solidFill>
              </a:rPr>
              <a:t>int *</a:t>
            </a:r>
            <a:r>
              <a:rPr lang="en-US" altLang="zh-CN" sz="2100" dirty="0"/>
              <a:t>pointer_1, </a:t>
            </a:r>
            <a:r>
              <a:rPr lang="en-US" altLang="zh-CN" sz="2100" dirty="0">
                <a:solidFill>
                  <a:srgbClr val="FF0000"/>
                </a:solidFill>
              </a:rPr>
              <a:t>*</a:t>
            </a:r>
            <a:r>
              <a:rPr lang="en-US" altLang="zh-CN" sz="2100" dirty="0"/>
              <a:t>pointer_2;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00B050"/>
                </a:solidFill>
              </a:rPr>
              <a:t>pointer_1</a:t>
            </a:r>
            <a:r>
              <a:rPr lang="en-US" altLang="zh-CN" sz="2100" dirty="0"/>
              <a:t>=&amp;a;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00B050"/>
                </a:solidFill>
              </a:rPr>
              <a:t>pointer_2</a:t>
            </a:r>
            <a:r>
              <a:rPr lang="en-US" altLang="zh-CN" sz="2100" dirty="0"/>
              <a:t>=&amp;b;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printf(“a=%d,b=%d\n”,a,b);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printf(“*pointer_1=%d,*pointer_2=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          %d\n”,</a:t>
            </a:r>
            <a:r>
              <a:rPr lang="en-US" altLang="zh-CN" sz="2100" dirty="0">
                <a:solidFill>
                  <a:srgbClr val="9D138D"/>
                </a:solidFill>
              </a:rPr>
              <a:t>*pointer_1</a:t>
            </a:r>
            <a:r>
              <a:rPr lang="en-US" altLang="zh-CN" sz="2100" dirty="0"/>
              <a:t>,</a:t>
            </a:r>
            <a:r>
              <a:rPr lang="en-US" altLang="zh-CN" sz="2100" dirty="0">
                <a:solidFill>
                  <a:srgbClr val="9D138D"/>
                </a:solidFill>
              </a:rPr>
              <a:t>*pointer_2</a:t>
            </a:r>
            <a:r>
              <a:rPr lang="en-US" altLang="zh-CN" sz="2100" dirty="0"/>
              <a:t>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zh-CN" altLang="zh-CN" sz="2100" dirty="0"/>
          </a:p>
          <a:p>
            <a:pPr>
              <a:buNone/>
            </a:pPr>
            <a:endParaRPr lang="zh-CN" altLang="en-US" sz="2100" dirty="0"/>
          </a:p>
        </p:txBody>
      </p:sp>
      <p:sp>
        <p:nvSpPr>
          <p:cNvPr id="10" name="圆角矩形标注 9"/>
          <p:cNvSpPr/>
          <p:nvPr/>
        </p:nvSpPr>
        <p:spPr>
          <a:xfrm>
            <a:off x="4572000" y="482204"/>
            <a:ext cx="3024188" cy="857250"/>
          </a:xfrm>
          <a:prstGeom prst="wedgeRoundRectCallout">
            <a:avLst>
              <a:gd name="adj1" fmla="val -61259"/>
              <a:gd name="adj2" fmla="val 93056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r>
              <a:rPr lang="zh-CN" altLang="en-US" sz="2100" b="1" dirty="0">
                <a:latin typeface="Arial" panose="020B0604020202090204" pitchFamily="34" charset="0"/>
              </a:rPr>
              <a:t>此处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*</a:t>
            </a:r>
            <a:r>
              <a:rPr lang="zh-CN" altLang="en-US" sz="2100" b="1" dirty="0">
                <a:latin typeface="Arial" panose="020B0604020202090204" pitchFamily="34" charset="0"/>
              </a:rPr>
              <a:t>与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90204" pitchFamily="34" charset="0"/>
              </a:rPr>
              <a:t>类型名</a:t>
            </a:r>
            <a:r>
              <a:rPr lang="zh-CN" altLang="en-US" sz="2100" b="1" dirty="0">
                <a:latin typeface="Arial" panose="020B0604020202090204" pitchFamily="34" charset="0"/>
              </a:rPr>
              <a:t>在一起。此时共同定义指针变量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980010" y="1658541"/>
            <a:ext cx="321469" cy="42862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86125" y="1658541"/>
            <a:ext cx="321469" cy="42862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151585" y="3782060"/>
            <a:ext cx="269081" cy="42862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437460" y="3774520"/>
            <a:ext cx="267890" cy="42862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3339704" y="4192191"/>
            <a:ext cx="4018359" cy="857250"/>
          </a:xfrm>
          <a:prstGeom prst="wedgeRoundRectCallout">
            <a:avLst>
              <a:gd name="adj1" fmla="val 6440"/>
              <a:gd name="adj2" fmla="val -7027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r>
              <a:rPr lang="zh-CN" altLang="en-US" sz="2100" b="1" dirty="0">
                <a:latin typeface="Arial" panose="020B0604020202090204" pitchFamily="34" charset="0"/>
              </a:rPr>
              <a:t>此处</a:t>
            </a:r>
            <a:r>
              <a:rPr lang="en-US" altLang="zh-CN" sz="2100" b="1" dirty="0">
                <a:latin typeface="Arial" panose="020B0604020202090204" pitchFamily="34" charset="0"/>
              </a:rPr>
              <a:t>*</a:t>
            </a:r>
            <a:r>
              <a:rPr lang="zh-CN" altLang="en-US" sz="2100" b="1" dirty="0">
                <a:latin typeface="Arial" panose="020B0604020202090204" pitchFamily="34" charset="0"/>
              </a:rPr>
              <a:t>与指针变量一起使用。此时</a:t>
            </a:r>
            <a:r>
              <a:rPr lang="zh-CN" altLang="zh-CN" sz="2100" b="1" dirty="0">
                <a:latin typeface="Arial" panose="020B0604020202090204" pitchFamily="34" charset="0"/>
              </a:rPr>
              <a:t>代表指针变量所指向的变量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518047" y="910829"/>
            <a:ext cx="6115050" cy="3371850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</a:t>
            </a:r>
            <a:r>
              <a:rPr lang="zh-CN" altLang="zh-CN" dirty="0"/>
              <a:t>例</a:t>
            </a:r>
            <a:r>
              <a:rPr lang="zh-CN" altLang="en-US" dirty="0"/>
              <a:t>：</a:t>
            </a:r>
            <a:r>
              <a:rPr lang="zh-CN" altLang="zh-CN" dirty="0"/>
              <a:t>输入</a:t>
            </a:r>
            <a:r>
              <a:rPr lang="en-US" altLang="zh-CN" dirty="0"/>
              <a:t>a</a:t>
            </a:r>
            <a:r>
              <a:rPr lang="zh-CN" altLang="zh-CN" dirty="0"/>
              <a:t>和</a:t>
            </a:r>
            <a:r>
              <a:rPr lang="en-US" altLang="zh-CN" dirty="0"/>
              <a:t>b</a:t>
            </a:r>
            <a:r>
              <a:rPr lang="zh-CN" altLang="zh-CN" dirty="0"/>
              <a:t>两个整数，按先大后小的顺序输出</a:t>
            </a:r>
            <a:r>
              <a:rPr lang="zh-CN" altLang="en-US" dirty="0"/>
              <a:t>这两个数值。</a:t>
            </a:r>
            <a:endParaRPr lang="en-US" altLang="zh-CN" dirty="0"/>
          </a:p>
          <a:p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用指针方法来处理这个问题。不交换整型变量的值，而是交换两个指针变量的值。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1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31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内容占位符 2"/>
          <p:cNvSpPr>
            <a:spLocks noGrp="1"/>
          </p:cNvSpPr>
          <p:nvPr>
            <p:ph idx="1" hasCustomPrompt="1"/>
          </p:nvPr>
        </p:nvSpPr>
        <p:spPr>
          <a:xfrm>
            <a:off x="148511" y="43656"/>
            <a:ext cx="6115050" cy="4071938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{ int *p1,*p2,*p,a,b;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printf("integer numbers:");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scanf("%d%d" ,&amp;a,&amp;b); 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p1=&amp;a;    p2=&amp;b;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if(a&lt;b)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{  p=p1; p1=p2; p2=p; }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printf("a=%d,b=%d\n" ,a,b);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printf("%d,%d\n" ,*p1,*p2);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  <p:sp>
        <p:nvSpPr>
          <p:cNvPr id="5" name="矩形 4"/>
          <p:cNvSpPr/>
          <p:nvPr/>
        </p:nvSpPr>
        <p:spPr>
          <a:xfrm>
            <a:off x="7143750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39566" y="1338898"/>
            <a:ext cx="3053954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8" name="矩形 7"/>
          <p:cNvSpPr/>
          <p:nvPr/>
        </p:nvSpPr>
        <p:spPr>
          <a:xfrm>
            <a:off x="7143750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72188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72188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00625" y="964406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81863" y="100013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6385" y="18121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b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3305" y="43815"/>
            <a:ext cx="694690" cy="4387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p1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25766" y="181213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p2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00625" y="53578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39805" y="2200513"/>
            <a:ext cx="369689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0" name="TextBox 19"/>
          <p:cNvSpPr txBox="1"/>
          <p:nvPr/>
        </p:nvSpPr>
        <p:spPr>
          <a:xfrm>
            <a:off x="7250906" y="53578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50906" y="13930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339805" y="2625487"/>
            <a:ext cx="257175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6060281" y="5167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28" name="直接箭头连接符 27"/>
          <p:cNvCxnSpPr>
            <a:endCxn id="5" idx="1"/>
          </p:cNvCxnSpPr>
          <p:nvPr/>
        </p:nvCxnSpPr>
        <p:spPr>
          <a:xfrm>
            <a:off x="6607969" y="750094"/>
            <a:ext cx="535781" cy="119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6072188" y="13930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31" name="直接箭头连接符 30"/>
          <p:cNvCxnSpPr>
            <a:endCxn id="5" idx="1"/>
          </p:cNvCxnSpPr>
          <p:nvPr/>
        </p:nvCxnSpPr>
        <p:spPr>
          <a:xfrm>
            <a:off x="6607969" y="1607344"/>
            <a:ext cx="535781" cy="119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32" name="直接连接符 31"/>
          <p:cNvCxnSpPr/>
          <p:nvPr/>
        </p:nvCxnSpPr>
        <p:spPr>
          <a:xfrm>
            <a:off x="339805" y="3051096"/>
            <a:ext cx="1178719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1839278" y="2634774"/>
            <a:ext cx="91082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sz="2400" b="1" dirty="0">
                <a:solidFill>
                  <a:srgbClr val="0000CC"/>
                </a:solidFill>
                <a:latin typeface="Arial" panose="020B0604020202090204" pitchFamily="34" charset="0"/>
              </a:rPr>
              <a:t>成立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339566" y="3529410"/>
            <a:ext cx="3107531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23859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6406" y="2303860"/>
            <a:ext cx="696516" cy="36909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/>
      <p:bldP spid="13" grpId="0"/>
      <p:bldP spid="14" grpId="0"/>
      <p:bldP spid="15" grpId="0"/>
      <p:bldP spid="16" grpId="0"/>
      <p:bldP spid="20" grpId="0"/>
      <p:bldP spid="21" grpId="0"/>
      <p:bldP spid="24" grpId="0"/>
      <p:bldP spid="30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内容占位符 2"/>
          <p:cNvSpPr>
            <a:spLocks noGrp="1"/>
          </p:cNvSpPr>
          <p:nvPr>
            <p:ph idx="1" hasCustomPrompt="1"/>
          </p:nvPr>
        </p:nvSpPr>
        <p:spPr>
          <a:xfrm>
            <a:off x="215821" y="43656"/>
            <a:ext cx="6115050" cy="4071938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{ int *p1,*p2,*p,a,b;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printf("integer numbers:");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scanf("%d%d" ,&amp;a,&amp;b); 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p1=&amp;a;    p2=&amp;b;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if(a&lt;b)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{  p=p1; p1=p2; p2=p; }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printf("a=%d,b=%d\n" ,a,b);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printf("%d,%d\n" ,*p1,*p2);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  <p:sp>
        <p:nvSpPr>
          <p:cNvPr id="15362" name="矩形 4"/>
          <p:cNvSpPr/>
          <p:nvPr/>
        </p:nvSpPr>
        <p:spPr>
          <a:xfrm>
            <a:off x="7143750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363" name="矩形 7"/>
          <p:cNvSpPr/>
          <p:nvPr/>
        </p:nvSpPr>
        <p:spPr>
          <a:xfrm>
            <a:off x="7143750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364" name="矩形 8"/>
          <p:cNvSpPr/>
          <p:nvPr/>
        </p:nvSpPr>
        <p:spPr>
          <a:xfrm>
            <a:off x="6072188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365" name="矩形 9"/>
          <p:cNvSpPr/>
          <p:nvPr/>
        </p:nvSpPr>
        <p:spPr>
          <a:xfrm>
            <a:off x="6072188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366" name="矩形 10"/>
          <p:cNvSpPr/>
          <p:nvPr/>
        </p:nvSpPr>
        <p:spPr>
          <a:xfrm>
            <a:off x="5000625" y="964406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367" name="TextBox 11"/>
          <p:cNvSpPr txBox="1"/>
          <p:nvPr/>
        </p:nvSpPr>
        <p:spPr>
          <a:xfrm>
            <a:off x="7281863" y="100013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5368" name="TextBox 12"/>
          <p:cNvSpPr txBox="1"/>
          <p:nvPr/>
        </p:nvSpPr>
        <p:spPr>
          <a:xfrm>
            <a:off x="7266385" y="18121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b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5369" name="TextBox 13"/>
          <p:cNvSpPr txBox="1"/>
          <p:nvPr/>
        </p:nvSpPr>
        <p:spPr>
          <a:xfrm>
            <a:off x="6123385" y="44053"/>
            <a:ext cx="535781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p1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5370" name="TextBox 14"/>
          <p:cNvSpPr txBox="1"/>
          <p:nvPr/>
        </p:nvSpPr>
        <p:spPr>
          <a:xfrm>
            <a:off x="6125766" y="181213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p2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5371" name="TextBox 15"/>
          <p:cNvSpPr txBox="1"/>
          <p:nvPr/>
        </p:nvSpPr>
        <p:spPr>
          <a:xfrm>
            <a:off x="5000625" y="53578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5372" name="TextBox 19"/>
          <p:cNvSpPr txBox="1"/>
          <p:nvPr/>
        </p:nvSpPr>
        <p:spPr>
          <a:xfrm>
            <a:off x="7250906" y="53578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5373" name="TextBox 20"/>
          <p:cNvSpPr txBox="1"/>
          <p:nvPr/>
        </p:nvSpPr>
        <p:spPr>
          <a:xfrm>
            <a:off x="7250906" y="13930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5374" name="TextBox 23"/>
          <p:cNvSpPr txBox="1"/>
          <p:nvPr/>
        </p:nvSpPr>
        <p:spPr>
          <a:xfrm>
            <a:off x="6060281" y="5167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28" name="直接箭头连接符 27"/>
          <p:cNvCxnSpPr>
            <a:endCxn id="15363" idx="1"/>
          </p:cNvCxnSpPr>
          <p:nvPr/>
        </p:nvCxnSpPr>
        <p:spPr>
          <a:xfrm rot="-5400000" flipH="1">
            <a:off x="6447235" y="910829"/>
            <a:ext cx="857250" cy="5357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5376" name="TextBox 29"/>
          <p:cNvSpPr txBox="1"/>
          <p:nvPr/>
        </p:nvSpPr>
        <p:spPr>
          <a:xfrm>
            <a:off x="6072188" y="13930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31" name="直接箭头连接符 30"/>
          <p:cNvCxnSpPr>
            <a:endCxn id="15362" idx="1"/>
          </p:cNvCxnSpPr>
          <p:nvPr/>
        </p:nvCxnSpPr>
        <p:spPr>
          <a:xfrm rot="5400000" flipH="1" flipV="1">
            <a:off x="6447235" y="910829"/>
            <a:ext cx="857250" cy="5357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7" name="直接连接符 26"/>
          <p:cNvCxnSpPr/>
          <p:nvPr/>
        </p:nvCxnSpPr>
        <p:spPr>
          <a:xfrm>
            <a:off x="432991" y="3506788"/>
            <a:ext cx="1017984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>
            <a:stCxn id="15366" idx="3"/>
            <a:endCxn id="15362" idx="1"/>
          </p:cNvCxnSpPr>
          <p:nvPr/>
        </p:nvCxnSpPr>
        <p:spPr>
          <a:xfrm>
            <a:off x="5536406" y="1232297"/>
            <a:ext cx="1821656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" name="直接箭头连接符 40"/>
          <p:cNvCxnSpPr>
            <a:stCxn id="15366" idx="3"/>
            <a:endCxn id="15362" idx="1"/>
          </p:cNvCxnSpPr>
          <p:nvPr/>
        </p:nvCxnSpPr>
        <p:spPr>
          <a:xfrm rot="5400000" flipH="1" flipV="1">
            <a:off x="7250906" y="1123950"/>
            <a:ext cx="214313" cy="23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42" name="直接连接符 41"/>
          <p:cNvCxnSpPr/>
          <p:nvPr/>
        </p:nvCxnSpPr>
        <p:spPr>
          <a:xfrm>
            <a:off x="1592263" y="3507185"/>
            <a:ext cx="101798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>
          <a:xfrm>
            <a:off x="2823845" y="3507105"/>
            <a:ext cx="101798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5383" name="直接箭头连接符 45"/>
          <p:cNvCxnSpPr>
            <a:stCxn id="15366" idx="3"/>
            <a:endCxn id="15362" idx="1"/>
          </p:cNvCxnSpPr>
          <p:nvPr/>
        </p:nvCxnSpPr>
        <p:spPr>
          <a:xfrm>
            <a:off x="6607969" y="750094"/>
            <a:ext cx="535781" cy="119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5384" name="直接箭头连接符 46"/>
          <p:cNvCxnSpPr>
            <a:stCxn id="15366" idx="3"/>
            <a:endCxn id="15362" idx="1"/>
          </p:cNvCxnSpPr>
          <p:nvPr/>
        </p:nvCxnSpPr>
        <p:spPr>
          <a:xfrm>
            <a:off x="6607969" y="1607344"/>
            <a:ext cx="535781" cy="119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6106716" y="570310"/>
            <a:ext cx="482203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grpSp>
        <p:nvGrpSpPr>
          <p:cNvPr id="2" name="组合 54"/>
          <p:cNvGrpSpPr/>
          <p:nvPr/>
        </p:nvGrpSpPr>
        <p:grpSpPr>
          <a:xfrm rot="761472">
            <a:off x="6741319" y="631031"/>
            <a:ext cx="267891" cy="267891"/>
            <a:chOff x="7286644" y="3714752"/>
            <a:chExt cx="357190" cy="357190"/>
          </a:xfrm>
        </p:grpSpPr>
        <p:cxnSp>
          <p:nvCxnSpPr>
            <p:cNvPr id="15387" name="直接连接符 49"/>
            <p:cNvCxnSpPr>
              <a:stCxn id="15366" idx="3"/>
              <a:endCxn id="15362" idx="1"/>
            </p:cNvCxnSpPr>
            <p:nvPr/>
          </p:nvCxnSpPr>
          <p:spPr>
            <a:xfrm>
              <a:off x="7286644" y="3786190"/>
              <a:ext cx="357190" cy="214314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5388" name="直接连接符 52"/>
            <p:cNvCxnSpPr>
              <a:stCxn id="15366" idx="3"/>
              <a:endCxn id="15362" idx="1"/>
            </p:cNvCxnSpPr>
            <p:nvPr/>
          </p:nvCxnSpPr>
          <p:spPr>
            <a:xfrm rot="5400000">
              <a:off x="7286644" y="3786190"/>
              <a:ext cx="357190" cy="214314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56" name="TextBox 55"/>
          <p:cNvSpPr txBox="1"/>
          <p:nvPr/>
        </p:nvSpPr>
        <p:spPr>
          <a:xfrm>
            <a:off x="6106716" y="1427560"/>
            <a:ext cx="482203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grpSp>
        <p:nvGrpSpPr>
          <p:cNvPr id="3" name="组合 56"/>
          <p:cNvGrpSpPr/>
          <p:nvPr/>
        </p:nvGrpSpPr>
        <p:grpSpPr>
          <a:xfrm rot="761472">
            <a:off x="6741319" y="1472804"/>
            <a:ext cx="267891" cy="267890"/>
            <a:chOff x="7286644" y="3714752"/>
            <a:chExt cx="357190" cy="357190"/>
          </a:xfrm>
        </p:grpSpPr>
        <p:cxnSp>
          <p:nvCxnSpPr>
            <p:cNvPr id="15391" name="直接连接符 57"/>
            <p:cNvCxnSpPr>
              <a:stCxn id="15366" idx="3"/>
              <a:endCxn id="15362" idx="1"/>
            </p:cNvCxnSpPr>
            <p:nvPr/>
          </p:nvCxnSpPr>
          <p:spPr>
            <a:xfrm>
              <a:off x="7286644" y="3786190"/>
              <a:ext cx="357190" cy="214314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5392" name="直接连接符 58"/>
            <p:cNvCxnSpPr>
              <a:stCxn id="15366" idx="3"/>
              <a:endCxn id="15362" idx="1"/>
            </p:cNvCxnSpPr>
            <p:nvPr/>
          </p:nvCxnSpPr>
          <p:spPr>
            <a:xfrm rot="5400000">
              <a:off x="7286644" y="3786190"/>
              <a:ext cx="357190" cy="214314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5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内容占位符 2"/>
          <p:cNvSpPr>
            <a:spLocks noGrp="1"/>
          </p:cNvSpPr>
          <p:nvPr>
            <p:ph idx="1" hasCustomPrompt="1"/>
          </p:nvPr>
        </p:nvSpPr>
        <p:spPr>
          <a:xfrm>
            <a:off x="136446" y="43656"/>
            <a:ext cx="6115050" cy="4071938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{ int *p1,*p2,*p,a,b;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printf("integer numbers:");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scanf("%d%d" ,&amp;a,&amp;b); 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p1=&amp;a;    p2=&amp;b;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if(a&lt;b)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{  p=p1; p1=p2; p2=p; }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printf("a=%d,b=%d\n" ,a,b);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printf("%d,%d\n" ,*p1,*p2);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  <p:sp>
        <p:nvSpPr>
          <p:cNvPr id="16386" name="矩形 4"/>
          <p:cNvSpPr/>
          <p:nvPr/>
        </p:nvSpPr>
        <p:spPr>
          <a:xfrm>
            <a:off x="7143750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6387" name="矩形 7"/>
          <p:cNvSpPr/>
          <p:nvPr/>
        </p:nvSpPr>
        <p:spPr>
          <a:xfrm>
            <a:off x="7143750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6388" name="矩形 8"/>
          <p:cNvSpPr/>
          <p:nvPr/>
        </p:nvSpPr>
        <p:spPr>
          <a:xfrm>
            <a:off x="6072188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6389" name="矩形 9"/>
          <p:cNvSpPr/>
          <p:nvPr/>
        </p:nvSpPr>
        <p:spPr>
          <a:xfrm>
            <a:off x="6072188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6390" name="矩形 10"/>
          <p:cNvSpPr/>
          <p:nvPr/>
        </p:nvSpPr>
        <p:spPr>
          <a:xfrm>
            <a:off x="5000625" y="964406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6391" name="TextBox 11"/>
          <p:cNvSpPr txBox="1"/>
          <p:nvPr/>
        </p:nvSpPr>
        <p:spPr>
          <a:xfrm>
            <a:off x="7281863" y="100013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392" name="TextBox 12"/>
          <p:cNvSpPr txBox="1"/>
          <p:nvPr/>
        </p:nvSpPr>
        <p:spPr>
          <a:xfrm>
            <a:off x="7266385" y="18121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b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393" name="TextBox 13"/>
          <p:cNvSpPr txBox="1"/>
          <p:nvPr/>
        </p:nvSpPr>
        <p:spPr>
          <a:xfrm>
            <a:off x="6123305" y="43815"/>
            <a:ext cx="770255" cy="466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p1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394" name="TextBox 14"/>
          <p:cNvSpPr txBox="1"/>
          <p:nvPr/>
        </p:nvSpPr>
        <p:spPr>
          <a:xfrm>
            <a:off x="6125766" y="181213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p2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395" name="TextBox 15"/>
          <p:cNvSpPr txBox="1"/>
          <p:nvPr/>
        </p:nvSpPr>
        <p:spPr>
          <a:xfrm>
            <a:off x="5000625" y="53578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396" name="TextBox 19"/>
          <p:cNvSpPr txBox="1"/>
          <p:nvPr/>
        </p:nvSpPr>
        <p:spPr>
          <a:xfrm>
            <a:off x="7250906" y="53578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6397" name="TextBox 20"/>
          <p:cNvSpPr txBox="1"/>
          <p:nvPr/>
        </p:nvSpPr>
        <p:spPr>
          <a:xfrm>
            <a:off x="7250906" y="13930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6398" name="TextBox 23"/>
          <p:cNvSpPr txBox="1"/>
          <p:nvPr/>
        </p:nvSpPr>
        <p:spPr>
          <a:xfrm>
            <a:off x="6060281" y="5167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16399" name="直接箭头连接符 27"/>
          <p:cNvCxnSpPr>
            <a:endCxn id="16387" idx="1"/>
          </p:cNvCxnSpPr>
          <p:nvPr/>
        </p:nvCxnSpPr>
        <p:spPr>
          <a:xfrm rot="-5400000" flipH="1">
            <a:off x="6447235" y="910829"/>
            <a:ext cx="857250" cy="5357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6400" name="TextBox 29"/>
          <p:cNvSpPr txBox="1"/>
          <p:nvPr/>
        </p:nvSpPr>
        <p:spPr>
          <a:xfrm>
            <a:off x="6072188" y="13930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16401" name="直接箭头连接符 30"/>
          <p:cNvCxnSpPr>
            <a:endCxn id="16386" idx="1"/>
          </p:cNvCxnSpPr>
          <p:nvPr/>
        </p:nvCxnSpPr>
        <p:spPr>
          <a:xfrm rot="5400000" flipH="1" flipV="1">
            <a:off x="6447235" y="910829"/>
            <a:ext cx="857250" cy="5357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6402" name="直接连接符 26"/>
          <p:cNvCxnSpPr/>
          <p:nvPr/>
        </p:nvCxnSpPr>
        <p:spPr>
          <a:xfrm>
            <a:off x="325835" y="3509725"/>
            <a:ext cx="1017984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6403" name="直接连接符 35"/>
          <p:cNvCxnSpPr>
            <a:stCxn id="16390" idx="3"/>
            <a:endCxn id="16386" idx="1"/>
          </p:cNvCxnSpPr>
          <p:nvPr/>
        </p:nvCxnSpPr>
        <p:spPr>
          <a:xfrm>
            <a:off x="5536406" y="1232297"/>
            <a:ext cx="1821656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6404" name="直接箭头连接符 40"/>
          <p:cNvCxnSpPr>
            <a:stCxn id="16390" idx="3"/>
            <a:endCxn id="16386" idx="1"/>
          </p:cNvCxnSpPr>
          <p:nvPr/>
        </p:nvCxnSpPr>
        <p:spPr>
          <a:xfrm rot="5400000" flipH="1" flipV="1">
            <a:off x="7250906" y="1123950"/>
            <a:ext cx="214313" cy="23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6405" name="直接连接符 41"/>
          <p:cNvCxnSpPr/>
          <p:nvPr/>
        </p:nvCxnSpPr>
        <p:spPr>
          <a:xfrm>
            <a:off x="1441530" y="3509883"/>
            <a:ext cx="1017984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6406" name="直接连接符 43"/>
          <p:cNvCxnSpPr/>
          <p:nvPr/>
        </p:nvCxnSpPr>
        <p:spPr>
          <a:xfrm>
            <a:off x="2556986" y="3509725"/>
            <a:ext cx="101798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6407" name="TextBox 47"/>
          <p:cNvSpPr txBox="1"/>
          <p:nvPr/>
        </p:nvSpPr>
        <p:spPr>
          <a:xfrm>
            <a:off x="6106716" y="570310"/>
            <a:ext cx="482203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16408" name="TextBox 55"/>
          <p:cNvSpPr txBox="1"/>
          <p:nvPr/>
        </p:nvSpPr>
        <p:spPr>
          <a:xfrm>
            <a:off x="6106716" y="1427560"/>
            <a:ext cx="482203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25835" y="3845163"/>
            <a:ext cx="4446984" cy="53578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" name="直接连接符 36"/>
          <p:cNvCxnSpPr/>
          <p:nvPr/>
        </p:nvCxnSpPr>
        <p:spPr>
          <a:xfrm flipV="1">
            <a:off x="325835" y="4277122"/>
            <a:ext cx="4446984" cy="53578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36615" y="3270250"/>
            <a:ext cx="2849245" cy="10604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内容占位符 2"/>
          <p:cNvSpPr>
            <a:spLocks noGrp="1"/>
          </p:cNvSpPr>
          <p:nvPr>
            <p:ph idx="1" hasCustomPrompt="1"/>
          </p:nvPr>
        </p:nvSpPr>
        <p:spPr>
          <a:xfrm>
            <a:off x="118666" y="43656"/>
            <a:ext cx="6115050" cy="4071938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{ int *p1,*p2,*p,a,b;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printf("integer numbers:");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scanf("%d%d" ,&amp;a,&amp;b); 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p1=&amp;a;    p2=&amp;b;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if(a&lt;b)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{  p=p1; p1=p2; p2=p; }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printf("a=%d,b=%d\n" ,a,b);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printf("%d,%d\n" ,*p1,*p2); 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  <p:sp>
        <p:nvSpPr>
          <p:cNvPr id="17410" name="矩形 4"/>
          <p:cNvSpPr/>
          <p:nvPr/>
        </p:nvSpPr>
        <p:spPr>
          <a:xfrm>
            <a:off x="7143750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7411" name="矩形 7"/>
          <p:cNvSpPr/>
          <p:nvPr/>
        </p:nvSpPr>
        <p:spPr>
          <a:xfrm>
            <a:off x="7143750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7412" name="矩形 8"/>
          <p:cNvSpPr/>
          <p:nvPr/>
        </p:nvSpPr>
        <p:spPr>
          <a:xfrm>
            <a:off x="6072188" y="48220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7413" name="矩形 9"/>
          <p:cNvSpPr/>
          <p:nvPr/>
        </p:nvSpPr>
        <p:spPr>
          <a:xfrm>
            <a:off x="6072188" y="1339454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7414" name="矩形 10"/>
          <p:cNvSpPr/>
          <p:nvPr/>
        </p:nvSpPr>
        <p:spPr>
          <a:xfrm>
            <a:off x="5000625" y="964406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7415" name="TextBox 11"/>
          <p:cNvSpPr txBox="1"/>
          <p:nvPr/>
        </p:nvSpPr>
        <p:spPr>
          <a:xfrm>
            <a:off x="7281863" y="100013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7416" name="TextBox 12"/>
          <p:cNvSpPr txBox="1"/>
          <p:nvPr/>
        </p:nvSpPr>
        <p:spPr>
          <a:xfrm>
            <a:off x="7266385" y="18121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b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7417" name="TextBox 13"/>
          <p:cNvSpPr txBox="1"/>
          <p:nvPr/>
        </p:nvSpPr>
        <p:spPr>
          <a:xfrm>
            <a:off x="6123305" y="43815"/>
            <a:ext cx="704215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p1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7418" name="TextBox 14"/>
          <p:cNvSpPr txBox="1"/>
          <p:nvPr/>
        </p:nvSpPr>
        <p:spPr>
          <a:xfrm>
            <a:off x="6125766" y="181213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p2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7419" name="TextBox 15"/>
          <p:cNvSpPr txBox="1"/>
          <p:nvPr/>
        </p:nvSpPr>
        <p:spPr>
          <a:xfrm>
            <a:off x="5000625" y="535781"/>
            <a:ext cx="535781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p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7420" name="TextBox 19"/>
          <p:cNvSpPr txBox="1"/>
          <p:nvPr/>
        </p:nvSpPr>
        <p:spPr>
          <a:xfrm>
            <a:off x="7250906" y="53578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7421" name="TextBox 20"/>
          <p:cNvSpPr txBox="1"/>
          <p:nvPr/>
        </p:nvSpPr>
        <p:spPr>
          <a:xfrm>
            <a:off x="7250906" y="1393031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7422" name="TextBox 23"/>
          <p:cNvSpPr txBox="1"/>
          <p:nvPr/>
        </p:nvSpPr>
        <p:spPr>
          <a:xfrm>
            <a:off x="6060281" y="5167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17423" name="直接箭头连接符 27"/>
          <p:cNvCxnSpPr>
            <a:endCxn id="17411" idx="1"/>
          </p:cNvCxnSpPr>
          <p:nvPr/>
        </p:nvCxnSpPr>
        <p:spPr>
          <a:xfrm rot="-5400000" flipH="1">
            <a:off x="6447235" y="910829"/>
            <a:ext cx="857250" cy="5357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7424" name="TextBox 29"/>
          <p:cNvSpPr txBox="1"/>
          <p:nvPr/>
        </p:nvSpPr>
        <p:spPr>
          <a:xfrm>
            <a:off x="6072188" y="1393031"/>
            <a:ext cx="58936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17425" name="直接箭头连接符 30"/>
          <p:cNvCxnSpPr>
            <a:endCxn id="17410" idx="1"/>
          </p:cNvCxnSpPr>
          <p:nvPr/>
        </p:nvCxnSpPr>
        <p:spPr>
          <a:xfrm rot="5400000" flipH="1" flipV="1">
            <a:off x="6447235" y="910829"/>
            <a:ext cx="857250" cy="5357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7" name="直接连接符 26"/>
          <p:cNvCxnSpPr/>
          <p:nvPr/>
        </p:nvCxnSpPr>
        <p:spPr>
          <a:xfrm>
            <a:off x="342027" y="3500835"/>
            <a:ext cx="3321844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7427" name="直接连接符 35"/>
          <p:cNvCxnSpPr>
            <a:stCxn id="17414" idx="3"/>
            <a:endCxn id="17410" idx="1"/>
          </p:cNvCxnSpPr>
          <p:nvPr/>
        </p:nvCxnSpPr>
        <p:spPr>
          <a:xfrm>
            <a:off x="5536406" y="1232297"/>
            <a:ext cx="1821656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7428" name="直接箭头连接符 40"/>
          <p:cNvCxnSpPr>
            <a:stCxn id="17414" idx="3"/>
            <a:endCxn id="17410" idx="1"/>
          </p:cNvCxnSpPr>
          <p:nvPr/>
        </p:nvCxnSpPr>
        <p:spPr>
          <a:xfrm rot="5400000" flipH="1" flipV="1">
            <a:off x="7250906" y="1123950"/>
            <a:ext cx="214313" cy="23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7429" name="TextBox 47"/>
          <p:cNvSpPr txBox="1"/>
          <p:nvPr/>
        </p:nvSpPr>
        <p:spPr>
          <a:xfrm>
            <a:off x="6106716" y="570310"/>
            <a:ext cx="482203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17430" name="TextBox 55"/>
          <p:cNvSpPr txBox="1"/>
          <p:nvPr/>
        </p:nvSpPr>
        <p:spPr>
          <a:xfrm>
            <a:off x="6106716" y="1427560"/>
            <a:ext cx="482203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50531" y="2839641"/>
            <a:ext cx="3375422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可否改为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p1=&amp;b; p2=&amp;a;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90204" pitchFamily="34" charset="0"/>
              </a:rPr>
              <a:t>？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指针变量作为函数参数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4469" y="589360"/>
            <a:ext cx="6322219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指针变量作为函数参数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1285875"/>
            <a:ext cx="6215063" cy="3429000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950" dirty="0"/>
              <a:t>   </a:t>
            </a:r>
            <a:r>
              <a:rPr lang="zh-CN" altLang="zh-CN" sz="1950" dirty="0"/>
              <a:t>例</a:t>
            </a:r>
            <a:r>
              <a:rPr lang="zh-CN" altLang="en-US" sz="1950" dirty="0"/>
              <a:t>：</a:t>
            </a:r>
            <a:r>
              <a:rPr lang="zh-CN" altLang="zh-CN" sz="1950" dirty="0"/>
              <a:t>对输入的两个整数按大小顺序输出。现用函数处理，而且用指针类型的数据作函数参数。</a:t>
            </a:r>
            <a:endParaRPr lang="en-US" altLang="zh-CN" sz="1950" dirty="0"/>
          </a:p>
          <a:p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定义一个函数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swap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，将指向两个整型变量的指针变量作为实参传递给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swap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函数的形参指针变量，在函数中通过指针实现交换两个变量的值。</a:t>
            </a:r>
            <a:endParaRPr lang="zh-CN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5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45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内容占位符 2"/>
          <p:cNvSpPr>
            <a:spLocks noGrp="1"/>
          </p:cNvSpPr>
          <p:nvPr>
            <p:ph idx="1" hasCustomPrompt="1"/>
          </p:nvPr>
        </p:nvSpPr>
        <p:spPr>
          <a:xfrm>
            <a:off x="653653" y="145415"/>
            <a:ext cx="6115050" cy="4607719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{void swap(int *p1,int *p2);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int a,b;  int*pointer_1,*pointer_2;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printf("please enter a and b:");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scanf(“%d,%d”,&amp;a,&amp;b);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pointer_1=&amp;a;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pointer_2=&amp;b;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if (a&lt;b)  swap(pointer_1,pointer_2);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printf(“max=%d,min=%d\n”,a,b);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}    </a:t>
            </a:r>
            <a:endParaRPr lang="zh-CN" altLang="zh-CN" sz="2100" dirty="0"/>
          </a:p>
          <a:p>
            <a:pPr>
              <a:buNone/>
            </a:pPr>
            <a:endParaRPr lang="zh-CN" altLang="en-US" sz="2100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1360" y="2357438"/>
            <a:ext cx="696515" cy="3690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5056585" y="3009900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04485" y="3000375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85022" y="3009900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32922" y="3000375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94697" y="2628900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58063" y="2562225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b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7594" y="2625328"/>
            <a:ext cx="1393031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pointer_1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3741" y="3063478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11641" y="3053953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3116" y="3045619"/>
            <a:ext cx="58935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32922" y="3053953"/>
            <a:ext cx="58935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6768704" y="3268266"/>
            <a:ext cx="535781" cy="1190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8" name="直接箭头连接符 17"/>
          <p:cNvCxnSpPr/>
          <p:nvPr/>
        </p:nvCxnSpPr>
        <p:spPr>
          <a:xfrm>
            <a:off x="4518422" y="3268266"/>
            <a:ext cx="535781" cy="1190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5804297" y="2625328"/>
            <a:ext cx="1393031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pointer_2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/>
      <p:bldP spid="10" grpId="0"/>
      <p:bldP spid="11" grpId="0"/>
      <p:bldP spid="13" grpId="0"/>
      <p:bldP spid="14" grpId="0"/>
      <p:bldP spid="15" grpId="0"/>
      <p:bldP spid="16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>
            <a:spLocks noGrp="1"/>
          </p:cNvSpPr>
          <p:nvPr>
            <p:ph idx="1" hasCustomPrompt="1"/>
          </p:nvPr>
        </p:nvSpPr>
        <p:spPr>
          <a:xfrm>
            <a:off x="1547813" y="750094"/>
            <a:ext cx="5328047" cy="310753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void swap(int *p1,int *p2)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int temp;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temp=*p1;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*p1=*p2;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*p2=temp;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zh-CN" altLang="zh-CN" sz="2100" dirty="0"/>
          </a:p>
          <a:p>
            <a:pPr>
              <a:buNone/>
            </a:pPr>
            <a:endParaRPr lang="zh-CN" altLang="en-US" sz="2100" dirty="0"/>
          </a:p>
        </p:txBody>
      </p:sp>
      <p:sp>
        <p:nvSpPr>
          <p:cNvPr id="21506" name="矩形 17"/>
          <p:cNvSpPr/>
          <p:nvPr/>
        </p:nvSpPr>
        <p:spPr>
          <a:xfrm>
            <a:off x="5056585" y="3009900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1507" name="矩形 18"/>
          <p:cNvSpPr/>
          <p:nvPr/>
        </p:nvSpPr>
        <p:spPr>
          <a:xfrm>
            <a:off x="7304485" y="3009900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1508" name="矩形 19"/>
          <p:cNvSpPr/>
          <p:nvPr/>
        </p:nvSpPr>
        <p:spPr>
          <a:xfrm>
            <a:off x="3985022" y="3009900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1509" name="矩形 20"/>
          <p:cNvSpPr/>
          <p:nvPr/>
        </p:nvSpPr>
        <p:spPr>
          <a:xfrm>
            <a:off x="6232922" y="3000375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1510" name="TextBox 21"/>
          <p:cNvSpPr txBox="1"/>
          <p:nvPr/>
        </p:nvSpPr>
        <p:spPr>
          <a:xfrm>
            <a:off x="5194697" y="2628900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1511" name="TextBox 22"/>
          <p:cNvSpPr txBox="1"/>
          <p:nvPr/>
        </p:nvSpPr>
        <p:spPr>
          <a:xfrm>
            <a:off x="7358063" y="2562225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</a:rPr>
              <a:t>b</a:t>
            </a:r>
            <a:endParaRPr lang="zh-CN" altLang="en-US" sz="24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1512" name="TextBox 23"/>
          <p:cNvSpPr txBox="1"/>
          <p:nvPr/>
        </p:nvSpPr>
        <p:spPr>
          <a:xfrm>
            <a:off x="3607594" y="2625328"/>
            <a:ext cx="1393031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pointer_1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1513" name="TextBox 24"/>
          <p:cNvSpPr txBox="1"/>
          <p:nvPr/>
        </p:nvSpPr>
        <p:spPr>
          <a:xfrm>
            <a:off x="5163741" y="3063478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1514" name="TextBox 25"/>
          <p:cNvSpPr txBox="1"/>
          <p:nvPr/>
        </p:nvSpPr>
        <p:spPr>
          <a:xfrm>
            <a:off x="7411641" y="3053953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1515" name="TextBox 26"/>
          <p:cNvSpPr txBox="1"/>
          <p:nvPr/>
        </p:nvSpPr>
        <p:spPr>
          <a:xfrm>
            <a:off x="3973116" y="3045619"/>
            <a:ext cx="58935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1516" name="TextBox 27"/>
          <p:cNvSpPr txBox="1"/>
          <p:nvPr/>
        </p:nvSpPr>
        <p:spPr>
          <a:xfrm>
            <a:off x="6232922" y="3053953"/>
            <a:ext cx="58935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21517" name="直接箭头连接符 28"/>
          <p:cNvCxnSpPr/>
          <p:nvPr/>
        </p:nvCxnSpPr>
        <p:spPr>
          <a:xfrm>
            <a:off x="6768704" y="3268266"/>
            <a:ext cx="535781" cy="1190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1518" name="直接箭头连接符 29"/>
          <p:cNvCxnSpPr/>
          <p:nvPr/>
        </p:nvCxnSpPr>
        <p:spPr>
          <a:xfrm>
            <a:off x="4518422" y="3268266"/>
            <a:ext cx="535781" cy="1190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1519" name="TextBox 30"/>
          <p:cNvSpPr txBox="1"/>
          <p:nvPr/>
        </p:nvSpPr>
        <p:spPr>
          <a:xfrm>
            <a:off x="5804297" y="2625328"/>
            <a:ext cx="1393031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pointer_2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054204" y="4018360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0" y="4071938"/>
            <a:ext cx="482204" cy="737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p1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42297" y="4052888"/>
            <a:ext cx="58935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&amp;a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35" name="直接箭头连接符 34"/>
          <p:cNvCxnSpPr>
            <a:stCxn id="32" idx="0"/>
            <a:endCxn id="21506" idx="2"/>
          </p:cNvCxnSpPr>
          <p:nvPr/>
        </p:nvCxnSpPr>
        <p:spPr>
          <a:xfrm rot="5400000" flipH="1" flipV="1">
            <a:off x="5085160" y="3780235"/>
            <a:ext cx="473869" cy="23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38" name="矩形 37"/>
          <p:cNvSpPr/>
          <p:nvPr/>
        </p:nvSpPr>
        <p:spPr>
          <a:xfrm>
            <a:off x="7316391" y="3983831"/>
            <a:ext cx="535781" cy="535781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34188" y="4037410"/>
            <a:ext cx="482204" cy="737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p2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304485" y="4018360"/>
            <a:ext cx="58935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&amp;b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41" name="直接箭头连接符 40"/>
          <p:cNvCxnSpPr>
            <a:stCxn id="32" idx="0"/>
            <a:endCxn id="21506" idx="2"/>
          </p:cNvCxnSpPr>
          <p:nvPr/>
        </p:nvCxnSpPr>
        <p:spPr>
          <a:xfrm rot="5400000" flipH="1" flipV="1">
            <a:off x="7349729" y="3755231"/>
            <a:ext cx="472678" cy="3572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42" name="矩形 41"/>
          <p:cNvSpPr/>
          <p:nvPr/>
        </p:nvSpPr>
        <p:spPr>
          <a:xfrm>
            <a:off x="1785938" y="1607344"/>
            <a:ext cx="1821656" cy="1393031"/>
          </a:xfrm>
          <a:prstGeom prst="rect">
            <a:avLst/>
          </a:prstGeom>
          <a:noFill/>
          <a:ln w="38100" cap="flat" cmpd="sng">
            <a:solidFill>
              <a:srgbClr val="9D138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26831" y="3063478"/>
            <a:ext cx="375047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9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377113" y="3088481"/>
            <a:ext cx="375047" cy="36893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lIns="0" tIns="0" rIns="0" bIns="0" anchor="t" anchorCtr="0">
            <a:spAutoFit/>
          </a:bodyPr>
          <a:p>
            <a:pPr algn="ctr"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5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18422" y="3555206"/>
            <a:ext cx="3375422" cy="1125141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pic>
        <p:nvPicPr>
          <p:cNvPr id="240642" name="Picture 2" descr="pic8-3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719" y="3911204"/>
            <a:ext cx="4262438" cy="6965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3" grpId="0"/>
      <p:bldP spid="34" grpId="0"/>
      <p:bldP spid="38" grpId="0" bldLvl="0" animBg="1"/>
      <p:bldP spid="42" grpId="0" bldLvl="0" animBg="1"/>
      <p:bldP spid="44" grpId="0" bldLvl="0" animBg="1"/>
      <p:bldP spid="45" grpId="0" bldLvl="0" animBg="1"/>
      <p:bldP spid="4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 hasCustomPrompt="1"/>
          </p:nvPr>
        </p:nvSpPr>
        <p:spPr>
          <a:xfrm>
            <a:off x="1357313" y="-317"/>
            <a:ext cx="6115050" cy="3482579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{void swap(int *p1,int *p2);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int a,b;  int*pointer_1,*pointer_2; 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scanf("%d,%d",&amp;a,&amp;b);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pointer_1=&amp;a;  pointer_2=&amp;b;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if (a&lt;b)  swap(pointer_1,pointer_2); 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printf("max=%d,min=%d\n",a,b);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 return 0;</a:t>
            </a:r>
            <a:endParaRPr lang="zh-CN" altLang="zh-CN" sz="2100" dirty="0"/>
          </a:p>
          <a:p>
            <a:pPr fontAlgn="auto">
              <a:lnSpc>
                <a:spcPts val="2400"/>
              </a:lnSpc>
              <a:buNone/>
            </a:pPr>
            <a:r>
              <a:rPr lang="en-US" altLang="zh-CN" sz="2100" dirty="0"/>
              <a:t> }</a:t>
            </a:r>
            <a:endParaRPr lang="zh-CN" altLang="en-US" sz="2100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672" y="1553766"/>
            <a:ext cx="696515" cy="3690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内容占位符 2"/>
          <p:cNvSpPr txBox="1"/>
          <p:nvPr/>
        </p:nvSpPr>
        <p:spPr>
          <a:xfrm>
            <a:off x="1785938" y="3717925"/>
            <a:ext cx="4286250" cy="144661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anchor="t" anchorCtr="0"/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sz="2100" b="1" dirty="0">
                <a:latin typeface="Arial" panose="020B0604020202090204" pitchFamily="34" charset="0"/>
              </a:rPr>
              <a:t>void swap(</a:t>
            </a:r>
            <a:r>
              <a:rPr lang="en-US" altLang="zh-CN" sz="2100" b="1" dirty="0" err="1">
                <a:latin typeface="Arial" panose="020B0604020202090204" pitchFamily="34" charset="0"/>
              </a:rPr>
              <a:t>int</a:t>
            </a:r>
            <a:r>
              <a:rPr lang="en-US" altLang="zh-CN" sz="2100" b="1" dirty="0">
                <a:latin typeface="Arial" panose="020B0604020202090204" pitchFamily="34" charset="0"/>
              </a:rPr>
              <a:t> *p1,int *p2) </a:t>
            </a:r>
            <a:endParaRPr lang="zh-CN" altLang="zh-CN" sz="2100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sz="2100" b="1" dirty="0">
                <a:latin typeface="Arial" panose="020B0604020202090204" pitchFamily="34" charset="0"/>
              </a:rPr>
              <a:t>{ </a:t>
            </a:r>
            <a:r>
              <a:rPr lang="en-US" altLang="zh-CN" sz="2100" b="1" dirty="0" err="1">
                <a:latin typeface="Arial" panose="020B0604020202090204" pitchFamily="34" charset="0"/>
              </a:rPr>
              <a:t>int</a:t>
            </a:r>
            <a:r>
              <a:rPr lang="en-US" altLang="zh-CN" sz="2100" b="1" dirty="0">
                <a:latin typeface="Arial" panose="020B0604020202090204" pitchFamily="34" charset="0"/>
              </a:rPr>
              <a:t> *p;</a:t>
            </a:r>
            <a:endParaRPr lang="zh-CN" altLang="zh-CN" sz="2100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sz="2100" b="1" dirty="0">
                <a:latin typeface="Arial" panose="020B0604020202090204" pitchFamily="34" charset="0"/>
              </a:rPr>
              <a:t>   p=p1; p1=p2; p2=p;</a:t>
            </a:r>
            <a:endParaRPr lang="en-US" altLang="zh-CN" sz="2100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sz="2100" b="1" dirty="0">
                <a:latin typeface="Arial" panose="020B0604020202090204" pitchFamily="34" charset="0"/>
              </a:rPr>
              <a:t>}</a:t>
            </a:r>
            <a:endParaRPr lang="zh-CN" altLang="zh-CN" sz="2100" b="1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SzTx/>
              <a:buFont typeface="Wingdings" panose="05000000000000000000" pitchFamily="2" charset="2"/>
            </a:pPr>
            <a:endParaRPr lang="zh-CN" altLang="en-US" sz="2100" b="1" dirty="0">
              <a:latin typeface="Arial" panose="020B060402020209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482691" y="3000613"/>
            <a:ext cx="4179094" cy="7144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2253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293" y="3375025"/>
            <a:ext cx="2152650" cy="32146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标注 7"/>
          <p:cNvSpPr/>
          <p:nvPr/>
        </p:nvSpPr>
        <p:spPr>
          <a:xfrm>
            <a:off x="5589985" y="3696891"/>
            <a:ext cx="2222897" cy="857250"/>
          </a:xfrm>
          <a:prstGeom prst="wedgeRoundRectCallout">
            <a:avLst>
              <a:gd name="adj1" fmla="val -62593"/>
              <a:gd name="adj2" fmla="val 2415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en-US" sz="2100" b="1" dirty="0">
                <a:solidFill>
                  <a:srgbClr val="FF0000"/>
                </a:solidFill>
                <a:latin typeface="Arial" panose="020B0604020202090204" pitchFamily="34" charset="0"/>
              </a:rPr>
              <a:t>错！！！</a:t>
            </a:r>
            <a:endParaRPr lang="en-US" altLang="zh-CN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pPr algn="ctr"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只交换形参指向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指针与一维数组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64469" y="589360"/>
            <a:ext cx="6322219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数组元素的指针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85875"/>
            <a:ext cx="6054329" cy="3000375"/>
          </a:xfrm>
        </p:spPr>
        <p:txBody>
          <a:bodyPr vert="horz" wrap="square" lIns="68580" tIns="34290" rIns="68580" bIns="34290" anchor="t" anchorCtr="0"/>
          <a:p>
            <a:r>
              <a:rPr lang="zh-CN" altLang="zh-CN" sz="1800" dirty="0">
                <a:latin typeface="宋体" pitchFamily="2" charset="-122"/>
              </a:rPr>
              <a:t>一个变量有地址，一个数组包含若干元素，每个数组元素都有相应的地址</a:t>
            </a:r>
            <a:endParaRPr lang="en-US" altLang="zh-CN" sz="1800" dirty="0">
              <a:latin typeface="宋体" pitchFamily="2" charset="-122"/>
            </a:endParaRPr>
          </a:p>
          <a:p>
            <a:r>
              <a:rPr lang="zh-CN" altLang="zh-CN" sz="1800" dirty="0">
                <a:latin typeface="宋体" pitchFamily="2" charset="-122"/>
              </a:rPr>
              <a:t>指针变量可以指向数组元素（把某一元素的地址放到一个指针变量中）</a:t>
            </a:r>
            <a:endParaRPr lang="en-US" altLang="zh-CN" sz="1800" dirty="0">
              <a:latin typeface="宋体" pitchFamily="2" charset="-122"/>
            </a:endParaRPr>
          </a:p>
          <a:p>
            <a:r>
              <a:rPr lang="zh-CN" altLang="zh-CN" sz="1800" dirty="0">
                <a:latin typeface="宋体" pitchFamily="2" charset="-122"/>
              </a:rPr>
              <a:t>所谓数组元素的指针就是数组元素的地址</a:t>
            </a:r>
            <a:endParaRPr lang="zh-CN" altLang="zh-CN" sz="1800" dirty="0"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3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charRg st="33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charRg st="65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charRg st="65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535781"/>
            <a:ext cx="6429375" cy="2303860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可以用一个指针变量指向一个数组元素</a:t>
            </a:r>
            <a:endParaRPr lang="en-US" altLang="zh-CN" dirty="0"/>
          </a:p>
          <a:p>
            <a:pPr>
              <a:buNone/>
            </a:pPr>
            <a:r>
              <a:rPr lang="en-US" altLang="zh-CN" sz="2100" dirty="0"/>
              <a:t>   int a[10]={1,3,5,7,9,11,13,15,17,19};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int  *p;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p=&amp;a[0];</a:t>
            </a:r>
            <a:endParaRPr lang="en-US" altLang="zh-CN" sz="2100" dirty="0"/>
          </a:p>
        </p:txBody>
      </p:sp>
      <p:pic>
        <p:nvPicPr>
          <p:cNvPr id="2437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8610" y="1446610"/>
            <a:ext cx="1838325" cy="36433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371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85" y="1446610"/>
            <a:ext cx="2131219" cy="48220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标注 6"/>
          <p:cNvSpPr/>
          <p:nvPr/>
        </p:nvSpPr>
        <p:spPr>
          <a:xfrm>
            <a:off x="1946672" y="2732485"/>
            <a:ext cx="1928813" cy="535781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等价于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p=a;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59719" y="1768079"/>
            <a:ext cx="1714500" cy="4286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1839516" y="2946797"/>
            <a:ext cx="2411015" cy="964406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等价于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int *p=a;</a:t>
            </a:r>
            <a:endParaRPr lang="en-US" altLang="zh-CN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  <a:p>
            <a:pPr algn="ctr"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或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int *p=&amp;a[0];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47813" y="1339454"/>
            <a:ext cx="1714500" cy="8572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4469" y="2678906"/>
            <a:ext cx="4232672" cy="170688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注意</a:t>
            </a:r>
            <a:r>
              <a:rPr lang="zh-CN" altLang="zh-CN" sz="2100" dirty="0">
                <a:solidFill>
                  <a:srgbClr val="FF0000"/>
                </a:solidFill>
                <a:latin typeface="Arial" panose="020B0604020202090204" pitchFamily="34" charset="0"/>
              </a:rPr>
              <a:t>：</a:t>
            </a:r>
            <a:r>
              <a:rPr lang="zh-CN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数组名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不代表整个数组，只代表数组首元素的地址。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“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p=a;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”的作用是“把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数组的首元素的地址赋给指针变量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p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”，而不是“把数组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各元素的值赋给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p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”。</a:t>
            </a:r>
            <a:endParaRPr lang="zh-CN" altLang="en-US" sz="2100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18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7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charRg st="71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0" grpId="0" bldLvl="0" animBg="1"/>
      <p:bldP spid="11" grpId="0" bldLvl="0" animBg="1"/>
      <p:bldP spid="1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内容占位符 2"/>
          <p:cNvSpPr>
            <a:spLocks noGrp="1"/>
          </p:cNvSpPr>
          <p:nvPr>
            <p:ph idx="1" hasCustomPrompt="1"/>
          </p:nvPr>
        </p:nvSpPr>
        <p:spPr>
          <a:xfrm>
            <a:off x="1547813" y="750094"/>
            <a:ext cx="2756297" cy="369689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sz="2100" dirty="0">
                <a:latin typeface="宋体" pitchFamily="2" charset="-122"/>
              </a:rPr>
              <a:t>如果ｐ的初值为</a:t>
            </a:r>
            <a:r>
              <a:rPr lang="en-US" altLang="zh-CN" sz="2100" dirty="0">
                <a:latin typeface="宋体" pitchFamily="2" charset="-122"/>
              </a:rPr>
              <a:t>&amp;a[0]</a:t>
            </a:r>
            <a:r>
              <a:rPr lang="zh-CN" altLang="zh-CN" sz="2100" dirty="0">
                <a:latin typeface="宋体" pitchFamily="2" charset="-122"/>
              </a:rPr>
              <a:t>，则</a:t>
            </a:r>
            <a:r>
              <a:rPr lang="en-US" altLang="zh-CN" sz="2100" dirty="0">
                <a:latin typeface="宋体" pitchFamily="2" charset="-122"/>
              </a:rPr>
              <a:t>p+i</a:t>
            </a:r>
            <a:r>
              <a:rPr lang="zh-CN" altLang="zh-CN" sz="2100" dirty="0">
                <a:latin typeface="宋体" pitchFamily="2" charset="-122"/>
              </a:rPr>
              <a:t>和</a:t>
            </a:r>
            <a:r>
              <a:rPr lang="en-US" altLang="zh-CN" sz="2100" dirty="0">
                <a:latin typeface="宋体" pitchFamily="2" charset="-122"/>
              </a:rPr>
              <a:t>a+i</a:t>
            </a:r>
            <a:r>
              <a:rPr lang="zh-CN" altLang="zh-CN" sz="2100" dirty="0">
                <a:latin typeface="宋体" pitchFamily="2" charset="-122"/>
              </a:rPr>
              <a:t>就是数组元素</a:t>
            </a:r>
            <a:r>
              <a:rPr lang="en-US" altLang="zh-CN" sz="2100" dirty="0">
                <a:latin typeface="宋体" pitchFamily="2" charset="-122"/>
              </a:rPr>
              <a:t>a[i]</a:t>
            </a:r>
            <a:r>
              <a:rPr lang="zh-CN" altLang="zh-CN" sz="2100" dirty="0">
                <a:latin typeface="宋体" pitchFamily="2" charset="-122"/>
              </a:rPr>
              <a:t>的地址，或者说，它们指向</a:t>
            </a:r>
            <a:r>
              <a:rPr lang="en-US" altLang="zh-CN" sz="2100" dirty="0">
                <a:latin typeface="宋体" pitchFamily="2" charset="-122"/>
              </a:rPr>
              <a:t>a</a:t>
            </a:r>
            <a:r>
              <a:rPr lang="zh-CN" altLang="zh-CN" sz="2100" dirty="0">
                <a:latin typeface="宋体" pitchFamily="2" charset="-122"/>
              </a:rPr>
              <a:t>数组序号为</a:t>
            </a:r>
            <a:r>
              <a:rPr lang="en-US" altLang="zh-CN" sz="2100" dirty="0">
                <a:latin typeface="宋体" pitchFamily="2" charset="-122"/>
              </a:rPr>
              <a:t>i</a:t>
            </a:r>
            <a:r>
              <a:rPr lang="zh-CN" altLang="zh-CN" sz="2100" dirty="0">
                <a:latin typeface="宋体" pitchFamily="2" charset="-122"/>
              </a:rPr>
              <a:t>的元素</a:t>
            </a:r>
            <a:endParaRPr lang="zh-CN" altLang="zh-CN" sz="2100" dirty="0">
              <a:latin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000875" y="552450"/>
          <a:ext cx="892810" cy="4109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810"/>
              </a:tblGrid>
              <a:tr h="398780">
                <a:tc>
                  <a:txBody>
                    <a:bodyPr/>
                    <a:lstStyle/>
                    <a:p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a[0]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a[1]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a[2]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a[3]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a[4]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a[5]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a[6]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a[7]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a[8]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a[9]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822156" y="589360"/>
          <a:ext cx="1106805" cy="4109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05"/>
              </a:tblGrid>
              <a:tr h="398780">
                <a:tc>
                  <a:txBody>
                    <a:bodyPr/>
                    <a:lstStyle/>
                    <a:p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39891" y="160735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304110" y="589360"/>
            <a:ext cx="1500188" cy="1190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/>
          <p:nvPr/>
        </p:nvCxnSpPr>
        <p:spPr>
          <a:xfrm>
            <a:off x="4304110" y="964406"/>
            <a:ext cx="1500188" cy="119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3" name="直接箭头连接符 12"/>
          <p:cNvCxnSpPr/>
          <p:nvPr/>
        </p:nvCxnSpPr>
        <p:spPr>
          <a:xfrm>
            <a:off x="4304110" y="2187179"/>
            <a:ext cx="1500188" cy="1190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4" name="直接箭头连接符 13"/>
          <p:cNvCxnSpPr/>
          <p:nvPr/>
        </p:nvCxnSpPr>
        <p:spPr>
          <a:xfrm>
            <a:off x="4304110" y="4295775"/>
            <a:ext cx="1500188" cy="119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4480322" y="564356"/>
            <a:ext cx="12858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p+1,a+1 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8422" y="1758554"/>
            <a:ext cx="12858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p+i,a+i 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64844" y="3848100"/>
            <a:ext cx="12858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p+9,a+9 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pic>
        <p:nvPicPr>
          <p:cNvPr id="27706" name="图片 17" descr="Untitled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219" y="4607719"/>
            <a:ext cx="3524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547813" y="750094"/>
            <a:ext cx="2488406" cy="369689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*(p+i)</a:t>
            </a:r>
            <a:r>
              <a:rPr lang="zh-CN" altLang="zh-CN" dirty="0"/>
              <a:t>或</a:t>
            </a:r>
            <a:r>
              <a:rPr lang="en-US" altLang="zh-CN" dirty="0"/>
              <a:t>*(a+i)</a:t>
            </a:r>
            <a:r>
              <a:rPr lang="zh-CN" altLang="zh-CN" dirty="0"/>
              <a:t>是</a:t>
            </a:r>
            <a:r>
              <a:rPr lang="en-US" altLang="zh-CN" dirty="0"/>
              <a:t>p+i</a:t>
            </a:r>
            <a:r>
              <a:rPr lang="zh-CN" altLang="zh-CN" dirty="0"/>
              <a:t>或</a:t>
            </a:r>
            <a:r>
              <a:rPr lang="en-US" altLang="zh-CN" dirty="0"/>
              <a:t>a+i</a:t>
            </a:r>
            <a:r>
              <a:rPr lang="zh-CN" altLang="zh-CN" dirty="0"/>
              <a:t>所指向的数组元素，即</a:t>
            </a:r>
            <a:r>
              <a:rPr lang="en-US" altLang="zh-CN" dirty="0"/>
              <a:t>a[i]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000875" y="552450"/>
          <a:ext cx="892810" cy="4109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810"/>
              </a:tblGrid>
              <a:tr h="398780">
                <a:tc>
                  <a:txBody>
                    <a:bodyPr/>
                    <a:lstStyle/>
                    <a:p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a[0]</a:t>
                      </a:r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a[1]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a[2]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a[3]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a[4]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a[5]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a[6]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a[7]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a[8]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chemeClr val="tx1"/>
                          </a:solidFill>
                        </a:rPr>
                        <a:t>a[9]</a:t>
                      </a: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822156" y="589360"/>
          <a:ext cx="1106805" cy="4109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805"/>
              </a:tblGrid>
              <a:tr h="398780">
                <a:tc>
                  <a:txBody>
                    <a:bodyPr/>
                    <a:lstStyle/>
                    <a:p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8722" name="TextBox 6"/>
          <p:cNvSpPr txBox="1"/>
          <p:nvPr/>
        </p:nvSpPr>
        <p:spPr>
          <a:xfrm>
            <a:off x="4839891" y="160735"/>
            <a:ext cx="37504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cxnSp>
        <p:nvCxnSpPr>
          <p:cNvPr id="28723" name="直接箭头连接符 7"/>
          <p:cNvCxnSpPr/>
          <p:nvPr/>
        </p:nvCxnSpPr>
        <p:spPr>
          <a:xfrm>
            <a:off x="4304110" y="589360"/>
            <a:ext cx="1500188" cy="1190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8724" name="直接箭头连接符 11"/>
          <p:cNvCxnSpPr/>
          <p:nvPr/>
        </p:nvCxnSpPr>
        <p:spPr>
          <a:xfrm>
            <a:off x="4304110" y="964406"/>
            <a:ext cx="1500188" cy="119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8725" name="直接箭头连接符 12"/>
          <p:cNvCxnSpPr/>
          <p:nvPr/>
        </p:nvCxnSpPr>
        <p:spPr>
          <a:xfrm>
            <a:off x="4304110" y="2187179"/>
            <a:ext cx="1500188" cy="1190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8726" name="直接箭头连接符 13"/>
          <p:cNvCxnSpPr/>
          <p:nvPr/>
        </p:nvCxnSpPr>
        <p:spPr>
          <a:xfrm>
            <a:off x="4304110" y="4295775"/>
            <a:ext cx="1500188" cy="119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8727" name="TextBox 14"/>
          <p:cNvSpPr txBox="1"/>
          <p:nvPr/>
        </p:nvSpPr>
        <p:spPr>
          <a:xfrm>
            <a:off x="4480322" y="564356"/>
            <a:ext cx="12858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p+1,a+1 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28728" name="TextBox 15"/>
          <p:cNvSpPr txBox="1"/>
          <p:nvPr/>
        </p:nvSpPr>
        <p:spPr>
          <a:xfrm>
            <a:off x="4518422" y="1758554"/>
            <a:ext cx="12858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p+i,a+i 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28729" name="TextBox 16"/>
          <p:cNvSpPr txBox="1"/>
          <p:nvPr/>
        </p:nvSpPr>
        <p:spPr>
          <a:xfrm>
            <a:off x="4464844" y="3848100"/>
            <a:ext cx="12858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p+9,a+9 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11454" y="2150269"/>
            <a:ext cx="91082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*(p+i)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内容占位符 2"/>
          <p:cNvSpPr>
            <a:spLocks noGrp="1"/>
          </p:cNvSpPr>
          <p:nvPr>
            <p:ph idx="1" hasCustomPrompt="1"/>
          </p:nvPr>
        </p:nvSpPr>
        <p:spPr>
          <a:xfrm>
            <a:off x="1373981" y="535781"/>
            <a:ext cx="6519863" cy="407193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{ int a[10];  int *p,i;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printf("enter 10 integer numbers:\n");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for(i=0;i&lt;10;i++)  scanf("%d",&amp;a[i]);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for(i=0;i&lt;10;i++)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     printf("%d" ,a[i]); 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printf("\n");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内容占位符 2"/>
          <p:cNvSpPr>
            <a:spLocks noGrp="1"/>
          </p:cNvSpPr>
          <p:nvPr>
            <p:ph idx="1" hasCustomPrompt="1"/>
          </p:nvPr>
        </p:nvSpPr>
        <p:spPr>
          <a:xfrm>
            <a:off x="1373981" y="535781"/>
            <a:ext cx="6519863" cy="407193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{ int a[10];  int i;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printf("enter 10 integer numbers:\n");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for(i=0;i&lt;10;i++)  scanf("%d",&amp;a[i]);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for(i=0;i&lt;10;i++)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     printf("%d" ,*(a+i)); 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printf("\n");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>
            <a:off x="1373981" y="3425428"/>
            <a:ext cx="4179094" cy="7144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内容占位符 2"/>
          <p:cNvSpPr>
            <a:spLocks noGrp="1"/>
          </p:cNvSpPr>
          <p:nvPr>
            <p:ph idx="1" hasCustomPrompt="1"/>
          </p:nvPr>
        </p:nvSpPr>
        <p:spPr>
          <a:xfrm>
            <a:off x="1373981" y="535781"/>
            <a:ext cx="6519863" cy="407193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sz="2100" dirty="0"/>
              <a:t>用指针变量指向数组元素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#include &lt;stdio.h&gt;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{ int a[10];  int *p,i;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printf("enter 10 integer numbers:\n");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for(i=0;i&lt;10;i++)  scanf("%d",&amp;a[i]);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for(p=a;p&lt;(a+10);p++)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     printf("%d" ,*p); 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printf("\n");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en-US" altLang="zh-CN" sz="21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3982641" y="3643313"/>
            <a:ext cx="3964781" cy="964406"/>
          </a:xfrm>
          <a:prstGeom prst="wedgeRoundRectCallout">
            <a:avLst>
              <a:gd name="adj1" fmla="val 569"/>
              <a:gd name="adj2" fmla="val -129561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for(p=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a;p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&lt;(a+10);p++)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d",p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3607594" y="4018360"/>
            <a:ext cx="4205288" cy="964406"/>
          </a:xfrm>
          <a:prstGeom prst="wedgeRoundRectCallout">
            <a:avLst>
              <a:gd name="adj1" fmla="val -30042"/>
              <a:gd name="adj2" fmla="val -9259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for(p=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a;p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&lt;(a+10);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(“%d ”,*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错！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82204"/>
            <a:ext cx="6429375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数组</a:t>
            </a:r>
            <a:r>
              <a:rPr kumimoji="0" lang="zh-CN" altLang="en-US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的指针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85875"/>
            <a:ext cx="6054329" cy="3268266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用数组名作函数参数</a:t>
            </a:r>
            <a:r>
              <a:rPr lang="zh-CN" altLang="en-US" dirty="0"/>
              <a:t>时，因为</a:t>
            </a:r>
            <a:r>
              <a:rPr lang="zh-CN" altLang="zh-CN" dirty="0"/>
              <a:t>实参数组名代表该数组首元素的地址</a:t>
            </a:r>
            <a:r>
              <a:rPr lang="zh-CN" altLang="en-US" dirty="0"/>
              <a:t>，</a:t>
            </a:r>
            <a:r>
              <a:rPr lang="zh-CN" altLang="zh-CN" dirty="0"/>
              <a:t>形参应该是一个指针变量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zh-CN" dirty="0"/>
              <a:t>编译都是将形参数组名作为指针变量来处理的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857250"/>
            <a:ext cx="5197079" cy="358973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int main()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void fun(int arr[],int n];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int array[10];    </a:t>
            </a:r>
            <a:r>
              <a:rPr lang="zh-CN" altLang="zh-CN" sz="2100" dirty="0"/>
              <a:t></a:t>
            </a:r>
            <a:r>
              <a:rPr lang="en-US" altLang="zh-CN" sz="2100" dirty="0"/>
              <a:t>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</a:t>
            </a:r>
            <a:r>
              <a:rPr lang="zh-CN" altLang="zh-CN" sz="2100" dirty="0"/>
              <a:t>┇</a:t>
            </a:r>
            <a:r>
              <a:rPr lang="en-US" altLang="zh-CN" sz="2100" dirty="0"/>
              <a:t>             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fun (array,10);   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void fun(int arr[ ],int n)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</a:t>
            </a:r>
            <a:r>
              <a:rPr lang="zh-CN" altLang="zh-CN" sz="2100" dirty="0"/>
              <a:t>┇</a:t>
            </a:r>
            <a:r>
              <a:rPr lang="en-US" altLang="zh-CN" sz="2100" dirty="0"/>
              <a:t>  }</a:t>
            </a:r>
            <a:endParaRPr lang="zh-CN" altLang="zh-CN" sz="21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3982641" y="2732485"/>
            <a:ext cx="3000375" cy="482204"/>
          </a:xfrm>
          <a:prstGeom prst="wedgeRoundRectCallout">
            <a:avLst>
              <a:gd name="adj1" fmla="val -41780"/>
              <a:gd name="adj2" fmla="val 122226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fun(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arr,int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n)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857250"/>
            <a:ext cx="4286250" cy="358973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int main()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void fun(int arr[],int n);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int array[10];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</a:t>
            </a:r>
            <a:r>
              <a:rPr lang="zh-CN" altLang="zh-CN" sz="2100" dirty="0"/>
              <a:t>┇</a:t>
            </a:r>
            <a:r>
              <a:rPr lang="en-US" altLang="zh-CN" sz="2100" dirty="0"/>
              <a:t>             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fun (array,10);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void fun(int </a:t>
            </a:r>
            <a:r>
              <a:rPr lang="en-US" altLang="zh-CN" sz="2100" dirty="0">
                <a:solidFill>
                  <a:srgbClr val="FF0000"/>
                </a:solidFill>
              </a:rPr>
              <a:t>*arr</a:t>
            </a:r>
            <a:r>
              <a:rPr lang="en-US" altLang="zh-CN" sz="2100" dirty="0"/>
              <a:t>,int n)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</a:t>
            </a:r>
            <a:r>
              <a:rPr lang="zh-CN" altLang="zh-CN" sz="2100" dirty="0"/>
              <a:t>┇</a:t>
            </a:r>
            <a:r>
              <a:rPr lang="en-US" altLang="zh-CN" sz="2100" dirty="0"/>
              <a:t>  }</a:t>
            </a:r>
            <a:endParaRPr lang="zh-CN" altLang="zh-CN" sz="21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982891" y="659606"/>
          <a:ext cx="624840" cy="4109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0"/>
              </a:tblGrid>
              <a:tr h="398780">
                <a:tc>
                  <a:txBody>
                    <a:bodyPr/>
                    <a:lstStyle/>
                    <a:p>
                      <a:endParaRPr lang="zh-CN" altLang="en-US" sz="21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1" marR="68581" marT="34284" marB="3428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8" name="直接箭头连接符 7"/>
          <p:cNvCxnSpPr/>
          <p:nvPr/>
        </p:nvCxnSpPr>
        <p:spPr>
          <a:xfrm>
            <a:off x="5000625" y="644129"/>
            <a:ext cx="964406" cy="1190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6715125" y="391716"/>
            <a:ext cx="123229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array[0]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22281" y="702469"/>
            <a:ext cx="101798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arr[0]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4" name="右大括号 13"/>
          <p:cNvSpPr/>
          <p:nvPr/>
        </p:nvSpPr>
        <p:spPr>
          <a:xfrm>
            <a:off x="6661547" y="659606"/>
            <a:ext cx="107156" cy="375047"/>
          </a:xfrm>
          <a:prstGeom prst="rightBrace">
            <a:avLst>
              <a:gd name="adj1" fmla="val 8166"/>
              <a:gd name="adj2" fmla="val 50000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1266" y="4393406"/>
            <a:ext cx="155376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array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</a:rPr>
              <a:t>数组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04110" y="428625"/>
            <a:ext cx="6429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arr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000625" y="1859756"/>
            <a:ext cx="964406" cy="119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6715125" y="1607344"/>
            <a:ext cx="123229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array[3]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22281" y="1919288"/>
            <a:ext cx="101798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90204" pitchFamily="34" charset="0"/>
              </a:rPr>
              <a:t>arr[3]</a:t>
            </a:r>
            <a:endParaRPr lang="zh-CN" altLang="en-US" sz="24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661547" y="1875235"/>
            <a:ext cx="107156" cy="375047"/>
          </a:xfrm>
          <a:prstGeom prst="rightBrace">
            <a:avLst>
              <a:gd name="adj1" fmla="val 8166"/>
              <a:gd name="adj2" fmla="val 50000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1821656"/>
            <a:ext cx="964406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9D138D"/>
                </a:solidFill>
                <a:latin typeface="Arial" panose="020B0604020202090204" pitchFamily="34" charset="0"/>
              </a:rPr>
              <a:t>arr+3</a:t>
            </a:r>
            <a:endParaRPr lang="zh-CN" altLang="en-US" sz="2400" b="1" dirty="0">
              <a:solidFill>
                <a:srgbClr val="9D138D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bldLvl="0" animBg="1"/>
      <p:bldP spid="15" grpId="0"/>
      <p:bldP spid="16" grpId="0"/>
      <p:bldP spid="18" grpId="0"/>
      <p:bldP spid="19" grpId="0"/>
      <p:bldP spid="20" grpId="0" bldLvl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547813" y="482204"/>
            <a:ext cx="6115050" cy="4339828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 实参数组名是指针常量，但形参数组名是按指针变量处理</a:t>
            </a:r>
            <a:endParaRPr lang="en-US" altLang="zh-CN" dirty="0"/>
          </a:p>
          <a:p>
            <a:r>
              <a:rPr lang="zh-CN" altLang="zh-CN" dirty="0"/>
              <a:t>在函数调用进行虚实结合后，它的值就是实参数组首元素的地址</a:t>
            </a:r>
            <a:endParaRPr lang="en-US" altLang="zh-CN" dirty="0"/>
          </a:p>
          <a:p>
            <a:r>
              <a:rPr lang="zh-CN" altLang="zh-CN" dirty="0"/>
              <a:t>在函数执行期间，</a:t>
            </a:r>
            <a:r>
              <a:rPr lang="zh-CN" altLang="en-US" dirty="0"/>
              <a:t>形参数组</a:t>
            </a:r>
            <a:r>
              <a:rPr lang="zh-CN" altLang="zh-CN" dirty="0"/>
              <a:t>可以再被赋值</a:t>
            </a:r>
            <a:endParaRPr lang="zh-CN" altLang="zh-CN" dirty="0"/>
          </a:p>
          <a:p>
            <a:pPr lvl="1" indent="-325120">
              <a:buNone/>
            </a:pPr>
            <a:r>
              <a:rPr lang="en-US" altLang="zh-CN" dirty="0"/>
              <a:t>void fun (int arr[ ],int n)</a:t>
            </a:r>
            <a:endParaRPr lang="zh-CN" altLang="zh-CN" dirty="0"/>
          </a:p>
          <a:p>
            <a:pPr lvl="1" indent="-325120">
              <a:buNone/>
            </a:pPr>
            <a:r>
              <a:rPr lang="en-US" altLang="zh-CN" dirty="0"/>
              <a:t>{ printf(</a:t>
            </a:r>
            <a:r>
              <a:rPr lang="zh-CN" altLang="zh-CN" dirty="0"/>
              <a:t>″</a:t>
            </a:r>
            <a:r>
              <a:rPr lang="en-US" altLang="zh-CN" dirty="0"/>
              <a:t>%d\n</a:t>
            </a:r>
            <a:r>
              <a:rPr lang="zh-CN" altLang="zh-CN" dirty="0"/>
              <a:t>″</a:t>
            </a:r>
            <a:r>
              <a:rPr lang="en-US" altLang="zh-CN" dirty="0"/>
              <a:t>, *arr); </a:t>
            </a:r>
            <a:endParaRPr lang="zh-CN" altLang="zh-CN" dirty="0"/>
          </a:p>
          <a:p>
            <a:pPr lvl="1" indent="-325120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9D138D"/>
                </a:solidFill>
              </a:rPr>
              <a:t>arr=arr+3;</a:t>
            </a:r>
            <a:r>
              <a:rPr lang="en-US" altLang="zh-CN" dirty="0"/>
              <a:t>                </a:t>
            </a:r>
            <a:endParaRPr lang="zh-CN" altLang="zh-CN" dirty="0"/>
          </a:p>
          <a:p>
            <a:pPr lvl="1" indent="-325120">
              <a:buNone/>
            </a:pPr>
            <a:r>
              <a:rPr lang="en-US" altLang="zh-CN" dirty="0"/>
              <a:t>   printf(</a:t>
            </a:r>
            <a:r>
              <a:rPr lang="zh-CN" altLang="zh-CN" dirty="0"/>
              <a:t>″</a:t>
            </a:r>
            <a:r>
              <a:rPr lang="en-US" altLang="zh-CN" dirty="0"/>
              <a:t>%d\n</a:t>
            </a:r>
            <a:r>
              <a:rPr lang="zh-CN" altLang="zh-CN" dirty="0"/>
              <a:t>″</a:t>
            </a:r>
            <a:r>
              <a:rPr lang="en-US" altLang="zh-CN" dirty="0"/>
              <a:t>, *arr); </a:t>
            </a:r>
            <a:r>
              <a:rPr lang="zh-CN" altLang="zh-CN" dirty="0"/>
              <a:t> </a:t>
            </a:r>
            <a:endParaRPr lang="zh-CN" altLang="zh-CN" dirty="0"/>
          </a:p>
          <a:p>
            <a:pPr lvl="1" indent="-32512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5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75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99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4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124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1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181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内容占位符 2"/>
          <p:cNvSpPr>
            <a:spLocks noGrp="1"/>
          </p:cNvSpPr>
          <p:nvPr>
            <p:ph idx="1" hasCustomPrompt="1"/>
          </p:nvPr>
        </p:nvSpPr>
        <p:spPr>
          <a:xfrm>
            <a:off x="1518047" y="803672"/>
            <a:ext cx="6215063" cy="160734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dirty="0"/>
              <a:t>例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zh-CN" dirty="0"/>
              <a:t>将数组</a:t>
            </a:r>
            <a:r>
              <a:rPr lang="en-US" altLang="zh-CN" dirty="0"/>
              <a:t>a</a:t>
            </a:r>
            <a:r>
              <a:rPr lang="zh-CN" altLang="zh-CN" dirty="0"/>
              <a:t>中</a:t>
            </a:r>
            <a:r>
              <a:rPr lang="en-US" altLang="zh-CN" dirty="0"/>
              <a:t>n</a:t>
            </a:r>
            <a:r>
              <a:rPr lang="zh-CN" altLang="zh-CN" dirty="0"/>
              <a:t>个整数按相反顺序存放</a:t>
            </a:r>
            <a:endParaRPr lang="zh-CN" altLang="zh-CN" dirty="0"/>
          </a:p>
          <a:p>
            <a:r>
              <a:rPr lang="zh-CN" altLang="zh-CN" dirty="0"/>
              <a:t>解题思路：将</a:t>
            </a:r>
            <a:r>
              <a:rPr lang="en-US" altLang="zh-CN" dirty="0"/>
              <a:t>a[0]</a:t>
            </a:r>
            <a:r>
              <a:rPr lang="zh-CN" altLang="zh-CN" dirty="0"/>
              <a:t>与</a:t>
            </a:r>
            <a:r>
              <a:rPr lang="en-US" altLang="zh-CN" dirty="0"/>
              <a:t>a[n-1]</a:t>
            </a:r>
            <a:r>
              <a:rPr lang="zh-CN" altLang="zh-CN" dirty="0"/>
              <a:t>对换，……将</a:t>
            </a:r>
            <a:r>
              <a:rPr lang="en-US" altLang="zh-CN" dirty="0"/>
              <a:t>a[4]</a:t>
            </a:r>
            <a:r>
              <a:rPr lang="zh-CN" altLang="zh-CN" dirty="0"/>
              <a:t>与</a:t>
            </a:r>
            <a:r>
              <a:rPr lang="en-US" altLang="zh-CN" dirty="0"/>
              <a:t>a[5]</a:t>
            </a:r>
            <a:r>
              <a:rPr lang="zh-CN" altLang="zh-CN" dirty="0"/>
              <a:t>对换。</a:t>
            </a:r>
            <a:endParaRPr lang="zh-CN" altLang="en-US" dirty="0"/>
          </a:p>
        </p:txBody>
      </p:sp>
      <p:pic>
        <p:nvPicPr>
          <p:cNvPr id="3584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047" y="4040981"/>
            <a:ext cx="6221015" cy="62031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94" y="2757488"/>
            <a:ext cx="6221016" cy="5929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4" name="TextBox 6"/>
          <p:cNvSpPr txBox="1"/>
          <p:nvPr/>
        </p:nvSpPr>
        <p:spPr>
          <a:xfrm>
            <a:off x="7024688" y="3512344"/>
            <a:ext cx="32146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j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35845" name="TextBox 7"/>
          <p:cNvSpPr txBox="1"/>
          <p:nvPr/>
        </p:nvSpPr>
        <p:spPr>
          <a:xfrm>
            <a:off x="1404938" y="3512344"/>
            <a:ext cx="321469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i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grpSp>
        <p:nvGrpSpPr>
          <p:cNvPr id="35846" name="组合 18"/>
          <p:cNvGrpSpPr/>
          <p:nvPr/>
        </p:nvGrpSpPr>
        <p:grpSpPr>
          <a:xfrm>
            <a:off x="1839516" y="2411016"/>
            <a:ext cx="5572125" cy="376238"/>
            <a:chOff x="928662" y="3214686"/>
            <a:chExt cx="7429552" cy="500860"/>
          </a:xfrm>
        </p:grpSpPr>
        <p:cxnSp>
          <p:nvCxnSpPr>
            <p:cNvPr id="35847" name="直接连接符 8"/>
            <p:cNvCxnSpPr/>
            <p:nvPr/>
          </p:nvCxnSpPr>
          <p:spPr>
            <a:xfrm>
              <a:off x="928662" y="3214686"/>
              <a:ext cx="7429552" cy="0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35848" name="直接箭头连接符 9"/>
            <p:cNvCxnSpPr/>
            <p:nvPr/>
          </p:nvCxnSpPr>
          <p:spPr>
            <a:xfrm rot="5400000">
              <a:off x="8107387" y="3464719"/>
              <a:ext cx="500860" cy="794"/>
            </a:xfrm>
            <a:prstGeom prst="straightConnector1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arrow" w="med" len="med"/>
            </a:ln>
          </p:spPr>
        </p:cxnSp>
        <p:cxnSp>
          <p:nvCxnSpPr>
            <p:cNvPr id="35849" name="直接箭头连接符 16"/>
            <p:cNvCxnSpPr/>
            <p:nvPr/>
          </p:nvCxnSpPr>
          <p:spPr>
            <a:xfrm rot="5400000">
              <a:off x="678629" y="3464719"/>
              <a:ext cx="500860" cy="794"/>
            </a:xfrm>
            <a:prstGeom prst="straightConnector1">
              <a:avLst/>
            </a:prstGeom>
            <a:ln w="38100" cap="flat" cmpd="sng">
              <a:solidFill>
                <a:srgbClr val="0000CC"/>
              </a:solidFill>
              <a:prstDash val="solid"/>
              <a:miter/>
              <a:headEnd type="none" w="med" len="med"/>
              <a:tailEnd type="arrow" w="med" len="med"/>
            </a:ln>
          </p:spPr>
        </p:cxn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内容占位符 2"/>
          <p:cNvSpPr>
            <a:spLocks noGrp="1"/>
          </p:cNvSpPr>
          <p:nvPr>
            <p:ph idx="1" hasCustomPrompt="1"/>
          </p:nvPr>
        </p:nvSpPr>
        <p:spPr>
          <a:xfrm>
            <a:off x="1625204" y="375047"/>
            <a:ext cx="5810250" cy="2786063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void inv(int x[ ],int n)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int temp,i,j,m=(n-1)/2;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for(i=0;i&lt;=m;i++)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{ j=n-1-i;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temp=x[i];x[i]=x[j];x[j]=temp;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zh-CN" altLang="en-US" sz="2100" dirty="0"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2482454" y="2678906"/>
            <a:ext cx="4982766" cy="2143125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void inv(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 x[ ],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 n) </a:t>
            </a:r>
            <a:endParaRPr kumimoji="0" lang="zh-CN" altLang="zh-CN" sz="21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buFont typeface="Wingdings" panose="05000000000000000000" pitchFamily="2" charset="2"/>
              <a:defRPr/>
            </a:pP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 temp,*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,*j;</a:t>
            </a:r>
            <a:endParaRPr kumimoji="0" lang="zh-CN" altLang="zh-CN" sz="21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=x;  j=x+n-1;</a:t>
            </a:r>
            <a:endParaRPr kumimoji="0" lang="zh-CN" altLang="zh-CN" sz="21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   for(   ; 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&lt;j; 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++,j--)</a:t>
            </a:r>
            <a:endParaRPr kumimoji="0" lang="zh-CN" altLang="zh-CN" sz="21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   { temp=*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; *</a:t>
            </a:r>
            <a:r>
              <a:rPr kumimoji="0" lang="en-US" altLang="zh-CN" sz="2100" b="1" kern="0" cap="none" spc="0" normalizeH="0" baseline="0" noProof="0" dirty="0" err="1"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=*j; *j=temp; }</a:t>
            </a:r>
            <a:endParaRPr kumimoji="0" lang="en-US" altLang="zh-CN" sz="2100" b="1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en-US" altLang="zh-CN" sz="2100" b="1" kern="0" cap="none" spc="0" normalizeH="0" baseline="0" noProof="0" dirty="0">
                <a:latin typeface="+mn-lt"/>
                <a:ea typeface="+mn-ea"/>
                <a:cs typeface="+mn-cs"/>
              </a:rPr>
              <a:t>}</a:t>
            </a:r>
            <a:endParaRPr kumimoji="0" lang="zh-CN" altLang="en-US" sz="2100" b="1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1410891" y="3536156"/>
            <a:ext cx="857250" cy="535781"/>
          </a:xfrm>
          <a:prstGeom prst="wedgeRoundRectCallout">
            <a:avLst>
              <a:gd name="adj1" fmla="val 75080"/>
              <a:gd name="adj2" fmla="val -107765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优化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内容占位符 2"/>
          <p:cNvSpPr txBox="1"/>
          <p:nvPr/>
        </p:nvSpPr>
        <p:spPr>
          <a:xfrm>
            <a:off x="1514475" y="286941"/>
            <a:ext cx="6115050" cy="412551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#include &lt;</a:t>
            </a:r>
            <a:r>
              <a:rPr lang="en-US" altLang="zh-CN" b="1" dirty="0" err="1">
                <a:latin typeface="Arial" panose="020B0604020202090204" pitchFamily="34" charset="0"/>
              </a:rPr>
              <a:t>stdio.h</a:t>
            </a:r>
            <a:r>
              <a:rPr lang="en-US" altLang="zh-CN" b="1" dirty="0">
                <a:latin typeface="Arial" panose="020B0604020202090204" pitchFamily="34" charset="0"/>
              </a:rPr>
              <a:t>&gt;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 err="1">
                <a:latin typeface="Arial" panose="020B0604020202090204" pitchFamily="34" charset="0"/>
              </a:rPr>
              <a:t>int</a:t>
            </a:r>
            <a:r>
              <a:rPr lang="en-US" altLang="zh-CN" b="1" dirty="0">
                <a:latin typeface="Arial" panose="020B0604020202090204" pitchFamily="34" charset="0"/>
              </a:rPr>
              <a:t> main()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</a:pPr>
            <a:r>
              <a:rPr lang="en-US" altLang="zh-CN" b="1" dirty="0">
                <a:latin typeface="Arial" panose="020B0604020202090204" pitchFamily="34" charset="0"/>
              </a:rPr>
              <a:t>{ void inv(</a:t>
            </a:r>
            <a:r>
              <a:rPr lang="en-US" altLang="zh-CN" b="1" dirty="0" err="1">
                <a:latin typeface="Arial" panose="020B0604020202090204" pitchFamily="34" charset="0"/>
              </a:rPr>
              <a:t>int</a:t>
            </a:r>
            <a:r>
              <a:rPr lang="en-US" altLang="zh-CN" b="1" dirty="0">
                <a:latin typeface="Arial" panose="020B0604020202090204" pitchFamily="34" charset="0"/>
              </a:rPr>
              <a:t> *</a:t>
            </a:r>
            <a:r>
              <a:rPr lang="en-US" altLang="zh-CN" b="1" dirty="0" err="1">
                <a:latin typeface="Arial" panose="020B0604020202090204" pitchFamily="34" charset="0"/>
              </a:rPr>
              <a:t>x,int</a:t>
            </a:r>
            <a:r>
              <a:rPr lang="en-US" altLang="zh-CN" b="1" dirty="0">
                <a:latin typeface="Arial" panose="020B0604020202090204" pitchFamily="34" charset="0"/>
              </a:rPr>
              <a:t> n);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</a:t>
            </a:r>
            <a:r>
              <a:rPr lang="en-US" altLang="zh-CN" b="1" dirty="0" err="1">
                <a:latin typeface="Arial" panose="020B0604020202090204" pitchFamily="34" charset="0"/>
              </a:rPr>
              <a:t>int</a:t>
            </a:r>
            <a:r>
              <a:rPr lang="en-US" altLang="zh-CN" b="1" dirty="0">
                <a:latin typeface="Arial" panose="020B0604020202090204" pitchFamily="34" charset="0"/>
              </a:rPr>
              <a:t> </a:t>
            </a:r>
            <a:r>
              <a:rPr lang="en-US" altLang="zh-CN" b="1" dirty="0" err="1">
                <a:latin typeface="Arial" panose="020B0604020202090204" pitchFamily="34" charset="0"/>
              </a:rPr>
              <a:t>i</a:t>
            </a:r>
            <a:r>
              <a:rPr lang="en-US" altLang="zh-CN" b="1" dirty="0">
                <a:latin typeface="Arial" panose="020B0604020202090204" pitchFamily="34" charset="0"/>
              </a:rPr>
              <a:t>, </a:t>
            </a:r>
            <a:r>
              <a:rPr lang="en-US" altLang="zh-CN" b="1" dirty="0" err="1">
                <a:latin typeface="Arial" panose="020B0604020202090204" pitchFamily="34" charset="0"/>
              </a:rPr>
              <a:t>arr</a:t>
            </a:r>
            <a:r>
              <a:rPr lang="en-US" altLang="zh-CN" b="1" dirty="0">
                <a:latin typeface="Arial" panose="020B0604020202090204" pitchFamily="34" charset="0"/>
              </a:rPr>
              <a:t>[10],*p=</a:t>
            </a:r>
            <a:r>
              <a:rPr lang="en-US" altLang="zh-CN" b="1" dirty="0" err="1">
                <a:latin typeface="Arial" panose="020B0604020202090204" pitchFamily="34" charset="0"/>
              </a:rPr>
              <a:t>arr</a:t>
            </a:r>
            <a:r>
              <a:rPr lang="en-US" altLang="zh-CN" b="1" dirty="0">
                <a:latin typeface="Arial" panose="020B0604020202090204" pitchFamily="34" charset="0"/>
              </a:rPr>
              <a:t>;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for(</a:t>
            </a:r>
            <a:r>
              <a:rPr lang="en-US" altLang="zh-CN" b="1" dirty="0" err="1">
                <a:latin typeface="Arial" panose="020B0604020202090204" pitchFamily="34" charset="0"/>
              </a:rPr>
              <a:t>i</a:t>
            </a:r>
            <a:r>
              <a:rPr lang="en-US" altLang="zh-CN" b="1" dirty="0">
                <a:latin typeface="Arial" panose="020B0604020202090204" pitchFamily="34" charset="0"/>
              </a:rPr>
              <a:t>=0;i&lt;10;i++,p++)</a:t>
            </a:r>
            <a:endParaRPr lang="en-US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    </a:t>
            </a:r>
            <a:r>
              <a:rPr lang="en-US" altLang="zh-CN" b="1" dirty="0" err="1">
                <a:latin typeface="Arial" panose="020B0604020202090204" pitchFamily="34" charset="0"/>
              </a:rPr>
              <a:t>scanf</a:t>
            </a:r>
            <a:r>
              <a:rPr lang="en-US" altLang="zh-CN" b="1" dirty="0">
                <a:latin typeface="Arial" panose="020B0604020202090204" pitchFamily="34" charset="0"/>
              </a:rPr>
              <a:t>(“%</a:t>
            </a:r>
            <a:r>
              <a:rPr lang="en-US" altLang="zh-CN" b="1" dirty="0" err="1">
                <a:latin typeface="Arial" panose="020B0604020202090204" pitchFamily="34" charset="0"/>
              </a:rPr>
              <a:t>d”,p</a:t>
            </a:r>
            <a:r>
              <a:rPr lang="en-US" altLang="zh-CN" b="1" dirty="0">
                <a:latin typeface="Arial" panose="020B0604020202090204" pitchFamily="34" charset="0"/>
              </a:rPr>
              <a:t>); 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90204" pitchFamily="34" charset="0"/>
              </a:rPr>
              <a:t>p=</a:t>
            </a:r>
            <a:r>
              <a:rPr lang="en-US" altLang="zh-CN" b="1" dirty="0" err="1">
                <a:solidFill>
                  <a:srgbClr val="FF0000"/>
                </a:solidFill>
                <a:latin typeface="Arial" panose="020B0604020202090204" pitchFamily="34" charset="0"/>
              </a:rPr>
              <a:t>arr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90204" pitchFamily="34" charset="0"/>
              </a:rPr>
              <a:t>; </a:t>
            </a:r>
            <a:r>
              <a:rPr lang="en-US" altLang="zh-CN" b="1" dirty="0">
                <a:latin typeface="Arial" panose="020B0604020202090204" pitchFamily="34" charset="0"/>
              </a:rPr>
              <a:t>  </a:t>
            </a:r>
            <a:endParaRPr lang="en-US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inv(p,10); 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for(p=</a:t>
            </a:r>
            <a:r>
              <a:rPr lang="en-US" altLang="zh-CN" b="1" dirty="0" err="1">
                <a:latin typeface="Arial" panose="020B0604020202090204" pitchFamily="34" charset="0"/>
              </a:rPr>
              <a:t>arr;p</a:t>
            </a:r>
            <a:r>
              <a:rPr lang="en-US" altLang="zh-CN" b="1" dirty="0">
                <a:latin typeface="Arial" panose="020B0604020202090204" pitchFamily="34" charset="0"/>
              </a:rPr>
              <a:t>&lt;arr+10;p++) </a:t>
            </a:r>
            <a:endParaRPr lang="en-US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    </a:t>
            </a:r>
            <a:r>
              <a:rPr lang="en-US" altLang="zh-CN" b="1" dirty="0" err="1">
                <a:latin typeface="Arial" panose="020B0604020202090204" pitchFamily="34" charset="0"/>
              </a:rPr>
              <a:t>printf</a:t>
            </a:r>
            <a:r>
              <a:rPr lang="en-US" altLang="zh-CN" b="1" dirty="0">
                <a:latin typeface="Arial" panose="020B0604020202090204" pitchFamily="34" charset="0"/>
              </a:rPr>
              <a:t>(“%d ”,*p); 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</a:t>
            </a:r>
            <a:r>
              <a:rPr lang="en-US" altLang="zh-CN" b="1" dirty="0" err="1">
                <a:latin typeface="Arial" panose="020B0604020202090204" pitchFamily="34" charset="0"/>
              </a:rPr>
              <a:t>printf</a:t>
            </a:r>
            <a:r>
              <a:rPr lang="en-US" altLang="zh-CN" b="1" dirty="0">
                <a:latin typeface="Arial" panose="020B0604020202090204" pitchFamily="34" charset="0"/>
              </a:rPr>
              <a:t>("\n");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   return 0;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2400"/>
              </a:lnSpc>
              <a:spcBef>
                <a:spcPts val="0"/>
              </a:spcBef>
              <a:buSzTx/>
              <a:buFont typeface="Wingdings" panose="05000000000000000000" pitchFamily="2" charset="2"/>
            </a:pPr>
            <a:r>
              <a:rPr lang="en-US" altLang="zh-CN" b="1" dirty="0">
                <a:latin typeface="Arial" panose="020B0604020202090204" pitchFamily="34" charset="0"/>
              </a:rPr>
              <a:t>}</a:t>
            </a:r>
            <a:endParaRPr lang="zh-CN" altLang="zh-CN" b="1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SzTx/>
              <a:buFont typeface="Wingdings" panose="05000000000000000000" pitchFamily="2" charset="2"/>
            </a:pPr>
            <a:endParaRPr lang="zh-CN" altLang="zh-CN" b="1" dirty="0">
              <a:latin typeface="Arial" panose="020B0604020202090204" pitchFamily="34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4246960" y="475060"/>
            <a:ext cx="1928813" cy="535781"/>
          </a:xfrm>
          <a:prstGeom prst="wedgeRoundRectCallout">
            <a:avLst>
              <a:gd name="adj1" fmla="val -53236"/>
              <a:gd name="adj2" fmla="val 139181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</a:rPr>
              <a:t>不可少！！！</a:t>
            </a:r>
            <a:endParaRPr lang="zh-CN" altLang="en-US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67050" y="1273969"/>
            <a:ext cx="1071563" cy="428625"/>
          </a:xfrm>
          <a:prstGeom prst="rect">
            <a:avLst/>
          </a:prstGeom>
          <a:noFill/>
          <a:ln w="38100" cap="flat" cmpd="sng">
            <a:solidFill>
              <a:srgbClr val="9D138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27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3550444" y="2452688"/>
            <a:ext cx="1458516" cy="254794"/>
          </a:xfrm>
          <a:prstGeom prst="rightArrow">
            <a:avLst>
              <a:gd name="adj1" fmla="val 50000"/>
              <a:gd name="adj2" fmla="val 49928"/>
            </a:avLst>
          </a:prstGeom>
          <a:solidFill>
            <a:schemeClr val="accent1">
              <a:alpha val="89998"/>
            </a:schemeClr>
          </a:solidFill>
          <a:ln w="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t" anchorCtr="0"/>
          <a:p>
            <a:pPr>
              <a:buSzTx/>
            </a:pP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13747" y="2130029"/>
            <a:ext cx="1879997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90204" pitchFamily="34" charset="0"/>
              </a:rPr>
              <a:t>一定注意这里需要将</a:t>
            </a:r>
            <a:r>
              <a:rPr lang="en-US" altLang="zh-CN">
                <a:latin typeface="Arial" panose="020B0604020202090204" pitchFamily="34" charset="0"/>
              </a:rPr>
              <a:t>p</a:t>
            </a:r>
            <a:r>
              <a:rPr lang="zh-CN" altLang="en-US">
                <a:latin typeface="Arial" panose="020B0604020202090204" pitchFamily="34" charset="0"/>
              </a:rPr>
              <a:t>重新指向数组首元素</a:t>
            </a: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86613" y="2378869"/>
            <a:ext cx="442913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000" b="1">
                <a:latin typeface="Arial" panose="020B0604020202090204" pitchFamily="34" charset="0"/>
              </a:rPr>
              <a:t>？</a:t>
            </a:r>
            <a:endParaRPr lang="zh-CN" altLang="en-US" sz="3000" b="1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  <p:bldP spid="6" grpId="0" bldLvl="0" animBg="1"/>
      <p:bldP spid="3" grpId="0" bldLvl="0" animBg="1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内容占位符 2"/>
          <p:cNvSpPr>
            <a:spLocks noGrp="1"/>
          </p:cNvSpPr>
          <p:nvPr>
            <p:ph idx="1" hasCustomPrompt="1"/>
          </p:nvPr>
        </p:nvSpPr>
        <p:spPr>
          <a:xfrm>
            <a:off x="1465660" y="254794"/>
            <a:ext cx="6115050" cy="417909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sz="2100" dirty="0"/>
              <a:t>例</a:t>
            </a:r>
            <a:r>
              <a:rPr lang="zh-CN" altLang="en-US" sz="2100" dirty="0"/>
              <a:t>：</a:t>
            </a:r>
            <a:r>
              <a:rPr lang="zh-CN" altLang="zh-CN" sz="2100" dirty="0"/>
              <a:t>用指针方法对</a:t>
            </a:r>
            <a:r>
              <a:rPr lang="en-US" altLang="zh-CN" sz="2100" dirty="0"/>
              <a:t>10</a:t>
            </a:r>
            <a:r>
              <a:rPr lang="zh-CN" altLang="zh-CN" sz="2100" dirty="0"/>
              <a:t>个整数按由大到小顺序排序。</a:t>
            </a:r>
            <a:endParaRPr lang="en-US" altLang="zh-CN" sz="1800" dirty="0"/>
          </a:p>
          <a:p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在主函数中定义数组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存放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个整数，定义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int *</a:t>
            </a:r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型指针变量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指向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a[0]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定义函数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sort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使数组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中的元素按由大到小的顺序排列</a:t>
            </a:r>
            <a:endParaRPr lang="en-US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在主函数中调用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sort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函数，用指针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作实参</a:t>
            </a:r>
            <a:endParaRPr lang="en-US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用选择法进行排序</a:t>
            </a:r>
            <a:endParaRPr lang="zh-CN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889" name="内容占位符 2"/>
          <p:cNvSpPr>
            <a:spLocks noGrp="1"/>
          </p:cNvSpPr>
          <p:nvPr/>
        </p:nvSpPr>
        <p:spPr>
          <a:xfrm>
            <a:off x="1700213" y="1962230"/>
            <a:ext cx="5743575" cy="2571750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#include &lt;stdio.h&gt;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int main()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{ void sort(int x[ ],int n);  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int i,*p,a[10];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p=a;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for(i=0;i&lt;10;i++)  scanf(“%d”,p++);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p=a;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sort(p,10);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for(p=a,i=0;i&lt;10;i++)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{ printf(“%d ”,*p);   p++;   }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printf("\n");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return 0;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fontAlgn="auto" hangingPunct="0">
              <a:lnSpc>
                <a:spcPts val="1800"/>
              </a:lnSpc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}</a:t>
            </a:r>
            <a:endParaRPr lang="en-US" altLang="zh-CN" sz="135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内容占位符 2"/>
          <p:cNvSpPr>
            <a:spLocks noGrp="1"/>
          </p:cNvSpPr>
          <p:nvPr>
            <p:ph idx="1" hasCustomPrompt="1"/>
          </p:nvPr>
        </p:nvSpPr>
        <p:spPr>
          <a:xfrm>
            <a:off x="1518047" y="642938"/>
            <a:ext cx="5840015" cy="4018360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void sort(int x[],int n)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int i,j,k,t;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for(i=0;i&lt;n-1;i++)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{ k=i;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for(j=i+1;j&lt;n;j++)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if(x[j]&gt;x[k]) k=j;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   if(k!=i)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	    { t=x[i];x[i]=x[k];x[k]=t; 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zh-CN" altLang="zh-CN" sz="2100" dirty="0"/>
          </a:p>
        </p:txBody>
      </p:sp>
      <p:grpSp>
        <p:nvGrpSpPr>
          <p:cNvPr id="2" name="组合 4"/>
          <p:cNvGrpSpPr/>
          <p:nvPr/>
        </p:nvGrpSpPr>
        <p:grpSpPr>
          <a:xfrm>
            <a:off x="1785938" y="4393406"/>
            <a:ext cx="4386263" cy="563166"/>
            <a:chOff x="2416332" y="5357826"/>
            <a:chExt cx="5848986" cy="750936"/>
          </a:xfrm>
        </p:grpSpPr>
        <p:pic>
          <p:nvPicPr>
            <p:cNvPr id="39939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28860" y="5357826"/>
              <a:ext cx="5836458" cy="4095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9940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6332" y="5727542"/>
              <a:ext cx="5835600" cy="38122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" name="圆角矩形标注 5"/>
          <p:cNvSpPr/>
          <p:nvPr/>
        </p:nvSpPr>
        <p:spPr bwMode="auto">
          <a:xfrm>
            <a:off x="4143375" y="107156"/>
            <a:ext cx="3536156" cy="428625"/>
          </a:xfrm>
          <a:prstGeom prst="wedgeRoundRectCallout">
            <a:avLst>
              <a:gd name="adj1" fmla="val -32246"/>
              <a:gd name="adj2" fmla="val 9359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sort(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x,int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n)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3768329" y="1714500"/>
            <a:ext cx="3964781" cy="428625"/>
          </a:xfrm>
          <a:prstGeom prst="wedgeRoundRectCallout">
            <a:avLst>
              <a:gd name="adj1" fmla="val -32246"/>
              <a:gd name="adj2" fmla="val 9359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(*(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x+j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)&gt;*(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x+k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)) k=j;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1709738" y="3911204"/>
            <a:ext cx="6184106" cy="428625"/>
          </a:xfrm>
          <a:prstGeom prst="wedgeRoundRectCallout">
            <a:avLst>
              <a:gd name="adj1" fmla="val -22394"/>
              <a:gd name="adj2" fmla="val -99167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{t=*(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x+i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);*(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x+i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)=*(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x+k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);*(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x+k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)=t;}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指针与二维数组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文本框 1"/>
          <p:cNvSpPr txBox="1"/>
          <p:nvPr/>
        </p:nvSpPr>
        <p:spPr>
          <a:xfrm>
            <a:off x="1525191" y="707231"/>
            <a:ext cx="4407694" cy="299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>
                <a:latin typeface="Arial" panose="020B0604020202090204" pitchFamily="34" charset="0"/>
                <a:ea typeface="宋体" pitchFamily="2" charset="-122"/>
              </a:rPr>
              <a:t>例：</a:t>
            </a:r>
            <a:r>
              <a:rPr lang="en-US" altLang="zh-CN" sz="1350">
                <a:latin typeface="Arial" panose="020B0604020202090204" pitchFamily="34" charset="0"/>
              </a:rPr>
              <a:t>int a[3][4]={1,3,5,7,9,11,13,15,17,19,21,23}</a:t>
            </a: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43010" name="文本框 3"/>
          <p:cNvSpPr txBox="1"/>
          <p:nvPr/>
        </p:nvSpPr>
        <p:spPr>
          <a:xfrm>
            <a:off x="1525191" y="431006"/>
            <a:ext cx="4566047" cy="299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>
                <a:latin typeface="Arial" panose="020B0604020202090204" pitchFamily="34" charset="0"/>
                <a:ea typeface="宋体" pitchFamily="2" charset="-122"/>
              </a:rPr>
              <a:t>我们以二维的方式理解二维数组，它在存储时却是一维的。</a:t>
            </a:r>
            <a:endParaRPr lang="zh-CN" altLang="en-US" sz="13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3033" name="右箭头 5"/>
          <p:cNvSpPr/>
          <p:nvPr/>
        </p:nvSpPr>
        <p:spPr>
          <a:xfrm>
            <a:off x="3492104" y="1869281"/>
            <a:ext cx="901303" cy="214313"/>
          </a:xfrm>
          <a:prstGeom prst="rightArrow">
            <a:avLst>
              <a:gd name="adj1" fmla="val 50000"/>
              <a:gd name="adj2" fmla="val 49668"/>
            </a:avLst>
          </a:prstGeom>
          <a:solidFill>
            <a:schemeClr val="accent1">
              <a:alpha val="89998"/>
            </a:schemeClr>
          </a:solidFill>
          <a:ln w="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t" anchorCtr="0"/>
          <a:p>
            <a:pPr>
              <a:buSzTx/>
            </a:pP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99235" y="1316831"/>
            <a:ext cx="995363" cy="575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二维数组在物理内存中实际存储是一维的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3063" name="文本框 8"/>
          <p:cNvSpPr txBox="1"/>
          <p:nvPr/>
        </p:nvSpPr>
        <p:spPr>
          <a:xfrm>
            <a:off x="5456317" y="628491"/>
            <a:ext cx="167878" cy="299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a</a:t>
            </a:r>
            <a:endParaRPr lang="en-US" altLang="zh-CN" sz="1350">
              <a:latin typeface="Arial" panose="020B0604020202090204" pitchFamily="34" charset="0"/>
            </a:endParaRPr>
          </a:p>
        </p:txBody>
      </p:sp>
      <p:cxnSp>
        <p:nvCxnSpPr>
          <p:cNvPr id="43064" name="直接箭头连接符 9"/>
          <p:cNvCxnSpPr/>
          <p:nvPr/>
        </p:nvCxnSpPr>
        <p:spPr>
          <a:xfrm>
            <a:off x="5757704" y="778590"/>
            <a:ext cx="485775" cy="0"/>
          </a:xfrm>
          <a:prstGeom prst="straightConnector1">
            <a:avLst/>
          </a:prstGeom>
          <a:ln w="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9" name="左箭头 18"/>
          <p:cNvSpPr/>
          <p:nvPr/>
        </p:nvSpPr>
        <p:spPr>
          <a:xfrm>
            <a:off x="7461726" y="1620441"/>
            <a:ext cx="216694" cy="161925"/>
          </a:xfrm>
          <a:prstGeom prst="leftArrow">
            <a:avLst>
              <a:gd name="adj1" fmla="val 50000"/>
              <a:gd name="adj2" fmla="val 50084"/>
            </a:avLst>
          </a:prstGeom>
          <a:solidFill>
            <a:schemeClr val="accent1">
              <a:alpha val="89998"/>
            </a:schemeClr>
          </a:solidFill>
          <a:ln w="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t" anchorCtr="0"/>
          <a:p>
            <a:pPr>
              <a:buSzTx/>
            </a:pP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47092" y="1512094"/>
            <a:ext cx="995363" cy="414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数组名为</a:t>
            </a:r>
            <a:r>
              <a:rPr lang="en-US" altLang="zh-CN" sz="1050">
                <a:latin typeface="Arial" panose="020B0604020202090204" pitchFamily="34" charset="0"/>
              </a:rPr>
              <a:t>a[0]</a:t>
            </a:r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的一维数组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1" name="左箭头 20"/>
          <p:cNvSpPr/>
          <p:nvPr/>
        </p:nvSpPr>
        <p:spPr>
          <a:xfrm>
            <a:off x="7452836" y="2780110"/>
            <a:ext cx="216694" cy="161925"/>
          </a:xfrm>
          <a:prstGeom prst="leftArrow">
            <a:avLst>
              <a:gd name="adj1" fmla="val 50000"/>
              <a:gd name="adj2" fmla="val 50084"/>
            </a:avLst>
          </a:prstGeom>
          <a:solidFill>
            <a:schemeClr val="accent1">
              <a:alpha val="89998"/>
            </a:schemeClr>
          </a:solidFill>
          <a:ln w="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t" anchorCtr="0"/>
          <a:p>
            <a:pPr>
              <a:buSzTx/>
            </a:pP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48362" y="2671763"/>
            <a:ext cx="995363" cy="414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数组名为</a:t>
            </a:r>
            <a:r>
              <a:rPr lang="en-US" altLang="zh-CN" sz="1050">
                <a:latin typeface="Arial" panose="020B0604020202090204" pitchFamily="34" charset="0"/>
              </a:rPr>
              <a:t>a[1]</a:t>
            </a:r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的一维数组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3" name="左箭头 22"/>
          <p:cNvSpPr/>
          <p:nvPr/>
        </p:nvSpPr>
        <p:spPr>
          <a:xfrm>
            <a:off x="7461726" y="3894535"/>
            <a:ext cx="216694" cy="161925"/>
          </a:xfrm>
          <a:prstGeom prst="leftArrow">
            <a:avLst>
              <a:gd name="adj1" fmla="val 50000"/>
              <a:gd name="adj2" fmla="val 50084"/>
            </a:avLst>
          </a:prstGeom>
          <a:solidFill>
            <a:schemeClr val="accent1">
              <a:alpha val="89998"/>
            </a:schemeClr>
          </a:solidFill>
          <a:ln w="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t" anchorCtr="0"/>
          <a:p>
            <a:pPr>
              <a:buSzTx/>
            </a:pP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846457" y="3759518"/>
            <a:ext cx="995363" cy="414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数组名为</a:t>
            </a:r>
            <a:r>
              <a:rPr lang="en-US" altLang="zh-CN" sz="1050">
                <a:latin typeface="Arial" panose="020B0604020202090204" pitchFamily="34" charset="0"/>
              </a:rPr>
              <a:t>a[2]</a:t>
            </a:r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的一维数组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34729" y="2855119"/>
            <a:ext cx="2758678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实际上，这个二维数组可以被看成是只有</a:t>
            </a:r>
            <a:r>
              <a:rPr lang="en-US" altLang="zh-CN" sz="1200">
                <a:latin typeface="Arial" panose="020B0604020202090204" pitchFamily="34" charset="0"/>
              </a:rPr>
              <a:t>a[0]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、</a:t>
            </a:r>
            <a:r>
              <a:rPr lang="en-US" altLang="zh-CN" sz="1200">
                <a:latin typeface="Arial" panose="020B0604020202090204" pitchFamily="34" charset="0"/>
              </a:rPr>
              <a:t>a[1]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、</a:t>
            </a:r>
            <a:r>
              <a:rPr lang="en-US" altLang="zh-CN" sz="1200">
                <a:latin typeface="Arial" panose="020B0604020202090204" pitchFamily="34" charset="0"/>
              </a:rPr>
              <a:t>a[2]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三个元素。每个元素都是一个包含了四个整数的一维数组。</a:t>
            </a:r>
            <a:endParaRPr lang="zh-CN" altLang="en-US" sz="12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49630" y="1252220"/>
            <a:ext cx="2187575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200">
                <a:latin typeface="Arial" panose="020B0604020202090204" pitchFamily="34" charset="0"/>
              </a:rPr>
              <a:t>a[0][0]   a[0][1]  a[0][2]  a[0][3]</a:t>
            </a:r>
            <a:endParaRPr lang="en-US" altLang="zh-CN" sz="1200">
              <a:latin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49630" y="1685608"/>
            <a:ext cx="2187575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200">
                <a:latin typeface="Arial" panose="020B0604020202090204" pitchFamily="34" charset="0"/>
              </a:rPr>
              <a:t>a[1][0]   a[1][1]  a[1][2]  a[1][3]</a:t>
            </a:r>
            <a:endParaRPr lang="en-US" altLang="zh-CN" sz="1200">
              <a:latin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49630" y="2087245"/>
            <a:ext cx="2187575" cy="274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200">
                <a:latin typeface="Arial" panose="020B0604020202090204" pitchFamily="34" charset="0"/>
              </a:rPr>
              <a:t>a[2][0]   a[2][1]  a[2][2]  a[2][3]</a:t>
            </a:r>
            <a:endParaRPr lang="en-US" altLang="zh-CN" sz="1200">
              <a:latin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849630" y="1221105"/>
          <a:ext cx="218821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865"/>
                <a:gridCol w="551815"/>
                <a:gridCol w="485140"/>
                <a:gridCol w="5803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5"/>
            </p:custDataLst>
          </p:nvPr>
        </p:nvGraphicFramePr>
        <p:xfrm>
          <a:off x="6376670" y="754380"/>
          <a:ext cx="8845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5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381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381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6435725" y="3629343"/>
            <a:ext cx="833438" cy="1578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2900"/>
              </a:lnSpc>
            </a:pP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a[2]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[0]</a:t>
            </a:r>
            <a:endParaRPr lang="en-US" altLang="zh-CN" sz="1600">
              <a:latin typeface="Arial" panose="020B0604020202090204" pitchFamily="34" charset="0"/>
              <a:sym typeface="宋体" pitchFamily="2" charset="-122"/>
            </a:endParaRPr>
          </a:p>
          <a:p>
            <a:pPr>
              <a:lnSpc>
                <a:spcPts val="2900"/>
              </a:lnSpc>
            </a:pP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a[2]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[1]  </a:t>
            </a:r>
            <a:endParaRPr lang="en-US" altLang="zh-CN" sz="1600">
              <a:latin typeface="Arial" panose="020B0604020202090204" pitchFamily="34" charset="0"/>
              <a:sym typeface="宋体" pitchFamily="2" charset="-122"/>
            </a:endParaRPr>
          </a:p>
          <a:p>
            <a:pPr>
              <a:lnSpc>
                <a:spcPts val="2900"/>
              </a:lnSpc>
            </a:pP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a[2]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[2] </a:t>
            </a:r>
            <a:endParaRPr lang="en-US" altLang="zh-CN" sz="1600">
              <a:latin typeface="Arial" panose="020B0604020202090204" pitchFamily="34" charset="0"/>
              <a:sym typeface="宋体" pitchFamily="2" charset="-122"/>
            </a:endParaRPr>
          </a:p>
          <a:p>
            <a:pPr>
              <a:lnSpc>
                <a:spcPts val="2900"/>
              </a:lnSpc>
            </a:pP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a[2]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[3]</a:t>
            </a:r>
            <a:endParaRPr lang="en-US" altLang="zh-CN" sz="1600">
              <a:latin typeface="Arial" panose="020B0604020202090204" pitchFamily="34" charset="0"/>
              <a:sym typeface="宋体" pitchFamily="2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435725" y="2181225"/>
            <a:ext cx="833438" cy="1578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2900"/>
              </a:lnSpc>
            </a:pP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a[1]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[0]   </a:t>
            </a: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a[1]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[1]  </a:t>
            </a: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a[1]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[2]  </a:t>
            </a: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  <a:sym typeface="宋体" pitchFamily="2" charset="-122"/>
              </a:rPr>
              <a:t>a[1]</a:t>
            </a:r>
            <a:r>
              <a:rPr lang="en-US" altLang="zh-CN" sz="1600">
                <a:latin typeface="Arial" panose="020B0604020202090204" pitchFamily="34" charset="0"/>
                <a:sym typeface="宋体" pitchFamily="2" charset="-122"/>
              </a:rPr>
              <a:t>[3]</a:t>
            </a:r>
            <a:endParaRPr lang="en-US" altLang="zh-CN" sz="1600">
              <a:latin typeface="Arial" panose="020B0604020202090204" pitchFamily="34" charset="0"/>
              <a:sym typeface="宋体" pitchFamily="2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6435725" y="709930"/>
            <a:ext cx="833438" cy="1578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2900"/>
              </a:lnSpc>
            </a:pP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</a:rPr>
              <a:t>a[0]</a:t>
            </a:r>
            <a:r>
              <a:rPr lang="en-US" altLang="zh-CN" sz="1600">
                <a:latin typeface="Arial" panose="020B0604020202090204" pitchFamily="34" charset="0"/>
              </a:rPr>
              <a:t>[0]   </a:t>
            </a: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</a:rPr>
              <a:t>a[0]</a:t>
            </a:r>
            <a:r>
              <a:rPr lang="en-US" altLang="zh-CN" sz="1600">
                <a:latin typeface="Arial" panose="020B0604020202090204" pitchFamily="34" charset="0"/>
              </a:rPr>
              <a:t>[1]  </a:t>
            </a: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</a:rPr>
              <a:t>a[0]</a:t>
            </a:r>
            <a:r>
              <a:rPr lang="en-US" altLang="zh-CN" sz="1600">
                <a:latin typeface="Arial" panose="020B0604020202090204" pitchFamily="34" charset="0"/>
              </a:rPr>
              <a:t>[2]  </a:t>
            </a:r>
            <a:r>
              <a:rPr lang="en-US" altLang="zh-CN" sz="1600">
                <a:solidFill>
                  <a:srgbClr val="FF0000"/>
                </a:solidFill>
                <a:latin typeface="Arial" panose="020B0604020202090204" pitchFamily="34" charset="0"/>
              </a:rPr>
              <a:t>a[0]</a:t>
            </a:r>
            <a:r>
              <a:rPr lang="en-US" altLang="zh-CN" sz="1600">
                <a:latin typeface="Arial" panose="020B0604020202090204" pitchFamily="34" charset="0"/>
              </a:rPr>
              <a:t>[3]</a:t>
            </a:r>
            <a:endParaRPr lang="en-US" altLang="zh-CN" sz="1600">
              <a:latin typeface="Arial" panose="020B0604020202090204" pitchFamily="34" charset="0"/>
              <a:sym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0" grpId="0"/>
      <p:bldP spid="22" grpId="0"/>
      <p:bldP spid="21" grpId="0" bldLvl="0" animBg="1"/>
      <p:bldP spid="24" grpId="0"/>
      <p:bldP spid="23" grpId="0" bldLvl="0" animBg="1"/>
      <p:bldP spid="25" grpId="0"/>
      <p:bldP spid="7" grpId="0"/>
      <p:bldP spid="2" grpId="0"/>
      <p:bldP spid="3" grpId="0"/>
      <p:bldP spid="4" grpId="0"/>
      <p:bldP spid="28" grpId="0"/>
      <p:bldP spid="27" grpId="0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文本框 3"/>
          <p:cNvSpPr txBox="1"/>
          <p:nvPr/>
        </p:nvSpPr>
        <p:spPr>
          <a:xfrm>
            <a:off x="1525191" y="431006"/>
            <a:ext cx="4566047" cy="299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>
                <a:latin typeface="Arial" panose="020B0604020202090204" pitchFamily="34" charset="0"/>
                <a:ea typeface="宋体" pitchFamily="2" charset="-122"/>
              </a:rPr>
              <a:t>把二维数组的每一行看成是一个一维数组。</a:t>
            </a:r>
            <a:endParaRPr lang="zh-CN" altLang="en-US" sz="1350">
              <a:latin typeface="Arial" panose="020B0604020202090204" pitchFamily="34" charset="0"/>
              <a:ea typeface="宋体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3100388" y="1485900"/>
          <a:ext cx="771525" cy="1729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5"/>
              </a:tblGrid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a[0]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 b="1">
                          <a:solidFill>
                            <a:schemeClr val="tx1"/>
                          </a:solidFill>
                          <a:sym typeface="+mn-ea"/>
                        </a:rPr>
                        <a:t>a[1]</a:t>
                      </a:r>
                      <a:endParaRPr lang="zh-CN" altLang="en-US" sz="1350" b="1"/>
                    </a:p>
                  </a:txBody>
                  <a:tcPr marL="68580" marR="68580" marT="34290" marB="3429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 b="1">
                          <a:solidFill>
                            <a:schemeClr val="tx1"/>
                          </a:solidFill>
                          <a:sym typeface="+mn-ea"/>
                        </a:rPr>
                        <a:t>a[2]</a:t>
                      </a:r>
                      <a:endParaRPr lang="zh-CN" altLang="en-US" sz="1350" b="1"/>
                    </a:p>
                  </a:txBody>
                  <a:tcPr marL="68580" marR="68580" marT="34290" marB="3429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4044" name="文本框 2"/>
          <p:cNvSpPr txBox="1"/>
          <p:nvPr/>
        </p:nvSpPr>
        <p:spPr>
          <a:xfrm>
            <a:off x="1393031" y="1950244"/>
            <a:ext cx="390525" cy="605790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p>
            <a:r>
              <a:rPr lang="zh-CN" altLang="en-US" sz="1350">
                <a:solidFill>
                  <a:srgbClr val="7030A0"/>
                </a:solidFill>
                <a:latin typeface="Arial" panose="020B0604020202090204" pitchFamily="34" charset="0"/>
                <a:ea typeface="宋体" pitchFamily="2" charset="-122"/>
              </a:rPr>
              <a:t>行指针</a:t>
            </a:r>
            <a:endParaRPr lang="zh-CN" altLang="en-US" sz="1350">
              <a:solidFill>
                <a:srgbClr val="7030A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4045" name="文本框 4"/>
          <p:cNvSpPr txBox="1"/>
          <p:nvPr/>
        </p:nvSpPr>
        <p:spPr>
          <a:xfrm>
            <a:off x="1960960" y="841772"/>
            <a:ext cx="86868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350">
                <a:solidFill>
                  <a:srgbClr val="7030A0"/>
                </a:solidFill>
                <a:latin typeface="Arial" panose="020B0604020202090204" pitchFamily="34" charset="0"/>
                <a:ea typeface="宋体" pitchFamily="2" charset="-122"/>
              </a:rPr>
              <a:t>地址常量</a:t>
            </a:r>
            <a:endParaRPr lang="zh-CN" altLang="en-US" sz="1350">
              <a:solidFill>
                <a:srgbClr val="7030A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4046" name="文本框 5"/>
          <p:cNvSpPr txBox="1"/>
          <p:nvPr/>
        </p:nvSpPr>
        <p:spPr>
          <a:xfrm>
            <a:off x="3074194" y="841772"/>
            <a:ext cx="86868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350">
                <a:solidFill>
                  <a:srgbClr val="7030A0"/>
                </a:solidFill>
                <a:latin typeface="Arial" panose="020B0604020202090204" pitchFamily="34" charset="0"/>
                <a:ea typeface="宋体" pitchFamily="2" charset="-122"/>
              </a:rPr>
              <a:t>地址常量</a:t>
            </a:r>
            <a:endParaRPr lang="zh-CN" altLang="en-US" sz="1350">
              <a:solidFill>
                <a:srgbClr val="7030A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4047" name="文本框 6"/>
          <p:cNvSpPr txBox="1"/>
          <p:nvPr/>
        </p:nvSpPr>
        <p:spPr>
          <a:xfrm>
            <a:off x="4245769" y="841772"/>
            <a:ext cx="69723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350">
                <a:solidFill>
                  <a:srgbClr val="7030A0"/>
                </a:solidFill>
                <a:latin typeface="Arial" panose="020B0604020202090204" pitchFamily="34" charset="0"/>
                <a:ea typeface="宋体" pitchFamily="2" charset="-122"/>
              </a:rPr>
              <a:t>列指针</a:t>
            </a:r>
            <a:endParaRPr lang="zh-CN" altLang="en-US" sz="1350">
              <a:solidFill>
                <a:srgbClr val="7030A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4048" name="文本框 7"/>
          <p:cNvSpPr txBox="1"/>
          <p:nvPr/>
        </p:nvSpPr>
        <p:spPr>
          <a:xfrm>
            <a:off x="6240066" y="791766"/>
            <a:ext cx="86868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350">
                <a:solidFill>
                  <a:srgbClr val="7030A0"/>
                </a:solidFill>
                <a:latin typeface="Arial" panose="020B0604020202090204" pitchFamily="34" charset="0"/>
                <a:ea typeface="宋体" pitchFamily="2" charset="-122"/>
              </a:rPr>
              <a:t>元素指针</a:t>
            </a:r>
            <a:endParaRPr lang="zh-CN" altLang="en-US" sz="1350">
              <a:solidFill>
                <a:srgbClr val="7030A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4049" name="文本框 8"/>
          <p:cNvSpPr txBox="1"/>
          <p:nvPr/>
        </p:nvSpPr>
        <p:spPr>
          <a:xfrm>
            <a:off x="2210991" y="1352550"/>
            <a:ext cx="27813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a</a:t>
            </a: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44050" name="文本框 9"/>
          <p:cNvSpPr txBox="1"/>
          <p:nvPr/>
        </p:nvSpPr>
        <p:spPr>
          <a:xfrm>
            <a:off x="2103835" y="1950244"/>
            <a:ext cx="47371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a+1</a:t>
            </a:r>
            <a:endParaRPr lang="en-US" altLang="zh-CN" sz="1350">
              <a:latin typeface="Arial" panose="020B0604020202090204" pitchFamily="34" charset="0"/>
            </a:endParaRPr>
          </a:p>
        </p:txBody>
      </p:sp>
      <p:sp>
        <p:nvSpPr>
          <p:cNvPr id="44051" name="文本框 10"/>
          <p:cNvSpPr txBox="1"/>
          <p:nvPr/>
        </p:nvSpPr>
        <p:spPr>
          <a:xfrm>
            <a:off x="2083594" y="2483644"/>
            <a:ext cx="47371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a+2</a:t>
            </a:r>
            <a:endParaRPr lang="en-US" altLang="zh-CN" sz="1350">
              <a:latin typeface="Arial" panose="020B0604020202090204" pitchFamily="34" charset="0"/>
            </a:endParaRPr>
          </a:p>
        </p:txBody>
      </p:sp>
      <p:cxnSp>
        <p:nvCxnSpPr>
          <p:cNvPr id="44052" name="直接箭头连接符 11"/>
          <p:cNvCxnSpPr/>
          <p:nvPr/>
        </p:nvCxnSpPr>
        <p:spPr>
          <a:xfrm>
            <a:off x="2443163" y="1484710"/>
            <a:ext cx="671513" cy="7144"/>
          </a:xfrm>
          <a:prstGeom prst="straightConnector1">
            <a:avLst/>
          </a:prstGeom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4053" name="直接箭头连接符 12"/>
          <p:cNvCxnSpPr/>
          <p:nvPr/>
        </p:nvCxnSpPr>
        <p:spPr>
          <a:xfrm>
            <a:off x="2512219" y="2068116"/>
            <a:ext cx="561975" cy="119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4054" name="直接箭头连接符 13"/>
          <p:cNvCxnSpPr/>
          <p:nvPr/>
        </p:nvCxnSpPr>
        <p:spPr>
          <a:xfrm>
            <a:off x="2538413" y="2620566"/>
            <a:ext cx="561975" cy="119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graphicFrame>
        <p:nvGraphicFramePr>
          <p:cNvPr id="16" name="表格 15"/>
          <p:cNvGraphicFramePr/>
          <p:nvPr/>
        </p:nvGraphicFramePr>
        <p:xfrm>
          <a:off x="4504135" y="1790700"/>
          <a:ext cx="2872740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185"/>
                <a:gridCol w="718185"/>
                <a:gridCol w="718185"/>
                <a:gridCol w="718185"/>
              </a:tblGrid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a[0][0]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a[0][1]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a[0][2]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a[0][3]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067" name="文本框 16"/>
          <p:cNvSpPr txBox="1"/>
          <p:nvPr/>
        </p:nvSpPr>
        <p:spPr>
          <a:xfrm>
            <a:off x="4262755" y="1370330"/>
            <a:ext cx="680085" cy="2813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zh-CN" sz="1050">
                <a:latin typeface="Arial" panose="020B0604020202090204" pitchFamily="34" charset="0"/>
              </a:rPr>
              <a:t>*(a+0)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4504135" y="1593056"/>
            <a:ext cx="3572" cy="16787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18"/>
          <p:cNvGraphicFramePr/>
          <p:nvPr/>
        </p:nvGraphicFramePr>
        <p:xfrm>
          <a:off x="4504135" y="2422922"/>
          <a:ext cx="2872740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185"/>
                <a:gridCol w="718185"/>
                <a:gridCol w="718185"/>
                <a:gridCol w="718185"/>
              </a:tblGrid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a[1][0]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a[1][1]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a[1][2]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a[1][3]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0" name="直接箭头连接符 19"/>
          <p:cNvCxnSpPr/>
          <p:nvPr/>
        </p:nvCxnSpPr>
        <p:spPr>
          <a:xfrm flipH="1">
            <a:off x="4504135" y="2278856"/>
            <a:ext cx="3572" cy="1690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082" name="文本框 20"/>
          <p:cNvSpPr txBox="1"/>
          <p:nvPr/>
        </p:nvSpPr>
        <p:spPr>
          <a:xfrm>
            <a:off x="4245610" y="2076450"/>
            <a:ext cx="619760" cy="3467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zh-CN" sz="1050">
                <a:latin typeface="Arial" panose="020B0604020202090204" pitchFamily="34" charset="0"/>
              </a:rPr>
              <a:t>*(a+1)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4507706" y="2982516"/>
          <a:ext cx="2872740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185"/>
                <a:gridCol w="718185"/>
                <a:gridCol w="718185"/>
                <a:gridCol w="718185"/>
              </a:tblGrid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a[2][0]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a[2][1]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a[2][2]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  <a:sym typeface="+mn-ea"/>
                        </a:rPr>
                        <a:t>a[2][3]</a:t>
                      </a:r>
                      <a:endParaRPr lang="en-US" altLang="zh-CN" sz="135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/>
          <p:nvPr/>
        </p:nvCxnSpPr>
        <p:spPr>
          <a:xfrm>
            <a:off x="4518422" y="2797969"/>
            <a:ext cx="7144" cy="16430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096" name="文本框 23"/>
          <p:cNvSpPr txBox="1"/>
          <p:nvPr/>
        </p:nvSpPr>
        <p:spPr>
          <a:xfrm>
            <a:off x="4245610" y="2675255"/>
            <a:ext cx="620395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zh-CN" sz="1050">
                <a:latin typeface="Arial" panose="020B0604020202090204" pitchFamily="34" charset="0"/>
              </a:rPr>
              <a:t>*(a+2)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44097" name="直接箭头连接符 24"/>
          <p:cNvCxnSpPr/>
          <p:nvPr/>
        </p:nvCxnSpPr>
        <p:spPr>
          <a:xfrm>
            <a:off x="3654029" y="1790700"/>
            <a:ext cx="850106" cy="0"/>
          </a:xfrm>
          <a:prstGeom prst="straightConnector1">
            <a:avLst/>
          </a:prstGeom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4098" name="直接箭头连接符 25"/>
          <p:cNvCxnSpPr/>
          <p:nvPr/>
        </p:nvCxnSpPr>
        <p:spPr>
          <a:xfrm>
            <a:off x="3661172" y="2422922"/>
            <a:ext cx="850106" cy="0"/>
          </a:xfrm>
          <a:prstGeom prst="straightConnector1">
            <a:avLst/>
          </a:prstGeom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4099" name="直接箭头连接符 26"/>
          <p:cNvCxnSpPr/>
          <p:nvPr/>
        </p:nvCxnSpPr>
        <p:spPr>
          <a:xfrm>
            <a:off x="3654029" y="2976563"/>
            <a:ext cx="850106" cy="0"/>
          </a:xfrm>
          <a:prstGeom prst="straightConnector1">
            <a:avLst/>
          </a:prstGeom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4100" name="文本框 27"/>
          <p:cNvSpPr txBox="1"/>
          <p:nvPr/>
        </p:nvSpPr>
        <p:spPr>
          <a:xfrm>
            <a:off x="4325620" y="3536315"/>
            <a:ext cx="539750" cy="3314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zh-CN" sz="1050">
                <a:latin typeface="Arial" panose="020B0604020202090204" pitchFamily="34" charset="0"/>
              </a:rPr>
              <a:t>a[2]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4518422" y="3327797"/>
            <a:ext cx="0" cy="2155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102" name="文本框 29"/>
          <p:cNvSpPr txBox="1"/>
          <p:nvPr/>
        </p:nvSpPr>
        <p:spPr>
          <a:xfrm>
            <a:off x="6293644" y="1352550"/>
            <a:ext cx="716756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*(a+0)+3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6652022" y="1545431"/>
            <a:ext cx="0" cy="2155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104" name="文本框 31"/>
          <p:cNvSpPr txBox="1"/>
          <p:nvPr/>
        </p:nvSpPr>
        <p:spPr>
          <a:xfrm>
            <a:off x="5650706" y="2675335"/>
            <a:ext cx="751285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*(a+2)+2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5950744" y="2824163"/>
            <a:ext cx="20241" cy="15835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106" name="文本框 34"/>
          <p:cNvSpPr txBox="1"/>
          <p:nvPr/>
        </p:nvSpPr>
        <p:spPr>
          <a:xfrm>
            <a:off x="5681663" y="3484960"/>
            <a:ext cx="689372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a[2]+2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5941219" y="3268266"/>
            <a:ext cx="0" cy="21669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108" name="文本框 36"/>
          <p:cNvSpPr txBox="1"/>
          <p:nvPr/>
        </p:nvSpPr>
        <p:spPr>
          <a:xfrm>
            <a:off x="7010400" y="2050256"/>
            <a:ext cx="715566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*(a+1)+4</a:t>
            </a:r>
            <a:endParaRPr lang="en-US" altLang="zh-CN" sz="1050">
              <a:latin typeface="Arial" panose="020B0604020202090204" pitchFamily="34" charset="0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7367588" y="2243138"/>
            <a:ext cx="0" cy="2155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155281" y="4060031"/>
            <a:ext cx="1343025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*(a[2])</a:t>
            </a:r>
            <a:r>
              <a:rPr lang="zh-CN" altLang="en-US" sz="1050">
                <a:latin typeface="Arial" panose="020B0604020202090204" pitchFamily="34" charset="0"/>
                <a:ea typeface="宋体" pitchFamily="2" charset="-122"/>
              </a:rPr>
              <a:t>或者</a:t>
            </a:r>
            <a:r>
              <a:rPr lang="en-US" altLang="zh-CN" sz="1050">
                <a:latin typeface="Arial" panose="020B0604020202090204" pitchFamily="34" charset="0"/>
              </a:rPr>
              <a:t>*(a[2]+0)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1238" y="4060031"/>
            <a:ext cx="735806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  <a:sym typeface="宋体" pitchFamily="2" charset="-122"/>
              </a:rPr>
              <a:t>*(a[2]+2)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6293644" y="3219450"/>
            <a:ext cx="60722" cy="864394"/>
          </a:xfrm>
          <a:prstGeom prst="straightConnector1">
            <a:avLst/>
          </a:prstGeom>
          <a:ln w="19050" cap="flat" cmpd="sng">
            <a:solidFill>
              <a:srgbClr val="6600FF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 flipH="1" flipV="1">
            <a:off x="4800600" y="3214688"/>
            <a:ext cx="150019" cy="869156"/>
          </a:xfrm>
          <a:prstGeom prst="straightConnector1">
            <a:avLst/>
          </a:prstGeom>
          <a:ln w="19050" cap="flat" cmpd="sng">
            <a:solidFill>
              <a:srgbClr val="6600FF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7" name="文本框 6"/>
          <p:cNvSpPr txBox="1"/>
          <p:nvPr/>
        </p:nvSpPr>
        <p:spPr>
          <a:xfrm>
            <a:off x="6918722" y="373856"/>
            <a:ext cx="869156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  <a:sym typeface="宋体" pitchFamily="2" charset="-122"/>
              </a:rPr>
              <a:t>*(*(a+0)+3)</a:t>
            </a:r>
            <a:endParaRPr lang="zh-CN" altLang="en-US" sz="1050">
              <a:latin typeface="Arial" panose="020B0604020202090204" pitchFamily="34" charset="0"/>
              <a:ea typeface="宋体" pitchFamily="2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7055644" y="573881"/>
            <a:ext cx="270272" cy="1295400"/>
          </a:xfrm>
          <a:prstGeom prst="straightConnector1">
            <a:avLst/>
          </a:prstGeom>
          <a:ln w="19050" cap="flat" cmpd="sng">
            <a:solidFill>
              <a:srgbClr val="6600FF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1475185" y="4338638"/>
            <a:ext cx="2636044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200" b="1">
                <a:latin typeface="Arial" panose="020B0604020202090204" pitchFamily="34" charset="0"/>
              </a:rPr>
              <a:t>*(*(a+i)+j)</a:t>
            </a:r>
            <a:r>
              <a:rPr lang="zh-CN" altLang="en-US" sz="1200" b="1">
                <a:latin typeface="Arial" panose="020B0604020202090204" pitchFamily="34" charset="0"/>
                <a:ea typeface="宋体" pitchFamily="2" charset="-122"/>
              </a:rPr>
              <a:t> </a:t>
            </a:r>
            <a:r>
              <a:rPr lang="en-US" altLang="zh-CN" sz="1200" b="1">
                <a:latin typeface="Arial" panose="020B0604020202090204" pitchFamily="34" charset="0"/>
              </a:rPr>
              <a:t>== </a:t>
            </a:r>
            <a:r>
              <a:rPr lang="en-US" altLang="zh-CN" sz="1200" b="1">
                <a:latin typeface="Arial" panose="020B0604020202090204" pitchFamily="34" charset="0"/>
                <a:sym typeface="宋体" pitchFamily="2" charset="-122"/>
              </a:rPr>
              <a:t>*(a[i]+j) == a[i][j]</a:t>
            </a:r>
            <a:endParaRPr lang="en-US" altLang="zh-CN" sz="1200" b="1">
              <a:latin typeface="Arial" panose="020B0604020202090204" pitchFamily="34" charset="0"/>
              <a:sym typeface="宋体" pitchFamily="2" charset="-122"/>
            </a:endParaRP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821656" y="514350"/>
          <a:ext cx="517779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645"/>
                <a:gridCol w="885190"/>
                <a:gridCol w="3449955"/>
              </a:tblGrid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/>
                        <a:t>形式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/>
                        <a:t>性质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/>
                        <a:t>含义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</a:tr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/>
                        <a:t>a</a:t>
                      </a:r>
                      <a:endParaRPr lang="en-US" altLang="zh-CN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/>
                        <a:t>行指针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350"/>
                    </a:p>
                  </a:txBody>
                  <a:tcPr marL="68580" marR="68580" marT="34290" marB="34290"/>
                </a:tc>
              </a:tr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/>
                        <a:t>a+i</a:t>
                      </a:r>
                      <a:endParaRPr lang="en-US" altLang="zh-CN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行指针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350"/>
                    </a:p>
                  </a:txBody>
                  <a:tcPr marL="68580" marR="68580" marT="34290" marB="34290"/>
                </a:tc>
              </a:tr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/>
                        <a:t>*a</a:t>
                      </a:r>
                      <a:endParaRPr lang="en-US" altLang="zh-CN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列指针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350"/>
                    </a:p>
                  </a:txBody>
                  <a:tcPr marL="68580" marR="68580" marT="34290" marB="34290"/>
                </a:tc>
              </a:tr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/>
                        <a:t>*(a+i)</a:t>
                      </a:r>
                      <a:endParaRPr lang="en-US" altLang="zh-CN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>
                          <a:sym typeface="+mn-ea"/>
                        </a:rPr>
                        <a:t>列指针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350"/>
                    </a:p>
                  </a:txBody>
                  <a:tcPr marL="68580" marR="68580" marT="34290" marB="34290"/>
                </a:tc>
              </a:tr>
              <a:tr h="285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350"/>
                        <a:t>*(a+i)+j</a:t>
                      </a:r>
                      <a:endParaRPr lang="en-US" altLang="zh-CN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350"/>
                        <a:t>元素指针</a:t>
                      </a:r>
                      <a:endParaRPr lang="zh-CN" altLang="en-US" sz="135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35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5087" name="文本框 2"/>
          <p:cNvSpPr txBox="1"/>
          <p:nvPr/>
        </p:nvSpPr>
        <p:spPr>
          <a:xfrm>
            <a:off x="3590925" y="835819"/>
            <a:ext cx="340876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二维数组名，指向一维数组</a:t>
            </a:r>
            <a:r>
              <a:rPr lang="en-US" altLang="zh-CN" sz="1200">
                <a:latin typeface="Arial" panose="020B0604020202090204" pitchFamily="34" charset="0"/>
              </a:rPr>
              <a:t>a[0]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，相当于</a:t>
            </a:r>
            <a:r>
              <a:rPr lang="en-US" altLang="zh-CN" sz="1200">
                <a:latin typeface="Arial" panose="020B0604020202090204" pitchFamily="34" charset="0"/>
              </a:rPr>
              <a:t>&amp;a[0][0]</a:t>
            </a:r>
            <a:endParaRPr lang="en-US" altLang="zh-CN" sz="1200">
              <a:latin typeface="Arial" panose="020B0604020202090204" pitchFamily="34" charset="0"/>
            </a:endParaRPr>
          </a:p>
        </p:txBody>
      </p:sp>
      <p:sp>
        <p:nvSpPr>
          <p:cNvPr id="45088" name="文本框 3"/>
          <p:cNvSpPr txBox="1"/>
          <p:nvPr/>
        </p:nvSpPr>
        <p:spPr>
          <a:xfrm>
            <a:off x="3590925" y="1088231"/>
            <a:ext cx="340876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指向一维数组</a:t>
            </a:r>
            <a:r>
              <a:rPr lang="en-US" altLang="zh-CN" sz="1200">
                <a:latin typeface="Arial" panose="020B0604020202090204" pitchFamily="34" charset="0"/>
              </a:rPr>
              <a:t>a[i]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，相当于</a:t>
            </a:r>
            <a:r>
              <a:rPr lang="en-US" altLang="zh-CN" sz="1200">
                <a:latin typeface="Arial" panose="020B0604020202090204" pitchFamily="34" charset="0"/>
              </a:rPr>
              <a:t>&amp;a[i][0]</a:t>
            </a:r>
            <a:endParaRPr lang="en-US" altLang="zh-CN" sz="1200">
              <a:latin typeface="Arial" panose="020B0604020202090204" pitchFamily="34" charset="0"/>
            </a:endParaRPr>
          </a:p>
        </p:txBody>
      </p:sp>
      <p:sp>
        <p:nvSpPr>
          <p:cNvPr id="45089" name="文本框 4"/>
          <p:cNvSpPr txBox="1"/>
          <p:nvPr/>
        </p:nvSpPr>
        <p:spPr>
          <a:xfrm>
            <a:off x="3573066" y="1395413"/>
            <a:ext cx="3408759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也就是</a:t>
            </a:r>
            <a:r>
              <a:rPr lang="en-US" altLang="zh-CN" sz="1200">
                <a:latin typeface="Arial" panose="020B0604020202090204" pitchFamily="34" charset="0"/>
              </a:rPr>
              <a:t>*(a+0)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，指向第</a:t>
            </a:r>
            <a:r>
              <a:rPr lang="en-US" altLang="zh-CN" sz="1200">
                <a:latin typeface="Arial" panose="020B0604020202090204" pitchFamily="34" charset="0"/>
              </a:rPr>
              <a:t>0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行第</a:t>
            </a:r>
            <a:r>
              <a:rPr lang="en-US" altLang="zh-CN" sz="1200">
                <a:latin typeface="Arial" panose="020B0604020202090204" pitchFamily="34" charset="0"/>
              </a:rPr>
              <a:t>0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列，相当于</a:t>
            </a:r>
            <a:r>
              <a:rPr lang="en-US" altLang="zh-CN" sz="1200">
                <a:latin typeface="Arial" panose="020B0604020202090204" pitchFamily="34" charset="0"/>
              </a:rPr>
              <a:t>&amp;a[0][0]</a:t>
            </a:r>
            <a:endParaRPr lang="zh-CN" altLang="en-US" sz="12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5090" name="文本框 5"/>
          <p:cNvSpPr txBox="1"/>
          <p:nvPr/>
        </p:nvSpPr>
        <p:spPr>
          <a:xfrm>
            <a:off x="3590925" y="1647825"/>
            <a:ext cx="340876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指向第</a:t>
            </a:r>
            <a:r>
              <a:rPr lang="en-US" altLang="zh-CN" sz="1200">
                <a:latin typeface="Arial" panose="020B0604020202090204" pitchFamily="34" charset="0"/>
              </a:rPr>
              <a:t>i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行第</a:t>
            </a:r>
            <a:r>
              <a:rPr lang="en-US" altLang="zh-CN" sz="1200">
                <a:latin typeface="Arial" panose="020B0604020202090204" pitchFamily="34" charset="0"/>
              </a:rPr>
              <a:t>0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列，相当于</a:t>
            </a:r>
            <a:r>
              <a:rPr lang="en-US" altLang="zh-CN" sz="1200">
                <a:latin typeface="Arial" panose="020B0604020202090204" pitchFamily="34" charset="0"/>
                <a:sym typeface="宋体" pitchFamily="2" charset="-122"/>
              </a:rPr>
              <a:t>&amp;a[i][0]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  <a:sym typeface="宋体" pitchFamily="2" charset="-122"/>
              </a:rPr>
              <a:t>，相当于</a:t>
            </a:r>
            <a:r>
              <a:rPr lang="en-US" altLang="zh-CN" sz="1200">
                <a:latin typeface="Arial" panose="020B0604020202090204" pitchFamily="34" charset="0"/>
                <a:sym typeface="宋体" pitchFamily="2" charset="-122"/>
              </a:rPr>
              <a:t>a[i]</a:t>
            </a:r>
            <a:endParaRPr lang="en-US" altLang="zh-CN" sz="1200">
              <a:latin typeface="Arial" panose="020B0604020202090204" pitchFamily="34" charset="0"/>
              <a:sym typeface="宋体" pitchFamily="2" charset="-122"/>
            </a:endParaRPr>
          </a:p>
        </p:txBody>
      </p:sp>
      <p:sp>
        <p:nvSpPr>
          <p:cNvPr id="45091" name="文本框 6"/>
          <p:cNvSpPr txBox="1"/>
          <p:nvPr/>
        </p:nvSpPr>
        <p:spPr>
          <a:xfrm>
            <a:off x="3590925" y="1950244"/>
            <a:ext cx="3408760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指向第</a:t>
            </a:r>
            <a:r>
              <a:rPr lang="en-US" altLang="zh-CN" sz="1200">
                <a:latin typeface="Arial" panose="020B0604020202090204" pitchFamily="34" charset="0"/>
              </a:rPr>
              <a:t>i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行第</a:t>
            </a:r>
            <a:r>
              <a:rPr lang="en-US" altLang="zh-CN" sz="1200">
                <a:latin typeface="Arial" panose="020B0604020202090204" pitchFamily="34" charset="0"/>
              </a:rPr>
              <a:t>j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</a:rPr>
              <a:t>列，相当于</a:t>
            </a:r>
            <a:r>
              <a:rPr lang="en-US" altLang="zh-CN" sz="1200">
                <a:latin typeface="Arial" panose="020B0604020202090204" pitchFamily="34" charset="0"/>
                <a:sym typeface="宋体" pitchFamily="2" charset="-122"/>
              </a:rPr>
              <a:t>&amp;a[i][j]</a:t>
            </a:r>
            <a:r>
              <a:rPr lang="zh-CN" altLang="en-US" sz="1200">
                <a:latin typeface="Arial" panose="020B0604020202090204" pitchFamily="34" charset="0"/>
                <a:ea typeface="宋体" pitchFamily="2" charset="-122"/>
                <a:sym typeface="宋体" pitchFamily="2" charset="-122"/>
              </a:rPr>
              <a:t>，相当于</a:t>
            </a:r>
            <a:r>
              <a:rPr lang="en-US" altLang="zh-CN" sz="1200">
                <a:latin typeface="Arial" panose="020B0604020202090204" pitchFamily="34" charset="0"/>
                <a:sym typeface="宋体" pitchFamily="2" charset="-122"/>
              </a:rPr>
              <a:t>a[i]+j</a:t>
            </a:r>
            <a:endParaRPr lang="en-US" altLang="zh-CN" sz="1200">
              <a:latin typeface="Arial" panose="020B0604020202090204" pitchFamily="34" charset="0"/>
              <a:sym typeface="宋体" pitchFamily="2" charset="-122"/>
            </a:endParaRPr>
          </a:p>
        </p:txBody>
      </p:sp>
      <p:sp>
        <p:nvSpPr>
          <p:cNvPr id="45092" name="文本框 7"/>
          <p:cNvSpPr txBox="1"/>
          <p:nvPr/>
        </p:nvSpPr>
        <p:spPr>
          <a:xfrm>
            <a:off x="1785938" y="2450306"/>
            <a:ext cx="5670947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int a[3][4] = {1,3,5,7,9,11,13,15,17,19,21,23};</a:t>
            </a:r>
            <a:endParaRPr lang="en-US" altLang="zh-CN" sz="1350">
              <a:latin typeface="Arial" panose="020B0604020202090204" pitchFamily="34" charset="0"/>
            </a:endParaRPr>
          </a:p>
          <a:p>
            <a:r>
              <a:rPr lang="en-US" altLang="zh-CN" sz="1350">
                <a:latin typeface="Arial" panose="020B0604020202090204" pitchFamily="34" charset="0"/>
              </a:rPr>
              <a:t>int *p=a; </a:t>
            </a:r>
            <a:endParaRPr lang="zh-CN" altLang="en-US" sz="1200">
              <a:solidFill>
                <a:srgbClr val="FF00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5093" name="文本框 8"/>
          <p:cNvSpPr txBox="1"/>
          <p:nvPr/>
        </p:nvSpPr>
        <p:spPr>
          <a:xfrm>
            <a:off x="1793081" y="3119438"/>
            <a:ext cx="3598069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int a[3][4] = {1,3,5,7,9,11,13,15,17,19,21,23};</a:t>
            </a:r>
            <a:endParaRPr lang="en-US" altLang="zh-CN" sz="1350">
              <a:latin typeface="Arial" panose="020B0604020202090204" pitchFamily="34" charset="0"/>
            </a:endParaRPr>
          </a:p>
          <a:p>
            <a:r>
              <a:rPr lang="en-US" altLang="zh-CN" sz="1350">
                <a:latin typeface="Arial" panose="020B0604020202090204" pitchFamily="34" charset="0"/>
              </a:rPr>
              <a:t>int *p=a[0];     //</a:t>
            </a:r>
            <a:r>
              <a:rPr lang="zh-CN" altLang="en-US" sz="1350">
                <a:latin typeface="Arial" panose="020B0604020202090204" pitchFamily="34" charset="0"/>
                <a:ea typeface="宋体" pitchFamily="2" charset="-122"/>
              </a:rPr>
              <a:t>对</a:t>
            </a:r>
            <a:endParaRPr lang="zh-CN" altLang="en-US" sz="135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5094" name="文本框 9"/>
          <p:cNvSpPr txBox="1"/>
          <p:nvPr/>
        </p:nvSpPr>
        <p:spPr>
          <a:xfrm>
            <a:off x="1785938" y="3702844"/>
            <a:ext cx="3526631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350">
                <a:latin typeface="Arial" panose="020B0604020202090204" pitchFamily="34" charset="0"/>
              </a:rPr>
              <a:t>int a[3][4] = {1,3,5,7,9,11,13,15,17,19,21,23};</a:t>
            </a:r>
            <a:endParaRPr lang="en-US" altLang="zh-CN" sz="1350">
              <a:latin typeface="Arial" panose="020B0604020202090204" pitchFamily="34" charset="0"/>
            </a:endParaRPr>
          </a:p>
          <a:p>
            <a:r>
              <a:rPr lang="en-US" altLang="zh-CN" sz="1350">
                <a:latin typeface="Arial" panose="020B0604020202090204" pitchFamily="34" charset="0"/>
              </a:rPr>
              <a:t>int *p=&amp;a[0][0];     //</a:t>
            </a:r>
            <a:r>
              <a:rPr lang="zh-CN" altLang="en-US" sz="1350">
                <a:latin typeface="Arial" panose="020B0604020202090204" pitchFamily="34" charset="0"/>
                <a:ea typeface="宋体" pitchFamily="2" charset="-122"/>
              </a:rPr>
              <a:t>对</a:t>
            </a:r>
            <a:endParaRPr lang="zh-CN" altLang="en-US" sz="135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checker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指针与字符串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451372" y="207169"/>
            <a:ext cx="6115050" cy="407193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sz="1800" dirty="0"/>
              <a:t> </a:t>
            </a:r>
            <a:r>
              <a:rPr lang="zh-CN" altLang="zh-CN" sz="1800" dirty="0"/>
              <a:t>例</a:t>
            </a:r>
            <a:r>
              <a:rPr lang="zh-CN" altLang="en-US" sz="1800" dirty="0"/>
              <a:t>：</a:t>
            </a:r>
            <a:r>
              <a:rPr lang="en-US" altLang="zh-CN" sz="1800" dirty="0"/>
              <a:t> </a:t>
            </a:r>
            <a:r>
              <a:rPr lang="zh-CN" altLang="zh-CN" sz="1800" dirty="0"/>
              <a:t>定义一个字符数组，在其中存放字符串“</a:t>
            </a:r>
            <a:r>
              <a:rPr lang="en-US" altLang="zh-CN" sz="1800" dirty="0"/>
              <a:t>I love China!</a:t>
            </a:r>
            <a:r>
              <a:rPr lang="zh-CN" altLang="zh-CN" sz="1800" dirty="0"/>
              <a:t>”，输出该字符串和第</a:t>
            </a:r>
            <a:r>
              <a:rPr lang="en-US" altLang="zh-CN" sz="1800" dirty="0"/>
              <a:t>8</a:t>
            </a:r>
            <a:r>
              <a:rPr lang="zh-CN" altLang="zh-CN" sz="1800" dirty="0"/>
              <a:t>个字符。</a:t>
            </a:r>
            <a:endParaRPr lang="zh-CN" altLang="zh-CN" dirty="0"/>
          </a:p>
          <a:p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定义字符数组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string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，对它初始化。用数组名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string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和输出格式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%s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可以输出整个字符串。用数组名和下标可以引用任一数组元素。</a:t>
            </a:r>
            <a:endParaRPr lang="zh-CN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937" name="内容占位符 2"/>
          <p:cNvSpPr>
            <a:spLocks noGrp="1"/>
          </p:cNvSpPr>
          <p:nvPr/>
        </p:nvSpPr>
        <p:spPr>
          <a:xfrm>
            <a:off x="1844279" y="1668066"/>
            <a:ext cx="5328047" cy="2946797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#include &lt;stdio.h&gt;</a:t>
            </a:r>
            <a:endParaRPr lang="zh-CN" altLang="zh-CN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int main()</a:t>
            </a:r>
            <a:endParaRPr lang="zh-CN" altLang="zh-CN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{ char string[]=“I love China!”; </a:t>
            </a:r>
            <a:endParaRPr lang="zh-CN" altLang="zh-CN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   printf(“%s\n”,string); </a:t>
            </a:r>
            <a:endParaRPr lang="zh-CN" altLang="zh-CN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   printf(“%c\n”,string[7]);  </a:t>
            </a:r>
            <a:endParaRPr lang="zh-CN" altLang="zh-CN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   return 0;</a:t>
            </a:r>
            <a:endParaRPr lang="zh-CN" altLang="zh-CN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dirty="0">
                <a:latin typeface="Arial" panose="020B0604020202090204" pitchFamily="34" charset="0"/>
              </a:rPr>
              <a:t>}</a:t>
            </a:r>
            <a:endParaRPr lang="en-US" altLang="zh-CN" dirty="0">
              <a:latin typeface="Arial" panose="020B0604020202090204" pitchFamily="34" charset="0"/>
            </a:endParaRPr>
          </a:p>
        </p:txBody>
      </p:sp>
      <p:pic>
        <p:nvPicPr>
          <p:cNvPr id="2560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244" y="3582591"/>
            <a:ext cx="2303860" cy="696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911078" y="1935956"/>
            <a:ext cx="10715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b="1" dirty="0">
                <a:solidFill>
                  <a:srgbClr val="0000CC"/>
                </a:solidFill>
                <a:latin typeface="Arial" panose="020B0604020202090204" pitchFamily="34" charset="0"/>
              </a:rPr>
              <a:t>string</a:t>
            </a:r>
            <a:endParaRPr lang="en-US" altLang="zh-CN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rot="5400000">
            <a:off x="3284935" y="2299097"/>
            <a:ext cx="321469" cy="238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3786188" y="1797844"/>
            <a:ext cx="144661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b="1" dirty="0">
                <a:solidFill>
                  <a:srgbClr val="0000CC"/>
                </a:solidFill>
                <a:latin typeface="Arial" panose="020B0604020202090204" pitchFamily="34" charset="0"/>
              </a:rPr>
              <a:t>string+7</a:t>
            </a:r>
            <a:endParaRPr lang="en-US" altLang="zh-CN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rot="5400000">
            <a:off x="3911204" y="2299097"/>
            <a:ext cx="321469" cy="1190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3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53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993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内容占位符 2"/>
          <p:cNvSpPr>
            <a:spLocks noGrp="1"/>
          </p:cNvSpPr>
          <p:nvPr>
            <p:ph idx="1" hasCustomPrompt="1"/>
          </p:nvPr>
        </p:nvSpPr>
        <p:spPr>
          <a:xfrm>
            <a:off x="1785938" y="803672"/>
            <a:ext cx="5357813" cy="262532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800" dirty="0"/>
              <a:t>#include &lt;stdio.h&gt;</a:t>
            </a:r>
            <a:endParaRPr lang="zh-CN" altLang="zh-CN" sz="1800" dirty="0"/>
          </a:p>
          <a:p>
            <a:pPr>
              <a:buNone/>
            </a:pPr>
            <a:r>
              <a:rPr lang="en-US" altLang="zh-CN" sz="1800" dirty="0"/>
              <a:t>int main()</a:t>
            </a:r>
            <a:endParaRPr lang="zh-CN" altLang="zh-CN" sz="1800" dirty="0"/>
          </a:p>
          <a:p>
            <a:pPr>
              <a:buNone/>
            </a:pPr>
            <a:r>
              <a:rPr lang="en-US" altLang="zh-CN" sz="1800" dirty="0"/>
              <a:t>{ char *string=“I love China!”; </a:t>
            </a:r>
            <a:endParaRPr lang="zh-CN" altLang="zh-CN" sz="1800" dirty="0"/>
          </a:p>
          <a:p>
            <a:pPr>
              <a:buNone/>
            </a:pPr>
            <a:r>
              <a:rPr lang="en-US" altLang="zh-CN" sz="1800" dirty="0"/>
              <a:t>   printf(“%s\n”,string); </a:t>
            </a:r>
            <a:endParaRPr lang="zh-CN" altLang="zh-CN" sz="1800" dirty="0"/>
          </a:p>
          <a:p>
            <a:pPr>
              <a:buNone/>
            </a:pPr>
            <a:r>
              <a:rPr lang="en-US" altLang="zh-CN" sz="1800" dirty="0"/>
              <a:t>   return 0;</a:t>
            </a:r>
            <a:endParaRPr lang="zh-CN" altLang="zh-CN" sz="1800" dirty="0"/>
          </a:p>
          <a:p>
            <a:pPr>
              <a:buNone/>
            </a:pPr>
            <a:r>
              <a:rPr lang="en-US" altLang="zh-CN" sz="1800" dirty="0"/>
              <a:t>}</a:t>
            </a:r>
            <a:endParaRPr lang="en-US" altLang="zh-CN" sz="1800" dirty="0"/>
          </a:p>
        </p:txBody>
      </p:sp>
      <p:pic>
        <p:nvPicPr>
          <p:cNvPr id="257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9456" y="4020741"/>
            <a:ext cx="2045494" cy="286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976563" y="995363"/>
            <a:ext cx="1071563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b="1" dirty="0">
                <a:solidFill>
                  <a:srgbClr val="0000CC"/>
                </a:solidFill>
                <a:latin typeface="Arial" panose="020B0604020202090204" pitchFamily="34" charset="0"/>
              </a:rPr>
              <a:t>string</a:t>
            </a:r>
            <a:endParaRPr lang="en-US" altLang="zh-CN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rot="5400000">
            <a:off x="3212306" y="1419225"/>
            <a:ext cx="321469" cy="238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6" name="圆角矩形标注 5"/>
          <p:cNvSpPr/>
          <p:nvPr/>
        </p:nvSpPr>
        <p:spPr>
          <a:xfrm>
            <a:off x="2321719" y="2668191"/>
            <a:ext cx="3314700" cy="696515"/>
          </a:xfrm>
          <a:prstGeom prst="wedgeRoundRectCallout">
            <a:avLst>
              <a:gd name="adj1" fmla="val -34194"/>
              <a:gd name="adj2" fmla="val -177398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r>
              <a:rPr lang="en-US" altLang="zh-CN" b="1" dirty="0">
                <a:solidFill>
                  <a:srgbClr val="0000CC"/>
                </a:solidFill>
                <a:latin typeface="Verdana" panose="020B0804030504040204" pitchFamily="34" charset="0"/>
              </a:rPr>
              <a:t>char *string;                   </a:t>
            </a:r>
            <a:endParaRPr lang="zh-CN" altLang="zh-CN" b="1" dirty="0">
              <a:solidFill>
                <a:srgbClr val="0000CC"/>
              </a:solidFill>
              <a:latin typeface="Verdana" panose="020B0804030504040204" pitchFamily="34" charset="0"/>
            </a:endParaRPr>
          </a:p>
          <a:p>
            <a:pPr>
              <a:buSzTx/>
            </a:pPr>
            <a:r>
              <a:rPr lang="en-US" altLang="zh-CN" b="1" dirty="0">
                <a:solidFill>
                  <a:srgbClr val="0000CC"/>
                </a:solidFill>
                <a:latin typeface="Verdana" panose="020B0804030504040204" pitchFamily="34" charset="0"/>
              </a:rPr>
              <a:t>string=” I love China!”; </a:t>
            </a:r>
            <a:endParaRPr lang="en-US" altLang="zh-CN" b="1" dirty="0">
              <a:solidFill>
                <a:srgbClr val="0000CC"/>
              </a:solidFill>
              <a:latin typeface="Verdana" panose="020B0804030504040204" pitchFamily="3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919913" y="571500"/>
          <a:ext cx="548005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05"/>
              </a:tblGrid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!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en-US" altLang="zh-CN" sz="135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5553075" y="415529"/>
            <a:ext cx="683419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sz="1500" b="1" dirty="0">
                <a:solidFill>
                  <a:srgbClr val="FF0000"/>
                </a:solidFill>
                <a:latin typeface="Arial" panose="020B0604020202090204" pitchFamily="34" charset="0"/>
              </a:rPr>
              <a:t>string</a:t>
            </a:r>
            <a:endParaRPr lang="en-US" altLang="zh-CN" sz="15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6246019" y="573881"/>
            <a:ext cx="648891" cy="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ldLvl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785938" y="803672"/>
            <a:ext cx="5357813" cy="3375422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{ char *string=“I love China!”;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printf(“%s\n”,string);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9D138D"/>
                </a:solidFill>
              </a:rPr>
              <a:t>string=”I am a student.”;</a:t>
            </a:r>
            <a:endParaRPr lang="en-US" altLang="zh-CN" sz="2100" dirty="0">
              <a:solidFill>
                <a:srgbClr val="9D138D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9D138D"/>
                </a:solidFill>
              </a:rPr>
              <a:t>   printf(“%s\n”,string);</a:t>
            </a:r>
            <a:endParaRPr lang="zh-CN" altLang="zh-CN" sz="2100" dirty="0">
              <a:solidFill>
                <a:srgbClr val="9D138D"/>
              </a:solidFill>
            </a:endParaRPr>
          </a:p>
          <a:p>
            <a:pPr>
              <a:buNone/>
            </a:pPr>
            <a:r>
              <a:rPr lang="en-US" altLang="zh-CN" sz="2100" dirty="0"/>
              <a:t> 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</a:t>
            </a:r>
            <a:endParaRPr lang="zh-CN" altLang="zh-CN" sz="2100" dirty="0"/>
          </a:p>
        </p:txBody>
      </p:sp>
      <p:sp>
        <p:nvSpPr>
          <p:cNvPr id="50178" name="TextBox 7"/>
          <p:cNvSpPr txBox="1"/>
          <p:nvPr/>
        </p:nvSpPr>
        <p:spPr>
          <a:xfrm>
            <a:off x="2821781" y="1059656"/>
            <a:ext cx="1071563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string</a:t>
            </a:r>
            <a:endParaRPr lang="en-US" altLang="zh-CN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cxnSp>
        <p:nvCxnSpPr>
          <p:cNvPr id="50179" name="直接箭头连接符 8"/>
          <p:cNvCxnSpPr/>
          <p:nvPr/>
        </p:nvCxnSpPr>
        <p:spPr>
          <a:xfrm rot="5400000">
            <a:off x="3482579" y="1432322"/>
            <a:ext cx="321469" cy="238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8" name="TextBox 7"/>
          <p:cNvSpPr txBox="1"/>
          <p:nvPr/>
        </p:nvSpPr>
        <p:spPr>
          <a:xfrm>
            <a:off x="2040731" y="1945481"/>
            <a:ext cx="1026319" cy="41402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string</a:t>
            </a:r>
            <a:endParaRPr lang="en-US" altLang="zh-CN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rot="5400000">
            <a:off x="2809875" y="2235994"/>
            <a:ext cx="321469" cy="2381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pic>
        <p:nvPicPr>
          <p:cNvPr id="2580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3038" y="2900363"/>
            <a:ext cx="2503885" cy="728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504950" y="4080272"/>
            <a:ext cx="5919788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 b="1">
                <a:latin typeface="Arial" panose="020B0604020202090204" pitchFamily="34" charset="0"/>
              </a:rPr>
              <a:t>注意</a:t>
            </a:r>
            <a:r>
              <a:rPr lang="zh-CN" altLang="en-US" sz="1350">
                <a:latin typeface="Arial" panose="020B0604020202090204" pitchFamily="34" charset="0"/>
              </a:rPr>
              <a:t>：通过字符数组名或指针变量可以输出一个字符串，但是对于一个数值型的数组，是不能用数组名输出它的全部元素的。</a:t>
            </a:r>
            <a:endParaRPr lang="zh-CN" altLang="en-US" sz="135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9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89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8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118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514475" y="271463"/>
            <a:ext cx="6115050" cy="395049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800" dirty="0"/>
              <a:t>  </a:t>
            </a:r>
            <a:r>
              <a:rPr lang="zh-CN" altLang="zh-CN" sz="1800" dirty="0"/>
              <a:t>例</a:t>
            </a:r>
            <a:r>
              <a:rPr lang="zh-CN" altLang="en-US" sz="1800" dirty="0"/>
              <a:t>：</a:t>
            </a:r>
            <a:r>
              <a:rPr lang="en-US" altLang="zh-CN" sz="1800" dirty="0"/>
              <a:t> </a:t>
            </a:r>
            <a:r>
              <a:rPr lang="zh-CN" altLang="zh-CN" sz="1800" dirty="0"/>
              <a:t>将字符串</a:t>
            </a:r>
            <a:r>
              <a:rPr lang="en-US" altLang="zh-CN" sz="1800" dirty="0"/>
              <a:t>a</a:t>
            </a:r>
            <a:r>
              <a:rPr lang="zh-CN" altLang="zh-CN" sz="1800" dirty="0"/>
              <a:t>复制为字符串</a:t>
            </a:r>
            <a:r>
              <a:rPr lang="en-US" altLang="zh-CN" sz="1800" dirty="0"/>
              <a:t>b</a:t>
            </a:r>
            <a:r>
              <a:rPr lang="zh-CN" altLang="zh-CN" sz="1800" dirty="0"/>
              <a:t>，然后输出字符串</a:t>
            </a:r>
            <a:r>
              <a:rPr lang="en-US" altLang="zh-CN" sz="1800" dirty="0"/>
              <a:t>b</a:t>
            </a:r>
            <a:r>
              <a:rPr lang="zh-CN" altLang="zh-CN" sz="1800" dirty="0"/>
              <a:t>。</a:t>
            </a:r>
            <a:endParaRPr lang="zh-CN" altLang="zh-CN" sz="1800" dirty="0"/>
          </a:p>
          <a:p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定义两个字符数组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，用“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I am a student.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”对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数组初始化。将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数组中的字符逐个复制到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数组中。可以用不同的方法引用并输出字符数组元素，现在用地址法算出各元素的值。</a:t>
            </a:r>
            <a:endParaRPr lang="zh-CN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28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内容占位符 2"/>
          <p:cNvSpPr>
            <a:spLocks noGrp="1"/>
          </p:cNvSpPr>
          <p:nvPr>
            <p:ph idx="1" hasCustomPrompt="1"/>
          </p:nvPr>
        </p:nvSpPr>
        <p:spPr>
          <a:xfrm>
            <a:off x="1464469" y="191453"/>
            <a:ext cx="6115050" cy="4768454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{ char a[ ]=“I am a student.”,b[20];   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int i;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for(i=0;*(a+i)!='\0';i++)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     *(b+i)=*(a+i); 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00B050"/>
                </a:solidFill>
              </a:rPr>
              <a:t>*(b+i)=‘\0’; </a:t>
            </a:r>
            <a:endParaRPr lang="zh-CN" altLang="zh-CN" sz="2100" dirty="0">
              <a:solidFill>
                <a:srgbClr val="00B050"/>
              </a:solidFill>
            </a:endParaRPr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printf(“string a is:%s\n”,a); 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printf("string b is:");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for(i=0;b[i]!='\0';i++)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     printf(“%c”,b[i]); 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printf("\n");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return 0;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}</a:t>
            </a:r>
            <a:endParaRPr lang="zh-CN" altLang="en-US" sz="2100" dirty="0"/>
          </a:p>
        </p:txBody>
      </p:sp>
      <p:pic>
        <p:nvPicPr>
          <p:cNvPr id="2590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5391" y="4339829"/>
            <a:ext cx="4298156" cy="642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圆角矩形标注 3"/>
          <p:cNvSpPr/>
          <p:nvPr/>
        </p:nvSpPr>
        <p:spPr bwMode="auto">
          <a:xfrm>
            <a:off x="2375297" y="1714500"/>
            <a:ext cx="4714875" cy="535781"/>
          </a:xfrm>
          <a:prstGeom prst="wedgeRoundRectCallout">
            <a:avLst>
              <a:gd name="adj1" fmla="val -18444"/>
              <a:gd name="adj2" fmla="val 17328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("string b is:%s\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n“,b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 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78781" y="3083322"/>
            <a:ext cx="3696891" cy="133945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pic>
        <p:nvPicPr>
          <p:cNvPr id="52229" name="图片 5" descr="Untitl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219" y="4607719"/>
            <a:ext cx="3524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1485900" y="242888"/>
            <a:ext cx="6172200" cy="437673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sz="1800" dirty="0"/>
              <a:t>例</a:t>
            </a:r>
            <a:r>
              <a:rPr lang="zh-CN" altLang="en-US" sz="1800" dirty="0"/>
              <a:t>：</a:t>
            </a:r>
            <a:r>
              <a:rPr lang="zh-CN" altLang="zh-CN" sz="1800" dirty="0"/>
              <a:t>用指针变量来处理</a:t>
            </a:r>
            <a:r>
              <a:rPr lang="zh-CN" altLang="en-US" sz="1800" dirty="0"/>
              <a:t>上</a:t>
            </a:r>
            <a:r>
              <a:rPr lang="zh-CN" altLang="zh-CN" sz="1800" dirty="0"/>
              <a:t>例问题。</a:t>
            </a:r>
            <a:endParaRPr lang="zh-CN" altLang="zh-CN" sz="1800" dirty="0"/>
          </a:p>
          <a:p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定义两个指针变量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p1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p2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，分别指向字符数组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。改变指针变量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p1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p2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的值，使它们顺序指向数组中的各元素，进行对应元素的复制。</a:t>
            </a:r>
            <a:endParaRPr lang="zh-CN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273" name="内容占位符 2"/>
          <p:cNvSpPr>
            <a:spLocks noGrp="1"/>
          </p:cNvSpPr>
          <p:nvPr/>
        </p:nvSpPr>
        <p:spPr>
          <a:xfrm>
            <a:off x="1485900" y="1209675"/>
            <a:ext cx="6359129" cy="3611166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#include &lt;stdio.h&gt;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int main()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{char a[]="I am a boy.",b[20],*p1,*p2;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p1=a;  p2=b;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for(   ; *p1!=‘\0’; p1++,p2++)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   *p2=*p1;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</a:t>
            </a:r>
            <a:r>
              <a:rPr lang="en-US" altLang="zh-CN" sz="1500" dirty="0">
                <a:solidFill>
                  <a:srgbClr val="00B050"/>
                </a:solidFill>
                <a:latin typeface="Arial" panose="020B0604020202090204" pitchFamily="34" charset="0"/>
              </a:rPr>
              <a:t>*p2=‘\0’; </a:t>
            </a:r>
            <a:endParaRPr lang="zh-CN" altLang="zh-CN" sz="1500" dirty="0">
              <a:solidFill>
                <a:srgbClr val="00B050"/>
              </a:solidFill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printf(“string a is:%s\n”,a);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printf(“string b is:%s\n”,b);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return 0;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}</a:t>
            </a:r>
            <a:endParaRPr lang="en-US" altLang="zh-CN" sz="1500" dirty="0">
              <a:latin typeface="Arial" panose="020B0604020202090204" pitchFamily="34" charset="0"/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6472" y="3719513"/>
            <a:ext cx="3554015" cy="53101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1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charRg st="1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4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427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320279"/>
            <a:ext cx="6643688" cy="900113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字符指针变量和字符数组的比较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4274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125141"/>
            <a:ext cx="5947172" cy="3696890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字符数组和字符指针变量区别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zh-CN" altLang="zh-CN" dirty="0"/>
              <a:t>赋值</a:t>
            </a:r>
            <a:r>
              <a:rPr lang="zh-CN" altLang="en-US" dirty="0"/>
              <a:t>及初始化</a:t>
            </a:r>
            <a:r>
              <a:rPr lang="zh-CN" altLang="zh-CN" dirty="0"/>
              <a:t>方式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sz="1500" dirty="0"/>
              <a:t>1</a:t>
            </a:r>
            <a:r>
              <a:rPr lang="zh-CN" altLang="en-US" sz="1500" dirty="0"/>
              <a:t>、</a:t>
            </a:r>
            <a:r>
              <a:rPr lang="en-US" altLang="zh-CN" sz="1500" dirty="0"/>
              <a:t>char *a; a=”I love China!”;   </a:t>
            </a:r>
            <a:r>
              <a:rPr lang="zh-CN" altLang="en-US" sz="1500" dirty="0">
                <a:solidFill>
                  <a:srgbClr val="FF0000"/>
                </a:solidFill>
              </a:rPr>
              <a:t>对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1" indent="-325120">
              <a:buNone/>
            </a:pPr>
            <a:r>
              <a:rPr lang="en-US" altLang="zh-CN" sz="1500" dirty="0"/>
              <a:t>2</a:t>
            </a:r>
            <a:r>
              <a:rPr lang="zh-CN" altLang="en-US" sz="1500" dirty="0"/>
              <a:t>、</a:t>
            </a:r>
            <a:r>
              <a:rPr lang="en-US" altLang="zh-CN" sz="1500" dirty="0"/>
              <a:t>char str[14];str[0]=’I’;   </a:t>
            </a:r>
            <a:r>
              <a:rPr lang="zh-CN" altLang="en-US" sz="1500" dirty="0">
                <a:solidFill>
                  <a:srgbClr val="FF0000"/>
                </a:solidFill>
              </a:rPr>
              <a:t>对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1" indent="-325120">
              <a:buNone/>
            </a:pPr>
            <a:r>
              <a:rPr lang="en-US" altLang="zh-CN" sz="1500" dirty="0"/>
              <a:t>3</a:t>
            </a:r>
            <a:r>
              <a:rPr lang="zh-CN" altLang="en-US" sz="1500" dirty="0"/>
              <a:t>、</a:t>
            </a:r>
            <a:r>
              <a:rPr lang="en-US" altLang="zh-CN" sz="1500" dirty="0"/>
              <a:t>char str[14]; str=”I love China!”; </a:t>
            </a:r>
            <a:r>
              <a:rPr lang="zh-CN" altLang="en-US" sz="1500" dirty="0">
                <a:solidFill>
                  <a:srgbClr val="FF0000"/>
                </a:solidFill>
              </a:rPr>
              <a:t>错 </a:t>
            </a:r>
            <a:endParaRPr lang="zh-CN" altLang="en-US" sz="1500" dirty="0">
              <a:solidFill>
                <a:srgbClr val="FF0000"/>
              </a:solidFill>
            </a:endParaRPr>
          </a:p>
          <a:p>
            <a:pPr lvl="1" indent="-325120">
              <a:buNone/>
            </a:pPr>
            <a:r>
              <a:rPr lang="en-US" altLang="zh-CN" sz="1500" dirty="0"/>
              <a:t>4</a:t>
            </a:r>
            <a:r>
              <a:rPr lang="zh-CN" altLang="en-US" sz="1500" dirty="0"/>
              <a:t>、</a:t>
            </a:r>
            <a:r>
              <a:rPr lang="en-US" altLang="zh-CN" sz="1500" dirty="0"/>
              <a:t>char str[14]=”I love China!”; </a:t>
            </a:r>
            <a:r>
              <a:rPr lang="zh-CN" altLang="en-US" sz="1500" dirty="0">
                <a:solidFill>
                  <a:srgbClr val="FF0000"/>
                </a:solidFill>
              </a:rPr>
              <a:t>对</a:t>
            </a:r>
            <a:endParaRPr lang="zh-CN" altLang="en-US" sz="2100" dirty="0"/>
          </a:p>
          <a:p>
            <a:endParaRPr lang="en-US" altLang="zh-CN" dirty="0"/>
          </a:p>
          <a:p>
            <a:endParaRPr lang="en-US" altLang="zh-CN" dirty="0"/>
          </a:p>
          <a:p>
            <a:pPr lvl="1" indent="-325120">
              <a:buNone/>
            </a:pP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320279"/>
            <a:ext cx="6643688" cy="900113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字符指针变量和字符数组的比较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5298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125141"/>
            <a:ext cx="5947172" cy="3696890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字符数组和字符指针变量区别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zh-CN" altLang="zh-CN" dirty="0"/>
              <a:t>存储单元的内容</a:t>
            </a:r>
            <a:r>
              <a:rPr lang="zh-CN" altLang="en-US" dirty="0"/>
              <a:t>（</a:t>
            </a:r>
            <a:r>
              <a:rPr lang="zh-CN" altLang="zh-CN" sz="1200" dirty="0"/>
              <a:t>编译时为字符数组分配若干存储单元，对字符指针变量，只分配一个存储单元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char *a; scanf(“%s”,a);   </a:t>
            </a:r>
            <a:r>
              <a:rPr lang="zh-CN" altLang="en-US" dirty="0">
                <a:solidFill>
                  <a:srgbClr val="FF0000"/>
                </a:solidFill>
              </a:rPr>
              <a:t>错</a:t>
            </a:r>
            <a:endParaRPr lang="en-US" altLang="zh-CN" dirty="0">
              <a:solidFill>
                <a:srgbClr val="FF0000"/>
              </a:solidFill>
            </a:endParaRPr>
          </a:p>
          <a:p>
            <a:pPr lvl="1" indent="-325120">
              <a:buNone/>
            </a:pP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、</a:t>
            </a:r>
            <a:r>
              <a:rPr lang="en-US" altLang="zh-CN" dirty="0">
                <a:solidFill>
                  <a:srgbClr val="00B050"/>
                </a:solidFill>
              </a:rPr>
              <a:t>char *a,str[10];  </a:t>
            </a:r>
            <a:endParaRPr lang="zh-CN" altLang="zh-CN" dirty="0">
              <a:solidFill>
                <a:srgbClr val="00B050"/>
              </a:solidFill>
            </a:endParaRPr>
          </a:p>
          <a:p>
            <a:pPr lvl="1" indent="-32512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a=str;                  </a:t>
            </a:r>
            <a:endParaRPr lang="zh-CN" altLang="zh-CN" dirty="0">
              <a:solidFill>
                <a:srgbClr val="00B050"/>
              </a:solidFill>
            </a:endParaRPr>
          </a:p>
          <a:p>
            <a:pPr lvl="1" indent="-32512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scanf (“%s”,a);      </a:t>
            </a:r>
            <a:r>
              <a:rPr lang="zh-CN" altLang="en-US" dirty="0">
                <a:solidFill>
                  <a:srgbClr val="FF0000"/>
                </a:solidFill>
              </a:rPr>
              <a:t>对</a:t>
            </a:r>
            <a:endParaRPr lang="zh-CN" altLang="zh-CN" dirty="0">
              <a:solidFill>
                <a:srgbClr val="9D138D"/>
              </a:solidFill>
            </a:endParaRPr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pPr lvl="1" indent="-325120">
              <a:buNone/>
            </a:pP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320279"/>
            <a:ext cx="6643688" cy="900113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字符指针变量和字符数组的比较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6322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125141"/>
            <a:ext cx="5947172" cy="3696890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字符数组和字符指针变量区别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sz="2100" dirty="0"/>
              <a:t>指针变量的值是可以改变的，而数组名代表一个固定的值</a:t>
            </a:r>
            <a:r>
              <a:rPr lang="en-US" altLang="zh-CN" sz="2100" dirty="0"/>
              <a:t>(</a:t>
            </a:r>
            <a:r>
              <a:rPr lang="zh-CN" altLang="zh-CN" sz="2100" dirty="0"/>
              <a:t>数组首元素的地址</a:t>
            </a:r>
            <a:r>
              <a:rPr lang="en-US" altLang="zh-CN" sz="2100" dirty="0"/>
              <a:t>)</a:t>
            </a:r>
            <a:r>
              <a:rPr lang="zh-CN" altLang="zh-CN" sz="2100" dirty="0"/>
              <a:t>，不能改变。</a:t>
            </a:r>
            <a:endParaRPr lang="zh-CN" altLang="zh-CN" sz="2100" dirty="0">
              <a:solidFill>
                <a:srgbClr val="9D138D"/>
              </a:solidFill>
            </a:endParaRPr>
          </a:p>
        </p:txBody>
      </p:sp>
      <p:sp>
        <p:nvSpPr>
          <p:cNvPr id="56323" name="内容占位符 2"/>
          <p:cNvSpPr txBox="1"/>
          <p:nvPr/>
        </p:nvSpPr>
        <p:spPr>
          <a:xfrm>
            <a:off x="1725216" y="2193131"/>
            <a:ext cx="6115050" cy="2366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zh-CN" altLang="zh-CN" sz="1500" dirty="0">
                <a:latin typeface="Arial" panose="020B0604020202090204" pitchFamily="34" charset="0"/>
              </a:rPr>
              <a:t>例</a:t>
            </a:r>
            <a:r>
              <a:rPr lang="zh-CN" altLang="en-US" sz="1500" dirty="0">
                <a:latin typeface="Arial" panose="020B0604020202090204" pitchFamily="34" charset="0"/>
              </a:rPr>
              <a:t>：</a:t>
            </a:r>
            <a:r>
              <a:rPr lang="zh-CN" altLang="zh-CN" sz="1500" dirty="0">
                <a:latin typeface="Arial" panose="020B0604020202090204" pitchFamily="34" charset="0"/>
              </a:rPr>
              <a:t>改变指针变量的值。</a:t>
            </a:r>
            <a:endParaRPr lang="en-US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#</a:t>
            </a:r>
            <a:r>
              <a:rPr lang="en-US" altLang="zh-CN" sz="1350" dirty="0">
                <a:latin typeface="Arial" panose="020B0604020202090204" pitchFamily="34" charset="0"/>
              </a:rPr>
              <a:t>include &lt;stdio.h&gt;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int main()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{ char *a="I love China!";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a=a+7;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printf(“%s\n”,a); 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   return 0;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350" dirty="0">
                <a:latin typeface="Arial" panose="020B0604020202090204" pitchFamily="34" charset="0"/>
              </a:rPr>
              <a:t>}</a:t>
            </a:r>
            <a:endParaRPr lang="zh-CN" altLang="zh-CN" sz="135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endParaRPr lang="zh-CN" altLang="en-US" sz="1500" dirty="0">
              <a:latin typeface="Arial" panose="020B0604020202090204" pitchFamily="34" charset="0"/>
            </a:endParaRPr>
          </a:p>
        </p:txBody>
      </p:sp>
      <p:pic>
        <p:nvPicPr>
          <p:cNvPr id="11" name="Picture 2" descr="pic8-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75" y="4131469"/>
            <a:ext cx="1833563" cy="428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圆角矩形标注 11"/>
          <p:cNvSpPr/>
          <p:nvPr/>
        </p:nvSpPr>
        <p:spPr bwMode="auto">
          <a:xfrm>
            <a:off x="3836194" y="2259806"/>
            <a:ext cx="2359819" cy="622697"/>
          </a:xfrm>
          <a:prstGeom prst="wedgeRoundRectCallout">
            <a:avLst>
              <a:gd name="adj1" fmla="val -30581"/>
              <a:gd name="adj2" fmla="val 64583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不能改为</a:t>
            </a:r>
            <a:endParaRPr kumimoji="0" lang="en-US" altLang="zh-CN" sz="135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a[]=“I love China!”;</a:t>
            </a:r>
            <a:endParaRPr kumimoji="0" lang="zh-CN" altLang="zh-CN" sz="135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54994" y="2967038"/>
            <a:ext cx="3804047" cy="29765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21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320279"/>
            <a:ext cx="6643688" cy="900113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字符指针变量和字符数组的比较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125141"/>
            <a:ext cx="5947172" cy="3696890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字符数组和字符指针变量区别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dirty="0"/>
              <a:t>字符数组中各元素的值是可以改变的，但字符指针变量指向的字符串常量中的内容是不可以被取代的。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char a[]=”House”,*b=” House”;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	  a[2]=’r’;        </a:t>
            </a:r>
            <a:r>
              <a:rPr lang="zh-CN" altLang="en-US" dirty="0">
                <a:solidFill>
                  <a:srgbClr val="FF0000"/>
                </a:solidFill>
              </a:rPr>
              <a:t>对</a:t>
            </a:r>
            <a:endParaRPr lang="en-US" altLang="zh-CN" dirty="0">
              <a:solidFill>
                <a:srgbClr val="FF0000"/>
              </a:solidFill>
            </a:endParaRPr>
          </a:p>
          <a:p>
            <a:pPr lvl="1" indent="-325120"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char a[]=”House”,*b=”House”;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	  b[2]=’r’;        </a:t>
            </a:r>
            <a:r>
              <a:rPr lang="zh-CN" altLang="en-US" dirty="0">
                <a:solidFill>
                  <a:srgbClr val="FF0000"/>
                </a:solidFill>
              </a:rPr>
              <a:t>错</a:t>
            </a:r>
            <a:endParaRPr lang="zh-CN" altLang="zh-CN" dirty="0">
              <a:solidFill>
                <a:srgbClr val="FF0000"/>
              </a:solidFill>
            </a:endParaRPr>
          </a:p>
          <a:p>
            <a:pPr lvl="1" indent="-325120">
              <a:buNone/>
            </a:pP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61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91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charRg st="91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10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charRg st="110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39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charRg st="139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320279"/>
            <a:ext cx="6643688" cy="900113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字符指针变量和字符数组的比较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8370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125141"/>
            <a:ext cx="6024563" cy="3589734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字符数组和字符指针变量区别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dirty="0"/>
              <a:t>引用数组元</a:t>
            </a:r>
            <a:r>
              <a:rPr lang="zh-CN" altLang="en-US" dirty="0"/>
              <a:t>素</a:t>
            </a:r>
            <a:endParaRPr lang="en-US" altLang="zh-CN" dirty="0"/>
          </a:p>
          <a:p>
            <a:pPr lvl="1" indent="-325120">
              <a:buNone/>
            </a:pPr>
            <a:r>
              <a:rPr lang="zh-CN" altLang="zh-CN" sz="1800" dirty="0"/>
              <a:t>对字符数组可以用下标法</a:t>
            </a:r>
            <a:r>
              <a:rPr lang="zh-CN" altLang="en-US" sz="1800" dirty="0"/>
              <a:t>和</a:t>
            </a:r>
            <a:r>
              <a:rPr lang="zh-CN" altLang="zh-CN" sz="1800" dirty="0"/>
              <a:t>地址法引用数组元素</a:t>
            </a:r>
            <a:endParaRPr lang="en-US" altLang="zh-CN" sz="1800" dirty="0"/>
          </a:p>
          <a:p>
            <a:pPr lvl="1" indent="-325120">
              <a:buNone/>
            </a:pPr>
            <a:r>
              <a:rPr lang="zh-CN" altLang="en-US" sz="1800" dirty="0"/>
              <a:t>比如</a:t>
            </a:r>
            <a:r>
              <a:rPr lang="en-US" altLang="zh-CN" sz="1800" dirty="0"/>
              <a:t>a[5],*(a+5)</a:t>
            </a:r>
            <a:endParaRPr lang="zh-CN" altLang="zh-CN" sz="1800" dirty="0"/>
          </a:p>
          <a:p>
            <a:pPr lvl="1" indent="-325120">
              <a:buNone/>
            </a:pPr>
            <a:r>
              <a:rPr lang="zh-CN" altLang="zh-CN" sz="1800" dirty="0"/>
              <a:t>如果字符指针变量</a:t>
            </a:r>
            <a:r>
              <a:rPr lang="en-US" altLang="zh-CN" sz="1800" dirty="0"/>
              <a:t>p=a</a:t>
            </a:r>
            <a:r>
              <a:rPr lang="zh-CN" altLang="zh-CN" sz="1800" dirty="0"/>
              <a:t>，则</a:t>
            </a:r>
            <a:r>
              <a:rPr lang="zh-CN" altLang="en-US" sz="1800" dirty="0"/>
              <a:t>也</a:t>
            </a:r>
            <a:r>
              <a:rPr lang="zh-CN" altLang="zh-CN" sz="1800" dirty="0"/>
              <a:t>可以用指针变量带下标的形式</a:t>
            </a:r>
            <a:r>
              <a:rPr lang="zh-CN" altLang="en-US" sz="1800" dirty="0"/>
              <a:t>和</a:t>
            </a:r>
            <a:r>
              <a:rPr lang="zh-CN" altLang="zh-CN" sz="1800" dirty="0"/>
              <a:t>地址法引用</a:t>
            </a:r>
            <a:r>
              <a:rPr lang="en-US" altLang="zh-CN" sz="1800" dirty="0"/>
              <a:t>---p[5],*(p+5)</a:t>
            </a:r>
            <a:r>
              <a:rPr lang="zh-CN" altLang="zh-CN" sz="1800" dirty="0"/>
              <a:t>。</a:t>
            </a:r>
            <a:endParaRPr lang="zh-CN" altLang="zh-CN" sz="1800" dirty="0">
              <a:solidFill>
                <a:srgbClr val="FF0000"/>
              </a:solidFill>
            </a:endParaRPr>
          </a:p>
        </p:txBody>
      </p:sp>
      <p:sp>
        <p:nvSpPr>
          <p:cNvPr id="58371" name="矩形 1"/>
          <p:cNvSpPr/>
          <p:nvPr/>
        </p:nvSpPr>
        <p:spPr>
          <a:xfrm>
            <a:off x="1709738" y="3327797"/>
            <a:ext cx="4968479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1" indent="0" eaLnBrk="0" hangingPunct="0">
              <a:buFont typeface="Wingdings" panose="05000000000000000000" pitchFamily="2" charset="2"/>
            </a:pPr>
            <a:r>
              <a:rPr lang="en-US" altLang="zh-CN" dirty="0">
                <a:latin typeface="Arial" panose="020B0604020202090204" pitchFamily="34" charset="0"/>
              </a:rPr>
              <a:t>char *a=</a:t>
            </a:r>
            <a:r>
              <a:rPr lang="zh-CN" altLang="zh-CN" dirty="0">
                <a:latin typeface="Arial" panose="020B0604020202090204" pitchFamily="34" charset="0"/>
              </a:rPr>
              <a:t>″</a:t>
            </a:r>
            <a:r>
              <a:rPr lang="en-US" altLang="zh-CN" dirty="0">
                <a:latin typeface="Arial" panose="020B0604020202090204" pitchFamily="34" charset="0"/>
              </a:rPr>
              <a:t>I love China!</a:t>
            </a:r>
            <a:r>
              <a:rPr lang="zh-CN" altLang="zh-CN" dirty="0">
                <a:latin typeface="Arial" panose="020B0604020202090204" pitchFamily="34" charset="0"/>
              </a:rPr>
              <a:t>″</a:t>
            </a:r>
            <a:r>
              <a:rPr lang="en-US" altLang="zh-CN" dirty="0">
                <a:latin typeface="Arial" panose="020B0604020202090204" pitchFamily="34" charset="0"/>
              </a:rPr>
              <a:t>;</a:t>
            </a:r>
            <a:endParaRPr lang="en-US" altLang="zh-CN" dirty="0">
              <a:latin typeface="Arial" panose="020B0604020202090204" pitchFamily="34" charset="0"/>
            </a:endParaRPr>
          </a:p>
          <a:p>
            <a:pPr lvl="1" indent="0" eaLnBrk="0" hangingPunct="0">
              <a:buFont typeface="Wingdings" panose="05000000000000000000" pitchFamily="2" charset="2"/>
            </a:pPr>
            <a:r>
              <a:rPr lang="zh-CN" altLang="zh-CN" dirty="0">
                <a:latin typeface="Arial" panose="020B0604020202090204" pitchFamily="34" charset="0"/>
              </a:rPr>
              <a:t>则</a:t>
            </a:r>
            <a:r>
              <a:rPr lang="en-US" altLang="zh-CN" dirty="0">
                <a:latin typeface="Arial" panose="020B0604020202090204" pitchFamily="34" charset="0"/>
              </a:rPr>
              <a:t>a[5]</a:t>
            </a:r>
            <a:r>
              <a:rPr lang="zh-CN" altLang="zh-CN" dirty="0">
                <a:latin typeface="Arial" panose="020B0604020202090204" pitchFamily="34" charset="0"/>
              </a:rPr>
              <a:t>的值是第</a:t>
            </a:r>
            <a:r>
              <a:rPr lang="en-US" altLang="zh-CN" dirty="0">
                <a:latin typeface="Arial" panose="020B0604020202090204" pitchFamily="34" charset="0"/>
              </a:rPr>
              <a:t>6</a:t>
            </a:r>
            <a:r>
              <a:rPr lang="zh-CN" altLang="zh-CN" dirty="0">
                <a:latin typeface="Arial" panose="020B0604020202090204" pitchFamily="34" charset="0"/>
              </a:rPr>
              <a:t>个字符，即</a:t>
            </a:r>
            <a:r>
              <a:rPr lang="zh-CN" altLang="en-US" dirty="0">
                <a:latin typeface="Arial" panose="020B0604020202090204" pitchFamily="34" charset="0"/>
              </a:rPr>
              <a:t>字母</a:t>
            </a:r>
            <a:r>
              <a:rPr lang="en-US" altLang="zh-CN" dirty="0">
                <a:latin typeface="Arial" panose="020B0604020202090204" pitchFamily="34" charset="0"/>
              </a:rPr>
              <a:t>’e’</a:t>
            </a:r>
            <a:endParaRPr lang="zh-CN" altLang="zh-CN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320279"/>
            <a:ext cx="6643688" cy="900113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字符指针变量和字符数组的比较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9394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125141"/>
            <a:ext cx="5947172" cy="3589734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字符数组和字符指针变量区别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dirty="0"/>
              <a:t>用指针变量指向一个格式字符串，可以用它代替</a:t>
            </a:r>
            <a:r>
              <a:rPr lang="en-US" altLang="zh-CN" dirty="0"/>
              <a:t>printf</a:t>
            </a:r>
            <a:r>
              <a:rPr lang="zh-CN" altLang="zh-CN" dirty="0"/>
              <a:t>函数中的格式字符串。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59395" name="矩形 1"/>
          <p:cNvSpPr/>
          <p:nvPr/>
        </p:nvSpPr>
        <p:spPr>
          <a:xfrm>
            <a:off x="1571625" y="3007757"/>
            <a:ext cx="4944666" cy="1706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lvl="1" indent="0" eaLnBrk="0" hangingPunct="0">
              <a:buFont typeface="Wingdings" panose="05000000000000000000" pitchFamily="2" charset="2"/>
            </a:pPr>
            <a:r>
              <a:rPr lang="en-US" altLang="zh-CN" sz="2100" dirty="0">
                <a:solidFill>
                  <a:srgbClr val="00B050"/>
                </a:solidFill>
                <a:latin typeface="Arial" panose="020B0604020202090204" pitchFamily="34" charset="0"/>
              </a:rPr>
              <a:t>char *format;</a:t>
            </a:r>
            <a:endParaRPr lang="zh-CN" altLang="zh-CN" sz="2100" dirty="0">
              <a:solidFill>
                <a:srgbClr val="00B050"/>
              </a:solidFill>
              <a:latin typeface="Arial" panose="020B0604020202090204" pitchFamily="34" charset="0"/>
            </a:endParaRPr>
          </a:p>
          <a:p>
            <a:pPr lvl="1" indent="0" eaLnBrk="0" hangingPunct="0">
              <a:buFont typeface="Wingdings" panose="05000000000000000000" pitchFamily="2" charset="2"/>
            </a:pPr>
            <a:r>
              <a:rPr lang="en-US" altLang="zh-CN" sz="2100" dirty="0">
                <a:solidFill>
                  <a:srgbClr val="00B050"/>
                </a:solidFill>
                <a:latin typeface="Arial" panose="020B0604020202090204" pitchFamily="34" charset="0"/>
              </a:rPr>
              <a:t>format=”a=%d,b=%f\n”; </a:t>
            </a:r>
            <a:endParaRPr lang="zh-CN" altLang="zh-CN" sz="2100" dirty="0">
              <a:solidFill>
                <a:srgbClr val="00B050"/>
              </a:solidFill>
              <a:latin typeface="Arial" panose="020B0604020202090204" pitchFamily="34" charset="0"/>
            </a:endParaRPr>
          </a:p>
          <a:p>
            <a:pPr lvl="1" indent="0" eaLnBrk="0" hangingPunct="0">
              <a:buFont typeface="Wingdings" panose="05000000000000000000" pitchFamily="2" charset="2"/>
            </a:pPr>
            <a:r>
              <a:rPr lang="en-US" altLang="zh-CN" sz="2100" dirty="0">
                <a:solidFill>
                  <a:srgbClr val="00B050"/>
                </a:solidFill>
                <a:latin typeface="Arial" panose="020B0604020202090204" pitchFamily="34" charset="0"/>
              </a:rPr>
              <a:t>printf(format,a,b);</a:t>
            </a:r>
            <a:endParaRPr lang="zh-CN" altLang="zh-CN" sz="2100" dirty="0">
              <a:solidFill>
                <a:srgbClr val="00B050"/>
              </a:solidFill>
              <a:latin typeface="Arial" panose="020B0604020202090204" pitchFamily="34" charset="0"/>
            </a:endParaRPr>
          </a:p>
          <a:p>
            <a:pPr lvl="1" indent="0" eaLnBrk="0" hangingPunct="0">
              <a:buFont typeface="Wingdings" panose="05000000000000000000" pitchFamily="2" charset="2"/>
            </a:pPr>
            <a:r>
              <a:rPr lang="zh-CN" altLang="zh-CN" sz="2100" dirty="0">
                <a:solidFill>
                  <a:srgbClr val="9D138D"/>
                </a:solidFill>
                <a:latin typeface="Arial" panose="020B0604020202090204" pitchFamily="34" charset="0"/>
              </a:rPr>
              <a:t>相当于</a:t>
            </a:r>
            <a:endParaRPr lang="zh-CN" altLang="zh-CN" sz="2100" dirty="0">
              <a:solidFill>
                <a:srgbClr val="9D138D"/>
              </a:solidFill>
              <a:latin typeface="Arial" panose="020B0604020202090204" pitchFamily="34" charset="0"/>
            </a:endParaRPr>
          </a:p>
          <a:p>
            <a:pPr lvl="1" indent="0" eaLnBrk="0" hangingPunct="0">
              <a:buFont typeface="Wingdings" panose="05000000000000000000" pitchFamily="2" charset="2"/>
            </a:pPr>
            <a:r>
              <a:rPr lang="en-US" altLang="zh-CN" sz="2100" dirty="0">
                <a:latin typeface="Arial" panose="020B0604020202090204" pitchFamily="34" charset="0"/>
              </a:rPr>
              <a:t>printf(“a=%d,b=%f\n”,a,b);</a:t>
            </a:r>
            <a:endParaRPr lang="zh-CN" altLang="zh-CN" sz="2100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函数的指针和</a:t>
            </a:r>
            <a:b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</a:br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返回指针的函数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什么是函数指针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42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125141"/>
            <a:ext cx="5840016" cy="3536156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可以定义一个指向函数的指针变量，用来存放某一函数的起始地址，这就意味着此指针变量指向该函数。例如：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 int (*p)(int,int);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定义</a:t>
            </a:r>
            <a:r>
              <a:rPr lang="en-US" altLang="zh-CN" dirty="0"/>
              <a:t>p</a:t>
            </a:r>
            <a:r>
              <a:rPr lang="zh-CN" altLang="zh-CN" dirty="0"/>
              <a:t>是指向函数的指针变量，它可以指向类型为整型且有两个整型参数的函数。</a:t>
            </a:r>
            <a:r>
              <a:rPr lang="en-US" altLang="zh-CN" dirty="0"/>
              <a:t>p</a:t>
            </a:r>
            <a:r>
              <a:rPr lang="zh-CN" altLang="zh-CN" dirty="0"/>
              <a:t>的类型用</a:t>
            </a:r>
            <a:r>
              <a:rPr lang="en-US" altLang="zh-CN" dirty="0"/>
              <a:t>int (*)(int,int)</a:t>
            </a:r>
            <a:r>
              <a:rPr lang="zh-CN" altLang="zh-CN" dirty="0"/>
              <a:t>表示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内容占位符 2"/>
          <p:cNvSpPr>
            <a:spLocks noGrp="1"/>
          </p:cNvSpPr>
          <p:nvPr>
            <p:ph idx="1" hasCustomPrompt="1"/>
          </p:nvPr>
        </p:nvSpPr>
        <p:spPr>
          <a:xfrm>
            <a:off x="1601391" y="1221581"/>
            <a:ext cx="6115050" cy="3921919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{ int max(int,int); 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9D138D"/>
                </a:solidFill>
              </a:rPr>
              <a:t>int </a:t>
            </a:r>
            <a:r>
              <a:rPr lang="en-US" altLang="zh-CN" sz="2100" dirty="0">
                <a:solidFill>
                  <a:srgbClr val="FF0000"/>
                </a:solidFill>
              </a:rPr>
              <a:t>(</a:t>
            </a:r>
            <a:r>
              <a:rPr lang="en-US" altLang="zh-CN" sz="2100" dirty="0">
                <a:solidFill>
                  <a:srgbClr val="9D138D"/>
                </a:solidFill>
              </a:rPr>
              <a:t>*p</a:t>
            </a:r>
            <a:r>
              <a:rPr lang="en-US" altLang="zh-CN" sz="2100" dirty="0">
                <a:solidFill>
                  <a:srgbClr val="FF0000"/>
                </a:solidFill>
              </a:rPr>
              <a:t>)</a:t>
            </a:r>
            <a:r>
              <a:rPr lang="en-US" altLang="zh-CN" sz="2100" dirty="0">
                <a:solidFill>
                  <a:srgbClr val="9D138D"/>
                </a:solidFill>
              </a:rPr>
              <a:t>(int,int);  </a:t>
            </a:r>
            <a:r>
              <a:rPr lang="en-US" altLang="zh-CN" sz="2100" dirty="0"/>
              <a:t>int a,b,c; </a:t>
            </a:r>
            <a:endParaRPr lang="zh-CN" altLang="zh-CN" sz="2100" dirty="0">
              <a:solidFill>
                <a:srgbClr val="9D138D"/>
              </a:solidFill>
            </a:endParaRPr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9D138D"/>
                </a:solidFill>
              </a:rPr>
              <a:t>p=max;</a:t>
            </a:r>
            <a:endParaRPr lang="en-US" altLang="zh-CN" sz="2100" dirty="0">
              <a:solidFill>
                <a:srgbClr val="9D138D"/>
              </a:solidFill>
            </a:endParaRPr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printf("please enter a and b:");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scanf("%d,%d",&amp;a,&amp;b);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</a:t>
            </a:r>
            <a:r>
              <a:rPr lang="en-US" altLang="zh-CN" sz="2100" dirty="0">
                <a:solidFill>
                  <a:srgbClr val="9D138D"/>
                </a:solidFill>
              </a:rPr>
              <a:t>c=</a:t>
            </a:r>
            <a:r>
              <a:rPr lang="en-US" altLang="zh-CN" sz="2100" dirty="0">
                <a:solidFill>
                  <a:srgbClr val="FF0000"/>
                </a:solidFill>
              </a:rPr>
              <a:t>(</a:t>
            </a:r>
            <a:r>
              <a:rPr lang="en-US" altLang="zh-CN" sz="2100" dirty="0">
                <a:solidFill>
                  <a:srgbClr val="9D138D"/>
                </a:solidFill>
              </a:rPr>
              <a:t>*p</a:t>
            </a:r>
            <a:r>
              <a:rPr lang="en-US" altLang="zh-CN" sz="2100" dirty="0">
                <a:solidFill>
                  <a:srgbClr val="FF0000"/>
                </a:solidFill>
              </a:rPr>
              <a:t>)</a:t>
            </a:r>
            <a:r>
              <a:rPr lang="en-US" altLang="zh-CN" sz="2100" dirty="0">
                <a:solidFill>
                  <a:srgbClr val="9D138D"/>
                </a:solidFill>
              </a:rPr>
              <a:t>(a,b);</a:t>
            </a:r>
            <a:endParaRPr lang="zh-CN" altLang="zh-CN" sz="2100" dirty="0">
              <a:solidFill>
                <a:srgbClr val="9D138D"/>
              </a:solidFill>
            </a:endParaRPr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printf(“%d,%d,max=%d\n",a,b,c);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   return 0;</a:t>
            </a:r>
            <a:endParaRPr lang="zh-CN" altLang="zh-CN" sz="21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2100" dirty="0"/>
              <a:t>}</a:t>
            </a:r>
            <a:endParaRPr lang="zh-CN" altLang="zh-CN" sz="2100" dirty="0"/>
          </a:p>
          <a:p>
            <a:pPr>
              <a:buNone/>
            </a:pPr>
            <a:endParaRPr lang="zh-CN" altLang="en-US" sz="21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4287441" y="2575322"/>
            <a:ext cx="2946797" cy="910829"/>
          </a:xfrm>
          <a:prstGeom prst="wedgeRoundRectCallout">
            <a:avLst>
              <a:gd name="adj1" fmla="val -81190"/>
              <a:gd name="adj2" fmla="val -2086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必须先指向，若写成</a:t>
            </a: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p=max(</a:t>
            </a:r>
            <a:r>
              <a:rPr kumimoji="0" lang="en-US" altLang="zh-CN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错</a:t>
            </a:r>
            <a:endParaRPr kumimoji="0" lang="zh-CN" altLang="zh-CN" sz="2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4769644" y="1221581"/>
            <a:ext cx="2571750" cy="702469"/>
          </a:xfrm>
          <a:prstGeom prst="wedgeRoundRectCallout">
            <a:avLst>
              <a:gd name="adj1" fmla="val -95944"/>
              <a:gd name="adj2" fmla="val 113932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只能指向函数返回值为整型且有两个整型参数的函数</a:t>
            </a:r>
            <a:endParaRPr kumimoji="0" lang="zh-CN" altLang="zh-CN" sz="15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466" y="185738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用函数指针变量调用函数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3493" name="Rectangle 3"/>
          <p:cNvSpPr txBox="1"/>
          <p:nvPr/>
        </p:nvSpPr>
        <p:spPr>
          <a:xfrm>
            <a:off x="1501379" y="773906"/>
            <a:ext cx="5840015" cy="545306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zh-CN" altLang="zh-CN" sz="2250" dirty="0">
                <a:latin typeface="Arial" panose="020B0604020202090204" pitchFamily="34" charset="0"/>
              </a:rPr>
              <a:t>例</a:t>
            </a:r>
            <a:r>
              <a:rPr lang="zh-CN" altLang="en-US" sz="2250" dirty="0">
                <a:latin typeface="Arial" panose="020B0604020202090204" pitchFamily="34" charset="0"/>
              </a:rPr>
              <a:t>：</a:t>
            </a:r>
            <a:r>
              <a:rPr lang="en-US" altLang="zh-CN" sz="2250" dirty="0">
                <a:latin typeface="Arial" panose="020B0604020202090204" pitchFamily="34" charset="0"/>
              </a:rPr>
              <a:t> </a:t>
            </a:r>
            <a:r>
              <a:rPr lang="zh-CN" altLang="zh-CN" sz="2250" dirty="0">
                <a:latin typeface="Arial" panose="020B0604020202090204" pitchFamily="34" charset="0"/>
              </a:rPr>
              <a:t>用函数求整数</a:t>
            </a:r>
            <a:r>
              <a:rPr lang="en-US" altLang="zh-CN" sz="2250" dirty="0">
                <a:latin typeface="Arial" panose="020B0604020202090204" pitchFamily="34" charset="0"/>
              </a:rPr>
              <a:t>a</a:t>
            </a:r>
            <a:r>
              <a:rPr lang="zh-CN" altLang="zh-CN" sz="2250" dirty="0">
                <a:latin typeface="Arial" panose="020B0604020202090204" pitchFamily="34" charset="0"/>
              </a:rPr>
              <a:t>和</a:t>
            </a:r>
            <a:r>
              <a:rPr lang="en-US" altLang="zh-CN" sz="2250" dirty="0">
                <a:latin typeface="Arial" panose="020B0604020202090204" pitchFamily="34" charset="0"/>
              </a:rPr>
              <a:t>b</a:t>
            </a:r>
            <a:r>
              <a:rPr lang="zh-CN" altLang="zh-CN" sz="2250" dirty="0">
                <a:latin typeface="Arial" panose="020B0604020202090204" pitchFamily="34" charset="0"/>
              </a:rPr>
              <a:t>中的大者。</a:t>
            </a:r>
            <a:endParaRPr lang="zh-CN" altLang="zh-CN" sz="225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528638"/>
            <a:ext cx="6643688" cy="48458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怎样定义和使用指向函数的指针变量</a:t>
            </a:r>
            <a:endParaRPr kumimoji="0" lang="zh-CN" altLang="en-US" sz="27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125141"/>
            <a:ext cx="5840016" cy="3536156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定义指向函数的指针变量的一般形式为</a:t>
            </a:r>
            <a:r>
              <a:rPr lang="en-US" altLang="zh-CN" dirty="0"/>
              <a:t> </a:t>
            </a:r>
            <a:endParaRPr lang="zh-CN" altLang="zh-CN" dirty="0"/>
          </a:p>
          <a:p>
            <a:pPr>
              <a:buNone/>
            </a:pPr>
            <a:r>
              <a:rPr lang="zh-CN" altLang="zh-CN" dirty="0"/>
              <a:t>数据类型 </a:t>
            </a:r>
            <a:r>
              <a:rPr lang="en-US" altLang="zh-CN" dirty="0"/>
              <a:t>(*</a:t>
            </a:r>
            <a:r>
              <a:rPr lang="zh-CN" altLang="zh-CN" dirty="0"/>
              <a:t>指针变量名</a:t>
            </a:r>
            <a:r>
              <a:rPr lang="en-US" altLang="zh-CN" dirty="0"/>
              <a:t>)(</a:t>
            </a:r>
            <a:r>
              <a:rPr lang="zh-CN" altLang="zh-CN" dirty="0"/>
              <a:t>函数参数表列</a:t>
            </a:r>
            <a:r>
              <a:rPr lang="en-US" altLang="zh-CN" dirty="0"/>
              <a:t>);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</a:t>
            </a:r>
            <a:r>
              <a:rPr lang="zh-CN" altLang="zh-CN" dirty="0"/>
              <a:t>如</a:t>
            </a:r>
            <a:r>
              <a:rPr lang="en-US" altLang="zh-CN" dirty="0"/>
              <a:t> int (*p)(int,int);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p=max;   </a:t>
            </a:r>
            <a:r>
              <a:rPr lang="zh-CN" altLang="en-US" dirty="0">
                <a:solidFill>
                  <a:srgbClr val="FF0000"/>
                </a:solidFill>
              </a:rPr>
              <a:t>对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</a:rPr>
              <a:t>    </a:t>
            </a:r>
            <a:r>
              <a:rPr lang="en-US" altLang="zh-CN" dirty="0"/>
              <a:t>p=max(a,b); </a:t>
            </a:r>
            <a:r>
              <a:rPr lang="zh-CN" altLang="en-US" dirty="0">
                <a:solidFill>
                  <a:srgbClr val="FF0000"/>
                </a:solidFill>
              </a:rPr>
              <a:t>错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/>
              <a:t>    p+n,p++,p--</a:t>
            </a:r>
            <a:r>
              <a:rPr lang="zh-CN" altLang="zh-CN" dirty="0"/>
              <a:t>等运算无意义</a:t>
            </a:r>
            <a:endParaRPr lang="zh-CN" altLang="zh-CN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charRg st="67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82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charRg st="82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00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charRg st="100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内容占位符 2"/>
          <p:cNvSpPr>
            <a:spLocks noGrp="1"/>
          </p:cNvSpPr>
          <p:nvPr>
            <p:ph idx="1" hasCustomPrompt="1"/>
          </p:nvPr>
        </p:nvSpPr>
        <p:spPr>
          <a:xfrm>
            <a:off x="1514475" y="255985"/>
            <a:ext cx="6115050" cy="4004072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sz="1800" dirty="0"/>
              <a:t> </a:t>
            </a:r>
            <a:r>
              <a:rPr lang="zh-CN" altLang="zh-CN" sz="1800" dirty="0"/>
              <a:t>例</a:t>
            </a:r>
            <a:r>
              <a:rPr lang="zh-CN" altLang="en-US" sz="1800" dirty="0"/>
              <a:t>：</a:t>
            </a:r>
            <a:r>
              <a:rPr lang="en-US" altLang="zh-CN" sz="1800" dirty="0"/>
              <a:t> </a:t>
            </a:r>
            <a:r>
              <a:rPr lang="zh-CN" altLang="zh-CN" sz="1800" dirty="0"/>
              <a:t>输入两个整数，让用户选择</a:t>
            </a:r>
            <a:r>
              <a:rPr lang="en-US" altLang="zh-CN" sz="1800" dirty="0"/>
              <a:t>1</a:t>
            </a:r>
            <a:r>
              <a:rPr lang="zh-CN" altLang="zh-CN" sz="1800" dirty="0"/>
              <a:t>或</a:t>
            </a:r>
            <a:r>
              <a:rPr lang="en-US" altLang="zh-CN" sz="1800" dirty="0"/>
              <a:t>2</a:t>
            </a:r>
            <a:r>
              <a:rPr lang="zh-CN" altLang="zh-CN" sz="1800" dirty="0"/>
              <a:t>，选</a:t>
            </a:r>
            <a:r>
              <a:rPr lang="en-US" altLang="zh-CN" sz="1800" dirty="0"/>
              <a:t>1</a:t>
            </a:r>
            <a:r>
              <a:rPr lang="zh-CN" altLang="zh-CN" sz="1800" dirty="0"/>
              <a:t>时调用</a:t>
            </a:r>
            <a:r>
              <a:rPr lang="en-US" altLang="zh-CN" sz="1800" dirty="0"/>
              <a:t>max</a:t>
            </a:r>
            <a:r>
              <a:rPr lang="zh-CN" altLang="zh-CN" sz="1800" dirty="0"/>
              <a:t>函数，输出二者中的大数，选</a:t>
            </a:r>
            <a:r>
              <a:rPr lang="en-US" altLang="zh-CN" sz="1800" dirty="0"/>
              <a:t>2</a:t>
            </a:r>
            <a:r>
              <a:rPr lang="zh-CN" altLang="zh-CN" sz="1800" dirty="0"/>
              <a:t>时调用</a:t>
            </a:r>
            <a:r>
              <a:rPr lang="en-US" altLang="zh-CN" sz="1800" dirty="0"/>
              <a:t>min</a:t>
            </a:r>
            <a:r>
              <a:rPr lang="zh-CN" altLang="zh-CN" sz="1800" dirty="0"/>
              <a:t>函数，输出二者中的小数。</a:t>
            </a:r>
            <a:endParaRPr lang="zh-CN" altLang="zh-CN" dirty="0"/>
          </a:p>
          <a:p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定义两个函数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，分别用来求大数和小数。在主函数中根据用户输入的数字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，使函数指针变量指向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min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函数。</a:t>
            </a:r>
            <a:endParaRPr lang="zh-CN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内容占位符 2"/>
          <p:cNvSpPr>
            <a:spLocks noGrp="1"/>
          </p:cNvSpPr>
          <p:nvPr>
            <p:ph idx="1" hasCustomPrompt="1"/>
          </p:nvPr>
        </p:nvSpPr>
        <p:spPr>
          <a:xfrm>
            <a:off x="1547813" y="107156"/>
            <a:ext cx="6115050" cy="4982766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#include &lt;stdio.h&gt;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int main()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{int max(int,int);   int min(int x,int y);      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int (*</a:t>
            </a:r>
            <a:r>
              <a:rPr lang="en-US" altLang="zh-CN" sz="1500" dirty="0">
                <a:solidFill>
                  <a:srgbClr val="9D138D"/>
                </a:solidFill>
              </a:rPr>
              <a:t>p</a:t>
            </a:r>
            <a:r>
              <a:rPr lang="en-US" altLang="zh-CN" sz="1500" dirty="0"/>
              <a:t>)(int,int);   int a,b,c,n; 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scanf("%d,%d",&amp;a,&amp;b); 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scanf(“%d”,&amp;n);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if (n==1) </a:t>
            </a:r>
            <a:r>
              <a:rPr lang="en-US" altLang="zh-CN" sz="1500" dirty="0">
                <a:solidFill>
                  <a:srgbClr val="9D138D"/>
                </a:solidFill>
              </a:rPr>
              <a:t>p</a:t>
            </a:r>
            <a:r>
              <a:rPr lang="en-US" altLang="zh-CN" sz="1500" dirty="0"/>
              <a:t>=max;          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else if (n==2) </a:t>
            </a:r>
            <a:r>
              <a:rPr lang="en-US" altLang="zh-CN" sz="1500" dirty="0">
                <a:solidFill>
                  <a:srgbClr val="9D138D"/>
                </a:solidFill>
              </a:rPr>
              <a:t>p</a:t>
            </a:r>
            <a:r>
              <a:rPr lang="en-US" altLang="zh-CN" sz="1500" dirty="0"/>
              <a:t>=min;   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c=(*</a:t>
            </a:r>
            <a:r>
              <a:rPr lang="en-US" altLang="zh-CN" sz="1500" dirty="0">
                <a:solidFill>
                  <a:srgbClr val="9D138D"/>
                </a:solidFill>
              </a:rPr>
              <a:t>p</a:t>
            </a:r>
            <a:r>
              <a:rPr lang="en-US" altLang="zh-CN" sz="1500" dirty="0"/>
              <a:t>)(a,b);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printf("a=%d,b=%d\n",a,b);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if (n==1) printf("max=%d\n",c);</a:t>
            </a:r>
            <a:endParaRPr lang="en-US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else  printf("min=%d\n",c); 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return 0;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3293269" y="2942431"/>
            <a:ext cx="2557463" cy="321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zh-CN" altLang="en-US" sz="1500" b="1" dirty="0">
                <a:solidFill>
                  <a:srgbClr val="0000CC"/>
                </a:solidFill>
                <a:latin typeface="Arial" panose="020B0604020202090204" pitchFamily="34" charset="0"/>
              </a:rPr>
              <a:t>只看此行</a:t>
            </a:r>
            <a:r>
              <a:rPr lang="zh-CN" altLang="zh-CN" sz="1500" b="1" dirty="0">
                <a:solidFill>
                  <a:srgbClr val="0000CC"/>
                </a:solidFill>
                <a:latin typeface="Arial" panose="020B0604020202090204" pitchFamily="34" charset="0"/>
              </a:rPr>
              <a:t>看不出调用哪函数</a:t>
            </a:r>
            <a:endParaRPr lang="zh-CN" altLang="zh-CN" sz="15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66563" name="内容占位符 2"/>
          <p:cNvSpPr>
            <a:spLocks noGrp="1"/>
          </p:cNvSpPr>
          <p:nvPr/>
        </p:nvSpPr>
        <p:spPr>
          <a:xfrm>
            <a:off x="6112669" y="223838"/>
            <a:ext cx="1597819" cy="4388644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int max(int x,int y)</a:t>
            </a:r>
            <a:endParaRPr lang="zh-CN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{ </a:t>
            </a:r>
            <a:endParaRPr lang="en-US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	return </a:t>
            </a:r>
            <a:r>
              <a:rPr lang="en-US" altLang="zh-CN" sz="1200" dirty="0">
                <a:latin typeface="Arial" panose="020B0604020202090204" pitchFamily="34" charset="0"/>
                <a:sym typeface="宋体" pitchFamily="2" charset="-122"/>
              </a:rPr>
              <a:t>x&gt;y?x:y;</a:t>
            </a:r>
            <a:endParaRPr lang="zh-CN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 } </a:t>
            </a:r>
            <a:endParaRPr lang="zh-CN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int min(int x,int y)</a:t>
            </a:r>
            <a:endParaRPr lang="zh-CN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{ </a:t>
            </a:r>
            <a:endParaRPr lang="en-US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	</a:t>
            </a:r>
            <a:r>
              <a:rPr lang="en-US" altLang="zh-CN" sz="1200" dirty="0">
                <a:latin typeface="Arial" panose="020B0604020202090204" pitchFamily="34" charset="0"/>
                <a:sym typeface="宋体" pitchFamily="2" charset="-122"/>
              </a:rPr>
              <a:t>return x&lt;y?x:y</a:t>
            </a:r>
            <a:r>
              <a:rPr lang="en-US" altLang="zh-CN" sz="1200" dirty="0">
                <a:latin typeface="Arial" panose="020B0604020202090204" pitchFamily="34" charset="0"/>
              </a:rPr>
              <a:t>;</a:t>
            </a:r>
            <a:endParaRPr lang="zh-CN" altLang="zh-CN" sz="1200" dirty="0">
              <a:latin typeface="Arial" panose="020B0604020202090204" pitchFamily="34" charset="0"/>
            </a:endParaRPr>
          </a:p>
          <a:p>
            <a:pPr marL="342900" indent="-342900" eaLnBrk="0" hangingPunct="0">
              <a:lnSpc>
                <a:spcPts val="3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200" dirty="0">
                <a:latin typeface="Arial" panose="020B0604020202090204" pitchFamily="34" charset="0"/>
              </a:rPr>
              <a:t>}</a:t>
            </a:r>
            <a:endParaRPr lang="en-US" altLang="zh-CN" sz="12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返回指针值的函数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393031"/>
            <a:ext cx="5840016" cy="2893219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一个函数可以返回一个整型值、字符值、实型值等，也可以返回指针型的数据，即地址。其概念与以前类似，只是返回的值的类型是指针类型而已</a:t>
            </a:r>
            <a:endParaRPr lang="en-US" altLang="zh-CN" dirty="0"/>
          </a:p>
          <a:p>
            <a:r>
              <a:rPr lang="zh-CN" altLang="zh-CN" dirty="0"/>
              <a:t>定义返回指针值的函数的一般形式为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</a:t>
            </a:r>
            <a:r>
              <a:rPr lang="zh-CN" altLang="zh-CN" dirty="0">
                <a:solidFill>
                  <a:schemeClr val="accent1"/>
                </a:solidFill>
              </a:rPr>
              <a:t>类型名</a:t>
            </a:r>
            <a:r>
              <a:rPr lang="en-US" altLang="zh-CN" dirty="0">
                <a:solidFill>
                  <a:schemeClr val="accent1"/>
                </a:solidFill>
              </a:rPr>
              <a:t> *</a:t>
            </a:r>
            <a:r>
              <a:rPr lang="zh-CN" altLang="zh-CN" dirty="0">
                <a:solidFill>
                  <a:schemeClr val="accent1"/>
                </a:solidFill>
              </a:rPr>
              <a:t>函数名</a:t>
            </a:r>
            <a:r>
              <a:rPr lang="en-US" altLang="zh-CN" dirty="0">
                <a:solidFill>
                  <a:schemeClr val="accent1"/>
                </a:solidFill>
              </a:rPr>
              <a:t>(</a:t>
            </a:r>
            <a:r>
              <a:rPr lang="zh-CN" altLang="zh-CN" dirty="0">
                <a:solidFill>
                  <a:schemeClr val="accent1"/>
                </a:solidFill>
              </a:rPr>
              <a:t>参数表列</a:t>
            </a:r>
            <a:r>
              <a:rPr lang="en-US" altLang="zh-CN" dirty="0">
                <a:solidFill>
                  <a:schemeClr val="accent1"/>
                </a:solidFill>
              </a:rPr>
              <a:t>);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5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65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内容占位符 2"/>
          <p:cNvSpPr>
            <a:spLocks noGrp="1"/>
          </p:cNvSpPr>
          <p:nvPr>
            <p:ph idx="1" hasCustomPrompt="1"/>
          </p:nvPr>
        </p:nvSpPr>
        <p:spPr>
          <a:xfrm>
            <a:off x="1554956" y="350044"/>
            <a:ext cx="6054329" cy="345043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800" dirty="0"/>
              <a:t>  </a:t>
            </a:r>
            <a:r>
              <a:rPr lang="zh-CN" altLang="zh-CN" sz="1800" dirty="0"/>
              <a:t>例</a:t>
            </a:r>
            <a:r>
              <a:rPr lang="zh-CN" altLang="en-US" sz="1800" dirty="0"/>
              <a:t>：</a:t>
            </a:r>
            <a:r>
              <a:rPr lang="zh-CN" altLang="zh-CN" sz="1800" dirty="0"/>
              <a:t>有</a:t>
            </a:r>
            <a:r>
              <a:rPr lang="en-US" altLang="zh-CN" sz="1800" dirty="0"/>
              <a:t>a</a:t>
            </a:r>
            <a:r>
              <a:rPr lang="zh-CN" altLang="zh-CN" sz="1800" dirty="0"/>
              <a:t>个学生，每个学生有</a:t>
            </a:r>
            <a:r>
              <a:rPr lang="en-US" altLang="zh-CN" sz="1800" dirty="0"/>
              <a:t>b</a:t>
            </a:r>
            <a:r>
              <a:rPr lang="zh-CN" altLang="zh-CN" sz="1800" dirty="0"/>
              <a:t>门课程的成绩。要求在用户输入学生序号以后，能输出该学生的全部成绩。用指针函数实现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定义二维数组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score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存放成绩</a:t>
            </a:r>
            <a:endParaRPr lang="en-US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定义输出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</a:rPr>
              <a:t>某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学生全部成绩的函数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search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，它是返回指针的函数，形参是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</a:rPr>
              <a:t>行指针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和整型</a:t>
            </a:r>
            <a:endParaRPr lang="en-US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主函数将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score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和要找的学号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传递给形参</a:t>
            </a:r>
            <a:endParaRPr lang="en-US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函数的返回值是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&amp;score[k][0](k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</a:rPr>
              <a:t>号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学生的序号为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的课程地址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en-US" altLang="zh-CN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indent="-325120"/>
            <a:r>
              <a:rPr lang="zh-CN" altLang="zh-CN" sz="1500" dirty="0">
                <a:latin typeface="楷体" panose="02010609060101010101" pitchFamily="49" charset="-122"/>
                <a:ea typeface="楷体" panose="02010609060101010101" pitchFamily="49" charset="-122"/>
              </a:rPr>
              <a:t>在主函数中输出该生的全部成绩</a:t>
            </a:r>
            <a:endParaRPr lang="zh-CN" altLang="en-US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endParaRPr lang="zh-CN" altLang="en-US" sz="15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内容占位符 2"/>
          <p:cNvSpPr>
            <a:spLocks noGrp="1"/>
          </p:cNvSpPr>
          <p:nvPr>
            <p:ph idx="1" hasCustomPrompt="1"/>
          </p:nvPr>
        </p:nvSpPr>
        <p:spPr>
          <a:xfrm>
            <a:off x="1381125" y="197485"/>
            <a:ext cx="6078141" cy="4875610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#include &lt;stdio.h&gt;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int main()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{float score[ ][4]={{60,70,80,90},</a:t>
            </a:r>
            <a:endParaRPr lang="en-US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       {56,89,67,88},{34,78,90,66}};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float  *search(float (*pointer)[4],int n);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float  *p;  int i,k;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scanf(“%d”,&amp;k);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printf("The scores of No.%d are:\n",k);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p=search(score,k);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for(i=0;i&lt;4;i++)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    printf(“%5.2f\t”,*(p+i)); 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printf("\n");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  return 0;</a:t>
            </a:r>
            <a:endParaRPr lang="zh-CN" altLang="zh-CN" sz="1500" dirty="0"/>
          </a:p>
          <a:p>
            <a:pPr fontAlgn="auto">
              <a:lnSpc>
                <a:spcPts val="1800"/>
              </a:lnSpc>
              <a:buNone/>
            </a:pPr>
            <a:r>
              <a:rPr lang="en-US" altLang="zh-CN" sz="1500" dirty="0"/>
              <a:t>}</a:t>
            </a:r>
            <a:endParaRPr lang="en-US" altLang="zh-CN" sz="1500" dirty="0"/>
          </a:p>
        </p:txBody>
      </p:sp>
      <p:sp>
        <p:nvSpPr>
          <p:cNvPr id="4" name="TextBox 3"/>
          <p:cNvSpPr txBox="1"/>
          <p:nvPr/>
        </p:nvSpPr>
        <p:spPr>
          <a:xfrm>
            <a:off x="3268266" y="3010694"/>
            <a:ext cx="3214688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zh-CN" altLang="zh-CN" b="1" dirty="0">
                <a:solidFill>
                  <a:srgbClr val="0000CC"/>
                </a:solidFill>
                <a:latin typeface="Arial" panose="020B0604020202090204" pitchFamily="34" charset="0"/>
              </a:rPr>
              <a:t>返回</a:t>
            </a:r>
            <a:r>
              <a:rPr lang="en-US" altLang="zh-CN" b="1" dirty="0">
                <a:solidFill>
                  <a:srgbClr val="0000CC"/>
                </a:solidFill>
                <a:latin typeface="Arial" panose="020B0604020202090204" pitchFamily="34" charset="0"/>
              </a:rPr>
              <a:t>k</a:t>
            </a:r>
            <a:r>
              <a:rPr lang="zh-CN" altLang="en-US" b="1" dirty="0">
                <a:solidFill>
                  <a:srgbClr val="0000CC"/>
                </a:solidFill>
                <a:latin typeface="Arial" panose="020B0604020202090204" pitchFamily="34" charset="0"/>
              </a:rPr>
              <a:t>号</a:t>
            </a:r>
            <a:r>
              <a:rPr lang="zh-CN" altLang="zh-CN" b="1" dirty="0">
                <a:solidFill>
                  <a:srgbClr val="0000CC"/>
                </a:solidFill>
                <a:latin typeface="Arial" panose="020B0604020202090204" pitchFamily="34" charset="0"/>
              </a:rPr>
              <a:t>学生课程首地址</a:t>
            </a:r>
            <a:endParaRPr lang="zh-CN" altLang="zh-CN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69635" name="内容占位符 2"/>
          <p:cNvSpPr>
            <a:spLocks noGrp="1"/>
          </p:cNvSpPr>
          <p:nvPr/>
        </p:nvSpPr>
        <p:spPr>
          <a:xfrm>
            <a:off x="4838700" y="197644"/>
            <a:ext cx="3167063" cy="1429941"/>
          </a:xfrm>
          <a:prstGeom prst="rect">
            <a:avLst/>
          </a:prstGeom>
          <a:noFill/>
          <a:ln w="12700" cap="flat" cmpd="sng">
            <a:solidFill>
              <a:srgbClr val="956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float *search(float (*pointer)[4],int n)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{ float *pt;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pt=</a:t>
            </a:r>
            <a:r>
              <a:rPr lang="en-US" altLang="zh-CN" sz="1500" dirty="0">
                <a:solidFill>
                  <a:srgbClr val="9D138D"/>
                </a:solidFill>
                <a:latin typeface="Arial" panose="020B0604020202090204" pitchFamily="34" charset="0"/>
              </a:rPr>
              <a:t>*(pointer+n);</a:t>
            </a:r>
            <a:endParaRPr lang="zh-CN" altLang="zh-CN" sz="1500" dirty="0">
              <a:solidFill>
                <a:srgbClr val="9D138D"/>
              </a:solidFill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return(pt);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}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endParaRPr lang="zh-CN" altLang="zh-CN" sz="1500" dirty="0">
              <a:latin typeface="Arial" panose="020B0604020202090204" pitchFamily="34" charset="0"/>
            </a:endParaRPr>
          </a:p>
        </p:txBody>
      </p:sp>
      <p:cxnSp>
        <p:nvCxnSpPr>
          <p:cNvPr id="69636" name="直接箭头连接符 1"/>
          <p:cNvCxnSpPr/>
          <p:nvPr/>
        </p:nvCxnSpPr>
        <p:spPr>
          <a:xfrm flipV="1">
            <a:off x="4507706" y="411956"/>
            <a:ext cx="334566" cy="1164431"/>
          </a:xfrm>
          <a:prstGeom prst="straightConnector1">
            <a:avLst/>
          </a:prstGeom>
          <a:ln w="34925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指针数组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什么是指针数组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946672" y="1178719"/>
            <a:ext cx="5464969" cy="369689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一个数组，若其元素均为指针类型数据，称为指针数组，也就是说，指针数组中的每一个</a:t>
            </a:r>
            <a:r>
              <a:rPr lang="zh-CN" altLang="zh-CN" dirty="0">
                <a:solidFill>
                  <a:srgbClr val="6600FF"/>
                </a:solidFill>
              </a:rPr>
              <a:t>元素</a:t>
            </a:r>
            <a:r>
              <a:rPr lang="zh-CN" altLang="zh-CN" dirty="0"/>
              <a:t>都存放一个地址，相当于一个</a:t>
            </a:r>
            <a:r>
              <a:rPr lang="zh-CN" altLang="zh-CN" dirty="0">
                <a:solidFill>
                  <a:srgbClr val="6600FF"/>
                </a:solidFill>
              </a:rPr>
              <a:t>指针变量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dirty="0"/>
              <a:t>定义一维指针数组的一般形式为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</a:t>
            </a:r>
            <a:r>
              <a:rPr lang="zh-CN" altLang="zh-CN" dirty="0"/>
              <a:t>类型名 </a:t>
            </a:r>
            <a:r>
              <a:rPr lang="en-US" altLang="zh-CN" dirty="0"/>
              <a:t>* </a:t>
            </a:r>
            <a:r>
              <a:rPr lang="zh-CN" altLang="zh-CN" dirty="0"/>
              <a:t>数组名</a:t>
            </a:r>
            <a:r>
              <a:rPr lang="en-US" altLang="zh-CN" dirty="0"/>
              <a:t>[</a:t>
            </a:r>
            <a:r>
              <a:rPr lang="zh-CN" altLang="zh-CN" dirty="0"/>
              <a:t>数组长度</a:t>
            </a:r>
            <a:r>
              <a:rPr lang="en-US" altLang="zh-CN" dirty="0"/>
              <a:t>];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int * p[4];</a:t>
            </a:r>
            <a:endParaRPr lang="zh-CN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9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charRg st="95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什么是指针数组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439466" y="1352550"/>
            <a:ext cx="6454378" cy="300037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</a:t>
            </a:r>
            <a:r>
              <a:rPr lang="zh-CN" altLang="zh-CN" dirty="0"/>
              <a:t>例</a:t>
            </a:r>
            <a:r>
              <a:rPr lang="zh-CN" altLang="en-US" dirty="0"/>
              <a:t>：</a:t>
            </a:r>
            <a:r>
              <a:rPr lang="zh-CN" altLang="zh-CN" dirty="0"/>
              <a:t>将若干字符串按字母顺序（由小到大）输出</a:t>
            </a:r>
            <a:endParaRPr lang="zh-CN" altLang="zh-CN" dirty="0"/>
          </a:p>
          <a:p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定义一个指针数组，用各字符串对它进行初始化，然后用选择法排序，但不是移动字符串，而是改变指针数组的各元素的指向。</a:t>
            </a:r>
            <a:endParaRPr lang="zh-CN" altLang="zh-CN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24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24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内容占位符 2"/>
          <p:cNvSpPr>
            <a:spLocks noGrp="1"/>
          </p:cNvSpPr>
          <p:nvPr>
            <p:ph idx="1" hasCustomPrompt="1"/>
          </p:nvPr>
        </p:nvSpPr>
        <p:spPr>
          <a:xfrm>
            <a:off x="1432322" y="176213"/>
            <a:ext cx="6181725" cy="4338638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#include &lt;stdio.h&gt;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#include &lt;</a:t>
            </a:r>
            <a:r>
              <a:rPr lang="en-US" altLang="zh-CN" sz="1500" dirty="0">
                <a:solidFill>
                  <a:srgbClr val="FF0000"/>
                </a:solidFill>
              </a:rPr>
              <a:t>string.h</a:t>
            </a:r>
            <a:r>
              <a:rPr lang="en-US" altLang="zh-CN" sz="1500" dirty="0"/>
              <a:t>&gt;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int main()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{</a:t>
            </a:r>
            <a:endParaRPr lang="en-US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void sort(char *name[ ],int n);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void print(char *name[ ],int n);</a:t>
            </a:r>
            <a:endParaRPr lang="en-US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200" dirty="0"/>
              <a:t>  //</a:t>
            </a:r>
            <a:r>
              <a:rPr lang="zh-CN" altLang="en-US" sz="1200" dirty="0"/>
              <a:t>定义指针数组，数组的元素分别指向</a:t>
            </a:r>
            <a:r>
              <a:rPr lang="en-US" altLang="zh-CN" sz="1200" dirty="0"/>
              <a:t>4</a:t>
            </a:r>
            <a:r>
              <a:rPr lang="zh-CN" altLang="en-US" sz="1200" dirty="0"/>
              <a:t>个字符串</a:t>
            </a:r>
            <a:endParaRPr lang="zh-CN" altLang="zh-CN" sz="12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char *name[ ]={“Follow”,“Great”, “FORTRAN”,“Computer”}; 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int n=4;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sort(name,n);  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print(name,n); 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  return 0;</a:t>
            </a:r>
            <a:endParaRPr lang="zh-CN" altLang="zh-CN" sz="15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500" dirty="0"/>
              <a:t>}</a:t>
            </a:r>
            <a:endParaRPr lang="zh-CN" altLang="zh-CN" sz="1500" dirty="0"/>
          </a:p>
          <a:p>
            <a:pPr fontAlgn="auto">
              <a:lnSpc>
                <a:spcPts val="2400"/>
              </a:lnSpc>
              <a:buNone/>
            </a:pPr>
            <a:endParaRPr lang="zh-CN" altLang="zh-CN" sz="15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38228" y="3311128"/>
          <a:ext cx="251777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321310"/>
                <a:gridCol w="321310"/>
                <a:gridCol w="321310"/>
                <a:gridCol w="268605"/>
                <a:gridCol w="37465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F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l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l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w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38228" y="3750469"/>
          <a:ext cx="214312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267970"/>
                <a:gridCol w="321945"/>
                <a:gridCol w="321310"/>
                <a:gridCol w="32131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G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138228" y="4198144"/>
          <a:ext cx="278574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321310"/>
                <a:gridCol w="321945"/>
                <a:gridCol w="321310"/>
                <a:gridCol w="321310"/>
                <a:gridCol w="321310"/>
                <a:gridCol w="321310"/>
                <a:gridCol w="53594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F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138228" y="4648200"/>
          <a:ext cx="305371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"/>
                <a:gridCol w="267970"/>
                <a:gridCol w="321310"/>
                <a:gridCol w="321310"/>
                <a:gridCol w="321945"/>
                <a:gridCol w="321310"/>
                <a:gridCol w="374650"/>
                <a:gridCol w="321310"/>
                <a:gridCol w="53594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u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" name="直接箭头连接符 4"/>
          <p:cNvCxnSpPr/>
          <p:nvPr/>
        </p:nvCxnSpPr>
        <p:spPr>
          <a:xfrm flipV="1">
            <a:off x="5633403" y="3486150"/>
            <a:ext cx="504825" cy="39291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4761865" y="3116580"/>
            <a:ext cx="1231265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name</a:t>
            </a:r>
            <a:r>
              <a:rPr lang="zh-CN" altLang="en-US" sz="1050">
                <a:latin typeface="Arial" panose="020B0604020202090204" pitchFamily="34" charset="0"/>
              </a:rPr>
              <a:t>指针数组</a:t>
            </a:r>
            <a:endParaRPr lang="zh-CN" altLang="en-US" sz="1050">
              <a:latin typeface="Arial" panose="020B0604020202090204" pitchFamily="34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914265" y="3309938"/>
          <a:ext cx="71882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820"/>
              </a:tblGrid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name[0]</a:t>
                      </a: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name[1]</a:t>
                      </a:r>
                      <a:endParaRPr lang="en-US" altLang="zh-CN" sz="1200"/>
                    </a:p>
                  </a:txBody>
                  <a:tcPr marL="68580" marR="68580" marT="34290" marB="3429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name[2]</a:t>
                      </a:r>
                      <a:endParaRPr lang="en-US" altLang="zh-CN" sz="1200"/>
                    </a:p>
                  </a:txBody>
                  <a:tcPr marL="68580" marR="68580" marT="34290" marB="3429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name[3]</a:t>
                      </a:r>
                      <a:endParaRPr lang="en-US" altLang="zh-CN" sz="1200"/>
                    </a:p>
                  </a:txBody>
                  <a:tcPr marL="68580" marR="68580" marT="34290" marB="34290" anchor="ctr" anchorCtr="0"/>
                </a:tc>
              </a:tr>
            </a:tbl>
          </a:graphicData>
        </a:graphic>
      </p:graphicFrame>
      <p:cxnSp>
        <p:nvCxnSpPr>
          <p:cNvPr id="14" name="直接箭头连接符 13"/>
          <p:cNvCxnSpPr/>
          <p:nvPr/>
        </p:nvCxnSpPr>
        <p:spPr>
          <a:xfrm flipV="1">
            <a:off x="5633403" y="3960019"/>
            <a:ext cx="504825" cy="39291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5" name="直接箭头连接符 14"/>
          <p:cNvCxnSpPr/>
          <p:nvPr/>
        </p:nvCxnSpPr>
        <p:spPr>
          <a:xfrm flipV="1">
            <a:off x="5633403" y="4371975"/>
            <a:ext cx="504825" cy="40481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/>
          <p:nvPr/>
        </p:nvCxnSpPr>
        <p:spPr>
          <a:xfrm flipV="1">
            <a:off x="5633403" y="4822031"/>
            <a:ext cx="504825" cy="40481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文本框 1"/>
          <p:cNvSpPr txBox="1"/>
          <p:nvPr/>
        </p:nvSpPr>
        <p:spPr>
          <a:xfrm>
            <a:off x="1439466" y="68104"/>
            <a:ext cx="3303984" cy="51695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void sort(char *name[], int n)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{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char *temp;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int i, j, k;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for (i = 0; i &lt; n - 1; i++)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{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k = i;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for (j = i + 1; j &lt; n; j++)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{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if (</a:t>
            </a:r>
            <a:r>
              <a:rPr lang="zh-CN" altLang="en-US" sz="1350">
                <a:solidFill>
                  <a:srgbClr val="FF0000"/>
                </a:solidFill>
                <a:latin typeface="Arial" panose="020B0604020202090204" pitchFamily="34" charset="0"/>
              </a:rPr>
              <a:t>strcmp</a:t>
            </a:r>
            <a:r>
              <a:rPr lang="zh-CN" altLang="en-US" sz="1350">
                <a:latin typeface="Arial" panose="020B0604020202090204" pitchFamily="34" charset="0"/>
              </a:rPr>
              <a:t>(name[k], name[j]) &gt; 0)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{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    k = j;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}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}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if (k != i)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{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temp = name[i];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name[i] = name[k];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    name[k] = temp;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    }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    }</a:t>
            </a:r>
            <a:endParaRPr lang="zh-CN" altLang="en-US" sz="1350">
              <a:latin typeface="Arial" panose="020B0604020202090204" pitchFamily="34" charset="0"/>
            </a:endParaRPr>
          </a:p>
          <a:p>
            <a:pPr indent="0" fontAlgn="auto">
              <a:lnSpc>
                <a:spcPts val="1800"/>
              </a:lnSpc>
            </a:pPr>
            <a:r>
              <a:rPr lang="zh-CN" altLang="en-US" sz="1350">
                <a:latin typeface="Arial" panose="020B0604020202090204" pitchFamily="34" charset="0"/>
              </a:rPr>
              <a:t>}</a:t>
            </a:r>
            <a:endParaRPr lang="zh-CN" altLang="en-US" sz="1350">
              <a:latin typeface="Arial" panose="020B0604020202090204" pitchFamily="34" charset="0"/>
            </a:endParaRPr>
          </a:p>
        </p:txBody>
      </p:sp>
      <p:sp>
        <p:nvSpPr>
          <p:cNvPr id="75778" name="文本框 2"/>
          <p:cNvSpPr txBox="1"/>
          <p:nvPr/>
        </p:nvSpPr>
        <p:spPr>
          <a:xfrm>
            <a:off x="5166678" y="68104"/>
            <a:ext cx="2488406" cy="154559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r>
              <a:rPr lang="zh-CN" altLang="en-US" sz="1350">
                <a:latin typeface="Arial" panose="020B0604020202090204" pitchFamily="34" charset="0"/>
              </a:rPr>
              <a:t>void print(char *name[], int n)</a:t>
            </a:r>
            <a:endParaRPr lang="zh-CN" altLang="en-US" sz="1350">
              <a:latin typeface="Arial" panose="020B0604020202090204" pitchFamily="34" charset="0"/>
            </a:endParaRPr>
          </a:p>
          <a:p>
            <a:r>
              <a:rPr lang="zh-CN" altLang="en-US" sz="1350">
                <a:latin typeface="Arial" panose="020B0604020202090204" pitchFamily="34" charset="0"/>
              </a:rPr>
              <a:t>{</a:t>
            </a:r>
            <a:endParaRPr lang="zh-CN" altLang="en-US" sz="1350">
              <a:latin typeface="Arial" panose="020B0604020202090204" pitchFamily="34" charset="0"/>
            </a:endParaRPr>
          </a:p>
          <a:p>
            <a:r>
              <a:rPr lang="zh-CN" altLang="en-US" sz="1350">
                <a:latin typeface="Arial" panose="020B0604020202090204" pitchFamily="34" charset="0"/>
              </a:rPr>
              <a:t>    for (int i = 0; i &lt; n; i++)</a:t>
            </a:r>
            <a:endParaRPr lang="zh-CN" altLang="en-US" sz="1350">
              <a:latin typeface="Arial" panose="020B0604020202090204" pitchFamily="34" charset="0"/>
            </a:endParaRPr>
          </a:p>
          <a:p>
            <a:r>
              <a:rPr lang="zh-CN" altLang="en-US" sz="1350">
                <a:latin typeface="Arial" panose="020B0604020202090204" pitchFamily="34" charset="0"/>
              </a:rPr>
              <a:t>    {</a:t>
            </a:r>
            <a:endParaRPr lang="zh-CN" altLang="en-US" sz="1350">
              <a:latin typeface="Arial" panose="020B0604020202090204" pitchFamily="34" charset="0"/>
            </a:endParaRPr>
          </a:p>
          <a:p>
            <a:r>
              <a:rPr lang="zh-CN" altLang="en-US" sz="1350">
                <a:latin typeface="Arial" panose="020B0604020202090204" pitchFamily="34" charset="0"/>
              </a:rPr>
              <a:t>        printf("%s\n", name[i]);</a:t>
            </a:r>
            <a:endParaRPr lang="zh-CN" altLang="en-US" sz="1350">
              <a:latin typeface="Arial" panose="020B0604020202090204" pitchFamily="34" charset="0"/>
            </a:endParaRPr>
          </a:p>
          <a:p>
            <a:r>
              <a:rPr lang="zh-CN" altLang="en-US" sz="1350">
                <a:latin typeface="Arial" panose="020B0604020202090204" pitchFamily="34" charset="0"/>
              </a:rPr>
              <a:t>    }</a:t>
            </a:r>
            <a:endParaRPr lang="zh-CN" altLang="en-US" sz="1350">
              <a:latin typeface="Arial" panose="020B0604020202090204" pitchFamily="34" charset="0"/>
            </a:endParaRPr>
          </a:p>
          <a:p>
            <a:r>
              <a:rPr lang="zh-CN" altLang="en-US" sz="1350">
                <a:latin typeface="Arial" panose="020B0604020202090204" pitchFamily="34" charset="0"/>
              </a:rPr>
              <a:t>}</a:t>
            </a:r>
            <a:endParaRPr lang="zh-CN" altLang="en-US" sz="1350">
              <a:latin typeface="Arial" panose="020B060402020209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901804" y="2868216"/>
          <a:ext cx="251777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321310"/>
                <a:gridCol w="321310"/>
                <a:gridCol w="321310"/>
                <a:gridCol w="268605"/>
                <a:gridCol w="374650"/>
                <a:gridCol w="589280"/>
              </a:tblGrid>
              <a:tr h="388620"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F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l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l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w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901804" y="3307556"/>
          <a:ext cx="214312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267970"/>
                <a:gridCol w="321945"/>
                <a:gridCol w="321310"/>
                <a:gridCol w="321310"/>
                <a:gridCol w="589280"/>
              </a:tblGrid>
              <a:tr h="388620"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G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901804" y="3755231"/>
          <a:ext cx="278574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321310"/>
                <a:gridCol w="321945"/>
                <a:gridCol w="321310"/>
                <a:gridCol w="321310"/>
                <a:gridCol w="321310"/>
                <a:gridCol w="321310"/>
                <a:gridCol w="535940"/>
              </a:tblGrid>
              <a:tr h="388620"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F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901804" y="4205288"/>
          <a:ext cx="305371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"/>
                <a:gridCol w="267970"/>
                <a:gridCol w="321310"/>
                <a:gridCol w="321310"/>
                <a:gridCol w="321945"/>
                <a:gridCol w="321310"/>
                <a:gridCol w="374650"/>
                <a:gridCol w="321310"/>
                <a:gridCol w="535940"/>
              </a:tblGrid>
              <a:tr h="388620"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u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" name="直接箭头连接符 4"/>
          <p:cNvCxnSpPr/>
          <p:nvPr/>
        </p:nvCxnSpPr>
        <p:spPr>
          <a:xfrm>
            <a:off x="4395788" y="3082529"/>
            <a:ext cx="500063" cy="1271588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3525520" y="2571750"/>
            <a:ext cx="1217930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name</a:t>
            </a:r>
            <a:r>
              <a:rPr lang="zh-CN" altLang="en-US" sz="1050">
                <a:latin typeface="Arial" panose="020B0604020202090204" pitchFamily="34" charset="0"/>
              </a:rPr>
              <a:t>指针数组</a:t>
            </a:r>
            <a:endParaRPr lang="zh-CN" altLang="en-US" sz="1050">
              <a:latin typeface="Arial" panose="020B0604020202090204" pitchFamily="34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3677841" y="2867025"/>
          <a:ext cx="718820" cy="172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820"/>
              </a:tblGrid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name[0]</a:t>
                      </a: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68580" marR="68580" marT="34290" marB="3429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name[1]</a:t>
                      </a:r>
                      <a:endParaRPr lang="en-US" altLang="zh-CN" sz="1200"/>
                    </a:p>
                  </a:txBody>
                  <a:tcPr marL="68580" marR="68580" marT="34290" marB="3429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name[2]</a:t>
                      </a:r>
                      <a:endParaRPr lang="en-US" altLang="zh-CN" sz="1200"/>
                    </a:p>
                  </a:txBody>
                  <a:tcPr marL="68580" marR="68580" marT="34290" marB="34290" anchor="ctr" anchorCtr="0"/>
                </a:tc>
              </a:tr>
              <a:tr h="431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name[3]</a:t>
                      </a:r>
                      <a:endParaRPr lang="en-US" altLang="zh-CN" sz="1200"/>
                    </a:p>
                  </a:txBody>
                  <a:tcPr marL="68580" marR="68580" marT="34290" marB="34290" anchor="ctr" anchorCtr="0"/>
                </a:tc>
              </a:tr>
            </a:tbl>
          </a:graphicData>
        </a:graphic>
      </p:graphicFrame>
      <p:cxnSp>
        <p:nvCxnSpPr>
          <p:cNvPr id="14" name="直接箭头连接符 13"/>
          <p:cNvCxnSpPr/>
          <p:nvPr/>
        </p:nvCxnSpPr>
        <p:spPr>
          <a:xfrm>
            <a:off x="4396740" y="3508296"/>
            <a:ext cx="506016" cy="392906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5" name="直接箭头连接符 14"/>
          <p:cNvCxnSpPr/>
          <p:nvPr/>
        </p:nvCxnSpPr>
        <p:spPr>
          <a:xfrm flipV="1">
            <a:off x="4396740" y="3564414"/>
            <a:ext cx="506016" cy="907256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/>
          <p:nvPr/>
        </p:nvCxnSpPr>
        <p:spPr>
          <a:xfrm flipV="1">
            <a:off x="4389755" y="3082211"/>
            <a:ext cx="506016" cy="917972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指向指针数据的指针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76802" name="Rectangle 3"/>
          <p:cNvSpPr>
            <a:spLocks noGrp="1"/>
          </p:cNvSpPr>
          <p:nvPr>
            <p:ph idx="1" hasCustomPrompt="1"/>
          </p:nvPr>
        </p:nvSpPr>
        <p:spPr>
          <a:xfrm>
            <a:off x="1946672" y="1178719"/>
            <a:ext cx="5464969" cy="1003697"/>
          </a:xfrm>
        </p:spPr>
        <p:txBody>
          <a:bodyPr vert="horz" wrap="square" lIns="68580" tIns="34290" rIns="68580" bIns="34290" anchor="t" anchorCtr="0"/>
          <a:p>
            <a:r>
              <a:rPr lang="zh-CN" altLang="zh-CN" sz="1800" dirty="0"/>
              <a:t>在了解了指针数组的基础上，需要了解指向指针数据的指针变量，简称为指向指针的指针。</a:t>
            </a:r>
            <a:endParaRPr lang="zh-CN" altLang="zh-CN" sz="1800" dirty="0"/>
          </a:p>
          <a:p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定义一个指向指针数据的指针变量：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char **p;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795838" y="2893219"/>
          <a:ext cx="251777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321310"/>
                <a:gridCol w="321310"/>
                <a:gridCol w="321310"/>
                <a:gridCol w="268605"/>
                <a:gridCol w="37465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F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l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l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w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795838" y="3332560"/>
          <a:ext cx="214312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267970"/>
                <a:gridCol w="321945"/>
                <a:gridCol w="321310"/>
                <a:gridCol w="32131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G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95838" y="3780235"/>
          <a:ext cx="278574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0"/>
                <a:gridCol w="321310"/>
                <a:gridCol w="321945"/>
                <a:gridCol w="321310"/>
                <a:gridCol w="321310"/>
                <a:gridCol w="321310"/>
                <a:gridCol w="321310"/>
                <a:gridCol w="53594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F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795838" y="4230291"/>
          <a:ext cx="305371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"/>
                <a:gridCol w="267970"/>
                <a:gridCol w="321310"/>
                <a:gridCol w="321310"/>
                <a:gridCol w="321945"/>
                <a:gridCol w="321310"/>
                <a:gridCol w="374650"/>
                <a:gridCol w="321310"/>
                <a:gridCol w="53594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u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t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61" marB="34161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428875" y="2957513"/>
          <a:ext cx="149987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87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="1" dirty="0" smtClean="0">
                          <a:solidFill>
                            <a:srgbClr val="9D138D"/>
                          </a:solidFill>
                        </a:rPr>
                        <a:t>name[0]</a:t>
                      </a:r>
                      <a:endParaRPr lang="zh-CN" altLang="en-US" sz="2100" b="1" dirty="0">
                        <a:solidFill>
                          <a:srgbClr val="9D138D"/>
                        </a:solidFill>
                      </a:endParaRPr>
                    </a:p>
                  </a:txBody>
                  <a:tcPr marL="68579" marR="68579" marT="34300" marB="343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rgbClr val="9D138D"/>
                          </a:solidFill>
                        </a:rPr>
                        <a:t>name[1]</a:t>
                      </a:r>
                      <a:endParaRPr lang="zh-CN" altLang="en-US" sz="2100" b="1" dirty="0" smtClean="0">
                        <a:solidFill>
                          <a:srgbClr val="9D138D"/>
                        </a:solidFill>
                      </a:endParaRPr>
                    </a:p>
                  </a:txBody>
                  <a:tcPr marL="68579" marR="68579" marT="34300" marB="343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rgbClr val="9D138D"/>
                          </a:solidFill>
                        </a:rPr>
                        <a:t>name[2]</a:t>
                      </a:r>
                      <a:endParaRPr lang="zh-CN" altLang="en-US" sz="2100" b="1" dirty="0" smtClean="0">
                        <a:solidFill>
                          <a:srgbClr val="9D138D"/>
                        </a:solidFill>
                      </a:endParaRPr>
                    </a:p>
                  </a:txBody>
                  <a:tcPr marL="68579" marR="68579" marT="34300" marB="343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b="1" dirty="0" smtClean="0">
                          <a:solidFill>
                            <a:srgbClr val="9D138D"/>
                          </a:solidFill>
                        </a:rPr>
                        <a:t>name[3]</a:t>
                      </a:r>
                      <a:endParaRPr lang="zh-CN" altLang="en-US" sz="2100" b="1" dirty="0" smtClean="0">
                        <a:solidFill>
                          <a:srgbClr val="9D138D"/>
                        </a:solidFill>
                      </a:endParaRPr>
                    </a:p>
                  </a:txBody>
                  <a:tcPr marL="68579" marR="68579" marT="34300" marB="3430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箭头连接符 12"/>
          <p:cNvCxnSpPr/>
          <p:nvPr/>
        </p:nvCxnSpPr>
        <p:spPr>
          <a:xfrm flipV="1">
            <a:off x="3929063" y="3161110"/>
            <a:ext cx="857250" cy="52388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4" name="直接箭头连接符 13"/>
          <p:cNvCxnSpPr/>
          <p:nvPr/>
        </p:nvCxnSpPr>
        <p:spPr>
          <a:xfrm>
            <a:off x="3929063" y="3588544"/>
            <a:ext cx="857250" cy="1191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5" name="直接箭头连接符 14"/>
          <p:cNvCxnSpPr/>
          <p:nvPr/>
        </p:nvCxnSpPr>
        <p:spPr>
          <a:xfrm>
            <a:off x="3929063" y="3963591"/>
            <a:ext cx="857250" cy="53578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6" name="直接箭头连接符 15"/>
          <p:cNvCxnSpPr/>
          <p:nvPr/>
        </p:nvCxnSpPr>
        <p:spPr>
          <a:xfrm>
            <a:off x="3929063" y="4338638"/>
            <a:ext cx="857250" cy="107156"/>
          </a:xfrm>
          <a:prstGeom prst="straightConnector1">
            <a:avLst/>
          </a:prstGeom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1303735" y="2571750"/>
            <a:ext cx="1017984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100" b="1" dirty="0">
                <a:solidFill>
                  <a:srgbClr val="00B050"/>
                </a:solidFill>
                <a:latin typeface="Arial" panose="020B0604020202090204" pitchFamily="34" charset="0"/>
              </a:rPr>
              <a:t>name</a:t>
            </a:r>
            <a:endParaRPr lang="zh-CN" altLang="en-US" sz="2100" b="1" dirty="0">
              <a:solidFill>
                <a:srgbClr val="00B050"/>
              </a:solidFill>
              <a:latin typeface="Arial" panose="020B0604020202090204" pitchFamily="34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357313" y="2946797"/>
            <a:ext cx="1071563" cy="1190"/>
          </a:xfrm>
          <a:prstGeom prst="straightConnector1">
            <a:avLst/>
          </a:prstGeom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1464469" y="3357563"/>
            <a:ext cx="482204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SzTx/>
            </a:pPr>
            <a:r>
              <a:rPr lang="en-US" altLang="zh-CN" sz="2100" b="1" dirty="0">
                <a:solidFill>
                  <a:srgbClr val="00B050"/>
                </a:solidFill>
                <a:latin typeface="Arial" panose="020B0604020202090204" pitchFamily="34" charset="0"/>
              </a:rPr>
              <a:t>p</a:t>
            </a:r>
            <a:endParaRPr lang="zh-CN" altLang="en-US" sz="2100" b="1" dirty="0">
              <a:solidFill>
                <a:srgbClr val="00B050"/>
              </a:solidFill>
              <a:latin typeface="Arial" panose="020B0604020202090204" pitchFamily="34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357313" y="3732610"/>
            <a:ext cx="1071563" cy="1190"/>
          </a:xfrm>
          <a:prstGeom prst="straightConnector1">
            <a:avLst/>
          </a:prstGeom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5944791" y="2433638"/>
            <a:ext cx="104013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350" dirty="0">
                <a:latin typeface="黑体" panose="02010609060101010101" pitchFamily="49" charset="-122"/>
                <a:ea typeface="黑体" panose="02010609060101010101" pitchFamily="49" charset="-122"/>
              </a:rPr>
              <a:t>char *(*p)</a:t>
            </a:r>
            <a:endParaRPr lang="zh-CN" altLang="en-US" sz="1350">
              <a:latin typeface="Arial" panose="020B0604020202090204" pitchFamily="34" charset="0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6463665" y="2073751"/>
            <a:ext cx="2381" cy="371475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2761060" y="2571750"/>
            <a:ext cx="1058465" cy="252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050">
                <a:latin typeface="Arial" panose="020B0604020202090204" pitchFamily="34" charset="0"/>
              </a:rPr>
              <a:t>name</a:t>
            </a:r>
            <a:r>
              <a:rPr lang="zh-CN" altLang="en-US" sz="1050">
                <a:latin typeface="Arial" panose="020B0604020202090204" pitchFamily="34" charset="0"/>
              </a:rPr>
              <a:t>指针数组</a:t>
            </a:r>
            <a:endParaRPr lang="zh-CN" altLang="en-US" sz="105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12" grpId="0"/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内存动态管理</a:t>
            </a:r>
            <a:endParaRPr lang="en-US" altLang="zh-CN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96611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1178719"/>
            <a:ext cx="6268641" cy="3482579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dirty="0"/>
              <a:t>１．</a:t>
            </a:r>
            <a:r>
              <a:rPr lang="en-US" altLang="zh-CN" dirty="0"/>
              <a:t>malloc</a:t>
            </a:r>
            <a:r>
              <a:rPr lang="zh-CN" altLang="zh-CN" dirty="0"/>
              <a:t>函数</a:t>
            </a:r>
            <a:endParaRPr lang="zh-CN" altLang="zh-CN" dirty="0"/>
          </a:p>
          <a:p>
            <a:r>
              <a:rPr lang="zh-CN" altLang="zh-CN" dirty="0"/>
              <a:t>其函数原型为</a:t>
            </a:r>
            <a:r>
              <a:rPr lang="en-US" altLang="zh-CN" dirty="0"/>
              <a:t> </a:t>
            </a:r>
            <a:endParaRPr lang="zh-CN" altLang="zh-CN" dirty="0"/>
          </a:p>
          <a:p>
            <a:pPr lvl="1" indent="-325120">
              <a:buNone/>
            </a:pPr>
            <a:r>
              <a:rPr lang="en-US" altLang="zh-CN" dirty="0"/>
              <a:t>void *malloc(unsigned int size); </a:t>
            </a:r>
            <a:endParaRPr lang="zh-CN" altLang="zh-CN" dirty="0"/>
          </a:p>
          <a:p>
            <a:pPr lvl="1" indent="-325120"/>
            <a:r>
              <a:rPr lang="zh-CN" altLang="zh-CN" dirty="0"/>
              <a:t>其作用是在内存的动态存储区中分配一个长度为</a:t>
            </a:r>
            <a:r>
              <a:rPr lang="en-US" altLang="zh-CN" dirty="0"/>
              <a:t>size</a:t>
            </a:r>
            <a:r>
              <a:rPr lang="zh-CN" altLang="zh-CN" dirty="0"/>
              <a:t>的连续空间</a:t>
            </a:r>
            <a:endParaRPr lang="en-US" altLang="zh-CN" dirty="0"/>
          </a:p>
          <a:p>
            <a:pPr lvl="1" indent="-325120"/>
            <a:r>
              <a:rPr lang="zh-CN" altLang="zh-CN" dirty="0"/>
              <a:t>函数的值是所分配区域的第一个字节的地址，或者说，此函数是一个指针型函数，返回的指针指向该分配域的开头位置</a:t>
            </a:r>
            <a:endParaRPr lang="zh-CN" altLang="zh-CN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53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1">
                                            <p:txEl>
                                              <p:charRg st="53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charRg st="84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1">
                                            <p:txEl>
                                              <p:charRg st="84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97635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1178719"/>
            <a:ext cx="6268641" cy="3482579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     malloc(100);</a:t>
            </a:r>
            <a:endParaRPr lang="en-US" altLang="zh-CN" sz="2100" dirty="0"/>
          </a:p>
          <a:p>
            <a:pPr lvl="1" indent="-325120"/>
            <a:r>
              <a:rPr lang="zh-CN" altLang="zh-CN" sz="1800" dirty="0"/>
              <a:t>开辟</a:t>
            </a:r>
            <a:r>
              <a:rPr lang="en-US" altLang="zh-CN" sz="1800" dirty="0">
                <a:solidFill>
                  <a:srgbClr val="6600FF"/>
                </a:solidFill>
              </a:rPr>
              <a:t>100</a:t>
            </a:r>
            <a:r>
              <a:rPr lang="zh-CN" altLang="zh-CN" sz="1800" dirty="0">
                <a:solidFill>
                  <a:srgbClr val="6600FF"/>
                </a:solidFill>
              </a:rPr>
              <a:t>字节</a:t>
            </a:r>
            <a:r>
              <a:rPr lang="zh-CN" altLang="zh-CN" sz="1800" dirty="0"/>
              <a:t>的临时分配域，函数值为其第</a:t>
            </a:r>
            <a:r>
              <a:rPr lang="en-US" altLang="zh-CN" sz="1800" dirty="0"/>
              <a:t>1</a:t>
            </a:r>
            <a:r>
              <a:rPr lang="zh-CN" altLang="zh-CN" sz="1800" dirty="0"/>
              <a:t>个字节的地址</a:t>
            </a:r>
            <a:r>
              <a:rPr lang="en-US" altLang="zh-CN" sz="1800" dirty="0"/>
              <a:t> </a:t>
            </a:r>
            <a:endParaRPr lang="zh-CN" altLang="zh-CN" sz="1800" dirty="0"/>
          </a:p>
          <a:p>
            <a:r>
              <a:rPr lang="zh-CN" altLang="zh-CN" sz="1800" dirty="0"/>
              <a:t>注意指针的基类型为</a:t>
            </a:r>
            <a:r>
              <a:rPr lang="en-US" altLang="zh-CN" sz="1800" dirty="0"/>
              <a:t>void</a:t>
            </a:r>
            <a:r>
              <a:rPr lang="zh-CN" altLang="zh-CN" sz="1800" dirty="0"/>
              <a:t>，即不指向任何类型的数据，只提供一个地址</a:t>
            </a:r>
            <a:endParaRPr lang="en-US" altLang="zh-CN" sz="1800" dirty="0"/>
          </a:p>
          <a:p>
            <a:r>
              <a:rPr lang="zh-CN" altLang="zh-CN" sz="1800" dirty="0"/>
              <a:t>如果此函数未能成功地执行（例如内存空间不足），则返回空指针</a:t>
            </a:r>
            <a:r>
              <a:rPr lang="en-US" altLang="zh-CN" sz="1800" dirty="0"/>
              <a:t>(NULL)</a:t>
            </a:r>
            <a:endParaRPr lang="en-US" altLang="zh-CN" sz="1800" dirty="0"/>
          </a:p>
          <a:p>
            <a:r>
              <a:rPr lang="en-US" altLang="zh-CN" sz="1800" dirty="0"/>
              <a:t>double * ptd;</a:t>
            </a:r>
            <a:endParaRPr lang="en-US" altLang="zh-CN" sz="1800" dirty="0"/>
          </a:p>
          <a:p>
            <a:r>
              <a:rPr lang="en-US" altLang="zh-CN" sz="1800" dirty="0"/>
              <a:t>ptd = (double *)malloc(30 * sizeof(double));</a:t>
            </a:r>
            <a:endParaRPr lang="en-US" altLang="zh-CN" sz="1800" dirty="0"/>
          </a:p>
          <a:p>
            <a:r>
              <a:rPr lang="en-US" altLang="zh-CN" sz="1800" dirty="0"/>
              <a:t>为30个double类型的值请求内存空间，并设置ptd指向该位置</a:t>
            </a:r>
            <a:endParaRPr lang="en-US" altLang="zh-CN" sz="180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47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charRg st="47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81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charRg st="81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charRg st="117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131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charRg st="131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charRg st="176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charRg st="176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98659" name="Rectangle 3"/>
          <p:cNvSpPr>
            <a:spLocks noGrp="1"/>
          </p:cNvSpPr>
          <p:nvPr>
            <p:ph idx="1" hasCustomPrompt="1"/>
          </p:nvPr>
        </p:nvSpPr>
        <p:spPr>
          <a:xfrm>
            <a:off x="1250156" y="1170385"/>
            <a:ext cx="6482954" cy="310753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950" dirty="0"/>
              <a:t>2</a:t>
            </a:r>
            <a:r>
              <a:rPr lang="zh-CN" altLang="zh-CN" sz="1950" dirty="0"/>
              <a:t>．</a:t>
            </a:r>
            <a:r>
              <a:rPr lang="en-US" altLang="zh-CN" sz="1950" dirty="0"/>
              <a:t>calloc</a:t>
            </a:r>
            <a:r>
              <a:rPr lang="zh-CN" altLang="zh-CN" sz="1950" dirty="0"/>
              <a:t>函数</a:t>
            </a:r>
            <a:endParaRPr lang="zh-CN" altLang="zh-CN" sz="1950" dirty="0"/>
          </a:p>
          <a:p>
            <a:r>
              <a:rPr lang="zh-CN" altLang="zh-CN" sz="1950" dirty="0"/>
              <a:t>其函数原型为</a:t>
            </a:r>
            <a:r>
              <a:rPr lang="en-US" altLang="zh-CN" sz="1950" dirty="0"/>
              <a:t> </a:t>
            </a:r>
            <a:endParaRPr lang="en-US" altLang="zh-CN" sz="1950" dirty="0"/>
          </a:p>
          <a:p>
            <a:pPr>
              <a:buNone/>
            </a:pPr>
            <a:r>
              <a:rPr lang="en-US" altLang="zh-CN" sz="1950" dirty="0"/>
              <a:t>   void *calloc(unsigned n,unsigned size); </a:t>
            </a:r>
            <a:endParaRPr lang="zh-CN" altLang="zh-CN" sz="1950" dirty="0"/>
          </a:p>
          <a:p>
            <a:r>
              <a:rPr lang="zh-CN" altLang="zh-CN" sz="1950" dirty="0"/>
              <a:t>其作用是在内存的动态存储区中分配</a:t>
            </a:r>
            <a:r>
              <a:rPr lang="en-US" altLang="zh-CN" sz="1950" dirty="0"/>
              <a:t>n</a:t>
            </a:r>
            <a:r>
              <a:rPr lang="zh-CN" altLang="zh-CN" sz="1950" dirty="0"/>
              <a:t>个长度为</a:t>
            </a:r>
            <a:r>
              <a:rPr lang="en-US" altLang="zh-CN" sz="1950" dirty="0"/>
              <a:t>size</a:t>
            </a:r>
            <a:r>
              <a:rPr lang="zh-CN" altLang="zh-CN" sz="1950" dirty="0"/>
              <a:t>的连续空间，这个空间一般比较大，足以保存一个数组。</a:t>
            </a:r>
            <a:endParaRPr lang="zh-CN" altLang="zh-CN" sz="195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63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charRg st="63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4994" name="Rectangle 3"/>
          <p:cNvSpPr>
            <a:spLocks noGrp="1"/>
          </p:cNvSpPr>
          <p:nvPr>
            <p:ph idx="1" hasCustomPrompt="1"/>
          </p:nvPr>
        </p:nvSpPr>
        <p:spPr>
          <a:xfrm>
            <a:off x="1250156" y="1178719"/>
            <a:ext cx="6482954" cy="3643313"/>
          </a:xfrm>
        </p:spPr>
        <p:txBody>
          <a:bodyPr vert="horz" wrap="square" lIns="68580" tIns="34290" rIns="68580" bIns="34290" anchor="t" anchorCtr="0"/>
          <a:p>
            <a:r>
              <a:rPr lang="zh-CN" altLang="zh-CN" sz="1950" dirty="0"/>
              <a:t>用</a:t>
            </a:r>
            <a:r>
              <a:rPr lang="en-US" altLang="zh-CN" sz="1950" dirty="0"/>
              <a:t>calloc</a:t>
            </a:r>
            <a:r>
              <a:rPr lang="zh-CN" altLang="zh-CN" sz="1950" dirty="0"/>
              <a:t>函数可以为一维数组开辟动态存储空间，</a:t>
            </a:r>
            <a:r>
              <a:rPr lang="en-US" altLang="zh-CN" sz="1950" dirty="0"/>
              <a:t>n</a:t>
            </a:r>
            <a:r>
              <a:rPr lang="zh-CN" altLang="zh-CN" sz="1950" dirty="0"/>
              <a:t>为数组元素个数，每个元素长度为</a:t>
            </a:r>
            <a:r>
              <a:rPr lang="en-US" altLang="zh-CN" sz="1950" dirty="0"/>
              <a:t>size</a:t>
            </a:r>
            <a:r>
              <a:rPr lang="zh-CN" altLang="zh-CN" sz="1950" dirty="0"/>
              <a:t>。这就是动态数组。函数返回指向所分配域的起始位置的指针；如果分配不成功，返回</a:t>
            </a:r>
            <a:r>
              <a:rPr lang="en-US" altLang="zh-CN" sz="1950" dirty="0"/>
              <a:t>NULL</a:t>
            </a:r>
            <a:r>
              <a:rPr lang="zh-CN" altLang="zh-CN" sz="1950" dirty="0"/>
              <a:t>。如：</a:t>
            </a:r>
            <a:endParaRPr lang="zh-CN" altLang="zh-CN" sz="1950" dirty="0"/>
          </a:p>
          <a:p>
            <a:pPr>
              <a:buNone/>
            </a:pPr>
            <a:r>
              <a:rPr lang="en-US" altLang="zh-CN" sz="1950" dirty="0"/>
              <a:t>     p=calloc(50,4);</a:t>
            </a:r>
            <a:endParaRPr lang="en-US" altLang="zh-CN" sz="1950" dirty="0"/>
          </a:p>
          <a:p>
            <a:pPr lvl="1" indent="-325120">
              <a:buNone/>
            </a:pPr>
            <a:r>
              <a:rPr lang="en-US" altLang="zh-CN" dirty="0"/>
              <a:t>  </a:t>
            </a:r>
            <a:r>
              <a:rPr lang="zh-CN" altLang="zh-CN" dirty="0"/>
              <a:t>开辟</a:t>
            </a:r>
            <a:r>
              <a:rPr lang="en-US" altLang="zh-CN" dirty="0"/>
              <a:t>50</a:t>
            </a:r>
            <a:r>
              <a:rPr lang="zh-CN" altLang="zh-CN" dirty="0"/>
              <a:t>×</a:t>
            </a:r>
            <a:r>
              <a:rPr lang="en-US" altLang="zh-CN" dirty="0"/>
              <a:t>4</a:t>
            </a:r>
            <a:r>
              <a:rPr lang="zh-CN" altLang="zh-CN" dirty="0"/>
              <a:t>个字节的临时分配域，把起始地址赋给指针变量</a:t>
            </a:r>
            <a:r>
              <a:rPr lang="en-US" altLang="zh-CN" dirty="0"/>
              <a:t>p </a:t>
            </a:r>
            <a:endParaRPr lang="en-US" altLang="zh-CN" dirty="0"/>
          </a:p>
          <a:p>
            <a:pPr lvl="1" indent="-325120">
              <a:buNone/>
            </a:pPr>
            <a:r>
              <a:rPr lang="en-US" altLang="zh-CN" dirty="0"/>
              <a:t>特性：它把块中的所有位都设置为0。free()函数也可用于释放calloc()分配的内存。</a:t>
            </a:r>
            <a:endParaRPr lang="en-US" altLang="zh-CN" dirty="0"/>
          </a:p>
        </p:txBody>
      </p:sp>
    </p:spTree>
  </p:cSld>
  <p:clrMapOvr>
    <a:masterClrMapping/>
  </p:clrMapOvr>
  <p:transition spd="med">
    <p:blinds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00707" name="Rectangle 3"/>
          <p:cNvSpPr>
            <a:spLocks noGrp="1"/>
          </p:cNvSpPr>
          <p:nvPr>
            <p:ph idx="1" hasCustomPrompt="1"/>
          </p:nvPr>
        </p:nvSpPr>
        <p:spPr>
          <a:xfrm>
            <a:off x="1625204" y="1178719"/>
            <a:ext cx="5732859" cy="3643313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3</a:t>
            </a:r>
            <a:r>
              <a:rPr lang="zh-CN" altLang="zh-CN" dirty="0"/>
              <a:t>．</a:t>
            </a:r>
            <a:r>
              <a:rPr lang="en-US" altLang="zh-CN" dirty="0"/>
              <a:t>free</a:t>
            </a:r>
            <a:r>
              <a:rPr lang="zh-CN" altLang="zh-CN" dirty="0"/>
              <a:t>函数</a:t>
            </a:r>
            <a:endParaRPr lang="zh-CN" altLang="zh-CN" dirty="0"/>
          </a:p>
          <a:p>
            <a:r>
              <a:rPr lang="zh-CN" altLang="zh-CN" dirty="0"/>
              <a:t>其函数原型为</a:t>
            </a:r>
            <a:r>
              <a:rPr lang="en-US" altLang="zh-CN" dirty="0"/>
              <a:t> 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void free(void *p); </a:t>
            </a:r>
            <a:endParaRPr lang="zh-CN" altLang="zh-CN" dirty="0"/>
          </a:p>
          <a:p>
            <a:r>
              <a:rPr lang="zh-CN" altLang="zh-CN" dirty="0"/>
              <a:t>其作用是释放指针变量ｐ所指向的动态空间，使这部分空间能重新被其他变量使用。</a:t>
            </a:r>
            <a:r>
              <a:rPr lang="en-US" altLang="zh-CN" dirty="0"/>
              <a:t>p</a:t>
            </a:r>
            <a:r>
              <a:rPr lang="zh-CN" altLang="zh-CN" dirty="0"/>
              <a:t>应是最近一次调用</a:t>
            </a:r>
            <a:r>
              <a:rPr lang="en-US" altLang="zh-CN" dirty="0"/>
              <a:t>calloc</a:t>
            </a:r>
            <a:r>
              <a:rPr lang="zh-CN" altLang="zh-CN" dirty="0"/>
              <a:t>或</a:t>
            </a:r>
            <a:r>
              <a:rPr lang="en-US" altLang="zh-CN" dirty="0"/>
              <a:t>malloc</a:t>
            </a:r>
            <a:r>
              <a:rPr lang="zh-CN" altLang="zh-CN" dirty="0"/>
              <a:t>函数时得到的函数返回值。</a:t>
            </a:r>
            <a:endParaRPr lang="zh-CN" altLang="zh-CN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charRg st="42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707">
                                            <p:txEl>
                                              <p:charRg st="42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80898" name="Rectangle 3"/>
          <p:cNvSpPr>
            <a:spLocks noGrp="1"/>
          </p:cNvSpPr>
          <p:nvPr>
            <p:ph idx="1" hasCustomPrompt="1"/>
          </p:nvPr>
        </p:nvSpPr>
        <p:spPr>
          <a:xfrm>
            <a:off x="1609725" y="1163241"/>
            <a:ext cx="5731669" cy="3325416"/>
          </a:xfrm>
        </p:spPr>
        <p:txBody>
          <a:bodyPr vert="horz" wrap="square" lIns="68580" tIns="34290" rIns="68580" bIns="34290" anchor="t"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en-US" altLang="zh-CN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free(p);</a:t>
            </a: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kumimoji="0" lang="zh-CN" altLang="zh-CN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释放指针变量ｐ所指向的已分配的动态空间</a:t>
            </a:r>
            <a:r>
              <a:rPr kumimoji="0" lang="en-US" altLang="zh-CN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kumimoji="0" lang="en-US" altLang="zh-CN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kumimoji="0" lang="zh-CN" altLang="zh-CN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函数无返回值</a:t>
            </a: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free</a:t>
            </a:r>
            <a:r>
              <a:rPr kumimoji="0" lang="zh-CN" altLang="en-US" sz="18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的重要性</a:t>
            </a:r>
            <a:endParaRPr kumimoji="0" lang="zh-CN" altLang="en-US" sz="1800" b="1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静态内存的数量在编译时是固定的，在程序运行期间也不会改变。局部变量使用的内存数量在程序执行期间自动增加或减少。但是动态分配的内存数量只会增加，除非用free()进行释放。</a:t>
            </a:r>
            <a:endParaRPr kumimoji="0" lang="zh-CN" altLang="en-US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blinds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9089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00350" y="264319"/>
            <a:ext cx="3960019" cy="285035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090" name="文本框 1"/>
          <p:cNvSpPr txBox="1"/>
          <p:nvPr/>
        </p:nvSpPr>
        <p:spPr>
          <a:xfrm>
            <a:off x="1656160" y="3184922"/>
            <a:ext cx="1897380" cy="321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500">
                <a:latin typeface="宋体" pitchFamily="2" charset="-122"/>
              </a:rPr>
              <a:t>第1次调用</a:t>
            </a:r>
            <a:r>
              <a:rPr lang="en-US" altLang="zh-CN" sz="1500">
                <a:latin typeface="宋体" pitchFamily="2" charset="-122"/>
              </a:rPr>
              <a:t>assi</a:t>
            </a:r>
            <a:r>
              <a:rPr lang="zh-CN" altLang="en-US" sz="1500">
                <a:latin typeface="宋体" pitchFamily="2" charset="-122"/>
              </a:rPr>
              <a:t>()时</a:t>
            </a:r>
            <a:r>
              <a:rPr lang="en-US" altLang="zh-CN" sz="1500">
                <a:latin typeface="宋体" pitchFamily="2" charset="-122"/>
              </a:rPr>
              <a:t>:</a:t>
            </a:r>
            <a:endParaRPr lang="en-US" altLang="zh-CN" sz="1500">
              <a:latin typeface="宋体" pitchFamily="2" charset="-122"/>
            </a:endParaRPr>
          </a:p>
        </p:txBody>
      </p:sp>
      <p:sp>
        <p:nvSpPr>
          <p:cNvPr id="89091" name="文本框 2"/>
          <p:cNvSpPr txBox="1"/>
          <p:nvPr/>
        </p:nvSpPr>
        <p:spPr>
          <a:xfrm>
            <a:off x="1656160" y="3557588"/>
            <a:ext cx="1897380" cy="321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500">
                <a:latin typeface="宋体" pitchFamily="2" charset="-122"/>
                <a:sym typeface="宋体" pitchFamily="2" charset="-122"/>
              </a:rPr>
              <a:t>第</a:t>
            </a:r>
            <a:r>
              <a:rPr lang="en-US" altLang="zh-CN" sz="1500">
                <a:latin typeface="宋体" pitchFamily="2" charset="-122"/>
                <a:sym typeface="宋体" pitchFamily="2" charset="-122"/>
              </a:rPr>
              <a:t>2</a:t>
            </a:r>
            <a:r>
              <a:rPr lang="zh-CN" altLang="en-US" sz="1500">
                <a:latin typeface="宋体" pitchFamily="2" charset="-122"/>
                <a:sym typeface="宋体" pitchFamily="2" charset="-122"/>
              </a:rPr>
              <a:t>次调用</a:t>
            </a:r>
            <a:r>
              <a:rPr lang="en-US" altLang="zh-CN" sz="1500">
                <a:latin typeface="宋体" pitchFamily="2" charset="-122"/>
                <a:sym typeface="宋体" pitchFamily="2" charset="-122"/>
              </a:rPr>
              <a:t>assi</a:t>
            </a:r>
            <a:r>
              <a:rPr lang="zh-CN" altLang="en-US" sz="1500">
                <a:latin typeface="宋体" pitchFamily="2" charset="-122"/>
                <a:sym typeface="宋体" pitchFamily="2" charset="-122"/>
              </a:rPr>
              <a:t>()时</a:t>
            </a:r>
            <a:r>
              <a:rPr lang="en-US" altLang="zh-CN" sz="1500">
                <a:latin typeface="宋体" pitchFamily="2" charset="-122"/>
                <a:sym typeface="宋体" pitchFamily="2" charset="-122"/>
              </a:rPr>
              <a:t>:</a:t>
            </a:r>
            <a:endParaRPr lang="en-US" altLang="zh-CN" sz="1500"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9092" name="文本框 3"/>
          <p:cNvSpPr txBox="1"/>
          <p:nvPr/>
        </p:nvSpPr>
        <p:spPr>
          <a:xfrm>
            <a:off x="2238375" y="3908822"/>
            <a:ext cx="468630" cy="321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500">
                <a:latin typeface="宋体" pitchFamily="2" charset="-122"/>
                <a:sym typeface="宋体" pitchFamily="2" charset="-122"/>
              </a:rPr>
              <a:t>...</a:t>
            </a:r>
            <a:endParaRPr lang="en-US" altLang="zh-CN" sz="1500"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9093" name="文本框 4"/>
          <p:cNvSpPr txBox="1"/>
          <p:nvPr/>
        </p:nvSpPr>
        <p:spPr>
          <a:xfrm>
            <a:off x="1656160" y="4244579"/>
            <a:ext cx="2183130" cy="321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500">
                <a:latin typeface="宋体" pitchFamily="2" charset="-122"/>
                <a:sym typeface="宋体" pitchFamily="2" charset="-122"/>
              </a:rPr>
              <a:t>第</a:t>
            </a:r>
            <a:r>
              <a:rPr lang="en-US" altLang="zh-CN" sz="1500">
                <a:latin typeface="宋体" pitchFamily="2" charset="-122"/>
                <a:sym typeface="宋体" pitchFamily="2" charset="-122"/>
              </a:rPr>
              <a:t>1000</a:t>
            </a:r>
            <a:r>
              <a:rPr lang="zh-CN" altLang="en-US" sz="1500">
                <a:latin typeface="宋体" pitchFamily="2" charset="-122"/>
                <a:sym typeface="宋体" pitchFamily="2" charset="-122"/>
              </a:rPr>
              <a:t>次调用</a:t>
            </a:r>
            <a:r>
              <a:rPr lang="en-US" altLang="zh-CN" sz="1500">
                <a:latin typeface="宋体" pitchFamily="2" charset="-122"/>
                <a:sym typeface="宋体" pitchFamily="2" charset="-122"/>
              </a:rPr>
              <a:t>assi</a:t>
            </a:r>
            <a:r>
              <a:rPr lang="zh-CN" altLang="en-US" sz="1500">
                <a:latin typeface="宋体" pitchFamily="2" charset="-122"/>
                <a:sym typeface="宋体" pitchFamily="2" charset="-122"/>
              </a:rPr>
              <a:t>()时</a:t>
            </a:r>
            <a:r>
              <a:rPr lang="en-US" altLang="zh-CN" sz="1500">
                <a:latin typeface="宋体" pitchFamily="2" charset="-122"/>
                <a:sym typeface="宋体" pitchFamily="2" charset="-122"/>
              </a:rPr>
              <a:t>:</a:t>
            </a:r>
            <a:endParaRPr lang="en-US" altLang="zh-CN" sz="1500"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9094" name="文本框 5"/>
          <p:cNvSpPr txBox="1"/>
          <p:nvPr/>
        </p:nvSpPr>
        <p:spPr>
          <a:xfrm>
            <a:off x="1507331" y="264319"/>
            <a:ext cx="754380" cy="321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500">
                <a:latin typeface="宋体" pitchFamily="2" charset="-122"/>
                <a:sym typeface="宋体" pitchFamily="2" charset="-122"/>
              </a:rPr>
              <a:t>分析：</a:t>
            </a:r>
            <a:endParaRPr lang="zh-CN" altLang="en-US" sz="1500">
              <a:latin typeface="宋体" pitchFamily="2" charset="-122"/>
              <a:sym typeface="宋体" pitchFamily="2" charset="-122"/>
            </a:endParaRPr>
          </a:p>
        </p:txBody>
      </p:sp>
    </p:spTree>
  </p:cSld>
  <p:clrMapOvr>
    <a:masterClrMapping/>
  </p:clrMapOvr>
  <p:transition spd="med">
    <p:checker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02755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1232297"/>
            <a:ext cx="6268641" cy="300037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4. realloc</a:t>
            </a:r>
            <a:r>
              <a:rPr lang="zh-CN" altLang="zh-CN" dirty="0"/>
              <a:t>函数</a:t>
            </a:r>
            <a:endParaRPr lang="zh-CN" altLang="zh-CN" dirty="0"/>
          </a:p>
          <a:p>
            <a:r>
              <a:rPr lang="zh-CN" altLang="zh-CN" dirty="0"/>
              <a:t>其函数原型为</a:t>
            </a:r>
            <a:endParaRPr lang="zh-CN" altLang="zh-CN" dirty="0"/>
          </a:p>
          <a:p>
            <a:pPr>
              <a:buNone/>
            </a:pPr>
            <a:r>
              <a:rPr lang="en-US" altLang="zh-CN" sz="2100" dirty="0"/>
              <a:t>void *realloc(void *p,unsigned int size);</a:t>
            </a:r>
            <a:endParaRPr lang="zh-CN" altLang="zh-CN" sz="2100" dirty="0"/>
          </a:p>
          <a:p>
            <a:r>
              <a:rPr lang="zh-CN" altLang="zh-CN" dirty="0"/>
              <a:t>如果已经通过</a:t>
            </a:r>
            <a:r>
              <a:rPr lang="en-US" altLang="zh-CN" dirty="0"/>
              <a:t>malloc</a:t>
            </a:r>
            <a:r>
              <a:rPr lang="zh-CN" altLang="zh-CN" dirty="0"/>
              <a:t>函数或</a:t>
            </a:r>
            <a:r>
              <a:rPr lang="en-US" altLang="zh-CN" dirty="0"/>
              <a:t>calloc</a:t>
            </a:r>
            <a:r>
              <a:rPr lang="zh-CN" altLang="zh-CN" dirty="0"/>
              <a:t>函数获得了动态空间，想改变其大小，可以用</a:t>
            </a:r>
            <a:r>
              <a:rPr lang="en-US" altLang="zh-CN" dirty="0"/>
              <a:t>realloc</a:t>
            </a:r>
            <a:r>
              <a:rPr lang="zh-CN" altLang="zh-CN" dirty="0"/>
              <a:t>函数重新分配。</a:t>
            </a:r>
            <a:endParaRPr lang="zh-CN" altLang="zh-CN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charRg st="6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charRg st="62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62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1232297"/>
            <a:ext cx="6268641" cy="3000375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用</a:t>
            </a:r>
            <a:r>
              <a:rPr lang="en-US" altLang="zh-CN" dirty="0"/>
              <a:t>realloc</a:t>
            </a:r>
            <a:r>
              <a:rPr lang="zh-CN" altLang="zh-CN" dirty="0"/>
              <a:t>函数将</a:t>
            </a:r>
            <a:r>
              <a:rPr lang="en-US" altLang="zh-CN" dirty="0"/>
              <a:t>p</a:t>
            </a:r>
            <a:r>
              <a:rPr lang="zh-CN" altLang="zh-CN" dirty="0"/>
              <a:t>所指向的动态空间的大小改变为</a:t>
            </a:r>
            <a:r>
              <a:rPr lang="en-US" altLang="zh-CN" dirty="0"/>
              <a:t>size</a:t>
            </a:r>
            <a:r>
              <a:rPr lang="zh-CN" altLang="zh-CN" dirty="0"/>
              <a:t>。</a:t>
            </a:r>
            <a:r>
              <a:rPr lang="en-US" altLang="zh-CN" dirty="0"/>
              <a:t>p</a:t>
            </a:r>
            <a:r>
              <a:rPr lang="zh-CN" altLang="zh-CN" dirty="0"/>
              <a:t>的值不变。如果重分配不成功，返回</a:t>
            </a:r>
            <a:r>
              <a:rPr lang="en-US" altLang="zh-CN" dirty="0"/>
              <a:t>NULL</a:t>
            </a:r>
            <a:r>
              <a:rPr lang="zh-CN" altLang="zh-CN" dirty="0"/>
              <a:t>。如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realloc(p,50);         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</a:t>
            </a:r>
            <a:r>
              <a:rPr lang="zh-CN" altLang="zh-CN" dirty="0"/>
              <a:t>将</a:t>
            </a:r>
            <a:r>
              <a:rPr lang="en-US" altLang="zh-CN" dirty="0"/>
              <a:t>p</a:t>
            </a:r>
            <a:r>
              <a:rPr lang="zh-CN" altLang="zh-CN" dirty="0"/>
              <a:t>所指向的已分配的动态空间改为</a:t>
            </a:r>
            <a:r>
              <a:rPr lang="en-US" altLang="zh-CN" dirty="0"/>
              <a:t>50</a:t>
            </a:r>
            <a:r>
              <a:rPr lang="zh-CN" altLang="zh-CN" dirty="0"/>
              <a:t>字节</a:t>
            </a:r>
            <a:r>
              <a:rPr lang="en-US" altLang="zh-CN" dirty="0"/>
              <a:t> </a:t>
            </a:r>
            <a:endParaRPr lang="zh-CN" altLang="zh-CN" dirty="0"/>
          </a:p>
        </p:txBody>
      </p:sp>
    </p:spTree>
  </p:cSld>
  <p:clrMapOvr>
    <a:masterClrMapping/>
  </p:clrMapOvr>
  <p:transition spd="med">
    <p:blinds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56" y="482204"/>
            <a:ext cx="6643688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怎样建立内存的动态分配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3186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1232297"/>
            <a:ext cx="6268641" cy="3000375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以上</a:t>
            </a:r>
            <a:r>
              <a:rPr lang="en-US" altLang="zh-CN" dirty="0"/>
              <a:t>4</a:t>
            </a:r>
            <a:r>
              <a:rPr lang="zh-CN" altLang="zh-CN" dirty="0"/>
              <a:t>个函数的声明在</a:t>
            </a:r>
            <a:r>
              <a:rPr lang="en-US" altLang="zh-CN" dirty="0"/>
              <a:t>stdlib.h</a:t>
            </a:r>
            <a:r>
              <a:rPr lang="zh-CN" altLang="zh-CN" dirty="0"/>
              <a:t>头文件中，在用到这些函数时应当用“</a:t>
            </a:r>
            <a:r>
              <a:rPr lang="en-US" altLang="zh-CN" dirty="0"/>
              <a:t>#include &lt;stdlib.h&gt;</a:t>
            </a:r>
            <a:r>
              <a:rPr lang="zh-CN" altLang="zh-CN" dirty="0"/>
              <a:t>”指令把</a:t>
            </a:r>
            <a:r>
              <a:rPr lang="en-US" altLang="zh-CN" dirty="0"/>
              <a:t>stdlib.h</a:t>
            </a:r>
            <a:r>
              <a:rPr lang="zh-CN" altLang="zh-CN" dirty="0"/>
              <a:t>头文件包含到程序文件中。</a:t>
            </a:r>
            <a:endParaRPr lang="zh-CN" altLang="zh-CN" dirty="0"/>
          </a:p>
        </p:txBody>
      </p:sp>
    </p:spTree>
  </p:cSld>
  <p:clrMapOvr>
    <a:masterClrMapping/>
  </p:clrMapOvr>
  <p:transition spd="med">
    <p:blinds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内容占位符 2"/>
          <p:cNvSpPr>
            <a:spLocks noGrp="1"/>
          </p:cNvSpPr>
          <p:nvPr>
            <p:ph idx="1" hasCustomPrompt="1"/>
          </p:nvPr>
        </p:nvSpPr>
        <p:spPr>
          <a:xfrm>
            <a:off x="1609725" y="910829"/>
            <a:ext cx="2842022" cy="3715940"/>
          </a:xfrm>
          <a:solidFill>
            <a:schemeClr val="bg1"/>
          </a:solidFill>
        </p:spPr>
        <p:txBody>
          <a:bodyPr vert="horz" wrap="square" lIns="68580" tIns="34290" rIns="68580" bIns="34290" anchor="t" anchorCtr="0"/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#include &lt;stdio.h&gt;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#include </a:t>
            </a:r>
            <a:r>
              <a:rPr lang="en-US" altLang="zh-CN" sz="1500" dirty="0">
                <a:solidFill>
                  <a:srgbClr val="6600FF"/>
                </a:solidFill>
              </a:rPr>
              <a:t>&lt;stdlib.h&gt;</a:t>
            </a:r>
            <a:endParaRPr lang="zh-CN" altLang="zh-CN" sz="1500" dirty="0">
              <a:solidFill>
                <a:srgbClr val="6600FF"/>
              </a:solidFill>
            </a:endParaRPr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int main()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{ </a:t>
            </a:r>
            <a:endParaRPr lang="en-US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void check(int *); 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int *p1,i; </a:t>
            </a:r>
            <a:endParaRPr lang="en-US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int n;</a:t>
            </a:r>
            <a:endParaRPr lang="en-US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scanf ("%d",&amp;n);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p1=</a:t>
            </a:r>
            <a:r>
              <a:rPr lang="en-US" altLang="zh-CN" sz="1500" dirty="0">
                <a:solidFill>
                  <a:srgbClr val="FF0000"/>
                </a:solidFill>
              </a:rPr>
              <a:t>(int *)</a:t>
            </a:r>
            <a:r>
              <a:rPr lang="en-US" altLang="zh-CN" sz="1500" dirty="0">
                <a:solidFill>
                  <a:srgbClr val="9D138D"/>
                </a:solidFill>
              </a:rPr>
              <a:t>malloc</a:t>
            </a:r>
            <a:r>
              <a:rPr lang="en-US" altLang="zh-CN" sz="1500" dirty="0"/>
              <a:t>(n*sizeof(int)); 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for(i=0;i&lt;5;i++) 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   scanf("%d",p1+i);  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check(p1); </a:t>
            </a:r>
            <a:endParaRPr lang="en-US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</a:t>
            </a:r>
            <a:r>
              <a:rPr lang="en-US" altLang="zh-CN" sz="1500" dirty="0">
                <a:solidFill>
                  <a:srgbClr val="FF0000"/>
                </a:solidFill>
              </a:rPr>
              <a:t>free(p1);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   return 0;</a:t>
            </a:r>
            <a:endParaRPr lang="zh-CN" altLang="zh-CN" sz="1500" dirty="0"/>
          </a:p>
          <a:p>
            <a:pPr fontAlgn="auto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1500" dirty="0"/>
              <a:t>}</a:t>
            </a:r>
            <a:endParaRPr lang="zh-CN" altLang="zh-CN" sz="1500" dirty="0"/>
          </a:p>
          <a:p>
            <a:pPr>
              <a:lnSpc>
                <a:spcPts val="3000"/>
              </a:lnSpc>
              <a:buNone/>
            </a:pPr>
            <a:endParaRPr lang="zh-CN" altLang="zh-CN" sz="1500" dirty="0"/>
          </a:p>
        </p:txBody>
      </p:sp>
      <p:sp>
        <p:nvSpPr>
          <p:cNvPr id="73729" name="内容占位符 2"/>
          <p:cNvSpPr>
            <a:spLocks noGrp="1"/>
          </p:cNvSpPr>
          <p:nvPr/>
        </p:nvSpPr>
        <p:spPr>
          <a:xfrm>
            <a:off x="5478066" y="1283494"/>
            <a:ext cx="2334815" cy="3321844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void check(int *p)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{ </a:t>
            </a:r>
            <a:endParaRPr lang="en-US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int i;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printf("They are fail:");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for(i=0;i&lt;5;i++)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   if (p[i]&lt;60) </a:t>
            </a:r>
            <a:endParaRPr lang="en-US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      printf("%d ",p[i]); 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 printf("\n");</a:t>
            </a:r>
            <a:endParaRPr lang="zh-CN" altLang="zh-CN" sz="1500" dirty="0"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} </a:t>
            </a:r>
            <a:endParaRPr lang="en-US" altLang="zh-CN" sz="1500" dirty="0">
              <a:latin typeface="Arial" panose="020B0604020202090204" pitchFamily="34" charset="0"/>
            </a:endParaRPr>
          </a:p>
        </p:txBody>
      </p:sp>
      <p:cxnSp>
        <p:nvCxnSpPr>
          <p:cNvPr id="2" name="肘形连接符 1"/>
          <p:cNvCxnSpPr/>
          <p:nvPr/>
        </p:nvCxnSpPr>
        <p:spPr>
          <a:xfrm flipV="1">
            <a:off x="2883694" y="1426369"/>
            <a:ext cx="2646760" cy="2483644"/>
          </a:xfrm>
          <a:prstGeom prst="bentConnector3">
            <a:avLst>
              <a:gd name="adj1" fmla="val 77541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64194" name="Picture 2" descr="pic8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244" y="4048125"/>
            <a:ext cx="2814638" cy="509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3" name="Rectangle 3"/>
          <p:cNvSpPr>
            <a:spLocks noGrp="1"/>
          </p:cNvSpPr>
          <p:nvPr/>
        </p:nvSpPr>
        <p:spPr>
          <a:xfrm>
            <a:off x="1381125" y="228600"/>
            <a:ext cx="6268641" cy="682229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1500" dirty="0">
                <a:latin typeface="Arial" panose="020B0604020202090204" pitchFamily="34" charset="0"/>
              </a:rPr>
              <a:t>  </a:t>
            </a:r>
            <a:r>
              <a:rPr lang="zh-CN" altLang="zh-CN" sz="1500" dirty="0">
                <a:latin typeface="Arial" panose="020B0604020202090204" pitchFamily="34" charset="0"/>
              </a:rPr>
              <a:t>例</a:t>
            </a:r>
            <a:r>
              <a:rPr lang="zh-CN" altLang="en-US" sz="1500" dirty="0">
                <a:latin typeface="Arial" panose="020B0604020202090204" pitchFamily="34" charset="0"/>
              </a:rPr>
              <a:t>：</a:t>
            </a:r>
            <a:r>
              <a:rPr lang="en-US" altLang="zh-CN" sz="1500" dirty="0">
                <a:latin typeface="Arial" panose="020B0604020202090204" pitchFamily="34" charset="0"/>
              </a:rPr>
              <a:t> </a:t>
            </a:r>
            <a:r>
              <a:rPr lang="zh-CN" altLang="en-US" sz="1500" dirty="0">
                <a:latin typeface="Arial" panose="020B0604020202090204" pitchFamily="34" charset="0"/>
              </a:rPr>
              <a:t>用户</a:t>
            </a:r>
            <a:r>
              <a:rPr lang="zh-CN" altLang="zh-CN" sz="1500" dirty="0">
                <a:latin typeface="Arial" panose="020B0604020202090204" pitchFamily="34" charset="0"/>
              </a:rPr>
              <a:t>输入</a:t>
            </a:r>
            <a:r>
              <a:rPr lang="en-US" altLang="zh-CN" sz="1500" dirty="0">
                <a:latin typeface="Arial" panose="020B0604020202090204" pitchFamily="34" charset="0"/>
              </a:rPr>
              <a:t>n</a:t>
            </a:r>
            <a:r>
              <a:rPr lang="zh-CN" altLang="zh-CN" sz="1500" dirty="0">
                <a:latin typeface="Arial" panose="020B0604020202090204" pitchFamily="34" charset="0"/>
              </a:rPr>
              <a:t>个学生的成绩</a:t>
            </a:r>
            <a:r>
              <a:rPr lang="zh-CN" altLang="en-US" sz="1500" dirty="0">
                <a:latin typeface="Arial" panose="020B0604020202090204" pitchFamily="34" charset="0"/>
              </a:rPr>
              <a:t>存入</a:t>
            </a:r>
            <a:r>
              <a:rPr lang="zh-CN" altLang="zh-CN" sz="1500" dirty="0">
                <a:latin typeface="Arial" panose="020B0604020202090204" pitchFamily="34" charset="0"/>
              </a:rPr>
              <a:t>数组，</a:t>
            </a:r>
            <a:r>
              <a:rPr lang="zh-CN" altLang="en-US" sz="1500" dirty="0">
                <a:latin typeface="Arial" panose="020B0604020202090204" pitchFamily="34" charset="0"/>
              </a:rPr>
              <a:t>并</a:t>
            </a:r>
            <a:r>
              <a:rPr lang="zh-CN" altLang="zh-CN" sz="1500" dirty="0">
                <a:latin typeface="Arial" panose="020B0604020202090204" pitchFamily="34" charset="0"/>
              </a:rPr>
              <a:t>检查其中有无低于</a:t>
            </a:r>
            <a:r>
              <a:rPr lang="en-US" altLang="zh-CN" sz="1500" dirty="0">
                <a:latin typeface="Arial" panose="020B0604020202090204" pitchFamily="34" charset="0"/>
              </a:rPr>
              <a:t>60</a:t>
            </a:r>
            <a:r>
              <a:rPr lang="zh-CN" altLang="zh-CN" sz="1500" dirty="0">
                <a:latin typeface="Arial" panose="020B0604020202090204" pitchFamily="34" charset="0"/>
              </a:rPr>
              <a:t>分的，输出不合格的成绩。</a:t>
            </a:r>
            <a:endParaRPr lang="zh-CN" altLang="zh-CN" sz="15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9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  <p:tag name="TABLE_ENDDRAG_ORIGIN_RECT" val="69*317"/>
  <p:tag name="TABLE_ENDDRAG_RECT" val="414*87*69*317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UNIT_PLACING_PICTURE_USER_VIEWPORT" val="{&quot;height&quot;:5925,&quot;width&quot;:8235}"/>
</p:tagLst>
</file>

<file path=ppt/tags/tag12.xml><?xml version="1.0" encoding="utf-8"?>
<p:tagLst xmlns:p="http://schemas.openxmlformats.org/presentationml/2006/main">
  <p:tag name="KSO_WPP_MARK_KEY" val="06e9bb6b-4b73-46d8-a310-5d4bb7e549df"/>
  <p:tag name="COMMONDATA" val="eyJoZGlkIjoiODY5YmNiYTY4NjQ3Zjc2MmM5YTEwNTg4NWRkNjhjOTc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14089</Words>
  <Application>WPS 文字</Application>
  <PresentationFormat/>
  <Paragraphs>1404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104" baseType="lpstr">
      <vt:lpstr>Arial</vt:lpstr>
      <vt:lpstr>宋体</vt:lpstr>
      <vt:lpstr>Wingdings</vt:lpstr>
      <vt:lpstr>Calibri</vt:lpstr>
      <vt:lpstr>微软雅黑</vt:lpstr>
      <vt:lpstr>汉仪旗黑</vt:lpstr>
      <vt:lpstr>汉仪书宋二KW</vt:lpstr>
      <vt:lpstr>Calibri</vt:lpstr>
      <vt:lpstr>隶书</vt:lpstr>
      <vt:lpstr>报隶-简</vt:lpstr>
      <vt:lpstr>Times New Roman</vt:lpstr>
      <vt:lpstr>楷体</vt:lpstr>
      <vt:lpstr>Cambria Math</vt:lpstr>
      <vt:lpstr>汉仪综艺体简</vt:lpstr>
      <vt:lpstr>黑体</vt:lpstr>
      <vt:lpstr>汉仪中黑KW</vt:lpstr>
      <vt:lpstr>等线</vt:lpstr>
      <vt:lpstr>汉仪中等线KW</vt:lpstr>
      <vt:lpstr>汉仪楷体KW</vt:lpstr>
      <vt:lpstr>宋体</vt:lpstr>
      <vt:lpstr>Arial Unicode MS</vt:lpstr>
      <vt:lpstr>Helvetica Neue</vt:lpstr>
      <vt:lpstr>Verdana</vt:lpstr>
      <vt:lpstr>Kingsoft Math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怎样定义指针变量</vt:lpstr>
      <vt:lpstr>怎样引用指针变量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指针变量作为函数参数</vt:lpstr>
      <vt:lpstr>PowerPoint 演示文稿</vt:lpstr>
      <vt:lpstr>PowerPoint 演示文稿</vt:lpstr>
      <vt:lpstr>PowerPoint 演示文稿</vt:lpstr>
      <vt:lpstr>PowerPoint 演示文稿</vt:lpstr>
      <vt:lpstr>数组元素的指针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数组的指针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字符指针变量和字符数组的比较</vt:lpstr>
      <vt:lpstr>字符指针变量和字符数组的比较</vt:lpstr>
      <vt:lpstr>字符指针变量和字符数组的比较</vt:lpstr>
      <vt:lpstr>字符指针变量和字符数组的比较</vt:lpstr>
      <vt:lpstr>字符指针变量和字符数组的比较</vt:lpstr>
      <vt:lpstr>字符指针变量和字符数组的比较</vt:lpstr>
      <vt:lpstr>PowerPoint 演示文稿</vt:lpstr>
      <vt:lpstr>什么是函数指针</vt:lpstr>
      <vt:lpstr>用函数指针变量调用函数</vt:lpstr>
      <vt:lpstr>怎样定义和使用指向函数的指针变量</vt:lpstr>
      <vt:lpstr>PowerPoint 演示文稿</vt:lpstr>
      <vt:lpstr>PowerPoint 演示文稿</vt:lpstr>
      <vt:lpstr>返回指针值的函数</vt:lpstr>
      <vt:lpstr>PowerPoint 演示文稿</vt:lpstr>
      <vt:lpstr>PowerPoint 演示文稿</vt:lpstr>
      <vt:lpstr>PowerPoint 演示文稿</vt:lpstr>
      <vt:lpstr>什么是指针数组</vt:lpstr>
      <vt:lpstr>什么是指针数组</vt:lpstr>
      <vt:lpstr>PowerPoint 演示文稿</vt:lpstr>
      <vt:lpstr>PowerPoint 演示文稿</vt:lpstr>
      <vt:lpstr>指向指针数据的指针</vt:lpstr>
      <vt:lpstr>PowerPoint 演示文稿</vt:lpstr>
      <vt:lpstr>建立内存的动态分配</vt:lpstr>
      <vt:lpstr>怎样建立内存的动态分配</vt:lpstr>
      <vt:lpstr>怎样建立内存的动态分配</vt:lpstr>
      <vt:lpstr>怎样建立内存的动态分配</vt:lpstr>
      <vt:lpstr>怎样建立内存的动态分配</vt:lpstr>
      <vt:lpstr>怎样建立内存的动态分配</vt:lpstr>
      <vt:lpstr>PowerPoint 演示文稿</vt:lpstr>
      <vt:lpstr>怎样建立内存的动态分配</vt:lpstr>
      <vt:lpstr>怎样建立内存的动态分配</vt:lpstr>
      <vt:lpstr>怎样建立内存的动态分配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朱静雯</cp:lastModifiedBy>
  <cp:revision>1433</cp:revision>
  <dcterms:created xsi:type="dcterms:W3CDTF">2024-08-20T11:49:18Z</dcterms:created>
  <dcterms:modified xsi:type="dcterms:W3CDTF">2024-08-20T11:49:18Z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2023-08-29T07:21:40Z</vt:filetime>
  </property>
  <property fmtid="{D5CDD505-2E9C-101B-9397-08002B2CF9AE}" pid="4" name="ICV">
    <vt:lpwstr>CFDF18D4CA5D469BA19C0723CD8A7A5F_13</vt:lpwstr>
  </property>
  <property fmtid="{D5CDD505-2E9C-101B-9397-08002B2CF9AE}" pid="5" name="KSOProductBuildVer">
    <vt:lpwstr>2052-6.8.2.8850</vt:lpwstr>
  </property>
</Properties>
</file>