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6" r:id="rId3"/>
    <p:sldId id="652" r:id="rId5"/>
    <p:sldId id="759" r:id="rId6"/>
    <p:sldId id="760" r:id="rId7"/>
    <p:sldId id="704" r:id="rId8"/>
    <p:sldId id="705" r:id="rId9"/>
    <p:sldId id="706" r:id="rId10"/>
    <p:sldId id="707" r:id="rId11"/>
    <p:sldId id="708" r:id="rId12"/>
    <p:sldId id="709" r:id="rId13"/>
    <p:sldId id="710" r:id="rId14"/>
    <p:sldId id="711" r:id="rId15"/>
    <p:sldId id="712" r:id="rId16"/>
    <p:sldId id="713" r:id="rId17"/>
    <p:sldId id="816" r:id="rId18"/>
    <p:sldId id="714" r:id="rId19"/>
    <p:sldId id="862" r:id="rId20"/>
    <p:sldId id="863" r:id="rId21"/>
    <p:sldId id="864" r:id="rId22"/>
    <p:sldId id="719" r:id="rId23"/>
    <p:sldId id="720" r:id="rId24"/>
    <p:sldId id="721" r:id="rId25"/>
    <p:sldId id="722" r:id="rId26"/>
    <p:sldId id="723" r:id="rId27"/>
    <p:sldId id="724" r:id="rId28"/>
    <p:sldId id="725" r:id="rId29"/>
    <p:sldId id="726" r:id="rId30"/>
    <p:sldId id="865" r:id="rId31"/>
    <p:sldId id="727" r:id="rId32"/>
    <p:sldId id="728" r:id="rId33"/>
    <p:sldId id="729" r:id="rId34"/>
    <p:sldId id="730" r:id="rId35"/>
    <p:sldId id="732" r:id="rId36"/>
    <p:sldId id="733" r:id="rId37"/>
    <p:sldId id="734" r:id="rId38"/>
    <p:sldId id="735" r:id="rId39"/>
    <p:sldId id="866" r:id="rId40"/>
    <p:sldId id="736" r:id="rId41"/>
    <p:sldId id="737" r:id="rId42"/>
    <p:sldId id="738" r:id="rId43"/>
    <p:sldId id="871" r:id="rId44"/>
    <p:sldId id="739" r:id="rId45"/>
    <p:sldId id="740" r:id="rId46"/>
    <p:sldId id="741" r:id="rId47"/>
    <p:sldId id="742" r:id="rId48"/>
    <p:sldId id="743" r:id="rId49"/>
    <p:sldId id="744" r:id="rId50"/>
    <p:sldId id="745" r:id="rId51"/>
    <p:sldId id="746" r:id="rId52"/>
    <p:sldId id="747" r:id="rId53"/>
    <p:sldId id="748" r:id="rId54"/>
    <p:sldId id="749" r:id="rId55"/>
    <p:sldId id="750" r:id="rId56"/>
    <p:sldId id="751" r:id="rId57"/>
    <p:sldId id="752" r:id="rId58"/>
    <p:sldId id="753" r:id="rId59"/>
    <p:sldId id="754" r:id="rId60"/>
    <p:sldId id="755" r:id="rId61"/>
    <p:sldId id="756" r:id="rId62"/>
    <p:sldId id="757" r:id="rId63"/>
    <p:sldId id="758" r:id="rId64"/>
  </p:sldIdLst>
  <p:sldSz cx="9144000" cy="5143500"/>
  <p:notesSz cx="6858000" cy="9144000"/>
  <p:custDataLst>
    <p:tags r:id="rId6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engdan li" initials="zl" lastIdx="1" clrIdx="0"/>
  <p:cmAuthor id="2" name="lizhengdan" initials="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9" Type="http://schemas.openxmlformats.org/officeDocument/2006/relationships/tags" Target="tags/tag22.xml"/><Relationship Id="rId68" Type="http://schemas.openxmlformats.org/officeDocument/2006/relationships/commentAuthors" Target="commentAuthors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DEE91-9E5B-4C90-98E0-D34F93C6BF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 marL="12700" algn="l" rtl="0" eaLnBrk="0">
              <a:lnSpc>
                <a:spcPct val="93000"/>
              </a:lnSpc>
              <a:spcBef>
                <a:spcPts val="105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strcmp函数是string compare(字符串比较)的缩写，用于比较两个字符串并根据比较结果返回整数。基本形式为strcmp(str1,str2)，若str1=str2，则返回零；若str1&lt;str2，则返回负数；若str1&gt;str2，则返回正数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1C3BB909-BA8B-4CC5-AF4F-417D76428D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>
            <a:lvl1pPr algn="r">
              <a:defRPr sz="12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E1F9FB-DACA-49B5-8A56-3AE278C745E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4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87" y="0"/>
            <a:ext cx="9145587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4A6649B-253A-46CC-9C65-97B6E8AC290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85725"/>
            <a:ext cx="7766050" cy="542925"/>
          </a:xfrm>
          <a:prstGeom prst="rect">
            <a:avLst/>
          </a:prstGeom>
        </p:spPr>
        <p:txBody>
          <a:bodyPr/>
          <a:lstStyle>
            <a:lvl1pPr algn="l">
              <a:defRPr sz="27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500"/>
            </a:lvl2pPr>
            <a:lvl3pPr>
              <a:lnSpc>
                <a:spcPct val="150000"/>
              </a:lnSpc>
              <a:defRPr sz="135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01C99CA-61FC-4162-8EF6-6549A53D5973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ChangeArrowheads="1"/>
          </p:cNvSpPr>
          <p:nvPr/>
        </p:nvSpPr>
        <p:spPr bwMode="auto">
          <a:xfrm>
            <a:off x="174625" y="76200"/>
            <a:ext cx="5148263" cy="573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571500" marR="0" lvl="0" indent="-5715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700" b="1" i="0" u="none" strike="noStrike" kern="1200" cap="none" spc="3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 </a:t>
            </a:r>
            <a:r>
              <a:rPr kumimoji="0" lang="zh-CN" altLang="en-US" sz="2700" b="1" i="0" u="none" strike="noStrike" kern="1200" cap="none" spc="3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Wingdings" panose="05000000000000000000" pitchFamily="2" charset="2"/>
              </a:rPr>
              <a:t>目录</a:t>
            </a:r>
            <a:endParaRPr kumimoji="0" lang="zh-CN" altLang="en-US" sz="2700" b="1" i="0" u="none" strike="noStrike" kern="1200" cap="none" spc="30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宋体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00100"/>
            <a:ext cx="8229600" cy="379452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3" name="Group 5"/>
          <p:cNvGrpSpPr/>
          <p:nvPr userDrawn="1"/>
        </p:nvGrpSpPr>
        <p:grpSpPr>
          <a:xfrm>
            <a:off x="5286375" y="-4762"/>
            <a:ext cx="3863975" cy="481013"/>
            <a:chOff x="80" y="0"/>
            <a:chExt cx="6086" cy="1010"/>
          </a:xfrm>
        </p:grpSpPr>
        <p:pic>
          <p:nvPicPr>
            <p:cNvPr id="2055" name="Picture 6" descr="D:\幻灯片\图片\logo2.pnglogo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0" y="0"/>
              <a:ext cx="1116" cy="10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80" y="415"/>
              <a:ext cx="5353" cy="5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让</a:t>
              </a:r>
              <a:r>
                <a:rPr kumimoji="0" lang="en-US" altLang="zh-CN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IT</a:t>
              </a: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教学更简单，让</a:t>
              </a:r>
              <a:r>
                <a:rPr kumimoji="0" lang="en-US" altLang="zh-CN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IT</a:t>
              </a:r>
              <a:r>
                <a:rPr kumimoji="0" lang="zh-CN" altLang="en-US" sz="12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ACE6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pitchFamily="34" charset="0"/>
                </a:rPr>
                <a:t>学习更有效</a:t>
              </a:r>
              <a:endParaRPr kumimoji="0" lang="en-US" altLang="zh-CN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CE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Calibri" panose="020F0502020204030204" pitchFamily="34" charset="0"/>
              </a:endParaRPr>
            </a:p>
          </p:txBody>
        </p:sp>
      </p:grpSp>
      <p:pic>
        <p:nvPicPr>
          <p:cNvPr id="2054" name="Picture 2" descr="http://attach.bbs.miui.com/forum/201302/27/231712nzs6bezpzugpbm81.jp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0513" y="3830241"/>
            <a:ext cx="1292225" cy="114061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1847852"/>
            <a:ext cx="7772400" cy="704849"/>
          </a:xfrm>
          <a:prstGeom prst="rect">
            <a:avLst/>
          </a:prstGeom>
        </p:spPr>
        <p:txBody>
          <a:bodyPr/>
          <a:lstStyle>
            <a:lvl1pPr algn="l">
              <a:defRPr sz="3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743200" y="2914650"/>
            <a:ext cx="6400800" cy="793750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Arial" panose="020B0604020202090204" pitchFamily="34" charset="0"/>
              <a:buChar char="•"/>
              <a:defRPr sz="15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8360"/>
            <a:ext cx="8229600" cy="854869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682729"/>
            <a:ext cx="2133600" cy="342900"/>
          </a:xfrm>
        </p:spPr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686300"/>
            <a:ext cx="2895600" cy="34290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682729"/>
            <a:ext cx="2133600" cy="342900"/>
          </a:xfrm>
        </p:spPr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BADE0A-06C1-4F98-B0C9-955A98D113B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7" Type="http://schemas.openxmlformats.org/officeDocument/2006/relationships/theme" Target="../theme/theme1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6.xml"/><Relationship Id="rId3" Type="http://schemas.openxmlformats.org/officeDocument/2006/relationships/image" Target="../media/image9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tags" Target="../tags/tag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9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tags" Target="../tags/tag2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tags" Target="../tags/tag2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81923"/>
          <p:cNvSpPr txBox="1"/>
          <p:nvPr/>
        </p:nvSpPr>
        <p:spPr>
          <a:xfrm>
            <a:off x="1638300" y="334804"/>
            <a:ext cx="5867400" cy="18240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800" b="1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noProof="1">
                <a:solidFill>
                  <a:srgbClr val="33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90204" pitchFamily="34" charset="0"/>
                <a:ea typeface="隶书" panose="02010509060101010101" pitchFamily="49" charset="-122"/>
              </a:rPr>
              <a:t>数组</a:t>
            </a:r>
            <a:endParaRPr lang="zh-CN" altLang="en-US" sz="3600" noProof="1">
              <a:solidFill>
                <a:srgbClr val="330066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90204" pitchFamily="34" charset="0"/>
              <a:ea typeface="隶书" panose="02010509060101010101" pitchFamily="49" charset="-122"/>
            </a:endParaRPr>
          </a:p>
        </p:txBody>
      </p:sp>
      <p:sp>
        <p:nvSpPr>
          <p:cNvPr id="3" name="副标题 81924"/>
          <p:cNvSpPr txBox="1"/>
          <p:nvPr/>
        </p:nvSpPr>
        <p:spPr>
          <a:xfrm>
            <a:off x="2195513" y="2914650"/>
            <a:ext cx="4752975" cy="13144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4805" lvl="1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94055" lvl="2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330" lvl="3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2700" lvl="4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None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193B8F"/>
                </a:solidFill>
                <a:latin typeface="Times New Roman" panose="02020503050405090304" pitchFamily="18" charset="0"/>
                <a:ea typeface="楷体" panose="02010609060101010101" pitchFamily="49" charset="-122"/>
              </a:rPr>
              <a:t>朱静雯</a:t>
            </a:r>
            <a:endParaRPr lang="zh-CN" altLang="en-US" sz="2400" dirty="0">
              <a:solidFill>
                <a:srgbClr val="193B8F"/>
              </a:solidFill>
              <a:latin typeface="Times New Roman" panose="02020503050405090304" pitchFamily="18" charset="0"/>
              <a:ea typeface="楷体" panose="02010609060101010101" pitchFamily="49" charset="-122"/>
            </a:endParaRPr>
          </a:p>
          <a:p>
            <a:pPr algn="ctr"/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zhujingwen@nankai.edu.cn</a:t>
            </a:r>
            <a:endParaRPr lang="en-US" altLang="zh-CN" sz="2400" dirty="0">
              <a:latin typeface="Times New Roman" panose="02020503050405090304" pitchFamily="18" charset="0"/>
              <a:ea typeface="楷体" panose="02010609060101010101" pitchFamily="49" charset="-122"/>
            </a:endParaRPr>
          </a:p>
          <a:p>
            <a:pPr algn="ctr"/>
            <a:r>
              <a:rPr lang="zh-CN" altLang="en-US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南开大学</a:t>
            </a:r>
            <a:r>
              <a:rPr lang="en-US" altLang="zh-CN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·</a:t>
            </a:r>
            <a:r>
              <a:rPr lang="zh-CN" altLang="en-US" sz="2400" dirty="0">
                <a:latin typeface="Times New Roman" panose="02020503050405090304" pitchFamily="18" charset="0"/>
                <a:ea typeface="楷体" panose="02010609060101010101" pitchFamily="49" charset="-122"/>
              </a:rPr>
              <a:t>软件学院</a:t>
            </a:r>
            <a:endParaRPr lang="zh-CN" altLang="en-US" sz="2400" dirty="0">
              <a:latin typeface="Times New Roman" panose="02020503050405090304" pitchFamily="18" charset="0"/>
              <a:ea typeface="楷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23850" y="2352052"/>
            <a:ext cx="8496300" cy="0"/>
          </a:xfrm>
          <a:prstGeom prst="line">
            <a:avLst/>
          </a:prstGeom>
          <a:ln w="25400">
            <a:solidFill>
              <a:srgbClr val="782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73" y="185003"/>
            <a:ext cx="430355" cy="43035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3b32313538323734393b56fe4e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110" y="135890"/>
            <a:ext cx="731520" cy="7315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6510" y="248285"/>
            <a:ext cx="99885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700" b="1" kern="0" spc="30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目录</a:t>
            </a:r>
            <a:endParaRPr lang="zh-CN" altLang="en-US" sz="2700"/>
          </a:p>
        </p:txBody>
      </p:sp>
      <p:grpSp>
        <p:nvGrpSpPr>
          <p:cNvPr id="2" name="组合 1"/>
          <p:cNvGrpSpPr/>
          <p:nvPr/>
        </p:nvGrpSpPr>
        <p:grpSpPr>
          <a:xfrm>
            <a:off x="2426494" y="865585"/>
            <a:ext cx="3031331" cy="445294"/>
            <a:chOff x="1710657" y="1263652"/>
            <a:chExt cx="4042443" cy="592608"/>
          </a:xfrm>
        </p:grpSpPr>
        <p:grpSp>
          <p:nvGrpSpPr>
            <p:cNvPr id="5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6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8" name="圆角矩形 7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4.1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9" name="圆角矩形 8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0" name="圆角矩形 5"/>
              <p:cNvSpPr/>
              <p:nvPr/>
            </p:nvSpPr>
            <p:spPr>
              <a:xfrm>
                <a:off x="1931232" y="2065721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1" name="直接连接符 10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12" name="矩形 35"/>
            <p:cNvSpPr/>
            <p:nvPr/>
          </p:nvSpPr>
          <p:spPr>
            <a:xfrm>
              <a:off x="2836056" y="1286814"/>
              <a:ext cx="1768132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数组的概念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" name="组合 195"/>
          <p:cNvGrpSpPr/>
          <p:nvPr/>
        </p:nvGrpSpPr>
        <p:grpSpPr>
          <a:xfrm>
            <a:off x="3250406" y="1758554"/>
            <a:ext cx="3312789" cy="444103"/>
            <a:chOff x="1710657" y="1263652"/>
            <a:chExt cx="4417783" cy="592608"/>
          </a:xfrm>
        </p:grpSpPr>
        <p:grpSp>
          <p:nvGrpSpPr>
            <p:cNvPr id="14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15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16" name="圆角矩形 15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4.2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17" name="圆角矩形 16"/>
                <p:cNvSpPr/>
                <p:nvPr/>
              </p:nvSpPr>
              <p:spPr>
                <a:xfrm>
                  <a:off x="1961224" y="1349737"/>
                  <a:ext cx="1189063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18" name="圆角矩形 5"/>
              <p:cNvSpPr/>
              <p:nvPr/>
            </p:nvSpPr>
            <p:spPr>
              <a:xfrm>
                <a:off x="1931236" y="2063209"/>
                <a:ext cx="1293777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19" name="直接连接符 18"/>
            <p:cNvCxnSpPr/>
            <p:nvPr/>
          </p:nvCxnSpPr>
          <p:spPr bwMode="auto">
            <a:xfrm>
              <a:off x="2809389" y="1760934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0" name="矩形 35"/>
            <p:cNvSpPr/>
            <p:nvPr/>
          </p:nvSpPr>
          <p:spPr>
            <a:xfrm>
              <a:off x="2836056" y="1286814"/>
              <a:ext cx="3292384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一维数组的定义和引用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21"/>
          <p:cNvGrpSpPr/>
          <p:nvPr/>
        </p:nvGrpSpPr>
        <p:grpSpPr>
          <a:xfrm>
            <a:off x="2426494" y="2650331"/>
            <a:ext cx="3312789" cy="445294"/>
            <a:chOff x="1710657" y="1263652"/>
            <a:chExt cx="4417783" cy="592608"/>
          </a:xfrm>
        </p:grpSpPr>
        <p:grpSp>
          <p:nvGrpSpPr>
            <p:cNvPr id="22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23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24" name="圆角矩形 23"/>
                <p:cNvSpPr/>
                <p:nvPr/>
              </p:nvSpPr>
              <p:spPr>
                <a:xfrm>
                  <a:off x="1907704" y="1275606"/>
                  <a:ext cx="129610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4.3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25" name="圆角矩形 24"/>
                <p:cNvSpPr/>
                <p:nvPr/>
              </p:nvSpPr>
              <p:spPr>
                <a:xfrm>
                  <a:off x="1961224" y="1349539"/>
                  <a:ext cx="1189063" cy="1580325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26" name="圆角矩形 5"/>
              <p:cNvSpPr/>
              <p:nvPr/>
            </p:nvSpPr>
            <p:spPr>
              <a:xfrm>
                <a:off x="1931232" y="2065724"/>
                <a:ext cx="1293777" cy="93340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27" name="直接连接符 26"/>
            <p:cNvCxnSpPr/>
            <p:nvPr/>
          </p:nvCxnSpPr>
          <p:spPr bwMode="auto">
            <a:xfrm>
              <a:off x="2809389" y="1761189"/>
              <a:ext cx="2943711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28" name="矩形 35"/>
            <p:cNvSpPr/>
            <p:nvPr/>
          </p:nvSpPr>
          <p:spPr>
            <a:xfrm>
              <a:off x="2836056" y="1286814"/>
              <a:ext cx="3292384" cy="4901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二维数组的定义和引用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" name="组合 234"/>
          <p:cNvGrpSpPr/>
          <p:nvPr/>
        </p:nvGrpSpPr>
        <p:grpSpPr>
          <a:xfrm>
            <a:off x="3276600" y="3568304"/>
            <a:ext cx="3032522" cy="444103"/>
            <a:chOff x="1710657" y="1263652"/>
            <a:chExt cx="4042443" cy="592608"/>
          </a:xfrm>
        </p:grpSpPr>
        <p:grpSp>
          <p:nvGrpSpPr>
            <p:cNvPr id="30" name="组合 29"/>
            <p:cNvGrpSpPr/>
            <p:nvPr/>
          </p:nvGrpSpPr>
          <p:grpSpPr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31" name="组合 31"/>
              <p:cNvGrpSpPr/>
              <p:nvPr/>
            </p:nvGrpSpPr>
            <p:grpSpPr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32" name="圆角矩形 31"/>
                <p:cNvSpPr/>
                <p:nvPr/>
              </p:nvSpPr>
              <p:spPr>
                <a:xfrm>
                  <a:off x="1907704" y="1275604"/>
                  <a:ext cx="1295595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en-US" altLang="zh-CN" sz="24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汉仪综艺体简" pitchFamily="49" charset="-122"/>
                      <a:cs typeface="+mn-cs"/>
                    </a:rPr>
                    <a:t>4.4</a:t>
                  </a:r>
                  <a:endPara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  <p:sp>
              <p:nvSpPr>
                <p:cNvPr id="36" name="圆角矩形 35"/>
                <p:cNvSpPr/>
                <p:nvPr/>
              </p:nvSpPr>
              <p:spPr>
                <a:xfrm>
                  <a:off x="1961203" y="1349736"/>
                  <a:ext cx="1188597" cy="157992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350" b="1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汉仪综艺体简" pitchFamily="49" charset="-122"/>
                    <a:cs typeface="+mn-cs"/>
                  </a:endParaRPr>
                </a:p>
              </p:txBody>
            </p:sp>
          </p:grpSp>
          <p:sp>
            <p:nvSpPr>
              <p:cNvPr id="37" name="圆角矩形 5"/>
              <p:cNvSpPr/>
              <p:nvPr/>
            </p:nvSpPr>
            <p:spPr>
              <a:xfrm>
                <a:off x="1931238" y="2063172"/>
                <a:ext cx="1283965" cy="935912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45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mbria Math" panose="02040503050406030204" pitchFamily="18" charset="0"/>
                  <a:ea typeface="汉仪综艺体简" pitchFamily="49" charset="-122"/>
                  <a:cs typeface="+mn-cs"/>
                </a:endParaRPr>
              </a:p>
            </p:txBody>
          </p:sp>
        </p:grpSp>
        <p:cxnSp>
          <p:nvCxnSpPr>
            <p:cNvPr id="38" name="直接连接符 37"/>
            <p:cNvCxnSpPr/>
            <p:nvPr/>
          </p:nvCxnSpPr>
          <p:spPr bwMode="auto">
            <a:xfrm>
              <a:off x="2810545" y="1760934"/>
              <a:ext cx="2942555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39" name="矩形 35"/>
            <p:cNvSpPr/>
            <p:nvPr/>
          </p:nvSpPr>
          <p:spPr>
            <a:xfrm>
              <a:off x="2836056" y="1286814"/>
              <a:ext cx="2681630" cy="49145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字符数组与字符串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Rectangle 3"/>
          <p:cNvSpPr>
            <a:spLocks noGrp="1"/>
          </p:cNvSpPr>
          <p:nvPr>
            <p:ph idx="1" hasCustomPrompt="1"/>
          </p:nvPr>
        </p:nvSpPr>
        <p:spPr>
          <a:xfrm>
            <a:off x="1763316" y="1233646"/>
            <a:ext cx="5357813" cy="3536156"/>
          </a:xfrm>
        </p:spPr>
        <p:txBody>
          <a:bodyPr vert="horz" wrap="square" lIns="68580" tIns="34290" rIns="68580" bIns="34290" anchor="t" anchorCtr="0"/>
          <a:p>
            <a:pPr eaLnBrk="1" hangingPunct="1">
              <a:spcBef>
                <a:spcPct val="50000"/>
              </a:spcBef>
            </a:pPr>
            <a:r>
              <a:rPr lang="zh-CN" altLang="zh-CN" dirty="0"/>
              <a:t>如果有</a:t>
            </a:r>
            <a:r>
              <a:rPr lang="en-US" altLang="zh-CN" dirty="0"/>
              <a:t>1000</a:t>
            </a:r>
            <a:r>
              <a:rPr lang="zh-CN" altLang="zh-CN" dirty="0"/>
              <a:t>名学生</a:t>
            </a:r>
            <a:r>
              <a:rPr lang="zh-CN" altLang="en-US" dirty="0"/>
              <a:t>，</a:t>
            </a:r>
            <a:r>
              <a:rPr lang="zh-CN" altLang="zh-CN" dirty="0"/>
              <a:t>每个学生有一个成绩，需要求这</a:t>
            </a:r>
            <a:r>
              <a:rPr lang="en-US" altLang="zh-CN" dirty="0"/>
              <a:t>1000</a:t>
            </a:r>
            <a:r>
              <a:rPr lang="zh-CN" altLang="zh-CN" dirty="0"/>
              <a:t>名学生的平均成绩。</a:t>
            </a:r>
            <a:endParaRPr lang="en-US" altLang="zh-CN" dirty="0"/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用</a:t>
            </a:r>
            <a:r>
              <a:rPr lang="en-US" altLang="zh-CN" dirty="0"/>
              <a:t>s</a:t>
            </a:r>
            <a:r>
              <a:rPr lang="en-US" altLang="zh-CN" baseline="-25000" dirty="0"/>
              <a:t>1</a:t>
            </a:r>
            <a:r>
              <a:rPr lang="en-US" altLang="zh-CN" dirty="0"/>
              <a:t>,s</a:t>
            </a:r>
            <a:r>
              <a:rPr lang="en-US" altLang="zh-CN" baseline="-25000" dirty="0"/>
              <a:t>2</a:t>
            </a:r>
            <a:r>
              <a:rPr lang="en-US" altLang="zh-CN" dirty="0"/>
              <a:t>,s</a:t>
            </a:r>
            <a:r>
              <a:rPr lang="en-US" altLang="zh-CN" baseline="-25000" dirty="0"/>
              <a:t>3</a:t>
            </a:r>
            <a:r>
              <a:rPr lang="en-US" altLang="zh-CN" dirty="0"/>
              <a:t>,……,s</a:t>
            </a:r>
            <a:r>
              <a:rPr lang="en-US" altLang="zh-CN" baseline="-25000" dirty="0"/>
              <a:t>1000</a:t>
            </a:r>
            <a:r>
              <a:rPr lang="zh-CN" altLang="en-US" dirty="0"/>
              <a:t>表示每个学生的成绩</a:t>
            </a:r>
            <a:endParaRPr lang="en-US" altLang="zh-CN" dirty="0"/>
          </a:p>
          <a:p>
            <a:pPr eaLnBrk="1" hangingPunct="1">
              <a:spcBef>
                <a:spcPct val="50000"/>
              </a:spcBef>
            </a:pPr>
            <a:r>
              <a:rPr lang="en-US" altLang="zh-CN" dirty="0"/>
              <a:t>C</a:t>
            </a:r>
            <a:r>
              <a:rPr lang="zh-CN" altLang="zh-CN" dirty="0"/>
              <a:t>语言用方括号中的数字表示下标，如用</a:t>
            </a:r>
            <a:r>
              <a:rPr lang="en-US" altLang="zh-CN" dirty="0"/>
              <a:t>s[1000]</a:t>
            </a:r>
            <a:r>
              <a:rPr lang="zh-CN" altLang="zh-CN" dirty="0"/>
              <a:t>表示</a:t>
            </a:r>
            <a:endParaRPr lang="en-US" altLang="zh-CN" dirty="0"/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18047" y="535781"/>
            <a:ext cx="6215063" cy="622697"/>
          </a:xfrm>
        </p:spPr>
        <p:txBody>
          <a:bodyPr vert="horz" wrap="square" lIns="68580" tIns="34290" rIns="68580" bIns="34290" numCol="1" anchor="ctr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数组的概念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39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charRg st="39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charRg st="67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charRg st="67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1839516" y="1294606"/>
            <a:ext cx="5357813" cy="3736181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数组是一组</a:t>
            </a:r>
            <a:r>
              <a:rPr lang="zh-CN" altLang="zh-CN" dirty="0">
                <a:solidFill>
                  <a:srgbClr val="9D138D"/>
                </a:solidFill>
              </a:rPr>
              <a:t>有序数据的集合</a:t>
            </a:r>
            <a:r>
              <a:rPr lang="zh-CN" altLang="zh-CN" dirty="0"/>
              <a:t>。数组中各数据的排列是有一定规律的，下标代表数据在数组中的序号</a:t>
            </a:r>
            <a:endParaRPr lang="zh-CN" altLang="zh-CN" dirty="0"/>
          </a:p>
          <a:p>
            <a:r>
              <a:rPr lang="zh-CN" altLang="zh-CN" dirty="0"/>
              <a:t>用一个</a:t>
            </a:r>
            <a:r>
              <a:rPr lang="zh-CN" altLang="zh-CN" dirty="0">
                <a:solidFill>
                  <a:srgbClr val="9D138D"/>
                </a:solidFill>
              </a:rPr>
              <a:t>数组名</a:t>
            </a:r>
            <a:r>
              <a:rPr lang="zh-CN" altLang="zh-CN" dirty="0"/>
              <a:t>和</a:t>
            </a:r>
            <a:r>
              <a:rPr lang="zh-CN" altLang="zh-CN" dirty="0">
                <a:solidFill>
                  <a:srgbClr val="9D138D"/>
                </a:solidFill>
              </a:rPr>
              <a:t>下标</a:t>
            </a:r>
            <a:r>
              <a:rPr lang="zh-CN" altLang="zh-CN" dirty="0"/>
              <a:t>惟一确定数组中的元素</a:t>
            </a:r>
            <a:endParaRPr lang="zh-CN" altLang="zh-CN" dirty="0"/>
          </a:p>
          <a:p>
            <a:r>
              <a:rPr lang="zh-CN" altLang="zh-CN" dirty="0"/>
              <a:t>数组中的每一个元素都属于</a:t>
            </a:r>
            <a:r>
              <a:rPr lang="zh-CN" altLang="zh-CN" dirty="0">
                <a:solidFill>
                  <a:srgbClr val="9D138D"/>
                </a:solidFill>
              </a:rPr>
              <a:t>同一个数据类型</a:t>
            </a:r>
            <a:endParaRPr lang="en-US" altLang="zh-CN" dirty="0">
              <a:solidFill>
                <a:srgbClr val="9D138D"/>
              </a:solidFill>
            </a:endParaRPr>
          </a:p>
        </p:txBody>
      </p:sp>
      <p:sp>
        <p:nvSpPr>
          <p:cNvPr id="21504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518047" y="535781"/>
            <a:ext cx="6215063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数组的概念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44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44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64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charRg st="64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18047" y="535781"/>
            <a:ext cx="6215063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定义</a:t>
            </a: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一维数组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2053829" y="1393031"/>
            <a:ext cx="5143500" cy="2839641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定义一维数组的一般形式为：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zh-CN" altLang="zh-CN" dirty="0"/>
              <a:t>类型符</a:t>
            </a:r>
            <a:r>
              <a:rPr lang="en-US" altLang="zh-CN" dirty="0"/>
              <a:t>  </a:t>
            </a:r>
            <a:r>
              <a:rPr lang="zh-CN" altLang="zh-CN" dirty="0"/>
              <a:t>数组名</a:t>
            </a:r>
            <a:r>
              <a:rPr lang="en-US" altLang="zh-CN" dirty="0"/>
              <a:t>[</a:t>
            </a:r>
            <a:r>
              <a:rPr lang="zh-CN" altLang="zh-CN" dirty="0">
                <a:solidFill>
                  <a:srgbClr val="FF0000"/>
                </a:solidFill>
              </a:rPr>
              <a:t>常量表达式</a:t>
            </a:r>
            <a:r>
              <a:rPr lang="en-US" altLang="zh-CN" dirty="0"/>
              <a:t>];</a:t>
            </a:r>
            <a:endParaRPr lang="en-US" altLang="zh-CN" dirty="0"/>
          </a:p>
          <a:p>
            <a:r>
              <a:rPr lang="zh-CN" altLang="zh-CN" dirty="0"/>
              <a:t>数组名的命名规则和变量名相同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如  </a:t>
            </a:r>
            <a:r>
              <a:rPr lang="en-US" altLang="zh-CN" dirty="0"/>
              <a:t>int a[10];</a:t>
            </a:r>
            <a:endParaRPr lang="en-US" altLang="zh-CN" dirty="0"/>
          </a:p>
          <a:p>
            <a:endParaRPr lang="zh-CN" altLang="zh-CN" dirty="0"/>
          </a:p>
        </p:txBody>
      </p:sp>
      <p:sp>
        <p:nvSpPr>
          <p:cNvPr id="4" name="流程图: 过程 3"/>
          <p:cNvSpPr/>
          <p:nvPr/>
        </p:nvSpPr>
        <p:spPr>
          <a:xfrm>
            <a:off x="3111976" y="3250645"/>
            <a:ext cx="214313" cy="535781"/>
          </a:xfrm>
          <a:prstGeom prst="flowChartProcess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326289" y="4067969"/>
            <a:ext cx="1446610" cy="482204"/>
          </a:xfrm>
          <a:prstGeom prst="wedgeRoundRectCallout">
            <a:avLst>
              <a:gd name="adj1" fmla="val -49426"/>
              <a:gd name="adj2" fmla="val -89514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>
              <a:buSzTx/>
            </a:pPr>
            <a:r>
              <a:rPr lang="zh-CN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数组名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34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49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charRg st="49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18047" y="535781"/>
            <a:ext cx="6215063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定义</a:t>
            </a: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一维数组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idx="1" hasCustomPrompt="1"/>
          </p:nvPr>
        </p:nvSpPr>
        <p:spPr>
          <a:xfrm>
            <a:off x="2033588" y="1383506"/>
            <a:ext cx="5143500" cy="2839641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定义一维数组的一般形式为：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zh-CN" altLang="zh-CN" dirty="0"/>
              <a:t>类型符</a:t>
            </a:r>
            <a:r>
              <a:rPr lang="en-US" altLang="zh-CN" dirty="0"/>
              <a:t>  </a:t>
            </a:r>
            <a:r>
              <a:rPr lang="zh-CN" altLang="zh-CN" dirty="0"/>
              <a:t>数组名</a:t>
            </a:r>
            <a:r>
              <a:rPr lang="en-US" altLang="zh-CN" dirty="0"/>
              <a:t>[</a:t>
            </a:r>
            <a:r>
              <a:rPr lang="zh-CN" altLang="zh-CN" dirty="0"/>
              <a:t>常量表达式</a:t>
            </a:r>
            <a:r>
              <a:rPr lang="en-US" altLang="zh-CN" dirty="0"/>
              <a:t>];</a:t>
            </a:r>
            <a:endParaRPr lang="en-US" altLang="zh-CN" dirty="0"/>
          </a:p>
          <a:p>
            <a:r>
              <a:rPr lang="zh-CN" altLang="zh-CN" dirty="0"/>
              <a:t>数组名的命名规则和变量名相同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如  </a:t>
            </a:r>
            <a:r>
              <a:rPr lang="en-US" altLang="zh-CN" dirty="0"/>
              <a:t>int a[10];</a:t>
            </a:r>
            <a:endParaRPr lang="en-US" altLang="zh-CN" dirty="0"/>
          </a:p>
          <a:p>
            <a:endParaRPr lang="zh-CN" altLang="zh-CN" dirty="0"/>
          </a:p>
        </p:txBody>
      </p:sp>
      <p:sp>
        <p:nvSpPr>
          <p:cNvPr id="4" name="流程图: 过程 3"/>
          <p:cNvSpPr/>
          <p:nvPr/>
        </p:nvSpPr>
        <p:spPr>
          <a:xfrm>
            <a:off x="3492103" y="3170793"/>
            <a:ext cx="323850" cy="545306"/>
          </a:xfrm>
          <a:prstGeom prst="flowChartProcess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688239" y="4178856"/>
            <a:ext cx="1875235" cy="482203"/>
          </a:xfrm>
          <a:prstGeom prst="wedgeRoundRectCallout">
            <a:avLst>
              <a:gd name="adj1" fmla="val -35898"/>
              <a:gd name="adj2" fmla="val -107046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>
              <a:buSzTx/>
            </a:pPr>
            <a:r>
              <a:rPr lang="zh-CN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数组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</a:rPr>
              <a:t>长度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18047" y="535781"/>
            <a:ext cx="6215063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定义</a:t>
            </a: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一维数组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2053829" y="1393031"/>
            <a:ext cx="5732859" cy="2839641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定义一维数组的一般形式为：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</a:t>
            </a:r>
            <a:r>
              <a:rPr lang="zh-CN" altLang="zh-CN" dirty="0"/>
              <a:t>类型符</a:t>
            </a:r>
            <a:r>
              <a:rPr lang="en-US" altLang="zh-CN" dirty="0"/>
              <a:t>  </a:t>
            </a:r>
            <a:r>
              <a:rPr lang="zh-CN" altLang="zh-CN" dirty="0"/>
              <a:t>数组名</a:t>
            </a:r>
            <a:r>
              <a:rPr lang="en-US" altLang="zh-CN" dirty="0"/>
              <a:t>[</a:t>
            </a:r>
            <a:r>
              <a:rPr lang="zh-CN" altLang="zh-CN" dirty="0"/>
              <a:t>常量表达式</a:t>
            </a:r>
            <a:r>
              <a:rPr lang="en-US" altLang="zh-CN" dirty="0"/>
              <a:t>];</a:t>
            </a:r>
            <a:endParaRPr lang="en-US" altLang="zh-CN" dirty="0"/>
          </a:p>
          <a:p>
            <a:r>
              <a:rPr lang="zh-CN" altLang="zh-CN" dirty="0"/>
              <a:t>数组名的命名规则和变量名相同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如  </a:t>
            </a:r>
            <a:r>
              <a:rPr lang="en-US" altLang="zh-CN" dirty="0"/>
              <a:t>int a[10];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10</a:t>
            </a:r>
            <a:r>
              <a:rPr lang="zh-CN" altLang="zh-CN" dirty="0"/>
              <a:t>个元素</a:t>
            </a:r>
            <a:r>
              <a:rPr lang="zh-CN" altLang="en-US" dirty="0"/>
              <a:t>：</a:t>
            </a:r>
            <a:r>
              <a:rPr lang="en-US" altLang="zh-CN" dirty="0"/>
              <a:t>a[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/>
              <a:t>],a[1],a[2],…,a[</a:t>
            </a:r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en-US" altLang="zh-CN" dirty="0"/>
              <a:t>]</a:t>
            </a:r>
            <a:endParaRPr lang="en-US" altLang="zh-CN" dirty="0"/>
          </a:p>
          <a:p>
            <a:endParaRPr lang="zh-CN" altLang="zh-CN" dirty="0"/>
          </a:p>
        </p:txBody>
      </p:sp>
      <p:sp>
        <p:nvSpPr>
          <p:cNvPr id="6" name="流程图: 过程 5"/>
          <p:cNvSpPr/>
          <p:nvPr/>
        </p:nvSpPr>
        <p:spPr>
          <a:xfrm>
            <a:off x="2590880" y="2881471"/>
            <a:ext cx="481013" cy="454819"/>
          </a:xfrm>
          <a:prstGeom prst="flowChartProcess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2160985" y="1875235"/>
            <a:ext cx="3161109" cy="482203"/>
          </a:xfrm>
          <a:prstGeom prst="wedgeRoundRectCallout">
            <a:avLst>
              <a:gd name="adj1" fmla="val -26153"/>
              <a:gd name="adj2" fmla="val 167653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>
              <a:buSzTx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</a:rPr>
              <a:t>每个元素的数据类型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410891" y="4125516"/>
          <a:ext cx="6322060" cy="48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910"/>
                <a:gridCol w="803275"/>
                <a:gridCol w="803910"/>
                <a:gridCol w="803275"/>
                <a:gridCol w="697230"/>
                <a:gridCol w="803275"/>
                <a:gridCol w="803910"/>
                <a:gridCol w="803275"/>
              </a:tblGrid>
              <a:tr h="481965">
                <a:tc>
                  <a:txBody>
                    <a:bodyPr/>
                    <a:lstStyle/>
                    <a:p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a[0]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a[1]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a[2]</a:t>
                      </a:r>
                      <a:endParaRPr lang="zh-CN" altLang="en-US" sz="2100" dirty="0" smtClean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a[3]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…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a[7]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a[8]</a:t>
                      </a:r>
                      <a:endParaRPr lang="zh-CN" altLang="en-US" sz="2100" dirty="0" smtClean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90" marB="3429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a[9]</a:t>
                      </a:r>
                      <a:endParaRPr lang="zh-CN" altLang="en-US" sz="2100" dirty="0" smtClean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90" marB="34290" anchor="ctr"/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3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63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18047" y="535781"/>
            <a:ext cx="6215063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定义</a:t>
            </a: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一维数组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2053829" y="1159669"/>
            <a:ext cx="5732859" cy="3073004"/>
          </a:xfrm>
        </p:spPr>
        <p:txBody>
          <a:bodyPr vert="horz" wrap="square" lIns="68580" tIns="34290" rIns="68580" bIns="34290" anchor="t" anchorCtr="0"/>
          <a:p>
            <a:r>
              <a:rPr lang="zh-CN" altLang="zh-CN" sz="1800" dirty="0"/>
              <a:t>定义一维数组的一般形式为：</a:t>
            </a:r>
            <a:endParaRPr lang="zh-CN" altLang="zh-CN" sz="1800" dirty="0"/>
          </a:p>
          <a:p>
            <a:pPr>
              <a:buNone/>
            </a:pPr>
            <a:r>
              <a:rPr lang="en-US" altLang="zh-CN" sz="1800" dirty="0"/>
              <a:t>   </a:t>
            </a:r>
            <a:r>
              <a:rPr lang="zh-CN" altLang="zh-CN" sz="1800" dirty="0"/>
              <a:t>类型符</a:t>
            </a:r>
            <a:r>
              <a:rPr lang="en-US" altLang="zh-CN" sz="1800" dirty="0"/>
              <a:t>  </a:t>
            </a:r>
            <a:r>
              <a:rPr lang="zh-CN" altLang="zh-CN" sz="1800" dirty="0"/>
              <a:t>数组名</a:t>
            </a:r>
            <a:r>
              <a:rPr lang="en-US" altLang="zh-CN" sz="1800" dirty="0"/>
              <a:t>[</a:t>
            </a:r>
            <a:r>
              <a:rPr lang="zh-CN" altLang="zh-CN" sz="1800" dirty="0"/>
              <a:t>常量表达式</a:t>
            </a:r>
            <a:r>
              <a:rPr lang="en-US" altLang="zh-CN" sz="1800" dirty="0"/>
              <a:t>];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int a[4+6];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int n=10;  </a:t>
            </a:r>
            <a:endParaRPr lang="zh-CN" altLang="zh-CN" sz="1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int a[n];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3170635" y="2351485"/>
            <a:ext cx="1139428" cy="339328"/>
          </a:xfrm>
          <a:prstGeom prst="wedgeRoundRectCallout">
            <a:avLst>
              <a:gd name="adj1" fmla="val -79065"/>
              <a:gd name="adj2" fmla="val 62620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>
              <a:buSzTx/>
            </a:pP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</a:rPr>
              <a:t>不合法</a:t>
            </a:r>
            <a:endParaRPr lang="zh-CN" altLang="en-US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3323035" y="1901429"/>
            <a:ext cx="834628" cy="341709"/>
          </a:xfrm>
          <a:prstGeom prst="wedgeRoundRectCallout">
            <a:avLst>
              <a:gd name="adj1" fmla="val -75528"/>
              <a:gd name="adj2" fmla="val 6824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>
              <a:buSzTx/>
            </a:pPr>
            <a:r>
              <a:rPr lang="zh-CN" altLang="en-US" sz="1350" b="1" dirty="0">
                <a:solidFill>
                  <a:srgbClr val="FF0000"/>
                </a:solidFill>
                <a:latin typeface="Arial" panose="020B0604020202090204" pitchFamily="34" charset="0"/>
              </a:rPr>
              <a:t>合法</a:t>
            </a:r>
            <a:endParaRPr lang="zh-CN" altLang="en-US" sz="135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9221" name="文本框 1"/>
          <p:cNvSpPr txBox="1"/>
          <p:nvPr/>
        </p:nvSpPr>
        <p:spPr>
          <a:xfrm>
            <a:off x="2129790" y="3053080"/>
            <a:ext cx="5125720" cy="7905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>
              <a:lnSpc>
                <a:spcPct val="110000"/>
              </a:lnSpc>
            </a:pPr>
            <a:r>
              <a:rPr lang="zh-CN" altLang="en-US" dirty="0">
                <a:latin typeface="宋体" pitchFamily="2" charset="-122"/>
              </a:rPr>
              <a:t>常量表达式中可以包括</a:t>
            </a:r>
            <a:r>
              <a:rPr lang="zh-CN" altLang="en-US" dirty="0">
                <a:solidFill>
                  <a:srgbClr val="FF0000"/>
                </a:solidFill>
                <a:latin typeface="宋体" pitchFamily="2" charset="-122"/>
              </a:rPr>
              <a:t>常量和符号常量</a:t>
            </a:r>
            <a:r>
              <a:rPr lang="zh-CN" altLang="en-US" dirty="0">
                <a:latin typeface="宋体" pitchFamily="2" charset="-122"/>
              </a:rPr>
              <a:t>，不能包含变量。</a:t>
            </a:r>
            <a:r>
              <a:rPr lang="en-US" altLang="zh-CN" dirty="0">
                <a:latin typeface="宋体" pitchFamily="2" charset="-122"/>
              </a:rPr>
              <a:t>C</a:t>
            </a:r>
            <a:r>
              <a:rPr lang="zh-CN" altLang="en-US" dirty="0">
                <a:latin typeface="宋体" pitchFamily="2" charset="-122"/>
              </a:rPr>
              <a:t>不允许对数组的大小作动态定义。</a:t>
            </a:r>
            <a:endParaRPr lang="zh-CN" altLang="en-US" dirty="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宋体" pitchFamily="2" charset="-122"/>
              </a:rPr>
              <a:t>例如</a:t>
            </a:r>
            <a:r>
              <a:rPr lang="en-US" altLang="zh-CN" dirty="0">
                <a:latin typeface="宋体" pitchFamily="2" charset="-122"/>
              </a:rPr>
              <a:t>: </a:t>
            </a:r>
            <a:r>
              <a:rPr lang="zh-CN" altLang="en-US" dirty="0">
                <a:latin typeface="宋体" pitchFamily="2" charset="-122"/>
              </a:rPr>
              <a:t>下面的定义是错误的。   </a:t>
            </a:r>
            <a:r>
              <a:rPr lang="zh-CN" altLang="en-US" sz="1350" dirty="0">
                <a:latin typeface="宋体" pitchFamily="2" charset="-122"/>
              </a:rPr>
              <a:t> </a:t>
            </a:r>
            <a:endParaRPr lang="zh-CN" altLang="en-US" sz="1350" dirty="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350" dirty="0">
                <a:latin typeface="宋体" pitchFamily="2" charset="-122"/>
              </a:rPr>
              <a:t>    </a:t>
            </a:r>
            <a:endParaRPr lang="zh-CN" altLang="en-US" sz="1350">
              <a:latin typeface="宋体" pitchFamily="2" charset="-122"/>
            </a:endParaRPr>
          </a:p>
        </p:txBody>
      </p:sp>
      <p:sp>
        <p:nvSpPr>
          <p:cNvPr id="6" name="标题 1"/>
          <p:cNvSpPr txBox="1"/>
          <p:nvPr>
            <p:custDataLst>
              <p:tags r:id="rId1"/>
            </p:custDataLst>
          </p:nvPr>
        </p:nvSpPr>
        <p:spPr>
          <a:xfrm>
            <a:off x="2206625" y="4005580"/>
            <a:ext cx="5301615" cy="99568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int n;  </a:t>
            </a:r>
            <a:endParaRPr kumimoji="0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scanf("%d", &amp;n);  </a:t>
            </a:r>
            <a:endParaRPr kumimoji="0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altLang="zh-CN" sz="1500" b="0" i="0" u="none" strike="noStrike" kern="1200" cap="none" spc="3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j-cs"/>
              </a:rPr>
              <a:t>int a[n]; </a:t>
            </a:r>
            <a:endParaRPr kumimoji="0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34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34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4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219">
                                            <p:txEl>
                                              <p:charRg st="47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59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219">
                                            <p:txEl>
                                              <p:charRg st="59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7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535781"/>
            <a:ext cx="6375797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引用一维数组元素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494235" y="1339454"/>
            <a:ext cx="6372225" cy="2196703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在定义数组并对其中各元素赋值后，就可以引用数组中的元素</a:t>
            </a:r>
            <a:endParaRPr lang="en-US" altLang="zh-CN" dirty="0"/>
          </a:p>
          <a:p>
            <a:r>
              <a:rPr lang="zh-CN" altLang="zh-CN" dirty="0"/>
              <a:t>注意：只能引用数组元素而不能一次整体调用整个数组全部元素的值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8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28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535781"/>
            <a:ext cx="6375797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引用一维数组元素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339454"/>
            <a:ext cx="5732860" cy="3214688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引用数组元素的表示形式为：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    </a:t>
            </a:r>
            <a:r>
              <a:rPr lang="zh-CN" altLang="zh-CN" dirty="0"/>
              <a:t>数组名［下标］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如</a:t>
            </a:r>
            <a:r>
              <a:rPr lang="en-US" altLang="zh-CN" dirty="0"/>
              <a:t>a[0]=a[5]+a[7]-a[2*3]   </a:t>
            </a:r>
            <a:r>
              <a:rPr lang="zh-CN" altLang="en-US" dirty="0"/>
              <a:t>合法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int n=5,a[10];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a[n]=20;</a:t>
            </a:r>
            <a:endParaRPr lang="zh-CN" altLang="zh-CN" dirty="0">
              <a:solidFill>
                <a:srgbClr val="FF0000"/>
              </a:solidFill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3875485" y="2964656"/>
            <a:ext cx="1393031" cy="482204"/>
          </a:xfrm>
          <a:prstGeom prst="wedgeRoundRectCallout">
            <a:avLst>
              <a:gd name="adj1" fmla="val -74032"/>
              <a:gd name="adj2" fmla="val 68296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>
              <a:buSzTx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</a:rPr>
              <a:t>合法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3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30" end="5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59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charRg st="59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74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charRg st="74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321469"/>
            <a:ext cx="6375797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一维数组的初始化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410891" y="964406"/>
            <a:ext cx="6107906" cy="4018360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在定义数组的同时，给各数组元素赋值</a:t>
            </a:r>
            <a:endParaRPr lang="en-US" altLang="zh-CN" dirty="0"/>
          </a:p>
          <a:p>
            <a:r>
              <a:rPr lang="en-US" altLang="zh-CN" sz="2100" dirty="0"/>
              <a:t>int a[10]={0,1,2,3,4,5,6,7,8,9};</a:t>
            </a:r>
            <a:endParaRPr lang="en-US" altLang="zh-CN" sz="2100" dirty="0"/>
          </a:p>
          <a:p>
            <a:r>
              <a:rPr lang="en-US" altLang="zh-CN" sz="2100" dirty="0">
                <a:solidFill>
                  <a:srgbClr val="00B050"/>
                </a:solidFill>
              </a:rPr>
              <a:t>int a[10]={0,1,2,3,4};</a:t>
            </a:r>
            <a:r>
              <a:rPr lang="zh-CN" altLang="en-US" sz="2100" dirty="0">
                <a:solidFill>
                  <a:srgbClr val="FF0000"/>
                </a:solidFill>
              </a:rPr>
              <a:t>相当于</a:t>
            </a:r>
            <a:endParaRPr lang="en-US" altLang="zh-CN" sz="21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100" dirty="0">
                <a:solidFill>
                  <a:srgbClr val="00B050"/>
                </a:solidFill>
              </a:rPr>
              <a:t>   int a[10]={0,1,2,3,4,0,0,0,0,0};</a:t>
            </a:r>
            <a:endParaRPr lang="en-US" altLang="zh-CN" sz="2100" dirty="0">
              <a:solidFill>
                <a:srgbClr val="00B050"/>
              </a:solidFill>
            </a:endParaRPr>
          </a:p>
          <a:p>
            <a:r>
              <a:rPr lang="en-US" altLang="zh-CN" sz="2100" dirty="0">
                <a:solidFill>
                  <a:srgbClr val="9D138D"/>
                </a:solidFill>
              </a:rPr>
              <a:t>int a[10]={0,0,0,0,0,0,0,0,0,0};</a:t>
            </a:r>
            <a:r>
              <a:rPr lang="zh-CN" altLang="en-US" sz="2100" dirty="0">
                <a:solidFill>
                  <a:srgbClr val="FF0000"/>
                </a:solidFill>
              </a:rPr>
              <a:t>相当于</a:t>
            </a:r>
            <a:endParaRPr lang="en-US" altLang="zh-CN" sz="21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100" dirty="0">
                <a:solidFill>
                  <a:srgbClr val="9D138D"/>
                </a:solidFill>
              </a:rPr>
              <a:t>   int a[10]={0};</a:t>
            </a:r>
            <a:endParaRPr lang="en-US" altLang="zh-CN" sz="2100" dirty="0">
              <a:solidFill>
                <a:srgbClr val="9D138D"/>
              </a:solidFill>
            </a:endParaRPr>
          </a:p>
          <a:p>
            <a:r>
              <a:rPr lang="en-US" altLang="zh-CN" sz="2100" dirty="0">
                <a:solidFill>
                  <a:srgbClr val="0000CC"/>
                </a:solidFill>
              </a:rPr>
              <a:t>int a[5]={1,2,3,4,5};</a:t>
            </a:r>
            <a:r>
              <a:rPr lang="zh-CN" altLang="en-US" sz="2100" dirty="0">
                <a:solidFill>
                  <a:srgbClr val="FF0000"/>
                </a:solidFill>
              </a:rPr>
              <a:t>可写为</a:t>
            </a:r>
            <a:endParaRPr lang="en-US" altLang="zh-CN" sz="21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100" dirty="0">
                <a:solidFill>
                  <a:srgbClr val="0000CC"/>
                </a:solidFill>
              </a:rPr>
              <a:t>   int a[ ]={1,2,3,4,5};</a:t>
            </a:r>
            <a:endParaRPr lang="zh-CN" altLang="zh-CN" sz="2100" dirty="0">
              <a:solidFill>
                <a:srgbClr val="0000CC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8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18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51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charRg st="51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77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charRg st="77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13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219">
                                            <p:txEl>
                                              <p:charRg st="113" end="1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49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219">
                                            <p:txEl>
                                              <p:charRg st="149" end="1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67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219">
                                            <p:txEl>
                                              <p:charRg st="167" end="1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92" end="2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219">
                                            <p:txEl>
                                              <p:charRg st="192" end="2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535781"/>
            <a:ext cx="6375797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一维数组程序举例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idx="1" hasCustomPrompt="1"/>
          </p:nvPr>
        </p:nvSpPr>
        <p:spPr>
          <a:xfrm>
            <a:off x="1410891" y="1339454"/>
            <a:ext cx="6215063" cy="3214688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</a:t>
            </a:r>
            <a:r>
              <a:rPr lang="zh-CN" altLang="zh-CN" dirty="0"/>
              <a:t>例</a:t>
            </a:r>
            <a:r>
              <a:rPr lang="en-US" altLang="zh-CN" dirty="0"/>
              <a:t>6.1 </a:t>
            </a:r>
            <a:r>
              <a:rPr lang="zh-CN" altLang="zh-CN" dirty="0"/>
              <a:t>求一已知数组各元素的平均值。</a:t>
            </a:r>
            <a:endParaRPr lang="en-US" altLang="zh-CN" dirty="0"/>
          </a:p>
          <a:p>
            <a:r>
              <a:rPr lang="zh-CN" altLang="zh-CN" dirty="0"/>
              <a:t>解题思路：</a:t>
            </a:r>
            <a:endParaRPr lang="en-US" altLang="zh-CN" dirty="0"/>
          </a:p>
          <a:p>
            <a:pPr lvl="1" indent="-325120"/>
            <a:r>
              <a:rPr lang="zh-CN" altLang="zh-CN" dirty="0"/>
              <a:t>定义一个数组并初始化，数组定义为整型</a:t>
            </a:r>
            <a:endParaRPr lang="en-US" altLang="zh-CN" dirty="0"/>
          </a:p>
          <a:p>
            <a:pPr lvl="1" indent="-325120"/>
            <a:r>
              <a:rPr lang="zh-CN" altLang="zh-CN" dirty="0"/>
              <a:t>求数组各元素的和，可以用循环来累加</a:t>
            </a:r>
            <a:endParaRPr lang="en-US" altLang="zh-CN" dirty="0"/>
          </a:p>
          <a:p>
            <a:pPr lvl="1" indent="-325120"/>
            <a:r>
              <a:rPr lang="zh-CN" altLang="zh-CN" dirty="0"/>
              <a:t>最后除以数组元素个数即可求得平均值并输出</a:t>
            </a:r>
            <a:endParaRPr lang="zh-CN" altLang="zh-CN" dirty="0">
              <a:solidFill>
                <a:srgbClr val="FF00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 txBox="1"/>
          <p:nvPr>
            <p:custDataLst>
              <p:tags r:id="rId1"/>
            </p:custDataLst>
          </p:nvPr>
        </p:nvSpPr>
        <p:spPr>
          <a:xfrm>
            <a:off x="1581150" y="733425"/>
            <a:ext cx="5680710" cy="257556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</p:txBody>
      </p:sp>
      <p:sp>
        <p:nvSpPr>
          <p:cNvPr id="14337" name="文本框 2"/>
          <p:cNvSpPr txBox="1"/>
          <p:nvPr/>
        </p:nvSpPr>
        <p:spPr>
          <a:xfrm>
            <a:off x="1581150" y="488156"/>
            <a:ext cx="4941094" cy="28473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95000"/>
              </a:lnSpc>
            </a:pPr>
            <a:r>
              <a:rPr lang="zh-CN" altLang="en-US" sz="1350" dirty="0">
                <a:latin typeface="宋体" pitchFamily="2" charset="-122"/>
              </a:rPr>
              <a:t>代码： </a:t>
            </a:r>
            <a:endParaRPr lang="zh-CN" altLang="en-US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#include&lt;stdio.h&gt;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#define N 5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int a[N] = {10, 20, 30, 40, 50};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int main () {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    int i;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    float s, v;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    for(s=i=0; i&lt;N; i++) {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        s=s+a[i];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    }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    v=s/N;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    printf("The average is%6.2f\n", v);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    return 0;  </a:t>
            </a:r>
            <a:endParaRPr lang="en-US" altLang="zh-CN" sz="1350" dirty="0">
              <a:latin typeface="宋体" pitchFamily="2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350" dirty="0">
                <a:latin typeface="宋体" pitchFamily="2" charset="-122"/>
              </a:rPr>
              <a:t>}</a:t>
            </a:r>
            <a:endParaRPr lang="zh-CN" altLang="en-US" sz="1350">
              <a:latin typeface="宋体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6016466" y="3396139"/>
          <a:ext cx="3110230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610"/>
                <a:gridCol w="588010"/>
                <a:gridCol w="638810"/>
                <a:gridCol w="631825"/>
                <a:gridCol w="688975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10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00CC"/>
                          </a:solidFill>
                        </a:rPr>
                        <a:t>20</a:t>
                      </a:r>
                      <a:endParaRPr 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00CC"/>
                          </a:solidFill>
                        </a:rPr>
                        <a:t>30</a:t>
                      </a:r>
                      <a:endParaRPr 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00CC"/>
                          </a:solidFill>
                        </a:rPr>
                        <a:t>40</a:t>
                      </a:r>
                      <a:endParaRPr 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dirty="0" smtClean="0">
                          <a:solidFill>
                            <a:srgbClr val="0000CC"/>
                          </a:solidFill>
                        </a:rPr>
                        <a:t>50</a:t>
                      </a:r>
                      <a:endParaRPr 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62889" y="2977039"/>
            <a:ext cx="3343275" cy="4140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a[0]  a[1]  a[2]  a[3]   a[4]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2138363" y="2031206"/>
            <a:ext cx="2140744" cy="442913"/>
          </a:xfrm>
          <a:prstGeom prst="flowChartProcess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4727972" y="1795463"/>
            <a:ext cx="2325290" cy="517922"/>
          </a:xfrm>
          <a:prstGeom prst="wedgeRoundRectCallout">
            <a:avLst>
              <a:gd name="adj1" fmla="val -68005"/>
              <a:gd name="adj2" fmla="val 52023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SzTx/>
            </a:pPr>
            <a:r>
              <a:rPr lang="zh-CN" altLang="en-US" sz="1350" b="1" dirty="0">
                <a:solidFill>
                  <a:srgbClr val="FF0000"/>
                </a:solidFill>
                <a:latin typeface="Arial" panose="020B0604020202090204" pitchFamily="34" charset="0"/>
              </a:rPr>
              <a:t>依次取</a:t>
            </a:r>
            <a:r>
              <a:rPr lang="en-US" altLang="zh-CN" sz="1350" b="1" dirty="0">
                <a:solidFill>
                  <a:srgbClr val="FF0000"/>
                </a:solidFill>
                <a:latin typeface="Arial" panose="020B0604020202090204" pitchFamily="34" charset="0"/>
              </a:rPr>
              <a:t>a[0]</a:t>
            </a:r>
            <a:r>
              <a:rPr lang="zh-CN" altLang="zh-CN" sz="1350" b="1" dirty="0">
                <a:solidFill>
                  <a:srgbClr val="FF0000"/>
                </a:solidFill>
                <a:latin typeface="Arial" panose="020B0604020202090204" pitchFamily="34" charset="0"/>
              </a:rPr>
              <a:t>～</a:t>
            </a:r>
            <a:r>
              <a:rPr lang="en-US" altLang="zh-CN" sz="1350" b="1" dirty="0">
                <a:solidFill>
                  <a:srgbClr val="FF0000"/>
                </a:solidFill>
                <a:latin typeface="Arial" panose="020B0604020202090204" pitchFamily="34" charset="0"/>
              </a:rPr>
              <a:t>a[4]</a:t>
            </a:r>
            <a:r>
              <a:rPr lang="zh-CN" altLang="zh-CN" sz="1350" b="1" dirty="0">
                <a:solidFill>
                  <a:srgbClr val="FF0000"/>
                </a:solidFill>
                <a:latin typeface="Arial" panose="020B0604020202090204" pitchFamily="34" charset="0"/>
              </a:rPr>
              <a:t>的值并相加</a:t>
            </a:r>
            <a:endParaRPr lang="en-US" altLang="zh-CN" sz="135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81150" y="3858895"/>
            <a:ext cx="5326380" cy="11239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BADE0A-06C1-4F98-B0C9-955A98D113B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" grpId="0" bldLvl="0" animBg="1"/>
      <p:bldP spid="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48866"/>
            <a:ext cx="6375797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一维数组程序举例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 hasCustomPrompt="1"/>
          </p:nvPr>
        </p:nvSpPr>
        <p:spPr>
          <a:xfrm>
            <a:off x="1410891" y="1232297"/>
            <a:ext cx="6107906" cy="3536156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 </a:t>
            </a:r>
            <a:r>
              <a:rPr lang="zh-CN" altLang="zh-CN" dirty="0"/>
              <a:t>例</a:t>
            </a:r>
            <a:r>
              <a:rPr lang="en-US" altLang="zh-CN" dirty="0"/>
              <a:t>4</a:t>
            </a:r>
            <a:r>
              <a:rPr lang="en-US" altLang="zh-CN" dirty="0"/>
              <a:t>.2 </a:t>
            </a:r>
            <a:r>
              <a:rPr lang="zh-CN" altLang="zh-CN" dirty="0"/>
              <a:t>用数组处理求</a:t>
            </a:r>
            <a:r>
              <a:rPr lang="en-US" altLang="zh-CN" dirty="0"/>
              <a:t>Fibonacci</a:t>
            </a:r>
            <a:r>
              <a:rPr lang="zh-CN" altLang="zh-CN" dirty="0"/>
              <a:t>数列问题</a:t>
            </a:r>
            <a:endParaRPr lang="en-US" altLang="zh-CN" dirty="0"/>
          </a:p>
          <a:p>
            <a:r>
              <a:rPr lang="zh-CN" altLang="zh-CN" dirty="0"/>
              <a:t>解题思路：</a:t>
            </a:r>
            <a:endParaRPr lang="en-US" altLang="zh-CN" dirty="0"/>
          </a:p>
          <a:p>
            <a:pPr lvl="1" indent="-325120"/>
            <a:r>
              <a:rPr lang="zh-CN" altLang="en-US" dirty="0"/>
              <a:t>之前</a:t>
            </a:r>
            <a:r>
              <a:rPr lang="zh-CN" altLang="zh-CN" dirty="0"/>
              <a:t>例</a:t>
            </a:r>
            <a:r>
              <a:rPr lang="zh-CN" altLang="en-US" dirty="0"/>
              <a:t>子</a:t>
            </a:r>
            <a:r>
              <a:rPr lang="zh-CN" altLang="zh-CN" dirty="0"/>
              <a:t>中用简单变量处理的，</a:t>
            </a:r>
            <a:r>
              <a:rPr lang="zh-CN" altLang="en-US" dirty="0"/>
              <a:t>缺点</a:t>
            </a:r>
            <a:r>
              <a:rPr lang="zh-CN" altLang="zh-CN" dirty="0"/>
              <a:t>不能在内存中保存这些数。假如想直接输出数列中第</a:t>
            </a:r>
            <a:r>
              <a:rPr lang="en-US" altLang="zh-CN" dirty="0"/>
              <a:t>20</a:t>
            </a:r>
            <a:r>
              <a:rPr lang="zh-CN" altLang="zh-CN" dirty="0"/>
              <a:t>个数，是很困难的。</a:t>
            </a:r>
            <a:endParaRPr lang="en-US" altLang="zh-CN" dirty="0"/>
          </a:p>
          <a:p>
            <a:pPr lvl="1" indent="-325120"/>
            <a:r>
              <a:rPr lang="zh-CN" altLang="zh-CN" dirty="0"/>
              <a:t>如果用数组处理，每一个数组元素代表数列中的一个数，依次求出各数并存放在相应的数组元素中</a:t>
            </a:r>
            <a:endParaRPr lang="zh-CN" altLang="zh-CN" dirty="0"/>
          </a:p>
          <a:p>
            <a:pPr>
              <a:buNone/>
            </a:pPr>
            <a:endParaRPr lang="zh-CN" altLang="zh-CN" sz="2100" dirty="0">
              <a:solidFill>
                <a:srgbClr val="0000CC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8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charRg st="28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34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charRg st="34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85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charRg st="85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48866"/>
            <a:ext cx="6375797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一维数组程序举例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idx="1" hasCustomPrompt="1"/>
          </p:nvPr>
        </p:nvSpPr>
        <p:spPr>
          <a:xfrm>
            <a:off x="1410891" y="1232297"/>
            <a:ext cx="6107906" cy="3536156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 Fibonacci</a:t>
            </a:r>
            <a:r>
              <a:rPr lang="zh-CN" altLang="zh-CN" dirty="0"/>
              <a:t>数列定义</a:t>
            </a:r>
            <a:endParaRPr lang="en-US" altLang="zh-CN" dirty="0"/>
          </a:p>
          <a:p>
            <a:pPr marL="0" indent="0" algn="ctr">
              <a:buNone/>
            </a:pPr>
            <a:endParaRPr lang="zh-CN" altLang="zh-CN" dirty="0"/>
          </a:p>
          <a:p>
            <a:pPr marL="0" indent="0" algn="ctr">
              <a:buNone/>
            </a:pPr>
            <a:r>
              <a:rPr lang="zh-CN" altLang="zh-CN" i="1" dirty="0"/>
              <a:t>F</a:t>
            </a:r>
            <a:r>
              <a:rPr lang="en-US" altLang="zh-CN" baseline="-25000" dirty="0">
                <a:solidFill>
                  <a:schemeClr val="tx1"/>
                </a:solidFill>
                <a:uFillTx/>
              </a:rPr>
              <a:t>0</a:t>
            </a:r>
            <a:r>
              <a:rPr lang="en-US" altLang="zh-CN" dirty="0"/>
              <a:t> </a:t>
            </a:r>
            <a:r>
              <a:rPr lang="zh-CN" altLang="zh-CN" dirty="0"/>
              <a:t>=</a:t>
            </a:r>
            <a:r>
              <a:rPr lang="en-US" altLang="zh-CN" dirty="0"/>
              <a:t> 1</a:t>
            </a:r>
            <a:endParaRPr lang="zh-CN" altLang="zh-CN" dirty="0"/>
          </a:p>
          <a:p>
            <a:pPr marL="0" indent="0" algn="ctr">
              <a:buNone/>
            </a:pPr>
            <a:r>
              <a:rPr lang="zh-CN" altLang="zh-CN" i="1" dirty="0"/>
              <a:t>F</a:t>
            </a:r>
            <a:r>
              <a:rPr lang="en-US" altLang="zh-CN" baseline="-25000" dirty="0">
                <a:uFillTx/>
              </a:rPr>
              <a:t>1 </a:t>
            </a:r>
            <a:r>
              <a:rPr lang="zh-CN" altLang="zh-CN" dirty="0"/>
              <a:t>=</a:t>
            </a:r>
            <a:r>
              <a:rPr lang="en-US" altLang="zh-CN" dirty="0"/>
              <a:t> </a:t>
            </a:r>
            <a:r>
              <a:rPr lang="zh-CN" altLang="zh-CN" dirty="0"/>
              <a:t>1</a:t>
            </a:r>
            <a:endParaRPr lang="zh-CN" altLang="zh-CN" dirty="0"/>
          </a:p>
          <a:p>
            <a:pPr marL="0" indent="0" algn="ctr">
              <a:buNone/>
            </a:pPr>
            <a:r>
              <a:rPr lang="zh-CN" altLang="zh-CN" i="1" dirty="0"/>
              <a:t>F</a:t>
            </a:r>
            <a:r>
              <a:rPr lang="en-US" altLang="zh-CN" baseline="-25000" dirty="0">
                <a:uFillTx/>
              </a:rPr>
              <a:t>2</a:t>
            </a:r>
            <a:r>
              <a:rPr lang="zh-CN" altLang="zh-CN" dirty="0"/>
              <a:t> = </a:t>
            </a:r>
            <a:r>
              <a:rPr lang="zh-CN" altLang="zh-CN" i="1" dirty="0"/>
              <a:t>F</a:t>
            </a:r>
            <a:r>
              <a:rPr lang="en-US" altLang="zh-CN" baseline="-25000" dirty="0">
                <a:uFillTx/>
              </a:rPr>
              <a:t>1 </a:t>
            </a:r>
            <a:r>
              <a:rPr lang="zh-CN" altLang="zh-CN" dirty="0"/>
              <a:t>+ </a:t>
            </a:r>
            <a:r>
              <a:rPr lang="zh-CN" altLang="zh-CN" i="1" dirty="0"/>
              <a:t>F</a:t>
            </a:r>
            <a:r>
              <a:rPr lang="en-US" altLang="zh-CN" baseline="-25000" dirty="0">
                <a:uFillTx/>
              </a:rPr>
              <a:t>0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dirty="0"/>
              <a:t>…</a:t>
            </a:r>
            <a:endParaRPr lang="zh-CN" altLang="zh-CN" dirty="0"/>
          </a:p>
          <a:p>
            <a:pPr marL="0" indent="0" algn="ctr">
              <a:buNone/>
            </a:pPr>
            <a:r>
              <a:rPr lang="zh-CN" altLang="zh-CN" i="1" dirty="0"/>
              <a:t>F</a:t>
            </a:r>
            <a:r>
              <a:rPr lang="en-US" altLang="zh-CN" baseline="-25000" dirty="0">
                <a:uFillTx/>
              </a:rPr>
              <a:t>n </a:t>
            </a:r>
            <a:r>
              <a:rPr lang="zh-CN" altLang="zh-CN" dirty="0"/>
              <a:t>= </a:t>
            </a:r>
            <a:r>
              <a:rPr lang="zh-CN" altLang="zh-CN" i="1" dirty="0"/>
              <a:t>F</a:t>
            </a:r>
            <a:r>
              <a:rPr lang="en-US" altLang="zh-CN" baseline="-25000" dirty="0">
                <a:uFillTx/>
              </a:rPr>
              <a:t>n-1</a:t>
            </a:r>
            <a:r>
              <a:rPr lang="zh-CN" altLang="zh-CN" dirty="0"/>
              <a:t>+</a:t>
            </a:r>
            <a:r>
              <a:rPr lang="zh-CN" altLang="zh-CN" i="1" dirty="0"/>
              <a:t>F</a:t>
            </a:r>
            <a:r>
              <a:rPr lang="en-US" altLang="zh-CN" baseline="-25000" dirty="0">
                <a:uFillTx/>
              </a:rPr>
              <a:t>n-2</a:t>
            </a:r>
            <a:endParaRPr lang="en-US" altLang="zh-CN" baseline="-25000" dirty="0">
              <a:uFillTx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1"/>
          <p:cNvSpPr txBox="1"/>
          <p:nvPr>
            <p:custDataLst>
              <p:tags r:id="rId1"/>
            </p:custDataLst>
          </p:nvPr>
        </p:nvSpPr>
        <p:spPr>
          <a:xfrm>
            <a:off x="1303020" y="733425"/>
            <a:ext cx="5680710" cy="3990340"/>
          </a:xfrm>
          <a:prstGeom prst="rect">
            <a:avLst/>
          </a:prstGeom>
          <a:solidFill>
            <a:srgbClr val="66CCFF"/>
          </a:solidFill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spc="3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500" b="0" i="0" u="none" strike="noStrike" kern="1200" cap="none" spc="3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j-cs"/>
            </a:endParaRPr>
          </a:p>
        </p:txBody>
      </p:sp>
      <p:sp>
        <p:nvSpPr>
          <p:cNvPr id="16385" name="Rectangle 3"/>
          <p:cNvSpPr>
            <a:spLocks noGrp="1"/>
          </p:cNvSpPr>
          <p:nvPr>
            <p:ph idx="1" hasCustomPrompt="1"/>
          </p:nvPr>
        </p:nvSpPr>
        <p:spPr>
          <a:xfrm>
            <a:off x="1464310" y="733425"/>
            <a:ext cx="5358130" cy="4249420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#include &lt;stdio.h&gt;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int main() {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int i;  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int f[20]={1,1};                                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for(i=2;i&lt;20;i++)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    f[i]=f[i-2]+f[i-1]; 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for(i=0;i&lt;20;i++) {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    if(i%5==0) printf("\n");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    printf("%12d", f[i]);                          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}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printf("\n");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    return 0;  </a:t>
            </a:r>
            <a:endParaRPr lang="en-US" altLang="zh-CN" sz="1500" dirty="0">
              <a:latin typeface="宋体" pitchFamily="2" charset="-122"/>
            </a:endParaRPr>
          </a:p>
          <a:p>
            <a:pPr>
              <a:buNone/>
            </a:pPr>
            <a:r>
              <a:rPr lang="en-US" altLang="zh-CN" sz="1500" dirty="0">
                <a:latin typeface="宋体" pitchFamily="2" charset="-122"/>
              </a:rPr>
              <a:t>} </a:t>
            </a:r>
            <a:endParaRPr lang="en-US" altLang="zh-CN" sz="1500" dirty="0">
              <a:latin typeface="宋体" pitchFamily="2" charset="-122"/>
            </a:endParaRPr>
          </a:p>
        </p:txBody>
      </p:sp>
      <p:sp>
        <p:nvSpPr>
          <p:cNvPr id="5" name="流程图: 过程 4"/>
          <p:cNvSpPr/>
          <p:nvPr/>
        </p:nvSpPr>
        <p:spPr>
          <a:xfrm>
            <a:off x="2058115" y="2220754"/>
            <a:ext cx="2241947" cy="494110"/>
          </a:xfrm>
          <a:prstGeom prst="flowChartProcess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4498181" y="1848882"/>
            <a:ext cx="1427560" cy="371475"/>
          </a:xfrm>
          <a:prstGeom prst="wedgeRoundRectCallout">
            <a:avLst>
              <a:gd name="adj1" fmla="val -68005"/>
              <a:gd name="adj2" fmla="val 52023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SzTx/>
            </a:pPr>
            <a:r>
              <a:rPr lang="zh-CN" altLang="zh-CN" sz="1350" b="1" dirty="0">
                <a:solidFill>
                  <a:srgbClr val="FF0000"/>
                </a:solidFill>
                <a:latin typeface="Arial" panose="020B0604020202090204" pitchFamily="34" charset="0"/>
              </a:rPr>
              <a:t>往数组里存值</a:t>
            </a:r>
            <a:endParaRPr lang="zh-CN" altLang="zh-CN" sz="135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" name="流程图: 过程 1"/>
          <p:cNvSpPr/>
          <p:nvPr/>
        </p:nvSpPr>
        <p:spPr>
          <a:xfrm>
            <a:off x="1807369" y="2724944"/>
            <a:ext cx="2890838" cy="1091804"/>
          </a:xfrm>
          <a:prstGeom prst="flowChartProcess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4854179" y="2343150"/>
            <a:ext cx="1897856" cy="371475"/>
          </a:xfrm>
          <a:prstGeom prst="wedgeRoundRectCallout">
            <a:avLst>
              <a:gd name="adj1" fmla="val -68005"/>
              <a:gd name="adj2" fmla="val 52023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>
              <a:buSzTx/>
            </a:pPr>
            <a:r>
              <a:rPr lang="zh-CN" altLang="zh-CN" sz="1350" b="1" dirty="0">
                <a:solidFill>
                  <a:srgbClr val="FF0000"/>
                </a:solidFill>
                <a:latin typeface="Arial" panose="020B0604020202090204" pitchFamily="34" charset="0"/>
              </a:rPr>
              <a:t>引用数组里的元素</a:t>
            </a:r>
            <a:endParaRPr lang="zh-CN" altLang="zh-CN" sz="135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98365" y="3816350"/>
            <a:ext cx="4349333" cy="12600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2" grpId="0" bldLvl="0" animBg="1"/>
      <p:bldP spid="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6" name="textbox 4306"/>
          <p:cNvSpPr/>
          <p:nvPr/>
        </p:nvSpPr>
        <p:spPr>
          <a:xfrm>
            <a:off x="1046474" y="2763297"/>
            <a:ext cx="7109460" cy="123872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6000"/>
              </a:lnSpc>
            </a:pPr>
            <a:r>
              <a:rPr sz="135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如果建立一个数组</a:t>
            </a:r>
            <a:r>
              <a:rPr sz="135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pay</a:t>
            </a:r>
            <a:r>
              <a:rPr sz="135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350" kern="0" spc="-1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它应</a:t>
            </a:r>
            <a:r>
              <a:rPr sz="135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当是二维的，</a:t>
            </a:r>
            <a:r>
              <a:rPr sz="135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第一维用来表示第几分队，</a:t>
            </a:r>
            <a:r>
              <a:rPr sz="135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第二维用来表示第几个</a:t>
            </a:r>
            <a:endParaRPr lang="en-US" altLang="en-US" sz="1350" dirty="0"/>
          </a:p>
          <a:p>
            <a:pPr marL="26035" algn="l" rtl="0" eaLnBrk="0">
              <a:lnSpc>
                <a:spcPts val="3435"/>
              </a:lnSpc>
              <a:spcBef>
                <a:spcPts val="25"/>
              </a:spcBef>
            </a:pP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队员</a:t>
            </a:r>
            <a:r>
              <a:rPr sz="1350" kern="0" spc="-2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。例如用pay</a:t>
            </a:r>
            <a:r>
              <a:rPr sz="1350" kern="0" spc="-50" baseline="-34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2,3</a:t>
            </a: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表示2分队第3名队员的工资，</a:t>
            </a:r>
            <a:r>
              <a:rPr sz="135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它的值是1725。</a:t>
            </a:r>
            <a:endParaRPr lang="en-US" altLang="en-US" sz="1350" dirty="0"/>
          </a:p>
          <a:p>
            <a:pPr algn="l" rtl="0" eaLnBrk="0">
              <a:lnSpc>
                <a:spcPct val="152000"/>
              </a:lnSpc>
            </a:pPr>
            <a:endParaRPr lang="en-US" altLang="en-US" sz="750" dirty="0"/>
          </a:p>
          <a:p>
            <a:pPr marL="18415" algn="l" rtl="0" eaLnBrk="0">
              <a:lnSpc>
                <a:spcPct val="87000"/>
              </a:lnSpc>
              <a:spcBef>
                <a:spcPts val="540"/>
              </a:spcBef>
            </a:pPr>
            <a:r>
              <a:rPr sz="135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二维数组常称为</a:t>
            </a:r>
            <a:r>
              <a:rPr sz="1350" b="1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sz="135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(matr</a:t>
            </a: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ix)</a:t>
            </a:r>
            <a:r>
              <a:rPr sz="1350" kern="0" spc="-3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。把二维数组写成</a:t>
            </a:r>
            <a:r>
              <a:rPr sz="135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</a:t>
            </a: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(row)和</a:t>
            </a:r>
            <a:r>
              <a:rPr sz="1350" b="1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</a:t>
            </a: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(column)的排列形式，</a:t>
            </a:r>
            <a:r>
              <a:rPr sz="135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可以有助于形</a:t>
            </a:r>
            <a:endParaRPr lang="en-US" altLang="en-US" sz="1350" dirty="0"/>
          </a:p>
          <a:p>
            <a:pPr marL="17145" algn="l" rtl="0" eaLnBrk="0">
              <a:lnSpc>
                <a:spcPts val="3240"/>
              </a:lnSpc>
            </a:pPr>
            <a:r>
              <a:rPr sz="135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象化地理解二维数组的逻辑结构。</a:t>
            </a:r>
            <a:endParaRPr lang="en-US" altLang="en-US" sz="1350" dirty="0"/>
          </a:p>
        </p:txBody>
      </p:sp>
      <p:sp>
        <p:nvSpPr>
          <p:cNvPr id="4310" name="textbox 4310"/>
          <p:cNvSpPr/>
          <p:nvPr/>
        </p:nvSpPr>
        <p:spPr>
          <a:xfrm>
            <a:off x="1206409" y="1277803"/>
            <a:ext cx="2110740" cy="104822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899795" algn="l" rtl="0" eaLnBrk="0">
              <a:lnSpc>
                <a:spcPct val="98000"/>
              </a:lnSpc>
            </a:pPr>
            <a:r>
              <a:rPr b="1" kern="0" spc="-20" dirty="0">
                <a:solidFill>
                  <a:srgbClr val="78236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小例子</a:t>
            </a:r>
            <a:endParaRPr lang="en-US" altLang="en-US" dirty="0">
              <a:solidFill>
                <a:srgbClr val="782367"/>
              </a:solidFill>
            </a:endParaRPr>
          </a:p>
          <a:p>
            <a:pPr algn="l" rtl="0" eaLnBrk="0">
              <a:lnSpc>
                <a:spcPct val="105000"/>
              </a:lnSpc>
            </a:pPr>
            <a:endParaRPr lang="en-US" altLang="en-US" sz="900" dirty="0"/>
          </a:p>
          <a:p>
            <a:pPr algn="l" rtl="0" eaLnBrk="0">
              <a:lnSpc>
                <a:spcPct val="10000"/>
              </a:lnSpc>
            </a:pPr>
            <a:endParaRPr lang="en-US" altLang="en-US" sz="100" dirty="0"/>
          </a:p>
          <a:p>
            <a:pPr marL="12700" indent="1905" algn="l" rtl="0" eaLnBrk="0">
              <a:lnSpc>
                <a:spcPct val="112000"/>
              </a:lnSpc>
            </a:pPr>
            <a:r>
              <a:rPr sz="1200" kern="0" spc="-4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有3个小分队，每队</a:t>
            </a:r>
            <a:r>
              <a:rPr sz="1200" kern="0" spc="-5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有6名队员，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要把这些队员的工资用数组保   </a:t>
            </a: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存起来以备查。</a:t>
            </a:r>
            <a:endParaRPr lang="en-US" altLang="en-US" sz="1200" dirty="0"/>
          </a:p>
        </p:txBody>
      </p:sp>
      <p:sp>
        <p:nvSpPr>
          <p:cNvPr id="4314" name="path"/>
          <p:cNvSpPr/>
          <p:nvPr/>
        </p:nvSpPr>
        <p:spPr>
          <a:xfrm>
            <a:off x="984885" y="2617088"/>
            <a:ext cx="7222235" cy="19050"/>
          </a:xfrm>
          <a:custGeom>
            <a:avLst/>
            <a:gdLst/>
            <a:ahLst/>
            <a:cxnLst/>
            <a:rect l="0" t="0" r="0" b="0"/>
            <a:pathLst>
              <a:path w="15164" h="40">
                <a:moveTo>
                  <a:pt x="20" y="20"/>
                </a:moveTo>
                <a:lnTo>
                  <a:pt x="1514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 sz="1350">
              <a:solidFill>
                <a:srgbClr val="782367"/>
              </a:solidFill>
            </a:endParaRPr>
          </a:p>
        </p:txBody>
      </p:sp>
      <p:sp>
        <p:nvSpPr>
          <p:cNvPr id="4316" name="path"/>
          <p:cNvSpPr/>
          <p:nvPr/>
        </p:nvSpPr>
        <p:spPr>
          <a:xfrm>
            <a:off x="984885" y="4388739"/>
            <a:ext cx="7222235" cy="19050"/>
          </a:xfrm>
          <a:custGeom>
            <a:avLst/>
            <a:gdLst/>
            <a:ahLst/>
            <a:cxnLst/>
            <a:rect l="0" t="0" r="0" b="0"/>
            <a:pathLst>
              <a:path w="15164" h="40">
                <a:moveTo>
                  <a:pt x="20" y="20"/>
                </a:moveTo>
                <a:lnTo>
                  <a:pt x="1514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215042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357313" y="448866"/>
            <a:ext cx="6375797" cy="62269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二维数组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4376420" y="1071880"/>
          <a:ext cx="64001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  <a:gridCol w="648000"/>
                <a:gridCol w="648000"/>
                <a:gridCol w="648000"/>
                <a:gridCol w="648000"/>
              </a:tblGrid>
              <a:tr h="381000">
                <a:tc>
                  <a:txBody>
                    <a:bodyPr/>
                    <a:p>
                      <a:pPr indent="0" algn="ctr" rtl="0" eaLnBrk="0" fontAlgn="auto">
                        <a:lnSpc>
                          <a:spcPct val="100000"/>
                        </a:lnSpc>
                      </a:pPr>
                      <a:endParaRPr lang="en-US" altLang="en-US" sz="7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8000"/>
                        </a:lnSpc>
                      </a:pPr>
                      <a:endParaRPr lang="en-US" altLang="en-US" sz="375" dirty="0"/>
                    </a:p>
                    <a:p>
                      <a:pPr indent="0" algn="ctr" rtl="0" eaLnBrk="0" fontAlgn="auto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350" kern="0" spc="-60" dirty="0"/>
                        <a:t>队员1</a:t>
                      </a:r>
                      <a:endParaRPr lang="en-US" altLang="en-US" sz="1350" kern="0" spc="-6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8000"/>
                        </a:lnSpc>
                      </a:pPr>
                      <a:endParaRPr lang="en-US" altLang="en-US" sz="375" dirty="0"/>
                    </a:p>
                    <a:p>
                      <a:pPr indent="0" algn="ctr" rtl="0" eaLnBrk="0" fontAlgn="auto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350" kern="0" spc="-60" dirty="0"/>
                        <a:t>队员2</a:t>
                      </a:r>
                      <a:endParaRPr lang="en-US" altLang="en-US" sz="1350" kern="0" spc="-6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8000"/>
                        </a:lnSpc>
                      </a:pPr>
                      <a:endParaRPr lang="en-US" altLang="en-US" sz="375" dirty="0"/>
                    </a:p>
                    <a:p>
                      <a:pPr indent="0" algn="ctr" rtl="0" eaLnBrk="0" fontAlgn="auto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350" kern="0" spc="-60" dirty="0"/>
                        <a:t>队员3</a:t>
                      </a:r>
                      <a:endParaRPr lang="en-US" altLang="en-US" sz="1350" kern="0" spc="-6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8000"/>
                        </a:lnSpc>
                      </a:pPr>
                      <a:endParaRPr lang="en-US" altLang="en-US" sz="375" dirty="0"/>
                    </a:p>
                    <a:p>
                      <a:pPr indent="0" algn="ctr" rtl="0" eaLnBrk="0" fontAlgn="auto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350" kern="0" spc="-60" dirty="0"/>
                        <a:t>队员4</a:t>
                      </a:r>
                      <a:endParaRPr lang="en-US" altLang="en-US" sz="1350" kern="0" spc="-6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8000"/>
                        </a:lnSpc>
                      </a:pPr>
                      <a:endParaRPr lang="en-US" altLang="en-US" sz="375" dirty="0"/>
                    </a:p>
                    <a:p>
                      <a:pPr indent="0" algn="ctr" rtl="0" eaLnBrk="0" fontAlgn="auto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350" kern="0" spc="-60" dirty="0"/>
                        <a:t>队员5</a:t>
                      </a:r>
                      <a:endParaRPr lang="en-US" altLang="en-US" sz="1350" kern="0" spc="-6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8000"/>
                        </a:lnSpc>
                      </a:pPr>
                      <a:endParaRPr lang="en-US" altLang="en-US" sz="375" dirty="0"/>
                    </a:p>
                    <a:p>
                      <a:pPr indent="0" algn="ctr" rtl="0" eaLnBrk="0" fontAlgn="auto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1350" kern="0" spc="-60" dirty="0"/>
                        <a:t>队员6</a:t>
                      </a:r>
                      <a:endParaRPr lang="en-US" altLang="en-US" sz="1350" kern="0" spc="-60" dirty="0"/>
                    </a:p>
                  </a:txBody>
                  <a:tcPr marL="0" marR="0" marT="0" marB="0" vert="horz"/>
                </a:tc>
              </a:tr>
              <a:tr h="381000">
                <a:tc>
                  <a:txBody>
                    <a:bodyPr/>
                    <a:p>
                      <a:pPr indent="0" algn="ctr" rtl="0" eaLnBrk="0" fontAlgn="auto">
                        <a:lnSpc>
                          <a:spcPct val="120000"/>
                        </a:lnSpc>
                      </a:pPr>
                      <a:endParaRPr lang="en-US" altLang="en-US" sz="300" dirty="0"/>
                    </a:p>
                    <a:p>
                      <a:pPr indent="0" algn="ctr" rtl="0" eaLnBrk="0" fontAlgn="auto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350" kern="0" spc="-50" dirty="0"/>
                        <a:t>第1分队</a:t>
                      </a:r>
                      <a:endParaRPr lang="en-US" altLang="en-US" sz="1350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2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78000"/>
                        </a:lnSpc>
                      </a:pPr>
                      <a:r>
                        <a:rPr sz="1350" kern="0" spc="-100" dirty="0"/>
                        <a:t>2456</a:t>
                      </a:r>
                      <a:endParaRPr lang="en-US" altLang="en-US" sz="1350" kern="0" spc="-10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3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1847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3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1243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3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1600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2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350" kern="0" spc="-100" dirty="0"/>
                        <a:t>2346</a:t>
                      </a:r>
                      <a:endParaRPr lang="en-US" altLang="en-US" sz="1350" kern="0" spc="-10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2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78000"/>
                        </a:lnSpc>
                      </a:pPr>
                      <a:r>
                        <a:rPr sz="1350" kern="0" spc="-100" dirty="0"/>
                        <a:t>2757</a:t>
                      </a:r>
                      <a:endParaRPr lang="en-US" altLang="en-US" sz="1350" kern="0" spc="-100" dirty="0"/>
                    </a:p>
                  </a:txBody>
                  <a:tcPr marL="0" marR="0" marT="0" marB="0" vert="horz"/>
                </a:tc>
              </a:tr>
              <a:tr h="381000">
                <a:tc>
                  <a:txBody>
                    <a:bodyPr/>
                    <a:p>
                      <a:pPr indent="0" algn="ctr" rtl="0" eaLnBrk="0" fontAlgn="auto">
                        <a:lnSpc>
                          <a:spcPct val="100000"/>
                        </a:lnSpc>
                      </a:pPr>
                      <a:endParaRPr lang="en-US" altLang="en-US" sz="375" dirty="0"/>
                    </a:p>
                    <a:p>
                      <a:pPr indent="0" algn="ctr" rtl="0" eaLnBrk="0" fontAlgn="auto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350" kern="0" spc="-50" dirty="0"/>
                        <a:t>第2分队</a:t>
                      </a:r>
                      <a:endParaRPr lang="en-US" altLang="en-US" sz="1350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2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350" kern="0" spc="-90" dirty="0"/>
                        <a:t>3045</a:t>
                      </a:r>
                      <a:endParaRPr lang="en-US" altLang="en-US" sz="1350" kern="0" spc="-9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2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350" kern="0" spc="-100" dirty="0"/>
                        <a:t>2018</a:t>
                      </a:r>
                      <a:endParaRPr lang="en-US" altLang="en-US" sz="1350" kern="0" spc="-10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3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1725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2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350" kern="0" spc="-100" dirty="0"/>
                        <a:t>2020</a:t>
                      </a:r>
                      <a:endParaRPr lang="en-US" altLang="en-US" sz="1350" kern="0" spc="-10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2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1350" kern="0" spc="-100" dirty="0"/>
                        <a:t>2458</a:t>
                      </a:r>
                      <a:endParaRPr lang="en-US" altLang="en-US" sz="1350" kern="0" spc="-10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3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1436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</a:tr>
              <a:tr h="381000">
                <a:tc>
                  <a:txBody>
                    <a:bodyPr/>
                    <a:p>
                      <a:pPr indent="0" algn="ctr" rtl="0" eaLnBrk="0" fontAlgn="auto">
                        <a:lnSpc>
                          <a:spcPct val="101000"/>
                        </a:lnSpc>
                      </a:pPr>
                      <a:endParaRPr lang="en-US" altLang="en-US" sz="375" dirty="0"/>
                    </a:p>
                    <a:p>
                      <a:pPr indent="0" algn="ctr" rtl="0" eaLnBrk="0" fontAlgn="auto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1350" kern="0" spc="-50" dirty="0"/>
                        <a:t>第3分队</a:t>
                      </a:r>
                      <a:endParaRPr lang="en-US" altLang="en-US" sz="1350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2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1427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6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1175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4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1046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4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1976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4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/>
                        <a:t>1477</a:t>
                      </a:r>
                      <a:endParaRPr lang="en-US" altLang="en-US" sz="1275" kern="0" spc="-50" dirty="0"/>
                    </a:p>
                  </a:txBody>
                  <a:tcPr marL="0" marR="0" marT="0" marB="0" vert="horz"/>
                </a:tc>
                <a:tc>
                  <a:txBody>
                    <a:bodyPr/>
                    <a:p>
                      <a:pPr indent="0" algn="ctr" rtl="0" eaLnBrk="0" fontAlgn="auto">
                        <a:lnSpc>
                          <a:spcPct val="103000"/>
                        </a:lnSpc>
                      </a:pPr>
                      <a:endParaRPr lang="en-US" altLang="en-US" sz="525" dirty="0"/>
                    </a:p>
                    <a:p>
                      <a:pPr indent="0" algn="ctr" rtl="0" eaLnBrk="0" fontAlgn="auto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1350" kern="0" spc="-100" dirty="0"/>
                        <a:t>2018</a:t>
                      </a:r>
                      <a:endParaRPr lang="en-US" altLang="en-US" sz="1350" kern="0" spc="-100" dirty="0"/>
                    </a:p>
                  </a:txBody>
                  <a:tcPr marL="0" marR="0" marT="0" marB="0" vert="horz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720840" y="393065"/>
            <a:ext cx="1866900" cy="24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1200" kern="0" spc="-5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float型二维数组</a:t>
            </a:r>
            <a:endParaRPr lang="en-US" altLang="en-US" sz="1200" dirty="0"/>
          </a:p>
          <a:p>
            <a:pPr algn="ctr"/>
            <a:endParaRPr lang="zh-CN" altLang="en-US" sz="1200"/>
          </a:p>
        </p:txBody>
      </p:sp>
      <p:sp>
        <p:nvSpPr>
          <p:cNvPr id="2" name="矩形 1"/>
          <p:cNvSpPr/>
          <p:nvPr/>
        </p:nvSpPr>
        <p:spPr>
          <a:xfrm>
            <a:off x="859155" y="999490"/>
            <a:ext cx="3603625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1350" b="1" kern="0" spc="-2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350" b="1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类型说明符  数组名[常量表达式][常量表达式]</a:t>
            </a:r>
            <a:endParaRPr lang="en-US" altLang="en-US" sz="1350" dirty="0"/>
          </a:p>
          <a:p>
            <a:pPr algn="ctr"/>
            <a:endParaRPr lang="zh-CN" altLang="en-US" sz="1350"/>
          </a:p>
        </p:txBody>
      </p:sp>
      <p:sp>
        <p:nvSpPr>
          <p:cNvPr id="4318" name="textbox 4318"/>
          <p:cNvSpPr/>
          <p:nvPr/>
        </p:nvSpPr>
        <p:spPr>
          <a:xfrm>
            <a:off x="918248" y="2744534"/>
            <a:ext cx="7633811" cy="176212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23495" algn="l" rtl="0" eaLnBrk="0">
              <a:lnSpc>
                <a:spcPct val="95000"/>
              </a:lnSpc>
            </a:pPr>
            <a:r>
              <a:rPr sz="135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二维数组可被看作一种特殊的一维数组: 它的</a:t>
            </a:r>
            <a:r>
              <a:rPr sz="135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元素又是一个一维数组。</a:t>
            </a:r>
            <a:endParaRPr lang="en-US" altLang="en-US" sz="1350" dirty="0"/>
          </a:p>
          <a:p>
            <a:pPr marL="12700" algn="l" rtl="0" eaLnBrk="0">
              <a:lnSpc>
                <a:spcPct val="87000"/>
              </a:lnSpc>
              <a:spcBef>
                <a:spcPts val="1190"/>
              </a:spcBef>
            </a:pPr>
            <a:r>
              <a:rPr sz="135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例如，</a:t>
            </a:r>
            <a:r>
              <a:rPr sz="1350" kern="0" spc="-3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</a:t>
            </a:r>
            <a:r>
              <a:rPr sz="1350" kern="0" spc="2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a[3][4];可以把a看作一个一维数组，</a:t>
            </a:r>
            <a:r>
              <a:rPr sz="135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它有3个元素：</a:t>
            </a:r>
            <a:r>
              <a:rPr sz="1350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a[0],</a:t>
            </a:r>
            <a:r>
              <a:rPr sz="1350" kern="0" spc="2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a[1],</a:t>
            </a:r>
            <a:r>
              <a:rPr sz="1350" kern="0" spc="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a[2]，</a:t>
            </a:r>
            <a:r>
              <a:rPr sz="1350" kern="0" spc="-2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5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每个元素又是</a:t>
            </a:r>
            <a:r>
              <a:rPr sz="135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一个包含</a:t>
            </a:r>
            <a:endParaRPr lang="en-US" altLang="en-US" sz="1350" dirty="0"/>
          </a:p>
          <a:p>
            <a:pPr marL="12700" algn="l" rtl="0" eaLnBrk="0">
              <a:lnSpc>
                <a:spcPts val="3240"/>
              </a:lnSpc>
            </a:pPr>
            <a:r>
              <a:rPr sz="135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4个元素的一维数组：</a:t>
            </a:r>
            <a:endParaRPr lang="en-US" altLang="en-US" sz="1350" dirty="0"/>
          </a:p>
          <a:p>
            <a:pPr marL="3279140" algn="l" rtl="0" eaLnBrk="0">
              <a:lnSpc>
                <a:spcPct val="92000"/>
              </a:lnSpc>
              <a:spcBef>
                <a:spcPts val="1365"/>
              </a:spcBef>
            </a:pP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a[0] ——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a[0]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[0]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a[0]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a[0]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a[0</a:t>
            </a:r>
            <a:r>
              <a:rPr sz="1275" u="sng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sz="1275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</a:t>
            </a:r>
            <a:endParaRPr lang="en-US" altLang="en-US" sz="1275" dirty="0"/>
          </a:p>
          <a:p>
            <a:pPr marL="3279140" algn="l" rtl="0" eaLnBrk="0">
              <a:lnSpc>
                <a:spcPct val="158000"/>
              </a:lnSpc>
              <a:spcBef>
                <a:spcPts val="15"/>
              </a:spcBef>
            </a:pP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a[1] ——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a[1]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[0]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a[1]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a[1]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a[1</a:t>
            </a:r>
            <a:r>
              <a:rPr sz="1275" u="sng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sz="1275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</a:t>
            </a:r>
            <a:endParaRPr lang="en-US" altLang="en-US" sz="1275" dirty="0"/>
          </a:p>
          <a:p>
            <a:pPr marL="3279140" algn="l" rtl="0" eaLnBrk="0">
              <a:lnSpc>
                <a:spcPct val="164000"/>
              </a:lnSpc>
              <a:spcBef>
                <a:spcPts val="15"/>
              </a:spcBef>
            </a:pP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a[2] ——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a[2]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[0]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a[2]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a[2]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</a:t>
            </a:r>
            <a:r>
              <a:rPr sz="1275" u="sng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a[2</a:t>
            </a:r>
            <a:r>
              <a:rPr sz="1275" u="sng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sz="1275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</a:t>
            </a:r>
            <a:endParaRPr lang="en-US" altLang="en-US" sz="1275" dirty="0"/>
          </a:p>
        </p:txBody>
      </p:sp>
      <p:graphicFrame>
        <p:nvGraphicFramePr>
          <p:cNvPr id="4320" name="table 4320"/>
          <p:cNvGraphicFramePr>
            <a:graphicFrameLocks noGrp="1"/>
          </p:cNvGraphicFramePr>
          <p:nvPr/>
        </p:nvGraphicFramePr>
        <p:xfrm>
          <a:off x="2427668" y="4065079"/>
          <a:ext cx="1433195" cy="320040"/>
        </p:xfrm>
        <a:graphic>
          <a:graphicData uri="http://schemas.openxmlformats.org/drawingml/2006/table">
            <a:tbl>
              <a:tblPr/>
              <a:tblGrid>
                <a:gridCol w="1433195"/>
              </a:tblGrid>
              <a:tr h="320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525" dirty="0"/>
                    </a:p>
                    <a:p>
                      <a:pPr marL="24257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1275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float</a:t>
                      </a:r>
                      <a:r>
                        <a:rPr sz="1275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75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pay[3][6]</a:t>
                      </a:r>
                      <a:r>
                        <a:rPr sz="1275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;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22" name="rect"/>
          <p:cNvSpPr/>
          <p:nvPr/>
        </p:nvSpPr>
        <p:spPr>
          <a:xfrm>
            <a:off x="6290215" y="1614964"/>
            <a:ext cx="250031" cy="9525"/>
          </a:xfrm>
          <a:prstGeom prst="rect">
            <a:avLst/>
          </a:prstGeom>
          <a:solidFill>
            <a:schemeClr val="accent1"/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324" name="path"/>
          <p:cNvSpPr/>
          <p:nvPr/>
        </p:nvSpPr>
        <p:spPr>
          <a:xfrm>
            <a:off x="5986281" y="1306467"/>
            <a:ext cx="307352" cy="316574"/>
          </a:xfrm>
          <a:custGeom>
            <a:avLst/>
            <a:gdLst/>
            <a:ahLst/>
            <a:cxnLst/>
            <a:rect l="0" t="0" r="0" b="0"/>
            <a:pathLst>
              <a:path w="645" h="664">
                <a:moveTo>
                  <a:pt x="638" y="657"/>
                </a:moveTo>
                <a:lnTo>
                  <a:pt x="7" y="6"/>
                </a:lnTo>
              </a:path>
            </a:pathLst>
          </a:custGeom>
          <a:noFill/>
          <a:ln w="12700" cap="flat">
            <a:solidFill>
              <a:schemeClr val="accent1">
                <a:alpha val="100000"/>
              </a:scheme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326" name="path"/>
          <p:cNvSpPr/>
          <p:nvPr/>
        </p:nvSpPr>
        <p:spPr>
          <a:xfrm>
            <a:off x="5729118" y="1290554"/>
            <a:ext cx="656897" cy="711875"/>
          </a:xfrm>
          <a:custGeom>
            <a:avLst/>
            <a:gdLst/>
            <a:ahLst/>
            <a:cxnLst/>
            <a:rect l="0" t="0" r="0" b="0"/>
            <a:pathLst>
              <a:path w="1379" h="1494">
                <a:moveTo>
                  <a:pt x="1371" y="1487"/>
                </a:moveTo>
                <a:lnTo>
                  <a:pt x="7" y="6"/>
                </a:lnTo>
              </a:path>
            </a:pathLst>
          </a:custGeom>
          <a:noFill/>
          <a:ln w="12700" cap="flat">
            <a:solidFill>
              <a:schemeClr val="accent1">
                <a:alpha val="100000"/>
              </a:scheme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graphicFrame>
        <p:nvGraphicFramePr>
          <p:cNvPr id="4328" name="table 4328"/>
          <p:cNvGraphicFramePr>
            <a:graphicFrameLocks noGrp="1"/>
          </p:cNvGraphicFramePr>
          <p:nvPr/>
        </p:nvGraphicFramePr>
        <p:xfrm>
          <a:off x="1364551" y="1417129"/>
          <a:ext cx="4430395" cy="603250"/>
        </p:xfrm>
        <a:graphic>
          <a:graphicData uri="http://schemas.openxmlformats.org/drawingml/2006/table">
            <a:tbl>
              <a:tblPr/>
              <a:tblGrid>
                <a:gridCol w="4430395"/>
              </a:tblGrid>
              <a:tr h="603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lang="en-US" altLang="en-US" sz="600" dirty="0"/>
                    </a:p>
                    <a:p>
                      <a:pPr marL="113665" algn="l" rtl="0" eaLnBrk="0">
                        <a:lnSpc>
                          <a:spcPct val="98000"/>
                        </a:lnSpc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float a[3][4],</a:t>
                      </a:r>
                      <a:r>
                        <a:rPr sz="1275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b[5][10];</a:t>
                      </a:r>
                      <a:endParaRPr lang="en-US" altLang="en-US" sz="1275" dirty="0"/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lang="en-US" altLang="en-US" sz="300" dirty="0"/>
                    </a:p>
                    <a:p>
                      <a:pPr marL="10922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350" kern="0" spc="-6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//定义a为3×4(3行4列)的</a:t>
                      </a:r>
                      <a:r>
                        <a:rPr sz="1350" kern="0" spc="-7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数组，</a:t>
                      </a:r>
                      <a:r>
                        <a:rPr sz="1350" kern="0" spc="-24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350" kern="0" spc="-7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b为5×10(5行10列)的数组</a:t>
                      </a:r>
                      <a:endParaRPr lang="en-US" altLang="en-US" sz="135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330" name="table 4330"/>
          <p:cNvGraphicFramePr>
            <a:graphicFrameLocks noGrp="1"/>
          </p:cNvGraphicFramePr>
          <p:nvPr/>
        </p:nvGraphicFramePr>
        <p:xfrm>
          <a:off x="1364551" y="2096071"/>
          <a:ext cx="4430395" cy="338455"/>
        </p:xfrm>
        <a:graphic>
          <a:graphicData uri="http://schemas.openxmlformats.org/drawingml/2006/table">
            <a:tbl>
              <a:tblPr/>
              <a:tblGrid>
                <a:gridCol w="4430395"/>
              </a:tblGrid>
              <a:tr h="3384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lang="en-US" altLang="en-US" sz="525" dirty="0"/>
                    </a:p>
                    <a:p>
                      <a:pPr marL="10858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135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float a[3, 4], b[5, 10];   </a:t>
                      </a:r>
                      <a:r>
                        <a:rPr sz="1350" kern="0" spc="-5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//</a:t>
                      </a:r>
                      <a:r>
                        <a:rPr sz="1350" kern="0" spc="-6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在一对方括号内不能写两个下标</a:t>
                      </a:r>
                      <a:endParaRPr lang="en-US" altLang="en-US" sz="135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34" name="path"/>
          <p:cNvSpPr/>
          <p:nvPr/>
        </p:nvSpPr>
        <p:spPr>
          <a:xfrm>
            <a:off x="5083322" y="458771"/>
            <a:ext cx="1179820" cy="610268"/>
          </a:xfrm>
          <a:custGeom>
            <a:avLst/>
            <a:gdLst/>
            <a:ahLst/>
            <a:cxnLst/>
            <a:rect l="0" t="0" r="0" b="0"/>
            <a:pathLst>
              <a:path w="2477" h="1281">
                <a:moveTo>
                  <a:pt x="2472" y="8"/>
                </a:moveTo>
                <a:lnTo>
                  <a:pt x="4" y="1272"/>
                </a:lnTo>
              </a:path>
            </a:pathLst>
          </a:custGeom>
          <a:noFill/>
          <a:ln w="12700" cap="flat">
            <a:solidFill>
              <a:schemeClr val="accent1">
                <a:alpha val="100000"/>
              </a:scheme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pic>
        <p:nvPicPr>
          <p:cNvPr id="4346" name="picture 43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68679" y="1522475"/>
            <a:ext cx="416052" cy="406908"/>
          </a:xfrm>
          <a:prstGeom prst="rect">
            <a:avLst/>
          </a:prstGeom>
        </p:spPr>
      </p:pic>
      <p:pic>
        <p:nvPicPr>
          <p:cNvPr id="4348" name="picture 43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77823" y="2057400"/>
            <a:ext cx="406908" cy="416051"/>
          </a:xfrm>
          <a:prstGeom prst="rect">
            <a:avLst/>
          </a:prstGeom>
        </p:spPr>
      </p:pic>
      <p:sp>
        <p:nvSpPr>
          <p:cNvPr id="4350" name="path"/>
          <p:cNvSpPr/>
          <p:nvPr/>
        </p:nvSpPr>
        <p:spPr>
          <a:xfrm>
            <a:off x="5584571" y="810747"/>
            <a:ext cx="582517" cy="281506"/>
          </a:xfrm>
          <a:custGeom>
            <a:avLst/>
            <a:gdLst/>
            <a:ahLst/>
            <a:cxnLst/>
            <a:rect l="0" t="0" r="0" b="0"/>
            <a:pathLst>
              <a:path w="1223" h="591">
                <a:moveTo>
                  <a:pt x="1218" y="9"/>
                </a:moveTo>
                <a:lnTo>
                  <a:pt x="4" y="582"/>
                </a:lnTo>
              </a:path>
            </a:pathLst>
          </a:custGeom>
          <a:noFill/>
          <a:ln w="12700" cap="flat">
            <a:solidFill>
              <a:schemeClr val="accent1">
                <a:alpha val="100000"/>
              </a:schemeClr>
            </a:solidFill>
            <a:prstDash val="solid"/>
            <a:miter lim="80000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352" name="path"/>
          <p:cNvSpPr/>
          <p:nvPr/>
        </p:nvSpPr>
        <p:spPr>
          <a:xfrm>
            <a:off x="859154" y="2596515"/>
            <a:ext cx="7741158" cy="19050"/>
          </a:xfrm>
          <a:custGeom>
            <a:avLst/>
            <a:gdLst/>
            <a:ahLst/>
            <a:cxnLst/>
            <a:rect l="0" t="0" r="0" b="0"/>
            <a:pathLst>
              <a:path w="16254" h="40">
                <a:moveTo>
                  <a:pt x="20" y="20"/>
                </a:moveTo>
                <a:lnTo>
                  <a:pt x="16234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354" name="rect"/>
          <p:cNvSpPr/>
          <p:nvPr/>
        </p:nvSpPr>
        <p:spPr>
          <a:xfrm>
            <a:off x="859154" y="4818507"/>
            <a:ext cx="7741158" cy="19050"/>
          </a:xfrm>
          <a:prstGeom prst="rect">
            <a:avLst/>
          </a:prstGeom>
          <a:solidFill>
            <a:srgbClr val="782367">
              <a:alpha val="95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356" name="rect"/>
          <p:cNvSpPr/>
          <p:nvPr/>
        </p:nvSpPr>
        <p:spPr>
          <a:xfrm>
            <a:off x="6165056" y="810292"/>
            <a:ext cx="375189" cy="9525"/>
          </a:xfrm>
          <a:prstGeom prst="rect">
            <a:avLst/>
          </a:prstGeom>
          <a:solidFill>
            <a:schemeClr val="accent1"/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358" name="rect"/>
          <p:cNvSpPr/>
          <p:nvPr/>
        </p:nvSpPr>
        <p:spPr>
          <a:xfrm>
            <a:off x="6260973" y="458248"/>
            <a:ext cx="279272" cy="9525"/>
          </a:xfrm>
          <a:prstGeom prst="rect">
            <a:avLst/>
          </a:prstGeom>
          <a:solidFill>
            <a:schemeClr val="accent1"/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360" name="rect"/>
          <p:cNvSpPr/>
          <p:nvPr/>
        </p:nvSpPr>
        <p:spPr>
          <a:xfrm>
            <a:off x="6382512" y="1994439"/>
            <a:ext cx="157733" cy="9525"/>
          </a:xfrm>
          <a:prstGeom prst="rect">
            <a:avLst/>
          </a:prstGeom>
          <a:solidFill>
            <a:schemeClr val="accent1"/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5" name="Rectangle 2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1357313" y="218361"/>
            <a:ext cx="6375797" cy="62269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定义二维数组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09185" y="1051560"/>
            <a:ext cx="1255395" cy="2781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indent="0" algn="l" rtl="0" eaLnBrk="0" fontAlgn="auto">
              <a:lnSpc>
                <a:spcPct val="91000"/>
              </a:lnSpc>
              <a:spcBef>
                <a:spcPts val="0"/>
              </a:spcBef>
            </a:pPr>
            <a:r>
              <a:rPr sz="128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float</a:t>
            </a:r>
            <a:r>
              <a:rPr lang="en-US" sz="128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80" b="1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pay[3][6]</a:t>
            </a:r>
            <a:r>
              <a:rPr sz="1280" b="1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lang="zh-CN" altLang="en-US" sz="1280"/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6720840" y="756920"/>
            <a:ext cx="1866900" cy="24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数组名为pay</a:t>
            </a:r>
            <a:endParaRPr lang="zh-CN" altLang="en-US" sz="1200"/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6685280" y="1494790"/>
            <a:ext cx="1866900" cy="24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1200" kern="0" spc="-2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数组第二维有6个元素</a:t>
            </a:r>
            <a:endParaRPr lang="en-US" altLang="en-US" sz="1200" dirty="0"/>
          </a:p>
          <a:p>
            <a:pPr algn="ctr"/>
            <a:endParaRPr lang="zh-CN" altLang="en-US" sz="1200"/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6685280" y="1864360"/>
            <a:ext cx="1866900" cy="2425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1200" kern="0" spc="-20" dirty="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数组第</a:t>
            </a:r>
            <a:r>
              <a:rPr lang="zh-CN" sz="12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维有</a:t>
            </a:r>
            <a:r>
              <a:rPr lang="en-US" sz="12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个元素</a:t>
            </a:r>
            <a:endParaRPr lang="en-US" altLang="en-US" sz="1200" dirty="0"/>
          </a:p>
          <a:p>
            <a:pPr algn="ctr"/>
            <a:endParaRPr lang="zh-CN" alt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11835" y="1498600"/>
            <a:ext cx="1033145" cy="373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sz="1200" kern="0" spc="-50" dirty="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float</a:t>
            </a:r>
            <a:r>
              <a:rPr sz="135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35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a[3][4]</a:t>
            </a:r>
            <a:endParaRPr lang="en-US" altLang="en-US" sz="1350" dirty="0"/>
          </a:p>
          <a:p>
            <a:pPr algn="ctr"/>
            <a:endParaRPr lang="zh-CN" altLang="en-US" sz="1350"/>
          </a:p>
        </p:txBody>
      </p:sp>
      <p:pic>
        <p:nvPicPr>
          <p:cNvPr id="4362" name="picture 43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15517" y="2837837"/>
            <a:ext cx="4125417" cy="1596663"/>
          </a:xfrm>
          <a:prstGeom prst="rect">
            <a:avLst/>
          </a:prstGeom>
        </p:spPr>
      </p:pic>
      <p:graphicFrame>
        <p:nvGraphicFramePr>
          <p:cNvPr id="4364" name="table 4364"/>
          <p:cNvGraphicFramePr>
            <a:graphicFrameLocks noGrp="1"/>
          </p:cNvGraphicFramePr>
          <p:nvPr/>
        </p:nvGraphicFramePr>
        <p:xfrm>
          <a:off x="715517" y="2850499"/>
          <a:ext cx="4150995" cy="1589405"/>
        </p:xfrm>
        <a:graphic>
          <a:graphicData uri="http://schemas.openxmlformats.org/drawingml/2006/table">
            <a:tbl>
              <a:tblPr/>
              <a:tblGrid>
                <a:gridCol w="583565"/>
                <a:gridCol w="3567430"/>
              </a:tblGrid>
              <a:tr h="401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675" dirty="0"/>
                    </a:p>
                    <a:p>
                      <a:pPr marL="146685" algn="l" rtl="0" eaLnBrk="0">
                        <a:lnSpc>
                          <a:spcPts val="2300"/>
                        </a:lnSpc>
                        <a:spcBef>
                          <a:spcPts val="5"/>
                        </a:spcBef>
                      </a:pPr>
                      <a:r>
                        <a:rPr sz="1425" kern="0" spc="40" dirty="0">
                          <a:solidFill>
                            <a:srgbClr val="FE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注意</a:t>
                      </a:r>
                      <a:endParaRPr lang="en-US" altLang="en-US" sz="1425" dirty="0"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600" dirty="0"/>
                    </a:p>
                    <a:p>
                      <a:pPr marL="359410" indent="-278765" algn="l" rtl="0" eaLnBrk="0">
                        <a:lnSpc>
                          <a:spcPct val="114000"/>
                        </a:lnSpc>
                        <a:spcBef>
                          <a:spcPts val="5"/>
                        </a:spcBef>
                      </a:pPr>
                      <a:r>
                        <a:rPr sz="1200" kern="0" spc="-6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•    </a:t>
                      </a:r>
                      <a:r>
                        <a:rPr sz="1200" kern="0" spc="-6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</a:t>
                      </a:r>
                      <a:r>
                        <a:rPr sz="1200" b="1" kern="0" spc="-6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矩阵形式 </a:t>
                      </a:r>
                      <a:r>
                        <a:rPr sz="1200" kern="0" spc="-6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（如3行4列形式）表示二维数组，  是</a:t>
                      </a:r>
                      <a:r>
                        <a:rPr sz="1200" kern="0" spc="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200" b="1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逻辑</a:t>
                      </a:r>
                      <a:r>
                        <a:rPr sz="12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上的概念，能形象地表示出行列关系。而在</a:t>
                      </a:r>
                      <a:r>
                        <a:rPr sz="1200" kern="0" spc="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200" b="1" kern="0" spc="-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内存</a:t>
                      </a:r>
                      <a:r>
                        <a:rPr sz="1200" kern="0" spc="-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中，各元素是连续存放的，</a:t>
                      </a:r>
                      <a:r>
                        <a:rPr sz="1200" kern="0" spc="4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8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不是二维的，  是</a:t>
                      </a:r>
                      <a:r>
                        <a:rPr sz="12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</a:t>
                      </a:r>
                      <a:r>
                        <a:rPr sz="1200" b="1" kern="0" spc="-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线性</a:t>
                      </a:r>
                      <a:r>
                        <a:rPr sz="1200" kern="0" spc="-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的。</a:t>
                      </a:r>
                      <a:endParaRPr lang="en-US" altLang="en-US" sz="12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750" dirty="0"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450" name="group 450"/>
          <p:cNvGrpSpPr/>
          <p:nvPr/>
        </p:nvGrpSpPr>
        <p:grpSpPr>
          <a:xfrm rot="21600000">
            <a:off x="6272688" y="1419510"/>
            <a:ext cx="1161479" cy="3118247"/>
            <a:chOff x="0" y="0"/>
            <a:chExt cx="1548638" cy="4157662"/>
          </a:xfrm>
        </p:grpSpPr>
        <p:sp>
          <p:nvSpPr>
            <p:cNvPr id="4366" name="path"/>
            <p:cNvSpPr/>
            <p:nvPr/>
          </p:nvSpPr>
          <p:spPr>
            <a:xfrm>
              <a:off x="0" y="1790"/>
              <a:ext cx="1355852" cy="4155871"/>
            </a:xfrm>
            <a:custGeom>
              <a:avLst/>
              <a:gdLst/>
              <a:ahLst/>
              <a:cxnLst/>
              <a:rect l="0" t="0" r="0" b="0"/>
              <a:pathLst>
                <a:path w="2135" h="6544">
                  <a:moveTo>
                    <a:pt x="0" y="545"/>
                  </a:moveTo>
                  <a:lnTo>
                    <a:pt x="2135" y="545"/>
                  </a:lnTo>
                  <a:lnTo>
                    <a:pt x="2135" y="0"/>
                  </a:lnTo>
                  <a:lnTo>
                    <a:pt x="0" y="0"/>
                  </a:lnTo>
                  <a:lnTo>
                    <a:pt x="0" y="545"/>
                  </a:lnTo>
                  <a:close/>
                </a:path>
                <a:path w="2135" h="6544">
                  <a:moveTo>
                    <a:pt x="0" y="1090"/>
                  </a:moveTo>
                  <a:lnTo>
                    <a:pt x="2135" y="1090"/>
                  </a:lnTo>
                  <a:lnTo>
                    <a:pt x="2135" y="545"/>
                  </a:lnTo>
                  <a:lnTo>
                    <a:pt x="0" y="545"/>
                  </a:lnTo>
                  <a:lnTo>
                    <a:pt x="0" y="1090"/>
                  </a:lnTo>
                  <a:close/>
                </a:path>
                <a:path w="2135" h="6544">
                  <a:moveTo>
                    <a:pt x="0" y="1636"/>
                  </a:moveTo>
                  <a:lnTo>
                    <a:pt x="2135" y="1636"/>
                  </a:lnTo>
                  <a:lnTo>
                    <a:pt x="2135" y="1090"/>
                  </a:lnTo>
                  <a:lnTo>
                    <a:pt x="0" y="1090"/>
                  </a:lnTo>
                  <a:lnTo>
                    <a:pt x="0" y="1636"/>
                  </a:lnTo>
                  <a:close/>
                </a:path>
                <a:path w="2135" h="6544">
                  <a:moveTo>
                    <a:pt x="0" y="2181"/>
                  </a:moveTo>
                  <a:lnTo>
                    <a:pt x="2135" y="2181"/>
                  </a:lnTo>
                  <a:lnTo>
                    <a:pt x="2135" y="1636"/>
                  </a:lnTo>
                  <a:lnTo>
                    <a:pt x="0" y="1636"/>
                  </a:lnTo>
                  <a:lnTo>
                    <a:pt x="0" y="2181"/>
                  </a:lnTo>
                  <a:close/>
                </a:path>
                <a:path w="2135" h="6544">
                  <a:moveTo>
                    <a:pt x="0" y="2726"/>
                  </a:moveTo>
                  <a:lnTo>
                    <a:pt x="2135" y="2726"/>
                  </a:lnTo>
                  <a:lnTo>
                    <a:pt x="2135" y="2181"/>
                  </a:lnTo>
                  <a:lnTo>
                    <a:pt x="0" y="2181"/>
                  </a:lnTo>
                  <a:lnTo>
                    <a:pt x="0" y="2726"/>
                  </a:lnTo>
                  <a:close/>
                </a:path>
                <a:path w="2135" h="6544">
                  <a:moveTo>
                    <a:pt x="0" y="3272"/>
                  </a:moveTo>
                  <a:lnTo>
                    <a:pt x="2135" y="3272"/>
                  </a:lnTo>
                  <a:lnTo>
                    <a:pt x="2135" y="2727"/>
                  </a:lnTo>
                  <a:lnTo>
                    <a:pt x="0" y="2727"/>
                  </a:lnTo>
                  <a:lnTo>
                    <a:pt x="0" y="3272"/>
                  </a:lnTo>
                  <a:close/>
                </a:path>
                <a:path w="2135" h="6544">
                  <a:moveTo>
                    <a:pt x="0" y="3817"/>
                  </a:moveTo>
                  <a:lnTo>
                    <a:pt x="2135" y="3817"/>
                  </a:lnTo>
                  <a:lnTo>
                    <a:pt x="2135" y="3272"/>
                  </a:lnTo>
                  <a:lnTo>
                    <a:pt x="0" y="3272"/>
                  </a:lnTo>
                  <a:lnTo>
                    <a:pt x="0" y="3817"/>
                  </a:lnTo>
                  <a:close/>
                </a:path>
                <a:path w="2135" h="6544">
                  <a:moveTo>
                    <a:pt x="0" y="4363"/>
                  </a:moveTo>
                  <a:lnTo>
                    <a:pt x="2135" y="4363"/>
                  </a:lnTo>
                  <a:lnTo>
                    <a:pt x="2135" y="3817"/>
                  </a:lnTo>
                  <a:lnTo>
                    <a:pt x="0" y="3817"/>
                  </a:lnTo>
                  <a:lnTo>
                    <a:pt x="0" y="4363"/>
                  </a:lnTo>
                  <a:close/>
                </a:path>
                <a:path w="2135" h="6544">
                  <a:moveTo>
                    <a:pt x="0" y="4908"/>
                  </a:moveTo>
                  <a:lnTo>
                    <a:pt x="2135" y="4908"/>
                  </a:lnTo>
                  <a:lnTo>
                    <a:pt x="2135" y="4363"/>
                  </a:lnTo>
                  <a:lnTo>
                    <a:pt x="0" y="4363"/>
                  </a:lnTo>
                  <a:lnTo>
                    <a:pt x="0" y="4908"/>
                  </a:lnTo>
                  <a:close/>
                </a:path>
                <a:path w="2135" h="6544">
                  <a:moveTo>
                    <a:pt x="0" y="5453"/>
                  </a:moveTo>
                  <a:lnTo>
                    <a:pt x="2135" y="5453"/>
                  </a:lnTo>
                  <a:lnTo>
                    <a:pt x="2135" y="4908"/>
                  </a:lnTo>
                  <a:lnTo>
                    <a:pt x="0" y="4908"/>
                  </a:lnTo>
                  <a:lnTo>
                    <a:pt x="0" y="5453"/>
                  </a:lnTo>
                  <a:close/>
                </a:path>
                <a:path w="2135" h="6544">
                  <a:moveTo>
                    <a:pt x="0" y="5999"/>
                  </a:moveTo>
                  <a:lnTo>
                    <a:pt x="2135" y="5999"/>
                  </a:lnTo>
                  <a:lnTo>
                    <a:pt x="2135" y="5453"/>
                  </a:lnTo>
                  <a:lnTo>
                    <a:pt x="0" y="5453"/>
                  </a:lnTo>
                  <a:lnTo>
                    <a:pt x="0" y="5999"/>
                  </a:lnTo>
                  <a:close/>
                </a:path>
                <a:path w="2135" h="6544">
                  <a:moveTo>
                    <a:pt x="0" y="6544"/>
                  </a:moveTo>
                  <a:lnTo>
                    <a:pt x="2135" y="6544"/>
                  </a:lnTo>
                  <a:lnTo>
                    <a:pt x="2135" y="5999"/>
                  </a:lnTo>
                  <a:lnTo>
                    <a:pt x="0" y="5999"/>
                  </a:lnTo>
                  <a:lnTo>
                    <a:pt x="0" y="6544"/>
                  </a:lnTo>
                  <a:close/>
                </a:path>
              </a:pathLst>
            </a:custGeom>
            <a:solidFill>
              <a:srgbClr val="FBE9E8">
                <a:alpha val="100000"/>
              </a:srgbClr>
            </a:solidFill>
            <a:ln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  <p:sp>
          <p:nvSpPr>
            <p:cNvPr id="4368" name="path"/>
            <p:cNvSpPr/>
            <p:nvPr/>
          </p:nvSpPr>
          <p:spPr>
            <a:xfrm>
              <a:off x="1335024" y="0"/>
              <a:ext cx="213613" cy="4154678"/>
            </a:xfrm>
            <a:custGeom>
              <a:avLst/>
              <a:gdLst/>
              <a:ahLst/>
              <a:cxnLst/>
              <a:rect l="0" t="0" r="0" b="0"/>
              <a:pathLst>
                <a:path w="336" h="6542">
                  <a:moveTo>
                    <a:pt x="5" y="5"/>
                  </a:moveTo>
                  <a:cubicBezTo>
                    <a:pt x="85" y="5"/>
                    <a:pt x="151" y="15"/>
                    <a:pt x="151" y="29"/>
                  </a:cubicBezTo>
                  <a:lnTo>
                    <a:pt x="151" y="1063"/>
                  </a:lnTo>
                  <a:cubicBezTo>
                    <a:pt x="151" y="1076"/>
                    <a:pt x="216" y="1087"/>
                    <a:pt x="297" y="1087"/>
                  </a:cubicBezTo>
                  <a:cubicBezTo>
                    <a:pt x="216" y="1087"/>
                    <a:pt x="151" y="1098"/>
                    <a:pt x="151" y="1111"/>
                  </a:cubicBezTo>
                  <a:lnTo>
                    <a:pt x="151" y="2145"/>
                  </a:lnTo>
                  <a:cubicBezTo>
                    <a:pt x="151" y="2158"/>
                    <a:pt x="85" y="2169"/>
                    <a:pt x="5" y="2169"/>
                  </a:cubicBezTo>
                  <a:moveTo>
                    <a:pt x="38" y="2169"/>
                  </a:moveTo>
                  <a:cubicBezTo>
                    <a:pt x="119" y="2169"/>
                    <a:pt x="185" y="2180"/>
                    <a:pt x="185" y="2194"/>
                  </a:cubicBezTo>
                  <a:lnTo>
                    <a:pt x="185" y="3227"/>
                  </a:lnTo>
                  <a:cubicBezTo>
                    <a:pt x="185" y="3241"/>
                    <a:pt x="250" y="3252"/>
                    <a:pt x="331" y="3252"/>
                  </a:cubicBezTo>
                  <a:cubicBezTo>
                    <a:pt x="250" y="3252"/>
                    <a:pt x="185" y="3263"/>
                    <a:pt x="185" y="3276"/>
                  </a:cubicBezTo>
                  <a:lnTo>
                    <a:pt x="185" y="4310"/>
                  </a:lnTo>
                  <a:cubicBezTo>
                    <a:pt x="185" y="4323"/>
                    <a:pt x="119" y="4334"/>
                    <a:pt x="38" y="4334"/>
                  </a:cubicBezTo>
                  <a:moveTo>
                    <a:pt x="38" y="4372"/>
                  </a:moveTo>
                  <a:cubicBezTo>
                    <a:pt x="119" y="4372"/>
                    <a:pt x="185" y="4383"/>
                    <a:pt x="185" y="4397"/>
                  </a:cubicBezTo>
                  <a:lnTo>
                    <a:pt x="185" y="5430"/>
                  </a:lnTo>
                  <a:cubicBezTo>
                    <a:pt x="185" y="5444"/>
                    <a:pt x="250" y="5455"/>
                    <a:pt x="331" y="5455"/>
                  </a:cubicBezTo>
                  <a:cubicBezTo>
                    <a:pt x="250" y="5455"/>
                    <a:pt x="185" y="5466"/>
                    <a:pt x="185" y="5479"/>
                  </a:cubicBezTo>
                  <a:lnTo>
                    <a:pt x="185" y="6513"/>
                  </a:lnTo>
                  <a:cubicBezTo>
                    <a:pt x="185" y="6526"/>
                    <a:pt x="119" y="6537"/>
                    <a:pt x="38" y="6537"/>
                  </a:cubicBezTo>
                </a:path>
              </a:pathLst>
            </a:custGeom>
            <a:noFill/>
            <a:ln w="6350" cap="flat">
              <a:solidFill>
                <a:srgbClr val="E84C22">
                  <a:alpha val="100000"/>
                </a:srgbClr>
              </a:solidFill>
              <a:prstDash val="solid"/>
              <a:miter lim="800000"/>
            </a:ln>
          </p:spPr>
          <p:txBody>
            <a:bodyPr rtlCol="0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4370" name="textbox 4370"/>
          <p:cNvSpPr/>
          <p:nvPr/>
        </p:nvSpPr>
        <p:spPr>
          <a:xfrm>
            <a:off x="696757" y="649365"/>
            <a:ext cx="4472940" cy="77009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lang="en-US" altLang="en-US" sz="100" dirty="0"/>
          </a:p>
          <a:p>
            <a:pPr algn="l" rtl="0" eaLnBrk="0">
              <a:lnSpc>
                <a:spcPct val="113000"/>
              </a:lnSpc>
            </a:pPr>
            <a:endParaRPr lang="en-US" altLang="en-US" sz="750" dirty="0"/>
          </a:p>
          <a:p>
            <a:pPr algn="l" rtl="0" eaLnBrk="0">
              <a:lnSpc>
                <a:spcPct val="119000"/>
              </a:lnSpc>
            </a:pPr>
            <a:endParaRPr lang="en-US" altLang="en-US" sz="300" dirty="0"/>
          </a:p>
          <a:p>
            <a:pPr marL="15875" algn="l" rtl="0" eaLnBrk="0">
              <a:lnSpc>
                <a:spcPct val="99000"/>
              </a:lnSpc>
              <a:spcBef>
                <a:spcPts val="5"/>
              </a:spcBef>
            </a:pPr>
            <a:r>
              <a:rPr sz="1425" kern="0" spc="6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C语言中，二维数组</a:t>
            </a:r>
            <a:r>
              <a:rPr sz="1425" kern="0" spc="5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中元素排列的顺序是按行存放的。</a:t>
            </a:r>
            <a:endParaRPr lang="en-US" altLang="en-US" sz="1425" kern="0" spc="5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372" name="table 4372"/>
          <p:cNvGraphicFramePr>
            <a:graphicFrameLocks noGrp="1"/>
          </p:cNvGraphicFramePr>
          <p:nvPr/>
        </p:nvGraphicFramePr>
        <p:xfrm>
          <a:off x="6272688" y="1416082"/>
          <a:ext cx="1021080" cy="3126105"/>
        </p:xfrm>
        <a:graphic>
          <a:graphicData uri="http://schemas.openxmlformats.org/drawingml/2006/table">
            <a:tbl>
              <a:tblPr/>
              <a:tblGrid>
                <a:gridCol w="1021080"/>
              </a:tblGrid>
              <a:tr h="2641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a[0][0]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a[0][1]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a[0][2]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a[0][3]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a[1][0]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a[1][1]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a[1][2]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a[1][3]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a[2][0]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a[2][1]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7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a[2][2]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lang="en-US" altLang="en-US" sz="300" dirty="0"/>
                    </a:p>
                    <a:p>
                      <a:pPr marL="37528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275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a[2][3]</a:t>
                      </a:r>
                      <a:endParaRPr lang="en-US" altLang="en-US" sz="1275" dirty="0"/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374" name="textbox 4374"/>
          <p:cNvSpPr/>
          <p:nvPr/>
        </p:nvSpPr>
        <p:spPr>
          <a:xfrm>
            <a:off x="7506233" y="1857566"/>
            <a:ext cx="788670" cy="22745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6000"/>
              </a:lnSpc>
            </a:pPr>
            <a:r>
              <a:rPr sz="135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第0行元素</a:t>
            </a:r>
            <a:endParaRPr lang="en-US" altLang="en-US" sz="1350" dirty="0"/>
          </a:p>
          <a:p>
            <a:pPr algn="l" rtl="0" eaLnBrk="0">
              <a:lnSpc>
                <a:spcPct val="113000"/>
              </a:lnSpc>
            </a:pPr>
            <a:endParaRPr lang="en-US" altLang="en-US" sz="750" dirty="0"/>
          </a:p>
          <a:p>
            <a:pPr algn="l" rtl="0" eaLnBrk="0">
              <a:lnSpc>
                <a:spcPct val="113000"/>
              </a:lnSpc>
            </a:pPr>
            <a:endParaRPr lang="en-US" altLang="en-US" sz="750" dirty="0"/>
          </a:p>
          <a:p>
            <a:pPr algn="l" rtl="0" eaLnBrk="0">
              <a:lnSpc>
                <a:spcPct val="114000"/>
              </a:lnSpc>
            </a:pPr>
            <a:endParaRPr lang="en-US" altLang="en-US" sz="750" dirty="0"/>
          </a:p>
          <a:p>
            <a:pPr algn="l" rtl="0" eaLnBrk="0">
              <a:lnSpc>
                <a:spcPct val="114000"/>
              </a:lnSpc>
            </a:pPr>
            <a:endParaRPr lang="en-US" altLang="en-US" sz="750" dirty="0"/>
          </a:p>
          <a:p>
            <a:pPr algn="l" rtl="0" eaLnBrk="0">
              <a:lnSpc>
                <a:spcPct val="114000"/>
              </a:lnSpc>
            </a:pPr>
            <a:endParaRPr lang="en-US" altLang="en-US" sz="750" dirty="0"/>
          </a:p>
          <a:p>
            <a:pPr algn="l" rtl="0" eaLnBrk="0">
              <a:lnSpc>
                <a:spcPct val="114000"/>
              </a:lnSpc>
            </a:pPr>
            <a:endParaRPr lang="en-US" altLang="en-US" sz="750" dirty="0"/>
          </a:p>
          <a:p>
            <a:pPr marL="12700" algn="l" rtl="0" eaLnBrk="0">
              <a:lnSpc>
                <a:spcPct val="96000"/>
              </a:lnSpc>
              <a:spcBef>
                <a:spcPts val="550"/>
              </a:spcBef>
            </a:pPr>
            <a:r>
              <a:rPr sz="135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第1行元素</a:t>
            </a:r>
            <a:endParaRPr lang="en-US" altLang="en-US" sz="1350" dirty="0"/>
          </a:p>
          <a:p>
            <a:pPr algn="l" rtl="0" eaLnBrk="0">
              <a:lnSpc>
                <a:spcPct val="113000"/>
              </a:lnSpc>
            </a:pPr>
            <a:endParaRPr lang="en-US" altLang="en-US" sz="750" dirty="0"/>
          </a:p>
          <a:p>
            <a:pPr algn="l" rtl="0" eaLnBrk="0">
              <a:lnSpc>
                <a:spcPct val="113000"/>
              </a:lnSpc>
            </a:pPr>
            <a:endParaRPr lang="en-US" altLang="en-US" sz="750" dirty="0"/>
          </a:p>
          <a:p>
            <a:pPr algn="l" rtl="0" eaLnBrk="0">
              <a:lnSpc>
                <a:spcPct val="114000"/>
              </a:lnSpc>
            </a:pPr>
            <a:endParaRPr lang="en-US" altLang="en-US" sz="750" dirty="0"/>
          </a:p>
          <a:p>
            <a:pPr algn="l" rtl="0" eaLnBrk="0">
              <a:lnSpc>
                <a:spcPct val="114000"/>
              </a:lnSpc>
            </a:pPr>
            <a:endParaRPr lang="en-US" altLang="en-US" sz="750" dirty="0"/>
          </a:p>
          <a:p>
            <a:pPr algn="l" rtl="0" eaLnBrk="0">
              <a:lnSpc>
                <a:spcPct val="114000"/>
              </a:lnSpc>
            </a:pPr>
            <a:endParaRPr lang="en-US" altLang="en-US" sz="750" dirty="0"/>
          </a:p>
          <a:p>
            <a:pPr algn="l" rtl="0" eaLnBrk="0">
              <a:lnSpc>
                <a:spcPct val="114000"/>
              </a:lnSpc>
            </a:pPr>
            <a:endParaRPr lang="en-US" altLang="en-US" sz="750" dirty="0"/>
          </a:p>
          <a:p>
            <a:pPr algn="l" rtl="0" eaLnBrk="0">
              <a:lnSpc>
                <a:spcPct val="114000"/>
              </a:lnSpc>
            </a:pPr>
            <a:endParaRPr lang="en-US" altLang="en-US" sz="300" dirty="0"/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135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第2行元素</a:t>
            </a:r>
            <a:endParaRPr lang="en-US" altLang="en-US" sz="1350" dirty="0"/>
          </a:p>
        </p:txBody>
      </p:sp>
      <p:sp>
        <p:nvSpPr>
          <p:cNvPr id="4376" name="textbox 4376"/>
          <p:cNvSpPr/>
          <p:nvPr/>
        </p:nvSpPr>
        <p:spPr>
          <a:xfrm>
            <a:off x="5904246" y="1241266"/>
            <a:ext cx="331946" cy="3004661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lang="en-US" altLang="en-US" sz="100" dirty="0"/>
          </a:p>
          <a:p>
            <a:pPr algn="r" rtl="0" eaLnBrk="0">
              <a:lnSpc>
                <a:spcPct val="82000"/>
              </a:lnSpc>
            </a:pPr>
            <a:r>
              <a:rPr sz="1125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2000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125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</a:t>
            </a:r>
            <a:r>
              <a:rPr sz="112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2008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2016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125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r>
              <a:rPr sz="112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2028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2032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2036</a:t>
            </a:r>
            <a:endParaRPr lang="en-US" altLang="en-US" sz="1125" dirty="0"/>
          </a:p>
          <a:p>
            <a:pPr algn="r" rtl="0" eaLnBrk="0">
              <a:lnSpc>
                <a:spcPct val="82000"/>
              </a:lnSpc>
              <a:spcBef>
                <a:spcPts val="1240"/>
              </a:spcBef>
            </a:pPr>
            <a:r>
              <a:rPr sz="1125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2040</a:t>
            </a:r>
            <a:endParaRPr lang="en-US" altLang="en-US" sz="1125" dirty="0"/>
          </a:p>
          <a:p>
            <a:pPr algn="l" rtl="0" eaLnBrk="0">
              <a:lnSpc>
                <a:spcPct val="103000"/>
              </a:lnSpc>
            </a:pPr>
            <a:endParaRPr lang="en-US" altLang="en-US" sz="750" dirty="0"/>
          </a:p>
          <a:p>
            <a:pPr algn="r" rtl="0" eaLnBrk="0">
              <a:lnSpc>
                <a:spcPct val="82000"/>
              </a:lnSpc>
              <a:spcBef>
                <a:spcPts val="5"/>
              </a:spcBef>
            </a:pPr>
            <a:r>
              <a:rPr sz="1125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125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r>
              <a:rPr sz="112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altLang="en-US" sz="1125" dirty="0"/>
          </a:p>
        </p:txBody>
      </p:sp>
      <p:pic>
        <p:nvPicPr>
          <p:cNvPr id="4378" name="picture 43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265331" y="2320194"/>
            <a:ext cx="2848642" cy="300704"/>
          </a:xfrm>
          <a:prstGeom prst="rect">
            <a:avLst/>
          </a:prstGeom>
        </p:spPr>
      </p:pic>
      <p:sp>
        <p:nvSpPr>
          <p:cNvPr id="4380" name="textbox 4380"/>
          <p:cNvSpPr/>
          <p:nvPr/>
        </p:nvSpPr>
        <p:spPr>
          <a:xfrm>
            <a:off x="2521410" y="2052352"/>
            <a:ext cx="2606993" cy="3214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lang="en-US" altLang="en-US" sz="525" dirty="0"/>
          </a:p>
          <a:p>
            <a:pPr marL="12700" algn="l" rtl="0" eaLnBrk="0">
              <a:lnSpc>
                <a:spcPct val="85000"/>
              </a:lnSpc>
              <a:spcBef>
                <a:spcPts val="0"/>
              </a:spcBef>
            </a:pPr>
            <a:r>
              <a:rPr sz="1950" kern="0" spc="-2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275" kern="0" spc="-2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750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1950" kern="0" spc="-2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275" kern="0" spc="-2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sz="750" kern="0" spc="-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75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1950" kern="0" spc="-3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275" kern="0" spc="-3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sz="75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sz="1950" kern="0" spc="-3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275" kern="0" spc="-3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sz="75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lang="en-US" altLang="en-US" sz="750" dirty="0"/>
          </a:p>
        </p:txBody>
      </p:sp>
      <p:sp>
        <p:nvSpPr>
          <p:cNvPr id="4382" name="path"/>
          <p:cNvSpPr/>
          <p:nvPr/>
        </p:nvSpPr>
        <p:spPr>
          <a:xfrm>
            <a:off x="4885004" y="2061877"/>
            <a:ext cx="219646" cy="265367"/>
          </a:xfrm>
          <a:custGeom>
            <a:avLst/>
            <a:gdLst/>
            <a:ahLst/>
            <a:cxnLst/>
            <a:rect l="0" t="0" r="0" b="0"/>
            <a:pathLst>
              <a:path w="461" h="557">
                <a:moveTo>
                  <a:pt x="5" y="5"/>
                </a:moveTo>
                <a:cubicBezTo>
                  <a:pt x="254" y="5"/>
                  <a:pt x="456" y="134"/>
                  <a:pt x="456" y="293"/>
                </a:cubicBezTo>
                <a:moveTo>
                  <a:pt x="5" y="552"/>
                </a:moveTo>
                <a:cubicBezTo>
                  <a:pt x="254" y="552"/>
                  <a:pt x="456" y="423"/>
                  <a:pt x="456" y="264"/>
                </a:cubicBezTo>
              </a:path>
            </a:pathLst>
          </a:custGeom>
          <a:noFill/>
          <a:ln w="6350" cap="flat">
            <a:solidFill>
              <a:srgbClr val="E84C2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386" name="textbox 4386"/>
          <p:cNvSpPr/>
          <p:nvPr/>
        </p:nvSpPr>
        <p:spPr>
          <a:xfrm>
            <a:off x="2521585" y="2639695"/>
            <a:ext cx="2647950" cy="1828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5000"/>
              </a:lnSpc>
            </a:pPr>
            <a:r>
              <a:rPr sz="1950" kern="0" spc="-13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275" kern="0" spc="-1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sz="75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</a:t>
            </a:r>
            <a:r>
              <a:rPr sz="1950" kern="0" spc="-5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275" kern="0" spc="-4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r>
              <a:rPr sz="75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r>
              <a:rPr sz="1950" kern="0" spc="-4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275" kern="0" spc="-4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r>
              <a:rPr sz="75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r>
              <a:rPr sz="1950" kern="0" spc="-3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275" kern="0" spc="-3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lang="en-US" altLang="en-US" sz="1275" baseline="-9000" dirty="0"/>
          </a:p>
        </p:txBody>
      </p:sp>
      <p:pic>
        <p:nvPicPr>
          <p:cNvPr id="4388" name="picture 43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67712" y="1509903"/>
            <a:ext cx="2591942" cy="57150"/>
          </a:xfrm>
          <a:prstGeom prst="rect">
            <a:avLst/>
          </a:prstGeom>
        </p:spPr>
      </p:pic>
      <p:pic>
        <p:nvPicPr>
          <p:cNvPr id="4390" name="picture 43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510027" y="2035683"/>
            <a:ext cx="2394680" cy="57150"/>
          </a:xfrm>
          <a:prstGeom prst="rect">
            <a:avLst/>
          </a:prstGeom>
        </p:spPr>
      </p:pic>
      <p:sp>
        <p:nvSpPr>
          <p:cNvPr id="4392" name="path"/>
          <p:cNvSpPr/>
          <p:nvPr/>
        </p:nvSpPr>
        <p:spPr>
          <a:xfrm>
            <a:off x="2265331" y="1792128"/>
            <a:ext cx="248222" cy="274511"/>
          </a:xfrm>
          <a:custGeom>
            <a:avLst/>
            <a:gdLst/>
            <a:ahLst/>
            <a:cxnLst/>
            <a:rect l="0" t="0" r="0" b="0"/>
            <a:pathLst>
              <a:path w="521" h="576">
                <a:moveTo>
                  <a:pt x="516" y="5"/>
                </a:moveTo>
                <a:cubicBezTo>
                  <a:pt x="233" y="5"/>
                  <a:pt x="5" y="134"/>
                  <a:pt x="5" y="292"/>
                </a:cubicBezTo>
                <a:moveTo>
                  <a:pt x="516" y="571"/>
                </a:moveTo>
                <a:cubicBezTo>
                  <a:pt x="233" y="571"/>
                  <a:pt x="5" y="443"/>
                  <a:pt x="5" y="285"/>
                </a:cubicBezTo>
              </a:path>
            </a:pathLst>
          </a:custGeom>
          <a:noFill/>
          <a:ln w="6350" cap="flat">
            <a:solidFill>
              <a:srgbClr val="E84C2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394" name="path"/>
          <p:cNvSpPr/>
          <p:nvPr/>
        </p:nvSpPr>
        <p:spPr>
          <a:xfrm>
            <a:off x="4855369" y="1533810"/>
            <a:ext cx="219646" cy="267653"/>
          </a:xfrm>
          <a:custGeom>
            <a:avLst/>
            <a:gdLst/>
            <a:ahLst/>
            <a:cxnLst/>
            <a:rect l="0" t="0" r="0" b="0"/>
            <a:pathLst>
              <a:path w="461" h="562">
                <a:moveTo>
                  <a:pt x="5" y="5"/>
                </a:moveTo>
                <a:cubicBezTo>
                  <a:pt x="254" y="5"/>
                  <a:pt x="456" y="137"/>
                  <a:pt x="456" y="300"/>
                </a:cubicBezTo>
                <a:moveTo>
                  <a:pt x="7" y="557"/>
                </a:moveTo>
                <a:cubicBezTo>
                  <a:pt x="255" y="557"/>
                  <a:pt x="456" y="423"/>
                  <a:pt x="456" y="259"/>
                </a:cubicBezTo>
              </a:path>
            </a:pathLst>
          </a:custGeom>
          <a:noFill/>
          <a:ln w="6350" cap="flat">
            <a:solidFill>
              <a:srgbClr val="E84C22">
                <a:alpha val="100000"/>
              </a:srgbClr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pic>
        <p:nvPicPr>
          <p:cNvPr id="4396" name="picture 43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36008" y="4192524"/>
            <a:ext cx="226313" cy="226314"/>
          </a:xfrm>
          <a:prstGeom prst="rect">
            <a:avLst/>
          </a:prstGeom>
        </p:spPr>
      </p:pic>
      <p:sp>
        <p:nvSpPr>
          <p:cNvPr id="4398" name="textbox 4398"/>
          <p:cNvSpPr/>
          <p:nvPr/>
        </p:nvSpPr>
        <p:spPr>
          <a:xfrm>
            <a:off x="3938921" y="1610437"/>
            <a:ext cx="218599" cy="1847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2025" kern="0" spc="-8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350" kern="0" spc="-8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lang="en-US" altLang="en-US" sz="1350" baseline="-9000" dirty="0"/>
          </a:p>
        </p:txBody>
      </p:sp>
      <p:sp>
        <p:nvSpPr>
          <p:cNvPr id="4400" name="textbox 4400"/>
          <p:cNvSpPr/>
          <p:nvPr/>
        </p:nvSpPr>
        <p:spPr>
          <a:xfrm>
            <a:off x="2521410" y="1610437"/>
            <a:ext cx="218599" cy="1847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2025" kern="0" spc="-8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350" kern="0" spc="-8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</a:t>
            </a:r>
            <a:endParaRPr lang="en-US" altLang="en-US" sz="1350" baseline="-9000" dirty="0"/>
          </a:p>
        </p:txBody>
      </p:sp>
      <p:sp>
        <p:nvSpPr>
          <p:cNvPr id="4402" name="textbox 4402"/>
          <p:cNvSpPr/>
          <p:nvPr/>
        </p:nvSpPr>
        <p:spPr>
          <a:xfrm>
            <a:off x="4624911" y="1610437"/>
            <a:ext cx="218599" cy="1847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2025" kern="0" spc="-8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350" kern="0" spc="-8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lang="en-US" altLang="en-US" sz="1350" baseline="-9000" dirty="0"/>
          </a:p>
        </p:txBody>
      </p:sp>
      <p:sp>
        <p:nvSpPr>
          <p:cNvPr id="4404" name="textbox 4404"/>
          <p:cNvSpPr/>
          <p:nvPr/>
        </p:nvSpPr>
        <p:spPr>
          <a:xfrm>
            <a:off x="3253121" y="1610437"/>
            <a:ext cx="218599" cy="1847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lang="en-US" altLang="en-US" sz="100" dirty="0"/>
          </a:p>
          <a:p>
            <a:pPr marL="12700" algn="l" rtl="0" eaLnBrk="0">
              <a:lnSpc>
                <a:spcPct val="82000"/>
              </a:lnSpc>
            </a:pPr>
            <a:r>
              <a:rPr sz="2025" kern="0" spc="-80" baseline="10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sz="1350" kern="0" spc="-80" baseline="-90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lang="en-US" altLang="en-US" sz="1350" baseline="-9000" dirty="0"/>
          </a:p>
        </p:txBody>
      </p:sp>
      <p:sp>
        <p:nvSpPr>
          <p:cNvPr id="4406" name="rect"/>
          <p:cNvSpPr/>
          <p:nvPr/>
        </p:nvSpPr>
        <p:spPr>
          <a:xfrm>
            <a:off x="2510027" y="1792128"/>
            <a:ext cx="2394680" cy="4763"/>
          </a:xfrm>
          <a:prstGeom prst="rect">
            <a:avLst/>
          </a:prstGeom>
          <a:solidFill>
            <a:srgbClr val="E84C22">
              <a:alpha val="100000"/>
            </a:srgbClr>
          </a:solidFill>
          <a:ln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5" name="Rectangle 2"/>
          <p:cNvSpPr>
            <a:spLocks noGrp="1" noChangeArrowheads="1"/>
          </p:cNvSpPr>
          <p:nvPr>
            <p:custDataLst>
              <p:tags r:id="rId6"/>
            </p:custDataLst>
          </p:nvPr>
        </p:nvSpPr>
        <p:spPr>
          <a:xfrm>
            <a:off x="1357313" y="218361"/>
            <a:ext cx="6375797" cy="62269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定义二维数组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303735" y="1178719"/>
            <a:ext cx="6697265" cy="2786063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二维数组元素的表示形式为</a:t>
            </a:r>
            <a:r>
              <a:rPr lang="zh-CN" altLang="en-US" dirty="0"/>
              <a:t>：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   </a:t>
            </a:r>
            <a:r>
              <a:rPr lang="zh-CN" altLang="zh-CN" dirty="0"/>
              <a:t>数组名［下标］［下标］</a:t>
            </a:r>
            <a:endParaRPr lang="en-US" altLang="zh-CN" dirty="0"/>
          </a:p>
          <a:p>
            <a:pPr>
              <a:buNone/>
            </a:pPr>
            <a:r>
              <a:rPr lang="en-US" altLang="zh-CN" sz="2100" dirty="0"/>
              <a:t>     </a:t>
            </a:r>
            <a:endParaRPr lang="en-US" altLang="zh-CN" sz="2100" dirty="0"/>
          </a:p>
          <a:p>
            <a:r>
              <a:rPr lang="en-US" altLang="zh-CN" sz="2100" dirty="0"/>
              <a:t>b[1][2]=a[2][3]/2    </a:t>
            </a:r>
            <a:r>
              <a:rPr lang="zh-CN" altLang="en-US" sz="2100" dirty="0">
                <a:solidFill>
                  <a:srgbClr val="FF0000"/>
                </a:solidFill>
              </a:rPr>
              <a:t>合法</a:t>
            </a:r>
            <a:endParaRPr lang="en-US" altLang="zh-CN" sz="2100" dirty="0">
              <a:solidFill>
                <a:srgbClr val="FF0000"/>
              </a:solidFill>
            </a:endParaRPr>
          </a:p>
          <a:p>
            <a:r>
              <a:rPr lang="en-US" altLang="zh-CN" sz="2100" dirty="0"/>
              <a:t>for(i=0;i&lt;m;i++)</a:t>
            </a:r>
            <a:endParaRPr lang="en-US" altLang="zh-CN" sz="21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100" dirty="0"/>
              <a:t>      printf(“%d,%d\n”,a[i][0],a[0][i]);</a:t>
            </a:r>
            <a:r>
              <a:rPr lang="zh-CN" altLang="en-US" sz="2100" dirty="0">
                <a:solidFill>
                  <a:srgbClr val="FF0000"/>
                </a:solidFill>
              </a:rPr>
              <a:t>合法</a:t>
            </a:r>
            <a:endParaRPr lang="zh-CN" altLang="zh-CN" sz="21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48866"/>
            <a:ext cx="6482954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引用二维数组的元素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39" end="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39" end="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charRg st="63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80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charRg st="80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376363" y="1221581"/>
            <a:ext cx="6482954" cy="2437210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int a[3][4]={{1,2,3,4},{5,6,7,8},{9,10,11,12}};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>
                <a:solidFill>
                  <a:srgbClr val="00B050"/>
                </a:solidFill>
              </a:rPr>
              <a:t>int a[3][4]={1,2,3,4,5,6,7,8,9,10,11,12};</a:t>
            </a:r>
            <a:endParaRPr lang="en-US" altLang="zh-CN" sz="2100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altLang="zh-CN" sz="2100" dirty="0">
                <a:solidFill>
                  <a:srgbClr val="9D138D"/>
                </a:solidFill>
              </a:rPr>
              <a:t>int a[3][4]={{1},{5},{9}};</a:t>
            </a:r>
            <a:r>
              <a:rPr lang="zh-CN" altLang="en-US" sz="2100" dirty="0">
                <a:solidFill>
                  <a:srgbClr val="9D138D"/>
                </a:solidFill>
              </a:rPr>
              <a:t>等价于</a:t>
            </a:r>
            <a:endParaRPr lang="en-US" altLang="zh-CN" sz="2100" dirty="0">
              <a:solidFill>
                <a:srgbClr val="9D138D"/>
              </a:solidFill>
            </a:endParaRPr>
          </a:p>
          <a:p>
            <a:pPr>
              <a:buNone/>
            </a:pPr>
            <a:r>
              <a:rPr lang="en-US" altLang="zh-CN" sz="2100" dirty="0">
                <a:solidFill>
                  <a:srgbClr val="9D138D"/>
                </a:solidFill>
              </a:rPr>
              <a:t>int a[3][4]={{1,0,0,0},{5,0,0,0},{9,0,0,0}};</a:t>
            </a:r>
            <a:endParaRPr lang="en-US" altLang="zh-CN" sz="2100" dirty="0">
              <a:solidFill>
                <a:srgbClr val="9D138D"/>
              </a:solidFill>
            </a:endParaRPr>
          </a:p>
          <a:p>
            <a:pPr>
              <a:buNone/>
            </a:pPr>
            <a:r>
              <a:rPr lang="en-US" altLang="zh-CN" sz="2100" dirty="0">
                <a:solidFill>
                  <a:srgbClr val="0000CC"/>
                </a:solidFill>
              </a:rPr>
              <a:t>int a[3][4]={{1},{5,6}};</a:t>
            </a:r>
            <a:r>
              <a:rPr lang="zh-CN" altLang="en-US" sz="2100" dirty="0">
                <a:solidFill>
                  <a:srgbClr val="0000CC"/>
                </a:solidFill>
              </a:rPr>
              <a:t>相当于</a:t>
            </a:r>
            <a:endParaRPr lang="en-US" altLang="zh-CN" sz="2100" dirty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US" altLang="zh-CN" sz="2100" dirty="0">
                <a:solidFill>
                  <a:srgbClr val="0000CC"/>
                </a:solidFill>
              </a:rPr>
              <a:t>int a[3][4]={{1},{5,6},{0}};</a:t>
            </a:r>
            <a:endParaRPr lang="zh-CN" altLang="zh-CN" sz="2100" dirty="0">
              <a:solidFill>
                <a:srgbClr val="0000CC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48866"/>
            <a:ext cx="6482954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二维数组的初始化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" name="Rectangle 3"/>
          <p:cNvSpPr txBox="1"/>
          <p:nvPr/>
        </p:nvSpPr>
        <p:spPr>
          <a:xfrm>
            <a:off x="1357313" y="3607832"/>
            <a:ext cx="6482954" cy="1159669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100" dirty="0">
                <a:solidFill>
                  <a:srgbClr val="FF0000"/>
                </a:solidFill>
                <a:latin typeface="Arial" panose="020B0604020202090204" pitchFamily="34" charset="0"/>
              </a:rPr>
              <a:t>int a[3][4]={1,2,3,4,5,6,7,8,9,10,11,12};</a:t>
            </a:r>
            <a:r>
              <a:rPr lang="zh-CN" altLang="zh-CN" sz="2100" dirty="0">
                <a:solidFill>
                  <a:srgbClr val="FF0000"/>
                </a:solidFill>
                <a:latin typeface="Arial" panose="020B0604020202090204" pitchFamily="34" charset="0"/>
              </a:rPr>
              <a:t>等价</a:t>
            </a:r>
            <a:r>
              <a:rPr lang="zh-CN" altLang="en-US" sz="2100" dirty="0">
                <a:solidFill>
                  <a:srgbClr val="FF0000"/>
                </a:solidFill>
                <a:latin typeface="Arial" panose="020B0604020202090204" pitchFamily="34" charset="0"/>
              </a:rPr>
              <a:t>于</a:t>
            </a:r>
            <a:r>
              <a:rPr lang="zh-CN" altLang="zh-CN" sz="2100" dirty="0">
                <a:solidFill>
                  <a:srgbClr val="FF0000"/>
                </a:solidFill>
                <a:latin typeface="Arial" panose="020B0604020202090204" pitchFamily="34" charset="0"/>
              </a:rPr>
              <a:t>：</a:t>
            </a:r>
            <a:endParaRPr lang="zh-CN" altLang="zh-CN" sz="2100" dirty="0">
              <a:solidFill>
                <a:srgbClr val="FF0000"/>
              </a:solidFill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100" dirty="0">
                <a:solidFill>
                  <a:srgbClr val="FF0000"/>
                </a:solidFill>
                <a:latin typeface="Arial" panose="020B0604020202090204" pitchFamily="34" charset="0"/>
              </a:rPr>
              <a:t>int a[ ][4]={1,2,3,4,5,6,7,8,9,10,11,12};</a:t>
            </a:r>
            <a:endParaRPr lang="en-US" altLang="zh-CN" sz="2100" dirty="0">
              <a:solidFill>
                <a:srgbClr val="FF0000"/>
              </a:solidFill>
              <a:latin typeface="Arial" panose="020B0604020202090204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100" dirty="0">
                <a:solidFill>
                  <a:srgbClr val="0070C0"/>
                </a:solidFill>
                <a:latin typeface="Arial" panose="020B0604020202090204" pitchFamily="34" charset="0"/>
              </a:rPr>
              <a:t>int a[][4]={{0,0,3},{ },{0,10}};</a:t>
            </a:r>
            <a:endParaRPr lang="zh-CN" altLang="zh-CN" sz="2100" dirty="0">
              <a:solidFill>
                <a:srgbClr val="0070C0"/>
              </a:solidFill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48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48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90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charRg st="90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20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charRg st="120" end="1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65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219">
                                            <p:txEl>
                                              <p:charRg st="165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93" end="2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219">
                                            <p:txEl>
                                              <p:charRg st="193" end="2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46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88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charRg st="88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3"/>
          <p:cNvSpPr>
            <a:spLocks noGrp="1"/>
          </p:cNvSpPr>
          <p:nvPr>
            <p:ph idx="1" hasCustomPrompt="1"/>
          </p:nvPr>
        </p:nvSpPr>
        <p:spPr>
          <a:xfrm>
            <a:off x="1357313" y="1178719"/>
            <a:ext cx="6482954" cy="1071563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 </a:t>
            </a:r>
            <a:r>
              <a:rPr lang="zh-CN" altLang="zh-CN" dirty="0"/>
              <a:t>例</a:t>
            </a:r>
            <a:r>
              <a:rPr lang="en-US" altLang="zh-CN" dirty="0"/>
              <a:t> </a:t>
            </a:r>
            <a:r>
              <a:rPr lang="zh-CN" altLang="zh-CN" dirty="0"/>
              <a:t>将一个二维数组行和列的元素互换，存到另一个二维数组中。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48866"/>
            <a:ext cx="6482954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二维数组程序举例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3555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2107406" y="2518172"/>
          <a:ext cx="1949054" cy="96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927100" imgH="457200" progId="Equation.3">
                  <p:embed/>
                </p:oleObj>
              </mc:Choice>
              <mc:Fallback>
                <p:oleObj name="" r:id="rId1" imgW="927100" imgH="457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07406" y="2518172"/>
                        <a:ext cx="1949054" cy="96440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5375672" y="2303860"/>
          <a:ext cx="1446609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698500" imgH="711200" progId="Equation.3">
                  <p:embed/>
                </p:oleObj>
              </mc:Choice>
              <mc:Fallback>
                <p:oleObj name="" r:id="rId3" imgW="698500" imgH="7112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75672" y="2303860"/>
                        <a:ext cx="1446609" cy="1485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右箭头 8"/>
          <p:cNvSpPr/>
          <p:nvPr/>
        </p:nvSpPr>
        <p:spPr>
          <a:xfrm>
            <a:off x="4143375" y="2839641"/>
            <a:ext cx="1071563" cy="375047"/>
          </a:xfrm>
          <a:prstGeom prst="rightArrow">
            <a:avLst>
              <a:gd name="adj1" fmla="val 50000"/>
              <a:gd name="adj2" fmla="val 49933"/>
            </a:avLst>
          </a:prstGeom>
          <a:solidFill>
            <a:schemeClr val="accent1"/>
          </a:solidFill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3"/>
          <p:cNvSpPr>
            <a:spLocks noGrp="1"/>
          </p:cNvSpPr>
          <p:nvPr>
            <p:ph idx="1" hasCustomPrompt="1"/>
          </p:nvPr>
        </p:nvSpPr>
        <p:spPr>
          <a:xfrm>
            <a:off x="1250156" y="1437085"/>
            <a:ext cx="6643688" cy="3000375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解题思路：</a:t>
            </a:r>
            <a:endParaRPr lang="en-US" altLang="zh-CN" dirty="0"/>
          </a:p>
          <a:p>
            <a:pPr lvl="1" indent="-325120"/>
            <a:r>
              <a:rPr lang="zh-CN" altLang="zh-CN" dirty="0"/>
              <a:t>可以定义两个数组：数组</a:t>
            </a:r>
            <a:r>
              <a:rPr lang="en-US" altLang="zh-CN" dirty="0"/>
              <a:t>a</a:t>
            </a:r>
            <a:r>
              <a:rPr lang="zh-CN" altLang="zh-CN" dirty="0"/>
              <a:t>为</a:t>
            </a:r>
            <a:r>
              <a:rPr lang="en-US" altLang="zh-CN" dirty="0"/>
              <a:t>2</a:t>
            </a:r>
            <a:r>
              <a:rPr lang="zh-CN" altLang="zh-CN" dirty="0"/>
              <a:t>行</a:t>
            </a:r>
            <a:r>
              <a:rPr lang="en-US" altLang="zh-CN" dirty="0"/>
              <a:t>3</a:t>
            </a:r>
            <a:r>
              <a:rPr lang="zh-CN" altLang="zh-CN" dirty="0"/>
              <a:t>列，存放指定的</a:t>
            </a:r>
            <a:r>
              <a:rPr lang="en-US" altLang="zh-CN" dirty="0"/>
              <a:t>6</a:t>
            </a:r>
            <a:r>
              <a:rPr lang="zh-CN" altLang="zh-CN" dirty="0"/>
              <a:t>个数</a:t>
            </a:r>
            <a:endParaRPr lang="en-US" altLang="zh-CN" dirty="0"/>
          </a:p>
          <a:p>
            <a:pPr lvl="1" indent="-325120"/>
            <a:r>
              <a:rPr lang="zh-CN" altLang="zh-CN" dirty="0"/>
              <a:t>数组</a:t>
            </a:r>
            <a:r>
              <a:rPr lang="en-US" altLang="zh-CN" dirty="0"/>
              <a:t>b</a:t>
            </a:r>
            <a:r>
              <a:rPr lang="zh-CN" altLang="zh-CN" dirty="0"/>
              <a:t>为</a:t>
            </a:r>
            <a:r>
              <a:rPr lang="en-US" altLang="zh-CN" dirty="0"/>
              <a:t>3</a:t>
            </a:r>
            <a:r>
              <a:rPr lang="zh-CN" altLang="zh-CN" dirty="0"/>
              <a:t>行</a:t>
            </a:r>
            <a:r>
              <a:rPr lang="en-US" altLang="zh-CN" dirty="0"/>
              <a:t>2</a:t>
            </a:r>
            <a:r>
              <a:rPr lang="zh-CN" altLang="zh-CN" dirty="0"/>
              <a:t>列，开始时未赋值</a:t>
            </a:r>
            <a:endParaRPr lang="en-US" altLang="zh-CN" dirty="0"/>
          </a:p>
          <a:p>
            <a:pPr lvl="1" indent="-325120"/>
            <a:r>
              <a:rPr lang="zh-CN" altLang="zh-CN" dirty="0"/>
              <a:t>将</a:t>
            </a:r>
            <a:r>
              <a:rPr lang="en-US" altLang="zh-CN" dirty="0"/>
              <a:t>a</a:t>
            </a:r>
            <a:r>
              <a:rPr lang="zh-CN" altLang="zh-CN" dirty="0"/>
              <a:t>数组中的元素</a:t>
            </a:r>
            <a:r>
              <a:rPr lang="en-US" altLang="zh-CN" dirty="0"/>
              <a:t>a[i][j]</a:t>
            </a:r>
            <a:r>
              <a:rPr lang="zh-CN" altLang="zh-CN" dirty="0"/>
              <a:t>存放到</a:t>
            </a:r>
            <a:r>
              <a:rPr lang="en-US" altLang="zh-CN" dirty="0"/>
              <a:t>b</a:t>
            </a:r>
            <a:r>
              <a:rPr lang="zh-CN" altLang="zh-CN" dirty="0"/>
              <a:t>数组中的</a:t>
            </a:r>
            <a:r>
              <a:rPr lang="en-US" altLang="zh-CN" dirty="0"/>
              <a:t>b[j][i]</a:t>
            </a:r>
            <a:r>
              <a:rPr lang="zh-CN" altLang="zh-CN" dirty="0"/>
              <a:t>元素中</a:t>
            </a:r>
            <a:endParaRPr lang="en-US" altLang="zh-CN" dirty="0"/>
          </a:p>
          <a:p>
            <a:pPr lvl="1" indent="-325120"/>
            <a:r>
              <a:rPr lang="zh-CN" altLang="zh-CN" dirty="0"/>
              <a:t>用嵌套的</a:t>
            </a:r>
            <a:r>
              <a:rPr lang="en-US" altLang="zh-CN" dirty="0"/>
              <a:t>for</a:t>
            </a:r>
            <a:r>
              <a:rPr lang="zh-CN" altLang="zh-CN" dirty="0"/>
              <a:t>循环完成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48866"/>
            <a:ext cx="6482954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二维数组程序举例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4579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4580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6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4">
                                            <p:txEl>
                                              <p:charRg st="6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3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4">
                                            <p:txEl>
                                              <p:charRg st="33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49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914">
                                            <p:txEl>
                                              <p:charRg st="49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charRg st="83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14">
                                            <p:txEl>
                                              <p:charRg st="83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3"/>
          <p:cNvSpPr>
            <a:spLocks noGrp="1"/>
          </p:cNvSpPr>
          <p:nvPr>
            <p:ph idx="1" hasCustomPrompt="1"/>
          </p:nvPr>
        </p:nvSpPr>
        <p:spPr>
          <a:xfrm>
            <a:off x="1356678" y="276622"/>
            <a:ext cx="5840016" cy="4661297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#include &lt;stdio.h&gt;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int main()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{  int a[2][3]={{1,2,3},{4,5,6}};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int b[3][2],i,j;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printf("array a:\n");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for (i=0;i&lt;=1;i++)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{ for (j=0;j&lt;=2;j++)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{  printf("%5d",a[i][j]);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    b[j][i]=a[i][j];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 }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printf("\n");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}</a:t>
            </a:r>
            <a:endParaRPr lang="zh-CN" altLang="zh-CN" sz="2100" dirty="0"/>
          </a:p>
        </p:txBody>
      </p:sp>
      <p:sp>
        <p:nvSpPr>
          <p:cNvPr id="25602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5603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32735" y="2303860"/>
            <a:ext cx="3000375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处理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的一行中各元素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54204" y="2678906"/>
            <a:ext cx="2678906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处理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中某一列元素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04297" y="3107531"/>
            <a:ext cx="2035969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输出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的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各元素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86313" y="3429000"/>
            <a:ext cx="3107531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a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元素值赋给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b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相应元素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3"/>
          <p:cNvSpPr>
            <a:spLocks noGrp="1"/>
          </p:cNvSpPr>
          <p:nvPr>
            <p:ph idx="1" hasCustomPrompt="1"/>
          </p:nvPr>
        </p:nvSpPr>
        <p:spPr>
          <a:xfrm>
            <a:off x="1464469" y="803672"/>
            <a:ext cx="5036344" cy="3321844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    printf("array b:\n");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for (i=0;i&lt;=2;i++)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{  for(j=0;j&lt;=1;j++)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    printf("%5d",b[i][j]);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printf("\n");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}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return 0;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}    </a:t>
            </a:r>
            <a:endParaRPr lang="zh-CN" altLang="zh-CN" sz="2100" dirty="0"/>
          </a:p>
        </p:txBody>
      </p:sp>
      <p:sp>
        <p:nvSpPr>
          <p:cNvPr id="26626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6627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11454" y="1982391"/>
            <a:ext cx="2035969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输出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b</a:t>
            </a: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的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各元素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85725"/>
            <a:ext cx="5662613" cy="5429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700" b="1" i="0" u="none" strike="noStrike" kern="0" cap="none" spc="300" normalizeH="0" baseline="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  4</a:t>
            </a:r>
            <a:r>
              <a:rPr lang="en-US" altLang="zh-CN" sz="2700" b="1" kern="0" spc="30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.3 </a:t>
            </a:r>
            <a:r>
              <a:rPr lang="zh-CN" altLang="en-US" sz="2700" b="1" kern="0" spc="300" noProof="0" dirty="0" smtClean="0">
                <a:ln>
                  <a:noFill/>
                </a:ln>
                <a:solidFill>
                  <a:srgbClr val="782367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二维数组的定义和引用</a:t>
            </a:r>
            <a:endParaRPr kumimoji="0" lang="zh-CN" altLang="en-US" sz="2700" b="1" i="0" u="none" strike="noStrike" kern="0" cap="none" spc="300" normalizeH="0" baseline="0" noProof="0" dirty="0" smtClean="0">
              <a:ln>
                <a:noFill/>
              </a:ln>
              <a:solidFill>
                <a:srgbClr val="782367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78020" y="2976245"/>
            <a:ext cx="4356100" cy="205740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3"/>
          <p:cNvSpPr>
            <a:spLocks noGrp="1"/>
          </p:cNvSpPr>
          <p:nvPr>
            <p:ph idx="1" hasCustomPrompt="1"/>
          </p:nvPr>
        </p:nvSpPr>
        <p:spPr>
          <a:xfrm>
            <a:off x="1303735" y="428625"/>
            <a:ext cx="6482953" cy="4500563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  </a:t>
            </a:r>
            <a:r>
              <a:rPr lang="zh-CN" altLang="zh-CN" dirty="0"/>
              <a:t>例</a:t>
            </a:r>
            <a:r>
              <a:rPr lang="en-US" altLang="zh-CN" dirty="0"/>
              <a:t> </a:t>
            </a:r>
            <a:r>
              <a:rPr lang="zh-CN" altLang="zh-CN" dirty="0"/>
              <a:t>有一个</a:t>
            </a:r>
            <a:r>
              <a:rPr lang="en-US" altLang="zh-CN" dirty="0"/>
              <a:t>3</a:t>
            </a:r>
            <a:r>
              <a:rPr lang="zh-CN" altLang="zh-CN" dirty="0"/>
              <a:t>×</a:t>
            </a:r>
            <a:r>
              <a:rPr lang="en-US" altLang="zh-CN" dirty="0"/>
              <a:t>4</a:t>
            </a:r>
            <a:r>
              <a:rPr lang="zh-CN" altLang="zh-CN" dirty="0"/>
              <a:t>的矩阵，要求编程序求出其中值最大的那个元素的值，以及其所在的行号和列号。</a:t>
            </a:r>
            <a:endParaRPr lang="en-US" altLang="zh-CN" dirty="0"/>
          </a:p>
          <a:p>
            <a:r>
              <a:rPr lang="zh-CN" altLang="zh-CN" dirty="0"/>
              <a:t>解题思路：</a:t>
            </a:r>
            <a:endParaRPr lang="en-US" altLang="zh-CN" dirty="0"/>
          </a:p>
          <a:p>
            <a:pPr lvl="1" indent="-325120"/>
            <a:r>
              <a:rPr lang="zh-CN" altLang="zh-CN" dirty="0"/>
              <a:t>先</a:t>
            </a:r>
            <a:r>
              <a:rPr lang="zh-CN" altLang="en-US" dirty="0"/>
              <a:t>把</a:t>
            </a:r>
            <a:r>
              <a:rPr lang="en-US" altLang="zh-CN" dirty="0"/>
              <a:t>a[0][0]</a:t>
            </a:r>
            <a:r>
              <a:rPr lang="zh-CN" altLang="zh-CN" dirty="0"/>
              <a:t>的值赋给变量</a:t>
            </a:r>
            <a:r>
              <a:rPr lang="en-US" altLang="zh-CN" dirty="0"/>
              <a:t>max</a:t>
            </a:r>
            <a:endParaRPr lang="en-US" altLang="zh-CN" dirty="0"/>
          </a:p>
          <a:p>
            <a:pPr lvl="1" indent="-325120"/>
            <a:r>
              <a:rPr lang="en-US" altLang="zh-CN" dirty="0"/>
              <a:t>max</a:t>
            </a:r>
            <a:r>
              <a:rPr lang="zh-CN" altLang="zh-CN" dirty="0"/>
              <a:t>用来存放当前已知的最大值</a:t>
            </a:r>
            <a:endParaRPr lang="en-US" altLang="zh-CN" dirty="0"/>
          </a:p>
          <a:p>
            <a:pPr lvl="1" indent="-325120"/>
            <a:r>
              <a:rPr lang="en-US" altLang="zh-CN" dirty="0"/>
              <a:t>a[0][1]</a:t>
            </a:r>
            <a:r>
              <a:rPr lang="zh-CN" altLang="zh-CN" dirty="0"/>
              <a:t>与</a:t>
            </a:r>
            <a:r>
              <a:rPr lang="en-US" altLang="zh-CN" dirty="0"/>
              <a:t>max</a:t>
            </a:r>
            <a:r>
              <a:rPr lang="zh-CN" altLang="zh-CN" dirty="0"/>
              <a:t>比较，如果</a:t>
            </a:r>
            <a:r>
              <a:rPr lang="en-US" altLang="zh-CN" dirty="0"/>
              <a:t>a[0][1]&gt;max</a:t>
            </a:r>
            <a:r>
              <a:rPr lang="zh-CN" altLang="zh-CN" dirty="0"/>
              <a:t>，则表示</a:t>
            </a:r>
            <a:r>
              <a:rPr lang="en-US" altLang="zh-CN" dirty="0"/>
              <a:t>a[0][1]</a:t>
            </a:r>
            <a:r>
              <a:rPr lang="zh-CN" altLang="zh-CN" dirty="0"/>
              <a:t>是已经比过的数据中值最大的，把它的值赋给</a:t>
            </a:r>
            <a:r>
              <a:rPr lang="en-US" altLang="zh-CN" dirty="0"/>
              <a:t>max</a:t>
            </a:r>
            <a:r>
              <a:rPr lang="zh-CN" altLang="zh-CN" dirty="0"/>
              <a:t>，取代了</a:t>
            </a:r>
            <a:r>
              <a:rPr lang="en-US" altLang="zh-CN" dirty="0"/>
              <a:t>max</a:t>
            </a:r>
            <a:r>
              <a:rPr lang="zh-CN" altLang="zh-CN" dirty="0"/>
              <a:t>的原值</a:t>
            </a:r>
            <a:endParaRPr lang="en-US" altLang="zh-CN" dirty="0"/>
          </a:p>
          <a:p>
            <a:pPr lvl="1" indent="-325120"/>
            <a:r>
              <a:rPr lang="zh-CN" altLang="zh-CN" dirty="0"/>
              <a:t>以后依此处理，</a:t>
            </a:r>
            <a:r>
              <a:rPr lang="zh-CN" altLang="en-US" dirty="0"/>
              <a:t>最后</a:t>
            </a:r>
            <a:r>
              <a:rPr lang="en-US" altLang="zh-CN" dirty="0"/>
              <a:t>max</a:t>
            </a:r>
            <a:r>
              <a:rPr lang="zh-CN" altLang="zh-CN" dirty="0"/>
              <a:t>就是最大的值</a:t>
            </a:r>
            <a:endParaRPr lang="zh-CN" altLang="zh-CN" dirty="0">
              <a:solidFill>
                <a:srgbClr val="0000CC"/>
              </a:solidFill>
            </a:endParaRPr>
          </a:p>
        </p:txBody>
      </p:sp>
      <p:sp>
        <p:nvSpPr>
          <p:cNvPr id="27650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7651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charRg st="92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charRg st="92" end="1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charRg st="164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0">
                                            <p:txEl>
                                              <p:charRg st="164" end="1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3"/>
          <p:cNvSpPr>
            <a:spLocks noGrp="1"/>
          </p:cNvSpPr>
          <p:nvPr>
            <p:ph idx="1" hasCustomPrompt="1"/>
          </p:nvPr>
        </p:nvSpPr>
        <p:spPr>
          <a:xfrm>
            <a:off x="1329929" y="342900"/>
            <a:ext cx="6482953" cy="4554141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1800" dirty="0"/>
              <a:t>#include &lt;stdio.h&gt;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int main() {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int i,j,row=0,colum=0,max;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int a[3][4]={{1,2,3,4},{9,8,7,6},{-10,10,-5,2}}; 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max=a[0][0];                     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for (i=0;i&lt;=2;i++)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    for (j=0;j&lt;=3;j++)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        if (a[i][j]&gt;max)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           {  max=a[i][j];  row=i;  colum=j; }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printf("max=%d\nrow=%d\ncolum=%d\n",max,row,colum);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    return 0;  </a:t>
            </a:r>
            <a:endParaRPr lang="en-US" altLang="zh-CN" sz="1800" dirty="0"/>
          </a:p>
          <a:p>
            <a:pPr>
              <a:buNone/>
            </a:pPr>
            <a:r>
              <a:rPr lang="en-US" altLang="zh-CN" sz="1800" dirty="0"/>
              <a:t>} </a:t>
            </a:r>
            <a:endParaRPr lang="zh-CN" altLang="zh-CN" sz="1800" dirty="0">
              <a:solidFill>
                <a:srgbClr val="FF0000"/>
              </a:solidFill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3825479" y="2775347"/>
            <a:ext cx="1339453" cy="482203"/>
          </a:xfrm>
          <a:prstGeom prst="wedgeRoundRectCallout">
            <a:avLst>
              <a:gd name="adj1" fmla="val -44741"/>
              <a:gd name="adj2" fmla="val 113509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>
              <a:buSzTx/>
            </a:pPr>
            <a:r>
              <a:rPr lang="zh-CN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记行号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8675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8676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2961085" y="2732485"/>
            <a:ext cx="1446609" cy="482203"/>
          </a:xfrm>
          <a:prstGeom prst="wedgeRoundRectCallout">
            <a:avLst>
              <a:gd name="adj1" fmla="val -44741"/>
              <a:gd name="adj2" fmla="val 113509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>
              <a:buSzTx/>
            </a:pPr>
            <a:r>
              <a:rPr lang="zh-CN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记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</a:rPr>
              <a:t>最大值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4907756" y="2775347"/>
            <a:ext cx="1339454" cy="482203"/>
          </a:xfrm>
          <a:prstGeom prst="wedgeRoundRectCallout">
            <a:avLst>
              <a:gd name="adj1" fmla="val -44741"/>
              <a:gd name="adj2" fmla="val 113509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algn="ctr">
              <a:buSzTx/>
            </a:pPr>
            <a:r>
              <a:rPr lang="zh-CN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记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</a:rPr>
              <a:t>列</a:t>
            </a:r>
            <a:r>
              <a:rPr lang="zh-CN" altLang="zh-CN" sz="2400" b="1" dirty="0">
                <a:solidFill>
                  <a:srgbClr val="FF0000"/>
                </a:solidFill>
                <a:latin typeface="Arial" panose="020B0604020202090204" pitchFamily="34" charset="0"/>
              </a:rPr>
              <a:t>号</a:t>
            </a:r>
            <a:endParaRPr lang="zh-CN" altLang="en-US" sz="24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46950" y="276860"/>
            <a:ext cx="1305000" cy="1080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5" grpId="0" bldLvl="0" animBg="1"/>
      <p:bldP spid="6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" name="textbox 4408"/>
          <p:cNvSpPr/>
          <p:nvPr/>
        </p:nvSpPr>
        <p:spPr>
          <a:xfrm>
            <a:off x="836123" y="2246186"/>
            <a:ext cx="6957536" cy="1443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lang="en-US" altLang="en-US" sz="100" dirty="0"/>
          </a:p>
          <a:p>
            <a:pPr marL="12700" algn="l" rtl="0" eaLnBrk="0">
              <a:lnSpc>
                <a:spcPct val="93000"/>
              </a:lnSpc>
            </a:pPr>
            <a:r>
              <a:rPr sz="135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float a[2, 3, 4];在内存</a:t>
            </a:r>
            <a:r>
              <a:rPr sz="135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中的排列顺序为：</a:t>
            </a:r>
            <a:endParaRPr lang="en-US" altLang="en-US" sz="1350" dirty="0"/>
          </a:p>
          <a:p>
            <a:pPr marL="17145" algn="l" rtl="0" eaLnBrk="0">
              <a:lnSpc>
                <a:spcPct val="92000"/>
              </a:lnSpc>
              <a:spcBef>
                <a:spcPts val="1240"/>
              </a:spcBef>
            </a:pP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a[0][0][0]</a:t>
            </a:r>
            <a:r>
              <a:rPr sz="1275" kern="0" spc="4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a[0][0][1]</a:t>
            </a:r>
            <a:r>
              <a:rPr sz="1275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a[0][0][2]</a:t>
            </a:r>
            <a:r>
              <a:rPr sz="1275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a[0]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[0][3]  →  a[0][1][0]</a:t>
            </a:r>
            <a:r>
              <a:rPr sz="1275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a[0][1][1]  →  a[0][1][2]  →</a:t>
            </a:r>
            <a:endParaRPr lang="en-US" altLang="en-US" sz="1275" dirty="0"/>
          </a:p>
          <a:p>
            <a:pPr marL="17145" algn="l" rtl="0" eaLnBrk="0">
              <a:lnSpc>
                <a:spcPct val="160000"/>
              </a:lnSpc>
              <a:spcBef>
                <a:spcPts val="50"/>
              </a:spcBef>
            </a:pP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a[0][1][3]</a:t>
            </a:r>
            <a:r>
              <a:rPr sz="1275" kern="0" spc="4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a[0][2][0]</a:t>
            </a:r>
            <a:r>
              <a:rPr sz="1275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a[0][2][1]  →  a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[0][2][2]</a:t>
            </a:r>
            <a:r>
              <a:rPr sz="1275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a[0][2][3]  →  a[1][0][0]</a:t>
            </a:r>
            <a:r>
              <a:rPr sz="1275" kern="0" spc="4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a[1][0][1]  →</a:t>
            </a:r>
            <a:r>
              <a:rPr sz="1275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a[1][0][2]</a:t>
            </a:r>
            <a:r>
              <a:rPr sz="1275" kern="0" spc="40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a[1][0][3]</a:t>
            </a:r>
            <a:r>
              <a:rPr sz="1275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a[1][1][0]  →  a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[1][1][1]</a:t>
            </a:r>
            <a:r>
              <a:rPr sz="1275" kern="0" spc="4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a[1][1][2]  →  a[1][1][3]</a:t>
            </a:r>
            <a:r>
              <a:rPr sz="1275" kern="0" spc="42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 a[1][2][0]  →</a:t>
            </a:r>
            <a:r>
              <a:rPr sz="1275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275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a[1][2][1] → a[1][2][2</a:t>
            </a:r>
            <a:r>
              <a:rPr sz="1275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 → a[1][2][3]</a:t>
            </a:r>
            <a:endParaRPr lang="en-US" altLang="en-US" sz="1275" dirty="0"/>
          </a:p>
        </p:txBody>
      </p:sp>
      <p:graphicFrame>
        <p:nvGraphicFramePr>
          <p:cNvPr id="4410" name="table 4410"/>
          <p:cNvGraphicFramePr>
            <a:graphicFrameLocks noGrp="1"/>
          </p:cNvGraphicFramePr>
          <p:nvPr/>
        </p:nvGraphicFramePr>
        <p:xfrm>
          <a:off x="710755" y="1110806"/>
          <a:ext cx="4599305" cy="335915"/>
        </p:xfrm>
        <a:graphic>
          <a:graphicData uri="http://schemas.openxmlformats.org/drawingml/2006/table">
            <a:tbl>
              <a:tblPr/>
              <a:tblGrid>
                <a:gridCol w="4599305"/>
              </a:tblGrid>
              <a:tr h="335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lang="en-US" altLang="en-US" sz="525" dirty="0"/>
                    </a:p>
                    <a:p>
                      <a:pPr marL="109855" algn="l" rtl="0" eaLnBrk="0">
                        <a:lnSpc>
                          <a:spcPct val="93000"/>
                        </a:lnSpc>
                      </a:pPr>
                      <a:r>
                        <a:rPr sz="135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float a[2, 3, 4];       </a:t>
                      </a:r>
                      <a:r>
                        <a:rPr sz="1350" kern="0" spc="-7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//定义三维数组a，</a:t>
                      </a:r>
                      <a:r>
                        <a:rPr sz="1350" kern="0" spc="-12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350" kern="0" spc="-7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它有2页，</a:t>
                      </a:r>
                      <a:r>
                        <a:rPr sz="1350" kern="0" spc="-30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350" kern="0" spc="-7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3行，</a:t>
                      </a:r>
                      <a:r>
                        <a:rPr sz="1350" kern="0" spc="-32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350" kern="0" spc="-70" dirty="0">
                          <a:solidFill>
                            <a:srgbClr val="008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4列</a:t>
                      </a:r>
                      <a:endParaRPr lang="en-US" altLang="en-US" sz="135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12" name="textbox 4412"/>
          <p:cNvSpPr/>
          <p:nvPr/>
        </p:nvSpPr>
        <p:spPr>
          <a:xfrm>
            <a:off x="793551" y="1650061"/>
            <a:ext cx="7208044" cy="2343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lang="en-US" altLang="en-US" sz="100" dirty="0"/>
          </a:p>
          <a:p>
            <a:pPr algn="r" rtl="0" eaLnBrk="0">
              <a:lnSpc>
                <a:spcPct val="99000"/>
              </a:lnSpc>
            </a:pPr>
            <a:r>
              <a:rPr sz="1425" b="1" kern="0" spc="5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多维数组元素在内存中的排列顺序为:</a:t>
            </a:r>
            <a:r>
              <a:rPr sz="1425" b="1" kern="0" spc="17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25" b="1" kern="0" spc="5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第1维的下标变化最慢，最右边</a:t>
            </a:r>
            <a:r>
              <a:rPr sz="1425" b="1" kern="0" spc="4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的下标变化最快。</a:t>
            </a:r>
            <a:endParaRPr lang="en-US" altLang="en-US" sz="1425" b="1" kern="0" spc="4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16" name="path"/>
          <p:cNvSpPr/>
          <p:nvPr/>
        </p:nvSpPr>
        <p:spPr>
          <a:xfrm>
            <a:off x="776858" y="2098166"/>
            <a:ext cx="7069074" cy="19050"/>
          </a:xfrm>
          <a:custGeom>
            <a:avLst/>
            <a:gdLst/>
            <a:ahLst/>
            <a:cxnLst/>
            <a:rect l="0" t="0" r="0" b="0"/>
            <a:pathLst>
              <a:path w="14843" h="40">
                <a:moveTo>
                  <a:pt x="20" y="20"/>
                </a:moveTo>
                <a:lnTo>
                  <a:pt x="14823" y="20"/>
                </a:lnTo>
                <a:lnTo>
                  <a:pt x="20" y="20"/>
                </a:lnTo>
              </a:path>
            </a:pathLst>
          </a:custGeom>
          <a:solidFill>
            <a:srgbClr val="782367"/>
          </a:solidFill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4418" name="path"/>
          <p:cNvSpPr/>
          <p:nvPr/>
        </p:nvSpPr>
        <p:spPr>
          <a:xfrm>
            <a:off x="776858" y="4320158"/>
            <a:ext cx="7069074" cy="19050"/>
          </a:xfrm>
          <a:custGeom>
            <a:avLst/>
            <a:gdLst/>
            <a:ahLst/>
            <a:cxnLst/>
            <a:rect l="0" t="0" r="0" b="0"/>
            <a:pathLst>
              <a:path w="14843" h="40">
                <a:moveTo>
                  <a:pt x="20" y="20"/>
                </a:moveTo>
                <a:lnTo>
                  <a:pt x="14823" y="20"/>
                </a:lnTo>
                <a:lnTo>
                  <a:pt x="20" y="20"/>
                </a:lnTo>
              </a:path>
            </a:pathLst>
          </a:custGeom>
          <a:noFill/>
          <a:ln w="25400" cap="sq">
            <a:solidFill>
              <a:srgbClr val="782367">
                <a:alpha val="100000"/>
              </a:srgbClr>
            </a:solidFill>
            <a:prstDash val="solid"/>
            <a:bevel/>
          </a:ln>
        </p:spPr>
        <p:txBody>
          <a:bodyPr rtlCol="0"/>
          <a:lstStyle/>
          <a:p>
            <a:pPr algn="ctr"/>
            <a:endParaRPr lang="zh-CN" altLang="en-US" sz="1350"/>
          </a:p>
        </p:txBody>
      </p:sp>
      <p:sp>
        <p:nvSpPr>
          <p:cNvPr id="5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357313" y="448866"/>
            <a:ext cx="6482954" cy="622697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多维数组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3"/>
          <p:cNvSpPr>
            <a:spLocks noGrp="1"/>
          </p:cNvSpPr>
          <p:nvPr>
            <p:ph idx="1" hasCustomPrompt="1"/>
          </p:nvPr>
        </p:nvSpPr>
        <p:spPr>
          <a:xfrm>
            <a:off x="1893094" y="1285875"/>
            <a:ext cx="5464969" cy="2250281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用来存放字符数据的数组是字符数组</a:t>
            </a:r>
            <a:endParaRPr lang="en-US" altLang="zh-CN" dirty="0"/>
          </a:p>
          <a:p>
            <a:r>
              <a:rPr lang="zh-CN" altLang="zh-CN" dirty="0"/>
              <a:t>字符数组中的一个元素存放一个字符</a:t>
            </a:r>
            <a:endParaRPr lang="zh-CN" altLang="zh-CN" dirty="0"/>
          </a:p>
          <a:p>
            <a:r>
              <a:rPr lang="zh-CN" altLang="zh-CN" dirty="0"/>
              <a:t>定义字符数组的方法与定义数值型数组的方法类似</a:t>
            </a:r>
            <a:endParaRPr lang="en-US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48866"/>
            <a:ext cx="6482954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定义字符数组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9699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9700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3"/>
          <p:cNvSpPr>
            <a:spLocks noGrp="1"/>
          </p:cNvSpPr>
          <p:nvPr>
            <p:ph idx="1" hasCustomPrompt="1"/>
          </p:nvPr>
        </p:nvSpPr>
        <p:spPr>
          <a:xfrm>
            <a:off x="1893094" y="1285875"/>
            <a:ext cx="3536156" cy="2571750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char c[10];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c[0]=’I’;   c[1]=’ ’;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c[2]=’a’;   c[3]=’m’;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c[4]=’  ’;   c[5]=’h’; 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c[6]=’a’;  c[7]=’p’; 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c[8]=’p’;  c[9]=’y’;</a:t>
            </a:r>
            <a:endParaRPr lang="en-US" altLang="zh-CN" sz="21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48866"/>
            <a:ext cx="6482954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定义字符数组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0723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0724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160985" y="4276725"/>
          <a:ext cx="4686300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m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 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y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107406" y="3857625"/>
            <a:ext cx="5036344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c[0]c[1]c[2]c[3]c[4]c[5]c[6]c[7]c[8]c[9]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143000" y="1285875"/>
            <a:ext cx="6858000" cy="2089547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char c[10]={’I’,’ ’,’a’,’m’,’ ’,’h’,’a’,’p’,’p’,’y’};</a:t>
            </a:r>
            <a:endParaRPr lang="en-US" altLang="zh-CN" sz="2100" dirty="0"/>
          </a:p>
          <a:p>
            <a:pPr>
              <a:buNone/>
            </a:pPr>
            <a:endParaRPr lang="en-US" altLang="zh-CN" sz="2100" dirty="0"/>
          </a:p>
          <a:p>
            <a:pPr>
              <a:buNone/>
            </a:pPr>
            <a:endParaRPr lang="en-US" altLang="zh-CN" sz="2100" dirty="0"/>
          </a:p>
          <a:p>
            <a:pPr>
              <a:buNone/>
            </a:pP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char c[10]={’c’,’ ’,’p’,’r’,’o’,’g’,’r’,’a’,’m’};</a:t>
            </a:r>
            <a:endParaRPr lang="en-US" altLang="zh-CN" sz="21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48866"/>
            <a:ext cx="6482954" cy="622697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字符数组的初始化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1747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1748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160985" y="2240756"/>
          <a:ext cx="4686300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  <a:gridCol w="46863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m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 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y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80" marR="68580" marT="34103" marB="34103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107406" y="1821656"/>
            <a:ext cx="5036344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c[0]c[1]c[2]c[3]c[4]c[5]c[6]c[7]c[8]c[9]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053829" y="3740944"/>
          <a:ext cx="482155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360"/>
                <a:gridCol w="468630"/>
                <a:gridCol w="467360"/>
                <a:gridCol w="467995"/>
                <a:gridCol w="467995"/>
                <a:gridCol w="467995"/>
                <a:gridCol w="467360"/>
                <a:gridCol w="467995"/>
                <a:gridCol w="467995"/>
                <a:gridCol w="61087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 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g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m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00250" y="3321844"/>
            <a:ext cx="5036344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c[0]c[1]c[2]c[3]c[4]c[5]c[6]c[7]c[8]c[9]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7730" y="4384675"/>
            <a:ext cx="7549515" cy="459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2700" indent="0" algn="l" rtl="0" eaLnBrk="0" fontAlgn="auto">
              <a:lnSpc>
                <a:spcPct val="150000"/>
              </a:lnSpc>
              <a:spcBef>
                <a:spcPts val="1050"/>
              </a:spcBef>
            </a:pPr>
            <a:r>
              <a:rPr sz="1200" kern="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如果花括号中提供的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初值个数（即字符个数）</a:t>
            </a:r>
            <a:r>
              <a:rPr sz="1200" kern="0" spc="-3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大于数组长度，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则出现语法错误。</a:t>
            </a:r>
            <a:endParaRPr lang="en-US" altLang="en-US" sz="1200" dirty="0"/>
          </a:p>
          <a:p>
            <a:pPr indent="0" algn="l" rtl="0" eaLnBrk="0" fontAlgn="auto">
              <a:lnSpc>
                <a:spcPct val="150000"/>
              </a:lnSpc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如果初值个数小于数组长度，</a:t>
            </a:r>
            <a:r>
              <a:rPr sz="1200" kern="0" spc="-2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则只将这些字符赋给数组中前面那些元素，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余的元素自动定为空字符(即′\0′)</a:t>
            </a:r>
            <a:endParaRPr lang="zh-CN" altLang="en-US" sz="1200"/>
          </a:p>
          <a:p>
            <a:endParaRPr lang="zh-CN" altLang="en-US" sz="12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文本框 2"/>
          <p:cNvSpPr txBox="1"/>
          <p:nvPr/>
        </p:nvSpPr>
        <p:spPr>
          <a:xfrm>
            <a:off x="1581150" y="988219"/>
            <a:ext cx="4320779" cy="299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350" b="1">
                <a:latin typeface="Arial" panose="020B0604020202090204" pitchFamily="34" charset="0"/>
              </a:rPr>
              <a:t>可以将字符串直接赋值给字符数组</a:t>
            </a:r>
            <a:endParaRPr lang="zh-CN" altLang="en-US" sz="1350" b="1">
              <a:latin typeface="Arial" panose="020B0604020202090204" pitchFamily="34" charset="0"/>
            </a:endParaRPr>
          </a:p>
        </p:txBody>
      </p:sp>
      <p:sp>
        <p:nvSpPr>
          <p:cNvPr id="32770" name="文本框 3"/>
          <p:cNvSpPr txBox="1"/>
          <p:nvPr/>
        </p:nvSpPr>
        <p:spPr>
          <a:xfrm>
            <a:off x="1609725" y="1287066"/>
            <a:ext cx="6017419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200">
                <a:latin typeface="Arial" panose="020B0604020202090204" pitchFamily="34" charset="0"/>
              </a:rPr>
              <a:t>char str[30] = {"</a:t>
            </a:r>
            <a:r>
              <a:rPr lang="en-US" altLang="zh-CN" sz="1200">
                <a:latin typeface="Arial" panose="020B0604020202090204" pitchFamily="34" charset="0"/>
              </a:rPr>
              <a:t>Hello,World!</a:t>
            </a:r>
            <a:r>
              <a:rPr lang="zh-CN" altLang="en-US" sz="1200">
                <a:latin typeface="Arial" panose="020B0604020202090204" pitchFamily="34" charset="0"/>
              </a:rPr>
              <a:t>"};</a:t>
            </a:r>
            <a:endParaRPr lang="zh-CN" altLang="en-US" sz="1200">
              <a:latin typeface="Arial" panose="020B0604020202090204" pitchFamily="34" charset="0"/>
            </a:endParaRPr>
          </a:p>
          <a:p>
            <a:r>
              <a:rPr lang="zh-CN" altLang="en-US" sz="1200">
                <a:latin typeface="Arial" panose="020B0604020202090204" pitchFamily="34" charset="0"/>
              </a:rPr>
              <a:t>char str[30] = "</a:t>
            </a:r>
            <a:r>
              <a:rPr lang="en-US" altLang="zh-CN" sz="1200">
                <a:latin typeface="Arial" panose="020B0604020202090204" pitchFamily="34" charset="0"/>
              </a:rPr>
              <a:t>Hello,World!</a:t>
            </a:r>
            <a:r>
              <a:rPr lang="zh-CN" altLang="en-US" sz="1200">
                <a:latin typeface="Arial" panose="020B0604020202090204" pitchFamily="34" charset="0"/>
              </a:rPr>
              <a:t>";  //这种形式更加简洁，实际开发中常用</a:t>
            </a:r>
            <a:endParaRPr lang="zh-CN" altLang="en-US" sz="1200">
              <a:latin typeface="Arial" panose="020B0604020202090204" pitchFamily="34" charset="0"/>
            </a:endParaRPr>
          </a:p>
        </p:txBody>
      </p:sp>
      <p:sp>
        <p:nvSpPr>
          <p:cNvPr id="32771" name="文本框 4"/>
          <p:cNvSpPr txBox="1"/>
          <p:nvPr/>
        </p:nvSpPr>
        <p:spPr>
          <a:xfrm>
            <a:off x="1552575" y="1812131"/>
            <a:ext cx="3960019" cy="2990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350" b="1">
                <a:latin typeface="Arial" panose="020B0604020202090204" pitchFamily="34" charset="0"/>
              </a:rPr>
              <a:t>为了方便，也可以不指定数组长度</a:t>
            </a:r>
            <a:endParaRPr lang="zh-CN" altLang="en-US" sz="1350" b="1">
              <a:latin typeface="Arial" panose="020B0604020202090204" pitchFamily="34" charset="0"/>
            </a:endParaRPr>
          </a:p>
        </p:txBody>
      </p:sp>
      <p:sp>
        <p:nvSpPr>
          <p:cNvPr id="32772" name="文本框 5"/>
          <p:cNvSpPr txBox="1"/>
          <p:nvPr/>
        </p:nvSpPr>
        <p:spPr>
          <a:xfrm>
            <a:off x="1581150" y="2110979"/>
            <a:ext cx="2145030" cy="29908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1350">
                <a:latin typeface="Arial" panose="020B0604020202090204" pitchFamily="34" charset="0"/>
              </a:rPr>
              <a:t>char str[] = "</a:t>
            </a:r>
            <a:r>
              <a:rPr lang="en-US" altLang="zh-CN" sz="1350">
                <a:latin typeface="Arial" panose="020B0604020202090204" pitchFamily="34" charset="0"/>
                <a:sym typeface="宋体" pitchFamily="2" charset="-122"/>
              </a:rPr>
              <a:t>Hello,World!</a:t>
            </a:r>
            <a:r>
              <a:rPr lang="zh-CN" altLang="en-US" sz="1350">
                <a:latin typeface="Arial" panose="020B0604020202090204" pitchFamily="34" charset="0"/>
              </a:rPr>
              <a:t>";</a:t>
            </a:r>
            <a:endParaRPr lang="zh-CN" altLang="en-US" sz="1350">
              <a:latin typeface="Arial" panose="020B0604020202090204" pitchFamily="34" charset="0"/>
            </a:endParaRPr>
          </a:p>
        </p:txBody>
      </p:sp>
      <p:sp>
        <p:nvSpPr>
          <p:cNvPr id="32773" name="文本框 6"/>
          <p:cNvSpPr txBox="1"/>
          <p:nvPr/>
        </p:nvSpPr>
        <p:spPr>
          <a:xfrm>
            <a:off x="1584722" y="2387203"/>
            <a:ext cx="5843588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350" b="1">
                <a:latin typeface="Arial" panose="020B0604020202090204" pitchFamily="34" charset="0"/>
              </a:rPr>
              <a:t>给字符数组赋值时，我们通常使用这种写法，将字符串一次性地赋值（可以指明数组长度，也可以不指明）</a:t>
            </a:r>
            <a:endParaRPr lang="zh-CN" altLang="en-US" sz="1350" b="1">
              <a:latin typeface="Arial" panose="020B0604020202090204" pitchFamily="34" charset="0"/>
            </a:endParaRPr>
          </a:p>
        </p:txBody>
      </p:sp>
      <p:sp>
        <p:nvSpPr>
          <p:cNvPr id="32774" name="文本框 7"/>
          <p:cNvSpPr txBox="1"/>
          <p:nvPr/>
        </p:nvSpPr>
        <p:spPr>
          <a:xfrm>
            <a:off x="1552575" y="2908697"/>
            <a:ext cx="5792391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350" b="1">
                <a:solidFill>
                  <a:srgbClr val="FF0000"/>
                </a:solidFill>
                <a:latin typeface="Arial" panose="020B0604020202090204" pitchFamily="34" charset="0"/>
              </a:rPr>
              <a:t>注意：</a:t>
            </a:r>
            <a:r>
              <a:rPr lang="zh-CN" altLang="en-US" sz="1350" b="1">
                <a:latin typeface="Arial" panose="020B0604020202090204" pitchFamily="34" charset="0"/>
              </a:rPr>
              <a:t>字符数组只有在定义时才能将整个字符串一次性地赋值给它，一旦定义完了，就只能一个字符一个字符赋值。请看下面的例子：</a:t>
            </a:r>
            <a:endParaRPr lang="zh-CN" altLang="en-US" sz="1350" b="1">
              <a:latin typeface="Arial" panose="020B0604020202090204" pitchFamily="34" charset="0"/>
            </a:endParaRPr>
          </a:p>
        </p:txBody>
      </p:sp>
      <p:sp>
        <p:nvSpPr>
          <p:cNvPr id="32775" name="文本框 8"/>
          <p:cNvSpPr txBox="1"/>
          <p:nvPr/>
        </p:nvSpPr>
        <p:spPr>
          <a:xfrm>
            <a:off x="1584722" y="3393281"/>
            <a:ext cx="5793581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200">
                <a:latin typeface="Arial" panose="020B0604020202090204" pitchFamily="34" charset="0"/>
              </a:rPr>
              <a:t>char str[7];</a:t>
            </a:r>
            <a:endParaRPr lang="zh-CN" altLang="en-US" sz="1200">
              <a:latin typeface="Arial" panose="020B0604020202090204" pitchFamily="34" charset="0"/>
            </a:endParaRPr>
          </a:p>
          <a:p>
            <a:r>
              <a:rPr lang="zh-CN" altLang="en-US" sz="1200">
                <a:latin typeface="Arial" panose="020B0604020202090204" pitchFamily="34" charset="0"/>
              </a:rPr>
              <a:t>str = "abc123";  </a:t>
            </a:r>
            <a:r>
              <a:rPr lang="zh-CN" altLang="en-US" sz="1200">
                <a:solidFill>
                  <a:srgbClr val="FF0000"/>
                </a:solidFill>
                <a:latin typeface="Arial" panose="020B0604020202090204" pitchFamily="34" charset="0"/>
              </a:rPr>
              <a:t>//错误</a:t>
            </a:r>
            <a:endParaRPr lang="zh-CN" altLang="en-US" sz="1200">
              <a:solidFill>
                <a:srgbClr val="FF0000"/>
              </a:solidFill>
              <a:latin typeface="Arial" panose="020B0604020202090204" pitchFamily="34" charset="0"/>
            </a:endParaRPr>
          </a:p>
          <a:p>
            <a:r>
              <a:rPr lang="zh-CN" altLang="en-US" sz="1200">
                <a:solidFill>
                  <a:srgbClr val="FF0000"/>
                </a:solidFill>
                <a:latin typeface="Arial" panose="020B0604020202090204" pitchFamily="34" charset="0"/>
              </a:rPr>
              <a:t>//正确</a:t>
            </a:r>
            <a:endParaRPr lang="zh-CN" altLang="en-US" sz="1200">
              <a:solidFill>
                <a:srgbClr val="FF0000"/>
              </a:solidFill>
              <a:latin typeface="Arial" panose="020B0604020202090204" pitchFamily="34" charset="0"/>
            </a:endParaRPr>
          </a:p>
          <a:p>
            <a:r>
              <a:rPr lang="zh-CN" altLang="en-US" sz="1200">
                <a:latin typeface="Arial" panose="020B0604020202090204" pitchFamily="34" charset="0"/>
              </a:rPr>
              <a:t>str[0] = 'a'; str[1] = 'b'; str[2] = 'c';</a:t>
            </a:r>
            <a:endParaRPr lang="zh-CN" altLang="en-US" sz="1200">
              <a:latin typeface="Arial" panose="020B0604020202090204" pitchFamily="34" charset="0"/>
            </a:endParaRPr>
          </a:p>
          <a:p>
            <a:r>
              <a:rPr lang="zh-CN" altLang="en-US" sz="1200">
                <a:latin typeface="Arial" panose="020B0604020202090204" pitchFamily="34" charset="0"/>
              </a:rPr>
              <a:t>str[3] = '1'; str[4] = '2'; str[5] = '3';</a:t>
            </a:r>
            <a:endParaRPr lang="zh-CN" altLang="en-US" sz="1200">
              <a:latin typeface="Arial" panose="020B0604020202090204" pitchFamily="34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6363" y="365522"/>
            <a:ext cx="6482954" cy="622697"/>
          </a:xfrm>
        </p:spPr>
        <p:txBody>
          <a:bodyPr vert="horz" wrap="square" lIns="68580" tIns="34290" rIns="68580" bIns="34290" numCol="1" anchor="ctr" anchorCtr="0" compatLnSpc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字符数组的初始化</a:t>
            </a:r>
            <a:endParaRPr kumimoji="0" lang="zh-CN" altLang="en-US" sz="360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BADE0A-06C1-4F98-B0C9-955A98D113B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med">
    <p:checker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32297"/>
            <a:ext cx="5732860" cy="2732484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 </a:t>
            </a:r>
            <a:r>
              <a:rPr lang="zh-CN" altLang="zh-CN" dirty="0"/>
              <a:t>输出一个已知的字符串。</a:t>
            </a:r>
            <a:endParaRPr lang="en-US" altLang="zh-CN" dirty="0"/>
          </a:p>
          <a:p>
            <a:r>
              <a:rPr lang="zh-CN" altLang="zh-CN" dirty="0"/>
              <a:t>解题思路：</a:t>
            </a:r>
            <a:endParaRPr lang="en-US" altLang="zh-CN" dirty="0"/>
          </a:p>
          <a:p>
            <a:pPr lvl="1" indent="-325120"/>
            <a:r>
              <a:rPr lang="zh-CN" altLang="zh-CN" dirty="0"/>
              <a:t>定义一个字符数组，并用“初始化列表”对其赋以初值</a:t>
            </a:r>
            <a:endParaRPr lang="en-US" altLang="zh-CN" dirty="0"/>
          </a:p>
          <a:p>
            <a:pPr lvl="1" indent="-325120"/>
            <a:r>
              <a:rPr lang="zh-CN" altLang="zh-CN" dirty="0"/>
              <a:t>用循环逐个输出此字符数组中的字符</a:t>
            </a:r>
            <a:endParaRPr lang="zh-CN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引用字符数组中的元素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4819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4820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071563"/>
            <a:ext cx="5732860" cy="3911204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/>
              <a:t>#include &lt;stdio.h&gt;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int main()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{ char c[15]={'I',' ','a','m',' ','a',</a:t>
            </a:r>
            <a:endParaRPr lang="en-US" altLang="zh-CN" sz="2100" dirty="0"/>
          </a:p>
          <a:p>
            <a:pPr>
              <a:buNone/>
            </a:pPr>
            <a:r>
              <a:rPr lang="en-US" altLang="zh-CN" sz="2100" dirty="0"/>
              <a:t>             ' ','s','t','u','d','e','n','t','.'};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int i;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for(i=0;i&lt;15;i++)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printf("%c",c[i]);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printf("\n");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return 0;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} </a:t>
            </a:r>
            <a:endParaRPr lang="zh-CN" altLang="zh-CN" sz="21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引用字符数组中的元素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5843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5844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pic>
        <p:nvPicPr>
          <p:cNvPr id="70658" name="Picture 2" descr="pic6-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8422" y="4125516"/>
            <a:ext cx="3243263" cy="428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32297"/>
            <a:ext cx="5732860" cy="3107531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zh-CN" altLang="en-US" dirty="0"/>
              <a:t>例</a:t>
            </a:r>
            <a:r>
              <a:rPr lang="en-US" altLang="zh-CN" dirty="0"/>
              <a:t>  </a:t>
            </a:r>
            <a:r>
              <a:rPr lang="zh-CN" altLang="zh-CN" dirty="0"/>
              <a:t>输出一个菱形图。</a:t>
            </a:r>
            <a:endParaRPr lang="en-US" altLang="zh-CN" dirty="0"/>
          </a:p>
          <a:p>
            <a:r>
              <a:rPr lang="zh-CN" altLang="zh-CN" dirty="0"/>
              <a:t>解题思路：</a:t>
            </a:r>
            <a:endParaRPr lang="en-US" altLang="zh-CN" dirty="0"/>
          </a:p>
          <a:p>
            <a:pPr lvl="1" indent="-325120"/>
            <a:r>
              <a:rPr lang="zh-CN" altLang="zh-CN" dirty="0"/>
              <a:t>定义一个字符型的二维数组，用“初始化列表”进行初始化</a:t>
            </a:r>
            <a:endParaRPr lang="en-US" altLang="zh-CN" dirty="0"/>
          </a:p>
          <a:p>
            <a:pPr lvl="1" indent="-325120"/>
            <a:r>
              <a:rPr lang="zh-CN" altLang="zh-CN" dirty="0"/>
              <a:t>用嵌套的</a:t>
            </a:r>
            <a:r>
              <a:rPr lang="en-US" altLang="zh-CN" dirty="0"/>
              <a:t>for</a:t>
            </a:r>
            <a:r>
              <a:rPr lang="zh-CN" altLang="zh-CN" dirty="0"/>
              <a:t>循环输出字符数组中的所有元素。</a:t>
            </a:r>
            <a:endParaRPr lang="zh-CN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引用字符数组中的元素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6867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6868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5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15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1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219">
                                            <p:txEl>
                                              <p:charRg st="21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48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charRg st="48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3"/>
          <p:cNvSpPr>
            <a:spLocks noGrp="1"/>
          </p:cNvSpPr>
          <p:nvPr>
            <p:ph idx="1" hasCustomPrompt="1"/>
          </p:nvPr>
        </p:nvSpPr>
        <p:spPr>
          <a:xfrm>
            <a:off x="1625204" y="122317"/>
            <a:ext cx="6054328" cy="4607719"/>
          </a:xfrm>
        </p:spPr>
        <p:txBody>
          <a:bodyPr vert="horz" wrap="square" lIns="68580" tIns="34290" rIns="68580" bIns="34290" anchor="t" anchorCtr="0"/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#include &lt;stdio.h&gt;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int main()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{ char diamond[][5]={{' ',' ','*'},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              {' ','*',' ','*'},{'*',' ',' ',' ','*'},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               {' ','*',' ','*'},{' ',' ','*'}};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  int i,j;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  for (i=0;i&lt;5;i++) {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    for (j=0;j&lt;5;j++)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        printf("%c",diamond[i][j]);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    printf("\n");}  </a:t>
            </a:r>
            <a:endParaRPr lang="en-US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}     }</a:t>
            </a:r>
            <a:endParaRPr lang="zh-CN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  return 0;</a:t>
            </a:r>
            <a:endParaRPr lang="zh-CN" altLang="zh-CN" sz="1800" dirty="0"/>
          </a:p>
          <a:p>
            <a:pPr fontAlgn="auto">
              <a:lnSpc>
                <a:spcPts val="2000"/>
              </a:lnSpc>
              <a:buNone/>
            </a:pPr>
            <a:r>
              <a:rPr lang="en-US" altLang="zh-CN" sz="1800" dirty="0"/>
              <a:t>}</a:t>
            </a:r>
            <a:endParaRPr lang="zh-CN" altLang="zh-CN" sz="1800" dirty="0"/>
          </a:p>
        </p:txBody>
      </p:sp>
      <p:sp>
        <p:nvSpPr>
          <p:cNvPr id="37890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7891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pic>
        <p:nvPicPr>
          <p:cNvPr id="7168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8704" y="2786063"/>
            <a:ext cx="1071563" cy="180617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0" name="textbox 4620"/>
          <p:cNvSpPr/>
          <p:nvPr/>
        </p:nvSpPr>
        <p:spPr>
          <a:xfrm>
            <a:off x="694019" y="606185"/>
            <a:ext cx="7773352" cy="156019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algn="l" rtl="0" eaLnBrk="0">
              <a:lnSpc>
                <a:spcPct val="155000"/>
              </a:lnSpc>
            </a:pPr>
            <a:endParaRPr sz="1425" kern="0" spc="90" dirty="0">
              <a:solidFill>
                <a:srgbClr val="E84C2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5000"/>
              </a:lnSpc>
            </a:pPr>
            <a:r>
              <a:rPr lang="en-US" altLang="en-US" sz="1425" kern="0" spc="-6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在C语言中，是将字符串作为字符数组来处理的。</a:t>
            </a:r>
            <a:endParaRPr lang="en-US" altLang="en-US" sz="1425" kern="0" spc="-6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5000"/>
              </a:lnSpc>
            </a:pPr>
            <a:r>
              <a:rPr lang="en-US" altLang="en-US" sz="1425" kern="0" spc="-6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在实际工作中，人们关心的往往是字符串的有效长度而不是字符数组的长度。</a:t>
            </a:r>
            <a:endParaRPr lang="en-US" altLang="en-US" sz="1425" kern="0" spc="-6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55000"/>
              </a:lnSpc>
            </a:pPr>
            <a:r>
              <a:rPr lang="en-US" altLang="en-US" sz="1425" kern="0" spc="-60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为了测定字符串的实际长度，   C语言规定了一个“字符串结束标志”， 以字符′\0′作为结束标志。</a:t>
            </a:r>
            <a:endParaRPr lang="en-US" altLang="en-US" sz="1425" kern="0" spc="-60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622" name="picture 46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715517" y="2837837"/>
            <a:ext cx="4941440" cy="1596663"/>
          </a:xfrm>
          <a:prstGeom prst="rect">
            <a:avLst/>
          </a:prstGeom>
        </p:spPr>
      </p:pic>
      <p:graphicFrame>
        <p:nvGraphicFramePr>
          <p:cNvPr id="4624" name="table 4624"/>
          <p:cNvGraphicFramePr>
            <a:graphicFrameLocks noGrp="1"/>
          </p:cNvGraphicFramePr>
          <p:nvPr/>
        </p:nvGraphicFramePr>
        <p:xfrm>
          <a:off x="715517" y="2850499"/>
          <a:ext cx="4966970" cy="1589405"/>
        </p:xfrm>
        <a:graphic>
          <a:graphicData uri="http://schemas.openxmlformats.org/drawingml/2006/table">
            <a:tbl>
              <a:tblPr/>
              <a:tblGrid>
                <a:gridCol w="583565"/>
                <a:gridCol w="4383405"/>
              </a:tblGrid>
              <a:tr h="4013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lang="en-US" altLang="en-US" sz="675" dirty="0"/>
                    </a:p>
                    <a:p>
                      <a:pPr marL="146685" algn="l" rtl="0" eaLnBrk="0">
                        <a:lnSpc>
                          <a:spcPts val="2300"/>
                        </a:lnSpc>
                        <a:spcBef>
                          <a:spcPts val="5"/>
                        </a:spcBef>
                      </a:pPr>
                      <a:r>
                        <a:rPr sz="1425" kern="0" spc="40" dirty="0">
                          <a:solidFill>
                            <a:srgbClr val="FEFFFF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注意</a:t>
                      </a:r>
                      <a:endParaRPr lang="en-US" altLang="en-US" sz="1425" dirty="0"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lang="en-US" altLang="en-US" sz="600" dirty="0"/>
                    </a:p>
                    <a:p>
                      <a:pPr marL="366395" indent="-285750" algn="l" rtl="0" eaLnBrk="0">
                        <a:lnSpc>
                          <a:spcPct val="108000"/>
                        </a:lnSpc>
                        <a:spcBef>
                          <a:spcPts val="0"/>
                        </a:spcBef>
                      </a:pPr>
                      <a:r>
                        <a:rPr sz="12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•    </a:t>
                      </a:r>
                      <a:r>
                        <a:rPr sz="12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C系统在用</a:t>
                      </a:r>
                      <a:r>
                        <a:rPr sz="12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字符数组存储字符串常量时会自动加一个′\0′作为    </a:t>
                      </a:r>
                      <a:r>
                        <a:rPr sz="12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结束符。</a:t>
                      </a:r>
                      <a:endParaRPr lang="en-US" altLang="en-US" sz="1200" dirty="0"/>
                    </a:p>
                    <a:p>
                      <a:pPr marL="365125" indent="-284480" algn="l" rtl="0" eaLnBrk="0">
                        <a:lnSpc>
                          <a:spcPct val="108000"/>
                        </a:lnSpc>
                        <a:spcBef>
                          <a:spcPts val="1050"/>
                        </a:spcBef>
                      </a:pPr>
                      <a:r>
                        <a:rPr sz="12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•</a:t>
                      </a:r>
                      <a:r>
                        <a:rPr sz="1200" kern="0" spc="13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在定义字符数组时应估计实际字符串长度，保证数组长度始  </a:t>
                      </a:r>
                      <a:r>
                        <a:rPr sz="12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200" kern="0" spc="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终大于字符串实际长度</a:t>
                      </a:r>
                      <a:r>
                        <a:rPr sz="12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en-US" altLang="en-US" sz="1200" dirty="0"/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675" dirty="0"/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lang="en-US" altLang="en-US" sz="100" dirty="0"/>
                    </a:p>
                    <a:p>
                      <a:pPr marL="361315" indent="-280670" algn="l" rtl="0" eaLnBrk="0">
                        <a:lnSpc>
                          <a:spcPct val="107000"/>
                        </a:lnSpc>
                      </a:pPr>
                      <a:r>
                        <a:rPr sz="12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•</a:t>
                      </a:r>
                      <a:r>
                        <a:rPr sz="1200" kern="0" spc="14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   </a:t>
                      </a:r>
                      <a:r>
                        <a:rPr sz="1200" kern="0" spc="-1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如果在一个字符数组中先后存放多个不同长度的字符串，则</a:t>
                      </a:r>
                      <a:r>
                        <a:rPr sz="1200" kern="0" spc="-2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200" kern="0" spc="0" dirty="0">
                          <a:solidFill>
                            <a:srgbClr val="40404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应使数组长度大于最长的字符串的长度。                            </a:t>
                      </a:r>
                      <a:endParaRPr lang="en-US" altLang="en-US" sz="1200" dirty="0"/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lang="en-US" altLang="en-US" sz="750" dirty="0"/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2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cPr marL="0" marR="0" marT="0" marB="0" vert="horz">
                    <a:lnL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626" name="picture 46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47580" y="4192248"/>
            <a:ext cx="226313" cy="226066"/>
          </a:xfrm>
          <a:prstGeom prst="rect">
            <a:avLst/>
          </a:prstGeom>
        </p:spPr>
      </p:pic>
      <p:graphicFrame>
        <p:nvGraphicFramePr>
          <p:cNvPr id="4628" name="table 4628"/>
          <p:cNvGraphicFramePr>
            <a:graphicFrameLocks noGrp="1"/>
          </p:cNvGraphicFramePr>
          <p:nvPr/>
        </p:nvGraphicFramePr>
        <p:xfrm>
          <a:off x="623888" y="2310956"/>
          <a:ext cx="7896225" cy="301625"/>
        </p:xfrm>
        <a:graphic>
          <a:graphicData uri="http://schemas.openxmlformats.org/drawingml/2006/table">
            <a:tbl>
              <a:tblPr/>
              <a:tblGrid>
                <a:gridCol w="7896225"/>
              </a:tblGrid>
              <a:tr h="301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lang="en-US" altLang="en-US" sz="525" dirty="0"/>
                    </a:p>
                    <a:p>
                      <a:pPr marL="21653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″C program″  </a:t>
                      </a:r>
                      <a:r>
                        <a:rPr sz="1200" kern="0" spc="-20" dirty="0">
                          <a:solidFill>
                            <a:srgbClr val="0070C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字符串是存放在一维数组中的，占10个字节，字符占9个字节，最</a:t>
                      </a:r>
                      <a:r>
                        <a:rPr sz="1200" kern="0" spc="-30" dirty="0">
                          <a:solidFill>
                            <a:srgbClr val="0070C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后一个字节′\0′是由系统自动加上的</a:t>
                      </a:r>
                      <a:endParaRPr lang="en-US" altLang="en-US" sz="1200" dirty="0"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4C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1357313" y="471488"/>
            <a:ext cx="6482954" cy="577454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字符串和字符串结束标志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32297"/>
            <a:ext cx="5732860" cy="3375422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在</a:t>
            </a:r>
            <a:r>
              <a:rPr lang="en-US" altLang="zh-CN" dirty="0"/>
              <a:t>C</a:t>
            </a:r>
            <a:r>
              <a:rPr lang="zh-CN" altLang="zh-CN" dirty="0"/>
              <a:t>语言中，是将字符串作为</a:t>
            </a:r>
            <a:r>
              <a:rPr lang="zh-CN" altLang="zh-CN" dirty="0">
                <a:solidFill>
                  <a:srgbClr val="0000CC"/>
                </a:solidFill>
              </a:rPr>
              <a:t>字符数组</a:t>
            </a:r>
            <a:r>
              <a:rPr lang="zh-CN" altLang="zh-CN" dirty="0"/>
              <a:t>来处理的</a:t>
            </a:r>
            <a:endParaRPr lang="en-US" altLang="zh-CN" dirty="0"/>
          </a:p>
          <a:p>
            <a:r>
              <a:rPr lang="zh-CN" altLang="zh-CN" dirty="0"/>
              <a:t>关心的是字符串的</a:t>
            </a:r>
            <a:r>
              <a:rPr lang="zh-CN" altLang="zh-CN" dirty="0">
                <a:solidFill>
                  <a:srgbClr val="0000CC"/>
                </a:solidFill>
              </a:rPr>
              <a:t>有效长度</a:t>
            </a:r>
            <a:r>
              <a:rPr lang="zh-CN" altLang="zh-CN" dirty="0"/>
              <a:t>而不是字符数组的长度</a:t>
            </a:r>
            <a:endParaRPr lang="en-US" altLang="zh-CN" dirty="0"/>
          </a:p>
          <a:p>
            <a:r>
              <a:rPr lang="zh-CN" altLang="zh-CN" dirty="0"/>
              <a:t>为了测定字符串的实际长度，</a:t>
            </a:r>
            <a:r>
              <a:rPr lang="en-US" altLang="zh-CN" dirty="0"/>
              <a:t>C</a:t>
            </a:r>
            <a:r>
              <a:rPr lang="zh-CN" altLang="zh-CN" dirty="0"/>
              <a:t>语言规定了字符串结束标志</a:t>
            </a:r>
            <a:r>
              <a:rPr lang="en-US" altLang="zh-CN" dirty="0">
                <a:solidFill>
                  <a:srgbClr val="FF0000"/>
                </a:solidFill>
              </a:rPr>
              <a:t>’\0’</a:t>
            </a:r>
            <a:endParaRPr lang="zh-CN" altLang="zh-CN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字符串和字符串结束标志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8915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8916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32297"/>
            <a:ext cx="5732860" cy="3643313"/>
          </a:xfrm>
        </p:spPr>
        <p:txBody>
          <a:bodyPr vert="horz" wrap="square" lIns="68580" tIns="34290" rIns="68580" bIns="34290" anchor="t" anchorCtr="0"/>
          <a:p>
            <a:r>
              <a:rPr lang="en-US" altLang="zh-CN" dirty="0"/>
              <a:t> ’\0’</a:t>
            </a:r>
            <a:r>
              <a:rPr lang="zh-CN" altLang="zh-CN" dirty="0"/>
              <a:t>代表</a:t>
            </a:r>
            <a:r>
              <a:rPr lang="en-US" altLang="zh-CN" dirty="0"/>
              <a:t>ASCII</a:t>
            </a:r>
            <a:r>
              <a:rPr lang="zh-CN" altLang="zh-CN" dirty="0"/>
              <a:t>码为</a:t>
            </a:r>
            <a:r>
              <a:rPr lang="en-US" altLang="zh-CN" dirty="0"/>
              <a:t>0</a:t>
            </a:r>
            <a:r>
              <a:rPr lang="zh-CN" altLang="zh-CN" dirty="0"/>
              <a:t>的字符</a:t>
            </a:r>
            <a:endParaRPr lang="en-US" altLang="zh-CN" dirty="0"/>
          </a:p>
          <a:p>
            <a:r>
              <a:rPr lang="zh-CN" altLang="zh-CN" dirty="0"/>
              <a:t>从</a:t>
            </a:r>
            <a:r>
              <a:rPr lang="en-US" altLang="zh-CN" dirty="0"/>
              <a:t>ASCII</a:t>
            </a:r>
            <a:r>
              <a:rPr lang="zh-CN" altLang="zh-CN" dirty="0"/>
              <a:t>码表可以查到，</a:t>
            </a:r>
            <a:r>
              <a:rPr lang="en-US" altLang="zh-CN" dirty="0"/>
              <a:t>ASCII</a:t>
            </a:r>
            <a:r>
              <a:rPr lang="zh-CN" altLang="zh-CN" dirty="0"/>
              <a:t>码为</a:t>
            </a:r>
            <a:r>
              <a:rPr lang="en-US" altLang="zh-CN" dirty="0"/>
              <a:t>0</a:t>
            </a:r>
            <a:r>
              <a:rPr lang="zh-CN" altLang="zh-CN" dirty="0"/>
              <a:t>的字符不是一个可以显示的字符，而是一个“空操作符”，就是说它什么也不做</a:t>
            </a:r>
            <a:endParaRPr lang="en-US" altLang="zh-CN" dirty="0"/>
          </a:p>
          <a:p>
            <a:r>
              <a:rPr lang="zh-CN" altLang="zh-CN" dirty="0"/>
              <a:t>用它作为字符串结束标志不会产生附加的操作或增加有效字符，只起一个供辨别的标志</a:t>
            </a:r>
            <a:endParaRPr lang="zh-CN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字符串和字符串结束标志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9939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39940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32297"/>
            <a:ext cx="5732860" cy="3000375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 char c[]={"I am happy"};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可写成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char c[]="I am happy";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相当于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char c[</a:t>
            </a:r>
            <a:r>
              <a:rPr lang="en-US" altLang="zh-CN" dirty="0">
                <a:solidFill>
                  <a:srgbClr val="FF0000"/>
                </a:solidFill>
              </a:rPr>
              <a:t>11</a:t>
            </a:r>
            <a:r>
              <a:rPr lang="en-US" altLang="zh-CN" dirty="0"/>
              <a:t>]={"I am happy"};</a:t>
            </a:r>
            <a:endParaRPr lang="en-US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字符串和字符串结束标志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0963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0964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32297"/>
            <a:ext cx="5732860" cy="3000375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000" dirty="0"/>
              <a:t>#include&lt;string.h&gt;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#include &lt;stdio.h&gt;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int main() {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	char arr[] = {"I am happy"};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	int sz1 = strlen(arr);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	int sz2 = sizeof (arr);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	printf("%d %d", sz1, sz2);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	return 0;</a:t>
            </a:r>
            <a:endParaRPr lang="en-US" altLang="zh-CN" sz="2000" dirty="0"/>
          </a:p>
          <a:p>
            <a:pPr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字符串和字符串结束标志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0963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0964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787900" y="4094480"/>
            <a:ext cx="4356100" cy="104775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32297"/>
            <a:ext cx="5732860" cy="3589734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char c[10]={”China”};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可写成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char c[10]=”China”;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从</a:t>
            </a:r>
            <a:r>
              <a:rPr lang="en-US" altLang="zh-CN" dirty="0"/>
              <a:t>c[5]</a:t>
            </a:r>
            <a:r>
              <a:rPr lang="zh-CN" altLang="en-US" dirty="0"/>
              <a:t>开始，元素值均为</a:t>
            </a:r>
            <a:r>
              <a:rPr lang="en-US" altLang="zh-CN" dirty="0"/>
              <a:t>\0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只显示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printf(”%s”,c);</a:t>
            </a:r>
            <a:endParaRPr lang="en-US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字符串和字符串结束标志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1987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1988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39516" y="3321844"/>
          <a:ext cx="541083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360"/>
                <a:gridCol w="468630"/>
                <a:gridCol w="467360"/>
                <a:gridCol w="467995"/>
                <a:gridCol w="467360"/>
                <a:gridCol w="661035"/>
                <a:gridCol w="643255"/>
                <a:gridCol w="589280"/>
                <a:gridCol w="58928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err="1" smtClean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 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</a:tr>
            </a:tbl>
          </a:graphicData>
        </a:graphic>
      </p:graphicFrame>
      <p:sp>
        <p:nvSpPr>
          <p:cNvPr id="7" name="流程图: 过程 6"/>
          <p:cNvSpPr/>
          <p:nvPr/>
        </p:nvSpPr>
        <p:spPr>
          <a:xfrm>
            <a:off x="1732360" y="3214688"/>
            <a:ext cx="2464594" cy="642938"/>
          </a:xfrm>
          <a:prstGeom prst="flowChartProcess">
            <a:avLst/>
          </a:prstGeom>
          <a:noFill/>
          <a:ln w="38100" cap="flat" cmpd="sng">
            <a:solidFill>
              <a:srgbClr val="0000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46" end="6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7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charRg st="67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3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charRg st="63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32297"/>
            <a:ext cx="5732860" cy="3107531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字符数组的输入输出可以有两种方法</a:t>
            </a:r>
            <a:r>
              <a:rPr lang="zh-CN" altLang="en-US" dirty="0"/>
              <a:t>：</a:t>
            </a:r>
            <a:endParaRPr lang="zh-CN" altLang="zh-CN" dirty="0"/>
          </a:p>
          <a:p>
            <a:pPr lvl="1" indent="-325120"/>
            <a:r>
              <a:rPr lang="en-US" altLang="zh-CN" dirty="0"/>
              <a:t> </a:t>
            </a:r>
            <a:r>
              <a:rPr lang="zh-CN" altLang="zh-CN" dirty="0"/>
              <a:t>逐个字符输入输出</a:t>
            </a:r>
            <a:r>
              <a:rPr lang="zh-CN" altLang="en-US" dirty="0"/>
              <a:t>（</a:t>
            </a:r>
            <a:r>
              <a:rPr lang="en-US" altLang="zh-CN" dirty="0"/>
              <a:t>%c</a:t>
            </a:r>
            <a:r>
              <a:rPr lang="zh-CN" altLang="en-US" dirty="0"/>
              <a:t>）</a:t>
            </a:r>
            <a:endParaRPr lang="zh-CN" altLang="zh-CN" dirty="0"/>
          </a:p>
          <a:p>
            <a:pPr lvl="1" indent="-325120"/>
            <a:r>
              <a:rPr lang="en-US" altLang="zh-CN" dirty="0"/>
              <a:t> </a:t>
            </a:r>
            <a:r>
              <a:rPr lang="zh-CN" altLang="zh-CN" dirty="0"/>
              <a:t>整个字符串一次输入输出</a:t>
            </a:r>
            <a:r>
              <a:rPr lang="zh-CN" altLang="en-US" dirty="0"/>
              <a:t>（</a:t>
            </a:r>
            <a:r>
              <a:rPr lang="en-US" altLang="zh-CN" dirty="0"/>
              <a:t>%s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zh-CN" dirty="0"/>
              <a:t>输出的字符中不包括结束符</a:t>
            </a:r>
            <a:r>
              <a:rPr lang="en-US" altLang="zh-CN" dirty="0"/>
              <a:t>’\0’</a:t>
            </a:r>
            <a:endParaRPr lang="en-US" altLang="zh-CN" dirty="0"/>
          </a:p>
          <a:p>
            <a:r>
              <a:rPr lang="zh-CN" altLang="zh-CN" dirty="0"/>
              <a:t>用</a:t>
            </a:r>
            <a:r>
              <a:rPr lang="en-US" altLang="zh-CN" dirty="0"/>
              <a:t>%s</a:t>
            </a:r>
            <a:r>
              <a:rPr lang="zh-CN" altLang="zh-CN" dirty="0"/>
              <a:t>输出字符串时，</a:t>
            </a:r>
            <a:r>
              <a:rPr lang="en-US" altLang="zh-CN" dirty="0"/>
              <a:t>printf</a:t>
            </a:r>
            <a:r>
              <a:rPr lang="zh-CN" altLang="zh-CN" dirty="0"/>
              <a:t>函数中的输出项是字符数组名，不是数组元素名</a:t>
            </a:r>
            <a:endParaRPr lang="en-US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字符数组的输入输出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3011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3012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49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49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6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charRg st="66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232297"/>
            <a:ext cx="5732860" cy="3107531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如果一个字符数组中包含</a:t>
            </a:r>
            <a:r>
              <a:rPr lang="zh-CN" altLang="en-US" dirty="0"/>
              <a:t>多个</a:t>
            </a:r>
            <a:r>
              <a:rPr lang="en-US" altLang="zh-CN" dirty="0"/>
              <a:t>’\0’</a:t>
            </a:r>
            <a:r>
              <a:rPr lang="zh-CN" altLang="zh-CN" dirty="0"/>
              <a:t>，则遇第一个</a:t>
            </a:r>
            <a:r>
              <a:rPr lang="en-US" altLang="zh-CN" dirty="0"/>
              <a:t>’\0’</a:t>
            </a:r>
            <a:r>
              <a:rPr lang="zh-CN" altLang="zh-CN" dirty="0"/>
              <a:t>时输出就结束</a:t>
            </a:r>
            <a:endParaRPr lang="en-US" altLang="zh-CN" dirty="0"/>
          </a:p>
          <a:p>
            <a:r>
              <a:rPr lang="zh-CN" altLang="zh-CN" dirty="0"/>
              <a:t>可以用</a:t>
            </a:r>
            <a:r>
              <a:rPr lang="en-US" altLang="zh-CN" dirty="0"/>
              <a:t>scanf</a:t>
            </a:r>
            <a:r>
              <a:rPr lang="zh-CN" altLang="zh-CN" dirty="0"/>
              <a:t>函数输入一个字符串</a:t>
            </a:r>
            <a:endParaRPr lang="en-US" altLang="zh-CN" dirty="0"/>
          </a:p>
          <a:p>
            <a:r>
              <a:rPr lang="en-US" altLang="zh-CN" dirty="0"/>
              <a:t>scanf</a:t>
            </a:r>
            <a:r>
              <a:rPr lang="zh-CN" altLang="zh-CN" dirty="0"/>
              <a:t>函数中的输入项</a:t>
            </a:r>
            <a:r>
              <a:rPr lang="en-US" altLang="zh-CN" dirty="0"/>
              <a:t>c</a:t>
            </a:r>
            <a:r>
              <a:rPr lang="zh-CN" altLang="zh-CN" dirty="0"/>
              <a:t>是已定义的字符数组名，输入的字符串应</a:t>
            </a:r>
            <a:r>
              <a:rPr lang="zh-CN" altLang="zh-CN" dirty="0">
                <a:solidFill>
                  <a:srgbClr val="C00000"/>
                </a:solidFill>
              </a:rPr>
              <a:t>短于</a:t>
            </a:r>
            <a:r>
              <a:rPr lang="zh-CN" altLang="zh-CN" dirty="0"/>
              <a:t>已定义的字符数组的长度</a:t>
            </a:r>
            <a:endParaRPr lang="en-US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字符数组的输入输出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4035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4036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3"/>
          <p:cNvSpPr>
            <a:spLocks noGrp="1"/>
          </p:cNvSpPr>
          <p:nvPr>
            <p:ph idx="1" hasCustomPrompt="1"/>
          </p:nvPr>
        </p:nvSpPr>
        <p:spPr>
          <a:xfrm>
            <a:off x="1946672" y="1393031"/>
            <a:ext cx="5464969" cy="2089547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char c[6];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scanf(”%s”,c);   </a:t>
            </a:r>
            <a:r>
              <a:rPr lang="en-US" altLang="zh-CN" u="sng" dirty="0"/>
              <a:t>China</a:t>
            </a:r>
            <a:r>
              <a:rPr lang="zh-CN" altLang="zh-CN" u="sng" dirty="0"/>
              <a:t>↙</a:t>
            </a:r>
            <a:endParaRPr lang="en-US" altLang="zh-CN" u="sng" dirty="0"/>
          </a:p>
          <a:p>
            <a:pPr>
              <a:buNone/>
            </a:pPr>
            <a:r>
              <a:rPr lang="zh-CN" altLang="zh-CN" dirty="0"/>
              <a:t>系统自动在</a:t>
            </a:r>
            <a:r>
              <a:rPr lang="en-US" altLang="zh-CN" dirty="0"/>
              <a:t>China</a:t>
            </a:r>
            <a:r>
              <a:rPr lang="zh-CN" altLang="zh-CN" dirty="0"/>
              <a:t>后面加一个</a:t>
            </a:r>
            <a:r>
              <a:rPr lang="en-US" altLang="zh-CN" dirty="0"/>
              <a:t>’\0’</a:t>
            </a:r>
            <a:endParaRPr lang="en-US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字符数组的输入输出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5059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5060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571625" y="1339454"/>
            <a:ext cx="6294835" cy="2089547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char str1[5],str2[5],str3[5];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scanf(”%s%s%s”,str1,str2,str3);</a:t>
            </a:r>
            <a:endParaRPr lang="en-US" altLang="zh-CN" dirty="0"/>
          </a:p>
          <a:p>
            <a:pPr algn="ctr">
              <a:buNone/>
            </a:pPr>
            <a:r>
              <a:rPr lang="en-US" altLang="zh-CN" u="sng" dirty="0"/>
              <a:t>How are you? </a:t>
            </a:r>
            <a:r>
              <a:rPr lang="zh-CN" altLang="zh-CN" u="sng" dirty="0"/>
              <a:t>↙</a:t>
            </a:r>
            <a:endParaRPr lang="en-US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字符数组的输入输出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6083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6084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725341" y="2928938"/>
          <a:ext cx="307149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035"/>
                <a:gridCol w="642620"/>
                <a:gridCol w="589280"/>
                <a:gridCol w="58928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w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975247" y="2928938"/>
            <a:ext cx="696515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str1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725341" y="3518297"/>
          <a:ext cx="307149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035"/>
                <a:gridCol w="642620"/>
                <a:gridCol w="589280"/>
                <a:gridCol w="58928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e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975247" y="3518297"/>
            <a:ext cx="696515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str2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2746772" y="4107656"/>
          <a:ext cx="307149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035"/>
                <a:gridCol w="642620"/>
                <a:gridCol w="589280"/>
                <a:gridCol w="58928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y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u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?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996678" y="4107656"/>
            <a:ext cx="696515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str3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2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62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3"/>
          <p:cNvSpPr>
            <a:spLocks noGrp="1"/>
          </p:cNvSpPr>
          <p:nvPr>
            <p:ph idx="1" hasCustomPrompt="1"/>
          </p:nvPr>
        </p:nvSpPr>
        <p:spPr>
          <a:xfrm>
            <a:off x="1304925" y="1057275"/>
            <a:ext cx="6587729" cy="463154"/>
          </a:xfrm>
        </p:spPr>
        <p:txBody>
          <a:bodyPr vert="horz" wrap="square" lIns="68580" tIns="34290" rIns="68580" bIns="34290" anchor="t" anchorCtr="0"/>
          <a:p>
            <a:r>
              <a:rPr lang="zh-CN" altLang="zh-CN" sz="2100" dirty="0"/>
              <a:t>在</a:t>
            </a:r>
            <a:r>
              <a:rPr lang="en-US" altLang="zh-CN" sz="2100" dirty="0"/>
              <a:t>C</a:t>
            </a:r>
            <a:r>
              <a:rPr lang="zh-CN" altLang="zh-CN" sz="2100" dirty="0"/>
              <a:t>函数库中提供了一些用来专门处理字符串的函数</a:t>
            </a:r>
            <a:endParaRPr lang="en-US" altLang="zh-CN" sz="2100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字符串处理函数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7107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7108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518047" y="1847850"/>
            <a:ext cx="6107906" cy="1375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1.puts</a:t>
            </a:r>
            <a:r>
              <a:rPr kumimoji="0" lang="zh-CN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----</a:t>
            </a:r>
            <a:r>
              <a:rPr kumimoji="0" lang="zh-CN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输出字符串的函数</a:t>
            </a:r>
            <a:endParaRPr kumimoji="0" lang="en-US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 </a:t>
            </a:r>
            <a:r>
              <a:rPr kumimoji="0" lang="en-US" altLang="zh-CN" sz="225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[20]=”China”;</a:t>
            </a:r>
            <a:endParaRPr kumimoji="0" lang="zh-CN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puts(</a:t>
            </a:r>
            <a:r>
              <a:rPr kumimoji="0" lang="en-US" altLang="zh-CN" sz="225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  </a:t>
            </a:r>
            <a:endParaRPr kumimoji="0" lang="zh-CN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518047" y="3057525"/>
            <a:ext cx="6107906" cy="1806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gets</a:t>
            </a:r>
            <a:r>
              <a:rPr kumimoji="0" lang="zh-CN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----</a:t>
            </a:r>
            <a:r>
              <a:rPr kumimoji="0" lang="zh-CN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输入字符串的函数</a:t>
            </a:r>
            <a:endParaRPr kumimoji="0" lang="en-US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char </a:t>
            </a:r>
            <a:r>
              <a:rPr kumimoji="0" lang="en-US" altLang="zh-CN" sz="225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[20];</a:t>
            </a:r>
            <a:endParaRPr kumimoji="0" lang="zh-CN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gets(</a:t>
            </a:r>
            <a:r>
              <a:rPr kumimoji="0" lang="en-US" altLang="zh-CN" sz="225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);  </a:t>
            </a:r>
            <a:endParaRPr kumimoji="0" lang="zh-CN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25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Computer</a:t>
            </a:r>
            <a:r>
              <a:rPr kumimoji="0" lang="zh-CN" altLang="zh-CN" sz="225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↙</a:t>
            </a:r>
            <a:endParaRPr kumimoji="0" lang="en-US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TextBox 5"/>
          <p:cNvSpPr txBox="1"/>
          <p:nvPr/>
        </p:nvSpPr>
        <p:spPr>
          <a:xfrm>
            <a:off x="1464469" y="1428750"/>
            <a:ext cx="6536531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使用字符串函数时,</a:t>
            </a:r>
            <a:r>
              <a:rPr lang="zh-CN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在程序开头用</a:t>
            </a: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#include &lt;string.h&gt;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charRg st="21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4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charRg st="43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charRg st="22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charRg st="36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49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charRg st="49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字符串处理函数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8130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8131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8132" name="Rectangle 3"/>
          <p:cNvSpPr txBox="1"/>
          <p:nvPr/>
        </p:nvSpPr>
        <p:spPr>
          <a:xfrm>
            <a:off x="1494235" y="1113235"/>
            <a:ext cx="6107906" cy="305395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3. strcat</a:t>
            </a:r>
            <a:r>
              <a:rPr lang="zh-CN" altLang="zh-CN" sz="2250" dirty="0">
                <a:latin typeface="Arial" panose="020B0604020202090204" pitchFamily="34" charset="0"/>
              </a:rPr>
              <a:t>函数</a:t>
            </a:r>
            <a:r>
              <a:rPr lang="en-US" altLang="zh-CN" sz="2250" dirty="0">
                <a:latin typeface="Arial" panose="020B0604020202090204" pitchFamily="34" charset="0"/>
              </a:rPr>
              <a:t>----</a:t>
            </a:r>
            <a:r>
              <a:rPr lang="zh-CN" altLang="zh-CN" sz="2250" dirty="0">
                <a:latin typeface="Arial" panose="020B0604020202090204" pitchFamily="34" charset="0"/>
              </a:rPr>
              <a:t>字符串连接函数</a:t>
            </a:r>
            <a:endParaRPr lang="en-US" altLang="zh-CN" sz="2250" dirty="0">
              <a:latin typeface="Arial" panose="020B0604020202090204" pitchFamily="34" charset="0"/>
            </a:endParaRPr>
          </a:p>
        </p:txBody>
      </p:sp>
      <p:sp>
        <p:nvSpPr>
          <p:cNvPr id="48133" name="Rectangle 3"/>
          <p:cNvSpPr txBox="1"/>
          <p:nvPr/>
        </p:nvSpPr>
        <p:spPr>
          <a:xfrm>
            <a:off x="1795463" y="1454944"/>
            <a:ext cx="6107906" cy="273248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char str1[30]=”People”;</a:t>
            </a:r>
            <a:endParaRPr lang="zh-CN" altLang="zh-CN" sz="2250" dirty="0">
              <a:latin typeface="Arial" panose="020B0604020202090204" pitchFamily="34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char str2[]=”China”;</a:t>
            </a:r>
            <a:endParaRPr lang="zh-CN" altLang="zh-CN" sz="2250" dirty="0">
              <a:latin typeface="Arial" panose="020B0604020202090204" pitchFamily="34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printf(”%s”, strcat(str1,str2));  </a:t>
            </a:r>
            <a:endParaRPr lang="zh-CN" altLang="zh-CN" sz="2250" dirty="0">
              <a:latin typeface="Arial" panose="020B0604020202090204" pitchFamily="34" charset="0"/>
            </a:endParaRPr>
          </a:p>
        </p:txBody>
      </p:sp>
      <p:sp>
        <p:nvSpPr>
          <p:cNvPr id="11" name="流程图: 过程 10"/>
          <p:cNvSpPr/>
          <p:nvPr/>
        </p:nvSpPr>
        <p:spPr>
          <a:xfrm>
            <a:off x="2928938" y="1454944"/>
            <a:ext cx="540544" cy="457200"/>
          </a:xfrm>
          <a:prstGeom prst="flowChartProcess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2" name="TextBox 6"/>
          <p:cNvSpPr txBox="1"/>
          <p:nvPr/>
        </p:nvSpPr>
        <p:spPr>
          <a:xfrm>
            <a:off x="5592366" y="1519238"/>
            <a:ext cx="1446609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zh-CN" altLang="en-US" sz="2100" b="1" dirty="0">
                <a:solidFill>
                  <a:srgbClr val="0000CC"/>
                </a:solidFill>
                <a:latin typeface="Arial" panose="020B0604020202090204" pitchFamily="34" charset="0"/>
              </a:rPr>
              <a:t>要足够大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3" name="Rectangle 3"/>
          <p:cNvSpPr txBox="1"/>
          <p:nvPr/>
        </p:nvSpPr>
        <p:spPr>
          <a:xfrm>
            <a:off x="1494235" y="2780110"/>
            <a:ext cx="6107906" cy="1231106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4. strcpy</a:t>
            </a:r>
            <a:r>
              <a:rPr lang="zh-CN" altLang="zh-CN" sz="2250" dirty="0">
                <a:latin typeface="Arial" panose="020B0604020202090204" pitchFamily="34" charset="0"/>
              </a:rPr>
              <a:t>和</a:t>
            </a:r>
            <a:r>
              <a:rPr lang="en-US" altLang="zh-CN" sz="2250" dirty="0">
                <a:latin typeface="Arial" panose="020B0604020202090204" pitchFamily="34" charset="0"/>
              </a:rPr>
              <a:t>strncpy</a:t>
            </a:r>
            <a:r>
              <a:rPr lang="zh-CN" altLang="zh-CN" sz="2250" dirty="0">
                <a:latin typeface="Arial" panose="020B0604020202090204" pitchFamily="34" charset="0"/>
              </a:rPr>
              <a:t>函数</a:t>
            </a:r>
            <a:r>
              <a:rPr lang="en-US" altLang="zh-CN" sz="2250" dirty="0">
                <a:latin typeface="Arial" panose="020B0604020202090204" pitchFamily="34" charset="0"/>
              </a:rPr>
              <a:t>-</a:t>
            </a:r>
            <a:r>
              <a:rPr lang="zh-CN" altLang="zh-CN" sz="2250" dirty="0">
                <a:latin typeface="Arial" panose="020B0604020202090204" pitchFamily="34" charset="0"/>
              </a:rPr>
              <a:t>字符串复制</a:t>
            </a:r>
            <a:endParaRPr lang="en-US" altLang="zh-CN" sz="2250" dirty="0">
              <a:latin typeface="Arial" panose="020B0604020202090204" pitchFamily="34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char str1[10],str2[]=”China”;</a:t>
            </a:r>
            <a:endParaRPr lang="zh-CN" altLang="zh-CN" sz="2250" dirty="0">
              <a:latin typeface="Arial" panose="020B0604020202090204" pitchFamily="34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strcpy(str1,str2);</a:t>
            </a:r>
            <a:endParaRPr lang="zh-CN" altLang="zh-CN" sz="2250" dirty="0">
              <a:latin typeface="Arial" panose="020B0604020202090204" pitchFamily="34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zh-CN" altLang="zh-CN" sz="2250" dirty="0">
              <a:latin typeface="Arial" panose="020B0604020202090204" pitchFamily="34" charset="0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199085" y="3558778"/>
          <a:ext cx="5410835" cy="389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360"/>
                <a:gridCol w="468630"/>
                <a:gridCol w="467360"/>
                <a:gridCol w="467995"/>
                <a:gridCol w="467360"/>
                <a:gridCol w="661035"/>
                <a:gridCol w="643255"/>
                <a:gridCol w="589280"/>
                <a:gridCol w="589280"/>
                <a:gridCol w="589280"/>
              </a:tblGrid>
              <a:tr h="3892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66" marB="342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66" marB="342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err="1" smtClean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66" marB="342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66" marB="342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 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266" marB="342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66" marB="342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66" marB="342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66" marB="342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66" marB="342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266" marB="34266"/>
                </a:tc>
              </a:tr>
            </a:tbl>
          </a:graphicData>
        </a:graphic>
      </p:graphicFrame>
      <p:sp>
        <p:nvSpPr>
          <p:cNvPr id="15" name="TextBox 9"/>
          <p:cNvSpPr txBox="1"/>
          <p:nvPr/>
        </p:nvSpPr>
        <p:spPr>
          <a:xfrm>
            <a:off x="1502569" y="3558778"/>
            <a:ext cx="696516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str1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16" name="Rectangle 3"/>
          <p:cNvSpPr txBox="1"/>
          <p:nvPr/>
        </p:nvSpPr>
        <p:spPr>
          <a:xfrm>
            <a:off x="1502569" y="3948113"/>
            <a:ext cx="6255544" cy="863204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strncpy</a:t>
            </a:r>
            <a:r>
              <a:rPr lang="zh-CN" altLang="zh-CN" sz="2250" dirty="0">
                <a:latin typeface="Arial" panose="020B0604020202090204" pitchFamily="34" charset="0"/>
              </a:rPr>
              <a:t>函数将字符串</a:t>
            </a:r>
            <a:r>
              <a:rPr lang="en-US" altLang="zh-CN" sz="2250" dirty="0">
                <a:latin typeface="Arial" panose="020B0604020202090204" pitchFamily="34" charset="0"/>
              </a:rPr>
              <a:t>2</a:t>
            </a:r>
            <a:r>
              <a:rPr lang="zh-CN" altLang="zh-CN" sz="2250" dirty="0">
                <a:latin typeface="Arial" panose="020B0604020202090204" pitchFamily="34" charset="0"/>
              </a:rPr>
              <a:t>中前面</a:t>
            </a:r>
            <a:r>
              <a:rPr lang="en-US" altLang="zh-CN" sz="2250" dirty="0">
                <a:latin typeface="Arial" panose="020B0604020202090204" pitchFamily="34" charset="0"/>
              </a:rPr>
              <a:t>n</a:t>
            </a:r>
            <a:r>
              <a:rPr lang="zh-CN" altLang="zh-CN" sz="2250" dirty="0">
                <a:latin typeface="Arial" panose="020B0604020202090204" pitchFamily="34" charset="0"/>
              </a:rPr>
              <a:t>个字符复制到字符数组</a:t>
            </a:r>
            <a:r>
              <a:rPr lang="en-US" altLang="zh-CN" sz="2250" dirty="0">
                <a:latin typeface="Arial" panose="020B0604020202090204" pitchFamily="34" charset="0"/>
              </a:rPr>
              <a:t>1</a:t>
            </a:r>
            <a:r>
              <a:rPr lang="zh-CN" altLang="zh-CN" sz="2250" dirty="0">
                <a:latin typeface="Arial" panose="020B0604020202090204" pitchFamily="34" charset="0"/>
              </a:rPr>
              <a:t>中去</a:t>
            </a:r>
            <a:r>
              <a:rPr lang="en-US" altLang="zh-CN" sz="2250" dirty="0">
                <a:latin typeface="Arial" panose="020B0604020202090204" pitchFamily="34" charset="0"/>
              </a:rPr>
              <a:t>strncpy(str1</a:t>
            </a:r>
            <a:r>
              <a:rPr lang="zh-CN" altLang="zh-CN" sz="2250" dirty="0">
                <a:latin typeface="Arial" panose="020B0604020202090204" pitchFamily="34" charset="0"/>
              </a:rPr>
              <a:t>，</a:t>
            </a:r>
            <a:r>
              <a:rPr lang="en-US" altLang="zh-CN" sz="2250" dirty="0">
                <a:latin typeface="Arial" panose="020B0604020202090204" pitchFamily="34" charset="0"/>
              </a:rPr>
              <a:t>str2</a:t>
            </a:r>
            <a:r>
              <a:rPr lang="zh-CN" altLang="zh-CN" sz="2250" dirty="0">
                <a:latin typeface="Arial" panose="020B0604020202090204" pitchFamily="34" charset="0"/>
              </a:rPr>
              <a:t>，</a:t>
            </a:r>
            <a:r>
              <a:rPr lang="en-US" altLang="zh-CN" sz="2250" dirty="0">
                <a:latin typeface="Arial" panose="020B0604020202090204" pitchFamily="34" charset="0"/>
              </a:rPr>
              <a:t>n);</a:t>
            </a:r>
            <a:endParaRPr lang="zh-CN" altLang="zh-CN" sz="225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26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charRg st="26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charRg st="56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/>
      <p:bldP spid="15" grpId="0"/>
      <p:bldP spid="1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字符串处理函数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49154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49155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1678781" y="1178719"/>
            <a:ext cx="6107906" cy="3589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5. </a:t>
            </a:r>
            <a:r>
              <a:rPr kumimoji="0" lang="en-US" altLang="zh-CN" sz="225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strcmp</a:t>
            </a:r>
            <a:r>
              <a:rPr kumimoji="0" lang="zh-CN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----</a:t>
            </a:r>
            <a:r>
              <a:rPr kumimoji="0" lang="zh-CN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字符串比较函数</a:t>
            </a:r>
            <a:endParaRPr kumimoji="0" lang="en-US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strcmp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(str1,str2);</a:t>
            </a:r>
            <a:endParaRPr kumimoji="0" lang="zh-CN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strcmp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(”</a:t>
            </a:r>
            <a:r>
              <a:rPr kumimoji="0" lang="en-US" altLang="zh-CN" sz="225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China”,”Korea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”);</a:t>
            </a:r>
            <a:endParaRPr kumimoji="0" lang="zh-CN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25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strcmp</a:t>
            </a:r>
            <a:r>
              <a:rPr kumimoji="0" lang="en-US" altLang="zh-CN" sz="22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(str1,”Beijing”);</a:t>
            </a:r>
            <a:endParaRPr kumimoji="0" lang="en-US" altLang="zh-CN" sz="225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9157" name="Rectangle 3"/>
          <p:cNvSpPr txBox="1"/>
          <p:nvPr/>
        </p:nvSpPr>
        <p:spPr>
          <a:xfrm>
            <a:off x="1678781" y="2972991"/>
            <a:ext cx="5840016" cy="1326356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6. strlen</a:t>
            </a:r>
            <a:r>
              <a:rPr lang="zh-CN" altLang="zh-CN" sz="2250" dirty="0">
                <a:latin typeface="Arial" panose="020B0604020202090204" pitchFamily="34" charset="0"/>
              </a:rPr>
              <a:t>函数</a:t>
            </a:r>
            <a:r>
              <a:rPr lang="en-US" altLang="zh-CN" sz="2250" dirty="0">
                <a:latin typeface="Arial" panose="020B0604020202090204" pitchFamily="34" charset="0"/>
              </a:rPr>
              <a:t>----</a:t>
            </a:r>
            <a:r>
              <a:rPr lang="zh-CN" altLang="zh-CN" sz="2250" dirty="0">
                <a:latin typeface="Arial" panose="020B0604020202090204" pitchFamily="34" charset="0"/>
              </a:rPr>
              <a:t>测字符串长度的函数</a:t>
            </a:r>
            <a:endParaRPr lang="en-US" altLang="zh-CN" sz="2250" dirty="0">
              <a:latin typeface="Arial" panose="020B0604020202090204" pitchFamily="34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char str[10]=”China”;</a:t>
            </a:r>
            <a:endParaRPr lang="zh-CN" altLang="zh-CN" sz="2250" dirty="0">
              <a:latin typeface="Arial" panose="020B0604020202090204" pitchFamily="34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printf(”%d”,strlen(str));</a:t>
            </a:r>
            <a:endParaRPr lang="en-US" altLang="zh-CN" sz="2250" dirty="0">
              <a:latin typeface="Arial" panose="020B0604020202090204" pitchFamily="34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zh-CN" sz="2250" dirty="0">
                <a:latin typeface="Arial" panose="020B0604020202090204" pitchFamily="34" charset="0"/>
              </a:rPr>
              <a:t>strlen(”China”);</a:t>
            </a:r>
            <a:endParaRPr lang="zh-CN" altLang="zh-CN" sz="2250" dirty="0">
              <a:latin typeface="Arial" panose="020B0604020202090204" pitchFamily="34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accent1"/>
              </a:buClr>
              <a:buSzPct val="65000"/>
            </a:pPr>
            <a:endParaRPr lang="en-US" altLang="zh-CN" sz="2250" dirty="0">
              <a:latin typeface="Arial" panose="020B060402020209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65445" y="3393440"/>
            <a:ext cx="3469880" cy="144000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charRg st="23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charRg st="67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charRg st="67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字符串处理函数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0178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0179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678781" y="1178719"/>
            <a:ext cx="5840016" cy="332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7. </a:t>
            </a:r>
            <a:r>
              <a:rPr kumimoji="0" lang="en-US" altLang="zh-CN" sz="21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strlwr</a:t>
            </a:r>
            <a:r>
              <a:rPr kumimoji="0" lang="zh-CN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----</a:t>
            </a:r>
            <a:r>
              <a:rPr kumimoji="0" lang="zh-CN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转换为小写的函数</a:t>
            </a:r>
            <a:endParaRPr kumimoji="0" lang="en-US" altLang="zh-CN" sz="2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strlwr</a:t>
            </a: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zh-CN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字符串</a:t>
            </a: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678781" y="2031206"/>
            <a:ext cx="5840016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8. </a:t>
            </a:r>
            <a:r>
              <a:rPr kumimoji="0" lang="en-US" altLang="zh-CN" sz="21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strupr</a:t>
            </a:r>
            <a:r>
              <a:rPr kumimoji="0" lang="zh-CN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----</a:t>
            </a:r>
            <a:r>
              <a:rPr kumimoji="0" lang="zh-CN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转换为大写的函数</a:t>
            </a:r>
            <a:endParaRPr kumimoji="0" lang="en-US" altLang="zh-CN" sz="2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strupr</a:t>
            </a: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(</a:t>
            </a:r>
            <a:r>
              <a:rPr kumimoji="0" lang="zh-CN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字符串</a:t>
            </a: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2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9. strstr</a:t>
            </a:r>
            <a:r>
              <a:rPr kumimoji="0" lang="zh-CN" altLang="en-US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</a:t>
            </a: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----返回在 str1中第一次出现 str2字符串的位置，如果未找到则返回 null</a:t>
            </a:r>
            <a:endParaRPr kumimoji="0" lang="en-US" altLang="zh-CN" sz="2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kumimoji="0" lang="en-US" altLang="zh-CN" sz="21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strstr(str1, str2)</a:t>
            </a:r>
            <a:endParaRPr kumimoji="0" lang="en-US" altLang="zh-CN" sz="21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4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charRg st="24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24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charRg st="24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37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charRg st="37" end="9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9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charRg st="92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178719"/>
            <a:ext cx="5840016" cy="3589735"/>
          </a:xfrm>
        </p:spPr>
        <p:txBody>
          <a:bodyPr vert="horz" wrap="square" lIns="68580" tIns="34290" rIns="68580" bIns="34290" anchor="t" anchorCtr="0"/>
          <a:p>
            <a:pPr marL="514350" indent="-514350">
              <a:buNone/>
            </a:pPr>
            <a:r>
              <a:rPr lang="en-US" altLang="zh-CN" dirty="0"/>
              <a:t>   </a:t>
            </a:r>
            <a:r>
              <a:rPr lang="zh-CN" altLang="zh-CN" dirty="0"/>
              <a:t>例</a:t>
            </a:r>
            <a:r>
              <a:rPr lang="en-US" altLang="zh-CN" dirty="0"/>
              <a:t> </a:t>
            </a:r>
            <a:r>
              <a:rPr lang="zh-CN" altLang="zh-CN" dirty="0"/>
              <a:t>输入一行字符，统计其中有多少个单词，单词之间用空格分隔开。</a:t>
            </a:r>
            <a:endParaRPr lang="en-US" altLang="zh-CN" dirty="0"/>
          </a:p>
          <a:p>
            <a:pPr marL="514350" indent="-514350"/>
            <a:r>
              <a:rPr lang="zh-CN" altLang="zh-CN" dirty="0"/>
              <a:t>解题思路：问题的关键是怎样确定“出现一个新单词了”</a:t>
            </a:r>
            <a:endParaRPr lang="en-US" altLang="zh-CN" dirty="0"/>
          </a:p>
          <a:p>
            <a:pPr marL="914400" lvl="1" indent="-514350"/>
            <a:r>
              <a:rPr lang="zh-CN" altLang="zh-CN" dirty="0"/>
              <a:t>从第</a:t>
            </a:r>
            <a:r>
              <a:rPr lang="en-US" altLang="zh-CN" dirty="0"/>
              <a:t>1</a:t>
            </a:r>
            <a:r>
              <a:rPr lang="zh-CN" altLang="zh-CN" dirty="0"/>
              <a:t>个字符开始逐个字符进行检查，判断此字符是否是新单词的开头，如果是，就使变量</a:t>
            </a:r>
            <a:r>
              <a:rPr lang="en-US" altLang="zh-CN" dirty="0"/>
              <a:t>num</a:t>
            </a:r>
            <a:r>
              <a:rPr lang="zh-CN" altLang="zh-CN" dirty="0"/>
              <a:t>的值加</a:t>
            </a:r>
            <a:r>
              <a:rPr lang="en-US" altLang="zh-CN" dirty="0"/>
              <a:t>1</a:t>
            </a:r>
            <a:r>
              <a:rPr lang="zh-CN" altLang="zh-CN" dirty="0"/>
              <a:t>，最后得到的</a:t>
            </a:r>
            <a:r>
              <a:rPr lang="en-US" altLang="zh-CN" dirty="0"/>
              <a:t>num</a:t>
            </a:r>
            <a:r>
              <a:rPr lang="zh-CN" altLang="zh-CN" dirty="0"/>
              <a:t>的值就是单词总数</a:t>
            </a:r>
            <a:endParaRPr lang="zh-CN" altLang="zh-CN" dirty="0"/>
          </a:p>
          <a:p>
            <a:pPr marL="514350" indent="-514350">
              <a:buNone/>
            </a:pPr>
            <a:endParaRPr lang="zh-CN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字符数组应用举例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1203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1204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38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38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4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charRg st="64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178719"/>
            <a:ext cx="5840016" cy="3589735"/>
          </a:xfrm>
        </p:spPr>
        <p:txBody>
          <a:bodyPr vert="horz" wrap="square" lIns="68580" tIns="34290" rIns="68580" bIns="34290" anchor="t" anchorCtr="0"/>
          <a:p>
            <a:pPr lvl="1" indent="-325120"/>
            <a:r>
              <a:rPr lang="zh-CN" altLang="zh-CN" dirty="0"/>
              <a:t>判断是否出现新单词，可以由是否有空格出现来决定</a:t>
            </a:r>
            <a:r>
              <a:rPr lang="en-US" altLang="zh-CN" dirty="0"/>
              <a:t>(</a:t>
            </a:r>
            <a:r>
              <a:rPr lang="zh-CN" altLang="zh-CN" dirty="0"/>
              <a:t>连续的若干个空格作为出现一次空格；一行开头的空格不统计在内</a:t>
            </a:r>
            <a:r>
              <a:rPr lang="en-US" altLang="zh-CN" dirty="0"/>
              <a:t>)</a:t>
            </a:r>
            <a:endParaRPr lang="en-US" altLang="zh-CN" dirty="0"/>
          </a:p>
          <a:p>
            <a:pPr lvl="1" indent="-325120"/>
            <a:r>
              <a:rPr lang="zh-CN" altLang="zh-CN" dirty="0"/>
              <a:t>如果测出某一个字符为非空格，而它的前面的字符是空格，则表示“新的单词开始了”，此时使</a:t>
            </a:r>
            <a:r>
              <a:rPr lang="en-US" altLang="zh-CN" dirty="0"/>
              <a:t>num</a:t>
            </a:r>
            <a:r>
              <a:rPr lang="zh-CN" altLang="zh-CN" dirty="0"/>
              <a:t>累加</a:t>
            </a:r>
            <a:r>
              <a:rPr lang="en-US" altLang="zh-CN" dirty="0"/>
              <a:t>1</a:t>
            </a:r>
            <a:endParaRPr lang="en-US" altLang="zh-CN" dirty="0"/>
          </a:p>
          <a:p>
            <a:pPr lvl="1" indent="-325120"/>
            <a:r>
              <a:rPr lang="zh-CN" altLang="zh-CN" dirty="0"/>
              <a:t>如果当前字符为非空格而其前面的字符也是非空格，则</a:t>
            </a:r>
            <a:r>
              <a:rPr lang="en-US" altLang="zh-CN" dirty="0"/>
              <a:t>num</a:t>
            </a:r>
            <a:r>
              <a:rPr lang="zh-CN" altLang="zh-CN" dirty="0"/>
              <a:t>不应再累加</a:t>
            </a:r>
            <a:r>
              <a:rPr lang="en-US" altLang="zh-CN" dirty="0"/>
              <a:t>1</a:t>
            </a:r>
            <a:endParaRPr lang="en-US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字符数组应用举例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2227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2228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charRg st="55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8">
                                            <p:txEl>
                                              <p:charRg st="55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charRg st="104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8">
                                            <p:txEl>
                                              <p:charRg st="104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3"/>
          <p:cNvSpPr>
            <a:spLocks noGrp="1"/>
          </p:cNvSpPr>
          <p:nvPr>
            <p:ph idx="1" hasCustomPrompt="1"/>
          </p:nvPr>
        </p:nvSpPr>
        <p:spPr>
          <a:xfrm>
            <a:off x="1678781" y="1178719"/>
            <a:ext cx="5840016" cy="3589735"/>
          </a:xfrm>
        </p:spPr>
        <p:txBody>
          <a:bodyPr vert="horz" wrap="square" lIns="68580" tIns="34290" rIns="68580" bIns="34290" anchor="t" anchorCtr="0"/>
          <a:p>
            <a:pPr lvl="1" indent="-325120"/>
            <a:r>
              <a:rPr lang="zh-CN" altLang="zh-CN" dirty="0"/>
              <a:t>用变量</a:t>
            </a:r>
            <a:r>
              <a:rPr lang="en-US" altLang="zh-CN" dirty="0"/>
              <a:t>word</a:t>
            </a:r>
            <a:r>
              <a:rPr lang="zh-CN" altLang="zh-CN" dirty="0"/>
              <a:t>作为判别当前是否开始了一个新单词的标志，若</a:t>
            </a:r>
            <a:r>
              <a:rPr lang="en-US" altLang="zh-CN" dirty="0"/>
              <a:t>word=0</a:t>
            </a:r>
            <a:r>
              <a:rPr lang="zh-CN" altLang="zh-CN" dirty="0"/>
              <a:t>表示未出现新单词，如出现了新单词，就把</a:t>
            </a:r>
            <a:r>
              <a:rPr lang="en-US" altLang="zh-CN" dirty="0"/>
              <a:t>word</a:t>
            </a:r>
            <a:r>
              <a:rPr lang="zh-CN" altLang="zh-CN" dirty="0"/>
              <a:t>置成</a:t>
            </a:r>
            <a:r>
              <a:rPr lang="en-US" altLang="zh-CN" dirty="0"/>
              <a:t>1</a:t>
            </a:r>
            <a:endParaRPr lang="en-US" altLang="zh-CN" dirty="0"/>
          </a:p>
          <a:p>
            <a:pPr lvl="1" indent="-325120"/>
            <a:r>
              <a:rPr lang="zh-CN" altLang="zh-CN" dirty="0"/>
              <a:t>前面一个字符是否空格可以从</a:t>
            </a:r>
            <a:r>
              <a:rPr lang="en-US" altLang="zh-CN" dirty="0"/>
              <a:t>word</a:t>
            </a:r>
            <a:r>
              <a:rPr lang="zh-CN" altLang="zh-CN" dirty="0"/>
              <a:t>的值看出来，若</a:t>
            </a:r>
            <a:r>
              <a:rPr lang="en-US" altLang="zh-CN" dirty="0"/>
              <a:t>word</a:t>
            </a:r>
            <a:r>
              <a:rPr lang="zh-CN" altLang="zh-CN" dirty="0"/>
              <a:t>等于</a:t>
            </a:r>
            <a:r>
              <a:rPr lang="en-US" altLang="zh-CN" dirty="0"/>
              <a:t>0</a:t>
            </a:r>
            <a:r>
              <a:rPr lang="zh-CN" altLang="zh-CN" dirty="0"/>
              <a:t>，则表示前一个字符是空格；如果</a:t>
            </a:r>
            <a:r>
              <a:rPr lang="en-US" altLang="zh-CN" dirty="0"/>
              <a:t>word</a:t>
            </a:r>
            <a:r>
              <a:rPr lang="zh-CN" altLang="zh-CN" dirty="0"/>
              <a:t>等于</a:t>
            </a:r>
            <a:r>
              <a:rPr lang="en-US" altLang="zh-CN" dirty="0"/>
              <a:t>1</a:t>
            </a:r>
            <a:r>
              <a:rPr lang="zh-CN" altLang="zh-CN" dirty="0"/>
              <a:t>，意味着前一个字符为非空格</a:t>
            </a:r>
            <a:endParaRPr lang="zh-CN" altLang="zh-CN" dirty="0"/>
          </a:p>
          <a:p>
            <a:pPr marL="514350" indent="-514350">
              <a:buNone/>
            </a:pPr>
            <a:endParaRPr lang="zh-CN" altLang="zh-C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7313" y="471488"/>
            <a:ext cx="6482954" cy="577454"/>
          </a:xfrm>
        </p:spPr>
        <p:txBody>
          <a:bodyPr vert="horz" wrap="square" lIns="68580" tIns="34290" rIns="68580" bIns="3429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315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90204" pitchFamily="34" charset="0"/>
                <a:ea typeface="黑体" panose="02010609060101010101" pitchFamily="49" charset="-122"/>
                <a:cs typeface="+mj-cs"/>
              </a:rPr>
              <a:t>字符数组应用举例</a:t>
            </a:r>
            <a:endParaRPr kumimoji="0" lang="zh-CN" altLang="en-US" sz="3150" b="0" i="0" u="none" strike="noStrike" kern="1200" cap="none" spc="0" normalizeH="0" baseline="0" noProof="0" dirty="0" smtClean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90204" pitchFamily="34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3251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3252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charRg st="61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2">
                                            <p:txEl>
                                              <p:charRg st="61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4274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rot="-5400000" flipH="1">
            <a:off x="2643188" y="3964781"/>
            <a:ext cx="321469" cy="0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1" name="直接箭头连接符 20"/>
          <p:cNvCxnSpPr/>
          <p:nvPr/>
        </p:nvCxnSpPr>
        <p:spPr>
          <a:xfrm>
            <a:off x="3768329" y="2464594"/>
            <a:ext cx="1232297" cy="1191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5" name="直接箭头连接符 24"/>
          <p:cNvCxnSpPr/>
          <p:nvPr/>
        </p:nvCxnSpPr>
        <p:spPr>
          <a:xfrm rot="10800000">
            <a:off x="2803922" y="3911204"/>
            <a:ext cx="2196703" cy="1190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3821906" y="1178719"/>
            <a:ext cx="375047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Y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rot="5400000">
            <a:off x="2599135" y="1115616"/>
            <a:ext cx="409575" cy="0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32" name="流程图: 决策 31"/>
          <p:cNvSpPr/>
          <p:nvPr/>
        </p:nvSpPr>
        <p:spPr>
          <a:xfrm>
            <a:off x="1785938" y="1285875"/>
            <a:ext cx="2035969" cy="535781"/>
          </a:xfrm>
          <a:prstGeom prst="flowChartDecision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t" anchorCtr="0"/>
          <a:p>
            <a:pPr algn="ctr"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c</a:t>
            </a:r>
            <a:r>
              <a:rPr lang="en-US" altLang="zh-CN" sz="2100" dirty="0">
                <a:latin typeface="Arial" panose="020B0604020202090204" pitchFamily="34" charset="0"/>
              </a:rPr>
              <a:t>=</a:t>
            </a:r>
            <a:r>
              <a:rPr lang="zh-CN" altLang="en-US" sz="2100" dirty="0">
                <a:latin typeface="Arial" panose="020B0604020202090204" pitchFamily="34" charset="0"/>
              </a:rPr>
              <a:t>空格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3821906" y="1553766"/>
            <a:ext cx="1178719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6" name="直接箭头连接符 35"/>
          <p:cNvCxnSpPr/>
          <p:nvPr/>
        </p:nvCxnSpPr>
        <p:spPr>
          <a:xfrm rot="5400000">
            <a:off x="4833938" y="1707356"/>
            <a:ext cx="321469" cy="1191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38" name="直接箭头连接符 37"/>
          <p:cNvCxnSpPr/>
          <p:nvPr/>
        </p:nvCxnSpPr>
        <p:spPr>
          <a:xfrm rot="5400000">
            <a:off x="2615804" y="2008585"/>
            <a:ext cx="375047" cy="1190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40" name="流程图: 过程 39"/>
          <p:cNvSpPr/>
          <p:nvPr/>
        </p:nvSpPr>
        <p:spPr>
          <a:xfrm>
            <a:off x="4357688" y="1875235"/>
            <a:ext cx="1285875" cy="375047"/>
          </a:xfrm>
          <a:prstGeom prst="flowChartProcess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t" anchorCtr="0"/>
          <a:p>
            <a:pPr algn="ctr"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word=0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857500" y="1768079"/>
            <a:ext cx="375047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N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sp>
        <p:nvSpPr>
          <p:cNvPr id="42" name="流程图: 决策 41"/>
          <p:cNvSpPr/>
          <p:nvPr/>
        </p:nvSpPr>
        <p:spPr>
          <a:xfrm>
            <a:off x="1785938" y="2196704"/>
            <a:ext cx="2035969" cy="535781"/>
          </a:xfrm>
          <a:prstGeom prst="flowChartDecision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t" anchorCtr="0"/>
          <a:p>
            <a:pPr algn="ctr"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word=0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rot="5400000">
            <a:off x="2616994" y="2919413"/>
            <a:ext cx="375047" cy="1191"/>
          </a:xfrm>
          <a:prstGeom prst="straightConnector1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44" name="TextBox 43"/>
          <p:cNvSpPr txBox="1"/>
          <p:nvPr/>
        </p:nvSpPr>
        <p:spPr>
          <a:xfrm>
            <a:off x="2857500" y="2678906"/>
            <a:ext cx="375047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Y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sp>
        <p:nvSpPr>
          <p:cNvPr id="45" name="流程图: 过程 44"/>
          <p:cNvSpPr/>
          <p:nvPr/>
        </p:nvSpPr>
        <p:spPr>
          <a:xfrm>
            <a:off x="2160985" y="3107531"/>
            <a:ext cx="1285875" cy="696516"/>
          </a:xfrm>
          <a:prstGeom prst="flowChartProcess">
            <a:avLst/>
          </a:prstGeom>
          <a:solidFill>
            <a:schemeClr val="accent1"/>
          </a:solidFill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t" anchorCtr="0"/>
          <a:p>
            <a:pPr algn="ctr"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word=1</a:t>
            </a:r>
            <a:endParaRPr lang="en-US" altLang="zh-CN" sz="2100" b="1" dirty="0">
              <a:latin typeface="Arial" panose="020B0604020202090204" pitchFamily="34" charset="0"/>
            </a:endParaRPr>
          </a:p>
          <a:p>
            <a:pPr algn="ctr"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num++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14750" y="2125266"/>
            <a:ext cx="375047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N</a:t>
            </a:r>
            <a:endParaRPr lang="zh-CN" altLang="en-US" sz="2100" b="1" dirty="0">
              <a:latin typeface="Arial" panose="020B0604020202090204" pitchFamily="34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rot="5400000" flipH="1" flipV="1">
            <a:off x="4168379" y="3080147"/>
            <a:ext cx="1662113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77" name="Rectangle 3"/>
          <p:cNvSpPr txBox="1"/>
          <p:nvPr/>
        </p:nvSpPr>
        <p:spPr>
          <a:xfrm>
            <a:off x="5482829" y="2625329"/>
            <a:ext cx="2303859" cy="2035969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anchor="t" anchorCtr="0"/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if(c==' ')</a:t>
            </a:r>
            <a:endParaRPr lang="en-US" altLang="zh-CN" sz="2100" b="1" dirty="0">
              <a:latin typeface="Arial" panose="020B0604020202090204" pitchFamily="34" charset="0"/>
            </a:endParaRPr>
          </a:p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    word=0;                    </a:t>
            </a:r>
            <a:endParaRPr lang="zh-CN" altLang="zh-CN" sz="2100" b="1" dirty="0">
              <a:latin typeface="Arial" panose="020B0604020202090204" pitchFamily="34" charset="0"/>
            </a:endParaRPr>
          </a:p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else if(word==0)</a:t>
            </a:r>
            <a:endParaRPr lang="en-US" altLang="zh-CN" sz="2100" b="1" dirty="0">
              <a:latin typeface="Arial" panose="020B0604020202090204" pitchFamily="34" charset="0"/>
            </a:endParaRPr>
          </a:p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{   word=1;                          </a:t>
            </a:r>
            <a:endParaRPr lang="zh-CN" altLang="zh-CN" sz="2100" b="1" dirty="0">
              <a:latin typeface="Arial" panose="020B0604020202090204" pitchFamily="34" charset="0"/>
            </a:endParaRPr>
          </a:p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     num++; </a:t>
            </a:r>
            <a:endParaRPr lang="zh-CN" altLang="zh-CN" sz="2100" b="1" dirty="0">
              <a:latin typeface="Arial" panose="020B0604020202090204" pitchFamily="34" charset="0"/>
            </a:endParaRPr>
          </a:p>
          <a:p>
            <a:pPr>
              <a:buSzTx/>
            </a:pPr>
            <a:r>
              <a:rPr lang="en-US" altLang="zh-CN" sz="2100" b="1" dirty="0">
                <a:latin typeface="Arial" panose="020B0604020202090204" pitchFamily="34" charset="0"/>
              </a:rPr>
              <a:t>}</a:t>
            </a:r>
            <a:endParaRPr lang="zh-CN" altLang="zh-CN" sz="2100" b="1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 bldLvl="0" animBg="1"/>
      <p:bldP spid="40" grpId="0" bldLvl="0" animBg="1"/>
      <p:bldP spid="41" grpId="0"/>
      <p:bldP spid="42" grpId="0" bldLvl="0" animBg="1"/>
      <p:bldP spid="44" grpId="0"/>
      <p:bldP spid="45" grpId="0" bldLvl="0" animBg="1"/>
      <p:bldP spid="47" grpId="0"/>
      <p:bldP spid="77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5298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303735" y="1071563"/>
          <a:ext cx="6375400" cy="2781935"/>
        </p:xfrm>
        <a:graphic>
          <a:graphicData uri="http://schemas.openxmlformats.org/drawingml/2006/table">
            <a:tbl>
              <a:tblPr/>
              <a:tblGrid>
                <a:gridCol w="1714500"/>
                <a:gridCol w="428625"/>
                <a:gridCol w="428625"/>
                <a:gridCol w="375285"/>
                <a:gridCol w="428625"/>
                <a:gridCol w="428625"/>
                <a:gridCol w="428625"/>
                <a:gridCol w="428625"/>
                <a:gridCol w="481965"/>
                <a:gridCol w="428625"/>
                <a:gridCol w="428625"/>
                <a:gridCol w="374650"/>
              </a:tblGrid>
              <a:tr h="453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当前字符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I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a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m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a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b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o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y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.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是否空格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是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是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是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word</a:t>
                      </a: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原值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0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0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0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0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9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新单词开始否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是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宋体" pitchFamily="2" charset="-122"/>
                          <a:cs typeface="Courier New" panose="02070409020205090404"/>
                        </a:rPr>
                        <a:t>是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Times New Roman" panose="02020503050405090304"/>
                          <a:ea typeface="宋体" pitchFamily="2" charset="-122"/>
                        </a:rPr>
                        <a:t>否</a:t>
                      </a:r>
                      <a:endParaRPr lang="zh-CN" sz="2100" b="1" kern="100"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latin typeface="Times New Roman" panose="02020503050405090304"/>
                          <a:ea typeface="宋体" pitchFamily="2" charset="-122"/>
                        </a:rPr>
                        <a:t>否</a:t>
                      </a:r>
                      <a:endParaRPr lang="zh-CN" sz="2100" b="1" kern="100" dirty="0"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是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否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是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Times New Roman" panose="02020503050405090304"/>
                          <a:ea typeface="宋体" pitchFamily="2" charset="-122"/>
                        </a:rPr>
                        <a:t>否</a:t>
                      </a:r>
                      <a:endParaRPr lang="zh-CN" sz="2100" b="1" kern="100"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Times New Roman" panose="02020503050405090304"/>
                          <a:ea typeface="宋体" pitchFamily="2" charset="-122"/>
                        </a:rPr>
                        <a:t>否</a:t>
                      </a:r>
                      <a:endParaRPr lang="zh-CN" sz="2100" b="1" kern="100"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100" b="1" kern="100">
                          <a:latin typeface="Times New Roman" panose="02020503050405090304"/>
                          <a:ea typeface="宋体" pitchFamily="2" charset="-122"/>
                        </a:rPr>
                        <a:t>否</a:t>
                      </a:r>
                      <a:endParaRPr lang="zh-CN" sz="2100" b="1" kern="100">
                        <a:latin typeface="Times New Roman" panose="02020503050405090304"/>
                        <a:ea typeface="宋体" pitchFamily="2" charset="-122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word</a:t>
                      </a: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新值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0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0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0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33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num</a:t>
                      </a:r>
                      <a:r>
                        <a:rPr lang="zh-CN" sz="2100" b="1" kern="100" dirty="0">
                          <a:latin typeface="宋体" pitchFamily="2" charset="-122"/>
                          <a:cs typeface="Courier New" panose="02070409020205090404"/>
                        </a:rPr>
                        <a:t>值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1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2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2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 smtClean="0">
                          <a:latin typeface="宋体" pitchFamily="2" charset="-122"/>
                          <a:cs typeface="Courier New" panose="02070409020205090404"/>
                        </a:rPr>
                        <a:t>2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3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3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4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>
                          <a:latin typeface="宋体" pitchFamily="2" charset="-122"/>
                          <a:cs typeface="Courier New" panose="02070409020205090404"/>
                        </a:rPr>
                        <a:t>4</a:t>
                      </a:r>
                      <a:endParaRPr lang="zh-CN" sz="2100" b="1" kern="10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4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100" b="1" kern="100" dirty="0">
                          <a:latin typeface="宋体" pitchFamily="2" charset="-122"/>
                          <a:cs typeface="Courier New" panose="02070409020205090404"/>
                        </a:rPr>
                        <a:t>4</a:t>
                      </a:r>
                      <a:endParaRPr lang="zh-CN" sz="2100" b="1" kern="100" dirty="0">
                        <a:latin typeface="宋体" pitchFamily="2" charset="-122"/>
                        <a:cs typeface="Courier New" panose="02070409020205090404"/>
                      </a:endParaRPr>
                    </a:p>
                  </a:txBody>
                  <a:tcPr marL="51435" marR="514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内容占位符 2"/>
          <p:cNvSpPr>
            <a:spLocks noGrp="1"/>
          </p:cNvSpPr>
          <p:nvPr>
            <p:ph idx="1" hasCustomPrompt="1"/>
          </p:nvPr>
        </p:nvSpPr>
        <p:spPr>
          <a:xfrm>
            <a:off x="1143000" y="375047"/>
            <a:ext cx="6697266" cy="4393406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>
                <a:solidFill>
                  <a:srgbClr val="FF0000"/>
                </a:solidFill>
              </a:rPr>
              <a:t>    ……</a:t>
            </a:r>
            <a:endParaRPr lang="en-US" altLang="zh-CN" sz="21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100" dirty="0"/>
              <a:t>    char string[81],c;  int i,num=0,word=0;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gets(string);                   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for (i=0;(c=string[i])!=‘\0’;i++)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if(c==‘ ’) word=0;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else if(word==0)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	{ word=1;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        num++;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	}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printf(“%d words\n”,num);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</a:t>
            </a:r>
            <a:r>
              <a:rPr lang="en-US" altLang="zh-CN" sz="2100" dirty="0">
                <a:solidFill>
                  <a:srgbClr val="FF0000"/>
                </a:solidFill>
              </a:rPr>
              <a:t>……</a:t>
            </a:r>
            <a:endParaRPr lang="zh-CN" altLang="en-US" sz="2100" dirty="0">
              <a:solidFill>
                <a:srgbClr val="FF0000"/>
              </a:solidFill>
            </a:endParaRPr>
          </a:p>
        </p:txBody>
      </p:sp>
      <p:sp>
        <p:nvSpPr>
          <p:cNvPr id="7" name="流程图: 过程 6"/>
          <p:cNvSpPr/>
          <p:nvPr/>
        </p:nvSpPr>
        <p:spPr>
          <a:xfrm>
            <a:off x="5054204" y="696516"/>
            <a:ext cx="2625328" cy="482203"/>
          </a:xfrm>
          <a:prstGeom prst="flowChartProcess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5804297" y="1500188"/>
            <a:ext cx="2196703" cy="482204"/>
          </a:xfrm>
          <a:prstGeom prst="wedgeRoundRectCallout">
            <a:avLst>
              <a:gd name="adj1" fmla="val -16301"/>
              <a:gd name="adj2" fmla="val -111931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r>
              <a:rPr lang="zh-CN" altLang="en-US" sz="2100" b="1" dirty="0">
                <a:solidFill>
                  <a:srgbClr val="FF0000"/>
                </a:solidFill>
                <a:latin typeface="Arial" panose="020B0604020202090204" pitchFamily="34" charset="0"/>
              </a:rPr>
              <a:t>一定要设初始值</a:t>
            </a:r>
            <a:endParaRPr lang="zh-CN" altLang="en-US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内容占位符 2"/>
          <p:cNvSpPr>
            <a:spLocks noGrp="1"/>
          </p:cNvSpPr>
          <p:nvPr>
            <p:ph idx="1" hasCustomPrompt="1"/>
          </p:nvPr>
        </p:nvSpPr>
        <p:spPr>
          <a:xfrm>
            <a:off x="1143000" y="375047"/>
            <a:ext cx="6697266" cy="4393406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sz="2100" dirty="0">
                <a:solidFill>
                  <a:srgbClr val="FF0000"/>
                </a:solidFill>
              </a:rPr>
              <a:t>    ……</a:t>
            </a:r>
            <a:endParaRPr lang="en-US" altLang="zh-CN" sz="21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sz="2100" dirty="0"/>
              <a:t>    char string[81],c;  int i,num=0,word=0;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gets(string);                   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for (i=0;(c=string[i])!=‘\0’;i++)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if(c==‘ ’) word=0;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else if(word==0)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	{ word=1;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        num++;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	}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printf(“%d words\n”,num);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</a:t>
            </a:r>
            <a:r>
              <a:rPr lang="en-US" altLang="zh-CN" sz="2100" dirty="0">
                <a:solidFill>
                  <a:srgbClr val="FF0000"/>
                </a:solidFill>
              </a:rPr>
              <a:t>……</a:t>
            </a:r>
            <a:endParaRPr lang="zh-CN" altLang="en-US" sz="2100" dirty="0">
              <a:solidFill>
                <a:srgbClr val="FF0000"/>
              </a:solidFill>
            </a:endParaRPr>
          </a:p>
        </p:txBody>
      </p:sp>
      <p:pic>
        <p:nvPicPr>
          <p:cNvPr id="11878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5031" y="3750469"/>
            <a:ext cx="1999060" cy="8036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流程图: 过程 4"/>
          <p:cNvSpPr/>
          <p:nvPr/>
        </p:nvSpPr>
        <p:spPr>
          <a:xfrm>
            <a:off x="2496820" y="1553210"/>
            <a:ext cx="1884045" cy="481965"/>
          </a:xfrm>
          <a:prstGeom prst="flowChartProcess">
            <a:avLst/>
          </a:prstGeom>
          <a:noFill/>
          <a:ln w="3810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6" name="圆角矩形标注 5"/>
          <p:cNvSpPr/>
          <p:nvPr/>
        </p:nvSpPr>
        <p:spPr>
          <a:xfrm>
            <a:off x="5000625" y="2357438"/>
            <a:ext cx="1821656" cy="1285875"/>
          </a:xfrm>
          <a:prstGeom prst="wedgeRoundRectCallout">
            <a:avLst>
              <a:gd name="adj1" fmla="val -82836"/>
              <a:gd name="adj2" fmla="val -75259"/>
              <a:gd name="adj3" fmla="val 16667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SzTx/>
            </a:pPr>
            <a:r>
              <a:rPr lang="zh-CN" altLang="en-US" sz="2100" b="1" dirty="0">
                <a:solidFill>
                  <a:srgbClr val="FF0000"/>
                </a:solidFill>
                <a:latin typeface="Arial" panose="020B0604020202090204" pitchFamily="34" charset="0"/>
              </a:rPr>
              <a:t>相当于</a:t>
            </a:r>
            <a:endParaRPr lang="en-US" altLang="zh-CN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  <a:p>
            <a:pPr>
              <a:buSzTx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c=string[i];</a:t>
            </a:r>
            <a:endParaRPr lang="en-US" altLang="zh-CN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  <a:p>
            <a:pPr>
              <a:buSzTx/>
            </a:pPr>
            <a:r>
              <a:rPr lang="en-US" altLang="zh-CN" sz="2100" b="1" dirty="0">
                <a:solidFill>
                  <a:srgbClr val="FF0000"/>
                </a:solidFill>
                <a:latin typeface="Arial" panose="020B0604020202090204" pitchFamily="34" charset="0"/>
              </a:rPr>
              <a:t>c!=‘\0’</a:t>
            </a:r>
            <a:endParaRPr lang="en-US" altLang="zh-CN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  <a:p>
            <a:pPr>
              <a:buSzTx/>
            </a:pPr>
            <a:endParaRPr lang="zh-CN" altLang="en-US" sz="2100" b="1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571625" y="857250"/>
            <a:ext cx="6161485" cy="3000375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zh-CN" altLang="zh-CN" dirty="0"/>
              <a:t>例</a:t>
            </a:r>
            <a:r>
              <a:rPr lang="zh-CN" altLang="en-US" dirty="0">
                <a:ea typeface="宋体" charset="0"/>
              </a:rPr>
              <a:t>、</a:t>
            </a:r>
            <a:r>
              <a:rPr lang="en-US" altLang="zh-CN" dirty="0"/>
              <a:t> </a:t>
            </a:r>
            <a:r>
              <a:rPr lang="zh-CN" altLang="zh-CN" dirty="0"/>
              <a:t>有</a:t>
            </a:r>
            <a:r>
              <a:rPr lang="en-US" altLang="zh-CN" dirty="0"/>
              <a:t>3</a:t>
            </a:r>
            <a:r>
              <a:rPr lang="zh-CN" altLang="zh-CN" dirty="0"/>
              <a:t>个字符串</a:t>
            </a:r>
            <a:r>
              <a:rPr lang="en-US" altLang="zh-CN" dirty="0"/>
              <a:t>,</a:t>
            </a:r>
            <a:r>
              <a:rPr lang="zh-CN" altLang="zh-CN" dirty="0"/>
              <a:t>要求找出其中最大者。</a:t>
            </a:r>
            <a:endParaRPr lang="en-US" altLang="zh-CN" dirty="0"/>
          </a:p>
          <a:p>
            <a:r>
              <a:rPr lang="zh-CN" altLang="zh-CN" dirty="0"/>
              <a:t>解题思路：设一个二维的字符数组</a:t>
            </a:r>
            <a:r>
              <a:rPr lang="en-US" altLang="zh-CN" dirty="0"/>
              <a:t>str,</a:t>
            </a:r>
            <a:r>
              <a:rPr lang="zh-CN" altLang="zh-CN" dirty="0"/>
              <a:t>大小为</a:t>
            </a:r>
            <a:r>
              <a:rPr lang="en-US" altLang="zh-CN" dirty="0"/>
              <a:t>3</a:t>
            </a:r>
            <a:r>
              <a:rPr lang="zh-CN" altLang="zh-CN" dirty="0"/>
              <a:t>×</a:t>
            </a:r>
            <a:r>
              <a:rPr lang="en-US" altLang="zh-CN" dirty="0"/>
              <a:t>10</a:t>
            </a:r>
            <a:r>
              <a:rPr lang="zh-CN" altLang="zh-CN" dirty="0"/>
              <a:t>。每一行存放一个字符串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char str[3][10];</a:t>
            </a:r>
            <a:endParaRPr lang="en-US" altLang="zh-CN" dirty="0"/>
          </a:p>
        </p:txBody>
      </p:sp>
      <p:sp>
        <p:nvSpPr>
          <p:cNvPr id="58370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8371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23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23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1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charRg st="61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785938" y="1768079"/>
            <a:ext cx="5464969" cy="3000375"/>
          </a:xfrm>
        </p:spPr>
        <p:txBody>
          <a:bodyPr vert="horz" wrap="square" lIns="68580" tIns="34290" rIns="68580" bIns="34290" anchor="t" anchorCtr="0"/>
          <a:p>
            <a:pPr>
              <a:buNone/>
            </a:pPr>
            <a:r>
              <a:rPr lang="en-US" altLang="zh-CN" dirty="0"/>
              <a:t>for (i=0;i&lt;3;i++)</a:t>
            </a:r>
            <a:endParaRPr lang="zh-CN" altLang="zh-CN" dirty="0"/>
          </a:p>
          <a:p>
            <a:pPr>
              <a:buNone/>
            </a:pPr>
            <a:r>
              <a:rPr lang="en-US" altLang="zh-CN" dirty="0"/>
              <a:t>     gets (str[i]);</a:t>
            </a:r>
            <a:endParaRPr lang="en-US" altLang="zh-CN" dirty="0"/>
          </a:p>
          <a:p>
            <a:pPr>
              <a:buNone/>
            </a:pPr>
            <a:endParaRPr lang="zh-CN" altLang="zh-CN" dirty="0"/>
          </a:p>
        </p:txBody>
      </p:sp>
      <p:sp>
        <p:nvSpPr>
          <p:cNvPr id="59394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59395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pic>
        <p:nvPicPr>
          <p:cNvPr id="1198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8516" y="1801416"/>
            <a:ext cx="2357438" cy="984647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268141" y="3339703"/>
          <a:ext cx="541083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360"/>
                <a:gridCol w="468630"/>
                <a:gridCol w="467360"/>
                <a:gridCol w="467995"/>
                <a:gridCol w="467360"/>
                <a:gridCol w="661035"/>
                <a:gridCol w="643255"/>
                <a:gridCol w="589280"/>
                <a:gridCol w="58928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err="1" smtClean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 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357313" y="3321844"/>
            <a:ext cx="964406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str[0]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268141" y="3721894"/>
          <a:ext cx="541083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360"/>
                <a:gridCol w="468630"/>
                <a:gridCol w="467360"/>
                <a:gridCol w="467995"/>
                <a:gridCol w="467360"/>
                <a:gridCol w="661035"/>
                <a:gridCol w="643255"/>
                <a:gridCol w="589280"/>
                <a:gridCol w="58928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J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n 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357313" y="3705225"/>
            <a:ext cx="964406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str[1]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268141" y="4106466"/>
          <a:ext cx="5410835" cy="388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360"/>
                <a:gridCol w="468630"/>
                <a:gridCol w="467360"/>
                <a:gridCol w="467995"/>
                <a:gridCol w="467360"/>
                <a:gridCol w="661035"/>
                <a:gridCol w="643255"/>
                <a:gridCol w="589280"/>
                <a:gridCol w="589280"/>
                <a:gridCol w="589280"/>
              </a:tblGrid>
              <a:tr h="3886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d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err="1" smtClean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0000CC"/>
                          </a:solidFill>
                        </a:rPr>
                        <a:t>a </a:t>
                      </a:r>
                      <a:endParaRPr lang="zh-CN" altLang="en-US" sz="2100" dirty="0">
                        <a:solidFill>
                          <a:srgbClr val="0000CC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100" dirty="0" smtClean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100" dirty="0">
                        <a:solidFill>
                          <a:srgbClr val="FF0000"/>
                        </a:solidFill>
                      </a:endParaRPr>
                    </a:p>
                  </a:txBody>
                  <a:tcPr marL="68579" marR="68579" marT="34103" marB="34103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357313" y="4089797"/>
            <a:ext cx="964406" cy="41402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SzTx/>
            </a:pPr>
            <a:r>
              <a:rPr lang="en-US" altLang="zh-CN" sz="2100" b="1" dirty="0">
                <a:solidFill>
                  <a:srgbClr val="0000CC"/>
                </a:solidFill>
                <a:latin typeface="Arial" panose="020B0604020202090204" pitchFamily="34" charset="0"/>
              </a:rPr>
              <a:t>str[2]</a:t>
            </a:r>
            <a:endParaRPr lang="zh-CN" altLang="en-US" sz="2100" b="1" dirty="0">
              <a:solidFill>
                <a:srgbClr val="0000CC"/>
              </a:solidFill>
              <a:latin typeface="Arial" panose="020B0604020202090204" pitchFamily="34" charset="0"/>
            </a:endParaRPr>
          </a:p>
        </p:txBody>
      </p:sp>
      <p:sp>
        <p:nvSpPr>
          <p:cNvPr id="59472" name="Rectangle 3"/>
          <p:cNvSpPr txBox="1"/>
          <p:nvPr/>
        </p:nvSpPr>
        <p:spPr>
          <a:xfrm>
            <a:off x="1518047" y="589360"/>
            <a:ext cx="6161484" cy="1017984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342900" indent="-342900">
              <a:lnSpc>
                <a:spcPct val="12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zh-CN" altLang="zh-CN" sz="2100" b="1" dirty="0">
                <a:latin typeface="Arial" panose="020B0604020202090204" pitchFamily="34" charset="0"/>
              </a:rPr>
              <a:t>可以把</a:t>
            </a:r>
            <a:r>
              <a:rPr lang="en-US" altLang="zh-CN" sz="2100" b="1" dirty="0" err="1">
                <a:latin typeface="Arial" panose="020B0604020202090204" pitchFamily="34" charset="0"/>
              </a:rPr>
              <a:t>str</a:t>
            </a:r>
            <a:r>
              <a:rPr lang="en-US" altLang="zh-CN" sz="2100" b="1" dirty="0">
                <a:latin typeface="Arial" panose="020B0604020202090204" pitchFamily="34" charset="0"/>
              </a:rPr>
              <a:t>[0],</a:t>
            </a:r>
            <a:r>
              <a:rPr lang="en-US" altLang="zh-CN" sz="2100" b="1" dirty="0" err="1">
                <a:latin typeface="Arial" panose="020B0604020202090204" pitchFamily="34" charset="0"/>
              </a:rPr>
              <a:t>str</a:t>
            </a:r>
            <a:r>
              <a:rPr lang="en-US" altLang="zh-CN" sz="2100" b="1" dirty="0">
                <a:latin typeface="Arial" panose="020B0604020202090204" pitchFamily="34" charset="0"/>
              </a:rPr>
              <a:t>[1],</a:t>
            </a:r>
            <a:r>
              <a:rPr lang="en-US" altLang="zh-CN" sz="2100" b="1" dirty="0" err="1">
                <a:latin typeface="Arial" panose="020B0604020202090204" pitchFamily="34" charset="0"/>
              </a:rPr>
              <a:t>str</a:t>
            </a:r>
            <a:r>
              <a:rPr lang="en-US" altLang="zh-CN" sz="2100" b="1" dirty="0">
                <a:latin typeface="Arial" panose="020B0604020202090204" pitchFamily="34" charset="0"/>
              </a:rPr>
              <a:t>[2]</a:t>
            </a:r>
            <a:r>
              <a:rPr lang="zh-CN" altLang="zh-CN" sz="2100" b="1" dirty="0">
                <a:latin typeface="Arial" panose="020B0604020202090204" pitchFamily="34" charset="0"/>
              </a:rPr>
              <a:t>看作</a:t>
            </a:r>
            <a:r>
              <a:rPr lang="en-US" altLang="zh-CN" sz="2100" b="1" dirty="0">
                <a:latin typeface="Arial" panose="020B0604020202090204" pitchFamily="34" charset="0"/>
              </a:rPr>
              <a:t>3</a:t>
            </a:r>
            <a:r>
              <a:rPr lang="zh-CN" altLang="zh-CN" sz="2100" b="1" dirty="0">
                <a:latin typeface="Arial" panose="020B0604020202090204" pitchFamily="34" charset="0"/>
              </a:rPr>
              <a:t>个一维字符数组，可以把它们如同一维数组那样进行处理</a:t>
            </a:r>
            <a:endParaRPr lang="en-US" altLang="zh-CN" sz="2100" b="1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charRg st="1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>
          <a:xfrm>
            <a:off x="1571625" y="857250"/>
            <a:ext cx="6161485" cy="3589735"/>
          </a:xfrm>
        </p:spPr>
        <p:txBody>
          <a:bodyPr vert="horz" wrap="square" lIns="68580" tIns="34290" rIns="68580" bIns="34290" anchor="t" anchorCtr="0"/>
          <a:p>
            <a:r>
              <a:rPr lang="zh-CN" altLang="zh-CN" dirty="0"/>
              <a:t>经过三次两两比较</a:t>
            </a:r>
            <a:r>
              <a:rPr lang="en-US" altLang="zh-CN" dirty="0"/>
              <a:t>,</a:t>
            </a:r>
            <a:r>
              <a:rPr lang="zh-CN" altLang="zh-CN" dirty="0"/>
              <a:t>就可得到值最大者</a:t>
            </a:r>
            <a:r>
              <a:rPr lang="en-US" altLang="zh-CN" dirty="0"/>
              <a:t>,</a:t>
            </a:r>
            <a:r>
              <a:rPr lang="zh-CN" altLang="zh-CN" dirty="0"/>
              <a:t>把它放在一维字符数组</a:t>
            </a:r>
            <a:r>
              <a:rPr lang="en-US" altLang="zh-CN" dirty="0"/>
              <a:t>string</a:t>
            </a:r>
            <a:r>
              <a:rPr lang="zh-CN" altLang="zh-CN" dirty="0"/>
              <a:t>中</a:t>
            </a:r>
            <a:endParaRPr lang="en-US" altLang="zh-CN" dirty="0"/>
          </a:p>
          <a:p>
            <a:pPr>
              <a:buNone/>
            </a:pPr>
            <a:r>
              <a:rPr lang="en-US" altLang="zh-CN" sz="2100" dirty="0"/>
              <a:t>   if (strcmp(str[0],str[1])&gt;0)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     strcpy(string,str[0]);      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else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	     strcpy(string,str[1]);  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if (strcmp(str[2],string)&gt;0)</a:t>
            </a:r>
            <a:endParaRPr lang="zh-CN" altLang="zh-CN" sz="2100" dirty="0"/>
          </a:p>
          <a:p>
            <a:pPr>
              <a:buNone/>
            </a:pPr>
            <a:r>
              <a:rPr lang="en-US" altLang="zh-CN" sz="2100" dirty="0"/>
              <a:t>        strcpy(string,str[2]);</a:t>
            </a:r>
            <a:endParaRPr lang="en-US" altLang="zh-CN" sz="2100" dirty="0"/>
          </a:p>
        </p:txBody>
      </p:sp>
      <p:sp>
        <p:nvSpPr>
          <p:cNvPr id="60418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60419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36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36" end="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68" end="1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charRg st="68" end="1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05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charRg st="105" end="1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13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charRg st="113" end="1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44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charRg st="144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176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charRg st="176" end="2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3"/>
          <p:cNvSpPr>
            <a:spLocks noGrp="1"/>
          </p:cNvSpPr>
          <p:nvPr>
            <p:ph idx="1" hasCustomPrompt="1"/>
          </p:nvPr>
        </p:nvSpPr>
        <p:spPr>
          <a:xfrm>
            <a:off x="1464469" y="214313"/>
            <a:ext cx="6322219" cy="4768454"/>
          </a:xfrm>
        </p:spPr>
        <p:txBody>
          <a:bodyPr vert="horz" wrap="square" lIns="68580" tIns="34290" rIns="68580" bIns="34290" anchor="t" anchorCtr="0"/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#include&lt;stdio.h&gt;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>
                <a:solidFill>
                  <a:srgbClr val="9D138D"/>
                </a:solidFill>
              </a:rPr>
              <a:t>#include&lt;string.h&gt;</a:t>
            </a:r>
            <a:endParaRPr lang="zh-CN" altLang="zh-CN" sz="1400" dirty="0">
              <a:solidFill>
                <a:srgbClr val="9D138D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int main ( )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{char str[3][10]; char string[10]; int i;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  for (i=0;i&lt;3;i++)    gets (str[i]);   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  if (</a:t>
            </a:r>
            <a:r>
              <a:rPr lang="en-US" altLang="zh-CN" sz="1400" dirty="0">
                <a:solidFill>
                  <a:srgbClr val="9D138D"/>
                </a:solidFill>
              </a:rPr>
              <a:t>strcmp</a:t>
            </a:r>
            <a:r>
              <a:rPr lang="en-US" altLang="zh-CN" sz="1400" dirty="0"/>
              <a:t>(str[0],str[1])&gt;0)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	  </a:t>
            </a:r>
            <a:r>
              <a:rPr lang="en-US" altLang="zh-CN" sz="1400" dirty="0">
                <a:solidFill>
                  <a:srgbClr val="9D138D"/>
                </a:solidFill>
              </a:rPr>
              <a:t>strcpy</a:t>
            </a:r>
            <a:r>
              <a:rPr lang="en-US" altLang="zh-CN" sz="1400" dirty="0"/>
              <a:t>(string,str[0]); 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  else                             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	  </a:t>
            </a:r>
            <a:r>
              <a:rPr lang="en-US" altLang="zh-CN" sz="1400" dirty="0">
                <a:solidFill>
                  <a:srgbClr val="9D138D"/>
                </a:solidFill>
              </a:rPr>
              <a:t>strcpy</a:t>
            </a:r>
            <a:r>
              <a:rPr lang="en-US" altLang="zh-CN" sz="1400" dirty="0"/>
              <a:t>(string,str[1]);  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  if (</a:t>
            </a:r>
            <a:r>
              <a:rPr lang="en-US" altLang="zh-CN" sz="1400" dirty="0">
                <a:solidFill>
                  <a:srgbClr val="9D138D"/>
                </a:solidFill>
              </a:rPr>
              <a:t>strcmp</a:t>
            </a:r>
            <a:r>
              <a:rPr lang="en-US" altLang="zh-CN" sz="1400" dirty="0"/>
              <a:t>(str[2],string)&gt;0)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      </a:t>
            </a:r>
            <a:r>
              <a:rPr lang="en-US" altLang="zh-CN" sz="1400" dirty="0">
                <a:solidFill>
                  <a:srgbClr val="9D138D"/>
                </a:solidFill>
              </a:rPr>
              <a:t>strcpy</a:t>
            </a:r>
            <a:r>
              <a:rPr lang="en-US" altLang="zh-CN" sz="1400" dirty="0"/>
              <a:t>(string,str[2]);      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  printf("\nthe largest:\n%s\n",string);  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  return 0;</a:t>
            </a:r>
            <a:endParaRPr lang="zh-CN" altLang="zh-CN" sz="1400" dirty="0"/>
          </a:p>
          <a:p>
            <a:pPr>
              <a:lnSpc>
                <a:spcPct val="100000"/>
              </a:lnSpc>
              <a:buNone/>
            </a:pPr>
            <a:r>
              <a:rPr lang="en-US" altLang="zh-CN" sz="1400" dirty="0"/>
              <a:t>}</a:t>
            </a:r>
            <a:endParaRPr lang="en-US" altLang="zh-CN" sz="1400" dirty="0"/>
          </a:p>
        </p:txBody>
      </p:sp>
      <p:sp>
        <p:nvSpPr>
          <p:cNvPr id="61442" name="Rectangle 4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sp>
        <p:nvSpPr>
          <p:cNvPr id="61443" name="Rectangle 6"/>
          <p:cNvSpPr/>
          <p:nvPr/>
        </p:nvSpPr>
        <p:spPr>
          <a:xfrm>
            <a:off x="1143000" y="-276542"/>
            <a:ext cx="309880" cy="5530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>
              <a:buSzTx/>
            </a:pPr>
            <a:endParaRPr lang="zh-CN" altLang="en-US" sz="3000" dirty="0">
              <a:latin typeface="Arial" panose="020B0604020202090204" pitchFamily="34" charset="0"/>
            </a:endParaRPr>
          </a:p>
        </p:txBody>
      </p:sp>
      <p:pic>
        <p:nvPicPr>
          <p:cNvPr id="12185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5031" y="1928813"/>
            <a:ext cx="2035969" cy="19919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1A799A-9E7D-41E1-9473-F8C111ED82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  <p:tag name="KSO_WM_UNIT_PLACING_PICTURE_USER_VIEWPORT" val="{&quot;height&quot;:2700,&quot;width&quot;:9320}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TABLE_BEAUTIFY" val="smartTable{a924017d-ee50-45bf-8ddd-d84ec2a8daea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PP_MARK_KEY" val="06e9bb6b-4b73-46d8-a310-5d4bb7e549df"/>
  <p:tag name="COMMONDATA" val="eyJoZGlkIjoiODY5YmNiYTY4NjQ3Zjc2MmM5YTEwNTg4NWRkNjhjOTc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11212</Words>
  <Application>WPS 表格</Application>
  <PresentationFormat/>
  <Paragraphs>1285</Paragraphs>
  <Slides>61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90" baseType="lpstr">
      <vt:lpstr>Arial</vt:lpstr>
      <vt:lpstr>宋体</vt:lpstr>
      <vt:lpstr>Wingdings</vt:lpstr>
      <vt:lpstr>Calibri</vt:lpstr>
      <vt:lpstr>微软雅黑</vt:lpstr>
      <vt:lpstr>汉仪旗黑</vt:lpstr>
      <vt:lpstr>汉仪书宋二KW</vt:lpstr>
      <vt:lpstr>Calibri</vt:lpstr>
      <vt:lpstr>隶书</vt:lpstr>
      <vt:lpstr>报隶-简</vt:lpstr>
      <vt:lpstr>Times New Roman</vt:lpstr>
      <vt:lpstr>楷体</vt:lpstr>
      <vt:lpstr>Cambria Math</vt:lpstr>
      <vt:lpstr>汉仪综艺体简</vt:lpstr>
      <vt:lpstr>黑体</vt:lpstr>
      <vt:lpstr>汉仪中黑KW</vt:lpstr>
      <vt:lpstr>汉仪楷体KW</vt:lpstr>
      <vt:lpstr>宋体</vt:lpstr>
      <vt:lpstr>Arial Unicode MS</vt:lpstr>
      <vt:lpstr>Helvetica Neue</vt:lpstr>
      <vt:lpstr>Arial</vt:lpstr>
      <vt:lpstr>Courier New</vt:lpstr>
      <vt:lpstr>Times New Roman</vt:lpstr>
      <vt:lpstr>Kingsoft Math</vt:lpstr>
      <vt:lpstr>苹方-简</vt:lpstr>
      <vt:lpstr>宋体-简</vt:lpstr>
      <vt:lpstr>Office theme</vt:lpstr>
      <vt:lpstr>Equation.3</vt:lpstr>
      <vt:lpstr>Equation.3</vt:lpstr>
      <vt:lpstr>PowerPoint 演示文稿</vt:lpstr>
      <vt:lpstr>PowerPoint 演示文稿</vt:lpstr>
      <vt:lpstr>数组的概念</vt:lpstr>
      <vt:lpstr>数组的概念</vt:lpstr>
      <vt:lpstr>定义一维数组</vt:lpstr>
      <vt:lpstr>定义一维数组</vt:lpstr>
      <vt:lpstr>定义一维数组</vt:lpstr>
      <vt:lpstr>定义一维数组</vt:lpstr>
      <vt:lpstr>引用一维数组元素</vt:lpstr>
      <vt:lpstr>引用一维数组元素</vt:lpstr>
      <vt:lpstr>一维数组的初始化</vt:lpstr>
      <vt:lpstr>一维数组程序举例</vt:lpstr>
      <vt:lpstr>PowerPoint 演示文稿</vt:lpstr>
      <vt:lpstr>一维数组程序举例</vt:lpstr>
      <vt:lpstr>一维数组程序举例</vt:lpstr>
      <vt:lpstr>PowerPoint 演示文稿</vt:lpstr>
      <vt:lpstr>PowerPoint 演示文稿</vt:lpstr>
      <vt:lpstr>PowerPoint 演示文稿</vt:lpstr>
      <vt:lpstr>PowerPoint 演示文稿</vt:lpstr>
      <vt:lpstr>引用二维数组的元素</vt:lpstr>
      <vt:lpstr>二维数组的初始化</vt:lpstr>
      <vt:lpstr>二维数组程序举例</vt:lpstr>
      <vt:lpstr>二维数组程序举例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定义字符数组</vt:lpstr>
      <vt:lpstr>定义字符数组</vt:lpstr>
      <vt:lpstr>字符数组的初始化</vt:lpstr>
      <vt:lpstr>字符数组的初始化</vt:lpstr>
      <vt:lpstr>引用字符数组中的元素</vt:lpstr>
      <vt:lpstr>引用字符数组中的元素</vt:lpstr>
      <vt:lpstr>引用字符数组中的元素</vt:lpstr>
      <vt:lpstr>PowerPoint 演示文稿</vt:lpstr>
      <vt:lpstr>PowerPoint 演示文稿</vt:lpstr>
      <vt:lpstr>字符串和字符串结束标志</vt:lpstr>
      <vt:lpstr>字符串和字符串结束标志</vt:lpstr>
      <vt:lpstr>字符串和字符串结束标志</vt:lpstr>
      <vt:lpstr>字符串和字符串结束标志</vt:lpstr>
      <vt:lpstr>字符串和字符串结束标志</vt:lpstr>
      <vt:lpstr>字符数组的输入输出</vt:lpstr>
      <vt:lpstr>字符数组的输入输出</vt:lpstr>
      <vt:lpstr>字符数组的输入输出</vt:lpstr>
      <vt:lpstr>字符数组的输入输出</vt:lpstr>
      <vt:lpstr>字符串处理函数</vt:lpstr>
      <vt:lpstr>字符串处理函数</vt:lpstr>
      <vt:lpstr>字符串处理函数</vt:lpstr>
      <vt:lpstr>字符串处理函数</vt:lpstr>
      <vt:lpstr>字符数组应用举例</vt:lpstr>
      <vt:lpstr>字符数组应用举例</vt:lpstr>
      <vt:lpstr>字符数组应用举例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朱静雯</cp:lastModifiedBy>
  <cp:revision>1205</cp:revision>
  <dcterms:created xsi:type="dcterms:W3CDTF">2024-09-23T02:40:27Z</dcterms:created>
  <dcterms:modified xsi:type="dcterms:W3CDTF">2024-09-23T02:40:27Z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2023-08-28T23:21:40Z</vt:filetime>
  </property>
  <property fmtid="{D5CDD505-2E9C-101B-9397-08002B2CF9AE}" pid="4" name="ICV">
    <vt:lpwstr>CFDF18D4CA5D469BA19C0723CD8A7A5F_13</vt:lpwstr>
  </property>
  <property fmtid="{D5CDD505-2E9C-101B-9397-08002B2CF9AE}" pid="5" name="KSOProductBuildVer">
    <vt:lpwstr>2052-6.8.2.8850</vt:lpwstr>
  </property>
</Properties>
</file>