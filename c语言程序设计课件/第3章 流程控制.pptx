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2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sldIdLst>
    <p:sldId id="276" r:id="rId2"/>
    <p:sldId id="652" r:id="rId3"/>
    <p:sldId id="600" r:id="rId4"/>
    <p:sldId id="601" r:id="rId5"/>
    <p:sldId id="602" r:id="rId6"/>
    <p:sldId id="603" r:id="rId7"/>
    <p:sldId id="604" r:id="rId8"/>
    <p:sldId id="605" r:id="rId9"/>
    <p:sldId id="606" r:id="rId10"/>
    <p:sldId id="607" r:id="rId11"/>
    <p:sldId id="608" r:id="rId12"/>
    <p:sldId id="609" r:id="rId13"/>
    <p:sldId id="610" r:id="rId14"/>
    <p:sldId id="611" r:id="rId15"/>
    <p:sldId id="612" r:id="rId16"/>
    <p:sldId id="613" r:id="rId17"/>
    <p:sldId id="614" r:id="rId18"/>
    <p:sldId id="616" r:id="rId19"/>
    <p:sldId id="615" r:id="rId20"/>
    <p:sldId id="617" r:id="rId21"/>
    <p:sldId id="618" r:id="rId22"/>
    <p:sldId id="619" r:id="rId23"/>
    <p:sldId id="620" r:id="rId24"/>
    <p:sldId id="621" r:id="rId25"/>
    <p:sldId id="622" r:id="rId26"/>
    <p:sldId id="623" r:id="rId27"/>
    <p:sldId id="624" r:id="rId28"/>
    <p:sldId id="625" r:id="rId29"/>
    <p:sldId id="626" r:id="rId30"/>
    <p:sldId id="627" r:id="rId31"/>
    <p:sldId id="628" r:id="rId32"/>
    <p:sldId id="629" r:id="rId33"/>
    <p:sldId id="630" r:id="rId34"/>
    <p:sldId id="631" r:id="rId35"/>
    <p:sldId id="632" r:id="rId36"/>
    <p:sldId id="633" r:id="rId37"/>
    <p:sldId id="634" r:id="rId38"/>
    <p:sldId id="635" r:id="rId39"/>
    <p:sldId id="636" r:id="rId40"/>
    <p:sldId id="637" r:id="rId41"/>
    <p:sldId id="638" r:id="rId42"/>
    <p:sldId id="639" r:id="rId43"/>
    <p:sldId id="640" r:id="rId44"/>
    <p:sldId id="641" r:id="rId45"/>
    <p:sldId id="642" r:id="rId46"/>
    <p:sldId id="643" r:id="rId47"/>
    <p:sldId id="647" r:id="rId48"/>
    <p:sldId id="648" r:id="rId49"/>
    <p:sldId id="649" r:id="rId50"/>
    <p:sldId id="650" r:id="rId51"/>
  </p:sldIdLst>
  <p:sldSz cx="9144000" cy="5143500" type="screen16x9"/>
  <p:notesSz cx="6858000" cy="9144000"/>
  <p:custDataLst>
    <p:tags r:id="rId5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engdan li" initials="zl" lastIdx="1" clrIdx="0"/>
  <p:cmAuthor id="2" name="lizhengdan" initials="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23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44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gs" Target="tags/tag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8DEE91-9E5B-4C90-98E0-D34F93C6BF1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614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  <a:t>46</a:t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C3BB909-BA8B-4CC5-AF4F-417D76428D47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A1A799A-9E7D-41E1-9473-F8C111ED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CE1F9FB-DACA-49B5-8A56-3AE278C745E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结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CE1F9FB-DACA-49B5-8A56-3AE278C745E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4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587" y="0"/>
            <a:ext cx="9145587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4A6649B-253A-46CC-9C65-97B6E8AC290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5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7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0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950" y="85725"/>
            <a:ext cx="7766050" cy="542925"/>
          </a:xfrm>
          <a:prstGeom prst="rect">
            <a:avLst/>
          </a:prstGeom>
        </p:spPr>
        <p:txBody>
          <a:bodyPr/>
          <a:lstStyle>
            <a:lvl1pPr algn="l">
              <a:defRPr sz="27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2024/10/30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ChangeArrowheads="1"/>
          </p:cNvSpPr>
          <p:nvPr/>
        </p:nvSpPr>
        <p:spPr bwMode="auto">
          <a:xfrm>
            <a:off x="174625" y="76200"/>
            <a:ext cx="5148263" cy="573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7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pitchFamily="2" charset="2"/>
              </a:rPr>
              <a:t> </a:t>
            </a:r>
            <a:r>
              <a:rPr kumimoji="0" lang="zh-CN" altLang="en-US" sz="27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pitchFamily="2" charset="2"/>
              </a:rPr>
              <a:t>目录</a:t>
            </a:r>
            <a:endParaRPr kumimoji="0" lang="zh-CN" altLang="en-US" sz="2700" b="1" i="0" u="none" strike="noStrike" kern="1200" cap="none" spc="30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宋体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1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3" name="Group 5"/>
          <p:cNvGrpSpPr/>
          <p:nvPr userDrawn="1"/>
        </p:nvGrpSpPr>
        <p:grpSpPr>
          <a:xfrm>
            <a:off x="5286375" y="-4762"/>
            <a:ext cx="3863975" cy="481013"/>
            <a:chOff x="80" y="0"/>
            <a:chExt cx="6086" cy="1010"/>
          </a:xfrm>
        </p:grpSpPr>
        <p:pic>
          <p:nvPicPr>
            <p:cNvPr id="2055" name="Picture 6" descr="D:\幻灯片\图片\logo2.pnglogo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50" y="0"/>
              <a:ext cx="1116" cy="101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15"/>
            <p:cNvSpPr>
              <a:spLocks noChangeArrowheads="1"/>
            </p:cNvSpPr>
            <p:nvPr/>
          </p:nvSpPr>
          <p:spPr bwMode="auto">
            <a:xfrm>
              <a:off x="80" y="415"/>
              <a:ext cx="5353" cy="5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90204" pitchFamily="34" charset="0"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CE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Calibri" panose="020F0502020204030204" pitchFamily="34" charset="0"/>
                </a:rPr>
                <a:t>让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CE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Calibri" panose="020F0502020204030204" pitchFamily="34" charset="0"/>
                </a:rPr>
                <a:t>IT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CE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Calibri" panose="020F0502020204030204" pitchFamily="34" charset="0"/>
                </a:rPr>
                <a:t>教学更简单，让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CE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Calibri" panose="020F0502020204030204" pitchFamily="34" charset="0"/>
                </a:rPr>
                <a:t>IT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CE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Calibri" panose="020F0502020204030204" pitchFamily="34" charset="0"/>
                </a:rPr>
                <a:t>学习更有效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ACE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 pitchFamily="34" charset="0"/>
              </a:endParaRPr>
            </a:p>
          </p:txBody>
        </p:sp>
      </p:grpSp>
      <p:pic>
        <p:nvPicPr>
          <p:cNvPr id="2054" name="Picture 2" descr="http://attach.bbs.miui.com/forum/201302/27/231712nzs6bezpzugpbm81.jpg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0513" y="3830241"/>
            <a:ext cx="1292225" cy="114061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847852"/>
            <a:ext cx="7772400" cy="704849"/>
          </a:xfrm>
          <a:prstGeom prst="rect">
            <a:avLst/>
          </a:prstGeom>
        </p:spPr>
        <p:txBody>
          <a:bodyPr/>
          <a:lstStyle>
            <a:lvl1pPr algn="l">
              <a:defRPr sz="3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743200" y="2914650"/>
            <a:ext cx="6400800" cy="793750"/>
          </a:xfrm>
          <a:prstGeom prst="rect">
            <a:avLst/>
          </a:prstGeom>
        </p:spPr>
        <p:txBody>
          <a:bodyPr/>
          <a:lstStyle>
            <a:lvl1pPr marL="342900" indent="-342900" algn="l">
              <a:buFont typeface="Arial" panose="020B0604020202090204" pitchFamily="34" charset="0"/>
              <a:buChar char="•"/>
              <a:defRPr sz="15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Relationship Id="rId4" Type="http://schemas.openxmlformats.org/officeDocument/2006/relationships/image" Target="../media/image18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image" Target="../media/image25.png"/><Relationship Id="rId4" Type="http://schemas.openxmlformats.org/officeDocument/2006/relationships/notesSlide" Target="../notesSlides/notesSlide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4" Type="http://schemas.openxmlformats.org/officeDocument/2006/relationships/image" Target="../media/image26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/>
          <p:cNvSpPr txBox="1"/>
          <p:nvPr/>
        </p:nvSpPr>
        <p:spPr>
          <a:xfrm>
            <a:off x="1638300" y="334804"/>
            <a:ext cx="5867400" cy="1824038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4800" b="1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600" noProof="1">
                <a:solidFill>
                  <a:srgbClr val="33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隶书" panose="02010509060101010101" pitchFamily="49" charset="-122"/>
              </a:rPr>
              <a:t>流程控制</a:t>
            </a:r>
          </a:p>
        </p:txBody>
      </p:sp>
      <p:sp>
        <p:nvSpPr>
          <p:cNvPr id="3" name="副标题 81924"/>
          <p:cNvSpPr txBox="1"/>
          <p:nvPr/>
        </p:nvSpPr>
        <p:spPr>
          <a:xfrm>
            <a:off x="2195513" y="2914650"/>
            <a:ext cx="4752975" cy="13144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4805" lvl="1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4055" lvl="2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9330" lvl="3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2700" lvl="4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None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rgbClr val="193B8F"/>
                </a:solidFill>
                <a:latin typeface="Times New Roman" panose="02020503050405090304" pitchFamily="18" charset="0"/>
                <a:ea typeface="楷体" panose="02010609060101010101" pitchFamily="49" charset="-122"/>
              </a:rPr>
              <a:t>朱静雯</a:t>
            </a:r>
          </a:p>
          <a:p>
            <a:pPr algn="ctr"/>
            <a:r>
              <a:rPr lang="en-US" altLang="zh-CN" sz="2400" dirty="0">
                <a:latin typeface="Times New Roman" panose="02020503050405090304" pitchFamily="18" charset="0"/>
                <a:ea typeface="楷体" panose="02010609060101010101" pitchFamily="49" charset="-122"/>
              </a:rPr>
              <a:t>zhujingwen@nankai.edu.cn</a:t>
            </a:r>
          </a:p>
          <a:p>
            <a:pPr algn="ctr"/>
            <a:r>
              <a:rPr lang="zh-CN" altLang="en-US" sz="2400" dirty="0">
                <a:latin typeface="Times New Roman" panose="02020503050405090304" pitchFamily="18" charset="0"/>
                <a:ea typeface="楷体" panose="02010609060101010101" pitchFamily="49" charset="-122"/>
              </a:rPr>
              <a:t>南开大学</a:t>
            </a:r>
            <a:r>
              <a:rPr lang="en-US" altLang="zh-CN" sz="2400" dirty="0">
                <a:latin typeface="Times New Roman" panose="02020503050405090304" pitchFamily="18" charset="0"/>
                <a:ea typeface="楷体" panose="02010609060101010101" pitchFamily="49" charset="-122"/>
              </a:rPr>
              <a:t>·</a:t>
            </a:r>
            <a:r>
              <a:rPr lang="zh-CN" altLang="en-US" sz="2400" dirty="0">
                <a:latin typeface="Times New Roman" panose="02020503050405090304" pitchFamily="18" charset="0"/>
                <a:ea typeface="楷体" panose="02010609060101010101" pitchFamily="49" charset="-122"/>
              </a:rPr>
              <a:t>软件学院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323850" y="2352052"/>
            <a:ext cx="8496300" cy="0"/>
          </a:xfrm>
          <a:prstGeom prst="line">
            <a:avLst/>
          </a:prstGeom>
          <a:ln w="25400">
            <a:solidFill>
              <a:srgbClr val="782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73" y="185003"/>
            <a:ext cx="430355" cy="4303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3b32313538323734393b56fe4e6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110" y="135890"/>
            <a:ext cx="731520" cy="7315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86510" y="248285"/>
            <a:ext cx="99885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kern="0" spc="30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目录</a:t>
            </a:r>
            <a:endParaRPr lang="zh-CN" altLang="en-US" sz="2700"/>
          </a:p>
        </p:txBody>
      </p:sp>
      <p:grpSp>
        <p:nvGrpSpPr>
          <p:cNvPr id="2" name="组合 1"/>
          <p:cNvGrpSpPr/>
          <p:nvPr/>
        </p:nvGrpSpPr>
        <p:grpSpPr>
          <a:xfrm>
            <a:off x="2426494" y="865585"/>
            <a:ext cx="3031331" cy="445294"/>
            <a:chOff x="1710657" y="1263652"/>
            <a:chExt cx="4042443" cy="592608"/>
          </a:xfrm>
        </p:grpSpPr>
        <p:grpSp>
          <p:nvGrpSpPr>
            <p:cNvPr id="5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6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8" name="圆角矩形 7"/>
                <p:cNvSpPr/>
                <p:nvPr/>
              </p:nvSpPr>
              <p:spPr>
                <a:xfrm>
                  <a:off x="1907704" y="1275606"/>
                  <a:ext cx="1296104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3.1</a:t>
                  </a:r>
                  <a:endPara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9" name="圆角矩形 8"/>
                <p:cNvSpPr/>
                <p:nvPr/>
              </p:nvSpPr>
              <p:spPr>
                <a:xfrm>
                  <a:off x="1961224" y="1349539"/>
                  <a:ext cx="1189063" cy="1580325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10" name="圆角矩形 5"/>
              <p:cNvSpPr/>
              <p:nvPr/>
            </p:nvSpPr>
            <p:spPr>
              <a:xfrm>
                <a:off x="1931232" y="2065721"/>
                <a:ext cx="1293777" cy="933409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5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11" name="直接连接符 10"/>
            <p:cNvCxnSpPr/>
            <p:nvPr/>
          </p:nvCxnSpPr>
          <p:spPr bwMode="auto">
            <a:xfrm>
              <a:off x="2809389" y="1761189"/>
              <a:ext cx="2943711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12" name="矩形 35"/>
            <p:cNvSpPr/>
            <p:nvPr/>
          </p:nvSpPr>
          <p:spPr>
            <a:xfrm>
              <a:off x="2836056" y="1286814"/>
              <a:ext cx="2072983" cy="49014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程序的运行图</a:t>
              </a:r>
              <a:endParaRPr lang="en-US" altLang="zh-CN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3" name="组合 195"/>
          <p:cNvGrpSpPr/>
          <p:nvPr/>
        </p:nvGrpSpPr>
        <p:grpSpPr>
          <a:xfrm>
            <a:off x="3250406" y="1758554"/>
            <a:ext cx="3031331" cy="444103"/>
            <a:chOff x="1710657" y="1263652"/>
            <a:chExt cx="4042443" cy="592608"/>
          </a:xfrm>
        </p:grpSpPr>
        <p:grpSp>
          <p:nvGrpSpPr>
            <p:cNvPr id="14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15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16" name="圆角矩形 15"/>
                <p:cNvSpPr/>
                <p:nvPr/>
              </p:nvSpPr>
              <p:spPr>
                <a:xfrm>
                  <a:off x="1907704" y="1275606"/>
                  <a:ext cx="1296104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3.2</a:t>
                  </a:r>
                  <a:endPara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17" name="圆角矩形 16"/>
                <p:cNvSpPr/>
                <p:nvPr/>
              </p:nvSpPr>
              <p:spPr>
                <a:xfrm>
                  <a:off x="1961224" y="1349737"/>
                  <a:ext cx="1189063" cy="1579929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18" name="圆角矩形 5"/>
              <p:cNvSpPr/>
              <p:nvPr/>
            </p:nvSpPr>
            <p:spPr>
              <a:xfrm>
                <a:off x="1931236" y="2063209"/>
                <a:ext cx="1293777" cy="935912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5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19" name="直接连接符 18"/>
            <p:cNvCxnSpPr/>
            <p:nvPr/>
          </p:nvCxnSpPr>
          <p:spPr bwMode="auto">
            <a:xfrm>
              <a:off x="2809389" y="1760934"/>
              <a:ext cx="2943711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20" name="矩形 35"/>
            <p:cNvSpPr/>
            <p:nvPr/>
          </p:nvSpPr>
          <p:spPr>
            <a:xfrm>
              <a:off x="2836056" y="1286814"/>
              <a:ext cx="2072983" cy="4914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顺序结构语句</a:t>
              </a:r>
              <a:endParaRPr lang="en-US" altLang="zh-CN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1" name="组合 221"/>
          <p:cNvGrpSpPr/>
          <p:nvPr/>
        </p:nvGrpSpPr>
        <p:grpSpPr>
          <a:xfrm>
            <a:off x="2426494" y="2650331"/>
            <a:ext cx="3031331" cy="445294"/>
            <a:chOff x="1710657" y="1263652"/>
            <a:chExt cx="4042443" cy="592608"/>
          </a:xfrm>
        </p:grpSpPr>
        <p:grpSp>
          <p:nvGrpSpPr>
            <p:cNvPr id="22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23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24" name="圆角矩形 23"/>
                <p:cNvSpPr/>
                <p:nvPr/>
              </p:nvSpPr>
              <p:spPr>
                <a:xfrm>
                  <a:off x="1907704" y="1275606"/>
                  <a:ext cx="1296104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3.3</a:t>
                  </a:r>
                  <a:endPara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25" name="圆角矩形 24"/>
                <p:cNvSpPr/>
                <p:nvPr/>
              </p:nvSpPr>
              <p:spPr>
                <a:xfrm>
                  <a:off x="1961224" y="1349539"/>
                  <a:ext cx="1189063" cy="1580325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26" name="圆角矩形 5"/>
              <p:cNvSpPr/>
              <p:nvPr/>
            </p:nvSpPr>
            <p:spPr>
              <a:xfrm>
                <a:off x="1931232" y="2065724"/>
                <a:ext cx="1293777" cy="933409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5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27" name="直接连接符 26"/>
            <p:cNvCxnSpPr/>
            <p:nvPr/>
          </p:nvCxnSpPr>
          <p:spPr bwMode="auto">
            <a:xfrm>
              <a:off x="2809389" y="1761189"/>
              <a:ext cx="2943711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28" name="矩形 35"/>
            <p:cNvSpPr/>
            <p:nvPr/>
          </p:nvSpPr>
          <p:spPr>
            <a:xfrm>
              <a:off x="2836056" y="1286814"/>
              <a:ext cx="2072983" cy="49014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选择结构语句</a:t>
              </a:r>
              <a:endParaRPr lang="en-US" altLang="zh-CN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9" name="组合 234"/>
          <p:cNvGrpSpPr/>
          <p:nvPr/>
        </p:nvGrpSpPr>
        <p:grpSpPr>
          <a:xfrm>
            <a:off x="3276600" y="3568304"/>
            <a:ext cx="3032522" cy="444103"/>
            <a:chOff x="1710657" y="1263652"/>
            <a:chExt cx="4042443" cy="592608"/>
          </a:xfrm>
        </p:grpSpPr>
        <p:grpSp>
          <p:nvGrpSpPr>
            <p:cNvPr id="30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31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32" name="圆角矩形 31"/>
                <p:cNvSpPr/>
                <p:nvPr/>
              </p:nvSpPr>
              <p:spPr>
                <a:xfrm>
                  <a:off x="1907704" y="1275604"/>
                  <a:ext cx="1295595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3.4</a:t>
                  </a:r>
                  <a:endPara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36" name="圆角矩形 35"/>
                <p:cNvSpPr/>
                <p:nvPr/>
              </p:nvSpPr>
              <p:spPr>
                <a:xfrm>
                  <a:off x="1961203" y="1349736"/>
                  <a:ext cx="1188597" cy="1579929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37" name="圆角矩形 5"/>
              <p:cNvSpPr/>
              <p:nvPr/>
            </p:nvSpPr>
            <p:spPr>
              <a:xfrm>
                <a:off x="1931238" y="2063172"/>
                <a:ext cx="1283965" cy="935912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5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38" name="直接连接符 37"/>
            <p:cNvCxnSpPr/>
            <p:nvPr/>
          </p:nvCxnSpPr>
          <p:spPr bwMode="auto">
            <a:xfrm>
              <a:off x="2810545" y="1760934"/>
              <a:ext cx="2942555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39" name="矩形 35"/>
            <p:cNvSpPr/>
            <p:nvPr/>
          </p:nvSpPr>
          <p:spPr>
            <a:xfrm>
              <a:off x="2836056" y="1286814"/>
              <a:ext cx="2072168" cy="4914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循环结构语句</a:t>
              </a:r>
              <a:endParaRPr lang="en-US" altLang="zh-CN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0" name="组合 242"/>
          <p:cNvGrpSpPr/>
          <p:nvPr/>
        </p:nvGrpSpPr>
        <p:grpSpPr>
          <a:xfrm>
            <a:off x="2421731" y="4435079"/>
            <a:ext cx="3032522" cy="444103"/>
            <a:chOff x="1710657" y="1263652"/>
            <a:chExt cx="4042443" cy="592608"/>
          </a:xfrm>
        </p:grpSpPr>
        <p:grpSp>
          <p:nvGrpSpPr>
            <p:cNvPr id="41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42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43" name="圆角矩形 42"/>
                <p:cNvSpPr/>
                <p:nvPr/>
              </p:nvSpPr>
              <p:spPr>
                <a:xfrm>
                  <a:off x="1907704" y="1275604"/>
                  <a:ext cx="1295595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3.5</a:t>
                  </a:r>
                  <a:endPara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44" name="圆角矩形 43"/>
                <p:cNvSpPr/>
                <p:nvPr/>
              </p:nvSpPr>
              <p:spPr>
                <a:xfrm>
                  <a:off x="1961203" y="1349736"/>
                  <a:ext cx="1188597" cy="1579929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45" name="圆角矩形 5"/>
              <p:cNvSpPr/>
              <p:nvPr/>
            </p:nvSpPr>
            <p:spPr>
              <a:xfrm>
                <a:off x="1931238" y="2063172"/>
                <a:ext cx="1283965" cy="935912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5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46" name="直接连接符 45"/>
            <p:cNvCxnSpPr/>
            <p:nvPr/>
          </p:nvCxnSpPr>
          <p:spPr bwMode="auto">
            <a:xfrm>
              <a:off x="2810545" y="1760934"/>
              <a:ext cx="2942555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47" name="矩形 35"/>
            <p:cNvSpPr/>
            <p:nvPr/>
          </p:nvSpPr>
          <p:spPr>
            <a:xfrm>
              <a:off x="2836056" y="1286814"/>
              <a:ext cx="1462707" cy="4914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本章小结</a:t>
              </a:r>
              <a:endParaRPr lang="en-US" altLang="zh-CN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0" y="85725"/>
            <a:ext cx="5662613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3.1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程序的运行流程图</a:t>
            </a:r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>
          <a:xfrm>
            <a:off x="1485900" y="614363"/>
            <a:ext cx="6172200" cy="4250531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+mn-lt"/>
                <a:ea typeface="+mn-ea"/>
                <a:cs typeface="+mn-cs"/>
              </a:rPr>
              <a:t>       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流程图是描述问题处理步骤的一种常用图形工具，它是由一些图框和流程线组成的。使用流程图描述问题的处理步骤，形象直观，便于阅读。画流程图时必须按照功能选用相应的流程图符号，常用的流程图符号如图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3-1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所示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：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009ED6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009ED6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009ED6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009ED6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009ED6"/>
                </a:solidFill>
                <a:latin typeface="+mn-lt"/>
                <a:ea typeface="+mn-ea"/>
                <a:cs typeface="+mn-cs"/>
              </a:rPr>
              <a:t>                                        </a:t>
            </a:r>
            <a:r>
              <a:rPr lang="zh-CN" altLang="en-US" sz="1050" dirty="0">
                <a:latin typeface="+mn-lt"/>
                <a:ea typeface="+mn-ea"/>
                <a:cs typeface="+mn-cs"/>
              </a:rPr>
              <a:t>图</a:t>
            </a:r>
            <a:r>
              <a:rPr lang="en-US" altLang="zh-CN" sz="1050" dirty="0">
                <a:latin typeface="+mn-lt"/>
                <a:ea typeface="+mn-ea"/>
                <a:cs typeface="+mn-cs"/>
              </a:rPr>
              <a:t>3-1  </a:t>
            </a:r>
            <a:r>
              <a:rPr lang="zh-CN" altLang="en-US" sz="1050" dirty="0">
                <a:latin typeface="+mn-lt"/>
                <a:ea typeface="+mn-ea"/>
                <a:cs typeface="+mn-cs"/>
              </a:rPr>
              <a:t>流程图符号</a:t>
            </a:r>
            <a:endParaRPr lang="en-US" altLang="zh-CN" sz="1050" dirty="0">
              <a:latin typeface="+mn-lt"/>
              <a:ea typeface="+mn-ea"/>
              <a:cs typeface="+mn-cs"/>
            </a:endParaRPr>
          </a:p>
        </p:txBody>
      </p:sp>
      <p:pic>
        <p:nvPicPr>
          <p:cNvPr id="7172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9481" y="1918097"/>
            <a:ext cx="2501504" cy="22109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800100"/>
            <a:ext cx="6172200" cy="4250531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图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3-1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所示的流程图符号中，列举了四个图框、一个流程线和一个连接点，具体说明如下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起止框用于表示流程的开始或结束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，用圆角四边形表示；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输入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输出框用平行四边形表示，在平行四边形内可以写明输入或输出的内容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判断框用菱形表示，它的作用是对条件进行判断，根据条件是否成立来决定如何执行后续的操作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处理框用矩形表示，它代表程序中的处理功能，如算术运算和赋值等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3.1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程序的运行流程图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800100"/>
            <a:ext cx="6172200" cy="4250531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 startAt="5"/>
              <a:defRPr/>
            </a:pP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流程线用实心单向箭头或直线表示，可以连接不同位置的图框，流程线的标准流向是从左到右和从上到下，可用直线表示，非标准流向的流程线应使用箭头指示方向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 startAt="5"/>
              <a:defRPr/>
            </a:pP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连接点用圆形表示，用于流程图的延续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学习画流程图可以有效的进行结构化程序设计，基本的流程结构有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种，即顺序结构、选择结构和循环结构。它们可以编写各种复杂程序。在接下来的小节中，将分别讲解这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种基本流程结构，而流程图可以更好的理解和学习这些流程结构语句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3.1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程序的运行流程图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0" y="85725"/>
            <a:ext cx="5662613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3.2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顺序结构语句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614363"/>
            <a:ext cx="6172200" cy="4130279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程序中的所有语句都是从上到下逐条执行，这样的程序结构称为顺序结构。顺序结构是程序开发中最常见的一种结构，它可以包含多种语句，如变量的定义语句、输入输出语句、赋值语句等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下面来看一个顺序结构的简单例子，如例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3-1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所示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例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3-1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813322" y="2424113"/>
            <a:ext cx="5751910" cy="2144316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#include &lt;stdio.h&gt;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void main()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{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printf("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我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\n");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printf("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爱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\n");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printf("C\n");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printf("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语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\n");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printf("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言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\n");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}</a:t>
            </a:r>
            <a:endParaRPr kumimoji="0" lang="zh-CN" altLang="en-US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1485900" y="623888"/>
            <a:ext cx="6172200" cy="4130279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zh-CN" altLang="en-US" sz="1500" dirty="0">
                <a:latin typeface="+mn-lt"/>
                <a:ea typeface="+mn-ea"/>
                <a:cs typeface="+mn-cs"/>
              </a:rPr>
              <a:t>运行结果如图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3-2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：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                     </a:t>
            </a:r>
            <a:r>
              <a:rPr lang="zh-CN" altLang="en-US" sz="1050" dirty="0">
                <a:latin typeface="+mn-lt"/>
                <a:ea typeface="+mn-ea"/>
                <a:cs typeface="+mn-cs"/>
              </a:rPr>
              <a:t>图</a:t>
            </a:r>
            <a:r>
              <a:rPr lang="en-US" altLang="zh-CN" sz="1050" dirty="0">
                <a:latin typeface="+mn-lt"/>
                <a:ea typeface="+mn-ea"/>
                <a:cs typeface="+mn-cs"/>
              </a:rPr>
              <a:t>3-2   </a:t>
            </a:r>
            <a:r>
              <a:rPr lang="zh-CN" altLang="en-US" sz="1050" dirty="0">
                <a:latin typeface="+mn-lt"/>
                <a:ea typeface="+mn-ea"/>
                <a:cs typeface="+mn-cs"/>
              </a:rPr>
              <a:t>运行结果</a:t>
            </a:r>
            <a:endParaRPr lang="en-US" altLang="zh-CN" sz="105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在例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3-1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的程序中，使用了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5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个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printf()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语句，从上往下依次输出字符“我、爱、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C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、语、言”。从运行结果可以看出，程序是按照语句的先后顺序依次执行的，这样的程序就是一个顺序结构的程序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。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zh-CN" altLang="en-US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b="1" dirty="0">
              <a:solidFill>
                <a:srgbClr val="009ED6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009ED6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009ED6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009ED6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009ED6"/>
                </a:solidFill>
                <a:latin typeface="+mn-lt"/>
                <a:ea typeface="+mn-ea"/>
                <a:cs typeface="+mn-cs"/>
              </a:rPr>
              <a:t>                                        </a:t>
            </a:r>
            <a:endParaRPr lang="en-US" altLang="zh-CN" sz="1050" dirty="0">
              <a:latin typeface="+mn-lt"/>
              <a:ea typeface="+mn-ea"/>
              <a:cs typeface="+mn-cs"/>
            </a:endParaRPr>
          </a:p>
        </p:txBody>
      </p:sp>
      <p:pic>
        <p:nvPicPr>
          <p:cNvPr id="11268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675" y="1137047"/>
            <a:ext cx="5120879" cy="1495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3.2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顺序结构语句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0" y="85725"/>
            <a:ext cx="5662613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3.3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选择结构语句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623888"/>
            <a:ext cx="6172200" cy="4130279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3.3.1  if 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条件语句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if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语句是指如果满足某种条件，就进行相应的处理。在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语言中，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语句的具体语法格式如下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上述语法中，判断条件的值只能是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或非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，若判断条件的值为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，按“假”处理，若判断条件的值为非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，按“真”处理，执行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{}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中的语句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884760" y="2137172"/>
            <a:ext cx="5680472" cy="995363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if (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判断条件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)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{ 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	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代码块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}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内容占位符 2"/>
          <p:cNvSpPr>
            <a:spLocks noGrp="1"/>
          </p:cNvSpPr>
          <p:nvPr>
            <p:ph idx="1"/>
          </p:nvPr>
        </p:nvSpPr>
        <p:spPr>
          <a:xfrm>
            <a:off x="1485900" y="623888"/>
            <a:ext cx="6172200" cy="4130279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if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语句的执行流程如图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3-3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所示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：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                     </a:t>
            </a:r>
            <a:r>
              <a:rPr lang="zh-CN" altLang="en-US" sz="1050" dirty="0">
                <a:latin typeface="+mn-lt"/>
                <a:ea typeface="+mn-ea"/>
                <a:cs typeface="+mn-cs"/>
              </a:rPr>
              <a:t>图</a:t>
            </a:r>
            <a:r>
              <a:rPr lang="en-US" altLang="zh-CN" sz="1050" dirty="0">
                <a:latin typeface="+mn-lt"/>
                <a:ea typeface="+mn-ea"/>
                <a:cs typeface="+mn-cs"/>
              </a:rPr>
              <a:t>3-3  if</a:t>
            </a:r>
            <a:r>
              <a:rPr lang="zh-CN" altLang="en-US" sz="1050" dirty="0">
                <a:latin typeface="+mn-lt"/>
                <a:ea typeface="+mn-ea"/>
                <a:cs typeface="+mn-cs"/>
              </a:rPr>
              <a:t>语句流程图</a:t>
            </a:r>
            <a:endParaRPr lang="en-US" altLang="zh-CN" sz="105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</a:t>
            </a:r>
          </a:p>
          <a:p>
            <a:pPr marL="0" indent="0">
              <a:buNone/>
            </a:pPr>
            <a:endParaRPr lang="en-US" altLang="zh-CN" sz="1050" dirty="0">
              <a:latin typeface="+mn-lt"/>
              <a:ea typeface="+mn-ea"/>
              <a:cs typeface="+mn-cs"/>
            </a:endParaRPr>
          </a:p>
        </p:txBody>
      </p:sp>
      <p:pic>
        <p:nvPicPr>
          <p:cNvPr id="13316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9666" y="1103710"/>
            <a:ext cx="2069306" cy="316944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3.3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选择结构语句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内容占位符 2"/>
          <p:cNvSpPr>
            <a:spLocks noGrp="1"/>
          </p:cNvSpPr>
          <p:nvPr>
            <p:ph idx="1"/>
          </p:nvPr>
        </p:nvSpPr>
        <p:spPr>
          <a:xfrm>
            <a:off x="1485900" y="623888"/>
            <a:ext cx="6172200" cy="4130279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zh-CN" altLang="zh-CN" sz="1500" dirty="0">
                <a:latin typeface="+mn-lt"/>
                <a:ea typeface="+mn-ea"/>
                <a:cs typeface="+mn-cs"/>
              </a:rPr>
              <a:t>通过一个案例来学习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if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语句的具体用法，如例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3-2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所示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：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zh-CN" altLang="en-US" sz="1500" dirty="0">
                <a:latin typeface="+mn-lt"/>
                <a:ea typeface="+mn-ea"/>
                <a:cs typeface="+mn-cs"/>
              </a:rPr>
              <a:t>例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3-2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：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                                  </a:t>
            </a:r>
          </a:p>
          <a:p>
            <a:pPr marL="0" indent="0">
              <a:buNone/>
            </a:pPr>
            <a:endParaRPr lang="en-US" altLang="zh-CN" sz="1050" dirty="0">
              <a:latin typeface="+mn-lt"/>
              <a:ea typeface="+mn-ea"/>
              <a:cs typeface="+mn-cs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596629" y="1460897"/>
            <a:ext cx="5681663" cy="2886075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#include&lt;stdio.h&gt;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void main()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{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//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声明变量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x 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int x = 5;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//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如果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x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的值小于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10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则执行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if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大括号中的代码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if (x &lt; 10)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{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x++;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}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printf("x=%d\n" , x);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}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j-cs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3.3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选择结构语句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1485900" y="837010"/>
            <a:ext cx="6172200" cy="4130278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zh-CN" altLang="en-US" sz="1500" dirty="0">
                <a:latin typeface="+mn-lt"/>
                <a:ea typeface="+mn-ea"/>
                <a:cs typeface="+mn-cs"/>
              </a:rPr>
              <a:t>运行结果如图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3-4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：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                      </a:t>
            </a:r>
            <a:r>
              <a:rPr lang="zh-CN" altLang="en-US" sz="1050" dirty="0">
                <a:latin typeface="+mn-lt"/>
                <a:ea typeface="+mn-ea"/>
                <a:cs typeface="+mn-cs"/>
              </a:rPr>
              <a:t>图</a:t>
            </a:r>
            <a:r>
              <a:rPr lang="en-US" altLang="zh-CN" sz="1050" dirty="0">
                <a:latin typeface="+mn-lt"/>
                <a:ea typeface="+mn-ea"/>
                <a:cs typeface="+mn-cs"/>
              </a:rPr>
              <a:t>3-4   </a:t>
            </a:r>
            <a:r>
              <a:rPr lang="zh-CN" altLang="en-US" sz="1050" dirty="0">
                <a:latin typeface="+mn-lt"/>
                <a:ea typeface="+mn-ea"/>
                <a:cs typeface="+mn-cs"/>
              </a:rPr>
              <a:t>运行结果</a:t>
            </a:r>
            <a:endParaRPr lang="en-US" altLang="zh-CN" sz="105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在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if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语句的判断条件中判断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x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的值是否小于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10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，很明显条件成立，因此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{}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中的语句会被执行，变量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x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的值将进行自增。从图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3-4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的运行结果可以看出，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x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的值已由原来的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5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变成了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6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。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                                  </a:t>
            </a:r>
          </a:p>
          <a:p>
            <a:pPr marL="0" indent="0">
              <a:buNone/>
            </a:pPr>
            <a:endParaRPr lang="en-US" altLang="zh-CN" sz="1050" dirty="0">
              <a:latin typeface="+mn-lt"/>
              <a:ea typeface="+mn-ea"/>
              <a:cs typeface="+mn-cs"/>
            </a:endParaRPr>
          </a:p>
        </p:txBody>
      </p:sp>
      <p:pic>
        <p:nvPicPr>
          <p:cNvPr id="15364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150" y="1241822"/>
            <a:ext cx="5051822" cy="78819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3.3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选择结构语句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623888"/>
            <a:ext cx="6172200" cy="4130279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3.3.1  if 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条件语句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…else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if…else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语句是指如果满足某种条件，就进行相应的处理，否则就进行另一种处理。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if…else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语句的具体语法格式如下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884760" y="2210991"/>
            <a:ext cx="5680472" cy="2403872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if (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判断条件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)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{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	    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执行语句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	……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}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else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{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	    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执行语句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2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	……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}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3.3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选择结构语句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内容占位符 2"/>
          <p:cNvSpPr>
            <a:spLocks noGrp="1"/>
          </p:cNvSpPr>
          <p:nvPr>
            <p:ph idx="1"/>
          </p:nvPr>
        </p:nvSpPr>
        <p:spPr>
          <a:xfrm>
            <a:off x="1485900" y="642938"/>
            <a:ext cx="6172200" cy="4221956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if…else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语句的执行流程如图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3-4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所示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：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 algn="ctr">
              <a:buNone/>
            </a:pPr>
            <a:endParaRPr lang="zh-CN" altLang="en-US" sz="1050" dirty="0">
              <a:latin typeface="+mn-lt"/>
              <a:ea typeface="+mn-ea"/>
              <a:cs typeface="+mn-cs"/>
            </a:endParaRPr>
          </a:p>
          <a:p>
            <a:pPr marL="0" indent="0" algn="ctr">
              <a:buNone/>
            </a:pPr>
            <a:r>
              <a:rPr lang="zh-CN" altLang="en-US" sz="1050" dirty="0">
                <a:latin typeface="+mn-lt"/>
                <a:ea typeface="+mn-ea"/>
                <a:cs typeface="+mn-cs"/>
              </a:rPr>
              <a:t>图</a:t>
            </a:r>
            <a:r>
              <a:rPr lang="en-US" altLang="zh-CN" sz="1050" dirty="0">
                <a:latin typeface="+mn-lt"/>
                <a:ea typeface="+mn-ea"/>
                <a:cs typeface="+mn-cs"/>
              </a:rPr>
              <a:t>3-3  if…else</a:t>
            </a:r>
            <a:r>
              <a:rPr lang="zh-CN" altLang="en-US" sz="1050" dirty="0">
                <a:latin typeface="+mn-lt"/>
                <a:ea typeface="+mn-ea"/>
                <a:cs typeface="+mn-cs"/>
              </a:rPr>
              <a:t>语句流程图</a:t>
            </a:r>
            <a:endParaRPr lang="en-US" altLang="zh-CN" sz="105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</a:t>
            </a:r>
          </a:p>
          <a:p>
            <a:pPr marL="0" indent="0">
              <a:buNone/>
            </a:pPr>
            <a:endParaRPr lang="en-US" altLang="zh-CN" sz="1050" dirty="0">
              <a:latin typeface="+mn-lt"/>
              <a:ea typeface="+mn-ea"/>
              <a:cs typeface="+mn-cs"/>
            </a:endParaRPr>
          </a:p>
        </p:txBody>
      </p:sp>
      <p:pic>
        <p:nvPicPr>
          <p:cNvPr id="17412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138" y="1109663"/>
            <a:ext cx="3096816" cy="34468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3.3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选择结构语句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1485900" y="606029"/>
            <a:ext cx="6172200" cy="4221956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zh-CN" altLang="en-US" sz="1500" dirty="0">
                <a:latin typeface="+mn-lt"/>
                <a:ea typeface="+mn-ea"/>
                <a:cs typeface="+mn-cs"/>
              </a:rPr>
              <a:t>例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3-3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通过一个实现奇偶数判断来演示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if…else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语句的具体用法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：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例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3-3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：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  </a:t>
            </a: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                                  </a:t>
            </a:r>
          </a:p>
          <a:p>
            <a:pPr marL="0" indent="0">
              <a:buNone/>
            </a:pPr>
            <a:endParaRPr lang="en-US" altLang="zh-CN" sz="1050" dirty="0">
              <a:latin typeface="+mn-lt"/>
              <a:ea typeface="+mn-ea"/>
              <a:cs typeface="+mn-cs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819275" y="1414463"/>
            <a:ext cx="5681663" cy="3246835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#include&lt;stdio.h&gt;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void main()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{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int num = 19;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if (num % 2 == 0)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{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//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判断条件成立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,num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被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2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整除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printf("num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是一个偶数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\n");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}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else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{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printf("num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是一个奇数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\n");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}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}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3.3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选择结构语句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内容占位符 2"/>
          <p:cNvSpPr>
            <a:spLocks noGrp="1"/>
          </p:cNvSpPr>
          <p:nvPr>
            <p:ph idx="1"/>
          </p:nvPr>
        </p:nvSpPr>
        <p:spPr>
          <a:xfrm>
            <a:off x="1485900" y="800100"/>
            <a:ext cx="6172200" cy="4223147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zh-CN" altLang="en-US" sz="1500" dirty="0">
                <a:latin typeface="+mn-lt"/>
                <a:ea typeface="+mn-ea"/>
                <a:cs typeface="+mn-cs"/>
              </a:rPr>
              <a:t>运行结果如图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3-5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所示：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                       </a:t>
            </a: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                     </a:t>
            </a:r>
            <a:r>
              <a:rPr lang="zh-CN" altLang="en-US" sz="1050" dirty="0">
                <a:latin typeface="+mn-lt"/>
                <a:ea typeface="+mn-ea"/>
                <a:cs typeface="+mn-cs"/>
              </a:rPr>
              <a:t>图</a:t>
            </a:r>
            <a:r>
              <a:rPr lang="en-US" altLang="zh-CN" sz="1050" dirty="0">
                <a:latin typeface="+mn-lt"/>
                <a:ea typeface="+mn-ea"/>
                <a:cs typeface="+mn-cs"/>
              </a:rPr>
              <a:t>3-5    </a:t>
            </a:r>
            <a:r>
              <a:rPr lang="zh-CN" altLang="en-US" sz="1050" dirty="0">
                <a:latin typeface="+mn-lt"/>
                <a:ea typeface="+mn-ea"/>
                <a:cs typeface="+mn-cs"/>
              </a:rPr>
              <a:t>运行结果</a:t>
            </a:r>
            <a:endParaRPr lang="en-US" altLang="zh-CN" sz="105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例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3-3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中，变量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num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的值为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19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，模以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2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的结果为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1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，不等于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0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，判断条件不成立，因此程序会执行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else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后面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{}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中的语句，打印“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num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是一个奇数”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。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                                  </a:t>
            </a:r>
          </a:p>
          <a:p>
            <a:pPr marL="0" indent="0">
              <a:buNone/>
            </a:pPr>
            <a:endParaRPr lang="en-US" altLang="zh-CN" sz="1050" dirty="0">
              <a:latin typeface="+mn-lt"/>
              <a:ea typeface="+mn-ea"/>
              <a:cs typeface="+mn-cs"/>
            </a:endParaRPr>
          </a:p>
        </p:txBody>
      </p:sp>
      <p:pic>
        <p:nvPicPr>
          <p:cNvPr id="19460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797" y="1251347"/>
            <a:ext cx="4508897" cy="72270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3.3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选择结构语句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596504"/>
            <a:ext cx="6172200" cy="4130279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3.3.1  if 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条件语句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…else if…else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if…else if…else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语句用于对多个条件进行判断，从而进行多种不同的处理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if…else if…else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语句的具体语法格式如下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884680" y="2108835"/>
            <a:ext cx="5680710" cy="2755265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if (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判断条件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1) 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{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执行语句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1}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else if (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判断条件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2) 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{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执行语句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2}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……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else if (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判断条件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n)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{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执行语句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n} 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else 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{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执行语句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n+1}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3.3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选择结构语句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内容占位符 2"/>
          <p:cNvSpPr>
            <a:spLocks noGrp="1"/>
          </p:cNvSpPr>
          <p:nvPr>
            <p:ph idx="1"/>
          </p:nvPr>
        </p:nvSpPr>
        <p:spPr>
          <a:xfrm>
            <a:off x="1485900" y="596265"/>
            <a:ext cx="6172200" cy="4547235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if…else if …else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语句的执行流程如图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3-5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所示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：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zh-CN" altLang="en-US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050" dirty="0">
                <a:latin typeface="+mn-lt"/>
                <a:ea typeface="+mn-ea"/>
                <a:cs typeface="+mn-cs"/>
              </a:rPr>
              <a:t> </a:t>
            </a:r>
          </a:p>
          <a:p>
            <a:pPr marL="0" indent="0" algn="ctr">
              <a:buNone/>
            </a:pPr>
            <a:r>
              <a:rPr lang="zh-CN" altLang="en-US" sz="1050" dirty="0">
                <a:latin typeface="+mn-lt"/>
                <a:ea typeface="+mn-ea"/>
                <a:cs typeface="+mn-cs"/>
              </a:rPr>
              <a:t>图</a:t>
            </a:r>
            <a:r>
              <a:rPr lang="en-US" altLang="zh-CN" sz="1050" dirty="0">
                <a:latin typeface="+mn-lt"/>
                <a:ea typeface="+mn-ea"/>
                <a:cs typeface="+mn-cs"/>
              </a:rPr>
              <a:t>3-5  if…else if…else</a:t>
            </a:r>
            <a:r>
              <a:rPr lang="zh-CN" altLang="en-US" sz="1050" dirty="0">
                <a:latin typeface="+mn-lt"/>
                <a:ea typeface="+mn-ea"/>
                <a:cs typeface="+mn-cs"/>
              </a:rPr>
              <a:t>语句流程图</a:t>
            </a:r>
            <a:endParaRPr lang="en-US" altLang="zh-CN" sz="105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</a:t>
            </a:r>
          </a:p>
          <a:p>
            <a:pPr marL="0" indent="0">
              <a:buNone/>
            </a:pPr>
            <a:endParaRPr lang="en-US" altLang="zh-CN" sz="1050" dirty="0">
              <a:latin typeface="+mn-lt"/>
              <a:ea typeface="+mn-ea"/>
              <a:cs typeface="+mn-cs"/>
            </a:endParaRPr>
          </a:p>
        </p:txBody>
      </p:sp>
      <p:pic>
        <p:nvPicPr>
          <p:cNvPr id="21508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572" y="1010841"/>
            <a:ext cx="3355181" cy="3552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3.3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选择结构语句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内容占位符 2"/>
          <p:cNvSpPr>
            <a:spLocks noGrp="1"/>
          </p:cNvSpPr>
          <p:nvPr>
            <p:ph idx="1"/>
          </p:nvPr>
        </p:nvSpPr>
        <p:spPr>
          <a:xfrm>
            <a:off x="1485900" y="513160"/>
            <a:ext cx="6172200" cy="4223147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zh-CN" altLang="zh-CN" sz="1500" dirty="0">
                <a:latin typeface="+mn-lt"/>
                <a:ea typeface="+mn-ea"/>
                <a:cs typeface="+mn-cs"/>
              </a:rPr>
              <a:t>例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3-4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：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</a:t>
            </a: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                                  </a:t>
            </a:r>
          </a:p>
          <a:p>
            <a:pPr marL="0" indent="0">
              <a:buNone/>
            </a:pPr>
            <a:endParaRPr lang="en-US" altLang="zh-CN" sz="1050" dirty="0">
              <a:latin typeface="+mn-lt"/>
              <a:ea typeface="+mn-ea"/>
              <a:cs typeface="+mn-cs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911225" y="858520"/>
            <a:ext cx="7200265" cy="3990975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#include&lt;stdio.h&gt;</a:t>
            </a:r>
            <a:endParaRPr kumimoji="0" lang="zh-CN" altLang="zh-CN" sz="10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void main()</a:t>
            </a:r>
            <a:endParaRPr kumimoji="0" lang="zh-CN" altLang="zh-CN" sz="10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{</a:t>
            </a:r>
            <a:endParaRPr kumimoji="0" lang="zh-CN" altLang="zh-CN" sz="10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int grade = 75; //</a:t>
            </a:r>
            <a:r>
              <a:rPr kumimoji="0" lang="zh-CN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定义学生成绩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if (grade &gt;= 80)</a:t>
            </a:r>
            <a:endParaRPr kumimoji="0" lang="zh-CN" altLang="zh-CN" sz="10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{</a:t>
            </a:r>
            <a:endParaRPr kumimoji="0" lang="zh-CN" altLang="zh-CN" sz="10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//</a:t>
            </a:r>
            <a:r>
              <a:rPr kumimoji="0" lang="zh-CN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满足条件</a:t>
            </a: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grade &gt;=80</a:t>
            </a:r>
            <a:endParaRPr kumimoji="0" lang="zh-CN" altLang="zh-CN" sz="10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printf("</a:t>
            </a:r>
            <a:r>
              <a:rPr kumimoji="0" lang="zh-CN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该成绩的等级为优</a:t>
            </a: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\n");</a:t>
            </a:r>
            <a:endParaRPr kumimoji="0" lang="zh-CN" altLang="zh-CN" sz="10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}</a:t>
            </a:r>
            <a:endParaRPr kumimoji="0" lang="zh-CN" altLang="zh-CN" sz="10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else if (grade &gt;= 70)</a:t>
            </a:r>
            <a:endParaRPr kumimoji="0" lang="zh-CN" altLang="zh-CN" sz="10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{</a:t>
            </a:r>
            <a:endParaRPr kumimoji="0" lang="zh-CN" altLang="zh-CN" sz="10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//</a:t>
            </a:r>
            <a:r>
              <a:rPr kumimoji="0" lang="zh-CN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不满足条件</a:t>
            </a: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grade &gt;= 80 </a:t>
            </a:r>
            <a:r>
              <a:rPr kumimoji="0" lang="zh-CN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，但满足条件</a:t>
            </a: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grade &gt;= 70 </a:t>
            </a:r>
            <a:endParaRPr kumimoji="0" lang="zh-CN" altLang="zh-CN" sz="10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printf("</a:t>
            </a:r>
            <a:r>
              <a:rPr kumimoji="0" lang="zh-CN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该成绩的等级为良</a:t>
            </a: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\n");</a:t>
            </a:r>
            <a:endParaRPr kumimoji="0" lang="zh-CN" altLang="zh-CN" sz="10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}</a:t>
            </a:r>
            <a:endParaRPr kumimoji="0" lang="zh-CN" altLang="zh-CN" sz="10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else if (grade &gt;= 60)</a:t>
            </a:r>
            <a:endParaRPr kumimoji="0" lang="zh-CN" altLang="zh-CN" sz="10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{</a:t>
            </a:r>
            <a:endParaRPr kumimoji="0" lang="zh-CN" altLang="zh-CN" sz="10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//</a:t>
            </a:r>
            <a:r>
              <a:rPr kumimoji="0" lang="zh-CN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不满足条件</a:t>
            </a: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grade &gt;= 70 </a:t>
            </a:r>
            <a:r>
              <a:rPr kumimoji="0" lang="zh-CN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，但满足条件</a:t>
            </a: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grade &gt;= 60 </a:t>
            </a:r>
            <a:endParaRPr kumimoji="0" lang="zh-CN" altLang="zh-CN" sz="10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printf("</a:t>
            </a:r>
            <a:r>
              <a:rPr kumimoji="0" lang="zh-CN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该成绩的等级为中</a:t>
            </a: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\n");</a:t>
            </a:r>
            <a:endParaRPr kumimoji="0" lang="zh-CN" altLang="zh-CN" sz="10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}</a:t>
            </a:r>
            <a:endParaRPr kumimoji="0" lang="zh-CN" altLang="zh-CN" sz="10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else</a:t>
            </a:r>
            <a:endParaRPr kumimoji="0" lang="zh-CN" altLang="zh-CN" sz="10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{</a:t>
            </a:r>
            <a:endParaRPr kumimoji="0" lang="zh-CN" altLang="zh-CN" sz="10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//</a:t>
            </a:r>
            <a:r>
              <a:rPr kumimoji="0" lang="zh-CN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不满足条件</a:t>
            </a: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grade &gt;= 60 </a:t>
            </a:r>
            <a:endParaRPr kumimoji="0" lang="zh-CN" altLang="zh-CN" sz="10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printf("</a:t>
            </a:r>
            <a:r>
              <a:rPr kumimoji="0" lang="zh-CN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该成绩的等级为差</a:t>
            </a: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\n");</a:t>
            </a:r>
            <a:endParaRPr kumimoji="0" lang="zh-CN" altLang="zh-CN" sz="10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}</a:t>
            </a:r>
            <a:endParaRPr kumimoji="0" lang="zh-CN" altLang="zh-CN" sz="10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}</a:t>
            </a:r>
            <a:endParaRPr kumimoji="0" lang="zh-CN" altLang="zh-CN" sz="10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j-cs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3.3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选择结构语句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内容占位符 2"/>
          <p:cNvSpPr>
            <a:spLocks noGrp="1"/>
          </p:cNvSpPr>
          <p:nvPr>
            <p:ph idx="1"/>
          </p:nvPr>
        </p:nvSpPr>
        <p:spPr>
          <a:xfrm>
            <a:off x="1485900" y="606029"/>
            <a:ext cx="6172200" cy="4221956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通过一个对学生考试成绩进行等级划分的案例来演示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if…else if…else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语句的用法，如例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3-4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所示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：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运行结果如图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3-6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：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</a:t>
            </a: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                          </a:t>
            </a:r>
            <a:r>
              <a:rPr lang="zh-CN" altLang="en-US" sz="1050" dirty="0">
                <a:latin typeface="+mn-lt"/>
                <a:ea typeface="+mn-ea"/>
                <a:cs typeface="+mn-cs"/>
              </a:rPr>
              <a:t>图</a:t>
            </a:r>
            <a:r>
              <a:rPr lang="en-US" altLang="zh-CN" sz="1050" dirty="0">
                <a:latin typeface="+mn-lt"/>
                <a:ea typeface="+mn-ea"/>
                <a:cs typeface="+mn-cs"/>
              </a:rPr>
              <a:t>3-6     </a:t>
            </a:r>
            <a:r>
              <a:rPr lang="zh-CN" altLang="en-US" sz="1050" dirty="0">
                <a:latin typeface="+mn-lt"/>
                <a:ea typeface="+mn-ea"/>
                <a:cs typeface="+mn-cs"/>
              </a:rPr>
              <a:t>运行结果</a:t>
            </a:r>
            <a:endParaRPr lang="en-US" altLang="zh-CN" sz="105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例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3-4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中，定义了学生成绩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grade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为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75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，由于它不满足第一个判断条件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grade&gt;=80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，会执行第二个判断条件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grade&gt;=70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，条件成立，因此会打印“该成绩的等级为良”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。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                                  </a:t>
            </a:r>
          </a:p>
          <a:p>
            <a:pPr marL="0" indent="0">
              <a:buNone/>
            </a:pPr>
            <a:endParaRPr lang="en-US" altLang="zh-CN" sz="1050" dirty="0">
              <a:latin typeface="+mn-lt"/>
              <a:ea typeface="+mn-ea"/>
              <a:cs typeface="+mn-cs"/>
            </a:endParaRPr>
          </a:p>
        </p:txBody>
      </p:sp>
      <p:pic>
        <p:nvPicPr>
          <p:cNvPr id="2253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241" y="1926829"/>
            <a:ext cx="5399484" cy="800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3.3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选择结构语句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内容占位符 2"/>
          <p:cNvSpPr>
            <a:spLocks noGrp="1"/>
          </p:cNvSpPr>
          <p:nvPr>
            <p:ph idx="1"/>
          </p:nvPr>
        </p:nvSpPr>
        <p:spPr>
          <a:xfrm>
            <a:off x="1485900" y="503635"/>
            <a:ext cx="6172200" cy="4487465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zh-CN" altLang="en-US" sz="1500" dirty="0">
                <a:latin typeface="+mn-lt"/>
                <a:ea typeface="+mn-ea"/>
                <a:cs typeface="+mn-cs"/>
              </a:rPr>
              <a:t>三元运算符：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在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C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语言中有一种特殊的运算叫做三元运算，它和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if…else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语句类似具体语法格式如下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：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05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三元运算通常用于对某个变量进行赋值，当判断条件成立时，运算结果为表达式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1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的值，否则结果为表达式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2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的值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。如求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x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，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y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中最大值：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indent="0">
              <a:buNone/>
            </a:pPr>
            <a:endParaRPr lang="en-US" altLang="zh-CN" sz="105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dirty="0">
                <a:latin typeface="+mn-lt"/>
                <a:ea typeface="+mn-ea"/>
                <a:cs typeface="+mn-cs"/>
              </a:rPr>
              <a:t>                                                                       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590675" y="1779905"/>
            <a:ext cx="5938838" cy="361950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判断条件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 ? 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表达式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1 : 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表达式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;</a:t>
            </a:r>
            <a:endParaRPr kumimoji="0" lang="zh-CN" altLang="en-US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852805" y="2876550"/>
            <a:ext cx="3432175" cy="2266950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int x = 0; 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//if…else</a:t>
            </a:r>
            <a:r>
              <a:rPr kumimoji="0" lang="zh-CN" altLang="en-US" sz="1500" b="0" i="0" u="none" strike="noStrike" kern="1200" cap="none" spc="3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语句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int y = 1;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int max;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if (x &gt; y) 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{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max = x;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} else 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{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max = y;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}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5086350" y="2876550"/>
            <a:ext cx="3371215" cy="2266950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//</a:t>
            </a:r>
            <a:r>
              <a:rPr kumimoji="0" lang="zh-CN" altLang="en-US" sz="1500" b="0" i="0" u="none" strike="noStrike" kern="1200" cap="none" spc="3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微软雅黑" panose="020B0503020204020204" charset="-122"/>
                <a:cs typeface="+mj-cs"/>
              </a:rPr>
              <a:t>三元运算</a:t>
            </a:r>
            <a:endParaRPr kumimoji="0" lang="en-US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int x =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int y = 1;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int max;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max = x &gt; y ? x : y;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</p:txBody>
      </p:sp>
      <p:sp>
        <p:nvSpPr>
          <p:cNvPr id="24583" name="左右箭头 1"/>
          <p:cNvSpPr/>
          <p:nvPr/>
        </p:nvSpPr>
        <p:spPr>
          <a:xfrm>
            <a:off x="4285060" y="3638550"/>
            <a:ext cx="801290" cy="266700"/>
          </a:xfrm>
          <a:prstGeom prst="leftRightArrow">
            <a:avLst>
              <a:gd name="adj1" fmla="val 50000"/>
              <a:gd name="adj2" fmla="val 49977"/>
            </a:avLst>
          </a:prstGeom>
          <a:noFill/>
          <a:ln w="28575" cap="flat" cmpd="sng">
            <a:solidFill>
              <a:srgbClr val="00ACE6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sz="1350" dirty="0">
              <a:latin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3.3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选择结构语句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559594"/>
            <a:ext cx="6172200" cy="4130279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3.3.2  switch 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条件语句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switch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条件语句也是一种很常用的选择语句，和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条件语句不同，它只能针对某个表达式的值作出判断，从而决定程序执行哪一段代码。例如，在程序中使用数字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1~7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来表示星期一到星期天，如果想根据某个输入的数字来输出对应中文格式的星期值，可以通过下面的一段伪代码来描述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809750" y="2714625"/>
            <a:ext cx="5542360" cy="2159794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用于表示星期的数字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	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如果等于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1,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则输出星期一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	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如果等于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2,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则输出星期二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	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如果等于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3,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则输出星期三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	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如果等于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4,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则输出星期四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	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如果等于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5,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则输出星期五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	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如果等于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6,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则输出星期六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	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如果等于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7,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则输出星期天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	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如果不是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1~7,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则输出此数字为非法数字</a:t>
            </a: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3.3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选择结构语句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内容占位符 2"/>
          <p:cNvSpPr>
            <a:spLocks noGrp="1"/>
          </p:cNvSpPr>
          <p:nvPr>
            <p:ph idx="1"/>
          </p:nvPr>
        </p:nvSpPr>
        <p:spPr>
          <a:xfrm>
            <a:off x="1485900" y="837010"/>
            <a:ext cx="6172200" cy="4130278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对于上面一段伪代码的描述，大家可能会立刻想到用刚学过的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if…else if…else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语句来实现，但是由于判断条件比较多，实现起来代码过长，不便于阅读。这时就可以使用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C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语言中的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switch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语句来实现这种需求。在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switch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语句中，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switch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关键字后面有一个表达式，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case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关键字后面有目标值，当表达式的值和某个目标值匹配时，会执行对应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case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下的语句。接下来通过一段伪代码来描述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switch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语句的基本语法格式，具体如下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：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009ED6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009ED6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                              </a:t>
            </a:r>
            <a:r>
              <a:rPr lang="en-US" altLang="zh-CN" b="1" dirty="0">
                <a:solidFill>
                  <a:srgbClr val="009ED6"/>
                </a:solidFill>
                <a:latin typeface="+mn-lt"/>
                <a:ea typeface="+mn-ea"/>
                <a:cs typeface="+mn-cs"/>
              </a:rPr>
              <a:t>    </a:t>
            </a:r>
            <a:endParaRPr lang="en-US" altLang="zh-CN" sz="1050" dirty="0"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3.3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选择结构语句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内容占位符 2"/>
          <p:cNvSpPr>
            <a:spLocks noGrp="1"/>
          </p:cNvSpPr>
          <p:nvPr>
            <p:ph idx="1"/>
          </p:nvPr>
        </p:nvSpPr>
        <p:spPr>
          <a:xfrm>
            <a:off x="1485900" y="623888"/>
            <a:ext cx="6172200" cy="4130279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switch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语句格式：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009ED6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009ED6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                              </a:t>
            </a:r>
            <a:r>
              <a:rPr lang="en-US" altLang="zh-CN" b="1" dirty="0">
                <a:solidFill>
                  <a:srgbClr val="009ED6"/>
                </a:solidFill>
                <a:latin typeface="+mn-lt"/>
                <a:ea typeface="+mn-ea"/>
                <a:cs typeface="+mn-cs"/>
              </a:rPr>
              <a:t>    </a:t>
            </a:r>
            <a:endParaRPr lang="en-US" altLang="zh-CN" sz="1050" dirty="0">
              <a:latin typeface="+mn-lt"/>
              <a:ea typeface="+mn-ea"/>
              <a:cs typeface="+mn-cs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575197" y="1014413"/>
            <a:ext cx="5749529" cy="3842147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switch (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表达式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)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{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	case 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目标值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1: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		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执行语句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1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		break;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	case 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目标值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2: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		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执行语句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2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		break;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	……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	case 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目标值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n: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		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执行语句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n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		break;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	default: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		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执行语句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n+1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		break;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}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3.3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选择结构语句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内容占位符 2"/>
          <p:cNvSpPr>
            <a:spLocks noGrp="1"/>
          </p:cNvSpPr>
          <p:nvPr>
            <p:ph idx="1"/>
          </p:nvPr>
        </p:nvSpPr>
        <p:spPr>
          <a:xfrm>
            <a:off x="1591945" y="467360"/>
            <a:ext cx="3408680" cy="430530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zh-CN" altLang="en-US" sz="1500" dirty="0">
                <a:latin typeface="+mn-lt"/>
                <a:ea typeface="+mn-ea"/>
                <a:cs typeface="+mn-cs"/>
              </a:rPr>
              <a:t>例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3-5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，用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switch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语句实现星期输出：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009ED6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009ED6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                              </a:t>
            </a:r>
            <a:r>
              <a:rPr lang="en-US" altLang="zh-CN" b="1" dirty="0">
                <a:solidFill>
                  <a:srgbClr val="009ED6"/>
                </a:solidFill>
                <a:latin typeface="+mn-lt"/>
                <a:ea typeface="+mn-ea"/>
                <a:cs typeface="+mn-cs"/>
              </a:rPr>
              <a:t>    </a:t>
            </a:r>
            <a:endParaRPr lang="en-US" altLang="zh-CN" sz="1050" dirty="0">
              <a:latin typeface="+mn-lt"/>
              <a:ea typeface="+mn-ea"/>
              <a:cs typeface="+mn-cs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591945" y="897890"/>
            <a:ext cx="5436235" cy="4245610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#include&lt;stdio.h&gt;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void main()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{         int week = 5;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switch (week)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{case 1: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printf("</a:t>
            </a:r>
            <a:r>
              <a:rPr kumimoji="0" lang="zh-CN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星期一</a:t>
            </a: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");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break;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case 2: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printf("</a:t>
            </a:r>
            <a:r>
              <a:rPr kumimoji="0" lang="zh-CN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星期二</a:t>
            </a: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");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break;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case 3: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printf("</a:t>
            </a:r>
            <a:r>
              <a:rPr kumimoji="0" lang="zh-CN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星期三</a:t>
            </a: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");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break;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case 4: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printf("</a:t>
            </a:r>
            <a:r>
              <a:rPr kumimoji="0" lang="zh-CN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星期四</a:t>
            </a: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");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break;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case 5: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printf("</a:t>
            </a:r>
            <a:r>
              <a:rPr kumimoji="0" lang="zh-CN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星期五</a:t>
            </a: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");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break;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case 6: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printf("</a:t>
            </a:r>
            <a:r>
              <a:rPr kumimoji="0" lang="zh-CN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星期六</a:t>
            </a: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");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break;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case 7: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printf("</a:t>
            </a:r>
            <a:r>
              <a:rPr kumimoji="0" lang="zh-CN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星期天</a:t>
            </a: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");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break;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default: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printf("</a:t>
            </a:r>
            <a:r>
              <a:rPr kumimoji="0" lang="zh-CN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输入的数字不正确</a:t>
            </a: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...");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R="0" lvl="0" indent="0" algn="l" defTabSz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break;}}</a:t>
            </a:r>
            <a:endParaRPr kumimoji="0" lang="zh-CN" altLang="zh-CN" sz="95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j-cs"/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3.3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选择结构语句</a:t>
            </a: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内容占位符 2"/>
          <p:cNvSpPr>
            <a:spLocks noGrp="1"/>
          </p:cNvSpPr>
          <p:nvPr>
            <p:ph idx="1"/>
          </p:nvPr>
        </p:nvSpPr>
        <p:spPr>
          <a:xfrm>
            <a:off x="1485900" y="596504"/>
            <a:ext cx="6172200" cy="4546997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zh-CN" altLang="en-US" sz="1500" dirty="0">
                <a:latin typeface="+mn-lt"/>
                <a:ea typeface="+mn-ea"/>
                <a:cs typeface="+mn-cs"/>
              </a:rPr>
              <a:t>例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3-5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输出结果如图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3-7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：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                         </a:t>
            </a:r>
            <a:r>
              <a:rPr lang="zh-CN" altLang="en-US" sz="1050" dirty="0">
                <a:latin typeface="+mn-lt"/>
                <a:ea typeface="+mn-ea"/>
                <a:cs typeface="+mn-cs"/>
              </a:rPr>
              <a:t>图</a:t>
            </a:r>
            <a:r>
              <a:rPr lang="en-US" altLang="zh-CN" sz="1050" dirty="0">
                <a:latin typeface="+mn-lt"/>
                <a:ea typeface="+mn-ea"/>
                <a:cs typeface="+mn-cs"/>
              </a:rPr>
              <a:t>3-7    </a:t>
            </a:r>
            <a:r>
              <a:rPr lang="zh-CN" altLang="en-US" sz="1050" dirty="0">
                <a:latin typeface="+mn-lt"/>
                <a:ea typeface="+mn-ea"/>
                <a:cs typeface="+mn-cs"/>
              </a:rPr>
              <a:t>运行结果</a:t>
            </a:r>
            <a:endParaRPr lang="en-US" altLang="zh-CN" sz="105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由于变量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week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的值为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5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，整个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switch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语句判断的结果满足第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19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行的条件，因此打印“星期五”。程序中的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default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语句用于处理和前面的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case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都不匹配的情况，将第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4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行代码替换为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int week = 8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，再次运行程序，输出结果如图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3-8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所示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：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                           </a:t>
            </a:r>
            <a:r>
              <a:rPr lang="zh-CN" altLang="en-US" sz="1050" dirty="0">
                <a:latin typeface="+mn-lt"/>
                <a:ea typeface="+mn-ea"/>
                <a:cs typeface="+mn-cs"/>
              </a:rPr>
              <a:t>图</a:t>
            </a:r>
            <a:r>
              <a:rPr lang="en-US" altLang="zh-CN" sz="1050" dirty="0">
                <a:latin typeface="+mn-lt"/>
                <a:ea typeface="+mn-ea"/>
                <a:cs typeface="+mn-cs"/>
              </a:rPr>
              <a:t>3-8   </a:t>
            </a:r>
            <a:r>
              <a:rPr lang="zh-CN" altLang="en-US" sz="1050" dirty="0">
                <a:latin typeface="+mn-lt"/>
                <a:ea typeface="+mn-ea"/>
                <a:cs typeface="+mn-cs"/>
              </a:rPr>
              <a:t>运行结果</a:t>
            </a:r>
            <a:endParaRPr lang="en-US" altLang="zh-CN" sz="105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zh-CN" altLang="en-US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zh-CN" altLang="en-US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009ED6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009ED6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                              </a:t>
            </a:r>
            <a:r>
              <a:rPr lang="en-US" altLang="zh-CN" b="1" dirty="0">
                <a:solidFill>
                  <a:srgbClr val="009ED6"/>
                </a:solidFill>
                <a:latin typeface="+mn-lt"/>
                <a:ea typeface="+mn-ea"/>
                <a:cs typeface="+mn-cs"/>
              </a:rPr>
              <a:t>    </a:t>
            </a:r>
            <a:endParaRPr lang="en-US" altLang="zh-CN" sz="1050" dirty="0">
              <a:latin typeface="+mn-lt"/>
              <a:ea typeface="+mn-ea"/>
              <a:cs typeface="+mn-cs"/>
            </a:endParaRPr>
          </a:p>
        </p:txBody>
      </p:sp>
      <p:pic>
        <p:nvPicPr>
          <p:cNvPr id="29700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066" y="1103710"/>
            <a:ext cx="4851797" cy="71318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1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0" y="3906441"/>
            <a:ext cx="4819650" cy="6905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3.3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选择结构语句</a:t>
            </a: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0" y="85725"/>
            <a:ext cx="5662613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3.4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循环结构语句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623888"/>
            <a:ext cx="6172200" cy="4130279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3.4.1  while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循环语句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while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循环语句和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小节讲到的条件判断语句有些相似，都是根据判断条件来决定是否执行大括号内的执行语句。区别在于，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语句会反复地进行条件判断，只要条件成立，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{}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内的执行语句就会一直执行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下去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，直到条件不成立，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循环才会结束。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循环语句的具体语法格式如下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783556" y="2842022"/>
            <a:ext cx="5680472" cy="1198960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while (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循环条件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)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{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执行语句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………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}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623888"/>
            <a:ext cx="6172200" cy="4130279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循环语句的执行流程图如图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3-8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所示：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图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3-8   while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循环流程图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1748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169" y="1064419"/>
            <a:ext cx="1779985" cy="273724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3.4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循环结构语句</a:t>
            </a: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623888"/>
            <a:ext cx="6172200" cy="4130279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接下来通过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语句来实现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1~4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之间自然数的打印，如例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3-6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所示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例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3-6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783715" y="1555115"/>
            <a:ext cx="5680710" cy="3112770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#include &lt;stdio.h&gt;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void main()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{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int x = 1;			   //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定义变量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x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，初始值为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1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while (x &lt;= 4)               // 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循环条件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  printf("x = %d\n", x);   // 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条件成立，打印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x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的值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  x++;                         // x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进行自增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}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}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3.4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循环结构语句</a:t>
            </a: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623888"/>
            <a:ext cx="6172200" cy="4130279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3-6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运行结果如图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3-9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所示：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图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3-9  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运行结果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3-7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的初始值为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，在满足循环条件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 &lt;= 4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的情况下，循环体会重复执行，打印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的值并让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进行自增。因此，打印结果中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的值分别为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。需要注意的是，例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3-7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中的第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行代码用于在每次循环时改变变量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的值，直到循环条件不成立，如果没有这行代码，整个循环会进入无限循环的状态，永远不会结束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3796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760" y="1088231"/>
            <a:ext cx="4346972" cy="1104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3.4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循环结构语句</a:t>
            </a: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623888"/>
            <a:ext cx="6172200" cy="4260056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3.4.2  do…while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循环语句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do…while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循环语句和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循环语句功能类似，二者的不同之处在于，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语句需要先判断循环条件，然后根据判断结果来决定是否执行大括号中的代码，而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do…while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循环语句先要执行一次大括号内的代码再判断循环条件，其具体语法格式如下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在上面的语法格式中，关键字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后面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{}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中的执行语句是循环体。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do…while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循环语句将循环条件放在了循环体的后面。这也就意味着，循环体会无条件执行一次，然后再根据循环条件来决定是否继续执行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783556" y="2536031"/>
            <a:ext cx="5680472" cy="1198960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do 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{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执行语句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………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} while(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循环条件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);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3.4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循环结构语句</a:t>
            </a: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623888"/>
            <a:ext cx="6172200" cy="4130279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do…while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循环语句的执行流程图如图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3-10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所示：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图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3-10   do…while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循环流程图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5844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069" y="1139429"/>
            <a:ext cx="1939529" cy="260746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3.4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循环结构语句</a:t>
            </a: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623888"/>
            <a:ext cx="6172200" cy="4130279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接下来使用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do…while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循环语句将例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3-6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进行改写，如例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3-7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所示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例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3-7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783556" y="1522810"/>
            <a:ext cx="5680472" cy="2800350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#include &lt;stdio.h&gt;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void main()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{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int x = 1;			   //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定义变量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x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，初始值为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1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do          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{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 printf("x = %d\n", x);    // 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条件成立，打印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x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的值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 x++;                          // x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进行自增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} while (x &lt;= 4);           // 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循环条件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}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3.4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循环结构语句</a:t>
            </a: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623888"/>
            <a:ext cx="6172200" cy="4250531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3-7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运行结果如图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3-11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所示：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图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3-11  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运行结果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3-8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和例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3-7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的运行结果一致，这说明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…while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循环和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循环能实现同样的功能。然而在程序运行过程中，这两种语句还是有差别的。如果循环条件在循环语句开始时就不成立，那么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循环的循环体一次都不会执行，而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do…while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循环的循环体还是会执行一次。若将例中的循环条件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x&lt;=4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改为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 &lt; 1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，例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3-8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会打印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x=1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，而例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3-7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什么也不会打印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7892" name="Picture 1" descr="C:\Users\mengmeng\AppData\Roaming\Tencent\Users\854560676\QQ\WinTemp\RichOle\Q}F5X5W(WGL7[OJX(@X65A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679" y="1113235"/>
            <a:ext cx="4894659" cy="113942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3.4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循环结构语句</a:t>
            </a: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623888"/>
            <a:ext cx="6172200" cy="4260056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3.4.3  for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循环语句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在前面的小节中分别讲解了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循环和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do…while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循环。在程序开发中，还经常会使用另一种循环语句，即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循环，它通常用于循环次数已知的情况，其具体语法格式如下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在上面的语法格式中，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关键字后面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中包括了初始化表达式、循环条件和操作表达式三部分内容，它们之间用“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”分隔，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{}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中的执行语句为循环体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812131" y="2127647"/>
            <a:ext cx="5680472" cy="1198960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for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（初始化表达式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; 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循环条件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; 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操作表达式）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{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执行语句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	………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}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3.4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循环结构语句</a:t>
            </a: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内容占位符 2"/>
          <p:cNvSpPr>
            <a:spLocks noGrp="1"/>
          </p:cNvSpPr>
          <p:nvPr>
            <p:ph idx="1"/>
          </p:nvPr>
        </p:nvSpPr>
        <p:spPr>
          <a:xfrm>
            <a:off x="1485900" y="623888"/>
            <a:ext cx="6172200" cy="4260056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接下来分别用“①”表示初始化表达式、“②”表示循环条件、“③”表示操作表达式、“④”表示循环体，通过序号来具体分析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for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循环的执行流程。具体如下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：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009ED6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009ED6"/>
              </a:solidFill>
              <a:latin typeface="+mn-lt"/>
              <a:ea typeface="+mn-ea"/>
              <a:cs typeface="+mn-cs"/>
            </a:endParaRPr>
          </a:p>
          <a:p>
            <a:pPr marL="0" indent="0" fontAlgn="auto">
              <a:lnSpc>
                <a:spcPct val="100000"/>
              </a:lnSpc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第一步，执行①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;</a:t>
            </a:r>
          </a:p>
          <a:p>
            <a:pPr marL="0" indent="0" fontAlgn="auto">
              <a:lnSpc>
                <a:spcPct val="100000"/>
              </a:lnSpc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第二步，执行②，如果判断条件的值非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0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，执行第三步，如果判断条件的值为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0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，执行第五步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;</a:t>
            </a:r>
          </a:p>
          <a:p>
            <a:pPr marL="0" indent="0" fontAlgn="auto">
              <a:lnSpc>
                <a:spcPct val="100000"/>
              </a:lnSpc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第三步，执行④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;</a:t>
            </a:r>
            <a:endParaRPr lang="zh-CN" altLang="zh-CN" sz="1500" dirty="0">
              <a:latin typeface="+mn-lt"/>
              <a:ea typeface="+mn-ea"/>
              <a:cs typeface="+mn-cs"/>
            </a:endParaRPr>
          </a:p>
          <a:p>
            <a:pPr marL="0" indent="0" fontAlgn="auto">
              <a:lnSpc>
                <a:spcPct val="100000"/>
              </a:lnSpc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第四步，执行③，然后继续执行第二步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;</a:t>
            </a:r>
            <a:endParaRPr lang="zh-CN" altLang="zh-CN" sz="1500" dirty="0">
              <a:latin typeface="+mn-lt"/>
              <a:ea typeface="+mn-ea"/>
              <a:cs typeface="+mn-cs"/>
            </a:endParaRPr>
          </a:p>
          <a:p>
            <a:pPr marL="0" indent="0" fontAlgn="auto">
              <a:lnSpc>
                <a:spcPct val="100000"/>
              </a:lnSpc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第五步，退出循环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;</a:t>
            </a:r>
            <a:endParaRPr lang="zh-CN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zh-CN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zh-CN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</a:t>
            </a: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</a:t>
            </a:r>
            <a:endParaRPr lang="en-US" altLang="zh-CN" sz="1050" dirty="0">
              <a:latin typeface="+mn-lt"/>
              <a:ea typeface="+mn-ea"/>
              <a:cs typeface="+mn-cs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895475" y="1710929"/>
            <a:ext cx="5680472" cy="1013222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for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（①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; 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②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; 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③）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{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④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}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3.4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循环结构语句</a:t>
            </a: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657225"/>
            <a:ext cx="6172200" cy="4130279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对自然数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1~4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求和，实现方式如例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3-8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所示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例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3-8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783715" y="1575435"/>
            <a:ext cx="5680710" cy="3211830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#include&lt;stdio.h&gt;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void main()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{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int sum = 0;      //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定义变量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sum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，用于记住累加的和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for (int </a:t>
            </a:r>
            <a:r>
              <a:rPr kumimoji="0" lang="en-US" altLang="zh-CN" sz="1500" b="0" i="0" u="none" strike="noStrike" kern="1200" cap="none" spc="30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i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= 1; </a:t>
            </a:r>
            <a:r>
              <a:rPr kumimoji="0" lang="en-US" altLang="zh-CN" sz="1500" b="0" i="0" u="none" strike="noStrike" kern="1200" cap="none" spc="30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i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&lt;= 4; </a:t>
            </a:r>
            <a:r>
              <a:rPr kumimoji="0" lang="en-US" altLang="zh-CN" sz="1500" b="0" i="0" u="none" strike="noStrike" kern="1200" cap="none" spc="30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i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++) //</a:t>
            </a:r>
            <a:r>
              <a:rPr kumimoji="0" lang="en-US" altLang="zh-CN" sz="1500" b="0" i="0" u="none" strike="noStrike" kern="1200" cap="none" spc="30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i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的值会在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1~4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之间变化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{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   sum += </a:t>
            </a:r>
            <a:r>
              <a:rPr kumimoji="0" lang="en-US" altLang="zh-CN" sz="1500" b="0" i="0" u="none" strike="noStrike" kern="1200" cap="none" spc="30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i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;                   //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实现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sum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与</a:t>
            </a:r>
            <a:r>
              <a:rPr kumimoji="0" lang="en-US" altLang="zh-CN" sz="1500" b="0" i="0" u="none" strike="noStrike" kern="1200" cap="none" spc="30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i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的累加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}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printf("sum = %d \n", sum);  //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打印累加的和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}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3.4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循环结构语句</a:t>
            </a: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746522"/>
            <a:ext cx="6172200" cy="4250531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例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3-8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运行结果如图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3-12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所示：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  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图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3-11  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运行结果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3-8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中，变量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的初始值为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，在判断条件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&lt;=4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为真的情况下，会执行循环体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sum+=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，执行完毕后，会执行操作表达式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++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的值变为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，然后继续进行条件判断，开始下一次循环，直到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=5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时，条件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&lt;=4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为假，结束循环，执行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循环后面的代码，打印“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sum=10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1988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825" y="1176338"/>
            <a:ext cx="5183981" cy="83462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3.4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循环结构语句</a:t>
            </a: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707231"/>
            <a:ext cx="6172200" cy="4250531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为了让读者能熟悉整个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循环的执行过程，现将例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3-9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运行期间每次循环中变量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sum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的值通过表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3-1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列举出来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3-1  sum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在循环中的值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919288" y="2343150"/>
          <a:ext cx="5286375" cy="1631950"/>
        </p:xfrm>
        <a:graphic>
          <a:graphicData uri="http://schemas.openxmlformats.org/drawingml/2006/table">
            <a:tbl>
              <a:tblPr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390">
                <a:tc>
                  <a:txBody>
                    <a:bodyPr/>
                    <a:lstStyle/>
                    <a:p>
                      <a:pPr indent="0" algn="ctr" fontAlgn="auto">
                        <a:spcAft>
                          <a:spcPts val="0"/>
                        </a:spcAft>
                      </a:pPr>
                      <a:r>
                        <a:rPr lang="zh-CN" sz="1100" kern="100">
                          <a:solidFill>
                            <a:srgbClr val="584E61"/>
                          </a:solidFill>
                          <a:effectLst/>
                        </a:rPr>
                        <a:t>循环次数</a:t>
                      </a:r>
                      <a:endParaRPr lang="zh-CN" sz="1100" kern="100">
                        <a:solidFill>
                          <a:srgbClr val="584E61"/>
                        </a:solidFill>
                        <a:effectLst/>
                        <a:latin typeface="Times New Roman" panose="02020503050405090304"/>
                        <a:ea typeface="宋体" pitchFamily="2" charset="-122"/>
                      </a:endParaRP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584E61"/>
                      </a:solidFill>
                      <a:prstDash val="solid"/>
                    </a:lnT>
                    <a:lnB w="19050">
                      <a:solidFill>
                        <a:srgbClr val="584E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rgbClr val="584E61"/>
                          </a:solidFill>
                          <a:effectLst/>
                        </a:rPr>
                        <a:t>sum</a:t>
                      </a:r>
                      <a:endParaRPr lang="en-US" sz="1100" kern="100">
                        <a:solidFill>
                          <a:srgbClr val="584E61"/>
                        </a:solidFill>
                        <a:effectLst/>
                        <a:latin typeface="Times New Roman" panose="02020503050405090304"/>
                        <a:ea typeface="宋体" pitchFamily="2" charset="-122"/>
                      </a:endParaRP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584E61"/>
                      </a:solidFill>
                      <a:prstDash val="solid"/>
                    </a:lnT>
                    <a:lnB w="19050">
                      <a:solidFill>
                        <a:srgbClr val="584E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rgbClr val="584E61"/>
                          </a:solidFill>
                          <a:effectLst/>
                        </a:rPr>
                        <a:t>i</a:t>
                      </a:r>
                      <a:endParaRPr lang="en-US" sz="1100" kern="100">
                        <a:solidFill>
                          <a:srgbClr val="584E61"/>
                        </a:solidFill>
                        <a:effectLst/>
                        <a:latin typeface="Times New Roman" panose="02020503050405090304"/>
                        <a:ea typeface="宋体" pitchFamily="2" charset="-122"/>
                      </a:endParaRP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584E61"/>
                      </a:solidFill>
                      <a:prstDash val="solid"/>
                    </a:lnT>
                    <a:lnB w="19050">
                      <a:solidFill>
                        <a:srgbClr val="584E6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180340" algn="l"/>
                        </a:tabLst>
                      </a:pPr>
                      <a:r>
                        <a:rPr lang="zh-CN" sz="1100" kern="100">
                          <a:solidFill>
                            <a:srgbClr val="584E61"/>
                          </a:solidFill>
                          <a:effectLst/>
                        </a:rPr>
                        <a:t>第一次</a:t>
                      </a:r>
                      <a:endParaRPr lang="zh-CN" sz="1100" kern="100">
                        <a:solidFill>
                          <a:srgbClr val="584E61"/>
                        </a:solidFill>
                        <a:effectLst/>
                        <a:latin typeface="Times New Roman" panose="02020503050405090304"/>
                        <a:ea typeface="宋体" pitchFamily="2" charset="-122"/>
                      </a:endParaRP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584E6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180340" algn="l"/>
                        </a:tabLst>
                      </a:pPr>
                      <a:r>
                        <a:rPr lang="en-US" sz="1100" kern="100">
                          <a:solidFill>
                            <a:srgbClr val="584E61"/>
                          </a:solidFill>
                          <a:effectLst/>
                        </a:rPr>
                        <a:t>1</a:t>
                      </a:r>
                      <a:endParaRPr lang="en-US" sz="1100" kern="100">
                        <a:solidFill>
                          <a:srgbClr val="584E61"/>
                        </a:solidFill>
                        <a:effectLst/>
                        <a:latin typeface="Times New Roman" panose="02020503050405090304"/>
                        <a:ea typeface="宋体" pitchFamily="2" charset="-122"/>
                      </a:endParaRP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584E6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180340" algn="l"/>
                        </a:tabLst>
                      </a:pPr>
                      <a:r>
                        <a:rPr lang="en-US" sz="1100" kern="100">
                          <a:solidFill>
                            <a:srgbClr val="584E61"/>
                          </a:solidFill>
                          <a:effectLst/>
                        </a:rPr>
                        <a:t>1</a:t>
                      </a:r>
                      <a:endParaRPr lang="en-US" sz="1100" kern="100">
                        <a:solidFill>
                          <a:srgbClr val="584E61"/>
                        </a:solidFill>
                        <a:effectLst/>
                        <a:latin typeface="Times New Roman" panose="02020503050405090304"/>
                        <a:ea typeface="宋体" pitchFamily="2" charset="-122"/>
                      </a:endParaRP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584E6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180340" algn="l"/>
                        </a:tabLst>
                      </a:pPr>
                      <a:r>
                        <a:rPr lang="zh-CN" sz="1100" kern="100">
                          <a:solidFill>
                            <a:srgbClr val="584E61"/>
                          </a:solidFill>
                          <a:effectLst/>
                        </a:rPr>
                        <a:t>第二次</a:t>
                      </a:r>
                      <a:endParaRPr lang="zh-CN" sz="1100" kern="100">
                        <a:solidFill>
                          <a:srgbClr val="584E61"/>
                        </a:solidFill>
                        <a:effectLst/>
                        <a:latin typeface="Times New Roman" panose="02020503050405090304"/>
                        <a:ea typeface="宋体" pitchFamily="2" charset="-122"/>
                      </a:endParaRP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F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180340" algn="l"/>
                        </a:tabLst>
                      </a:pPr>
                      <a:r>
                        <a:rPr lang="en-US" sz="1100" kern="100">
                          <a:solidFill>
                            <a:srgbClr val="584E61"/>
                          </a:solidFill>
                          <a:effectLst/>
                        </a:rPr>
                        <a:t>3</a:t>
                      </a:r>
                      <a:endParaRPr lang="en-US" sz="1100" kern="100">
                        <a:solidFill>
                          <a:srgbClr val="584E61"/>
                        </a:solidFill>
                        <a:effectLst/>
                        <a:latin typeface="Times New Roman" panose="02020503050405090304"/>
                        <a:ea typeface="宋体" pitchFamily="2" charset="-122"/>
                      </a:endParaRP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F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180340" algn="l"/>
                        </a:tabLst>
                      </a:pPr>
                      <a:r>
                        <a:rPr lang="en-US" sz="1100" kern="100">
                          <a:solidFill>
                            <a:srgbClr val="584E61"/>
                          </a:solidFill>
                          <a:effectLst/>
                        </a:rPr>
                        <a:t>2</a:t>
                      </a:r>
                      <a:endParaRPr lang="en-US" sz="1100" kern="100">
                        <a:solidFill>
                          <a:srgbClr val="584E61"/>
                        </a:solidFill>
                        <a:effectLst/>
                        <a:latin typeface="Times New Roman" panose="02020503050405090304"/>
                        <a:ea typeface="宋体" pitchFamily="2" charset="-122"/>
                      </a:endParaRP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180340" algn="l"/>
                        </a:tabLst>
                      </a:pPr>
                      <a:r>
                        <a:rPr lang="zh-CN" sz="1100" kern="100">
                          <a:solidFill>
                            <a:srgbClr val="584E61"/>
                          </a:solidFill>
                          <a:effectLst/>
                        </a:rPr>
                        <a:t>第三次</a:t>
                      </a:r>
                      <a:endParaRPr lang="zh-CN" sz="1100" kern="100">
                        <a:solidFill>
                          <a:srgbClr val="584E61"/>
                        </a:solidFill>
                        <a:effectLst/>
                        <a:latin typeface="Times New Roman" panose="02020503050405090304"/>
                        <a:ea typeface="宋体" pitchFamily="2" charset="-122"/>
                      </a:endParaRP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180340" algn="l"/>
                        </a:tabLst>
                      </a:pPr>
                      <a:r>
                        <a:rPr lang="en-US" sz="1100" kern="100">
                          <a:solidFill>
                            <a:srgbClr val="584E61"/>
                          </a:solidFill>
                          <a:effectLst/>
                        </a:rPr>
                        <a:t>6</a:t>
                      </a:r>
                      <a:endParaRPr lang="en-US" sz="1100" kern="100">
                        <a:solidFill>
                          <a:srgbClr val="584E61"/>
                        </a:solidFill>
                        <a:effectLst/>
                        <a:latin typeface="Times New Roman" panose="02020503050405090304"/>
                        <a:ea typeface="宋体" pitchFamily="2" charset="-122"/>
                      </a:endParaRP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180340" algn="l"/>
                        </a:tabLst>
                      </a:pPr>
                      <a:r>
                        <a:rPr lang="en-US" sz="1100" kern="100">
                          <a:solidFill>
                            <a:srgbClr val="584E61"/>
                          </a:solidFill>
                          <a:effectLst/>
                        </a:rPr>
                        <a:t>3</a:t>
                      </a:r>
                      <a:endParaRPr lang="en-US" sz="1100" kern="100">
                        <a:solidFill>
                          <a:srgbClr val="584E61"/>
                        </a:solidFill>
                        <a:effectLst/>
                        <a:latin typeface="Times New Roman" panose="02020503050405090304"/>
                        <a:ea typeface="宋体" pitchFamily="2" charset="-122"/>
                      </a:endParaRP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180340" algn="l"/>
                        </a:tabLst>
                      </a:pPr>
                      <a:r>
                        <a:rPr lang="zh-CN" sz="1100" kern="100">
                          <a:solidFill>
                            <a:srgbClr val="584E61"/>
                          </a:solidFill>
                          <a:effectLst/>
                        </a:rPr>
                        <a:t>第四次</a:t>
                      </a:r>
                      <a:endParaRPr lang="zh-CN" sz="1100" kern="100">
                        <a:solidFill>
                          <a:srgbClr val="584E61"/>
                        </a:solidFill>
                        <a:effectLst/>
                        <a:latin typeface="Times New Roman" panose="02020503050405090304"/>
                        <a:ea typeface="宋体" pitchFamily="2" charset="-122"/>
                      </a:endParaRP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584E61"/>
                      </a:solidFill>
                      <a:prstDash val="solid"/>
                    </a:lnB>
                    <a:solidFill>
                      <a:srgbClr val="F0EF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180340" algn="l"/>
                        </a:tabLst>
                      </a:pPr>
                      <a:r>
                        <a:rPr lang="en-US" sz="1100" kern="100">
                          <a:solidFill>
                            <a:srgbClr val="584E61"/>
                          </a:solidFill>
                          <a:effectLst/>
                        </a:rPr>
                        <a:t>10</a:t>
                      </a:r>
                      <a:endParaRPr lang="en-US" sz="1100" kern="100">
                        <a:solidFill>
                          <a:srgbClr val="584E61"/>
                        </a:solidFill>
                        <a:effectLst/>
                        <a:latin typeface="Times New Roman" panose="02020503050405090304"/>
                        <a:ea typeface="宋体" pitchFamily="2" charset="-122"/>
                      </a:endParaRP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584E61"/>
                      </a:solidFill>
                      <a:prstDash val="solid"/>
                    </a:lnB>
                    <a:solidFill>
                      <a:srgbClr val="F0EF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-180340" algn="l"/>
                        </a:tabLst>
                      </a:pPr>
                      <a:r>
                        <a:rPr lang="en-US" sz="1100" kern="100" dirty="0">
                          <a:solidFill>
                            <a:srgbClr val="584E61"/>
                          </a:solidFill>
                          <a:effectLst/>
                        </a:rPr>
                        <a:t>4</a:t>
                      </a:r>
                      <a:endParaRPr lang="en-US" sz="1100" kern="100" dirty="0">
                        <a:solidFill>
                          <a:srgbClr val="584E61"/>
                        </a:solidFill>
                        <a:effectLst/>
                        <a:latin typeface="Times New Roman" panose="02020503050405090304"/>
                        <a:ea typeface="宋体" pitchFamily="2" charset="-122"/>
                      </a:endParaRP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584E61"/>
                      </a:solidFill>
                      <a:prstDash val="solid"/>
                    </a:lnB>
                    <a:solidFill>
                      <a:srgbClr val="F0E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3.4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循环结构语句</a:t>
            </a: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614363"/>
            <a:ext cx="6172200" cy="4260056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3.4.4  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循环嵌套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有时为了解决一个较为复杂的问题，需要在一个循环中再定义一个循环，这样的方式被称作循环嵌套。在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语言中，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do…while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循环语句都可以进行嵌套，并且它们之间也可以互相嵌套。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循环中嵌套是最常见的循环嵌套，其语法格式如下所示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776413" y="2480072"/>
            <a:ext cx="5680472" cy="2403872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for(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初始化表达式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; 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循环条件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; 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操作表达式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) 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{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 ……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 for(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初始化表达式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; 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循环条件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; 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操作表达式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) 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 {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执行语句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……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 }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……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｝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3.4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循环结构语句</a:t>
            </a: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内容占位符 2"/>
          <p:cNvSpPr>
            <a:spLocks noGrp="1"/>
          </p:cNvSpPr>
          <p:nvPr>
            <p:ph idx="1"/>
          </p:nvPr>
        </p:nvSpPr>
        <p:spPr>
          <a:xfrm>
            <a:off x="1485900" y="614363"/>
            <a:ext cx="6172200" cy="4260056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接下来，通过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for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语句的循环嵌套来实现使用“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*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”打印直角三角形，如例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3-10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所示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：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009ED6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009ED6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</a:t>
            </a: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</a:t>
            </a:r>
            <a:endParaRPr lang="en-US" altLang="zh-CN" sz="1050" dirty="0">
              <a:latin typeface="+mn-lt"/>
              <a:ea typeface="+mn-ea"/>
              <a:cs typeface="+mn-cs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776413" y="1431131"/>
            <a:ext cx="5680472" cy="3070622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#include&lt;stdio.h&gt;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void main()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{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int </a:t>
            </a:r>
            <a:r>
              <a:rPr kumimoji="0" lang="en-US" altLang="zh-CN" sz="1500" b="0" i="0" u="none" strike="noStrike" kern="1200" cap="none" spc="30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i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, j;                          //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定义两个循环变量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for (</a:t>
            </a:r>
            <a:r>
              <a:rPr kumimoji="0" lang="en-US" altLang="zh-CN" sz="1500" b="0" i="0" u="none" strike="noStrike" kern="1200" cap="none" spc="30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i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= 1; </a:t>
            </a:r>
            <a:r>
              <a:rPr kumimoji="0" lang="en-US" altLang="zh-CN" sz="1500" b="0" i="0" u="none" strike="noStrike" kern="1200" cap="none" spc="30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i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&lt;= 9; </a:t>
            </a:r>
            <a:r>
              <a:rPr kumimoji="0" lang="en-US" altLang="zh-CN" sz="1500" b="0" i="0" u="none" strike="noStrike" kern="1200" cap="none" spc="30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i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++)      //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外层循环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{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   for (j = 1; j &lt;= </a:t>
            </a:r>
            <a:r>
              <a:rPr kumimoji="0" lang="en-US" altLang="zh-CN" sz="1500" b="0" i="0" u="none" strike="noStrike" kern="1200" cap="none" spc="30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i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; j++)   //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内层循环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   {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printf("*");	   	    //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打印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*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   }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	printf("\n");	            //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换行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}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}</a:t>
            </a: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j-cs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3.4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循环结构语句</a:t>
            </a: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744141"/>
            <a:ext cx="6172200" cy="4250531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例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3-10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运行结果如图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3-12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所示：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图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3-12  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运行结果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6084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00" y="1216819"/>
            <a:ext cx="5011341" cy="193952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3.4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循环结构语句</a:t>
            </a:r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577454"/>
            <a:ext cx="6172200" cy="444579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例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3-10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运行步骤解析：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第一步，在第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行代码中定义了两个循环变量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，其中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为外层循环变量，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为内层循环变量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第二步，在第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行代码中将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初始化为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，条件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&lt;= 9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为真，程序将首次进入外层循环的循环体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第三步，在第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行代码中将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初始化为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，由于此时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的值为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，条件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 &lt;= 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为真，程序将首次进入内层循环的循环体，打印一个“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”。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第四步，执行第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行代码中内层循环的操作表达式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j++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，将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的值自增为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第五步，执行第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行代码中的判断条件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j&lt;=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，判断结果为假，内层循环结束。执行后面的代码，打印换行符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      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3.4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循环结构语句</a:t>
            </a: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678656"/>
            <a:ext cx="6172200" cy="4249341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第六步，执行第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行代码中外层循环的操作表达式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++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，将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的值自增为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第七步，执行第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行代码中的判断条件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&lt;=9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，判断结果为真，程序将进入外层循环的循环体，继续执行内层循环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第八步，由于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的值为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，内层循环会执行两次，即在第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行打印两个“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”。在内层循环结束时会打印换行符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第九步，以此类推，在第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行会打印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个“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”，逐行递增，直到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的值为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时，外层循环的判断条件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&lt;= 9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结果为假，外层循环结束，整个程序也就结束了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      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3.4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循环结构语句</a:t>
            </a:r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514350" y="809625"/>
            <a:ext cx="8263255" cy="329819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3.4.5  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跳转语句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跳转语句用于实现循环执行过程中程序流程的跳转，在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语言中，跳转语句有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break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语句和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continue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break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switch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条件语句和循环语句中都可以使用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break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语句。当它出现在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switch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条件语句中时，作用是终止某个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case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并跳出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switch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结构。</a:t>
            </a:r>
            <a:r>
              <a:rPr kumimoji="0" lang="zh-CN" altLang="zh-CN" sz="15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break关键字用于跳出循环语句，可以用于终止循环的执行。当在循环内部遇到break语句时，程序会立即跳出当前循环，不再执行循环内的剩余代码，而是继续执行循环后的代码。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接下来通过一个具体的案例来演示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break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语句如何跳出当前循环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如例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3-11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所示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3.4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循环结构语句</a:t>
            </a: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内容占位符 2"/>
          <p:cNvSpPr>
            <a:spLocks noGrp="1"/>
          </p:cNvSpPr>
          <p:nvPr>
            <p:ph idx="1"/>
          </p:nvPr>
        </p:nvSpPr>
        <p:spPr>
          <a:xfrm>
            <a:off x="1485900" y="633413"/>
            <a:ext cx="6172200" cy="4445794"/>
          </a:xfrm>
          <a:noFill/>
          <a:ln>
            <a:noFill/>
          </a:ln>
        </p:spPr>
        <p:txBody>
          <a:bodyPr/>
          <a:lstStyle/>
          <a:p>
            <a:pPr marL="0" indent="0">
              <a:spcBef>
                <a:spcPct val="0"/>
              </a:spcBef>
              <a:buNone/>
            </a:pPr>
            <a:r>
              <a:rPr lang="zh-CN" altLang="en-US" sz="1500" dirty="0">
                <a:latin typeface="+mn-lt"/>
                <a:ea typeface="+mn-ea"/>
                <a:cs typeface="+mn-cs"/>
              </a:rPr>
              <a:t>例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3-11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：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009ED6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</a:t>
            </a: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</a:t>
            </a:r>
            <a:endParaRPr lang="en-US" altLang="zh-CN" sz="1050" dirty="0">
              <a:latin typeface="+mn-lt"/>
              <a:ea typeface="+mn-ea"/>
              <a:cs typeface="+mn-cs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550035" y="1052830"/>
            <a:ext cx="5906770" cy="3536315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#include&lt;stdio.h&gt;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int main() {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int x = 1;          //定义变量x，初始值为1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while (x &lt;= 4)   //循环条件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{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   printf("x = %d\n", x);  //条件成立，打印x的值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   if (x == 2)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   { break;}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   x++;          //x进行自增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}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return 0;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}</a:t>
            </a: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3.4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循环结构语句</a:t>
            </a:r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内容占位符 2"/>
          <p:cNvSpPr>
            <a:spLocks noGrp="1"/>
          </p:cNvSpPr>
          <p:nvPr>
            <p:ph idx="1"/>
          </p:nvPr>
        </p:nvSpPr>
        <p:spPr>
          <a:xfrm>
            <a:off x="1485900" y="796529"/>
            <a:ext cx="6172200" cy="4124325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zh-CN" altLang="en-US" sz="1500" dirty="0">
                <a:latin typeface="+mn-lt"/>
                <a:ea typeface="+mn-ea"/>
                <a:cs typeface="+mn-cs"/>
              </a:rPr>
              <a:t>    例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3-11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运行结果如图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3-13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：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                      </a:t>
            </a:r>
          </a:p>
          <a:p>
            <a:pPr marL="0" indent="0">
              <a:spcBef>
                <a:spcPct val="0"/>
              </a:spcBef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 algn="ctr">
              <a:spcBef>
                <a:spcPct val="0"/>
              </a:spcBef>
              <a:buNone/>
            </a:pPr>
            <a:r>
              <a:rPr lang="zh-CN" altLang="en-US" sz="1050" dirty="0">
                <a:latin typeface="+mn-lt"/>
                <a:ea typeface="+mn-ea"/>
                <a:cs typeface="+mn-cs"/>
              </a:rPr>
              <a:t>图</a:t>
            </a:r>
            <a:r>
              <a:rPr lang="en-US" altLang="zh-CN" sz="1050" dirty="0">
                <a:latin typeface="+mn-lt"/>
                <a:ea typeface="+mn-ea"/>
                <a:cs typeface="+mn-cs"/>
              </a:rPr>
              <a:t>3-13   </a:t>
            </a:r>
            <a:r>
              <a:rPr lang="zh-CN" altLang="en-US" sz="1050" dirty="0">
                <a:latin typeface="+mn-lt"/>
                <a:ea typeface="+mn-ea"/>
                <a:cs typeface="+mn-cs"/>
              </a:rPr>
              <a:t>运行结果</a:t>
            </a:r>
            <a:endParaRPr lang="en-US" altLang="zh-CN" sz="105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zh-CN" sz="1050" dirty="0">
                <a:latin typeface="+mn-lt"/>
                <a:ea typeface="+mn-ea"/>
                <a:cs typeface="+mn-cs"/>
              </a:rPr>
              <a:t>       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例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3-11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中，通过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while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循环打印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x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的值，当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x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的值为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2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时使用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break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语句跳出循环。因此打印结果中并没有出现“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x=3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”和“x=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4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”</a:t>
            </a:r>
            <a:r>
              <a:rPr lang="zh-CN" altLang="en-US" sz="1050" dirty="0">
                <a:latin typeface="+mn-lt"/>
                <a:ea typeface="+mn-ea"/>
                <a:cs typeface="+mn-cs"/>
              </a:rPr>
              <a:t>。</a:t>
            </a:r>
            <a:endParaRPr lang="en-US" altLang="zh-CN" sz="105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009ED6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</a:t>
            </a: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</a:t>
            </a:r>
            <a:endParaRPr lang="en-US" altLang="zh-CN" sz="1050" dirty="0"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3.4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循环结构语句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38300" y="1440815"/>
            <a:ext cx="5867400" cy="12890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765810" y="781050"/>
            <a:ext cx="7682230" cy="20478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−"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continue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在循环语句中，</a:t>
            </a:r>
            <a:r>
              <a:rPr kumimoji="0" altLang="zh-CN" sz="15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continue关键字也用于控制循环流程，但它与break不同。当在循环内部遇到continue语句时，程序会跳过当前循环剩余的代码，直接进入下一次循环的执行。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接下来通过一个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1~100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之内的奇数求和的案例来演示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continue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语句的使用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如例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3-13</a:t>
            </a:r>
            <a:r>
              <a:rPr kumimoji="0" lang="zh-CN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所示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3.4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循环结构语句</a:t>
            </a:r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内容占位符 2"/>
          <p:cNvSpPr>
            <a:spLocks noGrp="1"/>
          </p:cNvSpPr>
          <p:nvPr>
            <p:ph idx="1"/>
          </p:nvPr>
        </p:nvSpPr>
        <p:spPr>
          <a:xfrm>
            <a:off x="1485900" y="604838"/>
            <a:ext cx="6172200" cy="4001691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zh-CN" altLang="zh-CN" sz="1500" dirty="0">
                <a:latin typeface="+mn-lt"/>
                <a:ea typeface="+mn-ea"/>
                <a:cs typeface="+mn-cs"/>
              </a:rPr>
              <a:t>例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3-13:</a:t>
            </a: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</a:t>
            </a: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009ED6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009ED6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</a:t>
            </a: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</a:t>
            </a:r>
            <a:endParaRPr lang="en-US" altLang="zh-CN" sz="1050" dirty="0">
              <a:latin typeface="+mn-lt"/>
              <a:ea typeface="+mn-ea"/>
              <a:cs typeface="+mn-cs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600200" y="991870"/>
            <a:ext cx="5788660" cy="3996055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#include&lt;stdio.h&gt;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int main() {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int sum = 0;           //定义变量sum，用于记住和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for (int i = 1; i &lt;= 100; i++)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{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  if (i % 2 == 0)   //如果i是一个偶数，执行if语句中的代码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  {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 continue;      //结束本次循环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  }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 sum += i;          //实现sum和i的累加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}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 printf("sum = %d\n", sum);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    return 0;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j-cs"/>
              </a:rPr>
              <a:t>}</a:t>
            </a: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3.4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循环结构语句</a:t>
            </a:r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内容占位符 2"/>
          <p:cNvSpPr>
            <a:spLocks noGrp="1"/>
          </p:cNvSpPr>
          <p:nvPr>
            <p:ph idx="1"/>
          </p:nvPr>
        </p:nvSpPr>
        <p:spPr>
          <a:xfrm>
            <a:off x="1485900" y="772716"/>
            <a:ext cx="6172200" cy="4000500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例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3-13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运行结果如图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3-15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所示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:</a:t>
            </a:r>
          </a:p>
          <a:p>
            <a:pPr marL="0" indent="0">
              <a:buNone/>
            </a:pPr>
            <a:endParaRPr lang="zh-CN" altLang="en-US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                          </a:t>
            </a:r>
            <a:r>
              <a:rPr lang="zh-CN" altLang="en-US" sz="1050" dirty="0">
                <a:latin typeface="+mn-lt"/>
                <a:ea typeface="+mn-ea"/>
                <a:cs typeface="+mn-cs"/>
              </a:rPr>
              <a:t>图</a:t>
            </a:r>
            <a:r>
              <a:rPr lang="en-US" altLang="zh-CN" sz="1050" dirty="0">
                <a:latin typeface="+mn-lt"/>
                <a:ea typeface="+mn-ea"/>
                <a:cs typeface="+mn-cs"/>
              </a:rPr>
              <a:t>3-15  </a:t>
            </a:r>
            <a:r>
              <a:rPr lang="zh-CN" altLang="en-US" sz="1050" dirty="0">
                <a:latin typeface="+mn-lt"/>
                <a:ea typeface="+mn-ea"/>
                <a:cs typeface="+mn-cs"/>
              </a:rPr>
              <a:t>运行结果</a:t>
            </a:r>
            <a:endParaRPr lang="en-US" altLang="zh-CN" sz="105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例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3-13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使用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for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循环让变量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i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的值在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1~100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之间循环，在循环过程中，当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i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的值为偶数时，将执行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continue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语句结束本次循环，进入下一次循环。当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i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的值为奇数时，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sum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和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i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进行累加，最终得到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1~100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之间所有奇数的和，打印“</a:t>
            </a:r>
            <a:r>
              <a:rPr lang="en-US" altLang="zh-CN" sz="1500" dirty="0">
                <a:latin typeface="+mn-lt"/>
                <a:ea typeface="+mn-ea"/>
                <a:cs typeface="+mn-cs"/>
              </a:rPr>
              <a:t>sum = 2500</a:t>
            </a:r>
            <a:r>
              <a:rPr lang="zh-CN" altLang="zh-CN" sz="1500" dirty="0">
                <a:latin typeface="+mn-lt"/>
                <a:ea typeface="+mn-ea"/>
                <a:cs typeface="+mn-cs"/>
              </a:rPr>
              <a:t>”</a:t>
            </a:r>
            <a:r>
              <a:rPr lang="zh-CN" altLang="en-US" sz="1500" dirty="0">
                <a:latin typeface="+mn-lt"/>
                <a:ea typeface="+mn-ea"/>
                <a:cs typeface="+mn-cs"/>
              </a:rPr>
              <a:t>。</a:t>
            </a: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</a:t>
            </a:r>
          </a:p>
          <a:p>
            <a:pPr marL="0" indent="0">
              <a:buNone/>
            </a:pPr>
            <a:endParaRPr lang="en-US" altLang="zh-CN" sz="15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009ED6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009ED6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      </a:t>
            </a:r>
          </a:p>
          <a:p>
            <a:pPr marL="0" indent="0">
              <a:buNone/>
            </a:pPr>
            <a:r>
              <a:rPr lang="en-US" altLang="zh-CN" sz="1500" dirty="0">
                <a:latin typeface="+mn-lt"/>
                <a:ea typeface="+mn-ea"/>
                <a:cs typeface="+mn-cs"/>
              </a:rPr>
              <a:t>       </a:t>
            </a:r>
            <a:endParaRPr lang="en-US" altLang="zh-CN" sz="1050" dirty="0"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3.4 </a:t>
            </a: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循环结构语句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66875" y="1203960"/>
            <a:ext cx="5810250" cy="10858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-317" y="85725"/>
            <a:ext cx="5824538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700" b="1" i="0" u="none" strike="noStrike" kern="0" cap="none" spc="300" normalizeH="0" baseline="0" noProof="0" dirty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本章小结</a:t>
            </a:r>
          </a:p>
        </p:txBody>
      </p:sp>
      <p:sp>
        <p:nvSpPr>
          <p:cNvPr id="58371" name="内容占位符 2"/>
          <p:cNvSpPr>
            <a:spLocks noGrp="1"/>
          </p:cNvSpPr>
          <p:nvPr>
            <p:ph idx="1"/>
          </p:nvPr>
        </p:nvSpPr>
        <p:spPr>
          <a:xfrm>
            <a:off x="1485900" y="620316"/>
            <a:ext cx="6172200" cy="4289822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+mn-lt"/>
                <a:ea typeface="+mn-ea"/>
                <a:cs typeface="+mn-cs"/>
              </a:rPr>
              <a:t>        </a:t>
            </a:r>
          </a:p>
          <a:p>
            <a:pPr marL="0" indent="0">
              <a:buNone/>
            </a:pPr>
            <a:r>
              <a:rPr lang="en-US" altLang="zh-CN" dirty="0">
                <a:latin typeface="+mn-lt"/>
                <a:ea typeface="+mn-ea"/>
                <a:cs typeface="+mn-cs"/>
              </a:rPr>
              <a:t>       </a:t>
            </a:r>
            <a:r>
              <a:rPr lang="zh-CN" altLang="zh-CN" dirty="0">
                <a:latin typeface="+mn-lt"/>
                <a:ea typeface="+mn-ea"/>
                <a:cs typeface="+mn-cs"/>
              </a:rPr>
              <a:t>本章首先讲解了程序的运行流程图，然后讲解了</a:t>
            </a:r>
            <a:r>
              <a:rPr lang="en-US" altLang="zh-CN" dirty="0">
                <a:latin typeface="+mn-lt"/>
                <a:ea typeface="+mn-ea"/>
                <a:cs typeface="+mn-cs"/>
              </a:rPr>
              <a:t>C</a:t>
            </a:r>
            <a:r>
              <a:rPr lang="zh-CN" altLang="zh-CN" dirty="0">
                <a:latin typeface="+mn-lt"/>
                <a:ea typeface="+mn-ea"/>
                <a:cs typeface="+mn-cs"/>
              </a:rPr>
              <a:t>语言中最基本的三种流程控制语句，包括顺序结构语句、选择结构语句和循环语句。通过本章的学习，能够熟练的运用</a:t>
            </a:r>
            <a:r>
              <a:rPr lang="en-US" altLang="zh-CN" dirty="0">
                <a:latin typeface="+mn-lt"/>
                <a:ea typeface="+mn-ea"/>
                <a:cs typeface="+mn-cs"/>
              </a:rPr>
              <a:t>if</a:t>
            </a:r>
            <a:r>
              <a:rPr lang="zh-CN" altLang="zh-CN" dirty="0">
                <a:latin typeface="+mn-lt"/>
                <a:ea typeface="+mn-ea"/>
                <a:cs typeface="+mn-cs"/>
              </a:rPr>
              <a:t>判断语句、</a:t>
            </a:r>
            <a:r>
              <a:rPr lang="en-US" altLang="zh-CN" dirty="0">
                <a:latin typeface="+mn-lt"/>
                <a:ea typeface="+mn-ea"/>
                <a:cs typeface="+mn-cs"/>
              </a:rPr>
              <a:t>switch</a:t>
            </a:r>
            <a:r>
              <a:rPr lang="zh-CN" altLang="zh-CN" dirty="0">
                <a:latin typeface="+mn-lt"/>
                <a:ea typeface="+mn-ea"/>
                <a:cs typeface="+mn-cs"/>
              </a:rPr>
              <a:t>判断语句、</a:t>
            </a:r>
            <a:r>
              <a:rPr lang="en-US" altLang="zh-CN" dirty="0">
                <a:latin typeface="+mn-lt"/>
                <a:ea typeface="+mn-ea"/>
                <a:cs typeface="+mn-cs"/>
              </a:rPr>
              <a:t>while</a:t>
            </a:r>
            <a:r>
              <a:rPr lang="zh-CN" altLang="zh-CN" dirty="0">
                <a:latin typeface="+mn-lt"/>
                <a:ea typeface="+mn-ea"/>
                <a:cs typeface="+mn-cs"/>
              </a:rPr>
              <a:t>循环语句、</a:t>
            </a:r>
            <a:r>
              <a:rPr lang="en-US" altLang="zh-CN" dirty="0">
                <a:latin typeface="+mn-lt"/>
                <a:ea typeface="+mn-ea"/>
                <a:cs typeface="+mn-cs"/>
              </a:rPr>
              <a:t>do-while</a:t>
            </a:r>
            <a:r>
              <a:rPr lang="zh-CN" altLang="zh-CN" dirty="0">
                <a:latin typeface="+mn-lt"/>
                <a:ea typeface="+mn-ea"/>
                <a:cs typeface="+mn-cs"/>
              </a:rPr>
              <a:t>循环语句以及</a:t>
            </a:r>
            <a:r>
              <a:rPr lang="en-US" altLang="zh-CN" dirty="0">
                <a:latin typeface="+mn-lt"/>
                <a:ea typeface="+mn-ea"/>
                <a:cs typeface="+mn-cs"/>
              </a:rPr>
              <a:t>for</a:t>
            </a:r>
            <a:r>
              <a:rPr lang="zh-CN" altLang="zh-CN" dirty="0">
                <a:latin typeface="+mn-lt"/>
                <a:ea typeface="+mn-ea"/>
                <a:cs typeface="+mn-cs"/>
              </a:rPr>
              <a:t>循环语句。掌握本章的内容就能够编写逻辑比较复杂的</a:t>
            </a:r>
            <a:r>
              <a:rPr lang="en-US" altLang="zh-CN" dirty="0">
                <a:latin typeface="+mn-lt"/>
                <a:ea typeface="+mn-ea"/>
                <a:cs typeface="+mn-cs"/>
              </a:rPr>
              <a:t>C</a:t>
            </a:r>
            <a:r>
              <a:rPr lang="zh-CN" altLang="zh-CN" dirty="0">
                <a:latin typeface="+mn-lt"/>
                <a:ea typeface="+mn-ea"/>
                <a:cs typeface="+mn-cs"/>
              </a:rPr>
              <a:t>语言程序并且有助于后面章节的学习。</a:t>
            </a:r>
            <a:endParaRPr lang="en-US" altLang="zh-CN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6e9bb6b-4b73-46d8-a310-5d4bb7e549df"/>
  <p:tag name="COMMONDATA" val="eyJoZGlkIjoiODY5YmNiYTY4NjQ3Zjc2MmM5YTEwNTg4NWRkNjhjOT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17c42be-4da5-4b57-ad55-a7e5614b4235}"/>
  <p:tag name="TABLE_EMPHASIZE_COLOR" val="5787233"/>
  <p:tag name="TABLE_SKINIDX" val="4"/>
  <p:tag name="TABLE_COLORIDX" val="19"/>
  <p:tag name="TABLE_COLOR_RGB" val="0x000000*0xFFFFFF*0x212121*0xFFFFFF*0x584E61*0x786577*0xA593A4*0xB3ADC2*0xC8C6CF*0xE6E6E8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4779</Words>
  <Application>Microsoft Office PowerPoint</Application>
  <PresentationFormat>全屏显示(16:9)</PresentationFormat>
  <Paragraphs>803</Paragraphs>
  <Slides>50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8" baseType="lpstr">
      <vt:lpstr>华文楷体</vt:lpstr>
      <vt:lpstr>微软雅黑</vt:lpstr>
      <vt:lpstr>Arial</vt:lpstr>
      <vt:lpstr>Calibri</vt:lpstr>
      <vt:lpstr>Cambria Math</vt:lpstr>
      <vt:lpstr>Times New Roman</vt:lpstr>
      <vt:lpstr>Wingdings</vt:lpstr>
      <vt:lpstr>Office theme</vt:lpstr>
      <vt:lpstr>PowerPoint 演示文稿</vt:lpstr>
      <vt:lpstr>PowerPoint 演示文稿</vt:lpstr>
      <vt:lpstr>3.1程序的运行流程图</vt:lpstr>
      <vt:lpstr>PowerPoint 演示文稿</vt:lpstr>
      <vt:lpstr>PowerPoint 演示文稿</vt:lpstr>
      <vt:lpstr>3.2 顺序结构语句</vt:lpstr>
      <vt:lpstr>PowerPoint 演示文稿</vt:lpstr>
      <vt:lpstr>3.3 选择结构语句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3.4 循环结构语句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郭威威</cp:lastModifiedBy>
  <cp:revision>1064</cp:revision>
  <dcterms:created xsi:type="dcterms:W3CDTF">2024-09-09T01:41:52Z</dcterms:created>
  <dcterms:modified xsi:type="dcterms:W3CDTF">2024-10-30T05:54:51Z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wqlLaW5nc29mdCBQREYgdG8gV1BTIDgw</vt:lpwstr>
  </property>
  <property fmtid="{D5CDD505-2E9C-101B-9397-08002B2CF9AE}" pid="3" name="Created">
    <vt:filetime>2023-08-27T07:21:40Z</vt:filetime>
  </property>
  <property fmtid="{D5CDD505-2E9C-101B-9397-08002B2CF9AE}" pid="4" name="ICV">
    <vt:lpwstr>CFDF18D4CA5D469BA19C0723CD8A7A5F_13</vt:lpwstr>
  </property>
  <property fmtid="{D5CDD505-2E9C-101B-9397-08002B2CF9AE}" pid="5" name="KSOProductBuildVer">
    <vt:lpwstr>2052-6.8.2.8850</vt:lpwstr>
  </property>
</Properties>
</file>