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9.xml" ContentType="application/vnd.openxmlformats-officedocument.presentationml.notesSlide+xml"/>
  <Override PartName="/ppt/tags/tag32.xml" ContentType="application/vnd.openxmlformats-officedocument.presentationml.tags+xml"/>
  <Override PartName="/ppt/notesSlides/notesSlide10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1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4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5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76" r:id="rId2"/>
    <p:sldId id="652" r:id="rId3"/>
    <p:sldId id="1079" r:id="rId4"/>
    <p:sldId id="1210" r:id="rId5"/>
    <p:sldId id="1211" r:id="rId6"/>
    <p:sldId id="1212" r:id="rId7"/>
    <p:sldId id="1249" r:id="rId8"/>
    <p:sldId id="1254" r:id="rId9"/>
    <p:sldId id="1255" r:id="rId10"/>
    <p:sldId id="1256" r:id="rId11"/>
    <p:sldId id="1250" r:id="rId12"/>
    <p:sldId id="1218" r:id="rId13"/>
    <p:sldId id="1257" r:id="rId14"/>
    <p:sldId id="1259" r:id="rId15"/>
    <p:sldId id="1221" r:id="rId16"/>
    <p:sldId id="1260" r:id="rId17"/>
    <p:sldId id="1223" r:id="rId18"/>
    <p:sldId id="1261" r:id="rId19"/>
    <p:sldId id="1251" r:id="rId20"/>
    <p:sldId id="1262" r:id="rId21"/>
    <p:sldId id="1227" r:id="rId22"/>
    <p:sldId id="1264" r:id="rId23"/>
    <p:sldId id="1265" r:id="rId24"/>
    <p:sldId id="1266" r:id="rId25"/>
    <p:sldId id="1267" r:id="rId26"/>
    <p:sldId id="1268" r:id="rId27"/>
    <p:sldId id="1269" r:id="rId28"/>
    <p:sldId id="1270" r:id="rId29"/>
    <p:sldId id="1271" r:id="rId30"/>
    <p:sldId id="1272" r:id="rId31"/>
    <p:sldId id="1273" r:id="rId32"/>
    <p:sldId id="1274" r:id="rId33"/>
    <p:sldId id="1275" r:id="rId34"/>
    <p:sldId id="1276" r:id="rId35"/>
    <p:sldId id="1277" r:id="rId36"/>
    <p:sldId id="1239" r:id="rId37"/>
    <p:sldId id="1252" r:id="rId38"/>
    <p:sldId id="1241" r:id="rId39"/>
    <p:sldId id="1242" r:id="rId40"/>
    <p:sldId id="1278" r:id="rId41"/>
    <p:sldId id="1279" r:id="rId42"/>
    <p:sldId id="1280" r:id="rId43"/>
    <p:sldId id="1253" r:id="rId44"/>
    <p:sldId id="1282" r:id="rId45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dan li" initials="zl" lastIdx="1" clrIdx="0"/>
  <p:cmAuthor id="2" name="lizhengdan" initials="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2C0FD"/>
    <a:srgbClr val="782367"/>
    <a:srgbClr val="1100CC"/>
    <a:srgbClr val="CC9900"/>
    <a:srgbClr val="FBE9E8"/>
    <a:srgbClr val="DAE0CE"/>
    <a:srgbClr val="AA3516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2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图为整数</a:t>
            </a:r>
            <a:r>
              <a:rPr lang="en-US" altLang="zh-CN"/>
              <a:t>10000</a:t>
            </a:r>
            <a:r>
              <a:rPr lang="zh-CN" altLang="en-US"/>
              <a:t>的存储形式</a:t>
            </a:r>
            <a:br>
              <a:rPr lang="zh-CN" altLang="en-US"/>
            </a:br>
            <a:r>
              <a:rPr lang="zh-CN" altLang="en-US"/>
              <a:t>内存中的存储形式</a:t>
            </a:r>
            <a:r>
              <a:rPr lang="en-US" altLang="zh-CN"/>
              <a:t> 2</a:t>
            </a:r>
            <a:r>
              <a:rPr lang="en-US" altLang="zh-CN" baseline="30000"/>
              <a:t>4</a:t>
            </a:r>
            <a:r>
              <a:rPr lang="en-US" altLang="zh-CN"/>
              <a:t>+2</a:t>
            </a:r>
            <a:r>
              <a:rPr lang="en-US" altLang="zh-CN" baseline="30000"/>
              <a:t>8</a:t>
            </a:r>
            <a:r>
              <a:rPr lang="en-US" altLang="zh-CN"/>
              <a:t>+2</a:t>
            </a:r>
            <a:r>
              <a:rPr lang="en-US" altLang="zh-CN" baseline="30000"/>
              <a:t>9</a:t>
            </a:r>
            <a:r>
              <a:rPr lang="en-US" altLang="zh-CN"/>
              <a:t>+2</a:t>
            </a:r>
            <a:r>
              <a:rPr lang="en-US" altLang="zh-CN" baseline="30000"/>
              <a:t>10</a:t>
            </a:r>
            <a:r>
              <a:rPr lang="en-US" altLang="zh-CN"/>
              <a:t>+2</a:t>
            </a:r>
            <a:r>
              <a:rPr lang="en-US" altLang="zh-CN" baseline="30000"/>
              <a:t>13</a:t>
            </a:r>
            <a:br>
              <a:rPr lang="en-US" altLang="zh-CN" baseline="30000"/>
            </a:br>
            <a:r>
              <a:rPr lang="en-US" altLang="zh-CN"/>
              <a:t>ASCII</a:t>
            </a:r>
            <a:r>
              <a:rPr lang="zh-CN" altLang="en-US"/>
              <a:t>中的</a:t>
            </a:r>
            <a:r>
              <a:rPr lang="en-US" altLang="zh-CN"/>
              <a:t>0</a:t>
            </a:r>
            <a:r>
              <a:rPr lang="zh-CN" altLang="en-US"/>
              <a:t>是</a:t>
            </a:r>
            <a:r>
              <a:rPr lang="en-US" altLang="zh-CN"/>
              <a:t>48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zh-CN" altLang="en-US"/>
              <a:t>是</a:t>
            </a:r>
            <a:r>
              <a:rPr lang="en-US" altLang="zh-CN"/>
              <a:t>49</a:t>
            </a:r>
            <a:br>
              <a:rPr lang="en-US" altLang="zh-CN"/>
            </a:br>
            <a:r>
              <a:rPr lang="en-US" altLang="zh-CN"/>
              <a:t>a的ASCII码数值是97，A的ASCII码数值是65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不同的</a:t>
            </a:r>
            <a:r>
              <a:rPr lang="en-US" altLang="zh-CN"/>
              <a:t>C</a:t>
            </a:r>
            <a:r>
              <a:rPr lang="zh-CN" altLang="en-US"/>
              <a:t>编译系统的</a:t>
            </a:r>
            <a:r>
              <a:rPr lang="en-US" altLang="zh-CN"/>
              <a:t>FILE</a:t>
            </a:r>
            <a:r>
              <a:rPr lang="zh-CN" altLang="en-US"/>
              <a:t>类型包含的内容不完全相同，但大同小异。对以上结构体中的成员及其含义可不深究，只需知道其中存放文件的相关信息即可。</a:t>
            </a:r>
            <a:r>
              <a:rPr lang="en-US" altLang="zh-CN"/>
              <a:t>FILE</a:t>
            </a:r>
            <a:r>
              <a:rPr lang="zh-CN" altLang="en-US"/>
              <a:t>是以上结构体类型的自己命名的类型名称。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一般EOF的值为-1，ASCII代码值的范围是0~255，不可能出现-1，因此可以用EOF作为文件结束标志。</a:t>
            </a:r>
          </a:p>
          <a:p>
            <a:r>
              <a:rPr lang="zh-CN" altLang="en-US"/>
              <a:t>EOF在windows对应的按键是CTRL+Z键，在linux系统上对应的按键是CTRL+D。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因feof 函数可以检测文件尾标志是否已被读取过。如果文件尾标志已被读出，则表示文件已结束，此时feof 函数值为真(以</a:t>
            </a:r>
            <a:r>
              <a:rPr lang="en-US" altLang="zh-CN"/>
              <a:t>1</a:t>
            </a:r>
            <a:r>
              <a:rPr lang="zh-CN" altLang="en-US"/>
              <a:t>表示），否则 feo</a:t>
            </a:r>
            <a:r>
              <a:rPr lang="en-US" altLang="zh-CN"/>
              <a:t>f </a:t>
            </a:r>
            <a:r>
              <a:rPr lang="zh-CN" altLang="en-US"/>
              <a:t>函数值为假(以0表示)。不要把feof 函数值的真(1）和假(0)与文件尾标志的假设值(一1）相混淆。前者为函数值,后者为尾标志的假设值。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前边已经掌握了向磁盘文件读写一个字符的方法，很自然的想到一个问题，如果字符个数多，一个一个读和写太麻烦，能否一次读写一个字符串。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用fprint 和f</a:t>
            </a:r>
            <a:r>
              <a:rPr lang="en-US" altLang="zh-CN"/>
              <a:t>s</a:t>
            </a:r>
            <a:r>
              <a:rPr lang="zh-CN" altLang="en-US"/>
              <a:t>canf 函数对磁盘文件读写，使用方便，容易理解，但由于在输人时要将文件中的 ASCII码转换为二进制形式再保存在内存变量中，在输出时又要将内存中的二进制形式转换成宇符，要花费较多时间。因此，在内存与磁盘频繁交换数据的情况下，最好不用fprintf 和fscanf 函数。</a:t>
            </a:r>
          </a:p>
          <a:p>
            <a:r>
              <a:rPr lang="zh-CN" altLang="en-US"/>
              <a:t>而用fread 和 fwrite 函数进行二进制的读写。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不提倡交叉使用，提倡用文本方式打开文本文件，用文本读写函数进行读写。对二进制文件亦然。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这个任务分开做是不难的，但是放在同一个任务里做就需要用到</a:t>
            </a:r>
            <a:r>
              <a:rPr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rewind()</a:t>
            </a:r>
            <a:r>
              <a:rPr lang="zh-CN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函数。</a:t>
            </a:r>
            <a:endParaRPr lang="zh-CN" altLang="en-US"/>
          </a:p>
          <a:p>
            <a:r>
              <a:rPr lang="zh-CN" altLang="en-US"/>
              <a:t>换行符的</a:t>
            </a:r>
            <a:r>
              <a:rPr lang="en-US" altLang="zh-CN"/>
              <a:t>ASCII</a:t>
            </a:r>
            <a:r>
              <a:rPr lang="zh-CN" altLang="en-US"/>
              <a:t>的码为</a:t>
            </a:r>
            <a:r>
              <a:rPr lang="en-US" altLang="zh-CN"/>
              <a:t>10</a:t>
            </a:r>
          </a:p>
          <a:p>
            <a:r>
              <a:rPr lang="en-US" altLang="zh-CN"/>
              <a:t>putc:比putchar更强大一点，putc的第一个参数是数字，第二个参数是文件指针，可以将字符打印到对应的文件中，而不是像putchar一样只能打印到屏幕上；因此putc的第二个参数是stdout时和putchar函数是等效的；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83" y="365125"/>
            <a:ext cx="10516635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83" y="1825625"/>
            <a:ext cx="10516635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  <a:prstGeom prst="rect">
            <a:avLst/>
          </a:prstGeom>
        </p:spPr>
        <p:txBody>
          <a:bodyPr/>
          <a:lstStyle/>
          <a:p>
            <a:fld id="{1C3BB909-BA8B-4CC5-AF4F-417D76428D4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  <a:prstGeom prst="rect">
            <a:avLst/>
          </a:prstGeom>
        </p:spPr>
        <p:txBody>
          <a:bodyPr/>
          <a:lstStyle/>
          <a:p>
            <a:fld id="{1A1A799A-9E7D-41E1-9473-F8C111ED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E1F9FB-DACA-49B5-8A56-3AE278C745E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E1F9FB-DACA-49B5-8A56-3AE278C745E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948" y="114300"/>
            <a:ext cx="10355753" cy="723900"/>
          </a:xfrm>
          <a:prstGeom prst="rect">
            <a:avLst/>
          </a:prstGeom>
        </p:spPr>
        <p:txBody>
          <a:bodyPr/>
          <a:lstStyle>
            <a:lvl1pPr algn="l"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83" y="6356351"/>
            <a:ext cx="274347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2024/11/2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998" y="6356351"/>
            <a:ext cx="41152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1448" y="6356351"/>
            <a:ext cx="274347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232856" y="101600"/>
            <a:ext cx="6865027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pitchFamily="2" charset="2"/>
              </a:rPr>
              <a:t> 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pitchFamily="2" charset="2"/>
              </a:rPr>
              <a:t>目录</a:t>
            </a:r>
            <a:endParaRPr kumimoji="0" lang="zh-CN" altLang="en-US" sz="3600" b="1" i="0" u="none" strike="noStrike" kern="1200" cap="none" spc="30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宋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60" y="1066800"/>
            <a:ext cx="10973880" cy="50593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60" y="277813"/>
            <a:ext cx="10973880" cy="11398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60" y="6243639"/>
            <a:ext cx="284508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010" y="6248400"/>
            <a:ext cx="3861180" cy="4572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8460" y="6243639"/>
            <a:ext cx="2845080" cy="4572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BADE0A-06C1-4F98-B0C9-955A98D113B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med">
    <p:checker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60" y="6243639"/>
            <a:ext cx="284508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010" y="6248400"/>
            <a:ext cx="3861180" cy="4572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8460" y="6243639"/>
            <a:ext cx="2845080" cy="4572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D4F40C-0F41-4629-ABE7-D3938B34B08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med">
    <p:checker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txStyles>
    <p:titleStyle>
      <a:lvl1pPr algn="l" defTabSz="1219200" rtl="0" eaLnBrk="1" latinLnBrk="0" hangingPunct="1">
        <a:lnSpc>
          <a:spcPct val="90000"/>
        </a:lnSpc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latinLnBrk="0" hangingPunct="1">
        <a:lnSpc>
          <a:spcPct val="90000"/>
        </a:lnSpc>
        <a:spcBef>
          <a:spcPct val="267000"/>
        </a:spcBef>
        <a:buFont typeface="Arial" panose="020B0604020202090204" pitchFamily="34" charset="0"/>
        <a:buChar char="•"/>
        <a:defRPr sz="3735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notesSlide" Target="../notesSlides/notesSlid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4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2185000" y="446405"/>
            <a:ext cx="7823200" cy="2432051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对文件的输入输出</a:t>
            </a:r>
            <a:endParaRPr lang="en-US" altLang="zh-CN" noProof="1">
              <a:solidFill>
                <a:srgbClr val="330066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隶书" panose="02010509060101010101" pitchFamily="49" charset="-122"/>
            </a:endParaRPr>
          </a:p>
        </p:txBody>
      </p:sp>
      <p:sp>
        <p:nvSpPr>
          <p:cNvPr id="3" name="副标题 81924"/>
          <p:cNvSpPr txBox="1"/>
          <p:nvPr/>
        </p:nvSpPr>
        <p:spPr>
          <a:xfrm>
            <a:off x="2927951" y="3886200"/>
            <a:ext cx="6337300" cy="1752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4805" lvl="1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4055" lvl="2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9330" lvl="3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2700" lvl="4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rgbClr val="193B8F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朱静雯</a:t>
            </a:r>
          </a:p>
          <a:p>
            <a:pPr algn="ctr"/>
            <a:r>
              <a:rPr lang="en-US" altLang="zh-CN" dirty="0">
                <a:latin typeface="Times New Roman" panose="02020503050405090304" pitchFamily="18" charset="0"/>
                <a:ea typeface="楷体" panose="02010609060101010101" pitchFamily="49" charset="-122"/>
              </a:rPr>
              <a:t>zhujingwen@nankai.edu.cn</a:t>
            </a:r>
          </a:p>
          <a:p>
            <a:pPr algn="ctr"/>
            <a:r>
              <a:rPr lang="zh-CN" altLang="en-US" dirty="0">
                <a:latin typeface="Times New Roman" panose="02020503050405090304" pitchFamily="18" charset="0"/>
                <a:ea typeface="楷体" panose="02010609060101010101" pitchFamily="49" charset="-122"/>
              </a:rPr>
              <a:t>南开大学</a:t>
            </a:r>
            <a:r>
              <a:rPr lang="en-US" altLang="zh-CN" dirty="0">
                <a:latin typeface="Times New Roman" panose="02020503050405090304" pitchFamily="18" charset="0"/>
                <a:ea typeface="楷体" panose="02010609060101010101" pitchFamily="49" charset="-122"/>
              </a:rPr>
              <a:t>·</a:t>
            </a:r>
            <a:r>
              <a:rPr lang="zh-CN" altLang="en-US" dirty="0">
                <a:latin typeface="Times New Roman" panose="02020503050405090304" pitchFamily="18" charset="0"/>
                <a:ea typeface="楷体" panose="02010609060101010101" pitchFamily="49" charset="-122"/>
              </a:rPr>
              <a:t>软件学院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32400" y="3136069"/>
            <a:ext cx="113284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31" y="246671"/>
            <a:ext cx="573807" cy="5738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3b32313538323734393b56fe4e6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747" y="181187"/>
            <a:ext cx="975360" cy="9753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715947" y="331047"/>
            <a:ext cx="133180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kern="0" spc="30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目录</a:t>
            </a:r>
            <a:endParaRPr lang="zh-CN" altLang="en-US" sz="3600"/>
          </a:p>
        </p:txBody>
      </p:sp>
      <p:grpSp>
        <p:nvGrpSpPr>
          <p:cNvPr id="2" name="组合 1"/>
          <p:cNvGrpSpPr/>
          <p:nvPr/>
        </p:nvGrpSpPr>
        <p:grpSpPr>
          <a:xfrm>
            <a:off x="3235926" y="1154113"/>
            <a:ext cx="4255128" cy="593725"/>
            <a:chOff x="1710657" y="1263652"/>
            <a:chExt cx="4255832" cy="592608"/>
          </a:xfrm>
        </p:grpSpPr>
        <p:grpSp>
          <p:nvGrpSpPr>
            <p:cNvPr id="5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6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8" name="圆角矩形 7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8.1</a:t>
                  </a: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9" name="圆角矩形 8"/>
                <p:cNvSpPr/>
                <p:nvPr/>
              </p:nvSpPr>
              <p:spPr>
                <a:xfrm>
                  <a:off x="1961224" y="1349539"/>
                  <a:ext cx="1189063" cy="1580325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10" name="圆角矩形 5"/>
              <p:cNvSpPr/>
              <p:nvPr/>
            </p:nvSpPr>
            <p:spPr>
              <a:xfrm>
                <a:off x="1931232" y="2065721"/>
                <a:ext cx="1293777" cy="93340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6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11" name="直接连接符 10"/>
            <p:cNvCxnSpPr/>
            <p:nvPr/>
          </p:nvCxnSpPr>
          <p:spPr bwMode="auto">
            <a:xfrm>
              <a:off x="2809389" y="1761189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12" name="矩形 35"/>
            <p:cNvSpPr/>
            <p:nvPr/>
          </p:nvSpPr>
          <p:spPr>
            <a:xfrm>
              <a:off x="2836056" y="1286814"/>
              <a:ext cx="3130433" cy="459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微软雅黑" panose="020B0503020204020204" charset="-122"/>
                  <a:ea typeface="微软雅黑" panose="020B0503020204020204" charset="-122"/>
                </a:rPr>
                <a:t>C</a:t>
              </a:r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</a:rPr>
                <a:t>文件的有关基础知识</a:t>
              </a:r>
            </a:p>
          </p:txBody>
        </p:sp>
      </p:grpSp>
      <p:grpSp>
        <p:nvGrpSpPr>
          <p:cNvPr id="13" name="组合 195"/>
          <p:cNvGrpSpPr/>
          <p:nvPr/>
        </p:nvGrpSpPr>
        <p:grpSpPr>
          <a:xfrm>
            <a:off x="4334475" y="2344739"/>
            <a:ext cx="4041775" cy="592137"/>
            <a:chOff x="1710657" y="1263652"/>
            <a:chExt cx="4042443" cy="592608"/>
          </a:xfrm>
        </p:grpSpPr>
        <p:grpSp>
          <p:nvGrpSpPr>
            <p:cNvPr id="14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15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16" name="圆角矩形 15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8.2</a:t>
                  </a: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17" name="圆角矩形 16"/>
                <p:cNvSpPr/>
                <p:nvPr/>
              </p:nvSpPr>
              <p:spPr>
                <a:xfrm>
                  <a:off x="1961224" y="1349737"/>
                  <a:ext cx="1189063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18" name="圆角矩形 5"/>
              <p:cNvSpPr/>
              <p:nvPr/>
            </p:nvSpPr>
            <p:spPr>
              <a:xfrm>
                <a:off x="1931236" y="2063209"/>
                <a:ext cx="1293777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6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19" name="直接连接符 18"/>
            <p:cNvCxnSpPr/>
            <p:nvPr/>
          </p:nvCxnSpPr>
          <p:spPr bwMode="auto">
            <a:xfrm>
              <a:off x="2809389" y="1760934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20" name="矩形 35"/>
            <p:cNvSpPr/>
            <p:nvPr/>
          </p:nvSpPr>
          <p:spPr>
            <a:xfrm>
              <a:off x="2836056" y="1286814"/>
              <a:ext cx="2316863" cy="4607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</a:rPr>
                <a:t>打开与关闭文件</a:t>
              </a:r>
            </a:p>
          </p:txBody>
        </p:sp>
      </p:grpSp>
      <p:grpSp>
        <p:nvGrpSpPr>
          <p:cNvPr id="21" name="组合 221"/>
          <p:cNvGrpSpPr/>
          <p:nvPr/>
        </p:nvGrpSpPr>
        <p:grpSpPr>
          <a:xfrm>
            <a:off x="3235926" y="3533775"/>
            <a:ext cx="4041775" cy="593725"/>
            <a:chOff x="1710657" y="1263652"/>
            <a:chExt cx="4042443" cy="592608"/>
          </a:xfrm>
        </p:grpSpPr>
        <p:grpSp>
          <p:nvGrpSpPr>
            <p:cNvPr id="22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23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24" name="圆角矩形 23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8.3</a:t>
                  </a: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25" name="圆角矩形 24"/>
                <p:cNvSpPr/>
                <p:nvPr/>
              </p:nvSpPr>
              <p:spPr>
                <a:xfrm>
                  <a:off x="1961224" y="1349539"/>
                  <a:ext cx="1189063" cy="1580325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26" name="圆角矩形 5"/>
              <p:cNvSpPr/>
              <p:nvPr/>
            </p:nvSpPr>
            <p:spPr>
              <a:xfrm>
                <a:off x="1931232" y="2065724"/>
                <a:ext cx="1293777" cy="93340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6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27" name="直接连接符 26"/>
            <p:cNvCxnSpPr/>
            <p:nvPr/>
          </p:nvCxnSpPr>
          <p:spPr bwMode="auto">
            <a:xfrm>
              <a:off x="2809389" y="1761189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28" name="矩形 35"/>
            <p:cNvSpPr/>
            <p:nvPr/>
          </p:nvSpPr>
          <p:spPr>
            <a:xfrm>
              <a:off x="2836056" y="1286814"/>
              <a:ext cx="2621713" cy="459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</a:rPr>
                <a:t>顺序读写数据文件</a:t>
              </a:r>
            </a:p>
          </p:txBody>
        </p:sp>
      </p:grpSp>
      <p:grpSp>
        <p:nvGrpSpPr>
          <p:cNvPr id="29" name="组合 234"/>
          <p:cNvGrpSpPr/>
          <p:nvPr/>
        </p:nvGrpSpPr>
        <p:grpSpPr>
          <a:xfrm>
            <a:off x="4369400" y="4757739"/>
            <a:ext cx="4043363" cy="592137"/>
            <a:chOff x="1710657" y="1263652"/>
            <a:chExt cx="4042443" cy="592608"/>
          </a:xfrm>
        </p:grpSpPr>
        <p:grpSp>
          <p:nvGrpSpPr>
            <p:cNvPr id="30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31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32" name="圆角矩形 31"/>
                <p:cNvSpPr/>
                <p:nvPr/>
              </p:nvSpPr>
              <p:spPr>
                <a:xfrm>
                  <a:off x="1907704" y="1275604"/>
                  <a:ext cx="1295595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8.4</a:t>
                  </a: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36" name="圆角矩形 35"/>
                <p:cNvSpPr/>
                <p:nvPr/>
              </p:nvSpPr>
              <p:spPr>
                <a:xfrm>
                  <a:off x="1961203" y="1349736"/>
                  <a:ext cx="1188597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37" name="圆角矩形 5"/>
              <p:cNvSpPr/>
              <p:nvPr/>
            </p:nvSpPr>
            <p:spPr>
              <a:xfrm>
                <a:off x="1931238" y="2063172"/>
                <a:ext cx="1283965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6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38" name="直接连接符 37"/>
            <p:cNvCxnSpPr/>
            <p:nvPr/>
          </p:nvCxnSpPr>
          <p:spPr bwMode="auto">
            <a:xfrm>
              <a:off x="2810545" y="1760934"/>
              <a:ext cx="2942555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39" name="矩形 35"/>
            <p:cNvSpPr/>
            <p:nvPr/>
          </p:nvSpPr>
          <p:spPr>
            <a:xfrm>
              <a:off x="2836056" y="1286814"/>
              <a:ext cx="2620684" cy="4607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</a:rPr>
                <a:t>随机读写数据文件</a:t>
              </a:r>
              <a:endParaRPr lang="en-US" altLang="zh-CN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0" name="组合 242"/>
          <p:cNvGrpSpPr/>
          <p:nvPr/>
        </p:nvGrpSpPr>
        <p:grpSpPr>
          <a:xfrm>
            <a:off x="3229575" y="5913439"/>
            <a:ext cx="4051735" cy="592137"/>
            <a:chOff x="1710657" y="1263652"/>
            <a:chExt cx="4050813" cy="592608"/>
          </a:xfrm>
        </p:grpSpPr>
        <p:grpSp>
          <p:nvGrpSpPr>
            <p:cNvPr id="41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42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43" name="圆角矩形 42"/>
                <p:cNvSpPr/>
                <p:nvPr/>
              </p:nvSpPr>
              <p:spPr>
                <a:xfrm>
                  <a:off x="1907704" y="1275604"/>
                  <a:ext cx="1295595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8.5</a:t>
                  </a: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44" name="圆角矩形 43"/>
                <p:cNvSpPr/>
                <p:nvPr/>
              </p:nvSpPr>
              <p:spPr>
                <a:xfrm>
                  <a:off x="1961203" y="1349736"/>
                  <a:ext cx="1188597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45" name="圆角矩形 5"/>
              <p:cNvSpPr/>
              <p:nvPr/>
            </p:nvSpPr>
            <p:spPr>
              <a:xfrm>
                <a:off x="1931238" y="2063172"/>
                <a:ext cx="1283965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6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46" name="直接连接符 45"/>
            <p:cNvCxnSpPr/>
            <p:nvPr/>
          </p:nvCxnSpPr>
          <p:spPr bwMode="auto">
            <a:xfrm>
              <a:off x="2810545" y="1760934"/>
              <a:ext cx="2942555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47" name="矩形 35"/>
            <p:cNvSpPr/>
            <p:nvPr/>
          </p:nvSpPr>
          <p:spPr>
            <a:xfrm>
              <a:off x="2836056" y="1286814"/>
              <a:ext cx="2925414" cy="4607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</a:rPr>
                <a:t>文件读写的出错检测</a:t>
              </a:r>
              <a:endParaRPr lang="en-US" altLang="zh-CN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2185000" y="446405"/>
            <a:ext cx="7823200" cy="2432051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C文件的有关基础知识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32400" y="3136069"/>
            <a:ext cx="113284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31" y="246671"/>
            <a:ext cx="573807" cy="5738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2" name="textbox 9462"/>
          <p:cNvSpPr/>
          <p:nvPr/>
        </p:nvSpPr>
        <p:spPr>
          <a:xfrm>
            <a:off x="841972" y="1432814"/>
            <a:ext cx="10408284" cy="39916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26035" algn="l" rtl="0" eaLnBrk="0">
              <a:lnSpc>
                <a:spcPct val="95000"/>
              </a:lnSpc>
            </a:pP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文件有不同的类型，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在程序设计中，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主要用到两种文件：</a:t>
            </a:r>
            <a:endParaRPr lang="en-US" altLang="en-US" sz="1800" dirty="0"/>
          </a:p>
          <a:p>
            <a:pPr marL="22860" algn="l" rtl="0" eaLnBrk="0">
              <a:lnSpc>
                <a:spcPct val="86000"/>
              </a:lnSpc>
              <a:spcBef>
                <a:spcPts val="1180"/>
              </a:spcBef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</a:t>
            </a:r>
            <a:r>
              <a:rPr sz="1800" kern="0" spc="3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程序文件</a:t>
            </a:r>
            <a:r>
              <a:rPr sz="18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包括源程序文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件(后缀为.c)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目标文件(后缀为.obj)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、可执行文件(后缀为.exe)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。这种文件</a:t>
            </a:r>
            <a:endParaRPr lang="en-US" altLang="en-US" sz="1800" dirty="0"/>
          </a:p>
          <a:p>
            <a:pPr marL="36195" algn="l" rtl="0" eaLnBrk="0">
              <a:lnSpc>
                <a:spcPts val="3240"/>
              </a:lnSpc>
              <a:spcBef>
                <a:spcPts val="25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的内容是程序代码。</a:t>
            </a:r>
            <a:endParaRPr lang="en-US" altLang="en-US" sz="1800" dirty="0"/>
          </a:p>
          <a:p>
            <a:pPr marL="22860" algn="l" rtl="0" eaLnBrk="0">
              <a:lnSpc>
                <a:spcPct val="87000"/>
              </a:lnSpc>
              <a:spcBef>
                <a:spcPts val="136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</a:t>
            </a:r>
            <a:r>
              <a:rPr sz="1800" kern="0" spc="5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数据文件</a:t>
            </a:r>
            <a:r>
              <a:rPr sz="18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。文件的内容不是程序，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而是供程序运行时读写的数据，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如在程序运行过程中输出到磁盘</a:t>
            </a:r>
            <a:endParaRPr lang="en-US" altLang="en-US" sz="1800" dirty="0"/>
          </a:p>
          <a:p>
            <a:pPr marL="21590" indent="1270" algn="l" rtl="0" eaLnBrk="0">
              <a:lnSpc>
                <a:spcPct val="154000"/>
              </a:lnSpc>
              <a:spcBef>
                <a:spcPts val="25"/>
              </a:spcBef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(或其他外部设备)的数据，</a:t>
            </a:r>
            <a:r>
              <a:rPr sz="18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或在程序运行过程中供读入的数据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。如一批学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生的成绩数据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、货物交易的数 据等。</a:t>
            </a:r>
            <a:endParaRPr lang="en-US" altLang="en-US" sz="1800" dirty="0"/>
          </a:p>
          <a:p>
            <a:pPr algn="l" rtl="0" eaLnBrk="0">
              <a:lnSpc>
                <a:spcPct val="107000"/>
              </a:lnSpc>
            </a:pPr>
            <a:endParaRPr lang="en-US" altLang="en-US" sz="1000" dirty="0"/>
          </a:p>
          <a:p>
            <a:pPr algn="l" rtl="0" eaLnBrk="0">
              <a:lnSpc>
                <a:spcPct val="107000"/>
              </a:lnSpc>
            </a:pPr>
            <a:endParaRPr lang="en-US" altLang="en-US" sz="1000" dirty="0"/>
          </a:p>
          <a:p>
            <a:pPr algn="l" rtl="0" eaLnBrk="0">
              <a:lnSpc>
                <a:spcPct val="108000"/>
              </a:lnSpc>
            </a:pPr>
            <a:endParaRPr lang="en-US" altLang="en-US" sz="1000" dirty="0"/>
          </a:p>
          <a:p>
            <a:pPr marL="33020" algn="l" rtl="0" eaLnBrk="0">
              <a:lnSpc>
                <a:spcPct val="87000"/>
              </a:lnSpc>
              <a:spcBef>
                <a:spcPts val="545"/>
              </a:spcBef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为了简化用户对输入输出设备的操作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800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使用户不必去区分各种输入输出设备之间的区别，</a:t>
            </a:r>
            <a:r>
              <a:rPr sz="1800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操作系统把各</a:t>
            </a:r>
            <a:endParaRPr lang="en-US" altLang="en-US" sz="1800" dirty="0"/>
          </a:p>
          <a:p>
            <a:pPr marL="19050" indent="-6985" algn="l" rtl="0" eaLnBrk="0">
              <a:lnSpc>
                <a:spcPct val="154000"/>
              </a:lnSpc>
              <a:spcBef>
                <a:spcPts val="10"/>
              </a:spcBef>
            </a:pPr>
            <a:r>
              <a:rPr sz="18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种设备都统一作为文件来处理</a:t>
            </a:r>
            <a:r>
              <a:rPr sz="18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。从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操作系统的角度看，</a:t>
            </a:r>
            <a:r>
              <a:rPr sz="18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每一个与主机相连的输入输出设备都看作一个文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</a:t>
            </a:r>
            <a:r>
              <a:rPr sz="18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。例如，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终端键盘是输入文件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显示屏和打印机是输出文件。</a:t>
            </a:r>
            <a:endParaRPr lang="en-US" altLang="en-US" sz="1800" dirty="0"/>
          </a:p>
        </p:txBody>
      </p:sp>
      <p:sp>
        <p:nvSpPr>
          <p:cNvPr id="9464" name="textbox 9464"/>
          <p:cNvSpPr/>
          <p:nvPr/>
        </p:nvSpPr>
        <p:spPr>
          <a:xfrm>
            <a:off x="786996" y="593870"/>
            <a:ext cx="2047239" cy="4972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什么是文件</a:t>
            </a:r>
            <a:endParaRPr lang="en-US" altLang="en-US" sz="3100" dirty="0"/>
          </a:p>
        </p:txBody>
      </p:sp>
      <p:sp>
        <p:nvSpPr>
          <p:cNvPr id="9466" name="path"/>
          <p:cNvSpPr/>
          <p:nvPr/>
        </p:nvSpPr>
        <p:spPr>
          <a:xfrm>
            <a:off x="767906" y="1236979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468" name="path"/>
          <p:cNvSpPr/>
          <p:nvPr/>
        </p:nvSpPr>
        <p:spPr>
          <a:xfrm>
            <a:off x="767906" y="5513323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0" name="textbox 9470"/>
          <p:cNvSpPr/>
          <p:nvPr/>
        </p:nvSpPr>
        <p:spPr>
          <a:xfrm>
            <a:off x="849287" y="1432814"/>
            <a:ext cx="10563225" cy="40303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lang="en-US" altLang="en-US" sz="100" dirty="0"/>
          </a:p>
          <a:p>
            <a:pPr marL="19050" algn="l" rtl="0" eaLnBrk="0">
              <a:lnSpc>
                <a:spcPct val="93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文件（file）</a:t>
            </a:r>
            <a:r>
              <a:rPr sz="1800" kern="0" spc="-3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一般指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存储在外部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介质上数据的集合</a:t>
            </a:r>
            <a:r>
              <a:rPr sz="18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。操作系统是以文件为单位对数据进行管理的。</a:t>
            </a:r>
            <a:endParaRPr lang="en-US" altLang="en-US" sz="1800" dirty="0"/>
          </a:p>
          <a:p>
            <a:pPr algn="l" rtl="0" eaLnBrk="0">
              <a:lnSpc>
                <a:spcPct val="158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87000"/>
              </a:lnSpc>
              <a:spcBef>
                <a:spcPts val="545"/>
              </a:spcBef>
            </a:pP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输入输出是数据传送的过程，</a:t>
            </a:r>
            <a:r>
              <a:rPr sz="18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数据如流水一样从一处流向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另一处， 因此常将输入输出形象地称为</a:t>
            </a:r>
            <a:r>
              <a:rPr sz="18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</a:t>
            </a:r>
            <a:endParaRPr lang="en-US" altLang="en-US" sz="1800" dirty="0"/>
          </a:p>
          <a:p>
            <a:pPr marL="12700" indent="3175" algn="l" rtl="0" eaLnBrk="0">
              <a:lnSpc>
                <a:spcPct val="152000"/>
              </a:lnSpc>
              <a:spcBef>
                <a:spcPts val="40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(stream)，</a:t>
            </a: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数据流</a:t>
            </a:r>
            <a:r>
              <a:rPr sz="18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。流表示了信息从源到目的端的流动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。在输入操作时，</a:t>
            </a:r>
            <a:r>
              <a:rPr sz="18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数据从文件流向计算机内存，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在输出操作时，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数据从计算机流向文件(如打印机</a:t>
            </a:r>
            <a:r>
              <a:rPr sz="18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、磁盘文件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)。</a:t>
            </a:r>
            <a:endParaRPr lang="en-US" altLang="en-US" sz="1800" dirty="0"/>
          </a:p>
          <a:p>
            <a:pPr algn="l" rtl="0" eaLnBrk="0">
              <a:lnSpc>
                <a:spcPct val="158000"/>
              </a:lnSpc>
            </a:pPr>
            <a:endParaRPr lang="en-US" altLang="en-US" sz="1000" dirty="0"/>
          </a:p>
          <a:p>
            <a:pPr marL="17780" algn="l" rtl="0" eaLnBrk="0">
              <a:lnSpc>
                <a:spcPct val="87000"/>
              </a:lnSpc>
              <a:spcBef>
                <a:spcPts val="545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C语言把文件看作一个字符(或字节)的序列，</a:t>
            </a:r>
            <a:r>
              <a:rPr sz="18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即由一个一个字符（或字节）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的数据顺序组成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。一个输入输</a:t>
            </a:r>
            <a:endParaRPr lang="en-US" altLang="en-US" sz="1800" dirty="0"/>
          </a:p>
          <a:p>
            <a:pPr marL="33020" algn="l" rtl="0" eaLnBrk="0">
              <a:lnSpc>
                <a:spcPts val="324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出流就是一个字符流或字节(内容为二进制数据)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流。</a:t>
            </a:r>
            <a:endParaRPr lang="en-US" altLang="en-US" sz="1800" dirty="0"/>
          </a:p>
          <a:p>
            <a:pPr algn="l" rtl="0" eaLnBrk="0">
              <a:lnSpc>
                <a:spcPct val="168000"/>
              </a:lnSpc>
            </a:pPr>
            <a:endParaRPr lang="en-US" altLang="en-US" sz="1000" dirty="0"/>
          </a:p>
          <a:p>
            <a:pPr marL="17780" algn="l" rtl="0" eaLnBrk="0">
              <a:lnSpc>
                <a:spcPct val="87000"/>
              </a:lnSpc>
              <a:spcBef>
                <a:spcPts val="54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C的数据文件由一连串的字符</a:t>
            </a:r>
            <a:r>
              <a:rPr sz="1800" kern="0" spc="-4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（或字节）</a:t>
            </a:r>
            <a:r>
              <a:rPr sz="1800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组成，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而不考虑行的界限，</a:t>
            </a:r>
            <a:r>
              <a:rPr sz="18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两行数据间不会自动加分隔符，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endParaRPr lang="en-US" altLang="en-US" sz="1800" dirty="0"/>
          </a:p>
          <a:p>
            <a:pPr marL="162560" indent="-143510" algn="l" rtl="0" eaLnBrk="0">
              <a:lnSpc>
                <a:spcPct val="152000"/>
              </a:lnSpc>
              <a:spcBef>
                <a:spcPts val="40"/>
              </a:spcBef>
            </a:pP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文件的存取是以字符</a:t>
            </a:r>
            <a:r>
              <a:rPr sz="1800" kern="0" spc="-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（字节）</a:t>
            </a:r>
            <a:r>
              <a:rPr sz="18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为单位的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highlight>
                  <a:srgbClr val="F2C0FD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输入输出数据流的开始和结束仅受程序控制而不受物理符号  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highlight>
                  <a:srgbClr val="F2C0FD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（如回车换行符）</a:t>
            </a:r>
            <a:r>
              <a:rPr sz="1800" kern="0" spc="-360" dirty="0">
                <a:solidFill>
                  <a:srgbClr val="000000">
                    <a:alpha val="100000"/>
                  </a:srgbClr>
                </a:solidFill>
                <a:highlight>
                  <a:srgbClr val="F2C0FD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highlight>
                  <a:srgbClr val="F2C0FD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这就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增加了处理的灵活性</a:t>
            </a:r>
            <a:r>
              <a:rPr sz="18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。这种文件称为流式文件。</a:t>
            </a:r>
            <a:endParaRPr lang="en-US" altLang="en-US" sz="1800" dirty="0"/>
          </a:p>
        </p:txBody>
      </p:sp>
      <p:sp>
        <p:nvSpPr>
          <p:cNvPr id="9472" name="textbox 9472"/>
          <p:cNvSpPr/>
          <p:nvPr/>
        </p:nvSpPr>
        <p:spPr>
          <a:xfrm>
            <a:off x="786996" y="593870"/>
            <a:ext cx="2047239" cy="4972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什么是文件</a:t>
            </a:r>
            <a:endParaRPr lang="en-US" altLang="en-US" sz="3100" dirty="0"/>
          </a:p>
        </p:txBody>
      </p:sp>
      <p:sp>
        <p:nvSpPr>
          <p:cNvPr id="9474" name="path"/>
          <p:cNvSpPr/>
          <p:nvPr/>
        </p:nvSpPr>
        <p:spPr>
          <a:xfrm>
            <a:off x="767906" y="1236979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476" name="path"/>
          <p:cNvSpPr/>
          <p:nvPr/>
        </p:nvSpPr>
        <p:spPr>
          <a:xfrm>
            <a:off x="767906" y="5741923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8" name="textbox 9478"/>
          <p:cNvSpPr/>
          <p:nvPr/>
        </p:nvSpPr>
        <p:spPr>
          <a:xfrm>
            <a:off x="853173" y="1432814"/>
            <a:ext cx="9726435" cy="25431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3970" algn="l" rtl="0" eaLnBrk="0">
              <a:lnSpc>
                <a:spcPct val="95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一个文件要有一个唯一的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文件标识，</a:t>
            </a:r>
            <a:r>
              <a:rPr sz="1800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以便用户识别和引用。</a:t>
            </a:r>
            <a:endParaRPr lang="en-US" altLang="en-US" sz="1800" dirty="0"/>
          </a:p>
          <a:p>
            <a:pPr algn="l" rtl="0" eaLnBrk="0">
              <a:lnSpc>
                <a:spcPct val="130000"/>
              </a:lnSpc>
            </a:pPr>
            <a:endParaRPr lang="en-US" altLang="en-US" sz="1000" dirty="0"/>
          </a:p>
          <a:p>
            <a:pPr marL="15240" algn="l" rtl="0" eaLnBrk="0">
              <a:lnSpc>
                <a:spcPct val="100000"/>
              </a:lnSpc>
              <a:spcBef>
                <a:spcPts val="540"/>
              </a:spcBef>
            </a:pP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highlight>
                  <a:srgbClr val="F2C0FD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文件标识包括3部分：   (1)文件路径；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highlight>
                  <a:srgbClr val="F2C0FD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highlight>
                  <a:srgbClr val="F2C0FD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(2)文件名主干；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highlight>
                  <a:srgbClr val="F2C0FD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highlight>
                  <a:srgbClr val="F2C0FD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(3)文件后缀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highlight>
                  <a:srgbClr val="F2C0FD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700" u="sng" kern="0" spc="-320" dirty="0">
                <a:solidFill>
                  <a:srgbClr val="E84C2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u="sng" kern="0" spc="-110" baseline="800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D:\CC\te</a:t>
            </a:r>
            <a:r>
              <a:rPr sz="2700" u="sng" kern="0" spc="-120" baseline="800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mp</a:t>
            </a:r>
            <a:r>
              <a:rPr sz="2700" kern="0" spc="-120" baseline="800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\</a:t>
            </a:r>
            <a:r>
              <a:rPr sz="2700" u="sng" kern="0" spc="-120" baseline="800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file1</a:t>
            </a:r>
            <a:r>
              <a:rPr sz="2700" kern="0" spc="-120" baseline="800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2700" u="sng" kern="0" spc="-120" baseline="800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</a:t>
            </a:r>
            <a:endParaRPr lang="en-US" altLang="en-US" sz="2700" baseline="8000" dirty="0">
              <a:solidFill>
                <a:srgbClr val="1100CC"/>
              </a:solidFill>
            </a:endParaRPr>
          </a:p>
          <a:p>
            <a:pPr marL="7614285" algn="l" rtl="0" eaLnBrk="0">
              <a:lnSpc>
                <a:spcPct val="96000"/>
              </a:lnSpc>
              <a:spcBef>
                <a:spcPts val="20"/>
              </a:spcBef>
            </a:pPr>
            <a:r>
              <a:rPr sz="1800" kern="0" spc="34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r>
              <a:rPr sz="1800" kern="0" spc="0" dirty="0">
                <a:solidFill>
                  <a:srgbClr val="E84C2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1800" kern="0" spc="34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r>
              <a:rPr sz="1800" kern="0" spc="1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800" kern="0" spc="34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lang="en-US" altLang="en-US" sz="1800" dirty="0"/>
          </a:p>
          <a:p>
            <a:pPr marL="12700" algn="l" rtl="0" eaLnBrk="0">
              <a:lnSpc>
                <a:spcPts val="2355"/>
              </a:lnSpc>
            </a:pPr>
            <a:r>
              <a:rPr sz="2700" kern="0" spc="20" baseline="-4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</a:t>
            </a:r>
            <a:r>
              <a:rPr sz="2700" kern="0" spc="20" baseline="-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文件路径表示文件在外部存储设备中的位置</a:t>
            </a:r>
            <a:r>
              <a:rPr sz="17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20" baseline="-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r>
              <a:rPr sz="1800" kern="0" spc="10" baseline="4500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文件路径</a:t>
            </a:r>
            <a:r>
              <a:rPr sz="1100" kern="0" spc="1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10" baseline="4500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文件主干名</a:t>
            </a:r>
            <a:r>
              <a:rPr sz="1100" kern="0" spc="4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10" baseline="4500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文件后缀</a:t>
            </a:r>
            <a:endParaRPr lang="en-US" altLang="en-US" sz="1800" baseline="45000" dirty="0"/>
          </a:p>
          <a:p>
            <a:pPr algn="l" rtl="0" eaLnBrk="0">
              <a:lnSpc>
                <a:spcPct val="169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5000"/>
              </a:lnSpc>
              <a:spcBef>
                <a:spcPts val="545"/>
              </a:spcBef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文件名主干的命名规则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遵循标识符的命名规则。</a:t>
            </a:r>
            <a:endParaRPr lang="en-US" altLang="en-US" sz="1800" dirty="0"/>
          </a:p>
          <a:p>
            <a:pPr algn="l" rtl="0" eaLnBrk="0">
              <a:lnSpc>
                <a:spcPct val="153000"/>
              </a:lnSpc>
            </a:pP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400" dirty="0"/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文件后缀用来表示文件的性质。</a:t>
            </a:r>
            <a:endParaRPr lang="en-US" altLang="en-US" sz="1800" dirty="0"/>
          </a:p>
        </p:txBody>
      </p:sp>
      <p:sp>
        <p:nvSpPr>
          <p:cNvPr id="9480" name="textbox 9480"/>
          <p:cNvSpPr/>
          <p:nvPr/>
        </p:nvSpPr>
        <p:spPr>
          <a:xfrm>
            <a:off x="850659" y="4253237"/>
            <a:ext cx="10391775" cy="6756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ct val="8700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为方便起见，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文件标识常被称为文件名，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但应了解此时所称的文件名，</a:t>
            </a:r>
            <a:r>
              <a:rPr sz="18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实际上包括以上3部分内容，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</a:t>
            </a:r>
            <a:endParaRPr lang="en-US" altLang="en-US" sz="1800" dirty="0"/>
          </a:p>
          <a:p>
            <a:pPr marL="12700" algn="l" rtl="0" eaLnBrk="0">
              <a:lnSpc>
                <a:spcPts val="324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不仅是文件名主干。</a:t>
            </a:r>
            <a:endParaRPr lang="en-US" altLang="en-US" sz="1800" dirty="0"/>
          </a:p>
        </p:txBody>
      </p:sp>
      <p:sp>
        <p:nvSpPr>
          <p:cNvPr id="9482" name="textbox 9482"/>
          <p:cNvSpPr/>
          <p:nvPr/>
        </p:nvSpPr>
        <p:spPr>
          <a:xfrm>
            <a:off x="789836" y="593870"/>
            <a:ext cx="1233805" cy="4991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</a:t>
            </a:r>
            <a:endParaRPr lang="en-US" altLang="en-US" sz="3100" dirty="0"/>
          </a:p>
        </p:txBody>
      </p:sp>
      <p:sp>
        <p:nvSpPr>
          <p:cNvPr id="9484" name="path"/>
          <p:cNvSpPr/>
          <p:nvPr/>
        </p:nvSpPr>
        <p:spPr>
          <a:xfrm>
            <a:off x="767906" y="1236979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486" name="path"/>
          <p:cNvSpPr/>
          <p:nvPr/>
        </p:nvSpPr>
        <p:spPr>
          <a:xfrm>
            <a:off x="767906" y="5232908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8" name="textbox 9488"/>
          <p:cNvSpPr/>
          <p:nvPr/>
        </p:nvSpPr>
        <p:spPr>
          <a:xfrm>
            <a:off x="847915" y="1371854"/>
            <a:ext cx="10561955" cy="17551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marL="15875" indent="-3810" algn="l" rtl="0" eaLnBrk="0">
              <a:lnSpc>
                <a:spcPct val="113000"/>
              </a:lnSpc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根据数据的组织形式，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数据文件可分为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ASCII</a:t>
            </a:r>
            <a:r>
              <a:rPr sz="18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二进制文件</a:t>
            </a:r>
            <a:r>
              <a:rPr sz="1800" b="1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。数据在内存中是以二进制形式存储的， 如果不加转换地输出到外存，</a:t>
            </a:r>
            <a:r>
              <a:rPr sz="18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就是二进制文件，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可以认为它就是存储在内存的数据的映像，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所以也称之  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映像文件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(image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file)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。如果要求在外存上以ASCII代码形式存储，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则需要在存储前进行转换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。ASCI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I文件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又称</a:t>
            </a: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文本文件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（text f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ile</a:t>
            </a:r>
            <a:r>
              <a:rPr sz="1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每一个字节存放一个字符的ASCII代码。</a:t>
            </a:r>
            <a:endParaRPr lang="en-US" altLang="en-US" sz="18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400" dirty="0"/>
          </a:p>
          <a:p>
            <a:pPr marL="17780" algn="l" rtl="0" eaLnBrk="0">
              <a:lnSpc>
                <a:spcPct val="95000"/>
              </a:lnSpc>
              <a:spcBef>
                <a:spcPts val="0"/>
              </a:spcBef>
            </a:pP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字符一律以ASCII形式存储，</a:t>
            </a:r>
            <a:r>
              <a:rPr sz="1800" b="1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数值型数据既可以用ASCII形式存储，</a:t>
            </a:r>
            <a:r>
              <a:rPr sz="1800" b="1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也可以用二进制形式存储。</a:t>
            </a:r>
            <a:endParaRPr lang="en-US" altLang="en-US" sz="1800" b="1" dirty="0"/>
          </a:p>
        </p:txBody>
      </p:sp>
      <p:graphicFrame>
        <p:nvGraphicFramePr>
          <p:cNvPr id="9492" name="table 9492"/>
          <p:cNvGraphicFramePr>
            <a:graphicFrameLocks noGrp="1"/>
          </p:cNvGraphicFramePr>
          <p:nvPr/>
        </p:nvGraphicFramePr>
        <p:xfrm>
          <a:off x="5549582" y="3471036"/>
          <a:ext cx="4076700" cy="226059"/>
        </p:xfrm>
        <a:graphic>
          <a:graphicData uri="http://schemas.openxmlformats.org/drawingml/2006/table">
            <a:tbl>
              <a:tblPr>
                <a:solidFill>
                  <a:srgbClr val="FBE9E8"/>
                </a:solidFill>
              </a:tblPr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lang="en-US" altLang="en-US" sz="300" dirty="0"/>
                    </a:p>
                    <a:p>
                      <a:pPr marL="43180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00110001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lang="en-US" altLang="en-US" sz="300" dirty="0"/>
                    </a:p>
                    <a:p>
                      <a:pPr marL="36830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00110000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lang="en-US" altLang="en-US" sz="300" dirty="0"/>
                    </a:p>
                    <a:p>
                      <a:pPr marL="36830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00110000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lang="en-US" altLang="en-US" sz="300" dirty="0"/>
                    </a:p>
                    <a:p>
                      <a:pPr marL="37465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00110000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lang="en-US" altLang="en-US" sz="300" dirty="0"/>
                    </a:p>
                    <a:p>
                      <a:pPr marL="37465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00110000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494" name="textbox 9494"/>
          <p:cNvSpPr/>
          <p:nvPr/>
        </p:nvSpPr>
        <p:spPr>
          <a:xfrm>
            <a:off x="789836" y="593870"/>
            <a:ext cx="2044700" cy="4972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文件的分类</a:t>
            </a:r>
            <a:endParaRPr lang="en-US" altLang="en-US" sz="3100" dirty="0"/>
          </a:p>
        </p:txBody>
      </p:sp>
      <p:graphicFrame>
        <p:nvGraphicFramePr>
          <p:cNvPr id="9496" name="table 9496"/>
          <p:cNvGraphicFramePr>
            <a:graphicFrameLocks noGrp="1"/>
          </p:cNvGraphicFramePr>
          <p:nvPr/>
        </p:nvGraphicFramePr>
        <p:xfrm>
          <a:off x="1485583" y="3897757"/>
          <a:ext cx="3263265" cy="226059"/>
        </p:xfrm>
        <a:graphic>
          <a:graphicData uri="http://schemas.openxmlformats.org/drawingml/2006/table">
            <a:tbl>
              <a:tblPr>
                <a:solidFill>
                  <a:srgbClr val="FBE9E8"/>
                </a:solidFill>
              </a:tblPr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300" dirty="0"/>
                    </a:p>
                    <a:p>
                      <a:pPr marL="41910" algn="l" rtl="0" eaLnBrk="0">
                        <a:lnSpc>
                          <a:spcPct val="82000"/>
                        </a:lnSpc>
                        <a:spcBef>
                          <a:spcPts val="0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00000000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300" dirty="0"/>
                    </a:p>
                    <a:p>
                      <a:pPr marL="36195" algn="l" rtl="0" eaLnBrk="0">
                        <a:lnSpc>
                          <a:spcPct val="82000"/>
                        </a:lnSpc>
                        <a:spcBef>
                          <a:spcPts val="0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00000000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300" dirty="0"/>
                    </a:p>
                    <a:p>
                      <a:pPr marL="36195" algn="l" rtl="0" eaLnBrk="0">
                        <a:lnSpc>
                          <a:spcPct val="82000"/>
                        </a:lnSpc>
                        <a:spcBef>
                          <a:spcPts val="0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00100111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300" dirty="0"/>
                    </a:p>
                    <a:p>
                      <a:pPr marL="36830" algn="l" rtl="0" eaLnBrk="0">
                        <a:lnSpc>
                          <a:spcPct val="82000"/>
                        </a:lnSpc>
                        <a:spcBef>
                          <a:spcPts val="0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00010000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98" name="table 9498"/>
          <p:cNvGraphicFramePr>
            <a:graphicFrameLocks noGrp="1"/>
          </p:cNvGraphicFramePr>
          <p:nvPr/>
        </p:nvGraphicFramePr>
        <p:xfrm>
          <a:off x="5549582" y="4324477"/>
          <a:ext cx="3263900" cy="225425"/>
        </p:xfrm>
        <a:graphic>
          <a:graphicData uri="http://schemas.openxmlformats.org/drawingml/2006/table">
            <a:tbl>
              <a:tblPr>
                <a:solidFill>
                  <a:srgbClr val="FBE9E8"/>
                </a:solidFill>
              </a:tblPr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300" dirty="0"/>
                    </a:p>
                    <a:p>
                      <a:pPr marL="43180" algn="l" rtl="0" eaLnBrk="0">
                        <a:lnSpc>
                          <a:spcPct val="82000"/>
                        </a:lnSpc>
                        <a:spcBef>
                          <a:spcPts val="0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00000000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300" dirty="0"/>
                    </a:p>
                    <a:p>
                      <a:pPr marL="36830" algn="l" rtl="0" eaLnBrk="0">
                        <a:lnSpc>
                          <a:spcPct val="82000"/>
                        </a:lnSpc>
                        <a:spcBef>
                          <a:spcPts val="0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00000000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300" dirty="0"/>
                    </a:p>
                    <a:p>
                      <a:pPr marL="36830" algn="l" rtl="0" eaLnBrk="0">
                        <a:lnSpc>
                          <a:spcPct val="82000"/>
                        </a:lnSpc>
                        <a:spcBef>
                          <a:spcPts val="0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00100111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300" dirty="0"/>
                    </a:p>
                    <a:p>
                      <a:pPr marL="37465" algn="l" rtl="0" eaLnBrk="0">
                        <a:lnSpc>
                          <a:spcPct val="82000"/>
                        </a:lnSpc>
                        <a:spcBef>
                          <a:spcPts val="0"/>
                        </a:spcBef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00010000</a:t>
                      </a:r>
                      <a:endParaRPr lang="en-US" altLang="en-US" sz="13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500" name="path"/>
          <p:cNvSpPr/>
          <p:nvPr/>
        </p:nvSpPr>
        <p:spPr>
          <a:xfrm>
            <a:off x="4738715" y="3551046"/>
            <a:ext cx="807537" cy="348235"/>
          </a:xfrm>
          <a:custGeom>
            <a:avLst/>
            <a:gdLst/>
            <a:ahLst/>
            <a:cxnLst/>
            <a:rect l="0" t="0" r="0" b="0"/>
            <a:pathLst>
              <a:path w="1271" h="548">
                <a:moveTo>
                  <a:pt x="1" y="543"/>
                </a:moveTo>
                <a:lnTo>
                  <a:pt x="1269" y="4"/>
                </a:lnTo>
              </a:path>
            </a:pathLst>
          </a:custGeom>
          <a:noFill/>
          <a:ln w="6350" cap="flat">
            <a:solidFill>
              <a:srgbClr val="E84C22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02" name="path"/>
          <p:cNvSpPr/>
          <p:nvPr/>
        </p:nvSpPr>
        <p:spPr>
          <a:xfrm>
            <a:off x="767906" y="1236979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04" name="path"/>
          <p:cNvSpPr/>
          <p:nvPr/>
        </p:nvSpPr>
        <p:spPr>
          <a:xfrm>
            <a:off x="4738801" y="4117939"/>
            <a:ext cx="816891" cy="324683"/>
          </a:xfrm>
          <a:custGeom>
            <a:avLst/>
            <a:gdLst/>
            <a:ahLst/>
            <a:cxnLst/>
            <a:rect l="0" t="0" r="0" b="0"/>
            <a:pathLst>
              <a:path w="1286" h="511">
                <a:moveTo>
                  <a:pt x="1" y="4"/>
                </a:moveTo>
                <a:lnTo>
                  <a:pt x="1284" y="506"/>
                </a:lnTo>
              </a:path>
            </a:pathLst>
          </a:custGeom>
          <a:noFill/>
          <a:ln w="6350" cap="flat">
            <a:solidFill>
              <a:srgbClr val="E84C22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06" name="textbox 9506"/>
          <p:cNvSpPr/>
          <p:nvPr/>
        </p:nvSpPr>
        <p:spPr>
          <a:xfrm>
            <a:off x="2509083" y="3700848"/>
            <a:ext cx="1240155" cy="2273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90"/>
              </a:lnSpc>
            </a:pP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内存中存储形式</a:t>
            </a:r>
            <a:endParaRPr lang="en-US" altLang="en-US" sz="1300" dirty="0"/>
          </a:p>
        </p:txBody>
      </p:sp>
      <p:sp>
        <p:nvSpPr>
          <p:cNvPr id="9508" name="textbox 9508"/>
          <p:cNvSpPr/>
          <p:nvPr/>
        </p:nvSpPr>
        <p:spPr>
          <a:xfrm>
            <a:off x="6740363" y="4128068"/>
            <a:ext cx="896619" cy="2279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90"/>
              </a:lnSpc>
            </a:pP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二进制形式</a:t>
            </a:r>
            <a:endParaRPr lang="en-US" altLang="en-US" sz="1300" dirty="0"/>
          </a:p>
        </p:txBody>
      </p:sp>
      <p:sp>
        <p:nvSpPr>
          <p:cNvPr id="9510" name="textbox 9510"/>
          <p:cNvSpPr/>
          <p:nvPr/>
        </p:nvSpPr>
        <p:spPr>
          <a:xfrm>
            <a:off x="7202197" y="3274374"/>
            <a:ext cx="776605" cy="2279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90"/>
              </a:lnSpc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ASCII形式</a:t>
            </a:r>
            <a:endParaRPr lang="en-US" altLang="en-US" sz="1300" dirty="0"/>
          </a:p>
        </p:txBody>
      </p:sp>
      <p:sp>
        <p:nvSpPr>
          <p:cNvPr id="9512" name="textbox 9512"/>
          <p:cNvSpPr/>
          <p:nvPr/>
        </p:nvSpPr>
        <p:spPr>
          <a:xfrm>
            <a:off x="6674386" y="3700848"/>
            <a:ext cx="215265" cy="2216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(0)</a:t>
            </a:r>
            <a:endParaRPr lang="en-US" altLang="en-US" sz="1300" dirty="0"/>
          </a:p>
        </p:txBody>
      </p:sp>
      <p:sp>
        <p:nvSpPr>
          <p:cNvPr id="9514" name="textbox 9514"/>
          <p:cNvSpPr/>
          <p:nvPr/>
        </p:nvSpPr>
        <p:spPr>
          <a:xfrm>
            <a:off x="5861459" y="3700848"/>
            <a:ext cx="214629" cy="2216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</a:t>
            </a:r>
            <a:endParaRPr lang="en-US" altLang="en-US" sz="1300" dirty="0"/>
          </a:p>
        </p:txBody>
      </p:sp>
      <p:sp>
        <p:nvSpPr>
          <p:cNvPr id="9516" name="textbox 9516"/>
          <p:cNvSpPr/>
          <p:nvPr/>
        </p:nvSpPr>
        <p:spPr>
          <a:xfrm>
            <a:off x="7487567" y="3700848"/>
            <a:ext cx="214629" cy="2216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(0)</a:t>
            </a:r>
            <a:endParaRPr lang="en-US" altLang="en-US" sz="1300" dirty="0"/>
          </a:p>
        </p:txBody>
      </p:sp>
      <p:sp>
        <p:nvSpPr>
          <p:cNvPr id="9518" name="textbox 9518"/>
          <p:cNvSpPr/>
          <p:nvPr/>
        </p:nvSpPr>
        <p:spPr>
          <a:xfrm>
            <a:off x="8300494" y="3700848"/>
            <a:ext cx="214629" cy="2216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(0)</a:t>
            </a:r>
            <a:endParaRPr lang="en-US" altLang="en-US" sz="1300" dirty="0"/>
          </a:p>
        </p:txBody>
      </p:sp>
      <p:sp>
        <p:nvSpPr>
          <p:cNvPr id="9520" name="textbox 9520"/>
          <p:cNvSpPr/>
          <p:nvPr/>
        </p:nvSpPr>
        <p:spPr>
          <a:xfrm>
            <a:off x="9113675" y="3700848"/>
            <a:ext cx="214629" cy="2216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(0)</a:t>
            </a:r>
            <a:endParaRPr lang="en-US" altLang="en-US" sz="1300" dirty="0"/>
          </a:p>
        </p:txBody>
      </p:sp>
      <p:sp>
        <p:nvSpPr>
          <p:cNvPr id="2" name="文本框 1"/>
          <p:cNvSpPr txBox="1"/>
          <p:nvPr/>
        </p:nvSpPr>
        <p:spPr>
          <a:xfrm>
            <a:off x="895985" y="4880610"/>
            <a:ext cx="102101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用ASCII码形式输出时字节与字符一一对应， 一个字节代表一个字符， 因而便于对字符进行逐个处理， 也便于输出字符 。但一般占存储空间较多， 而且要花费转换时间（二进制形式与ASCII码间的转换） 。用二进制形式输出数值， 可以节省外存空间和转换时间， 把内存中的存储单元中的内容原封不动地输出到磁盘(或其他外部介质)上， 此时</a:t>
            </a:r>
            <a:r>
              <a:rPr kern="0" spc="1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每一个字节并不一定代表一个字符</a:t>
            </a:r>
            <a:r>
              <a:rPr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9486" name="path"/>
          <p:cNvSpPr/>
          <p:nvPr>
            <p:custDataLst>
              <p:tags r:id="rId1"/>
            </p:custDataLst>
          </p:nvPr>
        </p:nvSpPr>
        <p:spPr>
          <a:xfrm>
            <a:off x="767906" y="6170168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2" name="textbox 9522"/>
          <p:cNvSpPr/>
          <p:nvPr/>
        </p:nvSpPr>
        <p:spPr>
          <a:xfrm>
            <a:off x="843801" y="1371854"/>
            <a:ext cx="10407015" cy="16046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17145" indent="-5080" algn="l" rtl="0" eaLnBrk="0">
              <a:lnSpc>
                <a:spcPct val="115000"/>
              </a:lnSpc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ANSI</a:t>
            </a:r>
            <a:r>
              <a:rPr sz="1800" kern="0" spc="4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C标准采用“</a:t>
            </a: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缓冲文件系统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”处理数据文件，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所谓缓冲文件系统是指系统自动地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在内存区为程序中每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一个正在使用的文件开辟一个文件缓冲区</a:t>
            </a:r>
            <a:r>
              <a:rPr sz="18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。从内存向磁盘输出数据必须先送到内存中的缓冲区，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装满缓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冲区后才一起送到磁盘去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果从磁盘向计算机读入数据，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则一次从磁盘文件将一批数据输入到内存缓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冲区（充满缓冲区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后再从缓冲区逐个地将数据送到程序数据区</a:t>
            </a:r>
            <a:r>
              <a:rPr sz="1800" kern="0" spc="-4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（给程序变量）</a:t>
            </a:r>
            <a:r>
              <a:rPr sz="18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。这样做是为了节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省存取时间，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提高效率，</a:t>
            </a:r>
            <a:r>
              <a:rPr sz="18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冲区的大小由各个具体的C编译系统确定。</a:t>
            </a:r>
            <a:endParaRPr lang="en-US" altLang="en-US" sz="1800" dirty="0"/>
          </a:p>
        </p:txBody>
      </p:sp>
      <p:sp>
        <p:nvSpPr>
          <p:cNvPr id="9528" name="textbox 9528"/>
          <p:cNvSpPr/>
          <p:nvPr/>
        </p:nvSpPr>
        <p:spPr>
          <a:xfrm>
            <a:off x="847001" y="5097787"/>
            <a:ext cx="10398125" cy="6153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lang="en-US" altLang="en-US" sz="100" dirty="0"/>
          </a:p>
          <a:p>
            <a:pPr marL="12700" indent="3810" algn="l" rtl="0" eaLnBrk="0">
              <a:lnSpc>
                <a:spcPct val="107000"/>
              </a:lnSpc>
              <a:spcBef>
                <a:spcPts val="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说明:</a:t>
            </a:r>
            <a:r>
              <a:rPr sz="1800" kern="0" spc="5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每一个文件在内存中只有一个缓冲区，</a:t>
            </a:r>
            <a:r>
              <a:rPr sz="18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在向文件输出数据时，</a:t>
            </a:r>
            <a:r>
              <a:rPr sz="1800" b="1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它就作为输出缓冲区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在从文件输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入数据时，</a:t>
            </a:r>
            <a:r>
              <a:rPr sz="18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它就作为输入缓冲区。</a:t>
            </a:r>
            <a:endParaRPr lang="en-US" altLang="en-US" sz="1800" dirty="0"/>
          </a:p>
        </p:txBody>
      </p:sp>
      <p:sp>
        <p:nvSpPr>
          <p:cNvPr id="9530" name="textbox 9530"/>
          <p:cNvSpPr/>
          <p:nvPr/>
        </p:nvSpPr>
        <p:spPr>
          <a:xfrm>
            <a:off x="789836" y="593870"/>
            <a:ext cx="2044700" cy="4991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文件缓冲区</a:t>
            </a:r>
            <a:endParaRPr lang="en-US" altLang="en-US" sz="3100" dirty="0"/>
          </a:p>
        </p:txBody>
      </p:sp>
      <p:sp>
        <p:nvSpPr>
          <p:cNvPr id="9552" name="path"/>
          <p:cNvSpPr/>
          <p:nvPr/>
        </p:nvSpPr>
        <p:spPr>
          <a:xfrm>
            <a:off x="767906" y="1236979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54" name="path"/>
          <p:cNvSpPr/>
          <p:nvPr/>
        </p:nvSpPr>
        <p:spPr>
          <a:xfrm>
            <a:off x="767906" y="6025388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051175" y="3206115"/>
            <a:ext cx="4297680" cy="1664335"/>
          </a:xfrm>
          <a:prstGeom prst="rect">
            <a:avLst/>
          </a:prstGeom>
          <a:solidFill>
            <a:srgbClr val="CC9900"/>
          </a:solidFill>
          <a:ln w="9525">
            <a:solidFill>
              <a:srgbClr val="CC99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path"/>
          <p:cNvSpPr/>
          <p:nvPr>
            <p:custDataLst>
              <p:tags r:id="rId1"/>
            </p:custDataLst>
          </p:nvPr>
        </p:nvSpPr>
        <p:spPr>
          <a:xfrm rot="21600000">
            <a:off x="7946452" y="3535679"/>
            <a:ext cx="896111" cy="896112"/>
          </a:xfrm>
          <a:custGeom>
            <a:avLst/>
            <a:gdLst/>
            <a:ahLst/>
            <a:cxnLst/>
            <a:rect l="0" t="0" r="0" b="0"/>
            <a:pathLst>
              <a:path w="1411" h="1411">
                <a:moveTo>
                  <a:pt x="0" y="705"/>
                </a:moveTo>
                <a:cubicBezTo>
                  <a:pt x="0" y="316"/>
                  <a:pt x="316" y="0"/>
                  <a:pt x="705" y="0"/>
                </a:cubicBezTo>
                <a:cubicBezTo>
                  <a:pt x="1095" y="0"/>
                  <a:pt x="1411" y="316"/>
                  <a:pt x="1411" y="705"/>
                </a:cubicBezTo>
                <a:cubicBezTo>
                  <a:pt x="1411" y="1095"/>
                  <a:pt x="1095" y="1411"/>
                  <a:pt x="705" y="1411"/>
                </a:cubicBezTo>
                <a:cubicBezTo>
                  <a:pt x="316" y="1411"/>
                  <a:pt x="0" y="1095"/>
                  <a:pt x="0" y="705"/>
                </a:cubicBezTo>
              </a:path>
            </a:pathLst>
          </a:custGeom>
          <a:solidFill>
            <a:srgbClr val="CC9900"/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" name="table 953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422456" y="3465322"/>
          <a:ext cx="1600200" cy="347345"/>
        </p:xfrm>
        <a:graphic>
          <a:graphicData uri="http://schemas.openxmlformats.org/drawingml/2006/table">
            <a:tbl>
              <a:tblPr>
                <a:solidFill>
                  <a:srgbClr val="FFBD47"/>
                </a:solidFill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BC8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8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8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8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954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185223" y="3767073"/>
          <a:ext cx="1195070" cy="527685"/>
        </p:xfrm>
        <a:graphic>
          <a:graphicData uri="http://schemas.openxmlformats.org/drawingml/2006/table">
            <a:tbl>
              <a:tblPr>
                <a:solidFill>
                  <a:srgbClr val="FFBD47"/>
                </a:solidFill>
              </a:tblPr>
              <a:tblGrid>
                <a:gridCol w="1195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76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BC8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8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8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8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9546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5422456" y="4282185"/>
          <a:ext cx="1600200" cy="347345"/>
        </p:xfrm>
        <a:graphic>
          <a:graphicData uri="http://schemas.openxmlformats.org/drawingml/2006/table">
            <a:tbl>
              <a:tblPr>
                <a:solidFill>
                  <a:srgbClr val="FFBD47"/>
                </a:solidFill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BC8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8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8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8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550"/>
          <p:cNvSpPr/>
          <p:nvPr>
            <p:custDataLst>
              <p:tags r:id="rId5"/>
            </p:custDataLst>
          </p:nvPr>
        </p:nvSpPr>
        <p:spPr>
          <a:xfrm>
            <a:off x="4829340" y="3793235"/>
            <a:ext cx="474980" cy="8128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lang="en-US" altLang="en-US" sz="1800" dirty="0"/>
          </a:p>
          <a:p>
            <a:pPr marL="12700" algn="l" rtl="0" eaLnBrk="0">
              <a:lnSpc>
                <a:spcPts val="4320"/>
              </a:lnSpc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lang="en-US" altLang="en-US" sz="1800" kern="0" spc="-3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07055" y="3405505"/>
            <a:ext cx="1391285" cy="324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rtl="0" eaLnBrk="0" fontAlgn="auto">
              <a:lnSpc>
                <a:spcPct val="95000"/>
              </a:lnSpc>
              <a:spcBef>
                <a:spcPts val="0"/>
              </a:spcBef>
            </a:pP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程序数据区</a:t>
            </a:r>
            <a:endParaRPr lang="zh-CN" altLang="en-US" sz="1600" kern="0" spc="-2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5304155" y="3209290"/>
            <a:ext cx="1910080" cy="324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rtl="0" eaLnBrk="0" fontAlgn="auto">
              <a:lnSpc>
                <a:spcPct val="95000"/>
              </a:lnSpc>
              <a:spcBef>
                <a:spcPts val="0"/>
              </a:spcBef>
            </a:pPr>
            <a:r>
              <a:rPr lang="zh-CN" sz="16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输出文件缓冲区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5304155" y="3957955"/>
            <a:ext cx="1910080" cy="324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rtl="0" eaLnBrk="0" fontAlgn="auto">
              <a:lnSpc>
                <a:spcPct val="95000"/>
              </a:lnSpc>
              <a:spcBef>
                <a:spcPts val="0"/>
              </a:spcBef>
            </a:pPr>
            <a:r>
              <a:rPr lang="zh-CN" sz="16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输入文件缓冲区</a:t>
            </a:r>
          </a:p>
        </p:txBody>
      </p:sp>
      <p:sp>
        <p:nvSpPr>
          <p:cNvPr id="14" name="textbox 9540"/>
          <p:cNvSpPr/>
          <p:nvPr>
            <p:custDataLst>
              <p:tags r:id="rId8"/>
            </p:custDataLst>
          </p:nvPr>
        </p:nvSpPr>
        <p:spPr>
          <a:xfrm>
            <a:off x="7004114" y="3455550"/>
            <a:ext cx="970914" cy="86169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382905" algn="l" rtl="0" eaLnBrk="0">
              <a:lnSpc>
                <a:spcPct val="96000"/>
              </a:lnSpc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lang="en-US" altLang="en-US" sz="1800" dirty="0"/>
          </a:p>
          <a:p>
            <a:pPr algn="l" rtl="0" eaLnBrk="0">
              <a:lnSpc>
                <a:spcPct val="158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400" dirty="0"/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  <a:tabLst>
                <a:tab pos="382270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en-US" sz="1800" dirty="0"/>
          </a:p>
        </p:txBody>
      </p:sp>
      <p:sp>
        <p:nvSpPr>
          <p:cNvPr id="15" name="textbox 9556"/>
          <p:cNvSpPr/>
          <p:nvPr>
            <p:custDataLst>
              <p:tags r:id="rId9"/>
            </p:custDataLst>
          </p:nvPr>
        </p:nvSpPr>
        <p:spPr>
          <a:xfrm>
            <a:off x="8091793" y="3266821"/>
            <a:ext cx="535305" cy="2895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algn="r" rtl="0" eaLnBrk="0">
              <a:lnSpc>
                <a:spcPct val="96000"/>
              </a:lnSpc>
            </a:pPr>
            <a:r>
              <a:rPr sz="1800" kern="0" spc="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磁盘</a:t>
            </a:r>
            <a:endParaRPr lang="en-US" altLang="en-US" sz="1800" dirty="0"/>
          </a:p>
        </p:txBody>
      </p:sp>
      <p:cxnSp>
        <p:nvCxnSpPr>
          <p:cNvPr id="17" name="直接箭头连接符 16"/>
          <p:cNvCxnSpPr>
            <a:endCxn id="14" idx="3"/>
          </p:cNvCxnSpPr>
          <p:nvPr/>
        </p:nvCxnSpPr>
        <p:spPr>
          <a:xfrm>
            <a:off x="7022465" y="3644265"/>
            <a:ext cx="952500" cy="241935"/>
          </a:xfrm>
          <a:prstGeom prst="straightConnector1">
            <a:avLst/>
          </a:prstGeom>
          <a:ln w="3175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5" idx="1"/>
          </p:cNvCxnSpPr>
          <p:nvPr/>
        </p:nvCxnSpPr>
        <p:spPr>
          <a:xfrm flipV="1">
            <a:off x="4330700" y="3639185"/>
            <a:ext cx="1091565" cy="42672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8" idx="1"/>
          </p:cNvCxnSpPr>
          <p:nvPr/>
        </p:nvCxnSpPr>
        <p:spPr>
          <a:xfrm flipH="1" flipV="1">
            <a:off x="4354195" y="4077970"/>
            <a:ext cx="1068070" cy="377825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0" name="textbox 9560"/>
          <p:cNvSpPr/>
          <p:nvPr/>
        </p:nvSpPr>
        <p:spPr>
          <a:xfrm>
            <a:off x="995515" y="1564132"/>
            <a:ext cx="10401934" cy="11099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缓冲文件系统中，</a:t>
            </a:r>
            <a:r>
              <a:rPr sz="18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关键的概念是“</a:t>
            </a:r>
            <a:r>
              <a:rPr sz="1800" b="1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文件类型</a:t>
            </a:r>
            <a:r>
              <a:rPr sz="18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指针</a:t>
            </a: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”，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简称“</a:t>
            </a:r>
            <a:r>
              <a:rPr sz="18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文件指针</a:t>
            </a: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”。每个被使用的文件都在内存中开辟</a:t>
            </a:r>
            <a:endParaRPr lang="en-US" altLang="en-US" sz="1800" dirty="0"/>
          </a:p>
          <a:p>
            <a:pPr marL="15240" indent="1905" algn="l" rtl="0" eaLnBrk="0">
              <a:lnSpc>
                <a:spcPct val="154000"/>
              </a:lnSpc>
              <a:spcBef>
                <a:spcPts val="1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一个相应的文件信息区，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用来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存放文件的有关信息</a:t>
            </a:r>
            <a:r>
              <a:rPr sz="18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（如文件的名字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、文件状态及文件当前位置等）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。这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些信息是保存在一个结构体变量中的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。该结构体类型是由系统声明的，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取名为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</a:t>
            </a: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800" dirty="0"/>
          </a:p>
        </p:txBody>
      </p:sp>
      <p:sp>
        <p:nvSpPr>
          <p:cNvPr id="9562" name="textbox 9562"/>
          <p:cNvSpPr/>
          <p:nvPr/>
        </p:nvSpPr>
        <p:spPr>
          <a:xfrm>
            <a:off x="926082" y="808246"/>
            <a:ext cx="2449829" cy="4972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文件类型指针</a:t>
            </a:r>
            <a:endParaRPr lang="en-US" altLang="en-US" sz="3100" dirty="0"/>
          </a:p>
        </p:txBody>
      </p:sp>
      <p:sp>
        <p:nvSpPr>
          <p:cNvPr id="9564" name="path"/>
          <p:cNvSpPr/>
          <p:nvPr/>
        </p:nvSpPr>
        <p:spPr>
          <a:xfrm>
            <a:off x="914209" y="1368044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66" name="path"/>
          <p:cNvSpPr/>
          <p:nvPr/>
        </p:nvSpPr>
        <p:spPr>
          <a:xfrm>
            <a:off x="914209" y="6250940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044190" y="2844165"/>
            <a:ext cx="6125845" cy="3310890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30175" algn="l" rtl="0" eaLnBrk="0">
              <a:lnSpc>
                <a:spcPct val="92000"/>
              </a:lnSpc>
            </a:pPr>
            <a:endParaRPr sz="16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0175" algn="l" rtl="0" eaLnBrk="0">
              <a:lnSpc>
                <a:spcPct val="92000"/>
              </a:lnSpc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typedef struct</a:t>
            </a:r>
            <a:endParaRPr lang="en-US" altLang="en-US" sz="1600" dirty="0"/>
          </a:p>
          <a:p>
            <a:pPr marL="127000" algn="l" rtl="0" eaLnBrk="0">
              <a:lnSpc>
                <a:spcPts val="1775"/>
              </a:lnSpc>
              <a:spcBef>
                <a:spcPts val="650"/>
              </a:spcBef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short</a:t>
            </a:r>
            <a:r>
              <a:rPr sz="16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level;                    </a:t>
            </a:r>
            <a:r>
              <a:rPr sz="1600" kern="0" spc="-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//缓冲区“满”或“空”的程度</a:t>
            </a:r>
            <a:endParaRPr lang="en-US" altLang="en-US" sz="1600" dirty="0"/>
          </a:p>
          <a:p>
            <a:pPr marL="503555" algn="l" rtl="0" eaLnBrk="0">
              <a:lnSpc>
                <a:spcPct val="86000"/>
              </a:lnSpc>
              <a:spcBef>
                <a:spcPts val="535"/>
              </a:spcBef>
            </a:pP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unsigned f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lags;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</a:t>
            </a:r>
            <a:r>
              <a:rPr sz="1600" kern="0" spc="-7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//文件状态标志</a:t>
            </a:r>
            <a:endParaRPr lang="en-US" altLang="en-US" sz="1600" dirty="0"/>
          </a:p>
          <a:p>
            <a:pPr marL="498475" algn="l" rtl="0" eaLnBrk="0">
              <a:lnSpc>
                <a:spcPct val="96000"/>
              </a:lnSpc>
              <a:spcBef>
                <a:spcPts val="645"/>
              </a:spcBef>
            </a:pP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 fd;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</a:t>
            </a:r>
            <a:r>
              <a:rPr sz="1600" kern="0" spc="-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//文件描述符</a:t>
            </a:r>
            <a:endParaRPr lang="en-US" altLang="en-US" sz="1600" dirty="0"/>
          </a:p>
          <a:p>
            <a:pPr marL="503555" algn="l" rtl="0" eaLnBrk="0">
              <a:lnSpc>
                <a:spcPct val="86000"/>
              </a:lnSpc>
              <a:spcBef>
                <a:spcPts val="470"/>
              </a:spcBef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unsigned char hold;        </a:t>
            </a:r>
            <a:r>
              <a:rPr sz="1600" kern="0" spc="-5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//如缓冲区无内容不读取字符</a:t>
            </a:r>
            <a:endParaRPr lang="en-US" altLang="en-US" sz="1600" dirty="0"/>
          </a:p>
          <a:p>
            <a:pPr marL="492125" algn="l" rtl="0" eaLnBrk="0">
              <a:lnSpc>
                <a:spcPct val="96000"/>
              </a:lnSpc>
              <a:spcBef>
                <a:spcPts val="645"/>
              </a:spcBef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short bsize;                     </a:t>
            </a:r>
            <a:r>
              <a:rPr sz="1600" kern="0" spc="-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//缓冲区的大小</a:t>
            </a:r>
            <a:endParaRPr lang="en-US" altLang="en-US" sz="1600" dirty="0"/>
          </a:p>
          <a:p>
            <a:pPr marL="503555" algn="l" rtl="0" eaLnBrk="0">
              <a:lnSpc>
                <a:spcPct val="86000"/>
              </a:lnSpc>
              <a:spcBef>
                <a:spcPts val="470"/>
              </a:spcBef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unsigned char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*buffer;     </a:t>
            </a:r>
            <a:r>
              <a:rPr sz="1600" kern="0" spc="-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//数据缓冲区的位置</a:t>
            </a:r>
            <a:endParaRPr lang="en-US" altLang="en-US" sz="1600" dirty="0"/>
          </a:p>
          <a:p>
            <a:pPr marL="503555" algn="l" rtl="0" eaLnBrk="0">
              <a:lnSpc>
                <a:spcPct val="86000"/>
              </a:lnSpc>
              <a:spcBef>
                <a:spcPts val="655"/>
              </a:spcBef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unsigned char*curp;       </a:t>
            </a:r>
            <a:r>
              <a:rPr sz="1600" kern="0" spc="-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//文件位置</a:t>
            </a:r>
            <a:r>
              <a:rPr sz="1600" kern="0" spc="-5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标记指针当前的指向</a:t>
            </a:r>
            <a:endParaRPr lang="en-US" altLang="en-US" sz="1600" dirty="0"/>
          </a:p>
          <a:p>
            <a:pPr marL="503555" algn="l" rtl="0" eaLnBrk="0">
              <a:lnSpc>
                <a:spcPct val="86000"/>
              </a:lnSpc>
              <a:spcBef>
                <a:spcPts val="655"/>
              </a:spcBef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unsigned</a:t>
            </a:r>
            <a:r>
              <a:rPr sz="16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istemp; 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r>
              <a:rPr sz="1600" kern="0" spc="-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//临时文件指示器</a:t>
            </a:r>
            <a:endParaRPr lang="en-US" altLang="en-US" sz="1600" dirty="0"/>
          </a:p>
          <a:p>
            <a:pPr algn="l" rtl="0" eaLnBrk="0">
              <a:lnSpc>
                <a:spcPct val="107000"/>
              </a:lnSpc>
            </a:pPr>
            <a:endParaRPr lang="en-US" altLang="en-US" sz="1600" dirty="0"/>
          </a:p>
          <a:p>
            <a:pPr marL="492125" algn="l" rtl="0" eaLnBrk="0">
              <a:lnSpc>
                <a:spcPct val="96000"/>
              </a:lnSpc>
              <a:spcBef>
                <a:spcPts val="0"/>
              </a:spcBef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short token;                    </a:t>
            </a:r>
            <a:r>
              <a:rPr sz="1600" kern="0" spc="-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//用于有效性</a:t>
            </a:r>
            <a:r>
              <a:rPr sz="1600" kern="0" spc="-5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检查</a:t>
            </a:r>
            <a:endParaRPr lang="en-US" altLang="en-US" sz="1600" dirty="0"/>
          </a:p>
          <a:p>
            <a:pPr algn="l"/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}FILE;</a:t>
            </a:r>
            <a:r>
              <a:rPr lang="en-US" sz="16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en-US" sz="1400" kern="0" spc="-3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b="1" kern="0" spc="7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一种C编译环境提供的</a:t>
            </a:r>
            <a:r>
              <a:rPr sz="1400" b="1" kern="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stdio</a:t>
            </a:r>
            <a:r>
              <a:rPr sz="1400" b="1" kern="0" spc="7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.h头文件中有以下的文件类型声明</a:t>
            </a:r>
            <a:endParaRPr lang="en-US" altLang="en-US" sz="1400" dirty="0">
              <a:solidFill>
                <a:srgbClr val="1100CC"/>
              </a:solidFill>
            </a:endParaRPr>
          </a:p>
          <a:p>
            <a:pPr algn="ctr"/>
            <a:endParaRPr lang="en-US" altLang="en-US" sz="1400" dirty="0">
              <a:solidFill>
                <a:srgbClr val="1100C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8" name="textbox 9568"/>
          <p:cNvSpPr/>
          <p:nvPr/>
        </p:nvSpPr>
        <p:spPr>
          <a:xfrm>
            <a:off x="1011364" y="2481072"/>
            <a:ext cx="4032250" cy="35801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20955" algn="l" rtl="0" eaLnBrk="0">
              <a:lnSpc>
                <a:spcPct val="86000"/>
              </a:lnSpc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可以使fp指向某一个文件的文件信息区</a:t>
            </a:r>
            <a:endParaRPr lang="en-US" altLang="en-US" sz="1800" dirty="0"/>
          </a:p>
          <a:p>
            <a:pPr marL="19050" algn="l" rtl="0" eaLnBrk="0">
              <a:lnSpc>
                <a:spcPts val="3240"/>
              </a:lnSpc>
              <a:spcBef>
                <a:spcPts val="15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(是一个结构体变量)，通过该文件信息</a:t>
            </a:r>
            <a:endParaRPr lang="en-US" altLang="en-US" sz="1800" dirty="0"/>
          </a:p>
          <a:p>
            <a:pPr marL="34290" algn="l" rtl="0" eaLnBrk="0">
              <a:lnSpc>
                <a:spcPct val="87000"/>
              </a:lnSpc>
              <a:spcBef>
                <a:spcPts val="136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区中的信息就能够访问该文件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。也就是</a:t>
            </a:r>
            <a:endParaRPr lang="en-US" altLang="en-US" sz="1800" dirty="0"/>
          </a:p>
          <a:p>
            <a:pPr marL="12700" indent="5080" algn="l" rtl="0" eaLnBrk="0">
              <a:lnSpc>
                <a:spcPct val="151000"/>
              </a:lnSpc>
              <a:spcBef>
                <a:spcPts val="60"/>
              </a:spcBef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说，</a:t>
            </a:r>
            <a:r>
              <a:rPr sz="1800" kern="0" spc="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通过文件指针变量能够找到与它</a:t>
            </a:r>
            <a:r>
              <a:rPr sz="18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联的文件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。如果有n个文件，应设n个指  针变量，分别指向n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个FILE类型变量，以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实现对n个文件的访问。为方便起见，通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常将这种指向文件信息区的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指针变量简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称为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指向文件的指针变量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800" dirty="0"/>
          </a:p>
        </p:txBody>
      </p:sp>
      <p:pic>
        <p:nvPicPr>
          <p:cNvPr id="9576" name="picture 95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440997" y="1851659"/>
            <a:ext cx="1500759" cy="1702942"/>
          </a:xfrm>
          <a:prstGeom prst="rect">
            <a:avLst/>
          </a:prstGeom>
        </p:spPr>
      </p:pic>
      <p:pic>
        <p:nvPicPr>
          <p:cNvPr id="9578" name="picture 95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421685" y="1851659"/>
            <a:ext cx="1500124" cy="1702942"/>
          </a:xfrm>
          <a:prstGeom prst="rect">
            <a:avLst/>
          </a:prstGeom>
        </p:spPr>
      </p:pic>
      <p:pic>
        <p:nvPicPr>
          <p:cNvPr id="9580" name="picture 95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94765" y="1851659"/>
            <a:ext cx="1499108" cy="1702942"/>
          </a:xfrm>
          <a:prstGeom prst="rect">
            <a:avLst/>
          </a:prstGeom>
        </p:spPr>
      </p:pic>
      <p:sp>
        <p:nvSpPr>
          <p:cNvPr id="9582" name="textbox 9582"/>
          <p:cNvSpPr/>
          <p:nvPr/>
        </p:nvSpPr>
        <p:spPr>
          <a:xfrm>
            <a:off x="926082" y="808246"/>
            <a:ext cx="2449829" cy="4972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文件类型指针</a:t>
            </a:r>
            <a:endParaRPr lang="en-US" altLang="en-US" sz="3100" dirty="0"/>
          </a:p>
        </p:txBody>
      </p:sp>
      <p:sp>
        <p:nvSpPr>
          <p:cNvPr id="9584" name="path"/>
          <p:cNvSpPr/>
          <p:nvPr/>
        </p:nvSpPr>
        <p:spPr>
          <a:xfrm>
            <a:off x="914209" y="1368044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86" name="path"/>
          <p:cNvSpPr/>
          <p:nvPr/>
        </p:nvSpPr>
        <p:spPr>
          <a:xfrm>
            <a:off x="914209" y="6250940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88" name="textbox 9588"/>
          <p:cNvSpPr/>
          <p:nvPr/>
        </p:nvSpPr>
        <p:spPr>
          <a:xfrm>
            <a:off x="8146625" y="3608712"/>
            <a:ext cx="751205" cy="3841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68580" indent="-55880" algn="l" rtl="0" eaLnBrk="0">
              <a:lnSpc>
                <a:spcPct val="98000"/>
              </a:lnSpc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文件f2的文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件信息区</a:t>
            </a:r>
            <a:endParaRPr lang="en-US" altLang="en-US" sz="1200" dirty="0"/>
          </a:p>
        </p:txBody>
      </p:sp>
      <p:sp>
        <p:nvSpPr>
          <p:cNvPr id="9590" name="textbox 9590"/>
          <p:cNvSpPr/>
          <p:nvPr/>
        </p:nvSpPr>
        <p:spPr>
          <a:xfrm>
            <a:off x="10175069" y="3608712"/>
            <a:ext cx="751205" cy="3841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68580" indent="-55880" algn="l" rtl="0" eaLnBrk="0">
              <a:lnSpc>
                <a:spcPct val="98000"/>
              </a:lnSpc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文件f3的文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件信息区</a:t>
            </a:r>
            <a:endParaRPr lang="en-US" altLang="en-US" sz="1200" dirty="0"/>
          </a:p>
        </p:txBody>
      </p:sp>
      <p:sp>
        <p:nvSpPr>
          <p:cNvPr id="9592" name="textbox 9592"/>
          <p:cNvSpPr/>
          <p:nvPr/>
        </p:nvSpPr>
        <p:spPr>
          <a:xfrm>
            <a:off x="6194127" y="3608712"/>
            <a:ext cx="750569" cy="3841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68580" indent="-55880" algn="l" rtl="0" eaLnBrk="0">
              <a:lnSpc>
                <a:spcPct val="98000"/>
              </a:lnSpc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文件f1的文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件信息区</a:t>
            </a:r>
            <a:endParaRPr lang="en-US" altLang="en-US" sz="1200" dirty="0"/>
          </a:p>
        </p:txBody>
      </p:sp>
      <p:sp>
        <p:nvSpPr>
          <p:cNvPr id="9594" name="textbox 9594"/>
          <p:cNvSpPr/>
          <p:nvPr/>
        </p:nvSpPr>
        <p:spPr>
          <a:xfrm>
            <a:off x="7479980" y="1600393"/>
            <a:ext cx="305434" cy="2368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algn="r" rtl="0" eaLnBrk="0">
              <a:lnSpc>
                <a:spcPct val="92000"/>
              </a:lnSpc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fp2</a:t>
            </a:r>
            <a:endParaRPr lang="en-US" altLang="en-US" sz="1500" dirty="0"/>
          </a:p>
        </p:txBody>
      </p:sp>
      <p:sp>
        <p:nvSpPr>
          <p:cNvPr id="9596" name="textbox 9596"/>
          <p:cNvSpPr/>
          <p:nvPr/>
        </p:nvSpPr>
        <p:spPr>
          <a:xfrm>
            <a:off x="9508170" y="1600393"/>
            <a:ext cx="305434" cy="2368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algn="r" rtl="0" eaLnBrk="0">
              <a:lnSpc>
                <a:spcPct val="92000"/>
              </a:lnSpc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fp3</a:t>
            </a:r>
            <a:endParaRPr lang="en-US" altLang="en-US" sz="1500" dirty="0"/>
          </a:p>
        </p:txBody>
      </p:sp>
      <p:sp>
        <p:nvSpPr>
          <p:cNvPr id="9598" name="textbox 9598"/>
          <p:cNvSpPr/>
          <p:nvPr/>
        </p:nvSpPr>
        <p:spPr>
          <a:xfrm>
            <a:off x="5527228" y="1600393"/>
            <a:ext cx="305434" cy="2368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algn="r" rtl="0" eaLnBrk="0">
              <a:lnSpc>
                <a:spcPct val="92000"/>
              </a:lnSpc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fp1</a:t>
            </a:r>
            <a:endParaRPr lang="en-US" altLang="en-US" sz="1500" dirty="0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931545" y="1528445"/>
            <a:ext cx="4060190" cy="778510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33985" algn="l" rtl="0" eaLnBrk="0">
              <a:lnSpc>
                <a:spcPct val="92000"/>
              </a:lnSpc>
              <a:spcBef>
                <a:spcPts val="5"/>
              </a:spcBef>
            </a:pPr>
            <a:endParaRPr kern="0" spc="-5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rtl="0" eaLnBrk="0" fontAlgn="auto">
              <a:lnSpc>
                <a:spcPct val="92000"/>
              </a:lnSpc>
              <a:spcBef>
                <a:spcPts val="0"/>
              </a:spcBef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 *fp;</a:t>
            </a:r>
            <a:endParaRPr lang="en-US" altLang="en-US" sz="1600" dirty="0"/>
          </a:p>
          <a:p>
            <a:pPr algn="l" rtl="0" eaLnBrk="0">
              <a:lnSpc>
                <a:spcPct val="107000"/>
              </a:lnSpc>
            </a:pPr>
            <a:r>
              <a:rPr sz="1600"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//定义一个指向FILE类型数据的指针变</a:t>
            </a:r>
            <a:r>
              <a:rPr sz="1600" kern="0" spc="-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量</a:t>
            </a:r>
            <a:endParaRPr lang="en-US" altLang="en-US" sz="1600" dirty="0"/>
          </a:p>
          <a:p>
            <a:pPr algn="ctr"/>
            <a:endParaRPr lang="zh-CN" altLang="en-US" sz="160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7021830" y="4464685"/>
            <a:ext cx="3505835" cy="1100455"/>
          </a:xfrm>
          <a:prstGeom prst="rect">
            <a:avLst/>
          </a:prstGeom>
          <a:solidFill>
            <a:srgbClr val="CCECFF"/>
          </a:solidFill>
          <a:ln>
            <a:solidFill>
              <a:srgbClr val="CCEC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sz="1600" kern="0" spc="-10" dirty="0">
                <a:solidFill>
                  <a:srgbClr val="404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•</a:t>
            </a:r>
            <a:r>
              <a:rPr sz="1600" kern="0" spc="140" dirty="0">
                <a:solidFill>
                  <a:srgbClr val="404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16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指向文件的指针变量并不是指向外</a:t>
            </a:r>
            <a:r>
              <a:rPr sz="1600" kern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部介质上的数据文件</a:t>
            </a:r>
            <a:r>
              <a:rPr sz="16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的开头，而是</a:t>
            </a:r>
            <a:r>
              <a:rPr sz="1600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指向内存中的文件信息</a:t>
            </a:r>
            <a:r>
              <a:rPr sz="1600" kern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区的开头。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2185000" y="446405"/>
            <a:ext cx="7823200" cy="2432051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打开与关闭文件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32400" y="3136069"/>
            <a:ext cx="113284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31" y="246671"/>
            <a:ext cx="573807" cy="5738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2" name="textbox 9602"/>
          <p:cNvSpPr/>
          <p:nvPr/>
        </p:nvSpPr>
        <p:spPr>
          <a:xfrm>
            <a:off x="993915" y="1564132"/>
            <a:ext cx="10403840" cy="3968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4605" algn="l" rtl="0" eaLnBrk="0">
              <a:lnSpc>
                <a:spcPct val="95000"/>
              </a:lnSpc>
            </a:pPr>
            <a:r>
              <a:rPr sz="18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对文件读写之前应该“打开”该文</a:t>
            </a:r>
            <a:r>
              <a:rPr sz="18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件，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在使用结束之后应“关闭”该文件。</a:t>
            </a:r>
            <a:endParaRPr lang="en-US" altLang="en-US" sz="1800" dirty="0"/>
          </a:p>
          <a:p>
            <a:pPr algn="l" rtl="0" eaLnBrk="0">
              <a:lnSpc>
                <a:spcPct val="107000"/>
              </a:lnSpc>
            </a:pPr>
            <a:endParaRPr lang="en-US" altLang="en-US" sz="1000" dirty="0"/>
          </a:p>
          <a:p>
            <a:pPr algn="l" rtl="0" eaLnBrk="0">
              <a:lnSpc>
                <a:spcPct val="108000"/>
              </a:lnSpc>
            </a:pPr>
            <a:endParaRPr lang="en-US" altLang="en-US" sz="1000" dirty="0"/>
          </a:p>
          <a:p>
            <a:pPr algn="l" rtl="0" eaLnBrk="0">
              <a:lnSpc>
                <a:spcPct val="108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87000"/>
              </a:lnSpc>
              <a:spcBef>
                <a:spcPts val="550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所谓“打开”是指为文件建立相应的信息区(用来存放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有关文件的信息)和文件缓冲区(用来暂时存放输入输</a:t>
            </a:r>
            <a:endParaRPr lang="en-US" altLang="en-US" sz="1800" dirty="0"/>
          </a:p>
          <a:p>
            <a:pPr marL="34290" algn="l" rtl="0" eaLnBrk="0">
              <a:lnSpc>
                <a:spcPts val="3240"/>
              </a:lnSpc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出的数据)。</a:t>
            </a:r>
            <a:endParaRPr lang="en-US" altLang="en-US" sz="18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marL="13970" algn="l" rtl="0" eaLnBrk="0">
              <a:lnSpc>
                <a:spcPct val="87000"/>
              </a:lnSpc>
              <a:spcBef>
                <a:spcPts val="55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在编写程序时，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在打开文件的同时，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一般都指定一个指针变量指向该文件，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也就是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建立起指针变量与文</a:t>
            </a:r>
            <a:endParaRPr lang="en-US" altLang="en-US" sz="1800" dirty="0"/>
          </a:p>
          <a:p>
            <a:pPr marL="13335" algn="l" rtl="0" eaLnBrk="0">
              <a:lnSpc>
                <a:spcPts val="324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件之间的联系，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这样，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就可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以通过该指针变量对文件进行读写了。</a:t>
            </a:r>
            <a:endParaRPr lang="en-US" altLang="en-US" sz="18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87000"/>
              </a:lnSpc>
              <a:spcBef>
                <a:spcPts val="545"/>
              </a:spcBef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所谓“关闭”是指撤销文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件信息区和文件缓冲区，</a:t>
            </a:r>
            <a:r>
              <a:rPr sz="18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使文件指针变量不再指向该文件，</a:t>
            </a:r>
            <a:r>
              <a:rPr sz="18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显然就无法进行对文</a:t>
            </a:r>
            <a:endParaRPr lang="en-US" altLang="en-US" sz="1800" dirty="0"/>
          </a:p>
          <a:p>
            <a:pPr marL="13335" algn="l" rtl="0" eaLnBrk="0">
              <a:lnSpc>
                <a:spcPts val="324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件的读写了。</a:t>
            </a:r>
            <a:endParaRPr lang="en-US" altLang="en-US" sz="1800" dirty="0"/>
          </a:p>
        </p:txBody>
      </p:sp>
      <p:sp>
        <p:nvSpPr>
          <p:cNvPr id="9604" name="textbox 9604"/>
          <p:cNvSpPr/>
          <p:nvPr/>
        </p:nvSpPr>
        <p:spPr>
          <a:xfrm>
            <a:off x="922836" y="808246"/>
            <a:ext cx="2858135" cy="4984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打开与关闭文件</a:t>
            </a:r>
            <a:endParaRPr lang="en-US" altLang="en-US" sz="3100" dirty="0"/>
          </a:p>
        </p:txBody>
      </p:sp>
      <p:sp>
        <p:nvSpPr>
          <p:cNvPr id="9606" name="path"/>
          <p:cNvSpPr/>
          <p:nvPr/>
        </p:nvSpPr>
        <p:spPr>
          <a:xfrm>
            <a:off x="914209" y="1368044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86" name="path"/>
          <p:cNvSpPr/>
          <p:nvPr>
            <p:custDataLst>
              <p:tags r:id="rId1"/>
            </p:custDataLst>
          </p:nvPr>
        </p:nvSpPr>
        <p:spPr>
          <a:xfrm>
            <a:off x="914209" y="5805170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0" name="textbox 9610"/>
          <p:cNvSpPr/>
          <p:nvPr/>
        </p:nvSpPr>
        <p:spPr>
          <a:xfrm>
            <a:off x="988885" y="2614302"/>
            <a:ext cx="10384790" cy="21640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algn="r" rtl="0" eaLnBrk="0">
              <a:lnSpc>
                <a:spcPct val="95000"/>
              </a:lnSpc>
            </a:pPr>
            <a:r>
              <a:rPr sz="18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r>
              <a:rPr sz="1800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示以“读入”方式</a:t>
            </a:r>
            <a:r>
              <a:rPr sz="18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打开名字为a1的文</a:t>
            </a:r>
            <a:r>
              <a:rPr sz="1800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</a:t>
            </a:r>
            <a:endParaRPr lang="en-US" altLang="en-US" sz="1800" dirty="0"/>
          </a:p>
          <a:p>
            <a:pPr algn="l" rtl="0" eaLnBrk="0">
              <a:lnSpc>
                <a:spcPct val="106000"/>
              </a:lnSpc>
            </a:pPr>
            <a:endParaRPr lang="en-US" altLang="en-US" sz="1000" dirty="0"/>
          </a:p>
          <a:p>
            <a:pPr algn="l" rtl="0" eaLnBrk="0">
              <a:lnSpc>
                <a:spcPct val="107000"/>
              </a:lnSpc>
            </a:pPr>
            <a:endParaRPr lang="en-US" altLang="en-US" sz="1000" dirty="0"/>
          </a:p>
          <a:p>
            <a:pPr marL="19050" algn="l" rtl="0" eaLnBrk="0">
              <a:lnSpc>
                <a:spcPct val="95000"/>
              </a:lnSpc>
              <a:spcBef>
                <a:spcPts val="545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在打开一个文件时，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通知编译系统以下3个信息：</a:t>
            </a:r>
            <a:endParaRPr lang="en-US" altLang="en-US" sz="1800" dirty="0"/>
          </a:p>
          <a:p>
            <a:pPr marL="12700" algn="l" rtl="0" eaLnBrk="0">
              <a:lnSpc>
                <a:spcPct val="87000"/>
              </a:lnSpc>
              <a:spcBef>
                <a:spcPts val="118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需要打开文件的名字，</a:t>
            </a:r>
            <a:r>
              <a:rPr sz="18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也就是准备访问的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文件的名字</a:t>
            </a:r>
            <a:endParaRPr lang="en-US" altLang="en-US" sz="1800" dirty="0"/>
          </a:p>
          <a:p>
            <a:pPr marL="12700" algn="l" rtl="0" eaLnBrk="0">
              <a:lnSpc>
                <a:spcPts val="3240"/>
              </a:lnSpc>
            </a:pP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使用文件的方式（“读”还是“写”等）</a:t>
            </a:r>
            <a:endParaRPr lang="en-US" altLang="en-US" sz="1700" dirty="0"/>
          </a:p>
          <a:p>
            <a:pPr algn="l" rtl="0" eaLnBrk="0">
              <a:lnSpc>
                <a:spcPct val="103000"/>
              </a:lnSpc>
            </a:pPr>
            <a:endParaRPr lang="en-US" altLang="en-US" sz="1100" dirty="0"/>
          </a:p>
          <a:p>
            <a:pPr marL="12700" algn="l" rtl="0" eaLnBrk="0">
              <a:lnSpc>
                <a:spcPct val="91000"/>
              </a:lnSpc>
              <a:spcBef>
                <a:spcPts val="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让哪一个指针变量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指向被打开的文件</a:t>
            </a:r>
            <a:endParaRPr lang="en-US" altLang="en-US" sz="1800" dirty="0"/>
          </a:p>
        </p:txBody>
      </p:sp>
      <p:sp>
        <p:nvSpPr>
          <p:cNvPr id="9616" name="textbox 9616"/>
          <p:cNvSpPr/>
          <p:nvPr/>
        </p:nvSpPr>
        <p:spPr>
          <a:xfrm>
            <a:off x="926487" y="808246"/>
            <a:ext cx="4802504" cy="4546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fopen</a:t>
            </a: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函数打开数据文件</a:t>
            </a:r>
            <a:endParaRPr lang="en-US" altLang="en-US" sz="3100" dirty="0"/>
          </a:p>
        </p:txBody>
      </p:sp>
      <p:sp>
        <p:nvSpPr>
          <p:cNvPr id="9618" name="path"/>
          <p:cNvSpPr/>
          <p:nvPr/>
        </p:nvSpPr>
        <p:spPr>
          <a:xfrm>
            <a:off x="914209" y="2248916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20" name="path"/>
          <p:cNvSpPr/>
          <p:nvPr/>
        </p:nvSpPr>
        <p:spPr>
          <a:xfrm>
            <a:off x="914209" y="5065267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926465" y="1465580"/>
            <a:ext cx="4667250" cy="58039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0">
              <a:lnSpc>
                <a:spcPct val="104000"/>
              </a:lnSpc>
            </a:pPr>
            <a:endParaRPr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 rtl="0" eaLnBrk="0">
              <a:lnSpc>
                <a:spcPct val="104000"/>
              </a:lnSpc>
            </a:pPr>
            <a:r>
              <a:rPr sz="2400" b="1" kern="0" spc="-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fopen(文件名，使用文件方式)；</a:t>
            </a:r>
            <a:endParaRPr lang="en-US" altLang="en-US" sz="2400" dirty="0"/>
          </a:p>
          <a:p>
            <a:pPr algn="ctr" rtl="0" eaLnBrk="0">
              <a:lnSpc>
                <a:spcPct val="104000"/>
              </a:lnSpc>
            </a:pPr>
            <a:endParaRPr lang="zh-CN" altLang="en-US"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943610" y="2401570"/>
            <a:ext cx="6468110" cy="684530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0">
              <a:lnSpc>
                <a:spcPct val="107000"/>
              </a:lnSpc>
            </a:pPr>
            <a:endParaRPr lang="en-US" altLang="en-US" dirty="0"/>
          </a:p>
          <a:p>
            <a:pPr marL="135255" algn="l" rtl="0" eaLnBrk="0">
              <a:lnSpc>
                <a:spcPct val="91000"/>
              </a:lnSpc>
              <a:spcBef>
                <a:spcPts val="0"/>
              </a:spcBef>
            </a:pP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FILE*fp;</a:t>
            </a:r>
            <a:r>
              <a:rPr lang="en-US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</a:t>
            </a:r>
            <a:r>
              <a:rPr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//定义一个指向文件的指针变量fp</a:t>
            </a:r>
            <a:endParaRPr lang="en-US" altLang="en-US" dirty="0"/>
          </a:p>
          <a:p>
            <a:pPr marL="120015" algn="l" rtl="0" eaLnBrk="0">
              <a:lnSpc>
                <a:spcPct val="86000"/>
              </a:lnSpc>
              <a:spcBef>
                <a:spcPts val="305"/>
              </a:spcBef>
            </a:pPr>
            <a:r>
              <a:rPr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fp=fopen(″a1″,″r″);</a:t>
            </a:r>
            <a:r>
              <a:rPr lang="en-US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kern="0" spc="-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//将fopen函数的返回值赋给指针变量fp</a:t>
            </a:r>
            <a:endParaRPr lang="en-US" altLang="en-US" dirty="0"/>
          </a:p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" name="textbox 9626"/>
          <p:cNvSpPr/>
          <p:nvPr/>
        </p:nvSpPr>
        <p:spPr>
          <a:xfrm>
            <a:off x="926487" y="808246"/>
            <a:ext cx="4802504" cy="4546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fopen</a:t>
            </a: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函数打开数据文件</a:t>
            </a:r>
            <a:endParaRPr lang="en-US" altLang="en-US" sz="3100" dirty="0"/>
          </a:p>
        </p:txBody>
      </p:sp>
      <p:sp>
        <p:nvSpPr>
          <p:cNvPr id="9628" name="textbox 9628"/>
          <p:cNvSpPr/>
          <p:nvPr/>
        </p:nvSpPr>
        <p:spPr>
          <a:xfrm>
            <a:off x="992543" y="2445004"/>
            <a:ext cx="1391919" cy="2863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使用文件方式</a:t>
            </a:r>
            <a:endParaRPr lang="en-US" altLang="en-US" sz="1800" dirty="0"/>
          </a:p>
        </p:txBody>
      </p:sp>
      <p:sp>
        <p:nvSpPr>
          <p:cNvPr id="9630" name="path"/>
          <p:cNvSpPr/>
          <p:nvPr/>
        </p:nvSpPr>
        <p:spPr>
          <a:xfrm>
            <a:off x="914209" y="2248916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32" name="path"/>
          <p:cNvSpPr/>
          <p:nvPr/>
        </p:nvSpPr>
        <p:spPr>
          <a:xfrm>
            <a:off x="914209" y="6721855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926465" y="1393825"/>
            <a:ext cx="4667250" cy="58039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0">
              <a:lnSpc>
                <a:spcPct val="104000"/>
              </a:lnSpc>
            </a:pPr>
            <a:endParaRPr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 rtl="0" eaLnBrk="0">
              <a:lnSpc>
                <a:spcPct val="104000"/>
              </a:lnSpc>
            </a:pPr>
            <a:r>
              <a:rPr sz="2400" b="1" kern="0" spc="-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fopen(文件名，使用文件方式)；</a:t>
            </a:r>
            <a:endParaRPr lang="en-US" altLang="en-US" sz="2400" dirty="0"/>
          </a:p>
          <a:p>
            <a:pPr algn="ctr" rtl="0" eaLnBrk="0">
              <a:lnSpc>
                <a:spcPct val="104000"/>
              </a:lnSpc>
            </a:pPr>
            <a:endParaRPr lang="zh-CN" altLang="en-US"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929890" y="2444750"/>
          <a:ext cx="8534400" cy="4168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indent="0" algn="ctr" rtl="0" eaLnBrk="0" fontAlgn="auto">
                        <a:lnSpc>
                          <a:spcPts val="1580"/>
                        </a:lnSpc>
                        <a:spcBef>
                          <a:spcPts val="0"/>
                        </a:spcBef>
                      </a:pPr>
                      <a:r>
                        <a:rPr sz="1400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文件使用方式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含义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如果指定的文件不存在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8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ts val="1450"/>
                        </a:lnSpc>
                        <a:spcBef>
                          <a:spcPts val="0"/>
                        </a:spcBef>
                      </a:pPr>
                      <a:r>
                        <a:rPr sz="10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“r”（只读）</a:t>
                      </a:r>
                      <a:endParaRPr lang="en-US" altLang="en-US" sz="10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lang="en-US" altLang="en-US" sz="300" dirty="0"/>
                    </a:p>
                    <a:p>
                      <a:pPr marL="26670" algn="l" rtl="0" eaLnBrk="0">
                        <a:lnSpc>
                          <a:spcPts val="1575"/>
                        </a:lnSpc>
                        <a:spcBef>
                          <a:spcPts val="0"/>
                        </a:spcBef>
                      </a:pPr>
                      <a:r>
                        <a:rPr sz="13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为了输入数据，打开一个</a:t>
                      </a: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已存在的文本文件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lang="en-US" altLang="en-US" sz="300" dirty="0"/>
                    </a:p>
                    <a:p>
                      <a:pPr marL="33655" algn="l" rtl="0" eaLnBrk="0">
                        <a:lnSpc>
                          <a:spcPts val="1590"/>
                        </a:lnSpc>
                        <a:spcBef>
                          <a:spcPts val="0"/>
                        </a:spcBef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出错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8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ts val="1450"/>
                        </a:lnSpc>
                        <a:spcBef>
                          <a:spcPts val="0"/>
                        </a:spcBef>
                      </a:pPr>
                      <a:r>
                        <a:rPr sz="10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“w”（只写）</a:t>
                      </a:r>
                      <a:endParaRPr lang="en-US" altLang="en-US" sz="10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lang="en-US" altLang="en-US" sz="300" dirty="0"/>
                    </a:p>
                    <a:p>
                      <a:pPr marL="26670" algn="l" rtl="0" eaLnBrk="0">
                        <a:lnSpc>
                          <a:spcPts val="1575"/>
                        </a:lnSpc>
                        <a:spcBef>
                          <a:spcPts val="5"/>
                        </a:spcBef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为了输出数据，打开一个文本文件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lang="en-US" altLang="en-US" sz="300" dirty="0"/>
                    </a:p>
                    <a:p>
                      <a:pPr marL="20955" algn="l" rtl="0" eaLnBrk="0">
                        <a:lnSpc>
                          <a:spcPts val="1590"/>
                        </a:lnSpc>
                        <a:spcBef>
                          <a:spcPts val="5"/>
                        </a:spcBef>
                      </a:pP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建立新文件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ts val="1450"/>
                        </a:lnSpc>
                        <a:spcBef>
                          <a:spcPts val="0"/>
                        </a:spcBef>
                      </a:pPr>
                      <a:r>
                        <a:rPr sz="1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“a”（追加）</a:t>
                      </a:r>
                      <a:endParaRPr lang="en-US" altLang="en-US" sz="10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300" dirty="0"/>
                    </a:p>
                    <a:p>
                      <a:pPr marL="31750" algn="l" rtl="0" eaLnBrk="0">
                        <a:lnSpc>
                          <a:spcPts val="1575"/>
                        </a:lnSpc>
                        <a:spcBef>
                          <a:spcPts val="0"/>
                        </a:spcBef>
                      </a:pP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向文本文件尾添加数据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300" dirty="0"/>
                    </a:p>
                    <a:p>
                      <a:pPr marL="33655" algn="l" rtl="0" eaLnBrk="0">
                        <a:lnSpc>
                          <a:spcPts val="1590"/>
                        </a:lnSpc>
                        <a:spcBef>
                          <a:spcPts val="0"/>
                        </a:spcBef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出错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30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ts val="1450"/>
                        </a:lnSpc>
                        <a:spcBef>
                          <a:spcPts val="0"/>
                        </a:spcBef>
                      </a:pP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“rb”（只读）</a:t>
                      </a:r>
                      <a:endParaRPr lang="en-US" altLang="en-US" sz="10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300" dirty="0"/>
                    </a:p>
                    <a:p>
                      <a:pPr marL="26670" algn="l" rtl="0" eaLnBrk="0">
                        <a:lnSpc>
                          <a:spcPts val="1575"/>
                        </a:lnSpc>
                        <a:spcBef>
                          <a:spcPts val="0"/>
                        </a:spcBef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为了输入数据，打开一个二进制文件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300" dirty="0"/>
                    </a:p>
                    <a:p>
                      <a:pPr marL="33655" algn="l" rtl="0" eaLnBrk="0">
                        <a:lnSpc>
                          <a:spcPts val="1590"/>
                        </a:lnSpc>
                        <a:spcBef>
                          <a:spcPts val="0"/>
                        </a:spcBef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出错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30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ts val="1450"/>
                        </a:lnSpc>
                        <a:spcBef>
                          <a:spcPts val="0"/>
                        </a:spcBef>
                      </a:pP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“wb”（只写）</a:t>
                      </a:r>
                      <a:endParaRPr lang="en-US" altLang="en-US" sz="10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300" dirty="0"/>
                    </a:p>
                    <a:p>
                      <a:pPr marL="26670" algn="l" rtl="0" eaLnBrk="0">
                        <a:lnSpc>
                          <a:spcPts val="1575"/>
                        </a:lnSpc>
                        <a:spcBef>
                          <a:spcPts val="0"/>
                        </a:spcBef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为了输出数据，打开一个二进制文件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300" dirty="0"/>
                    </a:p>
                    <a:p>
                      <a:pPr marL="20955" algn="l" rtl="0" eaLnBrk="0">
                        <a:lnSpc>
                          <a:spcPts val="1590"/>
                        </a:lnSpc>
                        <a:spcBef>
                          <a:spcPts val="0"/>
                        </a:spcBef>
                      </a:pP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建立新文件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ts val="1450"/>
                        </a:lnSpc>
                        <a:spcBef>
                          <a:spcPts val="0"/>
                        </a:spcBef>
                      </a:pP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“ab”（追加）</a:t>
                      </a:r>
                      <a:endParaRPr lang="en-US" altLang="en-US" sz="10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marL="31750" algn="l" rtl="0" eaLnBrk="0">
                        <a:lnSpc>
                          <a:spcPts val="1575"/>
                        </a:lnSpc>
                        <a:spcBef>
                          <a:spcPts val="0"/>
                        </a:spcBef>
                      </a:pP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向二进制文件尾添加数据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marL="33655" algn="l" rtl="0" eaLnBrk="0">
                        <a:lnSpc>
                          <a:spcPts val="1590"/>
                        </a:lnSpc>
                        <a:spcBef>
                          <a:spcPts val="0"/>
                        </a:spcBef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出错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30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ts val="1450"/>
                        </a:lnSpc>
                        <a:spcBef>
                          <a:spcPts val="0"/>
                        </a:spcBef>
                      </a:pPr>
                      <a:r>
                        <a:rPr sz="10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“r+”（读写）</a:t>
                      </a:r>
                      <a:endParaRPr lang="en-US" altLang="en-US" sz="10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300" dirty="0"/>
                    </a:p>
                    <a:p>
                      <a:pPr marL="26670" algn="l" rtl="0" eaLnBrk="0">
                        <a:lnSpc>
                          <a:spcPts val="1580"/>
                        </a:lnSpc>
                        <a:spcBef>
                          <a:spcPts val="5"/>
                        </a:spcBef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为了读和写，打开一个文本文件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300" dirty="0"/>
                    </a:p>
                    <a:p>
                      <a:pPr marL="33655" algn="l" rtl="0" eaLnBrk="0">
                        <a:lnSpc>
                          <a:spcPts val="1590"/>
                        </a:lnSpc>
                        <a:spcBef>
                          <a:spcPts val="5"/>
                        </a:spcBef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出错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30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ts val="1450"/>
                        </a:lnSpc>
                        <a:spcBef>
                          <a:spcPts val="0"/>
                        </a:spcBef>
                      </a:pP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“w+”（读写）</a:t>
                      </a:r>
                      <a:endParaRPr lang="en-US" altLang="en-US" sz="10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300" dirty="0"/>
                    </a:p>
                    <a:p>
                      <a:pPr marL="26670" algn="l" rtl="0" eaLnBrk="0">
                        <a:lnSpc>
                          <a:spcPts val="1580"/>
                        </a:lnSpc>
                        <a:spcBef>
                          <a:spcPts val="5"/>
                        </a:spcBef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为了读和写，建立一个新的文本文件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300" dirty="0"/>
                    </a:p>
                    <a:p>
                      <a:pPr marL="20955" algn="l" rtl="0" eaLnBrk="0">
                        <a:lnSpc>
                          <a:spcPts val="1590"/>
                        </a:lnSpc>
                        <a:spcBef>
                          <a:spcPts val="5"/>
                        </a:spcBef>
                      </a:pP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建立新文件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ts val="1450"/>
                        </a:lnSpc>
                        <a:spcBef>
                          <a:spcPts val="0"/>
                        </a:spcBef>
                      </a:pP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“a+”(读写）</a:t>
                      </a:r>
                      <a:endParaRPr lang="en-US" altLang="en-US" sz="10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marL="26670" algn="l" rtl="0" eaLnBrk="0">
                        <a:lnSpc>
                          <a:spcPts val="1580"/>
                        </a:lnSpc>
                        <a:spcBef>
                          <a:spcPts val="5"/>
                        </a:spcBef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为了读和写，打开一个文本文件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marL="33655" algn="l" rtl="0" eaLnBrk="0">
                        <a:lnSpc>
                          <a:spcPts val="1590"/>
                        </a:lnSpc>
                        <a:spcBef>
                          <a:spcPts val="5"/>
                        </a:spcBef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出错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ts val="1450"/>
                        </a:lnSpc>
                        <a:spcBef>
                          <a:spcPts val="0"/>
                        </a:spcBef>
                      </a:pPr>
                      <a:r>
                        <a:rPr sz="11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“rb+”（读写）</a:t>
                      </a:r>
                      <a:endParaRPr lang="en-US" altLang="en-US" sz="1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marL="26670" algn="l" rtl="0" eaLnBrk="0">
                        <a:lnSpc>
                          <a:spcPts val="1580"/>
                        </a:lnSpc>
                        <a:spcBef>
                          <a:spcPts val="0"/>
                        </a:spcBef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为了读和写，打开一个二进制文件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marL="33655" algn="l" rtl="0" eaLnBrk="0">
                        <a:lnSpc>
                          <a:spcPts val="1590"/>
                        </a:lnSpc>
                        <a:spcBef>
                          <a:spcPts val="0"/>
                        </a:spcBef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出错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ts val="1450"/>
                        </a:lnSpc>
                        <a:spcBef>
                          <a:spcPts val="0"/>
                        </a:spcBef>
                      </a:pPr>
                      <a:r>
                        <a:rPr sz="11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“wb+”（读写）</a:t>
                      </a:r>
                      <a:endParaRPr lang="en-US" altLang="en-US" sz="1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marL="26670" algn="l" rtl="0" eaLnBrk="0">
                        <a:lnSpc>
                          <a:spcPts val="1580"/>
                        </a:lnSpc>
                        <a:spcBef>
                          <a:spcPts val="0"/>
                        </a:spcBef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为了读和写，建立一个新的二进制文件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lang="en-US" altLang="en-US" sz="300" dirty="0"/>
                    </a:p>
                    <a:p>
                      <a:pPr marL="20955" algn="l" rtl="0" eaLnBrk="0">
                        <a:lnSpc>
                          <a:spcPts val="1590"/>
                        </a:lnSpc>
                        <a:spcBef>
                          <a:spcPts val="0"/>
                        </a:spcBef>
                      </a:pP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建立新文件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32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ts val="1450"/>
                        </a:lnSpc>
                        <a:spcBef>
                          <a:spcPts val="0"/>
                        </a:spcBef>
                      </a:pP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“ab+”（读写）</a:t>
                      </a:r>
                      <a:endParaRPr lang="en-US" altLang="en-US" sz="10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lang="en-US" altLang="en-US" sz="300" dirty="0"/>
                    </a:p>
                    <a:p>
                      <a:pPr marL="26670" algn="l" rtl="0" eaLnBrk="0">
                        <a:lnSpc>
                          <a:spcPts val="1580"/>
                        </a:lnSpc>
                        <a:spcBef>
                          <a:spcPts val="0"/>
                        </a:spcBef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为读写打开一个二进制文件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lang="en-US" altLang="en-US" sz="300" dirty="0"/>
                    </a:p>
                    <a:p>
                      <a:pPr marL="33655" algn="l" rtl="0" eaLnBrk="0">
                        <a:lnSpc>
                          <a:spcPts val="1590"/>
                        </a:lnSpc>
                        <a:spcBef>
                          <a:spcPts val="0"/>
                        </a:spcBef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出错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4" name="textbox 9634"/>
          <p:cNvSpPr/>
          <p:nvPr/>
        </p:nvSpPr>
        <p:spPr>
          <a:xfrm>
            <a:off x="994204" y="2415732"/>
            <a:ext cx="10553065" cy="35445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5240" algn="l" rtl="0" eaLnBrk="0">
              <a:lnSpc>
                <a:spcPct val="87000"/>
              </a:lnSpc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  用“r”方式打开的文件只能用于向计算机输入而不能用作向该文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件输出数据，</a:t>
            </a:r>
            <a:r>
              <a:rPr sz="16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而且该文件应该已经存在，</a:t>
            </a:r>
            <a:r>
              <a:rPr sz="16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并存有数</a:t>
            </a:r>
            <a:endParaRPr lang="en-US" altLang="en-US" sz="1600" dirty="0"/>
          </a:p>
          <a:p>
            <a:pPr marL="13970" algn="l" rtl="0" eaLnBrk="0">
              <a:lnSpc>
                <a:spcPts val="2880"/>
              </a:lnSpc>
            </a:pP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据，</a:t>
            </a:r>
            <a:r>
              <a:rPr sz="16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这样程序才能从文件中读数据</a:t>
            </a:r>
            <a:r>
              <a:rPr sz="16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。不能用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“r”方式打开一个并不存在的文件，</a:t>
            </a:r>
            <a:r>
              <a:rPr sz="16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否则出错。</a:t>
            </a:r>
            <a:endParaRPr lang="en-US" altLang="en-US" sz="1600" dirty="0"/>
          </a:p>
          <a:p>
            <a:pPr marL="15240" algn="l" rtl="0" eaLnBrk="0">
              <a:lnSpc>
                <a:spcPct val="87000"/>
              </a:lnSpc>
              <a:spcBef>
                <a:spcPts val="1210"/>
              </a:spcBef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</a:t>
            </a:r>
            <a:r>
              <a:rPr sz="1600" kern="0" spc="4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用“w”方式打开的文件只能用于向该文件写数据（即输出文件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16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而不能用来向计算机输入</a:t>
            </a:r>
            <a:r>
              <a:rPr sz="16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。如果原来不存在该文</a:t>
            </a:r>
            <a:endParaRPr lang="en-US" altLang="en-US" sz="1600" dirty="0"/>
          </a:p>
          <a:p>
            <a:pPr marL="12700" algn="l" rtl="0" eaLnBrk="0">
              <a:lnSpc>
                <a:spcPct val="154000"/>
              </a:lnSpc>
              <a:spcBef>
                <a:spcPts val="1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件，</a:t>
            </a:r>
            <a:r>
              <a:rPr sz="16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则在打开文件前新建立一个以指定的名字命名的文件</a:t>
            </a:r>
            <a:r>
              <a:rPr sz="16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。如果原来已存在一个以该文件名命名的文件，</a:t>
            </a:r>
            <a:r>
              <a:rPr sz="16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则在打开文 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件前先将该文件删去，</a:t>
            </a:r>
            <a:r>
              <a:rPr sz="16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然后重新建立一个新文件。</a:t>
            </a:r>
            <a:endParaRPr lang="en-US" altLang="en-US" sz="1600" dirty="0"/>
          </a:p>
          <a:p>
            <a:pPr marL="15240" algn="l" rtl="0" eaLnBrk="0">
              <a:lnSpc>
                <a:spcPct val="87000"/>
              </a:lnSpc>
              <a:spcBef>
                <a:spcPts val="1050"/>
              </a:spcBef>
            </a:pP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</a:t>
            </a:r>
            <a:r>
              <a:rPr sz="1600" kern="0" spc="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如果希望向文件末尾添加新的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数据（不希望删除原有数据），</a:t>
            </a:r>
            <a:r>
              <a:rPr sz="16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则应该用“a”方式打开</a:t>
            </a:r>
            <a:r>
              <a:rPr sz="16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。但此时应保证该文件已存在；</a:t>
            </a:r>
            <a:endParaRPr lang="en-US" altLang="en-US" sz="1600" dirty="0"/>
          </a:p>
          <a:p>
            <a:pPr marL="15875" indent="-635" algn="l" rtl="0" eaLnBrk="0">
              <a:lnSpc>
                <a:spcPct val="152000"/>
              </a:lnSpc>
              <a:spcBef>
                <a:spcPts val="45"/>
              </a:spcBef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否则将得到出错信息</a:t>
            </a:r>
            <a:r>
              <a:rPr sz="16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在每个数据文件中自动设置了一个隐式的“</a:t>
            </a:r>
            <a:r>
              <a:rPr sz="1600" b="1" kern="0" spc="-4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文件读写位置标记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”，</a:t>
            </a:r>
            <a:r>
              <a:rPr sz="1600" kern="0" spc="-14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它指向的位置就是当前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进行读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写的位置</a:t>
            </a:r>
            <a:r>
              <a:rPr sz="1600" kern="0" spc="-27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。如果“文件读写位置标记”在文件开头，</a:t>
            </a:r>
            <a:r>
              <a:rPr sz="16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则下一次的读写就是文件开头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</a:t>
            </a:r>
            <a:r>
              <a:rPr sz="16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。然后“文件读写位置标记”自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动移到下一个读写位置，</a:t>
            </a:r>
            <a:r>
              <a:rPr sz="1600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以便读写下一个数据。</a:t>
            </a:r>
            <a:r>
              <a:rPr sz="1600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以添加方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式打开文件时，</a:t>
            </a:r>
            <a:r>
              <a:rPr sz="16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文件读写位置标记移到文件末尾。</a:t>
            </a:r>
            <a:endParaRPr lang="en-US" altLang="en-US" sz="1600" dirty="0"/>
          </a:p>
          <a:p>
            <a:pPr algn="l" rtl="0" eaLnBrk="0">
              <a:lnSpc>
                <a:spcPct val="109000"/>
              </a:lnSpc>
            </a:pPr>
            <a:endParaRPr lang="en-US" altLang="en-US" sz="800" dirty="0"/>
          </a:p>
          <a:p>
            <a:pPr marL="15240" algn="l" rtl="0" eaLnBrk="0">
              <a:lnSpc>
                <a:spcPct val="99000"/>
              </a:lnSpc>
              <a:spcBef>
                <a:spcPts val="0"/>
              </a:spcBef>
            </a:pP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(4) 用“r+”“w+”“a+”方式打开的文件既可用来输入数据，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也可用来输出数据。</a:t>
            </a:r>
            <a:endParaRPr lang="en-US" altLang="en-US" sz="1500" dirty="0"/>
          </a:p>
        </p:txBody>
      </p:sp>
      <p:sp>
        <p:nvSpPr>
          <p:cNvPr id="9638" name="textbox 9638"/>
          <p:cNvSpPr/>
          <p:nvPr/>
        </p:nvSpPr>
        <p:spPr>
          <a:xfrm>
            <a:off x="926487" y="808246"/>
            <a:ext cx="4802504" cy="4546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fopen</a:t>
            </a: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函数打开数据文件</a:t>
            </a:r>
            <a:endParaRPr lang="en-US" altLang="en-US" sz="3100" dirty="0"/>
          </a:p>
        </p:txBody>
      </p:sp>
      <p:sp>
        <p:nvSpPr>
          <p:cNvPr id="9640" name="path"/>
          <p:cNvSpPr/>
          <p:nvPr/>
        </p:nvSpPr>
        <p:spPr>
          <a:xfrm>
            <a:off x="914209" y="2233676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42" name="path"/>
          <p:cNvSpPr/>
          <p:nvPr/>
        </p:nvSpPr>
        <p:spPr>
          <a:xfrm>
            <a:off x="914209" y="6031483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926465" y="1393825"/>
            <a:ext cx="4667250" cy="58039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0">
              <a:lnSpc>
                <a:spcPct val="104000"/>
              </a:lnSpc>
            </a:pPr>
            <a:endParaRPr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 rtl="0" eaLnBrk="0">
              <a:lnSpc>
                <a:spcPct val="104000"/>
              </a:lnSpc>
            </a:pPr>
            <a:r>
              <a:rPr sz="2400" b="1" kern="0" spc="-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fopen(文件名，使用文件方式)；</a:t>
            </a:r>
            <a:endParaRPr lang="en-US" altLang="en-US" sz="2400" dirty="0"/>
          </a:p>
          <a:p>
            <a:pPr algn="ctr" rtl="0" eaLnBrk="0">
              <a:lnSpc>
                <a:spcPct val="104000"/>
              </a:lnSpc>
            </a:pPr>
            <a:endParaRPr lang="zh-CN" altLang="en-US"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4" name="textbox 9644"/>
          <p:cNvSpPr/>
          <p:nvPr/>
        </p:nvSpPr>
        <p:spPr>
          <a:xfrm>
            <a:off x="994204" y="4242628"/>
            <a:ext cx="10581005" cy="24549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(7) 有12种文件使用方式， 其中有6种是在第一个字母后面加了字母b的(如rb,wb,ab,rb+,wb+,ab+)， b表示二进制方式。</a:t>
            </a:r>
          </a:p>
          <a:p>
            <a:pPr marL="12700" indent="4445" algn="l" rtl="0" eaLnBrk="0">
              <a:lnSpc>
                <a:spcPct val="151000"/>
              </a:lnSpc>
              <a:spcBef>
                <a:spcPts val="70"/>
              </a:spcBef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其实， 带b和不带b只有一个区别， 即对换行的处理 。 由于在C语言用一个′\n ′即可实现换行， 而在Windows系统中为    实现换行必须要用“ 回车”和“换行”两个字符， 即′\r ′和′\n ′ 。 因此， 如果使用的是文本文件并且用“w”方式打开， 在向文    件输出时， 遇到换行符′\n ′时， 系统就把它转换为′\r ′和′\n ′两个字符， 否则在Windows系统中查看文件时， 各行连成    一片， 无法阅读 。同样， 如果有文本文件且用“r”方式打开， 从文件读入时， 遇到′\r ′和′\n ′两个连续的字符， 就把它们    转换为′\n ′ 一个字符 。如果使用的是二进制文件， 在向文件读写时， 不需要这种转换 。加b表示使用的是二进制文件，系统就不进行转换。</a:t>
            </a:r>
          </a:p>
        </p:txBody>
      </p:sp>
      <p:sp>
        <p:nvSpPr>
          <p:cNvPr id="9646" name="textbox 9646"/>
          <p:cNvSpPr/>
          <p:nvPr/>
        </p:nvSpPr>
        <p:spPr>
          <a:xfrm>
            <a:off x="993183" y="2259522"/>
            <a:ext cx="6487159" cy="13563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12700" indent="4445" algn="l" rtl="0" eaLnBrk="0">
              <a:lnSpc>
                <a:spcPct val="151000"/>
              </a:lnSpc>
              <a:spcBef>
                <a:spcPts val="70"/>
              </a:spcBef>
              <a:buClrTx/>
              <a:buSzTx/>
              <a:buFontTx/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(5) 如果不能实现“打开”的任务， fopen函数将会带回一个空指针值NULL。</a:t>
            </a:r>
          </a:p>
          <a:p>
            <a:pPr marL="12700" indent="4445" algn="l" rtl="0" eaLnBrk="0">
              <a:lnSpc>
                <a:spcPct val="151000"/>
              </a:lnSpc>
              <a:spcBef>
                <a:spcPts val="70"/>
              </a:spcBef>
              <a:buClrTx/>
              <a:buSzTx/>
              <a:buFontTx/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(6) C标准建议用表10.1列出的文件使用方式打开文本文件或二进制文件， 但目前使用的有些C编译系统可能不完全提供所有这些功能， 需要注意     所用系统的规定。</a:t>
            </a:r>
          </a:p>
        </p:txBody>
      </p:sp>
      <p:sp>
        <p:nvSpPr>
          <p:cNvPr id="9652" name="textbox 9652"/>
          <p:cNvSpPr/>
          <p:nvPr/>
        </p:nvSpPr>
        <p:spPr>
          <a:xfrm>
            <a:off x="926487" y="808246"/>
            <a:ext cx="4802504" cy="4546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fopen</a:t>
            </a: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函数打开数据文件</a:t>
            </a:r>
            <a:endParaRPr lang="en-US" altLang="en-US" sz="3100" dirty="0"/>
          </a:p>
        </p:txBody>
      </p:sp>
      <p:sp>
        <p:nvSpPr>
          <p:cNvPr id="9654" name="path"/>
          <p:cNvSpPr/>
          <p:nvPr/>
        </p:nvSpPr>
        <p:spPr>
          <a:xfrm>
            <a:off x="914209" y="2233676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56" name="path"/>
          <p:cNvSpPr/>
          <p:nvPr/>
        </p:nvSpPr>
        <p:spPr>
          <a:xfrm>
            <a:off x="914209" y="6378955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926465" y="1393825"/>
            <a:ext cx="4667250" cy="58039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0">
              <a:lnSpc>
                <a:spcPct val="104000"/>
              </a:lnSpc>
            </a:pPr>
            <a:endParaRPr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 rtl="0" eaLnBrk="0">
              <a:lnSpc>
                <a:spcPct val="104000"/>
              </a:lnSpc>
            </a:pPr>
            <a:r>
              <a:rPr sz="2400" b="1" kern="0" spc="-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fopen(文件名，使用文件方式)；</a:t>
            </a:r>
            <a:endParaRPr lang="en-US" altLang="en-US" sz="2400" dirty="0"/>
          </a:p>
          <a:p>
            <a:pPr algn="ctr" rtl="0" eaLnBrk="0">
              <a:lnSpc>
                <a:spcPct val="104000"/>
              </a:lnSpc>
            </a:pPr>
            <a:endParaRPr lang="zh-CN" altLang="en-US"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7647305" y="2354580"/>
            <a:ext cx="3712210" cy="1144905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((fp=fopen(″file1″,″r″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))==NULL)</a:t>
            </a: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{</a:t>
            </a: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    </a:t>
            </a:r>
            <a:r>
              <a:rPr sz="1400" kern="0" spc="-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printf(″ca</a:t>
            </a:r>
            <a:r>
              <a:rPr sz="1400" kern="0" spc="-4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nnot open this file\n″);</a:t>
            </a:r>
            <a:r>
              <a:rPr sz="1400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</a:p>
          <a:p>
            <a:pPr algn="l"/>
            <a:r>
              <a:rPr sz="1400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sz="1400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exit(0);</a:t>
            </a:r>
            <a:endParaRPr lang="en-US" altLang="en-US" sz="1400" dirty="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}                          </a:t>
            </a:r>
            <a:r>
              <a:rPr sz="1400" b="1" kern="0" spc="9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打开一个文件的常用方法</a:t>
            </a:r>
            <a:endParaRPr lang="en-US" altLang="zh-CN" sz="1400" b="1" kern="0" spc="9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8" name="textbox 9658"/>
          <p:cNvSpPr/>
          <p:nvPr/>
        </p:nvSpPr>
        <p:spPr>
          <a:xfrm>
            <a:off x="991141" y="2415732"/>
            <a:ext cx="10549890" cy="2089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8415" algn="l" rtl="0" eaLnBrk="0">
              <a:lnSpc>
                <a:spcPct val="87000"/>
              </a:lnSpc>
            </a:pPr>
            <a:r>
              <a:rPr sz="16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(8)</a:t>
            </a:r>
            <a:r>
              <a:rPr sz="1600" b="1" kern="0" spc="4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如果用“wb”的文件使用方式，</a:t>
            </a:r>
            <a:r>
              <a:rPr sz="1600" b="1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并不意味着在文件输出时把内存中</a:t>
            </a:r>
            <a:r>
              <a:rPr sz="16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按ASCII形式保存的数据自动转换成二进制形式存</a:t>
            </a:r>
            <a:endParaRPr lang="en-US" altLang="en-US" sz="1600" b="1" dirty="0"/>
          </a:p>
          <a:p>
            <a:pPr marL="20320" indent="-5080" algn="l" rtl="0" eaLnBrk="0">
              <a:lnSpc>
                <a:spcPct val="154000"/>
              </a:lnSpc>
              <a:spcBef>
                <a:spcPts val="0"/>
              </a:spcBef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储</a:t>
            </a:r>
            <a:r>
              <a:rPr sz="1600" b="1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。输出的数据形式是由程序中采用什么读写语句决定的</a:t>
            </a:r>
            <a:r>
              <a:rPr sz="1600" b="1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。例如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 b="1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用fscanf和fprintf函数是按ASCII方式进行输入输出，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而fread和fw</a:t>
            </a:r>
            <a:r>
              <a:rPr sz="16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rite函数是按二进制进行输入输出。</a:t>
            </a:r>
            <a:endParaRPr lang="en-US" altLang="en-US" sz="1600" b="1" dirty="0"/>
          </a:p>
          <a:p>
            <a:pPr marL="18415" algn="l" rtl="0" eaLnBrk="0">
              <a:lnSpc>
                <a:spcPct val="87000"/>
              </a:lnSpc>
              <a:spcBef>
                <a:spcPts val="106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(9)</a:t>
            </a:r>
            <a:r>
              <a:rPr sz="1600" kern="0" spc="4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程序中可以使用3个标准的流文件——标准输入流</a:t>
            </a:r>
            <a:r>
              <a:rPr sz="16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、标准输出流和标准出错输出流</a:t>
            </a:r>
            <a:r>
              <a:rPr sz="16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。系统已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对这3个文件指定了与</a:t>
            </a:r>
            <a:endParaRPr lang="en-US" altLang="en-US" sz="1600" dirty="0"/>
          </a:p>
          <a:p>
            <a:pPr marL="12700" indent="5080" algn="l" rtl="0" eaLnBrk="0">
              <a:lnSpc>
                <a:spcPct val="154000"/>
              </a:lnSpc>
              <a:spcBef>
                <a:spcPts val="15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终端的对应关系</a:t>
            </a:r>
            <a:r>
              <a:rPr sz="16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。标准输入流是从终端的输入，</a:t>
            </a:r>
            <a:r>
              <a:rPr sz="16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标准输出流是向终端的输出，</a:t>
            </a:r>
            <a:r>
              <a:rPr sz="16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标准出错输出流是当程序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出错时将出错 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信息发送到终端</a:t>
            </a:r>
            <a:r>
              <a:rPr sz="16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。程序开始运行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时系统自动打开这3个标准流文件。</a:t>
            </a:r>
            <a:endParaRPr lang="en-US" altLang="en-US" sz="1600" dirty="0"/>
          </a:p>
        </p:txBody>
      </p:sp>
      <p:sp>
        <p:nvSpPr>
          <p:cNvPr id="9662" name="textbox 9662"/>
          <p:cNvSpPr/>
          <p:nvPr/>
        </p:nvSpPr>
        <p:spPr>
          <a:xfrm>
            <a:off x="926487" y="808246"/>
            <a:ext cx="4802504" cy="4546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fopen</a:t>
            </a: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函数打开数据文件</a:t>
            </a:r>
            <a:endParaRPr lang="en-US" altLang="en-US" sz="3100" dirty="0"/>
          </a:p>
        </p:txBody>
      </p:sp>
      <p:sp>
        <p:nvSpPr>
          <p:cNvPr id="9664" name="path"/>
          <p:cNvSpPr/>
          <p:nvPr/>
        </p:nvSpPr>
        <p:spPr>
          <a:xfrm>
            <a:off x="914209" y="2233676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66" name="path"/>
          <p:cNvSpPr/>
          <p:nvPr/>
        </p:nvSpPr>
        <p:spPr>
          <a:xfrm>
            <a:off x="914209" y="6031483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926465" y="1393825"/>
            <a:ext cx="4667250" cy="58039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0">
              <a:lnSpc>
                <a:spcPct val="104000"/>
              </a:lnSpc>
            </a:pPr>
            <a:endParaRPr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 rtl="0" eaLnBrk="0">
              <a:lnSpc>
                <a:spcPct val="104000"/>
              </a:lnSpc>
            </a:pPr>
            <a:r>
              <a:rPr sz="2400" b="1" kern="0" spc="-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fopen(文件名，使用文件方式)；</a:t>
            </a:r>
            <a:endParaRPr lang="en-US" altLang="en-US" sz="2400" dirty="0"/>
          </a:p>
          <a:p>
            <a:pPr algn="ctr" rtl="0" eaLnBrk="0">
              <a:lnSpc>
                <a:spcPct val="104000"/>
              </a:lnSpc>
            </a:pPr>
            <a:endParaRPr lang="zh-CN" altLang="en-US"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8" name="textbox 9668"/>
          <p:cNvSpPr/>
          <p:nvPr/>
        </p:nvSpPr>
        <p:spPr>
          <a:xfrm>
            <a:off x="991754" y="2415732"/>
            <a:ext cx="10408284" cy="35452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5240" algn="l" rtl="0" eaLnBrk="0">
              <a:lnSpc>
                <a:spcPct val="87000"/>
              </a:lnSpc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在使用完一个文件后应该关闭它， 以防止它再被误用</a:t>
            </a:r>
            <a:r>
              <a:rPr sz="16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“关闭”就是撤销文件信息区和文件缓冲区，</a:t>
            </a:r>
            <a:r>
              <a:rPr sz="16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使文件指针变量不</a:t>
            </a:r>
            <a:endParaRPr lang="en-US" altLang="en-US" sz="1600" dirty="0"/>
          </a:p>
          <a:p>
            <a:pPr marL="25400" indent="-6985" algn="l" rtl="0" eaLnBrk="0">
              <a:lnSpc>
                <a:spcPct val="154000"/>
              </a:lnSpc>
              <a:spcBef>
                <a:spcPts val="10"/>
              </a:spcBef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再指向该文件，</a:t>
            </a:r>
            <a:r>
              <a:rPr sz="16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也就是文件指针变量与文件“脱钩”，</a:t>
            </a:r>
            <a:r>
              <a:rPr sz="16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此后不能再通过该指针对原来与其相联系的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文件进行读写操作，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除非再次打开，</a:t>
            </a:r>
            <a:r>
              <a:rPr sz="16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使该指针变量重新指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向该文件。</a:t>
            </a:r>
            <a:endParaRPr lang="en-US" altLang="en-US" sz="1600" dirty="0"/>
          </a:p>
          <a:p>
            <a:pPr algn="l" rtl="0" eaLnBrk="0">
              <a:lnSpc>
                <a:spcPct val="143000"/>
              </a:lnSpc>
            </a:pPr>
            <a:endParaRPr lang="en-US" altLang="en-US" sz="1000" dirty="0"/>
          </a:p>
          <a:p>
            <a:pPr algn="l" rtl="0" eaLnBrk="0">
              <a:lnSpc>
                <a:spcPct val="144000"/>
              </a:lnSpc>
            </a:pPr>
            <a:endParaRPr lang="en-US" altLang="en-US" sz="1000" dirty="0"/>
          </a:p>
          <a:p>
            <a:pPr marL="17145" algn="l" rtl="0" eaLnBrk="0">
              <a:lnSpc>
                <a:spcPct val="87000"/>
              </a:lnSpc>
              <a:spcBef>
                <a:spcPts val="49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如果不关闭文件就结束程序运行将会丢失数据</a:t>
            </a:r>
            <a:r>
              <a:rPr sz="16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。因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为，</a:t>
            </a:r>
            <a:r>
              <a:rPr sz="16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在向文件写数据时，</a:t>
            </a:r>
            <a:r>
              <a:rPr sz="16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是先将数据输出到缓冲区，</a:t>
            </a:r>
            <a:r>
              <a:rPr sz="16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待缓冲区充满</a:t>
            </a:r>
            <a:endParaRPr lang="en-US" altLang="en-US" sz="1600" dirty="0"/>
          </a:p>
          <a:p>
            <a:pPr marL="17780" indent="-2540" algn="l" rtl="0" eaLnBrk="0">
              <a:lnSpc>
                <a:spcPct val="152000"/>
              </a:lnSpc>
              <a:spcBef>
                <a:spcPts val="40"/>
              </a:spcBef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后才正式输出给文件</a:t>
            </a:r>
            <a:r>
              <a:rPr sz="16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。如果当数据未充满缓冲区时程序结束运行，</a:t>
            </a:r>
            <a:r>
              <a:rPr sz="16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就有可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能使缓冲区中的数据丢失</a:t>
            </a:r>
            <a:r>
              <a:rPr sz="16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。用fclose函数关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闭文件时，</a:t>
            </a:r>
            <a:r>
              <a:rPr sz="16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先把缓冲区中的数据输出到磁盘文件，</a:t>
            </a:r>
            <a:r>
              <a:rPr sz="16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然后才撤销文件信息区</a:t>
            </a:r>
            <a:r>
              <a:rPr sz="16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。有的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编译系统在程序结朿前会自动先将缓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冲区中的数据写到文件，</a:t>
            </a:r>
            <a:r>
              <a:rPr sz="16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从而避免了这个问题，</a:t>
            </a:r>
            <a:r>
              <a:rPr sz="16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但还是应当养成在程序终止之前关闭所有文件的习惯。</a:t>
            </a:r>
            <a:endParaRPr lang="en-US" altLang="en-US" sz="1600" dirty="0"/>
          </a:p>
          <a:p>
            <a:pPr algn="l" rtl="0" eaLnBrk="0">
              <a:lnSpc>
                <a:spcPct val="143000"/>
              </a:lnSpc>
            </a:pPr>
            <a:endParaRPr lang="en-US" altLang="en-US" sz="1000" dirty="0"/>
          </a:p>
          <a:p>
            <a:pPr algn="l" rtl="0" eaLnBrk="0">
              <a:lnSpc>
                <a:spcPct val="144000"/>
              </a:lnSpc>
            </a:pPr>
            <a:endParaRPr lang="en-US" altLang="en-US" sz="1000" dirty="0"/>
          </a:p>
          <a:p>
            <a:pPr algn="l" rtl="0" eaLnBrk="0">
              <a:lnSpc>
                <a:spcPct val="102000"/>
              </a:lnSpc>
            </a:pPr>
            <a:endParaRPr lang="en-US" altLang="en-US" sz="400" dirty="0"/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fclose函数也带回一个值，</a:t>
            </a:r>
            <a:r>
              <a:rPr sz="16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当成功地执行了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关闭操作，</a:t>
            </a:r>
            <a:r>
              <a:rPr sz="16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则返回值为0；</a:t>
            </a:r>
            <a:r>
              <a:rPr sz="1600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否则返回EOF(-1)。</a:t>
            </a:r>
            <a:endParaRPr lang="en-US" altLang="en-US" sz="1600" dirty="0"/>
          </a:p>
        </p:txBody>
      </p:sp>
      <p:sp>
        <p:nvSpPr>
          <p:cNvPr id="9674" name="textbox 9674"/>
          <p:cNvSpPr/>
          <p:nvPr/>
        </p:nvSpPr>
        <p:spPr>
          <a:xfrm>
            <a:off x="926487" y="808246"/>
            <a:ext cx="4793615" cy="4953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fclose</a:t>
            </a: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函数关闭数据文件</a:t>
            </a:r>
            <a:endParaRPr lang="en-US" altLang="en-US" sz="3100" dirty="0"/>
          </a:p>
        </p:txBody>
      </p:sp>
      <p:sp>
        <p:nvSpPr>
          <p:cNvPr id="9676" name="path"/>
          <p:cNvSpPr/>
          <p:nvPr/>
        </p:nvSpPr>
        <p:spPr>
          <a:xfrm>
            <a:off x="914209" y="2233676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78" name="path"/>
          <p:cNvSpPr/>
          <p:nvPr/>
        </p:nvSpPr>
        <p:spPr>
          <a:xfrm>
            <a:off x="914209" y="6031483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991870" y="1404620"/>
            <a:ext cx="4667250" cy="58039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0">
              <a:lnSpc>
                <a:spcPct val="104000"/>
              </a:lnSpc>
            </a:pPr>
            <a:endParaRPr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 rtl="0" eaLnBrk="0">
              <a:lnSpc>
                <a:spcPct val="104000"/>
              </a:lnSpc>
            </a:pPr>
            <a:r>
              <a:rPr sz="2400" b="1" kern="0" spc="-8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fclose(文件指</a:t>
            </a:r>
            <a:r>
              <a:rPr sz="2400" b="1" kern="0" spc="-9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针)</a:t>
            </a:r>
            <a:r>
              <a:rPr lang="en-US" sz="2400" b="1" kern="0" spc="-9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endParaRPr lang="en-US" altLang="en-US" sz="2400" dirty="0"/>
          </a:p>
          <a:p>
            <a:pPr algn="ctr" rtl="0" eaLnBrk="0">
              <a:lnSpc>
                <a:spcPct val="104000"/>
              </a:lnSpc>
            </a:pPr>
            <a:endParaRPr lang="zh-CN" altLang="en-US"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6066155" y="1410335"/>
            <a:ext cx="3646805" cy="566420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fclose(fp);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2185000" y="446405"/>
            <a:ext cx="7823200" cy="2432051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顺序读写数据文件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32400" y="3136069"/>
            <a:ext cx="113284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31" y="246671"/>
            <a:ext cx="573807" cy="57380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4" name="textbox 9684"/>
          <p:cNvSpPr/>
          <p:nvPr/>
        </p:nvSpPr>
        <p:spPr>
          <a:xfrm>
            <a:off x="1099965" y="4712789"/>
            <a:ext cx="10165080" cy="6045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fgetc的第1个字母f代表文件(file)，中间的</a:t>
            </a: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get表示“获取”，最后一个字母c表示字符(character)，</a:t>
            </a:r>
            <a:r>
              <a:rPr sz="16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fgetc的含义很清楚：</a:t>
            </a:r>
            <a:endParaRPr lang="en-US" altLang="en-US" sz="1600" dirty="0"/>
          </a:p>
          <a:p>
            <a:pPr marL="13335" algn="l" rtl="0" eaLnBrk="0">
              <a:lnSpc>
                <a:spcPts val="2880"/>
              </a:lnSpc>
              <a:spcBef>
                <a:spcPts val="25"/>
              </a:spcBef>
            </a:pPr>
            <a:r>
              <a:rPr sz="16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从文件读取一个字符。</a:t>
            </a:r>
            <a:r>
              <a:rPr sz="1600" kern="0" spc="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fputc也类似。</a:t>
            </a:r>
            <a:endParaRPr lang="en-US" altLang="en-US" sz="1600" dirty="0"/>
          </a:p>
        </p:txBody>
      </p:sp>
      <p:sp>
        <p:nvSpPr>
          <p:cNvPr id="9686" name="textbox 9686"/>
          <p:cNvSpPr/>
          <p:nvPr/>
        </p:nvSpPr>
        <p:spPr>
          <a:xfrm>
            <a:off x="925270" y="808246"/>
            <a:ext cx="3666490" cy="4978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怎样向文件读写字符</a:t>
            </a:r>
            <a:endParaRPr lang="en-US" altLang="en-US" sz="3100" dirty="0"/>
          </a:p>
        </p:txBody>
      </p:sp>
      <p:sp>
        <p:nvSpPr>
          <p:cNvPr id="9688" name="textbox 9688"/>
          <p:cNvSpPr/>
          <p:nvPr/>
        </p:nvSpPr>
        <p:spPr>
          <a:xfrm>
            <a:off x="997572" y="1564132"/>
            <a:ext cx="2244725" cy="285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读写一个字符的函数：</a:t>
            </a:r>
            <a:endParaRPr lang="en-US" altLang="en-US" sz="1800" dirty="0"/>
          </a:p>
        </p:txBody>
      </p:sp>
      <p:sp>
        <p:nvSpPr>
          <p:cNvPr id="9690" name="path"/>
          <p:cNvSpPr/>
          <p:nvPr/>
        </p:nvSpPr>
        <p:spPr>
          <a:xfrm>
            <a:off x="914209" y="1368044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92" name="rect"/>
          <p:cNvSpPr/>
          <p:nvPr/>
        </p:nvSpPr>
        <p:spPr>
          <a:xfrm>
            <a:off x="914209" y="6010147"/>
            <a:ext cx="10550143" cy="25400"/>
          </a:xfrm>
          <a:prstGeom prst="rect">
            <a:avLst/>
          </a:prstGeom>
          <a:solidFill>
            <a:srgbClr val="782367">
              <a:alpha val="96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95680" y="2195830"/>
          <a:ext cx="10269220" cy="207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6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30000"/>
                        </a:lnSpc>
                      </a:pPr>
                      <a:r>
                        <a:rPr sz="13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函数名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30000"/>
                        </a:lnSpc>
                      </a:pPr>
                      <a:r>
                        <a:rPr sz="13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调用形式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30000"/>
                        </a:lnSpc>
                      </a:pPr>
                      <a:r>
                        <a:rPr sz="13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30000"/>
                        </a:lnSpc>
                      </a:pPr>
                      <a:r>
                        <a:rPr sz="13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返回值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6000"/>
                        </a:lnSpc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fgetc</a:t>
                      </a:r>
                      <a:endParaRPr lang="en-US" altLang="en-US" sz="1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6000"/>
                        </a:lnSpc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fgetc(fp)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fp</a:t>
                      </a: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指向的文件读入一个字符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19685" algn="l" rtl="0" eaLnBrk="0">
                        <a:lnSpc>
                          <a:spcPct val="93000"/>
                        </a:lnSpc>
                      </a:pPr>
                      <a:r>
                        <a:rPr sz="13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读成功，带回所读的字符，失败则返回文件结束标</a:t>
                      </a:r>
                      <a:r>
                        <a:rPr sz="13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志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EOF</a:t>
                      </a:r>
                      <a:r>
                        <a:rPr sz="13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(即-1)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fputc</a:t>
                      </a:r>
                      <a:endParaRPr lang="en-US" altLang="en-US" sz="1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30000"/>
                        </a:lnSpc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fputc(ch,fp)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把字符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</a:t>
                      </a: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写到文件指针变量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fp</a:t>
                      </a: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所指向的文件中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</a:pPr>
                      <a:endParaRPr lang="en-US" altLang="en-US" sz="1000" dirty="0"/>
                    </a:p>
                    <a:p>
                      <a:pPr marL="1778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输出成功，返回值就是输出的字符</a:t>
                      </a:r>
                      <a:r>
                        <a:rPr lang="zh-CN" sz="1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r>
                        <a:rPr sz="1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输出失败，则</a:t>
                      </a: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返回EOF</a:t>
                      </a:r>
                      <a:r>
                        <a:rPr sz="13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（即 -1）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772025" y="424180"/>
            <a:ext cx="6706870" cy="6020435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23190" algn="l" rtl="0" eaLnBrk="0">
              <a:lnSpc>
                <a:spcPct val="93000"/>
              </a:lnSpc>
              <a:spcBef>
                <a:spcPts val="5"/>
              </a:spcBef>
            </a:pPr>
            <a:endParaRPr sz="13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3190" algn="l" rtl="0" eaLnBrk="0">
              <a:lnSpc>
                <a:spcPct val="93000"/>
              </a:lnSpc>
              <a:spcBef>
                <a:spcPts val="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&lt;stdio.h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</a:t>
            </a:r>
            <a:endParaRPr lang="en-US" altLang="en-US" sz="1300" dirty="0"/>
          </a:p>
          <a:p>
            <a:pPr marL="123190" algn="l" rtl="0" eaLnBrk="0">
              <a:lnSpc>
                <a:spcPts val="2015"/>
              </a:lnSpc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&lt;stdlib.h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</a:t>
            </a:r>
            <a:endParaRPr lang="en-US" altLang="en-US" sz="1300" dirty="0"/>
          </a:p>
          <a:p>
            <a:pPr marL="133350" algn="l" rtl="0" eaLnBrk="0">
              <a:lnSpc>
                <a:spcPts val="2015"/>
              </a:lnSpc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main()</a:t>
            </a:r>
            <a:endParaRPr lang="en-US" altLang="en-US" sz="1300" dirty="0"/>
          </a:p>
          <a:p>
            <a:pPr marL="120015" algn="l" rtl="0" eaLnBrk="0">
              <a:lnSpc>
                <a:spcPct val="92000"/>
              </a:lnSpc>
              <a:spcBef>
                <a:spcPts val="570"/>
              </a:spcBef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</a:t>
            </a:r>
            <a:r>
              <a:rPr sz="1300" kern="0" spc="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                                 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//定义文件指针fp</a:t>
            </a:r>
            <a:endParaRPr lang="en-US" altLang="en-US" sz="1300" dirty="0"/>
          </a:p>
          <a:p>
            <a:pPr marL="490220" algn="l" rtl="0" eaLnBrk="0">
              <a:lnSpc>
                <a:spcPct val="99000"/>
              </a:lnSpc>
              <a:spcBef>
                <a:spcPts val="57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ch,filen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ame[10];</a:t>
            </a:r>
            <a:endParaRPr lang="en-US" altLang="en-US" sz="1300" dirty="0"/>
          </a:p>
          <a:p>
            <a:pPr marL="495300" algn="l" rtl="0" eaLnBrk="0">
              <a:lnSpc>
                <a:spcPct val="92000"/>
              </a:lnSpc>
              <a:spcBef>
                <a:spcPts val="480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("请输入所用的文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件名:</a:t>
            </a:r>
            <a:r>
              <a:rPr sz="1300" kern="0" spc="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");</a:t>
            </a:r>
            <a:endParaRPr lang="en-US" altLang="en-US" sz="1300" dirty="0"/>
          </a:p>
          <a:p>
            <a:pPr marL="485140" algn="l" rtl="0" eaLnBrk="0">
              <a:lnSpc>
                <a:spcPct val="99000"/>
              </a:lnSpc>
              <a:spcBef>
                <a:spcPts val="575"/>
              </a:spcBef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scanf("%s",filename);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sz="1300"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//输入文件名</a:t>
            </a:r>
            <a:endParaRPr lang="en-US" altLang="en-US" sz="1300" dirty="0"/>
          </a:p>
          <a:p>
            <a:pPr marL="490220" algn="l" rtl="0" eaLnBrk="0">
              <a:lnSpc>
                <a:spcPct val="92000"/>
              </a:lnSpc>
              <a:spcBef>
                <a:spcPts val="475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getchar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();       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//用来消化最后输入的回车符</a:t>
            </a:r>
            <a:endParaRPr lang="en-US" altLang="en-US" sz="1300" dirty="0"/>
          </a:p>
          <a:p>
            <a:pPr marL="495935" algn="l" rtl="0" eaLnBrk="0">
              <a:lnSpc>
                <a:spcPct val="92000"/>
              </a:lnSpc>
              <a:spcBef>
                <a:spcPts val="590"/>
              </a:spcBef>
            </a:pP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if((fp=fopen(filename,"w"))==NULL)    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//打</a:t>
            </a:r>
            <a:r>
              <a:rPr sz="1300" kern="0" spc="-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开输出文件并使fp指向此文件</a:t>
            </a:r>
            <a:endParaRPr lang="en-US" altLang="en-US" sz="1300" dirty="0"/>
          </a:p>
          <a:p>
            <a:pPr marL="482600" algn="l" rtl="0" eaLnBrk="0">
              <a:lnSpc>
                <a:spcPct val="92000"/>
              </a:lnSpc>
              <a:spcBef>
                <a:spcPts val="585"/>
              </a:spcBef>
            </a:pPr>
            <a:r>
              <a:rPr sz="1300" kern="0" spc="-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spc="-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printf("cann</a:t>
            </a:r>
            <a:r>
              <a:rPr sz="1300" kern="0" spc="-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ot</a:t>
            </a:r>
            <a:r>
              <a:rPr sz="1300" kern="0" spc="1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</a:t>
            </a:r>
            <a:r>
              <a:rPr sz="1300" kern="0" spc="8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file\n");         </a:t>
            </a:r>
            <a:r>
              <a:rPr sz="1300" kern="0" spc="-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//如果打开出错就输出“打不开”</a:t>
            </a:r>
            <a:endParaRPr lang="en-US" altLang="en-US" sz="1300" dirty="0"/>
          </a:p>
          <a:p>
            <a:pPr marL="855980" algn="l" rtl="0" eaLnBrk="0">
              <a:lnSpc>
                <a:spcPct val="99000"/>
              </a:lnSpc>
              <a:spcBef>
                <a:spcPts val="570"/>
              </a:spcBef>
            </a:pP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exit</a:t>
            </a:r>
            <a:r>
              <a:rPr sz="1300" kern="0" spc="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(0);                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//终止程序</a:t>
            </a:r>
            <a:endParaRPr lang="en-US" altLang="en-US" sz="1300" dirty="0"/>
          </a:p>
          <a:p>
            <a:pPr marL="483235" algn="l" rtl="0" eaLnBrk="0">
              <a:lnSpc>
                <a:spcPct val="99000"/>
              </a:lnSpc>
              <a:spcBef>
                <a:spcPts val="475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marL="495300" algn="l" rtl="0" eaLnBrk="0">
              <a:lnSpc>
                <a:spcPct val="92000"/>
              </a:lnSpc>
              <a:spcBef>
                <a:spcPts val="480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</a:t>
            </a: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("请输入一个准备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存储到磁盘的字符串(以#结束):</a:t>
            </a:r>
            <a:r>
              <a:rPr sz="1300" kern="0" spc="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");</a:t>
            </a:r>
            <a:endParaRPr lang="en-US" altLang="en-US" sz="1300" dirty="0"/>
          </a:p>
          <a:p>
            <a:pPr marL="490220" algn="l" rtl="0" eaLnBrk="0">
              <a:lnSpc>
                <a:spcPct val="92000"/>
              </a:lnSpc>
              <a:spcBef>
                <a:spcPts val="575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getchar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();              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//接收从键盘输入的第一个字符</a:t>
            </a:r>
            <a:endParaRPr lang="en-US" altLang="en-US" sz="1300" dirty="0"/>
          </a:p>
          <a:p>
            <a:pPr marL="483870" algn="l" rtl="0" eaLnBrk="0">
              <a:lnSpc>
                <a:spcPct val="99000"/>
              </a:lnSpc>
              <a:spcBef>
                <a:spcPts val="580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while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!='#')                 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</a:t>
            </a:r>
            <a:r>
              <a:rPr sz="1300" kern="0" spc="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//当输入′#′时结束循环</a:t>
            </a:r>
            <a:endParaRPr lang="en-US" altLang="en-US" sz="1300" dirty="0"/>
          </a:p>
          <a:p>
            <a:pPr marL="482600" algn="l" rtl="0" eaLnBrk="0">
              <a:lnSpc>
                <a:spcPct val="92000"/>
              </a:lnSpc>
              <a:spcBef>
                <a:spcPts val="480"/>
              </a:spcBef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fputc</a:t>
            </a:r>
            <a:r>
              <a:rPr sz="1300" kern="0" spc="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sz="1300" kern="0" spc="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</a:t>
            </a:r>
            <a:r>
              <a:rPr sz="1300" kern="0" spc="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                </a:t>
            </a:r>
            <a:r>
              <a:rPr sz="1300" kern="0" spc="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</a:t>
            </a:r>
            <a:r>
              <a:rPr sz="1300" kern="0" spc="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//向磁盘文件输出一个字符</a:t>
            </a:r>
            <a:endParaRPr lang="en-US" altLang="en-US" sz="1300" dirty="0"/>
          </a:p>
          <a:p>
            <a:pPr marL="861060" algn="l" rtl="0" eaLnBrk="0">
              <a:lnSpc>
                <a:spcPct val="92000"/>
              </a:lnSpc>
              <a:spcBef>
                <a:spcPts val="580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putchar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           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//将输出的字符显示在屏幕上</a:t>
            </a:r>
            <a:endParaRPr lang="en-US" altLang="en-US" sz="1300" dirty="0"/>
          </a:p>
          <a:p>
            <a:pPr marL="855980" algn="l" rtl="0" eaLnBrk="0">
              <a:lnSpc>
                <a:spcPct val="92000"/>
              </a:lnSpc>
              <a:spcBef>
                <a:spcPts val="575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getchar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();           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//再接收从键盘输入的一个字符</a:t>
            </a:r>
            <a:endParaRPr lang="en-US" altLang="en-US" sz="1300" dirty="0"/>
          </a:p>
          <a:p>
            <a:pPr marL="483235" algn="l" rtl="0" eaLnBrk="0">
              <a:lnSpc>
                <a:spcPct val="99000"/>
              </a:lnSpc>
              <a:spcBef>
                <a:spcPts val="580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marL="485775" algn="l" rtl="0" eaLnBrk="0">
              <a:lnSpc>
                <a:spcPct val="92000"/>
              </a:lnSpc>
              <a:spcBef>
                <a:spcPts val="485"/>
              </a:spcBef>
            </a:pP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fclose(fp);                                            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//关闭文件</a:t>
            </a:r>
            <a:endParaRPr lang="en-US" altLang="en-US" sz="1300" dirty="0"/>
          </a:p>
          <a:p>
            <a:pPr marL="495300" algn="l" rtl="0" eaLnBrk="0">
              <a:lnSpc>
                <a:spcPct val="92000"/>
              </a:lnSpc>
              <a:spcBef>
                <a:spcPts val="580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putchar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(10);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//向屏幕输出一个换行符</a:t>
            </a:r>
            <a:endParaRPr lang="en-US" altLang="en-US" sz="1300" dirty="0"/>
          </a:p>
          <a:p>
            <a:pPr marL="495300" algn="l" rtl="0" eaLnBrk="0">
              <a:lnSpc>
                <a:spcPct val="93000"/>
              </a:lnSpc>
              <a:spcBef>
                <a:spcPts val="575"/>
              </a:spcBef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</a:t>
            </a:r>
            <a:r>
              <a:rPr sz="13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0;</a:t>
            </a:r>
            <a:endParaRPr lang="en-US" altLang="en-US" sz="1300" dirty="0"/>
          </a:p>
          <a:p>
            <a:pPr marL="120015" algn="l" rtl="0" eaLnBrk="0">
              <a:lnSpc>
                <a:spcPts val="202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algn="ctr"/>
            <a:endParaRPr lang="zh-CN" altLang="en-US" sz="1300" dirty="0"/>
          </a:p>
        </p:txBody>
      </p:sp>
      <p:sp>
        <p:nvSpPr>
          <p:cNvPr id="9700" name="textbox 9700"/>
          <p:cNvSpPr/>
          <p:nvPr/>
        </p:nvSpPr>
        <p:spPr>
          <a:xfrm>
            <a:off x="588644" y="460393"/>
            <a:ext cx="3763645" cy="16294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78105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怎样向文件读写字符</a:t>
            </a:r>
            <a:endParaRPr lang="en-US" altLang="en-US" sz="3100" dirty="0"/>
          </a:p>
          <a:p>
            <a:pPr marL="86995" indent="48895" algn="l" rtl="0" eaLnBrk="0">
              <a:lnSpc>
                <a:spcPct val="114000"/>
              </a:lnSpc>
              <a:spcBef>
                <a:spcPts val="835"/>
              </a:spcBef>
            </a:pPr>
            <a:r>
              <a:rPr sz="1900" kern="0" spc="-4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sz="1900" kern="0" spc="-4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900" kern="0" spc="-4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.1】从键盘输入一些字符，</a:t>
            </a:r>
            <a:r>
              <a:rPr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900" kern="0" spc="5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并逐个把它们送到磁盘上去，</a:t>
            </a:r>
            <a:endParaRPr lang="en-US" altLang="en-US" sz="1900" dirty="0">
              <a:solidFill>
                <a:srgbClr val="782367"/>
              </a:solidFill>
            </a:endParaRPr>
          </a:p>
          <a:p>
            <a:pPr marL="86995" algn="l" rtl="0" eaLnBrk="0">
              <a:lnSpc>
                <a:spcPts val="2310"/>
              </a:lnSpc>
              <a:spcBef>
                <a:spcPts val="570"/>
              </a:spcBef>
            </a:pPr>
            <a:r>
              <a:rPr sz="1900" kern="0" spc="4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直到用户输入一个“＃”</a:t>
            </a:r>
            <a:r>
              <a:rPr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为止。</a:t>
            </a:r>
            <a:endParaRPr lang="en-US" altLang="en-US" sz="1900" kern="0" spc="30" dirty="0">
              <a:solidFill>
                <a:srgbClr val="78236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78926" y="2405561"/>
            <a:ext cx="3856355" cy="3945890"/>
          </a:xfrm>
          <a:prstGeom prst="rect">
            <a:avLst/>
          </a:prstGeom>
          <a:solidFill>
            <a:srgbClr val="CCECFF"/>
          </a:solidFill>
          <a:ln>
            <a:solidFill>
              <a:srgbClr val="CCEC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443230" indent="-382270" algn="just" rtl="0" eaLnBrk="0">
              <a:lnSpc>
                <a:spcPct val="101000"/>
              </a:lnSpc>
              <a:spcBef>
                <a:spcPts val="5"/>
              </a:spcBef>
            </a:pPr>
            <a:r>
              <a:rPr sz="3200" kern="0" spc="100" dirty="0">
                <a:solidFill>
                  <a:srgbClr val="4A4C37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P </a:t>
            </a:r>
            <a:r>
              <a:rPr sz="1400" kern="0" spc="10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用来存储数据的文件名可以在</a:t>
            </a:r>
            <a:r>
              <a:rPr sz="14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fopen</a:t>
            </a:r>
            <a:r>
              <a:rPr sz="1400" kern="0" spc="10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</a:t>
            </a:r>
            <a:r>
              <a:rPr sz="14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</a:t>
            </a:r>
            <a:r>
              <a:rPr sz="1400" kern="0" spc="7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数中直接写成字符串常量形式 ，</a:t>
            </a:r>
            <a:r>
              <a:rPr sz="1400" kern="0" spc="-10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7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也可</a:t>
            </a:r>
            <a:r>
              <a:rPr sz="14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</a:t>
            </a:r>
            <a:r>
              <a:rPr sz="1400" kern="0" spc="8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以在程序运行时由用户临时指定。</a:t>
            </a:r>
          </a:p>
          <a:p>
            <a:pPr marL="443230" indent="-382270" algn="just" rtl="0" eaLnBrk="0">
              <a:lnSpc>
                <a:spcPct val="101000"/>
              </a:lnSpc>
              <a:spcBef>
                <a:spcPts val="5"/>
              </a:spcBef>
            </a:pPr>
            <a:endParaRPr lang="en-US" altLang="en-US" sz="1400" dirty="0">
              <a:solidFill>
                <a:schemeClr val="tx1"/>
              </a:solidFill>
            </a:endParaRPr>
          </a:p>
          <a:p>
            <a:pPr marL="441325" indent="3175" algn="just" rtl="0" eaLnBrk="0">
              <a:lnSpc>
                <a:spcPct val="120000"/>
              </a:lnSpc>
              <a:spcBef>
                <a:spcPts val="395"/>
              </a:spcBef>
            </a:pPr>
            <a:r>
              <a:rPr sz="1400" kern="0" spc="-7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用fopen函数打开一个“只写”的文件(“</a:t>
            </a:r>
            <a:r>
              <a:rPr sz="1400" kern="0" spc="-7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w”</a:t>
            </a:r>
            <a:r>
              <a:rPr sz="1400" kern="0" spc="8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表示只能写入不能从中读数据</a:t>
            </a:r>
            <a:r>
              <a:rPr sz="1400" kern="0" spc="8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1400" kern="0" spc="8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sz="1400" kern="0" spc="8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若成</a:t>
            </a:r>
            <a:r>
              <a:rPr sz="1400" kern="0" spc="6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</a:t>
            </a:r>
            <a:r>
              <a:rPr lang="zh-CN" altLang="en-US" sz="1400" kern="0" spc="6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sz="1400" kern="0" spc="6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函数返回该文件所建立的信息</a:t>
            </a:r>
            <a:r>
              <a:rPr sz="1400" kern="0" spc="5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区的起始地址给文件指针变量</a:t>
            </a:r>
            <a:r>
              <a:rPr sz="14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</a:t>
            </a:r>
            <a:r>
              <a:rPr sz="1400" kern="0" spc="5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。若失</a:t>
            </a:r>
            <a:r>
              <a:rPr sz="1400" kern="0" spc="-2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败，则显示“无法打</a:t>
            </a:r>
            <a:r>
              <a:rPr sz="1400" kern="0" spc="-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开此文件”，用exit</a:t>
            </a:r>
            <a:r>
              <a:rPr sz="1400" kern="0" spc="6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函数终止程序运行，此函数在</a:t>
            </a:r>
            <a:r>
              <a:rPr sz="14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stdlib</a:t>
            </a:r>
            <a:r>
              <a:rPr sz="1400" kern="0" spc="5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.h</a:t>
            </a:r>
            <a:r>
              <a:rPr sz="14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头文件中。</a:t>
            </a:r>
            <a:endParaRPr lang="en-US" sz="1400" kern="0" spc="3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41325" indent="3175" algn="just" rtl="0" eaLnBrk="0">
              <a:lnSpc>
                <a:spcPct val="120000"/>
              </a:lnSpc>
              <a:spcBef>
                <a:spcPts val="395"/>
              </a:spcBef>
            </a:pPr>
            <a:r>
              <a:rPr sz="1400" kern="0" spc="4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</a:t>
            </a:r>
            <a:r>
              <a:rPr sz="1400" kern="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getchar</a:t>
            </a:r>
            <a:r>
              <a:rPr sz="1400" kern="0" spc="4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函数接收用户从键盘输入的</a:t>
            </a:r>
            <a:r>
              <a:rPr sz="1400" kern="0" spc="7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字符。注意每次只能接收一个字符</a:t>
            </a:r>
            <a:r>
              <a:rPr sz="1400" kern="0" spc="7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en-US" sz="1400" dirty="0">
              <a:solidFill>
                <a:schemeClr val="tx1"/>
              </a:solidFill>
            </a:endParaRPr>
          </a:p>
          <a:p>
            <a:pPr algn="ctr"/>
            <a:endParaRPr lang="en-US" altLang="en-US" sz="1400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44995" y="0"/>
            <a:ext cx="45339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745990" y="208280"/>
            <a:ext cx="7204075" cy="6529070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23825" algn="l" rtl="0" eaLnBrk="0">
              <a:lnSpc>
                <a:spcPct val="93000"/>
              </a:lnSpc>
            </a:pPr>
            <a:endParaRPr sz="13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3825" algn="l" rtl="0" eaLnBrk="0">
              <a:lnSpc>
                <a:spcPct val="93000"/>
              </a:lnSpc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&lt;stdio.h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</a:t>
            </a:r>
            <a:endParaRPr lang="en-US" altLang="en-US" sz="1300" dirty="0"/>
          </a:p>
          <a:p>
            <a:pPr marL="123825" algn="l" rtl="0" eaLnBrk="0">
              <a:lnSpc>
                <a:spcPts val="2020"/>
              </a:lnSpc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&lt;stdlib.h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</a:t>
            </a:r>
            <a:endParaRPr lang="en-US" altLang="en-US" sz="1300" dirty="0"/>
          </a:p>
          <a:p>
            <a:pPr marL="133985" algn="l" rtl="0" eaLnBrk="0">
              <a:lnSpc>
                <a:spcPts val="2015"/>
              </a:lnSpc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main()</a:t>
            </a:r>
            <a:endParaRPr lang="en-US" altLang="en-US" sz="1300" dirty="0"/>
          </a:p>
          <a:p>
            <a:pPr marL="120650" algn="l" rtl="0" eaLnBrk="0">
              <a:lnSpc>
                <a:spcPct val="99000"/>
              </a:lnSpc>
              <a:spcBef>
                <a:spcPts val="56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 </a:t>
            </a:r>
            <a:r>
              <a:rPr sz="1300" kern="0" spc="-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*in,*</a:t>
            </a:r>
            <a:r>
              <a:rPr sz="13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out;</a:t>
            </a:r>
            <a:r>
              <a:rPr lang="en-US" sz="13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</a:t>
            </a:r>
            <a:r>
              <a:rPr sz="1300" kern="0" spc="7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//定义指向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7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类型文件的指</a:t>
            </a:r>
            <a:r>
              <a:rPr sz="13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针变量</a:t>
            </a:r>
            <a:endParaRPr lang="en-US" altLang="en-US" sz="1300" dirty="0"/>
          </a:p>
          <a:p>
            <a:pPr marL="491490" algn="l" rtl="0" eaLnBrk="0">
              <a:lnSpc>
                <a:spcPct val="99000"/>
              </a:lnSpc>
              <a:spcBef>
                <a:spcPts val="475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ch,infile[10],out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file[10];</a:t>
            </a: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</a:t>
            </a:r>
            <a:r>
              <a:rPr sz="1300" kern="0" spc="8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//定义两个字符数组，分别存放两个数据文件名</a:t>
            </a:r>
            <a:endParaRPr lang="en-US" altLang="en-US" sz="1300" dirty="0"/>
          </a:p>
          <a:p>
            <a:pPr marL="485775" indent="10160" algn="l" rtl="0" eaLnBrk="0">
              <a:lnSpc>
                <a:spcPct val="118000"/>
              </a:lnSpc>
              <a:spcBef>
                <a:spcPts val="485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("输入读入文件的名字:");       </a:t>
            </a:r>
          </a:p>
          <a:p>
            <a:pPr marL="485775" indent="10160" algn="l" rtl="0" eaLnBrk="0">
              <a:lnSpc>
                <a:spcPct val="118000"/>
              </a:lnSpc>
              <a:spcBef>
                <a:spcPts val="485"/>
              </a:spcBef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scanf("%s",in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file);</a:t>
            </a:r>
            <a:r>
              <a:rPr lang="en-US"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</a:t>
            </a:r>
            <a:r>
              <a:rPr sz="1300" kern="0" spc="7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//输入一个输入文件的名字</a:t>
            </a:r>
            <a:endParaRPr lang="en-US" altLang="en-US" sz="1300" dirty="0"/>
          </a:p>
          <a:p>
            <a:pPr marL="485775" indent="10160" algn="l" rtl="0" eaLnBrk="0">
              <a:lnSpc>
                <a:spcPct val="118000"/>
              </a:lnSpc>
              <a:spcBef>
                <a:spcPts val="495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("输入输出文件的名字:");       </a:t>
            </a:r>
          </a:p>
          <a:p>
            <a:pPr marL="485775" indent="10160" algn="l" rtl="0" eaLnBrk="0">
              <a:lnSpc>
                <a:spcPct val="118000"/>
              </a:lnSpc>
              <a:spcBef>
                <a:spcPts val="495"/>
              </a:spcBef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scanf("%s",outfi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le);</a:t>
            </a:r>
            <a:r>
              <a:rPr lang="en-US"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</a:t>
            </a:r>
            <a:r>
              <a:rPr sz="1300" kern="0" spc="7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//输入一个输出文件的名字</a:t>
            </a:r>
            <a:endParaRPr lang="en-US" altLang="en-US" sz="1300" dirty="0"/>
          </a:p>
          <a:p>
            <a:pPr algn="l" rtl="0" eaLnBrk="0">
              <a:lnSpc>
                <a:spcPct val="101000"/>
              </a:lnSpc>
            </a:pPr>
            <a:endParaRPr lang="en-US" altLang="en-US" sz="1300" dirty="0"/>
          </a:p>
          <a:p>
            <a:pPr marL="497205" algn="l" rtl="0" eaLnBrk="0">
              <a:lnSpc>
                <a:spcPct val="92000"/>
              </a:lnSpc>
              <a:spcBef>
                <a:spcPts val="5"/>
              </a:spcBef>
            </a:pPr>
            <a:r>
              <a:rPr sz="1300" kern="0" spc="-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if((in=fope</a:t>
            </a:r>
            <a:r>
              <a:rPr sz="13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n(infile,"r"))==NULL)</a:t>
            </a:r>
            <a:r>
              <a:rPr lang="en-US" sz="13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</a:t>
            </a:r>
            <a:r>
              <a:rPr sz="13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//打开输入文件</a:t>
            </a:r>
          </a:p>
          <a:p>
            <a:pPr marL="483870" algn="l" rtl="0" eaLnBrk="0">
              <a:lnSpc>
                <a:spcPct val="92000"/>
              </a:lnSpc>
              <a:spcBef>
                <a:spcPts val="0"/>
              </a:spcBef>
            </a:pP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printf("无法打开此文件\n");  exit(0);     }</a:t>
            </a:r>
            <a:endParaRPr lang="en-US" altLang="en-US" sz="1300" dirty="0"/>
          </a:p>
          <a:p>
            <a:pPr marL="497205" algn="l" rtl="0" eaLnBrk="0">
              <a:lnSpc>
                <a:spcPct val="92000"/>
              </a:lnSpc>
              <a:spcBef>
                <a:spcPts val="580"/>
              </a:spcBef>
            </a:pP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if((out=fopen(outfile,"w"))==NULL)    </a:t>
            </a:r>
            <a:r>
              <a:rPr sz="1300" kern="0" spc="-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//打开输出文件</a:t>
            </a:r>
            <a:endParaRPr lang="en-US" altLang="en-US" sz="1300" dirty="0"/>
          </a:p>
          <a:p>
            <a:pPr marL="483870" algn="l" rtl="0" eaLnBrk="0">
              <a:lnSpc>
                <a:spcPts val="2020"/>
              </a:lnSpc>
              <a:spcBef>
                <a:spcPts val="10"/>
              </a:spcBef>
            </a:pP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printf("无法打开此文件\n");  exit(0);     }</a:t>
            </a:r>
            <a:endParaRPr lang="en-US" altLang="en-US" sz="1300" dirty="0"/>
          </a:p>
          <a:p>
            <a:pPr marL="491490" algn="l" rtl="0" eaLnBrk="0">
              <a:lnSpc>
                <a:spcPct val="92000"/>
              </a:lnSpc>
              <a:spcBef>
                <a:spcPts val="560"/>
              </a:spcBef>
            </a:pP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sz="1300" kern="0" spc="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fgetc</a:t>
            </a:r>
            <a:r>
              <a:rPr sz="1300" kern="0" spc="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</a:t>
            </a:r>
            <a:r>
              <a:rPr sz="1300" kern="0" spc="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                                  </a:t>
            </a:r>
            <a:r>
              <a:rPr sz="1300" kern="0" spc="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//从输入文件读入一个字符，赋给变量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endParaRPr lang="en-US" altLang="en-US" sz="1300" dirty="0"/>
          </a:p>
          <a:p>
            <a:pPr marL="485140" algn="l" rtl="0" eaLnBrk="0">
              <a:lnSpc>
                <a:spcPct val="99000"/>
              </a:lnSpc>
              <a:spcBef>
                <a:spcPts val="580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while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sz="1300" kern="0" spc="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!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feof</a:t>
            </a:r>
            <a:r>
              <a:rPr sz="1300" kern="0" spc="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</a:t>
            </a:r>
            <a:r>
              <a:rPr sz="1300" kern="0" spc="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                                    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//如果未遇到输入文件的结束标</a:t>
            </a:r>
            <a:r>
              <a:rPr sz="1300" kern="0" spc="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志</a:t>
            </a:r>
            <a:endParaRPr lang="en-US" altLang="en-US" sz="1300" dirty="0"/>
          </a:p>
          <a:p>
            <a:pPr marL="483870" algn="l" rtl="0" eaLnBrk="0">
              <a:lnSpc>
                <a:spcPct val="92000"/>
              </a:lnSpc>
              <a:spcBef>
                <a:spcPts val="485"/>
              </a:spcBef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fputc</a:t>
            </a:r>
            <a:r>
              <a:rPr sz="1300" kern="0" spc="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sz="1300" kern="0" spc="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out</a:t>
            </a:r>
            <a:r>
              <a:rPr sz="1300" kern="0" spc="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                 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</a:t>
            </a:r>
            <a:r>
              <a:rPr sz="1300" kern="0" spc="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//将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sz="1300" kern="0" spc="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写到输出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</a:t>
            </a:r>
            <a:endParaRPr lang="en-US" altLang="en-US" sz="1300" dirty="0"/>
          </a:p>
          <a:p>
            <a:pPr marL="862330" algn="l" rtl="0" eaLnBrk="0">
              <a:lnSpc>
                <a:spcPct val="92000"/>
              </a:lnSpc>
              <a:spcBef>
                <a:spcPts val="580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putchar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                   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//将ch显示到屏幕上</a:t>
            </a:r>
            <a:endParaRPr lang="en-US" altLang="en-US" sz="1300" dirty="0"/>
          </a:p>
          <a:p>
            <a:pPr marL="857250" algn="l" rtl="0" eaLnBrk="0">
              <a:lnSpc>
                <a:spcPct val="92000"/>
              </a:lnSpc>
              <a:spcBef>
                <a:spcPts val="575"/>
              </a:spcBef>
            </a:pP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sz="1300" kern="0" spc="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fgetc</a:t>
            </a:r>
            <a:r>
              <a:rPr sz="1300" kern="0" spc="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</a:t>
            </a:r>
            <a:r>
              <a:rPr sz="1300" kern="0" spc="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                             </a:t>
            </a:r>
            <a:r>
              <a:rPr sz="1300" kern="0" spc="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//再从输入文件读入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一个字符，赋给变量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endParaRPr lang="en-US" altLang="en-US" sz="1300" dirty="0"/>
          </a:p>
          <a:p>
            <a:pPr marL="483870" algn="l" rtl="0" eaLnBrk="0">
              <a:lnSpc>
                <a:spcPct val="99000"/>
              </a:lnSpc>
              <a:spcBef>
                <a:spcPts val="580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marL="496570" algn="l" rtl="0" eaLnBrk="0">
              <a:lnSpc>
                <a:spcPct val="92000"/>
              </a:lnSpc>
              <a:spcBef>
                <a:spcPts val="480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putchar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(10);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//显示完全部字符后换行</a:t>
            </a:r>
            <a:endParaRPr lang="en-US" altLang="en-US" sz="1300" dirty="0"/>
          </a:p>
          <a:p>
            <a:pPr marL="487045" algn="l" rtl="0" eaLnBrk="0">
              <a:lnSpc>
                <a:spcPct val="99000"/>
              </a:lnSpc>
              <a:spcBef>
                <a:spcPts val="570"/>
              </a:spcBef>
            </a:pP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</a:t>
            </a:r>
            <a:r>
              <a:rPr sz="1300" kern="0" spc="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</a:t>
            </a:r>
            <a:r>
              <a:rPr sz="1300" kern="0" spc="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                                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//关闭输入文件</a:t>
            </a:r>
            <a:endParaRPr lang="en-US" altLang="en-US" sz="1300" dirty="0"/>
          </a:p>
          <a:p>
            <a:pPr marL="487045" algn="l" rtl="0" eaLnBrk="0">
              <a:lnSpc>
                <a:spcPct val="99000"/>
              </a:lnSpc>
              <a:spcBef>
                <a:spcPts val="475"/>
              </a:spcBef>
            </a:pP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</a:t>
            </a:r>
            <a:r>
              <a:rPr sz="1300" kern="0" spc="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out</a:t>
            </a:r>
            <a:r>
              <a:rPr sz="1300" kern="0" spc="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             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//关闭输出文件</a:t>
            </a:r>
            <a:endParaRPr lang="en-US" altLang="en-US" sz="1300" dirty="0"/>
          </a:p>
          <a:p>
            <a:pPr marL="496570" algn="l" rtl="0" eaLnBrk="0">
              <a:lnSpc>
                <a:spcPct val="93000"/>
              </a:lnSpc>
              <a:spcBef>
                <a:spcPts val="475"/>
              </a:spcBef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</a:t>
            </a:r>
            <a:r>
              <a:rPr sz="13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0;</a:t>
            </a:r>
            <a:endParaRPr lang="en-US" altLang="en-US" sz="1300" dirty="0"/>
          </a:p>
          <a:p>
            <a:pPr marL="120650" algn="l" rtl="0" eaLnBrk="0">
              <a:lnSpc>
                <a:spcPts val="202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algn="ctr"/>
            <a:endParaRPr lang="zh-CN" altLang="en-US" sz="1300" dirty="0"/>
          </a:p>
        </p:txBody>
      </p:sp>
      <p:sp>
        <p:nvSpPr>
          <p:cNvPr id="9712" name="textbox 9712"/>
          <p:cNvSpPr/>
          <p:nvPr/>
        </p:nvSpPr>
        <p:spPr>
          <a:xfrm>
            <a:off x="588644" y="460393"/>
            <a:ext cx="3732529" cy="23622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algn="r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怎样向文件读写字符</a:t>
            </a:r>
            <a:endParaRPr lang="en-US" altLang="en-US" sz="3100" dirty="0"/>
          </a:p>
          <a:p>
            <a:pPr algn="l" rtl="0" eaLnBrk="0">
              <a:lnSpc>
                <a:spcPct val="105000"/>
              </a:lnSpc>
            </a:pPr>
            <a:endParaRPr lang="en-US" altLang="en-US" sz="7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83185" indent="52705" algn="l" rtl="0" eaLnBrk="0">
              <a:lnSpc>
                <a:spcPct val="121000"/>
              </a:lnSpc>
            </a:pPr>
            <a:r>
              <a:rPr sz="1900" kern="0" spc="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sz="1900" kern="0" spc="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900" kern="0" spc="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.2】将一个磁盘</a:t>
            </a:r>
            <a:r>
              <a:rPr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文件中的   </a:t>
            </a:r>
            <a:r>
              <a:rPr sz="1900" kern="0" spc="7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信息复制到另一个磁</a:t>
            </a:r>
            <a:r>
              <a:rPr sz="1900" kern="0" spc="6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盘文件中。</a:t>
            </a:r>
            <a:r>
              <a:rPr sz="1900" kern="0" spc="-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900" kern="0" spc="10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今要求将上例建立的</a:t>
            </a:r>
            <a:r>
              <a:rPr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file</a:t>
            </a:r>
            <a:r>
              <a:rPr sz="1900" kern="0" spc="10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</a:t>
            </a:r>
            <a:r>
              <a:rPr sz="1900" kern="0" spc="10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</a:t>
            </a:r>
            <a:r>
              <a:rPr sz="1900" kern="0" spc="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900" kern="0" spc="9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件中的内容复制到另一个磁盘</a:t>
            </a:r>
            <a:r>
              <a:rPr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1900" kern="0" spc="6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file</a:t>
            </a:r>
            <a:r>
              <a:rPr sz="1900" kern="0" spc="6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</a:t>
            </a:r>
            <a:r>
              <a:rPr sz="1900" kern="0" spc="6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中。</a:t>
            </a:r>
            <a:endParaRPr lang="en-US" altLang="en-US" sz="1900" kern="0" spc="60" dirty="0">
              <a:solidFill>
                <a:srgbClr val="78236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84200" y="2981960"/>
            <a:ext cx="3856355" cy="3755390"/>
          </a:xfrm>
          <a:prstGeom prst="rect">
            <a:avLst/>
          </a:prstGeom>
          <a:solidFill>
            <a:srgbClr val="CCECFF"/>
          </a:solidFill>
          <a:ln>
            <a:solidFill>
              <a:srgbClr val="CCEC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441960" indent="-377825" algn="l" rtl="0" eaLnBrk="0">
              <a:lnSpc>
                <a:spcPct val="117000"/>
              </a:lnSpc>
              <a:spcBef>
                <a:spcPts val="5"/>
              </a:spcBef>
            </a:pPr>
            <a:r>
              <a:rPr sz="3200" kern="0" spc="100" dirty="0">
                <a:solidFill>
                  <a:srgbClr val="4A4C37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P </a:t>
            </a:r>
            <a:r>
              <a:rPr sz="1400" kern="0" spc="10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在访问磁盘文件</a:t>
            </a:r>
            <a:r>
              <a:rPr sz="1400" kern="0" spc="9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时，是逐个字符(字节)</a:t>
            </a:r>
            <a:r>
              <a:rPr sz="1400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</a:t>
            </a:r>
            <a:r>
              <a:rPr sz="1400" kern="0" spc="9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进行的，为了知道当前访问</a:t>
            </a:r>
            <a:r>
              <a:rPr sz="1400" kern="0" spc="8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到第几个</a:t>
            </a:r>
            <a:r>
              <a:rPr sz="14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r>
              <a:rPr sz="1400" kern="0" spc="-2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字节，系统用“文件读写位置标记”来</a:t>
            </a:r>
            <a:r>
              <a:rPr sz="14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</a:t>
            </a:r>
            <a:r>
              <a:rPr sz="1400" kern="0" spc="4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表示当前所访问的位置</a:t>
            </a:r>
            <a:r>
              <a:rPr sz="14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。开始时“文件</a:t>
            </a:r>
            <a:r>
              <a:rPr sz="1400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</a:t>
            </a:r>
            <a:r>
              <a:rPr sz="14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读写位置标记”指向第1个字节，每</a:t>
            </a:r>
            <a:r>
              <a:rPr sz="1400" kern="0" spc="2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访</a:t>
            </a:r>
            <a:r>
              <a:rPr sz="14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</a:t>
            </a:r>
            <a:r>
              <a:rPr sz="1400" kern="0" spc="9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问完一个字节后，当前读写</a:t>
            </a:r>
            <a:r>
              <a:rPr sz="1400" kern="0" spc="8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位置就指</a:t>
            </a:r>
            <a:r>
              <a:rPr sz="14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r>
              <a:rPr sz="1400" kern="0" spc="9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向下一个字节，即当前读写位</a:t>
            </a:r>
            <a:r>
              <a:rPr sz="1400" kern="0" spc="8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置自动</a:t>
            </a:r>
            <a:r>
              <a:rPr sz="14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</a:t>
            </a:r>
            <a:r>
              <a:rPr sz="1400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4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后移。</a:t>
            </a:r>
            <a:endParaRPr lang="en-US" altLang="en-US" sz="1400" dirty="0">
              <a:solidFill>
                <a:schemeClr val="tx1"/>
              </a:solidFill>
            </a:endParaRPr>
          </a:p>
          <a:p>
            <a:pPr algn="l" rtl="0" eaLnBrk="0">
              <a:lnSpc>
                <a:spcPct val="172000"/>
              </a:lnSpc>
            </a:pPr>
            <a:endParaRPr lang="en-US" altLang="en-US" sz="1400" dirty="0">
              <a:solidFill>
                <a:schemeClr val="tx1"/>
              </a:solidFill>
            </a:endParaRPr>
          </a:p>
          <a:p>
            <a:pPr algn="l" rtl="0" eaLnBrk="0">
              <a:lnSpc>
                <a:spcPct val="110000"/>
              </a:lnSpc>
            </a:pPr>
            <a:endParaRPr lang="en-US" altLang="en-US" sz="1400" dirty="0">
              <a:solidFill>
                <a:schemeClr val="tx1"/>
              </a:solidFill>
            </a:endParaRPr>
          </a:p>
          <a:p>
            <a:pPr marL="441325" indent="10160" algn="l" rtl="0" eaLnBrk="0">
              <a:lnSpc>
                <a:spcPct val="120000"/>
              </a:lnSpc>
              <a:spcBef>
                <a:spcPts val="0"/>
              </a:spcBef>
            </a:pPr>
            <a:r>
              <a:rPr sz="1400" kern="0" spc="8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为了知道对文件的读写是否完成，只</a:t>
            </a:r>
            <a:r>
              <a:rPr sz="14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r>
              <a:rPr sz="1400" kern="0" spc="9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须看文件读写位置是否移到文</a:t>
            </a:r>
            <a:r>
              <a:rPr sz="1400" kern="0" spc="8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件的末</a:t>
            </a:r>
            <a:r>
              <a:rPr sz="14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</a:t>
            </a:r>
            <a:r>
              <a:rPr sz="1400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尾。</a:t>
            </a:r>
            <a:endParaRPr lang="en-US" altLang="en-US" sz="1400" dirty="0">
              <a:solidFill>
                <a:schemeClr val="tx1"/>
              </a:solidFill>
            </a:endParaRPr>
          </a:p>
          <a:p>
            <a:pPr marL="443230" indent="-382270" algn="just" rtl="0" eaLnBrk="0">
              <a:lnSpc>
                <a:spcPct val="101000"/>
              </a:lnSpc>
              <a:spcBef>
                <a:spcPts val="5"/>
              </a:spcBef>
            </a:pPr>
            <a:endParaRPr lang="en-US" altLang="en-US" sz="1400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657465" y="0"/>
            <a:ext cx="4292600" cy="11493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0" name="textbox 9720"/>
          <p:cNvSpPr/>
          <p:nvPr/>
        </p:nvSpPr>
        <p:spPr>
          <a:xfrm>
            <a:off x="925270" y="808246"/>
            <a:ext cx="4883150" cy="4978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怎样向文件读写一个字符串</a:t>
            </a:r>
            <a:endParaRPr lang="en-US" altLang="en-US" sz="3100" dirty="0"/>
          </a:p>
        </p:txBody>
      </p:sp>
      <p:sp>
        <p:nvSpPr>
          <p:cNvPr id="9722" name="textbox 9722"/>
          <p:cNvSpPr/>
          <p:nvPr/>
        </p:nvSpPr>
        <p:spPr>
          <a:xfrm>
            <a:off x="1099965" y="4712789"/>
            <a:ext cx="8521700" cy="2355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fgets中最后一个字母s表示字符串(string)。见名知义，</a:t>
            </a:r>
            <a:r>
              <a:rPr sz="16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fgets的含义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zh-CN"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从文件读取一个字符串。</a:t>
            </a:r>
            <a:endParaRPr lang="en-US" altLang="en-US" sz="1600" dirty="0"/>
          </a:p>
        </p:txBody>
      </p:sp>
      <p:sp>
        <p:nvSpPr>
          <p:cNvPr id="9724" name="textbox 9724"/>
          <p:cNvSpPr/>
          <p:nvPr/>
        </p:nvSpPr>
        <p:spPr>
          <a:xfrm>
            <a:off x="997572" y="1564132"/>
            <a:ext cx="2244725" cy="285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读写一个字符的函数：</a:t>
            </a:r>
            <a:endParaRPr lang="en-US" altLang="en-US" sz="1800" dirty="0"/>
          </a:p>
        </p:txBody>
      </p:sp>
      <p:sp>
        <p:nvSpPr>
          <p:cNvPr id="9726" name="path"/>
          <p:cNvSpPr/>
          <p:nvPr/>
        </p:nvSpPr>
        <p:spPr>
          <a:xfrm>
            <a:off x="914209" y="1368044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728" name="rect"/>
          <p:cNvSpPr/>
          <p:nvPr/>
        </p:nvSpPr>
        <p:spPr>
          <a:xfrm>
            <a:off x="914209" y="6010147"/>
            <a:ext cx="10550143" cy="25400"/>
          </a:xfrm>
          <a:prstGeom prst="rect">
            <a:avLst/>
          </a:prstGeom>
          <a:solidFill>
            <a:srgbClr val="782367">
              <a:alpha val="96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95680" y="2195830"/>
          <a:ext cx="10269220" cy="205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6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30000"/>
                        </a:lnSpc>
                      </a:pPr>
                      <a:r>
                        <a:rPr sz="13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函数名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30000"/>
                        </a:lnSpc>
                      </a:pPr>
                      <a:r>
                        <a:rPr sz="13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调用形式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30000"/>
                        </a:lnSpc>
                      </a:pPr>
                      <a:r>
                        <a:rPr sz="13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30000"/>
                        </a:lnSpc>
                      </a:pPr>
                      <a:r>
                        <a:rPr sz="13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返回值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6000"/>
                        </a:lnSpc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fgets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6000"/>
                        </a:lnSpc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fgets(str,n</a:t>
                      </a: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,fp)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</a:pPr>
                      <a:r>
                        <a:rPr sz="13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fp</a:t>
                      </a:r>
                      <a:r>
                        <a:rPr sz="13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指向的文件读入一个长度为(n-1)的字符</a:t>
                      </a:r>
                      <a:r>
                        <a:rPr sz="1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串，</a:t>
                      </a:r>
                      <a:r>
                        <a:rPr sz="1300" kern="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存放到字</a:t>
                      </a:r>
                      <a:r>
                        <a:rPr sz="13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符数组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</a:t>
                      </a:r>
                      <a:r>
                        <a:rPr sz="13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lang="en-US" altLang="en-US" sz="1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读成功，返回地址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</a:t>
                      </a: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，失败则返回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NULL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12000"/>
                        </a:lnSpc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fputs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algn="ctr" rtl="0" eaLnBrk="0">
                        <a:lnSpc>
                          <a:spcPct val="112000"/>
                        </a:lnSpc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fputs(str,fp)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r>
                        <a:rPr sz="13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</a:t>
                      </a:r>
                      <a:r>
                        <a:rPr sz="13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所指向的字符串写到文件</a:t>
                      </a: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指针变量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fp</a:t>
                      </a: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所指向的文件中</a:t>
                      </a:r>
                      <a:endParaRPr lang="en-US" altLang="en-US" sz="1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输出成功，返回0；否则返回非0值</a:t>
                      </a:r>
                      <a:endParaRPr lang="en-US" altLang="en-US" sz="13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0" name="textbox 9730"/>
          <p:cNvSpPr/>
          <p:nvPr/>
        </p:nvSpPr>
        <p:spPr>
          <a:xfrm>
            <a:off x="997586" y="3210686"/>
            <a:ext cx="10393680" cy="15208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4605" algn="l" rtl="0" eaLnBrk="0">
              <a:lnSpc>
                <a:spcPct val="8600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其中,n是要求得到的字符个数，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但实际上只从fp所指向的文件中读入n-1个字符，</a:t>
            </a:r>
            <a:r>
              <a:rPr sz="18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然后在最后加一个′\0′</a:t>
            </a:r>
            <a:endParaRPr lang="en-US" altLang="en-US" sz="1800" dirty="0"/>
          </a:p>
          <a:p>
            <a:pPr marL="12700" indent="1270" algn="l" rtl="0" eaLnBrk="0">
              <a:lnSpc>
                <a:spcPct val="152000"/>
              </a:lnSpc>
              <a:spcBef>
                <a:spcPts val="6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这样得到的字符串共有n个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把它们放到字符数组str中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。如果在读完n－1个字符之前遇到换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行符“\n”或文件结束符EOF，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读入即结束，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但将所遇到的换行符“\n</a:t>
            </a:r>
            <a:r>
              <a:rPr sz="18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”也作为一个字符读入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。若执行fgets函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数成功，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则返回值为str数组首元素的地址，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如果一开始就遇到文件尾或读数据出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错，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则返回NULL。</a:t>
            </a:r>
            <a:endParaRPr lang="en-US" altLang="en-US" sz="1800" dirty="0"/>
          </a:p>
        </p:txBody>
      </p:sp>
      <p:sp>
        <p:nvSpPr>
          <p:cNvPr id="9732" name="textbox 9732"/>
          <p:cNvSpPr/>
          <p:nvPr/>
        </p:nvSpPr>
        <p:spPr>
          <a:xfrm>
            <a:off x="925270" y="808246"/>
            <a:ext cx="4883150" cy="4978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怎样向文件读写一个字符串</a:t>
            </a:r>
            <a:endParaRPr lang="en-US" altLang="en-US" sz="3100" dirty="0"/>
          </a:p>
        </p:txBody>
      </p:sp>
      <p:sp>
        <p:nvSpPr>
          <p:cNvPr id="9736" name="textbox 9736"/>
          <p:cNvSpPr/>
          <p:nvPr/>
        </p:nvSpPr>
        <p:spPr>
          <a:xfrm>
            <a:off x="1000087" y="2387473"/>
            <a:ext cx="6236334" cy="2863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algn="r" rtl="0" eaLnBrk="0">
              <a:lnSpc>
                <a:spcPct val="95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其作用是从文件读入一个字符串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。调用时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可以写成下面的形式:</a:t>
            </a:r>
            <a:endParaRPr lang="en-US" altLang="en-US" sz="1800" dirty="0"/>
          </a:p>
        </p:txBody>
      </p:sp>
      <p:sp>
        <p:nvSpPr>
          <p:cNvPr id="9740" name="textbox 9740"/>
          <p:cNvSpPr/>
          <p:nvPr/>
        </p:nvSpPr>
        <p:spPr>
          <a:xfrm>
            <a:off x="992314" y="1564132"/>
            <a:ext cx="2331085" cy="2603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fgets函数的函数原型为</a:t>
            </a:r>
            <a:endParaRPr lang="en-US" altLang="en-US" sz="1800" dirty="0"/>
          </a:p>
        </p:txBody>
      </p:sp>
      <p:sp>
        <p:nvSpPr>
          <p:cNvPr id="9742" name="path"/>
          <p:cNvSpPr/>
          <p:nvPr/>
        </p:nvSpPr>
        <p:spPr>
          <a:xfrm>
            <a:off x="914209" y="1368044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744" name="rect"/>
          <p:cNvSpPr/>
          <p:nvPr/>
        </p:nvSpPr>
        <p:spPr>
          <a:xfrm>
            <a:off x="914209" y="6010147"/>
            <a:ext cx="10550143" cy="25400"/>
          </a:xfrm>
          <a:prstGeom prst="rect">
            <a:avLst/>
          </a:prstGeom>
          <a:solidFill>
            <a:srgbClr val="782367">
              <a:alpha val="96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068070" y="1875155"/>
            <a:ext cx="3665220" cy="445770"/>
          </a:xfrm>
          <a:prstGeom prst="rect">
            <a:avLst/>
          </a:prstGeom>
          <a:solidFill>
            <a:srgbClr val="CCECFF"/>
          </a:solidFill>
          <a:ln>
            <a:solidFill>
              <a:srgbClr val="CCEC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600" b="1" kern="0" spc="-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 *fgets(char</a:t>
            </a:r>
            <a:r>
              <a:rPr sz="1600" b="1" kern="0" spc="-6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*str,</a:t>
            </a:r>
            <a:r>
              <a:rPr sz="1600" b="1" kern="0" spc="1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b="1" kern="0" spc="-6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600" b="1" kern="0" spc="12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b="1" kern="0" spc="-6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n,</a:t>
            </a:r>
            <a:r>
              <a:rPr sz="1600" b="1" kern="0" spc="1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b="1" kern="0" spc="-6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FILE*fp);</a:t>
            </a:r>
            <a:endParaRPr lang="en-US" altLang="en-US" sz="1600" b="1" dirty="0">
              <a:solidFill>
                <a:srgbClr val="1100CC"/>
              </a:solidFill>
            </a:endParaRPr>
          </a:p>
          <a:p>
            <a:pPr algn="ctr"/>
            <a:endParaRPr lang="en-US" altLang="en-US" sz="1600" b="1" dirty="0">
              <a:solidFill>
                <a:srgbClr val="1100CC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080770" y="2778760"/>
            <a:ext cx="3639820" cy="354330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fgets(str,n,</a:t>
            </a: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fp);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6" name="textbox 9746"/>
          <p:cNvSpPr/>
          <p:nvPr/>
        </p:nvSpPr>
        <p:spPr>
          <a:xfrm>
            <a:off x="992314" y="3210686"/>
            <a:ext cx="10404475" cy="19107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7145" algn="l" rtl="0" eaLnBrk="0">
              <a:lnSpc>
                <a:spcPct val="86000"/>
              </a:lnSpc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把字符串″China″输出到fp指向的文件中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。fputs函数中第一个参数可以是字符串常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、字符数组名或字符</a:t>
            </a:r>
            <a:endParaRPr lang="en-US" altLang="en-US" sz="1800" dirty="0"/>
          </a:p>
          <a:p>
            <a:pPr marL="20955" algn="l" rtl="0" eaLnBrk="0">
              <a:lnSpc>
                <a:spcPts val="3245"/>
              </a:lnSpc>
              <a:spcBef>
                <a:spcPts val="15"/>
              </a:spcBef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型指针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。字符串末尾的′\0′不输出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。若输出成功，</a:t>
            </a:r>
            <a:r>
              <a:rPr sz="18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函数值为0;失败时，</a:t>
            </a:r>
            <a:r>
              <a:rPr sz="18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函数值为EOF(即-1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)。</a:t>
            </a:r>
            <a:endParaRPr lang="en-US" altLang="en-US" sz="18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86000"/>
              </a:lnSpc>
              <a:spcBef>
                <a:spcPts val="545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fgets和fgets这两个函数的功能类似于gets和puts函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数，</a:t>
            </a:r>
            <a:r>
              <a:rPr sz="18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只是gets和puts以终端为读写对象，</a:t>
            </a:r>
            <a:r>
              <a:rPr sz="18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而fgets和</a:t>
            </a:r>
            <a:endParaRPr lang="en-US" altLang="en-US" sz="1800" dirty="0"/>
          </a:p>
          <a:p>
            <a:pPr marL="12700" algn="l" rtl="0" eaLnBrk="0">
              <a:lnSpc>
                <a:spcPts val="3240"/>
              </a:lnSpc>
              <a:spcBef>
                <a:spcPts val="25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fputs函数以指定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的文件作为读写对象。</a:t>
            </a:r>
            <a:endParaRPr lang="en-US" altLang="en-US" sz="1800" dirty="0"/>
          </a:p>
        </p:txBody>
      </p:sp>
      <p:sp>
        <p:nvSpPr>
          <p:cNvPr id="9748" name="textbox 9748"/>
          <p:cNvSpPr/>
          <p:nvPr/>
        </p:nvSpPr>
        <p:spPr>
          <a:xfrm>
            <a:off x="925270" y="808246"/>
            <a:ext cx="4883150" cy="4978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怎样向文件读写一个字符串</a:t>
            </a:r>
            <a:endParaRPr lang="en-US" altLang="en-US" sz="3100" dirty="0"/>
          </a:p>
        </p:txBody>
      </p:sp>
      <p:sp>
        <p:nvSpPr>
          <p:cNvPr id="9750" name="textbox 9750"/>
          <p:cNvSpPr/>
          <p:nvPr/>
        </p:nvSpPr>
        <p:spPr>
          <a:xfrm>
            <a:off x="1000087" y="2387473"/>
            <a:ext cx="7361555" cy="2622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algn="r" rtl="0" eaLnBrk="0">
              <a:lnSpc>
                <a:spcPct val="86000"/>
              </a:lnSpc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其作用是将str所指向的字符串输出到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fp所指向的文件中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。调用时可以写成:</a:t>
            </a:r>
            <a:endParaRPr lang="en-US" altLang="en-US" sz="1800" dirty="0"/>
          </a:p>
        </p:txBody>
      </p:sp>
      <p:sp>
        <p:nvSpPr>
          <p:cNvPr id="9756" name="textbox 9756"/>
          <p:cNvSpPr/>
          <p:nvPr/>
        </p:nvSpPr>
        <p:spPr>
          <a:xfrm>
            <a:off x="992314" y="1564132"/>
            <a:ext cx="2337435" cy="2622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fputs函数的函数原型为</a:t>
            </a:r>
            <a:endParaRPr lang="en-US" altLang="en-US" sz="1800" dirty="0"/>
          </a:p>
        </p:txBody>
      </p:sp>
      <p:sp>
        <p:nvSpPr>
          <p:cNvPr id="9758" name="path"/>
          <p:cNvSpPr/>
          <p:nvPr/>
        </p:nvSpPr>
        <p:spPr>
          <a:xfrm>
            <a:off x="914209" y="1368044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760" name="rect"/>
          <p:cNvSpPr/>
          <p:nvPr/>
        </p:nvSpPr>
        <p:spPr>
          <a:xfrm>
            <a:off x="914209" y="6010147"/>
            <a:ext cx="10550143" cy="25400"/>
          </a:xfrm>
          <a:prstGeom prst="rect">
            <a:avLst/>
          </a:prstGeom>
          <a:solidFill>
            <a:srgbClr val="782367">
              <a:alpha val="96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068070" y="1875155"/>
            <a:ext cx="3665220" cy="445770"/>
          </a:xfrm>
          <a:prstGeom prst="rect">
            <a:avLst/>
          </a:prstGeom>
          <a:solidFill>
            <a:srgbClr val="CCECFF"/>
          </a:solidFill>
          <a:ln>
            <a:solidFill>
              <a:srgbClr val="CCEC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rtl="0" eaLnBrk="0">
              <a:lnSpc>
                <a:spcPct val="113000"/>
              </a:lnSpc>
            </a:pPr>
            <a:r>
              <a:rPr sz="1600" b="1" kern="0" spc="-4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intfputs (char</a:t>
            </a:r>
            <a:r>
              <a:rPr sz="1600" b="1" kern="0" spc="4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b="1" kern="0" spc="-4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*str,</a:t>
            </a:r>
            <a:r>
              <a:rPr sz="1600" b="1" kern="0" spc="1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b="1" kern="0" spc="-4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 *fp);</a:t>
            </a:r>
            <a:endParaRPr lang="en-US" altLang="en-US" sz="1600" b="1" dirty="0">
              <a:solidFill>
                <a:srgbClr val="1100CC"/>
              </a:solidFill>
            </a:endParaRPr>
          </a:p>
          <a:p>
            <a:pPr algn="ctr"/>
            <a:endParaRPr lang="en-US" altLang="en-US" sz="1600" b="1" dirty="0">
              <a:solidFill>
                <a:srgbClr val="1100CC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080770" y="2778760"/>
            <a:ext cx="3639820" cy="354330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rtl="0" eaLnBrk="0" fontAlgn="auto">
              <a:lnSpc>
                <a:spcPct val="89000"/>
              </a:lnSpc>
            </a:pP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fputs("Chin</a:t>
            </a:r>
            <a:r>
              <a:rPr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a",fp);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4" name="textbox 9764"/>
          <p:cNvSpPr/>
          <p:nvPr/>
        </p:nvSpPr>
        <p:spPr>
          <a:xfrm>
            <a:off x="588644" y="460393"/>
            <a:ext cx="6596380" cy="12630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78105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怎样向文件读写一个字符串</a:t>
            </a:r>
            <a:endParaRPr lang="en-US" altLang="en-US" sz="3100" dirty="0"/>
          </a:p>
          <a:p>
            <a:pPr algn="l" rtl="0" eaLnBrk="0">
              <a:lnSpc>
                <a:spcPct val="114000"/>
              </a:lnSpc>
            </a:pPr>
            <a:endParaRPr lang="en-US" altLang="en-US" sz="600" dirty="0">
              <a:solidFill>
                <a:srgbClr val="782367"/>
              </a:solidFill>
            </a:endParaRPr>
          </a:p>
          <a:p>
            <a:pPr marL="83820" indent="52070" algn="l" rtl="0" eaLnBrk="0">
              <a:lnSpc>
                <a:spcPct val="114000"/>
              </a:lnSpc>
              <a:spcBef>
                <a:spcPts val="5"/>
              </a:spcBef>
            </a:pPr>
            <a:r>
              <a:rPr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.3】从键盘读入若干个字符串</a:t>
            </a:r>
            <a:r>
              <a:rPr sz="1900" kern="0" spc="-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 kern="0" spc="15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900" kern="0" spc="-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对它们按字母大小的</a:t>
            </a:r>
            <a:r>
              <a:rPr sz="1900" kern="0" spc="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8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顺序排序，然后把排好序的字符串送到磁盘文</a:t>
            </a:r>
            <a:r>
              <a:rPr sz="1900" kern="0" spc="7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件中保存。</a:t>
            </a:r>
            <a:endParaRPr lang="en-US" altLang="en-US" sz="1900" kern="0" spc="70" dirty="0">
              <a:solidFill>
                <a:srgbClr val="78236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218815" y="1760855"/>
            <a:ext cx="5536565" cy="4683760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0">
              <a:lnSpc>
                <a:spcPct val="110000"/>
              </a:lnSpc>
            </a:pPr>
            <a:endParaRPr lang="en-US" altLang="en-US" sz="1300" dirty="0"/>
          </a:p>
          <a:p>
            <a:pPr marL="116840" algn="l" rtl="0" eaLnBrk="0" fontAlgn="auto">
              <a:lnSpc>
                <a:spcPts val="1800"/>
              </a:lnSpc>
              <a:spcBef>
                <a:spcPts val="5"/>
              </a:spcBef>
            </a:pPr>
            <a:endParaRPr sz="14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16840" algn="l" rtl="0" eaLnBrk="0" fontAlgn="auto">
              <a:lnSpc>
                <a:spcPts val="1800"/>
              </a:lnSpc>
              <a:spcBef>
                <a:spcPts val="5"/>
              </a:spcBef>
            </a:pPr>
            <a:endParaRPr sz="14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16840" algn="l" rtl="0" eaLnBrk="0" fontAlgn="auto">
              <a:lnSpc>
                <a:spcPts val="1800"/>
              </a:lnSpc>
              <a:spcBef>
                <a:spcPts val="5"/>
              </a:spcBef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4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&lt;stdio.h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</a:t>
            </a:r>
            <a:endParaRPr lang="en-US" altLang="en-US" sz="1400" dirty="0"/>
          </a:p>
          <a:p>
            <a:pPr marL="116840" algn="l" rtl="0" eaLnBrk="0" fontAlgn="auto">
              <a:lnSpc>
                <a:spcPts val="1800"/>
              </a:lnSpc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4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&lt;stdlib.h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</a:t>
            </a:r>
            <a:endParaRPr lang="en-US" altLang="en-US" sz="1400" dirty="0"/>
          </a:p>
          <a:p>
            <a:pPr marL="116840" algn="l" rtl="0" eaLnBrk="0" fontAlgn="auto">
              <a:lnSpc>
                <a:spcPts val="1800"/>
              </a:lnSpc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400" kern="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&lt;string.h&gt;</a:t>
            </a:r>
            <a:endParaRPr lang="en-US" altLang="en-US" sz="1400" dirty="0"/>
          </a:p>
          <a:p>
            <a:pPr marL="126365" algn="l" rtl="0" eaLnBrk="0" fontAlgn="auto">
              <a:lnSpc>
                <a:spcPts val="1800"/>
              </a:lnSpc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main()</a:t>
            </a:r>
          </a:p>
          <a:p>
            <a:pPr marL="113030" algn="l" rtl="0" eaLnBrk="0" fontAlgn="auto">
              <a:lnSpc>
                <a:spcPts val="1800"/>
              </a:lnSpc>
              <a:spcBef>
                <a:spcPts val="0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 </a:t>
            </a:r>
            <a:r>
              <a:rPr sz="1400" kern="0" spc="-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FILE*</a:t>
            </a: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fp;</a:t>
            </a:r>
            <a:endParaRPr lang="en-US" altLang="en-US" sz="1400" dirty="0"/>
          </a:p>
          <a:p>
            <a:pPr marL="483235" algn="l" rtl="0" eaLnBrk="0" fontAlgn="auto">
              <a:lnSpc>
                <a:spcPts val="1800"/>
              </a:lnSpc>
              <a:spcBef>
                <a:spcPts val="585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 str[3][10],temp[10];</a:t>
            </a:r>
            <a:endParaRPr lang="en-US" altLang="en-US" sz="1400" dirty="0"/>
          </a:p>
          <a:p>
            <a:pPr marL="475615" algn="l" rtl="0" eaLnBrk="0" fontAlgn="auto">
              <a:lnSpc>
                <a:spcPts val="1800"/>
              </a:lnSpc>
              <a:spcBef>
                <a:spcPts val="580"/>
              </a:spcBef>
            </a:pPr>
            <a:r>
              <a:rPr sz="14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sz="14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</a:t>
            </a:r>
            <a:r>
              <a:rPr sz="14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是用来存放字符串的二</a:t>
            </a:r>
            <a:r>
              <a:rPr sz="1400" kern="0" spc="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维数组，</a:t>
            </a:r>
            <a:r>
              <a:rPr sz="1400" kern="0" spc="19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sz="14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temp</a:t>
            </a:r>
            <a:r>
              <a:rPr sz="1400" kern="0" spc="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是临时数组</a:t>
            </a:r>
            <a:endParaRPr lang="en-US" altLang="en-US" sz="1400" dirty="0"/>
          </a:p>
          <a:p>
            <a:pPr marL="488950" algn="l" rtl="0" eaLnBrk="0" fontAlgn="auto">
              <a:lnSpc>
                <a:spcPts val="1800"/>
              </a:lnSpc>
              <a:spcBef>
                <a:spcPts val="575"/>
              </a:spcBef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i,j,k,n=3;</a:t>
            </a:r>
            <a:endParaRPr lang="en-US" altLang="en-US" sz="1400" dirty="0"/>
          </a:p>
          <a:p>
            <a:pPr marL="488315" algn="l" rtl="0" eaLnBrk="0" fontAlgn="auto">
              <a:lnSpc>
                <a:spcPts val="1800"/>
              </a:lnSpc>
              <a:spcBef>
                <a:spcPts val="585"/>
              </a:spcBef>
            </a:pPr>
            <a:r>
              <a:rPr sz="14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printf("E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nter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strings:\n");       </a:t>
            </a:r>
            <a:r>
              <a:rPr sz="1400" kern="0" spc="-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//提示输入字符串</a:t>
            </a:r>
            <a:endParaRPr lang="en-US" altLang="en-US" sz="1400" dirty="0"/>
          </a:p>
          <a:p>
            <a:pPr marL="478790" algn="l" rtl="0" eaLnBrk="0" fontAlgn="auto">
              <a:lnSpc>
                <a:spcPts val="1800"/>
              </a:lnSpc>
              <a:spcBef>
                <a:spcPts val="5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for(i=0;i&lt;n;i++)</a:t>
            </a:r>
          </a:p>
          <a:p>
            <a:pPr marL="410210" algn="l" rtl="0" eaLnBrk="0" fontAlgn="auto">
              <a:lnSpc>
                <a:spcPts val="1800"/>
              </a:lnSpc>
              <a:spcBef>
                <a:spcPts val="0"/>
              </a:spcBef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gets(str[i]);</a:t>
            </a:r>
            <a:r>
              <a:rPr lang="en-US"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</a:t>
            </a:r>
            <a:r>
              <a:rPr sz="1400" kern="0" spc="5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//输入字符串</a:t>
            </a:r>
          </a:p>
          <a:p>
            <a:pPr marL="410210" algn="l" rtl="0" eaLnBrk="0" fontAlgn="auto">
              <a:lnSpc>
                <a:spcPts val="1800"/>
              </a:lnSpc>
              <a:spcBef>
                <a:spcPts val="0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for(i=0;i&lt;n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-1;i++)</a:t>
            </a:r>
            <a:r>
              <a:rPr sz="14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</a:t>
            </a:r>
            <a:r>
              <a:rPr lang="en-US" sz="14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</a:t>
            </a:r>
            <a:r>
              <a:rPr sz="1400" kern="0" spc="7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//用选择法对字符串排序</a:t>
            </a:r>
            <a:endParaRPr sz="1400" kern="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45185" algn="l" rtl="0" eaLnBrk="0" fontAlgn="auto">
              <a:lnSpc>
                <a:spcPts val="1800"/>
              </a:lnSpc>
              <a:spcBef>
                <a:spcPts val="0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k=i;</a:t>
            </a:r>
          </a:p>
          <a:p>
            <a:pPr marL="845185" algn="l" rtl="0" eaLnBrk="0" fontAlgn="auto">
              <a:lnSpc>
                <a:spcPts val="1800"/>
              </a:lnSpc>
              <a:spcBef>
                <a:spcPts val="0"/>
              </a:spcBef>
            </a:pPr>
            <a:r>
              <a:rPr lang="en-US"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for(j=i+1;j&lt;n;j++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en-US" sz="1400" dirty="0"/>
          </a:p>
          <a:p>
            <a:pPr marL="1217930" indent="457200" algn="l" rtl="0" eaLnBrk="0" fontAlgn="auto">
              <a:lnSpc>
                <a:spcPts val="1800"/>
              </a:lnSpc>
              <a:spcBef>
                <a:spcPts val="580"/>
              </a:spcBef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if(strcmp(str[k],str[j])&gt;0)</a:t>
            </a:r>
            <a:r>
              <a:rPr sz="1400" kern="0" spc="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k=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j;</a:t>
            </a:r>
            <a:endParaRPr lang="en-US" altLang="en-US" sz="1400" dirty="0"/>
          </a:p>
          <a:p>
            <a:pPr marL="855345" indent="457200" algn="l" rtl="0" eaLnBrk="0" fontAlgn="auto">
              <a:lnSpc>
                <a:spcPts val="1800"/>
              </a:lnSpc>
              <a:spcBef>
                <a:spcPts val="580"/>
              </a:spcBef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if(k!=i)</a:t>
            </a:r>
          </a:p>
          <a:p>
            <a:pPr marL="855345" indent="457200" algn="l" rtl="0" eaLnBrk="0" fontAlgn="auto">
              <a:lnSpc>
                <a:spcPts val="1800"/>
              </a:lnSpc>
              <a:spcBef>
                <a:spcPts val="580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strcpy(temp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,str[i]);</a:t>
            </a:r>
            <a:endParaRPr lang="en-US" altLang="en-US" sz="1400" dirty="0"/>
          </a:p>
          <a:p>
            <a:pPr marL="410210" algn="l" rtl="0" eaLnBrk="0">
              <a:lnSpc>
                <a:spcPts val="1590"/>
              </a:lnSpc>
              <a:spcBef>
                <a:spcPts val="0"/>
              </a:spcBef>
            </a:pPr>
            <a:endParaRPr lang="en-US" altLang="en-US" sz="1300" dirty="0"/>
          </a:p>
          <a:p>
            <a:pPr marL="478790" algn="l" rtl="0" eaLnBrk="0">
              <a:lnSpc>
                <a:spcPct val="99000"/>
              </a:lnSpc>
              <a:spcBef>
                <a:spcPts val="5"/>
              </a:spcBef>
            </a:pPr>
            <a:endParaRPr lang="en-US" altLang="en-US" sz="1300" dirty="0"/>
          </a:p>
          <a:p>
            <a:pPr marL="126365" algn="l" rtl="0" eaLnBrk="0">
              <a:lnSpc>
                <a:spcPts val="2015"/>
              </a:lnSpc>
            </a:pPr>
            <a:endParaRPr lang="zh-CN" altLang="en-US" sz="1300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976235" y="299720"/>
            <a:ext cx="4216400" cy="2171700"/>
          </a:xfrm>
          <a:prstGeom prst="rect">
            <a:avLst/>
          </a:prstGeom>
        </p:spPr>
      </p:pic>
      <p:sp>
        <p:nvSpPr>
          <p:cNvPr id="4" name="星形: 七角 3">
            <a:extLst>
              <a:ext uri="{FF2B5EF4-FFF2-40B4-BE49-F238E27FC236}">
                <a16:creationId xmlns:a16="http://schemas.microsoft.com/office/drawing/2014/main" id="{FDE65215-DB00-4C79-AD59-12E898D912B2}"/>
              </a:ext>
            </a:extLst>
          </p:cNvPr>
          <p:cNvSpPr/>
          <p:nvPr/>
        </p:nvSpPr>
        <p:spPr>
          <a:xfrm>
            <a:off x="671804" y="2680996"/>
            <a:ext cx="852196" cy="748004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4" name="textbox 9764"/>
          <p:cNvSpPr/>
          <p:nvPr/>
        </p:nvSpPr>
        <p:spPr>
          <a:xfrm>
            <a:off x="588644" y="460393"/>
            <a:ext cx="6596380" cy="12630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78105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怎样向文件读写一个字符串</a:t>
            </a:r>
            <a:endParaRPr lang="en-US" altLang="en-US" sz="3100" dirty="0"/>
          </a:p>
          <a:p>
            <a:pPr algn="l" rtl="0" eaLnBrk="0">
              <a:lnSpc>
                <a:spcPct val="114000"/>
              </a:lnSpc>
            </a:pPr>
            <a:endParaRPr lang="en-US" altLang="en-US" sz="600" dirty="0">
              <a:solidFill>
                <a:srgbClr val="782367"/>
              </a:solidFill>
            </a:endParaRPr>
          </a:p>
          <a:p>
            <a:pPr marL="83820" indent="52070" algn="l" rtl="0" eaLnBrk="0">
              <a:lnSpc>
                <a:spcPct val="114000"/>
              </a:lnSpc>
              <a:spcBef>
                <a:spcPts val="5"/>
              </a:spcBef>
            </a:pPr>
            <a:r>
              <a:rPr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900" kern="0" spc="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.3】从键盘读入若干个字符串</a:t>
            </a:r>
            <a:r>
              <a:rPr sz="1900" kern="0" spc="-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 kern="0" spc="15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900" kern="0" spc="-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对它们按字母大小的</a:t>
            </a:r>
            <a:r>
              <a:rPr sz="1900" kern="0" spc="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8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顺序排序，然后把排好序的字符串送到磁盘文</a:t>
            </a:r>
            <a:r>
              <a:rPr sz="1900" kern="0" spc="7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件中保存。</a:t>
            </a:r>
            <a:endParaRPr lang="en-US" altLang="en-US" sz="1900" kern="0" spc="70" dirty="0">
              <a:solidFill>
                <a:srgbClr val="78236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766" name="picture 97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77845" y="810767"/>
            <a:ext cx="2770631" cy="1502664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218815" y="1760855"/>
            <a:ext cx="5536565" cy="4683760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0">
              <a:lnSpc>
                <a:spcPct val="110000"/>
              </a:lnSpc>
            </a:pPr>
            <a:endParaRPr lang="en-US" altLang="en-US" sz="1300" dirty="0"/>
          </a:p>
          <a:p>
            <a:pPr marL="116840" algn="l" rtl="0" eaLnBrk="0" fontAlgn="auto">
              <a:lnSpc>
                <a:spcPts val="1800"/>
              </a:lnSpc>
              <a:spcBef>
                <a:spcPts val="5"/>
              </a:spcBef>
            </a:pPr>
            <a:endParaRPr sz="14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87095" algn="l" rtl="0" eaLnBrk="0">
              <a:lnSpc>
                <a:spcPct val="92000"/>
              </a:lnSpc>
              <a:spcBef>
                <a:spcPts val="0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strcpy(str[i],s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tr[k]);</a:t>
            </a:r>
            <a:endParaRPr lang="en-US" altLang="en-US" sz="1400" dirty="0"/>
          </a:p>
          <a:p>
            <a:pPr marL="887095" algn="l" rtl="0" eaLnBrk="0">
              <a:lnSpc>
                <a:spcPct val="92000"/>
              </a:lnSpc>
              <a:spcBef>
                <a:spcPts val="580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strcpy(str[k]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,temp);}</a:t>
            </a:r>
            <a:endParaRPr lang="en-US" altLang="en-US" sz="1400" dirty="0"/>
          </a:p>
          <a:p>
            <a:pPr marL="156210" algn="l" rtl="0" eaLnBrk="0">
              <a:lnSpc>
                <a:spcPts val="2020"/>
              </a:lnSpc>
              <a:spcBef>
                <a:spcPts val="20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400" dirty="0"/>
          </a:p>
          <a:p>
            <a:pPr marL="155575" indent="13335" algn="l" rtl="0" eaLnBrk="0">
              <a:lnSpc>
                <a:spcPct val="115000"/>
              </a:lnSpc>
              <a:spcBef>
                <a:spcPts val="575"/>
              </a:spcBef>
            </a:pPr>
            <a:r>
              <a:rPr sz="1400" kern="0" spc="-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if((fp=fopen("D:\\CC\\string.dat","w"))==NULL)</a:t>
            </a:r>
            <a:r>
              <a:rPr sz="1400" kern="0" spc="36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//打开磁盘文件</a:t>
            </a:r>
            <a:r>
              <a:rPr sz="14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</a:t>
            </a:r>
            <a:r>
              <a:rPr sz="14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//′\′为转义字符的标志，因此在字符串中要表示′\′用′\\′</a:t>
            </a:r>
            <a:endParaRPr lang="en-US" altLang="en-US" sz="1400" dirty="0"/>
          </a:p>
          <a:p>
            <a:pPr marL="156210" algn="l" rtl="0" eaLnBrk="0">
              <a:lnSpc>
                <a:spcPct val="99000"/>
              </a:lnSpc>
              <a:spcBef>
                <a:spcPts val="435"/>
              </a:spcBef>
            </a:pPr>
            <a:r>
              <a:rPr sz="1400" kern="0" spc="-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en-US" altLang="en-US" sz="1400" dirty="0"/>
          </a:p>
          <a:p>
            <a:pPr marL="534670" algn="l" rtl="0" eaLnBrk="0">
              <a:lnSpc>
                <a:spcPct val="92000"/>
              </a:lnSpc>
              <a:spcBef>
                <a:spcPts val="480"/>
              </a:spcBef>
            </a:pP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printf("can′t</a:t>
            </a:r>
            <a:r>
              <a:rPr sz="1400" kern="0" spc="16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</a:t>
            </a:r>
            <a:r>
              <a:rPr sz="1400" kern="0" spc="8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file!\n");</a:t>
            </a:r>
            <a:endParaRPr lang="en-US" altLang="en-US" sz="1400" dirty="0"/>
          </a:p>
          <a:p>
            <a:pPr marL="530225" algn="l" rtl="0" eaLnBrk="0">
              <a:lnSpc>
                <a:spcPts val="2015"/>
              </a:lnSpc>
              <a:spcBef>
                <a:spcPts val="10"/>
              </a:spcBef>
            </a:pP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exit(0);</a:t>
            </a:r>
            <a:endParaRPr lang="en-US" altLang="en-US" sz="1400" dirty="0"/>
          </a:p>
          <a:p>
            <a:pPr marL="156210" algn="l" rtl="0" eaLnBrk="0">
              <a:lnSpc>
                <a:spcPct val="99000"/>
              </a:lnSpc>
              <a:spcBef>
                <a:spcPts val="565"/>
              </a:spcBef>
            </a:pPr>
            <a:r>
              <a:rPr sz="1400" kern="0" spc="-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400" dirty="0"/>
          </a:p>
          <a:p>
            <a:pPr marL="168910" algn="l" rtl="0" eaLnBrk="0">
              <a:lnSpc>
                <a:spcPct val="92000"/>
              </a:lnSpc>
              <a:spcBef>
                <a:spcPts val="480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printf("\nTh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sz="14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new sequence:\n");</a:t>
            </a:r>
            <a:endParaRPr lang="en-US" altLang="en-US" sz="1400" dirty="0"/>
          </a:p>
          <a:p>
            <a:pPr marL="159385" algn="l" rtl="0" eaLnBrk="0">
              <a:lnSpc>
                <a:spcPts val="2015"/>
              </a:lnSpc>
              <a:spcBef>
                <a:spcPts val="10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for(i=0;i&lt;n;i++)</a:t>
            </a:r>
            <a:endParaRPr lang="en-US" altLang="en-US" sz="1400" dirty="0"/>
          </a:p>
          <a:p>
            <a:pPr marL="156210" algn="l" rtl="0" eaLnBrk="0">
              <a:lnSpc>
                <a:spcPct val="92000"/>
              </a:lnSpc>
              <a:spcBef>
                <a:spcPts val="570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400" kern="0" spc="-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fputs(str[i],fp);fputs("</a:t>
            </a: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\n",fp);</a:t>
            </a:r>
            <a:endParaRPr lang="en-US" altLang="en-US" sz="1400" dirty="0"/>
          </a:p>
          <a:p>
            <a:pPr marL="534670" indent="-12700" algn="l" rtl="0" eaLnBrk="0">
              <a:lnSpc>
                <a:spcPct val="111000"/>
              </a:lnSpc>
              <a:spcBef>
                <a:spcPts val="570"/>
              </a:spcBef>
            </a:pPr>
            <a:r>
              <a:rPr sz="14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//向磁盘文件写一个字符串，然后输出一个换行符  </a:t>
            </a:r>
            <a:r>
              <a:rPr sz="1400" kern="0" spc="5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printf("%s\n",str[i]);         </a:t>
            </a:r>
            <a:r>
              <a:rPr sz="1400"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//在屏幕上显示</a:t>
            </a:r>
            <a:endParaRPr lang="en-US" altLang="en-US" sz="1400" dirty="0"/>
          </a:p>
          <a:p>
            <a:pPr marL="156210" algn="l" rtl="0" eaLnBrk="0">
              <a:lnSpc>
                <a:spcPct val="99000"/>
              </a:lnSpc>
              <a:spcBef>
                <a:spcPts val="570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400" dirty="0"/>
          </a:p>
          <a:p>
            <a:pPr algn="l" rtl="0" eaLnBrk="0">
              <a:lnSpc>
                <a:spcPct val="131000"/>
              </a:lnSpc>
            </a:pPr>
            <a:endParaRPr lang="en-US" altLang="en-US" sz="1400" dirty="0"/>
          </a:p>
          <a:p>
            <a:pPr marL="168910" algn="l" rtl="0" eaLnBrk="0">
              <a:lnSpc>
                <a:spcPts val="1585"/>
              </a:lnSpc>
              <a:spcBef>
                <a:spcPts val="5"/>
              </a:spcBef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</a:t>
            </a: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0;</a:t>
            </a:r>
          </a:p>
          <a:p>
            <a:pPr marL="168910" algn="l" rtl="0" eaLnBrk="0">
              <a:lnSpc>
                <a:spcPts val="1585"/>
              </a:lnSpc>
              <a:spcBef>
                <a:spcPts val="5"/>
              </a:spcBef>
            </a:pPr>
            <a:r>
              <a:rPr lang="en-US" sz="14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marL="478790" algn="l" rtl="0" eaLnBrk="0">
              <a:lnSpc>
                <a:spcPct val="99000"/>
              </a:lnSpc>
              <a:spcBef>
                <a:spcPts val="5"/>
              </a:spcBef>
            </a:pPr>
            <a:endParaRPr lang="en-US" altLang="en-US" sz="1300" dirty="0"/>
          </a:p>
          <a:p>
            <a:pPr marL="126365" algn="l" rtl="0" eaLnBrk="0">
              <a:lnSpc>
                <a:spcPts val="2015"/>
              </a:lnSpc>
            </a:pPr>
            <a:endParaRPr lang="zh-CN" altLang="en-US" sz="1300" dirty="0"/>
          </a:p>
        </p:txBody>
      </p:sp>
      <p:sp>
        <p:nvSpPr>
          <p:cNvPr id="3" name="星形: 七角 2">
            <a:extLst>
              <a:ext uri="{FF2B5EF4-FFF2-40B4-BE49-F238E27FC236}">
                <a16:creationId xmlns:a16="http://schemas.microsoft.com/office/drawing/2014/main" id="{F7FB2FAD-39D8-4F2E-A2E5-67B3AAA39ED8}"/>
              </a:ext>
            </a:extLst>
          </p:cNvPr>
          <p:cNvSpPr/>
          <p:nvPr/>
        </p:nvSpPr>
        <p:spPr>
          <a:xfrm>
            <a:off x="808653" y="2824065"/>
            <a:ext cx="858416" cy="845976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6" name="textbox 9786"/>
          <p:cNvSpPr/>
          <p:nvPr/>
        </p:nvSpPr>
        <p:spPr>
          <a:xfrm>
            <a:off x="588644" y="1038923"/>
            <a:ext cx="10660380" cy="6864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85725" indent="50165" algn="l" rtl="0" eaLnBrk="0">
              <a:lnSpc>
                <a:spcPct val="114000"/>
              </a:lnSpc>
            </a:pPr>
            <a:r>
              <a:rPr sz="1900" kern="0" spc="4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sz="1900" kern="0" spc="4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900" kern="0" spc="4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.3】从键盘读入若干个字符串</a:t>
            </a:r>
            <a:r>
              <a:rPr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 kern="0" spc="15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对它们按字母大小的顺序排序，然后把排好序的字符串送</a:t>
            </a:r>
            <a:r>
              <a:rPr sz="1900" kern="0" spc="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到磁盘文件中保存。</a:t>
            </a:r>
            <a:endParaRPr lang="en-US" altLang="en-US" sz="1900" kern="0" spc="40" dirty="0">
              <a:solidFill>
                <a:srgbClr val="78236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90" name="textbox 9790"/>
          <p:cNvSpPr/>
          <p:nvPr/>
        </p:nvSpPr>
        <p:spPr>
          <a:xfrm>
            <a:off x="621144" y="1843659"/>
            <a:ext cx="4130675" cy="5613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lang="en-US" altLang="en-US" sz="100" dirty="0"/>
          </a:p>
          <a:p>
            <a:pPr marL="30480" indent="-17780" algn="l" rtl="0" eaLnBrk="0">
              <a:lnSpc>
                <a:spcPct val="98000"/>
              </a:lnSpc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可以编写出以下的程序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，从文件string.dat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中读回字符串，并在屏幕上显示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800" dirty="0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899025" y="1774190"/>
            <a:ext cx="6643370" cy="4657725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18745" algn="l" rtl="0" eaLnBrk="0">
              <a:lnSpc>
                <a:spcPct val="93000"/>
              </a:lnSpc>
              <a:spcBef>
                <a:spcPts val="5"/>
              </a:spcBef>
            </a:pPr>
            <a:endParaRPr sz="14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18745" algn="l" rtl="0" eaLnBrk="0">
              <a:lnSpc>
                <a:spcPct val="93000"/>
              </a:lnSpc>
              <a:spcBef>
                <a:spcPts val="5"/>
              </a:spcBef>
            </a:pPr>
            <a:endParaRPr sz="14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18745" algn="l" rtl="0" eaLnBrk="0">
              <a:lnSpc>
                <a:spcPct val="93000"/>
              </a:lnSpc>
              <a:spcBef>
                <a:spcPts val="5"/>
              </a:spcBef>
            </a:pPr>
            <a:endParaRPr sz="14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18745" algn="l" rtl="0" eaLnBrk="0">
              <a:lnSpc>
                <a:spcPct val="93000"/>
              </a:lnSpc>
              <a:spcBef>
                <a:spcPts val="5"/>
              </a:spcBef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4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&lt;stdio.h&gt;</a:t>
            </a:r>
            <a:endParaRPr lang="en-US" altLang="en-US" sz="1400" dirty="0"/>
          </a:p>
          <a:p>
            <a:pPr marL="118745" algn="l" rtl="0" eaLnBrk="0">
              <a:lnSpc>
                <a:spcPts val="2015"/>
              </a:lnSpc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4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&lt;stdlib.h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</a:t>
            </a:r>
            <a:endParaRPr lang="en-US" altLang="en-US" sz="1400" dirty="0"/>
          </a:p>
          <a:p>
            <a:pPr marL="128270" algn="l" rtl="0" eaLnBrk="0">
              <a:lnSpc>
                <a:spcPts val="2020"/>
              </a:lnSpc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main()</a:t>
            </a:r>
            <a:endParaRPr lang="en-US" altLang="en-US" sz="1400" dirty="0"/>
          </a:p>
          <a:p>
            <a:pPr marL="115570" algn="l" rtl="0" eaLnBrk="0">
              <a:lnSpc>
                <a:spcPct val="92000"/>
              </a:lnSpc>
              <a:spcBef>
                <a:spcPts val="570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 </a:t>
            </a:r>
            <a:r>
              <a:rPr sz="1400" kern="0" spc="-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FILE*</a:t>
            </a: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fp;</a:t>
            </a:r>
            <a:endParaRPr lang="en-US" altLang="en-US" sz="1400" dirty="0"/>
          </a:p>
          <a:p>
            <a:pPr marL="485775" algn="l" rtl="0" eaLnBrk="0">
              <a:lnSpc>
                <a:spcPct val="93000"/>
              </a:lnSpc>
              <a:spcBef>
                <a:spcPts val="575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 str[3][10];</a:t>
            </a:r>
            <a:endParaRPr lang="en-US" altLang="en-US" sz="1400" dirty="0"/>
          </a:p>
          <a:p>
            <a:pPr marL="491490" algn="l" rtl="0" eaLnBrk="0">
              <a:lnSpc>
                <a:spcPts val="2020"/>
              </a:lnSpc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400" kern="0" spc="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i=0;</a:t>
            </a:r>
            <a:endParaRPr lang="en-US" altLang="en-US" sz="1400" dirty="0"/>
          </a:p>
          <a:p>
            <a:pPr marL="491490" algn="l" rtl="0" eaLnBrk="0">
              <a:lnSpc>
                <a:spcPct val="92000"/>
              </a:lnSpc>
              <a:spcBef>
                <a:spcPts val="560"/>
              </a:spcBef>
            </a:pPr>
            <a:r>
              <a:rPr sz="14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if((fp=fopen("D:\\CC\\</a:t>
            </a:r>
            <a:r>
              <a:rPr sz="14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string.dat","r"))==NULL)   </a:t>
            </a:r>
            <a:r>
              <a:rPr sz="1400" kern="0" spc="-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//注意文件路径必须与前相同</a:t>
            </a:r>
            <a:endParaRPr lang="en-US" altLang="en-US" sz="1400" dirty="0"/>
          </a:p>
          <a:p>
            <a:pPr marL="478155" algn="l" rtl="0" eaLnBrk="0">
              <a:lnSpc>
                <a:spcPct val="99000"/>
              </a:lnSpc>
              <a:spcBef>
                <a:spcPts val="580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en-US" altLang="en-US" sz="1400" dirty="0"/>
          </a:p>
          <a:p>
            <a:pPr marL="856615" algn="l" rtl="0" eaLnBrk="0">
              <a:lnSpc>
                <a:spcPct val="92000"/>
              </a:lnSpc>
              <a:spcBef>
                <a:spcPts val="485"/>
              </a:spcBef>
            </a:pP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printf("can′t</a:t>
            </a:r>
            <a:r>
              <a:rPr sz="1400" kern="0" spc="17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</a:t>
            </a:r>
            <a:r>
              <a:rPr sz="1400" kern="0" spc="8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file!\n");</a:t>
            </a:r>
            <a:endParaRPr lang="en-US" altLang="en-US" sz="1400" dirty="0"/>
          </a:p>
          <a:p>
            <a:pPr marL="851535" algn="l" rtl="0" eaLnBrk="0">
              <a:lnSpc>
                <a:spcPts val="2015"/>
              </a:lnSpc>
              <a:spcBef>
                <a:spcPts val="10"/>
              </a:spcBef>
            </a:pP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exit(0);</a:t>
            </a:r>
            <a:endParaRPr lang="en-US" altLang="en-US" sz="1400" dirty="0"/>
          </a:p>
          <a:p>
            <a:pPr marL="478155" algn="l" rtl="0" eaLnBrk="0">
              <a:lnSpc>
                <a:spcPct val="99000"/>
              </a:lnSpc>
              <a:spcBef>
                <a:spcPts val="560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400" dirty="0"/>
          </a:p>
          <a:p>
            <a:pPr marL="479425" algn="l" rtl="0" eaLnBrk="0">
              <a:lnSpc>
                <a:spcPct val="92000"/>
              </a:lnSpc>
              <a:spcBef>
                <a:spcPts val="475"/>
              </a:spcBef>
            </a:pPr>
            <a:r>
              <a:rPr sz="1400" kern="0" spc="-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while(fgets(str[i],10,fp)!=</a:t>
            </a: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NULL)</a:t>
            </a:r>
            <a:r>
              <a:rPr lang="en-US"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en-US" sz="1400" kern="0" spc="-4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1400" kern="0" spc="-4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尝试从文件</a:t>
            </a:r>
            <a:r>
              <a:rPr lang="en-US" altLang="zh-CN" sz="1400" kern="0" spc="-4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</a:t>
            </a:r>
            <a:r>
              <a:rPr lang="zh-CN" altLang="en-US" sz="1400" kern="0" spc="-4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中读取</a:t>
            </a:r>
            <a:r>
              <a:rPr lang="en-US" altLang="zh-CN" sz="1400" kern="0" spc="-4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</a:t>
            </a:r>
            <a:r>
              <a:rPr lang="zh-CN" altLang="en-US" sz="1400" kern="0" spc="-4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个字符，读取成功返回</a:t>
            </a:r>
            <a:r>
              <a:rPr lang="en-US" altLang="zh-CN" sz="1400" kern="0" spc="-4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str[</a:t>
            </a:r>
            <a:r>
              <a:rPr lang="en-US" altLang="zh-CN" sz="1400" kern="0" spc="-4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en-US" altLang="zh-CN" sz="1400" kern="0" spc="-4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</a:t>
            </a:r>
            <a:r>
              <a:rPr lang="zh-CN" altLang="en-US" sz="1400" kern="0" spc="-4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的指针</a:t>
            </a:r>
            <a:endParaRPr lang="en-US" altLang="en-US" sz="1400" dirty="0">
              <a:solidFill>
                <a:srgbClr val="00B050"/>
              </a:solidFill>
            </a:endParaRPr>
          </a:p>
          <a:p>
            <a:pPr marL="478155" algn="l" rtl="0" eaLnBrk="0">
              <a:lnSpc>
                <a:spcPts val="1450"/>
              </a:lnSpc>
              <a:spcBef>
                <a:spcPts val="585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printf("%s",str[i]);</a:t>
            </a:r>
            <a:endParaRPr lang="en-US" altLang="en-US" sz="1400" dirty="0"/>
          </a:p>
          <a:p>
            <a:pPr marL="857250" algn="l" rtl="0" eaLnBrk="0">
              <a:lnSpc>
                <a:spcPts val="2015"/>
              </a:lnSpc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i++;</a:t>
            </a:r>
            <a:endParaRPr lang="en-US" altLang="en-US" sz="1400" dirty="0"/>
          </a:p>
          <a:p>
            <a:pPr marL="478155" algn="l" rtl="0" eaLnBrk="0">
              <a:lnSpc>
                <a:spcPct val="99000"/>
              </a:lnSpc>
              <a:spcBef>
                <a:spcPts val="560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400" dirty="0"/>
          </a:p>
          <a:p>
            <a:pPr marL="481330" algn="l" rtl="0" eaLnBrk="0">
              <a:lnSpc>
                <a:spcPct val="92000"/>
              </a:lnSpc>
              <a:spcBef>
                <a:spcPts val="480"/>
              </a:spcBef>
            </a:pPr>
            <a:r>
              <a:rPr sz="14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fclose(fp);</a:t>
            </a:r>
            <a:endParaRPr lang="en-US" altLang="en-US" sz="1400" dirty="0"/>
          </a:p>
          <a:p>
            <a:pPr marL="490855" algn="l" rtl="0" eaLnBrk="0">
              <a:lnSpc>
                <a:spcPct val="93000"/>
              </a:lnSpc>
              <a:spcBef>
                <a:spcPts val="580"/>
              </a:spcBef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0;</a:t>
            </a:r>
            <a:endParaRPr lang="en-US" altLang="en-US" sz="1400" dirty="0"/>
          </a:p>
          <a:p>
            <a:pPr marL="115570" algn="l" rtl="0" eaLnBrk="0">
              <a:lnSpc>
                <a:spcPts val="2015"/>
              </a:lnSpc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400" dirty="0"/>
          </a:p>
          <a:p>
            <a:pPr algn="ctr"/>
            <a:endParaRPr lang="zh-CN" altLang="en-US" sz="1400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0830" y="5316220"/>
            <a:ext cx="4608333" cy="126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4" name="textbox 9794"/>
          <p:cNvSpPr/>
          <p:nvPr/>
        </p:nvSpPr>
        <p:spPr>
          <a:xfrm>
            <a:off x="998715" y="1564132"/>
            <a:ext cx="10396855" cy="10852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3970" algn="l" rtl="0" eaLnBrk="0">
              <a:lnSpc>
                <a:spcPct val="86000"/>
              </a:lnSpc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可以对文件进行格式化输入输出，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这时就要用fprintf函数和fscanf函数，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从函数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名可以看到，</a:t>
            </a:r>
            <a:r>
              <a:rPr sz="18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它们只是在</a:t>
            </a:r>
            <a:endParaRPr lang="en-US" altLang="en-US" sz="1800" dirty="0"/>
          </a:p>
          <a:p>
            <a:pPr marL="12700" indent="5715" algn="l" rtl="0" eaLnBrk="0">
              <a:lnSpc>
                <a:spcPct val="150000"/>
              </a:lnSpc>
              <a:spcBef>
                <a:spcPts val="5"/>
              </a:spcBef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printf和scanf的前面加了一个字母f</a:t>
            </a:r>
            <a:r>
              <a:rPr sz="1800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。它们的作用与printf函数和scanf函数相仿，</a:t>
            </a:r>
            <a:r>
              <a:rPr sz="18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都是格式化读写函数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有一点不同：</a:t>
            </a:r>
            <a:r>
              <a:rPr sz="1800" kern="0" spc="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fprintf和fscanf函数的读写对象不是终端而是文件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。它们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的一般调用方式为：</a:t>
            </a:r>
            <a:endParaRPr lang="en-US" altLang="en-US" sz="1800" dirty="0"/>
          </a:p>
        </p:txBody>
      </p:sp>
      <p:sp>
        <p:nvSpPr>
          <p:cNvPr id="9800" name="textbox 9800"/>
          <p:cNvSpPr/>
          <p:nvPr/>
        </p:nvSpPr>
        <p:spPr>
          <a:xfrm>
            <a:off x="926487" y="808246"/>
            <a:ext cx="5287009" cy="4965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用格式化的方式读写文本文件</a:t>
            </a:r>
            <a:endParaRPr lang="en-US" altLang="en-US" sz="3100" dirty="0"/>
          </a:p>
        </p:txBody>
      </p:sp>
      <p:sp>
        <p:nvSpPr>
          <p:cNvPr id="9806" name="path"/>
          <p:cNvSpPr/>
          <p:nvPr/>
        </p:nvSpPr>
        <p:spPr>
          <a:xfrm>
            <a:off x="914209" y="1368044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08" name="rect"/>
          <p:cNvSpPr/>
          <p:nvPr/>
        </p:nvSpPr>
        <p:spPr>
          <a:xfrm>
            <a:off x="914209" y="6010147"/>
            <a:ext cx="10550143" cy="25400"/>
          </a:xfrm>
          <a:prstGeom prst="rect">
            <a:avLst/>
          </a:prstGeom>
          <a:solidFill>
            <a:srgbClr val="782367">
              <a:alpha val="96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3867785" y="2907665"/>
            <a:ext cx="4455795" cy="441325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0">
              <a:lnSpc>
                <a:spcPct val="104000"/>
              </a:lnSpc>
            </a:pPr>
            <a:endParaRPr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 rtl="0" eaLnBrk="0">
              <a:lnSpc>
                <a:spcPct val="104000"/>
              </a:lnSpc>
            </a:pPr>
            <a:r>
              <a:rPr b="1" kern="0" spc="-4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fprintf(文件指针, 格式字符串, 输出表列);</a:t>
            </a:r>
            <a:endParaRPr lang="en-US" altLang="en-US" b="1" dirty="0">
              <a:solidFill>
                <a:srgbClr val="1100CC"/>
              </a:solidFill>
            </a:endParaRPr>
          </a:p>
          <a:p>
            <a:pPr algn="ctr" rtl="0" eaLnBrk="0">
              <a:lnSpc>
                <a:spcPct val="104000"/>
              </a:lnSpc>
            </a:pPr>
            <a:endParaRPr lang="en-US" altLang="en-US" b="1" kern="0" spc="-50" dirty="0">
              <a:solidFill>
                <a:srgbClr val="11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3867785" y="3481070"/>
            <a:ext cx="4455795" cy="441325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0">
              <a:lnSpc>
                <a:spcPct val="104000"/>
              </a:lnSpc>
            </a:pPr>
            <a:endParaRPr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 rtl="0" eaLnBrk="0">
              <a:lnSpc>
                <a:spcPct val="111000"/>
              </a:lnSpc>
            </a:pPr>
            <a:r>
              <a:rPr b="1" kern="0" spc="-4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fscanf(文件指针, 格式字符串, 输出表列);</a:t>
            </a:r>
            <a:endParaRPr lang="en-US" altLang="en-US" b="1" dirty="0">
              <a:solidFill>
                <a:srgbClr val="1100CC"/>
              </a:solidFill>
            </a:endParaRPr>
          </a:p>
          <a:p>
            <a:pPr algn="ctr" rtl="0" eaLnBrk="0">
              <a:lnSpc>
                <a:spcPct val="104000"/>
              </a:lnSpc>
            </a:pPr>
            <a:endParaRPr lang="en-US" altLang="en-US" b="1" kern="0" spc="-50" dirty="0">
              <a:solidFill>
                <a:srgbClr val="11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928370" y="4128135"/>
            <a:ext cx="10512425" cy="419735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fprintf (fp,″%d,%6.2f″,i,f);       </a:t>
            </a:r>
            <a:r>
              <a:rPr kern="0" spc="-8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//将int型变量i和float型变量f的值按%</a:t>
            </a:r>
            <a:r>
              <a:rPr kern="0" spc="-9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d和%6.2f的格式输出到fp指向的文件中</a:t>
            </a:r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928370" y="4662805"/>
            <a:ext cx="10537825" cy="903605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24460" algn="l" rtl="0" eaLnBrk="0">
              <a:lnSpc>
                <a:spcPct val="97000"/>
              </a:lnSpc>
              <a:spcBef>
                <a:spcPts val="5"/>
              </a:spcBef>
            </a:pP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fscanf</a:t>
            </a: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(fp,″%d,%f″,&amp;i,&amp;f);</a:t>
            </a:r>
            <a:endParaRPr lang="en-US" altLang="en-US" dirty="0"/>
          </a:p>
          <a:p>
            <a:pPr algn="l" rtl="0" eaLnBrk="0">
              <a:lnSpc>
                <a:spcPct val="104000"/>
              </a:lnSpc>
            </a:pPr>
            <a:endParaRPr lang="en-US" altLang="en-US" dirty="0"/>
          </a:p>
          <a:p>
            <a:pPr marL="120015" algn="l" rtl="0" eaLnBrk="0">
              <a:lnSpc>
                <a:spcPct val="95000"/>
              </a:lnSpc>
              <a:spcBef>
                <a:spcPts val="0"/>
              </a:spcBef>
            </a:pPr>
            <a:r>
              <a:rPr kern="0" spc="-8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//磁盘文件上如果有字符“3,4.5”，</a:t>
            </a:r>
            <a:r>
              <a:rPr kern="0" spc="-2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8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则从中读取整数3送给整型变量i，</a:t>
            </a:r>
            <a:r>
              <a:rPr kern="0" spc="-29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8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读取实数4.5送给float型变量f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0" name="textbox 9810"/>
          <p:cNvSpPr/>
          <p:nvPr/>
        </p:nvSpPr>
        <p:spPr>
          <a:xfrm>
            <a:off x="997572" y="1564132"/>
            <a:ext cx="10399394" cy="11106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5875" algn="l" rtl="0" eaLnBrk="0">
              <a:lnSpc>
                <a:spcPct val="87000"/>
              </a:lnSpc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C语言允许用fread函数从文件中读一个数据块，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用fwrite函数向文件写一个数据块</a:t>
            </a:r>
            <a:r>
              <a:rPr sz="18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。在读写时是以二进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  <a:endParaRPr lang="en-US" altLang="en-US" sz="1800" dirty="0"/>
          </a:p>
          <a:p>
            <a:pPr marL="12700" indent="635" algn="l" rtl="0" eaLnBrk="0">
              <a:lnSpc>
                <a:spcPct val="154000"/>
              </a:lnSpc>
              <a:spcBef>
                <a:spcPts val="1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形式进行的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。在向磁盘写数据时，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直接将内存中一组数据原封不动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、不加转换地复制到磁盘文件上，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读入时也是将磁盘文件中若干字节的内容一批读入内存。</a:t>
            </a:r>
            <a:endParaRPr lang="en-US" altLang="en-US" sz="1800" dirty="0"/>
          </a:p>
        </p:txBody>
      </p:sp>
      <p:sp>
        <p:nvSpPr>
          <p:cNvPr id="9812" name="textbox 9812"/>
          <p:cNvSpPr/>
          <p:nvPr/>
        </p:nvSpPr>
        <p:spPr>
          <a:xfrm>
            <a:off x="5559870" y="2804159"/>
            <a:ext cx="5794375" cy="1865629"/>
          </a:xfrm>
          <a:prstGeom prst="rect">
            <a:avLst/>
          </a:prstGeom>
          <a:solidFill>
            <a:srgbClr val="FADBD3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lang="en-US" altLang="en-US" sz="600" dirty="0"/>
          </a:p>
          <a:p>
            <a:pPr marL="88900" algn="l" rtl="0" eaLnBrk="0">
              <a:lnSpc>
                <a:spcPct val="95000"/>
              </a:lnSpc>
              <a:spcBef>
                <a:spcPts val="5"/>
              </a:spcBef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buffer：   是一个地址。对fread，</a:t>
            </a:r>
            <a:r>
              <a:rPr sz="16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它是用来存放从文件读入的数</a:t>
            </a:r>
            <a:endParaRPr lang="en-US" altLang="en-US" sz="1600" dirty="0"/>
          </a:p>
          <a:p>
            <a:pPr marL="973455" indent="1905" algn="l" rtl="0" eaLnBrk="0">
              <a:lnSpc>
                <a:spcPct val="107000"/>
              </a:lnSpc>
              <a:spcBef>
                <a:spcPts val="460"/>
              </a:spcBef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据的存储区的地址。对fwrite，</a:t>
            </a:r>
            <a:r>
              <a:rPr sz="16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是要把此地址开始的存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储区中的数据向文件输出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（以上指的是起始地址）。</a:t>
            </a:r>
            <a:endParaRPr lang="en-US" altLang="en-US" sz="1600" dirty="0"/>
          </a:p>
          <a:p>
            <a:pPr marL="76835" algn="l" rtl="0" eaLnBrk="0">
              <a:lnSpc>
                <a:spcPct val="95000"/>
              </a:lnSpc>
              <a:spcBef>
                <a:spcPts val="525"/>
              </a:spcBef>
            </a:pP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size：       要读写的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字节数。</a:t>
            </a:r>
            <a:endParaRPr lang="en-US" altLang="en-US" sz="1600" dirty="0"/>
          </a:p>
          <a:p>
            <a:pPr marL="83185" algn="l" rtl="0" eaLnBrk="0">
              <a:lnSpc>
                <a:spcPct val="93000"/>
              </a:lnSpc>
              <a:spcBef>
                <a:spcPts val="480"/>
              </a:spcBef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count：    要读写多少个数据项(每个数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据项长度为size)。</a:t>
            </a:r>
            <a:endParaRPr lang="en-US" altLang="en-US" sz="1600" dirty="0"/>
          </a:p>
          <a:p>
            <a:pPr algn="l" rtl="0" eaLnBrk="0">
              <a:lnSpc>
                <a:spcPct val="109000"/>
              </a:lnSpc>
            </a:pPr>
            <a:endParaRPr lang="en-US" altLang="en-US" sz="400" dirty="0"/>
          </a:p>
          <a:p>
            <a:pPr marL="78105" algn="l" rtl="0" eaLnBrk="0">
              <a:lnSpc>
                <a:spcPct val="92000"/>
              </a:lnSpc>
              <a:spcBef>
                <a:spcPts val="5"/>
              </a:spcBef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fp：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FILE类型指针。</a:t>
            </a:r>
            <a:endParaRPr lang="en-US" altLang="en-US" sz="1500" dirty="0"/>
          </a:p>
        </p:txBody>
      </p:sp>
      <p:sp>
        <p:nvSpPr>
          <p:cNvPr id="9816" name="textbox 9816"/>
          <p:cNvSpPr/>
          <p:nvPr/>
        </p:nvSpPr>
        <p:spPr>
          <a:xfrm>
            <a:off x="926487" y="808246"/>
            <a:ext cx="6097904" cy="4953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31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用二进制方式向文件读</a:t>
            </a: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写一组数据</a:t>
            </a:r>
            <a:endParaRPr lang="en-US" altLang="en-US" sz="3100" dirty="0"/>
          </a:p>
        </p:txBody>
      </p:sp>
      <p:sp>
        <p:nvSpPr>
          <p:cNvPr id="9822" name="path"/>
          <p:cNvSpPr/>
          <p:nvPr/>
        </p:nvSpPr>
        <p:spPr>
          <a:xfrm>
            <a:off x="914209" y="1368044"/>
            <a:ext cx="10550143" cy="25400"/>
          </a:xfrm>
          <a:custGeom>
            <a:avLst/>
            <a:gdLst/>
            <a:ahLst/>
            <a:cxnLst/>
            <a:rect l="0" t="0" r="0" b="0"/>
            <a:pathLst>
              <a:path w="16614" h="40">
                <a:moveTo>
                  <a:pt x="20" y="20"/>
                </a:moveTo>
                <a:lnTo>
                  <a:pt x="1659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24" name="rect"/>
          <p:cNvSpPr/>
          <p:nvPr/>
        </p:nvSpPr>
        <p:spPr>
          <a:xfrm>
            <a:off x="914209" y="6010147"/>
            <a:ext cx="10550143" cy="25400"/>
          </a:xfrm>
          <a:prstGeom prst="rect">
            <a:avLst/>
          </a:prstGeom>
          <a:solidFill>
            <a:srgbClr val="782367">
              <a:alpha val="96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017905" y="2783840"/>
            <a:ext cx="4455795" cy="441325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0">
              <a:lnSpc>
                <a:spcPct val="104000"/>
              </a:lnSpc>
            </a:pPr>
            <a:endParaRPr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rtl="0" eaLnBrk="0">
              <a:lnSpc>
                <a:spcPct val="104000"/>
              </a:lnSpc>
            </a:pPr>
            <a:r>
              <a:rPr b="1" kern="0" spc="-4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fread(buffer, siz</a:t>
            </a:r>
            <a:r>
              <a:rPr b="1" kern="0" spc="-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e, count,</a:t>
            </a:r>
            <a:r>
              <a:rPr b="1" kern="0" spc="2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b="1" kern="0" spc="-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fp);</a:t>
            </a:r>
            <a:endParaRPr lang="en-US" altLang="en-US" b="1" dirty="0">
              <a:solidFill>
                <a:srgbClr val="1100CC"/>
              </a:solidFill>
            </a:endParaRPr>
          </a:p>
          <a:p>
            <a:pPr algn="ctr" rtl="0" eaLnBrk="0">
              <a:lnSpc>
                <a:spcPct val="104000"/>
              </a:lnSpc>
            </a:pPr>
            <a:endParaRPr lang="en-US" altLang="en-US" b="1" kern="0" spc="-50" dirty="0">
              <a:solidFill>
                <a:srgbClr val="11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1017905" y="3334385"/>
            <a:ext cx="4455795" cy="441325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0">
              <a:lnSpc>
                <a:spcPct val="104000"/>
              </a:lnSpc>
            </a:pPr>
            <a:endParaRPr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rtl="0" eaLnBrk="0">
              <a:lnSpc>
                <a:spcPct val="104000"/>
              </a:lnSpc>
            </a:pPr>
            <a:r>
              <a:rPr b="1" kern="0" spc="-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fwrite(buffer, size,</a:t>
            </a:r>
            <a:r>
              <a:rPr b="1" kern="0" spc="1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b="1" kern="0" spc="-5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count, fp);</a:t>
            </a:r>
            <a:endParaRPr lang="en-US" altLang="en-US" b="1" dirty="0">
              <a:solidFill>
                <a:srgbClr val="1100CC"/>
              </a:solidFill>
            </a:endParaRPr>
          </a:p>
          <a:p>
            <a:pPr algn="ctr" rtl="0" eaLnBrk="0">
              <a:lnSpc>
                <a:spcPct val="104000"/>
              </a:lnSpc>
            </a:pPr>
            <a:endParaRPr lang="en-US" altLang="en-US" b="1" kern="0" spc="-50" dirty="0">
              <a:solidFill>
                <a:srgbClr val="11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1029970" y="4840605"/>
            <a:ext cx="10347325" cy="789305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19380" algn="l" rtl="0" eaLnBrk="0">
              <a:lnSpc>
                <a:spcPct val="98000"/>
              </a:lnSpc>
              <a:spcBef>
                <a:spcPts val="5"/>
              </a:spcBef>
            </a:pPr>
            <a:endParaRPr kern="0" spc="-5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19380" indent="0" algn="l" rtl="0" eaLnBrk="0" fontAlgn="auto">
              <a:lnSpc>
                <a:spcPts val="2600"/>
              </a:lnSpc>
              <a:spcBef>
                <a:spcPts val="0"/>
              </a:spcBef>
            </a:pP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float f[10];</a:t>
            </a:r>
            <a:endParaRPr lang="en-US" altLang="en-US" dirty="0"/>
          </a:p>
          <a:p>
            <a:pPr marL="119380" indent="0" algn="l" rtl="0" eaLnBrk="0" fontAlgn="auto">
              <a:lnSpc>
                <a:spcPts val="2600"/>
              </a:lnSpc>
              <a:spcBef>
                <a:spcPts val="0"/>
              </a:spcBef>
            </a:pP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fread(f,4,10,</a:t>
            </a: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fp);</a:t>
            </a:r>
            <a:r>
              <a:rPr lang="en-US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</a:t>
            </a:r>
            <a:r>
              <a:rPr kern="0" spc="-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//从fp所指向的文件读入10个4个字节</a:t>
            </a:r>
            <a:r>
              <a:rPr kern="0" spc="-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的数据，</a:t>
            </a:r>
            <a:r>
              <a:rPr kern="0" spc="-30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存储到数组f中</a:t>
            </a:r>
            <a:endParaRPr lang="en-US" altLang="en-US" dirty="0"/>
          </a:p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8" name="textbox 9828"/>
          <p:cNvSpPr/>
          <p:nvPr/>
        </p:nvSpPr>
        <p:spPr>
          <a:xfrm>
            <a:off x="499642" y="667657"/>
            <a:ext cx="8876665" cy="9645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98425" algn="l" rtl="0" eaLnBrk="0">
              <a:lnSpc>
                <a:spcPct val="100000"/>
              </a:lnSpc>
            </a:pPr>
            <a:r>
              <a:rPr sz="31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怎样向文件读写一个字</a:t>
            </a: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符串</a:t>
            </a:r>
            <a:endParaRPr lang="en-US" altLang="en-US" sz="3100" dirty="0"/>
          </a:p>
          <a:p>
            <a:pPr algn="l" rtl="0" eaLnBrk="0">
              <a:lnSpc>
                <a:spcPct val="104000"/>
              </a:lnSpc>
            </a:pPr>
            <a:endParaRPr lang="en-US" altLang="en-US" sz="1100" dirty="0"/>
          </a:p>
          <a:p>
            <a:pPr algn="r" rtl="0" eaLnBrk="0">
              <a:lnSpc>
                <a:spcPts val="2300"/>
              </a:lnSpc>
            </a:pPr>
            <a:r>
              <a:rPr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.4】从键盘输入1</a:t>
            </a:r>
            <a:r>
              <a:rPr sz="1900" kern="0" spc="2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0个学生的有关数据，然后把它们转存到磁盘文件上去。</a:t>
            </a:r>
            <a:endParaRPr lang="en-US" altLang="en-US" sz="1900" kern="0" spc="20" dirty="0">
              <a:solidFill>
                <a:srgbClr val="78236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060700" y="1773555"/>
            <a:ext cx="5408930" cy="4696460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16840" algn="l" rtl="0" eaLnBrk="0">
              <a:lnSpc>
                <a:spcPct val="93000"/>
              </a:lnSpc>
              <a:spcBef>
                <a:spcPts val="5"/>
              </a:spcBef>
            </a:pPr>
            <a:endParaRPr sz="13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16840" algn="l" rtl="0" eaLnBrk="0">
              <a:lnSpc>
                <a:spcPct val="93000"/>
              </a:lnSpc>
              <a:spcBef>
                <a:spcPts val="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&lt;stdio.h&gt;</a:t>
            </a:r>
            <a:endParaRPr lang="en-US" altLang="en-US" sz="1300" dirty="0"/>
          </a:p>
          <a:p>
            <a:pPr marL="116840" algn="l" rtl="0" eaLnBrk="0">
              <a:lnSpc>
                <a:spcPts val="2015"/>
              </a:lnSpc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#define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SIZ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endParaRPr lang="en-US" altLang="en-US" sz="1300" dirty="0"/>
          </a:p>
          <a:p>
            <a:pPr marL="115570" algn="l" rtl="0" eaLnBrk="0">
              <a:lnSpc>
                <a:spcPct val="92000"/>
              </a:lnSpc>
              <a:spcBef>
                <a:spcPts val="56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Student_type</a:t>
            </a:r>
            <a:endParaRPr lang="en-US" altLang="en-US" sz="1300" dirty="0"/>
          </a:p>
          <a:p>
            <a:pPr marL="113030" algn="l" rtl="0" eaLnBrk="0">
              <a:lnSpc>
                <a:spcPts val="2015"/>
              </a:lnSpc>
              <a:spcBef>
                <a:spcPts val="20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name[10];</a:t>
            </a:r>
            <a:endParaRPr lang="en-US" altLang="en-US" sz="1300" dirty="0"/>
          </a:p>
          <a:p>
            <a:pPr marL="488950" algn="l" rtl="0" eaLnBrk="0">
              <a:lnSpc>
                <a:spcPts val="1450"/>
              </a:lnSpc>
              <a:spcBef>
                <a:spcPts val="565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num;</a:t>
            </a:r>
            <a:endParaRPr lang="en-US" altLang="en-US" sz="1300" dirty="0"/>
          </a:p>
          <a:p>
            <a:pPr marL="488950" algn="l" rtl="0" eaLnBrk="0">
              <a:lnSpc>
                <a:spcPct val="92000"/>
              </a:lnSpc>
              <a:spcBef>
                <a:spcPts val="565"/>
              </a:spcBef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age;</a:t>
            </a:r>
            <a:endParaRPr lang="en-US" altLang="en-US" sz="1300" dirty="0"/>
          </a:p>
          <a:p>
            <a:pPr marL="483235" algn="l" rtl="0" eaLnBrk="0">
              <a:lnSpc>
                <a:spcPct val="99000"/>
              </a:lnSpc>
              <a:spcBef>
                <a:spcPts val="580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addr[15];</a:t>
            </a:r>
            <a:endParaRPr lang="en-US" altLang="en-US" sz="1300" dirty="0"/>
          </a:p>
          <a:p>
            <a:pPr marL="113030" algn="l" rtl="0" eaLnBrk="0">
              <a:lnSpc>
                <a:spcPct val="99000"/>
              </a:lnSpc>
              <a:spcBef>
                <a:spcPts val="470"/>
              </a:spcBef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SIZE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];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//定义全局结构体数组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，包含10</a:t>
            </a:r>
            <a:r>
              <a:rPr sz="1300" kern="0" spc="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个学生数据</a:t>
            </a:r>
            <a:endParaRPr lang="en-US" altLang="en-US" sz="1300" dirty="0"/>
          </a:p>
          <a:p>
            <a:pPr algn="l" rtl="0" eaLnBrk="0">
              <a:lnSpc>
                <a:spcPct val="174000"/>
              </a:lnSpc>
            </a:pPr>
            <a:endParaRPr lang="en-US" altLang="en-US" sz="1300" dirty="0"/>
          </a:p>
          <a:p>
            <a:pPr marL="112395" algn="l" rtl="0" eaLnBrk="0">
              <a:lnSpc>
                <a:spcPct val="111000"/>
              </a:lnSpc>
              <a:spcBef>
                <a:spcPts val="400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save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()     </a:t>
            </a:r>
            <a:r>
              <a:rPr sz="1300" kern="0" spc="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//定义函数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save</a:t>
            </a:r>
            <a:r>
              <a:rPr sz="1300" kern="0" spc="-20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，向文件输出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SIZE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个学生的数据       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spc="-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1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*fp;</a:t>
            </a:r>
            <a:endParaRPr lang="en-US" altLang="en-US" sz="1300" dirty="0"/>
          </a:p>
          <a:p>
            <a:pPr marL="488950" algn="l" rtl="0" eaLnBrk="0">
              <a:lnSpc>
                <a:spcPts val="1450"/>
              </a:lnSpc>
              <a:spcBef>
                <a:spcPts val="580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i;</a:t>
            </a:r>
            <a:endParaRPr lang="en-US" altLang="en-US" sz="1300" dirty="0"/>
          </a:p>
          <a:p>
            <a:pPr marL="488950" algn="l" rtl="0" eaLnBrk="0">
              <a:lnSpc>
                <a:spcPct val="92000"/>
              </a:lnSpc>
              <a:spcBef>
                <a:spcPts val="570"/>
              </a:spcBef>
            </a:pP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if((fp=fo</a:t>
            </a:r>
            <a:r>
              <a:rPr sz="1300" kern="0" spc="-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pen("stu.dat","wb"))==NULL)  </a:t>
            </a:r>
            <a:r>
              <a:rPr sz="1300"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//打开输出文件stu.dat</a:t>
            </a:r>
            <a:endParaRPr lang="en-US" altLang="en-US" sz="1300" dirty="0"/>
          </a:p>
          <a:p>
            <a:pPr marL="475615" algn="l" rtl="0" eaLnBrk="0">
              <a:lnSpc>
                <a:spcPct val="92000"/>
              </a:lnSpc>
              <a:spcBef>
                <a:spcPts val="585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 prin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tf("cannot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file\n");</a:t>
            </a:r>
            <a:endParaRPr lang="en-US" altLang="en-US" sz="1300" dirty="0"/>
          </a:p>
          <a:p>
            <a:pPr marL="854710" algn="l" rtl="0" eaLnBrk="0">
              <a:lnSpc>
                <a:spcPts val="2015"/>
              </a:lnSpc>
              <a:spcBef>
                <a:spcPts val="10"/>
              </a:spcBef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return;</a:t>
            </a:r>
            <a:endParaRPr lang="en-US" altLang="en-US" sz="1300" dirty="0"/>
          </a:p>
          <a:p>
            <a:pPr marL="476250" algn="l" rtl="0" eaLnBrk="0">
              <a:lnSpc>
                <a:spcPct val="99000"/>
              </a:lnSpc>
              <a:spcBef>
                <a:spcPts val="560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algn="l" rtl="0" eaLnBrk="0">
              <a:lnSpc>
                <a:spcPct val="131000"/>
              </a:lnSpc>
            </a:pPr>
            <a:endParaRPr lang="en-US" altLang="en-US" sz="1300" dirty="0"/>
          </a:p>
          <a:p>
            <a:pPr marL="478790" algn="l" rtl="0" eaLnBrk="0">
              <a:lnSpc>
                <a:spcPct val="99000"/>
              </a:lnSpc>
              <a:spcBef>
                <a:spcPts val="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for(i=0;i&lt;SIZE;i++)</a:t>
            </a:r>
            <a:endParaRPr lang="en-US" altLang="en-US" sz="1300" dirty="0"/>
          </a:p>
          <a:p>
            <a:pPr algn="ctr"/>
            <a:endParaRPr lang="zh-CN" altLang="en-US" sz="130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868285" y="4508500"/>
            <a:ext cx="4324350" cy="2349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8" name="textbox 9828"/>
          <p:cNvSpPr/>
          <p:nvPr/>
        </p:nvSpPr>
        <p:spPr>
          <a:xfrm>
            <a:off x="499642" y="667657"/>
            <a:ext cx="8876665" cy="9645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98425" algn="l" rtl="0" eaLnBrk="0">
              <a:lnSpc>
                <a:spcPct val="100000"/>
              </a:lnSpc>
            </a:pPr>
            <a:r>
              <a:rPr sz="31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怎样向文件读写一个字</a:t>
            </a: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符串</a:t>
            </a:r>
            <a:endParaRPr lang="en-US" altLang="en-US" sz="3100" dirty="0"/>
          </a:p>
          <a:p>
            <a:pPr algn="l" rtl="0" eaLnBrk="0">
              <a:lnSpc>
                <a:spcPct val="104000"/>
              </a:lnSpc>
            </a:pPr>
            <a:endParaRPr lang="en-US" altLang="en-US" sz="1100" dirty="0"/>
          </a:p>
          <a:p>
            <a:pPr algn="r" rtl="0" eaLnBrk="0">
              <a:lnSpc>
                <a:spcPts val="2300"/>
              </a:lnSpc>
            </a:pPr>
            <a:r>
              <a:rPr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.4】从键盘输入1</a:t>
            </a:r>
            <a:r>
              <a:rPr sz="1900" kern="0" spc="2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0个学生的有关数据，然后把它们转存到磁盘文件上去。</a:t>
            </a:r>
            <a:endParaRPr lang="en-US" altLang="en-US" sz="1900" kern="0" spc="20" dirty="0">
              <a:solidFill>
                <a:srgbClr val="78236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060700" y="1773555"/>
            <a:ext cx="5408930" cy="4696460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16840" algn="l" rtl="0" eaLnBrk="0">
              <a:lnSpc>
                <a:spcPct val="93000"/>
              </a:lnSpc>
              <a:spcBef>
                <a:spcPts val="5"/>
              </a:spcBef>
            </a:pPr>
            <a:endParaRPr sz="13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169670" indent="-361950" algn="l" rtl="0" eaLnBrk="0">
              <a:lnSpc>
                <a:spcPct val="111000"/>
              </a:lnSpc>
              <a:spcBef>
                <a:spcPts val="5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</a:t>
            </a:r>
            <a:r>
              <a:rPr sz="1300" kern="0" spc="-30" dirty="0">
                <a:solidFill>
                  <a:srgbClr val="B226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fwrite(&amp;stud[i],sizeof(st</a:t>
            </a:r>
            <a:r>
              <a:rPr sz="1300" kern="0" spc="-40" dirty="0">
                <a:solidFill>
                  <a:srgbClr val="B226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ruct</a:t>
            </a:r>
            <a:r>
              <a:rPr sz="1300" kern="0" spc="150" dirty="0">
                <a:solidFill>
                  <a:srgbClr val="B226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B22600">
                    <a:alpha val="100000"/>
                  </a:srgb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Student_type),1,fp</a:t>
            </a:r>
            <a:r>
              <a:rPr sz="13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)!=1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printf("fil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write error\n");</a:t>
            </a:r>
            <a:endParaRPr lang="en-US" altLang="en-US" sz="1300" dirty="0"/>
          </a:p>
          <a:p>
            <a:pPr marL="431800" algn="l" rtl="0" eaLnBrk="0">
              <a:lnSpc>
                <a:spcPct val="92000"/>
              </a:lnSpc>
              <a:spcBef>
                <a:spcPts val="585"/>
              </a:spcBef>
            </a:pPr>
            <a:r>
              <a:rPr sz="13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fclose(fp);</a:t>
            </a:r>
            <a:endParaRPr lang="en-US" altLang="en-US" sz="1300" dirty="0"/>
          </a:p>
          <a:p>
            <a:pPr marL="66040" algn="l" rtl="0" eaLnBrk="0">
              <a:lnSpc>
                <a:spcPct val="99000"/>
              </a:lnSpc>
              <a:spcBef>
                <a:spcPts val="570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algn="l" rtl="0" eaLnBrk="0">
              <a:lnSpc>
                <a:spcPct val="175000"/>
              </a:lnSpc>
            </a:pPr>
            <a:endParaRPr lang="en-US" altLang="en-US" sz="1300" dirty="0"/>
          </a:p>
          <a:p>
            <a:pPr marL="79375" algn="l" rtl="0" eaLnBrk="0">
              <a:lnSpc>
                <a:spcPct val="93000"/>
              </a:lnSpc>
              <a:spcBef>
                <a:spcPts val="395"/>
              </a:spcBef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main()</a:t>
            </a:r>
            <a:endParaRPr lang="en-US" altLang="en-US" sz="1300" dirty="0"/>
          </a:p>
          <a:p>
            <a:pPr marL="66040" algn="l" rtl="0" eaLnBrk="0">
              <a:lnSpc>
                <a:spcPts val="2015"/>
              </a:lnSpc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i;</a:t>
            </a:r>
            <a:endParaRPr lang="en-US" altLang="en-US" sz="1300" dirty="0"/>
          </a:p>
          <a:p>
            <a:pPr marL="441325" algn="l" rtl="0" eaLnBrk="0">
              <a:lnSpc>
                <a:spcPct val="92000"/>
              </a:lnSpc>
              <a:spcBef>
                <a:spcPts val="570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printf("Please</a:t>
            </a:r>
            <a:r>
              <a:rPr sz="13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enter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of students:\n");</a:t>
            </a:r>
            <a:endParaRPr lang="en-US" altLang="en-US" sz="1300" dirty="0"/>
          </a:p>
          <a:p>
            <a:pPr marL="431800" algn="l" rtl="0" eaLnBrk="0">
              <a:lnSpc>
                <a:spcPts val="2020"/>
              </a:lnSpc>
              <a:spcBef>
                <a:spcPts val="1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for(i=0;i&lt;SIZE;i++)</a:t>
            </a:r>
            <a:endParaRPr lang="en-US" altLang="en-US" sz="1300" dirty="0"/>
          </a:p>
          <a:p>
            <a:pPr marL="427990" algn="l" rtl="0" eaLnBrk="0">
              <a:lnSpc>
                <a:spcPts val="1575"/>
              </a:lnSpc>
              <a:spcBef>
                <a:spcPts val="565"/>
              </a:spcBef>
            </a:pPr>
            <a:r>
              <a:rPr sz="13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//输入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SIZE</a:t>
            </a:r>
            <a:r>
              <a:rPr sz="13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个学生的数据，存放在数组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</a:t>
            </a:r>
            <a:r>
              <a:rPr sz="13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</a:t>
            </a:r>
            <a:endParaRPr lang="en-US" altLang="en-US" sz="1300" dirty="0"/>
          </a:p>
          <a:p>
            <a:pPr marL="431165" algn="l" rtl="0" eaLnBrk="0">
              <a:lnSpc>
                <a:spcPts val="1450"/>
              </a:lnSpc>
              <a:spcBef>
                <a:spcPts val="440"/>
              </a:spcBef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scanf("%s%d%d%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s",stud[i].name,&amp;stud[i].num,</a:t>
            </a:r>
            <a:endParaRPr lang="en-US" altLang="en-US" sz="1300" dirty="0"/>
          </a:p>
          <a:p>
            <a:pPr marL="802640" algn="l" rtl="0" eaLnBrk="0">
              <a:lnSpc>
                <a:spcPts val="2015"/>
              </a:lnSpc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&amp;stud[i].age,s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tud[i].addr);</a:t>
            </a:r>
            <a:endParaRPr lang="en-US" altLang="en-US" sz="1300" dirty="0"/>
          </a:p>
          <a:p>
            <a:pPr marL="431165" algn="l" rtl="0" eaLnBrk="0">
              <a:lnSpc>
                <a:spcPct val="99000"/>
              </a:lnSpc>
              <a:spcBef>
                <a:spcPts val="560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save();</a:t>
            </a:r>
            <a:endParaRPr lang="en-US" altLang="en-US" sz="1300" dirty="0"/>
          </a:p>
          <a:p>
            <a:pPr marL="441325" algn="l" rtl="0" eaLnBrk="0">
              <a:lnSpc>
                <a:spcPts val="1580"/>
              </a:lnSpc>
              <a:spcBef>
                <a:spcPts val="480"/>
              </a:spcBef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</a:t>
            </a:r>
            <a:r>
              <a:rPr sz="13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0;</a:t>
            </a:r>
            <a:endParaRPr lang="en-US" altLang="en-US" sz="1300" dirty="0"/>
          </a:p>
          <a:p>
            <a:pPr algn="l" rtl="0" eaLnBrk="0">
              <a:lnSpc>
                <a:spcPct val="119000"/>
              </a:lnSpc>
            </a:pPr>
            <a:endParaRPr lang="en-US" altLang="en-US" sz="1300" dirty="0"/>
          </a:p>
          <a:p>
            <a:pPr marL="66040" algn="l" rtl="0" eaLnBrk="0">
              <a:lnSpc>
                <a:spcPct val="99000"/>
              </a:lnSpc>
              <a:spcBef>
                <a:spcPts val="0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algn="ctr"/>
            <a:endParaRPr lang="zh-CN" altLang="en-US" sz="1300" dirty="0"/>
          </a:p>
        </p:txBody>
      </p:sp>
      <p:sp>
        <p:nvSpPr>
          <p:cNvPr id="3" name="星形: 七角 2">
            <a:extLst>
              <a:ext uri="{FF2B5EF4-FFF2-40B4-BE49-F238E27FC236}">
                <a16:creationId xmlns:a16="http://schemas.microsoft.com/office/drawing/2014/main" id="{D0C4880A-47B1-4E19-9997-4507D72A1412}"/>
              </a:ext>
            </a:extLst>
          </p:cNvPr>
          <p:cNvSpPr/>
          <p:nvPr/>
        </p:nvSpPr>
        <p:spPr>
          <a:xfrm>
            <a:off x="1237861" y="2245567"/>
            <a:ext cx="926841" cy="1063690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考试考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4" name="textbox 9844"/>
          <p:cNvSpPr/>
          <p:nvPr/>
        </p:nvSpPr>
        <p:spPr>
          <a:xfrm>
            <a:off x="588644" y="1038923"/>
            <a:ext cx="4143375" cy="20154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86995" indent="48895" algn="l" rtl="0" eaLnBrk="0">
              <a:lnSpc>
                <a:spcPct val="118000"/>
              </a:lnSpc>
            </a:pPr>
            <a:r>
              <a:rPr sz="1900" kern="0" spc="2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sz="1900" kern="0" spc="2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900" kern="0" spc="2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.4】从键盘输入10个</a:t>
            </a:r>
            <a:r>
              <a:rPr sz="1900" kern="0" spc="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学生的有 </a:t>
            </a:r>
            <a:r>
              <a:rPr sz="1900" kern="0" spc="9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关数据，然后把它们转存到磁盘</a:t>
            </a:r>
            <a:r>
              <a:rPr sz="1900" kern="0" spc="8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sz="1900" kern="0" spc="-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-5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上去。</a:t>
            </a:r>
            <a:endParaRPr lang="en-US" altLang="en-US" sz="1900" dirty="0">
              <a:solidFill>
                <a:srgbClr val="782367"/>
              </a:solidFill>
            </a:endParaRPr>
          </a:p>
          <a:p>
            <a:pPr algn="l" rtl="0" eaLnBrk="0">
              <a:lnSpc>
                <a:spcPct val="102000"/>
              </a:lnSpc>
            </a:pPr>
            <a:endParaRPr lang="en-US" altLang="en-US" sz="1000" dirty="0"/>
          </a:p>
          <a:p>
            <a:pPr algn="l" rtl="0" eaLnBrk="0">
              <a:lnSpc>
                <a:spcPct val="9000"/>
              </a:lnSpc>
            </a:pPr>
            <a:endParaRPr lang="en-US" altLang="en-US" sz="100" dirty="0"/>
          </a:p>
          <a:p>
            <a:pPr marL="111125" indent="12700" algn="l" rtl="0" eaLnBrk="0">
              <a:lnSpc>
                <a:spcPct val="98000"/>
              </a:lnSpc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为了验证在磁盘文件stu.dat中是否已存  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在此数据，可以用以下程序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从stu.dat文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件中读入数据，然后在屏幕上输出。</a:t>
            </a:r>
            <a:endParaRPr lang="en-US" altLang="en-US" sz="1800" dirty="0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911725" y="93345"/>
            <a:ext cx="7051040" cy="6567170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24460" algn="l" rtl="0" eaLnBrk="0">
              <a:lnSpc>
                <a:spcPct val="93000"/>
              </a:lnSpc>
              <a:spcBef>
                <a:spcPts val="0"/>
              </a:spcBef>
            </a:pPr>
            <a:endParaRPr sz="13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4460" algn="l" rtl="0" eaLnBrk="0">
              <a:lnSpc>
                <a:spcPct val="93000"/>
              </a:lnSpc>
              <a:spcBef>
                <a:spcPts val="0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&lt;stdio.h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</a:t>
            </a:r>
            <a:endParaRPr lang="en-US" altLang="en-US" sz="1300" dirty="0"/>
          </a:p>
          <a:p>
            <a:pPr marL="124460" algn="l" rtl="0" eaLnBrk="0">
              <a:lnSpc>
                <a:spcPts val="2015"/>
              </a:lnSpc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&lt;stdlib.h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</a:t>
            </a:r>
            <a:endParaRPr lang="en-US" altLang="en-US" sz="1300" dirty="0"/>
          </a:p>
          <a:p>
            <a:pPr marL="124460" algn="l" rtl="0" eaLnBrk="0">
              <a:lnSpc>
                <a:spcPts val="2015"/>
              </a:lnSpc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#define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SIZ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endParaRPr lang="en-US" altLang="en-US" sz="1300" dirty="0"/>
          </a:p>
          <a:p>
            <a:pPr marL="123190" algn="l" rtl="0" eaLnBrk="0">
              <a:lnSpc>
                <a:spcPct val="92000"/>
              </a:lnSpc>
              <a:spcBef>
                <a:spcPts val="56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Student_type</a:t>
            </a:r>
            <a:endParaRPr lang="en-US" altLang="en-US" sz="1300" dirty="0"/>
          </a:p>
          <a:p>
            <a:pPr marL="121285" algn="l" rtl="0" eaLnBrk="0">
              <a:lnSpc>
                <a:spcPts val="2015"/>
              </a:lnSpc>
              <a:spcBef>
                <a:spcPts val="20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name[10];</a:t>
            </a:r>
            <a:endParaRPr lang="en-US" altLang="en-US" sz="1300" dirty="0"/>
          </a:p>
          <a:p>
            <a:pPr marL="497205" algn="l" rtl="0" eaLnBrk="0">
              <a:lnSpc>
                <a:spcPct val="93000"/>
              </a:lnSpc>
              <a:spcBef>
                <a:spcPts val="565"/>
              </a:spcBef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num;</a:t>
            </a:r>
            <a:endParaRPr lang="en-US" altLang="en-US" sz="1300" dirty="0"/>
          </a:p>
          <a:p>
            <a:pPr marL="497205" algn="l" rtl="0" eaLnBrk="0">
              <a:lnSpc>
                <a:spcPts val="2020"/>
              </a:lnSpc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age;</a:t>
            </a:r>
            <a:endParaRPr lang="en-US" altLang="en-US" sz="1300" dirty="0"/>
          </a:p>
          <a:p>
            <a:pPr marL="491490" algn="l" rtl="0" eaLnBrk="0">
              <a:lnSpc>
                <a:spcPct val="93000"/>
              </a:lnSpc>
              <a:spcBef>
                <a:spcPts val="56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addr[15];</a:t>
            </a:r>
            <a:endParaRPr lang="en-US" altLang="en-US" sz="1300" dirty="0"/>
          </a:p>
          <a:p>
            <a:pPr marL="121285" algn="l" rtl="0" eaLnBrk="0">
              <a:lnSpc>
                <a:spcPts val="2015"/>
              </a:lnSpc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}stud[SIZE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];</a:t>
            </a:r>
            <a:endParaRPr lang="en-US" altLang="en-US" sz="1300" dirty="0"/>
          </a:p>
          <a:p>
            <a:pPr algn="l" rtl="0" eaLnBrk="0">
              <a:lnSpc>
                <a:spcPct val="182000"/>
              </a:lnSpc>
            </a:pPr>
            <a:endParaRPr lang="en-US" altLang="en-US" sz="1300" dirty="0"/>
          </a:p>
          <a:p>
            <a:pPr marL="134620" algn="l" rtl="0" eaLnBrk="0">
              <a:lnSpc>
                <a:spcPct val="93000"/>
              </a:lnSpc>
              <a:spcBef>
                <a:spcPts val="400"/>
              </a:spcBef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main()</a:t>
            </a:r>
            <a:endParaRPr lang="en-US" altLang="en-US" sz="1300" dirty="0"/>
          </a:p>
          <a:p>
            <a:pPr marL="121285" algn="l" rtl="0" eaLnBrk="0">
              <a:lnSpc>
                <a:spcPts val="2020"/>
              </a:lnSpc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i;</a:t>
            </a:r>
            <a:endParaRPr lang="en-US" altLang="en-US" sz="1300" dirty="0"/>
          </a:p>
          <a:p>
            <a:pPr marL="498475" algn="l" rtl="0" eaLnBrk="0">
              <a:lnSpc>
                <a:spcPct val="92000"/>
              </a:lnSpc>
              <a:spcBef>
                <a:spcPts val="570"/>
              </a:spcBef>
            </a:pPr>
            <a:r>
              <a:rPr sz="1300" kern="0" spc="-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8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*fp;</a:t>
            </a:r>
            <a:endParaRPr lang="en-US" altLang="en-US" sz="1300" dirty="0"/>
          </a:p>
          <a:p>
            <a:pPr marL="497205" algn="l" rtl="0" eaLnBrk="0">
              <a:lnSpc>
                <a:spcPct val="92000"/>
              </a:lnSpc>
              <a:spcBef>
                <a:spcPts val="580"/>
              </a:spcBef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</a:t>
            </a: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(fp=fopen("stu.dat","r</a:t>
            </a:r>
            <a:r>
              <a:rPr sz="1300" kern="0" spc="-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b"))==NULL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   </a:t>
            </a:r>
            <a:r>
              <a:rPr sz="1300"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//打开输入文件stu.dat</a:t>
            </a:r>
            <a:endParaRPr lang="en-US" altLang="en-US" sz="1300" dirty="0"/>
          </a:p>
          <a:p>
            <a:pPr marL="483870" algn="l" rtl="0" eaLnBrk="0">
              <a:lnSpc>
                <a:spcPts val="2015"/>
              </a:lnSpc>
              <a:spcBef>
                <a:spcPts val="1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 prin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tf("cannot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file\n");</a:t>
            </a:r>
            <a:endParaRPr lang="en-US" altLang="en-US" sz="1300" dirty="0"/>
          </a:p>
          <a:p>
            <a:pPr marL="857250" algn="l" rtl="0" eaLnBrk="0">
              <a:lnSpc>
                <a:spcPct val="93000"/>
              </a:lnSpc>
              <a:spcBef>
                <a:spcPts val="56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exit(0);</a:t>
            </a:r>
            <a:endParaRPr lang="en-US" altLang="en-US" sz="1300" dirty="0"/>
          </a:p>
          <a:p>
            <a:pPr marL="483870" algn="l" rtl="0" eaLnBrk="0">
              <a:lnSpc>
                <a:spcPts val="2015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marL="487045" algn="l" rtl="0" eaLnBrk="0">
              <a:lnSpc>
                <a:spcPct val="99000"/>
              </a:lnSpc>
              <a:spcBef>
                <a:spcPts val="56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for(i=0;i&lt;SIZE;i++)</a:t>
            </a:r>
            <a:endParaRPr lang="en-US" altLang="en-US" sz="1300" dirty="0"/>
          </a:p>
          <a:p>
            <a:pPr marL="483870" algn="r" rtl="0" eaLnBrk="0">
              <a:lnSpc>
                <a:spcPct val="111000"/>
              </a:lnSpc>
              <a:spcBef>
                <a:spcPts val="460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</a:t>
            </a: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fread(&amp;stud[i],sizeo</a:t>
            </a: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f(struct</a:t>
            </a:r>
            <a:r>
              <a:rPr sz="1300" kern="0" spc="1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Student_type),1,fp);  </a:t>
            </a:r>
            <a:r>
              <a:rPr sz="1300" kern="0" spc="-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//从fp指向的文件读入一组数据    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printf("%-10s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%4d %4d %</a:t>
            </a:r>
            <a:r>
              <a:rPr sz="13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-15s\n",stud[i].name,stud[i].num,stud[i].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age,stud[i].ad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dr);</a:t>
            </a:r>
            <a:endParaRPr lang="en-US" altLang="en-US" sz="1300" dirty="0"/>
          </a:p>
          <a:p>
            <a:pPr marL="849630" algn="l" rtl="0" eaLnBrk="0">
              <a:lnSpc>
                <a:spcPts val="1575"/>
              </a:lnSpc>
              <a:spcBef>
                <a:spcPts val="585"/>
              </a:spcBef>
            </a:pPr>
            <a:r>
              <a:rPr sz="1300" kern="0" spc="7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//在屏幕上输出这组数据</a:t>
            </a:r>
            <a:endParaRPr lang="en-US" altLang="en-US" sz="1300" dirty="0"/>
          </a:p>
          <a:p>
            <a:pPr marL="483870" algn="l" rtl="0" eaLnBrk="0">
              <a:lnSpc>
                <a:spcPct val="99000"/>
              </a:lnSpc>
              <a:spcBef>
                <a:spcPts val="435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marL="487045" algn="l" rtl="0" eaLnBrk="0">
              <a:lnSpc>
                <a:spcPct val="92000"/>
              </a:lnSpc>
              <a:spcBef>
                <a:spcPts val="475"/>
              </a:spcBef>
            </a:pPr>
            <a:r>
              <a:rPr sz="1300" kern="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fclose(fp);   </a:t>
            </a: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</a:t>
            </a:r>
            <a:r>
              <a:rPr sz="1300" kern="0" spc="-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//关闭文件stu_list</a:t>
            </a:r>
            <a:endParaRPr lang="en-US" altLang="en-US" sz="1300" dirty="0"/>
          </a:p>
          <a:p>
            <a:pPr marL="496570" algn="l" rtl="0" eaLnBrk="0">
              <a:lnSpc>
                <a:spcPct val="93000"/>
              </a:lnSpc>
              <a:spcBef>
                <a:spcPts val="585"/>
              </a:spcBef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</a:t>
            </a:r>
            <a:r>
              <a:rPr sz="13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0;</a:t>
            </a:r>
            <a:endParaRPr lang="en-US" altLang="en-US" sz="1300" dirty="0"/>
          </a:p>
          <a:p>
            <a:pPr marL="121285" algn="l" rtl="0" eaLnBrk="0">
              <a:lnSpc>
                <a:spcPts val="2015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algn="ctr"/>
            <a:endParaRPr lang="zh-CN" altLang="en-US" sz="1300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1320" y="4463415"/>
            <a:ext cx="4330700" cy="2197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2" name="textbox 9852"/>
          <p:cNvSpPr/>
          <p:nvPr/>
        </p:nvSpPr>
        <p:spPr>
          <a:xfrm>
            <a:off x="588644" y="917256"/>
            <a:ext cx="8876665" cy="6629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2300"/>
              </a:lnSpc>
            </a:pPr>
            <a:r>
              <a:rPr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.4】从键盘输入1</a:t>
            </a:r>
            <a:r>
              <a:rPr sz="1900" kern="0" spc="2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0个学生的有关数据，然后把它们转存到磁盘文件上去。</a:t>
            </a:r>
            <a:endParaRPr lang="en-US" altLang="en-US" sz="1900" dirty="0"/>
          </a:p>
          <a:p>
            <a:pPr algn="l" rtl="0" eaLnBrk="0">
              <a:lnSpc>
                <a:spcPct val="102000"/>
              </a:lnSpc>
            </a:pPr>
            <a:endParaRPr lang="en-US" altLang="en-US" sz="700" dirty="0"/>
          </a:p>
          <a:p>
            <a:pPr marL="1245870" algn="l" rtl="0" eaLnBrk="0">
              <a:lnSpc>
                <a:spcPct val="86000"/>
              </a:lnSpc>
              <a:spcBef>
                <a:spcPts val="5"/>
              </a:spcBef>
            </a:pP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从磁盘文件stu_list中读二进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制数据，并存放在stud数组中。</a:t>
            </a:r>
            <a:endParaRPr lang="en-US" altLang="en-US" sz="1800" dirty="0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379470" y="1579880"/>
            <a:ext cx="5434330" cy="4824095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0">
              <a:lnSpc>
                <a:spcPct val="117000"/>
              </a:lnSpc>
            </a:pP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</a:p>
          <a:p>
            <a:pPr algn="l" rtl="0" eaLnBrk="0">
              <a:lnSpc>
                <a:spcPct val="117000"/>
              </a:lnSpc>
            </a:pP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300" kern="0" spc="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&lt;stdio.h&gt;</a:t>
            </a:r>
            <a:endParaRPr lang="en-US" altLang="en-US" sz="1300" dirty="0"/>
          </a:p>
          <a:p>
            <a:pPr marL="116840" algn="l" rtl="0" eaLnBrk="0">
              <a:lnSpc>
                <a:spcPts val="1680"/>
              </a:lnSpc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#define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SIZ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endParaRPr lang="en-US" altLang="en-US" sz="1300" dirty="0"/>
          </a:p>
          <a:p>
            <a:pPr marL="116205" algn="l" rtl="0" eaLnBrk="0">
              <a:lnSpc>
                <a:spcPct val="92000"/>
              </a:lnSpc>
              <a:spcBef>
                <a:spcPts val="22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Student_type</a:t>
            </a:r>
            <a:endParaRPr lang="en-US" altLang="en-US" sz="1300" dirty="0"/>
          </a:p>
          <a:p>
            <a:pPr marL="113665" algn="l" rtl="0" eaLnBrk="0">
              <a:lnSpc>
                <a:spcPts val="1680"/>
              </a:lnSpc>
              <a:spcBef>
                <a:spcPts val="20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name[10];</a:t>
            </a:r>
            <a:endParaRPr lang="en-US" altLang="en-US" sz="1300" dirty="0"/>
          </a:p>
          <a:p>
            <a:pPr marL="489585" algn="l" rtl="0" eaLnBrk="0">
              <a:lnSpc>
                <a:spcPts val="1450"/>
              </a:lnSpc>
              <a:spcBef>
                <a:spcPts val="230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num;</a:t>
            </a:r>
            <a:endParaRPr lang="en-US" altLang="en-US" sz="1300" dirty="0"/>
          </a:p>
          <a:p>
            <a:pPr marL="489585" algn="l" rtl="0" eaLnBrk="0">
              <a:lnSpc>
                <a:spcPct val="92000"/>
              </a:lnSpc>
              <a:spcBef>
                <a:spcPts val="225"/>
              </a:spcBef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age;</a:t>
            </a:r>
            <a:endParaRPr lang="en-US" altLang="en-US" sz="1300" dirty="0"/>
          </a:p>
          <a:p>
            <a:pPr marL="483870" algn="l" rtl="0" eaLnBrk="0">
              <a:lnSpc>
                <a:spcPct val="99000"/>
              </a:lnSpc>
              <a:spcBef>
                <a:spcPts val="24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addr[15];</a:t>
            </a:r>
            <a:endParaRPr lang="en-US" altLang="en-US" sz="1300" dirty="0"/>
          </a:p>
          <a:p>
            <a:pPr marL="113665" algn="l" rtl="0" eaLnBrk="0">
              <a:lnSpc>
                <a:spcPct val="99000"/>
              </a:lnSpc>
              <a:spcBef>
                <a:spcPts val="140"/>
              </a:spcBef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SIZE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];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//定义全局结构体数组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，包含1</a:t>
            </a:r>
            <a:r>
              <a:rPr sz="1300" kern="0" spc="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0个学生数据</a:t>
            </a:r>
            <a:endParaRPr lang="en-US" altLang="en-US" sz="1300" dirty="0"/>
          </a:p>
          <a:p>
            <a:pPr marL="113030" algn="l" rtl="0" eaLnBrk="0">
              <a:lnSpc>
                <a:spcPct val="99000"/>
              </a:lnSpc>
              <a:spcBef>
                <a:spcPts val="135"/>
              </a:spcBef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</a:t>
            </a:r>
            <a:r>
              <a:rPr sz="13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load()</a:t>
            </a:r>
            <a:endParaRPr lang="en-US" altLang="en-US" sz="1300" dirty="0"/>
          </a:p>
          <a:p>
            <a:pPr marL="113665" algn="l" rtl="0" eaLnBrk="0">
              <a:lnSpc>
                <a:spcPct val="92000"/>
              </a:lnSpc>
              <a:spcBef>
                <a:spcPts val="145"/>
              </a:spcBef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spc="-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10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*fp;</a:t>
            </a:r>
            <a:endParaRPr lang="en-US" altLang="en-US" sz="1300" dirty="0"/>
          </a:p>
          <a:p>
            <a:pPr marL="489585" algn="l" rtl="0" eaLnBrk="0">
              <a:lnSpc>
                <a:spcPts val="1680"/>
              </a:lnSpc>
              <a:spcBef>
                <a:spcPts val="10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i;</a:t>
            </a:r>
            <a:endParaRPr lang="en-US" altLang="en-US" sz="1300" dirty="0"/>
          </a:p>
          <a:p>
            <a:pPr marL="476250" indent="12700" algn="l" rtl="0" eaLnBrk="0">
              <a:lnSpc>
                <a:spcPct val="100000"/>
              </a:lnSpc>
              <a:spcBef>
                <a:spcPts val="230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</a:t>
            </a:r>
            <a:r>
              <a:rPr sz="1300" kern="0" spc="-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(fp=fopen("stu_list","rb"))==NULL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/打开输入文件stu_list   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 printf("cannot</a:t>
            </a:r>
            <a:r>
              <a:rPr sz="1300" kern="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</a:t>
            </a:r>
            <a:r>
              <a:rPr sz="13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infile\n");</a:t>
            </a:r>
            <a:endParaRPr lang="en-US" altLang="en-US" sz="1300" dirty="0"/>
          </a:p>
          <a:p>
            <a:pPr marL="854710" algn="l" rtl="0" eaLnBrk="0">
              <a:lnSpc>
                <a:spcPct val="93000"/>
              </a:lnSpc>
              <a:spcBef>
                <a:spcPts val="240"/>
              </a:spcBef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return;</a:t>
            </a:r>
            <a:endParaRPr lang="en-US" altLang="en-US" sz="1300" dirty="0"/>
          </a:p>
          <a:p>
            <a:pPr marL="476885" algn="l" rtl="0" eaLnBrk="0">
              <a:lnSpc>
                <a:spcPts val="168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marL="479425" algn="l" rtl="0" eaLnBrk="0">
              <a:lnSpc>
                <a:spcPct val="99000"/>
              </a:lnSpc>
              <a:spcBef>
                <a:spcPts val="225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for(i=0;i&lt;SIZE;i++)</a:t>
            </a:r>
            <a:endParaRPr lang="en-US" altLang="en-US" sz="1300" dirty="0"/>
          </a:p>
          <a:p>
            <a:pPr marL="855345" algn="l" rtl="0" eaLnBrk="0">
              <a:lnSpc>
                <a:spcPct val="92000"/>
              </a:lnSpc>
              <a:spcBef>
                <a:spcPts val="140"/>
              </a:spcBef>
            </a:pPr>
            <a:r>
              <a:rPr sz="1300" kern="0" spc="-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if(fread(&amp;stud[i],sizeof(struc</a:t>
            </a:r>
            <a:r>
              <a:rPr sz="13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sz="1300" kern="0" spc="16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Student_type),1,fp)!=1)</a:t>
            </a:r>
            <a:endParaRPr lang="en-US" altLang="en-US" sz="1300" dirty="0"/>
          </a:p>
          <a:p>
            <a:pPr marL="842010" algn="l" rtl="0" eaLnBrk="0">
              <a:lnSpc>
                <a:spcPct val="92000"/>
              </a:lnSpc>
              <a:spcBef>
                <a:spcPts val="245"/>
              </a:spcBef>
            </a:pP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//从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_</a:t>
            </a:r>
            <a:r>
              <a:rPr sz="1300" kern="0" spc="1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list</a:t>
            </a:r>
            <a:r>
              <a:rPr sz="1300" kern="0" spc="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文件中读数据</a:t>
            </a:r>
          </a:p>
          <a:p>
            <a:pPr marL="842010" algn="l" rtl="0" eaLnBrk="0">
              <a:lnSpc>
                <a:spcPct val="92000"/>
              </a:lnSpc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 i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f(</a:t>
            </a:r>
            <a:r>
              <a:rPr sz="13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feof(fp)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en-US" sz="1300" dirty="0"/>
          </a:p>
          <a:p>
            <a:pPr marL="1205230" algn="l" rtl="0" eaLnBrk="0">
              <a:lnSpc>
                <a:spcPct val="92000"/>
              </a:lnSpc>
              <a:spcBef>
                <a:spcPts val="24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fclose(fp);</a:t>
            </a:r>
            <a:endParaRPr lang="en-US" altLang="en-US" sz="1300" dirty="0"/>
          </a:p>
          <a:p>
            <a:pPr marL="1583690" algn="l" rtl="0" eaLnBrk="0">
              <a:lnSpc>
                <a:spcPct val="93000"/>
              </a:lnSpc>
              <a:spcBef>
                <a:spcPts val="240"/>
              </a:spcBef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return;</a:t>
            </a:r>
            <a:endParaRPr lang="en-US" altLang="en-US" sz="1300" dirty="0"/>
          </a:p>
          <a:p>
            <a:pPr marL="1205230" algn="l" rtl="0" eaLnBrk="0">
              <a:lnSpc>
                <a:spcPts val="168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algn="ctr"/>
            <a:endParaRPr lang="zh-CN" alt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2" name="textbox 9852"/>
          <p:cNvSpPr/>
          <p:nvPr/>
        </p:nvSpPr>
        <p:spPr>
          <a:xfrm>
            <a:off x="588644" y="917256"/>
            <a:ext cx="8876665" cy="6629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2300"/>
              </a:lnSpc>
            </a:pPr>
            <a:r>
              <a:rPr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900" kern="0" spc="3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.4】从键盘输入1</a:t>
            </a:r>
            <a:r>
              <a:rPr sz="1900" kern="0" spc="2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0个学生的有关数据，然后把它们转存到磁盘文件上去。</a:t>
            </a:r>
            <a:endParaRPr lang="en-US" altLang="en-US" sz="1900" dirty="0"/>
          </a:p>
          <a:p>
            <a:pPr algn="l" rtl="0" eaLnBrk="0">
              <a:lnSpc>
                <a:spcPct val="102000"/>
              </a:lnSpc>
            </a:pPr>
            <a:endParaRPr lang="en-US" altLang="en-US" sz="700" dirty="0"/>
          </a:p>
          <a:p>
            <a:pPr marL="1245870" algn="l" rtl="0" eaLnBrk="0">
              <a:lnSpc>
                <a:spcPct val="86000"/>
              </a:lnSpc>
              <a:spcBef>
                <a:spcPts val="5"/>
              </a:spcBef>
            </a:pP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从磁盘文件stu_list中读二进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制数据，并存放在stud数组中。</a:t>
            </a:r>
            <a:endParaRPr lang="en-US" altLang="en-US" sz="1800" dirty="0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379470" y="1579880"/>
            <a:ext cx="5434330" cy="4824095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407795" algn="l" rtl="0" eaLnBrk="0">
              <a:lnSpc>
                <a:spcPct val="92000"/>
              </a:lnSpc>
              <a:spcBef>
                <a:spcPts val="5"/>
              </a:spcBef>
            </a:pP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</a:p>
          <a:p>
            <a:pPr marL="1407795" algn="l" rtl="0" eaLnBrk="0">
              <a:lnSpc>
                <a:spcPct val="92000"/>
              </a:lnSpc>
              <a:spcBef>
                <a:spcPts val="5"/>
              </a:spcBef>
            </a:pPr>
            <a:endParaRPr lang="en-US" sz="13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407795" algn="l" rtl="0" eaLnBrk="0">
              <a:lnSpc>
                <a:spcPct val="92000"/>
              </a:lnSpc>
              <a:spcBef>
                <a:spcPts val="5"/>
              </a:spcBef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printf("file</a:t>
            </a:r>
            <a:r>
              <a:rPr sz="1200" kern="0" spc="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read error\n");</a:t>
            </a:r>
            <a:endParaRPr lang="en-US" altLang="en-US" sz="1200" dirty="0"/>
          </a:p>
          <a:p>
            <a:pPr marL="1032510" algn="l" rtl="0" eaLnBrk="0">
              <a:lnSpc>
                <a:spcPts val="1680"/>
              </a:lnSpc>
              <a:spcBef>
                <a:spcPts val="10"/>
              </a:spcBef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200" dirty="0"/>
          </a:p>
          <a:p>
            <a:pPr marL="669925" algn="l" rtl="0" eaLnBrk="0">
              <a:lnSpc>
                <a:spcPct val="92000"/>
              </a:lnSpc>
              <a:spcBef>
                <a:spcPts val="235"/>
              </a:spcBef>
            </a:pPr>
            <a:r>
              <a:rPr sz="12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fclose(fp);</a:t>
            </a:r>
          </a:p>
          <a:p>
            <a:pPr indent="0" algn="l" rtl="0" eaLnBrk="0" fontAlgn="auto">
              <a:lnSpc>
                <a:spcPct val="92000"/>
              </a:lnSpc>
              <a:spcBef>
                <a:spcPts val="200"/>
              </a:spcBef>
            </a:pPr>
            <a:r>
              <a:rPr lang="en-US" sz="1200" kern="0" spc="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}</a:t>
            </a:r>
          </a:p>
          <a:p>
            <a:pPr indent="0" algn="l" rtl="0" eaLnBrk="0" fontAlgn="auto">
              <a:lnSpc>
                <a:spcPct val="92000"/>
              </a:lnSpc>
              <a:spcBef>
                <a:spcPts val="200"/>
              </a:spcBef>
            </a:pPr>
            <a:r>
              <a:rPr lang="en-US" sz="1200" kern="0" spc="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void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save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()     </a:t>
            </a:r>
            <a:r>
              <a:rPr sz="12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//定义函数</a:t>
            </a:r>
            <a:r>
              <a:rPr sz="12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save</a:t>
            </a:r>
            <a:r>
              <a:rPr sz="1200" kern="0" spc="-20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，向文件输出</a:t>
            </a:r>
            <a:r>
              <a:rPr sz="12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SIZE</a:t>
            </a:r>
            <a:r>
              <a:rPr sz="12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个学生的数</a:t>
            </a:r>
            <a:r>
              <a:rPr sz="1200" kern="0" spc="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据</a:t>
            </a:r>
            <a:endParaRPr lang="en-US" altLang="en-US" sz="1200" dirty="0"/>
          </a:p>
          <a:p>
            <a:pPr marL="304165" algn="l" rtl="0" eaLnBrk="0">
              <a:lnSpc>
                <a:spcPct val="92000"/>
              </a:lnSpc>
              <a:spcBef>
                <a:spcPts val="390"/>
              </a:spcBef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200" kern="0" spc="-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200" kern="0" spc="10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*fp;</a:t>
            </a:r>
            <a:endParaRPr lang="en-US" altLang="en-US" sz="1200" dirty="0"/>
          </a:p>
          <a:p>
            <a:pPr marL="680085" algn="l" rtl="0" eaLnBrk="0">
              <a:lnSpc>
                <a:spcPts val="1450"/>
              </a:lnSpc>
              <a:spcBef>
                <a:spcPts val="240"/>
              </a:spcBef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i;</a:t>
            </a:r>
            <a:endParaRPr lang="en-US" altLang="en-US" sz="1200" dirty="0"/>
          </a:p>
          <a:p>
            <a:pPr marL="680085" algn="l" rtl="0" eaLnBrk="0">
              <a:lnSpc>
                <a:spcPct val="92000"/>
              </a:lnSpc>
              <a:spcBef>
                <a:spcPts val="235"/>
              </a:spcBef>
            </a:pPr>
            <a:r>
              <a:rPr sz="12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if((fp=fo</a:t>
            </a:r>
            <a:r>
              <a:rPr sz="1200" kern="0" spc="-2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pen("stu.dat","wb"))==NULL)  </a:t>
            </a:r>
            <a:r>
              <a:rPr sz="1200"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//打开输出文件stu.dat</a:t>
            </a:r>
            <a:endParaRPr lang="en-US" altLang="en-US" sz="1200" dirty="0"/>
          </a:p>
          <a:p>
            <a:pPr marL="666750" algn="l" rtl="0" eaLnBrk="0">
              <a:lnSpc>
                <a:spcPct val="92000"/>
              </a:lnSpc>
              <a:spcBef>
                <a:spcPts val="245"/>
              </a:spcBef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 prin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tf("cannot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file\n");</a:t>
            </a:r>
            <a:endParaRPr lang="en-US" altLang="en-US" sz="1200" dirty="0"/>
          </a:p>
          <a:p>
            <a:pPr marL="1045210" algn="l" rtl="0" eaLnBrk="0">
              <a:lnSpc>
                <a:spcPts val="1680"/>
              </a:lnSpc>
              <a:spcBef>
                <a:spcPts val="10"/>
              </a:spcBef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return;</a:t>
            </a:r>
            <a:endParaRPr lang="en-US" altLang="en-US" sz="1200" dirty="0"/>
          </a:p>
          <a:p>
            <a:pPr marL="666750" algn="l" rtl="0" eaLnBrk="0">
              <a:lnSpc>
                <a:spcPct val="99000"/>
              </a:lnSpc>
              <a:spcBef>
                <a:spcPts val="225"/>
              </a:spcBef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200" dirty="0"/>
          </a:p>
          <a:p>
            <a:pPr marL="669925" algn="l" rtl="0" eaLnBrk="0">
              <a:lnSpc>
                <a:spcPct val="99000"/>
              </a:lnSpc>
              <a:spcBef>
                <a:spcPts val="135"/>
              </a:spcBef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for(i=0;i&lt;SIZE;i++)</a:t>
            </a:r>
            <a:endParaRPr lang="en-US" altLang="en-US" sz="1200" dirty="0"/>
          </a:p>
          <a:p>
            <a:pPr marL="1045845" algn="l" rtl="0" eaLnBrk="0">
              <a:lnSpc>
                <a:spcPct val="92000"/>
              </a:lnSpc>
              <a:spcBef>
                <a:spcPts val="135"/>
              </a:spcBef>
            </a:pPr>
            <a:r>
              <a:rPr sz="1200" kern="0" spc="-3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if(fwrite(&amp;stud[i],sizeof(s</a:t>
            </a:r>
            <a:r>
              <a:rPr sz="12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truct</a:t>
            </a:r>
            <a:r>
              <a:rPr sz="1200" kern="0" spc="15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Student_type),1,fp)!=1)</a:t>
            </a:r>
            <a:endParaRPr lang="en-US" altLang="en-US" sz="1200" dirty="0"/>
          </a:p>
          <a:p>
            <a:pPr marL="1407795" algn="l" rtl="0" eaLnBrk="0">
              <a:lnSpc>
                <a:spcPct val="92000"/>
              </a:lnSpc>
              <a:spcBef>
                <a:spcPts val="255"/>
              </a:spcBef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printf("fil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write error\n");</a:t>
            </a:r>
            <a:endParaRPr lang="en-US" altLang="en-US" sz="1200" dirty="0"/>
          </a:p>
          <a:p>
            <a:pPr marL="669925" algn="l" rtl="0" eaLnBrk="0">
              <a:lnSpc>
                <a:spcPct val="92000"/>
              </a:lnSpc>
              <a:spcBef>
                <a:spcPts val="245"/>
              </a:spcBef>
            </a:pPr>
            <a:r>
              <a:rPr sz="12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fclose(fp);</a:t>
            </a:r>
            <a:endParaRPr lang="en-US" altLang="en-US" sz="1200" dirty="0"/>
          </a:p>
          <a:p>
            <a:pPr marL="304165" algn="l" rtl="0" eaLnBrk="0">
              <a:lnSpc>
                <a:spcPct val="99000"/>
              </a:lnSpc>
              <a:spcBef>
                <a:spcPts val="235"/>
              </a:spcBef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200" dirty="0"/>
          </a:p>
          <a:p>
            <a:pPr algn="l" rtl="0" eaLnBrk="0">
              <a:lnSpc>
                <a:spcPct val="133000"/>
              </a:lnSpc>
            </a:pPr>
            <a:r>
              <a:rPr lang="en-US"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200" kern="0" spc="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main()</a:t>
            </a:r>
            <a:r>
              <a:rPr sz="12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	</a:t>
            </a:r>
          </a:p>
          <a:p>
            <a:pPr algn="l" rtl="0" eaLnBrk="0">
              <a:lnSpc>
                <a:spcPct val="133000"/>
              </a:lnSpc>
            </a:pPr>
            <a:r>
              <a:rPr lang="en-US"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2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i;</a:t>
            </a:r>
            <a:r>
              <a:rPr sz="12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		</a:t>
            </a:r>
          </a:p>
          <a:p>
            <a:pPr algn="l" rtl="0" eaLnBrk="0">
              <a:lnSpc>
                <a:spcPct val="133000"/>
              </a:lnSpc>
            </a:pPr>
            <a:r>
              <a:rPr sz="12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sz="12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load();</a:t>
            </a:r>
            <a:endParaRPr lang="en-US" altLang="en-US" sz="1200" dirty="0"/>
          </a:p>
          <a:p>
            <a:pPr marL="669290" algn="l" rtl="0" eaLnBrk="0">
              <a:lnSpc>
                <a:spcPct val="99000"/>
              </a:lnSpc>
              <a:spcBef>
                <a:spcPts val="390"/>
              </a:spcBef>
            </a:pPr>
            <a:r>
              <a:rPr lang="en-US" sz="12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save();</a:t>
            </a:r>
            <a:endParaRPr lang="en-US" altLang="en-US" sz="1200" dirty="0"/>
          </a:p>
          <a:p>
            <a:pPr marL="679450" algn="l" rtl="0" eaLnBrk="0">
              <a:lnSpc>
                <a:spcPts val="1580"/>
              </a:lnSpc>
              <a:spcBef>
                <a:spcPts val="145"/>
              </a:spcBef>
            </a:pPr>
            <a:r>
              <a:rPr lang="en-US" sz="12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0;</a:t>
            </a:r>
          </a:p>
          <a:p>
            <a:pPr marL="679450" algn="l" rtl="0" eaLnBrk="0">
              <a:lnSpc>
                <a:spcPts val="1580"/>
              </a:lnSpc>
              <a:spcBef>
                <a:spcPts val="145"/>
              </a:spcBef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200" dirty="0"/>
          </a:p>
          <a:p>
            <a:pPr algn="l" rtl="0" eaLnBrk="0">
              <a:lnSpc>
                <a:spcPct val="117000"/>
              </a:lnSpc>
            </a:pPr>
            <a:endParaRPr lang="zh-CN" alt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6" name="textbox 9876"/>
          <p:cNvSpPr/>
          <p:nvPr/>
        </p:nvSpPr>
        <p:spPr>
          <a:xfrm>
            <a:off x="677532" y="1503172"/>
            <a:ext cx="10876915" cy="45421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3000"/>
              </a:lnSpc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 数据的存储方式</a:t>
            </a:r>
            <a:endParaRPr lang="en-US" altLang="en-US" sz="1800" dirty="0"/>
          </a:p>
          <a:p>
            <a:pPr marL="757555" indent="-287020" algn="l" rtl="0" eaLnBrk="0">
              <a:lnSpc>
                <a:spcPct val="107000"/>
              </a:lnSpc>
              <a:spcBef>
                <a:spcPts val="615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文本方式:  数据以字符方式(ASCII代码)存储到文件中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。如整数12，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送到文件时占2个字节，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而不是4个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字节</a:t>
            </a:r>
            <a:r>
              <a:rPr sz="18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800" kern="0" spc="-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以文本方式保存的数据便于阅读。</a:t>
            </a:r>
            <a:endParaRPr lang="en-US" altLang="en-US" sz="1800" dirty="0"/>
          </a:p>
          <a:p>
            <a:pPr marL="753110" indent="-282575" algn="l" rtl="0" eaLnBrk="0">
              <a:lnSpc>
                <a:spcPct val="108000"/>
              </a:lnSpc>
              <a:spcBef>
                <a:spcPts val="53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二进制方式:  数据按在内存的存储状态原封不动地复制到文件</a:t>
            </a:r>
            <a:r>
              <a:rPr sz="18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。如整数12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送到文件时和在内存中一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样占4个字节。</a:t>
            </a:r>
            <a:endParaRPr lang="en-US" altLang="en-US" sz="1800" dirty="0"/>
          </a:p>
          <a:p>
            <a:pPr marL="12700" algn="l" rtl="0" eaLnBrk="0">
              <a:lnSpc>
                <a:spcPct val="93000"/>
              </a:lnSpc>
              <a:spcBef>
                <a:spcPts val="520"/>
              </a:spcBef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 文件的分类</a:t>
            </a:r>
            <a:endParaRPr lang="en-US" altLang="en-US" sz="1800" dirty="0"/>
          </a:p>
          <a:p>
            <a:pPr marL="470535" algn="l" rtl="0" eaLnBrk="0">
              <a:lnSpc>
                <a:spcPct val="93000"/>
              </a:lnSpc>
              <a:spcBef>
                <a:spcPts val="585"/>
              </a:spcBef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 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文本文件(ASCII文件):   文件中全部为AS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CII字符。</a:t>
            </a:r>
            <a:endParaRPr lang="en-US" altLang="en-US" sz="1800" dirty="0"/>
          </a:p>
          <a:p>
            <a:pPr marL="12700" indent="457835" algn="l" rtl="0" eaLnBrk="0">
              <a:lnSpc>
                <a:spcPct val="106000"/>
              </a:lnSpc>
              <a:spcBef>
                <a:spcPts val="610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二进制文件: 按二进制方式把在内存中的数据复制到文件的，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称为二进制文件，</a:t>
            </a:r>
            <a:r>
              <a:rPr sz="18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即映像文件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             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 文件的打开方式</a:t>
            </a:r>
            <a:endParaRPr lang="en-US" altLang="en-US" sz="1800" dirty="0"/>
          </a:p>
          <a:p>
            <a:pPr marL="470535" algn="l" rtl="0" eaLnBrk="0">
              <a:lnSpc>
                <a:spcPct val="95000"/>
              </a:lnSpc>
              <a:spcBef>
                <a:spcPts val="60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文本方式: 不带b的方式，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读写文件时对换行符进行转换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800" dirty="0"/>
          </a:p>
          <a:p>
            <a:pPr marL="470535" algn="l" rtl="0" eaLnBrk="0">
              <a:lnSpc>
                <a:spcPct val="87000"/>
              </a:lnSpc>
              <a:spcBef>
                <a:spcPts val="53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二进制方式: 带b的方式，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读写文件时对换行符不进行转换。</a:t>
            </a:r>
            <a:endParaRPr lang="en-US" altLang="en-US" sz="1800" dirty="0"/>
          </a:p>
          <a:p>
            <a:pPr marL="12700" algn="l" rtl="0" eaLnBrk="0">
              <a:lnSpc>
                <a:spcPts val="2595"/>
              </a:lnSpc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(4) 文件读写函数</a:t>
            </a:r>
            <a:endParaRPr lang="en-US" altLang="en-US" sz="1800" dirty="0"/>
          </a:p>
          <a:p>
            <a:pPr marL="470535" algn="l" rtl="0" eaLnBrk="0">
              <a:lnSpc>
                <a:spcPct val="86000"/>
              </a:lnSpc>
              <a:spcBef>
                <a:spcPts val="710"/>
              </a:spcBef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 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文本读写函数: 用来向文本文件读写字符数据的函数（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如fgetc，</a:t>
            </a:r>
            <a:r>
              <a:rPr sz="1800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fgets,fputc,fputs,fscanf,fprintf等）</a:t>
            </a:r>
            <a:r>
              <a:rPr sz="1800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800" dirty="0"/>
          </a:p>
          <a:p>
            <a:pPr algn="l" rtl="0" eaLnBrk="0">
              <a:lnSpc>
                <a:spcPct val="102000"/>
              </a:lnSpc>
            </a:pPr>
            <a:endParaRPr lang="en-US" altLang="en-US" sz="600" dirty="0"/>
          </a:p>
          <a:p>
            <a:pPr marL="470535" algn="l" rtl="0" eaLnBrk="0">
              <a:lnSpc>
                <a:spcPct val="86000"/>
              </a:lnSpc>
              <a:spcBef>
                <a:spcPts val="0"/>
              </a:spcBef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 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二进制读写函数: 用来向二进制文件读写二进制数据的函数（如getw,putw,fread,fw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rite等）</a:t>
            </a:r>
            <a:r>
              <a:rPr sz="1800" kern="0" spc="-3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800" dirty="0"/>
          </a:p>
        </p:txBody>
      </p:sp>
      <p:sp>
        <p:nvSpPr>
          <p:cNvPr id="9878" name="textbox 9878"/>
          <p:cNvSpPr/>
          <p:nvPr/>
        </p:nvSpPr>
        <p:spPr>
          <a:xfrm>
            <a:off x="693312" y="818527"/>
            <a:ext cx="4882515" cy="4978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怎样向文件读写一个字符串</a:t>
            </a:r>
            <a:endParaRPr lang="en-US" altLang="en-US" sz="3100" dirty="0"/>
          </a:p>
        </p:txBody>
      </p:sp>
      <p:sp>
        <p:nvSpPr>
          <p:cNvPr id="9880" name="path"/>
          <p:cNvSpPr/>
          <p:nvPr/>
        </p:nvSpPr>
        <p:spPr>
          <a:xfrm>
            <a:off x="594170" y="1368044"/>
            <a:ext cx="11028679" cy="25400"/>
          </a:xfrm>
          <a:custGeom>
            <a:avLst/>
            <a:gdLst/>
            <a:ahLst/>
            <a:cxnLst/>
            <a:rect l="0" t="0" r="0" b="0"/>
            <a:pathLst>
              <a:path w="17367" h="40">
                <a:moveTo>
                  <a:pt x="20" y="20"/>
                </a:moveTo>
                <a:lnTo>
                  <a:pt x="17347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82" name="path"/>
          <p:cNvSpPr/>
          <p:nvPr/>
        </p:nvSpPr>
        <p:spPr>
          <a:xfrm>
            <a:off x="594170" y="6220459"/>
            <a:ext cx="11028679" cy="25400"/>
          </a:xfrm>
          <a:custGeom>
            <a:avLst/>
            <a:gdLst/>
            <a:ahLst/>
            <a:cxnLst/>
            <a:rect l="0" t="0" r="0" b="0"/>
            <a:pathLst>
              <a:path w="17367" h="40">
                <a:moveTo>
                  <a:pt x="20" y="20"/>
                </a:moveTo>
                <a:lnTo>
                  <a:pt x="17347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2185000" y="446405"/>
            <a:ext cx="7823200" cy="2432051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随机读写数据文件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32400" y="3136069"/>
            <a:ext cx="113284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31" y="246671"/>
            <a:ext cx="573807" cy="57380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86" name="table 9886"/>
          <p:cNvGraphicFramePr>
            <a:graphicFrameLocks noGrp="1"/>
          </p:cNvGraphicFramePr>
          <p:nvPr/>
        </p:nvGraphicFramePr>
        <p:xfrm>
          <a:off x="2296931" y="2918261"/>
          <a:ext cx="7595235" cy="2210435"/>
        </p:xfrm>
        <a:graphic>
          <a:graphicData uri="http://schemas.openxmlformats.org/drawingml/2006/table">
            <a:tbl>
              <a:tblPr>
                <a:solidFill>
                  <a:srgbClr val="F2F2F2"/>
                </a:solidFill>
              </a:tblPr>
              <a:tblGrid>
                <a:gridCol w="7595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10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187960" algn="l" rtl="0" eaLnBrk="0">
                        <a:lnSpc>
                          <a:spcPct val="87000"/>
                        </a:lnSpc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对文件进行顺序读写比较容易理解，也容易操作，但有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时效率不高。而</a:t>
                      </a:r>
                      <a:endParaRPr lang="en-US" altLang="en-US" sz="1800" dirty="0"/>
                    </a:p>
                    <a:p>
                      <a:pPr marL="184150" indent="15240" algn="l" rtl="0" eaLnBrk="0">
                        <a:lnSpc>
                          <a:spcPct val="154000"/>
                        </a:lnSpc>
                        <a:spcBef>
                          <a:spcPts val="0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随机访问不是按数据在文件中的物理位置次序进行读写，而是可以对任      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何位置上的数据进行访问，显然这种方法比顺序访问效率高得多。</a:t>
                      </a:r>
                      <a:endParaRPr lang="en-US" altLang="en-US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888" name="rect"/>
          <p:cNvSpPr/>
          <p:nvPr/>
        </p:nvSpPr>
        <p:spPr>
          <a:xfrm>
            <a:off x="318" y="2218944"/>
            <a:ext cx="12192000" cy="505967"/>
          </a:xfrm>
          <a:prstGeom prst="rect">
            <a:avLst/>
          </a:prstGeom>
          <a:solidFill>
            <a:srgbClr val="782367"/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0" name="textbox 9890"/>
          <p:cNvSpPr/>
          <p:nvPr/>
        </p:nvSpPr>
        <p:spPr>
          <a:xfrm>
            <a:off x="631061" y="1252481"/>
            <a:ext cx="11039475" cy="19329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21590" algn="l" rtl="0" eaLnBrk="0">
              <a:lnSpc>
                <a:spcPct val="96000"/>
              </a:lnSpc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文件位置标记</a:t>
            </a:r>
            <a:endParaRPr lang="en-US" altLang="en-US" sz="1800" dirty="0"/>
          </a:p>
          <a:p>
            <a:pPr marL="12700" indent="12700" algn="l" rtl="0" eaLnBrk="0">
              <a:lnSpc>
                <a:spcPct val="108000"/>
              </a:lnSpc>
              <a:spcBef>
                <a:spcPts val="510"/>
              </a:spcBef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为了对读写进行控制，</a:t>
            </a:r>
            <a:r>
              <a:rPr sz="18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系统为每个文件设置了一个</a:t>
            </a:r>
            <a:r>
              <a:rPr sz="18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文件读写位置标记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(简称文件位置标记或文件标记)，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用来   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指示“接下来要读写的下一个字符的位置”。</a:t>
            </a:r>
            <a:endParaRPr lang="en-US" altLang="en-US" sz="1800" dirty="0"/>
          </a:p>
          <a:p>
            <a:pPr marL="13970" indent="3810" algn="l" rtl="0" eaLnBrk="0">
              <a:lnSpc>
                <a:spcPct val="112000"/>
              </a:lnSpc>
              <a:spcBef>
                <a:spcPts val="510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一般情况下，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在对字符文件进行顺序读写时，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文件位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置标记指向文件开头，</a:t>
            </a:r>
            <a:r>
              <a:rPr sz="18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这时如果对文件进行读/写的操作，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就读/写完第1个字符后，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文件位置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标记顺序向后移一个位置，</a:t>
            </a:r>
            <a:r>
              <a:rPr sz="18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在下一次执行读/写操作时，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就将位置标记指向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的第2个字符进行读出或写入</a:t>
            </a:r>
            <a:r>
              <a:rPr sz="18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。依此类推，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直到遇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文件尾</a:t>
            </a:r>
            <a:r>
              <a:rPr sz="1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，，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此时文件位置标记在最后一个数据之后。</a:t>
            </a:r>
            <a:endParaRPr lang="en-US" altLang="en-US" sz="1800" dirty="0"/>
          </a:p>
        </p:txBody>
      </p:sp>
      <p:sp>
        <p:nvSpPr>
          <p:cNvPr id="9892" name="textbox 9892"/>
          <p:cNvSpPr/>
          <p:nvPr/>
        </p:nvSpPr>
        <p:spPr>
          <a:xfrm>
            <a:off x="631977" y="4545845"/>
            <a:ext cx="10887075" cy="16033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15000"/>
              </a:lnSpc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对流式文件既可以进行顺序读写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也可以进行随机读写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。关键在于控制文件的位置标记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。如果文件位置标记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是按字节位置顺序移动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的，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就是顺序读写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。如果能将文件位置标记按需要移动到任意位置，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就可以实现随机 读写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。所谓随机读写，</a:t>
            </a:r>
            <a:r>
              <a:rPr sz="18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是指读写完上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一个字符（字节）</a:t>
            </a:r>
            <a:r>
              <a:rPr sz="1800" kern="0" spc="-3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后，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并不一定要读写其后续的字符（字节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而可以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读写文件中任意位置上所需要的字符（字节）</a:t>
            </a:r>
            <a:r>
              <a:rPr sz="18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。即对文件读写数据的顺序和数据在文件中的物理顺序一般是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不一致的</a:t>
            </a:r>
            <a:r>
              <a:rPr sz="18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。可以在任何位置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写入数据，</a:t>
            </a:r>
            <a:r>
              <a:rPr sz="18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在任何位置读取数据。</a:t>
            </a:r>
            <a:endParaRPr lang="en-US" altLang="en-US" sz="1800" dirty="0"/>
          </a:p>
        </p:txBody>
      </p:sp>
      <p:graphicFrame>
        <p:nvGraphicFramePr>
          <p:cNvPr id="9894" name="table 9894"/>
          <p:cNvGraphicFramePr>
            <a:graphicFrameLocks noGrp="1"/>
          </p:cNvGraphicFramePr>
          <p:nvPr/>
        </p:nvGraphicFramePr>
        <p:xfrm>
          <a:off x="2094928" y="3232277"/>
          <a:ext cx="8140065" cy="375920"/>
        </p:xfrm>
        <a:graphic>
          <a:graphicData uri="http://schemas.openxmlformats.org/drawingml/2006/table">
            <a:tbl>
              <a:tblPr>
                <a:solidFill>
                  <a:srgbClr val="FBE9E8"/>
                </a:solidFill>
              </a:tblPr>
              <a:tblGrid>
                <a:gridCol w="39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9306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896" name="textbox 9896"/>
          <p:cNvSpPr/>
          <p:nvPr/>
        </p:nvSpPr>
        <p:spPr>
          <a:xfrm>
            <a:off x="650841" y="568210"/>
            <a:ext cx="4073525" cy="4984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文件位置标记及其定位</a:t>
            </a:r>
            <a:endParaRPr lang="en-US" altLang="en-US" sz="3100" dirty="0"/>
          </a:p>
        </p:txBody>
      </p:sp>
      <p:sp>
        <p:nvSpPr>
          <p:cNvPr id="9898" name="path"/>
          <p:cNvSpPr/>
          <p:nvPr/>
        </p:nvSpPr>
        <p:spPr>
          <a:xfrm>
            <a:off x="551498" y="1118108"/>
            <a:ext cx="11028679" cy="25400"/>
          </a:xfrm>
          <a:custGeom>
            <a:avLst/>
            <a:gdLst/>
            <a:ahLst/>
            <a:cxnLst/>
            <a:rect l="0" t="0" r="0" b="0"/>
            <a:pathLst>
              <a:path w="17367" h="40">
                <a:moveTo>
                  <a:pt x="20" y="20"/>
                </a:moveTo>
                <a:lnTo>
                  <a:pt x="17347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900" name="path"/>
          <p:cNvSpPr/>
          <p:nvPr/>
        </p:nvSpPr>
        <p:spPr>
          <a:xfrm>
            <a:off x="551498" y="6406388"/>
            <a:ext cx="11028679" cy="25400"/>
          </a:xfrm>
          <a:custGeom>
            <a:avLst/>
            <a:gdLst/>
            <a:ahLst/>
            <a:cxnLst/>
            <a:rect l="0" t="0" r="0" b="0"/>
            <a:pathLst>
              <a:path w="17367" h="40">
                <a:moveTo>
                  <a:pt x="20" y="20"/>
                </a:moveTo>
                <a:lnTo>
                  <a:pt x="17347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902" name="textbox 9902"/>
          <p:cNvSpPr/>
          <p:nvPr/>
        </p:nvSpPr>
        <p:spPr>
          <a:xfrm>
            <a:off x="4511615" y="4036628"/>
            <a:ext cx="1078230" cy="2266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80"/>
              </a:lnSpc>
            </a:pPr>
            <a:r>
              <a:rPr sz="1300" kern="0" spc="70" dirty="0">
                <a:solidFill>
                  <a:srgbClr val="E84C2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读写当前位置</a:t>
            </a:r>
            <a:endParaRPr lang="en-US" altLang="en-US" sz="1300" dirty="0"/>
          </a:p>
        </p:txBody>
      </p:sp>
      <p:sp>
        <p:nvSpPr>
          <p:cNvPr id="9904" name="textbox 9904"/>
          <p:cNvSpPr/>
          <p:nvPr/>
        </p:nvSpPr>
        <p:spPr>
          <a:xfrm>
            <a:off x="9608817" y="4036628"/>
            <a:ext cx="545465" cy="2273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85"/>
              </a:lnSpc>
            </a:pPr>
            <a:r>
              <a:rPr sz="1300" kern="0" spc="60" dirty="0">
                <a:solidFill>
                  <a:srgbClr val="E84C2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文件尾</a:t>
            </a:r>
            <a:endParaRPr lang="en-US" altLang="en-US" sz="1300" dirty="0"/>
          </a:p>
        </p:txBody>
      </p:sp>
      <p:sp>
        <p:nvSpPr>
          <p:cNvPr id="9906" name="textbox 9906"/>
          <p:cNvSpPr/>
          <p:nvPr/>
        </p:nvSpPr>
        <p:spPr>
          <a:xfrm>
            <a:off x="2192145" y="4036628"/>
            <a:ext cx="544830" cy="2266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80"/>
              </a:lnSpc>
            </a:pPr>
            <a:r>
              <a:rPr sz="1300" kern="0" spc="50" dirty="0">
                <a:solidFill>
                  <a:srgbClr val="E84C2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文件头</a:t>
            </a:r>
            <a:endParaRPr lang="en-US" altLang="en-US" sz="1300" dirty="0"/>
          </a:p>
        </p:txBody>
      </p:sp>
      <p:pic>
        <p:nvPicPr>
          <p:cNvPr id="9908" name="picture 99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71434" y="3633216"/>
            <a:ext cx="76200" cy="490854"/>
          </a:xfrm>
          <a:prstGeom prst="rect">
            <a:avLst/>
          </a:prstGeom>
        </p:spPr>
      </p:pic>
      <p:pic>
        <p:nvPicPr>
          <p:cNvPr id="9910" name="picture 99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378770" y="3633216"/>
            <a:ext cx="76200" cy="490854"/>
          </a:xfrm>
          <a:prstGeom prst="rect">
            <a:avLst/>
          </a:prstGeom>
        </p:spPr>
      </p:pic>
      <p:pic>
        <p:nvPicPr>
          <p:cNvPr id="9912" name="picture 99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191306" y="3633216"/>
            <a:ext cx="76200" cy="49085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4" name="textbox 9914"/>
          <p:cNvSpPr/>
          <p:nvPr/>
        </p:nvSpPr>
        <p:spPr>
          <a:xfrm>
            <a:off x="634251" y="1313942"/>
            <a:ext cx="8272144" cy="23437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lang="en-US" altLang="en-US" sz="100" dirty="0"/>
          </a:p>
          <a:p>
            <a:pPr marL="13335" algn="l" rtl="0" eaLnBrk="0">
              <a:lnSpc>
                <a:spcPct val="95000"/>
              </a:lnSpc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文件位置标记的定位</a:t>
            </a:r>
            <a:endParaRPr lang="en-US" altLang="en-US" sz="1800" dirty="0"/>
          </a:p>
          <a:p>
            <a:pPr marL="12700" algn="l" rtl="0" eaLnBrk="0">
              <a:lnSpc>
                <a:spcPct val="93000"/>
              </a:lnSpc>
              <a:spcBef>
                <a:spcPts val="1165"/>
              </a:spcBef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 用rewind函数使文件位置标记指向文件开头</a:t>
            </a:r>
            <a:endParaRPr lang="en-US" altLang="en-US" sz="1800" dirty="0"/>
          </a:p>
          <a:p>
            <a:pPr algn="r" rtl="0" eaLnBrk="0">
              <a:lnSpc>
                <a:spcPct val="87000"/>
              </a:lnSpc>
              <a:spcBef>
                <a:spcPts val="1240"/>
              </a:spcBef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rewind函数的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作用是使文件位置标记重新返回文件的开头，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此函数没有返回值。</a:t>
            </a:r>
            <a:endParaRPr lang="en-US" altLang="en-US" sz="1800" dirty="0"/>
          </a:p>
          <a:p>
            <a:pPr marL="12700" algn="l" rtl="0" eaLnBrk="0">
              <a:lnSpc>
                <a:spcPts val="3240"/>
              </a:lnSpc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 用fsee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k函数改变文件位置标记</a:t>
            </a:r>
            <a:endParaRPr lang="en-US" altLang="en-US" sz="18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400" dirty="0"/>
          </a:p>
          <a:p>
            <a:pPr marL="314325" algn="l" rtl="0" eaLnBrk="0">
              <a:lnSpc>
                <a:spcPct val="95000"/>
              </a:lnSpc>
              <a:spcBef>
                <a:spcPts val="0"/>
              </a:spcBef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fseek函数一般用于二进制文件。</a:t>
            </a:r>
            <a:endParaRPr lang="en-US" altLang="en-US" sz="1800" dirty="0"/>
          </a:p>
        </p:txBody>
      </p:sp>
      <p:sp>
        <p:nvSpPr>
          <p:cNvPr id="9916" name="textbox 9916"/>
          <p:cNvSpPr/>
          <p:nvPr/>
        </p:nvSpPr>
        <p:spPr>
          <a:xfrm>
            <a:off x="634266" y="4606804"/>
            <a:ext cx="10859134" cy="10687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3000"/>
              </a:lnSpc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 用ftell函数测定文件位置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标记的当前位置</a:t>
            </a:r>
            <a:endParaRPr lang="en-US" altLang="en-US" sz="1800" dirty="0"/>
          </a:p>
          <a:p>
            <a:pPr algn="r" rtl="0" eaLnBrk="0">
              <a:lnSpc>
                <a:spcPct val="87000"/>
              </a:lnSpc>
              <a:spcBef>
                <a:spcPts val="109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ftell函数的作用是得到流式文件中文件位置标记的当前位置，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用相对于文件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开头的位移量来表示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。如果调</a:t>
            </a:r>
            <a:endParaRPr lang="en-US" altLang="en-US" sz="1800" dirty="0"/>
          </a:p>
          <a:p>
            <a:pPr marL="323215" algn="l" rtl="0" eaLnBrk="0">
              <a:lnSpc>
                <a:spcPts val="3240"/>
              </a:lnSpc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用函数时出错（如不存在fp指向的文件</a:t>
            </a:r>
            <a:r>
              <a:rPr sz="1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18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ftell函数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返回值为-1L。</a:t>
            </a:r>
            <a:endParaRPr lang="en-US" altLang="en-US" sz="1800" dirty="0"/>
          </a:p>
        </p:txBody>
      </p:sp>
      <p:sp>
        <p:nvSpPr>
          <p:cNvPr id="9922" name="textbox 9922"/>
          <p:cNvSpPr/>
          <p:nvPr/>
        </p:nvSpPr>
        <p:spPr>
          <a:xfrm>
            <a:off x="5373941" y="2435352"/>
            <a:ext cx="4984115" cy="866139"/>
          </a:xfrm>
          <a:prstGeom prst="rect">
            <a:avLst/>
          </a:prstGeom>
          <a:solidFill>
            <a:srgbClr val="FADBD3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en-US" altLang="en-US" sz="600" dirty="0"/>
          </a:p>
          <a:p>
            <a:pPr marL="1042035" indent="-955040" algn="l" rtl="0" eaLnBrk="0">
              <a:lnSpc>
                <a:spcPct val="120000"/>
              </a:lnSpc>
              <a:spcBef>
                <a:spcPts val="5"/>
              </a:spcBef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“起始点”：用0， 1或2代替，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0代表“文件开始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位置”， 1为“当前      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位置”，</a:t>
            </a:r>
            <a:r>
              <a:rPr sz="13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2为“文件末尾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位置”</a:t>
            </a:r>
            <a:endParaRPr lang="en-US" altLang="en-US" sz="1300" dirty="0"/>
          </a:p>
          <a:p>
            <a:pPr algn="l" rtl="0" eaLnBrk="0">
              <a:lnSpc>
                <a:spcPct val="120000"/>
              </a:lnSpc>
            </a:pPr>
            <a:endParaRPr lang="en-US" altLang="en-US" sz="300" dirty="0"/>
          </a:p>
          <a:p>
            <a:pPr marL="86995" algn="l" rtl="0" eaLnBrk="0">
              <a:lnSpc>
                <a:spcPct val="99000"/>
              </a:lnSpc>
              <a:spcBef>
                <a:spcPts val="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“位移量”：指以“起始点”为基点，向前移动的字节数（长整型）</a:t>
            </a:r>
            <a:endParaRPr lang="en-US" altLang="en-US" sz="1300" dirty="0"/>
          </a:p>
        </p:txBody>
      </p:sp>
      <p:sp>
        <p:nvSpPr>
          <p:cNvPr id="9928" name="textbox 9928"/>
          <p:cNvSpPr/>
          <p:nvPr/>
        </p:nvSpPr>
        <p:spPr>
          <a:xfrm>
            <a:off x="650841" y="568210"/>
            <a:ext cx="4073525" cy="4984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文件位置标记及其定位</a:t>
            </a:r>
            <a:endParaRPr lang="en-US" altLang="en-US" sz="3100" dirty="0"/>
          </a:p>
        </p:txBody>
      </p:sp>
      <p:sp>
        <p:nvSpPr>
          <p:cNvPr id="9930" name="path"/>
          <p:cNvSpPr/>
          <p:nvPr/>
        </p:nvSpPr>
        <p:spPr>
          <a:xfrm>
            <a:off x="551498" y="1118108"/>
            <a:ext cx="11028679" cy="25400"/>
          </a:xfrm>
          <a:custGeom>
            <a:avLst/>
            <a:gdLst/>
            <a:ahLst/>
            <a:cxnLst/>
            <a:rect l="0" t="0" r="0" b="0"/>
            <a:pathLst>
              <a:path w="17367" h="40">
                <a:moveTo>
                  <a:pt x="20" y="20"/>
                </a:moveTo>
                <a:lnTo>
                  <a:pt x="17347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932" name="path"/>
          <p:cNvSpPr/>
          <p:nvPr/>
        </p:nvSpPr>
        <p:spPr>
          <a:xfrm>
            <a:off x="551498" y="6406388"/>
            <a:ext cx="11028679" cy="25400"/>
          </a:xfrm>
          <a:custGeom>
            <a:avLst/>
            <a:gdLst/>
            <a:ahLst/>
            <a:cxnLst/>
            <a:rect l="0" t="0" r="0" b="0"/>
            <a:pathLst>
              <a:path w="17367" h="40">
                <a:moveTo>
                  <a:pt x="20" y="20"/>
                </a:moveTo>
                <a:lnTo>
                  <a:pt x="17347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5374005" y="1622425"/>
            <a:ext cx="4983480" cy="441325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0">
              <a:lnSpc>
                <a:spcPct val="104000"/>
              </a:lnSpc>
            </a:pPr>
            <a:endParaRPr sz="2400" b="1" kern="0" spc="-5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rtl="0" eaLnBrk="0">
              <a:lnSpc>
                <a:spcPct val="104000"/>
              </a:lnSpc>
            </a:pPr>
            <a:r>
              <a:rPr b="1" kern="0" spc="-8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rewind(文件指针);</a:t>
            </a:r>
            <a:endParaRPr lang="en-US" altLang="en-US" b="1" dirty="0">
              <a:solidFill>
                <a:srgbClr val="1100CC"/>
              </a:solidFill>
            </a:endParaRPr>
          </a:p>
          <a:p>
            <a:pPr algn="ctr" rtl="0" eaLnBrk="0">
              <a:lnSpc>
                <a:spcPct val="104000"/>
              </a:lnSpc>
            </a:pPr>
            <a:endParaRPr lang="en-US" altLang="en-US" b="1" kern="0" spc="-50" dirty="0">
              <a:solidFill>
                <a:srgbClr val="11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911860" y="2893695"/>
            <a:ext cx="4441825" cy="394335"/>
          </a:xfrm>
          <a:prstGeom prst="rect">
            <a:avLst/>
          </a:prstGeom>
          <a:solidFill>
            <a:srgbClr val="CCECFF"/>
          </a:solidFill>
          <a:ln>
            <a:solidFill>
              <a:srgbClr val="CCEC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kern="0" spc="-4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fseek(文件类型指针, 位移量, 起始点);</a:t>
            </a:r>
            <a:endParaRPr lang="zh-CN" altLang="en-US" b="1" kern="0" spc="-4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925195" y="3644265"/>
            <a:ext cx="9430385" cy="852805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0">
              <a:lnSpc>
                <a:spcPct val="145000"/>
              </a:lnSpc>
            </a:pPr>
            <a:endParaRPr sz="1400" kern="0" spc="-3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rtl="0" eaLnBrk="0" fontAlgn="auto">
              <a:lnSpc>
                <a:spcPts val="2000"/>
              </a:lnSpc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fseek (fp,10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0L,0);</a:t>
            </a:r>
            <a:r>
              <a:rPr lang="en-US" sz="15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</a:t>
            </a:r>
            <a:r>
              <a:rPr sz="1500" kern="0" spc="-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//将文件位置标记</a:t>
            </a:r>
            <a:r>
              <a:rPr sz="1500"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向前移到离文件开头100个字节处</a:t>
            </a:r>
            <a:r>
              <a:rPr lang="en-US" sz="15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</a:t>
            </a:r>
            <a:endParaRPr sz="15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rtl="0" eaLnBrk="0" fontAlgn="auto">
              <a:lnSpc>
                <a:spcPts val="2000"/>
              </a:lnSpc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fseek (fp,50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L,1);</a:t>
            </a:r>
            <a:r>
              <a:rPr lang="en-US" sz="15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</a:t>
            </a:r>
            <a:r>
              <a:rPr sz="1500" kern="0" spc="-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//将文件位置标记向前移到离当前位</a:t>
            </a:r>
            <a:r>
              <a:rPr sz="1500"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置50个字节处</a:t>
            </a:r>
            <a:endParaRPr sz="1500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rtl="0" eaLnBrk="0" fontAlgn="auto">
              <a:lnSpc>
                <a:spcPts val="2000"/>
              </a:lnSpc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fseek (fp,-10L,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2);</a:t>
            </a:r>
            <a:r>
              <a:rPr lang="en-US" sz="15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</a:t>
            </a:r>
            <a:r>
              <a:rPr sz="1500" kern="0" spc="-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//将文件位置标记从文件末尾处</a:t>
            </a:r>
            <a:r>
              <a:rPr sz="1500"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向后退10个字节</a:t>
            </a:r>
            <a:endParaRPr lang="en-US" altLang="en-US" sz="1500" dirty="0"/>
          </a:p>
          <a:p>
            <a:pPr algn="ctr"/>
            <a:endParaRPr lang="zh-CN" altLang="en-US" sz="1500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915670" y="5744210"/>
            <a:ext cx="9455785" cy="675005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30175" algn="l" rtl="0" eaLnBrk="0">
              <a:lnSpc>
                <a:spcPct val="92000"/>
              </a:lnSpc>
              <a:spcBef>
                <a:spcPts val="5"/>
              </a:spcBef>
            </a:pPr>
            <a:endParaRPr kern="0" spc="-5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0175" algn="l" rtl="0" eaLnBrk="0">
              <a:lnSpc>
                <a:spcPct val="92000"/>
              </a:lnSpc>
              <a:spcBef>
                <a:spcPts val="5"/>
              </a:spcBef>
            </a:pP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i=ftell(fp);</a:t>
            </a:r>
            <a:r>
              <a:rPr lang="en-US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</a:t>
            </a:r>
            <a:r>
              <a:rPr kern="0" spc="-2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//变量i存放文件当前位置</a:t>
            </a:r>
            <a:endParaRPr lang="en-US" altLang="en-US" dirty="0"/>
          </a:p>
          <a:p>
            <a:pPr marL="130810" algn="l" rtl="0" eaLnBrk="0">
              <a:lnSpc>
                <a:spcPct val="93000"/>
              </a:lnSpc>
              <a:spcBef>
                <a:spcPts val="0"/>
              </a:spcBef>
            </a:pPr>
            <a:r>
              <a:rPr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if(i==-1L) printf(″e</a:t>
            </a: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rror\n</a:t>
            </a:r>
            <a:r>
              <a:rPr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″);</a:t>
            </a:r>
            <a:r>
              <a:rPr lang="en-US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</a:t>
            </a:r>
            <a:r>
              <a:rPr kern="0" spc="-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//如果调用函数时出错，</a:t>
            </a:r>
            <a:r>
              <a:rPr kern="0" spc="-2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输出</a:t>
            </a:r>
            <a:r>
              <a:rPr kern="0" spc="-3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″e</a:t>
            </a:r>
            <a:r>
              <a:rPr kern="0" spc="-5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rror</a:t>
            </a:r>
            <a:r>
              <a:rPr kern="0" spc="-3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5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″</a:t>
            </a:r>
            <a:endParaRPr lang="en-US" altLang="en-US" dirty="0"/>
          </a:p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6" name="textbox 9936"/>
          <p:cNvSpPr/>
          <p:nvPr/>
        </p:nvSpPr>
        <p:spPr>
          <a:xfrm>
            <a:off x="499642" y="667657"/>
            <a:ext cx="4161154" cy="20669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algn="r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文件位置标记及其定位</a:t>
            </a:r>
            <a:endParaRPr lang="en-US" altLang="en-US" sz="3100" dirty="0"/>
          </a:p>
          <a:p>
            <a:pPr algn="l" rtl="0" eaLnBrk="0">
              <a:lnSpc>
                <a:spcPct val="106000"/>
              </a:lnSpc>
            </a:pPr>
            <a:endParaRPr lang="en-US" altLang="en-US" sz="1100" dirty="0"/>
          </a:p>
          <a:p>
            <a:pPr marL="84455" indent="51435" algn="l" rtl="0" eaLnBrk="0">
              <a:lnSpc>
                <a:spcPct val="120000"/>
              </a:lnSpc>
              <a:spcBef>
                <a:spcPts val="5"/>
              </a:spcBef>
            </a:pPr>
            <a:r>
              <a:rPr sz="1900" kern="0" spc="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sz="1900" kern="0" spc="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900" kern="0" spc="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.5】有一个磁盘文件，内有一  </a:t>
            </a:r>
            <a:r>
              <a:rPr sz="1900" kern="0" spc="8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些信息。要求第1次将它的内容显示  在屏幕上，第2次把它复制到另一文  </a:t>
            </a:r>
            <a:r>
              <a:rPr sz="1900" kern="0" spc="-5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件上。</a:t>
            </a:r>
            <a:endParaRPr lang="en-US" altLang="en-US" sz="1900" kern="0" spc="-50" dirty="0">
              <a:solidFill>
                <a:srgbClr val="78236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5000625" y="615315"/>
            <a:ext cx="6440170" cy="5587365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21920" algn="l" rtl="0" eaLnBrk="0">
              <a:lnSpc>
                <a:spcPct val="93000"/>
              </a:lnSpc>
              <a:spcBef>
                <a:spcPts val="5"/>
              </a:spcBef>
            </a:pPr>
            <a:endParaRPr sz="1300" kern="0" spc="-3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1920" algn="l" rtl="0" eaLnBrk="0">
              <a:lnSpc>
                <a:spcPct val="93000"/>
              </a:lnSpc>
              <a:spcBef>
                <a:spcPts val="5"/>
              </a:spcBef>
            </a:pPr>
            <a:endParaRPr sz="1300" kern="0" spc="-3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1920" algn="l" rtl="0" eaLnBrk="0">
              <a:lnSpc>
                <a:spcPct val="93000"/>
              </a:lnSpc>
              <a:spcBef>
                <a:spcPts val="5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#include&lt;stdio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.h&gt;</a:t>
            </a:r>
            <a:endParaRPr lang="en-US" altLang="en-US" sz="1300" dirty="0"/>
          </a:p>
          <a:p>
            <a:pPr marL="131445" algn="l" rtl="0" eaLnBrk="0">
              <a:lnSpc>
                <a:spcPts val="2015"/>
              </a:lnSpc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main()</a:t>
            </a:r>
            <a:endParaRPr lang="en-US" altLang="en-US" sz="1300" dirty="0"/>
          </a:p>
          <a:p>
            <a:pPr marL="118110" algn="l" rtl="0" eaLnBrk="0">
              <a:lnSpc>
                <a:spcPct val="99000"/>
              </a:lnSpc>
              <a:spcBef>
                <a:spcPts val="560"/>
              </a:spcBef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ch;</a:t>
            </a:r>
            <a:endParaRPr lang="en-US" altLang="en-US" sz="1300" dirty="0"/>
          </a:p>
          <a:p>
            <a:pPr marL="495935" algn="l" rtl="0" eaLnBrk="0">
              <a:lnSpc>
                <a:spcPct val="92000"/>
              </a:lnSpc>
              <a:spcBef>
                <a:spcPts val="48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*fp1,*fp2;</a:t>
            </a:r>
            <a:endParaRPr lang="en-US" altLang="en-US" sz="1300" dirty="0"/>
          </a:p>
          <a:p>
            <a:pPr marL="483870" algn="l" rtl="0" eaLnBrk="0">
              <a:lnSpc>
                <a:spcPct val="111000"/>
              </a:lnSpc>
              <a:spcBef>
                <a:spcPts val="57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fp1=fopen("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file1.dat","r");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en-US" sz="13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</a:t>
            </a:r>
            <a:r>
              <a:rPr sz="13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//打开输入文件</a:t>
            </a:r>
            <a:endParaRPr sz="1300" kern="0" spc="-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83870" algn="l" rtl="0" eaLnBrk="0">
              <a:lnSpc>
                <a:spcPct val="111000"/>
              </a:lnSpc>
              <a:spcBef>
                <a:spcPts val="57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fp2=fopen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("file2.dat","w");</a:t>
            </a: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</a:t>
            </a:r>
            <a:r>
              <a:rPr sz="13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//打开输出文件</a:t>
            </a:r>
            <a:endParaRPr lang="en-US" altLang="en-US" sz="1300" dirty="0"/>
          </a:p>
          <a:p>
            <a:pPr marL="488950" algn="l" rtl="0" eaLnBrk="0">
              <a:lnSpc>
                <a:spcPct val="92000"/>
              </a:lnSpc>
              <a:spcBef>
                <a:spcPts val="57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ch=getc(fp1);</a:t>
            </a: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//从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文件读入第一个字符</a:t>
            </a:r>
            <a:endParaRPr lang="en-US" altLang="en-US" sz="1300" dirty="0"/>
          </a:p>
          <a:p>
            <a:pPr marL="482600" algn="l" rtl="0" eaLnBrk="0">
              <a:lnSpc>
                <a:spcPct val="92000"/>
              </a:lnSpc>
              <a:spcBef>
                <a:spcPts val="59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while(!feof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(fp1))</a:t>
            </a: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</a:t>
            </a:r>
            <a:r>
              <a:rPr sz="1300" kern="0" spc="7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//当未读取文件尾</a:t>
            </a:r>
            <a:r>
              <a:rPr sz="13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标志</a:t>
            </a:r>
            <a:endParaRPr lang="en-US" altLang="en-US" sz="1300" dirty="0"/>
          </a:p>
          <a:p>
            <a:pPr marL="481330" algn="l" rtl="0" eaLnBrk="0">
              <a:lnSpc>
                <a:spcPts val="2020"/>
              </a:lnSpc>
              <a:spcBef>
                <a:spcPts val="1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 putchar(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ch);</a:t>
            </a: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</a:t>
            </a:r>
            <a:r>
              <a:rPr sz="1300" kern="0" spc="7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//在屏幕输出一个</a:t>
            </a:r>
            <a:r>
              <a:rPr sz="13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字符</a:t>
            </a:r>
            <a:endParaRPr lang="en-US" altLang="en-US" sz="1300" dirty="0"/>
          </a:p>
          <a:p>
            <a:pPr marL="854710" algn="l" rtl="0" eaLnBrk="0">
              <a:lnSpc>
                <a:spcPct val="92000"/>
              </a:lnSpc>
              <a:spcBef>
                <a:spcPts val="560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ch=getc(fp1);</a:t>
            </a: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//再从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文件读入一个字符</a:t>
            </a:r>
            <a:endParaRPr lang="en-US" altLang="en-US" sz="1300" dirty="0"/>
          </a:p>
          <a:p>
            <a:pPr marL="481330" algn="l" rtl="0" eaLnBrk="0">
              <a:lnSpc>
                <a:spcPts val="2015"/>
              </a:lnSpc>
              <a:spcBef>
                <a:spcPts val="20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marL="493395" algn="l" rtl="0" eaLnBrk="0">
              <a:lnSpc>
                <a:spcPct val="92000"/>
              </a:lnSpc>
              <a:spcBef>
                <a:spcPts val="570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putchar(10);</a:t>
            </a: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</a:t>
            </a:r>
            <a:r>
              <a:rPr sz="13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//在屏幕执行换行</a:t>
            </a:r>
            <a:endParaRPr lang="en-US" altLang="en-US" sz="1300" dirty="0"/>
          </a:p>
          <a:p>
            <a:pPr marL="494030" algn="l" rtl="0" eaLnBrk="0">
              <a:lnSpc>
                <a:spcPct val="92000"/>
              </a:lnSpc>
              <a:spcBef>
                <a:spcPts val="580"/>
              </a:spcBef>
            </a:pPr>
            <a:r>
              <a:rPr sz="13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rewind(fp1);</a:t>
            </a:r>
            <a:r>
              <a:rPr lang="en-US" sz="1300" kern="0" spc="-4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</a:t>
            </a:r>
            <a:r>
              <a:rPr sz="1300" kern="0" spc="7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//使文件位置标记返回文件开头</a:t>
            </a:r>
            <a:endParaRPr lang="en-US" altLang="en-US" sz="1300" dirty="0"/>
          </a:p>
          <a:p>
            <a:pPr marL="488950" algn="l" rtl="0" eaLnBrk="0">
              <a:lnSpc>
                <a:spcPct val="92000"/>
              </a:lnSpc>
              <a:spcBef>
                <a:spcPts val="57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ch=getc(fp1);</a:t>
            </a: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//从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文件读入第一个字符</a:t>
            </a:r>
            <a:endParaRPr lang="en-US" altLang="en-US" sz="1300" dirty="0"/>
          </a:p>
          <a:p>
            <a:pPr marL="482600" algn="l" rtl="0" eaLnBrk="0">
              <a:lnSpc>
                <a:spcPct val="92000"/>
              </a:lnSpc>
              <a:spcBef>
                <a:spcPts val="59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while(!feof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(fp1))</a:t>
            </a: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</a:t>
            </a:r>
            <a:r>
              <a:rPr sz="1300" kern="0" spc="7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//当未读取文件尾</a:t>
            </a:r>
            <a:r>
              <a:rPr sz="1300" kern="0" spc="6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标志</a:t>
            </a:r>
            <a:endParaRPr lang="en-US" altLang="en-US" sz="1300" dirty="0"/>
          </a:p>
          <a:p>
            <a:pPr marL="481330" algn="l" rtl="0" eaLnBrk="0">
              <a:lnSpc>
                <a:spcPts val="2015"/>
              </a:lnSpc>
              <a:spcBef>
                <a:spcPts val="1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fputc(ch,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fp2);</a:t>
            </a: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</a:t>
            </a:r>
            <a:r>
              <a:rPr sz="1300" kern="0" spc="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//向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</a:t>
            </a:r>
            <a:r>
              <a:rPr sz="1300" kern="0" spc="3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文件输出一个字符</a:t>
            </a:r>
            <a:endParaRPr lang="en-US" altLang="en-US" sz="1300" dirty="0"/>
          </a:p>
          <a:p>
            <a:pPr marL="854710" algn="l" rtl="0" eaLnBrk="0">
              <a:lnSpc>
                <a:spcPct val="92000"/>
              </a:lnSpc>
              <a:spcBef>
                <a:spcPts val="56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ch=fgetc(fp1);</a:t>
            </a:r>
            <a:r>
              <a:rPr lang="en-US"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//再从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</a:t>
            </a:r>
            <a:r>
              <a:rPr sz="1300" kern="0" spc="4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文件读入一个字符</a:t>
            </a:r>
            <a:endParaRPr lang="en-US" altLang="en-US" sz="1300" dirty="0"/>
          </a:p>
          <a:p>
            <a:pPr marL="481330" algn="l" rtl="0" eaLnBrk="0">
              <a:lnSpc>
                <a:spcPts val="2015"/>
              </a:lnSpc>
              <a:spcBef>
                <a:spcPts val="20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marL="493395" indent="-9525" algn="l" rtl="0" eaLnBrk="0">
              <a:lnSpc>
                <a:spcPct val="115000"/>
              </a:lnSpc>
              <a:spcBef>
                <a:spcPts val="58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fclose(fp1);</a:t>
            </a:r>
          </a:p>
          <a:p>
            <a:pPr marL="493395" indent="-9525" algn="l" rtl="0" eaLnBrk="0">
              <a:lnSpc>
                <a:spcPct val="115000"/>
              </a:lnSpc>
              <a:spcBef>
                <a:spcPts val="58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fclose(f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p2);</a:t>
            </a: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</a:p>
          <a:p>
            <a:pPr marL="493395" indent="-9525" algn="l" rtl="0" eaLnBrk="0">
              <a:lnSpc>
                <a:spcPct val="115000"/>
              </a:lnSpc>
              <a:spcBef>
                <a:spcPts val="580"/>
              </a:spcBef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</a:t>
            </a:r>
            <a:r>
              <a:rPr sz="13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0;</a:t>
            </a:r>
            <a:endParaRPr lang="en-US" altLang="en-US" sz="1300" dirty="0"/>
          </a:p>
          <a:p>
            <a:pPr marL="118745" algn="l" rtl="0" eaLnBrk="0">
              <a:lnSpc>
                <a:spcPct val="99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algn="ctr"/>
            <a:endParaRPr lang="zh-CN" altLang="en-US" sz="1300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0075" y="5224780"/>
            <a:ext cx="440055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940935" y="411480"/>
            <a:ext cx="7076440" cy="6261735"/>
          </a:xfrm>
          <a:prstGeom prst="rect">
            <a:avLst/>
          </a:prstGeom>
          <a:solidFill>
            <a:schemeClr val="bg1"/>
          </a:solidFill>
          <a:ln w="9525"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23825" algn="l" rtl="0" eaLnBrk="0">
              <a:lnSpc>
                <a:spcPct val="93000"/>
              </a:lnSpc>
              <a:spcBef>
                <a:spcPts val="5"/>
              </a:spcBef>
            </a:pPr>
            <a:endParaRPr sz="1300" kern="0" spc="-3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3825" algn="l" rtl="0" eaLnBrk="0">
              <a:lnSpc>
                <a:spcPct val="93000"/>
              </a:lnSpc>
              <a:spcBef>
                <a:spcPts val="5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#include&lt;stdio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.h&gt;</a:t>
            </a:r>
            <a:endParaRPr lang="en-US" altLang="en-US" sz="1300" dirty="0"/>
          </a:p>
          <a:p>
            <a:pPr marL="123825" algn="l" rtl="0" eaLnBrk="0">
              <a:lnSpc>
                <a:spcPts val="2015"/>
              </a:lnSpc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&lt;stdlib.h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</a:t>
            </a:r>
            <a:endParaRPr lang="en-US" altLang="en-US" sz="1300" dirty="0"/>
          </a:p>
          <a:p>
            <a:pPr marL="123190" algn="l" rtl="0" eaLnBrk="0">
              <a:lnSpc>
                <a:spcPct val="92000"/>
              </a:lnSpc>
              <a:spcBef>
                <a:spcPts val="560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 Student_type       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sz="1300" kern="0" spc="-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学生数据类型</a:t>
            </a:r>
            <a:endParaRPr lang="en-US" altLang="en-US" sz="1300" dirty="0"/>
          </a:p>
          <a:p>
            <a:pPr marL="120650" algn="l" rtl="0" eaLnBrk="0">
              <a:lnSpc>
                <a:spcPct val="93000"/>
              </a:lnSpc>
              <a:spcBef>
                <a:spcPts val="58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name[10];</a:t>
            </a:r>
            <a:endParaRPr lang="en-US" altLang="en-US" sz="1300" dirty="0"/>
          </a:p>
          <a:p>
            <a:pPr marL="496570" algn="l" rtl="0" eaLnBrk="0">
              <a:lnSpc>
                <a:spcPts val="202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num;</a:t>
            </a:r>
            <a:endParaRPr lang="en-US" altLang="en-US" sz="1300" dirty="0"/>
          </a:p>
          <a:p>
            <a:pPr marL="496570" algn="l" rtl="0" eaLnBrk="0">
              <a:lnSpc>
                <a:spcPct val="92000"/>
              </a:lnSpc>
              <a:spcBef>
                <a:spcPts val="560"/>
              </a:spcBef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age;</a:t>
            </a:r>
            <a:endParaRPr lang="en-US" altLang="en-US" sz="1300" dirty="0"/>
          </a:p>
          <a:p>
            <a:pPr marL="490855" algn="l" rtl="0" eaLnBrk="0">
              <a:lnSpc>
                <a:spcPct val="93000"/>
              </a:lnSpc>
              <a:spcBef>
                <a:spcPts val="58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addr[15];</a:t>
            </a:r>
            <a:endParaRPr lang="en-US" altLang="en-US" sz="1300" dirty="0"/>
          </a:p>
          <a:p>
            <a:pPr marL="120650" algn="l" rtl="0" eaLnBrk="0">
              <a:lnSpc>
                <a:spcPts val="2015"/>
              </a:lnSpc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}stud[10]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endParaRPr lang="en-US" altLang="en-US" sz="1300" dirty="0"/>
          </a:p>
          <a:p>
            <a:pPr marL="133985" algn="l" rtl="0" eaLnBrk="0">
              <a:lnSpc>
                <a:spcPct val="93000"/>
              </a:lnSpc>
              <a:spcBef>
                <a:spcPts val="565"/>
              </a:spcBef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main()</a:t>
            </a:r>
            <a:endParaRPr lang="en-US" altLang="en-US" sz="1300" dirty="0"/>
          </a:p>
          <a:p>
            <a:pPr marL="120650" algn="l" rtl="0" eaLnBrk="0">
              <a:lnSpc>
                <a:spcPts val="2020"/>
              </a:lnSpc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i;</a:t>
            </a:r>
          </a:p>
          <a:p>
            <a:pPr marL="498475" algn="l" rtl="0" eaLnBrk="0">
              <a:lnSpc>
                <a:spcPct val="92000"/>
              </a:lnSpc>
              <a:spcBef>
                <a:spcPts val="0"/>
              </a:spcBef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*fp;</a:t>
            </a:r>
            <a:endParaRPr lang="en-US" altLang="en-US" sz="1300" dirty="0"/>
          </a:p>
          <a:p>
            <a:pPr marL="496570" algn="l" rtl="0" eaLnBrk="0">
              <a:lnSpc>
                <a:spcPct val="92000"/>
              </a:lnSpc>
              <a:spcBef>
                <a:spcPts val="580"/>
              </a:spcBef>
            </a:pPr>
            <a:r>
              <a:rPr sz="13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if((fp=fopen("stu.dat","rb"))==NULL)   </a:t>
            </a:r>
            <a:r>
              <a:rPr sz="1300" kern="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//以只读方</a:t>
            </a:r>
            <a:r>
              <a:rPr sz="1300" kern="0" spc="-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式打开二进制文件</a:t>
            </a:r>
            <a:endParaRPr lang="en-US" altLang="en-US" sz="1300" dirty="0"/>
          </a:p>
          <a:p>
            <a:pPr marL="483235" algn="l" rtl="0" eaLnBrk="0">
              <a:lnSpc>
                <a:spcPts val="2015"/>
              </a:lnSpc>
              <a:spcBef>
                <a:spcPts val="1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 pri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ntf("can</a:t>
            </a:r>
            <a:r>
              <a:rPr sz="13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not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 file\n");</a:t>
            </a:r>
            <a:endParaRPr lang="en-US" altLang="en-US" sz="1300" dirty="0"/>
          </a:p>
          <a:p>
            <a:pPr marL="856615" algn="l" rtl="0" eaLnBrk="0">
              <a:lnSpc>
                <a:spcPct val="93000"/>
              </a:lnSpc>
              <a:spcBef>
                <a:spcPts val="565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exit(0);</a:t>
            </a:r>
            <a:endParaRPr lang="en-US" altLang="en-US" sz="1300" dirty="0"/>
          </a:p>
          <a:p>
            <a:pPr marL="483870" algn="l" rtl="0" eaLnBrk="0">
              <a:lnSpc>
                <a:spcPts val="2015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marL="486410" algn="l" rtl="0" eaLnBrk="0">
              <a:lnSpc>
                <a:spcPct val="99000"/>
              </a:lnSpc>
              <a:spcBef>
                <a:spcPts val="560"/>
              </a:spcBef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for(i=0;i&lt;10;i+=2)</a:t>
            </a:r>
            <a:endParaRPr lang="en-US" altLang="en-US" sz="1300" dirty="0"/>
          </a:p>
          <a:p>
            <a:pPr marL="483235" algn="l" rtl="0" eaLnBrk="0">
              <a:lnSpc>
                <a:spcPct val="92000"/>
              </a:lnSpc>
              <a:spcBef>
                <a:spcPts val="470"/>
              </a:spcBef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     </a:t>
            </a: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fseek(fp,i*sizeof(struct</a:t>
            </a:r>
            <a:r>
              <a:rPr sz="1300" kern="0" spc="2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Student_type),0);      </a:t>
            </a:r>
            <a:r>
              <a:rPr sz="1300" kern="0" spc="-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//移动文件位置标记</a:t>
            </a:r>
            <a:endParaRPr lang="en-US" altLang="en-US" sz="1300" dirty="0"/>
          </a:p>
          <a:p>
            <a:pPr marL="852170" algn="l" rtl="0" eaLnBrk="0">
              <a:lnSpc>
                <a:spcPct val="92000"/>
              </a:lnSpc>
              <a:spcBef>
                <a:spcPts val="585"/>
              </a:spcBef>
            </a:pP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fread(&amp;stud[i],sizeof(struct</a:t>
            </a:r>
            <a:r>
              <a:rPr sz="1300" kern="0" spc="19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1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Student_type),1,fp);</a:t>
            </a:r>
            <a:r>
              <a:rPr sz="1300" kern="0" spc="90" dirty="0">
                <a:solidFill>
                  <a:srgbClr val="B226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sz="1300" kern="0" spc="-1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//读一个数据块到结构体变量</a:t>
            </a:r>
            <a:endParaRPr lang="en-US" altLang="en-US" sz="1300" dirty="0"/>
          </a:p>
          <a:p>
            <a:pPr marL="861695" algn="l" rtl="0" eaLnBrk="0">
              <a:lnSpc>
                <a:spcPct val="92000"/>
              </a:lnSpc>
              <a:spcBef>
                <a:spcPts val="580"/>
              </a:spcBef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printf("%-10s</a:t>
            </a:r>
            <a:r>
              <a:rPr sz="13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%4d %4d %</a:t>
            </a:r>
            <a:r>
              <a:rPr sz="13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-15s\n",stud[i].name,stud[i].num,stud[i].age,stud[i].addr);</a:t>
            </a:r>
            <a:endParaRPr lang="en-US" altLang="en-US" sz="1300" dirty="0"/>
          </a:p>
          <a:p>
            <a:pPr marL="848995" algn="l" rtl="0" eaLnBrk="0">
              <a:lnSpc>
                <a:spcPts val="1590"/>
              </a:lnSpc>
              <a:spcBef>
                <a:spcPts val="580"/>
              </a:spcBef>
            </a:pPr>
            <a:r>
              <a:rPr sz="1300" kern="0" spc="50" dirty="0">
                <a:solidFill>
                  <a:srgbClr val="008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//在屏幕输出</a:t>
            </a:r>
            <a:endParaRPr lang="en-US" altLang="en-US" sz="1300" dirty="0"/>
          </a:p>
          <a:p>
            <a:pPr marL="483870" algn="l" rtl="0" eaLnBrk="0">
              <a:lnSpc>
                <a:spcPct val="99000"/>
              </a:lnSpc>
              <a:spcBef>
                <a:spcPts val="425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marL="486410" algn="l" rtl="0" eaLnBrk="0">
              <a:lnSpc>
                <a:spcPct val="92000"/>
              </a:lnSpc>
              <a:spcBef>
                <a:spcPts val="480"/>
              </a:spcBef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fclose(fp);</a:t>
            </a:r>
            <a:endParaRPr lang="en-US" altLang="en-US" sz="1300" dirty="0"/>
          </a:p>
          <a:p>
            <a:pPr marL="495935" algn="l" rtl="0" eaLnBrk="0">
              <a:lnSpc>
                <a:spcPts val="2015"/>
              </a:lnSpc>
              <a:spcBef>
                <a:spcPts val="10"/>
              </a:spcBef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return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0;</a:t>
            </a:r>
            <a:endParaRPr lang="en-US" altLang="en-US" sz="1300" dirty="0"/>
          </a:p>
          <a:p>
            <a:pPr algn="l" rtl="0" eaLnBrk="0">
              <a:lnSpc>
                <a:spcPct val="117000"/>
              </a:lnSpc>
            </a:pPr>
            <a:endParaRPr lang="en-US" altLang="en-US" sz="1300" dirty="0"/>
          </a:p>
          <a:p>
            <a:pPr marL="120650" algn="l" rtl="0" eaLnBrk="0">
              <a:lnSpc>
                <a:spcPct val="99000"/>
              </a:lnSpc>
              <a:spcBef>
                <a:spcPts val="0"/>
              </a:spcBef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en-US" sz="1300" dirty="0"/>
          </a:p>
          <a:p>
            <a:pPr algn="ctr"/>
            <a:endParaRPr lang="zh-CN" altLang="en-US" sz="1300" dirty="0"/>
          </a:p>
        </p:txBody>
      </p:sp>
      <p:sp>
        <p:nvSpPr>
          <p:cNvPr id="9942" name="textbox 9942"/>
          <p:cNvSpPr/>
          <p:nvPr/>
        </p:nvSpPr>
        <p:spPr>
          <a:xfrm>
            <a:off x="499642" y="667657"/>
            <a:ext cx="4142740" cy="20656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15570" algn="l" rtl="0" eaLnBrk="0">
              <a:lnSpc>
                <a:spcPct val="100000"/>
              </a:lnSpc>
            </a:pPr>
            <a:r>
              <a:rPr sz="31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随机读写</a:t>
            </a:r>
            <a:endParaRPr lang="en-US" altLang="en-US" sz="3100" dirty="0"/>
          </a:p>
          <a:p>
            <a:pPr algn="l" rtl="0" eaLnBrk="0">
              <a:lnSpc>
                <a:spcPct val="106000"/>
              </a:lnSpc>
            </a:pPr>
            <a:endParaRPr lang="en-US" altLang="en-US" sz="1100" dirty="0"/>
          </a:p>
          <a:p>
            <a:pPr marL="84455" indent="51435" algn="l" rtl="0" eaLnBrk="0">
              <a:lnSpc>
                <a:spcPct val="120000"/>
              </a:lnSpc>
              <a:spcBef>
                <a:spcPts val="5"/>
              </a:spcBef>
            </a:pPr>
            <a:r>
              <a:rPr sz="1900" kern="0" spc="2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sz="1900" kern="0" spc="2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900" kern="0" spc="2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.6】在磁盘文件上存有</a:t>
            </a:r>
            <a:r>
              <a:rPr sz="1900" kern="0" spc="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10个学 </a:t>
            </a:r>
            <a:r>
              <a:rPr sz="1900" kern="0" spc="7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生的数据。要求将第1,3,5,7,9个学</a:t>
            </a:r>
            <a:r>
              <a:rPr sz="1900" kern="0" spc="6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</a:t>
            </a:r>
            <a:r>
              <a:rPr sz="1900" kern="0" spc="-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9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数据输入计算机，并在屏幕上显示出</a:t>
            </a:r>
            <a:r>
              <a:rPr sz="1900" kern="0" spc="-1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-8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来。</a:t>
            </a:r>
            <a:endParaRPr lang="en-US" altLang="en-US" sz="1900" kern="0" spc="-80" dirty="0">
              <a:solidFill>
                <a:srgbClr val="78236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2735" y="5200015"/>
            <a:ext cx="4349750" cy="1473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2185000" y="446405"/>
            <a:ext cx="7823200" cy="2432051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文件读写的出错检测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32400" y="3136069"/>
            <a:ext cx="113284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31" y="246671"/>
            <a:ext cx="573807" cy="57380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8" name="textbox 9948"/>
          <p:cNvSpPr/>
          <p:nvPr/>
        </p:nvSpPr>
        <p:spPr>
          <a:xfrm>
            <a:off x="626941" y="3783710"/>
            <a:ext cx="10887075" cy="23221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20320" algn="l" rtl="0" eaLnBrk="0">
              <a:lnSpc>
                <a:spcPct val="95000"/>
              </a:lnSpc>
            </a:pP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clearerr函数</a:t>
            </a:r>
            <a:endParaRPr lang="en-US" altLang="en-US" sz="1800" dirty="0"/>
          </a:p>
          <a:p>
            <a:pPr marL="19685" algn="l" rtl="0" eaLnBrk="0">
              <a:lnSpc>
                <a:spcPct val="95000"/>
              </a:lnSpc>
              <a:spcBef>
                <a:spcPts val="1200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clearerr的作用是使文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件出错标志和文件结束标志置为0。</a:t>
            </a:r>
            <a:endParaRPr lang="en-US" altLang="en-US" sz="1800" dirty="0"/>
          </a:p>
          <a:p>
            <a:pPr marL="12700" algn="l" rtl="0" eaLnBrk="0">
              <a:lnSpc>
                <a:spcPct val="86000"/>
              </a:lnSpc>
              <a:spcBef>
                <a:spcPts val="1190"/>
              </a:spcBef>
            </a:pP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假设在调用一个输入输出函数时出现错误，</a:t>
            </a:r>
            <a:r>
              <a:rPr sz="18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ferror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函数值为一个非零值</a:t>
            </a:r>
            <a:r>
              <a:rPr sz="18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。应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该立即调用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clearerr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)，</a:t>
            </a:r>
            <a:r>
              <a:rPr sz="18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</a:t>
            </a:r>
            <a:endParaRPr lang="en-US" altLang="en-US" sz="1800" dirty="0"/>
          </a:p>
          <a:p>
            <a:pPr marL="13335" algn="l" rtl="0" eaLnBrk="0">
              <a:lnSpc>
                <a:spcPts val="3240"/>
              </a:lnSpc>
              <a:spcBef>
                <a:spcPts val="15"/>
              </a:spcBef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ferror(fp)的值变成0，</a:t>
            </a: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以便再进行下一次的检测。</a:t>
            </a:r>
            <a:endParaRPr lang="en-US" altLang="en-US" sz="1800" dirty="0"/>
          </a:p>
          <a:p>
            <a:pPr algn="r" rtl="0" eaLnBrk="0">
              <a:lnSpc>
                <a:spcPct val="87000"/>
              </a:lnSpc>
              <a:spcBef>
                <a:spcPts val="1360"/>
              </a:spcBef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要出现文件读写出错标志，</a:t>
            </a:r>
            <a:r>
              <a:rPr sz="18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它就一直保留，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直到对同一文件调用clearerr函数或rewind函数，</a:t>
            </a:r>
            <a:r>
              <a:rPr sz="18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或任何其他一</a:t>
            </a:r>
            <a:endParaRPr lang="en-US" altLang="en-US" sz="1800" dirty="0"/>
          </a:p>
          <a:p>
            <a:pPr marL="14605" algn="l" rtl="0" eaLnBrk="0">
              <a:lnSpc>
                <a:spcPts val="324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个输入输出函数。</a:t>
            </a:r>
            <a:endParaRPr lang="en-US" altLang="en-US" sz="1800" dirty="0"/>
          </a:p>
        </p:txBody>
      </p:sp>
      <p:sp>
        <p:nvSpPr>
          <p:cNvPr id="9958" name="textbox 9958"/>
          <p:cNvSpPr/>
          <p:nvPr/>
        </p:nvSpPr>
        <p:spPr>
          <a:xfrm>
            <a:off x="626745" y="1325245"/>
            <a:ext cx="10880725" cy="6311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21590" algn="l" rtl="0" eaLnBrk="0">
              <a:lnSpc>
                <a:spcPct val="97000"/>
              </a:lnSpc>
            </a:pP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ferror函数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7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ferror(fp);  </a:t>
            </a:r>
            <a:r>
              <a:rPr sz="17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</a:t>
            </a:r>
            <a:endParaRPr lang="en-US" altLang="en-US" sz="17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86000"/>
              </a:lnSpc>
              <a:spcBef>
                <a:spcPts val="0"/>
              </a:spcBef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在调用各种输入输出函数</a:t>
            </a:r>
            <a:r>
              <a:rPr sz="1800" kern="0" spc="-4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（如putc,getc,fread,fwrite等）</a:t>
            </a:r>
            <a:r>
              <a:rPr sz="18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如果出现错误，</a:t>
            </a:r>
            <a:r>
              <a:rPr sz="18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除了函数返回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值有所反映外，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</a:t>
            </a:r>
            <a:endParaRPr lang="en-US" altLang="en-US" sz="1800" dirty="0"/>
          </a:p>
        </p:txBody>
      </p:sp>
      <p:sp>
        <p:nvSpPr>
          <p:cNvPr id="9960" name="textbox 9960"/>
          <p:cNvSpPr/>
          <p:nvPr/>
        </p:nvSpPr>
        <p:spPr>
          <a:xfrm>
            <a:off x="633565" y="2137155"/>
            <a:ext cx="4285615" cy="10871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4605" algn="l" rtl="0" eaLnBrk="0">
              <a:lnSpc>
                <a:spcPct val="95000"/>
              </a:lnSpc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可以用ferror函数检查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800" dirty="0"/>
          </a:p>
          <a:p>
            <a:pPr marL="12700" algn="l" rtl="0" eaLnBrk="0">
              <a:lnSpc>
                <a:spcPct val="87000"/>
              </a:lnSpc>
              <a:spcBef>
                <a:spcPts val="1190"/>
              </a:spcBef>
            </a:pP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如果ferror返回值为0（假</a:t>
            </a:r>
            <a:r>
              <a:rPr sz="1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</a:t>
            </a:r>
            <a:r>
              <a:rPr sz="1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未出错；</a:t>
            </a:r>
            <a:endParaRPr lang="en-US" altLang="en-US" sz="1800" dirty="0"/>
          </a:p>
          <a:p>
            <a:pPr marL="12700" algn="l" rtl="0" eaLnBrk="0">
              <a:lnSpc>
                <a:spcPts val="3240"/>
              </a:lnSpc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如果返回一个非零值，</a:t>
            </a:r>
            <a:r>
              <a:rPr sz="18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表示出错。</a:t>
            </a:r>
            <a:endParaRPr lang="en-US" altLang="en-US" sz="1800" dirty="0"/>
          </a:p>
        </p:txBody>
      </p:sp>
      <p:sp>
        <p:nvSpPr>
          <p:cNvPr id="9962" name="textbox 9962"/>
          <p:cNvSpPr/>
          <p:nvPr/>
        </p:nvSpPr>
        <p:spPr>
          <a:xfrm>
            <a:off x="650841" y="568210"/>
            <a:ext cx="3668395" cy="4978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3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文件读写的出错检测</a:t>
            </a:r>
            <a:endParaRPr lang="en-US" altLang="en-US" sz="3100" dirty="0"/>
          </a:p>
        </p:txBody>
      </p:sp>
      <p:sp>
        <p:nvSpPr>
          <p:cNvPr id="9964" name="path"/>
          <p:cNvSpPr/>
          <p:nvPr/>
        </p:nvSpPr>
        <p:spPr>
          <a:xfrm>
            <a:off x="551498" y="1118108"/>
            <a:ext cx="11028679" cy="25400"/>
          </a:xfrm>
          <a:custGeom>
            <a:avLst/>
            <a:gdLst/>
            <a:ahLst/>
            <a:cxnLst/>
            <a:rect l="0" t="0" r="0" b="0"/>
            <a:pathLst>
              <a:path w="17367" h="40">
                <a:moveTo>
                  <a:pt x="20" y="20"/>
                </a:moveTo>
                <a:lnTo>
                  <a:pt x="17347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966" name="path"/>
          <p:cNvSpPr/>
          <p:nvPr/>
        </p:nvSpPr>
        <p:spPr>
          <a:xfrm>
            <a:off x="551498" y="6287515"/>
            <a:ext cx="11028679" cy="25400"/>
          </a:xfrm>
          <a:custGeom>
            <a:avLst/>
            <a:gdLst/>
            <a:ahLst/>
            <a:cxnLst/>
            <a:rect l="0" t="0" r="0" b="0"/>
            <a:pathLst>
              <a:path w="17367" h="40">
                <a:moveTo>
                  <a:pt x="20" y="20"/>
                </a:moveTo>
                <a:lnTo>
                  <a:pt x="17347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26920" y="1238885"/>
            <a:ext cx="2456180" cy="420370"/>
          </a:xfrm>
          <a:prstGeom prst="rect">
            <a:avLst/>
          </a:prstGeom>
          <a:solidFill>
            <a:srgbClr val="CCECFF">
              <a:alpha val="97000"/>
            </a:srgbClr>
          </a:solidFill>
          <a:ln>
            <a:solidFill>
              <a:srgbClr val="CCEC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kern="0" spc="6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b="1" kern="0" spc="-30" dirty="0">
                <a:solidFill>
                  <a:srgbClr val="1100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ferror(fp); </a:t>
            </a:r>
            <a:endParaRPr lang="zh-CN" altLang="en-US" b="1" kern="0" spc="-30" dirty="0">
              <a:solidFill>
                <a:srgbClr val="1100C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751830" y="2028190"/>
            <a:ext cx="5803265" cy="1616075"/>
          </a:xfrm>
          <a:prstGeom prst="rect">
            <a:avLst/>
          </a:prstGeom>
          <a:solidFill>
            <a:schemeClr val="bg1"/>
          </a:solidFill>
          <a:ln>
            <a:solidFill>
              <a:srgbClr val="78236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ern="0" spc="1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endParaRPr kern="0" spc="1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对同一个文件每一次调用输入输出函数，</a:t>
            </a:r>
            <a:r>
              <a:rPr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都会产生一个新</a:t>
            </a:r>
            <a:r>
              <a:rPr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ferror函数值， 因此</a:t>
            </a:r>
            <a:r>
              <a:rPr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应当在调用一个输入输出函数后立即检查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ferror函数的值，</a:t>
            </a:r>
            <a:r>
              <a:rPr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否则信息会丢失。</a:t>
            </a:r>
          </a:p>
          <a:p>
            <a:pPr algn="l"/>
            <a:endParaRPr lang="en-US" altLang="en-US" kern="0" spc="-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在执行fopen函数时，</a:t>
            </a:r>
            <a:r>
              <a:rPr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ferror函数的初</a:t>
            </a: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始值自动置为0。</a:t>
            </a:r>
            <a:endParaRPr lang="en-US" altLang="en-US" dirty="0"/>
          </a:p>
          <a:p>
            <a:pPr algn="l"/>
            <a:endParaRPr lang="en-US" altLang="en-US" dirty="0"/>
          </a:p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6e9bb6b-4b73-46d8-a310-5d4bb7e549df"/>
  <p:tag name="COMMONDATA" val="eyJoZGlkIjoiODY5YmNiYTY4NjQ3Zjc2MmM5YTEwNTg4NWRkNjhjO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08*157"/>
  <p:tag name="TABLE_ENDDRAG_RECT" val="78*183*808*15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08*157"/>
  <p:tag name="TABLE_ENDDRAG_RECT" val="78*183*808*157"/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4879</Words>
  <Application>Microsoft Office PowerPoint</Application>
  <PresentationFormat>宽屏</PresentationFormat>
  <Paragraphs>893</Paragraphs>
  <Slides>44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1" baseType="lpstr">
      <vt:lpstr>微软雅黑</vt:lpstr>
      <vt:lpstr>Arial</vt:lpstr>
      <vt:lpstr>Calibri</vt:lpstr>
      <vt:lpstr>Cambria Math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郭威威</cp:lastModifiedBy>
  <cp:revision>2159</cp:revision>
  <dcterms:created xsi:type="dcterms:W3CDTF">2024-08-20T11:49:58Z</dcterms:created>
  <dcterms:modified xsi:type="dcterms:W3CDTF">2024-11-02T09:35:40Z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2023-08-31T15:21:40Z</vt:filetime>
  </property>
  <property fmtid="{D5CDD505-2E9C-101B-9397-08002B2CF9AE}" pid="4" name="ICV">
    <vt:lpwstr>36D56E102CC04DF08FE89AD37F031C31_13</vt:lpwstr>
  </property>
  <property fmtid="{D5CDD505-2E9C-101B-9397-08002B2CF9AE}" pid="5" name="KSOProductBuildVer">
    <vt:lpwstr>2052-6.8.2.8850</vt:lpwstr>
  </property>
</Properties>
</file>