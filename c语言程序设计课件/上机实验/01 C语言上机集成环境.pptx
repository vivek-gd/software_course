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5"/>
  </p:notesMasterIdLst>
  <p:sldIdLst>
    <p:sldId id="256" r:id="rId2"/>
    <p:sldId id="394" r:id="rId3"/>
    <p:sldId id="383" r:id="rId4"/>
    <p:sldId id="384" r:id="rId5"/>
    <p:sldId id="386" r:id="rId6"/>
    <p:sldId id="387" r:id="rId7"/>
    <p:sldId id="388" r:id="rId8"/>
    <p:sldId id="389" r:id="rId9"/>
    <p:sldId id="390" r:id="rId10"/>
    <p:sldId id="391" r:id="rId11"/>
    <p:sldId id="344" r:id="rId12"/>
    <p:sldId id="361" r:id="rId13"/>
    <p:sldId id="362" r:id="rId14"/>
    <p:sldId id="363" r:id="rId15"/>
    <p:sldId id="364" r:id="rId16"/>
    <p:sldId id="365" r:id="rId17"/>
    <p:sldId id="366" r:id="rId18"/>
    <p:sldId id="367" r:id="rId19"/>
    <p:sldId id="368" r:id="rId20"/>
    <p:sldId id="369" r:id="rId21"/>
    <p:sldId id="370" r:id="rId22"/>
    <p:sldId id="371" r:id="rId23"/>
    <p:sldId id="372" r:id="rId24"/>
    <p:sldId id="373" r:id="rId25"/>
    <p:sldId id="374" r:id="rId26"/>
    <p:sldId id="385" r:id="rId27"/>
    <p:sldId id="392" r:id="rId28"/>
    <p:sldId id="393" r:id="rId29"/>
    <p:sldId id="378" r:id="rId30"/>
    <p:sldId id="379" r:id="rId31"/>
    <p:sldId id="263" r:id="rId32"/>
    <p:sldId id="380" r:id="rId33"/>
    <p:sldId id="381" r:id="rId34"/>
  </p:sldIdLst>
  <p:sldSz cx="12192000" cy="6858000"/>
  <p:notesSz cx="12192000" cy="6858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65" autoAdjust="0"/>
    <p:restoredTop sz="96420" autoAdjust="0"/>
  </p:normalViewPr>
  <p:slideViewPr>
    <p:cSldViewPr>
      <p:cViewPr varScale="1">
        <p:scale>
          <a:sx n="108" d="100"/>
          <a:sy n="108" d="100"/>
        </p:scale>
        <p:origin x="606" y="10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19392F-EAD1-4C55-9E94-F2D07D12EE6E}" type="datetimeFigureOut">
              <a:rPr lang="zh-CN" altLang="en-US" smtClean="0"/>
              <a:t>2023/9/19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2B78E7-8B9F-4F1E-885B-3725FE4575C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133425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2B78E7-8B9F-4F1E-885B-3725FE4575C6}" type="slidenum">
              <a:rPr lang="zh-CN" altLang="en-US" smtClean="0"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8281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bk object 19"/>
          <p:cNvSpPr/>
          <p:nvPr/>
        </p:nvSpPr>
        <p:spPr>
          <a:xfrm>
            <a:off x="8064245" y="962405"/>
            <a:ext cx="451484" cy="523240"/>
          </a:xfrm>
          <a:custGeom>
            <a:avLst/>
            <a:gdLst/>
            <a:ahLst/>
            <a:cxnLst/>
            <a:rect l="l" t="t" r="r" b="b"/>
            <a:pathLst>
              <a:path w="451484" h="523240">
                <a:moveTo>
                  <a:pt x="225551" y="0"/>
                </a:moveTo>
                <a:lnTo>
                  <a:pt x="451103" y="112776"/>
                </a:lnTo>
                <a:lnTo>
                  <a:pt x="451103" y="409956"/>
                </a:lnTo>
                <a:lnTo>
                  <a:pt x="225551" y="522732"/>
                </a:lnTo>
                <a:lnTo>
                  <a:pt x="0" y="409956"/>
                </a:lnTo>
                <a:lnTo>
                  <a:pt x="0" y="112776"/>
                </a:lnTo>
                <a:lnTo>
                  <a:pt x="225551" y="0"/>
                </a:lnTo>
                <a:close/>
              </a:path>
            </a:pathLst>
          </a:custGeom>
          <a:ln w="25908">
            <a:solidFill>
              <a:srgbClr val="A6A6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k object 20"/>
          <p:cNvSpPr/>
          <p:nvPr/>
        </p:nvSpPr>
        <p:spPr>
          <a:xfrm>
            <a:off x="10300716" y="128015"/>
            <a:ext cx="170687" cy="19659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k object 21"/>
          <p:cNvSpPr/>
          <p:nvPr/>
        </p:nvSpPr>
        <p:spPr>
          <a:xfrm>
            <a:off x="3745991" y="832103"/>
            <a:ext cx="763905" cy="887094"/>
          </a:xfrm>
          <a:custGeom>
            <a:avLst/>
            <a:gdLst/>
            <a:ahLst/>
            <a:cxnLst/>
            <a:rect l="l" t="t" r="r" b="b"/>
            <a:pathLst>
              <a:path w="763904" h="887094">
                <a:moveTo>
                  <a:pt x="381762" y="0"/>
                </a:moveTo>
                <a:lnTo>
                  <a:pt x="763524" y="190881"/>
                </a:lnTo>
                <a:lnTo>
                  <a:pt x="763524" y="696087"/>
                </a:lnTo>
                <a:lnTo>
                  <a:pt x="381762" y="886968"/>
                </a:lnTo>
                <a:lnTo>
                  <a:pt x="0" y="696087"/>
                </a:lnTo>
                <a:lnTo>
                  <a:pt x="0" y="190881"/>
                </a:lnTo>
                <a:lnTo>
                  <a:pt x="381762" y="0"/>
                </a:lnTo>
                <a:close/>
              </a:path>
            </a:pathLst>
          </a:custGeom>
          <a:ln w="9144">
            <a:solidFill>
              <a:srgbClr val="AC2B2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k object 22"/>
          <p:cNvSpPr/>
          <p:nvPr/>
        </p:nvSpPr>
        <p:spPr>
          <a:xfrm>
            <a:off x="11276076" y="1207008"/>
            <a:ext cx="187451" cy="21488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k object 23"/>
          <p:cNvSpPr/>
          <p:nvPr/>
        </p:nvSpPr>
        <p:spPr>
          <a:xfrm>
            <a:off x="932688" y="662940"/>
            <a:ext cx="178308" cy="20573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k object 24"/>
          <p:cNvSpPr/>
          <p:nvPr/>
        </p:nvSpPr>
        <p:spPr>
          <a:xfrm>
            <a:off x="4590288" y="749808"/>
            <a:ext cx="318770" cy="368935"/>
          </a:xfrm>
          <a:custGeom>
            <a:avLst/>
            <a:gdLst/>
            <a:ahLst/>
            <a:cxnLst/>
            <a:rect l="l" t="t" r="r" b="b"/>
            <a:pathLst>
              <a:path w="318770" h="368934">
                <a:moveTo>
                  <a:pt x="159258" y="0"/>
                </a:moveTo>
                <a:lnTo>
                  <a:pt x="0" y="79628"/>
                </a:lnTo>
                <a:lnTo>
                  <a:pt x="0" y="289178"/>
                </a:lnTo>
                <a:lnTo>
                  <a:pt x="159258" y="368807"/>
                </a:lnTo>
                <a:lnTo>
                  <a:pt x="318515" y="289178"/>
                </a:lnTo>
                <a:lnTo>
                  <a:pt x="318515" y="79628"/>
                </a:lnTo>
                <a:lnTo>
                  <a:pt x="159258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k object 25"/>
          <p:cNvSpPr/>
          <p:nvPr/>
        </p:nvSpPr>
        <p:spPr>
          <a:xfrm>
            <a:off x="9997440" y="1130808"/>
            <a:ext cx="647065" cy="396875"/>
          </a:xfrm>
          <a:custGeom>
            <a:avLst/>
            <a:gdLst/>
            <a:ahLst/>
            <a:cxnLst/>
            <a:rect l="l" t="t" r="r" b="b"/>
            <a:pathLst>
              <a:path w="647065" h="396875">
                <a:moveTo>
                  <a:pt x="0" y="0"/>
                </a:moveTo>
                <a:lnTo>
                  <a:pt x="647064" y="396620"/>
                </a:lnTo>
              </a:path>
            </a:pathLst>
          </a:custGeom>
          <a:ln w="9144">
            <a:solidFill>
              <a:srgbClr val="BEBEB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bk object 26"/>
          <p:cNvSpPr/>
          <p:nvPr/>
        </p:nvSpPr>
        <p:spPr>
          <a:xfrm>
            <a:off x="3898391" y="466344"/>
            <a:ext cx="692150" cy="366395"/>
          </a:xfrm>
          <a:custGeom>
            <a:avLst/>
            <a:gdLst/>
            <a:ahLst/>
            <a:cxnLst/>
            <a:rect l="l" t="t" r="r" b="b"/>
            <a:pathLst>
              <a:path w="692150" h="366394">
                <a:moveTo>
                  <a:pt x="0" y="0"/>
                </a:moveTo>
                <a:lnTo>
                  <a:pt x="691896" y="366267"/>
                </a:lnTo>
              </a:path>
            </a:pathLst>
          </a:custGeom>
          <a:ln w="9143">
            <a:solidFill>
              <a:srgbClr val="BEBEB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452749" y="2188540"/>
            <a:ext cx="8018653" cy="11233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200" b="0" i="0">
                <a:solidFill>
                  <a:srgbClr val="252525"/>
                </a:solidFill>
                <a:latin typeface="宋体"/>
                <a:cs typeface="宋体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9/19/2023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10890504" y="6822185"/>
            <a:ext cx="1301750" cy="0"/>
          </a:xfrm>
          <a:custGeom>
            <a:avLst/>
            <a:gdLst/>
            <a:ahLst/>
            <a:cxnLst/>
            <a:rect l="l" t="t" r="r" b="b"/>
            <a:pathLst>
              <a:path w="1301750">
                <a:moveTo>
                  <a:pt x="0" y="0"/>
                </a:moveTo>
                <a:lnTo>
                  <a:pt x="1301496" y="0"/>
                </a:lnTo>
              </a:path>
            </a:pathLst>
          </a:custGeom>
          <a:ln w="71628">
            <a:solidFill>
              <a:srgbClr val="48504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k object 18"/>
          <p:cNvSpPr/>
          <p:nvPr/>
        </p:nvSpPr>
        <p:spPr>
          <a:xfrm>
            <a:off x="323088" y="763523"/>
            <a:ext cx="11544935" cy="0"/>
          </a:xfrm>
          <a:custGeom>
            <a:avLst/>
            <a:gdLst/>
            <a:ahLst/>
            <a:cxnLst/>
            <a:rect l="l" t="t" r="r" b="b"/>
            <a:pathLst>
              <a:path w="11544935">
                <a:moveTo>
                  <a:pt x="11544808" y="0"/>
                </a:moveTo>
                <a:lnTo>
                  <a:pt x="0" y="0"/>
                </a:lnTo>
              </a:path>
            </a:pathLst>
          </a:custGeom>
          <a:ln w="9144">
            <a:solidFill>
              <a:srgbClr val="F1F1F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k object 19"/>
          <p:cNvSpPr/>
          <p:nvPr/>
        </p:nvSpPr>
        <p:spPr>
          <a:xfrm>
            <a:off x="0" y="420623"/>
            <a:ext cx="143510" cy="220979"/>
          </a:xfrm>
          <a:custGeom>
            <a:avLst/>
            <a:gdLst/>
            <a:ahLst/>
            <a:cxnLst/>
            <a:rect l="l" t="t" r="r" b="b"/>
            <a:pathLst>
              <a:path w="143510" h="220979">
                <a:moveTo>
                  <a:pt x="0" y="220979"/>
                </a:moveTo>
                <a:lnTo>
                  <a:pt x="143256" y="220979"/>
                </a:lnTo>
                <a:lnTo>
                  <a:pt x="143256" y="0"/>
                </a:lnTo>
                <a:lnTo>
                  <a:pt x="0" y="0"/>
                </a:lnTo>
                <a:lnTo>
                  <a:pt x="0" y="220979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k object 20"/>
          <p:cNvSpPr/>
          <p:nvPr/>
        </p:nvSpPr>
        <p:spPr>
          <a:xfrm>
            <a:off x="183642" y="420623"/>
            <a:ext cx="0" cy="220979"/>
          </a:xfrm>
          <a:custGeom>
            <a:avLst/>
            <a:gdLst/>
            <a:ahLst/>
            <a:cxnLst/>
            <a:rect l="l" t="t" r="r" b="b"/>
            <a:pathLst>
              <a:path h="220979">
                <a:moveTo>
                  <a:pt x="0" y="0"/>
                </a:moveTo>
                <a:lnTo>
                  <a:pt x="0" y="220979"/>
                </a:lnTo>
              </a:path>
            </a:pathLst>
          </a:custGeom>
          <a:ln w="80772">
            <a:solidFill>
              <a:srgbClr val="AC2B2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C00000"/>
                </a:solidFill>
                <a:latin typeface="微软雅黑"/>
                <a:cs typeface="微软雅黑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rgbClr val="585858"/>
                </a:solidFill>
                <a:latin typeface="宋体"/>
                <a:cs typeface="宋体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9/19/2023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  <p:sp>
        <p:nvSpPr>
          <p:cNvPr id="11" name="矩形 22"/>
          <p:cNvSpPr>
            <a:spLocks noChangeArrowheads="1"/>
          </p:cNvSpPr>
          <p:nvPr userDrawn="1"/>
        </p:nvSpPr>
        <p:spPr bwMode="auto">
          <a:xfrm>
            <a:off x="1" y="6800153"/>
            <a:ext cx="3581400" cy="57847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10890504" y="6822185"/>
            <a:ext cx="1301750" cy="0"/>
          </a:xfrm>
          <a:custGeom>
            <a:avLst/>
            <a:gdLst/>
            <a:ahLst/>
            <a:cxnLst/>
            <a:rect l="l" t="t" r="r" b="b"/>
            <a:pathLst>
              <a:path w="1301750">
                <a:moveTo>
                  <a:pt x="0" y="0"/>
                </a:moveTo>
                <a:lnTo>
                  <a:pt x="1301496" y="0"/>
                </a:lnTo>
              </a:path>
            </a:pathLst>
          </a:custGeom>
          <a:ln w="71628">
            <a:solidFill>
              <a:srgbClr val="48504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k object 18"/>
          <p:cNvSpPr/>
          <p:nvPr/>
        </p:nvSpPr>
        <p:spPr>
          <a:xfrm>
            <a:off x="323088" y="763523"/>
            <a:ext cx="11544935" cy="0"/>
          </a:xfrm>
          <a:custGeom>
            <a:avLst/>
            <a:gdLst/>
            <a:ahLst/>
            <a:cxnLst/>
            <a:rect l="l" t="t" r="r" b="b"/>
            <a:pathLst>
              <a:path w="11544935">
                <a:moveTo>
                  <a:pt x="11544808" y="0"/>
                </a:moveTo>
                <a:lnTo>
                  <a:pt x="0" y="0"/>
                </a:lnTo>
              </a:path>
            </a:pathLst>
          </a:custGeom>
          <a:ln w="9144">
            <a:solidFill>
              <a:srgbClr val="F1F1F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k object 19"/>
          <p:cNvSpPr/>
          <p:nvPr/>
        </p:nvSpPr>
        <p:spPr>
          <a:xfrm>
            <a:off x="0" y="420623"/>
            <a:ext cx="143510" cy="220979"/>
          </a:xfrm>
          <a:custGeom>
            <a:avLst/>
            <a:gdLst/>
            <a:ahLst/>
            <a:cxnLst/>
            <a:rect l="l" t="t" r="r" b="b"/>
            <a:pathLst>
              <a:path w="143510" h="220979">
                <a:moveTo>
                  <a:pt x="0" y="220979"/>
                </a:moveTo>
                <a:lnTo>
                  <a:pt x="143256" y="220979"/>
                </a:lnTo>
                <a:lnTo>
                  <a:pt x="143256" y="0"/>
                </a:lnTo>
                <a:lnTo>
                  <a:pt x="0" y="0"/>
                </a:lnTo>
                <a:lnTo>
                  <a:pt x="0" y="220979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k object 20"/>
          <p:cNvSpPr/>
          <p:nvPr/>
        </p:nvSpPr>
        <p:spPr>
          <a:xfrm>
            <a:off x="183642" y="420623"/>
            <a:ext cx="0" cy="220979"/>
          </a:xfrm>
          <a:custGeom>
            <a:avLst/>
            <a:gdLst/>
            <a:ahLst/>
            <a:cxnLst/>
            <a:rect l="l" t="t" r="r" b="b"/>
            <a:pathLst>
              <a:path h="220979">
                <a:moveTo>
                  <a:pt x="0" y="0"/>
                </a:moveTo>
                <a:lnTo>
                  <a:pt x="0" y="220979"/>
                </a:lnTo>
              </a:path>
            </a:pathLst>
          </a:custGeom>
          <a:ln w="80772">
            <a:solidFill>
              <a:srgbClr val="AC2B2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C00000"/>
                </a:solidFill>
                <a:latin typeface="微软雅黑"/>
                <a:cs typeface="微软雅黑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019555" y="1938527"/>
            <a:ext cx="4346575" cy="38588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9/19/2023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  <p:sp>
        <p:nvSpPr>
          <p:cNvPr id="12" name="矩形 22"/>
          <p:cNvSpPr>
            <a:spLocks noChangeArrowheads="1"/>
          </p:cNvSpPr>
          <p:nvPr userDrawn="1"/>
        </p:nvSpPr>
        <p:spPr bwMode="auto">
          <a:xfrm>
            <a:off x="1" y="6800153"/>
            <a:ext cx="3581400" cy="57847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C00000"/>
                </a:solidFill>
                <a:latin typeface="微软雅黑"/>
                <a:cs typeface="微软雅黑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9/19/2023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9/19/2023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  <p:sp>
        <p:nvSpPr>
          <p:cNvPr id="5" name="矩形 22"/>
          <p:cNvSpPr>
            <a:spLocks noChangeArrowheads="1"/>
          </p:cNvSpPr>
          <p:nvPr userDrawn="1"/>
        </p:nvSpPr>
        <p:spPr bwMode="auto">
          <a:xfrm>
            <a:off x="1" y="6800153"/>
            <a:ext cx="3581400" cy="57847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6" name="bk object 16"/>
          <p:cNvSpPr/>
          <p:nvPr userDrawn="1"/>
        </p:nvSpPr>
        <p:spPr>
          <a:xfrm>
            <a:off x="10890504" y="6822185"/>
            <a:ext cx="1301750" cy="0"/>
          </a:xfrm>
          <a:custGeom>
            <a:avLst/>
            <a:gdLst/>
            <a:ahLst/>
            <a:cxnLst/>
            <a:rect l="l" t="t" r="r" b="b"/>
            <a:pathLst>
              <a:path w="1301750">
                <a:moveTo>
                  <a:pt x="0" y="0"/>
                </a:moveTo>
                <a:lnTo>
                  <a:pt x="1301496" y="0"/>
                </a:lnTo>
              </a:path>
            </a:pathLst>
          </a:custGeom>
          <a:ln w="71628">
            <a:solidFill>
              <a:srgbClr val="48504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10890504" y="6822185"/>
            <a:ext cx="1301750" cy="0"/>
          </a:xfrm>
          <a:custGeom>
            <a:avLst/>
            <a:gdLst/>
            <a:ahLst/>
            <a:cxnLst/>
            <a:rect l="l" t="t" r="r" b="b"/>
            <a:pathLst>
              <a:path w="1301750">
                <a:moveTo>
                  <a:pt x="0" y="0"/>
                </a:moveTo>
                <a:lnTo>
                  <a:pt x="1301496" y="0"/>
                </a:lnTo>
              </a:path>
            </a:pathLst>
          </a:custGeom>
          <a:ln w="71628">
            <a:solidFill>
              <a:srgbClr val="48504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67562" y="272922"/>
            <a:ext cx="10456875" cy="3911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rgbClr val="C00000"/>
                </a:solidFill>
                <a:latin typeface="微软雅黑"/>
                <a:cs typeface="微软雅黑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7220" y="2112670"/>
            <a:ext cx="10957560" cy="14890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rgbClr val="585858"/>
                </a:solidFill>
                <a:latin typeface="宋体"/>
                <a:cs typeface="宋体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9/19/2023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  <p:sp>
        <p:nvSpPr>
          <p:cNvPr id="8" name="矩形 22"/>
          <p:cNvSpPr>
            <a:spLocks noChangeArrowheads="1"/>
          </p:cNvSpPr>
          <p:nvPr userDrawn="1"/>
        </p:nvSpPr>
        <p:spPr bwMode="auto">
          <a:xfrm>
            <a:off x="1" y="6800153"/>
            <a:ext cx="3581400" cy="57847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ctrTitle"/>
          </p:nvPr>
        </p:nvSpPr>
        <p:spPr>
          <a:xfrm>
            <a:off x="1676400" y="2590800"/>
            <a:ext cx="9448800" cy="1846659"/>
          </a:xfrm>
        </p:spPr>
        <p:txBody>
          <a:bodyPr/>
          <a:lstStyle/>
          <a:p>
            <a:r>
              <a:rPr lang="en-US" altLang="zh-CN" sz="6000" dirty="0" smtClean="0"/>
              <a:t>01 C</a:t>
            </a:r>
            <a:r>
              <a:rPr lang="zh-CN" altLang="en-US" sz="6000" dirty="0" smtClean="0"/>
              <a:t>语言上机集成开发环境</a:t>
            </a:r>
            <a:endParaRPr lang="zh-CN" altLang="en-US" sz="6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67562" y="272922"/>
            <a:ext cx="10456875" cy="738664"/>
          </a:xfrm>
        </p:spPr>
        <p:txBody>
          <a:bodyPr/>
          <a:lstStyle/>
          <a:p>
            <a:r>
              <a:rPr lang="zh-CN" altLang="en-US" dirty="0"/>
              <a:t>开发步骤</a:t>
            </a:r>
            <a:br>
              <a:rPr lang="zh-CN" altLang="en-US" dirty="0"/>
            </a:b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762000" y="1600200"/>
            <a:ext cx="6096000" cy="3970318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479988" algn="ctr" defTabSz="609585">
              <a:lnSpc>
                <a:spcPct val="200000"/>
              </a:lnSpc>
              <a:defRPr/>
            </a:pP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1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需求分析 </a:t>
            </a:r>
          </a:p>
          <a:p>
            <a:pPr indent="479988" algn="ctr" defTabSz="609585">
              <a:lnSpc>
                <a:spcPct val="200000"/>
              </a:lnSpc>
              <a:defRPr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算法设计 </a:t>
            </a:r>
          </a:p>
          <a:p>
            <a:pPr indent="479988" algn="ctr" defTabSz="609585">
              <a:lnSpc>
                <a:spcPct val="200000"/>
              </a:lnSpc>
              <a:defRPr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编写程序 </a:t>
            </a:r>
          </a:p>
          <a:p>
            <a:pPr indent="479988" algn="ctr" defTabSz="609585">
              <a:lnSpc>
                <a:spcPct val="200000"/>
              </a:lnSpc>
              <a:defRPr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编译程序 </a:t>
            </a:r>
          </a:p>
          <a:p>
            <a:pPr indent="479988" algn="ctr" defTabSz="609585">
              <a:lnSpc>
                <a:spcPct val="200000"/>
              </a:lnSpc>
              <a:defRPr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连接程序 </a:t>
            </a:r>
          </a:p>
          <a:p>
            <a:pPr indent="479988" algn="ctr" defTabSz="609585">
              <a:lnSpc>
                <a:spcPct val="200000"/>
              </a:lnSpc>
              <a:defRPr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运行程序</a:t>
            </a:r>
          </a:p>
          <a:p>
            <a:pPr indent="479988" algn="ctr" defTabSz="609585">
              <a:lnSpc>
                <a:spcPct val="200000"/>
              </a:lnSpc>
              <a:defRPr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  7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编写程序文档</a:t>
            </a:r>
          </a:p>
        </p:txBody>
      </p:sp>
    </p:spTree>
    <p:extLst>
      <p:ext uri="{BB962C8B-B14F-4D97-AF65-F5344CB8AC3E}">
        <p14:creationId xmlns:p14="http://schemas.microsoft.com/office/powerpoint/2010/main" val="9119407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67562" y="272922"/>
            <a:ext cx="10456875" cy="369332"/>
          </a:xfrm>
        </p:spPr>
        <p:txBody>
          <a:bodyPr/>
          <a:lstStyle/>
          <a:p>
            <a:r>
              <a:rPr lang="en-US" altLang="zh-CN" dirty="0"/>
              <a:t>C</a:t>
            </a:r>
            <a:r>
              <a:rPr lang="zh-CN" altLang="en-US" dirty="0"/>
              <a:t>语言编译器</a:t>
            </a:r>
          </a:p>
        </p:txBody>
      </p:sp>
      <p:sp>
        <p:nvSpPr>
          <p:cNvPr id="4" name="矩形 3"/>
          <p:cNvSpPr/>
          <p:nvPr/>
        </p:nvSpPr>
        <p:spPr>
          <a:xfrm>
            <a:off x="762000" y="1600200"/>
            <a:ext cx="10210800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79988" algn="just" defTabSz="609585">
              <a:lnSpc>
                <a:spcPct val="200000"/>
              </a:lnSpc>
              <a:defRPr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GCC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GNU Compiler Collection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GNU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编译器套件）：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GNU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GNU’s Not Unix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GNU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并非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Unix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）组织开发的开源免费的编译器。</a:t>
            </a:r>
          </a:p>
          <a:p>
            <a:pPr indent="479988" algn="just" defTabSz="609585">
              <a:lnSpc>
                <a:spcPct val="200000"/>
              </a:lnSpc>
              <a:defRPr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MinGW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Minimalist GNU for Windows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Windows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的极简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GNU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Windows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操作系统下的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GCC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 indent="479988" algn="just" defTabSz="609585">
              <a:lnSpc>
                <a:spcPct val="200000"/>
              </a:lnSpc>
              <a:defRPr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Clang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：开源的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BSD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Berkeley Software Distribution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，伯克利软件套件）协议的基于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LLVM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Low Level Machine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，底层虚拟机）编译器。</a:t>
            </a:r>
          </a:p>
          <a:p>
            <a:pPr indent="479988" algn="just" defTabSz="609585">
              <a:lnSpc>
                <a:spcPct val="200000"/>
              </a:lnSpc>
              <a:defRPr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Cl.exe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Microsoft Visual C++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自带的编译器。</a:t>
            </a:r>
          </a:p>
        </p:txBody>
      </p:sp>
    </p:spTree>
    <p:extLst>
      <p:ext uri="{BB962C8B-B14F-4D97-AF65-F5344CB8AC3E}">
        <p14:creationId xmlns:p14="http://schemas.microsoft.com/office/powerpoint/2010/main" val="27977535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67562" y="272922"/>
            <a:ext cx="10456875" cy="369332"/>
          </a:xfrm>
        </p:spPr>
        <p:txBody>
          <a:bodyPr/>
          <a:lstStyle/>
          <a:p>
            <a:r>
              <a:rPr lang="en-US" altLang="zh-CN" dirty="0"/>
              <a:t>C</a:t>
            </a:r>
            <a:r>
              <a:rPr lang="zh-CN" altLang="en-US" dirty="0"/>
              <a:t>语言集成开发环境</a:t>
            </a:r>
          </a:p>
        </p:txBody>
      </p:sp>
      <p:sp>
        <p:nvSpPr>
          <p:cNvPr id="4" name="矩形 3"/>
          <p:cNvSpPr/>
          <p:nvPr/>
        </p:nvSpPr>
        <p:spPr>
          <a:xfrm>
            <a:off x="762000" y="1600200"/>
            <a:ext cx="1021080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79988" algn="just" defTabSz="609585">
              <a:lnSpc>
                <a:spcPct val="200000"/>
              </a:lnSpc>
              <a:defRPr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Code::Blocks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：开源免费的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C/C++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集成开发环境。</a:t>
            </a:r>
          </a:p>
          <a:p>
            <a:pPr indent="479988" algn="just" defTabSz="609585">
              <a:lnSpc>
                <a:spcPct val="200000"/>
              </a:lnSpc>
              <a:defRPr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CodeLite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：开源、跨平台的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C/C++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集成开发环境。</a:t>
            </a:r>
          </a:p>
          <a:p>
            <a:pPr indent="479988" algn="just" defTabSz="609585">
              <a:lnSpc>
                <a:spcPct val="200000"/>
              </a:lnSpc>
              <a:defRPr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Dev-C++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：可移植的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C/C++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集成开发环境。</a:t>
            </a:r>
          </a:p>
          <a:p>
            <a:pPr indent="479988" algn="just" defTabSz="609585">
              <a:lnSpc>
                <a:spcPct val="200000"/>
              </a:lnSpc>
              <a:defRPr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Visual Studio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系列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479988" algn="just" defTabSz="609585">
              <a:lnSpc>
                <a:spcPct val="200000"/>
              </a:lnSpc>
              <a:defRPr/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en-US" altLang="zh-CN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Jetbrainsclion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：跨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平台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C/C++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智能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IDE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623997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67562" y="272922"/>
            <a:ext cx="10456875" cy="369332"/>
          </a:xfrm>
        </p:spPr>
        <p:txBody>
          <a:bodyPr/>
          <a:lstStyle/>
          <a:p>
            <a:r>
              <a:rPr lang="zh-CN" altLang="en-US" dirty="0" smtClean="0"/>
              <a:t>常见错误分析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762000" y="1600200"/>
            <a:ext cx="10210800" cy="1116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79988" algn="just" defTabSz="609585">
              <a:lnSpc>
                <a:spcPct val="200000"/>
              </a:lnSpc>
              <a:defRPr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语句后少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分号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479988" algn="just" defTabSz="609585">
              <a:lnSpc>
                <a:spcPct val="200000"/>
              </a:lnSpc>
              <a:defRPr/>
            </a:pP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8"/>
          <p:cNvSpPr txBox="1">
            <a:spLocks noChangeArrowheads="1"/>
          </p:cNvSpPr>
          <p:nvPr/>
        </p:nvSpPr>
        <p:spPr bwMode="auto">
          <a:xfrm>
            <a:off x="1219200" y="2590800"/>
            <a:ext cx="8686800" cy="25853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6080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6080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6080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6080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#include&lt;</a:t>
            </a:r>
            <a:r>
              <a:rPr lang="en-US" altLang="zh-CN" sz="1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stdio.h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&gt; </a:t>
            </a:r>
          </a:p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zh-CN" sz="1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int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main() </a:t>
            </a:r>
          </a:p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{ </a:t>
            </a:r>
          </a:p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en-US" altLang="zh-CN" sz="1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printf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("</a:t>
            </a:r>
            <a:r>
              <a:rPr lang="en-US" altLang="zh-CN" sz="1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Hello,World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") 			/*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语句后少了分号*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  </a:t>
            </a:r>
          </a:p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return 0;                </a:t>
            </a:r>
          </a:p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}   </a:t>
            </a:r>
          </a:p>
        </p:txBody>
      </p:sp>
      <p:pic>
        <p:nvPicPr>
          <p:cNvPr id="6" name="Picture 54" descr="2008041823085517_lit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6718" y="1752600"/>
            <a:ext cx="690563" cy="5244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194335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67562" y="272922"/>
            <a:ext cx="10456875" cy="369332"/>
          </a:xfrm>
        </p:spPr>
        <p:txBody>
          <a:bodyPr/>
          <a:lstStyle/>
          <a:p>
            <a:r>
              <a:rPr lang="zh-CN" altLang="en-US" dirty="0" smtClean="0"/>
              <a:t>常见错误分析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762000" y="1600200"/>
            <a:ext cx="10210800" cy="5627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79988" algn="just" defTabSz="609585">
              <a:lnSpc>
                <a:spcPct val="200000"/>
              </a:lnSpc>
              <a:defRPr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语句中出现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中文字符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Picture 54" descr="2008041823085517_lit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6718" y="1752600"/>
            <a:ext cx="690563" cy="5244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文本框 8"/>
          <p:cNvSpPr txBox="1">
            <a:spLocks noChangeArrowheads="1"/>
          </p:cNvSpPr>
          <p:nvPr/>
        </p:nvSpPr>
        <p:spPr bwMode="auto">
          <a:xfrm>
            <a:off x="1219200" y="2514600"/>
            <a:ext cx="8658225" cy="25853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6080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6080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6080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6080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#include&lt;</a:t>
            </a:r>
            <a:r>
              <a:rPr lang="en-US" altLang="zh-CN" sz="1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stdio.h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&gt;                </a:t>
            </a:r>
          </a:p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zh-CN" sz="1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int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main()                       </a:t>
            </a:r>
          </a:p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{                                </a:t>
            </a:r>
          </a:p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en-US" altLang="zh-CN" sz="1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printf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(“</a:t>
            </a:r>
            <a:r>
              <a:rPr lang="en-US" altLang="zh-CN" sz="1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Hello,World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”); 			/*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使用了中文双引号*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</a:p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return 0;</a:t>
            </a:r>
          </a:p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} </a:t>
            </a:r>
          </a:p>
        </p:txBody>
      </p:sp>
    </p:spTree>
    <p:extLst>
      <p:ext uri="{BB962C8B-B14F-4D97-AF65-F5344CB8AC3E}">
        <p14:creationId xmlns:p14="http://schemas.microsoft.com/office/powerpoint/2010/main" val="16290048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67562" y="272922"/>
            <a:ext cx="10456875" cy="369332"/>
          </a:xfrm>
        </p:spPr>
        <p:txBody>
          <a:bodyPr/>
          <a:lstStyle/>
          <a:p>
            <a:r>
              <a:rPr lang="zh-CN" altLang="en-US" dirty="0" smtClean="0"/>
              <a:t>常见错误分析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762000" y="1600200"/>
            <a:ext cx="10210800" cy="5627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79988" algn="just" defTabSz="609585">
              <a:lnSpc>
                <a:spcPct val="200000"/>
              </a:lnSpc>
              <a:defRPr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大括号不成对出现</a:t>
            </a:r>
          </a:p>
        </p:txBody>
      </p:sp>
      <p:pic>
        <p:nvPicPr>
          <p:cNvPr id="6" name="Picture 54" descr="2008041823085517_lit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6718" y="1752600"/>
            <a:ext cx="690563" cy="5244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文本框 8"/>
          <p:cNvSpPr txBox="1">
            <a:spLocks noChangeArrowheads="1"/>
          </p:cNvSpPr>
          <p:nvPr/>
        </p:nvSpPr>
        <p:spPr bwMode="auto">
          <a:xfrm>
            <a:off x="1233487" y="2514600"/>
            <a:ext cx="9267825" cy="2169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6080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6080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6080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6080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#include&lt;</a:t>
            </a:r>
            <a:r>
              <a:rPr lang="en-US" altLang="zh-CN" sz="1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stdio.h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&gt;                </a:t>
            </a:r>
          </a:p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zh-CN" sz="1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int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main()                       </a:t>
            </a:r>
          </a:p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{                                </a:t>
            </a:r>
          </a:p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en-US" altLang="zh-CN" sz="1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printf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("</a:t>
            </a:r>
            <a:r>
              <a:rPr lang="en-US" altLang="zh-CN" sz="1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Hello,World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"); </a:t>
            </a:r>
          </a:p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return 0;	 				/*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缺少右大括号*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</a:p>
        </p:txBody>
      </p:sp>
    </p:spTree>
    <p:extLst>
      <p:ext uri="{BB962C8B-B14F-4D97-AF65-F5344CB8AC3E}">
        <p14:creationId xmlns:p14="http://schemas.microsoft.com/office/powerpoint/2010/main" val="17119405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67562" y="272922"/>
            <a:ext cx="10456875" cy="369332"/>
          </a:xfrm>
        </p:spPr>
        <p:txBody>
          <a:bodyPr/>
          <a:lstStyle/>
          <a:p>
            <a:r>
              <a:rPr lang="zh-CN" altLang="en-US" dirty="0" smtClean="0"/>
              <a:t>常见错误分析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762000" y="1600200"/>
            <a:ext cx="10210800" cy="5627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79988" algn="just" defTabSz="609585">
              <a:lnSpc>
                <a:spcPct val="200000"/>
              </a:lnSpc>
              <a:defRPr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main()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函数首字母大写</a:t>
            </a:r>
          </a:p>
        </p:txBody>
      </p:sp>
      <p:pic>
        <p:nvPicPr>
          <p:cNvPr id="6" name="Picture 54" descr="2008041823085517_lit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6718" y="1752600"/>
            <a:ext cx="690563" cy="5244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文本框 8"/>
          <p:cNvSpPr txBox="1">
            <a:spLocks noChangeArrowheads="1"/>
          </p:cNvSpPr>
          <p:nvPr/>
        </p:nvSpPr>
        <p:spPr bwMode="auto">
          <a:xfrm>
            <a:off x="1219200" y="2438400"/>
            <a:ext cx="7483475" cy="2536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6080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6080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6080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6080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#include&lt;</a:t>
            </a:r>
            <a:r>
              <a:rPr lang="en-US" altLang="zh-CN" sz="1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stdio.h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&gt;                </a:t>
            </a:r>
          </a:p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zh-CN" sz="1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int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Main()                    /*main()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函数第一个字母大写*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    </a:t>
            </a:r>
          </a:p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{                                </a:t>
            </a:r>
          </a:p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en-US" altLang="zh-CN" sz="1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printf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("</a:t>
            </a:r>
            <a:r>
              <a:rPr lang="en-US" altLang="zh-CN" sz="1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Hello,World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");     </a:t>
            </a:r>
          </a:p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return 0;                    </a:t>
            </a:r>
          </a:p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9060465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67562" y="272922"/>
            <a:ext cx="10456875" cy="369332"/>
          </a:xfrm>
        </p:spPr>
        <p:txBody>
          <a:bodyPr/>
          <a:lstStyle/>
          <a:p>
            <a:r>
              <a:rPr lang="zh-CN" altLang="en-US" dirty="0" smtClean="0"/>
              <a:t>常见错误分析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762000" y="1600200"/>
            <a:ext cx="10210800" cy="5627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79988" algn="just" defTabSz="609585">
              <a:lnSpc>
                <a:spcPct val="200000"/>
              </a:lnSpc>
              <a:defRPr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标识符、关键字之间缺少空格</a:t>
            </a:r>
          </a:p>
        </p:txBody>
      </p:sp>
      <p:pic>
        <p:nvPicPr>
          <p:cNvPr id="6" name="Picture 54" descr="2008041823085517_lit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6718" y="1752600"/>
            <a:ext cx="690563" cy="5244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文本框 8"/>
          <p:cNvSpPr txBox="1">
            <a:spLocks noChangeArrowheads="1"/>
          </p:cNvSpPr>
          <p:nvPr/>
        </p:nvSpPr>
        <p:spPr bwMode="auto">
          <a:xfrm>
            <a:off x="1295400" y="2514600"/>
            <a:ext cx="7483475" cy="2536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6080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6080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6080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6080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#include&lt;</a:t>
            </a:r>
            <a:r>
              <a:rPr lang="en-US" altLang="zh-CN" sz="1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stdio.h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&gt;                </a:t>
            </a:r>
          </a:p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zh-CN" sz="1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intmain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()                    /*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关键字之间缺少空格*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    </a:t>
            </a:r>
          </a:p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{                                </a:t>
            </a:r>
          </a:p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en-US" altLang="zh-CN" sz="1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printf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("</a:t>
            </a:r>
            <a:r>
              <a:rPr lang="en-US" altLang="zh-CN" sz="1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Hello,World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");     </a:t>
            </a:r>
          </a:p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return 0;                    </a:t>
            </a:r>
          </a:p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5397360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67562" y="272922"/>
            <a:ext cx="10456875" cy="369332"/>
          </a:xfrm>
        </p:spPr>
        <p:txBody>
          <a:bodyPr/>
          <a:lstStyle/>
          <a:p>
            <a:r>
              <a:rPr lang="zh-CN" altLang="en-US" dirty="0" smtClean="0"/>
              <a:t>常见错误分析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762000" y="1600200"/>
            <a:ext cx="10210800" cy="5627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79988" algn="just" defTabSz="609585">
              <a:lnSpc>
                <a:spcPct val="200000"/>
              </a:lnSpc>
              <a:defRPr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程序连接出错</a:t>
            </a:r>
          </a:p>
        </p:txBody>
      </p:sp>
      <p:pic>
        <p:nvPicPr>
          <p:cNvPr id="6" name="Picture 54" descr="2008041823085517_lit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6718" y="1752600"/>
            <a:ext cx="690563" cy="5244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文本框 8"/>
          <p:cNvSpPr txBox="1">
            <a:spLocks noChangeArrowheads="1"/>
          </p:cNvSpPr>
          <p:nvPr/>
        </p:nvSpPr>
        <p:spPr bwMode="auto">
          <a:xfrm>
            <a:off x="1219200" y="2438400"/>
            <a:ext cx="7483475" cy="2536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6080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6080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6080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6080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#include&lt;</a:t>
            </a:r>
            <a:r>
              <a:rPr lang="en-US" altLang="zh-CN" sz="1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stdio.h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&gt;                </a:t>
            </a:r>
          </a:p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zh-CN" sz="1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int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main()                     </a:t>
            </a:r>
          </a:p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{                                </a:t>
            </a:r>
          </a:p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print ("</a:t>
            </a:r>
            <a:r>
              <a:rPr lang="en-US" altLang="zh-CN" sz="1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Hello,World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");     /*</a:t>
            </a:r>
            <a:r>
              <a:rPr lang="en-US" altLang="zh-CN" sz="1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printf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()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函数名称错误*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</a:p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return 0;                    </a:t>
            </a:r>
          </a:p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4788596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94816" y="4376928"/>
            <a:ext cx="588645" cy="588645"/>
          </a:xfrm>
          <a:custGeom>
            <a:avLst/>
            <a:gdLst/>
            <a:ahLst/>
            <a:cxnLst/>
            <a:rect l="l" t="t" r="r" b="b"/>
            <a:pathLst>
              <a:path w="588644" h="588645">
                <a:moveTo>
                  <a:pt x="0" y="294132"/>
                </a:moveTo>
                <a:lnTo>
                  <a:pt x="3850" y="246425"/>
                </a:lnTo>
                <a:lnTo>
                  <a:pt x="14996" y="201168"/>
                </a:lnTo>
                <a:lnTo>
                  <a:pt x="32832" y="158966"/>
                </a:lnTo>
                <a:lnTo>
                  <a:pt x="56753" y="120426"/>
                </a:lnTo>
                <a:lnTo>
                  <a:pt x="86153" y="86153"/>
                </a:lnTo>
                <a:lnTo>
                  <a:pt x="120426" y="56753"/>
                </a:lnTo>
                <a:lnTo>
                  <a:pt x="158966" y="32832"/>
                </a:lnTo>
                <a:lnTo>
                  <a:pt x="201168" y="14996"/>
                </a:lnTo>
                <a:lnTo>
                  <a:pt x="246425" y="3850"/>
                </a:lnTo>
                <a:lnTo>
                  <a:pt x="294131" y="0"/>
                </a:lnTo>
                <a:lnTo>
                  <a:pt x="341838" y="3850"/>
                </a:lnTo>
                <a:lnTo>
                  <a:pt x="387096" y="14996"/>
                </a:lnTo>
                <a:lnTo>
                  <a:pt x="429297" y="32832"/>
                </a:lnTo>
                <a:lnTo>
                  <a:pt x="467837" y="56753"/>
                </a:lnTo>
                <a:lnTo>
                  <a:pt x="502110" y="86153"/>
                </a:lnTo>
                <a:lnTo>
                  <a:pt x="531510" y="120426"/>
                </a:lnTo>
                <a:lnTo>
                  <a:pt x="555431" y="158966"/>
                </a:lnTo>
                <a:lnTo>
                  <a:pt x="573267" y="201168"/>
                </a:lnTo>
                <a:lnTo>
                  <a:pt x="584413" y="246425"/>
                </a:lnTo>
                <a:lnTo>
                  <a:pt x="588264" y="294132"/>
                </a:lnTo>
                <a:lnTo>
                  <a:pt x="584413" y="341838"/>
                </a:lnTo>
                <a:lnTo>
                  <a:pt x="573267" y="387096"/>
                </a:lnTo>
                <a:lnTo>
                  <a:pt x="555431" y="429297"/>
                </a:lnTo>
                <a:lnTo>
                  <a:pt x="531510" y="467837"/>
                </a:lnTo>
                <a:lnTo>
                  <a:pt x="502110" y="502110"/>
                </a:lnTo>
                <a:lnTo>
                  <a:pt x="467837" y="531510"/>
                </a:lnTo>
                <a:lnTo>
                  <a:pt x="429297" y="555431"/>
                </a:lnTo>
                <a:lnTo>
                  <a:pt x="387095" y="573267"/>
                </a:lnTo>
                <a:lnTo>
                  <a:pt x="341838" y="584413"/>
                </a:lnTo>
                <a:lnTo>
                  <a:pt x="294131" y="588264"/>
                </a:lnTo>
                <a:lnTo>
                  <a:pt x="246425" y="584413"/>
                </a:lnTo>
                <a:lnTo>
                  <a:pt x="201168" y="573267"/>
                </a:lnTo>
                <a:lnTo>
                  <a:pt x="158966" y="555431"/>
                </a:lnTo>
                <a:lnTo>
                  <a:pt x="120426" y="531510"/>
                </a:lnTo>
                <a:lnTo>
                  <a:pt x="86153" y="502110"/>
                </a:lnTo>
                <a:lnTo>
                  <a:pt x="56753" y="467837"/>
                </a:lnTo>
                <a:lnTo>
                  <a:pt x="32832" y="429297"/>
                </a:lnTo>
                <a:lnTo>
                  <a:pt x="14996" y="387096"/>
                </a:lnTo>
                <a:lnTo>
                  <a:pt x="3850" y="341838"/>
                </a:lnTo>
                <a:lnTo>
                  <a:pt x="0" y="294132"/>
                </a:lnTo>
                <a:close/>
              </a:path>
            </a:pathLst>
          </a:custGeom>
          <a:ln w="12192">
            <a:solidFill>
              <a:srgbClr val="BEBEB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808732" y="3784091"/>
            <a:ext cx="927100" cy="927100"/>
          </a:xfrm>
          <a:custGeom>
            <a:avLst/>
            <a:gdLst/>
            <a:ahLst/>
            <a:cxnLst/>
            <a:rect l="l" t="t" r="r" b="b"/>
            <a:pathLst>
              <a:path w="927100" h="927100">
                <a:moveTo>
                  <a:pt x="463295" y="0"/>
                </a:moveTo>
                <a:lnTo>
                  <a:pt x="415921" y="2391"/>
                </a:lnTo>
                <a:lnTo>
                  <a:pt x="369916" y="9411"/>
                </a:lnTo>
                <a:lnTo>
                  <a:pt x="325513" y="20825"/>
                </a:lnTo>
                <a:lnTo>
                  <a:pt x="282946" y="36403"/>
                </a:lnTo>
                <a:lnTo>
                  <a:pt x="242446" y="55910"/>
                </a:lnTo>
                <a:lnTo>
                  <a:pt x="204247" y="79114"/>
                </a:lnTo>
                <a:lnTo>
                  <a:pt x="168582" y="105783"/>
                </a:lnTo>
                <a:lnTo>
                  <a:pt x="135683" y="135683"/>
                </a:lnTo>
                <a:lnTo>
                  <a:pt x="105783" y="168582"/>
                </a:lnTo>
                <a:lnTo>
                  <a:pt x="79114" y="204247"/>
                </a:lnTo>
                <a:lnTo>
                  <a:pt x="55910" y="242446"/>
                </a:lnTo>
                <a:lnTo>
                  <a:pt x="36403" y="282946"/>
                </a:lnTo>
                <a:lnTo>
                  <a:pt x="20825" y="325513"/>
                </a:lnTo>
                <a:lnTo>
                  <a:pt x="9411" y="369916"/>
                </a:lnTo>
                <a:lnTo>
                  <a:pt x="2391" y="415921"/>
                </a:lnTo>
                <a:lnTo>
                  <a:pt x="0" y="463295"/>
                </a:lnTo>
                <a:lnTo>
                  <a:pt x="2391" y="510670"/>
                </a:lnTo>
                <a:lnTo>
                  <a:pt x="9411" y="556675"/>
                </a:lnTo>
                <a:lnTo>
                  <a:pt x="20825" y="601078"/>
                </a:lnTo>
                <a:lnTo>
                  <a:pt x="36403" y="643645"/>
                </a:lnTo>
                <a:lnTo>
                  <a:pt x="55910" y="684145"/>
                </a:lnTo>
                <a:lnTo>
                  <a:pt x="79114" y="722344"/>
                </a:lnTo>
                <a:lnTo>
                  <a:pt x="105783" y="758009"/>
                </a:lnTo>
                <a:lnTo>
                  <a:pt x="135683" y="790908"/>
                </a:lnTo>
                <a:lnTo>
                  <a:pt x="168582" y="820808"/>
                </a:lnTo>
                <a:lnTo>
                  <a:pt x="204247" y="847477"/>
                </a:lnTo>
                <a:lnTo>
                  <a:pt x="242446" y="870681"/>
                </a:lnTo>
                <a:lnTo>
                  <a:pt x="282946" y="890188"/>
                </a:lnTo>
                <a:lnTo>
                  <a:pt x="325513" y="905766"/>
                </a:lnTo>
                <a:lnTo>
                  <a:pt x="369916" y="917180"/>
                </a:lnTo>
                <a:lnTo>
                  <a:pt x="415921" y="924200"/>
                </a:lnTo>
                <a:lnTo>
                  <a:pt x="463295" y="926591"/>
                </a:lnTo>
                <a:lnTo>
                  <a:pt x="510670" y="924200"/>
                </a:lnTo>
                <a:lnTo>
                  <a:pt x="556675" y="917180"/>
                </a:lnTo>
                <a:lnTo>
                  <a:pt x="601078" y="905766"/>
                </a:lnTo>
                <a:lnTo>
                  <a:pt x="643645" y="890188"/>
                </a:lnTo>
                <a:lnTo>
                  <a:pt x="684145" y="870681"/>
                </a:lnTo>
                <a:lnTo>
                  <a:pt x="722344" y="847477"/>
                </a:lnTo>
                <a:lnTo>
                  <a:pt x="758009" y="820808"/>
                </a:lnTo>
                <a:lnTo>
                  <a:pt x="790908" y="790908"/>
                </a:lnTo>
                <a:lnTo>
                  <a:pt x="820808" y="758009"/>
                </a:lnTo>
                <a:lnTo>
                  <a:pt x="847477" y="722344"/>
                </a:lnTo>
                <a:lnTo>
                  <a:pt x="870681" y="684145"/>
                </a:lnTo>
                <a:lnTo>
                  <a:pt x="890188" y="643645"/>
                </a:lnTo>
                <a:lnTo>
                  <a:pt x="905766" y="601078"/>
                </a:lnTo>
                <a:lnTo>
                  <a:pt x="917180" y="556675"/>
                </a:lnTo>
                <a:lnTo>
                  <a:pt x="924200" y="510670"/>
                </a:lnTo>
                <a:lnTo>
                  <a:pt x="926592" y="463295"/>
                </a:lnTo>
                <a:lnTo>
                  <a:pt x="924200" y="415921"/>
                </a:lnTo>
                <a:lnTo>
                  <a:pt x="917180" y="369916"/>
                </a:lnTo>
                <a:lnTo>
                  <a:pt x="905766" y="325513"/>
                </a:lnTo>
                <a:lnTo>
                  <a:pt x="890188" y="282946"/>
                </a:lnTo>
                <a:lnTo>
                  <a:pt x="870681" y="242446"/>
                </a:lnTo>
                <a:lnTo>
                  <a:pt x="847477" y="204247"/>
                </a:lnTo>
                <a:lnTo>
                  <a:pt x="820808" y="168582"/>
                </a:lnTo>
                <a:lnTo>
                  <a:pt x="790908" y="135683"/>
                </a:lnTo>
                <a:lnTo>
                  <a:pt x="758009" y="105783"/>
                </a:lnTo>
                <a:lnTo>
                  <a:pt x="722344" y="79114"/>
                </a:lnTo>
                <a:lnTo>
                  <a:pt x="684145" y="55910"/>
                </a:lnTo>
                <a:lnTo>
                  <a:pt x="643645" y="36403"/>
                </a:lnTo>
                <a:lnTo>
                  <a:pt x="601078" y="20825"/>
                </a:lnTo>
                <a:lnTo>
                  <a:pt x="556675" y="9411"/>
                </a:lnTo>
                <a:lnTo>
                  <a:pt x="510670" y="2391"/>
                </a:lnTo>
                <a:lnTo>
                  <a:pt x="463295" y="0"/>
                </a:lnTo>
                <a:close/>
              </a:path>
            </a:pathLst>
          </a:custGeom>
          <a:solidFill>
            <a:srgbClr val="515151">
              <a:alpha val="63136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708148" y="2377439"/>
            <a:ext cx="1590040" cy="1591310"/>
          </a:xfrm>
          <a:custGeom>
            <a:avLst/>
            <a:gdLst/>
            <a:ahLst/>
            <a:cxnLst/>
            <a:rect l="l" t="t" r="r" b="b"/>
            <a:pathLst>
              <a:path w="1590039" h="1591310">
                <a:moveTo>
                  <a:pt x="0" y="795527"/>
                </a:moveTo>
                <a:lnTo>
                  <a:pt x="1450" y="747060"/>
                </a:lnTo>
                <a:lnTo>
                  <a:pt x="5746" y="699361"/>
                </a:lnTo>
                <a:lnTo>
                  <a:pt x="12805" y="652514"/>
                </a:lnTo>
                <a:lnTo>
                  <a:pt x="22543" y="606602"/>
                </a:lnTo>
                <a:lnTo>
                  <a:pt x="34878" y="561709"/>
                </a:lnTo>
                <a:lnTo>
                  <a:pt x="49725" y="517917"/>
                </a:lnTo>
                <a:lnTo>
                  <a:pt x="67002" y="475310"/>
                </a:lnTo>
                <a:lnTo>
                  <a:pt x="86626" y="433970"/>
                </a:lnTo>
                <a:lnTo>
                  <a:pt x="108514" y="393982"/>
                </a:lnTo>
                <a:lnTo>
                  <a:pt x="132582" y="355427"/>
                </a:lnTo>
                <a:lnTo>
                  <a:pt x="158747" y="318390"/>
                </a:lnTo>
                <a:lnTo>
                  <a:pt x="186927" y="282953"/>
                </a:lnTo>
                <a:lnTo>
                  <a:pt x="217037" y="249200"/>
                </a:lnTo>
                <a:lnTo>
                  <a:pt x="248995" y="217214"/>
                </a:lnTo>
                <a:lnTo>
                  <a:pt x="282718" y="187077"/>
                </a:lnTo>
                <a:lnTo>
                  <a:pt x="318123" y="158874"/>
                </a:lnTo>
                <a:lnTo>
                  <a:pt x="355125" y="132687"/>
                </a:lnTo>
                <a:lnTo>
                  <a:pt x="393643" y="108599"/>
                </a:lnTo>
                <a:lnTo>
                  <a:pt x="433593" y="86693"/>
                </a:lnTo>
                <a:lnTo>
                  <a:pt x="474892" y="67053"/>
                </a:lnTo>
                <a:lnTo>
                  <a:pt x="517456" y="49763"/>
                </a:lnTo>
                <a:lnTo>
                  <a:pt x="561203" y="34904"/>
                </a:lnTo>
                <a:lnTo>
                  <a:pt x="606049" y="22560"/>
                </a:lnTo>
                <a:lnTo>
                  <a:pt x="651912" y="12814"/>
                </a:lnTo>
                <a:lnTo>
                  <a:pt x="698708" y="5750"/>
                </a:lnTo>
                <a:lnTo>
                  <a:pt x="746353" y="1451"/>
                </a:lnTo>
                <a:lnTo>
                  <a:pt x="794765" y="0"/>
                </a:lnTo>
                <a:lnTo>
                  <a:pt x="843178" y="1451"/>
                </a:lnTo>
                <a:lnTo>
                  <a:pt x="890823" y="5750"/>
                </a:lnTo>
                <a:lnTo>
                  <a:pt x="937619" y="12814"/>
                </a:lnTo>
                <a:lnTo>
                  <a:pt x="983482" y="22560"/>
                </a:lnTo>
                <a:lnTo>
                  <a:pt x="1028328" y="34904"/>
                </a:lnTo>
                <a:lnTo>
                  <a:pt x="1072075" y="49763"/>
                </a:lnTo>
                <a:lnTo>
                  <a:pt x="1114639" y="67053"/>
                </a:lnTo>
                <a:lnTo>
                  <a:pt x="1155938" y="86693"/>
                </a:lnTo>
                <a:lnTo>
                  <a:pt x="1195888" y="108599"/>
                </a:lnTo>
                <a:lnTo>
                  <a:pt x="1234406" y="132687"/>
                </a:lnTo>
                <a:lnTo>
                  <a:pt x="1271408" y="158874"/>
                </a:lnTo>
                <a:lnTo>
                  <a:pt x="1306813" y="187077"/>
                </a:lnTo>
                <a:lnTo>
                  <a:pt x="1340536" y="217214"/>
                </a:lnTo>
                <a:lnTo>
                  <a:pt x="1372494" y="249200"/>
                </a:lnTo>
                <a:lnTo>
                  <a:pt x="1402604" y="282953"/>
                </a:lnTo>
                <a:lnTo>
                  <a:pt x="1430784" y="318390"/>
                </a:lnTo>
                <a:lnTo>
                  <a:pt x="1456949" y="355427"/>
                </a:lnTo>
                <a:lnTo>
                  <a:pt x="1481017" y="393982"/>
                </a:lnTo>
                <a:lnTo>
                  <a:pt x="1502905" y="433970"/>
                </a:lnTo>
                <a:lnTo>
                  <a:pt x="1522529" y="475310"/>
                </a:lnTo>
                <a:lnTo>
                  <a:pt x="1539806" y="517917"/>
                </a:lnTo>
                <a:lnTo>
                  <a:pt x="1554653" y="561709"/>
                </a:lnTo>
                <a:lnTo>
                  <a:pt x="1566988" y="606602"/>
                </a:lnTo>
                <a:lnTo>
                  <a:pt x="1576726" y="652514"/>
                </a:lnTo>
                <a:lnTo>
                  <a:pt x="1583785" y="699361"/>
                </a:lnTo>
                <a:lnTo>
                  <a:pt x="1588081" y="747060"/>
                </a:lnTo>
                <a:lnTo>
                  <a:pt x="1589531" y="795527"/>
                </a:lnTo>
                <a:lnTo>
                  <a:pt x="1588081" y="843995"/>
                </a:lnTo>
                <a:lnTo>
                  <a:pt x="1583785" y="891694"/>
                </a:lnTo>
                <a:lnTo>
                  <a:pt x="1576726" y="938541"/>
                </a:lnTo>
                <a:lnTo>
                  <a:pt x="1566988" y="984453"/>
                </a:lnTo>
                <a:lnTo>
                  <a:pt x="1554653" y="1029346"/>
                </a:lnTo>
                <a:lnTo>
                  <a:pt x="1539806" y="1073138"/>
                </a:lnTo>
                <a:lnTo>
                  <a:pt x="1522529" y="1115745"/>
                </a:lnTo>
                <a:lnTo>
                  <a:pt x="1502905" y="1157085"/>
                </a:lnTo>
                <a:lnTo>
                  <a:pt x="1481017" y="1197073"/>
                </a:lnTo>
                <a:lnTo>
                  <a:pt x="1456949" y="1235628"/>
                </a:lnTo>
                <a:lnTo>
                  <a:pt x="1430784" y="1272665"/>
                </a:lnTo>
                <a:lnTo>
                  <a:pt x="1402604" y="1308102"/>
                </a:lnTo>
                <a:lnTo>
                  <a:pt x="1372494" y="1341855"/>
                </a:lnTo>
                <a:lnTo>
                  <a:pt x="1340536" y="1373841"/>
                </a:lnTo>
                <a:lnTo>
                  <a:pt x="1306813" y="1403978"/>
                </a:lnTo>
                <a:lnTo>
                  <a:pt x="1271408" y="1432181"/>
                </a:lnTo>
                <a:lnTo>
                  <a:pt x="1234406" y="1458368"/>
                </a:lnTo>
                <a:lnTo>
                  <a:pt x="1195888" y="1482456"/>
                </a:lnTo>
                <a:lnTo>
                  <a:pt x="1155938" y="1504362"/>
                </a:lnTo>
                <a:lnTo>
                  <a:pt x="1114639" y="1524002"/>
                </a:lnTo>
                <a:lnTo>
                  <a:pt x="1072075" y="1541292"/>
                </a:lnTo>
                <a:lnTo>
                  <a:pt x="1028328" y="1556151"/>
                </a:lnTo>
                <a:lnTo>
                  <a:pt x="983482" y="1568495"/>
                </a:lnTo>
                <a:lnTo>
                  <a:pt x="937619" y="1578241"/>
                </a:lnTo>
                <a:lnTo>
                  <a:pt x="890823" y="1585305"/>
                </a:lnTo>
                <a:lnTo>
                  <a:pt x="843178" y="1589604"/>
                </a:lnTo>
                <a:lnTo>
                  <a:pt x="794765" y="1591056"/>
                </a:lnTo>
                <a:lnTo>
                  <a:pt x="746353" y="1589604"/>
                </a:lnTo>
                <a:lnTo>
                  <a:pt x="698708" y="1585305"/>
                </a:lnTo>
                <a:lnTo>
                  <a:pt x="651912" y="1578241"/>
                </a:lnTo>
                <a:lnTo>
                  <a:pt x="606049" y="1568495"/>
                </a:lnTo>
                <a:lnTo>
                  <a:pt x="561203" y="1556151"/>
                </a:lnTo>
                <a:lnTo>
                  <a:pt x="517456" y="1541292"/>
                </a:lnTo>
                <a:lnTo>
                  <a:pt x="474892" y="1524002"/>
                </a:lnTo>
                <a:lnTo>
                  <a:pt x="433593" y="1504362"/>
                </a:lnTo>
                <a:lnTo>
                  <a:pt x="393643" y="1482456"/>
                </a:lnTo>
                <a:lnTo>
                  <a:pt x="355125" y="1458368"/>
                </a:lnTo>
                <a:lnTo>
                  <a:pt x="318123" y="1432181"/>
                </a:lnTo>
                <a:lnTo>
                  <a:pt x="282718" y="1403978"/>
                </a:lnTo>
                <a:lnTo>
                  <a:pt x="248995" y="1373841"/>
                </a:lnTo>
                <a:lnTo>
                  <a:pt x="217037" y="1341855"/>
                </a:lnTo>
                <a:lnTo>
                  <a:pt x="186927" y="1308102"/>
                </a:lnTo>
                <a:lnTo>
                  <a:pt x="158747" y="1272665"/>
                </a:lnTo>
                <a:lnTo>
                  <a:pt x="132582" y="1235628"/>
                </a:lnTo>
                <a:lnTo>
                  <a:pt x="108514" y="1197073"/>
                </a:lnTo>
                <a:lnTo>
                  <a:pt x="86626" y="1157085"/>
                </a:lnTo>
                <a:lnTo>
                  <a:pt x="67002" y="1115745"/>
                </a:lnTo>
                <a:lnTo>
                  <a:pt x="49725" y="1073138"/>
                </a:lnTo>
                <a:lnTo>
                  <a:pt x="34878" y="1029346"/>
                </a:lnTo>
                <a:lnTo>
                  <a:pt x="22543" y="984453"/>
                </a:lnTo>
                <a:lnTo>
                  <a:pt x="12805" y="938541"/>
                </a:lnTo>
                <a:lnTo>
                  <a:pt x="5746" y="891694"/>
                </a:lnTo>
                <a:lnTo>
                  <a:pt x="1450" y="843995"/>
                </a:lnTo>
                <a:lnTo>
                  <a:pt x="0" y="795527"/>
                </a:lnTo>
                <a:close/>
              </a:path>
            </a:pathLst>
          </a:custGeom>
          <a:ln w="12192">
            <a:solidFill>
              <a:srgbClr val="515151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489710" y="2554985"/>
            <a:ext cx="1925320" cy="1896110"/>
          </a:xfrm>
          <a:custGeom>
            <a:avLst/>
            <a:gdLst/>
            <a:ahLst/>
            <a:cxnLst/>
            <a:rect l="l" t="t" r="r" b="b"/>
            <a:pathLst>
              <a:path w="1925320" h="1896110">
                <a:moveTo>
                  <a:pt x="962406" y="0"/>
                </a:moveTo>
                <a:lnTo>
                  <a:pt x="914374" y="1160"/>
                </a:lnTo>
                <a:lnTo>
                  <a:pt x="866952" y="4604"/>
                </a:lnTo>
                <a:lnTo>
                  <a:pt x="820194" y="10278"/>
                </a:lnTo>
                <a:lnTo>
                  <a:pt x="774156" y="18128"/>
                </a:lnTo>
                <a:lnTo>
                  <a:pt x="728893" y="28099"/>
                </a:lnTo>
                <a:lnTo>
                  <a:pt x="684460" y="40136"/>
                </a:lnTo>
                <a:lnTo>
                  <a:pt x="640912" y="54187"/>
                </a:lnTo>
                <a:lnTo>
                  <a:pt x="598304" y="70195"/>
                </a:lnTo>
                <a:lnTo>
                  <a:pt x="556691" y="88108"/>
                </a:lnTo>
                <a:lnTo>
                  <a:pt x="516129" y="107869"/>
                </a:lnTo>
                <a:lnTo>
                  <a:pt x="476673" y="129427"/>
                </a:lnTo>
                <a:lnTo>
                  <a:pt x="438377" y="152725"/>
                </a:lnTo>
                <a:lnTo>
                  <a:pt x="401298" y="177709"/>
                </a:lnTo>
                <a:lnTo>
                  <a:pt x="365490" y="204326"/>
                </a:lnTo>
                <a:lnTo>
                  <a:pt x="331007" y="232521"/>
                </a:lnTo>
                <a:lnTo>
                  <a:pt x="297907" y="262240"/>
                </a:lnTo>
                <a:lnTo>
                  <a:pt x="266243" y="293427"/>
                </a:lnTo>
                <a:lnTo>
                  <a:pt x="236071" y="326030"/>
                </a:lnTo>
                <a:lnTo>
                  <a:pt x="207445" y="359994"/>
                </a:lnTo>
                <a:lnTo>
                  <a:pt x="180422" y="395263"/>
                </a:lnTo>
                <a:lnTo>
                  <a:pt x="155056" y="431785"/>
                </a:lnTo>
                <a:lnTo>
                  <a:pt x="131402" y="469504"/>
                </a:lnTo>
                <a:lnTo>
                  <a:pt x="109516" y="508367"/>
                </a:lnTo>
                <a:lnTo>
                  <a:pt x="89452" y="548319"/>
                </a:lnTo>
                <a:lnTo>
                  <a:pt x="71267" y="589305"/>
                </a:lnTo>
                <a:lnTo>
                  <a:pt x="55014" y="631272"/>
                </a:lnTo>
                <a:lnTo>
                  <a:pt x="40749" y="674165"/>
                </a:lnTo>
                <a:lnTo>
                  <a:pt x="28528" y="717930"/>
                </a:lnTo>
                <a:lnTo>
                  <a:pt x="18405" y="762512"/>
                </a:lnTo>
                <a:lnTo>
                  <a:pt x="10435" y="807857"/>
                </a:lnTo>
                <a:lnTo>
                  <a:pt x="4674" y="853911"/>
                </a:lnTo>
                <a:lnTo>
                  <a:pt x="1177" y="900619"/>
                </a:lnTo>
                <a:lnTo>
                  <a:pt x="0" y="947927"/>
                </a:lnTo>
                <a:lnTo>
                  <a:pt x="1177" y="995236"/>
                </a:lnTo>
                <a:lnTo>
                  <a:pt x="4674" y="1041944"/>
                </a:lnTo>
                <a:lnTo>
                  <a:pt x="10435" y="1087998"/>
                </a:lnTo>
                <a:lnTo>
                  <a:pt x="18405" y="1133343"/>
                </a:lnTo>
                <a:lnTo>
                  <a:pt x="28528" y="1177925"/>
                </a:lnTo>
                <a:lnTo>
                  <a:pt x="40749" y="1221690"/>
                </a:lnTo>
                <a:lnTo>
                  <a:pt x="55014" y="1264583"/>
                </a:lnTo>
                <a:lnTo>
                  <a:pt x="71267" y="1306550"/>
                </a:lnTo>
                <a:lnTo>
                  <a:pt x="89452" y="1347536"/>
                </a:lnTo>
                <a:lnTo>
                  <a:pt x="109516" y="1387488"/>
                </a:lnTo>
                <a:lnTo>
                  <a:pt x="131402" y="1426351"/>
                </a:lnTo>
                <a:lnTo>
                  <a:pt x="155056" y="1464070"/>
                </a:lnTo>
                <a:lnTo>
                  <a:pt x="180422" y="1500592"/>
                </a:lnTo>
                <a:lnTo>
                  <a:pt x="207445" y="1535861"/>
                </a:lnTo>
                <a:lnTo>
                  <a:pt x="236071" y="1569825"/>
                </a:lnTo>
                <a:lnTo>
                  <a:pt x="266243" y="1602428"/>
                </a:lnTo>
                <a:lnTo>
                  <a:pt x="297907" y="1633615"/>
                </a:lnTo>
                <a:lnTo>
                  <a:pt x="331007" y="1663334"/>
                </a:lnTo>
                <a:lnTo>
                  <a:pt x="365490" y="1691529"/>
                </a:lnTo>
                <a:lnTo>
                  <a:pt x="401298" y="1718146"/>
                </a:lnTo>
                <a:lnTo>
                  <a:pt x="438377" y="1743130"/>
                </a:lnTo>
                <a:lnTo>
                  <a:pt x="476673" y="1766428"/>
                </a:lnTo>
                <a:lnTo>
                  <a:pt x="516129" y="1787986"/>
                </a:lnTo>
                <a:lnTo>
                  <a:pt x="556691" y="1807747"/>
                </a:lnTo>
                <a:lnTo>
                  <a:pt x="598304" y="1825660"/>
                </a:lnTo>
                <a:lnTo>
                  <a:pt x="640912" y="1841668"/>
                </a:lnTo>
                <a:lnTo>
                  <a:pt x="684460" y="1855719"/>
                </a:lnTo>
                <a:lnTo>
                  <a:pt x="728893" y="1867756"/>
                </a:lnTo>
                <a:lnTo>
                  <a:pt x="774156" y="1877727"/>
                </a:lnTo>
                <a:lnTo>
                  <a:pt x="820194" y="1885577"/>
                </a:lnTo>
                <a:lnTo>
                  <a:pt x="866952" y="1891251"/>
                </a:lnTo>
                <a:lnTo>
                  <a:pt x="914374" y="1894695"/>
                </a:lnTo>
                <a:lnTo>
                  <a:pt x="962406" y="1895856"/>
                </a:lnTo>
                <a:lnTo>
                  <a:pt x="1010437" y="1894695"/>
                </a:lnTo>
                <a:lnTo>
                  <a:pt x="1057859" y="1891251"/>
                </a:lnTo>
                <a:lnTo>
                  <a:pt x="1104617" y="1885577"/>
                </a:lnTo>
                <a:lnTo>
                  <a:pt x="1150655" y="1877727"/>
                </a:lnTo>
                <a:lnTo>
                  <a:pt x="1195918" y="1867756"/>
                </a:lnTo>
                <a:lnTo>
                  <a:pt x="1240351" y="1855719"/>
                </a:lnTo>
                <a:lnTo>
                  <a:pt x="1283899" y="1841668"/>
                </a:lnTo>
                <a:lnTo>
                  <a:pt x="1326507" y="1825660"/>
                </a:lnTo>
                <a:lnTo>
                  <a:pt x="1368120" y="1807747"/>
                </a:lnTo>
                <a:lnTo>
                  <a:pt x="1408682" y="1787986"/>
                </a:lnTo>
                <a:lnTo>
                  <a:pt x="1448138" y="1766428"/>
                </a:lnTo>
                <a:lnTo>
                  <a:pt x="1486434" y="1743130"/>
                </a:lnTo>
                <a:lnTo>
                  <a:pt x="1523513" y="1718146"/>
                </a:lnTo>
                <a:lnTo>
                  <a:pt x="1559321" y="1691529"/>
                </a:lnTo>
                <a:lnTo>
                  <a:pt x="1593804" y="1663334"/>
                </a:lnTo>
                <a:lnTo>
                  <a:pt x="1626904" y="1633615"/>
                </a:lnTo>
                <a:lnTo>
                  <a:pt x="1658568" y="1602428"/>
                </a:lnTo>
                <a:lnTo>
                  <a:pt x="1688740" y="1569825"/>
                </a:lnTo>
                <a:lnTo>
                  <a:pt x="1717366" y="1535861"/>
                </a:lnTo>
                <a:lnTo>
                  <a:pt x="1744389" y="1500592"/>
                </a:lnTo>
                <a:lnTo>
                  <a:pt x="1769755" y="1464070"/>
                </a:lnTo>
                <a:lnTo>
                  <a:pt x="1793409" y="1426351"/>
                </a:lnTo>
                <a:lnTo>
                  <a:pt x="1815295" y="1387488"/>
                </a:lnTo>
                <a:lnTo>
                  <a:pt x="1835359" y="1347536"/>
                </a:lnTo>
                <a:lnTo>
                  <a:pt x="1853544" y="1306550"/>
                </a:lnTo>
                <a:lnTo>
                  <a:pt x="1869797" y="1264583"/>
                </a:lnTo>
                <a:lnTo>
                  <a:pt x="1884062" y="1221690"/>
                </a:lnTo>
                <a:lnTo>
                  <a:pt x="1896283" y="1177925"/>
                </a:lnTo>
                <a:lnTo>
                  <a:pt x="1906406" y="1133343"/>
                </a:lnTo>
                <a:lnTo>
                  <a:pt x="1914376" y="1087998"/>
                </a:lnTo>
                <a:lnTo>
                  <a:pt x="1920137" y="1041944"/>
                </a:lnTo>
                <a:lnTo>
                  <a:pt x="1923634" y="995236"/>
                </a:lnTo>
                <a:lnTo>
                  <a:pt x="1924812" y="947927"/>
                </a:lnTo>
                <a:lnTo>
                  <a:pt x="1923634" y="900619"/>
                </a:lnTo>
                <a:lnTo>
                  <a:pt x="1920137" y="853911"/>
                </a:lnTo>
                <a:lnTo>
                  <a:pt x="1914376" y="807857"/>
                </a:lnTo>
                <a:lnTo>
                  <a:pt x="1906406" y="762512"/>
                </a:lnTo>
                <a:lnTo>
                  <a:pt x="1896283" y="717930"/>
                </a:lnTo>
                <a:lnTo>
                  <a:pt x="1884062" y="674165"/>
                </a:lnTo>
                <a:lnTo>
                  <a:pt x="1869797" y="631272"/>
                </a:lnTo>
                <a:lnTo>
                  <a:pt x="1853544" y="589305"/>
                </a:lnTo>
                <a:lnTo>
                  <a:pt x="1835359" y="548319"/>
                </a:lnTo>
                <a:lnTo>
                  <a:pt x="1815295" y="508367"/>
                </a:lnTo>
                <a:lnTo>
                  <a:pt x="1793409" y="469504"/>
                </a:lnTo>
                <a:lnTo>
                  <a:pt x="1769755" y="431785"/>
                </a:lnTo>
                <a:lnTo>
                  <a:pt x="1744389" y="395263"/>
                </a:lnTo>
                <a:lnTo>
                  <a:pt x="1717366" y="359994"/>
                </a:lnTo>
                <a:lnTo>
                  <a:pt x="1688740" y="326030"/>
                </a:lnTo>
                <a:lnTo>
                  <a:pt x="1658568" y="293427"/>
                </a:lnTo>
                <a:lnTo>
                  <a:pt x="1626904" y="262240"/>
                </a:lnTo>
                <a:lnTo>
                  <a:pt x="1593804" y="232521"/>
                </a:lnTo>
                <a:lnTo>
                  <a:pt x="1559321" y="204326"/>
                </a:lnTo>
                <a:lnTo>
                  <a:pt x="1523513" y="177709"/>
                </a:lnTo>
                <a:lnTo>
                  <a:pt x="1486434" y="152725"/>
                </a:lnTo>
                <a:lnTo>
                  <a:pt x="1448138" y="129427"/>
                </a:lnTo>
                <a:lnTo>
                  <a:pt x="1408682" y="107869"/>
                </a:lnTo>
                <a:lnTo>
                  <a:pt x="1368120" y="88108"/>
                </a:lnTo>
                <a:lnTo>
                  <a:pt x="1326507" y="70195"/>
                </a:lnTo>
                <a:lnTo>
                  <a:pt x="1283899" y="54187"/>
                </a:lnTo>
                <a:lnTo>
                  <a:pt x="1240351" y="40136"/>
                </a:lnTo>
                <a:lnTo>
                  <a:pt x="1195918" y="28099"/>
                </a:lnTo>
                <a:lnTo>
                  <a:pt x="1150655" y="18128"/>
                </a:lnTo>
                <a:lnTo>
                  <a:pt x="1104617" y="10278"/>
                </a:lnTo>
                <a:lnTo>
                  <a:pt x="1057859" y="4604"/>
                </a:lnTo>
                <a:lnTo>
                  <a:pt x="1010437" y="1160"/>
                </a:lnTo>
                <a:lnTo>
                  <a:pt x="96240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489710" y="2554985"/>
            <a:ext cx="1925320" cy="1896110"/>
          </a:xfrm>
          <a:custGeom>
            <a:avLst/>
            <a:gdLst/>
            <a:ahLst/>
            <a:cxnLst/>
            <a:rect l="l" t="t" r="r" b="b"/>
            <a:pathLst>
              <a:path w="1925320" h="1896110">
                <a:moveTo>
                  <a:pt x="0" y="947927"/>
                </a:moveTo>
                <a:lnTo>
                  <a:pt x="1177" y="900619"/>
                </a:lnTo>
                <a:lnTo>
                  <a:pt x="4674" y="853911"/>
                </a:lnTo>
                <a:lnTo>
                  <a:pt x="10435" y="807857"/>
                </a:lnTo>
                <a:lnTo>
                  <a:pt x="18405" y="762512"/>
                </a:lnTo>
                <a:lnTo>
                  <a:pt x="28528" y="717930"/>
                </a:lnTo>
                <a:lnTo>
                  <a:pt x="40749" y="674165"/>
                </a:lnTo>
                <a:lnTo>
                  <a:pt x="55014" y="631272"/>
                </a:lnTo>
                <a:lnTo>
                  <a:pt x="71267" y="589305"/>
                </a:lnTo>
                <a:lnTo>
                  <a:pt x="89452" y="548319"/>
                </a:lnTo>
                <a:lnTo>
                  <a:pt x="109516" y="508367"/>
                </a:lnTo>
                <a:lnTo>
                  <a:pt x="131402" y="469504"/>
                </a:lnTo>
                <a:lnTo>
                  <a:pt x="155056" y="431785"/>
                </a:lnTo>
                <a:lnTo>
                  <a:pt x="180422" y="395263"/>
                </a:lnTo>
                <a:lnTo>
                  <a:pt x="207445" y="359994"/>
                </a:lnTo>
                <a:lnTo>
                  <a:pt x="236071" y="326030"/>
                </a:lnTo>
                <a:lnTo>
                  <a:pt x="266243" y="293427"/>
                </a:lnTo>
                <a:lnTo>
                  <a:pt x="297907" y="262240"/>
                </a:lnTo>
                <a:lnTo>
                  <a:pt x="331007" y="232521"/>
                </a:lnTo>
                <a:lnTo>
                  <a:pt x="365490" y="204326"/>
                </a:lnTo>
                <a:lnTo>
                  <a:pt x="401298" y="177709"/>
                </a:lnTo>
                <a:lnTo>
                  <a:pt x="438377" y="152725"/>
                </a:lnTo>
                <a:lnTo>
                  <a:pt x="476673" y="129427"/>
                </a:lnTo>
                <a:lnTo>
                  <a:pt x="516129" y="107869"/>
                </a:lnTo>
                <a:lnTo>
                  <a:pt x="556691" y="88108"/>
                </a:lnTo>
                <a:lnTo>
                  <a:pt x="598304" y="70195"/>
                </a:lnTo>
                <a:lnTo>
                  <a:pt x="640912" y="54187"/>
                </a:lnTo>
                <a:lnTo>
                  <a:pt x="684460" y="40136"/>
                </a:lnTo>
                <a:lnTo>
                  <a:pt x="728893" y="28099"/>
                </a:lnTo>
                <a:lnTo>
                  <a:pt x="774156" y="18128"/>
                </a:lnTo>
                <a:lnTo>
                  <a:pt x="820194" y="10278"/>
                </a:lnTo>
                <a:lnTo>
                  <a:pt x="866952" y="4604"/>
                </a:lnTo>
                <a:lnTo>
                  <a:pt x="914374" y="1160"/>
                </a:lnTo>
                <a:lnTo>
                  <a:pt x="962406" y="0"/>
                </a:lnTo>
                <a:lnTo>
                  <a:pt x="1010437" y="1160"/>
                </a:lnTo>
                <a:lnTo>
                  <a:pt x="1057859" y="4604"/>
                </a:lnTo>
                <a:lnTo>
                  <a:pt x="1104617" y="10278"/>
                </a:lnTo>
                <a:lnTo>
                  <a:pt x="1150655" y="18128"/>
                </a:lnTo>
                <a:lnTo>
                  <a:pt x="1195918" y="28099"/>
                </a:lnTo>
                <a:lnTo>
                  <a:pt x="1240351" y="40136"/>
                </a:lnTo>
                <a:lnTo>
                  <a:pt x="1283899" y="54187"/>
                </a:lnTo>
                <a:lnTo>
                  <a:pt x="1326507" y="70195"/>
                </a:lnTo>
                <a:lnTo>
                  <a:pt x="1368120" y="88108"/>
                </a:lnTo>
                <a:lnTo>
                  <a:pt x="1408682" y="107869"/>
                </a:lnTo>
                <a:lnTo>
                  <a:pt x="1448138" y="129427"/>
                </a:lnTo>
                <a:lnTo>
                  <a:pt x="1486434" y="152725"/>
                </a:lnTo>
                <a:lnTo>
                  <a:pt x="1523513" y="177709"/>
                </a:lnTo>
                <a:lnTo>
                  <a:pt x="1559321" y="204326"/>
                </a:lnTo>
                <a:lnTo>
                  <a:pt x="1593804" y="232521"/>
                </a:lnTo>
                <a:lnTo>
                  <a:pt x="1626904" y="262240"/>
                </a:lnTo>
                <a:lnTo>
                  <a:pt x="1658568" y="293427"/>
                </a:lnTo>
                <a:lnTo>
                  <a:pt x="1688740" y="326030"/>
                </a:lnTo>
                <a:lnTo>
                  <a:pt x="1717366" y="359994"/>
                </a:lnTo>
                <a:lnTo>
                  <a:pt x="1744389" y="395263"/>
                </a:lnTo>
                <a:lnTo>
                  <a:pt x="1769755" y="431785"/>
                </a:lnTo>
                <a:lnTo>
                  <a:pt x="1793409" y="469504"/>
                </a:lnTo>
                <a:lnTo>
                  <a:pt x="1815295" y="508367"/>
                </a:lnTo>
                <a:lnTo>
                  <a:pt x="1835359" y="548319"/>
                </a:lnTo>
                <a:lnTo>
                  <a:pt x="1853544" y="589305"/>
                </a:lnTo>
                <a:lnTo>
                  <a:pt x="1869797" y="631272"/>
                </a:lnTo>
                <a:lnTo>
                  <a:pt x="1884062" y="674165"/>
                </a:lnTo>
                <a:lnTo>
                  <a:pt x="1896283" y="717930"/>
                </a:lnTo>
                <a:lnTo>
                  <a:pt x="1906406" y="762512"/>
                </a:lnTo>
                <a:lnTo>
                  <a:pt x="1914376" y="807857"/>
                </a:lnTo>
                <a:lnTo>
                  <a:pt x="1920137" y="853911"/>
                </a:lnTo>
                <a:lnTo>
                  <a:pt x="1923634" y="900619"/>
                </a:lnTo>
                <a:lnTo>
                  <a:pt x="1924812" y="947927"/>
                </a:lnTo>
                <a:lnTo>
                  <a:pt x="1923634" y="995236"/>
                </a:lnTo>
                <a:lnTo>
                  <a:pt x="1920137" y="1041944"/>
                </a:lnTo>
                <a:lnTo>
                  <a:pt x="1914376" y="1087998"/>
                </a:lnTo>
                <a:lnTo>
                  <a:pt x="1906406" y="1133343"/>
                </a:lnTo>
                <a:lnTo>
                  <a:pt x="1896283" y="1177925"/>
                </a:lnTo>
                <a:lnTo>
                  <a:pt x="1884062" y="1221690"/>
                </a:lnTo>
                <a:lnTo>
                  <a:pt x="1869797" y="1264583"/>
                </a:lnTo>
                <a:lnTo>
                  <a:pt x="1853544" y="1306550"/>
                </a:lnTo>
                <a:lnTo>
                  <a:pt x="1835359" y="1347536"/>
                </a:lnTo>
                <a:lnTo>
                  <a:pt x="1815295" y="1387488"/>
                </a:lnTo>
                <a:lnTo>
                  <a:pt x="1793409" y="1426351"/>
                </a:lnTo>
                <a:lnTo>
                  <a:pt x="1769755" y="1464070"/>
                </a:lnTo>
                <a:lnTo>
                  <a:pt x="1744389" y="1500592"/>
                </a:lnTo>
                <a:lnTo>
                  <a:pt x="1717366" y="1535861"/>
                </a:lnTo>
                <a:lnTo>
                  <a:pt x="1688740" y="1569825"/>
                </a:lnTo>
                <a:lnTo>
                  <a:pt x="1658568" y="1602428"/>
                </a:lnTo>
                <a:lnTo>
                  <a:pt x="1626904" y="1633615"/>
                </a:lnTo>
                <a:lnTo>
                  <a:pt x="1593804" y="1663334"/>
                </a:lnTo>
                <a:lnTo>
                  <a:pt x="1559321" y="1691529"/>
                </a:lnTo>
                <a:lnTo>
                  <a:pt x="1523513" y="1718146"/>
                </a:lnTo>
                <a:lnTo>
                  <a:pt x="1486434" y="1743130"/>
                </a:lnTo>
                <a:lnTo>
                  <a:pt x="1448138" y="1766428"/>
                </a:lnTo>
                <a:lnTo>
                  <a:pt x="1408682" y="1787986"/>
                </a:lnTo>
                <a:lnTo>
                  <a:pt x="1368120" y="1807747"/>
                </a:lnTo>
                <a:lnTo>
                  <a:pt x="1326507" y="1825660"/>
                </a:lnTo>
                <a:lnTo>
                  <a:pt x="1283899" y="1841668"/>
                </a:lnTo>
                <a:lnTo>
                  <a:pt x="1240351" y="1855719"/>
                </a:lnTo>
                <a:lnTo>
                  <a:pt x="1195918" y="1867756"/>
                </a:lnTo>
                <a:lnTo>
                  <a:pt x="1150655" y="1877727"/>
                </a:lnTo>
                <a:lnTo>
                  <a:pt x="1104617" y="1885577"/>
                </a:lnTo>
                <a:lnTo>
                  <a:pt x="1057859" y="1891251"/>
                </a:lnTo>
                <a:lnTo>
                  <a:pt x="1010437" y="1894695"/>
                </a:lnTo>
                <a:lnTo>
                  <a:pt x="962406" y="1895856"/>
                </a:lnTo>
                <a:lnTo>
                  <a:pt x="914374" y="1894695"/>
                </a:lnTo>
                <a:lnTo>
                  <a:pt x="866952" y="1891251"/>
                </a:lnTo>
                <a:lnTo>
                  <a:pt x="820194" y="1885577"/>
                </a:lnTo>
                <a:lnTo>
                  <a:pt x="774156" y="1877727"/>
                </a:lnTo>
                <a:lnTo>
                  <a:pt x="728893" y="1867756"/>
                </a:lnTo>
                <a:lnTo>
                  <a:pt x="684460" y="1855719"/>
                </a:lnTo>
                <a:lnTo>
                  <a:pt x="640912" y="1841668"/>
                </a:lnTo>
                <a:lnTo>
                  <a:pt x="598304" y="1825660"/>
                </a:lnTo>
                <a:lnTo>
                  <a:pt x="556691" y="1807747"/>
                </a:lnTo>
                <a:lnTo>
                  <a:pt x="516129" y="1787986"/>
                </a:lnTo>
                <a:lnTo>
                  <a:pt x="476673" y="1766428"/>
                </a:lnTo>
                <a:lnTo>
                  <a:pt x="438377" y="1743130"/>
                </a:lnTo>
                <a:lnTo>
                  <a:pt x="401298" y="1718146"/>
                </a:lnTo>
                <a:lnTo>
                  <a:pt x="365490" y="1691529"/>
                </a:lnTo>
                <a:lnTo>
                  <a:pt x="331007" y="1663334"/>
                </a:lnTo>
                <a:lnTo>
                  <a:pt x="297907" y="1633615"/>
                </a:lnTo>
                <a:lnTo>
                  <a:pt x="266243" y="1602428"/>
                </a:lnTo>
                <a:lnTo>
                  <a:pt x="236071" y="1569825"/>
                </a:lnTo>
                <a:lnTo>
                  <a:pt x="207445" y="1535861"/>
                </a:lnTo>
                <a:lnTo>
                  <a:pt x="180422" y="1500592"/>
                </a:lnTo>
                <a:lnTo>
                  <a:pt x="155056" y="1464070"/>
                </a:lnTo>
                <a:lnTo>
                  <a:pt x="131402" y="1426351"/>
                </a:lnTo>
                <a:lnTo>
                  <a:pt x="109516" y="1387488"/>
                </a:lnTo>
                <a:lnTo>
                  <a:pt x="89452" y="1347536"/>
                </a:lnTo>
                <a:lnTo>
                  <a:pt x="71267" y="1306550"/>
                </a:lnTo>
                <a:lnTo>
                  <a:pt x="55014" y="1264583"/>
                </a:lnTo>
                <a:lnTo>
                  <a:pt x="40749" y="1221690"/>
                </a:lnTo>
                <a:lnTo>
                  <a:pt x="28528" y="1177925"/>
                </a:lnTo>
                <a:lnTo>
                  <a:pt x="18405" y="1133343"/>
                </a:lnTo>
                <a:lnTo>
                  <a:pt x="10435" y="1087998"/>
                </a:lnTo>
                <a:lnTo>
                  <a:pt x="4674" y="1041944"/>
                </a:lnTo>
                <a:lnTo>
                  <a:pt x="1177" y="995236"/>
                </a:lnTo>
                <a:lnTo>
                  <a:pt x="0" y="947927"/>
                </a:lnTo>
                <a:close/>
              </a:path>
            </a:pathLst>
          </a:custGeom>
          <a:ln w="114300">
            <a:solidFill>
              <a:srgbClr val="AC2B2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10183" y="1929383"/>
            <a:ext cx="805180" cy="803275"/>
          </a:xfrm>
          <a:custGeom>
            <a:avLst/>
            <a:gdLst/>
            <a:ahLst/>
            <a:cxnLst/>
            <a:rect l="l" t="t" r="r" b="b"/>
            <a:pathLst>
              <a:path w="805180" h="803275">
                <a:moveTo>
                  <a:pt x="402335" y="0"/>
                </a:moveTo>
                <a:lnTo>
                  <a:pt x="355416" y="2702"/>
                </a:lnTo>
                <a:lnTo>
                  <a:pt x="310085" y="10608"/>
                </a:lnTo>
                <a:lnTo>
                  <a:pt x="266646" y="23415"/>
                </a:lnTo>
                <a:lnTo>
                  <a:pt x="225400" y="40823"/>
                </a:lnTo>
                <a:lnTo>
                  <a:pt x="186650" y="62530"/>
                </a:lnTo>
                <a:lnTo>
                  <a:pt x="150697" y="88234"/>
                </a:lnTo>
                <a:lnTo>
                  <a:pt x="117843" y="117633"/>
                </a:lnTo>
                <a:lnTo>
                  <a:pt x="88390" y="150427"/>
                </a:lnTo>
                <a:lnTo>
                  <a:pt x="62640" y="186313"/>
                </a:lnTo>
                <a:lnTo>
                  <a:pt x="40894" y="224989"/>
                </a:lnTo>
                <a:lnTo>
                  <a:pt x="23456" y="266155"/>
                </a:lnTo>
                <a:lnTo>
                  <a:pt x="10626" y="309509"/>
                </a:lnTo>
                <a:lnTo>
                  <a:pt x="2706" y="354749"/>
                </a:lnTo>
                <a:lnTo>
                  <a:pt x="0" y="401574"/>
                </a:lnTo>
                <a:lnTo>
                  <a:pt x="2706" y="448398"/>
                </a:lnTo>
                <a:lnTo>
                  <a:pt x="10626" y="493638"/>
                </a:lnTo>
                <a:lnTo>
                  <a:pt x="23456" y="536992"/>
                </a:lnTo>
                <a:lnTo>
                  <a:pt x="40894" y="578158"/>
                </a:lnTo>
                <a:lnTo>
                  <a:pt x="62640" y="616834"/>
                </a:lnTo>
                <a:lnTo>
                  <a:pt x="88390" y="652720"/>
                </a:lnTo>
                <a:lnTo>
                  <a:pt x="117843" y="685514"/>
                </a:lnTo>
                <a:lnTo>
                  <a:pt x="150697" y="714913"/>
                </a:lnTo>
                <a:lnTo>
                  <a:pt x="186650" y="740617"/>
                </a:lnTo>
                <a:lnTo>
                  <a:pt x="225400" y="762324"/>
                </a:lnTo>
                <a:lnTo>
                  <a:pt x="266646" y="779732"/>
                </a:lnTo>
                <a:lnTo>
                  <a:pt x="310085" y="792539"/>
                </a:lnTo>
                <a:lnTo>
                  <a:pt x="355416" y="800445"/>
                </a:lnTo>
                <a:lnTo>
                  <a:pt x="402335" y="803148"/>
                </a:lnTo>
                <a:lnTo>
                  <a:pt x="449265" y="800445"/>
                </a:lnTo>
                <a:lnTo>
                  <a:pt x="494602" y="792539"/>
                </a:lnTo>
                <a:lnTo>
                  <a:pt x="538045" y="779732"/>
                </a:lnTo>
                <a:lnTo>
                  <a:pt x="579293" y="762324"/>
                </a:lnTo>
                <a:lnTo>
                  <a:pt x="618043" y="740617"/>
                </a:lnTo>
                <a:lnTo>
                  <a:pt x="653995" y="714913"/>
                </a:lnTo>
                <a:lnTo>
                  <a:pt x="686847" y="685514"/>
                </a:lnTo>
                <a:lnTo>
                  <a:pt x="716297" y="652720"/>
                </a:lnTo>
                <a:lnTo>
                  <a:pt x="742044" y="616834"/>
                </a:lnTo>
                <a:lnTo>
                  <a:pt x="763786" y="578158"/>
                </a:lnTo>
                <a:lnTo>
                  <a:pt x="781221" y="536992"/>
                </a:lnTo>
                <a:lnTo>
                  <a:pt x="794048" y="493638"/>
                </a:lnTo>
                <a:lnTo>
                  <a:pt x="801965" y="448398"/>
                </a:lnTo>
                <a:lnTo>
                  <a:pt x="804672" y="401574"/>
                </a:lnTo>
                <a:lnTo>
                  <a:pt x="801965" y="354749"/>
                </a:lnTo>
                <a:lnTo>
                  <a:pt x="794048" y="309509"/>
                </a:lnTo>
                <a:lnTo>
                  <a:pt x="781221" y="266155"/>
                </a:lnTo>
                <a:lnTo>
                  <a:pt x="763786" y="224989"/>
                </a:lnTo>
                <a:lnTo>
                  <a:pt x="742044" y="186313"/>
                </a:lnTo>
                <a:lnTo>
                  <a:pt x="716297" y="150427"/>
                </a:lnTo>
                <a:lnTo>
                  <a:pt x="686847" y="117633"/>
                </a:lnTo>
                <a:lnTo>
                  <a:pt x="653995" y="88234"/>
                </a:lnTo>
                <a:lnTo>
                  <a:pt x="618043" y="62530"/>
                </a:lnTo>
                <a:lnTo>
                  <a:pt x="579293" y="40823"/>
                </a:lnTo>
                <a:lnTo>
                  <a:pt x="538045" y="23415"/>
                </a:lnTo>
                <a:lnTo>
                  <a:pt x="494602" y="10608"/>
                </a:lnTo>
                <a:lnTo>
                  <a:pt x="449265" y="2702"/>
                </a:lnTo>
                <a:lnTo>
                  <a:pt x="402335" y="0"/>
                </a:lnTo>
                <a:close/>
              </a:path>
            </a:pathLst>
          </a:custGeom>
          <a:solidFill>
            <a:srgbClr val="F1F1F1">
              <a:alpha val="7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104388" y="2034539"/>
            <a:ext cx="314325" cy="315595"/>
          </a:xfrm>
          <a:custGeom>
            <a:avLst/>
            <a:gdLst/>
            <a:ahLst/>
            <a:cxnLst/>
            <a:rect l="l" t="t" r="r" b="b"/>
            <a:pathLst>
              <a:path w="314325" h="315594">
                <a:moveTo>
                  <a:pt x="156972" y="0"/>
                </a:moveTo>
                <a:lnTo>
                  <a:pt x="107338" y="8040"/>
                </a:lnTo>
                <a:lnTo>
                  <a:pt x="64245" y="30431"/>
                </a:lnTo>
                <a:lnTo>
                  <a:pt x="30272" y="64574"/>
                </a:lnTo>
                <a:lnTo>
                  <a:pt x="7997" y="107874"/>
                </a:lnTo>
                <a:lnTo>
                  <a:pt x="0" y="157734"/>
                </a:lnTo>
                <a:lnTo>
                  <a:pt x="7997" y="207593"/>
                </a:lnTo>
                <a:lnTo>
                  <a:pt x="30272" y="250893"/>
                </a:lnTo>
                <a:lnTo>
                  <a:pt x="64245" y="285036"/>
                </a:lnTo>
                <a:lnTo>
                  <a:pt x="107338" y="307427"/>
                </a:lnTo>
                <a:lnTo>
                  <a:pt x="156972" y="315468"/>
                </a:lnTo>
                <a:lnTo>
                  <a:pt x="206605" y="307427"/>
                </a:lnTo>
                <a:lnTo>
                  <a:pt x="249698" y="285036"/>
                </a:lnTo>
                <a:lnTo>
                  <a:pt x="283671" y="250893"/>
                </a:lnTo>
                <a:lnTo>
                  <a:pt x="305946" y="207593"/>
                </a:lnTo>
                <a:lnTo>
                  <a:pt x="313944" y="157734"/>
                </a:lnTo>
                <a:lnTo>
                  <a:pt x="305946" y="107874"/>
                </a:lnTo>
                <a:lnTo>
                  <a:pt x="283671" y="64574"/>
                </a:lnTo>
                <a:lnTo>
                  <a:pt x="249698" y="30431"/>
                </a:lnTo>
                <a:lnTo>
                  <a:pt x="206605" y="8040"/>
                </a:lnTo>
                <a:lnTo>
                  <a:pt x="156972" y="0"/>
                </a:lnTo>
                <a:close/>
              </a:path>
            </a:pathLst>
          </a:custGeom>
          <a:solidFill>
            <a:srgbClr val="48504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940179" y="3168776"/>
            <a:ext cx="1025525" cy="6277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zh-CN" altLang="en-US" sz="4000" spc="-70" dirty="0">
                <a:latin typeface="宋体"/>
                <a:cs typeface="宋体"/>
              </a:rPr>
              <a:t>目录</a:t>
            </a:r>
            <a:endParaRPr sz="4000" dirty="0">
              <a:latin typeface="宋体"/>
              <a:cs typeface="宋体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495800" y="2499176"/>
            <a:ext cx="7202586" cy="149015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200000"/>
              </a:lnSpc>
              <a:spcBef>
                <a:spcPts val="100"/>
              </a:spcBef>
            </a:pPr>
            <a:r>
              <a:rPr sz="2400" b="1" spc="-114" dirty="0">
                <a:latin typeface="宋体"/>
                <a:cs typeface="宋体"/>
              </a:rPr>
              <a:t>1.</a:t>
            </a:r>
            <a:r>
              <a:rPr sz="2400" b="1" spc="215" dirty="0">
                <a:latin typeface="宋体"/>
                <a:cs typeface="宋体"/>
              </a:rPr>
              <a:t> </a:t>
            </a:r>
            <a:r>
              <a:rPr lang="en-US" sz="2400" b="1" spc="90" dirty="0" smtClean="0">
                <a:latin typeface="宋体"/>
                <a:cs typeface="宋体"/>
              </a:rPr>
              <a:t>V</a:t>
            </a:r>
            <a:r>
              <a:rPr lang="en-US" altLang="zh-CN" sz="2400" b="1" spc="90" dirty="0" smtClean="0">
                <a:latin typeface="宋体"/>
                <a:cs typeface="宋体"/>
              </a:rPr>
              <a:t>isual </a:t>
            </a:r>
            <a:r>
              <a:rPr lang="en-US" sz="2400" b="1" spc="90" dirty="0" smtClean="0">
                <a:latin typeface="宋体"/>
                <a:cs typeface="宋体"/>
              </a:rPr>
              <a:t>Studio 2010</a:t>
            </a:r>
            <a:r>
              <a:rPr lang="zh-CN" altLang="en-US" sz="2400" b="1" spc="90" dirty="0" smtClean="0">
                <a:latin typeface="宋体"/>
                <a:cs typeface="宋体"/>
              </a:rPr>
              <a:t>环境下调试程序的方法</a:t>
            </a:r>
            <a:endParaRPr sz="2400" b="1" dirty="0">
              <a:latin typeface="Times New Roman"/>
              <a:cs typeface="Times New Roman"/>
            </a:endParaRPr>
          </a:p>
          <a:p>
            <a:pPr marL="12700">
              <a:lnSpc>
                <a:spcPct val="200000"/>
              </a:lnSpc>
            </a:pPr>
            <a:r>
              <a:rPr lang="en-US" sz="2400" b="1" spc="90" dirty="0" smtClean="0">
                <a:latin typeface="宋体"/>
                <a:cs typeface="宋体"/>
              </a:rPr>
              <a:t>2. </a:t>
            </a:r>
            <a:r>
              <a:rPr lang="zh-CN" altLang="en-US" sz="2400" b="1" spc="90" dirty="0" smtClean="0">
                <a:latin typeface="宋体"/>
                <a:cs typeface="宋体"/>
              </a:rPr>
              <a:t>示例讲解</a:t>
            </a:r>
            <a:endParaRPr sz="2400" b="1" dirty="0">
              <a:latin typeface="宋体"/>
              <a:cs typeface="宋体"/>
            </a:endParaRPr>
          </a:p>
        </p:txBody>
      </p:sp>
    </p:spTree>
    <p:extLst>
      <p:ext uri="{BB962C8B-B14F-4D97-AF65-F5344CB8AC3E}">
        <p14:creationId xmlns:p14="http://schemas.microsoft.com/office/powerpoint/2010/main" val="13763453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867562" y="1295400"/>
            <a:ext cx="10640162" cy="382925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50000"/>
              </a:lnSpc>
              <a:spcBef>
                <a:spcPts val="100"/>
              </a:spcBef>
            </a:pPr>
            <a:r>
              <a:rPr lang="en-US" altLang="zh-CN" spc="-30" dirty="0">
                <a:solidFill>
                  <a:srgbClr val="404040"/>
                </a:solidFill>
                <a:latin typeface="微软雅黑"/>
                <a:cs typeface="微软雅黑"/>
              </a:rPr>
              <a:t>VS2010</a:t>
            </a:r>
            <a:r>
              <a:rPr lang="zh-CN" altLang="en-US" spc="-30" dirty="0">
                <a:solidFill>
                  <a:srgbClr val="404040"/>
                </a:solidFill>
                <a:latin typeface="微软雅黑"/>
                <a:cs typeface="微软雅黑"/>
              </a:rPr>
              <a:t>里面不能单独编译一个</a:t>
            </a:r>
            <a:r>
              <a:rPr lang="en-US" altLang="zh-CN" spc="-30" dirty="0">
                <a:solidFill>
                  <a:srgbClr val="404040"/>
                </a:solidFill>
                <a:latin typeface="微软雅黑"/>
                <a:cs typeface="微软雅黑"/>
              </a:rPr>
              <a:t>.</a:t>
            </a:r>
            <a:r>
              <a:rPr lang="en-US" altLang="zh-CN" spc="-30" dirty="0" err="1">
                <a:solidFill>
                  <a:srgbClr val="404040"/>
                </a:solidFill>
                <a:latin typeface="微软雅黑"/>
                <a:cs typeface="微软雅黑"/>
              </a:rPr>
              <a:t>cpp</a:t>
            </a:r>
            <a:r>
              <a:rPr lang="zh-CN" altLang="en-US" spc="-30" dirty="0">
                <a:solidFill>
                  <a:srgbClr val="404040"/>
                </a:solidFill>
                <a:latin typeface="微软雅黑"/>
                <a:cs typeface="微软雅黑"/>
              </a:rPr>
              <a:t>或者一个</a:t>
            </a:r>
            <a:r>
              <a:rPr lang="en-US" altLang="zh-CN" spc="-30" dirty="0">
                <a:solidFill>
                  <a:srgbClr val="404040"/>
                </a:solidFill>
                <a:latin typeface="微软雅黑"/>
                <a:cs typeface="微软雅黑"/>
              </a:rPr>
              <a:t>.c</a:t>
            </a:r>
            <a:r>
              <a:rPr lang="zh-CN" altLang="en-US" spc="-30" dirty="0">
                <a:solidFill>
                  <a:srgbClr val="404040"/>
                </a:solidFill>
                <a:latin typeface="微软雅黑"/>
                <a:cs typeface="微软雅黑"/>
              </a:rPr>
              <a:t>文件，这些文件必须依赖于某一个项目，因此我们必须创建一个项目。</a:t>
            </a:r>
          </a:p>
          <a:p>
            <a:pPr marL="298450" indent="-285750">
              <a:lnSpc>
                <a:spcPct val="15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zh-CN" altLang="en-US" spc="-30" dirty="0">
                <a:solidFill>
                  <a:srgbClr val="404040"/>
                </a:solidFill>
                <a:latin typeface="微软雅黑"/>
                <a:cs typeface="微软雅黑"/>
              </a:rPr>
              <a:t>有很多种方法都可以创建项目，可以通过菜单：</a:t>
            </a:r>
            <a:r>
              <a:rPr lang="zh-CN" altLang="en-US" spc="-30" dirty="0" smtClean="0">
                <a:solidFill>
                  <a:srgbClr val="404040"/>
                </a:solidFill>
                <a:latin typeface="微软雅黑"/>
                <a:cs typeface="微软雅黑"/>
              </a:rPr>
              <a:t>文件</a:t>
            </a:r>
            <a:r>
              <a:rPr lang="en-US" altLang="zh-CN" spc="-30" dirty="0" smtClean="0">
                <a:solidFill>
                  <a:srgbClr val="404040"/>
                </a:solidFill>
                <a:latin typeface="微软雅黑"/>
                <a:cs typeface="微软雅黑"/>
              </a:rPr>
              <a:t>-&gt;</a:t>
            </a:r>
            <a:r>
              <a:rPr lang="zh-CN" altLang="en-US" spc="-30" dirty="0" smtClean="0">
                <a:solidFill>
                  <a:srgbClr val="404040"/>
                </a:solidFill>
                <a:latin typeface="微软雅黑"/>
                <a:cs typeface="微软雅黑"/>
              </a:rPr>
              <a:t>新建</a:t>
            </a:r>
            <a:r>
              <a:rPr lang="en-US" altLang="zh-CN" spc="-30" dirty="0" smtClean="0">
                <a:solidFill>
                  <a:srgbClr val="404040"/>
                </a:solidFill>
                <a:latin typeface="微软雅黑"/>
                <a:cs typeface="微软雅黑"/>
              </a:rPr>
              <a:t>-&gt;</a:t>
            </a:r>
            <a:r>
              <a:rPr lang="zh-CN" altLang="en-US" spc="-30" dirty="0" smtClean="0">
                <a:solidFill>
                  <a:srgbClr val="404040"/>
                </a:solidFill>
                <a:latin typeface="微软雅黑"/>
                <a:cs typeface="微软雅黑"/>
              </a:rPr>
              <a:t>项目；</a:t>
            </a:r>
            <a:endParaRPr lang="en-US" altLang="zh-CN" spc="-30" dirty="0" smtClean="0">
              <a:solidFill>
                <a:srgbClr val="404040"/>
              </a:solidFill>
              <a:latin typeface="微软雅黑"/>
              <a:cs typeface="微软雅黑"/>
            </a:endParaRPr>
          </a:p>
          <a:p>
            <a:pPr marL="298450" indent="-285750">
              <a:lnSpc>
                <a:spcPct val="15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zh-CN" altLang="en-US" spc="-30" dirty="0" smtClean="0">
                <a:solidFill>
                  <a:srgbClr val="404040"/>
                </a:solidFill>
                <a:latin typeface="微软雅黑"/>
                <a:cs typeface="微软雅黑"/>
              </a:rPr>
              <a:t>也</a:t>
            </a:r>
            <a:r>
              <a:rPr lang="zh-CN" altLang="en-US" spc="-30" dirty="0">
                <a:solidFill>
                  <a:srgbClr val="404040"/>
                </a:solidFill>
                <a:latin typeface="微软雅黑"/>
                <a:cs typeface="微软雅黑"/>
              </a:rPr>
              <a:t>可以通过工具栏点击新建项目进行创建。  </a:t>
            </a:r>
          </a:p>
          <a:p>
            <a:pPr marL="298450" indent="-285750">
              <a:lnSpc>
                <a:spcPct val="15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zh-CN" altLang="en-US" spc="-30" dirty="0">
                <a:solidFill>
                  <a:srgbClr val="404040"/>
                </a:solidFill>
                <a:latin typeface="微软雅黑"/>
                <a:cs typeface="微软雅黑"/>
              </a:rPr>
              <a:t>点击之后进入新建项目向导：</a:t>
            </a:r>
          </a:p>
          <a:p>
            <a:pPr marL="298450" indent="-285750">
              <a:lnSpc>
                <a:spcPct val="15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zh-CN" altLang="en-US" spc="-30" dirty="0" smtClean="0">
                <a:solidFill>
                  <a:srgbClr val="404040"/>
                </a:solidFill>
                <a:latin typeface="微软雅黑"/>
                <a:cs typeface="微软雅黑"/>
              </a:rPr>
              <a:t>选择“</a:t>
            </a:r>
            <a:r>
              <a:rPr lang="en-US" altLang="zh-CN" spc="-30" dirty="0">
                <a:solidFill>
                  <a:srgbClr val="404040"/>
                </a:solidFill>
                <a:latin typeface="微软雅黑"/>
                <a:cs typeface="微软雅黑"/>
              </a:rPr>
              <a:t>Win32</a:t>
            </a:r>
            <a:r>
              <a:rPr lang="zh-CN" altLang="en-US" spc="-30" dirty="0">
                <a:solidFill>
                  <a:srgbClr val="404040"/>
                </a:solidFill>
                <a:latin typeface="微软雅黑"/>
                <a:cs typeface="微软雅黑"/>
              </a:rPr>
              <a:t>控制台应用程序</a:t>
            </a:r>
            <a:r>
              <a:rPr lang="zh-CN" altLang="en-US" spc="-30" dirty="0" smtClean="0">
                <a:solidFill>
                  <a:srgbClr val="404040"/>
                </a:solidFill>
                <a:latin typeface="微软雅黑"/>
                <a:cs typeface="微软雅黑"/>
              </a:rPr>
              <a:t>”，</a:t>
            </a:r>
            <a:r>
              <a:rPr lang="zh-CN" altLang="en-US" spc="-30" dirty="0">
                <a:solidFill>
                  <a:srgbClr val="404040"/>
                </a:solidFill>
                <a:latin typeface="微软雅黑"/>
                <a:cs typeface="微软雅黑"/>
              </a:rPr>
              <a:t>名称中</a:t>
            </a:r>
            <a:r>
              <a:rPr lang="zh-CN" altLang="en-US" spc="-30" dirty="0" smtClean="0">
                <a:solidFill>
                  <a:srgbClr val="404040"/>
                </a:solidFill>
                <a:latin typeface="微软雅黑"/>
                <a:cs typeface="微软雅黑"/>
              </a:rPr>
              <a:t>输入“</a:t>
            </a:r>
            <a:r>
              <a:rPr lang="en-US" altLang="zh-CN" spc="-30" dirty="0">
                <a:solidFill>
                  <a:srgbClr val="404040"/>
                </a:solidFill>
                <a:latin typeface="微软雅黑"/>
                <a:cs typeface="微软雅黑"/>
              </a:rPr>
              <a:t>HelloWorld</a:t>
            </a:r>
            <a:r>
              <a:rPr lang="zh-CN" altLang="en-US" spc="-30" dirty="0" smtClean="0">
                <a:solidFill>
                  <a:srgbClr val="404040"/>
                </a:solidFill>
                <a:latin typeface="微软雅黑"/>
                <a:cs typeface="微软雅黑"/>
              </a:rPr>
              <a:t>”，点</a:t>
            </a:r>
            <a:r>
              <a:rPr lang="zh-CN" altLang="en-US" spc="-30" dirty="0">
                <a:solidFill>
                  <a:srgbClr val="404040"/>
                </a:solidFill>
                <a:latin typeface="微软雅黑"/>
                <a:cs typeface="微软雅黑"/>
              </a:rPr>
              <a:t>确定，至于是否为解决方案创建目录我们暂时不管。</a:t>
            </a:r>
          </a:p>
          <a:p>
            <a:pPr marL="12700">
              <a:lnSpc>
                <a:spcPct val="150000"/>
              </a:lnSpc>
              <a:spcBef>
                <a:spcPts val="100"/>
              </a:spcBef>
            </a:pPr>
            <a:r>
              <a:rPr lang="zh-CN" altLang="en-US" spc="-30" dirty="0">
                <a:solidFill>
                  <a:srgbClr val="404040"/>
                </a:solidFill>
                <a:latin typeface="微软雅黑"/>
                <a:cs typeface="微软雅黑"/>
              </a:rPr>
              <a:t>主要区别在于解决方案是否和项目文件在同一目录。 </a:t>
            </a:r>
          </a:p>
          <a:p>
            <a:pPr marL="12700">
              <a:lnSpc>
                <a:spcPct val="150000"/>
              </a:lnSpc>
              <a:spcBef>
                <a:spcPts val="100"/>
              </a:spcBef>
            </a:pPr>
            <a:endParaRPr lang="zh-CN" altLang="en-US" spc="-30" dirty="0">
              <a:solidFill>
                <a:srgbClr val="404040"/>
              </a:solidFill>
              <a:latin typeface="微软雅黑"/>
              <a:cs typeface="微软雅黑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867562" y="272922"/>
            <a:ext cx="10456875" cy="369332"/>
          </a:xfrm>
        </p:spPr>
        <p:txBody>
          <a:bodyPr/>
          <a:lstStyle/>
          <a:p>
            <a:r>
              <a:rPr lang="en-US" altLang="zh-CN" dirty="0"/>
              <a:t>1</a:t>
            </a:r>
            <a:r>
              <a:rPr lang="zh-CN" altLang="en-US" dirty="0" smtClean="0"/>
              <a:t>、创建程序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375663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867562" y="1295400"/>
            <a:ext cx="10640162" cy="21416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50000"/>
              </a:lnSpc>
              <a:spcBef>
                <a:spcPts val="100"/>
              </a:spcBef>
            </a:pPr>
            <a:r>
              <a:rPr lang="zh-CN" altLang="en-US" spc="-30" dirty="0">
                <a:solidFill>
                  <a:srgbClr val="404040"/>
                </a:solidFill>
                <a:latin typeface="微软雅黑"/>
                <a:cs typeface="微软雅黑"/>
              </a:rPr>
              <a:t>接下来进入创建页面，在</a:t>
            </a:r>
            <a:r>
              <a:rPr lang="en-US" altLang="zh-CN" spc="-30" dirty="0">
                <a:solidFill>
                  <a:srgbClr val="404040"/>
                </a:solidFill>
                <a:latin typeface="微软雅黑"/>
                <a:cs typeface="微软雅黑"/>
              </a:rPr>
              <a:t>Win32</a:t>
            </a:r>
            <a:r>
              <a:rPr lang="zh-CN" altLang="en-US" spc="-30" dirty="0">
                <a:solidFill>
                  <a:srgbClr val="404040"/>
                </a:solidFill>
                <a:latin typeface="微软雅黑"/>
                <a:cs typeface="微软雅黑"/>
              </a:rPr>
              <a:t>应用程序向导的第一个页面直接点下一步即可： </a:t>
            </a:r>
          </a:p>
          <a:p>
            <a:pPr marL="12700">
              <a:lnSpc>
                <a:spcPct val="150000"/>
              </a:lnSpc>
              <a:spcBef>
                <a:spcPts val="100"/>
              </a:spcBef>
            </a:pPr>
            <a:r>
              <a:rPr lang="zh-CN" altLang="en-US" spc="-30" dirty="0">
                <a:solidFill>
                  <a:srgbClr val="404040"/>
                </a:solidFill>
                <a:latin typeface="微软雅黑"/>
                <a:cs typeface="微软雅黑"/>
              </a:rPr>
              <a:t>下个页面记得</a:t>
            </a:r>
            <a:r>
              <a:rPr lang="zh-CN" altLang="en-US" spc="-30" dirty="0" smtClean="0">
                <a:solidFill>
                  <a:srgbClr val="404040"/>
                </a:solidFill>
                <a:latin typeface="微软雅黑"/>
                <a:cs typeface="微软雅黑"/>
              </a:rPr>
              <a:t>选择“</a:t>
            </a:r>
            <a:r>
              <a:rPr lang="zh-CN" altLang="en-US" spc="-30" dirty="0">
                <a:solidFill>
                  <a:srgbClr val="404040"/>
                </a:solidFill>
                <a:latin typeface="微软雅黑"/>
                <a:cs typeface="微软雅黑"/>
              </a:rPr>
              <a:t>空项目</a:t>
            </a:r>
            <a:r>
              <a:rPr lang="zh-CN" altLang="en-US" spc="-30" dirty="0" smtClean="0">
                <a:solidFill>
                  <a:srgbClr val="404040"/>
                </a:solidFill>
                <a:latin typeface="微软雅黑"/>
                <a:cs typeface="微软雅黑"/>
              </a:rPr>
              <a:t>”，</a:t>
            </a:r>
            <a:r>
              <a:rPr lang="zh-CN" altLang="en-US" spc="-30" dirty="0">
                <a:solidFill>
                  <a:srgbClr val="404040"/>
                </a:solidFill>
                <a:latin typeface="微软雅黑"/>
                <a:cs typeface="微软雅黑"/>
              </a:rPr>
              <a:t>不需要预编译头</a:t>
            </a:r>
          </a:p>
          <a:p>
            <a:pPr marL="12700">
              <a:lnSpc>
                <a:spcPct val="150000"/>
              </a:lnSpc>
              <a:spcBef>
                <a:spcPts val="100"/>
              </a:spcBef>
            </a:pPr>
            <a:r>
              <a:rPr lang="zh-CN" altLang="en-US" spc="-30" dirty="0">
                <a:solidFill>
                  <a:srgbClr val="404040"/>
                </a:solidFill>
                <a:latin typeface="微软雅黑"/>
                <a:cs typeface="微软雅黑"/>
              </a:rPr>
              <a:t>点击完成 </a:t>
            </a:r>
          </a:p>
          <a:p>
            <a:pPr marL="12700">
              <a:lnSpc>
                <a:spcPct val="150000"/>
              </a:lnSpc>
              <a:spcBef>
                <a:spcPts val="100"/>
              </a:spcBef>
            </a:pPr>
            <a:r>
              <a:rPr lang="zh-CN" altLang="en-US" spc="-30" dirty="0" smtClean="0">
                <a:solidFill>
                  <a:srgbClr val="404040"/>
                </a:solidFill>
                <a:latin typeface="微软雅黑"/>
                <a:cs typeface="微软雅黑"/>
              </a:rPr>
              <a:t> </a:t>
            </a:r>
            <a:endParaRPr lang="zh-CN" altLang="en-US" spc="-30" dirty="0">
              <a:solidFill>
                <a:srgbClr val="404040"/>
              </a:solidFill>
              <a:latin typeface="微软雅黑"/>
              <a:cs typeface="微软雅黑"/>
            </a:endParaRPr>
          </a:p>
          <a:p>
            <a:pPr marL="12700">
              <a:lnSpc>
                <a:spcPct val="150000"/>
              </a:lnSpc>
              <a:spcBef>
                <a:spcPts val="100"/>
              </a:spcBef>
            </a:pPr>
            <a:endParaRPr lang="zh-CN" altLang="en-US" spc="-30" dirty="0">
              <a:solidFill>
                <a:srgbClr val="404040"/>
              </a:solidFill>
              <a:latin typeface="微软雅黑"/>
              <a:cs typeface="微软雅黑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867562" y="272922"/>
            <a:ext cx="10456875" cy="369332"/>
          </a:xfrm>
        </p:spPr>
        <p:txBody>
          <a:bodyPr/>
          <a:lstStyle/>
          <a:p>
            <a:r>
              <a:rPr lang="en-US" altLang="zh-CN" dirty="0"/>
              <a:t>1</a:t>
            </a:r>
            <a:r>
              <a:rPr lang="zh-CN" altLang="en-US" dirty="0" smtClean="0"/>
              <a:t>、创建程序</a:t>
            </a:r>
            <a:endParaRPr lang="zh-CN" altLang="en-US" dirty="0"/>
          </a:p>
        </p:txBody>
      </p:sp>
      <p:pic>
        <p:nvPicPr>
          <p:cNvPr id="5" name="图片 19" descr="http://pic002.cnblogs.com/images/2011/78576/2011011321282460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4914" y="2895600"/>
            <a:ext cx="4071965" cy="34528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图片 20" descr="http://pic002.cnblogs.com/images/2011/78576/2011011321292083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8800" y="2940604"/>
            <a:ext cx="2743200" cy="13014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/>
          <p:cNvSpPr/>
          <p:nvPr/>
        </p:nvSpPr>
        <p:spPr>
          <a:xfrm>
            <a:off x="5638800" y="4953000"/>
            <a:ext cx="6096000" cy="87139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50000"/>
              </a:lnSpc>
              <a:spcBef>
                <a:spcPts val="100"/>
              </a:spcBef>
            </a:pPr>
            <a:r>
              <a:rPr lang="zh-CN" altLang="en-US" spc="-30" dirty="0">
                <a:solidFill>
                  <a:srgbClr val="404040"/>
                </a:solidFill>
                <a:latin typeface="微软雅黑"/>
                <a:cs typeface="微软雅黑"/>
              </a:rPr>
              <a:t>这时候一个空的项目编译成功了，我们不妨编译</a:t>
            </a:r>
            <a:r>
              <a:rPr lang="zh-CN" altLang="en-US" spc="-30" dirty="0" smtClean="0">
                <a:solidFill>
                  <a:srgbClr val="404040"/>
                </a:solidFill>
                <a:latin typeface="微软雅黑"/>
                <a:cs typeface="微软雅黑"/>
              </a:rPr>
              <a:t>一下试试</a:t>
            </a:r>
            <a:r>
              <a:rPr lang="zh-CN" altLang="en-US" spc="-30" dirty="0">
                <a:solidFill>
                  <a:srgbClr val="404040"/>
                </a:solidFill>
                <a:latin typeface="微软雅黑"/>
                <a:cs typeface="微软雅黑"/>
              </a:rPr>
              <a:t>。点击刚才添加的生成工具栏的生成</a:t>
            </a:r>
            <a:r>
              <a:rPr lang="zh-CN" altLang="en-US" spc="-30" dirty="0" smtClean="0">
                <a:solidFill>
                  <a:srgbClr val="404040"/>
                </a:solidFill>
                <a:latin typeface="微软雅黑"/>
                <a:cs typeface="微软雅黑"/>
              </a:rPr>
              <a:t>按钮。</a:t>
            </a:r>
            <a:endParaRPr lang="en-US" altLang="zh-CN" spc="-30" dirty="0">
              <a:solidFill>
                <a:srgbClr val="404040"/>
              </a:solidFill>
              <a:latin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4968408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867562" y="1295400"/>
            <a:ext cx="10640162" cy="127214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50000"/>
              </a:lnSpc>
              <a:spcBef>
                <a:spcPts val="100"/>
              </a:spcBef>
            </a:pPr>
            <a:r>
              <a:rPr lang="zh-CN" altLang="en-US" spc="-30" dirty="0">
                <a:solidFill>
                  <a:srgbClr val="404040"/>
                </a:solidFill>
                <a:latin typeface="微软雅黑"/>
                <a:cs typeface="微软雅黑"/>
              </a:rPr>
              <a:t>这时候我们会遇到编译错误，为什么呢？因为我们还没有</a:t>
            </a:r>
            <a:r>
              <a:rPr lang="en-US" altLang="zh-CN" spc="-30" dirty="0">
                <a:solidFill>
                  <a:srgbClr val="404040"/>
                </a:solidFill>
                <a:latin typeface="微软雅黑"/>
                <a:cs typeface="微软雅黑"/>
              </a:rPr>
              <a:t>main</a:t>
            </a:r>
            <a:r>
              <a:rPr lang="zh-CN" altLang="en-US" spc="-30" dirty="0">
                <a:solidFill>
                  <a:srgbClr val="404040"/>
                </a:solidFill>
                <a:latin typeface="微软雅黑"/>
                <a:cs typeface="微软雅黑"/>
              </a:rPr>
              <a:t>函数，对于一个</a:t>
            </a:r>
            <a:r>
              <a:rPr lang="en-US" altLang="zh-CN" spc="-30" dirty="0">
                <a:solidFill>
                  <a:srgbClr val="404040"/>
                </a:solidFill>
                <a:latin typeface="微软雅黑"/>
                <a:cs typeface="微软雅黑"/>
              </a:rPr>
              <a:t>C++</a:t>
            </a:r>
            <a:r>
              <a:rPr lang="zh-CN" altLang="en-US" spc="-30" dirty="0">
                <a:solidFill>
                  <a:srgbClr val="404040"/>
                </a:solidFill>
                <a:latin typeface="微软雅黑"/>
                <a:cs typeface="微软雅黑"/>
              </a:rPr>
              <a:t>项目来说，一定要有一个且仅有一个</a:t>
            </a:r>
            <a:r>
              <a:rPr lang="en-US" altLang="zh-CN" spc="-30" dirty="0">
                <a:solidFill>
                  <a:srgbClr val="404040"/>
                </a:solidFill>
                <a:latin typeface="微软雅黑"/>
                <a:cs typeface="微软雅黑"/>
              </a:rPr>
              <a:t>main</a:t>
            </a:r>
            <a:r>
              <a:rPr lang="zh-CN" altLang="en-US" spc="-30" dirty="0" smtClean="0">
                <a:solidFill>
                  <a:srgbClr val="404040"/>
                </a:solidFill>
                <a:latin typeface="微软雅黑"/>
                <a:cs typeface="微软雅黑"/>
              </a:rPr>
              <a:t> </a:t>
            </a:r>
            <a:endParaRPr lang="zh-CN" altLang="en-US" spc="-30" dirty="0">
              <a:solidFill>
                <a:srgbClr val="404040"/>
              </a:solidFill>
              <a:latin typeface="微软雅黑"/>
              <a:cs typeface="微软雅黑"/>
            </a:endParaRPr>
          </a:p>
          <a:p>
            <a:pPr marL="12700">
              <a:lnSpc>
                <a:spcPct val="150000"/>
              </a:lnSpc>
              <a:spcBef>
                <a:spcPts val="100"/>
              </a:spcBef>
            </a:pPr>
            <a:endParaRPr lang="zh-CN" altLang="en-US" spc="-30" dirty="0">
              <a:solidFill>
                <a:srgbClr val="404040"/>
              </a:solidFill>
              <a:latin typeface="微软雅黑"/>
              <a:cs typeface="微软雅黑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867562" y="272922"/>
            <a:ext cx="10456875" cy="369332"/>
          </a:xfrm>
        </p:spPr>
        <p:txBody>
          <a:bodyPr/>
          <a:lstStyle/>
          <a:p>
            <a:r>
              <a:rPr lang="en-US" altLang="zh-CN" dirty="0"/>
              <a:t>1</a:t>
            </a:r>
            <a:r>
              <a:rPr lang="zh-CN" altLang="en-US" dirty="0" smtClean="0"/>
              <a:t>、创建程序</a:t>
            </a:r>
            <a:endParaRPr lang="zh-CN" altLang="en-US" dirty="0"/>
          </a:p>
        </p:txBody>
      </p:sp>
      <p:pic>
        <p:nvPicPr>
          <p:cNvPr id="7" name="图片 21" descr="http://pic002.cnblogs.com/images/2011/78576/2011011321293435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5838" y="2362200"/>
            <a:ext cx="7092461" cy="434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845972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867562" y="1295400"/>
            <a:ext cx="10640162" cy="127214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50000"/>
              </a:lnSpc>
              <a:spcBef>
                <a:spcPts val="100"/>
              </a:spcBef>
            </a:pPr>
            <a:r>
              <a:rPr lang="zh-CN" altLang="en-US" spc="-30" dirty="0">
                <a:solidFill>
                  <a:srgbClr val="404040"/>
                </a:solidFill>
                <a:latin typeface="微软雅黑"/>
                <a:cs typeface="微软雅黑"/>
              </a:rPr>
              <a:t>这个代码文件可以是已经存在的也可以是新建的，这里新建一个。右键单击项目名称，</a:t>
            </a:r>
            <a:r>
              <a:rPr lang="zh-CN" altLang="en-US" spc="-30" dirty="0" smtClean="0">
                <a:solidFill>
                  <a:srgbClr val="404040"/>
                </a:solidFill>
                <a:latin typeface="微软雅黑"/>
                <a:cs typeface="微软雅黑"/>
              </a:rPr>
              <a:t>选择“添加”</a:t>
            </a:r>
            <a:r>
              <a:rPr lang="en-US" altLang="zh-CN" spc="-30" dirty="0" smtClean="0">
                <a:solidFill>
                  <a:srgbClr val="404040"/>
                </a:solidFill>
                <a:latin typeface="微软雅黑"/>
                <a:cs typeface="微软雅黑"/>
              </a:rPr>
              <a:t>-&gt;</a:t>
            </a:r>
            <a:r>
              <a:rPr lang="zh-CN" altLang="en-US" spc="-30" dirty="0" smtClean="0">
                <a:solidFill>
                  <a:srgbClr val="404040"/>
                </a:solidFill>
                <a:latin typeface="微软雅黑"/>
                <a:cs typeface="微软雅黑"/>
              </a:rPr>
              <a:t>新建项</a:t>
            </a:r>
            <a:r>
              <a:rPr lang="zh-CN" altLang="en-US" spc="-30" dirty="0">
                <a:solidFill>
                  <a:srgbClr val="404040"/>
                </a:solidFill>
                <a:latin typeface="微软雅黑"/>
                <a:cs typeface="微软雅黑"/>
              </a:rPr>
              <a:t>。</a:t>
            </a:r>
          </a:p>
          <a:p>
            <a:pPr marL="12700">
              <a:lnSpc>
                <a:spcPct val="150000"/>
              </a:lnSpc>
              <a:spcBef>
                <a:spcPts val="100"/>
              </a:spcBef>
            </a:pPr>
            <a:endParaRPr lang="zh-CN" altLang="en-US" spc="-30" dirty="0">
              <a:solidFill>
                <a:srgbClr val="404040"/>
              </a:solidFill>
              <a:latin typeface="微软雅黑"/>
              <a:cs typeface="微软雅黑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867562" y="272922"/>
            <a:ext cx="10456875" cy="369332"/>
          </a:xfrm>
        </p:spPr>
        <p:txBody>
          <a:bodyPr/>
          <a:lstStyle/>
          <a:p>
            <a:r>
              <a:rPr lang="en-US" altLang="zh-CN" dirty="0" smtClean="0"/>
              <a:t>2</a:t>
            </a:r>
            <a:r>
              <a:rPr lang="zh-CN" altLang="en-US" dirty="0" smtClean="0"/>
              <a:t>、</a:t>
            </a:r>
            <a:r>
              <a:rPr lang="zh-CN" altLang="en-US" dirty="0"/>
              <a:t>添加代码文件 </a:t>
            </a:r>
          </a:p>
        </p:txBody>
      </p:sp>
      <p:pic>
        <p:nvPicPr>
          <p:cNvPr id="5" name="图片 22" descr="http://pic002.cnblogs.com/images/2011/78576/2011011321303167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2362200"/>
            <a:ext cx="7848600" cy="42020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658157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867562" y="1295400"/>
            <a:ext cx="10640162" cy="8566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50000"/>
              </a:lnSpc>
              <a:spcBef>
                <a:spcPts val="100"/>
              </a:spcBef>
            </a:pPr>
            <a:r>
              <a:rPr lang="zh-CN" altLang="en-US" spc="-30" dirty="0">
                <a:solidFill>
                  <a:srgbClr val="404040"/>
                </a:solidFill>
                <a:latin typeface="微软雅黑"/>
                <a:cs typeface="微软雅黑"/>
              </a:rPr>
              <a:t>在向导中选择代码、</a:t>
            </a:r>
            <a:r>
              <a:rPr lang="en-US" altLang="zh-CN" spc="-30" dirty="0">
                <a:solidFill>
                  <a:srgbClr val="404040"/>
                </a:solidFill>
                <a:latin typeface="微软雅黑"/>
                <a:cs typeface="微软雅黑"/>
              </a:rPr>
              <a:t>C++</a:t>
            </a:r>
            <a:r>
              <a:rPr lang="zh-CN" altLang="en-US" spc="-30" dirty="0">
                <a:solidFill>
                  <a:srgbClr val="404040"/>
                </a:solidFill>
                <a:latin typeface="微软雅黑"/>
                <a:cs typeface="微软雅黑"/>
              </a:rPr>
              <a:t>文件</a:t>
            </a:r>
            <a:r>
              <a:rPr lang="en-US" altLang="zh-CN" spc="-30" dirty="0">
                <a:solidFill>
                  <a:srgbClr val="404040"/>
                </a:solidFill>
                <a:latin typeface="微软雅黑"/>
                <a:cs typeface="微软雅黑"/>
              </a:rPr>
              <a:t>(.</a:t>
            </a:r>
            <a:r>
              <a:rPr lang="en-US" altLang="zh-CN" spc="-30" dirty="0" err="1">
                <a:solidFill>
                  <a:srgbClr val="404040"/>
                </a:solidFill>
                <a:latin typeface="微软雅黑"/>
                <a:cs typeface="微软雅黑"/>
              </a:rPr>
              <a:t>cpp</a:t>
            </a:r>
            <a:r>
              <a:rPr lang="en-US" altLang="zh-CN" spc="-30" dirty="0">
                <a:solidFill>
                  <a:srgbClr val="404040"/>
                </a:solidFill>
                <a:latin typeface="微软雅黑"/>
                <a:cs typeface="微软雅黑"/>
              </a:rPr>
              <a:t>)</a:t>
            </a:r>
            <a:r>
              <a:rPr lang="zh-CN" altLang="en-US" spc="-30" dirty="0">
                <a:solidFill>
                  <a:srgbClr val="404040"/>
                </a:solidFill>
                <a:latin typeface="微软雅黑"/>
                <a:cs typeface="微软雅黑"/>
              </a:rPr>
              <a:t>，名称输入</a:t>
            </a:r>
            <a:r>
              <a:rPr lang="en-US" altLang="zh-CN" spc="-30" dirty="0" smtClean="0">
                <a:solidFill>
                  <a:srgbClr val="404040"/>
                </a:solidFill>
                <a:latin typeface="微软雅黑"/>
                <a:cs typeface="微软雅黑"/>
              </a:rPr>
              <a:t>Main</a:t>
            </a:r>
            <a:r>
              <a:rPr lang="zh-CN" altLang="en-US" spc="-30" dirty="0" smtClean="0">
                <a:solidFill>
                  <a:srgbClr val="404040"/>
                </a:solidFill>
                <a:latin typeface="微软雅黑"/>
                <a:cs typeface="微软雅黑"/>
              </a:rPr>
              <a:t>（名字自己任意取），</a:t>
            </a:r>
            <a:r>
              <a:rPr lang="zh-CN" altLang="en-US" spc="-30" dirty="0">
                <a:solidFill>
                  <a:srgbClr val="404040"/>
                </a:solidFill>
                <a:latin typeface="微软雅黑"/>
                <a:cs typeface="微软雅黑"/>
              </a:rPr>
              <a:t>确定。</a:t>
            </a:r>
          </a:p>
          <a:p>
            <a:pPr marL="12700">
              <a:lnSpc>
                <a:spcPct val="150000"/>
              </a:lnSpc>
              <a:spcBef>
                <a:spcPts val="100"/>
              </a:spcBef>
            </a:pPr>
            <a:endParaRPr lang="zh-CN" altLang="en-US" spc="-30" dirty="0">
              <a:solidFill>
                <a:srgbClr val="404040"/>
              </a:solidFill>
              <a:latin typeface="微软雅黑"/>
              <a:cs typeface="微软雅黑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867562" y="272922"/>
            <a:ext cx="10456875" cy="369332"/>
          </a:xfrm>
        </p:spPr>
        <p:txBody>
          <a:bodyPr/>
          <a:lstStyle/>
          <a:p>
            <a:r>
              <a:rPr lang="en-US" altLang="zh-CN" dirty="0" smtClean="0"/>
              <a:t>2</a:t>
            </a:r>
            <a:r>
              <a:rPr lang="zh-CN" altLang="en-US" dirty="0" smtClean="0"/>
              <a:t>、</a:t>
            </a:r>
            <a:r>
              <a:rPr lang="zh-CN" altLang="en-US" dirty="0"/>
              <a:t>添加代码文件 </a:t>
            </a:r>
          </a:p>
        </p:txBody>
      </p:sp>
      <p:pic>
        <p:nvPicPr>
          <p:cNvPr id="6" name="图片 23" descr="http://pic002.cnblogs.com/images/2011/78576/2011011321311052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7562" y="1905000"/>
            <a:ext cx="6002405" cy="365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/>
          <p:cNvSpPr/>
          <p:nvPr/>
        </p:nvSpPr>
        <p:spPr>
          <a:xfrm>
            <a:off x="797412" y="5849034"/>
            <a:ext cx="7127387" cy="4283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50000"/>
              </a:lnSpc>
              <a:spcBef>
                <a:spcPts val="100"/>
              </a:spcBef>
            </a:pPr>
            <a:r>
              <a:rPr lang="zh-CN" altLang="en-US" spc="-30" dirty="0">
                <a:solidFill>
                  <a:srgbClr val="404040"/>
                </a:solidFill>
                <a:latin typeface="微软雅黑"/>
                <a:cs typeface="微软雅黑"/>
              </a:rPr>
              <a:t>成功添加了一个</a:t>
            </a:r>
            <a:r>
              <a:rPr lang="en-US" altLang="zh-CN" spc="-30" dirty="0">
                <a:solidFill>
                  <a:srgbClr val="404040"/>
                </a:solidFill>
                <a:latin typeface="微软雅黑"/>
                <a:cs typeface="微软雅黑"/>
              </a:rPr>
              <a:t>Main</a:t>
            </a:r>
            <a:r>
              <a:rPr lang="zh-CN" altLang="en-US" spc="-30" dirty="0">
                <a:solidFill>
                  <a:srgbClr val="404040"/>
                </a:solidFill>
                <a:latin typeface="微软雅黑"/>
                <a:cs typeface="微软雅黑"/>
              </a:rPr>
              <a:t>文件，注意添加新文件的时候要防止重名</a:t>
            </a:r>
          </a:p>
        </p:txBody>
      </p:sp>
    </p:spTree>
    <p:extLst>
      <p:ext uri="{BB962C8B-B14F-4D97-AF65-F5344CB8AC3E}">
        <p14:creationId xmlns:p14="http://schemas.microsoft.com/office/powerpoint/2010/main" val="2704963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867562" y="272922"/>
            <a:ext cx="10456875" cy="369332"/>
          </a:xfrm>
        </p:spPr>
        <p:txBody>
          <a:bodyPr/>
          <a:lstStyle/>
          <a:p>
            <a:r>
              <a:rPr lang="en-US" altLang="zh-CN" dirty="0"/>
              <a:t>3</a:t>
            </a:r>
            <a:r>
              <a:rPr lang="zh-CN" altLang="en-US" dirty="0" smtClean="0"/>
              <a:t>、输入代码</a:t>
            </a:r>
            <a:endParaRPr lang="zh-CN" altLang="en-US" dirty="0"/>
          </a:p>
        </p:txBody>
      </p:sp>
      <p:sp>
        <p:nvSpPr>
          <p:cNvPr id="7" name="矩形 114692"/>
          <p:cNvSpPr>
            <a:spLocks noChangeArrowheads="1"/>
          </p:cNvSpPr>
          <p:nvPr/>
        </p:nvSpPr>
        <p:spPr bwMode="auto">
          <a:xfrm>
            <a:off x="849977" y="1676400"/>
            <a:ext cx="3874423" cy="3077766"/>
          </a:xfrm>
          <a:prstGeom prst="rect">
            <a:avLst/>
          </a:prstGeom>
          <a:extLst/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50000"/>
              </a:lnSpc>
              <a:spcBef>
                <a:spcPts val="100"/>
              </a:spcBef>
            </a:pPr>
            <a:r>
              <a:rPr lang="en-US" altLang="zh-CN" spc="-30" dirty="0">
                <a:solidFill>
                  <a:srgbClr val="404040"/>
                </a:solidFill>
                <a:latin typeface="微软雅黑"/>
                <a:cs typeface="微软雅黑"/>
              </a:rPr>
              <a:t>#include &lt;</a:t>
            </a:r>
            <a:r>
              <a:rPr lang="en-US" altLang="zh-CN" spc="-30" dirty="0" err="1">
                <a:solidFill>
                  <a:srgbClr val="404040"/>
                </a:solidFill>
                <a:latin typeface="微软雅黑"/>
                <a:cs typeface="微软雅黑"/>
              </a:rPr>
              <a:t>stdio.h</a:t>
            </a:r>
            <a:r>
              <a:rPr lang="en-US" altLang="zh-CN" spc="-30" dirty="0">
                <a:solidFill>
                  <a:srgbClr val="404040"/>
                </a:solidFill>
                <a:latin typeface="微软雅黑"/>
                <a:cs typeface="微软雅黑"/>
              </a:rPr>
              <a:t>&gt; </a:t>
            </a:r>
          </a:p>
          <a:p>
            <a:pPr marL="12700">
              <a:lnSpc>
                <a:spcPct val="150000"/>
              </a:lnSpc>
              <a:spcBef>
                <a:spcPts val="100"/>
              </a:spcBef>
            </a:pPr>
            <a:endParaRPr lang="en-US" altLang="zh-CN" spc="-30" dirty="0">
              <a:solidFill>
                <a:srgbClr val="404040"/>
              </a:solidFill>
              <a:latin typeface="微软雅黑"/>
              <a:cs typeface="微软雅黑"/>
            </a:endParaRPr>
          </a:p>
          <a:p>
            <a:pPr marL="12700">
              <a:lnSpc>
                <a:spcPct val="150000"/>
              </a:lnSpc>
              <a:spcBef>
                <a:spcPts val="100"/>
              </a:spcBef>
            </a:pPr>
            <a:r>
              <a:rPr lang="en-US" altLang="zh-CN" spc="-30" dirty="0" err="1">
                <a:solidFill>
                  <a:srgbClr val="404040"/>
                </a:solidFill>
                <a:latin typeface="微软雅黑"/>
                <a:cs typeface="微软雅黑"/>
              </a:rPr>
              <a:t>int</a:t>
            </a:r>
            <a:r>
              <a:rPr lang="en-US" altLang="zh-CN" spc="-30" dirty="0">
                <a:solidFill>
                  <a:srgbClr val="404040"/>
                </a:solidFill>
                <a:latin typeface="微软雅黑"/>
                <a:cs typeface="微软雅黑"/>
              </a:rPr>
              <a:t> main()</a:t>
            </a:r>
          </a:p>
          <a:p>
            <a:pPr marL="12700">
              <a:lnSpc>
                <a:spcPct val="150000"/>
              </a:lnSpc>
              <a:spcBef>
                <a:spcPts val="100"/>
              </a:spcBef>
            </a:pPr>
            <a:r>
              <a:rPr lang="en-US" altLang="zh-CN" spc="-30" dirty="0">
                <a:solidFill>
                  <a:srgbClr val="404040"/>
                </a:solidFill>
                <a:latin typeface="微软雅黑"/>
                <a:cs typeface="微软雅黑"/>
              </a:rPr>
              <a:t>{</a:t>
            </a:r>
          </a:p>
          <a:p>
            <a:pPr marL="12700">
              <a:lnSpc>
                <a:spcPct val="150000"/>
              </a:lnSpc>
              <a:spcBef>
                <a:spcPts val="100"/>
              </a:spcBef>
            </a:pPr>
            <a:r>
              <a:rPr lang="en-US" altLang="zh-CN" spc="-30" dirty="0">
                <a:solidFill>
                  <a:srgbClr val="404040"/>
                </a:solidFill>
                <a:latin typeface="微软雅黑"/>
                <a:cs typeface="微软雅黑"/>
              </a:rPr>
              <a:t>    </a:t>
            </a:r>
            <a:r>
              <a:rPr lang="en-US" altLang="zh-CN" spc="-30" dirty="0" err="1">
                <a:solidFill>
                  <a:srgbClr val="404040"/>
                </a:solidFill>
                <a:latin typeface="微软雅黑"/>
                <a:cs typeface="微软雅黑"/>
              </a:rPr>
              <a:t>printf</a:t>
            </a:r>
            <a:r>
              <a:rPr lang="en-US" altLang="zh-CN" spc="-30" dirty="0">
                <a:solidFill>
                  <a:srgbClr val="404040"/>
                </a:solidFill>
                <a:latin typeface="微软雅黑"/>
                <a:cs typeface="微软雅黑"/>
              </a:rPr>
              <a:t>(“Hello World!!!\n");</a:t>
            </a:r>
          </a:p>
          <a:p>
            <a:pPr marL="12700">
              <a:lnSpc>
                <a:spcPct val="150000"/>
              </a:lnSpc>
              <a:spcBef>
                <a:spcPts val="100"/>
              </a:spcBef>
            </a:pPr>
            <a:r>
              <a:rPr lang="en-US" altLang="zh-CN" spc="-30" dirty="0">
                <a:solidFill>
                  <a:srgbClr val="404040"/>
                </a:solidFill>
                <a:latin typeface="微软雅黑"/>
                <a:cs typeface="微软雅黑"/>
              </a:rPr>
              <a:t>    return 0;</a:t>
            </a:r>
          </a:p>
          <a:p>
            <a:pPr marL="12700">
              <a:lnSpc>
                <a:spcPct val="150000"/>
              </a:lnSpc>
              <a:spcBef>
                <a:spcPts val="100"/>
              </a:spcBef>
            </a:pPr>
            <a:r>
              <a:rPr lang="en-US" altLang="zh-CN" spc="-30" dirty="0">
                <a:solidFill>
                  <a:srgbClr val="404040"/>
                </a:solidFill>
                <a:latin typeface="微软雅黑"/>
                <a:cs typeface="微软雅黑"/>
              </a:rPr>
              <a:t>}</a:t>
            </a:r>
          </a:p>
        </p:txBody>
      </p:sp>
      <p:pic>
        <p:nvPicPr>
          <p:cNvPr id="8" name="图片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0" y="1682262"/>
            <a:ext cx="6480175" cy="31448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347880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867562" y="272922"/>
            <a:ext cx="10456875" cy="369332"/>
          </a:xfrm>
        </p:spPr>
        <p:txBody>
          <a:bodyPr/>
          <a:lstStyle/>
          <a:p>
            <a:r>
              <a:rPr lang="en-US" altLang="zh-CN" dirty="0" smtClean="0"/>
              <a:t>4</a:t>
            </a:r>
            <a:r>
              <a:rPr lang="zh-CN" altLang="en-US" dirty="0" smtClean="0"/>
              <a:t>、编译</a:t>
            </a:r>
            <a:endParaRPr lang="zh-CN" altLang="en-US" dirty="0"/>
          </a:p>
        </p:txBody>
      </p:sp>
      <p:pic>
        <p:nvPicPr>
          <p:cNvPr id="5" name="内容占位符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19403" y="1481159"/>
            <a:ext cx="6637339" cy="3430587"/>
          </a:xfrm>
          <a:prstGeom prst="rect">
            <a:avLst/>
          </a:prstGeom>
        </p:spPr>
      </p:pic>
      <p:sp>
        <p:nvSpPr>
          <p:cNvPr id="6" name="矩形 115716"/>
          <p:cNvSpPr>
            <a:spLocks noChangeArrowheads="1"/>
          </p:cNvSpPr>
          <p:nvPr/>
        </p:nvSpPr>
        <p:spPr bwMode="auto">
          <a:xfrm>
            <a:off x="520701" y="5456144"/>
            <a:ext cx="11527961" cy="428322"/>
          </a:xfrm>
          <a:prstGeom prst="rect">
            <a:avLst/>
          </a:prstGeom>
          <a:extLst/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50000"/>
              </a:lnSpc>
              <a:spcBef>
                <a:spcPts val="100"/>
              </a:spcBef>
            </a:pPr>
            <a:r>
              <a:rPr lang="en-US" altLang="zh-CN" spc="-30" dirty="0">
                <a:solidFill>
                  <a:srgbClr val="404040"/>
                </a:solidFill>
                <a:latin typeface="微软雅黑"/>
                <a:cs typeface="微软雅黑"/>
              </a:rPr>
              <a:t> </a:t>
            </a:r>
            <a:r>
              <a:rPr lang="zh-CN" altLang="en-US" spc="-30" dirty="0">
                <a:solidFill>
                  <a:srgbClr val="404040"/>
                </a:solidFill>
                <a:latin typeface="微软雅黑"/>
                <a:cs typeface="微软雅黑"/>
              </a:rPr>
              <a:t>如果编译成功你会看到上面的画面，如果失败会有错误提示，可以根据提示去修改项目配置或者代码。 </a:t>
            </a:r>
          </a:p>
        </p:txBody>
      </p:sp>
    </p:spTree>
    <p:extLst>
      <p:ext uri="{BB962C8B-B14F-4D97-AF65-F5344CB8AC3E}">
        <p14:creationId xmlns:p14="http://schemas.microsoft.com/office/powerpoint/2010/main" val="18582711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867562" y="272922"/>
            <a:ext cx="10456875" cy="369332"/>
          </a:xfrm>
        </p:spPr>
        <p:txBody>
          <a:bodyPr/>
          <a:lstStyle/>
          <a:p>
            <a:r>
              <a:rPr lang="en-US" altLang="zh-CN" dirty="0" smtClean="0"/>
              <a:t>5</a:t>
            </a:r>
            <a:r>
              <a:rPr lang="zh-CN" altLang="en-US" dirty="0" smtClean="0"/>
              <a:t>、运行</a:t>
            </a:r>
            <a:endParaRPr lang="zh-CN" altLang="en-US" dirty="0"/>
          </a:p>
        </p:txBody>
      </p:sp>
      <p:sp>
        <p:nvSpPr>
          <p:cNvPr id="7" name="文本占位符 116738"/>
          <p:cNvSpPr txBox="1">
            <a:spLocks noChangeArrowheads="1"/>
          </p:cNvSpPr>
          <p:nvPr/>
        </p:nvSpPr>
        <p:spPr>
          <a:xfrm>
            <a:off x="867562" y="1219200"/>
            <a:ext cx="8229600" cy="4283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defPPr>
              <a:defRPr lang="zh-CN"/>
            </a:defPPr>
            <a:lvl1pPr marL="12700">
              <a:lnSpc>
                <a:spcPct val="150000"/>
              </a:lnSpc>
              <a:spcBef>
                <a:spcPts val="100"/>
              </a:spcBef>
              <a:defRPr spc="-30">
                <a:solidFill>
                  <a:srgbClr val="404040"/>
                </a:solidFill>
                <a:latin typeface="微软雅黑"/>
                <a:cs typeface="微软雅黑"/>
              </a:defRPr>
            </a:lvl1pPr>
          </a:lstStyle>
          <a:p>
            <a:r>
              <a:rPr lang="zh-CN" altLang="en-US" dirty="0"/>
              <a:t>用</a:t>
            </a:r>
            <a:r>
              <a:rPr lang="en-US" altLang="zh-CN" dirty="0"/>
              <a:t>Ctrl+F5</a:t>
            </a:r>
            <a:r>
              <a:rPr lang="zh-CN" altLang="en-US" dirty="0"/>
              <a:t>或者点那个空心三角形运行一下 </a:t>
            </a:r>
          </a:p>
        </p:txBody>
      </p:sp>
      <p:pic>
        <p:nvPicPr>
          <p:cNvPr id="8" name="图片 26" descr="http://pic002.cnblogs.com/images/2011/78576/2011011321331035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036" y="2005014"/>
            <a:ext cx="7658563" cy="47048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8650089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867562" y="272922"/>
            <a:ext cx="10456875" cy="369332"/>
          </a:xfrm>
        </p:spPr>
        <p:txBody>
          <a:bodyPr/>
          <a:lstStyle/>
          <a:p>
            <a:r>
              <a:rPr lang="en-US" altLang="zh-CN" dirty="0"/>
              <a:t>VS2010</a:t>
            </a:r>
            <a:r>
              <a:rPr lang="zh-CN" altLang="en-US" dirty="0"/>
              <a:t>中的调试 </a:t>
            </a:r>
          </a:p>
        </p:txBody>
      </p:sp>
      <p:sp>
        <p:nvSpPr>
          <p:cNvPr id="5" name="文本占位符 117762"/>
          <p:cNvSpPr txBox="1">
            <a:spLocks noChangeArrowheads="1"/>
          </p:cNvSpPr>
          <p:nvPr/>
        </p:nvSpPr>
        <p:spPr>
          <a:xfrm>
            <a:off x="808837" y="1219200"/>
            <a:ext cx="10515600" cy="4283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defPPr>
              <a:defRPr lang="zh-CN"/>
            </a:defPPr>
            <a:lvl1pPr marL="12700">
              <a:lnSpc>
                <a:spcPct val="150000"/>
              </a:lnSpc>
              <a:spcBef>
                <a:spcPts val="100"/>
              </a:spcBef>
              <a:defRPr spc="-30">
                <a:solidFill>
                  <a:srgbClr val="404040"/>
                </a:solidFill>
                <a:latin typeface="微软雅黑"/>
                <a:cs typeface="微软雅黑"/>
              </a:defRPr>
            </a:lvl1pPr>
          </a:lstStyle>
          <a:p>
            <a:r>
              <a:rPr lang="zh-CN" altLang="en-US" dirty="0"/>
              <a:t>设置断点：在如下图中的红色圆点处设置断点，红色圆点表示已经在这行设置断点。快捷键</a:t>
            </a:r>
            <a:r>
              <a:rPr lang="en-US" altLang="zh-CN" dirty="0"/>
              <a:t>F9</a:t>
            </a:r>
            <a:r>
              <a:rPr lang="zh-CN" altLang="en-US" dirty="0"/>
              <a:t>。</a:t>
            </a:r>
          </a:p>
        </p:txBody>
      </p:sp>
      <p:pic>
        <p:nvPicPr>
          <p:cNvPr id="6" name="图片 1" descr="201404301617214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7562" y="2133600"/>
            <a:ext cx="5327651" cy="1211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文本占位符 118786"/>
          <p:cNvSpPr txBox="1">
            <a:spLocks noChangeArrowheads="1"/>
          </p:cNvSpPr>
          <p:nvPr/>
        </p:nvSpPr>
        <p:spPr>
          <a:xfrm>
            <a:off x="913043" y="3830941"/>
            <a:ext cx="5106757" cy="25571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defPPr>
              <a:defRPr lang="zh-CN"/>
            </a:defPPr>
            <a:lvl1pPr marL="12700">
              <a:lnSpc>
                <a:spcPct val="150000"/>
              </a:lnSpc>
              <a:spcBef>
                <a:spcPts val="100"/>
              </a:spcBef>
              <a:defRPr spc="-30">
                <a:solidFill>
                  <a:srgbClr val="404040"/>
                </a:solidFill>
                <a:latin typeface="微软雅黑"/>
                <a:cs typeface="微软雅黑"/>
              </a:defRPr>
            </a:lvl1pPr>
          </a:lstStyle>
          <a:p>
            <a:r>
              <a:rPr lang="zh-CN" altLang="en-US" dirty="0"/>
              <a:t>启动调试 ：按</a:t>
            </a:r>
            <a:r>
              <a:rPr lang="en-US" altLang="zh-CN" dirty="0"/>
              <a:t>F5</a:t>
            </a:r>
            <a:r>
              <a:rPr lang="zh-CN" altLang="en-US" dirty="0"/>
              <a:t>或者点击左边红框中的按钮。右边框是开始执行</a:t>
            </a:r>
            <a:r>
              <a:rPr lang="en-US" altLang="zh-CN" dirty="0"/>
              <a:t>(</a:t>
            </a:r>
            <a:r>
              <a:rPr lang="zh-CN" altLang="en-US" dirty="0"/>
              <a:t>不调试</a:t>
            </a:r>
            <a:r>
              <a:rPr lang="en-US" altLang="zh-CN" dirty="0"/>
              <a:t>)Ctrl+F5</a:t>
            </a:r>
            <a:r>
              <a:rPr lang="zh-CN" altLang="en-US" dirty="0"/>
              <a:t>。</a:t>
            </a:r>
          </a:p>
          <a:p>
            <a:endParaRPr lang="en-US" altLang="zh-CN" dirty="0" smtClean="0"/>
          </a:p>
          <a:p>
            <a:r>
              <a:rPr lang="zh-CN" altLang="en-US" dirty="0" smtClean="0"/>
              <a:t>调试</a:t>
            </a:r>
            <a:r>
              <a:rPr lang="zh-CN" altLang="en-US" dirty="0"/>
              <a:t>工具栏 </a:t>
            </a:r>
          </a:p>
          <a:p>
            <a:r>
              <a:rPr lang="zh-CN" altLang="en-US" dirty="0"/>
              <a:t>工具栏中对应的名称和快捷键。</a:t>
            </a:r>
          </a:p>
          <a:p>
            <a:endParaRPr lang="zh-CN" altLang="en-US" dirty="0"/>
          </a:p>
        </p:txBody>
      </p:sp>
      <p:pic>
        <p:nvPicPr>
          <p:cNvPr id="10" name="图片 2" descr="201404301617215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0" y="3141965"/>
            <a:ext cx="2736851" cy="13779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图片 3" descr="201404301617215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0" y="4585441"/>
            <a:ext cx="3568700" cy="2243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文本框 3"/>
          <p:cNvSpPr txBox="1">
            <a:spLocks noChangeArrowheads="1"/>
          </p:cNvSpPr>
          <p:nvPr/>
        </p:nvSpPr>
        <p:spPr bwMode="auto">
          <a:xfrm>
            <a:off x="8001000" y="2595250"/>
            <a:ext cx="2927351" cy="428322"/>
          </a:xfrm>
          <a:prstGeom prst="rect">
            <a:avLst/>
          </a:prstGeom>
          <a:extLst/>
        </p:spPr>
        <p:txBody>
          <a:bodyPr vert="horz" wrap="square" lIns="0" tIns="12700" rIns="0" bIns="0" rtlCol="0">
            <a:spAutoFit/>
          </a:bodyPr>
          <a:lstStyle>
            <a:defPPr>
              <a:defRPr lang="zh-CN"/>
            </a:defPPr>
            <a:lvl1pPr marL="12700">
              <a:lnSpc>
                <a:spcPct val="150000"/>
              </a:lnSpc>
              <a:spcBef>
                <a:spcPts val="100"/>
              </a:spcBef>
              <a:defRPr spc="-30">
                <a:solidFill>
                  <a:srgbClr val="404040"/>
                </a:solidFill>
                <a:latin typeface="微软雅黑"/>
                <a:cs typeface="微软雅黑"/>
              </a:defRPr>
            </a:lvl1pPr>
          </a:lstStyle>
          <a:p>
            <a:r>
              <a:rPr lang="zh-CN" altLang="en-US" dirty="0"/>
              <a:t>开始执行</a:t>
            </a:r>
            <a:r>
              <a:rPr lang="en-US" altLang="zh-CN" dirty="0"/>
              <a:t>(</a:t>
            </a:r>
            <a:r>
              <a:rPr lang="zh-CN" altLang="en-US" dirty="0"/>
              <a:t>不调试</a:t>
            </a:r>
            <a:r>
              <a:rPr lang="en-US" altLang="zh-CN" dirty="0"/>
              <a:t>)(Ctrl+F5)</a:t>
            </a:r>
            <a:endParaRPr lang="zh-CN" altLang="en-US" dirty="0"/>
          </a:p>
        </p:txBody>
      </p:sp>
      <p:sp>
        <p:nvSpPr>
          <p:cNvPr id="13" name="右箭头 12"/>
          <p:cNvSpPr/>
          <p:nvPr/>
        </p:nvSpPr>
        <p:spPr>
          <a:xfrm rot="18532442">
            <a:off x="7937066" y="3068384"/>
            <a:ext cx="480921" cy="32129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右箭头 13"/>
          <p:cNvSpPr/>
          <p:nvPr/>
        </p:nvSpPr>
        <p:spPr>
          <a:xfrm rot="2316489">
            <a:off x="7379651" y="3602619"/>
            <a:ext cx="381000" cy="3048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243584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867562" y="272922"/>
            <a:ext cx="10456875" cy="369332"/>
          </a:xfrm>
        </p:spPr>
        <p:txBody>
          <a:bodyPr/>
          <a:lstStyle/>
          <a:p>
            <a:r>
              <a:rPr lang="en-US" altLang="zh-CN" dirty="0"/>
              <a:t>VS2010</a:t>
            </a:r>
            <a:r>
              <a:rPr lang="zh-CN" altLang="en-US" dirty="0"/>
              <a:t>中的调试 </a:t>
            </a:r>
          </a:p>
        </p:txBody>
      </p:sp>
      <p:sp>
        <p:nvSpPr>
          <p:cNvPr id="15" name="文本占位符 119810"/>
          <p:cNvSpPr txBox="1">
            <a:spLocks noChangeArrowheads="1"/>
          </p:cNvSpPr>
          <p:nvPr/>
        </p:nvSpPr>
        <p:spPr>
          <a:xfrm>
            <a:off x="808837" y="1219200"/>
            <a:ext cx="10515600" cy="12593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defPPr>
              <a:defRPr lang="zh-CN"/>
            </a:defPPr>
            <a:lvl1pPr marL="12700">
              <a:lnSpc>
                <a:spcPct val="150000"/>
              </a:lnSpc>
              <a:spcBef>
                <a:spcPts val="100"/>
              </a:spcBef>
              <a:defRPr spc="-30">
                <a:solidFill>
                  <a:srgbClr val="404040"/>
                </a:solidFill>
                <a:latin typeface="微软雅黑"/>
                <a:cs typeface="微软雅黑"/>
              </a:defRPr>
            </a:lvl1pPr>
          </a:lstStyle>
          <a:p>
            <a:r>
              <a:rPr lang="zh-CN" altLang="en-US" dirty="0"/>
              <a:t>在调试过程中</a:t>
            </a:r>
            <a:r>
              <a:rPr lang="en-US" altLang="zh-CN" dirty="0"/>
              <a:t>F5</a:t>
            </a:r>
            <a:r>
              <a:rPr lang="zh-CN" altLang="en-US" dirty="0"/>
              <a:t>是执行到下一个断点。</a:t>
            </a:r>
            <a:r>
              <a:rPr lang="en-US" altLang="zh-CN" dirty="0"/>
              <a:t>F11</a:t>
            </a:r>
            <a:r>
              <a:rPr lang="zh-CN" altLang="en-US" dirty="0"/>
              <a:t>是逐语句，在执行到下图中的断点时，按</a:t>
            </a:r>
            <a:r>
              <a:rPr lang="en-US" altLang="zh-CN" dirty="0"/>
              <a:t>F11</a:t>
            </a:r>
            <a:r>
              <a:rPr lang="zh-CN" altLang="en-US" dirty="0"/>
              <a:t>会执行到</a:t>
            </a:r>
            <a:r>
              <a:rPr lang="en-US" altLang="zh-CN" dirty="0" err="1"/>
              <a:t>fibonacci</a:t>
            </a:r>
            <a:r>
              <a:rPr lang="zh-CN" altLang="en-US" dirty="0"/>
              <a:t>方法里面逐步记录执行过程。</a:t>
            </a:r>
            <a:r>
              <a:rPr lang="en-US" altLang="zh-CN" dirty="0"/>
              <a:t>F10</a:t>
            </a:r>
            <a:r>
              <a:rPr lang="zh-CN" altLang="en-US" dirty="0"/>
              <a:t>是逐过程，与逐语句不同的是，在执行到下图中断点时，再执行会执行断点下面的语句，而不是去执行语句中的方法。</a:t>
            </a:r>
          </a:p>
        </p:txBody>
      </p:sp>
      <p:pic>
        <p:nvPicPr>
          <p:cNvPr id="16" name="图片 2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400" y="2667000"/>
            <a:ext cx="8160346" cy="3733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3470334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867562" y="272922"/>
            <a:ext cx="10456875" cy="369332"/>
          </a:xfrm>
        </p:spPr>
        <p:txBody>
          <a:bodyPr/>
          <a:lstStyle/>
          <a:p>
            <a:r>
              <a:rPr lang="en-US" altLang="zh-CN" dirty="0"/>
              <a:t>VS2010</a:t>
            </a:r>
            <a:r>
              <a:rPr lang="zh-CN" altLang="en-US" dirty="0"/>
              <a:t>中的调试 </a:t>
            </a:r>
          </a:p>
        </p:txBody>
      </p:sp>
      <p:sp>
        <p:nvSpPr>
          <p:cNvPr id="15" name="文本占位符 119810"/>
          <p:cNvSpPr txBox="1">
            <a:spLocks noChangeArrowheads="1"/>
          </p:cNvSpPr>
          <p:nvPr/>
        </p:nvSpPr>
        <p:spPr>
          <a:xfrm>
            <a:off x="808837" y="1219200"/>
            <a:ext cx="10515600" cy="12849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defPPr>
              <a:defRPr lang="zh-CN"/>
            </a:defPPr>
            <a:lvl1pPr marL="12700">
              <a:lnSpc>
                <a:spcPct val="150000"/>
              </a:lnSpc>
              <a:spcBef>
                <a:spcPts val="100"/>
              </a:spcBef>
              <a:defRPr spc="-30">
                <a:solidFill>
                  <a:srgbClr val="404040"/>
                </a:solidFill>
                <a:latin typeface="微软雅黑"/>
                <a:cs typeface="微软雅黑"/>
              </a:defRPr>
            </a:lvl1pPr>
          </a:lstStyle>
          <a:p>
            <a:r>
              <a:rPr lang="zh-CN" altLang="en-US" dirty="0" smtClean="0"/>
              <a:t>局部变量窗口</a:t>
            </a:r>
            <a:endParaRPr lang="en-US" altLang="zh-CN" dirty="0" smtClean="0"/>
          </a:p>
          <a:p>
            <a:r>
              <a:rPr lang="zh-CN" altLang="en-US" dirty="0"/>
              <a:t>在调试过程中可以查看局部变量窗口，如下图里面会有变量的当前状态。</a:t>
            </a:r>
            <a:endParaRPr lang="zh-CN" altLang="en-US" b="1" dirty="0"/>
          </a:p>
          <a:p>
            <a:endParaRPr lang="zh-CN" altLang="en-US" dirty="0"/>
          </a:p>
        </p:txBody>
      </p:sp>
      <p:pic>
        <p:nvPicPr>
          <p:cNvPr id="5" name="图片 5" descr="201404301617215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4116" y="2355128"/>
            <a:ext cx="5048251" cy="190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图片 6" descr="201404301617215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7600" y="4800600"/>
            <a:ext cx="5717579" cy="19916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矩形 120837"/>
          <p:cNvSpPr>
            <a:spLocks noChangeArrowheads="1"/>
          </p:cNvSpPr>
          <p:nvPr/>
        </p:nvSpPr>
        <p:spPr bwMode="auto">
          <a:xfrm>
            <a:off x="808837" y="4688298"/>
            <a:ext cx="6877920" cy="428322"/>
          </a:xfrm>
          <a:prstGeom prst="rect">
            <a:avLst/>
          </a:prstGeom>
          <a:extLst/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50000"/>
              </a:lnSpc>
              <a:spcBef>
                <a:spcPts val="100"/>
              </a:spcBef>
            </a:pPr>
            <a:r>
              <a:rPr lang="zh-CN" altLang="en-US" spc="-30" dirty="0">
                <a:solidFill>
                  <a:srgbClr val="404040"/>
                </a:solidFill>
                <a:latin typeface="微软雅黑"/>
                <a:cs typeface="微软雅黑"/>
              </a:rPr>
              <a:t>数组的状态表示如右图：</a:t>
            </a:r>
          </a:p>
        </p:txBody>
      </p:sp>
    </p:spTree>
    <p:extLst>
      <p:ext uri="{BB962C8B-B14F-4D97-AF65-F5344CB8AC3E}">
        <p14:creationId xmlns:p14="http://schemas.microsoft.com/office/powerpoint/2010/main" val="392335795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867562" y="272922"/>
            <a:ext cx="10456875" cy="369332"/>
          </a:xfrm>
        </p:spPr>
        <p:txBody>
          <a:bodyPr/>
          <a:lstStyle/>
          <a:p>
            <a:r>
              <a:rPr lang="en-US" altLang="zh-CN" dirty="0"/>
              <a:t>VS2010</a:t>
            </a:r>
            <a:r>
              <a:rPr lang="zh-CN" altLang="en-US" dirty="0"/>
              <a:t>中的调试 </a:t>
            </a:r>
          </a:p>
        </p:txBody>
      </p:sp>
      <p:sp>
        <p:nvSpPr>
          <p:cNvPr id="15" name="文本占位符 119810"/>
          <p:cNvSpPr txBox="1">
            <a:spLocks noChangeArrowheads="1"/>
          </p:cNvSpPr>
          <p:nvPr/>
        </p:nvSpPr>
        <p:spPr>
          <a:xfrm>
            <a:off x="808837" y="1219200"/>
            <a:ext cx="10515600" cy="337528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defPPr>
              <a:defRPr lang="zh-CN"/>
            </a:defPPr>
            <a:lvl1pPr marL="12700">
              <a:lnSpc>
                <a:spcPct val="150000"/>
              </a:lnSpc>
              <a:spcBef>
                <a:spcPts val="100"/>
              </a:spcBef>
              <a:defRPr spc="-30">
                <a:solidFill>
                  <a:srgbClr val="404040"/>
                </a:solidFill>
                <a:latin typeface="微软雅黑"/>
                <a:cs typeface="微软雅黑"/>
              </a:defRPr>
            </a:lvl1pPr>
          </a:lstStyle>
          <a:p>
            <a:r>
              <a:rPr lang="zh-CN" altLang="en-US" dirty="0" smtClean="0"/>
              <a:t>条件中断</a:t>
            </a:r>
            <a:endParaRPr lang="en-US" altLang="zh-CN" dirty="0" smtClean="0"/>
          </a:p>
          <a:p>
            <a:r>
              <a:rPr lang="zh-CN" altLang="en-US" dirty="0"/>
              <a:t>开发人员设置断点，运行程序，利用不同的输入触发断点，然后在断点处手工检查是否满足某些特定的条件，从而决定是否继续调查。如果当前场景不是他们想要的，按</a:t>
            </a:r>
            <a:r>
              <a:rPr lang="en-US" altLang="zh-CN" dirty="0"/>
              <a:t>F5</a:t>
            </a:r>
            <a:r>
              <a:rPr lang="zh-CN" altLang="en-US" dirty="0"/>
              <a:t>继续运行程序，尝试别的输入，手动重复刚才的过程。</a:t>
            </a:r>
          </a:p>
          <a:p>
            <a:r>
              <a:rPr lang="zh-CN" altLang="en-US" dirty="0"/>
              <a:t>针对上述情况，</a:t>
            </a:r>
            <a:r>
              <a:rPr lang="en-US" altLang="zh-CN" dirty="0"/>
              <a:t>Visual Studio</a:t>
            </a:r>
            <a:r>
              <a:rPr lang="zh-CN" altLang="en-US" dirty="0"/>
              <a:t>提供了一个方便得多的功能</a:t>
            </a:r>
            <a:r>
              <a:rPr lang="en-US" altLang="zh-CN" dirty="0"/>
              <a:t>——“</a:t>
            </a:r>
            <a:r>
              <a:rPr lang="zh-CN" altLang="en-US" dirty="0"/>
              <a:t>条件中断”。只有当程序满足了开发人员预设的条件后，条件断点才会被触发，调试器中断。这将避免频繁地手工检查</a:t>
            </a:r>
            <a:r>
              <a:rPr lang="en-US" altLang="zh-CN" dirty="0"/>
              <a:t>/</a:t>
            </a:r>
            <a:r>
              <a:rPr lang="zh-CN" altLang="en-US" dirty="0"/>
              <a:t>恢复程序运行，大量减少调试过程中的手工和烦琐工作。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193458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867562" y="272922"/>
            <a:ext cx="10456875" cy="369332"/>
          </a:xfrm>
        </p:spPr>
        <p:txBody>
          <a:bodyPr/>
          <a:lstStyle/>
          <a:p>
            <a:r>
              <a:rPr lang="en-US" altLang="zh-CN" dirty="0"/>
              <a:t>VS2010</a:t>
            </a:r>
            <a:r>
              <a:rPr lang="zh-CN" altLang="en-US" dirty="0"/>
              <a:t>中的调试 </a:t>
            </a:r>
          </a:p>
        </p:txBody>
      </p:sp>
      <p:sp>
        <p:nvSpPr>
          <p:cNvPr id="15" name="文本占位符 119810"/>
          <p:cNvSpPr txBox="1">
            <a:spLocks noChangeArrowheads="1"/>
          </p:cNvSpPr>
          <p:nvPr/>
        </p:nvSpPr>
        <p:spPr>
          <a:xfrm>
            <a:off x="808837" y="1219200"/>
            <a:ext cx="10515600" cy="17132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defPPr>
              <a:defRPr lang="zh-CN"/>
            </a:defPPr>
            <a:lvl1pPr marL="12700">
              <a:lnSpc>
                <a:spcPct val="150000"/>
              </a:lnSpc>
              <a:spcBef>
                <a:spcPts val="100"/>
              </a:spcBef>
              <a:defRPr spc="-30">
                <a:solidFill>
                  <a:srgbClr val="404040"/>
                </a:solidFill>
                <a:latin typeface="微软雅黑"/>
                <a:cs typeface="微软雅黑"/>
              </a:defRPr>
            </a:lvl1pPr>
          </a:lstStyle>
          <a:p>
            <a:r>
              <a:rPr lang="zh-CN" altLang="en-US" dirty="0"/>
              <a:t>如何设置</a:t>
            </a:r>
            <a:r>
              <a:rPr lang="zh-CN" altLang="en-US" dirty="0" smtClean="0"/>
              <a:t>条件断点</a:t>
            </a:r>
            <a:endParaRPr lang="zh-CN" altLang="en-US" dirty="0"/>
          </a:p>
          <a:p>
            <a:r>
              <a:rPr lang="zh-CN" altLang="en-US" dirty="0"/>
              <a:t>设置条件断点非常容易。在特定的行上，按</a:t>
            </a:r>
            <a:r>
              <a:rPr lang="en-US" altLang="zh-CN" dirty="0"/>
              <a:t>F9</a:t>
            </a:r>
            <a:r>
              <a:rPr lang="zh-CN" altLang="en-US" dirty="0"/>
              <a:t>设置断点。</a:t>
            </a:r>
          </a:p>
          <a:p>
            <a:r>
              <a:rPr lang="zh-CN" altLang="en-US" dirty="0"/>
              <a:t>然后右击断点（编辑窗口左侧的红点），在上下文菜单上选择“条件”。</a:t>
            </a:r>
          </a:p>
          <a:p>
            <a:endParaRPr lang="zh-CN" altLang="en-US" dirty="0"/>
          </a:p>
        </p:txBody>
      </p:sp>
      <p:pic>
        <p:nvPicPr>
          <p:cNvPr id="6" name="图片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9977" y="3124200"/>
            <a:ext cx="4676977" cy="213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图片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3600" y="3121153"/>
            <a:ext cx="4038600" cy="23267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9508802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867562" y="272922"/>
            <a:ext cx="10456875" cy="369332"/>
          </a:xfrm>
        </p:spPr>
        <p:txBody>
          <a:bodyPr/>
          <a:lstStyle/>
          <a:p>
            <a:r>
              <a:rPr lang="en-US" altLang="zh-CN" dirty="0"/>
              <a:t>VS2010</a:t>
            </a:r>
            <a:r>
              <a:rPr lang="zh-CN" altLang="en-US" dirty="0"/>
              <a:t>中的调试 </a:t>
            </a:r>
          </a:p>
        </p:txBody>
      </p:sp>
      <p:sp>
        <p:nvSpPr>
          <p:cNvPr id="15" name="文本占位符 119810"/>
          <p:cNvSpPr txBox="1">
            <a:spLocks noChangeArrowheads="1"/>
          </p:cNvSpPr>
          <p:nvPr/>
        </p:nvSpPr>
        <p:spPr>
          <a:xfrm>
            <a:off x="808837" y="1219200"/>
            <a:ext cx="10515600" cy="8566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defPPr>
              <a:defRPr lang="zh-CN"/>
            </a:defPPr>
            <a:lvl1pPr marL="12700">
              <a:lnSpc>
                <a:spcPct val="150000"/>
              </a:lnSpc>
              <a:spcBef>
                <a:spcPts val="100"/>
              </a:spcBef>
              <a:defRPr spc="-30">
                <a:solidFill>
                  <a:srgbClr val="404040"/>
                </a:solidFill>
                <a:latin typeface="微软雅黑"/>
                <a:cs typeface="微软雅黑"/>
              </a:defRPr>
            </a:lvl1pPr>
          </a:lstStyle>
          <a:p>
            <a:r>
              <a:rPr lang="zh-CN" altLang="en-US" dirty="0" smtClean="0"/>
              <a:t>条件断点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8" name="文本占位符 123906"/>
          <p:cNvSpPr txBox="1">
            <a:spLocks noChangeArrowheads="1"/>
          </p:cNvSpPr>
          <p:nvPr/>
        </p:nvSpPr>
        <p:spPr>
          <a:xfrm>
            <a:off x="808837" y="1807693"/>
            <a:ext cx="11521280" cy="4283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defPPr>
              <a:defRPr lang="zh-CN"/>
            </a:defPPr>
            <a:lvl1pPr marL="12700">
              <a:lnSpc>
                <a:spcPct val="150000"/>
              </a:lnSpc>
              <a:spcBef>
                <a:spcPts val="100"/>
              </a:spcBef>
              <a:defRPr spc="-30">
                <a:solidFill>
                  <a:srgbClr val="404040"/>
                </a:solidFill>
                <a:latin typeface="微软雅黑"/>
                <a:cs typeface="微软雅黑"/>
              </a:defRPr>
            </a:lvl1pPr>
          </a:lstStyle>
          <a:p>
            <a:r>
              <a:rPr lang="zh-CN" altLang="en-US" dirty="0"/>
              <a:t>弹出一个对话框供你设置激活该断点所需的条件。比如：我们希望只有当</a:t>
            </a:r>
            <a:r>
              <a:rPr lang="en-US" altLang="zh-CN" dirty="0"/>
              <a:t>x==5</a:t>
            </a:r>
            <a:r>
              <a:rPr lang="zh-CN" altLang="en-US" dirty="0"/>
              <a:t>时，调试才中断。 </a:t>
            </a:r>
          </a:p>
        </p:txBody>
      </p:sp>
      <p:pic>
        <p:nvPicPr>
          <p:cNvPr id="9" name="图片 10" descr="201404301617215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8837" y="2462351"/>
            <a:ext cx="5645763" cy="29482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矩形 123909"/>
          <p:cNvSpPr>
            <a:spLocks noChangeArrowheads="1"/>
          </p:cNvSpPr>
          <p:nvPr/>
        </p:nvSpPr>
        <p:spPr bwMode="auto">
          <a:xfrm>
            <a:off x="789971" y="5636931"/>
            <a:ext cx="10792430" cy="871392"/>
          </a:xfrm>
          <a:prstGeom prst="rect">
            <a:avLst/>
          </a:prstGeom>
          <a:extLst/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50000"/>
              </a:lnSpc>
              <a:spcBef>
                <a:spcPts val="100"/>
              </a:spcBef>
            </a:pPr>
            <a:r>
              <a:rPr lang="zh-CN" altLang="en-US" spc="-30" dirty="0">
                <a:solidFill>
                  <a:srgbClr val="404040"/>
                </a:solidFill>
                <a:latin typeface="微软雅黑"/>
                <a:cs typeface="微软雅黑"/>
              </a:rPr>
              <a:t>再运行这个程序按</a:t>
            </a:r>
            <a:r>
              <a:rPr lang="en-US" altLang="zh-CN" spc="-30" dirty="0">
                <a:solidFill>
                  <a:srgbClr val="404040"/>
                </a:solidFill>
                <a:latin typeface="微软雅黑"/>
                <a:cs typeface="微软雅黑"/>
              </a:rPr>
              <a:t>F5</a:t>
            </a:r>
            <a:r>
              <a:rPr lang="zh-CN" altLang="en-US" spc="-30" dirty="0">
                <a:solidFill>
                  <a:srgbClr val="404040"/>
                </a:solidFill>
                <a:latin typeface="微软雅黑"/>
                <a:cs typeface="微软雅黑"/>
              </a:rPr>
              <a:t>达到条件断点，只有当</a:t>
            </a:r>
            <a:r>
              <a:rPr lang="en-US" altLang="zh-CN" spc="-30" dirty="0">
                <a:solidFill>
                  <a:srgbClr val="404040"/>
                </a:solidFill>
                <a:latin typeface="微软雅黑"/>
                <a:cs typeface="微软雅黑"/>
              </a:rPr>
              <a:t>x</a:t>
            </a:r>
            <a:r>
              <a:rPr lang="zh-CN" altLang="en-US" spc="-30" dirty="0">
                <a:solidFill>
                  <a:srgbClr val="404040"/>
                </a:solidFill>
                <a:latin typeface="微软雅黑"/>
                <a:cs typeface="微软雅黑"/>
              </a:rPr>
              <a:t>等于</a:t>
            </a:r>
            <a:r>
              <a:rPr lang="en-US" altLang="zh-CN" spc="-30" dirty="0">
                <a:solidFill>
                  <a:srgbClr val="404040"/>
                </a:solidFill>
                <a:latin typeface="微软雅黑"/>
                <a:cs typeface="微软雅黑"/>
              </a:rPr>
              <a:t>5</a:t>
            </a:r>
            <a:r>
              <a:rPr lang="zh-CN" altLang="en-US" spc="-30" dirty="0">
                <a:solidFill>
                  <a:srgbClr val="404040"/>
                </a:solidFill>
                <a:latin typeface="微软雅黑"/>
                <a:cs typeface="微软雅黑"/>
              </a:rPr>
              <a:t>时，程序运行才会被中断。对于其它条件下的</a:t>
            </a:r>
            <a:r>
              <a:rPr lang="en-US" altLang="zh-CN" spc="-30" dirty="0">
                <a:solidFill>
                  <a:srgbClr val="404040"/>
                </a:solidFill>
                <a:latin typeface="微软雅黑"/>
                <a:cs typeface="微软雅黑"/>
              </a:rPr>
              <a:t>x</a:t>
            </a:r>
            <a:r>
              <a:rPr lang="zh-CN" altLang="en-US" spc="-30" dirty="0">
                <a:solidFill>
                  <a:srgbClr val="404040"/>
                </a:solidFill>
                <a:latin typeface="微软雅黑"/>
                <a:cs typeface="微软雅黑"/>
              </a:rPr>
              <a:t>值，断点将被跳过。</a:t>
            </a:r>
          </a:p>
        </p:txBody>
      </p:sp>
    </p:spTree>
    <p:extLst>
      <p:ext uri="{BB962C8B-B14F-4D97-AF65-F5344CB8AC3E}">
        <p14:creationId xmlns:p14="http://schemas.microsoft.com/office/powerpoint/2010/main" val="255729226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867562" y="272922"/>
            <a:ext cx="10456875" cy="369332"/>
          </a:xfrm>
        </p:spPr>
        <p:txBody>
          <a:bodyPr/>
          <a:lstStyle/>
          <a:p>
            <a:r>
              <a:rPr lang="en-US" altLang="zh-CN" dirty="0"/>
              <a:t>C</a:t>
            </a:r>
            <a:r>
              <a:rPr lang="zh-CN" altLang="en-US" dirty="0"/>
              <a:t>语言程序编译调试环境应用</a:t>
            </a:r>
            <a:r>
              <a:rPr lang="zh-CN" altLang="en-US" dirty="0" smtClean="0"/>
              <a:t>实战背景</a:t>
            </a:r>
            <a:endParaRPr lang="zh-CN" altLang="en-US" dirty="0"/>
          </a:p>
        </p:txBody>
      </p:sp>
      <p:sp>
        <p:nvSpPr>
          <p:cNvPr id="15" name="文本占位符 119810"/>
          <p:cNvSpPr txBox="1">
            <a:spLocks noChangeArrowheads="1"/>
          </p:cNvSpPr>
          <p:nvPr/>
        </p:nvSpPr>
        <p:spPr>
          <a:xfrm>
            <a:off x="867562" y="2286000"/>
            <a:ext cx="10515600" cy="1622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defPPr>
              <a:defRPr lang="zh-CN"/>
            </a:defPPr>
            <a:lvl1pPr marL="12700">
              <a:lnSpc>
                <a:spcPct val="150000"/>
              </a:lnSpc>
              <a:spcBef>
                <a:spcPts val="100"/>
              </a:spcBef>
              <a:defRPr spc="-30">
                <a:solidFill>
                  <a:srgbClr val="404040"/>
                </a:solidFill>
                <a:latin typeface="微软雅黑"/>
                <a:cs typeface="微软雅黑"/>
              </a:defRPr>
            </a:lvl1pPr>
          </a:lstStyle>
          <a:p>
            <a:r>
              <a:rPr lang="zh-CN" altLang="en-US" dirty="0"/>
              <a:t>软件产业作为信息产业的核心和国民经济信息化的基础，越来越受到世界各国的高度重视。软件与人的信息交换是通过软件界面来进行的，界面是软件与用户交互的最直接的接口，界面的好坏决定用户对软件的第一印象，所以软件界面的易用性和美观性就变得非常重要，设计良好的界面能够引导用户自己完成相应的操作，起到向导的作用。</a:t>
            </a:r>
          </a:p>
        </p:txBody>
      </p:sp>
    </p:spTree>
    <p:extLst>
      <p:ext uri="{BB962C8B-B14F-4D97-AF65-F5344CB8AC3E}">
        <p14:creationId xmlns:p14="http://schemas.microsoft.com/office/powerpoint/2010/main" val="181188018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867562" y="272922"/>
            <a:ext cx="10456875" cy="369332"/>
          </a:xfrm>
        </p:spPr>
        <p:txBody>
          <a:bodyPr/>
          <a:lstStyle/>
          <a:p>
            <a:r>
              <a:rPr lang="zh-CN" altLang="en-US" dirty="0" smtClean="0"/>
              <a:t>实验内容</a:t>
            </a:r>
            <a:endParaRPr lang="zh-CN" altLang="en-US" dirty="0"/>
          </a:p>
        </p:txBody>
      </p:sp>
      <p:sp>
        <p:nvSpPr>
          <p:cNvPr id="15" name="文本占位符 119810"/>
          <p:cNvSpPr txBox="1">
            <a:spLocks noChangeArrowheads="1"/>
          </p:cNvSpPr>
          <p:nvPr/>
        </p:nvSpPr>
        <p:spPr>
          <a:xfrm>
            <a:off x="808837" y="990600"/>
            <a:ext cx="10515600" cy="21416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defPPr>
              <a:defRPr lang="zh-CN"/>
            </a:defPPr>
            <a:lvl1pPr marL="12700">
              <a:lnSpc>
                <a:spcPct val="150000"/>
              </a:lnSpc>
              <a:spcBef>
                <a:spcPts val="100"/>
              </a:spcBef>
              <a:defRPr spc="-30">
                <a:solidFill>
                  <a:srgbClr val="404040"/>
                </a:solidFill>
                <a:latin typeface="微软雅黑"/>
                <a:cs typeface="微软雅黑"/>
              </a:defRPr>
            </a:lvl1pPr>
          </a:lstStyle>
          <a:p>
            <a:r>
              <a:rPr lang="zh-CN" altLang="en-US" dirty="0"/>
              <a:t>编写</a:t>
            </a:r>
            <a:r>
              <a:rPr lang="en-US" altLang="zh-CN" dirty="0"/>
              <a:t>C</a:t>
            </a:r>
            <a:r>
              <a:rPr lang="zh-CN" altLang="en-US" dirty="0"/>
              <a:t>语言程序，在</a:t>
            </a:r>
            <a:r>
              <a:rPr lang="en-US" altLang="zh-CN" dirty="0"/>
              <a:t>Visual Studio </a:t>
            </a:r>
            <a:r>
              <a:rPr lang="en-US" altLang="zh-CN" dirty="0" smtClean="0"/>
              <a:t>2010 </a:t>
            </a:r>
            <a:r>
              <a:rPr lang="zh-CN" altLang="en-US" dirty="0" smtClean="0"/>
              <a:t>环境</a:t>
            </a:r>
            <a:r>
              <a:rPr lang="zh-CN" altLang="en-US" dirty="0"/>
              <a:t>下编译运行，显示“欢迎使用电影点播系统”界面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endParaRPr lang="en-US" altLang="zh-CN" dirty="0"/>
          </a:p>
          <a:p>
            <a:r>
              <a:rPr lang="zh-CN" altLang="en-US" b="1" dirty="0" smtClean="0"/>
              <a:t>实验目的：</a:t>
            </a:r>
            <a:endParaRPr lang="en-US" altLang="zh-CN" b="1" dirty="0" smtClean="0"/>
          </a:p>
          <a:p>
            <a:r>
              <a:rPr lang="zh-CN" altLang="en-US" dirty="0"/>
              <a:t>（</a:t>
            </a:r>
            <a:r>
              <a:rPr lang="en-US" altLang="zh-CN" dirty="0"/>
              <a:t>1</a:t>
            </a:r>
            <a:r>
              <a:rPr lang="zh-CN" altLang="en-US" dirty="0"/>
              <a:t>）掌握</a:t>
            </a:r>
            <a:r>
              <a:rPr lang="en-US" altLang="zh-CN" dirty="0"/>
              <a:t>Visual Studio 2010</a:t>
            </a:r>
            <a:r>
              <a:rPr lang="zh-CN" altLang="en-US" dirty="0"/>
              <a:t>环境下</a:t>
            </a:r>
            <a:r>
              <a:rPr lang="en-US" altLang="zh-CN" dirty="0"/>
              <a:t>C</a:t>
            </a:r>
            <a:r>
              <a:rPr lang="zh-CN" altLang="en-US" dirty="0"/>
              <a:t>程序的编译方法。</a:t>
            </a:r>
          </a:p>
          <a:p>
            <a:r>
              <a:rPr lang="zh-CN" altLang="en-US" dirty="0"/>
              <a:t>（</a:t>
            </a:r>
            <a:r>
              <a:rPr lang="en-US" altLang="zh-CN" dirty="0"/>
              <a:t>2</a:t>
            </a:r>
            <a:r>
              <a:rPr lang="zh-CN" altLang="en-US" dirty="0"/>
              <a:t>）加深对</a:t>
            </a:r>
            <a:r>
              <a:rPr lang="en-US" altLang="zh-CN" dirty="0"/>
              <a:t>C</a:t>
            </a:r>
            <a:r>
              <a:rPr lang="zh-CN" altLang="en-US" dirty="0"/>
              <a:t>程序的理解</a:t>
            </a:r>
            <a:r>
              <a:rPr lang="zh-CN" altLang="en-US" dirty="0" smtClean="0"/>
              <a:t>。</a:t>
            </a:r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0" y="2743200"/>
            <a:ext cx="7620000" cy="3980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038649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867562" y="272922"/>
            <a:ext cx="10456875" cy="369332"/>
          </a:xfrm>
        </p:spPr>
        <p:txBody>
          <a:bodyPr/>
          <a:lstStyle/>
          <a:p>
            <a:r>
              <a:rPr lang="zh-CN" altLang="en-US" dirty="0" smtClean="0"/>
              <a:t>实战</a:t>
            </a:r>
            <a:r>
              <a:rPr lang="zh-CN" altLang="en-US" dirty="0"/>
              <a:t>意义</a:t>
            </a:r>
          </a:p>
        </p:txBody>
      </p:sp>
      <p:sp>
        <p:nvSpPr>
          <p:cNvPr id="15" name="文本占位符 119810"/>
          <p:cNvSpPr txBox="1">
            <a:spLocks noChangeArrowheads="1"/>
          </p:cNvSpPr>
          <p:nvPr/>
        </p:nvSpPr>
        <p:spPr>
          <a:xfrm>
            <a:off x="867562" y="2286000"/>
            <a:ext cx="10515600" cy="1622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defPPr>
              <a:defRPr lang="zh-CN"/>
            </a:defPPr>
            <a:lvl1pPr marL="12700">
              <a:lnSpc>
                <a:spcPct val="150000"/>
              </a:lnSpc>
              <a:spcBef>
                <a:spcPts val="100"/>
              </a:spcBef>
              <a:defRPr spc="-30">
                <a:solidFill>
                  <a:srgbClr val="404040"/>
                </a:solidFill>
                <a:latin typeface="微软雅黑"/>
                <a:cs typeface="微软雅黑"/>
              </a:defRPr>
            </a:lvl1pPr>
          </a:lstStyle>
          <a:p>
            <a:r>
              <a:rPr lang="zh-CN" altLang="en-US" dirty="0"/>
              <a:t>通过实战，巩固</a:t>
            </a:r>
            <a:r>
              <a:rPr lang="en-US" altLang="zh-CN" dirty="0"/>
              <a:t>C</a:t>
            </a:r>
            <a:r>
              <a:rPr lang="zh-CN" altLang="en-US" dirty="0"/>
              <a:t>语言程序源代码的编辑、运行方法，也为程序中输入、显示汉字和符号提供了条件，为今后学习</a:t>
            </a:r>
            <a:r>
              <a:rPr lang="en-US" altLang="zh-CN" dirty="0"/>
              <a:t>C</a:t>
            </a:r>
            <a:r>
              <a:rPr lang="zh-CN" altLang="en-US" dirty="0"/>
              <a:t>语言夯实基础。</a:t>
            </a:r>
          </a:p>
          <a:p>
            <a:r>
              <a:rPr lang="zh-CN" altLang="en-US" dirty="0"/>
              <a:t>新中国日益强大，离不开老一辈无产阶级革命家艰苦卓绝的斗争，是无数革命先烈用鲜血和生命铸就的，同学们应该拼搏不息，勇往直前。</a:t>
            </a:r>
          </a:p>
        </p:txBody>
      </p:sp>
    </p:spTree>
    <p:extLst>
      <p:ext uri="{BB962C8B-B14F-4D97-AF65-F5344CB8AC3E}">
        <p14:creationId xmlns:p14="http://schemas.microsoft.com/office/powerpoint/2010/main" val="249760078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7"/>
          <p:cNvSpPr>
            <a:spLocks noGrp="1"/>
          </p:cNvSpPr>
          <p:nvPr>
            <p:ph type="title"/>
          </p:nvPr>
        </p:nvSpPr>
        <p:spPr>
          <a:xfrm>
            <a:off x="867562" y="272922"/>
            <a:ext cx="10456875" cy="369332"/>
          </a:xfrm>
        </p:spPr>
        <p:txBody>
          <a:bodyPr/>
          <a:lstStyle/>
          <a:p>
            <a:r>
              <a:rPr lang="en-US" altLang="zh-CN" dirty="0"/>
              <a:t>C</a:t>
            </a:r>
            <a:r>
              <a:rPr lang="zh-CN" altLang="en-US" dirty="0"/>
              <a:t>程序结构</a:t>
            </a:r>
          </a:p>
        </p:txBody>
      </p:sp>
      <p:sp>
        <p:nvSpPr>
          <p:cNvPr id="5" name="内容占位符 2"/>
          <p:cNvSpPr txBox="1">
            <a:spLocks/>
          </p:cNvSpPr>
          <p:nvPr/>
        </p:nvSpPr>
        <p:spPr>
          <a:xfrm>
            <a:off x="867562" y="1371600"/>
            <a:ext cx="8473440" cy="3632789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defPPr>
              <a:defRPr lang="zh-CN"/>
            </a:defPPr>
            <a:lvl1pPr indent="0" fontAlgn="auto">
              <a:lnSpc>
                <a:spcPct val="18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u="none" strike="noStrike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思源黑体 Regular" panose="020B0500000000000000" charset="-122"/>
                <a:ea typeface="思源黑体 Regular" panose="020B0500000000000000" charset="-122"/>
                <a:cs typeface="思源黑体 Regular" panose="020B0500000000000000" charset="-122"/>
              </a:defRPr>
            </a:lvl1pPr>
            <a:lvl2pPr marL="685800" indent="-228600" fontAlgn="auto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sz="1600" u="none" strike="noStrike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2pPr>
            <a:lvl3pPr marL="1143000" indent="-228600" fontAlgn="auto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3pPr>
            <a:lvl4pPr marL="1600200" indent="-228600" fontAlgn="auto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4pPr>
            <a:lvl5pPr marL="2057400" indent="-228600" fontAlgn="auto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zh-CN" altLang="en-US" noProof="1" smtClean="0"/>
              <a:t>C程序</a:t>
            </a:r>
            <a:r>
              <a:rPr lang="zh-CN" altLang="en-US" noProof="1"/>
              <a:t>主要包括以下部分：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noProof="1"/>
              <a:t>预处理器指令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noProof="1"/>
              <a:t>函数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noProof="1"/>
              <a:t>变量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noProof="1"/>
              <a:t>语句 &amp; 表达式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noProof="1"/>
              <a:t>注释</a:t>
            </a:r>
          </a:p>
        </p:txBody>
      </p:sp>
    </p:spTree>
    <p:extLst>
      <p:ext uri="{BB962C8B-B14F-4D97-AF65-F5344CB8AC3E}">
        <p14:creationId xmlns:p14="http://schemas.microsoft.com/office/powerpoint/2010/main" val="25207811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7"/>
          <p:cNvSpPr>
            <a:spLocks noGrp="1"/>
          </p:cNvSpPr>
          <p:nvPr>
            <p:ph type="title"/>
          </p:nvPr>
        </p:nvSpPr>
        <p:spPr>
          <a:xfrm>
            <a:off x="867562" y="272922"/>
            <a:ext cx="10456875" cy="369332"/>
          </a:xfrm>
        </p:spPr>
        <p:txBody>
          <a:bodyPr/>
          <a:lstStyle/>
          <a:p>
            <a:r>
              <a:rPr lang="en-US" altLang="zh-CN" dirty="0"/>
              <a:t>C</a:t>
            </a:r>
            <a:r>
              <a:rPr lang="zh-CN" altLang="en-US" dirty="0"/>
              <a:t>程序结构</a:t>
            </a:r>
          </a:p>
        </p:txBody>
      </p:sp>
      <p:pic>
        <p:nvPicPr>
          <p:cNvPr id="6" name="图片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7562" y="1066800"/>
            <a:ext cx="5314951" cy="2741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内容占位符 2"/>
          <p:cNvSpPr txBox="1">
            <a:spLocks noChangeArrowheads="1"/>
          </p:cNvSpPr>
          <p:nvPr/>
        </p:nvSpPr>
        <p:spPr>
          <a:xfrm>
            <a:off x="867562" y="4038600"/>
            <a:ext cx="11114451" cy="25699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defPPr>
              <a:defRPr lang="zh-CN"/>
            </a:defPPr>
            <a:lvl1pPr marL="12700">
              <a:lnSpc>
                <a:spcPct val="150000"/>
              </a:lnSpc>
              <a:spcBef>
                <a:spcPts val="100"/>
              </a:spcBef>
              <a:defRPr spc="-30">
                <a:solidFill>
                  <a:srgbClr val="404040"/>
                </a:solidFill>
                <a:latin typeface="微软雅黑"/>
                <a:cs typeface="微软雅黑"/>
              </a:defRPr>
            </a:lvl1pPr>
          </a:lstStyle>
          <a:p>
            <a:r>
              <a:rPr lang="zh-CN" altLang="en-US" dirty="0"/>
              <a:t>程序的第一行 #include &lt;stdio.h&gt; 是预处理器指令，告诉 C 编译器在实际编译之前要包含 stdio.h 文件。</a:t>
            </a:r>
          </a:p>
          <a:p>
            <a:r>
              <a:rPr lang="zh-CN" altLang="en-US" dirty="0"/>
              <a:t>下一行 int main() 是主函数，程序从这里开始执行。</a:t>
            </a:r>
          </a:p>
          <a:p>
            <a:r>
              <a:rPr lang="en-US" altLang="zh-CN" dirty="0" err="1"/>
              <a:t>a,b,c</a:t>
            </a:r>
            <a:r>
              <a:rPr lang="zh-CN" altLang="en-US" dirty="0"/>
              <a:t>都是变量，</a:t>
            </a:r>
            <a:r>
              <a:rPr lang="en-US" altLang="zh-CN" dirty="0"/>
              <a:t>c = a + b</a:t>
            </a:r>
            <a:r>
              <a:rPr lang="zh-CN" altLang="en-US" dirty="0"/>
              <a:t>；这一句的意思是把</a:t>
            </a:r>
            <a:r>
              <a:rPr lang="en-US" altLang="zh-CN" dirty="0" err="1"/>
              <a:t>a+b</a:t>
            </a:r>
            <a:r>
              <a:rPr lang="zh-CN" altLang="en-US" dirty="0"/>
              <a:t>这个表达式的值赋给</a:t>
            </a:r>
            <a:r>
              <a:rPr lang="en-US" altLang="zh-CN" dirty="0"/>
              <a:t>c</a:t>
            </a:r>
            <a:r>
              <a:rPr lang="zh-CN" altLang="en-US" dirty="0"/>
              <a:t>。</a:t>
            </a:r>
          </a:p>
          <a:p>
            <a:r>
              <a:rPr lang="zh-CN" altLang="en-US" dirty="0"/>
              <a:t> </a:t>
            </a:r>
            <a:r>
              <a:rPr lang="zh-CN" altLang="en-US" dirty="0">
                <a:solidFill>
                  <a:schemeClr val="accent3">
                    <a:lumMod val="75000"/>
                  </a:schemeClr>
                </a:solidFill>
              </a:rPr>
              <a:t>/*...*/ </a:t>
            </a:r>
            <a:r>
              <a:rPr lang="zh-CN" altLang="en-US" dirty="0"/>
              <a:t>将会被编译器忽略，这里放置程序的注释内容。它们被称为程序的注释。</a:t>
            </a:r>
          </a:p>
          <a:p>
            <a:r>
              <a:rPr lang="zh-CN" altLang="en-US" dirty="0"/>
              <a:t>printf(...) 是 C 中另一个可用的函数，会在屏幕上显示消息 "Hello, World!"。</a:t>
            </a:r>
          </a:p>
          <a:p>
            <a:r>
              <a:rPr lang="zh-CN" altLang="en-US" dirty="0"/>
              <a:t>下一行 return 0; 终止 main() 函数，并返回值 0。</a:t>
            </a:r>
          </a:p>
        </p:txBody>
      </p:sp>
    </p:spTree>
    <p:extLst>
      <p:ext uri="{BB962C8B-B14F-4D97-AF65-F5344CB8AC3E}">
        <p14:creationId xmlns:p14="http://schemas.microsoft.com/office/powerpoint/2010/main" val="277213649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99744" y="1086611"/>
            <a:ext cx="4334256" cy="376555"/>
          </a:xfrm>
          <a:custGeom>
            <a:avLst/>
            <a:gdLst/>
            <a:ahLst/>
            <a:cxnLst/>
            <a:rect l="l" t="t" r="r" b="b"/>
            <a:pathLst>
              <a:path w="1001394" h="376555">
                <a:moveTo>
                  <a:pt x="0" y="376427"/>
                </a:moveTo>
                <a:lnTo>
                  <a:pt x="1001268" y="376427"/>
                </a:lnTo>
                <a:lnTo>
                  <a:pt x="1001268" y="0"/>
                </a:lnTo>
                <a:lnTo>
                  <a:pt x="0" y="0"/>
                </a:lnTo>
                <a:lnTo>
                  <a:pt x="0" y="376427"/>
                </a:lnTo>
                <a:close/>
              </a:path>
            </a:pathLst>
          </a:custGeom>
          <a:ln w="12192">
            <a:solidFill>
              <a:srgbClr val="AC2B2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806195" y="1036319"/>
            <a:ext cx="398145" cy="462280"/>
          </a:xfrm>
          <a:custGeom>
            <a:avLst/>
            <a:gdLst/>
            <a:ahLst/>
            <a:cxnLst/>
            <a:rect l="l" t="t" r="r" b="b"/>
            <a:pathLst>
              <a:path w="398144" h="462280">
                <a:moveTo>
                  <a:pt x="198882" y="0"/>
                </a:moveTo>
                <a:lnTo>
                  <a:pt x="0" y="99440"/>
                </a:lnTo>
                <a:lnTo>
                  <a:pt x="0" y="362330"/>
                </a:lnTo>
                <a:lnTo>
                  <a:pt x="198882" y="461771"/>
                </a:lnTo>
                <a:lnTo>
                  <a:pt x="397764" y="362330"/>
                </a:lnTo>
                <a:lnTo>
                  <a:pt x="397764" y="99440"/>
                </a:lnTo>
                <a:lnTo>
                  <a:pt x="198882" y="0"/>
                </a:lnTo>
                <a:close/>
              </a:path>
            </a:pathLst>
          </a:custGeom>
          <a:solidFill>
            <a:srgbClr val="AC2B2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899160" y="1159763"/>
            <a:ext cx="202691" cy="20116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338452" y="1090676"/>
            <a:ext cx="3843148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35" dirty="0" err="1" smtClean="0">
                <a:solidFill>
                  <a:srgbClr val="AC2B25"/>
                </a:solidFill>
                <a:latin typeface="宋体"/>
                <a:cs typeface="宋体"/>
              </a:rPr>
              <a:t>案例</a:t>
            </a:r>
            <a:r>
              <a:rPr lang="en-US" sz="2000" spc="-35" dirty="0" smtClean="0">
                <a:solidFill>
                  <a:srgbClr val="AC2B25"/>
                </a:solidFill>
                <a:latin typeface="宋体"/>
                <a:cs typeface="宋体"/>
              </a:rPr>
              <a:t>:</a:t>
            </a:r>
            <a:r>
              <a:rPr lang="zh-CN" altLang="en-US" sz="2000" spc="-35" dirty="0" smtClean="0">
                <a:solidFill>
                  <a:srgbClr val="AC2B25"/>
                </a:solidFill>
                <a:latin typeface="宋体"/>
                <a:cs typeface="宋体"/>
              </a:rPr>
              <a:t>求三个</a:t>
            </a:r>
            <a:r>
              <a:rPr lang="zh-CN" altLang="en-US" sz="2000" spc="-35" dirty="0">
                <a:solidFill>
                  <a:srgbClr val="AC2B25"/>
                </a:solidFill>
                <a:latin typeface="宋体"/>
                <a:cs typeface="宋体"/>
              </a:rPr>
              <a:t>整数中的最大值</a:t>
            </a:r>
            <a:endParaRPr sz="2000" dirty="0">
              <a:latin typeface="宋体"/>
              <a:cs typeface="宋体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789838" y="272922"/>
            <a:ext cx="21272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0" dirty="0" err="1" smtClean="0">
                <a:solidFill>
                  <a:srgbClr val="585858"/>
                </a:solidFill>
              </a:rPr>
              <a:t>案例</a:t>
            </a:r>
            <a:r>
              <a:rPr lang="zh-CN" altLang="en-US" spc="-40" dirty="0">
                <a:solidFill>
                  <a:srgbClr val="58585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演示</a:t>
            </a:r>
            <a:endParaRPr spc="-40" dirty="0">
              <a:solidFill>
                <a:srgbClr val="58585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01851" y="1631292"/>
            <a:ext cx="5290820" cy="47448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335"/>
              </a:spcBef>
            </a:pPr>
            <a:r>
              <a:rPr lang="zh-CN" altLang="en-US" sz="1400" b="1" spc="-30" dirty="0" smtClean="0">
                <a:solidFill>
                  <a:srgbClr val="252525"/>
                </a:solidFill>
                <a:latin typeface="宋体"/>
                <a:cs typeface="宋体"/>
              </a:rPr>
              <a:t>题目</a:t>
            </a:r>
            <a:r>
              <a:rPr lang="zh-CN" altLang="en-US" sz="1400" b="1" spc="-30" dirty="0">
                <a:solidFill>
                  <a:srgbClr val="252525"/>
                </a:solidFill>
                <a:latin typeface="宋体"/>
                <a:cs typeface="宋体"/>
              </a:rPr>
              <a:t>描述</a:t>
            </a:r>
          </a:p>
          <a:p>
            <a:pPr marL="12700" marR="5080">
              <a:lnSpc>
                <a:spcPct val="150000"/>
              </a:lnSpc>
              <a:spcBef>
                <a:spcPts val="1335"/>
              </a:spcBef>
            </a:pPr>
            <a:r>
              <a:rPr lang="zh-CN" altLang="en-US" sz="1400" spc="-30" dirty="0">
                <a:solidFill>
                  <a:srgbClr val="252525"/>
                </a:solidFill>
                <a:latin typeface="宋体"/>
                <a:cs typeface="宋体"/>
              </a:rPr>
              <a:t>编写一个程序，输入</a:t>
            </a:r>
            <a:r>
              <a:rPr lang="en-US" altLang="zh-CN" sz="1400" spc="-30" dirty="0">
                <a:solidFill>
                  <a:srgbClr val="252525"/>
                </a:solidFill>
                <a:latin typeface="宋体"/>
                <a:cs typeface="宋体"/>
              </a:rPr>
              <a:t>a, </a:t>
            </a:r>
            <a:r>
              <a:rPr lang="en-US" altLang="zh-CN" sz="1400" spc="-30" dirty="0" smtClean="0">
                <a:solidFill>
                  <a:srgbClr val="252525"/>
                </a:solidFill>
                <a:latin typeface="宋体"/>
                <a:cs typeface="宋体"/>
              </a:rPr>
              <a:t>b, c</a:t>
            </a:r>
            <a:r>
              <a:rPr lang="zh-CN" altLang="en-US" sz="1400" spc="-30" dirty="0" smtClean="0">
                <a:solidFill>
                  <a:srgbClr val="252525"/>
                </a:solidFill>
                <a:latin typeface="宋体"/>
                <a:cs typeface="宋体"/>
              </a:rPr>
              <a:t>三个</a:t>
            </a:r>
            <a:r>
              <a:rPr lang="zh-CN" altLang="en-US" sz="1400" spc="-30" dirty="0">
                <a:solidFill>
                  <a:srgbClr val="252525"/>
                </a:solidFill>
                <a:latin typeface="宋体"/>
                <a:cs typeface="宋体"/>
              </a:rPr>
              <a:t>值，输出其中</a:t>
            </a:r>
            <a:r>
              <a:rPr lang="zh-CN" altLang="en-US" sz="1400" spc="-30" dirty="0" smtClean="0">
                <a:solidFill>
                  <a:srgbClr val="252525"/>
                </a:solidFill>
                <a:latin typeface="宋体"/>
                <a:cs typeface="宋体"/>
              </a:rPr>
              <a:t>最大者。</a:t>
            </a:r>
            <a:endParaRPr lang="zh-CN" altLang="en-US" sz="1400" spc="-30" dirty="0">
              <a:solidFill>
                <a:srgbClr val="252525"/>
              </a:solidFill>
              <a:latin typeface="宋体"/>
              <a:cs typeface="宋体"/>
            </a:endParaRPr>
          </a:p>
          <a:p>
            <a:pPr marL="12700" marR="5080">
              <a:lnSpc>
                <a:spcPct val="150000"/>
              </a:lnSpc>
              <a:spcBef>
                <a:spcPts val="1335"/>
              </a:spcBef>
            </a:pPr>
            <a:r>
              <a:rPr lang="zh-CN" altLang="en-US" sz="1400" b="1" spc="-30" dirty="0">
                <a:solidFill>
                  <a:srgbClr val="252525"/>
                </a:solidFill>
                <a:latin typeface="宋体"/>
                <a:cs typeface="宋体"/>
              </a:rPr>
              <a:t>输入</a:t>
            </a:r>
          </a:p>
          <a:p>
            <a:pPr marL="12700" marR="5080">
              <a:lnSpc>
                <a:spcPct val="150000"/>
              </a:lnSpc>
              <a:spcBef>
                <a:spcPts val="1335"/>
              </a:spcBef>
            </a:pPr>
            <a:r>
              <a:rPr lang="zh-CN" altLang="en-US" sz="1400" spc="-30" dirty="0" smtClean="0">
                <a:solidFill>
                  <a:srgbClr val="252525"/>
                </a:solidFill>
                <a:latin typeface="宋体"/>
                <a:cs typeface="宋体"/>
              </a:rPr>
              <a:t>输入三个</a:t>
            </a:r>
            <a:r>
              <a:rPr lang="zh-CN" altLang="en-US" sz="1400" spc="-30" dirty="0">
                <a:solidFill>
                  <a:srgbClr val="252525"/>
                </a:solidFill>
                <a:latin typeface="宋体"/>
                <a:cs typeface="宋体"/>
              </a:rPr>
              <a:t>整数</a:t>
            </a:r>
            <a:r>
              <a:rPr lang="en-US" altLang="zh-CN" sz="1400" spc="-30" dirty="0">
                <a:solidFill>
                  <a:srgbClr val="252525"/>
                </a:solidFill>
                <a:latin typeface="宋体"/>
                <a:cs typeface="宋体"/>
              </a:rPr>
              <a:t>a, </a:t>
            </a:r>
            <a:r>
              <a:rPr lang="en-US" altLang="zh-CN" sz="1400" spc="-30" dirty="0" smtClean="0">
                <a:solidFill>
                  <a:srgbClr val="252525"/>
                </a:solidFill>
                <a:latin typeface="宋体"/>
                <a:cs typeface="宋体"/>
              </a:rPr>
              <a:t>b, c</a:t>
            </a:r>
            <a:r>
              <a:rPr lang="zh-CN" altLang="en-US" sz="1400" spc="-30" dirty="0" smtClean="0">
                <a:solidFill>
                  <a:srgbClr val="252525"/>
                </a:solidFill>
                <a:latin typeface="宋体"/>
                <a:cs typeface="宋体"/>
              </a:rPr>
              <a:t>，</a:t>
            </a:r>
            <a:r>
              <a:rPr lang="zh-CN" altLang="en-US" sz="1400" spc="-30" dirty="0">
                <a:solidFill>
                  <a:srgbClr val="252525"/>
                </a:solidFill>
                <a:latin typeface="宋体"/>
                <a:cs typeface="宋体"/>
              </a:rPr>
              <a:t>以空格分隔。</a:t>
            </a:r>
          </a:p>
          <a:p>
            <a:pPr marL="12700" marR="5080">
              <a:lnSpc>
                <a:spcPct val="150000"/>
              </a:lnSpc>
              <a:spcBef>
                <a:spcPts val="1335"/>
              </a:spcBef>
            </a:pPr>
            <a:r>
              <a:rPr lang="zh-CN" altLang="en-US" sz="1400" b="1" spc="-30" dirty="0">
                <a:solidFill>
                  <a:srgbClr val="252525"/>
                </a:solidFill>
                <a:latin typeface="宋体"/>
                <a:cs typeface="宋体"/>
              </a:rPr>
              <a:t>输出</a:t>
            </a:r>
          </a:p>
          <a:p>
            <a:pPr marL="12700" marR="5080">
              <a:lnSpc>
                <a:spcPct val="150000"/>
              </a:lnSpc>
              <a:spcBef>
                <a:spcPts val="1335"/>
              </a:spcBef>
            </a:pPr>
            <a:r>
              <a:rPr lang="en-US" altLang="zh-CN" sz="1400" spc="-30" dirty="0">
                <a:solidFill>
                  <a:srgbClr val="252525"/>
                </a:solidFill>
                <a:latin typeface="宋体"/>
                <a:cs typeface="宋体"/>
              </a:rPr>
              <a:t>max=</a:t>
            </a:r>
            <a:r>
              <a:rPr lang="zh-CN" altLang="en-US" sz="1400" spc="-30" dirty="0">
                <a:solidFill>
                  <a:srgbClr val="252525"/>
                </a:solidFill>
                <a:latin typeface="宋体"/>
                <a:cs typeface="宋体"/>
              </a:rPr>
              <a:t>最</a:t>
            </a:r>
            <a:r>
              <a:rPr lang="zh-CN" altLang="en-US" sz="1400" spc="-30" dirty="0" smtClean="0">
                <a:solidFill>
                  <a:srgbClr val="252525"/>
                </a:solidFill>
                <a:latin typeface="宋体"/>
                <a:cs typeface="宋体"/>
              </a:rPr>
              <a:t>大数</a:t>
            </a:r>
            <a:endParaRPr lang="zh-CN" altLang="en-US" sz="1400" spc="-30" dirty="0">
              <a:solidFill>
                <a:srgbClr val="252525"/>
              </a:solidFill>
              <a:latin typeface="宋体"/>
              <a:cs typeface="宋体"/>
            </a:endParaRPr>
          </a:p>
          <a:p>
            <a:pPr marL="12700" marR="5080">
              <a:lnSpc>
                <a:spcPct val="150000"/>
              </a:lnSpc>
              <a:spcBef>
                <a:spcPts val="1335"/>
              </a:spcBef>
            </a:pPr>
            <a:r>
              <a:rPr lang="zh-CN" altLang="en-US" sz="1400" b="1" spc="-30" dirty="0">
                <a:solidFill>
                  <a:srgbClr val="252525"/>
                </a:solidFill>
                <a:latin typeface="宋体"/>
                <a:cs typeface="宋体"/>
              </a:rPr>
              <a:t>样例输入</a:t>
            </a:r>
          </a:p>
          <a:p>
            <a:pPr marL="12700" marR="5080">
              <a:lnSpc>
                <a:spcPct val="150000"/>
              </a:lnSpc>
              <a:spcBef>
                <a:spcPts val="1335"/>
              </a:spcBef>
            </a:pPr>
            <a:r>
              <a:rPr lang="en-US" altLang="zh-CN" sz="1400" spc="-30" dirty="0">
                <a:solidFill>
                  <a:srgbClr val="252525"/>
                </a:solidFill>
                <a:latin typeface="宋体"/>
                <a:cs typeface="宋体"/>
              </a:rPr>
              <a:t>2 </a:t>
            </a:r>
            <a:r>
              <a:rPr lang="en-US" altLang="zh-CN" sz="1400" spc="-30" dirty="0" smtClean="0">
                <a:solidFill>
                  <a:srgbClr val="252525"/>
                </a:solidFill>
                <a:latin typeface="宋体"/>
                <a:cs typeface="宋体"/>
              </a:rPr>
              <a:t>-3 9</a:t>
            </a:r>
            <a:endParaRPr lang="en-US" altLang="zh-CN" sz="1400" spc="-30" dirty="0">
              <a:solidFill>
                <a:srgbClr val="252525"/>
              </a:solidFill>
              <a:latin typeface="宋体"/>
              <a:cs typeface="宋体"/>
            </a:endParaRPr>
          </a:p>
          <a:p>
            <a:pPr marL="12700" marR="5080">
              <a:lnSpc>
                <a:spcPct val="150000"/>
              </a:lnSpc>
              <a:spcBef>
                <a:spcPts val="1335"/>
              </a:spcBef>
            </a:pPr>
            <a:r>
              <a:rPr lang="zh-CN" altLang="en-US" sz="1400" b="1" spc="-30" dirty="0">
                <a:solidFill>
                  <a:srgbClr val="252525"/>
                </a:solidFill>
                <a:latin typeface="宋体"/>
                <a:cs typeface="宋体"/>
              </a:rPr>
              <a:t>样例输出</a:t>
            </a:r>
          </a:p>
          <a:p>
            <a:pPr marL="12700" marR="5080">
              <a:lnSpc>
                <a:spcPct val="150000"/>
              </a:lnSpc>
              <a:spcBef>
                <a:spcPts val="1335"/>
              </a:spcBef>
            </a:pPr>
            <a:r>
              <a:rPr lang="en-US" altLang="zh-CN" sz="1400" spc="-30" dirty="0" smtClean="0">
                <a:solidFill>
                  <a:srgbClr val="252525"/>
                </a:solidFill>
                <a:latin typeface="宋体"/>
                <a:cs typeface="宋体"/>
              </a:rPr>
              <a:t>max=9</a:t>
            </a:r>
            <a:endParaRPr sz="1400" dirty="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99744" y="1086611"/>
            <a:ext cx="4334256" cy="376555"/>
          </a:xfrm>
          <a:custGeom>
            <a:avLst/>
            <a:gdLst/>
            <a:ahLst/>
            <a:cxnLst/>
            <a:rect l="l" t="t" r="r" b="b"/>
            <a:pathLst>
              <a:path w="1001394" h="376555">
                <a:moveTo>
                  <a:pt x="0" y="376427"/>
                </a:moveTo>
                <a:lnTo>
                  <a:pt x="1001268" y="376427"/>
                </a:lnTo>
                <a:lnTo>
                  <a:pt x="1001268" y="0"/>
                </a:lnTo>
                <a:lnTo>
                  <a:pt x="0" y="0"/>
                </a:lnTo>
                <a:lnTo>
                  <a:pt x="0" y="376427"/>
                </a:lnTo>
                <a:close/>
              </a:path>
            </a:pathLst>
          </a:custGeom>
          <a:ln w="12192">
            <a:solidFill>
              <a:srgbClr val="AC2B2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806195" y="1036319"/>
            <a:ext cx="398145" cy="462280"/>
          </a:xfrm>
          <a:custGeom>
            <a:avLst/>
            <a:gdLst/>
            <a:ahLst/>
            <a:cxnLst/>
            <a:rect l="l" t="t" r="r" b="b"/>
            <a:pathLst>
              <a:path w="398144" h="462280">
                <a:moveTo>
                  <a:pt x="198882" y="0"/>
                </a:moveTo>
                <a:lnTo>
                  <a:pt x="0" y="99440"/>
                </a:lnTo>
                <a:lnTo>
                  <a:pt x="0" y="362330"/>
                </a:lnTo>
                <a:lnTo>
                  <a:pt x="198882" y="461771"/>
                </a:lnTo>
                <a:lnTo>
                  <a:pt x="397764" y="362330"/>
                </a:lnTo>
                <a:lnTo>
                  <a:pt x="397764" y="99440"/>
                </a:lnTo>
                <a:lnTo>
                  <a:pt x="198882" y="0"/>
                </a:lnTo>
                <a:close/>
              </a:path>
            </a:pathLst>
          </a:custGeom>
          <a:solidFill>
            <a:srgbClr val="AC2B2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899160" y="1159763"/>
            <a:ext cx="202691" cy="20116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338452" y="1090676"/>
            <a:ext cx="3843148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35" dirty="0" err="1" smtClean="0">
                <a:solidFill>
                  <a:srgbClr val="AC2B25"/>
                </a:solidFill>
                <a:latin typeface="宋体"/>
                <a:cs typeface="宋体"/>
              </a:rPr>
              <a:t>案例</a:t>
            </a:r>
            <a:r>
              <a:rPr lang="en-US" sz="2000" spc="-35" dirty="0" smtClean="0">
                <a:solidFill>
                  <a:srgbClr val="AC2B25"/>
                </a:solidFill>
                <a:latin typeface="宋体"/>
                <a:cs typeface="宋体"/>
              </a:rPr>
              <a:t>:</a:t>
            </a:r>
            <a:r>
              <a:rPr lang="zh-CN" altLang="en-US" sz="2000" spc="-35" dirty="0" smtClean="0">
                <a:solidFill>
                  <a:srgbClr val="AC2B25"/>
                </a:solidFill>
                <a:latin typeface="宋体"/>
                <a:cs typeface="宋体"/>
              </a:rPr>
              <a:t>求三个</a:t>
            </a:r>
            <a:r>
              <a:rPr lang="zh-CN" altLang="en-US" sz="2000" spc="-35" dirty="0">
                <a:solidFill>
                  <a:srgbClr val="AC2B25"/>
                </a:solidFill>
                <a:latin typeface="宋体"/>
                <a:cs typeface="宋体"/>
              </a:rPr>
              <a:t>整数中的最大值</a:t>
            </a:r>
            <a:endParaRPr sz="2000" dirty="0">
              <a:latin typeface="宋体"/>
              <a:cs typeface="宋体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789838" y="272922"/>
            <a:ext cx="21272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0" dirty="0" err="1" smtClean="0">
                <a:solidFill>
                  <a:srgbClr val="585858"/>
                </a:solidFill>
              </a:rPr>
              <a:t>案例</a:t>
            </a:r>
            <a:r>
              <a:rPr lang="zh-CN" altLang="en-US" spc="-40" dirty="0">
                <a:solidFill>
                  <a:srgbClr val="58585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演示</a:t>
            </a:r>
            <a:endParaRPr spc="-40" dirty="0">
              <a:solidFill>
                <a:srgbClr val="58585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01851" y="1524000"/>
            <a:ext cx="8575550" cy="490647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spcBef>
                <a:spcPts val="600"/>
              </a:spcBef>
            </a:pPr>
            <a:r>
              <a:rPr lang="zh-CN" altLang="en-US" sz="1400" b="1" spc="-30" dirty="0" smtClean="0">
                <a:solidFill>
                  <a:srgbClr val="252525"/>
                </a:solidFill>
                <a:latin typeface="宋体"/>
                <a:cs typeface="宋体"/>
              </a:rPr>
              <a:t>方法</a:t>
            </a:r>
            <a:r>
              <a:rPr lang="zh-CN" altLang="en-US" sz="1400" b="1" spc="-30" dirty="0">
                <a:solidFill>
                  <a:srgbClr val="252525"/>
                </a:solidFill>
                <a:latin typeface="宋体"/>
                <a:cs typeface="宋体"/>
              </a:rPr>
              <a:t>一，按顺序两两比较，取较大</a:t>
            </a:r>
            <a:r>
              <a:rPr lang="zh-CN" altLang="en-US" sz="1400" b="1" spc="-30" dirty="0" smtClean="0">
                <a:solidFill>
                  <a:srgbClr val="252525"/>
                </a:solidFill>
                <a:latin typeface="宋体"/>
                <a:cs typeface="宋体"/>
              </a:rPr>
              <a:t>的。</a:t>
            </a:r>
            <a:endParaRPr lang="zh-CN" altLang="en-US" sz="1400" b="1" spc="-30" dirty="0">
              <a:solidFill>
                <a:srgbClr val="252525"/>
              </a:solidFill>
              <a:latin typeface="宋体"/>
              <a:cs typeface="宋体"/>
            </a:endParaRPr>
          </a:p>
          <a:p>
            <a:pPr marL="12700" marR="5080">
              <a:spcBef>
                <a:spcPts val="600"/>
              </a:spcBef>
            </a:pPr>
            <a:r>
              <a:rPr lang="en-US" altLang="zh-CN" sz="1400" spc="-30" dirty="0">
                <a:solidFill>
                  <a:srgbClr val="252525"/>
                </a:solidFill>
                <a:latin typeface="宋体"/>
                <a:cs typeface="宋体"/>
              </a:rPr>
              <a:t>if (a &gt; b) {</a:t>
            </a:r>
          </a:p>
          <a:p>
            <a:pPr marL="12700" marR="5080">
              <a:spcBef>
                <a:spcPts val="600"/>
              </a:spcBef>
            </a:pPr>
            <a:r>
              <a:rPr lang="en-US" altLang="zh-CN" sz="1400" spc="-30" dirty="0" smtClean="0">
                <a:solidFill>
                  <a:srgbClr val="252525"/>
                </a:solidFill>
                <a:latin typeface="宋体"/>
                <a:cs typeface="宋体"/>
              </a:rPr>
              <a:t>	max </a:t>
            </a:r>
            <a:r>
              <a:rPr lang="en-US" altLang="zh-CN" sz="1400" spc="-30" dirty="0">
                <a:solidFill>
                  <a:srgbClr val="252525"/>
                </a:solidFill>
                <a:latin typeface="宋体"/>
                <a:cs typeface="宋体"/>
              </a:rPr>
              <a:t>= a;</a:t>
            </a:r>
          </a:p>
          <a:p>
            <a:pPr marL="12700" marR="5080">
              <a:spcBef>
                <a:spcPts val="600"/>
              </a:spcBef>
            </a:pPr>
            <a:r>
              <a:rPr lang="en-US" altLang="zh-CN" sz="1400" spc="-30" dirty="0">
                <a:solidFill>
                  <a:srgbClr val="252525"/>
                </a:solidFill>
                <a:latin typeface="宋体"/>
                <a:cs typeface="宋体"/>
              </a:rPr>
              <a:t>} else {</a:t>
            </a:r>
          </a:p>
          <a:p>
            <a:pPr marL="12700" marR="5080">
              <a:spcBef>
                <a:spcPts val="600"/>
              </a:spcBef>
            </a:pPr>
            <a:r>
              <a:rPr lang="en-US" altLang="zh-CN" sz="1400" spc="-30" dirty="0" smtClean="0">
                <a:solidFill>
                  <a:srgbClr val="252525"/>
                </a:solidFill>
                <a:latin typeface="宋体"/>
                <a:cs typeface="宋体"/>
              </a:rPr>
              <a:t>	max </a:t>
            </a:r>
            <a:r>
              <a:rPr lang="en-US" altLang="zh-CN" sz="1400" spc="-30" dirty="0">
                <a:solidFill>
                  <a:srgbClr val="252525"/>
                </a:solidFill>
                <a:latin typeface="宋体"/>
                <a:cs typeface="宋体"/>
              </a:rPr>
              <a:t>= b;</a:t>
            </a:r>
          </a:p>
          <a:p>
            <a:pPr marL="12700" marR="5080">
              <a:spcBef>
                <a:spcPts val="600"/>
              </a:spcBef>
            </a:pPr>
            <a:r>
              <a:rPr lang="en-US" altLang="zh-CN" sz="1400" spc="-30" dirty="0">
                <a:solidFill>
                  <a:srgbClr val="252525"/>
                </a:solidFill>
                <a:latin typeface="宋体"/>
                <a:cs typeface="宋体"/>
              </a:rPr>
              <a:t>}</a:t>
            </a:r>
          </a:p>
          <a:p>
            <a:pPr marL="12700" marR="5080">
              <a:spcBef>
                <a:spcPts val="600"/>
              </a:spcBef>
            </a:pPr>
            <a:r>
              <a:rPr lang="en-US" altLang="zh-CN" sz="1400" spc="-30" dirty="0">
                <a:solidFill>
                  <a:srgbClr val="252525"/>
                </a:solidFill>
                <a:latin typeface="宋体"/>
                <a:cs typeface="宋体"/>
              </a:rPr>
              <a:t>if (max &lt; c) {</a:t>
            </a:r>
          </a:p>
          <a:p>
            <a:pPr marL="12700" marR="5080">
              <a:spcBef>
                <a:spcPts val="600"/>
              </a:spcBef>
            </a:pPr>
            <a:r>
              <a:rPr lang="en-US" altLang="zh-CN" sz="1400" spc="-30" dirty="0" smtClean="0">
                <a:solidFill>
                  <a:srgbClr val="252525"/>
                </a:solidFill>
                <a:latin typeface="宋体"/>
                <a:cs typeface="宋体"/>
              </a:rPr>
              <a:t>	max </a:t>
            </a:r>
            <a:r>
              <a:rPr lang="en-US" altLang="zh-CN" sz="1400" spc="-30" dirty="0">
                <a:solidFill>
                  <a:srgbClr val="252525"/>
                </a:solidFill>
                <a:latin typeface="宋体"/>
                <a:cs typeface="宋体"/>
              </a:rPr>
              <a:t>= c;</a:t>
            </a:r>
          </a:p>
          <a:p>
            <a:pPr marL="12700" marR="5080">
              <a:spcBef>
                <a:spcPts val="600"/>
              </a:spcBef>
            </a:pPr>
            <a:r>
              <a:rPr lang="en-US" altLang="zh-CN" sz="1400" spc="-30" dirty="0" smtClean="0">
                <a:solidFill>
                  <a:srgbClr val="252525"/>
                </a:solidFill>
                <a:latin typeface="宋体"/>
                <a:cs typeface="宋体"/>
              </a:rPr>
              <a:t>}</a:t>
            </a:r>
            <a:endParaRPr lang="en-US" altLang="zh-CN" sz="1400" spc="-30" dirty="0">
              <a:solidFill>
                <a:srgbClr val="252525"/>
              </a:solidFill>
              <a:latin typeface="宋体"/>
              <a:cs typeface="宋体"/>
            </a:endParaRPr>
          </a:p>
          <a:p>
            <a:pPr marL="12700" marR="5080">
              <a:spcBef>
                <a:spcPts val="600"/>
              </a:spcBef>
            </a:pPr>
            <a:r>
              <a:rPr lang="zh-CN" altLang="en-US" sz="1400" b="1" spc="-30" dirty="0">
                <a:solidFill>
                  <a:srgbClr val="252525"/>
                </a:solidFill>
                <a:latin typeface="宋体"/>
                <a:cs typeface="宋体"/>
              </a:rPr>
              <a:t>方法二，假设第一个是最大的，与后面两个数进行比较，将较大的值赋给</a:t>
            </a:r>
            <a:r>
              <a:rPr lang="en-US" altLang="zh-CN" sz="1400" b="1" spc="-30" dirty="0" smtClean="0">
                <a:solidFill>
                  <a:srgbClr val="252525"/>
                </a:solidFill>
                <a:latin typeface="宋体"/>
                <a:cs typeface="宋体"/>
              </a:rPr>
              <a:t>max</a:t>
            </a:r>
            <a:r>
              <a:rPr lang="zh-CN" altLang="en-US" sz="1400" b="1" spc="-30" dirty="0" smtClean="0">
                <a:solidFill>
                  <a:srgbClr val="252525"/>
                </a:solidFill>
                <a:latin typeface="宋体"/>
                <a:cs typeface="宋体"/>
              </a:rPr>
              <a:t>。</a:t>
            </a:r>
            <a:endParaRPr lang="en-US" altLang="zh-CN" sz="1400" b="1" spc="-30" dirty="0">
              <a:solidFill>
                <a:srgbClr val="252525"/>
              </a:solidFill>
              <a:latin typeface="宋体"/>
              <a:cs typeface="宋体"/>
            </a:endParaRPr>
          </a:p>
          <a:p>
            <a:pPr marL="12700" marR="5080">
              <a:spcBef>
                <a:spcPts val="600"/>
              </a:spcBef>
            </a:pPr>
            <a:r>
              <a:rPr lang="en-US" altLang="zh-CN" sz="1400" spc="-30" dirty="0" err="1">
                <a:solidFill>
                  <a:srgbClr val="252525"/>
                </a:solidFill>
                <a:latin typeface="宋体"/>
                <a:cs typeface="宋体"/>
              </a:rPr>
              <a:t>int</a:t>
            </a:r>
            <a:r>
              <a:rPr lang="en-US" altLang="zh-CN" sz="1400" spc="-30" dirty="0">
                <a:solidFill>
                  <a:srgbClr val="252525"/>
                </a:solidFill>
                <a:latin typeface="宋体"/>
                <a:cs typeface="宋体"/>
              </a:rPr>
              <a:t> max = a;</a:t>
            </a:r>
          </a:p>
          <a:p>
            <a:pPr marL="12700" marR="5080">
              <a:spcBef>
                <a:spcPts val="600"/>
              </a:spcBef>
            </a:pPr>
            <a:r>
              <a:rPr lang="en-US" altLang="zh-CN" sz="1400" spc="-30" dirty="0">
                <a:solidFill>
                  <a:srgbClr val="252525"/>
                </a:solidFill>
                <a:latin typeface="宋体"/>
                <a:cs typeface="宋体"/>
              </a:rPr>
              <a:t>if (b &gt; max) {</a:t>
            </a:r>
          </a:p>
          <a:p>
            <a:pPr marL="12700" marR="5080">
              <a:spcBef>
                <a:spcPts val="600"/>
              </a:spcBef>
            </a:pPr>
            <a:r>
              <a:rPr lang="en-US" altLang="zh-CN" sz="1400" spc="-30" dirty="0" smtClean="0">
                <a:solidFill>
                  <a:srgbClr val="252525"/>
                </a:solidFill>
                <a:latin typeface="宋体"/>
                <a:cs typeface="宋体"/>
              </a:rPr>
              <a:t>	max </a:t>
            </a:r>
            <a:r>
              <a:rPr lang="en-US" altLang="zh-CN" sz="1400" spc="-30" dirty="0">
                <a:solidFill>
                  <a:srgbClr val="252525"/>
                </a:solidFill>
                <a:latin typeface="宋体"/>
                <a:cs typeface="宋体"/>
              </a:rPr>
              <a:t>= b;</a:t>
            </a:r>
          </a:p>
          <a:p>
            <a:pPr marL="12700" marR="5080">
              <a:spcBef>
                <a:spcPts val="600"/>
              </a:spcBef>
            </a:pPr>
            <a:r>
              <a:rPr lang="en-US" altLang="zh-CN" sz="1400" spc="-30" dirty="0">
                <a:solidFill>
                  <a:srgbClr val="252525"/>
                </a:solidFill>
                <a:latin typeface="宋体"/>
                <a:cs typeface="宋体"/>
              </a:rPr>
              <a:t>}</a:t>
            </a:r>
          </a:p>
          <a:p>
            <a:pPr marL="12700" marR="5080">
              <a:spcBef>
                <a:spcPts val="600"/>
              </a:spcBef>
            </a:pPr>
            <a:r>
              <a:rPr lang="en-US" altLang="zh-CN" sz="1400" spc="-30" dirty="0">
                <a:solidFill>
                  <a:srgbClr val="252525"/>
                </a:solidFill>
                <a:latin typeface="宋体"/>
                <a:cs typeface="宋体"/>
              </a:rPr>
              <a:t>if (c &gt; max) {</a:t>
            </a:r>
          </a:p>
          <a:p>
            <a:pPr marL="12700" marR="5080">
              <a:spcBef>
                <a:spcPts val="600"/>
              </a:spcBef>
            </a:pPr>
            <a:r>
              <a:rPr lang="en-US" altLang="zh-CN" sz="1400" spc="-30" dirty="0" smtClean="0">
                <a:solidFill>
                  <a:srgbClr val="252525"/>
                </a:solidFill>
                <a:latin typeface="宋体"/>
                <a:cs typeface="宋体"/>
              </a:rPr>
              <a:t>	max </a:t>
            </a:r>
            <a:r>
              <a:rPr lang="en-US" altLang="zh-CN" sz="1400" spc="-30" dirty="0">
                <a:solidFill>
                  <a:srgbClr val="252525"/>
                </a:solidFill>
                <a:latin typeface="宋体"/>
                <a:cs typeface="宋体"/>
              </a:rPr>
              <a:t>= c;</a:t>
            </a:r>
          </a:p>
          <a:p>
            <a:pPr marL="12700" marR="5080">
              <a:spcBef>
                <a:spcPts val="600"/>
              </a:spcBef>
            </a:pPr>
            <a:r>
              <a:rPr lang="en-US" altLang="zh-CN" sz="1400" spc="-30" dirty="0">
                <a:solidFill>
                  <a:srgbClr val="252525"/>
                </a:solidFill>
                <a:latin typeface="宋体"/>
                <a:cs typeface="宋体"/>
              </a:rPr>
              <a:t>}</a:t>
            </a:r>
            <a:endParaRPr sz="1400" dirty="0">
              <a:latin typeface="宋体"/>
              <a:cs typeface="宋体"/>
            </a:endParaRPr>
          </a:p>
        </p:txBody>
      </p:sp>
    </p:spTree>
    <p:extLst>
      <p:ext uri="{BB962C8B-B14F-4D97-AF65-F5344CB8AC3E}">
        <p14:creationId xmlns:p14="http://schemas.microsoft.com/office/powerpoint/2010/main" val="148651455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99744" y="1086611"/>
            <a:ext cx="4334256" cy="376555"/>
          </a:xfrm>
          <a:custGeom>
            <a:avLst/>
            <a:gdLst/>
            <a:ahLst/>
            <a:cxnLst/>
            <a:rect l="l" t="t" r="r" b="b"/>
            <a:pathLst>
              <a:path w="1001394" h="376555">
                <a:moveTo>
                  <a:pt x="0" y="376427"/>
                </a:moveTo>
                <a:lnTo>
                  <a:pt x="1001268" y="376427"/>
                </a:lnTo>
                <a:lnTo>
                  <a:pt x="1001268" y="0"/>
                </a:lnTo>
                <a:lnTo>
                  <a:pt x="0" y="0"/>
                </a:lnTo>
                <a:lnTo>
                  <a:pt x="0" y="376427"/>
                </a:lnTo>
                <a:close/>
              </a:path>
            </a:pathLst>
          </a:custGeom>
          <a:ln w="12192">
            <a:solidFill>
              <a:srgbClr val="AC2B2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806195" y="1036319"/>
            <a:ext cx="398145" cy="462280"/>
          </a:xfrm>
          <a:custGeom>
            <a:avLst/>
            <a:gdLst/>
            <a:ahLst/>
            <a:cxnLst/>
            <a:rect l="l" t="t" r="r" b="b"/>
            <a:pathLst>
              <a:path w="398144" h="462280">
                <a:moveTo>
                  <a:pt x="198882" y="0"/>
                </a:moveTo>
                <a:lnTo>
                  <a:pt x="0" y="99440"/>
                </a:lnTo>
                <a:lnTo>
                  <a:pt x="0" y="362330"/>
                </a:lnTo>
                <a:lnTo>
                  <a:pt x="198882" y="461771"/>
                </a:lnTo>
                <a:lnTo>
                  <a:pt x="397764" y="362330"/>
                </a:lnTo>
                <a:lnTo>
                  <a:pt x="397764" y="99440"/>
                </a:lnTo>
                <a:lnTo>
                  <a:pt x="198882" y="0"/>
                </a:lnTo>
                <a:close/>
              </a:path>
            </a:pathLst>
          </a:custGeom>
          <a:solidFill>
            <a:srgbClr val="AC2B2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899160" y="1159763"/>
            <a:ext cx="202691" cy="20116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338452" y="1090676"/>
            <a:ext cx="3843148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35" dirty="0" err="1" smtClean="0">
                <a:solidFill>
                  <a:srgbClr val="AC2B25"/>
                </a:solidFill>
                <a:latin typeface="宋体"/>
                <a:cs typeface="宋体"/>
              </a:rPr>
              <a:t>案例</a:t>
            </a:r>
            <a:r>
              <a:rPr lang="en-US" sz="2000" spc="-35" dirty="0" smtClean="0">
                <a:solidFill>
                  <a:srgbClr val="AC2B25"/>
                </a:solidFill>
                <a:latin typeface="宋体"/>
                <a:cs typeface="宋体"/>
              </a:rPr>
              <a:t>:</a:t>
            </a:r>
            <a:r>
              <a:rPr lang="zh-CN" altLang="en-US" sz="2000" spc="-35" dirty="0" smtClean="0">
                <a:solidFill>
                  <a:srgbClr val="AC2B25"/>
                </a:solidFill>
                <a:latin typeface="宋体"/>
                <a:cs typeface="宋体"/>
              </a:rPr>
              <a:t>求三个</a:t>
            </a:r>
            <a:r>
              <a:rPr lang="zh-CN" altLang="en-US" sz="2000" spc="-35" dirty="0">
                <a:solidFill>
                  <a:srgbClr val="AC2B25"/>
                </a:solidFill>
                <a:latin typeface="宋体"/>
                <a:cs typeface="宋体"/>
              </a:rPr>
              <a:t>整数中的最大值</a:t>
            </a:r>
            <a:endParaRPr sz="2000" dirty="0">
              <a:latin typeface="宋体"/>
              <a:cs typeface="宋体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789838" y="272922"/>
            <a:ext cx="21272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0" dirty="0" err="1" smtClean="0">
                <a:solidFill>
                  <a:srgbClr val="585858"/>
                </a:solidFill>
              </a:rPr>
              <a:t>案例</a:t>
            </a:r>
            <a:r>
              <a:rPr lang="zh-CN" altLang="en-US" spc="-40" dirty="0">
                <a:solidFill>
                  <a:srgbClr val="58585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演示</a:t>
            </a:r>
            <a:endParaRPr spc="-40" dirty="0">
              <a:solidFill>
                <a:srgbClr val="58585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806194" y="2150277"/>
            <a:ext cx="8033005" cy="3693319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 dirty="0" smtClean="0">
                <a:ln>
                  <a:noFill/>
                </a:ln>
                <a:solidFill>
                  <a:srgbClr val="BBB529"/>
                </a:solidFill>
                <a:effectLst/>
                <a:latin typeface="Fira Code" panose="020B0809050000020004" pitchFamily="49" charset="0"/>
              </a:rPr>
              <a:t>#include </a:t>
            </a:r>
            <a:r>
              <a:rPr kumimoji="0" lang="zh-CN" altLang="zh-CN" b="0" i="0" u="none" strike="noStrike" cap="none" normalizeH="0" baseline="0" dirty="0" smtClean="0">
                <a:ln>
                  <a:noFill/>
                </a:ln>
                <a:solidFill>
                  <a:srgbClr val="6A8759"/>
                </a:solidFill>
                <a:effectLst/>
                <a:latin typeface="Fira Code" panose="020B0809050000020004" pitchFamily="49" charset="0"/>
              </a:rPr>
              <a:t>&lt;stdio.h&gt;</a:t>
            </a:r>
            <a:br>
              <a:rPr kumimoji="0" lang="zh-CN" altLang="zh-CN" b="0" i="0" u="none" strike="noStrike" cap="none" normalizeH="0" baseline="0" dirty="0" smtClean="0">
                <a:ln>
                  <a:noFill/>
                </a:ln>
                <a:solidFill>
                  <a:srgbClr val="6A8759"/>
                </a:solidFill>
                <a:effectLst/>
                <a:latin typeface="Fira Code" panose="020B0809050000020004" pitchFamily="49" charset="0"/>
              </a:rPr>
            </a:br>
            <a:r>
              <a:rPr kumimoji="0" lang="zh-CN" altLang="zh-CN" b="0" i="0" u="none" strike="noStrike" cap="none" normalizeH="0" baseline="0" dirty="0" smtClean="0">
                <a:ln>
                  <a:noFill/>
                </a:ln>
                <a:solidFill>
                  <a:srgbClr val="CC7832"/>
                </a:solidFill>
                <a:effectLst/>
                <a:latin typeface="Fira Code" panose="020B0809050000020004" pitchFamily="49" charset="0"/>
              </a:rPr>
              <a:t>int </a:t>
            </a:r>
            <a:r>
              <a:rPr kumimoji="0" lang="zh-CN" altLang="zh-CN" b="0" i="0" u="none" strike="noStrike" cap="none" normalizeH="0" baseline="0" dirty="0" smtClean="0">
                <a:ln>
                  <a:noFill/>
                </a:ln>
                <a:solidFill>
                  <a:srgbClr val="FFC66D"/>
                </a:solidFill>
                <a:effectLst/>
                <a:latin typeface="Fira Code" panose="020B0809050000020004" pitchFamily="49" charset="0"/>
              </a:rPr>
              <a:t>main</a:t>
            </a:r>
            <a:r>
              <a:rPr kumimoji="0" lang="zh-CN" altLang="zh-CN" b="0" i="0" u="none" strike="noStrike" cap="none" normalizeH="0" baseline="0" dirty="0" smtClean="0">
                <a:ln>
                  <a:noFill/>
                </a:ln>
                <a:solidFill>
                  <a:srgbClr val="A9B7C6"/>
                </a:solidFill>
                <a:effectLst/>
                <a:latin typeface="Fira Code" panose="020B0809050000020004" pitchFamily="49" charset="0"/>
              </a:rPr>
              <a:t>() {</a:t>
            </a:r>
            <a:br>
              <a:rPr kumimoji="0" lang="zh-CN" altLang="zh-CN" b="0" i="0" u="none" strike="noStrike" cap="none" normalizeH="0" baseline="0" dirty="0" smtClean="0">
                <a:ln>
                  <a:noFill/>
                </a:ln>
                <a:solidFill>
                  <a:srgbClr val="A9B7C6"/>
                </a:solidFill>
                <a:effectLst/>
                <a:latin typeface="Fira Code" panose="020B0809050000020004" pitchFamily="49" charset="0"/>
              </a:rPr>
            </a:br>
            <a:r>
              <a:rPr kumimoji="0" lang="zh-CN" altLang="zh-CN" b="0" i="0" u="none" strike="noStrike" cap="none" normalizeH="0" baseline="0" dirty="0" smtClean="0">
                <a:ln>
                  <a:noFill/>
                </a:ln>
                <a:solidFill>
                  <a:srgbClr val="A9B7C6"/>
                </a:solidFill>
                <a:effectLst/>
                <a:latin typeface="Fira Code" panose="020B0809050000020004" pitchFamily="49" charset="0"/>
              </a:rPr>
              <a:t>    </a:t>
            </a:r>
            <a:r>
              <a:rPr kumimoji="0" lang="zh-CN" altLang="zh-CN" b="0" i="0" u="none" strike="noStrike" cap="none" normalizeH="0" baseline="0" dirty="0" smtClean="0">
                <a:ln>
                  <a:noFill/>
                </a:ln>
                <a:solidFill>
                  <a:srgbClr val="CC7832"/>
                </a:solidFill>
                <a:effectLst/>
                <a:latin typeface="Fira Code" panose="020B0809050000020004" pitchFamily="49" charset="0"/>
              </a:rPr>
              <a:t>int </a:t>
            </a:r>
            <a:r>
              <a:rPr kumimoji="0" lang="zh-CN" altLang="zh-CN" b="0" i="0" u="none" strike="noStrike" cap="none" normalizeH="0" baseline="0" dirty="0" smtClean="0">
                <a:ln>
                  <a:noFill/>
                </a:ln>
                <a:solidFill>
                  <a:srgbClr val="A9B7C6"/>
                </a:solidFill>
                <a:effectLst/>
                <a:latin typeface="Fira Code" panose="020B0809050000020004" pitchFamily="49" charset="0"/>
              </a:rPr>
              <a:t>a</a:t>
            </a:r>
            <a:r>
              <a:rPr kumimoji="0" lang="zh-CN" altLang="zh-CN" b="0" i="0" u="none" strike="noStrike" cap="none" normalizeH="0" baseline="0" dirty="0" smtClean="0">
                <a:ln>
                  <a:noFill/>
                </a:ln>
                <a:solidFill>
                  <a:srgbClr val="CC7832"/>
                </a:solidFill>
                <a:effectLst/>
                <a:latin typeface="Fira Code" panose="020B0809050000020004" pitchFamily="49" charset="0"/>
              </a:rPr>
              <a:t>,</a:t>
            </a:r>
            <a:r>
              <a:rPr kumimoji="0" lang="zh-CN" altLang="zh-CN" b="0" i="0" u="none" strike="noStrike" cap="none" normalizeH="0" baseline="0" dirty="0" smtClean="0">
                <a:ln>
                  <a:noFill/>
                </a:ln>
                <a:solidFill>
                  <a:srgbClr val="A9B7C6"/>
                </a:solidFill>
                <a:effectLst/>
                <a:latin typeface="Fira Code" panose="020B0809050000020004" pitchFamily="49" charset="0"/>
              </a:rPr>
              <a:t>b</a:t>
            </a:r>
            <a:r>
              <a:rPr kumimoji="0" lang="zh-CN" altLang="zh-CN" b="0" i="0" u="none" strike="noStrike" cap="none" normalizeH="0" baseline="0" dirty="0" smtClean="0">
                <a:ln>
                  <a:noFill/>
                </a:ln>
                <a:solidFill>
                  <a:srgbClr val="CC7832"/>
                </a:solidFill>
                <a:effectLst/>
                <a:latin typeface="Fira Code" panose="020B0809050000020004" pitchFamily="49" charset="0"/>
              </a:rPr>
              <a:t>,</a:t>
            </a:r>
            <a:r>
              <a:rPr kumimoji="0" lang="zh-CN" altLang="zh-CN" b="0" i="0" u="none" strike="noStrike" cap="none" normalizeH="0" baseline="0" dirty="0" smtClean="0">
                <a:ln>
                  <a:noFill/>
                </a:ln>
                <a:solidFill>
                  <a:srgbClr val="A9B7C6"/>
                </a:solidFill>
                <a:effectLst/>
                <a:latin typeface="Fira Code" panose="020B0809050000020004" pitchFamily="49" charset="0"/>
              </a:rPr>
              <a:t>c</a:t>
            </a:r>
            <a:r>
              <a:rPr kumimoji="0" lang="zh-CN" altLang="zh-CN" b="0" i="0" u="none" strike="noStrike" cap="none" normalizeH="0" baseline="0" dirty="0" smtClean="0">
                <a:ln>
                  <a:noFill/>
                </a:ln>
                <a:solidFill>
                  <a:srgbClr val="CC7832"/>
                </a:solidFill>
                <a:effectLst/>
                <a:latin typeface="Fira Code" panose="020B0809050000020004" pitchFamily="49" charset="0"/>
              </a:rPr>
              <a:t>,</a:t>
            </a:r>
            <a:r>
              <a:rPr kumimoji="0" lang="zh-CN" altLang="zh-CN" b="0" i="0" u="none" strike="noStrike" cap="none" normalizeH="0" baseline="0" dirty="0" smtClean="0">
                <a:ln>
                  <a:noFill/>
                </a:ln>
                <a:solidFill>
                  <a:srgbClr val="A9B7C6"/>
                </a:solidFill>
                <a:effectLst/>
                <a:latin typeface="Fira Code" panose="020B0809050000020004" pitchFamily="49" charset="0"/>
              </a:rPr>
              <a:t>max</a:t>
            </a:r>
            <a:r>
              <a:rPr kumimoji="0" lang="zh-CN" altLang="zh-CN" b="0" i="0" u="none" strike="noStrike" cap="none" normalizeH="0" baseline="0" dirty="0" smtClean="0">
                <a:ln>
                  <a:noFill/>
                </a:ln>
                <a:solidFill>
                  <a:srgbClr val="CC7832"/>
                </a:solidFill>
                <a:effectLst/>
                <a:latin typeface="Fira Code" panose="020B0809050000020004" pitchFamily="49" charset="0"/>
              </a:rPr>
              <a:t>;</a:t>
            </a:r>
            <a:br>
              <a:rPr kumimoji="0" lang="zh-CN" altLang="zh-CN" b="0" i="0" u="none" strike="noStrike" cap="none" normalizeH="0" baseline="0" dirty="0" smtClean="0">
                <a:ln>
                  <a:noFill/>
                </a:ln>
                <a:solidFill>
                  <a:srgbClr val="CC7832"/>
                </a:solidFill>
                <a:effectLst/>
                <a:latin typeface="Fira Code" panose="020B0809050000020004" pitchFamily="49" charset="0"/>
              </a:rPr>
            </a:br>
            <a:r>
              <a:rPr kumimoji="0" lang="zh-CN" altLang="zh-CN" b="0" i="0" u="none" strike="noStrike" cap="none" normalizeH="0" baseline="0" dirty="0" smtClean="0">
                <a:ln>
                  <a:noFill/>
                </a:ln>
                <a:solidFill>
                  <a:srgbClr val="CC7832"/>
                </a:solidFill>
                <a:effectLst/>
                <a:latin typeface="Fira Code" panose="020B0809050000020004" pitchFamily="49" charset="0"/>
              </a:rPr>
              <a:t>    </a:t>
            </a:r>
            <a:r>
              <a:rPr kumimoji="0" lang="zh-CN" altLang="zh-CN" b="0" i="0" u="none" strike="noStrike" cap="none" normalizeH="0" baseline="0" dirty="0" smtClean="0">
                <a:ln>
                  <a:noFill/>
                </a:ln>
                <a:solidFill>
                  <a:srgbClr val="A9B7C6"/>
                </a:solidFill>
                <a:effectLst/>
                <a:latin typeface="Fira Code" panose="020B0809050000020004" pitchFamily="49" charset="0"/>
              </a:rPr>
              <a:t>scanf(</a:t>
            </a:r>
            <a:r>
              <a:rPr kumimoji="0" lang="zh-CN" altLang="zh-CN" b="0" i="0" u="none" strike="noStrike" cap="none" normalizeH="0" baseline="0" dirty="0" smtClean="0">
                <a:ln>
                  <a:noFill/>
                </a:ln>
                <a:solidFill>
                  <a:srgbClr val="6A8759"/>
                </a:solidFill>
                <a:effectLst/>
                <a:latin typeface="Fira Code" panose="020B0809050000020004" pitchFamily="49" charset="0"/>
              </a:rPr>
              <a:t>"%d</a:t>
            </a:r>
            <a:r>
              <a:rPr kumimoji="0" lang="en-US" altLang="zh-CN" b="0" i="0" u="none" strike="noStrike" cap="none" normalizeH="0" baseline="0" dirty="0" smtClean="0">
                <a:ln>
                  <a:noFill/>
                </a:ln>
                <a:solidFill>
                  <a:srgbClr val="6A8759"/>
                </a:solidFill>
                <a:effectLst/>
                <a:latin typeface="Fira Code" panose="020B0809050000020004" pitchFamily="49" charset="0"/>
              </a:rPr>
              <a:t> </a:t>
            </a:r>
            <a:r>
              <a:rPr kumimoji="0" lang="zh-CN" altLang="zh-CN" b="0" i="0" u="none" strike="noStrike" cap="none" normalizeH="0" baseline="0" dirty="0" smtClean="0">
                <a:ln>
                  <a:noFill/>
                </a:ln>
                <a:solidFill>
                  <a:srgbClr val="6A8759"/>
                </a:solidFill>
                <a:effectLst/>
                <a:latin typeface="Fira Code" panose="020B0809050000020004" pitchFamily="49" charset="0"/>
              </a:rPr>
              <a:t>%d</a:t>
            </a:r>
            <a:r>
              <a:rPr kumimoji="0" lang="en-US" altLang="zh-CN" b="0" i="0" u="none" strike="noStrike" cap="none" normalizeH="0" baseline="0" dirty="0" smtClean="0">
                <a:ln>
                  <a:noFill/>
                </a:ln>
                <a:solidFill>
                  <a:srgbClr val="6A8759"/>
                </a:solidFill>
                <a:effectLst/>
                <a:latin typeface="Fira Code" panose="020B0809050000020004" pitchFamily="49" charset="0"/>
              </a:rPr>
              <a:t> </a:t>
            </a:r>
            <a:r>
              <a:rPr kumimoji="0" lang="zh-CN" altLang="zh-CN" b="0" i="0" u="none" strike="noStrike" cap="none" normalizeH="0" baseline="0" dirty="0" smtClean="0">
                <a:ln>
                  <a:noFill/>
                </a:ln>
                <a:solidFill>
                  <a:srgbClr val="6A8759"/>
                </a:solidFill>
                <a:effectLst/>
                <a:latin typeface="Fira Code" panose="020B0809050000020004" pitchFamily="49" charset="0"/>
              </a:rPr>
              <a:t>%d"</a:t>
            </a:r>
            <a:r>
              <a:rPr kumimoji="0" lang="zh-CN" altLang="zh-CN" b="0" i="0" u="none" strike="noStrike" cap="none" normalizeH="0" baseline="0" dirty="0" smtClean="0">
                <a:ln>
                  <a:noFill/>
                </a:ln>
                <a:solidFill>
                  <a:srgbClr val="CC7832"/>
                </a:solidFill>
                <a:effectLst/>
                <a:latin typeface="Fira Code" panose="020B0809050000020004" pitchFamily="49" charset="0"/>
              </a:rPr>
              <a:t>,</a:t>
            </a:r>
            <a:r>
              <a:rPr kumimoji="0" lang="zh-CN" altLang="zh-CN" b="0" i="0" u="none" strike="noStrike" cap="none" normalizeH="0" baseline="0" dirty="0" smtClean="0">
                <a:ln>
                  <a:noFill/>
                </a:ln>
                <a:solidFill>
                  <a:srgbClr val="A9B7C6"/>
                </a:solidFill>
                <a:effectLst/>
                <a:latin typeface="Fira Code" panose="020B0809050000020004" pitchFamily="49" charset="0"/>
              </a:rPr>
              <a:t>&amp;a</a:t>
            </a:r>
            <a:r>
              <a:rPr kumimoji="0" lang="zh-CN" altLang="zh-CN" b="0" i="0" u="none" strike="noStrike" cap="none" normalizeH="0" baseline="0" dirty="0" smtClean="0">
                <a:ln>
                  <a:noFill/>
                </a:ln>
                <a:solidFill>
                  <a:srgbClr val="CC7832"/>
                </a:solidFill>
                <a:effectLst/>
                <a:latin typeface="Fira Code" panose="020B0809050000020004" pitchFamily="49" charset="0"/>
              </a:rPr>
              <a:t>,</a:t>
            </a:r>
            <a:r>
              <a:rPr kumimoji="0" lang="zh-CN" altLang="zh-CN" b="0" i="0" u="none" strike="noStrike" cap="none" normalizeH="0" baseline="0" dirty="0" smtClean="0">
                <a:ln>
                  <a:noFill/>
                </a:ln>
                <a:solidFill>
                  <a:srgbClr val="A9B7C6"/>
                </a:solidFill>
                <a:effectLst/>
                <a:latin typeface="Fira Code" panose="020B0809050000020004" pitchFamily="49" charset="0"/>
              </a:rPr>
              <a:t>&amp;b</a:t>
            </a:r>
            <a:r>
              <a:rPr kumimoji="0" lang="zh-CN" altLang="zh-CN" b="0" i="0" u="none" strike="noStrike" cap="none" normalizeH="0" baseline="0" dirty="0" smtClean="0">
                <a:ln>
                  <a:noFill/>
                </a:ln>
                <a:solidFill>
                  <a:srgbClr val="CC7832"/>
                </a:solidFill>
                <a:effectLst/>
                <a:latin typeface="Fira Code" panose="020B0809050000020004" pitchFamily="49" charset="0"/>
              </a:rPr>
              <a:t>,</a:t>
            </a:r>
            <a:r>
              <a:rPr kumimoji="0" lang="zh-CN" altLang="zh-CN" b="0" i="0" u="none" strike="noStrike" cap="none" normalizeH="0" baseline="0" dirty="0" smtClean="0">
                <a:ln>
                  <a:noFill/>
                </a:ln>
                <a:solidFill>
                  <a:srgbClr val="A9B7C6"/>
                </a:solidFill>
                <a:effectLst/>
                <a:latin typeface="Fira Code" panose="020B0809050000020004" pitchFamily="49" charset="0"/>
              </a:rPr>
              <a:t>&amp;c)</a:t>
            </a:r>
            <a:r>
              <a:rPr kumimoji="0" lang="zh-CN" altLang="zh-CN" b="0" i="0" u="none" strike="noStrike" cap="none" normalizeH="0" baseline="0" dirty="0" smtClean="0">
                <a:ln>
                  <a:noFill/>
                </a:ln>
                <a:solidFill>
                  <a:srgbClr val="CC7832"/>
                </a:solidFill>
                <a:effectLst/>
                <a:latin typeface="Fira Code" panose="020B0809050000020004" pitchFamily="49" charset="0"/>
              </a:rPr>
              <a:t>;</a:t>
            </a:r>
            <a:br>
              <a:rPr kumimoji="0" lang="zh-CN" altLang="zh-CN" b="0" i="0" u="none" strike="noStrike" cap="none" normalizeH="0" baseline="0" dirty="0" smtClean="0">
                <a:ln>
                  <a:noFill/>
                </a:ln>
                <a:solidFill>
                  <a:srgbClr val="CC7832"/>
                </a:solidFill>
                <a:effectLst/>
                <a:latin typeface="Fira Code" panose="020B0809050000020004" pitchFamily="49" charset="0"/>
              </a:rPr>
            </a:br>
            <a:r>
              <a:rPr kumimoji="0" lang="zh-CN" altLang="zh-CN" b="0" i="0" u="none" strike="noStrike" cap="none" normalizeH="0" baseline="0" dirty="0" smtClean="0">
                <a:ln>
                  <a:noFill/>
                </a:ln>
                <a:solidFill>
                  <a:srgbClr val="CC7832"/>
                </a:solidFill>
                <a:effectLst/>
                <a:latin typeface="Fira Code" panose="020B0809050000020004" pitchFamily="49" charset="0"/>
              </a:rPr>
              <a:t>    if</a:t>
            </a:r>
            <a:r>
              <a:rPr kumimoji="0" lang="zh-CN" altLang="zh-CN" b="0" i="0" u="none" strike="noStrike" cap="none" normalizeH="0" baseline="0" dirty="0" smtClean="0">
                <a:ln>
                  <a:noFill/>
                </a:ln>
                <a:solidFill>
                  <a:srgbClr val="A9B7C6"/>
                </a:solidFill>
                <a:effectLst/>
                <a:latin typeface="Fira Code" panose="020B0809050000020004" pitchFamily="49" charset="0"/>
              </a:rPr>
              <a:t>(a&gt;b)</a:t>
            </a:r>
            <a:br>
              <a:rPr kumimoji="0" lang="zh-CN" altLang="zh-CN" b="0" i="0" u="none" strike="noStrike" cap="none" normalizeH="0" baseline="0" dirty="0" smtClean="0">
                <a:ln>
                  <a:noFill/>
                </a:ln>
                <a:solidFill>
                  <a:srgbClr val="A9B7C6"/>
                </a:solidFill>
                <a:effectLst/>
                <a:latin typeface="Fira Code" panose="020B0809050000020004" pitchFamily="49" charset="0"/>
              </a:rPr>
            </a:br>
            <a:r>
              <a:rPr kumimoji="0" lang="zh-CN" altLang="zh-CN" b="0" i="0" u="none" strike="noStrike" cap="none" normalizeH="0" baseline="0" dirty="0" smtClean="0">
                <a:ln>
                  <a:noFill/>
                </a:ln>
                <a:solidFill>
                  <a:srgbClr val="A9B7C6"/>
                </a:solidFill>
                <a:effectLst/>
                <a:latin typeface="Fira Code" panose="020B0809050000020004" pitchFamily="49" charset="0"/>
              </a:rPr>
              <a:t>        max=a</a:t>
            </a:r>
            <a:r>
              <a:rPr kumimoji="0" lang="zh-CN" altLang="zh-CN" b="0" i="0" u="none" strike="noStrike" cap="none" normalizeH="0" baseline="0" dirty="0" smtClean="0">
                <a:ln>
                  <a:noFill/>
                </a:ln>
                <a:solidFill>
                  <a:srgbClr val="CC7832"/>
                </a:solidFill>
                <a:effectLst/>
                <a:latin typeface="Fira Code" panose="020B0809050000020004" pitchFamily="49" charset="0"/>
              </a:rPr>
              <a:t>;</a:t>
            </a:r>
            <a:br>
              <a:rPr kumimoji="0" lang="zh-CN" altLang="zh-CN" b="0" i="0" u="none" strike="noStrike" cap="none" normalizeH="0" baseline="0" dirty="0" smtClean="0">
                <a:ln>
                  <a:noFill/>
                </a:ln>
                <a:solidFill>
                  <a:srgbClr val="CC7832"/>
                </a:solidFill>
                <a:effectLst/>
                <a:latin typeface="Fira Code" panose="020B0809050000020004" pitchFamily="49" charset="0"/>
              </a:rPr>
            </a:br>
            <a:r>
              <a:rPr kumimoji="0" lang="zh-CN" altLang="zh-CN" b="0" i="0" u="none" strike="noStrike" cap="none" normalizeH="0" baseline="0" dirty="0" smtClean="0">
                <a:ln>
                  <a:noFill/>
                </a:ln>
                <a:solidFill>
                  <a:srgbClr val="CC7832"/>
                </a:solidFill>
                <a:effectLst/>
                <a:latin typeface="Fira Code" panose="020B0809050000020004" pitchFamily="49" charset="0"/>
              </a:rPr>
              <a:t>    else</a:t>
            </a:r>
            <a:br>
              <a:rPr kumimoji="0" lang="zh-CN" altLang="zh-CN" b="0" i="0" u="none" strike="noStrike" cap="none" normalizeH="0" baseline="0" dirty="0" smtClean="0">
                <a:ln>
                  <a:noFill/>
                </a:ln>
                <a:solidFill>
                  <a:srgbClr val="CC7832"/>
                </a:solidFill>
                <a:effectLst/>
                <a:latin typeface="Fira Code" panose="020B0809050000020004" pitchFamily="49" charset="0"/>
              </a:rPr>
            </a:br>
            <a:r>
              <a:rPr kumimoji="0" lang="zh-CN" altLang="zh-CN" b="0" i="0" u="none" strike="noStrike" cap="none" normalizeH="0" baseline="0" dirty="0" smtClean="0">
                <a:ln>
                  <a:noFill/>
                </a:ln>
                <a:solidFill>
                  <a:srgbClr val="CC7832"/>
                </a:solidFill>
                <a:effectLst/>
                <a:latin typeface="Fira Code" panose="020B0809050000020004" pitchFamily="49" charset="0"/>
              </a:rPr>
              <a:t>        </a:t>
            </a:r>
            <a:r>
              <a:rPr kumimoji="0" lang="zh-CN" altLang="zh-CN" b="0" i="0" u="none" strike="noStrike" cap="none" normalizeH="0" baseline="0" dirty="0" smtClean="0">
                <a:ln>
                  <a:noFill/>
                </a:ln>
                <a:solidFill>
                  <a:srgbClr val="A9B7C6"/>
                </a:solidFill>
                <a:effectLst/>
                <a:latin typeface="Fira Code" panose="020B0809050000020004" pitchFamily="49" charset="0"/>
              </a:rPr>
              <a:t>max=b</a:t>
            </a:r>
            <a:r>
              <a:rPr kumimoji="0" lang="zh-CN" altLang="zh-CN" b="0" i="0" u="none" strike="noStrike" cap="none" normalizeH="0" baseline="0" dirty="0" smtClean="0">
                <a:ln>
                  <a:noFill/>
                </a:ln>
                <a:solidFill>
                  <a:srgbClr val="CC7832"/>
                </a:solidFill>
                <a:effectLst/>
                <a:latin typeface="Fira Code" panose="020B0809050000020004" pitchFamily="49" charset="0"/>
              </a:rPr>
              <a:t>;</a:t>
            </a:r>
            <a:br>
              <a:rPr kumimoji="0" lang="zh-CN" altLang="zh-CN" b="0" i="0" u="none" strike="noStrike" cap="none" normalizeH="0" baseline="0" dirty="0" smtClean="0">
                <a:ln>
                  <a:noFill/>
                </a:ln>
                <a:solidFill>
                  <a:srgbClr val="CC7832"/>
                </a:solidFill>
                <a:effectLst/>
                <a:latin typeface="Fira Code" panose="020B0809050000020004" pitchFamily="49" charset="0"/>
              </a:rPr>
            </a:br>
            <a:r>
              <a:rPr kumimoji="0" lang="zh-CN" altLang="zh-CN" b="0" i="0" u="none" strike="noStrike" cap="none" normalizeH="0" baseline="0" dirty="0" smtClean="0">
                <a:ln>
                  <a:noFill/>
                </a:ln>
                <a:solidFill>
                  <a:srgbClr val="CC7832"/>
                </a:solidFill>
                <a:effectLst/>
                <a:latin typeface="Fira Code" panose="020B0809050000020004" pitchFamily="49" charset="0"/>
              </a:rPr>
              <a:t>    if</a:t>
            </a:r>
            <a:r>
              <a:rPr kumimoji="0" lang="zh-CN" altLang="zh-CN" b="0" i="0" u="none" strike="noStrike" cap="none" normalizeH="0" baseline="0" dirty="0" smtClean="0">
                <a:ln>
                  <a:noFill/>
                </a:ln>
                <a:solidFill>
                  <a:srgbClr val="A9B7C6"/>
                </a:solidFill>
                <a:effectLst/>
                <a:latin typeface="Fira Code" panose="020B0809050000020004" pitchFamily="49" charset="0"/>
              </a:rPr>
              <a:t>(max&lt;c)</a:t>
            </a:r>
            <a:br>
              <a:rPr kumimoji="0" lang="zh-CN" altLang="zh-CN" b="0" i="0" u="none" strike="noStrike" cap="none" normalizeH="0" baseline="0" dirty="0" smtClean="0">
                <a:ln>
                  <a:noFill/>
                </a:ln>
                <a:solidFill>
                  <a:srgbClr val="A9B7C6"/>
                </a:solidFill>
                <a:effectLst/>
                <a:latin typeface="Fira Code" panose="020B0809050000020004" pitchFamily="49" charset="0"/>
              </a:rPr>
            </a:br>
            <a:r>
              <a:rPr kumimoji="0" lang="zh-CN" altLang="zh-CN" b="0" i="0" u="none" strike="noStrike" cap="none" normalizeH="0" baseline="0" dirty="0" smtClean="0">
                <a:ln>
                  <a:noFill/>
                </a:ln>
                <a:solidFill>
                  <a:srgbClr val="A9B7C6"/>
                </a:solidFill>
                <a:effectLst/>
                <a:latin typeface="Fira Code" panose="020B0809050000020004" pitchFamily="49" charset="0"/>
              </a:rPr>
              <a:t>        max=c</a:t>
            </a:r>
            <a:r>
              <a:rPr kumimoji="0" lang="zh-CN" altLang="zh-CN" b="0" i="0" u="none" strike="noStrike" cap="none" normalizeH="0" baseline="0" dirty="0" smtClean="0">
                <a:ln>
                  <a:noFill/>
                </a:ln>
                <a:solidFill>
                  <a:srgbClr val="CC7832"/>
                </a:solidFill>
                <a:effectLst/>
                <a:latin typeface="Fira Code" panose="020B0809050000020004" pitchFamily="49" charset="0"/>
              </a:rPr>
              <a:t>;</a:t>
            </a:r>
            <a:br>
              <a:rPr kumimoji="0" lang="zh-CN" altLang="zh-CN" b="0" i="0" u="none" strike="noStrike" cap="none" normalizeH="0" baseline="0" dirty="0" smtClean="0">
                <a:ln>
                  <a:noFill/>
                </a:ln>
                <a:solidFill>
                  <a:srgbClr val="CC7832"/>
                </a:solidFill>
                <a:effectLst/>
                <a:latin typeface="Fira Code" panose="020B0809050000020004" pitchFamily="49" charset="0"/>
              </a:rPr>
            </a:br>
            <a:r>
              <a:rPr kumimoji="0" lang="zh-CN" altLang="zh-CN" b="0" i="0" u="none" strike="noStrike" cap="none" normalizeH="0" baseline="0" dirty="0" smtClean="0">
                <a:ln>
                  <a:noFill/>
                </a:ln>
                <a:solidFill>
                  <a:srgbClr val="CC7832"/>
                </a:solidFill>
                <a:effectLst/>
                <a:latin typeface="Fira Code" panose="020B0809050000020004" pitchFamily="49" charset="0"/>
              </a:rPr>
              <a:t>    </a:t>
            </a:r>
            <a:r>
              <a:rPr kumimoji="0" lang="zh-CN" altLang="zh-CN" b="0" i="0" u="none" strike="noStrike" cap="none" normalizeH="0" baseline="0" dirty="0" smtClean="0">
                <a:ln>
                  <a:noFill/>
                </a:ln>
                <a:solidFill>
                  <a:srgbClr val="A9B7C6"/>
                </a:solidFill>
                <a:effectLst/>
                <a:latin typeface="Fira Code" panose="020B0809050000020004" pitchFamily="49" charset="0"/>
              </a:rPr>
              <a:t>printf(</a:t>
            </a:r>
            <a:r>
              <a:rPr kumimoji="0" lang="zh-CN" altLang="zh-CN" b="0" i="0" u="none" strike="noStrike" cap="none" normalizeH="0" baseline="0" dirty="0" smtClean="0">
                <a:ln>
                  <a:noFill/>
                </a:ln>
                <a:solidFill>
                  <a:srgbClr val="6A8759"/>
                </a:solidFill>
                <a:effectLst/>
                <a:latin typeface="Fira Code" panose="020B0809050000020004" pitchFamily="49" charset="0"/>
              </a:rPr>
              <a:t>"max=%d"</a:t>
            </a:r>
            <a:r>
              <a:rPr kumimoji="0" lang="zh-CN" altLang="zh-CN" b="0" i="0" u="none" strike="noStrike" cap="none" normalizeH="0" baseline="0" dirty="0" smtClean="0">
                <a:ln>
                  <a:noFill/>
                </a:ln>
                <a:solidFill>
                  <a:srgbClr val="CC7832"/>
                </a:solidFill>
                <a:effectLst/>
                <a:latin typeface="Fira Code" panose="020B0809050000020004" pitchFamily="49" charset="0"/>
              </a:rPr>
              <a:t>,</a:t>
            </a:r>
            <a:r>
              <a:rPr kumimoji="0" lang="zh-CN" altLang="zh-CN" b="0" i="0" u="none" strike="noStrike" cap="none" normalizeH="0" baseline="0" dirty="0" smtClean="0">
                <a:ln>
                  <a:noFill/>
                </a:ln>
                <a:solidFill>
                  <a:srgbClr val="A9B7C6"/>
                </a:solidFill>
                <a:effectLst/>
                <a:latin typeface="Fira Code" panose="020B0809050000020004" pitchFamily="49" charset="0"/>
              </a:rPr>
              <a:t>max)</a:t>
            </a:r>
            <a:r>
              <a:rPr kumimoji="0" lang="zh-CN" altLang="zh-CN" b="0" i="0" u="none" strike="noStrike" cap="none" normalizeH="0" baseline="0" dirty="0" smtClean="0">
                <a:ln>
                  <a:noFill/>
                </a:ln>
                <a:solidFill>
                  <a:srgbClr val="CC7832"/>
                </a:solidFill>
                <a:effectLst/>
                <a:latin typeface="Fira Code" panose="020B0809050000020004" pitchFamily="49" charset="0"/>
              </a:rPr>
              <a:t>;</a:t>
            </a:r>
            <a:br>
              <a:rPr kumimoji="0" lang="zh-CN" altLang="zh-CN" b="0" i="0" u="none" strike="noStrike" cap="none" normalizeH="0" baseline="0" dirty="0" smtClean="0">
                <a:ln>
                  <a:noFill/>
                </a:ln>
                <a:solidFill>
                  <a:srgbClr val="CC7832"/>
                </a:solidFill>
                <a:effectLst/>
                <a:latin typeface="Fira Code" panose="020B0809050000020004" pitchFamily="49" charset="0"/>
              </a:rPr>
            </a:br>
            <a:r>
              <a:rPr kumimoji="0" lang="zh-CN" altLang="zh-CN" b="0" i="0" u="none" strike="noStrike" cap="none" normalizeH="0" baseline="0" dirty="0" smtClean="0">
                <a:ln>
                  <a:noFill/>
                </a:ln>
                <a:solidFill>
                  <a:srgbClr val="CC7832"/>
                </a:solidFill>
                <a:effectLst/>
                <a:latin typeface="Fira Code" panose="020B0809050000020004" pitchFamily="49" charset="0"/>
              </a:rPr>
              <a:t>    return </a:t>
            </a:r>
            <a:r>
              <a:rPr kumimoji="0" lang="zh-CN" altLang="zh-CN" b="0" i="0" u="none" strike="noStrike" cap="none" normalizeH="0" baseline="0" dirty="0" smtClean="0">
                <a:ln>
                  <a:noFill/>
                </a:ln>
                <a:solidFill>
                  <a:srgbClr val="6897BB"/>
                </a:solidFill>
                <a:effectLst/>
                <a:latin typeface="Fira Code" panose="020B0809050000020004" pitchFamily="49" charset="0"/>
              </a:rPr>
              <a:t>0</a:t>
            </a:r>
            <a:r>
              <a:rPr kumimoji="0" lang="zh-CN" altLang="zh-CN" b="0" i="0" u="none" strike="noStrike" cap="none" normalizeH="0" baseline="0" dirty="0" smtClean="0">
                <a:ln>
                  <a:noFill/>
                </a:ln>
                <a:solidFill>
                  <a:srgbClr val="CC7832"/>
                </a:solidFill>
                <a:effectLst/>
                <a:latin typeface="Fira Code" panose="020B0809050000020004" pitchFamily="49" charset="0"/>
              </a:rPr>
              <a:t>;</a:t>
            </a:r>
            <a:br>
              <a:rPr kumimoji="0" lang="zh-CN" altLang="zh-CN" b="0" i="0" u="none" strike="noStrike" cap="none" normalizeH="0" baseline="0" dirty="0" smtClean="0">
                <a:ln>
                  <a:noFill/>
                </a:ln>
                <a:solidFill>
                  <a:srgbClr val="CC7832"/>
                </a:solidFill>
                <a:effectLst/>
                <a:latin typeface="Fira Code" panose="020B0809050000020004" pitchFamily="49" charset="0"/>
              </a:rPr>
            </a:br>
            <a:r>
              <a:rPr kumimoji="0" lang="zh-CN" altLang="zh-CN" b="0" i="0" u="none" strike="noStrike" cap="none" normalizeH="0" baseline="0" dirty="0" smtClean="0">
                <a:ln>
                  <a:noFill/>
                </a:ln>
                <a:solidFill>
                  <a:srgbClr val="A9B7C6"/>
                </a:solidFill>
                <a:effectLst/>
                <a:latin typeface="Fira Code" panose="020B0809050000020004" pitchFamily="49" charset="0"/>
              </a:rPr>
              <a:t>}</a:t>
            </a:r>
            <a:endParaRPr kumimoji="0" lang="zh-CN" altLang="zh-CN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712538" y="1675367"/>
            <a:ext cx="98360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spc="-30" dirty="0" smtClean="0">
                <a:solidFill>
                  <a:srgbClr val="252525"/>
                </a:solidFill>
                <a:latin typeface="宋体"/>
                <a:cs typeface="宋体"/>
              </a:rPr>
              <a:t>代码</a:t>
            </a:r>
            <a:r>
              <a:rPr lang="en-US" altLang="zh-CN" b="1" spc="-30" dirty="0" smtClean="0">
                <a:solidFill>
                  <a:srgbClr val="252525"/>
                </a:solidFill>
                <a:latin typeface="宋体"/>
                <a:cs typeface="宋体"/>
              </a:rPr>
              <a:t>1</a:t>
            </a:r>
            <a:r>
              <a:rPr lang="zh-CN" altLang="en-US" b="1" spc="-30" dirty="0" smtClean="0">
                <a:solidFill>
                  <a:srgbClr val="252525"/>
                </a:solidFill>
                <a:latin typeface="宋体"/>
                <a:cs typeface="宋体"/>
              </a:rPr>
              <a:t>：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2707884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4770,&quot;width&quot;:10425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628</TotalTime>
  <Words>1899</Words>
  <Application>Microsoft Office PowerPoint</Application>
  <PresentationFormat>宽屏</PresentationFormat>
  <Paragraphs>188</Paragraphs>
  <Slides>33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33</vt:i4>
      </vt:variant>
    </vt:vector>
  </HeadingPairs>
  <TitlesOfParts>
    <vt:vector size="43" baseType="lpstr">
      <vt:lpstr>等线</vt:lpstr>
      <vt:lpstr>思源黑体 Regular</vt:lpstr>
      <vt:lpstr>宋体</vt:lpstr>
      <vt:lpstr>微软雅黑</vt:lpstr>
      <vt:lpstr>Arial</vt:lpstr>
      <vt:lpstr>Calibri</vt:lpstr>
      <vt:lpstr>Fira Code</vt:lpstr>
      <vt:lpstr>Segoe UI</vt:lpstr>
      <vt:lpstr>Times New Roman</vt:lpstr>
      <vt:lpstr>Office Theme</vt:lpstr>
      <vt:lpstr>01 C语言上机集成开发环境</vt:lpstr>
      <vt:lpstr>开发步骤 </vt:lpstr>
      <vt:lpstr>C语言编译器</vt:lpstr>
      <vt:lpstr>C语言集成开发环境</vt:lpstr>
      <vt:lpstr>常见错误分析</vt:lpstr>
      <vt:lpstr>常见错误分析</vt:lpstr>
      <vt:lpstr>常见错误分析</vt:lpstr>
      <vt:lpstr>常见错误分析</vt:lpstr>
      <vt:lpstr>常见错误分析</vt:lpstr>
      <vt:lpstr>常见错误分析</vt:lpstr>
      <vt:lpstr>PowerPoint 演示文稿</vt:lpstr>
      <vt:lpstr>1、创建程序</vt:lpstr>
      <vt:lpstr>1、创建程序</vt:lpstr>
      <vt:lpstr>1、创建程序</vt:lpstr>
      <vt:lpstr>2、添加代码文件 </vt:lpstr>
      <vt:lpstr>2、添加代码文件 </vt:lpstr>
      <vt:lpstr>3、输入代码</vt:lpstr>
      <vt:lpstr>4、编译</vt:lpstr>
      <vt:lpstr>5、运行</vt:lpstr>
      <vt:lpstr>VS2010中的调试 </vt:lpstr>
      <vt:lpstr>VS2010中的调试 </vt:lpstr>
      <vt:lpstr>VS2010中的调试 </vt:lpstr>
      <vt:lpstr>VS2010中的调试 </vt:lpstr>
      <vt:lpstr>VS2010中的调试 </vt:lpstr>
      <vt:lpstr>VS2010中的调试 </vt:lpstr>
      <vt:lpstr>C语言程序编译调试环境应用实战背景</vt:lpstr>
      <vt:lpstr>实验内容</vt:lpstr>
      <vt:lpstr>实战意义</vt:lpstr>
      <vt:lpstr>C程序结构</vt:lpstr>
      <vt:lpstr>C程序结构</vt:lpstr>
      <vt:lpstr>案例演示</vt:lpstr>
      <vt:lpstr>案例演示</vt:lpstr>
      <vt:lpstr>案例演示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8802</dc:creator>
  <cp:lastModifiedBy>zhu jw</cp:lastModifiedBy>
  <cp:revision>33</cp:revision>
  <dcterms:created xsi:type="dcterms:W3CDTF">2022-09-11T01:19:30Z</dcterms:created>
  <dcterms:modified xsi:type="dcterms:W3CDTF">2023-09-19T02:11:20Z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2021-11-14T00:00:00Z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2022-09-11T00:00:00Z</vt:filetime>
  </property>
</Properties>
</file>