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3.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notesSlides/notesSlide4.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notesSlides/notesSlide5.xml" ContentType="application/vnd.openxmlformats-officedocument.presentationml.notesSlid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notesSlides/notesSlide6.xml" ContentType="application/vnd.openxmlformats-officedocument.presentationml.notesSlide+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notesSlides/notesSlide7.xml" ContentType="application/vnd.openxmlformats-officedocument.presentationml.notesSlide+xml"/>
  <Override PartName="/ppt/tags/tag34.xml" ContentType="application/vnd.openxmlformats-officedocument.presentationml.tags+xml"/>
  <Override PartName="/ppt/notesSlides/notesSlide8.xml" ContentType="application/vnd.openxmlformats-officedocument.presentationml.notesSlide+xml"/>
  <Override PartName="/ppt/tags/tag35.xml" ContentType="application/vnd.openxmlformats-officedocument.presentationml.tags+xml"/>
  <Override PartName="/ppt/notesSlides/notesSlide9.xml" ContentType="application/vnd.openxmlformats-officedocument.presentationml.notesSlide+xml"/>
  <Override PartName="/ppt/tags/tag36.xml" ContentType="application/vnd.openxmlformats-officedocument.presentationml.tags+xml"/>
  <Override PartName="/ppt/tags/tag37.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notesSlides/notesSlide13.xml" ContentType="application/vnd.openxmlformats-officedocument.presentationml.notesSlide+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notesSlides/notesSlide14.xml" ContentType="application/vnd.openxmlformats-officedocument.presentationml.notesSlide+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notesSlides/notesSlide15.xml" ContentType="application/vnd.openxmlformats-officedocument.presentationml.notesSlide+xml"/>
  <Override PartName="/ppt/tags/tag61.xml" ContentType="application/vnd.openxmlformats-officedocument.presentationml.tags+xml"/>
  <Override PartName="/ppt/tags/tag62.xml" ContentType="application/vnd.openxmlformats-officedocument.presentationml.tags+xml"/>
  <Override PartName="/ppt/notesSlides/notesSlide16.xml" ContentType="application/vnd.openxmlformats-officedocument.presentationml.notesSlide+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notesSlides/notesSlide17.xml" ContentType="application/vnd.openxmlformats-officedocument.presentationml.notesSlide+xml"/>
  <Override PartName="/ppt/tags/tag66.xml" ContentType="application/vnd.openxmlformats-officedocument.presentationml.tags+xml"/>
  <Override PartName="/ppt/tags/tag67.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2"/>
  </p:notesMasterIdLst>
  <p:sldIdLst>
    <p:sldId id="276" r:id="rId2"/>
    <p:sldId id="652" r:id="rId3"/>
    <p:sldId id="994" r:id="rId4"/>
    <p:sldId id="1079" r:id="rId5"/>
    <p:sldId id="1122" r:id="rId6"/>
    <p:sldId id="998" r:id="rId7"/>
    <p:sldId id="1131" r:id="rId8"/>
    <p:sldId id="1000" r:id="rId9"/>
    <p:sldId id="1001" r:id="rId10"/>
    <p:sldId id="1133" r:id="rId11"/>
    <p:sldId id="1003" r:id="rId12"/>
    <p:sldId id="1004" r:id="rId13"/>
    <p:sldId id="1125" r:id="rId14"/>
    <p:sldId id="1006" r:id="rId15"/>
    <p:sldId id="1007" r:id="rId16"/>
    <p:sldId id="1008" r:id="rId17"/>
    <p:sldId id="1126" r:id="rId18"/>
    <p:sldId id="1010" r:id="rId19"/>
    <p:sldId id="1011" r:id="rId20"/>
    <p:sldId id="1012" r:id="rId21"/>
    <p:sldId id="1013" r:id="rId22"/>
    <p:sldId id="1014" r:id="rId23"/>
    <p:sldId id="1182" r:id="rId24"/>
    <p:sldId id="1183" r:id="rId25"/>
    <p:sldId id="1127" r:id="rId26"/>
    <p:sldId id="1016" r:id="rId27"/>
    <p:sldId id="1017" r:id="rId28"/>
    <p:sldId id="1018" r:id="rId29"/>
    <p:sldId id="1019" r:id="rId30"/>
    <p:sldId id="1020" r:id="rId31"/>
    <p:sldId id="1021" r:id="rId32"/>
    <p:sldId id="1022" r:id="rId33"/>
    <p:sldId id="1173" r:id="rId34"/>
    <p:sldId id="1023" r:id="rId35"/>
    <p:sldId id="1024" r:id="rId36"/>
    <p:sldId id="1176" r:id="rId37"/>
    <p:sldId id="1128" r:id="rId38"/>
    <p:sldId id="1026" r:id="rId39"/>
    <p:sldId id="1027" r:id="rId40"/>
    <p:sldId id="1028" r:id="rId41"/>
    <p:sldId id="1029" r:id="rId42"/>
    <p:sldId id="1030" r:id="rId43"/>
    <p:sldId id="1031" r:id="rId44"/>
    <p:sldId id="1129" r:id="rId45"/>
    <p:sldId id="1033" r:id="rId46"/>
    <p:sldId id="1034" r:id="rId47"/>
    <p:sldId id="1130" r:id="rId48"/>
    <p:sldId id="1036" r:id="rId49"/>
    <p:sldId id="1037" r:id="rId50"/>
    <p:sldId id="1038" r:id="rId51"/>
  </p:sldIdLst>
  <p:sldSz cx="12192000" cy="6858000"/>
  <p:notesSz cx="6858000" cy="9144000"/>
  <p:custDataLst>
    <p:tags r:id="rId5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hengdan li" initials="zl" lastIdx="1" clrIdx="0"/>
  <p:cmAuthor id="2" name="lizhengdan" initials="l" lastIdx="1"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2C0FD"/>
    <a:srgbClr val="CCECFF"/>
    <a:srgbClr val="1100CC"/>
    <a:srgbClr val="FBE9E8"/>
    <a:srgbClr val="DAE0CE"/>
    <a:srgbClr val="782367"/>
    <a:srgbClr val="AA3516"/>
    <a:srgbClr val="FF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77" d="100"/>
          <a:sy n="77" d="100"/>
        </p:scale>
        <p:origin x="228" y="4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gs" Target="tags/tag1.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2024/10/22</a:t>
            </a:fld>
            <a:endParaRPr lang="zh-CN" altLang="en-US"/>
          </a:p>
        </p:txBody>
      </p:sp>
      <p:sp>
        <p:nvSpPr>
          <p:cNvPr id="4" name="幻灯片图像占位符 3"/>
          <p:cNvSpPr>
            <a:spLocks noGrp="1" noRot="1" noChangeAspect="1"/>
          </p:cNvSpPr>
          <p:nvPr>
            <p:ph type="sldImg" idx="2"/>
          </p:nvPr>
        </p:nvSpPr>
        <p:spPr>
          <a:xfrm>
            <a:off x="685530" y="1143000"/>
            <a:ext cx="548694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88DEE91-9E5B-4C90-98E0-D34F93C6BF12}"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88DEE91-9E5B-4C90-98E0-D34F93C6BF12}" type="slidenum">
              <a:rPr lang="zh-CN" altLang="en-US" smtClean="0"/>
              <a:t>4</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上一页</a:t>
            </a:r>
            <a:r>
              <a:rPr lang="en-US" altLang="zh-CN"/>
              <a:t>ppt</a:t>
            </a:r>
            <a:r>
              <a:rPr lang="zh-CN" altLang="en-US"/>
              <a:t>讲到的</a:t>
            </a:r>
            <a:r>
              <a:rPr b="1" kern="0" spc="-50" dirty="0">
                <a:solidFill>
                  <a:srgbClr val="1100CC">
                    <a:alpha val="100000"/>
                  </a:srgbClr>
                </a:solidFill>
                <a:latin typeface="微软雅黑" panose="020B0503020204020204" charset="-122"/>
                <a:ea typeface="微软雅黑" panose="020B0503020204020204" charset="-122"/>
                <a:cs typeface="微软雅黑" panose="020B0503020204020204" charset="-122"/>
                <a:sym typeface="+mn-ea"/>
              </a:rPr>
              <a:t>struct</a:t>
            </a:r>
            <a:r>
              <a:rPr b="1" kern="0" spc="140" dirty="0">
                <a:solidFill>
                  <a:srgbClr val="1100CC">
                    <a:alpha val="100000"/>
                  </a:srgbClr>
                </a:solidFill>
                <a:latin typeface="微软雅黑" panose="020B0503020204020204" charset="-122"/>
                <a:ea typeface="微软雅黑" panose="020B0503020204020204" charset="-122"/>
                <a:cs typeface="微软雅黑" panose="020B0503020204020204" charset="-122"/>
                <a:sym typeface="+mn-ea"/>
              </a:rPr>
              <a:t> </a:t>
            </a:r>
            <a:r>
              <a:rPr b="1" kern="0" spc="-50" dirty="0">
                <a:solidFill>
                  <a:srgbClr val="1100CC">
                    <a:alpha val="100000"/>
                  </a:srgbClr>
                </a:solidFill>
                <a:latin typeface="微软雅黑" panose="020B0503020204020204" charset="-122"/>
                <a:ea typeface="微软雅黑" panose="020B0503020204020204" charset="-122"/>
                <a:cs typeface="微软雅黑" panose="020B0503020204020204" charset="-122"/>
                <a:sym typeface="+mn-ea"/>
              </a:rPr>
              <a:t>Dat</a:t>
            </a:r>
            <a:r>
              <a:rPr b="1" kern="0" spc="-60" dirty="0">
                <a:solidFill>
                  <a:srgbClr val="1100CC">
                    <a:alpha val="100000"/>
                  </a:srgbClr>
                </a:solidFill>
                <a:latin typeface="微软雅黑" panose="020B0503020204020204" charset="-122"/>
                <a:ea typeface="微软雅黑" panose="020B0503020204020204" charset="-122"/>
                <a:cs typeface="微软雅黑" panose="020B0503020204020204" charset="-122"/>
                <a:sym typeface="+mn-ea"/>
              </a:rPr>
              <a:t>e</a:t>
            </a:r>
            <a:r>
              <a:rPr b="1" kern="0" spc="100" dirty="0">
                <a:solidFill>
                  <a:srgbClr val="1100CC">
                    <a:alpha val="100000"/>
                  </a:srgbClr>
                </a:solidFill>
                <a:latin typeface="微软雅黑" panose="020B0503020204020204" charset="-122"/>
                <a:ea typeface="微软雅黑" panose="020B0503020204020204" charset="-122"/>
                <a:cs typeface="微软雅黑" panose="020B0503020204020204" charset="-122"/>
                <a:sym typeface="+mn-ea"/>
              </a:rPr>
              <a:t> </a:t>
            </a:r>
            <a:r>
              <a:rPr b="1" kern="0" spc="-60" dirty="0">
                <a:solidFill>
                  <a:srgbClr val="1100CC">
                    <a:alpha val="100000"/>
                  </a:srgbClr>
                </a:solidFill>
                <a:latin typeface="微软雅黑" panose="020B0503020204020204" charset="-122"/>
                <a:ea typeface="微软雅黑" panose="020B0503020204020204" charset="-122"/>
                <a:cs typeface="微软雅黑" panose="020B0503020204020204" charset="-122"/>
                <a:sym typeface="+mn-ea"/>
              </a:rPr>
              <a:t>birthday</a:t>
            </a:r>
            <a:r>
              <a:rPr lang="en-US" b="1" kern="0" spc="-60" dirty="0">
                <a:solidFill>
                  <a:srgbClr val="1100CC">
                    <a:alpha val="100000"/>
                  </a:srgbClr>
                </a:solidFill>
                <a:latin typeface="微软雅黑" panose="020B0503020204020204" charset="-122"/>
                <a:ea typeface="微软雅黑" panose="020B0503020204020204" charset="-122"/>
                <a:cs typeface="微软雅黑" panose="020B0503020204020204" charset="-122"/>
                <a:sym typeface="+mn-ea"/>
              </a:rPr>
              <a:t>;</a:t>
            </a:r>
            <a:r>
              <a:rPr lang="zh-CN" altLang="en-US" b="1" kern="0" spc="-60" dirty="0">
                <a:solidFill>
                  <a:srgbClr val="1100CC">
                    <a:alpha val="100000"/>
                  </a:srgbClr>
                </a:solidFill>
                <a:latin typeface="微软雅黑" panose="020B0503020204020204" charset="-122"/>
                <a:ea typeface="微软雅黑" panose="020B0503020204020204" charset="-122"/>
                <a:cs typeface="微软雅黑" panose="020B0503020204020204" charset="-122"/>
                <a:sym typeface="+mn-ea"/>
              </a:rPr>
              <a:t>属于定义变量的第一种类型</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%o意思是以八进制整型式输出整数。</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88DEE91-9E5B-4C90-98E0-D34F93C6BF12}" type="slidenum">
              <a:rPr lang="zh-CN" altLang="en-US" smtClean="0"/>
              <a:t>13</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88DEE91-9E5B-4C90-98E0-D34F93C6BF12}" type="slidenum">
              <a:rPr lang="zh-CN" altLang="en-US" smtClean="0"/>
              <a:t>17</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r>
              <a:rPr lang="zh-CN" altLang="en-US"/>
              <a:t>-20s表示以字符串的格式输出，位宽为20，左对齐</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r>
              <a:rPr lang="zh-CN" altLang="en-US"/>
              <a:t>用指向结构体变量（或数组元素）的指针作实参，将结构体变量</a:t>
            </a:r>
            <a:r>
              <a:rPr lang="zh-CN" altLang="en-US">
                <a:sym typeface="+mn-ea"/>
              </a:rPr>
              <a:t>（或数组元素）的地址传给形参。</a:t>
            </a:r>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r>
              <a:rPr lang="zh-CN" altLang="en-US"/>
              <a:t>改一下明天</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r>
              <a:rPr lang="zh-CN" altLang="en-US"/>
              <a:t>改一下明天</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88DEE91-9E5B-4C90-98E0-D34F93C6BF12}" type="slidenum">
              <a:rPr lang="zh-CN" altLang="en-US" smtClean="0"/>
              <a:t>25</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r>
              <a:rPr lang="zh-CN" altLang="en-US"/>
              <a:t>前边介绍了结构体变量，用它去建立链表是最合适的。一个结构体变量包含若干个成员，这些成员可以是数值类型，字符类型、数组类型。</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r>
              <a:rPr lang="zh-CN" altLang="en-US"/>
              <a:t>将链表中各节点的数据依次输出。</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88DEE91-9E5B-4C90-98E0-D34F93C6BF12}" type="slidenum">
              <a:rPr lang="zh-CN" altLang="en-US" smtClean="0"/>
              <a:t>37</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r>
              <a:rPr lang="zh-CN" altLang="en-US"/>
              <a:t>修改</a:t>
            </a:r>
            <a:r>
              <a:rPr lang="en-US" altLang="zh-CN"/>
              <a:t>ppt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88DEE91-9E5B-4C90-98E0-D34F93C6BF12}" type="slidenum">
              <a:rPr lang="zh-CN" altLang="en-US" smtClean="0"/>
              <a:t>44</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88DEE91-9E5B-4C90-98E0-D34F93C6BF12}" type="slidenum">
              <a:rPr lang="zh-CN" altLang="en-US" smtClean="0"/>
              <a:t>47</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83" y="365125"/>
            <a:ext cx="10516635" cy="1325563"/>
          </a:xfrm>
          <a:prstGeom prst="rect">
            <a:avLst/>
          </a:prstGeom>
        </p:spPr>
        <p:txBody>
          <a:bodyPr/>
          <a:lstStyle/>
          <a:p>
            <a:r>
              <a:rPr lang="zh-CN" altLang="en-US"/>
              <a:t>单击此处编辑母版标题样式</a:t>
            </a:r>
          </a:p>
        </p:txBody>
      </p:sp>
      <p:sp>
        <p:nvSpPr>
          <p:cNvPr id="3" name="内容占位符 2"/>
          <p:cNvSpPr>
            <a:spLocks noGrp="1"/>
          </p:cNvSpPr>
          <p:nvPr>
            <p:ph idx="1" hasCustomPrompt="1"/>
          </p:nvPr>
        </p:nvSpPr>
        <p:spPr>
          <a:xfrm>
            <a:off x="838283" y="1825625"/>
            <a:ext cx="10516635" cy="4351339"/>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838283" y="6356351"/>
            <a:ext cx="2743470" cy="365125"/>
          </a:xfrm>
          <a:prstGeom prst="rect">
            <a:avLst/>
          </a:prstGeom>
        </p:spPr>
        <p:txBody>
          <a:bodyPr/>
          <a:lstStyle/>
          <a:p>
            <a:fld id="{1C3BB909-BA8B-4CC5-AF4F-417D76428D47}" type="datetimeFigureOut">
              <a:rPr lang="zh-CN" altLang="en-US" smtClean="0"/>
              <a:t>2024/10/22</a:t>
            </a:fld>
            <a:endParaRPr lang="zh-CN" altLang="en-US"/>
          </a:p>
        </p:txBody>
      </p:sp>
      <p:sp>
        <p:nvSpPr>
          <p:cNvPr id="5" name="页脚占位符 4"/>
          <p:cNvSpPr>
            <a:spLocks noGrp="1"/>
          </p:cNvSpPr>
          <p:nvPr>
            <p:ph type="ftr" sz="quarter" idx="11"/>
          </p:nvPr>
        </p:nvSpPr>
        <p:spPr>
          <a:xfrm>
            <a:off x="4038998" y="6356351"/>
            <a:ext cx="4115205"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1448" y="6356351"/>
            <a:ext cx="2743470" cy="365125"/>
          </a:xfrm>
          <a:prstGeom prst="rect">
            <a:avLst/>
          </a:prstGeom>
        </p:spPr>
        <p:txBody>
          <a:bodyPr/>
          <a:lstStyle/>
          <a:p>
            <a:fld id="{1A1A799A-9E7D-41E1-9473-F8C111ED8211}"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正文">
    <p:bg>
      <p:bgPr>
        <a:solidFill>
          <a:schemeClr val="bg1"/>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609660" y="1066800"/>
            <a:ext cx="10973880" cy="5059363"/>
          </a:xfrm>
          <a:prstGeom prst="rect">
            <a:avLst/>
          </a:prstGeom>
        </p:spPr>
        <p:txBody>
          <a:bodyPr/>
          <a:lstStyle>
            <a:lvl1pPr>
              <a:lnSpc>
                <a:spcPct val="150000"/>
              </a:lnSpc>
              <a:defRPr sz="2400"/>
            </a:lvl1pPr>
            <a:lvl2pPr>
              <a:lnSpc>
                <a:spcPct val="150000"/>
              </a:lnSpc>
              <a:defRPr sz="2000"/>
            </a:lvl2pPr>
            <a:lvl3pPr>
              <a:lnSpc>
                <a:spcPct val="150000"/>
              </a:lnSpc>
              <a:defRPr sz="1800"/>
            </a:lvl3pPr>
            <a:lvl4pPr>
              <a:lnSpc>
                <a:spcPct val="150000"/>
              </a:lnSpc>
              <a:defRPr sz="1600"/>
            </a:lvl4pPr>
            <a:lvl5pPr>
              <a:lnSpc>
                <a:spcPct val="150000"/>
              </a:lnSpc>
              <a:defRPr sz="16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 name="日期占位符 1"/>
          <p:cNvSpPr>
            <a:spLocks noGrp="1"/>
          </p:cNvSpPr>
          <p:nvPr>
            <p:ph type="dt" sz="half" idx="10"/>
          </p:nvPr>
        </p:nvSpPr>
        <p:spPr>
          <a:xfrm>
            <a:off x="838283" y="6356351"/>
            <a:ext cx="2743470"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6CE1F9FB-DACA-49B5-8A56-3AE278C745E0}" type="datetimeFigureOut">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rPr>
              <a:t>2024/10/22</a:t>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4" name="页脚占位符 3"/>
          <p:cNvSpPr>
            <a:spLocks noGrp="1"/>
          </p:cNvSpPr>
          <p:nvPr>
            <p:ph type="ftr" sz="quarter" idx="11"/>
          </p:nvPr>
        </p:nvSpPr>
        <p:spPr>
          <a:xfrm>
            <a:off x="4038998" y="6356351"/>
            <a:ext cx="4115205"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5" name="灯片编号占位符 4"/>
          <p:cNvSpPr>
            <a:spLocks noGrp="1"/>
          </p:cNvSpPr>
          <p:nvPr>
            <p:ph type="sldNum" sz="quarter" idx="12"/>
          </p:nvPr>
        </p:nvSpPr>
        <p:spPr>
          <a:xfrm>
            <a:off x="8611448" y="6356351"/>
            <a:ext cx="2743470" cy="365125"/>
          </a:xfrm>
        </p:spPr>
        <p:txBody>
          <a:bodyPr/>
          <a:lstStyle/>
          <a:p>
            <a:pPr lvl="0" eaLnBrk="1" hangingPunct="1">
              <a:buNone/>
            </a:pPr>
            <a:fld id="{9A0DB2DC-4C9A-4742-B13C-FB6460FD3503}" type="slidenum">
              <a:rPr lang="zh-CN" altLang="en-US" dirty="0"/>
              <a:t>‹#›</a:t>
            </a:fld>
            <a:endParaRPr lang="zh-CN" altLang="en-US" dirty="0">
              <a:latin typeface="Arial" panose="020B060402020209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小结">
    <p:bg>
      <p:bgPr>
        <a:solidFill>
          <a:schemeClr val="bg1"/>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609660" y="1066800"/>
            <a:ext cx="10973880" cy="5059363"/>
          </a:xfrm>
          <a:prstGeom prst="rect">
            <a:avLst/>
          </a:prstGeo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 name="日期占位符 1"/>
          <p:cNvSpPr>
            <a:spLocks noGrp="1"/>
          </p:cNvSpPr>
          <p:nvPr>
            <p:ph type="dt" sz="half" idx="10"/>
          </p:nvPr>
        </p:nvSpPr>
        <p:spPr>
          <a:xfrm>
            <a:off x="838283" y="6356351"/>
            <a:ext cx="2743470"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6CE1F9FB-DACA-49B5-8A56-3AE278C745E0}" type="datetimeFigureOut">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rPr>
              <a:t>2024/10/22</a:t>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4" name="页脚占位符 3"/>
          <p:cNvSpPr>
            <a:spLocks noGrp="1"/>
          </p:cNvSpPr>
          <p:nvPr>
            <p:ph type="ftr" sz="quarter" idx="11"/>
          </p:nvPr>
        </p:nvSpPr>
        <p:spPr>
          <a:xfrm>
            <a:off x="4038998" y="6356351"/>
            <a:ext cx="4115205"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5" name="灯片编号占位符 4"/>
          <p:cNvSpPr>
            <a:spLocks noGrp="1"/>
          </p:cNvSpPr>
          <p:nvPr>
            <p:ph type="sldNum" sz="quarter" idx="12"/>
          </p:nvPr>
        </p:nvSpPr>
        <p:spPr>
          <a:xfrm>
            <a:off x="8611448" y="6356351"/>
            <a:ext cx="2743470" cy="365125"/>
          </a:xfrm>
        </p:spPr>
        <p:txBody>
          <a:bodyPr/>
          <a:lstStyle/>
          <a:p>
            <a:pPr lvl="0" eaLnBrk="1" hangingPunct="1">
              <a:buNone/>
            </a:pPr>
            <a:fld id="{9A0DB2DC-4C9A-4742-B13C-FB6460FD3503}" type="slidenum">
              <a:rPr lang="zh-CN" altLang="en-US" dirty="0"/>
              <a:t>‹#›</a:t>
            </a:fld>
            <a:endParaRPr lang="zh-CN" altLang="en-US" dirty="0">
              <a:latin typeface="Arial" panose="020B060402020209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28_正文">
    <p:bg>
      <p:bgPr>
        <a:solidFill>
          <a:schemeClr val="bg1"/>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609660" y="1066800"/>
            <a:ext cx="10973880" cy="5059363"/>
          </a:xfrm>
          <a:prstGeom prst="rect">
            <a:avLst/>
          </a:prstGeom>
        </p:spPr>
        <p:txBody>
          <a:bodyPr/>
          <a:lstStyle>
            <a:lvl1pPr>
              <a:lnSpc>
                <a:spcPct val="150000"/>
              </a:lnSpc>
              <a:defRPr sz="2400"/>
            </a:lvl1pPr>
            <a:lvl2pPr>
              <a:lnSpc>
                <a:spcPct val="150000"/>
              </a:lnSpc>
              <a:defRPr sz="2000"/>
            </a:lvl2pPr>
            <a:lvl3pPr>
              <a:lnSpc>
                <a:spcPct val="150000"/>
              </a:lnSpc>
              <a:defRPr sz="1800"/>
            </a:lvl3pPr>
            <a:lvl4pPr>
              <a:lnSpc>
                <a:spcPct val="150000"/>
              </a:lnSpc>
              <a:defRPr sz="1600"/>
            </a:lvl4pPr>
            <a:lvl5pPr>
              <a:lnSpc>
                <a:spcPct val="150000"/>
              </a:lnSpc>
              <a:defRPr sz="16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 name="日期占位符 1"/>
          <p:cNvSpPr>
            <a:spLocks noGrp="1"/>
          </p:cNvSpPr>
          <p:nvPr>
            <p:ph type="dt" sz="half" idx="10"/>
          </p:nvPr>
        </p:nvSpPr>
        <p:spPr>
          <a:xfrm>
            <a:off x="838283" y="6356351"/>
            <a:ext cx="2743470"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01C99CA-61FC-4162-8EF6-6549A53D5973}" type="datetimeFigureOut">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rPr>
              <a:t>2024/10/22</a:t>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4" name="页脚占位符 3"/>
          <p:cNvSpPr>
            <a:spLocks noGrp="1"/>
          </p:cNvSpPr>
          <p:nvPr>
            <p:ph type="ftr" sz="quarter" idx="11"/>
          </p:nvPr>
        </p:nvSpPr>
        <p:spPr>
          <a:xfrm>
            <a:off x="4038998" y="6356351"/>
            <a:ext cx="4115205"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5" name="灯片编号占位符 4"/>
          <p:cNvSpPr>
            <a:spLocks noGrp="1"/>
          </p:cNvSpPr>
          <p:nvPr>
            <p:ph type="sldNum" sz="quarter" idx="12"/>
          </p:nvPr>
        </p:nvSpPr>
        <p:spPr>
          <a:xfrm>
            <a:off x="8611448" y="6356351"/>
            <a:ext cx="2743470" cy="365125"/>
          </a:xfrm>
        </p:spPr>
        <p:txBody>
          <a:bodyPr/>
          <a:lstStyle/>
          <a:p>
            <a:pPr lvl="0" eaLnBrk="1" hangingPunct="1">
              <a:buNone/>
            </a:pPr>
            <a:fld id="{9A0DB2DC-4C9A-4742-B13C-FB6460FD3503}" type="slidenum">
              <a:rPr lang="zh-CN" altLang="en-US" dirty="0"/>
              <a:t>‹#›</a:t>
            </a:fld>
            <a:endParaRPr lang="zh-CN" altLang="en-US" dirty="0">
              <a:latin typeface="Arial" panose="020B060402020209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29_正文">
    <p:bg>
      <p:bgPr>
        <a:solidFill>
          <a:schemeClr val="bg1"/>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609660" y="1066800"/>
            <a:ext cx="10973880" cy="5059363"/>
          </a:xfrm>
          <a:prstGeom prst="rect">
            <a:avLst/>
          </a:prstGeom>
        </p:spPr>
        <p:txBody>
          <a:bodyPr/>
          <a:lstStyle>
            <a:lvl1pPr>
              <a:lnSpc>
                <a:spcPct val="150000"/>
              </a:lnSpc>
              <a:defRPr sz="2400"/>
            </a:lvl1pPr>
            <a:lvl2pPr>
              <a:lnSpc>
                <a:spcPct val="150000"/>
              </a:lnSpc>
              <a:defRPr sz="2000"/>
            </a:lvl2pPr>
            <a:lvl3pPr>
              <a:lnSpc>
                <a:spcPct val="150000"/>
              </a:lnSpc>
              <a:defRPr sz="1800"/>
            </a:lvl3pPr>
            <a:lvl4pPr>
              <a:lnSpc>
                <a:spcPct val="150000"/>
              </a:lnSpc>
              <a:defRPr sz="1600"/>
            </a:lvl4pPr>
            <a:lvl5pPr>
              <a:lnSpc>
                <a:spcPct val="150000"/>
              </a:lnSpc>
              <a:defRPr sz="16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 name="日期占位符 1"/>
          <p:cNvSpPr>
            <a:spLocks noGrp="1"/>
          </p:cNvSpPr>
          <p:nvPr>
            <p:ph type="dt" sz="half" idx="10"/>
          </p:nvPr>
        </p:nvSpPr>
        <p:spPr>
          <a:xfrm>
            <a:off x="838283" y="6356351"/>
            <a:ext cx="2743470"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01C99CA-61FC-4162-8EF6-6549A53D5973}" type="datetimeFigureOut">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rPr>
              <a:t>2024/10/22</a:t>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4" name="页脚占位符 3"/>
          <p:cNvSpPr>
            <a:spLocks noGrp="1"/>
          </p:cNvSpPr>
          <p:nvPr>
            <p:ph type="ftr" sz="quarter" idx="11"/>
          </p:nvPr>
        </p:nvSpPr>
        <p:spPr>
          <a:xfrm>
            <a:off x="4038998" y="6356351"/>
            <a:ext cx="4115205"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5" name="灯片编号占位符 4"/>
          <p:cNvSpPr>
            <a:spLocks noGrp="1"/>
          </p:cNvSpPr>
          <p:nvPr>
            <p:ph type="sldNum" sz="quarter" idx="12"/>
          </p:nvPr>
        </p:nvSpPr>
        <p:spPr>
          <a:xfrm>
            <a:off x="8611448" y="6356351"/>
            <a:ext cx="2743470" cy="365125"/>
          </a:xfrm>
        </p:spPr>
        <p:txBody>
          <a:bodyPr/>
          <a:lstStyle/>
          <a:p>
            <a:pPr lvl="0" eaLnBrk="1" hangingPunct="1">
              <a:buNone/>
            </a:pPr>
            <a:fld id="{9A0DB2DC-4C9A-4742-B13C-FB6460FD3503}" type="slidenum">
              <a:rPr lang="zh-CN" altLang="en-US" dirty="0"/>
              <a:t>‹#›</a:t>
            </a:fld>
            <a:endParaRPr lang="zh-CN" altLang="en-US" dirty="0">
              <a:latin typeface="Arial" panose="020B060402020209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30_正文">
    <p:bg>
      <p:bgPr>
        <a:solidFill>
          <a:schemeClr val="bg1"/>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609660" y="1066800"/>
            <a:ext cx="10973880" cy="5059363"/>
          </a:xfrm>
          <a:prstGeom prst="rect">
            <a:avLst/>
          </a:prstGeom>
        </p:spPr>
        <p:txBody>
          <a:bodyPr/>
          <a:lstStyle>
            <a:lvl1pPr>
              <a:lnSpc>
                <a:spcPct val="150000"/>
              </a:lnSpc>
              <a:defRPr sz="2400"/>
            </a:lvl1pPr>
            <a:lvl2pPr>
              <a:lnSpc>
                <a:spcPct val="150000"/>
              </a:lnSpc>
              <a:defRPr sz="2000"/>
            </a:lvl2pPr>
            <a:lvl3pPr>
              <a:lnSpc>
                <a:spcPct val="150000"/>
              </a:lnSpc>
              <a:defRPr sz="1800"/>
            </a:lvl3pPr>
            <a:lvl4pPr>
              <a:lnSpc>
                <a:spcPct val="150000"/>
              </a:lnSpc>
              <a:defRPr sz="1600"/>
            </a:lvl4pPr>
            <a:lvl5pPr>
              <a:lnSpc>
                <a:spcPct val="150000"/>
              </a:lnSpc>
              <a:defRPr sz="16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 name="日期占位符 1"/>
          <p:cNvSpPr>
            <a:spLocks noGrp="1"/>
          </p:cNvSpPr>
          <p:nvPr>
            <p:ph type="dt" sz="half" idx="10"/>
          </p:nvPr>
        </p:nvSpPr>
        <p:spPr>
          <a:xfrm>
            <a:off x="838283" y="6356351"/>
            <a:ext cx="2743470"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01C99CA-61FC-4162-8EF6-6549A53D5973}" type="datetimeFigureOut">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rPr>
              <a:t>2024/10/22</a:t>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4" name="页脚占位符 3"/>
          <p:cNvSpPr>
            <a:spLocks noGrp="1"/>
          </p:cNvSpPr>
          <p:nvPr>
            <p:ph type="ftr" sz="quarter" idx="11"/>
          </p:nvPr>
        </p:nvSpPr>
        <p:spPr>
          <a:xfrm>
            <a:off x="4038998" y="6356351"/>
            <a:ext cx="4115205"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5" name="灯片编号占位符 4"/>
          <p:cNvSpPr>
            <a:spLocks noGrp="1"/>
          </p:cNvSpPr>
          <p:nvPr>
            <p:ph type="sldNum" sz="quarter" idx="12"/>
          </p:nvPr>
        </p:nvSpPr>
        <p:spPr>
          <a:xfrm>
            <a:off x="8611448" y="6356351"/>
            <a:ext cx="2743470" cy="365125"/>
          </a:xfrm>
        </p:spPr>
        <p:txBody>
          <a:bodyPr/>
          <a:lstStyle/>
          <a:p>
            <a:pPr lvl="0" eaLnBrk="1" hangingPunct="1">
              <a:buNone/>
            </a:pPr>
            <a:fld id="{9A0DB2DC-4C9A-4742-B13C-FB6460FD3503}" type="slidenum">
              <a:rPr lang="zh-CN" altLang="en-US" dirty="0"/>
              <a:t>‹#›</a:t>
            </a:fld>
            <a:endParaRPr lang="zh-CN" altLang="en-US" dirty="0">
              <a:latin typeface="Arial" panose="020B060402020209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31_正文">
    <p:bg>
      <p:bgPr>
        <a:solidFill>
          <a:schemeClr val="bg1"/>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609660" y="1066800"/>
            <a:ext cx="10973880" cy="5059363"/>
          </a:xfrm>
          <a:prstGeom prst="rect">
            <a:avLst/>
          </a:prstGeom>
        </p:spPr>
        <p:txBody>
          <a:bodyPr/>
          <a:lstStyle>
            <a:lvl1pPr>
              <a:lnSpc>
                <a:spcPct val="150000"/>
              </a:lnSpc>
              <a:defRPr sz="2400"/>
            </a:lvl1pPr>
            <a:lvl2pPr>
              <a:lnSpc>
                <a:spcPct val="150000"/>
              </a:lnSpc>
              <a:defRPr sz="2000"/>
            </a:lvl2pPr>
            <a:lvl3pPr>
              <a:lnSpc>
                <a:spcPct val="150000"/>
              </a:lnSpc>
              <a:defRPr sz="1800"/>
            </a:lvl3pPr>
            <a:lvl4pPr>
              <a:lnSpc>
                <a:spcPct val="150000"/>
              </a:lnSpc>
              <a:defRPr sz="1600"/>
            </a:lvl4pPr>
            <a:lvl5pPr>
              <a:lnSpc>
                <a:spcPct val="150000"/>
              </a:lnSpc>
              <a:defRPr sz="16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 name="日期占位符 1"/>
          <p:cNvSpPr>
            <a:spLocks noGrp="1"/>
          </p:cNvSpPr>
          <p:nvPr>
            <p:ph type="dt" sz="half" idx="10"/>
          </p:nvPr>
        </p:nvSpPr>
        <p:spPr>
          <a:xfrm>
            <a:off x="838283" y="6356351"/>
            <a:ext cx="2743470"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01C99CA-61FC-4162-8EF6-6549A53D5973}" type="datetimeFigureOut">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rPr>
              <a:t>2024/10/22</a:t>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4" name="页脚占位符 3"/>
          <p:cNvSpPr>
            <a:spLocks noGrp="1"/>
          </p:cNvSpPr>
          <p:nvPr>
            <p:ph type="ftr" sz="quarter" idx="11"/>
          </p:nvPr>
        </p:nvSpPr>
        <p:spPr>
          <a:xfrm>
            <a:off x="4038998" y="6356351"/>
            <a:ext cx="4115205"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5" name="灯片编号占位符 4"/>
          <p:cNvSpPr>
            <a:spLocks noGrp="1"/>
          </p:cNvSpPr>
          <p:nvPr>
            <p:ph type="sldNum" sz="quarter" idx="12"/>
          </p:nvPr>
        </p:nvSpPr>
        <p:spPr>
          <a:xfrm>
            <a:off x="8611448" y="6356351"/>
            <a:ext cx="2743470" cy="365125"/>
          </a:xfrm>
        </p:spPr>
        <p:txBody>
          <a:bodyPr/>
          <a:lstStyle/>
          <a:p>
            <a:pPr lvl="0" eaLnBrk="1" hangingPunct="1">
              <a:buNone/>
            </a:pPr>
            <a:fld id="{9A0DB2DC-4C9A-4742-B13C-FB6460FD3503}" type="slidenum">
              <a:rPr lang="zh-CN" altLang="en-US" dirty="0"/>
              <a:t>‹#›</a:t>
            </a:fld>
            <a:endParaRPr lang="zh-CN" altLang="en-US" dirty="0">
              <a:latin typeface="Arial" panose="020B060402020209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32_正文">
    <p:bg>
      <p:bgPr>
        <a:solidFill>
          <a:schemeClr val="bg1"/>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609660" y="1066800"/>
            <a:ext cx="10973880" cy="5059363"/>
          </a:xfrm>
          <a:prstGeom prst="rect">
            <a:avLst/>
          </a:prstGeom>
        </p:spPr>
        <p:txBody>
          <a:bodyPr/>
          <a:lstStyle>
            <a:lvl1pPr>
              <a:lnSpc>
                <a:spcPct val="150000"/>
              </a:lnSpc>
              <a:defRPr sz="2400"/>
            </a:lvl1pPr>
            <a:lvl2pPr>
              <a:lnSpc>
                <a:spcPct val="150000"/>
              </a:lnSpc>
              <a:defRPr sz="2000"/>
            </a:lvl2pPr>
            <a:lvl3pPr>
              <a:lnSpc>
                <a:spcPct val="150000"/>
              </a:lnSpc>
              <a:defRPr sz="1800"/>
            </a:lvl3pPr>
            <a:lvl4pPr>
              <a:lnSpc>
                <a:spcPct val="150000"/>
              </a:lnSpc>
              <a:defRPr sz="1600"/>
            </a:lvl4pPr>
            <a:lvl5pPr>
              <a:lnSpc>
                <a:spcPct val="150000"/>
              </a:lnSpc>
              <a:defRPr sz="16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 name="日期占位符 1"/>
          <p:cNvSpPr>
            <a:spLocks noGrp="1"/>
          </p:cNvSpPr>
          <p:nvPr>
            <p:ph type="dt" sz="half" idx="10"/>
          </p:nvPr>
        </p:nvSpPr>
        <p:spPr>
          <a:xfrm>
            <a:off x="838283" y="6356351"/>
            <a:ext cx="2743470"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01C99CA-61FC-4162-8EF6-6549A53D5973}" type="datetimeFigureOut">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rPr>
              <a:t>2024/10/22</a:t>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4" name="页脚占位符 3"/>
          <p:cNvSpPr>
            <a:spLocks noGrp="1"/>
          </p:cNvSpPr>
          <p:nvPr>
            <p:ph type="ftr" sz="quarter" idx="11"/>
          </p:nvPr>
        </p:nvSpPr>
        <p:spPr>
          <a:xfrm>
            <a:off x="4038998" y="6356351"/>
            <a:ext cx="4115205"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5" name="灯片编号占位符 4"/>
          <p:cNvSpPr>
            <a:spLocks noGrp="1"/>
          </p:cNvSpPr>
          <p:nvPr>
            <p:ph type="sldNum" sz="quarter" idx="12"/>
          </p:nvPr>
        </p:nvSpPr>
        <p:spPr>
          <a:xfrm>
            <a:off x="8611448" y="6356351"/>
            <a:ext cx="2743470" cy="365125"/>
          </a:xfrm>
        </p:spPr>
        <p:txBody>
          <a:bodyPr/>
          <a:lstStyle/>
          <a:p>
            <a:pPr lvl="0" eaLnBrk="1" hangingPunct="1">
              <a:buNone/>
            </a:pPr>
            <a:fld id="{9A0DB2DC-4C9A-4742-B13C-FB6460FD3503}" type="slidenum">
              <a:rPr lang="zh-CN" altLang="en-US" dirty="0"/>
              <a:t>‹#›</a:t>
            </a:fld>
            <a:endParaRPr lang="zh-CN" altLang="en-US" dirty="0">
              <a:latin typeface="Arial" panose="020B060402020209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33_正文">
    <p:bg>
      <p:bgPr>
        <a:solidFill>
          <a:schemeClr val="bg1"/>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609660" y="1066800"/>
            <a:ext cx="10973880" cy="5059363"/>
          </a:xfrm>
          <a:prstGeom prst="rect">
            <a:avLst/>
          </a:prstGeom>
        </p:spPr>
        <p:txBody>
          <a:bodyPr/>
          <a:lstStyle>
            <a:lvl1pPr>
              <a:lnSpc>
                <a:spcPct val="150000"/>
              </a:lnSpc>
              <a:defRPr sz="2400"/>
            </a:lvl1pPr>
            <a:lvl2pPr>
              <a:lnSpc>
                <a:spcPct val="150000"/>
              </a:lnSpc>
              <a:defRPr sz="2000"/>
            </a:lvl2pPr>
            <a:lvl3pPr>
              <a:lnSpc>
                <a:spcPct val="150000"/>
              </a:lnSpc>
              <a:defRPr sz="1800"/>
            </a:lvl3pPr>
            <a:lvl4pPr>
              <a:lnSpc>
                <a:spcPct val="150000"/>
              </a:lnSpc>
              <a:defRPr sz="1600"/>
            </a:lvl4pPr>
            <a:lvl5pPr>
              <a:lnSpc>
                <a:spcPct val="150000"/>
              </a:lnSpc>
              <a:defRPr sz="16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 name="日期占位符 1"/>
          <p:cNvSpPr>
            <a:spLocks noGrp="1"/>
          </p:cNvSpPr>
          <p:nvPr>
            <p:ph type="dt" sz="half" idx="10"/>
          </p:nvPr>
        </p:nvSpPr>
        <p:spPr>
          <a:xfrm>
            <a:off x="838283" y="6356351"/>
            <a:ext cx="2743470"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01C99CA-61FC-4162-8EF6-6549A53D5973}" type="datetimeFigureOut">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rPr>
              <a:t>2024/10/22</a:t>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4" name="页脚占位符 3"/>
          <p:cNvSpPr>
            <a:spLocks noGrp="1"/>
          </p:cNvSpPr>
          <p:nvPr>
            <p:ph type="ftr" sz="quarter" idx="11"/>
          </p:nvPr>
        </p:nvSpPr>
        <p:spPr>
          <a:xfrm>
            <a:off x="4038998" y="6356351"/>
            <a:ext cx="4115205"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5" name="灯片编号占位符 4"/>
          <p:cNvSpPr>
            <a:spLocks noGrp="1"/>
          </p:cNvSpPr>
          <p:nvPr>
            <p:ph type="sldNum" sz="quarter" idx="12"/>
          </p:nvPr>
        </p:nvSpPr>
        <p:spPr>
          <a:xfrm>
            <a:off x="8611448" y="6356351"/>
            <a:ext cx="2743470" cy="365125"/>
          </a:xfrm>
        </p:spPr>
        <p:txBody>
          <a:bodyPr/>
          <a:lstStyle/>
          <a:p>
            <a:pPr lvl="0" eaLnBrk="1" hangingPunct="1">
              <a:buNone/>
            </a:pPr>
            <a:fld id="{9A0DB2DC-4C9A-4742-B13C-FB6460FD3503}" type="slidenum">
              <a:rPr lang="zh-CN" altLang="en-US" dirty="0"/>
              <a:t>‹#›</a:t>
            </a:fld>
            <a:endParaRPr lang="zh-CN" altLang="en-US" dirty="0">
              <a:latin typeface="Arial" panose="020B060402020209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34_正文">
    <p:bg>
      <p:bgPr>
        <a:solidFill>
          <a:schemeClr val="bg1"/>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609660" y="1066800"/>
            <a:ext cx="10973880" cy="5059363"/>
          </a:xfrm>
          <a:prstGeom prst="rect">
            <a:avLst/>
          </a:prstGeom>
        </p:spPr>
        <p:txBody>
          <a:bodyPr/>
          <a:lstStyle>
            <a:lvl1pPr>
              <a:lnSpc>
                <a:spcPct val="150000"/>
              </a:lnSpc>
              <a:defRPr sz="2400"/>
            </a:lvl1pPr>
            <a:lvl2pPr>
              <a:lnSpc>
                <a:spcPct val="150000"/>
              </a:lnSpc>
              <a:defRPr sz="2000"/>
            </a:lvl2pPr>
            <a:lvl3pPr>
              <a:lnSpc>
                <a:spcPct val="150000"/>
              </a:lnSpc>
              <a:defRPr sz="1800"/>
            </a:lvl3pPr>
            <a:lvl4pPr>
              <a:lnSpc>
                <a:spcPct val="150000"/>
              </a:lnSpc>
              <a:defRPr sz="1600"/>
            </a:lvl4pPr>
            <a:lvl5pPr>
              <a:lnSpc>
                <a:spcPct val="150000"/>
              </a:lnSpc>
              <a:defRPr sz="16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 name="日期占位符 1"/>
          <p:cNvSpPr>
            <a:spLocks noGrp="1"/>
          </p:cNvSpPr>
          <p:nvPr>
            <p:ph type="dt" sz="half" idx="10"/>
          </p:nvPr>
        </p:nvSpPr>
        <p:spPr>
          <a:xfrm>
            <a:off x="838283" y="6356351"/>
            <a:ext cx="2743470"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01C99CA-61FC-4162-8EF6-6549A53D5973}" type="datetimeFigureOut">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rPr>
              <a:t>2024/10/22</a:t>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4" name="页脚占位符 3"/>
          <p:cNvSpPr>
            <a:spLocks noGrp="1"/>
          </p:cNvSpPr>
          <p:nvPr>
            <p:ph type="ftr" sz="quarter" idx="11"/>
          </p:nvPr>
        </p:nvSpPr>
        <p:spPr>
          <a:xfrm>
            <a:off x="4038998" y="6356351"/>
            <a:ext cx="4115205"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5" name="灯片编号占位符 4"/>
          <p:cNvSpPr>
            <a:spLocks noGrp="1"/>
          </p:cNvSpPr>
          <p:nvPr>
            <p:ph type="sldNum" sz="quarter" idx="12"/>
          </p:nvPr>
        </p:nvSpPr>
        <p:spPr>
          <a:xfrm>
            <a:off x="8611448" y="6356351"/>
            <a:ext cx="2743470" cy="365125"/>
          </a:xfrm>
        </p:spPr>
        <p:txBody>
          <a:bodyPr/>
          <a:lstStyle/>
          <a:p>
            <a:pPr lvl="0" eaLnBrk="1" hangingPunct="1">
              <a:buNone/>
            </a:pPr>
            <a:fld id="{9A0DB2DC-4C9A-4742-B13C-FB6460FD3503}" type="slidenum">
              <a:rPr lang="zh-CN" altLang="en-US" dirty="0"/>
              <a:t>‹#›</a:t>
            </a:fld>
            <a:endParaRPr lang="zh-CN" altLang="en-US" dirty="0">
              <a:latin typeface="Arial" panose="020B0604020202090204" pitchFamily="34"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35_正文">
    <p:bg>
      <p:bgPr>
        <a:solidFill>
          <a:schemeClr val="bg1"/>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609660" y="1066800"/>
            <a:ext cx="10973880" cy="5059363"/>
          </a:xfrm>
          <a:prstGeom prst="rect">
            <a:avLst/>
          </a:prstGeom>
        </p:spPr>
        <p:txBody>
          <a:bodyPr/>
          <a:lstStyle>
            <a:lvl1pPr>
              <a:lnSpc>
                <a:spcPct val="150000"/>
              </a:lnSpc>
              <a:defRPr sz="2400"/>
            </a:lvl1pPr>
            <a:lvl2pPr>
              <a:lnSpc>
                <a:spcPct val="150000"/>
              </a:lnSpc>
              <a:defRPr sz="2000"/>
            </a:lvl2pPr>
            <a:lvl3pPr>
              <a:lnSpc>
                <a:spcPct val="150000"/>
              </a:lnSpc>
              <a:defRPr sz="1800"/>
            </a:lvl3pPr>
            <a:lvl4pPr>
              <a:lnSpc>
                <a:spcPct val="150000"/>
              </a:lnSpc>
              <a:defRPr sz="1600"/>
            </a:lvl4pPr>
            <a:lvl5pPr>
              <a:lnSpc>
                <a:spcPct val="150000"/>
              </a:lnSpc>
              <a:defRPr sz="16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 name="日期占位符 1"/>
          <p:cNvSpPr>
            <a:spLocks noGrp="1"/>
          </p:cNvSpPr>
          <p:nvPr>
            <p:ph type="dt" sz="half" idx="10"/>
          </p:nvPr>
        </p:nvSpPr>
        <p:spPr>
          <a:xfrm>
            <a:off x="838283" y="6356351"/>
            <a:ext cx="2743470"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01C99CA-61FC-4162-8EF6-6549A53D5973}" type="datetimeFigureOut">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rPr>
              <a:t>2024/10/22</a:t>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4" name="页脚占位符 3"/>
          <p:cNvSpPr>
            <a:spLocks noGrp="1"/>
          </p:cNvSpPr>
          <p:nvPr>
            <p:ph type="ftr" sz="quarter" idx="11"/>
          </p:nvPr>
        </p:nvSpPr>
        <p:spPr>
          <a:xfrm>
            <a:off x="4038998" y="6356351"/>
            <a:ext cx="4115205"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5" name="灯片编号占位符 4"/>
          <p:cNvSpPr>
            <a:spLocks noGrp="1"/>
          </p:cNvSpPr>
          <p:nvPr>
            <p:ph type="sldNum" sz="quarter" idx="12"/>
          </p:nvPr>
        </p:nvSpPr>
        <p:spPr>
          <a:xfrm>
            <a:off x="8611448" y="6356351"/>
            <a:ext cx="2743470" cy="365125"/>
          </a:xfrm>
        </p:spPr>
        <p:txBody>
          <a:bodyPr/>
          <a:lstStyle/>
          <a:p>
            <a:pPr lvl="0" eaLnBrk="1" hangingPunct="1">
              <a:buNone/>
            </a:pPr>
            <a:fld id="{9A0DB2DC-4C9A-4742-B13C-FB6460FD3503}" type="slidenum">
              <a:rPr lang="zh-CN" altLang="en-US" dirty="0"/>
              <a:t>‹#›</a:t>
            </a:fld>
            <a:endParaRPr lang="zh-CN" altLang="en-US" dirty="0">
              <a:latin typeface="Arial" panose="020B0604020202090204" pitchFamily="34" charset="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36_正文">
    <p:bg>
      <p:bgPr>
        <a:solidFill>
          <a:schemeClr val="bg1"/>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609660" y="1066800"/>
            <a:ext cx="10973880" cy="5059363"/>
          </a:xfrm>
          <a:prstGeom prst="rect">
            <a:avLst/>
          </a:prstGeom>
        </p:spPr>
        <p:txBody>
          <a:bodyPr/>
          <a:lstStyle>
            <a:lvl1pPr>
              <a:lnSpc>
                <a:spcPct val="150000"/>
              </a:lnSpc>
              <a:defRPr sz="2400"/>
            </a:lvl1pPr>
            <a:lvl2pPr>
              <a:lnSpc>
                <a:spcPct val="150000"/>
              </a:lnSpc>
              <a:defRPr sz="2000"/>
            </a:lvl2pPr>
            <a:lvl3pPr>
              <a:lnSpc>
                <a:spcPct val="150000"/>
              </a:lnSpc>
              <a:defRPr sz="1800"/>
            </a:lvl3pPr>
            <a:lvl4pPr>
              <a:lnSpc>
                <a:spcPct val="150000"/>
              </a:lnSpc>
              <a:defRPr sz="1600"/>
            </a:lvl4pPr>
            <a:lvl5pPr>
              <a:lnSpc>
                <a:spcPct val="150000"/>
              </a:lnSpc>
              <a:defRPr sz="16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 name="日期占位符 1"/>
          <p:cNvSpPr>
            <a:spLocks noGrp="1"/>
          </p:cNvSpPr>
          <p:nvPr>
            <p:ph type="dt" sz="half" idx="10"/>
          </p:nvPr>
        </p:nvSpPr>
        <p:spPr>
          <a:xfrm>
            <a:off x="838283" y="6356351"/>
            <a:ext cx="2743470"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01C99CA-61FC-4162-8EF6-6549A53D5973}" type="datetimeFigureOut">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rPr>
              <a:t>2024/10/22</a:t>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4" name="页脚占位符 3"/>
          <p:cNvSpPr>
            <a:spLocks noGrp="1"/>
          </p:cNvSpPr>
          <p:nvPr>
            <p:ph type="ftr" sz="quarter" idx="11"/>
          </p:nvPr>
        </p:nvSpPr>
        <p:spPr>
          <a:xfrm>
            <a:off x="4038998" y="6356351"/>
            <a:ext cx="4115205"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5" name="灯片编号占位符 4"/>
          <p:cNvSpPr>
            <a:spLocks noGrp="1"/>
          </p:cNvSpPr>
          <p:nvPr>
            <p:ph type="sldNum" sz="quarter" idx="12"/>
          </p:nvPr>
        </p:nvSpPr>
        <p:spPr>
          <a:xfrm>
            <a:off x="8611448" y="6356351"/>
            <a:ext cx="2743470" cy="365125"/>
          </a:xfrm>
        </p:spPr>
        <p:txBody>
          <a:bodyPr/>
          <a:lstStyle/>
          <a:p>
            <a:pPr lvl="0" eaLnBrk="1" hangingPunct="1">
              <a:buNone/>
            </a:pPr>
            <a:fld id="{9A0DB2DC-4C9A-4742-B13C-FB6460FD3503}" type="slidenum">
              <a:rPr lang="zh-CN" altLang="en-US" dirty="0"/>
              <a:t>‹#›</a:t>
            </a:fld>
            <a:endParaRPr lang="zh-CN" altLang="en-US" dirty="0">
              <a:latin typeface="Arial" panose="020B0604020202090204" pitchFamily="34" charset="0"/>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37_正文">
    <p:bg>
      <p:bgPr>
        <a:solidFill>
          <a:schemeClr val="bg1"/>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609660" y="1066800"/>
            <a:ext cx="10973880" cy="5059363"/>
          </a:xfrm>
          <a:prstGeom prst="rect">
            <a:avLst/>
          </a:prstGeom>
        </p:spPr>
        <p:txBody>
          <a:bodyPr/>
          <a:lstStyle>
            <a:lvl1pPr>
              <a:lnSpc>
                <a:spcPct val="150000"/>
              </a:lnSpc>
              <a:defRPr sz="2400"/>
            </a:lvl1pPr>
            <a:lvl2pPr>
              <a:lnSpc>
                <a:spcPct val="150000"/>
              </a:lnSpc>
              <a:defRPr sz="2000"/>
            </a:lvl2pPr>
            <a:lvl3pPr>
              <a:lnSpc>
                <a:spcPct val="150000"/>
              </a:lnSpc>
              <a:defRPr sz="1800"/>
            </a:lvl3pPr>
            <a:lvl4pPr>
              <a:lnSpc>
                <a:spcPct val="150000"/>
              </a:lnSpc>
              <a:defRPr sz="1600"/>
            </a:lvl4pPr>
            <a:lvl5pPr>
              <a:lnSpc>
                <a:spcPct val="150000"/>
              </a:lnSpc>
              <a:defRPr sz="16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 name="日期占位符 1"/>
          <p:cNvSpPr>
            <a:spLocks noGrp="1"/>
          </p:cNvSpPr>
          <p:nvPr>
            <p:ph type="dt" sz="half" idx="10"/>
          </p:nvPr>
        </p:nvSpPr>
        <p:spPr>
          <a:xfrm>
            <a:off x="838283" y="6356351"/>
            <a:ext cx="2743470"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01C99CA-61FC-4162-8EF6-6549A53D5973}" type="datetimeFigureOut">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rPr>
              <a:t>2024/10/22</a:t>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4" name="页脚占位符 3"/>
          <p:cNvSpPr>
            <a:spLocks noGrp="1"/>
          </p:cNvSpPr>
          <p:nvPr>
            <p:ph type="ftr" sz="quarter" idx="11"/>
          </p:nvPr>
        </p:nvSpPr>
        <p:spPr>
          <a:xfrm>
            <a:off x="4038998" y="6356351"/>
            <a:ext cx="4115205"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5" name="灯片编号占位符 4"/>
          <p:cNvSpPr>
            <a:spLocks noGrp="1"/>
          </p:cNvSpPr>
          <p:nvPr>
            <p:ph type="sldNum" sz="quarter" idx="12"/>
          </p:nvPr>
        </p:nvSpPr>
        <p:spPr>
          <a:xfrm>
            <a:off x="8611448" y="6356351"/>
            <a:ext cx="2743470" cy="365125"/>
          </a:xfrm>
        </p:spPr>
        <p:txBody>
          <a:bodyPr/>
          <a:lstStyle/>
          <a:p>
            <a:pPr lvl="0" eaLnBrk="1" hangingPunct="1">
              <a:buNone/>
            </a:pPr>
            <a:fld id="{9A0DB2DC-4C9A-4742-B13C-FB6460FD3503}" type="slidenum">
              <a:rPr lang="zh-CN" altLang="en-US" dirty="0"/>
              <a:t>‹#›</a:t>
            </a:fld>
            <a:endParaRPr lang="zh-CN" altLang="en-US" dirty="0">
              <a:latin typeface="Arial" panose="020B0604020202090204" pitchFamily="34" charset="0"/>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38_正文">
    <p:bg>
      <p:bgPr>
        <a:solidFill>
          <a:schemeClr val="bg1"/>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609660" y="1066800"/>
            <a:ext cx="10973880" cy="5059363"/>
          </a:xfrm>
          <a:prstGeom prst="rect">
            <a:avLst/>
          </a:prstGeom>
        </p:spPr>
        <p:txBody>
          <a:bodyPr/>
          <a:lstStyle>
            <a:lvl1pPr>
              <a:lnSpc>
                <a:spcPct val="150000"/>
              </a:lnSpc>
              <a:defRPr sz="2400"/>
            </a:lvl1pPr>
            <a:lvl2pPr>
              <a:lnSpc>
                <a:spcPct val="150000"/>
              </a:lnSpc>
              <a:defRPr sz="2000"/>
            </a:lvl2pPr>
            <a:lvl3pPr>
              <a:lnSpc>
                <a:spcPct val="150000"/>
              </a:lnSpc>
              <a:defRPr sz="1800"/>
            </a:lvl3pPr>
            <a:lvl4pPr>
              <a:lnSpc>
                <a:spcPct val="150000"/>
              </a:lnSpc>
              <a:defRPr sz="1600"/>
            </a:lvl4pPr>
            <a:lvl5pPr>
              <a:lnSpc>
                <a:spcPct val="150000"/>
              </a:lnSpc>
              <a:defRPr sz="16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 name="日期占位符 1"/>
          <p:cNvSpPr>
            <a:spLocks noGrp="1"/>
          </p:cNvSpPr>
          <p:nvPr>
            <p:ph type="dt" sz="half" idx="10"/>
          </p:nvPr>
        </p:nvSpPr>
        <p:spPr>
          <a:xfrm>
            <a:off x="838283" y="6356351"/>
            <a:ext cx="2743470"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01C99CA-61FC-4162-8EF6-6549A53D5973}" type="datetimeFigureOut">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rPr>
              <a:t>2024/10/22</a:t>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4" name="页脚占位符 3"/>
          <p:cNvSpPr>
            <a:spLocks noGrp="1"/>
          </p:cNvSpPr>
          <p:nvPr>
            <p:ph type="ftr" sz="quarter" idx="11"/>
          </p:nvPr>
        </p:nvSpPr>
        <p:spPr>
          <a:xfrm>
            <a:off x="4038998" y="6356351"/>
            <a:ext cx="4115205"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5" name="灯片编号占位符 4"/>
          <p:cNvSpPr>
            <a:spLocks noGrp="1"/>
          </p:cNvSpPr>
          <p:nvPr>
            <p:ph type="sldNum" sz="quarter" idx="12"/>
          </p:nvPr>
        </p:nvSpPr>
        <p:spPr>
          <a:xfrm>
            <a:off x="8611448" y="6356351"/>
            <a:ext cx="2743470" cy="365125"/>
          </a:xfrm>
        </p:spPr>
        <p:txBody>
          <a:bodyPr/>
          <a:lstStyle/>
          <a:p>
            <a:pPr lvl="0" eaLnBrk="1" hangingPunct="1">
              <a:buNone/>
            </a:pPr>
            <a:fld id="{9A0DB2DC-4C9A-4742-B13C-FB6460FD3503}" type="slidenum">
              <a:rPr lang="zh-CN" altLang="en-US" dirty="0"/>
              <a:t>‹#›</a:t>
            </a:fld>
            <a:endParaRPr lang="zh-CN" altLang="en-US" dirty="0">
              <a:latin typeface="Arial" panose="020B0604020202090204" pitchFamily="34" charset="0"/>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9_正文">
    <p:bg>
      <p:bgPr>
        <a:solidFill>
          <a:schemeClr val="bg1"/>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609660" y="1066800"/>
            <a:ext cx="10973880" cy="5059363"/>
          </a:xfrm>
          <a:prstGeom prst="rect">
            <a:avLst/>
          </a:prstGeom>
        </p:spPr>
        <p:txBody>
          <a:bodyPr/>
          <a:lstStyle>
            <a:lvl1pPr>
              <a:lnSpc>
                <a:spcPct val="150000"/>
              </a:lnSpc>
              <a:defRPr sz="2400"/>
            </a:lvl1pPr>
            <a:lvl2pPr>
              <a:lnSpc>
                <a:spcPct val="150000"/>
              </a:lnSpc>
              <a:defRPr sz="2000"/>
            </a:lvl2pPr>
            <a:lvl3pPr>
              <a:lnSpc>
                <a:spcPct val="150000"/>
              </a:lnSpc>
              <a:defRPr sz="1800"/>
            </a:lvl3pPr>
            <a:lvl4pPr>
              <a:lnSpc>
                <a:spcPct val="150000"/>
              </a:lnSpc>
              <a:defRPr sz="1600"/>
            </a:lvl4pPr>
            <a:lvl5pPr>
              <a:lnSpc>
                <a:spcPct val="150000"/>
              </a:lnSpc>
              <a:defRPr sz="16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 name="日期占位符 1"/>
          <p:cNvSpPr>
            <a:spLocks noGrp="1"/>
          </p:cNvSpPr>
          <p:nvPr>
            <p:ph type="dt" sz="half" idx="10"/>
          </p:nvPr>
        </p:nvSpPr>
        <p:spPr>
          <a:xfrm>
            <a:off x="838283" y="6356351"/>
            <a:ext cx="2743470"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01C99CA-61FC-4162-8EF6-6549A53D5973}" type="datetimeFigureOut">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rPr>
              <a:t>2024/10/22</a:t>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4" name="页脚占位符 3"/>
          <p:cNvSpPr>
            <a:spLocks noGrp="1"/>
          </p:cNvSpPr>
          <p:nvPr>
            <p:ph type="ftr" sz="quarter" idx="11"/>
          </p:nvPr>
        </p:nvSpPr>
        <p:spPr>
          <a:xfrm>
            <a:off x="4038998" y="6356351"/>
            <a:ext cx="4115205"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5" name="灯片编号占位符 4"/>
          <p:cNvSpPr>
            <a:spLocks noGrp="1"/>
          </p:cNvSpPr>
          <p:nvPr>
            <p:ph type="sldNum" sz="quarter" idx="12"/>
          </p:nvPr>
        </p:nvSpPr>
        <p:spPr>
          <a:xfrm>
            <a:off x="8611448" y="6356351"/>
            <a:ext cx="2743470" cy="365125"/>
          </a:xfrm>
        </p:spPr>
        <p:txBody>
          <a:bodyPr/>
          <a:lstStyle/>
          <a:p>
            <a:pPr lvl="0" eaLnBrk="1" hangingPunct="1">
              <a:buNone/>
            </a:pPr>
            <a:fld id="{9A0DB2DC-4C9A-4742-B13C-FB6460FD3503}" type="slidenum">
              <a:rPr lang="zh-CN" altLang="en-US" dirty="0"/>
              <a:t>‹#›</a:t>
            </a:fld>
            <a:endParaRPr lang="zh-CN" altLang="en-US" dirty="0">
              <a:latin typeface="Arial" panose="020B0604020202090204" pitchFamily="34" charset="0"/>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40_正文">
    <p:bg>
      <p:bgPr>
        <a:solidFill>
          <a:schemeClr val="bg1"/>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609660" y="1066800"/>
            <a:ext cx="10973880" cy="5059363"/>
          </a:xfrm>
          <a:prstGeom prst="rect">
            <a:avLst/>
          </a:prstGeom>
        </p:spPr>
        <p:txBody>
          <a:bodyPr/>
          <a:lstStyle>
            <a:lvl1pPr>
              <a:lnSpc>
                <a:spcPct val="150000"/>
              </a:lnSpc>
              <a:defRPr sz="2400"/>
            </a:lvl1pPr>
            <a:lvl2pPr>
              <a:lnSpc>
                <a:spcPct val="150000"/>
              </a:lnSpc>
              <a:defRPr sz="2000"/>
            </a:lvl2pPr>
            <a:lvl3pPr>
              <a:lnSpc>
                <a:spcPct val="150000"/>
              </a:lnSpc>
              <a:defRPr sz="1800"/>
            </a:lvl3pPr>
            <a:lvl4pPr>
              <a:lnSpc>
                <a:spcPct val="150000"/>
              </a:lnSpc>
              <a:defRPr sz="1600"/>
            </a:lvl4pPr>
            <a:lvl5pPr>
              <a:lnSpc>
                <a:spcPct val="150000"/>
              </a:lnSpc>
              <a:defRPr sz="16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 name="日期占位符 1"/>
          <p:cNvSpPr>
            <a:spLocks noGrp="1"/>
          </p:cNvSpPr>
          <p:nvPr>
            <p:ph type="dt" sz="half" idx="10"/>
          </p:nvPr>
        </p:nvSpPr>
        <p:spPr>
          <a:xfrm>
            <a:off x="838283" y="6356351"/>
            <a:ext cx="2743470"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01C99CA-61FC-4162-8EF6-6549A53D5973}" type="datetimeFigureOut">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rPr>
              <a:t>2024/10/22</a:t>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4" name="页脚占位符 3"/>
          <p:cNvSpPr>
            <a:spLocks noGrp="1"/>
          </p:cNvSpPr>
          <p:nvPr>
            <p:ph type="ftr" sz="quarter" idx="11"/>
          </p:nvPr>
        </p:nvSpPr>
        <p:spPr>
          <a:xfrm>
            <a:off x="4038998" y="6356351"/>
            <a:ext cx="4115205"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5" name="灯片编号占位符 4"/>
          <p:cNvSpPr>
            <a:spLocks noGrp="1"/>
          </p:cNvSpPr>
          <p:nvPr>
            <p:ph type="sldNum" sz="quarter" idx="12"/>
          </p:nvPr>
        </p:nvSpPr>
        <p:spPr>
          <a:xfrm>
            <a:off x="8611448" y="6356351"/>
            <a:ext cx="2743470" cy="365125"/>
          </a:xfrm>
        </p:spPr>
        <p:txBody>
          <a:bodyPr/>
          <a:lstStyle/>
          <a:p>
            <a:pPr lvl="0" eaLnBrk="1" hangingPunct="1">
              <a:buNone/>
            </a:pPr>
            <a:fld id="{9A0DB2DC-4C9A-4742-B13C-FB6460FD3503}" type="slidenum">
              <a:rPr lang="zh-CN" altLang="en-US" dirty="0"/>
              <a:t>‹#›</a:t>
            </a:fld>
            <a:endParaRPr lang="zh-CN" altLang="en-US" dirty="0">
              <a:latin typeface="Arial" panose="020B0604020202090204" pitchFamily="34" charset="0"/>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41_正文">
    <p:bg>
      <p:bgPr>
        <a:solidFill>
          <a:schemeClr val="bg1"/>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609660" y="1066800"/>
            <a:ext cx="10973880" cy="5059363"/>
          </a:xfrm>
          <a:prstGeom prst="rect">
            <a:avLst/>
          </a:prstGeom>
        </p:spPr>
        <p:txBody>
          <a:bodyPr/>
          <a:lstStyle>
            <a:lvl1pPr>
              <a:lnSpc>
                <a:spcPct val="150000"/>
              </a:lnSpc>
              <a:defRPr sz="2400"/>
            </a:lvl1pPr>
            <a:lvl2pPr>
              <a:lnSpc>
                <a:spcPct val="150000"/>
              </a:lnSpc>
              <a:defRPr sz="2000"/>
            </a:lvl2pPr>
            <a:lvl3pPr>
              <a:lnSpc>
                <a:spcPct val="150000"/>
              </a:lnSpc>
              <a:defRPr sz="1800"/>
            </a:lvl3pPr>
            <a:lvl4pPr>
              <a:lnSpc>
                <a:spcPct val="150000"/>
              </a:lnSpc>
              <a:defRPr sz="1600"/>
            </a:lvl4pPr>
            <a:lvl5pPr>
              <a:lnSpc>
                <a:spcPct val="150000"/>
              </a:lnSpc>
              <a:defRPr sz="16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 name="日期占位符 1"/>
          <p:cNvSpPr>
            <a:spLocks noGrp="1"/>
          </p:cNvSpPr>
          <p:nvPr>
            <p:ph type="dt" sz="half" idx="10"/>
          </p:nvPr>
        </p:nvSpPr>
        <p:spPr>
          <a:xfrm>
            <a:off x="838283" y="6356351"/>
            <a:ext cx="2743470"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01C99CA-61FC-4162-8EF6-6549A53D5973}" type="datetimeFigureOut">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rPr>
              <a:t>2024/10/22</a:t>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4" name="页脚占位符 3"/>
          <p:cNvSpPr>
            <a:spLocks noGrp="1"/>
          </p:cNvSpPr>
          <p:nvPr>
            <p:ph type="ftr" sz="quarter" idx="11"/>
          </p:nvPr>
        </p:nvSpPr>
        <p:spPr>
          <a:xfrm>
            <a:off x="4038998" y="6356351"/>
            <a:ext cx="4115205"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5" name="灯片编号占位符 4"/>
          <p:cNvSpPr>
            <a:spLocks noGrp="1"/>
          </p:cNvSpPr>
          <p:nvPr>
            <p:ph type="sldNum" sz="quarter" idx="12"/>
          </p:nvPr>
        </p:nvSpPr>
        <p:spPr>
          <a:xfrm>
            <a:off x="8611448" y="6356351"/>
            <a:ext cx="2743470" cy="365125"/>
          </a:xfrm>
        </p:spPr>
        <p:txBody>
          <a:bodyPr/>
          <a:lstStyle/>
          <a:p>
            <a:pPr lvl="0" eaLnBrk="1" hangingPunct="1">
              <a:buNone/>
            </a:pPr>
            <a:fld id="{9A0DB2DC-4C9A-4742-B13C-FB6460FD3503}" type="slidenum">
              <a:rPr lang="zh-CN" altLang="en-US" dirty="0"/>
              <a:t>‹#›</a:t>
            </a:fld>
            <a:endParaRPr lang="zh-CN" altLang="en-US" dirty="0">
              <a:latin typeface="Arial" panose="020B0604020202090204" pitchFamily="34" charset="0"/>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42_正文">
    <p:bg>
      <p:bgPr>
        <a:solidFill>
          <a:schemeClr val="bg1"/>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609660" y="1066800"/>
            <a:ext cx="10973880" cy="5059363"/>
          </a:xfrm>
          <a:prstGeom prst="rect">
            <a:avLst/>
          </a:prstGeom>
        </p:spPr>
        <p:txBody>
          <a:bodyPr/>
          <a:lstStyle>
            <a:lvl1pPr>
              <a:lnSpc>
                <a:spcPct val="150000"/>
              </a:lnSpc>
              <a:defRPr sz="2400"/>
            </a:lvl1pPr>
            <a:lvl2pPr>
              <a:lnSpc>
                <a:spcPct val="150000"/>
              </a:lnSpc>
              <a:defRPr sz="2000"/>
            </a:lvl2pPr>
            <a:lvl3pPr>
              <a:lnSpc>
                <a:spcPct val="150000"/>
              </a:lnSpc>
              <a:defRPr sz="1800"/>
            </a:lvl3pPr>
            <a:lvl4pPr>
              <a:lnSpc>
                <a:spcPct val="150000"/>
              </a:lnSpc>
              <a:defRPr sz="1600"/>
            </a:lvl4pPr>
            <a:lvl5pPr>
              <a:lnSpc>
                <a:spcPct val="150000"/>
              </a:lnSpc>
              <a:defRPr sz="16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 name="日期占位符 1"/>
          <p:cNvSpPr>
            <a:spLocks noGrp="1"/>
          </p:cNvSpPr>
          <p:nvPr>
            <p:ph type="dt" sz="half" idx="10"/>
          </p:nvPr>
        </p:nvSpPr>
        <p:spPr>
          <a:xfrm>
            <a:off x="838283" y="6356351"/>
            <a:ext cx="2743470"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01C99CA-61FC-4162-8EF6-6549A53D5973}" type="datetimeFigureOut">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rPr>
              <a:t>2024/10/22</a:t>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4" name="页脚占位符 3"/>
          <p:cNvSpPr>
            <a:spLocks noGrp="1"/>
          </p:cNvSpPr>
          <p:nvPr>
            <p:ph type="ftr" sz="quarter" idx="11"/>
          </p:nvPr>
        </p:nvSpPr>
        <p:spPr>
          <a:xfrm>
            <a:off x="4038998" y="6356351"/>
            <a:ext cx="4115205"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5" name="灯片编号占位符 4"/>
          <p:cNvSpPr>
            <a:spLocks noGrp="1"/>
          </p:cNvSpPr>
          <p:nvPr>
            <p:ph type="sldNum" sz="quarter" idx="12"/>
          </p:nvPr>
        </p:nvSpPr>
        <p:spPr>
          <a:xfrm>
            <a:off x="8611448" y="6356351"/>
            <a:ext cx="2743470" cy="365125"/>
          </a:xfrm>
        </p:spPr>
        <p:txBody>
          <a:bodyPr/>
          <a:lstStyle/>
          <a:p>
            <a:pPr lvl="0" eaLnBrk="1" hangingPunct="1">
              <a:buNone/>
            </a:pPr>
            <a:fld id="{9A0DB2DC-4C9A-4742-B13C-FB6460FD3503}" type="slidenum">
              <a:rPr lang="zh-CN" altLang="en-US" dirty="0"/>
              <a:t>‹#›</a:t>
            </a:fld>
            <a:endParaRPr lang="zh-CN" altLang="en-US" dirty="0">
              <a:latin typeface="Arial" panose="020B0604020202090204" pitchFamily="34" charset="0"/>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43_正文">
    <p:bg>
      <p:bgPr>
        <a:solidFill>
          <a:schemeClr val="bg1"/>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609660" y="1066800"/>
            <a:ext cx="10973880" cy="5059363"/>
          </a:xfrm>
          <a:prstGeom prst="rect">
            <a:avLst/>
          </a:prstGeom>
        </p:spPr>
        <p:txBody>
          <a:bodyPr/>
          <a:lstStyle>
            <a:lvl1pPr>
              <a:lnSpc>
                <a:spcPct val="150000"/>
              </a:lnSpc>
              <a:defRPr sz="2400"/>
            </a:lvl1pPr>
            <a:lvl2pPr>
              <a:lnSpc>
                <a:spcPct val="150000"/>
              </a:lnSpc>
              <a:defRPr sz="2000"/>
            </a:lvl2pPr>
            <a:lvl3pPr>
              <a:lnSpc>
                <a:spcPct val="150000"/>
              </a:lnSpc>
              <a:defRPr sz="1800"/>
            </a:lvl3pPr>
            <a:lvl4pPr>
              <a:lnSpc>
                <a:spcPct val="150000"/>
              </a:lnSpc>
              <a:defRPr sz="1600"/>
            </a:lvl4pPr>
            <a:lvl5pPr>
              <a:lnSpc>
                <a:spcPct val="150000"/>
              </a:lnSpc>
              <a:defRPr sz="16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 name="日期占位符 1"/>
          <p:cNvSpPr>
            <a:spLocks noGrp="1"/>
          </p:cNvSpPr>
          <p:nvPr>
            <p:ph type="dt" sz="half" idx="10"/>
          </p:nvPr>
        </p:nvSpPr>
        <p:spPr>
          <a:xfrm>
            <a:off x="838283" y="6356351"/>
            <a:ext cx="2743470"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01C99CA-61FC-4162-8EF6-6549A53D5973}" type="datetimeFigureOut">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rPr>
              <a:t>2024/10/22</a:t>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4" name="页脚占位符 3"/>
          <p:cNvSpPr>
            <a:spLocks noGrp="1"/>
          </p:cNvSpPr>
          <p:nvPr>
            <p:ph type="ftr" sz="quarter" idx="11"/>
          </p:nvPr>
        </p:nvSpPr>
        <p:spPr>
          <a:xfrm>
            <a:off x="4038998" y="6356351"/>
            <a:ext cx="4115205"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5" name="灯片编号占位符 4"/>
          <p:cNvSpPr>
            <a:spLocks noGrp="1"/>
          </p:cNvSpPr>
          <p:nvPr>
            <p:ph type="sldNum" sz="quarter" idx="12"/>
          </p:nvPr>
        </p:nvSpPr>
        <p:spPr>
          <a:xfrm>
            <a:off x="8611448" y="6356351"/>
            <a:ext cx="2743470" cy="365125"/>
          </a:xfrm>
        </p:spPr>
        <p:txBody>
          <a:bodyPr/>
          <a:lstStyle/>
          <a:p>
            <a:pPr lvl="0" eaLnBrk="1" hangingPunct="1">
              <a:buNone/>
            </a:pPr>
            <a:fld id="{9A0DB2DC-4C9A-4742-B13C-FB6460FD3503}" type="slidenum">
              <a:rPr lang="zh-CN" altLang="en-US" dirty="0"/>
              <a:t>‹#›</a:t>
            </a:fld>
            <a:endParaRPr lang="zh-CN" altLang="en-US" dirty="0">
              <a:latin typeface="Arial" panose="020B0604020202090204" pitchFamily="34" charset="0"/>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44_正文">
    <p:bg>
      <p:bgPr>
        <a:solidFill>
          <a:schemeClr val="bg1"/>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609660" y="1066800"/>
            <a:ext cx="10973880" cy="5059363"/>
          </a:xfrm>
          <a:prstGeom prst="rect">
            <a:avLst/>
          </a:prstGeom>
        </p:spPr>
        <p:txBody>
          <a:bodyPr/>
          <a:lstStyle>
            <a:lvl1pPr>
              <a:lnSpc>
                <a:spcPct val="150000"/>
              </a:lnSpc>
              <a:defRPr sz="2400"/>
            </a:lvl1pPr>
            <a:lvl2pPr>
              <a:lnSpc>
                <a:spcPct val="150000"/>
              </a:lnSpc>
              <a:defRPr sz="2000"/>
            </a:lvl2pPr>
            <a:lvl3pPr>
              <a:lnSpc>
                <a:spcPct val="150000"/>
              </a:lnSpc>
              <a:defRPr sz="1800"/>
            </a:lvl3pPr>
            <a:lvl4pPr>
              <a:lnSpc>
                <a:spcPct val="150000"/>
              </a:lnSpc>
              <a:defRPr sz="1600"/>
            </a:lvl4pPr>
            <a:lvl5pPr>
              <a:lnSpc>
                <a:spcPct val="150000"/>
              </a:lnSpc>
              <a:defRPr sz="16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 name="日期占位符 1"/>
          <p:cNvSpPr>
            <a:spLocks noGrp="1"/>
          </p:cNvSpPr>
          <p:nvPr>
            <p:ph type="dt" sz="half" idx="10"/>
          </p:nvPr>
        </p:nvSpPr>
        <p:spPr>
          <a:xfrm>
            <a:off x="838283" y="6356351"/>
            <a:ext cx="2743470"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01C99CA-61FC-4162-8EF6-6549A53D5973}" type="datetimeFigureOut">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rPr>
              <a:t>2024/10/22</a:t>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4" name="页脚占位符 3"/>
          <p:cNvSpPr>
            <a:spLocks noGrp="1"/>
          </p:cNvSpPr>
          <p:nvPr>
            <p:ph type="ftr" sz="quarter" idx="11"/>
          </p:nvPr>
        </p:nvSpPr>
        <p:spPr>
          <a:xfrm>
            <a:off x="4038998" y="6356351"/>
            <a:ext cx="4115205"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5" name="灯片编号占位符 4"/>
          <p:cNvSpPr>
            <a:spLocks noGrp="1"/>
          </p:cNvSpPr>
          <p:nvPr>
            <p:ph type="sldNum" sz="quarter" idx="12"/>
          </p:nvPr>
        </p:nvSpPr>
        <p:spPr>
          <a:xfrm>
            <a:off x="8611448" y="6356351"/>
            <a:ext cx="2743470" cy="365125"/>
          </a:xfrm>
        </p:spPr>
        <p:txBody>
          <a:bodyPr/>
          <a:lstStyle/>
          <a:p>
            <a:pPr lvl="0" eaLnBrk="1" hangingPunct="1">
              <a:buNone/>
            </a:pPr>
            <a:fld id="{9A0DB2DC-4C9A-4742-B13C-FB6460FD3503}" type="slidenum">
              <a:rPr lang="zh-CN" altLang="en-US" dirty="0"/>
              <a:t>‹#›</a:t>
            </a:fld>
            <a:endParaRPr lang="zh-CN" altLang="en-US" dirty="0">
              <a:latin typeface="Arial" panose="020B0604020202090204" pitchFamily="34" charset="0"/>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45_正文">
    <p:bg>
      <p:bgPr>
        <a:solidFill>
          <a:schemeClr val="bg1"/>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609660" y="1066800"/>
            <a:ext cx="10973880" cy="5059363"/>
          </a:xfrm>
          <a:prstGeom prst="rect">
            <a:avLst/>
          </a:prstGeom>
        </p:spPr>
        <p:txBody>
          <a:bodyPr/>
          <a:lstStyle>
            <a:lvl1pPr>
              <a:lnSpc>
                <a:spcPct val="150000"/>
              </a:lnSpc>
              <a:defRPr sz="2400"/>
            </a:lvl1pPr>
            <a:lvl2pPr>
              <a:lnSpc>
                <a:spcPct val="150000"/>
              </a:lnSpc>
              <a:defRPr sz="2000"/>
            </a:lvl2pPr>
            <a:lvl3pPr>
              <a:lnSpc>
                <a:spcPct val="150000"/>
              </a:lnSpc>
              <a:defRPr sz="1800"/>
            </a:lvl3pPr>
            <a:lvl4pPr>
              <a:lnSpc>
                <a:spcPct val="150000"/>
              </a:lnSpc>
              <a:defRPr sz="1600"/>
            </a:lvl4pPr>
            <a:lvl5pPr>
              <a:lnSpc>
                <a:spcPct val="150000"/>
              </a:lnSpc>
              <a:defRPr sz="16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 name="日期占位符 1"/>
          <p:cNvSpPr>
            <a:spLocks noGrp="1"/>
          </p:cNvSpPr>
          <p:nvPr>
            <p:ph type="dt" sz="half" idx="10"/>
          </p:nvPr>
        </p:nvSpPr>
        <p:spPr>
          <a:xfrm>
            <a:off x="838283" y="6356351"/>
            <a:ext cx="2743470"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01C99CA-61FC-4162-8EF6-6549A53D5973}" type="datetimeFigureOut">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rPr>
              <a:t>2024/10/22</a:t>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4" name="页脚占位符 3"/>
          <p:cNvSpPr>
            <a:spLocks noGrp="1"/>
          </p:cNvSpPr>
          <p:nvPr>
            <p:ph type="ftr" sz="quarter" idx="11"/>
          </p:nvPr>
        </p:nvSpPr>
        <p:spPr>
          <a:xfrm>
            <a:off x="4038998" y="6356351"/>
            <a:ext cx="4115205"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5" name="灯片编号占位符 4"/>
          <p:cNvSpPr>
            <a:spLocks noGrp="1"/>
          </p:cNvSpPr>
          <p:nvPr>
            <p:ph type="sldNum" sz="quarter" idx="12"/>
          </p:nvPr>
        </p:nvSpPr>
        <p:spPr>
          <a:xfrm>
            <a:off x="8611448" y="6356351"/>
            <a:ext cx="2743470" cy="365125"/>
          </a:xfrm>
        </p:spPr>
        <p:txBody>
          <a:bodyPr/>
          <a:lstStyle/>
          <a:p>
            <a:pPr lvl="0" eaLnBrk="1" hangingPunct="1">
              <a:buNone/>
            </a:pPr>
            <a:fld id="{9A0DB2DC-4C9A-4742-B13C-FB6460FD3503}" type="slidenum">
              <a:rPr lang="zh-CN" altLang="en-US" dirty="0"/>
              <a:t>‹#›</a:t>
            </a:fld>
            <a:endParaRPr lang="zh-CN" altLang="en-US" dirty="0">
              <a:latin typeface="Arial" panose="020B0604020202090204" pitchFamily="34" charset="0"/>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46_正文">
    <p:bg>
      <p:bgPr>
        <a:solidFill>
          <a:schemeClr val="bg1"/>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609660" y="1066800"/>
            <a:ext cx="10973880" cy="5059363"/>
          </a:xfrm>
          <a:prstGeom prst="rect">
            <a:avLst/>
          </a:prstGeom>
        </p:spPr>
        <p:txBody>
          <a:bodyPr/>
          <a:lstStyle>
            <a:lvl1pPr>
              <a:lnSpc>
                <a:spcPct val="150000"/>
              </a:lnSpc>
              <a:defRPr sz="2400"/>
            </a:lvl1pPr>
            <a:lvl2pPr>
              <a:lnSpc>
                <a:spcPct val="150000"/>
              </a:lnSpc>
              <a:defRPr sz="2000"/>
            </a:lvl2pPr>
            <a:lvl3pPr>
              <a:lnSpc>
                <a:spcPct val="150000"/>
              </a:lnSpc>
              <a:defRPr sz="1800"/>
            </a:lvl3pPr>
            <a:lvl4pPr>
              <a:lnSpc>
                <a:spcPct val="150000"/>
              </a:lnSpc>
              <a:defRPr sz="1600"/>
            </a:lvl4pPr>
            <a:lvl5pPr>
              <a:lnSpc>
                <a:spcPct val="150000"/>
              </a:lnSpc>
              <a:defRPr sz="16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 name="日期占位符 1"/>
          <p:cNvSpPr>
            <a:spLocks noGrp="1"/>
          </p:cNvSpPr>
          <p:nvPr>
            <p:ph type="dt" sz="half" idx="10"/>
          </p:nvPr>
        </p:nvSpPr>
        <p:spPr>
          <a:xfrm>
            <a:off x="838283" y="6356351"/>
            <a:ext cx="2743470"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01C99CA-61FC-4162-8EF6-6549A53D5973}" type="datetimeFigureOut">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rPr>
              <a:t>2024/10/22</a:t>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4" name="页脚占位符 3"/>
          <p:cNvSpPr>
            <a:spLocks noGrp="1"/>
          </p:cNvSpPr>
          <p:nvPr>
            <p:ph type="ftr" sz="quarter" idx="11"/>
          </p:nvPr>
        </p:nvSpPr>
        <p:spPr>
          <a:xfrm>
            <a:off x="4038998" y="6356351"/>
            <a:ext cx="4115205"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5" name="灯片编号占位符 4"/>
          <p:cNvSpPr>
            <a:spLocks noGrp="1"/>
          </p:cNvSpPr>
          <p:nvPr>
            <p:ph type="sldNum" sz="quarter" idx="12"/>
          </p:nvPr>
        </p:nvSpPr>
        <p:spPr>
          <a:xfrm>
            <a:off x="8611448" y="6356351"/>
            <a:ext cx="2743470" cy="365125"/>
          </a:xfrm>
        </p:spPr>
        <p:txBody>
          <a:bodyPr/>
          <a:lstStyle/>
          <a:p>
            <a:pPr lvl="0" eaLnBrk="1" hangingPunct="1">
              <a:buNone/>
            </a:pPr>
            <a:fld id="{9A0DB2DC-4C9A-4742-B13C-FB6460FD3503}" type="slidenum">
              <a:rPr lang="zh-CN" altLang="en-US" dirty="0"/>
              <a:t>‹#›</a:t>
            </a:fld>
            <a:endParaRPr lang="zh-CN" altLang="en-US" dirty="0">
              <a:latin typeface="Arial" panose="020B0604020202090204" pitchFamily="34" charset="0"/>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47_正文">
    <p:bg>
      <p:bgPr>
        <a:solidFill>
          <a:schemeClr val="bg1"/>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609660" y="1066800"/>
            <a:ext cx="10973880" cy="5059363"/>
          </a:xfrm>
          <a:prstGeom prst="rect">
            <a:avLst/>
          </a:prstGeom>
        </p:spPr>
        <p:txBody>
          <a:bodyPr/>
          <a:lstStyle>
            <a:lvl1pPr>
              <a:lnSpc>
                <a:spcPct val="150000"/>
              </a:lnSpc>
              <a:defRPr sz="2400"/>
            </a:lvl1pPr>
            <a:lvl2pPr>
              <a:lnSpc>
                <a:spcPct val="150000"/>
              </a:lnSpc>
              <a:defRPr sz="2000"/>
            </a:lvl2pPr>
            <a:lvl3pPr>
              <a:lnSpc>
                <a:spcPct val="150000"/>
              </a:lnSpc>
              <a:defRPr sz="1800"/>
            </a:lvl3pPr>
            <a:lvl4pPr>
              <a:lnSpc>
                <a:spcPct val="150000"/>
              </a:lnSpc>
              <a:defRPr sz="1600"/>
            </a:lvl4pPr>
            <a:lvl5pPr>
              <a:lnSpc>
                <a:spcPct val="150000"/>
              </a:lnSpc>
              <a:defRPr sz="16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 name="日期占位符 1"/>
          <p:cNvSpPr>
            <a:spLocks noGrp="1"/>
          </p:cNvSpPr>
          <p:nvPr>
            <p:ph type="dt" sz="half" idx="10"/>
          </p:nvPr>
        </p:nvSpPr>
        <p:spPr>
          <a:xfrm>
            <a:off x="838283" y="6356351"/>
            <a:ext cx="2743470"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01C99CA-61FC-4162-8EF6-6549A53D5973}" type="datetimeFigureOut">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rPr>
              <a:t>2024/10/22</a:t>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4" name="页脚占位符 3"/>
          <p:cNvSpPr>
            <a:spLocks noGrp="1"/>
          </p:cNvSpPr>
          <p:nvPr>
            <p:ph type="ftr" sz="quarter" idx="11"/>
          </p:nvPr>
        </p:nvSpPr>
        <p:spPr>
          <a:xfrm>
            <a:off x="4038998" y="6356351"/>
            <a:ext cx="4115205"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5" name="灯片编号占位符 4"/>
          <p:cNvSpPr>
            <a:spLocks noGrp="1"/>
          </p:cNvSpPr>
          <p:nvPr>
            <p:ph type="sldNum" sz="quarter" idx="12"/>
          </p:nvPr>
        </p:nvSpPr>
        <p:spPr>
          <a:xfrm>
            <a:off x="8611448" y="6356351"/>
            <a:ext cx="2743470" cy="365125"/>
          </a:xfrm>
        </p:spPr>
        <p:txBody>
          <a:bodyPr/>
          <a:lstStyle/>
          <a:p>
            <a:pPr lvl="0" eaLnBrk="1" hangingPunct="1">
              <a:buNone/>
            </a:pPr>
            <a:fld id="{9A0DB2DC-4C9A-4742-B13C-FB6460FD3503}" type="slidenum">
              <a:rPr lang="zh-CN" altLang="en-US" dirty="0"/>
              <a:t>‹#›</a:t>
            </a:fld>
            <a:endParaRPr lang="zh-CN" altLang="en-US" dirty="0">
              <a:latin typeface="Arial" panose="020B0604020202090204" pitchFamily="34" charset="0"/>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48_正文">
    <p:bg>
      <p:bgPr>
        <a:solidFill>
          <a:schemeClr val="bg1"/>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609660" y="1066800"/>
            <a:ext cx="10973880" cy="5059363"/>
          </a:xfrm>
          <a:prstGeom prst="rect">
            <a:avLst/>
          </a:prstGeom>
        </p:spPr>
        <p:txBody>
          <a:bodyPr/>
          <a:lstStyle>
            <a:lvl1pPr>
              <a:lnSpc>
                <a:spcPct val="150000"/>
              </a:lnSpc>
              <a:defRPr sz="2400"/>
            </a:lvl1pPr>
            <a:lvl2pPr>
              <a:lnSpc>
                <a:spcPct val="150000"/>
              </a:lnSpc>
              <a:defRPr sz="2000"/>
            </a:lvl2pPr>
            <a:lvl3pPr>
              <a:lnSpc>
                <a:spcPct val="150000"/>
              </a:lnSpc>
              <a:defRPr sz="1800"/>
            </a:lvl3pPr>
            <a:lvl4pPr>
              <a:lnSpc>
                <a:spcPct val="150000"/>
              </a:lnSpc>
              <a:defRPr sz="1600"/>
            </a:lvl4pPr>
            <a:lvl5pPr>
              <a:lnSpc>
                <a:spcPct val="150000"/>
              </a:lnSpc>
              <a:defRPr sz="16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 name="日期占位符 1"/>
          <p:cNvSpPr>
            <a:spLocks noGrp="1"/>
          </p:cNvSpPr>
          <p:nvPr>
            <p:ph type="dt" sz="half" idx="10"/>
          </p:nvPr>
        </p:nvSpPr>
        <p:spPr>
          <a:xfrm>
            <a:off x="838283" y="6356351"/>
            <a:ext cx="2743470"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01C99CA-61FC-4162-8EF6-6549A53D5973}" type="datetimeFigureOut">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rPr>
              <a:t>2024/10/22</a:t>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4" name="页脚占位符 3"/>
          <p:cNvSpPr>
            <a:spLocks noGrp="1"/>
          </p:cNvSpPr>
          <p:nvPr>
            <p:ph type="ftr" sz="quarter" idx="11"/>
          </p:nvPr>
        </p:nvSpPr>
        <p:spPr>
          <a:xfrm>
            <a:off x="4038998" y="6356351"/>
            <a:ext cx="4115205"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5" name="灯片编号占位符 4"/>
          <p:cNvSpPr>
            <a:spLocks noGrp="1"/>
          </p:cNvSpPr>
          <p:nvPr>
            <p:ph type="sldNum" sz="quarter" idx="12"/>
          </p:nvPr>
        </p:nvSpPr>
        <p:spPr>
          <a:xfrm>
            <a:off x="8611448" y="6356351"/>
            <a:ext cx="2743470" cy="365125"/>
          </a:xfrm>
        </p:spPr>
        <p:txBody>
          <a:bodyPr/>
          <a:lstStyle/>
          <a:p>
            <a:pPr lvl="0" eaLnBrk="1" hangingPunct="1">
              <a:buNone/>
            </a:pPr>
            <a:fld id="{9A0DB2DC-4C9A-4742-B13C-FB6460FD3503}" type="slidenum">
              <a:rPr lang="zh-CN" altLang="en-US" dirty="0"/>
              <a:t>‹#›</a:t>
            </a:fld>
            <a:endParaRPr lang="zh-CN" altLang="en-US" dirty="0">
              <a:latin typeface="Arial" panose="020B0604020202090204" pitchFamily="34" charset="0"/>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49_正文">
    <p:bg>
      <p:bgPr>
        <a:solidFill>
          <a:schemeClr val="bg1"/>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609660" y="1066800"/>
            <a:ext cx="10973880" cy="5059363"/>
          </a:xfrm>
          <a:prstGeom prst="rect">
            <a:avLst/>
          </a:prstGeom>
        </p:spPr>
        <p:txBody>
          <a:bodyPr/>
          <a:lstStyle>
            <a:lvl1pPr>
              <a:lnSpc>
                <a:spcPct val="150000"/>
              </a:lnSpc>
              <a:defRPr sz="2400"/>
            </a:lvl1pPr>
            <a:lvl2pPr>
              <a:lnSpc>
                <a:spcPct val="150000"/>
              </a:lnSpc>
              <a:defRPr sz="2000"/>
            </a:lvl2pPr>
            <a:lvl3pPr>
              <a:lnSpc>
                <a:spcPct val="150000"/>
              </a:lnSpc>
              <a:defRPr sz="1800"/>
            </a:lvl3pPr>
            <a:lvl4pPr>
              <a:lnSpc>
                <a:spcPct val="150000"/>
              </a:lnSpc>
              <a:defRPr sz="1600"/>
            </a:lvl4pPr>
            <a:lvl5pPr>
              <a:lnSpc>
                <a:spcPct val="150000"/>
              </a:lnSpc>
              <a:defRPr sz="16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 name="日期占位符 1"/>
          <p:cNvSpPr>
            <a:spLocks noGrp="1"/>
          </p:cNvSpPr>
          <p:nvPr>
            <p:ph type="dt" sz="half" idx="10"/>
          </p:nvPr>
        </p:nvSpPr>
        <p:spPr>
          <a:xfrm>
            <a:off x="838283" y="6356351"/>
            <a:ext cx="2743470"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01C99CA-61FC-4162-8EF6-6549A53D5973}" type="datetimeFigureOut">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rPr>
              <a:t>2024/10/22</a:t>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4" name="页脚占位符 3"/>
          <p:cNvSpPr>
            <a:spLocks noGrp="1"/>
          </p:cNvSpPr>
          <p:nvPr>
            <p:ph type="ftr" sz="quarter" idx="11"/>
          </p:nvPr>
        </p:nvSpPr>
        <p:spPr>
          <a:xfrm>
            <a:off x="4038998" y="6356351"/>
            <a:ext cx="4115205"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5" name="灯片编号占位符 4"/>
          <p:cNvSpPr>
            <a:spLocks noGrp="1"/>
          </p:cNvSpPr>
          <p:nvPr>
            <p:ph type="sldNum" sz="quarter" idx="12"/>
          </p:nvPr>
        </p:nvSpPr>
        <p:spPr>
          <a:xfrm>
            <a:off x="8611448" y="6356351"/>
            <a:ext cx="2743470" cy="365125"/>
          </a:xfrm>
        </p:spPr>
        <p:txBody>
          <a:bodyPr/>
          <a:lstStyle/>
          <a:p>
            <a:pPr lvl="0" eaLnBrk="1" hangingPunct="1">
              <a:buNone/>
            </a:pPr>
            <a:fld id="{9A0DB2DC-4C9A-4742-B13C-FB6460FD3503}" type="slidenum">
              <a:rPr lang="zh-CN" altLang="en-US" dirty="0"/>
              <a:t>‹#›</a:t>
            </a:fld>
            <a:endParaRPr lang="zh-CN" altLang="en-US" dirty="0">
              <a:latin typeface="Arial" panose="020B0604020202090204" pitchFamily="34" charset="0"/>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50_正文">
    <p:bg>
      <p:bgPr>
        <a:solidFill>
          <a:schemeClr val="bg1"/>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609660" y="1066800"/>
            <a:ext cx="10973880" cy="5059363"/>
          </a:xfrm>
          <a:prstGeom prst="rect">
            <a:avLst/>
          </a:prstGeom>
        </p:spPr>
        <p:txBody>
          <a:bodyPr/>
          <a:lstStyle>
            <a:lvl1pPr>
              <a:lnSpc>
                <a:spcPct val="150000"/>
              </a:lnSpc>
              <a:defRPr sz="2400"/>
            </a:lvl1pPr>
            <a:lvl2pPr>
              <a:lnSpc>
                <a:spcPct val="150000"/>
              </a:lnSpc>
              <a:defRPr sz="2000"/>
            </a:lvl2pPr>
            <a:lvl3pPr>
              <a:lnSpc>
                <a:spcPct val="150000"/>
              </a:lnSpc>
              <a:defRPr sz="1800"/>
            </a:lvl3pPr>
            <a:lvl4pPr>
              <a:lnSpc>
                <a:spcPct val="150000"/>
              </a:lnSpc>
              <a:defRPr sz="1600"/>
            </a:lvl4pPr>
            <a:lvl5pPr>
              <a:lnSpc>
                <a:spcPct val="150000"/>
              </a:lnSpc>
              <a:defRPr sz="16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 name="日期占位符 1"/>
          <p:cNvSpPr>
            <a:spLocks noGrp="1"/>
          </p:cNvSpPr>
          <p:nvPr>
            <p:ph type="dt" sz="half" idx="10"/>
          </p:nvPr>
        </p:nvSpPr>
        <p:spPr>
          <a:xfrm>
            <a:off x="838283" y="6356351"/>
            <a:ext cx="2743470"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01C99CA-61FC-4162-8EF6-6549A53D5973}" type="datetimeFigureOut">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rPr>
              <a:t>2024/10/22</a:t>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4" name="页脚占位符 3"/>
          <p:cNvSpPr>
            <a:spLocks noGrp="1"/>
          </p:cNvSpPr>
          <p:nvPr>
            <p:ph type="ftr" sz="quarter" idx="11"/>
          </p:nvPr>
        </p:nvSpPr>
        <p:spPr>
          <a:xfrm>
            <a:off x="4038998" y="6356351"/>
            <a:ext cx="4115205"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5" name="灯片编号占位符 4"/>
          <p:cNvSpPr>
            <a:spLocks noGrp="1"/>
          </p:cNvSpPr>
          <p:nvPr>
            <p:ph type="sldNum" sz="quarter" idx="12"/>
          </p:nvPr>
        </p:nvSpPr>
        <p:spPr>
          <a:xfrm>
            <a:off x="8611448" y="6356351"/>
            <a:ext cx="2743470" cy="365125"/>
          </a:xfrm>
        </p:spPr>
        <p:txBody>
          <a:bodyPr/>
          <a:lstStyle/>
          <a:p>
            <a:pPr lvl="0" eaLnBrk="1" hangingPunct="1">
              <a:buNone/>
            </a:pPr>
            <a:fld id="{9A0DB2DC-4C9A-4742-B13C-FB6460FD3503}" type="slidenum">
              <a:rPr lang="zh-CN" altLang="en-US" dirty="0"/>
              <a:t>‹#›</a:t>
            </a:fld>
            <a:endParaRPr lang="zh-CN" altLang="en-US" dirty="0">
              <a:latin typeface="Arial" panose="020B0604020202090204" pitchFamily="34" charset="0"/>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51_正文">
    <p:bg>
      <p:bgPr>
        <a:solidFill>
          <a:schemeClr val="bg1"/>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609660" y="1066800"/>
            <a:ext cx="10973880" cy="5059363"/>
          </a:xfrm>
          <a:prstGeom prst="rect">
            <a:avLst/>
          </a:prstGeom>
        </p:spPr>
        <p:txBody>
          <a:bodyPr/>
          <a:lstStyle>
            <a:lvl1pPr>
              <a:lnSpc>
                <a:spcPct val="150000"/>
              </a:lnSpc>
              <a:defRPr sz="2400"/>
            </a:lvl1pPr>
            <a:lvl2pPr>
              <a:lnSpc>
                <a:spcPct val="150000"/>
              </a:lnSpc>
              <a:defRPr sz="2000"/>
            </a:lvl2pPr>
            <a:lvl3pPr>
              <a:lnSpc>
                <a:spcPct val="150000"/>
              </a:lnSpc>
              <a:defRPr sz="1800"/>
            </a:lvl3pPr>
            <a:lvl4pPr>
              <a:lnSpc>
                <a:spcPct val="150000"/>
              </a:lnSpc>
              <a:defRPr sz="1600"/>
            </a:lvl4pPr>
            <a:lvl5pPr>
              <a:lnSpc>
                <a:spcPct val="150000"/>
              </a:lnSpc>
              <a:defRPr sz="16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 name="日期占位符 1"/>
          <p:cNvSpPr>
            <a:spLocks noGrp="1"/>
          </p:cNvSpPr>
          <p:nvPr>
            <p:ph type="dt" sz="half" idx="10"/>
          </p:nvPr>
        </p:nvSpPr>
        <p:spPr>
          <a:xfrm>
            <a:off x="838283" y="6356351"/>
            <a:ext cx="2743470"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01C99CA-61FC-4162-8EF6-6549A53D5973}" type="datetimeFigureOut">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rPr>
              <a:t>2024/10/22</a:t>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4" name="页脚占位符 3"/>
          <p:cNvSpPr>
            <a:spLocks noGrp="1"/>
          </p:cNvSpPr>
          <p:nvPr>
            <p:ph type="ftr" sz="quarter" idx="11"/>
          </p:nvPr>
        </p:nvSpPr>
        <p:spPr>
          <a:xfrm>
            <a:off x="4038998" y="6356351"/>
            <a:ext cx="4115205"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5" name="灯片编号占位符 4"/>
          <p:cNvSpPr>
            <a:spLocks noGrp="1"/>
          </p:cNvSpPr>
          <p:nvPr>
            <p:ph type="sldNum" sz="quarter" idx="12"/>
          </p:nvPr>
        </p:nvSpPr>
        <p:spPr>
          <a:xfrm>
            <a:off x="8611448" y="6356351"/>
            <a:ext cx="2743470" cy="365125"/>
          </a:xfrm>
        </p:spPr>
        <p:txBody>
          <a:bodyPr/>
          <a:lstStyle/>
          <a:p>
            <a:pPr lvl="0" eaLnBrk="1" hangingPunct="1">
              <a:buNone/>
            </a:pPr>
            <a:fld id="{9A0DB2DC-4C9A-4742-B13C-FB6460FD3503}" type="slidenum">
              <a:rPr lang="zh-CN" altLang="en-US" dirty="0"/>
              <a:t>‹#›</a:t>
            </a:fld>
            <a:endParaRPr lang="zh-CN" altLang="en-US" dirty="0">
              <a:latin typeface="Arial" panose="020B0604020202090204" pitchFamily="34" charset="0"/>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52_正文">
    <p:bg>
      <p:bgPr>
        <a:solidFill>
          <a:schemeClr val="bg1"/>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609660" y="1066800"/>
            <a:ext cx="10973880" cy="5059363"/>
          </a:xfrm>
          <a:prstGeom prst="rect">
            <a:avLst/>
          </a:prstGeom>
        </p:spPr>
        <p:txBody>
          <a:bodyPr/>
          <a:lstStyle>
            <a:lvl1pPr>
              <a:lnSpc>
                <a:spcPct val="150000"/>
              </a:lnSpc>
              <a:defRPr sz="2400"/>
            </a:lvl1pPr>
            <a:lvl2pPr>
              <a:lnSpc>
                <a:spcPct val="150000"/>
              </a:lnSpc>
              <a:defRPr sz="2000"/>
            </a:lvl2pPr>
            <a:lvl3pPr>
              <a:lnSpc>
                <a:spcPct val="150000"/>
              </a:lnSpc>
              <a:defRPr sz="1800"/>
            </a:lvl3pPr>
            <a:lvl4pPr>
              <a:lnSpc>
                <a:spcPct val="150000"/>
              </a:lnSpc>
              <a:defRPr sz="1600"/>
            </a:lvl4pPr>
            <a:lvl5pPr>
              <a:lnSpc>
                <a:spcPct val="150000"/>
              </a:lnSpc>
              <a:defRPr sz="16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 name="日期占位符 1"/>
          <p:cNvSpPr>
            <a:spLocks noGrp="1"/>
          </p:cNvSpPr>
          <p:nvPr>
            <p:ph type="dt" sz="half" idx="10"/>
          </p:nvPr>
        </p:nvSpPr>
        <p:spPr>
          <a:xfrm>
            <a:off x="838283" y="6356351"/>
            <a:ext cx="2743470"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01C99CA-61FC-4162-8EF6-6549A53D5973}" type="datetimeFigureOut">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rPr>
              <a:t>2024/10/22</a:t>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4" name="页脚占位符 3"/>
          <p:cNvSpPr>
            <a:spLocks noGrp="1"/>
          </p:cNvSpPr>
          <p:nvPr>
            <p:ph type="ftr" sz="quarter" idx="11"/>
          </p:nvPr>
        </p:nvSpPr>
        <p:spPr>
          <a:xfrm>
            <a:off x="4038998" y="6356351"/>
            <a:ext cx="4115205"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5" name="灯片编号占位符 4"/>
          <p:cNvSpPr>
            <a:spLocks noGrp="1"/>
          </p:cNvSpPr>
          <p:nvPr>
            <p:ph type="sldNum" sz="quarter" idx="12"/>
          </p:nvPr>
        </p:nvSpPr>
        <p:spPr>
          <a:xfrm>
            <a:off x="8611448" y="6356351"/>
            <a:ext cx="2743470" cy="365125"/>
          </a:xfrm>
        </p:spPr>
        <p:txBody>
          <a:bodyPr/>
          <a:lstStyle/>
          <a:p>
            <a:pPr lvl="0" eaLnBrk="1" hangingPunct="1">
              <a:buNone/>
            </a:pPr>
            <a:fld id="{9A0DB2DC-4C9A-4742-B13C-FB6460FD3503}" type="slidenum">
              <a:rPr lang="zh-CN" altLang="en-US" dirty="0"/>
              <a:t>‹#›</a:t>
            </a:fld>
            <a:endParaRPr lang="zh-CN" altLang="en-US" dirty="0">
              <a:latin typeface="Arial" panose="020B0604020202090204" pitchFamily="34" charset="0"/>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53_正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43948" y="114300"/>
            <a:ext cx="10355753" cy="723900"/>
          </a:xfrm>
          <a:prstGeom prst="rect">
            <a:avLst/>
          </a:prstGeom>
        </p:spPr>
        <p:txBody>
          <a:bodyPr/>
          <a:lstStyle>
            <a:lvl1pPr algn="l">
              <a:defRPr sz="3600" b="1" spc="300">
                <a:solidFill>
                  <a:srgbClr val="FFFF00"/>
                </a:solidFill>
                <a:latin typeface="微软雅黑" panose="020B0503020204020204" charset="-122"/>
                <a:ea typeface="微软雅黑" panose="020B0503020204020204" charset="-122"/>
              </a:defRPr>
            </a:lvl1pPr>
          </a:lstStyle>
          <a:p>
            <a:r>
              <a:rPr lang="zh-CN" altLang="en-US" dirty="0"/>
              <a:t>单击此处编辑母版标题样式</a:t>
            </a:r>
          </a:p>
        </p:txBody>
      </p:sp>
      <p:sp>
        <p:nvSpPr>
          <p:cNvPr id="3" name="内容占位符 2"/>
          <p:cNvSpPr>
            <a:spLocks noGrp="1"/>
          </p:cNvSpPr>
          <p:nvPr>
            <p:ph idx="1"/>
          </p:nvPr>
        </p:nvSpPr>
        <p:spPr>
          <a:xfrm>
            <a:off x="609660" y="1066800"/>
            <a:ext cx="10973880" cy="5059363"/>
          </a:xfrm>
          <a:prstGeom prst="rect">
            <a:avLst/>
          </a:prstGeom>
        </p:spPr>
        <p:txBody>
          <a:bodyPr/>
          <a:lstStyle>
            <a:lvl1pPr>
              <a:lnSpc>
                <a:spcPct val="150000"/>
              </a:lnSpc>
              <a:defRPr sz="2400"/>
            </a:lvl1pPr>
            <a:lvl2pPr>
              <a:lnSpc>
                <a:spcPct val="150000"/>
              </a:lnSpc>
              <a:defRPr sz="2000"/>
            </a:lvl2pPr>
            <a:lvl3pPr>
              <a:lnSpc>
                <a:spcPct val="150000"/>
              </a:lnSpc>
              <a:defRPr sz="1800"/>
            </a:lvl3pPr>
            <a:lvl4pPr>
              <a:lnSpc>
                <a:spcPct val="150000"/>
              </a:lnSpc>
              <a:defRPr sz="1600"/>
            </a:lvl4pPr>
            <a:lvl5pPr>
              <a:lnSpc>
                <a:spcPct val="150000"/>
              </a:lnSpc>
              <a:defRPr sz="16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a:xfrm>
            <a:off x="838283" y="6356351"/>
            <a:ext cx="2743470"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01C99CA-61FC-4162-8EF6-6549A53D5973}" type="datetimeFigureOut">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rPr>
              <a:t>2024/10/22</a:t>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5" name="页脚占位符 4"/>
          <p:cNvSpPr>
            <a:spLocks noGrp="1"/>
          </p:cNvSpPr>
          <p:nvPr>
            <p:ph type="ftr" sz="quarter" idx="11"/>
          </p:nvPr>
        </p:nvSpPr>
        <p:spPr>
          <a:xfrm>
            <a:off x="4038998" y="6356351"/>
            <a:ext cx="4115205"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6" name="灯片编号占位符 5"/>
          <p:cNvSpPr>
            <a:spLocks noGrp="1"/>
          </p:cNvSpPr>
          <p:nvPr>
            <p:ph type="sldNum" sz="quarter" idx="12"/>
          </p:nvPr>
        </p:nvSpPr>
        <p:spPr>
          <a:xfrm>
            <a:off x="8611448" y="6356351"/>
            <a:ext cx="2743470" cy="365125"/>
          </a:xfrm>
        </p:spPr>
        <p:txBody>
          <a:bodyPr/>
          <a:lstStyle/>
          <a:p>
            <a:pPr lvl="0" eaLnBrk="1" hangingPunct="1">
              <a:buNone/>
            </a:pPr>
            <a:fld id="{9A0DB2DC-4C9A-4742-B13C-FB6460FD3503}" type="slidenum">
              <a:rPr lang="zh-CN" altLang="en-US" dirty="0"/>
              <a:t>‹#›</a:t>
            </a:fld>
            <a:endParaRPr lang="zh-CN" altLang="en-US" dirty="0">
              <a:latin typeface="Arial" panose="020B0604020202090204" pitchFamily="34" charset="0"/>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54_正文">
    <p:bg>
      <p:bgPr>
        <a:solidFill>
          <a:schemeClr val="bg1"/>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609660" y="1066800"/>
            <a:ext cx="10973880" cy="5059363"/>
          </a:xfrm>
          <a:prstGeom prst="rect">
            <a:avLst/>
          </a:prstGeom>
        </p:spPr>
        <p:txBody>
          <a:bodyPr/>
          <a:lstStyle>
            <a:lvl1pPr>
              <a:lnSpc>
                <a:spcPct val="150000"/>
              </a:lnSpc>
              <a:defRPr sz="2400"/>
            </a:lvl1pPr>
            <a:lvl2pPr>
              <a:lnSpc>
                <a:spcPct val="150000"/>
              </a:lnSpc>
              <a:defRPr sz="2000"/>
            </a:lvl2pPr>
            <a:lvl3pPr>
              <a:lnSpc>
                <a:spcPct val="150000"/>
              </a:lnSpc>
              <a:defRPr sz="1800"/>
            </a:lvl3pPr>
            <a:lvl4pPr>
              <a:lnSpc>
                <a:spcPct val="150000"/>
              </a:lnSpc>
              <a:defRPr sz="1600"/>
            </a:lvl4pPr>
            <a:lvl5pPr>
              <a:lnSpc>
                <a:spcPct val="150000"/>
              </a:lnSpc>
              <a:defRPr sz="16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 name="日期占位符 1"/>
          <p:cNvSpPr>
            <a:spLocks noGrp="1"/>
          </p:cNvSpPr>
          <p:nvPr>
            <p:ph type="dt" sz="half" idx="10"/>
          </p:nvPr>
        </p:nvSpPr>
        <p:spPr>
          <a:xfrm>
            <a:off x="838283" y="6356351"/>
            <a:ext cx="2743470"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01C99CA-61FC-4162-8EF6-6549A53D5973}" type="datetimeFigureOut">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rPr>
              <a:t>2024/10/22</a:t>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4" name="页脚占位符 3"/>
          <p:cNvSpPr>
            <a:spLocks noGrp="1"/>
          </p:cNvSpPr>
          <p:nvPr>
            <p:ph type="ftr" sz="quarter" idx="11"/>
          </p:nvPr>
        </p:nvSpPr>
        <p:spPr>
          <a:xfrm>
            <a:off x="4038998" y="6356351"/>
            <a:ext cx="4115205"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5" name="灯片编号占位符 4"/>
          <p:cNvSpPr>
            <a:spLocks noGrp="1"/>
          </p:cNvSpPr>
          <p:nvPr>
            <p:ph type="sldNum" sz="quarter" idx="12"/>
          </p:nvPr>
        </p:nvSpPr>
        <p:spPr>
          <a:xfrm>
            <a:off x="8611448" y="6356351"/>
            <a:ext cx="2743470" cy="365125"/>
          </a:xfrm>
        </p:spPr>
        <p:txBody>
          <a:bodyPr/>
          <a:lstStyle/>
          <a:p>
            <a:pPr lvl="0" eaLnBrk="1" hangingPunct="1">
              <a:buNone/>
            </a:pPr>
            <a:fld id="{9A0DB2DC-4C9A-4742-B13C-FB6460FD3503}" type="slidenum">
              <a:rPr lang="zh-CN" altLang="en-US" dirty="0"/>
              <a:t>‹#›</a:t>
            </a:fld>
            <a:endParaRPr lang="zh-CN" altLang="en-US" dirty="0">
              <a:latin typeface="Arial" panose="020B0604020202090204" pitchFamily="34" charset="0"/>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55_正文">
    <p:bg>
      <p:bgPr>
        <a:solidFill>
          <a:schemeClr val="bg1"/>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609660" y="1066800"/>
            <a:ext cx="10973880" cy="5059363"/>
          </a:xfrm>
          <a:prstGeom prst="rect">
            <a:avLst/>
          </a:prstGeom>
        </p:spPr>
        <p:txBody>
          <a:bodyPr/>
          <a:lstStyle>
            <a:lvl1pPr>
              <a:lnSpc>
                <a:spcPct val="150000"/>
              </a:lnSpc>
              <a:defRPr sz="2400"/>
            </a:lvl1pPr>
            <a:lvl2pPr>
              <a:lnSpc>
                <a:spcPct val="150000"/>
              </a:lnSpc>
              <a:defRPr sz="2000"/>
            </a:lvl2pPr>
            <a:lvl3pPr>
              <a:lnSpc>
                <a:spcPct val="150000"/>
              </a:lnSpc>
              <a:defRPr sz="1800"/>
            </a:lvl3pPr>
            <a:lvl4pPr>
              <a:lnSpc>
                <a:spcPct val="150000"/>
              </a:lnSpc>
              <a:defRPr sz="1600"/>
            </a:lvl4pPr>
            <a:lvl5pPr>
              <a:lnSpc>
                <a:spcPct val="150000"/>
              </a:lnSpc>
              <a:defRPr sz="16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 name="日期占位符 1"/>
          <p:cNvSpPr>
            <a:spLocks noGrp="1"/>
          </p:cNvSpPr>
          <p:nvPr>
            <p:ph type="dt" sz="half" idx="10"/>
          </p:nvPr>
        </p:nvSpPr>
        <p:spPr>
          <a:xfrm>
            <a:off x="838283" y="6356351"/>
            <a:ext cx="2743470"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01C99CA-61FC-4162-8EF6-6549A53D5973}" type="datetimeFigureOut">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rPr>
              <a:t>2024/10/22</a:t>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4" name="页脚占位符 3"/>
          <p:cNvSpPr>
            <a:spLocks noGrp="1"/>
          </p:cNvSpPr>
          <p:nvPr>
            <p:ph type="ftr" sz="quarter" idx="11"/>
          </p:nvPr>
        </p:nvSpPr>
        <p:spPr>
          <a:xfrm>
            <a:off x="4038998" y="6356351"/>
            <a:ext cx="4115205"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5" name="灯片编号占位符 4"/>
          <p:cNvSpPr>
            <a:spLocks noGrp="1"/>
          </p:cNvSpPr>
          <p:nvPr>
            <p:ph type="sldNum" sz="quarter" idx="12"/>
          </p:nvPr>
        </p:nvSpPr>
        <p:spPr>
          <a:xfrm>
            <a:off x="8611448" y="6356351"/>
            <a:ext cx="2743470" cy="365125"/>
          </a:xfrm>
        </p:spPr>
        <p:txBody>
          <a:bodyPr/>
          <a:lstStyle/>
          <a:p>
            <a:pPr lvl="0" eaLnBrk="1" hangingPunct="1">
              <a:buNone/>
            </a:pPr>
            <a:fld id="{9A0DB2DC-4C9A-4742-B13C-FB6460FD3503}" type="slidenum">
              <a:rPr lang="zh-CN" altLang="en-US" dirty="0"/>
              <a:t>‹#›</a:t>
            </a:fld>
            <a:endParaRPr lang="zh-CN" altLang="en-US" dirty="0">
              <a:latin typeface="Arial" panose="020B0604020202090204" pitchFamily="34" charset="0"/>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目录">
    <p:bg>
      <p:bgPr>
        <a:solidFill>
          <a:schemeClr val="bg1"/>
        </a:solidFill>
        <a:effectLst/>
      </p:bgPr>
    </p:bg>
    <p:spTree>
      <p:nvGrpSpPr>
        <p:cNvPr id="1" name=""/>
        <p:cNvGrpSpPr/>
        <p:nvPr/>
      </p:nvGrpSpPr>
      <p:grpSpPr>
        <a:xfrm>
          <a:off x="0" y="0"/>
          <a:ext cx="0" cy="0"/>
          <a:chOff x="0" y="0"/>
          <a:chExt cx="0" cy="0"/>
        </a:xfrm>
      </p:grpSpPr>
      <p:sp>
        <p:nvSpPr>
          <p:cNvPr id="6" name="标题 1"/>
          <p:cNvSpPr>
            <a:spLocks noChangeArrowheads="1"/>
          </p:cNvSpPr>
          <p:nvPr/>
        </p:nvSpPr>
        <p:spPr bwMode="auto">
          <a:xfrm>
            <a:off x="232856" y="101600"/>
            <a:ext cx="6865027"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3600" b="1" i="0" u="none" strike="noStrike" kern="1200" cap="none" spc="300" normalizeH="0" baseline="0" noProof="0" dirty="0">
                <a:ln>
                  <a:noFill/>
                </a:ln>
                <a:solidFill>
                  <a:srgbClr val="FFFF00"/>
                </a:solidFill>
                <a:effectLst/>
                <a:uLnTx/>
                <a:uFillTx/>
                <a:latin typeface="微软雅黑" panose="020B0503020204020204" charset="-122"/>
                <a:ea typeface="微软雅黑" panose="020B0503020204020204" charset="-122"/>
                <a:cs typeface="+mn-cs"/>
                <a:sym typeface="Wingdings" panose="05000000000000000000" pitchFamily="2" charset="2"/>
              </a:rPr>
              <a:t> </a:t>
            </a:r>
            <a:r>
              <a:rPr kumimoji="0" lang="zh-CN" altLang="en-US" sz="3600" b="1" i="0" u="none" strike="noStrike" kern="1200" cap="none" spc="300" normalizeH="0" baseline="0" noProof="0" dirty="0">
                <a:ln>
                  <a:noFill/>
                </a:ln>
                <a:solidFill>
                  <a:srgbClr val="FFFF00"/>
                </a:solidFill>
                <a:effectLst/>
                <a:uLnTx/>
                <a:uFillTx/>
                <a:latin typeface="微软雅黑" panose="020B0503020204020204" charset="-122"/>
                <a:ea typeface="微软雅黑" panose="020B0503020204020204" charset="-122"/>
                <a:cs typeface="+mn-cs"/>
                <a:sym typeface="Wingdings" panose="05000000000000000000" pitchFamily="2" charset="2"/>
              </a:rPr>
              <a:t>目录</a:t>
            </a:r>
            <a:endParaRPr kumimoji="0" lang="zh-CN" altLang="en-US" sz="3600" b="1" i="0" u="none" strike="noStrike" kern="1200" cap="none" spc="300" normalizeH="0" baseline="0" noProof="0" dirty="0">
              <a:ln>
                <a:noFill/>
              </a:ln>
              <a:solidFill>
                <a:srgbClr val="FFFF00"/>
              </a:solidFill>
              <a:effectLst/>
              <a:uLnTx/>
              <a:uFillTx/>
              <a:latin typeface="微软雅黑" panose="020B0503020204020204" charset="-122"/>
              <a:ea typeface="微软雅黑" panose="020B0503020204020204" charset="-122"/>
              <a:cs typeface="+mn-cs"/>
              <a:sym typeface="宋体" pitchFamily="2" charset="-122"/>
            </a:endParaRPr>
          </a:p>
        </p:txBody>
      </p:sp>
      <p:sp>
        <p:nvSpPr>
          <p:cNvPr id="3" name="内容占位符 2"/>
          <p:cNvSpPr>
            <a:spLocks noGrp="1"/>
          </p:cNvSpPr>
          <p:nvPr>
            <p:ph idx="1"/>
          </p:nvPr>
        </p:nvSpPr>
        <p:spPr>
          <a:xfrm>
            <a:off x="609660" y="1066800"/>
            <a:ext cx="10973880" cy="5059363"/>
          </a:xfrm>
          <a:prstGeom prst="rect">
            <a:avLst/>
          </a:prstGeo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660" y="277813"/>
            <a:ext cx="10973880" cy="1139825"/>
          </a:xfrm>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a:xfrm>
            <a:off x="609660" y="6243639"/>
            <a:ext cx="2845080" cy="457200"/>
          </a:xfrm>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j-lt"/>
              <a:ea typeface="宋体" pitchFamily="2" charset="-122"/>
              <a:cs typeface="+mn-cs"/>
            </a:endParaRPr>
          </a:p>
        </p:txBody>
      </p:sp>
      <p:sp>
        <p:nvSpPr>
          <p:cNvPr id="4" name="页脚占位符 3"/>
          <p:cNvSpPr>
            <a:spLocks noGrp="1"/>
          </p:cNvSpPr>
          <p:nvPr>
            <p:ph type="ftr" sz="quarter" idx="11"/>
          </p:nvPr>
        </p:nvSpPr>
        <p:spPr>
          <a:xfrm>
            <a:off x="4166010" y="6248400"/>
            <a:ext cx="3861180" cy="457200"/>
          </a:xfrm>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j-lt"/>
              <a:ea typeface="宋体" pitchFamily="2" charset="-122"/>
              <a:cs typeface="+mn-cs"/>
            </a:endParaRPr>
          </a:p>
        </p:txBody>
      </p:sp>
      <p:sp>
        <p:nvSpPr>
          <p:cNvPr id="5" name="灯片编号占位符 4"/>
          <p:cNvSpPr>
            <a:spLocks noGrp="1"/>
          </p:cNvSpPr>
          <p:nvPr>
            <p:ph type="sldNum" sz="quarter" idx="12"/>
          </p:nvPr>
        </p:nvSpPr>
        <p:spPr>
          <a:xfrm>
            <a:off x="8738460" y="6243639"/>
            <a:ext cx="2845080" cy="457200"/>
          </a:xfrm>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6BADE0A-06C1-4F98-B0C9-955A98D113B5}" type="slidenum">
              <a:rPr kumimoji="0" lang="en-US" altLang="zh-CN" sz="1200" b="0" i="0" u="none" strike="noStrike" kern="1200" cap="none" spc="0" normalizeH="0" baseline="0" noProof="0">
                <a:ln>
                  <a:noFill/>
                </a:ln>
                <a:solidFill>
                  <a:schemeClr val="tx1"/>
                </a:solidFill>
                <a:effectLst/>
                <a:uLnTx/>
                <a:uFillTx/>
                <a:latin typeface="+mj-lt"/>
                <a:ea typeface="宋体" pitchFamily="2" charset="-122"/>
                <a:cs typeface="+mn-cs"/>
              </a:rPr>
              <a:t>‹#›</a:t>
            </a:fld>
            <a:endParaRPr kumimoji="0" lang="en-US" altLang="zh-CN" sz="1200" b="0" i="0" u="none" strike="noStrike" kern="1200" cap="none" spc="0" normalizeH="0" baseline="0" noProof="0">
              <a:ln>
                <a:noFill/>
              </a:ln>
              <a:solidFill>
                <a:schemeClr val="tx1"/>
              </a:solidFill>
              <a:effectLst/>
              <a:uLnTx/>
              <a:uFillTx/>
              <a:latin typeface="+mj-lt"/>
              <a:ea typeface="宋体" pitchFamily="2" charset="-122"/>
              <a:cs typeface="+mn-cs"/>
            </a:endParaRPr>
          </a:p>
        </p:txBody>
      </p:sp>
    </p:spTree>
  </p:cSld>
  <p:clrMapOvr>
    <a:masterClrMapping/>
  </p:clrMapOvr>
  <p:transition spd="med">
    <p:checke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60" y="6243639"/>
            <a:ext cx="2845080" cy="457200"/>
          </a:xfrm>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j-lt"/>
              <a:ea typeface="宋体" pitchFamily="2" charset="-122"/>
              <a:cs typeface="+mn-cs"/>
            </a:endParaRPr>
          </a:p>
        </p:txBody>
      </p:sp>
      <p:sp>
        <p:nvSpPr>
          <p:cNvPr id="3" name="页脚占位符 2"/>
          <p:cNvSpPr>
            <a:spLocks noGrp="1"/>
          </p:cNvSpPr>
          <p:nvPr>
            <p:ph type="ftr" sz="quarter" idx="11"/>
          </p:nvPr>
        </p:nvSpPr>
        <p:spPr>
          <a:xfrm>
            <a:off x="4166010" y="6248400"/>
            <a:ext cx="3861180" cy="457200"/>
          </a:xfrm>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j-lt"/>
              <a:ea typeface="宋体" pitchFamily="2" charset="-122"/>
              <a:cs typeface="+mn-cs"/>
            </a:endParaRPr>
          </a:p>
        </p:txBody>
      </p:sp>
      <p:sp>
        <p:nvSpPr>
          <p:cNvPr id="4" name="灯片编号占位符 3"/>
          <p:cNvSpPr>
            <a:spLocks noGrp="1"/>
          </p:cNvSpPr>
          <p:nvPr>
            <p:ph type="sldNum" sz="quarter" idx="12"/>
          </p:nvPr>
        </p:nvSpPr>
        <p:spPr>
          <a:xfrm>
            <a:off x="8738460" y="6243639"/>
            <a:ext cx="2845080" cy="457200"/>
          </a:xfrm>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E8D4F40C-0F41-4629-ABE7-D3938B34B085}" type="slidenum">
              <a:rPr kumimoji="0" lang="en-US" altLang="zh-CN" sz="1200" b="0" i="0" u="none" strike="noStrike" kern="1200" cap="none" spc="0" normalizeH="0" baseline="0" noProof="0">
                <a:ln>
                  <a:noFill/>
                </a:ln>
                <a:solidFill>
                  <a:schemeClr val="tx1"/>
                </a:solidFill>
                <a:effectLst/>
                <a:uLnTx/>
                <a:uFillTx/>
                <a:latin typeface="+mj-lt"/>
                <a:ea typeface="宋体" pitchFamily="2" charset="-122"/>
                <a:cs typeface="+mn-cs"/>
              </a:rPr>
              <a:t>‹#›</a:t>
            </a:fld>
            <a:endParaRPr kumimoji="0" lang="en-US" altLang="zh-CN" sz="1200" b="0" i="0" u="none" strike="noStrike" kern="1200" cap="none" spc="0" normalizeH="0" baseline="0" noProof="0">
              <a:ln>
                <a:noFill/>
              </a:ln>
              <a:solidFill>
                <a:schemeClr val="tx1"/>
              </a:solidFill>
              <a:effectLst/>
              <a:uLnTx/>
              <a:uFillTx/>
              <a:latin typeface="+mj-lt"/>
              <a:ea typeface="宋体" pitchFamily="2" charset="-122"/>
              <a:cs typeface="+mn-cs"/>
            </a:endParaRPr>
          </a:p>
        </p:txBody>
      </p:sp>
    </p:spTree>
  </p:cSld>
  <p:clrMapOvr>
    <a:masterClrMapping/>
  </p:clrMapOvr>
  <p:transition spd="med">
    <p:checker/>
  </p:transition>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Lst>
  <p:txStyles>
    <p:titleStyle>
      <a:lvl1pPr algn="l" defTabSz="1219200" rtl="0" eaLnBrk="1" latinLnBrk="0" hangingPunct="1">
        <a:lnSpc>
          <a:spcPct val="90000"/>
        </a:lnSpc>
        <a:spcBef>
          <a:spcPct val="0"/>
        </a:spcBef>
        <a:buNone/>
        <a:defRPr sz="5865" kern="1200">
          <a:solidFill>
            <a:schemeClr val="tx1"/>
          </a:solidFill>
          <a:latin typeface="+mj-lt"/>
          <a:ea typeface="+mj-ea"/>
          <a:cs typeface="+mj-cs"/>
        </a:defRPr>
      </a:lvl1pPr>
    </p:titleStyle>
    <p:bodyStyle>
      <a:lvl1pPr marL="304800" indent="-304800" algn="l" defTabSz="1219200" rtl="0" eaLnBrk="1" latinLnBrk="0" hangingPunct="1">
        <a:lnSpc>
          <a:spcPct val="90000"/>
        </a:lnSpc>
        <a:spcBef>
          <a:spcPct val="267000"/>
        </a:spcBef>
        <a:buFont typeface="Arial" panose="020B0604020202090204" pitchFamily="34" charset="0"/>
        <a:buChar char="•"/>
        <a:defRPr sz="3735" kern="1200">
          <a:solidFill>
            <a:schemeClr val="tx1"/>
          </a:solidFill>
          <a:latin typeface="+mn-lt"/>
          <a:ea typeface="+mn-ea"/>
          <a:cs typeface="+mn-cs"/>
        </a:defRPr>
      </a:lvl1pPr>
      <a:lvl2pPr marL="914400" indent="-304800" algn="l" defTabSz="1219200" rtl="0" eaLnBrk="1" latinLnBrk="0" hangingPunct="1">
        <a:lnSpc>
          <a:spcPct val="90000"/>
        </a:lnSpc>
        <a:spcBef>
          <a:spcPct val="134000"/>
        </a:spcBef>
        <a:buFont typeface="Arial" panose="020B0604020202090204" pitchFamily="34" charset="0"/>
        <a:buChar char="•"/>
        <a:defRPr sz="3200" kern="1200">
          <a:solidFill>
            <a:schemeClr val="tx1"/>
          </a:solidFill>
          <a:latin typeface="+mn-lt"/>
          <a:ea typeface="+mn-ea"/>
          <a:cs typeface="+mn-cs"/>
        </a:defRPr>
      </a:lvl2pPr>
      <a:lvl3pPr marL="1524000" indent="-304800" algn="l" defTabSz="1219200" rtl="0" eaLnBrk="1" latinLnBrk="0" hangingPunct="1">
        <a:lnSpc>
          <a:spcPct val="90000"/>
        </a:lnSpc>
        <a:spcBef>
          <a:spcPct val="134000"/>
        </a:spcBef>
        <a:buFont typeface="Arial" panose="020B0604020202090204" pitchFamily="34" charset="0"/>
        <a:buChar char="•"/>
        <a:defRPr sz="2665" kern="1200">
          <a:solidFill>
            <a:schemeClr val="tx1"/>
          </a:solidFill>
          <a:latin typeface="+mn-lt"/>
          <a:ea typeface="+mn-ea"/>
          <a:cs typeface="+mn-cs"/>
        </a:defRPr>
      </a:lvl3pPr>
      <a:lvl4pPr marL="2133600" indent="-304800" algn="l" defTabSz="1219200" rtl="0" eaLnBrk="1" latinLnBrk="0" hangingPunct="1">
        <a:lnSpc>
          <a:spcPct val="90000"/>
        </a:lnSpc>
        <a:spcBef>
          <a:spcPct val="134000"/>
        </a:spcBef>
        <a:buFont typeface="Arial" panose="020B0604020202090204" pitchFamily="34" charset="0"/>
        <a:buChar char="•"/>
        <a:defRPr sz="2400" kern="1200">
          <a:solidFill>
            <a:schemeClr val="tx1"/>
          </a:solidFill>
          <a:latin typeface="+mn-lt"/>
          <a:ea typeface="+mn-ea"/>
          <a:cs typeface="+mn-cs"/>
        </a:defRPr>
      </a:lvl4pPr>
      <a:lvl5pPr marL="2743200" indent="-304800" algn="l" defTabSz="1219200" rtl="0" eaLnBrk="1" latinLnBrk="0" hangingPunct="1">
        <a:lnSpc>
          <a:spcPct val="90000"/>
        </a:lnSpc>
        <a:spcBef>
          <a:spcPct val="134000"/>
        </a:spcBef>
        <a:buFont typeface="Arial" panose="020B0604020202090204" pitchFamily="34" charset="0"/>
        <a:buChar char="•"/>
        <a:defRPr sz="2400" kern="1200">
          <a:solidFill>
            <a:schemeClr val="tx1"/>
          </a:solidFill>
          <a:latin typeface="+mn-lt"/>
          <a:ea typeface="+mn-ea"/>
          <a:cs typeface="+mn-cs"/>
        </a:defRPr>
      </a:lvl5pPr>
      <a:lvl6pPr marL="3352800" indent="-304800" algn="l" defTabSz="1219200" rtl="0" eaLnBrk="1" latinLnBrk="0" hangingPunct="1">
        <a:lnSpc>
          <a:spcPct val="90000"/>
        </a:lnSpc>
        <a:spcBef>
          <a:spcPct val="134000"/>
        </a:spcBef>
        <a:buFont typeface="Arial" panose="020B0604020202090204" pitchFamily="34" charset="0"/>
        <a:buChar char="•"/>
        <a:defRPr sz="2400" kern="1200">
          <a:solidFill>
            <a:schemeClr val="tx1"/>
          </a:solidFill>
          <a:latin typeface="+mn-lt"/>
          <a:ea typeface="+mn-ea"/>
          <a:cs typeface="+mn-cs"/>
        </a:defRPr>
      </a:lvl6pPr>
      <a:lvl7pPr marL="3962400" indent="-304800" algn="l" defTabSz="1219200" rtl="0" eaLnBrk="1" latinLnBrk="0" hangingPunct="1">
        <a:lnSpc>
          <a:spcPct val="90000"/>
        </a:lnSpc>
        <a:spcBef>
          <a:spcPct val="134000"/>
        </a:spcBef>
        <a:buFont typeface="Arial" panose="020B0604020202090204" pitchFamily="34" charset="0"/>
        <a:buChar char="•"/>
        <a:defRPr sz="2400" kern="1200">
          <a:solidFill>
            <a:schemeClr val="tx1"/>
          </a:solidFill>
          <a:latin typeface="+mn-lt"/>
          <a:ea typeface="+mn-ea"/>
          <a:cs typeface="+mn-cs"/>
        </a:defRPr>
      </a:lvl7pPr>
      <a:lvl8pPr marL="4572000" indent="-304800" algn="l" defTabSz="1219200" rtl="0" eaLnBrk="1" latinLnBrk="0" hangingPunct="1">
        <a:lnSpc>
          <a:spcPct val="90000"/>
        </a:lnSpc>
        <a:spcBef>
          <a:spcPct val="134000"/>
        </a:spcBef>
        <a:buFont typeface="Arial" panose="020B0604020202090204" pitchFamily="34" charset="0"/>
        <a:buChar char="•"/>
        <a:defRPr sz="2400" kern="1200">
          <a:solidFill>
            <a:schemeClr val="tx1"/>
          </a:solidFill>
          <a:latin typeface="+mn-lt"/>
          <a:ea typeface="+mn-ea"/>
          <a:cs typeface="+mn-cs"/>
        </a:defRPr>
      </a:lvl8pPr>
      <a:lvl9pPr marL="5181600" indent="-304800" algn="l" defTabSz="1219200" rtl="0" eaLnBrk="1" latinLnBrk="0" hangingPunct="1">
        <a:lnSpc>
          <a:spcPct val="90000"/>
        </a:lnSpc>
        <a:spcBef>
          <a:spcPct val="134000"/>
        </a:spcBef>
        <a:buFont typeface="Arial" panose="020B0604020202090204" pitchFamily="34" charset="0"/>
        <a:buChar char="•"/>
        <a:defRPr sz="24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tags" Target="../tags/tag4.xml"/><Relationship Id="rId7" Type="http://schemas.openxmlformats.org/officeDocument/2006/relationships/notesSlide" Target="../notesSlides/notesSlide3.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slideLayout" Target="../slideLayouts/slideLayout1.xml"/><Relationship Id="rId5" Type="http://schemas.openxmlformats.org/officeDocument/2006/relationships/tags" Target="../tags/tag6.xml"/><Relationship Id="rId4" Type="http://schemas.openxmlformats.org/officeDocument/2006/relationships/tags" Target="../tags/tag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8.xml"/><Relationship Id="rId1" Type="http://schemas.openxmlformats.org/officeDocument/2006/relationships/tags" Target="../tags/tag7.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8" Type="http://schemas.openxmlformats.org/officeDocument/2006/relationships/notesSlide" Target="../notesSlides/notesSlide4.xml"/><Relationship Id="rId3" Type="http://schemas.openxmlformats.org/officeDocument/2006/relationships/tags" Target="../tags/tag14.xml"/><Relationship Id="rId7" Type="http://schemas.openxmlformats.org/officeDocument/2006/relationships/slideLayout" Target="../slideLayouts/slideLayout1.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tags" Target="../tags/tag17.xml"/><Relationship Id="rId5" Type="http://schemas.openxmlformats.org/officeDocument/2006/relationships/tags" Target="../tags/tag16.xml"/><Relationship Id="rId4" Type="http://schemas.openxmlformats.org/officeDocument/2006/relationships/tags" Target="../tags/tag15.xml"/><Relationship Id="rId9"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9.xml"/><Relationship Id="rId1" Type="http://schemas.openxmlformats.org/officeDocument/2006/relationships/tags" Target="../tags/tag18.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1.xml"/><Relationship Id="rId1" Type="http://schemas.openxmlformats.org/officeDocument/2006/relationships/tags" Target="../tags/tag20.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tags" Target="../tags/tag24.xml"/><Relationship Id="rId7" Type="http://schemas.openxmlformats.org/officeDocument/2006/relationships/slideLayout" Target="../slideLayouts/slideLayout1.xml"/><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tags" Target="../tags/tag27.xml"/><Relationship Id="rId5" Type="http://schemas.openxmlformats.org/officeDocument/2006/relationships/tags" Target="../tags/tag26.xml"/><Relationship Id="rId4" Type="http://schemas.openxmlformats.org/officeDocument/2006/relationships/tags" Target="../tags/tag25.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9.xml"/><Relationship Id="rId1" Type="http://schemas.openxmlformats.org/officeDocument/2006/relationships/tags" Target="../tags/tag28.xml"/><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31.xml"/><Relationship Id="rId1" Type="http://schemas.openxmlformats.org/officeDocument/2006/relationships/tags" Target="../tags/tag30.xml"/><Relationship Id="rId5" Type="http://schemas.openxmlformats.org/officeDocument/2006/relationships/image" Target="../media/image11.png"/><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slideLayout" Target="../slideLayouts/slideLayout1.xml"/><Relationship Id="rId7" Type="http://schemas.openxmlformats.org/officeDocument/2006/relationships/image" Target="../media/image14.png"/><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notesSlide" Target="../notesSlides/notesSlide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tags" Target="../tags/tag34.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tags" Target="../tags/tag35.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37.xml"/><Relationship Id="rId1" Type="http://schemas.openxmlformats.org/officeDocument/2006/relationships/tags" Target="../tags/tag36.xml"/><Relationship Id="rId5" Type="http://schemas.openxmlformats.org/officeDocument/2006/relationships/image" Target="../media/image16.png"/><Relationship Id="rId4" Type="http://schemas.openxmlformats.org/officeDocument/2006/relationships/notesSlide" Target="../notesSlides/notesSlide10.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slideLayout" Target="../slideLayouts/slideLayout1.xml"/><Relationship Id="rId1" Type="http://schemas.openxmlformats.org/officeDocument/2006/relationships/tags" Target="../tags/tag38.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40.xml"/><Relationship Id="rId1" Type="http://schemas.openxmlformats.org/officeDocument/2006/relationships/tags" Target="../tags/tag39.xml"/><Relationship Id="rId5" Type="http://schemas.openxmlformats.org/officeDocument/2006/relationships/image" Target="../media/image23.png"/><Relationship Id="rId4" Type="http://schemas.openxmlformats.org/officeDocument/2006/relationships/image" Target="../media/image22.png"/></Relationships>
</file>

<file path=ppt/slides/_rels/slide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slideLayout" Target="../slideLayouts/slideLayout1.xml"/><Relationship Id="rId1" Type="http://schemas.openxmlformats.org/officeDocument/2006/relationships/tags" Target="../tags/tag41.xml"/></Relationships>
</file>

<file path=ppt/slides/_rels/slide30.xml.rels><?xml version="1.0" encoding="UTF-8" standalone="yes"?>
<Relationships xmlns="http://schemas.openxmlformats.org/package/2006/relationships"><Relationship Id="rId8" Type="http://schemas.openxmlformats.org/officeDocument/2006/relationships/image" Target="../media/image31.png"/><Relationship Id="rId13" Type="http://schemas.openxmlformats.org/officeDocument/2006/relationships/image" Target="../media/image36.png"/><Relationship Id="rId18" Type="http://schemas.openxmlformats.org/officeDocument/2006/relationships/image" Target="../media/image41.png"/><Relationship Id="rId3" Type="http://schemas.openxmlformats.org/officeDocument/2006/relationships/image" Target="../media/image26.png"/><Relationship Id="rId7" Type="http://schemas.openxmlformats.org/officeDocument/2006/relationships/image" Target="../media/image30.png"/><Relationship Id="rId12" Type="http://schemas.openxmlformats.org/officeDocument/2006/relationships/image" Target="../media/image35.png"/><Relationship Id="rId17" Type="http://schemas.openxmlformats.org/officeDocument/2006/relationships/image" Target="../media/image40.png"/><Relationship Id="rId2" Type="http://schemas.openxmlformats.org/officeDocument/2006/relationships/image" Target="../media/image25.png"/><Relationship Id="rId16" Type="http://schemas.openxmlformats.org/officeDocument/2006/relationships/image" Target="../media/image39.png"/><Relationship Id="rId1" Type="http://schemas.openxmlformats.org/officeDocument/2006/relationships/slideLayout" Target="../slideLayouts/slideLayout1.xml"/><Relationship Id="rId6" Type="http://schemas.openxmlformats.org/officeDocument/2006/relationships/image" Target="../media/image29.png"/><Relationship Id="rId11" Type="http://schemas.openxmlformats.org/officeDocument/2006/relationships/image" Target="../media/image34.png"/><Relationship Id="rId5" Type="http://schemas.openxmlformats.org/officeDocument/2006/relationships/image" Target="../media/image28.png"/><Relationship Id="rId15" Type="http://schemas.openxmlformats.org/officeDocument/2006/relationships/image" Target="../media/image38.png"/><Relationship Id="rId10" Type="http://schemas.openxmlformats.org/officeDocument/2006/relationships/image" Target="../media/image33.png"/><Relationship Id="rId19" Type="http://schemas.openxmlformats.org/officeDocument/2006/relationships/image" Target="../media/image42.png"/><Relationship Id="rId4" Type="http://schemas.openxmlformats.org/officeDocument/2006/relationships/image" Target="../media/image27.png"/><Relationship Id="rId9" Type="http://schemas.openxmlformats.org/officeDocument/2006/relationships/image" Target="../media/image32.png"/><Relationship Id="rId14" Type="http://schemas.openxmlformats.org/officeDocument/2006/relationships/image" Target="../media/image37.png"/></Relationships>
</file>

<file path=ppt/slides/_rels/slide3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image" Target="../media/image43.png"/><Relationship Id="rId1" Type="http://schemas.openxmlformats.org/officeDocument/2006/relationships/slideLayout" Target="../slideLayouts/slideLayout1.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 Id="rId9" Type="http://schemas.openxmlformats.org/officeDocument/2006/relationships/image" Target="../media/image50.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42.xml"/></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44.xml"/><Relationship Id="rId1" Type="http://schemas.openxmlformats.org/officeDocument/2006/relationships/tags" Target="../tags/tag43.xml"/><Relationship Id="rId4" Type="http://schemas.openxmlformats.org/officeDocument/2006/relationships/image" Target="../media/image51.png"/></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46.xml"/><Relationship Id="rId1" Type="http://schemas.openxmlformats.org/officeDocument/2006/relationships/tags" Target="../tags/tag45.xml"/><Relationship Id="rId5" Type="http://schemas.openxmlformats.org/officeDocument/2006/relationships/image" Target="../media/image52.png"/><Relationship Id="rId4" Type="http://schemas.openxmlformats.org/officeDocument/2006/relationships/notesSlide" Target="../notesSlides/notesSlide13.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47.xm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49.xml"/><Relationship Id="rId1" Type="http://schemas.openxmlformats.org/officeDocument/2006/relationships/tags" Target="../tags/tag48.xml"/><Relationship Id="rId4" Type="http://schemas.openxmlformats.org/officeDocument/2006/relationships/image" Target="../media/image53.jpeg"/></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tags" Target="../tags/tag52.xml"/><Relationship Id="rId7" Type="http://schemas.openxmlformats.org/officeDocument/2006/relationships/image" Target="../media/image54.png"/><Relationship Id="rId2" Type="http://schemas.openxmlformats.org/officeDocument/2006/relationships/tags" Target="../tags/tag51.xml"/><Relationship Id="rId1" Type="http://schemas.openxmlformats.org/officeDocument/2006/relationships/tags" Target="../tags/tag50.xml"/><Relationship Id="rId6" Type="http://schemas.openxmlformats.org/officeDocument/2006/relationships/slideLayout" Target="../slideLayouts/slideLayout1.xml"/><Relationship Id="rId5" Type="http://schemas.openxmlformats.org/officeDocument/2006/relationships/tags" Target="../tags/tag54.xml"/><Relationship Id="rId4" Type="http://schemas.openxmlformats.org/officeDocument/2006/relationships/tags" Target="../tags/tag53.xml"/></Relationships>
</file>

<file path=ppt/slides/_rels/slide3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1.xml"/><Relationship Id="rId1" Type="http://schemas.openxmlformats.org/officeDocument/2006/relationships/tags" Target="../tags/tag55.xml"/><Relationship Id="rId5" Type="http://schemas.openxmlformats.org/officeDocument/2006/relationships/image" Target="../media/image56.svg"/><Relationship Id="rId4" Type="http://schemas.openxmlformats.org/officeDocument/2006/relationships/image" Target="../media/image55.png"/></Relationships>
</file>

<file path=ppt/slides/_rels/slide40.xml.rels><?xml version="1.0" encoding="UTF-8" standalone="yes"?>
<Relationships xmlns="http://schemas.openxmlformats.org/package/2006/relationships"><Relationship Id="rId3" Type="http://schemas.openxmlformats.org/officeDocument/2006/relationships/tags" Target="../tags/tag58.xml"/><Relationship Id="rId2" Type="http://schemas.openxmlformats.org/officeDocument/2006/relationships/tags" Target="../tags/tag57.xml"/><Relationship Id="rId1" Type="http://schemas.openxmlformats.org/officeDocument/2006/relationships/tags" Target="../tags/tag56.xml"/><Relationship Id="rId6" Type="http://schemas.openxmlformats.org/officeDocument/2006/relationships/image" Target="../media/image5.png"/><Relationship Id="rId5" Type="http://schemas.openxmlformats.org/officeDocument/2006/relationships/slideLayout" Target="../slideLayouts/slideLayout1.xml"/><Relationship Id="rId4" Type="http://schemas.openxmlformats.org/officeDocument/2006/relationships/tags" Target="../tags/tag59.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tags" Target="../tags/tag60.xml"/><Relationship Id="rId4" Type="http://schemas.openxmlformats.org/officeDocument/2006/relationships/image" Target="../media/image57.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61.xml"/></Relationships>
</file>

<file path=ppt/slides/_rels/slide43.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slideLayout" Target="../slideLayouts/slideLayout1.xml"/><Relationship Id="rId1" Type="http://schemas.openxmlformats.org/officeDocument/2006/relationships/tags" Target="../tags/tag62.xml"/></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64.xml"/><Relationship Id="rId1" Type="http://schemas.openxmlformats.org/officeDocument/2006/relationships/tags" Target="../tags/tag63.xml"/></Relationships>
</file>

<file path=ppt/slides/_rels/slide46.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slideLayout" Target="../slideLayouts/slideLayout1.xml"/><Relationship Id="rId1" Type="http://schemas.openxmlformats.org/officeDocument/2006/relationships/tags" Target="../tags/tag65.xml"/></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67.xml"/><Relationship Id="rId1" Type="http://schemas.openxmlformats.org/officeDocument/2006/relationships/tags" Target="../tags/tag6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81923"/>
          <p:cNvSpPr txBox="1"/>
          <p:nvPr/>
        </p:nvSpPr>
        <p:spPr>
          <a:xfrm>
            <a:off x="2185000" y="446405"/>
            <a:ext cx="7823200" cy="2432051"/>
          </a:xfrm>
          <a:prstGeom prst="rect">
            <a:avLst/>
          </a:prstGeom>
          <a:noFill/>
          <a:ln w="9525">
            <a:noFill/>
          </a:ln>
        </p:spPr>
        <p:txBody>
          <a:bodyPr anchor="b"/>
          <a:lstStyle>
            <a:lvl1pPr marL="0" lvl="0" indent="0" algn="r" defTabSz="914400" rtl="0" eaLnBrk="1" fontAlgn="base" latinLnBrk="0" hangingPunct="1">
              <a:lnSpc>
                <a:spcPct val="100000"/>
              </a:lnSpc>
              <a:spcBef>
                <a:spcPct val="0"/>
              </a:spcBef>
              <a:spcAft>
                <a:spcPct val="0"/>
              </a:spcAft>
              <a:buClrTx/>
              <a:buSzTx/>
              <a:buFontTx/>
              <a:buNone/>
              <a:defRPr sz="4800" b="1" i="0" u="none" kern="1200" baseline="0">
                <a:solidFill>
                  <a:schemeClr val="tx2"/>
                </a:solidFill>
                <a:latin typeface="+mj-lt"/>
                <a:ea typeface="+mj-ea"/>
                <a:cs typeface="+mj-cs"/>
              </a:defRPr>
            </a:lvl1pPr>
          </a:lstStyle>
          <a:p>
            <a:pPr algn="ctr"/>
            <a:r>
              <a:rPr lang="zh-CN" altLang="en-US" noProof="1">
                <a:solidFill>
                  <a:srgbClr val="330066"/>
                </a:solidFill>
                <a:effectLst>
                  <a:outerShdw blurRad="38100" dist="38100" dir="2700000">
                    <a:srgbClr val="C0C0C0"/>
                  </a:outerShdw>
                </a:effectLst>
                <a:latin typeface="Arial" panose="020B0604020202090204" pitchFamily="34" charset="0"/>
                <a:ea typeface="隶书" panose="02010509060101010101" pitchFamily="49" charset="-122"/>
              </a:rPr>
              <a:t>用户自己建立数据类型</a:t>
            </a:r>
          </a:p>
        </p:txBody>
      </p:sp>
      <p:sp>
        <p:nvSpPr>
          <p:cNvPr id="3" name="副标题 81924"/>
          <p:cNvSpPr txBox="1"/>
          <p:nvPr/>
        </p:nvSpPr>
        <p:spPr>
          <a:xfrm>
            <a:off x="2927951" y="3886200"/>
            <a:ext cx="6337300" cy="1752600"/>
          </a:xfrm>
          <a:prstGeom prst="rect">
            <a:avLst/>
          </a:prstGeom>
          <a:noFill/>
          <a:ln w="9525">
            <a:noFill/>
          </a:ln>
        </p:spPr>
        <p:txBody>
          <a:bodyPr anchor="t"/>
          <a:lstStyle>
            <a:lvl1pPr marL="0" lvl="0" indent="0" algn="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defRPr sz="3200" b="0" i="0" u="none" kern="1200" baseline="0">
                <a:solidFill>
                  <a:schemeClr val="tx1"/>
                </a:solidFill>
                <a:latin typeface="+mn-lt"/>
                <a:ea typeface="+mn-ea"/>
                <a:cs typeface="+mn-cs"/>
              </a:defRPr>
            </a:lvl1pPr>
            <a:lvl2pPr marL="344805" lvl="1" indent="0" algn="ctr"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None/>
              <a:defRPr sz="3200" b="0" i="0" u="none" kern="1200" baseline="0">
                <a:solidFill>
                  <a:schemeClr val="tx1"/>
                </a:solidFill>
                <a:latin typeface="+mn-lt"/>
                <a:ea typeface="+mn-ea"/>
                <a:cs typeface="+mn-cs"/>
              </a:defRPr>
            </a:lvl2pPr>
            <a:lvl3pPr marL="694055" lvl="2" indent="0" algn="ctr" defTabSz="914400" rtl="0" eaLnBrk="1" fontAlgn="base" latinLnBrk="0" hangingPunct="1">
              <a:lnSpc>
                <a:spcPct val="100000"/>
              </a:lnSpc>
              <a:spcBef>
                <a:spcPct val="20000"/>
              </a:spcBef>
              <a:spcAft>
                <a:spcPct val="0"/>
              </a:spcAft>
              <a:buClr>
                <a:schemeClr val="accent1"/>
              </a:buClr>
              <a:buSzPct val="70000"/>
              <a:buFont typeface="Wingdings" panose="05000000000000000000" pitchFamily="2" charset="2"/>
              <a:buNone/>
              <a:defRPr sz="3200" b="0" i="0" u="none" kern="1200" baseline="0">
                <a:solidFill>
                  <a:schemeClr val="tx1"/>
                </a:solidFill>
                <a:latin typeface="+mn-lt"/>
                <a:ea typeface="+mn-ea"/>
                <a:cs typeface="+mn-cs"/>
              </a:defRPr>
            </a:lvl3pPr>
            <a:lvl4pPr marL="989330" lvl="3" indent="0" algn="ctr" defTabSz="914400" rtl="0" eaLnBrk="1" fontAlgn="base" latinLnBrk="0" hangingPunct="1">
              <a:lnSpc>
                <a:spcPct val="100000"/>
              </a:lnSpc>
              <a:spcBef>
                <a:spcPct val="20000"/>
              </a:spcBef>
              <a:spcAft>
                <a:spcPct val="0"/>
              </a:spcAft>
              <a:buClr>
                <a:schemeClr val="tx2"/>
              </a:buClr>
              <a:buSzPct val="75000"/>
              <a:buFont typeface="Wingdings" panose="05000000000000000000" pitchFamily="2" charset="2"/>
              <a:buNone/>
              <a:defRPr sz="3200" b="0" i="0" u="none" kern="1200" baseline="0">
                <a:solidFill>
                  <a:schemeClr val="tx1"/>
                </a:solidFill>
                <a:latin typeface="+mn-lt"/>
                <a:ea typeface="+mn-ea"/>
                <a:cs typeface="+mn-cs"/>
              </a:defRPr>
            </a:lvl4pPr>
            <a:lvl5pPr marL="1282700" lvl="4" indent="0" algn="ctr" defTabSz="914400" rtl="0" eaLnBrk="1" fontAlgn="base" latinLnBrk="0" hangingPunct="1">
              <a:lnSpc>
                <a:spcPct val="100000"/>
              </a:lnSpc>
              <a:spcBef>
                <a:spcPct val="20000"/>
              </a:spcBef>
              <a:spcAft>
                <a:spcPct val="0"/>
              </a:spcAft>
              <a:buClr>
                <a:schemeClr val="folHlink"/>
              </a:buClr>
              <a:buSzPct val="80000"/>
              <a:buFont typeface="Wingdings" panose="05000000000000000000" pitchFamily="2" charset="2"/>
              <a:buNone/>
              <a:defRPr sz="32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lr>
                <a:schemeClr val="folHlink"/>
              </a:buClr>
              <a:buSzPct val="80000"/>
              <a:buFont typeface="Wingdings" panose="05000000000000000000" pitchFamily="2" charset="2"/>
              <a:buChar char="§"/>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lr>
                <a:schemeClr val="folHlink"/>
              </a:buClr>
              <a:buSzPct val="80000"/>
              <a:buFont typeface="Wingdings" panose="05000000000000000000" pitchFamily="2" charset="2"/>
              <a:buChar char="§"/>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lr>
                <a:schemeClr val="folHlink"/>
              </a:buClr>
              <a:buSzPct val="80000"/>
              <a:buFont typeface="Wingdings" panose="05000000000000000000" pitchFamily="2" charset="2"/>
              <a:buChar char="§"/>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lr>
                <a:schemeClr val="folHlink"/>
              </a:buClr>
              <a:buSzPct val="80000"/>
              <a:buFont typeface="Wingdings" panose="05000000000000000000" pitchFamily="2" charset="2"/>
              <a:buChar char="§"/>
              <a:defRPr sz="2000" b="0" i="0" u="none" kern="1200" baseline="0">
                <a:solidFill>
                  <a:schemeClr val="tx1"/>
                </a:solidFill>
                <a:latin typeface="+mn-lt"/>
                <a:ea typeface="+mn-ea"/>
                <a:cs typeface="+mn-cs"/>
              </a:defRPr>
            </a:lvl9pPr>
          </a:lstStyle>
          <a:p>
            <a:pPr algn="ctr"/>
            <a:r>
              <a:rPr lang="zh-CN" altLang="en-US" dirty="0">
                <a:solidFill>
                  <a:srgbClr val="193B8F"/>
                </a:solidFill>
                <a:latin typeface="Times New Roman" panose="02020503050405090304" pitchFamily="18" charset="0"/>
                <a:ea typeface="楷体" panose="02010609060101010101" pitchFamily="49" charset="-122"/>
              </a:rPr>
              <a:t>朱静雯</a:t>
            </a:r>
          </a:p>
          <a:p>
            <a:pPr algn="ctr"/>
            <a:r>
              <a:rPr lang="en-US" altLang="zh-CN" dirty="0">
                <a:latin typeface="Times New Roman" panose="02020503050405090304" pitchFamily="18" charset="0"/>
                <a:ea typeface="楷体" panose="02010609060101010101" pitchFamily="49" charset="-122"/>
              </a:rPr>
              <a:t>zhujingwen@nankai.edu.cn</a:t>
            </a:r>
          </a:p>
          <a:p>
            <a:pPr algn="ctr"/>
            <a:r>
              <a:rPr lang="zh-CN" altLang="en-US" dirty="0">
                <a:latin typeface="Times New Roman" panose="02020503050405090304" pitchFamily="18" charset="0"/>
                <a:ea typeface="楷体" panose="02010609060101010101" pitchFamily="49" charset="-122"/>
              </a:rPr>
              <a:t>南开大学</a:t>
            </a:r>
            <a:r>
              <a:rPr lang="en-US" altLang="zh-CN" dirty="0">
                <a:latin typeface="Times New Roman" panose="02020503050405090304" pitchFamily="18" charset="0"/>
                <a:ea typeface="楷体" panose="02010609060101010101" pitchFamily="49" charset="-122"/>
              </a:rPr>
              <a:t>·</a:t>
            </a:r>
            <a:r>
              <a:rPr lang="zh-CN" altLang="en-US" dirty="0">
                <a:latin typeface="Times New Roman" panose="02020503050405090304" pitchFamily="18" charset="0"/>
                <a:ea typeface="楷体" panose="02010609060101010101" pitchFamily="49" charset="-122"/>
              </a:rPr>
              <a:t>软件学院</a:t>
            </a:r>
          </a:p>
        </p:txBody>
      </p:sp>
      <p:cxnSp>
        <p:nvCxnSpPr>
          <p:cNvPr id="4" name="直接连接符 3"/>
          <p:cNvCxnSpPr/>
          <p:nvPr/>
        </p:nvCxnSpPr>
        <p:spPr>
          <a:xfrm>
            <a:off x="432400" y="3136069"/>
            <a:ext cx="11328400" cy="0"/>
          </a:xfrm>
          <a:prstGeom prst="line">
            <a:avLst/>
          </a:prstGeom>
          <a:ln w="25400">
            <a:solidFill>
              <a:srgbClr val="782367"/>
            </a:solidFill>
          </a:ln>
        </p:spPr>
        <p:style>
          <a:lnRef idx="1">
            <a:schemeClr val="accent1"/>
          </a:lnRef>
          <a:fillRef idx="0">
            <a:schemeClr val="accent1"/>
          </a:fillRef>
          <a:effectRef idx="0">
            <a:schemeClr val="accent1"/>
          </a:effectRef>
          <a:fontRef idx="minor">
            <a:schemeClr val="tx1"/>
          </a:fontRef>
        </p:style>
      </p:cxn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32431" y="246671"/>
            <a:ext cx="573807" cy="57380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3b32313538323734393b56fe4e66"/>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96747" y="181187"/>
            <a:ext cx="975360" cy="975360"/>
          </a:xfrm>
          <a:prstGeom prst="rect">
            <a:avLst/>
          </a:prstGeom>
        </p:spPr>
      </p:pic>
      <p:sp>
        <p:nvSpPr>
          <p:cNvPr id="4" name="文本框 3"/>
          <p:cNvSpPr txBox="1"/>
          <p:nvPr/>
        </p:nvSpPr>
        <p:spPr>
          <a:xfrm>
            <a:off x="1715947" y="331047"/>
            <a:ext cx="1331807" cy="645160"/>
          </a:xfrm>
          <a:prstGeom prst="rect">
            <a:avLst/>
          </a:prstGeom>
          <a:noFill/>
        </p:spPr>
        <p:txBody>
          <a:bodyPr wrap="square" rtlCol="0">
            <a:spAutoFit/>
          </a:bodyPr>
          <a:lstStyle/>
          <a:p>
            <a:r>
              <a:rPr lang="zh-CN" altLang="en-US" sz="3600" b="1" kern="0" spc="300" noProof="0" dirty="0">
                <a:ln>
                  <a:noFill/>
                </a:ln>
                <a:solidFill>
                  <a:srgbClr val="782367"/>
                </a:solidFill>
                <a:effectLst/>
                <a:uLnTx/>
                <a:uFillTx/>
                <a:latin typeface="微软雅黑" panose="020B0503020204020204" charset="-122"/>
                <a:ea typeface="微软雅黑" panose="020B0503020204020204" charset="-122"/>
                <a:cs typeface="+mj-cs"/>
                <a:sym typeface="+mn-ea"/>
              </a:rPr>
              <a:t>目录</a:t>
            </a:r>
            <a:endParaRPr lang="zh-CN" altLang="en-US" sz="3600"/>
          </a:p>
        </p:txBody>
      </p:sp>
      <p:grpSp>
        <p:nvGrpSpPr>
          <p:cNvPr id="2" name="组合 1"/>
          <p:cNvGrpSpPr/>
          <p:nvPr/>
        </p:nvGrpSpPr>
        <p:grpSpPr>
          <a:xfrm>
            <a:off x="3235926" y="1154113"/>
            <a:ext cx="4356093" cy="593725"/>
            <a:chOff x="1710657" y="1263652"/>
            <a:chExt cx="4356814" cy="592608"/>
          </a:xfrm>
        </p:grpSpPr>
        <p:grpSp>
          <p:nvGrpSpPr>
            <p:cNvPr id="5" name="组合 29"/>
            <p:cNvGrpSpPr/>
            <p:nvPr/>
          </p:nvGrpSpPr>
          <p:grpSpPr>
            <a:xfrm rot="-12767">
              <a:off x="1710657" y="1263652"/>
              <a:ext cx="884411" cy="592608"/>
              <a:chOff x="1936620" y="1275606"/>
              <a:chExt cx="1296144" cy="1728192"/>
            </a:xfrm>
          </p:grpSpPr>
          <p:grpSp>
            <p:nvGrpSpPr>
              <p:cNvPr id="6" name="组合 31"/>
              <p:cNvGrpSpPr/>
              <p:nvPr/>
            </p:nvGrpSpPr>
            <p:grpSpPr>
              <a:xfrm>
                <a:off x="1936620" y="1275606"/>
                <a:ext cx="1296142" cy="1728192"/>
                <a:chOff x="1907704" y="1275606"/>
                <a:chExt cx="1296142" cy="1728192"/>
              </a:xfrm>
            </p:grpSpPr>
            <p:sp>
              <p:nvSpPr>
                <p:cNvPr id="8" name="圆角矩形 7"/>
                <p:cNvSpPr/>
                <p:nvPr/>
              </p:nvSpPr>
              <p:spPr>
                <a:xfrm>
                  <a:off x="1907704" y="1275606"/>
                  <a:ext cx="1296104" cy="1728192"/>
                </a:xfrm>
                <a:prstGeom prst="roundRect">
                  <a:avLst/>
                </a:prstGeom>
                <a:solidFill>
                  <a:srgbClr val="3BCCFF"/>
                </a:solidFill>
                <a:ln w="25400" cap="flat" cmpd="sng" algn="ctr">
                  <a:noFill/>
                  <a:prstDash val="solid"/>
                </a:ln>
                <a:effectLst>
                  <a:outerShdw blurRad="76200" dir="13500000" sy="23000" kx="1200000" algn="br" rotWithShape="0">
                    <a:prstClr val="black">
                      <a:alpha val="2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0" cap="none" spc="0" normalizeH="0" baseline="0" noProof="0" dirty="0">
                      <a:ln>
                        <a:noFill/>
                      </a:ln>
                      <a:solidFill>
                        <a:prstClr val="white"/>
                      </a:solidFill>
                      <a:effectLst/>
                      <a:uLnTx/>
                      <a:uFillTx/>
                      <a:latin typeface="Cambria Math" panose="02040503050406030204" pitchFamily="18" charset="0"/>
                      <a:ea typeface="汉仪综艺体简" pitchFamily="49" charset="-122"/>
                      <a:cs typeface="+mn-cs"/>
                    </a:rPr>
                    <a:t>7.1</a:t>
                  </a:r>
                  <a:endParaRPr kumimoji="0" lang="zh-CN" altLang="en-US" sz="3200" b="1" i="0" u="none" strike="noStrike" kern="0" cap="none" spc="0" normalizeH="0" baseline="0" noProof="0" dirty="0">
                    <a:ln>
                      <a:noFill/>
                    </a:ln>
                    <a:solidFill>
                      <a:prstClr val="white"/>
                    </a:solidFill>
                    <a:effectLst/>
                    <a:uLnTx/>
                    <a:uFillTx/>
                    <a:latin typeface="Cambria Math" panose="02040503050406030204" pitchFamily="18" charset="0"/>
                    <a:ea typeface="汉仪综艺体简" pitchFamily="49" charset="-122"/>
                    <a:cs typeface="+mn-cs"/>
                  </a:endParaRPr>
                </a:p>
              </p:txBody>
            </p:sp>
            <p:sp>
              <p:nvSpPr>
                <p:cNvPr id="9" name="圆角矩形 8"/>
                <p:cNvSpPr/>
                <p:nvPr/>
              </p:nvSpPr>
              <p:spPr>
                <a:xfrm>
                  <a:off x="1961224" y="1349539"/>
                  <a:ext cx="1189063" cy="1580325"/>
                </a:xfrm>
                <a:prstGeom prst="roundRect">
                  <a:avLst/>
                </a:prstGeom>
                <a:noFill/>
                <a:ln w="15875" cap="flat" cmpd="sng" algn="ctr">
                  <a:solidFill>
                    <a:sysClr val="window" lastClr="FFFFFF"/>
                  </a:solid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1" i="0" u="none" strike="noStrike" kern="0" cap="none" spc="0" normalizeH="0" baseline="0" noProof="0">
                    <a:ln>
                      <a:noFill/>
                    </a:ln>
                    <a:solidFill>
                      <a:prstClr val="white"/>
                    </a:solidFill>
                    <a:effectLst/>
                    <a:uLnTx/>
                    <a:uFillTx/>
                    <a:latin typeface="Cambria Math" panose="02040503050406030204" pitchFamily="18" charset="0"/>
                    <a:ea typeface="汉仪综艺体简" pitchFamily="49" charset="-122"/>
                    <a:cs typeface="+mn-cs"/>
                  </a:endParaRPr>
                </a:p>
              </p:txBody>
            </p:sp>
          </p:grpSp>
          <p:sp>
            <p:nvSpPr>
              <p:cNvPr id="10" name="圆角矩形 5"/>
              <p:cNvSpPr/>
              <p:nvPr/>
            </p:nvSpPr>
            <p:spPr>
              <a:xfrm>
                <a:off x="1931232" y="2065721"/>
                <a:ext cx="1293777" cy="933409"/>
              </a:xfrm>
              <a:custGeom>
                <a:avLst/>
                <a:gdLst/>
                <a:ahLst/>
                <a:cxnLst/>
                <a:rect l="l" t="t" r="r" b="b"/>
                <a:pathLst>
                  <a:path w="1292867" h="936362">
                    <a:moveTo>
                      <a:pt x="0" y="0"/>
                    </a:moveTo>
                    <a:lnTo>
                      <a:pt x="1292867" y="752847"/>
                    </a:lnTo>
                    <a:cubicBezTo>
                      <a:pt x="1277961" y="856795"/>
                      <a:pt x="1188330" y="936362"/>
                      <a:pt x="1080116" y="936362"/>
                    </a:cubicBezTo>
                    <a:lnTo>
                      <a:pt x="216028" y="936362"/>
                    </a:lnTo>
                    <a:cubicBezTo>
                      <a:pt x="96719" y="936362"/>
                      <a:pt x="0" y="839643"/>
                      <a:pt x="0" y="720334"/>
                    </a:cubicBezTo>
                    <a:close/>
                  </a:path>
                </a:pathLst>
              </a:custGeom>
              <a:solidFill>
                <a:sysClr val="window" lastClr="FFFFFF">
                  <a:alpha val="43000"/>
                </a:sysClr>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0" b="1" i="0" u="none" strike="noStrike" kern="0" cap="none" spc="0" normalizeH="0" baseline="0" noProof="0" dirty="0">
                  <a:ln>
                    <a:noFill/>
                  </a:ln>
                  <a:solidFill>
                    <a:prstClr val="white"/>
                  </a:solidFill>
                  <a:effectLst/>
                  <a:uLnTx/>
                  <a:uFillTx/>
                  <a:latin typeface="Cambria Math" panose="02040503050406030204" pitchFamily="18" charset="0"/>
                  <a:ea typeface="汉仪综艺体简" pitchFamily="49" charset="-122"/>
                  <a:cs typeface="+mn-cs"/>
                </a:endParaRPr>
              </a:p>
            </p:txBody>
          </p:sp>
        </p:grpSp>
        <p:cxnSp>
          <p:nvCxnSpPr>
            <p:cNvPr id="11" name="直接连接符 10"/>
            <p:cNvCxnSpPr/>
            <p:nvPr/>
          </p:nvCxnSpPr>
          <p:spPr bwMode="auto">
            <a:xfrm>
              <a:off x="2809389" y="1761189"/>
              <a:ext cx="2943711" cy="0"/>
            </a:xfrm>
            <a:prstGeom prst="line">
              <a:avLst/>
            </a:prstGeom>
            <a:noFill/>
            <a:ln w="3175" cap="flat" cmpd="sng" algn="ctr">
              <a:solidFill>
                <a:schemeClr val="bg1">
                  <a:lumMod val="50000"/>
                </a:schemeClr>
              </a:solidFill>
              <a:prstDash val="sysDot"/>
              <a:headEnd type="oval" w="sm" len="sm"/>
              <a:tailEnd type="oval" w="sm" len="sm"/>
            </a:ln>
            <a:effectLst/>
          </p:spPr>
        </p:cxnSp>
        <p:sp>
          <p:nvSpPr>
            <p:cNvPr id="12" name="矩形 35"/>
            <p:cNvSpPr/>
            <p:nvPr/>
          </p:nvSpPr>
          <p:spPr>
            <a:xfrm>
              <a:off x="2836056" y="1286814"/>
              <a:ext cx="3231415" cy="459509"/>
            </a:xfrm>
            <a:prstGeom prst="rect">
              <a:avLst/>
            </a:prstGeom>
            <a:noFill/>
            <a:ln w="9525">
              <a:noFill/>
            </a:ln>
          </p:spPr>
          <p:txBody>
            <a:bodyPr wrap="none">
              <a:spAutoFit/>
            </a:bodyPr>
            <a:lstStyle/>
            <a:p>
              <a:r>
                <a:rPr lang="zh-CN" altLang="en-US" sz="2400" dirty="0">
                  <a:latin typeface="微软雅黑" panose="020B0503020204020204" charset="-122"/>
                  <a:ea typeface="微软雅黑" panose="020B0503020204020204" charset="-122"/>
                </a:rPr>
                <a:t>定义和使用结构体变量</a:t>
              </a:r>
            </a:p>
          </p:txBody>
        </p:sp>
      </p:grpSp>
      <p:grpSp>
        <p:nvGrpSpPr>
          <p:cNvPr id="13" name="组合 195"/>
          <p:cNvGrpSpPr/>
          <p:nvPr/>
        </p:nvGrpSpPr>
        <p:grpSpPr>
          <a:xfrm>
            <a:off x="4334475" y="2344739"/>
            <a:ext cx="4041775" cy="592137"/>
            <a:chOff x="1710657" y="1263652"/>
            <a:chExt cx="4042443" cy="592608"/>
          </a:xfrm>
        </p:grpSpPr>
        <p:grpSp>
          <p:nvGrpSpPr>
            <p:cNvPr id="14" name="组合 29"/>
            <p:cNvGrpSpPr/>
            <p:nvPr/>
          </p:nvGrpSpPr>
          <p:grpSpPr>
            <a:xfrm rot="-12767">
              <a:off x="1710657" y="1263652"/>
              <a:ext cx="884411" cy="592608"/>
              <a:chOff x="1936620" y="1275606"/>
              <a:chExt cx="1296144" cy="1728192"/>
            </a:xfrm>
          </p:grpSpPr>
          <p:grpSp>
            <p:nvGrpSpPr>
              <p:cNvPr id="15" name="组合 31"/>
              <p:cNvGrpSpPr/>
              <p:nvPr/>
            </p:nvGrpSpPr>
            <p:grpSpPr>
              <a:xfrm>
                <a:off x="1936620" y="1275606"/>
                <a:ext cx="1296142" cy="1728192"/>
                <a:chOff x="1907704" y="1275606"/>
                <a:chExt cx="1296142" cy="1728192"/>
              </a:xfrm>
            </p:grpSpPr>
            <p:sp>
              <p:nvSpPr>
                <p:cNvPr id="16" name="圆角矩形 15"/>
                <p:cNvSpPr/>
                <p:nvPr/>
              </p:nvSpPr>
              <p:spPr>
                <a:xfrm>
                  <a:off x="1907704" y="1275606"/>
                  <a:ext cx="1296104" cy="1728192"/>
                </a:xfrm>
                <a:prstGeom prst="roundRect">
                  <a:avLst/>
                </a:prstGeom>
                <a:solidFill>
                  <a:srgbClr val="3BCCFF"/>
                </a:solidFill>
                <a:ln w="25400" cap="flat" cmpd="sng" algn="ctr">
                  <a:noFill/>
                  <a:prstDash val="solid"/>
                </a:ln>
                <a:effectLst>
                  <a:outerShdw blurRad="76200" dir="13500000" sy="23000" kx="1200000" algn="br" rotWithShape="0">
                    <a:prstClr val="black">
                      <a:alpha val="2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0" cap="none" spc="0" normalizeH="0" baseline="0" noProof="0" dirty="0">
                      <a:ln>
                        <a:noFill/>
                      </a:ln>
                      <a:solidFill>
                        <a:prstClr val="white"/>
                      </a:solidFill>
                      <a:effectLst/>
                      <a:uLnTx/>
                      <a:uFillTx/>
                      <a:latin typeface="Cambria Math" panose="02040503050406030204" pitchFamily="18" charset="0"/>
                      <a:ea typeface="汉仪综艺体简" pitchFamily="49" charset="-122"/>
                      <a:cs typeface="+mn-cs"/>
                    </a:rPr>
                    <a:t>7.2</a:t>
                  </a:r>
                  <a:endParaRPr kumimoji="0" lang="zh-CN" altLang="en-US" sz="3200" b="1" i="0" u="none" strike="noStrike" kern="0" cap="none" spc="0" normalizeH="0" baseline="0" noProof="0" dirty="0">
                    <a:ln>
                      <a:noFill/>
                    </a:ln>
                    <a:solidFill>
                      <a:prstClr val="white"/>
                    </a:solidFill>
                    <a:effectLst/>
                    <a:uLnTx/>
                    <a:uFillTx/>
                    <a:latin typeface="Cambria Math" panose="02040503050406030204" pitchFamily="18" charset="0"/>
                    <a:ea typeface="汉仪综艺体简" pitchFamily="49" charset="-122"/>
                    <a:cs typeface="+mn-cs"/>
                  </a:endParaRPr>
                </a:p>
              </p:txBody>
            </p:sp>
            <p:sp>
              <p:nvSpPr>
                <p:cNvPr id="17" name="圆角矩形 16"/>
                <p:cNvSpPr/>
                <p:nvPr/>
              </p:nvSpPr>
              <p:spPr>
                <a:xfrm>
                  <a:off x="1961224" y="1349737"/>
                  <a:ext cx="1189063" cy="1579929"/>
                </a:xfrm>
                <a:prstGeom prst="roundRect">
                  <a:avLst/>
                </a:prstGeom>
                <a:noFill/>
                <a:ln w="15875" cap="flat" cmpd="sng" algn="ctr">
                  <a:solidFill>
                    <a:sysClr val="window" lastClr="FFFFFF"/>
                  </a:solid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1" i="0" u="none" strike="noStrike" kern="0" cap="none" spc="0" normalizeH="0" baseline="0" noProof="0">
                    <a:ln>
                      <a:noFill/>
                    </a:ln>
                    <a:solidFill>
                      <a:prstClr val="white"/>
                    </a:solidFill>
                    <a:effectLst/>
                    <a:uLnTx/>
                    <a:uFillTx/>
                    <a:latin typeface="Cambria Math" panose="02040503050406030204" pitchFamily="18" charset="0"/>
                    <a:ea typeface="汉仪综艺体简" pitchFamily="49" charset="-122"/>
                    <a:cs typeface="+mn-cs"/>
                  </a:endParaRPr>
                </a:p>
              </p:txBody>
            </p:sp>
          </p:grpSp>
          <p:sp>
            <p:nvSpPr>
              <p:cNvPr id="18" name="圆角矩形 5"/>
              <p:cNvSpPr/>
              <p:nvPr/>
            </p:nvSpPr>
            <p:spPr>
              <a:xfrm>
                <a:off x="1931236" y="2063209"/>
                <a:ext cx="1293777" cy="935912"/>
              </a:xfrm>
              <a:custGeom>
                <a:avLst/>
                <a:gdLst/>
                <a:ahLst/>
                <a:cxnLst/>
                <a:rect l="l" t="t" r="r" b="b"/>
                <a:pathLst>
                  <a:path w="1292867" h="936362">
                    <a:moveTo>
                      <a:pt x="0" y="0"/>
                    </a:moveTo>
                    <a:lnTo>
                      <a:pt x="1292867" y="752847"/>
                    </a:lnTo>
                    <a:cubicBezTo>
                      <a:pt x="1277961" y="856795"/>
                      <a:pt x="1188330" y="936362"/>
                      <a:pt x="1080116" y="936362"/>
                    </a:cubicBezTo>
                    <a:lnTo>
                      <a:pt x="216028" y="936362"/>
                    </a:lnTo>
                    <a:cubicBezTo>
                      <a:pt x="96719" y="936362"/>
                      <a:pt x="0" y="839643"/>
                      <a:pt x="0" y="720334"/>
                    </a:cubicBezTo>
                    <a:close/>
                  </a:path>
                </a:pathLst>
              </a:custGeom>
              <a:solidFill>
                <a:sysClr val="window" lastClr="FFFFFF">
                  <a:alpha val="43000"/>
                </a:sysClr>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0" b="1" i="0" u="none" strike="noStrike" kern="0" cap="none" spc="0" normalizeH="0" baseline="0" noProof="0" dirty="0">
                  <a:ln>
                    <a:noFill/>
                  </a:ln>
                  <a:solidFill>
                    <a:prstClr val="white"/>
                  </a:solidFill>
                  <a:effectLst/>
                  <a:uLnTx/>
                  <a:uFillTx/>
                  <a:latin typeface="Cambria Math" panose="02040503050406030204" pitchFamily="18" charset="0"/>
                  <a:ea typeface="汉仪综艺体简" pitchFamily="49" charset="-122"/>
                  <a:cs typeface="+mn-cs"/>
                </a:endParaRPr>
              </a:p>
            </p:txBody>
          </p:sp>
        </p:grpSp>
        <p:cxnSp>
          <p:nvCxnSpPr>
            <p:cNvPr id="19" name="直接连接符 18"/>
            <p:cNvCxnSpPr/>
            <p:nvPr/>
          </p:nvCxnSpPr>
          <p:spPr bwMode="auto">
            <a:xfrm>
              <a:off x="2809389" y="1760934"/>
              <a:ext cx="2943711" cy="0"/>
            </a:xfrm>
            <a:prstGeom prst="line">
              <a:avLst/>
            </a:prstGeom>
            <a:noFill/>
            <a:ln w="3175" cap="flat" cmpd="sng" algn="ctr">
              <a:solidFill>
                <a:schemeClr val="bg1">
                  <a:lumMod val="50000"/>
                </a:schemeClr>
              </a:solidFill>
              <a:prstDash val="sysDot"/>
              <a:headEnd type="oval" w="sm" len="sm"/>
              <a:tailEnd type="oval" w="sm" len="sm"/>
            </a:ln>
            <a:effectLst/>
          </p:spPr>
        </p:cxnSp>
        <p:sp>
          <p:nvSpPr>
            <p:cNvPr id="20" name="矩形 35"/>
            <p:cNvSpPr/>
            <p:nvPr/>
          </p:nvSpPr>
          <p:spPr>
            <a:xfrm>
              <a:off x="2836056" y="1286814"/>
              <a:ext cx="2316863" cy="460741"/>
            </a:xfrm>
            <a:prstGeom prst="rect">
              <a:avLst/>
            </a:prstGeom>
            <a:noFill/>
            <a:ln w="9525">
              <a:noFill/>
            </a:ln>
          </p:spPr>
          <p:txBody>
            <a:bodyPr wrap="none">
              <a:spAutoFit/>
            </a:bodyPr>
            <a:lstStyle/>
            <a:p>
              <a:r>
                <a:rPr lang="zh-CN" altLang="en-US" sz="2400" dirty="0">
                  <a:latin typeface="微软雅黑" panose="020B0503020204020204" charset="-122"/>
                  <a:ea typeface="微软雅黑" panose="020B0503020204020204" charset="-122"/>
                </a:rPr>
                <a:t>使用结构体数组</a:t>
              </a:r>
            </a:p>
          </p:txBody>
        </p:sp>
      </p:grpSp>
      <p:grpSp>
        <p:nvGrpSpPr>
          <p:cNvPr id="21" name="组合 221"/>
          <p:cNvGrpSpPr/>
          <p:nvPr/>
        </p:nvGrpSpPr>
        <p:grpSpPr>
          <a:xfrm>
            <a:off x="3235926" y="3533775"/>
            <a:ext cx="4041775" cy="593725"/>
            <a:chOff x="1710657" y="1263652"/>
            <a:chExt cx="4042443" cy="592608"/>
          </a:xfrm>
        </p:grpSpPr>
        <p:grpSp>
          <p:nvGrpSpPr>
            <p:cNvPr id="22" name="组合 29"/>
            <p:cNvGrpSpPr/>
            <p:nvPr/>
          </p:nvGrpSpPr>
          <p:grpSpPr>
            <a:xfrm rot="-12767">
              <a:off x="1710657" y="1263652"/>
              <a:ext cx="884411" cy="592608"/>
              <a:chOff x="1936620" y="1275606"/>
              <a:chExt cx="1296144" cy="1728192"/>
            </a:xfrm>
          </p:grpSpPr>
          <p:grpSp>
            <p:nvGrpSpPr>
              <p:cNvPr id="23" name="组合 31"/>
              <p:cNvGrpSpPr/>
              <p:nvPr/>
            </p:nvGrpSpPr>
            <p:grpSpPr>
              <a:xfrm>
                <a:off x="1936620" y="1275606"/>
                <a:ext cx="1296142" cy="1728192"/>
                <a:chOff x="1907704" y="1275606"/>
                <a:chExt cx="1296142" cy="1728192"/>
              </a:xfrm>
            </p:grpSpPr>
            <p:sp>
              <p:nvSpPr>
                <p:cNvPr id="24" name="圆角矩形 23"/>
                <p:cNvSpPr/>
                <p:nvPr/>
              </p:nvSpPr>
              <p:spPr>
                <a:xfrm>
                  <a:off x="1907704" y="1275606"/>
                  <a:ext cx="1296104" cy="1728192"/>
                </a:xfrm>
                <a:prstGeom prst="roundRect">
                  <a:avLst/>
                </a:prstGeom>
                <a:solidFill>
                  <a:srgbClr val="3BCCFF"/>
                </a:solidFill>
                <a:ln w="25400" cap="flat" cmpd="sng" algn="ctr">
                  <a:noFill/>
                  <a:prstDash val="solid"/>
                </a:ln>
                <a:effectLst>
                  <a:outerShdw blurRad="76200" dir="13500000" sy="23000" kx="1200000" algn="br" rotWithShape="0">
                    <a:prstClr val="black">
                      <a:alpha val="2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0" cap="none" spc="0" normalizeH="0" baseline="0" noProof="0" dirty="0">
                      <a:ln>
                        <a:noFill/>
                      </a:ln>
                      <a:solidFill>
                        <a:prstClr val="white"/>
                      </a:solidFill>
                      <a:effectLst/>
                      <a:uLnTx/>
                      <a:uFillTx/>
                      <a:latin typeface="Cambria Math" panose="02040503050406030204" pitchFamily="18" charset="0"/>
                      <a:ea typeface="汉仪综艺体简" pitchFamily="49" charset="-122"/>
                      <a:cs typeface="+mn-cs"/>
                    </a:rPr>
                    <a:t>7.3</a:t>
                  </a:r>
                  <a:endParaRPr kumimoji="0" lang="zh-CN" altLang="en-US" sz="3200" b="1" i="0" u="none" strike="noStrike" kern="0" cap="none" spc="0" normalizeH="0" baseline="0" noProof="0" dirty="0">
                    <a:ln>
                      <a:noFill/>
                    </a:ln>
                    <a:solidFill>
                      <a:prstClr val="white"/>
                    </a:solidFill>
                    <a:effectLst/>
                    <a:uLnTx/>
                    <a:uFillTx/>
                    <a:latin typeface="Cambria Math" panose="02040503050406030204" pitchFamily="18" charset="0"/>
                    <a:ea typeface="汉仪综艺体简" pitchFamily="49" charset="-122"/>
                    <a:cs typeface="+mn-cs"/>
                  </a:endParaRPr>
                </a:p>
              </p:txBody>
            </p:sp>
            <p:sp>
              <p:nvSpPr>
                <p:cNvPr id="25" name="圆角矩形 24"/>
                <p:cNvSpPr/>
                <p:nvPr/>
              </p:nvSpPr>
              <p:spPr>
                <a:xfrm>
                  <a:off x="1961224" y="1349539"/>
                  <a:ext cx="1189063" cy="1580325"/>
                </a:xfrm>
                <a:prstGeom prst="roundRect">
                  <a:avLst/>
                </a:prstGeom>
                <a:noFill/>
                <a:ln w="15875" cap="flat" cmpd="sng" algn="ctr">
                  <a:solidFill>
                    <a:sysClr val="window" lastClr="FFFFFF"/>
                  </a:solid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1" i="0" u="none" strike="noStrike" kern="0" cap="none" spc="0" normalizeH="0" baseline="0" noProof="0">
                    <a:ln>
                      <a:noFill/>
                    </a:ln>
                    <a:solidFill>
                      <a:prstClr val="white"/>
                    </a:solidFill>
                    <a:effectLst/>
                    <a:uLnTx/>
                    <a:uFillTx/>
                    <a:latin typeface="Cambria Math" panose="02040503050406030204" pitchFamily="18" charset="0"/>
                    <a:ea typeface="汉仪综艺体简" pitchFamily="49" charset="-122"/>
                    <a:cs typeface="+mn-cs"/>
                  </a:endParaRPr>
                </a:p>
              </p:txBody>
            </p:sp>
          </p:grpSp>
          <p:sp>
            <p:nvSpPr>
              <p:cNvPr id="26" name="圆角矩形 5"/>
              <p:cNvSpPr/>
              <p:nvPr/>
            </p:nvSpPr>
            <p:spPr>
              <a:xfrm>
                <a:off x="1931232" y="2065724"/>
                <a:ext cx="1293777" cy="933409"/>
              </a:xfrm>
              <a:custGeom>
                <a:avLst/>
                <a:gdLst/>
                <a:ahLst/>
                <a:cxnLst/>
                <a:rect l="l" t="t" r="r" b="b"/>
                <a:pathLst>
                  <a:path w="1292867" h="936362">
                    <a:moveTo>
                      <a:pt x="0" y="0"/>
                    </a:moveTo>
                    <a:lnTo>
                      <a:pt x="1292867" y="752847"/>
                    </a:lnTo>
                    <a:cubicBezTo>
                      <a:pt x="1277961" y="856795"/>
                      <a:pt x="1188330" y="936362"/>
                      <a:pt x="1080116" y="936362"/>
                    </a:cubicBezTo>
                    <a:lnTo>
                      <a:pt x="216028" y="936362"/>
                    </a:lnTo>
                    <a:cubicBezTo>
                      <a:pt x="96719" y="936362"/>
                      <a:pt x="0" y="839643"/>
                      <a:pt x="0" y="720334"/>
                    </a:cubicBezTo>
                    <a:close/>
                  </a:path>
                </a:pathLst>
              </a:custGeom>
              <a:solidFill>
                <a:sysClr val="window" lastClr="FFFFFF">
                  <a:alpha val="43000"/>
                </a:sysClr>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0" b="1" i="0" u="none" strike="noStrike" kern="0" cap="none" spc="0" normalizeH="0" baseline="0" noProof="0" dirty="0">
                  <a:ln>
                    <a:noFill/>
                  </a:ln>
                  <a:solidFill>
                    <a:prstClr val="white"/>
                  </a:solidFill>
                  <a:effectLst/>
                  <a:uLnTx/>
                  <a:uFillTx/>
                  <a:latin typeface="Cambria Math" panose="02040503050406030204" pitchFamily="18" charset="0"/>
                  <a:ea typeface="汉仪综艺体简" pitchFamily="49" charset="-122"/>
                  <a:cs typeface="+mn-cs"/>
                </a:endParaRPr>
              </a:p>
            </p:txBody>
          </p:sp>
        </p:grpSp>
        <p:cxnSp>
          <p:nvCxnSpPr>
            <p:cNvPr id="27" name="直接连接符 26"/>
            <p:cNvCxnSpPr/>
            <p:nvPr/>
          </p:nvCxnSpPr>
          <p:spPr bwMode="auto">
            <a:xfrm>
              <a:off x="2809389" y="1761189"/>
              <a:ext cx="2943711" cy="0"/>
            </a:xfrm>
            <a:prstGeom prst="line">
              <a:avLst/>
            </a:prstGeom>
            <a:noFill/>
            <a:ln w="3175" cap="flat" cmpd="sng" algn="ctr">
              <a:solidFill>
                <a:schemeClr val="bg1">
                  <a:lumMod val="50000"/>
                </a:schemeClr>
              </a:solidFill>
              <a:prstDash val="sysDot"/>
              <a:headEnd type="oval" w="sm" len="sm"/>
              <a:tailEnd type="oval" w="sm" len="sm"/>
            </a:ln>
            <a:effectLst/>
          </p:spPr>
        </p:cxnSp>
        <p:sp>
          <p:nvSpPr>
            <p:cNvPr id="28" name="矩形 35"/>
            <p:cNvSpPr/>
            <p:nvPr/>
          </p:nvSpPr>
          <p:spPr>
            <a:xfrm>
              <a:off x="2836056" y="1286814"/>
              <a:ext cx="1707162" cy="459509"/>
            </a:xfrm>
            <a:prstGeom prst="rect">
              <a:avLst/>
            </a:prstGeom>
            <a:noFill/>
            <a:ln w="9525">
              <a:noFill/>
            </a:ln>
          </p:spPr>
          <p:txBody>
            <a:bodyPr wrap="none">
              <a:spAutoFit/>
            </a:bodyPr>
            <a:lstStyle/>
            <a:p>
              <a:r>
                <a:rPr lang="zh-CN" altLang="en-US" sz="2400" dirty="0">
                  <a:latin typeface="微软雅黑" panose="020B0503020204020204" charset="-122"/>
                  <a:ea typeface="微软雅黑" panose="020B0503020204020204" charset="-122"/>
                </a:rPr>
                <a:t>结构体指针</a:t>
              </a:r>
            </a:p>
          </p:txBody>
        </p:sp>
      </p:grpSp>
      <p:grpSp>
        <p:nvGrpSpPr>
          <p:cNvPr id="29" name="组合 234"/>
          <p:cNvGrpSpPr/>
          <p:nvPr/>
        </p:nvGrpSpPr>
        <p:grpSpPr>
          <a:xfrm>
            <a:off x="4369400" y="4757739"/>
            <a:ext cx="4043363" cy="592137"/>
            <a:chOff x="1710657" y="1263652"/>
            <a:chExt cx="4042443" cy="592608"/>
          </a:xfrm>
        </p:grpSpPr>
        <p:grpSp>
          <p:nvGrpSpPr>
            <p:cNvPr id="30" name="组合 29"/>
            <p:cNvGrpSpPr/>
            <p:nvPr/>
          </p:nvGrpSpPr>
          <p:grpSpPr>
            <a:xfrm rot="-12767">
              <a:off x="1710657" y="1263652"/>
              <a:ext cx="884411" cy="592608"/>
              <a:chOff x="1936620" y="1275606"/>
              <a:chExt cx="1296144" cy="1728192"/>
            </a:xfrm>
          </p:grpSpPr>
          <p:grpSp>
            <p:nvGrpSpPr>
              <p:cNvPr id="31" name="组合 31"/>
              <p:cNvGrpSpPr/>
              <p:nvPr/>
            </p:nvGrpSpPr>
            <p:grpSpPr>
              <a:xfrm>
                <a:off x="1936620" y="1275606"/>
                <a:ext cx="1296142" cy="1728192"/>
                <a:chOff x="1907704" y="1275606"/>
                <a:chExt cx="1296142" cy="1728192"/>
              </a:xfrm>
            </p:grpSpPr>
            <p:sp>
              <p:nvSpPr>
                <p:cNvPr id="32" name="圆角矩形 31"/>
                <p:cNvSpPr/>
                <p:nvPr/>
              </p:nvSpPr>
              <p:spPr>
                <a:xfrm>
                  <a:off x="1907704" y="1275604"/>
                  <a:ext cx="1295595" cy="1728192"/>
                </a:xfrm>
                <a:prstGeom prst="roundRect">
                  <a:avLst/>
                </a:prstGeom>
                <a:solidFill>
                  <a:srgbClr val="3BCCFF"/>
                </a:solidFill>
                <a:ln w="25400" cap="flat" cmpd="sng" algn="ctr">
                  <a:noFill/>
                  <a:prstDash val="solid"/>
                </a:ln>
                <a:effectLst>
                  <a:outerShdw blurRad="76200" dir="13500000" sy="23000" kx="1200000" algn="br" rotWithShape="0">
                    <a:prstClr val="black">
                      <a:alpha val="2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0" cap="none" spc="0" normalizeH="0" baseline="0" noProof="0" dirty="0">
                      <a:ln>
                        <a:noFill/>
                      </a:ln>
                      <a:solidFill>
                        <a:prstClr val="white"/>
                      </a:solidFill>
                      <a:effectLst/>
                      <a:uLnTx/>
                      <a:uFillTx/>
                      <a:latin typeface="Cambria Math" panose="02040503050406030204" pitchFamily="18" charset="0"/>
                      <a:ea typeface="汉仪综艺体简" pitchFamily="49" charset="-122"/>
                      <a:cs typeface="+mn-cs"/>
                    </a:rPr>
                    <a:t>7.4</a:t>
                  </a:r>
                  <a:endParaRPr kumimoji="0" lang="zh-CN" altLang="en-US" sz="3200" b="1" i="0" u="none" strike="noStrike" kern="0" cap="none" spc="0" normalizeH="0" baseline="0" noProof="0" dirty="0">
                    <a:ln>
                      <a:noFill/>
                    </a:ln>
                    <a:solidFill>
                      <a:prstClr val="white"/>
                    </a:solidFill>
                    <a:effectLst/>
                    <a:uLnTx/>
                    <a:uFillTx/>
                    <a:latin typeface="Cambria Math" panose="02040503050406030204" pitchFamily="18" charset="0"/>
                    <a:ea typeface="汉仪综艺体简" pitchFamily="49" charset="-122"/>
                    <a:cs typeface="+mn-cs"/>
                  </a:endParaRPr>
                </a:p>
              </p:txBody>
            </p:sp>
            <p:sp>
              <p:nvSpPr>
                <p:cNvPr id="36" name="圆角矩形 35"/>
                <p:cNvSpPr/>
                <p:nvPr/>
              </p:nvSpPr>
              <p:spPr>
                <a:xfrm>
                  <a:off x="1961203" y="1349736"/>
                  <a:ext cx="1188597" cy="1579929"/>
                </a:xfrm>
                <a:prstGeom prst="roundRect">
                  <a:avLst/>
                </a:prstGeom>
                <a:noFill/>
                <a:ln w="15875" cap="flat" cmpd="sng" algn="ctr">
                  <a:solidFill>
                    <a:sysClr val="window" lastClr="FFFFFF"/>
                  </a:solid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1" i="0" u="none" strike="noStrike" kern="0" cap="none" spc="0" normalizeH="0" baseline="0" noProof="0">
                    <a:ln>
                      <a:noFill/>
                    </a:ln>
                    <a:solidFill>
                      <a:prstClr val="white"/>
                    </a:solidFill>
                    <a:effectLst/>
                    <a:uLnTx/>
                    <a:uFillTx/>
                    <a:latin typeface="Cambria Math" panose="02040503050406030204" pitchFamily="18" charset="0"/>
                    <a:ea typeface="汉仪综艺体简" pitchFamily="49" charset="-122"/>
                    <a:cs typeface="+mn-cs"/>
                  </a:endParaRPr>
                </a:p>
              </p:txBody>
            </p:sp>
          </p:grpSp>
          <p:sp>
            <p:nvSpPr>
              <p:cNvPr id="37" name="圆角矩形 5"/>
              <p:cNvSpPr/>
              <p:nvPr/>
            </p:nvSpPr>
            <p:spPr>
              <a:xfrm>
                <a:off x="1931238" y="2063172"/>
                <a:ext cx="1283965" cy="935912"/>
              </a:xfrm>
              <a:custGeom>
                <a:avLst/>
                <a:gdLst/>
                <a:ahLst/>
                <a:cxnLst/>
                <a:rect l="l" t="t" r="r" b="b"/>
                <a:pathLst>
                  <a:path w="1292867" h="936362">
                    <a:moveTo>
                      <a:pt x="0" y="0"/>
                    </a:moveTo>
                    <a:lnTo>
                      <a:pt x="1292867" y="752847"/>
                    </a:lnTo>
                    <a:cubicBezTo>
                      <a:pt x="1277961" y="856795"/>
                      <a:pt x="1188330" y="936362"/>
                      <a:pt x="1080116" y="936362"/>
                    </a:cubicBezTo>
                    <a:lnTo>
                      <a:pt x="216028" y="936362"/>
                    </a:lnTo>
                    <a:cubicBezTo>
                      <a:pt x="96719" y="936362"/>
                      <a:pt x="0" y="839643"/>
                      <a:pt x="0" y="720334"/>
                    </a:cubicBezTo>
                    <a:close/>
                  </a:path>
                </a:pathLst>
              </a:custGeom>
              <a:solidFill>
                <a:sysClr val="window" lastClr="FFFFFF">
                  <a:alpha val="43000"/>
                </a:sysClr>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0" b="1" i="0" u="none" strike="noStrike" kern="0" cap="none" spc="0" normalizeH="0" baseline="0" noProof="0" dirty="0">
                  <a:ln>
                    <a:noFill/>
                  </a:ln>
                  <a:solidFill>
                    <a:prstClr val="white"/>
                  </a:solidFill>
                  <a:effectLst/>
                  <a:uLnTx/>
                  <a:uFillTx/>
                  <a:latin typeface="Cambria Math" panose="02040503050406030204" pitchFamily="18" charset="0"/>
                  <a:ea typeface="汉仪综艺体简" pitchFamily="49" charset="-122"/>
                  <a:cs typeface="+mn-cs"/>
                </a:endParaRPr>
              </a:p>
            </p:txBody>
          </p:sp>
        </p:grpSp>
        <p:cxnSp>
          <p:nvCxnSpPr>
            <p:cNvPr id="38" name="直接连接符 37"/>
            <p:cNvCxnSpPr/>
            <p:nvPr/>
          </p:nvCxnSpPr>
          <p:spPr bwMode="auto">
            <a:xfrm>
              <a:off x="2810545" y="1760934"/>
              <a:ext cx="2942555" cy="0"/>
            </a:xfrm>
            <a:prstGeom prst="line">
              <a:avLst/>
            </a:prstGeom>
            <a:noFill/>
            <a:ln w="3175" cap="flat" cmpd="sng" algn="ctr">
              <a:solidFill>
                <a:schemeClr val="bg1">
                  <a:lumMod val="50000"/>
                </a:schemeClr>
              </a:solidFill>
              <a:prstDash val="sysDot"/>
              <a:headEnd type="oval" w="sm" len="sm"/>
              <a:tailEnd type="oval" w="sm" len="sm"/>
            </a:ln>
            <a:effectLst/>
          </p:spPr>
        </p:cxnSp>
        <p:sp>
          <p:nvSpPr>
            <p:cNvPr id="39" name="矩形 35"/>
            <p:cNvSpPr/>
            <p:nvPr/>
          </p:nvSpPr>
          <p:spPr>
            <a:xfrm>
              <a:off x="2836056" y="1286814"/>
              <a:ext cx="2315953" cy="460741"/>
            </a:xfrm>
            <a:prstGeom prst="rect">
              <a:avLst/>
            </a:prstGeom>
            <a:noFill/>
            <a:ln w="9525">
              <a:noFill/>
            </a:ln>
          </p:spPr>
          <p:txBody>
            <a:bodyPr wrap="none">
              <a:spAutoFit/>
            </a:bodyPr>
            <a:lstStyle/>
            <a:p>
              <a:r>
                <a:rPr lang="zh-CN" altLang="en-US" sz="2400" dirty="0">
                  <a:latin typeface="微软雅黑" panose="020B0503020204020204" charset="-122"/>
                  <a:ea typeface="微软雅黑" panose="020B0503020204020204" charset="-122"/>
                </a:rPr>
                <a:t>用指针处理链表</a:t>
              </a:r>
              <a:endParaRPr lang="en-US" altLang="zh-CN" sz="2400" dirty="0">
                <a:latin typeface="微软雅黑" panose="020B0503020204020204" charset="-122"/>
                <a:ea typeface="微软雅黑" panose="020B0503020204020204" charset="-122"/>
              </a:endParaRPr>
            </a:p>
          </p:txBody>
        </p:sp>
      </p:grpSp>
      <p:grpSp>
        <p:nvGrpSpPr>
          <p:cNvPr id="40" name="组合 242"/>
          <p:cNvGrpSpPr/>
          <p:nvPr/>
        </p:nvGrpSpPr>
        <p:grpSpPr>
          <a:xfrm>
            <a:off x="3229575" y="5913439"/>
            <a:ext cx="4043363" cy="592137"/>
            <a:chOff x="1710657" y="1263652"/>
            <a:chExt cx="4042443" cy="592608"/>
          </a:xfrm>
        </p:grpSpPr>
        <p:grpSp>
          <p:nvGrpSpPr>
            <p:cNvPr id="41" name="组合 29"/>
            <p:cNvGrpSpPr/>
            <p:nvPr/>
          </p:nvGrpSpPr>
          <p:grpSpPr>
            <a:xfrm rot="-12767">
              <a:off x="1710657" y="1263652"/>
              <a:ext cx="884411" cy="592608"/>
              <a:chOff x="1936620" y="1275606"/>
              <a:chExt cx="1296144" cy="1728192"/>
            </a:xfrm>
          </p:grpSpPr>
          <p:grpSp>
            <p:nvGrpSpPr>
              <p:cNvPr id="42" name="组合 31"/>
              <p:cNvGrpSpPr/>
              <p:nvPr/>
            </p:nvGrpSpPr>
            <p:grpSpPr>
              <a:xfrm>
                <a:off x="1936620" y="1275606"/>
                <a:ext cx="1296142" cy="1728192"/>
                <a:chOff x="1907704" y="1275606"/>
                <a:chExt cx="1296142" cy="1728192"/>
              </a:xfrm>
            </p:grpSpPr>
            <p:sp>
              <p:nvSpPr>
                <p:cNvPr id="43" name="圆角矩形 42"/>
                <p:cNvSpPr/>
                <p:nvPr/>
              </p:nvSpPr>
              <p:spPr>
                <a:xfrm>
                  <a:off x="1907704" y="1275604"/>
                  <a:ext cx="1295595" cy="1728192"/>
                </a:xfrm>
                <a:prstGeom prst="roundRect">
                  <a:avLst/>
                </a:prstGeom>
                <a:solidFill>
                  <a:srgbClr val="3BCCFF"/>
                </a:solidFill>
                <a:ln w="25400" cap="flat" cmpd="sng" algn="ctr">
                  <a:noFill/>
                  <a:prstDash val="solid"/>
                </a:ln>
                <a:effectLst>
                  <a:outerShdw blurRad="76200" dir="13500000" sy="23000" kx="1200000" algn="br" rotWithShape="0">
                    <a:prstClr val="black">
                      <a:alpha val="2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0" cap="none" spc="0" normalizeH="0" baseline="0" noProof="0" dirty="0">
                      <a:ln>
                        <a:noFill/>
                      </a:ln>
                      <a:solidFill>
                        <a:prstClr val="white"/>
                      </a:solidFill>
                      <a:effectLst/>
                      <a:uLnTx/>
                      <a:uFillTx/>
                      <a:latin typeface="Cambria Math" panose="02040503050406030204" pitchFamily="18" charset="0"/>
                      <a:ea typeface="汉仪综艺体简" pitchFamily="49" charset="-122"/>
                      <a:cs typeface="+mn-cs"/>
                    </a:rPr>
                    <a:t>7.5</a:t>
                  </a:r>
                  <a:endParaRPr kumimoji="0" lang="zh-CN" altLang="en-US" sz="3200" b="1" i="0" u="none" strike="noStrike" kern="0" cap="none" spc="0" normalizeH="0" baseline="0" noProof="0" dirty="0">
                    <a:ln>
                      <a:noFill/>
                    </a:ln>
                    <a:solidFill>
                      <a:prstClr val="white"/>
                    </a:solidFill>
                    <a:effectLst/>
                    <a:uLnTx/>
                    <a:uFillTx/>
                    <a:latin typeface="Cambria Math" panose="02040503050406030204" pitchFamily="18" charset="0"/>
                    <a:ea typeface="汉仪综艺体简" pitchFamily="49" charset="-122"/>
                    <a:cs typeface="+mn-cs"/>
                  </a:endParaRPr>
                </a:p>
              </p:txBody>
            </p:sp>
            <p:sp>
              <p:nvSpPr>
                <p:cNvPr id="44" name="圆角矩形 43"/>
                <p:cNvSpPr/>
                <p:nvPr/>
              </p:nvSpPr>
              <p:spPr>
                <a:xfrm>
                  <a:off x="1961203" y="1349736"/>
                  <a:ext cx="1188597" cy="1579929"/>
                </a:xfrm>
                <a:prstGeom prst="roundRect">
                  <a:avLst/>
                </a:prstGeom>
                <a:noFill/>
                <a:ln w="15875" cap="flat" cmpd="sng" algn="ctr">
                  <a:solidFill>
                    <a:sysClr val="window" lastClr="FFFFFF"/>
                  </a:solid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1" i="0" u="none" strike="noStrike" kern="0" cap="none" spc="0" normalizeH="0" baseline="0" noProof="0">
                    <a:ln>
                      <a:noFill/>
                    </a:ln>
                    <a:solidFill>
                      <a:prstClr val="white"/>
                    </a:solidFill>
                    <a:effectLst/>
                    <a:uLnTx/>
                    <a:uFillTx/>
                    <a:latin typeface="Cambria Math" panose="02040503050406030204" pitchFamily="18" charset="0"/>
                    <a:ea typeface="汉仪综艺体简" pitchFamily="49" charset="-122"/>
                    <a:cs typeface="+mn-cs"/>
                  </a:endParaRPr>
                </a:p>
              </p:txBody>
            </p:sp>
          </p:grpSp>
          <p:sp>
            <p:nvSpPr>
              <p:cNvPr id="45" name="圆角矩形 5"/>
              <p:cNvSpPr/>
              <p:nvPr/>
            </p:nvSpPr>
            <p:spPr>
              <a:xfrm>
                <a:off x="1931238" y="2063172"/>
                <a:ext cx="1283965" cy="935912"/>
              </a:xfrm>
              <a:custGeom>
                <a:avLst/>
                <a:gdLst/>
                <a:ahLst/>
                <a:cxnLst/>
                <a:rect l="l" t="t" r="r" b="b"/>
                <a:pathLst>
                  <a:path w="1292867" h="936362">
                    <a:moveTo>
                      <a:pt x="0" y="0"/>
                    </a:moveTo>
                    <a:lnTo>
                      <a:pt x="1292867" y="752847"/>
                    </a:lnTo>
                    <a:cubicBezTo>
                      <a:pt x="1277961" y="856795"/>
                      <a:pt x="1188330" y="936362"/>
                      <a:pt x="1080116" y="936362"/>
                    </a:cubicBezTo>
                    <a:lnTo>
                      <a:pt x="216028" y="936362"/>
                    </a:lnTo>
                    <a:cubicBezTo>
                      <a:pt x="96719" y="936362"/>
                      <a:pt x="0" y="839643"/>
                      <a:pt x="0" y="720334"/>
                    </a:cubicBezTo>
                    <a:close/>
                  </a:path>
                </a:pathLst>
              </a:custGeom>
              <a:solidFill>
                <a:sysClr val="window" lastClr="FFFFFF">
                  <a:alpha val="43000"/>
                </a:sysClr>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0" b="1" i="0" u="none" strike="noStrike" kern="0" cap="none" spc="0" normalizeH="0" baseline="0" noProof="0" dirty="0">
                  <a:ln>
                    <a:noFill/>
                  </a:ln>
                  <a:solidFill>
                    <a:prstClr val="white"/>
                  </a:solidFill>
                  <a:effectLst/>
                  <a:uLnTx/>
                  <a:uFillTx/>
                  <a:latin typeface="Cambria Math" panose="02040503050406030204" pitchFamily="18" charset="0"/>
                  <a:ea typeface="汉仪综艺体简" pitchFamily="49" charset="-122"/>
                  <a:cs typeface="+mn-cs"/>
                </a:endParaRPr>
              </a:p>
            </p:txBody>
          </p:sp>
        </p:grpSp>
        <p:cxnSp>
          <p:nvCxnSpPr>
            <p:cNvPr id="46" name="直接连接符 45"/>
            <p:cNvCxnSpPr/>
            <p:nvPr/>
          </p:nvCxnSpPr>
          <p:spPr bwMode="auto">
            <a:xfrm>
              <a:off x="2810545" y="1760934"/>
              <a:ext cx="2942555" cy="0"/>
            </a:xfrm>
            <a:prstGeom prst="line">
              <a:avLst/>
            </a:prstGeom>
            <a:noFill/>
            <a:ln w="3175" cap="flat" cmpd="sng" algn="ctr">
              <a:solidFill>
                <a:schemeClr val="bg1">
                  <a:lumMod val="50000"/>
                </a:schemeClr>
              </a:solidFill>
              <a:prstDash val="sysDot"/>
              <a:headEnd type="oval" w="sm" len="sm"/>
              <a:tailEnd type="oval" w="sm" len="sm"/>
            </a:ln>
            <a:effectLst/>
          </p:spPr>
        </p:cxnSp>
        <p:sp>
          <p:nvSpPr>
            <p:cNvPr id="47" name="矩形 35"/>
            <p:cNvSpPr/>
            <p:nvPr/>
          </p:nvSpPr>
          <p:spPr>
            <a:xfrm>
              <a:off x="2836056" y="1286814"/>
              <a:ext cx="1706492" cy="460741"/>
            </a:xfrm>
            <a:prstGeom prst="rect">
              <a:avLst/>
            </a:prstGeom>
            <a:noFill/>
            <a:ln w="9525">
              <a:noFill/>
            </a:ln>
          </p:spPr>
          <p:txBody>
            <a:bodyPr wrap="none">
              <a:spAutoFit/>
            </a:bodyPr>
            <a:lstStyle/>
            <a:p>
              <a:r>
                <a:rPr lang="zh-CN" altLang="en-US" sz="2400" dirty="0">
                  <a:latin typeface="微软雅黑" panose="020B0503020204020204" charset="-122"/>
                  <a:ea typeface="微软雅黑" panose="020B0503020204020204" charset="-122"/>
                </a:rPr>
                <a:t>共用体类型</a:t>
              </a:r>
              <a:endParaRPr lang="en-US" altLang="zh-CN" sz="2400" dirty="0">
                <a:latin typeface="微软雅黑" panose="020B0503020204020204" charset="-122"/>
                <a:ea typeface="微软雅黑" panose="020B0503020204020204" charset="-122"/>
              </a:endParaRPr>
            </a:p>
          </p:txBody>
        </p:sp>
      </p:gr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3b32313538323734393b56fe4e66"/>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96747" y="181187"/>
            <a:ext cx="975360" cy="975360"/>
          </a:xfrm>
          <a:prstGeom prst="rect">
            <a:avLst/>
          </a:prstGeom>
        </p:spPr>
      </p:pic>
      <p:sp>
        <p:nvSpPr>
          <p:cNvPr id="4" name="文本框 3"/>
          <p:cNvSpPr txBox="1"/>
          <p:nvPr/>
        </p:nvSpPr>
        <p:spPr>
          <a:xfrm>
            <a:off x="1715947" y="331047"/>
            <a:ext cx="1331807" cy="645160"/>
          </a:xfrm>
          <a:prstGeom prst="rect">
            <a:avLst/>
          </a:prstGeom>
          <a:noFill/>
        </p:spPr>
        <p:txBody>
          <a:bodyPr wrap="square" rtlCol="0">
            <a:spAutoFit/>
          </a:bodyPr>
          <a:lstStyle/>
          <a:p>
            <a:r>
              <a:rPr lang="zh-CN" altLang="en-US" sz="3600" b="1" kern="0" spc="300" noProof="0" dirty="0">
                <a:ln>
                  <a:noFill/>
                </a:ln>
                <a:solidFill>
                  <a:srgbClr val="782367"/>
                </a:solidFill>
                <a:effectLst/>
                <a:uLnTx/>
                <a:uFillTx/>
                <a:latin typeface="微软雅黑" panose="020B0503020204020204" charset="-122"/>
                <a:ea typeface="微软雅黑" panose="020B0503020204020204" charset="-122"/>
                <a:cs typeface="+mj-cs"/>
                <a:sym typeface="+mn-ea"/>
              </a:rPr>
              <a:t>目录</a:t>
            </a:r>
            <a:endParaRPr lang="zh-CN" altLang="en-US" sz="3600"/>
          </a:p>
        </p:txBody>
      </p:sp>
      <p:grpSp>
        <p:nvGrpSpPr>
          <p:cNvPr id="2" name="组合 1"/>
          <p:cNvGrpSpPr/>
          <p:nvPr/>
        </p:nvGrpSpPr>
        <p:grpSpPr>
          <a:xfrm>
            <a:off x="3235926" y="1154113"/>
            <a:ext cx="4041775" cy="593725"/>
            <a:chOff x="1710657" y="1263652"/>
            <a:chExt cx="4042443" cy="592608"/>
          </a:xfrm>
        </p:grpSpPr>
        <p:grpSp>
          <p:nvGrpSpPr>
            <p:cNvPr id="5" name="组合 29"/>
            <p:cNvGrpSpPr/>
            <p:nvPr/>
          </p:nvGrpSpPr>
          <p:grpSpPr>
            <a:xfrm rot="-12767">
              <a:off x="1710657" y="1263652"/>
              <a:ext cx="884411" cy="592608"/>
              <a:chOff x="1936620" y="1275606"/>
              <a:chExt cx="1296144" cy="1728192"/>
            </a:xfrm>
          </p:grpSpPr>
          <p:grpSp>
            <p:nvGrpSpPr>
              <p:cNvPr id="6" name="组合 31"/>
              <p:cNvGrpSpPr/>
              <p:nvPr/>
            </p:nvGrpSpPr>
            <p:grpSpPr>
              <a:xfrm>
                <a:off x="1936620" y="1275606"/>
                <a:ext cx="1296142" cy="1728192"/>
                <a:chOff x="1907704" y="1275606"/>
                <a:chExt cx="1296142" cy="1728192"/>
              </a:xfrm>
            </p:grpSpPr>
            <p:sp>
              <p:nvSpPr>
                <p:cNvPr id="8" name="圆角矩形 7"/>
                <p:cNvSpPr/>
                <p:nvPr/>
              </p:nvSpPr>
              <p:spPr>
                <a:xfrm>
                  <a:off x="1907704" y="1275606"/>
                  <a:ext cx="1296104" cy="1728192"/>
                </a:xfrm>
                <a:prstGeom prst="roundRect">
                  <a:avLst/>
                </a:prstGeom>
                <a:solidFill>
                  <a:srgbClr val="3BCCFF"/>
                </a:solidFill>
                <a:ln w="25400" cap="flat" cmpd="sng" algn="ctr">
                  <a:noFill/>
                  <a:prstDash val="solid"/>
                </a:ln>
                <a:effectLst>
                  <a:outerShdw blurRad="76200" dir="13500000" sy="23000" kx="1200000" algn="br" rotWithShape="0">
                    <a:prstClr val="black">
                      <a:alpha val="2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0" cap="none" spc="0" normalizeH="0" baseline="0" noProof="0" dirty="0">
                      <a:ln>
                        <a:noFill/>
                      </a:ln>
                      <a:solidFill>
                        <a:prstClr val="white"/>
                      </a:solidFill>
                      <a:effectLst/>
                      <a:uLnTx/>
                      <a:uFillTx/>
                      <a:latin typeface="Cambria Math" panose="02040503050406030204" pitchFamily="18" charset="0"/>
                      <a:ea typeface="汉仪综艺体简" pitchFamily="49" charset="-122"/>
                      <a:cs typeface="+mn-cs"/>
                    </a:rPr>
                    <a:t>7.6</a:t>
                  </a:r>
                  <a:endParaRPr kumimoji="0" lang="zh-CN" altLang="en-US" sz="3200" b="1" i="0" u="none" strike="noStrike" kern="0" cap="none" spc="0" normalizeH="0" baseline="0" noProof="0" dirty="0">
                    <a:ln>
                      <a:noFill/>
                    </a:ln>
                    <a:solidFill>
                      <a:prstClr val="white"/>
                    </a:solidFill>
                    <a:effectLst/>
                    <a:uLnTx/>
                    <a:uFillTx/>
                    <a:latin typeface="Cambria Math" panose="02040503050406030204" pitchFamily="18" charset="0"/>
                    <a:ea typeface="汉仪综艺体简" pitchFamily="49" charset="-122"/>
                    <a:cs typeface="+mn-cs"/>
                  </a:endParaRPr>
                </a:p>
              </p:txBody>
            </p:sp>
            <p:sp>
              <p:nvSpPr>
                <p:cNvPr id="9" name="圆角矩形 8"/>
                <p:cNvSpPr/>
                <p:nvPr/>
              </p:nvSpPr>
              <p:spPr>
                <a:xfrm>
                  <a:off x="1961224" y="1349539"/>
                  <a:ext cx="1189063" cy="1580325"/>
                </a:xfrm>
                <a:prstGeom prst="roundRect">
                  <a:avLst/>
                </a:prstGeom>
                <a:noFill/>
                <a:ln w="15875" cap="flat" cmpd="sng" algn="ctr">
                  <a:solidFill>
                    <a:sysClr val="window" lastClr="FFFFFF"/>
                  </a:solid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1" i="0" u="none" strike="noStrike" kern="0" cap="none" spc="0" normalizeH="0" baseline="0" noProof="0">
                    <a:ln>
                      <a:noFill/>
                    </a:ln>
                    <a:solidFill>
                      <a:prstClr val="white"/>
                    </a:solidFill>
                    <a:effectLst/>
                    <a:uLnTx/>
                    <a:uFillTx/>
                    <a:latin typeface="Cambria Math" panose="02040503050406030204" pitchFamily="18" charset="0"/>
                    <a:ea typeface="汉仪综艺体简" pitchFamily="49" charset="-122"/>
                    <a:cs typeface="+mn-cs"/>
                  </a:endParaRPr>
                </a:p>
              </p:txBody>
            </p:sp>
          </p:grpSp>
          <p:sp>
            <p:nvSpPr>
              <p:cNvPr id="10" name="圆角矩形 5"/>
              <p:cNvSpPr/>
              <p:nvPr/>
            </p:nvSpPr>
            <p:spPr>
              <a:xfrm>
                <a:off x="1931232" y="2065721"/>
                <a:ext cx="1293777" cy="933409"/>
              </a:xfrm>
              <a:custGeom>
                <a:avLst/>
                <a:gdLst/>
                <a:ahLst/>
                <a:cxnLst/>
                <a:rect l="l" t="t" r="r" b="b"/>
                <a:pathLst>
                  <a:path w="1292867" h="936362">
                    <a:moveTo>
                      <a:pt x="0" y="0"/>
                    </a:moveTo>
                    <a:lnTo>
                      <a:pt x="1292867" y="752847"/>
                    </a:lnTo>
                    <a:cubicBezTo>
                      <a:pt x="1277961" y="856795"/>
                      <a:pt x="1188330" y="936362"/>
                      <a:pt x="1080116" y="936362"/>
                    </a:cubicBezTo>
                    <a:lnTo>
                      <a:pt x="216028" y="936362"/>
                    </a:lnTo>
                    <a:cubicBezTo>
                      <a:pt x="96719" y="936362"/>
                      <a:pt x="0" y="839643"/>
                      <a:pt x="0" y="720334"/>
                    </a:cubicBezTo>
                    <a:close/>
                  </a:path>
                </a:pathLst>
              </a:custGeom>
              <a:solidFill>
                <a:sysClr val="window" lastClr="FFFFFF">
                  <a:alpha val="43000"/>
                </a:sysClr>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0" b="1" i="0" u="none" strike="noStrike" kern="0" cap="none" spc="0" normalizeH="0" baseline="0" noProof="0" dirty="0">
                  <a:ln>
                    <a:noFill/>
                  </a:ln>
                  <a:solidFill>
                    <a:prstClr val="white"/>
                  </a:solidFill>
                  <a:effectLst/>
                  <a:uLnTx/>
                  <a:uFillTx/>
                  <a:latin typeface="Cambria Math" panose="02040503050406030204" pitchFamily="18" charset="0"/>
                  <a:ea typeface="汉仪综艺体简" pitchFamily="49" charset="-122"/>
                  <a:cs typeface="+mn-cs"/>
                </a:endParaRPr>
              </a:p>
            </p:txBody>
          </p:sp>
        </p:grpSp>
        <p:cxnSp>
          <p:nvCxnSpPr>
            <p:cNvPr id="11" name="直接连接符 10"/>
            <p:cNvCxnSpPr/>
            <p:nvPr/>
          </p:nvCxnSpPr>
          <p:spPr bwMode="auto">
            <a:xfrm>
              <a:off x="2809389" y="1761189"/>
              <a:ext cx="2943711" cy="0"/>
            </a:xfrm>
            <a:prstGeom prst="line">
              <a:avLst/>
            </a:prstGeom>
            <a:noFill/>
            <a:ln w="3175" cap="flat" cmpd="sng" algn="ctr">
              <a:solidFill>
                <a:schemeClr val="bg1">
                  <a:lumMod val="50000"/>
                </a:schemeClr>
              </a:solidFill>
              <a:prstDash val="sysDot"/>
              <a:headEnd type="oval" w="sm" len="sm"/>
              <a:tailEnd type="oval" w="sm" len="sm"/>
            </a:ln>
            <a:effectLst/>
          </p:spPr>
        </p:cxnSp>
        <p:sp>
          <p:nvSpPr>
            <p:cNvPr id="12" name="矩形 35"/>
            <p:cNvSpPr/>
            <p:nvPr/>
          </p:nvSpPr>
          <p:spPr>
            <a:xfrm>
              <a:off x="2836056" y="1286814"/>
              <a:ext cx="2012013" cy="459509"/>
            </a:xfrm>
            <a:prstGeom prst="rect">
              <a:avLst/>
            </a:prstGeom>
            <a:noFill/>
            <a:ln w="9525">
              <a:noFill/>
            </a:ln>
          </p:spPr>
          <p:txBody>
            <a:bodyPr wrap="none">
              <a:spAutoFit/>
            </a:bodyPr>
            <a:lstStyle/>
            <a:p>
              <a:r>
                <a:rPr lang="zh-CN" altLang="en-US" sz="2400" dirty="0">
                  <a:latin typeface="微软雅黑" panose="020B0503020204020204" charset="-122"/>
                  <a:ea typeface="微软雅黑" panose="020B0503020204020204" charset="-122"/>
                </a:rPr>
                <a:t>使用枚举类型</a:t>
              </a:r>
              <a:endParaRPr lang="en-US" altLang="zh-CN" sz="2400" dirty="0">
                <a:latin typeface="微软雅黑" panose="020B0503020204020204" charset="-122"/>
                <a:ea typeface="微软雅黑" panose="020B0503020204020204" charset="-122"/>
              </a:endParaRPr>
            </a:p>
          </p:txBody>
        </p:sp>
      </p:grpSp>
      <p:grpSp>
        <p:nvGrpSpPr>
          <p:cNvPr id="13" name="组合 195"/>
          <p:cNvGrpSpPr/>
          <p:nvPr/>
        </p:nvGrpSpPr>
        <p:grpSpPr>
          <a:xfrm>
            <a:off x="4334475" y="2344739"/>
            <a:ext cx="4557388" cy="592137"/>
            <a:chOff x="1710657" y="1263652"/>
            <a:chExt cx="4558142" cy="592608"/>
          </a:xfrm>
        </p:grpSpPr>
        <p:grpSp>
          <p:nvGrpSpPr>
            <p:cNvPr id="14" name="组合 29"/>
            <p:cNvGrpSpPr/>
            <p:nvPr/>
          </p:nvGrpSpPr>
          <p:grpSpPr>
            <a:xfrm rot="-12767">
              <a:off x="1710657" y="1263652"/>
              <a:ext cx="884411" cy="592608"/>
              <a:chOff x="1936620" y="1275606"/>
              <a:chExt cx="1296144" cy="1728192"/>
            </a:xfrm>
          </p:grpSpPr>
          <p:grpSp>
            <p:nvGrpSpPr>
              <p:cNvPr id="15" name="组合 31"/>
              <p:cNvGrpSpPr/>
              <p:nvPr/>
            </p:nvGrpSpPr>
            <p:grpSpPr>
              <a:xfrm>
                <a:off x="1936620" y="1275606"/>
                <a:ext cx="1296142" cy="1728192"/>
                <a:chOff x="1907704" y="1275606"/>
                <a:chExt cx="1296142" cy="1728192"/>
              </a:xfrm>
            </p:grpSpPr>
            <p:sp>
              <p:nvSpPr>
                <p:cNvPr id="16" name="圆角矩形 15"/>
                <p:cNvSpPr/>
                <p:nvPr/>
              </p:nvSpPr>
              <p:spPr>
                <a:xfrm>
                  <a:off x="1907704" y="1275606"/>
                  <a:ext cx="1296104" cy="1728192"/>
                </a:xfrm>
                <a:prstGeom prst="roundRect">
                  <a:avLst/>
                </a:prstGeom>
                <a:solidFill>
                  <a:srgbClr val="3BCCFF"/>
                </a:solidFill>
                <a:ln w="25400" cap="flat" cmpd="sng" algn="ctr">
                  <a:noFill/>
                  <a:prstDash val="solid"/>
                </a:ln>
                <a:effectLst>
                  <a:outerShdw blurRad="76200" dir="13500000" sy="23000" kx="1200000" algn="br" rotWithShape="0">
                    <a:prstClr val="black">
                      <a:alpha val="2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0" cap="none" spc="0" normalizeH="0" baseline="0" noProof="0" dirty="0">
                      <a:ln>
                        <a:noFill/>
                      </a:ln>
                      <a:solidFill>
                        <a:prstClr val="white"/>
                      </a:solidFill>
                      <a:effectLst/>
                      <a:uLnTx/>
                      <a:uFillTx/>
                      <a:latin typeface="Cambria Math" panose="02040503050406030204" pitchFamily="18" charset="0"/>
                      <a:ea typeface="汉仪综艺体简" pitchFamily="49" charset="-122"/>
                      <a:cs typeface="+mn-cs"/>
                    </a:rPr>
                    <a:t>7.7</a:t>
                  </a:r>
                  <a:endParaRPr kumimoji="0" lang="zh-CN" altLang="en-US" sz="3200" b="1" i="0" u="none" strike="noStrike" kern="0" cap="none" spc="0" normalizeH="0" baseline="0" noProof="0" dirty="0">
                    <a:ln>
                      <a:noFill/>
                    </a:ln>
                    <a:solidFill>
                      <a:prstClr val="white"/>
                    </a:solidFill>
                    <a:effectLst/>
                    <a:uLnTx/>
                    <a:uFillTx/>
                    <a:latin typeface="Cambria Math" panose="02040503050406030204" pitchFamily="18" charset="0"/>
                    <a:ea typeface="汉仪综艺体简" pitchFamily="49" charset="-122"/>
                    <a:cs typeface="+mn-cs"/>
                  </a:endParaRPr>
                </a:p>
              </p:txBody>
            </p:sp>
            <p:sp>
              <p:nvSpPr>
                <p:cNvPr id="17" name="圆角矩形 16"/>
                <p:cNvSpPr/>
                <p:nvPr/>
              </p:nvSpPr>
              <p:spPr>
                <a:xfrm>
                  <a:off x="1961224" y="1349737"/>
                  <a:ext cx="1189063" cy="1579929"/>
                </a:xfrm>
                <a:prstGeom prst="roundRect">
                  <a:avLst/>
                </a:prstGeom>
                <a:noFill/>
                <a:ln w="15875" cap="flat" cmpd="sng" algn="ctr">
                  <a:solidFill>
                    <a:sysClr val="window" lastClr="FFFFFF"/>
                  </a:solid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1" i="0" u="none" strike="noStrike" kern="0" cap="none" spc="0" normalizeH="0" baseline="0" noProof="0">
                    <a:ln>
                      <a:noFill/>
                    </a:ln>
                    <a:solidFill>
                      <a:prstClr val="white"/>
                    </a:solidFill>
                    <a:effectLst/>
                    <a:uLnTx/>
                    <a:uFillTx/>
                    <a:latin typeface="Cambria Math" panose="02040503050406030204" pitchFamily="18" charset="0"/>
                    <a:ea typeface="汉仪综艺体简" pitchFamily="49" charset="-122"/>
                    <a:cs typeface="+mn-cs"/>
                  </a:endParaRPr>
                </a:p>
              </p:txBody>
            </p:sp>
          </p:grpSp>
          <p:sp>
            <p:nvSpPr>
              <p:cNvPr id="18" name="圆角矩形 5"/>
              <p:cNvSpPr/>
              <p:nvPr/>
            </p:nvSpPr>
            <p:spPr>
              <a:xfrm>
                <a:off x="1931236" y="2063209"/>
                <a:ext cx="1293777" cy="935912"/>
              </a:xfrm>
              <a:custGeom>
                <a:avLst/>
                <a:gdLst/>
                <a:ahLst/>
                <a:cxnLst/>
                <a:rect l="l" t="t" r="r" b="b"/>
                <a:pathLst>
                  <a:path w="1292867" h="936362">
                    <a:moveTo>
                      <a:pt x="0" y="0"/>
                    </a:moveTo>
                    <a:lnTo>
                      <a:pt x="1292867" y="752847"/>
                    </a:lnTo>
                    <a:cubicBezTo>
                      <a:pt x="1277961" y="856795"/>
                      <a:pt x="1188330" y="936362"/>
                      <a:pt x="1080116" y="936362"/>
                    </a:cubicBezTo>
                    <a:lnTo>
                      <a:pt x="216028" y="936362"/>
                    </a:lnTo>
                    <a:cubicBezTo>
                      <a:pt x="96719" y="936362"/>
                      <a:pt x="0" y="839643"/>
                      <a:pt x="0" y="720334"/>
                    </a:cubicBezTo>
                    <a:close/>
                  </a:path>
                </a:pathLst>
              </a:custGeom>
              <a:solidFill>
                <a:sysClr val="window" lastClr="FFFFFF">
                  <a:alpha val="43000"/>
                </a:sysClr>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0" b="1" i="0" u="none" strike="noStrike" kern="0" cap="none" spc="0" normalizeH="0" baseline="0" noProof="0" dirty="0">
                  <a:ln>
                    <a:noFill/>
                  </a:ln>
                  <a:solidFill>
                    <a:prstClr val="white"/>
                  </a:solidFill>
                  <a:effectLst/>
                  <a:uLnTx/>
                  <a:uFillTx/>
                  <a:latin typeface="Cambria Math" panose="02040503050406030204" pitchFamily="18" charset="0"/>
                  <a:ea typeface="汉仪综艺体简" pitchFamily="49" charset="-122"/>
                  <a:cs typeface="+mn-cs"/>
                </a:endParaRPr>
              </a:p>
            </p:txBody>
          </p:sp>
        </p:grpSp>
        <p:cxnSp>
          <p:nvCxnSpPr>
            <p:cNvPr id="19" name="直接连接符 18"/>
            <p:cNvCxnSpPr/>
            <p:nvPr/>
          </p:nvCxnSpPr>
          <p:spPr bwMode="auto">
            <a:xfrm>
              <a:off x="2809389" y="1760934"/>
              <a:ext cx="2943711" cy="0"/>
            </a:xfrm>
            <a:prstGeom prst="line">
              <a:avLst/>
            </a:prstGeom>
            <a:noFill/>
            <a:ln w="3175" cap="flat" cmpd="sng" algn="ctr">
              <a:solidFill>
                <a:schemeClr val="bg1">
                  <a:lumMod val="50000"/>
                </a:schemeClr>
              </a:solidFill>
              <a:prstDash val="sysDot"/>
              <a:headEnd type="oval" w="sm" len="sm"/>
              <a:tailEnd type="oval" w="sm" len="sm"/>
            </a:ln>
            <a:effectLst/>
          </p:spPr>
        </p:cxnSp>
        <p:sp>
          <p:nvSpPr>
            <p:cNvPr id="20" name="矩形 35"/>
            <p:cNvSpPr/>
            <p:nvPr/>
          </p:nvSpPr>
          <p:spPr>
            <a:xfrm>
              <a:off x="2836056" y="1286814"/>
              <a:ext cx="3432743" cy="460741"/>
            </a:xfrm>
            <a:prstGeom prst="rect">
              <a:avLst/>
            </a:prstGeom>
            <a:noFill/>
            <a:ln w="9525">
              <a:noFill/>
            </a:ln>
          </p:spPr>
          <p:txBody>
            <a:bodyPr wrap="none">
              <a:spAutoFit/>
            </a:bodyPr>
            <a:lstStyle/>
            <a:p>
              <a:r>
                <a:rPr lang="zh-CN" altLang="en-US" sz="2400" dirty="0">
                  <a:latin typeface="微软雅黑" panose="020B0503020204020204" charset="-122"/>
                  <a:ea typeface="微软雅黑" panose="020B0503020204020204" charset="-122"/>
                </a:rPr>
                <a:t>用</a:t>
              </a:r>
              <a:r>
                <a:rPr lang="en-US" altLang="zh-CN" sz="2400" dirty="0">
                  <a:latin typeface="微软雅黑" panose="020B0503020204020204" charset="-122"/>
                  <a:ea typeface="微软雅黑" panose="020B0503020204020204" charset="-122"/>
                </a:rPr>
                <a:t>typedef</a:t>
              </a:r>
              <a:r>
                <a:rPr lang="zh-CN" altLang="en-US" sz="2400" dirty="0">
                  <a:latin typeface="微软雅黑" panose="020B0503020204020204" charset="-122"/>
                  <a:ea typeface="微软雅黑" panose="020B0503020204020204" charset="-122"/>
                </a:rPr>
                <a:t>声明新类型名</a:t>
              </a:r>
            </a:p>
          </p:txBody>
        </p:sp>
      </p:gr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81923"/>
          <p:cNvSpPr txBox="1"/>
          <p:nvPr/>
        </p:nvSpPr>
        <p:spPr>
          <a:xfrm>
            <a:off x="2185000" y="446405"/>
            <a:ext cx="7823200" cy="2432051"/>
          </a:xfrm>
          <a:prstGeom prst="rect">
            <a:avLst/>
          </a:prstGeom>
          <a:noFill/>
          <a:ln w="9525">
            <a:noFill/>
          </a:ln>
        </p:spPr>
        <p:txBody>
          <a:bodyPr anchor="b"/>
          <a:lstStyle>
            <a:lvl1pPr marL="0" lvl="0" indent="0" algn="r" defTabSz="914400" rtl="0" eaLnBrk="1" fontAlgn="base" latinLnBrk="0" hangingPunct="1">
              <a:lnSpc>
                <a:spcPct val="100000"/>
              </a:lnSpc>
              <a:spcBef>
                <a:spcPct val="0"/>
              </a:spcBef>
              <a:spcAft>
                <a:spcPct val="0"/>
              </a:spcAft>
              <a:buClrTx/>
              <a:buSzTx/>
              <a:buFontTx/>
              <a:buNone/>
              <a:defRPr sz="4800" b="1" i="0" u="none" kern="1200" baseline="0">
                <a:solidFill>
                  <a:schemeClr val="tx2"/>
                </a:solidFill>
                <a:latin typeface="+mj-lt"/>
                <a:ea typeface="+mj-ea"/>
                <a:cs typeface="+mj-cs"/>
              </a:defRPr>
            </a:lvl1pPr>
          </a:lstStyle>
          <a:p>
            <a:pPr algn="ctr"/>
            <a:r>
              <a:rPr lang="zh-CN" altLang="en-US" noProof="1">
                <a:solidFill>
                  <a:srgbClr val="330066"/>
                </a:solidFill>
                <a:effectLst>
                  <a:outerShdw blurRad="38100" dist="38100" dir="2700000">
                    <a:srgbClr val="C0C0C0"/>
                  </a:outerShdw>
                </a:effectLst>
                <a:latin typeface="Arial" panose="020B0604020202090204" pitchFamily="34" charset="0"/>
                <a:ea typeface="隶书" panose="02010509060101010101" pitchFamily="49" charset="-122"/>
              </a:rPr>
              <a:t>定义和使用结构体变量</a:t>
            </a:r>
            <a:endParaRPr lang="en-US" altLang="zh-CN" noProof="1">
              <a:solidFill>
                <a:srgbClr val="330066"/>
              </a:solidFill>
              <a:effectLst>
                <a:outerShdw blurRad="38100" dist="38100" dir="2700000">
                  <a:srgbClr val="C0C0C0"/>
                </a:outerShdw>
              </a:effectLst>
              <a:latin typeface="Arial" panose="020B0604020202090204" pitchFamily="34" charset="0"/>
              <a:ea typeface="隶书" panose="02010509060101010101" pitchFamily="49" charset="-122"/>
            </a:endParaRPr>
          </a:p>
        </p:txBody>
      </p:sp>
      <p:cxnSp>
        <p:nvCxnSpPr>
          <p:cNvPr id="4" name="直接连接符 3"/>
          <p:cNvCxnSpPr/>
          <p:nvPr/>
        </p:nvCxnSpPr>
        <p:spPr>
          <a:xfrm>
            <a:off x="432400" y="3136069"/>
            <a:ext cx="11328400" cy="0"/>
          </a:xfrm>
          <a:prstGeom prst="line">
            <a:avLst/>
          </a:prstGeom>
          <a:ln w="25400">
            <a:solidFill>
              <a:srgbClr val="782367"/>
            </a:solidFill>
          </a:ln>
        </p:spPr>
        <p:style>
          <a:lnRef idx="1">
            <a:schemeClr val="accent1"/>
          </a:lnRef>
          <a:fillRef idx="0">
            <a:schemeClr val="accent1"/>
          </a:fillRef>
          <a:effectRef idx="0">
            <a:schemeClr val="accent1"/>
          </a:effectRef>
          <a:fontRef idx="minor">
            <a:schemeClr val="tx1"/>
          </a:fontRef>
        </p:style>
      </p:cxn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32431" y="246671"/>
            <a:ext cx="573807" cy="57380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84" name="textbox 8584"/>
          <p:cNvSpPr/>
          <p:nvPr/>
        </p:nvSpPr>
        <p:spPr>
          <a:xfrm>
            <a:off x="6474879" y="2106168"/>
            <a:ext cx="4843145" cy="3226435"/>
          </a:xfrm>
          <a:prstGeom prst="rect">
            <a:avLst/>
          </a:prstGeom>
        </p:spPr>
        <p:txBody>
          <a:bodyPr vert="horz" wrap="square" lIns="0" tIns="0" rIns="0" bIns="0"/>
          <a:lstStyle/>
          <a:p>
            <a:pPr algn="l" rtl="0" eaLnBrk="0">
              <a:lnSpc>
                <a:spcPct val="65000"/>
              </a:lnSpc>
            </a:pPr>
            <a:endParaRPr lang="en-US" altLang="en-US" sz="135" dirty="0"/>
          </a:p>
          <a:p>
            <a:pPr marL="116840" indent="4445" algn="l" rtl="0" eaLnBrk="0">
              <a:lnSpc>
                <a:spcPct val="111000"/>
              </a:lnSpc>
            </a:pPr>
            <a:r>
              <a:rPr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结构体类型的名字是由一个关键字</a:t>
            </a:r>
            <a:r>
              <a:rPr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struc</a:t>
            </a:r>
            <a:r>
              <a:rPr b="1"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t</a:t>
            </a:r>
            <a:r>
              <a:rPr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和结</a:t>
            </a:r>
            <a:r>
              <a:rPr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构体名组合而成的。</a:t>
            </a:r>
            <a:r>
              <a:rPr kern="0" spc="12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结构体名由用户指定，  </a:t>
            </a:r>
            <a:r>
              <a:rPr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rPr>
              <a:t>又   </a:t>
            </a:r>
            <a:r>
              <a:rPr sz="1700"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rPr>
              <a:t>称“结构体标记”(structure ta</a:t>
            </a:r>
            <a:r>
              <a:rPr sz="1700" kern="0" spc="-100" dirty="0">
                <a:solidFill>
                  <a:srgbClr val="000000">
                    <a:alpha val="100000"/>
                  </a:srgbClr>
                </a:solidFill>
                <a:latin typeface="微软雅黑" panose="020B0503020204020204" charset="-122"/>
                <a:ea typeface="微软雅黑" panose="020B0503020204020204" charset="-122"/>
                <a:cs typeface="微软雅黑" panose="020B0503020204020204" charset="-122"/>
              </a:rPr>
              <a:t>g)</a:t>
            </a:r>
            <a:r>
              <a:rPr sz="1700"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700" kern="0" spc="-10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endParaRPr lang="en-US" altLang="en-US" sz="1700" dirty="0"/>
          </a:p>
          <a:p>
            <a:pPr algn="l" rtl="0" eaLnBrk="0">
              <a:lnSpc>
                <a:spcPct val="116000"/>
              </a:lnSpc>
            </a:pPr>
            <a:endParaRPr lang="en-US" altLang="en-US" sz="1000" dirty="0"/>
          </a:p>
          <a:p>
            <a:pPr marL="113030" indent="7620" algn="l" rtl="0" eaLnBrk="0">
              <a:lnSpc>
                <a:spcPct val="114000"/>
              </a:lnSpc>
              <a:spcBef>
                <a:spcPts val="545"/>
              </a:spcBef>
            </a:pPr>
            <a:r>
              <a:rPr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花括号内是该结构体所包括的子</a:t>
            </a:r>
            <a:r>
              <a:rPr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项，称为结构</a:t>
            </a:r>
            <a:r>
              <a:rPr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体的成员(member)。对各成员都应进行类型声  </a:t>
            </a:r>
            <a:r>
              <a:rPr sz="2700" kern="0" spc="40" baseline="6000" dirty="0">
                <a:solidFill>
                  <a:srgbClr val="000000">
                    <a:alpha val="100000"/>
                  </a:srgbClr>
                </a:solidFill>
                <a:latin typeface="微软雅黑" panose="020B0503020204020204" charset="-122"/>
                <a:ea typeface="微软雅黑" panose="020B0503020204020204" charset="-122"/>
                <a:cs typeface="微软雅黑" panose="020B0503020204020204" charset="-122"/>
              </a:rPr>
              <a:t>明，即</a:t>
            </a:r>
            <a:r>
              <a:rPr sz="17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000" b="1" kern="0" spc="40" dirty="0">
                <a:solidFill>
                  <a:schemeClr val="tx1">
                    <a:alpha val="100000"/>
                  </a:schemeClr>
                </a:solidFill>
                <a:latin typeface="微软雅黑" panose="020B0503020204020204" charset="-122"/>
                <a:ea typeface="微软雅黑" panose="020B0503020204020204" charset="-122"/>
                <a:cs typeface="微软雅黑" panose="020B0503020204020204" charset="-122"/>
                <a:sym typeface="+mn-ea"/>
              </a:rPr>
              <a:t>类型名 成员名;</a:t>
            </a:r>
            <a:endParaRPr lang="zh-CN" altLang="en-US" sz="1900" kern="0" spc="40" dirty="0">
              <a:solidFill>
                <a:schemeClr val="tx1">
                  <a:alpha val="100000"/>
                </a:schemeClr>
              </a:solidFill>
              <a:latin typeface="微软雅黑" panose="020B0503020204020204" charset="-122"/>
              <a:ea typeface="微软雅黑" panose="020B0503020204020204" charset="-122"/>
              <a:cs typeface="微软雅黑" panose="020B0503020204020204" charset="-122"/>
              <a:sym typeface="+mn-ea"/>
            </a:endParaRPr>
          </a:p>
          <a:p>
            <a:pPr marL="113030" indent="7620" algn="l" rtl="0" eaLnBrk="0">
              <a:lnSpc>
                <a:spcPct val="114000"/>
              </a:lnSpc>
              <a:spcBef>
                <a:spcPts val="545"/>
              </a:spcBef>
            </a:pPr>
            <a:endParaRPr lang="en-US" altLang="en-US" sz="135" dirty="0"/>
          </a:p>
          <a:p>
            <a:pPr marL="116840" indent="9525" algn="l" rtl="0" eaLnBrk="0">
              <a:lnSpc>
                <a:spcPct val="116000"/>
              </a:lnSpc>
            </a:pPr>
            <a:r>
              <a:rPr sz="16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“成员表列”(member</a:t>
            </a:r>
            <a:r>
              <a:rPr sz="1600" kern="0" spc="2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6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list)也称为“域表”(field</a:t>
            </a:r>
            <a:r>
              <a:rPr sz="1600" kern="0" spc="16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6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list)，</a:t>
            </a:r>
            <a:r>
              <a:rPr sz="16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每一个成员是结构体中的一个域。</a:t>
            </a:r>
            <a:r>
              <a:rPr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成员名命名   </a:t>
            </a:r>
            <a:r>
              <a:rPr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规则与变量名相同。</a:t>
            </a:r>
            <a:endParaRPr lang="en-US" altLang="en-US" dirty="0"/>
          </a:p>
        </p:txBody>
      </p:sp>
      <p:sp>
        <p:nvSpPr>
          <p:cNvPr id="8590" name="textbox 8590"/>
          <p:cNvSpPr/>
          <p:nvPr/>
        </p:nvSpPr>
        <p:spPr>
          <a:xfrm>
            <a:off x="849570" y="1844548"/>
            <a:ext cx="4866004" cy="594359"/>
          </a:xfrm>
          <a:prstGeom prst="rect">
            <a:avLst/>
          </a:prstGeom>
        </p:spPr>
        <p:txBody>
          <a:bodyPr vert="horz" wrap="square" lIns="0" tIns="0" rIns="0" bIns="0"/>
          <a:lstStyle/>
          <a:p>
            <a:pPr algn="l" rtl="0" eaLnBrk="0">
              <a:lnSpc>
                <a:spcPct val="86000"/>
              </a:lnSpc>
            </a:pPr>
            <a:endParaRPr lang="en-US" altLang="en-US" sz="135" dirty="0"/>
          </a:p>
          <a:p>
            <a:pPr marL="12700" algn="l" rtl="0" eaLnBrk="0">
              <a:lnSpc>
                <a:spcPct val="95000"/>
              </a:lnSpc>
            </a:pPr>
            <a:r>
              <a:rPr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rPr>
              <a:t>在程序中建立一个结构体类型：</a:t>
            </a:r>
            <a:endParaRPr lang="en-US" altLang="en-US" dirty="0"/>
          </a:p>
          <a:p>
            <a:pPr algn="l" rtl="0" eaLnBrk="0">
              <a:lnSpc>
                <a:spcPct val="106000"/>
              </a:lnSpc>
            </a:pPr>
            <a:endParaRPr lang="en-US" altLang="en-US" sz="600" dirty="0"/>
          </a:p>
          <a:p>
            <a:pPr algn="r" rtl="0" eaLnBrk="0">
              <a:lnSpc>
                <a:spcPct val="92000"/>
              </a:lnSpc>
              <a:spcBef>
                <a:spcPts val="0"/>
              </a:spcBef>
            </a:pPr>
            <a:r>
              <a:rPr sz="15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num</a:t>
            </a:r>
            <a:r>
              <a:rPr sz="15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5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name        sex</a:t>
            </a:r>
            <a:r>
              <a:rPr sz="1500"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5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age       score          addr</a:t>
            </a:r>
            <a:endParaRPr lang="en-US" altLang="en-US" sz="1500" dirty="0"/>
          </a:p>
        </p:txBody>
      </p:sp>
      <p:sp>
        <p:nvSpPr>
          <p:cNvPr id="8592" name="textbox 8592"/>
          <p:cNvSpPr/>
          <p:nvPr/>
        </p:nvSpPr>
        <p:spPr>
          <a:xfrm>
            <a:off x="855055" y="1432815"/>
            <a:ext cx="9553575" cy="279400"/>
          </a:xfrm>
          <a:prstGeom prst="rect">
            <a:avLst/>
          </a:prstGeom>
        </p:spPr>
        <p:txBody>
          <a:bodyPr vert="horz" wrap="square" lIns="0" tIns="0" rIns="0" bIns="0"/>
          <a:lstStyle/>
          <a:p>
            <a:pPr algn="l" rtl="0" eaLnBrk="0">
              <a:lnSpc>
                <a:spcPct val="75000"/>
              </a:lnSpc>
            </a:pPr>
            <a:endParaRPr lang="en-US" altLang="en-US" sz="135" dirty="0"/>
          </a:p>
          <a:p>
            <a:pPr algn="r" rtl="0" eaLnBrk="0">
              <a:lnSpc>
                <a:spcPct val="93000"/>
              </a:lnSpc>
            </a:pPr>
            <a:r>
              <a:rPr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C语言允许用户自己建立由不同类型数据</a:t>
            </a:r>
            <a:r>
              <a:rPr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rPr>
              <a:t>组成的组合型的数据结构，</a:t>
            </a:r>
            <a:r>
              <a:rPr kern="0" spc="-19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rPr>
              <a:t>它称为</a:t>
            </a:r>
            <a:r>
              <a:rPr b="1"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rPr>
              <a:t>结构体</a:t>
            </a:r>
            <a:r>
              <a:rPr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rPr>
              <a:t>（structre）</a:t>
            </a:r>
            <a:r>
              <a:rPr kern="0" spc="-35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endParaRPr lang="en-US" altLang="en-US" dirty="0"/>
          </a:p>
        </p:txBody>
      </p:sp>
      <p:graphicFrame>
        <p:nvGraphicFramePr>
          <p:cNvPr id="8594" name="table 8594"/>
          <p:cNvGraphicFramePr>
            <a:graphicFrameLocks noGrp="1"/>
          </p:cNvGraphicFramePr>
          <p:nvPr/>
        </p:nvGraphicFramePr>
        <p:xfrm>
          <a:off x="903494" y="2516251"/>
          <a:ext cx="5114290" cy="375920"/>
        </p:xfrm>
        <a:graphic>
          <a:graphicData uri="http://schemas.openxmlformats.org/drawingml/2006/table">
            <a:tbl>
              <a:tblPr>
                <a:solidFill>
                  <a:srgbClr val="FBE9E8"/>
                </a:solidFill>
              </a:tblPr>
              <a:tblGrid>
                <a:gridCol w="909320">
                  <a:extLst>
                    <a:ext uri="{9D8B030D-6E8A-4147-A177-3AD203B41FA5}">
                      <a16:colId xmlns:a16="http://schemas.microsoft.com/office/drawing/2014/main" val="20000"/>
                    </a:ext>
                  </a:extLst>
                </a:gridCol>
                <a:gridCol w="1019810">
                  <a:extLst>
                    <a:ext uri="{9D8B030D-6E8A-4147-A177-3AD203B41FA5}">
                      <a16:colId xmlns:a16="http://schemas.microsoft.com/office/drawing/2014/main" val="20001"/>
                    </a:ext>
                  </a:extLst>
                </a:gridCol>
                <a:gridCol w="628650">
                  <a:extLst>
                    <a:ext uri="{9D8B030D-6E8A-4147-A177-3AD203B41FA5}">
                      <a16:colId xmlns:a16="http://schemas.microsoft.com/office/drawing/2014/main" val="20002"/>
                    </a:ext>
                  </a:extLst>
                </a:gridCol>
                <a:gridCol w="628015">
                  <a:extLst>
                    <a:ext uri="{9D8B030D-6E8A-4147-A177-3AD203B41FA5}">
                      <a16:colId xmlns:a16="http://schemas.microsoft.com/office/drawing/2014/main" val="20003"/>
                    </a:ext>
                  </a:extLst>
                </a:gridCol>
                <a:gridCol w="901700">
                  <a:extLst>
                    <a:ext uri="{9D8B030D-6E8A-4147-A177-3AD203B41FA5}">
                      <a16:colId xmlns:a16="http://schemas.microsoft.com/office/drawing/2014/main" val="20004"/>
                    </a:ext>
                  </a:extLst>
                </a:gridCol>
                <a:gridCol w="1026795">
                  <a:extLst>
                    <a:ext uri="{9D8B030D-6E8A-4147-A177-3AD203B41FA5}">
                      <a16:colId xmlns:a16="http://schemas.microsoft.com/office/drawing/2014/main" val="20005"/>
                    </a:ext>
                  </a:extLst>
                </a:gridCol>
              </a:tblGrid>
              <a:tr h="375920">
                <a:tc>
                  <a:txBody>
                    <a:bodyPr/>
                    <a:lstStyle/>
                    <a:p>
                      <a:pPr algn="l" rtl="0" eaLnBrk="0">
                        <a:lnSpc>
                          <a:spcPct val="111000"/>
                        </a:lnSpc>
                      </a:pPr>
                      <a:endParaRPr lang="en-US" altLang="en-US" sz="600" dirty="0"/>
                    </a:p>
                    <a:p>
                      <a:pPr marL="205105" algn="l" rtl="0" eaLnBrk="0">
                        <a:lnSpc>
                          <a:spcPct val="82000"/>
                        </a:lnSpc>
                      </a:pPr>
                      <a:r>
                        <a:rPr sz="15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10010</a:t>
                      </a:r>
                      <a:endParaRPr lang="en-US" altLang="en-US" sz="1500" dirty="0"/>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FBE9E8"/>
                    </a:solidFill>
                  </a:tcPr>
                </a:tc>
                <a:tc>
                  <a:txBody>
                    <a:bodyPr/>
                    <a:lstStyle/>
                    <a:p>
                      <a:pPr algn="l" rtl="0" eaLnBrk="0">
                        <a:lnSpc>
                          <a:spcPct val="106000"/>
                        </a:lnSpc>
                      </a:pPr>
                      <a:endParaRPr lang="en-US" altLang="en-US" sz="600" dirty="0"/>
                    </a:p>
                    <a:p>
                      <a:pPr marL="214630" algn="l" rtl="0" eaLnBrk="0">
                        <a:lnSpc>
                          <a:spcPct val="80000"/>
                        </a:lnSpc>
                        <a:spcBef>
                          <a:spcPts val="5"/>
                        </a:spcBef>
                      </a:pPr>
                      <a:r>
                        <a:rPr sz="1500"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rPr>
                        <a:t>Li</a:t>
                      </a:r>
                      <a:r>
                        <a:rPr sz="1500" kern="0" spc="1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500"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rPr>
                        <a:t>Fang</a:t>
                      </a:r>
                      <a:endParaRPr lang="en-US" altLang="en-US" sz="1500" dirty="0"/>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FBE9E8"/>
                    </a:solidFill>
                  </a:tcPr>
                </a:tc>
                <a:tc>
                  <a:txBody>
                    <a:bodyPr/>
                    <a:lstStyle/>
                    <a:p>
                      <a:pPr algn="l" rtl="0" eaLnBrk="0">
                        <a:lnSpc>
                          <a:spcPct val="111000"/>
                        </a:lnSpc>
                      </a:pPr>
                      <a:endParaRPr lang="en-US" altLang="en-US" sz="600" dirty="0"/>
                    </a:p>
                    <a:p>
                      <a:pPr marL="244475" algn="l" rtl="0" eaLnBrk="0">
                        <a:lnSpc>
                          <a:spcPct val="78000"/>
                        </a:lnSpc>
                        <a:spcBef>
                          <a:spcPts val="5"/>
                        </a:spcBef>
                      </a:pPr>
                      <a:r>
                        <a:rPr sz="16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M</a:t>
                      </a:r>
                      <a:endParaRPr lang="en-US" altLang="en-US" sz="1600" dirty="0"/>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FBE9E8"/>
                    </a:solidFill>
                  </a:tcPr>
                </a:tc>
                <a:tc>
                  <a:txBody>
                    <a:bodyPr/>
                    <a:lstStyle/>
                    <a:p>
                      <a:pPr algn="l" rtl="0" eaLnBrk="0">
                        <a:lnSpc>
                          <a:spcPct val="111000"/>
                        </a:lnSpc>
                      </a:pPr>
                      <a:endParaRPr lang="en-US" altLang="en-US" sz="600" dirty="0"/>
                    </a:p>
                    <a:p>
                      <a:pPr marL="223520" algn="l" rtl="0" eaLnBrk="0">
                        <a:lnSpc>
                          <a:spcPct val="78000"/>
                        </a:lnSpc>
                        <a:spcBef>
                          <a:spcPts val="0"/>
                        </a:spcBef>
                      </a:pPr>
                      <a:r>
                        <a:rPr sz="1600"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rPr>
                        <a:t>18</a:t>
                      </a:r>
                      <a:endParaRPr lang="en-US" altLang="en-US" sz="1600" dirty="0"/>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FBE9E8"/>
                    </a:solidFill>
                  </a:tcPr>
                </a:tc>
                <a:tc>
                  <a:txBody>
                    <a:bodyPr/>
                    <a:lstStyle/>
                    <a:p>
                      <a:pPr algn="l" rtl="0" eaLnBrk="0">
                        <a:lnSpc>
                          <a:spcPct val="110000"/>
                        </a:lnSpc>
                      </a:pPr>
                      <a:endParaRPr lang="en-US" altLang="en-US" sz="600" dirty="0"/>
                    </a:p>
                    <a:p>
                      <a:pPr marL="279400" algn="l" rtl="0" eaLnBrk="0">
                        <a:lnSpc>
                          <a:spcPct val="82000"/>
                        </a:lnSpc>
                        <a:spcBef>
                          <a:spcPts val="5"/>
                        </a:spcBef>
                      </a:pPr>
                      <a:r>
                        <a:rPr sz="15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87.5</a:t>
                      </a:r>
                      <a:endParaRPr lang="en-US" altLang="en-US" sz="1500" dirty="0"/>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FBE9E8"/>
                    </a:solidFill>
                  </a:tcPr>
                </a:tc>
                <a:tc>
                  <a:txBody>
                    <a:bodyPr/>
                    <a:lstStyle/>
                    <a:p>
                      <a:pPr algn="l" rtl="0" eaLnBrk="0">
                        <a:lnSpc>
                          <a:spcPct val="115000"/>
                        </a:lnSpc>
                      </a:pPr>
                      <a:endParaRPr lang="en-US" altLang="en-US" sz="400" dirty="0"/>
                    </a:p>
                    <a:p>
                      <a:pPr marL="236855" algn="l" rtl="0" eaLnBrk="0">
                        <a:lnSpc>
                          <a:spcPct val="92000"/>
                        </a:lnSpc>
                        <a:spcBef>
                          <a:spcPts val="0"/>
                        </a:spcBef>
                      </a:pPr>
                      <a:r>
                        <a:rPr sz="15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Beijing</a:t>
                      </a:r>
                      <a:endParaRPr lang="en-US" altLang="en-US" sz="1500" dirty="0"/>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FBE9E8"/>
                    </a:solidFill>
                  </a:tcPr>
                </a:tc>
                <a:extLst>
                  <a:ext uri="{0D108BD9-81ED-4DB2-BD59-A6C34878D82A}">
                    <a16:rowId xmlns:a16="http://schemas.microsoft.com/office/drawing/2014/main" val="10000"/>
                  </a:ext>
                </a:extLst>
              </a:tr>
            </a:tbl>
          </a:graphicData>
        </a:graphic>
      </p:graphicFrame>
      <p:sp>
        <p:nvSpPr>
          <p:cNvPr id="8596" name="textbox 8596"/>
          <p:cNvSpPr/>
          <p:nvPr/>
        </p:nvSpPr>
        <p:spPr>
          <a:xfrm>
            <a:off x="830334" y="593513"/>
            <a:ext cx="4249420" cy="507153"/>
          </a:xfrm>
          <a:prstGeom prst="rect">
            <a:avLst/>
          </a:prstGeom>
        </p:spPr>
        <p:txBody>
          <a:bodyPr vert="horz" wrap="square" lIns="0" tIns="0" rIns="0" bIns="0"/>
          <a:lstStyle/>
          <a:p>
            <a:pPr algn="l" rtl="0" eaLnBrk="0">
              <a:lnSpc>
                <a:spcPct val="77000"/>
              </a:lnSpc>
            </a:pPr>
            <a:endParaRPr lang="en-US" altLang="en-US" sz="135" dirty="0"/>
          </a:p>
          <a:p>
            <a:pPr marL="12700" algn="l" rtl="0" eaLnBrk="0">
              <a:lnSpc>
                <a:spcPct val="100000"/>
              </a:lnSpc>
            </a:pPr>
            <a:r>
              <a:rPr sz="31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自己建立结构体类型</a:t>
            </a:r>
            <a:endParaRPr lang="en-US" altLang="en-US" sz="3100" dirty="0"/>
          </a:p>
        </p:txBody>
      </p:sp>
      <p:sp>
        <p:nvSpPr>
          <p:cNvPr id="8598" name="path"/>
          <p:cNvSpPr/>
          <p:nvPr/>
        </p:nvSpPr>
        <p:spPr>
          <a:xfrm>
            <a:off x="768188" y="1236979"/>
            <a:ext cx="10550143" cy="25400"/>
          </a:xfrm>
          <a:custGeom>
            <a:avLst/>
            <a:gdLst/>
            <a:ahLst/>
            <a:cxnLst/>
            <a:rect l="0" t="0" r="0" b="0"/>
            <a:pathLst>
              <a:path w="16614" h="40">
                <a:moveTo>
                  <a:pt x="20" y="20"/>
                </a:moveTo>
                <a:lnTo>
                  <a:pt x="16594" y="20"/>
                </a:lnTo>
                <a:lnTo>
                  <a:pt x="20" y="20"/>
                </a:lnTo>
              </a:path>
            </a:pathLst>
          </a:custGeom>
          <a:noFill/>
          <a:ln w="25400" cap="sq">
            <a:solidFill>
              <a:srgbClr val="782367">
                <a:alpha val="100000"/>
              </a:srgbClr>
            </a:solidFill>
            <a:prstDash val="solid"/>
            <a:bevel/>
          </a:ln>
        </p:spPr>
        <p:txBody>
          <a:bodyPr rtlCol="0"/>
          <a:lstStyle/>
          <a:p>
            <a:pPr algn="ctr"/>
            <a:endParaRPr lang="zh-CN" altLang="en-US"/>
          </a:p>
        </p:txBody>
      </p:sp>
      <p:sp>
        <p:nvSpPr>
          <p:cNvPr id="8600" name="path"/>
          <p:cNvSpPr/>
          <p:nvPr/>
        </p:nvSpPr>
        <p:spPr>
          <a:xfrm>
            <a:off x="768188" y="5513323"/>
            <a:ext cx="10550143" cy="25400"/>
          </a:xfrm>
          <a:custGeom>
            <a:avLst/>
            <a:gdLst/>
            <a:ahLst/>
            <a:cxnLst/>
            <a:rect l="0" t="0" r="0" b="0"/>
            <a:pathLst>
              <a:path w="16614" h="40">
                <a:moveTo>
                  <a:pt x="20" y="20"/>
                </a:moveTo>
                <a:lnTo>
                  <a:pt x="16594" y="20"/>
                </a:lnTo>
                <a:lnTo>
                  <a:pt x="20" y="20"/>
                </a:lnTo>
              </a:path>
            </a:pathLst>
          </a:custGeom>
          <a:noFill/>
          <a:ln w="25400" cap="sq">
            <a:solidFill>
              <a:srgbClr val="782367">
                <a:alpha val="100000"/>
              </a:srgbClr>
            </a:solidFill>
            <a:prstDash val="solid"/>
            <a:bevel/>
          </a:ln>
        </p:spPr>
        <p:txBody>
          <a:bodyPr rtlCol="0"/>
          <a:lstStyle/>
          <a:p>
            <a:pPr algn="ctr"/>
            <a:endParaRPr lang="zh-CN" altLang="en-US"/>
          </a:p>
        </p:txBody>
      </p:sp>
      <p:sp>
        <p:nvSpPr>
          <p:cNvPr id="3" name="矩形 2"/>
          <p:cNvSpPr/>
          <p:nvPr/>
        </p:nvSpPr>
        <p:spPr>
          <a:xfrm>
            <a:off x="931934" y="2970107"/>
            <a:ext cx="5086773" cy="2452793"/>
          </a:xfrm>
          <a:prstGeom prst="rect">
            <a:avLst/>
          </a:prstGeom>
          <a:solidFill>
            <a:schemeClr val="bg1"/>
          </a:solidFill>
          <a:ln>
            <a:solidFill>
              <a:srgbClr val="782367"/>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l" rtl="0" eaLnBrk="0">
              <a:lnSpc>
                <a:spcPct val="117000"/>
              </a:lnSpc>
            </a:pPr>
            <a:r>
              <a:rPr sz="1865"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struct</a:t>
            </a:r>
            <a:r>
              <a:rPr sz="1865" kern="0" spc="10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865"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Student</a:t>
            </a:r>
            <a:endParaRPr lang="en-US" altLang="en-US" sz="1865" dirty="0"/>
          </a:p>
          <a:p>
            <a:pPr marL="122555" algn="l" rtl="0" eaLnBrk="0">
              <a:lnSpc>
                <a:spcPct val="92000"/>
              </a:lnSpc>
              <a:spcBef>
                <a:spcPts val="10"/>
              </a:spcBef>
            </a:pPr>
            <a:r>
              <a:rPr sz="1865"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r>
              <a:rPr sz="1865"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865"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int num;                </a:t>
            </a:r>
            <a:r>
              <a:rPr sz="1865" kern="0" spc="-6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//学号为整型</a:t>
            </a:r>
            <a:endParaRPr lang="en-US" altLang="en-US" sz="1865" dirty="0"/>
          </a:p>
          <a:p>
            <a:pPr marL="495300" algn="l" rtl="0" eaLnBrk="0">
              <a:lnSpc>
                <a:spcPct val="93000"/>
              </a:lnSpc>
              <a:spcBef>
                <a:spcPts val="150"/>
              </a:spcBef>
            </a:pPr>
            <a:r>
              <a:rPr sz="1865"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char name[20];</a:t>
            </a:r>
            <a:r>
              <a:rPr sz="1865"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865" kern="0" spc="-8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//姓名为字符串</a:t>
            </a:r>
            <a:endParaRPr lang="en-US" altLang="en-US" sz="1865" dirty="0"/>
          </a:p>
          <a:p>
            <a:pPr marL="495300" algn="l" rtl="0" eaLnBrk="0">
              <a:lnSpc>
                <a:spcPct val="95000"/>
              </a:lnSpc>
              <a:spcBef>
                <a:spcPts val="165"/>
              </a:spcBef>
            </a:pPr>
            <a:r>
              <a:rPr sz="1865"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char sex;  </a:t>
            </a:r>
            <a:r>
              <a:rPr sz="1865"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865" kern="0" spc="-5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//性别为字符型</a:t>
            </a:r>
            <a:endParaRPr lang="en-US" altLang="en-US" sz="1865" dirty="0"/>
          </a:p>
          <a:p>
            <a:pPr marL="502285" algn="l" rtl="0" eaLnBrk="0">
              <a:lnSpc>
                <a:spcPct val="86000"/>
              </a:lnSpc>
              <a:spcBef>
                <a:spcPts val="100"/>
              </a:spcBef>
            </a:pPr>
            <a:r>
              <a:rPr sz="1865"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int age;                 </a:t>
            </a:r>
            <a:r>
              <a:rPr sz="1865" kern="0" spc="-5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//年龄为整型</a:t>
            </a:r>
            <a:endParaRPr lang="en-US" altLang="en-US" sz="1865" dirty="0"/>
          </a:p>
          <a:p>
            <a:pPr marL="488950" algn="l" rtl="0" eaLnBrk="0">
              <a:lnSpc>
                <a:spcPct val="95000"/>
              </a:lnSpc>
              <a:spcBef>
                <a:spcPts val="315"/>
              </a:spcBef>
            </a:pPr>
            <a:r>
              <a:rPr sz="1865"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float score;</a:t>
            </a:r>
            <a:r>
              <a:rPr sz="1865"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865" kern="0" spc="-7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//成绩为实</a:t>
            </a:r>
            <a:r>
              <a:rPr sz="1865" kern="0" spc="-8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型</a:t>
            </a:r>
            <a:endParaRPr lang="en-US" altLang="en-US" sz="1865" dirty="0"/>
          </a:p>
          <a:p>
            <a:pPr marL="495300" algn="l" rtl="0" eaLnBrk="0">
              <a:lnSpc>
                <a:spcPct val="93000"/>
              </a:lnSpc>
              <a:spcBef>
                <a:spcPts val="95"/>
              </a:spcBef>
            </a:pPr>
            <a:r>
              <a:rPr sz="1865"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char addr[30];       </a:t>
            </a:r>
            <a:r>
              <a:rPr sz="1865" kern="0" spc="-6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//地址为字符串</a:t>
            </a:r>
            <a:endParaRPr lang="en-US" altLang="en-US" sz="1865" dirty="0"/>
          </a:p>
          <a:p>
            <a:pPr marL="122555" algn="l" rtl="0" eaLnBrk="0">
              <a:lnSpc>
                <a:spcPct val="93000"/>
              </a:lnSpc>
              <a:spcBef>
                <a:spcPts val="150"/>
              </a:spcBef>
            </a:pPr>
            <a:r>
              <a:rPr sz="1865"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r>
              <a:rPr sz="1865"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endParaRPr lang="zh-CN" altLang="en-US" sz="1865"/>
          </a:p>
        </p:txBody>
      </p:sp>
      <p:sp>
        <p:nvSpPr>
          <p:cNvPr id="4" name="矩形 3"/>
          <p:cNvSpPr/>
          <p:nvPr/>
        </p:nvSpPr>
        <p:spPr>
          <a:xfrm>
            <a:off x="7677785" y="438150"/>
            <a:ext cx="3640455" cy="743585"/>
          </a:xfrm>
          <a:prstGeom prst="rect">
            <a:avLst/>
          </a:prstGeom>
          <a:solidFill>
            <a:srgbClr val="CCEC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rtl="0" eaLnBrk="0">
              <a:lnSpc>
                <a:spcPct val="104000"/>
              </a:lnSpc>
            </a:pPr>
            <a:r>
              <a:rPr sz="2400" b="1" kern="0" spc="-90" dirty="0">
                <a:solidFill>
                  <a:srgbClr val="1100CC">
                    <a:alpha val="100000"/>
                  </a:srgbClr>
                </a:solidFill>
                <a:latin typeface="微软雅黑" panose="020B0503020204020204" charset="-122"/>
                <a:ea typeface="微软雅黑" panose="020B0503020204020204" charset="-122"/>
                <a:cs typeface="微软雅黑" panose="020B0503020204020204" charset="-122"/>
                <a:sym typeface="+mn-ea"/>
              </a:rPr>
              <a:t>struct 结构体名</a:t>
            </a:r>
            <a:endParaRPr sz="2400" b="1" kern="0" spc="-90" dirty="0">
              <a:solidFill>
                <a:srgbClr val="1100CC">
                  <a:alpha val="100000"/>
                </a:srgbClr>
              </a:solidFill>
              <a:latin typeface="微软雅黑" panose="020B0503020204020204" charset="-122"/>
              <a:ea typeface="微软雅黑" panose="020B0503020204020204" charset="-122"/>
              <a:cs typeface="微软雅黑" panose="020B0503020204020204" charset="-122"/>
            </a:endParaRPr>
          </a:p>
          <a:p>
            <a:pPr algn="ctr" rtl="0" eaLnBrk="0">
              <a:lnSpc>
                <a:spcPct val="104000"/>
              </a:lnSpc>
            </a:pPr>
            <a:r>
              <a:rPr sz="2400" b="1" kern="0" spc="-50" dirty="0">
                <a:solidFill>
                  <a:srgbClr val="1100CC">
                    <a:alpha val="100000"/>
                  </a:srgbClr>
                </a:solidFill>
                <a:latin typeface="微软雅黑" panose="020B0503020204020204" charset="-122"/>
                <a:ea typeface="微软雅黑" panose="020B0503020204020204" charset="-122"/>
                <a:cs typeface="微软雅黑" panose="020B0503020204020204" charset="-122"/>
                <a:sym typeface="+mn-ea"/>
              </a:rPr>
              <a:t>{成员表列};</a:t>
            </a:r>
            <a:endParaRPr lang="zh-CN" altLang="en-US" sz="2400" b="1" kern="0" spc="-50" dirty="0">
              <a:solidFill>
                <a:srgbClr val="1100CC">
                  <a:alpha val="100000"/>
                </a:srgbClr>
              </a:solidFill>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6" name="textbox 8606"/>
          <p:cNvSpPr/>
          <p:nvPr/>
        </p:nvSpPr>
        <p:spPr>
          <a:xfrm>
            <a:off x="998770" y="1564132"/>
            <a:ext cx="8991600" cy="675640"/>
          </a:xfrm>
          <a:prstGeom prst="rect">
            <a:avLst/>
          </a:prstGeom>
        </p:spPr>
        <p:txBody>
          <a:bodyPr vert="horz" wrap="square" lIns="0" tIns="0" rIns="0" bIns="0"/>
          <a:lstStyle/>
          <a:p>
            <a:pPr algn="l" rtl="0" eaLnBrk="0">
              <a:lnSpc>
                <a:spcPct val="80000"/>
              </a:lnSpc>
            </a:pPr>
            <a:r>
              <a:rPr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(1) 结构体类型并非只有一种，</a:t>
            </a:r>
            <a:r>
              <a:rPr kern="0" spc="-18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而是可以设计出许多种结构体类型，</a:t>
            </a:r>
            <a:r>
              <a:rPr kern="0" spc="-3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各自包含不同的成员。</a:t>
            </a:r>
            <a:endParaRPr lang="en-US" altLang="en-US" dirty="0"/>
          </a:p>
          <a:p>
            <a:pPr marL="12700" algn="l" rtl="0" eaLnBrk="0">
              <a:lnSpc>
                <a:spcPts val="3240"/>
              </a:lnSpc>
            </a:pPr>
            <a:r>
              <a:rPr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(2) 成员可以属于另一个结构体类型。</a:t>
            </a:r>
            <a:endParaRPr lang="en-US" altLang="en-US" dirty="0"/>
          </a:p>
        </p:txBody>
      </p:sp>
      <p:graphicFrame>
        <p:nvGraphicFramePr>
          <p:cNvPr id="8608" name="table 8608"/>
          <p:cNvGraphicFramePr>
            <a:graphicFrameLocks noGrp="1"/>
          </p:cNvGraphicFramePr>
          <p:nvPr/>
        </p:nvGraphicFramePr>
        <p:xfrm>
          <a:off x="4958171" y="1915415"/>
          <a:ext cx="6127750" cy="752475"/>
        </p:xfrm>
        <a:graphic>
          <a:graphicData uri="http://schemas.openxmlformats.org/drawingml/2006/table">
            <a:tbl>
              <a:tblPr>
                <a:solidFill>
                  <a:srgbClr val="FBE9E8"/>
                </a:solidFill>
              </a:tblPr>
              <a:tblGrid>
                <a:gridCol w="770255">
                  <a:extLst>
                    <a:ext uri="{9D8B030D-6E8A-4147-A177-3AD203B41FA5}">
                      <a16:colId xmlns:a16="http://schemas.microsoft.com/office/drawing/2014/main" val="20000"/>
                    </a:ext>
                  </a:extLst>
                </a:gridCol>
                <a:gridCol w="764540">
                  <a:extLst>
                    <a:ext uri="{9D8B030D-6E8A-4147-A177-3AD203B41FA5}">
                      <a16:colId xmlns:a16="http://schemas.microsoft.com/office/drawing/2014/main" val="20001"/>
                    </a:ext>
                  </a:extLst>
                </a:gridCol>
                <a:gridCol w="764540">
                  <a:extLst>
                    <a:ext uri="{9D8B030D-6E8A-4147-A177-3AD203B41FA5}">
                      <a16:colId xmlns:a16="http://schemas.microsoft.com/office/drawing/2014/main" val="20002"/>
                    </a:ext>
                  </a:extLst>
                </a:gridCol>
                <a:gridCol w="764540">
                  <a:extLst>
                    <a:ext uri="{9D8B030D-6E8A-4147-A177-3AD203B41FA5}">
                      <a16:colId xmlns:a16="http://schemas.microsoft.com/office/drawing/2014/main" val="20003"/>
                    </a:ext>
                  </a:extLst>
                </a:gridCol>
                <a:gridCol w="764540">
                  <a:extLst>
                    <a:ext uri="{9D8B030D-6E8A-4147-A177-3AD203B41FA5}">
                      <a16:colId xmlns:a16="http://schemas.microsoft.com/office/drawing/2014/main" val="20004"/>
                    </a:ext>
                  </a:extLst>
                </a:gridCol>
                <a:gridCol w="764540">
                  <a:extLst>
                    <a:ext uri="{9D8B030D-6E8A-4147-A177-3AD203B41FA5}">
                      <a16:colId xmlns:a16="http://schemas.microsoft.com/office/drawing/2014/main" val="20005"/>
                    </a:ext>
                  </a:extLst>
                </a:gridCol>
                <a:gridCol w="764540">
                  <a:extLst>
                    <a:ext uri="{9D8B030D-6E8A-4147-A177-3AD203B41FA5}">
                      <a16:colId xmlns:a16="http://schemas.microsoft.com/office/drawing/2014/main" val="20006"/>
                    </a:ext>
                  </a:extLst>
                </a:gridCol>
                <a:gridCol w="770255">
                  <a:extLst>
                    <a:ext uri="{9D8B030D-6E8A-4147-A177-3AD203B41FA5}">
                      <a16:colId xmlns:a16="http://schemas.microsoft.com/office/drawing/2014/main" val="20007"/>
                    </a:ext>
                  </a:extLst>
                </a:gridCol>
              </a:tblGrid>
              <a:tr h="340995">
                <a:tc rowSpan="2">
                  <a:txBody>
                    <a:bodyPr/>
                    <a:lstStyle/>
                    <a:p>
                      <a:pPr algn="ctr" rtl="0" eaLnBrk="0">
                        <a:lnSpc>
                          <a:spcPct val="103000"/>
                        </a:lnSpc>
                      </a:pPr>
                      <a:r>
                        <a:rPr sz="15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num</a:t>
                      </a:r>
                      <a:endParaRPr lang="en-US" altLang="en-US" sz="1500" dirty="0"/>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9E8"/>
                    </a:solidFill>
                  </a:tcPr>
                </a:tc>
                <a:tc rowSpan="2">
                  <a:txBody>
                    <a:bodyPr/>
                    <a:lstStyle/>
                    <a:p>
                      <a:pPr algn="ctr" rtl="0" eaLnBrk="0">
                        <a:lnSpc>
                          <a:spcPct val="103000"/>
                        </a:lnSpc>
                      </a:pPr>
                      <a:r>
                        <a:rPr sz="15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name</a:t>
                      </a:r>
                      <a:endParaRPr lang="en-US" altLang="en-US" sz="1500" dirty="0"/>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9E8"/>
                    </a:solidFill>
                  </a:tcPr>
                </a:tc>
                <a:tc rowSpan="2">
                  <a:txBody>
                    <a:bodyPr/>
                    <a:lstStyle/>
                    <a:p>
                      <a:pPr algn="ctr" rtl="0" eaLnBrk="0">
                        <a:lnSpc>
                          <a:spcPct val="103000"/>
                        </a:lnSpc>
                      </a:pPr>
                      <a:r>
                        <a:rPr sz="16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sex</a:t>
                      </a:r>
                      <a:endParaRPr lang="en-US" altLang="en-US" sz="1600" dirty="0"/>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9E8"/>
                    </a:solidFill>
                  </a:tcPr>
                </a:tc>
                <a:tc rowSpan="2">
                  <a:txBody>
                    <a:bodyPr/>
                    <a:lstStyle/>
                    <a:p>
                      <a:pPr algn="ctr" rtl="0" eaLnBrk="0">
                        <a:lnSpc>
                          <a:spcPct val="103000"/>
                        </a:lnSpc>
                      </a:pPr>
                      <a:r>
                        <a:rPr sz="1600"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rPr>
                        <a:t>age</a:t>
                      </a:r>
                      <a:endParaRPr lang="en-US" altLang="en-US" sz="1600" dirty="0"/>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9E8"/>
                    </a:solidFill>
                  </a:tcPr>
                </a:tc>
                <a:tc gridSpan="3">
                  <a:txBody>
                    <a:bodyPr/>
                    <a:lstStyle/>
                    <a:p>
                      <a:pPr algn="ctr" rtl="0" eaLnBrk="0">
                        <a:lnSpc>
                          <a:spcPct val="100000"/>
                        </a:lnSpc>
                      </a:pPr>
                      <a:r>
                        <a:rPr sz="15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birthday</a:t>
                      </a:r>
                      <a:endParaRPr lang="en-US" altLang="en-US" sz="1500" dirty="0"/>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9E8"/>
                    </a:solidFill>
                  </a:tcPr>
                </a:tc>
                <a:tc hMerge="1">
                  <a:txBody>
                    <a:bodyPr/>
                    <a:lstStyle/>
                    <a:p>
                      <a:endParaRPr lang="zh-CN"/>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9E8"/>
                    </a:solidFill>
                  </a:tcPr>
                </a:tc>
                <a:tc hMerge="1">
                  <a:txBody>
                    <a:bodyPr/>
                    <a:lstStyle/>
                    <a:p>
                      <a:endParaRPr lang="zh-CN"/>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9E8"/>
                    </a:solidFill>
                  </a:tcPr>
                </a:tc>
                <a:tc rowSpan="2">
                  <a:txBody>
                    <a:bodyPr/>
                    <a:lstStyle/>
                    <a:p>
                      <a:pPr algn="ctr" rtl="0" eaLnBrk="0">
                        <a:lnSpc>
                          <a:spcPct val="160000"/>
                        </a:lnSpc>
                      </a:pPr>
                      <a:r>
                        <a:rPr sz="15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addr</a:t>
                      </a:r>
                      <a:endParaRPr lang="en-US" altLang="en-US" sz="1500" dirty="0"/>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9E8"/>
                    </a:solidFill>
                  </a:tcPr>
                </a:tc>
                <a:extLst>
                  <a:ext uri="{0D108BD9-81ED-4DB2-BD59-A6C34878D82A}">
                    <a16:rowId xmlns:a16="http://schemas.microsoft.com/office/drawing/2014/main" val="10000"/>
                  </a:ext>
                </a:extLst>
              </a:tr>
              <a:tr h="411480">
                <a:tc vMerge="1">
                  <a:txBody>
                    <a:bodyPr/>
                    <a:lstStyle/>
                    <a:p>
                      <a:endParaRPr lang="zh-CN"/>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9E8"/>
                    </a:solidFill>
                  </a:tcPr>
                </a:tc>
                <a:tc vMerge="1">
                  <a:txBody>
                    <a:bodyPr/>
                    <a:lstStyle/>
                    <a:p>
                      <a:endParaRPr lang="zh-CN"/>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9E8"/>
                    </a:solidFill>
                  </a:tcPr>
                </a:tc>
                <a:tc vMerge="1">
                  <a:txBody>
                    <a:bodyPr/>
                    <a:lstStyle/>
                    <a:p>
                      <a:endParaRPr lang="zh-CN"/>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9E8"/>
                    </a:solidFill>
                  </a:tcPr>
                </a:tc>
                <a:tc vMerge="1">
                  <a:txBody>
                    <a:bodyPr/>
                    <a:lstStyle/>
                    <a:p>
                      <a:endParaRPr lang="zh-CN"/>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9E8"/>
                    </a:solidFill>
                  </a:tcPr>
                </a:tc>
                <a:tc>
                  <a:txBody>
                    <a:bodyPr/>
                    <a:lstStyle/>
                    <a:p>
                      <a:pPr indent="0" algn="ctr" rtl="0" eaLnBrk="0" fontAlgn="auto">
                        <a:lnSpc>
                          <a:spcPct val="115000"/>
                        </a:lnSpc>
                      </a:pPr>
                      <a:r>
                        <a:rPr sz="15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rPr>
                        <a:t>month</a:t>
                      </a:r>
                      <a:endParaRPr lang="en-US" altLang="en-US" sz="1500" dirty="0"/>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9E8"/>
                    </a:solidFill>
                  </a:tcPr>
                </a:tc>
                <a:tc>
                  <a:txBody>
                    <a:bodyPr/>
                    <a:lstStyle/>
                    <a:p>
                      <a:pPr indent="0" algn="ctr" rtl="0" eaLnBrk="0" fontAlgn="auto">
                        <a:lnSpc>
                          <a:spcPct val="115000"/>
                        </a:lnSpc>
                      </a:pPr>
                      <a:r>
                        <a:rPr sz="15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day</a:t>
                      </a:r>
                      <a:endParaRPr lang="en-US" altLang="en-US" sz="1500" dirty="0"/>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9E8"/>
                    </a:solidFill>
                  </a:tcPr>
                </a:tc>
                <a:tc>
                  <a:txBody>
                    <a:bodyPr/>
                    <a:lstStyle/>
                    <a:p>
                      <a:pPr indent="0" algn="ctr" rtl="0" eaLnBrk="0" fontAlgn="auto">
                        <a:lnSpc>
                          <a:spcPct val="102000"/>
                        </a:lnSpc>
                      </a:pPr>
                      <a:r>
                        <a:rPr sz="16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year</a:t>
                      </a:r>
                      <a:endParaRPr lang="en-US" altLang="en-US" sz="1600" dirty="0"/>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9E8"/>
                    </a:solidFill>
                  </a:tcPr>
                </a:tc>
                <a:tc vMerge="1">
                  <a:txBody>
                    <a:bodyPr/>
                    <a:lstStyle/>
                    <a:p>
                      <a:endParaRPr lang="zh-CN"/>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9E8"/>
                    </a:solidFill>
                  </a:tcPr>
                </a:tc>
                <a:extLst>
                  <a:ext uri="{0D108BD9-81ED-4DB2-BD59-A6C34878D82A}">
                    <a16:rowId xmlns:a16="http://schemas.microsoft.com/office/drawing/2014/main" val="10001"/>
                  </a:ext>
                </a:extLst>
              </a:tr>
            </a:tbl>
          </a:graphicData>
        </a:graphic>
      </p:graphicFrame>
      <p:sp>
        <p:nvSpPr>
          <p:cNvPr id="8610" name="textbox 8610"/>
          <p:cNvSpPr/>
          <p:nvPr/>
        </p:nvSpPr>
        <p:spPr>
          <a:xfrm>
            <a:off x="966647" y="808567"/>
            <a:ext cx="4097020" cy="473287"/>
          </a:xfrm>
          <a:prstGeom prst="rect">
            <a:avLst/>
          </a:prstGeom>
        </p:spPr>
        <p:txBody>
          <a:bodyPr vert="horz" wrap="square" lIns="0" tIns="0" rIns="0" bIns="0"/>
          <a:lstStyle/>
          <a:p>
            <a:pPr algn="l" rtl="0" eaLnBrk="0">
              <a:lnSpc>
                <a:spcPct val="77000"/>
              </a:lnSpc>
            </a:pPr>
            <a:endParaRPr lang="en-US" altLang="en-US" sz="135" dirty="0"/>
          </a:p>
          <a:p>
            <a:pPr marL="12700" algn="l" rtl="0" eaLnBrk="0">
              <a:lnSpc>
                <a:spcPct val="100000"/>
              </a:lnSpc>
            </a:pPr>
            <a:r>
              <a:rPr sz="31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自己建立结构体类型</a:t>
            </a:r>
            <a:endParaRPr lang="en-US" altLang="en-US" sz="3100" dirty="0"/>
          </a:p>
        </p:txBody>
      </p:sp>
      <p:sp>
        <p:nvSpPr>
          <p:cNvPr id="8612" name="path"/>
          <p:cNvSpPr/>
          <p:nvPr/>
        </p:nvSpPr>
        <p:spPr>
          <a:xfrm>
            <a:off x="914491" y="1368044"/>
            <a:ext cx="10550143" cy="25400"/>
          </a:xfrm>
          <a:custGeom>
            <a:avLst/>
            <a:gdLst/>
            <a:ahLst/>
            <a:cxnLst/>
            <a:rect l="0" t="0" r="0" b="0"/>
            <a:pathLst>
              <a:path w="16614" h="40">
                <a:moveTo>
                  <a:pt x="20" y="20"/>
                </a:moveTo>
                <a:lnTo>
                  <a:pt x="16594" y="20"/>
                </a:lnTo>
                <a:lnTo>
                  <a:pt x="20" y="20"/>
                </a:lnTo>
              </a:path>
            </a:pathLst>
          </a:custGeom>
          <a:noFill/>
          <a:ln w="25400" cap="sq">
            <a:solidFill>
              <a:srgbClr val="782367">
                <a:alpha val="100000"/>
              </a:srgbClr>
            </a:solidFill>
            <a:prstDash val="solid"/>
            <a:bevel/>
          </a:ln>
        </p:spPr>
        <p:txBody>
          <a:bodyPr rtlCol="0"/>
          <a:lstStyle/>
          <a:p>
            <a:pPr algn="ctr"/>
            <a:endParaRPr lang="zh-CN" altLang="en-US"/>
          </a:p>
        </p:txBody>
      </p:sp>
      <p:sp>
        <p:nvSpPr>
          <p:cNvPr id="8614" name="path"/>
          <p:cNvSpPr/>
          <p:nvPr/>
        </p:nvSpPr>
        <p:spPr>
          <a:xfrm>
            <a:off x="914491" y="6438053"/>
            <a:ext cx="10550143" cy="25400"/>
          </a:xfrm>
          <a:custGeom>
            <a:avLst/>
            <a:gdLst/>
            <a:ahLst/>
            <a:cxnLst/>
            <a:rect l="0" t="0" r="0" b="0"/>
            <a:pathLst>
              <a:path w="16614" h="40">
                <a:moveTo>
                  <a:pt x="20" y="20"/>
                </a:moveTo>
                <a:lnTo>
                  <a:pt x="16594" y="20"/>
                </a:lnTo>
                <a:lnTo>
                  <a:pt x="20" y="20"/>
                </a:lnTo>
              </a:path>
            </a:pathLst>
          </a:custGeom>
          <a:noFill/>
          <a:ln w="25400" cap="sq">
            <a:solidFill>
              <a:srgbClr val="782367">
                <a:alpha val="100000"/>
              </a:srgbClr>
            </a:solidFill>
            <a:prstDash val="solid"/>
            <a:bevel/>
          </a:ln>
        </p:spPr>
        <p:txBody>
          <a:bodyPr rtlCol="0"/>
          <a:lstStyle/>
          <a:p>
            <a:pPr algn="ctr"/>
            <a:endParaRPr lang="zh-CN" altLang="en-US"/>
          </a:p>
        </p:txBody>
      </p:sp>
      <p:sp>
        <p:nvSpPr>
          <p:cNvPr id="2" name="矩形 1"/>
          <p:cNvSpPr/>
          <p:nvPr/>
        </p:nvSpPr>
        <p:spPr>
          <a:xfrm>
            <a:off x="4957834" y="2705947"/>
            <a:ext cx="6117167" cy="1370753"/>
          </a:xfrm>
          <a:prstGeom prst="rect">
            <a:avLst/>
          </a:prstGeom>
          <a:solidFill>
            <a:schemeClr val="bg1"/>
          </a:solidFill>
          <a:ln>
            <a:solidFill>
              <a:srgbClr val="782367"/>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l" rtl="0" eaLnBrk="0">
              <a:lnSpc>
                <a:spcPct val="108000"/>
              </a:lnSpc>
            </a:pPr>
            <a:endParaRPr sz="16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endParaRPr>
          </a:p>
          <a:p>
            <a:pPr algn="l" rtl="0" eaLnBrk="0">
              <a:lnSpc>
                <a:spcPct val="108000"/>
              </a:lnSpc>
            </a:pPr>
            <a:r>
              <a:rPr sz="16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struct</a:t>
            </a:r>
            <a:r>
              <a:rPr sz="1600" kern="0" spc="1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6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Date</a:t>
            </a:r>
            <a:r>
              <a:rPr lang="en-US" sz="16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600" kern="0" spc="-5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//声明一个结构体类型 struct  Date</a:t>
            </a:r>
            <a:endParaRPr sz="1600" kern="0" spc="-50" dirty="0">
              <a:solidFill>
                <a:srgbClr val="008000">
                  <a:alpha val="100000"/>
                </a:srgbClr>
              </a:solidFill>
              <a:latin typeface="微软雅黑" panose="020B0503020204020204" charset="-122"/>
              <a:ea typeface="微软雅黑" panose="020B0503020204020204" charset="-122"/>
              <a:cs typeface="微软雅黑" panose="020B0503020204020204" charset="-122"/>
            </a:endParaRPr>
          </a:p>
          <a:p>
            <a:pPr algn="l" rtl="0" eaLnBrk="0">
              <a:lnSpc>
                <a:spcPct val="108000"/>
              </a:lnSpc>
              <a:spcBef>
                <a:spcPts val="15"/>
              </a:spcBef>
              <a:buClrTx/>
              <a:buSzTx/>
              <a:buFontTx/>
            </a:pPr>
            <a:r>
              <a:rPr sz="16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int</a:t>
            </a:r>
            <a:r>
              <a:rPr sz="1600" kern="0" spc="10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6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mon</a:t>
            </a:r>
            <a:r>
              <a:rPr sz="16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th;</a:t>
            </a:r>
            <a:r>
              <a:rPr lang="en-US" sz="16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600" kern="0" spc="-5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 </a:t>
            </a:r>
            <a:r>
              <a:rPr lang="en-US" sz="1600" kern="0" spc="-5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   </a:t>
            </a:r>
            <a:r>
              <a:rPr sz="1600" kern="0" spc="-5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//月</a:t>
            </a:r>
            <a:endParaRPr sz="1600" kern="0" spc="-50" dirty="0">
              <a:solidFill>
                <a:srgbClr val="008000">
                  <a:alpha val="100000"/>
                </a:srgbClr>
              </a:solidFill>
              <a:latin typeface="微软雅黑" panose="020B0503020204020204" charset="-122"/>
              <a:ea typeface="微软雅黑" panose="020B0503020204020204" charset="-122"/>
              <a:cs typeface="微软雅黑" panose="020B0503020204020204" charset="-122"/>
            </a:endParaRPr>
          </a:p>
          <a:p>
            <a:pPr marL="492125" algn="l" rtl="0" eaLnBrk="0">
              <a:lnSpc>
                <a:spcPct val="92000"/>
              </a:lnSpc>
              <a:spcBef>
                <a:spcPts val="140"/>
              </a:spcBef>
            </a:pPr>
            <a:r>
              <a:rPr sz="1600"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int</a:t>
            </a:r>
            <a:r>
              <a:rPr sz="1600"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600"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day;</a:t>
            </a:r>
            <a:r>
              <a:rPr lang="en-US" sz="1600"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600" kern="0" spc="-5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//日</a:t>
            </a:r>
            <a:endParaRPr sz="1600" kern="0" spc="-50" dirty="0">
              <a:solidFill>
                <a:srgbClr val="008000">
                  <a:alpha val="100000"/>
                </a:srgbClr>
              </a:solidFill>
              <a:latin typeface="微软雅黑" panose="020B0503020204020204" charset="-122"/>
              <a:ea typeface="微软雅黑" panose="020B0503020204020204" charset="-122"/>
              <a:cs typeface="微软雅黑" panose="020B0503020204020204" charset="-122"/>
            </a:endParaRPr>
          </a:p>
          <a:p>
            <a:pPr marL="492125" algn="l" rtl="0" eaLnBrk="0">
              <a:lnSpc>
                <a:spcPct val="92000"/>
              </a:lnSpc>
              <a:spcBef>
                <a:spcPts val="265"/>
              </a:spcBef>
            </a:pPr>
            <a:r>
              <a:rPr sz="16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int year;</a:t>
            </a:r>
            <a:r>
              <a:rPr lang="en-US" sz="16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lang="en-US" sz="1600" kern="0" spc="-50" dirty="0">
                <a:solidFill>
                  <a:schemeClr val="accent6">
                    <a:alpha val="100000"/>
                  </a:schemeClr>
                </a:solidFill>
                <a:latin typeface="微软雅黑" panose="020B0503020204020204" charset="-122"/>
                <a:ea typeface="微软雅黑" panose="020B0503020204020204" charset="-122"/>
                <a:cs typeface="微软雅黑" panose="020B0503020204020204" charset="-122"/>
                <a:sym typeface="+mn-ea"/>
              </a:rPr>
              <a:t>   </a:t>
            </a:r>
            <a:r>
              <a:rPr sz="1600" kern="0" spc="-5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//年</a:t>
            </a:r>
            <a:endParaRPr sz="1600" kern="0" spc="-50" dirty="0">
              <a:solidFill>
                <a:srgbClr val="008000">
                  <a:alpha val="100000"/>
                </a:srgbClr>
              </a:solidFill>
              <a:latin typeface="微软雅黑" panose="020B0503020204020204" charset="-122"/>
              <a:ea typeface="微软雅黑" panose="020B0503020204020204" charset="-122"/>
              <a:cs typeface="微软雅黑" panose="020B0503020204020204" charset="-122"/>
            </a:endParaRPr>
          </a:p>
          <a:p>
            <a:pPr marL="114300" algn="l" rtl="0" eaLnBrk="0">
              <a:lnSpc>
                <a:spcPts val="2030"/>
              </a:lnSpc>
              <a:spcBef>
                <a:spcPts val="20"/>
              </a:spcBef>
            </a:pPr>
            <a:r>
              <a:rPr sz="16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endParaRPr lang="en-US" altLang="en-US" sz="1600" dirty="0"/>
          </a:p>
          <a:p>
            <a:pPr algn="ctr"/>
            <a:endParaRPr lang="zh-CN" altLang="en-US" sz="1600"/>
          </a:p>
        </p:txBody>
      </p:sp>
      <p:sp>
        <p:nvSpPr>
          <p:cNvPr id="4" name="矩形 3"/>
          <p:cNvSpPr/>
          <p:nvPr/>
        </p:nvSpPr>
        <p:spPr>
          <a:xfrm>
            <a:off x="4958680" y="4154593"/>
            <a:ext cx="6116320" cy="2205567"/>
          </a:xfrm>
          <a:prstGeom prst="rect">
            <a:avLst/>
          </a:prstGeom>
          <a:solidFill>
            <a:schemeClr val="bg1"/>
          </a:solidFill>
          <a:ln>
            <a:solidFill>
              <a:srgbClr val="782367"/>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l" rtl="0" eaLnBrk="0">
              <a:lnSpc>
                <a:spcPct val="109000"/>
              </a:lnSpc>
            </a:pPr>
            <a:endParaRPr lang="en-US" altLang="en-US" sz="2400" dirty="0"/>
          </a:p>
          <a:p>
            <a:pPr marL="121285" algn="l" rtl="0" eaLnBrk="0">
              <a:lnSpc>
                <a:spcPct val="93000"/>
              </a:lnSpc>
              <a:spcBef>
                <a:spcPts val="0"/>
              </a:spcBef>
            </a:pPr>
            <a:r>
              <a:rPr sz="16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struct</a:t>
            </a:r>
            <a:r>
              <a:rPr sz="1600" kern="0" spc="10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6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Student</a:t>
            </a:r>
            <a:r>
              <a:rPr lang="en-US" sz="16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600" kern="0" spc="-5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//声明一个结构体类型 st</a:t>
            </a:r>
            <a:r>
              <a:rPr sz="1600" kern="0" spc="-6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ruct Student</a:t>
            </a:r>
            <a:endParaRPr lang="en-US" altLang="en-US" sz="1600" dirty="0"/>
          </a:p>
          <a:p>
            <a:pPr marL="118745" algn="l" rtl="0" eaLnBrk="0">
              <a:lnSpc>
                <a:spcPts val="1920"/>
              </a:lnSpc>
            </a:pPr>
            <a:r>
              <a:rPr sz="1600"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r>
              <a:rPr sz="1600" kern="0" spc="1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600"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int</a:t>
            </a:r>
            <a:r>
              <a:rPr sz="1600" kern="0" spc="10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600"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num;</a:t>
            </a:r>
            <a:endParaRPr lang="en-US" altLang="en-US" sz="1600" dirty="0"/>
          </a:p>
          <a:p>
            <a:pPr marL="127635" algn="l" rtl="0" eaLnBrk="0">
              <a:lnSpc>
                <a:spcPct val="93000"/>
              </a:lnSpc>
              <a:spcBef>
                <a:spcPts val="245"/>
              </a:spcBef>
            </a:pPr>
            <a:r>
              <a:rPr sz="16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char</a:t>
            </a:r>
            <a:r>
              <a:rPr sz="1600" kern="0" spc="1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6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name[20];</a:t>
            </a:r>
            <a:endParaRPr lang="en-US" altLang="en-US" sz="1600" dirty="0"/>
          </a:p>
          <a:p>
            <a:pPr marL="127635" algn="l" rtl="0" eaLnBrk="0">
              <a:lnSpc>
                <a:spcPts val="1920"/>
              </a:lnSpc>
            </a:pPr>
            <a:r>
              <a:rPr sz="16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char sex;</a:t>
            </a:r>
            <a:endParaRPr lang="en-US" altLang="en-US" sz="1600" dirty="0"/>
          </a:p>
          <a:p>
            <a:pPr marL="133985" algn="l" rtl="0" eaLnBrk="0">
              <a:lnSpc>
                <a:spcPct val="92000"/>
              </a:lnSpc>
              <a:spcBef>
                <a:spcPts val="245"/>
              </a:spcBef>
            </a:pPr>
            <a:r>
              <a:rPr sz="16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int</a:t>
            </a:r>
            <a:r>
              <a:rPr sz="16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6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age;</a:t>
            </a:r>
            <a:r>
              <a:rPr lang="en-US" sz="16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endParaRPr lang="en-US" altLang="en-US" sz="1600" dirty="0"/>
          </a:p>
          <a:p>
            <a:pPr marL="127000" indent="-5715" algn="l" rtl="0" eaLnBrk="0">
              <a:lnSpc>
                <a:spcPct val="103000"/>
              </a:lnSpc>
              <a:spcBef>
                <a:spcPts val="260"/>
              </a:spcBef>
            </a:pPr>
            <a:r>
              <a:rPr sz="1600" b="1" kern="0" spc="-50" dirty="0">
                <a:solidFill>
                  <a:srgbClr val="1100CC">
                    <a:alpha val="100000"/>
                  </a:srgbClr>
                </a:solidFill>
                <a:latin typeface="微软雅黑" panose="020B0503020204020204" charset="-122"/>
                <a:ea typeface="微软雅黑" panose="020B0503020204020204" charset="-122"/>
                <a:cs typeface="微软雅黑" panose="020B0503020204020204" charset="-122"/>
                <a:sym typeface="+mn-ea"/>
              </a:rPr>
              <a:t>struct</a:t>
            </a:r>
            <a:r>
              <a:rPr sz="1600" b="1" kern="0" spc="140" dirty="0">
                <a:solidFill>
                  <a:srgbClr val="1100CC">
                    <a:alpha val="100000"/>
                  </a:srgbClr>
                </a:solidFill>
                <a:latin typeface="微软雅黑" panose="020B0503020204020204" charset="-122"/>
                <a:ea typeface="微软雅黑" panose="020B0503020204020204" charset="-122"/>
                <a:cs typeface="微软雅黑" panose="020B0503020204020204" charset="-122"/>
                <a:sym typeface="+mn-ea"/>
              </a:rPr>
              <a:t> </a:t>
            </a:r>
            <a:r>
              <a:rPr sz="1600" b="1" kern="0" spc="-50" dirty="0">
                <a:solidFill>
                  <a:srgbClr val="1100CC">
                    <a:alpha val="100000"/>
                  </a:srgbClr>
                </a:solidFill>
                <a:latin typeface="微软雅黑" panose="020B0503020204020204" charset="-122"/>
                <a:ea typeface="微软雅黑" panose="020B0503020204020204" charset="-122"/>
                <a:cs typeface="微软雅黑" panose="020B0503020204020204" charset="-122"/>
                <a:sym typeface="+mn-ea"/>
              </a:rPr>
              <a:t>Dat</a:t>
            </a:r>
            <a:r>
              <a:rPr sz="1600" b="1" kern="0" spc="-60" dirty="0">
                <a:solidFill>
                  <a:srgbClr val="1100CC">
                    <a:alpha val="100000"/>
                  </a:srgbClr>
                </a:solidFill>
                <a:latin typeface="微软雅黑" panose="020B0503020204020204" charset="-122"/>
                <a:ea typeface="微软雅黑" panose="020B0503020204020204" charset="-122"/>
                <a:cs typeface="微软雅黑" panose="020B0503020204020204" charset="-122"/>
                <a:sym typeface="+mn-ea"/>
              </a:rPr>
              <a:t>e</a:t>
            </a:r>
            <a:r>
              <a:rPr sz="1600" b="1" kern="0" spc="100" dirty="0">
                <a:solidFill>
                  <a:srgbClr val="1100CC">
                    <a:alpha val="100000"/>
                  </a:srgbClr>
                </a:solidFill>
                <a:latin typeface="微软雅黑" panose="020B0503020204020204" charset="-122"/>
                <a:ea typeface="微软雅黑" panose="020B0503020204020204" charset="-122"/>
                <a:cs typeface="微软雅黑" panose="020B0503020204020204" charset="-122"/>
                <a:sym typeface="+mn-ea"/>
              </a:rPr>
              <a:t> </a:t>
            </a:r>
            <a:r>
              <a:rPr sz="1600" b="1" kern="0" spc="-60" dirty="0">
                <a:solidFill>
                  <a:srgbClr val="1100CC">
                    <a:alpha val="100000"/>
                  </a:srgbClr>
                </a:solidFill>
                <a:latin typeface="微软雅黑" panose="020B0503020204020204" charset="-122"/>
                <a:ea typeface="微软雅黑" panose="020B0503020204020204" charset="-122"/>
                <a:cs typeface="微软雅黑" panose="020B0503020204020204" charset="-122"/>
                <a:sym typeface="+mn-ea"/>
              </a:rPr>
              <a:t>birthday;</a:t>
            </a:r>
            <a:r>
              <a:rPr sz="1600" b="1" kern="0" dirty="0">
                <a:solidFill>
                  <a:srgbClr val="1100CC">
                    <a:alpha val="100000"/>
                  </a:srgbClr>
                </a:solidFill>
                <a:latin typeface="微软雅黑" panose="020B0503020204020204" charset="-122"/>
                <a:ea typeface="微软雅黑" panose="020B0503020204020204" charset="-122"/>
                <a:cs typeface="微软雅黑" panose="020B0503020204020204" charset="-122"/>
                <a:sym typeface="+mn-ea"/>
              </a:rPr>
              <a:t> </a:t>
            </a:r>
            <a:r>
              <a:rPr sz="1600" kern="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lang="en-US" sz="16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600" kern="0" spc="-7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//成员birthday属于struct Date类型</a:t>
            </a:r>
            <a:r>
              <a:rPr sz="1600" kern="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p>
          <a:p>
            <a:pPr marL="127000" indent="-5715" algn="l" rtl="0" eaLnBrk="0">
              <a:lnSpc>
                <a:spcPct val="103000"/>
              </a:lnSpc>
              <a:spcBef>
                <a:spcPts val="260"/>
              </a:spcBef>
            </a:pPr>
            <a:r>
              <a:rPr sz="16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char addr[30];</a:t>
            </a:r>
            <a:endParaRPr lang="en-US" altLang="en-US" sz="1600" dirty="0"/>
          </a:p>
          <a:p>
            <a:pPr marL="118745" algn="l" rtl="0" eaLnBrk="0">
              <a:lnSpc>
                <a:spcPct val="93000"/>
              </a:lnSpc>
              <a:spcBef>
                <a:spcPts val="140"/>
              </a:spcBef>
            </a:pPr>
            <a:r>
              <a:rPr sz="16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endParaRPr lang="en-US" altLang="en-US" sz="1600" dirty="0"/>
          </a:p>
          <a:p>
            <a:pPr algn="ctr"/>
            <a:endParaRPr lang="zh-CN" altLang="en-US" sz="16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22" name="textbox 8622"/>
          <p:cNvSpPr/>
          <p:nvPr/>
        </p:nvSpPr>
        <p:spPr>
          <a:xfrm>
            <a:off x="838835" y="1478280"/>
            <a:ext cx="4709795" cy="287020"/>
          </a:xfrm>
          <a:prstGeom prst="rect">
            <a:avLst/>
          </a:prstGeom>
        </p:spPr>
        <p:txBody>
          <a:bodyPr vert="horz" wrap="square" lIns="0" tIns="0" rIns="0" bIns="0"/>
          <a:lstStyle/>
          <a:p>
            <a:pPr algn="l" rtl="0" eaLnBrk="0">
              <a:lnSpc>
                <a:spcPct val="86000"/>
              </a:lnSpc>
            </a:pPr>
            <a:endParaRPr lang="en-US" altLang="en-US" sz="100" dirty="0"/>
          </a:p>
          <a:p>
            <a:pPr marL="12700" algn="l" rtl="0" eaLnBrk="0">
              <a:lnSpc>
                <a:spcPct val="95000"/>
              </a:lnSpc>
            </a:pPr>
            <a:r>
              <a:rPr sz="18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1.</a:t>
            </a:r>
            <a:r>
              <a:rPr sz="1800" kern="0" spc="18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8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先声明结构体类型，</a:t>
            </a:r>
            <a:r>
              <a:rPr sz="1800" kern="0" spc="-26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8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再定义该类型的变量</a:t>
            </a:r>
            <a:endParaRPr lang="en-US" altLang="en-US" sz="1800" dirty="0"/>
          </a:p>
        </p:txBody>
      </p:sp>
      <p:sp>
        <p:nvSpPr>
          <p:cNvPr id="8624" name="textbox 8624"/>
          <p:cNvSpPr/>
          <p:nvPr/>
        </p:nvSpPr>
        <p:spPr>
          <a:xfrm>
            <a:off x="757330" y="769130"/>
            <a:ext cx="3669029" cy="497205"/>
          </a:xfrm>
          <a:prstGeom prst="rect">
            <a:avLst/>
          </a:prstGeom>
        </p:spPr>
        <p:txBody>
          <a:bodyPr vert="horz" wrap="square" lIns="0" tIns="0" rIns="0" bIns="0"/>
          <a:lstStyle/>
          <a:p>
            <a:pPr algn="l" rtl="0" eaLnBrk="0">
              <a:lnSpc>
                <a:spcPct val="77000"/>
              </a:lnSpc>
            </a:pPr>
            <a:endParaRPr lang="en-US" altLang="en-US" sz="100" dirty="0"/>
          </a:p>
          <a:p>
            <a:pPr marL="12700" algn="l" rtl="0" eaLnBrk="0">
              <a:lnSpc>
                <a:spcPct val="100000"/>
              </a:lnSpc>
            </a:pPr>
            <a:r>
              <a:rPr sz="31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定义结构体类型变量</a:t>
            </a:r>
            <a:endParaRPr lang="en-US" altLang="en-US" sz="3100" dirty="0"/>
          </a:p>
        </p:txBody>
      </p:sp>
      <p:sp>
        <p:nvSpPr>
          <p:cNvPr id="8626" name="path"/>
          <p:cNvSpPr/>
          <p:nvPr/>
        </p:nvSpPr>
        <p:spPr>
          <a:xfrm>
            <a:off x="749618" y="1328420"/>
            <a:ext cx="10547096" cy="25400"/>
          </a:xfrm>
          <a:custGeom>
            <a:avLst/>
            <a:gdLst/>
            <a:ahLst/>
            <a:cxnLst/>
            <a:rect l="0" t="0" r="0" b="0"/>
            <a:pathLst>
              <a:path w="16609" h="40">
                <a:moveTo>
                  <a:pt x="20" y="20"/>
                </a:moveTo>
                <a:lnTo>
                  <a:pt x="16589" y="20"/>
                </a:lnTo>
                <a:lnTo>
                  <a:pt x="20" y="20"/>
                </a:lnTo>
              </a:path>
            </a:pathLst>
          </a:custGeom>
          <a:noFill/>
          <a:ln w="25400" cap="sq">
            <a:solidFill>
              <a:srgbClr val="782367">
                <a:alpha val="100000"/>
              </a:srgbClr>
            </a:solidFill>
            <a:prstDash val="solid"/>
            <a:bevel/>
          </a:ln>
        </p:spPr>
        <p:txBody>
          <a:bodyPr rtlCol="0"/>
          <a:lstStyle/>
          <a:p>
            <a:pPr algn="ctr"/>
            <a:endParaRPr lang="zh-CN" altLang="en-US"/>
          </a:p>
        </p:txBody>
      </p:sp>
      <p:sp>
        <p:nvSpPr>
          <p:cNvPr id="4" name="矩形 3"/>
          <p:cNvSpPr/>
          <p:nvPr>
            <p:custDataLst>
              <p:tags r:id="rId1"/>
            </p:custDataLst>
          </p:nvPr>
        </p:nvSpPr>
        <p:spPr>
          <a:xfrm>
            <a:off x="9396095" y="1847215"/>
            <a:ext cx="1981835" cy="1276985"/>
          </a:xfrm>
          <a:prstGeom prst="rect">
            <a:avLst/>
          </a:prstGeom>
          <a:solidFill>
            <a:srgbClr val="CCEC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74930" algn="l" rtl="0" eaLnBrk="0">
              <a:lnSpc>
                <a:spcPct val="91000"/>
              </a:lnSpc>
              <a:spcBef>
                <a:spcPts val="5"/>
              </a:spcBef>
            </a:pPr>
            <a:endParaRPr sz="1900" b="1" kern="0" spc="-10" dirty="0">
              <a:solidFill>
                <a:srgbClr val="1100CC">
                  <a:alpha val="100000"/>
                </a:srgbClr>
              </a:solidFill>
              <a:latin typeface="微软雅黑" panose="020B0503020204020204" charset="-122"/>
              <a:ea typeface="微软雅黑" panose="020B0503020204020204" charset="-122"/>
              <a:cs typeface="微软雅黑" panose="020B0503020204020204" charset="-122"/>
              <a:sym typeface="+mn-ea"/>
            </a:endParaRPr>
          </a:p>
          <a:p>
            <a:pPr marL="74930" indent="0" algn="l" rtl="0" eaLnBrk="0" fontAlgn="auto">
              <a:lnSpc>
                <a:spcPct val="100000"/>
              </a:lnSpc>
              <a:spcBef>
                <a:spcPts val="5"/>
              </a:spcBef>
            </a:pPr>
            <a:r>
              <a:rPr sz="1900" b="1" kern="0" spc="-10" dirty="0">
                <a:solidFill>
                  <a:srgbClr val="1100CC">
                    <a:alpha val="100000"/>
                  </a:srgbClr>
                </a:solidFill>
                <a:latin typeface="微软雅黑" panose="020B0503020204020204" charset="-122"/>
                <a:ea typeface="微软雅黑" panose="020B0503020204020204" charset="-122"/>
                <a:cs typeface="微软雅黑" panose="020B0503020204020204" charset="-122"/>
                <a:sym typeface="+mn-ea"/>
              </a:rPr>
              <a:t>struct 结构体名</a:t>
            </a:r>
            <a:endParaRPr lang="en-US" altLang="en-US" sz="1900" dirty="0">
              <a:solidFill>
                <a:srgbClr val="1100CC"/>
              </a:solidFill>
            </a:endParaRPr>
          </a:p>
          <a:p>
            <a:pPr marL="71120" indent="0" algn="l" rtl="0" eaLnBrk="0" fontAlgn="auto">
              <a:lnSpc>
                <a:spcPct val="100000"/>
              </a:lnSpc>
              <a:spcBef>
                <a:spcPts val="10"/>
              </a:spcBef>
            </a:pPr>
            <a:r>
              <a:rPr sz="1900" b="1" kern="0" spc="40" dirty="0">
                <a:solidFill>
                  <a:srgbClr val="1100CC">
                    <a:alpha val="100000"/>
                  </a:srgbClr>
                </a:solidFill>
                <a:latin typeface="微软雅黑" panose="020B0503020204020204" charset="-122"/>
                <a:ea typeface="微软雅黑" panose="020B0503020204020204" charset="-122"/>
                <a:cs typeface="微软雅黑" panose="020B0503020204020204" charset="-122"/>
                <a:sym typeface="+mn-ea"/>
              </a:rPr>
              <a:t>{</a:t>
            </a:r>
            <a:r>
              <a:rPr sz="1900" b="1" kern="0" spc="30" dirty="0">
                <a:solidFill>
                  <a:srgbClr val="1100CC">
                    <a:alpha val="100000"/>
                  </a:srgbClr>
                </a:solidFill>
                <a:latin typeface="微软雅黑" panose="020B0503020204020204" charset="-122"/>
                <a:ea typeface="微软雅黑" panose="020B0503020204020204" charset="-122"/>
                <a:cs typeface="微软雅黑" panose="020B0503020204020204" charset="-122"/>
                <a:sym typeface="+mn-ea"/>
              </a:rPr>
              <a:t>      </a:t>
            </a:r>
            <a:r>
              <a:rPr sz="1900" b="1" kern="0" spc="40" dirty="0">
                <a:solidFill>
                  <a:srgbClr val="1100CC">
                    <a:alpha val="100000"/>
                  </a:srgbClr>
                </a:solidFill>
                <a:latin typeface="微软雅黑" panose="020B0503020204020204" charset="-122"/>
                <a:ea typeface="微软雅黑" panose="020B0503020204020204" charset="-122"/>
                <a:cs typeface="微软雅黑" panose="020B0503020204020204" charset="-122"/>
                <a:sym typeface="+mn-ea"/>
              </a:rPr>
              <a:t>成员表列</a:t>
            </a:r>
            <a:r>
              <a:rPr sz="1900" b="1" kern="0" dirty="0">
                <a:solidFill>
                  <a:srgbClr val="1100CC">
                    <a:alpha val="100000"/>
                  </a:srgbClr>
                </a:solidFill>
                <a:latin typeface="微软雅黑" panose="020B0503020204020204" charset="-122"/>
                <a:ea typeface="微软雅黑" panose="020B0503020204020204" charset="-122"/>
                <a:cs typeface="微软雅黑" panose="020B0503020204020204" charset="-122"/>
                <a:sym typeface="+mn-ea"/>
              </a:rPr>
              <a:t>      </a:t>
            </a:r>
            <a:r>
              <a:rPr sz="1900" b="1" kern="0" spc="50" dirty="0">
                <a:solidFill>
                  <a:srgbClr val="1100CC">
                    <a:alpha val="100000"/>
                  </a:srgbClr>
                </a:solidFill>
                <a:latin typeface="微软雅黑" panose="020B0503020204020204" charset="-122"/>
                <a:ea typeface="微软雅黑" panose="020B0503020204020204" charset="-122"/>
                <a:cs typeface="微软雅黑" panose="020B0503020204020204" charset="-122"/>
                <a:sym typeface="+mn-ea"/>
              </a:rPr>
              <a:t>}变量名表列;</a:t>
            </a:r>
            <a:endParaRPr lang="en-US" altLang="en-US" sz="1900" dirty="0">
              <a:solidFill>
                <a:srgbClr val="1100CC"/>
              </a:solidFill>
            </a:endParaRPr>
          </a:p>
          <a:p>
            <a:pPr algn="ctr" rtl="0" eaLnBrk="0">
              <a:lnSpc>
                <a:spcPct val="104000"/>
              </a:lnSpc>
            </a:pPr>
            <a:endParaRPr lang="en-US" altLang="en-US" sz="1900" b="1" kern="0" spc="-50" dirty="0">
              <a:solidFill>
                <a:srgbClr val="1100CC"/>
              </a:solidFill>
              <a:latin typeface="微软雅黑" panose="020B0503020204020204" charset="-122"/>
              <a:ea typeface="微软雅黑" panose="020B0503020204020204" charset="-122"/>
              <a:cs typeface="微软雅黑" panose="020B0503020204020204" charset="-122"/>
              <a:sym typeface="+mn-ea"/>
            </a:endParaRPr>
          </a:p>
        </p:txBody>
      </p:sp>
      <p:sp>
        <p:nvSpPr>
          <p:cNvPr id="2" name="矩形 1"/>
          <p:cNvSpPr/>
          <p:nvPr>
            <p:custDataLst>
              <p:tags r:id="rId2"/>
            </p:custDataLst>
          </p:nvPr>
        </p:nvSpPr>
        <p:spPr>
          <a:xfrm>
            <a:off x="1037590" y="1823085"/>
            <a:ext cx="5158105" cy="2514600"/>
          </a:xfrm>
          <a:prstGeom prst="rect">
            <a:avLst/>
          </a:prstGeom>
          <a:solidFill>
            <a:srgbClr val="CCECFF"/>
          </a:solidFill>
          <a:ln>
            <a:solidFill>
              <a:srgbClr val="CCECFF"/>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112395" algn="l" rtl="0" eaLnBrk="0">
              <a:lnSpc>
                <a:spcPts val="2015"/>
              </a:lnSpc>
              <a:spcBef>
                <a:spcPts val="0"/>
              </a:spcBef>
            </a:pPr>
            <a:endParaRPr sz="16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endParaRPr>
          </a:p>
          <a:p>
            <a:pPr marL="112395" algn="l" rtl="0" eaLnBrk="0">
              <a:lnSpc>
                <a:spcPts val="2015"/>
              </a:lnSpc>
              <a:spcBef>
                <a:spcPts val="0"/>
              </a:spcBef>
            </a:pPr>
            <a:r>
              <a:rPr sz="16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struct Student</a:t>
            </a:r>
            <a:endParaRPr lang="en-US" altLang="en-US" sz="1600" dirty="0"/>
          </a:p>
          <a:p>
            <a:pPr marL="109855" algn="l" rtl="0" eaLnBrk="0">
              <a:lnSpc>
                <a:spcPct val="93000"/>
              </a:lnSpc>
              <a:spcBef>
                <a:spcPts val="285"/>
              </a:spcBef>
            </a:pPr>
            <a:r>
              <a:rPr sz="1600"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r>
              <a:rPr sz="16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600"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int num;</a:t>
            </a:r>
            <a:r>
              <a:rPr sz="16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600" kern="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600" kern="0" spc="-7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//学号为整型</a:t>
            </a:r>
            <a:endParaRPr lang="en-US" altLang="en-US" sz="1600" dirty="0"/>
          </a:p>
          <a:p>
            <a:pPr marL="481330" algn="l" rtl="0" eaLnBrk="0">
              <a:lnSpc>
                <a:spcPct val="93000"/>
              </a:lnSpc>
              <a:spcBef>
                <a:spcPts val="520"/>
              </a:spcBef>
            </a:pPr>
            <a:r>
              <a:rPr sz="16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char name[20];         </a:t>
            </a:r>
            <a:r>
              <a:rPr sz="1600" kern="0" spc="-5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//姓名为字符</a:t>
            </a:r>
            <a:r>
              <a:rPr sz="1600" kern="0" spc="-6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串</a:t>
            </a:r>
            <a:endParaRPr lang="en-US" altLang="en-US" sz="1600" dirty="0"/>
          </a:p>
          <a:p>
            <a:pPr marL="481330" algn="l" rtl="0" eaLnBrk="0">
              <a:lnSpc>
                <a:spcPct val="96000"/>
              </a:lnSpc>
              <a:spcBef>
                <a:spcPts val="510"/>
              </a:spcBef>
            </a:pPr>
            <a:r>
              <a:rPr sz="16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char sex;</a:t>
            </a:r>
            <a:r>
              <a:rPr sz="16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600" kern="0" spc="-5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a:t>
            </a:r>
            <a:r>
              <a:rPr sz="1600" kern="0" spc="-6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/性别为字符型</a:t>
            </a:r>
            <a:endParaRPr lang="en-US" altLang="en-US" sz="1600" dirty="0"/>
          </a:p>
          <a:p>
            <a:pPr marL="487680" algn="l" rtl="0" eaLnBrk="0">
              <a:lnSpc>
                <a:spcPct val="86000"/>
              </a:lnSpc>
              <a:spcBef>
                <a:spcPts val="475"/>
              </a:spcBef>
            </a:pPr>
            <a:r>
              <a:rPr sz="16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int age;</a:t>
            </a:r>
            <a:r>
              <a:rPr sz="16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600" kern="0" spc="-6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//年龄为整</a:t>
            </a:r>
            <a:r>
              <a:rPr sz="1600" kern="0" spc="-7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型</a:t>
            </a:r>
            <a:endParaRPr lang="en-US" altLang="en-US" sz="1600" dirty="0"/>
          </a:p>
          <a:p>
            <a:pPr marL="476250" algn="l" rtl="0" eaLnBrk="0">
              <a:lnSpc>
                <a:spcPct val="96000"/>
              </a:lnSpc>
              <a:spcBef>
                <a:spcPts val="640"/>
              </a:spcBef>
            </a:pPr>
            <a:r>
              <a:rPr sz="16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float score;               </a:t>
            </a:r>
            <a:r>
              <a:rPr sz="1600" kern="0" spc="-4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//成</a:t>
            </a:r>
            <a:r>
              <a:rPr sz="1600" kern="0" spc="-5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绩为实型</a:t>
            </a:r>
            <a:endParaRPr lang="en-US" altLang="en-US" sz="1600" dirty="0"/>
          </a:p>
          <a:p>
            <a:pPr marL="481330" algn="l" rtl="0" eaLnBrk="0">
              <a:lnSpc>
                <a:spcPct val="93000"/>
              </a:lnSpc>
              <a:spcBef>
                <a:spcPts val="470"/>
              </a:spcBef>
            </a:pPr>
            <a:r>
              <a:rPr sz="16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char addr[30];</a:t>
            </a:r>
            <a:r>
              <a:rPr sz="1600" kern="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600" kern="0" spc="-6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//地址为字符串</a:t>
            </a:r>
            <a:endParaRPr lang="en-US" altLang="en-US" sz="1600" dirty="0"/>
          </a:p>
          <a:p>
            <a:pPr algn="l" rtl="0" eaLnBrk="0">
              <a:lnSpc>
                <a:spcPct val="108000"/>
              </a:lnSpc>
            </a:pPr>
            <a:endParaRPr lang="en-US" altLang="en-US" sz="1600" dirty="0"/>
          </a:p>
          <a:p>
            <a:pPr marL="109855" algn="l" rtl="0" eaLnBrk="0">
              <a:lnSpc>
                <a:spcPct val="93000"/>
              </a:lnSpc>
            </a:pPr>
            <a:r>
              <a:rPr sz="16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r>
              <a:rPr sz="16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kern="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kern="0" spc="-2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//注意最后有一个分号</a:t>
            </a:r>
            <a:endParaRPr lang="en-US" altLang="en-US" dirty="0"/>
          </a:p>
          <a:p>
            <a:pPr algn="ctr"/>
            <a:endParaRPr lang="zh-CN" altLang="en-US"/>
          </a:p>
        </p:txBody>
      </p:sp>
      <p:sp>
        <p:nvSpPr>
          <p:cNvPr id="3" name="文本框 2"/>
          <p:cNvSpPr txBox="1"/>
          <p:nvPr/>
        </p:nvSpPr>
        <p:spPr>
          <a:xfrm>
            <a:off x="1029970" y="4568825"/>
            <a:ext cx="5166360" cy="818515"/>
          </a:xfrm>
          <a:prstGeom prst="rect">
            <a:avLst/>
          </a:prstGeom>
          <a:noFill/>
        </p:spPr>
        <p:txBody>
          <a:bodyPr wrap="square" rtlCol="0" anchor="t">
            <a:spAutoFit/>
          </a:bodyPr>
          <a:lstStyle/>
          <a:p>
            <a:pPr marL="105410" algn="l" rtl="0" eaLnBrk="0">
              <a:lnSpc>
                <a:spcPct val="93000"/>
              </a:lnSpc>
              <a:spcBef>
                <a:spcPts val="0"/>
              </a:spcBef>
            </a:pPr>
            <a:r>
              <a:rPr sz="1500" u="sng"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struct Student</a:t>
            </a:r>
            <a:r>
              <a:rPr sz="15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500" u="sng"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st</a:t>
            </a:r>
            <a:r>
              <a:rPr sz="1500" u="sng"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udent1</a:t>
            </a:r>
            <a:r>
              <a:rPr sz="15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500" u="sng"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student2</a:t>
            </a:r>
            <a:r>
              <a:rPr sz="15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endParaRPr lang="en-US" altLang="en-US" sz="1500" dirty="0"/>
          </a:p>
          <a:p>
            <a:pPr marL="704850" algn="l" rtl="0" eaLnBrk="0">
              <a:lnSpc>
                <a:spcPts val="1920"/>
              </a:lnSpc>
            </a:pPr>
            <a:r>
              <a:rPr sz="12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r>
              <a:rPr sz="12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2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r>
              <a:rPr sz="1200" kern="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2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endParaRPr lang="en-US" altLang="en-US" sz="1200" dirty="0"/>
          </a:p>
          <a:p>
            <a:pPr marL="112395" algn="l" rtl="0" eaLnBrk="0">
              <a:lnSpc>
                <a:spcPct val="96000"/>
              </a:lnSpc>
              <a:spcBef>
                <a:spcPts val="240"/>
              </a:spcBef>
            </a:pPr>
            <a:r>
              <a:rPr sz="1600" kern="0" spc="-10" dirty="0">
                <a:solidFill>
                  <a:srgbClr val="782367">
                    <a:alpha val="100000"/>
                  </a:srgbClr>
                </a:solidFill>
                <a:latin typeface="微软雅黑" panose="020B0503020204020204" charset="-122"/>
                <a:ea typeface="微软雅黑" panose="020B0503020204020204" charset="-122"/>
                <a:cs typeface="微软雅黑" panose="020B0503020204020204" charset="-122"/>
                <a:sym typeface="+mn-ea"/>
              </a:rPr>
              <a:t>结构体类型名</a:t>
            </a:r>
            <a:r>
              <a:rPr sz="1600" kern="0" spc="120" dirty="0">
                <a:solidFill>
                  <a:srgbClr val="E84C22">
                    <a:alpha val="100000"/>
                  </a:srgbClr>
                </a:solidFill>
                <a:latin typeface="微软雅黑" panose="020B0503020204020204" charset="-122"/>
                <a:ea typeface="微软雅黑" panose="020B0503020204020204" charset="-122"/>
                <a:cs typeface="微软雅黑" panose="020B0503020204020204" charset="-122"/>
                <a:sym typeface="+mn-ea"/>
              </a:rPr>
              <a:t>   </a:t>
            </a:r>
            <a:r>
              <a:rPr sz="1600" kern="0" spc="120" dirty="0">
                <a:solidFill>
                  <a:srgbClr val="782367">
                    <a:alpha val="100000"/>
                  </a:srgbClr>
                </a:solidFill>
                <a:latin typeface="微软雅黑" panose="020B0503020204020204" charset="-122"/>
                <a:ea typeface="微软雅黑" panose="020B0503020204020204" charset="-122"/>
                <a:cs typeface="微软雅黑" panose="020B0503020204020204" charset="-122"/>
                <a:sym typeface="+mn-ea"/>
              </a:rPr>
              <a:t> </a:t>
            </a:r>
            <a:r>
              <a:rPr sz="1600" kern="0" spc="-10" dirty="0">
                <a:solidFill>
                  <a:srgbClr val="782367">
                    <a:alpha val="100000"/>
                  </a:srgbClr>
                </a:solidFill>
                <a:latin typeface="微软雅黑" panose="020B0503020204020204" charset="-122"/>
                <a:ea typeface="微软雅黑" panose="020B0503020204020204" charset="-122"/>
                <a:cs typeface="微软雅黑" panose="020B0503020204020204" charset="-122"/>
                <a:sym typeface="+mn-ea"/>
              </a:rPr>
              <a:t>结构体变量名</a:t>
            </a:r>
            <a:endParaRPr lang="zh-CN" altLang="en-US" sz="1600" kern="0" spc="-10" dirty="0">
              <a:solidFill>
                <a:srgbClr val="782367">
                  <a:alpha val="100000"/>
                </a:srgbClr>
              </a:solidFill>
              <a:latin typeface="微软雅黑" panose="020B0503020204020204" charset="-122"/>
              <a:ea typeface="微软雅黑" panose="020B0503020204020204" charset="-122"/>
              <a:cs typeface="微软雅黑" panose="020B0503020204020204" charset="-122"/>
              <a:sym typeface="+mn-ea"/>
            </a:endParaRPr>
          </a:p>
        </p:txBody>
      </p:sp>
      <p:graphicFrame>
        <p:nvGraphicFramePr>
          <p:cNvPr id="7" name="表格 6"/>
          <p:cNvGraphicFramePr/>
          <p:nvPr>
            <p:custDataLst>
              <p:tags r:id="rId3"/>
            </p:custDataLst>
          </p:nvPr>
        </p:nvGraphicFramePr>
        <p:xfrm>
          <a:off x="955675" y="5480050"/>
          <a:ext cx="5535930" cy="989584"/>
        </p:xfrm>
        <a:graphic>
          <a:graphicData uri="http://schemas.openxmlformats.org/drawingml/2006/table">
            <a:tbl>
              <a:tblPr firstRow="1" bandRow="1">
                <a:tableStyleId>{5C22544A-7EE6-4342-B048-85BDC9FD1C3A}</a:tableStyleId>
              </a:tblPr>
              <a:tblGrid>
                <a:gridCol w="1063625">
                  <a:extLst>
                    <a:ext uri="{9D8B030D-6E8A-4147-A177-3AD203B41FA5}">
                      <a16:colId xmlns:a16="http://schemas.microsoft.com/office/drawing/2014/main" val="20000"/>
                    </a:ext>
                  </a:extLst>
                </a:gridCol>
                <a:gridCol w="734060">
                  <a:extLst>
                    <a:ext uri="{9D8B030D-6E8A-4147-A177-3AD203B41FA5}">
                      <a16:colId xmlns:a16="http://schemas.microsoft.com/office/drawing/2014/main" val="20001"/>
                    </a:ext>
                  </a:extLst>
                </a:gridCol>
                <a:gridCol w="1040130">
                  <a:extLst>
                    <a:ext uri="{9D8B030D-6E8A-4147-A177-3AD203B41FA5}">
                      <a16:colId xmlns:a16="http://schemas.microsoft.com/office/drawing/2014/main" val="20002"/>
                    </a:ext>
                  </a:extLst>
                </a:gridCol>
                <a:gridCol w="421005">
                  <a:extLst>
                    <a:ext uri="{9D8B030D-6E8A-4147-A177-3AD203B41FA5}">
                      <a16:colId xmlns:a16="http://schemas.microsoft.com/office/drawing/2014/main" val="20003"/>
                    </a:ext>
                  </a:extLst>
                </a:gridCol>
                <a:gridCol w="445770">
                  <a:extLst>
                    <a:ext uri="{9D8B030D-6E8A-4147-A177-3AD203B41FA5}">
                      <a16:colId xmlns:a16="http://schemas.microsoft.com/office/drawing/2014/main" val="20004"/>
                    </a:ext>
                  </a:extLst>
                </a:gridCol>
                <a:gridCol w="608330">
                  <a:extLst>
                    <a:ext uri="{9D8B030D-6E8A-4147-A177-3AD203B41FA5}">
                      <a16:colId xmlns:a16="http://schemas.microsoft.com/office/drawing/2014/main" val="20005"/>
                    </a:ext>
                  </a:extLst>
                </a:gridCol>
                <a:gridCol w="1223010">
                  <a:extLst>
                    <a:ext uri="{9D8B030D-6E8A-4147-A177-3AD203B41FA5}">
                      <a16:colId xmlns:a16="http://schemas.microsoft.com/office/drawing/2014/main" val="20006"/>
                    </a:ext>
                  </a:extLst>
                </a:gridCol>
              </a:tblGrid>
              <a:tr h="511810">
                <a:tc>
                  <a:txBody>
                    <a:bodyPr/>
                    <a:lstStyle/>
                    <a:p>
                      <a:pPr algn="l" rtl="0" eaLnBrk="0">
                        <a:lnSpc>
                          <a:spcPct val="114000"/>
                        </a:lnSpc>
                      </a:pPr>
                      <a:endParaRPr lang="en-US" altLang="en-US" sz="1500" b="0" dirty="0"/>
                    </a:p>
                    <a:p>
                      <a:pPr marL="97155" algn="l" rtl="0" eaLnBrk="0">
                        <a:lnSpc>
                          <a:spcPct val="83000"/>
                        </a:lnSpc>
                        <a:spcBef>
                          <a:spcPts val="0"/>
                        </a:spcBef>
                      </a:pPr>
                      <a:r>
                        <a:rPr sz="1500" b="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sutdent1:</a:t>
                      </a:r>
                      <a:endParaRPr lang="en-US" altLang="en-US" sz="1500" b="0" dirty="0"/>
                    </a:p>
                  </a:txBody>
                  <a:tcPr marL="0" marR="0" marT="0" marB="0">
                    <a:solidFill>
                      <a:srgbClr val="FBE9E8"/>
                    </a:solidFill>
                  </a:tcPr>
                </a:tc>
                <a:tc>
                  <a:txBody>
                    <a:bodyPr/>
                    <a:lstStyle/>
                    <a:p>
                      <a:pPr algn="l" rtl="0" eaLnBrk="0">
                        <a:lnSpc>
                          <a:spcPct val="101000"/>
                        </a:lnSpc>
                      </a:pPr>
                      <a:endParaRPr lang="en-US" altLang="en-US" sz="1500" b="0" dirty="0"/>
                    </a:p>
                    <a:p>
                      <a:pPr algn="l" rtl="0" eaLnBrk="0">
                        <a:lnSpc>
                          <a:spcPct val="7000"/>
                        </a:lnSpc>
                      </a:pPr>
                      <a:endParaRPr lang="en-US" altLang="en-US" sz="1500" b="0" dirty="0"/>
                    </a:p>
                    <a:p>
                      <a:pPr marL="53340" algn="l" rtl="0" eaLnBrk="0">
                        <a:lnSpc>
                          <a:spcPct val="82000"/>
                        </a:lnSpc>
                      </a:pPr>
                      <a:r>
                        <a:rPr sz="1500" b="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10001</a:t>
                      </a:r>
                      <a:endParaRPr lang="en-US" altLang="en-US" sz="1500" b="0" dirty="0"/>
                    </a:p>
                  </a:txBody>
                  <a:tcPr marL="0" marR="0" marT="0" marB="0">
                    <a:solidFill>
                      <a:srgbClr val="FBE9E8"/>
                    </a:solidFill>
                  </a:tcPr>
                </a:tc>
                <a:tc>
                  <a:txBody>
                    <a:bodyPr/>
                    <a:lstStyle/>
                    <a:p>
                      <a:pPr algn="l" rtl="0" eaLnBrk="0">
                        <a:lnSpc>
                          <a:spcPct val="102000"/>
                        </a:lnSpc>
                      </a:pPr>
                      <a:endParaRPr lang="en-US" altLang="en-US" sz="1500" b="0" dirty="0"/>
                    </a:p>
                    <a:p>
                      <a:pPr marL="53975" algn="l" rtl="0" eaLnBrk="0">
                        <a:lnSpc>
                          <a:spcPct val="86000"/>
                        </a:lnSpc>
                      </a:pPr>
                      <a:r>
                        <a:rPr sz="1500" b="0"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rPr>
                        <a:t>Zhang Xin</a:t>
                      </a:r>
                      <a:endParaRPr lang="en-US" altLang="en-US" sz="1500" b="0" dirty="0"/>
                    </a:p>
                  </a:txBody>
                  <a:tcPr marL="0" marR="0" marT="0" marB="0">
                    <a:solidFill>
                      <a:srgbClr val="FBE9E8"/>
                    </a:solidFill>
                  </a:tcPr>
                </a:tc>
                <a:tc>
                  <a:txBody>
                    <a:bodyPr/>
                    <a:lstStyle/>
                    <a:p>
                      <a:pPr algn="l" rtl="0" eaLnBrk="0">
                        <a:lnSpc>
                          <a:spcPct val="102000"/>
                        </a:lnSpc>
                      </a:pPr>
                      <a:endParaRPr lang="en-US" altLang="en-US" sz="1500" b="0" dirty="0"/>
                    </a:p>
                    <a:p>
                      <a:pPr marL="60325" algn="l" rtl="0" eaLnBrk="0">
                        <a:lnSpc>
                          <a:spcPct val="78000"/>
                        </a:lnSpc>
                        <a:spcBef>
                          <a:spcPts val="5"/>
                        </a:spcBef>
                      </a:pPr>
                      <a:r>
                        <a:rPr sz="1500" b="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M</a:t>
                      </a:r>
                      <a:endParaRPr lang="en-US" altLang="en-US" sz="1500" b="0" dirty="0"/>
                    </a:p>
                  </a:txBody>
                  <a:tcPr marL="0" marR="0" marT="0" marB="0">
                    <a:solidFill>
                      <a:srgbClr val="FBE9E8"/>
                    </a:solidFill>
                  </a:tcPr>
                </a:tc>
                <a:tc>
                  <a:txBody>
                    <a:bodyPr/>
                    <a:lstStyle/>
                    <a:p>
                      <a:pPr algn="l" rtl="0" eaLnBrk="0">
                        <a:lnSpc>
                          <a:spcPct val="101000"/>
                        </a:lnSpc>
                      </a:pPr>
                      <a:endParaRPr lang="en-US" altLang="en-US" sz="1500" b="0" dirty="0"/>
                    </a:p>
                    <a:p>
                      <a:pPr algn="l" rtl="0" eaLnBrk="0">
                        <a:lnSpc>
                          <a:spcPct val="8000"/>
                        </a:lnSpc>
                      </a:pPr>
                      <a:endParaRPr lang="en-US" altLang="en-US" sz="1500" b="0" dirty="0"/>
                    </a:p>
                    <a:p>
                      <a:pPr marL="64770" algn="l" rtl="0" eaLnBrk="0">
                        <a:lnSpc>
                          <a:spcPct val="78000"/>
                        </a:lnSpc>
                      </a:pPr>
                      <a:r>
                        <a:rPr sz="1500" b="0"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rPr>
                        <a:t>19</a:t>
                      </a:r>
                      <a:endParaRPr lang="en-US" altLang="en-US" sz="1500" b="0" dirty="0"/>
                    </a:p>
                  </a:txBody>
                  <a:tcPr marL="0" marR="0" marT="0" marB="0">
                    <a:solidFill>
                      <a:srgbClr val="FBE9E8"/>
                    </a:solidFill>
                  </a:tcPr>
                </a:tc>
                <a:tc>
                  <a:txBody>
                    <a:bodyPr/>
                    <a:lstStyle/>
                    <a:p>
                      <a:pPr algn="l" rtl="0" eaLnBrk="0">
                        <a:lnSpc>
                          <a:spcPct val="101000"/>
                        </a:lnSpc>
                      </a:pPr>
                      <a:endParaRPr lang="en-US" altLang="en-US" sz="1500" b="0" dirty="0"/>
                    </a:p>
                    <a:p>
                      <a:pPr algn="l" rtl="0" eaLnBrk="0">
                        <a:lnSpc>
                          <a:spcPct val="6000"/>
                        </a:lnSpc>
                      </a:pPr>
                      <a:endParaRPr lang="en-US" altLang="en-US" sz="1500" b="0" dirty="0"/>
                    </a:p>
                    <a:p>
                      <a:pPr marL="59690" algn="l" rtl="0" eaLnBrk="0">
                        <a:lnSpc>
                          <a:spcPct val="82000"/>
                        </a:lnSpc>
                      </a:pPr>
                      <a:r>
                        <a:rPr sz="1500" b="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90.5</a:t>
                      </a:r>
                      <a:endParaRPr lang="en-US" altLang="en-US" sz="1500" b="0" dirty="0"/>
                    </a:p>
                  </a:txBody>
                  <a:tcPr marL="0" marR="0" marT="0" marB="0">
                    <a:solidFill>
                      <a:srgbClr val="FBE9E8"/>
                    </a:solidFill>
                  </a:tcPr>
                </a:tc>
                <a:tc>
                  <a:txBody>
                    <a:bodyPr/>
                    <a:lstStyle/>
                    <a:p>
                      <a:pPr algn="l" rtl="0" eaLnBrk="0">
                        <a:lnSpc>
                          <a:spcPct val="101000"/>
                        </a:lnSpc>
                      </a:pPr>
                      <a:endParaRPr lang="en-US" altLang="en-US" sz="1500" b="0" dirty="0"/>
                    </a:p>
                    <a:p>
                      <a:pPr marL="72390" algn="l" rtl="0" eaLnBrk="0">
                        <a:lnSpc>
                          <a:spcPct val="92000"/>
                        </a:lnSpc>
                        <a:spcBef>
                          <a:spcPts val="5"/>
                        </a:spcBef>
                      </a:pPr>
                      <a:r>
                        <a:rPr sz="1500" b="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Shanghai</a:t>
                      </a:r>
                      <a:endParaRPr lang="en-US" altLang="en-US" sz="1500" b="0" dirty="0"/>
                    </a:p>
                  </a:txBody>
                  <a:tcPr marL="0" marR="0" marT="0" marB="0">
                    <a:solidFill>
                      <a:srgbClr val="FBE9E8"/>
                    </a:solidFill>
                  </a:tcPr>
                </a:tc>
                <a:extLst>
                  <a:ext uri="{0D108BD9-81ED-4DB2-BD59-A6C34878D82A}">
                    <a16:rowId xmlns:a16="http://schemas.microsoft.com/office/drawing/2014/main" val="10000"/>
                  </a:ext>
                </a:extLst>
              </a:tr>
              <a:tr h="368300">
                <a:tc>
                  <a:txBody>
                    <a:bodyPr/>
                    <a:lstStyle/>
                    <a:p>
                      <a:pPr algn="l" rtl="0" eaLnBrk="0">
                        <a:lnSpc>
                          <a:spcPct val="111000"/>
                        </a:lnSpc>
                      </a:pPr>
                      <a:endParaRPr lang="en-US" altLang="en-US" sz="1500" dirty="0"/>
                    </a:p>
                    <a:p>
                      <a:pPr marL="97155" algn="l" rtl="0" eaLnBrk="0">
                        <a:lnSpc>
                          <a:spcPct val="83000"/>
                        </a:lnSpc>
                        <a:spcBef>
                          <a:spcPts val="5"/>
                        </a:spcBef>
                      </a:pPr>
                      <a:r>
                        <a:rPr sz="15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student2:</a:t>
                      </a:r>
                      <a:endParaRPr lang="en-US" altLang="en-US" sz="1500" dirty="0"/>
                    </a:p>
                  </a:txBody>
                  <a:tcPr marL="0" marR="0" marT="0" marB="0">
                    <a:solidFill>
                      <a:srgbClr val="FBE9E8"/>
                    </a:solidFill>
                  </a:tcPr>
                </a:tc>
                <a:tc>
                  <a:txBody>
                    <a:bodyPr/>
                    <a:lstStyle/>
                    <a:p>
                      <a:pPr algn="l" rtl="0" eaLnBrk="0">
                        <a:lnSpc>
                          <a:spcPct val="113000"/>
                        </a:lnSpc>
                      </a:pPr>
                      <a:endParaRPr lang="en-US" altLang="en-US" sz="1500" dirty="0"/>
                    </a:p>
                    <a:p>
                      <a:pPr marL="53340" algn="l" rtl="0" eaLnBrk="0">
                        <a:lnSpc>
                          <a:spcPct val="82000"/>
                        </a:lnSpc>
                        <a:spcBef>
                          <a:spcPts val="5"/>
                        </a:spcBef>
                      </a:pPr>
                      <a:r>
                        <a:rPr sz="15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10002</a:t>
                      </a:r>
                      <a:endParaRPr lang="en-US" altLang="en-US" sz="1500" dirty="0"/>
                    </a:p>
                  </a:txBody>
                  <a:tcPr marL="0" marR="0" marT="0" marB="0">
                    <a:solidFill>
                      <a:srgbClr val="FBE9E8"/>
                    </a:solidFill>
                  </a:tcPr>
                </a:tc>
                <a:tc>
                  <a:txBody>
                    <a:bodyPr/>
                    <a:lstStyle/>
                    <a:p>
                      <a:pPr algn="l" rtl="0" eaLnBrk="0">
                        <a:lnSpc>
                          <a:spcPct val="111000"/>
                        </a:lnSpc>
                      </a:pPr>
                      <a:endParaRPr lang="en-US" altLang="en-US" sz="1500" dirty="0"/>
                    </a:p>
                    <a:p>
                      <a:pPr marL="50800" algn="l" rtl="0" eaLnBrk="0">
                        <a:lnSpc>
                          <a:spcPct val="79000"/>
                        </a:lnSpc>
                        <a:spcBef>
                          <a:spcPts val="5"/>
                        </a:spcBef>
                      </a:pPr>
                      <a:r>
                        <a:rPr sz="15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rPr>
                        <a:t>Wang</a:t>
                      </a:r>
                      <a:r>
                        <a:rPr sz="1500" kern="0" spc="16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5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rPr>
                        <a:t>Li</a:t>
                      </a:r>
                      <a:endParaRPr lang="en-US" altLang="en-US" sz="1500" dirty="0"/>
                    </a:p>
                  </a:txBody>
                  <a:tcPr marL="0" marR="0" marT="0" marB="0">
                    <a:solidFill>
                      <a:srgbClr val="FBE9E8"/>
                    </a:solidFill>
                  </a:tcPr>
                </a:tc>
                <a:tc>
                  <a:txBody>
                    <a:bodyPr/>
                    <a:lstStyle/>
                    <a:p>
                      <a:pPr algn="l" rtl="0" eaLnBrk="0">
                        <a:lnSpc>
                          <a:spcPct val="114000"/>
                        </a:lnSpc>
                      </a:pPr>
                      <a:endParaRPr lang="en-US" altLang="en-US" sz="1500" dirty="0"/>
                    </a:p>
                    <a:p>
                      <a:pPr marL="60325" algn="l" rtl="0" eaLnBrk="0">
                        <a:lnSpc>
                          <a:spcPct val="78000"/>
                        </a:lnSpc>
                        <a:spcBef>
                          <a:spcPts val="0"/>
                        </a:spcBef>
                      </a:pPr>
                      <a:r>
                        <a:rPr sz="15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F</a:t>
                      </a:r>
                      <a:endParaRPr lang="en-US" altLang="en-US" sz="1500" dirty="0"/>
                    </a:p>
                  </a:txBody>
                  <a:tcPr marL="0" marR="0" marT="0" marB="0">
                    <a:solidFill>
                      <a:srgbClr val="FBE9E8"/>
                    </a:solidFill>
                  </a:tcPr>
                </a:tc>
                <a:tc>
                  <a:txBody>
                    <a:bodyPr/>
                    <a:lstStyle/>
                    <a:p>
                      <a:pPr algn="l" rtl="0" eaLnBrk="0">
                        <a:lnSpc>
                          <a:spcPct val="113000"/>
                        </a:lnSpc>
                      </a:pPr>
                      <a:endParaRPr lang="en-US" altLang="en-US" sz="1500" dirty="0"/>
                    </a:p>
                    <a:p>
                      <a:pPr marL="60325" algn="l" rtl="0" eaLnBrk="0">
                        <a:lnSpc>
                          <a:spcPct val="78000"/>
                        </a:lnSpc>
                        <a:spcBef>
                          <a:spcPts val="5"/>
                        </a:spcBef>
                      </a:pPr>
                      <a:r>
                        <a:rPr sz="15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20</a:t>
                      </a:r>
                      <a:endParaRPr lang="en-US" altLang="en-US" sz="1500" dirty="0"/>
                    </a:p>
                  </a:txBody>
                  <a:tcPr marL="0" marR="0" marT="0" marB="0">
                    <a:solidFill>
                      <a:srgbClr val="FBE9E8"/>
                    </a:solidFill>
                  </a:tcPr>
                </a:tc>
                <a:tc>
                  <a:txBody>
                    <a:bodyPr/>
                    <a:lstStyle/>
                    <a:p>
                      <a:pPr algn="l" rtl="0" eaLnBrk="0">
                        <a:lnSpc>
                          <a:spcPct val="113000"/>
                        </a:lnSpc>
                      </a:pPr>
                      <a:endParaRPr lang="en-US" altLang="en-US" sz="1500" dirty="0"/>
                    </a:p>
                    <a:p>
                      <a:pPr marL="59690" algn="l" rtl="0" eaLnBrk="0">
                        <a:lnSpc>
                          <a:spcPct val="78000"/>
                        </a:lnSpc>
                        <a:spcBef>
                          <a:spcPts val="5"/>
                        </a:spcBef>
                      </a:pPr>
                      <a:r>
                        <a:rPr sz="15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98</a:t>
                      </a:r>
                      <a:endParaRPr lang="en-US" altLang="en-US" sz="1500" dirty="0"/>
                    </a:p>
                  </a:txBody>
                  <a:tcPr marL="0" marR="0" marT="0" marB="0">
                    <a:solidFill>
                      <a:srgbClr val="FBE9E8"/>
                    </a:solidFill>
                  </a:tcPr>
                </a:tc>
                <a:tc>
                  <a:txBody>
                    <a:bodyPr/>
                    <a:lstStyle/>
                    <a:p>
                      <a:pPr algn="l" rtl="0" eaLnBrk="0">
                        <a:lnSpc>
                          <a:spcPct val="117000"/>
                        </a:lnSpc>
                      </a:pPr>
                      <a:endParaRPr lang="en-US" altLang="en-US" sz="1500" dirty="0"/>
                    </a:p>
                    <a:p>
                      <a:pPr marL="83185" algn="l" rtl="0" eaLnBrk="0">
                        <a:lnSpc>
                          <a:spcPct val="92000"/>
                        </a:lnSpc>
                        <a:spcBef>
                          <a:spcPts val="5"/>
                        </a:spcBef>
                      </a:pPr>
                      <a:r>
                        <a:rPr sz="15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Beijing</a:t>
                      </a:r>
                      <a:endParaRPr lang="en-US" altLang="en-US" sz="1500" dirty="0"/>
                    </a:p>
                  </a:txBody>
                  <a:tcPr marL="0" marR="0" marT="0" marB="0">
                    <a:solidFill>
                      <a:srgbClr val="FBE9E8"/>
                    </a:solidFill>
                  </a:tcPr>
                </a:tc>
                <a:extLst>
                  <a:ext uri="{0D108BD9-81ED-4DB2-BD59-A6C34878D82A}">
                    <a16:rowId xmlns:a16="http://schemas.microsoft.com/office/drawing/2014/main" val="10001"/>
                  </a:ext>
                </a:extLst>
              </a:tr>
            </a:tbl>
          </a:graphicData>
        </a:graphic>
      </p:graphicFrame>
      <p:sp>
        <p:nvSpPr>
          <p:cNvPr id="10" name="矩形 9"/>
          <p:cNvSpPr/>
          <p:nvPr>
            <p:custDataLst>
              <p:tags r:id="rId4"/>
            </p:custDataLst>
          </p:nvPr>
        </p:nvSpPr>
        <p:spPr>
          <a:xfrm>
            <a:off x="6656070" y="1847215"/>
            <a:ext cx="2526030" cy="2490470"/>
          </a:xfrm>
          <a:prstGeom prst="rect">
            <a:avLst/>
          </a:prstGeom>
          <a:solidFill>
            <a:srgbClr val="CCECFF"/>
          </a:solidFill>
          <a:ln w="3175">
            <a:solidFill>
              <a:srgbClr val="CCECFF"/>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71755" algn="l" rtl="0" eaLnBrk="0">
              <a:lnSpc>
                <a:spcPct val="93000"/>
              </a:lnSpc>
              <a:spcBef>
                <a:spcPts val="0"/>
              </a:spcBef>
            </a:pPr>
            <a:endParaRPr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endParaRPr>
          </a:p>
          <a:p>
            <a:pPr marL="71755" algn="l" rtl="0" eaLnBrk="0">
              <a:lnSpc>
                <a:spcPct val="93000"/>
              </a:lnSpc>
              <a:spcBef>
                <a:spcPts val="0"/>
              </a:spcBef>
            </a:pPr>
            <a:r>
              <a:rPr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struct Student</a:t>
            </a:r>
            <a:endParaRPr lang="en-US" altLang="en-US" dirty="0"/>
          </a:p>
          <a:p>
            <a:pPr marL="69215" algn="l" rtl="0" eaLnBrk="0">
              <a:lnSpc>
                <a:spcPts val="2305"/>
              </a:lnSpc>
            </a:pPr>
            <a:r>
              <a:rPr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int</a:t>
            </a:r>
            <a:r>
              <a:rPr kern="0" spc="10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n</a:t>
            </a:r>
            <a:r>
              <a:rPr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um;</a:t>
            </a:r>
            <a:endParaRPr lang="en-US" altLang="en-US" dirty="0"/>
          </a:p>
          <a:p>
            <a:pPr marL="441325" algn="l" rtl="0" eaLnBrk="0">
              <a:lnSpc>
                <a:spcPct val="93000"/>
              </a:lnSpc>
              <a:spcBef>
                <a:spcPts val="630"/>
              </a:spcBef>
            </a:pPr>
            <a:r>
              <a:rPr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char</a:t>
            </a:r>
            <a:r>
              <a:rPr kern="0" spc="17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name[20];</a:t>
            </a:r>
            <a:endParaRPr lang="en-US" altLang="en-US" dirty="0"/>
          </a:p>
          <a:p>
            <a:pPr marL="441325" algn="l" rtl="0" eaLnBrk="0">
              <a:lnSpc>
                <a:spcPts val="2305"/>
              </a:lnSpc>
            </a:pPr>
            <a:r>
              <a:rPr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char sex;</a:t>
            </a:r>
            <a:endParaRPr lang="en-US" altLang="en-US" dirty="0"/>
          </a:p>
          <a:p>
            <a:pPr marL="447675" algn="l" rtl="0" eaLnBrk="0">
              <a:lnSpc>
                <a:spcPct val="92000"/>
              </a:lnSpc>
              <a:spcBef>
                <a:spcPts val="630"/>
              </a:spcBef>
            </a:pPr>
            <a:r>
              <a:rPr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int</a:t>
            </a:r>
            <a:r>
              <a:rPr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age;</a:t>
            </a:r>
            <a:endParaRPr lang="en-US" altLang="en-US" dirty="0"/>
          </a:p>
          <a:p>
            <a:pPr marL="435610" algn="l" rtl="0" eaLnBrk="0">
              <a:lnSpc>
                <a:spcPts val="1830"/>
              </a:lnSpc>
              <a:spcBef>
                <a:spcPts val="650"/>
              </a:spcBef>
            </a:pPr>
            <a:r>
              <a:rPr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float score;</a:t>
            </a:r>
            <a:endParaRPr lang="en-US" altLang="en-US" dirty="0"/>
          </a:p>
          <a:p>
            <a:pPr marL="441325" algn="l" rtl="0" eaLnBrk="0">
              <a:lnSpc>
                <a:spcPct val="93000"/>
              </a:lnSpc>
              <a:spcBef>
                <a:spcPts val="480"/>
              </a:spcBef>
            </a:pPr>
            <a:r>
              <a:rPr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char addr</a:t>
            </a:r>
            <a:r>
              <a:rPr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[30];</a:t>
            </a:r>
            <a:endParaRPr lang="en-US" altLang="en-US" dirty="0"/>
          </a:p>
          <a:p>
            <a:pPr marL="69215" algn="l" rtl="0" eaLnBrk="0">
              <a:lnSpc>
                <a:spcPts val="2305"/>
              </a:lnSpc>
            </a:pPr>
            <a:r>
              <a:rPr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}student1, student2;</a:t>
            </a:r>
            <a:endParaRPr lang="en-US" altLang="en-US" dirty="0"/>
          </a:p>
          <a:p>
            <a:pPr algn="ctr"/>
            <a:endParaRPr lang="zh-CN" altLang="en-US"/>
          </a:p>
        </p:txBody>
      </p:sp>
      <p:sp>
        <p:nvSpPr>
          <p:cNvPr id="11" name="文本框 10"/>
          <p:cNvSpPr txBox="1"/>
          <p:nvPr/>
        </p:nvSpPr>
        <p:spPr>
          <a:xfrm>
            <a:off x="6337300" y="1466215"/>
            <a:ext cx="6096000" cy="368300"/>
          </a:xfrm>
          <a:prstGeom prst="rect">
            <a:avLst/>
          </a:prstGeom>
          <a:noFill/>
        </p:spPr>
        <p:txBody>
          <a:bodyPr wrap="square" rtlCol="0" anchor="t">
            <a:spAutoFit/>
          </a:bodyPr>
          <a:lstStyle/>
          <a:p>
            <a:r>
              <a:rPr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2. 在声明类型的同时定义变量</a:t>
            </a:r>
            <a:endParaRPr lang="zh-CN" altLang="en-US"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endParaRPr>
          </a:p>
        </p:txBody>
      </p:sp>
      <p:sp>
        <p:nvSpPr>
          <p:cNvPr id="12" name="文本框 11"/>
          <p:cNvSpPr txBox="1"/>
          <p:nvPr/>
        </p:nvSpPr>
        <p:spPr>
          <a:xfrm>
            <a:off x="6337300" y="4568825"/>
            <a:ext cx="4668520" cy="354330"/>
          </a:xfrm>
          <a:prstGeom prst="rect">
            <a:avLst/>
          </a:prstGeom>
          <a:noFill/>
        </p:spPr>
        <p:txBody>
          <a:bodyPr wrap="square" rtlCol="0" anchor="t">
            <a:spAutoFit/>
          </a:bodyPr>
          <a:lstStyle/>
          <a:p>
            <a:pPr marL="129540" algn="l" rtl="0" eaLnBrk="0">
              <a:lnSpc>
                <a:spcPct val="95000"/>
              </a:lnSpc>
              <a:spcBef>
                <a:spcPts val="5"/>
              </a:spcBef>
            </a:pPr>
            <a:r>
              <a:rPr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3. 不指定类型名而直接定义结</a:t>
            </a:r>
            <a:r>
              <a:rPr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构体类型变量</a:t>
            </a:r>
            <a:endParaRPr lang="zh-CN" altLang="en-US"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endParaRPr>
          </a:p>
        </p:txBody>
      </p:sp>
      <p:sp>
        <p:nvSpPr>
          <p:cNvPr id="13" name="矩形 12"/>
          <p:cNvSpPr/>
          <p:nvPr>
            <p:custDataLst>
              <p:tags r:id="rId5"/>
            </p:custDataLst>
          </p:nvPr>
        </p:nvSpPr>
        <p:spPr>
          <a:xfrm>
            <a:off x="6656070" y="5069205"/>
            <a:ext cx="1992630" cy="1097915"/>
          </a:xfrm>
          <a:prstGeom prst="rect">
            <a:avLst/>
          </a:prstGeom>
          <a:solidFill>
            <a:srgbClr val="CCECFF"/>
          </a:solidFill>
          <a:ln>
            <a:solidFill>
              <a:srgbClr val="CCECFF"/>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103505" algn="l" rtl="0" eaLnBrk="0">
              <a:lnSpc>
                <a:spcPts val="2505"/>
              </a:lnSpc>
              <a:spcBef>
                <a:spcPts val="5"/>
              </a:spcBef>
            </a:pPr>
            <a:endParaRPr sz="1900" b="1" kern="0" spc="-70" dirty="0">
              <a:solidFill>
                <a:srgbClr val="FFFFFF">
                  <a:alpha val="100000"/>
                </a:srgbClr>
              </a:solidFill>
              <a:latin typeface="微软雅黑" panose="020B0503020204020204" charset="-122"/>
              <a:ea typeface="微软雅黑" panose="020B0503020204020204" charset="-122"/>
              <a:cs typeface="微软雅黑" panose="020B0503020204020204" charset="-122"/>
              <a:sym typeface="+mn-ea"/>
            </a:endParaRPr>
          </a:p>
          <a:p>
            <a:pPr marL="103505" algn="l" rtl="0" eaLnBrk="0">
              <a:lnSpc>
                <a:spcPts val="2505"/>
              </a:lnSpc>
              <a:spcBef>
                <a:spcPts val="5"/>
              </a:spcBef>
            </a:pPr>
            <a:r>
              <a:rPr sz="1900" b="1" kern="0" spc="-70" dirty="0">
                <a:solidFill>
                  <a:srgbClr val="1100CC">
                    <a:alpha val="100000"/>
                  </a:srgbClr>
                </a:solidFill>
                <a:latin typeface="微软雅黑" panose="020B0503020204020204" charset="-122"/>
                <a:ea typeface="微软雅黑" panose="020B0503020204020204" charset="-122"/>
                <a:cs typeface="微软雅黑" panose="020B0503020204020204" charset="-122"/>
                <a:sym typeface="+mn-ea"/>
              </a:rPr>
              <a:t>struct</a:t>
            </a:r>
            <a:endParaRPr lang="en-US" altLang="en-US" sz="1900" dirty="0">
              <a:solidFill>
                <a:srgbClr val="1100CC"/>
              </a:solidFill>
            </a:endParaRPr>
          </a:p>
          <a:p>
            <a:pPr marL="99695" algn="l" rtl="0" eaLnBrk="0">
              <a:lnSpc>
                <a:spcPct val="91000"/>
              </a:lnSpc>
              <a:spcBef>
                <a:spcPts val="375"/>
              </a:spcBef>
            </a:pPr>
            <a:r>
              <a:rPr sz="1900" b="1" kern="0" spc="40" dirty="0">
                <a:solidFill>
                  <a:srgbClr val="1100CC">
                    <a:alpha val="100000"/>
                  </a:srgbClr>
                </a:solidFill>
                <a:latin typeface="微软雅黑" panose="020B0503020204020204" charset="-122"/>
                <a:ea typeface="微软雅黑" panose="020B0503020204020204" charset="-122"/>
                <a:cs typeface="微软雅黑" panose="020B0503020204020204" charset="-122"/>
                <a:sym typeface="+mn-ea"/>
              </a:rPr>
              <a:t>{</a:t>
            </a:r>
            <a:r>
              <a:rPr sz="1900" b="1" kern="0" spc="30" dirty="0">
                <a:solidFill>
                  <a:srgbClr val="1100CC">
                    <a:alpha val="100000"/>
                  </a:srgbClr>
                </a:solidFill>
                <a:latin typeface="微软雅黑" panose="020B0503020204020204" charset="-122"/>
                <a:ea typeface="微软雅黑" panose="020B0503020204020204" charset="-122"/>
                <a:cs typeface="微软雅黑" panose="020B0503020204020204" charset="-122"/>
                <a:sym typeface="+mn-ea"/>
              </a:rPr>
              <a:t>      </a:t>
            </a:r>
            <a:r>
              <a:rPr sz="1900" b="1" kern="0" spc="40" dirty="0">
                <a:solidFill>
                  <a:srgbClr val="1100CC">
                    <a:alpha val="100000"/>
                  </a:srgbClr>
                </a:solidFill>
                <a:latin typeface="微软雅黑" panose="020B0503020204020204" charset="-122"/>
                <a:ea typeface="微软雅黑" panose="020B0503020204020204" charset="-122"/>
                <a:cs typeface="微软雅黑" panose="020B0503020204020204" charset="-122"/>
                <a:sym typeface="+mn-ea"/>
              </a:rPr>
              <a:t>成员表列</a:t>
            </a:r>
            <a:endParaRPr lang="en-US" altLang="en-US" sz="1900" dirty="0">
              <a:solidFill>
                <a:srgbClr val="1100CC"/>
              </a:solidFill>
            </a:endParaRPr>
          </a:p>
          <a:p>
            <a:pPr marL="99695" algn="l" rtl="0" eaLnBrk="0">
              <a:lnSpc>
                <a:spcPts val="2880"/>
              </a:lnSpc>
            </a:pPr>
            <a:r>
              <a:rPr sz="1900" b="1" kern="0" spc="50" dirty="0">
                <a:solidFill>
                  <a:srgbClr val="1100CC">
                    <a:alpha val="100000"/>
                  </a:srgbClr>
                </a:solidFill>
                <a:latin typeface="微软雅黑" panose="020B0503020204020204" charset="-122"/>
                <a:ea typeface="微软雅黑" panose="020B0503020204020204" charset="-122"/>
                <a:cs typeface="微软雅黑" panose="020B0503020204020204" charset="-122"/>
                <a:sym typeface="+mn-ea"/>
              </a:rPr>
              <a:t>}变量名表列;</a:t>
            </a:r>
            <a:endParaRPr lang="en-US" altLang="en-US" sz="1900" dirty="0">
              <a:solidFill>
                <a:srgbClr val="1100CC"/>
              </a:solidFill>
            </a:endParaRPr>
          </a:p>
          <a:p>
            <a:pPr algn="ctr"/>
            <a:endParaRPr lang="en-US" altLang="en-US" sz="1900" dirty="0">
              <a:solidFill>
                <a:srgbClr val="1100CC"/>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30" name="textbox 8630"/>
          <p:cNvSpPr/>
          <p:nvPr/>
        </p:nvSpPr>
        <p:spPr>
          <a:xfrm>
            <a:off x="833263" y="1525143"/>
            <a:ext cx="10394951" cy="2338071"/>
          </a:xfrm>
          <a:prstGeom prst="rect">
            <a:avLst/>
          </a:prstGeom>
        </p:spPr>
        <p:txBody>
          <a:bodyPr vert="horz" wrap="square" lIns="0" tIns="0" rIns="0" bIns="0"/>
          <a:lstStyle/>
          <a:p>
            <a:pPr algn="l" rtl="0" eaLnBrk="0">
              <a:lnSpc>
                <a:spcPct val="80000"/>
              </a:lnSpc>
            </a:pPr>
            <a:endParaRPr lang="en-US" altLang="en-US" sz="135" dirty="0"/>
          </a:p>
          <a:p>
            <a:pPr marL="12700" algn="l" rtl="0" eaLnBrk="0">
              <a:lnSpc>
                <a:spcPct val="87000"/>
              </a:lnSpc>
            </a:pPr>
            <a:r>
              <a:rPr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 结构体类型与结构体变量是不同的概念，</a:t>
            </a:r>
            <a:r>
              <a:rPr kern="0" spc="-22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不要混淆</a:t>
            </a:r>
            <a:r>
              <a:rPr kern="0" spc="-3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。只能对变量赋值</a:t>
            </a:r>
            <a:r>
              <a:rPr kern="0" spc="-29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、存取或运算，</a:t>
            </a:r>
            <a:r>
              <a:rPr kern="0" spc="-25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而不能对一个类</a:t>
            </a:r>
            <a:endParaRPr lang="en-US" altLang="en-US" dirty="0"/>
          </a:p>
          <a:p>
            <a:pPr marL="14605" algn="l" rtl="0" eaLnBrk="0">
              <a:lnSpc>
                <a:spcPts val="3240"/>
              </a:lnSpc>
            </a:pPr>
            <a:r>
              <a:rPr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型赋值</a:t>
            </a:r>
            <a:r>
              <a:rPr kern="0" spc="-24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、存取或运算</a:t>
            </a:r>
            <a:r>
              <a:rPr kern="0" spc="-30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。在编译时，</a:t>
            </a:r>
            <a:r>
              <a:rPr kern="0" spc="-30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对类型是不分配空间的，</a:t>
            </a:r>
            <a:r>
              <a:rPr kern="0" spc="-26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只对变量分配空间。</a:t>
            </a:r>
            <a:endParaRPr lang="en-US" altLang="en-US" dirty="0"/>
          </a:p>
          <a:p>
            <a:pPr algn="l" rtl="0" eaLnBrk="0">
              <a:lnSpc>
                <a:spcPct val="112000"/>
              </a:lnSpc>
            </a:pPr>
            <a:endParaRPr lang="en-US" altLang="en-US" sz="1000" dirty="0"/>
          </a:p>
          <a:p>
            <a:pPr algn="l" rtl="0" eaLnBrk="0">
              <a:lnSpc>
                <a:spcPct val="113000"/>
              </a:lnSpc>
            </a:pPr>
            <a:endParaRPr lang="en-US" altLang="en-US" sz="1000" dirty="0"/>
          </a:p>
          <a:p>
            <a:pPr algn="l" rtl="0" eaLnBrk="0">
              <a:lnSpc>
                <a:spcPct val="113000"/>
              </a:lnSpc>
            </a:pPr>
            <a:endParaRPr lang="en-US" altLang="en-US" sz="1000" dirty="0"/>
          </a:p>
          <a:p>
            <a:pPr marL="12700" algn="l" rtl="0" eaLnBrk="0">
              <a:lnSpc>
                <a:spcPct val="93000"/>
              </a:lnSpc>
              <a:spcBef>
                <a:spcPts val="540"/>
              </a:spcBef>
            </a:pPr>
            <a:r>
              <a:rPr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(2) 结构体类型中的成员名可以与程序中的变量名相同</a:t>
            </a:r>
            <a:r>
              <a:rPr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kern="0" spc="-3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但二者不代表同一对象。</a:t>
            </a:r>
            <a:endParaRPr lang="en-US" altLang="en-US" dirty="0"/>
          </a:p>
          <a:p>
            <a:pPr algn="l" rtl="0" eaLnBrk="0">
              <a:lnSpc>
                <a:spcPct val="109000"/>
              </a:lnSpc>
            </a:pPr>
            <a:endParaRPr lang="en-US" altLang="en-US" sz="1000" dirty="0"/>
          </a:p>
          <a:p>
            <a:pPr algn="l" rtl="0" eaLnBrk="0">
              <a:lnSpc>
                <a:spcPct val="109000"/>
              </a:lnSpc>
            </a:pPr>
            <a:endParaRPr lang="en-US" altLang="en-US" sz="1000" dirty="0"/>
          </a:p>
          <a:p>
            <a:pPr algn="l" rtl="0" eaLnBrk="0">
              <a:lnSpc>
                <a:spcPct val="109000"/>
              </a:lnSpc>
            </a:pPr>
            <a:endParaRPr lang="en-US" altLang="en-US" sz="1000" dirty="0"/>
          </a:p>
          <a:p>
            <a:pPr algn="l" rtl="0" eaLnBrk="0">
              <a:lnSpc>
                <a:spcPct val="114000"/>
              </a:lnSpc>
            </a:pPr>
            <a:endParaRPr lang="en-US" altLang="en-US" sz="400" dirty="0"/>
          </a:p>
          <a:p>
            <a:pPr marL="12700" algn="l" rtl="0" eaLnBrk="0">
              <a:lnSpc>
                <a:spcPct val="93000"/>
              </a:lnSpc>
              <a:spcBef>
                <a:spcPts val="5"/>
              </a:spcBef>
            </a:pPr>
            <a:r>
              <a:rPr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rPr>
              <a:t>(3) 对结构体变量中的成员（即“域”</a:t>
            </a:r>
            <a:r>
              <a:rPr kern="0" spc="-17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kern="0" spc="-25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rPr>
              <a:t>可以单独使用，</a:t>
            </a:r>
            <a:r>
              <a:rPr kern="0" spc="-19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rPr>
              <a:t>它的作用与地位相当于普通变量。</a:t>
            </a:r>
            <a:endParaRPr lang="en-US" altLang="en-US" dirty="0"/>
          </a:p>
        </p:txBody>
      </p:sp>
      <p:sp>
        <p:nvSpPr>
          <p:cNvPr id="8632" name="textbox 8632"/>
          <p:cNvSpPr/>
          <p:nvPr/>
        </p:nvSpPr>
        <p:spPr>
          <a:xfrm>
            <a:off x="757612" y="769131"/>
            <a:ext cx="3669029" cy="497205"/>
          </a:xfrm>
          <a:prstGeom prst="rect">
            <a:avLst/>
          </a:prstGeom>
        </p:spPr>
        <p:txBody>
          <a:bodyPr vert="horz" wrap="square" lIns="0" tIns="0" rIns="0" bIns="0"/>
          <a:lstStyle/>
          <a:p>
            <a:pPr algn="l" rtl="0" eaLnBrk="0">
              <a:lnSpc>
                <a:spcPct val="77000"/>
              </a:lnSpc>
            </a:pPr>
            <a:endParaRPr lang="en-US" altLang="en-US" sz="135" dirty="0"/>
          </a:p>
          <a:p>
            <a:pPr marL="12700" algn="l" rtl="0" eaLnBrk="0">
              <a:lnSpc>
                <a:spcPct val="100000"/>
              </a:lnSpc>
            </a:pPr>
            <a:r>
              <a:rPr sz="31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定义结构体类型变量</a:t>
            </a:r>
            <a:endParaRPr lang="en-US" altLang="en-US" sz="3100" dirty="0"/>
          </a:p>
        </p:txBody>
      </p:sp>
      <p:sp>
        <p:nvSpPr>
          <p:cNvPr id="8634" name="path"/>
          <p:cNvSpPr/>
          <p:nvPr/>
        </p:nvSpPr>
        <p:spPr>
          <a:xfrm>
            <a:off x="749900" y="1328420"/>
            <a:ext cx="10547096" cy="25400"/>
          </a:xfrm>
          <a:custGeom>
            <a:avLst/>
            <a:gdLst/>
            <a:ahLst/>
            <a:cxnLst/>
            <a:rect l="0" t="0" r="0" b="0"/>
            <a:pathLst>
              <a:path w="16609" h="40">
                <a:moveTo>
                  <a:pt x="20" y="20"/>
                </a:moveTo>
                <a:lnTo>
                  <a:pt x="16589" y="20"/>
                </a:lnTo>
                <a:lnTo>
                  <a:pt x="20" y="20"/>
                </a:lnTo>
              </a:path>
            </a:pathLst>
          </a:custGeom>
          <a:noFill/>
          <a:ln w="25400" cap="sq">
            <a:solidFill>
              <a:srgbClr val="782367">
                <a:alpha val="100000"/>
              </a:srgbClr>
            </a:solidFill>
            <a:prstDash val="solid"/>
            <a:bevel/>
          </a:ln>
        </p:spPr>
        <p:txBody>
          <a:bodyPr rtlCol="0"/>
          <a:lstStyle/>
          <a:p>
            <a:pPr algn="ctr"/>
            <a:endParaRPr lang="zh-CN" altLang="en-US"/>
          </a:p>
        </p:txBody>
      </p:sp>
      <p:sp>
        <p:nvSpPr>
          <p:cNvPr id="8636" name="path"/>
          <p:cNvSpPr/>
          <p:nvPr/>
        </p:nvSpPr>
        <p:spPr>
          <a:xfrm>
            <a:off x="749900" y="6214364"/>
            <a:ext cx="10547096" cy="25400"/>
          </a:xfrm>
          <a:custGeom>
            <a:avLst/>
            <a:gdLst/>
            <a:ahLst/>
            <a:cxnLst/>
            <a:rect l="0" t="0" r="0" b="0"/>
            <a:pathLst>
              <a:path w="16609" h="40">
                <a:moveTo>
                  <a:pt x="20" y="20"/>
                </a:moveTo>
                <a:lnTo>
                  <a:pt x="16589" y="20"/>
                </a:lnTo>
                <a:lnTo>
                  <a:pt x="20" y="20"/>
                </a:lnTo>
              </a:path>
            </a:pathLst>
          </a:custGeom>
          <a:noFill/>
          <a:ln w="25400" cap="sq">
            <a:solidFill>
              <a:srgbClr val="782367">
                <a:alpha val="100000"/>
              </a:srgbClr>
            </a:solidFill>
            <a:prstDash val="solid"/>
            <a:bevel/>
          </a:ln>
        </p:spPr>
        <p:txBody>
          <a:bodyPr rtlCol="0"/>
          <a:lstStyle/>
          <a:p>
            <a:pPr algn="ctr"/>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40" name="textbox 8640"/>
          <p:cNvSpPr/>
          <p:nvPr/>
        </p:nvSpPr>
        <p:spPr>
          <a:xfrm>
            <a:off x="817252" y="1005351"/>
            <a:ext cx="10439400" cy="1395731"/>
          </a:xfrm>
          <a:prstGeom prst="rect">
            <a:avLst/>
          </a:prstGeom>
        </p:spPr>
        <p:txBody>
          <a:bodyPr vert="horz" wrap="square" lIns="0" tIns="0" rIns="0" bIns="0"/>
          <a:lstStyle/>
          <a:p>
            <a:pPr algn="l" rtl="0" eaLnBrk="0">
              <a:lnSpc>
                <a:spcPct val="74000"/>
              </a:lnSpc>
            </a:pPr>
            <a:endParaRPr lang="en-US" altLang="en-US" sz="135" dirty="0"/>
          </a:p>
          <a:p>
            <a:pPr marL="12700" algn="l" rtl="0" eaLnBrk="0">
              <a:lnSpc>
                <a:spcPct val="100000"/>
              </a:lnSpc>
            </a:pPr>
            <a:r>
              <a:rPr sz="3100"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rPr>
              <a:t>结构体变量的初始化</a:t>
            </a:r>
            <a:r>
              <a:rPr sz="31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和引用</a:t>
            </a:r>
            <a:endParaRPr lang="en-US" altLang="en-US" sz="3100" dirty="0"/>
          </a:p>
          <a:p>
            <a:pPr algn="l" rtl="0" eaLnBrk="0">
              <a:lnSpc>
                <a:spcPct val="109000"/>
              </a:lnSpc>
            </a:pPr>
            <a:endParaRPr lang="en-US" altLang="en-US" sz="1000" dirty="0"/>
          </a:p>
          <a:p>
            <a:pPr algn="l" rtl="0" eaLnBrk="0">
              <a:lnSpc>
                <a:spcPct val="119000"/>
              </a:lnSpc>
            </a:pPr>
            <a:endParaRPr lang="en-US" altLang="en-US" sz="400" dirty="0"/>
          </a:p>
          <a:p>
            <a:pPr marL="99060" indent="50800" algn="l" rtl="0" eaLnBrk="0">
              <a:lnSpc>
                <a:spcPct val="114000"/>
              </a:lnSpc>
              <a:spcBef>
                <a:spcPts val="5"/>
              </a:spcBef>
            </a:pPr>
            <a:r>
              <a:rPr sz="1900" kern="0" spc="70" dirty="0">
                <a:solidFill>
                  <a:srgbClr val="782367">
                    <a:alpha val="100000"/>
                  </a:srgbClr>
                </a:solidFill>
                <a:latin typeface="微软雅黑" panose="020B0503020204020204" charset="-122"/>
                <a:ea typeface="微软雅黑" panose="020B0503020204020204" charset="-122"/>
                <a:cs typeface="微软雅黑" panose="020B0503020204020204" charset="-122"/>
              </a:rPr>
              <a:t>【例</a:t>
            </a:r>
            <a:r>
              <a:rPr lang="en-US" sz="1900" kern="0" spc="70" dirty="0">
                <a:solidFill>
                  <a:srgbClr val="782367">
                    <a:alpha val="100000"/>
                  </a:srgbClr>
                </a:solidFill>
                <a:latin typeface="微软雅黑" panose="020B0503020204020204" charset="-122"/>
                <a:ea typeface="微软雅黑" panose="020B0503020204020204" charset="-122"/>
                <a:cs typeface="微软雅黑" panose="020B0503020204020204" charset="-122"/>
              </a:rPr>
              <a:t>7</a:t>
            </a:r>
            <a:r>
              <a:rPr sz="1900" kern="0" spc="70" dirty="0">
                <a:solidFill>
                  <a:srgbClr val="782367">
                    <a:alpha val="100000"/>
                  </a:srgbClr>
                </a:solidFill>
                <a:latin typeface="微软雅黑" panose="020B0503020204020204" charset="-122"/>
                <a:ea typeface="微软雅黑" panose="020B0503020204020204" charset="-122"/>
                <a:cs typeface="微软雅黑" panose="020B0503020204020204" charset="-122"/>
              </a:rPr>
              <a:t>.1】把一个学生的信息(包括学号</a:t>
            </a:r>
            <a:r>
              <a:rPr sz="1900" kern="0" spc="60" dirty="0">
                <a:solidFill>
                  <a:srgbClr val="782367">
                    <a:alpha val="100000"/>
                  </a:srgbClr>
                </a:solidFill>
                <a:latin typeface="微软雅黑" panose="020B0503020204020204" charset="-122"/>
                <a:ea typeface="微软雅黑" panose="020B0503020204020204" charset="-122"/>
                <a:cs typeface="微软雅黑" panose="020B0503020204020204" charset="-122"/>
              </a:rPr>
              <a:t>、姓名、性别、住址)放在一个结构体变量中，然后输出</a:t>
            </a:r>
            <a:r>
              <a:rPr sz="1900" kern="0" spc="-10" dirty="0">
                <a:solidFill>
                  <a:srgbClr val="782367">
                    <a:alpha val="100000"/>
                  </a:srgbClr>
                </a:solidFill>
                <a:latin typeface="微软雅黑" panose="020B0503020204020204" charset="-122"/>
                <a:ea typeface="微软雅黑" panose="020B0503020204020204" charset="-122"/>
                <a:cs typeface="微软雅黑" panose="020B0503020204020204" charset="-122"/>
              </a:rPr>
              <a:t> </a:t>
            </a:r>
            <a:r>
              <a:rPr sz="1900" kern="0" spc="30" dirty="0">
                <a:solidFill>
                  <a:srgbClr val="782367">
                    <a:alpha val="100000"/>
                  </a:srgbClr>
                </a:solidFill>
                <a:latin typeface="微软雅黑" panose="020B0503020204020204" charset="-122"/>
                <a:ea typeface="微软雅黑" panose="020B0503020204020204" charset="-122"/>
                <a:cs typeface="微软雅黑" panose="020B0503020204020204" charset="-122"/>
              </a:rPr>
              <a:t>这个学生的信息。</a:t>
            </a:r>
            <a:endParaRPr lang="en-US" altLang="en-US" sz="1900" kern="0" spc="30" dirty="0">
              <a:solidFill>
                <a:srgbClr val="782367">
                  <a:alpha val="100000"/>
                </a:srgbClr>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1"/>
            </p:custDataLst>
          </p:nvPr>
        </p:nvSpPr>
        <p:spPr>
          <a:xfrm>
            <a:off x="943610" y="2614295"/>
            <a:ext cx="6715760" cy="3175000"/>
          </a:xfrm>
          <a:prstGeom prst="rect">
            <a:avLst/>
          </a:prstGeom>
          <a:solidFill>
            <a:srgbClr val="CCECFF">
              <a:alpha val="97000"/>
            </a:srgbClr>
          </a:solidFill>
          <a:ln>
            <a:solidFill>
              <a:srgbClr val="CCECFF"/>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117475" algn="l" rtl="0" eaLnBrk="0">
              <a:lnSpc>
                <a:spcPct val="93000"/>
              </a:lnSpc>
              <a:spcBef>
                <a:spcPts val="0"/>
              </a:spcBef>
            </a:pPr>
            <a:endPar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endParaRPr>
          </a:p>
          <a:p>
            <a:pPr marL="117475" algn="l" rtl="0" eaLnBrk="0">
              <a:lnSpc>
                <a:spcPct val="93000"/>
              </a:lnSpc>
              <a:spcBef>
                <a:spcPts val="0"/>
              </a:spcBef>
            </a:pPr>
            <a:r>
              <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#include</a:t>
            </a:r>
            <a:r>
              <a:rPr sz="1300" kern="0" spc="20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&lt;stdio.h&gt;</a:t>
            </a:r>
            <a:endParaRPr lang="en-US" altLang="en-US" sz="1300" dirty="0"/>
          </a:p>
          <a:p>
            <a:pPr marL="127635" algn="l" rtl="0" eaLnBrk="0">
              <a:lnSpc>
                <a:spcPts val="2015"/>
              </a:lnSpc>
            </a:pPr>
            <a:r>
              <a:rPr sz="13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int</a:t>
            </a:r>
            <a:r>
              <a:rPr sz="1300" kern="0" spc="1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main()</a:t>
            </a:r>
            <a:endParaRPr lang="en-US" altLang="en-US" sz="1300" dirty="0"/>
          </a:p>
          <a:p>
            <a:pPr marL="114300" algn="l" rtl="0" eaLnBrk="0">
              <a:lnSpc>
                <a:spcPct val="99000"/>
              </a:lnSpc>
              <a:spcBef>
                <a:spcPts val="560"/>
              </a:spcBef>
            </a:pPr>
            <a:r>
              <a:rPr sz="1300" kern="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struct</a:t>
            </a:r>
            <a:r>
              <a:rPr sz="13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Student                                              </a:t>
            </a:r>
            <a:r>
              <a:rPr sz="1300" kern="0" spc="-1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//声明结构体类型struct</a:t>
            </a:r>
            <a:r>
              <a:rPr sz="1300" kern="0" spc="13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1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Student</a:t>
            </a:r>
            <a:endParaRPr lang="en-US" altLang="en-US" sz="1300" dirty="0"/>
          </a:p>
          <a:p>
            <a:pPr marL="477520" algn="l" rtl="0" eaLnBrk="0">
              <a:lnSpc>
                <a:spcPct val="92000"/>
              </a:lnSpc>
              <a:spcBef>
                <a:spcPts val="475"/>
              </a:spcBef>
            </a:pPr>
            <a:r>
              <a:rPr sz="13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r>
              <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long</a:t>
            </a:r>
            <a:r>
              <a:rPr sz="1300" kern="0" spc="1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int</a:t>
            </a:r>
            <a:r>
              <a:rPr sz="1300" kern="0" spc="1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num</a:t>
            </a:r>
            <a:r>
              <a:rPr sz="13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//以下4行为结构体的成员</a:t>
            </a:r>
            <a:endParaRPr lang="en-US" altLang="en-US" sz="1300" dirty="0"/>
          </a:p>
          <a:p>
            <a:pPr marL="850900" algn="l" rtl="0" eaLnBrk="0">
              <a:lnSpc>
                <a:spcPct val="93000"/>
              </a:lnSpc>
              <a:spcBef>
                <a:spcPts val="585"/>
              </a:spcBef>
            </a:pPr>
            <a:r>
              <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char</a:t>
            </a:r>
            <a:r>
              <a:rPr sz="1300" kern="0" spc="1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name[20];</a:t>
            </a:r>
            <a:endParaRPr lang="en-US" altLang="en-US" sz="1300" dirty="0"/>
          </a:p>
          <a:p>
            <a:pPr marL="850900" algn="l" rtl="0" eaLnBrk="0">
              <a:lnSpc>
                <a:spcPts val="2015"/>
              </a:lnSpc>
            </a:pPr>
            <a:r>
              <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char</a:t>
            </a:r>
            <a:r>
              <a:rPr sz="13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sex;</a:t>
            </a:r>
            <a:endParaRPr lang="en-US" altLang="en-US" sz="1300" dirty="0"/>
          </a:p>
          <a:p>
            <a:pPr marL="850900" algn="l" rtl="0" eaLnBrk="0">
              <a:lnSpc>
                <a:spcPct val="99000"/>
              </a:lnSpc>
              <a:spcBef>
                <a:spcPts val="560"/>
              </a:spcBef>
            </a:pPr>
            <a:r>
              <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char</a:t>
            </a:r>
            <a:r>
              <a:rPr sz="1300" kern="0" spc="1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addr[20];</a:t>
            </a:r>
            <a:endParaRPr lang="en-US" altLang="en-US" sz="1300" dirty="0"/>
          </a:p>
          <a:p>
            <a:pPr marL="477520" algn="l" rtl="0" eaLnBrk="0">
              <a:lnSpc>
                <a:spcPct val="92000"/>
              </a:lnSpc>
              <a:spcBef>
                <a:spcPts val="475"/>
              </a:spcBef>
            </a:pPr>
            <a:r>
              <a:rPr sz="13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r>
              <a:rPr sz="1300" kern="0" spc="-10" dirty="0">
                <a:solidFill>
                  <a:srgbClr val="B22600">
                    <a:alpha val="100000"/>
                  </a:srgbClr>
                </a:solidFill>
                <a:latin typeface="微软雅黑" panose="020B0503020204020204" charset="-122"/>
                <a:ea typeface="微软雅黑" panose="020B0503020204020204" charset="-122"/>
                <a:cs typeface="微软雅黑" panose="020B0503020204020204" charset="-122"/>
                <a:sym typeface="+mn-ea"/>
              </a:rPr>
              <a:t>a={10101,"Li</a:t>
            </a:r>
            <a:r>
              <a:rPr sz="1300" kern="0" spc="120" dirty="0">
                <a:solidFill>
                  <a:srgbClr val="B226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10" dirty="0">
                <a:solidFill>
                  <a:srgbClr val="B22600">
                    <a:alpha val="100000"/>
                  </a:srgbClr>
                </a:solidFill>
                <a:latin typeface="微软雅黑" panose="020B0503020204020204" charset="-122"/>
                <a:ea typeface="微软雅黑" panose="020B0503020204020204" charset="-122"/>
                <a:cs typeface="微软雅黑" panose="020B0503020204020204" charset="-122"/>
                <a:sym typeface="+mn-ea"/>
              </a:rPr>
              <a:t>Lin",'M',"123</a:t>
            </a:r>
            <a:r>
              <a:rPr sz="1300" kern="0" spc="150" dirty="0">
                <a:solidFill>
                  <a:srgbClr val="B226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10" dirty="0">
                <a:solidFill>
                  <a:srgbClr val="B22600">
                    <a:alpha val="100000"/>
                  </a:srgbClr>
                </a:solidFill>
                <a:latin typeface="微软雅黑" panose="020B0503020204020204" charset="-122"/>
                <a:ea typeface="微软雅黑" panose="020B0503020204020204" charset="-122"/>
                <a:cs typeface="微软雅黑" panose="020B0503020204020204" charset="-122"/>
                <a:sym typeface="+mn-ea"/>
              </a:rPr>
              <a:t>Beijing</a:t>
            </a:r>
            <a:r>
              <a:rPr sz="1300" kern="0" spc="170" dirty="0">
                <a:solidFill>
                  <a:srgbClr val="B226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10" dirty="0">
                <a:solidFill>
                  <a:srgbClr val="B22600">
                    <a:alpha val="100000"/>
                  </a:srgbClr>
                </a:solidFill>
                <a:latin typeface="微软雅黑" panose="020B0503020204020204" charset="-122"/>
                <a:ea typeface="微软雅黑" panose="020B0503020204020204" charset="-122"/>
                <a:cs typeface="微软雅黑" panose="020B0503020204020204" charset="-122"/>
                <a:sym typeface="+mn-ea"/>
              </a:rPr>
              <a:t>R</a:t>
            </a:r>
            <a:r>
              <a:rPr sz="1300" kern="0" spc="-20" dirty="0">
                <a:solidFill>
                  <a:srgbClr val="B22600">
                    <a:alpha val="100000"/>
                  </a:srgbClr>
                </a:solidFill>
                <a:latin typeface="微软雅黑" panose="020B0503020204020204" charset="-122"/>
                <a:ea typeface="微软雅黑" panose="020B0503020204020204" charset="-122"/>
                <a:cs typeface="微软雅黑" panose="020B0503020204020204" charset="-122"/>
                <a:sym typeface="+mn-ea"/>
              </a:rPr>
              <a:t>oad"};</a:t>
            </a:r>
            <a:r>
              <a:rPr sz="1300" kern="0" spc="100" dirty="0">
                <a:solidFill>
                  <a:srgbClr val="B226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2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//定义结构体变量a并初始化</a:t>
            </a:r>
            <a:endParaRPr lang="en-US" altLang="en-US" sz="1300" dirty="0"/>
          </a:p>
          <a:p>
            <a:pPr marL="490220" algn="l" rtl="0" eaLnBrk="0">
              <a:lnSpc>
                <a:spcPct val="115000"/>
              </a:lnSpc>
              <a:spcBef>
                <a:spcPts val="595"/>
              </a:spcBef>
            </a:pPr>
            <a:r>
              <a:rPr sz="13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printf("NO.:%ld\n</a:t>
            </a:r>
            <a:r>
              <a:rPr lang="en-US" sz="13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name:%s\n</a:t>
            </a:r>
            <a:r>
              <a:rPr lang="en-US" sz="13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sex:%c\n</a:t>
            </a:r>
            <a:r>
              <a:rPr lang="en-US" sz="13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address:%s\n",a.num,a.name,a.sex,a.addr);</a:t>
            </a:r>
            <a:r>
              <a:rPr sz="1300" kern="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return</a:t>
            </a:r>
            <a:r>
              <a:rPr sz="1300" kern="0" spc="1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0;</a:t>
            </a:r>
            <a:endParaRPr lang="en-US" altLang="en-US" sz="1300" dirty="0"/>
          </a:p>
          <a:p>
            <a:pPr algn="l" rtl="0" eaLnBrk="0">
              <a:lnSpc>
                <a:spcPct val="119000"/>
              </a:lnSpc>
            </a:pPr>
            <a:endParaRPr lang="en-US" altLang="en-US" sz="1300" dirty="0"/>
          </a:p>
          <a:p>
            <a:pPr marL="114300" algn="l" rtl="0" eaLnBrk="0">
              <a:lnSpc>
                <a:spcPct val="99000"/>
              </a:lnSpc>
            </a:pPr>
            <a:r>
              <a:rPr sz="13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endParaRPr lang="en-US" altLang="en-US" sz="1300" dirty="0"/>
          </a:p>
          <a:p>
            <a:pPr algn="ctr"/>
            <a:endParaRPr lang="zh-CN" altLang="en-US" sz="1300"/>
          </a:p>
        </p:txBody>
      </p:sp>
      <p:pic>
        <p:nvPicPr>
          <p:cNvPr id="3" name="图片 2"/>
          <p:cNvPicPr>
            <a:picLocks noChangeAspect="1"/>
          </p:cNvPicPr>
          <p:nvPr>
            <p:custDataLst>
              <p:tags r:id="rId2"/>
            </p:custDataLst>
          </p:nvPr>
        </p:nvPicPr>
        <p:blipFill>
          <a:blip r:embed="rId4"/>
          <a:stretch>
            <a:fillRect/>
          </a:stretch>
        </p:blipFill>
        <p:spPr>
          <a:xfrm>
            <a:off x="6414135" y="5057775"/>
            <a:ext cx="5778505" cy="1800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56" name="textbox 8656"/>
          <p:cNvSpPr/>
          <p:nvPr/>
        </p:nvSpPr>
        <p:spPr>
          <a:xfrm>
            <a:off x="1181370" y="4098925"/>
            <a:ext cx="10208895" cy="617219"/>
          </a:xfrm>
          <a:prstGeom prst="rect">
            <a:avLst/>
          </a:prstGeom>
        </p:spPr>
        <p:txBody>
          <a:bodyPr vert="horz" wrap="square" lIns="0" tIns="0" rIns="0" bIns="0"/>
          <a:lstStyle/>
          <a:p>
            <a:pPr algn="l" rtl="0" eaLnBrk="0">
              <a:lnSpc>
                <a:spcPct val="76000"/>
              </a:lnSpc>
            </a:pPr>
            <a:endParaRPr lang="en-US" altLang="en-US" sz="135" dirty="0"/>
          </a:p>
          <a:p>
            <a:pPr marL="116840" indent="9525" algn="l" rtl="0" eaLnBrk="0">
              <a:lnSpc>
                <a:spcPct val="108000"/>
              </a:lnSpc>
            </a:pPr>
            <a:r>
              <a:rPr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“.”是成员运算符，</a:t>
            </a:r>
            <a:r>
              <a:rPr kern="0" spc="-10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它在所有的运算符中优先级最高， 因此可以把student1.num作为一个整体来看待，</a:t>
            </a:r>
            <a:r>
              <a:rPr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相当于一个变量。</a:t>
            </a:r>
            <a:endParaRPr lang="en-US" altLang="en-US" dirty="0"/>
          </a:p>
        </p:txBody>
      </p:sp>
      <p:sp>
        <p:nvSpPr>
          <p:cNvPr id="8658" name="textbox 8658"/>
          <p:cNvSpPr/>
          <p:nvPr/>
        </p:nvSpPr>
        <p:spPr>
          <a:xfrm>
            <a:off x="1286068" y="5416245"/>
            <a:ext cx="9939655" cy="615315"/>
          </a:xfrm>
          <a:prstGeom prst="rect">
            <a:avLst/>
          </a:prstGeom>
        </p:spPr>
        <p:txBody>
          <a:bodyPr vert="horz" wrap="square" lIns="0" tIns="0" rIns="0" bIns="0"/>
          <a:lstStyle/>
          <a:p>
            <a:pPr algn="l" rtl="0" eaLnBrk="0">
              <a:lnSpc>
                <a:spcPct val="66000"/>
              </a:lnSpc>
            </a:pPr>
            <a:endParaRPr lang="en-US" altLang="en-US" sz="135" dirty="0"/>
          </a:p>
          <a:p>
            <a:pPr marL="12700" indent="1905" algn="l" rtl="0" eaLnBrk="0">
              <a:lnSpc>
                <a:spcPct val="108000"/>
              </a:lnSpc>
            </a:pPr>
            <a:r>
              <a:rPr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不能企图通过输出结构体变量名来达到输出结构体变量所有成员的值</a:t>
            </a:r>
            <a:r>
              <a:rPr kern="0" spc="-24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。只</a:t>
            </a:r>
            <a:r>
              <a:rPr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能对结构体变量中的各个 </a:t>
            </a:r>
            <a:r>
              <a:rPr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成员分别进行输入和输出。</a:t>
            </a:r>
            <a:endParaRPr lang="en-US" altLang="en-US" dirty="0"/>
          </a:p>
        </p:txBody>
      </p:sp>
      <p:sp>
        <p:nvSpPr>
          <p:cNvPr id="8662" name="textbox 8662"/>
          <p:cNvSpPr/>
          <p:nvPr/>
        </p:nvSpPr>
        <p:spPr>
          <a:xfrm>
            <a:off x="757207" y="769131"/>
            <a:ext cx="4885691" cy="496569"/>
          </a:xfrm>
          <a:prstGeom prst="rect">
            <a:avLst/>
          </a:prstGeom>
        </p:spPr>
        <p:txBody>
          <a:bodyPr vert="horz" wrap="square" lIns="0" tIns="0" rIns="0" bIns="0"/>
          <a:lstStyle/>
          <a:p>
            <a:pPr algn="l" rtl="0" eaLnBrk="0">
              <a:lnSpc>
                <a:spcPct val="74000"/>
              </a:lnSpc>
            </a:pPr>
            <a:endParaRPr lang="en-US" altLang="en-US" sz="135" dirty="0"/>
          </a:p>
          <a:p>
            <a:pPr marL="12700" algn="l" rtl="0" eaLnBrk="0">
              <a:lnSpc>
                <a:spcPct val="100000"/>
              </a:lnSpc>
            </a:pPr>
            <a:r>
              <a:rPr sz="3100"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rPr>
              <a:t>结构体变量的初始化</a:t>
            </a:r>
            <a:r>
              <a:rPr sz="31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和引用</a:t>
            </a:r>
            <a:endParaRPr lang="en-US" altLang="en-US" sz="3100" dirty="0"/>
          </a:p>
        </p:txBody>
      </p:sp>
      <p:sp>
        <p:nvSpPr>
          <p:cNvPr id="8666" name="path"/>
          <p:cNvSpPr/>
          <p:nvPr/>
        </p:nvSpPr>
        <p:spPr>
          <a:xfrm>
            <a:off x="749900" y="1328420"/>
            <a:ext cx="10547096" cy="25400"/>
          </a:xfrm>
          <a:custGeom>
            <a:avLst/>
            <a:gdLst/>
            <a:ahLst/>
            <a:cxnLst/>
            <a:rect l="0" t="0" r="0" b="0"/>
            <a:pathLst>
              <a:path w="16609" h="40">
                <a:moveTo>
                  <a:pt x="20" y="20"/>
                </a:moveTo>
                <a:lnTo>
                  <a:pt x="16589" y="20"/>
                </a:lnTo>
                <a:lnTo>
                  <a:pt x="20" y="20"/>
                </a:lnTo>
              </a:path>
            </a:pathLst>
          </a:custGeom>
          <a:noFill/>
          <a:ln w="12700" cap="sq">
            <a:solidFill>
              <a:srgbClr val="782367">
                <a:alpha val="100000"/>
              </a:srgbClr>
            </a:solidFill>
            <a:prstDash val="solid"/>
            <a:bevel/>
          </a:ln>
        </p:spPr>
        <p:txBody>
          <a:bodyPr rtlCol="0"/>
          <a:lstStyle/>
          <a:p>
            <a:pPr algn="ctr"/>
            <a:endParaRPr lang="zh-CN" altLang="en-US"/>
          </a:p>
        </p:txBody>
      </p:sp>
      <p:sp>
        <p:nvSpPr>
          <p:cNvPr id="8668" name="path"/>
          <p:cNvSpPr/>
          <p:nvPr/>
        </p:nvSpPr>
        <p:spPr>
          <a:xfrm>
            <a:off x="749900" y="6214364"/>
            <a:ext cx="10547096" cy="25400"/>
          </a:xfrm>
          <a:custGeom>
            <a:avLst/>
            <a:gdLst/>
            <a:ahLst/>
            <a:cxnLst/>
            <a:rect l="0" t="0" r="0" b="0"/>
            <a:pathLst>
              <a:path w="16609" h="40">
                <a:moveTo>
                  <a:pt x="20" y="20"/>
                </a:moveTo>
                <a:lnTo>
                  <a:pt x="16589" y="20"/>
                </a:lnTo>
                <a:lnTo>
                  <a:pt x="20" y="20"/>
                </a:lnTo>
              </a:path>
            </a:pathLst>
          </a:custGeom>
          <a:noFill/>
          <a:ln w="25400" cap="sq">
            <a:solidFill>
              <a:srgbClr val="782367">
                <a:alpha val="100000"/>
              </a:srgbClr>
            </a:solidFill>
            <a:prstDash val="solid"/>
            <a:bevel/>
          </a:ln>
        </p:spPr>
        <p:txBody>
          <a:bodyPr rtlCol="0"/>
          <a:lstStyle/>
          <a:p>
            <a:pPr algn="ctr"/>
            <a:endParaRPr lang="zh-CN" altLang="en-US"/>
          </a:p>
        </p:txBody>
      </p:sp>
      <p:sp>
        <p:nvSpPr>
          <p:cNvPr id="2" name="矩形 1"/>
          <p:cNvSpPr/>
          <p:nvPr>
            <p:custDataLst>
              <p:tags r:id="rId1"/>
            </p:custDataLst>
          </p:nvPr>
        </p:nvSpPr>
        <p:spPr>
          <a:xfrm>
            <a:off x="1238250" y="4773930"/>
            <a:ext cx="8060690" cy="542925"/>
          </a:xfrm>
          <a:prstGeom prst="rect">
            <a:avLst/>
          </a:prstGeom>
          <a:solidFill>
            <a:schemeClr val="bg1"/>
          </a:solidFill>
          <a:ln>
            <a:solidFill>
              <a:srgbClr val="782367"/>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printf(″%s\n</a:t>
            </a:r>
            <a:r>
              <a:rPr kern="0" spc="-3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″,student1);             </a:t>
            </a:r>
            <a:r>
              <a:rPr kern="0" spc="-5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//企图用结构体</a:t>
            </a:r>
            <a:r>
              <a:rPr kern="0" spc="-6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变量名输出所有成员的值</a:t>
            </a:r>
            <a:r>
              <a:rPr lang="en-US" kern="0" spc="-6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 </a:t>
            </a:r>
            <a:endParaRPr lang="zh-CN" altLang="en-US" kern="0" spc="-6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endParaRPr>
          </a:p>
        </p:txBody>
      </p:sp>
      <p:pic>
        <p:nvPicPr>
          <p:cNvPr id="3" name="图片 2" descr="3b32303235343734313bb4edb2e6"/>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473565" y="4832350"/>
            <a:ext cx="468000" cy="468000"/>
          </a:xfrm>
          <a:prstGeom prst="rect">
            <a:avLst/>
          </a:prstGeom>
        </p:spPr>
      </p:pic>
      <p:sp>
        <p:nvSpPr>
          <p:cNvPr id="4" name="矩形 3"/>
          <p:cNvSpPr/>
          <p:nvPr>
            <p:custDataLst>
              <p:tags r:id="rId2"/>
            </p:custDataLst>
          </p:nvPr>
        </p:nvSpPr>
        <p:spPr>
          <a:xfrm>
            <a:off x="1179195" y="2874010"/>
            <a:ext cx="7318375" cy="1220470"/>
          </a:xfrm>
          <a:prstGeom prst="rect">
            <a:avLst/>
          </a:prstGeom>
          <a:solidFill>
            <a:schemeClr val="bg1">
              <a:alpha val="98000"/>
            </a:schemeClr>
          </a:solidFill>
          <a:ln>
            <a:solidFill>
              <a:srgbClr val="782367"/>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114935" algn="l" rtl="0" eaLnBrk="0">
              <a:lnSpc>
                <a:spcPts val="1825"/>
              </a:lnSpc>
              <a:spcBef>
                <a:spcPts val="5"/>
              </a:spcBef>
            </a:pPr>
            <a:endParaRPr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endParaRPr>
          </a:p>
          <a:p>
            <a:pPr marL="114935" algn="l" rtl="0" eaLnBrk="0">
              <a:lnSpc>
                <a:spcPts val="1825"/>
              </a:lnSpc>
              <a:spcBef>
                <a:spcPts val="5"/>
              </a:spcBef>
            </a:pPr>
            <a:r>
              <a:rPr sz="17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student1.num=10010;</a:t>
            </a:r>
            <a:endParaRPr lang="en-US" altLang="en-US" sz="1700" dirty="0"/>
          </a:p>
          <a:p>
            <a:pPr marL="111760" algn="l" rtl="0" eaLnBrk="0">
              <a:lnSpc>
                <a:spcPct val="87000"/>
              </a:lnSpc>
              <a:spcBef>
                <a:spcPts val="770"/>
              </a:spcBef>
            </a:pPr>
            <a:r>
              <a:rPr sz="1700" kern="0" spc="-5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/*已定义了student1为student类型的结构体变量，</a:t>
            </a:r>
            <a:r>
              <a:rPr sz="1700" kern="0" spc="-19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 </a:t>
            </a:r>
            <a:r>
              <a:rPr sz="1700" kern="0" spc="-5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则student1</a:t>
            </a:r>
            <a:r>
              <a:rPr sz="1700" kern="0" spc="-6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.num表示student1</a:t>
            </a:r>
            <a:endParaRPr lang="en-US" altLang="en-US" sz="1700" dirty="0"/>
          </a:p>
          <a:p>
            <a:pPr marL="128270" algn="l" rtl="0" eaLnBrk="0">
              <a:lnSpc>
                <a:spcPts val="2880"/>
              </a:lnSpc>
            </a:pPr>
            <a:r>
              <a:rPr sz="1700" kern="0" spc="-7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变量中的num成员，</a:t>
            </a:r>
            <a:r>
              <a:rPr sz="1700" kern="0" spc="-9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 </a:t>
            </a:r>
            <a:r>
              <a:rPr sz="1700" kern="0" spc="-7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即student1的num(学号)成员*/</a:t>
            </a:r>
            <a:endParaRPr lang="en-US" altLang="en-US" sz="1700" dirty="0"/>
          </a:p>
          <a:p>
            <a:pPr algn="ctr"/>
            <a:endParaRPr lang="zh-CN" altLang="en-US" sz="1700"/>
          </a:p>
        </p:txBody>
      </p:sp>
      <p:sp>
        <p:nvSpPr>
          <p:cNvPr id="5" name="文本框 4"/>
          <p:cNvSpPr txBox="1"/>
          <p:nvPr/>
        </p:nvSpPr>
        <p:spPr>
          <a:xfrm>
            <a:off x="836930" y="1377315"/>
            <a:ext cx="10389235" cy="659130"/>
          </a:xfrm>
          <a:prstGeom prst="rect">
            <a:avLst/>
          </a:prstGeom>
          <a:noFill/>
        </p:spPr>
        <p:txBody>
          <a:bodyPr wrap="square" rtlCol="0" anchor="t">
            <a:noAutofit/>
          </a:bodyPr>
          <a:lstStyle/>
          <a:p>
            <a:r>
              <a:rPr lang="zh-CN" altLang="en-US" sz="2700" kern="0" spc="30" baseline="1000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(1) 在定义结构体变量时可以对它的成员初始化 。初始化列表是用花括号括起来的一些常量， 这些常量  依次赋给结构体变量中的各成员 。</a:t>
            </a:r>
          </a:p>
        </p:txBody>
      </p:sp>
      <p:sp>
        <p:nvSpPr>
          <p:cNvPr id="6" name="文本框 5"/>
          <p:cNvSpPr txBox="1"/>
          <p:nvPr/>
        </p:nvSpPr>
        <p:spPr>
          <a:xfrm>
            <a:off x="836930" y="2456180"/>
            <a:ext cx="5259070" cy="368300"/>
          </a:xfrm>
          <a:prstGeom prst="rect">
            <a:avLst/>
          </a:prstGeom>
          <a:noFill/>
        </p:spPr>
        <p:txBody>
          <a:bodyPr wrap="square" rtlCol="0" anchor="t">
            <a:spAutoFit/>
          </a:bodyPr>
          <a:lstStyle/>
          <a:p>
            <a:r>
              <a:rPr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(2)</a:t>
            </a:r>
            <a:r>
              <a:rPr kern="0" spc="3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可以引用结构体变量中成员的值，</a:t>
            </a:r>
            <a:r>
              <a:rPr kern="0" spc="-1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引用方式为</a:t>
            </a:r>
            <a:endParaRPr lang="zh-CN" altLang="en-US"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endParaRPr>
          </a:p>
        </p:txBody>
      </p:sp>
      <p:sp>
        <p:nvSpPr>
          <p:cNvPr id="7" name="矩形 6"/>
          <p:cNvSpPr/>
          <p:nvPr>
            <p:custDataLst>
              <p:tags r:id="rId3"/>
            </p:custDataLst>
          </p:nvPr>
        </p:nvSpPr>
        <p:spPr>
          <a:xfrm>
            <a:off x="5920740" y="2401570"/>
            <a:ext cx="2655570" cy="42291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b="1" kern="0" spc="-10" dirty="0">
                <a:solidFill>
                  <a:srgbClr val="FFFFFF">
                    <a:alpha val="100000"/>
                  </a:srgbClr>
                </a:solidFill>
                <a:latin typeface="微软雅黑" panose="020B0503020204020204" charset="-122"/>
                <a:ea typeface="微软雅黑" panose="020B0503020204020204" charset="-122"/>
                <a:cs typeface="微软雅黑" panose="020B0503020204020204" charset="-122"/>
                <a:sym typeface="+mn-ea"/>
              </a:rPr>
              <a:t>结构体变量名.成员名  </a:t>
            </a:r>
            <a:endParaRPr lang="zh-CN" altLang="en-US"/>
          </a:p>
        </p:txBody>
      </p:sp>
      <p:sp>
        <p:nvSpPr>
          <p:cNvPr id="8" name="文本框 7"/>
          <p:cNvSpPr txBox="1"/>
          <p:nvPr/>
        </p:nvSpPr>
        <p:spPr>
          <a:xfrm>
            <a:off x="5201285" y="1736725"/>
            <a:ext cx="6096000" cy="521970"/>
          </a:xfrm>
          <a:prstGeom prst="rect">
            <a:avLst/>
          </a:prstGeom>
          <a:noFill/>
        </p:spPr>
        <p:txBody>
          <a:bodyPr wrap="square" rtlCol="0" anchor="t">
            <a:spAutoFit/>
          </a:bodyPr>
          <a:lstStyle/>
          <a:p>
            <a:r>
              <a:rPr lang="zh-CN" sz="2800" b="1" kern="0" spc="20" baseline="-400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注意：</a:t>
            </a:r>
            <a:r>
              <a:rPr sz="2800" b="1" kern="0" spc="20" baseline="-400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对结构体变量初始化，</a:t>
            </a:r>
            <a:r>
              <a:rPr sz="2800" b="1" kern="0" spc="-20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2800" b="1" kern="0" spc="20" baseline="-400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不是对结构体类型初始化</a:t>
            </a:r>
            <a:endParaRPr lang="zh-CN" altLang="en-US" sz="2800" b="1" kern="0" spc="20" baseline="-400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74" name="textbox 8674"/>
          <p:cNvSpPr/>
          <p:nvPr/>
        </p:nvSpPr>
        <p:spPr>
          <a:xfrm>
            <a:off x="753711" y="4858131"/>
            <a:ext cx="10393680" cy="608965"/>
          </a:xfrm>
          <a:prstGeom prst="rect">
            <a:avLst/>
          </a:prstGeom>
        </p:spPr>
        <p:txBody>
          <a:bodyPr vert="horz" wrap="square" lIns="0" tIns="0" rIns="0" bIns="0"/>
          <a:lstStyle/>
          <a:p>
            <a:pPr algn="l" rtl="0" eaLnBrk="0">
              <a:lnSpc>
                <a:spcPct val="93000"/>
              </a:lnSpc>
            </a:pPr>
            <a:endParaRPr lang="en-US" altLang="en-US" sz="135" dirty="0"/>
          </a:p>
          <a:p>
            <a:pPr marL="351790" indent="-339090" algn="l" rtl="0" eaLnBrk="0">
              <a:lnSpc>
                <a:spcPct val="106000"/>
              </a:lnSpc>
            </a:pPr>
            <a:r>
              <a:rPr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(6)</a:t>
            </a:r>
            <a:r>
              <a:rPr kern="0" spc="58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可以引用结构体变量成员的地址，</a:t>
            </a:r>
            <a:r>
              <a:rPr kern="0" spc="-29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也可以引用结构体变量的地址(结构体变量的地址主要用作函数参 </a:t>
            </a:r>
            <a:r>
              <a:rPr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数，</a:t>
            </a:r>
            <a:r>
              <a:rPr kern="0" spc="-30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传递结构体变量的地</a:t>
            </a:r>
            <a:r>
              <a:rPr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址)</a:t>
            </a:r>
            <a:r>
              <a:rPr kern="0" spc="-3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。但不能用以下语句整体读入结构体变量。</a:t>
            </a:r>
            <a:endParaRPr lang="en-US" altLang="en-US" dirty="0"/>
          </a:p>
        </p:txBody>
      </p:sp>
      <p:sp>
        <p:nvSpPr>
          <p:cNvPr id="8676" name="textbox 8676"/>
          <p:cNvSpPr/>
          <p:nvPr/>
        </p:nvSpPr>
        <p:spPr>
          <a:xfrm>
            <a:off x="753711" y="1235583"/>
            <a:ext cx="10367009" cy="615315"/>
          </a:xfrm>
          <a:prstGeom prst="rect">
            <a:avLst/>
          </a:prstGeom>
        </p:spPr>
        <p:txBody>
          <a:bodyPr vert="horz" wrap="square" lIns="0" tIns="0" rIns="0" bIns="0"/>
          <a:lstStyle/>
          <a:p>
            <a:pPr algn="l" rtl="0" eaLnBrk="0">
              <a:lnSpc>
                <a:spcPct val="66000"/>
              </a:lnSpc>
            </a:pPr>
            <a:endParaRPr lang="en-US" altLang="en-US" sz="135" dirty="0"/>
          </a:p>
          <a:p>
            <a:pPr marL="331470" indent="-318770" algn="l" rtl="0" eaLnBrk="0">
              <a:lnSpc>
                <a:spcPct val="108000"/>
              </a:lnSpc>
            </a:pPr>
            <a:r>
              <a:rPr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(3) 如果成员本身又属一个结构体类型，</a:t>
            </a:r>
            <a:r>
              <a:rPr kern="0" spc="-28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则要用若干个成员运算符，</a:t>
            </a:r>
            <a:r>
              <a:rPr kern="0" spc="-26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一级一级地找到最低的</a:t>
            </a:r>
            <a:r>
              <a:rPr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一级的成员。</a:t>
            </a:r>
            <a:r>
              <a:rPr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只能对最低级的成员进行赋值或</a:t>
            </a:r>
            <a:r>
              <a:rPr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存取以及运算。</a:t>
            </a:r>
            <a:endParaRPr lang="en-US" altLang="en-US" dirty="0"/>
          </a:p>
        </p:txBody>
      </p:sp>
      <p:sp>
        <p:nvSpPr>
          <p:cNvPr id="8686" name="textbox 8686"/>
          <p:cNvSpPr/>
          <p:nvPr/>
        </p:nvSpPr>
        <p:spPr>
          <a:xfrm>
            <a:off x="753726" y="2552453"/>
            <a:ext cx="9677400" cy="280035"/>
          </a:xfrm>
          <a:prstGeom prst="rect">
            <a:avLst/>
          </a:prstGeom>
        </p:spPr>
        <p:txBody>
          <a:bodyPr vert="horz" wrap="square" lIns="0" tIns="0" rIns="0" bIns="0"/>
          <a:lstStyle/>
          <a:p>
            <a:pPr algn="l" rtl="0" eaLnBrk="0">
              <a:lnSpc>
                <a:spcPct val="77000"/>
              </a:lnSpc>
            </a:pPr>
            <a:endParaRPr lang="en-US" altLang="en-US" sz="135" dirty="0"/>
          </a:p>
          <a:p>
            <a:pPr algn="r" rtl="0" eaLnBrk="0">
              <a:lnSpc>
                <a:spcPct val="93000"/>
              </a:lnSpc>
            </a:pPr>
            <a:r>
              <a:rPr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(4) 对结构体变量</a:t>
            </a:r>
            <a:r>
              <a:rPr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的成员可以像普通变量一样进行各种运算（根据其类型决定可以进行的运算）</a:t>
            </a:r>
            <a:r>
              <a:rPr kern="0" spc="-35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endParaRPr lang="en-US" altLang="en-US" dirty="0"/>
          </a:p>
        </p:txBody>
      </p:sp>
      <p:sp>
        <p:nvSpPr>
          <p:cNvPr id="8688" name="textbox 8688"/>
          <p:cNvSpPr/>
          <p:nvPr/>
        </p:nvSpPr>
        <p:spPr>
          <a:xfrm>
            <a:off x="677654" y="540531"/>
            <a:ext cx="4888865" cy="496569"/>
          </a:xfrm>
          <a:prstGeom prst="rect">
            <a:avLst/>
          </a:prstGeom>
        </p:spPr>
        <p:txBody>
          <a:bodyPr vert="horz" wrap="square" lIns="0" tIns="0" rIns="0" bIns="0"/>
          <a:lstStyle/>
          <a:p>
            <a:pPr algn="l" rtl="0" eaLnBrk="0">
              <a:lnSpc>
                <a:spcPct val="74000"/>
              </a:lnSpc>
            </a:pPr>
            <a:endParaRPr lang="en-US" altLang="en-US" sz="135" dirty="0"/>
          </a:p>
          <a:p>
            <a:pPr marL="12700" algn="l" rtl="0" eaLnBrk="0">
              <a:lnSpc>
                <a:spcPct val="100000"/>
              </a:lnSpc>
            </a:pPr>
            <a:r>
              <a:rPr sz="3100"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rPr>
              <a:t>结构体变量的初始化和引用</a:t>
            </a:r>
            <a:endParaRPr lang="en-US" altLang="en-US" sz="3100" dirty="0"/>
          </a:p>
        </p:txBody>
      </p:sp>
      <p:sp>
        <p:nvSpPr>
          <p:cNvPr id="8690" name="textbox 8690"/>
          <p:cNvSpPr/>
          <p:nvPr/>
        </p:nvSpPr>
        <p:spPr>
          <a:xfrm>
            <a:off x="753726" y="3869697"/>
            <a:ext cx="3732529" cy="280035"/>
          </a:xfrm>
          <a:prstGeom prst="rect">
            <a:avLst/>
          </a:prstGeom>
        </p:spPr>
        <p:txBody>
          <a:bodyPr vert="horz" wrap="square" lIns="0" tIns="0" rIns="0" bIns="0"/>
          <a:lstStyle/>
          <a:p>
            <a:pPr algn="l" rtl="0" eaLnBrk="0">
              <a:lnSpc>
                <a:spcPct val="77000"/>
              </a:lnSpc>
            </a:pPr>
            <a:endParaRPr lang="en-US" altLang="en-US" sz="135" dirty="0"/>
          </a:p>
          <a:p>
            <a:pPr algn="r" rtl="0" eaLnBrk="0">
              <a:lnSpc>
                <a:spcPct val="93000"/>
              </a:lnSpc>
            </a:pPr>
            <a:r>
              <a:rPr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rPr>
              <a:t>(5)</a:t>
            </a:r>
            <a:r>
              <a:rPr kern="0" spc="15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rPr>
              <a:t>同类的结构体变量可</a:t>
            </a:r>
            <a:r>
              <a:rPr kern="0" spc="-100" dirty="0">
                <a:solidFill>
                  <a:srgbClr val="000000">
                    <a:alpha val="100000"/>
                  </a:srgbClr>
                </a:solidFill>
                <a:latin typeface="微软雅黑" panose="020B0503020204020204" charset="-122"/>
                <a:ea typeface="微软雅黑" panose="020B0503020204020204" charset="-122"/>
                <a:cs typeface="微软雅黑" panose="020B0503020204020204" charset="-122"/>
              </a:rPr>
              <a:t>以互相赋值。</a:t>
            </a:r>
            <a:endParaRPr lang="en-US" altLang="en-US" dirty="0"/>
          </a:p>
        </p:txBody>
      </p:sp>
      <p:sp>
        <p:nvSpPr>
          <p:cNvPr id="8694" name="path"/>
          <p:cNvSpPr/>
          <p:nvPr/>
        </p:nvSpPr>
        <p:spPr>
          <a:xfrm>
            <a:off x="670652" y="1099820"/>
            <a:ext cx="10547095" cy="25400"/>
          </a:xfrm>
          <a:custGeom>
            <a:avLst/>
            <a:gdLst/>
            <a:ahLst/>
            <a:cxnLst/>
            <a:rect l="0" t="0" r="0" b="0"/>
            <a:pathLst>
              <a:path w="16609" h="40">
                <a:moveTo>
                  <a:pt x="20" y="20"/>
                </a:moveTo>
                <a:lnTo>
                  <a:pt x="16589" y="20"/>
                </a:lnTo>
                <a:lnTo>
                  <a:pt x="20" y="20"/>
                </a:lnTo>
              </a:path>
            </a:pathLst>
          </a:custGeom>
          <a:noFill/>
          <a:ln w="25400" cap="sq">
            <a:solidFill>
              <a:srgbClr val="782367">
                <a:alpha val="100000"/>
              </a:srgbClr>
            </a:solidFill>
            <a:prstDash val="solid"/>
            <a:bevel/>
          </a:ln>
        </p:spPr>
        <p:txBody>
          <a:bodyPr rtlCol="0"/>
          <a:lstStyle/>
          <a:p>
            <a:pPr algn="ctr"/>
            <a:endParaRPr lang="zh-CN" altLang="en-US"/>
          </a:p>
        </p:txBody>
      </p:sp>
      <p:sp>
        <p:nvSpPr>
          <p:cNvPr id="8696" name="path"/>
          <p:cNvSpPr/>
          <p:nvPr/>
        </p:nvSpPr>
        <p:spPr>
          <a:xfrm>
            <a:off x="670652" y="6458203"/>
            <a:ext cx="10547095" cy="25400"/>
          </a:xfrm>
          <a:custGeom>
            <a:avLst/>
            <a:gdLst/>
            <a:ahLst/>
            <a:cxnLst/>
            <a:rect l="0" t="0" r="0" b="0"/>
            <a:pathLst>
              <a:path w="16609" h="40">
                <a:moveTo>
                  <a:pt x="20" y="20"/>
                </a:moveTo>
                <a:lnTo>
                  <a:pt x="16589" y="20"/>
                </a:lnTo>
                <a:lnTo>
                  <a:pt x="20" y="20"/>
                </a:lnTo>
              </a:path>
            </a:pathLst>
          </a:custGeom>
          <a:noFill/>
          <a:ln w="25400" cap="sq">
            <a:solidFill>
              <a:srgbClr val="782367">
                <a:alpha val="100000"/>
              </a:srgbClr>
            </a:solidFill>
            <a:prstDash val="solid"/>
            <a:bevel/>
          </a:ln>
        </p:spPr>
        <p:txBody>
          <a:bodyPr rtlCol="0"/>
          <a:lstStyle/>
          <a:p>
            <a:pPr algn="ctr"/>
            <a:endParaRPr lang="zh-CN" altLang="en-US"/>
          </a:p>
        </p:txBody>
      </p:sp>
      <p:sp>
        <p:nvSpPr>
          <p:cNvPr id="2" name="矩形 1"/>
          <p:cNvSpPr/>
          <p:nvPr>
            <p:custDataLst>
              <p:tags r:id="rId1"/>
            </p:custDataLst>
          </p:nvPr>
        </p:nvSpPr>
        <p:spPr>
          <a:xfrm>
            <a:off x="1096645" y="1889125"/>
            <a:ext cx="8073390" cy="626110"/>
          </a:xfrm>
          <a:prstGeom prst="rect">
            <a:avLst/>
          </a:prstGeom>
          <a:solidFill>
            <a:schemeClr val="bg1"/>
          </a:solidFill>
          <a:ln>
            <a:solidFill>
              <a:srgbClr val="782367"/>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108585" algn="l" rtl="0" eaLnBrk="0">
              <a:lnSpc>
                <a:spcPts val="1825"/>
              </a:lnSpc>
              <a:spcBef>
                <a:spcPts val="5"/>
              </a:spcBef>
            </a:pPr>
            <a:endParaRPr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endParaRPr>
          </a:p>
          <a:p>
            <a:pPr marL="108585" algn="l" rtl="0" eaLnBrk="0">
              <a:lnSpc>
                <a:spcPts val="1825"/>
              </a:lnSpc>
              <a:spcBef>
                <a:spcPts val="5"/>
              </a:spcBef>
            </a:pPr>
            <a:r>
              <a:rPr sz="15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student1.num=10010;</a:t>
            </a:r>
            <a:r>
              <a:rPr lang="en-US" sz="15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500" kern="0" spc="-5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//结构体变量student1中的成员nu</a:t>
            </a:r>
            <a:r>
              <a:rPr sz="1500" kern="0" spc="-6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m</a:t>
            </a:r>
            <a:endParaRPr lang="en-US" altLang="en-US" sz="1500" dirty="0"/>
          </a:p>
          <a:p>
            <a:pPr marL="108585" algn="l" rtl="0" eaLnBrk="0">
              <a:lnSpc>
                <a:spcPct val="92000"/>
              </a:lnSpc>
              <a:spcBef>
                <a:spcPts val="90"/>
              </a:spcBef>
            </a:pPr>
            <a:r>
              <a:rPr sz="15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student1.birthday.month=6;</a:t>
            </a:r>
            <a:r>
              <a:rPr lang="en-US" sz="15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500" kern="0" spc="-5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//结构体变量stu</a:t>
            </a:r>
            <a:r>
              <a:rPr sz="1500" kern="0" spc="-6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dent1中的成员birthday中的成month</a:t>
            </a:r>
            <a:endParaRPr lang="en-US" altLang="en-US" sz="1600" dirty="0"/>
          </a:p>
          <a:p>
            <a:pPr algn="ctr"/>
            <a:endParaRPr lang="zh-CN" altLang="en-US" sz="1600"/>
          </a:p>
        </p:txBody>
      </p:sp>
      <p:sp>
        <p:nvSpPr>
          <p:cNvPr id="6" name="矩形 5"/>
          <p:cNvSpPr/>
          <p:nvPr>
            <p:custDataLst>
              <p:tags r:id="rId2"/>
            </p:custDataLst>
          </p:nvPr>
        </p:nvSpPr>
        <p:spPr>
          <a:xfrm>
            <a:off x="1073150" y="2814955"/>
            <a:ext cx="8132445" cy="1045210"/>
          </a:xfrm>
          <a:prstGeom prst="rect">
            <a:avLst/>
          </a:prstGeom>
          <a:solidFill>
            <a:schemeClr val="bg1"/>
          </a:solidFill>
          <a:ln>
            <a:solidFill>
              <a:srgbClr val="782367"/>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113030" algn="l" rtl="0" eaLnBrk="0">
              <a:lnSpc>
                <a:spcPts val="1825"/>
              </a:lnSpc>
              <a:spcBef>
                <a:spcPts val="5"/>
              </a:spcBef>
            </a:pPr>
            <a:endParaRPr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endParaRPr>
          </a:p>
          <a:p>
            <a:pPr marL="113030" algn="l" rtl="0" eaLnBrk="0">
              <a:lnSpc>
                <a:spcPts val="1825"/>
              </a:lnSpc>
              <a:spcBef>
                <a:spcPts val="5"/>
              </a:spcBef>
            </a:pPr>
            <a:r>
              <a:rPr sz="15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student2.score＝stude</a:t>
            </a:r>
            <a:r>
              <a:rPr sz="15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nt1.score;</a:t>
            </a:r>
            <a:r>
              <a:rPr lang="en-US" sz="15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500" kern="0" spc="-3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//赋值运算</a:t>
            </a:r>
            <a:endParaRPr sz="15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endParaRPr>
          </a:p>
          <a:p>
            <a:pPr marL="113030" algn="l" rtl="0" eaLnBrk="0">
              <a:lnSpc>
                <a:spcPts val="1825"/>
              </a:lnSpc>
              <a:spcBef>
                <a:spcPts val="5"/>
              </a:spcBef>
            </a:pPr>
            <a:r>
              <a:rPr sz="15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sum=student1.score+student2.score</a:t>
            </a:r>
            <a:r>
              <a:rPr sz="15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r>
              <a:rPr sz="15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lang="en-US" sz="15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500" kern="0" spc="-3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//加法运算</a:t>
            </a:r>
            <a:endParaRPr sz="15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endParaRPr>
          </a:p>
          <a:p>
            <a:pPr marL="113030" algn="l" rtl="0" eaLnBrk="0">
              <a:lnSpc>
                <a:spcPts val="1825"/>
              </a:lnSpc>
              <a:spcBef>
                <a:spcPts val="5"/>
              </a:spcBef>
            </a:pPr>
            <a:r>
              <a:rPr sz="15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student1.age++;</a:t>
            </a:r>
            <a:r>
              <a:rPr lang="en-US" sz="15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500" kern="0" spc="-3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//自加运算</a:t>
            </a:r>
            <a:endParaRPr lang="en-US" altLang="en-US" sz="1500" dirty="0"/>
          </a:p>
          <a:p>
            <a:pPr algn="ctr"/>
            <a:endParaRPr lang="zh-CN" altLang="en-US" sz="1500"/>
          </a:p>
        </p:txBody>
      </p:sp>
      <p:sp>
        <p:nvSpPr>
          <p:cNvPr id="8" name="矩形 7"/>
          <p:cNvSpPr/>
          <p:nvPr>
            <p:custDataLst>
              <p:tags r:id="rId3"/>
            </p:custDataLst>
          </p:nvPr>
        </p:nvSpPr>
        <p:spPr>
          <a:xfrm>
            <a:off x="1091565" y="4254500"/>
            <a:ext cx="8126095" cy="448945"/>
          </a:xfrm>
          <a:prstGeom prst="rect">
            <a:avLst/>
          </a:prstGeom>
          <a:solidFill>
            <a:schemeClr val="bg1"/>
          </a:solidFill>
          <a:ln>
            <a:solidFill>
              <a:srgbClr val="782367"/>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sz="15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student1=student2;                  </a:t>
            </a:r>
            <a:r>
              <a:rPr sz="1500" kern="0" spc="-5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//假设st</a:t>
            </a:r>
            <a:r>
              <a:rPr sz="1500" kern="0" spc="-6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udent1和student2已定义为同类型的结构体变量</a:t>
            </a:r>
            <a:endParaRPr lang="zh-CN" altLang="en-US" sz="1500"/>
          </a:p>
        </p:txBody>
      </p:sp>
      <p:sp>
        <p:nvSpPr>
          <p:cNvPr id="9" name="矩形 8"/>
          <p:cNvSpPr/>
          <p:nvPr>
            <p:custDataLst>
              <p:tags r:id="rId4"/>
            </p:custDataLst>
          </p:nvPr>
        </p:nvSpPr>
        <p:spPr>
          <a:xfrm>
            <a:off x="1073150" y="5494020"/>
            <a:ext cx="6432550" cy="779145"/>
          </a:xfrm>
          <a:prstGeom prst="rect">
            <a:avLst/>
          </a:prstGeom>
          <a:solidFill>
            <a:schemeClr val="bg1"/>
          </a:solidFill>
          <a:ln>
            <a:solidFill>
              <a:srgbClr val="782367"/>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l"/>
            <a:endParaRPr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endParaRPr>
          </a:p>
          <a:p>
            <a:pPr algn="l"/>
            <a:r>
              <a:rPr sz="15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scanf(″%d″,&amp;studen</a:t>
            </a:r>
            <a:r>
              <a:rPr sz="15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t1.num);</a:t>
            </a:r>
            <a:r>
              <a:rPr sz="15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lang="en-US" sz="15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500" kern="0" spc="-7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//输入student1.num的值</a:t>
            </a:r>
            <a:endParaRPr sz="15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endParaRPr>
          </a:p>
          <a:p>
            <a:pPr algn="l"/>
            <a:r>
              <a:rPr sz="15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printf(″%</a:t>
            </a:r>
            <a:r>
              <a:rPr sz="1500"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o</a:t>
            </a:r>
            <a:r>
              <a:rPr sz="1500" kern="0" spc="-3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500"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″,&amp;student1);</a:t>
            </a:r>
            <a:r>
              <a:rPr lang="en-US" sz="1500"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500" kern="0" spc="-4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//输出结构体变量student1的起始地</a:t>
            </a:r>
            <a:r>
              <a:rPr sz="1500" kern="0" spc="-5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址</a:t>
            </a:r>
            <a:endParaRPr lang="en-US" altLang="en-US" sz="1500" dirty="0"/>
          </a:p>
          <a:p>
            <a:pPr algn="l"/>
            <a:endParaRPr lang="zh-CN" altLang="en-US" sz="1500"/>
          </a:p>
        </p:txBody>
      </p:sp>
      <p:sp>
        <p:nvSpPr>
          <p:cNvPr id="10" name="矩形 9"/>
          <p:cNvSpPr/>
          <p:nvPr>
            <p:custDataLst>
              <p:tags r:id="rId5"/>
            </p:custDataLst>
          </p:nvPr>
        </p:nvSpPr>
        <p:spPr>
          <a:xfrm>
            <a:off x="7588250" y="5458460"/>
            <a:ext cx="3611880" cy="814070"/>
          </a:xfrm>
          <a:prstGeom prst="rect">
            <a:avLst/>
          </a:prstGeom>
          <a:solidFill>
            <a:schemeClr val="bg1"/>
          </a:solidFill>
          <a:ln w="0">
            <a:solidFill>
              <a:srgbClr val="782367"/>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l"/>
            <a:endParaRPr sz="15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endParaRPr>
          </a:p>
          <a:p>
            <a:pPr algn="l"/>
            <a:r>
              <a:rPr sz="15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scanf(″%d,%s,%c,%d,%f,%s\n″,&amp;student1</a:t>
            </a:r>
            <a:r>
              <a:rPr sz="1500"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endParaRPr lang="en-US" altLang="en-US" sz="1500" dirty="0"/>
          </a:p>
          <a:p>
            <a:pPr algn="l"/>
            <a:endParaRPr lang="zh-CN" altLang="en-US" sz="1500"/>
          </a:p>
        </p:txBody>
      </p:sp>
      <p:pic>
        <p:nvPicPr>
          <p:cNvPr id="11" name="图片 10" descr="3b32303235343734313bb4edb2e6"/>
          <p:cNvPicPr>
            <a:picLocks noChangeAspect="1"/>
          </p:cNvPicPr>
          <p:nvPr>
            <p:custDataLst>
              <p:tags r:id="rId6"/>
            </p:custDataLst>
          </p:nvPr>
        </p:nvPicPr>
        <p:blipFill>
          <a:blip r:embed="rId9"/>
          <a:stretch>
            <a:fillRect/>
          </a:stretch>
        </p:blipFill>
        <p:spPr>
          <a:xfrm>
            <a:off x="10535920" y="5989955"/>
            <a:ext cx="468000" cy="46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0" name="textbox 8700"/>
          <p:cNvSpPr/>
          <p:nvPr/>
        </p:nvSpPr>
        <p:spPr>
          <a:xfrm>
            <a:off x="588645" y="460375"/>
            <a:ext cx="9951720" cy="496570"/>
          </a:xfrm>
          <a:prstGeom prst="rect">
            <a:avLst/>
          </a:prstGeom>
        </p:spPr>
        <p:txBody>
          <a:bodyPr vert="horz" wrap="square" lIns="0" tIns="0" rIns="0" bIns="0"/>
          <a:lstStyle/>
          <a:p>
            <a:pPr algn="l" rtl="0" eaLnBrk="0">
              <a:lnSpc>
                <a:spcPct val="74000"/>
              </a:lnSpc>
            </a:pPr>
            <a:endParaRPr lang="en-US" altLang="en-US" sz="135" dirty="0"/>
          </a:p>
          <a:p>
            <a:pPr marL="74930" algn="l" rtl="0" eaLnBrk="0">
              <a:lnSpc>
                <a:spcPct val="100000"/>
              </a:lnSpc>
            </a:pPr>
            <a:r>
              <a:rPr sz="3100"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rPr>
              <a:t>结构体变量的初始化</a:t>
            </a:r>
            <a:r>
              <a:rPr sz="31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和引用</a:t>
            </a:r>
            <a:endParaRPr lang="en-US" altLang="en-US" sz="3100" dirty="0"/>
          </a:p>
          <a:p>
            <a:pPr algn="l" rtl="0" eaLnBrk="0">
              <a:lnSpc>
                <a:spcPct val="100000"/>
              </a:lnSpc>
            </a:pPr>
            <a:endParaRPr lang="en-US" altLang="en-US" sz="700" dirty="0"/>
          </a:p>
          <a:p>
            <a:pPr marL="136525" algn="l" rtl="0" eaLnBrk="0">
              <a:lnSpc>
                <a:spcPts val="2310"/>
              </a:lnSpc>
              <a:spcBef>
                <a:spcPts val="5"/>
              </a:spcBef>
            </a:pPr>
            <a:r>
              <a:rPr sz="1900" kern="0" spc="50" dirty="0">
                <a:solidFill>
                  <a:srgbClr val="782367">
                    <a:alpha val="100000"/>
                  </a:srgbClr>
                </a:solidFill>
                <a:latin typeface="微软雅黑" panose="020B0503020204020204" charset="-122"/>
                <a:ea typeface="微软雅黑" panose="020B0503020204020204" charset="-122"/>
                <a:cs typeface="微软雅黑" panose="020B0503020204020204" charset="-122"/>
              </a:rPr>
              <a:t>【例</a:t>
            </a:r>
            <a:r>
              <a:rPr lang="en-US" sz="1900" kern="0" spc="50" dirty="0">
                <a:solidFill>
                  <a:srgbClr val="782367">
                    <a:alpha val="100000"/>
                  </a:srgbClr>
                </a:solidFill>
                <a:latin typeface="微软雅黑" panose="020B0503020204020204" charset="-122"/>
                <a:ea typeface="微软雅黑" panose="020B0503020204020204" charset="-122"/>
                <a:cs typeface="微软雅黑" panose="020B0503020204020204" charset="-122"/>
              </a:rPr>
              <a:t>7</a:t>
            </a:r>
            <a:r>
              <a:rPr sz="1900" kern="0" spc="50" dirty="0">
                <a:solidFill>
                  <a:srgbClr val="782367">
                    <a:alpha val="100000"/>
                  </a:srgbClr>
                </a:solidFill>
                <a:latin typeface="微软雅黑" panose="020B0503020204020204" charset="-122"/>
                <a:ea typeface="微软雅黑" panose="020B0503020204020204" charset="-122"/>
                <a:cs typeface="微软雅黑" panose="020B0503020204020204" charset="-122"/>
              </a:rPr>
              <a:t>.2】输入两个学生的学号、姓名和成绩，输出</a:t>
            </a:r>
            <a:r>
              <a:rPr sz="1900" kern="0" spc="40" dirty="0">
                <a:solidFill>
                  <a:srgbClr val="782367">
                    <a:alpha val="100000"/>
                  </a:srgbClr>
                </a:solidFill>
                <a:latin typeface="微软雅黑" panose="020B0503020204020204" charset="-122"/>
                <a:ea typeface="微软雅黑" panose="020B0503020204020204" charset="-122"/>
                <a:cs typeface="微软雅黑" panose="020B0503020204020204" charset="-122"/>
              </a:rPr>
              <a:t>成绩较高的学生的学号、姓名和成绩。</a:t>
            </a:r>
            <a:endParaRPr lang="en-US" altLang="en-US" sz="1900" kern="0" spc="40" dirty="0">
              <a:solidFill>
                <a:srgbClr val="782367">
                  <a:alpha val="100000"/>
                </a:srgbClr>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1"/>
            </p:custDataLst>
          </p:nvPr>
        </p:nvSpPr>
        <p:spPr>
          <a:xfrm>
            <a:off x="707390" y="1386840"/>
            <a:ext cx="7282180" cy="5499735"/>
          </a:xfrm>
          <a:prstGeom prst="rect">
            <a:avLst/>
          </a:prstGeom>
          <a:solidFill>
            <a:schemeClr val="bg1"/>
          </a:solidFill>
          <a:ln>
            <a:solidFill>
              <a:srgbClr val="782367"/>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116840" algn="l" rtl="0" eaLnBrk="0">
              <a:lnSpc>
                <a:spcPct val="93000"/>
              </a:lnSpc>
              <a:spcBef>
                <a:spcPts val="0"/>
              </a:spcBef>
            </a:pPr>
            <a:endPar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endParaRPr>
          </a:p>
          <a:p>
            <a:pPr marL="116840" algn="l" rtl="0" eaLnBrk="0">
              <a:lnSpc>
                <a:spcPct val="93000"/>
              </a:lnSpc>
              <a:spcBef>
                <a:spcPts val="0"/>
              </a:spcBef>
            </a:pPr>
            <a:endPar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endParaRPr>
          </a:p>
          <a:p>
            <a:pPr marL="116840" algn="l" rtl="0" eaLnBrk="0">
              <a:lnSpc>
                <a:spcPct val="93000"/>
              </a:lnSpc>
              <a:spcBef>
                <a:spcPts val="0"/>
              </a:spcBef>
            </a:pP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#include</a:t>
            </a:r>
            <a:r>
              <a:rPr sz="1400" kern="0" spc="20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&lt;stdio.h&gt;</a:t>
            </a:r>
            <a:endParaRPr lang="en-US" altLang="en-US" sz="1400" dirty="0"/>
          </a:p>
          <a:p>
            <a:pPr marL="127000" algn="l" rtl="0" eaLnBrk="0">
              <a:lnSpc>
                <a:spcPts val="2015"/>
              </a:lnSpc>
            </a:pPr>
            <a:r>
              <a:rPr sz="14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int</a:t>
            </a:r>
            <a:r>
              <a:rPr sz="1400" kern="0" spc="1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main()</a:t>
            </a:r>
            <a:endParaRPr lang="en-US" altLang="en-US" sz="1400" dirty="0"/>
          </a:p>
          <a:p>
            <a:pPr marL="113665" algn="l" rtl="0" eaLnBrk="0">
              <a:lnSpc>
                <a:spcPct val="99000"/>
              </a:lnSpc>
              <a:spcBef>
                <a:spcPts val="565"/>
              </a:spcBef>
            </a:pPr>
            <a:r>
              <a:rPr sz="1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struct</a:t>
            </a:r>
            <a:r>
              <a:rPr sz="14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Student                </a:t>
            </a:r>
            <a:r>
              <a:rPr sz="1400" kern="0" spc="-1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//声明结构体类型struct</a:t>
            </a:r>
            <a:r>
              <a:rPr sz="1400" kern="0" spc="14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1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Stude</a:t>
            </a:r>
            <a:r>
              <a:rPr sz="1400" kern="0" spc="-2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nt</a:t>
            </a:r>
            <a:endParaRPr lang="en-US" altLang="en-US" sz="1400" dirty="0"/>
          </a:p>
          <a:p>
            <a:pPr marL="476885" algn="l" rtl="0" eaLnBrk="0">
              <a:lnSpc>
                <a:spcPts val="1450"/>
              </a:lnSpc>
              <a:spcBef>
                <a:spcPts val="475"/>
              </a:spcBef>
            </a:pPr>
            <a:r>
              <a:rPr sz="1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r>
              <a:rPr sz="1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int</a:t>
            </a:r>
            <a:r>
              <a:rPr sz="1400" kern="0" spc="1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num;</a:t>
            </a:r>
            <a:endParaRPr lang="en-US" altLang="en-US" sz="1400" dirty="0"/>
          </a:p>
          <a:p>
            <a:pPr marL="850265" algn="l" rtl="0" eaLnBrk="0">
              <a:lnSpc>
                <a:spcPct val="93000"/>
              </a:lnSpc>
              <a:spcBef>
                <a:spcPts val="565"/>
              </a:spcBef>
            </a:pP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char</a:t>
            </a:r>
            <a:r>
              <a:rPr sz="1400" kern="0" spc="1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name[20];</a:t>
            </a:r>
            <a:endParaRPr lang="en-US" altLang="en-US" sz="1400" dirty="0"/>
          </a:p>
          <a:p>
            <a:pPr marL="845820" algn="l" rtl="0" eaLnBrk="0">
              <a:lnSpc>
                <a:spcPts val="2015"/>
              </a:lnSpc>
            </a:pP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float</a:t>
            </a:r>
            <a:r>
              <a:rPr sz="1400" kern="0" spc="1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score;</a:t>
            </a:r>
            <a:endParaRPr lang="en-US" altLang="en-US" sz="1400" dirty="0"/>
          </a:p>
          <a:p>
            <a:pPr marL="476885" algn="l" rtl="0" eaLnBrk="0">
              <a:lnSpc>
                <a:spcPct val="99000"/>
              </a:lnSpc>
              <a:spcBef>
                <a:spcPts val="560"/>
              </a:spcBef>
            </a:pPr>
            <a:r>
              <a:rPr sz="1400" kern="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}student1,student2;       </a:t>
            </a:r>
            <a:r>
              <a:rPr sz="1400" kern="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//定义两个结构</a:t>
            </a:r>
            <a:r>
              <a:rPr sz="1400" kern="0" spc="-1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体变量student1,student2</a:t>
            </a:r>
            <a:endParaRPr lang="en-US" altLang="en-US" sz="1400" dirty="0"/>
          </a:p>
          <a:p>
            <a:pPr marL="478790" algn="l" rtl="0" eaLnBrk="0">
              <a:lnSpc>
                <a:spcPct val="114000"/>
              </a:lnSpc>
              <a:spcBef>
                <a:spcPts val="475"/>
              </a:spcBef>
            </a:pPr>
            <a:r>
              <a:rPr sz="14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scanf("%d%s%f",&amp;student1.num,student1</a:t>
            </a: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.name,&amp;student1.score);     </a:t>
            </a:r>
            <a:r>
              <a:rPr sz="1400" kern="0" spc="-4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//输入学生1的数据        </a:t>
            </a:r>
          </a:p>
          <a:p>
            <a:pPr marL="478790" algn="l" rtl="0" eaLnBrk="0">
              <a:lnSpc>
                <a:spcPct val="114000"/>
              </a:lnSpc>
              <a:spcBef>
                <a:spcPts val="475"/>
              </a:spcBef>
            </a:pPr>
            <a:r>
              <a:rPr sz="14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scanf("%d%s%f",&amp;student2.num,student2.name,&amp;student</a:t>
            </a: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2.score);     </a:t>
            </a:r>
            <a:r>
              <a:rPr sz="1400" kern="0" spc="-4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//输入学生</a:t>
            </a:r>
            <a:r>
              <a:rPr lang="en-US" sz="1400" kern="0" spc="-4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2</a:t>
            </a:r>
            <a:r>
              <a:rPr sz="1400" kern="0" spc="-4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的数据</a:t>
            </a:r>
            <a:endParaRPr lang="en-US" altLang="en-US" sz="1400" dirty="0"/>
          </a:p>
          <a:p>
            <a:pPr marL="489585" algn="l" rtl="0" eaLnBrk="0">
              <a:lnSpc>
                <a:spcPct val="92000"/>
              </a:lnSpc>
              <a:spcBef>
                <a:spcPts val="475"/>
              </a:spcBef>
            </a:pP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printf("The</a:t>
            </a:r>
            <a:r>
              <a:rPr sz="1400" kern="0" spc="19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higher score</a:t>
            </a:r>
            <a:r>
              <a:rPr sz="1400" kern="0" spc="1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is:\n");</a:t>
            </a:r>
            <a:endParaRPr lang="en-US" altLang="en-US" sz="1400" dirty="0"/>
          </a:p>
          <a:p>
            <a:pPr marL="490220" algn="l" rtl="0" eaLnBrk="0">
              <a:lnSpc>
                <a:spcPct val="99000"/>
              </a:lnSpc>
              <a:spcBef>
                <a:spcPts val="580"/>
              </a:spcBef>
            </a:pPr>
            <a:r>
              <a:rPr sz="14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if(student1.score&gt;student</a:t>
            </a: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2.score)</a:t>
            </a:r>
            <a:endParaRPr lang="en-US" altLang="en-US" sz="1400" dirty="0"/>
          </a:p>
          <a:p>
            <a:pPr marL="484505" indent="370205" algn="l" rtl="0" eaLnBrk="0">
              <a:lnSpc>
                <a:spcPct val="114000"/>
              </a:lnSpc>
              <a:spcBef>
                <a:spcPts val="475"/>
              </a:spcBef>
            </a:pP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printf("%d  %s  %6.2f\n",student1.num,student1.name,student1.score);       </a:t>
            </a:r>
            <a:r>
              <a:rPr sz="1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else</a:t>
            </a:r>
            <a:r>
              <a:rPr sz="1400" kern="0" spc="1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if(student1.score&lt;</a:t>
            </a: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student2.score)</a:t>
            </a:r>
            <a:endParaRPr lang="en-US" altLang="en-US" sz="1400" dirty="0"/>
          </a:p>
          <a:p>
            <a:pPr marL="484505" indent="370205" algn="l" rtl="0" eaLnBrk="0">
              <a:lnSpc>
                <a:spcPct val="121000"/>
              </a:lnSpc>
              <a:spcBef>
                <a:spcPts val="465"/>
              </a:spcBef>
            </a:pP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printf("%d  %s  %6.2f\n",student2.num,student2.name,student2.score);       </a:t>
            </a:r>
            <a:r>
              <a:rPr sz="1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else</a:t>
            </a:r>
            <a:endParaRPr lang="en-US" altLang="en-US" sz="1400" dirty="0"/>
          </a:p>
          <a:p>
            <a:pPr marL="476885" algn="r" rtl="0" eaLnBrk="0">
              <a:lnSpc>
                <a:spcPct val="111000"/>
              </a:lnSpc>
              <a:spcBef>
                <a:spcPts val="265"/>
              </a:spcBef>
            </a:pP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printf("%d  %s  %6.2f\n",student1.num,student1.name,student1.score);                        </a:t>
            </a:r>
            <a:r>
              <a:rPr sz="1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printf("%d  %s  %6.2f</a:t>
            </a:r>
            <a:r>
              <a:rPr sz="1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\n",student2.num,student2.name,student2.score);</a:t>
            </a:r>
            <a:endParaRPr lang="en-US" altLang="en-US" sz="1400" dirty="0"/>
          </a:p>
          <a:p>
            <a:pPr marL="476885" algn="l" rtl="0" eaLnBrk="0">
              <a:lnSpc>
                <a:spcPct val="99000"/>
              </a:lnSpc>
              <a:spcBef>
                <a:spcPts val="570"/>
              </a:spcBef>
            </a:pPr>
            <a:r>
              <a:rPr sz="1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endParaRPr lang="en-US" altLang="en-US" sz="1400" dirty="0"/>
          </a:p>
          <a:p>
            <a:pPr marL="489585" algn="l" rtl="0" eaLnBrk="0">
              <a:lnSpc>
                <a:spcPct val="93000"/>
              </a:lnSpc>
              <a:spcBef>
                <a:spcPts val="480"/>
              </a:spcBef>
            </a:pPr>
            <a:r>
              <a:rPr sz="14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return</a:t>
            </a:r>
            <a:r>
              <a:rPr sz="1400" kern="0" spc="1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0;</a:t>
            </a:r>
            <a:r>
              <a:rPr sz="1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endParaRPr lang="en-US" altLang="en-US" sz="1400" dirty="0"/>
          </a:p>
          <a:p>
            <a:pPr algn="ctr"/>
            <a:endParaRPr lang="zh-CN" altLang="en-US" sz="1400" dirty="0"/>
          </a:p>
        </p:txBody>
      </p:sp>
      <p:pic>
        <p:nvPicPr>
          <p:cNvPr id="3" name="图片 2"/>
          <p:cNvPicPr>
            <a:picLocks noChangeAspect="1"/>
          </p:cNvPicPr>
          <p:nvPr>
            <p:custDataLst>
              <p:tags r:id="rId2"/>
            </p:custDataLst>
          </p:nvPr>
        </p:nvPicPr>
        <p:blipFill>
          <a:blip r:embed="rId4"/>
          <a:stretch>
            <a:fillRect/>
          </a:stretch>
        </p:blipFill>
        <p:spPr>
          <a:xfrm>
            <a:off x="7989570" y="5524500"/>
            <a:ext cx="4216400" cy="13335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81923"/>
          <p:cNvSpPr txBox="1"/>
          <p:nvPr/>
        </p:nvSpPr>
        <p:spPr>
          <a:xfrm>
            <a:off x="2185000" y="446405"/>
            <a:ext cx="7823200" cy="2432051"/>
          </a:xfrm>
          <a:prstGeom prst="rect">
            <a:avLst/>
          </a:prstGeom>
          <a:noFill/>
          <a:ln w="9525">
            <a:noFill/>
          </a:ln>
        </p:spPr>
        <p:txBody>
          <a:bodyPr anchor="b"/>
          <a:lstStyle>
            <a:lvl1pPr marL="0" lvl="0" indent="0" algn="r" defTabSz="914400" rtl="0" eaLnBrk="1" fontAlgn="base" latinLnBrk="0" hangingPunct="1">
              <a:lnSpc>
                <a:spcPct val="100000"/>
              </a:lnSpc>
              <a:spcBef>
                <a:spcPct val="0"/>
              </a:spcBef>
              <a:spcAft>
                <a:spcPct val="0"/>
              </a:spcAft>
              <a:buClrTx/>
              <a:buSzTx/>
              <a:buFontTx/>
              <a:buNone/>
              <a:defRPr sz="4800" b="1" i="0" u="none" kern="1200" baseline="0">
                <a:solidFill>
                  <a:schemeClr val="tx2"/>
                </a:solidFill>
                <a:latin typeface="+mj-lt"/>
                <a:ea typeface="+mj-ea"/>
                <a:cs typeface="+mj-cs"/>
              </a:defRPr>
            </a:lvl1pPr>
          </a:lstStyle>
          <a:p>
            <a:pPr algn="ctr"/>
            <a:r>
              <a:rPr lang="zh-CN" altLang="en-US" noProof="1">
                <a:solidFill>
                  <a:srgbClr val="330066"/>
                </a:solidFill>
                <a:effectLst>
                  <a:outerShdw blurRad="38100" dist="38100" dir="2700000">
                    <a:srgbClr val="C0C0C0"/>
                  </a:outerShdw>
                </a:effectLst>
                <a:latin typeface="Arial" panose="020B0604020202090204" pitchFamily="34" charset="0"/>
                <a:ea typeface="隶书" panose="02010509060101010101" pitchFamily="49" charset="-122"/>
              </a:rPr>
              <a:t>使用结构体数组</a:t>
            </a:r>
            <a:endParaRPr lang="en-US" altLang="zh-CN" noProof="1">
              <a:solidFill>
                <a:srgbClr val="330066"/>
              </a:solidFill>
              <a:effectLst>
                <a:outerShdw blurRad="38100" dist="38100" dir="2700000">
                  <a:srgbClr val="C0C0C0"/>
                </a:outerShdw>
              </a:effectLst>
              <a:latin typeface="Arial" panose="020B0604020202090204" pitchFamily="34" charset="0"/>
              <a:ea typeface="隶书" panose="02010509060101010101" pitchFamily="49" charset="-122"/>
            </a:endParaRPr>
          </a:p>
        </p:txBody>
      </p:sp>
      <p:cxnSp>
        <p:nvCxnSpPr>
          <p:cNvPr id="4" name="直接连接符 3"/>
          <p:cNvCxnSpPr/>
          <p:nvPr/>
        </p:nvCxnSpPr>
        <p:spPr>
          <a:xfrm>
            <a:off x="432400" y="3136069"/>
            <a:ext cx="11328400" cy="0"/>
          </a:xfrm>
          <a:prstGeom prst="line">
            <a:avLst/>
          </a:prstGeom>
          <a:ln w="25400">
            <a:solidFill>
              <a:srgbClr val="782367"/>
            </a:solidFill>
          </a:ln>
        </p:spPr>
        <p:style>
          <a:lnRef idx="1">
            <a:schemeClr val="accent1"/>
          </a:lnRef>
          <a:fillRef idx="0">
            <a:schemeClr val="accent1"/>
          </a:fillRef>
          <a:effectRef idx="0">
            <a:schemeClr val="accent1"/>
          </a:effectRef>
          <a:fontRef idx="minor">
            <a:schemeClr val="tx1"/>
          </a:fontRef>
        </p:style>
      </p:cxn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32431" y="246671"/>
            <a:ext cx="573807" cy="573807"/>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10" name="textbox 8710"/>
          <p:cNvSpPr/>
          <p:nvPr/>
        </p:nvSpPr>
        <p:spPr>
          <a:xfrm>
            <a:off x="588645" y="460375"/>
            <a:ext cx="10151745" cy="543560"/>
          </a:xfrm>
          <a:prstGeom prst="rect">
            <a:avLst/>
          </a:prstGeom>
        </p:spPr>
        <p:txBody>
          <a:bodyPr vert="horz" wrap="square" lIns="0" tIns="0" rIns="0" bIns="0"/>
          <a:lstStyle/>
          <a:p>
            <a:pPr algn="l" rtl="0" eaLnBrk="0">
              <a:lnSpc>
                <a:spcPct val="95000"/>
              </a:lnSpc>
            </a:pPr>
            <a:endParaRPr lang="en-US" altLang="en-US" sz="135" dirty="0"/>
          </a:p>
          <a:p>
            <a:pPr marL="75565" algn="l" rtl="0" eaLnBrk="0">
              <a:lnSpc>
                <a:spcPct val="99000"/>
              </a:lnSpc>
            </a:pPr>
            <a:r>
              <a:rPr sz="31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定义结构体数组</a:t>
            </a:r>
            <a:endParaRPr lang="en-US" altLang="en-US" sz="3100" dirty="0"/>
          </a:p>
          <a:p>
            <a:pPr algn="l" rtl="0" eaLnBrk="0">
              <a:lnSpc>
                <a:spcPct val="102000"/>
              </a:lnSpc>
            </a:pPr>
            <a:endParaRPr lang="en-US" altLang="en-US" sz="700" dirty="0"/>
          </a:p>
          <a:p>
            <a:pPr algn="r" rtl="0" eaLnBrk="0">
              <a:lnSpc>
                <a:spcPts val="2315"/>
              </a:lnSpc>
              <a:spcBef>
                <a:spcPts val="0"/>
              </a:spcBef>
            </a:pPr>
            <a:r>
              <a:rPr sz="1900" kern="0" spc="50" dirty="0">
                <a:solidFill>
                  <a:srgbClr val="782367">
                    <a:alpha val="100000"/>
                  </a:srgbClr>
                </a:solidFill>
                <a:latin typeface="微软雅黑" panose="020B0503020204020204" charset="-122"/>
                <a:ea typeface="微软雅黑" panose="020B0503020204020204" charset="-122"/>
                <a:cs typeface="微软雅黑" panose="020B0503020204020204" charset="-122"/>
              </a:rPr>
              <a:t>【例</a:t>
            </a:r>
            <a:r>
              <a:rPr lang="en-US" sz="1900" kern="0" spc="50" dirty="0">
                <a:solidFill>
                  <a:srgbClr val="782367">
                    <a:alpha val="100000"/>
                  </a:srgbClr>
                </a:solidFill>
                <a:latin typeface="微软雅黑" panose="020B0503020204020204" charset="-122"/>
                <a:ea typeface="微软雅黑" panose="020B0503020204020204" charset="-122"/>
                <a:cs typeface="微软雅黑" panose="020B0503020204020204" charset="-122"/>
              </a:rPr>
              <a:t>7</a:t>
            </a:r>
            <a:r>
              <a:rPr sz="1900" kern="0" spc="50" dirty="0">
                <a:solidFill>
                  <a:srgbClr val="782367">
                    <a:alpha val="100000"/>
                  </a:srgbClr>
                </a:solidFill>
                <a:latin typeface="微软雅黑" panose="020B0503020204020204" charset="-122"/>
                <a:ea typeface="微软雅黑" panose="020B0503020204020204" charset="-122"/>
                <a:cs typeface="微软雅黑" panose="020B0503020204020204" charset="-122"/>
              </a:rPr>
              <a:t>.3】有3个候选人，每个选民只能投票选</a:t>
            </a:r>
            <a:r>
              <a:rPr sz="1900" kern="0" spc="40" dirty="0">
                <a:solidFill>
                  <a:srgbClr val="782367">
                    <a:alpha val="100000"/>
                  </a:srgbClr>
                </a:solidFill>
                <a:latin typeface="微软雅黑" panose="020B0503020204020204" charset="-122"/>
                <a:ea typeface="微软雅黑" panose="020B0503020204020204" charset="-122"/>
                <a:cs typeface="微软雅黑" panose="020B0503020204020204" charset="-122"/>
              </a:rPr>
              <a:t>一人，</a:t>
            </a:r>
            <a:r>
              <a:rPr sz="1900" kern="0" spc="270" dirty="0">
                <a:solidFill>
                  <a:srgbClr val="782367">
                    <a:alpha val="100000"/>
                  </a:srgbClr>
                </a:solidFill>
                <a:latin typeface="微软雅黑" panose="020B0503020204020204" charset="-122"/>
                <a:ea typeface="微软雅黑" panose="020B0503020204020204" charset="-122"/>
                <a:cs typeface="微软雅黑" panose="020B0503020204020204" charset="-122"/>
              </a:rPr>
              <a:t> </a:t>
            </a:r>
            <a:r>
              <a:rPr sz="1900" kern="0" spc="40" dirty="0">
                <a:solidFill>
                  <a:srgbClr val="782367">
                    <a:alpha val="100000"/>
                  </a:srgbClr>
                </a:solidFill>
                <a:latin typeface="微软雅黑" panose="020B0503020204020204" charset="-122"/>
                <a:ea typeface="微软雅黑" panose="020B0503020204020204" charset="-122"/>
                <a:cs typeface="微软雅黑" panose="020B0503020204020204" charset="-122"/>
              </a:rPr>
              <a:t>要求编一个统计选票的程序，先后输入</a:t>
            </a:r>
            <a:endParaRPr lang="en-US" altLang="en-US" sz="1900" kern="0" spc="40" dirty="0">
              <a:solidFill>
                <a:srgbClr val="782367">
                  <a:alpha val="100000"/>
                </a:srgbClr>
              </a:solidFill>
              <a:latin typeface="微软雅黑" panose="020B0503020204020204" charset="-122"/>
              <a:ea typeface="微软雅黑" panose="020B0503020204020204" charset="-122"/>
              <a:cs typeface="微软雅黑" panose="020B0503020204020204" charset="-122"/>
            </a:endParaRPr>
          </a:p>
        </p:txBody>
      </p:sp>
      <p:sp>
        <p:nvSpPr>
          <p:cNvPr id="8712" name="textbox 8712"/>
          <p:cNvSpPr/>
          <p:nvPr/>
        </p:nvSpPr>
        <p:spPr>
          <a:xfrm>
            <a:off x="662305" y="1404620"/>
            <a:ext cx="4527550" cy="391795"/>
          </a:xfrm>
          <a:prstGeom prst="rect">
            <a:avLst/>
          </a:prstGeom>
        </p:spPr>
        <p:txBody>
          <a:bodyPr vert="horz" wrap="square" lIns="0" tIns="0" rIns="0" bIns="0"/>
          <a:lstStyle/>
          <a:p>
            <a:pPr algn="l" rtl="0" eaLnBrk="0">
              <a:lnSpc>
                <a:spcPct val="83000"/>
              </a:lnSpc>
            </a:pPr>
            <a:endParaRPr lang="en-US" altLang="en-US" sz="135" dirty="0"/>
          </a:p>
          <a:p>
            <a:pPr marL="12700" algn="l" rtl="0" eaLnBrk="0">
              <a:lnSpc>
                <a:spcPts val="2315"/>
              </a:lnSpc>
            </a:pPr>
            <a:r>
              <a:rPr sz="1900" kern="0" spc="50" dirty="0">
                <a:solidFill>
                  <a:srgbClr val="782367">
                    <a:alpha val="100000"/>
                  </a:srgbClr>
                </a:solidFill>
                <a:latin typeface="微软雅黑" panose="020B0503020204020204" charset="-122"/>
                <a:ea typeface="微软雅黑" panose="020B0503020204020204" charset="-122"/>
                <a:cs typeface="微软雅黑" panose="020B0503020204020204" charset="-122"/>
              </a:rPr>
              <a:t>被选人的名字，最后输出各人</a:t>
            </a:r>
            <a:r>
              <a:rPr sz="1900" kern="0" spc="40" dirty="0">
                <a:solidFill>
                  <a:srgbClr val="782367">
                    <a:alpha val="100000"/>
                  </a:srgbClr>
                </a:solidFill>
                <a:latin typeface="微软雅黑" panose="020B0503020204020204" charset="-122"/>
                <a:ea typeface="微软雅黑" panose="020B0503020204020204" charset="-122"/>
                <a:cs typeface="微软雅黑" panose="020B0503020204020204" charset="-122"/>
              </a:rPr>
              <a:t>得票结果。</a:t>
            </a:r>
            <a:endParaRPr lang="en-US" altLang="en-US" sz="1900" dirty="0">
              <a:solidFill>
                <a:srgbClr val="782367"/>
              </a:solidFill>
            </a:endParaRPr>
          </a:p>
          <a:p>
            <a:pPr algn="l" rtl="0" eaLnBrk="0">
              <a:lnSpc>
                <a:spcPct val="174000"/>
              </a:lnSpc>
            </a:pPr>
            <a:endParaRPr lang="en-US" altLang="en-US" sz="1000" dirty="0"/>
          </a:p>
          <a:p>
            <a:pPr algn="l" rtl="0" eaLnBrk="0">
              <a:lnSpc>
                <a:spcPct val="126000"/>
              </a:lnSpc>
            </a:pPr>
            <a:endParaRPr lang="en-US" altLang="en-US" sz="300" dirty="0"/>
          </a:p>
          <a:p>
            <a:pPr marL="1429385" algn="l" rtl="0" eaLnBrk="0">
              <a:lnSpc>
                <a:spcPts val="2020"/>
              </a:lnSpc>
              <a:spcBef>
                <a:spcPts val="5"/>
              </a:spcBef>
            </a:pPr>
            <a:r>
              <a:rPr sz="15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name              c</a:t>
            </a:r>
            <a:r>
              <a:rPr sz="15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ount</a:t>
            </a:r>
            <a:endParaRPr lang="en-US" altLang="en-US" sz="1500" dirty="0"/>
          </a:p>
        </p:txBody>
      </p:sp>
      <p:graphicFrame>
        <p:nvGraphicFramePr>
          <p:cNvPr id="8714" name="table 8714"/>
          <p:cNvGraphicFramePr>
            <a:graphicFrameLocks noGrp="1"/>
          </p:cNvGraphicFramePr>
          <p:nvPr/>
        </p:nvGraphicFramePr>
        <p:xfrm>
          <a:off x="1687287" y="2335401"/>
          <a:ext cx="2519680" cy="1120140"/>
        </p:xfrm>
        <a:graphic>
          <a:graphicData uri="http://schemas.openxmlformats.org/drawingml/2006/table">
            <a:tbl>
              <a:tblPr>
                <a:solidFill>
                  <a:srgbClr val="FBE9E8"/>
                </a:solidFill>
              </a:tblPr>
              <a:tblGrid>
                <a:gridCol w="1259840">
                  <a:extLst>
                    <a:ext uri="{9D8B030D-6E8A-4147-A177-3AD203B41FA5}">
                      <a16:colId xmlns:a16="http://schemas.microsoft.com/office/drawing/2014/main" val="20000"/>
                    </a:ext>
                  </a:extLst>
                </a:gridCol>
                <a:gridCol w="1259840">
                  <a:extLst>
                    <a:ext uri="{9D8B030D-6E8A-4147-A177-3AD203B41FA5}">
                      <a16:colId xmlns:a16="http://schemas.microsoft.com/office/drawing/2014/main" val="20001"/>
                    </a:ext>
                  </a:extLst>
                </a:gridCol>
              </a:tblGrid>
              <a:tr h="373380">
                <a:tc>
                  <a:txBody>
                    <a:bodyPr/>
                    <a:lstStyle/>
                    <a:p>
                      <a:pPr algn="l" rtl="0" eaLnBrk="0">
                        <a:lnSpc>
                          <a:spcPct val="107000"/>
                        </a:lnSpc>
                      </a:pPr>
                      <a:endParaRPr lang="en-US" altLang="en-US" sz="600" dirty="0"/>
                    </a:p>
                    <a:p>
                      <a:pPr marL="581025" algn="l" rtl="0" eaLnBrk="0">
                        <a:lnSpc>
                          <a:spcPct val="88000"/>
                        </a:lnSpc>
                        <a:spcBef>
                          <a:spcPts val="5"/>
                        </a:spcBef>
                      </a:pPr>
                      <a:r>
                        <a:rPr sz="14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Li</a:t>
                      </a:r>
                      <a:endParaRPr lang="en-US" altLang="en-US" sz="1400" dirty="0"/>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FBE9E8"/>
                    </a:solidFill>
                  </a:tcPr>
                </a:tc>
                <a:tc>
                  <a:txBody>
                    <a:bodyPr/>
                    <a:lstStyle/>
                    <a:p>
                      <a:pPr algn="l" rtl="0" eaLnBrk="0">
                        <a:lnSpc>
                          <a:spcPct val="111000"/>
                        </a:lnSpc>
                      </a:pPr>
                      <a:endParaRPr lang="en-US" altLang="en-US" sz="600" dirty="0"/>
                    </a:p>
                    <a:p>
                      <a:pPr marL="584200" algn="l" rtl="0" eaLnBrk="0">
                        <a:lnSpc>
                          <a:spcPct val="78000"/>
                        </a:lnSpc>
                        <a:spcBef>
                          <a:spcPts val="0"/>
                        </a:spcBef>
                      </a:pPr>
                      <a:r>
                        <a:rPr sz="16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0</a:t>
                      </a:r>
                      <a:endParaRPr lang="en-US" altLang="en-US" sz="1600" dirty="0"/>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FBE9E8"/>
                    </a:solidFill>
                  </a:tcPr>
                </a:tc>
                <a:extLst>
                  <a:ext uri="{0D108BD9-81ED-4DB2-BD59-A6C34878D82A}">
                    <a16:rowId xmlns:a16="http://schemas.microsoft.com/office/drawing/2014/main" val="10000"/>
                  </a:ext>
                </a:extLst>
              </a:tr>
              <a:tr h="373380">
                <a:tc>
                  <a:txBody>
                    <a:bodyPr/>
                    <a:lstStyle/>
                    <a:p>
                      <a:pPr algn="l" rtl="0" eaLnBrk="0">
                        <a:lnSpc>
                          <a:spcPct val="109000"/>
                        </a:lnSpc>
                      </a:pPr>
                      <a:endParaRPr lang="en-US" altLang="en-US" sz="600" dirty="0"/>
                    </a:p>
                    <a:p>
                      <a:pPr marL="357505" algn="l" rtl="0" eaLnBrk="0">
                        <a:lnSpc>
                          <a:spcPct val="74000"/>
                        </a:lnSpc>
                        <a:spcBef>
                          <a:spcPts val="0"/>
                        </a:spcBef>
                      </a:pPr>
                      <a:r>
                        <a:rPr sz="1600"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rPr>
                        <a:t>Zhang</a:t>
                      </a:r>
                      <a:endParaRPr lang="en-US" altLang="en-US" sz="1600" dirty="0"/>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9E8"/>
                    </a:solidFill>
                  </a:tcPr>
                </a:tc>
                <a:tc>
                  <a:txBody>
                    <a:bodyPr/>
                    <a:lstStyle/>
                    <a:p>
                      <a:pPr algn="l" rtl="0" eaLnBrk="0">
                        <a:lnSpc>
                          <a:spcPct val="111000"/>
                        </a:lnSpc>
                      </a:pPr>
                      <a:endParaRPr lang="en-US" altLang="en-US" sz="600" dirty="0"/>
                    </a:p>
                    <a:p>
                      <a:pPr marL="584200" algn="l" rtl="0" eaLnBrk="0">
                        <a:lnSpc>
                          <a:spcPct val="78000"/>
                        </a:lnSpc>
                        <a:spcBef>
                          <a:spcPts val="0"/>
                        </a:spcBef>
                      </a:pPr>
                      <a:r>
                        <a:rPr sz="16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0</a:t>
                      </a:r>
                      <a:endParaRPr lang="en-US" altLang="en-US" sz="1600" dirty="0"/>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9E8"/>
                    </a:solidFill>
                  </a:tcPr>
                </a:tc>
                <a:extLst>
                  <a:ext uri="{0D108BD9-81ED-4DB2-BD59-A6C34878D82A}">
                    <a16:rowId xmlns:a16="http://schemas.microsoft.com/office/drawing/2014/main" val="10001"/>
                  </a:ext>
                </a:extLst>
              </a:tr>
              <a:tr h="373380">
                <a:tc>
                  <a:txBody>
                    <a:bodyPr/>
                    <a:lstStyle/>
                    <a:p>
                      <a:pPr algn="l" rtl="0" eaLnBrk="0">
                        <a:lnSpc>
                          <a:spcPct val="111000"/>
                        </a:lnSpc>
                      </a:pPr>
                      <a:endParaRPr lang="en-US" altLang="en-US" sz="600" dirty="0"/>
                    </a:p>
                    <a:p>
                      <a:pPr marL="474980" algn="l" rtl="0" eaLnBrk="0">
                        <a:lnSpc>
                          <a:spcPct val="82000"/>
                        </a:lnSpc>
                        <a:spcBef>
                          <a:spcPts val="0"/>
                        </a:spcBef>
                      </a:pPr>
                      <a:r>
                        <a:rPr sz="15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Sun</a:t>
                      </a:r>
                      <a:endParaRPr lang="en-US" altLang="en-US" sz="1500" dirty="0"/>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9E8"/>
                    </a:solidFill>
                  </a:tcPr>
                </a:tc>
                <a:tc>
                  <a:txBody>
                    <a:bodyPr/>
                    <a:lstStyle/>
                    <a:p>
                      <a:pPr algn="l" rtl="0" eaLnBrk="0">
                        <a:lnSpc>
                          <a:spcPct val="111000"/>
                        </a:lnSpc>
                      </a:pPr>
                      <a:endParaRPr lang="en-US" altLang="en-US" sz="600" dirty="0"/>
                    </a:p>
                    <a:p>
                      <a:pPr marL="584200" algn="l" rtl="0" eaLnBrk="0">
                        <a:lnSpc>
                          <a:spcPct val="78000"/>
                        </a:lnSpc>
                        <a:spcBef>
                          <a:spcPts val="5"/>
                        </a:spcBef>
                      </a:pPr>
                      <a:r>
                        <a:rPr sz="16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0</a:t>
                      </a:r>
                      <a:endParaRPr lang="en-US" altLang="en-US" sz="1600" dirty="0"/>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9E8"/>
                    </a:solidFill>
                  </a:tcPr>
                </a:tc>
                <a:extLst>
                  <a:ext uri="{0D108BD9-81ED-4DB2-BD59-A6C34878D82A}">
                    <a16:rowId xmlns:a16="http://schemas.microsoft.com/office/drawing/2014/main" val="10002"/>
                  </a:ext>
                </a:extLst>
              </a:tr>
            </a:tbl>
          </a:graphicData>
        </a:graphic>
      </p:graphicFrame>
      <p:sp>
        <p:nvSpPr>
          <p:cNvPr id="2" name="矩形 1"/>
          <p:cNvSpPr/>
          <p:nvPr>
            <p:custDataLst>
              <p:tags r:id="rId1"/>
            </p:custDataLst>
          </p:nvPr>
        </p:nvSpPr>
        <p:spPr>
          <a:xfrm>
            <a:off x="5334000" y="1424305"/>
            <a:ext cx="5948680" cy="5429250"/>
          </a:xfrm>
          <a:prstGeom prst="rect">
            <a:avLst/>
          </a:prstGeom>
          <a:solidFill>
            <a:schemeClr val="bg1"/>
          </a:solidFill>
          <a:ln>
            <a:solidFill>
              <a:srgbClr val="7030A0"/>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120015" algn="l" rtl="0" eaLnBrk="0">
              <a:lnSpc>
                <a:spcPct val="92000"/>
              </a:lnSpc>
              <a:spcBef>
                <a:spcPts val="5"/>
              </a:spcBef>
            </a:pPr>
            <a:endPar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endParaRPr>
          </a:p>
          <a:p>
            <a:pPr marL="120015" algn="l" rtl="0" eaLnBrk="0">
              <a:lnSpc>
                <a:spcPct val="92000"/>
              </a:lnSpc>
              <a:spcBef>
                <a:spcPts val="5"/>
              </a:spcBef>
            </a:pPr>
            <a:endPar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endParaRPr>
          </a:p>
          <a:p>
            <a:pPr marL="120015" algn="l" rtl="0" eaLnBrk="0">
              <a:lnSpc>
                <a:spcPct val="92000"/>
              </a:lnSpc>
              <a:spcBef>
                <a:spcPts val="5"/>
              </a:spcBef>
            </a:pPr>
            <a:endPar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endParaRPr>
          </a:p>
          <a:p>
            <a:pPr marL="120015" algn="l" rtl="0" eaLnBrk="0">
              <a:lnSpc>
                <a:spcPct val="92000"/>
              </a:lnSpc>
              <a:spcBef>
                <a:spcPts val="5"/>
              </a:spcBef>
            </a:pPr>
            <a:r>
              <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#include</a:t>
            </a:r>
            <a:r>
              <a:rPr sz="1300" kern="0" spc="20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&lt;string.h&gt;</a:t>
            </a:r>
            <a:endParaRPr lang="en-US" altLang="en-US" sz="1300" dirty="0"/>
          </a:p>
          <a:p>
            <a:pPr marL="120015" algn="l" rtl="0" eaLnBrk="0">
              <a:lnSpc>
                <a:spcPts val="2015"/>
              </a:lnSpc>
              <a:spcBef>
                <a:spcPts val="20"/>
              </a:spcBef>
            </a:pPr>
            <a:r>
              <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#include</a:t>
            </a:r>
            <a:r>
              <a:rPr sz="1300" kern="0" spc="18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&lt;stdio.h&gt;</a:t>
            </a:r>
            <a:endParaRPr lang="en-US" altLang="en-US" sz="1300" dirty="0"/>
          </a:p>
          <a:p>
            <a:pPr marL="118745" algn="l" rtl="0" eaLnBrk="0">
              <a:lnSpc>
                <a:spcPts val="2015"/>
              </a:lnSpc>
            </a:pPr>
            <a:r>
              <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struct</a:t>
            </a:r>
            <a:r>
              <a:rPr sz="1300" kern="0" spc="1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Pers</a:t>
            </a:r>
            <a:r>
              <a:rPr sz="13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on</a:t>
            </a:r>
            <a:r>
              <a:rPr lang="en-US" sz="13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//声明结构体类型struct</a:t>
            </a:r>
            <a:r>
              <a:rPr lang="en-US" sz="1300" kern="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Person</a:t>
            </a:r>
            <a:endParaRPr lang="en-US" altLang="en-US" sz="1300" dirty="0"/>
          </a:p>
          <a:p>
            <a:pPr marL="116840" algn="l" rtl="0" eaLnBrk="0">
              <a:lnSpc>
                <a:spcPct val="99000"/>
              </a:lnSpc>
              <a:spcBef>
                <a:spcPts val="560"/>
              </a:spcBef>
            </a:pPr>
            <a:r>
              <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r>
              <a:rPr sz="13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char</a:t>
            </a:r>
            <a:r>
              <a:rPr sz="1300" kern="0" spc="1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name[20];</a:t>
            </a:r>
            <a:r>
              <a:rPr lang="en-US"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5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//候选人姓名</a:t>
            </a:r>
            <a:endParaRPr lang="en-US" altLang="en-US" sz="1300" dirty="0"/>
          </a:p>
          <a:p>
            <a:pPr marL="492760" algn="l" rtl="0" eaLnBrk="0">
              <a:lnSpc>
                <a:spcPts val="1580"/>
              </a:lnSpc>
              <a:spcBef>
                <a:spcPts val="480"/>
              </a:spcBef>
            </a:pPr>
            <a:r>
              <a:rPr lang="en-US" sz="13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int</a:t>
            </a:r>
            <a:r>
              <a:rPr sz="1300" kern="0" spc="1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count;</a:t>
            </a:r>
            <a:r>
              <a:rPr lang="en-US" sz="13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6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//候选人得票数</a:t>
            </a:r>
            <a:endParaRPr lang="en-US" altLang="en-US" sz="1300" dirty="0"/>
          </a:p>
          <a:p>
            <a:pPr marL="116840" algn="l" rtl="0" eaLnBrk="0">
              <a:lnSpc>
                <a:spcPct val="92000"/>
              </a:lnSpc>
              <a:spcBef>
                <a:spcPts val="430"/>
              </a:spcBef>
            </a:pPr>
            <a:r>
              <a:rPr sz="13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}leader[3]={"Li",0,"Zhang",0,"Sun",0};</a:t>
            </a:r>
            <a:r>
              <a:rPr lang="en-US" sz="13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70" dirty="0">
                <a:solidFill>
                  <a:srgbClr val="008000">
                    <a:alpha val="100000"/>
                  </a:srgbClr>
                </a:solidFill>
                <a:latin typeface="微软雅黑" panose="020B0503020204020204" charset="-122"/>
                <a:ea typeface="微软雅黑" panose="020B0503020204020204" charset="-122"/>
                <a:cs typeface="微软雅黑" panose="020B0503020204020204" charset="-122"/>
              </a:rPr>
              <a:t>//定义结构体数组并初始化</a:t>
            </a:r>
          </a:p>
          <a:p>
            <a:pPr marL="116840" algn="l" rtl="0" eaLnBrk="0">
              <a:lnSpc>
                <a:spcPct val="92000"/>
              </a:lnSpc>
              <a:spcBef>
                <a:spcPts val="430"/>
              </a:spcBef>
            </a:pPr>
            <a:endParaRPr lang="zh-CN" altLang="en-US" sz="1300">
              <a:solidFill>
                <a:schemeClr val="tx1"/>
              </a:solidFill>
              <a:latin typeface="微软雅黑" panose="020B0503020204020204" charset="-122"/>
              <a:ea typeface="微软雅黑" panose="020B0503020204020204" charset="-122"/>
              <a:cs typeface="微软雅黑" panose="020B0503020204020204" charset="-122"/>
            </a:endParaRPr>
          </a:p>
          <a:p>
            <a:pPr marL="129540" algn="l" rtl="0" eaLnBrk="0">
              <a:lnSpc>
                <a:spcPct val="93000"/>
              </a:lnSpc>
              <a:spcBef>
                <a:spcPts val="395"/>
              </a:spcBef>
            </a:pPr>
            <a:r>
              <a:rPr sz="13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int</a:t>
            </a:r>
            <a:r>
              <a:rPr sz="1300" kern="0" spc="1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main()</a:t>
            </a:r>
            <a:endParaRPr lang="en-US" altLang="en-US" sz="1300" dirty="0"/>
          </a:p>
          <a:p>
            <a:pPr marL="116840" algn="l" rtl="0" eaLnBrk="0">
              <a:lnSpc>
                <a:spcPts val="2015"/>
              </a:lnSpc>
            </a:pPr>
            <a:r>
              <a:rPr sz="13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r>
              <a:rPr sz="13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int</a:t>
            </a:r>
            <a:r>
              <a:rPr sz="1300" kern="0" spc="19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i,j;</a:t>
            </a:r>
            <a:endParaRPr lang="en-US" altLang="en-US" sz="1300" dirty="0"/>
          </a:p>
          <a:p>
            <a:pPr marL="487045" algn="l" rtl="0" eaLnBrk="0">
              <a:lnSpc>
                <a:spcPct val="92000"/>
              </a:lnSpc>
              <a:spcBef>
                <a:spcPts val="560"/>
              </a:spcBef>
            </a:pPr>
            <a:r>
              <a:rPr sz="13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char</a:t>
            </a:r>
            <a:r>
              <a:rPr sz="1300" kern="0" spc="1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leader</a:t>
            </a:r>
            <a:r>
              <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_name[20];</a:t>
            </a:r>
            <a:r>
              <a:rPr lang="en-US"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6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//定义字符数组</a:t>
            </a:r>
            <a:endParaRPr lang="en-US" altLang="en-US" sz="1300" dirty="0"/>
          </a:p>
          <a:p>
            <a:pPr marL="482600" algn="l" rtl="0" eaLnBrk="0">
              <a:lnSpc>
                <a:spcPts val="2015"/>
              </a:lnSpc>
              <a:spcBef>
                <a:spcPts val="20"/>
              </a:spcBef>
            </a:pPr>
            <a:r>
              <a:rPr sz="13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for(i=1;i&lt;=10;i++)</a:t>
            </a:r>
            <a:endParaRPr lang="en-US" altLang="en-US" sz="1300" dirty="0"/>
          </a:p>
          <a:p>
            <a:pPr algn="l" rtl="0" eaLnBrk="0">
              <a:lnSpc>
                <a:spcPct val="116000"/>
              </a:lnSpc>
            </a:pPr>
            <a:endParaRPr lang="en-US" altLang="en-US" sz="1300" dirty="0"/>
          </a:p>
          <a:p>
            <a:pPr marL="479425" algn="l" rtl="0" eaLnBrk="0">
              <a:lnSpc>
                <a:spcPct val="92000"/>
              </a:lnSpc>
              <a:spcBef>
                <a:spcPts val="5"/>
              </a:spcBef>
            </a:pPr>
            <a:r>
              <a:rPr sz="13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r>
              <a:rPr sz="13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scanf("%s",leader_name);</a:t>
            </a:r>
            <a:r>
              <a:rPr lang="en-US" sz="13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7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//输入所选的候选人姓名</a:t>
            </a:r>
            <a:endParaRPr sz="13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endParaRPr>
          </a:p>
          <a:p>
            <a:pPr marL="479425" algn="l" rtl="0" eaLnBrk="0">
              <a:lnSpc>
                <a:spcPct val="92000"/>
              </a:lnSpc>
              <a:spcBef>
                <a:spcPts val="5"/>
              </a:spcBef>
            </a:pPr>
            <a:endParaRPr sz="13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endParaRPr>
          </a:p>
          <a:p>
            <a:pPr marL="848360" algn="l" rtl="0" eaLnBrk="0">
              <a:lnSpc>
                <a:spcPct val="92000"/>
              </a:lnSpc>
              <a:spcBef>
                <a:spcPts val="0"/>
              </a:spcBef>
            </a:pPr>
            <a:r>
              <a:rPr sz="13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for(j=0;j&lt;3;j++)</a:t>
            </a:r>
            <a:endParaRPr lang="en-US" altLang="en-US" sz="1300" dirty="0"/>
          </a:p>
          <a:p>
            <a:pPr marL="479425" indent="378460" algn="l" rtl="0" eaLnBrk="0">
              <a:lnSpc>
                <a:spcPct val="114000"/>
              </a:lnSpc>
              <a:spcBef>
                <a:spcPts val="585"/>
              </a:spcBef>
            </a:pPr>
            <a:r>
              <a:rPr sz="13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if(strcmp(leader_name,leader[j].name)==</a:t>
            </a:r>
            <a:r>
              <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0)</a:t>
            </a:r>
            <a:r>
              <a:rPr sz="1300" kern="0" spc="2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leader[j].count++;</a:t>
            </a:r>
            <a:r>
              <a:rPr sz="1300" kern="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endParaRPr lang="en-US" altLang="en-US" sz="1300" dirty="0"/>
          </a:p>
          <a:p>
            <a:pPr marL="492125" algn="l" rtl="0" eaLnBrk="0">
              <a:lnSpc>
                <a:spcPct val="92000"/>
              </a:lnSpc>
              <a:spcBef>
                <a:spcPts val="485"/>
              </a:spcBef>
            </a:pPr>
            <a:r>
              <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printf("\nResult:\n");</a:t>
            </a:r>
            <a:endParaRPr lang="en-US" altLang="en-US" sz="1300" dirty="0"/>
          </a:p>
          <a:p>
            <a:pPr marL="482600" algn="l" rtl="0" eaLnBrk="0">
              <a:lnSpc>
                <a:spcPts val="2015"/>
              </a:lnSpc>
              <a:spcBef>
                <a:spcPts val="10"/>
              </a:spcBef>
            </a:pPr>
            <a:r>
              <a:rPr sz="13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for(i=0;i&lt;3;i++)</a:t>
            </a:r>
            <a:endParaRPr lang="en-US" altLang="en-US" sz="1300" dirty="0"/>
          </a:p>
          <a:p>
            <a:pPr marL="857885" algn="l" rtl="0" eaLnBrk="0">
              <a:lnSpc>
                <a:spcPct val="92000"/>
              </a:lnSpc>
              <a:spcBef>
                <a:spcPts val="570"/>
              </a:spcBef>
            </a:pPr>
            <a:r>
              <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printf("%5s:%d</a:t>
            </a:r>
            <a:r>
              <a:rPr sz="13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\n",leader[i].name,leader[i].count);</a:t>
            </a:r>
            <a:endParaRPr lang="en-US" altLang="en-US" sz="1300" dirty="0"/>
          </a:p>
          <a:p>
            <a:pPr marL="492125" algn="l" rtl="0" eaLnBrk="0">
              <a:lnSpc>
                <a:spcPts val="2015"/>
              </a:lnSpc>
              <a:spcBef>
                <a:spcPts val="10"/>
              </a:spcBef>
            </a:pPr>
            <a:r>
              <a:rPr sz="13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return</a:t>
            </a:r>
            <a:r>
              <a:rPr sz="1300" kern="0" spc="1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0;</a:t>
            </a:r>
          </a:p>
          <a:p>
            <a:pPr marL="492125" algn="l" rtl="0" eaLnBrk="0">
              <a:lnSpc>
                <a:spcPts val="2015"/>
              </a:lnSpc>
              <a:spcBef>
                <a:spcPts val="10"/>
              </a:spcBef>
            </a:pPr>
            <a:r>
              <a:rPr lang="en-US" altLang="en-US" sz="1300" dirty="0">
                <a:solidFill>
                  <a:schemeClr val="tx1"/>
                </a:solidFill>
              </a:rPr>
              <a:t>}</a:t>
            </a:r>
          </a:p>
          <a:p>
            <a:pPr marL="479425" algn="l" rtl="0" eaLnBrk="0">
              <a:lnSpc>
                <a:spcPct val="92000"/>
              </a:lnSpc>
              <a:spcBef>
                <a:spcPts val="5"/>
              </a:spcBef>
            </a:pPr>
            <a:endParaRPr lang="en-US" altLang="en-US" sz="1500" dirty="0"/>
          </a:p>
          <a:p>
            <a:pPr indent="0" algn="l" fontAlgn="auto">
              <a:lnSpc>
                <a:spcPts val="2300"/>
              </a:lnSpc>
            </a:pPr>
            <a:endParaRPr lang="zh-CN" altLang="en-US" sz="1500">
              <a:solidFill>
                <a:schemeClr val="tx1"/>
              </a:solidFill>
              <a:latin typeface="微软雅黑" panose="020B0503020204020204" charset="-122"/>
              <a:ea typeface="微软雅黑" panose="020B0503020204020204" charset="-122"/>
              <a:cs typeface="微软雅黑" panose="020B0503020204020204" charset="-122"/>
            </a:endParaRPr>
          </a:p>
        </p:txBody>
      </p:sp>
      <p:pic>
        <p:nvPicPr>
          <p:cNvPr id="3" name="图片 2"/>
          <p:cNvPicPr>
            <a:picLocks noChangeAspect="1"/>
          </p:cNvPicPr>
          <p:nvPr>
            <p:custDataLst>
              <p:tags r:id="rId2"/>
            </p:custDataLst>
          </p:nvPr>
        </p:nvPicPr>
        <p:blipFill>
          <a:blip r:embed="rId4"/>
          <a:stretch>
            <a:fillRect/>
          </a:stretch>
        </p:blipFill>
        <p:spPr>
          <a:xfrm>
            <a:off x="984250" y="3894455"/>
            <a:ext cx="4349750" cy="29591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28" name="textbox 8728"/>
          <p:cNvSpPr/>
          <p:nvPr/>
        </p:nvSpPr>
        <p:spPr>
          <a:xfrm>
            <a:off x="1065978" y="2759329"/>
            <a:ext cx="6029959" cy="274955"/>
          </a:xfrm>
          <a:prstGeom prst="rect">
            <a:avLst/>
          </a:prstGeom>
        </p:spPr>
        <p:txBody>
          <a:bodyPr vert="horz" wrap="square" lIns="0" tIns="0" rIns="0" bIns="0"/>
          <a:lstStyle/>
          <a:p>
            <a:pPr algn="l" rtl="0" eaLnBrk="0">
              <a:lnSpc>
                <a:spcPct val="81000"/>
              </a:lnSpc>
            </a:pPr>
            <a:endParaRPr lang="en-US" altLang="en-US" sz="135" dirty="0"/>
          </a:p>
          <a:p>
            <a:pPr marL="12700" algn="l" rtl="0" eaLnBrk="0">
              <a:lnSpc>
                <a:spcPct val="91000"/>
              </a:lnSpc>
            </a:pPr>
            <a:r>
              <a:rPr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② 先声明一个结构体类型，</a:t>
            </a:r>
            <a:r>
              <a:rPr kern="0" spc="-27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然后再用此类</a:t>
            </a:r>
            <a:r>
              <a:rPr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型定义结构体数组</a:t>
            </a:r>
            <a:endParaRPr lang="en-US" altLang="en-US" dirty="0"/>
          </a:p>
        </p:txBody>
      </p:sp>
      <p:sp>
        <p:nvSpPr>
          <p:cNvPr id="8730" name="textbox 8730"/>
          <p:cNvSpPr/>
          <p:nvPr/>
        </p:nvSpPr>
        <p:spPr>
          <a:xfrm>
            <a:off x="1075579" y="4817617"/>
            <a:ext cx="5761355" cy="279400"/>
          </a:xfrm>
          <a:prstGeom prst="rect">
            <a:avLst/>
          </a:prstGeom>
        </p:spPr>
        <p:txBody>
          <a:bodyPr vert="horz" wrap="square" lIns="0" tIns="0" rIns="0" bIns="0"/>
          <a:lstStyle/>
          <a:p>
            <a:pPr algn="l" rtl="0" eaLnBrk="0">
              <a:lnSpc>
                <a:spcPct val="75000"/>
              </a:lnSpc>
            </a:pPr>
            <a:endParaRPr lang="en-US" altLang="en-US" sz="135" dirty="0"/>
          </a:p>
          <a:p>
            <a:pPr marL="12700" algn="l" rtl="0" eaLnBrk="0">
              <a:lnSpc>
                <a:spcPct val="93000"/>
              </a:lnSpc>
            </a:pPr>
            <a:r>
              <a:rPr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rPr>
              <a:t>(2) 对结构体数组初始化的形式是在定义数组的后面加上</a:t>
            </a:r>
            <a:r>
              <a:rPr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endParaRPr lang="en-US" altLang="en-US" dirty="0"/>
          </a:p>
        </p:txBody>
      </p:sp>
      <p:sp>
        <p:nvSpPr>
          <p:cNvPr id="8732" name="textbox 8732"/>
          <p:cNvSpPr/>
          <p:nvPr/>
        </p:nvSpPr>
        <p:spPr>
          <a:xfrm>
            <a:off x="1088626" y="808500"/>
            <a:ext cx="2860039" cy="495300"/>
          </a:xfrm>
          <a:prstGeom prst="rect">
            <a:avLst/>
          </a:prstGeom>
        </p:spPr>
        <p:txBody>
          <a:bodyPr vert="horz" wrap="square" lIns="0" tIns="0" rIns="0" bIns="0"/>
          <a:lstStyle/>
          <a:p>
            <a:pPr algn="l" rtl="0" eaLnBrk="0">
              <a:lnSpc>
                <a:spcPct val="95000"/>
              </a:lnSpc>
            </a:pPr>
            <a:endParaRPr lang="en-US" altLang="en-US" sz="135" dirty="0"/>
          </a:p>
          <a:p>
            <a:pPr marL="12700" algn="l" rtl="0" eaLnBrk="0">
              <a:lnSpc>
                <a:spcPct val="99000"/>
              </a:lnSpc>
            </a:pPr>
            <a:r>
              <a:rPr sz="31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定义结构体数组</a:t>
            </a:r>
            <a:endParaRPr lang="en-US" altLang="en-US" sz="3100" dirty="0"/>
          </a:p>
        </p:txBody>
      </p:sp>
      <p:sp>
        <p:nvSpPr>
          <p:cNvPr id="8736" name="textbox 8736"/>
          <p:cNvSpPr/>
          <p:nvPr/>
        </p:nvSpPr>
        <p:spPr>
          <a:xfrm>
            <a:off x="1075579" y="1524255"/>
            <a:ext cx="3074671" cy="279400"/>
          </a:xfrm>
          <a:prstGeom prst="rect">
            <a:avLst/>
          </a:prstGeom>
        </p:spPr>
        <p:txBody>
          <a:bodyPr vert="horz" wrap="square" lIns="0" tIns="0" rIns="0" bIns="0"/>
          <a:lstStyle/>
          <a:p>
            <a:pPr algn="l" rtl="0" eaLnBrk="0">
              <a:lnSpc>
                <a:spcPct val="75000"/>
              </a:lnSpc>
            </a:pPr>
            <a:endParaRPr lang="en-US" altLang="en-US" sz="135" dirty="0"/>
          </a:p>
          <a:p>
            <a:pPr marL="12700" algn="l" rtl="0" eaLnBrk="0">
              <a:lnSpc>
                <a:spcPct val="93000"/>
              </a:lnSpc>
            </a:pPr>
            <a:r>
              <a:rPr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 定义结构体数组一般形式是</a:t>
            </a:r>
            <a:endParaRPr lang="en-US" altLang="en-US" dirty="0"/>
          </a:p>
        </p:txBody>
      </p:sp>
      <p:sp>
        <p:nvSpPr>
          <p:cNvPr id="8738" name="path"/>
          <p:cNvSpPr/>
          <p:nvPr/>
        </p:nvSpPr>
        <p:spPr>
          <a:xfrm>
            <a:off x="990691" y="1328420"/>
            <a:ext cx="10025888" cy="25400"/>
          </a:xfrm>
          <a:custGeom>
            <a:avLst/>
            <a:gdLst/>
            <a:ahLst/>
            <a:cxnLst/>
            <a:rect l="0" t="0" r="0" b="0"/>
            <a:pathLst>
              <a:path w="15788" h="40">
                <a:moveTo>
                  <a:pt x="20" y="20"/>
                </a:moveTo>
                <a:lnTo>
                  <a:pt x="15768" y="20"/>
                </a:lnTo>
                <a:lnTo>
                  <a:pt x="20" y="20"/>
                </a:lnTo>
              </a:path>
            </a:pathLst>
          </a:custGeom>
          <a:noFill/>
          <a:ln w="25400" cap="flat">
            <a:solidFill>
              <a:srgbClr val="782367">
                <a:alpha val="100000"/>
              </a:srgbClr>
            </a:solidFill>
            <a:prstDash val="solid"/>
            <a:bevel/>
          </a:ln>
        </p:spPr>
        <p:txBody>
          <a:bodyPr rtlCol="0"/>
          <a:lstStyle/>
          <a:p>
            <a:pPr algn="ctr"/>
            <a:endParaRPr lang="zh-CN" altLang="en-US"/>
          </a:p>
        </p:txBody>
      </p:sp>
      <p:sp>
        <p:nvSpPr>
          <p:cNvPr id="8740" name="path"/>
          <p:cNvSpPr/>
          <p:nvPr/>
        </p:nvSpPr>
        <p:spPr>
          <a:xfrm>
            <a:off x="990691" y="6089396"/>
            <a:ext cx="10025888" cy="25400"/>
          </a:xfrm>
          <a:custGeom>
            <a:avLst/>
            <a:gdLst/>
            <a:ahLst/>
            <a:cxnLst/>
            <a:rect l="0" t="0" r="0" b="0"/>
            <a:pathLst>
              <a:path w="15788" h="40">
                <a:moveTo>
                  <a:pt x="20" y="20"/>
                </a:moveTo>
                <a:lnTo>
                  <a:pt x="15768" y="20"/>
                </a:lnTo>
                <a:lnTo>
                  <a:pt x="20" y="20"/>
                </a:lnTo>
              </a:path>
            </a:pathLst>
          </a:custGeom>
          <a:noFill/>
          <a:ln w="25400" cap="sq">
            <a:solidFill>
              <a:srgbClr val="782367">
                <a:alpha val="100000"/>
              </a:srgbClr>
            </a:solidFill>
            <a:prstDash val="solid"/>
            <a:bevel/>
          </a:ln>
        </p:spPr>
        <p:txBody>
          <a:bodyPr rtlCol="0"/>
          <a:lstStyle/>
          <a:p>
            <a:pPr algn="ctr"/>
            <a:endParaRPr lang="zh-CN" altLang="en-US"/>
          </a:p>
        </p:txBody>
      </p:sp>
      <p:sp>
        <p:nvSpPr>
          <p:cNvPr id="8742" name="textbox 8742"/>
          <p:cNvSpPr/>
          <p:nvPr/>
        </p:nvSpPr>
        <p:spPr>
          <a:xfrm>
            <a:off x="1065980" y="1935487"/>
            <a:ext cx="252729" cy="274955"/>
          </a:xfrm>
          <a:prstGeom prst="rect">
            <a:avLst/>
          </a:prstGeom>
        </p:spPr>
        <p:txBody>
          <a:bodyPr vert="horz" wrap="square" lIns="0" tIns="0" rIns="0" bIns="0"/>
          <a:lstStyle/>
          <a:p>
            <a:pPr algn="l" rtl="0" eaLnBrk="0">
              <a:lnSpc>
                <a:spcPct val="83000"/>
              </a:lnSpc>
            </a:pPr>
            <a:endParaRPr lang="en-US" altLang="en-US" sz="135" dirty="0"/>
          </a:p>
          <a:p>
            <a:pPr marL="12700" algn="l" rtl="0" eaLnBrk="0">
              <a:lnSpc>
                <a:spcPct val="91000"/>
              </a:lnSpc>
            </a:pPr>
            <a:r>
              <a:rPr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①</a:t>
            </a:r>
            <a:endParaRPr lang="en-US" altLang="en-US" dirty="0"/>
          </a:p>
        </p:txBody>
      </p:sp>
      <p:sp>
        <p:nvSpPr>
          <p:cNvPr id="2" name="矩形 1"/>
          <p:cNvSpPr/>
          <p:nvPr>
            <p:custDataLst>
              <p:tags r:id="rId1"/>
            </p:custDataLst>
          </p:nvPr>
        </p:nvSpPr>
        <p:spPr>
          <a:xfrm>
            <a:off x="1450975" y="1917700"/>
            <a:ext cx="3552825" cy="743585"/>
          </a:xfrm>
          <a:prstGeom prst="rect">
            <a:avLst/>
          </a:prstGeom>
          <a:solidFill>
            <a:srgbClr val="CCECFF"/>
          </a:solidFill>
          <a:ln>
            <a:solidFill>
              <a:srgbClr val="CCECFF"/>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15875" algn="l" rtl="0" eaLnBrk="0">
              <a:lnSpc>
                <a:spcPct val="100000"/>
              </a:lnSpc>
            </a:pPr>
            <a:endParaRPr b="1" kern="0" spc="-10" dirty="0">
              <a:solidFill>
                <a:srgbClr val="FFFFFF">
                  <a:alpha val="100000"/>
                </a:srgbClr>
              </a:solidFill>
              <a:latin typeface="微软雅黑" panose="020B0503020204020204" charset="-122"/>
              <a:ea typeface="微软雅黑" panose="020B0503020204020204" charset="-122"/>
              <a:cs typeface="微软雅黑" panose="020B0503020204020204" charset="-122"/>
              <a:sym typeface="+mn-ea"/>
            </a:endParaRPr>
          </a:p>
          <a:p>
            <a:pPr marL="15875" algn="l" rtl="0" eaLnBrk="0">
              <a:lnSpc>
                <a:spcPct val="100000"/>
              </a:lnSpc>
            </a:pPr>
            <a:r>
              <a:rPr b="1" kern="0" spc="-10" dirty="0">
                <a:solidFill>
                  <a:srgbClr val="1100CC">
                    <a:alpha val="100000"/>
                  </a:srgbClr>
                </a:solidFill>
                <a:latin typeface="微软雅黑" panose="020B0503020204020204" charset="-122"/>
                <a:ea typeface="微软雅黑" panose="020B0503020204020204" charset="-122"/>
                <a:cs typeface="微软雅黑" panose="020B0503020204020204" charset="-122"/>
                <a:sym typeface="+mn-ea"/>
              </a:rPr>
              <a:t>struct 结构体名</a:t>
            </a:r>
            <a:endParaRPr lang="en-US" altLang="en-US" dirty="0">
              <a:solidFill>
                <a:srgbClr val="1100CC"/>
              </a:solidFill>
            </a:endParaRPr>
          </a:p>
          <a:p>
            <a:pPr marL="12700" algn="l" rtl="0" eaLnBrk="0">
              <a:lnSpc>
                <a:spcPct val="97000"/>
              </a:lnSpc>
              <a:spcBef>
                <a:spcPts val="115"/>
              </a:spcBef>
            </a:pPr>
            <a:r>
              <a:rPr b="1" kern="0" spc="40" dirty="0">
                <a:solidFill>
                  <a:srgbClr val="1100CC">
                    <a:alpha val="100000"/>
                  </a:srgbClr>
                </a:solidFill>
                <a:latin typeface="微软雅黑" panose="020B0503020204020204" charset="-122"/>
                <a:ea typeface="微软雅黑" panose="020B0503020204020204" charset="-122"/>
                <a:cs typeface="微软雅黑" panose="020B0503020204020204" charset="-122"/>
                <a:sym typeface="+mn-ea"/>
              </a:rPr>
              <a:t>{成员表列} 数组名[数组长度];</a:t>
            </a:r>
            <a:endParaRPr lang="en-US" altLang="en-US" dirty="0">
              <a:solidFill>
                <a:srgbClr val="1100CC"/>
              </a:solidFill>
            </a:endParaRPr>
          </a:p>
          <a:p>
            <a:pPr algn="ctr"/>
            <a:endParaRPr lang="en-US" altLang="en-US" dirty="0">
              <a:solidFill>
                <a:srgbClr val="1100CC"/>
              </a:solidFill>
            </a:endParaRPr>
          </a:p>
        </p:txBody>
      </p:sp>
      <p:sp>
        <p:nvSpPr>
          <p:cNvPr id="3" name="矩形 2"/>
          <p:cNvSpPr/>
          <p:nvPr>
            <p:custDataLst>
              <p:tags r:id="rId2"/>
            </p:custDataLst>
          </p:nvPr>
        </p:nvSpPr>
        <p:spPr>
          <a:xfrm>
            <a:off x="1427480" y="3027045"/>
            <a:ext cx="3599815" cy="413385"/>
          </a:xfrm>
          <a:prstGeom prst="rect">
            <a:avLst/>
          </a:prstGeom>
          <a:solidFill>
            <a:srgbClr val="CCECFF"/>
          </a:solidFill>
          <a:ln>
            <a:solidFill>
              <a:srgbClr val="CCECFF"/>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l"/>
            <a:r>
              <a:rPr b="1" kern="0" spc="60" dirty="0">
                <a:solidFill>
                  <a:srgbClr val="1100CC">
                    <a:alpha val="100000"/>
                  </a:srgbClr>
                </a:solidFill>
                <a:latin typeface="微软雅黑" panose="020B0503020204020204" charset="-122"/>
                <a:ea typeface="微软雅黑" panose="020B0503020204020204" charset="-122"/>
                <a:cs typeface="微软雅黑" panose="020B0503020204020204" charset="-122"/>
                <a:sym typeface="+mn-ea"/>
              </a:rPr>
              <a:t>结构体类型数组名[数组长度</a:t>
            </a:r>
            <a:r>
              <a:rPr b="1" kern="0" spc="50" dirty="0">
                <a:solidFill>
                  <a:srgbClr val="1100CC">
                    <a:alpha val="100000"/>
                  </a:srgbClr>
                </a:solidFill>
                <a:latin typeface="微软雅黑" panose="020B0503020204020204" charset="-122"/>
                <a:ea typeface="微软雅黑" panose="020B0503020204020204" charset="-122"/>
                <a:cs typeface="微软雅黑" panose="020B0503020204020204" charset="-122"/>
                <a:sym typeface="+mn-ea"/>
              </a:rPr>
              <a:t>];</a:t>
            </a:r>
            <a:endParaRPr lang="zh-CN" altLang="en-US" b="1" kern="0" spc="50" dirty="0">
              <a:solidFill>
                <a:srgbClr val="1100CC">
                  <a:alpha val="100000"/>
                </a:srgbClr>
              </a:solidFill>
              <a:latin typeface="微软雅黑" panose="020B0503020204020204" charset="-122"/>
              <a:ea typeface="微软雅黑" panose="020B0503020204020204" charset="-122"/>
              <a:cs typeface="微软雅黑" panose="020B0503020204020204" charset="-122"/>
              <a:sym typeface="+mn-ea"/>
            </a:endParaRPr>
          </a:p>
        </p:txBody>
      </p:sp>
      <p:sp>
        <p:nvSpPr>
          <p:cNvPr id="4" name="矩形 3"/>
          <p:cNvSpPr/>
          <p:nvPr>
            <p:custDataLst>
              <p:tags r:id="rId3"/>
            </p:custDataLst>
          </p:nvPr>
        </p:nvSpPr>
        <p:spPr>
          <a:xfrm>
            <a:off x="6856730" y="4690745"/>
            <a:ext cx="1829435" cy="414020"/>
          </a:xfrm>
          <a:prstGeom prst="rect">
            <a:avLst/>
          </a:prstGeom>
          <a:solidFill>
            <a:srgbClr val="CCECFF"/>
          </a:solidFill>
          <a:ln>
            <a:solidFill>
              <a:srgbClr val="CCECFF"/>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b="1" kern="0" spc="-40" dirty="0">
                <a:solidFill>
                  <a:srgbClr val="1100CC">
                    <a:alpha val="100000"/>
                  </a:srgbClr>
                </a:solidFill>
                <a:latin typeface="微软雅黑" panose="020B0503020204020204" charset="-122"/>
                <a:ea typeface="微软雅黑" panose="020B0503020204020204" charset="-122"/>
                <a:cs typeface="微软雅黑" panose="020B0503020204020204" charset="-122"/>
                <a:sym typeface="+mn-ea"/>
              </a:rPr>
              <a:t>= {初值表列};</a:t>
            </a:r>
            <a:endParaRPr lang="zh-CN" altLang="en-US" b="1" kern="0" spc="-40" dirty="0">
              <a:solidFill>
                <a:srgbClr val="1100CC">
                  <a:alpha val="100000"/>
                </a:srgbClr>
              </a:solidFill>
              <a:latin typeface="微软雅黑" panose="020B0503020204020204" charset="-122"/>
              <a:ea typeface="微软雅黑" panose="020B0503020204020204" charset="-122"/>
              <a:cs typeface="微软雅黑" panose="020B0503020204020204" charset="-122"/>
              <a:sym typeface="+mn-ea"/>
            </a:endParaRPr>
          </a:p>
        </p:txBody>
      </p:sp>
      <p:sp>
        <p:nvSpPr>
          <p:cNvPr id="5" name="矩形 4"/>
          <p:cNvSpPr/>
          <p:nvPr>
            <p:custDataLst>
              <p:tags r:id="rId4"/>
            </p:custDataLst>
          </p:nvPr>
        </p:nvSpPr>
        <p:spPr>
          <a:xfrm>
            <a:off x="5334000" y="1445895"/>
            <a:ext cx="4532630" cy="1392555"/>
          </a:xfrm>
          <a:prstGeom prst="rect">
            <a:avLst/>
          </a:prstGeom>
          <a:solidFill>
            <a:schemeClr val="bg1"/>
          </a:solidFill>
          <a:ln>
            <a:solidFill>
              <a:srgbClr val="782367"/>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117475" algn="l" rtl="0" eaLnBrk="0">
              <a:lnSpc>
                <a:spcPts val="2015"/>
              </a:lnSpc>
              <a:spcBef>
                <a:spcPts val="5"/>
              </a:spcBef>
            </a:pPr>
            <a:endParaRPr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endParaRPr>
          </a:p>
          <a:p>
            <a:pPr marL="117475" algn="l" rtl="0" eaLnBrk="0">
              <a:lnSpc>
                <a:spcPts val="2015"/>
              </a:lnSpc>
              <a:spcBef>
                <a:spcPts val="5"/>
              </a:spcBef>
            </a:pPr>
            <a:r>
              <a:rPr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struct</a:t>
            </a:r>
            <a:r>
              <a:rPr kern="0" spc="18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Person</a:t>
            </a:r>
            <a:endParaRPr lang="en-US" altLang="en-US" dirty="0"/>
          </a:p>
          <a:p>
            <a:pPr marL="114935" algn="l" rtl="0" eaLnBrk="0">
              <a:lnSpc>
                <a:spcPct val="93000"/>
              </a:lnSpc>
              <a:spcBef>
                <a:spcPts val="290"/>
              </a:spcBef>
            </a:pPr>
            <a:r>
              <a:rPr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r>
              <a:rPr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char</a:t>
            </a:r>
            <a:r>
              <a:rPr kern="0" spc="10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name[</a:t>
            </a:r>
            <a:r>
              <a:rPr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20];</a:t>
            </a:r>
            <a:endParaRPr lang="en-US" altLang="en-US" dirty="0"/>
          </a:p>
          <a:p>
            <a:pPr marL="493395" algn="l" rtl="0" eaLnBrk="0">
              <a:lnSpc>
                <a:spcPts val="2305"/>
              </a:lnSpc>
            </a:pPr>
            <a:r>
              <a:rPr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int</a:t>
            </a:r>
            <a:r>
              <a:rPr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count;</a:t>
            </a:r>
            <a:endParaRPr lang="en-US" altLang="en-US" dirty="0"/>
          </a:p>
          <a:p>
            <a:pPr algn="l" rtl="0" eaLnBrk="0">
              <a:lnSpc>
                <a:spcPct val="104000"/>
              </a:lnSpc>
            </a:pPr>
            <a:endParaRPr lang="en-US" altLang="en-US" dirty="0"/>
          </a:p>
          <a:p>
            <a:pPr marL="115570" algn="l" rtl="0" eaLnBrk="0">
              <a:lnSpc>
                <a:spcPct val="99000"/>
              </a:lnSpc>
            </a:pPr>
            <a:r>
              <a:rPr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r>
              <a:rPr kern="0" spc="1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leader[3</a:t>
            </a:r>
            <a:r>
              <a:rPr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endParaRPr lang="en-US" altLang="en-US" dirty="0"/>
          </a:p>
          <a:p>
            <a:pPr algn="ctr"/>
            <a:endParaRPr lang="zh-CN" altLang="en-US"/>
          </a:p>
        </p:txBody>
      </p:sp>
      <p:sp>
        <p:nvSpPr>
          <p:cNvPr id="6" name="矩形 5"/>
          <p:cNvSpPr/>
          <p:nvPr>
            <p:custDataLst>
              <p:tags r:id="rId5"/>
            </p:custDataLst>
          </p:nvPr>
        </p:nvSpPr>
        <p:spPr>
          <a:xfrm>
            <a:off x="5310505" y="3039110"/>
            <a:ext cx="4544060" cy="1723390"/>
          </a:xfrm>
          <a:prstGeom prst="rect">
            <a:avLst/>
          </a:prstGeom>
          <a:solidFill>
            <a:schemeClr val="bg1"/>
          </a:solidFill>
          <a:ln>
            <a:solidFill>
              <a:srgbClr val="782367"/>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121285" algn="l" rtl="0" eaLnBrk="0">
              <a:lnSpc>
                <a:spcPts val="2015"/>
              </a:lnSpc>
              <a:spcBef>
                <a:spcPts val="5"/>
              </a:spcBef>
            </a:pPr>
            <a:r>
              <a:rPr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struct</a:t>
            </a:r>
            <a:r>
              <a:rPr kern="0" spc="19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Person</a:t>
            </a:r>
            <a:endParaRPr lang="en-US" altLang="en-US" dirty="0"/>
          </a:p>
          <a:p>
            <a:pPr marL="118745" algn="l" rtl="0" eaLnBrk="0">
              <a:lnSpc>
                <a:spcPct val="99000"/>
              </a:lnSpc>
              <a:spcBef>
                <a:spcPts val="285"/>
              </a:spcBef>
            </a:pPr>
            <a:r>
              <a:rPr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r>
              <a:rPr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char</a:t>
            </a:r>
            <a:r>
              <a:rPr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name[</a:t>
            </a:r>
            <a:r>
              <a:rPr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20];</a:t>
            </a:r>
            <a:endParaRPr lang="en-US" altLang="en-US" dirty="0"/>
          </a:p>
          <a:p>
            <a:pPr marL="496570" algn="l" rtl="0" eaLnBrk="0">
              <a:lnSpc>
                <a:spcPts val="1825"/>
              </a:lnSpc>
              <a:spcBef>
                <a:spcPts val="530"/>
              </a:spcBef>
            </a:pPr>
            <a:r>
              <a:rPr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int</a:t>
            </a:r>
            <a:r>
              <a:rPr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count;</a:t>
            </a:r>
            <a:endParaRPr lang="en-US" altLang="en-US" dirty="0"/>
          </a:p>
          <a:p>
            <a:pPr marL="118745" algn="l" rtl="0" eaLnBrk="0">
              <a:lnSpc>
                <a:spcPct val="93000"/>
              </a:lnSpc>
              <a:spcBef>
                <a:spcPts val="475"/>
              </a:spcBef>
            </a:pPr>
            <a:r>
              <a:rPr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endParaRPr lang="en-US" altLang="en-US" dirty="0"/>
          </a:p>
          <a:p>
            <a:pPr marL="121285" algn="l" rtl="0" eaLnBrk="0">
              <a:lnSpc>
                <a:spcPct val="93000"/>
              </a:lnSpc>
              <a:spcBef>
                <a:spcPts val="0"/>
              </a:spcBef>
            </a:pPr>
            <a:r>
              <a:rPr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struct</a:t>
            </a:r>
            <a:r>
              <a:rPr kern="0" spc="1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Person </a:t>
            </a:r>
            <a:r>
              <a:rPr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leader[3];   </a:t>
            </a:r>
            <a:r>
              <a:rPr kern="0" spc="-7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//leader是结构体数组名</a:t>
            </a:r>
            <a:endParaRPr lang="zh-CN" altLang="en-US"/>
          </a:p>
        </p:txBody>
      </p:sp>
      <p:sp>
        <p:nvSpPr>
          <p:cNvPr id="7" name="矩形 6"/>
          <p:cNvSpPr/>
          <p:nvPr>
            <p:custDataLst>
              <p:tags r:id="rId6"/>
            </p:custDataLst>
          </p:nvPr>
        </p:nvSpPr>
        <p:spPr>
          <a:xfrm>
            <a:off x="1427480" y="5305425"/>
            <a:ext cx="8415655" cy="530860"/>
          </a:xfrm>
          <a:prstGeom prst="rect">
            <a:avLst/>
          </a:prstGeom>
          <a:solidFill>
            <a:schemeClr val="bg1"/>
          </a:solidFill>
          <a:ln>
            <a:solidFill>
              <a:srgbClr val="782367"/>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struct</a:t>
            </a:r>
            <a:r>
              <a:rPr kern="0" spc="1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Person</a:t>
            </a:r>
            <a:r>
              <a:rPr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leader[3]= {"Li",0,"Zh</a:t>
            </a:r>
            <a:r>
              <a:rPr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ang",0,"Sun",0};</a:t>
            </a:r>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46" name="textbox 8746"/>
          <p:cNvSpPr/>
          <p:nvPr/>
        </p:nvSpPr>
        <p:spPr>
          <a:xfrm>
            <a:off x="512116" y="460393"/>
            <a:ext cx="4349751" cy="1651635"/>
          </a:xfrm>
          <a:prstGeom prst="rect">
            <a:avLst/>
          </a:prstGeom>
        </p:spPr>
        <p:txBody>
          <a:bodyPr vert="horz" wrap="square" lIns="0" tIns="0" rIns="0" bIns="0"/>
          <a:lstStyle/>
          <a:p>
            <a:pPr algn="l" rtl="0" eaLnBrk="0">
              <a:lnSpc>
                <a:spcPct val="95000"/>
              </a:lnSpc>
            </a:pPr>
            <a:endParaRPr lang="en-US" altLang="en-US" sz="135" dirty="0"/>
          </a:p>
          <a:p>
            <a:pPr marL="151765" algn="l" rtl="0" eaLnBrk="0">
              <a:lnSpc>
                <a:spcPct val="99000"/>
              </a:lnSpc>
            </a:pPr>
            <a:r>
              <a:rPr sz="31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结构体数组的应用举例</a:t>
            </a:r>
            <a:endParaRPr lang="en-US" altLang="en-US" sz="3100" dirty="0"/>
          </a:p>
          <a:p>
            <a:pPr algn="l" rtl="0" eaLnBrk="0">
              <a:lnSpc>
                <a:spcPct val="107000"/>
              </a:lnSpc>
            </a:pPr>
            <a:endParaRPr lang="en-US" altLang="en-US" sz="800" dirty="0"/>
          </a:p>
          <a:p>
            <a:pPr algn="l" rtl="0" eaLnBrk="0">
              <a:lnSpc>
                <a:spcPct val="7000"/>
              </a:lnSpc>
            </a:pPr>
            <a:endParaRPr lang="en-US" altLang="en-US" sz="135" dirty="0"/>
          </a:p>
          <a:p>
            <a:pPr marL="83820" indent="52070" algn="l" rtl="0" eaLnBrk="0">
              <a:lnSpc>
                <a:spcPct val="118000"/>
              </a:lnSpc>
            </a:pPr>
            <a:r>
              <a:rPr sz="1900" kern="0" spc="-50" dirty="0">
                <a:solidFill>
                  <a:srgbClr val="782367">
                    <a:alpha val="100000"/>
                  </a:srgbClr>
                </a:solidFill>
                <a:latin typeface="微软雅黑" panose="020B0503020204020204" charset="-122"/>
                <a:ea typeface="微软雅黑" panose="020B0503020204020204" charset="-122"/>
                <a:cs typeface="微软雅黑" panose="020B0503020204020204" charset="-122"/>
              </a:rPr>
              <a:t>【例</a:t>
            </a:r>
            <a:r>
              <a:rPr lang="en-US" sz="1900" kern="0" spc="-50" dirty="0">
                <a:solidFill>
                  <a:srgbClr val="782367">
                    <a:alpha val="100000"/>
                  </a:srgbClr>
                </a:solidFill>
                <a:latin typeface="微软雅黑" panose="020B0503020204020204" charset="-122"/>
                <a:ea typeface="微软雅黑" panose="020B0503020204020204" charset="-122"/>
                <a:cs typeface="微软雅黑" panose="020B0503020204020204" charset="-122"/>
              </a:rPr>
              <a:t>7</a:t>
            </a:r>
            <a:r>
              <a:rPr sz="1900" kern="0" spc="-50" dirty="0">
                <a:solidFill>
                  <a:srgbClr val="782367">
                    <a:alpha val="100000"/>
                  </a:srgbClr>
                </a:solidFill>
                <a:latin typeface="微软雅黑" panose="020B0503020204020204" charset="-122"/>
                <a:ea typeface="微软雅黑" panose="020B0503020204020204" charset="-122"/>
                <a:cs typeface="微软雅黑" panose="020B0503020204020204" charset="-122"/>
              </a:rPr>
              <a:t>.4】有n个学生的信息(包括学号、</a:t>
            </a:r>
            <a:r>
              <a:rPr sz="1900" kern="0" spc="20" dirty="0">
                <a:solidFill>
                  <a:srgbClr val="782367">
                    <a:alpha val="100000"/>
                  </a:srgbClr>
                </a:solidFill>
                <a:latin typeface="微软雅黑" panose="020B0503020204020204" charset="-122"/>
                <a:ea typeface="微软雅黑" panose="020B0503020204020204" charset="-122"/>
                <a:cs typeface="微软雅黑" panose="020B0503020204020204" charset="-122"/>
              </a:rPr>
              <a:t>   </a:t>
            </a:r>
            <a:r>
              <a:rPr sz="1900" kern="0" spc="90" dirty="0">
                <a:solidFill>
                  <a:srgbClr val="782367">
                    <a:alpha val="100000"/>
                  </a:srgbClr>
                </a:solidFill>
                <a:latin typeface="微软雅黑" panose="020B0503020204020204" charset="-122"/>
                <a:ea typeface="微软雅黑" panose="020B0503020204020204" charset="-122"/>
                <a:cs typeface="微软雅黑" panose="020B0503020204020204" charset="-122"/>
              </a:rPr>
              <a:t>姓名、成绩)，要求按</a:t>
            </a:r>
            <a:r>
              <a:rPr sz="1900" kern="0" spc="80" dirty="0">
                <a:solidFill>
                  <a:srgbClr val="782367">
                    <a:alpha val="100000"/>
                  </a:srgbClr>
                </a:solidFill>
                <a:latin typeface="微软雅黑" panose="020B0503020204020204" charset="-122"/>
                <a:ea typeface="微软雅黑" panose="020B0503020204020204" charset="-122"/>
                <a:cs typeface="微软雅黑" panose="020B0503020204020204" charset="-122"/>
              </a:rPr>
              <a:t>照成绩的高低顺</a:t>
            </a:r>
            <a:r>
              <a:rPr sz="1900" kern="0" spc="0" dirty="0">
                <a:solidFill>
                  <a:srgbClr val="782367">
                    <a:alpha val="100000"/>
                  </a:srgbClr>
                </a:solidFill>
                <a:latin typeface="微软雅黑" panose="020B0503020204020204" charset="-122"/>
                <a:ea typeface="微软雅黑" panose="020B0503020204020204" charset="-122"/>
                <a:cs typeface="微软雅黑" panose="020B0503020204020204" charset="-122"/>
              </a:rPr>
              <a:t>   </a:t>
            </a:r>
            <a:r>
              <a:rPr sz="1900" kern="0" spc="40" dirty="0">
                <a:solidFill>
                  <a:srgbClr val="782367">
                    <a:alpha val="100000"/>
                  </a:srgbClr>
                </a:solidFill>
                <a:latin typeface="微软雅黑" panose="020B0503020204020204" charset="-122"/>
                <a:ea typeface="微软雅黑" panose="020B0503020204020204" charset="-122"/>
                <a:cs typeface="微软雅黑" panose="020B0503020204020204" charset="-122"/>
              </a:rPr>
              <a:t>序输出各学生的信息。</a:t>
            </a:r>
            <a:endParaRPr lang="en-US" altLang="en-US" sz="1900" kern="0" spc="40" dirty="0">
              <a:solidFill>
                <a:srgbClr val="782367">
                  <a:alpha val="100000"/>
                </a:srgbClr>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1"/>
            </p:custDataLst>
          </p:nvPr>
        </p:nvSpPr>
        <p:spPr>
          <a:xfrm>
            <a:off x="5074285" y="291465"/>
            <a:ext cx="6763385" cy="6538595"/>
          </a:xfrm>
          <a:prstGeom prst="rect">
            <a:avLst/>
          </a:prstGeom>
          <a:solidFill>
            <a:schemeClr val="bg1"/>
          </a:solidFill>
          <a:ln>
            <a:solidFill>
              <a:srgbClr val="782367"/>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123825" algn="l" rtl="0" eaLnBrk="0">
              <a:lnSpc>
                <a:spcPct val="93000"/>
              </a:lnSpc>
              <a:spcBef>
                <a:spcPts val="0"/>
              </a:spcBef>
            </a:pPr>
            <a:endPar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endParaRPr>
          </a:p>
          <a:p>
            <a:pPr marL="123825" algn="l" rtl="0" eaLnBrk="0">
              <a:lnSpc>
                <a:spcPct val="93000"/>
              </a:lnSpc>
              <a:spcBef>
                <a:spcPts val="0"/>
              </a:spcBef>
            </a:pPr>
            <a:endPar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endParaRPr>
          </a:p>
          <a:p>
            <a:pPr marL="123825" algn="l" rtl="0" eaLnBrk="0">
              <a:lnSpc>
                <a:spcPct val="93000"/>
              </a:lnSpc>
              <a:spcBef>
                <a:spcPts val="0"/>
              </a:spcBef>
            </a:pPr>
            <a:endPar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endParaRPr>
          </a:p>
          <a:p>
            <a:pPr marL="123825" algn="l" rtl="0" eaLnBrk="0">
              <a:lnSpc>
                <a:spcPct val="93000"/>
              </a:lnSpc>
              <a:spcBef>
                <a:spcPts val="0"/>
              </a:spcBef>
            </a:pPr>
            <a:r>
              <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#include</a:t>
            </a:r>
            <a:r>
              <a:rPr sz="1300" kern="0" spc="18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&lt;stdio.h</a:t>
            </a:r>
            <a:r>
              <a:rPr sz="13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&gt;</a:t>
            </a:r>
            <a:endParaRPr lang="en-US" altLang="en-US" sz="1300" dirty="0"/>
          </a:p>
          <a:p>
            <a:pPr marL="123190" algn="l" rtl="0" eaLnBrk="0">
              <a:lnSpc>
                <a:spcPts val="2015"/>
              </a:lnSpc>
            </a:pPr>
            <a:r>
              <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struct</a:t>
            </a:r>
            <a:r>
              <a:rPr sz="1300"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Student</a:t>
            </a:r>
            <a:r>
              <a:rPr lang="en-US"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1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//声明结构体类型</a:t>
            </a:r>
            <a:r>
              <a:rPr sz="1300" kern="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struct</a:t>
            </a:r>
            <a:r>
              <a:rPr sz="1300" kern="0" spc="15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Student</a:t>
            </a:r>
          </a:p>
          <a:p>
            <a:pPr marL="120650" algn="l" rtl="0" eaLnBrk="0">
              <a:lnSpc>
                <a:spcPts val="1450"/>
              </a:lnSpc>
              <a:spcBef>
                <a:spcPts val="0"/>
              </a:spcBef>
            </a:pPr>
            <a:r>
              <a:rPr sz="13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r>
              <a:rPr sz="13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int</a:t>
            </a:r>
            <a:r>
              <a:rPr sz="1300" kern="0" spc="2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num;</a:t>
            </a:r>
            <a:endParaRPr lang="en-US" altLang="en-US" sz="1300" dirty="0"/>
          </a:p>
          <a:p>
            <a:pPr marL="490855" algn="l" rtl="0" eaLnBrk="0">
              <a:lnSpc>
                <a:spcPct val="93000"/>
              </a:lnSpc>
              <a:spcBef>
                <a:spcPts val="565"/>
              </a:spcBef>
            </a:pPr>
            <a:r>
              <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char</a:t>
            </a:r>
            <a:r>
              <a:rPr sz="1300" kern="0" spc="1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name[20];</a:t>
            </a:r>
            <a:endParaRPr lang="en-US" altLang="en-US" sz="1300" dirty="0"/>
          </a:p>
          <a:p>
            <a:pPr marL="486410" algn="l" rtl="0" eaLnBrk="0">
              <a:lnSpc>
                <a:spcPts val="2015"/>
              </a:lnSpc>
            </a:pPr>
            <a:r>
              <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float</a:t>
            </a:r>
            <a:r>
              <a:rPr sz="1300" kern="0" spc="1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score;</a:t>
            </a:r>
            <a:endParaRPr lang="en-US" altLang="en-US" sz="1300" dirty="0"/>
          </a:p>
          <a:p>
            <a:pPr marL="120650" algn="l" rtl="0" eaLnBrk="0">
              <a:lnSpc>
                <a:spcPct val="99000"/>
              </a:lnSpc>
              <a:spcBef>
                <a:spcPts val="560"/>
              </a:spcBef>
            </a:pPr>
            <a:r>
              <a:rPr sz="13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endParaRPr lang="en-US" altLang="en-US" sz="1300" dirty="0"/>
          </a:p>
          <a:p>
            <a:pPr marL="133985" algn="l" rtl="0" eaLnBrk="0">
              <a:lnSpc>
                <a:spcPct val="99000"/>
              </a:lnSpc>
              <a:spcBef>
                <a:spcPts val="475"/>
              </a:spcBef>
            </a:pPr>
            <a:r>
              <a:rPr sz="13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int</a:t>
            </a:r>
            <a:r>
              <a:rPr sz="1300" kern="0" spc="1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main()</a:t>
            </a:r>
            <a:endParaRPr lang="en-US" altLang="en-US" sz="1300" dirty="0"/>
          </a:p>
          <a:p>
            <a:pPr marL="483235" indent="-362585" algn="l" rtl="0" eaLnBrk="0">
              <a:lnSpc>
                <a:spcPct val="111000"/>
              </a:lnSpc>
              <a:spcBef>
                <a:spcPts val="465"/>
              </a:spcBef>
            </a:pPr>
            <a:r>
              <a:rPr sz="13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stru</a:t>
            </a:r>
            <a:r>
              <a:rPr sz="13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ct</a:t>
            </a:r>
            <a:r>
              <a:rPr sz="13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Student</a:t>
            </a:r>
            <a:r>
              <a:rPr sz="1300"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stu[5]={{10101,"Zhang",78},{10103,"Wang",98.5},{10106,"Li",86},          </a:t>
            </a:r>
            <a:r>
              <a:rPr sz="13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{10108,"</a:t>
            </a:r>
            <a:r>
              <a:rPr sz="1300" kern="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Ling</a:t>
            </a:r>
            <a:r>
              <a:rPr sz="13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",73.5},{10110,"</a:t>
            </a:r>
            <a:r>
              <a:rPr sz="1300" kern="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Sun</a:t>
            </a:r>
            <a:r>
              <a:rPr sz="13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",100}};</a:t>
            </a:r>
            <a:r>
              <a:rPr sz="1300" kern="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//定义结构体数组并初始化</a:t>
            </a:r>
            <a:endParaRPr lang="en-US" altLang="en-US" sz="1300" dirty="0"/>
          </a:p>
          <a:p>
            <a:pPr marL="490855" indent="-5080" algn="l" rtl="0" eaLnBrk="0">
              <a:lnSpc>
                <a:spcPct val="115000"/>
              </a:lnSpc>
              <a:spcBef>
                <a:spcPts val="595"/>
              </a:spcBef>
            </a:pPr>
            <a:r>
              <a:rPr sz="1300" kern="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struct</a:t>
            </a:r>
            <a:r>
              <a:rPr sz="13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Student</a:t>
            </a:r>
            <a:r>
              <a:rPr sz="13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temp</a:t>
            </a:r>
            <a:r>
              <a:rPr sz="13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2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//定义结构体变量</a:t>
            </a:r>
            <a:r>
              <a:rPr sz="1300" kern="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temp</a:t>
            </a:r>
            <a:r>
              <a:rPr sz="1300" kern="0" spc="2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，用作交换时的</a:t>
            </a:r>
            <a:r>
              <a:rPr sz="1300" kern="0" spc="1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临时变量         </a:t>
            </a:r>
            <a:r>
              <a:rPr sz="1300" kern="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const</a:t>
            </a:r>
            <a:r>
              <a:rPr sz="1300" kern="0" spc="1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int</a:t>
            </a:r>
            <a:r>
              <a:rPr sz="1300" kern="0" spc="1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n=5;      </a:t>
            </a:r>
            <a:r>
              <a:rPr sz="13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1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//定义常变量n</a:t>
            </a:r>
            <a:endParaRPr lang="en-US" altLang="en-US" sz="1300" dirty="0"/>
          </a:p>
          <a:p>
            <a:pPr marL="496570" algn="l" rtl="0" eaLnBrk="0">
              <a:lnSpc>
                <a:spcPts val="1450"/>
              </a:lnSpc>
              <a:spcBef>
                <a:spcPts val="435"/>
              </a:spcBef>
            </a:pPr>
            <a:r>
              <a:rPr sz="13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int</a:t>
            </a:r>
            <a:r>
              <a:rPr sz="1300" kern="0" spc="2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i,j,k;</a:t>
            </a:r>
            <a:endParaRPr lang="en-US" altLang="en-US" sz="1300" dirty="0"/>
          </a:p>
          <a:p>
            <a:pPr marL="495935" algn="l" rtl="0" eaLnBrk="0">
              <a:lnSpc>
                <a:spcPct val="92000"/>
              </a:lnSpc>
              <a:spcBef>
                <a:spcPts val="570"/>
              </a:spcBef>
            </a:pPr>
            <a:r>
              <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printf("The</a:t>
            </a:r>
            <a:r>
              <a:rPr sz="1300" kern="0" spc="1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order</a:t>
            </a:r>
            <a:r>
              <a:rPr sz="1300" kern="0" spc="1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i</a:t>
            </a:r>
            <a:r>
              <a:rPr sz="13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s:\n");</a:t>
            </a:r>
            <a:endParaRPr lang="en-US" altLang="en-US" sz="1300" dirty="0"/>
          </a:p>
          <a:p>
            <a:pPr marL="486410" algn="l" rtl="0" eaLnBrk="0">
              <a:lnSpc>
                <a:spcPts val="2015"/>
              </a:lnSpc>
              <a:spcBef>
                <a:spcPts val="10"/>
              </a:spcBef>
            </a:pPr>
            <a:r>
              <a:rPr sz="13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for(i=0;i&lt;n</a:t>
            </a:r>
            <a:r>
              <a:rPr sz="1300" kern="0" spc="-2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-1;i++)</a:t>
            </a:r>
            <a:endParaRPr lang="en-US" altLang="en-US" sz="1300" dirty="0"/>
          </a:p>
          <a:p>
            <a:pPr marL="483235" algn="l" rtl="0" eaLnBrk="0">
              <a:lnSpc>
                <a:spcPts val="1450"/>
              </a:lnSpc>
              <a:spcBef>
                <a:spcPts val="565"/>
              </a:spcBef>
            </a:pPr>
            <a:r>
              <a:rPr sz="13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r>
              <a:rPr sz="13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k=i;</a:t>
            </a:r>
            <a:endParaRPr lang="en-US" altLang="en-US" sz="1300" dirty="0"/>
          </a:p>
          <a:p>
            <a:pPr marL="852805" algn="l" rtl="0" eaLnBrk="0">
              <a:lnSpc>
                <a:spcPct val="92000"/>
              </a:lnSpc>
              <a:spcBef>
                <a:spcPts val="560"/>
              </a:spcBef>
            </a:pPr>
            <a:r>
              <a:rPr sz="13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for(j=i+1;j&lt;n;j++</a:t>
            </a:r>
            <a:r>
              <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endParaRPr lang="en-US" altLang="en-US" sz="1300" dirty="0"/>
          </a:p>
          <a:p>
            <a:pPr marL="1225550" algn="l" rtl="0" eaLnBrk="0">
              <a:lnSpc>
                <a:spcPct val="92000"/>
              </a:lnSpc>
              <a:spcBef>
                <a:spcPts val="580"/>
              </a:spcBef>
            </a:pPr>
            <a:r>
              <a:rPr sz="1300" kern="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if(stu[j].s</a:t>
            </a:r>
            <a:r>
              <a:rPr sz="13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core&gt;stu[k].score)                   </a:t>
            </a:r>
            <a:r>
              <a:rPr sz="1300" kern="0" spc="-1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//进行成绩的比较</a:t>
            </a:r>
            <a:endParaRPr lang="en-US" altLang="en-US" sz="1300" dirty="0"/>
          </a:p>
          <a:p>
            <a:pPr marL="1590675" algn="l" rtl="0" eaLnBrk="0">
              <a:lnSpc>
                <a:spcPts val="1450"/>
              </a:lnSpc>
              <a:spcBef>
                <a:spcPts val="585"/>
              </a:spcBef>
            </a:pPr>
            <a:r>
              <a:rPr sz="13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k=j;</a:t>
            </a:r>
            <a:endParaRPr lang="en-US" altLang="en-US" sz="1300" dirty="0"/>
          </a:p>
          <a:p>
            <a:pPr marL="852170" algn="l" rtl="0" eaLnBrk="0">
              <a:lnSpc>
                <a:spcPct val="92000"/>
              </a:lnSpc>
              <a:spcBef>
                <a:spcPts val="570"/>
              </a:spcBef>
            </a:pPr>
            <a:r>
              <a:rPr sz="13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temp=stu[k];</a:t>
            </a:r>
            <a:r>
              <a:rPr sz="1300"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stu[k]=stu[i];</a:t>
            </a:r>
            <a:r>
              <a:rPr sz="1300" kern="0" spc="1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stu[i]=te</a:t>
            </a:r>
            <a:r>
              <a:rPr sz="13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mp;       </a:t>
            </a:r>
            <a:r>
              <a:rPr sz="1300" kern="0" spc="-3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//stu[k]和stu[i]元素互换</a:t>
            </a:r>
            <a:endParaRPr lang="en-US" altLang="en-US" sz="1300" dirty="0"/>
          </a:p>
          <a:p>
            <a:pPr marL="483870" algn="l" rtl="0" eaLnBrk="0">
              <a:lnSpc>
                <a:spcPct val="99000"/>
              </a:lnSpc>
              <a:spcBef>
                <a:spcPts val="575"/>
              </a:spcBef>
            </a:pPr>
            <a:r>
              <a:rPr sz="13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endParaRPr lang="en-US" altLang="en-US" sz="1300" dirty="0"/>
          </a:p>
          <a:p>
            <a:pPr marL="486410" algn="l" rtl="0" eaLnBrk="0">
              <a:lnSpc>
                <a:spcPct val="99000"/>
              </a:lnSpc>
              <a:spcBef>
                <a:spcPts val="470"/>
              </a:spcBef>
            </a:pPr>
            <a:r>
              <a:rPr sz="13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for(i=0;i&lt;n;i++)</a:t>
            </a:r>
            <a:endParaRPr lang="en-US" altLang="en-US" sz="1300" dirty="0"/>
          </a:p>
          <a:p>
            <a:pPr marL="862330" algn="l" rtl="0" eaLnBrk="0">
              <a:lnSpc>
                <a:spcPct val="92000"/>
              </a:lnSpc>
              <a:spcBef>
                <a:spcPts val="480"/>
              </a:spcBef>
            </a:pPr>
            <a:r>
              <a:rPr sz="13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printf("%6d</a:t>
            </a:r>
            <a:r>
              <a:rPr sz="13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%8s %6.2f\n",stu[i].num,stu[i].name,stu[</a:t>
            </a:r>
            <a:r>
              <a:rPr sz="13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i].score);</a:t>
            </a:r>
            <a:endParaRPr lang="en-US" altLang="en-US" sz="1300" dirty="0"/>
          </a:p>
          <a:p>
            <a:pPr marL="495935" algn="l" rtl="0" eaLnBrk="0">
              <a:lnSpc>
                <a:spcPts val="2015"/>
              </a:lnSpc>
              <a:spcBef>
                <a:spcPts val="10"/>
              </a:spcBef>
            </a:pPr>
            <a:r>
              <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printf("\</a:t>
            </a:r>
            <a:r>
              <a:rPr sz="13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n");</a:t>
            </a:r>
            <a:endParaRPr lang="en-US" altLang="en-US" sz="1300" dirty="0"/>
          </a:p>
          <a:p>
            <a:pPr marL="495935" algn="l" rtl="0" eaLnBrk="0">
              <a:lnSpc>
                <a:spcPct val="93000"/>
              </a:lnSpc>
              <a:spcBef>
                <a:spcPts val="565"/>
              </a:spcBef>
            </a:pPr>
            <a:r>
              <a:rPr sz="13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return</a:t>
            </a:r>
            <a:r>
              <a:rPr sz="1300" kern="0" spc="1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0;</a:t>
            </a:r>
            <a:endParaRPr lang="en-US" altLang="en-US" sz="1300" dirty="0"/>
          </a:p>
          <a:p>
            <a:pPr marL="120650" algn="l" rtl="0" eaLnBrk="0">
              <a:lnSpc>
                <a:spcPts val="2015"/>
              </a:lnSpc>
            </a:pPr>
            <a:r>
              <a:rPr sz="13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endParaRPr lang="en-US" altLang="en-US" sz="1300" dirty="0"/>
          </a:p>
          <a:p>
            <a:pPr marL="123190" algn="l" rtl="0" eaLnBrk="0">
              <a:lnSpc>
                <a:spcPts val="2015"/>
              </a:lnSpc>
            </a:pPr>
            <a:endParaRPr lang="en-US" altLang="en-US" dirty="0"/>
          </a:p>
          <a:p>
            <a:pPr algn="ctr"/>
            <a:endParaRPr lang="zh-CN" altLang="en-US"/>
          </a:p>
        </p:txBody>
      </p:sp>
      <p:pic>
        <p:nvPicPr>
          <p:cNvPr id="3" name="图片 2"/>
          <p:cNvPicPr>
            <a:picLocks noChangeAspect="1"/>
          </p:cNvPicPr>
          <p:nvPr>
            <p:custDataLst>
              <p:tags r:id="rId2"/>
            </p:custDataLst>
          </p:nvPr>
        </p:nvPicPr>
        <p:blipFill>
          <a:blip r:embed="rId4"/>
          <a:stretch>
            <a:fillRect/>
          </a:stretch>
        </p:blipFill>
        <p:spPr>
          <a:xfrm>
            <a:off x="334010" y="5033010"/>
            <a:ext cx="4705350" cy="179705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81923"/>
          <p:cNvSpPr txBox="1"/>
          <p:nvPr/>
        </p:nvSpPr>
        <p:spPr>
          <a:xfrm>
            <a:off x="2185000" y="446405"/>
            <a:ext cx="7823200" cy="2432051"/>
          </a:xfrm>
          <a:prstGeom prst="rect">
            <a:avLst/>
          </a:prstGeom>
          <a:noFill/>
          <a:ln w="9525">
            <a:noFill/>
          </a:ln>
        </p:spPr>
        <p:txBody>
          <a:bodyPr anchor="b"/>
          <a:lstStyle>
            <a:lvl1pPr marL="0" lvl="0" indent="0" algn="r" defTabSz="914400" rtl="0" eaLnBrk="1" fontAlgn="base" latinLnBrk="0" hangingPunct="1">
              <a:lnSpc>
                <a:spcPct val="100000"/>
              </a:lnSpc>
              <a:spcBef>
                <a:spcPct val="0"/>
              </a:spcBef>
              <a:spcAft>
                <a:spcPct val="0"/>
              </a:spcAft>
              <a:buClrTx/>
              <a:buSzTx/>
              <a:buFontTx/>
              <a:buNone/>
              <a:defRPr sz="4800" b="1" i="0" u="none" kern="1200" baseline="0">
                <a:solidFill>
                  <a:schemeClr val="tx2"/>
                </a:solidFill>
                <a:latin typeface="+mj-lt"/>
                <a:ea typeface="+mj-ea"/>
                <a:cs typeface="+mj-cs"/>
              </a:defRPr>
            </a:lvl1pPr>
          </a:lstStyle>
          <a:p>
            <a:pPr algn="ctr"/>
            <a:r>
              <a:rPr lang="zh-CN" altLang="en-US" noProof="1">
                <a:solidFill>
                  <a:srgbClr val="330066"/>
                </a:solidFill>
                <a:effectLst>
                  <a:outerShdw blurRad="38100" dist="38100" dir="2700000">
                    <a:srgbClr val="C0C0C0"/>
                  </a:outerShdw>
                </a:effectLst>
                <a:latin typeface="Arial" panose="020B0604020202090204" pitchFamily="34" charset="0"/>
                <a:ea typeface="隶书" panose="02010509060101010101" pitchFamily="49" charset="-122"/>
              </a:rPr>
              <a:t>结构体指针</a:t>
            </a:r>
            <a:endParaRPr lang="en-US" altLang="zh-CN" noProof="1">
              <a:solidFill>
                <a:srgbClr val="330066"/>
              </a:solidFill>
              <a:effectLst>
                <a:outerShdw blurRad="38100" dist="38100" dir="2700000">
                  <a:srgbClr val="C0C0C0"/>
                </a:outerShdw>
              </a:effectLst>
              <a:latin typeface="Arial" panose="020B0604020202090204" pitchFamily="34" charset="0"/>
              <a:ea typeface="隶书" panose="02010509060101010101" pitchFamily="49" charset="-122"/>
            </a:endParaRPr>
          </a:p>
        </p:txBody>
      </p:sp>
      <p:cxnSp>
        <p:nvCxnSpPr>
          <p:cNvPr id="4" name="直接连接符 3"/>
          <p:cNvCxnSpPr/>
          <p:nvPr/>
        </p:nvCxnSpPr>
        <p:spPr>
          <a:xfrm>
            <a:off x="432400" y="3136069"/>
            <a:ext cx="11328400" cy="0"/>
          </a:xfrm>
          <a:prstGeom prst="line">
            <a:avLst/>
          </a:prstGeom>
          <a:ln w="25400">
            <a:solidFill>
              <a:srgbClr val="782367"/>
            </a:solidFill>
          </a:ln>
        </p:spPr>
        <p:style>
          <a:lnRef idx="1">
            <a:schemeClr val="accent1"/>
          </a:lnRef>
          <a:fillRef idx="0">
            <a:schemeClr val="accent1"/>
          </a:fillRef>
          <a:effectRef idx="0">
            <a:schemeClr val="accent1"/>
          </a:effectRef>
          <a:fontRef idx="minor">
            <a:schemeClr val="tx1"/>
          </a:fontRef>
        </p:style>
      </p:cxn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32431" y="246671"/>
            <a:ext cx="573807" cy="573807"/>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52" name="textbox 8752"/>
          <p:cNvSpPr/>
          <p:nvPr/>
        </p:nvSpPr>
        <p:spPr>
          <a:xfrm>
            <a:off x="948324" y="2765805"/>
            <a:ext cx="10075544" cy="1471931"/>
          </a:xfrm>
          <a:prstGeom prst="rect">
            <a:avLst/>
          </a:prstGeom>
        </p:spPr>
        <p:txBody>
          <a:bodyPr vert="horz" wrap="square" lIns="0" tIns="0" rIns="0" bIns="0"/>
          <a:lstStyle/>
          <a:p>
            <a:pPr algn="l" rtl="0" eaLnBrk="0">
              <a:lnSpc>
                <a:spcPct val="80000"/>
              </a:lnSpc>
            </a:pPr>
            <a:endParaRPr lang="en-US" altLang="en-US" sz="135" dirty="0"/>
          </a:p>
          <a:p>
            <a:pPr marL="12700" algn="l" rtl="0" eaLnBrk="0">
              <a:lnSpc>
                <a:spcPct val="87000"/>
              </a:lnSpc>
            </a:pPr>
            <a:r>
              <a:rPr sz="2400" kern="0" spc="-60" dirty="0">
                <a:solidFill>
                  <a:srgbClr val="595959">
                    <a:alpha val="100000"/>
                  </a:srgbClr>
                </a:solidFill>
                <a:latin typeface="微软雅黑" panose="020B0503020204020204" charset="-122"/>
                <a:ea typeface="微软雅黑" panose="020B0503020204020204" charset="-122"/>
                <a:cs typeface="微软雅黑" panose="020B0503020204020204" charset="-122"/>
              </a:rPr>
              <a:t>所谓结构体指针就是指向结构体变量的指</a:t>
            </a:r>
            <a:r>
              <a:rPr sz="2400" kern="0" spc="-70" dirty="0">
                <a:solidFill>
                  <a:srgbClr val="595959">
                    <a:alpha val="100000"/>
                  </a:srgbClr>
                </a:solidFill>
                <a:latin typeface="微软雅黑" panose="020B0503020204020204" charset="-122"/>
                <a:ea typeface="微软雅黑" panose="020B0503020204020204" charset="-122"/>
                <a:cs typeface="微软雅黑" panose="020B0503020204020204" charset="-122"/>
              </a:rPr>
              <a:t>针，一个结构体变量的起始地址就</a:t>
            </a:r>
            <a:endParaRPr lang="en-US" altLang="en-US" sz="2400" dirty="0"/>
          </a:p>
          <a:p>
            <a:pPr marL="15240" indent="3175" algn="l" rtl="0" eaLnBrk="0">
              <a:lnSpc>
                <a:spcPct val="154000"/>
              </a:lnSpc>
              <a:spcBef>
                <a:spcPts val="15"/>
              </a:spcBef>
            </a:pPr>
            <a:r>
              <a:rPr sz="2400" kern="0" spc="0" dirty="0">
                <a:solidFill>
                  <a:srgbClr val="595959">
                    <a:alpha val="100000"/>
                  </a:srgbClr>
                </a:solidFill>
                <a:latin typeface="微软雅黑" panose="020B0503020204020204" charset="-122"/>
                <a:ea typeface="微软雅黑" panose="020B0503020204020204" charset="-122"/>
                <a:cs typeface="微软雅黑" panose="020B0503020204020204" charset="-122"/>
              </a:rPr>
              <a:t>是这个结构体变量的指针。如果把一个结构体</a:t>
            </a:r>
            <a:r>
              <a:rPr sz="2400" kern="0" spc="-10" dirty="0">
                <a:solidFill>
                  <a:srgbClr val="595959">
                    <a:alpha val="100000"/>
                  </a:srgbClr>
                </a:solidFill>
                <a:latin typeface="微软雅黑" panose="020B0503020204020204" charset="-122"/>
                <a:ea typeface="微软雅黑" panose="020B0503020204020204" charset="-122"/>
                <a:cs typeface="微软雅黑" panose="020B0503020204020204" charset="-122"/>
              </a:rPr>
              <a:t>变量的起始地址存放在一个指 针变量中，那么，这</a:t>
            </a:r>
            <a:r>
              <a:rPr sz="2400" kern="0" spc="-20" dirty="0">
                <a:solidFill>
                  <a:srgbClr val="595959">
                    <a:alpha val="100000"/>
                  </a:srgbClr>
                </a:solidFill>
                <a:latin typeface="微软雅黑" panose="020B0503020204020204" charset="-122"/>
                <a:ea typeface="微软雅黑" panose="020B0503020204020204" charset="-122"/>
                <a:cs typeface="微软雅黑" panose="020B0503020204020204" charset="-122"/>
              </a:rPr>
              <a:t>个指针变量就指向该结构体变量。</a:t>
            </a:r>
            <a:endParaRPr lang="en-US" altLang="en-US" sz="2400" dirty="0"/>
          </a:p>
        </p:txBody>
      </p:sp>
      <p:grpSp>
        <p:nvGrpSpPr>
          <p:cNvPr id="566" name="group 566"/>
          <p:cNvGrpSpPr/>
          <p:nvPr/>
        </p:nvGrpSpPr>
        <p:grpSpPr>
          <a:xfrm rot="21600000">
            <a:off x="3978240" y="4754879"/>
            <a:ext cx="7129271" cy="633984"/>
            <a:chOff x="0" y="0"/>
            <a:chExt cx="7129271" cy="633984"/>
          </a:xfrm>
        </p:grpSpPr>
        <p:sp>
          <p:nvSpPr>
            <p:cNvPr id="8754" name="path"/>
            <p:cNvSpPr/>
            <p:nvPr/>
          </p:nvSpPr>
          <p:spPr>
            <a:xfrm>
              <a:off x="6065519" y="21336"/>
              <a:ext cx="1063752" cy="612647"/>
            </a:xfrm>
            <a:custGeom>
              <a:avLst/>
              <a:gdLst/>
              <a:ahLst/>
              <a:cxnLst/>
              <a:rect l="0" t="0" r="0" b="0"/>
              <a:pathLst>
                <a:path w="1675" h="964">
                  <a:moveTo>
                    <a:pt x="0" y="0"/>
                  </a:moveTo>
                  <a:lnTo>
                    <a:pt x="559" y="964"/>
                  </a:lnTo>
                  <a:lnTo>
                    <a:pt x="1118" y="0"/>
                  </a:lnTo>
                  <a:lnTo>
                    <a:pt x="0" y="0"/>
                  </a:lnTo>
                  <a:close/>
                </a:path>
                <a:path w="1675" h="964">
                  <a:moveTo>
                    <a:pt x="556" y="0"/>
                  </a:moveTo>
                  <a:lnTo>
                    <a:pt x="1115" y="964"/>
                  </a:lnTo>
                  <a:lnTo>
                    <a:pt x="1675" y="0"/>
                  </a:lnTo>
                  <a:lnTo>
                    <a:pt x="556" y="0"/>
                  </a:lnTo>
                  <a:close/>
                </a:path>
              </a:pathLst>
            </a:custGeom>
            <a:solidFill>
              <a:srgbClr val="782367">
                <a:alpha val="60000"/>
              </a:srgbClr>
            </a:solidFill>
            <a:ln cap="flat">
              <a:noFill/>
              <a:prstDash val="solid"/>
              <a:miter lim="0"/>
            </a:ln>
          </p:spPr>
          <p:txBody>
            <a:bodyPr rtlCol="0"/>
            <a:lstStyle/>
            <a:p>
              <a:pPr algn="ctr"/>
              <a:endParaRPr lang="zh-CN" altLang="en-US"/>
            </a:p>
          </p:txBody>
        </p:sp>
        <p:sp>
          <p:nvSpPr>
            <p:cNvPr id="8756" name="path"/>
            <p:cNvSpPr/>
            <p:nvPr/>
          </p:nvSpPr>
          <p:spPr>
            <a:xfrm>
              <a:off x="0" y="0"/>
              <a:ext cx="7129271" cy="45720"/>
            </a:xfrm>
            <a:custGeom>
              <a:avLst/>
              <a:gdLst/>
              <a:ahLst/>
              <a:cxnLst/>
              <a:rect l="0" t="0" r="0" b="0"/>
              <a:pathLst>
                <a:path w="11227" h="72">
                  <a:moveTo>
                    <a:pt x="0" y="72"/>
                  </a:moveTo>
                  <a:lnTo>
                    <a:pt x="11227" y="72"/>
                  </a:lnTo>
                  <a:lnTo>
                    <a:pt x="11227" y="0"/>
                  </a:lnTo>
                  <a:lnTo>
                    <a:pt x="0" y="0"/>
                  </a:lnTo>
                  <a:lnTo>
                    <a:pt x="0" y="72"/>
                  </a:lnTo>
                  <a:close/>
                </a:path>
              </a:pathLst>
            </a:custGeom>
            <a:solidFill>
              <a:srgbClr val="782367"/>
            </a:solidFill>
            <a:ln cap="flat">
              <a:noFill/>
              <a:prstDash val="solid"/>
              <a:miter lim="0"/>
            </a:ln>
          </p:spPr>
          <p:txBody>
            <a:bodyPr rtlCol="0"/>
            <a:lstStyle/>
            <a:p>
              <a:pPr algn="ctr"/>
              <a:endParaRPr lang="zh-CN" altLang="en-US"/>
            </a:p>
          </p:txBody>
        </p:sp>
      </p:grpSp>
      <p:sp>
        <p:nvSpPr>
          <p:cNvPr id="8758" name="textbox 8758"/>
          <p:cNvSpPr/>
          <p:nvPr/>
        </p:nvSpPr>
        <p:spPr>
          <a:xfrm>
            <a:off x="847436" y="1361947"/>
            <a:ext cx="7155180" cy="697865"/>
          </a:xfrm>
          <a:prstGeom prst="rect">
            <a:avLst/>
          </a:prstGeom>
        </p:spPr>
        <p:txBody>
          <a:bodyPr vert="horz" wrap="square" lIns="0" tIns="0" rIns="0" bIns="0"/>
          <a:lstStyle/>
          <a:p>
            <a:pPr algn="l" rtl="0" eaLnBrk="0">
              <a:lnSpc>
                <a:spcPct val="111000"/>
              </a:lnSpc>
            </a:pPr>
            <a:endParaRPr lang="en-US" altLang="en-US" sz="600" dirty="0"/>
          </a:p>
          <a:p>
            <a:pPr marL="1163955" algn="l" rtl="0" eaLnBrk="0">
              <a:lnSpc>
                <a:spcPct val="98000"/>
              </a:lnSpc>
              <a:spcBef>
                <a:spcPts val="5"/>
              </a:spcBef>
              <a:tabLst>
                <a:tab pos="7141210" algn="l"/>
              </a:tabLst>
            </a:pPr>
            <a:r>
              <a:rPr sz="3600" kern="0" spc="-20" dirty="0">
                <a:solidFill>
                  <a:srgbClr val="000000">
                    <a:alpha val="100000"/>
                  </a:srgbClr>
                </a:solidFill>
                <a:uFill>
                  <a:solidFill>
                    <a:srgbClr val="E84C22"/>
                  </a:solidFill>
                </a:uFill>
                <a:latin typeface="微软雅黑" panose="020B0503020204020204" charset="-122"/>
                <a:ea typeface="微软雅黑" panose="020B0503020204020204" charset="-122"/>
                <a:cs typeface="微软雅黑" panose="020B0503020204020204" charset="-122"/>
                <a:sym typeface="+mn-ea"/>
              </a:rPr>
              <a:t>结构体指针</a:t>
            </a:r>
            <a:endParaRPr lang="en-US" altLang="en-US" sz="3600" dirty="0"/>
          </a:p>
        </p:txBody>
      </p:sp>
      <p:sp>
        <p:nvSpPr>
          <p:cNvPr id="8760" name="path"/>
          <p:cNvSpPr/>
          <p:nvPr/>
        </p:nvSpPr>
        <p:spPr>
          <a:xfrm>
            <a:off x="860136" y="1374647"/>
            <a:ext cx="1063751" cy="609600"/>
          </a:xfrm>
          <a:custGeom>
            <a:avLst/>
            <a:gdLst/>
            <a:ahLst/>
            <a:cxnLst/>
            <a:rect l="0" t="0" r="0" b="0"/>
            <a:pathLst>
              <a:path w="1675" h="960">
                <a:moveTo>
                  <a:pt x="0" y="960"/>
                </a:moveTo>
                <a:lnTo>
                  <a:pt x="559" y="0"/>
                </a:lnTo>
                <a:lnTo>
                  <a:pt x="1118" y="960"/>
                </a:lnTo>
                <a:lnTo>
                  <a:pt x="0" y="960"/>
                </a:lnTo>
                <a:close/>
              </a:path>
              <a:path w="1675" h="960">
                <a:moveTo>
                  <a:pt x="556" y="960"/>
                </a:moveTo>
                <a:lnTo>
                  <a:pt x="1116" y="0"/>
                </a:lnTo>
                <a:lnTo>
                  <a:pt x="1675" y="960"/>
                </a:lnTo>
                <a:lnTo>
                  <a:pt x="556" y="960"/>
                </a:lnTo>
                <a:close/>
              </a:path>
            </a:pathLst>
          </a:custGeom>
          <a:solidFill>
            <a:srgbClr val="782367">
              <a:alpha val="60000"/>
            </a:srgbClr>
          </a:solidFill>
          <a:ln cap="flat">
            <a:noFill/>
            <a:prstDash val="solid"/>
            <a:miter lim="0"/>
          </a:ln>
        </p:spPr>
        <p:txBody>
          <a:bodyPr rtlCol="0"/>
          <a:lstStyle/>
          <a:p>
            <a:pPr algn="ctr"/>
            <a:endParaRPr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custDataLst>
              <p:tags r:id="rId1"/>
            </p:custDataLst>
          </p:nvPr>
        </p:nvSpPr>
        <p:spPr>
          <a:xfrm>
            <a:off x="730885" y="1508125"/>
            <a:ext cx="8863965" cy="5334635"/>
          </a:xfrm>
          <a:prstGeom prst="rect">
            <a:avLst/>
          </a:prstGeom>
          <a:solidFill>
            <a:schemeClr val="bg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3175" algn="l" rtl="0" eaLnBrk="0">
              <a:lnSpc>
                <a:spcPct val="92000"/>
              </a:lnSpc>
            </a:pPr>
            <a:endParaRPr sz="15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endParaRPr>
          </a:p>
          <a:p>
            <a:pPr marL="3175" algn="l" rtl="0" eaLnBrk="0">
              <a:lnSpc>
                <a:spcPct val="92000"/>
              </a:lnSpc>
            </a:pPr>
            <a:endParaRPr sz="15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endParaRPr>
          </a:p>
          <a:p>
            <a:pPr marL="3175" algn="l" rtl="0" eaLnBrk="0">
              <a:lnSpc>
                <a:spcPct val="92000"/>
              </a:lnSpc>
            </a:pPr>
            <a:endParaRPr sz="15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endParaRPr>
          </a:p>
          <a:p>
            <a:pPr marL="3175" algn="l" rtl="0" eaLnBrk="0">
              <a:lnSpc>
                <a:spcPct val="92000"/>
              </a:lnSpc>
            </a:pPr>
            <a:r>
              <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#include</a:t>
            </a:r>
            <a:r>
              <a:rPr sz="1300" kern="0" spc="18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&lt;stdio.h</a:t>
            </a:r>
            <a:r>
              <a:rPr sz="13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&gt;</a:t>
            </a:r>
            <a:endParaRPr lang="en-US" altLang="en-US" sz="1300" dirty="0"/>
          </a:p>
          <a:p>
            <a:pPr marL="3175" algn="l" rtl="0" eaLnBrk="0">
              <a:lnSpc>
                <a:spcPts val="2015"/>
              </a:lnSpc>
            </a:pPr>
            <a:r>
              <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#include</a:t>
            </a:r>
            <a:r>
              <a:rPr sz="1300" kern="0" spc="19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&lt;string.h&gt;</a:t>
            </a:r>
            <a:endParaRPr lang="en-US" altLang="en-US" sz="1300" dirty="0"/>
          </a:p>
          <a:p>
            <a:pPr marL="12700" algn="l" rtl="0" eaLnBrk="0">
              <a:lnSpc>
                <a:spcPts val="2015"/>
              </a:lnSpc>
            </a:pPr>
            <a:r>
              <a:rPr sz="13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int</a:t>
            </a:r>
            <a:r>
              <a:rPr sz="1300" kern="0" spc="1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main()</a:t>
            </a:r>
            <a:endParaRPr lang="en-US" altLang="en-US" sz="1300" dirty="0"/>
          </a:p>
          <a:p>
            <a:pPr algn="l" rtl="0" eaLnBrk="0">
              <a:lnSpc>
                <a:spcPct val="93000"/>
              </a:lnSpc>
              <a:spcBef>
                <a:spcPts val="565"/>
              </a:spcBef>
            </a:pPr>
            <a:r>
              <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r>
              <a:rPr sz="13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struct</a:t>
            </a:r>
            <a:r>
              <a:rPr sz="1300" kern="0" spc="1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Stude</a:t>
            </a:r>
            <a:r>
              <a:rPr sz="13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nt</a:t>
            </a:r>
            <a:r>
              <a:rPr lang="en-US" sz="13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//声明结构体类型struct</a:t>
            </a:r>
            <a:r>
              <a:rPr sz="1300" kern="0" spc="21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Student</a:t>
            </a:r>
            <a:endParaRPr lang="en-US" altLang="en-US" sz="1300" dirty="0"/>
          </a:p>
          <a:p>
            <a:pPr marL="362585" algn="l" rtl="0" eaLnBrk="0">
              <a:lnSpc>
                <a:spcPts val="2015"/>
              </a:lnSpc>
            </a:pPr>
            <a:r>
              <a:rPr sz="13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r>
              <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long</a:t>
            </a:r>
            <a:r>
              <a:rPr sz="1300" kern="0" spc="1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num;</a:t>
            </a:r>
            <a:endParaRPr lang="en-US" altLang="en-US" sz="1300" dirty="0"/>
          </a:p>
          <a:p>
            <a:pPr marL="735965" algn="l" rtl="0" eaLnBrk="0">
              <a:lnSpc>
                <a:spcPct val="115000"/>
              </a:lnSpc>
              <a:spcBef>
                <a:spcPts val="580"/>
              </a:spcBef>
            </a:pPr>
            <a:r>
              <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char</a:t>
            </a:r>
            <a:r>
              <a:rPr sz="1300" kern="0" spc="1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name[20]</a:t>
            </a:r>
            <a:r>
              <a:rPr sz="13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r>
              <a:rPr sz="1300" kern="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p>
          <a:p>
            <a:pPr marL="735965" algn="l" rtl="0" eaLnBrk="0">
              <a:lnSpc>
                <a:spcPct val="115000"/>
              </a:lnSpc>
              <a:spcBef>
                <a:spcPts val="580"/>
              </a:spcBef>
            </a:pPr>
            <a:r>
              <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char</a:t>
            </a:r>
            <a:r>
              <a:rPr sz="13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sex;</a:t>
            </a:r>
            <a:endParaRPr lang="en-US" altLang="en-US" sz="1300" dirty="0"/>
          </a:p>
          <a:p>
            <a:pPr marL="731520" algn="l" rtl="0" eaLnBrk="0">
              <a:lnSpc>
                <a:spcPct val="93000"/>
              </a:lnSpc>
              <a:spcBef>
                <a:spcPts val="435"/>
              </a:spcBef>
            </a:pPr>
            <a:r>
              <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float</a:t>
            </a:r>
            <a:r>
              <a:rPr sz="1300" kern="0" spc="1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score;</a:t>
            </a:r>
            <a:endParaRPr lang="en-US" altLang="en-US" sz="1300" dirty="0"/>
          </a:p>
          <a:p>
            <a:pPr marL="362585" algn="l" rtl="0" eaLnBrk="0">
              <a:lnSpc>
                <a:spcPts val="2015"/>
              </a:lnSpc>
            </a:pPr>
            <a:r>
              <a:rPr sz="13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endParaRPr lang="en-US" altLang="en-US" sz="1300" dirty="0"/>
          </a:p>
          <a:p>
            <a:pPr marL="365125" algn="l" rtl="0" eaLnBrk="0">
              <a:lnSpc>
                <a:spcPct val="92000"/>
              </a:lnSpc>
              <a:spcBef>
                <a:spcPts val="560"/>
              </a:spcBef>
            </a:pPr>
            <a:r>
              <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struct</a:t>
            </a:r>
            <a:r>
              <a:rPr sz="1300" kern="0" spc="10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Student</a:t>
            </a:r>
            <a:r>
              <a:rPr sz="13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stu_1;</a:t>
            </a:r>
            <a:r>
              <a:rPr lang="en-US"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//定义struct</a:t>
            </a:r>
            <a:r>
              <a:rPr sz="1300" kern="0" spc="14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Student类型的变量stu_1</a:t>
            </a:r>
            <a:endParaRPr lang="en-US" altLang="en-US" sz="1300" dirty="0"/>
          </a:p>
          <a:p>
            <a:pPr marL="375285" indent="-10160" algn="l" rtl="0" eaLnBrk="0">
              <a:lnSpc>
                <a:spcPct val="111000"/>
              </a:lnSpc>
              <a:spcBef>
                <a:spcPts val="570"/>
              </a:spcBef>
            </a:pPr>
            <a:r>
              <a:rPr sz="1300" kern="0" spc="-40" dirty="0">
                <a:solidFill>
                  <a:srgbClr val="B22600">
                    <a:alpha val="100000"/>
                  </a:srgbClr>
                </a:solidFill>
                <a:latin typeface="微软雅黑" panose="020B0503020204020204" charset="-122"/>
                <a:ea typeface="微软雅黑" panose="020B0503020204020204" charset="-122"/>
                <a:cs typeface="微软雅黑" panose="020B0503020204020204" charset="-122"/>
                <a:sym typeface="+mn-ea"/>
              </a:rPr>
              <a:t>struct</a:t>
            </a:r>
            <a:r>
              <a:rPr sz="1300" kern="0" spc="90" dirty="0">
                <a:solidFill>
                  <a:srgbClr val="B226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40" dirty="0">
                <a:solidFill>
                  <a:srgbClr val="B22600">
                    <a:alpha val="100000"/>
                  </a:srgbClr>
                </a:solidFill>
                <a:latin typeface="微软雅黑" panose="020B0503020204020204" charset="-122"/>
                <a:ea typeface="微软雅黑" panose="020B0503020204020204" charset="-122"/>
                <a:cs typeface="微软雅黑" panose="020B0503020204020204" charset="-122"/>
                <a:sym typeface="+mn-ea"/>
              </a:rPr>
              <a:t>Student</a:t>
            </a:r>
            <a:r>
              <a:rPr sz="1300" kern="0" spc="100" dirty="0">
                <a:solidFill>
                  <a:srgbClr val="B226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40" dirty="0">
                <a:solidFill>
                  <a:srgbClr val="B22600">
                    <a:alpha val="100000"/>
                  </a:srgbClr>
                </a:solidFill>
                <a:latin typeface="微软雅黑" panose="020B0503020204020204" charset="-122"/>
                <a:ea typeface="微软雅黑" panose="020B0503020204020204" charset="-122"/>
                <a:cs typeface="微软雅黑" panose="020B0503020204020204" charset="-122"/>
                <a:sym typeface="+mn-ea"/>
              </a:rPr>
              <a:t>*</a:t>
            </a:r>
            <a:r>
              <a:rPr sz="1300" kern="0" spc="-50" dirty="0">
                <a:solidFill>
                  <a:srgbClr val="B22600">
                    <a:alpha val="100000"/>
                  </a:srgbClr>
                </a:solidFill>
                <a:latin typeface="微软雅黑" panose="020B0503020204020204" charset="-122"/>
                <a:ea typeface="微软雅黑" panose="020B0503020204020204" charset="-122"/>
                <a:cs typeface="微软雅黑" panose="020B0503020204020204" charset="-122"/>
                <a:sym typeface="+mn-ea"/>
              </a:rPr>
              <a:t>p;</a:t>
            </a:r>
            <a:r>
              <a:rPr sz="1300" kern="0" dirty="0">
                <a:solidFill>
                  <a:srgbClr val="B22600">
                    <a:alpha val="100000"/>
                  </a:srgbClr>
                </a:solidFill>
                <a:latin typeface="微软雅黑" panose="020B0503020204020204" charset="-122"/>
                <a:ea typeface="微软雅黑" panose="020B0503020204020204" charset="-122"/>
                <a:cs typeface="微软雅黑" panose="020B0503020204020204" charset="-122"/>
                <a:sym typeface="+mn-ea"/>
              </a:rPr>
              <a:t>        </a:t>
            </a:r>
            <a:r>
              <a:rPr lang="en-US" sz="1300" kern="0" dirty="0">
                <a:solidFill>
                  <a:srgbClr val="B226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3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//定义指向</a:t>
            </a:r>
            <a:r>
              <a:rPr sz="1300" kern="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struct</a:t>
            </a:r>
            <a:r>
              <a:rPr sz="1300" kern="0" spc="16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Student</a:t>
            </a:r>
            <a:r>
              <a:rPr sz="1300" kern="0" spc="14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3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类型数据的指针变量p</a:t>
            </a:r>
            <a:endParaRPr sz="1300" kern="0" dirty="0">
              <a:solidFill>
                <a:srgbClr val="B22600">
                  <a:alpha val="100000"/>
                </a:srgbClr>
              </a:solidFill>
              <a:latin typeface="微软雅黑" panose="020B0503020204020204" charset="-122"/>
              <a:ea typeface="微软雅黑" panose="020B0503020204020204" charset="-122"/>
              <a:cs typeface="微软雅黑" panose="020B0503020204020204" charset="-122"/>
              <a:sym typeface="+mn-ea"/>
            </a:endParaRPr>
          </a:p>
          <a:p>
            <a:pPr marL="375285" indent="-10160" algn="l" rtl="0" eaLnBrk="0">
              <a:lnSpc>
                <a:spcPct val="111000"/>
              </a:lnSpc>
              <a:spcBef>
                <a:spcPts val="570"/>
              </a:spcBef>
            </a:pPr>
            <a:r>
              <a:rPr sz="1300" kern="0" spc="-50" dirty="0">
                <a:solidFill>
                  <a:srgbClr val="B22600">
                    <a:alpha val="100000"/>
                  </a:srgbClr>
                </a:solidFill>
                <a:latin typeface="微软雅黑" panose="020B0503020204020204" charset="-122"/>
                <a:ea typeface="微软雅黑" panose="020B0503020204020204" charset="-122"/>
                <a:cs typeface="微软雅黑" panose="020B0503020204020204" charset="-122"/>
                <a:sym typeface="+mn-ea"/>
              </a:rPr>
              <a:t>p=&amp;stu_1;</a:t>
            </a:r>
            <a:r>
              <a:rPr lang="en-US" sz="1300" kern="0" spc="-50" dirty="0">
                <a:solidFill>
                  <a:srgbClr val="B226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//p指向stu_1</a:t>
            </a:r>
            <a:endParaRPr lang="en-US" altLang="en-US" sz="1300" dirty="0"/>
          </a:p>
          <a:p>
            <a:pPr marL="365125" indent="0" algn="l" rtl="0" eaLnBrk="0" fontAlgn="auto">
              <a:lnSpc>
                <a:spcPts val="2200"/>
              </a:lnSpc>
              <a:spcBef>
                <a:spcPts val="0"/>
              </a:spcBef>
            </a:pPr>
            <a:r>
              <a:rPr sz="13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stu_1.num=10101;</a:t>
            </a:r>
            <a:r>
              <a:rPr lang="en-US" sz="13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7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//对结构体变量的成员赋值</a:t>
            </a:r>
            <a:endParaRPr sz="13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endParaRPr>
          </a:p>
          <a:p>
            <a:pPr marL="365125" indent="0" algn="l" rtl="0" eaLnBrk="0" fontAlgn="auto">
              <a:lnSpc>
                <a:spcPts val="2200"/>
              </a:lnSpc>
              <a:spcBef>
                <a:spcPts val="0"/>
              </a:spcBef>
            </a:pPr>
            <a:r>
              <a:rPr sz="1300" kern="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strcpy(stu_1.name,"Li</a:t>
            </a:r>
            <a:r>
              <a:rPr sz="1300" kern="0" spc="2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Lin");  </a:t>
            </a:r>
            <a:r>
              <a:rPr lang="en-US" sz="1300" kern="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//用字符串复制</a:t>
            </a:r>
            <a:r>
              <a:rPr sz="1300" kern="0" spc="-1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函数给stu_1.name赋值</a:t>
            </a:r>
          </a:p>
          <a:p>
            <a:pPr marL="365125" indent="0" algn="l" rtl="0" eaLnBrk="0" fontAlgn="auto">
              <a:lnSpc>
                <a:spcPts val="2200"/>
              </a:lnSpc>
              <a:spcBef>
                <a:spcPts val="0"/>
              </a:spcBef>
            </a:pPr>
            <a:r>
              <a:rPr sz="13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stu_1.sex='M'</a:t>
            </a:r>
            <a:r>
              <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p>
          <a:p>
            <a:pPr marL="365125" indent="0" algn="l" rtl="0" eaLnBrk="0" fontAlgn="auto">
              <a:lnSpc>
                <a:spcPts val="2200"/>
              </a:lnSpc>
              <a:spcBef>
                <a:spcPts val="0"/>
              </a:spcBef>
            </a:pPr>
            <a:r>
              <a:rPr sz="13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stu_1.sco</a:t>
            </a:r>
            <a:r>
              <a:rPr sz="13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re=89.5;</a:t>
            </a:r>
          </a:p>
          <a:p>
            <a:pPr marL="365125" indent="0" algn="l" rtl="0" eaLnBrk="0" fontAlgn="auto">
              <a:lnSpc>
                <a:spcPts val="2200"/>
              </a:lnSpc>
              <a:spcBef>
                <a:spcPts val="0"/>
              </a:spcBef>
            </a:pPr>
            <a:r>
              <a:rPr sz="13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printf("No.:%ld\n</a:t>
            </a:r>
            <a:r>
              <a:rPr lang="en-US" sz="13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name:%s\n</a:t>
            </a:r>
            <a:r>
              <a:rPr lang="en-US" sz="13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a:t>
            </a:r>
            <a:r>
              <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ex:%c\n</a:t>
            </a:r>
            <a:r>
              <a:rPr lang="en-US"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score:%5.1f\n",stu_1.num,stu_1.name,stu_1.sex,stu_1.score);    </a:t>
            </a:r>
            <a:r>
              <a:rPr sz="1300" kern="0" spc="-4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//输出结果</a:t>
            </a:r>
            <a:r>
              <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printf("\nNo.:%ld\n</a:t>
            </a:r>
            <a:r>
              <a:rPr lang="en-US"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name:%s\n</a:t>
            </a:r>
            <a:r>
              <a:rPr lang="en-US"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sex:%c\n</a:t>
            </a:r>
            <a:r>
              <a:rPr lang="en-US"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score:%5</a:t>
            </a:r>
            <a:r>
              <a:rPr sz="13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.1f\n",</a:t>
            </a:r>
            <a:r>
              <a:rPr sz="1300" kern="0" spc="-50" dirty="0">
                <a:solidFill>
                  <a:srgbClr val="B22600">
                    <a:alpha val="100000"/>
                  </a:srgbClr>
                </a:solidFill>
                <a:latin typeface="微软雅黑" panose="020B0503020204020204" charset="-122"/>
                <a:ea typeface="微软雅黑" panose="020B0503020204020204" charset="-122"/>
                <a:cs typeface="微软雅黑" panose="020B0503020204020204" charset="-122"/>
                <a:sym typeface="+mn-ea"/>
              </a:rPr>
              <a:t>(*p).num,(*p).name,(*p).sex,</a:t>
            </a:r>
            <a:r>
              <a:rPr sz="1300" kern="0" spc="190" dirty="0">
                <a:solidFill>
                  <a:srgbClr val="B226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50" dirty="0">
                <a:solidFill>
                  <a:srgbClr val="B22600">
                    <a:alpha val="100000"/>
                  </a:srgbClr>
                </a:solidFill>
                <a:latin typeface="微软雅黑" panose="020B0503020204020204" charset="-122"/>
                <a:ea typeface="微软雅黑" panose="020B0503020204020204" charset="-122"/>
                <a:cs typeface="微软雅黑" panose="020B0503020204020204" charset="-122"/>
                <a:sym typeface="+mn-ea"/>
              </a:rPr>
              <a:t>(*p).score</a:t>
            </a:r>
            <a:r>
              <a:rPr sz="13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p>
          <a:p>
            <a:pPr marL="365125" indent="0" algn="l" rtl="0" eaLnBrk="0" fontAlgn="auto">
              <a:lnSpc>
                <a:spcPts val="2200"/>
              </a:lnSpc>
              <a:spcBef>
                <a:spcPts val="0"/>
              </a:spcBef>
            </a:pPr>
            <a:r>
              <a:rPr sz="13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return</a:t>
            </a:r>
            <a:r>
              <a:rPr sz="1300" kern="0" spc="1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0;</a:t>
            </a:r>
          </a:p>
          <a:p>
            <a:pPr marL="365125" indent="0" algn="l" rtl="0" eaLnBrk="0" fontAlgn="auto">
              <a:lnSpc>
                <a:spcPts val="2200"/>
              </a:lnSpc>
              <a:spcBef>
                <a:spcPts val="0"/>
              </a:spcBef>
            </a:pPr>
            <a:r>
              <a:rPr lang="en-US" sz="13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endParaRPr lang="en-US" altLang="en-US" sz="1300" dirty="0"/>
          </a:p>
          <a:p>
            <a:pPr marL="365125" algn="l" rtl="0" eaLnBrk="0">
              <a:lnSpc>
                <a:spcPct val="88000"/>
              </a:lnSpc>
              <a:spcBef>
                <a:spcPts val="0"/>
              </a:spcBef>
            </a:pPr>
            <a:endParaRPr lang="en-US" altLang="en-US" dirty="0"/>
          </a:p>
          <a:p>
            <a:pPr algn="ctr"/>
            <a:endParaRPr lang="zh-CN" altLang="en-US"/>
          </a:p>
        </p:txBody>
      </p:sp>
      <p:sp>
        <p:nvSpPr>
          <p:cNvPr id="8766" name="textbox 8766"/>
          <p:cNvSpPr/>
          <p:nvPr/>
        </p:nvSpPr>
        <p:spPr>
          <a:xfrm>
            <a:off x="599594" y="596919"/>
            <a:ext cx="8174991" cy="915035"/>
          </a:xfrm>
          <a:prstGeom prst="rect">
            <a:avLst/>
          </a:prstGeom>
        </p:spPr>
        <p:txBody>
          <a:bodyPr vert="horz" wrap="square" lIns="0" tIns="0" rIns="0" bIns="0"/>
          <a:lstStyle/>
          <a:p>
            <a:pPr algn="l" rtl="0" eaLnBrk="0">
              <a:lnSpc>
                <a:spcPct val="89000"/>
              </a:lnSpc>
            </a:pPr>
            <a:endParaRPr lang="en-US" altLang="en-US" sz="135" dirty="0"/>
          </a:p>
          <a:p>
            <a:pPr marL="130175" algn="l" rtl="0" eaLnBrk="0">
              <a:lnSpc>
                <a:spcPct val="100000"/>
              </a:lnSpc>
            </a:pPr>
            <a:r>
              <a:rPr sz="31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指向结构体变量的指针</a:t>
            </a:r>
            <a:endParaRPr lang="en-US" altLang="en-US" sz="3100" dirty="0"/>
          </a:p>
          <a:p>
            <a:pPr algn="l" rtl="0" eaLnBrk="0">
              <a:lnSpc>
                <a:spcPct val="101000"/>
              </a:lnSpc>
            </a:pPr>
            <a:endParaRPr lang="en-US" altLang="en-US" sz="800" dirty="0"/>
          </a:p>
          <a:p>
            <a:pPr algn="r" rtl="0" eaLnBrk="0">
              <a:lnSpc>
                <a:spcPts val="2305"/>
              </a:lnSpc>
            </a:pPr>
            <a:r>
              <a:rPr sz="1900" kern="0" spc="20" dirty="0">
                <a:solidFill>
                  <a:srgbClr val="782367">
                    <a:alpha val="100000"/>
                  </a:srgbClr>
                </a:solidFill>
                <a:latin typeface="微软雅黑" panose="020B0503020204020204" charset="-122"/>
                <a:ea typeface="微软雅黑" panose="020B0503020204020204" charset="-122"/>
                <a:cs typeface="微软雅黑" panose="020B0503020204020204" charset="-122"/>
              </a:rPr>
              <a:t>【例</a:t>
            </a:r>
            <a:r>
              <a:rPr lang="en-US" sz="1900" kern="0" spc="20" dirty="0">
                <a:solidFill>
                  <a:srgbClr val="782367">
                    <a:alpha val="100000"/>
                  </a:srgbClr>
                </a:solidFill>
                <a:latin typeface="微软雅黑" panose="020B0503020204020204" charset="-122"/>
                <a:ea typeface="微软雅黑" panose="020B0503020204020204" charset="-122"/>
                <a:cs typeface="微软雅黑" panose="020B0503020204020204" charset="-122"/>
              </a:rPr>
              <a:t>7</a:t>
            </a:r>
            <a:r>
              <a:rPr sz="1900" kern="0" spc="20" dirty="0">
                <a:solidFill>
                  <a:srgbClr val="782367">
                    <a:alpha val="100000"/>
                  </a:srgbClr>
                </a:solidFill>
                <a:latin typeface="微软雅黑" panose="020B0503020204020204" charset="-122"/>
                <a:ea typeface="微软雅黑" panose="020B0503020204020204" charset="-122"/>
                <a:cs typeface="微软雅黑" panose="020B0503020204020204" charset="-122"/>
              </a:rPr>
              <a:t>.5】通过指向结构体变量的指针变量输出结构体变量</a:t>
            </a:r>
            <a:r>
              <a:rPr sz="1900" kern="0" spc="10" dirty="0">
                <a:solidFill>
                  <a:srgbClr val="782367">
                    <a:alpha val="100000"/>
                  </a:srgbClr>
                </a:solidFill>
                <a:latin typeface="微软雅黑" panose="020B0503020204020204" charset="-122"/>
                <a:ea typeface="微软雅黑" panose="020B0503020204020204" charset="-122"/>
                <a:cs typeface="微软雅黑" panose="020B0503020204020204" charset="-122"/>
              </a:rPr>
              <a:t>中成员的信息。</a:t>
            </a:r>
            <a:endParaRPr lang="en-US" altLang="en-US" sz="1900" kern="0" spc="10" dirty="0">
              <a:solidFill>
                <a:srgbClr val="782367">
                  <a:alpha val="100000"/>
                </a:srgbClr>
              </a:solidFill>
              <a:latin typeface="微软雅黑" panose="020B0503020204020204" charset="-122"/>
              <a:ea typeface="微软雅黑" panose="020B0503020204020204" charset="-122"/>
              <a:cs typeface="微软雅黑" panose="020B0503020204020204" charset="-122"/>
            </a:endParaRPr>
          </a:p>
        </p:txBody>
      </p:sp>
      <p:sp>
        <p:nvSpPr>
          <p:cNvPr id="8770" name="textbox 8770"/>
          <p:cNvSpPr/>
          <p:nvPr/>
        </p:nvSpPr>
        <p:spPr>
          <a:xfrm>
            <a:off x="9914711" y="3258251"/>
            <a:ext cx="1920239" cy="1346200"/>
          </a:xfrm>
          <a:prstGeom prst="rect">
            <a:avLst/>
          </a:prstGeom>
        </p:spPr>
        <p:txBody>
          <a:bodyPr vert="horz" wrap="square" lIns="0" tIns="0" rIns="0" bIns="0"/>
          <a:lstStyle/>
          <a:p>
            <a:pPr algn="l" rtl="0" eaLnBrk="0">
              <a:lnSpc>
                <a:spcPct val="76000"/>
              </a:lnSpc>
            </a:pPr>
            <a:endParaRPr lang="en-US" altLang="en-US" sz="135" dirty="0"/>
          </a:p>
          <a:p>
            <a:pPr marL="20320" algn="l" rtl="0" eaLnBrk="0">
              <a:lnSpc>
                <a:spcPct val="87000"/>
              </a:lnSpc>
            </a:pPr>
            <a:r>
              <a:rPr sz="1600" kern="0" spc="110" dirty="0">
                <a:solidFill>
                  <a:srgbClr val="000000">
                    <a:alpha val="100000"/>
                  </a:srgbClr>
                </a:solidFill>
                <a:latin typeface="微软雅黑" panose="020B0503020204020204" charset="-122"/>
                <a:ea typeface="微软雅黑" panose="020B0503020204020204" charset="-122"/>
                <a:cs typeface="微软雅黑" panose="020B0503020204020204" charset="-122"/>
              </a:rPr>
              <a:t>如果p指向一个结构</a:t>
            </a:r>
            <a:endParaRPr lang="en-US" altLang="en-US" sz="1600" dirty="0"/>
          </a:p>
          <a:p>
            <a:pPr marL="23495" indent="-10160" algn="l" rtl="0" eaLnBrk="0">
              <a:lnSpc>
                <a:spcPct val="154000"/>
              </a:lnSpc>
              <a:spcBef>
                <a:spcPts val="20"/>
              </a:spcBef>
            </a:pPr>
            <a:r>
              <a:rPr sz="16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体变量stu， 以下3种</a:t>
            </a:r>
            <a:r>
              <a:rPr sz="16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6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用法等价：</a:t>
            </a:r>
            <a:endParaRPr lang="en-US" altLang="en-US" sz="1600" dirty="0"/>
          </a:p>
          <a:p>
            <a:pPr algn="l" rtl="0" eaLnBrk="0">
              <a:lnSpc>
                <a:spcPct val="109000"/>
              </a:lnSpc>
            </a:pPr>
            <a:endParaRPr lang="en-US" altLang="en-US" sz="800" dirty="0"/>
          </a:p>
          <a:p>
            <a:pPr algn="l" rtl="0" eaLnBrk="0">
              <a:lnSpc>
                <a:spcPct val="6000"/>
              </a:lnSpc>
            </a:pPr>
            <a:endParaRPr lang="en-US" altLang="en-US" sz="135" dirty="0"/>
          </a:p>
          <a:p>
            <a:pPr marL="12700" algn="l" rtl="0" eaLnBrk="0">
              <a:lnSpc>
                <a:spcPct val="91000"/>
              </a:lnSpc>
            </a:pPr>
            <a:r>
              <a:rPr sz="16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① stu.成员名</a:t>
            </a:r>
            <a:endParaRPr lang="en-US" altLang="en-US" sz="1600" dirty="0"/>
          </a:p>
        </p:txBody>
      </p:sp>
      <p:grpSp>
        <p:nvGrpSpPr>
          <p:cNvPr id="568" name="group 568"/>
          <p:cNvGrpSpPr/>
          <p:nvPr/>
        </p:nvGrpSpPr>
        <p:grpSpPr>
          <a:xfrm rot="21600000">
            <a:off x="10387931" y="1468424"/>
            <a:ext cx="760603" cy="1446352"/>
            <a:chOff x="0" y="0"/>
            <a:chExt cx="760603" cy="1446352"/>
          </a:xfrm>
        </p:grpSpPr>
        <p:sp>
          <p:nvSpPr>
            <p:cNvPr id="8776" name="rect"/>
            <p:cNvSpPr/>
            <p:nvPr/>
          </p:nvSpPr>
          <p:spPr>
            <a:xfrm>
              <a:off x="0" y="0"/>
              <a:ext cx="760552" cy="1440002"/>
            </a:xfrm>
            <a:prstGeom prst="rect">
              <a:avLst/>
            </a:prstGeom>
            <a:solidFill>
              <a:srgbClr val="FBE9E8">
                <a:alpha val="100000"/>
              </a:srgbClr>
            </a:solidFill>
            <a:ln cap="flat">
              <a:noFill/>
              <a:prstDash val="solid"/>
              <a:miter lim="0"/>
            </a:ln>
          </p:spPr>
          <p:txBody>
            <a:bodyPr rtlCol="0"/>
            <a:lstStyle/>
            <a:p>
              <a:pPr algn="ctr"/>
              <a:endParaRPr lang="zh-CN" altLang="en-US"/>
            </a:p>
          </p:txBody>
        </p:sp>
        <p:sp>
          <p:nvSpPr>
            <p:cNvPr id="8778" name="textbox 8778"/>
            <p:cNvSpPr/>
            <p:nvPr/>
          </p:nvSpPr>
          <p:spPr>
            <a:xfrm>
              <a:off x="147547" y="109508"/>
              <a:ext cx="483234" cy="1268730"/>
            </a:xfrm>
            <a:prstGeom prst="rect">
              <a:avLst/>
            </a:prstGeom>
          </p:spPr>
          <p:txBody>
            <a:bodyPr vert="horz" wrap="square" lIns="0" tIns="0" rIns="0" bIns="0"/>
            <a:lstStyle/>
            <a:p>
              <a:pPr algn="l" rtl="0" eaLnBrk="0">
                <a:lnSpc>
                  <a:spcPct val="84000"/>
                </a:lnSpc>
              </a:pPr>
              <a:endParaRPr lang="en-US" altLang="en-US" sz="135" dirty="0"/>
            </a:p>
            <a:p>
              <a:pPr marL="12700" algn="l" rtl="0" eaLnBrk="0">
                <a:lnSpc>
                  <a:spcPct val="82000"/>
                </a:lnSpc>
              </a:pPr>
              <a:r>
                <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10101</a:t>
              </a:r>
              <a:endParaRPr lang="en-US" altLang="en-US" sz="1300" dirty="0"/>
            </a:p>
            <a:p>
              <a:pPr marL="55245" algn="l" rtl="0" eaLnBrk="0">
                <a:lnSpc>
                  <a:spcPct val="89000"/>
                </a:lnSpc>
                <a:spcBef>
                  <a:spcPts val="1530"/>
                </a:spcBef>
              </a:pPr>
              <a:r>
                <a:rPr sz="12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Li</a:t>
              </a:r>
              <a:r>
                <a:rPr sz="1200" kern="0" spc="19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2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Lin</a:t>
              </a:r>
              <a:endParaRPr lang="en-US" altLang="en-US" sz="1200" dirty="0"/>
            </a:p>
            <a:p>
              <a:pPr algn="l" rtl="0" eaLnBrk="0">
                <a:lnSpc>
                  <a:spcPct val="100000"/>
                </a:lnSpc>
              </a:pPr>
              <a:endParaRPr lang="en-US" altLang="en-US" sz="1000" dirty="0"/>
            </a:p>
            <a:p>
              <a:pPr marL="173355" algn="l" rtl="0" eaLnBrk="0">
                <a:lnSpc>
                  <a:spcPct val="81000"/>
                </a:lnSpc>
                <a:spcBef>
                  <a:spcPts val="400"/>
                </a:spcBef>
              </a:pPr>
              <a:r>
                <a:rPr sz="13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M</a:t>
              </a:r>
              <a:endParaRPr lang="en-US" altLang="en-US" sz="1300" dirty="0"/>
            </a:p>
            <a:p>
              <a:pPr algn="l" rtl="0" eaLnBrk="0">
                <a:lnSpc>
                  <a:spcPct val="107000"/>
                </a:lnSpc>
              </a:pPr>
              <a:endParaRPr lang="en-US" altLang="en-US" sz="1200" dirty="0"/>
            </a:p>
            <a:p>
              <a:pPr algn="l" rtl="0" eaLnBrk="0">
                <a:lnSpc>
                  <a:spcPct val="9000"/>
                </a:lnSpc>
              </a:pPr>
              <a:endParaRPr lang="en-US" altLang="en-US" sz="135" dirty="0"/>
            </a:p>
            <a:p>
              <a:pPr marL="80645" algn="l" rtl="0" eaLnBrk="0">
                <a:lnSpc>
                  <a:spcPct val="82000"/>
                </a:lnSpc>
              </a:pPr>
              <a:r>
                <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89.5</a:t>
              </a:r>
              <a:endParaRPr lang="en-US" altLang="en-US" sz="1300" dirty="0"/>
            </a:p>
          </p:txBody>
        </p:sp>
        <p:sp>
          <p:nvSpPr>
            <p:cNvPr id="8780" name="rect"/>
            <p:cNvSpPr/>
            <p:nvPr/>
          </p:nvSpPr>
          <p:spPr>
            <a:xfrm>
              <a:off x="0" y="353644"/>
              <a:ext cx="760603" cy="12700"/>
            </a:xfrm>
            <a:prstGeom prst="rect">
              <a:avLst/>
            </a:prstGeom>
            <a:solidFill>
              <a:srgbClr val="FFFFFF">
                <a:alpha val="100000"/>
              </a:srgbClr>
            </a:solidFill>
            <a:ln cap="flat">
              <a:noFill/>
              <a:prstDash val="solid"/>
              <a:miter lim="0"/>
            </a:ln>
          </p:spPr>
          <p:txBody>
            <a:bodyPr rtlCol="0"/>
            <a:lstStyle/>
            <a:p>
              <a:pPr algn="ctr"/>
              <a:endParaRPr lang="zh-CN" altLang="en-US"/>
            </a:p>
          </p:txBody>
        </p:sp>
        <p:sp>
          <p:nvSpPr>
            <p:cNvPr id="8782" name="rect"/>
            <p:cNvSpPr/>
            <p:nvPr/>
          </p:nvSpPr>
          <p:spPr>
            <a:xfrm>
              <a:off x="0" y="713562"/>
              <a:ext cx="760603" cy="12700"/>
            </a:xfrm>
            <a:prstGeom prst="rect">
              <a:avLst/>
            </a:prstGeom>
            <a:solidFill>
              <a:srgbClr val="FFFFFF">
                <a:alpha val="100000"/>
              </a:srgbClr>
            </a:solidFill>
            <a:ln cap="flat">
              <a:noFill/>
              <a:prstDash val="solid"/>
              <a:miter lim="0"/>
            </a:ln>
          </p:spPr>
          <p:txBody>
            <a:bodyPr rtlCol="0"/>
            <a:lstStyle/>
            <a:p>
              <a:pPr algn="ctr"/>
              <a:endParaRPr lang="zh-CN" altLang="en-US"/>
            </a:p>
          </p:txBody>
        </p:sp>
        <p:sp>
          <p:nvSpPr>
            <p:cNvPr id="8784" name="rect"/>
            <p:cNvSpPr/>
            <p:nvPr/>
          </p:nvSpPr>
          <p:spPr>
            <a:xfrm>
              <a:off x="0" y="1073607"/>
              <a:ext cx="760603" cy="12700"/>
            </a:xfrm>
            <a:prstGeom prst="rect">
              <a:avLst/>
            </a:prstGeom>
            <a:solidFill>
              <a:srgbClr val="FFFFFF">
                <a:alpha val="100000"/>
              </a:srgbClr>
            </a:solidFill>
            <a:ln cap="flat">
              <a:noFill/>
              <a:prstDash val="solid"/>
              <a:miter lim="0"/>
            </a:ln>
          </p:spPr>
          <p:txBody>
            <a:bodyPr rtlCol="0"/>
            <a:lstStyle/>
            <a:p>
              <a:pPr algn="ctr"/>
              <a:endParaRPr lang="zh-CN" altLang="en-US"/>
            </a:p>
          </p:txBody>
        </p:sp>
        <p:sp>
          <p:nvSpPr>
            <p:cNvPr id="8786" name="rect"/>
            <p:cNvSpPr/>
            <p:nvPr/>
          </p:nvSpPr>
          <p:spPr>
            <a:xfrm>
              <a:off x="0" y="1433652"/>
              <a:ext cx="760603" cy="12700"/>
            </a:xfrm>
            <a:prstGeom prst="rect">
              <a:avLst/>
            </a:prstGeom>
            <a:solidFill>
              <a:srgbClr val="FFFFFF">
                <a:alpha val="100000"/>
              </a:srgbClr>
            </a:solidFill>
            <a:ln cap="flat">
              <a:noFill/>
              <a:prstDash val="solid"/>
              <a:miter lim="0"/>
            </a:ln>
          </p:spPr>
          <p:txBody>
            <a:bodyPr rtlCol="0"/>
            <a:lstStyle/>
            <a:p>
              <a:pPr algn="ctr"/>
              <a:endParaRPr lang="zh-CN" altLang="en-US"/>
            </a:p>
          </p:txBody>
        </p:sp>
      </p:grpSp>
      <p:sp>
        <p:nvSpPr>
          <p:cNvPr id="8794" name="textbox 8794"/>
          <p:cNvSpPr/>
          <p:nvPr/>
        </p:nvSpPr>
        <p:spPr>
          <a:xfrm>
            <a:off x="9914711" y="5087939"/>
            <a:ext cx="1264919" cy="236855"/>
          </a:xfrm>
          <a:prstGeom prst="rect">
            <a:avLst/>
          </a:prstGeom>
        </p:spPr>
        <p:txBody>
          <a:bodyPr vert="horz" wrap="square" lIns="0" tIns="0" rIns="0" bIns="0"/>
          <a:lstStyle/>
          <a:p>
            <a:pPr algn="l" rtl="0" eaLnBrk="0">
              <a:lnSpc>
                <a:spcPct val="76000"/>
              </a:lnSpc>
            </a:pPr>
            <a:endParaRPr lang="en-US" altLang="en-US" sz="135" dirty="0"/>
          </a:p>
          <a:p>
            <a:pPr marL="12700" algn="l" rtl="0" eaLnBrk="0">
              <a:lnSpc>
                <a:spcPct val="87000"/>
              </a:lnSpc>
            </a:pPr>
            <a:r>
              <a:rPr sz="16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② (*p).成员名</a:t>
            </a:r>
            <a:endParaRPr lang="en-US" altLang="en-US" sz="1600" dirty="0"/>
          </a:p>
        </p:txBody>
      </p:sp>
      <p:sp>
        <p:nvSpPr>
          <p:cNvPr id="8796" name="textbox 8796"/>
          <p:cNvSpPr/>
          <p:nvPr/>
        </p:nvSpPr>
        <p:spPr>
          <a:xfrm>
            <a:off x="9914711" y="5819739"/>
            <a:ext cx="1252855" cy="236855"/>
          </a:xfrm>
          <a:prstGeom prst="rect">
            <a:avLst/>
          </a:prstGeom>
        </p:spPr>
        <p:txBody>
          <a:bodyPr vert="horz" wrap="square" lIns="0" tIns="0" rIns="0" bIns="0"/>
          <a:lstStyle/>
          <a:p>
            <a:pPr algn="l" rtl="0" eaLnBrk="0">
              <a:lnSpc>
                <a:spcPct val="76000"/>
              </a:lnSpc>
            </a:pPr>
            <a:endParaRPr lang="en-US" altLang="en-US" sz="135" dirty="0"/>
          </a:p>
          <a:p>
            <a:pPr marL="12700" algn="l" rtl="0" eaLnBrk="0">
              <a:lnSpc>
                <a:spcPct val="87000"/>
              </a:lnSpc>
            </a:pPr>
            <a:r>
              <a:rPr sz="16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③</a:t>
            </a:r>
            <a:r>
              <a:rPr sz="1600"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6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p-&gt;成员名</a:t>
            </a:r>
            <a:endParaRPr lang="en-US" altLang="en-US" sz="1600" dirty="0"/>
          </a:p>
        </p:txBody>
      </p:sp>
      <p:sp>
        <p:nvSpPr>
          <p:cNvPr id="8798" name="path"/>
          <p:cNvSpPr/>
          <p:nvPr/>
        </p:nvSpPr>
        <p:spPr>
          <a:xfrm>
            <a:off x="9839035" y="3074924"/>
            <a:ext cx="2061464" cy="25400"/>
          </a:xfrm>
          <a:custGeom>
            <a:avLst/>
            <a:gdLst/>
            <a:ahLst/>
            <a:cxnLst/>
            <a:rect l="0" t="0" r="0" b="0"/>
            <a:pathLst>
              <a:path w="3246" h="40">
                <a:moveTo>
                  <a:pt x="20" y="20"/>
                </a:moveTo>
                <a:lnTo>
                  <a:pt x="3226" y="20"/>
                </a:lnTo>
                <a:lnTo>
                  <a:pt x="20" y="20"/>
                </a:lnTo>
              </a:path>
            </a:pathLst>
          </a:custGeom>
          <a:noFill/>
          <a:ln w="25400" cap="sq">
            <a:solidFill>
              <a:srgbClr val="782367">
                <a:alpha val="100000"/>
              </a:srgbClr>
            </a:solidFill>
            <a:prstDash val="solid"/>
            <a:bevel/>
          </a:ln>
        </p:spPr>
        <p:txBody>
          <a:bodyPr rtlCol="0"/>
          <a:lstStyle/>
          <a:p>
            <a:pPr algn="ctr"/>
            <a:endParaRPr lang="zh-CN" altLang="en-US"/>
          </a:p>
        </p:txBody>
      </p:sp>
      <p:sp>
        <p:nvSpPr>
          <p:cNvPr id="8800" name="path"/>
          <p:cNvSpPr/>
          <p:nvPr/>
        </p:nvSpPr>
        <p:spPr>
          <a:xfrm>
            <a:off x="9839035" y="6708140"/>
            <a:ext cx="2061464" cy="25400"/>
          </a:xfrm>
          <a:custGeom>
            <a:avLst/>
            <a:gdLst/>
            <a:ahLst/>
            <a:cxnLst/>
            <a:rect l="0" t="0" r="0" b="0"/>
            <a:pathLst>
              <a:path w="3246" h="40">
                <a:moveTo>
                  <a:pt x="20" y="20"/>
                </a:moveTo>
                <a:lnTo>
                  <a:pt x="3226" y="20"/>
                </a:lnTo>
                <a:lnTo>
                  <a:pt x="20" y="20"/>
                </a:lnTo>
              </a:path>
            </a:pathLst>
          </a:custGeom>
          <a:noFill/>
          <a:ln w="25400" cap="sq">
            <a:solidFill>
              <a:srgbClr val="782367">
                <a:alpha val="100000"/>
              </a:srgbClr>
            </a:solidFill>
            <a:prstDash val="solid"/>
            <a:bevel/>
          </a:ln>
        </p:spPr>
        <p:txBody>
          <a:bodyPr rtlCol="0"/>
          <a:lstStyle/>
          <a:p>
            <a:pPr algn="ctr"/>
            <a:endParaRPr lang="zh-CN" altLang="en-US"/>
          </a:p>
        </p:txBody>
      </p:sp>
      <p:sp>
        <p:nvSpPr>
          <p:cNvPr id="8802" name="textbox 8802"/>
          <p:cNvSpPr/>
          <p:nvPr/>
        </p:nvSpPr>
        <p:spPr>
          <a:xfrm>
            <a:off x="9874875" y="1324933"/>
            <a:ext cx="113664" cy="147955"/>
          </a:xfrm>
          <a:prstGeom prst="rect">
            <a:avLst/>
          </a:prstGeom>
        </p:spPr>
        <p:txBody>
          <a:bodyPr vert="horz" wrap="square" lIns="0" tIns="0" rIns="0" bIns="0"/>
          <a:lstStyle/>
          <a:p>
            <a:pPr algn="l" rtl="0" eaLnBrk="0">
              <a:lnSpc>
                <a:spcPct val="83000"/>
              </a:lnSpc>
            </a:pPr>
            <a:endParaRPr lang="en-US" altLang="en-US" sz="135" dirty="0"/>
          </a:p>
          <a:p>
            <a:pPr algn="r" rtl="0" eaLnBrk="0">
              <a:lnSpc>
                <a:spcPct val="73000"/>
              </a:lnSpc>
            </a:pPr>
            <a:r>
              <a:rPr sz="11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p</a:t>
            </a:r>
            <a:endParaRPr lang="en-US" altLang="en-US" sz="1100" dirty="0"/>
          </a:p>
        </p:txBody>
      </p:sp>
      <p:pic>
        <p:nvPicPr>
          <p:cNvPr id="8804" name="picture 8804"/>
          <p:cNvPicPr>
            <a:picLocks noChangeAspect="1"/>
          </p:cNvPicPr>
          <p:nvPr/>
        </p:nvPicPr>
        <p:blipFill>
          <a:blip r:embed="rId4"/>
          <a:stretch>
            <a:fillRect/>
          </a:stretch>
        </p:blipFill>
        <p:spPr>
          <a:xfrm rot="21600000">
            <a:off x="9851735" y="1434084"/>
            <a:ext cx="518795" cy="76200"/>
          </a:xfrm>
          <a:prstGeom prst="rect">
            <a:avLst/>
          </a:prstGeom>
        </p:spPr>
      </p:pic>
      <p:sp>
        <p:nvSpPr>
          <p:cNvPr id="2" name="文本框 1"/>
          <p:cNvSpPr txBox="1"/>
          <p:nvPr/>
        </p:nvSpPr>
        <p:spPr>
          <a:xfrm>
            <a:off x="10217150" y="4670425"/>
            <a:ext cx="1014095" cy="352425"/>
          </a:xfrm>
          <a:prstGeom prst="rect">
            <a:avLst/>
          </a:prstGeom>
          <a:noFill/>
        </p:spPr>
        <p:txBody>
          <a:bodyPr wrap="square" rtlCol="0" anchor="t">
            <a:spAutoFit/>
          </a:bodyPr>
          <a:lstStyle/>
          <a:p>
            <a:pPr indent="0" algn="ctr" rtl="0" eaLnBrk="0" fontAlgn="auto">
              <a:lnSpc>
                <a:spcPts val="2040"/>
              </a:lnSpc>
              <a:spcBef>
                <a:spcPts val="0"/>
              </a:spcBef>
            </a:pPr>
            <a:r>
              <a:rPr sz="1600" b="1" kern="0" spc="-90" dirty="0">
                <a:solidFill>
                  <a:srgbClr val="1100CC">
                    <a:alpha val="100000"/>
                  </a:srgbClr>
                </a:solidFill>
                <a:latin typeface="微软雅黑" panose="020B0503020204020204" charset="-122"/>
                <a:ea typeface="微软雅黑" panose="020B0503020204020204" charset="-122"/>
                <a:cs typeface="微软雅黑" panose="020B0503020204020204" charset="-122"/>
                <a:sym typeface="+mn-ea"/>
              </a:rPr>
              <a:t>stu.num</a:t>
            </a:r>
            <a:endParaRPr lang="zh-CN" altLang="en-US" sz="1600" b="1" kern="0" spc="-90" dirty="0">
              <a:solidFill>
                <a:srgbClr val="1100CC">
                  <a:alpha val="100000"/>
                </a:srgbClr>
              </a:solidFill>
              <a:latin typeface="微软雅黑" panose="020B0503020204020204" charset="-122"/>
              <a:ea typeface="微软雅黑" panose="020B0503020204020204" charset="-122"/>
              <a:cs typeface="微软雅黑" panose="020B0503020204020204" charset="-122"/>
              <a:sym typeface="+mn-ea"/>
            </a:endParaRPr>
          </a:p>
        </p:txBody>
      </p:sp>
      <p:sp>
        <p:nvSpPr>
          <p:cNvPr id="3" name="文本框 2"/>
          <p:cNvSpPr txBox="1"/>
          <p:nvPr/>
        </p:nvSpPr>
        <p:spPr>
          <a:xfrm>
            <a:off x="10217150" y="5403850"/>
            <a:ext cx="1015365" cy="337185"/>
          </a:xfrm>
          <a:prstGeom prst="rect">
            <a:avLst/>
          </a:prstGeom>
          <a:noFill/>
        </p:spPr>
        <p:txBody>
          <a:bodyPr wrap="square" rtlCol="0" anchor="t">
            <a:spAutoFit/>
          </a:bodyPr>
          <a:lstStyle/>
          <a:p>
            <a:r>
              <a:rPr sz="1600" b="1" kern="0" spc="-80" dirty="0">
                <a:solidFill>
                  <a:srgbClr val="1100CC">
                    <a:alpha val="100000"/>
                  </a:srgbClr>
                </a:solidFill>
                <a:latin typeface="微软雅黑" panose="020B0503020204020204" charset="-122"/>
                <a:ea typeface="微软雅黑" panose="020B0503020204020204" charset="-122"/>
                <a:cs typeface="微软雅黑" panose="020B0503020204020204" charset="-122"/>
                <a:sym typeface="+mn-ea"/>
              </a:rPr>
              <a:t>(*p).num</a:t>
            </a:r>
            <a:endParaRPr lang="zh-CN" altLang="en-US" sz="1600" b="1" kern="0" spc="-80" dirty="0">
              <a:solidFill>
                <a:srgbClr val="1100CC">
                  <a:alpha val="100000"/>
                </a:srgbClr>
              </a:solidFill>
              <a:latin typeface="微软雅黑" panose="020B0503020204020204" charset="-122"/>
              <a:ea typeface="微软雅黑" panose="020B0503020204020204" charset="-122"/>
              <a:cs typeface="微软雅黑" panose="020B0503020204020204" charset="-122"/>
              <a:sym typeface="+mn-ea"/>
            </a:endParaRPr>
          </a:p>
        </p:txBody>
      </p:sp>
      <p:sp>
        <p:nvSpPr>
          <p:cNvPr id="5" name="文本框 4"/>
          <p:cNvSpPr txBox="1"/>
          <p:nvPr/>
        </p:nvSpPr>
        <p:spPr>
          <a:xfrm>
            <a:off x="10217785" y="6122035"/>
            <a:ext cx="1014730" cy="305435"/>
          </a:xfrm>
          <a:prstGeom prst="rect">
            <a:avLst/>
          </a:prstGeom>
          <a:noFill/>
        </p:spPr>
        <p:txBody>
          <a:bodyPr wrap="square" rtlCol="0" anchor="t">
            <a:spAutoFit/>
          </a:bodyPr>
          <a:lstStyle/>
          <a:p>
            <a:pPr indent="0" algn="l" rtl="0" eaLnBrk="0" fontAlgn="auto">
              <a:lnSpc>
                <a:spcPct val="87000"/>
              </a:lnSpc>
              <a:spcBef>
                <a:spcPts val="0"/>
              </a:spcBef>
            </a:pPr>
            <a:r>
              <a:rPr lang="en-US" sz="1600" b="1" kern="0" spc="-80" dirty="0">
                <a:solidFill>
                  <a:srgbClr val="1100CC">
                    <a:alpha val="100000"/>
                  </a:srgbClr>
                </a:solidFill>
                <a:latin typeface="微软雅黑" panose="020B0503020204020204" charset="-122"/>
                <a:ea typeface="微软雅黑" panose="020B0503020204020204" charset="-122"/>
                <a:cs typeface="微软雅黑" panose="020B0503020204020204" charset="-122"/>
                <a:sym typeface="+mn-ea"/>
              </a:rPr>
              <a:t> </a:t>
            </a:r>
            <a:r>
              <a:rPr sz="1600" b="1" kern="0" spc="-80" dirty="0">
                <a:solidFill>
                  <a:srgbClr val="1100CC">
                    <a:alpha val="100000"/>
                  </a:srgbClr>
                </a:solidFill>
                <a:latin typeface="微软雅黑" panose="020B0503020204020204" charset="-122"/>
                <a:ea typeface="微软雅黑" panose="020B0503020204020204" charset="-122"/>
                <a:cs typeface="微软雅黑" panose="020B0503020204020204" charset="-122"/>
                <a:sym typeface="+mn-ea"/>
              </a:rPr>
              <a:t>p-&gt;num</a:t>
            </a:r>
            <a:endParaRPr lang="zh-CN" altLang="en-US" sz="1600" b="1" kern="0" spc="-80" dirty="0">
              <a:solidFill>
                <a:srgbClr val="1100CC">
                  <a:alpha val="100000"/>
                </a:srgbClr>
              </a:solidFill>
              <a:latin typeface="微软雅黑" panose="020B0503020204020204" charset="-122"/>
              <a:ea typeface="微软雅黑" panose="020B0503020204020204" charset="-122"/>
              <a:cs typeface="微软雅黑" panose="020B0503020204020204" charset="-122"/>
              <a:sym typeface="+mn-ea"/>
            </a:endParaRPr>
          </a:p>
        </p:txBody>
      </p:sp>
      <p:sp>
        <p:nvSpPr>
          <p:cNvPr id="6" name="文本框 5"/>
          <p:cNvSpPr txBox="1"/>
          <p:nvPr/>
        </p:nvSpPr>
        <p:spPr>
          <a:xfrm>
            <a:off x="4640580" y="6311900"/>
            <a:ext cx="3585845" cy="396240"/>
          </a:xfrm>
          <a:prstGeom prst="rect">
            <a:avLst/>
          </a:prstGeom>
          <a:noFill/>
        </p:spPr>
        <p:txBody>
          <a:bodyPr wrap="square" rtlCol="0" anchor="t">
            <a:noAutofit/>
          </a:bodyPr>
          <a:lstStyle/>
          <a:p>
            <a:pPr marL="106045" algn="l" rtl="0" eaLnBrk="0">
              <a:lnSpc>
                <a:spcPct val="86000"/>
              </a:lnSpc>
              <a:spcBef>
                <a:spcPts val="5"/>
              </a:spcBef>
            </a:pPr>
            <a:r>
              <a:rPr b="1" kern="0" spc="-70" dirty="0">
                <a:solidFill>
                  <a:srgbClr val="1100CC">
                    <a:alpha val="100000"/>
                  </a:srgbClr>
                </a:solidFill>
                <a:latin typeface="微软雅黑" panose="020B0503020204020204" charset="-122"/>
                <a:ea typeface="微软雅黑" panose="020B0503020204020204" charset="-122"/>
                <a:cs typeface="微软雅黑" panose="020B0503020204020204" charset="-122"/>
                <a:sym typeface="+mn-ea"/>
              </a:rPr>
              <a:t>(*p).num也可表示为p-&gt;num</a:t>
            </a:r>
            <a:endParaRPr lang="zh-CN" altLang="en-US" b="1" kern="0" spc="-70" dirty="0">
              <a:solidFill>
                <a:srgbClr val="1100CC">
                  <a:alpha val="100000"/>
                </a:srgbClr>
              </a:solidFill>
              <a:latin typeface="微软雅黑" panose="020B0503020204020204" charset="-122"/>
              <a:ea typeface="微软雅黑" panose="020B0503020204020204" charset="-122"/>
              <a:cs typeface="微软雅黑" panose="020B0503020204020204" charset="-122"/>
              <a:sym typeface="+mn-ea"/>
            </a:endParaRPr>
          </a:p>
        </p:txBody>
      </p:sp>
      <p:pic>
        <p:nvPicPr>
          <p:cNvPr id="4" name="图片 3"/>
          <p:cNvPicPr>
            <a:picLocks noChangeAspect="1"/>
          </p:cNvPicPr>
          <p:nvPr>
            <p:custDataLst>
              <p:tags r:id="rId2"/>
            </p:custDataLst>
          </p:nvPr>
        </p:nvPicPr>
        <p:blipFill>
          <a:blip r:embed="rId5"/>
          <a:stretch>
            <a:fillRect/>
          </a:stretch>
        </p:blipFill>
        <p:spPr>
          <a:xfrm>
            <a:off x="5226050" y="1821815"/>
            <a:ext cx="4368800" cy="20828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custDataLst>
              <p:tags r:id="rId1"/>
            </p:custDataLst>
          </p:nvPr>
        </p:nvSpPr>
        <p:spPr>
          <a:xfrm>
            <a:off x="718820" y="1516380"/>
            <a:ext cx="8262620" cy="4768215"/>
          </a:xfrm>
          <a:prstGeom prst="rect">
            <a:avLst/>
          </a:prstGeom>
          <a:solidFill>
            <a:schemeClr val="bg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l"/>
            <a:endParaRPr sz="15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endParaRPr>
          </a:p>
          <a:p>
            <a:pPr algn="l"/>
            <a:r>
              <a:rPr sz="15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#include</a:t>
            </a:r>
            <a:r>
              <a:rPr sz="1500" kern="0" spc="19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5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&lt;stdi</a:t>
            </a:r>
            <a:r>
              <a:rPr sz="15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o.h&gt;</a:t>
            </a:r>
            <a:r>
              <a:rPr lang="en-US" sz="15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500" kern="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//声明结构体类型struct</a:t>
            </a:r>
            <a:r>
              <a:rPr sz="1500" kern="0" spc="21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 </a:t>
            </a:r>
            <a:r>
              <a:rPr sz="1500" kern="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Student</a:t>
            </a:r>
            <a:r>
              <a:rPr sz="1500" kern="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p>
          <a:p>
            <a:pPr algn="l"/>
            <a:r>
              <a:rPr sz="15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struct</a:t>
            </a:r>
            <a:r>
              <a:rPr sz="15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5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Stude</a:t>
            </a:r>
            <a:r>
              <a:rPr sz="15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nt</a:t>
            </a:r>
            <a:endParaRPr lang="en-US" altLang="en-US" sz="1500" dirty="0"/>
          </a:p>
          <a:p>
            <a:pPr marL="113030" algn="l" rtl="0" eaLnBrk="0">
              <a:lnSpc>
                <a:spcPts val="1450"/>
              </a:lnSpc>
              <a:spcBef>
                <a:spcPts val="0"/>
              </a:spcBef>
            </a:pPr>
            <a:r>
              <a:rPr sz="15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r>
              <a:rPr sz="15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5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int</a:t>
            </a:r>
            <a:r>
              <a:rPr sz="1500" kern="0" spc="20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5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num;</a:t>
            </a:r>
            <a:endParaRPr lang="en-US" altLang="en-US" sz="1500" dirty="0"/>
          </a:p>
          <a:p>
            <a:pPr marL="483235" algn="l" rtl="0" eaLnBrk="0">
              <a:lnSpc>
                <a:spcPct val="93000"/>
              </a:lnSpc>
              <a:spcBef>
                <a:spcPts val="565"/>
              </a:spcBef>
            </a:pPr>
            <a:r>
              <a:rPr sz="15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char</a:t>
            </a:r>
            <a:r>
              <a:rPr sz="1500" kern="0" spc="1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5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name[20];</a:t>
            </a:r>
            <a:endParaRPr lang="en-US" altLang="en-US" sz="1500" dirty="0"/>
          </a:p>
          <a:p>
            <a:pPr marL="483235" algn="l" rtl="0" eaLnBrk="0">
              <a:lnSpc>
                <a:spcPts val="2015"/>
              </a:lnSpc>
            </a:pPr>
            <a:r>
              <a:rPr sz="15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char</a:t>
            </a:r>
            <a:r>
              <a:rPr sz="15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5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sex;</a:t>
            </a:r>
            <a:endParaRPr lang="en-US" altLang="en-US" sz="1500" dirty="0"/>
          </a:p>
          <a:p>
            <a:pPr marL="488950" algn="l" rtl="0" eaLnBrk="0">
              <a:lnSpc>
                <a:spcPct val="92000"/>
              </a:lnSpc>
              <a:spcBef>
                <a:spcPts val="565"/>
              </a:spcBef>
            </a:pPr>
            <a:r>
              <a:rPr sz="15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int</a:t>
            </a:r>
            <a:r>
              <a:rPr sz="1500"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5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age;</a:t>
            </a:r>
            <a:endParaRPr lang="en-US" altLang="en-US" sz="1500" dirty="0"/>
          </a:p>
          <a:p>
            <a:pPr marL="113030" algn="l" rtl="0" eaLnBrk="0">
              <a:lnSpc>
                <a:spcPct val="99000"/>
              </a:lnSpc>
              <a:spcBef>
                <a:spcPts val="580"/>
              </a:spcBef>
            </a:pPr>
            <a:r>
              <a:rPr sz="15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endParaRPr lang="en-US" altLang="en-US" sz="1500" dirty="0"/>
          </a:p>
          <a:p>
            <a:pPr marL="114935" algn="l" rtl="0" eaLnBrk="0">
              <a:lnSpc>
                <a:spcPct val="92000"/>
              </a:lnSpc>
              <a:spcBef>
                <a:spcPts val="475"/>
              </a:spcBef>
            </a:pPr>
            <a:r>
              <a:rPr sz="15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struct</a:t>
            </a:r>
            <a:r>
              <a:rPr sz="15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5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Student</a:t>
            </a:r>
            <a:r>
              <a:rPr sz="15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5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stu[3]={{10101,"Li</a:t>
            </a:r>
            <a:r>
              <a:rPr sz="1500" kern="0" spc="1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5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Lin",'M',18},{10102,"Zhang</a:t>
            </a:r>
            <a:r>
              <a:rPr sz="1500" kern="0" spc="1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5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Fang",'M',</a:t>
            </a:r>
            <a:r>
              <a:rPr sz="15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19},{10104,"Wang</a:t>
            </a:r>
            <a:r>
              <a:rPr sz="1500" kern="0" spc="1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5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Min",'F',20}};</a:t>
            </a:r>
            <a:endParaRPr lang="en-US" altLang="en-US" sz="1500" dirty="0"/>
          </a:p>
          <a:p>
            <a:pPr marL="112395" algn="l" rtl="0" eaLnBrk="0">
              <a:lnSpc>
                <a:spcPts val="1575"/>
              </a:lnSpc>
              <a:spcBef>
                <a:spcPts val="580"/>
              </a:spcBef>
            </a:pPr>
            <a:r>
              <a:rPr sz="1500" kern="0" spc="7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//定义结构体数组并初始化</a:t>
            </a:r>
            <a:endParaRPr lang="en-US" altLang="en-US" sz="1500" dirty="0"/>
          </a:p>
          <a:p>
            <a:pPr marL="126365" algn="l" rtl="0" eaLnBrk="0">
              <a:lnSpc>
                <a:spcPct val="99000"/>
              </a:lnSpc>
              <a:spcBef>
                <a:spcPts val="440"/>
              </a:spcBef>
            </a:pPr>
            <a:r>
              <a:rPr sz="15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int</a:t>
            </a:r>
            <a:r>
              <a:rPr sz="1500" kern="0" spc="1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5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main()</a:t>
            </a:r>
            <a:endParaRPr lang="en-US" altLang="en-US" sz="1500" dirty="0"/>
          </a:p>
          <a:p>
            <a:pPr marL="113030" algn="l" rtl="0" eaLnBrk="0">
              <a:lnSpc>
                <a:spcPct val="92000"/>
              </a:lnSpc>
              <a:spcBef>
                <a:spcPts val="480"/>
              </a:spcBef>
            </a:pPr>
            <a:r>
              <a:rPr sz="15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500" kern="0" dirty="0">
                <a:solidFill>
                  <a:srgbClr val="B22600">
                    <a:alpha val="100000"/>
                  </a:srgbClr>
                </a:solidFill>
                <a:latin typeface="微软雅黑" panose="020B0503020204020204" charset="-122"/>
                <a:ea typeface="微软雅黑" panose="020B0503020204020204" charset="-122"/>
                <a:cs typeface="微软雅黑" panose="020B0503020204020204" charset="-122"/>
                <a:sym typeface="+mn-ea"/>
              </a:rPr>
              <a:t>struct</a:t>
            </a:r>
            <a:r>
              <a:rPr sz="1500" kern="0" spc="10" dirty="0">
                <a:solidFill>
                  <a:srgbClr val="B22600">
                    <a:alpha val="100000"/>
                  </a:srgbClr>
                </a:solidFill>
                <a:latin typeface="微软雅黑" panose="020B0503020204020204" charset="-122"/>
                <a:ea typeface="微软雅黑" panose="020B0503020204020204" charset="-122"/>
                <a:cs typeface="微软雅黑" panose="020B0503020204020204" charset="-122"/>
                <a:sym typeface="+mn-ea"/>
              </a:rPr>
              <a:t> </a:t>
            </a:r>
            <a:r>
              <a:rPr sz="1500" kern="0" dirty="0">
                <a:solidFill>
                  <a:srgbClr val="B22600">
                    <a:alpha val="100000"/>
                  </a:srgbClr>
                </a:solidFill>
                <a:latin typeface="微软雅黑" panose="020B0503020204020204" charset="-122"/>
                <a:ea typeface="微软雅黑" panose="020B0503020204020204" charset="-122"/>
                <a:cs typeface="微软雅黑" panose="020B0503020204020204" charset="-122"/>
                <a:sym typeface="+mn-ea"/>
              </a:rPr>
              <a:t>Student</a:t>
            </a:r>
            <a:r>
              <a:rPr sz="1500" kern="0" spc="90" dirty="0">
                <a:solidFill>
                  <a:srgbClr val="B22600">
                    <a:alpha val="100000"/>
                  </a:srgbClr>
                </a:solidFill>
                <a:latin typeface="微软雅黑" panose="020B0503020204020204" charset="-122"/>
                <a:ea typeface="微软雅黑" panose="020B0503020204020204" charset="-122"/>
                <a:cs typeface="微软雅黑" panose="020B0503020204020204" charset="-122"/>
                <a:sym typeface="+mn-ea"/>
              </a:rPr>
              <a:t> </a:t>
            </a:r>
            <a:r>
              <a:rPr sz="1500" kern="0" spc="10" dirty="0">
                <a:solidFill>
                  <a:srgbClr val="B22600">
                    <a:alpha val="100000"/>
                  </a:srgbClr>
                </a:solidFill>
                <a:latin typeface="微软雅黑" panose="020B0503020204020204" charset="-122"/>
                <a:ea typeface="微软雅黑" panose="020B0503020204020204" charset="-122"/>
                <a:cs typeface="微软雅黑" panose="020B0503020204020204" charset="-122"/>
                <a:sym typeface="+mn-ea"/>
              </a:rPr>
              <a:t>*p;          </a:t>
            </a:r>
            <a:r>
              <a:rPr sz="1500" kern="0" spc="1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//定义</a:t>
            </a:r>
            <a:r>
              <a:rPr sz="1500" kern="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指向struct</a:t>
            </a:r>
            <a:r>
              <a:rPr sz="1500" kern="0" spc="11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 </a:t>
            </a:r>
            <a:r>
              <a:rPr sz="1500" kern="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Student结构体变量的指针变量</a:t>
            </a:r>
            <a:endParaRPr lang="en-US" altLang="en-US" sz="1500" dirty="0"/>
          </a:p>
          <a:p>
            <a:pPr marL="488315" algn="l" rtl="0" eaLnBrk="0">
              <a:lnSpc>
                <a:spcPct val="92000"/>
              </a:lnSpc>
              <a:spcBef>
                <a:spcPts val="575"/>
              </a:spcBef>
            </a:pPr>
            <a:r>
              <a:rPr sz="15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printf("</a:t>
            </a:r>
            <a:r>
              <a:rPr sz="1500" kern="0" spc="1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5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No.</a:t>
            </a:r>
            <a:r>
              <a:rPr sz="1500" kern="0" spc="1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5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Name</a:t>
            </a:r>
            <a:r>
              <a:rPr sz="1500" kern="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5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sex</a:t>
            </a:r>
            <a:r>
              <a:rPr sz="1500" kern="0" spc="1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5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age\n")</a:t>
            </a:r>
            <a:r>
              <a:rPr sz="15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endParaRPr lang="en-US" altLang="en-US" sz="1500" dirty="0"/>
          </a:p>
          <a:p>
            <a:pPr marL="478790" algn="l" rtl="0" eaLnBrk="0">
              <a:lnSpc>
                <a:spcPts val="2015"/>
              </a:lnSpc>
              <a:spcBef>
                <a:spcPts val="20"/>
              </a:spcBef>
            </a:pPr>
            <a:r>
              <a:rPr sz="15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for (</a:t>
            </a:r>
            <a:r>
              <a:rPr sz="1500" kern="0" spc="-30" dirty="0">
                <a:solidFill>
                  <a:srgbClr val="B22600">
                    <a:alpha val="100000"/>
                  </a:srgbClr>
                </a:solidFill>
                <a:latin typeface="微软雅黑" panose="020B0503020204020204" charset="-122"/>
                <a:ea typeface="微软雅黑" panose="020B0503020204020204" charset="-122"/>
                <a:cs typeface="微软雅黑" panose="020B0503020204020204" charset="-122"/>
                <a:sym typeface="+mn-ea"/>
              </a:rPr>
              <a:t>p=stu</a:t>
            </a:r>
            <a:r>
              <a:rPr sz="15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r>
              <a:rPr sz="1500" kern="0" spc="-30" dirty="0">
                <a:solidFill>
                  <a:srgbClr val="B22600">
                    <a:alpha val="100000"/>
                  </a:srgbClr>
                </a:solidFill>
                <a:latin typeface="微软雅黑" panose="020B0503020204020204" charset="-122"/>
                <a:ea typeface="微软雅黑" panose="020B0503020204020204" charset="-122"/>
                <a:cs typeface="微软雅黑" panose="020B0503020204020204" charset="-122"/>
                <a:sym typeface="+mn-ea"/>
              </a:rPr>
              <a:t>p&lt;stu+3</a:t>
            </a:r>
            <a:r>
              <a:rPr sz="15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;p++)</a:t>
            </a:r>
            <a:endParaRPr lang="en-US" altLang="en-US" sz="1500" dirty="0"/>
          </a:p>
          <a:p>
            <a:pPr marL="488315" algn="l" rtl="0" eaLnBrk="0">
              <a:lnSpc>
                <a:spcPct val="92000"/>
              </a:lnSpc>
              <a:spcBef>
                <a:spcPts val="560"/>
              </a:spcBef>
            </a:pPr>
            <a:r>
              <a:rPr sz="15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printf("%5d</a:t>
            </a:r>
            <a:r>
              <a:rPr sz="1500"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5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r>
              <a:rPr sz="1500" kern="0" spc="-2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5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-20s %2c %4d\n",</a:t>
            </a:r>
            <a:r>
              <a:rPr sz="1500" kern="0" spc="-40" dirty="0">
                <a:solidFill>
                  <a:srgbClr val="B22600">
                    <a:alpha val="100000"/>
                  </a:srgbClr>
                </a:solidFill>
                <a:latin typeface="微软雅黑" panose="020B0503020204020204" charset="-122"/>
                <a:ea typeface="微软雅黑" panose="020B0503020204020204" charset="-122"/>
                <a:cs typeface="微软雅黑" panose="020B0503020204020204" charset="-122"/>
                <a:sym typeface="+mn-ea"/>
              </a:rPr>
              <a:t>p-&gt;num,</a:t>
            </a:r>
            <a:r>
              <a:rPr sz="1500" kern="0" spc="160" dirty="0">
                <a:solidFill>
                  <a:srgbClr val="B22600">
                    <a:alpha val="100000"/>
                  </a:srgbClr>
                </a:solidFill>
                <a:latin typeface="微软雅黑" panose="020B0503020204020204" charset="-122"/>
                <a:ea typeface="微软雅黑" panose="020B0503020204020204" charset="-122"/>
                <a:cs typeface="微软雅黑" panose="020B0503020204020204" charset="-122"/>
                <a:sym typeface="+mn-ea"/>
              </a:rPr>
              <a:t> </a:t>
            </a:r>
            <a:r>
              <a:rPr sz="1500" kern="0" spc="-40" dirty="0">
                <a:solidFill>
                  <a:srgbClr val="B22600">
                    <a:alpha val="100000"/>
                  </a:srgbClr>
                </a:solidFill>
                <a:latin typeface="微软雅黑" panose="020B0503020204020204" charset="-122"/>
                <a:ea typeface="微软雅黑" panose="020B0503020204020204" charset="-122"/>
                <a:cs typeface="微软雅黑" panose="020B0503020204020204" charset="-122"/>
                <a:sym typeface="+mn-ea"/>
              </a:rPr>
              <a:t>p-&gt;name,</a:t>
            </a:r>
            <a:r>
              <a:rPr sz="1500" kern="0" spc="130" dirty="0">
                <a:solidFill>
                  <a:srgbClr val="B22600">
                    <a:alpha val="100000"/>
                  </a:srgbClr>
                </a:solidFill>
                <a:latin typeface="微软雅黑" panose="020B0503020204020204" charset="-122"/>
                <a:ea typeface="微软雅黑" panose="020B0503020204020204" charset="-122"/>
                <a:cs typeface="微软雅黑" panose="020B0503020204020204" charset="-122"/>
                <a:sym typeface="+mn-ea"/>
              </a:rPr>
              <a:t> </a:t>
            </a:r>
            <a:r>
              <a:rPr sz="1500" kern="0" spc="-40" dirty="0">
                <a:solidFill>
                  <a:srgbClr val="B22600">
                    <a:alpha val="100000"/>
                  </a:srgbClr>
                </a:solidFill>
                <a:latin typeface="微软雅黑" panose="020B0503020204020204" charset="-122"/>
                <a:ea typeface="微软雅黑" panose="020B0503020204020204" charset="-122"/>
                <a:cs typeface="微软雅黑" panose="020B0503020204020204" charset="-122"/>
                <a:sym typeface="+mn-ea"/>
              </a:rPr>
              <a:t>p-&gt;sex,</a:t>
            </a:r>
            <a:r>
              <a:rPr sz="1500" kern="0" spc="130" dirty="0">
                <a:solidFill>
                  <a:srgbClr val="B22600">
                    <a:alpha val="100000"/>
                  </a:srgbClr>
                </a:solidFill>
                <a:latin typeface="微软雅黑" panose="020B0503020204020204" charset="-122"/>
                <a:ea typeface="微软雅黑" panose="020B0503020204020204" charset="-122"/>
                <a:cs typeface="微软雅黑" panose="020B0503020204020204" charset="-122"/>
                <a:sym typeface="+mn-ea"/>
              </a:rPr>
              <a:t> </a:t>
            </a:r>
            <a:r>
              <a:rPr sz="1500" kern="0" spc="-40" dirty="0">
                <a:solidFill>
                  <a:srgbClr val="B22600">
                    <a:alpha val="100000"/>
                  </a:srgbClr>
                </a:solidFill>
                <a:latin typeface="微软雅黑" panose="020B0503020204020204" charset="-122"/>
                <a:ea typeface="微软雅黑" panose="020B0503020204020204" charset="-122"/>
                <a:cs typeface="微软雅黑" panose="020B0503020204020204" charset="-122"/>
                <a:sym typeface="+mn-ea"/>
              </a:rPr>
              <a:t>p-&gt;age</a:t>
            </a:r>
            <a:r>
              <a:rPr sz="15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500" kern="0" spc="-4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//输出结果</a:t>
            </a:r>
            <a:endParaRPr lang="en-US" altLang="en-US" sz="1500" dirty="0"/>
          </a:p>
          <a:p>
            <a:pPr marL="488315" algn="l" rtl="0" eaLnBrk="0">
              <a:lnSpc>
                <a:spcPct val="93000"/>
              </a:lnSpc>
              <a:spcBef>
                <a:spcPts val="585"/>
              </a:spcBef>
            </a:pPr>
            <a:r>
              <a:rPr sz="15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return</a:t>
            </a:r>
            <a:r>
              <a:rPr sz="1500" kern="0" spc="1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5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0;</a:t>
            </a:r>
            <a:endParaRPr lang="en-US" altLang="en-US" sz="1500" dirty="0"/>
          </a:p>
          <a:p>
            <a:pPr marL="113030" algn="l" rtl="0" eaLnBrk="0">
              <a:lnSpc>
                <a:spcPts val="2015"/>
              </a:lnSpc>
            </a:pPr>
            <a:r>
              <a:rPr sz="15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endParaRPr lang="en-US" altLang="en-US" sz="1500" dirty="0"/>
          </a:p>
          <a:p>
            <a:pPr algn="l"/>
            <a:endParaRPr lang="zh-CN" altLang="en-US" sz="1500" dirty="0"/>
          </a:p>
        </p:txBody>
      </p:sp>
      <p:grpSp>
        <p:nvGrpSpPr>
          <p:cNvPr id="570" name="group 570"/>
          <p:cNvGrpSpPr/>
          <p:nvPr/>
        </p:nvGrpSpPr>
        <p:grpSpPr>
          <a:xfrm rot="21600000">
            <a:off x="9949654" y="1514729"/>
            <a:ext cx="1319529" cy="3793871"/>
            <a:chOff x="0" y="0"/>
            <a:chExt cx="1319529" cy="3793870"/>
          </a:xfrm>
        </p:grpSpPr>
        <p:sp>
          <p:nvSpPr>
            <p:cNvPr id="8808" name="path"/>
            <p:cNvSpPr/>
            <p:nvPr/>
          </p:nvSpPr>
          <p:spPr>
            <a:xfrm>
              <a:off x="0" y="3695"/>
              <a:ext cx="1133055" cy="3790175"/>
            </a:xfrm>
            <a:custGeom>
              <a:avLst/>
              <a:gdLst/>
              <a:ahLst/>
              <a:cxnLst/>
              <a:rect l="0" t="0" r="0" b="0"/>
              <a:pathLst>
                <a:path w="1784" h="5968">
                  <a:moveTo>
                    <a:pt x="0" y="497"/>
                  </a:moveTo>
                  <a:lnTo>
                    <a:pt x="1784" y="497"/>
                  </a:lnTo>
                  <a:lnTo>
                    <a:pt x="1784" y="0"/>
                  </a:lnTo>
                  <a:lnTo>
                    <a:pt x="0" y="0"/>
                  </a:lnTo>
                  <a:lnTo>
                    <a:pt x="0" y="497"/>
                  </a:lnTo>
                  <a:close/>
                </a:path>
                <a:path w="1784" h="5968">
                  <a:moveTo>
                    <a:pt x="0" y="994"/>
                  </a:moveTo>
                  <a:lnTo>
                    <a:pt x="1784" y="994"/>
                  </a:lnTo>
                  <a:lnTo>
                    <a:pt x="1784" y="497"/>
                  </a:lnTo>
                  <a:lnTo>
                    <a:pt x="0" y="497"/>
                  </a:lnTo>
                  <a:lnTo>
                    <a:pt x="0" y="994"/>
                  </a:lnTo>
                  <a:close/>
                </a:path>
                <a:path w="1784" h="5968">
                  <a:moveTo>
                    <a:pt x="0" y="1492"/>
                  </a:moveTo>
                  <a:lnTo>
                    <a:pt x="1784" y="1492"/>
                  </a:lnTo>
                  <a:lnTo>
                    <a:pt x="1784" y="994"/>
                  </a:lnTo>
                  <a:lnTo>
                    <a:pt x="0" y="994"/>
                  </a:lnTo>
                  <a:lnTo>
                    <a:pt x="0" y="1492"/>
                  </a:lnTo>
                  <a:close/>
                </a:path>
                <a:path w="1784" h="5968">
                  <a:moveTo>
                    <a:pt x="0" y="1989"/>
                  </a:moveTo>
                  <a:lnTo>
                    <a:pt x="1784" y="1989"/>
                  </a:lnTo>
                  <a:lnTo>
                    <a:pt x="1784" y="1492"/>
                  </a:lnTo>
                  <a:lnTo>
                    <a:pt x="0" y="1492"/>
                  </a:lnTo>
                  <a:lnTo>
                    <a:pt x="0" y="1989"/>
                  </a:lnTo>
                  <a:close/>
                </a:path>
                <a:path w="1784" h="5968">
                  <a:moveTo>
                    <a:pt x="0" y="2486"/>
                  </a:moveTo>
                  <a:lnTo>
                    <a:pt x="1784" y="2486"/>
                  </a:lnTo>
                  <a:lnTo>
                    <a:pt x="1784" y="1989"/>
                  </a:lnTo>
                  <a:lnTo>
                    <a:pt x="0" y="1989"/>
                  </a:lnTo>
                  <a:lnTo>
                    <a:pt x="0" y="2486"/>
                  </a:lnTo>
                  <a:close/>
                </a:path>
                <a:path w="1784" h="5968">
                  <a:moveTo>
                    <a:pt x="0" y="2984"/>
                  </a:moveTo>
                  <a:lnTo>
                    <a:pt x="1784" y="2984"/>
                  </a:lnTo>
                  <a:lnTo>
                    <a:pt x="1784" y="2487"/>
                  </a:lnTo>
                  <a:lnTo>
                    <a:pt x="0" y="2487"/>
                  </a:lnTo>
                  <a:lnTo>
                    <a:pt x="0" y="2984"/>
                  </a:lnTo>
                  <a:close/>
                </a:path>
                <a:path w="1784" h="5968">
                  <a:moveTo>
                    <a:pt x="0" y="3481"/>
                  </a:moveTo>
                  <a:lnTo>
                    <a:pt x="1784" y="3481"/>
                  </a:lnTo>
                  <a:lnTo>
                    <a:pt x="1784" y="2984"/>
                  </a:lnTo>
                  <a:lnTo>
                    <a:pt x="0" y="2984"/>
                  </a:lnTo>
                  <a:lnTo>
                    <a:pt x="0" y="3481"/>
                  </a:lnTo>
                  <a:close/>
                </a:path>
                <a:path w="1784" h="5968">
                  <a:moveTo>
                    <a:pt x="0" y="3979"/>
                  </a:moveTo>
                  <a:lnTo>
                    <a:pt x="1784" y="3979"/>
                  </a:lnTo>
                  <a:lnTo>
                    <a:pt x="1784" y="3481"/>
                  </a:lnTo>
                  <a:lnTo>
                    <a:pt x="0" y="3481"/>
                  </a:lnTo>
                  <a:lnTo>
                    <a:pt x="0" y="3979"/>
                  </a:lnTo>
                  <a:close/>
                </a:path>
                <a:path w="1784" h="5968">
                  <a:moveTo>
                    <a:pt x="0" y="4476"/>
                  </a:moveTo>
                  <a:lnTo>
                    <a:pt x="1784" y="4476"/>
                  </a:lnTo>
                  <a:lnTo>
                    <a:pt x="1784" y="3979"/>
                  </a:lnTo>
                  <a:lnTo>
                    <a:pt x="0" y="3979"/>
                  </a:lnTo>
                  <a:lnTo>
                    <a:pt x="0" y="4476"/>
                  </a:lnTo>
                  <a:close/>
                </a:path>
                <a:path w="1784" h="5968">
                  <a:moveTo>
                    <a:pt x="0" y="4973"/>
                  </a:moveTo>
                  <a:lnTo>
                    <a:pt x="1784" y="4973"/>
                  </a:lnTo>
                  <a:lnTo>
                    <a:pt x="1784" y="4476"/>
                  </a:lnTo>
                  <a:lnTo>
                    <a:pt x="0" y="4476"/>
                  </a:lnTo>
                  <a:lnTo>
                    <a:pt x="0" y="4973"/>
                  </a:lnTo>
                  <a:close/>
                </a:path>
                <a:path w="1784" h="5968">
                  <a:moveTo>
                    <a:pt x="0" y="5471"/>
                  </a:moveTo>
                  <a:lnTo>
                    <a:pt x="1784" y="5471"/>
                  </a:lnTo>
                  <a:lnTo>
                    <a:pt x="1784" y="4973"/>
                  </a:lnTo>
                  <a:lnTo>
                    <a:pt x="0" y="4973"/>
                  </a:lnTo>
                  <a:lnTo>
                    <a:pt x="0" y="5471"/>
                  </a:lnTo>
                  <a:close/>
                </a:path>
                <a:path w="1784" h="5968">
                  <a:moveTo>
                    <a:pt x="0" y="5968"/>
                  </a:moveTo>
                  <a:lnTo>
                    <a:pt x="1784" y="5968"/>
                  </a:lnTo>
                  <a:lnTo>
                    <a:pt x="1784" y="5471"/>
                  </a:lnTo>
                  <a:lnTo>
                    <a:pt x="0" y="5471"/>
                  </a:lnTo>
                  <a:lnTo>
                    <a:pt x="0" y="5968"/>
                  </a:lnTo>
                  <a:close/>
                </a:path>
              </a:pathLst>
            </a:custGeom>
            <a:solidFill>
              <a:srgbClr val="FBE9E8">
                <a:alpha val="100000"/>
              </a:srgbClr>
            </a:solidFill>
            <a:ln cap="flat">
              <a:noFill/>
              <a:prstDash val="solid"/>
              <a:miter lim="0"/>
            </a:ln>
          </p:spPr>
          <p:txBody>
            <a:bodyPr rtlCol="0"/>
            <a:lstStyle/>
            <a:p>
              <a:pPr algn="ctr"/>
              <a:endParaRPr lang="zh-CN" altLang="en-US"/>
            </a:p>
          </p:txBody>
        </p:sp>
        <p:sp>
          <p:nvSpPr>
            <p:cNvPr id="8810" name="path"/>
            <p:cNvSpPr/>
            <p:nvPr/>
          </p:nvSpPr>
          <p:spPr>
            <a:xfrm>
              <a:off x="1151635" y="0"/>
              <a:ext cx="167893" cy="3779773"/>
            </a:xfrm>
            <a:custGeom>
              <a:avLst/>
              <a:gdLst/>
              <a:ahLst/>
              <a:cxnLst/>
              <a:rect l="0" t="0" r="0" b="0"/>
              <a:pathLst>
                <a:path w="264" h="5952">
                  <a:moveTo>
                    <a:pt x="5" y="5"/>
                  </a:moveTo>
                  <a:cubicBezTo>
                    <a:pt x="75" y="5"/>
                    <a:pt x="132" y="14"/>
                    <a:pt x="132" y="26"/>
                  </a:cubicBezTo>
                  <a:lnTo>
                    <a:pt x="132" y="972"/>
                  </a:lnTo>
                  <a:cubicBezTo>
                    <a:pt x="132" y="984"/>
                    <a:pt x="189" y="993"/>
                    <a:pt x="259" y="993"/>
                  </a:cubicBezTo>
                  <a:cubicBezTo>
                    <a:pt x="189" y="993"/>
                    <a:pt x="132" y="1003"/>
                    <a:pt x="132" y="1015"/>
                  </a:cubicBezTo>
                  <a:lnTo>
                    <a:pt x="132" y="1961"/>
                  </a:lnTo>
                  <a:cubicBezTo>
                    <a:pt x="132" y="1973"/>
                    <a:pt x="75" y="1982"/>
                    <a:pt x="5" y="1982"/>
                  </a:cubicBezTo>
                  <a:moveTo>
                    <a:pt x="5" y="2001"/>
                  </a:moveTo>
                  <a:cubicBezTo>
                    <a:pt x="75" y="2001"/>
                    <a:pt x="132" y="2011"/>
                    <a:pt x="132" y="2022"/>
                  </a:cubicBezTo>
                  <a:lnTo>
                    <a:pt x="132" y="2969"/>
                  </a:lnTo>
                  <a:cubicBezTo>
                    <a:pt x="132" y="2981"/>
                    <a:pt x="189" y="2990"/>
                    <a:pt x="259" y="2990"/>
                  </a:cubicBezTo>
                  <a:cubicBezTo>
                    <a:pt x="189" y="2990"/>
                    <a:pt x="132" y="2999"/>
                    <a:pt x="132" y="3011"/>
                  </a:cubicBezTo>
                  <a:lnTo>
                    <a:pt x="132" y="3958"/>
                  </a:lnTo>
                  <a:cubicBezTo>
                    <a:pt x="132" y="3969"/>
                    <a:pt x="75" y="3979"/>
                    <a:pt x="5" y="3979"/>
                  </a:cubicBezTo>
                  <a:moveTo>
                    <a:pt x="5" y="3969"/>
                  </a:moveTo>
                  <a:cubicBezTo>
                    <a:pt x="75" y="3969"/>
                    <a:pt x="132" y="3979"/>
                    <a:pt x="132" y="3990"/>
                  </a:cubicBezTo>
                  <a:lnTo>
                    <a:pt x="132" y="4937"/>
                  </a:lnTo>
                  <a:cubicBezTo>
                    <a:pt x="132" y="4949"/>
                    <a:pt x="189" y="4958"/>
                    <a:pt x="259" y="4958"/>
                  </a:cubicBezTo>
                  <a:cubicBezTo>
                    <a:pt x="189" y="4958"/>
                    <a:pt x="132" y="4967"/>
                    <a:pt x="132" y="4979"/>
                  </a:cubicBezTo>
                  <a:lnTo>
                    <a:pt x="132" y="5926"/>
                  </a:lnTo>
                  <a:cubicBezTo>
                    <a:pt x="132" y="5937"/>
                    <a:pt x="75" y="5947"/>
                    <a:pt x="5" y="5947"/>
                  </a:cubicBezTo>
                </a:path>
              </a:pathLst>
            </a:custGeom>
            <a:noFill/>
            <a:ln w="6350" cap="flat">
              <a:solidFill>
                <a:srgbClr val="000000">
                  <a:alpha val="100000"/>
                </a:srgbClr>
              </a:solidFill>
              <a:prstDash val="solid"/>
              <a:miter lim="800000"/>
            </a:ln>
          </p:spPr>
          <p:txBody>
            <a:bodyPr rtlCol="0"/>
            <a:lstStyle/>
            <a:p>
              <a:pPr algn="ctr"/>
              <a:endParaRPr lang="zh-CN" altLang="en-US"/>
            </a:p>
          </p:txBody>
        </p:sp>
      </p:grpSp>
      <p:graphicFrame>
        <p:nvGraphicFramePr>
          <p:cNvPr id="8812" name="table 8812"/>
          <p:cNvGraphicFramePr>
            <a:graphicFrameLocks noGrp="1"/>
          </p:cNvGraphicFramePr>
          <p:nvPr/>
        </p:nvGraphicFramePr>
        <p:xfrm>
          <a:off x="9949654" y="1512061"/>
          <a:ext cx="1132840" cy="3802380"/>
        </p:xfrm>
        <a:graphic>
          <a:graphicData uri="http://schemas.openxmlformats.org/drawingml/2006/table">
            <a:tbl>
              <a:tblPr/>
              <a:tblGrid>
                <a:gridCol w="1132840">
                  <a:extLst>
                    <a:ext uri="{9D8B030D-6E8A-4147-A177-3AD203B41FA5}">
                      <a16:colId xmlns:a16="http://schemas.microsoft.com/office/drawing/2014/main" val="20000"/>
                    </a:ext>
                  </a:extLst>
                </a:gridCol>
              </a:tblGrid>
              <a:tr h="290830">
                <a:tc>
                  <a:txBody>
                    <a:bodyPr/>
                    <a:lstStyle/>
                    <a:p>
                      <a:pPr algn="l" rtl="0" eaLnBrk="0">
                        <a:lnSpc>
                          <a:spcPct val="106000"/>
                        </a:lnSpc>
                      </a:pPr>
                      <a:endParaRPr lang="en-US" altLang="en-US" sz="600" dirty="0"/>
                    </a:p>
                    <a:p>
                      <a:pPr marL="316230" algn="l" rtl="0" eaLnBrk="0">
                        <a:lnSpc>
                          <a:spcPct val="82000"/>
                        </a:lnSpc>
                        <a:spcBef>
                          <a:spcPts val="5"/>
                        </a:spcBef>
                      </a:pPr>
                      <a:r>
                        <a:rPr sz="15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10101</a:t>
                      </a:r>
                      <a:endParaRPr lang="en-US" altLang="en-US" sz="1500" dirty="0"/>
                    </a:p>
                  </a:txBody>
                  <a:tcPr marL="0" marR="0" marT="0" marB="0">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0"/>
                  </a:ext>
                </a:extLst>
              </a:tr>
              <a:tr h="281940">
                <a:tc>
                  <a:txBody>
                    <a:bodyPr/>
                    <a:lstStyle/>
                    <a:p>
                      <a:pPr algn="l" rtl="0" eaLnBrk="0">
                        <a:lnSpc>
                          <a:spcPct val="116000"/>
                        </a:lnSpc>
                      </a:pPr>
                      <a:endParaRPr lang="en-US" altLang="en-US" sz="500" dirty="0"/>
                    </a:p>
                    <a:p>
                      <a:pPr marL="362585" algn="l" rtl="0" eaLnBrk="0">
                        <a:lnSpc>
                          <a:spcPct val="88000"/>
                        </a:lnSpc>
                        <a:spcBef>
                          <a:spcPts val="5"/>
                        </a:spcBef>
                      </a:pP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Li</a:t>
                      </a:r>
                      <a:r>
                        <a:rPr sz="1400" kern="0" spc="2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Lin</a:t>
                      </a:r>
                      <a:endParaRPr lang="en-US" altLang="en-US" sz="1400" dirty="0"/>
                    </a:p>
                  </a:txBody>
                  <a:tcPr marL="0" marR="0" marT="0" marB="0">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1"/>
                  </a:ext>
                </a:extLst>
              </a:tr>
              <a:tr h="288925">
                <a:tc>
                  <a:txBody>
                    <a:bodyPr/>
                    <a:lstStyle/>
                    <a:p>
                      <a:pPr algn="l" rtl="0" eaLnBrk="0">
                        <a:lnSpc>
                          <a:spcPct val="101000"/>
                        </a:lnSpc>
                      </a:pPr>
                      <a:endParaRPr lang="en-US" altLang="en-US" sz="600" dirty="0"/>
                    </a:p>
                    <a:p>
                      <a:pPr marL="499110" algn="l" rtl="0" eaLnBrk="0">
                        <a:lnSpc>
                          <a:spcPct val="78000"/>
                        </a:lnSpc>
                        <a:spcBef>
                          <a:spcPts val="5"/>
                        </a:spcBef>
                      </a:pPr>
                      <a:r>
                        <a:rPr sz="16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M</a:t>
                      </a:r>
                      <a:endParaRPr lang="en-US" altLang="en-US" sz="1600" dirty="0"/>
                    </a:p>
                  </a:txBody>
                  <a:tcPr marL="0" marR="0" marT="0" marB="0">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2"/>
                  </a:ext>
                </a:extLst>
              </a:tr>
              <a:tr h="288290">
                <a:tc>
                  <a:txBody>
                    <a:bodyPr/>
                    <a:lstStyle/>
                    <a:p>
                      <a:pPr algn="l" rtl="0" eaLnBrk="0">
                        <a:lnSpc>
                          <a:spcPct val="100000"/>
                        </a:lnSpc>
                      </a:pPr>
                      <a:endParaRPr lang="en-US" altLang="en-US" sz="600" dirty="0"/>
                    </a:p>
                    <a:p>
                      <a:pPr marL="478155" algn="l" rtl="0" eaLnBrk="0">
                        <a:lnSpc>
                          <a:spcPct val="78000"/>
                        </a:lnSpc>
                        <a:spcBef>
                          <a:spcPts val="5"/>
                        </a:spcBef>
                      </a:pPr>
                      <a:r>
                        <a:rPr sz="1600"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rPr>
                        <a:t>18</a:t>
                      </a:r>
                      <a:endParaRPr lang="en-US" altLang="en-US" sz="1600" dirty="0"/>
                    </a:p>
                  </a:txBody>
                  <a:tcPr marL="0" marR="0" marT="0" marB="0">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3"/>
                  </a:ext>
                </a:extLst>
              </a:tr>
              <a:tr h="285115">
                <a:tc>
                  <a:txBody>
                    <a:bodyPr/>
                    <a:lstStyle/>
                    <a:p>
                      <a:pPr algn="l" rtl="0" eaLnBrk="0">
                        <a:lnSpc>
                          <a:spcPct val="101000"/>
                        </a:lnSpc>
                      </a:pPr>
                      <a:endParaRPr lang="en-US" altLang="en-US" sz="600" dirty="0"/>
                    </a:p>
                    <a:p>
                      <a:pPr marL="316230" algn="l" rtl="0" eaLnBrk="0">
                        <a:lnSpc>
                          <a:spcPct val="82000"/>
                        </a:lnSpc>
                      </a:pPr>
                      <a:r>
                        <a:rPr sz="15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10102</a:t>
                      </a:r>
                      <a:endParaRPr lang="en-US" altLang="en-US" sz="1500" dirty="0"/>
                    </a:p>
                  </a:txBody>
                  <a:tcPr marL="0" marR="0" marT="0" marB="0">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4"/>
                  </a:ext>
                </a:extLst>
              </a:tr>
              <a:tr h="461010">
                <a:tc>
                  <a:txBody>
                    <a:bodyPr/>
                    <a:lstStyle/>
                    <a:p>
                      <a:pPr algn="l" rtl="0" eaLnBrk="0">
                        <a:lnSpc>
                          <a:spcPct val="119000"/>
                        </a:lnSpc>
                      </a:pPr>
                      <a:endParaRPr lang="en-US" altLang="en-US" sz="500" dirty="0"/>
                    </a:p>
                    <a:p>
                      <a:pPr marL="53975" algn="l" rtl="0" eaLnBrk="0">
                        <a:lnSpc>
                          <a:spcPct val="79000"/>
                        </a:lnSpc>
                        <a:spcBef>
                          <a:spcPts val="0"/>
                        </a:spcBef>
                      </a:pPr>
                      <a:r>
                        <a:rPr sz="15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Zhang</a:t>
                      </a:r>
                      <a:r>
                        <a:rPr sz="1500" kern="0" spc="15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5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Fang</a:t>
                      </a:r>
                      <a:endParaRPr lang="en-US" altLang="en-US" sz="1500" dirty="0"/>
                    </a:p>
                  </a:txBody>
                  <a:tcPr marL="0" marR="0" marT="0" marB="0">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5"/>
                  </a:ext>
                </a:extLst>
              </a:tr>
              <a:tr h="289560">
                <a:tc>
                  <a:txBody>
                    <a:bodyPr/>
                    <a:lstStyle/>
                    <a:p>
                      <a:pPr algn="l" rtl="0" eaLnBrk="0">
                        <a:lnSpc>
                          <a:spcPct val="102000"/>
                        </a:lnSpc>
                      </a:pPr>
                      <a:endParaRPr lang="en-US" altLang="en-US" sz="600" dirty="0"/>
                    </a:p>
                    <a:p>
                      <a:pPr marL="499110" algn="l" rtl="0" eaLnBrk="0">
                        <a:lnSpc>
                          <a:spcPct val="78000"/>
                        </a:lnSpc>
                        <a:spcBef>
                          <a:spcPts val="5"/>
                        </a:spcBef>
                      </a:pPr>
                      <a:r>
                        <a:rPr sz="16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M</a:t>
                      </a:r>
                      <a:endParaRPr lang="en-US" altLang="en-US" sz="1600" dirty="0"/>
                    </a:p>
                  </a:txBody>
                  <a:tcPr marL="0" marR="0" marT="0" marB="0">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6"/>
                  </a:ext>
                </a:extLst>
              </a:tr>
              <a:tr h="288925">
                <a:tc>
                  <a:txBody>
                    <a:bodyPr/>
                    <a:lstStyle/>
                    <a:p>
                      <a:pPr algn="l" rtl="0" eaLnBrk="0">
                        <a:lnSpc>
                          <a:spcPct val="102000"/>
                        </a:lnSpc>
                      </a:pPr>
                      <a:endParaRPr lang="en-US" altLang="en-US" sz="600" dirty="0"/>
                    </a:p>
                    <a:p>
                      <a:pPr marL="478155" algn="l" rtl="0" eaLnBrk="0">
                        <a:lnSpc>
                          <a:spcPct val="78000"/>
                        </a:lnSpc>
                        <a:spcBef>
                          <a:spcPts val="5"/>
                        </a:spcBef>
                      </a:pPr>
                      <a:r>
                        <a:rPr sz="1600"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rPr>
                        <a:t>19</a:t>
                      </a:r>
                      <a:endParaRPr lang="en-US" altLang="en-US" sz="1600" dirty="0"/>
                    </a:p>
                  </a:txBody>
                  <a:tcPr marL="0" marR="0" marT="0" marB="0">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7"/>
                  </a:ext>
                </a:extLst>
              </a:tr>
              <a:tr h="286385">
                <a:tc>
                  <a:txBody>
                    <a:bodyPr/>
                    <a:lstStyle/>
                    <a:p>
                      <a:pPr algn="l" rtl="0" eaLnBrk="0">
                        <a:lnSpc>
                          <a:spcPct val="101000"/>
                        </a:lnSpc>
                      </a:pPr>
                      <a:endParaRPr lang="en-US" altLang="en-US" sz="600" dirty="0"/>
                    </a:p>
                    <a:p>
                      <a:pPr marL="316230" algn="l" rtl="0" eaLnBrk="0">
                        <a:lnSpc>
                          <a:spcPct val="82000"/>
                        </a:lnSpc>
                        <a:spcBef>
                          <a:spcPts val="5"/>
                        </a:spcBef>
                      </a:pPr>
                      <a:r>
                        <a:rPr sz="15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10104</a:t>
                      </a:r>
                      <a:endParaRPr lang="en-US" altLang="en-US" sz="1500" dirty="0"/>
                    </a:p>
                  </a:txBody>
                  <a:tcPr marL="0" marR="0" marT="0" marB="0">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8"/>
                  </a:ext>
                </a:extLst>
              </a:tr>
              <a:tr h="462915">
                <a:tc>
                  <a:txBody>
                    <a:bodyPr/>
                    <a:lstStyle/>
                    <a:p>
                      <a:pPr algn="l" rtl="0" eaLnBrk="0">
                        <a:lnSpc>
                          <a:spcPct val="100000"/>
                        </a:lnSpc>
                      </a:pPr>
                      <a:endParaRPr lang="en-US" altLang="en-US" sz="600" dirty="0"/>
                    </a:p>
                    <a:p>
                      <a:pPr marL="118110" algn="l" rtl="0" eaLnBrk="0">
                        <a:lnSpc>
                          <a:spcPct val="79000"/>
                        </a:lnSpc>
                        <a:spcBef>
                          <a:spcPts val="5"/>
                        </a:spcBef>
                      </a:pPr>
                      <a:r>
                        <a:rPr sz="15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Wang</a:t>
                      </a:r>
                      <a:r>
                        <a:rPr sz="1500" kern="0" spc="1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5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Min</a:t>
                      </a:r>
                      <a:endParaRPr lang="en-US" altLang="en-US" sz="1500" dirty="0"/>
                    </a:p>
                  </a:txBody>
                  <a:tcPr marL="0" marR="0" marT="0" marB="0">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9"/>
                  </a:ext>
                </a:extLst>
              </a:tr>
              <a:tr h="288925">
                <a:tc>
                  <a:txBody>
                    <a:bodyPr/>
                    <a:lstStyle/>
                    <a:p>
                      <a:pPr algn="l" rtl="0" eaLnBrk="0">
                        <a:lnSpc>
                          <a:spcPct val="102000"/>
                        </a:lnSpc>
                      </a:pPr>
                      <a:endParaRPr lang="en-US" altLang="en-US" sz="600" dirty="0"/>
                    </a:p>
                    <a:p>
                      <a:pPr marL="539115" algn="l" rtl="0" eaLnBrk="0">
                        <a:lnSpc>
                          <a:spcPct val="78000"/>
                        </a:lnSpc>
                        <a:spcBef>
                          <a:spcPts val="5"/>
                        </a:spcBef>
                      </a:pPr>
                      <a:r>
                        <a:rPr sz="16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F</a:t>
                      </a:r>
                      <a:endParaRPr lang="en-US" altLang="en-US" sz="1600" dirty="0"/>
                    </a:p>
                  </a:txBody>
                  <a:tcPr marL="0" marR="0" marT="0" marB="0">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10"/>
                  </a:ext>
                </a:extLst>
              </a:tr>
              <a:tr h="289560">
                <a:tc>
                  <a:txBody>
                    <a:bodyPr/>
                    <a:lstStyle/>
                    <a:p>
                      <a:pPr algn="l" rtl="0" eaLnBrk="0">
                        <a:lnSpc>
                          <a:spcPct val="102000"/>
                        </a:lnSpc>
                      </a:pPr>
                      <a:endParaRPr lang="en-US" altLang="en-US" sz="600" dirty="0"/>
                    </a:p>
                    <a:p>
                      <a:pPr marL="473075" algn="l" rtl="0" eaLnBrk="0">
                        <a:lnSpc>
                          <a:spcPct val="78000"/>
                        </a:lnSpc>
                        <a:spcBef>
                          <a:spcPts val="5"/>
                        </a:spcBef>
                      </a:pPr>
                      <a:r>
                        <a:rPr sz="16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20</a:t>
                      </a:r>
                      <a:endParaRPr lang="en-US" altLang="en-US" sz="1600" dirty="0"/>
                    </a:p>
                  </a:txBody>
                  <a:tcPr marL="0" marR="0" marT="0" marB="0">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11"/>
                  </a:ext>
                </a:extLst>
              </a:tr>
            </a:tbl>
          </a:graphicData>
        </a:graphic>
      </p:graphicFrame>
      <p:sp>
        <p:nvSpPr>
          <p:cNvPr id="8816" name="textbox 8816"/>
          <p:cNvSpPr/>
          <p:nvPr/>
        </p:nvSpPr>
        <p:spPr>
          <a:xfrm>
            <a:off x="599594" y="1193355"/>
            <a:ext cx="8577580" cy="318135"/>
          </a:xfrm>
          <a:prstGeom prst="rect">
            <a:avLst/>
          </a:prstGeom>
        </p:spPr>
        <p:txBody>
          <a:bodyPr vert="horz" wrap="square" lIns="0" tIns="0" rIns="0" bIns="0"/>
          <a:lstStyle/>
          <a:p>
            <a:pPr algn="l" rtl="0" eaLnBrk="0">
              <a:lnSpc>
                <a:spcPct val="83000"/>
              </a:lnSpc>
            </a:pPr>
            <a:endParaRPr lang="en-US" altLang="en-US" sz="135" dirty="0"/>
          </a:p>
          <a:p>
            <a:pPr marL="136525" algn="l" rtl="0" eaLnBrk="0">
              <a:lnSpc>
                <a:spcPts val="2300"/>
              </a:lnSpc>
            </a:pPr>
            <a:r>
              <a:rPr sz="1900" kern="0" spc="40" dirty="0">
                <a:solidFill>
                  <a:srgbClr val="782367">
                    <a:alpha val="100000"/>
                  </a:srgbClr>
                </a:solidFill>
                <a:latin typeface="微软雅黑" panose="020B0503020204020204" charset="-122"/>
                <a:ea typeface="微软雅黑" panose="020B0503020204020204" charset="-122"/>
                <a:cs typeface="微软雅黑" panose="020B0503020204020204" charset="-122"/>
              </a:rPr>
              <a:t>【例</a:t>
            </a:r>
            <a:r>
              <a:rPr lang="en-US" sz="1900" kern="0" spc="40" dirty="0">
                <a:solidFill>
                  <a:srgbClr val="782367">
                    <a:alpha val="100000"/>
                  </a:srgbClr>
                </a:solidFill>
                <a:latin typeface="微软雅黑" panose="020B0503020204020204" charset="-122"/>
                <a:ea typeface="微软雅黑" panose="020B0503020204020204" charset="-122"/>
                <a:cs typeface="微软雅黑" panose="020B0503020204020204" charset="-122"/>
              </a:rPr>
              <a:t>7</a:t>
            </a:r>
            <a:r>
              <a:rPr sz="1900" kern="0" spc="40" dirty="0">
                <a:solidFill>
                  <a:srgbClr val="782367">
                    <a:alpha val="100000"/>
                  </a:srgbClr>
                </a:solidFill>
                <a:latin typeface="微软雅黑" panose="020B0503020204020204" charset="-122"/>
                <a:ea typeface="微软雅黑" panose="020B0503020204020204" charset="-122"/>
                <a:cs typeface="微软雅黑" panose="020B0503020204020204" charset="-122"/>
              </a:rPr>
              <a:t>.6】有3个学生的信息，放在结构体数组中，要求输</a:t>
            </a:r>
            <a:r>
              <a:rPr sz="1900" kern="0" spc="30" dirty="0">
                <a:solidFill>
                  <a:srgbClr val="782367">
                    <a:alpha val="100000"/>
                  </a:srgbClr>
                </a:solidFill>
                <a:latin typeface="微软雅黑" panose="020B0503020204020204" charset="-122"/>
                <a:ea typeface="微软雅黑" panose="020B0503020204020204" charset="-122"/>
                <a:cs typeface="微软雅黑" panose="020B0503020204020204" charset="-122"/>
              </a:rPr>
              <a:t>出全部学生的信息。</a:t>
            </a:r>
            <a:endParaRPr lang="en-US" altLang="en-US" sz="1900" kern="0" spc="30" dirty="0">
              <a:solidFill>
                <a:srgbClr val="782367">
                  <a:alpha val="100000"/>
                </a:srgbClr>
              </a:solidFill>
              <a:latin typeface="微软雅黑" panose="020B0503020204020204" charset="-122"/>
              <a:ea typeface="微软雅黑" panose="020B0503020204020204" charset="-122"/>
              <a:cs typeface="微软雅黑" panose="020B0503020204020204" charset="-122"/>
            </a:endParaRPr>
          </a:p>
        </p:txBody>
      </p:sp>
      <p:sp>
        <p:nvSpPr>
          <p:cNvPr id="8818" name="textbox 8818"/>
          <p:cNvSpPr/>
          <p:nvPr/>
        </p:nvSpPr>
        <p:spPr>
          <a:xfrm>
            <a:off x="717479" y="596919"/>
            <a:ext cx="4074795" cy="495300"/>
          </a:xfrm>
          <a:prstGeom prst="rect">
            <a:avLst/>
          </a:prstGeom>
        </p:spPr>
        <p:txBody>
          <a:bodyPr vert="horz" wrap="square" lIns="0" tIns="0" rIns="0" bIns="0"/>
          <a:lstStyle/>
          <a:p>
            <a:pPr algn="l" rtl="0" eaLnBrk="0">
              <a:lnSpc>
                <a:spcPct val="95000"/>
              </a:lnSpc>
            </a:pPr>
            <a:endParaRPr lang="en-US" altLang="en-US" sz="135" dirty="0"/>
          </a:p>
          <a:p>
            <a:pPr marL="12700" algn="l" rtl="0" eaLnBrk="0">
              <a:lnSpc>
                <a:spcPct val="99000"/>
              </a:lnSpc>
            </a:pPr>
            <a:r>
              <a:rPr sz="31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指向结构体数组的指针</a:t>
            </a:r>
            <a:endParaRPr lang="en-US" altLang="en-US" sz="3100" dirty="0"/>
          </a:p>
        </p:txBody>
      </p:sp>
      <p:sp>
        <p:nvSpPr>
          <p:cNvPr id="8820" name="textbox 8820"/>
          <p:cNvSpPr/>
          <p:nvPr/>
        </p:nvSpPr>
        <p:spPr>
          <a:xfrm>
            <a:off x="11344487" y="2039693"/>
            <a:ext cx="508000" cy="2779395"/>
          </a:xfrm>
          <a:prstGeom prst="rect">
            <a:avLst/>
          </a:prstGeom>
        </p:spPr>
        <p:txBody>
          <a:bodyPr vert="horz" wrap="square" lIns="0" tIns="0" rIns="0" bIns="0"/>
          <a:lstStyle/>
          <a:p>
            <a:pPr algn="l" rtl="0" eaLnBrk="0">
              <a:lnSpc>
                <a:spcPct val="82000"/>
              </a:lnSpc>
            </a:pPr>
            <a:endParaRPr lang="en-US" altLang="en-US" sz="135" dirty="0"/>
          </a:p>
          <a:p>
            <a:pPr marL="12700" algn="l" rtl="0" eaLnBrk="0">
              <a:lnSpc>
                <a:spcPct val="99000"/>
              </a:lnSpc>
            </a:pPr>
            <a:r>
              <a:rPr sz="15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stu[0]</a:t>
            </a:r>
            <a:endParaRPr lang="en-US" altLang="en-US" sz="1500" dirty="0"/>
          </a:p>
          <a:p>
            <a:pPr algn="l" rtl="0" eaLnBrk="0">
              <a:lnSpc>
                <a:spcPct val="107000"/>
              </a:lnSpc>
            </a:pPr>
            <a:endParaRPr lang="en-US" altLang="en-US" sz="1000" dirty="0"/>
          </a:p>
          <a:p>
            <a:pPr algn="l" rtl="0" eaLnBrk="0">
              <a:lnSpc>
                <a:spcPct val="107000"/>
              </a:lnSpc>
            </a:pPr>
            <a:endParaRPr lang="en-US" altLang="en-US" sz="1000" dirty="0"/>
          </a:p>
          <a:p>
            <a:pPr algn="l" rtl="0" eaLnBrk="0">
              <a:lnSpc>
                <a:spcPct val="107000"/>
              </a:lnSpc>
            </a:pPr>
            <a:endParaRPr lang="en-US" altLang="en-US" sz="1000" dirty="0"/>
          </a:p>
          <a:p>
            <a:pPr algn="l" rtl="0" eaLnBrk="0">
              <a:lnSpc>
                <a:spcPct val="107000"/>
              </a:lnSpc>
            </a:pPr>
            <a:endParaRPr lang="en-US" altLang="en-US" sz="1000" dirty="0"/>
          </a:p>
          <a:p>
            <a:pPr algn="l" rtl="0" eaLnBrk="0">
              <a:lnSpc>
                <a:spcPct val="107000"/>
              </a:lnSpc>
            </a:pPr>
            <a:endParaRPr lang="en-US" altLang="en-US" sz="1000" dirty="0"/>
          </a:p>
          <a:p>
            <a:pPr algn="l" rtl="0" eaLnBrk="0">
              <a:lnSpc>
                <a:spcPct val="108000"/>
              </a:lnSpc>
            </a:pPr>
            <a:endParaRPr lang="en-US" altLang="en-US" sz="1000" dirty="0"/>
          </a:p>
          <a:p>
            <a:pPr marL="12700" algn="l" rtl="0" eaLnBrk="0">
              <a:lnSpc>
                <a:spcPct val="99000"/>
              </a:lnSpc>
              <a:spcBef>
                <a:spcPts val="455"/>
              </a:spcBef>
            </a:pPr>
            <a:r>
              <a:rPr sz="15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stu[1]</a:t>
            </a:r>
            <a:endParaRPr lang="en-US" altLang="en-US" sz="1500" dirty="0"/>
          </a:p>
          <a:p>
            <a:pPr algn="l" rtl="0" eaLnBrk="0">
              <a:lnSpc>
                <a:spcPct val="107000"/>
              </a:lnSpc>
            </a:pPr>
            <a:endParaRPr lang="en-US" altLang="en-US" sz="1000" dirty="0"/>
          </a:p>
          <a:p>
            <a:pPr algn="l" rtl="0" eaLnBrk="0">
              <a:lnSpc>
                <a:spcPct val="107000"/>
              </a:lnSpc>
            </a:pPr>
            <a:endParaRPr lang="en-US" altLang="en-US" sz="1000" dirty="0"/>
          </a:p>
          <a:p>
            <a:pPr algn="l" rtl="0" eaLnBrk="0">
              <a:lnSpc>
                <a:spcPct val="107000"/>
              </a:lnSpc>
            </a:pPr>
            <a:endParaRPr lang="en-US" altLang="en-US" sz="1000" dirty="0"/>
          </a:p>
          <a:p>
            <a:pPr algn="l" rtl="0" eaLnBrk="0">
              <a:lnSpc>
                <a:spcPct val="107000"/>
              </a:lnSpc>
            </a:pPr>
            <a:endParaRPr lang="en-US" altLang="en-US" sz="1000" dirty="0"/>
          </a:p>
          <a:p>
            <a:pPr algn="l" rtl="0" eaLnBrk="0">
              <a:lnSpc>
                <a:spcPct val="107000"/>
              </a:lnSpc>
            </a:pPr>
            <a:endParaRPr lang="en-US" altLang="en-US" sz="1000" dirty="0"/>
          </a:p>
          <a:p>
            <a:pPr algn="l" rtl="0" eaLnBrk="0">
              <a:lnSpc>
                <a:spcPct val="108000"/>
              </a:lnSpc>
            </a:pPr>
            <a:endParaRPr lang="en-US" altLang="en-US" sz="1000" dirty="0"/>
          </a:p>
          <a:p>
            <a:pPr algn="l" rtl="0" eaLnBrk="0">
              <a:lnSpc>
                <a:spcPct val="126000"/>
              </a:lnSpc>
            </a:pPr>
            <a:endParaRPr lang="en-US" altLang="en-US" sz="300" dirty="0"/>
          </a:p>
          <a:p>
            <a:pPr marL="12700" algn="l" rtl="0" eaLnBrk="0">
              <a:lnSpc>
                <a:spcPct val="99000"/>
              </a:lnSpc>
              <a:spcBef>
                <a:spcPts val="0"/>
              </a:spcBef>
            </a:pPr>
            <a:r>
              <a:rPr sz="15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stu[2]</a:t>
            </a:r>
            <a:endParaRPr lang="en-US" altLang="en-US" sz="1500" dirty="0"/>
          </a:p>
        </p:txBody>
      </p:sp>
      <p:pic>
        <p:nvPicPr>
          <p:cNvPr id="8822" name="picture 8822"/>
          <p:cNvPicPr>
            <a:picLocks noChangeAspect="1"/>
          </p:cNvPicPr>
          <p:nvPr/>
        </p:nvPicPr>
        <p:blipFill>
          <a:blip r:embed="rId5"/>
          <a:stretch>
            <a:fillRect/>
          </a:stretch>
        </p:blipFill>
        <p:spPr>
          <a:xfrm rot="21600000">
            <a:off x="9232992" y="2735579"/>
            <a:ext cx="698627" cy="76200"/>
          </a:xfrm>
          <a:prstGeom prst="rect">
            <a:avLst/>
          </a:prstGeom>
        </p:spPr>
      </p:pic>
      <p:pic>
        <p:nvPicPr>
          <p:cNvPr id="8824" name="picture 8824"/>
          <p:cNvPicPr>
            <a:picLocks noChangeAspect="1"/>
          </p:cNvPicPr>
          <p:nvPr/>
        </p:nvPicPr>
        <p:blipFill>
          <a:blip r:embed="rId6"/>
          <a:stretch>
            <a:fillRect/>
          </a:stretch>
        </p:blipFill>
        <p:spPr>
          <a:xfrm rot="21600000">
            <a:off x="9232992" y="1491996"/>
            <a:ext cx="698627" cy="76200"/>
          </a:xfrm>
          <a:prstGeom prst="rect">
            <a:avLst/>
          </a:prstGeom>
        </p:spPr>
      </p:pic>
      <p:pic>
        <p:nvPicPr>
          <p:cNvPr id="8826" name="picture 8826"/>
          <p:cNvPicPr>
            <a:picLocks noChangeAspect="1"/>
          </p:cNvPicPr>
          <p:nvPr/>
        </p:nvPicPr>
        <p:blipFill>
          <a:blip r:embed="rId7"/>
          <a:stretch>
            <a:fillRect/>
          </a:stretch>
        </p:blipFill>
        <p:spPr>
          <a:xfrm rot="21600000">
            <a:off x="9232992" y="3997452"/>
            <a:ext cx="698627" cy="76200"/>
          </a:xfrm>
          <a:prstGeom prst="rect">
            <a:avLst/>
          </a:prstGeom>
        </p:spPr>
      </p:pic>
      <p:sp>
        <p:nvSpPr>
          <p:cNvPr id="8828" name="textbox 8828"/>
          <p:cNvSpPr/>
          <p:nvPr/>
        </p:nvSpPr>
        <p:spPr>
          <a:xfrm>
            <a:off x="9254939" y="4090848"/>
            <a:ext cx="216535" cy="203835"/>
          </a:xfrm>
          <a:prstGeom prst="rect">
            <a:avLst/>
          </a:prstGeom>
        </p:spPr>
        <p:txBody>
          <a:bodyPr vert="horz" wrap="square" lIns="0" tIns="0" rIns="0" bIns="0"/>
          <a:lstStyle/>
          <a:p>
            <a:pPr algn="l" rtl="0" eaLnBrk="0">
              <a:lnSpc>
                <a:spcPct val="77000"/>
              </a:lnSpc>
            </a:pPr>
            <a:endParaRPr lang="en-US" altLang="en-US" sz="135" dirty="0"/>
          </a:p>
          <a:p>
            <a:pPr marL="12700" algn="l" rtl="0" eaLnBrk="0">
              <a:lnSpc>
                <a:spcPct val="84000"/>
              </a:lnSpc>
            </a:pPr>
            <a:r>
              <a:rPr sz="14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p''</a:t>
            </a:r>
            <a:endParaRPr lang="en-US" altLang="en-US" sz="1400" dirty="0"/>
          </a:p>
        </p:txBody>
      </p:sp>
      <p:sp>
        <p:nvSpPr>
          <p:cNvPr id="8830" name="textbox 8830"/>
          <p:cNvSpPr/>
          <p:nvPr/>
        </p:nvSpPr>
        <p:spPr>
          <a:xfrm>
            <a:off x="9254939" y="2793939"/>
            <a:ext cx="171451" cy="236855"/>
          </a:xfrm>
          <a:prstGeom prst="rect">
            <a:avLst/>
          </a:prstGeom>
        </p:spPr>
        <p:txBody>
          <a:bodyPr vert="horz" wrap="square" lIns="0" tIns="0" rIns="0" bIns="0"/>
          <a:lstStyle/>
          <a:p>
            <a:pPr algn="l" rtl="0" eaLnBrk="0">
              <a:lnSpc>
                <a:spcPct val="89000"/>
              </a:lnSpc>
            </a:pPr>
            <a:endParaRPr lang="en-US" altLang="en-US" sz="135" dirty="0"/>
          </a:p>
          <a:p>
            <a:pPr marL="12700" algn="l" rtl="0" eaLnBrk="0">
              <a:lnSpc>
                <a:spcPct val="92000"/>
              </a:lnSpc>
            </a:pPr>
            <a:r>
              <a:rPr sz="1500"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rPr>
              <a:t>p'</a:t>
            </a:r>
            <a:endParaRPr lang="en-US" altLang="en-US" sz="1500" dirty="0"/>
          </a:p>
        </p:txBody>
      </p:sp>
      <p:sp>
        <p:nvSpPr>
          <p:cNvPr id="8832" name="textbox 8832"/>
          <p:cNvSpPr/>
          <p:nvPr/>
        </p:nvSpPr>
        <p:spPr>
          <a:xfrm>
            <a:off x="9254963" y="1599735"/>
            <a:ext cx="127635" cy="167004"/>
          </a:xfrm>
          <a:prstGeom prst="rect">
            <a:avLst/>
          </a:prstGeom>
        </p:spPr>
        <p:txBody>
          <a:bodyPr vert="horz" wrap="square" lIns="0" tIns="0" rIns="0" bIns="0"/>
          <a:lstStyle/>
          <a:p>
            <a:pPr algn="l" rtl="0" eaLnBrk="0">
              <a:lnSpc>
                <a:spcPct val="89000"/>
              </a:lnSpc>
            </a:pPr>
            <a:endParaRPr lang="en-US" altLang="en-US" sz="135" dirty="0"/>
          </a:p>
          <a:p>
            <a:pPr algn="r" rtl="0" eaLnBrk="0">
              <a:lnSpc>
                <a:spcPct val="71000"/>
              </a:lnSpc>
            </a:pPr>
            <a:r>
              <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p</a:t>
            </a:r>
            <a:endParaRPr lang="en-US" altLang="en-US" sz="1300" dirty="0"/>
          </a:p>
        </p:txBody>
      </p:sp>
      <p:pic>
        <p:nvPicPr>
          <p:cNvPr id="3" name="图片 2"/>
          <p:cNvPicPr>
            <a:picLocks noChangeAspect="1"/>
          </p:cNvPicPr>
          <p:nvPr>
            <p:custDataLst>
              <p:tags r:id="rId2"/>
            </p:custDataLst>
          </p:nvPr>
        </p:nvPicPr>
        <p:blipFill>
          <a:blip r:embed="rId8"/>
          <a:stretch>
            <a:fillRect/>
          </a:stretch>
        </p:blipFill>
        <p:spPr>
          <a:xfrm>
            <a:off x="7502525" y="5354320"/>
            <a:ext cx="4349750" cy="135255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34" name="textbox 8834"/>
          <p:cNvSpPr/>
          <p:nvPr/>
        </p:nvSpPr>
        <p:spPr>
          <a:xfrm>
            <a:off x="629351" y="1533144"/>
            <a:ext cx="10631169" cy="4335145"/>
          </a:xfrm>
          <a:prstGeom prst="rect">
            <a:avLst/>
          </a:prstGeom>
        </p:spPr>
        <p:txBody>
          <a:bodyPr vert="horz" wrap="square" lIns="0" tIns="0" rIns="0" bIns="0"/>
          <a:lstStyle/>
          <a:p>
            <a:pPr algn="l" rtl="0" eaLnBrk="0">
              <a:lnSpc>
                <a:spcPct val="80000"/>
              </a:lnSpc>
            </a:pPr>
            <a:endParaRPr lang="en-US" altLang="en-US" sz="135" dirty="0"/>
          </a:p>
          <a:p>
            <a:pPr marL="16510" algn="l" rtl="0" eaLnBrk="0">
              <a:lnSpc>
                <a:spcPct val="87000"/>
              </a:lnSpc>
            </a:pPr>
            <a:r>
              <a:rPr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rPr>
              <a:t>将一个结构体变量的值传递给另一个函数，</a:t>
            </a:r>
            <a:r>
              <a:rPr kern="0" spc="-2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rPr>
              <a:t>有3个方法：</a:t>
            </a:r>
            <a:endParaRPr lang="en-US" altLang="en-US" dirty="0"/>
          </a:p>
          <a:p>
            <a:pPr marL="19050" algn="l" rtl="0" eaLnBrk="0">
              <a:lnSpc>
                <a:spcPts val="3795"/>
              </a:lnSpc>
            </a:pPr>
            <a:r>
              <a:rPr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(1) 用结构体变量的成员</a:t>
            </a:r>
            <a:r>
              <a:rPr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作参数。</a:t>
            </a:r>
            <a:endParaRPr lang="en-US" altLang="en-US" dirty="0"/>
          </a:p>
          <a:p>
            <a:pPr algn="l" rtl="0" eaLnBrk="0">
              <a:lnSpc>
                <a:spcPct val="113000"/>
              </a:lnSpc>
            </a:pPr>
            <a:endParaRPr lang="en-US" altLang="en-US" sz="1000" dirty="0"/>
          </a:p>
          <a:p>
            <a:pPr marL="19050" indent="-6350" algn="l" rtl="0" eaLnBrk="0">
              <a:lnSpc>
                <a:spcPct val="108000"/>
              </a:lnSpc>
              <a:spcBef>
                <a:spcPts val="545"/>
              </a:spcBef>
            </a:pPr>
            <a:r>
              <a:rPr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例如，</a:t>
            </a:r>
            <a:r>
              <a:rPr kern="0" spc="-2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用stu[1].num或stu[2].name作函数实参，</a:t>
            </a:r>
            <a:r>
              <a:rPr kern="0" spc="-24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将实参值传给形参</a:t>
            </a:r>
            <a:r>
              <a:rPr kern="0" spc="-25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。用法和用普</a:t>
            </a:r>
            <a:r>
              <a:rPr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通变量作实参是一样的， </a:t>
            </a:r>
            <a:r>
              <a:rPr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rPr>
              <a:t>属于“值传递”方式</a:t>
            </a:r>
            <a:r>
              <a:rPr kern="0" spc="-32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rPr>
              <a:t>。应当注意实参与形参</a:t>
            </a:r>
            <a:r>
              <a:rPr kern="0" spc="-100" dirty="0">
                <a:solidFill>
                  <a:srgbClr val="000000">
                    <a:alpha val="100000"/>
                  </a:srgbClr>
                </a:solidFill>
                <a:latin typeface="微软雅黑" panose="020B0503020204020204" charset="-122"/>
                <a:ea typeface="微软雅黑" panose="020B0503020204020204" charset="-122"/>
                <a:cs typeface="微软雅黑" panose="020B0503020204020204" charset="-122"/>
              </a:rPr>
              <a:t>的类型保持一致。</a:t>
            </a:r>
            <a:endParaRPr lang="en-US" altLang="en-US" dirty="0"/>
          </a:p>
          <a:p>
            <a:pPr marL="19050" algn="l" rtl="0" eaLnBrk="0">
              <a:lnSpc>
                <a:spcPct val="93000"/>
              </a:lnSpc>
              <a:spcBef>
                <a:spcPts val="1730"/>
              </a:spcBef>
            </a:pPr>
            <a:r>
              <a:rPr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(2) 用结构体变量作实参。</a:t>
            </a:r>
            <a:endParaRPr lang="en-US" altLang="en-US" dirty="0"/>
          </a:p>
          <a:p>
            <a:pPr algn="l" rtl="0" eaLnBrk="0">
              <a:lnSpc>
                <a:spcPct val="105000"/>
              </a:lnSpc>
            </a:pPr>
            <a:endParaRPr lang="en-US" altLang="en-US" sz="1000" dirty="0"/>
          </a:p>
          <a:p>
            <a:pPr marL="15875" indent="5715" algn="l" rtl="0" eaLnBrk="0">
              <a:lnSpc>
                <a:spcPct val="115000"/>
              </a:lnSpc>
              <a:spcBef>
                <a:spcPts val="540"/>
              </a:spcBef>
            </a:pPr>
            <a:r>
              <a:rPr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用结构体变量作实参时，</a:t>
            </a:r>
            <a:r>
              <a:rPr kern="0" spc="-19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采取的也是“值传递”的方式，</a:t>
            </a:r>
            <a:r>
              <a:rPr kern="0" spc="-27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将结构体变量所占的内存单元的内容全部按顺序传</a:t>
            </a:r>
            <a:r>
              <a:rPr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递给形参，</a:t>
            </a:r>
            <a:r>
              <a:rPr kern="0" spc="-25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形参也必须是同类型的结构体变量</a:t>
            </a:r>
            <a:r>
              <a:rPr kern="0" spc="-28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。在函数调用期间形参</a:t>
            </a:r>
            <a:r>
              <a:rPr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也要占用内存单元</a:t>
            </a:r>
            <a:r>
              <a:rPr kern="0" spc="-28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。这种传递方式在</a:t>
            </a:r>
            <a:r>
              <a:rPr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空间和时间上开销较大，</a:t>
            </a:r>
            <a:r>
              <a:rPr kern="0" spc="-2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如果结构体的规模很大时，</a:t>
            </a:r>
            <a:r>
              <a:rPr kern="0" spc="-2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开销是很可观的</a:t>
            </a:r>
            <a:r>
              <a:rPr kern="0" spc="-3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。此外，</a:t>
            </a:r>
            <a:r>
              <a:rPr kern="0" spc="-10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由于采用值传递方式，</a:t>
            </a:r>
            <a:r>
              <a:rPr kern="0" spc="-26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如果</a:t>
            </a:r>
            <a:r>
              <a:rPr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在执行被调用函数期间改变了形参</a:t>
            </a:r>
            <a:r>
              <a:rPr kern="0" spc="-4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也是结构体变量）</a:t>
            </a:r>
            <a:r>
              <a:rPr kern="0" spc="-24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的值，</a:t>
            </a:r>
            <a:r>
              <a:rPr kern="0" spc="-26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该值不能返回主调函数，</a:t>
            </a:r>
            <a:r>
              <a:rPr kern="0" spc="-28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这往往造成使用上</a:t>
            </a:r>
            <a:r>
              <a:rPr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的不便</a:t>
            </a:r>
            <a:r>
              <a:rPr kern="0" spc="-3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kern="0" spc="-4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因此一般较少用这种方法。</a:t>
            </a:r>
            <a:endParaRPr lang="en-US" altLang="en-US" dirty="0"/>
          </a:p>
          <a:p>
            <a:pPr algn="l" rtl="0" eaLnBrk="0">
              <a:lnSpc>
                <a:spcPct val="102000"/>
              </a:lnSpc>
            </a:pPr>
            <a:endParaRPr lang="en-US" altLang="en-US" sz="1400" dirty="0"/>
          </a:p>
          <a:p>
            <a:pPr algn="l" rtl="0" eaLnBrk="0">
              <a:lnSpc>
                <a:spcPct val="13000"/>
              </a:lnSpc>
            </a:pPr>
            <a:endParaRPr lang="en-US" altLang="en-US" sz="135" dirty="0"/>
          </a:p>
          <a:p>
            <a:pPr marL="19050" algn="l" rtl="0" eaLnBrk="0">
              <a:lnSpc>
                <a:spcPct val="93000"/>
              </a:lnSpc>
            </a:pPr>
            <a:r>
              <a:rPr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(3) 用指向结构体变量（或数组元素）</a:t>
            </a:r>
            <a:r>
              <a:rPr kern="0" spc="-28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的指针作实参，</a:t>
            </a:r>
            <a:r>
              <a:rPr kern="0" spc="-29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将结构体变量（或数组</a:t>
            </a:r>
            <a:r>
              <a:rPr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元素）</a:t>
            </a:r>
            <a:r>
              <a:rPr kern="0" spc="-27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的地址传给形参。</a:t>
            </a:r>
            <a:endParaRPr lang="en-US" altLang="en-US" dirty="0"/>
          </a:p>
        </p:txBody>
      </p:sp>
      <p:sp>
        <p:nvSpPr>
          <p:cNvPr id="8836" name="textbox 8836"/>
          <p:cNvSpPr/>
          <p:nvPr/>
        </p:nvSpPr>
        <p:spPr>
          <a:xfrm>
            <a:off x="652748" y="855992"/>
            <a:ext cx="8129905" cy="494665"/>
          </a:xfrm>
          <a:prstGeom prst="rect">
            <a:avLst/>
          </a:prstGeom>
        </p:spPr>
        <p:txBody>
          <a:bodyPr vert="horz" wrap="square" lIns="0" tIns="0" rIns="0" bIns="0"/>
          <a:lstStyle/>
          <a:p>
            <a:pPr algn="l" rtl="0" eaLnBrk="0">
              <a:lnSpc>
                <a:spcPct val="93000"/>
              </a:lnSpc>
            </a:pPr>
            <a:endParaRPr lang="en-US" altLang="en-US" sz="135" dirty="0"/>
          </a:p>
          <a:p>
            <a:pPr marL="12700" algn="l" rtl="0" eaLnBrk="0">
              <a:lnSpc>
                <a:spcPct val="99000"/>
              </a:lnSpc>
            </a:pPr>
            <a:r>
              <a:rPr sz="3100"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rPr>
              <a:t>用结构体变量和结构体变量的指针作函数参数</a:t>
            </a:r>
            <a:endParaRPr lang="en-US" altLang="en-US" sz="3100" dirty="0"/>
          </a:p>
        </p:txBody>
      </p:sp>
      <p:sp>
        <p:nvSpPr>
          <p:cNvPr id="8838" name="path"/>
          <p:cNvSpPr/>
          <p:nvPr/>
        </p:nvSpPr>
        <p:spPr>
          <a:xfrm>
            <a:off x="551780" y="1398524"/>
            <a:ext cx="10775695" cy="25400"/>
          </a:xfrm>
          <a:custGeom>
            <a:avLst/>
            <a:gdLst/>
            <a:ahLst/>
            <a:cxnLst/>
            <a:rect l="0" t="0" r="0" b="0"/>
            <a:pathLst>
              <a:path w="16969" h="40">
                <a:moveTo>
                  <a:pt x="20" y="20"/>
                </a:moveTo>
                <a:lnTo>
                  <a:pt x="16949" y="20"/>
                </a:lnTo>
                <a:lnTo>
                  <a:pt x="20" y="20"/>
                </a:lnTo>
              </a:path>
            </a:pathLst>
          </a:custGeom>
          <a:noFill/>
          <a:ln w="0" cap="sq">
            <a:solidFill>
              <a:srgbClr val="782367">
                <a:alpha val="100000"/>
              </a:srgbClr>
            </a:solidFill>
            <a:prstDash val="solid"/>
            <a:bevel/>
          </a:ln>
        </p:spPr>
        <p:txBody>
          <a:bodyPr rtlCol="0"/>
          <a:lstStyle/>
          <a:p>
            <a:pPr algn="ctr"/>
            <a:endParaRPr lang="zh-CN" altLang="en-US"/>
          </a:p>
        </p:txBody>
      </p:sp>
      <p:sp>
        <p:nvSpPr>
          <p:cNvPr id="8840" name="rect"/>
          <p:cNvSpPr/>
          <p:nvPr/>
        </p:nvSpPr>
        <p:spPr>
          <a:xfrm>
            <a:off x="551780" y="6150355"/>
            <a:ext cx="10775695" cy="25400"/>
          </a:xfrm>
          <a:prstGeom prst="rect">
            <a:avLst/>
          </a:prstGeom>
          <a:solidFill>
            <a:srgbClr val="782367">
              <a:alpha val="95000"/>
            </a:srgbClr>
          </a:solidFill>
          <a:ln cap="flat">
            <a:noFill/>
            <a:prstDash val="solid"/>
            <a:miter lim="0"/>
          </a:ln>
        </p:spPr>
        <p:txBody>
          <a:bodyPr rtlCol="0"/>
          <a:lstStyle/>
          <a:p>
            <a:pPr algn="ctr"/>
            <a:endParaRPr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44" name="textbox 8844"/>
          <p:cNvSpPr/>
          <p:nvPr/>
        </p:nvSpPr>
        <p:spPr>
          <a:xfrm>
            <a:off x="331238" y="527449"/>
            <a:ext cx="8535669" cy="1273811"/>
          </a:xfrm>
          <a:prstGeom prst="rect">
            <a:avLst/>
          </a:prstGeom>
        </p:spPr>
        <p:txBody>
          <a:bodyPr vert="horz" wrap="square" lIns="0" tIns="0" rIns="0" bIns="0"/>
          <a:lstStyle/>
          <a:p>
            <a:pPr algn="l" rtl="0" eaLnBrk="0">
              <a:lnSpc>
                <a:spcPct val="95000"/>
              </a:lnSpc>
            </a:pPr>
            <a:endParaRPr lang="en-US" altLang="en-US" sz="135" dirty="0"/>
          </a:p>
          <a:p>
            <a:pPr marL="133350" algn="l" rtl="0" eaLnBrk="0">
              <a:lnSpc>
                <a:spcPct val="99000"/>
              </a:lnSpc>
            </a:pPr>
            <a:r>
              <a:rPr sz="3100"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rPr>
              <a:t>用结构体变量和结构体变量的指针作函数参数</a:t>
            </a:r>
            <a:endParaRPr lang="en-US" altLang="en-US" sz="3100" dirty="0"/>
          </a:p>
          <a:p>
            <a:pPr algn="l" rtl="0" eaLnBrk="0">
              <a:lnSpc>
                <a:spcPct val="101000"/>
              </a:lnSpc>
            </a:pPr>
            <a:endParaRPr lang="en-US" altLang="en-US" sz="800" dirty="0"/>
          </a:p>
          <a:p>
            <a:pPr algn="l" rtl="0" eaLnBrk="0">
              <a:lnSpc>
                <a:spcPct val="8000"/>
              </a:lnSpc>
            </a:pPr>
            <a:endParaRPr lang="en-US" altLang="en-US" sz="135" dirty="0"/>
          </a:p>
          <a:p>
            <a:pPr marL="104775" indent="31115" algn="l" rtl="0" eaLnBrk="0">
              <a:lnSpc>
                <a:spcPct val="113000"/>
              </a:lnSpc>
            </a:pPr>
            <a:r>
              <a:rPr sz="1900" kern="0" spc="60" dirty="0">
                <a:solidFill>
                  <a:srgbClr val="782367">
                    <a:alpha val="100000"/>
                  </a:srgbClr>
                </a:solidFill>
                <a:latin typeface="微软雅黑" panose="020B0503020204020204" charset="-122"/>
                <a:ea typeface="微软雅黑" panose="020B0503020204020204" charset="-122"/>
                <a:cs typeface="微软雅黑" panose="020B0503020204020204" charset="-122"/>
              </a:rPr>
              <a:t>【例</a:t>
            </a:r>
            <a:r>
              <a:rPr lang="en-US" sz="1900" kern="0" spc="60" dirty="0">
                <a:solidFill>
                  <a:srgbClr val="782367">
                    <a:alpha val="100000"/>
                  </a:srgbClr>
                </a:solidFill>
                <a:latin typeface="微软雅黑" panose="020B0503020204020204" charset="-122"/>
                <a:ea typeface="微软雅黑" panose="020B0503020204020204" charset="-122"/>
                <a:cs typeface="微软雅黑" panose="020B0503020204020204" charset="-122"/>
              </a:rPr>
              <a:t>7</a:t>
            </a:r>
            <a:r>
              <a:rPr sz="1900" kern="0" spc="60" dirty="0">
                <a:solidFill>
                  <a:srgbClr val="782367">
                    <a:alpha val="100000"/>
                  </a:srgbClr>
                </a:solidFill>
                <a:latin typeface="微软雅黑" panose="020B0503020204020204" charset="-122"/>
                <a:ea typeface="微软雅黑" panose="020B0503020204020204" charset="-122"/>
                <a:cs typeface="微软雅黑" panose="020B0503020204020204" charset="-122"/>
              </a:rPr>
              <a:t>.7】有n个结构体变量，内含学生学号、姓名和3门课程的成绩。要</a:t>
            </a:r>
            <a:r>
              <a:rPr sz="1900" kern="0" spc="50" dirty="0">
                <a:solidFill>
                  <a:srgbClr val="782367">
                    <a:alpha val="100000"/>
                  </a:srgbClr>
                </a:solidFill>
                <a:latin typeface="微软雅黑" panose="020B0503020204020204" charset="-122"/>
                <a:ea typeface="微软雅黑" panose="020B0503020204020204" charset="-122"/>
                <a:cs typeface="微软雅黑" panose="020B0503020204020204" charset="-122"/>
              </a:rPr>
              <a:t>求输</a:t>
            </a:r>
            <a:r>
              <a:rPr sz="1900" kern="0" spc="-10" dirty="0">
                <a:solidFill>
                  <a:srgbClr val="782367">
                    <a:alpha val="100000"/>
                  </a:srgbClr>
                </a:solidFill>
                <a:latin typeface="微软雅黑" panose="020B0503020204020204" charset="-122"/>
                <a:ea typeface="微软雅黑" panose="020B0503020204020204" charset="-122"/>
                <a:cs typeface="微软雅黑" panose="020B0503020204020204" charset="-122"/>
              </a:rPr>
              <a:t> </a:t>
            </a:r>
            <a:r>
              <a:rPr sz="1900" kern="0" spc="70" dirty="0">
                <a:solidFill>
                  <a:srgbClr val="782367">
                    <a:alpha val="100000"/>
                  </a:srgbClr>
                </a:solidFill>
                <a:latin typeface="微软雅黑" panose="020B0503020204020204" charset="-122"/>
                <a:ea typeface="微软雅黑" panose="020B0503020204020204" charset="-122"/>
                <a:cs typeface="微软雅黑" panose="020B0503020204020204" charset="-122"/>
              </a:rPr>
              <a:t>出平均成绩最高的学生的信息(包括学号、</a:t>
            </a:r>
            <a:r>
              <a:rPr sz="1900" kern="0" spc="60" dirty="0">
                <a:solidFill>
                  <a:srgbClr val="782367">
                    <a:alpha val="100000"/>
                  </a:srgbClr>
                </a:solidFill>
                <a:latin typeface="微软雅黑" panose="020B0503020204020204" charset="-122"/>
                <a:ea typeface="微软雅黑" panose="020B0503020204020204" charset="-122"/>
                <a:cs typeface="微软雅黑" panose="020B0503020204020204" charset="-122"/>
              </a:rPr>
              <a:t>姓名、 3门课程成绩和平均成绩)。</a:t>
            </a:r>
            <a:endParaRPr lang="en-US" altLang="en-US" sz="1900" kern="0" spc="60" dirty="0">
              <a:solidFill>
                <a:srgbClr val="782367">
                  <a:alpha val="100000"/>
                </a:srgbClr>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1"/>
            </p:custDataLst>
          </p:nvPr>
        </p:nvSpPr>
        <p:spPr>
          <a:xfrm>
            <a:off x="3381375" y="1835150"/>
            <a:ext cx="5429250" cy="4733290"/>
          </a:xfrm>
          <a:prstGeom prst="rect">
            <a:avLst/>
          </a:prstGeom>
          <a:solidFill>
            <a:schemeClr val="bg1"/>
          </a:solidFill>
          <a:ln>
            <a:solidFill>
              <a:srgbClr val="782367"/>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indent="0" algn="l" fontAlgn="auto">
              <a:lnSpc>
                <a:spcPts val="1800"/>
              </a:lnSpc>
            </a:pPr>
            <a:r>
              <a:rPr lang="zh-CN" altLang="en-US" sz="1300">
                <a:solidFill>
                  <a:schemeClr val="tx1"/>
                </a:solidFill>
                <a:latin typeface="微软雅黑" panose="020B0503020204020204" charset="-122"/>
                <a:ea typeface="微软雅黑" panose="020B0503020204020204" charset="-122"/>
                <a:cs typeface="微软雅黑" panose="020B0503020204020204" charset="-122"/>
              </a:rPr>
              <a:t>#include &lt;stdio.h&gt;</a:t>
            </a:r>
          </a:p>
          <a:p>
            <a:pPr indent="0" algn="l" fontAlgn="auto">
              <a:lnSpc>
                <a:spcPts val="1800"/>
              </a:lnSpc>
            </a:pPr>
            <a:r>
              <a:rPr lang="zh-CN" altLang="en-US" sz="1300">
                <a:solidFill>
                  <a:schemeClr val="tx1"/>
                </a:solidFill>
                <a:latin typeface="微软雅黑" panose="020B0503020204020204" charset="-122"/>
                <a:ea typeface="微软雅黑" panose="020B0503020204020204" charset="-122"/>
                <a:cs typeface="微软雅黑" panose="020B0503020204020204" charset="-122"/>
              </a:rPr>
              <a:t>#define N 3 </a:t>
            </a:r>
            <a:r>
              <a:rPr lang="en-US" altLang="zh-CN" sz="1300">
                <a:solidFill>
                  <a:schemeClr val="tx1"/>
                </a:solidFill>
                <a:latin typeface="微软雅黑" panose="020B0503020204020204" charset="-122"/>
                <a:ea typeface="微软雅黑" panose="020B0503020204020204" charset="-122"/>
                <a:cs typeface="微软雅黑" panose="020B0503020204020204" charset="-122"/>
              </a:rPr>
              <a:t>                </a:t>
            </a:r>
            <a:r>
              <a:rPr sz="1300" kern="0" dirty="0">
                <a:solidFill>
                  <a:srgbClr val="008000">
                    <a:alpha val="100000"/>
                  </a:srgbClr>
                </a:solidFill>
                <a:latin typeface="微软雅黑" panose="020B0503020204020204" charset="-122"/>
                <a:ea typeface="微软雅黑" panose="020B0503020204020204" charset="-122"/>
                <a:cs typeface="微软雅黑" panose="020B0503020204020204" charset="-122"/>
              </a:rPr>
              <a:t>//学生数为3</a:t>
            </a:r>
          </a:p>
          <a:p>
            <a:pPr algn="l" fontAlgn="auto">
              <a:lnSpc>
                <a:spcPts val="1800"/>
              </a:lnSpc>
              <a:buClrTx/>
              <a:buSzTx/>
              <a:buFontTx/>
            </a:pPr>
            <a:r>
              <a:rPr lang="zh-CN" altLang="en-US" sz="1300">
                <a:solidFill>
                  <a:schemeClr val="tx1"/>
                </a:solidFill>
                <a:latin typeface="微软雅黑" panose="020B0503020204020204" charset="-122"/>
                <a:ea typeface="微软雅黑" panose="020B0503020204020204" charset="-122"/>
                <a:cs typeface="微软雅黑" panose="020B0503020204020204" charset="-122"/>
              </a:rPr>
              <a:t>struct Student </a:t>
            </a:r>
            <a:r>
              <a:rPr lang="en-US" altLang="zh-CN" sz="1300">
                <a:solidFill>
                  <a:schemeClr val="tx1"/>
                </a:solidFill>
                <a:latin typeface="微软雅黑" panose="020B0503020204020204" charset="-122"/>
                <a:ea typeface="微软雅黑" panose="020B0503020204020204" charset="-122"/>
                <a:cs typeface="微软雅黑" panose="020B0503020204020204" charset="-122"/>
              </a:rPr>
              <a:t>            </a:t>
            </a:r>
            <a:r>
              <a:rPr sz="1300" kern="0" dirty="0">
                <a:solidFill>
                  <a:srgbClr val="008000">
                    <a:alpha val="100000"/>
                  </a:srgbClr>
                </a:solidFill>
                <a:latin typeface="微软雅黑" panose="020B0503020204020204" charset="-122"/>
                <a:ea typeface="微软雅黑" panose="020B0503020204020204" charset="-122"/>
                <a:cs typeface="微软雅黑" panose="020B0503020204020204" charset="-122"/>
              </a:rPr>
              <a:t>//建立结构体类型struct Student</a:t>
            </a:r>
          </a:p>
          <a:p>
            <a:pPr algn="l" fontAlgn="auto">
              <a:lnSpc>
                <a:spcPts val="1800"/>
              </a:lnSpc>
              <a:buClrTx/>
              <a:buSzTx/>
              <a:buFontTx/>
            </a:pPr>
            <a:r>
              <a:rPr lang="zh-CN" altLang="en-US" sz="1300">
                <a:solidFill>
                  <a:schemeClr val="tx1"/>
                </a:solidFill>
                <a:latin typeface="微软雅黑" panose="020B0503020204020204" charset="-122"/>
                <a:ea typeface="微软雅黑" panose="020B0503020204020204" charset="-122"/>
                <a:cs typeface="微软雅黑" panose="020B0503020204020204" charset="-122"/>
              </a:rPr>
              <a:t>{ int num; </a:t>
            </a:r>
            <a:r>
              <a:rPr lang="en-US" altLang="zh-CN" sz="1300">
                <a:solidFill>
                  <a:schemeClr val="tx1"/>
                </a:solidFill>
                <a:latin typeface="微软雅黑" panose="020B0503020204020204" charset="-122"/>
                <a:ea typeface="微软雅黑" panose="020B0503020204020204" charset="-122"/>
                <a:cs typeface="微软雅黑" panose="020B0503020204020204" charset="-122"/>
              </a:rPr>
              <a:t>                   </a:t>
            </a:r>
            <a:r>
              <a:rPr sz="1300" kern="0" dirty="0">
                <a:solidFill>
                  <a:srgbClr val="008000">
                    <a:alpha val="100000"/>
                  </a:srgbClr>
                </a:solidFill>
                <a:latin typeface="微软雅黑" panose="020B0503020204020204" charset="-122"/>
                <a:ea typeface="微软雅黑" panose="020B0503020204020204" charset="-122"/>
                <a:cs typeface="微软雅黑" panose="020B0503020204020204" charset="-122"/>
              </a:rPr>
              <a:t>//学号</a:t>
            </a:r>
          </a:p>
          <a:p>
            <a:pPr indent="0" algn="l" fontAlgn="auto">
              <a:lnSpc>
                <a:spcPts val="1800"/>
              </a:lnSpc>
            </a:pPr>
            <a:r>
              <a:rPr lang="zh-CN" altLang="en-US" sz="1300">
                <a:solidFill>
                  <a:schemeClr val="tx1"/>
                </a:solidFill>
                <a:latin typeface="微软雅黑" panose="020B0503020204020204" charset="-122"/>
                <a:ea typeface="微软雅黑" panose="020B0503020204020204" charset="-122"/>
                <a:cs typeface="微软雅黑" panose="020B0503020204020204" charset="-122"/>
              </a:rPr>
              <a:t>char name[20]; </a:t>
            </a:r>
            <a:r>
              <a:rPr lang="en-US" altLang="zh-CN" sz="1300">
                <a:solidFill>
                  <a:schemeClr val="tx1"/>
                </a:solidFill>
                <a:latin typeface="微软雅黑" panose="020B0503020204020204" charset="-122"/>
                <a:ea typeface="微软雅黑" panose="020B0503020204020204" charset="-122"/>
                <a:cs typeface="微软雅黑" panose="020B0503020204020204" charset="-122"/>
              </a:rPr>
              <a:t>          </a:t>
            </a:r>
            <a:r>
              <a:rPr sz="1300" kern="0" dirty="0">
                <a:solidFill>
                  <a:srgbClr val="008000">
                    <a:alpha val="100000"/>
                  </a:srgbClr>
                </a:solidFill>
                <a:latin typeface="微软雅黑" panose="020B0503020204020204" charset="-122"/>
                <a:ea typeface="微软雅黑" panose="020B0503020204020204" charset="-122"/>
                <a:cs typeface="微软雅黑" panose="020B0503020204020204" charset="-122"/>
              </a:rPr>
              <a:t>//姓名</a:t>
            </a:r>
            <a:endParaRPr lang="zh-CN" altLang="en-US" sz="1300">
              <a:solidFill>
                <a:schemeClr val="tx1"/>
              </a:solidFill>
              <a:latin typeface="微软雅黑" panose="020B0503020204020204" charset="-122"/>
              <a:ea typeface="微软雅黑" panose="020B0503020204020204" charset="-122"/>
              <a:cs typeface="微软雅黑" panose="020B0503020204020204" charset="-122"/>
            </a:endParaRPr>
          </a:p>
          <a:p>
            <a:pPr indent="0" algn="l" fontAlgn="auto">
              <a:lnSpc>
                <a:spcPts val="1800"/>
              </a:lnSpc>
            </a:pPr>
            <a:r>
              <a:rPr lang="zh-CN" altLang="en-US" sz="1300">
                <a:solidFill>
                  <a:schemeClr val="tx1"/>
                </a:solidFill>
                <a:latin typeface="微软雅黑" panose="020B0503020204020204" charset="-122"/>
                <a:ea typeface="微软雅黑" panose="020B0503020204020204" charset="-122"/>
                <a:cs typeface="微软雅黑" panose="020B0503020204020204" charset="-122"/>
              </a:rPr>
              <a:t>float score[3];</a:t>
            </a:r>
            <a:r>
              <a:rPr lang="en-US" altLang="zh-CN" sz="1300">
                <a:solidFill>
                  <a:schemeClr val="tx1"/>
                </a:solidFill>
                <a:latin typeface="微软雅黑" panose="020B0503020204020204" charset="-122"/>
                <a:ea typeface="微软雅黑" panose="020B0503020204020204" charset="-122"/>
                <a:cs typeface="微软雅黑" panose="020B0503020204020204" charset="-122"/>
              </a:rPr>
              <a:t>            </a:t>
            </a:r>
            <a:r>
              <a:rPr lang="zh-CN" altLang="en-US" sz="1300">
                <a:solidFill>
                  <a:schemeClr val="tx1"/>
                </a:solidFill>
                <a:latin typeface="微软雅黑" panose="020B0503020204020204" charset="-122"/>
                <a:ea typeface="微软雅黑" panose="020B0503020204020204" charset="-122"/>
                <a:cs typeface="微软雅黑" panose="020B0503020204020204" charset="-122"/>
              </a:rPr>
              <a:t> </a:t>
            </a:r>
            <a:r>
              <a:rPr sz="1300" kern="0" dirty="0">
                <a:solidFill>
                  <a:srgbClr val="008000">
                    <a:alpha val="100000"/>
                  </a:srgbClr>
                </a:solidFill>
                <a:latin typeface="微软雅黑" panose="020B0503020204020204" charset="-122"/>
                <a:ea typeface="微软雅黑" panose="020B0503020204020204" charset="-122"/>
                <a:cs typeface="微软雅黑" panose="020B0503020204020204" charset="-122"/>
              </a:rPr>
              <a:t>//3门课成绩</a:t>
            </a:r>
          </a:p>
          <a:p>
            <a:pPr indent="0" algn="l" fontAlgn="auto">
              <a:lnSpc>
                <a:spcPts val="1800"/>
              </a:lnSpc>
            </a:pPr>
            <a:r>
              <a:rPr lang="zh-CN" altLang="en-US" sz="1300">
                <a:solidFill>
                  <a:schemeClr val="tx1"/>
                </a:solidFill>
                <a:latin typeface="微软雅黑" panose="020B0503020204020204" charset="-122"/>
                <a:ea typeface="微软雅黑" panose="020B0503020204020204" charset="-122"/>
                <a:cs typeface="微软雅黑" panose="020B0503020204020204" charset="-122"/>
              </a:rPr>
              <a:t>float aver; </a:t>
            </a:r>
            <a:r>
              <a:rPr lang="en-US" altLang="zh-CN" sz="1300">
                <a:solidFill>
                  <a:schemeClr val="tx1"/>
                </a:solidFill>
                <a:latin typeface="微软雅黑" panose="020B0503020204020204" charset="-122"/>
                <a:ea typeface="微软雅黑" panose="020B0503020204020204" charset="-122"/>
                <a:cs typeface="微软雅黑" panose="020B0503020204020204" charset="-122"/>
              </a:rPr>
              <a:t>                </a:t>
            </a:r>
            <a:r>
              <a:rPr sz="1300" kern="0" dirty="0">
                <a:solidFill>
                  <a:srgbClr val="008000">
                    <a:alpha val="100000"/>
                  </a:srgbClr>
                </a:solidFill>
                <a:latin typeface="微软雅黑" panose="020B0503020204020204" charset="-122"/>
                <a:ea typeface="微软雅黑" panose="020B0503020204020204" charset="-122"/>
                <a:cs typeface="微软雅黑" panose="020B0503020204020204" charset="-122"/>
              </a:rPr>
              <a:t> //平均成绩</a:t>
            </a:r>
          </a:p>
          <a:p>
            <a:pPr indent="0" algn="l" fontAlgn="auto">
              <a:lnSpc>
                <a:spcPts val="1800"/>
              </a:lnSpc>
            </a:pPr>
            <a:r>
              <a:rPr lang="zh-CN" altLang="en-US" sz="1300">
                <a:solidFill>
                  <a:schemeClr val="tx1"/>
                </a:solidFill>
                <a:latin typeface="微软雅黑" panose="020B0503020204020204" charset="-122"/>
                <a:ea typeface="微软雅黑" panose="020B0503020204020204" charset="-122"/>
                <a:cs typeface="微软雅黑" panose="020B0503020204020204" charset="-122"/>
              </a:rPr>
              <a:t>};</a:t>
            </a:r>
          </a:p>
          <a:p>
            <a:pPr indent="0" algn="l" fontAlgn="auto">
              <a:lnSpc>
                <a:spcPts val="1800"/>
              </a:lnSpc>
            </a:pPr>
            <a:r>
              <a:rPr lang="zh-CN" altLang="en-US" sz="1300">
                <a:solidFill>
                  <a:schemeClr val="tx1"/>
                </a:solidFill>
                <a:latin typeface="微软雅黑" panose="020B0503020204020204" charset="-122"/>
                <a:ea typeface="微软雅黑" panose="020B0503020204020204" charset="-122"/>
                <a:cs typeface="微软雅黑" panose="020B0503020204020204" charset="-122"/>
              </a:rPr>
              <a:t>int main()</a:t>
            </a:r>
          </a:p>
          <a:p>
            <a:pPr indent="0" algn="l" fontAlgn="auto">
              <a:lnSpc>
                <a:spcPts val="1800"/>
              </a:lnSpc>
            </a:pPr>
            <a:r>
              <a:rPr lang="zh-CN" altLang="en-US" sz="1300">
                <a:solidFill>
                  <a:schemeClr val="tx1"/>
                </a:solidFill>
                <a:latin typeface="微软雅黑" panose="020B0503020204020204" charset="-122"/>
                <a:ea typeface="微软雅黑" panose="020B0503020204020204" charset="-122"/>
                <a:cs typeface="微软雅黑" panose="020B0503020204020204" charset="-122"/>
              </a:rPr>
              <a:t>{ void input(struct Student stu[]); </a:t>
            </a:r>
            <a:r>
              <a:rPr lang="en-US" altLang="zh-CN" sz="1300">
                <a:solidFill>
                  <a:schemeClr val="tx1"/>
                </a:solidFill>
                <a:latin typeface="微软雅黑" panose="020B0503020204020204" charset="-122"/>
                <a:ea typeface="微软雅黑" panose="020B0503020204020204" charset="-122"/>
                <a:cs typeface="微软雅黑" panose="020B0503020204020204" charset="-122"/>
              </a:rPr>
              <a:t>            </a:t>
            </a:r>
            <a:r>
              <a:rPr sz="1300" kern="0" dirty="0">
                <a:solidFill>
                  <a:srgbClr val="008000">
                    <a:alpha val="100000"/>
                  </a:srgbClr>
                </a:solidFill>
                <a:latin typeface="微软雅黑" panose="020B0503020204020204" charset="-122"/>
                <a:ea typeface="微软雅黑" panose="020B0503020204020204" charset="-122"/>
                <a:cs typeface="微软雅黑" panose="020B0503020204020204" charset="-122"/>
              </a:rPr>
              <a:t>//函数声明</a:t>
            </a:r>
            <a:endParaRPr lang="zh-CN" altLang="en-US" sz="1300">
              <a:solidFill>
                <a:schemeClr val="tx1"/>
              </a:solidFill>
              <a:latin typeface="微软雅黑" panose="020B0503020204020204" charset="-122"/>
              <a:ea typeface="微软雅黑" panose="020B0503020204020204" charset="-122"/>
              <a:cs typeface="微软雅黑" panose="020B0503020204020204" charset="-122"/>
            </a:endParaRPr>
          </a:p>
          <a:p>
            <a:pPr indent="0" algn="l" fontAlgn="auto">
              <a:lnSpc>
                <a:spcPts val="1800"/>
              </a:lnSpc>
            </a:pPr>
            <a:r>
              <a:rPr lang="zh-CN" altLang="en-US" sz="1300">
                <a:solidFill>
                  <a:schemeClr val="tx1"/>
                </a:solidFill>
                <a:latin typeface="微软雅黑" panose="020B0503020204020204" charset="-122"/>
                <a:ea typeface="微软雅黑" panose="020B0503020204020204" charset="-122"/>
                <a:cs typeface="微软雅黑" panose="020B0503020204020204" charset="-122"/>
              </a:rPr>
              <a:t>struct Student max(struct Student stu[]); </a:t>
            </a:r>
            <a:r>
              <a:rPr sz="1300" kern="0" dirty="0">
                <a:solidFill>
                  <a:srgbClr val="008000">
                    <a:alpha val="100000"/>
                  </a:srgbClr>
                </a:solidFill>
                <a:latin typeface="微软雅黑" panose="020B0503020204020204" charset="-122"/>
                <a:ea typeface="微软雅黑" panose="020B0503020204020204" charset="-122"/>
                <a:cs typeface="微软雅黑" panose="020B0503020204020204" charset="-122"/>
              </a:rPr>
              <a:t>//函数声明</a:t>
            </a:r>
            <a:endParaRPr lang="zh-CN" altLang="en-US" sz="1300">
              <a:solidFill>
                <a:schemeClr val="tx1"/>
              </a:solidFill>
              <a:latin typeface="微软雅黑" panose="020B0503020204020204" charset="-122"/>
              <a:ea typeface="微软雅黑" panose="020B0503020204020204" charset="-122"/>
              <a:cs typeface="微软雅黑" panose="020B0503020204020204" charset="-122"/>
            </a:endParaRPr>
          </a:p>
          <a:p>
            <a:pPr indent="0" algn="l" fontAlgn="auto">
              <a:lnSpc>
                <a:spcPts val="1800"/>
              </a:lnSpc>
            </a:pPr>
            <a:r>
              <a:rPr lang="zh-CN" altLang="en-US" sz="1300">
                <a:solidFill>
                  <a:schemeClr val="tx1"/>
                </a:solidFill>
                <a:latin typeface="微软雅黑" panose="020B0503020204020204" charset="-122"/>
                <a:ea typeface="微软雅黑" panose="020B0503020204020204" charset="-122"/>
                <a:cs typeface="微软雅黑" panose="020B0503020204020204" charset="-122"/>
              </a:rPr>
              <a:t>void print(struct Student stu);</a:t>
            </a:r>
            <a:r>
              <a:rPr lang="en-US" altLang="zh-CN" sz="1300">
                <a:solidFill>
                  <a:schemeClr val="tx1"/>
                </a:solidFill>
                <a:latin typeface="微软雅黑" panose="020B0503020204020204" charset="-122"/>
                <a:ea typeface="微软雅黑" panose="020B0503020204020204" charset="-122"/>
                <a:cs typeface="微软雅黑" panose="020B0503020204020204" charset="-122"/>
              </a:rPr>
              <a:t>        </a:t>
            </a:r>
            <a:r>
              <a:rPr lang="zh-CN" altLang="en-US" sz="1300">
                <a:solidFill>
                  <a:schemeClr val="tx1"/>
                </a:solidFill>
                <a:latin typeface="微软雅黑" panose="020B0503020204020204" charset="-122"/>
                <a:ea typeface="微软雅黑" panose="020B0503020204020204" charset="-122"/>
                <a:cs typeface="微软雅黑" panose="020B0503020204020204" charset="-122"/>
              </a:rPr>
              <a:t> </a:t>
            </a:r>
            <a:r>
              <a:rPr lang="en-US" altLang="zh-CN" sz="1300">
                <a:solidFill>
                  <a:schemeClr val="tx1"/>
                </a:solidFill>
                <a:latin typeface="微软雅黑" panose="020B0503020204020204" charset="-122"/>
                <a:ea typeface="微软雅黑" panose="020B0503020204020204" charset="-122"/>
                <a:cs typeface="微软雅黑" panose="020B0503020204020204" charset="-122"/>
              </a:rPr>
              <a:t>        </a:t>
            </a:r>
            <a:r>
              <a:rPr sz="1300" kern="0" dirty="0">
                <a:solidFill>
                  <a:srgbClr val="008000">
                    <a:alpha val="100000"/>
                  </a:srgbClr>
                </a:solidFill>
                <a:latin typeface="微软雅黑" panose="020B0503020204020204" charset="-122"/>
                <a:ea typeface="微软雅黑" panose="020B0503020204020204" charset="-122"/>
                <a:cs typeface="微软雅黑" panose="020B0503020204020204" charset="-122"/>
              </a:rPr>
              <a:t> //函数声明</a:t>
            </a:r>
            <a:endParaRPr lang="zh-CN" altLang="en-US" sz="1300">
              <a:solidFill>
                <a:schemeClr val="tx1"/>
              </a:solidFill>
              <a:latin typeface="微软雅黑" panose="020B0503020204020204" charset="-122"/>
              <a:ea typeface="微软雅黑" panose="020B0503020204020204" charset="-122"/>
              <a:cs typeface="微软雅黑" panose="020B0503020204020204" charset="-122"/>
            </a:endParaRPr>
          </a:p>
          <a:p>
            <a:pPr indent="0" algn="l" fontAlgn="auto">
              <a:lnSpc>
                <a:spcPts val="1800"/>
              </a:lnSpc>
            </a:pPr>
            <a:r>
              <a:rPr lang="zh-CN" altLang="en-US" sz="1300">
                <a:solidFill>
                  <a:schemeClr val="tx1"/>
                </a:solidFill>
                <a:latin typeface="微软雅黑" panose="020B0503020204020204" charset="-122"/>
                <a:ea typeface="微软雅黑" panose="020B0503020204020204" charset="-122"/>
                <a:cs typeface="微软雅黑" panose="020B0503020204020204" charset="-122"/>
              </a:rPr>
              <a:t>struct Student stu[N],*p=stu; </a:t>
            </a:r>
            <a:r>
              <a:rPr lang="en-US" altLang="zh-CN" sz="1300">
                <a:solidFill>
                  <a:schemeClr val="tx1"/>
                </a:solidFill>
                <a:latin typeface="微软雅黑" panose="020B0503020204020204" charset="-122"/>
                <a:ea typeface="微软雅黑" panose="020B0503020204020204" charset="-122"/>
                <a:cs typeface="微软雅黑" panose="020B0503020204020204" charset="-122"/>
              </a:rPr>
              <a:t>                 </a:t>
            </a:r>
            <a:r>
              <a:rPr sz="1300" kern="0" dirty="0">
                <a:solidFill>
                  <a:srgbClr val="008000">
                    <a:alpha val="100000"/>
                  </a:srgbClr>
                </a:solidFill>
                <a:latin typeface="微软雅黑" panose="020B0503020204020204" charset="-122"/>
                <a:ea typeface="微软雅黑" panose="020B0503020204020204" charset="-122"/>
                <a:cs typeface="微软雅黑" panose="020B0503020204020204" charset="-122"/>
              </a:rPr>
              <a:t>//定义结构体数组和指针</a:t>
            </a:r>
            <a:endParaRPr lang="zh-CN" altLang="en-US" sz="1300">
              <a:solidFill>
                <a:schemeClr val="tx1"/>
              </a:solidFill>
              <a:latin typeface="微软雅黑" panose="020B0503020204020204" charset="-122"/>
              <a:ea typeface="微软雅黑" panose="020B0503020204020204" charset="-122"/>
              <a:cs typeface="微软雅黑" panose="020B0503020204020204" charset="-122"/>
            </a:endParaRPr>
          </a:p>
          <a:p>
            <a:pPr indent="0" algn="l" fontAlgn="auto">
              <a:lnSpc>
                <a:spcPts val="1800"/>
              </a:lnSpc>
            </a:pPr>
            <a:r>
              <a:rPr lang="zh-CN" altLang="en-US" sz="1300">
                <a:solidFill>
                  <a:schemeClr val="tx1"/>
                </a:solidFill>
                <a:latin typeface="微软雅黑" panose="020B0503020204020204" charset="-122"/>
                <a:ea typeface="微软雅黑" panose="020B0503020204020204" charset="-122"/>
                <a:cs typeface="微软雅黑" panose="020B0503020204020204" charset="-122"/>
              </a:rPr>
              <a:t>input(p); </a:t>
            </a:r>
            <a:r>
              <a:rPr lang="en-US" altLang="zh-CN" sz="1300">
                <a:solidFill>
                  <a:schemeClr val="tx1"/>
                </a:solidFill>
                <a:latin typeface="微软雅黑" panose="020B0503020204020204" charset="-122"/>
                <a:ea typeface="微软雅黑" panose="020B0503020204020204" charset="-122"/>
                <a:cs typeface="微软雅黑" panose="020B0503020204020204" charset="-122"/>
              </a:rPr>
              <a:t>                                                 </a:t>
            </a:r>
            <a:r>
              <a:rPr sz="1300" kern="0" dirty="0">
                <a:solidFill>
                  <a:srgbClr val="008000">
                    <a:alpha val="100000"/>
                  </a:srgbClr>
                </a:solidFill>
                <a:latin typeface="微软雅黑" panose="020B0503020204020204" charset="-122"/>
                <a:ea typeface="微软雅黑" panose="020B0503020204020204" charset="-122"/>
                <a:cs typeface="微软雅黑" panose="020B0503020204020204" charset="-122"/>
              </a:rPr>
              <a:t>//调用input函数</a:t>
            </a:r>
          </a:p>
          <a:p>
            <a:pPr indent="0" algn="l" fontAlgn="auto">
              <a:lnSpc>
                <a:spcPts val="1800"/>
              </a:lnSpc>
            </a:pPr>
            <a:r>
              <a:rPr lang="zh-CN" altLang="en-US" sz="1300">
                <a:solidFill>
                  <a:schemeClr val="tx1"/>
                </a:solidFill>
                <a:latin typeface="微软雅黑" panose="020B0503020204020204" charset="-122"/>
                <a:ea typeface="微软雅黑" panose="020B0503020204020204" charset="-122"/>
                <a:cs typeface="微软雅黑" panose="020B0503020204020204" charset="-122"/>
              </a:rPr>
              <a:t>print(max(p)); </a:t>
            </a:r>
            <a:r>
              <a:rPr lang="en-US" altLang="zh-CN" sz="1300">
                <a:solidFill>
                  <a:schemeClr val="tx1"/>
                </a:solidFill>
                <a:latin typeface="微软雅黑" panose="020B0503020204020204" charset="-122"/>
                <a:ea typeface="微软雅黑" panose="020B0503020204020204" charset="-122"/>
                <a:cs typeface="微软雅黑" panose="020B0503020204020204" charset="-122"/>
              </a:rPr>
              <a:t>           </a:t>
            </a:r>
            <a:r>
              <a:rPr sz="1300" kern="0" dirty="0">
                <a:solidFill>
                  <a:srgbClr val="008000">
                    <a:alpha val="100000"/>
                  </a:srgbClr>
                </a:solidFill>
                <a:latin typeface="微软雅黑" panose="020B0503020204020204" charset="-122"/>
                <a:ea typeface="微软雅黑" panose="020B0503020204020204" charset="-122"/>
                <a:cs typeface="微软雅黑" panose="020B0503020204020204" charset="-122"/>
              </a:rPr>
              <a:t>//调用print函数,以max函数的返回值作为实参</a:t>
            </a:r>
            <a:endParaRPr lang="zh-CN" altLang="en-US" sz="1300">
              <a:solidFill>
                <a:schemeClr val="tx1"/>
              </a:solidFill>
              <a:latin typeface="微软雅黑" panose="020B0503020204020204" charset="-122"/>
              <a:ea typeface="微软雅黑" panose="020B0503020204020204" charset="-122"/>
              <a:cs typeface="微软雅黑" panose="020B0503020204020204" charset="-122"/>
            </a:endParaRPr>
          </a:p>
          <a:p>
            <a:pPr indent="0" algn="l" fontAlgn="auto">
              <a:lnSpc>
                <a:spcPts val="1800"/>
              </a:lnSpc>
            </a:pPr>
            <a:r>
              <a:rPr lang="zh-CN" altLang="en-US" sz="1300">
                <a:solidFill>
                  <a:schemeClr val="tx1"/>
                </a:solidFill>
                <a:latin typeface="微软雅黑" panose="020B0503020204020204" charset="-122"/>
                <a:ea typeface="微软雅黑" panose="020B0503020204020204" charset="-122"/>
                <a:cs typeface="微软雅黑" panose="020B0503020204020204" charset="-122"/>
              </a:rPr>
              <a:t>return 0;</a:t>
            </a:r>
          </a:p>
          <a:p>
            <a:pPr indent="0" algn="l" fontAlgn="auto">
              <a:lnSpc>
                <a:spcPts val="1800"/>
              </a:lnSpc>
            </a:pPr>
            <a:r>
              <a:rPr lang="zh-CN" altLang="en-US" sz="1300">
                <a:solidFill>
                  <a:schemeClr val="tx1"/>
                </a:solidFill>
                <a:latin typeface="微软雅黑" panose="020B0503020204020204" charset="-122"/>
                <a:ea typeface="微软雅黑" panose="020B0503020204020204" charset="-122"/>
                <a:cs typeface="微软雅黑" panose="020B0503020204020204" charset="-122"/>
              </a:rPr>
              <a:t>}</a:t>
            </a:r>
          </a:p>
          <a:p>
            <a:pPr indent="0" algn="l" fontAlgn="auto">
              <a:lnSpc>
                <a:spcPts val="1800"/>
              </a:lnSpc>
            </a:pPr>
            <a:r>
              <a:rPr lang="zh-CN" altLang="en-US" sz="1300">
                <a:solidFill>
                  <a:schemeClr val="tx1"/>
                </a:solidFill>
                <a:latin typeface="微软雅黑" panose="020B0503020204020204" charset="-122"/>
                <a:ea typeface="微软雅黑" panose="020B0503020204020204" charset="-122"/>
                <a:cs typeface="微软雅黑" panose="020B0503020204020204" charset="-122"/>
              </a:rPr>
              <a:t>void input(struct Student stu[]) </a:t>
            </a:r>
            <a:r>
              <a:rPr sz="1300" kern="0" dirty="0">
                <a:solidFill>
                  <a:srgbClr val="008000">
                    <a:alpha val="100000"/>
                  </a:srgbClr>
                </a:solidFill>
                <a:latin typeface="微软雅黑" panose="020B0503020204020204" charset="-122"/>
                <a:ea typeface="微软雅黑" panose="020B0503020204020204" charset="-122"/>
                <a:cs typeface="微软雅黑" panose="020B0503020204020204" charset="-122"/>
              </a:rPr>
              <a:t>//定义input函数</a:t>
            </a:r>
            <a:endParaRPr lang="zh-CN" altLang="en-US" sz="1300">
              <a:solidFill>
                <a:schemeClr val="tx1"/>
              </a:solidFill>
              <a:latin typeface="微软雅黑" panose="020B0503020204020204" charset="-122"/>
              <a:ea typeface="微软雅黑" panose="020B0503020204020204" charset="-122"/>
              <a:cs typeface="微软雅黑" panose="020B0503020204020204" charset="-122"/>
            </a:endParaRPr>
          </a:p>
          <a:p>
            <a:pPr indent="0" algn="l" fontAlgn="auto">
              <a:lnSpc>
                <a:spcPts val="1800"/>
              </a:lnSpc>
            </a:pPr>
            <a:r>
              <a:rPr lang="zh-CN" altLang="en-US" sz="1300">
                <a:solidFill>
                  <a:schemeClr val="tx1"/>
                </a:solidFill>
                <a:latin typeface="微软雅黑" panose="020B0503020204020204" charset="-122"/>
                <a:ea typeface="微软雅黑" panose="020B0503020204020204" charset="-122"/>
                <a:cs typeface="微软雅黑" panose="020B0503020204020204" charset="-122"/>
              </a:rPr>
              <a:t>{ int i;</a:t>
            </a:r>
          </a:p>
          <a:p>
            <a:pPr indent="0" algn="l" fontAlgn="auto">
              <a:lnSpc>
                <a:spcPts val="1800"/>
              </a:lnSpc>
            </a:pPr>
            <a:r>
              <a:rPr lang="zh-CN" altLang="en-US" sz="1300">
                <a:solidFill>
                  <a:schemeClr val="tx1"/>
                </a:solidFill>
                <a:latin typeface="微软雅黑" panose="020B0503020204020204" charset="-122"/>
                <a:ea typeface="微软雅黑" panose="020B0503020204020204" charset="-122"/>
                <a:cs typeface="微软雅黑" panose="020B0503020204020204" charset="-122"/>
              </a:rPr>
              <a:t>printf("请输入各学生的信息： 学号、姓名、三门课成绩:\n");</a:t>
            </a:r>
          </a:p>
          <a:p>
            <a:pPr indent="0" algn="l" fontAlgn="auto">
              <a:lnSpc>
                <a:spcPts val="1800"/>
              </a:lnSpc>
            </a:pPr>
            <a:r>
              <a:rPr lang="zh-CN" altLang="en-US" sz="1300">
                <a:solidFill>
                  <a:schemeClr val="tx1"/>
                </a:solidFill>
                <a:latin typeface="微软雅黑" panose="020B0503020204020204" charset="-122"/>
                <a:ea typeface="微软雅黑" panose="020B0503020204020204" charset="-122"/>
                <a:cs typeface="微软雅黑" panose="020B0503020204020204" charset="-122"/>
              </a:rPr>
              <a:t>for(i=0;i&lt;N;i++)</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44" name="textbox 8844"/>
          <p:cNvSpPr/>
          <p:nvPr/>
        </p:nvSpPr>
        <p:spPr>
          <a:xfrm>
            <a:off x="331238" y="527449"/>
            <a:ext cx="8535669" cy="1273811"/>
          </a:xfrm>
          <a:prstGeom prst="rect">
            <a:avLst/>
          </a:prstGeom>
        </p:spPr>
        <p:txBody>
          <a:bodyPr vert="horz" wrap="square" lIns="0" tIns="0" rIns="0" bIns="0"/>
          <a:lstStyle/>
          <a:p>
            <a:pPr algn="l" rtl="0" eaLnBrk="0">
              <a:lnSpc>
                <a:spcPct val="95000"/>
              </a:lnSpc>
            </a:pPr>
            <a:endParaRPr lang="en-US" altLang="en-US" sz="135" dirty="0"/>
          </a:p>
          <a:p>
            <a:pPr marL="133350" algn="l" rtl="0" eaLnBrk="0">
              <a:lnSpc>
                <a:spcPct val="99000"/>
              </a:lnSpc>
            </a:pPr>
            <a:r>
              <a:rPr sz="3100"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rPr>
              <a:t>用结构体变量和结构体变量的指针作函数参数</a:t>
            </a:r>
            <a:endParaRPr lang="en-US" altLang="en-US" sz="3100" dirty="0"/>
          </a:p>
          <a:p>
            <a:pPr algn="l" rtl="0" eaLnBrk="0">
              <a:lnSpc>
                <a:spcPct val="101000"/>
              </a:lnSpc>
            </a:pPr>
            <a:endParaRPr lang="en-US" altLang="en-US" sz="800" dirty="0"/>
          </a:p>
          <a:p>
            <a:pPr algn="l" rtl="0" eaLnBrk="0">
              <a:lnSpc>
                <a:spcPct val="8000"/>
              </a:lnSpc>
            </a:pPr>
            <a:endParaRPr lang="en-US" altLang="en-US" sz="135" dirty="0"/>
          </a:p>
          <a:p>
            <a:pPr marL="104775" indent="31115" algn="l" rtl="0" eaLnBrk="0">
              <a:lnSpc>
                <a:spcPct val="113000"/>
              </a:lnSpc>
            </a:pPr>
            <a:r>
              <a:rPr sz="1900" kern="0" spc="60" dirty="0">
                <a:solidFill>
                  <a:srgbClr val="782367">
                    <a:alpha val="100000"/>
                  </a:srgbClr>
                </a:solidFill>
                <a:latin typeface="微软雅黑" panose="020B0503020204020204" charset="-122"/>
                <a:ea typeface="微软雅黑" panose="020B0503020204020204" charset="-122"/>
                <a:cs typeface="微软雅黑" panose="020B0503020204020204" charset="-122"/>
              </a:rPr>
              <a:t>【例</a:t>
            </a:r>
            <a:r>
              <a:rPr lang="en-US" sz="1900" kern="0" spc="60" dirty="0">
                <a:solidFill>
                  <a:srgbClr val="782367">
                    <a:alpha val="100000"/>
                  </a:srgbClr>
                </a:solidFill>
                <a:latin typeface="微软雅黑" panose="020B0503020204020204" charset="-122"/>
                <a:ea typeface="微软雅黑" panose="020B0503020204020204" charset="-122"/>
                <a:cs typeface="微软雅黑" panose="020B0503020204020204" charset="-122"/>
              </a:rPr>
              <a:t>7</a:t>
            </a:r>
            <a:r>
              <a:rPr sz="1900" kern="0" spc="60" dirty="0">
                <a:solidFill>
                  <a:srgbClr val="782367">
                    <a:alpha val="100000"/>
                  </a:srgbClr>
                </a:solidFill>
                <a:latin typeface="微软雅黑" panose="020B0503020204020204" charset="-122"/>
                <a:ea typeface="微软雅黑" panose="020B0503020204020204" charset="-122"/>
                <a:cs typeface="微软雅黑" panose="020B0503020204020204" charset="-122"/>
              </a:rPr>
              <a:t>.7】有n个结构体变量，内含学生学号、姓名和3门课程的成绩。要</a:t>
            </a:r>
            <a:r>
              <a:rPr sz="1900" kern="0" spc="50" dirty="0">
                <a:solidFill>
                  <a:srgbClr val="782367">
                    <a:alpha val="100000"/>
                  </a:srgbClr>
                </a:solidFill>
                <a:latin typeface="微软雅黑" panose="020B0503020204020204" charset="-122"/>
                <a:ea typeface="微软雅黑" panose="020B0503020204020204" charset="-122"/>
                <a:cs typeface="微软雅黑" panose="020B0503020204020204" charset="-122"/>
              </a:rPr>
              <a:t>求输</a:t>
            </a:r>
            <a:r>
              <a:rPr sz="1900" kern="0" spc="-10" dirty="0">
                <a:solidFill>
                  <a:srgbClr val="782367">
                    <a:alpha val="100000"/>
                  </a:srgbClr>
                </a:solidFill>
                <a:latin typeface="微软雅黑" panose="020B0503020204020204" charset="-122"/>
                <a:ea typeface="微软雅黑" panose="020B0503020204020204" charset="-122"/>
                <a:cs typeface="微软雅黑" panose="020B0503020204020204" charset="-122"/>
              </a:rPr>
              <a:t> </a:t>
            </a:r>
            <a:r>
              <a:rPr sz="1900" kern="0" spc="70" dirty="0">
                <a:solidFill>
                  <a:srgbClr val="782367">
                    <a:alpha val="100000"/>
                  </a:srgbClr>
                </a:solidFill>
                <a:latin typeface="微软雅黑" panose="020B0503020204020204" charset="-122"/>
                <a:ea typeface="微软雅黑" panose="020B0503020204020204" charset="-122"/>
                <a:cs typeface="微软雅黑" panose="020B0503020204020204" charset="-122"/>
              </a:rPr>
              <a:t>出平均成绩最高的学生的信息(包括学号、</a:t>
            </a:r>
            <a:r>
              <a:rPr sz="1900" kern="0" spc="60" dirty="0">
                <a:solidFill>
                  <a:srgbClr val="782367">
                    <a:alpha val="100000"/>
                  </a:srgbClr>
                </a:solidFill>
                <a:latin typeface="微软雅黑" panose="020B0503020204020204" charset="-122"/>
                <a:ea typeface="微软雅黑" panose="020B0503020204020204" charset="-122"/>
                <a:cs typeface="微软雅黑" panose="020B0503020204020204" charset="-122"/>
              </a:rPr>
              <a:t>姓名、 3门课程成绩和平均成绩)。</a:t>
            </a:r>
            <a:endParaRPr lang="en-US" altLang="en-US" sz="1900" kern="0" spc="60" dirty="0">
              <a:solidFill>
                <a:srgbClr val="782367">
                  <a:alpha val="100000"/>
                </a:srgbClr>
              </a:solidFill>
              <a:latin typeface="微软雅黑" panose="020B0503020204020204" charset="-122"/>
              <a:ea typeface="微软雅黑" panose="020B0503020204020204" charset="-122"/>
              <a:cs typeface="微软雅黑" panose="020B0503020204020204" charset="-122"/>
            </a:endParaRPr>
          </a:p>
        </p:txBody>
      </p:sp>
      <p:sp>
        <p:nvSpPr>
          <p:cNvPr id="3" name="矩形 2"/>
          <p:cNvSpPr/>
          <p:nvPr>
            <p:custDataLst>
              <p:tags r:id="rId1"/>
            </p:custDataLst>
          </p:nvPr>
        </p:nvSpPr>
        <p:spPr>
          <a:xfrm>
            <a:off x="2919095" y="1835785"/>
            <a:ext cx="6066790" cy="4732655"/>
          </a:xfrm>
          <a:prstGeom prst="rect">
            <a:avLst/>
          </a:prstGeom>
          <a:solidFill>
            <a:schemeClr val="bg1"/>
          </a:solidFill>
          <a:ln>
            <a:solidFill>
              <a:srgbClr val="782367"/>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indent="0" algn="l" fontAlgn="auto">
              <a:lnSpc>
                <a:spcPts val="1800"/>
              </a:lnSpc>
            </a:pPr>
            <a:r>
              <a:rPr lang="zh-CN" altLang="en-US">
                <a:solidFill>
                  <a:schemeClr val="tx1"/>
                </a:solidFill>
              </a:rPr>
              <a:t>{</a:t>
            </a:r>
            <a:r>
              <a:rPr lang="zh-CN" altLang="en-US" sz="1300">
                <a:solidFill>
                  <a:schemeClr val="tx1"/>
                </a:solidFill>
                <a:latin typeface="微软雅黑" panose="020B0503020204020204" charset="-122"/>
                <a:ea typeface="微软雅黑" panose="020B0503020204020204" charset="-122"/>
                <a:cs typeface="微软雅黑" panose="020B0503020204020204" charset="-122"/>
              </a:rPr>
              <a:t> scanf("%d %s %f %f %f",&amp;stu[i].num,stu[i].name,</a:t>
            </a:r>
          </a:p>
          <a:p>
            <a:pPr indent="0" algn="l" fontAlgn="auto">
              <a:lnSpc>
                <a:spcPts val="1800"/>
              </a:lnSpc>
            </a:pPr>
            <a:r>
              <a:rPr lang="zh-CN" altLang="en-US" sz="1300">
                <a:solidFill>
                  <a:schemeClr val="tx1"/>
                </a:solidFill>
                <a:latin typeface="微软雅黑" panose="020B0503020204020204" charset="-122"/>
                <a:ea typeface="微软雅黑" panose="020B0503020204020204" charset="-122"/>
                <a:cs typeface="微软雅黑" panose="020B0503020204020204" charset="-122"/>
              </a:rPr>
              <a:t>&amp;stu[i].score[0],&amp;stu[i].score[1],&amp;stu[i].score[2]); </a:t>
            </a:r>
            <a:r>
              <a:rPr sz="1300" kern="0" dirty="0">
                <a:solidFill>
                  <a:srgbClr val="008000">
                    <a:alpha val="100000"/>
                  </a:srgbClr>
                </a:solidFill>
                <a:latin typeface="微软雅黑" panose="020B0503020204020204" charset="-122"/>
                <a:ea typeface="微软雅黑" panose="020B0503020204020204" charset="-122"/>
                <a:cs typeface="微软雅黑" panose="020B0503020204020204" charset="-122"/>
              </a:rPr>
              <a:t>//输入数据</a:t>
            </a:r>
            <a:endParaRPr lang="zh-CN" altLang="en-US" sz="1300">
              <a:solidFill>
                <a:schemeClr val="tx1"/>
              </a:solidFill>
              <a:latin typeface="微软雅黑" panose="020B0503020204020204" charset="-122"/>
              <a:ea typeface="微软雅黑" panose="020B0503020204020204" charset="-122"/>
              <a:cs typeface="微软雅黑" panose="020B0503020204020204" charset="-122"/>
            </a:endParaRPr>
          </a:p>
          <a:p>
            <a:pPr indent="0" algn="l" fontAlgn="auto">
              <a:lnSpc>
                <a:spcPts val="1800"/>
              </a:lnSpc>
            </a:pPr>
            <a:r>
              <a:rPr lang="zh-CN" altLang="en-US" sz="1300">
                <a:solidFill>
                  <a:schemeClr val="tx1"/>
                </a:solidFill>
                <a:latin typeface="微软雅黑" panose="020B0503020204020204" charset="-122"/>
                <a:ea typeface="微软雅黑" panose="020B0503020204020204" charset="-122"/>
                <a:cs typeface="微软雅黑" panose="020B0503020204020204" charset="-122"/>
              </a:rPr>
              <a:t>stu[i].aver=(stu[i].score[0]+stu[i].score[1]+stu[i].score[2])/3.0;</a:t>
            </a:r>
          </a:p>
          <a:p>
            <a:pPr indent="0" algn="l" fontAlgn="auto">
              <a:lnSpc>
                <a:spcPts val="1800"/>
              </a:lnSpc>
            </a:pPr>
            <a:r>
              <a:rPr sz="1300" kern="0" dirty="0">
                <a:solidFill>
                  <a:srgbClr val="008000">
                    <a:alpha val="100000"/>
                  </a:srgbClr>
                </a:solidFill>
                <a:latin typeface="微软雅黑" panose="020B0503020204020204" charset="-122"/>
                <a:ea typeface="微软雅黑" panose="020B0503020204020204" charset="-122"/>
                <a:cs typeface="微软雅黑" panose="020B0503020204020204" charset="-122"/>
              </a:rPr>
              <a:t>//求平均成绩</a:t>
            </a:r>
          </a:p>
          <a:p>
            <a:pPr indent="0" algn="l" fontAlgn="auto">
              <a:lnSpc>
                <a:spcPts val="1800"/>
              </a:lnSpc>
            </a:pPr>
            <a:r>
              <a:rPr lang="zh-CN" altLang="en-US" sz="1300">
                <a:solidFill>
                  <a:schemeClr val="tx1"/>
                </a:solidFill>
                <a:latin typeface="微软雅黑" panose="020B0503020204020204" charset="-122"/>
                <a:ea typeface="微软雅黑" panose="020B0503020204020204" charset="-122"/>
                <a:cs typeface="微软雅黑" panose="020B0503020204020204" charset="-122"/>
              </a:rPr>
              <a:t>}</a:t>
            </a:r>
          </a:p>
          <a:p>
            <a:pPr indent="0" algn="l" fontAlgn="auto">
              <a:lnSpc>
                <a:spcPts val="1800"/>
              </a:lnSpc>
            </a:pPr>
            <a:r>
              <a:rPr lang="zh-CN" altLang="en-US" sz="1300">
                <a:solidFill>
                  <a:schemeClr val="tx1"/>
                </a:solidFill>
                <a:latin typeface="微软雅黑" panose="020B0503020204020204" charset="-122"/>
                <a:ea typeface="微软雅黑" panose="020B0503020204020204" charset="-122"/>
                <a:cs typeface="微软雅黑" panose="020B0503020204020204" charset="-122"/>
              </a:rPr>
              <a:t>}</a:t>
            </a:r>
          </a:p>
          <a:p>
            <a:pPr indent="0" algn="l" fontAlgn="auto">
              <a:lnSpc>
                <a:spcPts val="1800"/>
              </a:lnSpc>
            </a:pPr>
            <a:r>
              <a:rPr lang="zh-CN" altLang="en-US" sz="1300">
                <a:solidFill>
                  <a:schemeClr val="tx1"/>
                </a:solidFill>
                <a:latin typeface="微软雅黑" panose="020B0503020204020204" charset="-122"/>
                <a:ea typeface="微软雅黑" panose="020B0503020204020204" charset="-122"/>
                <a:cs typeface="微软雅黑" panose="020B0503020204020204" charset="-122"/>
              </a:rPr>
              <a:t>struct Student max(struct Student stu[]) </a:t>
            </a:r>
            <a:r>
              <a:rPr sz="1300" kern="0" dirty="0">
                <a:solidFill>
                  <a:srgbClr val="008000">
                    <a:alpha val="100000"/>
                  </a:srgbClr>
                </a:solidFill>
                <a:latin typeface="微软雅黑" panose="020B0503020204020204" charset="-122"/>
                <a:ea typeface="微软雅黑" panose="020B0503020204020204" charset="-122"/>
                <a:cs typeface="微软雅黑" panose="020B0503020204020204" charset="-122"/>
              </a:rPr>
              <a:t>//定义max函数</a:t>
            </a:r>
            <a:endParaRPr lang="zh-CN" altLang="en-US" sz="1300">
              <a:solidFill>
                <a:schemeClr val="tx1"/>
              </a:solidFill>
              <a:latin typeface="微软雅黑" panose="020B0503020204020204" charset="-122"/>
              <a:ea typeface="微软雅黑" panose="020B0503020204020204" charset="-122"/>
              <a:cs typeface="微软雅黑" panose="020B0503020204020204" charset="-122"/>
            </a:endParaRPr>
          </a:p>
          <a:p>
            <a:pPr indent="0" algn="l" fontAlgn="auto">
              <a:lnSpc>
                <a:spcPts val="1800"/>
              </a:lnSpc>
            </a:pPr>
            <a:r>
              <a:rPr lang="zh-CN" altLang="en-US" sz="1300">
                <a:solidFill>
                  <a:schemeClr val="tx1"/>
                </a:solidFill>
                <a:latin typeface="微软雅黑" panose="020B0503020204020204" charset="-122"/>
                <a:ea typeface="微软雅黑" panose="020B0503020204020204" charset="-122"/>
                <a:cs typeface="微软雅黑" panose="020B0503020204020204" charset="-122"/>
              </a:rPr>
              <a:t>{ int i,m=0;</a:t>
            </a:r>
            <a:r>
              <a:rPr sz="1300" kern="0" dirty="0">
                <a:solidFill>
                  <a:srgbClr val="008000">
                    <a:alpha val="100000"/>
                  </a:srgbClr>
                </a:solidFill>
                <a:latin typeface="微软雅黑" panose="020B0503020204020204" charset="-122"/>
                <a:ea typeface="微软雅黑" panose="020B0503020204020204" charset="-122"/>
                <a:cs typeface="微软雅黑" panose="020B0503020204020204" charset="-122"/>
              </a:rPr>
              <a:t> //用m存放成绩最高的学生在数组中的序号</a:t>
            </a:r>
            <a:endParaRPr lang="zh-CN" altLang="en-US" sz="1300">
              <a:solidFill>
                <a:schemeClr val="tx1"/>
              </a:solidFill>
              <a:latin typeface="微软雅黑" panose="020B0503020204020204" charset="-122"/>
              <a:ea typeface="微软雅黑" panose="020B0503020204020204" charset="-122"/>
              <a:cs typeface="微软雅黑" panose="020B0503020204020204" charset="-122"/>
            </a:endParaRPr>
          </a:p>
          <a:p>
            <a:pPr indent="0" algn="l" fontAlgn="auto">
              <a:lnSpc>
                <a:spcPts val="1800"/>
              </a:lnSpc>
            </a:pPr>
            <a:r>
              <a:rPr lang="zh-CN" altLang="en-US" sz="1300">
                <a:solidFill>
                  <a:schemeClr val="tx1"/>
                </a:solidFill>
                <a:latin typeface="微软雅黑" panose="020B0503020204020204" charset="-122"/>
                <a:ea typeface="微软雅黑" panose="020B0503020204020204" charset="-122"/>
                <a:cs typeface="微软雅黑" panose="020B0503020204020204" charset="-122"/>
              </a:rPr>
              <a:t>for(i=0;i&lt;N;i++)</a:t>
            </a:r>
          </a:p>
          <a:p>
            <a:pPr indent="0" algn="l" fontAlgn="auto">
              <a:lnSpc>
                <a:spcPts val="1800"/>
              </a:lnSpc>
            </a:pPr>
            <a:r>
              <a:rPr lang="zh-CN" altLang="en-US" sz="1300">
                <a:solidFill>
                  <a:schemeClr val="tx1"/>
                </a:solidFill>
                <a:latin typeface="微软雅黑" panose="020B0503020204020204" charset="-122"/>
                <a:ea typeface="微软雅黑" panose="020B0503020204020204" charset="-122"/>
                <a:cs typeface="微软雅黑" panose="020B0503020204020204" charset="-122"/>
              </a:rPr>
              <a:t>if(stu[i].aver&gt;stu[m].aver) m=i;</a:t>
            </a:r>
            <a:r>
              <a:rPr lang="en-US" altLang="zh-CN" sz="1300">
                <a:solidFill>
                  <a:schemeClr val="tx1"/>
                </a:solidFill>
                <a:latin typeface="微软雅黑" panose="020B0503020204020204" charset="-122"/>
                <a:ea typeface="微软雅黑" panose="020B0503020204020204" charset="-122"/>
                <a:cs typeface="微软雅黑" panose="020B0503020204020204" charset="-122"/>
              </a:rPr>
              <a:t>  </a:t>
            </a:r>
            <a:r>
              <a:rPr sz="1300" kern="0" dirty="0">
                <a:solidFill>
                  <a:srgbClr val="008000">
                    <a:alpha val="100000"/>
                  </a:srgbClr>
                </a:solidFill>
                <a:latin typeface="微软雅黑" panose="020B0503020204020204" charset="-122"/>
                <a:ea typeface="微软雅黑" panose="020B0503020204020204" charset="-122"/>
                <a:cs typeface="微软雅黑" panose="020B0503020204020204" charset="-122"/>
              </a:rPr>
              <a:t>//找出平均成绩最高的学生在数组中的序号</a:t>
            </a:r>
          </a:p>
          <a:p>
            <a:pPr indent="0" algn="l" fontAlgn="auto">
              <a:lnSpc>
                <a:spcPts val="1800"/>
              </a:lnSpc>
            </a:pPr>
            <a:r>
              <a:rPr lang="zh-CN" altLang="en-US" sz="1300">
                <a:solidFill>
                  <a:schemeClr val="tx1"/>
                </a:solidFill>
                <a:latin typeface="微软雅黑" panose="020B0503020204020204" charset="-122"/>
                <a:ea typeface="微软雅黑" panose="020B0503020204020204" charset="-122"/>
                <a:cs typeface="微软雅黑" panose="020B0503020204020204" charset="-122"/>
              </a:rPr>
              <a:t>return stu[m]; </a:t>
            </a:r>
            <a:r>
              <a:rPr sz="1300" kern="0" dirty="0">
                <a:solidFill>
                  <a:srgbClr val="008000">
                    <a:alpha val="100000"/>
                  </a:srgbClr>
                </a:solidFill>
                <a:latin typeface="微软雅黑" panose="020B0503020204020204" charset="-122"/>
                <a:ea typeface="微软雅黑" panose="020B0503020204020204" charset="-122"/>
                <a:cs typeface="微软雅黑" panose="020B0503020204020204" charset="-122"/>
              </a:rPr>
              <a:t>//返回包含该生信息的结构体元素</a:t>
            </a:r>
            <a:endParaRPr lang="zh-CN" altLang="en-US" sz="1300">
              <a:solidFill>
                <a:schemeClr val="tx1"/>
              </a:solidFill>
              <a:latin typeface="微软雅黑" panose="020B0503020204020204" charset="-122"/>
              <a:ea typeface="微软雅黑" panose="020B0503020204020204" charset="-122"/>
              <a:cs typeface="微软雅黑" panose="020B0503020204020204" charset="-122"/>
            </a:endParaRPr>
          </a:p>
          <a:p>
            <a:pPr indent="0" algn="l" fontAlgn="auto">
              <a:lnSpc>
                <a:spcPts val="1800"/>
              </a:lnSpc>
            </a:pPr>
            <a:r>
              <a:rPr lang="zh-CN" altLang="en-US" sz="1300">
                <a:solidFill>
                  <a:schemeClr val="tx1"/>
                </a:solidFill>
                <a:latin typeface="微软雅黑" panose="020B0503020204020204" charset="-122"/>
                <a:ea typeface="微软雅黑" panose="020B0503020204020204" charset="-122"/>
                <a:cs typeface="微软雅黑" panose="020B0503020204020204" charset="-122"/>
              </a:rPr>
              <a:t>}</a:t>
            </a:r>
          </a:p>
          <a:p>
            <a:pPr indent="0" algn="l" fontAlgn="auto">
              <a:lnSpc>
                <a:spcPts val="1800"/>
              </a:lnSpc>
            </a:pPr>
            <a:r>
              <a:rPr lang="zh-CN" altLang="en-US" sz="1300">
                <a:solidFill>
                  <a:schemeClr val="tx1"/>
                </a:solidFill>
                <a:latin typeface="微软雅黑" panose="020B0503020204020204" charset="-122"/>
                <a:ea typeface="微软雅黑" panose="020B0503020204020204" charset="-122"/>
                <a:cs typeface="微软雅黑" panose="020B0503020204020204" charset="-122"/>
              </a:rPr>
              <a:t>void print(struct Student stud) </a:t>
            </a:r>
            <a:r>
              <a:rPr sz="1300" kern="0" dirty="0">
                <a:solidFill>
                  <a:srgbClr val="008000">
                    <a:alpha val="100000"/>
                  </a:srgbClr>
                </a:solidFill>
                <a:latin typeface="微软雅黑" panose="020B0503020204020204" charset="-122"/>
                <a:ea typeface="微软雅黑" panose="020B0503020204020204" charset="-122"/>
                <a:cs typeface="微软雅黑" panose="020B0503020204020204" charset="-122"/>
              </a:rPr>
              <a:t>//定义print函数</a:t>
            </a:r>
            <a:endParaRPr lang="zh-CN" altLang="en-US" sz="1300">
              <a:solidFill>
                <a:schemeClr val="tx1"/>
              </a:solidFill>
              <a:latin typeface="微软雅黑" panose="020B0503020204020204" charset="-122"/>
              <a:ea typeface="微软雅黑" panose="020B0503020204020204" charset="-122"/>
              <a:cs typeface="微软雅黑" panose="020B0503020204020204" charset="-122"/>
            </a:endParaRPr>
          </a:p>
          <a:p>
            <a:pPr indent="0" algn="l" fontAlgn="auto">
              <a:lnSpc>
                <a:spcPts val="1800"/>
              </a:lnSpc>
            </a:pPr>
            <a:r>
              <a:rPr lang="zh-CN" altLang="en-US" sz="1300">
                <a:solidFill>
                  <a:schemeClr val="tx1"/>
                </a:solidFill>
                <a:latin typeface="微软雅黑" panose="020B0503020204020204" charset="-122"/>
                <a:ea typeface="微软雅黑" panose="020B0503020204020204" charset="-122"/>
                <a:cs typeface="微软雅黑" panose="020B0503020204020204" charset="-122"/>
              </a:rPr>
              <a:t>{ printf("\n成绩最高的学生是:\n");</a:t>
            </a:r>
          </a:p>
          <a:p>
            <a:pPr indent="0" algn="l" fontAlgn="auto">
              <a:lnSpc>
                <a:spcPts val="1800"/>
              </a:lnSpc>
            </a:pPr>
            <a:r>
              <a:rPr lang="zh-CN" altLang="en-US" sz="1300">
                <a:solidFill>
                  <a:schemeClr val="tx1"/>
                </a:solidFill>
                <a:latin typeface="微软雅黑" panose="020B0503020204020204" charset="-122"/>
                <a:ea typeface="微软雅黑" panose="020B0503020204020204" charset="-122"/>
                <a:cs typeface="微软雅黑" panose="020B0503020204020204" charset="-122"/>
              </a:rPr>
              <a:t>printf("学号:%d\n姓名:%s\n三门课成绩:%5.1f,%5.1f,%5.1f\n平均成绩: </a:t>
            </a:r>
          </a:p>
          <a:p>
            <a:pPr indent="0" algn="l" fontAlgn="auto">
              <a:lnSpc>
                <a:spcPts val="1800"/>
              </a:lnSpc>
            </a:pPr>
            <a:r>
              <a:rPr lang="zh-CN" altLang="en-US" sz="1300">
                <a:solidFill>
                  <a:schemeClr val="tx1"/>
                </a:solidFill>
                <a:latin typeface="微软雅黑" panose="020B0503020204020204" charset="-122"/>
                <a:ea typeface="微软雅黑" panose="020B0503020204020204" charset="-122"/>
                <a:cs typeface="微软雅黑" panose="020B0503020204020204" charset="-122"/>
              </a:rPr>
              <a:t>%6.2f\n",stud.num,stud.name,stud.score[0],stud.score[1],stud.score[2],stud.aver);</a:t>
            </a:r>
          </a:p>
          <a:p>
            <a:pPr indent="0" algn="l" fontAlgn="auto">
              <a:lnSpc>
                <a:spcPts val="1800"/>
              </a:lnSpc>
            </a:pPr>
            <a:r>
              <a:rPr lang="zh-CN" altLang="en-US" sz="1300">
                <a:solidFill>
                  <a:schemeClr val="tx1"/>
                </a:solidFill>
                <a:latin typeface="微软雅黑" panose="020B0503020204020204" charset="-122"/>
                <a:ea typeface="微软雅黑" panose="020B0503020204020204" charset="-122"/>
                <a:cs typeface="微软雅黑" panose="020B0503020204020204" charset="-122"/>
              </a:rPr>
              <a: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44" name="textbox 8844"/>
          <p:cNvSpPr/>
          <p:nvPr/>
        </p:nvSpPr>
        <p:spPr>
          <a:xfrm>
            <a:off x="331238" y="527449"/>
            <a:ext cx="8535669" cy="1273811"/>
          </a:xfrm>
          <a:prstGeom prst="rect">
            <a:avLst/>
          </a:prstGeom>
        </p:spPr>
        <p:txBody>
          <a:bodyPr vert="horz" wrap="square" lIns="0" tIns="0" rIns="0" bIns="0"/>
          <a:lstStyle/>
          <a:p>
            <a:pPr algn="l" rtl="0" eaLnBrk="0">
              <a:lnSpc>
                <a:spcPct val="95000"/>
              </a:lnSpc>
            </a:pPr>
            <a:endParaRPr lang="en-US" altLang="en-US" sz="135" dirty="0"/>
          </a:p>
          <a:p>
            <a:pPr marL="133350" algn="l" rtl="0" eaLnBrk="0">
              <a:lnSpc>
                <a:spcPct val="99000"/>
              </a:lnSpc>
            </a:pPr>
            <a:r>
              <a:rPr sz="3100"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rPr>
              <a:t>用结构体变量和结构体变量的指针作函数参数</a:t>
            </a:r>
            <a:endParaRPr lang="en-US" altLang="en-US" sz="3100" dirty="0"/>
          </a:p>
          <a:p>
            <a:pPr algn="l" rtl="0" eaLnBrk="0">
              <a:lnSpc>
                <a:spcPct val="101000"/>
              </a:lnSpc>
            </a:pPr>
            <a:endParaRPr lang="en-US" altLang="en-US" sz="800" dirty="0"/>
          </a:p>
          <a:p>
            <a:pPr algn="l" rtl="0" eaLnBrk="0">
              <a:lnSpc>
                <a:spcPct val="8000"/>
              </a:lnSpc>
            </a:pPr>
            <a:endParaRPr lang="en-US" altLang="en-US" sz="135" dirty="0"/>
          </a:p>
          <a:p>
            <a:pPr marL="104775" indent="31115" algn="l" rtl="0" eaLnBrk="0">
              <a:lnSpc>
                <a:spcPct val="113000"/>
              </a:lnSpc>
            </a:pPr>
            <a:r>
              <a:rPr sz="1900" kern="0" spc="60" dirty="0">
                <a:solidFill>
                  <a:srgbClr val="782367">
                    <a:alpha val="100000"/>
                  </a:srgbClr>
                </a:solidFill>
                <a:latin typeface="微软雅黑" panose="020B0503020204020204" charset="-122"/>
                <a:ea typeface="微软雅黑" panose="020B0503020204020204" charset="-122"/>
                <a:cs typeface="微软雅黑" panose="020B0503020204020204" charset="-122"/>
              </a:rPr>
              <a:t>【例</a:t>
            </a:r>
            <a:r>
              <a:rPr lang="en-US" sz="1900" kern="0" spc="60" dirty="0">
                <a:solidFill>
                  <a:srgbClr val="782367">
                    <a:alpha val="100000"/>
                  </a:srgbClr>
                </a:solidFill>
                <a:latin typeface="微软雅黑" panose="020B0503020204020204" charset="-122"/>
                <a:ea typeface="微软雅黑" panose="020B0503020204020204" charset="-122"/>
                <a:cs typeface="微软雅黑" panose="020B0503020204020204" charset="-122"/>
              </a:rPr>
              <a:t>7</a:t>
            </a:r>
            <a:r>
              <a:rPr sz="1900" kern="0" spc="60" dirty="0">
                <a:solidFill>
                  <a:srgbClr val="782367">
                    <a:alpha val="100000"/>
                  </a:srgbClr>
                </a:solidFill>
                <a:latin typeface="微软雅黑" panose="020B0503020204020204" charset="-122"/>
                <a:ea typeface="微软雅黑" panose="020B0503020204020204" charset="-122"/>
                <a:cs typeface="微软雅黑" panose="020B0503020204020204" charset="-122"/>
              </a:rPr>
              <a:t>.7】有n个结构体变量，内含学生学号、姓名和3门课程的成绩。要</a:t>
            </a:r>
            <a:r>
              <a:rPr sz="1900" kern="0" spc="50" dirty="0">
                <a:solidFill>
                  <a:srgbClr val="782367">
                    <a:alpha val="100000"/>
                  </a:srgbClr>
                </a:solidFill>
                <a:latin typeface="微软雅黑" panose="020B0503020204020204" charset="-122"/>
                <a:ea typeface="微软雅黑" panose="020B0503020204020204" charset="-122"/>
                <a:cs typeface="微软雅黑" panose="020B0503020204020204" charset="-122"/>
              </a:rPr>
              <a:t>求输</a:t>
            </a:r>
            <a:r>
              <a:rPr sz="1900" kern="0" spc="-10" dirty="0">
                <a:solidFill>
                  <a:srgbClr val="782367">
                    <a:alpha val="100000"/>
                  </a:srgbClr>
                </a:solidFill>
                <a:latin typeface="微软雅黑" panose="020B0503020204020204" charset="-122"/>
                <a:ea typeface="微软雅黑" panose="020B0503020204020204" charset="-122"/>
                <a:cs typeface="微软雅黑" panose="020B0503020204020204" charset="-122"/>
              </a:rPr>
              <a:t> </a:t>
            </a:r>
            <a:r>
              <a:rPr sz="1900" kern="0" spc="70" dirty="0">
                <a:solidFill>
                  <a:srgbClr val="782367">
                    <a:alpha val="100000"/>
                  </a:srgbClr>
                </a:solidFill>
                <a:latin typeface="微软雅黑" panose="020B0503020204020204" charset="-122"/>
                <a:ea typeface="微软雅黑" panose="020B0503020204020204" charset="-122"/>
                <a:cs typeface="微软雅黑" panose="020B0503020204020204" charset="-122"/>
              </a:rPr>
              <a:t>出平均成绩最高的学生的信息(包括学号、</a:t>
            </a:r>
            <a:r>
              <a:rPr sz="1900" kern="0" spc="60" dirty="0">
                <a:solidFill>
                  <a:srgbClr val="782367">
                    <a:alpha val="100000"/>
                  </a:srgbClr>
                </a:solidFill>
                <a:latin typeface="微软雅黑" panose="020B0503020204020204" charset="-122"/>
                <a:ea typeface="微软雅黑" panose="020B0503020204020204" charset="-122"/>
                <a:cs typeface="微软雅黑" panose="020B0503020204020204" charset="-122"/>
              </a:rPr>
              <a:t>姓名、 3门课程成绩和平均成绩)。</a:t>
            </a:r>
            <a:endParaRPr lang="en-US" altLang="en-US" sz="1900" kern="0" spc="60" dirty="0">
              <a:solidFill>
                <a:srgbClr val="782367">
                  <a:alpha val="100000"/>
                </a:srgbClr>
              </a:solidFill>
              <a:latin typeface="微软雅黑" panose="020B0503020204020204" charset="-122"/>
              <a:ea typeface="微软雅黑" panose="020B0503020204020204" charset="-122"/>
              <a:cs typeface="微软雅黑" panose="020B0503020204020204" charset="-122"/>
            </a:endParaRPr>
          </a:p>
        </p:txBody>
      </p:sp>
      <p:sp>
        <p:nvSpPr>
          <p:cNvPr id="3" name="矩形 2"/>
          <p:cNvSpPr/>
          <p:nvPr>
            <p:custDataLst>
              <p:tags r:id="rId1"/>
            </p:custDataLst>
          </p:nvPr>
        </p:nvSpPr>
        <p:spPr>
          <a:xfrm>
            <a:off x="2919095" y="1835785"/>
            <a:ext cx="6066790" cy="4732655"/>
          </a:xfrm>
          <a:prstGeom prst="rect">
            <a:avLst/>
          </a:prstGeom>
          <a:solidFill>
            <a:schemeClr val="bg1"/>
          </a:solidFill>
          <a:ln>
            <a:solidFill>
              <a:srgbClr val="782367"/>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indent="0" algn="l" fontAlgn="auto">
              <a:lnSpc>
                <a:spcPts val="1800"/>
              </a:lnSpc>
            </a:pPr>
            <a:r>
              <a:rPr lang="zh-CN" altLang="en-US">
                <a:solidFill>
                  <a:schemeClr val="tx1"/>
                </a:solidFill>
              </a:rPr>
              <a:t>{</a:t>
            </a:r>
            <a:r>
              <a:rPr lang="zh-CN" altLang="en-US" sz="1300">
                <a:solidFill>
                  <a:schemeClr val="tx1"/>
                </a:solidFill>
                <a:latin typeface="微软雅黑" panose="020B0503020204020204" charset="-122"/>
                <a:ea typeface="微软雅黑" panose="020B0503020204020204" charset="-122"/>
                <a:cs typeface="微软雅黑" panose="020B0503020204020204" charset="-122"/>
              </a:rPr>
              <a:t> scanf("%d %s %f %f %f",&amp;stu[i].num,stu[i].name,</a:t>
            </a:r>
          </a:p>
          <a:p>
            <a:pPr indent="0" algn="l" fontAlgn="auto">
              <a:lnSpc>
                <a:spcPts val="1800"/>
              </a:lnSpc>
            </a:pPr>
            <a:r>
              <a:rPr lang="zh-CN" altLang="en-US" sz="1300">
                <a:solidFill>
                  <a:schemeClr val="tx1"/>
                </a:solidFill>
                <a:latin typeface="微软雅黑" panose="020B0503020204020204" charset="-122"/>
                <a:ea typeface="微软雅黑" panose="020B0503020204020204" charset="-122"/>
                <a:cs typeface="微软雅黑" panose="020B0503020204020204" charset="-122"/>
              </a:rPr>
              <a:t>&amp;stu[i].score[0],&amp;stu[i].score[1],&amp;stu[i].score[2]); </a:t>
            </a:r>
            <a:r>
              <a:rPr sz="1300" kern="0" dirty="0">
                <a:solidFill>
                  <a:srgbClr val="008000">
                    <a:alpha val="100000"/>
                  </a:srgbClr>
                </a:solidFill>
                <a:latin typeface="微软雅黑" panose="020B0503020204020204" charset="-122"/>
                <a:ea typeface="微软雅黑" panose="020B0503020204020204" charset="-122"/>
                <a:cs typeface="微软雅黑" panose="020B0503020204020204" charset="-122"/>
              </a:rPr>
              <a:t>//输入数据</a:t>
            </a:r>
            <a:endParaRPr lang="zh-CN" altLang="en-US" sz="1300">
              <a:solidFill>
                <a:schemeClr val="tx1"/>
              </a:solidFill>
              <a:latin typeface="微软雅黑" panose="020B0503020204020204" charset="-122"/>
              <a:ea typeface="微软雅黑" panose="020B0503020204020204" charset="-122"/>
              <a:cs typeface="微软雅黑" panose="020B0503020204020204" charset="-122"/>
            </a:endParaRPr>
          </a:p>
          <a:p>
            <a:pPr indent="0" algn="l" fontAlgn="auto">
              <a:lnSpc>
                <a:spcPts val="1800"/>
              </a:lnSpc>
            </a:pPr>
            <a:r>
              <a:rPr lang="zh-CN" altLang="en-US" sz="1300">
                <a:solidFill>
                  <a:schemeClr val="tx1"/>
                </a:solidFill>
                <a:latin typeface="微软雅黑" panose="020B0503020204020204" charset="-122"/>
                <a:ea typeface="微软雅黑" panose="020B0503020204020204" charset="-122"/>
                <a:cs typeface="微软雅黑" panose="020B0503020204020204" charset="-122"/>
              </a:rPr>
              <a:t>stu[i].aver=(stu[i].score[0]+stu[i].score[1]+stu[i].score[2])/3.0;</a:t>
            </a:r>
          </a:p>
          <a:p>
            <a:pPr indent="0" algn="l" fontAlgn="auto">
              <a:lnSpc>
                <a:spcPts val="1800"/>
              </a:lnSpc>
            </a:pPr>
            <a:r>
              <a:rPr sz="1300" kern="0" dirty="0">
                <a:solidFill>
                  <a:srgbClr val="008000">
                    <a:alpha val="100000"/>
                  </a:srgbClr>
                </a:solidFill>
                <a:latin typeface="微软雅黑" panose="020B0503020204020204" charset="-122"/>
                <a:ea typeface="微软雅黑" panose="020B0503020204020204" charset="-122"/>
                <a:cs typeface="微软雅黑" panose="020B0503020204020204" charset="-122"/>
              </a:rPr>
              <a:t>//求平均成绩</a:t>
            </a:r>
          </a:p>
          <a:p>
            <a:pPr indent="0" algn="l" fontAlgn="auto">
              <a:lnSpc>
                <a:spcPts val="1800"/>
              </a:lnSpc>
            </a:pPr>
            <a:r>
              <a:rPr lang="zh-CN" altLang="en-US" sz="1300">
                <a:solidFill>
                  <a:schemeClr val="tx1"/>
                </a:solidFill>
                <a:latin typeface="微软雅黑" panose="020B0503020204020204" charset="-122"/>
                <a:ea typeface="微软雅黑" panose="020B0503020204020204" charset="-122"/>
                <a:cs typeface="微软雅黑" panose="020B0503020204020204" charset="-122"/>
              </a:rPr>
              <a:t>}</a:t>
            </a:r>
          </a:p>
          <a:p>
            <a:pPr indent="0" algn="l" fontAlgn="auto">
              <a:lnSpc>
                <a:spcPts val="1800"/>
              </a:lnSpc>
            </a:pPr>
            <a:r>
              <a:rPr lang="zh-CN" altLang="en-US" sz="1300">
                <a:solidFill>
                  <a:schemeClr val="tx1"/>
                </a:solidFill>
                <a:latin typeface="微软雅黑" panose="020B0503020204020204" charset="-122"/>
                <a:ea typeface="微软雅黑" panose="020B0503020204020204" charset="-122"/>
                <a:cs typeface="微软雅黑" panose="020B0503020204020204" charset="-122"/>
              </a:rPr>
              <a:t>}</a:t>
            </a:r>
          </a:p>
          <a:p>
            <a:pPr indent="0" algn="l" fontAlgn="auto">
              <a:lnSpc>
                <a:spcPts val="1800"/>
              </a:lnSpc>
            </a:pPr>
            <a:r>
              <a:rPr lang="zh-CN" altLang="en-US" sz="1300">
                <a:solidFill>
                  <a:schemeClr val="tx1"/>
                </a:solidFill>
                <a:latin typeface="微软雅黑" panose="020B0503020204020204" charset="-122"/>
                <a:ea typeface="微软雅黑" panose="020B0503020204020204" charset="-122"/>
                <a:cs typeface="微软雅黑" panose="020B0503020204020204" charset="-122"/>
              </a:rPr>
              <a:t>struct Student max(struct Student stu[]) </a:t>
            </a:r>
            <a:r>
              <a:rPr sz="1300" kern="0" dirty="0">
                <a:solidFill>
                  <a:srgbClr val="008000">
                    <a:alpha val="100000"/>
                  </a:srgbClr>
                </a:solidFill>
                <a:latin typeface="微软雅黑" panose="020B0503020204020204" charset="-122"/>
                <a:ea typeface="微软雅黑" panose="020B0503020204020204" charset="-122"/>
                <a:cs typeface="微软雅黑" panose="020B0503020204020204" charset="-122"/>
              </a:rPr>
              <a:t>//定义max函数</a:t>
            </a:r>
            <a:endParaRPr lang="zh-CN" altLang="en-US" sz="1300">
              <a:solidFill>
                <a:schemeClr val="tx1"/>
              </a:solidFill>
              <a:latin typeface="微软雅黑" panose="020B0503020204020204" charset="-122"/>
              <a:ea typeface="微软雅黑" panose="020B0503020204020204" charset="-122"/>
              <a:cs typeface="微软雅黑" panose="020B0503020204020204" charset="-122"/>
            </a:endParaRPr>
          </a:p>
          <a:p>
            <a:pPr indent="0" algn="l" fontAlgn="auto">
              <a:lnSpc>
                <a:spcPts val="1800"/>
              </a:lnSpc>
            </a:pPr>
            <a:r>
              <a:rPr lang="zh-CN" altLang="en-US" sz="1300">
                <a:solidFill>
                  <a:schemeClr val="tx1"/>
                </a:solidFill>
                <a:latin typeface="微软雅黑" panose="020B0503020204020204" charset="-122"/>
                <a:ea typeface="微软雅黑" panose="020B0503020204020204" charset="-122"/>
                <a:cs typeface="微软雅黑" panose="020B0503020204020204" charset="-122"/>
              </a:rPr>
              <a:t>{ int i,m=0;</a:t>
            </a:r>
            <a:r>
              <a:rPr sz="1300" kern="0" dirty="0">
                <a:solidFill>
                  <a:srgbClr val="008000">
                    <a:alpha val="100000"/>
                  </a:srgbClr>
                </a:solidFill>
                <a:latin typeface="微软雅黑" panose="020B0503020204020204" charset="-122"/>
                <a:ea typeface="微软雅黑" panose="020B0503020204020204" charset="-122"/>
                <a:cs typeface="微软雅黑" panose="020B0503020204020204" charset="-122"/>
              </a:rPr>
              <a:t> //用m存放成绩最高的学生在数组中的序号</a:t>
            </a:r>
            <a:endParaRPr lang="zh-CN" altLang="en-US" sz="1300">
              <a:solidFill>
                <a:schemeClr val="tx1"/>
              </a:solidFill>
              <a:latin typeface="微软雅黑" panose="020B0503020204020204" charset="-122"/>
              <a:ea typeface="微软雅黑" panose="020B0503020204020204" charset="-122"/>
              <a:cs typeface="微软雅黑" panose="020B0503020204020204" charset="-122"/>
            </a:endParaRPr>
          </a:p>
          <a:p>
            <a:pPr indent="0" algn="l" fontAlgn="auto">
              <a:lnSpc>
                <a:spcPts val="1800"/>
              </a:lnSpc>
            </a:pPr>
            <a:r>
              <a:rPr lang="zh-CN" altLang="en-US" sz="1300">
                <a:solidFill>
                  <a:schemeClr val="tx1"/>
                </a:solidFill>
                <a:latin typeface="微软雅黑" panose="020B0503020204020204" charset="-122"/>
                <a:ea typeface="微软雅黑" panose="020B0503020204020204" charset="-122"/>
                <a:cs typeface="微软雅黑" panose="020B0503020204020204" charset="-122"/>
              </a:rPr>
              <a:t>for(i=0;i&lt;N;i++)</a:t>
            </a:r>
          </a:p>
          <a:p>
            <a:pPr indent="0" algn="l" fontAlgn="auto">
              <a:lnSpc>
                <a:spcPts val="1800"/>
              </a:lnSpc>
            </a:pPr>
            <a:r>
              <a:rPr lang="zh-CN" altLang="en-US" sz="1300">
                <a:solidFill>
                  <a:schemeClr val="tx1"/>
                </a:solidFill>
                <a:latin typeface="微软雅黑" panose="020B0503020204020204" charset="-122"/>
                <a:ea typeface="微软雅黑" panose="020B0503020204020204" charset="-122"/>
                <a:cs typeface="微软雅黑" panose="020B0503020204020204" charset="-122"/>
              </a:rPr>
              <a:t>if(stu[i].aver&gt;stu[m].aver) m=i;</a:t>
            </a:r>
            <a:r>
              <a:rPr lang="en-US" altLang="zh-CN" sz="1300">
                <a:solidFill>
                  <a:schemeClr val="tx1"/>
                </a:solidFill>
                <a:latin typeface="微软雅黑" panose="020B0503020204020204" charset="-122"/>
                <a:ea typeface="微软雅黑" panose="020B0503020204020204" charset="-122"/>
                <a:cs typeface="微软雅黑" panose="020B0503020204020204" charset="-122"/>
              </a:rPr>
              <a:t>  </a:t>
            </a:r>
            <a:r>
              <a:rPr sz="1300" kern="0" dirty="0">
                <a:solidFill>
                  <a:srgbClr val="008000">
                    <a:alpha val="100000"/>
                  </a:srgbClr>
                </a:solidFill>
                <a:latin typeface="微软雅黑" panose="020B0503020204020204" charset="-122"/>
                <a:ea typeface="微软雅黑" panose="020B0503020204020204" charset="-122"/>
                <a:cs typeface="微软雅黑" panose="020B0503020204020204" charset="-122"/>
              </a:rPr>
              <a:t>//找出平均成绩最高的学生在数组中的序号</a:t>
            </a:r>
          </a:p>
          <a:p>
            <a:pPr indent="0" algn="l" fontAlgn="auto">
              <a:lnSpc>
                <a:spcPts val="1800"/>
              </a:lnSpc>
            </a:pPr>
            <a:r>
              <a:rPr lang="zh-CN" altLang="en-US" sz="1300">
                <a:solidFill>
                  <a:schemeClr val="tx1"/>
                </a:solidFill>
                <a:latin typeface="微软雅黑" panose="020B0503020204020204" charset="-122"/>
                <a:ea typeface="微软雅黑" panose="020B0503020204020204" charset="-122"/>
                <a:cs typeface="微软雅黑" panose="020B0503020204020204" charset="-122"/>
              </a:rPr>
              <a:t>return stu[m]; </a:t>
            </a:r>
            <a:r>
              <a:rPr sz="1300" kern="0" dirty="0">
                <a:solidFill>
                  <a:srgbClr val="008000">
                    <a:alpha val="100000"/>
                  </a:srgbClr>
                </a:solidFill>
                <a:latin typeface="微软雅黑" panose="020B0503020204020204" charset="-122"/>
                <a:ea typeface="微软雅黑" panose="020B0503020204020204" charset="-122"/>
                <a:cs typeface="微软雅黑" panose="020B0503020204020204" charset="-122"/>
              </a:rPr>
              <a:t>//返回包含该生信息的结构体元素</a:t>
            </a:r>
            <a:endParaRPr lang="zh-CN" altLang="en-US" sz="1300">
              <a:solidFill>
                <a:schemeClr val="tx1"/>
              </a:solidFill>
              <a:latin typeface="微软雅黑" panose="020B0503020204020204" charset="-122"/>
              <a:ea typeface="微软雅黑" panose="020B0503020204020204" charset="-122"/>
              <a:cs typeface="微软雅黑" panose="020B0503020204020204" charset="-122"/>
            </a:endParaRPr>
          </a:p>
          <a:p>
            <a:pPr indent="0" algn="l" fontAlgn="auto">
              <a:lnSpc>
                <a:spcPts val="1800"/>
              </a:lnSpc>
            </a:pPr>
            <a:r>
              <a:rPr lang="zh-CN" altLang="en-US" sz="1300">
                <a:solidFill>
                  <a:schemeClr val="tx1"/>
                </a:solidFill>
                <a:latin typeface="微软雅黑" panose="020B0503020204020204" charset="-122"/>
                <a:ea typeface="微软雅黑" panose="020B0503020204020204" charset="-122"/>
                <a:cs typeface="微软雅黑" panose="020B0503020204020204" charset="-122"/>
              </a:rPr>
              <a:t>}</a:t>
            </a:r>
          </a:p>
          <a:p>
            <a:pPr indent="0" algn="l" fontAlgn="auto">
              <a:lnSpc>
                <a:spcPts val="1800"/>
              </a:lnSpc>
            </a:pPr>
            <a:r>
              <a:rPr lang="zh-CN" altLang="en-US" sz="1300">
                <a:solidFill>
                  <a:schemeClr val="tx1"/>
                </a:solidFill>
                <a:latin typeface="微软雅黑" panose="020B0503020204020204" charset="-122"/>
                <a:ea typeface="微软雅黑" panose="020B0503020204020204" charset="-122"/>
                <a:cs typeface="微软雅黑" panose="020B0503020204020204" charset="-122"/>
              </a:rPr>
              <a:t>void print(struct Student stud) </a:t>
            </a:r>
            <a:r>
              <a:rPr sz="1300" kern="0" dirty="0">
                <a:solidFill>
                  <a:srgbClr val="008000">
                    <a:alpha val="100000"/>
                  </a:srgbClr>
                </a:solidFill>
                <a:latin typeface="微软雅黑" panose="020B0503020204020204" charset="-122"/>
                <a:ea typeface="微软雅黑" panose="020B0503020204020204" charset="-122"/>
                <a:cs typeface="微软雅黑" panose="020B0503020204020204" charset="-122"/>
              </a:rPr>
              <a:t>//定义print函数</a:t>
            </a:r>
            <a:endParaRPr lang="zh-CN" altLang="en-US" sz="1300">
              <a:solidFill>
                <a:schemeClr val="tx1"/>
              </a:solidFill>
              <a:latin typeface="微软雅黑" panose="020B0503020204020204" charset="-122"/>
              <a:ea typeface="微软雅黑" panose="020B0503020204020204" charset="-122"/>
              <a:cs typeface="微软雅黑" panose="020B0503020204020204" charset="-122"/>
            </a:endParaRPr>
          </a:p>
          <a:p>
            <a:pPr indent="0" algn="l" fontAlgn="auto">
              <a:lnSpc>
                <a:spcPts val="1800"/>
              </a:lnSpc>
            </a:pPr>
            <a:r>
              <a:rPr lang="zh-CN" altLang="en-US" sz="1300">
                <a:solidFill>
                  <a:schemeClr val="tx1"/>
                </a:solidFill>
                <a:latin typeface="微软雅黑" panose="020B0503020204020204" charset="-122"/>
                <a:ea typeface="微软雅黑" panose="020B0503020204020204" charset="-122"/>
                <a:cs typeface="微软雅黑" panose="020B0503020204020204" charset="-122"/>
              </a:rPr>
              <a:t>{ printf("\n成绩最高的学生是:\n");</a:t>
            </a:r>
          </a:p>
          <a:p>
            <a:pPr indent="0" algn="l" fontAlgn="auto">
              <a:lnSpc>
                <a:spcPts val="1800"/>
              </a:lnSpc>
            </a:pPr>
            <a:r>
              <a:rPr lang="zh-CN" altLang="en-US" sz="1300">
                <a:solidFill>
                  <a:schemeClr val="tx1"/>
                </a:solidFill>
                <a:latin typeface="微软雅黑" panose="020B0503020204020204" charset="-122"/>
                <a:ea typeface="微软雅黑" panose="020B0503020204020204" charset="-122"/>
                <a:cs typeface="微软雅黑" panose="020B0503020204020204" charset="-122"/>
              </a:rPr>
              <a:t>printf("学号:%d\n姓名:%s\n三门课成绩:%5.1f,%5.1f,%5.1f\n平均成绩: </a:t>
            </a:r>
          </a:p>
          <a:p>
            <a:pPr indent="0" algn="l" fontAlgn="auto">
              <a:lnSpc>
                <a:spcPts val="1800"/>
              </a:lnSpc>
            </a:pPr>
            <a:r>
              <a:rPr lang="zh-CN" altLang="en-US" sz="1300">
                <a:solidFill>
                  <a:schemeClr val="tx1"/>
                </a:solidFill>
                <a:latin typeface="微软雅黑" panose="020B0503020204020204" charset="-122"/>
                <a:ea typeface="微软雅黑" panose="020B0503020204020204" charset="-122"/>
                <a:cs typeface="微软雅黑" panose="020B0503020204020204" charset="-122"/>
              </a:rPr>
              <a:t>%6.2f\n",stud.num,stud.name,stud.score[0],stud.score[1],stud.score[2],stud.aver);</a:t>
            </a:r>
          </a:p>
          <a:p>
            <a:pPr indent="0" algn="l" fontAlgn="auto">
              <a:lnSpc>
                <a:spcPts val="1800"/>
              </a:lnSpc>
            </a:pPr>
            <a:r>
              <a:rPr lang="zh-CN" altLang="en-US" sz="1300">
                <a:solidFill>
                  <a:schemeClr val="tx1"/>
                </a:solidFill>
                <a:latin typeface="微软雅黑" panose="020B0503020204020204" charset="-122"/>
                <a:ea typeface="微软雅黑" panose="020B0503020204020204" charset="-122"/>
                <a:cs typeface="微软雅黑" panose="020B0503020204020204" charset="-122"/>
              </a:rPr>
              <a:t>}</a:t>
            </a:r>
          </a:p>
        </p:txBody>
      </p:sp>
      <p:pic>
        <p:nvPicPr>
          <p:cNvPr id="4" name="图片 3"/>
          <p:cNvPicPr>
            <a:picLocks noChangeAspect="1"/>
          </p:cNvPicPr>
          <p:nvPr>
            <p:custDataLst>
              <p:tags r:id="rId2"/>
            </p:custDataLst>
          </p:nvPr>
        </p:nvPicPr>
        <p:blipFill>
          <a:blip r:embed="rId5"/>
          <a:stretch>
            <a:fillRect/>
          </a:stretch>
        </p:blipFill>
        <p:spPr>
          <a:xfrm>
            <a:off x="7734935" y="1136650"/>
            <a:ext cx="4457700" cy="236855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81923"/>
          <p:cNvSpPr txBox="1"/>
          <p:nvPr/>
        </p:nvSpPr>
        <p:spPr>
          <a:xfrm>
            <a:off x="2185000" y="446405"/>
            <a:ext cx="7823200" cy="2432051"/>
          </a:xfrm>
          <a:prstGeom prst="rect">
            <a:avLst/>
          </a:prstGeom>
          <a:noFill/>
          <a:ln w="9525">
            <a:noFill/>
          </a:ln>
        </p:spPr>
        <p:txBody>
          <a:bodyPr anchor="b"/>
          <a:lstStyle>
            <a:lvl1pPr marL="0" lvl="0" indent="0" algn="r" defTabSz="914400" rtl="0" eaLnBrk="1" fontAlgn="base" latinLnBrk="0" hangingPunct="1">
              <a:lnSpc>
                <a:spcPct val="100000"/>
              </a:lnSpc>
              <a:spcBef>
                <a:spcPct val="0"/>
              </a:spcBef>
              <a:spcAft>
                <a:spcPct val="0"/>
              </a:spcAft>
              <a:buClrTx/>
              <a:buSzTx/>
              <a:buFontTx/>
              <a:buNone/>
              <a:defRPr sz="4800" b="1" i="0" u="none" kern="1200" baseline="0">
                <a:solidFill>
                  <a:schemeClr val="tx2"/>
                </a:solidFill>
                <a:latin typeface="+mj-lt"/>
                <a:ea typeface="+mj-ea"/>
                <a:cs typeface="+mj-cs"/>
              </a:defRPr>
            </a:lvl1pPr>
          </a:lstStyle>
          <a:p>
            <a:pPr algn="ctr"/>
            <a:r>
              <a:rPr lang="zh-CN" altLang="en-US" noProof="1">
                <a:solidFill>
                  <a:srgbClr val="330066"/>
                </a:solidFill>
                <a:effectLst>
                  <a:outerShdw blurRad="38100" dist="38100" dir="2700000">
                    <a:srgbClr val="C0C0C0"/>
                  </a:outerShdw>
                </a:effectLst>
                <a:latin typeface="Arial" panose="020B0604020202090204" pitchFamily="34" charset="0"/>
                <a:ea typeface="隶书" panose="02010509060101010101" pitchFamily="49" charset="-122"/>
              </a:rPr>
              <a:t>*用指针处理链表</a:t>
            </a:r>
          </a:p>
        </p:txBody>
      </p:sp>
      <p:cxnSp>
        <p:nvCxnSpPr>
          <p:cNvPr id="4" name="直接连接符 3"/>
          <p:cNvCxnSpPr/>
          <p:nvPr/>
        </p:nvCxnSpPr>
        <p:spPr>
          <a:xfrm>
            <a:off x="432400" y="3136069"/>
            <a:ext cx="11328400" cy="0"/>
          </a:xfrm>
          <a:prstGeom prst="line">
            <a:avLst/>
          </a:prstGeom>
          <a:ln w="25400">
            <a:solidFill>
              <a:srgbClr val="782367"/>
            </a:solidFill>
          </a:ln>
        </p:spPr>
        <p:style>
          <a:lnRef idx="1">
            <a:schemeClr val="accent1"/>
          </a:lnRef>
          <a:fillRef idx="0">
            <a:schemeClr val="accent1"/>
          </a:fillRef>
          <a:effectRef idx="0">
            <a:schemeClr val="accent1"/>
          </a:effectRef>
          <a:fontRef idx="minor">
            <a:schemeClr val="tx1"/>
          </a:fontRef>
        </p:style>
      </p:cxn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32431" y="246671"/>
            <a:ext cx="573807" cy="573807"/>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66" name="textbox 8866"/>
          <p:cNvSpPr/>
          <p:nvPr/>
        </p:nvSpPr>
        <p:spPr>
          <a:xfrm>
            <a:off x="630038" y="3440557"/>
            <a:ext cx="10624184" cy="2534920"/>
          </a:xfrm>
          <a:prstGeom prst="rect">
            <a:avLst/>
          </a:prstGeom>
        </p:spPr>
        <p:txBody>
          <a:bodyPr vert="horz" wrap="square" lIns="0" tIns="0" rIns="0" bIns="0"/>
          <a:lstStyle/>
          <a:p>
            <a:pPr algn="l" rtl="0" eaLnBrk="0">
              <a:lnSpc>
                <a:spcPct val="80000"/>
              </a:lnSpc>
            </a:pPr>
            <a:endParaRPr lang="en-US" altLang="en-US" sz="135" dirty="0"/>
          </a:p>
          <a:p>
            <a:pPr marL="12700" algn="l" rtl="0" eaLnBrk="0">
              <a:lnSpc>
                <a:spcPct val="87000"/>
              </a:lnSpc>
            </a:pPr>
            <a:r>
              <a:rPr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rPr>
              <a:t>链表有一个“</a:t>
            </a:r>
            <a:r>
              <a:rPr b="1"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rPr>
              <a:t>头指针</a:t>
            </a:r>
            <a:r>
              <a:rPr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rPr>
              <a:t>”变量，</a:t>
            </a:r>
            <a:r>
              <a:rPr kern="0" spc="-17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rPr>
              <a:t>图中以head表示，</a:t>
            </a:r>
            <a:r>
              <a:rPr kern="0" spc="-19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rPr>
              <a:t>它存放一个地址，</a:t>
            </a:r>
            <a:r>
              <a:rPr kern="0" spc="-28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rPr>
              <a:t>该地址指向一</a:t>
            </a:r>
            <a:r>
              <a:rPr kern="0" spc="-100" dirty="0">
                <a:solidFill>
                  <a:srgbClr val="000000">
                    <a:alpha val="100000"/>
                  </a:srgbClr>
                </a:solidFill>
                <a:latin typeface="微软雅黑" panose="020B0503020204020204" charset="-122"/>
                <a:ea typeface="微软雅黑" panose="020B0503020204020204" charset="-122"/>
                <a:cs typeface="微软雅黑" panose="020B0503020204020204" charset="-122"/>
              </a:rPr>
              <a:t>个元素。</a:t>
            </a:r>
            <a:endParaRPr lang="en-US" altLang="en-US" dirty="0"/>
          </a:p>
          <a:p>
            <a:pPr marL="12700" algn="l" rtl="0" eaLnBrk="0">
              <a:lnSpc>
                <a:spcPts val="3790"/>
              </a:lnSpc>
            </a:pPr>
            <a:r>
              <a:rPr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rPr>
              <a:t>链表中每一个元素称为“</a:t>
            </a:r>
            <a:r>
              <a:rPr b="1"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rPr>
              <a:t>结点</a:t>
            </a:r>
            <a:r>
              <a:rPr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kern="0" spc="-28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rPr>
              <a:t>每个结</a:t>
            </a:r>
            <a:r>
              <a:rPr kern="0" spc="-100" dirty="0">
                <a:solidFill>
                  <a:srgbClr val="000000">
                    <a:alpha val="100000"/>
                  </a:srgbClr>
                </a:solidFill>
                <a:latin typeface="微软雅黑" panose="020B0503020204020204" charset="-122"/>
                <a:ea typeface="微软雅黑" panose="020B0503020204020204" charset="-122"/>
                <a:cs typeface="微软雅黑" panose="020B0503020204020204" charset="-122"/>
              </a:rPr>
              <a:t>点都应包括两个部分：</a:t>
            </a:r>
            <a:endParaRPr lang="en-US" altLang="en-US" dirty="0"/>
          </a:p>
          <a:p>
            <a:pPr algn="l" rtl="0" eaLnBrk="0">
              <a:lnSpc>
                <a:spcPct val="114000"/>
              </a:lnSpc>
            </a:pPr>
            <a:endParaRPr lang="en-US" altLang="en-US" sz="1000" dirty="0"/>
          </a:p>
          <a:p>
            <a:pPr marL="79375" algn="l" rtl="0" eaLnBrk="0">
              <a:lnSpc>
                <a:spcPct val="87000"/>
              </a:lnSpc>
              <a:spcBef>
                <a:spcPts val="545"/>
              </a:spcBef>
            </a:pPr>
            <a:r>
              <a:rPr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 用户需要用的实际数据；</a:t>
            </a:r>
            <a:endParaRPr lang="en-US" altLang="en-US" dirty="0"/>
          </a:p>
          <a:p>
            <a:pPr marL="79375" algn="l" rtl="0" eaLnBrk="0">
              <a:lnSpc>
                <a:spcPts val="3795"/>
              </a:lnSpc>
            </a:pPr>
            <a:r>
              <a:rPr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(2) 下一个结点的地</a:t>
            </a:r>
            <a:r>
              <a:rPr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址。</a:t>
            </a:r>
            <a:endParaRPr lang="en-US" altLang="en-US" dirty="0"/>
          </a:p>
          <a:p>
            <a:pPr algn="l" rtl="0" eaLnBrk="0">
              <a:lnSpc>
                <a:spcPct val="115000"/>
              </a:lnSpc>
            </a:pPr>
            <a:endParaRPr lang="en-US" altLang="en-US" sz="1000" dirty="0"/>
          </a:p>
          <a:p>
            <a:pPr algn="l" rtl="0" eaLnBrk="0">
              <a:lnSpc>
                <a:spcPct val="113000"/>
              </a:lnSpc>
            </a:pPr>
            <a:endParaRPr lang="en-US" altLang="en-US" sz="400" dirty="0"/>
          </a:p>
          <a:p>
            <a:pPr marL="27940" indent="-2540" algn="l" rtl="0" eaLnBrk="0">
              <a:lnSpc>
                <a:spcPct val="109000"/>
              </a:lnSpc>
              <a:spcBef>
                <a:spcPts val="0"/>
              </a:spcBef>
            </a:pPr>
            <a:r>
              <a:rPr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head指向第1个元素，</a:t>
            </a:r>
            <a:r>
              <a:rPr kern="0" spc="-25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第1个元素又指向第2个元素</a:t>
            </a:r>
            <a:r>
              <a:rPr kern="0" spc="-42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kern="0" spc="-42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直到最后一个元素，</a:t>
            </a:r>
            <a:r>
              <a:rPr kern="0" spc="-29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该元素不再指向其他元素，</a:t>
            </a:r>
            <a:r>
              <a:rPr kern="0" spc="-16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它称</a:t>
            </a:r>
            <a:r>
              <a:rPr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700" kern="0" spc="-120" dirty="0">
                <a:solidFill>
                  <a:srgbClr val="000000">
                    <a:alpha val="100000"/>
                  </a:srgbClr>
                </a:solidFill>
                <a:latin typeface="微软雅黑" panose="020B0503020204020204" charset="-122"/>
                <a:ea typeface="微软雅黑" panose="020B0503020204020204" charset="-122"/>
                <a:cs typeface="微软雅黑" panose="020B0503020204020204" charset="-122"/>
              </a:rPr>
              <a:t>为“</a:t>
            </a:r>
            <a:r>
              <a:rPr sz="1700" b="1" kern="0" spc="-120" dirty="0">
                <a:solidFill>
                  <a:srgbClr val="000000">
                    <a:alpha val="100000"/>
                  </a:srgbClr>
                </a:solidFill>
                <a:latin typeface="微软雅黑" panose="020B0503020204020204" charset="-122"/>
                <a:ea typeface="微软雅黑" panose="020B0503020204020204" charset="-122"/>
                <a:cs typeface="微软雅黑" panose="020B0503020204020204" charset="-122"/>
              </a:rPr>
              <a:t>表尾</a:t>
            </a:r>
            <a:r>
              <a:rPr sz="1700" kern="0" spc="-12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1700" kern="0" spc="-15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700" kern="0" spc="-120" dirty="0">
                <a:solidFill>
                  <a:srgbClr val="000000">
                    <a:alpha val="100000"/>
                  </a:srgbClr>
                </a:solidFill>
                <a:latin typeface="微软雅黑" panose="020B0503020204020204" charset="-122"/>
                <a:ea typeface="微软雅黑" panose="020B0503020204020204" charset="-122"/>
                <a:cs typeface="微软雅黑" panose="020B0503020204020204" charset="-122"/>
              </a:rPr>
              <a:t>它的地址部分放一个“</a:t>
            </a:r>
            <a:r>
              <a:rPr sz="1700" b="1" kern="0" spc="-120" dirty="0">
                <a:solidFill>
                  <a:srgbClr val="000000">
                    <a:alpha val="100000"/>
                  </a:srgbClr>
                </a:solidFill>
                <a:latin typeface="微软雅黑" panose="020B0503020204020204" charset="-122"/>
                <a:ea typeface="微软雅黑" panose="020B0503020204020204" charset="-122"/>
                <a:cs typeface="微软雅黑" panose="020B0503020204020204" charset="-122"/>
              </a:rPr>
              <a:t>NULL</a:t>
            </a:r>
            <a:r>
              <a:rPr sz="1700" b="1" kern="0" spc="-37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700" kern="0" spc="-120" dirty="0">
                <a:solidFill>
                  <a:srgbClr val="000000">
                    <a:alpha val="100000"/>
                  </a:srgbClr>
                </a:solidFill>
                <a:latin typeface="微软雅黑" panose="020B0503020204020204" charset="-122"/>
                <a:ea typeface="微软雅黑" panose="020B0503020204020204" charset="-122"/>
                <a:cs typeface="微软雅黑" panose="020B0503020204020204" charset="-122"/>
              </a:rPr>
              <a:t>”（表示“空地址”</a:t>
            </a:r>
            <a:r>
              <a:rPr sz="1700"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1700" kern="0" spc="-29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700" kern="0" spc="-120" dirty="0">
                <a:solidFill>
                  <a:srgbClr val="000000">
                    <a:alpha val="100000"/>
                  </a:srgbClr>
                </a:solidFill>
                <a:latin typeface="微软雅黑" panose="020B0503020204020204" charset="-122"/>
                <a:ea typeface="微软雅黑" panose="020B0503020204020204" charset="-122"/>
                <a:cs typeface="微软雅黑" panose="020B0503020204020204" charset="-122"/>
              </a:rPr>
              <a:t>链</a:t>
            </a:r>
            <a:r>
              <a:rPr sz="1700" kern="0" spc="-130" dirty="0">
                <a:solidFill>
                  <a:srgbClr val="000000">
                    <a:alpha val="100000"/>
                  </a:srgbClr>
                </a:solidFill>
                <a:latin typeface="微软雅黑" panose="020B0503020204020204" charset="-122"/>
                <a:ea typeface="微软雅黑" panose="020B0503020204020204" charset="-122"/>
                <a:cs typeface="微软雅黑" panose="020B0503020204020204" charset="-122"/>
              </a:rPr>
              <a:t>表到此结束。</a:t>
            </a:r>
            <a:endParaRPr lang="en-US" altLang="en-US" sz="1700" dirty="0"/>
          </a:p>
        </p:txBody>
      </p:sp>
      <p:sp>
        <p:nvSpPr>
          <p:cNvPr id="8868" name="textbox 8868"/>
          <p:cNvSpPr/>
          <p:nvPr/>
        </p:nvSpPr>
        <p:spPr>
          <a:xfrm>
            <a:off x="630038" y="1513332"/>
            <a:ext cx="8280400" cy="795655"/>
          </a:xfrm>
          <a:prstGeom prst="rect">
            <a:avLst/>
          </a:prstGeom>
        </p:spPr>
        <p:txBody>
          <a:bodyPr vert="horz" wrap="square" lIns="0" tIns="0" rIns="0" bIns="0"/>
          <a:lstStyle/>
          <a:p>
            <a:pPr algn="l" rtl="0" eaLnBrk="0">
              <a:lnSpc>
                <a:spcPct val="79000"/>
              </a:lnSpc>
            </a:pPr>
            <a:endParaRPr lang="en-US" altLang="en-US" sz="135" dirty="0"/>
          </a:p>
          <a:p>
            <a:pPr marL="12700" algn="l" rtl="0" eaLnBrk="0">
              <a:lnSpc>
                <a:spcPct val="95000"/>
              </a:lnSpc>
            </a:pPr>
            <a:r>
              <a:rPr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链表是一种常见的重要的数据结构</a:t>
            </a:r>
            <a:r>
              <a:rPr kern="0" spc="-30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它是动态地进行存储分配的一种结构。</a:t>
            </a:r>
            <a:endParaRPr lang="en-US" altLang="en-US" dirty="0"/>
          </a:p>
          <a:p>
            <a:pPr algn="l" rtl="0" eaLnBrk="0">
              <a:lnSpc>
                <a:spcPct val="129000"/>
              </a:lnSpc>
            </a:pPr>
            <a:endParaRPr lang="en-US" altLang="en-US" sz="1000" dirty="0"/>
          </a:p>
          <a:p>
            <a:pPr algn="l" rtl="0" eaLnBrk="0">
              <a:lnSpc>
                <a:spcPct val="125000"/>
              </a:lnSpc>
            </a:pPr>
            <a:endParaRPr lang="en-US" altLang="en-US" sz="300" dirty="0"/>
          </a:p>
          <a:p>
            <a:pPr algn="r" rtl="0" eaLnBrk="0">
              <a:lnSpc>
                <a:spcPts val="2015"/>
              </a:lnSpc>
              <a:spcBef>
                <a:spcPts val="5"/>
              </a:spcBef>
            </a:pPr>
            <a:r>
              <a:rPr sz="15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head     </a:t>
            </a:r>
            <a:r>
              <a:rPr sz="15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              1249</a:t>
            </a:r>
            <a:r>
              <a:rPr sz="15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5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5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1356</a:t>
            </a:r>
            <a:r>
              <a:rPr sz="15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5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5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1475</a:t>
            </a:r>
            <a:r>
              <a:rPr sz="15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5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5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1021</a:t>
            </a:r>
            <a:endParaRPr lang="en-US" altLang="en-US" sz="1500" dirty="0"/>
          </a:p>
        </p:txBody>
      </p:sp>
      <p:sp>
        <p:nvSpPr>
          <p:cNvPr id="8870" name="rect"/>
          <p:cNvSpPr/>
          <p:nvPr/>
        </p:nvSpPr>
        <p:spPr>
          <a:xfrm>
            <a:off x="2565491" y="2322829"/>
            <a:ext cx="719367" cy="741679"/>
          </a:xfrm>
          <a:prstGeom prst="rect">
            <a:avLst/>
          </a:prstGeom>
          <a:solidFill>
            <a:srgbClr val="FBE9E8">
              <a:alpha val="100000"/>
            </a:srgbClr>
          </a:solidFill>
          <a:ln cap="flat">
            <a:noFill/>
            <a:prstDash val="solid"/>
            <a:miter lim="0"/>
          </a:ln>
        </p:spPr>
        <p:txBody>
          <a:bodyPr rtlCol="0"/>
          <a:lstStyle/>
          <a:p>
            <a:pPr algn="ctr"/>
            <a:endParaRPr lang="zh-CN" altLang="en-US"/>
          </a:p>
        </p:txBody>
      </p:sp>
      <p:graphicFrame>
        <p:nvGraphicFramePr>
          <p:cNvPr id="8872" name="table 8872"/>
          <p:cNvGraphicFramePr>
            <a:graphicFrameLocks noGrp="1"/>
          </p:cNvGraphicFramePr>
          <p:nvPr/>
        </p:nvGraphicFramePr>
        <p:xfrm>
          <a:off x="2559142" y="2322829"/>
          <a:ext cx="6487160" cy="767969"/>
        </p:xfrm>
        <a:graphic>
          <a:graphicData uri="http://schemas.openxmlformats.org/drawingml/2006/table">
            <a:tbl>
              <a:tblPr/>
              <a:tblGrid>
                <a:gridCol w="1445260">
                  <a:extLst>
                    <a:ext uri="{9D8B030D-6E8A-4147-A177-3AD203B41FA5}">
                      <a16:colId xmlns:a16="http://schemas.microsoft.com/office/drawing/2014/main" val="20000"/>
                    </a:ext>
                  </a:extLst>
                </a:gridCol>
                <a:gridCol w="1439545">
                  <a:extLst>
                    <a:ext uri="{9D8B030D-6E8A-4147-A177-3AD203B41FA5}">
                      <a16:colId xmlns:a16="http://schemas.microsoft.com/office/drawing/2014/main" val="20001"/>
                    </a:ext>
                  </a:extLst>
                </a:gridCol>
                <a:gridCol w="1438275">
                  <a:extLst>
                    <a:ext uri="{9D8B030D-6E8A-4147-A177-3AD203B41FA5}">
                      <a16:colId xmlns:a16="http://schemas.microsoft.com/office/drawing/2014/main" val="20002"/>
                    </a:ext>
                  </a:extLst>
                </a:gridCol>
                <a:gridCol w="1438275">
                  <a:extLst>
                    <a:ext uri="{9D8B030D-6E8A-4147-A177-3AD203B41FA5}">
                      <a16:colId xmlns:a16="http://schemas.microsoft.com/office/drawing/2014/main" val="20003"/>
                    </a:ext>
                  </a:extLst>
                </a:gridCol>
                <a:gridCol w="725805">
                  <a:extLst>
                    <a:ext uri="{9D8B030D-6E8A-4147-A177-3AD203B41FA5}">
                      <a16:colId xmlns:a16="http://schemas.microsoft.com/office/drawing/2014/main" val="20004"/>
                    </a:ext>
                  </a:extLst>
                </a:gridCol>
              </a:tblGrid>
              <a:tr h="309880">
                <a:tc rowSpan="2">
                  <a:txBody>
                    <a:bodyPr/>
                    <a:lstStyle/>
                    <a:p>
                      <a:pPr algn="l" rtl="0" eaLnBrk="0">
                        <a:lnSpc>
                          <a:spcPct val="199000"/>
                        </a:lnSpc>
                      </a:pPr>
                      <a:endParaRPr lang="en-US" altLang="en-US" sz="1000" dirty="0"/>
                    </a:p>
                    <a:p>
                      <a:pPr marL="6350" algn="l" rtl="0" eaLnBrk="0">
                        <a:lnSpc>
                          <a:spcPts val="1140"/>
                        </a:lnSpc>
                        <a:spcBef>
                          <a:spcPts val="5"/>
                        </a:spcBef>
                        <a:tabLst>
                          <a:tab pos="169545" algn="l"/>
                        </a:tabLst>
                      </a:pPr>
                      <a:r>
                        <a:rPr sz="15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5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1249</a:t>
                      </a:r>
                      <a:r>
                        <a:rPr sz="15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endParaRPr lang="en-US" altLang="en-US" sz="1500" dirty="0"/>
                    </a:p>
                  </a:txBody>
                  <a:tcPr marL="0" marR="0" marT="0" marB="0">
                    <a:lnL w="12700" cap="flat" cmpd="sng" algn="ctr">
                      <a:solidFill>
                        <a:srgbClr val="FFFFFF"/>
                      </a:solidFill>
                      <a:prstDash val="solid"/>
                      <a:round/>
                      <a:headEnd type="none" w="med" len="med"/>
                      <a:tailEnd type="none" w="med" len="med"/>
                    </a:lnL>
                    <a:lnR>
                      <a:noFill/>
                    </a:lnR>
                    <a:lnT>
                      <a:noFill/>
                    </a:lnT>
                    <a:lnB w="12700" cap="flat" cmpd="sng" algn="ctr">
                      <a:solidFill>
                        <a:srgbClr val="FFFFFF"/>
                      </a:solidFill>
                      <a:prstDash val="solid"/>
                      <a:round/>
                      <a:headEnd type="none" w="med" len="med"/>
                      <a:tailEnd type="none" w="med" len="med"/>
                    </a:lnB>
                  </a:tcPr>
                </a:tc>
                <a:tc rowSpan="2">
                  <a:txBody>
                    <a:bodyPr/>
                    <a:lstStyle/>
                    <a:p>
                      <a:pPr algn="l" rtl="0" eaLnBrk="0">
                        <a:lnSpc>
                          <a:spcPct val="100000"/>
                        </a:lnSpc>
                      </a:pPr>
                      <a:endParaRPr lang="en-US" altLang="en-US" sz="1000" dirty="0"/>
                    </a:p>
                  </a:txBody>
                  <a:tcPr marL="0" marR="0" marT="0" marB="0">
                    <a:lnL>
                      <a:noFill/>
                    </a:lnL>
                    <a:lnR>
                      <a:noFill/>
                    </a:lnR>
                    <a:lnT>
                      <a:noFill/>
                    </a:lnT>
                    <a:lnB w="12700" cap="flat" cmpd="sng" algn="ctr">
                      <a:solidFill>
                        <a:srgbClr val="FFFFFF"/>
                      </a:solidFill>
                      <a:prstDash val="solid"/>
                      <a:round/>
                      <a:headEnd type="none" w="med" len="med"/>
                      <a:tailEnd type="none" w="med" len="med"/>
                    </a:lnB>
                  </a:tcPr>
                </a:tc>
                <a:tc rowSpan="2">
                  <a:txBody>
                    <a:bodyPr/>
                    <a:lstStyle/>
                    <a:p>
                      <a:pPr algn="l" rtl="0" eaLnBrk="0">
                        <a:lnSpc>
                          <a:spcPct val="100000"/>
                        </a:lnSpc>
                      </a:pPr>
                      <a:endParaRPr lang="en-US" altLang="en-US" sz="1000" dirty="0"/>
                    </a:p>
                  </a:txBody>
                  <a:tcPr marL="0" marR="0" marT="0" marB="0">
                    <a:lnL>
                      <a:noFill/>
                    </a:lnL>
                    <a:lnR>
                      <a:noFill/>
                    </a:lnR>
                    <a:lnT>
                      <a:noFill/>
                    </a:lnT>
                    <a:lnB>
                      <a:noFill/>
                    </a:lnB>
                  </a:tcPr>
                </a:tc>
                <a:tc rowSpan="2">
                  <a:txBody>
                    <a:bodyPr/>
                    <a:lstStyle/>
                    <a:p>
                      <a:pPr algn="l" rtl="0" eaLnBrk="0">
                        <a:lnSpc>
                          <a:spcPct val="100000"/>
                        </a:lnSpc>
                      </a:pPr>
                      <a:endParaRPr lang="en-US" altLang="en-US" sz="1000" dirty="0"/>
                    </a:p>
                  </a:txBody>
                  <a:tcPr marL="0" marR="0" marT="0" marB="0">
                    <a:lnL>
                      <a:noFill/>
                    </a:lnL>
                    <a:lnR>
                      <a:noFill/>
                    </a:lnR>
                    <a:lnT>
                      <a:noFill/>
                    </a:lnT>
                    <a:lnB w="12700" cap="flat" cmpd="sng" algn="ctr">
                      <a:solidFill>
                        <a:srgbClr val="FFFFFF"/>
                      </a:solidFill>
                      <a:prstDash val="solid"/>
                      <a:round/>
                      <a:headEnd type="none" w="med" len="med"/>
                      <a:tailEnd type="none" w="med" len="med"/>
                    </a:lnB>
                  </a:tcPr>
                </a:tc>
                <a:tc>
                  <a:txBody>
                    <a:bodyPr/>
                    <a:lstStyle/>
                    <a:p>
                      <a:pPr algn="l" rtl="0" eaLnBrk="0">
                        <a:lnSpc>
                          <a:spcPct val="112000"/>
                        </a:lnSpc>
                      </a:pPr>
                      <a:endParaRPr lang="en-US" altLang="en-US" sz="700" dirty="0"/>
                    </a:p>
                    <a:p>
                      <a:pPr marL="310515" algn="l" rtl="0" eaLnBrk="0">
                        <a:lnSpc>
                          <a:spcPct val="78000"/>
                        </a:lnSpc>
                        <a:spcBef>
                          <a:spcPts val="5"/>
                        </a:spcBef>
                      </a:pPr>
                      <a:r>
                        <a:rPr sz="16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D</a:t>
                      </a:r>
                      <a:endParaRPr lang="en-US" altLang="en-US" sz="1600" dirty="0"/>
                    </a:p>
                  </a:txBody>
                  <a:tcPr marL="0" marR="0" marT="0" marB="0">
                    <a:lnL>
                      <a:noFill/>
                    </a:lnL>
                    <a:lnR w="1270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FBE9E8"/>
                    </a:solidFill>
                  </a:tcPr>
                </a:tc>
                <a:extLst>
                  <a:ext uri="{0D108BD9-81ED-4DB2-BD59-A6C34878D82A}">
                    <a16:rowId xmlns:a16="http://schemas.microsoft.com/office/drawing/2014/main" val="10000"/>
                  </a:ext>
                </a:extLst>
              </a:tr>
              <a:tr h="457835">
                <a:tc vMerge="1">
                  <a:txBody>
                    <a:bodyPr/>
                    <a:lstStyle/>
                    <a:p>
                      <a:endParaRPr lang="zh-CN"/>
                    </a:p>
                  </a:txBody>
                  <a:tcPr marL="0" marR="0" marT="0" marB="0">
                    <a:lnL w="12700" cap="flat" cmpd="sng" algn="ctr">
                      <a:solidFill>
                        <a:srgbClr val="FFFFFF"/>
                      </a:solidFill>
                      <a:prstDash val="solid"/>
                      <a:round/>
                      <a:headEnd type="none" w="med" len="med"/>
                      <a:tailEnd type="none" w="med" len="med"/>
                    </a:lnL>
                    <a:lnR>
                      <a:noFill/>
                    </a:lnR>
                    <a:lnT>
                      <a:noFill/>
                    </a:lnT>
                    <a:lnB w="12700" cap="flat" cmpd="sng" algn="ctr">
                      <a:solidFill>
                        <a:srgbClr val="FFFFFF"/>
                      </a:solidFill>
                      <a:prstDash val="solid"/>
                      <a:round/>
                      <a:headEnd type="none" w="med" len="med"/>
                      <a:tailEnd type="none" w="med" len="med"/>
                    </a:lnB>
                  </a:tcPr>
                </a:tc>
                <a:tc vMerge="1">
                  <a:txBody>
                    <a:bodyPr/>
                    <a:lstStyle/>
                    <a:p>
                      <a:endParaRPr lang="zh-CN"/>
                    </a:p>
                  </a:txBody>
                  <a:tcPr marL="0" marR="0" marT="0" marB="0">
                    <a:lnL>
                      <a:noFill/>
                    </a:lnL>
                    <a:lnR>
                      <a:noFill/>
                    </a:lnR>
                    <a:lnT>
                      <a:noFill/>
                    </a:lnT>
                    <a:lnB w="12700" cap="flat" cmpd="sng" algn="ctr">
                      <a:solidFill>
                        <a:srgbClr val="FFFFFF"/>
                      </a:solidFill>
                      <a:prstDash val="solid"/>
                      <a:round/>
                      <a:headEnd type="none" w="med" len="med"/>
                      <a:tailEnd type="none" w="med" len="med"/>
                    </a:lnB>
                  </a:tcPr>
                </a:tc>
                <a:tc vMerge="1">
                  <a:txBody>
                    <a:bodyPr/>
                    <a:lstStyle/>
                    <a:p>
                      <a:endParaRPr lang="zh-CN"/>
                    </a:p>
                  </a:txBody>
                  <a:tcPr marL="0" marR="0" marT="0" marB="0">
                    <a:lnL>
                      <a:noFill/>
                    </a:lnL>
                    <a:lnR>
                      <a:noFill/>
                    </a:lnR>
                    <a:lnT>
                      <a:noFill/>
                    </a:lnT>
                    <a:lnB>
                      <a:noFill/>
                    </a:lnB>
                  </a:tcPr>
                </a:tc>
                <a:tc vMerge="1">
                  <a:txBody>
                    <a:bodyPr/>
                    <a:lstStyle/>
                    <a:p>
                      <a:endParaRPr lang="zh-CN"/>
                    </a:p>
                  </a:txBody>
                  <a:tcPr marL="0" marR="0" marT="0" marB="0">
                    <a:lnL>
                      <a:noFill/>
                    </a:lnL>
                    <a:lnR>
                      <a:noFill/>
                    </a:lnR>
                    <a:lnT>
                      <a:noFill/>
                    </a:lnT>
                    <a:lnB w="12700" cap="flat" cmpd="sng" algn="ctr">
                      <a:solidFill>
                        <a:srgbClr val="FFFFFF"/>
                      </a:solidFill>
                      <a:prstDash val="solid"/>
                      <a:round/>
                      <a:headEnd type="none" w="med" len="med"/>
                      <a:tailEnd type="none" w="med" len="med"/>
                    </a:lnB>
                  </a:tcPr>
                </a:tc>
                <a:tc>
                  <a:txBody>
                    <a:bodyPr/>
                    <a:lstStyle/>
                    <a:p>
                      <a:pPr algn="l" rtl="0" eaLnBrk="0">
                        <a:lnSpc>
                          <a:spcPct val="114000"/>
                        </a:lnSpc>
                      </a:pPr>
                      <a:endParaRPr lang="en-US" altLang="en-US" sz="700" dirty="0"/>
                    </a:p>
                    <a:p>
                      <a:pPr marL="142875" algn="l" rtl="0" eaLnBrk="0">
                        <a:lnSpc>
                          <a:spcPct val="81000"/>
                        </a:lnSpc>
                        <a:spcBef>
                          <a:spcPts val="0"/>
                        </a:spcBef>
                      </a:pPr>
                      <a:r>
                        <a:rPr sz="15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rPr>
                        <a:t>NULL</a:t>
                      </a:r>
                      <a:endParaRPr lang="en-US" altLang="en-US" sz="1500" dirty="0"/>
                    </a:p>
                  </a:txBody>
                  <a:tcPr marL="0" marR="0" marT="0" marB="0">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9E8"/>
                    </a:solidFill>
                  </a:tcPr>
                </a:tc>
                <a:extLst>
                  <a:ext uri="{0D108BD9-81ED-4DB2-BD59-A6C34878D82A}">
                    <a16:rowId xmlns:a16="http://schemas.microsoft.com/office/drawing/2014/main" val="10001"/>
                  </a:ext>
                </a:extLst>
              </a:tr>
            </a:tbl>
          </a:graphicData>
        </a:graphic>
      </p:graphicFrame>
      <p:sp>
        <p:nvSpPr>
          <p:cNvPr id="8874" name="textbox 8874"/>
          <p:cNvSpPr/>
          <p:nvPr/>
        </p:nvSpPr>
        <p:spPr>
          <a:xfrm>
            <a:off x="649510" y="816120"/>
            <a:ext cx="2047239" cy="497205"/>
          </a:xfrm>
          <a:prstGeom prst="rect">
            <a:avLst/>
          </a:prstGeom>
        </p:spPr>
        <p:txBody>
          <a:bodyPr vert="horz" wrap="square" lIns="0" tIns="0" rIns="0" bIns="0"/>
          <a:lstStyle/>
          <a:p>
            <a:pPr algn="l" rtl="0" eaLnBrk="0">
              <a:lnSpc>
                <a:spcPct val="79000"/>
              </a:lnSpc>
            </a:pPr>
            <a:endParaRPr lang="en-US" altLang="en-US" sz="135" dirty="0"/>
          </a:p>
          <a:p>
            <a:pPr marL="12700" algn="l" rtl="0" eaLnBrk="0">
              <a:lnSpc>
                <a:spcPct val="100000"/>
              </a:lnSpc>
            </a:pPr>
            <a:r>
              <a:rPr sz="31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什么是链表</a:t>
            </a:r>
            <a:endParaRPr lang="en-US" altLang="en-US" sz="3100" dirty="0"/>
          </a:p>
        </p:txBody>
      </p:sp>
      <p:sp>
        <p:nvSpPr>
          <p:cNvPr id="8876" name="textbox 8876"/>
          <p:cNvSpPr/>
          <p:nvPr/>
        </p:nvSpPr>
        <p:spPr>
          <a:xfrm>
            <a:off x="6881842" y="2322829"/>
            <a:ext cx="719455" cy="371475"/>
          </a:xfrm>
          <a:prstGeom prst="rect">
            <a:avLst/>
          </a:prstGeom>
          <a:solidFill>
            <a:srgbClr val="FBE9E8"/>
          </a:solidFill>
        </p:spPr>
        <p:txBody>
          <a:bodyPr vert="horz" wrap="square" lIns="0" tIns="0" rIns="0" bIns="0"/>
          <a:lstStyle/>
          <a:p>
            <a:pPr algn="l" rtl="0" eaLnBrk="0">
              <a:lnSpc>
                <a:spcPct val="111000"/>
              </a:lnSpc>
            </a:pPr>
            <a:endParaRPr lang="en-US" altLang="en-US" sz="700" dirty="0"/>
          </a:p>
          <a:p>
            <a:pPr algn="l" rtl="0" eaLnBrk="0">
              <a:lnSpc>
                <a:spcPct val="7000"/>
              </a:lnSpc>
            </a:pPr>
            <a:endParaRPr lang="en-US" altLang="en-US" sz="135" dirty="0"/>
          </a:p>
          <a:p>
            <a:pPr marL="310515" algn="l" rtl="0" eaLnBrk="0">
              <a:lnSpc>
                <a:spcPct val="78000"/>
              </a:lnSpc>
            </a:pPr>
            <a:r>
              <a:rPr sz="16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C</a:t>
            </a:r>
            <a:endParaRPr lang="en-US" altLang="en-US" sz="1600" dirty="0"/>
          </a:p>
        </p:txBody>
      </p:sp>
      <p:sp>
        <p:nvSpPr>
          <p:cNvPr id="8878" name="textbox 8878"/>
          <p:cNvSpPr/>
          <p:nvPr/>
        </p:nvSpPr>
        <p:spPr>
          <a:xfrm>
            <a:off x="6881842" y="2693669"/>
            <a:ext cx="719455" cy="371475"/>
          </a:xfrm>
          <a:prstGeom prst="rect">
            <a:avLst/>
          </a:prstGeom>
          <a:solidFill>
            <a:srgbClr val="FBE9E8"/>
          </a:solidFill>
        </p:spPr>
        <p:txBody>
          <a:bodyPr vert="horz" wrap="square" lIns="0" tIns="0" rIns="0" bIns="0"/>
          <a:lstStyle/>
          <a:p>
            <a:pPr algn="l" rtl="0" eaLnBrk="0">
              <a:lnSpc>
                <a:spcPct val="111000"/>
              </a:lnSpc>
            </a:pPr>
            <a:endParaRPr lang="en-US" altLang="en-US" sz="700" dirty="0"/>
          </a:p>
          <a:p>
            <a:pPr algn="l" rtl="0" eaLnBrk="0">
              <a:lnSpc>
                <a:spcPct val="7000"/>
              </a:lnSpc>
            </a:pPr>
            <a:endParaRPr lang="en-US" altLang="en-US" sz="135" dirty="0"/>
          </a:p>
          <a:p>
            <a:pPr marL="164465" algn="l" rtl="0" eaLnBrk="0">
              <a:lnSpc>
                <a:spcPct val="82000"/>
              </a:lnSpc>
            </a:pPr>
            <a:r>
              <a:rPr sz="15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1021</a:t>
            </a:r>
            <a:endParaRPr lang="en-US" altLang="en-US" sz="1500" dirty="0"/>
          </a:p>
        </p:txBody>
      </p:sp>
      <p:sp>
        <p:nvSpPr>
          <p:cNvPr id="8880" name="rect"/>
          <p:cNvSpPr/>
          <p:nvPr/>
        </p:nvSpPr>
        <p:spPr>
          <a:xfrm>
            <a:off x="6881842" y="2687320"/>
            <a:ext cx="719328" cy="12700"/>
          </a:xfrm>
          <a:prstGeom prst="rect">
            <a:avLst/>
          </a:prstGeom>
          <a:solidFill>
            <a:srgbClr val="FFFFFF">
              <a:alpha val="100000"/>
            </a:srgbClr>
          </a:solidFill>
          <a:ln cap="flat">
            <a:noFill/>
            <a:prstDash val="solid"/>
            <a:miter lim="0"/>
          </a:ln>
        </p:spPr>
        <p:txBody>
          <a:bodyPr rtlCol="0"/>
          <a:lstStyle/>
          <a:p>
            <a:pPr algn="ctr"/>
            <a:endParaRPr lang="zh-CN" altLang="en-US"/>
          </a:p>
        </p:txBody>
      </p:sp>
      <p:pic>
        <p:nvPicPr>
          <p:cNvPr id="8882" name="picture 8882"/>
          <p:cNvPicPr>
            <a:picLocks noChangeAspect="1"/>
          </p:cNvPicPr>
          <p:nvPr/>
        </p:nvPicPr>
        <p:blipFill>
          <a:blip r:embed="rId3"/>
          <a:stretch>
            <a:fillRect/>
          </a:stretch>
        </p:blipFill>
        <p:spPr>
          <a:xfrm rot="21600000">
            <a:off x="7565735" y="2470404"/>
            <a:ext cx="735457" cy="390651"/>
          </a:xfrm>
          <a:prstGeom prst="rect">
            <a:avLst/>
          </a:prstGeom>
        </p:spPr>
      </p:pic>
      <p:pic>
        <p:nvPicPr>
          <p:cNvPr id="8884" name="picture 8884"/>
          <p:cNvPicPr>
            <a:picLocks noChangeAspect="1"/>
          </p:cNvPicPr>
          <p:nvPr/>
        </p:nvPicPr>
        <p:blipFill>
          <a:blip r:embed="rId4"/>
          <a:stretch>
            <a:fillRect/>
          </a:stretch>
        </p:blipFill>
        <p:spPr>
          <a:xfrm rot="21600000">
            <a:off x="4721952" y="2470404"/>
            <a:ext cx="735457" cy="390651"/>
          </a:xfrm>
          <a:prstGeom prst="rect">
            <a:avLst/>
          </a:prstGeom>
        </p:spPr>
      </p:pic>
      <p:pic>
        <p:nvPicPr>
          <p:cNvPr id="8886" name="picture 8886"/>
          <p:cNvPicPr>
            <a:picLocks noChangeAspect="1"/>
          </p:cNvPicPr>
          <p:nvPr/>
        </p:nvPicPr>
        <p:blipFill>
          <a:blip r:embed="rId5"/>
          <a:stretch>
            <a:fillRect/>
          </a:stretch>
        </p:blipFill>
        <p:spPr>
          <a:xfrm rot="21600000">
            <a:off x="6145367" y="2470404"/>
            <a:ext cx="735457" cy="390651"/>
          </a:xfrm>
          <a:prstGeom prst="rect">
            <a:avLst/>
          </a:prstGeom>
        </p:spPr>
      </p:pic>
      <p:sp>
        <p:nvSpPr>
          <p:cNvPr id="8888" name="path"/>
          <p:cNvSpPr/>
          <p:nvPr/>
        </p:nvSpPr>
        <p:spPr>
          <a:xfrm>
            <a:off x="551780" y="1380236"/>
            <a:ext cx="10775695" cy="25400"/>
          </a:xfrm>
          <a:custGeom>
            <a:avLst/>
            <a:gdLst/>
            <a:ahLst/>
            <a:cxnLst/>
            <a:rect l="0" t="0" r="0" b="0"/>
            <a:pathLst>
              <a:path w="16969" h="40">
                <a:moveTo>
                  <a:pt x="20" y="20"/>
                </a:moveTo>
                <a:lnTo>
                  <a:pt x="16949" y="20"/>
                </a:lnTo>
                <a:lnTo>
                  <a:pt x="20" y="20"/>
                </a:lnTo>
              </a:path>
            </a:pathLst>
          </a:custGeom>
          <a:noFill/>
          <a:ln w="25400" cap="sq">
            <a:solidFill>
              <a:srgbClr val="782367">
                <a:alpha val="100000"/>
              </a:srgbClr>
            </a:solidFill>
            <a:prstDash val="solid"/>
            <a:bevel/>
          </a:ln>
        </p:spPr>
        <p:txBody>
          <a:bodyPr rtlCol="0"/>
          <a:lstStyle/>
          <a:p>
            <a:pPr algn="ctr"/>
            <a:endParaRPr lang="zh-CN" altLang="en-US"/>
          </a:p>
        </p:txBody>
      </p:sp>
      <p:sp>
        <p:nvSpPr>
          <p:cNvPr id="8890" name="path"/>
          <p:cNvSpPr/>
          <p:nvPr/>
        </p:nvSpPr>
        <p:spPr>
          <a:xfrm>
            <a:off x="551780" y="6119876"/>
            <a:ext cx="10775695" cy="25400"/>
          </a:xfrm>
          <a:custGeom>
            <a:avLst/>
            <a:gdLst/>
            <a:ahLst/>
            <a:cxnLst/>
            <a:rect l="0" t="0" r="0" b="0"/>
            <a:pathLst>
              <a:path w="16969" h="40">
                <a:moveTo>
                  <a:pt x="20" y="20"/>
                </a:moveTo>
                <a:lnTo>
                  <a:pt x="16949" y="20"/>
                </a:lnTo>
                <a:lnTo>
                  <a:pt x="20" y="20"/>
                </a:lnTo>
              </a:path>
            </a:pathLst>
          </a:custGeom>
          <a:noFill/>
          <a:ln w="25400" cap="sq">
            <a:solidFill>
              <a:srgbClr val="782367">
                <a:alpha val="100000"/>
              </a:srgbClr>
            </a:solidFill>
            <a:prstDash val="solid"/>
            <a:bevel/>
          </a:ln>
        </p:spPr>
        <p:txBody>
          <a:bodyPr rtlCol="0"/>
          <a:lstStyle/>
          <a:p>
            <a:pPr algn="ctr"/>
            <a:endParaRPr lang="zh-CN" altLang="en-US"/>
          </a:p>
        </p:txBody>
      </p:sp>
      <p:sp>
        <p:nvSpPr>
          <p:cNvPr id="8892" name="textbox 8892"/>
          <p:cNvSpPr/>
          <p:nvPr/>
        </p:nvSpPr>
        <p:spPr>
          <a:xfrm>
            <a:off x="4004275" y="2322829"/>
            <a:ext cx="719455" cy="371475"/>
          </a:xfrm>
          <a:prstGeom prst="rect">
            <a:avLst/>
          </a:prstGeom>
          <a:solidFill>
            <a:srgbClr val="FBE9E8"/>
          </a:solidFill>
        </p:spPr>
        <p:txBody>
          <a:bodyPr vert="horz" wrap="square" lIns="0" tIns="0" rIns="0" bIns="0"/>
          <a:lstStyle/>
          <a:p>
            <a:pPr algn="l" rtl="0" eaLnBrk="0">
              <a:lnSpc>
                <a:spcPct val="112000"/>
              </a:lnSpc>
            </a:pPr>
            <a:endParaRPr lang="en-US" altLang="en-US" sz="700" dirty="0"/>
          </a:p>
          <a:p>
            <a:pPr marL="296545" algn="l" rtl="0" eaLnBrk="0">
              <a:lnSpc>
                <a:spcPct val="78000"/>
              </a:lnSpc>
              <a:spcBef>
                <a:spcPts val="5"/>
              </a:spcBef>
            </a:pPr>
            <a:r>
              <a:rPr sz="16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A</a:t>
            </a:r>
            <a:endParaRPr lang="en-US" altLang="en-US" sz="1600" dirty="0"/>
          </a:p>
        </p:txBody>
      </p:sp>
      <p:sp>
        <p:nvSpPr>
          <p:cNvPr id="8894" name="textbox 8894"/>
          <p:cNvSpPr/>
          <p:nvPr/>
        </p:nvSpPr>
        <p:spPr>
          <a:xfrm>
            <a:off x="4004275" y="2693669"/>
            <a:ext cx="719455" cy="371475"/>
          </a:xfrm>
          <a:prstGeom prst="rect">
            <a:avLst/>
          </a:prstGeom>
          <a:solidFill>
            <a:srgbClr val="FBE9E8"/>
          </a:solidFill>
        </p:spPr>
        <p:txBody>
          <a:bodyPr vert="horz" wrap="square" lIns="0" tIns="0" rIns="0" bIns="0"/>
          <a:lstStyle/>
          <a:p>
            <a:pPr algn="l" rtl="0" eaLnBrk="0">
              <a:lnSpc>
                <a:spcPct val="111000"/>
              </a:lnSpc>
            </a:pPr>
            <a:endParaRPr lang="en-US" altLang="en-US" sz="700" dirty="0"/>
          </a:p>
          <a:p>
            <a:pPr algn="l" rtl="0" eaLnBrk="0">
              <a:lnSpc>
                <a:spcPct val="6000"/>
              </a:lnSpc>
            </a:pPr>
            <a:endParaRPr lang="en-US" altLang="en-US" sz="135" dirty="0"/>
          </a:p>
          <a:p>
            <a:pPr marL="163830" algn="l" rtl="0" eaLnBrk="0">
              <a:lnSpc>
                <a:spcPct val="82000"/>
              </a:lnSpc>
            </a:pPr>
            <a:r>
              <a:rPr sz="15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1356</a:t>
            </a:r>
            <a:endParaRPr lang="en-US" altLang="en-US" sz="1500" dirty="0"/>
          </a:p>
        </p:txBody>
      </p:sp>
      <p:sp>
        <p:nvSpPr>
          <p:cNvPr id="8896" name="textbox 8896"/>
          <p:cNvSpPr/>
          <p:nvPr/>
        </p:nvSpPr>
        <p:spPr>
          <a:xfrm>
            <a:off x="5443059" y="2322829"/>
            <a:ext cx="719455" cy="371475"/>
          </a:xfrm>
          <a:prstGeom prst="rect">
            <a:avLst/>
          </a:prstGeom>
          <a:solidFill>
            <a:srgbClr val="FBE9E8"/>
          </a:solidFill>
        </p:spPr>
        <p:txBody>
          <a:bodyPr vert="horz" wrap="square" lIns="0" tIns="0" rIns="0" bIns="0"/>
          <a:lstStyle/>
          <a:p>
            <a:pPr algn="l" rtl="0" eaLnBrk="0">
              <a:lnSpc>
                <a:spcPct val="112000"/>
              </a:lnSpc>
            </a:pPr>
            <a:endParaRPr lang="en-US" altLang="en-US" sz="700" dirty="0"/>
          </a:p>
          <a:p>
            <a:pPr marL="321945" algn="l" rtl="0" eaLnBrk="0">
              <a:lnSpc>
                <a:spcPct val="78000"/>
              </a:lnSpc>
              <a:spcBef>
                <a:spcPts val="5"/>
              </a:spcBef>
            </a:pPr>
            <a:r>
              <a:rPr sz="16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B</a:t>
            </a:r>
            <a:endParaRPr lang="en-US" altLang="en-US" sz="1600" dirty="0"/>
          </a:p>
        </p:txBody>
      </p:sp>
      <p:sp>
        <p:nvSpPr>
          <p:cNvPr id="8898" name="textbox 8898"/>
          <p:cNvSpPr/>
          <p:nvPr/>
        </p:nvSpPr>
        <p:spPr>
          <a:xfrm>
            <a:off x="5443059" y="2693669"/>
            <a:ext cx="719455" cy="371475"/>
          </a:xfrm>
          <a:prstGeom prst="rect">
            <a:avLst/>
          </a:prstGeom>
          <a:solidFill>
            <a:srgbClr val="FBE9E8"/>
          </a:solidFill>
        </p:spPr>
        <p:txBody>
          <a:bodyPr vert="horz" wrap="square" lIns="0" tIns="0" rIns="0" bIns="0"/>
          <a:lstStyle/>
          <a:p>
            <a:pPr algn="l" rtl="0" eaLnBrk="0">
              <a:lnSpc>
                <a:spcPct val="114000"/>
              </a:lnSpc>
            </a:pPr>
            <a:endParaRPr lang="en-US" altLang="en-US" sz="700" dirty="0"/>
          </a:p>
          <a:p>
            <a:pPr marL="163830" algn="l" rtl="0" eaLnBrk="0">
              <a:lnSpc>
                <a:spcPct val="81000"/>
              </a:lnSpc>
            </a:pPr>
            <a:r>
              <a:rPr sz="15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1475</a:t>
            </a:r>
            <a:endParaRPr lang="en-US" altLang="en-US" sz="1500" dirty="0"/>
          </a:p>
        </p:txBody>
      </p:sp>
      <p:pic>
        <p:nvPicPr>
          <p:cNvPr id="8900" name="picture 8900"/>
          <p:cNvPicPr>
            <a:picLocks noChangeAspect="1"/>
          </p:cNvPicPr>
          <p:nvPr/>
        </p:nvPicPr>
        <p:blipFill>
          <a:blip r:embed="rId6"/>
          <a:stretch>
            <a:fillRect/>
          </a:stretch>
        </p:blipFill>
        <p:spPr>
          <a:xfrm rot="21600000">
            <a:off x="3271103" y="2497836"/>
            <a:ext cx="725551" cy="76200"/>
          </a:xfrm>
          <a:prstGeom prst="rect">
            <a:avLst/>
          </a:prstGeom>
        </p:spPr>
      </p:pic>
      <p:sp>
        <p:nvSpPr>
          <p:cNvPr id="8902" name="rect"/>
          <p:cNvSpPr/>
          <p:nvPr/>
        </p:nvSpPr>
        <p:spPr>
          <a:xfrm>
            <a:off x="4004275" y="2687320"/>
            <a:ext cx="719455" cy="12700"/>
          </a:xfrm>
          <a:prstGeom prst="rect">
            <a:avLst/>
          </a:prstGeom>
          <a:solidFill>
            <a:srgbClr val="FFFFFF">
              <a:alpha val="100000"/>
            </a:srgbClr>
          </a:solidFill>
          <a:ln cap="flat">
            <a:noFill/>
            <a:prstDash val="solid"/>
            <a:miter lim="0"/>
          </a:ln>
        </p:spPr>
        <p:txBody>
          <a:bodyPr rtlCol="0"/>
          <a:lstStyle/>
          <a:p>
            <a:pPr algn="ctr"/>
            <a:endParaRPr lang="zh-CN" altLang="en-US"/>
          </a:p>
        </p:txBody>
      </p:sp>
      <p:sp>
        <p:nvSpPr>
          <p:cNvPr id="8904" name="rect"/>
          <p:cNvSpPr/>
          <p:nvPr/>
        </p:nvSpPr>
        <p:spPr>
          <a:xfrm>
            <a:off x="5443059" y="2687320"/>
            <a:ext cx="719327" cy="12700"/>
          </a:xfrm>
          <a:prstGeom prst="rect">
            <a:avLst/>
          </a:prstGeom>
          <a:solidFill>
            <a:srgbClr val="FFFFFF">
              <a:alpha val="100000"/>
            </a:srgbClr>
          </a:solidFill>
          <a:ln cap="flat">
            <a:noFill/>
            <a:prstDash val="solid"/>
            <a:miter lim="0"/>
          </a:ln>
        </p:spPr>
        <p:txBody>
          <a:bodyPr rtlCol="0"/>
          <a:lstStyle/>
          <a:p>
            <a:pPr algn="ctr"/>
            <a:endParaRPr lang="zh-CN"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 name="textbox 8908"/>
          <p:cNvSpPr/>
          <p:nvPr/>
        </p:nvSpPr>
        <p:spPr>
          <a:xfrm>
            <a:off x="732298" y="4411599"/>
            <a:ext cx="5782945" cy="1499235"/>
          </a:xfrm>
          <a:prstGeom prst="rect">
            <a:avLst/>
          </a:prstGeom>
        </p:spPr>
        <p:txBody>
          <a:bodyPr vert="horz" wrap="square" lIns="0" tIns="0" rIns="0" bIns="0"/>
          <a:lstStyle/>
          <a:p>
            <a:pPr algn="l" rtl="0" eaLnBrk="0">
              <a:lnSpc>
                <a:spcPct val="80000"/>
              </a:lnSpc>
            </a:pPr>
            <a:endParaRPr lang="en-US" altLang="en-US" sz="135" dirty="0"/>
          </a:p>
          <a:p>
            <a:pPr marL="12700" algn="l" rtl="0" eaLnBrk="0">
              <a:lnSpc>
                <a:spcPct val="87000"/>
              </a:lnSpc>
            </a:pPr>
            <a:r>
              <a:rPr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成员num和score用来存放结点</a:t>
            </a:r>
            <a:r>
              <a:rPr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中的有用数据（用户需要用</a:t>
            </a:r>
            <a:endParaRPr lang="en-US" altLang="en-US" dirty="0"/>
          </a:p>
          <a:p>
            <a:pPr marL="17780" algn="l" rtl="0" eaLnBrk="0">
              <a:lnSpc>
                <a:spcPts val="3240"/>
              </a:lnSpc>
            </a:pPr>
            <a:r>
              <a:rPr kern="0" spc="-120" dirty="0">
                <a:solidFill>
                  <a:srgbClr val="000000">
                    <a:alpha val="100000"/>
                  </a:srgbClr>
                </a:solidFill>
                <a:latin typeface="微软雅黑" panose="020B0503020204020204" charset="-122"/>
                <a:ea typeface="微软雅黑" panose="020B0503020204020204" charset="-122"/>
                <a:cs typeface="微软雅黑" panose="020B0503020204020204" charset="-122"/>
              </a:rPr>
              <a:t>到的数据）。</a:t>
            </a:r>
            <a:endParaRPr lang="en-US" altLang="en-US" dirty="0"/>
          </a:p>
          <a:p>
            <a:pPr marL="22860" algn="l" rtl="0" eaLnBrk="0">
              <a:lnSpc>
                <a:spcPct val="87000"/>
              </a:lnSpc>
              <a:spcBef>
                <a:spcPts val="1360"/>
              </a:spcBef>
            </a:pPr>
            <a:r>
              <a:rPr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rPr>
              <a:t>next是指针类型的成员，它指向struct Student类型数据</a:t>
            </a:r>
            <a:endParaRPr lang="en-US" altLang="en-US" dirty="0"/>
          </a:p>
          <a:p>
            <a:pPr marL="163830" algn="l" rtl="0" eaLnBrk="0">
              <a:lnSpc>
                <a:spcPts val="3240"/>
              </a:lnSpc>
            </a:pPr>
            <a:r>
              <a:rPr sz="1700"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rPr>
              <a:t>（就是next所在的结构体类型）</a:t>
            </a:r>
            <a:endParaRPr lang="en-US" altLang="en-US" sz="1700" dirty="0"/>
          </a:p>
        </p:txBody>
      </p:sp>
      <p:sp>
        <p:nvSpPr>
          <p:cNvPr id="8910" name="textbox 8910"/>
          <p:cNvSpPr/>
          <p:nvPr/>
        </p:nvSpPr>
        <p:spPr>
          <a:xfrm>
            <a:off x="636226" y="1513332"/>
            <a:ext cx="10623551" cy="615315"/>
          </a:xfrm>
          <a:prstGeom prst="rect">
            <a:avLst/>
          </a:prstGeom>
        </p:spPr>
        <p:txBody>
          <a:bodyPr vert="horz" wrap="square" lIns="0" tIns="0" rIns="0" bIns="0"/>
          <a:lstStyle/>
          <a:p>
            <a:pPr algn="l" rtl="0" eaLnBrk="0">
              <a:lnSpc>
                <a:spcPct val="66000"/>
              </a:lnSpc>
            </a:pPr>
            <a:endParaRPr lang="en-US" altLang="en-US" sz="135" dirty="0"/>
          </a:p>
          <a:p>
            <a:pPr marL="12700" indent="1270" algn="l" rtl="0" eaLnBrk="0">
              <a:lnSpc>
                <a:spcPct val="108000"/>
              </a:lnSpc>
            </a:pPr>
            <a:r>
              <a:rPr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可以用结构体变量建立链表</a:t>
            </a:r>
            <a:r>
              <a:rPr kern="0" spc="-25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。一个结构体变量包含若干成员，</a:t>
            </a:r>
            <a:r>
              <a:rPr kern="0" spc="-26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这些成员可以是数值类型</a:t>
            </a:r>
            <a:r>
              <a:rPr kern="0" spc="-27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、字符类型</a:t>
            </a:r>
            <a:r>
              <a:rPr kern="0" spc="-29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、数组</a:t>
            </a:r>
            <a:r>
              <a:rPr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类型，</a:t>
            </a:r>
            <a:r>
              <a:rPr kern="0" spc="-32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也可以是指针类型</a:t>
            </a:r>
            <a:r>
              <a:rPr kern="0" spc="-32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。用指针类型成员来</a:t>
            </a:r>
            <a:r>
              <a:rPr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存放下一个结点的地址。</a:t>
            </a:r>
            <a:endParaRPr lang="en-US" altLang="en-US" dirty="0"/>
          </a:p>
        </p:txBody>
      </p:sp>
      <p:pic>
        <p:nvPicPr>
          <p:cNvPr id="8918" name="picture 8918"/>
          <p:cNvPicPr>
            <a:picLocks noChangeAspect="1"/>
          </p:cNvPicPr>
          <p:nvPr/>
        </p:nvPicPr>
        <p:blipFill>
          <a:blip r:embed="rId3"/>
          <a:stretch>
            <a:fillRect/>
          </a:stretch>
        </p:blipFill>
        <p:spPr>
          <a:xfrm rot="21600000">
            <a:off x="7377648" y="2649473"/>
            <a:ext cx="3613011" cy="1112520"/>
          </a:xfrm>
          <a:prstGeom prst="rect">
            <a:avLst/>
          </a:prstGeom>
        </p:spPr>
      </p:pic>
      <p:sp>
        <p:nvSpPr>
          <p:cNvPr id="8920" name="textbox 8920"/>
          <p:cNvSpPr/>
          <p:nvPr/>
        </p:nvSpPr>
        <p:spPr>
          <a:xfrm>
            <a:off x="649510" y="816120"/>
            <a:ext cx="2047239" cy="497205"/>
          </a:xfrm>
          <a:prstGeom prst="rect">
            <a:avLst/>
          </a:prstGeom>
        </p:spPr>
        <p:txBody>
          <a:bodyPr vert="horz" wrap="square" lIns="0" tIns="0" rIns="0" bIns="0"/>
          <a:lstStyle/>
          <a:p>
            <a:pPr algn="l" rtl="0" eaLnBrk="0">
              <a:lnSpc>
                <a:spcPct val="79000"/>
              </a:lnSpc>
            </a:pPr>
            <a:endParaRPr lang="en-US" altLang="en-US" sz="135" dirty="0"/>
          </a:p>
          <a:p>
            <a:pPr marL="12700" algn="l" rtl="0" eaLnBrk="0">
              <a:lnSpc>
                <a:spcPct val="100000"/>
              </a:lnSpc>
            </a:pPr>
            <a:r>
              <a:rPr sz="31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什么是链表</a:t>
            </a:r>
            <a:endParaRPr lang="en-US" altLang="en-US" sz="3100" dirty="0"/>
          </a:p>
        </p:txBody>
      </p:sp>
      <p:graphicFrame>
        <p:nvGraphicFramePr>
          <p:cNvPr id="8922" name="table 8922"/>
          <p:cNvGraphicFramePr>
            <a:graphicFrameLocks noGrp="1"/>
          </p:cNvGraphicFramePr>
          <p:nvPr/>
        </p:nvGraphicFramePr>
        <p:xfrm>
          <a:off x="10268043" y="2643124"/>
          <a:ext cx="727710" cy="1123950"/>
        </p:xfrm>
        <a:graphic>
          <a:graphicData uri="http://schemas.openxmlformats.org/drawingml/2006/table">
            <a:tbl>
              <a:tblPr/>
              <a:tblGrid>
                <a:gridCol w="727710">
                  <a:extLst>
                    <a:ext uri="{9D8B030D-6E8A-4147-A177-3AD203B41FA5}">
                      <a16:colId xmlns:a16="http://schemas.microsoft.com/office/drawing/2014/main" val="20000"/>
                    </a:ext>
                  </a:extLst>
                </a:gridCol>
              </a:tblGrid>
              <a:tr h="513080">
                <a:tc>
                  <a:txBody>
                    <a:bodyPr/>
                    <a:lstStyle/>
                    <a:p>
                      <a:pPr algn="l" rtl="0" eaLnBrk="0">
                        <a:lnSpc>
                          <a:spcPct val="101000"/>
                        </a:lnSpc>
                      </a:pPr>
                      <a:endParaRPr lang="en-US" altLang="en-US" sz="700" dirty="0"/>
                    </a:p>
                    <a:p>
                      <a:pPr marL="113665" algn="l" rtl="0" eaLnBrk="0">
                        <a:lnSpc>
                          <a:spcPct val="82000"/>
                        </a:lnSpc>
                        <a:spcBef>
                          <a:spcPts val="5"/>
                        </a:spcBef>
                      </a:pPr>
                      <a:r>
                        <a:rPr sz="15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10107</a:t>
                      </a:r>
                      <a:endParaRPr lang="en-US" altLang="en-US" sz="1500" dirty="0"/>
                    </a:p>
                  </a:txBody>
                  <a:tcPr marL="0" marR="0" marT="0" marB="0">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0"/>
                  </a:ext>
                </a:extLst>
              </a:tr>
              <a:tr h="310515">
                <a:tc>
                  <a:txBody>
                    <a:bodyPr/>
                    <a:lstStyle/>
                    <a:p>
                      <a:pPr algn="l" rtl="0" eaLnBrk="0">
                        <a:lnSpc>
                          <a:spcPct val="112000"/>
                        </a:lnSpc>
                      </a:pPr>
                      <a:endParaRPr lang="en-US" altLang="en-US" sz="600" dirty="0"/>
                    </a:p>
                    <a:p>
                      <a:pPr marL="266700" algn="l" rtl="0" eaLnBrk="0">
                        <a:lnSpc>
                          <a:spcPct val="78000"/>
                        </a:lnSpc>
                        <a:spcBef>
                          <a:spcPts val="0"/>
                        </a:spcBef>
                      </a:pPr>
                      <a:r>
                        <a:rPr sz="16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85</a:t>
                      </a:r>
                      <a:endParaRPr lang="en-US" altLang="en-US" sz="1600" dirty="0"/>
                    </a:p>
                  </a:txBody>
                  <a:tcPr marL="0" marR="0" marT="0" marB="0">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1"/>
                  </a:ext>
                </a:extLst>
              </a:tr>
              <a:tr h="300355">
                <a:tc>
                  <a:txBody>
                    <a:bodyPr/>
                    <a:lstStyle/>
                    <a:p>
                      <a:pPr algn="l" rtl="0" eaLnBrk="0">
                        <a:lnSpc>
                          <a:spcPct val="100000"/>
                        </a:lnSpc>
                      </a:pPr>
                      <a:endParaRPr lang="en-US" altLang="en-US" sz="1000" dirty="0"/>
                    </a:p>
                  </a:txBody>
                  <a:tcPr marL="0" marR="0" marT="0" marB="0">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graphicFrame>
        <p:nvGraphicFramePr>
          <p:cNvPr id="8924" name="table 8924"/>
          <p:cNvGraphicFramePr>
            <a:graphicFrameLocks noGrp="1"/>
          </p:cNvGraphicFramePr>
          <p:nvPr/>
        </p:nvGraphicFramePr>
        <p:xfrm>
          <a:off x="7377648" y="2643124"/>
          <a:ext cx="721995" cy="753110"/>
        </p:xfrm>
        <a:graphic>
          <a:graphicData uri="http://schemas.openxmlformats.org/drawingml/2006/table">
            <a:tbl>
              <a:tblPr/>
              <a:tblGrid>
                <a:gridCol w="721995">
                  <a:extLst>
                    <a:ext uri="{9D8B030D-6E8A-4147-A177-3AD203B41FA5}">
                      <a16:colId xmlns:a16="http://schemas.microsoft.com/office/drawing/2014/main" val="20000"/>
                    </a:ext>
                  </a:extLst>
                </a:gridCol>
              </a:tblGrid>
              <a:tr h="379095">
                <a:tc>
                  <a:txBody>
                    <a:bodyPr/>
                    <a:lstStyle/>
                    <a:p>
                      <a:pPr algn="l" rtl="0" eaLnBrk="0">
                        <a:lnSpc>
                          <a:spcPct val="101000"/>
                        </a:lnSpc>
                      </a:pPr>
                      <a:endParaRPr lang="en-US" altLang="en-US" sz="700" dirty="0"/>
                    </a:p>
                    <a:p>
                      <a:pPr marL="112395" algn="l" rtl="0" eaLnBrk="0">
                        <a:lnSpc>
                          <a:spcPct val="82000"/>
                        </a:lnSpc>
                        <a:spcBef>
                          <a:spcPts val="5"/>
                        </a:spcBef>
                      </a:pPr>
                      <a:r>
                        <a:rPr sz="15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10101</a:t>
                      </a:r>
                      <a:endParaRPr lang="en-US" altLang="en-US" sz="1500" dirty="0"/>
                    </a:p>
                  </a:txBody>
                  <a:tcPr marL="0" marR="0" marT="0" marB="0">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0"/>
                  </a:ext>
                </a:extLst>
              </a:tr>
              <a:tr h="374015">
                <a:tc>
                  <a:txBody>
                    <a:bodyPr/>
                    <a:lstStyle/>
                    <a:p>
                      <a:pPr algn="l" rtl="0" eaLnBrk="0">
                        <a:lnSpc>
                          <a:spcPct val="112000"/>
                        </a:lnSpc>
                      </a:pPr>
                      <a:endParaRPr lang="en-US" altLang="en-US" sz="600" dirty="0"/>
                    </a:p>
                    <a:p>
                      <a:pPr marL="189230" algn="l" rtl="0" eaLnBrk="0">
                        <a:lnSpc>
                          <a:spcPct val="82000"/>
                        </a:lnSpc>
                      </a:pPr>
                      <a:r>
                        <a:rPr sz="15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89.5</a:t>
                      </a:r>
                      <a:endParaRPr lang="en-US" altLang="en-US" sz="1500" dirty="0"/>
                    </a:p>
                  </a:txBody>
                  <a:tcPr marL="0" marR="0" marT="0" marB="0">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graphicFrame>
        <p:nvGraphicFramePr>
          <p:cNvPr id="8926" name="table 8926"/>
          <p:cNvGraphicFramePr>
            <a:graphicFrameLocks noGrp="1"/>
          </p:cNvGraphicFramePr>
          <p:nvPr/>
        </p:nvGraphicFramePr>
        <p:xfrm>
          <a:off x="8822908" y="2643124"/>
          <a:ext cx="721360" cy="762318"/>
        </p:xfrm>
        <a:graphic>
          <a:graphicData uri="http://schemas.openxmlformats.org/drawingml/2006/table">
            <a:tbl>
              <a:tblPr/>
              <a:tblGrid>
                <a:gridCol w="721360">
                  <a:extLst>
                    <a:ext uri="{9D8B030D-6E8A-4147-A177-3AD203B41FA5}">
                      <a16:colId xmlns:a16="http://schemas.microsoft.com/office/drawing/2014/main" val="20000"/>
                    </a:ext>
                  </a:extLst>
                </a:gridCol>
              </a:tblGrid>
              <a:tr h="469265">
                <a:tc>
                  <a:txBody>
                    <a:bodyPr/>
                    <a:lstStyle/>
                    <a:p>
                      <a:pPr algn="l" rtl="0" eaLnBrk="0">
                        <a:lnSpc>
                          <a:spcPct val="101000"/>
                        </a:lnSpc>
                      </a:pPr>
                      <a:endParaRPr lang="en-US" altLang="en-US" sz="700" dirty="0"/>
                    </a:p>
                    <a:p>
                      <a:pPr marL="113030" algn="l" rtl="0" eaLnBrk="0">
                        <a:lnSpc>
                          <a:spcPct val="82000"/>
                        </a:lnSpc>
                        <a:spcBef>
                          <a:spcPts val="5"/>
                        </a:spcBef>
                      </a:pPr>
                      <a:r>
                        <a:rPr sz="15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10103</a:t>
                      </a:r>
                      <a:endParaRPr lang="en-US" altLang="en-US" sz="1500" dirty="0"/>
                    </a:p>
                  </a:txBody>
                  <a:tcPr marL="0" marR="0" marT="0" marB="0">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0"/>
                  </a:ext>
                </a:extLst>
              </a:tr>
              <a:tr h="292100">
                <a:tc>
                  <a:txBody>
                    <a:bodyPr/>
                    <a:lstStyle/>
                    <a:p>
                      <a:pPr algn="l" rtl="0" eaLnBrk="0">
                        <a:lnSpc>
                          <a:spcPct val="112000"/>
                        </a:lnSpc>
                      </a:pPr>
                      <a:endParaRPr lang="en-US" altLang="en-US" sz="600" dirty="0"/>
                    </a:p>
                    <a:p>
                      <a:pPr marL="266065" algn="l" rtl="0" eaLnBrk="0">
                        <a:lnSpc>
                          <a:spcPct val="78000"/>
                        </a:lnSpc>
                        <a:spcBef>
                          <a:spcPts val="0"/>
                        </a:spcBef>
                      </a:pPr>
                      <a:r>
                        <a:rPr sz="16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90</a:t>
                      </a:r>
                      <a:endParaRPr lang="en-US" altLang="en-US" sz="1600" dirty="0"/>
                    </a:p>
                  </a:txBody>
                  <a:tcPr marL="0" marR="0" marT="0" marB="0">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8928" name="textbox 8928"/>
          <p:cNvSpPr/>
          <p:nvPr/>
        </p:nvSpPr>
        <p:spPr>
          <a:xfrm>
            <a:off x="6776678" y="2777293"/>
            <a:ext cx="486409" cy="953769"/>
          </a:xfrm>
          <a:prstGeom prst="rect">
            <a:avLst/>
          </a:prstGeom>
        </p:spPr>
        <p:txBody>
          <a:bodyPr vert="horz" wrap="square" lIns="0" tIns="0" rIns="0" bIns="0"/>
          <a:lstStyle/>
          <a:p>
            <a:pPr algn="l" rtl="0" eaLnBrk="0">
              <a:lnSpc>
                <a:spcPct val="83000"/>
              </a:lnSpc>
            </a:pPr>
            <a:endParaRPr lang="en-US" altLang="en-US" sz="135" dirty="0"/>
          </a:p>
          <a:p>
            <a:pPr marL="57785" algn="l" rtl="0" eaLnBrk="0">
              <a:lnSpc>
                <a:spcPts val="1170"/>
              </a:lnSpc>
            </a:pPr>
            <a:r>
              <a:rPr sz="15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num</a:t>
            </a:r>
            <a:endParaRPr lang="en-US" altLang="en-US" sz="1500" dirty="0"/>
          </a:p>
          <a:p>
            <a:pPr algn="l" rtl="0" eaLnBrk="0">
              <a:lnSpc>
                <a:spcPct val="108000"/>
              </a:lnSpc>
            </a:pPr>
            <a:endParaRPr lang="en-US" altLang="en-US" sz="1000" dirty="0"/>
          </a:p>
          <a:p>
            <a:pPr marL="12700" algn="l" rtl="0" eaLnBrk="0">
              <a:lnSpc>
                <a:spcPts val="1170"/>
              </a:lnSpc>
              <a:spcBef>
                <a:spcPts val="455"/>
              </a:spcBef>
            </a:pPr>
            <a:r>
              <a:rPr sz="15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score</a:t>
            </a:r>
            <a:endParaRPr lang="en-US" altLang="en-US" sz="1500" dirty="0"/>
          </a:p>
          <a:p>
            <a:pPr algn="l" rtl="0" eaLnBrk="0">
              <a:lnSpc>
                <a:spcPct val="111000"/>
              </a:lnSpc>
            </a:pPr>
            <a:endParaRPr lang="en-US" altLang="en-US" sz="900" dirty="0"/>
          </a:p>
          <a:p>
            <a:pPr marL="69850" algn="l" rtl="0" eaLnBrk="0">
              <a:lnSpc>
                <a:spcPts val="2015"/>
              </a:lnSpc>
              <a:spcBef>
                <a:spcPts val="0"/>
              </a:spcBef>
            </a:pPr>
            <a:r>
              <a:rPr sz="15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rPr>
              <a:t>next</a:t>
            </a:r>
            <a:endParaRPr lang="en-US" altLang="en-US" sz="1500" dirty="0"/>
          </a:p>
        </p:txBody>
      </p:sp>
      <p:sp>
        <p:nvSpPr>
          <p:cNvPr id="8930" name="path"/>
          <p:cNvSpPr/>
          <p:nvPr/>
        </p:nvSpPr>
        <p:spPr>
          <a:xfrm>
            <a:off x="551780" y="1380236"/>
            <a:ext cx="10775695" cy="25400"/>
          </a:xfrm>
          <a:custGeom>
            <a:avLst/>
            <a:gdLst/>
            <a:ahLst/>
            <a:cxnLst/>
            <a:rect l="0" t="0" r="0" b="0"/>
            <a:pathLst>
              <a:path w="16969" h="40">
                <a:moveTo>
                  <a:pt x="20" y="20"/>
                </a:moveTo>
                <a:lnTo>
                  <a:pt x="16949" y="20"/>
                </a:lnTo>
                <a:lnTo>
                  <a:pt x="20" y="20"/>
                </a:lnTo>
              </a:path>
            </a:pathLst>
          </a:custGeom>
          <a:noFill/>
          <a:ln w="25400" cap="sq">
            <a:solidFill>
              <a:srgbClr val="782367">
                <a:alpha val="100000"/>
              </a:srgbClr>
            </a:solidFill>
            <a:prstDash val="solid"/>
            <a:bevel/>
          </a:ln>
        </p:spPr>
        <p:txBody>
          <a:bodyPr rtlCol="0"/>
          <a:lstStyle/>
          <a:p>
            <a:pPr algn="ctr"/>
            <a:endParaRPr lang="zh-CN" altLang="en-US"/>
          </a:p>
        </p:txBody>
      </p:sp>
      <p:sp>
        <p:nvSpPr>
          <p:cNvPr id="8932" name="path"/>
          <p:cNvSpPr/>
          <p:nvPr/>
        </p:nvSpPr>
        <p:spPr>
          <a:xfrm>
            <a:off x="551780" y="6119876"/>
            <a:ext cx="10775695" cy="25400"/>
          </a:xfrm>
          <a:custGeom>
            <a:avLst/>
            <a:gdLst/>
            <a:ahLst/>
            <a:cxnLst/>
            <a:rect l="0" t="0" r="0" b="0"/>
            <a:pathLst>
              <a:path w="16969" h="40">
                <a:moveTo>
                  <a:pt x="20" y="20"/>
                </a:moveTo>
                <a:lnTo>
                  <a:pt x="16949" y="20"/>
                </a:lnTo>
                <a:lnTo>
                  <a:pt x="20" y="20"/>
                </a:lnTo>
              </a:path>
            </a:pathLst>
          </a:custGeom>
          <a:noFill/>
          <a:ln w="25400" cap="sq">
            <a:solidFill>
              <a:srgbClr val="782367">
                <a:alpha val="100000"/>
              </a:srgbClr>
            </a:solidFill>
            <a:prstDash val="solid"/>
            <a:bevel/>
          </a:ln>
        </p:spPr>
        <p:txBody>
          <a:bodyPr rtlCol="0"/>
          <a:lstStyle/>
          <a:p>
            <a:pPr algn="ctr"/>
            <a:endParaRPr lang="zh-CN" altLang="en-US"/>
          </a:p>
        </p:txBody>
      </p:sp>
      <p:sp>
        <p:nvSpPr>
          <p:cNvPr id="8934" name="rect"/>
          <p:cNvSpPr/>
          <p:nvPr/>
        </p:nvSpPr>
        <p:spPr>
          <a:xfrm>
            <a:off x="7377648" y="3755644"/>
            <a:ext cx="722631" cy="12700"/>
          </a:xfrm>
          <a:prstGeom prst="rect">
            <a:avLst/>
          </a:prstGeom>
          <a:solidFill>
            <a:srgbClr val="FFFFFF">
              <a:alpha val="100000"/>
            </a:srgbClr>
          </a:solidFill>
          <a:ln cap="flat">
            <a:noFill/>
            <a:prstDash val="solid"/>
            <a:miter lim="0"/>
          </a:ln>
        </p:spPr>
        <p:txBody>
          <a:bodyPr rtlCol="0"/>
          <a:lstStyle/>
          <a:p>
            <a:pPr algn="ctr"/>
            <a:endParaRPr lang="zh-CN" altLang="en-US"/>
          </a:p>
        </p:txBody>
      </p:sp>
      <p:sp>
        <p:nvSpPr>
          <p:cNvPr id="8936" name="rect"/>
          <p:cNvSpPr/>
          <p:nvPr/>
        </p:nvSpPr>
        <p:spPr>
          <a:xfrm>
            <a:off x="8822908" y="3755644"/>
            <a:ext cx="722503" cy="12700"/>
          </a:xfrm>
          <a:prstGeom prst="rect">
            <a:avLst/>
          </a:prstGeom>
          <a:solidFill>
            <a:srgbClr val="FFFFFF">
              <a:alpha val="100000"/>
            </a:srgbClr>
          </a:solidFill>
          <a:ln cap="flat">
            <a:noFill/>
            <a:prstDash val="solid"/>
            <a:miter lim="0"/>
          </a:ln>
        </p:spPr>
        <p:txBody>
          <a:bodyPr rtlCol="0"/>
          <a:lstStyle/>
          <a:p>
            <a:pPr algn="ctr"/>
            <a:endParaRPr lang="zh-CN" altLang="en-US"/>
          </a:p>
        </p:txBody>
      </p:sp>
      <p:sp>
        <p:nvSpPr>
          <p:cNvPr id="3" name="矩形 2"/>
          <p:cNvSpPr/>
          <p:nvPr>
            <p:custDataLst>
              <p:tags r:id="rId1"/>
            </p:custDataLst>
          </p:nvPr>
        </p:nvSpPr>
        <p:spPr>
          <a:xfrm>
            <a:off x="636270" y="2259965"/>
            <a:ext cx="6019800" cy="2077720"/>
          </a:xfrm>
          <a:prstGeom prst="rect">
            <a:avLst/>
          </a:prstGeom>
          <a:solidFill>
            <a:schemeClr val="bg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l"/>
            <a:endParaRPr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endParaRPr>
          </a:p>
          <a:p>
            <a:pPr algn="l"/>
            <a:endParaRPr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endParaRPr>
          </a:p>
          <a:p>
            <a:pPr algn="l"/>
            <a:r>
              <a:rPr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struct Student</a:t>
            </a:r>
          </a:p>
          <a:p>
            <a:pPr marL="143510" algn="l" rtl="0" eaLnBrk="0">
              <a:lnSpc>
                <a:spcPts val="1825"/>
              </a:lnSpc>
              <a:spcBef>
                <a:spcPts val="5"/>
              </a:spcBef>
            </a:pPr>
            <a:r>
              <a:rPr lang="en-US"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int</a:t>
            </a:r>
            <a:r>
              <a:rPr kern="0" spc="1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num;</a:t>
            </a:r>
            <a:endParaRPr lang="en-US" altLang="en-US" dirty="0"/>
          </a:p>
          <a:p>
            <a:pPr marL="131445" algn="l" rtl="0" eaLnBrk="0">
              <a:lnSpc>
                <a:spcPts val="1825"/>
              </a:lnSpc>
              <a:spcBef>
                <a:spcPts val="1055"/>
              </a:spcBef>
            </a:pPr>
            <a:r>
              <a:rPr lang="en-US"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float score;</a:t>
            </a:r>
            <a:endParaRPr lang="en-US" altLang="en-US" dirty="0"/>
          </a:p>
          <a:p>
            <a:pPr algn="l" rtl="0" eaLnBrk="0">
              <a:lnSpc>
                <a:spcPct val="109000"/>
              </a:lnSpc>
            </a:pPr>
            <a:r>
              <a:rPr lang="en-US"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struct Student</a:t>
            </a:r>
            <a:r>
              <a:rPr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*nex</a:t>
            </a:r>
            <a:r>
              <a:rPr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t;</a:t>
            </a:r>
            <a:r>
              <a:rPr lang="en-US"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kern="0" spc="-3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//next是指针变量，指向结构体变量</a:t>
            </a:r>
            <a:endParaRPr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endParaRPr>
          </a:p>
          <a:p>
            <a:pPr algn="l" rtl="0" eaLnBrk="0">
              <a:lnSpc>
                <a:spcPct val="109000"/>
              </a:lnSpc>
            </a:pPr>
            <a:r>
              <a:rPr lang="en-US"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endParaRPr lang="en-US" altLang="en-US" dirty="0"/>
          </a:p>
          <a:p>
            <a:pPr algn="ctr"/>
            <a:endParaRPr lang="en-US" altLang="en-US" dirty="0"/>
          </a:p>
          <a:p>
            <a:pPr algn="ctr"/>
            <a:endParaRPr lang="zh-CN" altLang="en-US"/>
          </a:p>
        </p:txBody>
      </p:sp>
      <p:sp>
        <p:nvSpPr>
          <p:cNvPr id="2" name="文本框 1"/>
          <p:cNvSpPr txBox="1"/>
          <p:nvPr/>
        </p:nvSpPr>
        <p:spPr>
          <a:xfrm>
            <a:off x="7263765" y="4632960"/>
            <a:ext cx="4064000" cy="922020"/>
          </a:xfrm>
          <a:prstGeom prst="rect">
            <a:avLst/>
          </a:prstGeom>
          <a:noFill/>
        </p:spPr>
        <p:txBody>
          <a:bodyPr wrap="square" rtlCol="0">
            <a:spAutoFit/>
          </a:bodyPr>
          <a:lstStyle/>
          <a:p>
            <a:pPr algn="just"/>
            <a:r>
              <a:rPr lang="zh-CN" altLang="en-US" b="1">
                <a:solidFill>
                  <a:srgbClr val="1100CC"/>
                </a:solidFill>
                <a:latin typeface="微软雅黑" panose="020B0503020204020204" charset="-122"/>
                <a:ea typeface="微软雅黑" panose="020B0503020204020204" charset="-122"/>
              </a:rPr>
              <a:t>注意：</a:t>
            </a:r>
            <a:r>
              <a:rPr kern="0" spc="-50" dirty="0">
                <a:solidFill>
                  <a:srgbClr val="404040">
                    <a:alpha val="100000"/>
                  </a:srgbClr>
                </a:solidFill>
                <a:latin typeface="微软雅黑" panose="020B0503020204020204" charset="-122"/>
                <a:ea typeface="微软雅黑" panose="020B0503020204020204" charset="-122"/>
                <a:cs typeface="微软雅黑" panose="020B0503020204020204" charset="-122"/>
                <a:sym typeface="+mn-ea"/>
              </a:rPr>
              <a:t>上面只是定义了一个struct S</a:t>
            </a:r>
            <a:r>
              <a:rPr kern="0" spc="-60" dirty="0">
                <a:solidFill>
                  <a:srgbClr val="404040">
                    <a:alpha val="100000"/>
                  </a:srgbClr>
                </a:solidFill>
                <a:latin typeface="微软雅黑" panose="020B0503020204020204" charset="-122"/>
                <a:ea typeface="微软雅黑" panose="020B0503020204020204" charset="-122"/>
                <a:cs typeface="微软雅黑" panose="020B0503020204020204" charset="-122"/>
                <a:sym typeface="+mn-ea"/>
              </a:rPr>
              <a:t>tudent</a:t>
            </a:r>
            <a:r>
              <a:rPr kern="0" dirty="0">
                <a:solidFill>
                  <a:srgbClr val="404040">
                    <a:alpha val="100000"/>
                  </a:srgbClr>
                </a:solidFill>
                <a:latin typeface="微软雅黑" panose="020B0503020204020204" charset="-122"/>
                <a:ea typeface="微软雅黑" panose="020B0503020204020204" charset="-122"/>
                <a:cs typeface="微软雅黑" panose="020B0503020204020204" charset="-122"/>
                <a:sym typeface="+mn-ea"/>
              </a:rPr>
              <a:t> </a:t>
            </a:r>
            <a:r>
              <a:rPr kern="0" spc="-60" dirty="0">
                <a:solidFill>
                  <a:srgbClr val="404040">
                    <a:alpha val="100000"/>
                  </a:srgbClr>
                </a:solidFill>
                <a:latin typeface="微软雅黑" panose="020B0503020204020204" charset="-122"/>
                <a:ea typeface="微软雅黑" panose="020B0503020204020204" charset="-122"/>
                <a:cs typeface="微软雅黑" panose="020B0503020204020204" charset="-122"/>
                <a:sym typeface="+mn-ea"/>
              </a:rPr>
              <a:t>类型，并未实际分配存储空间，  只</a:t>
            </a:r>
            <a:r>
              <a:rPr kern="0" spc="-40" dirty="0">
                <a:solidFill>
                  <a:srgbClr val="404040">
                    <a:alpha val="100000"/>
                  </a:srgbClr>
                </a:solidFill>
                <a:latin typeface="微软雅黑" panose="020B0503020204020204" charset="-122"/>
                <a:ea typeface="微软雅黑" panose="020B0503020204020204" charset="-122"/>
                <a:cs typeface="微软雅黑" panose="020B0503020204020204" charset="-122"/>
                <a:sym typeface="+mn-ea"/>
              </a:rPr>
              <a:t>有定义了变量才分配存储单元。</a:t>
            </a:r>
            <a:endParaRPr lang="zh-CN" altLang="en-US" b="1">
              <a:solidFill>
                <a:srgbClr val="1100CC"/>
              </a:solidFill>
              <a:latin typeface="微软雅黑" panose="020B0503020204020204" charset="-122"/>
              <a:ea typeface="微软雅黑" panose="020B0503020204020204"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40" name="textbox 8940"/>
          <p:cNvSpPr/>
          <p:nvPr/>
        </p:nvSpPr>
        <p:spPr>
          <a:xfrm>
            <a:off x="595327" y="596919"/>
            <a:ext cx="9855835" cy="897255"/>
          </a:xfrm>
          <a:prstGeom prst="rect">
            <a:avLst/>
          </a:prstGeom>
        </p:spPr>
        <p:txBody>
          <a:bodyPr vert="horz" wrap="square" lIns="0" tIns="0" rIns="0" bIns="0"/>
          <a:lstStyle/>
          <a:p>
            <a:pPr algn="l" rtl="0" eaLnBrk="0">
              <a:lnSpc>
                <a:spcPct val="87000"/>
              </a:lnSpc>
            </a:pPr>
            <a:endParaRPr lang="en-US" altLang="en-US" sz="135" dirty="0"/>
          </a:p>
          <a:p>
            <a:pPr marL="135255" algn="l" rtl="0" eaLnBrk="0">
              <a:lnSpc>
                <a:spcPct val="100000"/>
              </a:lnSpc>
            </a:pPr>
            <a:r>
              <a:rPr sz="31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建立简单的静态链表</a:t>
            </a:r>
            <a:endParaRPr lang="en-US" altLang="en-US" sz="3100" dirty="0"/>
          </a:p>
          <a:p>
            <a:pPr algn="l" rtl="0" eaLnBrk="0">
              <a:lnSpc>
                <a:spcPct val="116000"/>
              </a:lnSpc>
            </a:pPr>
            <a:endParaRPr lang="en-US" altLang="en-US" sz="600" dirty="0"/>
          </a:p>
          <a:p>
            <a:pPr algn="r" rtl="0" eaLnBrk="0">
              <a:lnSpc>
                <a:spcPts val="2300"/>
              </a:lnSpc>
              <a:spcBef>
                <a:spcPts val="5"/>
              </a:spcBef>
            </a:pPr>
            <a:r>
              <a:rPr sz="1900" kern="0" spc="40" dirty="0">
                <a:solidFill>
                  <a:srgbClr val="782367">
                    <a:alpha val="100000"/>
                  </a:srgbClr>
                </a:solidFill>
                <a:latin typeface="微软雅黑" panose="020B0503020204020204" charset="-122"/>
                <a:ea typeface="微软雅黑" panose="020B0503020204020204" charset="-122"/>
                <a:cs typeface="微软雅黑" panose="020B0503020204020204" charset="-122"/>
              </a:rPr>
              <a:t>【例</a:t>
            </a:r>
            <a:r>
              <a:rPr lang="en-US" sz="1900" kern="0" spc="40" dirty="0">
                <a:solidFill>
                  <a:srgbClr val="782367">
                    <a:alpha val="100000"/>
                  </a:srgbClr>
                </a:solidFill>
                <a:latin typeface="微软雅黑" panose="020B0503020204020204" charset="-122"/>
                <a:ea typeface="微软雅黑" panose="020B0503020204020204" charset="-122"/>
                <a:cs typeface="微软雅黑" panose="020B0503020204020204" charset="-122"/>
              </a:rPr>
              <a:t>7</a:t>
            </a:r>
            <a:r>
              <a:rPr sz="1900" kern="0" spc="40" dirty="0">
                <a:solidFill>
                  <a:srgbClr val="782367">
                    <a:alpha val="100000"/>
                  </a:srgbClr>
                </a:solidFill>
                <a:latin typeface="微软雅黑" panose="020B0503020204020204" charset="-122"/>
                <a:ea typeface="微软雅黑" panose="020B0503020204020204" charset="-122"/>
                <a:cs typeface="微软雅黑" panose="020B0503020204020204" charset="-122"/>
              </a:rPr>
              <a:t>.8】建立一个</a:t>
            </a:r>
            <a:r>
              <a:rPr sz="1900" kern="0" spc="30" dirty="0">
                <a:solidFill>
                  <a:srgbClr val="782367">
                    <a:alpha val="100000"/>
                  </a:srgbClr>
                </a:solidFill>
                <a:latin typeface="微软雅黑" panose="020B0503020204020204" charset="-122"/>
                <a:ea typeface="微软雅黑" panose="020B0503020204020204" charset="-122"/>
                <a:cs typeface="微软雅黑" panose="020B0503020204020204" charset="-122"/>
              </a:rPr>
              <a:t>简单链表，它由3个学生数据的结点组成，要求输出各结点中的数据。</a:t>
            </a:r>
            <a:endParaRPr lang="en-US" altLang="en-US" sz="1900" kern="0" spc="30" dirty="0">
              <a:solidFill>
                <a:srgbClr val="782367">
                  <a:alpha val="100000"/>
                </a:srgbClr>
              </a:solidFill>
              <a:latin typeface="微软雅黑" panose="020B0503020204020204" charset="-122"/>
              <a:ea typeface="微软雅黑" panose="020B0503020204020204" charset="-122"/>
              <a:cs typeface="微软雅黑" panose="020B0503020204020204" charset="-122"/>
            </a:endParaRPr>
          </a:p>
        </p:txBody>
      </p:sp>
      <p:pic>
        <p:nvPicPr>
          <p:cNvPr id="8942" name="picture 8942"/>
          <p:cNvPicPr>
            <a:picLocks noChangeAspect="1"/>
          </p:cNvPicPr>
          <p:nvPr/>
        </p:nvPicPr>
        <p:blipFill>
          <a:blip r:embed="rId4"/>
          <a:stretch>
            <a:fillRect/>
          </a:stretch>
        </p:blipFill>
        <p:spPr>
          <a:xfrm rot="21600000">
            <a:off x="8058243" y="2237104"/>
            <a:ext cx="3613136" cy="1112520"/>
          </a:xfrm>
          <a:prstGeom prst="rect">
            <a:avLst/>
          </a:prstGeom>
        </p:spPr>
      </p:pic>
      <p:graphicFrame>
        <p:nvGraphicFramePr>
          <p:cNvPr id="8946" name="table 8946"/>
          <p:cNvGraphicFramePr>
            <a:graphicFrameLocks noGrp="1"/>
          </p:cNvGraphicFramePr>
          <p:nvPr/>
        </p:nvGraphicFramePr>
        <p:xfrm>
          <a:off x="10948762" y="2230755"/>
          <a:ext cx="728980" cy="1123950"/>
        </p:xfrm>
        <a:graphic>
          <a:graphicData uri="http://schemas.openxmlformats.org/drawingml/2006/table">
            <a:tbl>
              <a:tblPr/>
              <a:tblGrid>
                <a:gridCol w="728980">
                  <a:extLst>
                    <a:ext uri="{9D8B030D-6E8A-4147-A177-3AD203B41FA5}">
                      <a16:colId xmlns:a16="http://schemas.microsoft.com/office/drawing/2014/main" val="20000"/>
                    </a:ext>
                  </a:extLst>
                </a:gridCol>
              </a:tblGrid>
              <a:tr h="513080">
                <a:tc>
                  <a:txBody>
                    <a:bodyPr/>
                    <a:lstStyle/>
                    <a:p>
                      <a:pPr algn="l" rtl="0" eaLnBrk="0">
                        <a:lnSpc>
                          <a:spcPct val="101000"/>
                        </a:lnSpc>
                      </a:pPr>
                      <a:endParaRPr lang="en-US" altLang="en-US" sz="700" dirty="0"/>
                    </a:p>
                    <a:p>
                      <a:pPr marL="113030" algn="l" rtl="0" eaLnBrk="0">
                        <a:lnSpc>
                          <a:spcPct val="82000"/>
                        </a:lnSpc>
                      </a:pPr>
                      <a:r>
                        <a:rPr sz="15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10107</a:t>
                      </a:r>
                      <a:endParaRPr lang="en-US" altLang="en-US" sz="1500" dirty="0"/>
                    </a:p>
                  </a:txBody>
                  <a:tcPr marL="0" marR="0" marT="0" marB="0">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0"/>
                  </a:ext>
                </a:extLst>
              </a:tr>
              <a:tr h="309880">
                <a:tc>
                  <a:txBody>
                    <a:bodyPr/>
                    <a:lstStyle/>
                    <a:p>
                      <a:pPr algn="l" rtl="0" eaLnBrk="0">
                        <a:lnSpc>
                          <a:spcPct val="111000"/>
                        </a:lnSpc>
                      </a:pPr>
                      <a:endParaRPr lang="en-US" altLang="en-US" sz="600" dirty="0"/>
                    </a:p>
                    <a:p>
                      <a:pPr marL="266700" algn="l" rtl="0" eaLnBrk="0">
                        <a:lnSpc>
                          <a:spcPct val="78000"/>
                        </a:lnSpc>
                        <a:spcBef>
                          <a:spcPts val="5"/>
                        </a:spcBef>
                      </a:pPr>
                      <a:r>
                        <a:rPr sz="16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85</a:t>
                      </a:r>
                      <a:endParaRPr lang="en-US" altLang="en-US" sz="1600" dirty="0"/>
                    </a:p>
                  </a:txBody>
                  <a:tcPr marL="0" marR="0" marT="0" marB="0">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1"/>
                  </a:ext>
                </a:extLst>
              </a:tr>
              <a:tr h="300990">
                <a:tc>
                  <a:txBody>
                    <a:bodyPr/>
                    <a:lstStyle/>
                    <a:p>
                      <a:pPr algn="l" rtl="0" eaLnBrk="0">
                        <a:lnSpc>
                          <a:spcPct val="100000"/>
                        </a:lnSpc>
                      </a:pPr>
                      <a:endParaRPr lang="en-US" altLang="en-US" sz="1000" dirty="0"/>
                    </a:p>
                  </a:txBody>
                  <a:tcPr marL="0" marR="0" marT="0" marB="0">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graphicFrame>
        <p:nvGraphicFramePr>
          <p:cNvPr id="8948" name="table 8948"/>
          <p:cNvGraphicFramePr>
            <a:graphicFrameLocks noGrp="1"/>
          </p:cNvGraphicFramePr>
          <p:nvPr/>
        </p:nvGraphicFramePr>
        <p:xfrm>
          <a:off x="8058243" y="2230755"/>
          <a:ext cx="721360" cy="753110"/>
        </p:xfrm>
        <a:graphic>
          <a:graphicData uri="http://schemas.openxmlformats.org/drawingml/2006/table">
            <a:tbl>
              <a:tblPr/>
              <a:tblGrid>
                <a:gridCol w="721360">
                  <a:extLst>
                    <a:ext uri="{9D8B030D-6E8A-4147-A177-3AD203B41FA5}">
                      <a16:colId xmlns:a16="http://schemas.microsoft.com/office/drawing/2014/main" val="20000"/>
                    </a:ext>
                  </a:extLst>
                </a:gridCol>
              </a:tblGrid>
              <a:tr h="379095">
                <a:tc>
                  <a:txBody>
                    <a:bodyPr/>
                    <a:lstStyle/>
                    <a:p>
                      <a:pPr algn="l" rtl="0" eaLnBrk="0">
                        <a:lnSpc>
                          <a:spcPct val="101000"/>
                        </a:lnSpc>
                      </a:pPr>
                      <a:endParaRPr lang="en-US" altLang="en-US" sz="700" dirty="0"/>
                    </a:p>
                    <a:p>
                      <a:pPr marL="113030" algn="l" rtl="0" eaLnBrk="0">
                        <a:lnSpc>
                          <a:spcPct val="82000"/>
                        </a:lnSpc>
                      </a:pPr>
                      <a:r>
                        <a:rPr sz="15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10101</a:t>
                      </a:r>
                      <a:endParaRPr lang="en-US" altLang="en-US" sz="1500" dirty="0"/>
                    </a:p>
                  </a:txBody>
                  <a:tcPr marL="0" marR="0" marT="0" marB="0">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0"/>
                  </a:ext>
                </a:extLst>
              </a:tr>
              <a:tr h="374015">
                <a:tc>
                  <a:txBody>
                    <a:bodyPr/>
                    <a:lstStyle/>
                    <a:p>
                      <a:pPr algn="l" rtl="0" eaLnBrk="0">
                        <a:lnSpc>
                          <a:spcPct val="111000"/>
                        </a:lnSpc>
                      </a:pPr>
                      <a:endParaRPr lang="en-US" altLang="en-US" sz="600" dirty="0"/>
                    </a:p>
                    <a:p>
                      <a:pPr marL="189865" algn="l" rtl="0" eaLnBrk="0">
                        <a:lnSpc>
                          <a:spcPct val="82000"/>
                        </a:lnSpc>
                        <a:spcBef>
                          <a:spcPts val="5"/>
                        </a:spcBef>
                      </a:pPr>
                      <a:r>
                        <a:rPr sz="15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89.5</a:t>
                      </a:r>
                      <a:endParaRPr lang="en-US" altLang="en-US" sz="1500" dirty="0"/>
                    </a:p>
                  </a:txBody>
                  <a:tcPr marL="0" marR="0" marT="0" marB="0">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graphicFrame>
        <p:nvGraphicFramePr>
          <p:cNvPr id="8950" name="table 8950"/>
          <p:cNvGraphicFramePr>
            <a:graphicFrameLocks noGrp="1"/>
          </p:cNvGraphicFramePr>
          <p:nvPr/>
        </p:nvGraphicFramePr>
        <p:xfrm>
          <a:off x="9503503" y="2230755"/>
          <a:ext cx="721360" cy="761365"/>
        </p:xfrm>
        <a:graphic>
          <a:graphicData uri="http://schemas.openxmlformats.org/drawingml/2006/table">
            <a:tbl>
              <a:tblPr/>
              <a:tblGrid>
                <a:gridCol w="721360">
                  <a:extLst>
                    <a:ext uri="{9D8B030D-6E8A-4147-A177-3AD203B41FA5}">
                      <a16:colId xmlns:a16="http://schemas.microsoft.com/office/drawing/2014/main" val="20000"/>
                    </a:ext>
                  </a:extLst>
                </a:gridCol>
              </a:tblGrid>
              <a:tr h="469265">
                <a:tc>
                  <a:txBody>
                    <a:bodyPr/>
                    <a:lstStyle/>
                    <a:p>
                      <a:pPr algn="l" rtl="0" eaLnBrk="0">
                        <a:lnSpc>
                          <a:spcPct val="101000"/>
                        </a:lnSpc>
                      </a:pPr>
                      <a:endParaRPr lang="en-US" altLang="en-US" sz="700" dirty="0"/>
                    </a:p>
                    <a:p>
                      <a:pPr marL="113030" algn="l" rtl="0" eaLnBrk="0">
                        <a:lnSpc>
                          <a:spcPct val="82000"/>
                        </a:lnSpc>
                      </a:pPr>
                      <a:r>
                        <a:rPr sz="15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10103</a:t>
                      </a:r>
                      <a:endParaRPr lang="en-US" altLang="en-US" sz="1500" dirty="0"/>
                    </a:p>
                  </a:txBody>
                  <a:tcPr marL="0" marR="0" marT="0" marB="0">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0"/>
                  </a:ext>
                </a:extLst>
              </a:tr>
              <a:tr h="291465">
                <a:tc>
                  <a:txBody>
                    <a:bodyPr/>
                    <a:lstStyle/>
                    <a:p>
                      <a:pPr algn="l" rtl="0" eaLnBrk="0">
                        <a:lnSpc>
                          <a:spcPct val="111000"/>
                        </a:lnSpc>
                      </a:pPr>
                      <a:endParaRPr lang="en-US" altLang="en-US" sz="600" dirty="0"/>
                    </a:p>
                    <a:p>
                      <a:pPr marL="266700" algn="l" rtl="0" eaLnBrk="0">
                        <a:lnSpc>
                          <a:spcPct val="78000"/>
                        </a:lnSpc>
                        <a:spcBef>
                          <a:spcPts val="5"/>
                        </a:spcBef>
                      </a:pPr>
                      <a:r>
                        <a:rPr sz="16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90</a:t>
                      </a:r>
                      <a:endParaRPr lang="en-US" altLang="en-US" sz="1600" dirty="0"/>
                    </a:p>
                  </a:txBody>
                  <a:tcPr marL="0" marR="0" marT="0" marB="0">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8952" name="textbox 8952"/>
          <p:cNvSpPr/>
          <p:nvPr/>
        </p:nvSpPr>
        <p:spPr>
          <a:xfrm>
            <a:off x="7457403" y="2364401"/>
            <a:ext cx="486409" cy="954405"/>
          </a:xfrm>
          <a:prstGeom prst="rect">
            <a:avLst/>
          </a:prstGeom>
        </p:spPr>
        <p:txBody>
          <a:bodyPr vert="horz" wrap="square" lIns="0" tIns="0" rIns="0" bIns="0"/>
          <a:lstStyle/>
          <a:p>
            <a:pPr algn="l" rtl="0" eaLnBrk="0">
              <a:lnSpc>
                <a:spcPct val="83000"/>
              </a:lnSpc>
            </a:pPr>
            <a:endParaRPr lang="en-US" altLang="en-US" sz="135" dirty="0"/>
          </a:p>
          <a:p>
            <a:pPr marL="57785" algn="l" rtl="0" eaLnBrk="0">
              <a:lnSpc>
                <a:spcPts val="1195"/>
              </a:lnSpc>
            </a:pPr>
            <a:r>
              <a:rPr sz="1600" kern="0" spc="-100" dirty="0">
                <a:solidFill>
                  <a:srgbClr val="000000">
                    <a:alpha val="100000"/>
                  </a:srgbClr>
                </a:solidFill>
                <a:latin typeface="微软雅黑" panose="020B0503020204020204" charset="-122"/>
                <a:ea typeface="微软雅黑" panose="020B0503020204020204" charset="-122"/>
                <a:cs typeface="微软雅黑" panose="020B0503020204020204" charset="-122"/>
              </a:rPr>
              <a:t>num</a:t>
            </a:r>
            <a:endParaRPr lang="en-US" altLang="en-US" sz="1600" dirty="0"/>
          </a:p>
          <a:p>
            <a:pPr algn="l" rtl="0" eaLnBrk="0">
              <a:lnSpc>
                <a:spcPct val="106000"/>
              </a:lnSpc>
            </a:pPr>
            <a:endParaRPr lang="en-US" altLang="en-US" sz="1000" dirty="0"/>
          </a:p>
          <a:p>
            <a:pPr marL="12700" algn="l" rtl="0" eaLnBrk="0">
              <a:lnSpc>
                <a:spcPts val="1170"/>
              </a:lnSpc>
              <a:spcBef>
                <a:spcPts val="455"/>
              </a:spcBef>
            </a:pPr>
            <a:r>
              <a:rPr sz="15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score</a:t>
            </a:r>
            <a:endParaRPr lang="en-US" altLang="en-US" sz="1500" dirty="0"/>
          </a:p>
          <a:p>
            <a:pPr algn="l" rtl="0" eaLnBrk="0">
              <a:lnSpc>
                <a:spcPct val="100000"/>
              </a:lnSpc>
            </a:pPr>
            <a:endParaRPr lang="en-US" altLang="en-US" sz="1000" dirty="0"/>
          </a:p>
          <a:p>
            <a:pPr marL="69850" algn="l" rtl="0" eaLnBrk="0">
              <a:lnSpc>
                <a:spcPts val="2015"/>
              </a:lnSpc>
              <a:spcBef>
                <a:spcPts val="0"/>
              </a:spcBef>
            </a:pPr>
            <a:r>
              <a:rPr sz="15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rPr>
              <a:t>next</a:t>
            </a:r>
            <a:endParaRPr lang="en-US" altLang="en-US" sz="1500" dirty="0"/>
          </a:p>
        </p:txBody>
      </p:sp>
      <p:sp>
        <p:nvSpPr>
          <p:cNvPr id="8954" name="rect"/>
          <p:cNvSpPr/>
          <p:nvPr/>
        </p:nvSpPr>
        <p:spPr>
          <a:xfrm>
            <a:off x="8058243" y="3343275"/>
            <a:ext cx="722629" cy="12700"/>
          </a:xfrm>
          <a:prstGeom prst="rect">
            <a:avLst/>
          </a:prstGeom>
          <a:solidFill>
            <a:srgbClr val="FFFFFF">
              <a:alpha val="100000"/>
            </a:srgbClr>
          </a:solidFill>
          <a:ln cap="flat">
            <a:noFill/>
            <a:prstDash val="solid"/>
            <a:miter lim="0"/>
          </a:ln>
        </p:spPr>
        <p:txBody>
          <a:bodyPr rtlCol="0"/>
          <a:lstStyle/>
          <a:p>
            <a:pPr algn="ctr"/>
            <a:endParaRPr lang="zh-CN" altLang="en-US"/>
          </a:p>
        </p:txBody>
      </p:sp>
      <p:sp>
        <p:nvSpPr>
          <p:cNvPr id="8956" name="rect"/>
          <p:cNvSpPr/>
          <p:nvPr/>
        </p:nvSpPr>
        <p:spPr>
          <a:xfrm>
            <a:off x="9503503" y="3343275"/>
            <a:ext cx="722629" cy="12700"/>
          </a:xfrm>
          <a:prstGeom prst="rect">
            <a:avLst/>
          </a:prstGeom>
          <a:solidFill>
            <a:srgbClr val="FFFFFF">
              <a:alpha val="100000"/>
            </a:srgbClr>
          </a:solidFill>
          <a:ln cap="flat">
            <a:noFill/>
            <a:prstDash val="solid"/>
            <a:miter lim="0"/>
          </a:ln>
        </p:spPr>
        <p:txBody>
          <a:bodyPr rtlCol="0"/>
          <a:lstStyle/>
          <a:p>
            <a:pPr algn="ctr"/>
            <a:endParaRPr lang="zh-CN" altLang="en-US"/>
          </a:p>
        </p:txBody>
      </p:sp>
      <p:sp>
        <p:nvSpPr>
          <p:cNvPr id="2" name="矩形 1"/>
          <p:cNvSpPr/>
          <p:nvPr>
            <p:custDataLst>
              <p:tags r:id="rId1"/>
            </p:custDataLst>
          </p:nvPr>
        </p:nvSpPr>
        <p:spPr>
          <a:xfrm>
            <a:off x="683895" y="1551940"/>
            <a:ext cx="6645275" cy="5287645"/>
          </a:xfrm>
          <a:prstGeom prst="rect">
            <a:avLst/>
          </a:prstGeom>
          <a:solidFill>
            <a:schemeClr val="bg1"/>
          </a:solidFill>
          <a:ln>
            <a:solidFill>
              <a:srgbClr val="782367"/>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l" rtl="0" eaLnBrk="0">
              <a:lnSpc>
                <a:spcPct val="118000"/>
              </a:lnSpc>
            </a:pPr>
            <a:endParaRPr lang="en-US" altLang="en-US" sz="1300" dirty="0"/>
          </a:p>
          <a:p>
            <a:pPr marL="118745" algn="l" rtl="0" eaLnBrk="0">
              <a:lnSpc>
                <a:spcPct val="93000"/>
              </a:lnSpc>
              <a:spcBef>
                <a:spcPts val="0"/>
              </a:spcBef>
            </a:pPr>
            <a:endPar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endParaRPr>
          </a:p>
          <a:p>
            <a:pPr marL="118745" algn="l" rtl="0" eaLnBrk="0">
              <a:lnSpc>
                <a:spcPct val="93000"/>
              </a:lnSpc>
              <a:spcBef>
                <a:spcPts val="0"/>
              </a:spcBef>
            </a:pPr>
            <a:endPar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endParaRPr>
          </a:p>
          <a:p>
            <a:pPr marL="118745" algn="l" rtl="0" eaLnBrk="0">
              <a:lnSpc>
                <a:spcPct val="93000"/>
              </a:lnSpc>
              <a:spcBef>
                <a:spcPts val="0"/>
              </a:spcBef>
            </a:pPr>
            <a:endPar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endParaRPr>
          </a:p>
          <a:p>
            <a:pPr marL="118745" algn="l" rtl="0" eaLnBrk="0">
              <a:lnSpc>
                <a:spcPct val="93000"/>
              </a:lnSpc>
              <a:spcBef>
                <a:spcPts val="0"/>
              </a:spcBef>
            </a:pPr>
            <a:endPar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endParaRPr>
          </a:p>
          <a:p>
            <a:pPr marL="118745" algn="l" rtl="0" eaLnBrk="0">
              <a:lnSpc>
                <a:spcPct val="93000"/>
              </a:lnSpc>
              <a:spcBef>
                <a:spcPts val="0"/>
              </a:spcBef>
            </a:pPr>
            <a:endPar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endParaRPr>
          </a:p>
          <a:p>
            <a:pPr marL="118745" algn="l" rtl="0" eaLnBrk="0">
              <a:lnSpc>
                <a:spcPct val="93000"/>
              </a:lnSpc>
              <a:spcBef>
                <a:spcPts val="0"/>
              </a:spcBef>
            </a:pPr>
            <a:r>
              <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#include</a:t>
            </a:r>
            <a:r>
              <a:rPr sz="1300" kern="0" spc="18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&lt;stdio.h&gt;</a:t>
            </a:r>
            <a:endParaRPr lang="en-US" altLang="en-US" sz="1300" dirty="0"/>
          </a:p>
          <a:p>
            <a:pPr marL="117475" algn="l" rtl="0" eaLnBrk="0">
              <a:lnSpc>
                <a:spcPts val="1680"/>
              </a:lnSpc>
            </a:pPr>
            <a:r>
              <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struct</a:t>
            </a:r>
            <a:r>
              <a:rPr sz="1300"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Stude</a:t>
            </a:r>
            <a:r>
              <a:rPr sz="13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nt</a:t>
            </a:r>
            <a:r>
              <a:rPr lang="en-US" sz="13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//声明结构体类型struct</a:t>
            </a:r>
            <a:r>
              <a:rPr sz="1300" kern="0" spc="21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Student</a:t>
            </a:r>
            <a:endParaRPr sz="13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endParaRPr>
          </a:p>
          <a:p>
            <a:pPr marL="115570" algn="l" rtl="0" eaLnBrk="0">
              <a:lnSpc>
                <a:spcPts val="1450"/>
              </a:lnSpc>
            </a:pPr>
            <a:r>
              <a:rPr sz="13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r>
              <a:rPr sz="13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int</a:t>
            </a:r>
            <a:r>
              <a:rPr sz="1300" kern="0" spc="20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num;</a:t>
            </a:r>
            <a:endParaRPr lang="en-US" altLang="en-US" sz="1300" dirty="0"/>
          </a:p>
          <a:p>
            <a:pPr marL="481330" algn="l" rtl="0" eaLnBrk="0">
              <a:lnSpc>
                <a:spcPts val="1580"/>
              </a:lnSpc>
              <a:spcBef>
                <a:spcPts val="230"/>
              </a:spcBef>
            </a:pPr>
            <a:r>
              <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float</a:t>
            </a:r>
            <a:r>
              <a:rPr sz="1300" kern="0" spc="1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score;</a:t>
            </a:r>
            <a:endParaRPr lang="en-US" altLang="en-US" sz="1300" dirty="0"/>
          </a:p>
          <a:p>
            <a:pPr marL="480060" algn="l" rtl="0" eaLnBrk="0">
              <a:lnSpc>
                <a:spcPct val="93000"/>
              </a:lnSpc>
              <a:spcBef>
                <a:spcPts val="100"/>
              </a:spcBef>
            </a:pPr>
            <a:r>
              <a:rPr sz="1300" b="1" kern="0" spc="-40" dirty="0">
                <a:solidFill>
                  <a:srgbClr val="1100CC">
                    <a:alpha val="100000"/>
                  </a:srgbClr>
                </a:solidFill>
                <a:latin typeface="微软雅黑" panose="020B0503020204020204" charset="-122"/>
                <a:ea typeface="微软雅黑" panose="020B0503020204020204" charset="-122"/>
                <a:cs typeface="微软雅黑" panose="020B0503020204020204" charset="-122"/>
                <a:sym typeface="+mn-ea"/>
              </a:rPr>
              <a:t>struct</a:t>
            </a:r>
            <a:r>
              <a:rPr sz="1300" b="1" kern="0" spc="110" dirty="0">
                <a:solidFill>
                  <a:srgbClr val="1100CC">
                    <a:alpha val="100000"/>
                  </a:srgbClr>
                </a:solidFill>
                <a:latin typeface="微软雅黑" panose="020B0503020204020204" charset="-122"/>
                <a:ea typeface="微软雅黑" panose="020B0503020204020204" charset="-122"/>
                <a:cs typeface="微软雅黑" panose="020B0503020204020204" charset="-122"/>
                <a:sym typeface="+mn-ea"/>
              </a:rPr>
              <a:t> </a:t>
            </a:r>
            <a:r>
              <a:rPr sz="1300" b="1" kern="0" spc="-40" dirty="0">
                <a:solidFill>
                  <a:srgbClr val="1100CC">
                    <a:alpha val="100000"/>
                  </a:srgbClr>
                </a:solidFill>
                <a:latin typeface="微软雅黑" panose="020B0503020204020204" charset="-122"/>
                <a:ea typeface="微软雅黑" panose="020B0503020204020204" charset="-122"/>
                <a:cs typeface="微软雅黑" panose="020B0503020204020204" charset="-122"/>
                <a:sym typeface="+mn-ea"/>
              </a:rPr>
              <a:t>Student*next;</a:t>
            </a:r>
            <a:endParaRPr lang="en-US" altLang="en-US" sz="1300" b="1" dirty="0">
              <a:solidFill>
                <a:srgbClr val="1100CC"/>
              </a:solidFill>
            </a:endParaRPr>
          </a:p>
          <a:p>
            <a:pPr marL="115570" algn="l" rtl="0" eaLnBrk="0">
              <a:lnSpc>
                <a:spcPts val="1680"/>
              </a:lnSpc>
            </a:pPr>
            <a:r>
              <a:rPr sz="13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endParaRPr lang="en-US" altLang="en-US" sz="1300" dirty="0"/>
          </a:p>
          <a:p>
            <a:pPr marL="128270" algn="l" rtl="0" eaLnBrk="0">
              <a:lnSpc>
                <a:spcPct val="99000"/>
              </a:lnSpc>
            </a:pPr>
            <a:r>
              <a:rPr sz="13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int</a:t>
            </a:r>
            <a:r>
              <a:rPr sz="1300" kern="0" spc="1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main()</a:t>
            </a:r>
            <a:endParaRPr lang="en-US" altLang="en-US" sz="1300" dirty="0"/>
          </a:p>
          <a:p>
            <a:pPr marL="484505" indent="-368935" algn="l" rtl="0" eaLnBrk="0">
              <a:lnSpc>
                <a:spcPct val="104000"/>
              </a:lnSpc>
              <a:spcBef>
                <a:spcPts val="165"/>
              </a:spcBef>
            </a:pPr>
            <a:r>
              <a:rPr sz="13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r>
              <a:rPr sz="13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struct</a:t>
            </a:r>
            <a:r>
              <a:rPr sz="1300" kern="0" spc="1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Student</a:t>
            </a:r>
            <a:r>
              <a:rPr sz="1300" kern="0" spc="1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a,b,c,</a:t>
            </a:r>
            <a:r>
              <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*head,*p;</a:t>
            </a:r>
            <a:r>
              <a:rPr sz="1300" kern="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lang="en-US" sz="1300" kern="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5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//定义3个结构体变量a,b,c作为链表的结点</a:t>
            </a:r>
            <a:endParaRPr sz="1300" kern="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endParaRPr>
          </a:p>
          <a:p>
            <a:pPr marL="484505" indent="-368935" algn="l" rtl="0" eaLnBrk="0">
              <a:lnSpc>
                <a:spcPct val="104000"/>
              </a:lnSpc>
              <a:spcBef>
                <a:spcPts val="165"/>
              </a:spcBef>
            </a:pPr>
            <a:r>
              <a:rPr sz="1300" kern="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lang="en-US" sz="1300" kern="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a.num=10101; a.s</a:t>
            </a:r>
            <a:r>
              <a:rPr sz="13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core=89.5;</a:t>
            </a:r>
            <a:r>
              <a:rPr sz="1300" kern="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lang="en-US" sz="1300" kern="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4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//对结点a的</a:t>
            </a:r>
            <a:r>
              <a:rPr sz="1300" kern="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num</a:t>
            </a:r>
            <a:r>
              <a:rPr sz="1300" kern="0" spc="4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和</a:t>
            </a:r>
            <a:r>
              <a:rPr sz="1300" kern="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score</a:t>
            </a:r>
            <a:r>
              <a:rPr sz="1300" kern="0" spc="4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成员赋值</a:t>
            </a:r>
            <a:endParaRPr sz="1300" kern="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endParaRPr>
          </a:p>
          <a:p>
            <a:pPr marL="484505" indent="-368935" algn="l" rtl="0" eaLnBrk="0">
              <a:lnSpc>
                <a:spcPct val="104000"/>
              </a:lnSpc>
              <a:spcBef>
                <a:spcPts val="165"/>
              </a:spcBef>
            </a:pPr>
            <a:r>
              <a:rPr sz="1300" kern="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lang="en-US" sz="1300" kern="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b.num=10103;</a:t>
            </a:r>
            <a:r>
              <a:rPr sz="1300" kern="0" spc="10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b.score</a:t>
            </a:r>
            <a:r>
              <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=90;</a:t>
            </a:r>
            <a:r>
              <a:rPr sz="1300" kern="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lang="en-US" sz="1300" kern="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4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//对结点b的</a:t>
            </a:r>
            <a:r>
              <a:rPr sz="1300" kern="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num</a:t>
            </a:r>
            <a:r>
              <a:rPr sz="1300" kern="0" spc="4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和</a:t>
            </a:r>
            <a:r>
              <a:rPr sz="1300" kern="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score</a:t>
            </a:r>
            <a:r>
              <a:rPr sz="1300" kern="0" spc="4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成员赋值</a:t>
            </a:r>
            <a:endParaRPr sz="1300" kern="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endParaRPr>
          </a:p>
          <a:p>
            <a:pPr marL="484505" indent="-368935" algn="l" rtl="0" eaLnBrk="0">
              <a:lnSpc>
                <a:spcPct val="104000"/>
              </a:lnSpc>
              <a:spcBef>
                <a:spcPts val="165"/>
              </a:spcBef>
            </a:pPr>
            <a:r>
              <a:rPr sz="1300" kern="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lang="en-US" sz="1300" kern="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c.num=10107; c</a:t>
            </a:r>
            <a:r>
              <a:rPr sz="13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.score=85;</a:t>
            </a:r>
            <a:r>
              <a:rPr lang="en-US" sz="13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4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//对结点c的</a:t>
            </a:r>
            <a:r>
              <a:rPr sz="1300" kern="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num</a:t>
            </a:r>
            <a:r>
              <a:rPr sz="1300" kern="0" spc="4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和</a:t>
            </a:r>
            <a:r>
              <a:rPr sz="1300" kern="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score</a:t>
            </a:r>
            <a:r>
              <a:rPr sz="1300" kern="0" spc="4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成员赋值</a:t>
            </a:r>
            <a:endParaRPr lang="en-US" altLang="en-US" sz="1300" dirty="0"/>
          </a:p>
          <a:p>
            <a:pPr marL="491490" algn="l" rtl="0" eaLnBrk="0">
              <a:lnSpc>
                <a:spcPts val="1580"/>
              </a:lnSpc>
              <a:spcBef>
                <a:spcPts val="210"/>
              </a:spcBef>
            </a:pPr>
            <a:r>
              <a:rPr sz="13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head=&amp;a;</a:t>
            </a:r>
            <a:r>
              <a:rPr lang="en-US" sz="13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6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//将结点a的起始地址赋给头指针</a:t>
            </a:r>
            <a:r>
              <a:rPr sz="1300" kern="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head</a:t>
            </a:r>
            <a:endParaRPr lang="en-US" altLang="en-US" sz="1300" dirty="0"/>
          </a:p>
          <a:p>
            <a:pPr marL="484505" algn="l" rtl="0" eaLnBrk="0">
              <a:lnSpc>
                <a:spcPts val="1580"/>
              </a:lnSpc>
              <a:spcBef>
                <a:spcPts val="100"/>
              </a:spcBef>
            </a:pPr>
            <a:r>
              <a:rPr sz="13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a.next=&amp;b;</a:t>
            </a:r>
            <a:r>
              <a:rPr lang="en-US" sz="13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4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//将结点b的起始地址赋给a结点的</a:t>
            </a:r>
            <a:r>
              <a:rPr sz="1300" kern="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next</a:t>
            </a:r>
            <a:r>
              <a:rPr sz="1300" kern="0" spc="4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成员</a:t>
            </a:r>
            <a:endParaRPr lang="en-US" altLang="en-US" sz="1300" dirty="0"/>
          </a:p>
          <a:p>
            <a:pPr marL="490855" algn="l" rtl="0" eaLnBrk="0">
              <a:lnSpc>
                <a:spcPts val="1580"/>
              </a:lnSpc>
              <a:spcBef>
                <a:spcPts val="100"/>
              </a:spcBef>
            </a:pPr>
            <a:r>
              <a:rPr sz="13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b.next=&amp;c;</a:t>
            </a:r>
            <a:r>
              <a:rPr lang="en-US" sz="13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5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//将结点c的起始地址赋给a结点的</a:t>
            </a:r>
            <a:r>
              <a:rPr sz="1300" kern="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next</a:t>
            </a:r>
            <a:r>
              <a:rPr sz="1300" kern="0" spc="5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成员</a:t>
            </a:r>
            <a:endParaRPr lang="en-US" altLang="en-US" sz="1300" dirty="0"/>
          </a:p>
          <a:p>
            <a:pPr marL="485775" algn="l" rtl="0" eaLnBrk="0">
              <a:lnSpc>
                <a:spcPct val="71000"/>
              </a:lnSpc>
              <a:spcBef>
                <a:spcPts val="330"/>
              </a:spcBef>
            </a:pPr>
            <a:r>
              <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c.next=NULL;</a:t>
            </a:r>
            <a:r>
              <a:rPr lang="en-US"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6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//c结点的</a:t>
            </a:r>
            <a:r>
              <a:rPr sz="1300" kern="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next</a:t>
            </a:r>
            <a:r>
              <a:rPr sz="1300" kern="0" spc="6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成员不存放其他结点地址</a:t>
            </a:r>
            <a:endParaRPr lang="en-US" altLang="en-US" sz="1300" dirty="0"/>
          </a:p>
          <a:p>
            <a:pPr marL="490855" algn="l" rtl="0" eaLnBrk="0">
              <a:lnSpc>
                <a:spcPts val="1790"/>
              </a:lnSpc>
            </a:pPr>
            <a:r>
              <a:rPr sz="13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p=head;</a:t>
            </a:r>
            <a:r>
              <a:rPr lang="en-US" sz="13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3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//使p指向a结点</a:t>
            </a:r>
            <a:endParaRPr sz="13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endParaRPr>
          </a:p>
          <a:p>
            <a:pPr marL="490855" algn="l" rtl="0" eaLnBrk="0">
              <a:lnSpc>
                <a:spcPts val="1790"/>
              </a:lnSpc>
            </a:pPr>
            <a:endParaRPr sz="13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endParaRPr>
          </a:p>
          <a:p>
            <a:pPr marL="485140" algn="l" rtl="0" eaLnBrk="0">
              <a:lnSpc>
                <a:spcPts val="1680"/>
              </a:lnSpc>
            </a:pPr>
            <a:r>
              <a:rPr sz="13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do</a:t>
            </a:r>
            <a:endParaRPr lang="en-US" altLang="en-US" sz="1300" dirty="0"/>
          </a:p>
          <a:p>
            <a:pPr marL="855980" indent="-377825" algn="l" rtl="0" eaLnBrk="0">
              <a:lnSpc>
                <a:spcPct val="100000"/>
              </a:lnSpc>
              <a:spcBef>
                <a:spcPts val="5"/>
              </a:spcBef>
            </a:pPr>
            <a:r>
              <a:rPr sz="13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printf("%ld</a:t>
            </a:r>
            <a:r>
              <a:rPr sz="13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%5.1f\n",p-&gt;num,p-&gt;score);   </a:t>
            </a:r>
            <a:r>
              <a:rPr sz="13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2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//输出p指向的结点的数据            </a:t>
            </a:r>
            <a:r>
              <a:rPr sz="13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p=p-&gt;</a:t>
            </a:r>
            <a:r>
              <a:rPr sz="1300" kern="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next</a:t>
            </a:r>
            <a:r>
              <a:rPr sz="13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r>
              <a:rPr sz="13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2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//使p指向</a:t>
            </a:r>
            <a:r>
              <a:rPr sz="1300" kern="0" spc="1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下一结点</a:t>
            </a:r>
            <a:endParaRPr lang="en-US" altLang="en-US" sz="1300" dirty="0"/>
          </a:p>
          <a:p>
            <a:pPr marL="478155" algn="l" rtl="0" eaLnBrk="0">
              <a:lnSpc>
                <a:spcPct val="92000"/>
              </a:lnSpc>
              <a:spcBef>
                <a:spcPts val="245"/>
              </a:spcBef>
            </a:pPr>
            <a:r>
              <a:rPr sz="13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r>
              <a:rPr sz="1300" kern="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while</a:t>
            </a:r>
            <a:r>
              <a:rPr sz="13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(p!=</a:t>
            </a:r>
            <a:r>
              <a:rPr sz="1300" kern="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NULL</a:t>
            </a:r>
            <a:r>
              <a:rPr sz="13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2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//输出完c</a:t>
            </a:r>
            <a:r>
              <a:rPr sz="1300" kern="0" spc="1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结点后p的值为</a:t>
            </a:r>
            <a:r>
              <a:rPr sz="1300" kern="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NULL</a:t>
            </a:r>
            <a:r>
              <a:rPr sz="1300" kern="0" spc="1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，循环终止</a:t>
            </a:r>
            <a:endParaRPr lang="en-US" altLang="en-US" sz="1300" dirty="0"/>
          </a:p>
          <a:p>
            <a:pPr marL="490855" algn="l" rtl="0" eaLnBrk="0">
              <a:lnSpc>
                <a:spcPct val="93000"/>
              </a:lnSpc>
              <a:spcBef>
                <a:spcPts val="240"/>
              </a:spcBef>
            </a:pPr>
            <a:r>
              <a:rPr sz="13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return</a:t>
            </a:r>
            <a:r>
              <a:rPr sz="13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0;</a:t>
            </a:r>
            <a:endParaRPr lang="en-US" altLang="en-US" sz="1300" dirty="0"/>
          </a:p>
          <a:p>
            <a:pPr marL="115570" algn="l" rtl="0" eaLnBrk="0">
              <a:lnSpc>
                <a:spcPts val="1680"/>
              </a:lnSpc>
            </a:pPr>
            <a:r>
              <a:rPr sz="13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endParaRPr lang="en-US" altLang="en-US" sz="1300" dirty="0"/>
          </a:p>
          <a:p>
            <a:pPr marL="490855" algn="l" rtl="0" eaLnBrk="0">
              <a:lnSpc>
                <a:spcPts val="1790"/>
              </a:lnSpc>
            </a:pPr>
            <a:endParaRPr lang="en-US" altLang="en-US" dirty="0"/>
          </a:p>
          <a:p>
            <a:pPr marL="117475" algn="l" rtl="0" eaLnBrk="0">
              <a:lnSpc>
                <a:spcPts val="1680"/>
              </a:lnSpc>
            </a:pPr>
            <a:endParaRPr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endParaRPr>
          </a:p>
          <a:p>
            <a:pPr marL="117475" algn="l" rtl="0" eaLnBrk="0">
              <a:lnSpc>
                <a:spcPts val="1680"/>
              </a:lnSpc>
            </a:pPr>
            <a:endParaRPr lang="en-US" altLang="en-US" dirty="0"/>
          </a:p>
          <a:p>
            <a:pPr algn="ctr"/>
            <a:endParaRPr lang="zh-CN" altLang="en-US" dirty="0"/>
          </a:p>
        </p:txBody>
      </p:sp>
      <p:pic>
        <p:nvPicPr>
          <p:cNvPr id="4" name="图片 3"/>
          <p:cNvPicPr>
            <a:picLocks noChangeAspect="1"/>
          </p:cNvPicPr>
          <p:nvPr>
            <p:custDataLst>
              <p:tags r:id="rId2"/>
            </p:custDataLst>
          </p:nvPr>
        </p:nvPicPr>
        <p:blipFill>
          <a:blip r:embed="rId5"/>
          <a:stretch>
            <a:fillRect/>
          </a:stretch>
        </p:blipFill>
        <p:spPr>
          <a:xfrm>
            <a:off x="7457440" y="5397500"/>
            <a:ext cx="4572000" cy="14478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60" name="textbox 8960"/>
          <p:cNvSpPr/>
          <p:nvPr/>
        </p:nvSpPr>
        <p:spPr>
          <a:xfrm>
            <a:off x="555703" y="583125"/>
            <a:ext cx="10697209" cy="1487169"/>
          </a:xfrm>
          <a:prstGeom prst="rect">
            <a:avLst/>
          </a:prstGeom>
        </p:spPr>
        <p:txBody>
          <a:bodyPr vert="horz" wrap="square" lIns="0" tIns="0" rIns="0" bIns="0"/>
          <a:lstStyle/>
          <a:p>
            <a:pPr algn="l" rtl="0" eaLnBrk="0">
              <a:lnSpc>
                <a:spcPct val="83000"/>
              </a:lnSpc>
            </a:pPr>
            <a:endParaRPr lang="en-US" altLang="en-US" sz="135" dirty="0"/>
          </a:p>
          <a:p>
            <a:pPr marL="174625" algn="l" rtl="0" eaLnBrk="0">
              <a:lnSpc>
                <a:spcPts val="3830"/>
              </a:lnSpc>
            </a:pPr>
            <a:r>
              <a:rPr sz="31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建立简单的动态链表</a:t>
            </a:r>
            <a:endParaRPr lang="en-US" altLang="en-US" sz="3100" dirty="0"/>
          </a:p>
          <a:p>
            <a:pPr marL="136525" algn="l" rtl="0" eaLnBrk="0">
              <a:lnSpc>
                <a:spcPts val="2300"/>
              </a:lnSpc>
              <a:spcBef>
                <a:spcPts val="1705"/>
              </a:spcBef>
            </a:pPr>
            <a:r>
              <a:rPr sz="1900" kern="0" spc="50" dirty="0">
                <a:solidFill>
                  <a:srgbClr val="782367">
                    <a:alpha val="100000"/>
                  </a:srgbClr>
                </a:solidFill>
                <a:latin typeface="微软雅黑" panose="020B0503020204020204" charset="-122"/>
                <a:ea typeface="微软雅黑" panose="020B0503020204020204" charset="-122"/>
                <a:cs typeface="微软雅黑" panose="020B0503020204020204" charset="-122"/>
              </a:rPr>
              <a:t>【例</a:t>
            </a:r>
            <a:r>
              <a:rPr lang="en-US" sz="1900" kern="0" spc="50" dirty="0">
                <a:solidFill>
                  <a:srgbClr val="782367">
                    <a:alpha val="100000"/>
                  </a:srgbClr>
                </a:solidFill>
                <a:latin typeface="微软雅黑" panose="020B0503020204020204" charset="-122"/>
                <a:ea typeface="微软雅黑" panose="020B0503020204020204" charset="-122"/>
                <a:cs typeface="微软雅黑" panose="020B0503020204020204" charset="-122"/>
              </a:rPr>
              <a:t>7</a:t>
            </a:r>
            <a:r>
              <a:rPr sz="1900" kern="0" spc="50" dirty="0">
                <a:solidFill>
                  <a:srgbClr val="782367">
                    <a:alpha val="100000"/>
                  </a:srgbClr>
                </a:solidFill>
                <a:latin typeface="微软雅黑" panose="020B0503020204020204" charset="-122"/>
                <a:ea typeface="微软雅黑" panose="020B0503020204020204" charset="-122"/>
                <a:cs typeface="微软雅黑" panose="020B0503020204020204" charset="-122"/>
              </a:rPr>
              <a:t>.9】写一函数建立一个有3名学</a:t>
            </a:r>
            <a:r>
              <a:rPr sz="1900" kern="0" spc="40" dirty="0">
                <a:solidFill>
                  <a:srgbClr val="782367">
                    <a:alpha val="100000"/>
                  </a:srgbClr>
                </a:solidFill>
                <a:latin typeface="微软雅黑" panose="020B0503020204020204" charset="-122"/>
                <a:ea typeface="微软雅黑" panose="020B0503020204020204" charset="-122"/>
                <a:cs typeface="微软雅黑" panose="020B0503020204020204" charset="-122"/>
              </a:rPr>
              <a:t>生数据的单向动态链表。</a:t>
            </a:r>
            <a:endParaRPr lang="en-US" altLang="en-US" sz="1900" dirty="0">
              <a:solidFill>
                <a:srgbClr val="782367"/>
              </a:solidFill>
            </a:endParaRPr>
          </a:p>
          <a:p>
            <a:pPr algn="l" rtl="0" eaLnBrk="0">
              <a:lnSpc>
                <a:spcPct val="103000"/>
              </a:lnSpc>
            </a:pPr>
            <a:endParaRPr lang="en-US" altLang="en-US" sz="1300" dirty="0"/>
          </a:p>
          <a:p>
            <a:pPr algn="l" rtl="0" eaLnBrk="0">
              <a:lnSpc>
                <a:spcPct val="7000"/>
              </a:lnSpc>
            </a:pPr>
            <a:endParaRPr lang="en-US" altLang="en-US" sz="135" dirty="0"/>
          </a:p>
          <a:p>
            <a:pPr algn="r" rtl="0" eaLnBrk="0">
              <a:lnSpc>
                <a:spcPct val="95000"/>
              </a:lnSpc>
            </a:pPr>
            <a:r>
              <a:rPr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所谓建立动态链表是指在程序执行过程中从无到有地建立起一个链表，即一个一个地开辟</a:t>
            </a:r>
            <a:r>
              <a:rPr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结点和输入各结</a:t>
            </a:r>
            <a:endParaRPr lang="en-US" altLang="en-US" dirty="0"/>
          </a:p>
        </p:txBody>
      </p:sp>
      <p:sp>
        <p:nvSpPr>
          <p:cNvPr id="8966" name="textbox 8966"/>
          <p:cNvSpPr/>
          <p:nvPr/>
        </p:nvSpPr>
        <p:spPr>
          <a:xfrm>
            <a:off x="722772" y="2194815"/>
            <a:ext cx="3643629" cy="285751"/>
          </a:xfrm>
          <a:prstGeom prst="rect">
            <a:avLst/>
          </a:prstGeom>
        </p:spPr>
        <p:txBody>
          <a:bodyPr vert="horz" wrap="square" lIns="0" tIns="0" rIns="0" bIns="0"/>
          <a:lstStyle/>
          <a:p>
            <a:pPr algn="l" rtl="0" eaLnBrk="0">
              <a:lnSpc>
                <a:spcPct val="79000"/>
              </a:lnSpc>
            </a:pPr>
            <a:endParaRPr lang="en-US" altLang="en-US" sz="135" dirty="0"/>
          </a:p>
          <a:p>
            <a:pPr marL="12700" algn="l" rtl="0" eaLnBrk="0">
              <a:lnSpc>
                <a:spcPct val="95000"/>
              </a:lnSpc>
            </a:pPr>
            <a:r>
              <a:rPr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rPr>
              <a:t>点数据，并建立起前后相链的</a:t>
            </a:r>
            <a:r>
              <a:rPr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关系。</a:t>
            </a:r>
            <a:endParaRPr lang="en-US" altLang="en-US" dirty="0"/>
          </a:p>
        </p:txBody>
      </p:sp>
      <p:pic>
        <p:nvPicPr>
          <p:cNvPr id="2" name="图片 1"/>
          <p:cNvPicPr>
            <a:picLocks noChangeAspect="1"/>
          </p:cNvPicPr>
          <p:nvPr>
            <p:custDataLst>
              <p:tags r:id="rId1"/>
            </p:custDataLst>
          </p:nvPr>
        </p:nvPicPr>
        <p:blipFill>
          <a:blip r:embed="rId3"/>
          <a:stretch>
            <a:fillRect/>
          </a:stretch>
        </p:blipFill>
        <p:spPr>
          <a:xfrm>
            <a:off x="6030595" y="2326640"/>
            <a:ext cx="5222453" cy="39600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68" name="textbox 8968"/>
          <p:cNvSpPr/>
          <p:nvPr/>
        </p:nvSpPr>
        <p:spPr>
          <a:xfrm>
            <a:off x="717886" y="583125"/>
            <a:ext cx="10497184" cy="512444"/>
          </a:xfrm>
          <a:prstGeom prst="rect">
            <a:avLst/>
          </a:prstGeom>
        </p:spPr>
        <p:txBody>
          <a:bodyPr vert="horz" wrap="square" lIns="0" tIns="0" rIns="0" bIns="0"/>
          <a:lstStyle/>
          <a:p>
            <a:pPr algn="l" rtl="0" eaLnBrk="0">
              <a:lnSpc>
                <a:spcPct val="83000"/>
              </a:lnSpc>
            </a:pPr>
            <a:endParaRPr lang="en-US" altLang="en-US" sz="135" dirty="0"/>
          </a:p>
          <a:p>
            <a:pPr algn="r" rtl="0" eaLnBrk="0">
              <a:lnSpc>
                <a:spcPts val="3830"/>
              </a:lnSpc>
            </a:pPr>
            <a:r>
              <a:rPr sz="31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rPr>
              <a:t>建立简单的动态链表</a:t>
            </a:r>
            <a:r>
              <a:rPr sz="1900" kern="0" spc="60" dirty="0">
                <a:solidFill>
                  <a:srgbClr val="782367">
                    <a:alpha val="100000"/>
                  </a:srgbClr>
                </a:solidFill>
                <a:latin typeface="微软雅黑" panose="020B0503020204020204" charset="-122"/>
                <a:ea typeface="微软雅黑" panose="020B0503020204020204" charset="-122"/>
                <a:cs typeface="微软雅黑" panose="020B0503020204020204" charset="-122"/>
              </a:rPr>
              <a:t>【例</a:t>
            </a:r>
            <a:r>
              <a:rPr lang="en-US" sz="1900" kern="0" spc="60" dirty="0">
                <a:solidFill>
                  <a:srgbClr val="782367">
                    <a:alpha val="100000"/>
                  </a:srgbClr>
                </a:solidFill>
                <a:latin typeface="微软雅黑" panose="020B0503020204020204" charset="-122"/>
                <a:ea typeface="微软雅黑" panose="020B0503020204020204" charset="-122"/>
                <a:cs typeface="微软雅黑" panose="020B0503020204020204" charset="-122"/>
              </a:rPr>
              <a:t>7</a:t>
            </a:r>
            <a:r>
              <a:rPr sz="1900" kern="0" spc="60" dirty="0">
                <a:solidFill>
                  <a:srgbClr val="782367">
                    <a:alpha val="100000"/>
                  </a:srgbClr>
                </a:solidFill>
                <a:latin typeface="微软雅黑" panose="020B0503020204020204" charset="-122"/>
                <a:ea typeface="微软雅黑" panose="020B0503020204020204" charset="-122"/>
                <a:cs typeface="微软雅黑" panose="020B0503020204020204" charset="-122"/>
              </a:rPr>
              <a:t>.9】写一函数建立一个有3名学生数据的单向动态链</a:t>
            </a:r>
            <a:r>
              <a:rPr sz="1900" kern="0" spc="50" dirty="0">
                <a:solidFill>
                  <a:srgbClr val="782367">
                    <a:alpha val="100000"/>
                  </a:srgbClr>
                </a:solidFill>
                <a:latin typeface="微软雅黑" panose="020B0503020204020204" charset="-122"/>
                <a:ea typeface="微软雅黑" panose="020B0503020204020204" charset="-122"/>
                <a:cs typeface="微软雅黑" panose="020B0503020204020204" charset="-122"/>
              </a:rPr>
              <a:t>表。</a:t>
            </a:r>
            <a:endParaRPr lang="en-US" altLang="en-US" sz="1900" kern="0" spc="50" dirty="0">
              <a:solidFill>
                <a:srgbClr val="782367">
                  <a:alpha val="100000"/>
                </a:srgbClr>
              </a:solidFill>
              <a:latin typeface="微软雅黑" panose="020B0503020204020204" charset="-122"/>
              <a:ea typeface="微软雅黑" panose="020B0503020204020204" charset="-122"/>
              <a:cs typeface="微软雅黑" panose="020B0503020204020204" charset="-122"/>
            </a:endParaRPr>
          </a:p>
        </p:txBody>
      </p:sp>
      <p:graphicFrame>
        <p:nvGraphicFramePr>
          <p:cNvPr id="8970" name="table 8970"/>
          <p:cNvGraphicFramePr>
            <a:graphicFrameLocks noGrp="1"/>
          </p:cNvGraphicFramePr>
          <p:nvPr/>
        </p:nvGraphicFramePr>
        <p:xfrm>
          <a:off x="10714194" y="4946651"/>
          <a:ext cx="811530" cy="1203960"/>
        </p:xfrm>
        <a:graphic>
          <a:graphicData uri="http://schemas.openxmlformats.org/drawingml/2006/table">
            <a:tbl>
              <a:tblPr>
                <a:solidFill>
                  <a:srgbClr val="FBE9E8"/>
                </a:solidFill>
              </a:tblPr>
              <a:tblGrid>
                <a:gridCol w="811530">
                  <a:extLst>
                    <a:ext uri="{9D8B030D-6E8A-4147-A177-3AD203B41FA5}">
                      <a16:colId xmlns:a16="http://schemas.microsoft.com/office/drawing/2014/main" val="20000"/>
                    </a:ext>
                  </a:extLst>
                </a:gridCol>
              </a:tblGrid>
              <a:tr h="537210">
                <a:tc>
                  <a:txBody>
                    <a:bodyPr/>
                    <a:lstStyle/>
                    <a:p>
                      <a:pPr algn="l" rtl="0" eaLnBrk="0">
                        <a:lnSpc>
                          <a:spcPct val="102000"/>
                        </a:lnSpc>
                      </a:pPr>
                      <a:endParaRPr lang="en-US" altLang="en-US" sz="700" dirty="0"/>
                    </a:p>
                    <a:p>
                      <a:pPr marL="159385" algn="l" rtl="0" eaLnBrk="0">
                        <a:lnSpc>
                          <a:spcPct val="82000"/>
                        </a:lnSpc>
                        <a:spcBef>
                          <a:spcPts val="0"/>
                        </a:spcBef>
                      </a:pPr>
                      <a:r>
                        <a:rPr sz="15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10107</a:t>
                      </a:r>
                      <a:endParaRPr lang="en-US" altLang="en-US" sz="1500" dirty="0"/>
                    </a:p>
                  </a:txBody>
                  <a:tcPr marL="0" marR="0" marT="0" marB="0">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9E8"/>
                    </a:solidFill>
                  </a:tcPr>
                </a:tc>
                <a:extLst>
                  <a:ext uri="{0D108BD9-81ED-4DB2-BD59-A6C34878D82A}">
                    <a16:rowId xmlns:a16="http://schemas.microsoft.com/office/drawing/2014/main" val="10000"/>
                  </a:ext>
                </a:extLst>
              </a:tr>
              <a:tr h="330200">
                <a:tc>
                  <a:txBody>
                    <a:bodyPr/>
                    <a:lstStyle/>
                    <a:p>
                      <a:pPr algn="l" rtl="0" eaLnBrk="0">
                        <a:lnSpc>
                          <a:spcPct val="112000"/>
                        </a:lnSpc>
                      </a:pPr>
                      <a:endParaRPr lang="en-US" altLang="en-US" sz="600" dirty="0"/>
                    </a:p>
                    <a:p>
                      <a:pPr marL="315595" algn="l" rtl="0" eaLnBrk="0">
                        <a:lnSpc>
                          <a:spcPct val="78000"/>
                        </a:lnSpc>
                        <a:spcBef>
                          <a:spcPts val="5"/>
                        </a:spcBef>
                      </a:pPr>
                      <a:r>
                        <a:rPr sz="16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85</a:t>
                      </a:r>
                      <a:endParaRPr lang="en-US" altLang="en-US" sz="1600" dirty="0"/>
                    </a:p>
                  </a:txBody>
                  <a:tcPr marL="0" marR="0" marT="0" marB="0">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9E8"/>
                    </a:solidFill>
                  </a:tcPr>
                </a:tc>
                <a:extLst>
                  <a:ext uri="{0D108BD9-81ED-4DB2-BD59-A6C34878D82A}">
                    <a16:rowId xmlns:a16="http://schemas.microsoft.com/office/drawing/2014/main" val="10001"/>
                  </a:ext>
                </a:extLst>
              </a:tr>
              <a:tr h="336550">
                <a:tc>
                  <a:txBody>
                    <a:bodyPr/>
                    <a:lstStyle/>
                    <a:p>
                      <a:pPr algn="l" rtl="0" eaLnBrk="0">
                        <a:lnSpc>
                          <a:spcPct val="100000"/>
                        </a:lnSpc>
                      </a:pPr>
                      <a:endParaRPr lang="en-US" altLang="en-US" sz="1000" dirty="0"/>
                    </a:p>
                  </a:txBody>
                  <a:tcPr marL="0" marR="0" marT="0" marB="0">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9E8"/>
                    </a:solidFill>
                  </a:tcPr>
                </a:tc>
                <a:extLst>
                  <a:ext uri="{0D108BD9-81ED-4DB2-BD59-A6C34878D82A}">
                    <a16:rowId xmlns:a16="http://schemas.microsoft.com/office/drawing/2014/main" val="10002"/>
                  </a:ext>
                </a:extLst>
              </a:tr>
            </a:tbl>
          </a:graphicData>
        </a:graphic>
      </p:graphicFrame>
      <p:graphicFrame>
        <p:nvGraphicFramePr>
          <p:cNvPr id="8972" name="table 8972"/>
          <p:cNvGraphicFramePr>
            <a:graphicFrameLocks noGrp="1"/>
          </p:cNvGraphicFramePr>
          <p:nvPr/>
        </p:nvGraphicFramePr>
        <p:xfrm>
          <a:off x="8534239" y="4951729"/>
          <a:ext cx="811530" cy="1203960"/>
        </p:xfrm>
        <a:graphic>
          <a:graphicData uri="http://schemas.openxmlformats.org/drawingml/2006/table">
            <a:tbl>
              <a:tblPr>
                <a:solidFill>
                  <a:srgbClr val="FBE9E8"/>
                </a:solidFill>
              </a:tblPr>
              <a:tblGrid>
                <a:gridCol w="811530">
                  <a:extLst>
                    <a:ext uri="{9D8B030D-6E8A-4147-A177-3AD203B41FA5}">
                      <a16:colId xmlns:a16="http://schemas.microsoft.com/office/drawing/2014/main" val="20000"/>
                    </a:ext>
                  </a:extLst>
                </a:gridCol>
              </a:tblGrid>
              <a:tr h="403860">
                <a:tc>
                  <a:txBody>
                    <a:bodyPr/>
                    <a:lstStyle/>
                    <a:p>
                      <a:pPr algn="l" rtl="0" eaLnBrk="0">
                        <a:lnSpc>
                          <a:spcPct val="100000"/>
                        </a:lnSpc>
                      </a:pPr>
                      <a:endParaRPr lang="en-US" altLang="en-US" sz="1000" dirty="0"/>
                    </a:p>
                  </a:txBody>
                  <a:tcPr marL="0" marR="0" marT="0" marB="0">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9E8"/>
                    </a:solidFill>
                  </a:tcPr>
                </a:tc>
                <a:extLst>
                  <a:ext uri="{0D108BD9-81ED-4DB2-BD59-A6C34878D82A}">
                    <a16:rowId xmlns:a16="http://schemas.microsoft.com/office/drawing/2014/main" val="10000"/>
                  </a:ext>
                </a:extLst>
              </a:tr>
              <a:tr h="396240">
                <a:tc>
                  <a:txBody>
                    <a:bodyPr/>
                    <a:lstStyle/>
                    <a:p>
                      <a:pPr algn="l" rtl="0" eaLnBrk="0">
                        <a:lnSpc>
                          <a:spcPct val="100000"/>
                        </a:lnSpc>
                      </a:pPr>
                      <a:endParaRPr lang="en-US" altLang="en-US" sz="1000" dirty="0"/>
                    </a:p>
                  </a:txBody>
                  <a:tcPr marL="0" marR="0" marT="0" marB="0">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9E8"/>
                    </a:solidFill>
                  </a:tcPr>
                </a:tc>
                <a:extLst>
                  <a:ext uri="{0D108BD9-81ED-4DB2-BD59-A6C34878D82A}">
                    <a16:rowId xmlns:a16="http://schemas.microsoft.com/office/drawing/2014/main" val="10001"/>
                  </a:ext>
                </a:extLst>
              </a:tr>
              <a:tr h="403860">
                <a:tc>
                  <a:txBody>
                    <a:bodyPr/>
                    <a:lstStyle/>
                    <a:p>
                      <a:pPr algn="l" rtl="0" eaLnBrk="0">
                        <a:lnSpc>
                          <a:spcPct val="100000"/>
                        </a:lnSpc>
                      </a:pPr>
                      <a:endParaRPr lang="en-US" altLang="en-US" sz="1000" dirty="0"/>
                    </a:p>
                  </a:txBody>
                  <a:tcPr marL="0" marR="0" marT="0" marB="0">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9E8"/>
                    </a:solidFill>
                  </a:tcPr>
                </a:tc>
                <a:extLst>
                  <a:ext uri="{0D108BD9-81ED-4DB2-BD59-A6C34878D82A}">
                    <a16:rowId xmlns:a16="http://schemas.microsoft.com/office/drawing/2014/main" val="10002"/>
                  </a:ext>
                </a:extLst>
              </a:tr>
            </a:tbl>
          </a:graphicData>
        </a:graphic>
      </p:graphicFrame>
      <p:pic>
        <p:nvPicPr>
          <p:cNvPr id="8974" name="picture 8974"/>
          <p:cNvPicPr>
            <a:picLocks noChangeAspect="1"/>
          </p:cNvPicPr>
          <p:nvPr/>
        </p:nvPicPr>
        <p:blipFill>
          <a:blip r:embed="rId2"/>
          <a:stretch>
            <a:fillRect/>
          </a:stretch>
        </p:blipFill>
        <p:spPr>
          <a:xfrm rot="21600000">
            <a:off x="8937335" y="5119116"/>
            <a:ext cx="719328" cy="812545"/>
          </a:xfrm>
          <a:prstGeom prst="rect">
            <a:avLst/>
          </a:prstGeom>
        </p:spPr>
      </p:pic>
      <p:graphicFrame>
        <p:nvGraphicFramePr>
          <p:cNvPr id="8976" name="table 8976"/>
          <p:cNvGraphicFramePr>
            <a:graphicFrameLocks noGrp="1"/>
          </p:cNvGraphicFramePr>
          <p:nvPr/>
        </p:nvGraphicFramePr>
        <p:xfrm>
          <a:off x="9649171" y="4951729"/>
          <a:ext cx="811530" cy="1203960"/>
        </p:xfrm>
        <a:graphic>
          <a:graphicData uri="http://schemas.openxmlformats.org/drawingml/2006/table">
            <a:tbl>
              <a:tblPr>
                <a:solidFill>
                  <a:srgbClr val="FBE9E8"/>
                </a:solidFill>
              </a:tblPr>
              <a:tblGrid>
                <a:gridCol w="811530">
                  <a:extLst>
                    <a:ext uri="{9D8B030D-6E8A-4147-A177-3AD203B41FA5}">
                      <a16:colId xmlns:a16="http://schemas.microsoft.com/office/drawing/2014/main" val="20000"/>
                    </a:ext>
                  </a:extLst>
                </a:gridCol>
              </a:tblGrid>
              <a:tr h="537210">
                <a:tc>
                  <a:txBody>
                    <a:bodyPr/>
                    <a:lstStyle/>
                    <a:p>
                      <a:pPr algn="l" rtl="0" eaLnBrk="0">
                        <a:lnSpc>
                          <a:spcPct val="102000"/>
                        </a:lnSpc>
                      </a:pPr>
                      <a:endParaRPr lang="en-US" altLang="en-US" sz="700" dirty="0"/>
                    </a:p>
                    <a:p>
                      <a:pPr marL="158750" algn="l" rtl="0" eaLnBrk="0">
                        <a:lnSpc>
                          <a:spcPct val="82000"/>
                        </a:lnSpc>
                        <a:spcBef>
                          <a:spcPts val="0"/>
                        </a:spcBef>
                      </a:pPr>
                      <a:r>
                        <a:rPr sz="15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10103</a:t>
                      </a:r>
                      <a:endParaRPr lang="en-US" altLang="en-US" sz="1500" dirty="0"/>
                    </a:p>
                  </a:txBody>
                  <a:tcPr marL="0" marR="0" marT="0" marB="0">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9E8"/>
                    </a:solidFill>
                  </a:tcPr>
                </a:tc>
                <a:extLst>
                  <a:ext uri="{0D108BD9-81ED-4DB2-BD59-A6C34878D82A}">
                    <a16:rowId xmlns:a16="http://schemas.microsoft.com/office/drawing/2014/main" val="10000"/>
                  </a:ext>
                </a:extLst>
              </a:tr>
              <a:tr h="330200">
                <a:tc>
                  <a:txBody>
                    <a:bodyPr/>
                    <a:lstStyle/>
                    <a:p>
                      <a:pPr algn="l" rtl="0" eaLnBrk="0">
                        <a:lnSpc>
                          <a:spcPct val="112000"/>
                        </a:lnSpc>
                      </a:pPr>
                      <a:endParaRPr lang="en-US" altLang="en-US" sz="600" dirty="0"/>
                    </a:p>
                    <a:p>
                      <a:pPr marL="314960" algn="l" rtl="0" eaLnBrk="0">
                        <a:lnSpc>
                          <a:spcPct val="78000"/>
                        </a:lnSpc>
                        <a:spcBef>
                          <a:spcPts val="5"/>
                        </a:spcBef>
                      </a:pPr>
                      <a:r>
                        <a:rPr sz="16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90</a:t>
                      </a:r>
                      <a:endParaRPr lang="en-US" altLang="en-US" sz="1600" dirty="0"/>
                    </a:p>
                  </a:txBody>
                  <a:tcPr marL="0" marR="0" marT="0" marB="0">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9E8"/>
                    </a:solidFill>
                  </a:tcPr>
                </a:tc>
                <a:extLst>
                  <a:ext uri="{0D108BD9-81ED-4DB2-BD59-A6C34878D82A}">
                    <a16:rowId xmlns:a16="http://schemas.microsoft.com/office/drawing/2014/main" val="10001"/>
                  </a:ext>
                </a:extLst>
              </a:tr>
              <a:tr h="336550">
                <a:tc>
                  <a:txBody>
                    <a:bodyPr/>
                    <a:lstStyle/>
                    <a:p>
                      <a:pPr algn="l" rtl="0" eaLnBrk="0">
                        <a:lnSpc>
                          <a:spcPct val="100000"/>
                        </a:lnSpc>
                      </a:pPr>
                      <a:endParaRPr lang="en-US" altLang="en-US" sz="1000" dirty="0"/>
                    </a:p>
                  </a:txBody>
                  <a:tcPr marL="0" marR="0" marT="0" marB="0">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9E8"/>
                    </a:solidFill>
                  </a:tcPr>
                </a:tc>
                <a:extLst>
                  <a:ext uri="{0D108BD9-81ED-4DB2-BD59-A6C34878D82A}">
                    <a16:rowId xmlns:a16="http://schemas.microsoft.com/office/drawing/2014/main" val="10002"/>
                  </a:ext>
                </a:extLst>
              </a:tr>
            </a:tbl>
          </a:graphicData>
        </a:graphic>
      </p:graphicFrame>
      <p:sp>
        <p:nvSpPr>
          <p:cNvPr id="8978" name="rect"/>
          <p:cNvSpPr/>
          <p:nvPr/>
        </p:nvSpPr>
        <p:spPr>
          <a:xfrm>
            <a:off x="10399359" y="4160901"/>
            <a:ext cx="499744" cy="377189"/>
          </a:xfrm>
          <a:prstGeom prst="rect">
            <a:avLst/>
          </a:prstGeom>
          <a:solidFill>
            <a:srgbClr val="FCF1F0">
              <a:alpha val="100000"/>
            </a:srgbClr>
          </a:solidFill>
          <a:ln cap="flat">
            <a:noFill/>
            <a:prstDash val="solid"/>
            <a:miter lim="0"/>
          </a:ln>
        </p:spPr>
        <p:txBody>
          <a:bodyPr rtlCol="0"/>
          <a:lstStyle/>
          <a:p>
            <a:pPr algn="ctr"/>
            <a:endParaRPr lang="zh-CN" altLang="en-US"/>
          </a:p>
        </p:txBody>
      </p:sp>
      <p:sp>
        <p:nvSpPr>
          <p:cNvPr id="8980" name="rect"/>
          <p:cNvSpPr/>
          <p:nvPr/>
        </p:nvSpPr>
        <p:spPr>
          <a:xfrm>
            <a:off x="10418030" y="6387972"/>
            <a:ext cx="474344" cy="377193"/>
          </a:xfrm>
          <a:prstGeom prst="rect">
            <a:avLst/>
          </a:prstGeom>
          <a:solidFill>
            <a:srgbClr val="FBE9E8">
              <a:alpha val="100000"/>
            </a:srgbClr>
          </a:solidFill>
          <a:ln cap="flat">
            <a:noFill/>
            <a:prstDash val="solid"/>
            <a:miter lim="0"/>
          </a:ln>
        </p:spPr>
        <p:txBody>
          <a:bodyPr rtlCol="0"/>
          <a:lstStyle/>
          <a:p>
            <a:pPr algn="ctr"/>
            <a:endParaRPr lang="zh-CN" altLang="en-US"/>
          </a:p>
        </p:txBody>
      </p:sp>
      <p:pic>
        <p:nvPicPr>
          <p:cNvPr id="8982" name="picture 8982"/>
          <p:cNvPicPr>
            <a:picLocks noChangeAspect="1"/>
          </p:cNvPicPr>
          <p:nvPr/>
        </p:nvPicPr>
        <p:blipFill>
          <a:blip r:embed="rId3"/>
          <a:stretch>
            <a:fillRect/>
          </a:stretch>
        </p:blipFill>
        <p:spPr>
          <a:xfrm rot="21600000">
            <a:off x="10619578" y="5265420"/>
            <a:ext cx="113031" cy="1239011"/>
          </a:xfrm>
          <a:prstGeom prst="rect">
            <a:avLst/>
          </a:prstGeom>
        </p:spPr>
      </p:pic>
      <p:pic>
        <p:nvPicPr>
          <p:cNvPr id="8984" name="picture 8984"/>
          <p:cNvPicPr>
            <a:picLocks noChangeAspect="1"/>
          </p:cNvPicPr>
          <p:nvPr/>
        </p:nvPicPr>
        <p:blipFill>
          <a:blip r:embed="rId4"/>
          <a:stretch>
            <a:fillRect/>
          </a:stretch>
        </p:blipFill>
        <p:spPr>
          <a:xfrm rot="21600000">
            <a:off x="10013280" y="4431792"/>
            <a:ext cx="725423" cy="1585213"/>
          </a:xfrm>
          <a:prstGeom prst="rect">
            <a:avLst/>
          </a:prstGeom>
        </p:spPr>
      </p:pic>
      <p:sp>
        <p:nvSpPr>
          <p:cNvPr id="8986" name="rect"/>
          <p:cNvSpPr/>
          <p:nvPr/>
        </p:nvSpPr>
        <p:spPr>
          <a:xfrm>
            <a:off x="5268052" y="6386408"/>
            <a:ext cx="474345" cy="377191"/>
          </a:xfrm>
          <a:prstGeom prst="rect">
            <a:avLst/>
          </a:prstGeom>
          <a:solidFill>
            <a:srgbClr val="FBE9E8">
              <a:alpha val="100000"/>
            </a:srgbClr>
          </a:solidFill>
          <a:ln cap="flat">
            <a:noFill/>
            <a:prstDash val="solid"/>
            <a:miter lim="0"/>
          </a:ln>
        </p:spPr>
        <p:txBody>
          <a:bodyPr rtlCol="0"/>
          <a:lstStyle/>
          <a:p>
            <a:pPr algn="ctr"/>
            <a:endParaRPr lang="zh-CN" altLang="en-US"/>
          </a:p>
        </p:txBody>
      </p:sp>
      <p:graphicFrame>
        <p:nvGraphicFramePr>
          <p:cNvPr id="8988" name="table 8988"/>
          <p:cNvGraphicFramePr>
            <a:graphicFrameLocks noGrp="1"/>
          </p:cNvGraphicFramePr>
          <p:nvPr/>
        </p:nvGraphicFramePr>
        <p:xfrm>
          <a:off x="4437726" y="4956555"/>
          <a:ext cx="811530" cy="1203960"/>
        </p:xfrm>
        <a:graphic>
          <a:graphicData uri="http://schemas.openxmlformats.org/drawingml/2006/table">
            <a:tbl>
              <a:tblPr>
                <a:solidFill>
                  <a:srgbClr val="FBE9E8"/>
                </a:solidFill>
              </a:tblPr>
              <a:tblGrid>
                <a:gridCol w="811530">
                  <a:extLst>
                    <a:ext uri="{9D8B030D-6E8A-4147-A177-3AD203B41FA5}">
                      <a16:colId xmlns:a16="http://schemas.microsoft.com/office/drawing/2014/main" val="20000"/>
                    </a:ext>
                  </a:extLst>
                </a:gridCol>
              </a:tblGrid>
              <a:tr h="403860">
                <a:tc>
                  <a:txBody>
                    <a:bodyPr/>
                    <a:lstStyle/>
                    <a:p>
                      <a:pPr algn="l" rtl="0" eaLnBrk="0">
                        <a:lnSpc>
                          <a:spcPct val="100000"/>
                        </a:lnSpc>
                      </a:pPr>
                      <a:endParaRPr lang="en-US" altLang="en-US" sz="1000" dirty="0"/>
                    </a:p>
                  </a:txBody>
                  <a:tcPr marL="0" marR="0" marT="0" marB="0">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9E8"/>
                    </a:solidFill>
                  </a:tcPr>
                </a:tc>
                <a:extLst>
                  <a:ext uri="{0D108BD9-81ED-4DB2-BD59-A6C34878D82A}">
                    <a16:rowId xmlns:a16="http://schemas.microsoft.com/office/drawing/2014/main" val="10000"/>
                  </a:ext>
                </a:extLst>
              </a:tr>
              <a:tr h="396240">
                <a:tc>
                  <a:txBody>
                    <a:bodyPr/>
                    <a:lstStyle/>
                    <a:p>
                      <a:pPr algn="l" rtl="0" eaLnBrk="0">
                        <a:lnSpc>
                          <a:spcPct val="100000"/>
                        </a:lnSpc>
                      </a:pPr>
                      <a:endParaRPr lang="en-US" altLang="en-US" sz="1000" dirty="0"/>
                    </a:p>
                  </a:txBody>
                  <a:tcPr marL="0" marR="0" marT="0" marB="0">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9E8"/>
                    </a:solidFill>
                  </a:tcPr>
                </a:tc>
                <a:extLst>
                  <a:ext uri="{0D108BD9-81ED-4DB2-BD59-A6C34878D82A}">
                    <a16:rowId xmlns:a16="http://schemas.microsoft.com/office/drawing/2014/main" val="10001"/>
                  </a:ext>
                </a:extLst>
              </a:tr>
              <a:tr h="403860">
                <a:tc>
                  <a:txBody>
                    <a:bodyPr/>
                    <a:lstStyle/>
                    <a:p>
                      <a:pPr algn="l" rtl="0" eaLnBrk="0">
                        <a:lnSpc>
                          <a:spcPct val="100000"/>
                        </a:lnSpc>
                      </a:pPr>
                      <a:endParaRPr lang="en-US" altLang="en-US" sz="1000" dirty="0"/>
                    </a:p>
                  </a:txBody>
                  <a:tcPr marL="0" marR="0" marT="0" marB="0">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9E8"/>
                    </a:solidFill>
                  </a:tcPr>
                </a:tc>
                <a:extLst>
                  <a:ext uri="{0D108BD9-81ED-4DB2-BD59-A6C34878D82A}">
                    <a16:rowId xmlns:a16="http://schemas.microsoft.com/office/drawing/2014/main" val="10002"/>
                  </a:ext>
                </a:extLst>
              </a:tr>
            </a:tbl>
          </a:graphicData>
        </a:graphic>
      </p:graphicFrame>
      <p:pic>
        <p:nvPicPr>
          <p:cNvPr id="8990" name="picture 8990"/>
          <p:cNvPicPr>
            <a:picLocks noChangeAspect="1"/>
          </p:cNvPicPr>
          <p:nvPr/>
        </p:nvPicPr>
        <p:blipFill>
          <a:blip r:embed="rId5"/>
          <a:stretch>
            <a:fillRect/>
          </a:stretch>
        </p:blipFill>
        <p:spPr>
          <a:xfrm rot="21600000">
            <a:off x="4840823" y="5122164"/>
            <a:ext cx="719328" cy="1382268"/>
          </a:xfrm>
          <a:prstGeom prst="rect">
            <a:avLst/>
          </a:prstGeom>
        </p:spPr>
      </p:pic>
      <p:sp>
        <p:nvSpPr>
          <p:cNvPr id="8992" name="rect"/>
          <p:cNvSpPr/>
          <p:nvPr/>
        </p:nvSpPr>
        <p:spPr>
          <a:xfrm>
            <a:off x="2023964" y="6386408"/>
            <a:ext cx="474345" cy="377191"/>
          </a:xfrm>
          <a:prstGeom prst="rect">
            <a:avLst/>
          </a:prstGeom>
          <a:solidFill>
            <a:srgbClr val="FBE9E8">
              <a:alpha val="100000"/>
            </a:srgbClr>
          </a:solidFill>
          <a:ln cap="flat">
            <a:noFill/>
            <a:prstDash val="solid"/>
            <a:miter lim="0"/>
          </a:ln>
        </p:spPr>
        <p:txBody>
          <a:bodyPr rtlCol="0"/>
          <a:lstStyle/>
          <a:p>
            <a:pPr algn="ctr"/>
            <a:endParaRPr lang="zh-CN" altLang="en-US"/>
          </a:p>
        </p:txBody>
      </p:sp>
      <p:graphicFrame>
        <p:nvGraphicFramePr>
          <p:cNvPr id="8994" name="table 8994"/>
          <p:cNvGraphicFramePr>
            <a:graphicFrameLocks noGrp="1"/>
          </p:cNvGraphicFramePr>
          <p:nvPr/>
        </p:nvGraphicFramePr>
        <p:xfrm>
          <a:off x="1193626" y="4956555"/>
          <a:ext cx="811530" cy="1203960"/>
        </p:xfrm>
        <a:graphic>
          <a:graphicData uri="http://schemas.openxmlformats.org/drawingml/2006/table">
            <a:tbl>
              <a:tblPr>
                <a:solidFill>
                  <a:srgbClr val="FBE9E8"/>
                </a:solidFill>
              </a:tblPr>
              <a:tblGrid>
                <a:gridCol w="811530">
                  <a:extLst>
                    <a:ext uri="{9D8B030D-6E8A-4147-A177-3AD203B41FA5}">
                      <a16:colId xmlns:a16="http://schemas.microsoft.com/office/drawing/2014/main" val="20000"/>
                    </a:ext>
                  </a:extLst>
                </a:gridCol>
              </a:tblGrid>
              <a:tr h="403860">
                <a:tc>
                  <a:txBody>
                    <a:bodyPr/>
                    <a:lstStyle/>
                    <a:p>
                      <a:pPr algn="l" rtl="0" eaLnBrk="0">
                        <a:lnSpc>
                          <a:spcPct val="100000"/>
                        </a:lnSpc>
                      </a:pPr>
                      <a:endParaRPr lang="en-US" altLang="en-US" sz="1000" dirty="0"/>
                    </a:p>
                  </a:txBody>
                  <a:tcPr marL="0" marR="0" marT="0" marB="0">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9E8"/>
                    </a:solidFill>
                  </a:tcPr>
                </a:tc>
                <a:extLst>
                  <a:ext uri="{0D108BD9-81ED-4DB2-BD59-A6C34878D82A}">
                    <a16:rowId xmlns:a16="http://schemas.microsoft.com/office/drawing/2014/main" val="10000"/>
                  </a:ext>
                </a:extLst>
              </a:tr>
              <a:tr h="396240">
                <a:tc>
                  <a:txBody>
                    <a:bodyPr/>
                    <a:lstStyle/>
                    <a:p>
                      <a:pPr algn="l" rtl="0" eaLnBrk="0">
                        <a:lnSpc>
                          <a:spcPct val="100000"/>
                        </a:lnSpc>
                      </a:pPr>
                      <a:endParaRPr lang="en-US" altLang="en-US" sz="1000" dirty="0"/>
                    </a:p>
                  </a:txBody>
                  <a:tcPr marL="0" marR="0" marT="0" marB="0">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9E8"/>
                    </a:solidFill>
                  </a:tcPr>
                </a:tc>
                <a:extLst>
                  <a:ext uri="{0D108BD9-81ED-4DB2-BD59-A6C34878D82A}">
                    <a16:rowId xmlns:a16="http://schemas.microsoft.com/office/drawing/2014/main" val="10001"/>
                  </a:ext>
                </a:extLst>
              </a:tr>
              <a:tr h="403860">
                <a:tc>
                  <a:txBody>
                    <a:bodyPr/>
                    <a:lstStyle/>
                    <a:p>
                      <a:pPr algn="l" rtl="0" eaLnBrk="0">
                        <a:lnSpc>
                          <a:spcPct val="100000"/>
                        </a:lnSpc>
                      </a:pPr>
                      <a:endParaRPr lang="en-US" altLang="en-US" sz="1000" dirty="0"/>
                    </a:p>
                  </a:txBody>
                  <a:tcPr marL="0" marR="0" marT="0" marB="0">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9E8"/>
                    </a:solidFill>
                  </a:tcPr>
                </a:tc>
                <a:extLst>
                  <a:ext uri="{0D108BD9-81ED-4DB2-BD59-A6C34878D82A}">
                    <a16:rowId xmlns:a16="http://schemas.microsoft.com/office/drawing/2014/main" val="10002"/>
                  </a:ext>
                </a:extLst>
              </a:tr>
            </a:tbl>
          </a:graphicData>
        </a:graphic>
      </p:graphicFrame>
      <p:pic>
        <p:nvPicPr>
          <p:cNvPr id="8996" name="picture 8996"/>
          <p:cNvPicPr>
            <a:picLocks noChangeAspect="1"/>
          </p:cNvPicPr>
          <p:nvPr/>
        </p:nvPicPr>
        <p:blipFill>
          <a:blip r:embed="rId6"/>
          <a:stretch>
            <a:fillRect/>
          </a:stretch>
        </p:blipFill>
        <p:spPr>
          <a:xfrm rot="21600000">
            <a:off x="1597751" y="5122164"/>
            <a:ext cx="716280" cy="1382268"/>
          </a:xfrm>
          <a:prstGeom prst="rect">
            <a:avLst/>
          </a:prstGeom>
        </p:spPr>
      </p:pic>
      <p:sp>
        <p:nvSpPr>
          <p:cNvPr id="8998" name="rect"/>
          <p:cNvSpPr/>
          <p:nvPr/>
        </p:nvSpPr>
        <p:spPr>
          <a:xfrm>
            <a:off x="7648414" y="3402203"/>
            <a:ext cx="483361" cy="377191"/>
          </a:xfrm>
          <a:prstGeom prst="rect">
            <a:avLst/>
          </a:prstGeom>
          <a:solidFill>
            <a:srgbClr val="FBE9E8">
              <a:alpha val="100000"/>
            </a:srgbClr>
          </a:solidFill>
          <a:ln cap="flat">
            <a:noFill/>
            <a:prstDash val="solid"/>
            <a:miter lim="0"/>
          </a:ln>
        </p:spPr>
        <p:txBody>
          <a:bodyPr rtlCol="0"/>
          <a:lstStyle/>
          <a:p>
            <a:pPr algn="ctr"/>
            <a:endParaRPr lang="zh-CN" altLang="en-US"/>
          </a:p>
        </p:txBody>
      </p:sp>
      <p:sp>
        <p:nvSpPr>
          <p:cNvPr id="9000" name="rect"/>
          <p:cNvSpPr/>
          <p:nvPr/>
        </p:nvSpPr>
        <p:spPr>
          <a:xfrm>
            <a:off x="7648414" y="2172843"/>
            <a:ext cx="483361" cy="370840"/>
          </a:xfrm>
          <a:prstGeom prst="rect">
            <a:avLst/>
          </a:prstGeom>
          <a:solidFill>
            <a:srgbClr val="FBE9E8">
              <a:alpha val="100000"/>
            </a:srgbClr>
          </a:solidFill>
          <a:ln cap="flat">
            <a:noFill/>
            <a:prstDash val="solid"/>
            <a:miter lim="0"/>
          </a:ln>
        </p:spPr>
        <p:txBody>
          <a:bodyPr rtlCol="0"/>
          <a:lstStyle/>
          <a:p>
            <a:pPr algn="ctr"/>
            <a:endParaRPr lang="zh-CN" altLang="en-US"/>
          </a:p>
        </p:txBody>
      </p:sp>
      <p:pic>
        <p:nvPicPr>
          <p:cNvPr id="9002" name="picture 9002"/>
          <p:cNvPicPr>
            <a:picLocks noChangeAspect="1"/>
          </p:cNvPicPr>
          <p:nvPr/>
        </p:nvPicPr>
        <p:blipFill>
          <a:blip r:embed="rId7"/>
          <a:stretch>
            <a:fillRect/>
          </a:stretch>
        </p:blipFill>
        <p:spPr>
          <a:xfrm rot="21600000">
            <a:off x="8016840" y="2464308"/>
            <a:ext cx="505967" cy="1028953"/>
          </a:xfrm>
          <a:prstGeom prst="rect">
            <a:avLst/>
          </a:prstGeom>
        </p:spPr>
      </p:pic>
      <p:graphicFrame>
        <p:nvGraphicFramePr>
          <p:cNvPr id="9004" name="table 9004"/>
          <p:cNvGraphicFramePr>
            <a:graphicFrameLocks noGrp="1"/>
          </p:cNvGraphicFramePr>
          <p:nvPr/>
        </p:nvGraphicFramePr>
        <p:xfrm>
          <a:off x="8516711" y="2185035"/>
          <a:ext cx="811530" cy="1203960"/>
        </p:xfrm>
        <a:graphic>
          <a:graphicData uri="http://schemas.openxmlformats.org/drawingml/2006/table">
            <a:tbl>
              <a:tblPr>
                <a:solidFill>
                  <a:srgbClr val="FBE9E8"/>
                </a:solidFill>
              </a:tblPr>
              <a:tblGrid>
                <a:gridCol w="811530">
                  <a:extLst>
                    <a:ext uri="{9D8B030D-6E8A-4147-A177-3AD203B41FA5}">
                      <a16:colId xmlns:a16="http://schemas.microsoft.com/office/drawing/2014/main" val="20000"/>
                    </a:ext>
                  </a:extLst>
                </a:gridCol>
              </a:tblGrid>
              <a:tr h="536575">
                <a:tc>
                  <a:txBody>
                    <a:bodyPr/>
                    <a:lstStyle/>
                    <a:p>
                      <a:pPr algn="l" rtl="0" eaLnBrk="0">
                        <a:lnSpc>
                          <a:spcPct val="100000"/>
                        </a:lnSpc>
                      </a:pPr>
                      <a:endParaRPr lang="en-US" altLang="en-US" sz="700" dirty="0"/>
                    </a:p>
                    <a:p>
                      <a:pPr algn="l" rtl="0" eaLnBrk="0">
                        <a:lnSpc>
                          <a:spcPct val="7000"/>
                        </a:lnSpc>
                      </a:pPr>
                      <a:endParaRPr lang="en-US" altLang="en-US" sz="135" dirty="0"/>
                    </a:p>
                    <a:p>
                      <a:pPr marL="158750" algn="l" rtl="0" eaLnBrk="0">
                        <a:lnSpc>
                          <a:spcPct val="82000"/>
                        </a:lnSpc>
                      </a:pPr>
                      <a:r>
                        <a:rPr sz="15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10101</a:t>
                      </a:r>
                      <a:endParaRPr lang="en-US" altLang="en-US" sz="1500" dirty="0"/>
                    </a:p>
                  </a:txBody>
                  <a:tcPr marL="0" marR="0" marT="0" marB="0">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9E8"/>
                    </a:solidFill>
                  </a:tcPr>
                </a:tc>
                <a:extLst>
                  <a:ext uri="{0D108BD9-81ED-4DB2-BD59-A6C34878D82A}">
                    <a16:rowId xmlns:a16="http://schemas.microsoft.com/office/drawing/2014/main" val="10000"/>
                  </a:ext>
                </a:extLst>
              </a:tr>
              <a:tr h="330835">
                <a:tc>
                  <a:txBody>
                    <a:bodyPr/>
                    <a:lstStyle/>
                    <a:p>
                      <a:pPr algn="l" rtl="0" eaLnBrk="0">
                        <a:lnSpc>
                          <a:spcPct val="100000"/>
                        </a:lnSpc>
                      </a:pPr>
                      <a:endParaRPr lang="en-US" altLang="en-US" sz="1000" dirty="0"/>
                    </a:p>
                  </a:txBody>
                  <a:tcPr marL="0" marR="0" marT="0" marB="0">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9E8"/>
                    </a:solidFill>
                  </a:tcPr>
                </a:tc>
                <a:extLst>
                  <a:ext uri="{0D108BD9-81ED-4DB2-BD59-A6C34878D82A}">
                    <a16:rowId xmlns:a16="http://schemas.microsoft.com/office/drawing/2014/main" val="10001"/>
                  </a:ext>
                </a:extLst>
              </a:tr>
              <a:tr h="336550">
                <a:tc>
                  <a:txBody>
                    <a:bodyPr/>
                    <a:lstStyle/>
                    <a:p>
                      <a:pPr algn="l" rtl="0" eaLnBrk="0">
                        <a:lnSpc>
                          <a:spcPct val="100000"/>
                        </a:lnSpc>
                      </a:pPr>
                      <a:endParaRPr lang="en-US" altLang="en-US" sz="1000" dirty="0"/>
                    </a:p>
                  </a:txBody>
                  <a:tcPr marL="0" marR="0" marT="0" marB="0">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9E8"/>
                    </a:solidFill>
                  </a:tcPr>
                </a:tc>
                <a:extLst>
                  <a:ext uri="{0D108BD9-81ED-4DB2-BD59-A6C34878D82A}">
                    <a16:rowId xmlns:a16="http://schemas.microsoft.com/office/drawing/2014/main" val="10002"/>
                  </a:ext>
                </a:extLst>
              </a:tr>
            </a:tbl>
          </a:graphicData>
        </a:graphic>
      </p:graphicFrame>
      <p:pic>
        <p:nvPicPr>
          <p:cNvPr id="9006" name="picture 9006"/>
          <p:cNvPicPr>
            <a:picLocks noChangeAspect="1"/>
          </p:cNvPicPr>
          <p:nvPr/>
        </p:nvPicPr>
        <p:blipFill>
          <a:blip r:embed="rId8"/>
          <a:stretch>
            <a:fillRect/>
          </a:stretch>
        </p:blipFill>
        <p:spPr>
          <a:xfrm rot="21600000">
            <a:off x="8922096" y="2455164"/>
            <a:ext cx="734567" cy="708915"/>
          </a:xfrm>
          <a:prstGeom prst="rect">
            <a:avLst/>
          </a:prstGeom>
        </p:spPr>
      </p:pic>
      <p:graphicFrame>
        <p:nvGraphicFramePr>
          <p:cNvPr id="9008" name="table 9008"/>
          <p:cNvGraphicFramePr>
            <a:graphicFrameLocks noGrp="1"/>
          </p:cNvGraphicFramePr>
          <p:nvPr/>
        </p:nvGraphicFramePr>
        <p:xfrm>
          <a:off x="9631518" y="2185035"/>
          <a:ext cx="811530" cy="1203960"/>
        </p:xfrm>
        <a:graphic>
          <a:graphicData uri="http://schemas.openxmlformats.org/drawingml/2006/table">
            <a:tbl>
              <a:tblPr>
                <a:solidFill>
                  <a:srgbClr val="FBE9E8"/>
                </a:solidFill>
              </a:tblPr>
              <a:tblGrid>
                <a:gridCol w="811530">
                  <a:extLst>
                    <a:ext uri="{9D8B030D-6E8A-4147-A177-3AD203B41FA5}">
                      <a16:colId xmlns:a16="http://schemas.microsoft.com/office/drawing/2014/main" val="20000"/>
                    </a:ext>
                  </a:extLst>
                </a:gridCol>
              </a:tblGrid>
              <a:tr h="536575">
                <a:tc>
                  <a:txBody>
                    <a:bodyPr/>
                    <a:lstStyle/>
                    <a:p>
                      <a:pPr algn="l" rtl="0" eaLnBrk="0">
                        <a:lnSpc>
                          <a:spcPct val="100000"/>
                        </a:lnSpc>
                      </a:pPr>
                      <a:endParaRPr lang="en-US" altLang="en-US" sz="700" dirty="0"/>
                    </a:p>
                    <a:p>
                      <a:pPr algn="l" rtl="0" eaLnBrk="0">
                        <a:lnSpc>
                          <a:spcPct val="7000"/>
                        </a:lnSpc>
                      </a:pPr>
                      <a:endParaRPr lang="en-US" altLang="en-US" sz="135" dirty="0"/>
                    </a:p>
                    <a:p>
                      <a:pPr marL="158750" algn="l" rtl="0" eaLnBrk="0">
                        <a:lnSpc>
                          <a:spcPct val="82000"/>
                        </a:lnSpc>
                      </a:pPr>
                      <a:r>
                        <a:rPr sz="15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10103</a:t>
                      </a:r>
                      <a:endParaRPr lang="en-US" altLang="en-US" sz="1500" dirty="0"/>
                    </a:p>
                  </a:txBody>
                  <a:tcPr marL="0" marR="0" marT="0" marB="0">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9E8"/>
                    </a:solidFill>
                  </a:tcPr>
                </a:tc>
                <a:extLst>
                  <a:ext uri="{0D108BD9-81ED-4DB2-BD59-A6C34878D82A}">
                    <a16:rowId xmlns:a16="http://schemas.microsoft.com/office/drawing/2014/main" val="10000"/>
                  </a:ext>
                </a:extLst>
              </a:tr>
              <a:tr h="330835">
                <a:tc>
                  <a:txBody>
                    <a:bodyPr/>
                    <a:lstStyle/>
                    <a:p>
                      <a:pPr algn="l" rtl="0" eaLnBrk="0">
                        <a:lnSpc>
                          <a:spcPct val="111000"/>
                        </a:lnSpc>
                      </a:pPr>
                      <a:endParaRPr lang="en-US" altLang="en-US" sz="600" dirty="0"/>
                    </a:p>
                    <a:p>
                      <a:pPr marL="315595" algn="l" rtl="0" eaLnBrk="0">
                        <a:lnSpc>
                          <a:spcPct val="78000"/>
                        </a:lnSpc>
                        <a:spcBef>
                          <a:spcPts val="0"/>
                        </a:spcBef>
                      </a:pPr>
                      <a:r>
                        <a:rPr sz="16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90</a:t>
                      </a:r>
                      <a:endParaRPr lang="en-US" altLang="en-US" sz="1600" dirty="0"/>
                    </a:p>
                  </a:txBody>
                  <a:tcPr marL="0" marR="0" marT="0" marB="0">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9E8"/>
                    </a:solidFill>
                  </a:tcPr>
                </a:tc>
                <a:extLst>
                  <a:ext uri="{0D108BD9-81ED-4DB2-BD59-A6C34878D82A}">
                    <a16:rowId xmlns:a16="http://schemas.microsoft.com/office/drawing/2014/main" val="10001"/>
                  </a:ext>
                </a:extLst>
              </a:tr>
              <a:tr h="336550">
                <a:tc>
                  <a:txBody>
                    <a:bodyPr/>
                    <a:lstStyle/>
                    <a:p>
                      <a:pPr algn="l" rtl="0" eaLnBrk="0">
                        <a:lnSpc>
                          <a:spcPct val="100000"/>
                        </a:lnSpc>
                      </a:pPr>
                      <a:endParaRPr lang="en-US" altLang="en-US" sz="1000" dirty="0"/>
                    </a:p>
                  </a:txBody>
                  <a:tcPr marL="0" marR="0" marT="0" marB="0">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9E8"/>
                    </a:solidFill>
                  </a:tcPr>
                </a:tc>
                <a:extLst>
                  <a:ext uri="{0D108BD9-81ED-4DB2-BD59-A6C34878D82A}">
                    <a16:rowId xmlns:a16="http://schemas.microsoft.com/office/drawing/2014/main" val="10002"/>
                  </a:ext>
                </a:extLst>
              </a:tr>
            </a:tbl>
          </a:graphicData>
        </a:graphic>
      </p:graphicFrame>
      <p:sp>
        <p:nvSpPr>
          <p:cNvPr id="9010" name="rect"/>
          <p:cNvSpPr/>
          <p:nvPr/>
        </p:nvSpPr>
        <p:spPr>
          <a:xfrm>
            <a:off x="777776" y="2172843"/>
            <a:ext cx="477075" cy="370840"/>
          </a:xfrm>
          <a:prstGeom prst="rect">
            <a:avLst/>
          </a:prstGeom>
          <a:solidFill>
            <a:srgbClr val="FBE9E8">
              <a:alpha val="100000"/>
            </a:srgbClr>
          </a:solidFill>
          <a:ln cap="flat">
            <a:noFill/>
            <a:prstDash val="solid"/>
            <a:miter lim="0"/>
          </a:ln>
        </p:spPr>
        <p:txBody>
          <a:bodyPr rtlCol="0"/>
          <a:lstStyle/>
          <a:p>
            <a:pPr algn="ctr"/>
            <a:endParaRPr lang="zh-CN" altLang="en-US"/>
          </a:p>
        </p:txBody>
      </p:sp>
      <p:sp>
        <p:nvSpPr>
          <p:cNvPr id="9012" name="rect"/>
          <p:cNvSpPr/>
          <p:nvPr/>
        </p:nvSpPr>
        <p:spPr>
          <a:xfrm>
            <a:off x="777776" y="2787523"/>
            <a:ext cx="477075" cy="370840"/>
          </a:xfrm>
          <a:prstGeom prst="rect">
            <a:avLst/>
          </a:prstGeom>
          <a:solidFill>
            <a:srgbClr val="FBE9E8">
              <a:alpha val="100000"/>
            </a:srgbClr>
          </a:solidFill>
          <a:ln cap="flat">
            <a:noFill/>
            <a:prstDash val="solid"/>
            <a:miter lim="0"/>
          </a:ln>
        </p:spPr>
        <p:txBody>
          <a:bodyPr rtlCol="0"/>
          <a:lstStyle/>
          <a:p>
            <a:pPr algn="ctr"/>
            <a:endParaRPr lang="zh-CN" altLang="en-US"/>
          </a:p>
        </p:txBody>
      </p:sp>
      <p:sp>
        <p:nvSpPr>
          <p:cNvPr id="9014" name="rect"/>
          <p:cNvSpPr/>
          <p:nvPr/>
        </p:nvSpPr>
        <p:spPr>
          <a:xfrm>
            <a:off x="777776" y="3402203"/>
            <a:ext cx="483439" cy="377191"/>
          </a:xfrm>
          <a:prstGeom prst="rect">
            <a:avLst/>
          </a:prstGeom>
          <a:solidFill>
            <a:srgbClr val="FBE9E8">
              <a:alpha val="100000"/>
            </a:srgbClr>
          </a:solidFill>
          <a:ln cap="flat">
            <a:noFill/>
            <a:prstDash val="solid"/>
            <a:miter lim="0"/>
          </a:ln>
        </p:spPr>
        <p:txBody>
          <a:bodyPr rtlCol="0"/>
          <a:lstStyle/>
          <a:p>
            <a:pPr algn="ctr"/>
            <a:endParaRPr lang="zh-CN" altLang="en-US"/>
          </a:p>
        </p:txBody>
      </p:sp>
      <p:sp>
        <p:nvSpPr>
          <p:cNvPr id="9016" name="rect"/>
          <p:cNvSpPr/>
          <p:nvPr/>
        </p:nvSpPr>
        <p:spPr>
          <a:xfrm>
            <a:off x="1248515" y="2172843"/>
            <a:ext cx="12700" cy="370839"/>
          </a:xfrm>
          <a:prstGeom prst="rect">
            <a:avLst/>
          </a:prstGeom>
          <a:solidFill>
            <a:srgbClr val="FFFFFF">
              <a:alpha val="100000"/>
            </a:srgbClr>
          </a:solidFill>
          <a:ln cap="flat">
            <a:noFill/>
            <a:prstDash val="solid"/>
            <a:miter lim="0"/>
          </a:ln>
        </p:spPr>
        <p:txBody>
          <a:bodyPr rtlCol="0"/>
          <a:lstStyle/>
          <a:p>
            <a:pPr algn="ctr"/>
            <a:endParaRPr lang="zh-CN" altLang="en-US"/>
          </a:p>
        </p:txBody>
      </p:sp>
      <p:pic>
        <p:nvPicPr>
          <p:cNvPr id="9018" name="picture 9018"/>
          <p:cNvPicPr>
            <a:picLocks noChangeAspect="1"/>
          </p:cNvPicPr>
          <p:nvPr/>
        </p:nvPicPr>
        <p:blipFill>
          <a:blip r:embed="rId9"/>
          <a:stretch>
            <a:fillRect/>
          </a:stretch>
        </p:blipFill>
        <p:spPr>
          <a:xfrm rot="21600000">
            <a:off x="1134455" y="2238755"/>
            <a:ext cx="600329" cy="1254505"/>
          </a:xfrm>
          <a:prstGeom prst="rect">
            <a:avLst/>
          </a:prstGeom>
        </p:spPr>
      </p:pic>
      <p:graphicFrame>
        <p:nvGraphicFramePr>
          <p:cNvPr id="9020" name="table 9020"/>
          <p:cNvGraphicFramePr>
            <a:graphicFrameLocks noGrp="1"/>
          </p:cNvGraphicFramePr>
          <p:nvPr/>
        </p:nvGraphicFramePr>
        <p:xfrm>
          <a:off x="1729451" y="2159761"/>
          <a:ext cx="811530" cy="1203960"/>
        </p:xfrm>
        <a:graphic>
          <a:graphicData uri="http://schemas.openxmlformats.org/drawingml/2006/table">
            <a:tbl>
              <a:tblPr>
                <a:solidFill>
                  <a:srgbClr val="FBE9E8"/>
                </a:solidFill>
              </a:tblPr>
              <a:tblGrid>
                <a:gridCol w="811530">
                  <a:extLst>
                    <a:ext uri="{9D8B030D-6E8A-4147-A177-3AD203B41FA5}">
                      <a16:colId xmlns:a16="http://schemas.microsoft.com/office/drawing/2014/main" val="20000"/>
                    </a:ext>
                  </a:extLst>
                </a:gridCol>
              </a:tblGrid>
              <a:tr h="536575">
                <a:tc>
                  <a:txBody>
                    <a:bodyPr/>
                    <a:lstStyle/>
                    <a:p>
                      <a:pPr algn="l" rtl="0" eaLnBrk="0">
                        <a:lnSpc>
                          <a:spcPct val="100000"/>
                        </a:lnSpc>
                      </a:pPr>
                      <a:endParaRPr lang="en-US" altLang="en-US" sz="700" dirty="0"/>
                    </a:p>
                    <a:p>
                      <a:pPr algn="l" rtl="0" eaLnBrk="0">
                        <a:lnSpc>
                          <a:spcPct val="7000"/>
                        </a:lnSpc>
                      </a:pPr>
                      <a:endParaRPr lang="en-US" altLang="en-US" sz="135" dirty="0"/>
                    </a:p>
                    <a:p>
                      <a:pPr marL="156845" algn="l" rtl="0" eaLnBrk="0">
                        <a:lnSpc>
                          <a:spcPct val="82000"/>
                        </a:lnSpc>
                      </a:pPr>
                      <a:r>
                        <a:rPr sz="15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10101</a:t>
                      </a:r>
                      <a:endParaRPr lang="en-US" altLang="en-US" sz="1500" dirty="0"/>
                    </a:p>
                  </a:txBody>
                  <a:tcPr marL="0" marR="0" marT="0" marB="0">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9E8"/>
                    </a:solidFill>
                  </a:tcPr>
                </a:tc>
                <a:extLst>
                  <a:ext uri="{0D108BD9-81ED-4DB2-BD59-A6C34878D82A}">
                    <a16:rowId xmlns:a16="http://schemas.microsoft.com/office/drawing/2014/main" val="10000"/>
                  </a:ext>
                </a:extLst>
              </a:tr>
              <a:tr h="330835">
                <a:tc>
                  <a:txBody>
                    <a:bodyPr/>
                    <a:lstStyle/>
                    <a:p>
                      <a:pPr algn="l" rtl="0" eaLnBrk="0">
                        <a:lnSpc>
                          <a:spcPct val="111000"/>
                        </a:lnSpc>
                      </a:pPr>
                      <a:endParaRPr lang="en-US" altLang="en-US" sz="600" dirty="0"/>
                    </a:p>
                    <a:p>
                      <a:pPr marL="236855" algn="l" rtl="0" eaLnBrk="0">
                        <a:lnSpc>
                          <a:spcPct val="82000"/>
                        </a:lnSpc>
                      </a:pPr>
                      <a:r>
                        <a:rPr sz="15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89.5</a:t>
                      </a:r>
                      <a:endParaRPr lang="en-US" altLang="en-US" sz="1500" dirty="0"/>
                    </a:p>
                  </a:txBody>
                  <a:tcPr marL="0" marR="0" marT="0" marB="0">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9E8"/>
                    </a:solidFill>
                  </a:tcPr>
                </a:tc>
                <a:extLst>
                  <a:ext uri="{0D108BD9-81ED-4DB2-BD59-A6C34878D82A}">
                    <a16:rowId xmlns:a16="http://schemas.microsoft.com/office/drawing/2014/main" val="10001"/>
                  </a:ext>
                </a:extLst>
              </a:tr>
              <a:tr h="336550">
                <a:tc>
                  <a:txBody>
                    <a:bodyPr/>
                    <a:lstStyle/>
                    <a:p>
                      <a:pPr algn="l" rtl="0" eaLnBrk="0">
                        <a:lnSpc>
                          <a:spcPct val="100000"/>
                        </a:lnSpc>
                      </a:pPr>
                      <a:endParaRPr lang="en-US" altLang="en-US" sz="1000" dirty="0"/>
                    </a:p>
                  </a:txBody>
                  <a:tcPr marL="0" marR="0" marT="0" marB="0">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9E8"/>
                    </a:solidFill>
                  </a:tcPr>
                </a:tc>
                <a:extLst>
                  <a:ext uri="{0D108BD9-81ED-4DB2-BD59-A6C34878D82A}">
                    <a16:rowId xmlns:a16="http://schemas.microsoft.com/office/drawing/2014/main" val="10002"/>
                  </a:ext>
                </a:extLst>
              </a:tr>
            </a:tbl>
          </a:graphicData>
        </a:graphic>
      </p:graphicFrame>
      <p:sp>
        <p:nvSpPr>
          <p:cNvPr id="9022" name="rect"/>
          <p:cNvSpPr/>
          <p:nvPr/>
        </p:nvSpPr>
        <p:spPr>
          <a:xfrm>
            <a:off x="3569427" y="3402203"/>
            <a:ext cx="483361" cy="377191"/>
          </a:xfrm>
          <a:prstGeom prst="rect">
            <a:avLst/>
          </a:prstGeom>
          <a:solidFill>
            <a:srgbClr val="FBE9E8">
              <a:alpha val="100000"/>
            </a:srgbClr>
          </a:solidFill>
          <a:ln cap="flat">
            <a:noFill/>
            <a:prstDash val="solid"/>
            <a:miter lim="0"/>
          </a:ln>
        </p:spPr>
        <p:txBody>
          <a:bodyPr rtlCol="0"/>
          <a:lstStyle/>
          <a:p>
            <a:pPr algn="ctr"/>
            <a:endParaRPr lang="zh-CN" altLang="en-US"/>
          </a:p>
        </p:txBody>
      </p:sp>
      <p:sp>
        <p:nvSpPr>
          <p:cNvPr id="9024" name="rect"/>
          <p:cNvSpPr/>
          <p:nvPr/>
        </p:nvSpPr>
        <p:spPr>
          <a:xfrm>
            <a:off x="3569427" y="2172843"/>
            <a:ext cx="483361" cy="370840"/>
          </a:xfrm>
          <a:prstGeom prst="rect">
            <a:avLst/>
          </a:prstGeom>
          <a:solidFill>
            <a:srgbClr val="FBE9E8">
              <a:alpha val="100000"/>
            </a:srgbClr>
          </a:solidFill>
          <a:ln cap="flat">
            <a:noFill/>
            <a:prstDash val="solid"/>
            <a:miter lim="0"/>
          </a:ln>
        </p:spPr>
        <p:txBody>
          <a:bodyPr rtlCol="0"/>
          <a:lstStyle/>
          <a:p>
            <a:pPr algn="ctr"/>
            <a:endParaRPr lang="zh-CN" altLang="en-US"/>
          </a:p>
        </p:txBody>
      </p:sp>
      <p:pic>
        <p:nvPicPr>
          <p:cNvPr id="9026" name="picture 9026"/>
          <p:cNvPicPr>
            <a:picLocks noChangeAspect="1"/>
          </p:cNvPicPr>
          <p:nvPr/>
        </p:nvPicPr>
        <p:blipFill>
          <a:blip r:embed="rId10"/>
          <a:stretch>
            <a:fillRect/>
          </a:stretch>
        </p:blipFill>
        <p:spPr>
          <a:xfrm rot="21600000">
            <a:off x="3938615" y="2464308"/>
            <a:ext cx="505967" cy="1028953"/>
          </a:xfrm>
          <a:prstGeom prst="rect">
            <a:avLst/>
          </a:prstGeom>
        </p:spPr>
      </p:pic>
      <p:graphicFrame>
        <p:nvGraphicFramePr>
          <p:cNvPr id="9028" name="table 9028"/>
          <p:cNvGraphicFramePr>
            <a:graphicFrameLocks noGrp="1"/>
          </p:cNvGraphicFramePr>
          <p:nvPr/>
        </p:nvGraphicFramePr>
        <p:xfrm>
          <a:off x="4437726" y="2185035"/>
          <a:ext cx="811530" cy="1203960"/>
        </p:xfrm>
        <a:graphic>
          <a:graphicData uri="http://schemas.openxmlformats.org/drawingml/2006/table">
            <a:tbl>
              <a:tblPr>
                <a:solidFill>
                  <a:srgbClr val="FBE9E8"/>
                </a:solidFill>
              </a:tblPr>
              <a:tblGrid>
                <a:gridCol w="811530">
                  <a:extLst>
                    <a:ext uri="{9D8B030D-6E8A-4147-A177-3AD203B41FA5}">
                      <a16:colId xmlns:a16="http://schemas.microsoft.com/office/drawing/2014/main" val="20000"/>
                    </a:ext>
                  </a:extLst>
                </a:gridCol>
              </a:tblGrid>
              <a:tr h="536575">
                <a:tc>
                  <a:txBody>
                    <a:bodyPr/>
                    <a:lstStyle/>
                    <a:p>
                      <a:pPr algn="l" rtl="0" eaLnBrk="0">
                        <a:lnSpc>
                          <a:spcPct val="100000"/>
                        </a:lnSpc>
                      </a:pPr>
                      <a:endParaRPr lang="en-US" altLang="en-US" sz="700" dirty="0"/>
                    </a:p>
                    <a:p>
                      <a:pPr algn="l" rtl="0" eaLnBrk="0">
                        <a:lnSpc>
                          <a:spcPct val="7000"/>
                        </a:lnSpc>
                      </a:pPr>
                      <a:endParaRPr lang="en-US" altLang="en-US" sz="135" dirty="0"/>
                    </a:p>
                    <a:p>
                      <a:pPr marL="157480" algn="l" rtl="0" eaLnBrk="0">
                        <a:lnSpc>
                          <a:spcPct val="82000"/>
                        </a:lnSpc>
                      </a:pPr>
                      <a:r>
                        <a:rPr sz="15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10101</a:t>
                      </a:r>
                      <a:endParaRPr lang="en-US" altLang="en-US" sz="1500" dirty="0"/>
                    </a:p>
                  </a:txBody>
                  <a:tcPr marL="0" marR="0" marT="0" marB="0">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9E8"/>
                    </a:solidFill>
                  </a:tcPr>
                </a:tc>
                <a:extLst>
                  <a:ext uri="{0D108BD9-81ED-4DB2-BD59-A6C34878D82A}">
                    <a16:rowId xmlns:a16="http://schemas.microsoft.com/office/drawing/2014/main" val="10000"/>
                  </a:ext>
                </a:extLst>
              </a:tr>
              <a:tr h="330835">
                <a:tc>
                  <a:txBody>
                    <a:bodyPr/>
                    <a:lstStyle/>
                    <a:p>
                      <a:pPr algn="l" rtl="0" eaLnBrk="0">
                        <a:lnSpc>
                          <a:spcPct val="111000"/>
                        </a:lnSpc>
                      </a:pPr>
                      <a:endParaRPr lang="en-US" altLang="en-US" sz="600" dirty="0"/>
                    </a:p>
                    <a:p>
                      <a:pPr marL="237490" algn="l" rtl="0" eaLnBrk="0">
                        <a:lnSpc>
                          <a:spcPct val="82000"/>
                        </a:lnSpc>
                      </a:pPr>
                      <a:r>
                        <a:rPr sz="15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89.5</a:t>
                      </a:r>
                      <a:endParaRPr lang="en-US" altLang="en-US" sz="1500" dirty="0"/>
                    </a:p>
                  </a:txBody>
                  <a:tcPr marL="0" marR="0" marT="0" marB="0">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9E8"/>
                    </a:solidFill>
                  </a:tcPr>
                </a:tc>
                <a:extLst>
                  <a:ext uri="{0D108BD9-81ED-4DB2-BD59-A6C34878D82A}">
                    <a16:rowId xmlns:a16="http://schemas.microsoft.com/office/drawing/2014/main" val="10001"/>
                  </a:ext>
                </a:extLst>
              </a:tr>
              <a:tr h="336550">
                <a:tc>
                  <a:txBody>
                    <a:bodyPr/>
                    <a:lstStyle/>
                    <a:p>
                      <a:pPr algn="l" rtl="0" eaLnBrk="0">
                        <a:lnSpc>
                          <a:spcPct val="100000"/>
                        </a:lnSpc>
                      </a:pPr>
                      <a:endParaRPr lang="en-US" altLang="en-US" sz="1000" dirty="0"/>
                    </a:p>
                  </a:txBody>
                  <a:tcPr marL="0" marR="0" marT="0" marB="0">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9E8"/>
                    </a:solidFill>
                  </a:tcPr>
                </a:tc>
                <a:extLst>
                  <a:ext uri="{0D108BD9-81ED-4DB2-BD59-A6C34878D82A}">
                    <a16:rowId xmlns:a16="http://schemas.microsoft.com/office/drawing/2014/main" val="10002"/>
                  </a:ext>
                </a:extLst>
              </a:tr>
            </a:tbl>
          </a:graphicData>
        </a:graphic>
      </p:graphicFrame>
      <p:graphicFrame>
        <p:nvGraphicFramePr>
          <p:cNvPr id="9030" name="table 9030"/>
          <p:cNvGraphicFramePr>
            <a:graphicFrameLocks noGrp="1"/>
          </p:cNvGraphicFramePr>
          <p:nvPr/>
        </p:nvGraphicFramePr>
        <p:xfrm>
          <a:off x="6617682" y="4951476"/>
          <a:ext cx="811530" cy="1203960"/>
        </p:xfrm>
        <a:graphic>
          <a:graphicData uri="http://schemas.openxmlformats.org/drawingml/2006/table">
            <a:tbl>
              <a:tblPr>
                <a:solidFill>
                  <a:srgbClr val="FBE9E8"/>
                </a:solidFill>
              </a:tblPr>
              <a:tblGrid>
                <a:gridCol w="811530">
                  <a:extLst>
                    <a:ext uri="{9D8B030D-6E8A-4147-A177-3AD203B41FA5}">
                      <a16:colId xmlns:a16="http://schemas.microsoft.com/office/drawing/2014/main" val="20000"/>
                    </a:ext>
                  </a:extLst>
                </a:gridCol>
              </a:tblGrid>
              <a:tr h="536575">
                <a:tc>
                  <a:txBody>
                    <a:bodyPr/>
                    <a:lstStyle/>
                    <a:p>
                      <a:pPr algn="l" rtl="0" eaLnBrk="0">
                        <a:lnSpc>
                          <a:spcPct val="102000"/>
                        </a:lnSpc>
                      </a:pPr>
                      <a:endParaRPr lang="en-US" altLang="en-US" sz="700" dirty="0"/>
                    </a:p>
                    <a:p>
                      <a:pPr marL="158115" algn="l" rtl="0" eaLnBrk="0">
                        <a:lnSpc>
                          <a:spcPct val="82000"/>
                        </a:lnSpc>
                        <a:spcBef>
                          <a:spcPts val="0"/>
                        </a:spcBef>
                      </a:pPr>
                      <a:r>
                        <a:rPr sz="15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10107</a:t>
                      </a:r>
                      <a:endParaRPr lang="en-US" altLang="en-US" sz="1500" dirty="0"/>
                    </a:p>
                  </a:txBody>
                  <a:tcPr marL="0" marR="0" marT="0" marB="0">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9E8"/>
                    </a:solidFill>
                  </a:tcPr>
                </a:tc>
                <a:extLst>
                  <a:ext uri="{0D108BD9-81ED-4DB2-BD59-A6C34878D82A}">
                    <a16:rowId xmlns:a16="http://schemas.microsoft.com/office/drawing/2014/main" val="10000"/>
                  </a:ext>
                </a:extLst>
              </a:tr>
              <a:tr h="330835">
                <a:tc>
                  <a:txBody>
                    <a:bodyPr/>
                    <a:lstStyle/>
                    <a:p>
                      <a:pPr algn="l" rtl="0" eaLnBrk="0">
                        <a:lnSpc>
                          <a:spcPct val="113000"/>
                        </a:lnSpc>
                      </a:pPr>
                      <a:endParaRPr lang="en-US" altLang="en-US" sz="600" dirty="0"/>
                    </a:p>
                    <a:p>
                      <a:pPr marL="314325" algn="l" rtl="0" eaLnBrk="0">
                        <a:lnSpc>
                          <a:spcPct val="78000"/>
                        </a:lnSpc>
                        <a:spcBef>
                          <a:spcPts val="0"/>
                        </a:spcBef>
                      </a:pPr>
                      <a:r>
                        <a:rPr sz="16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85</a:t>
                      </a:r>
                      <a:endParaRPr lang="en-US" altLang="en-US" sz="1600" dirty="0"/>
                    </a:p>
                  </a:txBody>
                  <a:tcPr marL="0" marR="0" marT="0" marB="0">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9E8"/>
                    </a:solidFill>
                  </a:tcPr>
                </a:tc>
                <a:extLst>
                  <a:ext uri="{0D108BD9-81ED-4DB2-BD59-A6C34878D82A}">
                    <a16:rowId xmlns:a16="http://schemas.microsoft.com/office/drawing/2014/main" val="10001"/>
                  </a:ext>
                </a:extLst>
              </a:tr>
              <a:tr h="336550">
                <a:tc>
                  <a:txBody>
                    <a:bodyPr/>
                    <a:lstStyle/>
                    <a:p>
                      <a:pPr algn="l" rtl="0" eaLnBrk="0">
                        <a:lnSpc>
                          <a:spcPct val="100000"/>
                        </a:lnSpc>
                      </a:pPr>
                      <a:endParaRPr lang="en-US" altLang="en-US" sz="1000" dirty="0"/>
                    </a:p>
                  </a:txBody>
                  <a:tcPr marL="0" marR="0" marT="0" marB="0">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9E8"/>
                    </a:solidFill>
                  </a:tcPr>
                </a:tc>
                <a:extLst>
                  <a:ext uri="{0D108BD9-81ED-4DB2-BD59-A6C34878D82A}">
                    <a16:rowId xmlns:a16="http://schemas.microsoft.com/office/drawing/2014/main" val="10002"/>
                  </a:ext>
                </a:extLst>
              </a:tr>
            </a:tbl>
          </a:graphicData>
        </a:graphic>
      </p:graphicFrame>
      <p:sp>
        <p:nvSpPr>
          <p:cNvPr id="9032" name="textbox 9032"/>
          <p:cNvSpPr/>
          <p:nvPr/>
        </p:nvSpPr>
        <p:spPr>
          <a:xfrm>
            <a:off x="2308571" y="4956555"/>
            <a:ext cx="812800" cy="1205231"/>
          </a:xfrm>
          <a:prstGeom prst="rect">
            <a:avLst/>
          </a:prstGeom>
          <a:solidFill>
            <a:srgbClr val="FCF3F2"/>
          </a:solidFill>
        </p:spPr>
        <p:txBody>
          <a:bodyPr vert="horz" wrap="square" lIns="0" tIns="0" rIns="0" bIns="0"/>
          <a:lstStyle/>
          <a:p>
            <a:pPr algn="l" rtl="0" eaLnBrk="0">
              <a:lnSpc>
                <a:spcPct val="102000"/>
              </a:lnSpc>
            </a:pPr>
            <a:endParaRPr lang="en-US" altLang="en-US" sz="700" dirty="0"/>
          </a:p>
          <a:p>
            <a:pPr marL="156845" algn="l" rtl="0" eaLnBrk="0">
              <a:lnSpc>
                <a:spcPct val="82000"/>
              </a:lnSpc>
              <a:spcBef>
                <a:spcPts val="0"/>
              </a:spcBef>
            </a:pPr>
            <a:r>
              <a:rPr sz="15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10103</a:t>
            </a:r>
            <a:endParaRPr lang="en-US" altLang="en-US" sz="1500" dirty="0"/>
          </a:p>
          <a:p>
            <a:pPr algn="l" rtl="0" eaLnBrk="0">
              <a:lnSpc>
                <a:spcPct val="106000"/>
              </a:lnSpc>
            </a:pPr>
            <a:endParaRPr lang="en-US" altLang="en-US" sz="1300" dirty="0"/>
          </a:p>
          <a:p>
            <a:pPr marL="313690" algn="l" rtl="0" eaLnBrk="0">
              <a:lnSpc>
                <a:spcPct val="78000"/>
              </a:lnSpc>
              <a:spcBef>
                <a:spcPts val="5"/>
              </a:spcBef>
            </a:pPr>
            <a:r>
              <a:rPr sz="16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90</a:t>
            </a:r>
            <a:endParaRPr lang="en-US" altLang="en-US" sz="1600" dirty="0"/>
          </a:p>
        </p:txBody>
      </p:sp>
      <p:graphicFrame>
        <p:nvGraphicFramePr>
          <p:cNvPr id="9034" name="table 9034"/>
          <p:cNvGraphicFramePr>
            <a:graphicFrameLocks noGrp="1"/>
          </p:cNvGraphicFramePr>
          <p:nvPr/>
        </p:nvGraphicFramePr>
        <p:xfrm>
          <a:off x="5552659" y="2185035"/>
          <a:ext cx="811530" cy="1203960"/>
        </p:xfrm>
        <a:graphic>
          <a:graphicData uri="http://schemas.openxmlformats.org/drawingml/2006/table">
            <a:tbl>
              <a:tblPr>
                <a:solidFill>
                  <a:srgbClr val="FBE9E8"/>
                </a:solidFill>
              </a:tblPr>
              <a:tblGrid>
                <a:gridCol w="811530">
                  <a:extLst>
                    <a:ext uri="{9D8B030D-6E8A-4147-A177-3AD203B41FA5}">
                      <a16:colId xmlns:a16="http://schemas.microsoft.com/office/drawing/2014/main" val="20000"/>
                    </a:ext>
                  </a:extLst>
                </a:gridCol>
              </a:tblGrid>
              <a:tr h="536575">
                <a:tc>
                  <a:txBody>
                    <a:bodyPr/>
                    <a:lstStyle/>
                    <a:p>
                      <a:pPr algn="l" rtl="0" eaLnBrk="0">
                        <a:lnSpc>
                          <a:spcPct val="100000"/>
                        </a:lnSpc>
                      </a:pPr>
                      <a:endParaRPr lang="en-US" altLang="en-US" sz="700" dirty="0"/>
                    </a:p>
                    <a:p>
                      <a:pPr algn="l" rtl="0" eaLnBrk="0">
                        <a:lnSpc>
                          <a:spcPct val="7000"/>
                        </a:lnSpc>
                      </a:pPr>
                      <a:endParaRPr lang="en-US" altLang="en-US" sz="135" dirty="0"/>
                    </a:p>
                    <a:p>
                      <a:pPr marL="157480" algn="l" rtl="0" eaLnBrk="0">
                        <a:lnSpc>
                          <a:spcPct val="82000"/>
                        </a:lnSpc>
                      </a:pPr>
                      <a:r>
                        <a:rPr sz="15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10103</a:t>
                      </a:r>
                      <a:endParaRPr lang="en-US" altLang="en-US" sz="1500" dirty="0"/>
                    </a:p>
                  </a:txBody>
                  <a:tcPr marL="0" marR="0" marT="0" marB="0">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9E8"/>
                    </a:solidFill>
                  </a:tcPr>
                </a:tc>
                <a:extLst>
                  <a:ext uri="{0D108BD9-81ED-4DB2-BD59-A6C34878D82A}">
                    <a16:rowId xmlns:a16="http://schemas.microsoft.com/office/drawing/2014/main" val="10000"/>
                  </a:ext>
                </a:extLst>
              </a:tr>
              <a:tr h="330835">
                <a:tc>
                  <a:txBody>
                    <a:bodyPr/>
                    <a:lstStyle/>
                    <a:p>
                      <a:pPr algn="l" rtl="0" eaLnBrk="0">
                        <a:lnSpc>
                          <a:spcPct val="111000"/>
                        </a:lnSpc>
                      </a:pPr>
                      <a:endParaRPr lang="en-US" altLang="en-US" sz="600" dirty="0"/>
                    </a:p>
                    <a:p>
                      <a:pPr marL="314325" algn="l" rtl="0" eaLnBrk="0">
                        <a:lnSpc>
                          <a:spcPct val="78000"/>
                        </a:lnSpc>
                        <a:spcBef>
                          <a:spcPts val="0"/>
                        </a:spcBef>
                      </a:pPr>
                      <a:r>
                        <a:rPr sz="16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90</a:t>
                      </a:r>
                      <a:endParaRPr lang="en-US" altLang="en-US" sz="1600" dirty="0"/>
                    </a:p>
                  </a:txBody>
                  <a:tcPr marL="0" marR="0" marT="0" marB="0">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9E8"/>
                    </a:solidFill>
                  </a:tcPr>
                </a:tc>
                <a:extLst>
                  <a:ext uri="{0D108BD9-81ED-4DB2-BD59-A6C34878D82A}">
                    <a16:rowId xmlns:a16="http://schemas.microsoft.com/office/drawing/2014/main" val="10001"/>
                  </a:ext>
                </a:extLst>
              </a:tr>
              <a:tr h="336550">
                <a:tc>
                  <a:txBody>
                    <a:bodyPr/>
                    <a:lstStyle/>
                    <a:p>
                      <a:pPr algn="l" rtl="0" eaLnBrk="0">
                        <a:lnSpc>
                          <a:spcPct val="100000"/>
                        </a:lnSpc>
                      </a:pPr>
                      <a:endParaRPr lang="en-US" altLang="en-US" sz="1000" dirty="0"/>
                    </a:p>
                  </a:txBody>
                  <a:tcPr marL="0" marR="0" marT="0" marB="0">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9E8"/>
                    </a:solidFill>
                  </a:tcPr>
                </a:tc>
                <a:extLst>
                  <a:ext uri="{0D108BD9-81ED-4DB2-BD59-A6C34878D82A}">
                    <a16:rowId xmlns:a16="http://schemas.microsoft.com/office/drawing/2014/main" val="10002"/>
                  </a:ext>
                </a:extLst>
              </a:tr>
            </a:tbl>
          </a:graphicData>
        </a:graphic>
      </p:graphicFrame>
      <p:graphicFrame>
        <p:nvGraphicFramePr>
          <p:cNvPr id="9036" name="table 9036"/>
          <p:cNvGraphicFramePr>
            <a:graphicFrameLocks noGrp="1"/>
          </p:cNvGraphicFramePr>
          <p:nvPr/>
        </p:nvGraphicFramePr>
        <p:xfrm>
          <a:off x="5552659" y="4956555"/>
          <a:ext cx="811530" cy="1203960"/>
        </p:xfrm>
        <a:graphic>
          <a:graphicData uri="http://schemas.openxmlformats.org/drawingml/2006/table">
            <a:tbl>
              <a:tblPr>
                <a:solidFill>
                  <a:srgbClr val="FBE9E8"/>
                </a:solidFill>
              </a:tblPr>
              <a:tblGrid>
                <a:gridCol w="811530">
                  <a:extLst>
                    <a:ext uri="{9D8B030D-6E8A-4147-A177-3AD203B41FA5}">
                      <a16:colId xmlns:a16="http://schemas.microsoft.com/office/drawing/2014/main" val="20000"/>
                    </a:ext>
                  </a:extLst>
                </a:gridCol>
              </a:tblGrid>
              <a:tr h="537210">
                <a:tc>
                  <a:txBody>
                    <a:bodyPr/>
                    <a:lstStyle/>
                    <a:p>
                      <a:pPr algn="l" rtl="0" eaLnBrk="0">
                        <a:lnSpc>
                          <a:spcPct val="102000"/>
                        </a:lnSpc>
                      </a:pPr>
                      <a:endParaRPr lang="en-US" altLang="en-US" sz="700" dirty="0"/>
                    </a:p>
                    <a:p>
                      <a:pPr marL="157480" algn="l" rtl="0" eaLnBrk="0">
                        <a:lnSpc>
                          <a:spcPct val="82000"/>
                        </a:lnSpc>
                        <a:spcBef>
                          <a:spcPts val="0"/>
                        </a:spcBef>
                      </a:pPr>
                      <a:r>
                        <a:rPr sz="15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10103</a:t>
                      </a:r>
                      <a:endParaRPr lang="en-US" altLang="en-US" sz="1500" dirty="0"/>
                    </a:p>
                  </a:txBody>
                  <a:tcPr marL="0" marR="0" marT="0" marB="0">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9E8"/>
                    </a:solidFill>
                  </a:tcPr>
                </a:tc>
                <a:extLst>
                  <a:ext uri="{0D108BD9-81ED-4DB2-BD59-A6C34878D82A}">
                    <a16:rowId xmlns:a16="http://schemas.microsoft.com/office/drawing/2014/main" val="10000"/>
                  </a:ext>
                </a:extLst>
              </a:tr>
              <a:tr h="330200">
                <a:tc>
                  <a:txBody>
                    <a:bodyPr/>
                    <a:lstStyle/>
                    <a:p>
                      <a:pPr algn="l" rtl="0" eaLnBrk="0">
                        <a:lnSpc>
                          <a:spcPct val="112000"/>
                        </a:lnSpc>
                      </a:pPr>
                      <a:endParaRPr lang="en-US" altLang="en-US" sz="600" dirty="0"/>
                    </a:p>
                    <a:p>
                      <a:pPr marL="314325" algn="l" rtl="0" eaLnBrk="0">
                        <a:lnSpc>
                          <a:spcPct val="78000"/>
                        </a:lnSpc>
                        <a:spcBef>
                          <a:spcPts val="5"/>
                        </a:spcBef>
                      </a:pPr>
                      <a:r>
                        <a:rPr sz="16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90</a:t>
                      </a:r>
                      <a:endParaRPr lang="en-US" altLang="en-US" sz="1600" dirty="0"/>
                    </a:p>
                  </a:txBody>
                  <a:tcPr marL="0" marR="0" marT="0" marB="0">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9E8"/>
                    </a:solidFill>
                  </a:tcPr>
                </a:tc>
                <a:extLst>
                  <a:ext uri="{0D108BD9-81ED-4DB2-BD59-A6C34878D82A}">
                    <a16:rowId xmlns:a16="http://schemas.microsoft.com/office/drawing/2014/main" val="10001"/>
                  </a:ext>
                </a:extLst>
              </a:tr>
              <a:tr h="336550">
                <a:tc>
                  <a:txBody>
                    <a:bodyPr/>
                    <a:lstStyle/>
                    <a:p>
                      <a:pPr algn="l" rtl="0" eaLnBrk="0">
                        <a:lnSpc>
                          <a:spcPct val="100000"/>
                        </a:lnSpc>
                      </a:pPr>
                      <a:endParaRPr lang="en-US" altLang="en-US" sz="1000" dirty="0"/>
                    </a:p>
                  </a:txBody>
                  <a:tcPr marL="0" marR="0" marT="0" marB="0">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9E8"/>
                    </a:solidFill>
                  </a:tcPr>
                </a:tc>
                <a:extLst>
                  <a:ext uri="{0D108BD9-81ED-4DB2-BD59-A6C34878D82A}">
                    <a16:rowId xmlns:a16="http://schemas.microsoft.com/office/drawing/2014/main" val="10002"/>
                  </a:ext>
                </a:extLst>
              </a:tr>
            </a:tbl>
          </a:graphicData>
        </a:graphic>
      </p:graphicFrame>
      <p:sp>
        <p:nvSpPr>
          <p:cNvPr id="9040" name="rect"/>
          <p:cNvSpPr/>
          <p:nvPr/>
        </p:nvSpPr>
        <p:spPr>
          <a:xfrm>
            <a:off x="6302848" y="4165727"/>
            <a:ext cx="499745" cy="377189"/>
          </a:xfrm>
          <a:prstGeom prst="rect">
            <a:avLst/>
          </a:prstGeom>
          <a:solidFill>
            <a:srgbClr val="FBE9E8">
              <a:alpha val="100000"/>
            </a:srgbClr>
          </a:solidFill>
          <a:ln cap="flat">
            <a:noFill/>
            <a:prstDash val="solid"/>
            <a:miter lim="0"/>
          </a:ln>
        </p:spPr>
        <p:txBody>
          <a:bodyPr rtlCol="0"/>
          <a:lstStyle/>
          <a:p>
            <a:pPr algn="ctr"/>
            <a:endParaRPr lang="zh-CN" altLang="en-US"/>
          </a:p>
        </p:txBody>
      </p:sp>
      <p:grpSp>
        <p:nvGrpSpPr>
          <p:cNvPr id="572" name="group 572"/>
          <p:cNvGrpSpPr/>
          <p:nvPr/>
        </p:nvGrpSpPr>
        <p:grpSpPr>
          <a:xfrm rot="21600000">
            <a:off x="5243922" y="1431163"/>
            <a:ext cx="499619" cy="377191"/>
            <a:chOff x="0" y="0"/>
            <a:chExt cx="499618" cy="377190"/>
          </a:xfrm>
        </p:grpSpPr>
        <p:sp>
          <p:nvSpPr>
            <p:cNvPr id="9042" name="path"/>
            <p:cNvSpPr/>
            <p:nvPr/>
          </p:nvSpPr>
          <p:spPr>
            <a:xfrm>
              <a:off x="6350" y="0"/>
              <a:ext cx="487019" cy="370840"/>
            </a:xfrm>
            <a:custGeom>
              <a:avLst/>
              <a:gdLst/>
              <a:ahLst/>
              <a:cxnLst/>
              <a:rect l="0" t="0" r="0" b="0"/>
              <a:pathLst>
                <a:path w="766" h="584">
                  <a:moveTo>
                    <a:pt x="0" y="584"/>
                  </a:moveTo>
                  <a:lnTo>
                    <a:pt x="766" y="584"/>
                  </a:lnTo>
                  <a:lnTo>
                    <a:pt x="766" y="0"/>
                  </a:lnTo>
                  <a:lnTo>
                    <a:pt x="0" y="0"/>
                  </a:lnTo>
                  <a:lnTo>
                    <a:pt x="0" y="584"/>
                  </a:lnTo>
                  <a:close/>
                </a:path>
              </a:pathLst>
            </a:custGeom>
            <a:solidFill>
              <a:srgbClr val="FBE9E8">
                <a:alpha val="100000"/>
              </a:srgbClr>
            </a:solidFill>
            <a:ln cap="flat">
              <a:noFill/>
              <a:prstDash val="solid"/>
              <a:miter lim="0"/>
            </a:ln>
          </p:spPr>
          <p:txBody>
            <a:bodyPr rtlCol="0"/>
            <a:lstStyle/>
            <a:p>
              <a:pPr algn="ctr"/>
              <a:endParaRPr lang="zh-CN" altLang="en-US"/>
            </a:p>
          </p:txBody>
        </p:sp>
        <p:sp>
          <p:nvSpPr>
            <p:cNvPr id="9044" name="path"/>
            <p:cNvSpPr/>
            <p:nvPr/>
          </p:nvSpPr>
          <p:spPr>
            <a:xfrm>
              <a:off x="0" y="0"/>
              <a:ext cx="499618" cy="377189"/>
            </a:xfrm>
            <a:custGeom>
              <a:avLst/>
              <a:gdLst/>
              <a:ahLst/>
              <a:cxnLst/>
              <a:rect l="0" t="0" r="0" b="0"/>
              <a:pathLst>
                <a:path w="786" h="593">
                  <a:moveTo>
                    <a:pt x="10" y="0"/>
                  </a:moveTo>
                  <a:lnTo>
                    <a:pt x="10" y="593"/>
                  </a:lnTo>
                  <a:moveTo>
                    <a:pt x="776" y="0"/>
                  </a:moveTo>
                  <a:lnTo>
                    <a:pt x="776" y="593"/>
                  </a:lnTo>
                  <a:moveTo>
                    <a:pt x="0" y="583"/>
                  </a:moveTo>
                  <a:lnTo>
                    <a:pt x="786" y="583"/>
                  </a:lnTo>
                </a:path>
              </a:pathLst>
            </a:custGeom>
            <a:noFill/>
            <a:ln w="12700" cap="flat">
              <a:solidFill>
                <a:srgbClr val="FFFFFF">
                  <a:alpha val="100000"/>
                </a:srgbClr>
              </a:solidFill>
              <a:prstDash val="solid"/>
              <a:round/>
            </a:ln>
          </p:spPr>
          <p:txBody>
            <a:bodyPr rtlCol="0"/>
            <a:lstStyle/>
            <a:p>
              <a:pPr algn="ctr"/>
              <a:endParaRPr lang="zh-CN" altLang="en-US"/>
            </a:p>
          </p:txBody>
        </p:sp>
      </p:grpSp>
      <p:grpSp>
        <p:nvGrpSpPr>
          <p:cNvPr id="574" name="group 574"/>
          <p:cNvGrpSpPr/>
          <p:nvPr/>
        </p:nvGrpSpPr>
        <p:grpSpPr>
          <a:xfrm rot="21600000">
            <a:off x="9316811" y="1399285"/>
            <a:ext cx="499619" cy="377191"/>
            <a:chOff x="0" y="0"/>
            <a:chExt cx="499618" cy="377190"/>
          </a:xfrm>
        </p:grpSpPr>
        <p:sp>
          <p:nvSpPr>
            <p:cNvPr id="9046" name="path"/>
            <p:cNvSpPr/>
            <p:nvPr/>
          </p:nvSpPr>
          <p:spPr>
            <a:xfrm>
              <a:off x="6350" y="0"/>
              <a:ext cx="487019" cy="370840"/>
            </a:xfrm>
            <a:custGeom>
              <a:avLst/>
              <a:gdLst/>
              <a:ahLst/>
              <a:cxnLst/>
              <a:rect l="0" t="0" r="0" b="0"/>
              <a:pathLst>
                <a:path w="766" h="584">
                  <a:moveTo>
                    <a:pt x="0" y="584"/>
                  </a:moveTo>
                  <a:lnTo>
                    <a:pt x="766" y="584"/>
                  </a:lnTo>
                  <a:lnTo>
                    <a:pt x="766" y="0"/>
                  </a:lnTo>
                  <a:lnTo>
                    <a:pt x="0" y="0"/>
                  </a:lnTo>
                  <a:lnTo>
                    <a:pt x="0" y="584"/>
                  </a:lnTo>
                  <a:close/>
                </a:path>
              </a:pathLst>
            </a:custGeom>
            <a:solidFill>
              <a:srgbClr val="FBE9E8">
                <a:alpha val="100000"/>
              </a:srgbClr>
            </a:solidFill>
            <a:ln cap="flat">
              <a:noFill/>
              <a:prstDash val="solid"/>
              <a:miter lim="0"/>
            </a:ln>
          </p:spPr>
          <p:txBody>
            <a:bodyPr rtlCol="0"/>
            <a:lstStyle/>
            <a:p>
              <a:pPr algn="ctr"/>
              <a:endParaRPr lang="zh-CN" altLang="en-US"/>
            </a:p>
          </p:txBody>
        </p:sp>
        <p:sp>
          <p:nvSpPr>
            <p:cNvPr id="9048" name="path"/>
            <p:cNvSpPr/>
            <p:nvPr/>
          </p:nvSpPr>
          <p:spPr>
            <a:xfrm>
              <a:off x="0" y="0"/>
              <a:ext cx="499618" cy="377189"/>
            </a:xfrm>
            <a:custGeom>
              <a:avLst/>
              <a:gdLst/>
              <a:ahLst/>
              <a:cxnLst/>
              <a:rect l="0" t="0" r="0" b="0"/>
              <a:pathLst>
                <a:path w="786" h="593">
                  <a:moveTo>
                    <a:pt x="10" y="0"/>
                  </a:moveTo>
                  <a:lnTo>
                    <a:pt x="10" y="593"/>
                  </a:lnTo>
                  <a:moveTo>
                    <a:pt x="776" y="0"/>
                  </a:moveTo>
                  <a:lnTo>
                    <a:pt x="776" y="593"/>
                  </a:lnTo>
                  <a:moveTo>
                    <a:pt x="0" y="583"/>
                  </a:moveTo>
                  <a:lnTo>
                    <a:pt x="786" y="583"/>
                  </a:lnTo>
                </a:path>
              </a:pathLst>
            </a:custGeom>
            <a:noFill/>
            <a:ln w="12700" cap="flat">
              <a:solidFill>
                <a:srgbClr val="FFFFFF">
                  <a:alpha val="100000"/>
                </a:srgbClr>
              </a:solidFill>
              <a:prstDash val="solid"/>
              <a:round/>
            </a:ln>
          </p:spPr>
          <p:txBody>
            <a:bodyPr rtlCol="0"/>
            <a:lstStyle/>
            <a:p>
              <a:pPr algn="ctr"/>
              <a:endParaRPr lang="zh-CN" altLang="en-US"/>
            </a:p>
          </p:txBody>
        </p:sp>
      </p:grpSp>
      <p:grpSp>
        <p:nvGrpSpPr>
          <p:cNvPr id="576" name="group 576"/>
          <p:cNvGrpSpPr/>
          <p:nvPr/>
        </p:nvGrpSpPr>
        <p:grpSpPr>
          <a:xfrm rot="21600000">
            <a:off x="1999834" y="4202683"/>
            <a:ext cx="499617" cy="377189"/>
            <a:chOff x="0" y="0"/>
            <a:chExt cx="499617" cy="377189"/>
          </a:xfrm>
        </p:grpSpPr>
        <p:sp>
          <p:nvSpPr>
            <p:cNvPr id="9050" name="path"/>
            <p:cNvSpPr/>
            <p:nvPr/>
          </p:nvSpPr>
          <p:spPr>
            <a:xfrm>
              <a:off x="6350" y="0"/>
              <a:ext cx="487019" cy="370839"/>
            </a:xfrm>
            <a:custGeom>
              <a:avLst/>
              <a:gdLst/>
              <a:ahLst/>
              <a:cxnLst/>
              <a:rect l="0" t="0" r="0" b="0"/>
              <a:pathLst>
                <a:path w="766" h="583">
                  <a:moveTo>
                    <a:pt x="0" y="583"/>
                  </a:moveTo>
                  <a:lnTo>
                    <a:pt x="766" y="583"/>
                  </a:lnTo>
                  <a:lnTo>
                    <a:pt x="766" y="0"/>
                  </a:lnTo>
                  <a:lnTo>
                    <a:pt x="0" y="0"/>
                  </a:lnTo>
                  <a:lnTo>
                    <a:pt x="0" y="583"/>
                  </a:lnTo>
                  <a:close/>
                </a:path>
              </a:pathLst>
            </a:custGeom>
            <a:solidFill>
              <a:srgbClr val="FBE9E8">
                <a:alpha val="100000"/>
              </a:srgbClr>
            </a:solidFill>
            <a:ln cap="flat">
              <a:noFill/>
              <a:prstDash val="solid"/>
              <a:miter lim="0"/>
            </a:ln>
          </p:spPr>
          <p:txBody>
            <a:bodyPr rtlCol="0"/>
            <a:lstStyle/>
            <a:p>
              <a:pPr algn="ctr"/>
              <a:endParaRPr lang="zh-CN" altLang="en-US"/>
            </a:p>
          </p:txBody>
        </p:sp>
        <p:sp>
          <p:nvSpPr>
            <p:cNvPr id="9052" name="path"/>
            <p:cNvSpPr/>
            <p:nvPr/>
          </p:nvSpPr>
          <p:spPr>
            <a:xfrm>
              <a:off x="0" y="0"/>
              <a:ext cx="499617" cy="377189"/>
            </a:xfrm>
            <a:custGeom>
              <a:avLst/>
              <a:gdLst/>
              <a:ahLst/>
              <a:cxnLst/>
              <a:rect l="0" t="0" r="0" b="0"/>
              <a:pathLst>
                <a:path w="786" h="593">
                  <a:moveTo>
                    <a:pt x="10" y="0"/>
                  </a:moveTo>
                  <a:lnTo>
                    <a:pt x="10" y="593"/>
                  </a:lnTo>
                  <a:moveTo>
                    <a:pt x="776" y="0"/>
                  </a:moveTo>
                  <a:lnTo>
                    <a:pt x="776" y="593"/>
                  </a:lnTo>
                  <a:moveTo>
                    <a:pt x="0" y="583"/>
                  </a:moveTo>
                  <a:lnTo>
                    <a:pt x="786" y="583"/>
                  </a:lnTo>
                </a:path>
              </a:pathLst>
            </a:custGeom>
            <a:noFill/>
            <a:ln w="12700" cap="flat">
              <a:solidFill>
                <a:srgbClr val="FFFFFF">
                  <a:alpha val="100000"/>
                </a:srgbClr>
              </a:solidFill>
              <a:prstDash val="solid"/>
              <a:round/>
            </a:ln>
          </p:spPr>
          <p:txBody>
            <a:bodyPr rtlCol="0"/>
            <a:lstStyle/>
            <a:p>
              <a:pPr algn="ctr"/>
              <a:endParaRPr lang="zh-CN" altLang="en-US"/>
            </a:p>
          </p:txBody>
        </p:sp>
      </p:grpSp>
      <p:sp>
        <p:nvSpPr>
          <p:cNvPr id="9054" name="rect"/>
          <p:cNvSpPr/>
          <p:nvPr/>
        </p:nvSpPr>
        <p:spPr>
          <a:xfrm>
            <a:off x="3565235" y="4973192"/>
            <a:ext cx="483489" cy="370840"/>
          </a:xfrm>
          <a:prstGeom prst="rect">
            <a:avLst/>
          </a:prstGeom>
          <a:solidFill>
            <a:srgbClr val="FBE9E8">
              <a:alpha val="100000"/>
            </a:srgbClr>
          </a:solidFill>
          <a:ln cap="flat">
            <a:noFill/>
            <a:prstDash val="solid"/>
            <a:miter lim="0"/>
          </a:ln>
        </p:spPr>
        <p:txBody>
          <a:bodyPr rtlCol="0"/>
          <a:lstStyle/>
          <a:p>
            <a:pPr algn="ctr"/>
            <a:endParaRPr lang="zh-CN" altLang="en-US"/>
          </a:p>
        </p:txBody>
      </p:sp>
      <p:sp>
        <p:nvSpPr>
          <p:cNvPr id="9056" name="rect"/>
          <p:cNvSpPr/>
          <p:nvPr/>
        </p:nvSpPr>
        <p:spPr>
          <a:xfrm>
            <a:off x="7661747" y="4968367"/>
            <a:ext cx="483489" cy="370839"/>
          </a:xfrm>
          <a:prstGeom prst="rect">
            <a:avLst/>
          </a:prstGeom>
          <a:solidFill>
            <a:srgbClr val="FBE9E8">
              <a:alpha val="100000"/>
            </a:srgbClr>
          </a:solidFill>
          <a:ln cap="flat">
            <a:noFill/>
            <a:prstDash val="solid"/>
            <a:miter lim="0"/>
          </a:ln>
        </p:spPr>
        <p:txBody>
          <a:bodyPr rtlCol="0"/>
          <a:lstStyle/>
          <a:p>
            <a:pPr algn="ctr"/>
            <a:endParaRPr lang="zh-CN" altLang="en-US"/>
          </a:p>
        </p:txBody>
      </p:sp>
      <p:sp>
        <p:nvSpPr>
          <p:cNvPr id="9058" name="rect"/>
          <p:cNvSpPr/>
          <p:nvPr/>
        </p:nvSpPr>
        <p:spPr>
          <a:xfrm>
            <a:off x="321187" y="4973192"/>
            <a:ext cx="483425" cy="370840"/>
          </a:xfrm>
          <a:prstGeom prst="rect">
            <a:avLst/>
          </a:prstGeom>
          <a:solidFill>
            <a:srgbClr val="FBE9E8">
              <a:alpha val="100000"/>
            </a:srgbClr>
          </a:solidFill>
          <a:ln cap="flat">
            <a:noFill/>
            <a:prstDash val="solid"/>
            <a:miter lim="0"/>
          </a:ln>
        </p:spPr>
        <p:txBody>
          <a:bodyPr rtlCol="0"/>
          <a:lstStyle/>
          <a:p>
            <a:pPr algn="ctr"/>
            <a:endParaRPr lang="zh-CN" altLang="en-US"/>
          </a:p>
        </p:txBody>
      </p:sp>
      <p:sp>
        <p:nvSpPr>
          <p:cNvPr id="9060" name="textbox 9060"/>
          <p:cNvSpPr/>
          <p:nvPr/>
        </p:nvSpPr>
        <p:spPr>
          <a:xfrm>
            <a:off x="429126" y="2959787"/>
            <a:ext cx="233679" cy="818515"/>
          </a:xfrm>
          <a:prstGeom prst="rect">
            <a:avLst/>
          </a:prstGeom>
        </p:spPr>
        <p:txBody>
          <a:bodyPr vert="horz" wrap="square" lIns="0" tIns="0" rIns="0" bIns="0"/>
          <a:lstStyle/>
          <a:p>
            <a:pPr algn="l" rtl="0" eaLnBrk="0">
              <a:lnSpc>
                <a:spcPct val="77000"/>
              </a:lnSpc>
            </a:pPr>
            <a:endParaRPr lang="en-US" altLang="en-US" sz="135" dirty="0"/>
          </a:p>
          <a:p>
            <a:pPr algn="r" rtl="0" eaLnBrk="0">
              <a:lnSpc>
                <a:spcPct val="84000"/>
              </a:lnSpc>
            </a:pPr>
            <a:r>
              <a:rPr sz="1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p1</a:t>
            </a:r>
            <a:endParaRPr lang="en-US" altLang="en-US" sz="1400" dirty="0"/>
          </a:p>
          <a:p>
            <a:pPr algn="l" rtl="0" eaLnBrk="0">
              <a:lnSpc>
                <a:spcPct val="124000"/>
              </a:lnSpc>
            </a:pPr>
            <a:endParaRPr lang="en-US" altLang="en-US" sz="1000" dirty="0"/>
          </a:p>
          <a:p>
            <a:pPr algn="l" rtl="0" eaLnBrk="0">
              <a:lnSpc>
                <a:spcPct val="125000"/>
              </a:lnSpc>
            </a:pPr>
            <a:endParaRPr lang="en-US" altLang="en-US" sz="1000" dirty="0"/>
          </a:p>
          <a:p>
            <a:pPr algn="l" rtl="0" eaLnBrk="0">
              <a:lnSpc>
                <a:spcPct val="118000"/>
              </a:lnSpc>
            </a:pPr>
            <a:endParaRPr lang="en-US" altLang="en-US" sz="300" dirty="0"/>
          </a:p>
          <a:p>
            <a:pPr algn="r" rtl="0" eaLnBrk="0">
              <a:lnSpc>
                <a:spcPct val="85000"/>
              </a:lnSpc>
              <a:spcBef>
                <a:spcPts val="0"/>
              </a:spcBef>
            </a:pPr>
            <a:r>
              <a:rPr sz="1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p2</a:t>
            </a:r>
            <a:endParaRPr lang="en-US" altLang="en-US" sz="1400" dirty="0"/>
          </a:p>
        </p:txBody>
      </p:sp>
      <p:pic>
        <p:nvPicPr>
          <p:cNvPr id="9062" name="picture 9062"/>
          <p:cNvPicPr>
            <a:picLocks noChangeAspect="1"/>
          </p:cNvPicPr>
          <p:nvPr/>
        </p:nvPicPr>
        <p:blipFill>
          <a:blip r:embed="rId11"/>
          <a:stretch>
            <a:fillRect/>
          </a:stretch>
        </p:blipFill>
        <p:spPr>
          <a:xfrm rot="21600000">
            <a:off x="6456010" y="4434840"/>
            <a:ext cx="186183" cy="763523"/>
          </a:xfrm>
          <a:prstGeom prst="rect">
            <a:avLst/>
          </a:prstGeom>
        </p:spPr>
      </p:pic>
      <p:pic>
        <p:nvPicPr>
          <p:cNvPr id="9064" name="picture 9064"/>
          <p:cNvPicPr>
            <a:picLocks noChangeAspect="1"/>
          </p:cNvPicPr>
          <p:nvPr/>
        </p:nvPicPr>
        <p:blipFill>
          <a:blip r:embed="rId12"/>
          <a:stretch>
            <a:fillRect/>
          </a:stretch>
        </p:blipFill>
        <p:spPr>
          <a:xfrm rot="21600000">
            <a:off x="9470482" y="1670304"/>
            <a:ext cx="186183" cy="763523"/>
          </a:xfrm>
          <a:prstGeom prst="rect">
            <a:avLst/>
          </a:prstGeom>
        </p:spPr>
      </p:pic>
      <p:pic>
        <p:nvPicPr>
          <p:cNvPr id="9066" name="picture 9066"/>
          <p:cNvPicPr>
            <a:picLocks noChangeAspect="1"/>
          </p:cNvPicPr>
          <p:nvPr/>
        </p:nvPicPr>
        <p:blipFill>
          <a:blip r:embed="rId13"/>
          <a:stretch>
            <a:fillRect/>
          </a:stretch>
        </p:blipFill>
        <p:spPr>
          <a:xfrm rot="21600000">
            <a:off x="5392259" y="1670304"/>
            <a:ext cx="186183" cy="763523"/>
          </a:xfrm>
          <a:prstGeom prst="rect">
            <a:avLst/>
          </a:prstGeom>
        </p:spPr>
      </p:pic>
      <p:sp>
        <p:nvSpPr>
          <p:cNvPr id="9068" name="textbox 9068"/>
          <p:cNvSpPr/>
          <p:nvPr/>
        </p:nvSpPr>
        <p:spPr>
          <a:xfrm>
            <a:off x="3210703" y="5419537"/>
            <a:ext cx="493395" cy="251459"/>
          </a:xfrm>
          <a:prstGeom prst="rect">
            <a:avLst/>
          </a:prstGeom>
        </p:spPr>
        <p:txBody>
          <a:bodyPr vert="horz" wrap="square" lIns="0" tIns="0" rIns="0" bIns="0"/>
          <a:lstStyle/>
          <a:p>
            <a:pPr algn="l" rtl="0" eaLnBrk="0">
              <a:lnSpc>
                <a:spcPct val="80000"/>
              </a:lnSpc>
            </a:pPr>
            <a:endParaRPr lang="en-US" altLang="en-US" sz="135" dirty="0"/>
          </a:p>
          <a:p>
            <a:pPr marL="12700" algn="l" rtl="0" eaLnBrk="0">
              <a:lnSpc>
                <a:spcPct val="99000"/>
              </a:lnSpc>
            </a:pPr>
            <a:r>
              <a:rPr sz="15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(n=2)</a:t>
            </a:r>
            <a:endParaRPr lang="en-US" altLang="en-US" sz="1500" dirty="0"/>
          </a:p>
        </p:txBody>
      </p:sp>
      <p:sp>
        <p:nvSpPr>
          <p:cNvPr id="9070" name="textbox 9070"/>
          <p:cNvSpPr/>
          <p:nvPr/>
        </p:nvSpPr>
        <p:spPr>
          <a:xfrm>
            <a:off x="6455934" y="2646745"/>
            <a:ext cx="492125" cy="251459"/>
          </a:xfrm>
          <a:prstGeom prst="rect">
            <a:avLst/>
          </a:prstGeom>
        </p:spPr>
        <p:txBody>
          <a:bodyPr vert="horz" wrap="square" lIns="0" tIns="0" rIns="0" bIns="0"/>
          <a:lstStyle/>
          <a:p>
            <a:pPr algn="l" rtl="0" eaLnBrk="0">
              <a:lnSpc>
                <a:spcPct val="80000"/>
              </a:lnSpc>
            </a:pPr>
            <a:endParaRPr lang="en-US" altLang="en-US" sz="135" dirty="0"/>
          </a:p>
          <a:p>
            <a:pPr marL="12700" algn="l" rtl="0" eaLnBrk="0">
              <a:lnSpc>
                <a:spcPct val="99000"/>
              </a:lnSpc>
            </a:pPr>
            <a:r>
              <a:rPr sz="15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(n=2)</a:t>
            </a:r>
            <a:endParaRPr lang="en-US" altLang="en-US" sz="1500" dirty="0"/>
          </a:p>
        </p:txBody>
      </p:sp>
      <p:sp>
        <p:nvSpPr>
          <p:cNvPr id="9072" name="textbox 9072"/>
          <p:cNvSpPr/>
          <p:nvPr/>
        </p:nvSpPr>
        <p:spPr>
          <a:xfrm>
            <a:off x="2631583" y="2621472"/>
            <a:ext cx="492125" cy="251459"/>
          </a:xfrm>
          <a:prstGeom prst="rect">
            <a:avLst/>
          </a:prstGeom>
        </p:spPr>
        <p:txBody>
          <a:bodyPr vert="horz" wrap="square" lIns="0" tIns="0" rIns="0" bIns="0"/>
          <a:lstStyle/>
          <a:p>
            <a:pPr algn="l" rtl="0" eaLnBrk="0">
              <a:lnSpc>
                <a:spcPct val="80000"/>
              </a:lnSpc>
            </a:pPr>
            <a:endParaRPr lang="en-US" altLang="en-US" sz="135" dirty="0"/>
          </a:p>
          <a:p>
            <a:pPr marL="12700" algn="l" rtl="0" eaLnBrk="0">
              <a:lnSpc>
                <a:spcPct val="99000"/>
              </a:lnSpc>
            </a:pPr>
            <a:r>
              <a:rPr sz="15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(n=1)</a:t>
            </a:r>
            <a:endParaRPr lang="en-US" altLang="en-US" sz="1500" dirty="0"/>
          </a:p>
        </p:txBody>
      </p:sp>
      <p:sp>
        <p:nvSpPr>
          <p:cNvPr id="9074" name="textbox 9074"/>
          <p:cNvSpPr/>
          <p:nvPr/>
        </p:nvSpPr>
        <p:spPr>
          <a:xfrm>
            <a:off x="10535936" y="2646745"/>
            <a:ext cx="492125" cy="251459"/>
          </a:xfrm>
          <a:prstGeom prst="rect">
            <a:avLst/>
          </a:prstGeom>
        </p:spPr>
        <p:txBody>
          <a:bodyPr vert="horz" wrap="square" lIns="0" tIns="0" rIns="0" bIns="0"/>
          <a:lstStyle/>
          <a:p>
            <a:pPr algn="l" rtl="0" eaLnBrk="0">
              <a:lnSpc>
                <a:spcPct val="80000"/>
              </a:lnSpc>
            </a:pPr>
            <a:endParaRPr lang="en-US" altLang="en-US" sz="135" dirty="0"/>
          </a:p>
          <a:p>
            <a:pPr marL="12700" algn="l" rtl="0" eaLnBrk="0">
              <a:lnSpc>
                <a:spcPct val="99000"/>
              </a:lnSpc>
            </a:pPr>
            <a:r>
              <a:rPr sz="15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(n=2)</a:t>
            </a:r>
            <a:endParaRPr lang="en-US" altLang="en-US" sz="1500" dirty="0"/>
          </a:p>
        </p:txBody>
      </p:sp>
      <p:pic>
        <p:nvPicPr>
          <p:cNvPr id="9076" name="picture 9076"/>
          <p:cNvPicPr>
            <a:picLocks noChangeAspect="1"/>
          </p:cNvPicPr>
          <p:nvPr/>
        </p:nvPicPr>
        <p:blipFill>
          <a:blip r:embed="rId14"/>
          <a:stretch>
            <a:fillRect/>
          </a:stretch>
        </p:blipFill>
        <p:spPr>
          <a:xfrm rot="21600000">
            <a:off x="2164427" y="4419600"/>
            <a:ext cx="149605" cy="650748"/>
          </a:xfrm>
          <a:prstGeom prst="rect">
            <a:avLst/>
          </a:prstGeom>
        </p:spPr>
      </p:pic>
      <p:sp>
        <p:nvSpPr>
          <p:cNvPr id="9078" name="textbox 9078"/>
          <p:cNvSpPr/>
          <p:nvPr/>
        </p:nvSpPr>
        <p:spPr>
          <a:xfrm>
            <a:off x="343708" y="4741999"/>
            <a:ext cx="447040" cy="281940"/>
          </a:xfrm>
          <a:prstGeom prst="rect">
            <a:avLst/>
          </a:prstGeom>
        </p:spPr>
        <p:txBody>
          <a:bodyPr vert="horz" wrap="square" lIns="0" tIns="0" rIns="0" bIns="0"/>
          <a:lstStyle/>
          <a:p>
            <a:pPr algn="l" rtl="0" eaLnBrk="0">
              <a:lnSpc>
                <a:spcPct val="83000"/>
              </a:lnSpc>
            </a:pPr>
            <a:endParaRPr lang="en-US" altLang="en-US" sz="135" dirty="0"/>
          </a:p>
          <a:p>
            <a:pPr algn="r" rtl="0" eaLnBrk="0">
              <a:lnSpc>
                <a:spcPts val="2020"/>
              </a:lnSpc>
            </a:pPr>
            <a:r>
              <a:rPr sz="15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head</a:t>
            </a:r>
            <a:endParaRPr lang="en-US" altLang="en-US" sz="1500" dirty="0"/>
          </a:p>
        </p:txBody>
      </p:sp>
      <p:sp>
        <p:nvSpPr>
          <p:cNvPr id="9080" name="textbox 9080"/>
          <p:cNvSpPr/>
          <p:nvPr/>
        </p:nvSpPr>
        <p:spPr>
          <a:xfrm>
            <a:off x="3588915" y="4741999"/>
            <a:ext cx="446405" cy="281940"/>
          </a:xfrm>
          <a:prstGeom prst="rect">
            <a:avLst/>
          </a:prstGeom>
        </p:spPr>
        <p:txBody>
          <a:bodyPr vert="horz" wrap="square" lIns="0" tIns="0" rIns="0" bIns="0"/>
          <a:lstStyle/>
          <a:p>
            <a:pPr algn="l" rtl="0" eaLnBrk="0">
              <a:lnSpc>
                <a:spcPct val="83000"/>
              </a:lnSpc>
            </a:pPr>
            <a:endParaRPr lang="en-US" altLang="en-US" sz="135" dirty="0"/>
          </a:p>
          <a:p>
            <a:pPr algn="r" rtl="0" eaLnBrk="0">
              <a:lnSpc>
                <a:spcPts val="2020"/>
              </a:lnSpc>
            </a:pPr>
            <a:r>
              <a:rPr sz="15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head</a:t>
            </a:r>
            <a:endParaRPr lang="en-US" altLang="en-US" sz="1500" dirty="0"/>
          </a:p>
        </p:txBody>
      </p:sp>
      <p:sp>
        <p:nvSpPr>
          <p:cNvPr id="9082" name="textbox 9082"/>
          <p:cNvSpPr/>
          <p:nvPr/>
        </p:nvSpPr>
        <p:spPr>
          <a:xfrm>
            <a:off x="800579" y="1940879"/>
            <a:ext cx="446405" cy="281940"/>
          </a:xfrm>
          <a:prstGeom prst="rect">
            <a:avLst/>
          </a:prstGeom>
        </p:spPr>
        <p:txBody>
          <a:bodyPr vert="horz" wrap="square" lIns="0" tIns="0" rIns="0" bIns="0"/>
          <a:lstStyle/>
          <a:p>
            <a:pPr algn="l" rtl="0" eaLnBrk="0">
              <a:lnSpc>
                <a:spcPct val="83000"/>
              </a:lnSpc>
            </a:pPr>
            <a:endParaRPr lang="en-US" altLang="en-US" sz="135" dirty="0"/>
          </a:p>
          <a:p>
            <a:pPr algn="r" rtl="0" eaLnBrk="0">
              <a:lnSpc>
                <a:spcPts val="2015"/>
              </a:lnSpc>
            </a:pPr>
            <a:r>
              <a:rPr sz="15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head</a:t>
            </a:r>
            <a:endParaRPr lang="en-US" altLang="en-US" sz="1500" dirty="0"/>
          </a:p>
        </p:txBody>
      </p:sp>
      <p:sp>
        <p:nvSpPr>
          <p:cNvPr id="9084" name="textbox 9084"/>
          <p:cNvSpPr/>
          <p:nvPr/>
        </p:nvSpPr>
        <p:spPr>
          <a:xfrm>
            <a:off x="7672955" y="1940879"/>
            <a:ext cx="446405" cy="281940"/>
          </a:xfrm>
          <a:prstGeom prst="rect">
            <a:avLst/>
          </a:prstGeom>
        </p:spPr>
        <p:txBody>
          <a:bodyPr vert="horz" wrap="square" lIns="0" tIns="0" rIns="0" bIns="0"/>
          <a:lstStyle/>
          <a:p>
            <a:pPr algn="l" rtl="0" eaLnBrk="0">
              <a:lnSpc>
                <a:spcPct val="83000"/>
              </a:lnSpc>
            </a:pPr>
            <a:endParaRPr lang="en-US" altLang="en-US" sz="135" dirty="0"/>
          </a:p>
          <a:p>
            <a:pPr algn="r" rtl="0" eaLnBrk="0">
              <a:lnSpc>
                <a:spcPts val="2015"/>
              </a:lnSpc>
            </a:pPr>
            <a:r>
              <a:rPr sz="15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head</a:t>
            </a:r>
            <a:endParaRPr lang="en-US" altLang="en-US" sz="1500" dirty="0"/>
          </a:p>
        </p:txBody>
      </p:sp>
      <p:sp>
        <p:nvSpPr>
          <p:cNvPr id="9086" name="textbox 9086"/>
          <p:cNvSpPr/>
          <p:nvPr/>
        </p:nvSpPr>
        <p:spPr>
          <a:xfrm>
            <a:off x="3592827" y="1940879"/>
            <a:ext cx="446405" cy="281940"/>
          </a:xfrm>
          <a:prstGeom prst="rect">
            <a:avLst/>
          </a:prstGeom>
        </p:spPr>
        <p:txBody>
          <a:bodyPr vert="horz" wrap="square" lIns="0" tIns="0" rIns="0" bIns="0"/>
          <a:lstStyle/>
          <a:p>
            <a:pPr algn="l" rtl="0" eaLnBrk="0">
              <a:lnSpc>
                <a:spcPct val="83000"/>
              </a:lnSpc>
            </a:pPr>
            <a:endParaRPr lang="en-US" altLang="en-US" sz="135" dirty="0"/>
          </a:p>
          <a:p>
            <a:pPr algn="r" rtl="0" eaLnBrk="0">
              <a:lnSpc>
                <a:spcPts val="2015"/>
              </a:lnSpc>
            </a:pPr>
            <a:r>
              <a:rPr sz="15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head</a:t>
            </a:r>
            <a:endParaRPr lang="en-US" altLang="en-US" sz="1500" dirty="0"/>
          </a:p>
        </p:txBody>
      </p:sp>
      <p:sp>
        <p:nvSpPr>
          <p:cNvPr id="9088" name="textbox 9088"/>
          <p:cNvSpPr/>
          <p:nvPr/>
        </p:nvSpPr>
        <p:spPr>
          <a:xfrm>
            <a:off x="7686291" y="4737675"/>
            <a:ext cx="446405" cy="281940"/>
          </a:xfrm>
          <a:prstGeom prst="rect">
            <a:avLst/>
          </a:prstGeom>
        </p:spPr>
        <p:txBody>
          <a:bodyPr vert="horz" wrap="square" lIns="0" tIns="0" rIns="0" bIns="0"/>
          <a:lstStyle/>
          <a:p>
            <a:pPr algn="l" rtl="0" eaLnBrk="0">
              <a:lnSpc>
                <a:spcPct val="83000"/>
              </a:lnSpc>
            </a:pPr>
            <a:endParaRPr lang="en-US" altLang="en-US" sz="135" dirty="0"/>
          </a:p>
          <a:p>
            <a:pPr algn="r" rtl="0" eaLnBrk="0">
              <a:lnSpc>
                <a:spcPts val="2015"/>
              </a:lnSpc>
            </a:pPr>
            <a:r>
              <a:rPr sz="15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head</a:t>
            </a:r>
            <a:endParaRPr lang="en-US" altLang="en-US" sz="1500" dirty="0"/>
          </a:p>
        </p:txBody>
      </p:sp>
      <p:sp>
        <p:nvSpPr>
          <p:cNvPr id="9090" name="textbox 9090"/>
          <p:cNvSpPr/>
          <p:nvPr/>
        </p:nvSpPr>
        <p:spPr>
          <a:xfrm>
            <a:off x="4582787" y="5052609"/>
            <a:ext cx="544831" cy="213359"/>
          </a:xfrm>
          <a:prstGeom prst="rect">
            <a:avLst/>
          </a:prstGeom>
        </p:spPr>
        <p:txBody>
          <a:bodyPr vert="horz" wrap="square" lIns="0" tIns="0" rIns="0" bIns="0"/>
          <a:lstStyle/>
          <a:p>
            <a:pPr algn="l" rtl="0" eaLnBrk="0">
              <a:lnSpc>
                <a:spcPct val="85000"/>
              </a:lnSpc>
            </a:pPr>
            <a:endParaRPr lang="en-US" altLang="en-US" sz="135" dirty="0"/>
          </a:p>
          <a:p>
            <a:pPr algn="r" rtl="0" eaLnBrk="0">
              <a:lnSpc>
                <a:spcPct val="82000"/>
              </a:lnSpc>
            </a:pPr>
            <a:r>
              <a:rPr sz="1500"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rPr>
              <a:t>10101</a:t>
            </a:r>
            <a:endParaRPr lang="en-US" altLang="en-US" sz="1500" dirty="0"/>
          </a:p>
        </p:txBody>
      </p:sp>
      <p:sp>
        <p:nvSpPr>
          <p:cNvPr id="9092" name="textbox 9092"/>
          <p:cNvSpPr/>
          <p:nvPr/>
        </p:nvSpPr>
        <p:spPr>
          <a:xfrm>
            <a:off x="1337810" y="5052609"/>
            <a:ext cx="544831" cy="213359"/>
          </a:xfrm>
          <a:prstGeom prst="rect">
            <a:avLst/>
          </a:prstGeom>
        </p:spPr>
        <p:txBody>
          <a:bodyPr vert="horz" wrap="square" lIns="0" tIns="0" rIns="0" bIns="0"/>
          <a:lstStyle/>
          <a:p>
            <a:pPr algn="l" rtl="0" eaLnBrk="0">
              <a:lnSpc>
                <a:spcPct val="85000"/>
              </a:lnSpc>
            </a:pPr>
            <a:endParaRPr lang="en-US" altLang="en-US" sz="135" dirty="0"/>
          </a:p>
          <a:p>
            <a:pPr algn="r" rtl="0" eaLnBrk="0">
              <a:lnSpc>
                <a:spcPct val="82000"/>
              </a:lnSpc>
            </a:pPr>
            <a:r>
              <a:rPr sz="1500"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rPr>
              <a:t>10101</a:t>
            </a:r>
            <a:endParaRPr lang="en-US" altLang="en-US" sz="1500" dirty="0"/>
          </a:p>
        </p:txBody>
      </p:sp>
      <p:sp>
        <p:nvSpPr>
          <p:cNvPr id="9094" name="textbox 9094"/>
          <p:cNvSpPr/>
          <p:nvPr/>
        </p:nvSpPr>
        <p:spPr>
          <a:xfrm>
            <a:off x="8680443" y="5047783"/>
            <a:ext cx="544831" cy="213359"/>
          </a:xfrm>
          <a:prstGeom prst="rect">
            <a:avLst/>
          </a:prstGeom>
        </p:spPr>
        <p:txBody>
          <a:bodyPr vert="horz" wrap="square" lIns="0" tIns="0" rIns="0" bIns="0"/>
          <a:lstStyle/>
          <a:p>
            <a:pPr algn="l" rtl="0" eaLnBrk="0">
              <a:lnSpc>
                <a:spcPct val="85000"/>
              </a:lnSpc>
            </a:pPr>
            <a:endParaRPr lang="en-US" altLang="en-US" sz="135" dirty="0"/>
          </a:p>
          <a:p>
            <a:pPr algn="r" rtl="0" eaLnBrk="0">
              <a:lnSpc>
                <a:spcPct val="82000"/>
              </a:lnSpc>
            </a:pPr>
            <a:r>
              <a:rPr sz="1500"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rPr>
              <a:t>10101</a:t>
            </a:r>
            <a:endParaRPr lang="en-US" altLang="en-US" sz="1500" dirty="0"/>
          </a:p>
        </p:txBody>
      </p:sp>
      <p:sp>
        <p:nvSpPr>
          <p:cNvPr id="9096" name="textbox 9096"/>
          <p:cNvSpPr/>
          <p:nvPr/>
        </p:nvSpPr>
        <p:spPr>
          <a:xfrm>
            <a:off x="4662820" y="5450373"/>
            <a:ext cx="381635" cy="213359"/>
          </a:xfrm>
          <a:prstGeom prst="rect">
            <a:avLst/>
          </a:prstGeom>
        </p:spPr>
        <p:txBody>
          <a:bodyPr vert="horz" wrap="square" lIns="0" tIns="0" rIns="0" bIns="0"/>
          <a:lstStyle/>
          <a:p>
            <a:pPr algn="l" rtl="0" eaLnBrk="0">
              <a:lnSpc>
                <a:spcPct val="84000"/>
              </a:lnSpc>
            </a:pPr>
            <a:endParaRPr lang="en-US" altLang="en-US" sz="135" dirty="0"/>
          </a:p>
          <a:p>
            <a:pPr algn="r" rtl="0" eaLnBrk="0">
              <a:lnSpc>
                <a:spcPct val="82000"/>
              </a:lnSpc>
            </a:pPr>
            <a:r>
              <a:rPr sz="15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89.5</a:t>
            </a:r>
            <a:endParaRPr lang="en-US" altLang="en-US" sz="1500" dirty="0"/>
          </a:p>
        </p:txBody>
      </p:sp>
      <p:sp>
        <p:nvSpPr>
          <p:cNvPr id="9098" name="textbox 9098"/>
          <p:cNvSpPr/>
          <p:nvPr/>
        </p:nvSpPr>
        <p:spPr>
          <a:xfrm>
            <a:off x="8760476" y="5445497"/>
            <a:ext cx="381635" cy="213359"/>
          </a:xfrm>
          <a:prstGeom prst="rect">
            <a:avLst/>
          </a:prstGeom>
        </p:spPr>
        <p:txBody>
          <a:bodyPr vert="horz" wrap="square" lIns="0" tIns="0" rIns="0" bIns="0"/>
          <a:lstStyle/>
          <a:p>
            <a:pPr algn="l" rtl="0" eaLnBrk="0">
              <a:lnSpc>
                <a:spcPct val="84000"/>
              </a:lnSpc>
            </a:pPr>
            <a:endParaRPr lang="en-US" altLang="en-US" sz="135" dirty="0"/>
          </a:p>
          <a:p>
            <a:pPr algn="r" rtl="0" eaLnBrk="0">
              <a:lnSpc>
                <a:spcPct val="82000"/>
              </a:lnSpc>
            </a:pPr>
            <a:r>
              <a:rPr sz="15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89.5</a:t>
            </a:r>
            <a:endParaRPr lang="en-US" altLang="en-US" sz="1500" dirty="0"/>
          </a:p>
        </p:txBody>
      </p:sp>
      <p:sp>
        <p:nvSpPr>
          <p:cNvPr id="9100" name="textbox 9100"/>
          <p:cNvSpPr/>
          <p:nvPr/>
        </p:nvSpPr>
        <p:spPr>
          <a:xfrm>
            <a:off x="8742823" y="2677583"/>
            <a:ext cx="381635" cy="213359"/>
          </a:xfrm>
          <a:prstGeom prst="rect">
            <a:avLst/>
          </a:prstGeom>
        </p:spPr>
        <p:txBody>
          <a:bodyPr vert="horz" wrap="square" lIns="0" tIns="0" rIns="0" bIns="0"/>
          <a:lstStyle/>
          <a:p>
            <a:pPr algn="l" rtl="0" eaLnBrk="0">
              <a:lnSpc>
                <a:spcPct val="84000"/>
              </a:lnSpc>
            </a:pPr>
            <a:endParaRPr lang="en-US" altLang="en-US" sz="135" dirty="0"/>
          </a:p>
          <a:p>
            <a:pPr algn="r" rtl="0" eaLnBrk="0">
              <a:lnSpc>
                <a:spcPct val="82000"/>
              </a:lnSpc>
            </a:pPr>
            <a:r>
              <a:rPr sz="15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89.5</a:t>
            </a:r>
            <a:endParaRPr lang="en-US" altLang="en-US" sz="1500" dirty="0"/>
          </a:p>
        </p:txBody>
      </p:sp>
      <p:sp>
        <p:nvSpPr>
          <p:cNvPr id="9102" name="textbox 9102"/>
          <p:cNvSpPr/>
          <p:nvPr/>
        </p:nvSpPr>
        <p:spPr>
          <a:xfrm>
            <a:off x="1417843" y="5450373"/>
            <a:ext cx="381635" cy="213359"/>
          </a:xfrm>
          <a:prstGeom prst="rect">
            <a:avLst/>
          </a:prstGeom>
        </p:spPr>
        <p:txBody>
          <a:bodyPr vert="horz" wrap="square" lIns="0" tIns="0" rIns="0" bIns="0"/>
          <a:lstStyle/>
          <a:p>
            <a:pPr algn="l" rtl="0" eaLnBrk="0">
              <a:lnSpc>
                <a:spcPct val="84000"/>
              </a:lnSpc>
            </a:pPr>
            <a:endParaRPr lang="en-US" altLang="en-US" sz="135" dirty="0"/>
          </a:p>
          <a:p>
            <a:pPr algn="r" rtl="0" eaLnBrk="0">
              <a:lnSpc>
                <a:spcPct val="82000"/>
              </a:lnSpc>
            </a:pPr>
            <a:r>
              <a:rPr sz="15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89.5</a:t>
            </a:r>
            <a:endParaRPr lang="en-US" altLang="en-US" sz="1500" dirty="0"/>
          </a:p>
        </p:txBody>
      </p:sp>
      <p:pic>
        <p:nvPicPr>
          <p:cNvPr id="9104" name="picture 9104"/>
          <p:cNvPicPr>
            <a:picLocks noChangeAspect="1"/>
          </p:cNvPicPr>
          <p:nvPr/>
        </p:nvPicPr>
        <p:blipFill>
          <a:blip r:embed="rId15"/>
          <a:stretch>
            <a:fillRect/>
          </a:stretch>
        </p:blipFill>
        <p:spPr>
          <a:xfrm rot="21600000">
            <a:off x="8022935" y="5003292"/>
            <a:ext cx="516891" cy="76200"/>
          </a:xfrm>
          <a:prstGeom prst="rect">
            <a:avLst/>
          </a:prstGeom>
        </p:spPr>
      </p:pic>
      <p:pic>
        <p:nvPicPr>
          <p:cNvPr id="9106" name="picture 9106"/>
          <p:cNvPicPr>
            <a:picLocks noChangeAspect="1"/>
          </p:cNvPicPr>
          <p:nvPr/>
        </p:nvPicPr>
        <p:blipFill>
          <a:blip r:embed="rId16"/>
          <a:stretch>
            <a:fillRect/>
          </a:stretch>
        </p:blipFill>
        <p:spPr>
          <a:xfrm rot="21600000">
            <a:off x="3926423" y="2238755"/>
            <a:ext cx="516889" cy="76200"/>
          </a:xfrm>
          <a:prstGeom prst="rect">
            <a:avLst/>
          </a:prstGeom>
        </p:spPr>
      </p:pic>
      <p:pic>
        <p:nvPicPr>
          <p:cNvPr id="9108" name="picture 9108"/>
          <p:cNvPicPr>
            <a:picLocks noChangeAspect="1"/>
          </p:cNvPicPr>
          <p:nvPr/>
        </p:nvPicPr>
        <p:blipFill>
          <a:blip r:embed="rId17"/>
          <a:stretch>
            <a:fillRect/>
          </a:stretch>
        </p:blipFill>
        <p:spPr>
          <a:xfrm rot="21600000">
            <a:off x="3926423" y="5009388"/>
            <a:ext cx="516889" cy="76200"/>
          </a:xfrm>
          <a:prstGeom prst="rect">
            <a:avLst/>
          </a:prstGeom>
        </p:spPr>
      </p:pic>
      <p:pic>
        <p:nvPicPr>
          <p:cNvPr id="9110" name="picture 9110"/>
          <p:cNvPicPr>
            <a:picLocks noChangeAspect="1"/>
          </p:cNvPicPr>
          <p:nvPr/>
        </p:nvPicPr>
        <p:blipFill>
          <a:blip r:embed="rId18"/>
          <a:stretch>
            <a:fillRect/>
          </a:stretch>
        </p:blipFill>
        <p:spPr>
          <a:xfrm rot="21600000">
            <a:off x="8007696" y="2238755"/>
            <a:ext cx="516889" cy="76200"/>
          </a:xfrm>
          <a:prstGeom prst="rect">
            <a:avLst/>
          </a:prstGeom>
        </p:spPr>
      </p:pic>
      <p:pic>
        <p:nvPicPr>
          <p:cNvPr id="9112" name="picture 9112"/>
          <p:cNvPicPr>
            <a:picLocks noChangeAspect="1"/>
          </p:cNvPicPr>
          <p:nvPr/>
        </p:nvPicPr>
        <p:blipFill>
          <a:blip r:embed="rId19"/>
          <a:stretch>
            <a:fillRect/>
          </a:stretch>
        </p:blipFill>
        <p:spPr>
          <a:xfrm rot="21600000">
            <a:off x="683352" y="5009388"/>
            <a:ext cx="516839" cy="76200"/>
          </a:xfrm>
          <a:prstGeom prst="rect">
            <a:avLst/>
          </a:prstGeom>
        </p:spPr>
      </p:pic>
      <p:sp>
        <p:nvSpPr>
          <p:cNvPr id="9114" name="textbox 9114"/>
          <p:cNvSpPr/>
          <p:nvPr/>
        </p:nvSpPr>
        <p:spPr>
          <a:xfrm>
            <a:off x="7429211" y="3572351"/>
            <a:ext cx="233679" cy="206375"/>
          </a:xfrm>
          <a:prstGeom prst="rect">
            <a:avLst/>
          </a:prstGeom>
        </p:spPr>
        <p:txBody>
          <a:bodyPr vert="horz" wrap="square" lIns="0" tIns="0" rIns="0" bIns="0"/>
          <a:lstStyle/>
          <a:p>
            <a:pPr algn="l" rtl="0" eaLnBrk="0">
              <a:lnSpc>
                <a:spcPct val="78000"/>
              </a:lnSpc>
            </a:pPr>
            <a:endParaRPr lang="en-US" altLang="en-US" sz="135" dirty="0"/>
          </a:p>
          <a:p>
            <a:pPr algn="r" rtl="0" eaLnBrk="0">
              <a:lnSpc>
                <a:spcPct val="85000"/>
              </a:lnSpc>
            </a:pPr>
            <a:r>
              <a:rPr sz="1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p2</a:t>
            </a:r>
            <a:endParaRPr lang="en-US" altLang="en-US" sz="1400" dirty="0"/>
          </a:p>
        </p:txBody>
      </p:sp>
      <p:sp>
        <p:nvSpPr>
          <p:cNvPr id="9116" name="textbox 9116"/>
          <p:cNvSpPr/>
          <p:nvPr/>
        </p:nvSpPr>
        <p:spPr>
          <a:xfrm>
            <a:off x="10109039" y="6477959"/>
            <a:ext cx="233679" cy="206375"/>
          </a:xfrm>
          <a:prstGeom prst="rect">
            <a:avLst/>
          </a:prstGeom>
        </p:spPr>
        <p:txBody>
          <a:bodyPr vert="horz" wrap="square" lIns="0" tIns="0" rIns="0" bIns="0"/>
          <a:lstStyle/>
          <a:p>
            <a:pPr algn="l" rtl="0" eaLnBrk="0">
              <a:lnSpc>
                <a:spcPct val="78000"/>
              </a:lnSpc>
            </a:pPr>
            <a:endParaRPr lang="en-US" altLang="en-US" sz="135" dirty="0"/>
          </a:p>
          <a:p>
            <a:pPr algn="r" rtl="0" eaLnBrk="0">
              <a:lnSpc>
                <a:spcPct val="85000"/>
              </a:lnSpc>
            </a:pPr>
            <a:r>
              <a:rPr sz="1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p2</a:t>
            </a:r>
            <a:endParaRPr lang="en-US" altLang="en-US" sz="1400" dirty="0"/>
          </a:p>
        </p:txBody>
      </p:sp>
      <p:sp>
        <p:nvSpPr>
          <p:cNvPr id="9118" name="textbox 9118"/>
          <p:cNvSpPr/>
          <p:nvPr/>
        </p:nvSpPr>
        <p:spPr>
          <a:xfrm>
            <a:off x="1712687" y="6476435"/>
            <a:ext cx="233679" cy="206375"/>
          </a:xfrm>
          <a:prstGeom prst="rect">
            <a:avLst/>
          </a:prstGeom>
        </p:spPr>
        <p:txBody>
          <a:bodyPr vert="horz" wrap="square" lIns="0" tIns="0" rIns="0" bIns="0"/>
          <a:lstStyle/>
          <a:p>
            <a:pPr algn="l" rtl="0" eaLnBrk="0">
              <a:lnSpc>
                <a:spcPct val="78000"/>
              </a:lnSpc>
            </a:pPr>
            <a:endParaRPr lang="en-US" altLang="en-US" sz="135" dirty="0"/>
          </a:p>
          <a:p>
            <a:pPr algn="r" rtl="0" eaLnBrk="0">
              <a:lnSpc>
                <a:spcPct val="85000"/>
              </a:lnSpc>
            </a:pPr>
            <a:r>
              <a:rPr sz="1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p2</a:t>
            </a:r>
            <a:endParaRPr lang="en-US" altLang="en-US" sz="1400" dirty="0"/>
          </a:p>
        </p:txBody>
      </p:sp>
      <p:sp>
        <p:nvSpPr>
          <p:cNvPr id="9120" name="textbox 9120"/>
          <p:cNvSpPr/>
          <p:nvPr/>
        </p:nvSpPr>
        <p:spPr>
          <a:xfrm>
            <a:off x="3349083" y="3572351"/>
            <a:ext cx="233679" cy="206375"/>
          </a:xfrm>
          <a:prstGeom prst="rect">
            <a:avLst/>
          </a:prstGeom>
        </p:spPr>
        <p:txBody>
          <a:bodyPr vert="horz" wrap="square" lIns="0" tIns="0" rIns="0" bIns="0"/>
          <a:lstStyle/>
          <a:p>
            <a:pPr algn="l" rtl="0" eaLnBrk="0">
              <a:lnSpc>
                <a:spcPct val="78000"/>
              </a:lnSpc>
            </a:pPr>
            <a:endParaRPr lang="en-US" altLang="en-US" sz="135" dirty="0"/>
          </a:p>
          <a:p>
            <a:pPr algn="r" rtl="0" eaLnBrk="0">
              <a:lnSpc>
                <a:spcPct val="85000"/>
              </a:lnSpc>
            </a:pPr>
            <a:r>
              <a:rPr sz="1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p2</a:t>
            </a:r>
            <a:endParaRPr lang="en-US" altLang="en-US" sz="1400" dirty="0"/>
          </a:p>
        </p:txBody>
      </p:sp>
      <p:sp>
        <p:nvSpPr>
          <p:cNvPr id="9122" name="textbox 9122"/>
          <p:cNvSpPr/>
          <p:nvPr/>
        </p:nvSpPr>
        <p:spPr>
          <a:xfrm>
            <a:off x="4957919" y="6476435"/>
            <a:ext cx="233679" cy="206375"/>
          </a:xfrm>
          <a:prstGeom prst="rect">
            <a:avLst/>
          </a:prstGeom>
        </p:spPr>
        <p:txBody>
          <a:bodyPr vert="horz" wrap="square" lIns="0" tIns="0" rIns="0" bIns="0"/>
          <a:lstStyle/>
          <a:p>
            <a:pPr algn="l" rtl="0" eaLnBrk="0">
              <a:lnSpc>
                <a:spcPct val="78000"/>
              </a:lnSpc>
            </a:pPr>
            <a:endParaRPr lang="en-US" altLang="en-US" sz="135" dirty="0"/>
          </a:p>
          <a:p>
            <a:pPr algn="r" rtl="0" eaLnBrk="0">
              <a:lnSpc>
                <a:spcPct val="85000"/>
              </a:lnSpc>
            </a:pPr>
            <a:r>
              <a:rPr sz="1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p2</a:t>
            </a:r>
            <a:endParaRPr lang="en-US" altLang="en-US" sz="1400" dirty="0"/>
          </a:p>
        </p:txBody>
      </p:sp>
      <p:sp>
        <p:nvSpPr>
          <p:cNvPr id="9124" name="textbox 9124"/>
          <p:cNvSpPr/>
          <p:nvPr/>
        </p:nvSpPr>
        <p:spPr>
          <a:xfrm>
            <a:off x="2141186" y="3958444"/>
            <a:ext cx="233679" cy="204471"/>
          </a:xfrm>
          <a:prstGeom prst="rect">
            <a:avLst/>
          </a:prstGeom>
        </p:spPr>
        <p:txBody>
          <a:bodyPr vert="horz" wrap="square" lIns="0" tIns="0" rIns="0" bIns="0"/>
          <a:lstStyle/>
          <a:p>
            <a:pPr algn="l" rtl="0" eaLnBrk="0">
              <a:lnSpc>
                <a:spcPct val="78000"/>
              </a:lnSpc>
            </a:pPr>
            <a:endParaRPr lang="en-US" altLang="en-US" sz="135" dirty="0"/>
          </a:p>
          <a:p>
            <a:pPr algn="r" rtl="0" eaLnBrk="0">
              <a:lnSpc>
                <a:spcPct val="84000"/>
              </a:lnSpc>
            </a:pPr>
            <a:r>
              <a:rPr sz="1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p1</a:t>
            </a:r>
            <a:endParaRPr lang="en-US" altLang="en-US" sz="1400" dirty="0"/>
          </a:p>
        </p:txBody>
      </p:sp>
      <p:sp>
        <p:nvSpPr>
          <p:cNvPr id="9126" name="textbox 9126"/>
          <p:cNvSpPr/>
          <p:nvPr/>
        </p:nvSpPr>
        <p:spPr>
          <a:xfrm>
            <a:off x="5386139" y="1186104"/>
            <a:ext cx="233679" cy="203835"/>
          </a:xfrm>
          <a:prstGeom prst="rect">
            <a:avLst/>
          </a:prstGeom>
        </p:spPr>
        <p:txBody>
          <a:bodyPr vert="horz" wrap="square" lIns="0" tIns="0" rIns="0" bIns="0"/>
          <a:lstStyle/>
          <a:p>
            <a:pPr algn="l" rtl="0" eaLnBrk="0">
              <a:lnSpc>
                <a:spcPct val="77000"/>
              </a:lnSpc>
            </a:pPr>
            <a:endParaRPr lang="en-US" altLang="en-US" sz="135" dirty="0"/>
          </a:p>
          <a:p>
            <a:pPr algn="r" rtl="0" eaLnBrk="0">
              <a:lnSpc>
                <a:spcPct val="84000"/>
              </a:lnSpc>
            </a:pPr>
            <a:r>
              <a:rPr sz="1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p1</a:t>
            </a:r>
            <a:endParaRPr lang="en-US" altLang="en-US" sz="1400" dirty="0"/>
          </a:p>
        </p:txBody>
      </p:sp>
      <p:sp>
        <p:nvSpPr>
          <p:cNvPr id="9128" name="textbox 9128"/>
          <p:cNvSpPr/>
          <p:nvPr/>
        </p:nvSpPr>
        <p:spPr>
          <a:xfrm>
            <a:off x="6445572" y="3921684"/>
            <a:ext cx="233679" cy="203835"/>
          </a:xfrm>
          <a:prstGeom prst="rect">
            <a:avLst/>
          </a:prstGeom>
        </p:spPr>
        <p:txBody>
          <a:bodyPr vert="horz" wrap="square" lIns="0" tIns="0" rIns="0" bIns="0"/>
          <a:lstStyle/>
          <a:p>
            <a:pPr algn="l" rtl="0" eaLnBrk="0">
              <a:lnSpc>
                <a:spcPct val="77000"/>
              </a:lnSpc>
            </a:pPr>
            <a:endParaRPr lang="en-US" altLang="en-US" sz="135" dirty="0"/>
          </a:p>
          <a:p>
            <a:pPr algn="r" rtl="0" eaLnBrk="0">
              <a:lnSpc>
                <a:spcPct val="84000"/>
              </a:lnSpc>
            </a:pPr>
            <a:r>
              <a:rPr sz="1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p1</a:t>
            </a:r>
            <a:endParaRPr lang="en-US" altLang="en-US" sz="1400" dirty="0"/>
          </a:p>
        </p:txBody>
      </p:sp>
      <p:sp>
        <p:nvSpPr>
          <p:cNvPr id="9130" name="textbox 9130"/>
          <p:cNvSpPr/>
          <p:nvPr/>
        </p:nvSpPr>
        <p:spPr>
          <a:xfrm>
            <a:off x="9460299" y="1154100"/>
            <a:ext cx="233679" cy="203835"/>
          </a:xfrm>
          <a:prstGeom prst="rect">
            <a:avLst/>
          </a:prstGeom>
        </p:spPr>
        <p:txBody>
          <a:bodyPr vert="horz" wrap="square" lIns="0" tIns="0" rIns="0" bIns="0"/>
          <a:lstStyle/>
          <a:p>
            <a:pPr algn="l" rtl="0" eaLnBrk="0">
              <a:lnSpc>
                <a:spcPct val="77000"/>
              </a:lnSpc>
            </a:pPr>
            <a:endParaRPr lang="en-US" altLang="en-US" sz="135" dirty="0"/>
          </a:p>
          <a:p>
            <a:pPr algn="r" rtl="0" eaLnBrk="0">
              <a:lnSpc>
                <a:spcPct val="84000"/>
              </a:lnSpc>
            </a:pPr>
            <a:r>
              <a:rPr sz="1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p1</a:t>
            </a:r>
            <a:endParaRPr lang="en-US" altLang="en-US" sz="1400" dirty="0"/>
          </a:p>
        </p:txBody>
      </p:sp>
      <p:sp>
        <p:nvSpPr>
          <p:cNvPr id="9132" name="textbox 9132"/>
          <p:cNvSpPr/>
          <p:nvPr/>
        </p:nvSpPr>
        <p:spPr>
          <a:xfrm>
            <a:off x="10542974" y="3916859"/>
            <a:ext cx="233679" cy="203835"/>
          </a:xfrm>
          <a:prstGeom prst="rect">
            <a:avLst/>
          </a:prstGeom>
        </p:spPr>
        <p:txBody>
          <a:bodyPr vert="horz" wrap="square" lIns="0" tIns="0" rIns="0" bIns="0"/>
          <a:lstStyle/>
          <a:p>
            <a:pPr algn="l" rtl="0" eaLnBrk="0">
              <a:lnSpc>
                <a:spcPct val="77000"/>
              </a:lnSpc>
            </a:pPr>
            <a:endParaRPr lang="en-US" altLang="en-US" sz="135" dirty="0"/>
          </a:p>
          <a:p>
            <a:pPr algn="r" rtl="0" eaLnBrk="0">
              <a:lnSpc>
                <a:spcPct val="84000"/>
              </a:lnSpc>
            </a:pPr>
            <a:r>
              <a:rPr sz="1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p1</a:t>
            </a:r>
            <a:endParaRPr lang="en-US" alt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34" name="textbox 9134"/>
          <p:cNvSpPr/>
          <p:nvPr/>
        </p:nvSpPr>
        <p:spPr>
          <a:xfrm>
            <a:off x="717886" y="583125"/>
            <a:ext cx="10497184" cy="512444"/>
          </a:xfrm>
          <a:prstGeom prst="rect">
            <a:avLst/>
          </a:prstGeom>
        </p:spPr>
        <p:txBody>
          <a:bodyPr vert="horz" wrap="square" lIns="0" tIns="0" rIns="0" bIns="0"/>
          <a:lstStyle/>
          <a:p>
            <a:pPr algn="l" rtl="0" eaLnBrk="0">
              <a:lnSpc>
                <a:spcPct val="83000"/>
              </a:lnSpc>
            </a:pPr>
            <a:endParaRPr lang="en-US" altLang="en-US" sz="135" dirty="0"/>
          </a:p>
          <a:p>
            <a:pPr algn="r" rtl="0" eaLnBrk="0">
              <a:lnSpc>
                <a:spcPts val="3830"/>
              </a:lnSpc>
            </a:pPr>
            <a:r>
              <a:rPr sz="31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rPr>
              <a:t>建立简单的动态链表</a:t>
            </a:r>
            <a:r>
              <a:rPr sz="1900" kern="0" spc="60" dirty="0">
                <a:solidFill>
                  <a:srgbClr val="782367">
                    <a:alpha val="100000"/>
                  </a:srgbClr>
                </a:solidFill>
                <a:latin typeface="微软雅黑" panose="020B0503020204020204" charset="-122"/>
                <a:ea typeface="微软雅黑" panose="020B0503020204020204" charset="-122"/>
                <a:cs typeface="微软雅黑" panose="020B0503020204020204" charset="-122"/>
              </a:rPr>
              <a:t>【例</a:t>
            </a:r>
            <a:r>
              <a:rPr lang="en-US" sz="1900" kern="0" spc="60" dirty="0">
                <a:solidFill>
                  <a:srgbClr val="782367">
                    <a:alpha val="100000"/>
                  </a:srgbClr>
                </a:solidFill>
                <a:latin typeface="微软雅黑" panose="020B0503020204020204" charset="-122"/>
                <a:ea typeface="微软雅黑" panose="020B0503020204020204" charset="-122"/>
                <a:cs typeface="微软雅黑" panose="020B0503020204020204" charset="-122"/>
              </a:rPr>
              <a:t>7</a:t>
            </a:r>
            <a:r>
              <a:rPr sz="1900" kern="0" spc="60" dirty="0">
                <a:solidFill>
                  <a:srgbClr val="782367">
                    <a:alpha val="100000"/>
                  </a:srgbClr>
                </a:solidFill>
                <a:latin typeface="微软雅黑" panose="020B0503020204020204" charset="-122"/>
                <a:ea typeface="微软雅黑" panose="020B0503020204020204" charset="-122"/>
                <a:cs typeface="微软雅黑" panose="020B0503020204020204" charset="-122"/>
              </a:rPr>
              <a:t>.9】写一函数建立一个有3名学生数据的单向动态链</a:t>
            </a:r>
            <a:r>
              <a:rPr sz="1900" kern="0" spc="50" dirty="0">
                <a:solidFill>
                  <a:srgbClr val="782367">
                    <a:alpha val="100000"/>
                  </a:srgbClr>
                </a:solidFill>
                <a:latin typeface="微软雅黑" panose="020B0503020204020204" charset="-122"/>
                <a:ea typeface="微软雅黑" panose="020B0503020204020204" charset="-122"/>
                <a:cs typeface="微软雅黑" panose="020B0503020204020204" charset="-122"/>
              </a:rPr>
              <a:t>表。</a:t>
            </a:r>
            <a:endParaRPr lang="en-US" altLang="en-US" sz="1900" kern="0" spc="50" dirty="0">
              <a:solidFill>
                <a:srgbClr val="782367">
                  <a:alpha val="100000"/>
                </a:srgbClr>
              </a:solidFill>
              <a:latin typeface="微软雅黑" panose="020B0503020204020204" charset="-122"/>
              <a:ea typeface="微软雅黑" panose="020B0503020204020204" charset="-122"/>
              <a:cs typeface="微软雅黑" panose="020B0503020204020204" charset="-122"/>
            </a:endParaRPr>
          </a:p>
        </p:txBody>
      </p:sp>
      <p:graphicFrame>
        <p:nvGraphicFramePr>
          <p:cNvPr id="9136" name="table 9136"/>
          <p:cNvGraphicFramePr>
            <a:graphicFrameLocks noGrp="1"/>
          </p:cNvGraphicFramePr>
          <p:nvPr/>
        </p:nvGraphicFramePr>
        <p:xfrm>
          <a:off x="9269187" y="2839592"/>
          <a:ext cx="811530" cy="1211263"/>
        </p:xfrm>
        <a:graphic>
          <a:graphicData uri="http://schemas.openxmlformats.org/drawingml/2006/table">
            <a:tbl>
              <a:tblPr>
                <a:solidFill>
                  <a:srgbClr val="FBE9E8"/>
                </a:solidFill>
              </a:tblPr>
              <a:tblGrid>
                <a:gridCol w="811530">
                  <a:extLst>
                    <a:ext uri="{9D8B030D-6E8A-4147-A177-3AD203B41FA5}">
                      <a16:colId xmlns:a16="http://schemas.microsoft.com/office/drawing/2014/main" val="20000"/>
                    </a:ext>
                  </a:extLst>
                </a:gridCol>
              </a:tblGrid>
              <a:tr h="462915">
                <a:tc>
                  <a:txBody>
                    <a:bodyPr/>
                    <a:lstStyle/>
                    <a:p>
                      <a:pPr algn="l" rtl="0" eaLnBrk="0">
                        <a:lnSpc>
                          <a:spcPct val="101000"/>
                        </a:lnSpc>
                      </a:pPr>
                      <a:endParaRPr lang="en-US" altLang="en-US" sz="700" dirty="0"/>
                    </a:p>
                    <a:p>
                      <a:pPr marL="158750" algn="l" rtl="0" eaLnBrk="0">
                        <a:lnSpc>
                          <a:spcPct val="82000"/>
                        </a:lnSpc>
                        <a:spcBef>
                          <a:spcPts val="0"/>
                        </a:spcBef>
                      </a:pPr>
                      <a:r>
                        <a:rPr sz="15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10107</a:t>
                      </a:r>
                      <a:endParaRPr lang="en-US" altLang="en-US" sz="1500" dirty="0"/>
                    </a:p>
                  </a:txBody>
                  <a:tcPr marL="0" marR="0" marT="0" marB="0">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9E8"/>
                    </a:solidFill>
                  </a:tcPr>
                </a:tc>
                <a:extLst>
                  <a:ext uri="{0D108BD9-81ED-4DB2-BD59-A6C34878D82A}">
                    <a16:rowId xmlns:a16="http://schemas.microsoft.com/office/drawing/2014/main" val="10000"/>
                  </a:ext>
                </a:extLst>
              </a:tr>
              <a:tr h="292100">
                <a:tc>
                  <a:txBody>
                    <a:bodyPr/>
                    <a:lstStyle/>
                    <a:p>
                      <a:pPr algn="l" rtl="0" eaLnBrk="0">
                        <a:lnSpc>
                          <a:spcPct val="112000"/>
                        </a:lnSpc>
                      </a:pPr>
                      <a:endParaRPr lang="en-US" altLang="en-US" sz="600" dirty="0"/>
                    </a:p>
                    <a:p>
                      <a:pPr marL="314960" algn="l" rtl="0" eaLnBrk="0">
                        <a:lnSpc>
                          <a:spcPct val="78000"/>
                        </a:lnSpc>
                      </a:pPr>
                      <a:r>
                        <a:rPr sz="16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85</a:t>
                      </a:r>
                      <a:endParaRPr lang="en-US" altLang="en-US" sz="1600" dirty="0"/>
                    </a:p>
                  </a:txBody>
                  <a:tcPr marL="0" marR="0" marT="0" marB="0">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9E8"/>
                    </a:solidFill>
                  </a:tcPr>
                </a:tc>
                <a:extLst>
                  <a:ext uri="{0D108BD9-81ED-4DB2-BD59-A6C34878D82A}">
                    <a16:rowId xmlns:a16="http://schemas.microsoft.com/office/drawing/2014/main" val="10001"/>
                  </a:ext>
                </a:extLst>
              </a:tr>
              <a:tr h="455295">
                <a:tc>
                  <a:txBody>
                    <a:bodyPr/>
                    <a:lstStyle/>
                    <a:p>
                      <a:pPr algn="l" rtl="0" eaLnBrk="0">
                        <a:lnSpc>
                          <a:spcPct val="114000"/>
                        </a:lnSpc>
                      </a:pPr>
                      <a:endParaRPr lang="en-US" altLang="en-US" sz="600" dirty="0"/>
                    </a:p>
                    <a:p>
                      <a:pPr marL="191770" algn="l" rtl="0" eaLnBrk="0">
                        <a:lnSpc>
                          <a:spcPct val="81000"/>
                        </a:lnSpc>
                        <a:spcBef>
                          <a:spcPts val="5"/>
                        </a:spcBef>
                      </a:pPr>
                      <a:r>
                        <a:rPr sz="15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rPr>
                        <a:t>NULL</a:t>
                      </a:r>
                      <a:endParaRPr lang="en-US" altLang="en-US" sz="1500" dirty="0"/>
                    </a:p>
                  </a:txBody>
                  <a:tcPr marL="0" marR="0" marT="0" marB="0">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9E8"/>
                    </a:solidFill>
                  </a:tcPr>
                </a:tc>
                <a:extLst>
                  <a:ext uri="{0D108BD9-81ED-4DB2-BD59-A6C34878D82A}">
                    <a16:rowId xmlns:a16="http://schemas.microsoft.com/office/drawing/2014/main" val="10002"/>
                  </a:ext>
                </a:extLst>
              </a:tr>
            </a:tbl>
          </a:graphicData>
        </a:graphic>
      </p:graphicFrame>
      <p:graphicFrame>
        <p:nvGraphicFramePr>
          <p:cNvPr id="9138" name="table 9138"/>
          <p:cNvGraphicFramePr>
            <a:graphicFrameLocks noGrp="1"/>
          </p:cNvGraphicFramePr>
          <p:nvPr/>
        </p:nvGraphicFramePr>
        <p:xfrm>
          <a:off x="1616547" y="2844672"/>
          <a:ext cx="811530" cy="1203960"/>
        </p:xfrm>
        <a:graphic>
          <a:graphicData uri="http://schemas.openxmlformats.org/drawingml/2006/table">
            <a:tbl>
              <a:tblPr>
                <a:solidFill>
                  <a:srgbClr val="FBE9E8"/>
                </a:solidFill>
              </a:tblPr>
              <a:tblGrid>
                <a:gridCol w="811530">
                  <a:extLst>
                    <a:ext uri="{9D8B030D-6E8A-4147-A177-3AD203B41FA5}">
                      <a16:colId xmlns:a16="http://schemas.microsoft.com/office/drawing/2014/main" val="20000"/>
                    </a:ext>
                  </a:extLst>
                </a:gridCol>
              </a:tblGrid>
              <a:tr h="403860">
                <a:tc>
                  <a:txBody>
                    <a:bodyPr/>
                    <a:lstStyle/>
                    <a:p>
                      <a:pPr algn="l" rtl="0" eaLnBrk="0">
                        <a:lnSpc>
                          <a:spcPct val="100000"/>
                        </a:lnSpc>
                      </a:pPr>
                      <a:endParaRPr lang="en-US" altLang="en-US" sz="1000" dirty="0"/>
                    </a:p>
                  </a:txBody>
                  <a:tcPr marL="0" marR="0" marT="0" marB="0">
                    <a:lnL w="9525"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9E8"/>
                    </a:solidFill>
                  </a:tcPr>
                </a:tc>
                <a:extLst>
                  <a:ext uri="{0D108BD9-81ED-4DB2-BD59-A6C34878D82A}">
                    <a16:rowId xmlns:a16="http://schemas.microsoft.com/office/drawing/2014/main" val="10000"/>
                  </a:ext>
                </a:extLst>
              </a:tr>
              <a:tr h="396875">
                <a:tc>
                  <a:txBody>
                    <a:bodyPr/>
                    <a:lstStyle/>
                    <a:p>
                      <a:pPr algn="l" rtl="0" eaLnBrk="0">
                        <a:lnSpc>
                          <a:spcPct val="100000"/>
                        </a:lnSpc>
                      </a:pPr>
                      <a:endParaRPr lang="en-US" altLang="en-US" sz="1000" dirty="0"/>
                    </a:p>
                  </a:txBody>
                  <a:tcPr marL="0" marR="0" marT="0" marB="0">
                    <a:lnL w="9525"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9E8"/>
                    </a:solidFill>
                  </a:tcPr>
                </a:tc>
                <a:extLst>
                  <a:ext uri="{0D108BD9-81ED-4DB2-BD59-A6C34878D82A}">
                    <a16:rowId xmlns:a16="http://schemas.microsoft.com/office/drawing/2014/main" val="10001"/>
                  </a:ext>
                </a:extLst>
              </a:tr>
              <a:tr h="403225">
                <a:tc>
                  <a:txBody>
                    <a:bodyPr/>
                    <a:lstStyle/>
                    <a:p>
                      <a:pPr algn="l" rtl="0" eaLnBrk="0">
                        <a:lnSpc>
                          <a:spcPct val="100000"/>
                        </a:lnSpc>
                      </a:pPr>
                      <a:endParaRPr lang="en-US" altLang="en-US" sz="1000" dirty="0"/>
                    </a:p>
                  </a:txBody>
                  <a:tcPr marL="0" marR="0" marT="0" marB="0">
                    <a:lnL w="9525"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9E8"/>
                    </a:solidFill>
                  </a:tcPr>
                </a:tc>
                <a:extLst>
                  <a:ext uri="{0D108BD9-81ED-4DB2-BD59-A6C34878D82A}">
                    <a16:rowId xmlns:a16="http://schemas.microsoft.com/office/drawing/2014/main" val="10002"/>
                  </a:ext>
                </a:extLst>
              </a:tr>
            </a:tbl>
          </a:graphicData>
        </a:graphic>
      </p:graphicFrame>
      <p:pic>
        <p:nvPicPr>
          <p:cNvPr id="9140" name="picture 9140"/>
          <p:cNvPicPr>
            <a:picLocks noChangeAspect="1"/>
          </p:cNvPicPr>
          <p:nvPr/>
        </p:nvPicPr>
        <p:blipFill>
          <a:blip r:embed="rId2"/>
          <a:stretch>
            <a:fillRect/>
          </a:stretch>
        </p:blipFill>
        <p:spPr>
          <a:xfrm rot="21600000">
            <a:off x="2021424" y="3009900"/>
            <a:ext cx="716279" cy="812545"/>
          </a:xfrm>
          <a:prstGeom prst="rect">
            <a:avLst/>
          </a:prstGeom>
        </p:spPr>
      </p:pic>
      <p:graphicFrame>
        <p:nvGraphicFramePr>
          <p:cNvPr id="9142" name="table 9142"/>
          <p:cNvGraphicFramePr>
            <a:graphicFrameLocks noGrp="1"/>
          </p:cNvGraphicFramePr>
          <p:nvPr/>
        </p:nvGraphicFramePr>
        <p:xfrm>
          <a:off x="2731480" y="2844672"/>
          <a:ext cx="811530" cy="1203960"/>
        </p:xfrm>
        <a:graphic>
          <a:graphicData uri="http://schemas.openxmlformats.org/drawingml/2006/table">
            <a:tbl>
              <a:tblPr>
                <a:solidFill>
                  <a:srgbClr val="FBE9E8"/>
                </a:solidFill>
              </a:tblPr>
              <a:tblGrid>
                <a:gridCol w="811530">
                  <a:extLst>
                    <a:ext uri="{9D8B030D-6E8A-4147-A177-3AD203B41FA5}">
                      <a16:colId xmlns:a16="http://schemas.microsoft.com/office/drawing/2014/main" val="20000"/>
                    </a:ext>
                  </a:extLst>
                </a:gridCol>
              </a:tblGrid>
              <a:tr h="536575">
                <a:tc>
                  <a:txBody>
                    <a:bodyPr/>
                    <a:lstStyle/>
                    <a:p>
                      <a:pPr algn="l" rtl="0" eaLnBrk="0">
                        <a:lnSpc>
                          <a:spcPct val="101000"/>
                        </a:lnSpc>
                      </a:pPr>
                      <a:endParaRPr lang="en-US" altLang="en-US" sz="700" dirty="0"/>
                    </a:p>
                    <a:p>
                      <a:pPr marL="156845" algn="l" rtl="0" eaLnBrk="0">
                        <a:lnSpc>
                          <a:spcPct val="82000"/>
                        </a:lnSpc>
                        <a:spcBef>
                          <a:spcPts val="0"/>
                        </a:spcBef>
                      </a:pPr>
                      <a:r>
                        <a:rPr sz="15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10103</a:t>
                      </a:r>
                      <a:endParaRPr lang="en-US" altLang="en-US" sz="1500" dirty="0"/>
                    </a:p>
                  </a:txBody>
                  <a:tcPr marL="0" marR="0" marT="0" marB="0">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9E8"/>
                    </a:solidFill>
                  </a:tcPr>
                </a:tc>
                <a:extLst>
                  <a:ext uri="{0D108BD9-81ED-4DB2-BD59-A6C34878D82A}">
                    <a16:rowId xmlns:a16="http://schemas.microsoft.com/office/drawing/2014/main" val="10000"/>
                  </a:ext>
                </a:extLst>
              </a:tr>
              <a:tr h="330835">
                <a:tc>
                  <a:txBody>
                    <a:bodyPr/>
                    <a:lstStyle/>
                    <a:p>
                      <a:pPr algn="l" rtl="0" eaLnBrk="0">
                        <a:lnSpc>
                          <a:spcPct val="100000"/>
                        </a:lnSpc>
                      </a:pPr>
                      <a:endParaRPr lang="en-US" altLang="en-US" sz="1000" dirty="0"/>
                    </a:p>
                  </a:txBody>
                  <a:tcPr marL="0" marR="0" marT="0" marB="0">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9E8"/>
                    </a:solidFill>
                  </a:tcPr>
                </a:tc>
                <a:extLst>
                  <a:ext uri="{0D108BD9-81ED-4DB2-BD59-A6C34878D82A}">
                    <a16:rowId xmlns:a16="http://schemas.microsoft.com/office/drawing/2014/main" val="10001"/>
                  </a:ext>
                </a:extLst>
              </a:tr>
              <a:tr h="336550">
                <a:tc>
                  <a:txBody>
                    <a:bodyPr/>
                    <a:lstStyle/>
                    <a:p>
                      <a:pPr algn="l" rtl="0" eaLnBrk="0">
                        <a:lnSpc>
                          <a:spcPct val="100000"/>
                        </a:lnSpc>
                      </a:pPr>
                      <a:endParaRPr lang="en-US" altLang="en-US" sz="1000" dirty="0"/>
                    </a:p>
                  </a:txBody>
                  <a:tcPr marL="0" marR="0" marT="0" marB="0">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9E8"/>
                    </a:solidFill>
                  </a:tcPr>
                </a:tc>
                <a:extLst>
                  <a:ext uri="{0D108BD9-81ED-4DB2-BD59-A6C34878D82A}">
                    <a16:rowId xmlns:a16="http://schemas.microsoft.com/office/drawing/2014/main" val="10002"/>
                  </a:ext>
                </a:extLst>
              </a:tr>
            </a:tbl>
          </a:graphicData>
        </a:graphic>
      </p:graphicFrame>
      <p:graphicFrame>
        <p:nvGraphicFramePr>
          <p:cNvPr id="9144" name="table 9144"/>
          <p:cNvGraphicFramePr>
            <a:graphicFrameLocks noGrp="1"/>
          </p:cNvGraphicFramePr>
          <p:nvPr/>
        </p:nvGraphicFramePr>
        <p:xfrm>
          <a:off x="4917532" y="2839592"/>
          <a:ext cx="811530" cy="1203960"/>
        </p:xfrm>
        <a:graphic>
          <a:graphicData uri="http://schemas.openxmlformats.org/drawingml/2006/table">
            <a:tbl>
              <a:tblPr>
                <a:solidFill>
                  <a:srgbClr val="FBE9E8"/>
                </a:solidFill>
              </a:tblPr>
              <a:tblGrid>
                <a:gridCol w="811530">
                  <a:extLst>
                    <a:ext uri="{9D8B030D-6E8A-4147-A177-3AD203B41FA5}">
                      <a16:colId xmlns:a16="http://schemas.microsoft.com/office/drawing/2014/main" val="20000"/>
                    </a:ext>
                  </a:extLst>
                </a:gridCol>
              </a:tblGrid>
              <a:tr h="403225">
                <a:tc>
                  <a:txBody>
                    <a:bodyPr/>
                    <a:lstStyle/>
                    <a:p>
                      <a:pPr algn="l" rtl="0" eaLnBrk="0">
                        <a:lnSpc>
                          <a:spcPct val="101000"/>
                        </a:lnSpc>
                      </a:pPr>
                      <a:endParaRPr lang="en-US" altLang="en-US" sz="700" dirty="0"/>
                    </a:p>
                    <a:p>
                      <a:pPr marL="365125" algn="l" rtl="0" eaLnBrk="0">
                        <a:lnSpc>
                          <a:spcPct val="78000"/>
                        </a:lnSpc>
                        <a:spcBef>
                          <a:spcPts val="0"/>
                        </a:spcBef>
                      </a:pPr>
                      <a:r>
                        <a:rPr sz="16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0</a:t>
                      </a:r>
                      <a:endParaRPr lang="en-US" altLang="en-US" sz="1600" dirty="0"/>
                    </a:p>
                  </a:txBody>
                  <a:tcPr marL="0" marR="0" marT="0" marB="0">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9E8"/>
                    </a:solidFill>
                  </a:tcPr>
                </a:tc>
                <a:extLst>
                  <a:ext uri="{0D108BD9-81ED-4DB2-BD59-A6C34878D82A}">
                    <a16:rowId xmlns:a16="http://schemas.microsoft.com/office/drawing/2014/main" val="10000"/>
                  </a:ext>
                </a:extLst>
              </a:tr>
              <a:tr h="396875">
                <a:tc>
                  <a:txBody>
                    <a:bodyPr/>
                    <a:lstStyle/>
                    <a:p>
                      <a:pPr algn="l" rtl="0" eaLnBrk="0">
                        <a:lnSpc>
                          <a:spcPct val="112000"/>
                        </a:lnSpc>
                      </a:pPr>
                      <a:endParaRPr lang="en-US" altLang="en-US" sz="600" dirty="0"/>
                    </a:p>
                    <a:p>
                      <a:pPr marL="365125" algn="l" rtl="0" eaLnBrk="0">
                        <a:lnSpc>
                          <a:spcPct val="78000"/>
                        </a:lnSpc>
                        <a:spcBef>
                          <a:spcPts val="0"/>
                        </a:spcBef>
                      </a:pPr>
                      <a:r>
                        <a:rPr sz="16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0</a:t>
                      </a:r>
                      <a:endParaRPr lang="en-US" altLang="en-US" sz="1600" dirty="0"/>
                    </a:p>
                  </a:txBody>
                  <a:tcPr marL="0" marR="0" marT="0" marB="0">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9E8"/>
                    </a:solidFill>
                  </a:tcPr>
                </a:tc>
                <a:extLst>
                  <a:ext uri="{0D108BD9-81ED-4DB2-BD59-A6C34878D82A}">
                    <a16:rowId xmlns:a16="http://schemas.microsoft.com/office/drawing/2014/main" val="10001"/>
                  </a:ext>
                </a:extLst>
              </a:tr>
              <a:tr h="403860">
                <a:tc>
                  <a:txBody>
                    <a:bodyPr/>
                    <a:lstStyle/>
                    <a:p>
                      <a:pPr algn="l" rtl="0" eaLnBrk="0">
                        <a:lnSpc>
                          <a:spcPct val="100000"/>
                        </a:lnSpc>
                      </a:pPr>
                      <a:endParaRPr lang="en-US" altLang="en-US" sz="1000" dirty="0"/>
                    </a:p>
                  </a:txBody>
                  <a:tcPr marL="0" marR="0" marT="0" marB="0">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9E8"/>
                    </a:solidFill>
                  </a:tcPr>
                </a:tc>
                <a:extLst>
                  <a:ext uri="{0D108BD9-81ED-4DB2-BD59-A6C34878D82A}">
                    <a16:rowId xmlns:a16="http://schemas.microsoft.com/office/drawing/2014/main" val="10002"/>
                  </a:ext>
                </a:extLst>
              </a:tr>
            </a:tbl>
          </a:graphicData>
        </a:graphic>
      </p:graphicFrame>
      <p:graphicFrame>
        <p:nvGraphicFramePr>
          <p:cNvPr id="9146" name="table 9146"/>
          <p:cNvGraphicFramePr>
            <a:graphicFrameLocks noGrp="1"/>
          </p:cNvGraphicFramePr>
          <p:nvPr/>
        </p:nvGraphicFramePr>
        <p:xfrm>
          <a:off x="7089231" y="2844672"/>
          <a:ext cx="811530" cy="1203960"/>
        </p:xfrm>
        <a:graphic>
          <a:graphicData uri="http://schemas.openxmlformats.org/drawingml/2006/table">
            <a:tbl>
              <a:tblPr>
                <a:solidFill>
                  <a:srgbClr val="FBE9E8"/>
                </a:solidFill>
              </a:tblPr>
              <a:tblGrid>
                <a:gridCol w="811530">
                  <a:extLst>
                    <a:ext uri="{9D8B030D-6E8A-4147-A177-3AD203B41FA5}">
                      <a16:colId xmlns:a16="http://schemas.microsoft.com/office/drawing/2014/main" val="20000"/>
                    </a:ext>
                  </a:extLst>
                </a:gridCol>
              </a:tblGrid>
              <a:tr h="403860">
                <a:tc>
                  <a:txBody>
                    <a:bodyPr/>
                    <a:lstStyle/>
                    <a:p>
                      <a:pPr algn="l" rtl="0" eaLnBrk="0">
                        <a:lnSpc>
                          <a:spcPct val="100000"/>
                        </a:lnSpc>
                      </a:pPr>
                      <a:endParaRPr lang="en-US" altLang="en-US" sz="1000" dirty="0"/>
                    </a:p>
                  </a:txBody>
                  <a:tcPr marL="0" marR="0" marT="0" marB="0">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9E8"/>
                    </a:solidFill>
                  </a:tcPr>
                </a:tc>
                <a:extLst>
                  <a:ext uri="{0D108BD9-81ED-4DB2-BD59-A6C34878D82A}">
                    <a16:rowId xmlns:a16="http://schemas.microsoft.com/office/drawing/2014/main" val="10000"/>
                  </a:ext>
                </a:extLst>
              </a:tr>
              <a:tr h="396875">
                <a:tc>
                  <a:txBody>
                    <a:bodyPr/>
                    <a:lstStyle/>
                    <a:p>
                      <a:pPr algn="l" rtl="0" eaLnBrk="0">
                        <a:lnSpc>
                          <a:spcPct val="100000"/>
                        </a:lnSpc>
                      </a:pPr>
                      <a:endParaRPr lang="en-US" altLang="en-US" sz="1000" dirty="0"/>
                    </a:p>
                  </a:txBody>
                  <a:tcPr marL="0" marR="0" marT="0" marB="0">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9E8"/>
                    </a:solidFill>
                  </a:tcPr>
                </a:tc>
                <a:extLst>
                  <a:ext uri="{0D108BD9-81ED-4DB2-BD59-A6C34878D82A}">
                    <a16:rowId xmlns:a16="http://schemas.microsoft.com/office/drawing/2014/main" val="10001"/>
                  </a:ext>
                </a:extLst>
              </a:tr>
              <a:tr h="403225">
                <a:tc>
                  <a:txBody>
                    <a:bodyPr/>
                    <a:lstStyle/>
                    <a:p>
                      <a:pPr algn="l" rtl="0" eaLnBrk="0">
                        <a:lnSpc>
                          <a:spcPct val="100000"/>
                        </a:lnSpc>
                      </a:pPr>
                      <a:endParaRPr lang="en-US" altLang="en-US" sz="1000" dirty="0"/>
                    </a:p>
                  </a:txBody>
                  <a:tcPr marL="0" marR="0" marT="0" marB="0">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9E8"/>
                    </a:solidFill>
                  </a:tcPr>
                </a:tc>
                <a:extLst>
                  <a:ext uri="{0D108BD9-81ED-4DB2-BD59-A6C34878D82A}">
                    <a16:rowId xmlns:a16="http://schemas.microsoft.com/office/drawing/2014/main" val="10002"/>
                  </a:ext>
                </a:extLst>
              </a:tr>
            </a:tbl>
          </a:graphicData>
        </a:graphic>
      </p:graphicFrame>
      <p:pic>
        <p:nvPicPr>
          <p:cNvPr id="9148" name="picture 9148"/>
          <p:cNvPicPr>
            <a:picLocks noChangeAspect="1"/>
          </p:cNvPicPr>
          <p:nvPr/>
        </p:nvPicPr>
        <p:blipFill>
          <a:blip r:embed="rId3"/>
          <a:stretch>
            <a:fillRect/>
          </a:stretch>
        </p:blipFill>
        <p:spPr>
          <a:xfrm rot="21600000">
            <a:off x="7492584" y="3009900"/>
            <a:ext cx="719327" cy="812545"/>
          </a:xfrm>
          <a:prstGeom prst="rect">
            <a:avLst/>
          </a:prstGeom>
        </p:spPr>
      </p:pic>
      <p:graphicFrame>
        <p:nvGraphicFramePr>
          <p:cNvPr id="9150" name="table 9150"/>
          <p:cNvGraphicFramePr>
            <a:graphicFrameLocks noGrp="1"/>
          </p:cNvGraphicFramePr>
          <p:nvPr/>
        </p:nvGraphicFramePr>
        <p:xfrm>
          <a:off x="8204166" y="2844672"/>
          <a:ext cx="811530" cy="1203960"/>
        </p:xfrm>
        <a:graphic>
          <a:graphicData uri="http://schemas.openxmlformats.org/drawingml/2006/table">
            <a:tbl>
              <a:tblPr>
                <a:solidFill>
                  <a:srgbClr val="FBE9E8"/>
                </a:solidFill>
              </a:tblPr>
              <a:tblGrid>
                <a:gridCol w="811530">
                  <a:extLst>
                    <a:ext uri="{9D8B030D-6E8A-4147-A177-3AD203B41FA5}">
                      <a16:colId xmlns:a16="http://schemas.microsoft.com/office/drawing/2014/main" val="20000"/>
                    </a:ext>
                  </a:extLst>
                </a:gridCol>
              </a:tblGrid>
              <a:tr h="536575">
                <a:tc>
                  <a:txBody>
                    <a:bodyPr/>
                    <a:lstStyle/>
                    <a:p>
                      <a:pPr algn="l" rtl="0" eaLnBrk="0">
                        <a:lnSpc>
                          <a:spcPct val="101000"/>
                        </a:lnSpc>
                      </a:pPr>
                      <a:endParaRPr lang="en-US" altLang="en-US" sz="700" dirty="0"/>
                    </a:p>
                    <a:p>
                      <a:pPr marL="158115" algn="l" rtl="0" eaLnBrk="0">
                        <a:lnSpc>
                          <a:spcPct val="82000"/>
                        </a:lnSpc>
                        <a:spcBef>
                          <a:spcPts val="0"/>
                        </a:spcBef>
                      </a:pPr>
                      <a:r>
                        <a:rPr sz="15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10103</a:t>
                      </a:r>
                      <a:endParaRPr lang="en-US" altLang="en-US" sz="1500" dirty="0"/>
                    </a:p>
                  </a:txBody>
                  <a:tcPr marL="0" marR="0" marT="0" marB="0">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9E8"/>
                    </a:solidFill>
                  </a:tcPr>
                </a:tc>
                <a:extLst>
                  <a:ext uri="{0D108BD9-81ED-4DB2-BD59-A6C34878D82A}">
                    <a16:rowId xmlns:a16="http://schemas.microsoft.com/office/drawing/2014/main" val="10000"/>
                  </a:ext>
                </a:extLst>
              </a:tr>
              <a:tr h="330835">
                <a:tc>
                  <a:txBody>
                    <a:bodyPr/>
                    <a:lstStyle/>
                    <a:p>
                      <a:pPr algn="l" rtl="0" eaLnBrk="0">
                        <a:lnSpc>
                          <a:spcPct val="100000"/>
                        </a:lnSpc>
                      </a:pPr>
                      <a:endParaRPr lang="en-US" altLang="en-US" sz="1000" dirty="0"/>
                    </a:p>
                  </a:txBody>
                  <a:tcPr marL="0" marR="0" marT="0" marB="0">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9E8"/>
                    </a:solidFill>
                  </a:tcPr>
                </a:tc>
                <a:extLst>
                  <a:ext uri="{0D108BD9-81ED-4DB2-BD59-A6C34878D82A}">
                    <a16:rowId xmlns:a16="http://schemas.microsoft.com/office/drawing/2014/main" val="10001"/>
                  </a:ext>
                </a:extLst>
              </a:tr>
              <a:tr h="336550">
                <a:tc>
                  <a:txBody>
                    <a:bodyPr/>
                    <a:lstStyle/>
                    <a:p>
                      <a:pPr algn="l" rtl="0" eaLnBrk="0">
                        <a:lnSpc>
                          <a:spcPct val="100000"/>
                        </a:lnSpc>
                      </a:pPr>
                      <a:endParaRPr lang="en-US" altLang="en-US" sz="1000" dirty="0"/>
                    </a:p>
                  </a:txBody>
                  <a:tcPr marL="0" marR="0" marT="0" marB="0">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9E8"/>
                    </a:solidFill>
                  </a:tcPr>
                </a:tc>
                <a:extLst>
                  <a:ext uri="{0D108BD9-81ED-4DB2-BD59-A6C34878D82A}">
                    <a16:rowId xmlns:a16="http://schemas.microsoft.com/office/drawing/2014/main" val="10002"/>
                  </a:ext>
                </a:extLst>
              </a:tr>
            </a:tbl>
          </a:graphicData>
        </a:graphic>
      </p:graphicFrame>
      <p:graphicFrame>
        <p:nvGraphicFramePr>
          <p:cNvPr id="9152" name="table 9152"/>
          <p:cNvGraphicFramePr>
            <a:graphicFrameLocks noGrp="1"/>
          </p:cNvGraphicFramePr>
          <p:nvPr/>
        </p:nvGraphicFramePr>
        <p:xfrm>
          <a:off x="3796630" y="2839592"/>
          <a:ext cx="811530" cy="1203960"/>
        </p:xfrm>
        <a:graphic>
          <a:graphicData uri="http://schemas.openxmlformats.org/drawingml/2006/table">
            <a:tbl>
              <a:tblPr>
                <a:solidFill>
                  <a:srgbClr val="FBE9E8"/>
                </a:solidFill>
              </a:tblPr>
              <a:tblGrid>
                <a:gridCol w="811530">
                  <a:extLst>
                    <a:ext uri="{9D8B030D-6E8A-4147-A177-3AD203B41FA5}">
                      <a16:colId xmlns:a16="http://schemas.microsoft.com/office/drawing/2014/main" val="20000"/>
                    </a:ext>
                  </a:extLst>
                </a:gridCol>
              </a:tblGrid>
              <a:tr h="535940">
                <a:tc>
                  <a:txBody>
                    <a:bodyPr/>
                    <a:lstStyle/>
                    <a:p>
                      <a:pPr algn="l" rtl="0" eaLnBrk="0">
                        <a:lnSpc>
                          <a:spcPct val="101000"/>
                        </a:lnSpc>
                      </a:pPr>
                      <a:endParaRPr lang="en-US" altLang="en-US" sz="700" dirty="0"/>
                    </a:p>
                    <a:p>
                      <a:pPr marL="157480" algn="l" rtl="0" eaLnBrk="0">
                        <a:lnSpc>
                          <a:spcPct val="82000"/>
                        </a:lnSpc>
                        <a:spcBef>
                          <a:spcPts val="0"/>
                        </a:spcBef>
                      </a:pPr>
                      <a:r>
                        <a:rPr sz="15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10107</a:t>
                      </a:r>
                      <a:endParaRPr lang="en-US" altLang="en-US" sz="1500" dirty="0"/>
                    </a:p>
                  </a:txBody>
                  <a:tcPr marL="0" marR="0" marT="0" marB="0">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9E8"/>
                    </a:solidFill>
                  </a:tcPr>
                </a:tc>
                <a:extLst>
                  <a:ext uri="{0D108BD9-81ED-4DB2-BD59-A6C34878D82A}">
                    <a16:rowId xmlns:a16="http://schemas.microsoft.com/office/drawing/2014/main" val="10000"/>
                  </a:ext>
                </a:extLst>
              </a:tr>
              <a:tr h="331470">
                <a:tc>
                  <a:txBody>
                    <a:bodyPr/>
                    <a:lstStyle/>
                    <a:p>
                      <a:pPr algn="l" rtl="0" eaLnBrk="0">
                        <a:lnSpc>
                          <a:spcPct val="112000"/>
                        </a:lnSpc>
                      </a:pPr>
                      <a:endParaRPr lang="en-US" altLang="en-US" sz="600" dirty="0"/>
                    </a:p>
                    <a:p>
                      <a:pPr marL="313690" algn="l" rtl="0" eaLnBrk="0">
                        <a:lnSpc>
                          <a:spcPct val="78000"/>
                        </a:lnSpc>
                      </a:pPr>
                      <a:r>
                        <a:rPr sz="16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85</a:t>
                      </a:r>
                      <a:endParaRPr lang="en-US" altLang="en-US" sz="1600" dirty="0"/>
                    </a:p>
                  </a:txBody>
                  <a:tcPr marL="0" marR="0" marT="0" marB="0">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9E8"/>
                    </a:solidFill>
                  </a:tcPr>
                </a:tc>
                <a:extLst>
                  <a:ext uri="{0D108BD9-81ED-4DB2-BD59-A6C34878D82A}">
                    <a16:rowId xmlns:a16="http://schemas.microsoft.com/office/drawing/2014/main" val="10001"/>
                  </a:ext>
                </a:extLst>
              </a:tr>
              <a:tr h="336550">
                <a:tc>
                  <a:txBody>
                    <a:bodyPr/>
                    <a:lstStyle/>
                    <a:p>
                      <a:pPr algn="l" rtl="0" eaLnBrk="0">
                        <a:lnSpc>
                          <a:spcPct val="100000"/>
                        </a:lnSpc>
                      </a:pPr>
                      <a:endParaRPr lang="en-US" altLang="en-US" sz="1000" dirty="0"/>
                    </a:p>
                  </a:txBody>
                  <a:tcPr marL="0" marR="0" marT="0" marB="0">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9E8"/>
                    </a:solidFill>
                  </a:tcPr>
                </a:tc>
                <a:extLst>
                  <a:ext uri="{0D108BD9-81ED-4DB2-BD59-A6C34878D82A}">
                    <a16:rowId xmlns:a16="http://schemas.microsoft.com/office/drawing/2014/main" val="10002"/>
                  </a:ext>
                </a:extLst>
              </a:tr>
            </a:tbl>
          </a:graphicData>
        </a:graphic>
      </p:graphicFrame>
      <p:graphicFrame>
        <p:nvGraphicFramePr>
          <p:cNvPr id="9154" name="table 9154"/>
          <p:cNvGraphicFramePr>
            <a:graphicFrameLocks noGrp="1"/>
          </p:cNvGraphicFramePr>
          <p:nvPr/>
        </p:nvGraphicFramePr>
        <p:xfrm>
          <a:off x="10390216" y="2839592"/>
          <a:ext cx="811530" cy="1203960"/>
        </p:xfrm>
        <a:graphic>
          <a:graphicData uri="http://schemas.openxmlformats.org/drawingml/2006/table">
            <a:tbl>
              <a:tblPr>
                <a:solidFill>
                  <a:srgbClr val="FBE9E8"/>
                </a:solidFill>
              </a:tblPr>
              <a:tblGrid>
                <a:gridCol w="811530">
                  <a:extLst>
                    <a:ext uri="{9D8B030D-6E8A-4147-A177-3AD203B41FA5}">
                      <a16:colId xmlns:a16="http://schemas.microsoft.com/office/drawing/2014/main" val="20000"/>
                    </a:ext>
                  </a:extLst>
                </a:gridCol>
              </a:tblGrid>
              <a:tr h="403225">
                <a:tc>
                  <a:txBody>
                    <a:bodyPr/>
                    <a:lstStyle/>
                    <a:p>
                      <a:pPr algn="l" rtl="0" eaLnBrk="0">
                        <a:lnSpc>
                          <a:spcPct val="101000"/>
                        </a:lnSpc>
                      </a:pPr>
                      <a:endParaRPr lang="en-US" altLang="en-US" sz="700" dirty="0"/>
                    </a:p>
                    <a:p>
                      <a:pPr marL="366395" algn="l" rtl="0" eaLnBrk="0">
                        <a:lnSpc>
                          <a:spcPct val="78000"/>
                        </a:lnSpc>
                        <a:spcBef>
                          <a:spcPts val="0"/>
                        </a:spcBef>
                      </a:pPr>
                      <a:r>
                        <a:rPr sz="16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0</a:t>
                      </a:r>
                      <a:endParaRPr lang="en-US" altLang="en-US" sz="1600" dirty="0"/>
                    </a:p>
                  </a:txBody>
                  <a:tcPr marL="0" marR="0" marT="0" marB="0">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9E8"/>
                    </a:solidFill>
                  </a:tcPr>
                </a:tc>
                <a:extLst>
                  <a:ext uri="{0D108BD9-81ED-4DB2-BD59-A6C34878D82A}">
                    <a16:rowId xmlns:a16="http://schemas.microsoft.com/office/drawing/2014/main" val="10000"/>
                  </a:ext>
                </a:extLst>
              </a:tr>
              <a:tr h="396875">
                <a:tc>
                  <a:txBody>
                    <a:bodyPr/>
                    <a:lstStyle/>
                    <a:p>
                      <a:pPr algn="l" rtl="0" eaLnBrk="0">
                        <a:lnSpc>
                          <a:spcPct val="112000"/>
                        </a:lnSpc>
                      </a:pPr>
                      <a:endParaRPr lang="en-US" altLang="en-US" sz="600" dirty="0"/>
                    </a:p>
                    <a:p>
                      <a:pPr marL="366395" algn="l" rtl="0" eaLnBrk="0">
                        <a:lnSpc>
                          <a:spcPct val="78000"/>
                        </a:lnSpc>
                        <a:spcBef>
                          <a:spcPts val="0"/>
                        </a:spcBef>
                      </a:pPr>
                      <a:r>
                        <a:rPr sz="16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0</a:t>
                      </a:r>
                      <a:endParaRPr lang="en-US" altLang="en-US" sz="1600" dirty="0"/>
                    </a:p>
                  </a:txBody>
                  <a:tcPr marL="0" marR="0" marT="0" marB="0">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9E8"/>
                    </a:solidFill>
                  </a:tcPr>
                </a:tc>
                <a:extLst>
                  <a:ext uri="{0D108BD9-81ED-4DB2-BD59-A6C34878D82A}">
                    <a16:rowId xmlns:a16="http://schemas.microsoft.com/office/drawing/2014/main" val="10001"/>
                  </a:ext>
                </a:extLst>
              </a:tr>
              <a:tr h="403860">
                <a:tc>
                  <a:txBody>
                    <a:bodyPr/>
                    <a:lstStyle/>
                    <a:p>
                      <a:pPr algn="l" rtl="0" eaLnBrk="0">
                        <a:lnSpc>
                          <a:spcPct val="100000"/>
                        </a:lnSpc>
                      </a:pPr>
                      <a:endParaRPr lang="en-US" altLang="en-US" sz="1000" dirty="0"/>
                    </a:p>
                  </a:txBody>
                  <a:tcPr marL="0" marR="0" marT="0" marB="0">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9E8"/>
                    </a:solidFill>
                  </a:tcPr>
                </a:tc>
                <a:extLst>
                  <a:ext uri="{0D108BD9-81ED-4DB2-BD59-A6C34878D82A}">
                    <a16:rowId xmlns:a16="http://schemas.microsoft.com/office/drawing/2014/main" val="10002"/>
                  </a:ext>
                </a:extLst>
              </a:tr>
            </a:tbl>
          </a:graphicData>
        </a:graphic>
      </p:graphicFrame>
      <p:sp>
        <p:nvSpPr>
          <p:cNvPr id="9156" name="rect"/>
          <p:cNvSpPr/>
          <p:nvPr/>
        </p:nvSpPr>
        <p:spPr>
          <a:xfrm>
            <a:off x="8973023" y="4280916"/>
            <a:ext cx="474343" cy="377189"/>
          </a:xfrm>
          <a:prstGeom prst="rect">
            <a:avLst/>
          </a:prstGeom>
          <a:solidFill>
            <a:srgbClr val="FBE9E8">
              <a:alpha val="100000"/>
            </a:srgbClr>
          </a:solidFill>
          <a:ln cap="flat">
            <a:noFill/>
            <a:prstDash val="solid"/>
            <a:miter lim="0"/>
          </a:ln>
        </p:spPr>
        <p:txBody>
          <a:bodyPr rtlCol="0"/>
          <a:lstStyle/>
          <a:p>
            <a:pPr algn="ctr"/>
            <a:endParaRPr lang="zh-CN" altLang="en-US"/>
          </a:p>
        </p:txBody>
      </p:sp>
      <p:pic>
        <p:nvPicPr>
          <p:cNvPr id="9158" name="picture 9158"/>
          <p:cNvPicPr>
            <a:picLocks noChangeAspect="1"/>
          </p:cNvPicPr>
          <p:nvPr/>
        </p:nvPicPr>
        <p:blipFill>
          <a:blip r:embed="rId4"/>
          <a:stretch>
            <a:fillRect/>
          </a:stretch>
        </p:blipFill>
        <p:spPr>
          <a:xfrm rot="21600000">
            <a:off x="8568527" y="3098291"/>
            <a:ext cx="719328" cy="1299972"/>
          </a:xfrm>
          <a:prstGeom prst="rect">
            <a:avLst/>
          </a:prstGeom>
        </p:spPr>
      </p:pic>
      <p:sp>
        <p:nvSpPr>
          <p:cNvPr id="9160" name="rect"/>
          <p:cNvSpPr/>
          <p:nvPr/>
        </p:nvSpPr>
        <p:spPr>
          <a:xfrm>
            <a:off x="3500466" y="4280916"/>
            <a:ext cx="474345" cy="377189"/>
          </a:xfrm>
          <a:prstGeom prst="rect">
            <a:avLst/>
          </a:prstGeom>
          <a:solidFill>
            <a:srgbClr val="FBE9E8">
              <a:alpha val="100000"/>
            </a:srgbClr>
          </a:solidFill>
          <a:ln cap="flat">
            <a:noFill/>
            <a:prstDash val="solid"/>
            <a:miter lim="0"/>
          </a:ln>
        </p:spPr>
        <p:txBody>
          <a:bodyPr rtlCol="0"/>
          <a:lstStyle/>
          <a:p>
            <a:pPr algn="ctr"/>
            <a:endParaRPr lang="zh-CN" altLang="en-US"/>
          </a:p>
        </p:txBody>
      </p:sp>
      <p:pic>
        <p:nvPicPr>
          <p:cNvPr id="9162" name="picture 9162"/>
          <p:cNvPicPr>
            <a:picLocks noChangeAspect="1"/>
          </p:cNvPicPr>
          <p:nvPr/>
        </p:nvPicPr>
        <p:blipFill>
          <a:blip r:embed="rId5"/>
          <a:stretch>
            <a:fillRect/>
          </a:stretch>
        </p:blipFill>
        <p:spPr>
          <a:xfrm rot="21600000">
            <a:off x="3097367" y="3098291"/>
            <a:ext cx="719327" cy="1299972"/>
          </a:xfrm>
          <a:prstGeom prst="rect">
            <a:avLst/>
          </a:prstGeom>
        </p:spPr>
      </p:pic>
      <p:sp>
        <p:nvSpPr>
          <p:cNvPr id="9164" name="rect"/>
          <p:cNvSpPr/>
          <p:nvPr/>
        </p:nvSpPr>
        <p:spPr>
          <a:xfrm>
            <a:off x="4602699" y="2053716"/>
            <a:ext cx="499745" cy="377191"/>
          </a:xfrm>
          <a:prstGeom prst="rect">
            <a:avLst/>
          </a:prstGeom>
          <a:solidFill>
            <a:srgbClr val="FBECEB">
              <a:alpha val="100000"/>
            </a:srgbClr>
          </a:solidFill>
          <a:ln cap="flat">
            <a:noFill/>
            <a:prstDash val="solid"/>
            <a:miter lim="0"/>
          </a:ln>
        </p:spPr>
        <p:txBody>
          <a:bodyPr rtlCol="0"/>
          <a:lstStyle/>
          <a:p>
            <a:pPr algn="ctr"/>
            <a:endParaRPr lang="zh-CN" altLang="en-US"/>
          </a:p>
        </p:txBody>
      </p:sp>
      <p:grpSp>
        <p:nvGrpSpPr>
          <p:cNvPr id="578" name="group 578"/>
          <p:cNvGrpSpPr/>
          <p:nvPr/>
        </p:nvGrpSpPr>
        <p:grpSpPr>
          <a:xfrm rot="21600000">
            <a:off x="10075383" y="2053716"/>
            <a:ext cx="499743" cy="377191"/>
            <a:chOff x="0" y="0"/>
            <a:chExt cx="499743" cy="377190"/>
          </a:xfrm>
        </p:grpSpPr>
        <p:sp>
          <p:nvSpPr>
            <p:cNvPr id="9166" name="path"/>
            <p:cNvSpPr/>
            <p:nvPr/>
          </p:nvSpPr>
          <p:spPr>
            <a:xfrm>
              <a:off x="6350" y="0"/>
              <a:ext cx="487019" cy="370840"/>
            </a:xfrm>
            <a:custGeom>
              <a:avLst/>
              <a:gdLst/>
              <a:ahLst/>
              <a:cxnLst/>
              <a:rect l="0" t="0" r="0" b="0"/>
              <a:pathLst>
                <a:path w="766" h="584">
                  <a:moveTo>
                    <a:pt x="0" y="584"/>
                  </a:moveTo>
                  <a:lnTo>
                    <a:pt x="766" y="584"/>
                  </a:lnTo>
                  <a:lnTo>
                    <a:pt x="766" y="0"/>
                  </a:lnTo>
                  <a:lnTo>
                    <a:pt x="0" y="0"/>
                  </a:lnTo>
                  <a:lnTo>
                    <a:pt x="0" y="584"/>
                  </a:lnTo>
                  <a:close/>
                </a:path>
              </a:pathLst>
            </a:custGeom>
            <a:solidFill>
              <a:srgbClr val="FBE9E8">
                <a:alpha val="100000"/>
              </a:srgbClr>
            </a:solidFill>
            <a:ln cap="flat">
              <a:noFill/>
              <a:prstDash val="solid"/>
              <a:miter lim="0"/>
            </a:ln>
          </p:spPr>
          <p:txBody>
            <a:bodyPr rtlCol="0"/>
            <a:lstStyle/>
            <a:p>
              <a:pPr algn="ctr"/>
              <a:endParaRPr lang="zh-CN" altLang="en-US"/>
            </a:p>
          </p:txBody>
        </p:sp>
        <p:sp>
          <p:nvSpPr>
            <p:cNvPr id="9168" name="path"/>
            <p:cNvSpPr/>
            <p:nvPr/>
          </p:nvSpPr>
          <p:spPr>
            <a:xfrm>
              <a:off x="0" y="0"/>
              <a:ext cx="499743" cy="377190"/>
            </a:xfrm>
            <a:custGeom>
              <a:avLst/>
              <a:gdLst/>
              <a:ahLst/>
              <a:cxnLst/>
              <a:rect l="0" t="0" r="0" b="0"/>
              <a:pathLst>
                <a:path w="786" h="594">
                  <a:moveTo>
                    <a:pt x="10" y="0"/>
                  </a:moveTo>
                  <a:lnTo>
                    <a:pt x="10" y="594"/>
                  </a:lnTo>
                  <a:moveTo>
                    <a:pt x="776" y="0"/>
                  </a:moveTo>
                  <a:lnTo>
                    <a:pt x="776" y="594"/>
                  </a:lnTo>
                  <a:moveTo>
                    <a:pt x="0" y="584"/>
                  </a:moveTo>
                  <a:lnTo>
                    <a:pt x="786" y="584"/>
                  </a:lnTo>
                </a:path>
              </a:pathLst>
            </a:custGeom>
            <a:noFill/>
            <a:ln w="12700" cap="flat">
              <a:solidFill>
                <a:srgbClr val="FFFFFF">
                  <a:alpha val="100000"/>
                </a:srgbClr>
              </a:solidFill>
              <a:prstDash val="solid"/>
              <a:round/>
            </a:ln>
          </p:spPr>
          <p:txBody>
            <a:bodyPr rtlCol="0"/>
            <a:lstStyle/>
            <a:p>
              <a:pPr algn="ctr"/>
              <a:endParaRPr lang="zh-CN" altLang="en-US"/>
            </a:p>
          </p:txBody>
        </p:sp>
      </p:grpSp>
      <p:sp>
        <p:nvSpPr>
          <p:cNvPr id="9170" name="rect"/>
          <p:cNvSpPr/>
          <p:nvPr/>
        </p:nvSpPr>
        <p:spPr>
          <a:xfrm>
            <a:off x="6216742" y="2861309"/>
            <a:ext cx="483489" cy="370840"/>
          </a:xfrm>
          <a:prstGeom prst="rect">
            <a:avLst/>
          </a:prstGeom>
          <a:solidFill>
            <a:srgbClr val="FBE9E8">
              <a:alpha val="100000"/>
            </a:srgbClr>
          </a:solidFill>
          <a:ln cap="flat">
            <a:noFill/>
            <a:prstDash val="solid"/>
            <a:miter lim="0"/>
          </a:ln>
        </p:spPr>
        <p:txBody>
          <a:bodyPr rtlCol="0"/>
          <a:lstStyle/>
          <a:p>
            <a:pPr algn="ctr"/>
            <a:endParaRPr lang="zh-CN" altLang="en-US"/>
          </a:p>
        </p:txBody>
      </p:sp>
      <p:sp>
        <p:nvSpPr>
          <p:cNvPr id="9172" name="rect"/>
          <p:cNvSpPr/>
          <p:nvPr/>
        </p:nvSpPr>
        <p:spPr>
          <a:xfrm>
            <a:off x="744147" y="2861309"/>
            <a:ext cx="483439" cy="370840"/>
          </a:xfrm>
          <a:prstGeom prst="rect">
            <a:avLst/>
          </a:prstGeom>
          <a:solidFill>
            <a:srgbClr val="FBE9E8">
              <a:alpha val="100000"/>
            </a:srgbClr>
          </a:solidFill>
          <a:ln cap="flat">
            <a:noFill/>
            <a:prstDash val="solid"/>
            <a:miter lim="0"/>
          </a:ln>
        </p:spPr>
        <p:txBody>
          <a:bodyPr rtlCol="0"/>
          <a:lstStyle/>
          <a:p>
            <a:pPr algn="ctr"/>
            <a:endParaRPr lang="zh-CN" altLang="en-US"/>
          </a:p>
        </p:txBody>
      </p:sp>
      <p:pic>
        <p:nvPicPr>
          <p:cNvPr id="9174" name="picture 9174"/>
          <p:cNvPicPr>
            <a:picLocks noChangeAspect="1"/>
          </p:cNvPicPr>
          <p:nvPr/>
        </p:nvPicPr>
        <p:blipFill>
          <a:blip r:embed="rId6"/>
          <a:stretch>
            <a:fillRect/>
          </a:stretch>
        </p:blipFill>
        <p:spPr>
          <a:xfrm rot="21600000">
            <a:off x="10229435" y="2325624"/>
            <a:ext cx="186181" cy="763523"/>
          </a:xfrm>
          <a:prstGeom prst="rect">
            <a:avLst/>
          </a:prstGeom>
        </p:spPr>
      </p:pic>
      <p:pic>
        <p:nvPicPr>
          <p:cNvPr id="9176" name="picture 9176"/>
          <p:cNvPicPr>
            <a:picLocks noChangeAspect="1"/>
          </p:cNvPicPr>
          <p:nvPr/>
        </p:nvPicPr>
        <p:blipFill>
          <a:blip r:embed="rId7"/>
          <a:stretch>
            <a:fillRect/>
          </a:stretch>
        </p:blipFill>
        <p:spPr>
          <a:xfrm rot="21600000">
            <a:off x="4758274" y="2325624"/>
            <a:ext cx="183135" cy="763523"/>
          </a:xfrm>
          <a:prstGeom prst="rect">
            <a:avLst/>
          </a:prstGeom>
        </p:spPr>
      </p:pic>
      <p:sp>
        <p:nvSpPr>
          <p:cNvPr id="9178" name="textbox 9178"/>
          <p:cNvSpPr/>
          <p:nvPr/>
        </p:nvSpPr>
        <p:spPr>
          <a:xfrm>
            <a:off x="6240928" y="2629099"/>
            <a:ext cx="446405" cy="281940"/>
          </a:xfrm>
          <a:prstGeom prst="rect">
            <a:avLst/>
          </a:prstGeom>
        </p:spPr>
        <p:txBody>
          <a:bodyPr vert="horz" wrap="square" lIns="0" tIns="0" rIns="0" bIns="0"/>
          <a:lstStyle/>
          <a:p>
            <a:pPr algn="l" rtl="0" eaLnBrk="0">
              <a:lnSpc>
                <a:spcPct val="83000"/>
              </a:lnSpc>
            </a:pPr>
            <a:endParaRPr lang="en-US" altLang="en-US" sz="135" dirty="0"/>
          </a:p>
          <a:p>
            <a:pPr algn="r" rtl="0" eaLnBrk="0">
              <a:lnSpc>
                <a:spcPts val="2020"/>
              </a:lnSpc>
            </a:pPr>
            <a:r>
              <a:rPr sz="15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head</a:t>
            </a:r>
            <a:endParaRPr lang="en-US" altLang="en-US" sz="1500" dirty="0"/>
          </a:p>
        </p:txBody>
      </p:sp>
      <p:sp>
        <p:nvSpPr>
          <p:cNvPr id="9180" name="textbox 9180"/>
          <p:cNvSpPr/>
          <p:nvPr/>
        </p:nvSpPr>
        <p:spPr>
          <a:xfrm>
            <a:off x="767075" y="2629099"/>
            <a:ext cx="446405" cy="281940"/>
          </a:xfrm>
          <a:prstGeom prst="rect">
            <a:avLst/>
          </a:prstGeom>
        </p:spPr>
        <p:txBody>
          <a:bodyPr vert="horz" wrap="square" lIns="0" tIns="0" rIns="0" bIns="0"/>
          <a:lstStyle/>
          <a:p>
            <a:pPr algn="l" rtl="0" eaLnBrk="0">
              <a:lnSpc>
                <a:spcPct val="83000"/>
              </a:lnSpc>
            </a:pPr>
            <a:endParaRPr lang="en-US" altLang="en-US" sz="135" dirty="0"/>
          </a:p>
          <a:p>
            <a:pPr algn="r" rtl="0" eaLnBrk="0">
              <a:lnSpc>
                <a:spcPts val="2020"/>
              </a:lnSpc>
            </a:pPr>
            <a:r>
              <a:rPr sz="15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head</a:t>
            </a:r>
            <a:endParaRPr lang="en-US" altLang="en-US" sz="1500" dirty="0"/>
          </a:p>
        </p:txBody>
      </p:sp>
      <p:sp>
        <p:nvSpPr>
          <p:cNvPr id="9182" name="textbox 9182"/>
          <p:cNvSpPr/>
          <p:nvPr/>
        </p:nvSpPr>
        <p:spPr>
          <a:xfrm>
            <a:off x="7234802" y="2939711"/>
            <a:ext cx="545465" cy="213359"/>
          </a:xfrm>
          <a:prstGeom prst="rect">
            <a:avLst/>
          </a:prstGeom>
        </p:spPr>
        <p:txBody>
          <a:bodyPr vert="horz" wrap="square" lIns="0" tIns="0" rIns="0" bIns="0"/>
          <a:lstStyle/>
          <a:p>
            <a:pPr algn="l" rtl="0" eaLnBrk="0">
              <a:lnSpc>
                <a:spcPct val="85000"/>
              </a:lnSpc>
            </a:pPr>
            <a:endParaRPr lang="en-US" altLang="en-US" sz="135" dirty="0"/>
          </a:p>
          <a:p>
            <a:pPr algn="r" rtl="0" eaLnBrk="0">
              <a:lnSpc>
                <a:spcPct val="82000"/>
              </a:lnSpc>
            </a:pPr>
            <a:r>
              <a:rPr sz="1500"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rPr>
              <a:t>10101</a:t>
            </a:r>
            <a:endParaRPr lang="en-US" altLang="en-US" sz="1500" dirty="0"/>
          </a:p>
        </p:txBody>
      </p:sp>
      <p:sp>
        <p:nvSpPr>
          <p:cNvPr id="9184" name="textbox 9184"/>
          <p:cNvSpPr/>
          <p:nvPr/>
        </p:nvSpPr>
        <p:spPr>
          <a:xfrm>
            <a:off x="1760847" y="2939711"/>
            <a:ext cx="544831" cy="213359"/>
          </a:xfrm>
          <a:prstGeom prst="rect">
            <a:avLst/>
          </a:prstGeom>
        </p:spPr>
        <p:txBody>
          <a:bodyPr vert="horz" wrap="square" lIns="0" tIns="0" rIns="0" bIns="0"/>
          <a:lstStyle/>
          <a:p>
            <a:pPr algn="l" rtl="0" eaLnBrk="0">
              <a:lnSpc>
                <a:spcPct val="85000"/>
              </a:lnSpc>
            </a:pPr>
            <a:endParaRPr lang="en-US" altLang="en-US" sz="135" dirty="0"/>
          </a:p>
          <a:p>
            <a:pPr algn="r" rtl="0" eaLnBrk="0">
              <a:lnSpc>
                <a:spcPct val="82000"/>
              </a:lnSpc>
            </a:pPr>
            <a:r>
              <a:rPr sz="1500"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rPr>
              <a:t>10101</a:t>
            </a:r>
            <a:endParaRPr lang="en-US" altLang="en-US" sz="1500" dirty="0"/>
          </a:p>
        </p:txBody>
      </p:sp>
      <p:sp>
        <p:nvSpPr>
          <p:cNvPr id="9186" name="textbox 9186"/>
          <p:cNvSpPr/>
          <p:nvPr/>
        </p:nvSpPr>
        <p:spPr>
          <a:xfrm>
            <a:off x="7315088" y="3337475"/>
            <a:ext cx="381635" cy="213359"/>
          </a:xfrm>
          <a:prstGeom prst="rect">
            <a:avLst/>
          </a:prstGeom>
        </p:spPr>
        <p:txBody>
          <a:bodyPr vert="horz" wrap="square" lIns="0" tIns="0" rIns="0" bIns="0"/>
          <a:lstStyle/>
          <a:p>
            <a:pPr algn="l" rtl="0" eaLnBrk="0">
              <a:lnSpc>
                <a:spcPct val="84000"/>
              </a:lnSpc>
            </a:pPr>
            <a:endParaRPr lang="en-US" altLang="en-US" sz="135" dirty="0"/>
          </a:p>
          <a:p>
            <a:pPr algn="r" rtl="0" eaLnBrk="0">
              <a:lnSpc>
                <a:spcPct val="82000"/>
              </a:lnSpc>
            </a:pPr>
            <a:r>
              <a:rPr sz="15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89.5</a:t>
            </a:r>
            <a:endParaRPr lang="en-US" altLang="en-US" sz="1500" dirty="0"/>
          </a:p>
        </p:txBody>
      </p:sp>
      <p:sp>
        <p:nvSpPr>
          <p:cNvPr id="9188" name="textbox 9188"/>
          <p:cNvSpPr/>
          <p:nvPr/>
        </p:nvSpPr>
        <p:spPr>
          <a:xfrm>
            <a:off x="1840880" y="3337475"/>
            <a:ext cx="381635" cy="213359"/>
          </a:xfrm>
          <a:prstGeom prst="rect">
            <a:avLst/>
          </a:prstGeom>
        </p:spPr>
        <p:txBody>
          <a:bodyPr vert="horz" wrap="square" lIns="0" tIns="0" rIns="0" bIns="0"/>
          <a:lstStyle/>
          <a:p>
            <a:pPr algn="l" rtl="0" eaLnBrk="0">
              <a:lnSpc>
                <a:spcPct val="84000"/>
              </a:lnSpc>
            </a:pPr>
            <a:endParaRPr lang="en-US" altLang="en-US" sz="135" dirty="0"/>
          </a:p>
          <a:p>
            <a:pPr algn="r" rtl="0" eaLnBrk="0">
              <a:lnSpc>
                <a:spcPct val="82000"/>
              </a:lnSpc>
            </a:pPr>
            <a:r>
              <a:rPr sz="15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89.5</a:t>
            </a:r>
            <a:endParaRPr lang="en-US" altLang="en-US" sz="1500" dirty="0"/>
          </a:p>
        </p:txBody>
      </p:sp>
      <p:pic>
        <p:nvPicPr>
          <p:cNvPr id="9190" name="picture 9190"/>
          <p:cNvPicPr>
            <a:picLocks noChangeAspect="1"/>
          </p:cNvPicPr>
          <p:nvPr/>
        </p:nvPicPr>
        <p:blipFill>
          <a:blip r:embed="rId8"/>
          <a:stretch>
            <a:fillRect/>
          </a:stretch>
        </p:blipFill>
        <p:spPr>
          <a:xfrm rot="21600000">
            <a:off x="1107023" y="2897124"/>
            <a:ext cx="516891" cy="76200"/>
          </a:xfrm>
          <a:prstGeom prst="rect">
            <a:avLst/>
          </a:prstGeom>
        </p:spPr>
      </p:pic>
      <p:pic>
        <p:nvPicPr>
          <p:cNvPr id="9192" name="picture 9192"/>
          <p:cNvPicPr>
            <a:picLocks noChangeAspect="1"/>
          </p:cNvPicPr>
          <p:nvPr/>
        </p:nvPicPr>
        <p:blipFill>
          <a:blip r:embed="rId9"/>
          <a:stretch>
            <a:fillRect/>
          </a:stretch>
        </p:blipFill>
        <p:spPr>
          <a:xfrm rot="21600000">
            <a:off x="6578184" y="2897124"/>
            <a:ext cx="516889" cy="76200"/>
          </a:xfrm>
          <a:prstGeom prst="rect">
            <a:avLst/>
          </a:prstGeom>
        </p:spPr>
      </p:pic>
      <p:sp>
        <p:nvSpPr>
          <p:cNvPr id="9194" name="textbox 9194"/>
          <p:cNvSpPr/>
          <p:nvPr/>
        </p:nvSpPr>
        <p:spPr>
          <a:xfrm>
            <a:off x="8663651" y="4369911"/>
            <a:ext cx="233679" cy="206375"/>
          </a:xfrm>
          <a:prstGeom prst="rect">
            <a:avLst/>
          </a:prstGeom>
        </p:spPr>
        <p:txBody>
          <a:bodyPr vert="horz" wrap="square" lIns="0" tIns="0" rIns="0" bIns="0"/>
          <a:lstStyle/>
          <a:p>
            <a:pPr algn="l" rtl="0" eaLnBrk="0">
              <a:lnSpc>
                <a:spcPct val="78000"/>
              </a:lnSpc>
            </a:pPr>
            <a:endParaRPr lang="en-US" altLang="en-US" sz="135" dirty="0"/>
          </a:p>
          <a:p>
            <a:pPr algn="r" rtl="0" eaLnBrk="0">
              <a:lnSpc>
                <a:spcPct val="85000"/>
              </a:lnSpc>
            </a:pPr>
            <a:r>
              <a:rPr sz="1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p2</a:t>
            </a:r>
            <a:endParaRPr lang="en-US" altLang="en-US" sz="1400" dirty="0"/>
          </a:p>
        </p:txBody>
      </p:sp>
      <p:sp>
        <p:nvSpPr>
          <p:cNvPr id="9196" name="textbox 9196"/>
          <p:cNvSpPr/>
          <p:nvPr/>
        </p:nvSpPr>
        <p:spPr>
          <a:xfrm>
            <a:off x="3189698" y="4369911"/>
            <a:ext cx="233679" cy="206375"/>
          </a:xfrm>
          <a:prstGeom prst="rect">
            <a:avLst/>
          </a:prstGeom>
        </p:spPr>
        <p:txBody>
          <a:bodyPr vert="horz" wrap="square" lIns="0" tIns="0" rIns="0" bIns="0"/>
          <a:lstStyle/>
          <a:p>
            <a:pPr algn="l" rtl="0" eaLnBrk="0">
              <a:lnSpc>
                <a:spcPct val="78000"/>
              </a:lnSpc>
            </a:pPr>
            <a:endParaRPr lang="en-US" altLang="en-US" sz="135" dirty="0"/>
          </a:p>
          <a:p>
            <a:pPr algn="r" rtl="0" eaLnBrk="0">
              <a:lnSpc>
                <a:spcPct val="85000"/>
              </a:lnSpc>
            </a:pPr>
            <a:r>
              <a:rPr sz="1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p2</a:t>
            </a:r>
            <a:endParaRPr lang="en-US" altLang="en-US" sz="1400" dirty="0"/>
          </a:p>
        </p:txBody>
      </p:sp>
      <p:sp>
        <p:nvSpPr>
          <p:cNvPr id="9198" name="textbox 9198"/>
          <p:cNvSpPr/>
          <p:nvPr/>
        </p:nvSpPr>
        <p:spPr>
          <a:xfrm>
            <a:off x="4744788" y="1808785"/>
            <a:ext cx="233679" cy="203835"/>
          </a:xfrm>
          <a:prstGeom prst="rect">
            <a:avLst/>
          </a:prstGeom>
        </p:spPr>
        <p:txBody>
          <a:bodyPr vert="horz" wrap="square" lIns="0" tIns="0" rIns="0" bIns="0"/>
          <a:lstStyle/>
          <a:p>
            <a:pPr algn="l" rtl="0" eaLnBrk="0">
              <a:lnSpc>
                <a:spcPct val="77000"/>
              </a:lnSpc>
            </a:pPr>
            <a:endParaRPr lang="en-US" altLang="en-US" sz="135" dirty="0"/>
          </a:p>
          <a:p>
            <a:pPr algn="r" rtl="0" eaLnBrk="0">
              <a:lnSpc>
                <a:spcPct val="84000"/>
              </a:lnSpc>
            </a:pPr>
            <a:r>
              <a:rPr sz="1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p1</a:t>
            </a:r>
            <a:endParaRPr lang="en-US" altLang="en-US" sz="1400" dirty="0"/>
          </a:p>
        </p:txBody>
      </p:sp>
      <p:sp>
        <p:nvSpPr>
          <p:cNvPr id="9200" name="textbox 9200"/>
          <p:cNvSpPr/>
          <p:nvPr/>
        </p:nvSpPr>
        <p:spPr>
          <a:xfrm>
            <a:off x="10218996" y="1808785"/>
            <a:ext cx="233679" cy="203835"/>
          </a:xfrm>
          <a:prstGeom prst="rect">
            <a:avLst/>
          </a:prstGeom>
        </p:spPr>
        <p:txBody>
          <a:bodyPr vert="horz" wrap="square" lIns="0" tIns="0" rIns="0" bIns="0"/>
          <a:lstStyle/>
          <a:p>
            <a:pPr algn="l" rtl="0" eaLnBrk="0">
              <a:lnSpc>
                <a:spcPct val="77000"/>
              </a:lnSpc>
            </a:pPr>
            <a:endParaRPr lang="en-US" altLang="en-US" sz="135" dirty="0"/>
          </a:p>
          <a:p>
            <a:pPr algn="r" rtl="0" eaLnBrk="0">
              <a:lnSpc>
                <a:spcPct val="84000"/>
              </a:lnSpc>
            </a:pPr>
            <a:r>
              <a:rPr sz="1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p1</a:t>
            </a:r>
            <a:endParaRPr lang="en-US" altLang="en-US" sz="1400" dirty="0"/>
          </a:p>
        </p:txBody>
      </p:sp>
      <p:sp>
        <p:nvSpPr>
          <p:cNvPr id="9202" name="textbox 9202"/>
          <p:cNvSpPr/>
          <p:nvPr/>
        </p:nvSpPr>
        <p:spPr>
          <a:xfrm>
            <a:off x="8506552" y="3337475"/>
            <a:ext cx="229871" cy="213359"/>
          </a:xfrm>
          <a:prstGeom prst="rect">
            <a:avLst/>
          </a:prstGeom>
        </p:spPr>
        <p:txBody>
          <a:bodyPr vert="horz" wrap="square" lIns="0" tIns="0" rIns="0" bIns="0"/>
          <a:lstStyle/>
          <a:p>
            <a:pPr algn="l" rtl="0" eaLnBrk="0">
              <a:lnSpc>
                <a:spcPct val="85000"/>
              </a:lnSpc>
            </a:pPr>
            <a:endParaRPr lang="en-US" altLang="en-US" sz="135" dirty="0"/>
          </a:p>
          <a:p>
            <a:pPr algn="r" rtl="0" eaLnBrk="0">
              <a:lnSpc>
                <a:spcPct val="82000"/>
              </a:lnSpc>
            </a:pPr>
            <a:r>
              <a:rPr sz="1500" kern="0" spc="-110" dirty="0">
                <a:solidFill>
                  <a:srgbClr val="000000">
                    <a:alpha val="100000"/>
                  </a:srgbClr>
                </a:solidFill>
                <a:latin typeface="微软雅黑" panose="020B0503020204020204" charset="-122"/>
                <a:ea typeface="微软雅黑" panose="020B0503020204020204" charset="-122"/>
                <a:cs typeface="微软雅黑" panose="020B0503020204020204" charset="-122"/>
              </a:rPr>
              <a:t>9</a:t>
            </a:r>
            <a:r>
              <a:rPr sz="1500"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rPr>
              <a:t>0</a:t>
            </a:r>
            <a:endParaRPr lang="en-US" altLang="en-US" sz="1500" dirty="0"/>
          </a:p>
        </p:txBody>
      </p:sp>
      <p:sp>
        <p:nvSpPr>
          <p:cNvPr id="9204" name="textbox 9204"/>
          <p:cNvSpPr/>
          <p:nvPr/>
        </p:nvSpPr>
        <p:spPr>
          <a:xfrm>
            <a:off x="3032599" y="3337475"/>
            <a:ext cx="229871" cy="213359"/>
          </a:xfrm>
          <a:prstGeom prst="rect">
            <a:avLst/>
          </a:prstGeom>
        </p:spPr>
        <p:txBody>
          <a:bodyPr vert="horz" wrap="square" lIns="0" tIns="0" rIns="0" bIns="0"/>
          <a:lstStyle/>
          <a:p>
            <a:pPr algn="l" rtl="0" eaLnBrk="0">
              <a:lnSpc>
                <a:spcPct val="85000"/>
              </a:lnSpc>
            </a:pPr>
            <a:endParaRPr lang="en-US" altLang="en-US" sz="135" dirty="0"/>
          </a:p>
          <a:p>
            <a:pPr algn="r" rtl="0" eaLnBrk="0">
              <a:lnSpc>
                <a:spcPct val="82000"/>
              </a:lnSpc>
            </a:pPr>
            <a:r>
              <a:rPr sz="1500" kern="0" spc="-110" dirty="0">
                <a:solidFill>
                  <a:srgbClr val="000000">
                    <a:alpha val="100000"/>
                  </a:srgbClr>
                </a:solidFill>
                <a:latin typeface="微软雅黑" panose="020B0503020204020204" charset="-122"/>
                <a:ea typeface="微软雅黑" panose="020B0503020204020204" charset="-122"/>
                <a:cs typeface="微软雅黑" panose="020B0503020204020204" charset="-122"/>
              </a:rPr>
              <a:t>9</a:t>
            </a:r>
            <a:r>
              <a:rPr sz="1500"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rPr>
              <a:t>0</a:t>
            </a:r>
            <a:endParaRPr lang="en-US" altLang="en-US" sz="15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 name="textbox 9216"/>
          <p:cNvSpPr/>
          <p:nvPr/>
        </p:nvSpPr>
        <p:spPr>
          <a:xfrm>
            <a:off x="717886" y="583125"/>
            <a:ext cx="10497184" cy="512444"/>
          </a:xfrm>
          <a:prstGeom prst="rect">
            <a:avLst/>
          </a:prstGeom>
        </p:spPr>
        <p:txBody>
          <a:bodyPr vert="horz" wrap="square" lIns="0" tIns="0" rIns="0" bIns="0"/>
          <a:lstStyle/>
          <a:p>
            <a:pPr algn="l" rtl="0" eaLnBrk="0">
              <a:lnSpc>
                <a:spcPct val="83000"/>
              </a:lnSpc>
            </a:pPr>
            <a:endParaRPr lang="en-US" altLang="en-US" sz="135" dirty="0"/>
          </a:p>
          <a:p>
            <a:pPr algn="r" rtl="0" eaLnBrk="0">
              <a:lnSpc>
                <a:spcPts val="3830"/>
              </a:lnSpc>
            </a:pPr>
            <a:r>
              <a:rPr sz="31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rPr>
              <a:t>建立简单的动态链表</a:t>
            </a:r>
            <a:r>
              <a:rPr sz="1900" kern="0" spc="60" dirty="0">
                <a:solidFill>
                  <a:srgbClr val="782367">
                    <a:alpha val="100000"/>
                  </a:srgbClr>
                </a:solidFill>
                <a:latin typeface="微软雅黑" panose="020B0503020204020204" charset="-122"/>
                <a:ea typeface="微软雅黑" panose="020B0503020204020204" charset="-122"/>
                <a:cs typeface="微软雅黑" panose="020B0503020204020204" charset="-122"/>
              </a:rPr>
              <a:t>【例</a:t>
            </a:r>
            <a:r>
              <a:rPr lang="en-US" sz="1900" kern="0" spc="60" dirty="0">
                <a:solidFill>
                  <a:srgbClr val="782367">
                    <a:alpha val="100000"/>
                  </a:srgbClr>
                </a:solidFill>
                <a:latin typeface="微软雅黑" panose="020B0503020204020204" charset="-122"/>
                <a:ea typeface="微软雅黑" panose="020B0503020204020204" charset="-122"/>
                <a:cs typeface="微软雅黑" panose="020B0503020204020204" charset="-122"/>
              </a:rPr>
              <a:t>7</a:t>
            </a:r>
            <a:r>
              <a:rPr sz="1900" kern="0" spc="60" dirty="0">
                <a:solidFill>
                  <a:srgbClr val="782367">
                    <a:alpha val="100000"/>
                  </a:srgbClr>
                </a:solidFill>
                <a:latin typeface="微软雅黑" panose="020B0503020204020204" charset="-122"/>
                <a:ea typeface="微软雅黑" panose="020B0503020204020204" charset="-122"/>
                <a:cs typeface="微软雅黑" panose="020B0503020204020204" charset="-122"/>
              </a:rPr>
              <a:t>.9】写一函数建立一个有3名学生数据的单向动态链</a:t>
            </a:r>
            <a:r>
              <a:rPr sz="1900" kern="0" spc="50" dirty="0">
                <a:solidFill>
                  <a:srgbClr val="782367">
                    <a:alpha val="100000"/>
                  </a:srgbClr>
                </a:solidFill>
                <a:latin typeface="微软雅黑" panose="020B0503020204020204" charset="-122"/>
                <a:ea typeface="微软雅黑" panose="020B0503020204020204" charset="-122"/>
                <a:cs typeface="微软雅黑" panose="020B0503020204020204" charset="-122"/>
              </a:rPr>
              <a:t>表。</a:t>
            </a:r>
            <a:endParaRPr lang="en-US" altLang="en-US" sz="1900" kern="0" spc="50" dirty="0">
              <a:solidFill>
                <a:srgbClr val="782367">
                  <a:alpha val="100000"/>
                </a:srgbClr>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1"/>
            </p:custDataLst>
          </p:nvPr>
        </p:nvSpPr>
        <p:spPr>
          <a:xfrm>
            <a:off x="3440430" y="1268730"/>
            <a:ext cx="5052060" cy="5594350"/>
          </a:xfrm>
          <a:prstGeom prst="rect">
            <a:avLst/>
          </a:prstGeom>
          <a:solidFill>
            <a:schemeClr val="bg1"/>
          </a:solidFill>
          <a:ln>
            <a:solidFill>
              <a:srgbClr val="782367"/>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116840" algn="l" rtl="0" eaLnBrk="0">
              <a:lnSpc>
                <a:spcPct val="93000"/>
              </a:lnSpc>
              <a:spcBef>
                <a:spcPts val="0"/>
              </a:spcBef>
            </a:pPr>
            <a:endPar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endParaRPr>
          </a:p>
          <a:p>
            <a:pPr marL="116840" algn="l" rtl="0" eaLnBrk="0">
              <a:lnSpc>
                <a:spcPct val="93000"/>
              </a:lnSpc>
              <a:spcBef>
                <a:spcPts val="0"/>
              </a:spcBef>
            </a:pPr>
            <a:endPar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endParaRPr>
          </a:p>
          <a:p>
            <a:pPr marL="116840" algn="l" rtl="0" eaLnBrk="0">
              <a:lnSpc>
                <a:spcPct val="93000"/>
              </a:lnSpc>
              <a:spcBef>
                <a:spcPts val="0"/>
              </a:spcBef>
            </a:pPr>
            <a:endPar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endParaRPr>
          </a:p>
          <a:p>
            <a:pPr marL="116840" algn="l" rtl="0" eaLnBrk="0">
              <a:lnSpc>
                <a:spcPct val="93000"/>
              </a:lnSpc>
              <a:spcBef>
                <a:spcPts val="0"/>
              </a:spcBef>
            </a:pP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#include</a:t>
            </a:r>
            <a:r>
              <a:rPr sz="1400" kern="0" spc="18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&lt;stdio.h&gt;</a:t>
            </a:r>
            <a:endParaRPr lang="en-US" altLang="en-US" sz="1400" dirty="0"/>
          </a:p>
          <a:p>
            <a:pPr marL="116840" algn="l" rtl="0" eaLnBrk="0">
              <a:lnSpc>
                <a:spcPts val="2020"/>
              </a:lnSpc>
            </a:pP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#include</a:t>
            </a:r>
            <a:r>
              <a:rPr sz="1400" kern="0" spc="18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&lt;stdlib.h</a:t>
            </a:r>
            <a:r>
              <a:rPr sz="1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&gt;</a:t>
            </a:r>
            <a:endParaRPr lang="en-US" altLang="en-US" sz="1400" dirty="0"/>
          </a:p>
          <a:p>
            <a:pPr marL="116840" algn="l" rtl="0" eaLnBrk="0">
              <a:lnSpc>
                <a:spcPct val="93000"/>
              </a:lnSpc>
              <a:spcBef>
                <a:spcPts val="565"/>
              </a:spcBef>
            </a:pPr>
            <a:r>
              <a:rPr sz="14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#define</a:t>
            </a:r>
            <a:r>
              <a:rPr sz="1400" kern="0" spc="1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LEN s</a:t>
            </a: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izeof(struct</a:t>
            </a:r>
            <a:r>
              <a:rPr sz="1400" kern="0" spc="1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Student)</a:t>
            </a:r>
            <a:endParaRPr lang="en-US" altLang="en-US" sz="1400" dirty="0"/>
          </a:p>
          <a:p>
            <a:pPr marL="115570" algn="l" rtl="0" eaLnBrk="0">
              <a:lnSpc>
                <a:spcPts val="2015"/>
              </a:lnSpc>
            </a:pP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struct</a:t>
            </a:r>
            <a:r>
              <a:rPr sz="14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Stude</a:t>
            </a:r>
            <a:r>
              <a:rPr sz="1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nt</a:t>
            </a:r>
          </a:p>
          <a:p>
            <a:pPr marL="113665" algn="l" rtl="0" eaLnBrk="0">
              <a:lnSpc>
                <a:spcPct val="92000"/>
              </a:lnSpc>
              <a:spcBef>
                <a:spcPts val="0"/>
              </a:spcBef>
            </a:pP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lon</a:t>
            </a:r>
            <a:r>
              <a:rPr sz="1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g</a:t>
            </a:r>
            <a:r>
              <a:rPr sz="1400" kern="0" spc="1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num;</a:t>
            </a:r>
            <a:endParaRPr lang="en-US" altLang="en-US" sz="1400" dirty="0"/>
          </a:p>
          <a:p>
            <a:pPr marL="479425" algn="l" rtl="0" eaLnBrk="0">
              <a:lnSpc>
                <a:spcPts val="2015"/>
              </a:lnSpc>
              <a:spcBef>
                <a:spcPts val="20"/>
              </a:spcBef>
            </a:pP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float</a:t>
            </a:r>
            <a:r>
              <a:rPr sz="1400" kern="0" spc="1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score;</a:t>
            </a:r>
            <a:endParaRPr lang="en-US" altLang="en-US" sz="1400" dirty="0"/>
          </a:p>
          <a:p>
            <a:pPr marL="478155" algn="l" rtl="0" eaLnBrk="0">
              <a:lnSpc>
                <a:spcPct val="93000"/>
              </a:lnSpc>
              <a:spcBef>
                <a:spcPts val="565"/>
              </a:spcBef>
            </a:pP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struct</a:t>
            </a:r>
            <a:r>
              <a:rPr sz="1400" kern="0" spc="1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Student*next;</a:t>
            </a:r>
            <a:endParaRPr lang="en-US" altLang="en-US" sz="1400" dirty="0"/>
          </a:p>
          <a:p>
            <a:pPr marL="113665" algn="l" rtl="0" eaLnBrk="0">
              <a:lnSpc>
                <a:spcPts val="2015"/>
              </a:lnSpc>
            </a:pPr>
            <a:r>
              <a:rPr sz="14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endParaRPr lang="en-US" altLang="en-US" sz="1400" dirty="0"/>
          </a:p>
          <a:p>
            <a:pPr marL="127000" algn="l" rtl="0" eaLnBrk="0">
              <a:lnSpc>
                <a:spcPts val="1575"/>
              </a:lnSpc>
              <a:spcBef>
                <a:spcPts val="565"/>
              </a:spcBef>
            </a:pPr>
            <a:r>
              <a:rPr sz="1400" kern="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int</a:t>
            </a:r>
            <a:r>
              <a:rPr sz="1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n</a:t>
            </a:r>
            <a:r>
              <a:rPr sz="1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5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//n为全局变量，本文件模块中各函数均</a:t>
            </a:r>
            <a:r>
              <a:rPr sz="1400" kern="0" spc="4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可使用它</a:t>
            </a:r>
            <a:endParaRPr lang="en-US" altLang="en-US" sz="1400" dirty="0"/>
          </a:p>
          <a:p>
            <a:pPr marL="115570" algn="l" rtl="0" eaLnBrk="0">
              <a:lnSpc>
                <a:spcPct val="99000"/>
              </a:lnSpc>
              <a:spcBef>
                <a:spcPts val="440"/>
              </a:spcBef>
            </a:pPr>
            <a:r>
              <a:rPr sz="1400" kern="0" spc="-40" dirty="0">
                <a:solidFill>
                  <a:srgbClr val="B22600">
                    <a:alpha val="100000"/>
                  </a:srgbClr>
                </a:solidFill>
                <a:latin typeface="微软雅黑" panose="020B0503020204020204" charset="-122"/>
                <a:ea typeface="微软雅黑" panose="020B0503020204020204" charset="-122"/>
                <a:cs typeface="微软雅黑" panose="020B0503020204020204" charset="-122"/>
                <a:sym typeface="+mn-ea"/>
              </a:rPr>
              <a:t>struct</a:t>
            </a:r>
            <a:r>
              <a:rPr sz="1400" kern="0" spc="140" dirty="0">
                <a:solidFill>
                  <a:srgbClr val="B226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40" dirty="0">
                <a:solidFill>
                  <a:srgbClr val="B22600">
                    <a:alpha val="100000"/>
                  </a:srgbClr>
                </a:solidFill>
                <a:latin typeface="微软雅黑" panose="020B0503020204020204" charset="-122"/>
                <a:ea typeface="微软雅黑" panose="020B0503020204020204" charset="-122"/>
                <a:cs typeface="微软雅黑" panose="020B0503020204020204" charset="-122"/>
                <a:sym typeface="+mn-ea"/>
              </a:rPr>
              <a:t>Student</a:t>
            </a:r>
            <a:r>
              <a:rPr sz="1400" kern="0" spc="100" dirty="0">
                <a:solidFill>
                  <a:srgbClr val="B226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40" dirty="0">
                <a:solidFill>
                  <a:srgbClr val="B22600">
                    <a:alpha val="100000"/>
                  </a:srgbClr>
                </a:solidFill>
                <a:latin typeface="微软雅黑" panose="020B0503020204020204" charset="-122"/>
                <a:ea typeface="微软雅黑" panose="020B0503020204020204" charset="-122"/>
                <a:cs typeface="微软雅黑" panose="020B0503020204020204" charset="-122"/>
                <a:sym typeface="+mn-ea"/>
              </a:rPr>
              <a:t>*creat(void)</a:t>
            </a:r>
            <a:endParaRPr lang="en-US" altLang="en-US" sz="1400" dirty="0"/>
          </a:p>
          <a:p>
            <a:pPr marL="113030" algn="l" rtl="0" eaLnBrk="0">
              <a:lnSpc>
                <a:spcPts val="1575"/>
              </a:lnSpc>
              <a:spcBef>
                <a:spcPts val="475"/>
              </a:spcBef>
            </a:pPr>
            <a:r>
              <a:rPr sz="1400" kern="0" spc="8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//定义函数。此函数返回一个指向链表头的指针</a:t>
            </a:r>
            <a:endParaRPr lang="en-US" altLang="en-US" sz="1400" dirty="0"/>
          </a:p>
          <a:p>
            <a:pPr marL="113665" algn="l" rtl="0" eaLnBrk="0">
              <a:lnSpc>
                <a:spcPct val="93000"/>
              </a:lnSpc>
              <a:spcBef>
                <a:spcPts val="440"/>
              </a:spcBef>
            </a:pP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r>
              <a:rPr sz="14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struct</a:t>
            </a:r>
            <a:r>
              <a:rPr sz="1400"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Student</a:t>
            </a:r>
            <a:r>
              <a:rPr sz="1400" kern="0" spc="10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*head;</a:t>
            </a:r>
            <a:endParaRPr lang="en-US" altLang="en-US" sz="1400" dirty="0"/>
          </a:p>
          <a:p>
            <a:pPr marL="478155" algn="l" rtl="0" eaLnBrk="0">
              <a:lnSpc>
                <a:spcPts val="2015"/>
              </a:lnSpc>
            </a:pP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struct</a:t>
            </a:r>
            <a:r>
              <a:rPr sz="1400" kern="0" spc="17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Student</a:t>
            </a:r>
            <a:r>
              <a:rPr sz="1400" kern="0" spc="10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*p1,*p2;</a:t>
            </a:r>
            <a:endParaRPr lang="en-US" altLang="en-US" sz="1400" dirty="0"/>
          </a:p>
          <a:p>
            <a:pPr marL="488950" algn="l" rtl="0" eaLnBrk="0">
              <a:lnSpc>
                <a:spcPts val="1905"/>
              </a:lnSpc>
            </a:pPr>
            <a:r>
              <a:rPr sz="14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n=0;</a:t>
            </a:r>
            <a:endParaRPr lang="en-US" altLang="en-US" sz="1400" dirty="0"/>
          </a:p>
          <a:p>
            <a:pPr marL="488950" algn="l" rtl="0" eaLnBrk="0">
              <a:lnSpc>
                <a:spcPct val="92000"/>
              </a:lnSpc>
              <a:spcBef>
                <a:spcPts val="685"/>
              </a:spcBef>
            </a:pPr>
            <a:r>
              <a:rPr sz="1400" kern="0" spc="-10" dirty="0">
                <a:solidFill>
                  <a:srgbClr val="B22600">
                    <a:alpha val="100000"/>
                  </a:srgbClr>
                </a:solidFill>
                <a:latin typeface="微软雅黑" panose="020B0503020204020204" charset="-122"/>
                <a:ea typeface="微软雅黑" panose="020B0503020204020204" charset="-122"/>
                <a:cs typeface="微软雅黑" panose="020B0503020204020204" charset="-122"/>
                <a:sym typeface="+mn-ea"/>
              </a:rPr>
              <a:t>p1=p2=(struct</a:t>
            </a:r>
            <a:r>
              <a:rPr sz="1400" kern="0" spc="110" dirty="0">
                <a:solidFill>
                  <a:srgbClr val="B226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10" dirty="0">
                <a:solidFill>
                  <a:srgbClr val="B22600">
                    <a:alpha val="100000"/>
                  </a:srgbClr>
                </a:solidFill>
                <a:latin typeface="微软雅黑" panose="020B0503020204020204" charset="-122"/>
                <a:ea typeface="微软雅黑" panose="020B0503020204020204" charset="-122"/>
                <a:cs typeface="微软雅黑" panose="020B0503020204020204" charset="-122"/>
                <a:sym typeface="+mn-ea"/>
              </a:rPr>
              <a:t>Student</a:t>
            </a:r>
            <a:r>
              <a:rPr sz="1400" kern="0" spc="-20" dirty="0">
                <a:solidFill>
                  <a:srgbClr val="B22600">
                    <a:alpha val="100000"/>
                  </a:srgbClr>
                </a:solidFill>
                <a:latin typeface="微软雅黑" panose="020B0503020204020204" charset="-122"/>
                <a:ea typeface="微软雅黑" panose="020B0503020204020204" charset="-122"/>
                <a:cs typeface="微软雅黑" panose="020B0503020204020204" charset="-122"/>
                <a:sym typeface="+mn-ea"/>
              </a:rPr>
              <a:t>*)</a:t>
            </a:r>
            <a:r>
              <a:rPr sz="1400" kern="0" spc="180" dirty="0">
                <a:solidFill>
                  <a:srgbClr val="B226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20" dirty="0">
                <a:solidFill>
                  <a:srgbClr val="B22600">
                    <a:alpha val="100000"/>
                  </a:srgbClr>
                </a:solidFill>
                <a:latin typeface="微软雅黑" panose="020B0503020204020204" charset="-122"/>
                <a:ea typeface="微软雅黑" panose="020B0503020204020204" charset="-122"/>
                <a:cs typeface="微软雅黑" panose="020B0503020204020204" charset="-122"/>
                <a:sym typeface="+mn-ea"/>
              </a:rPr>
              <a:t>malloc(LEN);  </a:t>
            </a:r>
            <a:r>
              <a:rPr sz="1400" kern="0" spc="-2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//开辟一个新单元</a:t>
            </a:r>
            <a:endParaRPr lang="en-US" altLang="en-US" sz="1400" dirty="0"/>
          </a:p>
          <a:p>
            <a:pPr marL="478155" algn="l" rtl="0" eaLnBrk="0">
              <a:lnSpc>
                <a:spcPct val="92000"/>
              </a:lnSpc>
              <a:spcBef>
                <a:spcPts val="580"/>
              </a:spcBef>
            </a:pPr>
            <a:r>
              <a:rPr sz="1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scanf("%ld</a:t>
            </a:r>
            <a:r>
              <a:rPr sz="14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,%f",&amp;p1</a:t>
            </a:r>
            <a:r>
              <a:rPr sz="1400" kern="0" spc="-2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-&gt;num,&amp;p1</a:t>
            </a:r>
            <a:r>
              <a:rPr sz="1400" kern="0" spc="-2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-&gt;score);</a:t>
            </a:r>
            <a:r>
              <a:rPr sz="1400" kern="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endParaRPr lang="en-US" altLang="en-US" sz="1400" dirty="0"/>
          </a:p>
          <a:p>
            <a:pPr marL="475615" algn="l" rtl="0" eaLnBrk="0">
              <a:lnSpc>
                <a:spcPts val="1580"/>
              </a:lnSpc>
              <a:spcBef>
                <a:spcPts val="575"/>
              </a:spcBef>
            </a:pPr>
            <a:r>
              <a:rPr sz="1400" kern="0" spc="4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//输入第1个学生的学号和成绩         </a:t>
            </a:r>
            <a:r>
              <a:rPr sz="1400" kern="0" spc="3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                              </a:t>
            </a:r>
            <a:endParaRPr lang="en-US" altLang="en-US" sz="1400" dirty="0"/>
          </a:p>
          <a:p>
            <a:pPr marL="489585" algn="l" rtl="0" eaLnBrk="0">
              <a:lnSpc>
                <a:spcPts val="1580"/>
              </a:lnSpc>
              <a:spcBef>
                <a:spcPts val="440"/>
              </a:spcBef>
            </a:pPr>
            <a:r>
              <a:rPr sz="1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head=NULL;</a:t>
            </a:r>
            <a:endParaRPr lang="en-US" altLang="en-US" sz="1400" dirty="0"/>
          </a:p>
          <a:p>
            <a:pPr algn="l" rtl="0" eaLnBrk="0">
              <a:lnSpc>
                <a:spcPct val="121000"/>
              </a:lnSpc>
            </a:pPr>
            <a:endParaRPr lang="en-US" altLang="en-US" sz="1400" dirty="0"/>
          </a:p>
          <a:p>
            <a:pPr marL="477520" algn="l" rtl="0" eaLnBrk="0">
              <a:lnSpc>
                <a:spcPct val="92000"/>
              </a:lnSpc>
              <a:spcBef>
                <a:spcPts val="5"/>
              </a:spcBef>
            </a:pPr>
            <a:r>
              <a:rPr sz="14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while(p1</a:t>
            </a:r>
            <a:r>
              <a:rPr sz="1400" kern="0" spc="-2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-&gt;num</a:t>
            </a: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!=0)</a:t>
            </a:r>
            <a:endParaRPr lang="en-US" altLang="en-US" sz="1400" dirty="0"/>
          </a:p>
          <a:p>
            <a:pPr marL="115570" algn="l" rtl="0" eaLnBrk="0">
              <a:lnSpc>
                <a:spcPts val="2015"/>
              </a:lnSpc>
            </a:pPr>
            <a:endParaRPr lang="en-US" altLang="en-US" dirty="0"/>
          </a:p>
          <a:p>
            <a:pPr algn="ctr"/>
            <a:endParaRPr lang="zh-CN" alt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 name="textbox 9216"/>
          <p:cNvSpPr/>
          <p:nvPr/>
        </p:nvSpPr>
        <p:spPr>
          <a:xfrm>
            <a:off x="717886" y="583125"/>
            <a:ext cx="10497184" cy="512444"/>
          </a:xfrm>
          <a:prstGeom prst="rect">
            <a:avLst/>
          </a:prstGeom>
        </p:spPr>
        <p:txBody>
          <a:bodyPr vert="horz" wrap="square" lIns="0" tIns="0" rIns="0" bIns="0"/>
          <a:lstStyle/>
          <a:p>
            <a:pPr algn="l" rtl="0" eaLnBrk="0">
              <a:lnSpc>
                <a:spcPct val="83000"/>
              </a:lnSpc>
            </a:pPr>
            <a:endParaRPr lang="en-US" altLang="en-US" sz="135" dirty="0"/>
          </a:p>
          <a:p>
            <a:pPr algn="r" rtl="0" eaLnBrk="0">
              <a:lnSpc>
                <a:spcPts val="3830"/>
              </a:lnSpc>
            </a:pPr>
            <a:r>
              <a:rPr sz="31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rPr>
              <a:t>建立简单的动态链表</a:t>
            </a:r>
            <a:r>
              <a:rPr sz="1900" kern="0" spc="60" dirty="0">
                <a:solidFill>
                  <a:srgbClr val="782367">
                    <a:alpha val="100000"/>
                  </a:srgbClr>
                </a:solidFill>
                <a:latin typeface="微软雅黑" panose="020B0503020204020204" charset="-122"/>
                <a:ea typeface="微软雅黑" panose="020B0503020204020204" charset="-122"/>
                <a:cs typeface="微软雅黑" panose="020B0503020204020204" charset="-122"/>
              </a:rPr>
              <a:t>【例</a:t>
            </a:r>
            <a:r>
              <a:rPr lang="en-US" sz="1900" kern="0" spc="60" dirty="0">
                <a:solidFill>
                  <a:srgbClr val="782367">
                    <a:alpha val="100000"/>
                  </a:srgbClr>
                </a:solidFill>
                <a:latin typeface="微软雅黑" panose="020B0503020204020204" charset="-122"/>
                <a:ea typeface="微软雅黑" panose="020B0503020204020204" charset="-122"/>
                <a:cs typeface="微软雅黑" panose="020B0503020204020204" charset="-122"/>
              </a:rPr>
              <a:t>7</a:t>
            </a:r>
            <a:r>
              <a:rPr sz="1900" kern="0" spc="60" dirty="0">
                <a:solidFill>
                  <a:srgbClr val="782367">
                    <a:alpha val="100000"/>
                  </a:srgbClr>
                </a:solidFill>
                <a:latin typeface="微软雅黑" panose="020B0503020204020204" charset="-122"/>
                <a:ea typeface="微软雅黑" panose="020B0503020204020204" charset="-122"/>
                <a:cs typeface="微软雅黑" panose="020B0503020204020204" charset="-122"/>
              </a:rPr>
              <a:t>.9】写一函数建立一个有3名学生数据的单向动态链</a:t>
            </a:r>
            <a:r>
              <a:rPr sz="1900" kern="0" spc="50" dirty="0">
                <a:solidFill>
                  <a:srgbClr val="782367">
                    <a:alpha val="100000"/>
                  </a:srgbClr>
                </a:solidFill>
                <a:latin typeface="微软雅黑" panose="020B0503020204020204" charset="-122"/>
                <a:ea typeface="微软雅黑" panose="020B0503020204020204" charset="-122"/>
                <a:cs typeface="微软雅黑" panose="020B0503020204020204" charset="-122"/>
              </a:rPr>
              <a:t>表。</a:t>
            </a:r>
            <a:endParaRPr lang="en-US" altLang="en-US" sz="1900" kern="0" spc="50" dirty="0">
              <a:solidFill>
                <a:srgbClr val="782367">
                  <a:alpha val="100000"/>
                </a:srgbClr>
              </a:solidFill>
              <a:latin typeface="微软雅黑" panose="020B0503020204020204" charset="-122"/>
              <a:ea typeface="微软雅黑" panose="020B0503020204020204" charset="-122"/>
              <a:cs typeface="微软雅黑" panose="020B0503020204020204" charset="-122"/>
            </a:endParaRPr>
          </a:p>
        </p:txBody>
      </p:sp>
      <p:sp>
        <p:nvSpPr>
          <p:cNvPr id="3" name="矩形 2"/>
          <p:cNvSpPr/>
          <p:nvPr>
            <p:custDataLst>
              <p:tags r:id="rId1"/>
            </p:custDataLst>
          </p:nvPr>
        </p:nvSpPr>
        <p:spPr>
          <a:xfrm>
            <a:off x="3658235" y="1239520"/>
            <a:ext cx="5216525" cy="5618480"/>
          </a:xfrm>
          <a:prstGeom prst="rect">
            <a:avLst/>
          </a:prstGeom>
          <a:solidFill>
            <a:schemeClr val="bg1"/>
          </a:solidFill>
          <a:ln>
            <a:solidFill>
              <a:srgbClr val="782367"/>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170180" algn="l" rtl="0" eaLnBrk="0">
              <a:lnSpc>
                <a:spcPct val="80000"/>
              </a:lnSpc>
            </a:pPr>
            <a:endParaRPr lang="en-US" sz="1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endParaRPr>
          </a:p>
          <a:p>
            <a:pPr marL="170180" algn="l" rtl="0" eaLnBrk="0">
              <a:lnSpc>
                <a:spcPct val="80000"/>
              </a:lnSpc>
            </a:pPr>
            <a:endParaRPr lang="en-US" sz="1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endParaRPr>
          </a:p>
          <a:p>
            <a:pPr marL="170180" algn="l" rtl="0" eaLnBrk="0">
              <a:lnSpc>
                <a:spcPct val="80000"/>
              </a:lnSpc>
            </a:pPr>
            <a:endParaRPr lang="en-US" sz="1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endParaRPr>
          </a:p>
          <a:p>
            <a:pPr marL="170180" algn="l" rtl="0" eaLnBrk="0">
              <a:lnSpc>
                <a:spcPct val="80000"/>
              </a:lnSpc>
            </a:pPr>
            <a:r>
              <a:rPr lang="en-US" sz="1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r>
              <a:rPr sz="1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n=n+1;</a:t>
            </a:r>
            <a:endParaRPr lang="en-US" altLang="en-US" sz="1400" dirty="0"/>
          </a:p>
          <a:p>
            <a:pPr marL="170815" algn="l" rtl="0" eaLnBrk="0">
              <a:lnSpc>
                <a:spcPct val="92000"/>
              </a:lnSpc>
              <a:spcBef>
                <a:spcPts val="555"/>
              </a:spcBef>
            </a:pPr>
            <a:r>
              <a:rPr sz="1400" kern="0" spc="-50" dirty="0">
                <a:solidFill>
                  <a:srgbClr val="B22600">
                    <a:alpha val="100000"/>
                  </a:srgbClr>
                </a:solidFill>
                <a:latin typeface="微软雅黑" panose="020B0503020204020204" charset="-122"/>
                <a:ea typeface="微软雅黑" panose="020B0503020204020204" charset="-122"/>
                <a:cs typeface="微软雅黑" panose="020B0503020204020204" charset="-122"/>
                <a:sym typeface="+mn-ea"/>
              </a:rPr>
              <a:t>if(n==1)</a:t>
            </a:r>
            <a:r>
              <a:rPr sz="1400" kern="0" spc="210" dirty="0">
                <a:solidFill>
                  <a:srgbClr val="B226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50" dirty="0">
                <a:solidFill>
                  <a:srgbClr val="B22600">
                    <a:alpha val="100000"/>
                  </a:srgbClr>
                </a:solidFill>
                <a:latin typeface="微软雅黑" panose="020B0503020204020204" charset="-122"/>
                <a:ea typeface="微软雅黑" panose="020B0503020204020204" charset="-122"/>
                <a:cs typeface="微软雅黑" panose="020B0503020204020204" charset="-122"/>
                <a:sym typeface="+mn-ea"/>
              </a:rPr>
              <a:t>head=p1;</a:t>
            </a:r>
            <a:endParaRPr lang="en-US" altLang="en-US" sz="1400" dirty="0"/>
          </a:p>
          <a:p>
            <a:pPr marL="165735" algn="l" rtl="0" eaLnBrk="0">
              <a:lnSpc>
                <a:spcPts val="2015"/>
              </a:lnSpc>
              <a:spcBef>
                <a:spcPts val="10"/>
              </a:spcBef>
            </a:pPr>
            <a:r>
              <a:rPr sz="1400" kern="0" spc="-40" dirty="0">
                <a:solidFill>
                  <a:srgbClr val="B22600">
                    <a:alpha val="100000"/>
                  </a:srgbClr>
                </a:solidFill>
                <a:latin typeface="微软雅黑" panose="020B0503020204020204" charset="-122"/>
                <a:ea typeface="微软雅黑" panose="020B0503020204020204" charset="-122"/>
                <a:cs typeface="微软雅黑" panose="020B0503020204020204" charset="-122"/>
                <a:sym typeface="+mn-ea"/>
              </a:rPr>
              <a:t>else</a:t>
            </a:r>
            <a:r>
              <a:rPr sz="1400" kern="0" spc="130" dirty="0">
                <a:solidFill>
                  <a:srgbClr val="B226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40" dirty="0">
                <a:solidFill>
                  <a:srgbClr val="B22600">
                    <a:alpha val="100000"/>
                  </a:srgbClr>
                </a:solidFill>
                <a:latin typeface="微软雅黑" panose="020B0503020204020204" charset="-122"/>
                <a:ea typeface="微软雅黑" panose="020B0503020204020204" charset="-122"/>
                <a:cs typeface="微软雅黑" panose="020B0503020204020204" charset="-122"/>
                <a:sym typeface="+mn-ea"/>
              </a:rPr>
              <a:t>p2</a:t>
            </a:r>
            <a:r>
              <a:rPr sz="1400" kern="0" spc="-220" dirty="0">
                <a:solidFill>
                  <a:srgbClr val="B226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40" dirty="0">
                <a:solidFill>
                  <a:srgbClr val="B22600">
                    <a:alpha val="100000"/>
                  </a:srgbClr>
                </a:solidFill>
                <a:latin typeface="微软雅黑" panose="020B0503020204020204" charset="-122"/>
                <a:ea typeface="微软雅黑" panose="020B0503020204020204" charset="-122"/>
                <a:cs typeface="微软雅黑" panose="020B0503020204020204" charset="-122"/>
                <a:sym typeface="+mn-ea"/>
              </a:rPr>
              <a:t>-&gt;next=p1</a:t>
            </a:r>
            <a:r>
              <a:rPr sz="1400" kern="0" spc="-50" dirty="0">
                <a:solidFill>
                  <a:srgbClr val="B22600">
                    <a:alpha val="100000"/>
                  </a:srgbClr>
                </a:solidFill>
                <a:latin typeface="微软雅黑" panose="020B0503020204020204" charset="-122"/>
                <a:ea typeface="微软雅黑" panose="020B0503020204020204" charset="-122"/>
                <a:cs typeface="微软雅黑" panose="020B0503020204020204" charset="-122"/>
                <a:sym typeface="+mn-ea"/>
              </a:rPr>
              <a:t>;</a:t>
            </a:r>
            <a:endParaRPr lang="en-US" altLang="en-US" sz="1400" dirty="0"/>
          </a:p>
          <a:p>
            <a:pPr marL="170180" algn="l" rtl="0" eaLnBrk="0">
              <a:lnSpc>
                <a:spcPts val="2015"/>
              </a:lnSpc>
            </a:pPr>
            <a:r>
              <a:rPr sz="1400" kern="0" spc="-50" dirty="0">
                <a:solidFill>
                  <a:srgbClr val="B22600">
                    <a:alpha val="100000"/>
                  </a:srgbClr>
                </a:solidFill>
                <a:latin typeface="微软雅黑" panose="020B0503020204020204" charset="-122"/>
                <a:ea typeface="微软雅黑" panose="020B0503020204020204" charset="-122"/>
                <a:cs typeface="微软雅黑" panose="020B0503020204020204" charset="-122"/>
                <a:sym typeface="+mn-ea"/>
              </a:rPr>
              <a:t>p2=p1;</a:t>
            </a:r>
            <a:endParaRPr lang="en-US" altLang="en-US" sz="1400" dirty="0"/>
          </a:p>
          <a:p>
            <a:pPr marL="170180" algn="l" rtl="0" eaLnBrk="0">
              <a:lnSpc>
                <a:spcPct val="92000"/>
              </a:lnSpc>
              <a:spcBef>
                <a:spcPts val="570"/>
              </a:spcBef>
            </a:pPr>
            <a:r>
              <a:rPr sz="1400" kern="0" spc="-40" dirty="0">
                <a:solidFill>
                  <a:srgbClr val="B22600">
                    <a:alpha val="100000"/>
                  </a:srgbClr>
                </a:solidFill>
                <a:latin typeface="微软雅黑" panose="020B0503020204020204" charset="-122"/>
                <a:ea typeface="微软雅黑" panose="020B0503020204020204" charset="-122"/>
                <a:cs typeface="微软雅黑" panose="020B0503020204020204" charset="-122"/>
                <a:sym typeface="+mn-ea"/>
              </a:rPr>
              <a:t>p1=(struct</a:t>
            </a:r>
            <a:r>
              <a:rPr sz="1400" kern="0" spc="190" dirty="0">
                <a:solidFill>
                  <a:srgbClr val="B226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40" dirty="0">
                <a:solidFill>
                  <a:srgbClr val="B22600">
                    <a:alpha val="100000"/>
                  </a:srgbClr>
                </a:solidFill>
                <a:latin typeface="微软雅黑" panose="020B0503020204020204" charset="-122"/>
                <a:ea typeface="微软雅黑" panose="020B0503020204020204" charset="-122"/>
                <a:cs typeface="微软雅黑" panose="020B0503020204020204" charset="-122"/>
                <a:sym typeface="+mn-ea"/>
              </a:rPr>
              <a:t>Student*)malloc(LEN);</a:t>
            </a:r>
            <a:endParaRPr lang="en-US" altLang="en-US" sz="1400" dirty="0"/>
          </a:p>
          <a:p>
            <a:pPr marL="157480" algn="l" rtl="0" eaLnBrk="0">
              <a:lnSpc>
                <a:spcPct val="92000"/>
              </a:lnSpc>
              <a:spcBef>
                <a:spcPts val="580"/>
              </a:spcBef>
            </a:pPr>
            <a:r>
              <a:rPr sz="1400" kern="0" spc="7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//开辟动态存储区，把起始地</a:t>
            </a:r>
            <a:r>
              <a:rPr sz="1400" kern="0" spc="6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址赋给p1</a:t>
            </a:r>
            <a:endParaRPr lang="en-US" altLang="en-US" sz="1400" dirty="0"/>
          </a:p>
          <a:p>
            <a:pPr marL="160020" algn="l" rtl="0" eaLnBrk="0">
              <a:lnSpc>
                <a:spcPct val="92000"/>
              </a:lnSpc>
              <a:spcBef>
                <a:spcPts val="580"/>
              </a:spcBef>
            </a:pPr>
            <a:r>
              <a:rPr sz="1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scanf("%ld</a:t>
            </a:r>
            <a:r>
              <a:rPr sz="14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,%f",&amp;p1</a:t>
            </a:r>
            <a:r>
              <a:rPr sz="1400" kern="0" spc="-2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-&gt;num,&amp;p1</a:t>
            </a:r>
            <a:r>
              <a:rPr sz="1400" kern="0" spc="-2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-&gt;score);</a:t>
            </a:r>
            <a:endParaRPr lang="en-US" altLang="en-US" sz="1400" dirty="0"/>
          </a:p>
          <a:p>
            <a:pPr algn="l" rtl="0" eaLnBrk="0">
              <a:lnSpc>
                <a:spcPct val="120000"/>
              </a:lnSpc>
            </a:pPr>
            <a:endParaRPr lang="en-US" altLang="en-US" sz="1400" dirty="0"/>
          </a:p>
          <a:p>
            <a:pPr marL="157480" algn="l" rtl="0" eaLnBrk="0">
              <a:lnSpc>
                <a:spcPts val="1580"/>
              </a:lnSpc>
              <a:spcBef>
                <a:spcPts val="0"/>
              </a:spcBef>
            </a:pPr>
            <a:r>
              <a:rPr sz="1400" kern="0" spc="7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//输入其他学生的学号和成绩</a:t>
            </a:r>
          </a:p>
          <a:p>
            <a:pPr marL="669925" algn="l" rtl="0" eaLnBrk="0">
              <a:lnSpc>
                <a:spcPct val="99000"/>
              </a:lnSpc>
            </a:pPr>
            <a:r>
              <a:rPr sz="1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endParaRPr lang="en-US" altLang="en-US" sz="1400" dirty="0"/>
          </a:p>
          <a:p>
            <a:pPr marL="681990" algn="l" rtl="0" eaLnBrk="0">
              <a:lnSpc>
                <a:spcPct val="79000"/>
              </a:lnSpc>
              <a:spcBef>
                <a:spcPts val="685"/>
              </a:spcBef>
            </a:pPr>
            <a:r>
              <a:rPr sz="1400" kern="0" spc="-40" dirty="0">
                <a:solidFill>
                  <a:srgbClr val="B22600">
                    <a:alpha val="100000"/>
                  </a:srgbClr>
                </a:solidFill>
                <a:latin typeface="微软雅黑" panose="020B0503020204020204" charset="-122"/>
                <a:ea typeface="微软雅黑" panose="020B0503020204020204" charset="-122"/>
                <a:cs typeface="微软雅黑" panose="020B0503020204020204" charset="-122"/>
                <a:sym typeface="+mn-ea"/>
              </a:rPr>
              <a:t>p2</a:t>
            </a:r>
            <a:r>
              <a:rPr sz="1400" kern="0" spc="-230" dirty="0">
                <a:solidFill>
                  <a:srgbClr val="B226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40" dirty="0">
                <a:solidFill>
                  <a:srgbClr val="B22600">
                    <a:alpha val="100000"/>
                  </a:srgbClr>
                </a:solidFill>
                <a:latin typeface="微软雅黑" panose="020B0503020204020204" charset="-122"/>
                <a:ea typeface="微软雅黑" panose="020B0503020204020204" charset="-122"/>
                <a:cs typeface="微软雅黑" panose="020B0503020204020204" charset="-122"/>
                <a:sym typeface="+mn-ea"/>
              </a:rPr>
              <a:t>-&gt;next=NULL;</a:t>
            </a:r>
            <a:endParaRPr lang="en-US" altLang="en-US" sz="1400" dirty="0"/>
          </a:p>
          <a:p>
            <a:pPr marL="682625" algn="l" rtl="0" eaLnBrk="0">
              <a:lnSpc>
                <a:spcPts val="2015"/>
              </a:lnSpc>
              <a:spcBef>
                <a:spcPts val="10"/>
              </a:spcBef>
            </a:pPr>
            <a:r>
              <a:rPr sz="1400" kern="0" spc="-40" dirty="0">
                <a:solidFill>
                  <a:srgbClr val="B22600">
                    <a:alpha val="100000"/>
                  </a:srgbClr>
                </a:solidFill>
                <a:latin typeface="微软雅黑" panose="020B0503020204020204" charset="-122"/>
                <a:ea typeface="微软雅黑" panose="020B0503020204020204" charset="-122"/>
                <a:cs typeface="微软雅黑" panose="020B0503020204020204" charset="-122"/>
                <a:sym typeface="+mn-ea"/>
              </a:rPr>
              <a:t>return(head);</a:t>
            </a:r>
            <a:endParaRPr lang="en-US" altLang="en-US" sz="1400" dirty="0"/>
          </a:p>
          <a:p>
            <a:pPr marL="306705" algn="l" rtl="0" eaLnBrk="0">
              <a:lnSpc>
                <a:spcPct val="99000"/>
              </a:lnSpc>
              <a:spcBef>
                <a:spcPts val="560"/>
              </a:spcBef>
            </a:pPr>
            <a:r>
              <a:rPr sz="1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endParaRPr lang="en-US" altLang="en-US" sz="1400" dirty="0"/>
          </a:p>
          <a:p>
            <a:pPr marL="320040" algn="l" rtl="0" eaLnBrk="0">
              <a:lnSpc>
                <a:spcPct val="99000"/>
              </a:lnSpc>
              <a:spcBef>
                <a:spcPts val="475"/>
              </a:spcBef>
            </a:pPr>
            <a:r>
              <a:rPr sz="14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int</a:t>
            </a:r>
            <a:r>
              <a:rPr sz="1400" kern="0" spc="1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main()</a:t>
            </a:r>
            <a:endParaRPr lang="en-US" altLang="en-US" sz="1400" dirty="0"/>
          </a:p>
          <a:p>
            <a:pPr marL="306705" algn="l" rtl="0" eaLnBrk="0">
              <a:lnSpc>
                <a:spcPct val="92000"/>
              </a:lnSpc>
              <a:spcBef>
                <a:spcPts val="480"/>
              </a:spcBef>
            </a:pP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r>
              <a:rPr sz="1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40" dirty="0">
                <a:solidFill>
                  <a:srgbClr val="B22600">
                    <a:alpha val="100000"/>
                  </a:srgbClr>
                </a:solidFill>
                <a:latin typeface="微软雅黑" panose="020B0503020204020204" charset="-122"/>
                <a:ea typeface="微软雅黑" panose="020B0503020204020204" charset="-122"/>
                <a:cs typeface="微软雅黑" panose="020B0503020204020204" charset="-122"/>
                <a:sym typeface="+mn-ea"/>
              </a:rPr>
              <a:t>struct</a:t>
            </a:r>
            <a:r>
              <a:rPr sz="1400" kern="0" spc="120" dirty="0">
                <a:solidFill>
                  <a:srgbClr val="B226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40" dirty="0">
                <a:solidFill>
                  <a:srgbClr val="B22600">
                    <a:alpha val="100000"/>
                  </a:srgbClr>
                </a:solidFill>
                <a:latin typeface="微软雅黑" panose="020B0503020204020204" charset="-122"/>
                <a:ea typeface="微软雅黑" panose="020B0503020204020204" charset="-122"/>
                <a:cs typeface="微软雅黑" panose="020B0503020204020204" charset="-122"/>
                <a:sym typeface="+mn-ea"/>
              </a:rPr>
              <a:t>Student</a:t>
            </a:r>
            <a:r>
              <a:rPr sz="1400" kern="0" spc="100" dirty="0">
                <a:solidFill>
                  <a:srgbClr val="B226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40" dirty="0">
                <a:solidFill>
                  <a:srgbClr val="B22600">
                    <a:alpha val="100000"/>
                  </a:srgbClr>
                </a:solidFill>
                <a:latin typeface="微软雅黑" panose="020B0503020204020204" charset="-122"/>
                <a:ea typeface="微软雅黑" panose="020B0503020204020204" charset="-122"/>
                <a:cs typeface="微软雅黑" panose="020B0503020204020204" charset="-122"/>
                <a:sym typeface="+mn-ea"/>
              </a:rPr>
              <a:t>*p</a:t>
            </a:r>
            <a:r>
              <a:rPr sz="1400" kern="0" spc="-50" dirty="0">
                <a:solidFill>
                  <a:srgbClr val="B22600">
                    <a:alpha val="100000"/>
                  </a:srgbClr>
                </a:solidFill>
                <a:latin typeface="微软雅黑" panose="020B0503020204020204" charset="-122"/>
                <a:ea typeface="微软雅黑" panose="020B0503020204020204" charset="-122"/>
                <a:cs typeface="微软雅黑" panose="020B0503020204020204" charset="-122"/>
                <a:sym typeface="+mn-ea"/>
              </a:rPr>
              <a:t>t;</a:t>
            </a:r>
            <a:endParaRPr lang="en-US" altLang="en-US" sz="1400" dirty="0"/>
          </a:p>
          <a:p>
            <a:pPr marL="681990" algn="l" rtl="0" eaLnBrk="0">
              <a:lnSpc>
                <a:spcPct val="92000"/>
              </a:lnSpc>
              <a:spcBef>
                <a:spcPts val="585"/>
              </a:spcBef>
            </a:pPr>
            <a:r>
              <a:rPr sz="1400" kern="0" dirty="0">
                <a:solidFill>
                  <a:srgbClr val="B22600">
                    <a:alpha val="100000"/>
                  </a:srgbClr>
                </a:solidFill>
                <a:latin typeface="微软雅黑" panose="020B0503020204020204" charset="-122"/>
                <a:ea typeface="微软雅黑" panose="020B0503020204020204" charset="-122"/>
                <a:cs typeface="微软雅黑" panose="020B0503020204020204" charset="-122"/>
                <a:sym typeface="+mn-ea"/>
              </a:rPr>
              <a:t>pt</a:t>
            </a:r>
            <a:r>
              <a:rPr sz="1400" kern="0" spc="30" dirty="0">
                <a:solidFill>
                  <a:srgbClr val="B22600">
                    <a:alpha val="100000"/>
                  </a:srgbClr>
                </a:solidFill>
                <a:latin typeface="微软雅黑" panose="020B0503020204020204" charset="-122"/>
                <a:ea typeface="微软雅黑" panose="020B0503020204020204" charset="-122"/>
                <a:cs typeface="微软雅黑" panose="020B0503020204020204" charset="-122"/>
                <a:sym typeface="+mn-ea"/>
              </a:rPr>
              <a:t>=</a:t>
            </a:r>
            <a:r>
              <a:rPr sz="1400" kern="0" dirty="0">
                <a:solidFill>
                  <a:srgbClr val="B22600">
                    <a:alpha val="100000"/>
                  </a:srgbClr>
                </a:solidFill>
                <a:latin typeface="微软雅黑" panose="020B0503020204020204" charset="-122"/>
                <a:ea typeface="微软雅黑" panose="020B0503020204020204" charset="-122"/>
                <a:cs typeface="微软雅黑" panose="020B0503020204020204" charset="-122"/>
                <a:sym typeface="+mn-ea"/>
              </a:rPr>
              <a:t>creat</a:t>
            </a:r>
            <a:r>
              <a:rPr sz="1400" kern="0" spc="30" dirty="0">
                <a:solidFill>
                  <a:srgbClr val="B226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3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//函数返回链表第一个结点的地址</a:t>
            </a:r>
            <a:endParaRPr lang="en-US" altLang="en-US" sz="1400" dirty="0"/>
          </a:p>
          <a:p>
            <a:pPr marL="290830" algn="l" rtl="0" eaLnBrk="0">
              <a:lnSpc>
                <a:spcPct val="92000"/>
              </a:lnSpc>
              <a:spcBef>
                <a:spcPts val="580"/>
              </a:spcBef>
              <a:tabLst>
                <a:tab pos="786765" algn="l"/>
              </a:tabLst>
            </a:pPr>
            <a:r>
              <a:rPr sz="1400" kern="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printf("\nnum:%ld\nscore:%</a:t>
            </a:r>
            <a:r>
              <a:rPr sz="14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5.1f\n",pt-&gt;num,pt-&gt;score);</a:t>
            </a:r>
            <a:endParaRPr lang="en-US" altLang="en-US" sz="1400" dirty="0"/>
          </a:p>
          <a:p>
            <a:pPr marL="285115" algn="l" rtl="0" eaLnBrk="0">
              <a:lnSpc>
                <a:spcPts val="1580"/>
              </a:lnSpc>
              <a:spcBef>
                <a:spcPts val="575"/>
              </a:spcBef>
              <a:tabLst>
                <a:tab pos="758190" algn="l"/>
              </a:tabLst>
            </a:pPr>
            <a:r>
              <a:rPr sz="1400" kern="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1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//输出第1个结点的成员值</a:t>
            </a:r>
            <a:endParaRPr lang="en-US" altLang="en-US" sz="1400" dirty="0"/>
          </a:p>
          <a:p>
            <a:pPr marL="682625" algn="l" rtl="0" eaLnBrk="0">
              <a:lnSpc>
                <a:spcPct val="93000"/>
              </a:lnSpc>
              <a:spcBef>
                <a:spcPts val="440"/>
              </a:spcBef>
            </a:pPr>
            <a:r>
              <a:rPr sz="14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return</a:t>
            </a:r>
            <a:r>
              <a:rPr sz="1400" kern="0" spc="1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0;</a:t>
            </a:r>
            <a:endParaRPr lang="en-US" altLang="en-US" sz="1400" dirty="0"/>
          </a:p>
          <a:p>
            <a:pPr marL="306705" algn="l" rtl="0" eaLnBrk="0">
              <a:lnSpc>
                <a:spcPts val="2015"/>
              </a:lnSpc>
            </a:pPr>
            <a:r>
              <a:rPr sz="14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endParaRPr lang="en-US" altLang="en-US" sz="1400" dirty="0"/>
          </a:p>
          <a:p>
            <a:pPr marL="157480" algn="l" rtl="0" eaLnBrk="0">
              <a:lnSpc>
                <a:spcPts val="1580"/>
              </a:lnSpc>
              <a:spcBef>
                <a:spcPts val="0"/>
              </a:spcBef>
            </a:pPr>
            <a:endParaRPr lang="en-US" altLang="en-US" dirty="0"/>
          </a:p>
          <a:p>
            <a:pPr algn="ctr"/>
            <a:endParaRPr lang="zh-CN" altLang="en-US"/>
          </a:p>
        </p:txBody>
      </p:sp>
      <p:pic>
        <p:nvPicPr>
          <p:cNvPr id="5" name="图片 4"/>
          <p:cNvPicPr>
            <a:picLocks noChangeAspect="1"/>
          </p:cNvPicPr>
          <p:nvPr>
            <p:custDataLst>
              <p:tags r:id="rId2"/>
            </p:custDataLst>
          </p:nvPr>
        </p:nvPicPr>
        <p:blipFill>
          <a:blip r:embed="rId4"/>
          <a:stretch>
            <a:fillRect/>
          </a:stretch>
        </p:blipFill>
        <p:spPr>
          <a:xfrm>
            <a:off x="7792085" y="3150235"/>
            <a:ext cx="4400550" cy="179705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32" name="textbox 9232"/>
          <p:cNvSpPr/>
          <p:nvPr/>
        </p:nvSpPr>
        <p:spPr>
          <a:xfrm>
            <a:off x="718291" y="596919"/>
            <a:ext cx="6451600" cy="492125"/>
          </a:xfrm>
          <a:prstGeom prst="rect">
            <a:avLst/>
          </a:prstGeom>
        </p:spPr>
        <p:txBody>
          <a:bodyPr vert="horz" wrap="square" lIns="0" tIns="0" rIns="0" bIns="0"/>
          <a:lstStyle/>
          <a:p>
            <a:pPr algn="l" rtl="0" eaLnBrk="0">
              <a:lnSpc>
                <a:spcPct val="76000"/>
              </a:lnSpc>
            </a:pPr>
            <a:endParaRPr lang="en-US" altLang="en-US" sz="135" dirty="0"/>
          </a:p>
          <a:p>
            <a:pPr algn="r" rtl="0" eaLnBrk="0">
              <a:lnSpc>
                <a:spcPct val="99000"/>
              </a:lnSpc>
            </a:pPr>
            <a:r>
              <a:rPr sz="31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输出链表</a:t>
            </a:r>
            <a:r>
              <a:rPr sz="1900" kern="0" spc="30" dirty="0">
                <a:solidFill>
                  <a:srgbClr val="782367">
                    <a:alpha val="100000"/>
                  </a:srgbClr>
                </a:solidFill>
                <a:latin typeface="微软雅黑" panose="020B0503020204020204" charset="-122"/>
                <a:ea typeface="微软雅黑" panose="020B0503020204020204" charset="-122"/>
                <a:cs typeface="微软雅黑" panose="020B0503020204020204" charset="-122"/>
              </a:rPr>
              <a:t>【例</a:t>
            </a:r>
            <a:r>
              <a:rPr lang="en-US" sz="1900" kern="0" spc="30" dirty="0">
                <a:solidFill>
                  <a:srgbClr val="782367">
                    <a:alpha val="100000"/>
                  </a:srgbClr>
                </a:solidFill>
                <a:latin typeface="微软雅黑" panose="020B0503020204020204" charset="-122"/>
                <a:ea typeface="微软雅黑" panose="020B0503020204020204" charset="-122"/>
                <a:cs typeface="微软雅黑" panose="020B0503020204020204" charset="-122"/>
              </a:rPr>
              <a:t>7</a:t>
            </a:r>
            <a:r>
              <a:rPr sz="1900" kern="0" spc="30" dirty="0">
                <a:solidFill>
                  <a:srgbClr val="782367">
                    <a:alpha val="100000"/>
                  </a:srgbClr>
                </a:solidFill>
                <a:latin typeface="微软雅黑" panose="020B0503020204020204" charset="-122"/>
                <a:ea typeface="微软雅黑" panose="020B0503020204020204" charset="-122"/>
                <a:cs typeface="微软雅黑" panose="020B0503020204020204" charset="-122"/>
              </a:rPr>
              <a:t>.10】</a:t>
            </a:r>
            <a:r>
              <a:rPr sz="1900" kern="0" spc="20" dirty="0">
                <a:solidFill>
                  <a:srgbClr val="782367">
                    <a:alpha val="100000"/>
                  </a:srgbClr>
                </a:solidFill>
                <a:latin typeface="微软雅黑" panose="020B0503020204020204" charset="-122"/>
                <a:ea typeface="微软雅黑" panose="020B0503020204020204" charset="-122"/>
                <a:cs typeface="微软雅黑" panose="020B0503020204020204" charset="-122"/>
              </a:rPr>
              <a:t>编写一个输出链表的函数</a:t>
            </a:r>
            <a:r>
              <a:rPr sz="1900" kern="0" spc="0" dirty="0">
                <a:solidFill>
                  <a:srgbClr val="782367">
                    <a:alpha val="100000"/>
                  </a:srgbClr>
                </a:solidFill>
                <a:latin typeface="微软雅黑" panose="020B0503020204020204" charset="-122"/>
                <a:ea typeface="微软雅黑" panose="020B0503020204020204" charset="-122"/>
                <a:cs typeface="微软雅黑" panose="020B0503020204020204" charset="-122"/>
              </a:rPr>
              <a:t>print</a:t>
            </a:r>
            <a:r>
              <a:rPr sz="1900" kern="0" spc="20" dirty="0">
                <a:solidFill>
                  <a:srgbClr val="782367">
                    <a:alpha val="100000"/>
                  </a:srgbClr>
                </a:solidFill>
                <a:latin typeface="微软雅黑" panose="020B0503020204020204" charset="-122"/>
                <a:ea typeface="微软雅黑" panose="020B0503020204020204" charset="-122"/>
                <a:cs typeface="微软雅黑" panose="020B0503020204020204" charset="-122"/>
              </a:rPr>
              <a:t>。</a:t>
            </a:r>
            <a:endParaRPr lang="en-US" altLang="en-US" sz="1900" kern="0" spc="20" dirty="0">
              <a:solidFill>
                <a:srgbClr val="782367">
                  <a:alpha val="100000"/>
                </a:srgbClr>
              </a:solidFill>
              <a:latin typeface="微软雅黑" panose="020B0503020204020204" charset="-122"/>
              <a:ea typeface="微软雅黑" panose="020B0503020204020204" charset="-122"/>
              <a:cs typeface="微软雅黑" panose="020B0503020204020204" charset="-122"/>
            </a:endParaRPr>
          </a:p>
        </p:txBody>
      </p:sp>
      <p:pic>
        <p:nvPicPr>
          <p:cNvPr id="2" name="图片 1"/>
          <p:cNvPicPr>
            <a:picLocks noChangeAspect="1"/>
          </p:cNvPicPr>
          <p:nvPr>
            <p:custDataLst>
              <p:tags r:id="rId1"/>
            </p:custDataLst>
          </p:nvPr>
        </p:nvPicPr>
        <p:blipFill>
          <a:blip r:embed="rId5"/>
          <a:stretch>
            <a:fillRect/>
          </a:stretch>
        </p:blipFill>
        <p:spPr>
          <a:xfrm>
            <a:off x="8327390" y="1285875"/>
            <a:ext cx="3700098" cy="2520000"/>
          </a:xfrm>
          <a:prstGeom prst="rect">
            <a:avLst/>
          </a:prstGeom>
        </p:spPr>
      </p:pic>
      <p:sp>
        <p:nvSpPr>
          <p:cNvPr id="3" name="矩形 2"/>
          <p:cNvSpPr/>
          <p:nvPr>
            <p:custDataLst>
              <p:tags r:id="rId2"/>
            </p:custDataLst>
          </p:nvPr>
        </p:nvSpPr>
        <p:spPr>
          <a:xfrm>
            <a:off x="777875" y="1280160"/>
            <a:ext cx="7294880" cy="5594985"/>
          </a:xfrm>
          <a:prstGeom prst="rect">
            <a:avLst/>
          </a:prstGeom>
          <a:solidFill>
            <a:schemeClr val="bg1"/>
          </a:solidFill>
          <a:ln>
            <a:solidFill>
              <a:srgbClr val="782367"/>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116840" algn="l" rtl="0" eaLnBrk="0">
              <a:lnSpc>
                <a:spcPct val="93000"/>
              </a:lnSpc>
              <a:spcBef>
                <a:spcPts val="0"/>
              </a:spcBef>
            </a:pPr>
            <a:endPar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endParaRPr>
          </a:p>
          <a:p>
            <a:pPr marL="116840" algn="l" rtl="0" eaLnBrk="0">
              <a:lnSpc>
                <a:spcPct val="93000"/>
              </a:lnSpc>
              <a:spcBef>
                <a:spcPts val="0"/>
              </a:spcBef>
            </a:pP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#include</a:t>
            </a:r>
            <a:r>
              <a:rPr sz="1400" kern="0" spc="18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&lt;stdio.h&gt;</a:t>
            </a:r>
            <a:endParaRPr lang="en-US" altLang="en-US" sz="1400" dirty="0"/>
          </a:p>
          <a:p>
            <a:pPr marL="116840" algn="l" rtl="0" eaLnBrk="0">
              <a:lnSpc>
                <a:spcPts val="2020"/>
              </a:lnSpc>
            </a:pP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#include</a:t>
            </a:r>
            <a:r>
              <a:rPr sz="1400" kern="0" spc="18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&lt;stdlib.h</a:t>
            </a:r>
            <a:r>
              <a:rPr sz="1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&gt;</a:t>
            </a:r>
            <a:endParaRPr lang="en-US" altLang="en-US" sz="1400" dirty="0"/>
          </a:p>
          <a:p>
            <a:pPr marL="116840" algn="l" rtl="0" eaLnBrk="0">
              <a:lnSpc>
                <a:spcPct val="99000"/>
              </a:lnSpc>
              <a:spcBef>
                <a:spcPts val="560"/>
              </a:spcBef>
            </a:pPr>
            <a:r>
              <a:rPr sz="14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#define</a:t>
            </a:r>
            <a:r>
              <a:rPr sz="1400" kern="0" spc="1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LEN s</a:t>
            </a: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izeof(struct</a:t>
            </a:r>
            <a:r>
              <a:rPr sz="1400" kern="0" spc="1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Student)</a:t>
            </a:r>
            <a:endParaRPr lang="en-US" altLang="en-US" sz="1400" dirty="0"/>
          </a:p>
          <a:p>
            <a:pPr marL="115570" algn="l" rtl="0" eaLnBrk="0">
              <a:lnSpc>
                <a:spcPts val="1580"/>
              </a:lnSpc>
              <a:spcBef>
                <a:spcPts val="480"/>
              </a:spcBef>
            </a:pPr>
            <a:r>
              <a:rPr sz="1400" kern="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struct</a:t>
            </a:r>
            <a:r>
              <a:rPr sz="1400"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Student           </a:t>
            </a:r>
            <a:r>
              <a:rPr sz="1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1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//声明结构体类型struct</a:t>
            </a:r>
            <a:r>
              <a:rPr sz="1400" kern="0" spc="13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1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Student</a:t>
            </a:r>
            <a:endParaRPr lang="en-US" altLang="en-US" sz="1400" dirty="0"/>
          </a:p>
          <a:p>
            <a:pPr marL="113665" algn="l" rtl="0" eaLnBrk="0">
              <a:lnSpc>
                <a:spcPct val="92000"/>
              </a:lnSpc>
              <a:spcBef>
                <a:spcPts val="430"/>
              </a:spcBef>
            </a:pP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lon</a:t>
            </a:r>
            <a:r>
              <a:rPr sz="1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g</a:t>
            </a:r>
            <a:r>
              <a:rPr sz="1400" kern="0" spc="1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num;</a:t>
            </a:r>
            <a:endParaRPr lang="en-US" altLang="en-US" sz="1400" dirty="0"/>
          </a:p>
          <a:p>
            <a:pPr marL="479425" algn="l" rtl="0" eaLnBrk="0">
              <a:lnSpc>
                <a:spcPts val="2015"/>
              </a:lnSpc>
              <a:spcBef>
                <a:spcPts val="20"/>
              </a:spcBef>
            </a:pP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float</a:t>
            </a:r>
            <a:r>
              <a:rPr sz="1400" kern="0" spc="1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score;</a:t>
            </a:r>
            <a:endParaRPr lang="en-US" altLang="en-US" sz="1400" dirty="0"/>
          </a:p>
          <a:p>
            <a:pPr marL="478155" algn="l" rtl="0" eaLnBrk="0">
              <a:lnSpc>
                <a:spcPct val="93000"/>
              </a:lnSpc>
              <a:spcBef>
                <a:spcPts val="565"/>
              </a:spcBef>
            </a:pP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struct</a:t>
            </a:r>
            <a:r>
              <a:rPr sz="14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Student</a:t>
            </a:r>
            <a:r>
              <a:rPr sz="1400" kern="0" spc="10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*next;</a:t>
            </a:r>
            <a:endParaRPr lang="en-US" altLang="en-US" sz="1400" dirty="0"/>
          </a:p>
          <a:p>
            <a:pPr marL="113665" algn="l" rtl="0" eaLnBrk="0">
              <a:lnSpc>
                <a:spcPts val="2015"/>
              </a:lnSpc>
            </a:pPr>
            <a:r>
              <a:rPr sz="14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endParaRPr lang="en-US" altLang="en-US" sz="1400" dirty="0"/>
          </a:p>
          <a:p>
            <a:pPr marL="127000" algn="l" rtl="0" eaLnBrk="0">
              <a:lnSpc>
                <a:spcPts val="1585"/>
              </a:lnSpc>
              <a:spcBef>
                <a:spcPts val="565"/>
              </a:spcBef>
            </a:pPr>
            <a:r>
              <a:rPr sz="1400" kern="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int</a:t>
            </a:r>
            <a:r>
              <a:rPr sz="1400" kern="0" spc="1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n;                                            </a:t>
            </a:r>
            <a:r>
              <a:rPr sz="1400" kern="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a:t>
            </a:r>
            <a:r>
              <a:rPr sz="1400" kern="0" spc="-1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全局变量n</a:t>
            </a:r>
            <a:endParaRPr lang="en-US" altLang="en-US" sz="1400" dirty="0"/>
          </a:p>
          <a:p>
            <a:pPr marL="113030" algn="l" rtl="0" eaLnBrk="0">
              <a:lnSpc>
                <a:spcPct val="92000"/>
              </a:lnSpc>
              <a:spcBef>
                <a:spcPts val="440"/>
              </a:spcBef>
            </a:pPr>
            <a:r>
              <a:rPr sz="1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void</a:t>
            </a:r>
            <a:r>
              <a:rPr sz="1400" kern="0" spc="1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print(struct</a:t>
            </a:r>
            <a:r>
              <a:rPr sz="1400" kern="0" spc="1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Student*hea</a:t>
            </a:r>
            <a:r>
              <a:rPr sz="14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d)    </a:t>
            </a:r>
            <a:r>
              <a:rPr sz="1400" kern="0" spc="-3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//定义print函数</a:t>
            </a:r>
            <a:endParaRPr lang="en-US" altLang="en-US" sz="1400" dirty="0"/>
          </a:p>
          <a:p>
            <a:pPr marL="113665" algn="l" rtl="0" eaLnBrk="0">
              <a:lnSpc>
                <a:spcPct val="92000"/>
              </a:lnSpc>
              <a:spcBef>
                <a:spcPts val="580"/>
              </a:spcBef>
            </a:pPr>
            <a:r>
              <a:rPr sz="1400" kern="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struct Student*p;                   </a:t>
            </a:r>
            <a:r>
              <a:rPr sz="1400" kern="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//在函数中定义</a:t>
            </a:r>
            <a:r>
              <a:rPr sz="1400" kern="0" spc="-1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struct</a:t>
            </a:r>
            <a:r>
              <a:rPr sz="1400" kern="0" spc="13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1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Student类型的变量p</a:t>
            </a:r>
            <a:endParaRPr lang="en-US" altLang="en-US" sz="1400" dirty="0"/>
          </a:p>
          <a:p>
            <a:pPr marL="488950" algn="l" rtl="0" eaLnBrk="0">
              <a:lnSpc>
                <a:spcPct val="92000"/>
              </a:lnSpc>
              <a:spcBef>
                <a:spcPts val="580"/>
              </a:spcBef>
            </a:pPr>
            <a:r>
              <a:rPr sz="1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printf("\nNow,These</a:t>
            </a:r>
            <a:r>
              <a:rPr sz="1400" kern="0" spc="20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%d</a:t>
            </a:r>
            <a:r>
              <a:rPr sz="1400" kern="0" spc="10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records</a:t>
            </a:r>
            <a:r>
              <a:rPr sz="1400" kern="0" spc="1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are:\n",n);</a:t>
            </a:r>
            <a:endParaRPr lang="en-US" altLang="en-US" sz="1400" dirty="0"/>
          </a:p>
          <a:p>
            <a:pPr marL="488950" algn="l" rtl="0" eaLnBrk="0">
              <a:lnSpc>
                <a:spcPct val="92000"/>
              </a:lnSpc>
              <a:spcBef>
                <a:spcPts val="580"/>
              </a:spcBef>
            </a:pPr>
            <a:r>
              <a:rPr sz="1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p=</a:t>
            </a:r>
            <a:r>
              <a:rPr sz="1400" kern="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head</a:t>
            </a:r>
            <a:r>
              <a:rPr sz="1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1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//使p指向第</a:t>
            </a:r>
            <a:r>
              <a:rPr sz="1400" kern="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1个结点</a:t>
            </a:r>
            <a:endParaRPr lang="en-US" altLang="en-US" sz="1400" dirty="0"/>
          </a:p>
          <a:p>
            <a:pPr marL="489585" algn="l" rtl="0" eaLnBrk="0">
              <a:lnSpc>
                <a:spcPct val="99000"/>
              </a:lnSpc>
              <a:spcBef>
                <a:spcPts val="570"/>
              </a:spcBef>
            </a:pPr>
            <a:r>
              <a:rPr sz="1400" kern="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if(head!=NULL)            </a:t>
            </a:r>
            <a:r>
              <a:rPr sz="1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1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//若不是空表</a:t>
            </a:r>
            <a:endParaRPr lang="en-US" altLang="en-US" sz="1400" dirty="0"/>
          </a:p>
          <a:p>
            <a:pPr marL="849630" algn="l" rtl="0" eaLnBrk="0">
              <a:lnSpc>
                <a:spcPts val="1745"/>
              </a:lnSpc>
              <a:spcBef>
                <a:spcPts val="480"/>
              </a:spcBef>
            </a:pPr>
            <a:r>
              <a:rPr sz="1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do</a:t>
            </a:r>
            <a:endParaRPr lang="en-US" altLang="en-US" sz="1400" dirty="0"/>
          </a:p>
          <a:p>
            <a:pPr marL="842010" algn="l" rtl="0" eaLnBrk="0">
              <a:lnSpc>
                <a:spcPct val="92000"/>
              </a:lnSpc>
              <a:spcBef>
                <a:spcPts val="275"/>
              </a:spcBef>
            </a:pPr>
            <a:r>
              <a:rPr sz="1400" kern="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printf("%ld %5.1</a:t>
            </a:r>
            <a:r>
              <a:rPr sz="1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f\n",p-&gt;num,p-&gt;score);       </a:t>
            </a:r>
            <a:r>
              <a:rPr sz="1400" kern="0" spc="-1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//输出一个结点中的学号与成绩</a:t>
            </a:r>
            <a:endParaRPr lang="en-US" altLang="en-US" sz="1400" dirty="0"/>
          </a:p>
          <a:p>
            <a:pPr marL="1217295" algn="l" rtl="0" eaLnBrk="0">
              <a:lnSpc>
                <a:spcPct val="92000"/>
              </a:lnSpc>
              <a:spcBef>
                <a:spcPts val="580"/>
              </a:spcBef>
            </a:pPr>
            <a:r>
              <a:rPr sz="1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p=p-&gt;</a:t>
            </a:r>
            <a:r>
              <a:rPr sz="1400" kern="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next</a:t>
            </a:r>
            <a:r>
              <a:rPr sz="1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2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//p指向</a:t>
            </a:r>
            <a:r>
              <a:rPr sz="1400" kern="0" spc="1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下一个结点</a:t>
            </a:r>
            <a:endParaRPr lang="en-US" altLang="en-US" sz="1400" dirty="0"/>
          </a:p>
          <a:p>
            <a:pPr marL="842010" algn="l" rtl="0" eaLnBrk="0">
              <a:lnSpc>
                <a:spcPct val="92000"/>
              </a:lnSpc>
              <a:spcBef>
                <a:spcPts val="585"/>
              </a:spcBef>
            </a:pPr>
            <a:r>
              <a:rPr sz="1400" kern="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}while(p!=NULL);           </a:t>
            </a:r>
            <a:r>
              <a:rPr sz="1400" kern="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//当p不是"空地</a:t>
            </a:r>
            <a:r>
              <a:rPr sz="1400" kern="0" spc="-1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址"</a:t>
            </a:r>
            <a:endParaRPr lang="en-US" altLang="en-US" sz="1400" dirty="0"/>
          </a:p>
          <a:p>
            <a:pPr algn="l" rtl="0" eaLnBrk="0">
              <a:lnSpc>
                <a:spcPct val="119000"/>
              </a:lnSpc>
            </a:pPr>
            <a:endParaRPr lang="en-US" altLang="en-US" sz="1400" dirty="0"/>
          </a:p>
          <a:p>
            <a:pPr marL="113665" algn="l" rtl="0" eaLnBrk="0">
              <a:lnSpc>
                <a:spcPct val="99000"/>
              </a:lnSpc>
            </a:pPr>
            <a:r>
              <a:rPr sz="1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endParaRPr lang="en-US" altLang="en-US" sz="1400" dirty="0"/>
          </a:p>
          <a:p>
            <a:pPr algn="ctr"/>
            <a:endParaRPr lang="zh-CN" altLang="en-US" sz="140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46" name="textbox 9246"/>
          <p:cNvSpPr/>
          <p:nvPr/>
        </p:nvSpPr>
        <p:spPr>
          <a:xfrm>
            <a:off x="471755" y="338524"/>
            <a:ext cx="3077845" cy="320040"/>
          </a:xfrm>
          <a:prstGeom prst="rect">
            <a:avLst/>
          </a:prstGeom>
        </p:spPr>
        <p:txBody>
          <a:bodyPr vert="horz" wrap="square" lIns="0" tIns="0" rIns="0" bIns="0"/>
          <a:lstStyle/>
          <a:p>
            <a:pPr algn="l" rtl="0" eaLnBrk="0">
              <a:lnSpc>
                <a:spcPct val="83000"/>
              </a:lnSpc>
            </a:pPr>
            <a:endParaRPr lang="en-US" altLang="en-US" sz="135" dirty="0"/>
          </a:p>
          <a:p>
            <a:pPr marL="12700" algn="l" rtl="0" eaLnBrk="0">
              <a:lnSpc>
                <a:spcPts val="2320"/>
              </a:lnSpc>
            </a:pPr>
            <a:r>
              <a:rPr sz="1900" kern="0" spc="50" dirty="0">
                <a:solidFill>
                  <a:srgbClr val="782367">
                    <a:alpha val="100000"/>
                  </a:srgbClr>
                </a:solidFill>
                <a:latin typeface="微软雅黑" panose="020B0503020204020204" charset="-122"/>
                <a:ea typeface="微软雅黑" panose="020B0503020204020204" charset="-122"/>
                <a:cs typeface="微软雅黑" panose="020B0503020204020204" charset="-122"/>
              </a:rPr>
              <a:t>组合【例</a:t>
            </a:r>
            <a:r>
              <a:rPr lang="en-US" sz="1900" kern="0" spc="50" dirty="0">
                <a:solidFill>
                  <a:srgbClr val="782367">
                    <a:alpha val="100000"/>
                  </a:srgbClr>
                </a:solidFill>
                <a:latin typeface="微软雅黑" panose="020B0503020204020204" charset="-122"/>
                <a:ea typeface="微软雅黑" panose="020B0503020204020204" charset="-122"/>
                <a:cs typeface="微软雅黑" panose="020B0503020204020204" charset="-122"/>
              </a:rPr>
              <a:t>7</a:t>
            </a:r>
            <a:r>
              <a:rPr sz="1900" kern="0" spc="50" dirty="0">
                <a:solidFill>
                  <a:srgbClr val="782367">
                    <a:alpha val="100000"/>
                  </a:srgbClr>
                </a:solidFill>
                <a:latin typeface="微软雅黑" panose="020B0503020204020204" charset="-122"/>
                <a:ea typeface="微软雅黑" panose="020B0503020204020204" charset="-122"/>
                <a:cs typeface="微软雅黑" panose="020B0503020204020204" charset="-122"/>
              </a:rPr>
              <a:t>.7】</a:t>
            </a:r>
            <a:r>
              <a:rPr sz="1900" kern="0" spc="260" dirty="0">
                <a:solidFill>
                  <a:srgbClr val="782367">
                    <a:alpha val="100000"/>
                  </a:srgbClr>
                </a:solidFill>
                <a:latin typeface="微软雅黑" panose="020B0503020204020204" charset="-122"/>
                <a:ea typeface="微软雅黑" panose="020B0503020204020204" charset="-122"/>
                <a:cs typeface="微软雅黑" panose="020B0503020204020204" charset="-122"/>
              </a:rPr>
              <a:t> </a:t>
            </a:r>
            <a:r>
              <a:rPr sz="1900" kern="0" spc="50" dirty="0">
                <a:solidFill>
                  <a:srgbClr val="782367">
                    <a:alpha val="100000"/>
                  </a:srgbClr>
                </a:solidFill>
                <a:latin typeface="微软雅黑" panose="020B0503020204020204" charset="-122"/>
                <a:ea typeface="微软雅黑" panose="020B0503020204020204" charset="-122"/>
                <a:cs typeface="微软雅黑" panose="020B0503020204020204" charset="-122"/>
              </a:rPr>
              <a:t>和【例</a:t>
            </a:r>
            <a:r>
              <a:rPr lang="en-US" sz="1900" kern="0" spc="50" dirty="0">
                <a:solidFill>
                  <a:srgbClr val="782367">
                    <a:alpha val="100000"/>
                  </a:srgbClr>
                </a:solidFill>
                <a:latin typeface="微软雅黑" panose="020B0503020204020204" charset="-122"/>
                <a:ea typeface="微软雅黑" panose="020B0503020204020204" charset="-122"/>
                <a:cs typeface="微软雅黑" panose="020B0503020204020204" charset="-122"/>
              </a:rPr>
              <a:t>7</a:t>
            </a:r>
            <a:r>
              <a:rPr sz="1900" kern="0" spc="50" dirty="0">
                <a:solidFill>
                  <a:srgbClr val="782367">
                    <a:alpha val="100000"/>
                  </a:srgbClr>
                </a:solidFill>
                <a:latin typeface="微软雅黑" panose="020B0503020204020204" charset="-122"/>
                <a:ea typeface="微软雅黑" panose="020B0503020204020204" charset="-122"/>
                <a:cs typeface="微软雅黑" panose="020B0503020204020204" charset="-122"/>
              </a:rPr>
              <a:t>.9】</a:t>
            </a:r>
            <a:endParaRPr lang="en-US" altLang="en-US" sz="1900" kern="0" spc="50" dirty="0">
              <a:solidFill>
                <a:srgbClr val="782367">
                  <a:alpha val="100000"/>
                </a:srgbClr>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1"/>
            </p:custDataLst>
          </p:nvPr>
        </p:nvSpPr>
        <p:spPr>
          <a:xfrm>
            <a:off x="3383915" y="708660"/>
            <a:ext cx="5424805" cy="6149340"/>
          </a:xfrm>
          <a:prstGeom prst="rect">
            <a:avLst/>
          </a:prstGeom>
          <a:solidFill>
            <a:schemeClr val="bg1"/>
          </a:solidFill>
          <a:ln>
            <a:solidFill>
              <a:srgbClr val="782367"/>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120650" algn="l" rtl="0" eaLnBrk="0">
              <a:lnSpc>
                <a:spcPct val="93000"/>
              </a:lnSpc>
            </a:pPr>
            <a:endPar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endParaRPr>
          </a:p>
          <a:p>
            <a:pPr marL="120650" algn="l" rtl="0" eaLnBrk="0">
              <a:lnSpc>
                <a:spcPct val="93000"/>
              </a:lnSpc>
            </a:pP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#include</a:t>
            </a:r>
            <a:r>
              <a:rPr sz="1400" kern="0" spc="18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&lt;stdio.h</a:t>
            </a:r>
            <a:r>
              <a:rPr sz="1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&gt;</a:t>
            </a:r>
            <a:endParaRPr lang="en-US" altLang="en-US" sz="1400" dirty="0"/>
          </a:p>
          <a:p>
            <a:pPr marL="120650" algn="l" rtl="0" eaLnBrk="0">
              <a:lnSpc>
                <a:spcPts val="2015"/>
              </a:lnSpc>
            </a:pP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#include</a:t>
            </a:r>
            <a:r>
              <a:rPr sz="1400" kern="0" spc="2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&lt;malloc.h&gt;</a:t>
            </a:r>
            <a:endParaRPr lang="en-US" altLang="en-US" sz="1400" dirty="0"/>
          </a:p>
          <a:p>
            <a:pPr marL="120650" algn="l" rtl="0" eaLnBrk="0">
              <a:lnSpc>
                <a:spcPct val="93000"/>
              </a:lnSpc>
              <a:spcBef>
                <a:spcPts val="570"/>
              </a:spcBef>
            </a:pPr>
            <a:r>
              <a:rPr sz="14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#define</a:t>
            </a:r>
            <a:r>
              <a:rPr sz="1400" kern="0" spc="1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LEN s</a:t>
            </a: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izeof(struct</a:t>
            </a:r>
            <a:r>
              <a:rPr sz="1400" kern="0" spc="1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Student)</a:t>
            </a:r>
            <a:endParaRPr lang="en-US" altLang="en-US" sz="1400" dirty="0"/>
          </a:p>
          <a:p>
            <a:pPr marL="119380" algn="l" rtl="0" eaLnBrk="0">
              <a:lnSpc>
                <a:spcPts val="2015"/>
              </a:lnSpc>
            </a:pP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struct</a:t>
            </a:r>
            <a:r>
              <a:rPr sz="14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Stude</a:t>
            </a:r>
            <a:r>
              <a:rPr sz="1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nt</a:t>
            </a:r>
            <a:endParaRPr lang="en-US" altLang="en-US" sz="1400" dirty="0"/>
          </a:p>
          <a:p>
            <a:pPr marL="117475" algn="l" rtl="0" eaLnBrk="0">
              <a:lnSpc>
                <a:spcPct val="92000"/>
              </a:lnSpc>
              <a:spcBef>
                <a:spcPts val="565"/>
              </a:spcBef>
            </a:pP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lon</a:t>
            </a:r>
            <a:r>
              <a:rPr sz="1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g</a:t>
            </a:r>
            <a:r>
              <a:rPr sz="1400" kern="0" spc="1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num;</a:t>
            </a:r>
            <a:endParaRPr lang="en-US" altLang="en-US" sz="1400" dirty="0"/>
          </a:p>
          <a:p>
            <a:pPr marL="483235" algn="l" rtl="0" eaLnBrk="0">
              <a:lnSpc>
                <a:spcPts val="2015"/>
              </a:lnSpc>
              <a:spcBef>
                <a:spcPts val="20"/>
              </a:spcBef>
            </a:pP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float</a:t>
            </a:r>
            <a:r>
              <a:rPr sz="1400" kern="0" spc="1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score;</a:t>
            </a:r>
            <a:endParaRPr lang="en-US" altLang="en-US" sz="1400" dirty="0"/>
          </a:p>
          <a:p>
            <a:pPr marL="481965" algn="l" rtl="0" eaLnBrk="0">
              <a:lnSpc>
                <a:spcPct val="93000"/>
              </a:lnSpc>
              <a:spcBef>
                <a:spcPts val="565"/>
              </a:spcBef>
            </a:pP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struct</a:t>
            </a:r>
            <a:r>
              <a:rPr sz="14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Student</a:t>
            </a:r>
            <a:r>
              <a:rPr sz="1400" kern="0" spc="10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*next;</a:t>
            </a:r>
            <a:endParaRPr lang="en-US" altLang="en-US" sz="1400" dirty="0"/>
          </a:p>
          <a:p>
            <a:pPr marL="117475" algn="l" rtl="0" eaLnBrk="0">
              <a:lnSpc>
                <a:spcPts val="2015"/>
              </a:lnSpc>
            </a:pPr>
            <a:r>
              <a:rPr sz="14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endParaRPr lang="en-US" altLang="en-US" sz="1400" dirty="0"/>
          </a:p>
          <a:p>
            <a:pPr marL="130810" algn="l" rtl="0" eaLnBrk="0">
              <a:lnSpc>
                <a:spcPts val="1450"/>
              </a:lnSpc>
              <a:spcBef>
                <a:spcPts val="565"/>
              </a:spcBef>
            </a:pPr>
            <a:r>
              <a:rPr sz="14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int</a:t>
            </a:r>
            <a:r>
              <a:rPr sz="1400" kern="0" spc="1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n;</a:t>
            </a:r>
            <a:endParaRPr lang="en-US" altLang="en-US" sz="1400" dirty="0"/>
          </a:p>
          <a:p>
            <a:pPr marL="119380" algn="l" rtl="0" eaLnBrk="0">
              <a:lnSpc>
                <a:spcPct val="93000"/>
              </a:lnSpc>
              <a:spcBef>
                <a:spcPts val="565"/>
              </a:spcBef>
            </a:pPr>
            <a:r>
              <a:rPr sz="1400" kern="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struct Student</a:t>
            </a:r>
            <a:r>
              <a:rPr sz="1400"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*creat(</a:t>
            </a:r>
            <a:r>
              <a:rPr sz="1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1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//建立链表的函数</a:t>
            </a:r>
            <a:endParaRPr lang="en-US" altLang="en-US" sz="1400" dirty="0"/>
          </a:p>
          <a:p>
            <a:pPr marL="117475" algn="l" rtl="0" eaLnBrk="0">
              <a:lnSpc>
                <a:spcPts val="2020"/>
              </a:lnSpc>
            </a:pP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r>
              <a:rPr sz="1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struct</a:t>
            </a:r>
            <a:r>
              <a:rPr sz="1400" kern="0" spc="1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Student</a:t>
            </a:r>
            <a:r>
              <a:rPr sz="1400" kern="0" spc="10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*head;</a:t>
            </a:r>
            <a:endParaRPr lang="en-US" altLang="en-US" sz="1400" dirty="0"/>
          </a:p>
          <a:p>
            <a:pPr marL="481965" algn="l" rtl="0" eaLnBrk="0">
              <a:lnSpc>
                <a:spcPct val="92000"/>
              </a:lnSpc>
              <a:spcBef>
                <a:spcPts val="570"/>
              </a:spcBef>
            </a:pP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struct</a:t>
            </a:r>
            <a:r>
              <a:rPr sz="1400" kern="0" spc="1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Student</a:t>
            </a:r>
            <a:r>
              <a:rPr sz="1400" kern="0" spc="10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*p1,*p2;</a:t>
            </a:r>
            <a:endParaRPr lang="en-US" altLang="en-US" sz="1400" dirty="0"/>
          </a:p>
          <a:p>
            <a:pPr marL="492760" algn="l" rtl="0" eaLnBrk="0">
              <a:lnSpc>
                <a:spcPts val="1905"/>
              </a:lnSpc>
              <a:spcBef>
                <a:spcPts val="10"/>
              </a:spcBef>
            </a:pPr>
            <a:r>
              <a:rPr sz="14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n=0;</a:t>
            </a:r>
            <a:endParaRPr lang="en-US" altLang="en-US" sz="1400" dirty="0"/>
          </a:p>
          <a:p>
            <a:pPr marL="492760" algn="l" rtl="0" eaLnBrk="0">
              <a:lnSpc>
                <a:spcPct val="92000"/>
              </a:lnSpc>
              <a:spcBef>
                <a:spcPts val="685"/>
              </a:spcBef>
            </a:pP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p1=p2=(struct</a:t>
            </a:r>
            <a:r>
              <a:rPr sz="1400" kern="0" spc="17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Student</a:t>
            </a:r>
            <a:r>
              <a:rPr sz="1400" kern="0" spc="1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*)malloc(LEN);</a:t>
            </a:r>
            <a:endParaRPr lang="en-US" altLang="en-US" sz="1400" dirty="0"/>
          </a:p>
          <a:p>
            <a:pPr marL="481965" algn="l" rtl="0" eaLnBrk="0">
              <a:lnSpc>
                <a:spcPts val="2015"/>
              </a:lnSpc>
              <a:spcBef>
                <a:spcPts val="10"/>
              </a:spcBef>
            </a:pPr>
            <a:r>
              <a:rPr sz="1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scanf("%l</a:t>
            </a:r>
            <a:r>
              <a:rPr sz="14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d,%f",&amp;p1</a:t>
            </a:r>
            <a:r>
              <a:rPr sz="1400" kern="0" spc="-2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-&gt;num,&amp;p1</a:t>
            </a:r>
            <a:r>
              <a:rPr sz="1400" kern="0" spc="-2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-&gt;score);</a:t>
            </a:r>
            <a:endParaRPr lang="en-US" altLang="en-US" sz="1400" dirty="0"/>
          </a:p>
          <a:p>
            <a:pPr marL="493395" algn="l" rtl="0" eaLnBrk="0">
              <a:lnSpc>
                <a:spcPts val="2020"/>
              </a:lnSpc>
            </a:pPr>
            <a:r>
              <a:rPr sz="1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head=NULL;</a:t>
            </a:r>
            <a:endParaRPr lang="en-US" altLang="en-US" sz="1400" dirty="0"/>
          </a:p>
          <a:p>
            <a:pPr marL="481330" algn="l" rtl="0" eaLnBrk="0">
              <a:lnSpc>
                <a:spcPct val="92000"/>
              </a:lnSpc>
              <a:spcBef>
                <a:spcPts val="570"/>
              </a:spcBef>
            </a:pPr>
            <a:r>
              <a:rPr sz="14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while(p1</a:t>
            </a:r>
            <a:r>
              <a:rPr sz="1400" kern="0" spc="-2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-&gt;num</a:t>
            </a: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!=0)</a:t>
            </a:r>
            <a:endParaRPr lang="en-US" altLang="en-US" sz="1400" dirty="0"/>
          </a:p>
          <a:p>
            <a:pPr marL="480060" algn="l" rtl="0" eaLnBrk="0">
              <a:lnSpc>
                <a:spcPts val="2015"/>
              </a:lnSpc>
              <a:spcBef>
                <a:spcPts val="10"/>
              </a:spcBef>
            </a:pPr>
            <a:r>
              <a:rPr sz="14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n=n</a:t>
            </a: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+1;</a:t>
            </a:r>
            <a:endParaRPr lang="en-US" altLang="en-US" sz="1400" dirty="0"/>
          </a:p>
          <a:p>
            <a:pPr marL="859155" algn="l" rtl="0" eaLnBrk="0">
              <a:lnSpc>
                <a:spcPct val="92000"/>
              </a:lnSpc>
              <a:spcBef>
                <a:spcPts val="570"/>
              </a:spcBef>
            </a:pPr>
            <a:r>
              <a:rPr sz="1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if(n==1)</a:t>
            </a:r>
            <a:r>
              <a:rPr sz="1400" kern="0" spc="2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head=p1;</a:t>
            </a:r>
            <a:endParaRPr lang="en-US" altLang="en-US" sz="1400" dirty="0"/>
          </a:p>
          <a:p>
            <a:pPr marL="853440" algn="l" rtl="0" eaLnBrk="0">
              <a:lnSpc>
                <a:spcPts val="2015"/>
              </a:lnSpc>
              <a:spcBef>
                <a:spcPts val="10"/>
              </a:spcBef>
            </a:pP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else</a:t>
            </a:r>
            <a:r>
              <a:rPr sz="1400" kern="0" spc="1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p2</a:t>
            </a:r>
            <a:r>
              <a:rPr sz="1400" kern="0" spc="-2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-&gt;next=p</a:t>
            </a:r>
            <a:r>
              <a:rPr sz="1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1;</a:t>
            </a:r>
            <a:endParaRPr lang="en-US" altLang="en-US" sz="1400" dirty="0"/>
          </a:p>
          <a:p>
            <a:pPr marL="858520" algn="l" rtl="0" eaLnBrk="0">
              <a:lnSpc>
                <a:spcPts val="2015"/>
              </a:lnSpc>
            </a:pPr>
            <a:r>
              <a:rPr sz="1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p2=p1;</a:t>
            </a:r>
            <a:endParaRPr lang="en-US" altLang="en-US" sz="1400" dirty="0"/>
          </a:p>
          <a:p>
            <a:pPr marL="858520" algn="l" rtl="0" eaLnBrk="0">
              <a:lnSpc>
                <a:spcPct val="92000"/>
              </a:lnSpc>
              <a:spcBef>
                <a:spcPts val="575"/>
              </a:spcBef>
            </a:pP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p1=(struct</a:t>
            </a:r>
            <a:r>
              <a:rPr sz="1400" kern="0" spc="1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Student</a:t>
            </a:r>
            <a:r>
              <a:rPr sz="1400" kern="0" spc="10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*)malloc(LEN);</a:t>
            </a:r>
            <a:endParaRPr lang="en-US" altLang="en-US" sz="1400" dirty="0"/>
          </a:p>
          <a:p>
            <a:pPr algn="l" rtl="0" eaLnBrk="0">
              <a:lnSpc>
                <a:spcPct val="121000"/>
              </a:lnSpc>
            </a:pPr>
            <a:endParaRPr lang="en-US" altLang="en-US" sz="1400" dirty="0"/>
          </a:p>
          <a:p>
            <a:pPr marL="847725" algn="l" rtl="0" eaLnBrk="0">
              <a:lnSpc>
                <a:spcPct val="92000"/>
              </a:lnSpc>
            </a:pPr>
            <a:r>
              <a:rPr sz="1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scanf("%ld,</a:t>
            </a:r>
            <a:r>
              <a:rPr sz="14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%f",&amp;p1</a:t>
            </a:r>
            <a:r>
              <a:rPr sz="1400" kern="0" spc="-2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-&gt;num,&amp;p1</a:t>
            </a:r>
            <a:r>
              <a:rPr sz="1400" kern="0" spc="-2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-&gt;score);</a:t>
            </a:r>
            <a:endParaRPr lang="en-US" altLang="en-US" sz="1400" dirty="0"/>
          </a:p>
          <a:p>
            <a:pPr algn="ctr"/>
            <a:endParaRPr lang="zh-CN" altLang="en-US" sz="14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46" name="textbox 9246"/>
          <p:cNvSpPr/>
          <p:nvPr/>
        </p:nvSpPr>
        <p:spPr>
          <a:xfrm>
            <a:off x="471755" y="338524"/>
            <a:ext cx="3077845" cy="320040"/>
          </a:xfrm>
          <a:prstGeom prst="rect">
            <a:avLst/>
          </a:prstGeom>
        </p:spPr>
        <p:txBody>
          <a:bodyPr vert="horz" wrap="square" lIns="0" tIns="0" rIns="0" bIns="0"/>
          <a:lstStyle/>
          <a:p>
            <a:pPr algn="l" rtl="0" eaLnBrk="0">
              <a:lnSpc>
                <a:spcPct val="83000"/>
              </a:lnSpc>
            </a:pPr>
            <a:endParaRPr lang="en-US" altLang="en-US" sz="135" dirty="0"/>
          </a:p>
          <a:p>
            <a:pPr marL="12700" algn="l" rtl="0" eaLnBrk="0">
              <a:lnSpc>
                <a:spcPts val="2320"/>
              </a:lnSpc>
            </a:pPr>
            <a:r>
              <a:rPr sz="1900" kern="0" spc="50" dirty="0">
                <a:solidFill>
                  <a:srgbClr val="782367">
                    <a:alpha val="100000"/>
                  </a:srgbClr>
                </a:solidFill>
                <a:latin typeface="微软雅黑" panose="020B0503020204020204" charset="-122"/>
                <a:ea typeface="微软雅黑" panose="020B0503020204020204" charset="-122"/>
                <a:cs typeface="微软雅黑" panose="020B0503020204020204" charset="-122"/>
              </a:rPr>
              <a:t>组合【例</a:t>
            </a:r>
            <a:r>
              <a:rPr lang="en-US" sz="1900" kern="0" spc="50" dirty="0">
                <a:solidFill>
                  <a:srgbClr val="782367">
                    <a:alpha val="100000"/>
                  </a:srgbClr>
                </a:solidFill>
                <a:latin typeface="微软雅黑" panose="020B0503020204020204" charset="-122"/>
                <a:ea typeface="微软雅黑" panose="020B0503020204020204" charset="-122"/>
                <a:cs typeface="微软雅黑" panose="020B0503020204020204" charset="-122"/>
              </a:rPr>
              <a:t>7</a:t>
            </a:r>
            <a:r>
              <a:rPr sz="1900" kern="0" spc="50" dirty="0">
                <a:solidFill>
                  <a:srgbClr val="782367">
                    <a:alpha val="100000"/>
                  </a:srgbClr>
                </a:solidFill>
                <a:latin typeface="微软雅黑" panose="020B0503020204020204" charset="-122"/>
                <a:ea typeface="微软雅黑" panose="020B0503020204020204" charset="-122"/>
                <a:cs typeface="微软雅黑" panose="020B0503020204020204" charset="-122"/>
              </a:rPr>
              <a:t>.7】</a:t>
            </a:r>
            <a:r>
              <a:rPr sz="1900" kern="0" spc="260" dirty="0">
                <a:solidFill>
                  <a:srgbClr val="782367">
                    <a:alpha val="100000"/>
                  </a:srgbClr>
                </a:solidFill>
                <a:latin typeface="微软雅黑" panose="020B0503020204020204" charset="-122"/>
                <a:ea typeface="微软雅黑" panose="020B0503020204020204" charset="-122"/>
                <a:cs typeface="微软雅黑" panose="020B0503020204020204" charset="-122"/>
              </a:rPr>
              <a:t> </a:t>
            </a:r>
            <a:r>
              <a:rPr sz="1900" kern="0" spc="50" dirty="0">
                <a:solidFill>
                  <a:srgbClr val="782367">
                    <a:alpha val="100000"/>
                  </a:srgbClr>
                </a:solidFill>
                <a:latin typeface="微软雅黑" panose="020B0503020204020204" charset="-122"/>
                <a:ea typeface="微软雅黑" panose="020B0503020204020204" charset="-122"/>
                <a:cs typeface="微软雅黑" panose="020B0503020204020204" charset="-122"/>
              </a:rPr>
              <a:t>和【例</a:t>
            </a:r>
            <a:r>
              <a:rPr lang="en-US" sz="1900" kern="0" spc="50" dirty="0">
                <a:solidFill>
                  <a:srgbClr val="782367">
                    <a:alpha val="100000"/>
                  </a:srgbClr>
                </a:solidFill>
                <a:latin typeface="微软雅黑" panose="020B0503020204020204" charset="-122"/>
                <a:ea typeface="微软雅黑" panose="020B0503020204020204" charset="-122"/>
                <a:cs typeface="微软雅黑" panose="020B0503020204020204" charset="-122"/>
              </a:rPr>
              <a:t>7</a:t>
            </a:r>
            <a:r>
              <a:rPr sz="1900" kern="0" spc="50" dirty="0">
                <a:solidFill>
                  <a:srgbClr val="782367">
                    <a:alpha val="100000"/>
                  </a:srgbClr>
                </a:solidFill>
                <a:latin typeface="微软雅黑" panose="020B0503020204020204" charset="-122"/>
                <a:ea typeface="微软雅黑" panose="020B0503020204020204" charset="-122"/>
                <a:cs typeface="微软雅黑" panose="020B0503020204020204" charset="-122"/>
              </a:rPr>
              <a:t>.9】</a:t>
            </a:r>
            <a:endParaRPr lang="en-US" altLang="en-US" sz="1900" kern="0" spc="50" dirty="0">
              <a:solidFill>
                <a:srgbClr val="782367">
                  <a:alpha val="100000"/>
                </a:srgbClr>
              </a:solidFill>
              <a:latin typeface="微软雅黑" panose="020B0503020204020204" charset="-122"/>
              <a:ea typeface="微软雅黑" panose="020B0503020204020204" charset="-122"/>
              <a:cs typeface="微软雅黑" panose="020B0503020204020204" charset="-122"/>
            </a:endParaRPr>
          </a:p>
        </p:txBody>
      </p:sp>
      <p:sp>
        <p:nvSpPr>
          <p:cNvPr id="3" name="矩形 2"/>
          <p:cNvSpPr/>
          <p:nvPr>
            <p:custDataLst>
              <p:tags r:id="rId1"/>
            </p:custDataLst>
          </p:nvPr>
        </p:nvSpPr>
        <p:spPr>
          <a:xfrm>
            <a:off x="3227705" y="725805"/>
            <a:ext cx="5736590" cy="6125845"/>
          </a:xfrm>
          <a:prstGeom prst="rect">
            <a:avLst/>
          </a:prstGeom>
          <a:solidFill>
            <a:schemeClr val="bg1"/>
          </a:solidFill>
          <a:ln>
            <a:solidFill>
              <a:srgbClr val="782367"/>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447675" algn="l" rtl="0" eaLnBrk="0">
              <a:lnSpc>
                <a:spcPct val="99000"/>
              </a:lnSpc>
              <a:spcBef>
                <a:spcPts val="5"/>
              </a:spcBef>
            </a:pPr>
            <a:endParaRPr sz="1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endParaRPr>
          </a:p>
          <a:p>
            <a:pPr marL="447675" algn="l" rtl="0" eaLnBrk="0">
              <a:lnSpc>
                <a:spcPct val="99000"/>
              </a:lnSpc>
              <a:spcBef>
                <a:spcPts val="5"/>
              </a:spcBef>
            </a:pPr>
            <a:r>
              <a:rPr sz="1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endParaRPr lang="en-US" altLang="en-US" sz="1400" dirty="0"/>
          </a:p>
          <a:p>
            <a:pPr marL="460375" algn="l" rtl="0" eaLnBrk="0">
              <a:lnSpc>
                <a:spcPct val="79000"/>
              </a:lnSpc>
              <a:spcBef>
                <a:spcPts val="685"/>
              </a:spcBef>
            </a:pP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p2</a:t>
            </a:r>
            <a:r>
              <a:rPr sz="1400" kern="0" spc="-2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-&gt;next=NULL;</a:t>
            </a:r>
            <a:endParaRPr lang="en-US" altLang="en-US" sz="1400" dirty="0"/>
          </a:p>
          <a:p>
            <a:pPr marL="460375" algn="l" rtl="0" eaLnBrk="0">
              <a:lnSpc>
                <a:spcPts val="2020"/>
              </a:lnSpc>
              <a:spcBef>
                <a:spcPts val="10"/>
              </a:spcBef>
            </a:pP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return(head);</a:t>
            </a:r>
            <a:endParaRPr lang="en-US" altLang="en-US" sz="1400" dirty="0"/>
          </a:p>
          <a:p>
            <a:pPr marL="85090" algn="l" rtl="0" eaLnBrk="0">
              <a:lnSpc>
                <a:spcPct val="99000"/>
              </a:lnSpc>
              <a:spcBef>
                <a:spcPts val="560"/>
              </a:spcBef>
            </a:pPr>
            <a:r>
              <a:rPr sz="1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endParaRPr lang="en-US" altLang="en-US" sz="1400" dirty="0"/>
          </a:p>
          <a:p>
            <a:pPr algn="l" rtl="0" eaLnBrk="0">
              <a:lnSpc>
                <a:spcPct val="175000"/>
              </a:lnSpc>
            </a:pPr>
            <a:endParaRPr lang="en-US" altLang="en-US" sz="1400" dirty="0"/>
          </a:p>
          <a:p>
            <a:pPr marL="84455" algn="l" rtl="0" eaLnBrk="0">
              <a:lnSpc>
                <a:spcPct val="92000"/>
              </a:lnSpc>
              <a:spcBef>
                <a:spcPts val="400"/>
              </a:spcBef>
            </a:pPr>
            <a:r>
              <a:rPr sz="1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void</a:t>
            </a:r>
            <a:r>
              <a:rPr sz="1400" kern="0" spc="1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print(st</a:t>
            </a:r>
            <a:r>
              <a:rPr sz="1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ruct</a:t>
            </a:r>
            <a:r>
              <a:rPr sz="1400" kern="0" spc="1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Student</a:t>
            </a:r>
            <a:r>
              <a:rPr sz="1400" kern="0" spc="10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*head)</a:t>
            </a:r>
            <a:r>
              <a:rPr sz="1400" kern="0" spc="1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2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//输出链表的函数</a:t>
            </a:r>
            <a:endParaRPr lang="en-US" altLang="en-US" sz="1400" dirty="0"/>
          </a:p>
          <a:p>
            <a:pPr marL="85090" algn="l" rtl="0" eaLnBrk="0">
              <a:lnSpc>
                <a:spcPts val="2015"/>
              </a:lnSpc>
              <a:spcBef>
                <a:spcPts val="10"/>
              </a:spcBef>
            </a:pP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r>
              <a:rPr sz="1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struct</a:t>
            </a:r>
            <a:r>
              <a:rPr sz="1400" kern="0" spc="1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Student</a:t>
            </a:r>
            <a:r>
              <a:rPr sz="1400" kern="0" spc="10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*p</a:t>
            </a:r>
            <a:r>
              <a:rPr sz="1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endParaRPr lang="en-US" altLang="en-US" sz="1400" dirty="0"/>
          </a:p>
          <a:p>
            <a:pPr marL="460375" algn="l" rtl="0" eaLnBrk="0">
              <a:lnSpc>
                <a:spcPct val="92000"/>
              </a:lnSpc>
              <a:spcBef>
                <a:spcPts val="570"/>
              </a:spcBef>
            </a:pPr>
            <a:r>
              <a:rPr sz="1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printf("\nNow,These</a:t>
            </a:r>
            <a:r>
              <a:rPr sz="1400" kern="0" spc="19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%d</a:t>
            </a:r>
            <a:r>
              <a:rPr sz="1400" kern="0" spc="10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records</a:t>
            </a:r>
            <a:r>
              <a:rPr sz="1400" kern="0" spc="1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are:\n",n);</a:t>
            </a:r>
            <a:endParaRPr lang="en-US" altLang="en-US" sz="1400" dirty="0"/>
          </a:p>
          <a:p>
            <a:pPr marL="460375" algn="l" rtl="0" eaLnBrk="0">
              <a:lnSpc>
                <a:spcPts val="2015"/>
              </a:lnSpc>
              <a:spcBef>
                <a:spcPts val="10"/>
              </a:spcBef>
            </a:pPr>
            <a:r>
              <a:rPr sz="1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p=head;</a:t>
            </a:r>
            <a:endParaRPr lang="en-US" altLang="en-US" sz="1400" dirty="0"/>
          </a:p>
          <a:p>
            <a:pPr marL="461010" algn="l" rtl="0" eaLnBrk="0">
              <a:lnSpc>
                <a:spcPct val="93000"/>
              </a:lnSpc>
              <a:spcBef>
                <a:spcPts val="565"/>
              </a:spcBef>
            </a:pP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if(head!=NULL)</a:t>
            </a:r>
            <a:endParaRPr lang="en-US" altLang="en-US" sz="1400" dirty="0"/>
          </a:p>
          <a:p>
            <a:pPr marL="821055" algn="l" rtl="0" eaLnBrk="0">
              <a:lnSpc>
                <a:spcPts val="2020"/>
              </a:lnSpc>
            </a:pPr>
            <a:r>
              <a:rPr sz="1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do</a:t>
            </a:r>
            <a:endParaRPr lang="en-US" altLang="en-US" sz="1400" dirty="0"/>
          </a:p>
          <a:p>
            <a:pPr marL="813435" algn="l" rtl="0" eaLnBrk="0">
              <a:lnSpc>
                <a:spcPct val="92000"/>
              </a:lnSpc>
              <a:spcBef>
                <a:spcPts val="570"/>
              </a:spcBef>
            </a:pP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printf("%ld</a:t>
            </a:r>
            <a:r>
              <a:rPr sz="1400"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%5.1f\n</a:t>
            </a:r>
            <a:r>
              <a:rPr sz="1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",p-&gt;num,p-&gt;score);</a:t>
            </a:r>
            <a:endParaRPr lang="en-US" altLang="en-US" sz="1400" dirty="0"/>
          </a:p>
          <a:p>
            <a:pPr marL="1189355" algn="l" rtl="0" eaLnBrk="0">
              <a:lnSpc>
                <a:spcPts val="2015"/>
              </a:lnSpc>
              <a:spcBef>
                <a:spcPts val="10"/>
              </a:spcBef>
            </a:pPr>
            <a:r>
              <a:rPr sz="14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p=p-&gt;next;</a:t>
            </a:r>
            <a:endParaRPr lang="en-US" altLang="en-US" sz="1400" dirty="0"/>
          </a:p>
          <a:p>
            <a:pPr marL="813435" algn="l" rtl="0" eaLnBrk="0">
              <a:lnSpc>
                <a:spcPct val="92000"/>
              </a:lnSpc>
              <a:spcBef>
                <a:spcPts val="570"/>
              </a:spcBef>
            </a:pPr>
            <a:r>
              <a:rPr sz="14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}while(p!=NUL</a:t>
            </a: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L);</a:t>
            </a:r>
            <a:endParaRPr lang="en-US" altLang="en-US" sz="1400" dirty="0"/>
          </a:p>
          <a:p>
            <a:pPr marL="85090" algn="l" rtl="0" eaLnBrk="0">
              <a:lnSpc>
                <a:spcPts val="2015"/>
              </a:lnSpc>
              <a:spcBef>
                <a:spcPts val="10"/>
              </a:spcBef>
            </a:pPr>
            <a:r>
              <a:rPr sz="1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endParaRPr lang="en-US" altLang="en-US" sz="1400" dirty="0"/>
          </a:p>
          <a:p>
            <a:pPr algn="l" rtl="0" eaLnBrk="0">
              <a:lnSpc>
                <a:spcPct val="182000"/>
              </a:lnSpc>
            </a:pPr>
            <a:endParaRPr lang="en-US" altLang="en-US" sz="1400" dirty="0"/>
          </a:p>
          <a:p>
            <a:pPr marL="98425" algn="l" rtl="0" eaLnBrk="0">
              <a:lnSpc>
                <a:spcPct val="99000"/>
              </a:lnSpc>
              <a:spcBef>
                <a:spcPts val="395"/>
              </a:spcBef>
            </a:pPr>
            <a:r>
              <a:rPr sz="14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int</a:t>
            </a:r>
            <a:r>
              <a:rPr sz="1400" kern="0" spc="1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main()</a:t>
            </a:r>
            <a:endParaRPr lang="en-US" altLang="en-US" sz="1400" dirty="0"/>
          </a:p>
          <a:p>
            <a:pPr marL="85090" algn="l" rtl="0" eaLnBrk="0">
              <a:lnSpc>
                <a:spcPct val="99000"/>
              </a:lnSpc>
              <a:spcBef>
                <a:spcPts val="470"/>
              </a:spcBef>
            </a:pP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r>
              <a:rPr sz="1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struct</a:t>
            </a:r>
            <a:r>
              <a:rPr sz="1400" kern="0" spc="1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Student</a:t>
            </a:r>
            <a:r>
              <a:rPr sz="1400" kern="0" spc="10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*head;</a:t>
            </a:r>
            <a:endParaRPr lang="en-US" altLang="en-US" sz="1400" dirty="0"/>
          </a:p>
          <a:p>
            <a:pPr marL="460375" indent="635" algn="l" rtl="0" eaLnBrk="0">
              <a:lnSpc>
                <a:spcPct val="111000"/>
              </a:lnSpc>
              <a:spcBef>
                <a:spcPts val="470"/>
              </a:spcBef>
            </a:pPr>
            <a:r>
              <a:rPr sz="1400" kern="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head</a:t>
            </a:r>
            <a:r>
              <a:rPr sz="1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r>
              <a:rPr sz="1400" kern="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creat</a:t>
            </a:r>
            <a:r>
              <a:rPr sz="1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r>
              <a:rPr sz="1400" kern="0" spc="2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2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//调用</a:t>
            </a:r>
            <a:r>
              <a:rPr sz="1400" kern="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creat</a:t>
            </a:r>
            <a:r>
              <a:rPr sz="1400" kern="0" spc="2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函数，返回第1个结点的起始地址     </a:t>
            </a:r>
            <a:r>
              <a:rPr sz="1400" kern="0" spc="1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print(head</a:t>
            </a:r>
            <a:r>
              <a:rPr sz="1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2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//调用print函数</a:t>
            </a:r>
            <a:endParaRPr lang="en-US" altLang="en-US" sz="1400" dirty="0"/>
          </a:p>
          <a:p>
            <a:pPr marL="460375" algn="l" rtl="0" eaLnBrk="0">
              <a:lnSpc>
                <a:spcPct val="93000"/>
              </a:lnSpc>
              <a:spcBef>
                <a:spcPts val="575"/>
              </a:spcBef>
            </a:pPr>
            <a:r>
              <a:rPr sz="1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return</a:t>
            </a:r>
            <a:r>
              <a:rPr sz="14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0;</a:t>
            </a:r>
            <a:endParaRPr lang="en-US" altLang="en-US" sz="1400" dirty="0"/>
          </a:p>
          <a:p>
            <a:pPr marL="85090" algn="l" rtl="0" eaLnBrk="0">
              <a:lnSpc>
                <a:spcPts val="2015"/>
              </a:lnSpc>
            </a:pPr>
            <a:r>
              <a:rPr sz="1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endParaRPr lang="en-US" altLang="en-US" sz="1400" dirty="0"/>
          </a:p>
          <a:p>
            <a:pPr algn="ctr"/>
            <a:endParaRPr lang="zh-CN" altLang="en-US" sz="1400"/>
          </a:p>
        </p:txBody>
      </p:sp>
      <p:pic>
        <p:nvPicPr>
          <p:cNvPr id="4" name="picture 9244"/>
          <p:cNvPicPr>
            <a:picLocks noChangeAspect="1"/>
          </p:cNvPicPr>
          <p:nvPr>
            <p:custDataLst>
              <p:tags r:id="rId2"/>
            </p:custDataLst>
          </p:nvPr>
        </p:nvPicPr>
        <p:blipFill>
          <a:blip r:embed="rId4"/>
          <a:stretch>
            <a:fillRect/>
          </a:stretch>
        </p:blipFill>
        <p:spPr>
          <a:xfrm rot="21600000">
            <a:off x="8346023" y="60959"/>
            <a:ext cx="3456432" cy="1886711"/>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81923"/>
          <p:cNvSpPr txBox="1"/>
          <p:nvPr/>
        </p:nvSpPr>
        <p:spPr>
          <a:xfrm>
            <a:off x="2185000" y="446405"/>
            <a:ext cx="7823200" cy="2432051"/>
          </a:xfrm>
          <a:prstGeom prst="rect">
            <a:avLst/>
          </a:prstGeom>
          <a:noFill/>
          <a:ln w="9525">
            <a:noFill/>
          </a:ln>
        </p:spPr>
        <p:txBody>
          <a:bodyPr anchor="b"/>
          <a:lstStyle>
            <a:lvl1pPr marL="0" lvl="0" indent="0" algn="r" defTabSz="914400" rtl="0" eaLnBrk="1" fontAlgn="base" latinLnBrk="0" hangingPunct="1">
              <a:lnSpc>
                <a:spcPct val="100000"/>
              </a:lnSpc>
              <a:spcBef>
                <a:spcPct val="0"/>
              </a:spcBef>
              <a:spcAft>
                <a:spcPct val="0"/>
              </a:spcAft>
              <a:buClrTx/>
              <a:buSzTx/>
              <a:buFontTx/>
              <a:buNone/>
              <a:defRPr sz="4800" b="1" i="0" u="none" kern="1200" baseline="0">
                <a:solidFill>
                  <a:schemeClr val="tx2"/>
                </a:solidFill>
                <a:latin typeface="+mj-lt"/>
                <a:ea typeface="+mj-ea"/>
                <a:cs typeface="+mj-cs"/>
              </a:defRPr>
            </a:lvl1pPr>
          </a:lstStyle>
          <a:p>
            <a:pPr algn="ctr"/>
            <a:r>
              <a:rPr lang="zh-CN" altLang="en-US" noProof="1">
                <a:solidFill>
                  <a:srgbClr val="330066"/>
                </a:solidFill>
                <a:effectLst>
                  <a:outerShdw blurRad="38100" dist="38100" dir="2700000">
                    <a:srgbClr val="C0C0C0"/>
                  </a:outerShdw>
                </a:effectLst>
                <a:latin typeface="Arial" panose="020B0604020202090204" pitchFamily="34" charset="0"/>
                <a:ea typeface="隶书" panose="02010509060101010101" pitchFamily="49" charset="-122"/>
              </a:rPr>
              <a:t>*共用体类型</a:t>
            </a:r>
          </a:p>
        </p:txBody>
      </p:sp>
      <p:cxnSp>
        <p:nvCxnSpPr>
          <p:cNvPr id="4" name="直接连接符 3"/>
          <p:cNvCxnSpPr/>
          <p:nvPr/>
        </p:nvCxnSpPr>
        <p:spPr>
          <a:xfrm>
            <a:off x="432400" y="3136069"/>
            <a:ext cx="11328400" cy="0"/>
          </a:xfrm>
          <a:prstGeom prst="line">
            <a:avLst/>
          </a:prstGeom>
          <a:ln w="25400">
            <a:solidFill>
              <a:srgbClr val="782367"/>
            </a:solidFill>
          </a:ln>
        </p:spPr>
        <p:style>
          <a:lnRef idx="1">
            <a:schemeClr val="accent1"/>
          </a:lnRef>
          <a:fillRef idx="0">
            <a:schemeClr val="accent1"/>
          </a:fillRef>
          <a:effectRef idx="0">
            <a:schemeClr val="accent1"/>
          </a:effectRef>
          <a:fontRef idx="minor">
            <a:schemeClr val="tx1"/>
          </a:fontRef>
        </p:style>
      </p:cxn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32431" y="246671"/>
            <a:ext cx="573807" cy="573807"/>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66" name="textbox 9266"/>
          <p:cNvSpPr/>
          <p:nvPr/>
        </p:nvSpPr>
        <p:spPr>
          <a:xfrm>
            <a:off x="7239270" y="3481704"/>
            <a:ext cx="3980815" cy="2755900"/>
          </a:xfrm>
          <a:prstGeom prst="rect">
            <a:avLst/>
          </a:prstGeom>
        </p:spPr>
        <p:txBody>
          <a:bodyPr vert="horz" wrap="square" lIns="0" tIns="0" rIns="0" bIns="0"/>
          <a:lstStyle/>
          <a:p>
            <a:pPr algn="l" rtl="0" eaLnBrk="0">
              <a:lnSpc>
                <a:spcPct val="78000"/>
              </a:lnSpc>
            </a:pPr>
            <a:endParaRPr lang="en-US" altLang="en-US" sz="135" dirty="0"/>
          </a:p>
          <a:p>
            <a:pPr marL="127000" algn="l" rtl="0" eaLnBrk="0">
              <a:lnSpc>
                <a:spcPct val="98000"/>
              </a:lnSpc>
            </a:pPr>
            <a:r>
              <a:rPr sz="1600" kern="0" spc="-100" dirty="0">
                <a:solidFill>
                  <a:srgbClr val="000000">
                    <a:alpha val="100000"/>
                  </a:srgbClr>
                </a:solidFill>
                <a:latin typeface="微软雅黑" panose="020B0503020204020204" charset="-122"/>
                <a:ea typeface="微软雅黑" panose="020B0503020204020204" charset="-122"/>
                <a:cs typeface="微软雅黑" panose="020B0503020204020204" charset="-122"/>
              </a:rPr>
              <a:t>“共用体”与“结构体”的定义</a:t>
            </a:r>
            <a:r>
              <a:rPr sz="1600" kern="0" spc="-110" dirty="0">
                <a:solidFill>
                  <a:srgbClr val="000000">
                    <a:alpha val="100000"/>
                  </a:srgbClr>
                </a:solidFill>
                <a:latin typeface="微软雅黑" panose="020B0503020204020204" charset="-122"/>
                <a:ea typeface="微软雅黑" panose="020B0503020204020204" charset="-122"/>
                <a:cs typeface="微软雅黑" panose="020B0503020204020204" charset="-122"/>
              </a:rPr>
              <a:t>形式相似。</a:t>
            </a:r>
            <a:endParaRPr lang="en-US" altLang="en-US" sz="1600" dirty="0"/>
          </a:p>
          <a:p>
            <a:pPr marL="116840" algn="l" rtl="0" eaLnBrk="0">
              <a:lnSpc>
                <a:spcPts val="3240"/>
              </a:lnSpc>
            </a:pPr>
            <a:r>
              <a:rPr kern="0" spc="-100" dirty="0">
                <a:solidFill>
                  <a:srgbClr val="000000">
                    <a:alpha val="100000"/>
                  </a:srgbClr>
                </a:solidFill>
                <a:latin typeface="微软雅黑" panose="020B0503020204020204" charset="-122"/>
                <a:ea typeface="微软雅黑" panose="020B0503020204020204" charset="-122"/>
                <a:cs typeface="微软雅黑" panose="020B0503020204020204" charset="-122"/>
              </a:rPr>
              <a:t>但它们的含义是不同的。</a:t>
            </a:r>
            <a:endParaRPr lang="en-US" altLang="en-US" dirty="0"/>
          </a:p>
          <a:p>
            <a:pPr marL="121920" algn="l" rtl="0" eaLnBrk="0">
              <a:lnSpc>
                <a:spcPct val="87000"/>
              </a:lnSpc>
              <a:spcBef>
                <a:spcPts val="1365"/>
              </a:spcBef>
            </a:pPr>
            <a:r>
              <a:rPr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结构体变量所占内存长度是各成员占</a:t>
            </a:r>
            <a:endParaRPr lang="en-US" altLang="en-US" dirty="0"/>
          </a:p>
          <a:p>
            <a:pPr marL="118745" indent="15875" algn="l" rtl="0" eaLnBrk="0">
              <a:lnSpc>
                <a:spcPct val="152000"/>
              </a:lnSpc>
              <a:spcBef>
                <a:spcPts val="10"/>
              </a:spcBef>
            </a:pPr>
            <a:r>
              <a:rPr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的内存长度之和。每个成</a:t>
            </a:r>
            <a:r>
              <a:rPr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员分别占有</a:t>
            </a:r>
            <a:r>
              <a:rPr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其自己的内存单元。</a:t>
            </a:r>
            <a:r>
              <a:rPr kern="0" spc="-10" dirty="0">
                <a:solidFill>
                  <a:srgbClr val="000000">
                    <a:alpha val="100000"/>
                  </a:srgbClr>
                </a:solidFill>
                <a:highlight>
                  <a:srgbClr val="CCECFF"/>
                </a:highlight>
                <a:latin typeface="微软雅黑" panose="020B0503020204020204" charset="-122"/>
                <a:ea typeface="微软雅黑" panose="020B0503020204020204" charset="-122"/>
                <a:cs typeface="微软雅黑" panose="020B0503020204020204" charset="-122"/>
              </a:rPr>
              <a:t>而共用体变量所</a:t>
            </a:r>
            <a:r>
              <a:rPr kern="0" spc="10" dirty="0">
                <a:solidFill>
                  <a:srgbClr val="000000">
                    <a:alpha val="100000"/>
                  </a:srgbClr>
                </a:solidFill>
                <a:highlight>
                  <a:srgbClr val="CCECFF"/>
                </a:highlight>
                <a:latin typeface="微软雅黑" panose="020B0503020204020204" charset="-122"/>
                <a:ea typeface="微软雅黑" panose="020B0503020204020204" charset="-122"/>
                <a:cs typeface="微软雅黑" panose="020B0503020204020204" charset="-122"/>
              </a:rPr>
              <a:t>    </a:t>
            </a:r>
            <a:r>
              <a:rPr kern="0" spc="-70" dirty="0">
                <a:solidFill>
                  <a:srgbClr val="000000">
                    <a:alpha val="100000"/>
                  </a:srgbClr>
                </a:solidFill>
                <a:highlight>
                  <a:srgbClr val="CCECFF"/>
                </a:highlight>
                <a:latin typeface="微软雅黑" panose="020B0503020204020204" charset="-122"/>
                <a:ea typeface="微软雅黑" panose="020B0503020204020204" charset="-122"/>
                <a:cs typeface="微软雅黑" panose="020B0503020204020204" charset="-122"/>
              </a:rPr>
              <a:t>占的内存长度等于最长的成员的长</a:t>
            </a:r>
            <a:r>
              <a:rPr kern="0" spc="-80" dirty="0">
                <a:solidFill>
                  <a:srgbClr val="000000">
                    <a:alpha val="100000"/>
                  </a:srgbClr>
                </a:solidFill>
                <a:highlight>
                  <a:srgbClr val="CCECFF"/>
                </a:highlight>
                <a:latin typeface="微软雅黑" panose="020B0503020204020204" charset="-122"/>
                <a:ea typeface="微软雅黑" panose="020B0503020204020204" charset="-122"/>
                <a:cs typeface="微软雅黑" panose="020B0503020204020204" charset="-122"/>
              </a:rPr>
              <a:t>度</a:t>
            </a:r>
            <a:r>
              <a:rPr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几个成员共用一个内存</a:t>
            </a:r>
            <a:r>
              <a:rPr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区。</a:t>
            </a:r>
            <a:endParaRPr lang="en-US" altLang="en-US" dirty="0"/>
          </a:p>
        </p:txBody>
      </p:sp>
      <p:sp>
        <p:nvSpPr>
          <p:cNvPr id="9280" name="textbox 9280"/>
          <p:cNvSpPr/>
          <p:nvPr/>
        </p:nvSpPr>
        <p:spPr>
          <a:xfrm>
            <a:off x="856884" y="1313688"/>
            <a:ext cx="7564755" cy="286384"/>
          </a:xfrm>
          <a:prstGeom prst="rect">
            <a:avLst/>
          </a:prstGeom>
        </p:spPr>
        <p:txBody>
          <a:bodyPr vert="horz" wrap="square" lIns="0" tIns="0" rIns="0" bIns="0"/>
          <a:lstStyle/>
          <a:p>
            <a:pPr algn="l" rtl="0" eaLnBrk="0">
              <a:lnSpc>
                <a:spcPct val="85000"/>
              </a:lnSpc>
            </a:pPr>
            <a:endParaRPr lang="en-US" altLang="en-US" sz="135" dirty="0"/>
          </a:p>
          <a:p>
            <a:pPr algn="r" rtl="0" eaLnBrk="0">
              <a:lnSpc>
                <a:spcPct val="95000"/>
              </a:lnSpc>
            </a:pPr>
            <a:r>
              <a:rPr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rPr>
              <a:t>使几个不同类型的变量共享同一段内存的结构，</a:t>
            </a:r>
            <a:r>
              <a:rPr kern="0" spc="-24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rPr>
              <a:t>称为</a:t>
            </a:r>
            <a:r>
              <a:rPr b="1"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rPr>
              <a:t>“共用体”类型</a:t>
            </a:r>
            <a:r>
              <a:rPr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rPr>
              <a:t>的结构。</a:t>
            </a:r>
            <a:endParaRPr lang="en-US" altLang="en-US" dirty="0"/>
          </a:p>
        </p:txBody>
      </p:sp>
      <p:sp>
        <p:nvSpPr>
          <p:cNvPr id="9282" name="textbox 9282"/>
          <p:cNvSpPr/>
          <p:nvPr/>
        </p:nvSpPr>
        <p:spPr>
          <a:xfrm>
            <a:off x="787279" y="593871"/>
            <a:ext cx="3263265" cy="496569"/>
          </a:xfrm>
          <a:prstGeom prst="rect">
            <a:avLst/>
          </a:prstGeom>
        </p:spPr>
        <p:txBody>
          <a:bodyPr vert="horz" wrap="square" lIns="0" tIns="0" rIns="0" bIns="0"/>
          <a:lstStyle/>
          <a:p>
            <a:pPr algn="l" rtl="0" eaLnBrk="0">
              <a:lnSpc>
                <a:spcPct val="74000"/>
              </a:lnSpc>
            </a:pPr>
            <a:endParaRPr lang="en-US" altLang="en-US" sz="135" dirty="0"/>
          </a:p>
          <a:p>
            <a:pPr marL="12700" algn="l" rtl="0" eaLnBrk="0">
              <a:lnSpc>
                <a:spcPct val="100000"/>
              </a:lnSpc>
            </a:pPr>
            <a:r>
              <a:rPr sz="31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什么是共用体类型</a:t>
            </a:r>
            <a:endParaRPr lang="en-US" altLang="en-US" sz="3100" dirty="0"/>
          </a:p>
        </p:txBody>
      </p:sp>
      <p:sp>
        <p:nvSpPr>
          <p:cNvPr id="9284" name="path"/>
          <p:cNvSpPr/>
          <p:nvPr/>
        </p:nvSpPr>
        <p:spPr>
          <a:xfrm>
            <a:off x="780380" y="1118108"/>
            <a:ext cx="10547095" cy="25400"/>
          </a:xfrm>
          <a:custGeom>
            <a:avLst/>
            <a:gdLst/>
            <a:ahLst/>
            <a:cxnLst/>
            <a:rect l="0" t="0" r="0" b="0"/>
            <a:pathLst>
              <a:path w="16609" h="40">
                <a:moveTo>
                  <a:pt x="20" y="20"/>
                </a:moveTo>
                <a:lnTo>
                  <a:pt x="16589" y="20"/>
                </a:lnTo>
                <a:lnTo>
                  <a:pt x="20" y="20"/>
                </a:lnTo>
              </a:path>
            </a:pathLst>
          </a:custGeom>
          <a:noFill/>
          <a:ln w="25400" cap="sq">
            <a:solidFill>
              <a:srgbClr val="782367">
                <a:alpha val="100000"/>
              </a:srgbClr>
            </a:solidFill>
            <a:prstDash val="solid"/>
            <a:bevel/>
          </a:ln>
        </p:spPr>
        <p:txBody>
          <a:bodyPr rtlCol="0"/>
          <a:lstStyle/>
          <a:p>
            <a:pPr algn="ctr"/>
            <a:endParaRPr lang="zh-CN" altLang="en-US"/>
          </a:p>
        </p:txBody>
      </p:sp>
      <p:sp>
        <p:nvSpPr>
          <p:cNvPr id="9286" name="path"/>
          <p:cNvSpPr/>
          <p:nvPr/>
        </p:nvSpPr>
        <p:spPr>
          <a:xfrm>
            <a:off x="780380" y="6427723"/>
            <a:ext cx="10547095" cy="25400"/>
          </a:xfrm>
          <a:custGeom>
            <a:avLst/>
            <a:gdLst/>
            <a:ahLst/>
            <a:cxnLst/>
            <a:rect l="0" t="0" r="0" b="0"/>
            <a:pathLst>
              <a:path w="16609" h="40">
                <a:moveTo>
                  <a:pt x="20" y="20"/>
                </a:moveTo>
                <a:lnTo>
                  <a:pt x="16589" y="20"/>
                </a:lnTo>
                <a:lnTo>
                  <a:pt x="20" y="20"/>
                </a:lnTo>
              </a:path>
            </a:pathLst>
          </a:custGeom>
          <a:noFill/>
          <a:ln w="25400" cap="sq">
            <a:solidFill>
              <a:srgbClr val="782367">
                <a:alpha val="100000"/>
              </a:srgbClr>
            </a:solidFill>
            <a:prstDash val="solid"/>
            <a:bevel/>
          </a:ln>
        </p:spPr>
        <p:txBody>
          <a:bodyPr rtlCol="0"/>
          <a:lstStyle/>
          <a:p>
            <a:pPr algn="ctr"/>
            <a:endParaRPr lang="zh-CN" altLang="en-US"/>
          </a:p>
        </p:txBody>
      </p:sp>
      <p:sp>
        <p:nvSpPr>
          <p:cNvPr id="2" name="矩形 1"/>
          <p:cNvSpPr/>
          <p:nvPr>
            <p:custDataLst>
              <p:tags r:id="rId1"/>
            </p:custDataLst>
          </p:nvPr>
        </p:nvSpPr>
        <p:spPr>
          <a:xfrm>
            <a:off x="922020" y="1767205"/>
            <a:ext cx="2349500" cy="1365885"/>
          </a:xfrm>
          <a:prstGeom prst="rect">
            <a:avLst/>
          </a:prstGeom>
          <a:solidFill>
            <a:srgbClr val="CCECFF">
              <a:alpha val="99000"/>
            </a:srgbClr>
          </a:solidFill>
          <a:ln>
            <a:solidFill>
              <a:srgbClr val="CCECFF"/>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204470" algn="l" rtl="0" eaLnBrk="0">
              <a:lnSpc>
                <a:spcPct val="91000"/>
              </a:lnSpc>
              <a:spcBef>
                <a:spcPts val="5"/>
              </a:spcBef>
            </a:pPr>
            <a:endParaRPr b="1" kern="0" spc="-20" dirty="0">
              <a:solidFill>
                <a:schemeClr val="tx1">
                  <a:alpha val="100000"/>
                </a:schemeClr>
              </a:solidFill>
              <a:latin typeface="微软雅黑" panose="020B0503020204020204" charset="-122"/>
              <a:ea typeface="微软雅黑" panose="020B0503020204020204" charset="-122"/>
              <a:cs typeface="微软雅黑" panose="020B0503020204020204" charset="-122"/>
              <a:sym typeface="+mn-ea"/>
            </a:endParaRPr>
          </a:p>
          <a:p>
            <a:pPr marL="204470" algn="l" rtl="0" eaLnBrk="0">
              <a:lnSpc>
                <a:spcPct val="91000"/>
              </a:lnSpc>
              <a:spcBef>
                <a:spcPts val="5"/>
              </a:spcBef>
            </a:pPr>
            <a:r>
              <a:rPr b="1" kern="0" spc="-20" dirty="0">
                <a:solidFill>
                  <a:srgbClr val="1100CC">
                    <a:alpha val="100000"/>
                  </a:srgbClr>
                </a:solidFill>
                <a:latin typeface="微软雅黑" panose="020B0503020204020204" charset="-122"/>
                <a:ea typeface="微软雅黑" panose="020B0503020204020204" charset="-122"/>
                <a:cs typeface="微软雅黑" panose="020B0503020204020204" charset="-122"/>
                <a:sym typeface="+mn-ea"/>
              </a:rPr>
              <a:t>union共用体名</a:t>
            </a:r>
            <a:endParaRPr lang="en-US" altLang="en-US" dirty="0">
              <a:solidFill>
                <a:srgbClr val="1100CC"/>
              </a:solidFill>
            </a:endParaRPr>
          </a:p>
          <a:p>
            <a:pPr marL="189230" algn="l" rtl="0" eaLnBrk="0">
              <a:lnSpc>
                <a:spcPts val="2880"/>
              </a:lnSpc>
            </a:pPr>
            <a:r>
              <a:rPr b="1" kern="0" spc="40" dirty="0">
                <a:solidFill>
                  <a:srgbClr val="1100CC">
                    <a:alpha val="100000"/>
                  </a:srgbClr>
                </a:solidFill>
                <a:latin typeface="微软雅黑" panose="020B0503020204020204" charset="-122"/>
                <a:ea typeface="微软雅黑" panose="020B0503020204020204" charset="-122"/>
                <a:cs typeface="微软雅黑" panose="020B0503020204020204" charset="-122"/>
                <a:sym typeface="+mn-ea"/>
              </a:rPr>
              <a:t>{</a:t>
            </a:r>
            <a:r>
              <a:rPr b="1" kern="0" spc="30" dirty="0">
                <a:solidFill>
                  <a:srgbClr val="1100CC">
                    <a:alpha val="100000"/>
                  </a:srgbClr>
                </a:solidFill>
                <a:latin typeface="微软雅黑" panose="020B0503020204020204" charset="-122"/>
                <a:ea typeface="微软雅黑" panose="020B0503020204020204" charset="-122"/>
                <a:cs typeface="微软雅黑" panose="020B0503020204020204" charset="-122"/>
                <a:sym typeface="+mn-ea"/>
              </a:rPr>
              <a:t>      </a:t>
            </a:r>
            <a:r>
              <a:rPr b="1" kern="0" spc="40" dirty="0">
                <a:solidFill>
                  <a:srgbClr val="1100CC">
                    <a:alpha val="100000"/>
                  </a:srgbClr>
                </a:solidFill>
                <a:latin typeface="微软雅黑" panose="020B0503020204020204" charset="-122"/>
                <a:ea typeface="微软雅黑" panose="020B0503020204020204" charset="-122"/>
                <a:cs typeface="微软雅黑" panose="020B0503020204020204" charset="-122"/>
                <a:sym typeface="+mn-ea"/>
              </a:rPr>
              <a:t>成员表列</a:t>
            </a:r>
            <a:endParaRPr lang="en-US" altLang="en-US" dirty="0">
              <a:solidFill>
                <a:srgbClr val="1100CC"/>
              </a:solidFill>
            </a:endParaRPr>
          </a:p>
          <a:p>
            <a:pPr marL="189865" algn="l" rtl="0" eaLnBrk="0">
              <a:lnSpc>
                <a:spcPts val="2880"/>
              </a:lnSpc>
            </a:pPr>
            <a:r>
              <a:rPr b="1" kern="0" spc="40" dirty="0">
                <a:solidFill>
                  <a:srgbClr val="1100CC">
                    <a:alpha val="100000"/>
                  </a:srgbClr>
                </a:solidFill>
                <a:latin typeface="微软雅黑" panose="020B0503020204020204" charset="-122"/>
                <a:ea typeface="微软雅黑" panose="020B0503020204020204" charset="-122"/>
                <a:cs typeface="微软雅黑" panose="020B0503020204020204" charset="-122"/>
                <a:sym typeface="+mn-ea"/>
              </a:rPr>
              <a:t>}变量表列;</a:t>
            </a:r>
            <a:endParaRPr lang="en-US" altLang="en-US" dirty="0">
              <a:solidFill>
                <a:srgbClr val="1100CC"/>
              </a:solidFill>
            </a:endParaRPr>
          </a:p>
          <a:p>
            <a:pPr algn="ctr"/>
            <a:endParaRPr lang="en-US" altLang="en-US" dirty="0">
              <a:solidFill>
                <a:srgbClr val="1100CC"/>
              </a:solidFill>
            </a:endParaRPr>
          </a:p>
        </p:txBody>
      </p:sp>
      <p:sp>
        <p:nvSpPr>
          <p:cNvPr id="3" name="矩形 2"/>
          <p:cNvSpPr/>
          <p:nvPr>
            <p:custDataLst>
              <p:tags r:id="rId2"/>
            </p:custDataLst>
          </p:nvPr>
        </p:nvSpPr>
        <p:spPr>
          <a:xfrm>
            <a:off x="7270115" y="1743075"/>
            <a:ext cx="3949700" cy="1513205"/>
          </a:xfrm>
          <a:prstGeom prst="rect">
            <a:avLst/>
          </a:prstGeom>
          <a:solidFill>
            <a:schemeClr val="bg1"/>
          </a:solidFill>
          <a:ln>
            <a:solidFill>
              <a:srgbClr val="782367"/>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130175" algn="l" rtl="0" eaLnBrk="0">
              <a:lnSpc>
                <a:spcPct val="96000"/>
              </a:lnSpc>
            </a:pPr>
            <a:endParaRPr sz="14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endParaRPr>
          </a:p>
          <a:p>
            <a:pPr marL="130175" algn="l" rtl="0" eaLnBrk="0">
              <a:lnSpc>
                <a:spcPct val="96000"/>
              </a:lnSpc>
            </a:pPr>
            <a:r>
              <a:rPr sz="14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union          </a:t>
            </a:r>
            <a:r>
              <a:rPr sz="1400" kern="0" spc="-3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//没有定义共用体类型名</a:t>
            </a:r>
            <a:endParaRPr lang="en-US" altLang="en-US" sz="1400" dirty="0"/>
          </a:p>
          <a:p>
            <a:pPr marL="116205" algn="l" rtl="0" eaLnBrk="0">
              <a:lnSpc>
                <a:spcPts val="1770"/>
              </a:lnSpc>
              <a:spcBef>
                <a:spcPts val="90"/>
              </a:spcBef>
            </a:pP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r>
              <a:rPr sz="1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lang="en-US" sz="1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short</a:t>
            </a:r>
            <a:r>
              <a:rPr sz="1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int</a:t>
            </a:r>
            <a:r>
              <a:rPr sz="1400" kern="0" spc="1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i;</a:t>
            </a:r>
            <a:endParaRPr lang="en-US" altLang="en-US" sz="1400" dirty="0"/>
          </a:p>
          <a:p>
            <a:pPr marL="487680" algn="l" rtl="0" eaLnBrk="0">
              <a:lnSpc>
                <a:spcPct val="93000"/>
              </a:lnSpc>
              <a:spcBef>
                <a:spcPts val="150"/>
              </a:spcBef>
            </a:pPr>
            <a:r>
              <a:rPr sz="1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char</a:t>
            </a:r>
            <a:r>
              <a:rPr sz="1400"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ch;</a:t>
            </a:r>
            <a:endParaRPr lang="en-US" altLang="en-US" sz="1400" dirty="0"/>
          </a:p>
          <a:p>
            <a:pPr marL="482600" algn="l" rtl="0" eaLnBrk="0">
              <a:lnSpc>
                <a:spcPts val="1920"/>
              </a:lnSpc>
            </a:pP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float</a:t>
            </a:r>
            <a:r>
              <a:rPr sz="1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f;</a:t>
            </a:r>
            <a:endParaRPr lang="en-US" altLang="en-US" sz="1400" dirty="0"/>
          </a:p>
          <a:p>
            <a:pPr marL="116840" algn="l" rtl="0" eaLnBrk="0">
              <a:lnSpc>
                <a:spcPct val="93000"/>
              </a:lnSpc>
              <a:spcBef>
                <a:spcPts val="245"/>
              </a:spcBef>
            </a:pPr>
            <a:r>
              <a:rPr sz="14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}a,b,c;</a:t>
            </a:r>
            <a:endParaRPr lang="en-US" altLang="en-US" sz="1400" dirty="0"/>
          </a:p>
          <a:p>
            <a:pPr algn="ctr"/>
            <a:endParaRPr lang="zh-CN" altLang="en-US" sz="1400"/>
          </a:p>
        </p:txBody>
      </p:sp>
      <p:sp>
        <p:nvSpPr>
          <p:cNvPr id="4" name="矩形 3"/>
          <p:cNvSpPr/>
          <p:nvPr>
            <p:custDataLst>
              <p:tags r:id="rId3"/>
            </p:custDataLst>
          </p:nvPr>
        </p:nvSpPr>
        <p:spPr>
          <a:xfrm>
            <a:off x="902970" y="3181985"/>
            <a:ext cx="5678170" cy="1537970"/>
          </a:xfrm>
          <a:prstGeom prst="rect">
            <a:avLst/>
          </a:prstGeom>
          <a:solidFill>
            <a:schemeClr val="bg1"/>
          </a:solidFill>
          <a:ln>
            <a:solidFill>
              <a:srgbClr val="782367"/>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128270" algn="l" rtl="0" eaLnBrk="0">
              <a:lnSpc>
                <a:spcPct val="93000"/>
              </a:lnSpc>
              <a:spcBef>
                <a:spcPts val="0"/>
              </a:spcBef>
            </a:pPr>
            <a:endParaRPr sz="14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endParaRPr>
          </a:p>
          <a:p>
            <a:pPr marL="128270" algn="l" rtl="0" eaLnBrk="0">
              <a:lnSpc>
                <a:spcPct val="93000"/>
              </a:lnSpc>
              <a:spcBef>
                <a:spcPts val="0"/>
              </a:spcBef>
            </a:pPr>
            <a:r>
              <a:rPr sz="14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union</a:t>
            </a:r>
            <a:r>
              <a:rPr sz="1400" kern="0" spc="1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Data</a:t>
            </a:r>
            <a:endParaRPr lang="en-US" altLang="en-US" sz="1400" dirty="0"/>
          </a:p>
          <a:p>
            <a:pPr marL="114300" algn="l" rtl="0" eaLnBrk="0">
              <a:lnSpc>
                <a:spcPts val="1920"/>
              </a:lnSpc>
            </a:pPr>
            <a:r>
              <a:rPr sz="1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r>
              <a:rPr sz="1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lang="en-US" sz="1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short </a:t>
            </a:r>
            <a:r>
              <a:rPr sz="1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int</a:t>
            </a:r>
            <a:r>
              <a:rPr sz="1400" kern="0" spc="1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i;</a:t>
            </a:r>
            <a:endParaRPr lang="en-US" altLang="en-US" sz="1400" dirty="0"/>
          </a:p>
          <a:p>
            <a:pPr marL="476885" algn="l" rtl="0" eaLnBrk="0">
              <a:lnSpc>
                <a:spcPct val="96000"/>
              </a:lnSpc>
              <a:spcBef>
                <a:spcPts val="235"/>
              </a:spcBef>
            </a:pPr>
            <a:r>
              <a:rPr sz="1400" kern="0" spc="-1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//表示不同类型的</a:t>
            </a:r>
            <a:r>
              <a:rPr sz="1400" kern="0" spc="-2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变量i,ch,f可以存放到同一段存储单元中</a:t>
            </a:r>
            <a:endParaRPr lang="en-US" altLang="en-US" sz="1400" dirty="0"/>
          </a:p>
          <a:p>
            <a:pPr marL="485775" algn="l" rtl="0" eaLnBrk="0">
              <a:lnSpc>
                <a:spcPct val="93000"/>
              </a:lnSpc>
              <a:spcBef>
                <a:spcPts val="90"/>
              </a:spcBef>
            </a:pPr>
            <a:r>
              <a:rPr sz="1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char</a:t>
            </a:r>
            <a:r>
              <a:rPr sz="14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ch;</a:t>
            </a:r>
            <a:endParaRPr lang="en-US" altLang="en-US" sz="1400" dirty="0"/>
          </a:p>
          <a:p>
            <a:pPr marL="480695" algn="l" rtl="0" eaLnBrk="0">
              <a:lnSpc>
                <a:spcPts val="1920"/>
              </a:lnSpc>
            </a:pP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float</a:t>
            </a:r>
            <a:r>
              <a:rPr sz="1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f;</a:t>
            </a:r>
            <a:endParaRPr lang="en-US" altLang="en-US" sz="1400" dirty="0"/>
          </a:p>
          <a:p>
            <a:pPr marL="114300" algn="l" rtl="0" eaLnBrk="0">
              <a:lnSpc>
                <a:spcPct val="91000"/>
              </a:lnSpc>
              <a:spcBef>
                <a:spcPts val="245"/>
              </a:spcBef>
            </a:pPr>
            <a:r>
              <a:rPr sz="1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}a,b,c;             </a:t>
            </a:r>
            <a:r>
              <a:rPr sz="1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2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a:t>
            </a:r>
            <a:r>
              <a:rPr sz="1400" kern="0" spc="-20" dirty="0">
                <a:solidFill>
                  <a:srgbClr val="008000">
                    <a:alpha val="100000"/>
                  </a:srgbClr>
                </a:solidFill>
                <a:highlight>
                  <a:srgbClr val="F2C0FD"/>
                </a:highlight>
                <a:latin typeface="微软雅黑" panose="020B0503020204020204" charset="-122"/>
                <a:ea typeface="微软雅黑" panose="020B0503020204020204" charset="-122"/>
                <a:cs typeface="微软雅黑" panose="020B0503020204020204" charset="-122"/>
                <a:sym typeface="+mn-ea"/>
              </a:rPr>
              <a:t>在声明类型同时定义变量</a:t>
            </a:r>
            <a:endParaRPr lang="en-US" altLang="en-US" sz="1400" dirty="0">
              <a:highlight>
                <a:srgbClr val="F2C0FD"/>
              </a:highlight>
            </a:endParaRPr>
          </a:p>
          <a:p>
            <a:pPr algn="ctr"/>
            <a:endParaRPr lang="zh-CN" altLang="en-US" sz="1400" dirty="0"/>
          </a:p>
        </p:txBody>
      </p:sp>
      <p:sp>
        <p:nvSpPr>
          <p:cNvPr id="5" name="矩形 4"/>
          <p:cNvSpPr/>
          <p:nvPr>
            <p:custDataLst>
              <p:tags r:id="rId4"/>
            </p:custDataLst>
          </p:nvPr>
        </p:nvSpPr>
        <p:spPr>
          <a:xfrm>
            <a:off x="880745" y="4794250"/>
            <a:ext cx="5683885" cy="1648460"/>
          </a:xfrm>
          <a:prstGeom prst="rect">
            <a:avLst/>
          </a:prstGeom>
          <a:solidFill>
            <a:schemeClr val="bg1"/>
          </a:solidFill>
          <a:ln>
            <a:solidFill>
              <a:srgbClr val="782367"/>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128270" algn="l" rtl="0" eaLnBrk="0">
              <a:lnSpc>
                <a:spcPct val="93000"/>
              </a:lnSpc>
              <a:spcBef>
                <a:spcPts val="0"/>
              </a:spcBef>
            </a:pPr>
            <a:endParaRPr sz="14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endParaRPr>
          </a:p>
          <a:p>
            <a:pPr marL="128270" algn="l" rtl="0" eaLnBrk="0">
              <a:lnSpc>
                <a:spcPct val="93000"/>
              </a:lnSpc>
              <a:spcBef>
                <a:spcPts val="0"/>
              </a:spcBef>
            </a:pPr>
            <a:r>
              <a:rPr sz="14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union</a:t>
            </a:r>
            <a:r>
              <a:rPr sz="1400" kern="0" spc="1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Data</a:t>
            </a:r>
            <a:r>
              <a:rPr lang="en-US" sz="14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2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//声明共用体类型</a:t>
            </a:r>
            <a:endParaRPr lang="en-US" altLang="en-US" sz="1400" dirty="0"/>
          </a:p>
          <a:p>
            <a:pPr marL="114300" algn="l" rtl="0" eaLnBrk="0">
              <a:lnSpc>
                <a:spcPts val="1920"/>
              </a:lnSpc>
            </a:pP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r>
              <a:rPr sz="1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lang="en-US" sz="1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short </a:t>
            </a: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int</a:t>
            </a:r>
            <a:r>
              <a:rPr sz="1400" kern="0" spc="1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i;</a:t>
            </a:r>
            <a:endParaRPr lang="en-US" altLang="en-US" sz="1400" dirty="0"/>
          </a:p>
          <a:p>
            <a:pPr marL="485775" algn="l" rtl="0" eaLnBrk="0">
              <a:lnSpc>
                <a:spcPts val="1830"/>
              </a:lnSpc>
              <a:spcBef>
                <a:spcPts val="245"/>
              </a:spcBef>
            </a:pPr>
            <a:r>
              <a:rPr sz="1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char</a:t>
            </a:r>
            <a:r>
              <a:rPr sz="1400"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ch;</a:t>
            </a:r>
            <a:endParaRPr lang="en-US" altLang="en-US" sz="1400" dirty="0"/>
          </a:p>
          <a:p>
            <a:pPr marL="480695" algn="l" rtl="0" eaLnBrk="0">
              <a:lnSpc>
                <a:spcPct val="93000"/>
              </a:lnSpc>
              <a:spcBef>
                <a:spcPts val="95"/>
              </a:spcBef>
            </a:pP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float</a:t>
            </a:r>
            <a:r>
              <a:rPr sz="1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f;</a:t>
            </a:r>
            <a:endParaRPr lang="en-US" altLang="en-US" sz="1400" dirty="0"/>
          </a:p>
          <a:p>
            <a:pPr marL="114300" algn="l" rtl="0" eaLnBrk="0">
              <a:lnSpc>
                <a:spcPts val="2030"/>
              </a:lnSpc>
            </a:pP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endParaRPr lang="en-US" altLang="en-US" sz="1400" dirty="0"/>
          </a:p>
          <a:p>
            <a:pPr marL="128270" algn="l" rtl="0" eaLnBrk="0">
              <a:lnSpc>
                <a:spcPct val="97000"/>
              </a:lnSpc>
              <a:spcBef>
                <a:spcPts val="125"/>
              </a:spcBef>
            </a:pPr>
            <a:r>
              <a:rPr sz="1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union</a:t>
            </a:r>
            <a:r>
              <a:rPr sz="1400" kern="0" spc="18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Data a,b,c;</a:t>
            </a:r>
            <a:r>
              <a:rPr lang="en-US" sz="1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1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//用共用体类型定义变量</a:t>
            </a:r>
            <a:endParaRPr lang="en-US" altLang="en-US" sz="1400" dirty="0"/>
          </a:p>
          <a:p>
            <a:pPr algn="ctr"/>
            <a:endParaRPr lang="zh-CN" altLang="en-US" sz="1400"/>
          </a:p>
        </p:txBody>
      </p:sp>
      <p:pic>
        <p:nvPicPr>
          <p:cNvPr id="6" name="图片 5"/>
          <p:cNvPicPr>
            <a:picLocks noChangeAspect="1"/>
          </p:cNvPicPr>
          <p:nvPr>
            <p:custDataLst>
              <p:tags r:id="rId5"/>
            </p:custDataLst>
          </p:nvPr>
        </p:nvPicPr>
        <p:blipFill>
          <a:blip r:embed="rId7"/>
          <a:stretch>
            <a:fillRect/>
          </a:stretch>
        </p:blipFill>
        <p:spPr>
          <a:xfrm>
            <a:off x="3651885" y="1770380"/>
            <a:ext cx="2929255" cy="1129665"/>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96" name="textbox 9296"/>
          <p:cNvSpPr/>
          <p:nvPr/>
        </p:nvSpPr>
        <p:spPr>
          <a:xfrm>
            <a:off x="1216396" y="1659255"/>
            <a:ext cx="9648825" cy="286384"/>
          </a:xfrm>
          <a:prstGeom prst="rect">
            <a:avLst/>
          </a:prstGeom>
        </p:spPr>
        <p:txBody>
          <a:bodyPr vert="horz" wrap="square" lIns="0" tIns="0" rIns="0" bIns="0"/>
          <a:lstStyle/>
          <a:p>
            <a:pPr algn="l" rtl="0" eaLnBrk="0">
              <a:lnSpc>
                <a:spcPct val="85000"/>
              </a:lnSpc>
            </a:pPr>
            <a:endParaRPr lang="en-US" altLang="en-US" sz="135" dirty="0"/>
          </a:p>
          <a:p>
            <a:pPr marL="12700" algn="l" rtl="0" eaLnBrk="0">
              <a:lnSpc>
                <a:spcPct val="95000"/>
              </a:lnSpc>
            </a:pPr>
            <a:r>
              <a:rPr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只有先定义了共用体变量才能引用它，</a:t>
            </a:r>
            <a:r>
              <a:rPr kern="0" spc="-3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但应注意</a:t>
            </a:r>
            <a:r>
              <a:rPr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kern="0" spc="-27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不能引用共用体变量，</a:t>
            </a:r>
            <a:r>
              <a:rPr kern="0" spc="-25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而只能引用共用体变量</a:t>
            </a:r>
            <a:endParaRPr lang="en-US" altLang="en-US" dirty="0"/>
          </a:p>
        </p:txBody>
      </p:sp>
      <p:sp>
        <p:nvSpPr>
          <p:cNvPr id="9298" name="textbox 9298"/>
          <p:cNvSpPr/>
          <p:nvPr/>
        </p:nvSpPr>
        <p:spPr>
          <a:xfrm>
            <a:off x="1251855" y="884447"/>
            <a:ext cx="4050665" cy="496569"/>
          </a:xfrm>
          <a:prstGeom prst="rect">
            <a:avLst/>
          </a:prstGeom>
        </p:spPr>
        <p:txBody>
          <a:bodyPr vert="horz" wrap="square" lIns="0" tIns="0" rIns="0" bIns="0"/>
          <a:lstStyle/>
          <a:p>
            <a:pPr algn="l" rtl="0" eaLnBrk="0">
              <a:lnSpc>
                <a:spcPct val="74000"/>
              </a:lnSpc>
            </a:pPr>
            <a:endParaRPr lang="en-US" altLang="en-US" sz="135" dirty="0"/>
          </a:p>
          <a:p>
            <a:pPr marL="12700" algn="l" rtl="0" eaLnBrk="0">
              <a:lnSpc>
                <a:spcPct val="100000"/>
              </a:lnSpc>
            </a:pPr>
            <a:r>
              <a:rPr sz="31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rPr>
              <a:t>引用共用体变量的方式</a:t>
            </a:r>
            <a:endParaRPr lang="en-US" altLang="en-US" sz="3100" dirty="0"/>
          </a:p>
        </p:txBody>
      </p:sp>
      <p:sp>
        <p:nvSpPr>
          <p:cNvPr id="9308" name="textbox 9308"/>
          <p:cNvSpPr/>
          <p:nvPr/>
        </p:nvSpPr>
        <p:spPr>
          <a:xfrm>
            <a:off x="1234684" y="2071116"/>
            <a:ext cx="1108711" cy="283845"/>
          </a:xfrm>
          <a:prstGeom prst="rect">
            <a:avLst/>
          </a:prstGeom>
        </p:spPr>
        <p:txBody>
          <a:bodyPr vert="horz" wrap="square" lIns="0" tIns="0" rIns="0" bIns="0"/>
          <a:lstStyle/>
          <a:p>
            <a:pPr algn="l" rtl="0" eaLnBrk="0">
              <a:lnSpc>
                <a:spcPct val="83000"/>
              </a:lnSpc>
            </a:pPr>
            <a:endParaRPr lang="en-US" altLang="en-US" sz="135" dirty="0"/>
          </a:p>
          <a:p>
            <a:pPr algn="r" rtl="0" eaLnBrk="0">
              <a:lnSpc>
                <a:spcPts val="2030"/>
              </a:lnSpc>
            </a:pPr>
            <a:r>
              <a:rPr sz="18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中的成员。</a:t>
            </a:r>
            <a:endParaRPr lang="en-US" altLang="en-US" sz="1600" dirty="0"/>
          </a:p>
        </p:txBody>
      </p:sp>
      <p:sp>
        <p:nvSpPr>
          <p:cNvPr id="9310" name="path"/>
          <p:cNvSpPr/>
          <p:nvPr/>
        </p:nvSpPr>
        <p:spPr>
          <a:xfrm>
            <a:off x="1130900" y="1462532"/>
            <a:ext cx="9806431" cy="25400"/>
          </a:xfrm>
          <a:custGeom>
            <a:avLst/>
            <a:gdLst/>
            <a:ahLst/>
            <a:cxnLst/>
            <a:rect l="0" t="0" r="0" b="0"/>
            <a:pathLst>
              <a:path w="15443" h="40">
                <a:moveTo>
                  <a:pt x="20" y="20"/>
                </a:moveTo>
                <a:lnTo>
                  <a:pt x="15423" y="20"/>
                </a:lnTo>
                <a:lnTo>
                  <a:pt x="20" y="20"/>
                </a:lnTo>
              </a:path>
            </a:pathLst>
          </a:custGeom>
          <a:noFill/>
          <a:ln w="25400" cap="sq">
            <a:solidFill>
              <a:srgbClr val="782367">
                <a:alpha val="100000"/>
              </a:srgbClr>
            </a:solidFill>
            <a:prstDash val="solid"/>
            <a:bevel/>
          </a:ln>
        </p:spPr>
        <p:txBody>
          <a:bodyPr rtlCol="0"/>
          <a:lstStyle/>
          <a:p>
            <a:pPr algn="ctr"/>
            <a:endParaRPr lang="zh-CN" altLang="en-US"/>
          </a:p>
        </p:txBody>
      </p:sp>
      <p:sp>
        <p:nvSpPr>
          <p:cNvPr id="9312" name="path"/>
          <p:cNvSpPr/>
          <p:nvPr/>
        </p:nvSpPr>
        <p:spPr>
          <a:xfrm>
            <a:off x="1130900" y="5732779"/>
            <a:ext cx="9806431" cy="25400"/>
          </a:xfrm>
          <a:custGeom>
            <a:avLst/>
            <a:gdLst/>
            <a:ahLst/>
            <a:cxnLst/>
            <a:rect l="0" t="0" r="0" b="0"/>
            <a:pathLst>
              <a:path w="15443" h="40">
                <a:moveTo>
                  <a:pt x="20" y="20"/>
                </a:moveTo>
                <a:lnTo>
                  <a:pt x="15423" y="20"/>
                </a:lnTo>
                <a:lnTo>
                  <a:pt x="20" y="20"/>
                </a:lnTo>
              </a:path>
            </a:pathLst>
          </a:custGeom>
          <a:noFill/>
          <a:ln w="25400" cap="sq">
            <a:solidFill>
              <a:srgbClr val="782367">
                <a:alpha val="100000"/>
              </a:srgbClr>
            </a:solidFill>
            <a:prstDash val="solid"/>
            <a:bevel/>
          </a:ln>
        </p:spPr>
        <p:txBody>
          <a:bodyPr rtlCol="0"/>
          <a:lstStyle/>
          <a:p>
            <a:pPr algn="ctr"/>
            <a:endParaRPr lang="zh-CN" altLang="en-US"/>
          </a:p>
        </p:txBody>
      </p:sp>
      <p:sp>
        <p:nvSpPr>
          <p:cNvPr id="2" name="文本框 1"/>
          <p:cNvSpPr txBox="1"/>
          <p:nvPr/>
        </p:nvSpPr>
        <p:spPr>
          <a:xfrm>
            <a:off x="4234180" y="2851785"/>
            <a:ext cx="6096000" cy="1064895"/>
          </a:xfrm>
          <a:prstGeom prst="rect">
            <a:avLst/>
          </a:prstGeom>
          <a:noFill/>
        </p:spPr>
        <p:txBody>
          <a:bodyPr wrap="square" rtlCol="0" anchor="t">
            <a:spAutoFit/>
          </a:bodyPr>
          <a:lstStyle/>
          <a:p>
            <a:pPr marL="117475" algn="l" rtl="0" eaLnBrk="0">
              <a:lnSpc>
                <a:spcPct val="96000"/>
              </a:lnSpc>
            </a:pPr>
            <a:r>
              <a:rPr sz="16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a.i</a:t>
            </a:r>
            <a:r>
              <a:rPr sz="16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600" kern="0" spc="-2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//引用共用体变量中的整型变量i</a:t>
            </a:r>
            <a:endParaRPr lang="en-US" altLang="en-US" sz="1600" dirty="0"/>
          </a:p>
          <a:p>
            <a:pPr marL="117475" algn="l" rtl="0" eaLnBrk="0">
              <a:lnSpc>
                <a:spcPct val="96000"/>
              </a:lnSpc>
              <a:spcBef>
                <a:spcPts val="1035"/>
              </a:spcBef>
            </a:pPr>
            <a:r>
              <a:rPr sz="16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a.ch      </a:t>
            </a:r>
            <a:r>
              <a:rPr sz="1600" kern="0" spc="-1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a:t>
            </a:r>
            <a:r>
              <a:rPr sz="1600" kern="0" spc="-2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/引用共用体变量中的字符变量ch</a:t>
            </a:r>
            <a:endParaRPr lang="en-US" altLang="en-US" sz="1600" dirty="0"/>
          </a:p>
          <a:p>
            <a:pPr algn="l" rtl="0" eaLnBrk="0">
              <a:lnSpc>
                <a:spcPct val="108000"/>
              </a:lnSpc>
            </a:pPr>
            <a:endParaRPr lang="en-US" altLang="en-US" sz="800" dirty="0"/>
          </a:p>
          <a:p>
            <a:pPr marL="117475" algn="l" rtl="0" eaLnBrk="0">
              <a:lnSpc>
                <a:spcPct val="96000"/>
              </a:lnSpc>
              <a:spcBef>
                <a:spcPts val="5"/>
              </a:spcBef>
            </a:pPr>
            <a:r>
              <a:rPr sz="16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a.f</a:t>
            </a:r>
            <a:r>
              <a:rPr sz="16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600" kern="0" spc="-2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//引用共用体变量中的实型变量f</a:t>
            </a:r>
            <a:endParaRPr lang="zh-CN" altLang="en-US" sz="1600" kern="0" spc="-2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endParaRPr>
          </a:p>
        </p:txBody>
      </p:sp>
      <p:sp>
        <p:nvSpPr>
          <p:cNvPr id="3" name="文本框 2"/>
          <p:cNvSpPr txBox="1"/>
          <p:nvPr/>
        </p:nvSpPr>
        <p:spPr>
          <a:xfrm>
            <a:off x="4234180" y="4202430"/>
            <a:ext cx="6096000" cy="303530"/>
          </a:xfrm>
          <a:prstGeom prst="rect">
            <a:avLst/>
          </a:prstGeom>
          <a:noFill/>
        </p:spPr>
        <p:txBody>
          <a:bodyPr wrap="square" rtlCol="0" anchor="t">
            <a:spAutoFit/>
          </a:bodyPr>
          <a:lstStyle/>
          <a:p>
            <a:pPr marL="123190" algn="l" rtl="0" eaLnBrk="0">
              <a:lnSpc>
                <a:spcPct val="92000"/>
              </a:lnSpc>
            </a:pPr>
            <a:r>
              <a:rPr sz="15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printf(″%d</a:t>
            </a:r>
            <a:r>
              <a:rPr sz="1500"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a:t>
            </a:r>
            <a:endParaRPr lang="zh-CN" altLang="en-US" sz="1500"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endParaRPr>
          </a:p>
        </p:txBody>
      </p:sp>
      <p:pic>
        <p:nvPicPr>
          <p:cNvPr id="4" name="图片 3" descr="3b32303235343734313bb4edb2e6"/>
          <p:cNvPicPr>
            <a:picLocks noChangeAspect="1"/>
          </p:cNvPicPr>
          <p:nvPr>
            <p:custDataLst>
              <p:tags r:id="rId1"/>
            </p:custDataLst>
          </p:nvPr>
        </p:nvPicPr>
        <p:blipFill>
          <a:blip r:embed="rId3"/>
          <a:stretch>
            <a:fillRect/>
          </a:stretch>
        </p:blipFill>
        <p:spPr>
          <a:xfrm>
            <a:off x="7591425" y="4041140"/>
            <a:ext cx="468000" cy="468000"/>
          </a:xfrm>
          <a:prstGeom prst="rect">
            <a:avLst/>
          </a:prstGeom>
        </p:spPr>
      </p:pic>
      <p:sp>
        <p:nvSpPr>
          <p:cNvPr id="5" name="文本框 4"/>
          <p:cNvSpPr txBox="1"/>
          <p:nvPr/>
        </p:nvSpPr>
        <p:spPr>
          <a:xfrm>
            <a:off x="4234180" y="4822825"/>
            <a:ext cx="6096000" cy="305435"/>
          </a:xfrm>
          <a:prstGeom prst="rect">
            <a:avLst/>
          </a:prstGeom>
          <a:noFill/>
        </p:spPr>
        <p:txBody>
          <a:bodyPr wrap="square" rtlCol="0" anchor="t">
            <a:spAutoFit/>
          </a:bodyPr>
          <a:lstStyle/>
          <a:p>
            <a:pPr marL="123190" algn="l" rtl="0" eaLnBrk="0">
              <a:lnSpc>
                <a:spcPct val="93000"/>
              </a:lnSpc>
              <a:spcBef>
                <a:spcPts val="5"/>
              </a:spcBef>
            </a:pPr>
            <a:r>
              <a:rPr sz="15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printf(″%d″,a.i);</a:t>
            </a:r>
            <a:endParaRPr lang="zh-CN" altLang="en-US" sz="15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endParaRPr>
          </a:p>
        </p:txBody>
      </p:sp>
      <p:pic>
        <p:nvPicPr>
          <p:cNvPr id="6" name="图片 5" descr="3b32313630303736343bb6d4b9b4"/>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591425" y="4791710"/>
            <a:ext cx="468000" cy="46800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4" name="textbox 9314"/>
          <p:cNvSpPr/>
          <p:nvPr/>
        </p:nvSpPr>
        <p:spPr>
          <a:xfrm>
            <a:off x="863899" y="1162184"/>
            <a:ext cx="10410825" cy="5204459"/>
          </a:xfrm>
          <a:prstGeom prst="rect">
            <a:avLst/>
          </a:prstGeom>
        </p:spPr>
        <p:txBody>
          <a:bodyPr vert="horz" wrap="square" lIns="0" tIns="0" rIns="0" bIns="0"/>
          <a:lstStyle/>
          <a:p>
            <a:pPr algn="l" rtl="0" eaLnBrk="0">
              <a:lnSpc>
                <a:spcPct val="83000"/>
              </a:lnSpc>
            </a:pPr>
            <a:endParaRPr lang="en-US" altLang="en-US" sz="135" dirty="0"/>
          </a:p>
          <a:p>
            <a:pPr marL="20955" algn="l" rtl="0" eaLnBrk="0">
              <a:lnSpc>
                <a:spcPct val="87000"/>
              </a:lnSpc>
            </a:pPr>
            <a:r>
              <a:rPr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(1)</a:t>
            </a:r>
            <a:r>
              <a:rPr kern="0" spc="46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同一个内存段可以用来存放几种不同类型的成员，</a:t>
            </a:r>
            <a:r>
              <a:rPr kern="0" spc="-27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但在每一瞬时只能存放其中一个成员，</a:t>
            </a:r>
            <a:r>
              <a:rPr kern="0" spc="-2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而不是同</a:t>
            </a:r>
            <a:endParaRPr lang="en-US" altLang="en-US" dirty="0"/>
          </a:p>
          <a:p>
            <a:pPr marL="377825" algn="l" rtl="0" eaLnBrk="0">
              <a:lnSpc>
                <a:spcPts val="3240"/>
              </a:lnSpc>
            </a:pPr>
            <a:r>
              <a:rPr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时存放几个。</a:t>
            </a:r>
            <a:endParaRPr lang="en-US" altLang="en-US" dirty="0"/>
          </a:p>
          <a:p>
            <a:pPr marL="20955" algn="l" rtl="0" eaLnBrk="0">
              <a:lnSpc>
                <a:spcPct val="93000"/>
              </a:lnSpc>
              <a:spcBef>
                <a:spcPts val="1355"/>
              </a:spcBef>
            </a:pPr>
            <a:r>
              <a:rPr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(2) 可以对共用体</a:t>
            </a:r>
            <a:r>
              <a:rPr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变量初始化，</a:t>
            </a:r>
            <a:r>
              <a:rPr kern="0" spc="-32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但</a:t>
            </a:r>
            <a:r>
              <a:rPr kern="0" spc="-20" dirty="0">
                <a:solidFill>
                  <a:srgbClr val="000000">
                    <a:alpha val="100000"/>
                  </a:srgbClr>
                </a:solidFill>
                <a:highlight>
                  <a:srgbClr val="CCECFF"/>
                </a:highlight>
                <a:latin typeface="微软雅黑" panose="020B0503020204020204" charset="-122"/>
                <a:ea typeface="微软雅黑" panose="020B0503020204020204" charset="-122"/>
                <a:cs typeface="微软雅黑" panose="020B0503020204020204" charset="-122"/>
              </a:rPr>
              <a:t>初始化表中只能有一个常量</a:t>
            </a:r>
            <a:r>
              <a:rPr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endParaRPr lang="en-US" altLang="en-US" dirty="0"/>
          </a:p>
          <a:p>
            <a:pPr algn="l" rtl="0" eaLnBrk="0">
              <a:lnSpc>
                <a:spcPct val="109000"/>
              </a:lnSpc>
            </a:pPr>
            <a:endParaRPr lang="en-US" altLang="en-US" sz="1000" dirty="0"/>
          </a:p>
          <a:p>
            <a:pPr algn="l" rtl="0" eaLnBrk="0">
              <a:lnSpc>
                <a:spcPct val="109000"/>
              </a:lnSpc>
            </a:pPr>
            <a:endParaRPr lang="en-US" altLang="en-US" sz="1000" dirty="0"/>
          </a:p>
          <a:p>
            <a:pPr algn="l" rtl="0" eaLnBrk="0">
              <a:lnSpc>
                <a:spcPct val="110000"/>
              </a:lnSpc>
            </a:pPr>
            <a:endParaRPr lang="en-US" altLang="en-US" sz="1000" dirty="0"/>
          </a:p>
          <a:p>
            <a:pPr marL="20955" algn="l" rtl="0" eaLnBrk="0">
              <a:lnSpc>
                <a:spcPct val="87000"/>
              </a:lnSpc>
              <a:spcBef>
                <a:spcPts val="545"/>
              </a:spcBef>
            </a:pPr>
            <a:r>
              <a:rPr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(3) 共用体变量中起作用的成员是最后一次被赋值的成员，</a:t>
            </a:r>
            <a:r>
              <a:rPr kern="0" spc="-29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在</a:t>
            </a:r>
            <a:endParaRPr lang="en-US" altLang="en-US" dirty="0"/>
          </a:p>
          <a:p>
            <a:pPr marL="335915" algn="l" rtl="0" eaLnBrk="0">
              <a:lnSpc>
                <a:spcPts val="3240"/>
              </a:lnSpc>
            </a:pPr>
            <a:r>
              <a:rPr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对共用体变量中的一个成员赋值后，</a:t>
            </a:r>
            <a:r>
              <a:rPr kern="0" spc="-29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原</a:t>
            </a:r>
            <a:r>
              <a:rPr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有变量存储单元中</a:t>
            </a:r>
            <a:endParaRPr lang="en-US" altLang="en-US" dirty="0"/>
          </a:p>
          <a:p>
            <a:pPr marL="351790" algn="l" rtl="0" eaLnBrk="0">
              <a:lnSpc>
                <a:spcPts val="3240"/>
              </a:lnSpc>
            </a:pPr>
            <a:r>
              <a:rPr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的值就被取代。</a:t>
            </a:r>
            <a:endParaRPr lang="en-US" altLang="en-US" dirty="0"/>
          </a:p>
          <a:p>
            <a:pPr marL="20955" algn="l" rtl="0" eaLnBrk="0">
              <a:lnSpc>
                <a:spcPct val="93000"/>
              </a:lnSpc>
              <a:spcBef>
                <a:spcPts val="1355"/>
              </a:spcBef>
            </a:pPr>
            <a:r>
              <a:rPr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(4) 共用体变量的地址和它的各成员的地址</a:t>
            </a:r>
            <a:r>
              <a:rPr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都是同一地址。</a:t>
            </a:r>
            <a:endParaRPr lang="en-US" altLang="en-US" dirty="0"/>
          </a:p>
          <a:p>
            <a:pPr marL="20955" algn="l" rtl="0" eaLnBrk="0">
              <a:lnSpc>
                <a:spcPct val="93000"/>
              </a:lnSpc>
              <a:spcBef>
                <a:spcPts val="1235"/>
              </a:spcBef>
            </a:pPr>
            <a:r>
              <a:rPr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(5) 不能对共用体变量名赋值，</a:t>
            </a:r>
            <a:r>
              <a:rPr kern="0" spc="-3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也不能企图引用变量</a:t>
            </a:r>
            <a:r>
              <a:rPr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名来得到</a:t>
            </a:r>
            <a:endParaRPr lang="en-US" altLang="en-US" dirty="0"/>
          </a:p>
          <a:p>
            <a:pPr marL="352425" algn="l" rtl="0" eaLnBrk="0">
              <a:lnSpc>
                <a:spcPct val="87000"/>
              </a:lnSpc>
              <a:spcBef>
                <a:spcPts val="1240"/>
              </a:spcBef>
            </a:pPr>
            <a:r>
              <a:rPr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一个值</a:t>
            </a:r>
            <a:r>
              <a:rPr kern="0" spc="-3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。C 99允许同类型的共用体</a:t>
            </a:r>
            <a:r>
              <a:rPr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变量互相赋值。</a:t>
            </a:r>
            <a:endParaRPr lang="en-US" altLang="en-US" dirty="0"/>
          </a:p>
          <a:p>
            <a:pPr marL="20955" algn="l" rtl="0" eaLnBrk="0">
              <a:lnSpc>
                <a:spcPts val="3240"/>
              </a:lnSpc>
            </a:pPr>
            <a:r>
              <a:rPr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(6) C 99允许用共用体变量作为函数参数。</a:t>
            </a:r>
            <a:endParaRPr lang="en-US" altLang="en-US" dirty="0"/>
          </a:p>
          <a:p>
            <a:pPr marL="20955" algn="l" rtl="0" eaLnBrk="0">
              <a:lnSpc>
                <a:spcPct val="87000"/>
              </a:lnSpc>
              <a:spcBef>
                <a:spcPts val="1365"/>
              </a:spcBef>
            </a:pPr>
            <a:r>
              <a:rPr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(7) 共用体类型可以出现在结构体类型定义中，</a:t>
            </a:r>
            <a:r>
              <a:rPr kern="0" spc="-3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也可以定义共用体数组</a:t>
            </a:r>
            <a:r>
              <a:rPr kern="0" spc="-3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。反之</a:t>
            </a:r>
            <a:r>
              <a:rPr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kern="0" spc="-27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结构体也可以出现在共用</a:t>
            </a:r>
            <a:endParaRPr lang="en-US" altLang="en-US" dirty="0"/>
          </a:p>
          <a:p>
            <a:pPr marL="12700" algn="l" rtl="0" eaLnBrk="0">
              <a:lnSpc>
                <a:spcPts val="3240"/>
              </a:lnSpc>
            </a:pPr>
            <a:r>
              <a:rPr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体类型定义中，</a:t>
            </a:r>
            <a:r>
              <a:rPr kern="0" spc="-25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数组也可以作为共用体的成员。</a:t>
            </a:r>
            <a:endParaRPr lang="en-US" altLang="en-US" dirty="0"/>
          </a:p>
        </p:txBody>
      </p:sp>
      <p:sp>
        <p:nvSpPr>
          <p:cNvPr id="9322" name="textbox 9322"/>
          <p:cNvSpPr/>
          <p:nvPr/>
        </p:nvSpPr>
        <p:spPr>
          <a:xfrm>
            <a:off x="798955" y="443243"/>
            <a:ext cx="4072255" cy="494665"/>
          </a:xfrm>
          <a:prstGeom prst="rect">
            <a:avLst/>
          </a:prstGeom>
        </p:spPr>
        <p:txBody>
          <a:bodyPr vert="horz" wrap="square" lIns="0" tIns="0" rIns="0" bIns="0"/>
          <a:lstStyle/>
          <a:p>
            <a:pPr algn="l" rtl="0" eaLnBrk="0">
              <a:lnSpc>
                <a:spcPct val="93000"/>
              </a:lnSpc>
            </a:pPr>
            <a:endParaRPr lang="en-US" altLang="en-US" sz="135" dirty="0"/>
          </a:p>
          <a:p>
            <a:pPr marL="12700" algn="l" rtl="0" eaLnBrk="0">
              <a:lnSpc>
                <a:spcPct val="99000"/>
              </a:lnSpc>
            </a:pPr>
            <a:r>
              <a:rPr sz="31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共用体类型数据的特点</a:t>
            </a:r>
            <a:endParaRPr lang="en-US" altLang="en-US" sz="3100" dirty="0"/>
          </a:p>
        </p:txBody>
      </p:sp>
      <p:sp>
        <p:nvSpPr>
          <p:cNvPr id="9330" name="path"/>
          <p:cNvSpPr/>
          <p:nvPr/>
        </p:nvSpPr>
        <p:spPr>
          <a:xfrm>
            <a:off x="789523" y="968755"/>
            <a:ext cx="10547095" cy="25400"/>
          </a:xfrm>
          <a:custGeom>
            <a:avLst/>
            <a:gdLst/>
            <a:ahLst/>
            <a:cxnLst/>
            <a:rect l="0" t="0" r="0" b="0"/>
            <a:pathLst>
              <a:path w="16609" h="40">
                <a:moveTo>
                  <a:pt x="20" y="20"/>
                </a:moveTo>
                <a:lnTo>
                  <a:pt x="16589" y="20"/>
                </a:lnTo>
                <a:lnTo>
                  <a:pt x="20" y="20"/>
                </a:lnTo>
              </a:path>
            </a:pathLst>
          </a:custGeom>
          <a:noFill/>
          <a:ln w="25400" cap="sq">
            <a:solidFill>
              <a:srgbClr val="782367">
                <a:alpha val="100000"/>
              </a:srgbClr>
            </a:solidFill>
            <a:prstDash val="solid"/>
            <a:bevel/>
          </a:ln>
        </p:spPr>
        <p:txBody>
          <a:bodyPr rtlCol="0"/>
          <a:lstStyle/>
          <a:p>
            <a:pPr algn="ctr"/>
            <a:endParaRPr lang="zh-CN" altLang="en-US"/>
          </a:p>
        </p:txBody>
      </p:sp>
      <p:sp>
        <p:nvSpPr>
          <p:cNvPr id="9332" name="path"/>
          <p:cNvSpPr/>
          <p:nvPr/>
        </p:nvSpPr>
        <p:spPr>
          <a:xfrm>
            <a:off x="789523" y="6497828"/>
            <a:ext cx="10547095" cy="25400"/>
          </a:xfrm>
          <a:custGeom>
            <a:avLst/>
            <a:gdLst/>
            <a:ahLst/>
            <a:cxnLst/>
            <a:rect l="0" t="0" r="0" b="0"/>
            <a:pathLst>
              <a:path w="16609" h="40">
                <a:moveTo>
                  <a:pt x="20" y="20"/>
                </a:moveTo>
                <a:lnTo>
                  <a:pt x="16589" y="20"/>
                </a:lnTo>
                <a:lnTo>
                  <a:pt x="20" y="20"/>
                </a:lnTo>
              </a:path>
            </a:pathLst>
          </a:custGeom>
          <a:noFill/>
          <a:ln w="25400" cap="sq">
            <a:solidFill>
              <a:srgbClr val="782367">
                <a:alpha val="100000"/>
              </a:srgbClr>
            </a:solidFill>
            <a:prstDash val="solid"/>
            <a:bevel/>
          </a:ln>
        </p:spPr>
        <p:txBody>
          <a:bodyPr rtlCol="0"/>
          <a:lstStyle/>
          <a:p>
            <a:pPr algn="ctr"/>
            <a:endParaRPr lang="zh-CN" altLang="en-US"/>
          </a:p>
        </p:txBody>
      </p:sp>
      <p:sp>
        <p:nvSpPr>
          <p:cNvPr id="2" name="文本框 1"/>
          <p:cNvSpPr txBox="1"/>
          <p:nvPr/>
        </p:nvSpPr>
        <p:spPr>
          <a:xfrm>
            <a:off x="1152525" y="2321560"/>
            <a:ext cx="2602230" cy="319405"/>
          </a:xfrm>
          <a:prstGeom prst="rect">
            <a:avLst/>
          </a:prstGeom>
          <a:noFill/>
        </p:spPr>
        <p:txBody>
          <a:bodyPr wrap="square" rtlCol="0" anchor="t">
            <a:spAutoFit/>
          </a:bodyPr>
          <a:lstStyle/>
          <a:p>
            <a:pPr marL="127000" algn="l" rtl="0" eaLnBrk="0">
              <a:lnSpc>
                <a:spcPct val="99000"/>
              </a:lnSpc>
              <a:spcBef>
                <a:spcPts val="5"/>
              </a:spcBef>
            </a:pPr>
            <a:r>
              <a:rPr sz="1500" b="1" kern="0" spc="-40" dirty="0">
                <a:solidFill>
                  <a:srgbClr val="1100CC">
                    <a:alpha val="100000"/>
                  </a:srgbClr>
                </a:solidFill>
                <a:latin typeface="微软雅黑" panose="020B0503020204020204" charset="-122"/>
                <a:ea typeface="微软雅黑" panose="020B0503020204020204" charset="-122"/>
                <a:cs typeface="微软雅黑" panose="020B0503020204020204" charset="-122"/>
                <a:sym typeface="+mn-ea"/>
              </a:rPr>
              <a:t>union</a:t>
            </a:r>
            <a:r>
              <a:rPr sz="1500" b="1" kern="0" spc="100" dirty="0">
                <a:solidFill>
                  <a:srgbClr val="1100CC">
                    <a:alpha val="100000"/>
                  </a:srgbClr>
                </a:solidFill>
                <a:latin typeface="微软雅黑" panose="020B0503020204020204" charset="-122"/>
                <a:ea typeface="微软雅黑" panose="020B0503020204020204" charset="-122"/>
                <a:cs typeface="微软雅黑" panose="020B0503020204020204" charset="-122"/>
                <a:sym typeface="+mn-ea"/>
              </a:rPr>
              <a:t> </a:t>
            </a:r>
            <a:r>
              <a:rPr sz="1500" b="1" kern="0" spc="-40" dirty="0">
                <a:solidFill>
                  <a:srgbClr val="1100CC">
                    <a:alpha val="100000"/>
                  </a:srgbClr>
                </a:solidFill>
                <a:latin typeface="微软雅黑" panose="020B0503020204020204" charset="-122"/>
                <a:ea typeface="微软雅黑" panose="020B0503020204020204" charset="-122"/>
                <a:cs typeface="微软雅黑" panose="020B0503020204020204" charset="-122"/>
                <a:sym typeface="+mn-ea"/>
              </a:rPr>
              <a:t>Data a={1,'a',1.</a:t>
            </a:r>
            <a:r>
              <a:rPr sz="1500" b="1" kern="0" spc="-50" dirty="0">
                <a:solidFill>
                  <a:srgbClr val="1100CC">
                    <a:alpha val="100000"/>
                  </a:srgbClr>
                </a:solidFill>
                <a:latin typeface="微软雅黑" panose="020B0503020204020204" charset="-122"/>
                <a:ea typeface="微软雅黑" panose="020B0503020204020204" charset="-122"/>
                <a:cs typeface="微软雅黑" panose="020B0503020204020204" charset="-122"/>
                <a:sym typeface="+mn-ea"/>
              </a:rPr>
              <a:t>5};</a:t>
            </a:r>
            <a:endParaRPr lang="zh-CN" altLang="en-US" sz="1500" b="1" kern="0" spc="-50" dirty="0">
              <a:solidFill>
                <a:srgbClr val="1100CC">
                  <a:alpha val="100000"/>
                </a:srgbClr>
              </a:solidFill>
              <a:latin typeface="微软雅黑" panose="020B0503020204020204" charset="-122"/>
              <a:ea typeface="微软雅黑" panose="020B0503020204020204" charset="-122"/>
              <a:cs typeface="微软雅黑" panose="020B0503020204020204" charset="-122"/>
              <a:sym typeface="+mn-ea"/>
            </a:endParaRPr>
          </a:p>
        </p:txBody>
      </p:sp>
      <p:pic>
        <p:nvPicPr>
          <p:cNvPr id="4" name="图片 3" descr="3b32303235343734313bb4edb2e6"/>
          <p:cNvPicPr>
            <a:picLocks noChangeAspect="1"/>
          </p:cNvPicPr>
          <p:nvPr>
            <p:custDataLst>
              <p:tags r:id="rId1"/>
            </p:custDataLst>
          </p:nvPr>
        </p:nvPicPr>
        <p:blipFill>
          <a:blip r:embed="rId6"/>
          <a:stretch>
            <a:fillRect/>
          </a:stretch>
        </p:blipFill>
        <p:spPr>
          <a:xfrm>
            <a:off x="4072890" y="2172970"/>
            <a:ext cx="468000" cy="468000"/>
          </a:xfrm>
          <a:prstGeom prst="rect">
            <a:avLst/>
          </a:prstGeom>
        </p:spPr>
      </p:pic>
      <p:sp>
        <p:nvSpPr>
          <p:cNvPr id="3" name="文本框 2"/>
          <p:cNvSpPr txBox="1"/>
          <p:nvPr/>
        </p:nvSpPr>
        <p:spPr>
          <a:xfrm>
            <a:off x="5139055" y="5209540"/>
            <a:ext cx="6096000" cy="327025"/>
          </a:xfrm>
          <a:prstGeom prst="rect">
            <a:avLst/>
          </a:prstGeom>
          <a:noFill/>
        </p:spPr>
        <p:txBody>
          <a:bodyPr wrap="square" rtlCol="0" anchor="t">
            <a:spAutoFit/>
          </a:bodyPr>
          <a:lstStyle/>
          <a:p>
            <a:pPr marL="127635" algn="l" rtl="0" eaLnBrk="0">
              <a:lnSpc>
                <a:spcPct val="96000"/>
              </a:lnSpc>
              <a:spcBef>
                <a:spcPts val="5"/>
              </a:spcBef>
            </a:pPr>
            <a:r>
              <a:rPr sz="1600"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b=a;</a:t>
            </a:r>
            <a:r>
              <a:rPr sz="16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600" kern="0" spc="-7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//a和b是同类型</a:t>
            </a:r>
            <a:r>
              <a:rPr sz="1600" kern="0" spc="-8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的共用体变量，</a:t>
            </a:r>
            <a:r>
              <a:rPr sz="1600" kern="0" spc="41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 </a:t>
            </a:r>
            <a:r>
              <a:rPr sz="1600" kern="0" spc="-8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合法</a:t>
            </a:r>
            <a:endParaRPr lang="zh-CN" altLang="en-US" sz="1600" kern="0" spc="-8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endParaRPr>
          </a:p>
        </p:txBody>
      </p:sp>
      <p:sp>
        <p:nvSpPr>
          <p:cNvPr id="5" name="矩形 4"/>
          <p:cNvSpPr/>
          <p:nvPr>
            <p:custDataLst>
              <p:tags r:id="rId2"/>
            </p:custDataLst>
          </p:nvPr>
        </p:nvSpPr>
        <p:spPr>
          <a:xfrm>
            <a:off x="7270115" y="1435100"/>
            <a:ext cx="3986530" cy="2522220"/>
          </a:xfrm>
          <a:prstGeom prst="rect">
            <a:avLst/>
          </a:prstGeom>
          <a:solidFill>
            <a:schemeClr val="bg1"/>
          </a:solidFill>
          <a:ln>
            <a:solidFill>
              <a:srgbClr val="782367"/>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138430" algn="l" rtl="0" eaLnBrk="0">
              <a:lnSpc>
                <a:spcPct val="93000"/>
              </a:lnSpc>
              <a:spcBef>
                <a:spcPts val="5"/>
              </a:spcBef>
            </a:pPr>
            <a:r>
              <a:rPr sz="14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union</a:t>
            </a:r>
            <a:r>
              <a:rPr sz="1400" kern="0" spc="1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Date</a:t>
            </a:r>
            <a:endParaRPr lang="en-US" altLang="en-US" sz="1400" dirty="0"/>
          </a:p>
          <a:p>
            <a:pPr marL="124460" algn="l" rtl="0" eaLnBrk="0">
              <a:lnSpc>
                <a:spcPts val="1920"/>
              </a:lnSpc>
            </a:pP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r>
              <a:rPr sz="1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int</a:t>
            </a:r>
            <a:r>
              <a:rPr sz="1400" kern="0" spc="1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i;</a:t>
            </a:r>
            <a:endParaRPr lang="en-US" altLang="en-US" sz="1400" dirty="0"/>
          </a:p>
          <a:p>
            <a:pPr marL="495935" algn="l" rtl="0" eaLnBrk="0">
              <a:lnSpc>
                <a:spcPts val="1825"/>
              </a:lnSpc>
              <a:spcBef>
                <a:spcPts val="245"/>
              </a:spcBef>
            </a:pPr>
            <a:r>
              <a:rPr sz="1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char</a:t>
            </a:r>
            <a:r>
              <a:rPr sz="14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ch;</a:t>
            </a:r>
            <a:endParaRPr lang="en-US" altLang="en-US" sz="1400" dirty="0"/>
          </a:p>
          <a:p>
            <a:pPr marL="490855" algn="l" rtl="0" eaLnBrk="0">
              <a:lnSpc>
                <a:spcPct val="93000"/>
              </a:lnSpc>
              <a:spcBef>
                <a:spcPts val="95"/>
              </a:spcBef>
            </a:pP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float</a:t>
            </a:r>
            <a:r>
              <a:rPr sz="1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f;</a:t>
            </a:r>
            <a:endParaRPr lang="en-US" altLang="en-US" sz="1400" dirty="0"/>
          </a:p>
          <a:p>
            <a:pPr marL="125095" algn="l" rtl="0" eaLnBrk="0">
              <a:lnSpc>
                <a:spcPts val="2030"/>
              </a:lnSpc>
            </a:pPr>
            <a:r>
              <a:rPr sz="1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a:t>
            </a:r>
            <a:endParaRPr lang="en-US" altLang="en-US" sz="1400" dirty="0"/>
          </a:p>
          <a:p>
            <a:pPr marL="132080" algn="l" rtl="0" eaLnBrk="0">
              <a:lnSpc>
                <a:spcPct val="82000"/>
              </a:lnSpc>
              <a:spcBef>
                <a:spcPts val="360"/>
              </a:spcBef>
            </a:pP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a.i=97;</a:t>
            </a:r>
            <a:endParaRPr lang="en-US" altLang="en-US" sz="1400" dirty="0"/>
          </a:p>
          <a:p>
            <a:pPr marL="139065" algn="l" rtl="0" eaLnBrk="0">
              <a:lnSpc>
                <a:spcPct val="92000"/>
              </a:lnSpc>
              <a:spcBef>
                <a:spcPts val="230"/>
              </a:spcBef>
            </a:pPr>
            <a:r>
              <a:rPr sz="14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printf(″%d″,a.i);</a:t>
            </a:r>
            <a:r>
              <a:rPr sz="14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3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//输出整数97</a:t>
            </a:r>
            <a:endParaRPr lang="en-US" altLang="en-US" sz="1400" dirty="0"/>
          </a:p>
          <a:p>
            <a:pPr marL="139065" algn="l" rtl="0" eaLnBrk="0">
              <a:lnSpc>
                <a:spcPct val="99000"/>
              </a:lnSpc>
              <a:spcBef>
                <a:spcPts val="20"/>
              </a:spcBef>
            </a:pPr>
            <a:r>
              <a:rPr sz="1400"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printf(″%c″,a.ch); </a:t>
            </a:r>
            <a:r>
              <a:rPr sz="1400" kern="0" spc="-7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//输出</a:t>
            </a:r>
            <a:r>
              <a:rPr sz="1400" kern="0" spc="-8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字符′a′</a:t>
            </a:r>
            <a:endParaRPr lang="en-US" altLang="en-US" sz="1400" dirty="0"/>
          </a:p>
          <a:p>
            <a:pPr marL="139065" algn="l" rtl="0" eaLnBrk="0">
              <a:lnSpc>
                <a:spcPct val="92000"/>
              </a:lnSpc>
              <a:spcBef>
                <a:spcPts val="265"/>
              </a:spcBef>
            </a:pPr>
            <a:r>
              <a:rPr sz="1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printf(″%f″,a.f);    </a:t>
            </a:r>
            <a:r>
              <a:rPr sz="1400" kern="0" spc="-2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a:t>
            </a:r>
            <a:r>
              <a:rPr sz="1400" kern="0" spc="-3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输出实数0.000000</a:t>
            </a:r>
            <a:endParaRPr lang="en-US" altLang="en-US" sz="1400" dirty="0"/>
          </a:p>
          <a:p>
            <a:pPr algn="ctr"/>
            <a:endParaRPr lang="zh-CN" altLang="en-US" sz="1400"/>
          </a:p>
        </p:txBody>
      </p:sp>
      <p:sp>
        <p:nvSpPr>
          <p:cNvPr id="6" name="矩形 5"/>
          <p:cNvSpPr/>
          <p:nvPr>
            <p:custDataLst>
              <p:tags r:id="rId3"/>
            </p:custDataLst>
          </p:nvPr>
        </p:nvSpPr>
        <p:spPr>
          <a:xfrm>
            <a:off x="7258050" y="4043680"/>
            <a:ext cx="3961765" cy="787400"/>
          </a:xfrm>
          <a:prstGeom prst="rect">
            <a:avLst/>
          </a:prstGeom>
          <a:solidFill>
            <a:schemeClr val="bg1"/>
          </a:solidFill>
          <a:ln>
            <a:solidFill>
              <a:srgbClr val="782367"/>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indent="0" algn="l" fontAlgn="auto"/>
            <a:endPar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endParaRPr>
          </a:p>
          <a:p>
            <a:pPr indent="0" algn="l" fontAlgn="auto"/>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a=1; </a:t>
            </a:r>
            <a:r>
              <a:rPr sz="1400" kern="0" spc="-4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//不能对共用体变量赋值，赋给</a:t>
            </a:r>
            <a:r>
              <a:rPr sz="1400" kern="0" spc="-5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谁？    </a:t>
            </a:r>
          </a:p>
          <a:p>
            <a:pPr algn="ctr"/>
            <a:r>
              <a:rPr sz="14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m=a; </a:t>
            </a:r>
            <a:r>
              <a:rPr sz="1400" kern="0" spc="-3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//企图引用共用体变量名以得到一个   </a:t>
            </a:r>
            <a:r>
              <a:rPr sz="1400" kern="0" spc="1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值赋给整型变量m</a:t>
            </a:r>
            <a:endParaRPr lang="en-US" altLang="en-US" sz="1400" dirty="0"/>
          </a:p>
          <a:p>
            <a:pPr algn="ctr"/>
            <a:endParaRPr lang="zh-CN" altLang="en-US" sz="1400"/>
          </a:p>
        </p:txBody>
      </p:sp>
      <p:pic>
        <p:nvPicPr>
          <p:cNvPr id="7" name="图片 6" descr="3b32303235343734313bb4edb2e6"/>
          <p:cNvPicPr>
            <a:picLocks noChangeAspect="1"/>
          </p:cNvPicPr>
          <p:nvPr>
            <p:custDataLst>
              <p:tags r:id="rId4"/>
            </p:custDataLst>
          </p:nvPr>
        </p:nvPicPr>
        <p:blipFill>
          <a:blip r:embed="rId6"/>
          <a:stretch>
            <a:fillRect/>
          </a:stretch>
        </p:blipFill>
        <p:spPr>
          <a:xfrm>
            <a:off x="10751820" y="4656455"/>
            <a:ext cx="468000" cy="46800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36" name="textbox 9336"/>
          <p:cNvSpPr/>
          <p:nvPr/>
        </p:nvSpPr>
        <p:spPr>
          <a:xfrm>
            <a:off x="625370" y="745763"/>
            <a:ext cx="10691495" cy="1329689"/>
          </a:xfrm>
          <a:prstGeom prst="rect">
            <a:avLst/>
          </a:prstGeom>
        </p:spPr>
        <p:txBody>
          <a:bodyPr vert="horz" wrap="square" lIns="0" tIns="0" rIns="0" bIns="0"/>
          <a:lstStyle/>
          <a:p>
            <a:pPr algn="l" rtl="0" eaLnBrk="0">
              <a:lnSpc>
                <a:spcPct val="95000"/>
              </a:lnSpc>
            </a:pPr>
            <a:endParaRPr lang="en-US" altLang="en-US" sz="135" dirty="0"/>
          </a:p>
          <a:p>
            <a:pPr marL="103505" algn="l" rtl="0" eaLnBrk="0">
              <a:lnSpc>
                <a:spcPct val="99000"/>
              </a:lnSpc>
            </a:pPr>
            <a:r>
              <a:rPr sz="31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共用体类型数据的特点</a:t>
            </a:r>
            <a:endParaRPr lang="en-US" altLang="en-US" sz="3100" dirty="0"/>
          </a:p>
          <a:p>
            <a:pPr algn="l" rtl="0" eaLnBrk="0">
              <a:lnSpc>
                <a:spcPct val="104000"/>
              </a:lnSpc>
            </a:pPr>
            <a:endParaRPr lang="en-US" altLang="en-US" sz="1100" dirty="0"/>
          </a:p>
          <a:p>
            <a:pPr marL="86360" indent="49530" algn="l" rtl="0" eaLnBrk="0">
              <a:lnSpc>
                <a:spcPct val="114000"/>
              </a:lnSpc>
              <a:spcBef>
                <a:spcPts val="0"/>
              </a:spcBef>
            </a:pPr>
            <a:r>
              <a:rPr sz="1900" kern="0" spc="30" dirty="0">
                <a:solidFill>
                  <a:srgbClr val="782367">
                    <a:alpha val="100000"/>
                  </a:srgbClr>
                </a:solidFill>
                <a:latin typeface="微软雅黑" panose="020B0503020204020204" charset="-122"/>
                <a:ea typeface="微软雅黑" panose="020B0503020204020204" charset="-122"/>
                <a:cs typeface="微软雅黑" panose="020B0503020204020204" charset="-122"/>
              </a:rPr>
              <a:t>【例</a:t>
            </a:r>
            <a:r>
              <a:rPr lang="en-US" sz="1900" kern="0" spc="30" dirty="0">
                <a:solidFill>
                  <a:srgbClr val="782367">
                    <a:alpha val="100000"/>
                  </a:srgbClr>
                </a:solidFill>
                <a:latin typeface="微软雅黑" panose="020B0503020204020204" charset="-122"/>
                <a:ea typeface="微软雅黑" panose="020B0503020204020204" charset="-122"/>
                <a:cs typeface="微软雅黑" panose="020B0503020204020204" charset="-122"/>
              </a:rPr>
              <a:t>7</a:t>
            </a:r>
            <a:r>
              <a:rPr sz="1900" kern="0" spc="30" dirty="0">
                <a:solidFill>
                  <a:srgbClr val="782367">
                    <a:alpha val="100000"/>
                  </a:srgbClr>
                </a:solidFill>
                <a:latin typeface="微软雅黑" panose="020B0503020204020204" charset="-122"/>
                <a:ea typeface="微软雅黑" panose="020B0503020204020204" charset="-122"/>
                <a:cs typeface="微软雅黑" panose="020B0503020204020204" charset="-122"/>
              </a:rPr>
              <a:t>.1</a:t>
            </a:r>
            <a:r>
              <a:rPr lang="en-US" sz="1900" kern="0" spc="30" dirty="0">
                <a:solidFill>
                  <a:srgbClr val="782367">
                    <a:alpha val="100000"/>
                  </a:srgbClr>
                </a:solidFill>
                <a:latin typeface="微软雅黑" panose="020B0503020204020204" charset="-122"/>
                <a:ea typeface="微软雅黑" panose="020B0503020204020204" charset="-122"/>
                <a:cs typeface="微软雅黑" panose="020B0503020204020204" charset="-122"/>
              </a:rPr>
              <a:t>1</a:t>
            </a:r>
            <a:r>
              <a:rPr sz="1900" kern="0" spc="30" dirty="0">
                <a:solidFill>
                  <a:srgbClr val="782367">
                    <a:alpha val="100000"/>
                  </a:srgbClr>
                </a:solidFill>
                <a:latin typeface="微软雅黑" panose="020B0503020204020204" charset="-122"/>
                <a:ea typeface="微软雅黑" panose="020B0503020204020204" charset="-122"/>
                <a:cs typeface="微软雅黑" panose="020B0503020204020204" charset="-122"/>
              </a:rPr>
              <a:t>】有若干个人员的数据，其中有学生和教师。学生的数据中包括：</a:t>
            </a:r>
            <a:r>
              <a:rPr sz="1900" kern="0" spc="320" dirty="0">
                <a:solidFill>
                  <a:srgbClr val="782367">
                    <a:alpha val="100000"/>
                  </a:srgbClr>
                </a:solidFill>
                <a:latin typeface="微软雅黑" panose="020B0503020204020204" charset="-122"/>
                <a:ea typeface="微软雅黑" panose="020B0503020204020204" charset="-122"/>
                <a:cs typeface="微软雅黑" panose="020B0503020204020204" charset="-122"/>
              </a:rPr>
              <a:t> </a:t>
            </a:r>
            <a:r>
              <a:rPr sz="1900" kern="0" spc="30" dirty="0">
                <a:solidFill>
                  <a:srgbClr val="782367">
                    <a:alpha val="100000"/>
                  </a:srgbClr>
                </a:solidFill>
                <a:latin typeface="微软雅黑" panose="020B0503020204020204" charset="-122"/>
                <a:ea typeface="微软雅黑" panose="020B0503020204020204" charset="-122"/>
                <a:cs typeface="微软雅黑" panose="020B0503020204020204" charset="-122"/>
              </a:rPr>
              <a:t>姓名、号码、性别、</a:t>
            </a:r>
            <a:r>
              <a:rPr sz="1900" kern="0" spc="0" dirty="0">
                <a:solidFill>
                  <a:srgbClr val="782367">
                    <a:alpha val="100000"/>
                  </a:srgbClr>
                </a:solidFill>
                <a:latin typeface="微软雅黑" panose="020B0503020204020204" charset="-122"/>
                <a:ea typeface="微软雅黑" panose="020B0503020204020204" charset="-122"/>
                <a:cs typeface="微软雅黑" panose="020B0503020204020204" charset="-122"/>
              </a:rPr>
              <a:t>   </a:t>
            </a:r>
            <a:r>
              <a:rPr sz="1900" kern="0" spc="60" dirty="0">
                <a:solidFill>
                  <a:srgbClr val="782367">
                    <a:alpha val="100000"/>
                  </a:srgbClr>
                </a:solidFill>
                <a:latin typeface="微软雅黑" panose="020B0503020204020204" charset="-122"/>
                <a:ea typeface="微软雅黑" panose="020B0503020204020204" charset="-122"/>
                <a:cs typeface="微软雅黑" panose="020B0503020204020204" charset="-122"/>
              </a:rPr>
              <a:t>职业、班级。教师的数据包括：   姓名、号码、性别、职业、职务。要求用同一</a:t>
            </a:r>
            <a:r>
              <a:rPr sz="1900" kern="0" spc="50" dirty="0">
                <a:solidFill>
                  <a:srgbClr val="782367">
                    <a:alpha val="100000"/>
                  </a:srgbClr>
                </a:solidFill>
                <a:latin typeface="微软雅黑" panose="020B0503020204020204" charset="-122"/>
                <a:ea typeface="微软雅黑" panose="020B0503020204020204" charset="-122"/>
                <a:cs typeface="微软雅黑" panose="020B0503020204020204" charset="-122"/>
              </a:rPr>
              <a:t>个表格来处理。</a:t>
            </a:r>
            <a:endParaRPr lang="en-US" altLang="en-US" sz="1900" kern="0" spc="50" dirty="0">
              <a:solidFill>
                <a:srgbClr val="782367">
                  <a:alpha val="100000"/>
                </a:srgbClr>
              </a:solidFill>
              <a:latin typeface="微软雅黑" panose="020B0503020204020204" charset="-122"/>
              <a:ea typeface="微软雅黑" panose="020B0503020204020204" charset="-122"/>
              <a:cs typeface="微软雅黑" panose="020B0503020204020204" charset="-122"/>
            </a:endParaRPr>
          </a:p>
        </p:txBody>
      </p:sp>
      <p:pic>
        <p:nvPicPr>
          <p:cNvPr id="2" name="图片 1"/>
          <p:cNvPicPr>
            <a:picLocks noChangeAspect="1"/>
          </p:cNvPicPr>
          <p:nvPr>
            <p:custDataLst>
              <p:tags r:id="rId1"/>
            </p:custDataLst>
          </p:nvPr>
        </p:nvPicPr>
        <p:blipFill>
          <a:blip r:embed="rId4"/>
          <a:stretch>
            <a:fillRect/>
          </a:stretch>
        </p:blipFill>
        <p:spPr>
          <a:xfrm>
            <a:off x="6195060" y="2411730"/>
            <a:ext cx="5122148" cy="360000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76" name="textbox 9376"/>
          <p:cNvSpPr/>
          <p:nvPr/>
        </p:nvSpPr>
        <p:spPr>
          <a:xfrm>
            <a:off x="575687" y="596919"/>
            <a:ext cx="10693400" cy="1302385"/>
          </a:xfrm>
          <a:prstGeom prst="rect">
            <a:avLst/>
          </a:prstGeom>
        </p:spPr>
        <p:txBody>
          <a:bodyPr vert="horz" wrap="square" lIns="0" tIns="0" rIns="0" bIns="0"/>
          <a:lstStyle/>
          <a:p>
            <a:pPr algn="l" rtl="0" eaLnBrk="0">
              <a:lnSpc>
                <a:spcPct val="95000"/>
              </a:lnSpc>
            </a:pPr>
            <a:endParaRPr lang="en-US" altLang="en-US" sz="135" dirty="0"/>
          </a:p>
          <a:p>
            <a:pPr marL="155575" algn="l" rtl="0" eaLnBrk="0">
              <a:lnSpc>
                <a:spcPct val="99000"/>
              </a:lnSpc>
            </a:pPr>
            <a:r>
              <a:rPr sz="31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共用体类型数据的特点</a:t>
            </a:r>
            <a:endParaRPr lang="en-US" altLang="en-US" sz="3100" dirty="0"/>
          </a:p>
          <a:p>
            <a:pPr algn="l" rtl="0" eaLnBrk="0">
              <a:lnSpc>
                <a:spcPct val="107000"/>
              </a:lnSpc>
            </a:pPr>
            <a:endParaRPr lang="en-US" altLang="en-US" sz="900" dirty="0"/>
          </a:p>
          <a:p>
            <a:pPr marL="86360" indent="49530" algn="l" rtl="0" eaLnBrk="0">
              <a:lnSpc>
                <a:spcPct val="114000"/>
              </a:lnSpc>
              <a:spcBef>
                <a:spcPts val="5"/>
              </a:spcBef>
            </a:pPr>
            <a:r>
              <a:rPr sz="1900" kern="0" spc="30" dirty="0">
                <a:solidFill>
                  <a:srgbClr val="782367">
                    <a:alpha val="100000"/>
                  </a:srgbClr>
                </a:solidFill>
                <a:latin typeface="微软雅黑" panose="020B0503020204020204" charset="-122"/>
                <a:ea typeface="微软雅黑" panose="020B0503020204020204" charset="-122"/>
                <a:cs typeface="微软雅黑" panose="020B0503020204020204" charset="-122"/>
              </a:rPr>
              <a:t>【例</a:t>
            </a:r>
            <a:r>
              <a:rPr lang="en-US" sz="1900" kern="0" spc="30" dirty="0">
                <a:solidFill>
                  <a:srgbClr val="782367">
                    <a:alpha val="100000"/>
                  </a:srgbClr>
                </a:solidFill>
                <a:latin typeface="微软雅黑" panose="020B0503020204020204" charset="-122"/>
                <a:ea typeface="微软雅黑" panose="020B0503020204020204" charset="-122"/>
                <a:cs typeface="微软雅黑" panose="020B0503020204020204" charset="-122"/>
              </a:rPr>
              <a:t>7</a:t>
            </a:r>
            <a:r>
              <a:rPr sz="1900" kern="0" spc="30" dirty="0">
                <a:solidFill>
                  <a:srgbClr val="782367">
                    <a:alpha val="100000"/>
                  </a:srgbClr>
                </a:solidFill>
                <a:latin typeface="微软雅黑" panose="020B0503020204020204" charset="-122"/>
                <a:ea typeface="微软雅黑" panose="020B0503020204020204" charset="-122"/>
                <a:cs typeface="微软雅黑" panose="020B0503020204020204" charset="-122"/>
              </a:rPr>
              <a:t>.1</a:t>
            </a:r>
            <a:r>
              <a:rPr lang="en-US" sz="1900" kern="0" spc="30" dirty="0">
                <a:solidFill>
                  <a:srgbClr val="782367">
                    <a:alpha val="100000"/>
                  </a:srgbClr>
                </a:solidFill>
                <a:latin typeface="微软雅黑" panose="020B0503020204020204" charset="-122"/>
                <a:ea typeface="微软雅黑" panose="020B0503020204020204" charset="-122"/>
                <a:cs typeface="微软雅黑" panose="020B0503020204020204" charset="-122"/>
              </a:rPr>
              <a:t>1</a:t>
            </a:r>
            <a:r>
              <a:rPr sz="1900" kern="0" spc="30" dirty="0">
                <a:solidFill>
                  <a:srgbClr val="782367">
                    <a:alpha val="100000"/>
                  </a:srgbClr>
                </a:solidFill>
                <a:latin typeface="微软雅黑" panose="020B0503020204020204" charset="-122"/>
                <a:ea typeface="微软雅黑" panose="020B0503020204020204" charset="-122"/>
                <a:cs typeface="微软雅黑" panose="020B0503020204020204" charset="-122"/>
              </a:rPr>
              <a:t>】有若干个人员的数据，其中有学生和教师。学生的数据中包括：</a:t>
            </a:r>
            <a:r>
              <a:rPr sz="1900" kern="0" spc="340" dirty="0">
                <a:solidFill>
                  <a:srgbClr val="782367">
                    <a:alpha val="100000"/>
                  </a:srgbClr>
                </a:solidFill>
                <a:latin typeface="微软雅黑" panose="020B0503020204020204" charset="-122"/>
                <a:ea typeface="微软雅黑" panose="020B0503020204020204" charset="-122"/>
                <a:cs typeface="微软雅黑" panose="020B0503020204020204" charset="-122"/>
              </a:rPr>
              <a:t> </a:t>
            </a:r>
            <a:r>
              <a:rPr sz="1900" kern="0" spc="30" dirty="0">
                <a:solidFill>
                  <a:srgbClr val="782367">
                    <a:alpha val="100000"/>
                  </a:srgbClr>
                </a:solidFill>
                <a:latin typeface="微软雅黑" panose="020B0503020204020204" charset="-122"/>
                <a:ea typeface="微软雅黑" panose="020B0503020204020204" charset="-122"/>
                <a:cs typeface="微软雅黑" panose="020B0503020204020204" charset="-122"/>
              </a:rPr>
              <a:t>姓名、号码、性别、</a:t>
            </a:r>
            <a:r>
              <a:rPr sz="1900" kern="0" spc="0" dirty="0">
                <a:solidFill>
                  <a:srgbClr val="782367">
                    <a:alpha val="100000"/>
                  </a:srgbClr>
                </a:solidFill>
                <a:latin typeface="微软雅黑" panose="020B0503020204020204" charset="-122"/>
                <a:ea typeface="微软雅黑" panose="020B0503020204020204" charset="-122"/>
                <a:cs typeface="微软雅黑" panose="020B0503020204020204" charset="-122"/>
              </a:rPr>
              <a:t>   </a:t>
            </a:r>
            <a:r>
              <a:rPr sz="1900" kern="0" spc="60" dirty="0">
                <a:solidFill>
                  <a:srgbClr val="782367">
                    <a:alpha val="100000"/>
                  </a:srgbClr>
                </a:solidFill>
                <a:latin typeface="微软雅黑" panose="020B0503020204020204" charset="-122"/>
                <a:ea typeface="微软雅黑" panose="020B0503020204020204" charset="-122"/>
                <a:cs typeface="微软雅黑" panose="020B0503020204020204" charset="-122"/>
              </a:rPr>
              <a:t>职业、班级。教师的数据包括：   姓名、号码、性别、职业、职务。要求用同一</a:t>
            </a:r>
            <a:r>
              <a:rPr sz="1900" kern="0" spc="50" dirty="0">
                <a:solidFill>
                  <a:srgbClr val="782367">
                    <a:alpha val="100000"/>
                  </a:srgbClr>
                </a:solidFill>
                <a:latin typeface="微软雅黑" panose="020B0503020204020204" charset="-122"/>
                <a:ea typeface="微软雅黑" panose="020B0503020204020204" charset="-122"/>
                <a:cs typeface="微软雅黑" panose="020B0503020204020204" charset="-122"/>
              </a:rPr>
              <a:t>个表格来处理。</a:t>
            </a:r>
            <a:endParaRPr lang="en-US" altLang="en-US" sz="1900" kern="0" spc="50" dirty="0">
              <a:solidFill>
                <a:srgbClr val="782367">
                  <a:alpha val="100000"/>
                </a:srgbClr>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1"/>
            </p:custDataLst>
          </p:nvPr>
        </p:nvSpPr>
        <p:spPr>
          <a:xfrm>
            <a:off x="2902585" y="2212975"/>
            <a:ext cx="6774815" cy="3363595"/>
          </a:xfrm>
          <a:prstGeom prst="rect">
            <a:avLst/>
          </a:prstGeom>
          <a:solidFill>
            <a:schemeClr val="bg1"/>
          </a:solidFill>
          <a:ln>
            <a:solidFill>
              <a:srgbClr val="782367"/>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120015" algn="l" rtl="0" eaLnBrk="0">
              <a:lnSpc>
                <a:spcPct val="93000"/>
              </a:lnSpc>
            </a:pPr>
            <a:endPar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endParaRPr>
          </a:p>
          <a:p>
            <a:pPr marL="120015" algn="l" rtl="0" eaLnBrk="0">
              <a:lnSpc>
                <a:spcPct val="93000"/>
              </a:lnSpc>
            </a:pP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#include</a:t>
            </a:r>
            <a:r>
              <a:rPr sz="1400" kern="0" spc="18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&lt;stdio.h</a:t>
            </a:r>
            <a:r>
              <a:rPr sz="1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&gt;</a:t>
            </a:r>
            <a:endParaRPr lang="en-US" altLang="en-US" sz="1400" dirty="0"/>
          </a:p>
          <a:p>
            <a:pPr marL="118745" algn="l" rtl="0" eaLnBrk="0">
              <a:lnSpc>
                <a:spcPts val="2015"/>
              </a:lnSpc>
            </a:pP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struct</a:t>
            </a:r>
            <a:r>
              <a:rPr lang="en-US"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7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//声明无名结构体类</a:t>
            </a:r>
            <a:r>
              <a:rPr sz="1400" kern="0" spc="6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型</a:t>
            </a:r>
            <a:endParaRPr lang="en-US" altLang="en-US" sz="1400" dirty="0"/>
          </a:p>
          <a:p>
            <a:pPr marL="116840" algn="l" rtl="0" eaLnBrk="0">
              <a:lnSpc>
                <a:spcPts val="1450"/>
              </a:lnSpc>
              <a:spcBef>
                <a:spcPts val="565"/>
              </a:spcBef>
            </a:pPr>
            <a:r>
              <a:rPr sz="1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r>
              <a:rPr sz="1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int</a:t>
            </a:r>
            <a:r>
              <a:rPr sz="1400" kern="0" spc="20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num;</a:t>
            </a:r>
            <a:r>
              <a:rPr lang="en-US" sz="1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2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//成员</a:t>
            </a:r>
            <a:r>
              <a:rPr sz="1400" kern="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num</a:t>
            </a:r>
            <a:r>
              <a:rPr sz="1400" kern="0" spc="2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(编号)</a:t>
            </a:r>
            <a:endParaRPr lang="en-US" altLang="en-US" sz="1400" dirty="0"/>
          </a:p>
          <a:p>
            <a:pPr marL="487045" algn="l" rtl="0" eaLnBrk="0">
              <a:lnSpc>
                <a:spcPct val="93000"/>
              </a:lnSpc>
              <a:spcBef>
                <a:spcPts val="565"/>
              </a:spcBef>
            </a:pP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char</a:t>
            </a:r>
            <a:r>
              <a:rPr sz="1400" kern="0" spc="1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name[10];</a:t>
            </a:r>
            <a:r>
              <a:rPr lang="en-US"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1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//成员</a:t>
            </a:r>
            <a:r>
              <a:rPr sz="1400" kern="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name</a:t>
            </a:r>
            <a:r>
              <a:rPr sz="1400" kern="0" spc="1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(姓名)</a:t>
            </a:r>
            <a:endParaRPr lang="en-US" altLang="en-US" sz="1400" dirty="0"/>
          </a:p>
          <a:p>
            <a:pPr marL="487045" algn="l" rtl="0" eaLnBrk="0">
              <a:lnSpc>
                <a:spcPts val="2015"/>
              </a:lnSpc>
            </a:pP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char</a:t>
            </a:r>
            <a:r>
              <a:rPr sz="1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sex;</a:t>
            </a:r>
            <a:r>
              <a:rPr lang="en-US"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2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//成员</a:t>
            </a:r>
            <a:r>
              <a:rPr sz="1400" kern="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sex</a:t>
            </a:r>
            <a:r>
              <a:rPr sz="1400" kern="0" spc="2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(性别)</a:t>
            </a:r>
            <a:endParaRPr lang="en-US" altLang="en-US" sz="1400" dirty="0"/>
          </a:p>
          <a:p>
            <a:pPr marL="487045" algn="l" rtl="0" eaLnBrk="0">
              <a:lnSpc>
                <a:spcPct val="92000"/>
              </a:lnSpc>
              <a:spcBef>
                <a:spcPts val="565"/>
              </a:spcBef>
            </a:pPr>
            <a:r>
              <a:rPr sz="14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char job;</a:t>
            </a:r>
            <a:r>
              <a:rPr lang="en-US" sz="14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2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//成员</a:t>
            </a:r>
            <a:r>
              <a:rPr sz="1400" kern="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job</a:t>
            </a:r>
            <a:r>
              <a:rPr sz="1400" kern="0" spc="2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(职业)</a:t>
            </a:r>
            <a:endParaRPr lang="en-US" altLang="en-US" sz="1400" dirty="0"/>
          </a:p>
          <a:p>
            <a:pPr marL="491490" algn="l" rtl="0" eaLnBrk="0">
              <a:lnSpc>
                <a:spcPts val="1745"/>
              </a:lnSpc>
              <a:spcBef>
                <a:spcPts val="585"/>
              </a:spcBef>
            </a:pPr>
            <a:r>
              <a:rPr sz="1400" b="1" kern="0" spc="-50" dirty="0">
                <a:solidFill>
                  <a:srgbClr val="1100CC">
                    <a:alpha val="100000"/>
                  </a:srgbClr>
                </a:solidFill>
                <a:latin typeface="微软雅黑" panose="020B0503020204020204" charset="-122"/>
                <a:ea typeface="微软雅黑" panose="020B0503020204020204" charset="-122"/>
                <a:cs typeface="微软雅黑" panose="020B0503020204020204" charset="-122"/>
                <a:sym typeface="+mn-ea"/>
              </a:rPr>
              <a:t>union</a:t>
            </a:r>
            <a:r>
              <a:rPr lang="en-US" sz="1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7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//声明无名共用体</a:t>
            </a:r>
            <a:r>
              <a:rPr sz="1400" kern="0" spc="6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类型</a:t>
            </a:r>
            <a:endParaRPr lang="en-US" altLang="en-US" sz="1400" dirty="0"/>
          </a:p>
          <a:p>
            <a:pPr marL="479425" algn="l" rtl="0" eaLnBrk="0">
              <a:lnSpc>
                <a:spcPts val="1450"/>
              </a:lnSpc>
              <a:spcBef>
                <a:spcPts val="270"/>
              </a:spcBef>
            </a:pPr>
            <a:r>
              <a:rPr sz="1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r>
              <a:rPr sz="1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int</a:t>
            </a:r>
            <a:r>
              <a:rPr sz="1400" kern="0" spc="1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clas;</a:t>
            </a:r>
            <a:r>
              <a:rPr lang="en-US" sz="1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1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//成员</a:t>
            </a:r>
            <a:r>
              <a:rPr sz="1400" kern="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clas</a:t>
            </a:r>
            <a:r>
              <a:rPr sz="1400" kern="0" spc="1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(班级)</a:t>
            </a:r>
            <a:endParaRPr lang="en-US" altLang="en-US" sz="1400" dirty="0"/>
          </a:p>
          <a:p>
            <a:pPr marL="479425" indent="373380" algn="l" rtl="0" eaLnBrk="0">
              <a:lnSpc>
                <a:spcPct val="111000"/>
              </a:lnSpc>
              <a:spcBef>
                <a:spcPts val="555"/>
              </a:spcBef>
            </a:pP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char</a:t>
            </a:r>
            <a:r>
              <a:rPr sz="1400" kern="0" spc="17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position[10];      </a:t>
            </a:r>
            <a:r>
              <a:rPr lang="en-US"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//成员position(</a:t>
            </a:r>
            <a:r>
              <a:rPr sz="1400" kern="0" spc="-1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职务)</a:t>
            </a:r>
            <a:endPar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endParaRPr>
          </a:p>
          <a:p>
            <a:pPr marL="479425" indent="0" algn="l" rtl="0" eaLnBrk="0">
              <a:lnSpc>
                <a:spcPct val="111000"/>
              </a:lnSpc>
              <a:spcBef>
                <a:spcPts val="555"/>
              </a:spcBef>
            </a:pP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}category;</a:t>
            </a:r>
            <a:r>
              <a:rPr lang="en-US"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4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//成员</a:t>
            </a:r>
            <a:r>
              <a:rPr sz="1400" kern="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category</a:t>
            </a:r>
            <a:r>
              <a:rPr sz="1400" kern="0" spc="4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是共用体变量</a:t>
            </a:r>
            <a:endParaRPr lang="en-US" altLang="en-US" sz="1400" dirty="0"/>
          </a:p>
          <a:p>
            <a:pPr algn="l" rtl="0" eaLnBrk="0">
              <a:lnSpc>
                <a:spcPct val="123000"/>
              </a:lnSpc>
            </a:pPr>
            <a:endParaRPr lang="en-US" altLang="en-US" sz="1400" dirty="0"/>
          </a:p>
          <a:p>
            <a:pPr marL="116840" algn="l" rtl="0" eaLnBrk="0">
              <a:lnSpc>
                <a:spcPct val="92000"/>
              </a:lnSpc>
            </a:pPr>
            <a:r>
              <a:rPr sz="14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}person[2];</a:t>
            </a:r>
            <a:r>
              <a:rPr lang="en-US" sz="14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6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//定义结构体数组</a:t>
            </a:r>
            <a:r>
              <a:rPr sz="1400" kern="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person</a:t>
            </a:r>
            <a:r>
              <a:rPr sz="1400" kern="0" spc="6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，有两个元素</a:t>
            </a:r>
            <a:endParaRPr lang="en-US" altLang="en-US" sz="1400" dirty="0"/>
          </a:p>
          <a:p>
            <a:pPr algn="ctr"/>
            <a:endParaRPr lang="zh-CN" altLang="en-US" sz="140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custDataLst>
              <p:tags r:id="rId1"/>
            </p:custDataLst>
          </p:nvPr>
        </p:nvSpPr>
        <p:spPr>
          <a:xfrm>
            <a:off x="270510" y="260350"/>
            <a:ext cx="11130280" cy="6480175"/>
          </a:xfrm>
          <a:prstGeom prst="rect">
            <a:avLst/>
          </a:prstGeom>
          <a:solidFill>
            <a:schemeClr val="bg1"/>
          </a:solidFill>
          <a:ln>
            <a:solidFill>
              <a:srgbClr val="782367"/>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130175" algn="l" rtl="0" eaLnBrk="0">
              <a:lnSpc>
                <a:spcPct val="93000"/>
              </a:lnSpc>
              <a:spcBef>
                <a:spcPts val="5"/>
              </a:spcBef>
            </a:pPr>
            <a:endParaRPr sz="13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endParaRPr>
          </a:p>
          <a:p>
            <a:pPr marL="130175" algn="l" rtl="0" eaLnBrk="0">
              <a:lnSpc>
                <a:spcPct val="93000"/>
              </a:lnSpc>
              <a:spcBef>
                <a:spcPts val="5"/>
              </a:spcBef>
            </a:pPr>
            <a:r>
              <a:rPr sz="13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int</a:t>
            </a:r>
            <a:r>
              <a:rPr sz="1300" kern="0" spc="1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main()</a:t>
            </a:r>
            <a:endParaRPr lang="en-US" altLang="en-US" sz="1300" dirty="0"/>
          </a:p>
          <a:p>
            <a:pPr marL="116840" algn="l" rtl="0" eaLnBrk="0">
              <a:lnSpc>
                <a:spcPts val="2015"/>
              </a:lnSpc>
            </a:pPr>
            <a:r>
              <a:rPr sz="13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r>
              <a:rPr sz="13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int</a:t>
            </a:r>
            <a:r>
              <a:rPr sz="1300" kern="0" spc="18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i;</a:t>
            </a:r>
            <a:endParaRPr lang="en-US" altLang="en-US" sz="1300" dirty="0"/>
          </a:p>
          <a:p>
            <a:pPr marL="482600" algn="l" rtl="0" eaLnBrk="0">
              <a:lnSpc>
                <a:spcPct val="99000"/>
              </a:lnSpc>
              <a:spcBef>
                <a:spcPts val="560"/>
              </a:spcBef>
            </a:pPr>
            <a:r>
              <a:rPr sz="13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for(i=0;i&lt;2;i++)</a:t>
            </a:r>
            <a:endParaRPr lang="en-US" altLang="en-US" sz="1300" dirty="0"/>
          </a:p>
          <a:p>
            <a:pPr marL="480060" algn="l" rtl="0" eaLnBrk="0">
              <a:lnSpc>
                <a:spcPct val="92000"/>
              </a:lnSpc>
              <a:spcBef>
                <a:spcPts val="480"/>
              </a:spcBef>
            </a:pPr>
            <a:r>
              <a:rPr sz="13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printf</a:t>
            </a:r>
            <a:r>
              <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("please</a:t>
            </a:r>
            <a:r>
              <a:rPr sz="1300" kern="0" spc="1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enter the</a:t>
            </a:r>
            <a:r>
              <a:rPr sz="1300" kern="0" spc="1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data</a:t>
            </a:r>
            <a:r>
              <a:rPr sz="13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of</a:t>
            </a:r>
            <a:r>
              <a:rPr sz="1300" kern="0" spc="1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person:\n");</a:t>
            </a:r>
            <a:endParaRPr lang="en-US" altLang="en-US" sz="1300" dirty="0"/>
          </a:p>
          <a:p>
            <a:pPr marL="858520" indent="-10795" algn="l" rtl="0" eaLnBrk="0">
              <a:lnSpc>
                <a:spcPct val="111000"/>
              </a:lnSpc>
              <a:spcBef>
                <a:spcPts val="565"/>
              </a:spcBef>
            </a:pPr>
            <a:r>
              <a:rPr sz="13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scanf("%d</a:t>
            </a:r>
            <a:r>
              <a:rPr sz="13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a:t>
            </a:r>
            <a:r>
              <a:rPr sz="13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%c %c",&amp;person[i].num,person[i].name,&amp;person[</a:t>
            </a:r>
            <a:r>
              <a:rPr sz="13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i].sex,&amp;person[i].job);     </a:t>
            </a:r>
            <a:r>
              <a:rPr lang="en-US" sz="13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4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//输入前4项</a:t>
            </a:r>
            <a:endParaRPr sz="13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endParaRPr>
          </a:p>
          <a:p>
            <a:pPr marL="858520" indent="-10795" algn="l" rtl="0" eaLnBrk="0">
              <a:lnSpc>
                <a:spcPct val="111000"/>
              </a:lnSpc>
              <a:spcBef>
                <a:spcPts val="565"/>
              </a:spcBef>
            </a:pPr>
            <a:r>
              <a:rPr sz="13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if(person[i</a:t>
            </a:r>
            <a:r>
              <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].job=='s')</a:t>
            </a:r>
            <a:endParaRPr lang="en-US" altLang="en-US" sz="1300" dirty="0"/>
          </a:p>
          <a:p>
            <a:pPr marL="1210945" algn="l" rtl="0" eaLnBrk="0">
              <a:lnSpc>
                <a:spcPct val="92000"/>
              </a:lnSpc>
              <a:spcBef>
                <a:spcPts val="580"/>
              </a:spcBef>
            </a:pPr>
            <a:r>
              <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scanf("%d",&amp;person[i].catego</a:t>
            </a:r>
            <a:r>
              <a:rPr sz="13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ry.clas);</a:t>
            </a:r>
            <a:r>
              <a:rPr lang="en-US" sz="13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7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//如是学生，输入班</a:t>
            </a:r>
            <a:r>
              <a:rPr sz="1300" kern="0" spc="6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级</a:t>
            </a:r>
            <a:endParaRPr lang="en-US" altLang="en-US" sz="1300" dirty="0"/>
          </a:p>
          <a:p>
            <a:pPr marL="853440" algn="l" rtl="0" eaLnBrk="0">
              <a:lnSpc>
                <a:spcPts val="2015"/>
              </a:lnSpc>
              <a:spcBef>
                <a:spcPts val="20"/>
              </a:spcBef>
            </a:pPr>
            <a:r>
              <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else</a:t>
            </a:r>
            <a:r>
              <a:rPr sz="1300" kern="0" spc="20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if(person[i].job=='t')</a:t>
            </a:r>
            <a:endParaRPr lang="en-US" altLang="en-US" sz="1300" dirty="0"/>
          </a:p>
          <a:p>
            <a:pPr marL="1210945" algn="l" rtl="0" eaLnBrk="0">
              <a:lnSpc>
                <a:spcPct val="92000"/>
              </a:lnSpc>
              <a:spcBef>
                <a:spcPts val="560"/>
              </a:spcBef>
            </a:pPr>
            <a:r>
              <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scanf("%s",person[i].category.positi</a:t>
            </a:r>
            <a:r>
              <a:rPr sz="13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on);</a:t>
            </a:r>
            <a:r>
              <a:rPr lang="en-US" sz="13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7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//如是教师，输入</a:t>
            </a:r>
            <a:r>
              <a:rPr sz="1300" kern="0" spc="6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职务</a:t>
            </a:r>
            <a:endParaRPr lang="en-US" altLang="en-US" sz="1300" dirty="0"/>
          </a:p>
          <a:p>
            <a:pPr marL="853440" algn="l" rtl="0" eaLnBrk="0">
              <a:lnSpc>
                <a:spcPts val="2020"/>
              </a:lnSpc>
              <a:spcBef>
                <a:spcPts val="20"/>
              </a:spcBef>
            </a:pPr>
            <a:r>
              <a:rPr sz="13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else</a:t>
            </a:r>
            <a:endParaRPr lang="en-US" altLang="en-US" sz="1300" dirty="0"/>
          </a:p>
          <a:p>
            <a:pPr marL="1221105" algn="l" rtl="0" eaLnBrk="0">
              <a:lnSpc>
                <a:spcPct val="92000"/>
              </a:lnSpc>
              <a:spcBef>
                <a:spcPts val="570"/>
              </a:spcBef>
            </a:pPr>
            <a:r>
              <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printf("Input</a:t>
            </a:r>
            <a:r>
              <a:rPr sz="1300" kern="0" spc="1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erro</a:t>
            </a:r>
            <a:r>
              <a:rPr sz="13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r!");</a:t>
            </a:r>
            <a:r>
              <a:rPr lang="en-US" sz="13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//如job不是's</a:t>
            </a:r>
            <a:r>
              <a:rPr sz="1300" kern="0" spc="-1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'和't'，显示“输入错误”</a:t>
            </a:r>
            <a:endParaRPr lang="en-US" altLang="en-US" sz="1300" dirty="0"/>
          </a:p>
          <a:p>
            <a:pPr marL="480060" algn="l" rtl="0" eaLnBrk="0">
              <a:lnSpc>
                <a:spcPts val="2015"/>
              </a:lnSpc>
              <a:spcBef>
                <a:spcPts val="10"/>
              </a:spcBef>
            </a:pPr>
            <a:r>
              <a:rPr sz="13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endParaRPr lang="en-US" altLang="en-US" sz="1300" dirty="0"/>
          </a:p>
          <a:p>
            <a:pPr marL="492125" algn="l" rtl="0" eaLnBrk="0">
              <a:lnSpc>
                <a:spcPct val="92000"/>
              </a:lnSpc>
              <a:spcBef>
                <a:spcPts val="570"/>
              </a:spcBef>
            </a:pPr>
            <a:r>
              <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printf("\</a:t>
            </a:r>
            <a:r>
              <a:rPr sz="13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n");</a:t>
            </a:r>
            <a:endParaRPr lang="en-US" altLang="en-US" sz="1300" dirty="0"/>
          </a:p>
          <a:p>
            <a:pPr marL="492125" algn="l" rtl="0" eaLnBrk="0">
              <a:lnSpc>
                <a:spcPct val="92000"/>
              </a:lnSpc>
              <a:spcBef>
                <a:spcPts val="575"/>
              </a:spcBef>
            </a:pPr>
            <a:r>
              <a:rPr sz="13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printf("No.namesex job</a:t>
            </a:r>
            <a:r>
              <a:rPr sz="13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c</a:t>
            </a:r>
            <a:r>
              <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lass/position\n");</a:t>
            </a:r>
            <a:endParaRPr lang="en-US" altLang="en-US" sz="1300" dirty="0"/>
          </a:p>
          <a:p>
            <a:pPr marL="482600" algn="l" rtl="0" eaLnBrk="0">
              <a:lnSpc>
                <a:spcPts val="2015"/>
              </a:lnSpc>
              <a:spcBef>
                <a:spcPts val="20"/>
              </a:spcBef>
            </a:pPr>
            <a:r>
              <a:rPr sz="13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for(i=0;i&lt;2;i++)</a:t>
            </a:r>
            <a:endParaRPr lang="en-US" altLang="en-US" sz="1300" dirty="0"/>
          </a:p>
          <a:p>
            <a:pPr algn="l" rtl="0" eaLnBrk="0">
              <a:lnSpc>
                <a:spcPct val="117000"/>
              </a:lnSpc>
            </a:pPr>
            <a:endParaRPr lang="en-US" altLang="en-US" sz="1300" dirty="0"/>
          </a:p>
          <a:p>
            <a:pPr marL="480060" algn="l" rtl="0" eaLnBrk="0">
              <a:lnSpc>
                <a:spcPct val="92000"/>
              </a:lnSpc>
              <a:spcBef>
                <a:spcPts val="0"/>
              </a:spcBef>
            </a:pPr>
            <a:r>
              <a:rPr sz="13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if (person[i].job=='s'</a:t>
            </a:r>
            <a:r>
              <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r>
              <a:rPr lang="en-US"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4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//若是学生</a:t>
            </a:r>
            <a:endPar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endParaRPr>
          </a:p>
          <a:p>
            <a:pPr marL="853440" indent="367665" algn="l" rtl="0" eaLnBrk="0">
              <a:lnSpc>
                <a:spcPct val="115000"/>
              </a:lnSpc>
              <a:spcBef>
                <a:spcPts val="0"/>
              </a:spcBef>
            </a:pPr>
            <a:r>
              <a:rPr sz="13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printf("%-6d%-10s%-4c%-4c%-1</a:t>
            </a:r>
            <a:r>
              <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0d\n",person[i].num,person[i].name,person[i].sex,person[i].job,person[i].category.clas);                          </a:t>
            </a:r>
            <a:r>
              <a:rPr sz="1300" kern="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else</a:t>
            </a:r>
            <a:r>
              <a:rPr sz="13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//若是教师</a:t>
            </a:r>
            <a:endParaRPr lang="en-US" altLang="en-US" sz="1300" dirty="0"/>
          </a:p>
          <a:p>
            <a:pPr marL="480060" indent="741045" algn="l" rtl="0" eaLnBrk="0">
              <a:lnSpc>
                <a:spcPct val="114000"/>
              </a:lnSpc>
              <a:spcBef>
                <a:spcPts val="435"/>
              </a:spcBef>
            </a:pPr>
            <a:r>
              <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printf("%-6d%-10s%-4c%-4c%-10s\n",person[i].num,</a:t>
            </a:r>
            <a:r>
              <a:rPr sz="1300" kern="0" spc="30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person[i].name,person[i].sex,person[i].job,person[i].category.position);                  </a:t>
            </a:r>
            <a:r>
              <a:rPr sz="13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endParaRPr lang="en-US" altLang="en-US" sz="1300" dirty="0"/>
          </a:p>
          <a:p>
            <a:pPr marL="492760" algn="l" rtl="0" eaLnBrk="0">
              <a:lnSpc>
                <a:spcPct val="93000"/>
              </a:lnSpc>
              <a:spcBef>
                <a:spcPts val="480"/>
              </a:spcBef>
            </a:pPr>
            <a:r>
              <a:rPr sz="13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return</a:t>
            </a:r>
            <a:r>
              <a:rPr sz="1300" kern="0" spc="1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0;</a:t>
            </a:r>
            <a:endParaRPr lang="en-US" altLang="en-US" sz="1300" dirty="0"/>
          </a:p>
          <a:p>
            <a:pPr marL="117475" algn="l" rtl="0" eaLnBrk="0">
              <a:lnSpc>
                <a:spcPts val="2015"/>
              </a:lnSpc>
            </a:pPr>
            <a:r>
              <a:rPr sz="13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endParaRPr lang="en-US" altLang="en-US" sz="1300" dirty="0"/>
          </a:p>
          <a:p>
            <a:pPr marL="480060" algn="l" rtl="0" eaLnBrk="0">
              <a:lnSpc>
                <a:spcPct val="92000"/>
              </a:lnSpc>
              <a:spcBef>
                <a:spcPts val="0"/>
              </a:spcBef>
            </a:pPr>
            <a:endParaRPr lang="en-US" altLang="en-US" sz="1300" dirty="0"/>
          </a:p>
          <a:p>
            <a:pPr algn="ctr"/>
            <a:endParaRPr lang="zh-CN" altLang="en-US" sz="1300"/>
          </a:p>
        </p:txBody>
      </p:sp>
      <p:pic>
        <p:nvPicPr>
          <p:cNvPr id="9380" name="picture 9380"/>
          <p:cNvPicPr>
            <a:picLocks noChangeAspect="1"/>
          </p:cNvPicPr>
          <p:nvPr/>
        </p:nvPicPr>
        <p:blipFill>
          <a:blip r:embed="rId3"/>
          <a:stretch>
            <a:fillRect/>
          </a:stretch>
        </p:blipFill>
        <p:spPr>
          <a:xfrm rot="21600000">
            <a:off x="8510107" y="5018151"/>
            <a:ext cx="3447288" cy="1722119"/>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81923"/>
          <p:cNvSpPr txBox="1"/>
          <p:nvPr/>
        </p:nvSpPr>
        <p:spPr>
          <a:xfrm>
            <a:off x="2185000" y="446405"/>
            <a:ext cx="7823200" cy="2432051"/>
          </a:xfrm>
          <a:prstGeom prst="rect">
            <a:avLst/>
          </a:prstGeom>
          <a:noFill/>
          <a:ln w="9525">
            <a:noFill/>
          </a:ln>
        </p:spPr>
        <p:txBody>
          <a:bodyPr anchor="b"/>
          <a:lstStyle>
            <a:lvl1pPr marL="0" lvl="0" indent="0" algn="r" defTabSz="914400" rtl="0" eaLnBrk="1" fontAlgn="base" latinLnBrk="0" hangingPunct="1">
              <a:lnSpc>
                <a:spcPct val="100000"/>
              </a:lnSpc>
              <a:spcBef>
                <a:spcPct val="0"/>
              </a:spcBef>
              <a:spcAft>
                <a:spcPct val="0"/>
              </a:spcAft>
              <a:buClrTx/>
              <a:buSzTx/>
              <a:buFontTx/>
              <a:buNone/>
              <a:defRPr sz="4800" b="1" i="0" u="none" kern="1200" baseline="0">
                <a:solidFill>
                  <a:schemeClr val="tx2"/>
                </a:solidFill>
                <a:latin typeface="+mj-lt"/>
                <a:ea typeface="+mj-ea"/>
                <a:cs typeface="+mj-cs"/>
              </a:defRPr>
            </a:lvl1pPr>
          </a:lstStyle>
          <a:p>
            <a:pPr algn="ctr"/>
            <a:r>
              <a:rPr lang="zh-CN" altLang="en-US" noProof="1">
                <a:solidFill>
                  <a:srgbClr val="330066"/>
                </a:solidFill>
                <a:effectLst>
                  <a:outerShdw blurRad="38100" dist="38100" dir="2700000">
                    <a:srgbClr val="C0C0C0"/>
                  </a:outerShdw>
                </a:effectLst>
                <a:latin typeface="Arial" panose="020B0604020202090204" pitchFamily="34" charset="0"/>
                <a:ea typeface="隶书" panose="02010509060101010101" pitchFamily="49" charset="-122"/>
              </a:rPr>
              <a:t>使用枚举类型</a:t>
            </a:r>
          </a:p>
        </p:txBody>
      </p:sp>
      <p:cxnSp>
        <p:nvCxnSpPr>
          <p:cNvPr id="4" name="直接连接符 3"/>
          <p:cNvCxnSpPr/>
          <p:nvPr/>
        </p:nvCxnSpPr>
        <p:spPr>
          <a:xfrm>
            <a:off x="432400" y="3136069"/>
            <a:ext cx="11328400" cy="0"/>
          </a:xfrm>
          <a:prstGeom prst="line">
            <a:avLst/>
          </a:prstGeom>
          <a:ln w="25400">
            <a:solidFill>
              <a:srgbClr val="782367"/>
            </a:solidFill>
          </a:ln>
        </p:spPr>
        <p:style>
          <a:lnRef idx="1">
            <a:schemeClr val="accent1"/>
          </a:lnRef>
          <a:fillRef idx="0">
            <a:schemeClr val="accent1"/>
          </a:fillRef>
          <a:effectRef idx="0">
            <a:schemeClr val="accent1"/>
          </a:effectRef>
          <a:fontRef idx="minor">
            <a:schemeClr val="tx1"/>
          </a:fontRef>
        </p:style>
      </p:cxn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32431" y="246671"/>
            <a:ext cx="573807" cy="573807"/>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6927850" y="2232025"/>
            <a:ext cx="3587750" cy="1337945"/>
          </a:xfrm>
          <a:prstGeom prst="rect">
            <a:avLst/>
          </a:prstGeom>
          <a:solidFill>
            <a:schemeClr val="bg1"/>
          </a:solidFill>
          <a:ln>
            <a:solidFill>
              <a:srgbClr val="782367"/>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9384" name="textbox 9384"/>
          <p:cNvSpPr/>
          <p:nvPr/>
        </p:nvSpPr>
        <p:spPr>
          <a:xfrm>
            <a:off x="841492" y="4384167"/>
            <a:ext cx="10401935" cy="1925955"/>
          </a:xfrm>
          <a:prstGeom prst="rect">
            <a:avLst/>
          </a:prstGeom>
        </p:spPr>
        <p:txBody>
          <a:bodyPr vert="horz" wrap="square" lIns="0" tIns="0" rIns="0" bIns="0"/>
          <a:lstStyle/>
          <a:p>
            <a:pPr algn="l" rtl="0" eaLnBrk="0">
              <a:lnSpc>
                <a:spcPct val="80000"/>
              </a:lnSpc>
            </a:pPr>
            <a:endParaRPr lang="en-US" altLang="en-US" sz="135" dirty="0"/>
          </a:p>
          <a:p>
            <a:pPr marL="12700" algn="l" rtl="0" eaLnBrk="0">
              <a:lnSpc>
                <a:spcPct val="87000"/>
              </a:lnSpc>
            </a:pPr>
            <a:r>
              <a:rPr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(1)</a:t>
            </a:r>
            <a:r>
              <a:rPr kern="0" spc="28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0" dirty="0">
                <a:solidFill>
                  <a:srgbClr val="000000">
                    <a:alpha val="100000"/>
                  </a:srgbClr>
                </a:solidFill>
                <a:highlight>
                  <a:srgbClr val="F2C0FD"/>
                </a:highlight>
                <a:latin typeface="微软雅黑" panose="020B0503020204020204" charset="-122"/>
                <a:ea typeface="微软雅黑" panose="020B0503020204020204" charset="-122"/>
                <a:cs typeface="微软雅黑" panose="020B0503020204020204" charset="-122"/>
              </a:rPr>
              <a:t>C编译对枚举类型的枚举元素按常量处理</a:t>
            </a:r>
            <a:r>
              <a:rPr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kern="0" spc="-27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故称枚举常量</a:t>
            </a:r>
            <a:r>
              <a:rPr kern="0" spc="-27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。不要因为它们是标识符(有名字)而把它们</a:t>
            </a:r>
            <a:endParaRPr lang="en-US" altLang="en-US" dirty="0"/>
          </a:p>
          <a:p>
            <a:pPr marL="356870" algn="l" rtl="0" eaLnBrk="0">
              <a:lnSpc>
                <a:spcPts val="3240"/>
              </a:lnSpc>
            </a:pPr>
            <a:r>
              <a:rPr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看作变量</a:t>
            </a:r>
            <a:r>
              <a:rPr kern="0" spc="-20" dirty="0">
                <a:solidFill>
                  <a:srgbClr val="000000">
                    <a:alpha val="100000"/>
                  </a:srgbClr>
                </a:solidFill>
                <a:highlight>
                  <a:srgbClr val="F2C0FD"/>
                </a:highlight>
                <a:latin typeface="微软雅黑" panose="020B0503020204020204" charset="-122"/>
                <a:ea typeface="微软雅黑" panose="020B0503020204020204" charset="-122"/>
                <a:cs typeface="微软雅黑" panose="020B0503020204020204" charset="-122"/>
              </a:rPr>
              <a:t>，</a:t>
            </a:r>
            <a:r>
              <a:rPr kern="0" spc="-270" dirty="0">
                <a:solidFill>
                  <a:srgbClr val="000000">
                    <a:alpha val="100000"/>
                  </a:srgbClr>
                </a:solidFill>
                <a:highlight>
                  <a:srgbClr val="F2C0FD"/>
                </a:highlight>
                <a:latin typeface="微软雅黑" panose="020B0503020204020204" charset="-122"/>
                <a:ea typeface="微软雅黑" panose="020B0503020204020204" charset="-122"/>
                <a:cs typeface="微软雅黑" panose="020B0503020204020204" charset="-122"/>
              </a:rPr>
              <a:t> </a:t>
            </a:r>
            <a:r>
              <a:rPr kern="0" spc="-20" dirty="0">
                <a:solidFill>
                  <a:srgbClr val="000000">
                    <a:alpha val="100000"/>
                  </a:srgbClr>
                </a:solidFill>
                <a:highlight>
                  <a:srgbClr val="F2C0FD"/>
                </a:highlight>
                <a:latin typeface="微软雅黑" panose="020B0503020204020204" charset="-122"/>
                <a:ea typeface="微软雅黑" panose="020B0503020204020204" charset="-122"/>
                <a:cs typeface="微软雅黑" panose="020B0503020204020204" charset="-122"/>
              </a:rPr>
              <a:t>不能对它们赋值</a:t>
            </a:r>
            <a:r>
              <a:rPr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endParaRPr lang="en-US" altLang="en-US" dirty="0"/>
          </a:p>
          <a:p>
            <a:pPr marL="12700" algn="l" rtl="0" eaLnBrk="0">
              <a:lnSpc>
                <a:spcPct val="87000"/>
              </a:lnSpc>
              <a:spcBef>
                <a:spcPts val="1360"/>
              </a:spcBef>
            </a:pPr>
            <a:r>
              <a:rPr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(2)</a:t>
            </a:r>
            <a:r>
              <a:rPr kern="0" spc="25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每一个枚举元素都代表</a:t>
            </a:r>
            <a:r>
              <a:rPr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一个整数，</a:t>
            </a:r>
            <a:r>
              <a:rPr kern="0" spc="-26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C语言编译按定义时的顺序默认它们的值为0,1,2,3,4,5…</a:t>
            </a:r>
            <a:r>
              <a:rPr kern="0" spc="-27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。也可以在</a:t>
            </a:r>
            <a:endParaRPr lang="en-US" altLang="en-US" dirty="0"/>
          </a:p>
          <a:p>
            <a:pPr marL="352425" algn="l" rtl="0" eaLnBrk="0">
              <a:lnSpc>
                <a:spcPts val="3240"/>
              </a:lnSpc>
            </a:pPr>
            <a:r>
              <a:rPr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定义枚举类型时显式地指定枚举元素的数值。</a:t>
            </a:r>
            <a:endParaRPr lang="en-US" altLang="en-US" dirty="0"/>
          </a:p>
          <a:p>
            <a:pPr algn="l" rtl="0" eaLnBrk="0">
              <a:lnSpc>
                <a:spcPct val="102000"/>
              </a:lnSpc>
            </a:pPr>
            <a:endParaRPr lang="en-US" altLang="en-US" sz="1100" dirty="0"/>
          </a:p>
          <a:p>
            <a:pPr algn="l" rtl="0" eaLnBrk="0">
              <a:lnSpc>
                <a:spcPct val="7000"/>
              </a:lnSpc>
            </a:pPr>
            <a:endParaRPr lang="en-US" altLang="en-US" sz="135" dirty="0"/>
          </a:p>
          <a:p>
            <a:pPr marL="12700" algn="l" rtl="0" eaLnBrk="0">
              <a:lnSpc>
                <a:spcPct val="93000"/>
              </a:lnSpc>
            </a:pPr>
            <a:r>
              <a:rPr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(3)</a:t>
            </a:r>
            <a:r>
              <a:rPr kern="0" spc="20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枚举元素可以用来作判断比较</a:t>
            </a:r>
            <a:r>
              <a:rPr kern="0" spc="-30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。枚举元素的比较规则是按其在初始化时指定的整数来进行比</a:t>
            </a:r>
            <a:r>
              <a:rPr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较的。</a:t>
            </a:r>
            <a:endParaRPr lang="en-US" altLang="en-US" dirty="0"/>
          </a:p>
        </p:txBody>
      </p:sp>
      <p:sp>
        <p:nvSpPr>
          <p:cNvPr id="9386" name="textbox 9386"/>
          <p:cNvSpPr/>
          <p:nvPr/>
        </p:nvSpPr>
        <p:spPr>
          <a:xfrm>
            <a:off x="836930" y="2325879"/>
            <a:ext cx="5706745" cy="1522095"/>
          </a:xfrm>
          <a:prstGeom prst="rect">
            <a:avLst/>
          </a:prstGeom>
        </p:spPr>
        <p:txBody>
          <a:bodyPr vert="horz" wrap="square" lIns="0" tIns="0" rIns="0" bIns="0"/>
          <a:lstStyle/>
          <a:p>
            <a:pPr algn="l" rtl="0" eaLnBrk="0">
              <a:lnSpc>
                <a:spcPct val="80000"/>
              </a:lnSpc>
            </a:pPr>
            <a:endParaRPr lang="en-US" altLang="en-US" sz="135" dirty="0"/>
          </a:p>
          <a:p>
            <a:pPr algn="r" rtl="0" eaLnBrk="0">
              <a:lnSpc>
                <a:spcPct val="87000"/>
              </a:lnSpc>
            </a:pPr>
            <a:r>
              <a:rPr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rPr>
              <a:t>一一列举出来，</a:t>
            </a:r>
            <a:r>
              <a:rPr kern="0" spc="-22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60" dirty="0">
                <a:solidFill>
                  <a:srgbClr val="000000">
                    <a:alpha val="100000"/>
                  </a:srgbClr>
                </a:solidFill>
                <a:highlight>
                  <a:srgbClr val="F2C0FD"/>
                </a:highlight>
                <a:latin typeface="微软雅黑" panose="020B0503020204020204" charset="-122"/>
                <a:ea typeface="微软雅黑" panose="020B0503020204020204" charset="-122"/>
                <a:cs typeface="微软雅黑" panose="020B0503020204020204" charset="-122"/>
              </a:rPr>
              <a:t>变量的值只限于列举出来的</a:t>
            </a:r>
            <a:r>
              <a:rPr kern="0" spc="-70" dirty="0">
                <a:solidFill>
                  <a:srgbClr val="000000">
                    <a:alpha val="100000"/>
                  </a:srgbClr>
                </a:solidFill>
                <a:highlight>
                  <a:srgbClr val="F2C0FD"/>
                </a:highlight>
                <a:latin typeface="微软雅黑" panose="020B0503020204020204" charset="-122"/>
                <a:ea typeface="微软雅黑" panose="020B0503020204020204" charset="-122"/>
                <a:cs typeface="微软雅黑" panose="020B0503020204020204" charset="-122"/>
              </a:rPr>
              <a:t>值的范围内</a:t>
            </a:r>
            <a:r>
              <a:rPr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endParaRPr lang="en-US" altLang="en-US" dirty="0"/>
          </a:p>
          <a:p>
            <a:pPr marL="12700" indent="7620" algn="l" rtl="0" eaLnBrk="0">
              <a:lnSpc>
                <a:spcPct val="154000"/>
              </a:lnSpc>
              <a:spcBef>
                <a:spcPts val="10"/>
              </a:spcBef>
            </a:pPr>
            <a:r>
              <a:rPr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声明枚举类型用enum开头</a:t>
            </a:r>
            <a:r>
              <a:rPr kern="0" spc="-28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。花括号中的sun,mon,</a:t>
            </a:r>
            <a:r>
              <a:rPr kern="0" spc="-42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kern="0" spc="-42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,sat      </a:t>
            </a:r>
            <a:r>
              <a:rPr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称为</a:t>
            </a:r>
            <a:r>
              <a:rPr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枚举元素</a:t>
            </a:r>
            <a:r>
              <a:rPr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或</a:t>
            </a:r>
            <a:r>
              <a:rPr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枚举常量</a:t>
            </a:r>
            <a:r>
              <a:rPr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endParaRPr lang="en-US" altLang="en-US" dirty="0"/>
          </a:p>
          <a:p>
            <a:pPr algn="l" rtl="0" eaLnBrk="0">
              <a:lnSpc>
                <a:spcPct val="110000"/>
              </a:lnSpc>
            </a:pPr>
            <a:endParaRPr lang="en-US" altLang="en-US" sz="900" dirty="0"/>
          </a:p>
          <a:p>
            <a:pPr marL="12700" algn="l" rtl="0" eaLnBrk="0">
              <a:lnSpc>
                <a:spcPct val="95000"/>
              </a:lnSpc>
              <a:spcBef>
                <a:spcPts val="5"/>
              </a:spcBef>
            </a:pPr>
            <a:r>
              <a:rPr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也可以不声明有名字的枚举类型，</a:t>
            </a:r>
            <a:r>
              <a:rPr kern="0" spc="-25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而直接定义枚举变量：</a:t>
            </a:r>
            <a:endParaRPr lang="en-US" altLang="en-US" dirty="0"/>
          </a:p>
        </p:txBody>
      </p:sp>
      <p:sp>
        <p:nvSpPr>
          <p:cNvPr id="9396" name="textbox 9396"/>
          <p:cNvSpPr/>
          <p:nvPr/>
        </p:nvSpPr>
        <p:spPr>
          <a:xfrm>
            <a:off x="840807" y="1914399"/>
            <a:ext cx="10387965" cy="279400"/>
          </a:xfrm>
          <a:prstGeom prst="rect">
            <a:avLst/>
          </a:prstGeom>
        </p:spPr>
        <p:txBody>
          <a:bodyPr vert="horz" wrap="square" lIns="0" tIns="0" rIns="0" bIns="0"/>
          <a:lstStyle/>
          <a:p>
            <a:pPr algn="l" rtl="0" eaLnBrk="0">
              <a:lnSpc>
                <a:spcPct val="75000"/>
              </a:lnSpc>
            </a:pPr>
            <a:endParaRPr lang="en-US" altLang="en-US" sz="135" dirty="0"/>
          </a:p>
          <a:p>
            <a:pPr marL="12700" algn="l" rtl="0" eaLnBrk="0">
              <a:lnSpc>
                <a:spcPct val="93000"/>
              </a:lnSpc>
            </a:pPr>
            <a:r>
              <a:rPr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rPr>
              <a:t>如果一个变量只有几种可能的值，</a:t>
            </a:r>
            <a:r>
              <a:rPr kern="0" spc="-25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rPr>
              <a:t>则可以定义为</a:t>
            </a:r>
            <a:r>
              <a:rPr b="1"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rPr>
              <a:t>枚举</a:t>
            </a:r>
            <a:r>
              <a:rPr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rPr>
              <a:t>(enumeration)</a:t>
            </a:r>
            <a:r>
              <a:rPr b="1"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rPr>
              <a:t>类型</a:t>
            </a:r>
            <a:r>
              <a:rPr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kern="0" spc="-29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rPr>
              <a:t>所谓“枚举”就是指</a:t>
            </a:r>
            <a:r>
              <a:rPr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rPr>
              <a:t>把可能的值</a:t>
            </a:r>
            <a:endParaRPr lang="en-US" altLang="en-US" dirty="0"/>
          </a:p>
        </p:txBody>
      </p:sp>
      <p:sp>
        <p:nvSpPr>
          <p:cNvPr id="9398" name="textbox 9398"/>
          <p:cNvSpPr/>
          <p:nvPr/>
        </p:nvSpPr>
        <p:spPr>
          <a:xfrm>
            <a:off x="766648" y="443243"/>
            <a:ext cx="2453639" cy="496569"/>
          </a:xfrm>
          <a:prstGeom prst="rect">
            <a:avLst/>
          </a:prstGeom>
        </p:spPr>
        <p:txBody>
          <a:bodyPr vert="horz" wrap="square" lIns="0" tIns="0" rIns="0" bIns="0"/>
          <a:lstStyle/>
          <a:p>
            <a:pPr algn="l" rtl="0" eaLnBrk="0">
              <a:lnSpc>
                <a:spcPct val="72000"/>
              </a:lnSpc>
            </a:pPr>
            <a:endParaRPr lang="en-US" altLang="en-US" sz="135" dirty="0"/>
          </a:p>
          <a:p>
            <a:pPr marL="12700" algn="l" rtl="0" eaLnBrk="0">
              <a:lnSpc>
                <a:spcPct val="100000"/>
              </a:lnSpc>
            </a:pPr>
            <a:r>
              <a:rPr sz="31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使用枚举类型</a:t>
            </a:r>
            <a:endParaRPr lang="en-US" altLang="en-US" sz="3100" dirty="0"/>
          </a:p>
        </p:txBody>
      </p:sp>
      <p:sp>
        <p:nvSpPr>
          <p:cNvPr id="9400" name="path"/>
          <p:cNvSpPr/>
          <p:nvPr/>
        </p:nvSpPr>
        <p:spPr>
          <a:xfrm>
            <a:off x="7669242" y="2621279"/>
            <a:ext cx="2274061" cy="449707"/>
          </a:xfrm>
          <a:custGeom>
            <a:avLst/>
            <a:gdLst/>
            <a:ahLst/>
            <a:cxnLst/>
            <a:rect l="0" t="0" r="0" b="0"/>
            <a:pathLst>
              <a:path w="3581" h="708">
                <a:moveTo>
                  <a:pt x="5" y="19"/>
                </a:moveTo>
                <a:lnTo>
                  <a:pt x="5" y="707"/>
                </a:lnTo>
                <a:moveTo>
                  <a:pt x="2059" y="0"/>
                </a:moveTo>
                <a:lnTo>
                  <a:pt x="2059" y="316"/>
                </a:lnTo>
                <a:lnTo>
                  <a:pt x="3576" y="316"/>
                </a:lnTo>
                <a:lnTo>
                  <a:pt x="3576" y="15"/>
                </a:lnTo>
                <a:moveTo>
                  <a:pt x="2760" y="316"/>
                </a:moveTo>
                <a:lnTo>
                  <a:pt x="2760" y="708"/>
                </a:lnTo>
              </a:path>
            </a:pathLst>
          </a:custGeom>
          <a:noFill/>
          <a:ln w="6350" cap="flat">
            <a:solidFill>
              <a:srgbClr val="782367">
                <a:alpha val="100000"/>
              </a:srgbClr>
            </a:solidFill>
            <a:prstDash val="solid"/>
            <a:miter lim="800000"/>
          </a:ln>
        </p:spPr>
        <p:txBody>
          <a:bodyPr rtlCol="0"/>
          <a:lstStyle/>
          <a:p>
            <a:pPr algn="ctr"/>
            <a:endParaRPr lang="zh-CN" altLang="en-US"/>
          </a:p>
        </p:txBody>
      </p:sp>
      <p:sp>
        <p:nvSpPr>
          <p:cNvPr id="9402" name="path"/>
          <p:cNvSpPr/>
          <p:nvPr/>
        </p:nvSpPr>
        <p:spPr>
          <a:xfrm>
            <a:off x="759044" y="1718564"/>
            <a:ext cx="10547095" cy="25400"/>
          </a:xfrm>
          <a:custGeom>
            <a:avLst/>
            <a:gdLst/>
            <a:ahLst/>
            <a:cxnLst/>
            <a:rect l="0" t="0" r="0" b="0"/>
            <a:pathLst>
              <a:path w="16609" h="40">
                <a:moveTo>
                  <a:pt x="20" y="20"/>
                </a:moveTo>
                <a:lnTo>
                  <a:pt x="16589" y="20"/>
                </a:lnTo>
                <a:lnTo>
                  <a:pt x="20" y="20"/>
                </a:lnTo>
              </a:path>
            </a:pathLst>
          </a:custGeom>
          <a:noFill/>
          <a:ln w="0" cap="sq">
            <a:solidFill>
              <a:srgbClr val="782367">
                <a:alpha val="100000"/>
              </a:srgbClr>
            </a:solidFill>
            <a:prstDash val="solid"/>
            <a:bevel/>
          </a:ln>
        </p:spPr>
        <p:txBody>
          <a:bodyPr rtlCol="0"/>
          <a:lstStyle/>
          <a:p>
            <a:pPr algn="ctr"/>
            <a:endParaRPr lang="zh-CN" altLang="en-US"/>
          </a:p>
        </p:txBody>
      </p:sp>
      <p:sp>
        <p:nvSpPr>
          <p:cNvPr id="9404" name="path"/>
          <p:cNvSpPr/>
          <p:nvPr/>
        </p:nvSpPr>
        <p:spPr>
          <a:xfrm>
            <a:off x="759044" y="6406388"/>
            <a:ext cx="10547095" cy="25400"/>
          </a:xfrm>
          <a:custGeom>
            <a:avLst/>
            <a:gdLst/>
            <a:ahLst/>
            <a:cxnLst/>
            <a:rect l="0" t="0" r="0" b="0"/>
            <a:pathLst>
              <a:path w="16609" h="40">
                <a:moveTo>
                  <a:pt x="20" y="20"/>
                </a:moveTo>
                <a:lnTo>
                  <a:pt x="16589" y="20"/>
                </a:lnTo>
                <a:lnTo>
                  <a:pt x="20" y="20"/>
                </a:lnTo>
              </a:path>
            </a:pathLst>
          </a:custGeom>
          <a:noFill/>
          <a:ln w="25400" cap="sq">
            <a:solidFill>
              <a:srgbClr val="7030A0">
                <a:alpha val="100000"/>
              </a:srgbClr>
            </a:solidFill>
            <a:prstDash val="solid"/>
            <a:bevel/>
          </a:ln>
        </p:spPr>
        <p:txBody>
          <a:bodyPr rtlCol="0"/>
          <a:lstStyle/>
          <a:p>
            <a:pPr algn="ctr"/>
            <a:endParaRPr lang="zh-CN" altLang="en-US"/>
          </a:p>
        </p:txBody>
      </p:sp>
      <p:sp>
        <p:nvSpPr>
          <p:cNvPr id="2" name="矩形 1"/>
          <p:cNvSpPr/>
          <p:nvPr>
            <p:custDataLst>
              <p:tags r:id="rId1"/>
            </p:custDataLst>
          </p:nvPr>
        </p:nvSpPr>
        <p:spPr>
          <a:xfrm>
            <a:off x="777875" y="1020445"/>
            <a:ext cx="4686300" cy="590550"/>
          </a:xfrm>
          <a:prstGeom prst="rect">
            <a:avLst/>
          </a:prstGeom>
          <a:solidFill>
            <a:srgbClr val="CCECFF"/>
          </a:solidFill>
          <a:ln>
            <a:solidFill>
              <a:srgbClr val="CCECFF"/>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sz="2000" b="1" kern="0" spc="-70" dirty="0">
                <a:solidFill>
                  <a:srgbClr val="1100CC">
                    <a:alpha val="100000"/>
                  </a:srgbClr>
                </a:solidFill>
                <a:latin typeface="微软雅黑" panose="020B0503020204020204" charset="-122"/>
                <a:ea typeface="微软雅黑" panose="020B0503020204020204" charset="-122"/>
                <a:cs typeface="微软雅黑" panose="020B0503020204020204" charset="-122"/>
                <a:sym typeface="+mn-ea"/>
              </a:rPr>
              <a:t>enum [枚举名]{枚举元素列表</a:t>
            </a:r>
            <a:r>
              <a:rPr sz="2000" b="1" kern="0" spc="-80" dirty="0">
                <a:solidFill>
                  <a:srgbClr val="1100CC">
                    <a:alpha val="100000"/>
                  </a:srgbClr>
                </a:solidFill>
                <a:latin typeface="微软雅黑" panose="020B0503020204020204" charset="-122"/>
                <a:ea typeface="微软雅黑" panose="020B0503020204020204" charset="-122"/>
                <a:cs typeface="微软雅黑" panose="020B0503020204020204" charset="-122"/>
                <a:sym typeface="+mn-ea"/>
              </a:rPr>
              <a:t>}</a:t>
            </a:r>
            <a:endParaRPr lang="zh-CN" altLang="en-US" sz="2000" b="1" kern="0" spc="-80" dirty="0">
              <a:solidFill>
                <a:srgbClr val="1100CC">
                  <a:alpha val="100000"/>
                </a:srgbClr>
              </a:solidFill>
              <a:latin typeface="微软雅黑" panose="020B0503020204020204" charset="-122"/>
              <a:ea typeface="微软雅黑" panose="020B0503020204020204" charset="-122"/>
              <a:cs typeface="微软雅黑" panose="020B0503020204020204" charset="-122"/>
              <a:sym typeface="+mn-ea"/>
            </a:endParaRPr>
          </a:p>
        </p:txBody>
      </p:sp>
      <p:sp>
        <p:nvSpPr>
          <p:cNvPr id="3" name="矩形 2"/>
          <p:cNvSpPr/>
          <p:nvPr>
            <p:custDataLst>
              <p:tags r:id="rId2"/>
            </p:custDataLst>
          </p:nvPr>
        </p:nvSpPr>
        <p:spPr>
          <a:xfrm>
            <a:off x="5699760" y="1055370"/>
            <a:ext cx="5607050" cy="532130"/>
          </a:xfrm>
          <a:prstGeom prst="rect">
            <a:avLst/>
          </a:prstGeom>
          <a:solidFill>
            <a:schemeClr val="bg1"/>
          </a:solidFill>
          <a:ln>
            <a:solidFill>
              <a:srgbClr val="782367"/>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sz="17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enum Weekday{sun，</a:t>
            </a:r>
            <a:r>
              <a:rPr sz="1700" kern="0" spc="-20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700"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mon，</a:t>
            </a:r>
            <a:r>
              <a:rPr sz="1700" kern="0" spc="-29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700"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tue，</a:t>
            </a:r>
            <a:r>
              <a:rPr sz="1700" kern="0" spc="-3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700"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wed，</a:t>
            </a:r>
            <a:r>
              <a:rPr sz="1700" kern="0" spc="-30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700"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thu，</a:t>
            </a:r>
            <a:r>
              <a:rPr sz="1700" kern="0" spc="-29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700"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fri，</a:t>
            </a:r>
            <a:r>
              <a:rPr sz="1700" kern="0" spc="-30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700"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sat};</a:t>
            </a:r>
            <a:endParaRPr lang="zh-CN" altLang="en-US" sz="1700"/>
          </a:p>
        </p:txBody>
      </p:sp>
      <p:sp>
        <p:nvSpPr>
          <p:cNvPr id="4" name="文本框 3"/>
          <p:cNvSpPr txBox="1"/>
          <p:nvPr/>
        </p:nvSpPr>
        <p:spPr>
          <a:xfrm>
            <a:off x="6851650" y="2213610"/>
            <a:ext cx="1740535" cy="407670"/>
          </a:xfrm>
          <a:prstGeom prst="rect">
            <a:avLst/>
          </a:prstGeom>
          <a:noFill/>
        </p:spPr>
        <p:txBody>
          <a:bodyPr wrap="square" rtlCol="0" anchor="t">
            <a:noAutofit/>
          </a:bodyPr>
          <a:lstStyle/>
          <a:p>
            <a:r>
              <a:rPr sz="17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enum Weekday</a:t>
            </a:r>
            <a:endParaRPr lang="zh-CN" altLang="en-US" sz="17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endParaRPr>
          </a:p>
        </p:txBody>
      </p:sp>
      <p:sp>
        <p:nvSpPr>
          <p:cNvPr id="5" name="文本框 4"/>
          <p:cNvSpPr txBox="1"/>
          <p:nvPr/>
        </p:nvSpPr>
        <p:spPr>
          <a:xfrm>
            <a:off x="7158355" y="3145790"/>
            <a:ext cx="1127125" cy="368300"/>
          </a:xfrm>
          <a:prstGeom prst="rect">
            <a:avLst/>
          </a:prstGeom>
          <a:noFill/>
        </p:spPr>
        <p:txBody>
          <a:bodyPr wrap="square" rtlCol="0" anchor="t">
            <a:spAutoFit/>
          </a:bodyPr>
          <a:lstStyle/>
          <a:p>
            <a:r>
              <a:rPr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枚举类型</a:t>
            </a:r>
            <a:endParaRPr lang="zh-CN" altLang="en-US"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endParaRPr>
          </a:p>
        </p:txBody>
      </p:sp>
      <p:sp>
        <p:nvSpPr>
          <p:cNvPr id="6" name="文本框 5"/>
          <p:cNvSpPr txBox="1"/>
          <p:nvPr/>
        </p:nvSpPr>
        <p:spPr>
          <a:xfrm>
            <a:off x="8465185" y="2231390"/>
            <a:ext cx="2202180" cy="328930"/>
          </a:xfrm>
          <a:prstGeom prst="rect">
            <a:avLst/>
          </a:prstGeom>
          <a:noFill/>
        </p:spPr>
        <p:txBody>
          <a:bodyPr wrap="square" rtlCol="0" anchor="t">
            <a:spAutoFit/>
          </a:bodyPr>
          <a:lstStyle/>
          <a:p>
            <a:pPr marL="128270" algn="l" rtl="0" eaLnBrk="0">
              <a:lnSpc>
                <a:spcPct val="91000"/>
              </a:lnSpc>
              <a:spcBef>
                <a:spcPts val="5"/>
              </a:spcBef>
            </a:pPr>
            <a:r>
              <a:rPr sz="17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w</a:t>
            </a:r>
            <a:r>
              <a:rPr sz="17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orkday,weekend;</a:t>
            </a:r>
            <a:endParaRPr lang="zh-CN" altLang="en-US" sz="17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endParaRPr>
          </a:p>
        </p:txBody>
      </p:sp>
      <p:sp>
        <p:nvSpPr>
          <p:cNvPr id="7" name="文本框 6"/>
          <p:cNvSpPr txBox="1"/>
          <p:nvPr/>
        </p:nvSpPr>
        <p:spPr>
          <a:xfrm>
            <a:off x="8592185" y="3154680"/>
            <a:ext cx="1645920" cy="354330"/>
          </a:xfrm>
          <a:prstGeom prst="rect">
            <a:avLst/>
          </a:prstGeom>
          <a:noFill/>
        </p:spPr>
        <p:txBody>
          <a:bodyPr wrap="square" rtlCol="0" anchor="t">
            <a:spAutoFit/>
          </a:bodyPr>
          <a:lstStyle/>
          <a:p>
            <a:pPr marL="373380" algn="l" rtl="0" eaLnBrk="0">
              <a:lnSpc>
                <a:spcPct val="95000"/>
              </a:lnSpc>
              <a:spcBef>
                <a:spcPts val="0"/>
              </a:spcBef>
            </a:pPr>
            <a:r>
              <a:rPr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枚举变量</a:t>
            </a:r>
            <a:endParaRPr lang="zh-CN" altLang="en-US"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endParaRPr>
          </a:p>
        </p:txBody>
      </p:sp>
      <p:sp>
        <p:nvSpPr>
          <p:cNvPr id="9" name="文本框 8"/>
          <p:cNvSpPr txBox="1"/>
          <p:nvPr/>
        </p:nvSpPr>
        <p:spPr>
          <a:xfrm>
            <a:off x="923290" y="3958590"/>
            <a:ext cx="6969125" cy="328930"/>
          </a:xfrm>
          <a:prstGeom prst="rect">
            <a:avLst/>
          </a:prstGeom>
          <a:noFill/>
        </p:spPr>
        <p:txBody>
          <a:bodyPr wrap="square" rtlCol="0" anchor="t">
            <a:spAutoFit/>
          </a:bodyPr>
          <a:lstStyle/>
          <a:p>
            <a:pPr marL="125730" algn="l" rtl="0" eaLnBrk="0">
              <a:lnSpc>
                <a:spcPct val="91000"/>
              </a:lnSpc>
              <a:spcBef>
                <a:spcPts val="5"/>
              </a:spcBef>
            </a:pPr>
            <a:r>
              <a:rPr sz="1700" b="1" kern="0" spc="-60" dirty="0">
                <a:solidFill>
                  <a:srgbClr val="1100CC">
                    <a:alpha val="100000"/>
                  </a:srgbClr>
                </a:solidFill>
                <a:latin typeface="微软雅黑" panose="020B0503020204020204" charset="-122"/>
                <a:ea typeface="微软雅黑" panose="020B0503020204020204" charset="-122"/>
                <a:cs typeface="微软雅黑" panose="020B0503020204020204" charset="-122"/>
                <a:sym typeface="+mn-ea"/>
              </a:rPr>
              <a:t>enum {sun，</a:t>
            </a:r>
            <a:r>
              <a:rPr sz="1700" b="1" kern="0" spc="-200" dirty="0">
                <a:solidFill>
                  <a:srgbClr val="1100CC">
                    <a:alpha val="100000"/>
                  </a:srgbClr>
                </a:solidFill>
                <a:latin typeface="微软雅黑" panose="020B0503020204020204" charset="-122"/>
                <a:ea typeface="微软雅黑" panose="020B0503020204020204" charset="-122"/>
                <a:cs typeface="微软雅黑" panose="020B0503020204020204" charset="-122"/>
                <a:sym typeface="+mn-ea"/>
              </a:rPr>
              <a:t> </a:t>
            </a:r>
            <a:r>
              <a:rPr sz="1700" b="1" kern="0" spc="-60" dirty="0">
                <a:solidFill>
                  <a:srgbClr val="1100CC">
                    <a:alpha val="100000"/>
                  </a:srgbClr>
                </a:solidFill>
                <a:latin typeface="微软雅黑" panose="020B0503020204020204" charset="-122"/>
                <a:ea typeface="微软雅黑" panose="020B0503020204020204" charset="-122"/>
                <a:cs typeface="微软雅黑" panose="020B0503020204020204" charset="-122"/>
                <a:sym typeface="+mn-ea"/>
              </a:rPr>
              <a:t>mon，</a:t>
            </a:r>
            <a:r>
              <a:rPr sz="1700" b="1" kern="0" spc="-300" dirty="0">
                <a:solidFill>
                  <a:srgbClr val="1100CC">
                    <a:alpha val="100000"/>
                  </a:srgbClr>
                </a:solidFill>
                <a:latin typeface="微软雅黑" panose="020B0503020204020204" charset="-122"/>
                <a:ea typeface="微软雅黑" panose="020B0503020204020204" charset="-122"/>
                <a:cs typeface="微软雅黑" panose="020B0503020204020204" charset="-122"/>
                <a:sym typeface="+mn-ea"/>
              </a:rPr>
              <a:t> </a:t>
            </a:r>
            <a:r>
              <a:rPr sz="1700" b="1" kern="0" spc="-60" dirty="0">
                <a:solidFill>
                  <a:srgbClr val="1100CC">
                    <a:alpha val="100000"/>
                  </a:srgbClr>
                </a:solidFill>
                <a:latin typeface="微软雅黑" panose="020B0503020204020204" charset="-122"/>
                <a:ea typeface="微软雅黑" panose="020B0503020204020204" charset="-122"/>
                <a:cs typeface="微软雅黑" panose="020B0503020204020204" charset="-122"/>
                <a:sym typeface="+mn-ea"/>
              </a:rPr>
              <a:t>tue，</a:t>
            </a:r>
            <a:r>
              <a:rPr sz="1700" b="1" kern="0" spc="-310" dirty="0">
                <a:solidFill>
                  <a:srgbClr val="1100CC">
                    <a:alpha val="100000"/>
                  </a:srgbClr>
                </a:solidFill>
                <a:latin typeface="微软雅黑" panose="020B0503020204020204" charset="-122"/>
                <a:ea typeface="微软雅黑" panose="020B0503020204020204" charset="-122"/>
                <a:cs typeface="微软雅黑" panose="020B0503020204020204" charset="-122"/>
                <a:sym typeface="+mn-ea"/>
              </a:rPr>
              <a:t> </a:t>
            </a:r>
            <a:r>
              <a:rPr sz="1700" b="1" kern="0" spc="-60" dirty="0">
                <a:solidFill>
                  <a:srgbClr val="1100CC">
                    <a:alpha val="100000"/>
                  </a:srgbClr>
                </a:solidFill>
                <a:latin typeface="微软雅黑" panose="020B0503020204020204" charset="-122"/>
                <a:ea typeface="微软雅黑" panose="020B0503020204020204" charset="-122"/>
                <a:cs typeface="微软雅黑" panose="020B0503020204020204" charset="-122"/>
                <a:sym typeface="+mn-ea"/>
              </a:rPr>
              <a:t>wed，</a:t>
            </a:r>
            <a:r>
              <a:rPr sz="1700" b="1" kern="0" spc="-290" dirty="0">
                <a:solidFill>
                  <a:srgbClr val="1100CC">
                    <a:alpha val="100000"/>
                  </a:srgbClr>
                </a:solidFill>
                <a:latin typeface="微软雅黑" panose="020B0503020204020204" charset="-122"/>
                <a:ea typeface="微软雅黑" panose="020B0503020204020204" charset="-122"/>
                <a:cs typeface="微软雅黑" panose="020B0503020204020204" charset="-122"/>
                <a:sym typeface="+mn-ea"/>
              </a:rPr>
              <a:t> </a:t>
            </a:r>
            <a:r>
              <a:rPr sz="1700" b="1" kern="0" spc="-60" dirty="0">
                <a:solidFill>
                  <a:srgbClr val="1100CC">
                    <a:alpha val="100000"/>
                  </a:srgbClr>
                </a:solidFill>
                <a:latin typeface="微软雅黑" panose="020B0503020204020204" charset="-122"/>
                <a:ea typeface="微软雅黑" panose="020B0503020204020204" charset="-122"/>
                <a:cs typeface="微软雅黑" panose="020B0503020204020204" charset="-122"/>
                <a:sym typeface="+mn-ea"/>
              </a:rPr>
              <a:t>thu，</a:t>
            </a:r>
            <a:r>
              <a:rPr sz="1700" b="1" kern="0" spc="-300" dirty="0">
                <a:solidFill>
                  <a:srgbClr val="1100CC">
                    <a:alpha val="100000"/>
                  </a:srgbClr>
                </a:solidFill>
                <a:latin typeface="微软雅黑" panose="020B0503020204020204" charset="-122"/>
                <a:ea typeface="微软雅黑" panose="020B0503020204020204" charset="-122"/>
                <a:cs typeface="微软雅黑" panose="020B0503020204020204" charset="-122"/>
                <a:sym typeface="+mn-ea"/>
              </a:rPr>
              <a:t> </a:t>
            </a:r>
            <a:r>
              <a:rPr sz="1700" b="1" kern="0" spc="-60" dirty="0">
                <a:solidFill>
                  <a:srgbClr val="1100CC">
                    <a:alpha val="100000"/>
                  </a:srgbClr>
                </a:solidFill>
                <a:latin typeface="微软雅黑" panose="020B0503020204020204" charset="-122"/>
                <a:ea typeface="微软雅黑" panose="020B0503020204020204" charset="-122"/>
                <a:cs typeface="微软雅黑" panose="020B0503020204020204" charset="-122"/>
                <a:sym typeface="+mn-ea"/>
              </a:rPr>
              <a:t>f</a:t>
            </a:r>
            <a:r>
              <a:rPr sz="1700" b="1" kern="0" spc="-70" dirty="0">
                <a:solidFill>
                  <a:srgbClr val="1100CC">
                    <a:alpha val="100000"/>
                  </a:srgbClr>
                </a:solidFill>
                <a:latin typeface="微软雅黑" panose="020B0503020204020204" charset="-122"/>
                <a:ea typeface="微软雅黑" panose="020B0503020204020204" charset="-122"/>
                <a:cs typeface="微软雅黑" panose="020B0503020204020204" charset="-122"/>
                <a:sym typeface="+mn-ea"/>
              </a:rPr>
              <a:t>ri，</a:t>
            </a:r>
            <a:r>
              <a:rPr sz="1700" b="1" kern="0" spc="-300" dirty="0">
                <a:solidFill>
                  <a:srgbClr val="1100CC">
                    <a:alpha val="100000"/>
                  </a:srgbClr>
                </a:solidFill>
                <a:latin typeface="微软雅黑" panose="020B0503020204020204" charset="-122"/>
                <a:ea typeface="微软雅黑" panose="020B0503020204020204" charset="-122"/>
                <a:cs typeface="微软雅黑" panose="020B0503020204020204" charset="-122"/>
                <a:sym typeface="+mn-ea"/>
              </a:rPr>
              <a:t> </a:t>
            </a:r>
            <a:r>
              <a:rPr sz="1700" b="1" kern="0" spc="-70" dirty="0">
                <a:solidFill>
                  <a:srgbClr val="1100CC">
                    <a:alpha val="100000"/>
                  </a:srgbClr>
                </a:solidFill>
                <a:latin typeface="微软雅黑" panose="020B0503020204020204" charset="-122"/>
                <a:ea typeface="微软雅黑" panose="020B0503020204020204" charset="-122"/>
                <a:cs typeface="微软雅黑" panose="020B0503020204020204" charset="-122"/>
                <a:sym typeface="+mn-ea"/>
              </a:rPr>
              <a:t>sat}workday,weekend;</a:t>
            </a:r>
            <a:endParaRPr lang="zh-CN" altLang="en-US" sz="1700" b="1" kern="0" spc="-70" dirty="0">
              <a:solidFill>
                <a:srgbClr val="1100CC">
                  <a:alpha val="100000"/>
                </a:srgbClr>
              </a:solidFill>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custDataLst>
              <p:tags r:id="rId1"/>
            </p:custDataLst>
          </p:nvPr>
        </p:nvSpPr>
        <p:spPr>
          <a:xfrm>
            <a:off x="3563620" y="473710"/>
            <a:ext cx="8510270" cy="6385560"/>
          </a:xfrm>
          <a:prstGeom prst="rect">
            <a:avLst/>
          </a:prstGeom>
          <a:solidFill>
            <a:schemeClr val="bg1"/>
          </a:solidFill>
          <a:ln>
            <a:solidFill>
              <a:srgbClr val="782367"/>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121920" algn="l" rtl="0" eaLnBrk="0">
              <a:lnSpc>
                <a:spcPct val="96000"/>
              </a:lnSpc>
              <a:spcBef>
                <a:spcPts val="5"/>
              </a:spcBef>
            </a:pPr>
            <a:endParaRPr sz="11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endParaRPr>
          </a:p>
          <a:p>
            <a:pPr marL="121920" algn="l" rtl="0" eaLnBrk="0">
              <a:lnSpc>
                <a:spcPct val="96000"/>
              </a:lnSpc>
              <a:spcBef>
                <a:spcPts val="5"/>
              </a:spcBef>
            </a:pPr>
            <a:r>
              <a:rPr sz="11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#include</a:t>
            </a:r>
            <a:r>
              <a:rPr sz="1100" kern="0" spc="1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1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&lt;</a:t>
            </a:r>
            <a:r>
              <a:rPr sz="11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stdio.h&gt;</a:t>
            </a:r>
            <a:endParaRPr lang="en-US" altLang="en-US" sz="1100" dirty="0"/>
          </a:p>
          <a:p>
            <a:pPr marL="130175" algn="l" rtl="0" eaLnBrk="0">
              <a:lnSpc>
                <a:spcPts val="1320"/>
              </a:lnSpc>
            </a:pPr>
            <a:r>
              <a:rPr sz="11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int</a:t>
            </a:r>
            <a:r>
              <a:rPr sz="1100" kern="0" spc="17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1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main()</a:t>
            </a:r>
            <a:endParaRPr lang="en-US" altLang="en-US" sz="1100" dirty="0"/>
          </a:p>
          <a:p>
            <a:pPr marL="119380" algn="l" rtl="0" eaLnBrk="0">
              <a:lnSpc>
                <a:spcPct val="95000"/>
              </a:lnSpc>
              <a:spcBef>
                <a:spcPts val="165"/>
              </a:spcBef>
            </a:pPr>
            <a:r>
              <a:rPr sz="11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100" kern="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enum</a:t>
            </a:r>
            <a:r>
              <a:rPr sz="11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100" kern="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Color</a:t>
            </a:r>
            <a:r>
              <a:rPr sz="11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100" kern="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red</a:t>
            </a:r>
            <a:r>
              <a:rPr sz="11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r>
              <a:rPr sz="1100" kern="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yellow</a:t>
            </a:r>
            <a:r>
              <a:rPr sz="11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r>
              <a:rPr sz="1100" kern="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blue</a:t>
            </a:r>
            <a:r>
              <a:rPr sz="11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r>
              <a:rPr sz="1100" kern="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white</a:t>
            </a:r>
            <a:r>
              <a:rPr sz="11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r>
              <a:rPr sz="1100" kern="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black</a:t>
            </a:r>
            <a:r>
              <a:rPr sz="11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100" kern="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100" kern="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//声明枚举类型enum Color</a:t>
            </a:r>
            <a:endParaRPr lang="en-US" altLang="en-US" sz="1100" dirty="0"/>
          </a:p>
          <a:p>
            <a:pPr marL="488315" algn="l" rtl="0" eaLnBrk="0">
              <a:lnSpc>
                <a:spcPct val="86000"/>
              </a:lnSpc>
              <a:spcBef>
                <a:spcPts val="185"/>
              </a:spcBef>
            </a:pPr>
            <a:r>
              <a:rPr sz="11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enum Color</a:t>
            </a:r>
            <a:r>
              <a:rPr sz="1100" kern="0" spc="1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1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i,j,k,pri;</a:t>
            </a:r>
            <a:r>
              <a:rPr sz="1100" kern="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100" kern="0" spc="-5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//定义枚举变量i,j,k,pri</a:t>
            </a:r>
            <a:endParaRPr lang="en-US" altLang="en-US" sz="1100" dirty="0"/>
          </a:p>
          <a:p>
            <a:pPr marL="492760" algn="l" rtl="0" eaLnBrk="0">
              <a:lnSpc>
                <a:spcPct val="95000"/>
              </a:lnSpc>
              <a:spcBef>
                <a:spcPts val="185"/>
              </a:spcBef>
            </a:pPr>
            <a:r>
              <a:rPr sz="11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int</a:t>
            </a:r>
            <a:r>
              <a:rPr sz="1100" kern="0" spc="10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1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n,loop;</a:t>
            </a:r>
            <a:endParaRPr lang="en-US" altLang="en-US" sz="1100" dirty="0"/>
          </a:p>
          <a:p>
            <a:pPr marL="492125" algn="l" rtl="0" eaLnBrk="0">
              <a:lnSpc>
                <a:spcPts val="1230"/>
              </a:lnSpc>
              <a:spcBef>
                <a:spcPts val="10"/>
              </a:spcBef>
            </a:pPr>
            <a:r>
              <a:rPr sz="11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n=0;</a:t>
            </a:r>
            <a:endParaRPr lang="en-US" altLang="en-US" sz="1100" dirty="0"/>
          </a:p>
          <a:p>
            <a:pPr marL="484505" algn="l" rtl="0" eaLnBrk="0">
              <a:lnSpc>
                <a:spcPct val="93000"/>
              </a:lnSpc>
              <a:spcBef>
                <a:spcPts val="255"/>
              </a:spcBef>
            </a:pPr>
            <a:r>
              <a:rPr sz="11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for(i=red;i&lt;=black;i</a:t>
            </a:r>
            <a:r>
              <a:rPr sz="11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r>
              <a:rPr sz="11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100" kern="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100" kern="0" spc="-5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//外循环使i的值从red变到black</a:t>
            </a:r>
            <a:endParaRPr lang="en-US" altLang="en-US" sz="1100" dirty="0"/>
          </a:p>
          <a:p>
            <a:pPr marL="850265" algn="l" rtl="0" eaLnBrk="0">
              <a:lnSpc>
                <a:spcPct val="86000"/>
              </a:lnSpc>
              <a:spcBef>
                <a:spcPts val="95"/>
              </a:spcBef>
            </a:pPr>
            <a:r>
              <a:rPr sz="11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for(j=red;j&lt;=black</a:t>
            </a:r>
            <a:r>
              <a:rPr sz="11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;j++)</a:t>
            </a:r>
            <a:r>
              <a:rPr sz="11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100" kern="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100" kern="0" spc="-5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//中循环使j的值从red变到black</a:t>
            </a:r>
            <a:endParaRPr lang="en-US" altLang="en-US" sz="1100" dirty="0"/>
          </a:p>
          <a:p>
            <a:pPr marL="1221105" algn="l" rtl="0" eaLnBrk="0">
              <a:lnSpc>
                <a:spcPct val="86000"/>
              </a:lnSpc>
              <a:spcBef>
                <a:spcPts val="185"/>
              </a:spcBef>
            </a:pPr>
            <a:r>
              <a:rPr sz="11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if(i!=j)</a:t>
            </a:r>
            <a:r>
              <a:rPr sz="1100" kern="0" spc="-1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1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//如果二球不同色</a:t>
            </a:r>
            <a:endParaRPr lang="en-US" altLang="en-US" sz="1100" dirty="0"/>
          </a:p>
          <a:p>
            <a:pPr marL="1210945" algn="l" rtl="0" eaLnBrk="0">
              <a:lnSpc>
                <a:spcPct val="93000"/>
              </a:lnSpc>
              <a:spcBef>
                <a:spcPts val="185"/>
              </a:spcBef>
            </a:pPr>
            <a:r>
              <a:rPr sz="11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for (k=red;k&lt;=black;k++)                          </a:t>
            </a:r>
            <a:r>
              <a:rPr sz="11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100" kern="0" spc="-4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//內循环使k的值从red变到black</a:t>
            </a:r>
            <a:endParaRPr lang="en-US" altLang="en-US" sz="1100" dirty="0"/>
          </a:p>
          <a:p>
            <a:pPr marL="1950085" algn="l" rtl="0" eaLnBrk="0">
              <a:lnSpc>
                <a:spcPct val="95000"/>
              </a:lnSpc>
              <a:spcBef>
                <a:spcPts val="90"/>
              </a:spcBef>
            </a:pPr>
            <a:r>
              <a:rPr sz="1100" kern="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if ((k!=i)</a:t>
            </a:r>
            <a:r>
              <a:rPr sz="1100" kern="0" spc="1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100" kern="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&amp;&amp; (k!=j))                                      </a:t>
            </a:r>
            <a:r>
              <a:rPr sz="1100" kern="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//如果3球不同色</a:t>
            </a:r>
            <a:endParaRPr lang="en-US" altLang="en-US" sz="1100" dirty="0"/>
          </a:p>
          <a:p>
            <a:pPr marL="1939290" algn="l" rtl="0" eaLnBrk="0">
              <a:lnSpc>
                <a:spcPct val="93000"/>
              </a:lnSpc>
              <a:spcBef>
                <a:spcPts val="185"/>
              </a:spcBef>
            </a:pPr>
            <a:r>
              <a:rPr sz="11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n=n+1;  </a:t>
            </a:r>
            <a:r>
              <a:rPr sz="11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100" kern="0" spc="-2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//符合条件的次数加1</a:t>
            </a:r>
            <a:endParaRPr lang="en-US" altLang="en-US" sz="1100" dirty="0"/>
          </a:p>
          <a:p>
            <a:pPr marL="2312035" algn="l" rtl="0" eaLnBrk="0">
              <a:lnSpc>
                <a:spcPct val="86000"/>
              </a:lnSpc>
              <a:spcBef>
                <a:spcPts val="100"/>
              </a:spcBef>
            </a:pPr>
            <a:r>
              <a:rPr sz="11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printf("%-4d",n);                                </a:t>
            </a:r>
            <a:r>
              <a:rPr sz="1100" kern="0" spc="-3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//输出当前是第几个符合条件的组合</a:t>
            </a:r>
            <a:endParaRPr lang="en-US" altLang="en-US" sz="1100" dirty="0"/>
          </a:p>
          <a:p>
            <a:pPr marL="2304415" algn="l" rtl="0" eaLnBrk="0">
              <a:lnSpc>
                <a:spcPct val="86000"/>
              </a:lnSpc>
              <a:spcBef>
                <a:spcPts val="185"/>
              </a:spcBef>
            </a:pPr>
            <a:r>
              <a:rPr sz="11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for(loop=1;loop&lt;=3;loop++)           </a:t>
            </a:r>
            <a:r>
              <a:rPr sz="1100" kern="0" spc="-4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//先后对3个球分别处理</a:t>
            </a:r>
            <a:endParaRPr lang="en-US" altLang="en-US" sz="1100" dirty="0"/>
          </a:p>
          <a:p>
            <a:pPr marL="2302510" algn="l" rtl="0" eaLnBrk="0">
              <a:lnSpc>
                <a:spcPct val="86000"/>
              </a:lnSpc>
              <a:spcBef>
                <a:spcPts val="185"/>
              </a:spcBef>
            </a:pPr>
            <a:r>
              <a:rPr sz="11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r>
              <a:rPr sz="11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1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switch (l</a:t>
            </a:r>
            <a:r>
              <a:rPr sz="11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oop)                            </a:t>
            </a:r>
            <a:r>
              <a:rPr sz="1100" kern="0" spc="-4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//loop的值从1变到3</a:t>
            </a:r>
            <a:endParaRPr lang="en-US" altLang="en-US" sz="1100" dirty="0"/>
          </a:p>
          <a:p>
            <a:pPr marL="2668270" algn="l" rtl="0" eaLnBrk="0">
              <a:lnSpc>
                <a:spcPct val="86000"/>
              </a:lnSpc>
              <a:spcBef>
                <a:spcPts val="185"/>
              </a:spcBef>
            </a:pPr>
            <a:r>
              <a:rPr sz="11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case 1:</a:t>
            </a:r>
            <a:r>
              <a:rPr sz="1100"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1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pri=i;br</a:t>
            </a:r>
            <a:r>
              <a:rPr sz="11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eak;         </a:t>
            </a:r>
            <a:r>
              <a:rPr sz="1100" kern="0" spc="-4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//loop的值为1时，把第1球的颜色赋给pri</a:t>
            </a:r>
            <a:endParaRPr lang="en-US" altLang="en-US" sz="1100" dirty="0"/>
          </a:p>
          <a:p>
            <a:pPr marL="3037205" algn="l" rtl="0" eaLnBrk="0">
              <a:lnSpc>
                <a:spcPct val="86000"/>
              </a:lnSpc>
              <a:spcBef>
                <a:spcPts val="180"/>
              </a:spcBef>
            </a:pPr>
            <a:r>
              <a:rPr sz="11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case 2:</a:t>
            </a:r>
            <a:r>
              <a:rPr sz="11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1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pri=j;break;    </a:t>
            </a:r>
            <a:r>
              <a:rPr sz="11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100" kern="0" spc="-4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//loop的值为2时，把第2球的颜色赋给pri</a:t>
            </a:r>
            <a:endParaRPr lang="en-US" altLang="en-US" sz="1100" dirty="0"/>
          </a:p>
          <a:p>
            <a:pPr marL="3037205" algn="l" rtl="0" eaLnBrk="0">
              <a:lnSpc>
                <a:spcPct val="86000"/>
              </a:lnSpc>
              <a:spcBef>
                <a:spcPts val="190"/>
              </a:spcBef>
            </a:pPr>
            <a:r>
              <a:rPr sz="11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case 3:</a:t>
            </a:r>
            <a:r>
              <a:rPr sz="1100"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1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pri=k;break;  </a:t>
            </a:r>
            <a:r>
              <a:rPr sz="11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100" kern="0" spc="-4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//loop的值为3时，把第3球的颜色赋给pri</a:t>
            </a:r>
            <a:endParaRPr lang="en-US" altLang="en-US" sz="1100" dirty="0"/>
          </a:p>
          <a:p>
            <a:pPr marL="3037205" algn="l" rtl="0" eaLnBrk="0">
              <a:lnSpc>
                <a:spcPts val="1250"/>
              </a:lnSpc>
              <a:spcBef>
                <a:spcPts val="180"/>
              </a:spcBef>
            </a:pPr>
            <a:r>
              <a:rPr sz="11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default:bre</a:t>
            </a:r>
            <a:r>
              <a:rPr sz="11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ak;</a:t>
            </a:r>
            <a:endParaRPr lang="en-US" altLang="en-US" sz="1100" dirty="0"/>
          </a:p>
          <a:p>
            <a:pPr marL="2668270" algn="l" rtl="0" eaLnBrk="0">
              <a:lnSpc>
                <a:spcPct val="93000"/>
              </a:lnSpc>
              <a:spcBef>
                <a:spcPts val="65"/>
              </a:spcBef>
            </a:pPr>
            <a:r>
              <a:rPr sz="11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endParaRPr lang="en-US" altLang="en-US" sz="1100" dirty="0"/>
          </a:p>
          <a:p>
            <a:pPr marL="2670175" algn="l" rtl="0" eaLnBrk="0">
              <a:lnSpc>
                <a:spcPct val="86000"/>
              </a:lnSpc>
              <a:spcBef>
                <a:spcPts val="105"/>
              </a:spcBef>
            </a:pPr>
            <a:r>
              <a:rPr sz="11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switch (pri)//根据球的颜色输出相应的文</a:t>
            </a:r>
            <a:r>
              <a:rPr sz="11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字</a:t>
            </a:r>
            <a:endParaRPr lang="en-US" altLang="en-US" sz="1100" dirty="0"/>
          </a:p>
          <a:p>
            <a:pPr marL="2668270" algn="l" rtl="0" eaLnBrk="0">
              <a:lnSpc>
                <a:spcPct val="86000"/>
              </a:lnSpc>
              <a:spcBef>
                <a:spcPts val="185"/>
              </a:spcBef>
            </a:pPr>
            <a:r>
              <a:rPr sz="11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case red:printf("%</a:t>
            </a:r>
            <a:r>
              <a:rPr sz="1100" kern="0" spc="-20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1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-10s","r</a:t>
            </a:r>
            <a:r>
              <a:rPr sz="11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ed");break;            </a:t>
            </a:r>
            <a:r>
              <a:rPr sz="1100" kern="0" spc="-5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//pri的值等于枚举常量red时输出"red"</a:t>
            </a:r>
            <a:endParaRPr lang="en-US" altLang="en-US" sz="1100" dirty="0"/>
          </a:p>
          <a:p>
            <a:pPr marL="3037205" algn="l" rtl="0" eaLnBrk="0">
              <a:lnSpc>
                <a:spcPct val="98000"/>
              </a:lnSpc>
              <a:spcBef>
                <a:spcPts val="170"/>
              </a:spcBef>
            </a:pPr>
            <a:r>
              <a:rPr sz="1100" kern="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case yellow:</a:t>
            </a:r>
            <a:r>
              <a:rPr sz="1100"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100" kern="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printf("%</a:t>
            </a:r>
            <a:r>
              <a:rPr sz="1100" kern="0" spc="-1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100" kern="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-10s","yellow");break; </a:t>
            </a:r>
            <a:r>
              <a:rPr sz="1100" kern="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//pri的值</a:t>
            </a:r>
            <a:r>
              <a:rPr sz="1100" kern="0" spc="-1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等于枚举常量yellow时输出"yellow"         </a:t>
            </a:r>
            <a:r>
              <a:rPr sz="11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case blue:</a:t>
            </a:r>
            <a:r>
              <a:rPr sz="1100"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1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printf("%-10s","blue");break;       </a:t>
            </a:r>
            <a:r>
              <a:rPr sz="1100" kern="0" spc="-5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//pri的值等于枚举常量blue时输出"bl</a:t>
            </a:r>
            <a:r>
              <a:rPr sz="1100" kern="0" spc="-6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ue"</a:t>
            </a:r>
            <a:endParaRPr lang="en-US" altLang="en-US" sz="1100" dirty="0"/>
          </a:p>
          <a:p>
            <a:pPr marL="3037205" algn="l" rtl="0" eaLnBrk="0">
              <a:lnSpc>
                <a:spcPct val="103000"/>
              </a:lnSpc>
              <a:spcBef>
                <a:spcPts val="170"/>
              </a:spcBef>
            </a:pPr>
            <a:r>
              <a:rPr sz="1100" kern="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case white:</a:t>
            </a:r>
            <a:r>
              <a:rPr sz="1100"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100" kern="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printf("%</a:t>
            </a:r>
            <a:r>
              <a:rPr sz="1100" kern="0" spc="-1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100" kern="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-10s","white");break;    </a:t>
            </a:r>
            <a:r>
              <a:rPr sz="1100" kern="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//pri</a:t>
            </a:r>
            <a:r>
              <a:rPr sz="1100" kern="0" spc="-1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的值等于枚举常量white时输出"white"            </a:t>
            </a:r>
            <a:r>
              <a:rPr sz="1100" kern="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case black: printf("%</a:t>
            </a:r>
            <a:r>
              <a:rPr sz="1100" kern="0" spc="-18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100" kern="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-10s","black"); break;    </a:t>
            </a:r>
            <a:r>
              <a:rPr sz="1100" kern="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//pri的值等于枚举常量black时输出</a:t>
            </a:r>
            <a:r>
              <a:rPr sz="1100" kern="0" spc="-1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"black"</a:t>
            </a:r>
            <a:endParaRPr lang="en-US" altLang="en-US" sz="1100" dirty="0"/>
          </a:p>
          <a:p>
            <a:pPr marL="3037205" algn="l" rtl="0" eaLnBrk="0">
              <a:lnSpc>
                <a:spcPct val="96000"/>
              </a:lnSpc>
              <a:spcBef>
                <a:spcPts val="175"/>
              </a:spcBef>
            </a:pPr>
            <a:r>
              <a:rPr sz="11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default:bre</a:t>
            </a:r>
            <a:r>
              <a:rPr sz="11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ak;</a:t>
            </a:r>
            <a:endParaRPr lang="en-US" altLang="en-US" sz="1100" dirty="0"/>
          </a:p>
          <a:p>
            <a:pPr marL="2668270" algn="l" rtl="0" eaLnBrk="0">
              <a:lnSpc>
                <a:spcPts val="1395"/>
              </a:lnSpc>
            </a:pPr>
            <a:r>
              <a:rPr sz="11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endParaRPr lang="en-US" altLang="en-US" sz="1100" dirty="0"/>
          </a:p>
          <a:p>
            <a:pPr marL="2302510" algn="l" rtl="0" eaLnBrk="0">
              <a:lnSpc>
                <a:spcPct val="93000"/>
              </a:lnSpc>
              <a:spcBef>
                <a:spcPts val="95"/>
              </a:spcBef>
            </a:pPr>
            <a:r>
              <a:rPr sz="11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endParaRPr lang="en-US" altLang="en-US" sz="1100" dirty="0"/>
          </a:p>
          <a:p>
            <a:pPr marL="2312035" algn="l" rtl="0" eaLnBrk="0">
              <a:lnSpc>
                <a:spcPct val="95000"/>
              </a:lnSpc>
              <a:spcBef>
                <a:spcPts val="95"/>
              </a:spcBef>
            </a:pPr>
            <a:r>
              <a:rPr sz="11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printf("\n"</a:t>
            </a:r>
            <a:r>
              <a:rPr sz="11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endParaRPr lang="en-US" altLang="en-US" sz="1100" dirty="0"/>
          </a:p>
          <a:p>
            <a:pPr marL="1939925" algn="l" rtl="0" eaLnBrk="0">
              <a:lnSpc>
                <a:spcPts val="1395"/>
              </a:lnSpc>
              <a:spcBef>
                <a:spcPts val="10"/>
              </a:spcBef>
            </a:pPr>
            <a:r>
              <a:rPr sz="11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endParaRPr lang="en-US" altLang="en-US" sz="1100" dirty="0"/>
          </a:p>
          <a:p>
            <a:pPr marL="1210945" algn="l" rtl="0" eaLnBrk="0">
              <a:lnSpc>
                <a:spcPct val="93000"/>
              </a:lnSpc>
              <a:spcBef>
                <a:spcPts val="95"/>
              </a:spcBef>
            </a:pPr>
            <a:r>
              <a:rPr sz="11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endParaRPr lang="en-US" altLang="en-US" sz="1100" dirty="0"/>
          </a:p>
          <a:p>
            <a:pPr marL="492125" algn="l" rtl="0" eaLnBrk="0">
              <a:lnSpc>
                <a:spcPct val="95000"/>
              </a:lnSpc>
              <a:spcBef>
                <a:spcPts val="100"/>
              </a:spcBef>
            </a:pPr>
            <a:r>
              <a:rPr sz="11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printf("\ntotal:%5d\n",n);</a:t>
            </a:r>
            <a:endParaRPr lang="en-US" altLang="en-US" sz="1100" dirty="0"/>
          </a:p>
          <a:p>
            <a:pPr marL="492760" algn="l" rtl="0" eaLnBrk="0">
              <a:lnSpc>
                <a:spcPts val="1320"/>
              </a:lnSpc>
              <a:spcBef>
                <a:spcPts val="10"/>
              </a:spcBef>
            </a:pPr>
            <a:r>
              <a:rPr sz="11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return 0;</a:t>
            </a:r>
            <a:endParaRPr lang="en-US" altLang="en-US" sz="1100" dirty="0"/>
          </a:p>
          <a:p>
            <a:pPr marL="119380" algn="l" rtl="0" eaLnBrk="0">
              <a:lnSpc>
                <a:spcPct val="93000"/>
              </a:lnSpc>
              <a:spcBef>
                <a:spcPts val="165"/>
              </a:spcBef>
            </a:pPr>
            <a:r>
              <a:rPr sz="11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endParaRPr lang="en-US" altLang="en-US" sz="1100" dirty="0"/>
          </a:p>
          <a:p>
            <a:pPr algn="ctr"/>
            <a:endParaRPr lang="zh-CN" altLang="en-US" sz="1100" dirty="0"/>
          </a:p>
        </p:txBody>
      </p:sp>
      <p:pic>
        <p:nvPicPr>
          <p:cNvPr id="9408" name="picture 9408"/>
          <p:cNvPicPr>
            <a:picLocks noChangeAspect="1"/>
          </p:cNvPicPr>
          <p:nvPr/>
        </p:nvPicPr>
        <p:blipFill>
          <a:blip r:embed="rId3"/>
          <a:stretch>
            <a:fillRect/>
          </a:stretch>
        </p:blipFill>
        <p:spPr>
          <a:xfrm rot="21600000">
            <a:off x="712910" y="1089531"/>
            <a:ext cx="2471928" cy="5952744"/>
          </a:xfrm>
          <a:prstGeom prst="rect">
            <a:avLst/>
          </a:prstGeom>
        </p:spPr>
      </p:pic>
      <p:sp>
        <p:nvSpPr>
          <p:cNvPr id="9410" name="textbox 9410"/>
          <p:cNvSpPr/>
          <p:nvPr/>
        </p:nvSpPr>
        <p:spPr>
          <a:xfrm>
            <a:off x="575687" y="596919"/>
            <a:ext cx="2746375" cy="3134360"/>
          </a:xfrm>
          <a:prstGeom prst="rect">
            <a:avLst/>
          </a:prstGeom>
        </p:spPr>
        <p:txBody>
          <a:bodyPr vert="horz" wrap="square" lIns="0" tIns="0" rIns="0" bIns="0"/>
          <a:lstStyle/>
          <a:p>
            <a:pPr algn="l" rtl="0" eaLnBrk="0">
              <a:lnSpc>
                <a:spcPct val="74000"/>
              </a:lnSpc>
            </a:pPr>
            <a:endParaRPr lang="en-US" altLang="en-US" sz="135" dirty="0"/>
          </a:p>
          <a:p>
            <a:pPr marL="154305" algn="l" rtl="0" eaLnBrk="0">
              <a:lnSpc>
                <a:spcPct val="100000"/>
              </a:lnSpc>
            </a:pPr>
            <a:r>
              <a:rPr sz="31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使用枚举类型</a:t>
            </a:r>
            <a:endParaRPr lang="en-US" altLang="en-US" sz="3100" dirty="0"/>
          </a:p>
          <a:p>
            <a:pPr algn="l" rtl="0" eaLnBrk="0">
              <a:lnSpc>
                <a:spcPct val="105000"/>
              </a:lnSpc>
            </a:pPr>
            <a:endParaRPr lang="en-US" altLang="en-US" sz="900" dirty="0"/>
          </a:p>
          <a:p>
            <a:pPr marL="83820" indent="52070" algn="l" rtl="0" eaLnBrk="0">
              <a:lnSpc>
                <a:spcPct val="123000"/>
              </a:lnSpc>
              <a:spcBef>
                <a:spcPts val="5"/>
              </a:spcBef>
            </a:pPr>
            <a:r>
              <a:rPr sz="1900" kern="0" spc="-110" dirty="0">
                <a:solidFill>
                  <a:srgbClr val="782367">
                    <a:alpha val="100000"/>
                  </a:srgbClr>
                </a:solidFill>
                <a:latin typeface="微软雅黑" panose="020B0503020204020204" charset="-122"/>
                <a:ea typeface="微软雅黑" panose="020B0503020204020204" charset="-122"/>
                <a:cs typeface="微软雅黑" panose="020B0503020204020204" charset="-122"/>
              </a:rPr>
              <a:t>【例</a:t>
            </a:r>
            <a:r>
              <a:rPr lang="en-US" sz="1900" kern="0" spc="-110" dirty="0">
                <a:solidFill>
                  <a:srgbClr val="782367">
                    <a:alpha val="100000"/>
                  </a:srgbClr>
                </a:solidFill>
                <a:latin typeface="微软雅黑" panose="020B0503020204020204" charset="-122"/>
                <a:ea typeface="微软雅黑" panose="020B0503020204020204" charset="-122"/>
                <a:cs typeface="微软雅黑" panose="020B0503020204020204" charset="-122"/>
              </a:rPr>
              <a:t>7</a:t>
            </a:r>
            <a:r>
              <a:rPr sz="1900" kern="0" spc="-110" dirty="0">
                <a:solidFill>
                  <a:srgbClr val="782367">
                    <a:alpha val="100000"/>
                  </a:srgbClr>
                </a:solidFill>
                <a:latin typeface="微软雅黑" panose="020B0503020204020204" charset="-122"/>
                <a:ea typeface="微软雅黑" panose="020B0503020204020204" charset="-122"/>
                <a:cs typeface="微软雅黑" panose="020B0503020204020204" charset="-122"/>
              </a:rPr>
              <a:t>.12】</a:t>
            </a:r>
            <a:r>
              <a:rPr sz="1900" kern="0" spc="-210" dirty="0">
                <a:solidFill>
                  <a:srgbClr val="782367">
                    <a:alpha val="100000"/>
                  </a:srgbClr>
                </a:solidFill>
                <a:latin typeface="微软雅黑" panose="020B0503020204020204" charset="-122"/>
                <a:ea typeface="微软雅黑" panose="020B0503020204020204" charset="-122"/>
                <a:cs typeface="微软雅黑" panose="020B0503020204020204" charset="-122"/>
              </a:rPr>
              <a:t> </a:t>
            </a:r>
            <a:r>
              <a:rPr sz="1900" kern="0" spc="-110" dirty="0">
                <a:solidFill>
                  <a:srgbClr val="782367">
                    <a:alpha val="100000"/>
                  </a:srgbClr>
                </a:solidFill>
                <a:latin typeface="微软雅黑" panose="020B0503020204020204" charset="-122"/>
                <a:ea typeface="微软雅黑" panose="020B0503020204020204" charset="-122"/>
                <a:cs typeface="微软雅黑" panose="020B0503020204020204" charset="-122"/>
              </a:rPr>
              <a:t>口袋中有红、</a:t>
            </a:r>
            <a:r>
              <a:rPr sz="1900" kern="0" spc="0" dirty="0">
                <a:solidFill>
                  <a:srgbClr val="782367">
                    <a:alpha val="100000"/>
                  </a:srgbClr>
                </a:solidFill>
                <a:latin typeface="微软雅黑" panose="020B0503020204020204" charset="-122"/>
                <a:ea typeface="微软雅黑" panose="020B0503020204020204" charset="-122"/>
                <a:cs typeface="微软雅黑" panose="020B0503020204020204" charset="-122"/>
              </a:rPr>
              <a:t>  </a:t>
            </a:r>
            <a:r>
              <a:rPr sz="1900" kern="0" spc="80" dirty="0">
                <a:solidFill>
                  <a:srgbClr val="782367">
                    <a:alpha val="100000"/>
                  </a:srgbClr>
                </a:solidFill>
                <a:latin typeface="微软雅黑" panose="020B0503020204020204" charset="-122"/>
                <a:ea typeface="微软雅黑" panose="020B0503020204020204" charset="-122"/>
                <a:cs typeface="微软雅黑" panose="020B0503020204020204" charset="-122"/>
              </a:rPr>
              <a:t>黄、蓝、白、黑5种颜</a:t>
            </a:r>
            <a:r>
              <a:rPr sz="1900" kern="0" spc="10" dirty="0">
                <a:solidFill>
                  <a:srgbClr val="782367">
                    <a:alpha val="100000"/>
                  </a:srgbClr>
                </a:solidFill>
                <a:latin typeface="微软雅黑" panose="020B0503020204020204" charset="-122"/>
                <a:ea typeface="微软雅黑" panose="020B0503020204020204" charset="-122"/>
                <a:cs typeface="微软雅黑" panose="020B0503020204020204" charset="-122"/>
              </a:rPr>
              <a:t>    </a:t>
            </a:r>
            <a:r>
              <a:rPr sz="1900" kern="0" spc="70" dirty="0">
                <a:solidFill>
                  <a:srgbClr val="782367">
                    <a:alpha val="100000"/>
                  </a:srgbClr>
                </a:solidFill>
                <a:latin typeface="微软雅黑" panose="020B0503020204020204" charset="-122"/>
                <a:ea typeface="微软雅黑" panose="020B0503020204020204" charset="-122"/>
                <a:cs typeface="微软雅黑" panose="020B0503020204020204" charset="-122"/>
              </a:rPr>
              <a:t>色的球若干个。每次从  </a:t>
            </a:r>
            <a:r>
              <a:rPr sz="1900" kern="0" spc="0" dirty="0">
                <a:solidFill>
                  <a:srgbClr val="782367">
                    <a:alpha val="100000"/>
                  </a:srgbClr>
                </a:solidFill>
                <a:latin typeface="微软雅黑" panose="020B0503020204020204" charset="-122"/>
                <a:ea typeface="微软雅黑" panose="020B0503020204020204" charset="-122"/>
                <a:cs typeface="微软雅黑" panose="020B0503020204020204" charset="-122"/>
              </a:rPr>
              <a:t>口袋中先后取出3个球，</a:t>
            </a:r>
            <a:r>
              <a:rPr sz="1900" kern="0" spc="40" dirty="0">
                <a:solidFill>
                  <a:srgbClr val="782367">
                    <a:alpha val="100000"/>
                  </a:srgbClr>
                </a:solidFill>
                <a:latin typeface="微软雅黑" panose="020B0503020204020204" charset="-122"/>
                <a:ea typeface="微软雅黑" panose="020B0503020204020204" charset="-122"/>
                <a:cs typeface="微软雅黑" panose="020B0503020204020204" charset="-122"/>
              </a:rPr>
              <a:t>  </a:t>
            </a:r>
            <a:r>
              <a:rPr sz="1900" kern="0" spc="80" dirty="0">
                <a:solidFill>
                  <a:srgbClr val="782367">
                    <a:alpha val="100000"/>
                  </a:srgbClr>
                </a:solidFill>
                <a:latin typeface="微软雅黑" panose="020B0503020204020204" charset="-122"/>
                <a:ea typeface="微软雅黑" panose="020B0503020204020204" charset="-122"/>
                <a:cs typeface="微软雅黑" panose="020B0503020204020204" charset="-122"/>
              </a:rPr>
              <a:t>问得到3种不同颜色的</a:t>
            </a:r>
            <a:r>
              <a:rPr sz="1900" kern="0" spc="10" dirty="0">
                <a:solidFill>
                  <a:srgbClr val="782367">
                    <a:alpha val="100000"/>
                  </a:srgbClr>
                </a:solidFill>
                <a:latin typeface="微软雅黑" panose="020B0503020204020204" charset="-122"/>
                <a:ea typeface="微软雅黑" panose="020B0503020204020204" charset="-122"/>
                <a:cs typeface="微软雅黑" panose="020B0503020204020204" charset="-122"/>
              </a:rPr>
              <a:t>    </a:t>
            </a:r>
            <a:r>
              <a:rPr sz="1900" kern="0" spc="70" dirty="0">
                <a:solidFill>
                  <a:srgbClr val="782367">
                    <a:alpha val="100000"/>
                  </a:srgbClr>
                </a:solidFill>
                <a:latin typeface="微软雅黑" panose="020B0503020204020204" charset="-122"/>
                <a:ea typeface="微软雅黑" panose="020B0503020204020204" charset="-122"/>
                <a:cs typeface="微软雅黑" panose="020B0503020204020204" charset="-122"/>
              </a:rPr>
              <a:t>球的可能取法，输出每  </a:t>
            </a:r>
            <a:r>
              <a:rPr sz="1900" kern="0" spc="20" dirty="0">
                <a:solidFill>
                  <a:srgbClr val="782367">
                    <a:alpha val="100000"/>
                  </a:srgbClr>
                </a:solidFill>
                <a:latin typeface="微软雅黑" panose="020B0503020204020204" charset="-122"/>
                <a:ea typeface="微软雅黑" panose="020B0503020204020204" charset="-122"/>
                <a:cs typeface="微软雅黑" panose="020B0503020204020204" charset="-122"/>
              </a:rPr>
              <a:t>种排列的情况。</a:t>
            </a:r>
            <a:endParaRPr lang="en-US" altLang="en-US" sz="1900" kern="0" spc="20" dirty="0">
              <a:solidFill>
                <a:srgbClr val="782367">
                  <a:alpha val="100000"/>
                </a:srgbClr>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81923"/>
          <p:cNvSpPr txBox="1"/>
          <p:nvPr/>
        </p:nvSpPr>
        <p:spPr>
          <a:xfrm>
            <a:off x="2185000" y="446405"/>
            <a:ext cx="7823200" cy="2432051"/>
          </a:xfrm>
          <a:prstGeom prst="rect">
            <a:avLst/>
          </a:prstGeom>
          <a:noFill/>
          <a:ln w="9525">
            <a:noFill/>
          </a:ln>
        </p:spPr>
        <p:txBody>
          <a:bodyPr anchor="b"/>
          <a:lstStyle>
            <a:lvl1pPr marL="0" lvl="0" indent="0" algn="r" defTabSz="914400" rtl="0" eaLnBrk="1" fontAlgn="base" latinLnBrk="0" hangingPunct="1">
              <a:lnSpc>
                <a:spcPct val="100000"/>
              </a:lnSpc>
              <a:spcBef>
                <a:spcPct val="0"/>
              </a:spcBef>
              <a:spcAft>
                <a:spcPct val="0"/>
              </a:spcAft>
              <a:buClrTx/>
              <a:buSzTx/>
              <a:buFontTx/>
              <a:buNone/>
              <a:defRPr sz="4800" b="1" i="0" u="none" kern="1200" baseline="0">
                <a:solidFill>
                  <a:schemeClr val="tx2"/>
                </a:solidFill>
                <a:latin typeface="+mj-lt"/>
                <a:ea typeface="+mj-ea"/>
                <a:cs typeface="+mj-cs"/>
              </a:defRPr>
            </a:lvl1pPr>
          </a:lstStyle>
          <a:p>
            <a:pPr algn="ctr"/>
            <a:r>
              <a:rPr lang="zh-CN" altLang="en-US" noProof="1">
                <a:solidFill>
                  <a:srgbClr val="330066"/>
                </a:solidFill>
                <a:effectLst>
                  <a:outerShdw blurRad="38100" dist="38100" dir="2700000">
                    <a:srgbClr val="C0C0C0"/>
                  </a:outerShdw>
                </a:effectLst>
                <a:latin typeface="Arial" panose="020B0604020202090204" pitchFamily="34" charset="0"/>
                <a:ea typeface="隶书" panose="02010509060101010101" pitchFamily="49" charset="-122"/>
              </a:rPr>
              <a:t>*用typedef声明新类型名</a:t>
            </a:r>
          </a:p>
        </p:txBody>
      </p:sp>
      <p:cxnSp>
        <p:nvCxnSpPr>
          <p:cNvPr id="4" name="直接连接符 3"/>
          <p:cNvCxnSpPr/>
          <p:nvPr/>
        </p:nvCxnSpPr>
        <p:spPr>
          <a:xfrm>
            <a:off x="432400" y="3136069"/>
            <a:ext cx="11328400" cy="0"/>
          </a:xfrm>
          <a:prstGeom prst="line">
            <a:avLst/>
          </a:prstGeom>
          <a:ln w="25400">
            <a:solidFill>
              <a:srgbClr val="782367"/>
            </a:solidFill>
          </a:ln>
        </p:spPr>
        <p:style>
          <a:lnRef idx="1">
            <a:schemeClr val="accent1"/>
          </a:lnRef>
          <a:fillRef idx="0">
            <a:schemeClr val="accent1"/>
          </a:fillRef>
          <a:effectRef idx="0">
            <a:schemeClr val="accent1"/>
          </a:effectRef>
          <a:fontRef idx="minor">
            <a:schemeClr val="tx1"/>
          </a:fontRef>
        </p:style>
      </p:cxn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32431" y="246671"/>
            <a:ext cx="573807" cy="573807"/>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16" name="textbox 9416"/>
          <p:cNvSpPr/>
          <p:nvPr/>
        </p:nvSpPr>
        <p:spPr>
          <a:xfrm>
            <a:off x="862980" y="1101471"/>
            <a:ext cx="9403715" cy="1592580"/>
          </a:xfrm>
          <a:prstGeom prst="rect">
            <a:avLst/>
          </a:prstGeom>
        </p:spPr>
        <p:txBody>
          <a:bodyPr vert="horz" wrap="square" lIns="0" tIns="0" rIns="0" bIns="0"/>
          <a:lstStyle/>
          <a:p>
            <a:pPr algn="l" rtl="0" eaLnBrk="0">
              <a:lnSpc>
                <a:spcPct val="85000"/>
              </a:lnSpc>
            </a:pPr>
            <a:endParaRPr lang="en-US" altLang="en-US" sz="135" dirty="0"/>
          </a:p>
          <a:p>
            <a:pPr marL="27940" algn="l" rtl="0" eaLnBrk="0">
              <a:lnSpc>
                <a:spcPct val="95000"/>
              </a:lnSpc>
            </a:pPr>
            <a:r>
              <a:rPr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1. 简单地用一个</a:t>
            </a:r>
            <a:r>
              <a:rPr kern="0" spc="-10" dirty="0">
                <a:solidFill>
                  <a:srgbClr val="000000">
                    <a:alpha val="100000"/>
                  </a:srgbClr>
                </a:solidFill>
                <a:highlight>
                  <a:srgbClr val="F2C0FD"/>
                </a:highlight>
                <a:latin typeface="微软雅黑" panose="020B0503020204020204" charset="-122"/>
                <a:ea typeface="微软雅黑" panose="020B0503020204020204" charset="-122"/>
                <a:cs typeface="微软雅黑" panose="020B0503020204020204" charset="-122"/>
              </a:rPr>
              <a:t>新的类</a:t>
            </a:r>
            <a:r>
              <a:rPr kern="0" spc="-20" dirty="0">
                <a:solidFill>
                  <a:srgbClr val="000000">
                    <a:alpha val="100000"/>
                  </a:srgbClr>
                </a:solidFill>
                <a:highlight>
                  <a:srgbClr val="F2C0FD"/>
                </a:highlight>
                <a:latin typeface="微软雅黑" panose="020B0503020204020204" charset="-122"/>
                <a:ea typeface="微软雅黑" panose="020B0503020204020204" charset="-122"/>
                <a:cs typeface="微软雅黑" panose="020B0503020204020204" charset="-122"/>
              </a:rPr>
              <a:t>型名代替原有的类型名</a:t>
            </a:r>
            <a:endParaRPr lang="en-US" altLang="en-US" dirty="0">
              <a:highlight>
                <a:srgbClr val="F2C0FD"/>
              </a:highlight>
            </a:endParaRPr>
          </a:p>
          <a:p>
            <a:pPr algn="l" rtl="0" eaLnBrk="0">
              <a:lnSpc>
                <a:spcPct val="108000"/>
              </a:lnSpc>
            </a:pPr>
            <a:endParaRPr lang="en-US" altLang="en-US" sz="1000" dirty="0"/>
          </a:p>
          <a:p>
            <a:pPr algn="l" rtl="0" eaLnBrk="0">
              <a:lnSpc>
                <a:spcPct val="108000"/>
              </a:lnSpc>
            </a:pPr>
            <a:endParaRPr lang="en-US" altLang="en-US" sz="1000" dirty="0"/>
          </a:p>
          <a:p>
            <a:pPr marL="22860" algn="l" rtl="0" eaLnBrk="0">
              <a:lnSpc>
                <a:spcPct val="95000"/>
              </a:lnSpc>
              <a:spcBef>
                <a:spcPts val="545"/>
              </a:spcBef>
            </a:pPr>
            <a:r>
              <a:rPr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2. 命名一个简单的类型名代替复杂的类型表</a:t>
            </a:r>
            <a:r>
              <a:rPr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示方法</a:t>
            </a:r>
            <a:endParaRPr lang="en-US" altLang="en-US" dirty="0"/>
          </a:p>
          <a:p>
            <a:pPr marL="12700" algn="l" rtl="0" eaLnBrk="0">
              <a:lnSpc>
                <a:spcPct val="91000"/>
              </a:lnSpc>
              <a:spcBef>
                <a:spcPts val="535"/>
              </a:spcBef>
            </a:pPr>
            <a:r>
              <a:rPr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① 命名一个新的类型名代表结构体类型         ② 命名一个新的类型名代表数</a:t>
            </a:r>
            <a:r>
              <a:rPr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组类型</a:t>
            </a:r>
            <a:endParaRPr lang="en-US" altLang="en-US" dirty="0"/>
          </a:p>
          <a:p>
            <a:pPr algn="l" rtl="0" eaLnBrk="0">
              <a:lnSpc>
                <a:spcPct val="104000"/>
              </a:lnSpc>
            </a:pPr>
            <a:endParaRPr lang="en-US" altLang="en-US" sz="500" dirty="0"/>
          </a:p>
          <a:p>
            <a:pPr marL="12700" algn="l" rtl="0" eaLnBrk="0">
              <a:lnSpc>
                <a:spcPct val="91000"/>
              </a:lnSpc>
              <a:spcBef>
                <a:spcPts val="5"/>
              </a:spcBef>
            </a:pPr>
            <a:r>
              <a:rPr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③ 命名一个新的类型名代表指针类型       </a:t>
            </a:r>
            <a:r>
              <a:rPr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④命名一个新的类型名代表指向函数的指针类型</a:t>
            </a:r>
            <a:endParaRPr lang="en-US" altLang="en-US" dirty="0"/>
          </a:p>
        </p:txBody>
      </p:sp>
      <p:sp>
        <p:nvSpPr>
          <p:cNvPr id="9420" name="textbox 9420"/>
          <p:cNvSpPr/>
          <p:nvPr/>
        </p:nvSpPr>
        <p:spPr>
          <a:xfrm>
            <a:off x="800576" y="443243"/>
            <a:ext cx="4335779" cy="451484"/>
          </a:xfrm>
          <a:prstGeom prst="rect">
            <a:avLst/>
          </a:prstGeom>
        </p:spPr>
        <p:txBody>
          <a:bodyPr vert="horz" wrap="square" lIns="0" tIns="0" rIns="0" bIns="0"/>
          <a:lstStyle/>
          <a:p>
            <a:pPr algn="l" rtl="0" eaLnBrk="0">
              <a:lnSpc>
                <a:spcPct val="89000"/>
              </a:lnSpc>
            </a:pPr>
            <a:endParaRPr lang="en-US" altLang="en-US" sz="135" dirty="0"/>
          </a:p>
          <a:p>
            <a:pPr marL="12700" algn="l" rtl="0" eaLnBrk="0">
              <a:lnSpc>
                <a:spcPct val="90000"/>
              </a:lnSpc>
            </a:pPr>
            <a:r>
              <a:rPr sz="3100" kern="0" spc="120" dirty="0">
                <a:solidFill>
                  <a:srgbClr val="000000">
                    <a:alpha val="100000"/>
                  </a:srgbClr>
                </a:solidFill>
                <a:latin typeface="微软雅黑" panose="020B0503020204020204" charset="-122"/>
                <a:ea typeface="微软雅黑" panose="020B0503020204020204" charset="-122"/>
                <a:cs typeface="微软雅黑" panose="020B0503020204020204" charset="-122"/>
              </a:rPr>
              <a:t>用</a:t>
            </a:r>
            <a:r>
              <a:rPr sz="31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typedef</a:t>
            </a:r>
            <a:r>
              <a:rPr sz="3100" kern="0" spc="120" dirty="0">
                <a:solidFill>
                  <a:srgbClr val="000000">
                    <a:alpha val="100000"/>
                  </a:srgbClr>
                </a:solidFill>
                <a:latin typeface="微软雅黑" panose="020B0503020204020204" charset="-122"/>
                <a:ea typeface="微软雅黑" panose="020B0503020204020204" charset="-122"/>
                <a:cs typeface="微软雅黑" panose="020B0503020204020204" charset="-122"/>
              </a:rPr>
              <a:t>声明新类型名</a:t>
            </a:r>
            <a:endParaRPr lang="en-US" altLang="en-US" sz="3100" dirty="0"/>
          </a:p>
        </p:txBody>
      </p:sp>
      <p:sp>
        <p:nvSpPr>
          <p:cNvPr id="9422" name="path"/>
          <p:cNvSpPr/>
          <p:nvPr/>
        </p:nvSpPr>
        <p:spPr>
          <a:xfrm>
            <a:off x="789523" y="968755"/>
            <a:ext cx="10547095" cy="25400"/>
          </a:xfrm>
          <a:custGeom>
            <a:avLst/>
            <a:gdLst/>
            <a:ahLst/>
            <a:cxnLst/>
            <a:rect l="0" t="0" r="0" b="0"/>
            <a:pathLst>
              <a:path w="16609" h="40">
                <a:moveTo>
                  <a:pt x="20" y="20"/>
                </a:moveTo>
                <a:lnTo>
                  <a:pt x="16589" y="20"/>
                </a:lnTo>
                <a:lnTo>
                  <a:pt x="20" y="20"/>
                </a:lnTo>
              </a:path>
            </a:pathLst>
          </a:custGeom>
          <a:noFill/>
          <a:ln w="25400" cap="sq">
            <a:solidFill>
              <a:srgbClr val="782367">
                <a:alpha val="100000"/>
              </a:srgbClr>
            </a:solidFill>
            <a:prstDash val="solid"/>
            <a:bevel/>
          </a:ln>
        </p:spPr>
        <p:txBody>
          <a:bodyPr rtlCol="0"/>
          <a:lstStyle/>
          <a:p>
            <a:pPr algn="ctr"/>
            <a:endParaRPr lang="zh-CN" altLang="en-US"/>
          </a:p>
        </p:txBody>
      </p:sp>
      <p:sp>
        <p:nvSpPr>
          <p:cNvPr id="9424" name="path"/>
          <p:cNvSpPr/>
          <p:nvPr/>
        </p:nvSpPr>
        <p:spPr>
          <a:xfrm>
            <a:off x="789523" y="6497828"/>
            <a:ext cx="10547095" cy="25400"/>
          </a:xfrm>
          <a:custGeom>
            <a:avLst/>
            <a:gdLst/>
            <a:ahLst/>
            <a:cxnLst/>
            <a:rect l="0" t="0" r="0" b="0"/>
            <a:pathLst>
              <a:path w="16609" h="40">
                <a:moveTo>
                  <a:pt x="20" y="20"/>
                </a:moveTo>
                <a:lnTo>
                  <a:pt x="16589" y="20"/>
                </a:lnTo>
                <a:lnTo>
                  <a:pt x="20" y="20"/>
                </a:lnTo>
              </a:path>
            </a:pathLst>
          </a:custGeom>
          <a:noFill/>
          <a:ln w="25400" cap="sq">
            <a:solidFill>
              <a:srgbClr val="782367">
                <a:alpha val="100000"/>
              </a:srgbClr>
            </a:solidFill>
            <a:prstDash val="solid"/>
            <a:bevel/>
          </a:ln>
        </p:spPr>
        <p:txBody>
          <a:bodyPr rtlCol="0"/>
          <a:lstStyle/>
          <a:p>
            <a:pPr algn="ctr"/>
            <a:endParaRPr lang="zh-CN" altLang="en-US"/>
          </a:p>
        </p:txBody>
      </p:sp>
      <p:sp>
        <p:nvSpPr>
          <p:cNvPr id="2" name="矩形 1"/>
          <p:cNvSpPr/>
          <p:nvPr>
            <p:custDataLst>
              <p:tags r:id="rId1"/>
            </p:custDataLst>
          </p:nvPr>
        </p:nvSpPr>
        <p:spPr>
          <a:xfrm>
            <a:off x="5570220" y="1020445"/>
            <a:ext cx="5760085" cy="601980"/>
          </a:xfrm>
          <a:prstGeom prst="rect">
            <a:avLst/>
          </a:prstGeom>
          <a:solidFill>
            <a:schemeClr val="bg1"/>
          </a:solidFill>
          <a:ln>
            <a:solidFill>
              <a:srgbClr val="782367"/>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sz="1400"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typedef</a:t>
            </a:r>
            <a:r>
              <a:rPr sz="1400" kern="0" spc="17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int</a:t>
            </a:r>
            <a:r>
              <a:rPr sz="1400" kern="0" spc="10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Integer;</a:t>
            </a:r>
            <a:r>
              <a:rPr sz="1400" kern="0" spc="1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7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//指定用Integer为类型名，作用与int相同    </a:t>
            </a:r>
          </a:p>
          <a:p>
            <a:pPr algn="ctr"/>
            <a:r>
              <a:rPr sz="1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typedef float</a:t>
            </a:r>
            <a:r>
              <a:rPr sz="1400"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Real;  </a:t>
            </a:r>
            <a:r>
              <a:rPr sz="14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400" kern="0" spc="-6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//指定用Real为类型名，作用与float相同</a:t>
            </a:r>
            <a:endParaRPr lang="zh-CN" altLang="en-US" sz="1400"/>
          </a:p>
        </p:txBody>
      </p:sp>
      <p:sp>
        <p:nvSpPr>
          <p:cNvPr id="3" name="矩形 2"/>
          <p:cNvSpPr/>
          <p:nvPr>
            <p:custDataLst>
              <p:tags r:id="rId2"/>
            </p:custDataLst>
          </p:nvPr>
        </p:nvSpPr>
        <p:spPr>
          <a:xfrm>
            <a:off x="990600" y="2767330"/>
            <a:ext cx="10067925" cy="3670935"/>
          </a:xfrm>
          <a:prstGeom prst="rect">
            <a:avLst/>
          </a:prstGeom>
          <a:solidFill>
            <a:schemeClr val="bg1"/>
          </a:solidFill>
          <a:ln>
            <a:solidFill>
              <a:srgbClr val="782367"/>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134620" algn="l" rtl="0" eaLnBrk="0">
              <a:lnSpc>
                <a:spcPct val="92000"/>
              </a:lnSpc>
              <a:spcBef>
                <a:spcPts val="5"/>
              </a:spcBef>
            </a:pPr>
            <a:endPar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endParaRPr>
          </a:p>
          <a:p>
            <a:pPr marL="134620" algn="l" rtl="0" eaLnBrk="0">
              <a:lnSpc>
                <a:spcPct val="92000"/>
              </a:lnSpc>
              <a:spcBef>
                <a:spcPts val="5"/>
              </a:spcBef>
            </a:pPr>
            <a:r>
              <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typedef</a:t>
            </a:r>
            <a:r>
              <a:rPr sz="1300"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struct</a:t>
            </a:r>
            <a:endParaRPr lang="en-US" altLang="en-US" sz="1300" dirty="0"/>
          </a:p>
          <a:p>
            <a:pPr marL="131445" algn="l" rtl="0" eaLnBrk="0">
              <a:lnSpc>
                <a:spcPts val="1680"/>
              </a:lnSpc>
              <a:spcBef>
                <a:spcPts val="20"/>
              </a:spcBef>
            </a:pPr>
            <a:r>
              <a:rPr sz="13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r>
              <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int</a:t>
            </a:r>
            <a:r>
              <a:rPr sz="1300" kern="0" spc="1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month;</a:t>
            </a:r>
            <a:endParaRPr lang="en-US" altLang="en-US" sz="1300" dirty="0"/>
          </a:p>
          <a:p>
            <a:pPr marL="508000" algn="l" rtl="0" eaLnBrk="0">
              <a:lnSpc>
                <a:spcPts val="1450"/>
              </a:lnSpc>
              <a:spcBef>
                <a:spcPts val="230"/>
              </a:spcBef>
            </a:pPr>
            <a:r>
              <a:rPr sz="13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int</a:t>
            </a:r>
            <a:r>
              <a:rPr sz="1300" kern="0" spc="1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day;</a:t>
            </a:r>
            <a:endParaRPr lang="en-US" altLang="en-US" sz="1300" dirty="0"/>
          </a:p>
          <a:p>
            <a:pPr marL="508000" algn="l" rtl="0" eaLnBrk="0">
              <a:lnSpc>
                <a:spcPct val="92000"/>
              </a:lnSpc>
              <a:spcBef>
                <a:spcPts val="230"/>
              </a:spcBef>
            </a:pPr>
            <a:r>
              <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int year;</a:t>
            </a:r>
            <a:endParaRPr lang="en-US" altLang="en-US" sz="1300" dirty="0"/>
          </a:p>
          <a:p>
            <a:pPr marL="132080" algn="l" rtl="0" eaLnBrk="0">
              <a:lnSpc>
                <a:spcPts val="1680"/>
              </a:lnSpc>
              <a:spcBef>
                <a:spcPts val="20"/>
              </a:spcBef>
            </a:pPr>
            <a:r>
              <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}Date;</a:t>
            </a:r>
            <a:r>
              <a:rPr lang="en-US"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6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//声明了一个新类型名</a:t>
            </a:r>
            <a:r>
              <a:rPr sz="1300" kern="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Date</a:t>
            </a:r>
            <a:r>
              <a:rPr sz="1300" kern="0" spc="6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a:t>
            </a:r>
            <a:r>
              <a:rPr sz="1300" kern="0" spc="-12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6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代表结构体类型</a:t>
            </a:r>
            <a:endParaRPr lang="en-US" altLang="en-US" sz="1300" dirty="0"/>
          </a:p>
          <a:p>
            <a:pPr marL="146685" algn="l" rtl="0" eaLnBrk="0">
              <a:lnSpc>
                <a:spcPct val="92000"/>
              </a:lnSpc>
              <a:spcBef>
                <a:spcPts val="225"/>
              </a:spcBef>
            </a:pPr>
            <a:r>
              <a:rPr sz="13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Date</a:t>
            </a:r>
            <a:r>
              <a:rPr sz="1300" kern="0" spc="20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birthday;</a:t>
            </a:r>
            <a:r>
              <a:rPr lang="en-US" sz="13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1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//定义结构体类型变量</a:t>
            </a:r>
            <a:r>
              <a:rPr sz="1300" kern="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birthday</a:t>
            </a:r>
            <a:r>
              <a:rPr sz="1300" kern="0" spc="1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a:t>
            </a:r>
            <a:r>
              <a:rPr sz="1300" kern="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不要写成struct</a:t>
            </a:r>
            <a:r>
              <a:rPr sz="1300" kern="0" spc="22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Date</a:t>
            </a:r>
            <a:r>
              <a:rPr sz="1300" kern="0" spc="16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birthday;  </a:t>
            </a:r>
            <a:r>
              <a:rPr sz="1300" b="1" kern="0" spc="-1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①</a:t>
            </a:r>
            <a:endParaRPr lang="en-US" altLang="en-US" sz="1300" dirty="0"/>
          </a:p>
          <a:p>
            <a:pPr marL="146685" algn="l" rtl="0" eaLnBrk="0">
              <a:lnSpc>
                <a:spcPts val="1680"/>
              </a:lnSpc>
              <a:spcBef>
                <a:spcPts val="20"/>
              </a:spcBef>
            </a:pPr>
            <a:r>
              <a:rPr sz="13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Date*p;</a:t>
            </a:r>
            <a:r>
              <a:rPr lang="en-US" sz="13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8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//定义结构体指针变量p，指向此结</a:t>
            </a:r>
            <a:r>
              <a:rPr sz="1300" kern="0" spc="7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构体类型数据</a:t>
            </a:r>
            <a:endParaRPr lang="en-US" altLang="en-US" sz="1300" dirty="0"/>
          </a:p>
          <a:p>
            <a:pPr algn="l" rtl="0" eaLnBrk="0">
              <a:lnSpc>
                <a:spcPct val="126000"/>
              </a:lnSpc>
            </a:pPr>
            <a:endParaRPr lang="en-US" altLang="en-US" sz="1300" dirty="0"/>
          </a:p>
          <a:p>
            <a:pPr marL="146050" indent="-11430" algn="l" rtl="0" eaLnBrk="0">
              <a:lnSpc>
                <a:spcPct val="101000"/>
              </a:lnSpc>
              <a:spcBef>
                <a:spcPts val="400"/>
              </a:spcBef>
            </a:pPr>
            <a:r>
              <a:rPr sz="13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typedef</a:t>
            </a:r>
            <a:r>
              <a:rPr sz="1300" kern="0" spc="17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int</a:t>
            </a:r>
            <a:r>
              <a:rPr sz="1300" kern="0" spc="1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Num[100];</a:t>
            </a:r>
            <a:r>
              <a:rPr sz="1300" kern="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lang="en-US" sz="1300" kern="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6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//声明</a:t>
            </a:r>
            <a:r>
              <a:rPr sz="1300" kern="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Num</a:t>
            </a:r>
            <a:r>
              <a:rPr sz="1300" kern="0" spc="6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为整型数组类型名</a:t>
            </a:r>
            <a:r>
              <a:rPr lang="en-US" sz="1300" kern="0" spc="6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b="1" kern="0" spc="-1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②</a:t>
            </a:r>
            <a:endParaRPr sz="1300" kern="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endParaRPr>
          </a:p>
          <a:p>
            <a:pPr marL="146050" indent="-11430" algn="l" rtl="0" eaLnBrk="0">
              <a:lnSpc>
                <a:spcPct val="101000"/>
              </a:lnSpc>
              <a:spcBef>
                <a:spcPts val="400"/>
              </a:spcBef>
            </a:pPr>
            <a:r>
              <a:rPr sz="1300"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Num</a:t>
            </a:r>
            <a:r>
              <a:rPr sz="1300"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a:t>
            </a:r>
            <a:r>
              <a:rPr lang="en-US" sz="1300"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6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//定义a为整型数组名，它有</a:t>
            </a:r>
            <a:r>
              <a:rPr sz="1300" kern="0" spc="5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100个元素</a:t>
            </a:r>
          </a:p>
          <a:p>
            <a:pPr marL="146050" indent="-11430" algn="l" rtl="0" eaLnBrk="0">
              <a:lnSpc>
                <a:spcPct val="101000"/>
              </a:lnSpc>
              <a:spcBef>
                <a:spcPts val="400"/>
              </a:spcBef>
            </a:pPr>
            <a:endParaRPr lang="en-US" altLang="en-US" sz="1300" dirty="0"/>
          </a:p>
          <a:p>
            <a:pPr marL="137160" indent="-2540" algn="l" rtl="0" eaLnBrk="0">
              <a:lnSpc>
                <a:spcPct val="100000"/>
              </a:lnSpc>
              <a:spcBef>
                <a:spcPts val="395"/>
              </a:spcBef>
            </a:pPr>
            <a:r>
              <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typedef</a:t>
            </a:r>
            <a:r>
              <a:rPr sz="1300" kern="0" spc="16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char*String；   </a:t>
            </a:r>
            <a:r>
              <a:rPr lang="en-US"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5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//声明</a:t>
            </a:r>
            <a:r>
              <a:rPr sz="1300" kern="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String</a:t>
            </a:r>
            <a:r>
              <a:rPr sz="1300" kern="0" spc="5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为字符指针类</a:t>
            </a:r>
            <a:r>
              <a:rPr sz="1300" kern="0" spc="4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型</a:t>
            </a:r>
            <a:r>
              <a:rPr lang="en-US" sz="1300" kern="0" spc="4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b="1" kern="0" spc="-1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③</a:t>
            </a:r>
            <a:endPar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endParaRPr>
          </a:p>
          <a:p>
            <a:pPr marL="137160" indent="-2540" algn="l" rtl="0" eaLnBrk="0">
              <a:lnSpc>
                <a:spcPct val="100000"/>
              </a:lnSpc>
              <a:spcBef>
                <a:spcPts val="395"/>
              </a:spcBef>
            </a:pPr>
            <a:r>
              <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String</a:t>
            </a:r>
            <a:r>
              <a:rPr sz="1300" kern="0" spc="1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p,s[10];</a:t>
            </a:r>
            <a:r>
              <a:rPr lang="en-US"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2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//定义p为字符指针变量</a:t>
            </a:r>
            <a:r>
              <a:rPr sz="1300" kern="0" spc="1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a:t>
            </a:r>
            <a:r>
              <a:rPr sz="1300" kern="0" spc="17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1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s为字符指针数组</a:t>
            </a:r>
            <a:endPar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endParaRPr>
          </a:p>
          <a:p>
            <a:pPr marL="137160" indent="-2540" algn="l" rtl="0" eaLnBrk="0">
              <a:lnSpc>
                <a:spcPct val="100000"/>
              </a:lnSpc>
              <a:spcBef>
                <a:spcPts val="395"/>
              </a:spcBef>
            </a:pPr>
            <a:endParaRPr lang="en-US" altLang="en-US" sz="1300" dirty="0"/>
          </a:p>
          <a:p>
            <a:pPr marL="147320" indent="-15875" algn="l" rtl="0" eaLnBrk="0">
              <a:lnSpc>
                <a:spcPct val="100000"/>
              </a:lnSpc>
              <a:spcBef>
                <a:spcPts val="0"/>
              </a:spcBef>
            </a:pPr>
            <a:r>
              <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ypedef</a:t>
            </a:r>
            <a:r>
              <a:rPr sz="1300" kern="0" spc="1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int</a:t>
            </a:r>
            <a:r>
              <a:rPr sz="13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(*Pointer)(</a:t>
            </a:r>
            <a:r>
              <a:rPr sz="13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r>
              <a:rPr sz="1300" kern="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lang="en-US" sz="1300" kern="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6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//声明</a:t>
            </a:r>
            <a:r>
              <a:rPr sz="1300" kern="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Pointer</a:t>
            </a:r>
            <a:r>
              <a:rPr sz="1300" kern="0" spc="6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为指向函数的指针类型，该函数返回整型</a:t>
            </a:r>
            <a:r>
              <a:rPr sz="1300" kern="0" spc="5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值</a:t>
            </a:r>
            <a:r>
              <a:rPr lang="en-US" sz="1300" kern="0" spc="5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b="1" kern="0" spc="-1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④</a:t>
            </a:r>
            <a:r>
              <a:rPr lang="en-US" sz="1300" kern="0" spc="5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   </a:t>
            </a:r>
            <a:endParaRPr sz="1300" kern="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endParaRPr>
          </a:p>
          <a:p>
            <a:pPr marL="147320" indent="-15875" algn="l" rtl="0" eaLnBrk="0">
              <a:lnSpc>
                <a:spcPct val="100000"/>
              </a:lnSpc>
              <a:spcBef>
                <a:spcPts val="0"/>
              </a:spcBef>
            </a:pPr>
            <a:r>
              <a:rPr sz="13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Pointer</a:t>
            </a:r>
            <a:r>
              <a:rPr sz="1300" kern="0" spc="18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p1,p2;</a:t>
            </a:r>
            <a:r>
              <a:rPr lang="en-US" sz="13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sz="1300" kern="0" spc="2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//p1,p2为</a:t>
            </a:r>
            <a:r>
              <a:rPr sz="1300" kern="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Pointer</a:t>
            </a:r>
            <a:r>
              <a:rPr sz="1300" kern="0" spc="20" dirty="0">
                <a:solidFill>
                  <a:srgbClr val="008000">
                    <a:alpha val="100000"/>
                  </a:srgbClr>
                </a:solidFill>
                <a:latin typeface="微软雅黑" panose="020B0503020204020204" charset="-122"/>
                <a:ea typeface="微软雅黑" panose="020B0503020204020204" charset="-122"/>
                <a:cs typeface="微软雅黑" panose="020B0503020204020204" charset="-122"/>
                <a:sym typeface="+mn-ea"/>
              </a:rPr>
              <a:t>类型的指针变量</a:t>
            </a:r>
            <a:endParaRPr lang="en-US" altLang="en-US" sz="1300" dirty="0"/>
          </a:p>
          <a:p>
            <a:pPr algn="ctr"/>
            <a:endParaRPr lang="zh-CN" alt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6" name="textbox 9426"/>
          <p:cNvSpPr/>
          <p:nvPr/>
        </p:nvSpPr>
        <p:spPr>
          <a:xfrm>
            <a:off x="628090" y="1878651"/>
            <a:ext cx="10632440" cy="1333500"/>
          </a:xfrm>
          <a:prstGeom prst="rect">
            <a:avLst/>
          </a:prstGeom>
        </p:spPr>
        <p:txBody>
          <a:bodyPr vert="horz" wrap="square" lIns="0" tIns="0" rIns="0" bIns="0"/>
          <a:lstStyle/>
          <a:p>
            <a:pPr algn="l" rtl="0" eaLnBrk="0">
              <a:lnSpc>
                <a:spcPct val="77000"/>
              </a:lnSpc>
            </a:pPr>
            <a:endParaRPr lang="en-US" altLang="en-US" sz="135" dirty="0"/>
          </a:p>
          <a:p>
            <a:pPr marL="24130" algn="l" rtl="0" eaLnBrk="0">
              <a:lnSpc>
                <a:spcPct val="96000"/>
              </a:lnSpc>
            </a:pPr>
            <a:r>
              <a:rPr sz="16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rPr>
              <a:t>声明一个新的类型名的方法是：</a:t>
            </a:r>
            <a:endParaRPr lang="en-US" altLang="en-US" sz="1600" dirty="0"/>
          </a:p>
          <a:p>
            <a:pPr marL="12700" algn="l" rtl="0" eaLnBrk="0">
              <a:lnSpc>
                <a:spcPct val="91000"/>
              </a:lnSpc>
              <a:spcBef>
                <a:spcPts val="1050"/>
              </a:spcBef>
            </a:pPr>
            <a:r>
              <a:rPr sz="16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① 先按定义变量的方法写出定义体（如：</a:t>
            </a:r>
            <a:r>
              <a:rPr sz="1600"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6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int</a:t>
            </a:r>
            <a:r>
              <a:rPr sz="1600" kern="0" spc="1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6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i;）        ② 将变</a:t>
            </a:r>
            <a:r>
              <a:rPr sz="16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量名换成新类型名（例如：   将i换成Count）</a:t>
            </a:r>
            <a:endParaRPr lang="en-US" altLang="en-US" sz="1600" dirty="0"/>
          </a:p>
          <a:p>
            <a:pPr marL="12700" algn="l" rtl="0" eaLnBrk="0">
              <a:lnSpc>
                <a:spcPct val="86000"/>
              </a:lnSpc>
              <a:spcBef>
                <a:spcPts val="1130"/>
              </a:spcBef>
            </a:pPr>
            <a:r>
              <a:rPr sz="16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③ 在最前面加typedef（例如</a:t>
            </a:r>
            <a:r>
              <a:rPr sz="16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1600" kern="0" spc="17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6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rPr>
              <a:t>typedef</a:t>
            </a:r>
            <a:r>
              <a:rPr sz="1600" kern="0" spc="14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6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rPr>
              <a:t>int Count）     ④ 然后可以用新类型名去定义变量</a:t>
            </a:r>
            <a:endParaRPr lang="en-US" altLang="en-US" sz="1600" dirty="0"/>
          </a:p>
          <a:p>
            <a:pPr algn="l" rtl="0" eaLnBrk="0">
              <a:lnSpc>
                <a:spcPct val="102000"/>
              </a:lnSpc>
            </a:pPr>
            <a:endParaRPr lang="en-US" altLang="en-US" sz="1000" dirty="0"/>
          </a:p>
          <a:p>
            <a:pPr algn="r" rtl="0" eaLnBrk="0">
              <a:lnSpc>
                <a:spcPct val="86000"/>
              </a:lnSpc>
              <a:spcBef>
                <a:spcPts val="5"/>
              </a:spcBef>
            </a:pPr>
            <a:r>
              <a:rPr sz="16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简单地说，</a:t>
            </a:r>
            <a:r>
              <a:rPr sz="1600" kern="0" spc="-25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6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就是按定义变量的方式把变量名换上新类型名，</a:t>
            </a:r>
            <a:r>
              <a:rPr sz="1600" kern="0" spc="-2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6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并在最前面加typedef，</a:t>
            </a:r>
            <a:r>
              <a:rPr sz="1600" kern="0" spc="-25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6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就声明了新类</a:t>
            </a:r>
            <a:r>
              <a:rPr sz="16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型名代表原来的类型。</a:t>
            </a:r>
            <a:endParaRPr lang="en-US" altLang="en-US" sz="1600" dirty="0"/>
          </a:p>
        </p:txBody>
      </p:sp>
      <p:sp>
        <p:nvSpPr>
          <p:cNvPr id="9428" name="textbox 9428"/>
          <p:cNvSpPr/>
          <p:nvPr/>
        </p:nvSpPr>
        <p:spPr>
          <a:xfrm>
            <a:off x="628090" y="3342325"/>
            <a:ext cx="4443729" cy="1336675"/>
          </a:xfrm>
          <a:prstGeom prst="rect">
            <a:avLst/>
          </a:prstGeom>
        </p:spPr>
        <p:txBody>
          <a:bodyPr vert="horz" wrap="square" lIns="0" tIns="0" rIns="0" bIns="0"/>
          <a:lstStyle/>
          <a:p>
            <a:pPr algn="l" rtl="0" eaLnBrk="0">
              <a:lnSpc>
                <a:spcPct val="86000"/>
              </a:lnSpc>
            </a:pPr>
            <a:endParaRPr lang="en-US" altLang="en-US" sz="135" dirty="0"/>
          </a:p>
          <a:p>
            <a:pPr marL="38100" algn="l" rtl="0" eaLnBrk="0">
              <a:lnSpc>
                <a:spcPct val="95000"/>
              </a:lnSpc>
            </a:pPr>
            <a:r>
              <a:rPr sz="16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以定义上述的数组类型为例来说明：</a:t>
            </a:r>
            <a:endParaRPr lang="en-US" altLang="en-US" sz="1600" dirty="0"/>
          </a:p>
          <a:p>
            <a:pPr marL="12700" algn="l" rtl="0" eaLnBrk="0">
              <a:lnSpc>
                <a:spcPct val="91000"/>
              </a:lnSpc>
              <a:spcBef>
                <a:spcPts val="1060"/>
              </a:spcBef>
            </a:pPr>
            <a:r>
              <a:rPr sz="16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① 先按定义数组变量形式书写：  inta[1</a:t>
            </a:r>
            <a:r>
              <a:rPr sz="16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00]</a:t>
            </a:r>
            <a:endParaRPr lang="en-US" altLang="en-US" sz="1600" dirty="0"/>
          </a:p>
          <a:p>
            <a:pPr marL="12700" algn="l" rtl="0" eaLnBrk="0">
              <a:lnSpc>
                <a:spcPct val="86000"/>
              </a:lnSpc>
              <a:spcBef>
                <a:spcPts val="1130"/>
              </a:spcBef>
            </a:pPr>
            <a:r>
              <a:rPr sz="16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③ 在前面加上typedef，</a:t>
            </a:r>
            <a:r>
              <a:rPr sz="1600" kern="0" spc="-26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6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得到typedef</a:t>
            </a:r>
            <a:r>
              <a:rPr sz="1600" kern="0" spc="1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6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int</a:t>
            </a:r>
            <a:r>
              <a:rPr sz="1600" kern="0" spc="10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6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N</a:t>
            </a:r>
            <a:r>
              <a:rPr sz="1600"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rPr>
              <a:t>um[100]</a:t>
            </a:r>
            <a:endParaRPr lang="en-US" altLang="en-US" sz="1600" dirty="0"/>
          </a:p>
          <a:p>
            <a:pPr marL="35560" algn="l" rtl="0" eaLnBrk="0">
              <a:lnSpc>
                <a:spcPts val="2885"/>
              </a:lnSpc>
              <a:spcBef>
                <a:spcPts val="25"/>
              </a:spcBef>
            </a:pPr>
            <a:r>
              <a:rPr sz="1600"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rPr>
              <a:t>同样，</a:t>
            </a:r>
            <a:r>
              <a:rPr sz="1600" kern="0" spc="-26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600"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rPr>
              <a:t>对字符指针类</a:t>
            </a:r>
            <a:r>
              <a:rPr sz="1600" kern="0" spc="-100" dirty="0">
                <a:solidFill>
                  <a:srgbClr val="000000">
                    <a:alpha val="100000"/>
                  </a:srgbClr>
                </a:solidFill>
                <a:latin typeface="微软雅黑" panose="020B0503020204020204" charset="-122"/>
                <a:ea typeface="微软雅黑" panose="020B0503020204020204" charset="-122"/>
                <a:cs typeface="微软雅黑" panose="020B0503020204020204" charset="-122"/>
              </a:rPr>
              <a:t>型，</a:t>
            </a:r>
            <a:r>
              <a:rPr sz="1600" kern="0" spc="-29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600" kern="0" spc="-100" dirty="0">
                <a:solidFill>
                  <a:srgbClr val="000000">
                    <a:alpha val="100000"/>
                  </a:srgbClr>
                </a:solidFill>
                <a:latin typeface="微软雅黑" panose="020B0503020204020204" charset="-122"/>
                <a:ea typeface="微软雅黑" panose="020B0503020204020204" charset="-122"/>
                <a:cs typeface="微软雅黑" panose="020B0503020204020204" charset="-122"/>
              </a:rPr>
              <a:t>也是：</a:t>
            </a:r>
            <a:endParaRPr lang="en-US" altLang="en-US" sz="1600" dirty="0"/>
          </a:p>
        </p:txBody>
      </p:sp>
      <p:sp>
        <p:nvSpPr>
          <p:cNvPr id="9430" name="textbox 9430"/>
          <p:cNvSpPr/>
          <p:nvPr/>
        </p:nvSpPr>
        <p:spPr>
          <a:xfrm>
            <a:off x="5460694" y="3708339"/>
            <a:ext cx="4797425" cy="614044"/>
          </a:xfrm>
          <a:prstGeom prst="rect">
            <a:avLst/>
          </a:prstGeom>
        </p:spPr>
        <p:txBody>
          <a:bodyPr vert="horz" wrap="square" lIns="0" tIns="0" rIns="0" bIns="0"/>
          <a:lstStyle/>
          <a:p>
            <a:pPr algn="l" rtl="0" eaLnBrk="0">
              <a:lnSpc>
                <a:spcPct val="88000"/>
              </a:lnSpc>
            </a:pPr>
            <a:endParaRPr lang="en-US" altLang="en-US" sz="135" dirty="0"/>
          </a:p>
          <a:p>
            <a:pPr marL="12700" algn="l" rtl="0" eaLnBrk="0">
              <a:lnSpc>
                <a:spcPct val="91000"/>
              </a:lnSpc>
            </a:pPr>
            <a:r>
              <a:rPr sz="1600"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rPr>
              <a:t>② 将变量名a换成自己命名的类型名：</a:t>
            </a:r>
            <a:r>
              <a:rPr sz="1600" kern="0" spc="16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600"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rPr>
              <a:t>i</a:t>
            </a:r>
            <a:r>
              <a:rPr sz="16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nt</a:t>
            </a:r>
            <a:r>
              <a:rPr sz="1600" kern="0" spc="12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6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Num[100]</a:t>
            </a:r>
            <a:endParaRPr lang="en-US" altLang="en-US" sz="1600" dirty="0"/>
          </a:p>
          <a:p>
            <a:pPr algn="l" rtl="0" eaLnBrk="0">
              <a:lnSpc>
                <a:spcPct val="104000"/>
              </a:lnSpc>
            </a:pPr>
            <a:endParaRPr lang="en-US" altLang="en-US" sz="900" dirty="0"/>
          </a:p>
          <a:p>
            <a:pPr algn="l" rtl="0" eaLnBrk="0">
              <a:lnSpc>
                <a:spcPct val="8000"/>
              </a:lnSpc>
            </a:pPr>
            <a:endParaRPr lang="en-US" altLang="en-US" sz="135" dirty="0"/>
          </a:p>
          <a:p>
            <a:pPr marL="12700" algn="l" rtl="0" eaLnBrk="0">
              <a:lnSpc>
                <a:spcPct val="91000"/>
              </a:lnSpc>
            </a:pPr>
            <a:r>
              <a:rPr sz="16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④ 用来定义变量：    Num a;</a:t>
            </a:r>
            <a:r>
              <a:rPr sz="1600"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rPr>
              <a:t> 相当于定义了：   inta[100];</a:t>
            </a:r>
            <a:endParaRPr lang="en-US" altLang="en-US" sz="1600" dirty="0"/>
          </a:p>
        </p:txBody>
      </p:sp>
      <p:sp>
        <p:nvSpPr>
          <p:cNvPr id="9432" name="textbox 9432"/>
          <p:cNvSpPr/>
          <p:nvPr/>
        </p:nvSpPr>
        <p:spPr>
          <a:xfrm>
            <a:off x="7069271" y="4806000"/>
            <a:ext cx="3804920" cy="601344"/>
          </a:xfrm>
          <a:prstGeom prst="rect">
            <a:avLst/>
          </a:prstGeom>
        </p:spPr>
        <p:txBody>
          <a:bodyPr vert="horz" wrap="square" lIns="0" tIns="0" rIns="0" bIns="0"/>
          <a:lstStyle/>
          <a:p>
            <a:pPr algn="l" rtl="0" eaLnBrk="0">
              <a:lnSpc>
                <a:spcPct val="85000"/>
              </a:lnSpc>
            </a:pPr>
            <a:endParaRPr lang="en-US" altLang="en-US" sz="135" dirty="0"/>
          </a:p>
          <a:p>
            <a:pPr marL="12700" algn="l" rtl="0" eaLnBrk="0">
              <a:lnSpc>
                <a:spcPct val="86000"/>
              </a:lnSpc>
            </a:pPr>
            <a:r>
              <a:rPr sz="16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//用新类型名Str</a:t>
            </a:r>
            <a:r>
              <a:rPr sz="16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ing取代变量名p</a:t>
            </a:r>
            <a:endParaRPr lang="en-US" altLang="en-US" sz="1600" dirty="0"/>
          </a:p>
          <a:p>
            <a:pPr algn="l" rtl="0" eaLnBrk="0">
              <a:lnSpc>
                <a:spcPct val="102000"/>
              </a:lnSpc>
            </a:pPr>
            <a:endParaRPr lang="en-US" altLang="en-US" sz="1000" dirty="0"/>
          </a:p>
          <a:p>
            <a:pPr marL="12700" algn="l" rtl="0" eaLnBrk="0">
              <a:lnSpc>
                <a:spcPct val="86000"/>
              </a:lnSpc>
              <a:spcBef>
                <a:spcPts val="5"/>
              </a:spcBef>
            </a:pPr>
            <a:r>
              <a:rPr sz="16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//用新类型名String定义变量，</a:t>
            </a:r>
            <a:r>
              <a:rPr sz="1600" kern="0" spc="-27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6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相当</a:t>
            </a:r>
            <a:r>
              <a:rPr sz="16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rPr>
              <a:t>char *p;</a:t>
            </a:r>
            <a:endParaRPr lang="en-US" altLang="en-US" sz="1600" dirty="0"/>
          </a:p>
        </p:txBody>
      </p:sp>
      <p:sp>
        <p:nvSpPr>
          <p:cNvPr id="9434" name="textbox 9434"/>
          <p:cNvSpPr/>
          <p:nvPr/>
        </p:nvSpPr>
        <p:spPr>
          <a:xfrm>
            <a:off x="652187" y="5537799"/>
            <a:ext cx="9495155" cy="235584"/>
          </a:xfrm>
          <a:prstGeom prst="rect">
            <a:avLst/>
          </a:prstGeom>
        </p:spPr>
        <p:txBody>
          <a:bodyPr vert="horz" wrap="square" lIns="0" tIns="0" rIns="0" bIns="0"/>
          <a:lstStyle/>
          <a:p>
            <a:pPr algn="l" rtl="0" eaLnBrk="0">
              <a:lnSpc>
                <a:spcPct val="85000"/>
              </a:lnSpc>
            </a:pPr>
            <a:endParaRPr lang="en-US" altLang="en-US" sz="135" dirty="0"/>
          </a:p>
          <a:p>
            <a:pPr algn="r" rtl="0" eaLnBrk="0">
              <a:lnSpc>
                <a:spcPct val="86000"/>
              </a:lnSpc>
            </a:pPr>
            <a:r>
              <a:rPr sz="16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习惯上，</a:t>
            </a:r>
            <a:r>
              <a:rPr sz="1600" kern="0" spc="-18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6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常把用typedef声明的类型名的第1个字母用大写表示，</a:t>
            </a:r>
            <a:r>
              <a:rPr sz="1600" kern="0" spc="-10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6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以便与系统提供的标准类型标识符相区别。</a:t>
            </a:r>
            <a:endParaRPr lang="en-US" altLang="en-US" sz="1600" dirty="0"/>
          </a:p>
        </p:txBody>
      </p:sp>
      <p:sp>
        <p:nvSpPr>
          <p:cNvPr id="9436" name="textbox 9436"/>
          <p:cNvSpPr/>
          <p:nvPr/>
        </p:nvSpPr>
        <p:spPr>
          <a:xfrm>
            <a:off x="581730" y="1069607"/>
            <a:ext cx="4336415" cy="451484"/>
          </a:xfrm>
          <a:prstGeom prst="rect">
            <a:avLst/>
          </a:prstGeom>
        </p:spPr>
        <p:txBody>
          <a:bodyPr vert="horz" wrap="square" lIns="0" tIns="0" rIns="0" bIns="0"/>
          <a:lstStyle/>
          <a:p>
            <a:pPr algn="l" rtl="0" eaLnBrk="0">
              <a:lnSpc>
                <a:spcPct val="89000"/>
              </a:lnSpc>
            </a:pPr>
            <a:endParaRPr lang="en-US" altLang="en-US" sz="135" dirty="0"/>
          </a:p>
          <a:p>
            <a:pPr marL="12700" algn="l" rtl="0" eaLnBrk="0">
              <a:lnSpc>
                <a:spcPct val="90000"/>
              </a:lnSpc>
            </a:pPr>
            <a:r>
              <a:rPr sz="3100" kern="0" spc="120" dirty="0">
                <a:solidFill>
                  <a:srgbClr val="000000">
                    <a:alpha val="100000"/>
                  </a:srgbClr>
                </a:solidFill>
                <a:latin typeface="微软雅黑" panose="020B0503020204020204" charset="-122"/>
                <a:ea typeface="微软雅黑" panose="020B0503020204020204" charset="-122"/>
                <a:cs typeface="微软雅黑" panose="020B0503020204020204" charset="-122"/>
              </a:rPr>
              <a:t>用</a:t>
            </a:r>
            <a:r>
              <a:rPr sz="31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typedef</a:t>
            </a:r>
            <a:r>
              <a:rPr sz="3100" kern="0" spc="120" dirty="0">
                <a:solidFill>
                  <a:srgbClr val="000000">
                    <a:alpha val="100000"/>
                  </a:srgbClr>
                </a:solidFill>
                <a:latin typeface="微软雅黑" panose="020B0503020204020204" charset="-122"/>
                <a:ea typeface="微软雅黑" panose="020B0503020204020204" charset="-122"/>
                <a:cs typeface="微软雅黑" panose="020B0503020204020204" charset="-122"/>
              </a:rPr>
              <a:t>声明新类型名</a:t>
            </a:r>
            <a:endParaRPr lang="en-US" altLang="en-US" sz="3100" dirty="0"/>
          </a:p>
        </p:txBody>
      </p:sp>
      <p:sp>
        <p:nvSpPr>
          <p:cNvPr id="9438" name="textbox 9438"/>
          <p:cNvSpPr/>
          <p:nvPr/>
        </p:nvSpPr>
        <p:spPr>
          <a:xfrm>
            <a:off x="628090" y="4806000"/>
            <a:ext cx="2072004" cy="601980"/>
          </a:xfrm>
          <a:prstGeom prst="rect">
            <a:avLst/>
          </a:prstGeom>
        </p:spPr>
        <p:txBody>
          <a:bodyPr vert="horz" wrap="square" lIns="0" tIns="0" rIns="0" bIns="0"/>
          <a:lstStyle/>
          <a:p>
            <a:pPr algn="l" rtl="0" eaLnBrk="0">
              <a:lnSpc>
                <a:spcPct val="76000"/>
              </a:lnSpc>
            </a:pPr>
            <a:endParaRPr lang="en-US" altLang="en-US" sz="135" dirty="0"/>
          </a:p>
          <a:p>
            <a:pPr marL="12700" algn="l" rtl="0" eaLnBrk="0">
              <a:lnSpc>
                <a:spcPct val="87000"/>
              </a:lnSpc>
            </a:pPr>
            <a:r>
              <a:rPr sz="16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①</a:t>
            </a:r>
            <a:r>
              <a:rPr sz="1600" kern="0" spc="1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6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char *p;</a:t>
            </a:r>
            <a:endParaRPr lang="en-US" altLang="en-US" sz="1600" dirty="0"/>
          </a:p>
          <a:p>
            <a:pPr algn="l" rtl="0" eaLnBrk="0">
              <a:lnSpc>
                <a:spcPct val="101000"/>
              </a:lnSpc>
            </a:pPr>
            <a:endParaRPr lang="en-US" altLang="en-US" sz="1000" dirty="0"/>
          </a:p>
          <a:p>
            <a:pPr marL="12700" algn="l" rtl="0" eaLnBrk="0">
              <a:lnSpc>
                <a:spcPct val="92000"/>
              </a:lnSpc>
              <a:spcBef>
                <a:spcPts val="5"/>
              </a:spcBef>
            </a:pPr>
            <a:r>
              <a:rPr sz="15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③ typedef</a:t>
            </a:r>
            <a:r>
              <a:rPr sz="1500" kern="0" spc="1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5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cha</a:t>
            </a:r>
            <a:r>
              <a:rPr sz="15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r *String;</a:t>
            </a:r>
            <a:endParaRPr lang="en-US" altLang="en-US" sz="1500" dirty="0"/>
          </a:p>
        </p:txBody>
      </p:sp>
      <p:sp>
        <p:nvSpPr>
          <p:cNvPr id="9440" name="textbox 9440"/>
          <p:cNvSpPr/>
          <p:nvPr/>
        </p:nvSpPr>
        <p:spPr>
          <a:xfrm>
            <a:off x="3045022" y="4806000"/>
            <a:ext cx="1723389" cy="604519"/>
          </a:xfrm>
          <a:prstGeom prst="rect">
            <a:avLst/>
          </a:prstGeom>
        </p:spPr>
        <p:txBody>
          <a:bodyPr vert="horz" wrap="square" lIns="0" tIns="0" rIns="0" bIns="0"/>
          <a:lstStyle/>
          <a:p>
            <a:pPr algn="l" rtl="0" eaLnBrk="0">
              <a:lnSpc>
                <a:spcPct val="76000"/>
              </a:lnSpc>
            </a:pPr>
            <a:endParaRPr lang="en-US" altLang="en-US" sz="135" dirty="0"/>
          </a:p>
          <a:p>
            <a:pPr marL="12700" algn="l" rtl="0" eaLnBrk="0">
              <a:lnSpc>
                <a:spcPct val="87000"/>
              </a:lnSpc>
            </a:pPr>
            <a:r>
              <a:rPr sz="16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//定义变量p的方式</a:t>
            </a:r>
            <a:endParaRPr lang="en-US" altLang="en-US" sz="1600" dirty="0"/>
          </a:p>
          <a:p>
            <a:pPr marL="12700" algn="l" rtl="0" eaLnBrk="0">
              <a:lnSpc>
                <a:spcPts val="2880"/>
              </a:lnSpc>
              <a:spcBef>
                <a:spcPts val="15"/>
              </a:spcBef>
            </a:pPr>
            <a:r>
              <a:rPr sz="16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//加typedef</a:t>
            </a:r>
            <a:endParaRPr lang="en-US" altLang="en-US" sz="1600" dirty="0"/>
          </a:p>
        </p:txBody>
      </p:sp>
      <p:sp>
        <p:nvSpPr>
          <p:cNvPr id="9442" name="textbox 9442"/>
          <p:cNvSpPr/>
          <p:nvPr/>
        </p:nvSpPr>
        <p:spPr>
          <a:xfrm>
            <a:off x="5460694" y="4806000"/>
            <a:ext cx="1355089" cy="604519"/>
          </a:xfrm>
          <a:prstGeom prst="rect">
            <a:avLst/>
          </a:prstGeom>
        </p:spPr>
        <p:txBody>
          <a:bodyPr vert="horz" wrap="square" lIns="0" tIns="0" rIns="0" bIns="0"/>
          <a:lstStyle/>
          <a:p>
            <a:pPr algn="l" rtl="0" eaLnBrk="0">
              <a:lnSpc>
                <a:spcPct val="82000"/>
              </a:lnSpc>
            </a:pPr>
            <a:endParaRPr lang="en-US" altLang="en-US" sz="135" dirty="0"/>
          </a:p>
          <a:p>
            <a:pPr marL="12700" algn="l" rtl="0" eaLnBrk="0">
              <a:lnSpc>
                <a:spcPct val="92000"/>
              </a:lnSpc>
            </a:pPr>
            <a:r>
              <a:rPr sz="15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② char</a:t>
            </a:r>
            <a:r>
              <a:rPr sz="15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5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*String;</a:t>
            </a:r>
            <a:endParaRPr lang="en-US" altLang="en-US" sz="1500" dirty="0"/>
          </a:p>
          <a:p>
            <a:pPr marL="12700" algn="l" rtl="0" eaLnBrk="0">
              <a:lnSpc>
                <a:spcPts val="2880"/>
              </a:lnSpc>
              <a:spcBef>
                <a:spcPts val="20"/>
              </a:spcBef>
            </a:pPr>
            <a:r>
              <a:rPr sz="15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④ String</a:t>
            </a:r>
            <a:r>
              <a:rPr sz="1500" kern="0" spc="16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5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p;</a:t>
            </a:r>
            <a:endParaRPr lang="en-US" altLang="en-US" sz="1500" dirty="0"/>
          </a:p>
        </p:txBody>
      </p:sp>
      <p:sp>
        <p:nvSpPr>
          <p:cNvPr id="9444" name="path"/>
          <p:cNvSpPr/>
          <p:nvPr/>
        </p:nvSpPr>
        <p:spPr>
          <a:xfrm>
            <a:off x="554827" y="1697228"/>
            <a:ext cx="10998199" cy="25400"/>
          </a:xfrm>
          <a:custGeom>
            <a:avLst/>
            <a:gdLst/>
            <a:ahLst/>
            <a:cxnLst/>
            <a:rect l="0" t="0" r="0" b="0"/>
            <a:pathLst>
              <a:path w="17319" h="40">
                <a:moveTo>
                  <a:pt x="20" y="20"/>
                </a:moveTo>
                <a:lnTo>
                  <a:pt x="17299" y="20"/>
                </a:lnTo>
                <a:lnTo>
                  <a:pt x="20" y="20"/>
                </a:lnTo>
              </a:path>
            </a:pathLst>
          </a:custGeom>
          <a:noFill/>
          <a:ln w="25400" cap="sq">
            <a:solidFill>
              <a:srgbClr val="782367">
                <a:alpha val="100000"/>
              </a:srgbClr>
            </a:solidFill>
            <a:prstDash val="solid"/>
            <a:bevel/>
          </a:ln>
        </p:spPr>
        <p:txBody>
          <a:bodyPr rtlCol="0"/>
          <a:lstStyle/>
          <a:p>
            <a:pPr algn="ctr"/>
            <a:endParaRPr lang="zh-CN" altLang="en-US"/>
          </a:p>
        </p:txBody>
      </p:sp>
      <p:sp>
        <p:nvSpPr>
          <p:cNvPr id="9446" name="path"/>
          <p:cNvSpPr/>
          <p:nvPr/>
        </p:nvSpPr>
        <p:spPr>
          <a:xfrm>
            <a:off x="554827" y="6019291"/>
            <a:ext cx="10998199" cy="25400"/>
          </a:xfrm>
          <a:custGeom>
            <a:avLst/>
            <a:gdLst/>
            <a:ahLst/>
            <a:cxnLst/>
            <a:rect l="0" t="0" r="0" b="0"/>
            <a:pathLst>
              <a:path w="17319" h="40">
                <a:moveTo>
                  <a:pt x="20" y="20"/>
                </a:moveTo>
                <a:lnTo>
                  <a:pt x="17299" y="20"/>
                </a:lnTo>
                <a:lnTo>
                  <a:pt x="20" y="20"/>
                </a:lnTo>
              </a:path>
            </a:pathLst>
          </a:custGeom>
          <a:noFill/>
          <a:ln w="25400" cap="sq">
            <a:solidFill>
              <a:srgbClr val="782367">
                <a:alpha val="100000"/>
              </a:srgbClr>
            </a:solidFill>
            <a:prstDash val="solid"/>
            <a:bevel/>
          </a:ln>
        </p:spPr>
        <p:txBody>
          <a:bodyPr rtlCol="0"/>
          <a:lstStyle/>
          <a:p>
            <a:pPr algn="ctr"/>
            <a:endParaRPr lang="zh-CN" alt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48" name="textbox 9448"/>
          <p:cNvSpPr/>
          <p:nvPr/>
        </p:nvSpPr>
        <p:spPr>
          <a:xfrm>
            <a:off x="631491" y="1892427"/>
            <a:ext cx="10859135" cy="3554095"/>
          </a:xfrm>
          <a:prstGeom prst="rect">
            <a:avLst/>
          </a:prstGeom>
        </p:spPr>
        <p:txBody>
          <a:bodyPr vert="horz" wrap="square" lIns="0" tIns="0" rIns="0" bIns="0"/>
          <a:lstStyle/>
          <a:p>
            <a:pPr algn="l" rtl="0" eaLnBrk="0">
              <a:lnSpc>
                <a:spcPct val="77000"/>
              </a:lnSpc>
            </a:pPr>
            <a:endParaRPr lang="en-US" altLang="en-US" sz="135" dirty="0"/>
          </a:p>
          <a:p>
            <a:pPr marL="19050" algn="l" rtl="0" eaLnBrk="0">
              <a:lnSpc>
                <a:spcPct val="86000"/>
              </a:lnSpc>
            </a:pPr>
            <a:r>
              <a:rPr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(1) typedef的方法实际上是为特定的类型指定了一个同义字(synonyms)</a:t>
            </a:r>
            <a:r>
              <a:rPr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endParaRPr lang="en-US" altLang="en-US" dirty="0"/>
          </a:p>
          <a:p>
            <a:pPr marL="19050" algn="l" rtl="0" eaLnBrk="0">
              <a:lnSpc>
                <a:spcPct val="86000"/>
              </a:lnSpc>
              <a:spcBef>
                <a:spcPts val="1385"/>
              </a:spcBef>
            </a:pPr>
            <a:r>
              <a:rPr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(2) 用typedef只是对已经存在的类型指定一个新的类型名，</a:t>
            </a:r>
            <a:r>
              <a:rPr kern="0" spc="-26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而没有创造新的类</a:t>
            </a:r>
            <a:r>
              <a:rPr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型。</a:t>
            </a:r>
            <a:endParaRPr lang="en-US" altLang="en-US" dirty="0"/>
          </a:p>
          <a:p>
            <a:pPr marL="19050" algn="l" rtl="0" eaLnBrk="0">
              <a:lnSpc>
                <a:spcPct val="86000"/>
              </a:lnSpc>
              <a:spcBef>
                <a:spcPts val="1385"/>
              </a:spcBef>
            </a:pPr>
            <a:r>
              <a:rPr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(3) 用tyoedef声明数组类型</a:t>
            </a:r>
            <a:r>
              <a:rPr kern="0" spc="-29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、指针类型，</a:t>
            </a:r>
            <a:r>
              <a:rPr kern="0" spc="-28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结构体类型</a:t>
            </a:r>
            <a:r>
              <a:rPr kern="0" spc="-29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、共用体类</a:t>
            </a:r>
            <a:r>
              <a:rPr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型</a:t>
            </a:r>
            <a:r>
              <a:rPr kern="0" spc="-29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、枚举类型等，</a:t>
            </a:r>
            <a:r>
              <a:rPr kern="0" spc="-32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使得编程更加方便。</a:t>
            </a:r>
            <a:endParaRPr lang="en-US" altLang="en-US" dirty="0"/>
          </a:p>
          <a:p>
            <a:pPr marL="19050" algn="l" rtl="0" eaLnBrk="0">
              <a:lnSpc>
                <a:spcPct val="86000"/>
              </a:lnSpc>
              <a:spcBef>
                <a:spcPts val="1385"/>
              </a:spcBef>
            </a:pPr>
            <a:r>
              <a:rPr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(4)  </a:t>
            </a:r>
            <a:r>
              <a:rPr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typedef</a:t>
            </a:r>
            <a:r>
              <a:rPr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与#</a:t>
            </a:r>
            <a:r>
              <a:rPr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define</a:t>
            </a:r>
            <a:r>
              <a:rPr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表面实质不同的</a:t>
            </a:r>
            <a:r>
              <a:rPr kern="0" spc="-17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define</a:t>
            </a:r>
            <a:r>
              <a:rPr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是在预编译时</a:t>
            </a:r>
            <a:r>
              <a:rPr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处理的， 它只能作简单的字符串替换，</a:t>
            </a:r>
            <a:r>
              <a:rPr kern="0" spc="-1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而</a:t>
            </a:r>
            <a:endParaRPr lang="en-US" altLang="en-US" dirty="0"/>
          </a:p>
          <a:p>
            <a:pPr marL="12700" algn="l" rtl="0" eaLnBrk="0">
              <a:lnSpc>
                <a:spcPts val="3240"/>
              </a:lnSpc>
              <a:spcBef>
                <a:spcPts val="25"/>
              </a:spcBef>
            </a:pPr>
            <a:r>
              <a:rPr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typedef是在编译阶段处理的，</a:t>
            </a:r>
            <a:r>
              <a:rPr kern="0" spc="-28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且并非简单的字</a:t>
            </a:r>
            <a:r>
              <a:rPr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符串替换。</a:t>
            </a:r>
            <a:endParaRPr lang="en-US" altLang="en-US" dirty="0"/>
          </a:p>
          <a:p>
            <a:pPr marL="19050" algn="l" rtl="0" eaLnBrk="0">
              <a:lnSpc>
                <a:spcPct val="87000"/>
              </a:lnSpc>
              <a:spcBef>
                <a:spcPts val="1360"/>
              </a:spcBef>
            </a:pPr>
            <a:r>
              <a:rPr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(5)  当不同源文件中用到同</a:t>
            </a:r>
            <a:r>
              <a:rPr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一类型数据</a:t>
            </a:r>
            <a:r>
              <a:rPr kern="0" spc="-32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（尤其是像数组</a:t>
            </a:r>
            <a:r>
              <a:rPr kern="0" spc="-16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、指针</a:t>
            </a:r>
            <a:r>
              <a:rPr kern="0" spc="-18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、结构体</a:t>
            </a:r>
            <a:r>
              <a:rPr kern="0" spc="-17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kern="0" spc="-42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共用体等类型数据）</a:t>
            </a:r>
            <a:r>
              <a:rPr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时， 常用</a:t>
            </a:r>
            <a:endParaRPr lang="en-US" altLang="en-US" dirty="0"/>
          </a:p>
          <a:p>
            <a:pPr marL="22225" indent="-9525" algn="l" rtl="0" eaLnBrk="0">
              <a:lnSpc>
                <a:spcPct val="149000"/>
              </a:lnSpc>
              <a:spcBef>
                <a:spcPts val="20"/>
              </a:spcBef>
            </a:pPr>
            <a:r>
              <a:rPr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typedef声明一些数据类型</a:t>
            </a:r>
            <a:r>
              <a:rPr kern="0" spc="-25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。可以把所有的typedef名称声明单独放在一个头文件中，</a:t>
            </a:r>
            <a:r>
              <a:rPr kern="0" spc="-24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然后在需要用</a:t>
            </a:r>
            <a:r>
              <a:rPr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到它们的</a:t>
            </a:r>
            <a:r>
              <a:rPr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文件中用#include指令把它们包含到文件中</a:t>
            </a:r>
            <a:r>
              <a:rPr kern="0" spc="-3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。这样编程者就不需要在各文件中自己</a:t>
            </a:r>
            <a:r>
              <a:rPr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定义typedef名称了。</a:t>
            </a:r>
            <a:endParaRPr lang="en-US" altLang="en-US" dirty="0"/>
          </a:p>
          <a:p>
            <a:pPr algn="l" rtl="0" eaLnBrk="0">
              <a:lnSpc>
                <a:spcPct val="104000"/>
              </a:lnSpc>
            </a:pPr>
            <a:endParaRPr lang="en-US" altLang="en-US" sz="1100" dirty="0"/>
          </a:p>
          <a:p>
            <a:pPr algn="l" rtl="0" eaLnBrk="0">
              <a:lnSpc>
                <a:spcPct val="10000"/>
              </a:lnSpc>
            </a:pPr>
            <a:endParaRPr lang="en-US" altLang="en-US" sz="135" dirty="0"/>
          </a:p>
          <a:p>
            <a:pPr marL="19050" algn="l" rtl="0" eaLnBrk="0">
              <a:lnSpc>
                <a:spcPct val="86000"/>
              </a:lnSpc>
            </a:pPr>
            <a:r>
              <a:rPr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(6) 使用typedef名称有利于程序的通用与移植</a:t>
            </a:r>
            <a:r>
              <a:rPr kern="0" spc="-30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。有时程序会依赖于硬件特性，</a:t>
            </a:r>
            <a:r>
              <a:rPr kern="0" spc="-26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用typedef类型就便于移植。</a:t>
            </a:r>
            <a:endParaRPr lang="en-US" altLang="en-US" dirty="0"/>
          </a:p>
        </p:txBody>
      </p:sp>
      <p:sp>
        <p:nvSpPr>
          <p:cNvPr id="9450" name="textbox 9450"/>
          <p:cNvSpPr/>
          <p:nvPr/>
        </p:nvSpPr>
        <p:spPr>
          <a:xfrm>
            <a:off x="581730" y="1069607"/>
            <a:ext cx="4336415" cy="451484"/>
          </a:xfrm>
          <a:prstGeom prst="rect">
            <a:avLst/>
          </a:prstGeom>
        </p:spPr>
        <p:txBody>
          <a:bodyPr vert="horz" wrap="square" lIns="0" tIns="0" rIns="0" bIns="0"/>
          <a:lstStyle/>
          <a:p>
            <a:pPr algn="l" rtl="0" eaLnBrk="0">
              <a:lnSpc>
                <a:spcPct val="89000"/>
              </a:lnSpc>
            </a:pPr>
            <a:endParaRPr lang="en-US" altLang="en-US" sz="135" dirty="0"/>
          </a:p>
          <a:p>
            <a:pPr marL="12700" algn="l" rtl="0" eaLnBrk="0">
              <a:lnSpc>
                <a:spcPct val="90000"/>
              </a:lnSpc>
            </a:pPr>
            <a:r>
              <a:rPr sz="3100" kern="0" spc="120" dirty="0">
                <a:solidFill>
                  <a:srgbClr val="000000">
                    <a:alpha val="100000"/>
                  </a:srgbClr>
                </a:solidFill>
                <a:latin typeface="微软雅黑" panose="020B0503020204020204" charset="-122"/>
                <a:ea typeface="微软雅黑" panose="020B0503020204020204" charset="-122"/>
                <a:cs typeface="微软雅黑" panose="020B0503020204020204" charset="-122"/>
              </a:rPr>
              <a:t>用</a:t>
            </a:r>
            <a:r>
              <a:rPr sz="31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typedef</a:t>
            </a:r>
            <a:r>
              <a:rPr sz="3100" kern="0" spc="120" dirty="0">
                <a:solidFill>
                  <a:srgbClr val="000000">
                    <a:alpha val="100000"/>
                  </a:srgbClr>
                </a:solidFill>
                <a:latin typeface="微软雅黑" panose="020B0503020204020204" charset="-122"/>
                <a:ea typeface="微软雅黑" panose="020B0503020204020204" charset="-122"/>
                <a:cs typeface="微软雅黑" panose="020B0503020204020204" charset="-122"/>
              </a:rPr>
              <a:t>声明新类型名</a:t>
            </a:r>
            <a:endParaRPr lang="en-US" altLang="en-US" sz="3100" dirty="0"/>
          </a:p>
        </p:txBody>
      </p:sp>
      <p:sp>
        <p:nvSpPr>
          <p:cNvPr id="9452" name="path"/>
          <p:cNvSpPr/>
          <p:nvPr/>
        </p:nvSpPr>
        <p:spPr>
          <a:xfrm>
            <a:off x="554827" y="1697228"/>
            <a:ext cx="10998199" cy="25400"/>
          </a:xfrm>
          <a:custGeom>
            <a:avLst/>
            <a:gdLst/>
            <a:ahLst/>
            <a:cxnLst/>
            <a:rect l="0" t="0" r="0" b="0"/>
            <a:pathLst>
              <a:path w="17319" h="40">
                <a:moveTo>
                  <a:pt x="20" y="20"/>
                </a:moveTo>
                <a:lnTo>
                  <a:pt x="17299" y="20"/>
                </a:lnTo>
                <a:lnTo>
                  <a:pt x="20" y="20"/>
                </a:lnTo>
              </a:path>
            </a:pathLst>
          </a:custGeom>
          <a:noFill/>
          <a:ln w="25400" cap="sq">
            <a:solidFill>
              <a:srgbClr val="782367">
                <a:alpha val="100000"/>
              </a:srgbClr>
            </a:solidFill>
            <a:prstDash val="solid"/>
            <a:bevel/>
          </a:ln>
        </p:spPr>
        <p:txBody>
          <a:bodyPr rtlCol="0"/>
          <a:lstStyle/>
          <a:p>
            <a:pPr algn="ctr"/>
            <a:endParaRPr lang="zh-CN" altLang="en-US"/>
          </a:p>
        </p:txBody>
      </p:sp>
      <p:sp>
        <p:nvSpPr>
          <p:cNvPr id="9454" name="path"/>
          <p:cNvSpPr/>
          <p:nvPr/>
        </p:nvSpPr>
        <p:spPr>
          <a:xfrm>
            <a:off x="554827" y="5763259"/>
            <a:ext cx="10998199" cy="25400"/>
          </a:xfrm>
          <a:custGeom>
            <a:avLst/>
            <a:gdLst/>
            <a:ahLst/>
            <a:cxnLst/>
            <a:rect l="0" t="0" r="0" b="0"/>
            <a:pathLst>
              <a:path w="17319" h="40">
                <a:moveTo>
                  <a:pt x="20" y="20"/>
                </a:moveTo>
                <a:lnTo>
                  <a:pt x="17299" y="20"/>
                </a:lnTo>
                <a:lnTo>
                  <a:pt x="20" y="20"/>
                </a:lnTo>
              </a:path>
            </a:pathLst>
          </a:custGeom>
          <a:noFill/>
          <a:ln w="25400" cap="sq">
            <a:solidFill>
              <a:srgbClr val="782367">
                <a:alpha val="100000"/>
              </a:srgbClr>
            </a:solidFill>
            <a:prstDash val="solid"/>
            <a:bevel/>
          </a:ln>
        </p:spPr>
        <p:txBody>
          <a:bodyPr rtlCol="0"/>
          <a:lstStyle/>
          <a:p>
            <a:pPr algn="ctr"/>
            <a:endParaRPr lang="zh-CN" altLang="en-US"/>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06e9bb6b-4b73-46d8-a310-5d4bb7e549df"/>
  <p:tag name="COMMONDATA" val="eyJoZGlkIjoiODY5YmNiYTY4NjQ3Zjc2MmM5YTEwNTg4NWRkNjhjOTc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TABLE_ENDDRAG_ORIGIN_RECT" val="495*52"/>
  <p:tag name="TABLE_ENDDRAG_RECT" val="75*435*495*52"/>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7.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
        <a:ea typeface=""/>
        <a:cs typeface=""/>
      </a:majorFont>
      <a:minorFont>
        <a:latin typeface=""/>
        <a:ea typeface=""/>
        <a:cs typeface=""/>
      </a:minorFont>
    </a:fontScheme>
    <a:fmtScheme name="Office">
      <a:fillStyleLst>
        <a:solidFill>
          <a:schemeClr val="phClr"/>
        </a:solidFill>
        <a:gradFill rotWithShape="1">
          <a:gsLst>
            <a:gs pos="0">
              <a:schemeClr val="phClr">
                <a:satMod val="110000"/>
                <a:lumMod val="105000"/>
                <a:tint val="67000"/>
              </a:schemeClr>
            </a:gs>
            <a:gs pos="50000">
              <a:schemeClr val="phClr">
                <a:lumMod val="105000"/>
                <a:satMod val="103000"/>
                <a:tint val="73000"/>
              </a:schemeClr>
            </a:gs>
            <a:gs pos="100000">
              <a:schemeClr val="phClr">
                <a:satMod val="105000"/>
                <a:lumMod val="109000"/>
                <a:tint val="81000"/>
              </a:schemeClr>
            </a:gs>
          </a:gsLst>
          <a:lin ang="5400000" scaled="0"/>
        </a:gradFill>
        <a:gradFill rotWithShape="1">
          <a:gsLst>
            <a:gs pos="0">
              <a:schemeClr val="phClr">
                <a:satMod val="103000"/>
                <a:lumMod val="102000"/>
                <a:shade val="94000"/>
              </a:schemeClr>
            </a:gs>
            <a:gs pos="50000">
              <a:schemeClr val="phClr">
                <a:lumMod val="110000"/>
                <a:satMod val="100000"/>
                <a:tint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176</TotalTime>
  <Words>5984</Words>
  <Application>Microsoft Office PowerPoint</Application>
  <PresentationFormat>宽屏</PresentationFormat>
  <Paragraphs>1241</Paragraphs>
  <Slides>50</Slides>
  <Notes>17</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50</vt:i4>
      </vt:variant>
    </vt:vector>
  </HeadingPairs>
  <TitlesOfParts>
    <vt:vector size="57" baseType="lpstr">
      <vt:lpstr>微软雅黑</vt:lpstr>
      <vt:lpstr>Arial</vt:lpstr>
      <vt:lpstr>Calibri</vt:lpstr>
      <vt:lpstr>Cambria Math</vt:lpstr>
      <vt:lpstr>Times New Roman</vt:lpstr>
      <vt:lpstr>Wingdings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郭威威</cp:lastModifiedBy>
  <cp:revision>1771</cp:revision>
  <dcterms:created xsi:type="dcterms:W3CDTF">2024-08-20T11:49:41Z</dcterms:created>
  <dcterms:modified xsi:type="dcterms:W3CDTF">2024-10-22T02:25:03Z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O">
    <vt:lpwstr>wqlLaW5nc29mdCBQREYgdG8gV1BTIDgw</vt:lpwstr>
  </property>
  <property fmtid="{D5CDD505-2E9C-101B-9397-08002B2CF9AE}" pid="3" name="Created">
    <vt:filetime>2023-08-30T23:21:40Z</vt:filetime>
  </property>
  <property fmtid="{D5CDD505-2E9C-101B-9397-08002B2CF9AE}" pid="4" name="ICV">
    <vt:lpwstr>EF7DA00A9F3443F6B90E34624954F938_13</vt:lpwstr>
  </property>
  <property fmtid="{D5CDD505-2E9C-101B-9397-08002B2CF9AE}" pid="5" name="KSOProductBuildVer">
    <vt:lpwstr>2052-6.8.2.8850</vt:lpwstr>
  </property>
</Properties>
</file>