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6" r:id="rId3"/>
    <p:sldId id="599" r:id="rId5"/>
    <p:sldId id="671" r:id="rId6"/>
    <p:sldId id="670" r:id="rId7"/>
    <p:sldId id="672" r:id="rId8"/>
    <p:sldId id="577" r:id="rId9"/>
    <p:sldId id="625" r:id="rId10"/>
    <p:sldId id="578" r:id="rId11"/>
    <p:sldId id="673" r:id="rId12"/>
    <p:sldId id="627" r:id="rId13"/>
    <p:sldId id="579" r:id="rId14"/>
    <p:sldId id="580" r:id="rId15"/>
    <p:sldId id="581" r:id="rId16"/>
    <p:sldId id="582" r:id="rId17"/>
    <p:sldId id="583" r:id="rId18"/>
    <p:sldId id="584" r:id="rId19"/>
    <p:sldId id="585" r:id="rId20"/>
    <p:sldId id="586" r:id="rId21"/>
    <p:sldId id="587" r:id="rId22"/>
    <p:sldId id="588" r:id="rId23"/>
    <p:sldId id="589" r:id="rId24"/>
    <p:sldId id="590" r:id="rId25"/>
    <p:sldId id="591" r:id="rId26"/>
    <p:sldId id="592" r:id="rId27"/>
    <p:sldId id="593" r:id="rId28"/>
    <p:sldId id="594" r:id="rId29"/>
    <p:sldId id="595" r:id="rId30"/>
    <p:sldId id="654" r:id="rId31"/>
    <p:sldId id="658" r:id="rId32"/>
    <p:sldId id="660" r:id="rId33"/>
    <p:sldId id="661" r:id="rId34"/>
    <p:sldId id="662" r:id="rId35"/>
    <p:sldId id="663" r:id="rId36"/>
    <p:sldId id="664" r:id="rId37"/>
    <p:sldId id="665" r:id="rId38"/>
    <p:sldId id="666" r:id="rId39"/>
    <p:sldId id="667" r:id="rId40"/>
    <p:sldId id="668" r:id="rId41"/>
    <p:sldId id="669" r:id="rId42"/>
    <p:sldId id="598" r:id="rId43"/>
  </p:sldIdLst>
  <p:sldSz cx="9144000" cy="51435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dan li" initials="zl" lastIdx="1" clrIdx="0"/>
  <p:cmAuthor id="2" name="lizhengdan" initials="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23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gs" Target="tags/tag145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r>
              <a:rPr lang="en-US" altLang="zh-CN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C</a:t>
            </a:r>
            <a: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语言发展史：</a:t>
            </a:r>
            <a:r>
              <a:rPr lang="zh-CN" altLang="zh-CN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它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的原型是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ALGOL 60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语言（也称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A</a:t>
            </a:r>
            <a:r>
              <a:rPr lang="zh-CN" altLang="zh-CN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语言</a:t>
            </a:r>
            <a: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）。</a:t>
            </a:r>
            <a:b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</a:b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1963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年，剑桥大学将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ALGOL 60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语言发展成为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CPL(Combined Programming Language)</a:t>
            </a:r>
            <a:r>
              <a:rPr lang="zh-CN" altLang="zh-CN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语言</a:t>
            </a:r>
            <a: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。</a:t>
            </a:r>
            <a:b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</a:b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1967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年，剑桥大学的马丁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·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理查兹（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Matin Richards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）对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CPL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语言进行了简化，于是产生了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BCPL</a:t>
            </a:r>
            <a:r>
              <a:rPr lang="zh-CN" altLang="zh-CN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语言</a:t>
            </a:r>
            <a: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。</a:t>
            </a:r>
            <a:b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</a:b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1970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年，美国贝尔实验室的肯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·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汤普森（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Ken Thompson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）将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BCPL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进行了修改，并为它起了一个有趣的名字“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B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语言</a:t>
            </a:r>
            <a:r>
              <a:rPr lang="zh-CN" altLang="zh-CN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”</a:t>
            </a:r>
            <a: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，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并且他用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B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语言写了第一个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UNIX</a:t>
            </a:r>
            <a:r>
              <a:rPr lang="zh-CN" altLang="zh-CN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操作系统</a:t>
            </a:r>
            <a: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。</a:t>
            </a:r>
            <a:b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</a:b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1973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年，美国贝尔实验室的丹尼斯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·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里奇（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Dennis M.Ritchie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）在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B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语言的基础上设计出了一种新的语言，他取了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BCPL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的第二个字母作为这种语言的名字，即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C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语言，美国计算机科学家。C语言之父，UNIX之父</a:t>
            </a:r>
            <a: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。</a:t>
            </a:r>
            <a:b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</a:br>
            <a: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1978年与布莱恩·科尔尼干（Brian W. Kernighan）一起出版了名著《C程序设计语言（The C Programming Language）》。此书已翻译成多种语言，被誉为c语言的圣经。</a:t>
            </a:r>
            <a:endParaRPr lang="zh-CN" altLang="en-US" kern="0" noProof="0" dirty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TIOBE编程社区指数是编程语言流行程度的指标。该索引每月更新一次。评级基于资深软件工程的数量、课程和第三方供应商。流行的搜索引擎，如谷歌，必应，雅虎！，维基百科、亚马逊、YouTube和百度被用来计算评分。需要注意的是，TIOBE索引并不是关于最佳编程语言或大多数代码行所用的语言。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 Highest Position (since 2001): #1 in Sep 2021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 Lowest Position (since 2001): #2 in Aug 2023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C3BB909-BA8B-4CC5-AF4F-417D7642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E1F9FB-DACA-49B5-8A56-3AE278C745E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E1F9FB-DACA-49B5-8A56-3AE278C745E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4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87" y="0"/>
            <a:ext cx="9145587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A6649B-253A-46CC-9C65-97B6E8AC29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85725"/>
            <a:ext cx="7766050" cy="542925"/>
          </a:xfrm>
          <a:prstGeom prst="rect">
            <a:avLst/>
          </a:prstGeom>
        </p:spPr>
        <p:txBody>
          <a:bodyPr/>
          <a:lstStyle>
            <a:lvl1pPr algn="l">
              <a:defRPr sz="27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174625" y="76200"/>
            <a:ext cx="5148263" cy="573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700" b="1" i="0" u="none" strike="noStrike" kern="1200" cap="none" spc="3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pitchFamily="2" charset="2"/>
              </a:rPr>
              <a:t> </a:t>
            </a:r>
            <a:r>
              <a:rPr kumimoji="0" lang="zh-CN" altLang="en-US" sz="2700" b="1" i="0" u="none" strike="noStrike" kern="1200" cap="none" spc="3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pitchFamily="2" charset="2"/>
              </a:rPr>
              <a:t>目录</a:t>
            </a:r>
            <a:endParaRPr kumimoji="0" lang="zh-CN" altLang="en-US" sz="2700" b="1" i="0" u="none" strike="noStrike" kern="1200" cap="none" spc="30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宋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5" Type="http://schemas.openxmlformats.org/officeDocument/2006/relationships/theme" Target="../theme/theme1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9" Type="http://schemas.openxmlformats.org/officeDocument/2006/relationships/notesSlide" Target="../notesSlides/notesSlide3.xml"/><Relationship Id="rId28" Type="http://schemas.openxmlformats.org/officeDocument/2006/relationships/slideLayout" Target="../slideLayouts/slideLayout3.xml"/><Relationship Id="rId27" Type="http://schemas.openxmlformats.org/officeDocument/2006/relationships/tags" Target="../tags/tag70.xml"/><Relationship Id="rId26" Type="http://schemas.openxmlformats.org/officeDocument/2006/relationships/tags" Target="../tags/tag69.xml"/><Relationship Id="rId25" Type="http://schemas.openxmlformats.org/officeDocument/2006/relationships/tags" Target="../tags/tag68.xml"/><Relationship Id="rId24" Type="http://schemas.openxmlformats.org/officeDocument/2006/relationships/tags" Target="../tags/tag67.xml"/><Relationship Id="rId23" Type="http://schemas.openxmlformats.org/officeDocument/2006/relationships/tags" Target="../tags/tag66.xml"/><Relationship Id="rId22" Type="http://schemas.openxmlformats.org/officeDocument/2006/relationships/tags" Target="../tags/tag65.xml"/><Relationship Id="rId21" Type="http://schemas.openxmlformats.org/officeDocument/2006/relationships/tags" Target="../tags/tag64.xml"/><Relationship Id="rId20" Type="http://schemas.openxmlformats.org/officeDocument/2006/relationships/tags" Target="../tags/tag63.xml"/><Relationship Id="rId2" Type="http://schemas.openxmlformats.org/officeDocument/2006/relationships/tags" Target="../tags/tag45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98.xml"/><Relationship Id="rId26" Type="http://schemas.openxmlformats.org/officeDocument/2006/relationships/tags" Target="../tags/tag97.xml"/><Relationship Id="rId25" Type="http://schemas.openxmlformats.org/officeDocument/2006/relationships/tags" Target="../tags/tag96.xml"/><Relationship Id="rId24" Type="http://schemas.openxmlformats.org/officeDocument/2006/relationships/tags" Target="../tags/tag95.xml"/><Relationship Id="rId23" Type="http://schemas.openxmlformats.org/officeDocument/2006/relationships/tags" Target="../tags/tag94.xml"/><Relationship Id="rId22" Type="http://schemas.openxmlformats.org/officeDocument/2006/relationships/tags" Target="../tags/tag93.xml"/><Relationship Id="rId21" Type="http://schemas.openxmlformats.org/officeDocument/2006/relationships/tags" Target="../tags/tag92.xml"/><Relationship Id="rId20" Type="http://schemas.openxmlformats.org/officeDocument/2006/relationships/tags" Target="../tags/tag91.xml"/><Relationship Id="rId2" Type="http://schemas.openxmlformats.org/officeDocument/2006/relationships/tags" Target="../tags/tag73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01.xml"/><Relationship Id="rId4" Type="http://schemas.openxmlformats.org/officeDocument/2006/relationships/hyperlink" Target="https://www.tiobe.com/tiobe-index/&#13;" TargetMode="External"/><Relationship Id="rId3" Type="http://schemas.openxmlformats.org/officeDocument/2006/relationships/tags" Target="../tags/tag100.xml"/><Relationship Id="rId2" Type="http://schemas.openxmlformats.org/officeDocument/2006/relationships/image" Target="../media/image5.png"/><Relationship Id="rId1" Type="http://schemas.openxmlformats.org/officeDocument/2006/relationships/tags" Target="../tags/tag9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143.xml"/><Relationship Id="rId33" Type="http://schemas.openxmlformats.org/officeDocument/2006/relationships/tags" Target="../tags/tag142.xml"/><Relationship Id="rId32" Type="http://schemas.openxmlformats.org/officeDocument/2006/relationships/tags" Target="../tags/tag141.xml"/><Relationship Id="rId31" Type="http://schemas.openxmlformats.org/officeDocument/2006/relationships/tags" Target="../tags/tag140.xml"/><Relationship Id="rId30" Type="http://schemas.openxmlformats.org/officeDocument/2006/relationships/tags" Target="../tags/tag139.xml"/><Relationship Id="rId3" Type="http://schemas.openxmlformats.org/officeDocument/2006/relationships/tags" Target="../tags/tag112.xml"/><Relationship Id="rId29" Type="http://schemas.openxmlformats.org/officeDocument/2006/relationships/tags" Target="../tags/tag138.xml"/><Relationship Id="rId28" Type="http://schemas.openxmlformats.org/officeDocument/2006/relationships/tags" Target="../tags/tag137.xml"/><Relationship Id="rId27" Type="http://schemas.openxmlformats.org/officeDocument/2006/relationships/tags" Target="../tags/tag136.xml"/><Relationship Id="rId26" Type="http://schemas.openxmlformats.org/officeDocument/2006/relationships/tags" Target="../tags/tag135.xml"/><Relationship Id="rId25" Type="http://schemas.openxmlformats.org/officeDocument/2006/relationships/tags" Target="../tags/tag134.xml"/><Relationship Id="rId24" Type="http://schemas.openxmlformats.org/officeDocument/2006/relationships/tags" Target="../tags/tag133.xml"/><Relationship Id="rId23" Type="http://schemas.openxmlformats.org/officeDocument/2006/relationships/tags" Target="../tags/tag132.xml"/><Relationship Id="rId22" Type="http://schemas.openxmlformats.org/officeDocument/2006/relationships/tags" Target="../tags/tag131.xml"/><Relationship Id="rId21" Type="http://schemas.openxmlformats.org/officeDocument/2006/relationships/tags" Target="../tags/tag130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初识</a:t>
            </a:r>
            <a:r>
              <a:rPr lang="en-US" altLang="zh-CN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C</a:t>
            </a:r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语言</a:t>
            </a:r>
            <a:endParaRPr lang="zh-CN" altLang="en-US" sz="3600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sp>
        <p:nvSpPr>
          <p:cNvPr id="3" name="副标题 81924"/>
          <p:cNvSpPr txBox="1"/>
          <p:nvPr/>
        </p:nvSpPr>
        <p:spPr>
          <a:xfrm>
            <a:off x="2195513" y="2914650"/>
            <a:ext cx="4752975" cy="13144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4805" lvl="1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4055" lvl="2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9330" lvl="3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2700" lvl="4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193B8F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朱静雯</a:t>
            </a:r>
            <a:endParaRPr lang="zh-CN" altLang="en-US" sz="2400" dirty="0">
              <a:solidFill>
                <a:srgbClr val="193B8F"/>
              </a:solidFill>
              <a:latin typeface="Times New Roman" panose="02020503050405090304" pitchFamily="18" charset="0"/>
              <a:ea typeface="楷体" panose="02010609060101010101" pitchFamily="49" charset="-122"/>
            </a:endParaRPr>
          </a:p>
          <a:p>
            <a:pPr algn="ctr"/>
            <a:r>
              <a:rPr lang="en-US" altLang="zh-CN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zhujingwen@nankai.edu.cn</a:t>
            </a:r>
            <a:endParaRPr lang="en-US" altLang="zh-CN" sz="2400" dirty="0">
              <a:latin typeface="Times New Roman" panose="02020503050405090304" pitchFamily="18" charset="0"/>
              <a:ea typeface="楷体" panose="02010609060101010101" pitchFamily="49" charset="-122"/>
            </a:endParaRPr>
          </a:p>
          <a:p>
            <a:pPr algn="ctr"/>
            <a:r>
              <a:rPr lang="zh-CN" altLang="en-US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南开大学</a:t>
            </a:r>
            <a:r>
              <a:rPr lang="en-US" altLang="zh-CN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·</a:t>
            </a:r>
            <a:r>
              <a:rPr lang="zh-CN" altLang="en-US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软件学院</a:t>
            </a:r>
            <a:endParaRPr lang="zh-CN" altLang="en-US" sz="2400" dirty="0">
              <a:latin typeface="Times New Roman" panose="02020503050405090304" pitchFamily="18" charset="0"/>
              <a:ea typeface="楷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3b32313538323734393b56fe4e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110" y="135890"/>
            <a:ext cx="731520" cy="7315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86510" y="248285"/>
            <a:ext cx="99885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 kern="0" spc="30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目录</a:t>
            </a:r>
            <a:endParaRPr lang="zh-CN" altLang="en-US" sz="2700"/>
          </a:p>
        </p:txBody>
      </p:sp>
      <p:grpSp>
        <p:nvGrpSpPr>
          <p:cNvPr id="6146" name="组合 1"/>
          <p:cNvGrpSpPr/>
          <p:nvPr/>
        </p:nvGrpSpPr>
        <p:grpSpPr>
          <a:xfrm>
            <a:off x="2426494" y="865585"/>
            <a:ext cx="3031331" cy="445294"/>
            <a:chOff x="1710657" y="1263652"/>
            <a:chExt cx="4042443" cy="592608"/>
          </a:xfrm>
        </p:grpSpPr>
        <p:grpSp>
          <p:nvGrpSpPr>
            <p:cNvPr id="6179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6182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34" name="圆角矩形 33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1.1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35" name="圆角矩形 34"/>
                <p:cNvSpPr/>
                <p:nvPr/>
              </p:nvSpPr>
              <p:spPr>
                <a:xfrm>
                  <a:off x="1961224" y="1349539"/>
                  <a:ext cx="1189063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33" name="圆角矩形 5"/>
              <p:cNvSpPr/>
              <p:nvPr/>
            </p:nvSpPr>
            <p:spPr>
              <a:xfrm>
                <a:off x="1931232" y="2065721"/>
                <a:ext cx="1293777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 bwMode="auto">
            <a:xfrm>
              <a:off x="2809389" y="1761189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6181" name="矩形 35"/>
            <p:cNvSpPr/>
            <p:nvPr/>
          </p:nvSpPr>
          <p:spPr>
            <a:xfrm>
              <a:off x="2836056" y="1286814"/>
              <a:ext cx="1667362" cy="490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</a:rPr>
                <a:t>C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语言概述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147" name="组合 195"/>
          <p:cNvGrpSpPr/>
          <p:nvPr/>
        </p:nvGrpSpPr>
        <p:grpSpPr>
          <a:xfrm>
            <a:off x="3250406" y="1758554"/>
            <a:ext cx="3031331" cy="444103"/>
            <a:chOff x="1710657" y="1263652"/>
            <a:chExt cx="4042443" cy="592608"/>
          </a:xfrm>
        </p:grpSpPr>
        <p:grpSp>
          <p:nvGrpSpPr>
            <p:cNvPr id="6172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6175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217" name="圆角矩形 216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1.2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220" name="圆角矩形 219"/>
                <p:cNvSpPr/>
                <p:nvPr/>
              </p:nvSpPr>
              <p:spPr>
                <a:xfrm>
                  <a:off x="1961224" y="1349737"/>
                  <a:ext cx="1189063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213" name="圆角矩形 5"/>
              <p:cNvSpPr/>
              <p:nvPr/>
            </p:nvSpPr>
            <p:spPr>
              <a:xfrm>
                <a:off x="1931236" y="2063209"/>
                <a:ext cx="1293777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203" name="直接连接符 202"/>
            <p:cNvCxnSpPr/>
            <p:nvPr/>
          </p:nvCxnSpPr>
          <p:spPr bwMode="auto">
            <a:xfrm>
              <a:off x="2809389" y="1760934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6174" name="矩形 35"/>
            <p:cNvSpPr/>
            <p:nvPr/>
          </p:nvSpPr>
          <p:spPr>
            <a:xfrm>
              <a:off x="2836056" y="1286814"/>
              <a:ext cx="2072983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开发环境搭建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148" name="组合 221"/>
          <p:cNvGrpSpPr/>
          <p:nvPr/>
        </p:nvGrpSpPr>
        <p:grpSpPr>
          <a:xfrm>
            <a:off x="2426494" y="2650331"/>
            <a:ext cx="3180130" cy="445294"/>
            <a:chOff x="1710657" y="1263652"/>
            <a:chExt cx="4240597" cy="592608"/>
          </a:xfrm>
        </p:grpSpPr>
        <p:grpSp>
          <p:nvGrpSpPr>
            <p:cNvPr id="6165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6168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233" name="圆角矩形 232"/>
                <p:cNvSpPr/>
                <p:nvPr/>
              </p:nvSpPr>
              <p:spPr>
                <a:xfrm>
                  <a:off x="1907704" y="1275606"/>
                  <a:ext cx="1296019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1.3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234" name="圆角矩形 233"/>
                <p:cNvSpPr/>
                <p:nvPr/>
              </p:nvSpPr>
              <p:spPr>
                <a:xfrm>
                  <a:off x="1961221" y="1349539"/>
                  <a:ext cx="1188985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232" name="圆角矩形 5"/>
              <p:cNvSpPr/>
              <p:nvPr/>
            </p:nvSpPr>
            <p:spPr>
              <a:xfrm>
                <a:off x="1931232" y="2065724"/>
                <a:ext cx="1293692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229" name="直接连接符 228"/>
            <p:cNvCxnSpPr/>
            <p:nvPr/>
          </p:nvCxnSpPr>
          <p:spPr bwMode="auto">
            <a:xfrm>
              <a:off x="2809317" y="1761189"/>
              <a:ext cx="2943519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6167" name="矩形 35"/>
            <p:cNvSpPr/>
            <p:nvPr/>
          </p:nvSpPr>
          <p:spPr>
            <a:xfrm>
              <a:off x="2836056" y="1286814"/>
              <a:ext cx="3115198" cy="490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编写</a:t>
              </a:r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</a:rPr>
                <a:t>HelloWorld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程序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149" name="组合 234"/>
          <p:cNvGrpSpPr/>
          <p:nvPr/>
        </p:nvGrpSpPr>
        <p:grpSpPr>
          <a:xfrm>
            <a:off x="3276600" y="3568304"/>
            <a:ext cx="3032522" cy="444103"/>
            <a:chOff x="1710657" y="1263652"/>
            <a:chExt cx="4042443" cy="592608"/>
          </a:xfrm>
        </p:grpSpPr>
        <p:grpSp>
          <p:nvGrpSpPr>
            <p:cNvPr id="6158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6161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241" name="圆角矩形 240"/>
                <p:cNvSpPr/>
                <p:nvPr/>
              </p:nvSpPr>
              <p:spPr>
                <a:xfrm>
                  <a:off x="1907704" y="1275604"/>
                  <a:ext cx="1295595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1.4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242" name="圆角矩形 241"/>
                <p:cNvSpPr/>
                <p:nvPr/>
              </p:nvSpPr>
              <p:spPr>
                <a:xfrm>
                  <a:off x="1961203" y="1349736"/>
                  <a:ext cx="1188597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240" name="圆角矩形 5"/>
              <p:cNvSpPr/>
              <p:nvPr/>
            </p:nvSpPr>
            <p:spPr>
              <a:xfrm>
                <a:off x="1931238" y="2063190"/>
                <a:ext cx="1288617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237" name="直接连接符 236"/>
            <p:cNvCxnSpPr/>
            <p:nvPr/>
          </p:nvCxnSpPr>
          <p:spPr bwMode="auto">
            <a:xfrm>
              <a:off x="2810545" y="1760934"/>
              <a:ext cx="2942555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6160" name="矩形 35"/>
            <p:cNvSpPr/>
            <p:nvPr/>
          </p:nvSpPr>
          <p:spPr>
            <a:xfrm>
              <a:off x="2836056" y="1286814"/>
              <a:ext cx="853246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注释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150" name="组合 242"/>
          <p:cNvGrpSpPr/>
          <p:nvPr/>
        </p:nvGrpSpPr>
        <p:grpSpPr>
          <a:xfrm>
            <a:off x="2421731" y="4435079"/>
            <a:ext cx="3032522" cy="444103"/>
            <a:chOff x="1710657" y="1263652"/>
            <a:chExt cx="4042443" cy="592608"/>
          </a:xfrm>
        </p:grpSpPr>
        <p:grpSp>
          <p:nvGrpSpPr>
            <p:cNvPr id="6151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6154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249" name="圆角矩形 248"/>
                <p:cNvSpPr/>
                <p:nvPr/>
              </p:nvSpPr>
              <p:spPr>
                <a:xfrm>
                  <a:off x="1907704" y="1275604"/>
                  <a:ext cx="1295595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1.5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250" name="圆角矩形 249"/>
                <p:cNvSpPr/>
                <p:nvPr/>
              </p:nvSpPr>
              <p:spPr>
                <a:xfrm>
                  <a:off x="1961203" y="1349736"/>
                  <a:ext cx="1188597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248" name="圆角矩形 5"/>
              <p:cNvSpPr/>
              <p:nvPr/>
            </p:nvSpPr>
            <p:spPr>
              <a:xfrm>
                <a:off x="1931238" y="2063190"/>
                <a:ext cx="1288617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245" name="直接连接符 244"/>
            <p:cNvCxnSpPr/>
            <p:nvPr/>
          </p:nvCxnSpPr>
          <p:spPr bwMode="auto">
            <a:xfrm>
              <a:off x="2810545" y="1760934"/>
              <a:ext cx="2942555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6153" name="矩形 35"/>
            <p:cNvSpPr/>
            <p:nvPr/>
          </p:nvSpPr>
          <p:spPr>
            <a:xfrm>
              <a:off x="2836056" y="1286814"/>
              <a:ext cx="1462707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本章小结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H_Other_1"/>
          <p:cNvSpPr/>
          <p:nvPr>
            <p:custDataLst>
              <p:tags r:id="rId1"/>
            </p:custDataLst>
          </p:nvPr>
        </p:nvSpPr>
        <p:spPr>
          <a:xfrm>
            <a:off x="2088356" y="1350169"/>
            <a:ext cx="267891" cy="26670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5" name="MH_Other_2"/>
          <p:cNvSpPr/>
          <p:nvPr>
            <p:custDataLst>
              <p:tags r:id="rId2"/>
            </p:custDataLst>
          </p:nvPr>
        </p:nvSpPr>
        <p:spPr>
          <a:xfrm>
            <a:off x="2088356" y="1653779"/>
            <a:ext cx="267891" cy="26789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6" name="MH_Other_3"/>
          <p:cNvSpPr/>
          <p:nvPr>
            <p:custDataLst>
              <p:tags r:id="rId3"/>
            </p:custDataLst>
          </p:nvPr>
        </p:nvSpPr>
        <p:spPr>
          <a:xfrm>
            <a:off x="2243138" y="1502569"/>
            <a:ext cx="266700" cy="266700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7" name="MH_Other_4"/>
          <p:cNvSpPr/>
          <p:nvPr>
            <p:custDataLst>
              <p:tags r:id="rId4"/>
            </p:custDataLst>
          </p:nvPr>
        </p:nvSpPr>
        <p:spPr>
          <a:xfrm>
            <a:off x="1800225" y="1253729"/>
            <a:ext cx="401241" cy="764381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8" name="MH_Other_5"/>
          <p:cNvSpPr/>
          <p:nvPr>
            <p:custDataLst>
              <p:tags r:id="rId5"/>
            </p:custDataLst>
          </p:nvPr>
        </p:nvSpPr>
        <p:spPr bwMode="auto">
          <a:xfrm>
            <a:off x="1778794" y="1253729"/>
            <a:ext cx="382191" cy="764381"/>
          </a:xfrm>
          <a:custGeom>
            <a:avLst/>
            <a:gdLst>
              <a:gd name="T0" fmla="*/ 36 w 1806862"/>
              <a:gd name="T1" fmla="*/ 0 h 3612822"/>
              <a:gd name="T2" fmla="*/ 143580 w 1806862"/>
              <a:gd name="T3" fmla="*/ 143580 h 3612822"/>
              <a:gd name="T4" fmla="*/ 36 w 1806862"/>
              <a:gd name="T5" fmla="*/ 287160 h 3612822"/>
              <a:gd name="T6" fmla="*/ 0 w 1806862"/>
              <a:gd name="T7" fmla="*/ 287124 h 3612822"/>
              <a:gd name="T8" fmla="*/ 0 w 1806862"/>
              <a:gd name="T9" fmla="*/ 36 h 36128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6862"/>
              <a:gd name="T16" fmla="*/ 0 h 3612822"/>
              <a:gd name="T17" fmla="*/ 1806862 w 1806862"/>
              <a:gd name="T18" fmla="*/ 3612822 h 36128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lnTo>
                  <a:pt x="45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0800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1" dirty="0">
              <a:solidFill>
                <a:srgbClr val="FFFFFF"/>
              </a:solidFill>
            </a:endParaRPr>
          </a:p>
        </p:txBody>
      </p:sp>
      <p:sp>
        <p:nvSpPr>
          <p:cNvPr id="9" name="MH_Text_1"/>
          <p:cNvSpPr/>
          <p:nvPr>
            <p:custDataLst>
              <p:tags r:id="rId6"/>
            </p:custDataLst>
          </p:nvPr>
        </p:nvSpPr>
        <p:spPr>
          <a:xfrm>
            <a:off x="2509838" y="1616869"/>
            <a:ext cx="2627710" cy="78581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可以被计算机理解并执行的基本操作</a:t>
            </a:r>
            <a:r>
              <a:rPr lang="zh-CN" altLang="en-US" sz="13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命令。</a:t>
            </a:r>
            <a:endParaRPr lang="zh-CN" altLang="en-US" sz="13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MH_SubTitle_1"/>
          <p:cNvSpPr/>
          <p:nvPr>
            <p:custDataLst>
              <p:tags r:id="rId7"/>
            </p:custDataLst>
          </p:nvPr>
        </p:nvSpPr>
        <p:spPr>
          <a:xfrm>
            <a:off x="2509838" y="1253729"/>
            <a:ext cx="2627710" cy="403622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zh-CN" altLang="en-US" b="1" kern="0" dirty="0" smtClean="0">
                <a:solidFill>
                  <a:schemeClr val="accent1"/>
                </a:solidFill>
                <a:cs typeface="宋体" pitchFamily="2" charset="-122"/>
              </a:rPr>
              <a:t>指令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11" name="MH_Other_6"/>
          <p:cNvSpPr/>
          <p:nvPr>
            <p:custDataLst>
              <p:tags r:id="rId8"/>
            </p:custDataLst>
          </p:nvPr>
        </p:nvSpPr>
        <p:spPr>
          <a:xfrm>
            <a:off x="4480322" y="3743325"/>
            <a:ext cx="266700" cy="266700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12" name="MH_Other_7"/>
          <p:cNvSpPr/>
          <p:nvPr>
            <p:custDataLst>
              <p:tags r:id="rId9"/>
            </p:custDataLst>
          </p:nvPr>
        </p:nvSpPr>
        <p:spPr>
          <a:xfrm>
            <a:off x="4480322" y="4048125"/>
            <a:ext cx="266700" cy="266700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13" name="MH_Other_8"/>
          <p:cNvSpPr/>
          <p:nvPr>
            <p:custDataLst>
              <p:tags r:id="rId10"/>
            </p:custDataLst>
          </p:nvPr>
        </p:nvSpPr>
        <p:spPr>
          <a:xfrm>
            <a:off x="4633913" y="3895725"/>
            <a:ext cx="266700" cy="266700"/>
          </a:xfrm>
          <a:prstGeom prst="diamond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14" name="MH_Other_9"/>
          <p:cNvSpPr/>
          <p:nvPr>
            <p:custDataLst>
              <p:tags r:id="rId11"/>
            </p:custDataLst>
          </p:nvPr>
        </p:nvSpPr>
        <p:spPr>
          <a:xfrm>
            <a:off x="4191001" y="3648075"/>
            <a:ext cx="402431" cy="763191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15" name="MH_Other_10"/>
          <p:cNvSpPr/>
          <p:nvPr>
            <p:custDataLst>
              <p:tags r:id="rId12"/>
            </p:custDataLst>
          </p:nvPr>
        </p:nvSpPr>
        <p:spPr>
          <a:xfrm>
            <a:off x="4170761" y="3648075"/>
            <a:ext cx="382190" cy="763191"/>
          </a:xfrm>
          <a:custGeom>
            <a:avLst/>
            <a:gdLst>
              <a:gd name="connsiteX0" fmla="*/ 451 w 1806862"/>
              <a:gd name="connsiteY0" fmla="*/ 0 h 3612822"/>
              <a:gd name="connsiteX1" fmla="*/ 1806862 w 1806862"/>
              <a:gd name="connsiteY1" fmla="*/ 1806411 h 3612822"/>
              <a:gd name="connsiteX2" fmla="*/ 451 w 1806862"/>
              <a:gd name="connsiteY2" fmla="*/ 3612822 h 3612822"/>
              <a:gd name="connsiteX3" fmla="*/ 0 w 1806862"/>
              <a:gd name="connsiteY3" fmla="*/ 3612371 h 3612822"/>
              <a:gd name="connsiteX4" fmla="*/ 0 w 1806862"/>
              <a:gd name="connsiteY4" fmla="*/ 451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close/>
              </a:path>
            </a:pathLst>
          </a:custGeom>
          <a:solidFill>
            <a:schemeClr val="accent3"/>
          </a:solidFill>
        </p:spPr>
        <p:txBody>
          <a:bodyPr lIns="0" tIns="0" rIns="108000" bIns="0" anchor="ctr">
            <a:normAutofit/>
          </a:bodyPr>
          <a:lstStyle/>
          <a:p>
            <a:pPr algn="ctr">
              <a:defRPr/>
            </a:pPr>
            <a:endParaRPr lang="zh-CN" altLang="en-US" b="1" dirty="0" err="1">
              <a:solidFill>
                <a:srgbClr val="FFFFFF"/>
              </a:solidFill>
            </a:endParaRPr>
          </a:p>
        </p:txBody>
      </p:sp>
      <p:sp>
        <p:nvSpPr>
          <p:cNvPr id="16" name="MH_Text_3"/>
          <p:cNvSpPr/>
          <p:nvPr>
            <p:custDataLst>
              <p:tags r:id="rId13"/>
            </p:custDataLst>
          </p:nvPr>
        </p:nvSpPr>
        <p:spPr>
          <a:xfrm>
            <a:off x="4900613" y="4010025"/>
            <a:ext cx="2628900" cy="78700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与计算机系统操作有关的计算机程序、规程、规则，以及可能有的文件、文档及</a:t>
            </a:r>
            <a:r>
              <a:rPr lang="zh-CN" altLang="en-US" sz="13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数据。</a:t>
            </a:r>
            <a:endParaRPr lang="zh-CN" altLang="en-US" sz="13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MH_SubTitle_3"/>
          <p:cNvSpPr/>
          <p:nvPr>
            <p:custDataLst>
              <p:tags r:id="rId14"/>
            </p:custDataLst>
          </p:nvPr>
        </p:nvSpPr>
        <p:spPr>
          <a:xfrm>
            <a:off x="4900613" y="3648076"/>
            <a:ext cx="2628900" cy="402431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zh-CN" altLang="en-US" b="1" kern="0" dirty="0" smtClean="0">
                <a:solidFill>
                  <a:schemeClr val="accent3"/>
                </a:solidFill>
                <a:cs typeface="宋体" pitchFamily="2" charset="-122"/>
              </a:rPr>
              <a:t>软件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  <p:sp>
        <p:nvSpPr>
          <p:cNvPr id="18" name="MH_Other_11"/>
          <p:cNvSpPr/>
          <p:nvPr>
            <p:custDataLst>
              <p:tags r:id="rId15"/>
            </p:custDataLst>
          </p:nvPr>
        </p:nvSpPr>
        <p:spPr>
          <a:xfrm>
            <a:off x="3284935" y="2561035"/>
            <a:ext cx="266700" cy="2667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19" name="MH_Other_12"/>
          <p:cNvSpPr/>
          <p:nvPr>
            <p:custDataLst>
              <p:tags r:id="rId16"/>
            </p:custDataLst>
          </p:nvPr>
        </p:nvSpPr>
        <p:spPr>
          <a:xfrm>
            <a:off x="3284935" y="2865835"/>
            <a:ext cx="266700" cy="2667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20" name="MH_Other_13"/>
          <p:cNvSpPr/>
          <p:nvPr>
            <p:custDataLst>
              <p:tags r:id="rId17"/>
            </p:custDataLst>
          </p:nvPr>
        </p:nvSpPr>
        <p:spPr>
          <a:xfrm>
            <a:off x="3438525" y="2713435"/>
            <a:ext cx="266700" cy="266700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21" name="MH_Other_14"/>
          <p:cNvSpPr/>
          <p:nvPr>
            <p:custDataLst>
              <p:tags r:id="rId18"/>
            </p:custDataLst>
          </p:nvPr>
        </p:nvSpPr>
        <p:spPr>
          <a:xfrm>
            <a:off x="2995613" y="2465786"/>
            <a:ext cx="402431" cy="763190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sz="1350" dirty="0" err="1">
              <a:solidFill>
                <a:srgbClr val="FFFFFF"/>
              </a:solidFill>
            </a:endParaRPr>
          </a:p>
        </p:txBody>
      </p:sp>
      <p:sp>
        <p:nvSpPr>
          <p:cNvPr id="22" name="MH_Other_15"/>
          <p:cNvSpPr/>
          <p:nvPr>
            <p:custDataLst>
              <p:tags r:id="rId19"/>
            </p:custDataLst>
          </p:nvPr>
        </p:nvSpPr>
        <p:spPr bwMode="auto">
          <a:xfrm>
            <a:off x="2975372" y="2465786"/>
            <a:ext cx="381000" cy="763190"/>
          </a:xfrm>
          <a:custGeom>
            <a:avLst/>
            <a:gdLst>
              <a:gd name="T0" fmla="*/ 36 w 1806862"/>
              <a:gd name="T1" fmla="*/ 0 h 3612822"/>
              <a:gd name="T2" fmla="*/ 143133 w 1806862"/>
              <a:gd name="T3" fmla="*/ 143356 h 3612822"/>
              <a:gd name="T4" fmla="*/ 36 w 1806862"/>
              <a:gd name="T5" fmla="*/ 286713 h 3612822"/>
              <a:gd name="T6" fmla="*/ 0 w 1806862"/>
              <a:gd name="T7" fmla="*/ 286677 h 3612822"/>
              <a:gd name="T8" fmla="*/ 0 w 1806862"/>
              <a:gd name="T9" fmla="*/ 36 h 36128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6862"/>
              <a:gd name="T16" fmla="*/ 0 h 3612822"/>
              <a:gd name="T17" fmla="*/ 1806862 w 1806862"/>
              <a:gd name="T18" fmla="*/ 3612822 h 36128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lnTo>
                  <a:pt x="45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10800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en-US" b="1" dirty="0">
              <a:solidFill>
                <a:srgbClr val="FFFFFF"/>
              </a:solidFill>
            </a:endParaRPr>
          </a:p>
        </p:txBody>
      </p:sp>
      <p:sp>
        <p:nvSpPr>
          <p:cNvPr id="23" name="MH_Text_2"/>
          <p:cNvSpPr/>
          <p:nvPr>
            <p:custDataLst>
              <p:tags r:id="rId20"/>
            </p:custDataLst>
          </p:nvPr>
        </p:nvSpPr>
        <p:spPr>
          <a:xfrm>
            <a:off x="3705225" y="2827736"/>
            <a:ext cx="2628900" cy="763190"/>
          </a:xfrm>
          <a:prstGeom prst="rect">
            <a:avLst/>
          </a:prstGeom>
        </p:spPr>
        <p:txBody>
          <a:bodyPr>
            <a:normAutofit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3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一组计算机能识别和执行的指令。</a:t>
            </a:r>
            <a:endParaRPr lang="en-US" altLang="zh-CN" sz="13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一</a:t>
            </a:r>
            <a:r>
              <a:rPr lang="zh-CN" altLang="en-US" sz="13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个特定的指令序列用来完成一定的功能。</a:t>
            </a:r>
            <a:endParaRPr lang="zh-CN" altLang="en-US" sz="13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MH_SubTitle_2"/>
          <p:cNvSpPr/>
          <p:nvPr>
            <p:custDataLst>
              <p:tags r:id="rId21"/>
            </p:custDataLst>
          </p:nvPr>
        </p:nvSpPr>
        <p:spPr>
          <a:xfrm>
            <a:off x="3705225" y="2465786"/>
            <a:ext cx="2628900" cy="402431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zh-CN" altLang="en-US" b="1" kern="0" dirty="0" smtClean="0">
                <a:solidFill>
                  <a:schemeClr val="accent2"/>
                </a:solidFill>
                <a:cs typeface="宋体" pitchFamily="2" charset="-122"/>
              </a:rPr>
              <a:t>程序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628650" y="810895"/>
            <a:ext cx="7886700" cy="423545"/>
          </a:xfrm>
          <a:prstGeom prst="rect">
            <a:avLst/>
          </a:prstGeom>
        </p:spPr>
        <p:txBody>
          <a:bodyPr vert="horz" rtlCol="0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2400" dirty="0" smtClean="0">
                <a:solidFill>
                  <a:srgbClr val="782367"/>
                </a:solidFill>
                <a:sym typeface="+mn-ea"/>
              </a:rPr>
              <a:t>1.1.1</a:t>
            </a:r>
            <a:r>
              <a:rPr lang="zh-CN" altLang="en-US" sz="2400" dirty="0" smtClean="0">
                <a:solidFill>
                  <a:srgbClr val="782367"/>
                </a:solidFill>
                <a:sym typeface="+mn-ea"/>
              </a:rPr>
              <a:t>计算机</a:t>
            </a:r>
            <a:r>
              <a:rPr lang="zh-CN" altLang="en-US" sz="2400" dirty="0" smtClean="0">
                <a:solidFill>
                  <a:srgbClr val="782367"/>
                </a:solidFill>
                <a:sym typeface="+mn-ea"/>
              </a:rPr>
              <a:t>程序</a:t>
            </a:r>
            <a:endParaRPr lang="zh-CN" altLang="en-US" sz="24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26" name="标题 1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-317" y="85725"/>
            <a:ext cx="5824538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1.1 C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语言概述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874395"/>
            <a:ext cx="7886700" cy="423545"/>
          </a:xfrm>
        </p:spPr>
        <p:txBody>
          <a:bodyPr vert="horz" rtlCol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en-US" altLang="zh-CN" sz="2400" dirty="0" smtClean="0">
                <a:solidFill>
                  <a:srgbClr val="782367"/>
                </a:solidFill>
                <a:sym typeface="+mn-ea"/>
              </a:rPr>
              <a:t>1.1.2</a:t>
            </a:r>
            <a:r>
              <a:rPr lang="zh-CN" altLang="en-US" sz="2400" dirty="0" smtClean="0">
                <a:solidFill>
                  <a:srgbClr val="782367"/>
                </a:solidFill>
                <a:sym typeface="+mn-ea"/>
              </a:rPr>
              <a:t>计算机语言</a:t>
            </a:r>
            <a:endParaRPr lang="zh-CN" altLang="en-US" sz="24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25" name="MH_SubTitle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348077" y="1298214"/>
            <a:ext cx="1620000" cy="324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8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机器语言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MH_Text_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48077" y="1694693"/>
            <a:ext cx="1619250" cy="1839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计算机能直接识别和接受的二进制代码称为</a:t>
            </a:r>
            <a:r>
              <a:rPr lang="zh-CN" altLang="en-US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机器指令</a:t>
            </a: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。机器指令的集合就是该计算机的</a:t>
            </a:r>
            <a:r>
              <a:rPr lang="zh-CN" altLang="en-US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机器语言</a:t>
            </a: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</a:t>
            </a:r>
            <a:endParaRPr lang="en-US" altLang="zh-CN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特点：难学，难记，难检查，难修改，难以推广使用。依赖具体机器难以移植。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7" name="MH_SubTitle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94656" y="1298214"/>
            <a:ext cx="1620000" cy="324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8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汇编语言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MH_Text_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594656" y="1694693"/>
            <a:ext cx="1619250" cy="1839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>
            <a:defPPr>
              <a:defRPr lang="zh-CN"/>
            </a:defPPr>
            <a:lvl1pPr algn="just" eaLnBrk="1" hangingPunct="1">
              <a:lnSpc>
                <a:spcPct val="130000"/>
              </a:lnSpc>
              <a:defRPr sz="14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>
              <a:defRPr/>
            </a:pP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机器语言的符号化。用英文字母和数字表示指令的</a:t>
            </a:r>
            <a:r>
              <a:rPr lang="zh-CN" altLang="en-US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符号语言</a:t>
            </a: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</a:t>
            </a:r>
            <a:endParaRPr lang="en-US" altLang="zh-CN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>
              <a:defRPr/>
            </a:pP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特点：相比机器语言简单好记，但仍然难以普及。汇编指令需通过</a:t>
            </a:r>
            <a:r>
              <a:rPr lang="zh-CN" altLang="en-US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汇编程序</a:t>
            </a: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转换为机器指令才能被计算机执行。依赖具体机器难以移植。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9" name="MH_SubTitle_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93101" y="1298214"/>
            <a:ext cx="1620000" cy="3240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8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b="1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高级语言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MH_Text_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93101" y="1694693"/>
            <a:ext cx="1619250" cy="1839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defPPr>
              <a:defRPr lang="zh-CN"/>
            </a:defPPr>
            <a:lvl1pPr algn="just" eaLnBrk="1" hangingPunct="1">
              <a:lnSpc>
                <a:spcPct val="130000"/>
              </a:lnSpc>
              <a:defRPr sz="14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>
              <a:defRPr/>
            </a:pP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高级语言更接近于人们习惯使用的自然语言和数学语言。</a:t>
            </a:r>
            <a:endParaRPr lang="en-US" altLang="zh-CN" sz="1050" dirty="0" smtClean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>
              <a:defRPr/>
            </a:pP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特点：功能强大，不依赖于具体机器。用高级语言编写的</a:t>
            </a:r>
            <a:r>
              <a:rPr lang="zh-CN" altLang="en-US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源程序</a:t>
            </a: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需要通过</a:t>
            </a:r>
            <a:r>
              <a:rPr lang="zh-CN" altLang="en-US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编译程序</a:t>
            </a: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转换为机器指令的</a:t>
            </a:r>
            <a:r>
              <a:rPr lang="zh-CN" altLang="en-US" sz="105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目标程序</a:t>
            </a:r>
            <a:r>
              <a:rPr lang="zh-CN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。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1348077" y="3480844"/>
            <a:ext cx="1620000" cy="7966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900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B8  7F 01</a:t>
            </a:r>
            <a:endParaRPr lang="en-US" altLang="zh-CN" sz="900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900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BB  21 02</a:t>
            </a:r>
            <a:endParaRPr lang="en-US" altLang="zh-CN" sz="900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900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03   D8</a:t>
            </a:r>
            <a:endParaRPr lang="en-US" altLang="zh-CN" sz="900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900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B8  1F 04</a:t>
            </a:r>
            <a:endParaRPr lang="en-US" altLang="zh-CN" sz="900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900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2B  </a:t>
            </a:r>
            <a:r>
              <a:rPr lang="en-US" altLang="zh-CN" sz="900" dirty="0" smtClean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C3</a:t>
            </a:r>
            <a:endParaRPr lang="en-US" altLang="zh-CN" sz="900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3594656" y="3480844"/>
            <a:ext cx="1620000" cy="7966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900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MOV  AX  383</a:t>
            </a:r>
            <a:endParaRPr lang="en-US" altLang="zh-CN" sz="900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900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MOV  BX  545</a:t>
            </a:r>
            <a:endParaRPr lang="en-US" altLang="zh-CN" sz="900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900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ADD   BX  AX</a:t>
            </a:r>
            <a:endParaRPr lang="en-US" altLang="zh-CN" sz="900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900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MOV  AX  1055</a:t>
            </a:r>
            <a:endParaRPr lang="en-US" altLang="zh-CN" sz="900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900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SUB    AX  BX</a:t>
            </a:r>
            <a:endParaRPr lang="en-US" altLang="zh-CN" sz="900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5893101" y="3480844"/>
            <a:ext cx="1620000" cy="7966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900" dirty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S=1055-(383+545)</a:t>
            </a:r>
            <a:endParaRPr lang="en-US" altLang="zh-CN" sz="900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348077" y="1622214"/>
            <a:ext cx="1620000" cy="72479"/>
            <a:chOff x="1797436" y="2162952"/>
            <a:chExt cx="2160000" cy="96639"/>
          </a:xfrm>
        </p:grpSpPr>
        <p:sp>
          <p:nvSpPr>
            <p:cNvPr id="35" name="矩形 34"/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3594656" y="1610894"/>
            <a:ext cx="1620000" cy="72479"/>
            <a:chOff x="1797436" y="2162952"/>
            <a:chExt cx="2160000" cy="96639"/>
          </a:xfrm>
        </p:grpSpPr>
        <p:sp>
          <p:nvSpPr>
            <p:cNvPr id="38" name="矩形 37"/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5893101" y="1622214"/>
            <a:ext cx="1620000" cy="72479"/>
            <a:chOff x="1797436" y="2162952"/>
            <a:chExt cx="2160000" cy="96639"/>
          </a:xfrm>
        </p:grpSpPr>
        <p:sp>
          <p:nvSpPr>
            <p:cNvPr id="41" name="矩形 40"/>
            <p:cNvSpPr/>
            <p:nvPr/>
          </p:nvSpPr>
          <p:spPr>
            <a:xfrm>
              <a:off x="1797436" y="2162952"/>
              <a:ext cx="1313512" cy="966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1797436" y="2162952"/>
              <a:ext cx="2160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-317" y="85725"/>
            <a:ext cx="5824538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1.1 C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语言概述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835660"/>
            <a:ext cx="7886700" cy="432435"/>
          </a:xfrm>
        </p:spPr>
        <p:txBody>
          <a:bodyPr vert="horz" rtlCol="0"/>
          <a:lstStyle/>
          <a:p>
            <a:pPr lvl="0" algn="l">
              <a:buClrTx/>
              <a:buSzTx/>
              <a:buFontTx/>
            </a:pPr>
            <a:r>
              <a:rPr lang="en-US" altLang="zh-CN" sz="2400" dirty="0" smtClean="0">
                <a:solidFill>
                  <a:srgbClr val="782367"/>
                </a:solidFill>
                <a:sym typeface="+mn-ea"/>
              </a:rPr>
              <a:t>1.1.3 </a:t>
            </a:r>
            <a:r>
              <a:rPr lang="zh-CN" altLang="en-US" sz="2400" dirty="0" smtClean="0">
                <a:solidFill>
                  <a:srgbClr val="782367"/>
                </a:solidFill>
                <a:sym typeface="+mn-ea"/>
              </a:rPr>
              <a:t>高级语言的发展</a:t>
            </a:r>
            <a:endParaRPr lang="zh-CN" altLang="en-US" sz="24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4" name="MH_Other_5"/>
          <p:cNvSpPr/>
          <p:nvPr>
            <p:custDataLst>
              <p:tags r:id="rId1"/>
            </p:custDataLst>
          </p:nvPr>
        </p:nvSpPr>
        <p:spPr>
          <a:xfrm>
            <a:off x="2589092" y="1354000"/>
            <a:ext cx="798909" cy="798910"/>
          </a:xfrm>
          <a:prstGeom prst="ellipse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  <a:effectLst>
            <a:outerShdw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latin typeface="Arial" panose="020B060402020209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MH_Other_1"/>
          <p:cNvSpPr/>
          <p:nvPr>
            <p:custDataLst>
              <p:tags r:id="rId2"/>
            </p:custDataLst>
          </p:nvPr>
        </p:nvSpPr>
        <p:spPr>
          <a:xfrm flipH="1" flipV="1">
            <a:off x="3393955" y="2839899"/>
            <a:ext cx="946547" cy="434579"/>
          </a:xfrm>
          <a:prstGeom prst="bentArrow">
            <a:avLst>
              <a:gd name="adj1" fmla="val 14574"/>
              <a:gd name="adj2" fmla="val 17832"/>
              <a:gd name="adj3" fmla="val 22629"/>
              <a:gd name="adj4" fmla="val 43750"/>
            </a:avLst>
          </a:prstGeom>
          <a:solidFill>
            <a:srgbClr val="FFFFFF"/>
          </a:solidFill>
          <a:ln w="3175">
            <a:solidFill>
              <a:srgbClr val="EAEAEA"/>
            </a:solidFill>
          </a:ln>
          <a:effectLst>
            <a:outerShdw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latin typeface="Arial" panose="020B060402020209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MH_Other_2"/>
          <p:cNvSpPr/>
          <p:nvPr>
            <p:custDataLst>
              <p:tags r:id="rId3"/>
            </p:custDataLst>
          </p:nvPr>
        </p:nvSpPr>
        <p:spPr>
          <a:xfrm flipV="1">
            <a:off x="2955805" y="2131478"/>
            <a:ext cx="946547" cy="433388"/>
          </a:xfrm>
          <a:prstGeom prst="bentArrow">
            <a:avLst>
              <a:gd name="adj1" fmla="val 14574"/>
              <a:gd name="adj2" fmla="val 17832"/>
              <a:gd name="adj3" fmla="val 22629"/>
              <a:gd name="adj4" fmla="val 43750"/>
            </a:avLst>
          </a:prstGeom>
          <a:solidFill>
            <a:srgbClr val="FFFFFF"/>
          </a:solidFill>
          <a:ln w="3175">
            <a:solidFill>
              <a:srgbClr val="EAEAEA"/>
            </a:solidFill>
          </a:ln>
          <a:effectLst>
            <a:outerShdw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latin typeface="Arial" panose="020B060402020209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MH_Other_3"/>
          <p:cNvSpPr/>
          <p:nvPr>
            <p:custDataLst>
              <p:tags r:id="rId4"/>
            </p:custDataLst>
          </p:nvPr>
        </p:nvSpPr>
        <p:spPr>
          <a:xfrm>
            <a:off x="3902351" y="2069565"/>
            <a:ext cx="800100" cy="800100"/>
          </a:xfrm>
          <a:prstGeom prst="ellipse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  <a:effectLst>
            <a:outerShdw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latin typeface="Arial" panose="020B060402020209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MH_Other_4"/>
          <p:cNvSpPr/>
          <p:nvPr>
            <p:custDataLst>
              <p:tags r:id="rId5"/>
            </p:custDataLst>
          </p:nvPr>
        </p:nvSpPr>
        <p:spPr>
          <a:xfrm>
            <a:off x="2659691" y="1426866"/>
            <a:ext cx="658253" cy="65825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dist="76200" dir="135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2700" b="1" dirty="0" smtClean="0">
                <a:solidFill>
                  <a:srgbClr val="FFFFFF"/>
                </a:solidFill>
                <a:latin typeface="Agency FB" panose="020B0503020202020204" pitchFamily="34" charset="0"/>
                <a:ea typeface="黑体" panose="02010609060101010101" pitchFamily="49" charset="-122"/>
              </a:rPr>
              <a:t>01</a:t>
            </a:r>
            <a:endParaRPr lang="zh-CN" altLang="en-US" sz="2700" b="1" dirty="0">
              <a:solidFill>
                <a:srgbClr val="FFFFFF"/>
              </a:solidFill>
              <a:latin typeface="Agency FB" panose="020B05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MH_Other_6"/>
          <p:cNvSpPr/>
          <p:nvPr>
            <p:custDataLst>
              <p:tags r:id="rId6"/>
            </p:custDataLst>
          </p:nvPr>
        </p:nvSpPr>
        <p:spPr>
          <a:xfrm>
            <a:off x="3981096" y="2152910"/>
            <a:ext cx="658253" cy="65825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dist="76200" dir="135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2700" b="1" dirty="0" smtClean="0">
                <a:solidFill>
                  <a:srgbClr val="FFFFFF"/>
                </a:solidFill>
                <a:latin typeface="Agency FB" panose="020B0503020202020204" pitchFamily="34" charset="0"/>
                <a:ea typeface="黑体" panose="02010609060101010101" pitchFamily="49" charset="-122"/>
              </a:rPr>
              <a:t>02</a:t>
            </a:r>
            <a:endParaRPr lang="zh-CN" altLang="en-US" sz="2700" b="1" dirty="0">
              <a:solidFill>
                <a:srgbClr val="FFFFFF"/>
              </a:solidFill>
              <a:latin typeface="Agency FB" panose="020B05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MH_Other_7"/>
          <p:cNvSpPr/>
          <p:nvPr>
            <p:custDataLst>
              <p:tags r:id="rId7"/>
            </p:custDataLst>
          </p:nvPr>
        </p:nvSpPr>
        <p:spPr>
          <a:xfrm flipH="1">
            <a:off x="2593855" y="2786321"/>
            <a:ext cx="800100" cy="800100"/>
          </a:xfrm>
          <a:prstGeom prst="ellipse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  <a:effectLst>
            <a:outerShdw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latin typeface="Arial" panose="020B0604020202090204" pitchFamily="34" charset="0"/>
              <a:ea typeface="黑体" panose="02010609060101010101" pitchFamily="49" charset="-122"/>
            </a:endParaRPr>
          </a:p>
        </p:txBody>
      </p:sp>
      <p:sp>
        <p:nvSpPr>
          <p:cNvPr id="11" name="MH_Other_8"/>
          <p:cNvSpPr/>
          <p:nvPr>
            <p:custDataLst>
              <p:tags r:id="rId8"/>
            </p:custDataLst>
          </p:nvPr>
        </p:nvSpPr>
        <p:spPr>
          <a:xfrm>
            <a:off x="2665052" y="2857217"/>
            <a:ext cx="658253" cy="65825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innerShdw dist="76200" dir="135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2700" b="1">
                <a:solidFill>
                  <a:srgbClr val="FFFFFF"/>
                </a:solidFill>
                <a:latin typeface="Agency FB" panose="020B0503020202020204" pitchFamily="34" charset="0"/>
                <a:ea typeface="黑体" panose="02010609060101010101" pitchFamily="49" charset="-122"/>
              </a:rPr>
              <a:t>03</a:t>
            </a:r>
            <a:endParaRPr lang="zh-CN" altLang="en-US" sz="2700" b="1">
              <a:solidFill>
                <a:srgbClr val="FFFFFF"/>
              </a:solidFill>
              <a:latin typeface="Agency FB" panose="020B05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MH_SubTitle_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flipH="1">
            <a:off x="430489" y="1624272"/>
            <a:ext cx="2087166" cy="335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zh-CN" altLang="en-US" sz="1500" b="1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非结构化的语言</a:t>
            </a:r>
            <a:endParaRPr lang="en-US" altLang="zh-CN" sz="15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MH_Text_2"/>
          <p:cNvSpPr/>
          <p:nvPr>
            <p:custDataLst>
              <p:tags r:id="rId10"/>
            </p:custDataLst>
          </p:nvPr>
        </p:nvSpPr>
        <p:spPr>
          <a:xfrm>
            <a:off x="4820323" y="2641065"/>
            <a:ext cx="3610544" cy="160791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规定：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程序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必须由具有良好特性的基本结构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顺序结构、选择结构、循环结构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构成，程序中的流程不允许随意跳转，程序总是由上而下顺序执行各个基本结构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特点：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程序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结构清晰，易于编写、阅读和维护。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MH_SubTitle_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 flipH="1">
            <a:off x="461446" y="3030400"/>
            <a:ext cx="2088356" cy="336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r" eaLnBrk="1" hangingPunct="1"/>
            <a:r>
              <a:rPr lang="zh-CN" altLang="en-US" sz="1500" b="1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面向对象的语言</a:t>
            </a:r>
            <a:endParaRPr lang="en-US" altLang="zh-CN" sz="15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MH_SubTitle_2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820324" y="2321978"/>
            <a:ext cx="2085975" cy="335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500" b="1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结构化语言</a:t>
            </a:r>
            <a:endParaRPr lang="en-US" altLang="zh-CN" sz="15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标题 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-317" y="85725"/>
            <a:ext cx="5824538" cy="54292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1.1 C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语言概述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1.1 C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语言概述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243840" y="878205"/>
            <a:ext cx="8446770" cy="379666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1.1.4 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什么是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</a:t>
            </a:r>
            <a:endParaRPr kumimoji="0" lang="en-US" altLang="zh-CN" i="0" u="none" strike="noStrike" kern="0" cap="none" spc="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语言发展史  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它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的原型是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ALGOL 60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语言（也称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）。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1963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年，剑桥大学将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ALGOL 60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语言发展成为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CPL(Combined Programming Language)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1967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年，剑桥大学的马丁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·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理查兹（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Matin Richards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）对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CPL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语言进行了简化，于是产生了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BCPL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1970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年，美国贝尔实验室的肯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·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汤普森（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Ken Thompson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）将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BCPL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进行了修改，并为它起了一个有趣的名字“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B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”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并且他用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B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语言写了第一个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UNIX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操作系统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1973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年，美国贝尔实验室的丹尼斯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·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里奇（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Dennis M.Ritchie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）在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B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语言的基础上设计出了一种新的语言，他取了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BCPL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的第二个字母作为这种语言的名字，即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1.1 C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语言概述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243840" y="628650"/>
            <a:ext cx="8446770" cy="43561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1.1.4 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什么是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</a:t>
            </a:r>
            <a:endParaRPr kumimoji="0" lang="zh-CN" altLang="en-US" i="0" u="none" strike="noStrike" kern="0" cap="none" spc="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任意多边形 6"/>
          <p:cNvSpPr/>
          <p:nvPr>
            <p:custDataLst>
              <p:tags r:id="rId1"/>
            </p:custDataLst>
          </p:nvPr>
        </p:nvSpPr>
        <p:spPr>
          <a:xfrm>
            <a:off x="1689604" y="2252269"/>
            <a:ext cx="5618083" cy="1108206"/>
          </a:xfrm>
          <a:custGeom>
            <a:avLst/>
            <a:gdLst>
              <a:gd name="connsiteX0" fmla="*/ 0 w 7013359"/>
              <a:gd name="connsiteY0" fmla="*/ 1420427 h 1420427"/>
              <a:gd name="connsiteX1" fmla="*/ 1420427 w 7013359"/>
              <a:gd name="connsiteY1" fmla="*/ 790113 h 1420427"/>
              <a:gd name="connsiteX2" fmla="*/ 7013359 w 7013359"/>
              <a:gd name="connsiteY2" fmla="*/ 0 h 1420427"/>
              <a:gd name="connsiteX3" fmla="*/ 7013359 w 7013359"/>
              <a:gd name="connsiteY3" fmla="*/ 0 h 1420427"/>
              <a:gd name="connsiteX0-1" fmla="*/ 0 w 7013359"/>
              <a:gd name="connsiteY0-2" fmla="*/ 1420427 h 1420427"/>
              <a:gd name="connsiteX1-3" fmla="*/ 1313894 w 7013359"/>
              <a:gd name="connsiteY1-4" fmla="*/ 878889 h 1420427"/>
              <a:gd name="connsiteX2-5" fmla="*/ 7013359 w 7013359"/>
              <a:gd name="connsiteY2-6" fmla="*/ 0 h 1420427"/>
              <a:gd name="connsiteX3-7" fmla="*/ 7013359 w 7013359"/>
              <a:gd name="connsiteY3-8" fmla="*/ 0 h 1420427"/>
              <a:gd name="connsiteX0-9" fmla="*/ 0 w 7013359"/>
              <a:gd name="connsiteY0-10" fmla="*/ 1420427 h 1420427"/>
              <a:gd name="connsiteX1-11" fmla="*/ 1313894 w 7013359"/>
              <a:gd name="connsiteY1-12" fmla="*/ 878889 h 1420427"/>
              <a:gd name="connsiteX2-13" fmla="*/ 7013359 w 7013359"/>
              <a:gd name="connsiteY2-14" fmla="*/ 0 h 1420427"/>
              <a:gd name="connsiteX3-15" fmla="*/ 7013359 w 7013359"/>
              <a:gd name="connsiteY3-16" fmla="*/ 0 h 1420427"/>
              <a:gd name="connsiteX0-17" fmla="*/ 0 w 7013359"/>
              <a:gd name="connsiteY0-18" fmla="*/ 1420427 h 1420427"/>
              <a:gd name="connsiteX1-19" fmla="*/ 1313894 w 7013359"/>
              <a:gd name="connsiteY1-20" fmla="*/ 878889 h 1420427"/>
              <a:gd name="connsiteX2-21" fmla="*/ 2840854 w 7013359"/>
              <a:gd name="connsiteY2-22" fmla="*/ 701336 h 1420427"/>
              <a:gd name="connsiteX3-23" fmla="*/ 7013359 w 7013359"/>
              <a:gd name="connsiteY3-24" fmla="*/ 0 h 1420427"/>
              <a:gd name="connsiteX4" fmla="*/ 7013359 w 7013359"/>
              <a:gd name="connsiteY4" fmla="*/ 0 h 1420427"/>
              <a:gd name="connsiteX0-25" fmla="*/ 0 w 7013359"/>
              <a:gd name="connsiteY0-26" fmla="*/ 1420427 h 1420427"/>
              <a:gd name="connsiteX1-27" fmla="*/ 1313894 w 7013359"/>
              <a:gd name="connsiteY1-28" fmla="*/ 878889 h 1420427"/>
              <a:gd name="connsiteX2-29" fmla="*/ 2974019 w 7013359"/>
              <a:gd name="connsiteY2-30" fmla="*/ 1127464 h 1420427"/>
              <a:gd name="connsiteX3-31" fmla="*/ 7013359 w 7013359"/>
              <a:gd name="connsiteY3-32" fmla="*/ 0 h 1420427"/>
              <a:gd name="connsiteX4-33" fmla="*/ 7013359 w 7013359"/>
              <a:gd name="connsiteY4-34" fmla="*/ 0 h 1420427"/>
              <a:gd name="connsiteX0-35" fmla="*/ 0 w 7013359"/>
              <a:gd name="connsiteY0-36" fmla="*/ 1420427 h 1420427"/>
              <a:gd name="connsiteX1-37" fmla="*/ 1313894 w 7013359"/>
              <a:gd name="connsiteY1-38" fmla="*/ 878889 h 1420427"/>
              <a:gd name="connsiteX2-39" fmla="*/ 2974019 w 7013359"/>
              <a:gd name="connsiteY2-40" fmla="*/ 1127464 h 1420427"/>
              <a:gd name="connsiteX3-41" fmla="*/ 4429957 w 7013359"/>
              <a:gd name="connsiteY3-42" fmla="*/ 763480 h 1420427"/>
              <a:gd name="connsiteX4-43" fmla="*/ 7013359 w 7013359"/>
              <a:gd name="connsiteY4-44" fmla="*/ 0 h 1420427"/>
              <a:gd name="connsiteX5" fmla="*/ 7013359 w 7013359"/>
              <a:gd name="connsiteY5" fmla="*/ 0 h 1420427"/>
              <a:gd name="connsiteX0-45" fmla="*/ 0 w 7013359"/>
              <a:gd name="connsiteY0-46" fmla="*/ 1420427 h 1420427"/>
              <a:gd name="connsiteX1-47" fmla="*/ 1313894 w 7013359"/>
              <a:gd name="connsiteY1-48" fmla="*/ 878889 h 1420427"/>
              <a:gd name="connsiteX2-49" fmla="*/ 2974019 w 7013359"/>
              <a:gd name="connsiteY2-50" fmla="*/ 1127464 h 1420427"/>
              <a:gd name="connsiteX3-51" fmla="*/ 4279036 w 7013359"/>
              <a:gd name="connsiteY3-52" fmla="*/ 541538 h 1420427"/>
              <a:gd name="connsiteX4-53" fmla="*/ 7013359 w 7013359"/>
              <a:gd name="connsiteY4-54" fmla="*/ 0 h 1420427"/>
              <a:gd name="connsiteX5-55" fmla="*/ 7013359 w 7013359"/>
              <a:gd name="connsiteY5-56" fmla="*/ 0 h 1420427"/>
              <a:gd name="connsiteX0-57" fmla="*/ 0 w 7013359"/>
              <a:gd name="connsiteY0-58" fmla="*/ 1420427 h 1420427"/>
              <a:gd name="connsiteX1-59" fmla="*/ 1313894 w 7013359"/>
              <a:gd name="connsiteY1-60" fmla="*/ 878889 h 1420427"/>
              <a:gd name="connsiteX2-61" fmla="*/ 2974019 w 7013359"/>
              <a:gd name="connsiteY2-62" fmla="*/ 1127464 h 1420427"/>
              <a:gd name="connsiteX3-63" fmla="*/ 4243525 w 7013359"/>
              <a:gd name="connsiteY3-64" fmla="*/ 523783 h 1420427"/>
              <a:gd name="connsiteX4-65" fmla="*/ 7013359 w 7013359"/>
              <a:gd name="connsiteY4-66" fmla="*/ 0 h 1420427"/>
              <a:gd name="connsiteX5-67" fmla="*/ 7013359 w 7013359"/>
              <a:gd name="connsiteY5-68" fmla="*/ 0 h 1420427"/>
              <a:gd name="connsiteX0-69" fmla="*/ 0 w 7013359"/>
              <a:gd name="connsiteY0-70" fmla="*/ 1420427 h 1420427"/>
              <a:gd name="connsiteX1-71" fmla="*/ 1313894 w 7013359"/>
              <a:gd name="connsiteY1-72" fmla="*/ 878889 h 1420427"/>
              <a:gd name="connsiteX2-73" fmla="*/ 2974019 w 7013359"/>
              <a:gd name="connsiteY2-74" fmla="*/ 1127464 h 1420427"/>
              <a:gd name="connsiteX3-75" fmla="*/ 4243525 w 7013359"/>
              <a:gd name="connsiteY3-76" fmla="*/ 523783 h 1420427"/>
              <a:gd name="connsiteX4-77" fmla="*/ 5690586 w 7013359"/>
              <a:gd name="connsiteY4-78" fmla="*/ 221942 h 1420427"/>
              <a:gd name="connsiteX5-79" fmla="*/ 7013359 w 7013359"/>
              <a:gd name="connsiteY5-80" fmla="*/ 0 h 1420427"/>
              <a:gd name="connsiteX6" fmla="*/ 7013359 w 7013359"/>
              <a:gd name="connsiteY6" fmla="*/ 0 h 1420427"/>
              <a:gd name="connsiteX0-81" fmla="*/ 0 w 7013359"/>
              <a:gd name="connsiteY0-82" fmla="*/ 1420427 h 1420427"/>
              <a:gd name="connsiteX1-83" fmla="*/ 1313894 w 7013359"/>
              <a:gd name="connsiteY1-84" fmla="*/ 878889 h 1420427"/>
              <a:gd name="connsiteX2-85" fmla="*/ 2974019 w 7013359"/>
              <a:gd name="connsiteY2-86" fmla="*/ 1127464 h 1420427"/>
              <a:gd name="connsiteX3-87" fmla="*/ 4243525 w 7013359"/>
              <a:gd name="connsiteY3-88" fmla="*/ 523783 h 1420427"/>
              <a:gd name="connsiteX4-89" fmla="*/ 5734974 w 7013359"/>
              <a:gd name="connsiteY4-90" fmla="*/ 346229 h 1420427"/>
              <a:gd name="connsiteX5-91" fmla="*/ 7013359 w 7013359"/>
              <a:gd name="connsiteY5-92" fmla="*/ 0 h 1420427"/>
              <a:gd name="connsiteX6-93" fmla="*/ 7013359 w 7013359"/>
              <a:gd name="connsiteY6-94" fmla="*/ 0 h 1420427"/>
              <a:gd name="connsiteX0-95" fmla="*/ 0 w 7013359"/>
              <a:gd name="connsiteY0-96" fmla="*/ 1420427 h 1420427"/>
              <a:gd name="connsiteX1-97" fmla="*/ 1313894 w 7013359"/>
              <a:gd name="connsiteY1-98" fmla="*/ 878889 h 1420427"/>
              <a:gd name="connsiteX2-99" fmla="*/ 2974019 w 7013359"/>
              <a:gd name="connsiteY2-100" fmla="*/ 1127464 h 1420427"/>
              <a:gd name="connsiteX3-101" fmla="*/ 4243525 w 7013359"/>
              <a:gd name="connsiteY3-102" fmla="*/ 523783 h 1420427"/>
              <a:gd name="connsiteX4-103" fmla="*/ 5734974 w 7013359"/>
              <a:gd name="connsiteY4-104" fmla="*/ 346229 h 1420427"/>
              <a:gd name="connsiteX5-105" fmla="*/ 7013359 w 7013359"/>
              <a:gd name="connsiteY5-106" fmla="*/ 0 h 1420427"/>
              <a:gd name="connsiteX6-107" fmla="*/ 7013359 w 7013359"/>
              <a:gd name="connsiteY6-108" fmla="*/ 0 h 1420427"/>
              <a:gd name="connsiteX0-109" fmla="*/ 0 w 7013359"/>
              <a:gd name="connsiteY0-110" fmla="*/ 1420427 h 1420427"/>
              <a:gd name="connsiteX1-111" fmla="*/ 1340527 w 7013359"/>
              <a:gd name="connsiteY1-112" fmla="*/ 887766 h 1420427"/>
              <a:gd name="connsiteX2-113" fmla="*/ 2974019 w 7013359"/>
              <a:gd name="connsiteY2-114" fmla="*/ 1127464 h 1420427"/>
              <a:gd name="connsiteX3-115" fmla="*/ 4243525 w 7013359"/>
              <a:gd name="connsiteY3-116" fmla="*/ 523783 h 1420427"/>
              <a:gd name="connsiteX4-117" fmla="*/ 5734974 w 7013359"/>
              <a:gd name="connsiteY4-118" fmla="*/ 346229 h 1420427"/>
              <a:gd name="connsiteX5-119" fmla="*/ 7013359 w 7013359"/>
              <a:gd name="connsiteY5-120" fmla="*/ 0 h 1420427"/>
              <a:gd name="connsiteX6-121" fmla="*/ 7013359 w 7013359"/>
              <a:gd name="connsiteY6-122" fmla="*/ 0 h 1420427"/>
              <a:gd name="connsiteX0-123" fmla="*/ 0 w 7013359"/>
              <a:gd name="connsiteY0-124" fmla="*/ 1420427 h 1420427"/>
              <a:gd name="connsiteX1-125" fmla="*/ 1340527 w 7013359"/>
              <a:gd name="connsiteY1-126" fmla="*/ 887766 h 1420427"/>
              <a:gd name="connsiteX2-127" fmla="*/ 2807332 w 7013359"/>
              <a:gd name="connsiteY2-128" fmla="*/ 1132227 h 1420427"/>
              <a:gd name="connsiteX3-129" fmla="*/ 4243525 w 7013359"/>
              <a:gd name="connsiteY3-130" fmla="*/ 523783 h 1420427"/>
              <a:gd name="connsiteX4-131" fmla="*/ 5734974 w 7013359"/>
              <a:gd name="connsiteY4-132" fmla="*/ 346229 h 1420427"/>
              <a:gd name="connsiteX5-133" fmla="*/ 7013359 w 7013359"/>
              <a:gd name="connsiteY5-134" fmla="*/ 0 h 1420427"/>
              <a:gd name="connsiteX6-135" fmla="*/ 7013359 w 7013359"/>
              <a:gd name="connsiteY6-136" fmla="*/ 0 h 1420427"/>
              <a:gd name="connsiteX0-137" fmla="*/ 0 w 7013359"/>
              <a:gd name="connsiteY0-138" fmla="*/ 1420427 h 1420427"/>
              <a:gd name="connsiteX1-139" fmla="*/ 1340527 w 7013359"/>
              <a:gd name="connsiteY1-140" fmla="*/ 887766 h 1420427"/>
              <a:gd name="connsiteX2-141" fmla="*/ 2807332 w 7013359"/>
              <a:gd name="connsiteY2-142" fmla="*/ 1132227 h 1420427"/>
              <a:gd name="connsiteX3-143" fmla="*/ 4281625 w 7013359"/>
              <a:gd name="connsiteY3-144" fmla="*/ 533308 h 1420427"/>
              <a:gd name="connsiteX4-145" fmla="*/ 5734974 w 7013359"/>
              <a:gd name="connsiteY4-146" fmla="*/ 346229 h 1420427"/>
              <a:gd name="connsiteX5-147" fmla="*/ 7013359 w 7013359"/>
              <a:gd name="connsiteY5-148" fmla="*/ 0 h 1420427"/>
              <a:gd name="connsiteX6-149" fmla="*/ 7013359 w 7013359"/>
              <a:gd name="connsiteY6-150" fmla="*/ 0 h 1420427"/>
              <a:gd name="connsiteX0-151" fmla="*/ 0 w 7013359"/>
              <a:gd name="connsiteY0-152" fmla="*/ 1420427 h 1420427"/>
              <a:gd name="connsiteX1-153" fmla="*/ 1340527 w 7013359"/>
              <a:gd name="connsiteY1-154" fmla="*/ 887766 h 1420427"/>
              <a:gd name="connsiteX2-155" fmla="*/ 2807332 w 7013359"/>
              <a:gd name="connsiteY2-156" fmla="*/ 1132227 h 1420427"/>
              <a:gd name="connsiteX3-157" fmla="*/ 4281625 w 7013359"/>
              <a:gd name="connsiteY3-158" fmla="*/ 533308 h 1420427"/>
              <a:gd name="connsiteX4-159" fmla="*/ 5734974 w 7013359"/>
              <a:gd name="connsiteY4-160" fmla="*/ 346229 h 1420427"/>
              <a:gd name="connsiteX5-161" fmla="*/ 7013359 w 7013359"/>
              <a:gd name="connsiteY5-162" fmla="*/ 0 h 1420427"/>
              <a:gd name="connsiteX6-163" fmla="*/ 7013359 w 7013359"/>
              <a:gd name="connsiteY6-164" fmla="*/ 0 h 1420427"/>
              <a:gd name="connsiteX0-165" fmla="*/ 0 w 7013359"/>
              <a:gd name="connsiteY0-166" fmla="*/ 1420427 h 1420427"/>
              <a:gd name="connsiteX1-167" fmla="*/ 1340527 w 7013359"/>
              <a:gd name="connsiteY1-168" fmla="*/ 887766 h 1420427"/>
              <a:gd name="connsiteX2-169" fmla="*/ 2807332 w 7013359"/>
              <a:gd name="connsiteY2-170" fmla="*/ 1132227 h 1420427"/>
              <a:gd name="connsiteX3-171" fmla="*/ 4262575 w 7013359"/>
              <a:gd name="connsiteY3-172" fmla="*/ 538070 h 1420427"/>
              <a:gd name="connsiteX4-173" fmla="*/ 5734974 w 7013359"/>
              <a:gd name="connsiteY4-174" fmla="*/ 346229 h 1420427"/>
              <a:gd name="connsiteX5-175" fmla="*/ 7013359 w 7013359"/>
              <a:gd name="connsiteY5-176" fmla="*/ 0 h 1420427"/>
              <a:gd name="connsiteX6-177" fmla="*/ 7013359 w 7013359"/>
              <a:gd name="connsiteY6-178" fmla="*/ 0 h 1420427"/>
              <a:gd name="connsiteX0-179" fmla="*/ 0 w 7013359"/>
              <a:gd name="connsiteY0-180" fmla="*/ 1420427 h 1420427"/>
              <a:gd name="connsiteX1-181" fmla="*/ 1340527 w 7013359"/>
              <a:gd name="connsiteY1-182" fmla="*/ 887766 h 1420427"/>
              <a:gd name="connsiteX2-183" fmla="*/ 2807332 w 7013359"/>
              <a:gd name="connsiteY2-184" fmla="*/ 1132227 h 1420427"/>
              <a:gd name="connsiteX3-185" fmla="*/ 4276863 w 7013359"/>
              <a:gd name="connsiteY3-186" fmla="*/ 530927 h 1420427"/>
              <a:gd name="connsiteX4-187" fmla="*/ 5734974 w 7013359"/>
              <a:gd name="connsiteY4-188" fmla="*/ 346229 h 1420427"/>
              <a:gd name="connsiteX5-189" fmla="*/ 7013359 w 7013359"/>
              <a:gd name="connsiteY5-190" fmla="*/ 0 h 1420427"/>
              <a:gd name="connsiteX6-191" fmla="*/ 7013359 w 7013359"/>
              <a:gd name="connsiteY6-192" fmla="*/ 0 h 1420427"/>
              <a:gd name="connsiteX0-193" fmla="*/ 0 w 7013359"/>
              <a:gd name="connsiteY0-194" fmla="*/ 1420427 h 1420427"/>
              <a:gd name="connsiteX1-195" fmla="*/ 1340527 w 7013359"/>
              <a:gd name="connsiteY1-196" fmla="*/ 887766 h 1420427"/>
              <a:gd name="connsiteX2-197" fmla="*/ 2807332 w 7013359"/>
              <a:gd name="connsiteY2-198" fmla="*/ 1132227 h 1420427"/>
              <a:gd name="connsiteX3-199" fmla="*/ 4276863 w 7013359"/>
              <a:gd name="connsiteY3-200" fmla="*/ 530927 h 1420427"/>
              <a:gd name="connsiteX4-201" fmla="*/ 5734974 w 7013359"/>
              <a:gd name="connsiteY4-202" fmla="*/ 346229 h 1420427"/>
              <a:gd name="connsiteX5-203" fmla="*/ 7013359 w 7013359"/>
              <a:gd name="connsiteY5-204" fmla="*/ 0 h 1420427"/>
              <a:gd name="connsiteX6-205" fmla="*/ 7013359 w 7013359"/>
              <a:gd name="connsiteY6-206" fmla="*/ 0 h 1420427"/>
              <a:gd name="connsiteX0-207" fmla="*/ 0 w 7013359"/>
              <a:gd name="connsiteY0-208" fmla="*/ 1420427 h 1420427"/>
              <a:gd name="connsiteX1-209" fmla="*/ 1340527 w 7013359"/>
              <a:gd name="connsiteY1-210" fmla="*/ 887766 h 1420427"/>
              <a:gd name="connsiteX2-211" fmla="*/ 2807332 w 7013359"/>
              <a:gd name="connsiteY2-212" fmla="*/ 1132227 h 1420427"/>
              <a:gd name="connsiteX3-213" fmla="*/ 4276863 w 7013359"/>
              <a:gd name="connsiteY3-214" fmla="*/ 530927 h 1420427"/>
              <a:gd name="connsiteX4-215" fmla="*/ 5734974 w 7013359"/>
              <a:gd name="connsiteY4-216" fmla="*/ 346229 h 1420427"/>
              <a:gd name="connsiteX5-217" fmla="*/ 7013359 w 7013359"/>
              <a:gd name="connsiteY5-218" fmla="*/ 0 h 1420427"/>
              <a:gd name="connsiteX6-219" fmla="*/ 7013359 w 7013359"/>
              <a:gd name="connsiteY6-220" fmla="*/ 0 h 1420427"/>
              <a:gd name="connsiteX0-221" fmla="*/ 0 w 7013359"/>
              <a:gd name="connsiteY0-222" fmla="*/ 1420427 h 1420427"/>
              <a:gd name="connsiteX1-223" fmla="*/ 1340527 w 7013359"/>
              <a:gd name="connsiteY1-224" fmla="*/ 887766 h 1420427"/>
              <a:gd name="connsiteX2-225" fmla="*/ 2807332 w 7013359"/>
              <a:gd name="connsiteY2-226" fmla="*/ 1132227 h 1420427"/>
              <a:gd name="connsiteX3-227" fmla="*/ 4276863 w 7013359"/>
              <a:gd name="connsiteY3-228" fmla="*/ 530927 h 1420427"/>
              <a:gd name="connsiteX4-229" fmla="*/ 5734974 w 7013359"/>
              <a:gd name="connsiteY4-230" fmla="*/ 346229 h 1420427"/>
              <a:gd name="connsiteX5-231" fmla="*/ 7013359 w 7013359"/>
              <a:gd name="connsiteY5-232" fmla="*/ 0 h 1420427"/>
              <a:gd name="connsiteX6-233" fmla="*/ 7013359 w 7013359"/>
              <a:gd name="connsiteY6-234" fmla="*/ 0 h 1420427"/>
              <a:gd name="connsiteX0-235" fmla="*/ 0 w 7013359"/>
              <a:gd name="connsiteY0-236" fmla="*/ 1420427 h 1420427"/>
              <a:gd name="connsiteX1-237" fmla="*/ 1340527 w 7013359"/>
              <a:gd name="connsiteY1-238" fmla="*/ 887766 h 1420427"/>
              <a:gd name="connsiteX2-239" fmla="*/ 2807332 w 7013359"/>
              <a:gd name="connsiteY2-240" fmla="*/ 1132227 h 1420427"/>
              <a:gd name="connsiteX3-241" fmla="*/ 4276863 w 7013359"/>
              <a:gd name="connsiteY3-242" fmla="*/ 530927 h 1420427"/>
              <a:gd name="connsiteX4-243" fmla="*/ 5734974 w 7013359"/>
              <a:gd name="connsiteY4-244" fmla="*/ 346229 h 1420427"/>
              <a:gd name="connsiteX5-245" fmla="*/ 7013359 w 7013359"/>
              <a:gd name="connsiteY5-246" fmla="*/ 0 h 1420427"/>
              <a:gd name="connsiteX6-247" fmla="*/ 7013359 w 7013359"/>
              <a:gd name="connsiteY6-248" fmla="*/ 0 h 1420427"/>
              <a:gd name="connsiteX0-249" fmla="*/ 0 w 7013359"/>
              <a:gd name="connsiteY0-250" fmla="*/ 1420427 h 1420427"/>
              <a:gd name="connsiteX1-251" fmla="*/ 1340527 w 7013359"/>
              <a:gd name="connsiteY1-252" fmla="*/ 887766 h 1420427"/>
              <a:gd name="connsiteX2-253" fmla="*/ 2807332 w 7013359"/>
              <a:gd name="connsiteY2-254" fmla="*/ 1132227 h 1420427"/>
              <a:gd name="connsiteX3-255" fmla="*/ 4276863 w 7013359"/>
              <a:gd name="connsiteY3-256" fmla="*/ 530927 h 1420427"/>
              <a:gd name="connsiteX4-257" fmla="*/ 5734974 w 7013359"/>
              <a:gd name="connsiteY4-258" fmla="*/ 346229 h 1420427"/>
              <a:gd name="connsiteX5-259" fmla="*/ 7013359 w 7013359"/>
              <a:gd name="connsiteY5-260" fmla="*/ 0 h 1420427"/>
              <a:gd name="connsiteX6-261" fmla="*/ 7013359 w 7013359"/>
              <a:gd name="connsiteY6-262" fmla="*/ 0 h 1420427"/>
              <a:gd name="connsiteX0-263" fmla="*/ 0 w 7013359"/>
              <a:gd name="connsiteY0-264" fmla="*/ 1420427 h 1420427"/>
              <a:gd name="connsiteX1-265" fmla="*/ 1340527 w 7013359"/>
              <a:gd name="connsiteY1-266" fmla="*/ 887766 h 1420427"/>
              <a:gd name="connsiteX2-267" fmla="*/ 2807332 w 7013359"/>
              <a:gd name="connsiteY2-268" fmla="*/ 1132227 h 1420427"/>
              <a:gd name="connsiteX3-269" fmla="*/ 4276863 w 7013359"/>
              <a:gd name="connsiteY3-270" fmla="*/ 530927 h 1420427"/>
              <a:gd name="connsiteX4-271" fmla="*/ 5734974 w 7013359"/>
              <a:gd name="connsiteY4-272" fmla="*/ 346229 h 1420427"/>
              <a:gd name="connsiteX5-273" fmla="*/ 7013359 w 7013359"/>
              <a:gd name="connsiteY5-274" fmla="*/ 0 h 1420427"/>
              <a:gd name="connsiteX6-275" fmla="*/ 7013359 w 7013359"/>
              <a:gd name="connsiteY6-276" fmla="*/ 0 h 1420427"/>
              <a:gd name="connsiteX0-277" fmla="*/ 0 w 7013359"/>
              <a:gd name="connsiteY0-278" fmla="*/ 1420427 h 1420427"/>
              <a:gd name="connsiteX1-279" fmla="*/ 1340527 w 7013359"/>
              <a:gd name="connsiteY1-280" fmla="*/ 887766 h 1420427"/>
              <a:gd name="connsiteX2-281" fmla="*/ 2807332 w 7013359"/>
              <a:gd name="connsiteY2-282" fmla="*/ 1132227 h 1420427"/>
              <a:gd name="connsiteX3-283" fmla="*/ 4276863 w 7013359"/>
              <a:gd name="connsiteY3-284" fmla="*/ 530927 h 1420427"/>
              <a:gd name="connsiteX4-285" fmla="*/ 5734974 w 7013359"/>
              <a:gd name="connsiteY4-286" fmla="*/ 585926 h 1420427"/>
              <a:gd name="connsiteX5-287" fmla="*/ 7013359 w 7013359"/>
              <a:gd name="connsiteY5-288" fmla="*/ 0 h 1420427"/>
              <a:gd name="connsiteX6-289" fmla="*/ 7013359 w 7013359"/>
              <a:gd name="connsiteY6-290" fmla="*/ 0 h 1420427"/>
              <a:gd name="connsiteX0-291" fmla="*/ 0 w 7013359"/>
              <a:gd name="connsiteY0-292" fmla="*/ 1420427 h 1420427"/>
              <a:gd name="connsiteX1-293" fmla="*/ 1340527 w 7013359"/>
              <a:gd name="connsiteY1-294" fmla="*/ 887766 h 1420427"/>
              <a:gd name="connsiteX2-295" fmla="*/ 2807332 w 7013359"/>
              <a:gd name="connsiteY2-296" fmla="*/ 1132227 h 1420427"/>
              <a:gd name="connsiteX3-297" fmla="*/ 4276863 w 7013359"/>
              <a:gd name="connsiteY3-298" fmla="*/ 530927 h 1420427"/>
              <a:gd name="connsiteX4-299" fmla="*/ 5734974 w 7013359"/>
              <a:gd name="connsiteY4-300" fmla="*/ 585926 h 1420427"/>
              <a:gd name="connsiteX5-301" fmla="*/ 7013359 w 7013359"/>
              <a:gd name="connsiteY5-302" fmla="*/ 0 h 1420427"/>
              <a:gd name="connsiteX6-303" fmla="*/ 7013359 w 7013359"/>
              <a:gd name="connsiteY6-304" fmla="*/ 0 h 1420427"/>
              <a:gd name="connsiteX0-305" fmla="*/ 0 w 7013359"/>
              <a:gd name="connsiteY0-306" fmla="*/ 1420427 h 1420427"/>
              <a:gd name="connsiteX1-307" fmla="*/ 1340527 w 7013359"/>
              <a:gd name="connsiteY1-308" fmla="*/ 887766 h 1420427"/>
              <a:gd name="connsiteX2-309" fmla="*/ 2807332 w 7013359"/>
              <a:gd name="connsiteY2-310" fmla="*/ 1132227 h 1420427"/>
              <a:gd name="connsiteX3-311" fmla="*/ 4276863 w 7013359"/>
              <a:gd name="connsiteY3-312" fmla="*/ 530927 h 1420427"/>
              <a:gd name="connsiteX4-313" fmla="*/ 5734974 w 7013359"/>
              <a:gd name="connsiteY4-314" fmla="*/ 585926 h 1420427"/>
              <a:gd name="connsiteX5-315" fmla="*/ 7013359 w 7013359"/>
              <a:gd name="connsiteY5-316" fmla="*/ 0 h 1420427"/>
              <a:gd name="connsiteX6-317" fmla="*/ 7013359 w 7013359"/>
              <a:gd name="connsiteY6-318" fmla="*/ 0 h 1420427"/>
              <a:gd name="connsiteX0-319" fmla="*/ 0 w 7013359"/>
              <a:gd name="connsiteY0-320" fmla="*/ 1420427 h 1420427"/>
              <a:gd name="connsiteX1-321" fmla="*/ 1340527 w 7013359"/>
              <a:gd name="connsiteY1-322" fmla="*/ 887766 h 1420427"/>
              <a:gd name="connsiteX2-323" fmla="*/ 2807332 w 7013359"/>
              <a:gd name="connsiteY2-324" fmla="*/ 1132227 h 1420427"/>
              <a:gd name="connsiteX3-325" fmla="*/ 4276863 w 7013359"/>
              <a:gd name="connsiteY3-326" fmla="*/ 530927 h 1420427"/>
              <a:gd name="connsiteX4-327" fmla="*/ 5734974 w 7013359"/>
              <a:gd name="connsiteY4-328" fmla="*/ 585926 h 1420427"/>
              <a:gd name="connsiteX5-329" fmla="*/ 7013359 w 7013359"/>
              <a:gd name="connsiteY5-330" fmla="*/ 0 h 1420427"/>
              <a:gd name="connsiteX6-331" fmla="*/ 7013359 w 7013359"/>
              <a:gd name="connsiteY6-332" fmla="*/ 0 h 1420427"/>
              <a:gd name="connsiteX0-333" fmla="*/ 0 w 7013359"/>
              <a:gd name="connsiteY0-334" fmla="*/ 1420427 h 1420427"/>
              <a:gd name="connsiteX1-335" fmla="*/ 1340527 w 7013359"/>
              <a:gd name="connsiteY1-336" fmla="*/ 887766 h 1420427"/>
              <a:gd name="connsiteX2-337" fmla="*/ 2807332 w 7013359"/>
              <a:gd name="connsiteY2-338" fmla="*/ 1132227 h 1420427"/>
              <a:gd name="connsiteX3-339" fmla="*/ 4276863 w 7013359"/>
              <a:gd name="connsiteY3-340" fmla="*/ 530927 h 1420427"/>
              <a:gd name="connsiteX4-341" fmla="*/ 5734974 w 7013359"/>
              <a:gd name="connsiteY4-342" fmla="*/ 585926 h 1420427"/>
              <a:gd name="connsiteX5-343" fmla="*/ 7013359 w 7013359"/>
              <a:gd name="connsiteY5-344" fmla="*/ 0 h 1420427"/>
              <a:gd name="connsiteX6-345" fmla="*/ 7013359 w 7013359"/>
              <a:gd name="connsiteY6-346" fmla="*/ 0 h 1420427"/>
              <a:gd name="connsiteX0-347" fmla="*/ 0 w 7013359"/>
              <a:gd name="connsiteY0-348" fmla="*/ 1420427 h 1420427"/>
              <a:gd name="connsiteX1-349" fmla="*/ 1340527 w 7013359"/>
              <a:gd name="connsiteY1-350" fmla="*/ 887766 h 1420427"/>
              <a:gd name="connsiteX2-351" fmla="*/ 2807332 w 7013359"/>
              <a:gd name="connsiteY2-352" fmla="*/ 1132227 h 1420427"/>
              <a:gd name="connsiteX3-353" fmla="*/ 4276863 w 7013359"/>
              <a:gd name="connsiteY3-354" fmla="*/ 530927 h 1420427"/>
              <a:gd name="connsiteX4-355" fmla="*/ 5734974 w 7013359"/>
              <a:gd name="connsiteY4-356" fmla="*/ 585926 h 1420427"/>
              <a:gd name="connsiteX5-357" fmla="*/ 7013359 w 7013359"/>
              <a:gd name="connsiteY5-358" fmla="*/ 0 h 1420427"/>
              <a:gd name="connsiteX6-359" fmla="*/ 7013359 w 7013359"/>
              <a:gd name="connsiteY6-360" fmla="*/ 0 h 1420427"/>
              <a:gd name="connsiteX0-361" fmla="*/ 0 w 7013359"/>
              <a:gd name="connsiteY0-362" fmla="*/ 1420427 h 1420427"/>
              <a:gd name="connsiteX1-363" fmla="*/ 1340527 w 7013359"/>
              <a:gd name="connsiteY1-364" fmla="*/ 887766 h 1420427"/>
              <a:gd name="connsiteX2-365" fmla="*/ 2807332 w 7013359"/>
              <a:gd name="connsiteY2-366" fmla="*/ 1132227 h 1420427"/>
              <a:gd name="connsiteX3-367" fmla="*/ 4276863 w 7013359"/>
              <a:gd name="connsiteY3-368" fmla="*/ 530927 h 1420427"/>
              <a:gd name="connsiteX4-369" fmla="*/ 5734974 w 7013359"/>
              <a:gd name="connsiteY4-370" fmla="*/ 585926 h 1420427"/>
              <a:gd name="connsiteX5-371" fmla="*/ 7013359 w 7013359"/>
              <a:gd name="connsiteY5-372" fmla="*/ 0 h 1420427"/>
              <a:gd name="connsiteX6-373" fmla="*/ 7013359 w 7013359"/>
              <a:gd name="connsiteY6-374" fmla="*/ 0 h 1420427"/>
              <a:gd name="connsiteX0-375" fmla="*/ 0 w 7013359"/>
              <a:gd name="connsiteY0-376" fmla="*/ 1420427 h 1420427"/>
              <a:gd name="connsiteX1-377" fmla="*/ 1340527 w 7013359"/>
              <a:gd name="connsiteY1-378" fmla="*/ 887766 h 1420427"/>
              <a:gd name="connsiteX2-379" fmla="*/ 2807332 w 7013359"/>
              <a:gd name="connsiteY2-380" fmla="*/ 1132227 h 1420427"/>
              <a:gd name="connsiteX3-381" fmla="*/ 4276863 w 7013359"/>
              <a:gd name="connsiteY3-382" fmla="*/ 530927 h 1420427"/>
              <a:gd name="connsiteX4-383" fmla="*/ 5734974 w 7013359"/>
              <a:gd name="connsiteY4-384" fmla="*/ 585926 h 1420427"/>
              <a:gd name="connsiteX5-385" fmla="*/ 7013359 w 7013359"/>
              <a:gd name="connsiteY5-386" fmla="*/ 0 h 1420427"/>
              <a:gd name="connsiteX0-387" fmla="*/ 0 w 5734974"/>
              <a:gd name="connsiteY0-388" fmla="*/ 903680 h 903680"/>
              <a:gd name="connsiteX1-389" fmla="*/ 1340527 w 5734974"/>
              <a:gd name="connsiteY1-390" fmla="*/ 371019 h 903680"/>
              <a:gd name="connsiteX2-391" fmla="*/ 2807332 w 5734974"/>
              <a:gd name="connsiteY2-392" fmla="*/ 615480 h 903680"/>
              <a:gd name="connsiteX3-393" fmla="*/ 4276863 w 5734974"/>
              <a:gd name="connsiteY3-394" fmla="*/ 14180 h 903680"/>
              <a:gd name="connsiteX4-395" fmla="*/ 5734974 w 5734974"/>
              <a:gd name="connsiteY4-396" fmla="*/ 69179 h 903680"/>
              <a:gd name="connsiteX0-397" fmla="*/ 0 w 5734974"/>
              <a:gd name="connsiteY0-398" fmla="*/ 1129776 h 1129776"/>
              <a:gd name="connsiteX1-399" fmla="*/ 1340527 w 5734974"/>
              <a:gd name="connsiteY1-400" fmla="*/ 597115 h 1129776"/>
              <a:gd name="connsiteX2-401" fmla="*/ 2807332 w 5734974"/>
              <a:gd name="connsiteY2-402" fmla="*/ 841576 h 1129776"/>
              <a:gd name="connsiteX3-403" fmla="*/ 4276863 w 5734974"/>
              <a:gd name="connsiteY3-404" fmla="*/ 240276 h 1129776"/>
              <a:gd name="connsiteX4-405" fmla="*/ 5734974 w 5734974"/>
              <a:gd name="connsiteY4-406" fmla="*/ 0 h 1129776"/>
              <a:gd name="connsiteX0-407" fmla="*/ 0 w 5734974"/>
              <a:gd name="connsiteY0-408" fmla="*/ 1131360 h 1131360"/>
              <a:gd name="connsiteX1-409" fmla="*/ 1340527 w 5734974"/>
              <a:gd name="connsiteY1-410" fmla="*/ 598699 h 1131360"/>
              <a:gd name="connsiteX2-411" fmla="*/ 2807332 w 5734974"/>
              <a:gd name="connsiteY2-412" fmla="*/ 843160 h 1131360"/>
              <a:gd name="connsiteX3-413" fmla="*/ 4276863 w 5734974"/>
              <a:gd name="connsiteY3-414" fmla="*/ 241860 h 1131360"/>
              <a:gd name="connsiteX4-415" fmla="*/ 5734974 w 5734974"/>
              <a:gd name="connsiteY4-416" fmla="*/ 1584 h 1131360"/>
            </a:gdLst>
            <a:ahLst/>
            <a:cxnLst>
              <a:cxn ang="0">
                <a:pos x="connsiteX0-407" y="connsiteY0-408"/>
              </a:cxn>
              <a:cxn ang="0">
                <a:pos x="connsiteX1-409" y="connsiteY1-410"/>
              </a:cxn>
              <a:cxn ang="0">
                <a:pos x="connsiteX2-411" y="connsiteY2-412"/>
              </a:cxn>
              <a:cxn ang="0">
                <a:pos x="connsiteX3-413" y="connsiteY3-414"/>
              </a:cxn>
              <a:cxn ang="0">
                <a:pos x="connsiteX4-415" y="connsiteY4-416"/>
              </a:cxn>
            </a:cxnLst>
            <a:rect l="l" t="t" r="r" b="b"/>
            <a:pathLst>
              <a:path w="5734974" h="1131360">
                <a:moveTo>
                  <a:pt x="0" y="1131360"/>
                </a:moveTo>
                <a:cubicBezTo>
                  <a:pt x="125767" y="934572"/>
                  <a:pt x="858124" y="603189"/>
                  <a:pt x="1340527" y="598699"/>
                </a:cubicBezTo>
                <a:cubicBezTo>
                  <a:pt x="1822930" y="594209"/>
                  <a:pt x="2287988" y="862395"/>
                  <a:pt x="2807332" y="843160"/>
                </a:cubicBezTo>
                <a:cubicBezTo>
                  <a:pt x="3326676" y="823925"/>
                  <a:pt x="3788923" y="382123"/>
                  <a:pt x="4276863" y="241860"/>
                </a:cubicBezTo>
                <a:cubicBezTo>
                  <a:pt x="4764803" y="101597"/>
                  <a:pt x="5079924" y="-15048"/>
                  <a:pt x="5734974" y="1584"/>
                </a:cubicBez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zh-CN" altLang="en-US" sz="1350"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1400655" y="3321381"/>
            <a:ext cx="348439" cy="3484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50000"/>
          </a:bodyPr>
          <a:p>
            <a:pPr algn="ctr">
              <a:lnSpc>
                <a:spcPct val="140000"/>
              </a:lnSpc>
            </a:pPr>
            <a:endParaRPr lang="zh-CN" altLang="en-US" sz="135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3"/>
            </p:custDataLst>
          </p:nvPr>
        </p:nvSpPr>
        <p:spPr>
          <a:xfrm>
            <a:off x="1514535" y="3434694"/>
            <a:ext cx="121246" cy="121246"/>
          </a:xfrm>
          <a:prstGeom prst="ellipse">
            <a:avLst/>
          </a:prstGeom>
          <a:solidFill>
            <a:srgbClr val="A100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>
              <a:lnSpc>
                <a:spcPct val="140000"/>
              </a:lnSpc>
            </a:pPr>
            <a:endParaRPr lang="zh-CN" altLang="en-US" sz="135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12" name="椭圆 11"/>
          <p:cNvSpPr/>
          <p:nvPr>
            <p:custDataLst>
              <p:tags r:id="rId4"/>
            </p:custDataLst>
          </p:nvPr>
        </p:nvSpPr>
        <p:spPr>
          <a:xfrm>
            <a:off x="2813108" y="2670395"/>
            <a:ext cx="348439" cy="3484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50000"/>
          </a:bodyPr>
          <a:p>
            <a:pPr algn="ctr">
              <a:lnSpc>
                <a:spcPct val="140000"/>
              </a:lnSpc>
            </a:pPr>
            <a:endParaRPr lang="zh-CN" altLang="en-US" sz="135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21" name="椭圆 20"/>
          <p:cNvSpPr/>
          <p:nvPr>
            <p:custDataLst>
              <p:tags r:id="rId5"/>
            </p:custDataLst>
          </p:nvPr>
        </p:nvSpPr>
        <p:spPr>
          <a:xfrm>
            <a:off x="2926422" y="2784275"/>
            <a:ext cx="121246" cy="121246"/>
          </a:xfrm>
          <a:prstGeom prst="ellipse">
            <a:avLst/>
          </a:prstGeom>
          <a:solidFill>
            <a:srgbClr val="B433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>
              <a:lnSpc>
                <a:spcPct val="140000"/>
              </a:lnSpc>
            </a:pPr>
            <a:endParaRPr lang="zh-CN" altLang="en-US" sz="135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22" name="椭圆 21"/>
          <p:cNvSpPr/>
          <p:nvPr>
            <p:custDataLst>
              <p:tags r:id="rId6"/>
            </p:custDataLst>
          </p:nvPr>
        </p:nvSpPr>
        <p:spPr>
          <a:xfrm>
            <a:off x="4225561" y="2906653"/>
            <a:ext cx="348439" cy="3484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50000"/>
          </a:bodyPr>
          <a:p>
            <a:pPr algn="ctr">
              <a:lnSpc>
                <a:spcPct val="140000"/>
              </a:lnSpc>
            </a:pPr>
            <a:endParaRPr lang="zh-CN" altLang="en-US" sz="135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23" name="椭圆 22"/>
          <p:cNvSpPr/>
          <p:nvPr>
            <p:custDataLst>
              <p:tags r:id="rId7"/>
            </p:custDataLst>
          </p:nvPr>
        </p:nvSpPr>
        <p:spPr>
          <a:xfrm>
            <a:off x="4338874" y="3019967"/>
            <a:ext cx="121246" cy="121246"/>
          </a:xfrm>
          <a:prstGeom prst="ellipse">
            <a:avLst/>
          </a:prstGeom>
          <a:solidFill>
            <a:srgbClr val="C766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>
              <a:lnSpc>
                <a:spcPct val="140000"/>
              </a:lnSpc>
            </a:pPr>
            <a:endParaRPr lang="zh-CN" altLang="en-US" sz="135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25" name="椭圆 24"/>
          <p:cNvSpPr/>
          <p:nvPr>
            <p:custDataLst>
              <p:tags r:id="rId8"/>
            </p:custDataLst>
          </p:nvPr>
        </p:nvSpPr>
        <p:spPr>
          <a:xfrm>
            <a:off x="5637447" y="2327622"/>
            <a:ext cx="348439" cy="3484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50000"/>
          </a:bodyPr>
          <a:p>
            <a:pPr algn="ctr">
              <a:lnSpc>
                <a:spcPct val="140000"/>
              </a:lnSpc>
            </a:pPr>
            <a:endParaRPr lang="zh-CN" altLang="en-US" sz="135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28" name="椭圆 27"/>
          <p:cNvSpPr/>
          <p:nvPr>
            <p:custDataLst>
              <p:tags r:id="rId9"/>
            </p:custDataLst>
          </p:nvPr>
        </p:nvSpPr>
        <p:spPr>
          <a:xfrm>
            <a:off x="5751328" y="2440935"/>
            <a:ext cx="121246" cy="121246"/>
          </a:xfrm>
          <a:prstGeom prst="ellipse">
            <a:avLst/>
          </a:prstGeom>
          <a:solidFill>
            <a:srgbClr val="DA99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>
              <a:lnSpc>
                <a:spcPct val="140000"/>
              </a:lnSpc>
            </a:pPr>
            <a:endParaRPr lang="zh-CN" altLang="en-US" sz="135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30" name="椭圆 29"/>
          <p:cNvSpPr/>
          <p:nvPr>
            <p:custDataLst>
              <p:tags r:id="rId10"/>
            </p:custDataLst>
          </p:nvPr>
        </p:nvSpPr>
        <p:spPr>
          <a:xfrm>
            <a:off x="7049900" y="2090230"/>
            <a:ext cx="348439" cy="3484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50000"/>
          </a:bodyPr>
          <a:p>
            <a:pPr algn="ctr">
              <a:lnSpc>
                <a:spcPct val="140000"/>
              </a:lnSpc>
            </a:pPr>
            <a:endParaRPr lang="zh-CN" altLang="en-US" sz="135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32" name="椭圆 31"/>
          <p:cNvSpPr/>
          <p:nvPr>
            <p:custDataLst>
              <p:tags r:id="rId11"/>
            </p:custDataLst>
          </p:nvPr>
        </p:nvSpPr>
        <p:spPr>
          <a:xfrm>
            <a:off x="7163214" y="2204110"/>
            <a:ext cx="121246" cy="121246"/>
          </a:xfrm>
          <a:prstGeom prst="ellipse">
            <a:avLst/>
          </a:prstGeom>
          <a:solidFill>
            <a:srgbClr val="FF52B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>
              <a:lnSpc>
                <a:spcPct val="140000"/>
              </a:lnSpc>
            </a:pPr>
            <a:endParaRPr lang="zh-CN" altLang="en-US" sz="135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12"/>
            </p:custDataLst>
          </p:nvPr>
        </p:nvSpPr>
        <p:spPr>
          <a:xfrm>
            <a:off x="668569" y="3906382"/>
            <a:ext cx="1812609" cy="38399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>
            <a:noAutofit/>
          </a:bodyPr>
          <a:p>
            <a:pPr algn="ctr">
              <a:lnSpc>
                <a:spcPct val="120000"/>
              </a:lnSpc>
            </a:pPr>
            <a:endParaRPr lang="en-US" altLang="zh-CN" sz="135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cs typeface="+mj-cs"/>
              <a:sym typeface="Arial" panose="020B0604020202090204" pitchFamily="34" charset="0"/>
            </a:endParaRPr>
          </a:p>
        </p:txBody>
      </p:sp>
      <p:sp>
        <p:nvSpPr>
          <p:cNvPr id="36" name="矩形 35"/>
          <p:cNvSpPr/>
          <p:nvPr>
            <p:custDataLst>
              <p:tags r:id="rId13"/>
            </p:custDataLst>
          </p:nvPr>
        </p:nvSpPr>
        <p:spPr>
          <a:xfrm>
            <a:off x="668569" y="4308506"/>
            <a:ext cx="1812607" cy="620544"/>
          </a:xfrm>
          <a:prstGeom prst="rect">
            <a:avLst/>
          </a:prstGeom>
        </p:spPr>
        <p:txBody>
          <a:bodyPr wrap="square" lIns="67500" rIns="67500" anchor="t" anchorCtr="0">
            <a:normAutofit/>
          </a:bodyPr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zh-CN" sz="1000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剑桥大学将</a:t>
            </a:r>
            <a:r>
              <a:rPr lang="en-US" altLang="zh-CN" sz="1000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ALGOL 60</a:t>
            </a:r>
            <a:r>
              <a:rPr lang="zh-CN" altLang="zh-CN" sz="1000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语言发展成为</a:t>
            </a:r>
            <a:r>
              <a:rPr lang="en-US" altLang="zh-CN" sz="1000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CPL</a:t>
            </a:r>
            <a:r>
              <a:rPr lang="zh-CN" altLang="zh-CN" sz="1000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语言。</a:t>
            </a:r>
            <a:endParaRPr lang="zh-CN" altLang="en-US" sz="1000" spc="150">
              <a:sym typeface="+mn-ea"/>
            </a:endParaRPr>
          </a:p>
        </p:txBody>
      </p:sp>
      <p:sp>
        <p:nvSpPr>
          <p:cNvPr id="47" name="文本框 46"/>
          <p:cNvSpPr txBox="1"/>
          <p:nvPr>
            <p:custDataLst>
              <p:tags r:id="rId14"/>
            </p:custDataLst>
          </p:nvPr>
        </p:nvSpPr>
        <p:spPr>
          <a:xfrm>
            <a:off x="750962" y="3906382"/>
            <a:ext cx="1647827" cy="38399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1000" b="1" spc="30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1963</a:t>
            </a:r>
            <a:endParaRPr lang="en-US" altLang="zh-CN" sz="1000" b="1" spc="30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48" name="矩形 47"/>
          <p:cNvSpPr/>
          <p:nvPr>
            <p:custDataLst>
              <p:tags r:id="rId15"/>
            </p:custDataLst>
          </p:nvPr>
        </p:nvSpPr>
        <p:spPr>
          <a:xfrm>
            <a:off x="3493195" y="3668408"/>
            <a:ext cx="1812609" cy="383994"/>
          </a:xfrm>
          <a:prstGeom prst="rect">
            <a:avLst/>
          </a:prstGeom>
          <a:solidFill>
            <a:srgbClr val="C7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>
            <a:noAutofit/>
          </a:bodyPr>
          <a:p>
            <a:pPr algn="ctr">
              <a:lnSpc>
                <a:spcPct val="120000"/>
              </a:lnSpc>
            </a:pPr>
            <a:endParaRPr lang="en-US" altLang="zh-CN" sz="135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cs typeface="+mj-cs"/>
              <a:sym typeface="Arial" panose="020B0604020202090204" pitchFamily="34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16"/>
            </p:custDataLst>
          </p:nvPr>
        </p:nvSpPr>
        <p:spPr>
          <a:xfrm>
            <a:off x="3575586" y="3668408"/>
            <a:ext cx="1647827" cy="38399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1000" b="1" spc="30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1970</a:t>
            </a:r>
            <a:endParaRPr lang="en-US" altLang="zh-CN" sz="1000" b="1" spc="30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50" name="矩形 49"/>
          <p:cNvSpPr/>
          <p:nvPr>
            <p:custDataLst>
              <p:tags r:id="rId17"/>
            </p:custDataLst>
          </p:nvPr>
        </p:nvSpPr>
        <p:spPr>
          <a:xfrm>
            <a:off x="3493135" y="4070350"/>
            <a:ext cx="1812290" cy="1044575"/>
          </a:xfrm>
          <a:prstGeom prst="rect">
            <a:avLst/>
          </a:prstGeom>
        </p:spPr>
        <p:txBody>
          <a:bodyPr wrap="square" lIns="67500" rIns="67500" anchor="t" anchorCtr="0">
            <a:noAutofit/>
          </a:bodyPr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000" spc="150">
                <a:sym typeface="+mn-ea"/>
              </a:rPr>
              <a:t>Ken Thompson将BCPL进行了修改，并为它起了一个有趣的名字“B语言”，并且他用B语言写了第一个UNIX操作系统。</a:t>
            </a:r>
            <a:endParaRPr lang="zh-CN" altLang="en-US" sz="1000" spc="150">
              <a:sym typeface="+mn-ea"/>
            </a:endParaRPr>
          </a:p>
        </p:txBody>
      </p:sp>
      <p:sp>
        <p:nvSpPr>
          <p:cNvPr id="51" name="矩形 50"/>
          <p:cNvSpPr/>
          <p:nvPr>
            <p:custDataLst>
              <p:tags r:id="rId18"/>
            </p:custDataLst>
          </p:nvPr>
        </p:nvSpPr>
        <p:spPr>
          <a:xfrm>
            <a:off x="6317816" y="3208527"/>
            <a:ext cx="1812609" cy="383994"/>
          </a:xfrm>
          <a:prstGeom prst="rect">
            <a:avLst/>
          </a:prstGeom>
          <a:solidFill>
            <a:srgbClr val="FF52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>
            <a:noAutofit/>
          </a:bodyPr>
          <a:p>
            <a:pPr algn="ctr">
              <a:lnSpc>
                <a:spcPct val="120000"/>
              </a:lnSpc>
            </a:pPr>
            <a:endParaRPr lang="en-US" altLang="zh-CN" sz="135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cs typeface="+mj-cs"/>
              <a:sym typeface="Arial" panose="020B0604020202090204" pitchFamily="34" charset="0"/>
            </a:endParaRPr>
          </a:p>
        </p:txBody>
      </p:sp>
      <p:sp>
        <p:nvSpPr>
          <p:cNvPr id="52" name="文本框 51"/>
          <p:cNvSpPr txBox="1"/>
          <p:nvPr>
            <p:custDataLst>
              <p:tags r:id="rId19"/>
            </p:custDataLst>
          </p:nvPr>
        </p:nvSpPr>
        <p:spPr>
          <a:xfrm>
            <a:off x="6400207" y="3208527"/>
            <a:ext cx="1647827" cy="38399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1000" b="1" spc="30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1978</a:t>
            </a:r>
            <a:endParaRPr lang="en-US" altLang="zh-CN" sz="1000" b="1" spc="30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53" name="矩形 52"/>
          <p:cNvSpPr/>
          <p:nvPr>
            <p:custDataLst>
              <p:tags r:id="rId20"/>
            </p:custDataLst>
          </p:nvPr>
        </p:nvSpPr>
        <p:spPr>
          <a:xfrm>
            <a:off x="6314440" y="3614420"/>
            <a:ext cx="2044700" cy="1646555"/>
          </a:xfrm>
          <a:prstGeom prst="rect">
            <a:avLst/>
          </a:prstGeom>
        </p:spPr>
        <p:txBody>
          <a:bodyPr wrap="square" lIns="67500" rIns="67500" anchor="t" anchorCtr="0">
            <a:noAutofit/>
          </a:bodyPr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1100" spc="150">
                <a:sym typeface="+mn-ea"/>
              </a:rPr>
              <a:t>Dennis M.Ritchie</a:t>
            </a:r>
            <a:endParaRPr lang="en-US" altLang="zh-CN" sz="1100" spc="150">
              <a:sym typeface="+mn-ea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100" spc="150">
                <a:sym typeface="+mn-ea"/>
              </a:rPr>
              <a:t>与Brian</a:t>
            </a:r>
            <a:r>
              <a:rPr lang="en-US" altLang="zh-CN" sz="1100" spc="150">
                <a:sym typeface="+mn-ea"/>
              </a:rPr>
              <a:t> </a:t>
            </a:r>
            <a:r>
              <a:rPr lang="zh-CN" altLang="en-US" sz="1100" spc="150">
                <a:sym typeface="+mn-ea"/>
              </a:rPr>
              <a:t>W. Kernighan一起出版了名著《The C Programming Language》。此书已翻译成多种语言，被誉为c语言的圣经</a:t>
            </a:r>
            <a:endParaRPr lang="zh-CN" altLang="en-US" sz="1100" spc="150">
              <a:sym typeface="+mn-ea"/>
            </a:endParaRPr>
          </a:p>
        </p:txBody>
      </p:sp>
      <p:sp>
        <p:nvSpPr>
          <p:cNvPr id="54" name="矩形 53"/>
          <p:cNvSpPr/>
          <p:nvPr>
            <p:custDataLst>
              <p:tags r:id="rId21"/>
            </p:custDataLst>
          </p:nvPr>
        </p:nvSpPr>
        <p:spPr>
          <a:xfrm>
            <a:off x="2082479" y="1433900"/>
            <a:ext cx="1812609" cy="383994"/>
          </a:xfrm>
          <a:prstGeom prst="rect">
            <a:avLst/>
          </a:prstGeom>
          <a:solidFill>
            <a:srgbClr val="B43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>
            <a:noAutofit/>
          </a:bodyPr>
          <a:p>
            <a:pPr algn="ctr">
              <a:lnSpc>
                <a:spcPct val="120000"/>
              </a:lnSpc>
            </a:pPr>
            <a:endParaRPr lang="en-US" altLang="zh-CN" sz="15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cs typeface="+mj-cs"/>
              <a:sym typeface="Arial" panose="020B0604020202090204" pitchFamily="34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22"/>
            </p:custDataLst>
          </p:nvPr>
        </p:nvSpPr>
        <p:spPr>
          <a:xfrm>
            <a:off x="2164871" y="1432395"/>
            <a:ext cx="1647827" cy="38399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1000" b="1" spc="30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1967</a:t>
            </a:r>
            <a:endParaRPr lang="en-US" altLang="zh-CN" sz="1000" b="1" spc="30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56" name="矩形 55"/>
          <p:cNvSpPr/>
          <p:nvPr>
            <p:custDataLst>
              <p:tags r:id="rId23"/>
            </p:custDataLst>
          </p:nvPr>
        </p:nvSpPr>
        <p:spPr>
          <a:xfrm>
            <a:off x="2078999" y="1833359"/>
            <a:ext cx="1812607" cy="620544"/>
          </a:xfrm>
          <a:prstGeom prst="rect">
            <a:avLst/>
          </a:prstGeom>
        </p:spPr>
        <p:txBody>
          <a:bodyPr wrap="square" lIns="67500" rIns="67500" anchor="t" anchorCtr="0">
            <a:noAutofit/>
          </a:bodyPr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zh-CN" sz="1100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剑桥大学的</a:t>
            </a:r>
            <a:r>
              <a:rPr lang="en-US" altLang="zh-CN" sz="1100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Matin Richards</a:t>
            </a:r>
            <a:r>
              <a:rPr lang="zh-CN" altLang="zh-CN" sz="1100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对</a:t>
            </a:r>
            <a:r>
              <a:rPr lang="en-US" altLang="zh-CN" sz="1100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CPL</a:t>
            </a:r>
            <a:r>
              <a:rPr lang="zh-CN" altLang="zh-CN" sz="1100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语言进行了简化，于是产生了</a:t>
            </a:r>
            <a:r>
              <a:rPr lang="en-US" altLang="zh-CN" sz="1100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BCPL</a:t>
            </a:r>
            <a:r>
              <a:rPr lang="zh-CN" altLang="zh-CN" sz="1100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语言</a:t>
            </a:r>
            <a:endParaRPr lang="zh-CN" altLang="zh-CN" sz="1100" kern="0" spc="150" noProof="0" dirty="0" smtClean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  <p:sp>
        <p:nvSpPr>
          <p:cNvPr id="57" name="矩形 56"/>
          <p:cNvSpPr/>
          <p:nvPr>
            <p:custDataLst>
              <p:tags r:id="rId24"/>
            </p:custDataLst>
          </p:nvPr>
        </p:nvSpPr>
        <p:spPr>
          <a:xfrm>
            <a:off x="4906741" y="1123129"/>
            <a:ext cx="1812609" cy="383994"/>
          </a:xfrm>
          <a:prstGeom prst="rect">
            <a:avLst/>
          </a:prstGeom>
          <a:solidFill>
            <a:srgbClr val="DA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rIns="27000" rtlCol="0" anchor="ctr">
            <a:noAutofit/>
          </a:bodyPr>
          <a:p>
            <a:pPr algn="ctr">
              <a:lnSpc>
                <a:spcPct val="120000"/>
              </a:lnSpc>
            </a:pPr>
            <a:endParaRPr lang="en-US" altLang="zh-CN" sz="135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cs typeface="+mj-cs"/>
              <a:sym typeface="Arial" panose="020B0604020202090204" pitchFamily="34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25"/>
            </p:custDataLst>
          </p:nvPr>
        </p:nvSpPr>
        <p:spPr>
          <a:xfrm>
            <a:off x="4989132" y="1123129"/>
            <a:ext cx="1647827" cy="38399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1000" b="1" spc="30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1973</a:t>
            </a:r>
            <a:endParaRPr lang="en-US" altLang="zh-CN" sz="1000" b="1" spc="30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59" name="矩形 58"/>
          <p:cNvSpPr/>
          <p:nvPr>
            <p:custDataLst>
              <p:tags r:id="rId26"/>
            </p:custDataLst>
          </p:nvPr>
        </p:nvSpPr>
        <p:spPr>
          <a:xfrm>
            <a:off x="4906741" y="1522533"/>
            <a:ext cx="1812607" cy="620544"/>
          </a:xfrm>
          <a:prstGeom prst="rect">
            <a:avLst/>
          </a:prstGeom>
        </p:spPr>
        <p:txBody>
          <a:bodyPr wrap="square" lIns="67500" rIns="67500" anchor="t" anchorCtr="0">
            <a:noAutofit/>
          </a:bodyPr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100" b="1" spc="150">
                <a:highlight>
                  <a:srgbClr val="FFFF00"/>
                </a:highlight>
                <a:sym typeface="+mn-ea"/>
              </a:rPr>
              <a:t>Dennis M.Ritchie在B语言的基础上设计出了一种新的语言，他取了BCPL的第二个字母作为这种语言的名字，即C语言</a:t>
            </a:r>
            <a:endParaRPr lang="zh-CN" altLang="en-US" sz="1100" b="1" spc="150">
              <a:highlight>
                <a:srgbClr val="FFFF00"/>
              </a:highlight>
              <a:sym typeface="+mn-ea"/>
            </a:endParaRPr>
          </a:p>
        </p:txBody>
      </p:sp>
    </p:spTree>
    <p:custDataLst>
      <p:tags r:id="rId27"/>
    </p:custData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1.1 C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语言概述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 bwMode="auto">
          <a:xfrm>
            <a:off x="157480" y="1150620"/>
            <a:ext cx="8828405" cy="3068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语言标准  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在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1989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年美国国家标准学会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(ANSI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）通过的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语言标准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ANSI X3.159-1989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被称为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C89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之后在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1990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年，国际标准化组织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ISO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也接受了同样的标准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ISO9899-1990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，该标准被称为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C90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1999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年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ANSI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又通过了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C99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标准。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C99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标准相对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C89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做了很多修改，例如变量声明可以不放在函数开头，支持变长数组等。但由于很多编译器仍然没有对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C99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提供完整的支持，</a:t>
            </a:r>
            <a:r>
              <a:rPr kumimoji="0" lang="zh-CN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目前</a:t>
            </a:r>
            <a:r>
              <a:rPr lang="zh-CN" altLang="en-US" b="1">
                <a:sym typeface="+mn-ea"/>
              </a:rPr>
              <a:t>C99是使用最广泛的C语言标准了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r>
              <a:rPr lang="zh-CN" altLang="en-US">
                <a:sym typeface="+mn-ea"/>
              </a:rPr>
              <a:t>2011年12月8号，ISO 发布了新的 C 语言的新标准—C11，之前被称为C1X，官方名称 ISO/IEC 9899:2011。C11是目前最新的C语言标准。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为什么要学习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 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语言是一种通用的、过程式的编程语言，它具有高效、灵活、可移植等优点。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近年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它是使用最广泛的编程语言之一，被大量的运用在系统软件与应用软件的开发中。</a:t>
            </a:r>
            <a:endParaRPr kumimoji="0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 bwMode="auto">
          <a:xfrm>
            <a:off x="243840" y="628650"/>
            <a:ext cx="8446770" cy="4356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1.1.4 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什么是</a:t>
            </a: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</a:t>
            </a:r>
            <a:endParaRPr kumimoji="0" lang="zh-CN" altLang="en-US" i="0" u="none" strike="noStrike" kern="0" cap="none" spc="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H_SubTitle_1"/>
          <p:cNvSpPr/>
          <p:nvPr>
            <p:custDataLst>
              <p:tags r:id="rId1"/>
            </p:custDataLst>
          </p:nvPr>
        </p:nvSpPr>
        <p:spPr>
          <a:xfrm>
            <a:off x="3836218" y="1129904"/>
            <a:ext cx="2449115" cy="276225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125" dirty="0"/>
              <a:t> 语言简洁、紧凑，使用方便、</a:t>
            </a:r>
            <a:r>
              <a:rPr lang="zh-CN" altLang="en-US" sz="1125" dirty="0" smtClean="0"/>
              <a:t>灵活</a:t>
            </a:r>
            <a:endParaRPr lang="en-US" altLang="zh-CN" sz="1125" dirty="0"/>
          </a:p>
        </p:txBody>
      </p:sp>
      <p:sp>
        <p:nvSpPr>
          <p:cNvPr id="5" name="MH_Other_1"/>
          <p:cNvSpPr/>
          <p:nvPr>
            <p:custDataLst>
              <p:tags r:id="rId2"/>
            </p:custDataLst>
          </p:nvPr>
        </p:nvSpPr>
        <p:spPr>
          <a:xfrm rot="18900000" flipV="1">
            <a:off x="3746327" y="1890119"/>
            <a:ext cx="432197" cy="945356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2700" dirty="0">
              <a:latin typeface="微软雅黑" panose="020B0503020204020204" charset="-122"/>
            </a:endParaRPr>
          </a:p>
        </p:txBody>
      </p:sp>
      <p:sp>
        <p:nvSpPr>
          <p:cNvPr id="6" name="MH_Other_2"/>
          <p:cNvSpPr/>
          <p:nvPr>
            <p:custDataLst>
              <p:tags r:id="rId3"/>
            </p:custDataLst>
          </p:nvPr>
        </p:nvSpPr>
        <p:spPr>
          <a:xfrm rot="16200000" flipV="1">
            <a:off x="3598094" y="2246711"/>
            <a:ext cx="433388" cy="945356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2700" dirty="0">
              <a:latin typeface="微软雅黑" panose="020B0503020204020204" charset="-122"/>
            </a:endParaRPr>
          </a:p>
        </p:txBody>
      </p:sp>
      <p:sp>
        <p:nvSpPr>
          <p:cNvPr id="7" name="MH_Other_3"/>
          <p:cNvSpPr/>
          <p:nvPr>
            <p:custDataLst>
              <p:tags r:id="rId4"/>
            </p:custDataLst>
          </p:nvPr>
        </p:nvSpPr>
        <p:spPr>
          <a:xfrm rot="13500000" flipV="1">
            <a:off x="3745731" y="2603898"/>
            <a:ext cx="433388" cy="945356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2700" dirty="0">
              <a:latin typeface="微软雅黑" panose="020B0503020204020204" charset="-122"/>
            </a:endParaRPr>
          </a:p>
        </p:txBody>
      </p:sp>
      <p:sp>
        <p:nvSpPr>
          <p:cNvPr id="8" name="MH_Other_4"/>
          <p:cNvSpPr/>
          <p:nvPr>
            <p:custDataLst>
              <p:tags r:id="rId5"/>
            </p:custDataLst>
          </p:nvPr>
        </p:nvSpPr>
        <p:spPr>
          <a:xfrm rot="10800000" flipV="1">
            <a:off x="4102919" y="2751536"/>
            <a:ext cx="433388" cy="946547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2700" dirty="0">
              <a:latin typeface="微软雅黑" panose="020B0503020204020204" charset="-122"/>
            </a:endParaRPr>
          </a:p>
        </p:txBody>
      </p:sp>
      <p:sp>
        <p:nvSpPr>
          <p:cNvPr id="9" name="MH_Other_5"/>
          <p:cNvSpPr/>
          <p:nvPr>
            <p:custDataLst>
              <p:tags r:id="rId6"/>
            </p:custDataLst>
          </p:nvPr>
        </p:nvSpPr>
        <p:spPr>
          <a:xfrm rot="8100000" flipV="1">
            <a:off x="4459511" y="2603303"/>
            <a:ext cx="433388" cy="946547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2700" dirty="0">
              <a:latin typeface="微软雅黑" panose="020B0503020204020204" charset="-122"/>
            </a:endParaRPr>
          </a:p>
        </p:txBody>
      </p:sp>
      <p:sp>
        <p:nvSpPr>
          <p:cNvPr id="10" name="MH_Other_6"/>
          <p:cNvSpPr/>
          <p:nvPr>
            <p:custDataLst>
              <p:tags r:id="rId7"/>
            </p:custDataLst>
          </p:nvPr>
        </p:nvSpPr>
        <p:spPr>
          <a:xfrm rot="5400000" flipV="1">
            <a:off x="4607744" y="2246711"/>
            <a:ext cx="433388" cy="945356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2700" dirty="0">
              <a:latin typeface="微软雅黑" panose="020B0503020204020204" charset="-122"/>
            </a:endParaRPr>
          </a:p>
        </p:txBody>
      </p:sp>
      <p:sp>
        <p:nvSpPr>
          <p:cNvPr id="11" name="MH_Other_7"/>
          <p:cNvSpPr/>
          <p:nvPr>
            <p:custDataLst>
              <p:tags r:id="rId8"/>
            </p:custDataLst>
          </p:nvPr>
        </p:nvSpPr>
        <p:spPr>
          <a:xfrm rot="2700000" flipV="1">
            <a:off x="4460106" y="1889523"/>
            <a:ext cx="432197" cy="946547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2700" dirty="0">
              <a:latin typeface="微软雅黑" panose="020B0503020204020204" charset="-122"/>
            </a:endParaRPr>
          </a:p>
        </p:txBody>
      </p:sp>
      <p:sp>
        <p:nvSpPr>
          <p:cNvPr id="12" name="MH_Other_8"/>
          <p:cNvSpPr/>
          <p:nvPr>
            <p:custDataLst>
              <p:tags r:id="rId9"/>
            </p:custDataLst>
          </p:nvPr>
        </p:nvSpPr>
        <p:spPr>
          <a:xfrm flipV="1">
            <a:off x="4102919" y="1741886"/>
            <a:ext cx="433388" cy="946547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>
                  <a:lumMod val="20000"/>
                  <a:lumOff val="80000"/>
                </a:schemeClr>
              </a:gs>
            </a:gsLst>
            <a:lin ang="2700000" scaled="1"/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2700" dirty="0">
              <a:latin typeface="微软雅黑" panose="020B0503020204020204" charset="-122"/>
            </a:endParaRPr>
          </a:p>
        </p:txBody>
      </p:sp>
      <p:sp>
        <p:nvSpPr>
          <p:cNvPr id="13" name="MH_Other_9"/>
          <p:cNvSpPr/>
          <p:nvPr>
            <p:custDataLst>
              <p:tags r:id="rId10"/>
            </p:custDataLst>
          </p:nvPr>
        </p:nvSpPr>
        <p:spPr>
          <a:xfrm>
            <a:off x="4085060" y="1437086"/>
            <a:ext cx="469106" cy="4691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1350" dirty="0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MH_Other_10"/>
          <p:cNvSpPr/>
          <p:nvPr>
            <p:custDataLst>
              <p:tags r:id="rId11"/>
            </p:custDataLst>
          </p:nvPr>
        </p:nvSpPr>
        <p:spPr>
          <a:xfrm>
            <a:off x="4825628" y="1744267"/>
            <a:ext cx="469106" cy="4691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1350" dirty="0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MH_Other_11"/>
          <p:cNvSpPr/>
          <p:nvPr>
            <p:custDataLst>
              <p:tags r:id="rId12"/>
            </p:custDataLst>
          </p:nvPr>
        </p:nvSpPr>
        <p:spPr>
          <a:xfrm>
            <a:off x="5132810" y="2484836"/>
            <a:ext cx="469106" cy="4691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1350" dirty="0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MH_Other_12"/>
          <p:cNvSpPr/>
          <p:nvPr>
            <p:custDataLst>
              <p:tags r:id="rId13"/>
            </p:custDataLst>
          </p:nvPr>
        </p:nvSpPr>
        <p:spPr>
          <a:xfrm>
            <a:off x="4825628" y="3226595"/>
            <a:ext cx="469106" cy="46791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1350" dirty="0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MH_Other_13"/>
          <p:cNvSpPr/>
          <p:nvPr>
            <p:custDataLst>
              <p:tags r:id="rId14"/>
            </p:custDataLst>
          </p:nvPr>
        </p:nvSpPr>
        <p:spPr>
          <a:xfrm>
            <a:off x="4085060" y="3532586"/>
            <a:ext cx="469106" cy="4691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1350" dirty="0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MH_Other_14"/>
          <p:cNvSpPr/>
          <p:nvPr>
            <p:custDataLst>
              <p:tags r:id="rId15"/>
            </p:custDataLst>
          </p:nvPr>
        </p:nvSpPr>
        <p:spPr>
          <a:xfrm>
            <a:off x="3344491" y="3226595"/>
            <a:ext cx="469106" cy="46791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1350" dirty="0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MH_Other_15"/>
          <p:cNvSpPr/>
          <p:nvPr>
            <p:custDataLst>
              <p:tags r:id="rId16"/>
            </p:custDataLst>
          </p:nvPr>
        </p:nvSpPr>
        <p:spPr>
          <a:xfrm>
            <a:off x="3037310" y="2484836"/>
            <a:ext cx="469106" cy="4691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1350" dirty="0">
                <a:solidFill>
                  <a:srgbClr val="FFFFFF"/>
                </a:solidFill>
                <a:latin typeface="微软雅黑" panose="020B0503020204020204" charset="-122"/>
              </a:rPr>
              <a:t>07</a:t>
            </a: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MH_Other_16"/>
          <p:cNvSpPr/>
          <p:nvPr>
            <p:custDataLst>
              <p:tags r:id="rId17"/>
            </p:custDataLst>
          </p:nvPr>
        </p:nvSpPr>
        <p:spPr>
          <a:xfrm>
            <a:off x="3344491" y="1744267"/>
            <a:ext cx="469106" cy="4691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8844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1350" dirty="0">
                <a:solidFill>
                  <a:srgbClr val="FFFFFF"/>
                </a:solidFill>
                <a:latin typeface="微软雅黑" panose="020B0503020204020204" charset="-122"/>
              </a:rPr>
              <a:t>08</a:t>
            </a: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MH_Title_1"/>
          <p:cNvSpPr/>
          <p:nvPr>
            <p:custDataLst>
              <p:tags r:id="rId18"/>
            </p:custDataLst>
          </p:nvPr>
        </p:nvSpPr>
        <p:spPr>
          <a:xfrm>
            <a:off x="3962425" y="2362201"/>
            <a:ext cx="714375" cy="7143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54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>
              <a:defRPr/>
            </a:pPr>
            <a:r>
              <a:rPr lang="en-US" altLang="zh-CN" sz="4500" b="1" dirty="0" smtClean="0">
                <a:solidFill>
                  <a:srgbClr val="FFFFFF"/>
                </a:solidFill>
              </a:rPr>
              <a:t>C</a:t>
            </a:r>
            <a:endParaRPr lang="zh-CN" altLang="en-US" sz="4500" b="1" dirty="0">
              <a:solidFill>
                <a:srgbClr val="FFFFFF"/>
              </a:solidFill>
            </a:endParaRPr>
          </a:p>
        </p:txBody>
      </p:sp>
      <p:sp>
        <p:nvSpPr>
          <p:cNvPr id="22" name="MH_SubTitle_5"/>
          <p:cNvSpPr/>
          <p:nvPr>
            <p:custDataLst>
              <p:tags r:id="rId19"/>
            </p:custDataLst>
          </p:nvPr>
        </p:nvSpPr>
        <p:spPr>
          <a:xfrm>
            <a:off x="3836218" y="4014788"/>
            <a:ext cx="2569316" cy="27622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125" dirty="0"/>
              <a:t>语法限制不太严格，程序设计自由度大</a:t>
            </a:r>
            <a:endParaRPr lang="en-US" altLang="zh-CN" sz="1125" dirty="0"/>
          </a:p>
        </p:txBody>
      </p:sp>
      <p:sp>
        <p:nvSpPr>
          <p:cNvPr id="23" name="MH_SubTitle_2"/>
          <p:cNvSpPr/>
          <p:nvPr>
            <p:custDataLst>
              <p:tags r:id="rId20"/>
            </p:custDataLst>
          </p:nvPr>
        </p:nvSpPr>
        <p:spPr>
          <a:xfrm>
            <a:off x="5313785" y="1782366"/>
            <a:ext cx="960835" cy="276225"/>
          </a:xfrm>
          <a:prstGeom prst="rect">
            <a:avLst/>
          </a:prstGeom>
        </p:spPr>
        <p:txBody>
          <a:bodyPr anchor="ctr">
            <a:normAutofit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200" dirty="0"/>
              <a:t>运算符丰富</a:t>
            </a:r>
            <a:endParaRPr lang="en-US" altLang="zh-CN" sz="1200" dirty="0"/>
          </a:p>
        </p:txBody>
      </p:sp>
      <p:sp>
        <p:nvSpPr>
          <p:cNvPr id="24" name="MH_SubTitle_3"/>
          <p:cNvSpPr/>
          <p:nvPr>
            <p:custDataLst>
              <p:tags r:id="rId21"/>
            </p:custDataLst>
          </p:nvPr>
        </p:nvSpPr>
        <p:spPr>
          <a:xfrm>
            <a:off x="5620966" y="2563417"/>
            <a:ext cx="1239284" cy="275035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125" dirty="0"/>
              <a:t> 数据类型丰富</a:t>
            </a:r>
            <a:endParaRPr lang="en-US" altLang="zh-CN" sz="1125" dirty="0"/>
          </a:p>
        </p:txBody>
      </p:sp>
      <p:sp>
        <p:nvSpPr>
          <p:cNvPr id="25" name="MH_SubTitle_4"/>
          <p:cNvSpPr/>
          <p:nvPr>
            <p:custDataLst>
              <p:tags r:id="rId22"/>
            </p:custDataLst>
          </p:nvPr>
        </p:nvSpPr>
        <p:spPr>
          <a:xfrm>
            <a:off x="5323308" y="3408760"/>
            <a:ext cx="3512345" cy="276225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125" dirty="0" smtClean="0"/>
              <a:t>具有</a:t>
            </a:r>
            <a:r>
              <a:rPr lang="zh-CN" altLang="en-US" sz="1125" dirty="0"/>
              <a:t>结构化的</a:t>
            </a:r>
            <a:r>
              <a:rPr lang="zh-CN" altLang="en-US" sz="1125" dirty="0" smtClean="0"/>
              <a:t>控制语句</a:t>
            </a:r>
            <a:endParaRPr lang="en-US" altLang="zh-CN" sz="1125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sz="1125" dirty="0"/>
              <a:t>用函数作为程序的模块单位，便于实现程序的</a:t>
            </a:r>
            <a:r>
              <a:rPr lang="zh-CN" altLang="en-US" sz="1125" dirty="0" smtClean="0"/>
              <a:t>模块化</a:t>
            </a:r>
            <a:endParaRPr lang="en-US" altLang="zh-CN" sz="1125" dirty="0" smtClean="0"/>
          </a:p>
          <a:p>
            <a:pPr>
              <a:lnSpc>
                <a:spcPct val="120000"/>
              </a:lnSpc>
              <a:defRPr/>
            </a:pPr>
            <a:r>
              <a:rPr lang="en-US" altLang="zh-CN" sz="1125" dirty="0" smtClean="0"/>
              <a:t>C</a:t>
            </a:r>
            <a:r>
              <a:rPr lang="zh-CN" altLang="en-US" sz="1125" dirty="0"/>
              <a:t>语言是完全模块化和结构化的语言</a:t>
            </a:r>
            <a:endParaRPr lang="en-US" altLang="zh-CN" sz="1125" dirty="0"/>
          </a:p>
        </p:txBody>
      </p:sp>
      <p:sp>
        <p:nvSpPr>
          <p:cNvPr id="26" name="MH_SubTitle_8"/>
          <p:cNvSpPr/>
          <p:nvPr>
            <p:custDataLst>
              <p:tags r:id="rId23"/>
            </p:custDataLst>
          </p:nvPr>
        </p:nvSpPr>
        <p:spPr>
          <a:xfrm>
            <a:off x="702959" y="1782366"/>
            <a:ext cx="2607004" cy="276225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125" dirty="0"/>
              <a:t>生成目标代码质量高，程序执行效率高</a:t>
            </a:r>
            <a:endParaRPr lang="en-US" altLang="zh-CN" sz="1125" dirty="0"/>
          </a:p>
        </p:txBody>
      </p:sp>
      <p:sp>
        <p:nvSpPr>
          <p:cNvPr id="27" name="MH_SubTitle_7"/>
          <p:cNvSpPr/>
          <p:nvPr>
            <p:custDataLst>
              <p:tags r:id="rId24"/>
            </p:custDataLst>
          </p:nvPr>
        </p:nvSpPr>
        <p:spPr>
          <a:xfrm>
            <a:off x="1806203" y="2563417"/>
            <a:ext cx="1212056" cy="275035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125" dirty="0" smtClean="0"/>
              <a:t>程序</a:t>
            </a:r>
            <a:r>
              <a:rPr lang="zh-CN" altLang="en-US" sz="1125" dirty="0"/>
              <a:t>可移植性好</a:t>
            </a:r>
            <a:endParaRPr lang="en-US" altLang="zh-CN" sz="1125" dirty="0"/>
          </a:p>
        </p:txBody>
      </p:sp>
      <p:sp>
        <p:nvSpPr>
          <p:cNvPr id="28" name="MH_SubTitle_6"/>
          <p:cNvSpPr/>
          <p:nvPr>
            <p:custDataLst>
              <p:tags r:id="rId25"/>
            </p:custDataLst>
          </p:nvPr>
        </p:nvSpPr>
        <p:spPr>
          <a:xfrm>
            <a:off x="382422" y="3225404"/>
            <a:ext cx="2927540" cy="1401623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125" dirty="0" smtClean="0"/>
              <a:t>允许</a:t>
            </a:r>
            <a:r>
              <a:rPr lang="zh-CN" altLang="en-US" sz="1125" dirty="0"/>
              <a:t>直接访问物理</a:t>
            </a:r>
            <a:r>
              <a:rPr lang="zh-CN" altLang="en-US" sz="1125" dirty="0" smtClean="0"/>
              <a:t>地址</a:t>
            </a:r>
            <a:endParaRPr lang="en-US" altLang="zh-CN" sz="1125" dirty="0" smtClean="0"/>
          </a:p>
          <a:p>
            <a:pPr algn="r">
              <a:lnSpc>
                <a:spcPct val="120000"/>
              </a:lnSpc>
              <a:defRPr/>
            </a:pPr>
            <a:r>
              <a:rPr lang="zh-CN" altLang="en-US" sz="1125" dirty="0" smtClean="0"/>
              <a:t>能</a:t>
            </a:r>
            <a:r>
              <a:rPr lang="zh-CN" altLang="en-US" sz="1125" dirty="0"/>
              <a:t>进行位</a:t>
            </a:r>
            <a:r>
              <a:rPr lang="en-US" altLang="zh-CN" sz="1125" dirty="0"/>
              <a:t>(bit)</a:t>
            </a:r>
            <a:r>
              <a:rPr lang="zh-CN" altLang="en-US" sz="1125" dirty="0" smtClean="0"/>
              <a:t>操作</a:t>
            </a:r>
            <a:endParaRPr lang="en-US" altLang="zh-CN" sz="1125" dirty="0" smtClean="0"/>
          </a:p>
          <a:p>
            <a:pPr algn="r">
              <a:lnSpc>
                <a:spcPct val="120000"/>
              </a:lnSpc>
              <a:defRPr/>
            </a:pPr>
            <a:r>
              <a:rPr lang="zh-CN" altLang="en-US" sz="1125" dirty="0" smtClean="0"/>
              <a:t>能</a:t>
            </a:r>
            <a:r>
              <a:rPr lang="zh-CN" altLang="en-US" sz="1125" dirty="0"/>
              <a:t>实现汇编语言的大部分</a:t>
            </a:r>
            <a:r>
              <a:rPr lang="zh-CN" altLang="en-US" sz="1125" dirty="0" smtClean="0"/>
              <a:t>功能</a:t>
            </a:r>
            <a:endParaRPr lang="en-US" altLang="zh-CN" sz="1125" dirty="0" smtClean="0"/>
          </a:p>
          <a:p>
            <a:pPr algn="r">
              <a:lnSpc>
                <a:spcPct val="120000"/>
              </a:lnSpc>
              <a:defRPr/>
            </a:pPr>
            <a:r>
              <a:rPr lang="zh-CN" altLang="en-US" sz="1125" dirty="0" smtClean="0"/>
              <a:t>可以</a:t>
            </a:r>
            <a:r>
              <a:rPr lang="zh-CN" altLang="en-US" sz="1125" dirty="0"/>
              <a:t>直接对硬件进行</a:t>
            </a:r>
            <a:r>
              <a:rPr lang="zh-CN" altLang="en-US" sz="1125" dirty="0" smtClean="0"/>
              <a:t>操作</a:t>
            </a:r>
            <a:endParaRPr lang="en-US" altLang="zh-CN" sz="1125" dirty="0" smtClean="0"/>
          </a:p>
          <a:p>
            <a:pPr algn="r">
              <a:lnSpc>
                <a:spcPct val="120000"/>
              </a:lnSpc>
              <a:defRPr/>
            </a:pPr>
            <a:r>
              <a:rPr lang="zh-CN" altLang="en-US" sz="1125" dirty="0" smtClean="0"/>
              <a:t>因此</a:t>
            </a:r>
            <a:r>
              <a:rPr lang="en-US" altLang="zh-CN" sz="1125" dirty="0"/>
              <a:t>C</a:t>
            </a:r>
            <a:r>
              <a:rPr lang="zh-CN" altLang="en-US" sz="1125" dirty="0"/>
              <a:t>语言既具有高级语言的功能，又具有低级语言的许多功能，可用来编写</a:t>
            </a:r>
            <a:r>
              <a:rPr lang="zh-CN" altLang="en-US" sz="1125" dirty="0" smtClean="0"/>
              <a:t>系统软件</a:t>
            </a:r>
            <a:endParaRPr lang="zh-CN" altLang="en-US" sz="1125" dirty="0"/>
          </a:p>
        </p:txBody>
      </p:sp>
      <p:sp>
        <p:nvSpPr>
          <p:cNvPr id="29" name="标题 1"/>
          <p:cNvSpPr>
            <a:spLocks noGrp="1"/>
          </p:cNvSpPr>
          <p:nvPr>
            <p:ph type="title"/>
            <p:custDataLst>
              <p:tags r:id="rId26"/>
            </p:custDataLst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1.1 C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语言概述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30" name="内容占位符 2"/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243840" y="628650"/>
            <a:ext cx="8446770" cy="43561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1.1.5 C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语言的</a:t>
            </a: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特点</a:t>
            </a:r>
            <a:endParaRPr kumimoji="0" lang="zh-CN" altLang="en-US" i="0" u="none" strike="noStrike" kern="0" cap="none" spc="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1.1 C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语言概述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5900" y="1329690"/>
            <a:ext cx="8631628" cy="28800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220460" y="4819015"/>
            <a:ext cx="2626995" cy="240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>
                <a:hlinkClick r:id="rId4" action="ppaction://hlinkfile"/>
              </a:rPr>
              <a:t>https://www.tiobe.com/tiobe-index/</a:t>
            </a:r>
            <a:endParaRPr lang="zh-CN" altLang="en-US" sz="1200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830830" y="4298315"/>
            <a:ext cx="34823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TIOBE Index for August 2023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1.2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开发环境搭建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 bwMode="auto">
          <a:xfrm>
            <a:off x="426720" y="800100"/>
            <a:ext cx="8463915" cy="39274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1.2.1 </a:t>
            </a: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主流开发工具介绍</a:t>
            </a: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Visual Studio</a:t>
            </a: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工具</a:t>
            </a: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Visual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Studio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（简称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VS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）是由微软公司发布的集成开发环境。它包括了整个软件生命周期中所需要的大部分工具，如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UML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工具、代码管控工具、集成开发环境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(IDE)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等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支持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C/C++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C#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F#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VB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等多种程序语言的开发和测试，功能十分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强大。</a:t>
            </a:r>
            <a:endParaRPr kumimoji="0" lang="zh-CN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R="0" lvl="1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微软雅黑" panose="020B0503020204020204" charset="-122"/>
              <a:buChar char="–"/>
              <a:defRPr/>
            </a:pP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Dev-C++</a:t>
            </a: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工具</a:t>
            </a: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Dev-C++ 是一个 C/C++ 开发工具。它包括多页面窗口、工程编辑器，在工程编辑器中集合了编辑器、编译器、连接程序和执行程序。它也提供高亮度语法显示的，以减少编辑错误。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1.2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开发环境搭建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 bwMode="auto">
          <a:xfrm>
            <a:off x="539750" y="800100"/>
            <a:ext cx="8291195" cy="341503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lang="en-US" altLang="zh-CN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Code::Block</a:t>
            </a:r>
            <a:r>
              <a:rPr lang="zh-CN" altLang="en-US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工具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        Code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::Block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是一个免费的跨平台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IDE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，它支持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C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、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C++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和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Fortan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程序的开发。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Code::Block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的最大特点是它支持通过插件的方式对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IDE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自身功能进行扩展，这使得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Code::Block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具有很强的灵活性，方便用户使用。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Eclipse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工具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Eclipse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是一种被广泛使用的免费跨平台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IDE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，最初由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IBM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公司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开发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可以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用来开发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C++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Python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PHP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等众多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Eclipse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本身是一个轻量级的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IDE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，在此之上，用户可以根据需要安装多种不同的插件来扩展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Eclipse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的功能。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Vim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工具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其他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IDE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不同的是，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Vim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本身并不是一个用于开发计算机程序的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IDE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，而是一款功能非常强大的文本编辑器，它是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UNIX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系统上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Vi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编辑器的升级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版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Vim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也支持通过插件扩展自己的功能。</a:t>
            </a:r>
            <a:endParaRPr kumimoji="0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1.2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开发环境搭建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1.2.2  Visual Studio</a:t>
            </a: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9ED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安装</a:t>
            </a:r>
            <a:endParaRPr kumimoji="0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rgbClr val="009ED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开始安装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从微软的官网下载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VS2013_RTM_DskExp_CHS.iso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镜像文件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在本地可以直接解压或者通过虚拟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光驱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来进行安装，解压后以管理员身份运行安装程序，此时显示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Visual Studio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界面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                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</a:t>
            </a:r>
            <a:endParaRPr kumimoji="0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1229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1066" y="2944416"/>
            <a:ext cx="3195638" cy="152280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1.2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开发环境搭建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 bwMode="auto">
          <a:xfrm>
            <a:off x="339090" y="800100"/>
            <a:ext cx="8411845" cy="403733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自定义安装路径：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</a:t>
            </a:r>
            <a:endParaRPr kumimoji="0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1331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0325" y="1371600"/>
            <a:ext cx="3213497" cy="3457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85725"/>
            <a:ext cx="3258185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1.2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开发环境搭建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 bwMode="auto">
          <a:xfrm>
            <a:off x="503555" y="800100"/>
            <a:ext cx="8273415" cy="409448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点击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路径选择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界面中的“安装（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N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）”，此时便会出现安装界面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</a:t>
            </a:r>
            <a:endParaRPr kumimoji="0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14340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8741" y="1454944"/>
            <a:ext cx="2415778" cy="32718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1.2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开发环境搭建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 bwMode="auto">
          <a:xfrm>
            <a:off x="478790" y="800100"/>
            <a:ext cx="8334375" cy="423354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安装完成：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</a:t>
            </a:r>
            <a:endParaRPr kumimoji="0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1536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4681" y="1335881"/>
            <a:ext cx="2427685" cy="335399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1.2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开发环境搭建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 bwMode="auto">
          <a:xfrm>
            <a:off x="628650" y="800100"/>
            <a:ext cx="7995285" cy="40671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点击“启动”进入主界面：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</a:t>
            </a:r>
            <a:endParaRPr kumimoji="0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1638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0" y="1401366"/>
            <a:ext cx="4773216" cy="315872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1.3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编写程序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 bwMode="auto">
          <a:xfrm>
            <a:off x="213995" y="800100"/>
            <a:ext cx="8585835" cy="42640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启动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Visual Studio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开发工具，在菜单栏中选择【文件】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Wingdings" panose="05000000000000000000"/>
              </a:rPr>
              <a:t>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【新建项目】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1741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1713" y="1554956"/>
            <a:ext cx="4950619" cy="323611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1.3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编写程序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在新建项目窗口中可以选择创建的项目类型，设置项目名称、位置、解决方案名称等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1843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1010" y="1570435"/>
            <a:ext cx="4687490" cy="312777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1.3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编写程序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点击【确定】按钮，弹出一个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Win32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应用程序向导窗口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1946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0997" y="1471613"/>
            <a:ext cx="4335065" cy="3058716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1.3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编写程序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系统默认选择控制台应用程序，然后点击【下一步】按钮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2048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797" y="1348979"/>
            <a:ext cx="4617244" cy="324564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1.3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编写程序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添加源文件：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2150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6691" y="1376363"/>
            <a:ext cx="4773215" cy="319801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1.3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编写程序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800100"/>
            <a:ext cx="6172200" cy="40195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在弹出的添加新项窗口里选择【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C++ 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文件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(.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cpp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)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】，并在名称输入框中填写“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HelloWorld.c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”</a:t>
            </a: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2253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7166" y="1587104"/>
            <a:ext cx="4730353" cy="310276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1.3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编写程序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800100"/>
            <a:ext cx="6172200" cy="40195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编写代码：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2355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341" y="1338263"/>
            <a:ext cx="4920853" cy="323969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1.3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编写程序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 bwMode="auto">
          <a:xfrm>
            <a:off x="187960" y="800100"/>
            <a:ext cx="3698875" cy="40195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编写代码：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#include&lt;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stdio.h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&gt;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i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nt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main()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{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printf(“hello world\n”);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return 0;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22930" y="1044575"/>
            <a:ext cx="5824220" cy="3775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// #include &lt;stdio.h&gt; 编译预处理命令，表示优先读取 stdio.h 该头文件中所包含的</a:t>
            </a:r>
            <a:r>
              <a:rPr lang="en-US" altLang="zh-CN" sz="1400" b="1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标准输入输出库</a:t>
            </a:r>
            <a:r>
              <a:rPr lang="en-US" altLang="zh-CN" sz="1400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。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// int 表示它是返回值是 int 型（整型，即整数）</a:t>
            </a:r>
            <a:r>
              <a:rPr lang="zh-CN" altLang="en-US" sz="1400" kern="0" noProof="0" dirty="0" smtClean="0">
                <a:ln>
                  <a:noFill/>
                </a:ln>
                <a:effectLst/>
                <a:uLnTx/>
                <a:uFillTx/>
                <a:ea typeface="宋体" pitchFamily="2" charset="-122"/>
                <a:sym typeface="+mn-ea"/>
              </a:rPr>
              <a:t>，</a:t>
            </a:r>
            <a:r>
              <a:rPr lang="en-US" altLang="zh-CN" sz="1400" kern="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main 表示它的名字是 main (函数名) ，而 main 函数又称为 主函数，main 函数是C语言程序不可或缺的部分。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kern="0" noProof="0" dirty="0">
                <a:ln>
                  <a:noFill/>
                </a:ln>
                <a:effectLst/>
                <a:uLnTx/>
                <a:uFillTx/>
                <a:ea typeface="宋体" pitchFamily="2" charset="-122"/>
                <a:sym typeface="+mn-ea"/>
              </a:rPr>
              <a:t>// printf(" "); </a:t>
            </a:r>
            <a:r>
              <a:rPr lang="zh-CN" altLang="en-US" sz="1400" kern="0" noProof="0" dirty="0">
                <a:ln>
                  <a:noFill/>
                </a:ln>
                <a:effectLst/>
                <a:uLnTx/>
                <a:uFillTx/>
                <a:ea typeface="宋体" pitchFamily="2" charset="-122"/>
                <a:sym typeface="+mn-ea"/>
              </a:rPr>
              <a:t>双引号</a:t>
            </a:r>
            <a:r>
              <a:rPr lang="en-US" altLang="zh-CN" sz="1400" kern="0" noProof="0" dirty="0">
                <a:ln>
                  <a:noFill/>
                </a:ln>
                <a:effectLst/>
                <a:uLnTx/>
                <a:uFillTx/>
                <a:ea typeface="宋体" pitchFamily="2" charset="-122"/>
                <a:sym typeface="+mn-ea"/>
              </a:rPr>
              <a:t>里面所写的内容，便是我们想要输出的内容。在这条代码里面 " " 包含的内容是 hello world !\n ，但实际编译运行后，输出的内容为 hello world ! 而不是 hello world !\n 这是因为 \n 作为转义字符在此起换行的作用。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kern="0" noProof="0" dirty="0">
                <a:ln>
                  <a:noFill/>
                </a:ln>
                <a:effectLst/>
                <a:uLnTx/>
                <a:uFillTx/>
                <a:ea typeface="宋体" pitchFamily="2" charset="-122"/>
                <a:sym typeface="+mn-ea"/>
              </a:rPr>
              <a:t>// return 0; 放在主函数结束时，用来表示该函数成功完成，正常终止。它可以用来终止 main() 函数，并返回值0</a:t>
            </a:r>
            <a:r>
              <a:rPr lang="zh-CN" altLang="en-US" sz="1400" kern="0" noProof="0" dirty="0">
                <a:ln>
                  <a:noFill/>
                </a:ln>
                <a:effectLst/>
                <a:uLnTx/>
                <a:uFillTx/>
                <a:ea typeface="宋体" pitchFamily="2" charset="-122"/>
                <a:sym typeface="+mn-ea"/>
              </a:rPr>
              <a:t>。</a:t>
            </a:r>
            <a:endParaRPr lang="zh-CN" altLang="en-US" sz="1400" kern="0" noProof="0" dirty="0">
              <a:ln>
                <a:noFill/>
              </a:ln>
              <a:effectLst/>
              <a:uLnTx/>
              <a:uFillTx/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1.3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编写程序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800100"/>
            <a:ext cx="6172200" cy="40195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运行程序：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2560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479" y="1332310"/>
            <a:ext cx="4948238" cy="325516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7" y="85725"/>
            <a:ext cx="5824538" cy="5429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1.3 </a:t>
            </a:r>
            <a:r>
              <a:rPr kumimoji="0" lang="zh-CN" altLang="en-US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编写程序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 bwMode="auto">
          <a:xfrm>
            <a:off x="1485900" y="800100"/>
            <a:ext cx="6172200" cy="40195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运行结果：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 </a:t>
            </a:r>
            <a:r>
              <a:rPr kumimoji="0" lang="zh-CN" altLang="zh-CN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至此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，便完成了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HelloWorld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程序的创建、编写以及运行过程。读者在此只需有个大致印象即可，后面将会继续讲解如何使用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Visual Studio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开发工具编写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语言程序</a:t>
            </a:r>
            <a:endParaRPr kumimoji="0" lang="en-US" altLang="zh-CN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2662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069" y="1421606"/>
            <a:ext cx="4098131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最简单的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C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语言程序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24408"/>
            <a:ext cx="5424281" cy="44218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800" dirty="0" smtClean="0">
                <a:solidFill>
                  <a:schemeClr val="accent1"/>
                </a:solidFill>
              </a:rPr>
              <a:t>【</a:t>
            </a:r>
            <a:r>
              <a:rPr lang="zh-CN" altLang="en-US" sz="1800" dirty="0" smtClean="0">
                <a:solidFill>
                  <a:schemeClr val="accent1"/>
                </a:solidFill>
              </a:rPr>
              <a:t>例</a:t>
            </a:r>
            <a:r>
              <a:rPr lang="en-US" altLang="zh-CN" sz="1800" dirty="0" smtClean="0">
                <a:solidFill>
                  <a:schemeClr val="accent1"/>
                </a:solidFill>
              </a:rPr>
              <a:t>1.1】</a:t>
            </a:r>
            <a:r>
              <a:rPr lang="zh-CN" altLang="en-US" sz="1800" dirty="0" smtClean="0">
                <a:solidFill>
                  <a:schemeClr val="accent1"/>
                </a:solidFill>
              </a:rPr>
              <a:t>要求在屏幕上输出：</a:t>
            </a:r>
            <a:r>
              <a:rPr lang="en-US" altLang="zh-CN" sz="1800" dirty="0" smtClean="0">
                <a:solidFill>
                  <a:schemeClr val="accent1"/>
                </a:solidFill>
              </a:rPr>
              <a:t>This is a C program.</a:t>
            </a:r>
            <a:endParaRPr lang="en-US" altLang="zh-CN" sz="1800" dirty="0" smtClean="0">
              <a:solidFill>
                <a:schemeClr val="accent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95130" y="1766596"/>
            <a:ext cx="5078896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 b="1" dirty="0" smtClean="0"/>
              <a:t>解题思路</a:t>
            </a:r>
            <a:r>
              <a:rPr lang="en-US" altLang="zh-CN" sz="1500" b="1" dirty="0" smtClean="0"/>
              <a:t>: </a:t>
            </a:r>
            <a:r>
              <a:rPr lang="zh-CN" altLang="en-US" sz="1500" dirty="0" smtClean="0"/>
              <a:t>在主函数中用</a:t>
            </a:r>
            <a:r>
              <a:rPr lang="en-US" altLang="zh-CN" sz="1500" dirty="0" err="1" smtClean="0"/>
              <a:t>printf</a:t>
            </a:r>
            <a:r>
              <a:rPr lang="zh-CN" altLang="en-US" sz="1500" dirty="0" smtClean="0"/>
              <a:t>函数原样输出以上文字。</a:t>
            </a:r>
            <a:endParaRPr lang="zh-CN" altLang="en-US" sz="1500" dirty="0" smtClean="0"/>
          </a:p>
        </p:txBody>
      </p:sp>
      <p:sp>
        <p:nvSpPr>
          <p:cNvPr id="7" name="圆角矩形 6"/>
          <p:cNvSpPr/>
          <p:nvPr/>
        </p:nvSpPr>
        <p:spPr>
          <a:xfrm>
            <a:off x="795020" y="2208530"/>
            <a:ext cx="5423535" cy="1457325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1200" dirty="0" smtClean="0"/>
              <a:t>#include &lt;stdio.</a:t>
            </a:r>
            <a:r>
              <a:rPr lang="zh-CN" altLang="en-US" sz="1200" smtClean="0"/>
              <a:t>h&gt;	</a:t>
            </a:r>
            <a:r>
              <a:rPr lang="en-US" altLang="zh-CN" sz="1200" smtClean="0"/>
              <a:t>	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这是编译预处理指令</a:t>
            </a:r>
            <a:endParaRPr lang="zh-CN" altLang="en-US" sz="1200" dirty="0" smtClean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int </a:t>
            </a:r>
            <a:r>
              <a:rPr lang="zh-CN" altLang="en-US" sz="1200" smtClean="0"/>
              <a:t>main()			</a:t>
            </a:r>
            <a:r>
              <a:rPr lang="en-US" altLang="zh-CN" sz="1200" smtClean="0"/>
              <a:t>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定义主函数 </a:t>
            </a:r>
            <a:endParaRPr lang="zh-CN" altLang="en-US" sz="1200" dirty="0" smtClean="0">
              <a:solidFill>
                <a:srgbClr val="008000"/>
              </a:solidFill>
            </a:endParaRPr>
          </a:p>
          <a:p>
            <a:r>
              <a:rPr lang="zh-CN" altLang="en-US" sz="1200" smtClean="0"/>
              <a:t>{			</a:t>
            </a:r>
            <a:r>
              <a:rPr lang="en-US" altLang="zh-CN" sz="1200" smtClean="0"/>
              <a:t>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函数开始的标志 </a:t>
            </a:r>
            <a:endParaRPr lang="zh-CN" altLang="en-US" sz="1200" dirty="0" smtClean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err="1" smtClean="0"/>
              <a:t>printf</a:t>
            </a:r>
            <a:r>
              <a:rPr lang="en-US" altLang="zh-CN" sz="1200" dirty="0" smtClean="0"/>
              <a:t>("This is a C program.\n</a:t>
            </a:r>
            <a:r>
              <a:rPr lang="en-US" altLang="zh-CN" sz="1200" smtClean="0"/>
              <a:t>")</a:t>
            </a:r>
            <a:r>
              <a:rPr lang="zh-CN" altLang="en-US" sz="1200" smtClean="0"/>
              <a:t>;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输出所指定的一行信息</a:t>
            </a:r>
            <a:r>
              <a:rPr lang="zh-CN" altLang="en-US" sz="1200" dirty="0" smtClean="0">
                <a:solidFill>
                  <a:srgbClr val="0070C0"/>
                </a:solidFill>
              </a:rPr>
              <a:t> </a:t>
            </a:r>
            <a:endParaRPr lang="zh-CN" altLang="en-US" sz="1200" dirty="0" smtClean="0">
              <a:solidFill>
                <a:srgbClr val="0070C0"/>
              </a:solidFill>
            </a:endParaRPr>
          </a:p>
          <a:p>
            <a:r>
              <a:rPr lang="zh-CN" altLang="en-US" sz="1200" dirty="0" smtClean="0"/>
              <a:t>    return </a:t>
            </a:r>
            <a:r>
              <a:rPr lang="zh-CN" altLang="en-US" sz="1200" smtClean="0"/>
              <a:t>0;		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函数执行完毕时返回函数值0</a:t>
            </a:r>
            <a:endParaRPr lang="zh-CN" altLang="en-US" sz="1200" dirty="0" smtClean="0">
              <a:solidFill>
                <a:srgbClr val="008000"/>
              </a:solidFill>
            </a:endParaRPr>
          </a:p>
          <a:p>
            <a:r>
              <a:rPr lang="zh-CN" altLang="en-US" sz="1200" smtClean="0"/>
              <a:t>}			</a:t>
            </a:r>
            <a:r>
              <a:rPr lang="en-US" altLang="zh-CN" sz="1200" smtClean="0"/>
              <a:t>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函数结束的标志</a:t>
            </a:r>
            <a:endParaRPr lang="zh-CN" altLang="en-US" sz="1200" dirty="0">
              <a:solidFill>
                <a:srgbClr val="008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68985" y="3665855"/>
            <a:ext cx="4012565" cy="899160"/>
          </a:xfrm>
          <a:prstGeom prst="rect">
            <a:avLst/>
          </a:prstGeom>
        </p:spPr>
      </p:pic>
      <p:sp>
        <p:nvSpPr>
          <p:cNvPr id="9" name="折角形 8"/>
          <p:cNvSpPr/>
          <p:nvPr/>
        </p:nvSpPr>
        <p:spPr>
          <a:xfrm>
            <a:off x="6219190" y="370840"/>
            <a:ext cx="2820670" cy="4650105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6373468" y="496219"/>
            <a:ext cx="1429125" cy="411673"/>
            <a:chOff x="8656983" y="1203671"/>
            <a:chExt cx="1905500" cy="487017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9253331" y="1331843"/>
              <a:ext cx="1242392" cy="353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35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程序分析</a:t>
              </a:r>
              <a:endParaRPr lang="zh-CN" altLang="en-US" sz="13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8656983" y="1690688"/>
              <a:ext cx="19055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6311348" y="921745"/>
            <a:ext cx="2549387" cy="390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050" b="1" dirty="0" smtClean="0">
                <a:solidFill>
                  <a:srgbClr val="FFFF00"/>
                </a:solidFill>
              </a:rPr>
              <a:t>main</a:t>
            </a:r>
            <a:r>
              <a:rPr lang="zh-CN" altLang="en-US" sz="900" dirty="0" smtClean="0">
                <a:solidFill>
                  <a:schemeClr val="bg1"/>
                </a:solidFill>
              </a:rPr>
              <a:t>是函数的名字，表示“主函数”；每一个</a:t>
            </a:r>
            <a:r>
              <a:rPr lang="en-US" altLang="zh-CN" sz="900" dirty="0" smtClean="0">
                <a:solidFill>
                  <a:schemeClr val="bg1"/>
                </a:solidFill>
              </a:rPr>
              <a:t>C</a:t>
            </a:r>
            <a:r>
              <a:rPr lang="zh-CN" altLang="en-US" sz="900" dirty="0" smtClean="0">
                <a:solidFill>
                  <a:schemeClr val="bg1"/>
                </a:solidFill>
              </a:rPr>
              <a:t>语言程序都必须有一个 </a:t>
            </a:r>
            <a:r>
              <a:rPr lang="en-US" altLang="zh-CN" sz="900" dirty="0" smtClean="0">
                <a:solidFill>
                  <a:schemeClr val="bg1"/>
                </a:solidFill>
              </a:rPr>
              <a:t>main </a:t>
            </a:r>
            <a:r>
              <a:rPr lang="zh-CN" altLang="en-US" sz="900" dirty="0" smtClean="0">
                <a:solidFill>
                  <a:schemeClr val="bg1"/>
                </a:solidFill>
              </a:rPr>
              <a:t>函数。</a:t>
            </a:r>
            <a:endParaRPr lang="en-US" altLang="zh-CN" sz="9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900" dirty="0" smtClean="0">
                <a:solidFill>
                  <a:schemeClr val="bg1"/>
                </a:solidFill>
              </a:rPr>
              <a:t>main</a:t>
            </a:r>
            <a:r>
              <a:rPr lang="zh-CN" altLang="en-US" sz="900" dirty="0" smtClean="0">
                <a:solidFill>
                  <a:schemeClr val="bg1"/>
                </a:solidFill>
              </a:rPr>
              <a:t>前面的</a:t>
            </a:r>
            <a:r>
              <a:rPr lang="en-US" altLang="zh-CN" sz="1050" b="1" dirty="0" err="1">
                <a:solidFill>
                  <a:srgbClr val="FFFF00"/>
                </a:solidFill>
              </a:rPr>
              <a:t>int</a:t>
            </a:r>
            <a:r>
              <a:rPr lang="zh-CN" altLang="en-US" sz="900" dirty="0" smtClean="0">
                <a:solidFill>
                  <a:schemeClr val="bg1"/>
                </a:solidFill>
              </a:rPr>
              <a:t>表示此函数的类型是</a:t>
            </a:r>
            <a:r>
              <a:rPr lang="en-US" altLang="zh-CN" sz="900" dirty="0" err="1" smtClean="0">
                <a:solidFill>
                  <a:schemeClr val="bg1"/>
                </a:solidFill>
              </a:rPr>
              <a:t>int</a:t>
            </a:r>
            <a:r>
              <a:rPr lang="zh-CN" altLang="en-US" sz="900" dirty="0" smtClean="0">
                <a:solidFill>
                  <a:schemeClr val="bg1"/>
                </a:solidFill>
              </a:rPr>
              <a:t>类型</a:t>
            </a:r>
            <a:r>
              <a:rPr lang="en-US" altLang="zh-CN" sz="900" dirty="0" smtClean="0">
                <a:solidFill>
                  <a:schemeClr val="bg1"/>
                </a:solidFill>
              </a:rPr>
              <a:t>(</a:t>
            </a:r>
            <a:r>
              <a:rPr lang="zh-CN" altLang="en-US" sz="900" dirty="0" smtClean="0">
                <a:solidFill>
                  <a:schemeClr val="bg1"/>
                </a:solidFill>
              </a:rPr>
              <a:t>整型</a:t>
            </a:r>
            <a:r>
              <a:rPr lang="en-US" altLang="zh-CN" sz="900" dirty="0" smtClean="0">
                <a:solidFill>
                  <a:schemeClr val="bg1"/>
                </a:solidFill>
              </a:rPr>
              <a:t>)</a:t>
            </a:r>
            <a:r>
              <a:rPr lang="zh-CN" altLang="en-US" sz="900" dirty="0" smtClean="0">
                <a:solidFill>
                  <a:schemeClr val="bg1"/>
                </a:solidFill>
              </a:rPr>
              <a:t>，即在执行主函数后会得到一个值</a:t>
            </a:r>
            <a:r>
              <a:rPr lang="en-US" altLang="zh-CN" sz="900" dirty="0" smtClean="0">
                <a:solidFill>
                  <a:schemeClr val="bg1"/>
                </a:solidFill>
              </a:rPr>
              <a:t>(</a:t>
            </a:r>
            <a:r>
              <a:rPr lang="zh-CN" altLang="en-US" sz="900" dirty="0" smtClean="0">
                <a:solidFill>
                  <a:schemeClr val="bg1"/>
                </a:solidFill>
              </a:rPr>
              <a:t>即函数值</a:t>
            </a:r>
            <a:r>
              <a:rPr lang="en-US" altLang="zh-CN" sz="900" dirty="0" smtClean="0">
                <a:solidFill>
                  <a:schemeClr val="bg1"/>
                </a:solidFill>
              </a:rPr>
              <a:t>)</a:t>
            </a:r>
            <a:r>
              <a:rPr lang="zh-CN" altLang="en-US" sz="900" dirty="0" smtClean="0">
                <a:solidFill>
                  <a:schemeClr val="bg1"/>
                </a:solidFill>
              </a:rPr>
              <a:t>，其值为整型。</a:t>
            </a:r>
            <a:endParaRPr lang="en-US" altLang="zh-CN" sz="9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050" b="1" dirty="0">
                <a:solidFill>
                  <a:srgbClr val="FFFF00"/>
                </a:solidFill>
              </a:rPr>
              <a:t>return 0;</a:t>
            </a:r>
            <a:r>
              <a:rPr lang="zh-CN" altLang="en-US" sz="900" dirty="0" smtClean="0">
                <a:solidFill>
                  <a:schemeClr val="bg1"/>
                </a:solidFill>
              </a:rPr>
              <a:t>的作用是当</a:t>
            </a:r>
            <a:r>
              <a:rPr lang="en-US" altLang="zh-CN" sz="900" dirty="0" smtClean="0">
                <a:solidFill>
                  <a:schemeClr val="bg1"/>
                </a:solidFill>
              </a:rPr>
              <a:t>main</a:t>
            </a:r>
            <a:r>
              <a:rPr lang="zh-CN" altLang="en-US" sz="900" dirty="0" smtClean="0">
                <a:solidFill>
                  <a:schemeClr val="bg1"/>
                </a:solidFill>
              </a:rPr>
              <a:t>函数执行结束前将整数</a:t>
            </a:r>
            <a:r>
              <a:rPr lang="en-US" altLang="zh-CN" sz="900" dirty="0" smtClean="0">
                <a:solidFill>
                  <a:schemeClr val="bg1"/>
                </a:solidFill>
              </a:rPr>
              <a:t>0</a:t>
            </a:r>
            <a:r>
              <a:rPr lang="zh-CN" altLang="en-US" sz="900" dirty="0" smtClean="0">
                <a:solidFill>
                  <a:schemeClr val="bg1"/>
                </a:solidFill>
              </a:rPr>
              <a:t>作为函数值，返回到调用函数处。</a:t>
            </a:r>
            <a:endParaRPr lang="en-US" altLang="zh-CN" sz="9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900" dirty="0" smtClean="0">
                <a:solidFill>
                  <a:schemeClr val="bg1"/>
                </a:solidFill>
              </a:rPr>
              <a:t>函数体由花括号</a:t>
            </a:r>
            <a:r>
              <a:rPr lang="en-US" altLang="zh-CN" sz="1050" b="1" dirty="0">
                <a:solidFill>
                  <a:srgbClr val="FFFF00"/>
                </a:solidFill>
              </a:rPr>
              <a:t>{}</a:t>
            </a:r>
            <a:r>
              <a:rPr lang="zh-CN" altLang="en-US" sz="900" dirty="0" smtClean="0">
                <a:solidFill>
                  <a:schemeClr val="bg1"/>
                </a:solidFill>
              </a:rPr>
              <a:t>括起来。</a:t>
            </a:r>
            <a:endParaRPr lang="en-US" altLang="zh-CN" sz="9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050" b="1" dirty="0" err="1">
                <a:solidFill>
                  <a:srgbClr val="FFFF00"/>
                </a:solidFill>
              </a:rPr>
              <a:t>printf</a:t>
            </a:r>
            <a:r>
              <a:rPr lang="zh-CN" altLang="en-US" sz="900" dirty="0" smtClean="0">
                <a:solidFill>
                  <a:schemeClr val="bg1"/>
                </a:solidFill>
              </a:rPr>
              <a:t>是</a:t>
            </a:r>
            <a:r>
              <a:rPr lang="en-US" altLang="zh-CN" sz="900" dirty="0" smtClean="0">
                <a:solidFill>
                  <a:schemeClr val="bg1"/>
                </a:solidFill>
              </a:rPr>
              <a:t>C</a:t>
            </a:r>
            <a:r>
              <a:rPr lang="zh-CN" altLang="en-US" sz="900" dirty="0" smtClean="0">
                <a:solidFill>
                  <a:schemeClr val="bg1"/>
                </a:solidFill>
              </a:rPr>
              <a:t>编译系统提供的函数库中的输出函数</a:t>
            </a:r>
            <a:r>
              <a:rPr lang="en-US" altLang="zh-CN" sz="900" dirty="0" smtClean="0">
                <a:solidFill>
                  <a:schemeClr val="bg1"/>
                </a:solidFill>
              </a:rPr>
              <a:t>(</a:t>
            </a:r>
            <a:r>
              <a:rPr lang="zh-CN" altLang="en-US" sz="900" dirty="0" smtClean="0">
                <a:solidFill>
                  <a:schemeClr val="bg1"/>
                </a:solidFill>
              </a:rPr>
              <a:t>详见第</a:t>
            </a:r>
            <a:r>
              <a:rPr lang="en-US" altLang="zh-CN" sz="900" dirty="0" smtClean="0">
                <a:solidFill>
                  <a:schemeClr val="bg1"/>
                </a:solidFill>
              </a:rPr>
              <a:t>4</a:t>
            </a:r>
            <a:r>
              <a:rPr lang="zh-CN" altLang="en-US" sz="900" dirty="0" smtClean="0">
                <a:solidFill>
                  <a:schemeClr val="bg1"/>
                </a:solidFill>
              </a:rPr>
              <a:t>章</a:t>
            </a:r>
            <a:r>
              <a:rPr lang="en-US" altLang="zh-CN" sz="900" dirty="0" smtClean="0">
                <a:solidFill>
                  <a:schemeClr val="bg1"/>
                </a:solidFill>
              </a:rPr>
              <a:t>)</a:t>
            </a:r>
            <a:r>
              <a:rPr lang="zh-CN" altLang="en-US" sz="900" dirty="0" smtClean="0">
                <a:solidFill>
                  <a:schemeClr val="bg1"/>
                </a:solidFill>
              </a:rPr>
              <a:t>。</a:t>
            </a:r>
            <a:r>
              <a:rPr lang="en-US" altLang="zh-CN" sz="900" dirty="0" err="1" smtClean="0">
                <a:solidFill>
                  <a:schemeClr val="bg1"/>
                </a:solidFill>
              </a:rPr>
              <a:t>printf</a:t>
            </a:r>
            <a:r>
              <a:rPr lang="zh-CN" altLang="en-US" sz="900" dirty="0" smtClean="0">
                <a:solidFill>
                  <a:schemeClr val="bg1"/>
                </a:solidFill>
              </a:rPr>
              <a:t>函数中</a:t>
            </a:r>
            <a:r>
              <a:rPr lang="zh-CN" altLang="en-US" sz="1050" b="1" dirty="0" smtClean="0">
                <a:solidFill>
                  <a:srgbClr val="FFFF00"/>
                </a:solidFill>
              </a:rPr>
              <a:t>双引号</a:t>
            </a:r>
            <a:r>
              <a:rPr lang="zh-CN" altLang="en-US" sz="900" dirty="0" smtClean="0">
                <a:solidFill>
                  <a:schemeClr val="bg1"/>
                </a:solidFill>
              </a:rPr>
              <a:t>内的字符串</a:t>
            </a:r>
            <a:r>
              <a:rPr lang="en-US" altLang="zh-CN" sz="900" dirty="0" smtClean="0">
                <a:solidFill>
                  <a:schemeClr val="bg1"/>
                </a:solidFill>
              </a:rPr>
              <a:t>″This is a C program.″</a:t>
            </a:r>
            <a:r>
              <a:rPr lang="zh-CN" altLang="en-US" sz="900" dirty="0" smtClean="0">
                <a:solidFill>
                  <a:schemeClr val="bg1"/>
                </a:solidFill>
              </a:rPr>
              <a:t>按原样输出。</a:t>
            </a:r>
            <a:r>
              <a:rPr lang="en-US" altLang="zh-CN" sz="1050" b="1" dirty="0">
                <a:solidFill>
                  <a:srgbClr val="FFFF00"/>
                </a:solidFill>
              </a:rPr>
              <a:t>\n</a:t>
            </a:r>
            <a:r>
              <a:rPr lang="zh-CN" altLang="en-US" sz="900" dirty="0" smtClean="0">
                <a:solidFill>
                  <a:schemeClr val="bg1"/>
                </a:solidFill>
              </a:rPr>
              <a:t>是换行符，即在输出</a:t>
            </a:r>
            <a:r>
              <a:rPr lang="en-US" altLang="zh-CN" sz="900" dirty="0" smtClean="0">
                <a:solidFill>
                  <a:schemeClr val="bg1"/>
                </a:solidFill>
              </a:rPr>
              <a:t>″This is a C program.″</a:t>
            </a:r>
            <a:r>
              <a:rPr lang="zh-CN" altLang="en-US" sz="900" dirty="0" smtClean="0">
                <a:solidFill>
                  <a:schemeClr val="bg1"/>
                </a:solidFill>
              </a:rPr>
              <a:t>后，显示屏上的光标位置移到下一行的开头。</a:t>
            </a:r>
            <a:endParaRPr lang="en-US" altLang="zh-CN" sz="9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900" dirty="0" smtClean="0">
                <a:solidFill>
                  <a:schemeClr val="bg1"/>
                </a:solidFill>
              </a:rPr>
              <a:t>每个语句最后都有一个</a:t>
            </a:r>
            <a:r>
              <a:rPr lang="zh-CN" altLang="en-US" sz="1050" b="1" dirty="0">
                <a:solidFill>
                  <a:srgbClr val="FFFF00"/>
                </a:solidFill>
              </a:rPr>
              <a:t>分号</a:t>
            </a:r>
            <a:r>
              <a:rPr lang="zh-CN" altLang="en-US" sz="900" dirty="0" smtClean="0">
                <a:solidFill>
                  <a:schemeClr val="bg1"/>
                </a:solidFill>
              </a:rPr>
              <a:t>，表示语句结束。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最简单的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C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语言程序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74370" y="1106170"/>
            <a:ext cx="5352415" cy="1303020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1200" dirty="0" smtClean="0"/>
              <a:t>#include &lt;stdio.</a:t>
            </a:r>
            <a:r>
              <a:rPr lang="zh-CN" altLang="en-US" sz="1200" smtClean="0"/>
              <a:t>h&gt;	</a:t>
            </a:r>
            <a:r>
              <a:rPr lang="en-US" altLang="zh-CN" sz="1200" smtClean="0"/>
              <a:t>	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这是编译预处理指令</a:t>
            </a:r>
            <a:endParaRPr lang="zh-CN" altLang="en-US" sz="1200" dirty="0" smtClean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int </a:t>
            </a:r>
            <a:r>
              <a:rPr lang="zh-CN" altLang="en-US" sz="1200" smtClean="0"/>
              <a:t>main()			</a:t>
            </a:r>
            <a:r>
              <a:rPr lang="en-US" altLang="zh-CN" sz="1200" smtClean="0"/>
              <a:t>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定义主函数 </a:t>
            </a:r>
            <a:endParaRPr lang="zh-CN" altLang="en-US" sz="1200" dirty="0" smtClean="0">
              <a:solidFill>
                <a:srgbClr val="008000"/>
              </a:solidFill>
            </a:endParaRPr>
          </a:p>
          <a:p>
            <a:r>
              <a:rPr lang="zh-CN" altLang="en-US" sz="1200" smtClean="0"/>
              <a:t>{			</a:t>
            </a:r>
            <a:r>
              <a:rPr lang="en-US" altLang="zh-CN" sz="1200" smtClean="0"/>
              <a:t>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函数开始的标志 </a:t>
            </a:r>
            <a:endParaRPr lang="zh-CN" altLang="en-US" sz="1200" dirty="0" smtClean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err="1" smtClean="0"/>
              <a:t>printf</a:t>
            </a:r>
            <a:r>
              <a:rPr lang="en-US" altLang="zh-CN" sz="1200" dirty="0" smtClean="0"/>
              <a:t>("This is a C program.\n</a:t>
            </a:r>
            <a:r>
              <a:rPr lang="en-US" altLang="zh-CN" sz="1200" smtClean="0"/>
              <a:t>")</a:t>
            </a:r>
            <a:r>
              <a:rPr lang="zh-CN" altLang="en-US" sz="1200" smtClean="0"/>
              <a:t>;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输出所指定的一行信息</a:t>
            </a:r>
            <a:r>
              <a:rPr lang="zh-CN" altLang="en-US" sz="1200" dirty="0" smtClean="0">
                <a:solidFill>
                  <a:srgbClr val="0070C0"/>
                </a:solidFill>
              </a:rPr>
              <a:t> </a:t>
            </a:r>
            <a:endParaRPr lang="zh-CN" altLang="en-US" sz="1200" dirty="0" smtClean="0">
              <a:solidFill>
                <a:srgbClr val="0070C0"/>
              </a:solidFill>
            </a:endParaRPr>
          </a:p>
          <a:p>
            <a:r>
              <a:rPr lang="zh-CN" altLang="en-US" sz="1200" dirty="0" smtClean="0"/>
              <a:t>    return </a:t>
            </a:r>
            <a:r>
              <a:rPr lang="zh-CN" altLang="en-US" sz="1200" smtClean="0"/>
              <a:t>0;		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函数执行完毕时返回函数值0</a:t>
            </a:r>
            <a:endParaRPr lang="zh-CN" altLang="en-US" sz="1200" dirty="0" smtClean="0">
              <a:solidFill>
                <a:srgbClr val="008000"/>
              </a:solidFill>
            </a:endParaRPr>
          </a:p>
          <a:p>
            <a:r>
              <a:rPr lang="zh-CN" altLang="en-US" sz="1200" smtClean="0"/>
              <a:t>}			</a:t>
            </a:r>
            <a:r>
              <a:rPr lang="en-US" altLang="zh-CN" sz="1200" smtClean="0"/>
              <a:t>	</a:t>
            </a:r>
            <a:r>
              <a:rPr lang="zh-CN" altLang="en-US" sz="120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函数结束的标志</a:t>
            </a:r>
            <a:endParaRPr lang="zh-CN" altLang="en-US" sz="1200" dirty="0">
              <a:solidFill>
                <a:srgbClr val="008000"/>
              </a:solidFill>
            </a:endParaRPr>
          </a:p>
        </p:txBody>
      </p:sp>
      <p:sp>
        <p:nvSpPr>
          <p:cNvPr id="9" name="折角形 8"/>
          <p:cNvSpPr/>
          <p:nvPr/>
        </p:nvSpPr>
        <p:spPr>
          <a:xfrm>
            <a:off x="674618" y="2510911"/>
            <a:ext cx="7840733" cy="1961699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828675" y="2575983"/>
            <a:ext cx="1379055" cy="411673"/>
            <a:chOff x="8656983" y="1203671"/>
            <a:chExt cx="1838740" cy="487017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9253331" y="1331843"/>
              <a:ext cx="1242392" cy="353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35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程序分析</a:t>
              </a:r>
              <a:endParaRPr lang="zh-CN" altLang="en-US" sz="13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8656983" y="1690688"/>
              <a:ext cx="18387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766555" y="3068597"/>
            <a:ext cx="7313261" cy="130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90204" pitchFamily="34" charset="0"/>
              <a:buChar char="•"/>
            </a:pPr>
            <a:r>
              <a:rPr lang="zh-CN" altLang="en-US" sz="1200" dirty="0" smtClean="0">
                <a:solidFill>
                  <a:schemeClr val="bg1"/>
                </a:solidFill>
              </a:rPr>
              <a:t>在使用函数库中的输入输出函数时，编译系统要求程序提供有关此函数的信息，程序第</a:t>
            </a:r>
            <a:r>
              <a:rPr lang="en-US" altLang="zh-CN" sz="1200" dirty="0" smtClean="0">
                <a:solidFill>
                  <a:schemeClr val="bg1"/>
                </a:solidFill>
              </a:rPr>
              <a:t>1</a:t>
            </a:r>
            <a:r>
              <a:rPr lang="zh-CN" altLang="en-US" sz="1200" dirty="0" smtClean="0">
                <a:solidFill>
                  <a:schemeClr val="bg1"/>
                </a:solidFill>
              </a:rPr>
              <a:t>行“</a:t>
            </a:r>
            <a:r>
              <a:rPr lang="en-US" altLang="zh-CN" sz="1350" b="1" dirty="0" smtClean="0">
                <a:solidFill>
                  <a:srgbClr val="FFFF00"/>
                </a:solidFill>
              </a:rPr>
              <a:t>#include &lt;</a:t>
            </a:r>
            <a:r>
              <a:rPr lang="en-US" altLang="zh-CN" sz="1350" b="1" dirty="0" err="1" smtClean="0">
                <a:solidFill>
                  <a:srgbClr val="FFFF00"/>
                </a:solidFill>
              </a:rPr>
              <a:t>stdio.h</a:t>
            </a:r>
            <a:r>
              <a:rPr lang="en-US" altLang="zh-CN" sz="1350" b="1" dirty="0" smtClean="0">
                <a:solidFill>
                  <a:srgbClr val="FFFF00"/>
                </a:solidFill>
              </a:rPr>
              <a:t>&gt;</a:t>
            </a:r>
            <a:r>
              <a:rPr lang="en-US" altLang="zh-CN" sz="1200" dirty="0" smtClean="0">
                <a:solidFill>
                  <a:schemeClr val="bg1"/>
                </a:solidFill>
              </a:rPr>
              <a:t>”</a:t>
            </a:r>
            <a:r>
              <a:rPr lang="zh-CN" altLang="en-US" sz="1200" dirty="0" smtClean="0">
                <a:solidFill>
                  <a:schemeClr val="bg1"/>
                </a:solidFill>
              </a:rPr>
              <a:t>的作用就是用来提供这些信息的。</a:t>
            </a:r>
            <a:r>
              <a:rPr lang="en-US" altLang="zh-CN" sz="1350" b="1" dirty="0" err="1" smtClean="0">
                <a:solidFill>
                  <a:srgbClr val="FFFF00"/>
                </a:solidFill>
              </a:rPr>
              <a:t>stdio.h</a:t>
            </a:r>
            <a:r>
              <a:rPr lang="zh-CN" altLang="en-US" sz="1200" dirty="0" smtClean="0">
                <a:solidFill>
                  <a:schemeClr val="bg1"/>
                </a:solidFill>
              </a:rPr>
              <a:t>是系统提供的一个文件名，</a:t>
            </a:r>
            <a:r>
              <a:rPr lang="en-US" altLang="zh-CN" sz="1350" b="1" dirty="0" err="1">
                <a:solidFill>
                  <a:srgbClr val="FFFF00"/>
                </a:solidFill>
              </a:rPr>
              <a:t>stdio</a:t>
            </a:r>
            <a:r>
              <a:rPr lang="zh-CN" altLang="en-US" sz="1200" dirty="0" smtClean="0">
                <a:solidFill>
                  <a:schemeClr val="bg1"/>
                </a:solidFill>
              </a:rPr>
              <a:t>是</a:t>
            </a:r>
            <a:r>
              <a:rPr lang="en-US" altLang="zh-CN" sz="1200" dirty="0" smtClean="0">
                <a:solidFill>
                  <a:schemeClr val="bg1"/>
                </a:solidFill>
              </a:rPr>
              <a:t>standard input &amp; output</a:t>
            </a:r>
            <a:r>
              <a:rPr lang="zh-CN" altLang="en-US" sz="1200" dirty="0" smtClean="0">
                <a:solidFill>
                  <a:schemeClr val="bg1"/>
                </a:solidFill>
              </a:rPr>
              <a:t>的缩写，文件后缀</a:t>
            </a:r>
            <a:r>
              <a:rPr lang="en-US" altLang="zh-CN" sz="1350" b="1" dirty="0">
                <a:solidFill>
                  <a:srgbClr val="FFFF00"/>
                </a:solidFill>
              </a:rPr>
              <a:t>.h</a:t>
            </a:r>
            <a:r>
              <a:rPr lang="zh-CN" altLang="en-US" sz="1200" dirty="0" smtClean="0">
                <a:solidFill>
                  <a:schemeClr val="bg1"/>
                </a:solidFill>
              </a:rPr>
              <a:t>的意思是头文件</a:t>
            </a:r>
            <a:r>
              <a:rPr lang="en-US" altLang="zh-CN" sz="1200" dirty="0" smtClean="0">
                <a:solidFill>
                  <a:schemeClr val="bg1"/>
                </a:solidFill>
              </a:rPr>
              <a:t>(header file)</a:t>
            </a:r>
            <a:r>
              <a:rPr lang="zh-CN" altLang="en-US" sz="1200" dirty="0" smtClean="0">
                <a:solidFill>
                  <a:schemeClr val="bg1"/>
                </a:solidFill>
              </a:rPr>
              <a:t>，因为这些文件都是放在程序各文件模块的开头的。输入输出函数的相关信息已事先放在</a:t>
            </a:r>
            <a:r>
              <a:rPr lang="en-US" altLang="zh-CN" sz="1200" dirty="0" err="1" smtClean="0">
                <a:solidFill>
                  <a:schemeClr val="bg1"/>
                </a:solidFill>
              </a:rPr>
              <a:t>stdio.h</a:t>
            </a:r>
            <a:r>
              <a:rPr lang="zh-CN" altLang="en-US" sz="1200" dirty="0" smtClean="0">
                <a:solidFill>
                  <a:schemeClr val="bg1"/>
                </a:solidFill>
              </a:rPr>
              <a:t>文件中。</a:t>
            </a:r>
            <a:endParaRPr lang="en-US" altLang="zh-CN" sz="105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200" dirty="0" smtClean="0">
                <a:solidFill>
                  <a:srgbClr val="782367"/>
                </a:solidFill>
                <a:sym typeface="+mn-ea"/>
              </a:rPr>
              <a:t>1</a:t>
            </a:r>
            <a:r>
              <a:rPr lang="en-US" altLang="zh-CN" sz="3200" dirty="0" smtClean="0">
                <a:solidFill>
                  <a:srgbClr val="782367"/>
                </a:solidFill>
                <a:sym typeface="+mn-ea"/>
              </a:rPr>
              <a:t>.4 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注释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5" name="MH_Other_1"/>
          <p:cNvSpPr/>
          <p:nvPr>
            <p:custDataLst>
              <p:tags r:id="rId1"/>
            </p:custDataLst>
          </p:nvPr>
        </p:nvSpPr>
        <p:spPr>
          <a:xfrm rot="5400000">
            <a:off x="823318" y="1228390"/>
            <a:ext cx="216694" cy="325040"/>
          </a:xfrm>
          <a:prstGeom prst="corner">
            <a:avLst>
              <a:gd name="adj1" fmla="val 22649"/>
              <a:gd name="adj2" fmla="val 2069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015"/>
          </a:p>
        </p:txBody>
      </p:sp>
      <p:cxnSp>
        <p:nvCxnSpPr>
          <p:cNvPr id="6" name="MH_Other_2"/>
          <p:cNvCxnSpPr/>
          <p:nvPr>
            <p:custDataLst>
              <p:tags r:id="rId2"/>
            </p:custDataLst>
          </p:nvPr>
        </p:nvCxnSpPr>
        <p:spPr>
          <a:xfrm>
            <a:off x="763190" y="1680748"/>
            <a:ext cx="170419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H_Other_3"/>
          <p:cNvSpPr/>
          <p:nvPr>
            <p:custDataLst>
              <p:tags r:id="rId3"/>
            </p:custDataLst>
          </p:nvPr>
        </p:nvSpPr>
        <p:spPr>
          <a:xfrm rot="5400000">
            <a:off x="5259016" y="1228390"/>
            <a:ext cx="216694" cy="325040"/>
          </a:xfrm>
          <a:prstGeom prst="corner">
            <a:avLst>
              <a:gd name="adj1" fmla="val 22649"/>
              <a:gd name="adj2" fmla="val 2069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015"/>
          </a:p>
        </p:txBody>
      </p:sp>
      <p:cxnSp>
        <p:nvCxnSpPr>
          <p:cNvPr id="8" name="MH_Other_4"/>
          <p:cNvCxnSpPr/>
          <p:nvPr>
            <p:custDataLst>
              <p:tags r:id="rId4"/>
            </p:custDataLst>
          </p:nvPr>
        </p:nvCxnSpPr>
        <p:spPr>
          <a:xfrm>
            <a:off x="5204843" y="1680748"/>
            <a:ext cx="239439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H_Text_1"/>
          <p:cNvSpPr txBox="1"/>
          <p:nvPr>
            <p:custDataLst>
              <p:tags r:id="rId5"/>
            </p:custDataLst>
          </p:nvPr>
        </p:nvSpPr>
        <p:spPr>
          <a:xfrm>
            <a:off x="711995" y="1700472"/>
            <a:ext cx="1829938" cy="1597819"/>
          </a:xfrm>
          <a:prstGeom prst="rect">
            <a:avLst/>
          </a:prstGeom>
          <a:noFill/>
        </p:spPr>
        <p:txBody>
          <a:bodyPr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ysClr val="window" lastClr="FFFFFF">
                    <a:lumMod val="50000"/>
                  </a:sys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zh-CN" altLang="en-US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这种注释可以单独占一行，也可以出现在一行中其他内容的右侧。此种注释的范围从</a:t>
            </a:r>
            <a:r>
              <a:rPr lang="en-US" altLang="zh-CN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//</a:t>
            </a:r>
            <a:r>
              <a:rPr lang="zh-CN" altLang="en-US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开始，以换行符结束。如果注释内容一行内写不下，可以用多个单行注释。</a:t>
            </a:r>
            <a:endParaRPr lang="zh-CN" altLang="en-US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1" name="MH_Text_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50074" y="1755239"/>
            <a:ext cx="2527904" cy="1596629"/>
          </a:xfrm>
          <a:prstGeom prst="rect">
            <a:avLst/>
          </a:prstGeom>
          <a:noFill/>
        </p:spPr>
        <p:txBody>
          <a:bodyPr>
            <a:noAutofit/>
          </a:bodyPr>
          <a:lstStyle>
            <a:defPPr>
              <a:defRPr lang="zh-CN"/>
            </a:defPPr>
            <a:lvl1pPr marR="0" lvl="0" indent="0" algn="just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defRPr>
            </a:lvl1pPr>
          </a:lstStyle>
          <a:p>
            <a:r>
              <a:rPr lang="zh-CN" altLang="en-US" sz="1200" dirty="0"/>
              <a:t>这种注释可以包含多行内容。它可以单独占一行</a:t>
            </a:r>
            <a:r>
              <a:rPr lang="en-US" altLang="zh-CN" sz="1200" dirty="0"/>
              <a:t>(</a:t>
            </a:r>
            <a:r>
              <a:rPr lang="zh-CN" altLang="en-US" sz="1200" dirty="0"/>
              <a:t>在行开头以</a:t>
            </a:r>
            <a:r>
              <a:rPr lang="en-US" altLang="zh-CN" sz="1200" dirty="0"/>
              <a:t>/</a:t>
            </a:r>
            <a:r>
              <a:rPr lang="zh-CN" altLang="en-US" sz="1200" dirty="0"/>
              <a:t>*开始，行末以*</a:t>
            </a:r>
            <a:r>
              <a:rPr lang="en-US" altLang="zh-CN" sz="1200" dirty="0"/>
              <a:t>/</a:t>
            </a:r>
            <a:r>
              <a:rPr lang="zh-CN" altLang="en-US" sz="1200" dirty="0"/>
              <a:t>结束），也可以包含多行。编译系统在发现一个</a:t>
            </a:r>
            <a:r>
              <a:rPr lang="en-US" altLang="zh-CN" sz="1200" dirty="0"/>
              <a:t>/</a:t>
            </a:r>
            <a:r>
              <a:rPr lang="zh-CN" altLang="en-US" sz="1200" dirty="0"/>
              <a:t>*后，会开始找注释结束符*</a:t>
            </a:r>
            <a:r>
              <a:rPr lang="en-US" altLang="zh-CN" sz="1200" dirty="0"/>
              <a:t>/</a:t>
            </a:r>
            <a:r>
              <a:rPr lang="zh-CN" altLang="en-US" sz="1200" dirty="0"/>
              <a:t>，把二者间的内容作为注释。</a:t>
            </a:r>
            <a:endParaRPr lang="zh-CN" altLang="en-US" sz="1200" dirty="0"/>
          </a:p>
        </p:txBody>
      </p:sp>
      <p:sp>
        <p:nvSpPr>
          <p:cNvPr id="12" name="MH_SubTitle_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58440" y="1343284"/>
            <a:ext cx="1549004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zh-CN" altLang="en-US" sz="135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altLang="zh-CN" sz="135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//</a:t>
            </a:r>
            <a:r>
              <a:rPr lang="zh-CN" altLang="en-US" sz="135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开始的单行注释</a:t>
            </a:r>
            <a:endParaRPr lang="zh-CN" altLang="en-US" sz="135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MH_SubTitle_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301904" y="1343284"/>
            <a:ext cx="22643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 fontScale="92500"/>
          </a:bodyPr>
          <a:lstStyle>
            <a:defPPr>
              <a:defRPr lang="zh-CN"/>
            </a:defPPr>
            <a:lvl1pPr algn="ctr">
              <a:defRPr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1350" dirty="0"/>
              <a:t>以</a:t>
            </a:r>
            <a:r>
              <a:rPr lang="en-US" altLang="zh-CN" sz="1350" dirty="0"/>
              <a:t>/</a:t>
            </a:r>
            <a:r>
              <a:rPr lang="zh-CN" altLang="en-US" sz="1350" dirty="0"/>
              <a:t>*开始，以*</a:t>
            </a:r>
            <a:r>
              <a:rPr lang="en-US" altLang="zh-CN" sz="1350" dirty="0"/>
              <a:t>/</a:t>
            </a:r>
            <a:r>
              <a:rPr lang="zh-CN" altLang="en-US" sz="1350" dirty="0"/>
              <a:t>结束的块式注释</a:t>
            </a:r>
            <a:endParaRPr lang="zh-CN" altLang="en-US" sz="1350" dirty="0"/>
          </a:p>
        </p:txBody>
      </p:sp>
      <p:sp>
        <p:nvSpPr>
          <p:cNvPr id="14" name="矩形 13"/>
          <p:cNvSpPr/>
          <p:nvPr/>
        </p:nvSpPr>
        <p:spPr>
          <a:xfrm>
            <a:off x="763191" y="3839091"/>
            <a:ext cx="6914787" cy="29908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1350" dirty="0"/>
              <a:t>注意：在字符串中的</a:t>
            </a:r>
            <a:r>
              <a:rPr lang="en-US" altLang="zh-CN" sz="1350" dirty="0"/>
              <a:t>//</a:t>
            </a:r>
            <a:r>
              <a:rPr lang="zh-CN" altLang="en-US" sz="1350" dirty="0"/>
              <a:t>和</a:t>
            </a:r>
            <a:r>
              <a:rPr lang="en-US" altLang="zh-CN" sz="1350" dirty="0"/>
              <a:t>/</a:t>
            </a:r>
            <a:r>
              <a:rPr lang="zh-CN" altLang="en-US" sz="1350" dirty="0"/>
              <a:t>*都不作为注释的开始。而是作为字符串的一部分。</a:t>
            </a:r>
            <a:endParaRPr lang="zh-CN" altLang="en-US" sz="1350" dirty="0"/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3317858" y="1754091"/>
            <a:ext cx="1259111" cy="7966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900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//</a:t>
            </a:r>
            <a:r>
              <a:rPr lang="zh-CN" altLang="en-US" sz="900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第一行注释</a:t>
            </a:r>
            <a:endParaRPr lang="en-US" altLang="zh-CN" sz="900" dirty="0" smtClea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900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//</a:t>
            </a:r>
            <a:r>
              <a:rPr lang="zh-CN" altLang="en-US" sz="900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继续注释</a:t>
            </a:r>
            <a:endParaRPr lang="en-US" altLang="zh-CN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3317858" y="2626301"/>
            <a:ext cx="1259111" cy="7966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anchor="ctr"/>
          <a:lstStyle>
            <a:lvl1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defTabSz="7175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defTabSz="71755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900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/</a:t>
            </a:r>
            <a:r>
              <a:rPr lang="zh-CN" altLang="en-US" sz="900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*一整块都是</a:t>
            </a:r>
            <a:endParaRPr lang="en-US" altLang="zh-CN" sz="900" dirty="0" smtClea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900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注释*</a:t>
            </a:r>
            <a:r>
              <a:rPr lang="en-US" altLang="zh-CN" sz="900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/</a:t>
            </a:r>
            <a:endParaRPr lang="en-US" altLang="zh-CN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200" dirty="0" smtClean="0">
                <a:solidFill>
                  <a:srgbClr val="782367"/>
                </a:solidFill>
                <a:sym typeface="+mn-ea"/>
              </a:rPr>
              <a:t>1</a:t>
            </a:r>
            <a:r>
              <a:rPr lang="en-US" altLang="zh-CN" sz="3200" dirty="0" smtClean="0">
                <a:solidFill>
                  <a:srgbClr val="782367"/>
                </a:solidFill>
                <a:sym typeface="+mn-ea"/>
              </a:rPr>
              <a:t>.4 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注释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426601" y="1396328"/>
            <a:ext cx="2628900" cy="1260611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 dirty="0" smtClean="0"/>
              <a:t>#include &lt;</a:t>
            </a:r>
            <a:r>
              <a:rPr lang="en-US" altLang="zh-CN" sz="1200" dirty="0" err="1" smtClean="0"/>
              <a:t>stdio.h</a:t>
            </a:r>
            <a:r>
              <a:rPr lang="en-US" altLang="zh-CN" sz="1200" dirty="0" smtClean="0"/>
              <a:t>&gt;</a:t>
            </a:r>
            <a:endParaRPr lang="en-US" altLang="zh-CN" sz="1200" dirty="0" smtClean="0"/>
          </a:p>
          <a:p>
            <a:r>
              <a:rPr lang="en-US" altLang="zh-CN" sz="1200" dirty="0" err="1" smtClean="0"/>
              <a:t>int</a:t>
            </a:r>
            <a:r>
              <a:rPr lang="en-US" altLang="zh-CN" sz="1200" dirty="0" smtClean="0"/>
              <a:t> </a:t>
            </a:r>
            <a:r>
              <a:rPr lang="en-US" altLang="zh-CN" sz="1200" smtClean="0"/>
              <a:t>main()	</a:t>
            </a:r>
            <a:endParaRPr lang="en-US" altLang="zh-CN" sz="1200" dirty="0" smtClean="0"/>
          </a:p>
          <a:p>
            <a:r>
              <a:rPr lang="en-US" altLang="zh-CN" sz="1200" dirty="0" smtClean="0"/>
              <a:t>{</a:t>
            </a:r>
            <a:endParaRPr lang="en-US" altLang="zh-CN" sz="1200" dirty="0" smtClean="0"/>
          </a:p>
          <a:p>
            <a:r>
              <a:rPr lang="en-US" altLang="zh-CN" sz="1200" dirty="0" smtClean="0"/>
              <a:t>    </a:t>
            </a:r>
            <a:r>
              <a:rPr lang="en-US" altLang="zh-CN" sz="1200" dirty="0" err="1" smtClean="0"/>
              <a:t>printf</a:t>
            </a:r>
            <a:r>
              <a:rPr lang="en-US" altLang="zh-CN" sz="1200" dirty="0" smtClean="0"/>
              <a:t>("//how do you do!\n");</a:t>
            </a:r>
            <a:endParaRPr lang="en-US" altLang="zh-CN" sz="1200" dirty="0" smtClean="0"/>
          </a:p>
          <a:p>
            <a:r>
              <a:rPr lang="en-US" altLang="zh-CN" sz="1200" dirty="0" smtClean="0"/>
              <a:t>    return 0;</a:t>
            </a:r>
            <a:endParaRPr lang="en-US" altLang="zh-CN" sz="1200" dirty="0" smtClean="0"/>
          </a:p>
          <a:p>
            <a:r>
              <a:rPr lang="en-US" altLang="zh-CN" sz="1200" dirty="0" smtClean="0"/>
              <a:t>}</a:t>
            </a:r>
            <a:endParaRPr lang="zh-CN" altLang="en-US" sz="1200" dirty="0">
              <a:solidFill>
                <a:srgbClr val="008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426601" y="2898343"/>
            <a:ext cx="2628900" cy="792956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5228319" y="1396328"/>
            <a:ext cx="2628900" cy="1260611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 dirty="0" smtClean="0"/>
              <a:t>#include &lt;</a:t>
            </a:r>
            <a:r>
              <a:rPr lang="en-US" altLang="zh-CN" sz="1200" dirty="0" err="1" smtClean="0"/>
              <a:t>stdio.h</a:t>
            </a:r>
            <a:r>
              <a:rPr lang="en-US" altLang="zh-CN" sz="1200" dirty="0" smtClean="0"/>
              <a:t>&gt;</a:t>
            </a:r>
            <a:endParaRPr lang="en-US" altLang="zh-CN" sz="1200" dirty="0" smtClean="0"/>
          </a:p>
          <a:p>
            <a:r>
              <a:rPr lang="en-US" altLang="zh-CN" sz="1200" dirty="0" err="1" smtClean="0"/>
              <a:t>int</a:t>
            </a:r>
            <a:r>
              <a:rPr lang="en-US" altLang="zh-CN" sz="1200" dirty="0" smtClean="0"/>
              <a:t> </a:t>
            </a:r>
            <a:r>
              <a:rPr lang="en-US" altLang="zh-CN" sz="1200" smtClean="0"/>
              <a:t>main()	</a:t>
            </a:r>
            <a:endParaRPr lang="en-US" altLang="zh-CN" sz="1200" dirty="0" smtClean="0"/>
          </a:p>
          <a:p>
            <a:r>
              <a:rPr lang="en-US" altLang="zh-CN" sz="1200" dirty="0" smtClean="0"/>
              <a:t>{</a:t>
            </a:r>
            <a:endParaRPr lang="en-US" altLang="zh-CN" sz="1200" dirty="0" smtClean="0"/>
          </a:p>
          <a:p>
            <a:r>
              <a:rPr lang="en-US" altLang="zh-CN" sz="1200" dirty="0" smtClean="0"/>
              <a:t>    </a:t>
            </a:r>
            <a:r>
              <a:rPr lang="en-US" altLang="zh-CN" sz="1200" dirty="0" err="1" smtClean="0"/>
              <a:t>printf</a:t>
            </a:r>
            <a:r>
              <a:rPr lang="en-US" altLang="zh-CN" sz="1200" dirty="0" smtClean="0"/>
              <a:t>("/*how do you do!*/\n");</a:t>
            </a:r>
            <a:endParaRPr lang="en-US" altLang="zh-CN" sz="1200" dirty="0" smtClean="0"/>
          </a:p>
          <a:p>
            <a:r>
              <a:rPr lang="en-US" altLang="zh-CN" sz="1200" dirty="0" smtClean="0"/>
              <a:t>    return 0;</a:t>
            </a:r>
            <a:endParaRPr lang="en-US" altLang="zh-CN" sz="1200" dirty="0" smtClean="0"/>
          </a:p>
          <a:p>
            <a:r>
              <a:rPr lang="en-US" altLang="zh-CN" sz="1200" dirty="0" smtClean="0"/>
              <a:t>}</a:t>
            </a:r>
            <a:endParaRPr lang="zh-CN" altLang="en-US" sz="1200" dirty="0">
              <a:solidFill>
                <a:srgbClr val="008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21175" y="2898343"/>
            <a:ext cx="2636044" cy="7929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最简单的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C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语言程序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24408"/>
            <a:ext cx="5424281" cy="44218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800" dirty="0" smtClean="0">
                <a:solidFill>
                  <a:schemeClr val="accent1"/>
                </a:solidFill>
              </a:rPr>
              <a:t>【</a:t>
            </a:r>
            <a:r>
              <a:rPr lang="zh-CN" altLang="en-US" sz="1800" dirty="0" smtClean="0">
                <a:solidFill>
                  <a:schemeClr val="accent1"/>
                </a:solidFill>
              </a:rPr>
              <a:t>例</a:t>
            </a:r>
            <a:r>
              <a:rPr lang="en-US" altLang="zh-CN" sz="1800" dirty="0" smtClean="0">
                <a:solidFill>
                  <a:schemeClr val="accent1"/>
                </a:solidFill>
              </a:rPr>
              <a:t>1.2】</a:t>
            </a:r>
            <a:r>
              <a:rPr lang="zh-CN" altLang="en-US" sz="1800" dirty="0" smtClean="0">
                <a:solidFill>
                  <a:schemeClr val="accent1"/>
                </a:solidFill>
              </a:rPr>
              <a:t>求</a:t>
            </a:r>
            <a:r>
              <a:rPr lang="zh-CN" altLang="en-US" sz="1800" dirty="0">
                <a:solidFill>
                  <a:schemeClr val="accent1"/>
                </a:solidFill>
              </a:rPr>
              <a:t>两</a:t>
            </a:r>
            <a:r>
              <a:rPr lang="zh-CN" altLang="en-US" sz="1800" dirty="0" smtClean="0">
                <a:solidFill>
                  <a:schemeClr val="accent1"/>
                </a:solidFill>
              </a:rPr>
              <a:t>个整数之和</a:t>
            </a:r>
            <a:endParaRPr lang="en-US" altLang="zh-CN" sz="1800" dirty="0" smtClean="0">
              <a:solidFill>
                <a:schemeClr val="accent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95130" y="1766596"/>
            <a:ext cx="5078896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 b="1" dirty="0" smtClean="0"/>
              <a:t>解题思路</a:t>
            </a:r>
            <a:r>
              <a:rPr lang="en-US" altLang="zh-CN" sz="1500" b="1" dirty="0" smtClean="0"/>
              <a:t>: </a:t>
            </a:r>
            <a:r>
              <a:rPr lang="zh-CN" altLang="en-US" sz="1500" dirty="0" smtClean="0"/>
              <a:t>设置</a:t>
            </a:r>
            <a:r>
              <a:rPr lang="en-US" altLang="zh-CN" sz="1500" dirty="0" smtClean="0"/>
              <a:t>3</a:t>
            </a:r>
            <a:r>
              <a:rPr lang="zh-CN" altLang="en-US" sz="1500" dirty="0" smtClean="0"/>
              <a:t>个变量，</a:t>
            </a:r>
            <a:r>
              <a:rPr lang="en-US" altLang="zh-CN" sz="1500" dirty="0" smtClean="0"/>
              <a:t>a</a:t>
            </a:r>
            <a:r>
              <a:rPr lang="zh-CN" altLang="en-US" sz="1500" dirty="0" smtClean="0"/>
              <a:t>和</a:t>
            </a:r>
            <a:r>
              <a:rPr lang="en-US" altLang="zh-CN" sz="1500" dirty="0" smtClean="0"/>
              <a:t>b</a:t>
            </a:r>
            <a:r>
              <a:rPr lang="zh-CN" altLang="en-US" sz="1500" dirty="0" smtClean="0"/>
              <a:t>用来存放两个整数，</a:t>
            </a:r>
            <a:r>
              <a:rPr lang="en-US" altLang="zh-CN" sz="1500" dirty="0" smtClean="0"/>
              <a:t>sum</a:t>
            </a:r>
            <a:r>
              <a:rPr lang="zh-CN" altLang="en-US" sz="1500" dirty="0" smtClean="0"/>
              <a:t>用来存放和数。用赋值运算符“</a:t>
            </a:r>
            <a:r>
              <a:rPr lang="en-US" altLang="zh-CN" sz="1500" dirty="0" smtClean="0"/>
              <a:t>=”</a:t>
            </a:r>
            <a:r>
              <a:rPr lang="zh-CN" altLang="en-US" sz="1500" dirty="0" smtClean="0"/>
              <a:t>把相加的结果传送给</a:t>
            </a:r>
            <a:r>
              <a:rPr lang="en-US" altLang="zh-CN" sz="1500" dirty="0" smtClean="0"/>
              <a:t>sum</a:t>
            </a:r>
            <a:r>
              <a:rPr lang="zh-CN" altLang="en-US" sz="1500" dirty="0" smtClean="0"/>
              <a:t>。</a:t>
            </a:r>
            <a:endParaRPr lang="zh-CN" altLang="en-US" sz="1500" dirty="0" smtClean="0"/>
          </a:p>
        </p:txBody>
      </p:sp>
      <p:sp>
        <p:nvSpPr>
          <p:cNvPr id="7" name="圆角矩形 6"/>
          <p:cNvSpPr/>
          <p:nvPr/>
        </p:nvSpPr>
        <p:spPr>
          <a:xfrm>
            <a:off x="795130" y="2410050"/>
            <a:ext cx="5779605" cy="2062558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 dirty="0" smtClean="0"/>
              <a:t>#include &lt;</a:t>
            </a:r>
            <a:r>
              <a:rPr lang="en-US" altLang="zh-CN" sz="1200" dirty="0" err="1" smtClean="0"/>
              <a:t>stdio.h</a:t>
            </a:r>
            <a:r>
              <a:rPr lang="en-US" altLang="zh-CN" sz="1200" dirty="0" smtClean="0"/>
              <a:t>&gt;		</a:t>
            </a:r>
            <a:r>
              <a:rPr lang="en-US" altLang="zh-CN" sz="1200" dirty="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这是编译预处理指令 </a:t>
            </a:r>
            <a:endParaRPr lang="zh-CN" altLang="en-US" sz="1200" dirty="0" smtClean="0">
              <a:solidFill>
                <a:srgbClr val="008000"/>
              </a:solidFill>
            </a:endParaRPr>
          </a:p>
          <a:p>
            <a:r>
              <a:rPr lang="en-US" altLang="zh-CN" sz="1200" dirty="0" err="1" smtClean="0"/>
              <a:t>int</a:t>
            </a:r>
            <a:r>
              <a:rPr lang="en-US" altLang="zh-CN" sz="1200" dirty="0" smtClean="0"/>
              <a:t> main( )	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定义主函数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en-US" altLang="zh-CN" sz="1200" dirty="0" smtClean="0"/>
              <a:t>{ 	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函数开始 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err="1" smtClean="0"/>
              <a:t>int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a,b,sum</a:t>
            </a:r>
            <a:r>
              <a:rPr lang="en-US" altLang="zh-CN" sz="1200" dirty="0" smtClean="0"/>
              <a:t>; 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本行是程序的声明部分，定义</a:t>
            </a:r>
            <a:r>
              <a:rPr lang="en-US" altLang="zh-CN" sz="1200" dirty="0" err="1">
                <a:solidFill>
                  <a:srgbClr val="008000"/>
                </a:solidFill>
              </a:rPr>
              <a:t>a,b,sum</a:t>
            </a:r>
            <a:r>
              <a:rPr lang="zh-CN" altLang="en-US" sz="1200" dirty="0">
                <a:solidFill>
                  <a:srgbClr val="008000"/>
                </a:solidFill>
              </a:rPr>
              <a:t>为整型变量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smtClean="0"/>
              <a:t>a=123;	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对变量</a:t>
            </a:r>
            <a:r>
              <a:rPr lang="en-US" altLang="zh-CN" sz="1200" dirty="0">
                <a:solidFill>
                  <a:srgbClr val="008000"/>
                </a:solidFill>
              </a:rPr>
              <a:t>a</a:t>
            </a:r>
            <a:r>
              <a:rPr lang="zh-CN" altLang="en-US" sz="1200" dirty="0">
                <a:solidFill>
                  <a:srgbClr val="008000"/>
                </a:solidFill>
              </a:rPr>
              <a:t>赋值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smtClean="0"/>
              <a:t>b=456;	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对变量</a:t>
            </a:r>
            <a:r>
              <a:rPr lang="en-US" altLang="zh-CN" sz="1200" dirty="0">
                <a:solidFill>
                  <a:srgbClr val="008000"/>
                </a:solidFill>
              </a:rPr>
              <a:t>b</a:t>
            </a:r>
            <a:r>
              <a:rPr lang="zh-CN" altLang="en-US" sz="1200" dirty="0">
                <a:solidFill>
                  <a:srgbClr val="008000"/>
                </a:solidFill>
              </a:rPr>
              <a:t>赋值 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smtClean="0"/>
              <a:t>sum=</a:t>
            </a:r>
            <a:r>
              <a:rPr lang="en-US" altLang="zh-CN" sz="1200" dirty="0" err="1" smtClean="0"/>
              <a:t>a+b</a:t>
            </a:r>
            <a:r>
              <a:rPr lang="en-US" altLang="zh-CN" sz="1200" dirty="0" smtClean="0"/>
              <a:t>;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进行</a:t>
            </a:r>
            <a:r>
              <a:rPr lang="en-US" altLang="zh-CN" sz="1200" dirty="0" err="1">
                <a:solidFill>
                  <a:srgbClr val="008000"/>
                </a:solidFill>
              </a:rPr>
              <a:t>a+b</a:t>
            </a:r>
            <a:r>
              <a:rPr lang="zh-CN" altLang="en-US" sz="1200" dirty="0">
                <a:solidFill>
                  <a:srgbClr val="008000"/>
                </a:solidFill>
              </a:rPr>
              <a:t>的运算，并把结果存放在变量</a:t>
            </a:r>
            <a:r>
              <a:rPr lang="en-US" altLang="zh-CN" sz="1200" dirty="0">
                <a:solidFill>
                  <a:srgbClr val="008000"/>
                </a:solidFill>
              </a:rPr>
              <a:t>sum</a:t>
            </a:r>
            <a:r>
              <a:rPr lang="zh-CN" altLang="en-US" sz="1200" dirty="0">
                <a:solidFill>
                  <a:srgbClr val="008000"/>
                </a:solidFill>
              </a:rPr>
              <a:t>中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err="1" smtClean="0"/>
              <a:t>printf</a:t>
            </a:r>
            <a:r>
              <a:rPr lang="en-US" altLang="zh-CN" sz="1200" dirty="0" smtClean="0"/>
              <a:t>(</a:t>
            </a:r>
            <a:r>
              <a:rPr lang="en-US" altLang="zh-CN" sz="1350" dirty="0" smtClean="0"/>
              <a:t>"</a:t>
            </a:r>
            <a:r>
              <a:rPr lang="en-US" altLang="zh-CN" sz="1200" dirty="0" smtClean="0"/>
              <a:t>sum is %d\</a:t>
            </a:r>
            <a:r>
              <a:rPr lang="en-US" altLang="zh-CN" sz="1200" dirty="0" err="1" smtClean="0"/>
              <a:t>n</a:t>
            </a:r>
            <a:r>
              <a:rPr lang="en-US" altLang="zh-CN" sz="1350" dirty="0" err="1" smtClean="0"/>
              <a:t>"</a:t>
            </a:r>
            <a:r>
              <a:rPr lang="en-US" altLang="zh-CN" sz="1200" dirty="0" err="1" smtClean="0"/>
              <a:t>,sum</a:t>
            </a:r>
            <a:r>
              <a:rPr lang="en-US" altLang="zh-CN" sz="1200" dirty="0" smtClean="0"/>
              <a:t>); 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输出结果 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smtClean="0"/>
              <a:t>return 0;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使函数返回值为</a:t>
            </a:r>
            <a:r>
              <a:rPr lang="en-US" altLang="zh-CN" sz="1200" dirty="0">
                <a:solidFill>
                  <a:srgbClr val="008000"/>
                </a:solidFill>
              </a:rPr>
              <a:t>0</a:t>
            </a:r>
            <a:endParaRPr lang="en-US" altLang="zh-CN" sz="1200" dirty="0">
              <a:solidFill>
                <a:srgbClr val="008000"/>
              </a:solidFill>
            </a:endParaRPr>
          </a:p>
          <a:p>
            <a:r>
              <a:rPr lang="en-US" altLang="zh-CN" sz="1200" dirty="0" smtClean="0"/>
              <a:t>}	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函数结束</a:t>
            </a:r>
            <a:endParaRPr lang="zh-CN" altLang="en-US" sz="1200" dirty="0">
              <a:solidFill>
                <a:srgbClr val="008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107596" y="1518564"/>
            <a:ext cx="2736056" cy="7858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最简单的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C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语言程序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65150" y="1054735"/>
            <a:ext cx="6144260" cy="2104390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200" dirty="0" smtClean="0"/>
              <a:t>#include &lt;</a:t>
            </a:r>
            <a:r>
              <a:rPr lang="en-US" altLang="zh-CN" sz="1200" dirty="0" err="1" smtClean="0"/>
              <a:t>stdio.h</a:t>
            </a:r>
            <a:r>
              <a:rPr lang="en-US" altLang="zh-CN" sz="1200" dirty="0" smtClean="0"/>
              <a:t>&gt;		</a:t>
            </a:r>
            <a:r>
              <a:rPr lang="en-US" altLang="zh-CN" sz="1200" dirty="0" smtClean="0">
                <a:solidFill>
                  <a:srgbClr val="008000"/>
                </a:solidFill>
              </a:rPr>
              <a:t>//</a:t>
            </a:r>
            <a:r>
              <a:rPr lang="zh-CN" altLang="en-US" sz="1200" dirty="0" smtClean="0">
                <a:solidFill>
                  <a:srgbClr val="008000"/>
                </a:solidFill>
              </a:rPr>
              <a:t>这是编译预处理指令 </a:t>
            </a:r>
            <a:endParaRPr lang="zh-CN" altLang="en-US" sz="1200" dirty="0" smtClean="0">
              <a:solidFill>
                <a:srgbClr val="008000"/>
              </a:solidFill>
            </a:endParaRPr>
          </a:p>
          <a:p>
            <a:r>
              <a:rPr lang="en-US" altLang="zh-CN" sz="1200" dirty="0" err="1" smtClean="0"/>
              <a:t>int</a:t>
            </a:r>
            <a:r>
              <a:rPr lang="en-US" altLang="zh-CN" sz="1200" dirty="0" smtClean="0"/>
              <a:t> main( )	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定义主函数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en-US" altLang="zh-CN" sz="1200" dirty="0" smtClean="0"/>
              <a:t>{ 	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函数开始 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err="1" smtClean="0"/>
              <a:t>int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a,b,sum</a:t>
            </a:r>
            <a:r>
              <a:rPr lang="en-US" altLang="zh-CN" sz="1200" dirty="0" smtClean="0"/>
              <a:t>; 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本行是程序的声明部分，定义</a:t>
            </a:r>
            <a:r>
              <a:rPr lang="en-US" altLang="zh-CN" sz="1200" dirty="0" err="1">
                <a:solidFill>
                  <a:srgbClr val="008000"/>
                </a:solidFill>
              </a:rPr>
              <a:t>a,b,sum</a:t>
            </a:r>
            <a:r>
              <a:rPr lang="zh-CN" altLang="en-US" sz="1200" dirty="0">
                <a:solidFill>
                  <a:srgbClr val="008000"/>
                </a:solidFill>
              </a:rPr>
              <a:t>为整型变量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smtClean="0"/>
              <a:t>a=123;	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对变量</a:t>
            </a:r>
            <a:r>
              <a:rPr lang="en-US" altLang="zh-CN" sz="1200" dirty="0">
                <a:solidFill>
                  <a:srgbClr val="008000"/>
                </a:solidFill>
              </a:rPr>
              <a:t>a</a:t>
            </a:r>
            <a:r>
              <a:rPr lang="zh-CN" altLang="en-US" sz="1200" dirty="0">
                <a:solidFill>
                  <a:srgbClr val="008000"/>
                </a:solidFill>
              </a:rPr>
              <a:t>赋值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smtClean="0"/>
              <a:t>b=456;	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对变量</a:t>
            </a:r>
            <a:r>
              <a:rPr lang="en-US" altLang="zh-CN" sz="1200" dirty="0">
                <a:solidFill>
                  <a:srgbClr val="008000"/>
                </a:solidFill>
              </a:rPr>
              <a:t>b</a:t>
            </a:r>
            <a:r>
              <a:rPr lang="zh-CN" altLang="en-US" sz="1200" dirty="0">
                <a:solidFill>
                  <a:srgbClr val="008000"/>
                </a:solidFill>
              </a:rPr>
              <a:t>赋值 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smtClean="0"/>
              <a:t>sum=</a:t>
            </a:r>
            <a:r>
              <a:rPr lang="en-US" altLang="zh-CN" sz="1200" dirty="0" err="1" smtClean="0"/>
              <a:t>a+b</a:t>
            </a:r>
            <a:r>
              <a:rPr lang="en-US" altLang="zh-CN" sz="1200" dirty="0" smtClean="0"/>
              <a:t>;	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进行</a:t>
            </a:r>
            <a:r>
              <a:rPr lang="en-US" altLang="zh-CN" sz="1200" dirty="0" err="1">
                <a:solidFill>
                  <a:srgbClr val="008000"/>
                </a:solidFill>
              </a:rPr>
              <a:t>a+b</a:t>
            </a:r>
            <a:r>
              <a:rPr lang="zh-CN" altLang="en-US" sz="1200" dirty="0">
                <a:solidFill>
                  <a:srgbClr val="008000"/>
                </a:solidFill>
              </a:rPr>
              <a:t>的运算，并把结果存放在变量</a:t>
            </a:r>
            <a:r>
              <a:rPr lang="en-US" altLang="zh-CN" sz="1200" dirty="0">
                <a:solidFill>
                  <a:srgbClr val="008000"/>
                </a:solidFill>
              </a:rPr>
              <a:t>sum</a:t>
            </a:r>
            <a:r>
              <a:rPr lang="zh-CN" altLang="en-US" sz="1200" dirty="0">
                <a:solidFill>
                  <a:srgbClr val="008000"/>
                </a:solidFill>
              </a:rPr>
              <a:t>中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err="1" smtClean="0"/>
              <a:t>printf</a:t>
            </a:r>
            <a:r>
              <a:rPr lang="en-US" altLang="zh-CN" sz="1200" dirty="0" smtClean="0"/>
              <a:t>(</a:t>
            </a:r>
            <a:r>
              <a:rPr lang="en-US" altLang="zh-CN" sz="1350" dirty="0" smtClean="0"/>
              <a:t>"</a:t>
            </a:r>
            <a:r>
              <a:rPr lang="en-US" altLang="zh-CN" sz="1200" dirty="0" smtClean="0"/>
              <a:t>sum is %d\</a:t>
            </a:r>
            <a:r>
              <a:rPr lang="en-US" altLang="zh-CN" sz="1200" dirty="0" err="1" smtClean="0"/>
              <a:t>n</a:t>
            </a:r>
            <a:r>
              <a:rPr lang="en-US" altLang="zh-CN" sz="1350" dirty="0" err="1" smtClean="0"/>
              <a:t>"</a:t>
            </a:r>
            <a:r>
              <a:rPr lang="en-US" altLang="zh-CN" sz="1200" dirty="0" err="1" smtClean="0"/>
              <a:t>,sum</a:t>
            </a:r>
            <a:r>
              <a:rPr lang="en-US" altLang="zh-CN" sz="1200" dirty="0" smtClean="0"/>
              <a:t>); 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输出结果 </a:t>
            </a:r>
            <a:endParaRPr lang="zh-CN" altLang="en-US" sz="1200" dirty="0">
              <a:solidFill>
                <a:srgbClr val="008000"/>
              </a:solidFill>
            </a:endParaRPr>
          </a:p>
          <a:p>
            <a:r>
              <a:rPr lang="zh-CN" altLang="en-US" sz="1200" dirty="0" smtClean="0"/>
              <a:t>    </a:t>
            </a:r>
            <a:r>
              <a:rPr lang="en-US" altLang="zh-CN" sz="1200" dirty="0" smtClean="0"/>
              <a:t>return 0;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使函数返回值为</a:t>
            </a:r>
            <a:r>
              <a:rPr lang="en-US" altLang="zh-CN" sz="1200" dirty="0">
                <a:solidFill>
                  <a:srgbClr val="008000"/>
                </a:solidFill>
              </a:rPr>
              <a:t>0</a:t>
            </a:r>
            <a:endParaRPr lang="en-US" altLang="zh-CN" sz="1200" dirty="0">
              <a:solidFill>
                <a:srgbClr val="008000"/>
              </a:solidFill>
            </a:endParaRPr>
          </a:p>
          <a:p>
            <a:r>
              <a:rPr lang="en-US" altLang="zh-CN" sz="1200" dirty="0" smtClean="0"/>
              <a:t>}			</a:t>
            </a:r>
            <a:r>
              <a:rPr lang="en-US" altLang="zh-CN" sz="1200" dirty="0">
                <a:solidFill>
                  <a:srgbClr val="008000"/>
                </a:solidFill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</a:rPr>
              <a:t>函数结束</a:t>
            </a:r>
            <a:endParaRPr lang="zh-CN" altLang="en-US" sz="1200" dirty="0">
              <a:solidFill>
                <a:srgbClr val="008000"/>
              </a:solidFill>
            </a:endParaRPr>
          </a:p>
        </p:txBody>
      </p:sp>
      <p:sp>
        <p:nvSpPr>
          <p:cNvPr id="8" name="折角形 7"/>
          <p:cNvSpPr/>
          <p:nvPr/>
        </p:nvSpPr>
        <p:spPr>
          <a:xfrm>
            <a:off x="713132" y="3233982"/>
            <a:ext cx="7840733" cy="1804181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grpSp>
        <p:nvGrpSpPr>
          <p:cNvPr id="9" name="组合 8"/>
          <p:cNvGrpSpPr/>
          <p:nvPr/>
        </p:nvGrpSpPr>
        <p:grpSpPr>
          <a:xfrm>
            <a:off x="867189" y="3299054"/>
            <a:ext cx="1436064" cy="411673"/>
            <a:chOff x="8656983" y="1203671"/>
            <a:chExt cx="1914752" cy="48701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9253331" y="1331843"/>
              <a:ext cx="1242392" cy="353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35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程序分析</a:t>
              </a:r>
              <a:endParaRPr lang="zh-CN" altLang="en-US" sz="13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8656983" y="1690688"/>
              <a:ext cx="19147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805069" y="3791669"/>
            <a:ext cx="7484166" cy="1268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90204" pitchFamily="34" charset="0"/>
              <a:buChar char="•"/>
            </a:pPr>
            <a:r>
              <a:rPr lang="en-US" altLang="zh-CN" sz="1350" b="1" dirty="0" err="1" smtClean="0">
                <a:solidFill>
                  <a:srgbClr val="FFFF00"/>
                </a:solidFill>
              </a:rPr>
              <a:t>printf</a:t>
            </a:r>
            <a:r>
              <a:rPr lang="en-US" altLang="zh-CN" sz="1350" b="1" dirty="0" smtClean="0">
                <a:solidFill>
                  <a:srgbClr val="FFFF00"/>
                </a:solidFill>
              </a:rPr>
              <a:t>("sum is %d\</a:t>
            </a:r>
            <a:r>
              <a:rPr lang="en-US" altLang="zh-CN" sz="1350" b="1" dirty="0" err="1" smtClean="0">
                <a:solidFill>
                  <a:srgbClr val="FFFF00"/>
                </a:solidFill>
              </a:rPr>
              <a:t>n",sum</a:t>
            </a:r>
            <a:r>
              <a:rPr lang="en-US" altLang="zh-CN" sz="1350" b="1" dirty="0" smtClean="0">
                <a:solidFill>
                  <a:srgbClr val="FFFF00"/>
                </a:solidFill>
              </a:rPr>
              <a:t>); </a:t>
            </a:r>
            <a:r>
              <a:rPr lang="en-US" altLang="zh-CN" sz="1200" dirty="0" err="1" smtClean="0">
                <a:solidFill>
                  <a:schemeClr val="bg1"/>
                </a:solidFill>
              </a:rPr>
              <a:t>printf</a:t>
            </a:r>
            <a:r>
              <a:rPr lang="zh-CN" altLang="en-US" sz="1200" dirty="0" smtClean="0">
                <a:solidFill>
                  <a:schemeClr val="bg1"/>
                </a:solidFill>
              </a:rPr>
              <a:t>函数圆括号内有两个参数。第一个参数是双引号中的内容</a:t>
            </a:r>
            <a:r>
              <a:rPr lang="en-US" altLang="zh-CN" sz="1200" dirty="0" smtClean="0">
                <a:solidFill>
                  <a:schemeClr val="bg1"/>
                </a:solidFill>
              </a:rPr>
              <a:t>sum is %d\n</a:t>
            </a:r>
            <a:r>
              <a:rPr lang="zh-CN" altLang="en-US" sz="1200" dirty="0" smtClean="0">
                <a:solidFill>
                  <a:schemeClr val="bg1"/>
                </a:solidFill>
              </a:rPr>
              <a:t>，它是输出格式字符串，作用是输出用户希望输出的字符和输出的格式。其中</a:t>
            </a:r>
            <a:r>
              <a:rPr lang="en-US" altLang="zh-CN" sz="1200" dirty="0" smtClean="0">
                <a:solidFill>
                  <a:schemeClr val="bg1"/>
                </a:solidFill>
              </a:rPr>
              <a:t>sum is</a:t>
            </a:r>
            <a:r>
              <a:rPr lang="zh-CN" altLang="en-US" sz="1200" dirty="0" smtClean="0">
                <a:solidFill>
                  <a:schemeClr val="bg1"/>
                </a:solidFill>
              </a:rPr>
              <a:t>是用户希望输出的字符，</a:t>
            </a:r>
            <a:r>
              <a:rPr lang="zh-CN" altLang="en-US" sz="1350" b="1" dirty="0">
                <a:solidFill>
                  <a:srgbClr val="FFFF00"/>
                </a:solidFill>
              </a:rPr>
              <a:t>％</a:t>
            </a:r>
            <a:r>
              <a:rPr lang="en-US" altLang="zh-CN" sz="1350" b="1" dirty="0">
                <a:solidFill>
                  <a:srgbClr val="FFFF00"/>
                </a:solidFill>
              </a:rPr>
              <a:t>d</a:t>
            </a:r>
            <a:r>
              <a:rPr lang="zh-CN" altLang="en-US" sz="1200" dirty="0" smtClean="0">
                <a:solidFill>
                  <a:schemeClr val="bg1"/>
                </a:solidFill>
              </a:rPr>
              <a:t>是指定的输出格式，</a:t>
            </a:r>
            <a:r>
              <a:rPr lang="en-US" altLang="zh-CN" sz="1350" b="1" dirty="0">
                <a:solidFill>
                  <a:srgbClr val="FFFF00"/>
                </a:solidFill>
              </a:rPr>
              <a:t>d</a:t>
            </a:r>
            <a:r>
              <a:rPr lang="zh-CN" altLang="en-US" sz="1200" dirty="0" smtClean="0">
                <a:solidFill>
                  <a:schemeClr val="bg1"/>
                </a:solidFill>
              </a:rPr>
              <a:t>表示用“十进制整数”形式输出。圆括号内第二个参数</a:t>
            </a:r>
            <a:r>
              <a:rPr lang="en-US" altLang="zh-CN" sz="1200" dirty="0" smtClean="0">
                <a:solidFill>
                  <a:schemeClr val="bg1"/>
                </a:solidFill>
              </a:rPr>
              <a:t>sum</a:t>
            </a:r>
            <a:r>
              <a:rPr lang="zh-CN" altLang="en-US" sz="1200" dirty="0" smtClean="0">
                <a:solidFill>
                  <a:schemeClr val="bg1"/>
                </a:solidFill>
              </a:rPr>
              <a:t>表示要输出变量</a:t>
            </a:r>
            <a:r>
              <a:rPr lang="en-US" altLang="zh-CN" sz="1200" dirty="0" smtClean="0">
                <a:solidFill>
                  <a:schemeClr val="bg1"/>
                </a:solidFill>
              </a:rPr>
              <a:t>sum</a:t>
            </a:r>
            <a:r>
              <a:rPr lang="zh-CN" altLang="en-US" sz="1200" dirty="0" smtClean="0">
                <a:solidFill>
                  <a:schemeClr val="bg1"/>
                </a:solidFill>
              </a:rPr>
              <a:t>的值。在执行</a:t>
            </a:r>
            <a:r>
              <a:rPr lang="en-US" altLang="zh-CN" sz="1200" dirty="0" err="1" smtClean="0">
                <a:solidFill>
                  <a:schemeClr val="bg1"/>
                </a:solidFill>
              </a:rPr>
              <a:t>printf</a:t>
            </a:r>
            <a:r>
              <a:rPr lang="zh-CN" altLang="en-US" sz="1200" dirty="0" smtClean="0">
                <a:solidFill>
                  <a:schemeClr val="bg1"/>
                </a:solidFill>
              </a:rPr>
              <a:t>函数时，将</a:t>
            </a:r>
            <a:r>
              <a:rPr lang="en-US" altLang="zh-CN" sz="1200" dirty="0" smtClean="0">
                <a:solidFill>
                  <a:schemeClr val="bg1"/>
                </a:solidFill>
              </a:rPr>
              <a:t>sum</a:t>
            </a:r>
            <a:r>
              <a:rPr lang="zh-CN" altLang="en-US" sz="1200" dirty="0" smtClean="0">
                <a:solidFill>
                  <a:schemeClr val="bg1"/>
                </a:solidFill>
              </a:rPr>
              <a:t>变量的值</a:t>
            </a:r>
            <a:r>
              <a:rPr lang="en-US" altLang="zh-CN" sz="1200" dirty="0" smtClean="0">
                <a:solidFill>
                  <a:schemeClr val="bg1"/>
                </a:solidFill>
              </a:rPr>
              <a:t>(</a:t>
            </a:r>
            <a:r>
              <a:rPr lang="zh-CN" altLang="en-US" sz="1200" dirty="0" smtClean="0">
                <a:solidFill>
                  <a:schemeClr val="bg1"/>
                </a:solidFill>
              </a:rPr>
              <a:t>以十进制整数表示</a:t>
            </a:r>
            <a:r>
              <a:rPr lang="en-US" altLang="zh-CN" sz="1200" dirty="0" smtClean="0">
                <a:solidFill>
                  <a:schemeClr val="bg1"/>
                </a:solidFill>
              </a:rPr>
              <a:t>)</a:t>
            </a:r>
            <a:r>
              <a:rPr lang="zh-CN" altLang="en-US" sz="1200" dirty="0" smtClean="0">
                <a:solidFill>
                  <a:schemeClr val="bg1"/>
                </a:solidFill>
              </a:rPr>
              <a:t>取代双引号中的</a:t>
            </a:r>
            <a:r>
              <a:rPr lang="en-US" altLang="zh-CN" sz="1200" dirty="0" smtClean="0">
                <a:solidFill>
                  <a:schemeClr val="bg1"/>
                </a:solidFill>
              </a:rPr>
              <a:t>%d</a:t>
            </a:r>
            <a:r>
              <a:rPr lang="zh-CN" altLang="en-US" sz="1200" dirty="0" smtClean="0">
                <a:solidFill>
                  <a:schemeClr val="bg1"/>
                </a:solidFill>
              </a:rPr>
              <a:t>。</a:t>
            </a:r>
            <a:endParaRPr lang="zh-CN" altLang="en-US" sz="1200" dirty="0" smtClean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492737" y="2369316"/>
            <a:ext cx="2247900" cy="299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 err="1"/>
              <a:t>printf</a:t>
            </a:r>
            <a:r>
              <a:rPr lang="en-US" altLang="zh-CN" sz="1350" dirty="0"/>
              <a:t>(</a:t>
            </a:r>
            <a:r>
              <a:rPr lang="en-US" altLang="zh-CN" sz="1350" dirty="0" smtClean="0"/>
              <a:t>"</a:t>
            </a:r>
            <a:r>
              <a:rPr lang="en-US" altLang="zh-CN" sz="1350" dirty="0"/>
              <a:t>sum is </a:t>
            </a:r>
            <a:r>
              <a:rPr lang="en-US" altLang="zh-CN" sz="1350" dirty="0">
                <a:solidFill>
                  <a:schemeClr val="accent1"/>
                </a:solidFill>
              </a:rPr>
              <a:t>%d</a:t>
            </a:r>
            <a:r>
              <a:rPr lang="en-US" altLang="zh-CN" sz="1350" dirty="0"/>
              <a:t>\n</a:t>
            </a:r>
            <a:r>
              <a:rPr lang="en-US" altLang="zh-CN" sz="1350" dirty="0" smtClean="0"/>
              <a:t>", </a:t>
            </a:r>
            <a:r>
              <a:rPr lang="en-US" altLang="zh-CN" sz="1350" dirty="0" smtClean="0">
                <a:solidFill>
                  <a:schemeClr val="accent1"/>
                </a:solidFill>
              </a:rPr>
              <a:t>sum</a:t>
            </a:r>
            <a:r>
              <a:rPr lang="en-US" altLang="zh-CN" sz="1350" dirty="0"/>
              <a:t>); </a:t>
            </a:r>
            <a:endParaRPr lang="zh-CN" altLang="en-US" sz="1350" dirty="0"/>
          </a:p>
        </p:txBody>
      </p:sp>
      <p:sp>
        <p:nvSpPr>
          <p:cNvPr id="15" name="任意多边形 14"/>
          <p:cNvSpPr/>
          <p:nvPr/>
        </p:nvSpPr>
        <p:spPr>
          <a:xfrm>
            <a:off x="7660586" y="2091271"/>
            <a:ext cx="529259" cy="313083"/>
          </a:xfrm>
          <a:custGeom>
            <a:avLst/>
            <a:gdLst>
              <a:gd name="connsiteX0" fmla="*/ 705678 w 705678"/>
              <a:gd name="connsiteY0" fmla="*/ 417444 h 417444"/>
              <a:gd name="connsiteX1" fmla="*/ 705678 w 705678"/>
              <a:gd name="connsiteY1" fmla="*/ 0 h 417444"/>
              <a:gd name="connsiteX2" fmla="*/ 0 w 705678"/>
              <a:gd name="connsiteY2" fmla="*/ 0 h 417444"/>
              <a:gd name="connsiteX3" fmla="*/ 0 w 705678"/>
              <a:gd name="connsiteY3" fmla="*/ 407505 h 417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5678" h="417444">
                <a:moveTo>
                  <a:pt x="705678" y="417444"/>
                </a:moveTo>
                <a:lnTo>
                  <a:pt x="705678" y="0"/>
                </a:lnTo>
                <a:lnTo>
                  <a:pt x="0" y="0"/>
                </a:lnTo>
                <a:lnTo>
                  <a:pt x="0" y="407505"/>
                </a:lnTo>
              </a:path>
            </a:pathLst>
          </a:custGeom>
          <a:noFill/>
          <a:ln>
            <a:headEnd type="none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文本框 15"/>
          <p:cNvSpPr txBox="1"/>
          <p:nvPr/>
        </p:nvSpPr>
        <p:spPr>
          <a:xfrm>
            <a:off x="6710156" y="1876555"/>
            <a:ext cx="190085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输出时用</a:t>
            </a:r>
            <a:r>
              <a:rPr lang="en-US" altLang="zh-CN" sz="1200" dirty="0" smtClean="0"/>
              <a:t>sum</a:t>
            </a:r>
            <a:r>
              <a:rPr lang="zh-CN" altLang="en-US" sz="1200" dirty="0" smtClean="0"/>
              <a:t>的值取代</a:t>
            </a:r>
            <a:r>
              <a:rPr lang="en-US" altLang="zh-CN" sz="1200" dirty="0" smtClean="0"/>
              <a:t>%d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最简单的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C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语言程序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204" y="1046798"/>
            <a:ext cx="3663791" cy="44196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800" dirty="0" smtClean="0">
                <a:solidFill>
                  <a:schemeClr val="accent1"/>
                </a:solidFill>
              </a:rPr>
              <a:t>【</a:t>
            </a:r>
            <a:r>
              <a:rPr lang="zh-CN" altLang="en-US" sz="1800" dirty="0" smtClean="0">
                <a:solidFill>
                  <a:schemeClr val="accent1"/>
                </a:solidFill>
              </a:rPr>
              <a:t>例</a:t>
            </a:r>
            <a:r>
              <a:rPr lang="en-US" altLang="zh-CN" sz="1800" dirty="0" smtClean="0">
                <a:solidFill>
                  <a:schemeClr val="accent1"/>
                </a:solidFill>
              </a:rPr>
              <a:t>1.3】</a:t>
            </a:r>
            <a:r>
              <a:rPr lang="zh-CN" altLang="en-US" sz="1800" dirty="0" smtClean="0">
                <a:solidFill>
                  <a:schemeClr val="accent1"/>
                </a:solidFill>
              </a:rPr>
              <a:t>求</a:t>
            </a:r>
            <a:r>
              <a:rPr lang="zh-CN" altLang="en-US" sz="1800" dirty="0">
                <a:solidFill>
                  <a:schemeClr val="accent1"/>
                </a:solidFill>
              </a:rPr>
              <a:t>两</a:t>
            </a:r>
            <a:r>
              <a:rPr lang="zh-CN" altLang="en-US" sz="1800" dirty="0" smtClean="0">
                <a:solidFill>
                  <a:schemeClr val="accent1"/>
                </a:solidFill>
              </a:rPr>
              <a:t>个整数中的较大者</a:t>
            </a:r>
            <a:endParaRPr lang="en-US" altLang="zh-CN" sz="1800" dirty="0" smtClean="0">
              <a:solidFill>
                <a:schemeClr val="accent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8650" y="1489110"/>
            <a:ext cx="3282398" cy="78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 b="1" dirty="0" smtClean="0"/>
              <a:t>解题思路</a:t>
            </a:r>
            <a:r>
              <a:rPr lang="en-US" altLang="zh-CN" sz="1500" b="1" dirty="0" smtClean="0"/>
              <a:t>: </a:t>
            </a:r>
            <a:r>
              <a:rPr lang="zh-CN" altLang="en-US" sz="1500" dirty="0" smtClean="0"/>
              <a:t> 用一个函数来实现求两个整数中的较大者。在主函数中调用此函数并输出结果。</a:t>
            </a:r>
            <a:endParaRPr lang="zh-CN" altLang="en-US" sz="1500" dirty="0" smtClean="0"/>
          </a:p>
        </p:txBody>
      </p:sp>
      <p:sp>
        <p:nvSpPr>
          <p:cNvPr id="7" name="圆角矩形 6"/>
          <p:cNvSpPr/>
          <p:nvPr/>
        </p:nvSpPr>
        <p:spPr>
          <a:xfrm>
            <a:off x="4077528" y="1127033"/>
            <a:ext cx="4847811" cy="3426533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50" dirty="0" smtClean="0"/>
              <a:t>#include &lt;</a:t>
            </a:r>
            <a:r>
              <a:rPr lang="en-US" altLang="zh-CN" sz="1050" dirty="0" err="1" smtClean="0"/>
              <a:t>stdio.h</a:t>
            </a:r>
            <a:r>
              <a:rPr lang="en-US" altLang="zh-CN" sz="1050" dirty="0" smtClean="0"/>
              <a:t>&gt;</a:t>
            </a:r>
            <a:endParaRPr lang="en-US" altLang="zh-CN" sz="1050" dirty="0" smtClean="0"/>
          </a:p>
          <a:p>
            <a:pPr defTabSz="357505"/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主函数</a:t>
            </a:r>
            <a:endParaRPr lang="zh-CN" altLang="en-US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main()		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 smtClean="0">
                <a:solidFill>
                  <a:srgbClr val="008000"/>
                </a:solidFill>
              </a:rPr>
              <a:t>定义主函数</a:t>
            </a:r>
            <a:endParaRPr lang="zh-CN" altLang="en-US" sz="1050" dirty="0" smtClean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smtClean="0"/>
              <a:t>{			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主函数体开始</a:t>
            </a:r>
            <a:endParaRPr lang="zh-CN" altLang="en-US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max(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x,int</a:t>
            </a:r>
            <a:r>
              <a:rPr lang="en-US" altLang="zh-CN" sz="1050" dirty="0" smtClean="0"/>
              <a:t> y);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对被调用函数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的声明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a,b,c</a:t>
            </a:r>
            <a:r>
              <a:rPr lang="en-US" altLang="zh-CN" sz="1050" dirty="0" smtClean="0"/>
              <a:t>;	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定义变量</a:t>
            </a:r>
            <a:r>
              <a:rPr lang="en-US" altLang="zh-CN" sz="1050" dirty="0">
                <a:solidFill>
                  <a:srgbClr val="008000"/>
                </a:solidFill>
              </a:rPr>
              <a:t>a</a:t>
            </a:r>
            <a:r>
              <a:rPr lang="zh-CN" altLang="en-US" sz="1050" dirty="0">
                <a:solidFill>
                  <a:srgbClr val="008000"/>
                </a:solidFill>
              </a:rPr>
              <a:t>，</a:t>
            </a:r>
            <a:r>
              <a:rPr lang="en-US" altLang="zh-CN" sz="1050" dirty="0">
                <a:solidFill>
                  <a:srgbClr val="008000"/>
                </a:solidFill>
              </a:rPr>
              <a:t>b</a:t>
            </a:r>
            <a:r>
              <a:rPr lang="zh-CN" altLang="en-US" sz="1050" dirty="0">
                <a:solidFill>
                  <a:srgbClr val="008000"/>
                </a:solidFill>
              </a:rPr>
              <a:t>，</a:t>
            </a:r>
            <a:r>
              <a:rPr lang="en-US" altLang="zh-CN" sz="1050" dirty="0">
                <a:solidFill>
                  <a:srgbClr val="008000"/>
                </a:solidFill>
              </a:rPr>
              <a:t>c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smtClean="0"/>
              <a:t>	</a:t>
            </a:r>
            <a:r>
              <a:rPr lang="en-US" altLang="zh-CN" sz="1050" dirty="0" err="1" smtClean="0"/>
              <a:t>scanf</a:t>
            </a:r>
            <a:r>
              <a:rPr lang="en-US" altLang="zh-CN" sz="1050" dirty="0" smtClean="0"/>
              <a:t>(</a:t>
            </a:r>
            <a:r>
              <a:rPr lang="en-US" altLang="zh-CN" sz="1350" dirty="0" smtClean="0"/>
              <a:t>"</a:t>
            </a:r>
            <a:r>
              <a:rPr lang="en-US" altLang="zh-CN" sz="1050" dirty="0" smtClean="0"/>
              <a:t>%</a:t>
            </a:r>
            <a:r>
              <a:rPr lang="en-US" altLang="zh-CN" sz="1050" dirty="0" err="1" smtClean="0"/>
              <a:t>d,%d</a:t>
            </a:r>
            <a:r>
              <a:rPr lang="en-US" altLang="zh-CN" sz="1350" dirty="0" err="1" smtClean="0"/>
              <a:t>"</a:t>
            </a:r>
            <a:r>
              <a:rPr lang="en-US" altLang="zh-CN" sz="1050" dirty="0" err="1" smtClean="0"/>
              <a:t>,&amp;a,&amp;b</a:t>
            </a:r>
            <a:r>
              <a:rPr lang="en-US" altLang="zh-CN" sz="1050" dirty="0" smtClean="0"/>
              <a:t>); 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输入变量</a:t>
            </a:r>
            <a:r>
              <a:rPr lang="en-US" altLang="zh-CN" sz="1050" dirty="0">
                <a:solidFill>
                  <a:srgbClr val="008000"/>
                </a:solidFill>
              </a:rPr>
              <a:t>a</a:t>
            </a:r>
            <a:r>
              <a:rPr lang="zh-CN" altLang="en-US" sz="1050" dirty="0">
                <a:solidFill>
                  <a:srgbClr val="008000"/>
                </a:solidFill>
              </a:rPr>
              <a:t>和</a:t>
            </a:r>
            <a:r>
              <a:rPr lang="en-US" altLang="zh-CN" sz="1050" dirty="0">
                <a:solidFill>
                  <a:srgbClr val="008000"/>
                </a:solidFill>
              </a:rPr>
              <a:t>b</a:t>
            </a:r>
            <a:r>
              <a:rPr lang="zh-CN" altLang="en-US" sz="1050" dirty="0">
                <a:solidFill>
                  <a:srgbClr val="008000"/>
                </a:solidFill>
              </a:rPr>
              <a:t>的值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smtClean="0"/>
              <a:t>c=max(</a:t>
            </a:r>
            <a:r>
              <a:rPr lang="en-US" altLang="zh-CN" sz="1050" dirty="0" err="1" smtClean="0"/>
              <a:t>a,b</a:t>
            </a:r>
            <a:r>
              <a:rPr lang="en-US" altLang="zh-CN" sz="1050" dirty="0" smtClean="0"/>
              <a:t>);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调用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函数，将得到的值赋给</a:t>
            </a:r>
            <a:r>
              <a:rPr lang="en-US" altLang="zh-CN" sz="1050" dirty="0">
                <a:solidFill>
                  <a:srgbClr val="008000"/>
                </a:solidFill>
              </a:rPr>
              <a:t>c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smtClean="0"/>
              <a:t>	</a:t>
            </a:r>
            <a:r>
              <a:rPr lang="en-US" altLang="zh-CN" sz="1050" dirty="0" err="1" smtClean="0"/>
              <a:t>printf</a:t>
            </a:r>
            <a:r>
              <a:rPr lang="en-US" altLang="zh-CN" sz="1050" dirty="0" smtClean="0"/>
              <a:t>(</a:t>
            </a:r>
            <a:r>
              <a:rPr lang="en-US" altLang="zh-CN" sz="1350" dirty="0" smtClean="0"/>
              <a:t>"</a:t>
            </a:r>
            <a:r>
              <a:rPr lang="en-US" altLang="zh-CN" sz="1050" dirty="0" smtClean="0"/>
              <a:t>max=%d\</a:t>
            </a:r>
            <a:r>
              <a:rPr lang="en-US" altLang="zh-CN" sz="1050" dirty="0" err="1" smtClean="0"/>
              <a:t>n</a:t>
            </a:r>
            <a:r>
              <a:rPr lang="en-US" altLang="zh-CN" sz="1350" dirty="0" err="1" smtClean="0"/>
              <a:t>"</a:t>
            </a:r>
            <a:r>
              <a:rPr lang="en-US" altLang="zh-CN" sz="1050" dirty="0" err="1" smtClean="0"/>
              <a:t>,c</a:t>
            </a:r>
            <a:r>
              <a:rPr lang="en-US" altLang="zh-CN" sz="1050" dirty="0" smtClean="0"/>
              <a:t>); 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输出</a:t>
            </a:r>
            <a:r>
              <a:rPr lang="en-US" altLang="zh-CN" sz="1050" dirty="0">
                <a:solidFill>
                  <a:srgbClr val="008000"/>
                </a:solidFill>
              </a:rPr>
              <a:t>c</a:t>
            </a:r>
            <a:r>
              <a:rPr lang="zh-CN" altLang="en-US" sz="1050" dirty="0">
                <a:solidFill>
                  <a:srgbClr val="008000"/>
                </a:solidFill>
              </a:rPr>
              <a:t>的值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smtClean="0"/>
              <a:t>return 0;	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返回函数值为</a:t>
            </a:r>
            <a:r>
              <a:rPr lang="en-US" altLang="zh-CN" sz="1050" dirty="0">
                <a:solidFill>
                  <a:srgbClr val="008000"/>
                </a:solidFill>
              </a:rPr>
              <a:t>0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>
                <a:solidFill>
                  <a:srgbClr val="008000"/>
                </a:solidFill>
              </a:rPr>
              <a:t>}//</a:t>
            </a:r>
            <a:r>
              <a:rPr lang="zh-CN" altLang="en-US" sz="1050" dirty="0">
                <a:solidFill>
                  <a:srgbClr val="008000"/>
                </a:solidFill>
              </a:rPr>
              <a:t>主函数体结束</a:t>
            </a:r>
            <a:endParaRPr lang="zh-CN" altLang="en-US" sz="1050" dirty="0">
              <a:solidFill>
                <a:srgbClr val="008000"/>
              </a:solidFill>
            </a:endParaRPr>
          </a:p>
          <a:p>
            <a:endParaRPr lang="zh-CN" altLang="en-US" sz="1050" dirty="0" smtClean="0"/>
          </a:p>
          <a:p>
            <a:pPr defTabSz="357505"/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求两个整数中的较大者的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</a:t>
            </a:r>
            <a:endParaRPr lang="zh-CN" altLang="en-US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max(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x,int</a:t>
            </a:r>
            <a:r>
              <a:rPr lang="en-US" altLang="zh-CN" sz="1050" dirty="0" smtClean="0"/>
              <a:t> y)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定义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</a:t>
            </a:r>
            <a:r>
              <a:rPr lang="en-US" altLang="zh-CN" sz="1050" dirty="0">
                <a:solidFill>
                  <a:srgbClr val="008000"/>
                </a:solidFill>
              </a:rPr>
              <a:t>,</a:t>
            </a:r>
            <a:r>
              <a:rPr lang="zh-CN" altLang="en-US" sz="1050" dirty="0">
                <a:solidFill>
                  <a:srgbClr val="008000"/>
                </a:solidFill>
              </a:rPr>
              <a:t>函数值为整型</a:t>
            </a:r>
            <a:r>
              <a:rPr lang="en-US" altLang="zh-CN" sz="1050" dirty="0">
                <a:solidFill>
                  <a:srgbClr val="008000"/>
                </a:solidFill>
              </a:rPr>
              <a:t>, </a:t>
            </a:r>
            <a:r>
              <a:rPr lang="zh-CN" altLang="en-US" sz="1050" dirty="0">
                <a:solidFill>
                  <a:srgbClr val="008000"/>
                </a:solidFill>
              </a:rPr>
              <a:t>形式参数</a:t>
            </a:r>
            <a:r>
              <a:rPr lang="en-US" altLang="zh-CN" sz="1050" dirty="0">
                <a:solidFill>
                  <a:srgbClr val="008000"/>
                </a:solidFill>
              </a:rPr>
              <a:t>x</a:t>
            </a:r>
            <a:r>
              <a:rPr lang="zh-CN" altLang="en-US" sz="1050" dirty="0">
                <a:solidFill>
                  <a:srgbClr val="008000"/>
                </a:solidFill>
              </a:rPr>
              <a:t>和</a:t>
            </a:r>
            <a:r>
              <a:rPr lang="en-US" altLang="zh-CN" sz="1050" dirty="0">
                <a:solidFill>
                  <a:srgbClr val="008000"/>
                </a:solidFill>
              </a:rPr>
              <a:t>y</a:t>
            </a:r>
            <a:r>
              <a:rPr lang="zh-CN" altLang="en-US" sz="1050" dirty="0">
                <a:solidFill>
                  <a:srgbClr val="008000"/>
                </a:solidFill>
              </a:rPr>
              <a:t>为整型 </a:t>
            </a:r>
            <a:endParaRPr lang="zh-CN" altLang="en-US" sz="1050" dirty="0">
              <a:solidFill>
                <a:srgbClr val="008000"/>
              </a:solidFill>
            </a:endParaRPr>
          </a:p>
          <a:p>
            <a:r>
              <a:rPr lang="en-US" altLang="zh-CN" sz="1050" dirty="0" smtClean="0"/>
              <a:t>{</a:t>
            </a:r>
            <a:endParaRPr lang="en-US" altLang="zh-CN" sz="1050" dirty="0" smtClean="0"/>
          </a:p>
          <a:p>
            <a:pPr marL="0" lvl="1" defTabSz="357505"/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z;	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函数中的声明部分，定义本函数中用到的变量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r>
              <a:rPr lang="zh-CN" altLang="en-US" sz="1050" dirty="0">
                <a:solidFill>
                  <a:srgbClr val="008000"/>
                </a:solidFill>
              </a:rPr>
              <a:t>为整型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marL="0" lvl="1" defTabSz="357505"/>
            <a:r>
              <a:rPr lang="en-US" altLang="zh-CN" sz="1050" dirty="0" smtClean="0"/>
              <a:t>if(x&gt;y)z=x;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若</a:t>
            </a:r>
            <a:r>
              <a:rPr lang="en-US" altLang="zh-CN" sz="1050" dirty="0">
                <a:solidFill>
                  <a:srgbClr val="008000"/>
                </a:solidFill>
              </a:rPr>
              <a:t>x&gt;y</a:t>
            </a:r>
            <a:r>
              <a:rPr lang="zh-CN" altLang="en-US" sz="1050" dirty="0">
                <a:solidFill>
                  <a:srgbClr val="008000"/>
                </a:solidFill>
              </a:rPr>
              <a:t>成立，将</a:t>
            </a:r>
            <a:r>
              <a:rPr lang="en-US" altLang="zh-CN" sz="1050" dirty="0">
                <a:solidFill>
                  <a:srgbClr val="008000"/>
                </a:solidFill>
              </a:rPr>
              <a:t>x</a:t>
            </a:r>
            <a:r>
              <a:rPr lang="zh-CN" altLang="en-US" sz="1050" dirty="0">
                <a:solidFill>
                  <a:srgbClr val="008000"/>
                </a:solidFill>
              </a:rPr>
              <a:t>的值赋给变量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marL="0" lvl="1" defTabSz="357505"/>
            <a:r>
              <a:rPr lang="en-US" altLang="zh-CN" sz="1050" dirty="0" smtClean="0"/>
              <a:t>else z=y;	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否则</a:t>
            </a:r>
            <a:r>
              <a:rPr lang="en-US" altLang="zh-CN" sz="1050" dirty="0">
                <a:solidFill>
                  <a:srgbClr val="008000"/>
                </a:solidFill>
              </a:rPr>
              <a:t>(</a:t>
            </a:r>
            <a:r>
              <a:rPr lang="zh-CN" altLang="en-US" sz="1050" dirty="0">
                <a:solidFill>
                  <a:srgbClr val="008000"/>
                </a:solidFill>
              </a:rPr>
              <a:t>即</a:t>
            </a:r>
            <a:r>
              <a:rPr lang="en-US" altLang="zh-CN" sz="1050" dirty="0">
                <a:solidFill>
                  <a:srgbClr val="008000"/>
                </a:solidFill>
              </a:rPr>
              <a:t>x&gt;y</a:t>
            </a:r>
            <a:r>
              <a:rPr lang="zh-CN" altLang="en-US" sz="1050" dirty="0">
                <a:solidFill>
                  <a:srgbClr val="008000"/>
                </a:solidFill>
              </a:rPr>
              <a:t>不成立</a:t>
            </a:r>
            <a:r>
              <a:rPr lang="en-US" altLang="zh-CN" sz="1050" dirty="0">
                <a:solidFill>
                  <a:srgbClr val="008000"/>
                </a:solidFill>
              </a:rPr>
              <a:t>)</a:t>
            </a:r>
            <a:r>
              <a:rPr lang="zh-CN" altLang="en-US" sz="1050" dirty="0">
                <a:solidFill>
                  <a:srgbClr val="008000"/>
                </a:solidFill>
              </a:rPr>
              <a:t>，将</a:t>
            </a:r>
            <a:r>
              <a:rPr lang="en-US" altLang="zh-CN" sz="1050" dirty="0">
                <a:solidFill>
                  <a:srgbClr val="008000"/>
                </a:solidFill>
              </a:rPr>
              <a:t>y</a:t>
            </a:r>
            <a:r>
              <a:rPr lang="zh-CN" altLang="en-US" sz="1050" dirty="0">
                <a:solidFill>
                  <a:srgbClr val="008000"/>
                </a:solidFill>
              </a:rPr>
              <a:t>的值赋给变量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marL="0" lvl="1" defTabSz="357505"/>
            <a:r>
              <a:rPr lang="en-US" altLang="zh-CN" sz="1050" dirty="0" smtClean="0"/>
              <a:t>return(z); 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将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r>
              <a:rPr lang="zh-CN" altLang="en-US" sz="1050" dirty="0">
                <a:solidFill>
                  <a:srgbClr val="008000"/>
                </a:solidFill>
              </a:rPr>
              <a:t>的值作为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函数值，返回到调用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函数的位置</a:t>
            </a:r>
            <a:endParaRPr lang="zh-CN" altLang="en-US" sz="1050" dirty="0">
              <a:solidFill>
                <a:srgbClr val="008000"/>
              </a:solidFill>
            </a:endParaRPr>
          </a:p>
          <a:p>
            <a:r>
              <a:rPr lang="en-US" altLang="zh-CN" sz="1050" dirty="0" smtClean="0"/>
              <a:t>}</a:t>
            </a:r>
            <a:endParaRPr lang="zh-CN" altLang="en-US" sz="1050" dirty="0">
              <a:solidFill>
                <a:srgbClr val="008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10648" y="2468825"/>
            <a:ext cx="2671763" cy="74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最简单的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C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语言程序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28650" y="1201577"/>
            <a:ext cx="4847811" cy="3426533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50" dirty="0" smtClean="0"/>
              <a:t>#include &lt;</a:t>
            </a:r>
            <a:r>
              <a:rPr lang="en-US" altLang="zh-CN" sz="1050" dirty="0" err="1" smtClean="0"/>
              <a:t>stdio.h</a:t>
            </a:r>
            <a:r>
              <a:rPr lang="en-US" altLang="zh-CN" sz="1050" dirty="0" smtClean="0"/>
              <a:t>&gt;</a:t>
            </a:r>
            <a:endParaRPr lang="en-US" altLang="zh-CN" sz="1050" dirty="0" smtClean="0"/>
          </a:p>
          <a:p>
            <a:pPr defTabSz="357505"/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主函数</a:t>
            </a:r>
            <a:endParaRPr lang="zh-CN" altLang="en-US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main()		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 smtClean="0">
                <a:solidFill>
                  <a:srgbClr val="008000"/>
                </a:solidFill>
              </a:rPr>
              <a:t>定义主函数</a:t>
            </a:r>
            <a:endParaRPr lang="zh-CN" altLang="en-US" sz="1050" dirty="0" smtClean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smtClean="0"/>
              <a:t>{			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主函数体开始</a:t>
            </a:r>
            <a:endParaRPr lang="zh-CN" altLang="en-US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max(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x,int</a:t>
            </a:r>
            <a:r>
              <a:rPr lang="en-US" altLang="zh-CN" sz="1050" dirty="0" smtClean="0"/>
              <a:t> y);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对被调用函数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的声明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a,b,c</a:t>
            </a:r>
            <a:r>
              <a:rPr lang="en-US" altLang="zh-CN" sz="1050" dirty="0" smtClean="0"/>
              <a:t>;	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定义变量</a:t>
            </a:r>
            <a:r>
              <a:rPr lang="en-US" altLang="zh-CN" sz="1050" dirty="0">
                <a:solidFill>
                  <a:srgbClr val="008000"/>
                </a:solidFill>
              </a:rPr>
              <a:t>a</a:t>
            </a:r>
            <a:r>
              <a:rPr lang="zh-CN" altLang="en-US" sz="1050" dirty="0">
                <a:solidFill>
                  <a:srgbClr val="008000"/>
                </a:solidFill>
              </a:rPr>
              <a:t>，</a:t>
            </a:r>
            <a:r>
              <a:rPr lang="en-US" altLang="zh-CN" sz="1050" dirty="0">
                <a:solidFill>
                  <a:srgbClr val="008000"/>
                </a:solidFill>
              </a:rPr>
              <a:t>b</a:t>
            </a:r>
            <a:r>
              <a:rPr lang="zh-CN" altLang="en-US" sz="1050" dirty="0">
                <a:solidFill>
                  <a:srgbClr val="008000"/>
                </a:solidFill>
              </a:rPr>
              <a:t>，</a:t>
            </a:r>
            <a:r>
              <a:rPr lang="en-US" altLang="zh-CN" sz="1050" dirty="0">
                <a:solidFill>
                  <a:srgbClr val="008000"/>
                </a:solidFill>
              </a:rPr>
              <a:t>c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smtClean="0"/>
              <a:t>	</a:t>
            </a:r>
            <a:r>
              <a:rPr lang="en-US" altLang="zh-CN" sz="1050" dirty="0" err="1" smtClean="0"/>
              <a:t>scanf</a:t>
            </a:r>
            <a:r>
              <a:rPr lang="en-US" altLang="zh-CN" sz="1050" dirty="0" smtClean="0"/>
              <a:t>(</a:t>
            </a:r>
            <a:r>
              <a:rPr lang="en-US" altLang="zh-CN" sz="1350" dirty="0" smtClean="0"/>
              <a:t>"</a:t>
            </a:r>
            <a:r>
              <a:rPr lang="en-US" altLang="zh-CN" sz="1050" dirty="0" smtClean="0"/>
              <a:t>%</a:t>
            </a:r>
            <a:r>
              <a:rPr lang="en-US" altLang="zh-CN" sz="1050" dirty="0" err="1" smtClean="0"/>
              <a:t>d,%d</a:t>
            </a:r>
            <a:r>
              <a:rPr lang="en-US" altLang="zh-CN" sz="1350" dirty="0" err="1" smtClean="0"/>
              <a:t>"</a:t>
            </a:r>
            <a:r>
              <a:rPr lang="en-US" altLang="zh-CN" sz="1050" dirty="0" err="1" smtClean="0"/>
              <a:t>,&amp;a,&amp;b</a:t>
            </a:r>
            <a:r>
              <a:rPr lang="en-US" altLang="zh-CN" sz="1050" dirty="0" smtClean="0"/>
              <a:t>); 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输入变量</a:t>
            </a:r>
            <a:r>
              <a:rPr lang="en-US" altLang="zh-CN" sz="1050" dirty="0">
                <a:solidFill>
                  <a:srgbClr val="008000"/>
                </a:solidFill>
              </a:rPr>
              <a:t>a</a:t>
            </a:r>
            <a:r>
              <a:rPr lang="zh-CN" altLang="en-US" sz="1050" dirty="0">
                <a:solidFill>
                  <a:srgbClr val="008000"/>
                </a:solidFill>
              </a:rPr>
              <a:t>和</a:t>
            </a:r>
            <a:r>
              <a:rPr lang="en-US" altLang="zh-CN" sz="1050" dirty="0">
                <a:solidFill>
                  <a:srgbClr val="008000"/>
                </a:solidFill>
              </a:rPr>
              <a:t>b</a:t>
            </a:r>
            <a:r>
              <a:rPr lang="zh-CN" altLang="en-US" sz="1050" dirty="0">
                <a:solidFill>
                  <a:srgbClr val="008000"/>
                </a:solidFill>
              </a:rPr>
              <a:t>的值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smtClean="0"/>
              <a:t>c=max(</a:t>
            </a:r>
            <a:r>
              <a:rPr lang="en-US" altLang="zh-CN" sz="1050" dirty="0" err="1" smtClean="0"/>
              <a:t>a,b</a:t>
            </a:r>
            <a:r>
              <a:rPr lang="en-US" altLang="zh-CN" sz="1050" dirty="0" smtClean="0"/>
              <a:t>);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调用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函数，将得到的值赋给</a:t>
            </a:r>
            <a:r>
              <a:rPr lang="en-US" altLang="zh-CN" sz="1050" dirty="0">
                <a:solidFill>
                  <a:srgbClr val="008000"/>
                </a:solidFill>
              </a:rPr>
              <a:t>c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smtClean="0"/>
              <a:t>	</a:t>
            </a:r>
            <a:r>
              <a:rPr lang="en-US" altLang="zh-CN" sz="1050" dirty="0" err="1" smtClean="0"/>
              <a:t>printf</a:t>
            </a:r>
            <a:r>
              <a:rPr lang="en-US" altLang="zh-CN" sz="1050" dirty="0" smtClean="0"/>
              <a:t>(</a:t>
            </a:r>
            <a:r>
              <a:rPr lang="en-US" altLang="zh-CN" sz="1350" dirty="0" smtClean="0"/>
              <a:t>"</a:t>
            </a:r>
            <a:r>
              <a:rPr lang="en-US" altLang="zh-CN" sz="1050" dirty="0" smtClean="0"/>
              <a:t>max=%d\</a:t>
            </a:r>
            <a:r>
              <a:rPr lang="en-US" altLang="zh-CN" sz="1050" dirty="0" err="1" smtClean="0"/>
              <a:t>n</a:t>
            </a:r>
            <a:r>
              <a:rPr lang="en-US" altLang="zh-CN" sz="1350" dirty="0" err="1" smtClean="0"/>
              <a:t>"</a:t>
            </a:r>
            <a:r>
              <a:rPr lang="en-US" altLang="zh-CN" sz="1050" dirty="0" err="1" smtClean="0"/>
              <a:t>,c</a:t>
            </a:r>
            <a:r>
              <a:rPr lang="en-US" altLang="zh-CN" sz="1050" dirty="0" smtClean="0"/>
              <a:t>); 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输出</a:t>
            </a:r>
            <a:r>
              <a:rPr lang="en-US" altLang="zh-CN" sz="1050" dirty="0">
                <a:solidFill>
                  <a:srgbClr val="008000"/>
                </a:solidFill>
              </a:rPr>
              <a:t>c</a:t>
            </a:r>
            <a:r>
              <a:rPr lang="zh-CN" altLang="en-US" sz="1050" dirty="0">
                <a:solidFill>
                  <a:srgbClr val="008000"/>
                </a:solidFill>
              </a:rPr>
              <a:t>的值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smtClean="0"/>
              <a:t>return 0;	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返回函数值为</a:t>
            </a:r>
            <a:r>
              <a:rPr lang="en-US" altLang="zh-CN" sz="1050" dirty="0">
                <a:solidFill>
                  <a:srgbClr val="008000"/>
                </a:solidFill>
              </a:rPr>
              <a:t>0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>
                <a:solidFill>
                  <a:srgbClr val="008000"/>
                </a:solidFill>
              </a:rPr>
              <a:t>}//</a:t>
            </a:r>
            <a:r>
              <a:rPr lang="zh-CN" altLang="en-US" sz="1050" dirty="0">
                <a:solidFill>
                  <a:srgbClr val="008000"/>
                </a:solidFill>
              </a:rPr>
              <a:t>主函数体结束</a:t>
            </a:r>
            <a:endParaRPr lang="zh-CN" altLang="en-US" sz="1050" dirty="0">
              <a:solidFill>
                <a:srgbClr val="008000"/>
              </a:solidFill>
            </a:endParaRPr>
          </a:p>
          <a:p>
            <a:endParaRPr lang="zh-CN" altLang="en-US" sz="1050" dirty="0" smtClean="0"/>
          </a:p>
          <a:p>
            <a:pPr defTabSz="357505"/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求两个整数中的较大者的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</a:t>
            </a:r>
            <a:endParaRPr lang="zh-CN" altLang="en-US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max(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x,int</a:t>
            </a:r>
            <a:r>
              <a:rPr lang="en-US" altLang="zh-CN" sz="1050" dirty="0" smtClean="0"/>
              <a:t> y)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定义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</a:t>
            </a:r>
            <a:r>
              <a:rPr lang="en-US" altLang="zh-CN" sz="1050" dirty="0">
                <a:solidFill>
                  <a:srgbClr val="008000"/>
                </a:solidFill>
              </a:rPr>
              <a:t>,</a:t>
            </a:r>
            <a:r>
              <a:rPr lang="zh-CN" altLang="en-US" sz="1050" dirty="0">
                <a:solidFill>
                  <a:srgbClr val="008000"/>
                </a:solidFill>
              </a:rPr>
              <a:t>函数值为整型</a:t>
            </a:r>
            <a:r>
              <a:rPr lang="en-US" altLang="zh-CN" sz="1050" dirty="0">
                <a:solidFill>
                  <a:srgbClr val="008000"/>
                </a:solidFill>
              </a:rPr>
              <a:t>, </a:t>
            </a:r>
            <a:r>
              <a:rPr lang="zh-CN" altLang="en-US" sz="1050" dirty="0">
                <a:solidFill>
                  <a:srgbClr val="008000"/>
                </a:solidFill>
              </a:rPr>
              <a:t>形式参数</a:t>
            </a:r>
            <a:r>
              <a:rPr lang="en-US" altLang="zh-CN" sz="1050" dirty="0">
                <a:solidFill>
                  <a:srgbClr val="008000"/>
                </a:solidFill>
              </a:rPr>
              <a:t>x</a:t>
            </a:r>
            <a:r>
              <a:rPr lang="zh-CN" altLang="en-US" sz="1050" dirty="0">
                <a:solidFill>
                  <a:srgbClr val="008000"/>
                </a:solidFill>
              </a:rPr>
              <a:t>和</a:t>
            </a:r>
            <a:r>
              <a:rPr lang="en-US" altLang="zh-CN" sz="1050" dirty="0">
                <a:solidFill>
                  <a:srgbClr val="008000"/>
                </a:solidFill>
              </a:rPr>
              <a:t>y</a:t>
            </a:r>
            <a:r>
              <a:rPr lang="zh-CN" altLang="en-US" sz="1050" dirty="0">
                <a:solidFill>
                  <a:srgbClr val="008000"/>
                </a:solidFill>
              </a:rPr>
              <a:t>为整型 </a:t>
            </a:r>
            <a:endParaRPr lang="zh-CN" altLang="en-US" sz="1050" dirty="0">
              <a:solidFill>
                <a:srgbClr val="008000"/>
              </a:solidFill>
            </a:endParaRPr>
          </a:p>
          <a:p>
            <a:r>
              <a:rPr lang="en-US" altLang="zh-CN" sz="1050" dirty="0" smtClean="0"/>
              <a:t>{</a:t>
            </a:r>
            <a:endParaRPr lang="en-US" altLang="zh-CN" sz="1050" dirty="0" smtClean="0"/>
          </a:p>
          <a:p>
            <a:pPr marL="0" lvl="1" defTabSz="357505"/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z;	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函数中的声明部分，定义本函数中用到的变量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r>
              <a:rPr lang="zh-CN" altLang="en-US" sz="1050" dirty="0">
                <a:solidFill>
                  <a:srgbClr val="008000"/>
                </a:solidFill>
              </a:rPr>
              <a:t>为整型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marL="0" lvl="1" defTabSz="357505"/>
            <a:r>
              <a:rPr lang="en-US" altLang="zh-CN" sz="1050" dirty="0" smtClean="0"/>
              <a:t>if(x&gt;y)z=x;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若</a:t>
            </a:r>
            <a:r>
              <a:rPr lang="en-US" altLang="zh-CN" sz="1050" dirty="0">
                <a:solidFill>
                  <a:srgbClr val="008000"/>
                </a:solidFill>
              </a:rPr>
              <a:t>x&gt;y</a:t>
            </a:r>
            <a:r>
              <a:rPr lang="zh-CN" altLang="en-US" sz="1050" dirty="0">
                <a:solidFill>
                  <a:srgbClr val="008000"/>
                </a:solidFill>
              </a:rPr>
              <a:t>成立，将</a:t>
            </a:r>
            <a:r>
              <a:rPr lang="en-US" altLang="zh-CN" sz="1050" dirty="0">
                <a:solidFill>
                  <a:srgbClr val="008000"/>
                </a:solidFill>
              </a:rPr>
              <a:t>x</a:t>
            </a:r>
            <a:r>
              <a:rPr lang="zh-CN" altLang="en-US" sz="1050" dirty="0">
                <a:solidFill>
                  <a:srgbClr val="008000"/>
                </a:solidFill>
              </a:rPr>
              <a:t>的值赋给变量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marL="0" lvl="1" defTabSz="357505"/>
            <a:r>
              <a:rPr lang="en-US" altLang="zh-CN" sz="1050" dirty="0" smtClean="0"/>
              <a:t>else z=y;	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否则</a:t>
            </a:r>
            <a:r>
              <a:rPr lang="en-US" altLang="zh-CN" sz="1050" dirty="0">
                <a:solidFill>
                  <a:srgbClr val="008000"/>
                </a:solidFill>
              </a:rPr>
              <a:t>(</a:t>
            </a:r>
            <a:r>
              <a:rPr lang="zh-CN" altLang="en-US" sz="1050" dirty="0">
                <a:solidFill>
                  <a:srgbClr val="008000"/>
                </a:solidFill>
              </a:rPr>
              <a:t>即</a:t>
            </a:r>
            <a:r>
              <a:rPr lang="en-US" altLang="zh-CN" sz="1050" dirty="0">
                <a:solidFill>
                  <a:srgbClr val="008000"/>
                </a:solidFill>
              </a:rPr>
              <a:t>x&gt;y</a:t>
            </a:r>
            <a:r>
              <a:rPr lang="zh-CN" altLang="en-US" sz="1050" dirty="0">
                <a:solidFill>
                  <a:srgbClr val="008000"/>
                </a:solidFill>
              </a:rPr>
              <a:t>不成立</a:t>
            </a:r>
            <a:r>
              <a:rPr lang="en-US" altLang="zh-CN" sz="1050" dirty="0">
                <a:solidFill>
                  <a:srgbClr val="008000"/>
                </a:solidFill>
              </a:rPr>
              <a:t>)</a:t>
            </a:r>
            <a:r>
              <a:rPr lang="zh-CN" altLang="en-US" sz="1050" dirty="0">
                <a:solidFill>
                  <a:srgbClr val="008000"/>
                </a:solidFill>
              </a:rPr>
              <a:t>，将</a:t>
            </a:r>
            <a:r>
              <a:rPr lang="en-US" altLang="zh-CN" sz="1050" dirty="0">
                <a:solidFill>
                  <a:srgbClr val="008000"/>
                </a:solidFill>
              </a:rPr>
              <a:t>y</a:t>
            </a:r>
            <a:r>
              <a:rPr lang="zh-CN" altLang="en-US" sz="1050" dirty="0">
                <a:solidFill>
                  <a:srgbClr val="008000"/>
                </a:solidFill>
              </a:rPr>
              <a:t>的值赋给变量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marL="0" lvl="1" defTabSz="357505"/>
            <a:r>
              <a:rPr lang="en-US" altLang="zh-CN" sz="1050" dirty="0" smtClean="0"/>
              <a:t>return(z); 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将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r>
              <a:rPr lang="zh-CN" altLang="en-US" sz="1050" dirty="0">
                <a:solidFill>
                  <a:srgbClr val="008000"/>
                </a:solidFill>
              </a:rPr>
              <a:t>的值作为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函数值，返回到调用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函数的位置</a:t>
            </a:r>
            <a:endParaRPr lang="zh-CN" altLang="en-US" sz="1050" dirty="0">
              <a:solidFill>
                <a:srgbClr val="008000"/>
              </a:solidFill>
            </a:endParaRPr>
          </a:p>
          <a:p>
            <a:r>
              <a:rPr lang="en-US" altLang="zh-CN" sz="1050" dirty="0" smtClean="0"/>
              <a:t>}</a:t>
            </a:r>
            <a:endParaRPr lang="zh-CN" altLang="en-US" sz="1050" dirty="0">
              <a:solidFill>
                <a:srgbClr val="008000"/>
              </a:solidFill>
            </a:endParaRPr>
          </a:p>
        </p:txBody>
      </p:sp>
      <p:sp>
        <p:nvSpPr>
          <p:cNvPr id="8" name="折角形 7"/>
          <p:cNvSpPr/>
          <p:nvPr/>
        </p:nvSpPr>
        <p:spPr>
          <a:xfrm>
            <a:off x="5705060" y="273844"/>
            <a:ext cx="3173068" cy="4586391"/>
          </a:xfrm>
          <a:prstGeom prst="foldedCorner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grpSp>
        <p:nvGrpSpPr>
          <p:cNvPr id="9" name="组合 8"/>
          <p:cNvGrpSpPr/>
          <p:nvPr/>
        </p:nvGrpSpPr>
        <p:grpSpPr>
          <a:xfrm>
            <a:off x="5859118" y="399312"/>
            <a:ext cx="1379055" cy="411673"/>
            <a:chOff x="8656983" y="1203671"/>
            <a:chExt cx="1838740" cy="48701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6983" y="1203671"/>
              <a:ext cx="487017" cy="487017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9253331" y="1331843"/>
              <a:ext cx="1242392" cy="353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35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程序分析</a:t>
              </a:r>
              <a:endParaRPr lang="zh-CN" altLang="en-US" sz="13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8656983" y="1690688"/>
              <a:ext cx="18387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5796998" y="824838"/>
            <a:ext cx="2959605" cy="4142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90204" pitchFamily="34" charset="0"/>
              <a:buChar char="•"/>
            </a:pPr>
            <a:r>
              <a:rPr lang="zh-CN" altLang="en-US" sz="1200" dirty="0" smtClean="0">
                <a:solidFill>
                  <a:schemeClr val="bg1"/>
                </a:solidFill>
              </a:rPr>
              <a:t>本程序包括两个函数</a:t>
            </a:r>
            <a:r>
              <a:rPr lang="en-US" altLang="zh-CN" sz="1200" dirty="0" smtClean="0">
                <a:solidFill>
                  <a:schemeClr val="bg1"/>
                </a:solidFill>
              </a:rPr>
              <a:t>:①</a:t>
            </a:r>
            <a:r>
              <a:rPr lang="zh-CN" altLang="en-US" sz="1200" dirty="0" smtClean="0">
                <a:solidFill>
                  <a:schemeClr val="bg1"/>
                </a:solidFill>
              </a:rPr>
              <a:t>主函数</a:t>
            </a:r>
            <a:r>
              <a:rPr lang="en-US" altLang="zh-CN" sz="1200" dirty="0" smtClean="0">
                <a:solidFill>
                  <a:schemeClr val="bg1"/>
                </a:solidFill>
              </a:rPr>
              <a:t>main</a:t>
            </a:r>
            <a:r>
              <a:rPr lang="zh-CN" altLang="en-US" sz="1200" dirty="0" smtClean="0">
                <a:solidFill>
                  <a:schemeClr val="bg1"/>
                </a:solidFill>
              </a:rPr>
              <a:t>；②被调用的函数</a:t>
            </a:r>
            <a:r>
              <a:rPr lang="en-US" altLang="zh-CN" sz="1200" dirty="0" smtClean="0">
                <a:solidFill>
                  <a:schemeClr val="bg1"/>
                </a:solidFill>
              </a:rPr>
              <a:t>max</a:t>
            </a:r>
            <a:r>
              <a:rPr lang="zh-CN" altLang="en-US" sz="1200" dirty="0" smtClean="0">
                <a:solidFill>
                  <a:schemeClr val="bg1"/>
                </a:solidFill>
              </a:rPr>
              <a:t>。</a:t>
            </a:r>
            <a:endParaRPr lang="zh-CN" altLang="en-US" sz="12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90204" pitchFamily="34" charset="0"/>
              <a:buChar char="•"/>
            </a:pPr>
            <a:r>
              <a:rPr lang="en-US" altLang="zh-CN" sz="1200" dirty="0" smtClean="0">
                <a:solidFill>
                  <a:schemeClr val="bg1"/>
                </a:solidFill>
              </a:rPr>
              <a:t>max</a:t>
            </a:r>
            <a:r>
              <a:rPr lang="zh-CN" altLang="en-US" sz="1200" dirty="0" smtClean="0">
                <a:solidFill>
                  <a:schemeClr val="bg1"/>
                </a:solidFill>
              </a:rPr>
              <a:t>函数的作用是将</a:t>
            </a:r>
            <a:r>
              <a:rPr lang="en-US" altLang="zh-CN" sz="1200" dirty="0" smtClean="0">
                <a:solidFill>
                  <a:schemeClr val="bg1"/>
                </a:solidFill>
              </a:rPr>
              <a:t>x</a:t>
            </a:r>
            <a:r>
              <a:rPr lang="zh-CN" altLang="en-US" sz="1200" dirty="0" smtClean="0">
                <a:solidFill>
                  <a:schemeClr val="bg1"/>
                </a:solidFill>
              </a:rPr>
              <a:t>和</a:t>
            </a:r>
            <a:r>
              <a:rPr lang="en-US" altLang="zh-CN" sz="1200" dirty="0" smtClean="0">
                <a:solidFill>
                  <a:schemeClr val="bg1"/>
                </a:solidFill>
              </a:rPr>
              <a:t>y</a:t>
            </a:r>
            <a:r>
              <a:rPr lang="zh-CN" altLang="en-US" sz="1200" dirty="0" smtClean="0">
                <a:solidFill>
                  <a:schemeClr val="bg1"/>
                </a:solidFill>
              </a:rPr>
              <a:t>中较大者的值赋给变量</a:t>
            </a:r>
            <a:r>
              <a:rPr lang="en-US" altLang="zh-CN" sz="1200" dirty="0" smtClean="0">
                <a:solidFill>
                  <a:schemeClr val="bg1"/>
                </a:solidFill>
              </a:rPr>
              <a:t>z</a:t>
            </a:r>
            <a:r>
              <a:rPr lang="zh-CN" altLang="en-US" sz="1200" dirty="0" smtClean="0">
                <a:solidFill>
                  <a:schemeClr val="bg1"/>
                </a:solidFill>
              </a:rPr>
              <a:t>，最后通过</a:t>
            </a:r>
            <a:r>
              <a:rPr lang="en-US" altLang="zh-CN" sz="1200" dirty="0" smtClean="0">
                <a:solidFill>
                  <a:schemeClr val="bg1"/>
                </a:solidFill>
              </a:rPr>
              <a:t>return</a:t>
            </a:r>
            <a:r>
              <a:rPr lang="zh-CN" altLang="en-US" sz="1200" dirty="0" smtClean="0">
                <a:solidFill>
                  <a:schemeClr val="bg1"/>
                </a:solidFill>
              </a:rPr>
              <a:t>语句将</a:t>
            </a:r>
            <a:r>
              <a:rPr lang="en-US" altLang="zh-CN" sz="1200" dirty="0" smtClean="0">
                <a:solidFill>
                  <a:schemeClr val="bg1"/>
                </a:solidFill>
              </a:rPr>
              <a:t>z</a:t>
            </a:r>
            <a:r>
              <a:rPr lang="zh-CN" altLang="en-US" sz="1200" dirty="0" smtClean="0">
                <a:solidFill>
                  <a:schemeClr val="bg1"/>
                </a:solidFill>
              </a:rPr>
              <a:t>的值作为</a:t>
            </a:r>
            <a:r>
              <a:rPr lang="en-US" altLang="zh-CN" sz="1200" dirty="0" smtClean="0">
                <a:solidFill>
                  <a:schemeClr val="bg1"/>
                </a:solidFill>
              </a:rPr>
              <a:t>max</a:t>
            </a:r>
            <a:r>
              <a:rPr lang="zh-CN" altLang="en-US" sz="1200" dirty="0" smtClean="0">
                <a:solidFill>
                  <a:schemeClr val="bg1"/>
                </a:solidFill>
              </a:rPr>
              <a:t>的函数值返回给调用</a:t>
            </a:r>
            <a:r>
              <a:rPr lang="en-US" altLang="zh-CN" sz="1200" dirty="0" smtClean="0">
                <a:solidFill>
                  <a:schemeClr val="bg1"/>
                </a:solidFill>
              </a:rPr>
              <a:t>max</a:t>
            </a:r>
            <a:r>
              <a:rPr lang="zh-CN" altLang="en-US" sz="1200" dirty="0" smtClean="0">
                <a:solidFill>
                  <a:schemeClr val="bg1"/>
                </a:solidFill>
              </a:rPr>
              <a:t>函数的主函数。</a:t>
            </a:r>
            <a:endParaRPr lang="zh-CN" altLang="en-US" sz="12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90204" pitchFamily="34" charset="0"/>
              <a:buChar char="•"/>
            </a:pPr>
            <a:r>
              <a:rPr lang="en-US" altLang="zh-CN" sz="1350" b="1" dirty="0" err="1" smtClean="0">
                <a:solidFill>
                  <a:srgbClr val="FFFF00"/>
                </a:solidFill>
              </a:rPr>
              <a:t>scanf</a:t>
            </a:r>
            <a:r>
              <a:rPr lang="zh-CN" altLang="en-US" sz="1200" dirty="0" smtClean="0">
                <a:solidFill>
                  <a:schemeClr val="bg1"/>
                </a:solidFill>
              </a:rPr>
              <a:t>是输入函数的名字</a:t>
            </a:r>
            <a:r>
              <a:rPr lang="en-US" altLang="zh-CN" sz="1200" dirty="0" smtClean="0">
                <a:solidFill>
                  <a:schemeClr val="bg1"/>
                </a:solidFill>
              </a:rPr>
              <a:t>(</a:t>
            </a:r>
            <a:r>
              <a:rPr lang="en-US" altLang="zh-CN" sz="1200" dirty="0" err="1" smtClean="0">
                <a:solidFill>
                  <a:schemeClr val="bg1"/>
                </a:solidFill>
              </a:rPr>
              <a:t>scanf</a:t>
            </a:r>
            <a:r>
              <a:rPr lang="zh-CN" altLang="en-US" sz="1200" dirty="0" smtClean="0">
                <a:solidFill>
                  <a:schemeClr val="bg1"/>
                </a:solidFill>
              </a:rPr>
              <a:t>和</a:t>
            </a:r>
            <a:r>
              <a:rPr lang="en-US" altLang="zh-CN" sz="1200" dirty="0" err="1" smtClean="0">
                <a:solidFill>
                  <a:schemeClr val="bg1"/>
                </a:solidFill>
              </a:rPr>
              <a:t>printf</a:t>
            </a:r>
            <a:r>
              <a:rPr lang="zh-CN" altLang="en-US" sz="1200" dirty="0" smtClean="0">
                <a:solidFill>
                  <a:schemeClr val="bg1"/>
                </a:solidFill>
              </a:rPr>
              <a:t>都是</a:t>
            </a:r>
            <a:r>
              <a:rPr lang="en-US" altLang="zh-CN" sz="1200" dirty="0" smtClean="0">
                <a:solidFill>
                  <a:schemeClr val="bg1"/>
                </a:solidFill>
              </a:rPr>
              <a:t>C</a:t>
            </a:r>
            <a:r>
              <a:rPr lang="zh-CN" altLang="en-US" sz="1200" dirty="0" smtClean="0">
                <a:solidFill>
                  <a:schemeClr val="bg1"/>
                </a:solidFill>
              </a:rPr>
              <a:t>的标准输入输出函数</a:t>
            </a:r>
            <a:r>
              <a:rPr lang="en-US" altLang="zh-CN" sz="1200" dirty="0" smtClean="0">
                <a:solidFill>
                  <a:schemeClr val="bg1"/>
                </a:solidFill>
              </a:rPr>
              <a:t>)</a:t>
            </a:r>
            <a:r>
              <a:rPr lang="zh-CN" altLang="en-US" sz="1200" dirty="0" smtClean="0">
                <a:solidFill>
                  <a:schemeClr val="bg1"/>
                </a:solidFill>
              </a:rPr>
              <a:t>。该</a:t>
            </a:r>
            <a:r>
              <a:rPr lang="en-US" altLang="zh-CN" sz="1200" dirty="0" err="1" smtClean="0">
                <a:solidFill>
                  <a:schemeClr val="bg1"/>
                </a:solidFill>
              </a:rPr>
              <a:t>scanf</a:t>
            </a:r>
            <a:r>
              <a:rPr lang="zh-CN" altLang="en-US" sz="1200" dirty="0" smtClean="0">
                <a:solidFill>
                  <a:schemeClr val="bg1"/>
                </a:solidFill>
              </a:rPr>
              <a:t>函数的作用是输入变量</a:t>
            </a:r>
            <a:r>
              <a:rPr lang="en-US" altLang="zh-CN" sz="1200" dirty="0" smtClean="0">
                <a:solidFill>
                  <a:schemeClr val="bg1"/>
                </a:solidFill>
              </a:rPr>
              <a:t>a</a:t>
            </a:r>
            <a:r>
              <a:rPr lang="zh-CN" altLang="en-US" sz="1200" dirty="0" smtClean="0">
                <a:solidFill>
                  <a:schemeClr val="bg1"/>
                </a:solidFill>
              </a:rPr>
              <a:t>和</a:t>
            </a:r>
            <a:r>
              <a:rPr lang="en-US" altLang="zh-CN" sz="1200" dirty="0" smtClean="0">
                <a:solidFill>
                  <a:schemeClr val="bg1"/>
                </a:solidFill>
              </a:rPr>
              <a:t>b</a:t>
            </a:r>
            <a:r>
              <a:rPr lang="zh-CN" altLang="en-US" sz="1200" dirty="0" smtClean="0">
                <a:solidFill>
                  <a:schemeClr val="bg1"/>
                </a:solidFill>
              </a:rPr>
              <a:t>的值。</a:t>
            </a:r>
            <a:endParaRPr lang="en-US" altLang="zh-CN" sz="12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90204" pitchFamily="34" charset="0"/>
              <a:buChar char="•"/>
            </a:pPr>
            <a:r>
              <a:rPr lang="en-US" altLang="zh-CN" sz="1350" b="1" dirty="0">
                <a:solidFill>
                  <a:srgbClr val="FFFF00"/>
                </a:solidFill>
              </a:rPr>
              <a:t>max(a</a:t>
            </a:r>
            <a:r>
              <a:rPr lang="zh-CN" altLang="en-US" sz="1350" b="1" dirty="0">
                <a:solidFill>
                  <a:srgbClr val="FFFF00"/>
                </a:solidFill>
              </a:rPr>
              <a:t>，</a:t>
            </a:r>
            <a:r>
              <a:rPr lang="en-US" altLang="zh-CN" sz="1350" b="1" dirty="0">
                <a:solidFill>
                  <a:srgbClr val="FFFF00"/>
                </a:solidFill>
              </a:rPr>
              <a:t>b)</a:t>
            </a:r>
            <a:r>
              <a:rPr lang="zh-CN" altLang="en-US" sz="1200" dirty="0">
                <a:solidFill>
                  <a:schemeClr val="bg1"/>
                </a:solidFill>
              </a:rPr>
              <a:t>调用</a:t>
            </a:r>
            <a:r>
              <a:rPr lang="en-US" altLang="zh-CN" sz="1200" dirty="0">
                <a:solidFill>
                  <a:schemeClr val="bg1"/>
                </a:solidFill>
              </a:rPr>
              <a:t>max</a:t>
            </a:r>
            <a:r>
              <a:rPr lang="zh-CN" altLang="en-US" sz="1200" dirty="0">
                <a:solidFill>
                  <a:schemeClr val="bg1"/>
                </a:solidFill>
              </a:rPr>
              <a:t>函数。在调用时将</a:t>
            </a:r>
            <a:r>
              <a:rPr lang="en-US" altLang="zh-CN" sz="1200" dirty="0">
                <a:solidFill>
                  <a:schemeClr val="bg1"/>
                </a:solidFill>
              </a:rPr>
              <a:t>a</a:t>
            </a:r>
            <a:r>
              <a:rPr lang="zh-CN" altLang="en-US" sz="1200" dirty="0">
                <a:solidFill>
                  <a:schemeClr val="bg1"/>
                </a:solidFill>
              </a:rPr>
              <a:t>和</a:t>
            </a:r>
            <a:r>
              <a:rPr lang="en-US" altLang="zh-CN" sz="1200" dirty="0">
                <a:solidFill>
                  <a:schemeClr val="bg1"/>
                </a:solidFill>
              </a:rPr>
              <a:t>b</a:t>
            </a:r>
            <a:r>
              <a:rPr lang="zh-CN" altLang="en-US" sz="1200" dirty="0">
                <a:solidFill>
                  <a:schemeClr val="bg1"/>
                </a:solidFill>
              </a:rPr>
              <a:t>作为</a:t>
            </a:r>
            <a:r>
              <a:rPr lang="en-US" altLang="zh-CN" sz="1200" dirty="0">
                <a:solidFill>
                  <a:schemeClr val="bg1"/>
                </a:solidFill>
              </a:rPr>
              <a:t>max</a:t>
            </a:r>
            <a:r>
              <a:rPr lang="zh-CN" altLang="en-US" sz="1200" dirty="0">
                <a:solidFill>
                  <a:schemeClr val="bg1"/>
                </a:solidFill>
              </a:rPr>
              <a:t>函数</a:t>
            </a:r>
            <a:r>
              <a:rPr lang="zh-CN" altLang="en-US" sz="1200" dirty="0" smtClean="0">
                <a:solidFill>
                  <a:schemeClr val="bg1"/>
                </a:solidFill>
              </a:rPr>
              <a:t>的</a:t>
            </a:r>
            <a:r>
              <a:rPr lang="zh-CN" altLang="en-US" sz="1350" b="1" dirty="0">
                <a:solidFill>
                  <a:srgbClr val="FFFF00"/>
                </a:solidFill>
              </a:rPr>
              <a:t>实际参数</a:t>
            </a:r>
            <a:r>
              <a:rPr lang="zh-CN" altLang="en-US" sz="1200" dirty="0" smtClean="0">
                <a:solidFill>
                  <a:schemeClr val="bg1"/>
                </a:solidFill>
              </a:rPr>
              <a:t>的</a:t>
            </a:r>
            <a:r>
              <a:rPr lang="zh-CN" altLang="en-US" sz="1200" dirty="0">
                <a:solidFill>
                  <a:schemeClr val="bg1"/>
                </a:solidFill>
              </a:rPr>
              <a:t>值分别传送给</a:t>
            </a:r>
            <a:r>
              <a:rPr lang="en-US" altLang="zh-CN" sz="1200" dirty="0">
                <a:solidFill>
                  <a:schemeClr val="bg1"/>
                </a:solidFill>
              </a:rPr>
              <a:t>max</a:t>
            </a:r>
            <a:r>
              <a:rPr lang="zh-CN" altLang="en-US" sz="1200" dirty="0">
                <a:solidFill>
                  <a:schemeClr val="bg1"/>
                </a:solidFill>
              </a:rPr>
              <a:t>函数中</a:t>
            </a:r>
            <a:r>
              <a:rPr lang="zh-CN" altLang="en-US" sz="1200" dirty="0" smtClean="0">
                <a:solidFill>
                  <a:schemeClr val="bg1"/>
                </a:solidFill>
              </a:rPr>
              <a:t>的</a:t>
            </a:r>
            <a:r>
              <a:rPr lang="zh-CN" altLang="en-US" sz="1350" b="1" dirty="0">
                <a:solidFill>
                  <a:srgbClr val="FFFF00"/>
                </a:solidFill>
              </a:rPr>
              <a:t>形式参数</a:t>
            </a:r>
            <a:r>
              <a:rPr lang="en-US" altLang="zh-CN" sz="1200" dirty="0">
                <a:solidFill>
                  <a:schemeClr val="bg1"/>
                </a:solidFill>
              </a:rPr>
              <a:t>x</a:t>
            </a:r>
            <a:r>
              <a:rPr lang="zh-CN" altLang="en-US" sz="1200" dirty="0">
                <a:solidFill>
                  <a:schemeClr val="bg1"/>
                </a:solidFill>
              </a:rPr>
              <a:t>和</a:t>
            </a:r>
            <a:r>
              <a:rPr lang="en-US" altLang="zh-CN" sz="1200" dirty="0" smtClean="0">
                <a:solidFill>
                  <a:schemeClr val="bg1"/>
                </a:solidFill>
              </a:rPr>
              <a:t>y</a:t>
            </a:r>
            <a:r>
              <a:rPr lang="zh-CN" altLang="en-US" sz="1200" dirty="0" smtClean="0">
                <a:solidFill>
                  <a:schemeClr val="bg1"/>
                </a:solidFill>
              </a:rPr>
              <a:t>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最简单的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C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语言程序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28650" y="1201577"/>
            <a:ext cx="4847811" cy="3426533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50" dirty="0" smtClean="0"/>
              <a:t>#include &lt;</a:t>
            </a:r>
            <a:r>
              <a:rPr lang="en-US" altLang="zh-CN" sz="1050" dirty="0" err="1" smtClean="0"/>
              <a:t>stdio.h</a:t>
            </a:r>
            <a:r>
              <a:rPr lang="en-US" altLang="zh-CN" sz="1050" dirty="0" smtClean="0"/>
              <a:t>&gt;</a:t>
            </a:r>
            <a:endParaRPr lang="en-US" altLang="zh-CN" sz="1050" dirty="0" smtClean="0"/>
          </a:p>
          <a:p>
            <a:pPr defTabSz="357505"/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主函数</a:t>
            </a:r>
            <a:endParaRPr lang="zh-CN" altLang="en-US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main()		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 smtClean="0">
                <a:solidFill>
                  <a:srgbClr val="008000"/>
                </a:solidFill>
              </a:rPr>
              <a:t>定义主函数</a:t>
            </a:r>
            <a:endParaRPr lang="zh-CN" altLang="en-US" sz="1050" dirty="0" smtClean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smtClean="0"/>
              <a:t>{			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主函数体开始</a:t>
            </a:r>
            <a:endParaRPr lang="zh-CN" altLang="en-US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max(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x,int</a:t>
            </a:r>
            <a:r>
              <a:rPr lang="en-US" altLang="zh-CN" sz="1050" dirty="0" smtClean="0"/>
              <a:t> y);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对被调用函数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的声明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a,b,c</a:t>
            </a:r>
            <a:r>
              <a:rPr lang="en-US" altLang="zh-CN" sz="1050" dirty="0" smtClean="0"/>
              <a:t>;	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定义变量</a:t>
            </a:r>
            <a:r>
              <a:rPr lang="en-US" altLang="zh-CN" sz="1050" dirty="0">
                <a:solidFill>
                  <a:srgbClr val="008000"/>
                </a:solidFill>
              </a:rPr>
              <a:t>a</a:t>
            </a:r>
            <a:r>
              <a:rPr lang="zh-CN" altLang="en-US" sz="1050" dirty="0">
                <a:solidFill>
                  <a:srgbClr val="008000"/>
                </a:solidFill>
              </a:rPr>
              <a:t>，</a:t>
            </a:r>
            <a:r>
              <a:rPr lang="en-US" altLang="zh-CN" sz="1050" dirty="0">
                <a:solidFill>
                  <a:srgbClr val="008000"/>
                </a:solidFill>
              </a:rPr>
              <a:t>b</a:t>
            </a:r>
            <a:r>
              <a:rPr lang="zh-CN" altLang="en-US" sz="1050" dirty="0">
                <a:solidFill>
                  <a:srgbClr val="008000"/>
                </a:solidFill>
              </a:rPr>
              <a:t>，</a:t>
            </a:r>
            <a:r>
              <a:rPr lang="en-US" altLang="zh-CN" sz="1050" dirty="0">
                <a:solidFill>
                  <a:srgbClr val="008000"/>
                </a:solidFill>
              </a:rPr>
              <a:t>c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smtClean="0"/>
              <a:t>	</a:t>
            </a:r>
            <a:r>
              <a:rPr lang="en-US" altLang="zh-CN" sz="1050" dirty="0" err="1" smtClean="0"/>
              <a:t>scanf</a:t>
            </a:r>
            <a:r>
              <a:rPr lang="en-US" altLang="zh-CN" sz="1050" dirty="0" smtClean="0"/>
              <a:t>(</a:t>
            </a:r>
            <a:r>
              <a:rPr lang="en-US" altLang="zh-CN" sz="1350" dirty="0" smtClean="0"/>
              <a:t>"</a:t>
            </a:r>
            <a:r>
              <a:rPr lang="en-US" altLang="zh-CN" sz="1050" dirty="0" smtClean="0"/>
              <a:t>%</a:t>
            </a:r>
            <a:r>
              <a:rPr lang="en-US" altLang="zh-CN" sz="1050" dirty="0" err="1" smtClean="0"/>
              <a:t>d,%d</a:t>
            </a:r>
            <a:r>
              <a:rPr lang="en-US" altLang="zh-CN" sz="1350" dirty="0" err="1" smtClean="0"/>
              <a:t>"</a:t>
            </a:r>
            <a:r>
              <a:rPr lang="en-US" altLang="zh-CN" sz="1050" dirty="0" err="1" smtClean="0"/>
              <a:t>,&amp;a,&amp;b</a:t>
            </a:r>
            <a:r>
              <a:rPr lang="en-US" altLang="zh-CN" sz="1050" dirty="0" smtClean="0"/>
              <a:t>); 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输入变量</a:t>
            </a:r>
            <a:r>
              <a:rPr lang="en-US" altLang="zh-CN" sz="1050" dirty="0">
                <a:solidFill>
                  <a:srgbClr val="008000"/>
                </a:solidFill>
              </a:rPr>
              <a:t>a</a:t>
            </a:r>
            <a:r>
              <a:rPr lang="zh-CN" altLang="en-US" sz="1050" dirty="0">
                <a:solidFill>
                  <a:srgbClr val="008000"/>
                </a:solidFill>
              </a:rPr>
              <a:t>和</a:t>
            </a:r>
            <a:r>
              <a:rPr lang="en-US" altLang="zh-CN" sz="1050" dirty="0">
                <a:solidFill>
                  <a:srgbClr val="008000"/>
                </a:solidFill>
              </a:rPr>
              <a:t>b</a:t>
            </a:r>
            <a:r>
              <a:rPr lang="zh-CN" altLang="en-US" sz="1050" dirty="0">
                <a:solidFill>
                  <a:srgbClr val="008000"/>
                </a:solidFill>
              </a:rPr>
              <a:t>的值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smtClean="0"/>
              <a:t>c=max(</a:t>
            </a:r>
            <a:r>
              <a:rPr lang="en-US" altLang="zh-CN" sz="1050" dirty="0" err="1" smtClean="0"/>
              <a:t>a,b</a:t>
            </a:r>
            <a:r>
              <a:rPr lang="en-US" altLang="zh-CN" sz="1050" dirty="0" smtClean="0"/>
              <a:t>);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调用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函数，将得到的值赋给</a:t>
            </a:r>
            <a:r>
              <a:rPr lang="en-US" altLang="zh-CN" sz="1050" dirty="0">
                <a:solidFill>
                  <a:srgbClr val="008000"/>
                </a:solidFill>
              </a:rPr>
              <a:t>c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smtClean="0"/>
              <a:t>	</a:t>
            </a:r>
            <a:r>
              <a:rPr lang="en-US" altLang="zh-CN" sz="1050" dirty="0" err="1" smtClean="0"/>
              <a:t>printf</a:t>
            </a:r>
            <a:r>
              <a:rPr lang="en-US" altLang="zh-CN" sz="1050" dirty="0" smtClean="0"/>
              <a:t>(</a:t>
            </a:r>
            <a:r>
              <a:rPr lang="en-US" altLang="zh-CN" sz="1350" dirty="0" smtClean="0"/>
              <a:t>"</a:t>
            </a:r>
            <a:r>
              <a:rPr lang="en-US" altLang="zh-CN" sz="1050" dirty="0" smtClean="0"/>
              <a:t>max=%d\</a:t>
            </a:r>
            <a:r>
              <a:rPr lang="en-US" altLang="zh-CN" sz="1050" dirty="0" err="1" smtClean="0"/>
              <a:t>n</a:t>
            </a:r>
            <a:r>
              <a:rPr lang="en-US" altLang="zh-CN" sz="1350" dirty="0" err="1" smtClean="0"/>
              <a:t>"</a:t>
            </a:r>
            <a:r>
              <a:rPr lang="en-US" altLang="zh-CN" sz="1050" dirty="0" err="1" smtClean="0"/>
              <a:t>,c</a:t>
            </a:r>
            <a:r>
              <a:rPr lang="en-US" altLang="zh-CN" sz="1050" dirty="0" smtClean="0"/>
              <a:t>); 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输出</a:t>
            </a:r>
            <a:r>
              <a:rPr lang="en-US" altLang="zh-CN" sz="1050" dirty="0">
                <a:solidFill>
                  <a:srgbClr val="008000"/>
                </a:solidFill>
              </a:rPr>
              <a:t>c</a:t>
            </a:r>
            <a:r>
              <a:rPr lang="zh-CN" altLang="en-US" sz="1050" dirty="0">
                <a:solidFill>
                  <a:srgbClr val="008000"/>
                </a:solidFill>
              </a:rPr>
              <a:t>的值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smtClean="0"/>
              <a:t>return 0;			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返回函数值为</a:t>
            </a:r>
            <a:r>
              <a:rPr lang="en-US" altLang="zh-CN" sz="1050" dirty="0">
                <a:solidFill>
                  <a:srgbClr val="008000"/>
                </a:solidFill>
              </a:rPr>
              <a:t>0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>
                <a:solidFill>
                  <a:srgbClr val="008000"/>
                </a:solidFill>
              </a:rPr>
              <a:t>}//</a:t>
            </a:r>
            <a:r>
              <a:rPr lang="zh-CN" altLang="en-US" sz="1050" dirty="0">
                <a:solidFill>
                  <a:srgbClr val="008000"/>
                </a:solidFill>
              </a:rPr>
              <a:t>主函数体结束</a:t>
            </a:r>
            <a:endParaRPr lang="zh-CN" altLang="en-US" sz="1050" dirty="0">
              <a:solidFill>
                <a:srgbClr val="008000"/>
              </a:solidFill>
            </a:endParaRPr>
          </a:p>
          <a:p>
            <a:endParaRPr lang="zh-CN" altLang="en-US" sz="1050" dirty="0" smtClean="0"/>
          </a:p>
          <a:p>
            <a:pPr defTabSz="357505"/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求两个整数中的较大者的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</a:t>
            </a:r>
            <a:endParaRPr lang="zh-CN" altLang="en-US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max(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x,int</a:t>
            </a:r>
            <a:r>
              <a:rPr lang="en-US" altLang="zh-CN" sz="1050" dirty="0" smtClean="0"/>
              <a:t> y)	</a:t>
            </a:r>
            <a:r>
              <a:rPr lang="en-US" altLang="zh-CN" sz="1050" dirty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定义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</a:t>
            </a:r>
            <a:r>
              <a:rPr lang="en-US" altLang="zh-CN" sz="1050" dirty="0">
                <a:solidFill>
                  <a:srgbClr val="008000"/>
                </a:solidFill>
              </a:rPr>
              <a:t>,</a:t>
            </a:r>
            <a:r>
              <a:rPr lang="zh-CN" altLang="en-US" sz="1050" dirty="0">
                <a:solidFill>
                  <a:srgbClr val="008000"/>
                </a:solidFill>
              </a:rPr>
              <a:t>函数值为整型</a:t>
            </a:r>
            <a:r>
              <a:rPr lang="en-US" altLang="zh-CN" sz="1050" dirty="0">
                <a:solidFill>
                  <a:srgbClr val="008000"/>
                </a:solidFill>
              </a:rPr>
              <a:t>, </a:t>
            </a:r>
            <a:r>
              <a:rPr lang="zh-CN" altLang="en-US" sz="1050" dirty="0">
                <a:solidFill>
                  <a:srgbClr val="008000"/>
                </a:solidFill>
              </a:rPr>
              <a:t>形式参数</a:t>
            </a:r>
            <a:r>
              <a:rPr lang="en-US" altLang="zh-CN" sz="1050" dirty="0">
                <a:solidFill>
                  <a:srgbClr val="008000"/>
                </a:solidFill>
              </a:rPr>
              <a:t>x</a:t>
            </a:r>
            <a:r>
              <a:rPr lang="zh-CN" altLang="en-US" sz="1050" dirty="0">
                <a:solidFill>
                  <a:srgbClr val="008000"/>
                </a:solidFill>
              </a:rPr>
              <a:t>和</a:t>
            </a:r>
            <a:r>
              <a:rPr lang="en-US" altLang="zh-CN" sz="1050" dirty="0">
                <a:solidFill>
                  <a:srgbClr val="008000"/>
                </a:solidFill>
              </a:rPr>
              <a:t>y</a:t>
            </a:r>
            <a:r>
              <a:rPr lang="zh-CN" altLang="en-US" sz="1050" dirty="0">
                <a:solidFill>
                  <a:srgbClr val="008000"/>
                </a:solidFill>
              </a:rPr>
              <a:t>为整型 </a:t>
            </a:r>
            <a:endParaRPr lang="zh-CN" altLang="en-US" sz="1050" dirty="0">
              <a:solidFill>
                <a:srgbClr val="008000"/>
              </a:solidFill>
            </a:endParaRPr>
          </a:p>
          <a:p>
            <a:r>
              <a:rPr lang="en-US" altLang="zh-CN" sz="1050" dirty="0" smtClean="0"/>
              <a:t>{</a:t>
            </a:r>
            <a:endParaRPr lang="en-US" altLang="zh-CN" sz="1050" dirty="0" smtClean="0"/>
          </a:p>
          <a:p>
            <a:pPr marL="0" lvl="1" defTabSz="357505"/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z;	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函数中的声明部分，定义本函数中用到的变量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r>
              <a:rPr lang="zh-CN" altLang="en-US" sz="1050" dirty="0">
                <a:solidFill>
                  <a:srgbClr val="008000"/>
                </a:solidFill>
              </a:rPr>
              <a:t>为整型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marL="0" lvl="1" defTabSz="357505"/>
            <a:r>
              <a:rPr lang="en-US" altLang="zh-CN" sz="1050" dirty="0" smtClean="0"/>
              <a:t>if(x&gt;y)z=x;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若</a:t>
            </a:r>
            <a:r>
              <a:rPr lang="en-US" altLang="zh-CN" sz="1050" dirty="0">
                <a:solidFill>
                  <a:srgbClr val="008000"/>
                </a:solidFill>
              </a:rPr>
              <a:t>x&gt;y</a:t>
            </a:r>
            <a:r>
              <a:rPr lang="zh-CN" altLang="en-US" sz="1050" dirty="0">
                <a:solidFill>
                  <a:srgbClr val="008000"/>
                </a:solidFill>
              </a:rPr>
              <a:t>成立，将</a:t>
            </a:r>
            <a:r>
              <a:rPr lang="en-US" altLang="zh-CN" sz="1050" dirty="0">
                <a:solidFill>
                  <a:srgbClr val="008000"/>
                </a:solidFill>
              </a:rPr>
              <a:t>x</a:t>
            </a:r>
            <a:r>
              <a:rPr lang="zh-CN" altLang="en-US" sz="1050" dirty="0">
                <a:solidFill>
                  <a:srgbClr val="008000"/>
                </a:solidFill>
              </a:rPr>
              <a:t>的值赋给变量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marL="0" lvl="1" defTabSz="357505"/>
            <a:r>
              <a:rPr lang="en-US" altLang="zh-CN" sz="1050" dirty="0" smtClean="0"/>
              <a:t>else z=y;	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否则</a:t>
            </a:r>
            <a:r>
              <a:rPr lang="en-US" altLang="zh-CN" sz="1050" dirty="0">
                <a:solidFill>
                  <a:srgbClr val="008000"/>
                </a:solidFill>
              </a:rPr>
              <a:t>(</a:t>
            </a:r>
            <a:r>
              <a:rPr lang="zh-CN" altLang="en-US" sz="1050" dirty="0">
                <a:solidFill>
                  <a:srgbClr val="008000"/>
                </a:solidFill>
              </a:rPr>
              <a:t>即</a:t>
            </a:r>
            <a:r>
              <a:rPr lang="en-US" altLang="zh-CN" sz="1050" dirty="0">
                <a:solidFill>
                  <a:srgbClr val="008000"/>
                </a:solidFill>
              </a:rPr>
              <a:t>x&gt;y</a:t>
            </a:r>
            <a:r>
              <a:rPr lang="zh-CN" altLang="en-US" sz="1050" dirty="0">
                <a:solidFill>
                  <a:srgbClr val="008000"/>
                </a:solidFill>
              </a:rPr>
              <a:t>不成立</a:t>
            </a:r>
            <a:r>
              <a:rPr lang="en-US" altLang="zh-CN" sz="1050" dirty="0">
                <a:solidFill>
                  <a:srgbClr val="008000"/>
                </a:solidFill>
              </a:rPr>
              <a:t>)</a:t>
            </a:r>
            <a:r>
              <a:rPr lang="zh-CN" altLang="en-US" sz="1050" dirty="0">
                <a:solidFill>
                  <a:srgbClr val="008000"/>
                </a:solidFill>
              </a:rPr>
              <a:t>，将</a:t>
            </a:r>
            <a:r>
              <a:rPr lang="en-US" altLang="zh-CN" sz="1050" dirty="0">
                <a:solidFill>
                  <a:srgbClr val="008000"/>
                </a:solidFill>
              </a:rPr>
              <a:t>y</a:t>
            </a:r>
            <a:r>
              <a:rPr lang="zh-CN" altLang="en-US" sz="1050" dirty="0">
                <a:solidFill>
                  <a:srgbClr val="008000"/>
                </a:solidFill>
              </a:rPr>
              <a:t>的值赋给变量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marL="0" lvl="1" defTabSz="357505"/>
            <a:r>
              <a:rPr lang="en-US" altLang="zh-CN" sz="1050" dirty="0" smtClean="0"/>
              <a:t>return(z); 		</a:t>
            </a:r>
            <a:r>
              <a:rPr lang="en-US" altLang="zh-CN" sz="1050" dirty="0" smtClean="0">
                <a:solidFill>
                  <a:srgbClr val="008000"/>
                </a:solidFill>
              </a:rPr>
              <a:t>//</a:t>
            </a:r>
            <a:r>
              <a:rPr lang="zh-CN" altLang="en-US" sz="1050" dirty="0">
                <a:solidFill>
                  <a:srgbClr val="008000"/>
                </a:solidFill>
              </a:rPr>
              <a:t>将</a:t>
            </a:r>
            <a:r>
              <a:rPr lang="en-US" altLang="zh-CN" sz="1050" dirty="0">
                <a:solidFill>
                  <a:srgbClr val="008000"/>
                </a:solidFill>
              </a:rPr>
              <a:t>z</a:t>
            </a:r>
            <a:r>
              <a:rPr lang="zh-CN" altLang="en-US" sz="1050" dirty="0">
                <a:solidFill>
                  <a:srgbClr val="008000"/>
                </a:solidFill>
              </a:rPr>
              <a:t>的值作为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函数值，返回到调用</a:t>
            </a:r>
            <a:r>
              <a:rPr lang="en-US" altLang="zh-CN" sz="1050" dirty="0">
                <a:solidFill>
                  <a:srgbClr val="008000"/>
                </a:solidFill>
              </a:rPr>
              <a:t>max</a:t>
            </a:r>
            <a:r>
              <a:rPr lang="zh-CN" altLang="en-US" sz="1050" dirty="0">
                <a:solidFill>
                  <a:srgbClr val="008000"/>
                </a:solidFill>
              </a:rPr>
              <a:t>函数的位置</a:t>
            </a:r>
            <a:endParaRPr lang="zh-CN" altLang="en-US" sz="1050" dirty="0">
              <a:solidFill>
                <a:srgbClr val="008000"/>
              </a:solidFill>
            </a:endParaRPr>
          </a:p>
          <a:p>
            <a:r>
              <a:rPr lang="en-US" altLang="zh-CN" sz="1050" dirty="0" smtClean="0"/>
              <a:t>}</a:t>
            </a:r>
            <a:endParaRPr lang="zh-CN" altLang="en-US" sz="1050" dirty="0">
              <a:solidFill>
                <a:srgbClr val="008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67181" y="1391349"/>
            <a:ext cx="2984223" cy="330009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sz="1350" dirty="0"/>
              <a:t>注意</a:t>
            </a:r>
            <a:r>
              <a:rPr lang="zh-CN" altLang="en-US" sz="1350" dirty="0" smtClean="0"/>
              <a:t>：本例程序中两个函数都有</a:t>
            </a:r>
            <a:r>
              <a:rPr lang="en-US" altLang="zh-CN" sz="1350" dirty="0" smtClean="0"/>
              <a:t>return</a:t>
            </a:r>
            <a:r>
              <a:rPr lang="zh-CN" altLang="en-US" sz="1350" dirty="0" smtClean="0"/>
              <a:t>语句，请注意它们的异同。</a:t>
            </a:r>
            <a:endParaRPr lang="en-US" altLang="zh-CN" sz="1350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sz="1350" dirty="0" smtClean="0"/>
              <a:t>两个函数都定义为整型，都有函数值，都需要用</a:t>
            </a:r>
            <a:r>
              <a:rPr lang="en-US" altLang="zh-CN" sz="1350" dirty="0" smtClean="0"/>
              <a:t>return</a:t>
            </a:r>
            <a:r>
              <a:rPr lang="zh-CN" altLang="en-US" sz="1350" dirty="0" smtClean="0"/>
              <a:t>语句为函数指定返回值。</a:t>
            </a:r>
            <a:endParaRPr lang="en-US" altLang="zh-CN" sz="1350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1350" dirty="0" smtClean="0"/>
              <a:t>main</a:t>
            </a:r>
            <a:r>
              <a:rPr lang="zh-CN" altLang="en-US" sz="1350" dirty="0" smtClean="0"/>
              <a:t>函数中的</a:t>
            </a:r>
            <a:r>
              <a:rPr lang="en-US" altLang="zh-CN" sz="1350" dirty="0" smtClean="0"/>
              <a:t>return</a:t>
            </a:r>
            <a:r>
              <a:rPr lang="zh-CN" altLang="en-US" sz="1350" dirty="0" smtClean="0"/>
              <a:t>语句指定的返回值一般为</a:t>
            </a:r>
            <a:r>
              <a:rPr lang="en-US" altLang="zh-CN" sz="1350" dirty="0" smtClean="0"/>
              <a:t>0</a:t>
            </a:r>
            <a:r>
              <a:rPr lang="zh-CN" altLang="en-US" sz="1350" dirty="0" smtClean="0"/>
              <a:t>。</a:t>
            </a:r>
            <a:endParaRPr lang="en-US" altLang="zh-CN" sz="1350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1350" dirty="0" smtClean="0"/>
              <a:t>max</a:t>
            </a:r>
            <a:r>
              <a:rPr lang="zh-CN" altLang="en-US" sz="1350" dirty="0" smtClean="0"/>
              <a:t>函数的返回值是</a:t>
            </a:r>
            <a:r>
              <a:rPr lang="en-US" altLang="zh-CN" sz="1350" dirty="0" smtClean="0"/>
              <a:t>max</a:t>
            </a:r>
            <a:r>
              <a:rPr lang="zh-CN" altLang="en-US" sz="1350" dirty="0" smtClean="0"/>
              <a:t>函数中求出的两数中的最大值</a:t>
            </a:r>
            <a:r>
              <a:rPr lang="en-US" altLang="zh-CN" sz="1350" dirty="0" smtClean="0"/>
              <a:t>z</a:t>
            </a:r>
            <a:r>
              <a:rPr lang="zh-CN" altLang="en-US" sz="1350" dirty="0" smtClean="0"/>
              <a:t>，只有通过</a:t>
            </a:r>
            <a:r>
              <a:rPr lang="en-US" altLang="zh-CN" sz="1350" dirty="0" smtClean="0"/>
              <a:t>return</a:t>
            </a:r>
            <a:r>
              <a:rPr lang="zh-CN" altLang="en-US" sz="1350" dirty="0" smtClean="0"/>
              <a:t>语句才能把求出的</a:t>
            </a:r>
            <a:r>
              <a:rPr lang="en-US" altLang="zh-CN" sz="1350" dirty="0" smtClean="0"/>
              <a:t>z</a:t>
            </a:r>
            <a:r>
              <a:rPr lang="zh-CN" altLang="en-US" sz="1350" dirty="0" smtClean="0"/>
              <a:t>值作为函数的值并返回调用它的</a:t>
            </a:r>
            <a:r>
              <a:rPr lang="en-US" altLang="zh-CN" sz="1350" dirty="0" smtClean="0"/>
              <a:t>main</a:t>
            </a:r>
            <a:r>
              <a:rPr lang="zh-CN" altLang="en-US" sz="1350" dirty="0" smtClean="0"/>
              <a:t>函数中。</a:t>
            </a:r>
            <a:endParaRPr lang="zh-CN" alt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C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语言程序的结构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0831" y="1175406"/>
            <a:ext cx="4909930" cy="374446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sz="1350" dirty="0" smtClean="0"/>
              <a:t>一个程序由一个或多个源程序文件组成</a:t>
            </a:r>
            <a:endParaRPr lang="en-US" altLang="zh-CN" sz="1350" dirty="0" smtClean="0"/>
          </a:p>
          <a:p>
            <a:pPr lvl="1">
              <a:lnSpc>
                <a:spcPct val="110000"/>
              </a:lnSpc>
            </a:pPr>
            <a:r>
              <a:rPr lang="zh-CN" altLang="en-US" sz="1200" dirty="0" smtClean="0"/>
              <a:t>源程序文件包括：预处理指令、全局声明、函数定义</a:t>
            </a:r>
            <a:endParaRPr lang="en-US" altLang="zh-CN" sz="1200" dirty="0" smtClean="0"/>
          </a:p>
          <a:p>
            <a:pPr>
              <a:lnSpc>
                <a:spcPct val="110000"/>
              </a:lnSpc>
            </a:pPr>
            <a:r>
              <a:rPr lang="zh-CN" altLang="en-US" sz="1350" dirty="0" smtClean="0"/>
              <a:t>函数时</a:t>
            </a:r>
            <a:r>
              <a:rPr lang="en-US" altLang="zh-CN" sz="1350" dirty="0" smtClean="0"/>
              <a:t>C</a:t>
            </a:r>
            <a:r>
              <a:rPr lang="zh-CN" altLang="en-US" sz="1350" dirty="0" smtClean="0"/>
              <a:t>程序的主要组成部分</a:t>
            </a:r>
            <a:endParaRPr lang="en-US" altLang="zh-CN" sz="1350" dirty="0" smtClean="0"/>
          </a:p>
          <a:p>
            <a:pPr lvl="1">
              <a:lnSpc>
                <a:spcPct val="110000"/>
              </a:lnSpc>
            </a:pPr>
            <a:r>
              <a:rPr lang="zh-CN" altLang="en-US" sz="1200" dirty="0"/>
              <a:t>一</a:t>
            </a:r>
            <a:r>
              <a:rPr lang="zh-CN" altLang="en-US" sz="1200" dirty="0" smtClean="0"/>
              <a:t>个</a:t>
            </a:r>
            <a:r>
              <a:rPr lang="en-US" altLang="zh-CN" sz="1200" dirty="0" smtClean="0"/>
              <a:t>C</a:t>
            </a:r>
            <a:r>
              <a:rPr lang="zh-CN" altLang="en-US" sz="1200" dirty="0" smtClean="0"/>
              <a:t>语言程序是由一个或多个函数组成的，其中必须包含唯一一个</a:t>
            </a:r>
            <a:r>
              <a:rPr lang="en-US" altLang="zh-CN" sz="1200" dirty="0" smtClean="0"/>
              <a:t>main</a:t>
            </a:r>
            <a:r>
              <a:rPr lang="zh-CN" altLang="en-US" sz="1200" dirty="0" smtClean="0"/>
              <a:t>函数</a:t>
            </a:r>
            <a:endParaRPr lang="en-US" altLang="zh-CN" sz="1200" dirty="0" smtClean="0"/>
          </a:p>
          <a:p>
            <a:pPr lvl="1">
              <a:lnSpc>
                <a:spcPct val="110000"/>
              </a:lnSpc>
            </a:pPr>
            <a:r>
              <a:rPr lang="zh-CN" altLang="en-US" sz="1200" dirty="0" smtClean="0"/>
              <a:t>程序中被调用的函数可以是系统提供的库函数，也可以是用户根据需要自己编制设计的函数</a:t>
            </a:r>
            <a:endParaRPr lang="en-US" altLang="zh-CN" sz="1200" dirty="0" smtClean="0"/>
          </a:p>
          <a:p>
            <a:pPr>
              <a:lnSpc>
                <a:spcPct val="110000"/>
              </a:lnSpc>
            </a:pPr>
            <a:r>
              <a:rPr lang="zh-CN" altLang="en-US" sz="1350" dirty="0"/>
              <a:t>一</a:t>
            </a:r>
            <a:r>
              <a:rPr lang="zh-CN" altLang="en-US" sz="1350" dirty="0" smtClean="0"/>
              <a:t>个函数包括两个部分：函数首部和函数体，函数体一般包括声明部分和执行部分</a:t>
            </a:r>
            <a:endParaRPr lang="en-US" altLang="zh-CN" sz="1350" dirty="0" smtClean="0"/>
          </a:p>
          <a:p>
            <a:pPr>
              <a:lnSpc>
                <a:spcPct val="110000"/>
              </a:lnSpc>
            </a:pPr>
            <a:r>
              <a:rPr lang="zh-CN" altLang="en-US" sz="1350" dirty="0" smtClean="0"/>
              <a:t>程序总是从</a:t>
            </a:r>
            <a:r>
              <a:rPr lang="en-US" altLang="zh-CN" sz="1350" dirty="0" smtClean="0"/>
              <a:t>main</a:t>
            </a:r>
            <a:r>
              <a:rPr lang="zh-CN" altLang="en-US" sz="1350" dirty="0" smtClean="0"/>
              <a:t>函数开始执行</a:t>
            </a:r>
            <a:endParaRPr lang="en-US" altLang="zh-CN" sz="1350" dirty="0" smtClean="0"/>
          </a:p>
          <a:p>
            <a:pPr>
              <a:lnSpc>
                <a:spcPct val="110000"/>
              </a:lnSpc>
            </a:pPr>
            <a:r>
              <a:rPr lang="zh-CN" altLang="en-US" sz="1350" dirty="0" smtClean="0"/>
              <a:t>程序中的操作是由函数中的</a:t>
            </a:r>
            <a:r>
              <a:rPr lang="en-US" altLang="zh-CN" sz="1350" dirty="0" smtClean="0"/>
              <a:t>C</a:t>
            </a:r>
            <a:r>
              <a:rPr lang="zh-CN" altLang="en-US" sz="1350" dirty="0" smtClean="0"/>
              <a:t>语句完成的</a:t>
            </a:r>
            <a:endParaRPr lang="en-US" altLang="zh-CN" sz="1350" dirty="0" smtClean="0"/>
          </a:p>
          <a:p>
            <a:pPr>
              <a:lnSpc>
                <a:spcPct val="110000"/>
              </a:lnSpc>
            </a:pPr>
            <a:r>
              <a:rPr lang="zh-CN" altLang="en-US" sz="1350" dirty="0" smtClean="0"/>
              <a:t>在每个数据声明和语句的最后必须有一个分号</a:t>
            </a:r>
            <a:endParaRPr lang="en-US" altLang="zh-CN" sz="1350" dirty="0" smtClean="0"/>
          </a:p>
          <a:p>
            <a:pPr>
              <a:lnSpc>
                <a:spcPct val="110000"/>
              </a:lnSpc>
            </a:pPr>
            <a:r>
              <a:rPr lang="en-US" altLang="zh-CN" sz="1350" dirty="0" smtClean="0"/>
              <a:t>C</a:t>
            </a:r>
            <a:r>
              <a:rPr lang="zh-CN" altLang="en-US" sz="1350" dirty="0" smtClean="0"/>
              <a:t>语言本身不提供输入输出语句，输入输出操作由函数完成</a:t>
            </a:r>
            <a:endParaRPr lang="en-US" altLang="zh-CN" sz="1350" dirty="0" smtClean="0"/>
          </a:p>
          <a:p>
            <a:pPr>
              <a:lnSpc>
                <a:spcPct val="110000"/>
              </a:lnSpc>
            </a:pPr>
            <a:r>
              <a:rPr lang="zh-CN" altLang="en-US" sz="1350" dirty="0" smtClean="0"/>
              <a:t>程序应当包含注释</a:t>
            </a:r>
            <a:endParaRPr lang="zh-CN" altLang="en-US" sz="1350" dirty="0"/>
          </a:p>
        </p:txBody>
      </p:sp>
      <p:sp>
        <p:nvSpPr>
          <p:cNvPr id="4" name="圆角矩形 3"/>
          <p:cNvSpPr/>
          <p:nvPr/>
        </p:nvSpPr>
        <p:spPr>
          <a:xfrm>
            <a:off x="5874027" y="1173991"/>
            <a:ext cx="2512115" cy="3426533"/>
          </a:xfrm>
          <a:prstGeom prst="roundRect">
            <a:avLst>
              <a:gd name="adj" fmla="val 3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CN" sz="1050" dirty="0" smtClean="0"/>
              <a:t>#include &lt;</a:t>
            </a:r>
            <a:r>
              <a:rPr lang="en-US" altLang="zh-CN" sz="1050" dirty="0" err="1" smtClean="0"/>
              <a:t>stdio.h</a:t>
            </a:r>
            <a:r>
              <a:rPr lang="en-US" altLang="zh-CN" sz="1050" dirty="0" smtClean="0"/>
              <a:t>&gt;</a:t>
            </a:r>
            <a:endParaRPr lang="en-US" altLang="zh-CN" sz="1050" dirty="0" smtClean="0"/>
          </a:p>
          <a:p>
            <a:endParaRPr lang="en-US" altLang="zh-CN" sz="1050" dirty="0" smtClean="0"/>
          </a:p>
          <a:p>
            <a:pPr defTabSz="357505"/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main()</a:t>
            </a:r>
            <a:endParaRPr lang="en-US" altLang="zh-CN" sz="1050" dirty="0" smtClean="0"/>
          </a:p>
          <a:p>
            <a:pPr defTabSz="357505"/>
            <a:r>
              <a:rPr lang="en-US" altLang="zh-CN" sz="1050" dirty="0" smtClean="0"/>
              <a:t> {	</a:t>
            </a:r>
            <a:endParaRPr lang="en-US" altLang="zh-CN" sz="1050" dirty="0" smtClean="0"/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max(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x,int</a:t>
            </a:r>
            <a:r>
              <a:rPr lang="en-US" altLang="zh-CN" sz="1050" dirty="0" smtClean="0"/>
              <a:t> y);		</a:t>
            </a:r>
            <a:endParaRPr lang="en-US" altLang="zh-CN" sz="1050" dirty="0" smtClean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a,b,c</a:t>
            </a:r>
            <a:r>
              <a:rPr lang="en-US" altLang="zh-CN" sz="1050" dirty="0" smtClean="0"/>
              <a:t>;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en-US" altLang="zh-CN" sz="1050" dirty="0" smtClean="0"/>
              <a:t>	</a:t>
            </a:r>
            <a:r>
              <a:rPr lang="en-US" altLang="zh-CN" sz="1050" dirty="0" err="1" smtClean="0"/>
              <a:t>scanf</a:t>
            </a:r>
            <a:r>
              <a:rPr lang="en-US" altLang="zh-CN" sz="1050" dirty="0" smtClean="0"/>
              <a:t>(</a:t>
            </a:r>
            <a:r>
              <a:rPr lang="en-US" altLang="zh-CN" sz="1350" dirty="0" smtClean="0"/>
              <a:t>"</a:t>
            </a:r>
            <a:r>
              <a:rPr lang="en-US" altLang="zh-CN" sz="1050" dirty="0" smtClean="0"/>
              <a:t>%</a:t>
            </a:r>
            <a:r>
              <a:rPr lang="en-US" altLang="zh-CN" sz="1050" dirty="0" err="1" smtClean="0"/>
              <a:t>d,%d</a:t>
            </a:r>
            <a:r>
              <a:rPr lang="en-US" altLang="zh-CN" sz="1350" dirty="0" err="1" smtClean="0"/>
              <a:t>"</a:t>
            </a:r>
            <a:r>
              <a:rPr lang="en-US" altLang="zh-CN" sz="1050" dirty="0" err="1" smtClean="0"/>
              <a:t>,&amp;a,&amp;b</a:t>
            </a:r>
            <a:r>
              <a:rPr lang="en-US" altLang="zh-CN" sz="1050" dirty="0" smtClean="0"/>
              <a:t>); 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smtClean="0"/>
              <a:t>c=max(</a:t>
            </a:r>
            <a:r>
              <a:rPr lang="en-US" altLang="zh-CN" sz="1050" dirty="0" err="1" smtClean="0"/>
              <a:t>a,b</a:t>
            </a:r>
            <a:r>
              <a:rPr lang="en-US" altLang="zh-CN" sz="1050" dirty="0" smtClean="0"/>
              <a:t>);</a:t>
            </a:r>
            <a:endParaRPr lang="en-US" altLang="zh-CN" sz="1050" dirty="0" smtClean="0"/>
          </a:p>
          <a:p>
            <a:pPr defTabSz="357505"/>
            <a:r>
              <a:rPr lang="en-US" altLang="zh-CN" sz="1050" dirty="0" smtClean="0"/>
              <a:t> 	</a:t>
            </a:r>
            <a:r>
              <a:rPr lang="en-US" altLang="zh-CN" sz="1050" dirty="0" err="1" smtClean="0"/>
              <a:t>printf</a:t>
            </a:r>
            <a:r>
              <a:rPr lang="en-US" altLang="zh-CN" sz="1050" dirty="0" smtClean="0"/>
              <a:t>(</a:t>
            </a:r>
            <a:r>
              <a:rPr lang="en-US" altLang="zh-CN" sz="1350" dirty="0" smtClean="0"/>
              <a:t>"</a:t>
            </a:r>
            <a:r>
              <a:rPr lang="en-US" altLang="zh-CN" sz="1050" dirty="0" smtClean="0"/>
              <a:t>max=%d\</a:t>
            </a:r>
            <a:r>
              <a:rPr lang="en-US" altLang="zh-CN" sz="1050" dirty="0" err="1" smtClean="0"/>
              <a:t>n</a:t>
            </a:r>
            <a:r>
              <a:rPr lang="en-US" altLang="zh-CN" sz="1350" dirty="0" err="1" smtClean="0"/>
              <a:t>"</a:t>
            </a:r>
            <a:r>
              <a:rPr lang="en-US" altLang="zh-CN" sz="1050" dirty="0" err="1" smtClean="0"/>
              <a:t>,c</a:t>
            </a:r>
            <a:r>
              <a:rPr lang="en-US" altLang="zh-CN" sz="1050" dirty="0" smtClean="0"/>
              <a:t>); </a:t>
            </a:r>
            <a:endParaRPr lang="en-US" altLang="zh-CN" sz="1050" dirty="0" smtClean="0"/>
          </a:p>
          <a:p>
            <a:pPr defTabSz="357505"/>
            <a:r>
              <a:rPr lang="zh-CN" altLang="en-US" sz="1050" dirty="0" smtClean="0"/>
              <a:t>	</a:t>
            </a:r>
            <a:r>
              <a:rPr lang="en-US" altLang="zh-CN" sz="1050" dirty="0" smtClean="0"/>
              <a:t>return 0;	</a:t>
            </a:r>
            <a:endParaRPr lang="en-US" altLang="zh-CN" sz="1050" dirty="0" smtClean="0"/>
          </a:p>
          <a:p>
            <a:pPr defTabSz="357505"/>
            <a:r>
              <a:rPr lang="en-US" altLang="zh-CN" sz="1050" dirty="0"/>
              <a:t>}</a:t>
            </a:r>
            <a:endParaRPr lang="en-US" altLang="zh-CN" sz="1050" dirty="0"/>
          </a:p>
          <a:p>
            <a:pPr defTabSz="357505"/>
            <a:endParaRPr lang="zh-CN" altLang="en-US" sz="1050" dirty="0" smtClean="0"/>
          </a:p>
          <a:p>
            <a:pPr defTabSz="357505"/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max(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</a:t>
            </a:r>
            <a:r>
              <a:rPr lang="en-US" altLang="zh-CN" sz="1050" dirty="0" err="1" smtClean="0"/>
              <a:t>x,int</a:t>
            </a:r>
            <a:r>
              <a:rPr lang="en-US" altLang="zh-CN" sz="1050" dirty="0" smtClean="0"/>
              <a:t> y)	</a:t>
            </a:r>
            <a:endParaRPr lang="en-US" altLang="zh-CN" sz="1050" dirty="0" smtClean="0"/>
          </a:p>
          <a:p>
            <a:pPr defTabSz="357505"/>
            <a:r>
              <a:rPr lang="en-US" altLang="zh-CN" sz="1050" dirty="0" smtClean="0">
                <a:solidFill>
                  <a:srgbClr val="008000"/>
                </a:solidFill>
              </a:rPr>
              <a:t> </a:t>
            </a:r>
            <a:r>
              <a:rPr lang="en-US" altLang="zh-CN" sz="1050" dirty="0" smtClean="0"/>
              <a:t>{</a:t>
            </a:r>
            <a:endParaRPr lang="en-US" altLang="zh-CN" sz="1050" dirty="0" smtClean="0"/>
          </a:p>
          <a:p>
            <a:pPr marL="0" lvl="1" defTabSz="357505"/>
            <a:r>
              <a:rPr lang="zh-CN" altLang="en-US" sz="1050" dirty="0" smtClean="0"/>
              <a:t>	</a:t>
            </a:r>
            <a:r>
              <a:rPr lang="en-US" altLang="zh-CN" sz="1050" dirty="0" err="1" smtClean="0"/>
              <a:t>int</a:t>
            </a:r>
            <a:r>
              <a:rPr lang="en-US" altLang="zh-CN" sz="1050" dirty="0" smtClean="0"/>
              <a:t> z;</a:t>
            </a:r>
            <a:endParaRPr lang="en-US" altLang="zh-CN" sz="1050" dirty="0" smtClean="0"/>
          </a:p>
          <a:p>
            <a:pPr marL="0" lvl="1" defTabSz="357505"/>
            <a:r>
              <a:rPr lang="zh-CN" altLang="en-US" sz="1050" dirty="0" smtClean="0"/>
              <a:t>	</a:t>
            </a:r>
            <a:r>
              <a:rPr lang="en-US" altLang="zh-CN" sz="1050" dirty="0" smtClean="0"/>
              <a:t>if(x&gt;y)z=x;</a:t>
            </a:r>
            <a:endParaRPr lang="en-US" altLang="zh-CN" sz="1050" dirty="0">
              <a:solidFill>
                <a:srgbClr val="008000"/>
              </a:solidFill>
            </a:endParaRPr>
          </a:p>
          <a:p>
            <a:pPr marL="0" lvl="1" defTabSz="357505"/>
            <a:r>
              <a:rPr lang="zh-CN" altLang="en-US" sz="1050" dirty="0" smtClean="0"/>
              <a:t>	</a:t>
            </a:r>
            <a:r>
              <a:rPr lang="en-US" altLang="zh-CN" sz="1050" dirty="0" smtClean="0"/>
              <a:t>else z=y;	</a:t>
            </a:r>
            <a:endParaRPr lang="en-US" altLang="zh-CN" sz="1050" dirty="0" smtClean="0"/>
          </a:p>
          <a:p>
            <a:pPr marL="0" lvl="1" defTabSz="357505"/>
            <a:r>
              <a:rPr lang="zh-CN" altLang="en-US" sz="1050" dirty="0" smtClean="0"/>
              <a:t> 	</a:t>
            </a:r>
            <a:r>
              <a:rPr lang="en-US" altLang="zh-CN" sz="1050" dirty="0" smtClean="0"/>
              <a:t>return(z);</a:t>
            </a:r>
            <a:endParaRPr lang="en-US" altLang="zh-CN" sz="1050" dirty="0" smtClean="0"/>
          </a:p>
          <a:p>
            <a:pPr marL="0" lvl="1" defTabSz="357505"/>
            <a:r>
              <a:rPr lang="en-US" altLang="zh-CN" sz="1050" dirty="0" smtClean="0"/>
              <a:t>}</a:t>
            </a:r>
            <a:endParaRPr lang="zh-CN" altLang="en-US" sz="1050" dirty="0">
              <a:solidFill>
                <a:srgbClr val="008000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516468" y="1077155"/>
            <a:ext cx="1152941" cy="2225899"/>
            <a:chOff x="10021957" y="1436206"/>
            <a:chExt cx="1537254" cy="2967865"/>
          </a:xfrm>
        </p:grpSpPr>
        <p:sp>
          <p:nvSpPr>
            <p:cNvPr id="5" name="线形标注 1 4"/>
            <p:cNvSpPr/>
            <p:nvPr/>
          </p:nvSpPr>
          <p:spPr>
            <a:xfrm>
              <a:off x="10021957" y="1436206"/>
              <a:ext cx="1401418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 smtClean="0"/>
                <a:t>预处理指令</a:t>
              </a:r>
              <a:endParaRPr lang="zh-CN" altLang="en-US" sz="1050" dirty="0"/>
            </a:p>
          </p:txBody>
        </p:sp>
        <p:sp>
          <p:nvSpPr>
            <p:cNvPr id="6" name="线形标注 1 5"/>
            <p:cNvSpPr/>
            <p:nvPr/>
          </p:nvSpPr>
          <p:spPr>
            <a:xfrm>
              <a:off x="10021957" y="2002736"/>
              <a:ext cx="1401418" cy="254482"/>
            </a:xfrm>
            <a:prstGeom prst="borderCallout1">
              <a:avLst>
                <a:gd name="adj1" fmla="val 18750"/>
                <a:gd name="adj2" fmla="val -8333"/>
                <a:gd name="adj3" fmla="val 83695"/>
                <a:gd name="adj4" fmla="val -8723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 smtClean="0"/>
                <a:t>main</a:t>
              </a:r>
              <a:r>
                <a:rPr lang="zh-CN" altLang="en-US" sz="1050" dirty="0" smtClean="0"/>
                <a:t>函数</a:t>
              </a:r>
              <a:endParaRPr lang="zh-CN" altLang="en-US" sz="1050" dirty="0"/>
            </a:p>
          </p:txBody>
        </p:sp>
        <p:sp>
          <p:nvSpPr>
            <p:cNvPr id="7" name="线形标注 1 6"/>
            <p:cNvSpPr/>
            <p:nvPr/>
          </p:nvSpPr>
          <p:spPr>
            <a:xfrm>
              <a:off x="10157793" y="4149589"/>
              <a:ext cx="1401418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/>
                <a:t>自定义</a:t>
              </a:r>
              <a:r>
                <a:rPr lang="zh-CN" altLang="en-US" sz="1050" dirty="0" smtClean="0"/>
                <a:t>函数</a:t>
              </a:r>
              <a:endParaRPr lang="zh-CN" altLang="en-US" sz="105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617930" y="2075263"/>
            <a:ext cx="1525904" cy="440055"/>
            <a:chOff x="10157240" y="2767017"/>
            <a:chExt cx="2034539" cy="586740"/>
          </a:xfrm>
        </p:grpSpPr>
        <p:sp>
          <p:nvSpPr>
            <p:cNvPr id="8" name="线形标注 1 7"/>
            <p:cNvSpPr/>
            <p:nvPr/>
          </p:nvSpPr>
          <p:spPr>
            <a:xfrm>
              <a:off x="10157240" y="2767017"/>
              <a:ext cx="1484242" cy="254482"/>
            </a:xfrm>
            <a:prstGeom prst="borderCallout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/>
                <a:t>库</a:t>
              </a:r>
              <a:r>
                <a:rPr lang="zh-CN" altLang="en-US" sz="1050" dirty="0" smtClean="0"/>
                <a:t>函数调用</a:t>
              </a:r>
              <a:endParaRPr lang="zh-CN" altLang="en-US" sz="1050" dirty="0"/>
            </a:p>
          </p:txBody>
        </p:sp>
        <p:sp>
          <p:nvSpPr>
            <p:cNvPr id="9" name="线形标注 1 8"/>
            <p:cNvSpPr/>
            <p:nvPr/>
          </p:nvSpPr>
          <p:spPr>
            <a:xfrm>
              <a:off x="10601739" y="3076050"/>
              <a:ext cx="1590040" cy="277707"/>
            </a:xfrm>
            <a:prstGeom prst="borderCallout1">
              <a:avLst>
                <a:gd name="adj1" fmla="val 18750"/>
                <a:gd name="adj2" fmla="val -8333"/>
                <a:gd name="adj3" fmla="val 96606"/>
                <a:gd name="adj4" fmla="val -6952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 smtClean="0"/>
                <a:t>自定义函数调用</a:t>
              </a:r>
              <a:endParaRPr lang="zh-CN" altLang="en-US" sz="1050" dirty="0"/>
            </a:p>
          </p:txBody>
        </p:sp>
      </p:grpSp>
      <p:sp>
        <p:nvSpPr>
          <p:cNvPr id="11" name="矩形 10"/>
          <p:cNvSpPr/>
          <p:nvPr/>
        </p:nvSpPr>
        <p:spPr>
          <a:xfrm>
            <a:off x="344805" y="2754630"/>
            <a:ext cx="5245735" cy="11703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350" dirty="0" err="1" smtClean="0"/>
              <a:t>int</a:t>
            </a:r>
            <a:r>
              <a:rPr lang="en-US" altLang="zh-CN" sz="1350" dirty="0"/>
              <a:t>	</a:t>
            </a:r>
            <a:r>
              <a:rPr lang="en-US" altLang="zh-CN" sz="1350" dirty="0" smtClean="0"/>
              <a:t>max	(</a:t>
            </a:r>
            <a:r>
              <a:rPr lang="en-US" altLang="zh-CN" sz="1350" dirty="0" err="1" smtClean="0"/>
              <a:t>int</a:t>
            </a:r>
            <a:r>
              <a:rPr lang="en-US" altLang="zh-CN" sz="1350" dirty="0" smtClean="0"/>
              <a:t>	 x,	</a:t>
            </a:r>
            <a:r>
              <a:rPr lang="en-US" altLang="zh-CN" sz="1350" dirty="0" err="1" smtClean="0"/>
              <a:t>int</a:t>
            </a:r>
            <a:r>
              <a:rPr lang="en-US" altLang="zh-CN" sz="1350" dirty="0" smtClean="0"/>
              <a:t>	 y)</a:t>
            </a:r>
            <a:endParaRPr lang="en-US" altLang="zh-CN" sz="1350" dirty="0" smtClean="0"/>
          </a:p>
          <a:p>
            <a:r>
              <a:rPr lang="zh-CN" altLang="en-US" sz="1350" dirty="0" smtClean="0"/>
              <a:t>↓</a:t>
            </a:r>
            <a:r>
              <a:rPr lang="en-US" altLang="zh-CN" sz="1350" dirty="0" smtClean="0"/>
              <a:t>	</a:t>
            </a:r>
            <a:r>
              <a:rPr lang="zh-CN" altLang="en-US" sz="1350" dirty="0" smtClean="0"/>
              <a:t> ↓</a:t>
            </a:r>
            <a:r>
              <a:rPr lang="en-US" altLang="zh-CN" sz="1350" dirty="0" smtClean="0"/>
              <a:t>	</a:t>
            </a:r>
            <a:r>
              <a:rPr lang="zh-CN" altLang="en-US" sz="1350" dirty="0" smtClean="0"/>
              <a:t> ↓</a:t>
            </a:r>
            <a:r>
              <a:rPr lang="en-US" altLang="zh-CN" sz="1350" dirty="0" smtClean="0"/>
              <a:t>	</a:t>
            </a:r>
            <a:r>
              <a:rPr lang="zh-CN" altLang="en-US" sz="1350" dirty="0" smtClean="0"/>
              <a:t>↓</a:t>
            </a:r>
            <a:r>
              <a:rPr lang="en-US" altLang="zh-CN" sz="1350" dirty="0" smtClean="0"/>
              <a:t>	</a:t>
            </a:r>
            <a:r>
              <a:rPr lang="zh-CN" altLang="en-US" sz="1350" dirty="0" smtClean="0"/>
              <a:t> ↓</a:t>
            </a:r>
            <a:r>
              <a:rPr lang="en-US" altLang="zh-CN" sz="1350" dirty="0" smtClean="0"/>
              <a:t>	</a:t>
            </a:r>
            <a:r>
              <a:rPr lang="zh-CN" altLang="en-US" sz="1350" dirty="0" smtClean="0"/>
              <a:t>↓</a:t>
            </a:r>
            <a:endParaRPr lang="en-US" altLang="zh-CN" sz="1350" dirty="0" smtClean="0"/>
          </a:p>
          <a:p>
            <a:r>
              <a:rPr lang="zh-CN" altLang="en-US" sz="1200" dirty="0" smtClean="0"/>
              <a:t>函数类型</a:t>
            </a:r>
            <a:r>
              <a:rPr lang="en-US" altLang="zh-CN" sz="1200" dirty="0" smtClean="0"/>
              <a:t>	</a:t>
            </a:r>
            <a:r>
              <a:rPr lang="zh-CN" altLang="en-US" sz="1200" dirty="0" smtClean="0"/>
              <a:t>函数名</a:t>
            </a:r>
            <a:r>
              <a:rPr lang="en-US" altLang="zh-CN" sz="1200" dirty="0" smtClean="0"/>
              <a:t>	</a:t>
            </a:r>
            <a:r>
              <a:rPr lang="zh-CN" altLang="en-US" sz="1200" dirty="0" smtClean="0"/>
              <a:t>参数类型</a:t>
            </a:r>
            <a:r>
              <a:rPr lang="en-US" altLang="zh-CN" sz="1200" dirty="0" smtClean="0"/>
              <a:t>	</a:t>
            </a:r>
            <a:r>
              <a:rPr lang="zh-CN" altLang="en-US" sz="1200" dirty="0" smtClean="0"/>
              <a:t>参数名</a:t>
            </a:r>
            <a:r>
              <a:rPr lang="en-US" altLang="zh-CN" sz="1200" dirty="0" smtClean="0"/>
              <a:t>	</a:t>
            </a:r>
            <a:r>
              <a:rPr lang="zh-CN" altLang="en-US" sz="1200" dirty="0" smtClean="0"/>
              <a:t>参数类型</a:t>
            </a:r>
            <a:r>
              <a:rPr lang="en-US" altLang="zh-CN" sz="1200" dirty="0" smtClean="0"/>
              <a:t>	</a:t>
            </a:r>
            <a:r>
              <a:rPr lang="zh-CN" altLang="en-US" sz="1200" dirty="0" smtClean="0"/>
              <a:t>参数名</a:t>
            </a:r>
            <a:endParaRPr lang="zh-CN" altLang="en-US" sz="1200" dirty="0"/>
          </a:p>
        </p:txBody>
      </p:sp>
      <p:sp>
        <p:nvSpPr>
          <p:cNvPr id="12" name="任意多边形 11"/>
          <p:cNvSpPr/>
          <p:nvPr/>
        </p:nvSpPr>
        <p:spPr>
          <a:xfrm>
            <a:off x="5590816" y="2762554"/>
            <a:ext cx="439806" cy="1162879"/>
          </a:xfrm>
          <a:custGeom>
            <a:avLst/>
            <a:gdLst>
              <a:gd name="connsiteX0" fmla="*/ 566530 w 586408"/>
              <a:gd name="connsiteY0" fmla="*/ 636105 h 1550505"/>
              <a:gd name="connsiteX1" fmla="*/ 9939 w 586408"/>
              <a:gd name="connsiteY1" fmla="*/ 0 h 1550505"/>
              <a:gd name="connsiteX2" fmla="*/ 0 w 586408"/>
              <a:gd name="connsiteY2" fmla="*/ 1550505 h 1550505"/>
              <a:gd name="connsiteX3" fmla="*/ 586408 w 586408"/>
              <a:gd name="connsiteY3" fmla="*/ 874644 h 1550505"/>
              <a:gd name="connsiteX4" fmla="*/ 566530 w 586408"/>
              <a:gd name="connsiteY4" fmla="*/ 636105 h 1550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408" h="1550505">
                <a:moveTo>
                  <a:pt x="566530" y="636105"/>
                </a:moveTo>
                <a:lnTo>
                  <a:pt x="9939" y="0"/>
                </a:lnTo>
                <a:lnTo>
                  <a:pt x="0" y="1550505"/>
                </a:lnTo>
                <a:lnTo>
                  <a:pt x="586408" y="874644"/>
                </a:lnTo>
                <a:lnTo>
                  <a:pt x="566530" y="636105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4" name="组合 23"/>
          <p:cNvGrpSpPr/>
          <p:nvPr/>
        </p:nvGrpSpPr>
        <p:grpSpPr>
          <a:xfrm>
            <a:off x="5956024" y="3235187"/>
            <a:ext cx="1133061" cy="991428"/>
            <a:chOff x="7941365" y="4313583"/>
            <a:chExt cx="1510748" cy="1321904"/>
          </a:xfrm>
        </p:grpSpPr>
        <p:sp>
          <p:nvSpPr>
            <p:cNvPr id="10" name="矩形 9"/>
            <p:cNvSpPr/>
            <p:nvPr/>
          </p:nvSpPr>
          <p:spPr>
            <a:xfrm>
              <a:off x="7941365" y="4313583"/>
              <a:ext cx="1510748" cy="27829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5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函数首部</a:t>
              </a:r>
              <a:endParaRPr lang="zh-CN" altLang="en-US" sz="13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941365" y="4800600"/>
              <a:ext cx="1510748" cy="834887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函数体</a:t>
              </a:r>
              <a:endParaRPr lang="zh-CN" altLang="en-US" sz="13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199531" y="3603068"/>
            <a:ext cx="1813893" cy="613553"/>
            <a:chOff x="8266041" y="4804091"/>
            <a:chExt cx="2418524" cy="818070"/>
          </a:xfrm>
        </p:grpSpPr>
        <p:sp>
          <p:nvSpPr>
            <p:cNvPr id="16" name="矩形 15"/>
            <p:cNvSpPr/>
            <p:nvPr/>
          </p:nvSpPr>
          <p:spPr>
            <a:xfrm>
              <a:off x="8266042" y="480409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05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声明部分</a:t>
              </a:r>
              <a:endParaRPr lang="zh-CN" altLang="en-US" sz="10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8266041" y="501678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05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执行</a:t>
              </a:r>
              <a:r>
                <a:rPr lang="zh-CN" altLang="en-US" sz="105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部分</a:t>
              </a:r>
              <a:endParaRPr lang="zh-CN" altLang="en-US" sz="10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8266041" y="522947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05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执行</a:t>
              </a:r>
              <a:r>
                <a:rPr lang="zh-CN" altLang="en-US" sz="105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部分</a:t>
              </a:r>
              <a:endParaRPr lang="zh-CN" altLang="en-US" sz="10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8266041" y="5442161"/>
              <a:ext cx="2418523" cy="18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05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执行</a:t>
              </a:r>
              <a:r>
                <a:rPr lang="zh-CN" altLang="en-US" sz="105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部分</a:t>
              </a:r>
              <a:endParaRPr lang="zh-CN" altLang="en-US" sz="105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1" grpId="1" bldLvl="0" animBg="1"/>
      <p:bldP spid="12" grpId="0" bldLvl="0" animBg="1"/>
      <p:bldP spid="12" grpId="1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>
                <a:solidFill>
                  <a:srgbClr val="782367"/>
                </a:solidFill>
              </a:rPr>
              <a:t>运行</a:t>
            </a:r>
            <a:r>
              <a:rPr lang="en-US" altLang="zh-CN" sz="3200" dirty="0" smtClean="0">
                <a:solidFill>
                  <a:srgbClr val="782367"/>
                </a:solidFill>
              </a:rPr>
              <a:t>C</a:t>
            </a:r>
            <a:r>
              <a:rPr lang="zh-CN" altLang="en-US" sz="3200" dirty="0" smtClean="0">
                <a:solidFill>
                  <a:srgbClr val="782367"/>
                </a:solidFill>
              </a:rPr>
              <a:t>程序的步骤与方法</a:t>
            </a:r>
            <a:endParaRPr lang="zh-CN" altLang="en-US" sz="3200" dirty="0" smtClean="0">
              <a:solidFill>
                <a:srgbClr val="782367"/>
              </a:solidFill>
            </a:endParaRPr>
          </a:p>
        </p:txBody>
      </p:sp>
      <p:sp>
        <p:nvSpPr>
          <p:cNvPr id="4" name="流程图: 可选过程 3"/>
          <p:cNvSpPr/>
          <p:nvPr/>
        </p:nvSpPr>
        <p:spPr>
          <a:xfrm>
            <a:off x="5775960" y="437436"/>
            <a:ext cx="1524000" cy="2700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 smtClean="0"/>
              <a:t>开始</a:t>
            </a:r>
            <a:endParaRPr lang="zh-CN" altLang="en-US" sz="1350" dirty="0"/>
          </a:p>
        </p:txBody>
      </p:sp>
      <p:cxnSp>
        <p:nvCxnSpPr>
          <p:cNvPr id="6" name="直接箭头连接符 5"/>
          <p:cNvCxnSpPr>
            <a:stCxn id="4" idx="2"/>
          </p:cNvCxnSpPr>
          <p:nvPr/>
        </p:nvCxnSpPr>
        <p:spPr>
          <a:xfrm>
            <a:off x="6537960" y="707436"/>
            <a:ext cx="0" cy="237444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775960" y="967740"/>
            <a:ext cx="1524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/>
              <a:t>编辑</a:t>
            </a:r>
            <a:endParaRPr lang="zh-CN" altLang="en-US" sz="1350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6537960" y="1237740"/>
            <a:ext cx="0" cy="237444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775960" y="1498044"/>
            <a:ext cx="1524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/>
              <a:t>编译</a:t>
            </a:r>
            <a:endParaRPr lang="zh-CN" altLang="en-US" sz="1350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6553200" y="1768044"/>
            <a:ext cx="0" cy="237444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决策 10"/>
          <p:cNvSpPr/>
          <p:nvPr/>
        </p:nvSpPr>
        <p:spPr>
          <a:xfrm>
            <a:off x="5791200" y="2022804"/>
            <a:ext cx="1524000" cy="52578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 smtClean="0"/>
              <a:t>有错？</a:t>
            </a:r>
            <a:endParaRPr lang="zh-CN" altLang="en-US" sz="1350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6553200" y="2530248"/>
            <a:ext cx="0" cy="237444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791200" y="2790552"/>
            <a:ext cx="1524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/>
              <a:t>连接</a:t>
            </a:r>
            <a:endParaRPr lang="zh-CN" altLang="en-US" sz="1350" dirty="0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6553200" y="3060552"/>
            <a:ext cx="0" cy="237444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791200" y="3320856"/>
            <a:ext cx="1524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/>
              <a:t>执行</a:t>
            </a:r>
            <a:endParaRPr lang="zh-CN" altLang="en-US" sz="1350" dirty="0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568440" y="3590856"/>
            <a:ext cx="0" cy="237444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图: 决策 16"/>
          <p:cNvSpPr/>
          <p:nvPr/>
        </p:nvSpPr>
        <p:spPr>
          <a:xfrm>
            <a:off x="5806440" y="3837996"/>
            <a:ext cx="1524000" cy="52578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 dirty="0" smtClean="0"/>
              <a:t>   结果</a:t>
            </a:r>
            <a:endParaRPr lang="en-US" altLang="zh-CN" sz="1350" dirty="0" smtClean="0"/>
          </a:p>
          <a:p>
            <a:r>
              <a:rPr lang="zh-CN" altLang="en-US" sz="1350" dirty="0" smtClean="0"/>
              <a:t>   正确？</a:t>
            </a:r>
            <a:endParaRPr lang="zh-CN" altLang="en-US" sz="1350"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6568440" y="4363776"/>
            <a:ext cx="0" cy="237444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图: 可选过程 18"/>
          <p:cNvSpPr/>
          <p:nvPr/>
        </p:nvSpPr>
        <p:spPr>
          <a:xfrm>
            <a:off x="5791200" y="4610916"/>
            <a:ext cx="1524000" cy="2700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/>
              <a:t>结束</a:t>
            </a:r>
            <a:endParaRPr lang="zh-CN" altLang="en-US" sz="1350" dirty="0"/>
          </a:p>
        </p:txBody>
      </p:sp>
      <p:sp>
        <p:nvSpPr>
          <p:cNvPr id="20" name="文本框 19"/>
          <p:cNvSpPr txBox="1"/>
          <p:nvPr/>
        </p:nvSpPr>
        <p:spPr>
          <a:xfrm>
            <a:off x="6568440" y="2513777"/>
            <a:ext cx="3962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无</a:t>
            </a:r>
            <a:endParaRPr lang="zh-CN" altLang="en-US" sz="1200" dirty="0"/>
          </a:p>
        </p:txBody>
      </p:sp>
      <p:sp>
        <p:nvSpPr>
          <p:cNvPr id="21" name="文本框 20"/>
          <p:cNvSpPr txBox="1"/>
          <p:nvPr/>
        </p:nvSpPr>
        <p:spPr>
          <a:xfrm>
            <a:off x="6568440" y="4373472"/>
            <a:ext cx="5105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正确</a:t>
            </a:r>
            <a:endParaRPr lang="zh-CN" altLang="en-US" sz="1200" dirty="0"/>
          </a:p>
        </p:txBody>
      </p:sp>
      <p:cxnSp>
        <p:nvCxnSpPr>
          <p:cNvPr id="23" name="直接连接符 22"/>
          <p:cNvCxnSpPr>
            <a:stCxn id="17" idx="1"/>
            <a:endCxn id="17" idx="1"/>
          </p:cNvCxnSpPr>
          <p:nvPr/>
        </p:nvCxnSpPr>
        <p:spPr>
          <a:xfrm>
            <a:off x="5806440" y="410088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7" idx="1"/>
          </p:cNvCxnSpPr>
          <p:nvPr/>
        </p:nvCxnSpPr>
        <p:spPr>
          <a:xfrm flipH="1" flipV="1">
            <a:off x="4206240" y="4099560"/>
            <a:ext cx="1600200" cy="13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206240" y="807720"/>
            <a:ext cx="0" cy="3291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4206240" y="807720"/>
            <a:ext cx="2339340" cy="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11" idx="1"/>
          </p:cNvCxnSpPr>
          <p:nvPr/>
        </p:nvCxnSpPr>
        <p:spPr>
          <a:xfrm flipH="1" flipV="1">
            <a:off x="4198621" y="2281848"/>
            <a:ext cx="1592579" cy="3846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4808220" y="2030497"/>
            <a:ext cx="3962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有</a:t>
            </a:r>
            <a:endParaRPr lang="zh-CN" altLang="en-US" sz="1200" dirty="0"/>
          </a:p>
        </p:txBody>
      </p:sp>
      <p:sp>
        <p:nvSpPr>
          <p:cNvPr id="40" name="文本框 39"/>
          <p:cNvSpPr txBox="1"/>
          <p:nvPr/>
        </p:nvSpPr>
        <p:spPr>
          <a:xfrm>
            <a:off x="4770120" y="3847073"/>
            <a:ext cx="876299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不正确</a:t>
            </a:r>
            <a:endParaRPr lang="zh-CN" altLang="en-US" sz="1200" dirty="0"/>
          </a:p>
        </p:txBody>
      </p:sp>
      <p:cxnSp>
        <p:nvCxnSpPr>
          <p:cNvPr id="42" name="直接箭头连接符 41"/>
          <p:cNvCxnSpPr>
            <a:stCxn id="7" idx="3"/>
          </p:cNvCxnSpPr>
          <p:nvPr/>
        </p:nvCxnSpPr>
        <p:spPr>
          <a:xfrm>
            <a:off x="7299960" y="1102740"/>
            <a:ext cx="358139" cy="13023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15" idx="1"/>
          </p:cNvCxnSpPr>
          <p:nvPr/>
        </p:nvCxnSpPr>
        <p:spPr>
          <a:xfrm>
            <a:off x="5375910" y="3230394"/>
            <a:ext cx="415290" cy="225462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/>
          <p:cNvSpPr/>
          <p:nvPr/>
        </p:nvSpPr>
        <p:spPr>
          <a:xfrm>
            <a:off x="4282440" y="2767692"/>
            <a:ext cx="1104900" cy="7527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可执行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目标程序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f.exe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7642859" y="988218"/>
            <a:ext cx="1104900" cy="7527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源程序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 smtClean="0">
                <a:solidFill>
                  <a:schemeClr val="tx1"/>
                </a:solidFill>
              </a:rPr>
              <a:t>f.c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7642859" y="1896222"/>
            <a:ext cx="1104900" cy="7527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目标程序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f.obj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7719060" y="2807628"/>
            <a:ext cx="1104900" cy="7527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库函数和其他目标程序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/>
          <p:cNvCxnSpPr>
            <a:stCxn id="13" idx="1"/>
          </p:cNvCxnSpPr>
          <p:nvPr/>
        </p:nvCxnSpPr>
        <p:spPr>
          <a:xfrm flipH="1">
            <a:off x="5349241" y="2925552"/>
            <a:ext cx="441959" cy="114053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endCxn id="9" idx="3"/>
          </p:cNvCxnSpPr>
          <p:nvPr/>
        </p:nvCxnSpPr>
        <p:spPr>
          <a:xfrm flipH="1">
            <a:off x="7299960" y="1493520"/>
            <a:ext cx="342900" cy="139524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299960" y="1696572"/>
            <a:ext cx="358139" cy="48165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endCxn id="13" idx="3"/>
          </p:cNvCxnSpPr>
          <p:nvPr/>
        </p:nvCxnSpPr>
        <p:spPr>
          <a:xfrm flipH="1">
            <a:off x="7315200" y="2361567"/>
            <a:ext cx="369570" cy="563985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49" idx="2"/>
            <a:endCxn id="13" idx="3"/>
          </p:cNvCxnSpPr>
          <p:nvPr/>
        </p:nvCxnSpPr>
        <p:spPr>
          <a:xfrm flipH="1" flipV="1">
            <a:off x="7315200" y="2925552"/>
            <a:ext cx="403860" cy="25845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程序设计的任务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  <p:sp>
        <p:nvSpPr>
          <p:cNvPr id="4" name="MH_Other_1"/>
          <p:cNvSpPr/>
          <p:nvPr>
            <p:custDataLst>
              <p:tags r:id="rId1"/>
            </p:custDataLst>
          </p:nvPr>
        </p:nvSpPr>
        <p:spPr>
          <a:xfrm flipH="1" flipV="1">
            <a:off x="2310149" y="3522902"/>
            <a:ext cx="1527572" cy="1135856"/>
          </a:xfrm>
          <a:custGeom>
            <a:avLst/>
            <a:gdLst>
              <a:gd name="connsiteX0" fmla="*/ 2036881 w 2036881"/>
              <a:gd name="connsiteY0" fmla="*/ 0 h 1514475"/>
              <a:gd name="connsiteX1" fmla="*/ 662583 w 2036881"/>
              <a:gd name="connsiteY1" fmla="*/ 0 h 1514475"/>
              <a:gd name="connsiteX2" fmla="*/ 0 w 2036881"/>
              <a:gd name="connsiteY2" fmla="*/ 662583 h 1514475"/>
              <a:gd name="connsiteX3" fmla="*/ 0 w 2036881"/>
              <a:gd name="connsiteY3" fmla="*/ 1514475 h 1514475"/>
              <a:gd name="connsiteX4" fmla="*/ 378619 w 2036881"/>
              <a:gd name="connsiteY4" fmla="*/ 1514475 h 1514475"/>
              <a:gd name="connsiteX5" fmla="*/ 378619 w 2036881"/>
              <a:gd name="connsiteY5" fmla="*/ 662583 h 1514475"/>
              <a:gd name="connsiteX6" fmla="*/ 662583 w 2036881"/>
              <a:gd name="connsiteY6" fmla="*/ 378619 h 1514475"/>
              <a:gd name="connsiteX7" fmla="*/ 2036881 w 2036881"/>
              <a:gd name="connsiteY7" fmla="*/ 378619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6881" h="1514475">
                <a:moveTo>
                  <a:pt x="2036881" y="0"/>
                </a:moveTo>
                <a:lnTo>
                  <a:pt x="662583" y="0"/>
                </a:lnTo>
                <a:cubicBezTo>
                  <a:pt x="296649" y="0"/>
                  <a:pt x="0" y="296649"/>
                  <a:pt x="0" y="662583"/>
                </a:cubicBezTo>
                <a:lnTo>
                  <a:pt x="0" y="1514475"/>
                </a:lnTo>
                <a:lnTo>
                  <a:pt x="378619" y="1514475"/>
                </a:lnTo>
                <a:lnTo>
                  <a:pt x="378619" y="662583"/>
                </a:lnTo>
                <a:cubicBezTo>
                  <a:pt x="378619" y="505754"/>
                  <a:pt x="505754" y="378619"/>
                  <a:pt x="662583" y="378619"/>
                </a:cubicBezTo>
                <a:lnTo>
                  <a:pt x="2036881" y="37861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5" name="MH_Other_2"/>
          <p:cNvSpPr/>
          <p:nvPr>
            <p:custDataLst>
              <p:tags r:id="rId2"/>
            </p:custDataLst>
          </p:nvPr>
        </p:nvSpPr>
        <p:spPr>
          <a:xfrm flipH="1">
            <a:off x="4082990" y="3324068"/>
            <a:ext cx="1527572" cy="1135856"/>
          </a:xfrm>
          <a:custGeom>
            <a:avLst/>
            <a:gdLst>
              <a:gd name="connsiteX0" fmla="*/ 2036881 w 2036881"/>
              <a:gd name="connsiteY0" fmla="*/ 0 h 1514475"/>
              <a:gd name="connsiteX1" fmla="*/ 662583 w 2036881"/>
              <a:gd name="connsiteY1" fmla="*/ 0 h 1514475"/>
              <a:gd name="connsiteX2" fmla="*/ 0 w 2036881"/>
              <a:gd name="connsiteY2" fmla="*/ 662583 h 1514475"/>
              <a:gd name="connsiteX3" fmla="*/ 0 w 2036881"/>
              <a:gd name="connsiteY3" fmla="*/ 1514475 h 1514475"/>
              <a:gd name="connsiteX4" fmla="*/ 378619 w 2036881"/>
              <a:gd name="connsiteY4" fmla="*/ 1514475 h 1514475"/>
              <a:gd name="connsiteX5" fmla="*/ 378619 w 2036881"/>
              <a:gd name="connsiteY5" fmla="*/ 662583 h 1514475"/>
              <a:gd name="connsiteX6" fmla="*/ 662583 w 2036881"/>
              <a:gd name="connsiteY6" fmla="*/ 378619 h 1514475"/>
              <a:gd name="connsiteX7" fmla="*/ 2036881 w 2036881"/>
              <a:gd name="connsiteY7" fmla="*/ 378619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6881" h="1514475">
                <a:moveTo>
                  <a:pt x="2036881" y="0"/>
                </a:moveTo>
                <a:lnTo>
                  <a:pt x="662583" y="0"/>
                </a:lnTo>
                <a:cubicBezTo>
                  <a:pt x="296649" y="0"/>
                  <a:pt x="0" y="296649"/>
                  <a:pt x="0" y="662583"/>
                </a:cubicBezTo>
                <a:lnTo>
                  <a:pt x="0" y="1514475"/>
                </a:lnTo>
                <a:lnTo>
                  <a:pt x="378619" y="1514475"/>
                </a:lnTo>
                <a:lnTo>
                  <a:pt x="378619" y="662583"/>
                </a:lnTo>
                <a:cubicBezTo>
                  <a:pt x="378619" y="505754"/>
                  <a:pt x="505754" y="378619"/>
                  <a:pt x="662583" y="378619"/>
                </a:cubicBezTo>
                <a:lnTo>
                  <a:pt x="2036881" y="37861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6" name="MH_Other_3"/>
          <p:cNvSpPr/>
          <p:nvPr>
            <p:custDataLst>
              <p:tags r:id="rId3"/>
            </p:custDataLst>
          </p:nvPr>
        </p:nvSpPr>
        <p:spPr>
          <a:xfrm flipH="1" flipV="1">
            <a:off x="5314097" y="3232390"/>
            <a:ext cx="2393156" cy="1135856"/>
          </a:xfrm>
          <a:custGeom>
            <a:avLst/>
            <a:gdLst>
              <a:gd name="connsiteX0" fmla="*/ 662583 w 3190875"/>
              <a:gd name="connsiteY0" fmla="*/ 0 h 1514475"/>
              <a:gd name="connsiteX1" fmla="*/ 3190875 w 3190875"/>
              <a:gd name="connsiteY1" fmla="*/ 0 h 1514475"/>
              <a:gd name="connsiteX2" fmla="*/ 3190875 w 3190875"/>
              <a:gd name="connsiteY2" fmla="*/ 378619 h 1514475"/>
              <a:gd name="connsiteX3" fmla="*/ 662583 w 3190875"/>
              <a:gd name="connsiteY3" fmla="*/ 378619 h 1514475"/>
              <a:gd name="connsiteX4" fmla="*/ 378619 w 3190875"/>
              <a:gd name="connsiteY4" fmla="*/ 662583 h 1514475"/>
              <a:gd name="connsiteX5" fmla="*/ 378619 w 3190875"/>
              <a:gd name="connsiteY5" fmla="*/ 1514475 h 1514475"/>
              <a:gd name="connsiteX6" fmla="*/ 0 w 3190875"/>
              <a:gd name="connsiteY6" fmla="*/ 1514475 h 1514475"/>
              <a:gd name="connsiteX7" fmla="*/ 0 w 3190875"/>
              <a:gd name="connsiteY7" fmla="*/ 662583 h 1514475"/>
              <a:gd name="connsiteX8" fmla="*/ 662583 w 3190875"/>
              <a:gd name="connsiteY8" fmla="*/ 0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1514475">
                <a:moveTo>
                  <a:pt x="662583" y="0"/>
                </a:moveTo>
                <a:lnTo>
                  <a:pt x="3190875" y="0"/>
                </a:lnTo>
                <a:lnTo>
                  <a:pt x="3190875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lnTo>
                  <a:pt x="0" y="1514475"/>
                </a:ln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7" name="MH_Other_4"/>
          <p:cNvSpPr/>
          <p:nvPr>
            <p:custDataLst>
              <p:tags r:id="rId4"/>
            </p:custDataLst>
          </p:nvPr>
        </p:nvSpPr>
        <p:spPr>
          <a:xfrm flipV="1">
            <a:off x="1785084" y="1133318"/>
            <a:ext cx="2393156" cy="1135856"/>
          </a:xfrm>
          <a:custGeom>
            <a:avLst/>
            <a:gdLst>
              <a:gd name="connsiteX0" fmla="*/ 662583 w 3190875"/>
              <a:gd name="connsiteY0" fmla="*/ 0 h 1514475"/>
              <a:gd name="connsiteX1" fmla="*/ 3190875 w 3190875"/>
              <a:gd name="connsiteY1" fmla="*/ 0 h 1514475"/>
              <a:gd name="connsiteX2" fmla="*/ 3190875 w 3190875"/>
              <a:gd name="connsiteY2" fmla="*/ 378619 h 1514475"/>
              <a:gd name="connsiteX3" fmla="*/ 662583 w 3190875"/>
              <a:gd name="connsiteY3" fmla="*/ 378619 h 1514475"/>
              <a:gd name="connsiteX4" fmla="*/ 378619 w 3190875"/>
              <a:gd name="connsiteY4" fmla="*/ 662583 h 1514475"/>
              <a:gd name="connsiteX5" fmla="*/ 378619 w 3190875"/>
              <a:gd name="connsiteY5" fmla="*/ 1514475 h 1514475"/>
              <a:gd name="connsiteX6" fmla="*/ 0 w 3190875"/>
              <a:gd name="connsiteY6" fmla="*/ 1514475 h 1514475"/>
              <a:gd name="connsiteX7" fmla="*/ 0 w 3190875"/>
              <a:gd name="connsiteY7" fmla="*/ 662583 h 1514475"/>
              <a:gd name="connsiteX8" fmla="*/ 662583 w 3190875"/>
              <a:gd name="connsiteY8" fmla="*/ 0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1514475">
                <a:moveTo>
                  <a:pt x="662583" y="0"/>
                </a:moveTo>
                <a:lnTo>
                  <a:pt x="3190875" y="0"/>
                </a:lnTo>
                <a:lnTo>
                  <a:pt x="3190875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lnTo>
                  <a:pt x="0" y="1514475"/>
                </a:ln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8" name="MH_Other_5"/>
          <p:cNvSpPr/>
          <p:nvPr>
            <p:custDataLst>
              <p:tags r:id="rId5"/>
            </p:custDataLst>
          </p:nvPr>
        </p:nvSpPr>
        <p:spPr>
          <a:xfrm flipV="1">
            <a:off x="4178240" y="1983425"/>
            <a:ext cx="2393156" cy="1135856"/>
          </a:xfrm>
          <a:custGeom>
            <a:avLst/>
            <a:gdLst>
              <a:gd name="connsiteX0" fmla="*/ 662583 w 3190875"/>
              <a:gd name="connsiteY0" fmla="*/ 0 h 1514475"/>
              <a:gd name="connsiteX1" fmla="*/ 3190875 w 3190875"/>
              <a:gd name="connsiteY1" fmla="*/ 0 h 1514475"/>
              <a:gd name="connsiteX2" fmla="*/ 3190875 w 3190875"/>
              <a:gd name="connsiteY2" fmla="*/ 378619 h 1514475"/>
              <a:gd name="connsiteX3" fmla="*/ 662583 w 3190875"/>
              <a:gd name="connsiteY3" fmla="*/ 378619 h 1514475"/>
              <a:gd name="connsiteX4" fmla="*/ 378619 w 3190875"/>
              <a:gd name="connsiteY4" fmla="*/ 662583 h 1514475"/>
              <a:gd name="connsiteX5" fmla="*/ 378619 w 3190875"/>
              <a:gd name="connsiteY5" fmla="*/ 1514475 h 1514475"/>
              <a:gd name="connsiteX6" fmla="*/ 0 w 3190875"/>
              <a:gd name="connsiteY6" fmla="*/ 1514475 h 1514475"/>
              <a:gd name="connsiteX7" fmla="*/ 0 w 3190875"/>
              <a:gd name="connsiteY7" fmla="*/ 662583 h 1514475"/>
              <a:gd name="connsiteX8" fmla="*/ 662583 w 3190875"/>
              <a:gd name="connsiteY8" fmla="*/ 0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90875" h="1514475">
                <a:moveTo>
                  <a:pt x="662583" y="0"/>
                </a:moveTo>
                <a:lnTo>
                  <a:pt x="3190875" y="0"/>
                </a:lnTo>
                <a:lnTo>
                  <a:pt x="3190875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lnTo>
                  <a:pt x="0" y="1514475"/>
                </a:ln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9" name="MH_Other_6"/>
          <p:cNvSpPr/>
          <p:nvPr>
            <p:custDataLst>
              <p:tags r:id="rId6"/>
            </p:custDataLst>
          </p:nvPr>
        </p:nvSpPr>
        <p:spPr>
          <a:xfrm rot="5400000">
            <a:off x="6648192" y="2756735"/>
            <a:ext cx="982265" cy="1135856"/>
          </a:xfrm>
          <a:custGeom>
            <a:avLst/>
            <a:gdLst>
              <a:gd name="connsiteX0" fmla="*/ 0 w 1309689"/>
              <a:gd name="connsiteY0" fmla="*/ 1514475 h 1514475"/>
              <a:gd name="connsiteX1" fmla="*/ 0 w 1309689"/>
              <a:gd name="connsiteY1" fmla="*/ 662583 h 1514475"/>
              <a:gd name="connsiteX2" fmla="*/ 662583 w 1309689"/>
              <a:gd name="connsiteY2" fmla="*/ 0 h 1514475"/>
              <a:gd name="connsiteX3" fmla="*/ 1309689 w 1309689"/>
              <a:gd name="connsiteY3" fmla="*/ 0 h 1514475"/>
              <a:gd name="connsiteX4" fmla="*/ 1309689 w 1309689"/>
              <a:gd name="connsiteY4" fmla="*/ 378619 h 1514475"/>
              <a:gd name="connsiteX5" fmla="*/ 662583 w 1309689"/>
              <a:gd name="connsiteY5" fmla="*/ 378619 h 1514475"/>
              <a:gd name="connsiteX6" fmla="*/ 378619 w 1309689"/>
              <a:gd name="connsiteY6" fmla="*/ 662583 h 1514475"/>
              <a:gd name="connsiteX7" fmla="*/ 378619 w 1309689"/>
              <a:gd name="connsiteY7" fmla="*/ 1514475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09689" h="1514475">
                <a:moveTo>
                  <a:pt x="0" y="1514475"/>
                </a:moveTo>
                <a:lnTo>
                  <a:pt x="0" y="662583"/>
                </a:lnTo>
                <a:cubicBezTo>
                  <a:pt x="0" y="296649"/>
                  <a:pt x="296649" y="0"/>
                  <a:pt x="662583" y="0"/>
                </a:cubicBezTo>
                <a:lnTo>
                  <a:pt x="1309689" y="0"/>
                </a:lnTo>
                <a:lnTo>
                  <a:pt x="1309689" y="378619"/>
                </a:lnTo>
                <a:lnTo>
                  <a:pt x="662583" y="378619"/>
                </a:lnTo>
                <a:cubicBezTo>
                  <a:pt x="505754" y="378619"/>
                  <a:pt x="378619" y="505754"/>
                  <a:pt x="378619" y="662583"/>
                </a:cubicBezTo>
                <a:lnTo>
                  <a:pt x="378619" y="15144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0" name="MH_SubTitle_1"/>
          <p:cNvSpPr/>
          <p:nvPr>
            <p:custDataLst>
              <p:tags r:id="rId7"/>
            </p:custDataLst>
          </p:nvPr>
        </p:nvSpPr>
        <p:spPr>
          <a:xfrm>
            <a:off x="1476712" y="1679814"/>
            <a:ext cx="885825" cy="885825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350" b="1" dirty="0" smtClean="0">
                <a:solidFill>
                  <a:schemeClr val="accent1"/>
                </a:solidFill>
              </a:rPr>
              <a:t>问题分析</a:t>
            </a:r>
            <a:endParaRPr lang="zh-CN" altLang="en-US" sz="1350" b="1" dirty="0">
              <a:solidFill>
                <a:schemeClr val="accent1"/>
              </a:solidFill>
            </a:endParaRPr>
          </a:p>
        </p:txBody>
      </p:sp>
      <p:sp>
        <p:nvSpPr>
          <p:cNvPr id="11" name="MH_SubTitle_2"/>
          <p:cNvSpPr/>
          <p:nvPr>
            <p:custDataLst>
              <p:tags r:id="rId8"/>
            </p:custDataLst>
          </p:nvPr>
        </p:nvSpPr>
        <p:spPr>
          <a:xfrm>
            <a:off x="3867487" y="1686958"/>
            <a:ext cx="885825" cy="885825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350" b="1" dirty="0" smtClean="0">
                <a:solidFill>
                  <a:schemeClr val="accent1"/>
                </a:solidFill>
              </a:rPr>
              <a:t>设计算法</a:t>
            </a:r>
            <a:endParaRPr lang="zh-CN" altLang="en-US" sz="1350" b="1" dirty="0">
              <a:solidFill>
                <a:schemeClr val="accent1"/>
              </a:solidFill>
            </a:endParaRPr>
          </a:p>
        </p:txBody>
      </p:sp>
      <p:sp>
        <p:nvSpPr>
          <p:cNvPr id="12" name="MH_SubTitle_3"/>
          <p:cNvSpPr/>
          <p:nvPr>
            <p:custDataLst>
              <p:tags r:id="rId9"/>
            </p:custDataLst>
          </p:nvPr>
        </p:nvSpPr>
        <p:spPr>
          <a:xfrm>
            <a:off x="7111940" y="2532302"/>
            <a:ext cx="885825" cy="885825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350" b="1" dirty="0" smtClean="0">
                <a:solidFill>
                  <a:schemeClr val="accent1"/>
                </a:solidFill>
              </a:rPr>
              <a:t>编写程序</a:t>
            </a:r>
            <a:endParaRPr lang="zh-CN" altLang="en-US" sz="1350" b="1" dirty="0">
              <a:solidFill>
                <a:schemeClr val="accent1"/>
              </a:solidFill>
            </a:endParaRPr>
          </a:p>
        </p:txBody>
      </p:sp>
      <p:sp>
        <p:nvSpPr>
          <p:cNvPr id="13" name="MH_Other_7"/>
          <p:cNvSpPr/>
          <p:nvPr>
            <p:custDataLst>
              <p:tags r:id="rId10"/>
            </p:custDataLst>
          </p:nvPr>
        </p:nvSpPr>
        <p:spPr>
          <a:xfrm>
            <a:off x="1893431" y="1540512"/>
            <a:ext cx="53578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14" name="MH_Other_8"/>
          <p:cNvSpPr/>
          <p:nvPr>
            <p:custDataLst>
              <p:tags r:id="rId11"/>
            </p:custDataLst>
          </p:nvPr>
        </p:nvSpPr>
        <p:spPr>
          <a:xfrm>
            <a:off x="3615075" y="2097725"/>
            <a:ext cx="53578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15" name="MH_Other_9"/>
          <p:cNvSpPr/>
          <p:nvPr>
            <p:custDataLst>
              <p:tags r:id="rId12"/>
            </p:custDataLst>
          </p:nvPr>
        </p:nvSpPr>
        <p:spPr>
          <a:xfrm>
            <a:off x="3729375" y="2097725"/>
            <a:ext cx="53578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16" name="MH_Other_10"/>
          <p:cNvSpPr/>
          <p:nvPr>
            <p:custDataLst>
              <p:tags r:id="rId13"/>
            </p:custDataLst>
          </p:nvPr>
        </p:nvSpPr>
        <p:spPr>
          <a:xfrm>
            <a:off x="6713081" y="2947831"/>
            <a:ext cx="54769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17" name="MH_Other_11"/>
          <p:cNvSpPr/>
          <p:nvPr>
            <p:custDataLst>
              <p:tags r:id="rId14"/>
            </p:custDataLst>
          </p:nvPr>
        </p:nvSpPr>
        <p:spPr>
          <a:xfrm>
            <a:off x="6827381" y="2947831"/>
            <a:ext cx="54769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18" name="MH_Other_12"/>
          <p:cNvSpPr/>
          <p:nvPr>
            <p:custDataLst>
              <p:tags r:id="rId15"/>
            </p:custDataLst>
          </p:nvPr>
        </p:nvSpPr>
        <p:spPr>
          <a:xfrm>
            <a:off x="6941681" y="2947831"/>
            <a:ext cx="54769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19" name="MH_SubTitle_4"/>
          <p:cNvSpPr/>
          <p:nvPr>
            <p:custDataLst>
              <p:tags r:id="rId16"/>
            </p:custDataLst>
          </p:nvPr>
        </p:nvSpPr>
        <p:spPr>
          <a:xfrm>
            <a:off x="4917620" y="3786030"/>
            <a:ext cx="1065609" cy="885825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>
              <a:defRPr/>
            </a:pPr>
            <a:r>
              <a:rPr lang="zh-CN" altLang="en-US" sz="1350" b="1" dirty="0" smtClean="0">
                <a:solidFill>
                  <a:schemeClr val="accent1"/>
                </a:solidFill>
              </a:rPr>
              <a:t>对源程序进行编辑、编译和连接</a:t>
            </a:r>
            <a:endParaRPr lang="zh-CN" altLang="en-US" sz="1350" b="1" dirty="0">
              <a:solidFill>
                <a:schemeClr val="accent1"/>
              </a:solidFill>
            </a:endParaRPr>
          </a:p>
        </p:txBody>
      </p:sp>
      <p:sp>
        <p:nvSpPr>
          <p:cNvPr id="20" name="MH_Other_13"/>
          <p:cNvSpPr/>
          <p:nvPr>
            <p:custDataLst>
              <p:tags r:id="rId17"/>
            </p:custDataLst>
          </p:nvPr>
        </p:nvSpPr>
        <p:spPr>
          <a:xfrm>
            <a:off x="6045140" y="4201558"/>
            <a:ext cx="53579" cy="53579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21" name="MH_Other_14"/>
          <p:cNvSpPr/>
          <p:nvPr>
            <p:custDataLst>
              <p:tags r:id="rId18"/>
            </p:custDataLst>
          </p:nvPr>
        </p:nvSpPr>
        <p:spPr>
          <a:xfrm>
            <a:off x="6159440" y="4201558"/>
            <a:ext cx="53579" cy="53579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22" name="MH_Other_15"/>
          <p:cNvSpPr/>
          <p:nvPr>
            <p:custDataLst>
              <p:tags r:id="rId19"/>
            </p:custDataLst>
          </p:nvPr>
        </p:nvSpPr>
        <p:spPr>
          <a:xfrm>
            <a:off x="6273740" y="4201558"/>
            <a:ext cx="53579" cy="53579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23" name="MH_Other_16"/>
          <p:cNvSpPr/>
          <p:nvPr>
            <p:custDataLst>
              <p:tags r:id="rId20"/>
            </p:custDataLst>
          </p:nvPr>
        </p:nvSpPr>
        <p:spPr>
          <a:xfrm>
            <a:off x="6388040" y="4201558"/>
            <a:ext cx="53579" cy="53579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24" name="MH_SubTitle_5"/>
          <p:cNvSpPr/>
          <p:nvPr>
            <p:custDataLst>
              <p:tags r:id="rId21"/>
            </p:custDataLst>
          </p:nvPr>
        </p:nvSpPr>
        <p:spPr>
          <a:xfrm>
            <a:off x="3215024" y="3020458"/>
            <a:ext cx="885825" cy="885825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350" b="1" dirty="0" smtClean="0">
                <a:solidFill>
                  <a:schemeClr val="accent1"/>
                </a:solidFill>
              </a:rPr>
              <a:t>运行程序</a:t>
            </a:r>
            <a:endParaRPr lang="en-US" altLang="zh-CN" sz="1350" b="1" dirty="0" smtClean="0">
              <a:solidFill>
                <a:schemeClr val="accent1"/>
              </a:solidFill>
            </a:endParaRPr>
          </a:p>
          <a:p>
            <a:pPr algn="ctr">
              <a:defRPr/>
            </a:pPr>
            <a:r>
              <a:rPr lang="zh-CN" altLang="en-US" sz="1350" b="1" dirty="0" smtClean="0">
                <a:solidFill>
                  <a:schemeClr val="accent1"/>
                </a:solidFill>
              </a:rPr>
              <a:t>分析结果</a:t>
            </a:r>
            <a:endParaRPr lang="zh-CN" altLang="en-US" sz="1350" b="1" dirty="0">
              <a:solidFill>
                <a:schemeClr val="accent1"/>
              </a:solidFill>
            </a:endParaRPr>
          </a:p>
        </p:txBody>
      </p:sp>
      <p:sp>
        <p:nvSpPr>
          <p:cNvPr id="25" name="MH_Other_17"/>
          <p:cNvSpPr/>
          <p:nvPr>
            <p:custDataLst>
              <p:tags r:id="rId22"/>
            </p:custDataLst>
          </p:nvPr>
        </p:nvSpPr>
        <p:spPr>
          <a:xfrm>
            <a:off x="4210388" y="3437177"/>
            <a:ext cx="53578" cy="53579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26" name="MH_Other_18"/>
          <p:cNvSpPr/>
          <p:nvPr>
            <p:custDataLst>
              <p:tags r:id="rId23"/>
            </p:custDataLst>
          </p:nvPr>
        </p:nvSpPr>
        <p:spPr>
          <a:xfrm>
            <a:off x="4324688" y="3437177"/>
            <a:ext cx="53578" cy="53579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27" name="MH_Other_19"/>
          <p:cNvSpPr/>
          <p:nvPr>
            <p:custDataLst>
              <p:tags r:id="rId24"/>
            </p:custDataLst>
          </p:nvPr>
        </p:nvSpPr>
        <p:spPr>
          <a:xfrm>
            <a:off x="4438988" y="3437177"/>
            <a:ext cx="53578" cy="53579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28" name="MH_Other_20"/>
          <p:cNvSpPr/>
          <p:nvPr>
            <p:custDataLst>
              <p:tags r:id="rId25"/>
            </p:custDataLst>
          </p:nvPr>
        </p:nvSpPr>
        <p:spPr>
          <a:xfrm>
            <a:off x="4553288" y="3437177"/>
            <a:ext cx="53578" cy="53579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29" name="MH_Other_21"/>
          <p:cNvSpPr/>
          <p:nvPr>
            <p:custDataLst>
              <p:tags r:id="rId26"/>
            </p:custDataLst>
          </p:nvPr>
        </p:nvSpPr>
        <p:spPr>
          <a:xfrm>
            <a:off x="4667588" y="3437177"/>
            <a:ext cx="53578" cy="53579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30" name="MH_Other_22"/>
          <p:cNvSpPr/>
          <p:nvPr>
            <p:custDataLst>
              <p:tags r:id="rId27"/>
            </p:custDataLst>
          </p:nvPr>
        </p:nvSpPr>
        <p:spPr>
          <a:xfrm rot="16200000" flipH="1" flipV="1">
            <a:off x="1115357" y="3324663"/>
            <a:ext cx="1527572" cy="1135856"/>
          </a:xfrm>
          <a:custGeom>
            <a:avLst/>
            <a:gdLst>
              <a:gd name="connsiteX0" fmla="*/ 2036881 w 2036881"/>
              <a:gd name="connsiteY0" fmla="*/ 0 h 1514475"/>
              <a:gd name="connsiteX1" fmla="*/ 662583 w 2036881"/>
              <a:gd name="connsiteY1" fmla="*/ 0 h 1514475"/>
              <a:gd name="connsiteX2" fmla="*/ 0 w 2036881"/>
              <a:gd name="connsiteY2" fmla="*/ 662583 h 1514475"/>
              <a:gd name="connsiteX3" fmla="*/ 0 w 2036881"/>
              <a:gd name="connsiteY3" fmla="*/ 1514475 h 1514475"/>
              <a:gd name="connsiteX4" fmla="*/ 378619 w 2036881"/>
              <a:gd name="connsiteY4" fmla="*/ 1514475 h 1514475"/>
              <a:gd name="connsiteX5" fmla="*/ 378619 w 2036881"/>
              <a:gd name="connsiteY5" fmla="*/ 662583 h 1514475"/>
              <a:gd name="connsiteX6" fmla="*/ 662583 w 2036881"/>
              <a:gd name="connsiteY6" fmla="*/ 378619 h 1514475"/>
              <a:gd name="connsiteX7" fmla="*/ 2036881 w 2036881"/>
              <a:gd name="connsiteY7" fmla="*/ 378619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6881" h="1514475">
                <a:moveTo>
                  <a:pt x="2036881" y="0"/>
                </a:moveTo>
                <a:lnTo>
                  <a:pt x="662583" y="0"/>
                </a:lnTo>
                <a:cubicBezTo>
                  <a:pt x="296649" y="0"/>
                  <a:pt x="0" y="296649"/>
                  <a:pt x="0" y="662583"/>
                </a:cubicBezTo>
                <a:lnTo>
                  <a:pt x="0" y="1514475"/>
                </a:lnTo>
                <a:lnTo>
                  <a:pt x="378619" y="1514475"/>
                </a:lnTo>
                <a:lnTo>
                  <a:pt x="378619" y="662583"/>
                </a:lnTo>
                <a:cubicBezTo>
                  <a:pt x="378619" y="505754"/>
                  <a:pt x="505754" y="378619"/>
                  <a:pt x="662583" y="378619"/>
                </a:cubicBezTo>
                <a:lnTo>
                  <a:pt x="2036881" y="37861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31" name="MH_SubTitle_6"/>
          <p:cNvSpPr/>
          <p:nvPr>
            <p:custDataLst>
              <p:tags r:id="rId28"/>
            </p:custDataLst>
          </p:nvPr>
        </p:nvSpPr>
        <p:spPr>
          <a:xfrm>
            <a:off x="1863665" y="4077733"/>
            <a:ext cx="885825" cy="885825"/>
          </a:xfrm>
          <a:prstGeom prst="roundRect">
            <a:avLst>
              <a:gd name="adj" fmla="val 29792"/>
            </a:avLst>
          </a:prstGeom>
          <a:solidFill>
            <a:srgbClr val="FEFFFF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1350" b="1" dirty="0" smtClean="0">
                <a:solidFill>
                  <a:schemeClr val="accent1"/>
                </a:solidFill>
              </a:rPr>
              <a:t>编写程序文档</a:t>
            </a:r>
            <a:endParaRPr lang="zh-CN" altLang="en-US" sz="1350" b="1" dirty="0">
              <a:solidFill>
                <a:schemeClr val="accent1"/>
              </a:solidFill>
            </a:endParaRPr>
          </a:p>
        </p:txBody>
      </p:sp>
      <p:sp>
        <p:nvSpPr>
          <p:cNvPr id="32" name="MH_Other_23"/>
          <p:cNvSpPr/>
          <p:nvPr>
            <p:custDataLst>
              <p:tags r:id="rId29"/>
            </p:custDataLst>
          </p:nvPr>
        </p:nvSpPr>
        <p:spPr>
          <a:xfrm>
            <a:off x="2799496" y="4500406"/>
            <a:ext cx="53579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33" name="MH_Other_24"/>
          <p:cNvSpPr/>
          <p:nvPr>
            <p:custDataLst>
              <p:tags r:id="rId30"/>
            </p:custDataLst>
          </p:nvPr>
        </p:nvSpPr>
        <p:spPr>
          <a:xfrm>
            <a:off x="2913796" y="4500406"/>
            <a:ext cx="53579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34" name="MH_Other_25"/>
          <p:cNvSpPr/>
          <p:nvPr>
            <p:custDataLst>
              <p:tags r:id="rId31"/>
            </p:custDataLst>
          </p:nvPr>
        </p:nvSpPr>
        <p:spPr>
          <a:xfrm>
            <a:off x="3028096" y="4500406"/>
            <a:ext cx="53579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35" name="MH_Other_26"/>
          <p:cNvSpPr/>
          <p:nvPr>
            <p:custDataLst>
              <p:tags r:id="rId32"/>
            </p:custDataLst>
          </p:nvPr>
        </p:nvSpPr>
        <p:spPr>
          <a:xfrm>
            <a:off x="3142396" y="4500406"/>
            <a:ext cx="53579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36" name="MH_Other_27"/>
          <p:cNvSpPr/>
          <p:nvPr>
            <p:custDataLst>
              <p:tags r:id="rId33"/>
            </p:custDataLst>
          </p:nvPr>
        </p:nvSpPr>
        <p:spPr>
          <a:xfrm>
            <a:off x="3256696" y="4500406"/>
            <a:ext cx="53579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  <p:sp>
        <p:nvSpPr>
          <p:cNvPr id="37" name="MH_Other_28"/>
          <p:cNvSpPr/>
          <p:nvPr>
            <p:custDataLst>
              <p:tags r:id="rId34"/>
            </p:custDataLst>
          </p:nvPr>
        </p:nvSpPr>
        <p:spPr>
          <a:xfrm>
            <a:off x="3370996" y="4500406"/>
            <a:ext cx="53579" cy="53578"/>
          </a:xfrm>
          <a:prstGeom prst="ellipse">
            <a:avLst/>
          </a:prstGeom>
          <a:solidFill>
            <a:srgbClr val="FE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内容占位符 1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pPr marL="0" indent="0">
              <a:lnSpc>
                <a:spcPct val="150000"/>
              </a:lnSpc>
              <a:buNone/>
            </a:pPr>
            <a:endParaRPr lang="en-US" altLang="zh-C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/>
              <a:t>      </a:t>
            </a:r>
            <a:r>
              <a:rPr lang="zh-CN" altLang="zh-CN" sz="1800" dirty="0"/>
              <a:t>本章首先讲解了</a:t>
            </a:r>
            <a:r>
              <a:rPr lang="en-US" altLang="zh-CN" sz="1800" dirty="0"/>
              <a:t>C</a:t>
            </a:r>
            <a:r>
              <a:rPr lang="zh-CN" altLang="zh-CN" sz="1800" dirty="0"/>
              <a:t>语言的基础知识，然后讲解了</a:t>
            </a:r>
            <a:r>
              <a:rPr lang="en-US" altLang="zh-CN" sz="1800" dirty="0"/>
              <a:t>Visual Studio</a:t>
            </a:r>
            <a:r>
              <a:rPr lang="zh-CN" altLang="zh-CN" sz="1800" dirty="0"/>
              <a:t>开发环境的搭建以及如何开发一个</a:t>
            </a:r>
            <a:r>
              <a:rPr lang="en-US" altLang="zh-CN" sz="1800" dirty="0"/>
              <a:t>HelloWorld</a:t>
            </a:r>
            <a:r>
              <a:rPr lang="zh-CN" altLang="zh-CN" sz="1800" dirty="0"/>
              <a:t>程序，最后讲解了</a:t>
            </a:r>
            <a:r>
              <a:rPr lang="en-US" altLang="zh-CN" sz="1800" dirty="0"/>
              <a:t>C</a:t>
            </a:r>
            <a:r>
              <a:rPr lang="zh-CN" altLang="zh-CN" sz="1800" dirty="0"/>
              <a:t>语言程序中的注释。通过本章的学习，大家会对</a:t>
            </a:r>
            <a:r>
              <a:rPr lang="en-US" altLang="zh-CN" sz="1800" dirty="0"/>
              <a:t>C</a:t>
            </a:r>
            <a:r>
              <a:rPr lang="zh-CN" altLang="zh-CN" sz="1800" dirty="0"/>
              <a:t>语言有一个概念上的认识，并了解如何开发一个</a:t>
            </a:r>
            <a:r>
              <a:rPr lang="en-US" altLang="zh-CN" sz="1800" dirty="0"/>
              <a:t>C</a:t>
            </a:r>
            <a:r>
              <a:rPr lang="zh-CN" altLang="zh-CN" sz="1800" dirty="0"/>
              <a:t>语言程序，为后面的程序开发奠定基础。</a:t>
            </a:r>
            <a:endParaRPr lang="zh-CN" altLang="en-US" sz="1800" dirty="0"/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本章</a:t>
            </a:r>
            <a:r>
              <a:rPr lang="zh-CN" altLang="en-US" sz="3200" dirty="0" smtClean="0">
                <a:solidFill>
                  <a:srgbClr val="782367"/>
                </a:solidFill>
                <a:sym typeface="+mn-ea"/>
              </a:rPr>
              <a:t>小结</a:t>
            </a:r>
            <a:endParaRPr lang="zh-CN" altLang="en-US" sz="3200" dirty="0" smtClean="0">
              <a:solidFill>
                <a:srgbClr val="782367"/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70803154453"/>
  <p:tag name="MH_LIBRARY" val="GRAPHIC"/>
  <p:tag name="MH_TYPE" val="Other"/>
  <p:tag name="MH_ORDER" val="1"/>
</p:tagLst>
</file>

<file path=ppt/tags/tag2.xml><?xml version="1.0" encoding="utf-8"?>
<p:tagLst xmlns:p="http://schemas.openxmlformats.org/presentationml/2006/main">
  <p:tag name="MH" val="20170803154453"/>
  <p:tag name="MH_LIBRARY" val="GRAPHIC"/>
  <p:tag name="MH_TYPE" val="Other"/>
  <p:tag name="MH_ORDER" val="2"/>
</p:tagLst>
</file>

<file path=ppt/tags/tag3.xml><?xml version="1.0" encoding="utf-8"?>
<p:tagLst xmlns:p="http://schemas.openxmlformats.org/presentationml/2006/main">
  <p:tag name="MH" val="20170803154453"/>
  <p:tag name="MH_LIBRARY" val="GRAPHIC"/>
  <p:tag name="MH_TYPE" val="Other"/>
  <p:tag name="MH_ORDER" val="3"/>
</p:tagLst>
</file>

<file path=ppt/tags/tag4.xml><?xml version="1.0" encoding="utf-8"?>
<p:tagLst xmlns:p="http://schemas.openxmlformats.org/presentationml/2006/main">
  <p:tag name="MH" val="20170803154453"/>
  <p:tag name="MH_LIBRARY" val="GRAPHIC"/>
  <p:tag name="MH_TYPE" val="Other"/>
  <p:tag name="MH_ORDER" val="4"/>
</p:tagLst>
</file>

<file path=ppt/tags/tag5.xml><?xml version="1.0" encoding="utf-8"?>
<p:tagLst xmlns:p="http://schemas.openxmlformats.org/presentationml/2006/main">
  <p:tag name="MH" val="20170803154453"/>
  <p:tag name="MH_LIBRARY" val="GRAPHIC"/>
  <p:tag name="MH_TYPE" val="Other"/>
  <p:tag name="MH_ORDER" val="5"/>
</p:tagLst>
</file>

<file path=ppt/tags/tag6.xml><?xml version="1.0" encoding="utf-8"?>
<p:tagLst xmlns:p="http://schemas.openxmlformats.org/presentationml/2006/main">
  <p:tag name="MH" val="20170803154453"/>
  <p:tag name="MH_LIBRARY" val="GRAPHIC"/>
  <p:tag name="MH_TYPE" val="Text"/>
  <p:tag name="MH_ORDER" val="1"/>
</p:tagLst>
</file>

<file path=ppt/tags/tag7.xml><?xml version="1.0" encoding="utf-8"?>
<p:tagLst xmlns:p="http://schemas.openxmlformats.org/presentationml/2006/main">
  <p:tag name="MH" val="20170803154453"/>
  <p:tag name="MH_LIBRARY" val="GRAPHIC"/>
  <p:tag name="MH_TYPE" val="SubTitle"/>
  <p:tag name="MH_ORDER" val="1"/>
</p:tagLst>
</file>

<file path=ppt/tags/tag8.xml><?xml version="1.0" encoding="utf-8"?>
<p:tagLst xmlns:p="http://schemas.openxmlformats.org/presentationml/2006/main">
  <p:tag name="MH" val="20170803154453"/>
  <p:tag name="MH_LIBRARY" val="GRAPHIC"/>
  <p:tag name="MH_TYPE" val="Other"/>
  <p:tag name="MH_ORDER" val="6"/>
</p:tagLst>
</file>

<file path=ppt/tags/tag9.xml><?xml version="1.0" encoding="utf-8"?>
<p:tagLst xmlns:p="http://schemas.openxmlformats.org/presentationml/2006/main">
  <p:tag name="MH" val="20170803154453"/>
  <p:tag name="MH_LIBRARY" val="GRAPHIC"/>
  <p:tag name="MH_TYPE" val="Other"/>
  <p:tag name="MH_ORDER" val="7"/>
</p:tagLst>
</file>

<file path=ppt/tags/tag10.xml><?xml version="1.0" encoding="utf-8"?>
<p:tagLst xmlns:p="http://schemas.openxmlformats.org/presentationml/2006/main">
  <p:tag name="MH" val="20170803154453"/>
  <p:tag name="MH_LIBRARY" val="GRAPHIC"/>
  <p:tag name="MH_TYPE" val="Other"/>
  <p:tag name="MH_ORDER" val="8"/>
</p:tagLst>
</file>

<file path=ppt/tags/tag11.xml><?xml version="1.0" encoding="utf-8"?>
<p:tagLst xmlns:p="http://schemas.openxmlformats.org/presentationml/2006/main">
  <p:tag name="MH" val="20170803154453"/>
  <p:tag name="MH_LIBRARY" val="GRAPHIC"/>
  <p:tag name="MH_TYPE" val="Other"/>
  <p:tag name="MH_ORDER" val="9"/>
</p:tagLst>
</file>

<file path=ppt/tags/tag12.xml><?xml version="1.0" encoding="utf-8"?>
<p:tagLst xmlns:p="http://schemas.openxmlformats.org/presentationml/2006/main">
  <p:tag name="MH" val="20170803154453"/>
  <p:tag name="MH_LIBRARY" val="GRAPHIC"/>
  <p:tag name="MH_TYPE" val="Other"/>
  <p:tag name="MH_ORDER" val="10"/>
</p:tagLst>
</file>

<file path=ppt/tags/tag13.xml><?xml version="1.0" encoding="utf-8"?>
<p:tagLst xmlns:p="http://schemas.openxmlformats.org/presentationml/2006/main">
  <p:tag name="MH" val="20170803154453"/>
  <p:tag name="MH_LIBRARY" val="GRAPHIC"/>
  <p:tag name="MH_TYPE" val="Text"/>
  <p:tag name="MH_ORDER" val="3"/>
</p:tagLst>
</file>

<file path=ppt/tags/tag14.xml><?xml version="1.0" encoding="utf-8"?>
<p:tagLst xmlns:p="http://schemas.openxmlformats.org/presentationml/2006/main">
  <p:tag name="MH" val="20170803154453"/>
  <p:tag name="MH_LIBRARY" val="GRAPHIC"/>
  <p:tag name="MH_TYPE" val="SubTitle"/>
  <p:tag name="MH_ORDER" val="3"/>
</p:tagLst>
</file>

<file path=ppt/tags/tag15.xml><?xml version="1.0" encoding="utf-8"?>
<p:tagLst xmlns:p="http://schemas.openxmlformats.org/presentationml/2006/main">
  <p:tag name="MH" val="20170803154453"/>
  <p:tag name="MH_LIBRARY" val="GRAPHIC"/>
  <p:tag name="MH_TYPE" val="Other"/>
  <p:tag name="MH_ORDER" val="11"/>
</p:tagLst>
</file>

<file path=ppt/tags/tag16.xml><?xml version="1.0" encoding="utf-8"?>
<p:tagLst xmlns:p="http://schemas.openxmlformats.org/presentationml/2006/main">
  <p:tag name="MH" val="20170803154453"/>
  <p:tag name="MH_LIBRARY" val="GRAPHIC"/>
  <p:tag name="MH_TYPE" val="Other"/>
  <p:tag name="MH_ORDER" val="12"/>
</p:tagLst>
</file>

<file path=ppt/tags/tag17.xml><?xml version="1.0" encoding="utf-8"?>
<p:tagLst xmlns:p="http://schemas.openxmlformats.org/presentationml/2006/main">
  <p:tag name="MH" val="20170803154453"/>
  <p:tag name="MH_LIBRARY" val="GRAPHIC"/>
  <p:tag name="MH_TYPE" val="Other"/>
  <p:tag name="MH_ORDER" val="13"/>
</p:tagLst>
</file>

<file path=ppt/tags/tag18.xml><?xml version="1.0" encoding="utf-8"?>
<p:tagLst xmlns:p="http://schemas.openxmlformats.org/presentationml/2006/main">
  <p:tag name="MH" val="20170803154453"/>
  <p:tag name="MH_LIBRARY" val="GRAPHIC"/>
  <p:tag name="MH_TYPE" val="Other"/>
  <p:tag name="MH_ORDER" val="14"/>
</p:tagLst>
</file>

<file path=ppt/tags/tag19.xml><?xml version="1.0" encoding="utf-8"?>
<p:tagLst xmlns:p="http://schemas.openxmlformats.org/presentationml/2006/main">
  <p:tag name="MH" val="20170803154453"/>
  <p:tag name="MH_LIBRARY" val="GRAPHIC"/>
  <p:tag name="MH_TYPE" val="Other"/>
  <p:tag name="MH_ORDER" val="15"/>
</p:tagLst>
</file>

<file path=ppt/tags/tag20.xml><?xml version="1.0" encoding="utf-8"?>
<p:tagLst xmlns:p="http://schemas.openxmlformats.org/presentationml/2006/main">
  <p:tag name="MH" val="20170803154453"/>
  <p:tag name="MH_LIBRARY" val="GRAPHIC"/>
  <p:tag name="MH_TYPE" val="Text"/>
  <p:tag name="MH_ORDER" val="2"/>
</p:tagLst>
</file>

<file path=ppt/tags/tag21.xml><?xml version="1.0" encoding="utf-8"?>
<p:tagLst xmlns:p="http://schemas.openxmlformats.org/presentationml/2006/main">
  <p:tag name="MH" val="20170803154453"/>
  <p:tag name="MH_LIBRARY" val="GRAPHIC"/>
  <p:tag name="MH_TYPE" val="SubTitle"/>
  <p:tag name="MH_ORDER" val="2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MH" val="20170803155910"/>
  <p:tag name="MH_LIBRARY" val="GRAPHIC"/>
  <p:tag name="MH_TYPE" val="SubTitle"/>
  <p:tag name="MH_ORDER" val="1"/>
</p:tagLst>
</file>

<file path=ppt/tags/tag25.xml><?xml version="1.0" encoding="utf-8"?>
<p:tagLst xmlns:p="http://schemas.openxmlformats.org/presentationml/2006/main">
  <p:tag name="MH" val="20170803155910"/>
  <p:tag name="MH_LIBRARY" val="GRAPHIC"/>
  <p:tag name="MH_TYPE" val="Text"/>
  <p:tag name="MH_ORDER" val="1"/>
</p:tagLst>
</file>

<file path=ppt/tags/tag26.xml><?xml version="1.0" encoding="utf-8"?>
<p:tagLst xmlns:p="http://schemas.openxmlformats.org/presentationml/2006/main">
  <p:tag name="MH" val="20170803155910"/>
  <p:tag name="MH_LIBRARY" val="GRAPHIC"/>
  <p:tag name="MH_TYPE" val="SubTitle"/>
  <p:tag name="MH_ORDER" val="2"/>
</p:tagLst>
</file>

<file path=ppt/tags/tag27.xml><?xml version="1.0" encoding="utf-8"?>
<p:tagLst xmlns:p="http://schemas.openxmlformats.org/presentationml/2006/main">
  <p:tag name="MH" val="20170803155910"/>
  <p:tag name="MH_LIBRARY" val="GRAPHIC"/>
  <p:tag name="MH_TYPE" val="Text"/>
  <p:tag name="MH_ORDER" val="2"/>
</p:tagLst>
</file>

<file path=ppt/tags/tag28.xml><?xml version="1.0" encoding="utf-8"?>
<p:tagLst xmlns:p="http://schemas.openxmlformats.org/presentationml/2006/main">
  <p:tag name="MH" val="20170803155910"/>
  <p:tag name="MH_LIBRARY" val="GRAPHIC"/>
  <p:tag name="MH_TYPE" val="SubTitle"/>
  <p:tag name="MH_ORDER" val="3"/>
</p:tagLst>
</file>

<file path=ppt/tags/tag29.xml><?xml version="1.0" encoding="utf-8"?>
<p:tagLst xmlns:p="http://schemas.openxmlformats.org/presentationml/2006/main">
  <p:tag name="MH" val="20170803155910"/>
  <p:tag name="MH_LIBRARY" val="GRAPHIC"/>
  <p:tag name="MH_TYPE" val="Text"/>
  <p:tag name="MH_ORDER" val="3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MH" val="20170803165259"/>
  <p:tag name="MH_LIBRARY" val="GRAPHIC"/>
  <p:tag name="MH_TYPE" val="Other"/>
  <p:tag name="MH_ORDER" val="5"/>
</p:tagLst>
</file>

<file path=ppt/tags/tag32.xml><?xml version="1.0" encoding="utf-8"?>
<p:tagLst xmlns:p="http://schemas.openxmlformats.org/presentationml/2006/main">
  <p:tag name="MH" val="20170803165259"/>
  <p:tag name="MH_LIBRARY" val="GRAPHIC"/>
  <p:tag name="MH_TYPE" val="Other"/>
  <p:tag name="MH_ORDER" val="1"/>
</p:tagLst>
</file>

<file path=ppt/tags/tag33.xml><?xml version="1.0" encoding="utf-8"?>
<p:tagLst xmlns:p="http://schemas.openxmlformats.org/presentationml/2006/main">
  <p:tag name="MH" val="20170803165259"/>
  <p:tag name="MH_LIBRARY" val="GRAPHIC"/>
  <p:tag name="MH_TYPE" val="Other"/>
  <p:tag name="MH_ORDER" val="2"/>
</p:tagLst>
</file>

<file path=ppt/tags/tag34.xml><?xml version="1.0" encoding="utf-8"?>
<p:tagLst xmlns:p="http://schemas.openxmlformats.org/presentationml/2006/main">
  <p:tag name="MH" val="20170803165259"/>
  <p:tag name="MH_LIBRARY" val="GRAPHIC"/>
  <p:tag name="MH_TYPE" val="Other"/>
  <p:tag name="MH_ORDER" val="3"/>
</p:tagLst>
</file>

<file path=ppt/tags/tag35.xml><?xml version="1.0" encoding="utf-8"?>
<p:tagLst xmlns:p="http://schemas.openxmlformats.org/presentationml/2006/main">
  <p:tag name="MH" val="20170803165259"/>
  <p:tag name="MH_LIBRARY" val="GRAPHIC"/>
  <p:tag name="MH_TYPE" val="Other"/>
  <p:tag name="MH_ORDER" val="4"/>
</p:tagLst>
</file>

<file path=ppt/tags/tag36.xml><?xml version="1.0" encoding="utf-8"?>
<p:tagLst xmlns:p="http://schemas.openxmlformats.org/presentationml/2006/main">
  <p:tag name="MH" val="20170803165259"/>
  <p:tag name="MH_LIBRARY" val="GRAPHIC"/>
  <p:tag name="MH_TYPE" val="Other"/>
  <p:tag name="MH_ORDER" val="6"/>
</p:tagLst>
</file>

<file path=ppt/tags/tag37.xml><?xml version="1.0" encoding="utf-8"?>
<p:tagLst xmlns:p="http://schemas.openxmlformats.org/presentationml/2006/main">
  <p:tag name="MH" val="20170803165259"/>
  <p:tag name="MH_LIBRARY" val="GRAPHIC"/>
  <p:tag name="MH_TYPE" val="Other"/>
  <p:tag name="MH_ORDER" val="7"/>
</p:tagLst>
</file>

<file path=ppt/tags/tag38.xml><?xml version="1.0" encoding="utf-8"?>
<p:tagLst xmlns:p="http://schemas.openxmlformats.org/presentationml/2006/main">
  <p:tag name="MH" val="20170803165259"/>
  <p:tag name="MH_LIBRARY" val="GRAPHIC"/>
  <p:tag name="MH_TYPE" val="Other"/>
  <p:tag name="MH_ORDER" val="8"/>
</p:tagLst>
</file>

<file path=ppt/tags/tag39.xml><?xml version="1.0" encoding="utf-8"?>
<p:tagLst xmlns:p="http://schemas.openxmlformats.org/presentationml/2006/main">
  <p:tag name="MH" val="20170803165259"/>
  <p:tag name="MH_LIBRARY" val="GRAPHIC"/>
  <p:tag name="MH_TYPE" val="SubTitle"/>
  <p:tag name="MH_ORDER" val="1"/>
</p:tagLst>
</file>

<file path=ppt/tags/tag40.xml><?xml version="1.0" encoding="utf-8"?>
<p:tagLst xmlns:p="http://schemas.openxmlformats.org/presentationml/2006/main">
  <p:tag name="MH" val="20170803165259"/>
  <p:tag name="MH_LIBRARY" val="GRAPHIC"/>
  <p:tag name="MH_TYPE" val="Text"/>
  <p:tag name="MH_ORDER" val="2"/>
</p:tagLst>
</file>

<file path=ppt/tags/tag41.xml><?xml version="1.0" encoding="utf-8"?>
<p:tagLst xmlns:p="http://schemas.openxmlformats.org/presentationml/2006/main">
  <p:tag name="MH" val="20170803165259"/>
  <p:tag name="MH_LIBRARY" val="GRAPHIC"/>
  <p:tag name="MH_TYPE" val="SubTitle"/>
  <p:tag name="MH_ORDER" val="3"/>
</p:tagLst>
</file>

<file path=ppt/tags/tag42.xml><?xml version="1.0" encoding="utf-8"?>
<p:tagLst xmlns:p="http://schemas.openxmlformats.org/presentationml/2006/main">
  <p:tag name="MH" val="20170803165259"/>
  <p:tag name="MH_LIBRARY" val="GRAPHIC"/>
  <p:tag name="MH_TYPE" val="SubTitle"/>
  <p:tag name="MH_ORDER" val="2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160108_4*m_i*1_1"/>
  <p:tag name="KSO_WM_TEMPLATE_CATEGORY" val="diagram"/>
  <p:tag name="KSO_WM_TEMPLATE_INDEX" val="160108"/>
  <p:tag name="KSO_WM_UNIT_LAYERLEVEL" val="1_1"/>
  <p:tag name="KSO_WM_TAG_VERSION" val="1.0"/>
  <p:tag name="KSO_WM_BEAUTIFY_FLAG" val="#wm#"/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UNIT_DIAGRAM_SCHEMECOLOR_ID" val="3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160108_4*m_h_i*1_1_2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USESOURCEFORMAT_APPLY" val="1"/>
  <p:tag name="KSO_WM_UNIT_DIAGRAM_SCHEMECOLOR_ID" val="3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160108_4*m_h_i*1_1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USESOURCEFORMAT_APPLY" val="1"/>
  <p:tag name="KSO_WM_UNIT_DIAGRAM_SCHEMECOLOR_ID" val="3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160108_4*m_h_i*1_2_2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USESOURCEFORMAT_APPLY" val="1"/>
  <p:tag name="KSO_WM_UNIT_DIAGRAM_SCHEMECOLOR_ID" val="3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160108_4*m_h_i*1_2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USESOURCEFORMAT_APPLY" val="1"/>
  <p:tag name="KSO_WM_UNIT_DIAGRAM_SCHEMECOLOR_ID" val="3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160108_4*m_h_i*1_3_2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USESOURCEFORMAT_APPLY" val="1"/>
  <p:tag name="KSO_WM_UNIT_DIAGRAM_SCHEMECOLOR_ID" val="3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160108_4*m_h_i*1_3_3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USESOURCEFORMAT_APPLY" val="1"/>
  <p:tag name="KSO_WM_UNIT_DIAGRAM_SCHEMECOLOR_ID" val="3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160108_4*m_h_i*1_4_2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USESOURCEFORMAT_APPLY" val="1"/>
  <p:tag name="KSO_WM_UNIT_DIAGRAM_SCHEMECOLOR_ID" val="3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160108_4*m_h_i*1_4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8"/>
  <p:tag name="KSO_WM_UNIT_FILL_TYPE" val="1"/>
  <p:tag name="KSO_WM_UNIT_USESOURCEFORMAT_APPLY" val="1"/>
  <p:tag name="KSO_WM_UNIT_DIAGRAM_SCHEMECOLOR_ID" val="3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2"/>
  <p:tag name="KSO_WM_UNIT_ID" val="diagram160108_4*m_h_i*1_5_2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-0.25"/>
  <p:tag name="KSO_WM_UNIT_LINE_FORE_SCHEMECOLOR_INDEX" val="14"/>
  <p:tag name="KSO_WM_UNIT_LINE_FILL_TYPE" val="2"/>
  <p:tag name="KSO_WM_UNIT_USESOURCEFORMAT_APPLY" val="1"/>
  <p:tag name="KSO_WM_UNIT_DIAGRAM_SCHEMECOLOR_ID" val="3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1"/>
  <p:tag name="KSO_WM_UNIT_ID" val="diagram160108_4*m_h_i*1_5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9"/>
  <p:tag name="KSO_WM_UNIT_FILL_TYPE" val="1"/>
  <p:tag name="KSO_WM_UNIT_USESOURCEFORMAT_APPLY" val="1"/>
  <p:tag name="KSO_WM_UNIT_DIAGRAM_SCHEMECOLOR_ID" val="3"/>
</p:tagLst>
</file>

<file path=ppt/tags/tag55.xml><?xml version="1.0" encoding="utf-8"?>
<p:tagLst xmlns:p="http://schemas.openxmlformats.org/presentationml/2006/main">
  <p:tag name="KSO_WM_UNIT_ISCONTENTSTITLE" val="0"/>
  <p:tag name="KSO_WM_UNIT_NOCLEAR" val="0"/>
  <p:tag name="KSO_WM_UNIT_BIND_DECORATION_IDS" val="diagram160108_4*m_i*1_2;diagram160108_4*m_i*1_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160108_4*m_h_i*1_1_3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UNIT_DIAGRAM_SCHEMECOLOR_ID" val="3"/>
</p:tagLst>
</file>

<file path=ppt/tags/tag56.xml><?xml version="1.0" encoding="utf-8"?>
<p:tagLst xmlns:p="http://schemas.openxmlformats.org/presentationml/2006/main">
  <p:tag name="KSO_WM_UNIT_SUBTYPE" val="a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160108_4*m_h_f*1_1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3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160108_4*m_h_a*1_1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UNIT_DIAGRAM_SCHEMECOLOR_ID" val="3"/>
</p:tagLst>
</file>

<file path=ppt/tags/tag58.xml><?xml version="1.0" encoding="utf-8"?>
<p:tagLst xmlns:p="http://schemas.openxmlformats.org/presentationml/2006/main">
  <p:tag name="KSO_WM_UNIT_ISCONTENTSTITLE" val="0"/>
  <p:tag name="KSO_WM_UNIT_NOCLEAR" val="0"/>
  <p:tag name="KSO_WM_UNIT_BIND_DECORATION_IDS" val="diagram160108_4*m_i*1_6;diagram160108_4*m_i*1_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160108_4*m_h_i*1_3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UNIT_DIAGRAM_SCHEMECOLOR_ID" val="3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160108_4*m_h_a*1_3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UNIT_DIAGRAM_SCHEMECOLOR_ID" val="3"/>
</p:tagLst>
</file>

<file path=ppt/tags/tag60.xml><?xml version="1.0" encoding="utf-8"?>
<p:tagLst xmlns:p="http://schemas.openxmlformats.org/presentationml/2006/main">
  <p:tag name="KSO_WM_UNIT_SUBTYPE" val="a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160108_4*m_h_f*1_3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3"/>
</p:tagLst>
</file>

<file path=ppt/tags/tag61.xml><?xml version="1.0" encoding="utf-8"?>
<p:tagLst xmlns:p="http://schemas.openxmlformats.org/presentationml/2006/main">
  <p:tag name="KSO_WM_UNIT_ISCONTENTSTITLE" val="0"/>
  <p:tag name="KSO_WM_UNIT_NOCLEAR" val="0"/>
  <p:tag name="KSO_WM_UNIT_BIND_DECORATION_IDS" val="diagram160108_4*m_i*1_10;diagram160108_4*m_i*1_1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3"/>
  <p:tag name="KSO_WM_UNIT_ID" val="diagram160108_4*m_h_i*1_5_3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UNIT_DIAGRAM_SCHEMECOLOR_ID" val="3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5_1"/>
  <p:tag name="KSO_WM_UNIT_ID" val="diagram160108_4*m_h_a*1_5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UNIT_DIAGRAM_SCHEMECOLOR_ID" val="3"/>
</p:tagLst>
</file>

<file path=ppt/tags/tag63.xml><?xml version="1.0" encoding="utf-8"?>
<p:tagLst xmlns:p="http://schemas.openxmlformats.org/presentationml/2006/main">
  <p:tag name="KSO_WM_UNIT_SUBTYPE" val="a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5_1"/>
  <p:tag name="KSO_WM_UNIT_ID" val="diagram160108_4*m_h_f*1_5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3"/>
</p:tagLst>
</file>

<file path=ppt/tags/tag64.xml><?xml version="1.0" encoding="utf-8"?>
<p:tagLst xmlns:p="http://schemas.openxmlformats.org/presentationml/2006/main">
  <p:tag name="KSO_WM_UNIT_ISCONTENTSTITLE" val="0"/>
  <p:tag name="KSO_WM_UNIT_NOCLEAR" val="0"/>
  <p:tag name="KSO_WM_UNIT_BIND_DECORATION_IDS" val="diagram160108_4*m_i*1_4;diagram160108_4*m_i*1_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160108_4*m_h_i*1_2_3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UNIT_DIAGRAM_SCHEMECOLOR_ID" val="3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160108_4*m_h_a*1_2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UNIT_DIAGRAM_SCHEMECOLOR_ID" val="3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160108_4*m_h_f*1_2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3"/>
</p:tagLst>
</file>

<file path=ppt/tags/tag67.xml><?xml version="1.0" encoding="utf-8"?>
<p:tagLst xmlns:p="http://schemas.openxmlformats.org/presentationml/2006/main">
  <p:tag name="KSO_WM_UNIT_ISCONTENTSTITLE" val="0"/>
  <p:tag name="KSO_WM_UNIT_NOCLEAR" val="0"/>
  <p:tag name="KSO_WM_UNIT_BIND_DECORATION_IDS" val="diagram160108_4*m_i*1_8;diagram160108_4*m_i*1_9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160108_4*m_h_i*1_4_3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UNIT_DIAGRAM_SCHEMECOLOR_ID" val="3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160108_4*m_h_a*1_4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UNIT_DIAGRAM_SCHEMECOLOR_ID" val="3"/>
</p:tagLst>
</file>

<file path=ppt/tags/tag69.xml><?xml version="1.0" encoding="utf-8"?>
<p:tagLst xmlns:p="http://schemas.openxmlformats.org/presentationml/2006/main">
  <p:tag name="KSO_WM_UNIT_SUBTYPE" val="a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160108_4*m_h_f*1_4_1"/>
  <p:tag name="KSO_WM_TEMPLATE_CATEGORY" val="diagram"/>
  <p:tag name="KSO_WM_TEMPLATE_INDEX" val="160108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UNIT_DIAGRAM_SCHEMECOLOR_ID" val="3"/>
</p:tagLst>
</file>

<file path=ppt/tags/tag70.xml><?xml version="1.0" encoding="utf-8"?>
<p:tagLst xmlns:p="http://schemas.openxmlformats.org/presentationml/2006/main">
  <p:tag name="KSO_WM_SLIDE_ITEM_CNT" val="5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MH" val="20170803175132"/>
  <p:tag name="MH_LIBRARY" val="GRAPHIC"/>
  <p:tag name="MH_TYPE" val="SubTitle"/>
  <p:tag name="MH_ORDER" val="1"/>
</p:tagLst>
</file>

<file path=ppt/tags/tag73.xml><?xml version="1.0" encoding="utf-8"?>
<p:tagLst xmlns:p="http://schemas.openxmlformats.org/presentationml/2006/main">
  <p:tag name="MH" val="20170803175132"/>
  <p:tag name="MH_LIBRARY" val="GRAPHIC"/>
  <p:tag name="MH_TYPE" val="Other"/>
  <p:tag name="MH_ORDER" val="1"/>
</p:tagLst>
</file>

<file path=ppt/tags/tag74.xml><?xml version="1.0" encoding="utf-8"?>
<p:tagLst xmlns:p="http://schemas.openxmlformats.org/presentationml/2006/main">
  <p:tag name="MH" val="20170803175132"/>
  <p:tag name="MH_LIBRARY" val="GRAPHIC"/>
  <p:tag name="MH_TYPE" val="Other"/>
  <p:tag name="MH_ORDER" val="2"/>
</p:tagLst>
</file>

<file path=ppt/tags/tag75.xml><?xml version="1.0" encoding="utf-8"?>
<p:tagLst xmlns:p="http://schemas.openxmlformats.org/presentationml/2006/main">
  <p:tag name="MH" val="20170803175132"/>
  <p:tag name="MH_LIBRARY" val="GRAPHIC"/>
  <p:tag name="MH_TYPE" val="Other"/>
  <p:tag name="MH_ORDER" val="3"/>
</p:tagLst>
</file>

<file path=ppt/tags/tag76.xml><?xml version="1.0" encoding="utf-8"?>
<p:tagLst xmlns:p="http://schemas.openxmlformats.org/presentationml/2006/main">
  <p:tag name="MH" val="20170803175132"/>
  <p:tag name="MH_LIBRARY" val="GRAPHIC"/>
  <p:tag name="MH_TYPE" val="Other"/>
  <p:tag name="MH_ORDER" val="4"/>
</p:tagLst>
</file>

<file path=ppt/tags/tag77.xml><?xml version="1.0" encoding="utf-8"?>
<p:tagLst xmlns:p="http://schemas.openxmlformats.org/presentationml/2006/main">
  <p:tag name="MH" val="20170803175132"/>
  <p:tag name="MH_LIBRARY" val="GRAPHIC"/>
  <p:tag name="MH_TYPE" val="Other"/>
  <p:tag name="MH_ORDER" val="5"/>
</p:tagLst>
</file>

<file path=ppt/tags/tag78.xml><?xml version="1.0" encoding="utf-8"?>
<p:tagLst xmlns:p="http://schemas.openxmlformats.org/presentationml/2006/main">
  <p:tag name="MH" val="20170803175132"/>
  <p:tag name="MH_LIBRARY" val="GRAPHIC"/>
  <p:tag name="MH_TYPE" val="Other"/>
  <p:tag name="MH_ORDER" val="6"/>
</p:tagLst>
</file>

<file path=ppt/tags/tag79.xml><?xml version="1.0" encoding="utf-8"?>
<p:tagLst xmlns:p="http://schemas.openxmlformats.org/presentationml/2006/main">
  <p:tag name="MH" val="20170803175132"/>
  <p:tag name="MH_LIBRARY" val="GRAPHIC"/>
  <p:tag name="MH_TYPE" val="Other"/>
  <p:tag name="MH_ORDER" val="7"/>
</p:tagLst>
</file>

<file path=ppt/tags/tag80.xml><?xml version="1.0" encoding="utf-8"?>
<p:tagLst xmlns:p="http://schemas.openxmlformats.org/presentationml/2006/main">
  <p:tag name="MH" val="20170803175132"/>
  <p:tag name="MH_LIBRARY" val="GRAPHIC"/>
  <p:tag name="MH_TYPE" val="Other"/>
  <p:tag name="MH_ORDER" val="8"/>
</p:tagLst>
</file>

<file path=ppt/tags/tag81.xml><?xml version="1.0" encoding="utf-8"?>
<p:tagLst xmlns:p="http://schemas.openxmlformats.org/presentationml/2006/main">
  <p:tag name="MH" val="20170803175132"/>
  <p:tag name="MH_LIBRARY" val="GRAPHIC"/>
  <p:tag name="MH_TYPE" val="Other"/>
  <p:tag name="MH_ORDER" val="9"/>
</p:tagLst>
</file>

<file path=ppt/tags/tag82.xml><?xml version="1.0" encoding="utf-8"?>
<p:tagLst xmlns:p="http://schemas.openxmlformats.org/presentationml/2006/main">
  <p:tag name="MH" val="20170803175132"/>
  <p:tag name="MH_LIBRARY" val="GRAPHIC"/>
  <p:tag name="MH_TYPE" val="Other"/>
  <p:tag name="MH_ORDER" val="10"/>
</p:tagLst>
</file>

<file path=ppt/tags/tag83.xml><?xml version="1.0" encoding="utf-8"?>
<p:tagLst xmlns:p="http://schemas.openxmlformats.org/presentationml/2006/main">
  <p:tag name="MH" val="20170803175132"/>
  <p:tag name="MH_LIBRARY" val="GRAPHIC"/>
  <p:tag name="MH_TYPE" val="Other"/>
  <p:tag name="MH_ORDER" val="11"/>
</p:tagLst>
</file>

<file path=ppt/tags/tag84.xml><?xml version="1.0" encoding="utf-8"?>
<p:tagLst xmlns:p="http://schemas.openxmlformats.org/presentationml/2006/main">
  <p:tag name="MH" val="20170803175132"/>
  <p:tag name="MH_LIBRARY" val="GRAPHIC"/>
  <p:tag name="MH_TYPE" val="Other"/>
  <p:tag name="MH_ORDER" val="12"/>
</p:tagLst>
</file>

<file path=ppt/tags/tag85.xml><?xml version="1.0" encoding="utf-8"?>
<p:tagLst xmlns:p="http://schemas.openxmlformats.org/presentationml/2006/main">
  <p:tag name="MH" val="20170803175132"/>
  <p:tag name="MH_LIBRARY" val="GRAPHIC"/>
  <p:tag name="MH_TYPE" val="Other"/>
  <p:tag name="MH_ORDER" val="13"/>
</p:tagLst>
</file>

<file path=ppt/tags/tag86.xml><?xml version="1.0" encoding="utf-8"?>
<p:tagLst xmlns:p="http://schemas.openxmlformats.org/presentationml/2006/main">
  <p:tag name="MH" val="20170803175132"/>
  <p:tag name="MH_LIBRARY" val="GRAPHIC"/>
  <p:tag name="MH_TYPE" val="Other"/>
  <p:tag name="MH_ORDER" val="14"/>
</p:tagLst>
</file>

<file path=ppt/tags/tag87.xml><?xml version="1.0" encoding="utf-8"?>
<p:tagLst xmlns:p="http://schemas.openxmlformats.org/presentationml/2006/main">
  <p:tag name="MH" val="20170803175132"/>
  <p:tag name="MH_LIBRARY" val="GRAPHIC"/>
  <p:tag name="MH_TYPE" val="Other"/>
  <p:tag name="MH_ORDER" val="15"/>
</p:tagLst>
</file>

<file path=ppt/tags/tag88.xml><?xml version="1.0" encoding="utf-8"?>
<p:tagLst xmlns:p="http://schemas.openxmlformats.org/presentationml/2006/main">
  <p:tag name="MH" val="20170803175132"/>
  <p:tag name="MH_LIBRARY" val="GRAPHIC"/>
  <p:tag name="MH_TYPE" val="Other"/>
  <p:tag name="MH_ORDER" val="16"/>
</p:tagLst>
</file>

<file path=ppt/tags/tag89.xml><?xml version="1.0" encoding="utf-8"?>
<p:tagLst xmlns:p="http://schemas.openxmlformats.org/presentationml/2006/main">
  <p:tag name="MH" val="20170803175132"/>
  <p:tag name="MH_LIBRARY" val="GRAPHIC"/>
  <p:tag name="MH_TYPE" val="Title"/>
  <p:tag name="MH_ORDER" val="1"/>
</p:tagLst>
</file>

<file path=ppt/tags/tag90.xml><?xml version="1.0" encoding="utf-8"?>
<p:tagLst xmlns:p="http://schemas.openxmlformats.org/presentationml/2006/main">
  <p:tag name="MH" val="20170803175132"/>
  <p:tag name="MH_LIBRARY" val="GRAPHIC"/>
  <p:tag name="MH_TYPE" val="SubTitle"/>
  <p:tag name="MH_ORDER" val="5"/>
</p:tagLst>
</file>

<file path=ppt/tags/tag91.xml><?xml version="1.0" encoding="utf-8"?>
<p:tagLst xmlns:p="http://schemas.openxmlformats.org/presentationml/2006/main">
  <p:tag name="MH" val="20170803175132"/>
  <p:tag name="MH_LIBRARY" val="GRAPHIC"/>
  <p:tag name="MH_TYPE" val="SubTitle"/>
  <p:tag name="MH_ORDER" val="2"/>
</p:tagLst>
</file>

<file path=ppt/tags/tag92.xml><?xml version="1.0" encoding="utf-8"?>
<p:tagLst xmlns:p="http://schemas.openxmlformats.org/presentationml/2006/main">
  <p:tag name="MH" val="20170803175132"/>
  <p:tag name="MH_LIBRARY" val="GRAPHIC"/>
  <p:tag name="MH_TYPE" val="SubTitle"/>
  <p:tag name="MH_ORDER" val="3"/>
</p:tagLst>
</file>

<file path=ppt/tags/tag93.xml><?xml version="1.0" encoding="utf-8"?>
<p:tagLst xmlns:p="http://schemas.openxmlformats.org/presentationml/2006/main">
  <p:tag name="MH" val="20170803175132"/>
  <p:tag name="MH_LIBRARY" val="GRAPHIC"/>
  <p:tag name="MH_TYPE" val="SubTitle"/>
  <p:tag name="MH_ORDER" val="4"/>
</p:tagLst>
</file>

<file path=ppt/tags/tag94.xml><?xml version="1.0" encoding="utf-8"?>
<p:tagLst xmlns:p="http://schemas.openxmlformats.org/presentationml/2006/main">
  <p:tag name="MH" val="20170803175132"/>
  <p:tag name="MH_LIBRARY" val="GRAPHIC"/>
  <p:tag name="MH_TYPE" val="SubTitle"/>
  <p:tag name="MH_ORDER" val="8"/>
</p:tagLst>
</file>

<file path=ppt/tags/tag95.xml><?xml version="1.0" encoding="utf-8"?>
<p:tagLst xmlns:p="http://schemas.openxmlformats.org/presentationml/2006/main">
  <p:tag name="MH" val="20170803175132"/>
  <p:tag name="MH_LIBRARY" val="GRAPHIC"/>
  <p:tag name="MH_TYPE" val="SubTitle"/>
  <p:tag name="MH_ORDER" val="7"/>
</p:tagLst>
</file>

<file path=ppt/tags/tag96.xml><?xml version="1.0" encoding="utf-8"?>
<p:tagLst xmlns:p="http://schemas.openxmlformats.org/presentationml/2006/main">
  <p:tag name="MH" val="20170803175132"/>
  <p:tag name="MH_LIBRARY" val="GRAPHIC"/>
  <p:tag name="MH_TYPE" val="SubTitle"/>
  <p:tag name="MH_ORDER" val="6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MH" val="20170803220138"/>
  <p:tag name="MH_LIBRARY" val="GRAPHIC"/>
  <p:tag name="MH_TYPE" val="Other"/>
  <p:tag name="MH_ORDER" val="1"/>
</p:tagLst>
</file>

<file path=ppt/tags/tag103.xml><?xml version="1.0" encoding="utf-8"?>
<p:tagLst xmlns:p="http://schemas.openxmlformats.org/presentationml/2006/main">
  <p:tag name="MH" val="20170803220138"/>
  <p:tag name="MH_LIBRARY" val="GRAPHIC"/>
  <p:tag name="MH_TYPE" val="Other"/>
  <p:tag name="MH_ORDER" val="2"/>
</p:tagLst>
</file>

<file path=ppt/tags/tag104.xml><?xml version="1.0" encoding="utf-8"?>
<p:tagLst xmlns:p="http://schemas.openxmlformats.org/presentationml/2006/main">
  <p:tag name="MH" val="20170803220138"/>
  <p:tag name="MH_LIBRARY" val="GRAPHIC"/>
  <p:tag name="MH_TYPE" val="Other"/>
  <p:tag name="MH_ORDER" val="3"/>
</p:tagLst>
</file>

<file path=ppt/tags/tag105.xml><?xml version="1.0" encoding="utf-8"?>
<p:tagLst xmlns:p="http://schemas.openxmlformats.org/presentationml/2006/main">
  <p:tag name="MH" val="20170803220138"/>
  <p:tag name="MH_LIBRARY" val="GRAPHIC"/>
  <p:tag name="MH_TYPE" val="Other"/>
  <p:tag name="MH_ORDER" val="4"/>
</p:tagLst>
</file>

<file path=ppt/tags/tag106.xml><?xml version="1.0" encoding="utf-8"?>
<p:tagLst xmlns:p="http://schemas.openxmlformats.org/presentationml/2006/main">
  <p:tag name="MH" val="20170803220138"/>
  <p:tag name="MH_LIBRARY" val="GRAPHIC"/>
  <p:tag name="MH_TYPE" val="Text"/>
  <p:tag name="MH_ORDER" val="1"/>
</p:tagLst>
</file>

<file path=ppt/tags/tag107.xml><?xml version="1.0" encoding="utf-8"?>
<p:tagLst xmlns:p="http://schemas.openxmlformats.org/presentationml/2006/main">
  <p:tag name="MH" val="20170803220138"/>
  <p:tag name="MH_LIBRARY" val="GRAPHIC"/>
  <p:tag name="MH_TYPE" val="Text"/>
  <p:tag name="MH_ORDER" val="2"/>
</p:tagLst>
</file>

<file path=ppt/tags/tag108.xml><?xml version="1.0" encoding="utf-8"?>
<p:tagLst xmlns:p="http://schemas.openxmlformats.org/presentationml/2006/main">
  <p:tag name="MH" val="20170803220138"/>
  <p:tag name="MH_LIBRARY" val="GRAPHIC"/>
  <p:tag name="MH_TYPE" val="SubTitle"/>
  <p:tag name="MH_ORDER" val="1"/>
</p:tagLst>
</file>

<file path=ppt/tags/tag109.xml><?xml version="1.0" encoding="utf-8"?>
<p:tagLst xmlns:p="http://schemas.openxmlformats.org/presentationml/2006/main">
  <p:tag name="MH" val="20170803220138"/>
  <p:tag name="MH_LIBRARY" val="GRAPHIC"/>
  <p:tag name="MH_TYPE" val="SubTitle"/>
  <p:tag name="MH_ORDER" val="2"/>
</p:tagLst>
</file>

<file path=ppt/tags/tag110.xml><?xml version="1.0" encoding="utf-8"?>
<p:tagLst xmlns:p="http://schemas.openxmlformats.org/presentationml/2006/main">
  <p:tag name="MH" val="20170804005627"/>
  <p:tag name="MH_LIBRARY" val="GRAPHIC"/>
  <p:tag name="MH_TYPE" val="Other"/>
  <p:tag name="MH_ORDER" val="1"/>
</p:tagLst>
</file>

<file path=ppt/tags/tag111.xml><?xml version="1.0" encoding="utf-8"?>
<p:tagLst xmlns:p="http://schemas.openxmlformats.org/presentationml/2006/main">
  <p:tag name="MH" val="20170804005627"/>
  <p:tag name="MH_LIBRARY" val="GRAPHIC"/>
  <p:tag name="MH_TYPE" val="Other"/>
  <p:tag name="MH_ORDER" val="2"/>
</p:tagLst>
</file>

<file path=ppt/tags/tag112.xml><?xml version="1.0" encoding="utf-8"?>
<p:tagLst xmlns:p="http://schemas.openxmlformats.org/presentationml/2006/main">
  <p:tag name="MH" val="20170804005627"/>
  <p:tag name="MH_LIBRARY" val="GRAPHIC"/>
  <p:tag name="MH_TYPE" val="Other"/>
  <p:tag name="MH_ORDER" val="3"/>
</p:tagLst>
</file>

<file path=ppt/tags/tag113.xml><?xml version="1.0" encoding="utf-8"?>
<p:tagLst xmlns:p="http://schemas.openxmlformats.org/presentationml/2006/main">
  <p:tag name="MH" val="20170804005627"/>
  <p:tag name="MH_LIBRARY" val="GRAPHIC"/>
  <p:tag name="MH_TYPE" val="Other"/>
  <p:tag name="MH_ORDER" val="4"/>
</p:tagLst>
</file>

<file path=ppt/tags/tag114.xml><?xml version="1.0" encoding="utf-8"?>
<p:tagLst xmlns:p="http://schemas.openxmlformats.org/presentationml/2006/main">
  <p:tag name="MH" val="20170804005627"/>
  <p:tag name="MH_LIBRARY" val="GRAPHIC"/>
  <p:tag name="MH_TYPE" val="Other"/>
  <p:tag name="MH_ORDER" val="5"/>
</p:tagLst>
</file>

<file path=ppt/tags/tag115.xml><?xml version="1.0" encoding="utf-8"?>
<p:tagLst xmlns:p="http://schemas.openxmlformats.org/presentationml/2006/main">
  <p:tag name="MH" val="20170804005627"/>
  <p:tag name="MH_LIBRARY" val="GRAPHIC"/>
  <p:tag name="MH_TYPE" val="Other"/>
  <p:tag name="MH_ORDER" val="6"/>
</p:tagLst>
</file>

<file path=ppt/tags/tag116.xml><?xml version="1.0" encoding="utf-8"?>
<p:tagLst xmlns:p="http://schemas.openxmlformats.org/presentationml/2006/main">
  <p:tag name="MH" val="20170804005627"/>
  <p:tag name="MH_LIBRARY" val="GRAPHIC"/>
  <p:tag name="MH_TYPE" val="SubTitle"/>
  <p:tag name="MH_ORDER" val="1"/>
</p:tagLst>
</file>

<file path=ppt/tags/tag117.xml><?xml version="1.0" encoding="utf-8"?>
<p:tagLst xmlns:p="http://schemas.openxmlformats.org/presentationml/2006/main">
  <p:tag name="MH" val="20170804005627"/>
  <p:tag name="MH_LIBRARY" val="GRAPHIC"/>
  <p:tag name="MH_TYPE" val="SubTitle"/>
  <p:tag name="MH_ORDER" val="2"/>
</p:tagLst>
</file>

<file path=ppt/tags/tag118.xml><?xml version="1.0" encoding="utf-8"?>
<p:tagLst xmlns:p="http://schemas.openxmlformats.org/presentationml/2006/main">
  <p:tag name="MH" val="20170804005627"/>
  <p:tag name="MH_LIBRARY" val="GRAPHIC"/>
  <p:tag name="MH_TYPE" val="SubTitle"/>
  <p:tag name="MH_ORDER" val="3"/>
</p:tagLst>
</file>

<file path=ppt/tags/tag119.xml><?xml version="1.0" encoding="utf-8"?>
<p:tagLst xmlns:p="http://schemas.openxmlformats.org/presentationml/2006/main">
  <p:tag name="MH" val="20170804005627"/>
  <p:tag name="MH_LIBRARY" val="GRAPHIC"/>
  <p:tag name="MH_TYPE" val="Other"/>
  <p:tag name="MH_ORDER" val="7"/>
</p:tagLst>
</file>

<file path=ppt/tags/tag120.xml><?xml version="1.0" encoding="utf-8"?>
<p:tagLst xmlns:p="http://schemas.openxmlformats.org/presentationml/2006/main">
  <p:tag name="MH" val="20170804005627"/>
  <p:tag name="MH_LIBRARY" val="GRAPHIC"/>
  <p:tag name="MH_TYPE" val="Other"/>
  <p:tag name="MH_ORDER" val="8"/>
</p:tagLst>
</file>

<file path=ppt/tags/tag121.xml><?xml version="1.0" encoding="utf-8"?>
<p:tagLst xmlns:p="http://schemas.openxmlformats.org/presentationml/2006/main">
  <p:tag name="MH" val="20170804005627"/>
  <p:tag name="MH_LIBRARY" val="GRAPHIC"/>
  <p:tag name="MH_TYPE" val="Other"/>
  <p:tag name="MH_ORDER" val="9"/>
</p:tagLst>
</file>

<file path=ppt/tags/tag122.xml><?xml version="1.0" encoding="utf-8"?>
<p:tagLst xmlns:p="http://schemas.openxmlformats.org/presentationml/2006/main">
  <p:tag name="MH" val="20170804005627"/>
  <p:tag name="MH_LIBRARY" val="GRAPHIC"/>
  <p:tag name="MH_TYPE" val="Other"/>
  <p:tag name="MH_ORDER" val="10"/>
</p:tagLst>
</file>

<file path=ppt/tags/tag123.xml><?xml version="1.0" encoding="utf-8"?>
<p:tagLst xmlns:p="http://schemas.openxmlformats.org/presentationml/2006/main">
  <p:tag name="MH" val="20170804005627"/>
  <p:tag name="MH_LIBRARY" val="GRAPHIC"/>
  <p:tag name="MH_TYPE" val="Other"/>
  <p:tag name="MH_ORDER" val="11"/>
</p:tagLst>
</file>

<file path=ppt/tags/tag124.xml><?xml version="1.0" encoding="utf-8"?>
<p:tagLst xmlns:p="http://schemas.openxmlformats.org/presentationml/2006/main">
  <p:tag name="MH" val="20170804005627"/>
  <p:tag name="MH_LIBRARY" val="GRAPHIC"/>
  <p:tag name="MH_TYPE" val="Other"/>
  <p:tag name="MH_ORDER" val="12"/>
</p:tagLst>
</file>

<file path=ppt/tags/tag125.xml><?xml version="1.0" encoding="utf-8"?>
<p:tagLst xmlns:p="http://schemas.openxmlformats.org/presentationml/2006/main">
  <p:tag name="MH" val="20170804005627"/>
  <p:tag name="MH_LIBRARY" val="GRAPHIC"/>
  <p:tag name="MH_TYPE" val="SubTitle"/>
  <p:tag name="MH_ORDER" val="4"/>
</p:tagLst>
</file>

<file path=ppt/tags/tag126.xml><?xml version="1.0" encoding="utf-8"?>
<p:tagLst xmlns:p="http://schemas.openxmlformats.org/presentationml/2006/main">
  <p:tag name="MH" val="20170804005627"/>
  <p:tag name="MH_LIBRARY" val="GRAPHIC"/>
  <p:tag name="MH_TYPE" val="Other"/>
  <p:tag name="MH_ORDER" val="13"/>
</p:tagLst>
</file>

<file path=ppt/tags/tag127.xml><?xml version="1.0" encoding="utf-8"?>
<p:tagLst xmlns:p="http://schemas.openxmlformats.org/presentationml/2006/main">
  <p:tag name="MH" val="20170804005627"/>
  <p:tag name="MH_LIBRARY" val="GRAPHIC"/>
  <p:tag name="MH_TYPE" val="Other"/>
  <p:tag name="MH_ORDER" val="14"/>
</p:tagLst>
</file>

<file path=ppt/tags/tag128.xml><?xml version="1.0" encoding="utf-8"?>
<p:tagLst xmlns:p="http://schemas.openxmlformats.org/presentationml/2006/main">
  <p:tag name="MH" val="20170804005627"/>
  <p:tag name="MH_LIBRARY" val="GRAPHIC"/>
  <p:tag name="MH_TYPE" val="Other"/>
  <p:tag name="MH_ORDER" val="15"/>
</p:tagLst>
</file>

<file path=ppt/tags/tag129.xml><?xml version="1.0" encoding="utf-8"?>
<p:tagLst xmlns:p="http://schemas.openxmlformats.org/presentationml/2006/main">
  <p:tag name="MH" val="20170804005627"/>
  <p:tag name="MH_LIBRARY" val="GRAPHIC"/>
  <p:tag name="MH_TYPE" val="Other"/>
  <p:tag name="MH_ORDER" val="16"/>
</p:tagLst>
</file>

<file path=ppt/tags/tag130.xml><?xml version="1.0" encoding="utf-8"?>
<p:tagLst xmlns:p="http://schemas.openxmlformats.org/presentationml/2006/main">
  <p:tag name="MH" val="20170804005627"/>
  <p:tag name="MH_LIBRARY" val="GRAPHIC"/>
  <p:tag name="MH_TYPE" val="SubTitle"/>
  <p:tag name="MH_ORDER" val="5"/>
</p:tagLst>
</file>

<file path=ppt/tags/tag131.xml><?xml version="1.0" encoding="utf-8"?>
<p:tagLst xmlns:p="http://schemas.openxmlformats.org/presentationml/2006/main">
  <p:tag name="MH" val="20170804005627"/>
  <p:tag name="MH_LIBRARY" val="GRAPHIC"/>
  <p:tag name="MH_TYPE" val="Other"/>
  <p:tag name="MH_ORDER" val="17"/>
</p:tagLst>
</file>

<file path=ppt/tags/tag132.xml><?xml version="1.0" encoding="utf-8"?>
<p:tagLst xmlns:p="http://schemas.openxmlformats.org/presentationml/2006/main">
  <p:tag name="MH" val="20170804005627"/>
  <p:tag name="MH_LIBRARY" val="GRAPHIC"/>
  <p:tag name="MH_TYPE" val="Other"/>
  <p:tag name="MH_ORDER" val="18"/>
</p:tagLst>
</file>

<file path=ppt/tags/tag133.xml><?xml version="1.0" encoding="utf-8"?>
<p:tagLst xmlns:p="http://schemas.openxmlformats.org/presentationml/2006/main">
  <p:tag name="MH" val="20170804005627"/>
  <p:tag name="MH_LIBRARY" val="GRAPHIC"/>
  <p:tag name="MH_TYPE" val="Other"/>
  <p:tag name="MH_ORDER" val="19"/>
</p:tagLst>
</file>

<file path=ppt/tags/tag134.xml><?xml version="1.0" encoding="utf-8"?>
<p:tagLst xmlns:p="http://schemas.openxmlformats.org/presentationml/2006/main">
  <p:tag name="MH" val="20170804005627"/>
  <p:tag name="MH_LIBRARY" val="GRAPHIC"/>
  <p:tag name="MH_TYPE" val="Other"/>
  <p:tag name="MH_ORDER" val="20"/>
</p:tagLst>
</file>

<file path=ppt/tags/tag135.xml><?xml version="1.0" encoding="utf-8"?>
<p:tagLst xmlns:p="http://schemas.openxmlformats.org/presentationml/2006/main">
  <p:tag name="MH" val="20170804005627"/>
  <p:tag name="MH_LIBRARY" val="GRAPHIC"/>
  <p:tag name="MH_TYPE" val="Other"/>
  <p:tag name="MH_ORDER" val="21"/>
</p:tagLst>
</file>

<file path=ppt/tags/tag136.xml><?xml version="1.0" encoding="utf-8"?>
<p:tagLst xmlns:p="http://schemas.openxmlformats.org/presentationml/2006/main">
  <p:tag name="MH" val="20170804005627"/>
  <p:tag name="MH_LIBRARY" val="GRAPHIC"/>
  <p:tag name="MH_TYPE" val="Other"/>
  <p:tag name="MH_ORDER" val="22"/>
</p:tagLst>
</file>

<file path=ppt/tags/tag137.xml><?xml version="1.0" encoding="utf-8"?>
<p:tagLst xmlns:p="http://schemas.openxmlformats.org/presentationml/2006/main">
  <p:tag name="MH" val="20170804005627"/>
  <p:tag name="MH_LIBRARY" val="GRAPHIC"/>
  <p:tag name="MH_TYPE" val="SubTitle"/>
  <p:tag name="MH_ORDER" val="6"/>
</p:tagLst>
</file>

<file path=ppt/tags/tag138.xml><?xml version="1.0" encoding="utf-8"?>
<p:tagLst xmlns:p="http://schemas.openxmlformats.org/presentationml/2006/main">
  <p:tag name="MH" val="20170804005627"/>
  <p:tag name="MH_LIBRARY" val="GRAPHIC"/>
  <p:tag name="MH_TYPE" val="Other"/>
  <p:tag name="MH_ORDER" val="23"/>
</p:tagLst>
</file>

<file path=ppt/tags/tag139.xml><?xml version="1.0" encoding="utf-8"?>
<p:tagLst xmlns:p="http://schemas.openxmlformats.org/presentationml/2006/main">
  <p:tag name="MH" val="20170804005627"/>
  <p:tag name="MH_LIBRARY" val="GRAPHIC"/>
  <p:tag name="MH_TYPE" val="Other"/>
  <p:tag name="MH_ORDER" val="24"/>
</p:tagLst>
</file>

<file path=ppt/tags/tag140.xml><?xml version="1.0" encoding="utf-8"?>
<p:tagLst xmlns:p="http://schemas.openxmlformats.org/presentationml/2006/main">
  <p:tag name="MH" val="20170804005627"/>
  <p:tag name="MH_LIBRARY" val="GRAPHIC"/>
  <p:tag name="MH_TYPE" val="Other"/>
  <p:tag name="MH_ORDER" val="25"/>
</p:tagLst>
</file>

<file path=ppt/tags/tag141.xml><?xml version="1.0" encoding="utf-8"?>
<p:tagLst xmlns:p="http://schemas.openxmlformats.org/presentationml/2006/main">
  <p:tag name="MH" val="20170804005627"/>
  <p:tag name="MH_LIBRARY" val="GRAPHIC"/>
  <p:tag name="MH_TYPE" val="Other"/>
  <p:tag name="MH_ORDER" val="26"/>
</p:tagLst>
</file>

<file path=ppt/tags/tag142.xml><?xml version="1.0" encoding="utf-8"?>
<p:tagLst xmlns:p="http://schemas.openxmlformats.org/presentationml/2006/main">
  <p:tag name="MH" val="20170804005627"/>
  <p:tag name="MH_LIBRARY" val="GRAPHIC"/>
  <p:tag name="MH_TYPE" val="Other"/>
  <p:tag name="MH_ORDER" val="27"/>
</p:tagLst>
</file>

<file path=ppt/tags/tag143.xml><?xml version="1.0" encoding="utf-8"?>
<p:tagLst xmlns:p="http://schemas.openxmlformats.org/presentationml/2006/main">
  <p:tag name="MH" val="20170804005627"/>
  <p:tag name="MH_LIBRARY" val="GRAPHIC"/>
  <p:tag name="MH_TYPE" val="Other"/>
  <p:tag name="MH_ORDER" val="28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PP_MARK_KEY" val="06e9bb6b-4b73-46d8-a310-5d4bb7e549df"/>
  <p:tag name="COMMONDATA" val="eyJoZGlkIjoiODY5YmNiYTY4NjQ3Zjc2MmM5YTEwNTg4NWRkNjhjOTc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8813</Words>
  <Application>WPS 文字</Application>
  <PresentationFormat/>
  <Paragraphs>609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68" baseType="lpstr">
      <vt:lpstr>Arial</vt:lpstr>
      <vt:lpstr>宋体</vt:lpstr>
      <vt:lpstr>Wingdings</vt:lpstr>
      <vt:lpstr>Calibri</vt:lpstr>
      <vt:lpstr>微软雅黑</vt:lpstr>
      <vt:lpstr>汉仪旗黑</vt:lpstr>
      <vt:lpstr>汉仪书宋二KW</vt:lpstr>
      <vt:lpstr>隶书</vt:lpstr>
      <vt:lpstr>报隶-简</vt:lpstr>
      <vt:lpstr>Times New Roman</vt:lpstr>
      <vt:lpstr>楷体</vt:lpstr>
      <vt:lpstr>Cambria Math</vt:lpstr>
      <vt:lpstr>汉仪综艺体简</vt:lpstr>
      <vt:lpstr>汉仪楷体KW</vt:lpstr>
      <vt:lpstr>宋体</vt:lpstr>
      <vt:lpstr>Arial Unicode MS</vt:lpstr>
      <vt:lpstr>Helvetica Neue</vt:lpstr>
      <vt:lpstr>Wingdings</vt:lpstr>
      <vt:lpstr>华文楷体</vt:lpstr>
      <vt:lpstr>Kingsoft Math</vt:lpstr>
      <vt:lpstr>Calibri</vt:lpstr>
      <vt:lpstr>苹方-简</vt:lpstr>
      <vt:lpstr>幼圆</vt:lpstr>
      <vt:lpstr>黑体</vt:lpstr>
      <vt:lpstr>Agency FB</vt:lpstr>
      <vt:lpstr>华文宋体</vt:lpstr>
      <vt:lpstr>汉仪中黑KW</vt:lpstr>
      <vt:lpstr>Office theme</vt:lpstr>
      <vt:lpstr>PowerPoint 演示文稿</vt:lpstr>
      <vt:lpstr>PowerPoint 演示文稿</vt:lpstr>
      <vt:lpstr>1.1.1计算机语言</vt:lpstr>
      <vt:lpstr>1.1 C语言概述</vt:lpstr>
      <vt:lpstr>1.1.2计算机语言</vt:lpstr>
      <vt:lpstr>1.1 C语言概述</vt:lpstr>
      <vt:lpstr>1.1 C语言概述</vt:lpstr>
      <vt:lpstr>1.1 C语言概述</vt:lpstr>
      <vt:lpstr>1.1 C语言概述</vt:lpstr>
      <vt:lpstr>1.1 C语言概述</vt:lpstr>
      <vt:lpstr>1.2 开发环境搭建</vt:lpstr>
      <vt:lpstr>1.2 开发环境搭建</vt:lpstr>
      <vt:lpstr>1.2 开发环境搭建</vt:lpstr>
      <vt:lpstr>1.2 开发环境搭建</vt:lpstr>
      <vt:lpstr>1.2 开发环境搭建</vt:lpstr>
      <vt:lpstr>1.2 开发环境搭建</vt:lpstr>
      <vt:lpstr>1.2 开发环境搭建</vt:lpstr>
      <vt:lpstr>1.3 编写程序</vt:lpstr>
      <vt:lpstr>1.3 编写程序</vt:lpstr>
      <vt:lpstr>1.3 编写程序</vt:lpstr>
      <vt:lpstr>1.3 编写程序</vt:lpstr>
      <vt:lpstr>1.3 编写程序</vt:lpstr>
      <vt:lpstr>1.3 编写程序</vt:lpstr>
      <vt:lpstr>1.3 编写程序</vt:lpstr>
      <vt:lpstr>1.3 编写程序</vt:lpstr>
      <vt:lpstr>1.3 编写程序</vt:lpstr>
      <vt:lpstr>1.3 编写程序</vt:lpstr>
      <vt:lpstr>最简单的C语言程序</vt:lpstr>
      <vt:lpstr>最简单的C语言程序</vt:lpstr>
      <vt:lpstr>注释</vt:lpstr>
      <vt:lpstr>注释</vt:lpstr>
      <vt:lpstr>最简单的C语言程序</vt:lpstr>
      <vt:lpstr>最简单的C语言程序</vt:lpstr>
      <vt:lpstr>最简单的C语言程序</vt:lpstr>
      <vt:lpstr>最简单的C语言程序</vt:lpstr>
      <vt:lpstr>最简单的C语言程序</vt:lpstr>
      <vt:lpstr>C语言程序的结构</vt:lpstr>
      <vt:lpstr>运行C程序的步骤与方法</vt:lpstr>
      <vt:lpstr>程序设计的任务</vt:lpstr>
      <vt:lpstr>程序设计的任务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朱静雯</cp:lastModifiedBy>
  <cp:revision>1096</cp:revision>
  <dcterms:created xsi:type="dcterms:W3CDTF">2024-08-21T13:38:51Z</dcterms:created>
  <dcterms:modified xsi:type="dcterms:W3CDTF">2024-08-21T13:38:51Z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2023-08-25T23:21:40Z</vt:filetime>
  </property>
  <property fmtid="{D5CDD505-2E9C-101B-9397-08002B2CF9AE}" pid="4" name="ICV">
    <vt:lpwstr>8EBAA2FB7AD54031BE2C7C81E8946690_12</vt:lpwstr>
  </property>
  <property fmtid="{D5CDD505-2E9C-101B-9397-08002B2CF9AE}" pid="5" name="KSOProductBuildVer">
    <vt:lpwstr>2052-6.8.2.8850</vt:lpwstr>
  </property>
</Properties>
</file>