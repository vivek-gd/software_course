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76" r:id="rId3"/>
    <p:sldId id="649" r:id="rId5"/>
    <p:sldId id="600" r:id="rId6"/>
    <p:sldId id="601" r:id="rId7"/>
    <p:sldId id="602" r:id="rId8"/>
    <p:sldId id="603" r:id="rId9"/>
    <p:sldId id="604" r:id="rId10"/>
    <p:sldId id="605" r:id="rId11"/>
    <p:sldId id="606" r:id="rId12"/>
    <p:sldId id="607" r:id="rId13"/>
    <p:sldId id="608" r:id="rId14"/>
    <p:sldId id="742" r:id="rId15"/>
    <p:sldId id="609" r:id="rId16"/>
    <p:sldId id="743" r:id="rId17"/>
    <p:sldId id="744" r:id="rId18"/>
    <p:sldId id="745" r:id="rId19"/>
    <p:sldId id="702" r:id="rId20"/>
    <p:sldId id="610" r:id="rId21"/>
    <p:sldId id="611" r:id="rId22"/>
    <p:sldId id="612" r:id="rId23"/>
    <p:sldId id="613" r:id="rId24"/>
    <p:sldId id="614" r:id="rId25"/>
    <p:sldId id="787" r:id="rId26"/>
    <p:sldId id="788" r:id="rId27"/>
    <p:sldId id="617" r:id="rId28"/>
    <p:sldId id="618" r:id="rId29"/>
    <p:sldId id="619" r:id="rId30"/>
    <p:sldId id="620" r:id="rId31"/>
    <p:sldId id="621" r:id="rId32"/>
    <p:sldId id="622" r:id="rId33"/>
    <p:sldId id="623" r:id="rId34"/>
    <p:sldId id="624" r:id="rId35"/>
    <p:sldId id="625" r:id="rId36"/>
    <p:sldId id="626" r:id="rId37"/>
    <p:sldId id="627" r:id="rId38"/>
    <p:sldId id="628" r:id="rId39"/>
    <p:sldId id="629" r:id="rId40"/>
    <p:sldId id="630" r:id="rId41"/>
    <p:sldId id="631" r:id="rId42"/>
    <p:sldId id="632" r:id="rId43"/>
    <p:sldId id="633" r:id="rId44"/>
    <p:sldId id="789" r:id="rId45"/>
    <p:sldId id="635" r:id="rId46"/>
    <p:sldId id="636" r:id="rId47"/>
    <p:sldId id="637" r:id="rId48"/>
    <p:sldId id="638" r:id="rId49"/>
    <p:sldId id="640" r:id="rId50"/>
    <p:sldId id="641" r:id="rId51"/>
    <p:sldId id="642" r:id="rId52"/>
    <p:sldId id="643" r:id="rId53"/>
    <p:sldId id="644" r:id="rId54"/>
    <p:sldId id="645" r:id="rId55"/>
    <p:sldId id="646" r:id="rId56"/>
    <p:sldId id="647" r:id="rId57"/>
    <p:sldId id="648" r:id="rId58"/>
  </p:sldIdLst>
  <p:sldSz cx="9144000" cy="5143500"/>
  <p:notesSz cx="6858000" cy="9144000"/>
  <p:custDataLst>
    <p:tags r:id="rId6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hengdan li" initials="zl" lastIdx="1" clrIdx="0"/>
  <p:cmAuthor id="2" name="lizhengdan" initials="l" lastIdx="1"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7823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3" Type="http://schemas.openxmlformats.org/officeDocument/2006/relationships/tags" Target="tags/tag69.xml"/><Relationship Id="rId62" Type="http://schemas.openxmlformats.org/officeDocument/2006/relationships/commentAuthors" Target="commentAuthors.xml"/><Relationship Id="rId61" Type="http://schemas.openxmlformats.org/officeDocument/2006/relationships/tableStyles" Target="tableStyles.xml"/><Relationship Id="rId60" Type="http://schemas.openxmlformats.org/officeDocument/2006/relationships/viewProps" Target="viewProps.xml"/><Relationship Id="rId6" Type="http://schemas.openxmlformats.org/officeDocument/2006/relationships/slide" Target="slides/slide3.xml"/><Relationship Id="rId59" Type="http://schemas.openxmlformats.org/officeDocument/2006/relationships/presProps" Target="presProps.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8DEE91-9E5B-4C90-98E0-D34F93C6BF12}"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844"/>
            <a:ext cx="7886700" cy="994172"/>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69219"/>
            <a:ext cx="7886700" cy="3263504"/>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28650" y="4767263"/>
            <a:ext cx="2057400" cy="273844"/>
          </a:xfrm>
          <a:prstGeom prst="rect">
            <a:avLst/>
          </a:prstGeom>
        </p:spPr>
        <p:txBody>
          <a:bodyPr/>
          <a:lstStyle/>
          <a:p>
            <a:fld id="{1C3BB909-BA8B-4CC5-AF4F-417D76428D47}" type="datetimeFigureOut">
              <a:rPr lang="zh-CN" altLang="en-US" smtClean="0"/>
            </a:fld>
            <a:endParaRPr lang="zh-CN" altLang="en-US"/>
          </a:p>
        </p:txBody>
      </p:sp>
      <p:sp>
        <p:nvSpPr>
          <p:cNvPr id="5" name="页脚占位符 4"/>
          <p:cNvSpPr>
            <a:spLocks noGrp="1"/>
          </p:cNvSpPr>
          <p:nvPr>
            <p:ph type="ftr" sz="quarter" idx="11"/>
          </p:nvPr>
        </p:nvSpPr>
        <p:spPr>
          <a:xfrm>
            <a:off x="3028950" y="4767263"/>
            <a:ext cx="30861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457950" y="4767263"/>
            <a:ext cx="2057400" cy="273844"/>
          </a:xfrm>
          <a:prstGeom prst="rect">
            <a:avLst/>
          </a:prstGeom>
        </p:spPr>
        <p:txBody>
          <a:bodyPr/>
          <a:lstStyle>
            <a:lvl1pPr algn="r">
              <a:defRPr sz="1200"/>
            </a:lvl1pPr>
          </a:lstStyle>
          <a:p>
            <a:fld id="{1A1A799A-9E7D-41E1-9473-F8C111ED8211}" type="slidenum">
              <a:rPr lang="zh-CN" altLang="en-US" smtClean="0"/>
            </a:fld>
            <a:endParaRPr lang="zh-CN" alt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2" name="日期占位符 1"/>
          <p:cNvSpPr>
            <a:spLocks noGrp="1"/>
          </p:cNvSpPr>
          <p:nvPr>
            <p:ph type="dt" sz="half" idx="10"/>
          </p:nvPr>
        </p:nvSpPr>
        <p:spPr>
          <a:xfrm>
            <a:off x="628650" y="4767263"/>
            <a:ext cx="2057400" cy="273844"/>
          </a:xfrm>
        </p:spPr>
        <p:txBody>
          <a:bodyPr/>
          <a:p>
            <a:pPr marL="0" marR="0" lvl="0" indent="0" algn="l" defTabSz="914400" rtl="0" eaLnBrk="1" fontAlgn="auto" latinLnBrk="0" hangingPunct="1">
              <a:lnSpc>
                <a:spcPct val="100000"/>
              </a:lnSpc>
              <a:spcBef>
                <a:spcPts val="0"/>
              </a:spcBef>
              <a:spcAft>
                <a:spcPts val="0"/>
              </a:spcAft>
              <a:buClrTx/>
              <a:buSzTx/>
              <a:buFontTx/>
              <a:buNone/>
              <a:defRPr/>
            </a:pPr>
            <a:fld id="{6CE1F9FB-DACA-49B5-8A56-3AE278C745E0}"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lstStyle>
            <a:lvl1pPr algn="r">
              <a:defRPr sz="1200"/>
            </a:lvl1pPr>
          </a:lstStyle>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iming>
    <p:tnLst>
      <p:par>
        <p:cTn id="1" dur="indefinite" restart="never" nodeType="tmRoot"/>
      </p:par>
    </p:tnLst>
  </p:timing>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小结">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2" name="日期占位符 1"/>
          <p:cNvSpPr>
            <a:spLocks noGrp="1"/>
          </p:cNvSpPr>
          <p:nvPr>
            <p:ph type="dt" sz="half" idx="10"/>
          </p:nvPr>
        </p:nvSpPr>
        <p:spPr>
          <a:xfrm>
            <a:off x="628650" y="4767263"/>
            <a:ext cx="2057400" cy="273844"/>
          </a:xfrm>
        </p:spPr>
        <p:txBody>
          <a:bodyPr/>
          <a:p>
            <a:pPr marL="0" marR="0" lvl="0" indent="0" algn="l" defTabSz="914400" rtl="0" eaLnBrk="1" fontAlgn="auto" latinLnBrk="0" hangingPunct="1">
              <a:lnSpc>
                <a:spcPct val="100000"/>
              </a:lnSpc>
              <a:spcBef>
                <a:spcPts val="0"/>
              </a:spcBef>
              <a:spcAft>
                <a:spcPts val="0"/>
              </a:spcAft>
              <a:buClrTx/>
              <a:buSzTx/>
              <a:buFontTx/>
              <a:buNone/>
              <a:defRPr/>
            </a:pPr>
            <a:fld id="{6CE1F9FB-DACA-49B5-8A56-3AE278C745E0}"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lstStyle>
            <a:lvl1pPr algn="r">
              <a:defRPr sz="1200"/>
            </a:lvl1pPr>
          </a:lstStyle>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iming>
    <p:tnLst>
      <p:par>
        <p:cTn id="1" dur="indefinite" restart="never" nodeType="tmRoot"/>
      </p:par>
    </p:tnLst>
  </p:timing>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3_标题幻灯片">
    <p:bg>
      <p:bgPr>
        <a:solidFill>
          <a:schemeClr val="bg1"/>
        </a:solidFill>
        <a:effectLst/>
      </p:bgPr>
    </p:bg>
    <p:spTree>
      <p:nvGrpSpPr>
        <p:cNvPr id="1" name=""/>
        <p:cNvGrpSpPr/>
        <p:nvPr/>
      </p:nvGrpSpPr>
      <p:grpSpPr>
        <a:xfrm>
          <a:off x="0" y="0"/>
          <a:ext cx="0" cy="0"/>
          <a:chOff x="0" y="0"/>
          <a:chExt cx="0" cy="0"/>
        </a:xfrm>
      </p:grpSpPr>
      <p:pic>
        <p:nvPicPr>
          <p:cNvPr id="30724" name="图片 8"/>
          <p:cNvPicPr>
            <a:picLocks noChangeAspect="1"/>
          </p:cNvPicPr>
          <p:nvPr userDrawn="1"/>
        </p:nvPicPr>
        <p:blipFill>
          <a:blip r:embed="rId2"/>
          <a:stretch>
            <a:fillRect/>
          </a:stretch>
        </p:blipFill>
        <p:spPr>
          <a:xfrm>
            <a:off x="-1587" y="0"/>
            <a:ext cx="9145587" cy="5143500"/>
          </a:xfrm>
          <a:prstGeom prst="rect">
            <a:avLst/>
          </a:prstGeom>
          <a:noFill/>
          <a:ln w="9525">
            <a:noFill/>
          </a:ln>
        </p:spPr>
      </p:pic>
      <p:sp>
        <p:nvSpPr>
          <p:cNvPr id="2" name="日期占位符 1"/>
          <p:cNvSpPr>
            <a:spLocks noGrp="1"/>
          </p:cNvSpPr>
          <p:nvPr>
            <p:ph type="dt" sz="half" idx="10"/>
          </p:nvPr>
        </p:nvSpPr>
        <p:spPr>
          <a:xfrm>
            <a:off x="628650" y="4767263"/>
            <a:ext cx="2057400" cy="273844"/>
          </a:xfrm>
        </p:spPr>
        <p:txBody>
          <a:bodyPr/>
          <a:p>
            <a:pPr marL="0" marR="0" lvl="0" indent="0" algn="l" defTabSz="914400" rtl="0" eaLnBrk="1" fontAlgn="auto" latinLnBrk="0" hangingPunct="1">
              <a:lnSpc>
                <a:spcPct val="100000"/>
              </a:lnSpc>
              <a:spcBef>
                <a:spcPts val="0"/>
              </a:spcBef>
              <a:spcAft>
                <a:spcPts val="0"/>
              </a:spcAft>
              <a:buClrTx/>
              <a:buSzTx/>
              <a:buFontTx/>
              <a:buNone/>
              <a:defRPr/>
            </a:pPr>
            <a:fld id="{54A6649B-253A-46CC-9C65-97B6E8AC2909}"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3" name="页脚占位符 2"/>
          <p:cNvSpPr>
            <a:spLocks noGrp="1"/>
          </p:cNvSpPr>
          <p:nvPr>
            <p:ph type="ftr" sz="quarter" idx="11"/>
          </p:nvPr>
        </p:nvSpPr>
        <p:spPr>
          <a:xfrm>
            <a:off x="3028950" y="4767263"/>
            <a:ext cx="3086100" cy="273844"/>
          </a:xfrm>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灯片编号占位符 3"/>
          <p:cNvSpPr>
            <a:spLocks noGrp="1"/>
          </p:cNvSpPr>
          <p:nvPr>
            <p:ph type="sldNum" sz="quarter" idx="12"/>
          </p:nvPr>
        </p:nvSpPr>
        <p:spPr>
          <a:xfrm>
            <a:off x="6457950" y="4767263"/>
            <a:ext cx="2057400" cy="273844"/>
          </a:xfrm>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iming>
    <p:tnLst>
      <p:par>
        <p:cTn id="1" dur="indefinite" restart="never" nodeType="tmRoot"/>
      </p:par>
    </p:tnLst>
  </p:timing>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8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2" name="日期占位符 1"/>
          <p:cNvSpPr>
            <a:spLocks noGrp="1"/>
          </p:cNvSpPr>
          <p:nvPr>
            <p:ph type="dt" sz="half" idx="10"/>
          </p:nvPr>
        </p:nvSpPr>
        <p:spPr>
          <a:xfrm>
            <a:off x="628650" y="4767263"/>
            <a:ext cx="2057400" cy="273844"/>
          </a:xfrm>
        </p:spPr>
        <p:txBody>
          <a:bodyPr/>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iming>
    <p:tnLst>
      <p:par>
        <p:cTn id="1" dur="indefinite" restart="never" nodeType="tmRoot"/>
      </p:par>
    </p:tnLst>
  </p:timing>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9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2" name="日期占位符 1"/>
          <p:cNvSpPr>
            <a:spLocks noGrp="1"/>
          </p:cNvSpPr>
          <p:nvPr>
            <p:ph type="dt" sz="half" idx="10"/>
          </p:nvPr>
        </p:nvSpPr>
        <p:spPr>
          <a:xfrm>
            <a:off x="628650" y="4767263"/>
            <a:ext cx="2057400" cy="273844"/>
          </a:xfrm>
        </p:spPr>
        <p:txBody>
          <a:bodyPr/>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iming>
    <p:tnLst>
      <p:par>
        <p:cTn id="1" dur="indefinite" restart="never" nodeType="tmRoot"/>
      </p:par>
    </p:tnLst>
  </p:timing>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0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2" name="日期占位符 1"/>
          <p:cNvSpPr>
            <a:spLocks noGrp="1"/>
          </p:cNvSpPr>
          <p:nvPr>
            <p:ph type="dt" sz="half" idx="10"/>
          </p:nvPr>
        </p:nvSpPr>
        <p:spPr>
          <a:xfrm>
            <a:off x="628650" y="4767263"/>
            <a:ext cx="2057400" cy="273844"/>
          </a:xfrm>
        </p:spPr>
        <p:txBody>
          <a:bodyPr/>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iming>
    <p:tnLst>
      <p:par>
        <p:cTn id="1" dur="indefinite" restart="never" nodeType="tmRoot"/>
      </p:par>
    </p:tnLst>
  </p:timing>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31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2" name="日期占位符 1"/>
          <p:cNvSpPr>
            <a:spLocks noGrp="1"/>
          </p:cNvSpPr>
          <p:nvPr>
            <p:ph type="dt" sz="half" idx="10"/>
          </p:nvPr>
        </p:nvSpPr>
        <p:spPr>
          <a:xfrm>
            <a:off x="628650" y="4767263"/>
            <a:ext cx="2057400" cy="273844"/>
          </a:xfrm>
        </p:spPr>
        <p:txBody>
          <a:bodyPr/>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iming>
    <p:tnLst>
      <p:par>
        <p:cTn id="1" dur="indefinite" restart="never" nodeType="tmRoot"/>
      </p:par>
    </p:tnLst>
  </p:timing>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32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2" name="日期占位符 1"/>
          <p:cNvSpPr>
            <a:spLocks noGrp="1"/>
          </p:cNvSpPr>
          <p:nvPr>
            <p:ph type="dt" sz="half" idx="10"/>
          </p:nvPr>
        </p:nvSpPr>
        <p:spPr>
          <a:xfrm>
            <a:off x="628650" y="4767263"/>
            <a:ext cx="2057400" cy="273844"/>
          </a:xfrm>
        </p:spPr>
        <p:txBody>
          <a:bodyPr/>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iming>
    <p:tnLst>
      <p:par>
        <p:cTn id="1" dur="indefinite" restart="never" nodeType="tmRoot"/>
      </p:par>
    </p:tnLst>
  </p:timing>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33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2" name="日期占位符 1"/>
          <p:cNvSpPr>
            <a:spLocks noGrp="1"/>
          </p:cNvSpPr>
          <p:nvPr>
            <p:ph type="dt" sz="half" idx="10"/>
          </p:nvPr>
        </p:nvSpPr>
        <p:spPr>
          <a:xfrm>
            <a:off x="628650" y="4767263"/>
            <a:ext cx="2057400" cy="273844"/>
          </a:xfrm>
        </p:spPr>
        <p:txBody>
          <a:bodyPr/>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iming>
    <p:tnLst>
      <p:par>
        <p:cTn id="1" dur="indefinite" restart="never" nodeType="tmRoot"/>
      </p:par>
    </p:tnLst>
  </p:timing>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4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2" name="日期占位符 1"/>
          <p:cNvSpPr>
            <a:spLocks noGrp="1"/>
          </p:cNvSpPr>
          <p:nvPr>
            <p:ph type="dt" sz="half" idx="10"/>
          </p:nvPr>
        </p:nvSpPr>
        <p:spPr>
          <a:xfrm>
            <a:off x="628650" y="4767263"/>
            <a:ext cx="2057400" cy="273844"/>
          </a:xfrm>
        </p:spPr>
        <p:txBody>
          <a:bodyPr/>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iming>
    <p:tnLst>
      <p:par>
        <p:cTn id="1" dur="indefinite" restart="never" nodeType="tmRoot"/>
      </p:par>
    </p:tnLst>
  </p:timing>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5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2" name="日期占位符 1"/>
          <p:cNvSpPr>
            <a:spLocks noGrp="1"/>
          </p:cNvSpPr>
          <p:nvPr>
            <p:ph type="dt" sz="half" idx="10"/>
          </p:nvPr>
        </p:nvSpPr>
        <p:spPr>
          <a:xfrm>
            <a:off x="628650" y="4767263"/>
            <a:ext cx="2057400" cy="273844"/>
          </a:xfrm>
        </p:spPr>
        <p:txBody>
          <a:bodyPr/>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iming>
    <p:tnLst>
      <p:par>
        <p:cTn id="1" dur="indefinite" restart="never" nodeType="tmRoot"/>
      </p:par>
    </p:tnLst>
  </p:timing>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6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2" name="日期占位符 1"/>
          <p:cNvSpPr>
            <a:spLocks noGrp="1"/>
          </p:cNvSpPr>
          <p:nvPr>
            <p:ph type="dt" sz="half" idx="10"/>
          </p:nvPr>
        </p:nvSpPr>
        <p:spPr>
          <a:xfrm>
            <a:off x="628650" y="4767263"/>
            <a:ext cx="2057400" cy="273844"/>
          </a:xfrm>
        </p:spPr>
        <p:txBody>
          <a:bodyPr/>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iming>
    <p:tnLst>
      <p:par>
        <p:cTn id="1" dur="indefinite" restart="never" nodeType="tmRoot"/>
      </p:par>
    </p:tnLst>
  </p:timing>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7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2" name="日期占位符 1"/>
          <p:cNvSpPr>
            <a:spLocks noGrp="1"/>
          </p:cNvSpPr>
          <p:nvPr>
            <p:ph type="dt" sz="half" idx="10"/>
          </p:nvPr>
        </p:nvSpPr>
        <p:spPr>
          <a:xfrm>
            <a:off x="628650" y="4767263"/>
            <a:ext cx="2057400" cy="273844"/>
          </a:xfrm>
        </p:spPr>
        <p:txBody>
          <a:bodyPr/>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iming>
    <p:tnLst>
      <p:par>
        <p:cTn id="1" dur="indefinite" restart="never" nodeType="tmRoot"/>
      </p:par>
    </p:tnLst>
  </p:timing>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8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2" name="日期占位符 1"/>
          <p:cNvSpPr>
            <a:spLocks noGrp="1"/>
          </p:cNvSpPr>
          <p:nvPr>
            <p:ph type="dt" sz="half" idx="10"/>
          </p:nvPr>
        </p:nvSpPr>
        <p:spPr>
          <a:xfrm>
            <a:off x="628650" y="4767263"/>
            <a:ext cx="2057400" cy="273844"/>
          </a:xfrm>
        </p:spPr>
        <p:txBody>
          <a:bodyPr/>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iming>
    <p:tnLst>
      <p:par>
        <p:cTn id="1" dur="indefinite" restart="never" nodeType="tmRoot"/>
      </p:par>
    </p:tnLst>
  </p:timing>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9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2" name="日期占位符 1"/>
          <p:cNvSpPr>
            <a:spLocks noGrp="1"/>
          </p:cNvSpPr>
          <p:nvPr>
            <p:ph type="dt" sz="half" idx="10"/>
          </p:nvPr>
        </p:nvSpPr>
        <p:spPr>
          <a:xfrm>
            <a:off x="628650" y="4767263"/>
            <a:ext cx="2057400" cy="273844"/>
          </a:xfrm>
        </p:spPr>
        <p:txBody>
          <a:bodyPr/>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iming>
    <p:tnLst>
      <p:par>
        <p:cTn id="1" dur="indefinite" restart="never" nodeType="tmRoot"/>
      </p:par>
    </p:tnLst>
  </p:timing>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40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2" name="日期占位符 1"/>
          <p:cNvSpPr>
            <a:spLocks noGrp="1"/>
          </p:cNvSpPr>
          <p:nvPr>
            <p:ph type="dt" sz="half" idx="10"/>
          </p:nvPr>
        </p:nvSpPr>
        <p:spPr>
          <a:xfrm>
            <a:off x="628650" y="4767263"/>
            <a:ext cx="2057400" cy="273844"/>
          </a:xfrm>
        </p:spPr>
        <p:txBody>
          <a:bodyPr/>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iming>
    <p:tnLst>
      <p:par>
        <p:cTn id="1" dur="indefinite" restart="never" nodeType="tmRoot"/>
      </p:par>
    </p:tnLst>
  </p:timing>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41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2" name="日期占位符 1"/>
          <p:cNvSpPr>
            <a:spLocks noGrp="1"/>
          </p:cNvSpPr>
          <p:nvPr>
            <p:ph type="dt" sz="half" idx="10"/>
          </p:nvPr>
        </p:nvSpPr>
        <p:spPr>
          <a:xfrm>
            <a:off x="628650" y="4767263"/>
            <a:ext cx="2057400" cy="273844"/>
          </a:xfrm>
        </p:spPr>
        <p:txBody>
          <a:bodyPr/>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iming>
    <p:tnLst>
      <p:par>
        <p:cTn id="1" dur="indefinite" restart="never" nodeType="tmRoot"/>
      </p:par>
    </p:tnLst>
  </p:timing>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42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2" name="日期占位符 1"/>
          <p:cNvSpPr>
            <a:spLocks noGrp="1"/>
          </p:cNvSpPr>
          <p:nvPr>
            <p:ph type="dt" sz="half" idx="10"/>
          </p:nvPr>
        </p:nvSpPr>
        <p:spPr>
          <a:xfrm>
            <a:off x="628650" y="4767263"/>
            <a:ext cx="2057400" cy="273844"/>
          </a:xfrm>
        </p:spPr>
        <p:txBody>
          <a:bodyPr/>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iming>
    <p:tnLst>
      <p:par>
        <p:cTn id="1" dur="indefinite" restart="never" nodeType="tmRoot"/>
      </p:par>
    </p:tnLst>
  </p:timing>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43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2" name="日期占位符 1"/>
          <p:cNvSpPr>
            <a:spLocks noGrp="1"/>
          </p:cNvSpPr>
          <p:nvPr>
            <p:ph type="dt" sz="half" idx="10"/>
          </p:nvPr>
        </p:nvSpPr>
        <p:spPr>
          <a:xfrm>
            <a:off x="628650" y="4767263"/>
            <a:ext cx="2057400" cy="273844"/>
          </a:xfrm>
        </p:spPr>
        <p:txBody>
          <a:bodyPr/>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iming>
    <p:tnLst>
      <p:par>
        <p:cTn id="1" dur="indefinite" restart="never" nodeType="tmRoot"/>
      </p:par>
    </p:tnLst>
  </p:timing>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44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2" name="日期占位符 1"/>
          <p:cNvSpPr>
            <a:spLocks noGrp="1"/>
          </p:cNvSpPr>
          <p:nvPr>
            <p:ph type="dt" sz="half" idx="10"/>
          </p:nvPr>
        </p:nvSpPr>
        <p:spPr>
          <a:xfrm>
            <a:off x="628650" y="4767263"/>
            <a:ext cx="2057400" cy="273844"/>
          </a:xfrm>
        </p:spPr>
        <p:txBody>
          <a:bodyPr/>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iming>
    <p:tnLst>
      <p:par>
        <p:cTn id="1" dur="indefinite" restart="never" nodeType="tmRoot"/>
      </p:par>
    </p:tnLst>
  </p:timing>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45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2" name="日期占位符 1"/>
          <p:cNvSpPr>
            <a:spLocks noGrp="1"/>
          </p:cNvSpPr>
          <p:nvPr>
            <p:ph type="dt" sz="half" idx="10"/>
          </p:nvPr>
        </p:nvSpPr>
        <p:spPr>
          <a:xfrm>
            <a:off x="628650" y="4767263"/>
            <a:ext cx="2057400" cy="273844"/>
          </a:xfrm>
        </p:spPr>
        <p:txBody>
          <a:bodyPr/>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iming>
    <p:tnLst>
      <p:par>
        <p:cTn id="1" dur="indefinite" restart="never" nodeType="tmRoot"/>
      </p:par>
    </p:tnLst>
  </p:timing>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46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2" name="日期占位符 1"/>
          <p:cNvSpPr>
            <a:spLocks noGrp="1"/>
          </p:cNvSpPr>
          <p:nvPr>
            <p:ph type="dt" sz="half" idx="10"/>
          </p:nvPr>
        </p:nvSpPr>
        <p:spPr>
          <a:xfrm>
            <a:off x="628650" y="4767263"/>
            <a:ext cx="2057400" cy="273844"/>
          </a:xfrm>
        </p:spPr>
        <p:txBody>
          <a:bodyPr/>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iming>
    <p:tnLst>
      <p:par>
        <p:cTn id="1" dur="indefinite" restart="never" nodeType="tmRoot"/>
      </p:par>
    </p:tnLst>
  </p:timing>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47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2" name="日期占位符 1"/>
          <p:cNvSpPr>
            <a:spLocks noGrp="1"/>
          </p:cNvSpPr>
          <p:nvPr>
            <p:ph type="dt" sz="half" idx="10"/>
          </p:nvPr>
        </p:nvSpPr>
        <p:spPr>
          <a:xfrm>
            <a:off x="628650" y="4767263"/>
            <a:ext cx="2057400" cy="273844"/>
          </a:xfrm>
        </p:spPr>
        <p:txBody>
          <a:bodyPr/>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iming>
    <p:tnLst>
      <p:par>
        <p:cTn id="1" dur="indefinite" restart="never" nodeType="tmRoot"/>
      </p:par>
    </p:tnLst>
  </p:timing>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48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2" name="日期占位符 1"/>
          <p:cNvSpPr>
            <a:spLocks noGrp="1"/>
          </p:cNvSpPr>
          <p:nvPr>
            <p:ph type="dt" sz="half" idx="10"/>
          </p:nvPr>
        </p:nvSpPr>
        <p:spPr>
          <a:xfrm>
            <a:off x="628650" y="4767263"/>
            <a:ext cx="2057400" cy="273844"/>
          </a:xfrm>
        </p:spPr>
        <p:txBody>
          <a:bodyPr/>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iming>
    <p:tnLst>
      <p:par>
        <p:cTn id="1" dur="indefinite" restart="never" nodeType="tmRoot"/>
      </p:par>
    </p:tnLst>
  </p:timing>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49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2" name="日期占位符 1"/>
          <p:cNvSpPr>
            <a:spLocks noGrp="1"/>
          </p:cNvSpPr>
          <p:nvPr>
            <p:ph type="dt" sz="half" idx="10"/>
          </p:nvPr>
        </p:nvSpPr>
        <p:spPr>
          <a:xfrm>
            <a:off x="628650" y="4767263"/>
            <a:ext cx="2057400" cy="273844"/>
          </a:xfrm>
        </p:spPr>
        <p:txBody>
          <a:bodyPr/>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iming>
    <p:tnLst>
      <p:par>
        <p:cTn id="1" dur="indefinite" restart="never" nodeType="tmRoot"/>
      </p:par>
    </p:tnLst>
  </p:timing>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50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2" name="日期占位符 1"/>
          <p:cNvSpPr>
            <a:spLocks noGrp="1"/>
          </p:cNvSpPr>
          <p:nvPr>
            <p:ph type="dt" sz="half" idx="10"/>
          </p:nvPr>
        </p:nvSpPr>
        <p:spPr>
          <a:xfrm>
            <a:off x="628650" y="4767263"/>
            <a:ext cx="2057400" cy="273844"/>
          </a:xfrm>
        </p:spPr>
        <p:txBody>
          <a:bodyPr/>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iming>
    <p:tnLst>
      <p:par>
        <p:cTn id="1" dur="indefinite" restart="never" nodeType="tmRoot"/>
      </p:par>
    </p:tnLst>
  </p:timing>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51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2" name="日期占位符 1"/>
          <p:cNvSpPr>
            <a:spLocks noGrp="1"/>
          </p:cNvSpPr>
          <p:nvPr>
            <p:ph type="dt" sz="half" idx="10"/>
          </p:nvPr>
        </p:nvSpPr>
        <p:spPr>
          <a:xfrm>
            <a:off x="628650" y="4767263"/>
            <a:ext cx="2057400" cy="273844"/>
          </a:xfrm>
        </p:spPr>
        <p:txBody>
          <a:bodyPr/>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iming>
    <p:tnLst>
      <p:par>
        <p:cTn id="1" dur="indefinite" restart="never" nodeType="tmRoot"/>
      </p:par>
    </p:tnLst>
  </p:timing>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52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2" name="日期占位符 1"/>
          <p:cNvSpPr>
            <a:spLocks noGrp="1"/>
          </p:cNvSpPr>
          <p:nvPr>
            <p:ph type="dt" sz="half" idx="10"/>
          </p:nvPr>
        </p:nvSpPr>
        <p:spPr>
          <a:xfrm>
            <a:off x="628650" y="4767263"/>
            <a:ext cx="2057400" cy="273844"/>
          </a:xfrm>
        </p:spPr>
        <p:txBody>
          <a:bodyPr/>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iming>
    <p:tnLst>
      <p:par>
        <p:cTn id="1" dur="indefinite" restart="never" nodeType="tmRoot"/>
      </p:par>
    </p:tnLst>
  </p:timing>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53_正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07950" y="85725"/>
            <a:ext cx="7766050" cy="542925"/>
          </a:xfrm>
          <a:prstGeom prst="rect">
            <a:avLst/>
          </a:prstGeom>
        </p:spPr>
        <p:txBody>
          <a:bodyPr/>
          <a:lstStyle>
            <a:lvl1pPr algn="l">
              <a:defRPr sz="2700" b="1" spc="300">
                <a:solidFill>
                  <a:srgbClr val="FFFF00"/>
                </a:solidFill>
                <a:latin typeface="微软雅黑" panose="020B0503020204020204" charset="-122"/>
                <a:ea typeface="微软雅黑" panose="020B0503020204020204"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a:xfrm>
            <a:off x="628650" y="4767263"/>
            <a:ext cx="2057400" cy="273844"/>
          </a:xfrm>
        </p:spPr>
        <p:txBody>
          <a:bodyPr/>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页脚占位符 4"/>
          <p:cNvSpPr>
            <a:spLocks noGrp="1"/>
          </p:cNvSpPr>
          <p:nvPr>
            <p:ph type="ftr" sz="quarter" idx="11"/>
          </p:nvPr>
        </p:nvSpPr>
        <p:spPr>
          <a:xfrm>
            <a:off x="3028950" y="4767263"/>
            <a:ext cx="3086100" cy="273844"/>
          </a:xfrm>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6" name="灯片编号占位符 5"/>
          <p:cNvSpPr>
            <a:spLocks noGrp="1"/>
          </p:cNvSpPr>
          <p:nvPr>
            <p:ph type="sldNum" sz="quarter" idx="12"/>
          </p:nvPr>
        </p:nvSpPr>
        <p:spPr>
          <a:xfrm>
            <a:off x="6457950" y="4767263"/>
            <a:ext cx="2057400" cy="273844"/>
          </a:xfrm>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iming>
    <p:tnLst>
      <p:par>
        <p:cTn id="1" dur="indefinite" restart="never" nodeType="tmRoot"/>
      </p:par>
    </p:tnLst>
  </p:timing>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54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2" name="日期占位符 1"/>
          <p:cNvSpPr>
            <a:spLocks noGrp="1"/>
          </p:cNvSpPr>
          <p:nvPr>
            <p:ph type="dt" sz="half" idx="10"/>
          </p:nvPr>
        </p:nvSpPr>
        <p:spPr>
          <a:xfrm>
            <a:off x="628650" y="4767263"/>
            <a:ext cx="2057400" cy="273844"/>
          </a:xfrm>
        </p:spPr>
        <p:txBody>
          <a:bodyPr/>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iming>
    <p:tnLst>
      <p:par>
        <p:cTn id="1" dur="indefinite" restart="never" nodeType="tmRoot"/>
      </p:par>
    </p:tnLst>
  </p:timing>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55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2" name="日期占位符 1"/>
          <p:cNvSpPr>
            <a:spLocks noGrp="1"/>
          </p:cNvSpPr>
          <p:nvPr>
            <p:ph type="dt" sz="half" idx="10"/>
          </p:nvPr>
        </p:nvSpPr>
        <p:spPr>
          <a:xfrm>
            <a:off x="628650" y="4767263"/>
            <a:ext cx="2057400" cy="273844"/>
          </a:xfrm>
        </p:spPr>
        <p:txBody>
          <a:bodyPr/>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iming>
    <p:tnLst>
      <p:par>
        <p:cTn id="1" dur="indefinite" restart="never" nodeType="tmRoot"/>
      </p:par>
    </p:tnLst>
  </p:timing>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目录">
    <p:bg>
      <p:bgPr>
        <a:solidFill>
          <a:schemeClr val="bg1"/>
        </a:solidFill>
        <a:effectLst/>
      </p:bgPr>
    </p:bg>
    <p:spTree>
      <p:nvGrpSpPr>
        <p:cNvPr id="1" name=""/>
        <p:cNvGrpSpPr/>
        <p:nvPr/>
      </p:nvGrpSpPr>
      <p:grpSpPr>
        <a:xfrm>
          <a:off x="0" y="0"/>
          <a:ext cx="0" cy="0"/>
          <a:chOff x="0" y="0"/>
          <a:chExt cx="0" cy="0"/>
        </a:xfrm>
      </p:grpSpPr>
      <p:sp>
        <p:nvSpPr>
          <p:cNvPr id="6" name="标题 1"/>
          <p:cNvSpPr>
            <a:spLocks noChangeArrowheads="1"/>
          </p:cNvSpPr>
          <p:nvPr/>
        </p:nvSpPr>
        <p:spPr bwMode="auto">
          <a:xfrm>
            <a:off x="174625" y="76200"/>
            <a:ext cx="5148263" cy="5738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2700" b="1" i="0" u="none" strike="noStrike" kern="1200" cap="none" spc="300" normalizeH="0" baseline="0" noProof="0" dirty="0" smtClean="0">
                <a:ln>
                  <a:noFill/>
                </a:ln>
                <a:solidFill>
                  <a:srgbClr val="FFFF00"/>
                </a:solidFill>
                <a:effectLst/>
                <a:uLnTx/>
                <a:uFillTx/>
                <a:latin typeface="微软雅黑" panose="020B0503020204020204" charset="-122"/>
                <a:ea typeface="微软雅黑" panose="020B0503020204020204" charset="-122"/>
                <a:cs typeface="+mn-cs"/>
                <a:sym typeface="Wingdings" panose="05000000000000000000" pitchFamily="2" charset="2"/>
              </a:rPr>
              <a:t> </a:t>
            </a:r>
            <a:r>
              <a:rPr kumimoji="0" lang="zh-CN" altLang="en-US" sz="2700" b="1" i="0" u="none" strike="noStrike" kern="1200" cap="none" spc="300" normalizeH="0" baseline="0" noProof="0" dirty="0" smtClean="0">
                <a:ln>
                  <a:noFill/>
                </a:ln>
                <a:solidFill>
                  <a:srgbClr val="FFFF00"/>
                </a:solidFill>
                <a:effectLst/>
                <a:uLnTx/>
                <a:uFillTx/>
                <a:latin typeface="微软雅黑" panose="020B0503020204020204" charset="-122"/>
                <a:ea typeface="微软雅黑" panose="020B0503020204020204" charset="-122"/>
                <a:cs typeface="+mn-cs"/>
                <a:sym typeface="Wingdings" panose="05000000000000000000" pitchFamily="2" charset="2"/>
              </a:rPr>
              <a:t>目录</a:t>
            </a:r>
            <a:endParaRPr kumimoji="0" lang="zh-CN" altLang="en-US" sz="2700" b="1" i="0" u="none" strike="noStrike" kern="1200" cap="none" spc="300" normalizeH="0" baseline="0" noProof="0" dirty="0" smtClean="0">
              <a:ln>
                <a:noFill/>
              </a:ln>
              <a:solidFill>
                <a:srgbClr val="FFFF00"/>
              </a:solidFill>
              <a:effectLst/>
              <a:uLnTx/>
              <a:uFillTx/>
              <a:latin typeface="微软雅黑" panose="020B0503020204020204" charset="-122"/>
              <a:ea typeface="微软雅黑" panose="020B0503020204020204" charset="-122"/>
              <a:cs typeface="+mn-cs"/>
              <a:sym typeface="宋体" pitchFamily="2" charset="-122"/>
            </a:endParaRPr>
          </a:p>
        </p:txBody>
      </p:sp>
      <p:sp>
        <p:nvSpPr>
          <p:cNvPr id="3" name="内容占位符 2"/>
          <p:cNvSpPr>
            <a:spLocks noGrp="1"/>
          </p:cNvSpPr>
          <p:nvPr>
            <p:ph idx="1"/>
          </p:nvPr>
        </p:nvSpPr>
        <p:spPr>
          <a:xfrm>
            <a:off x="457200" y="800100"/>
            <a:ext cx="8229600" cy="3794522"/>
          </a:xfrm>
          <a:prstGeom prst="rect">
            <a:avLst/>
          </a:prstGeo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timing>
    <p:tnLst>
      <p:par>
        <p:cTn id="1" dur="indefinite" restart="never" nodeType="tmRoot"/>
      </p:par>
    </p:tnLst>
  </p:timing>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1">
          <a:blip r:embed="rId2"/>
        </a:blipFill>
        <a:effectLst/>
      </p:bgPr>
    </p:bg>
    <p:spTree>
      <p:nvGrpSpPr>
        <p:cNvPr id="1" name=""/>
        <p:cNvGrpSpPr/>
        <p:nvPr/>
      </p:nvGrpSpPr>
      <p:grpSpPr>
        <a:xfrm>
          <a:off x="0" y="0"/>
          <a:ext cx="0" cy="0"/>
          <a:chOff x="0" y="0"/>
          <a:chExt cx="0" cy="0"/>
        </a:xfrm>
      </p:grpSpPr>
      <p:pic>
        <p:nvPicPr>
          <p:cNvPr id="2052" name="图片 5"/>
          <p:cNvPicPr>
            <a:picLocks noChangeAspect="1"/>
          </p:cNvPicPr>
          <p:nvPr userDrawn="1"/>
        </p:nvPicPr>
        <p:blipFill>
          <a:blip r:embed="rId3"/>
          <a:stretch>
            <a:fillRect/>
          </a:stretch>
        </p:blipFill>
        <p:spPr>
          <a:xfrm>
            <a:off x="0" y="0"/>
            <a:ext cx="9144000" cy="5143500"/>
          </a:xfrm>
          <a:prstGeom prst="rect">
            <a:avLst/>
          </a:prstGeom>
          <a:noFill/>
          <a:ln w="9525">
            <a:noFill/>
          </a:ln>
        </p:spPr>
      </p:pic>
      <p:grpSp>
        <p:nvGrpSpPr>
          <p:cNvPr id="2053" name="Group 5"/>
          <p:cNvGrpSpPr/>
          <p:nvPr userDrawn="1"/>
        </p:nvGrpSpPr>
        <p:grpSpPr>
          <a:xfrm>
            <a:off x="5286375" y="-4762"/>
            <a:ext cx="3863975" cy="481013"/>
            <a:chOff x="80" y="0"/>
            <a:chExt cx="6086" cy="1010"/>
          </a:xfrm>
        </p:grpSpPr>
        <p:pic>
          <p:nvPicPr>
            <p:cNvPr id="2055" name="Picture 6" descr="D:\幻灯片\图片\logo2.pnglogo2"/>
            <p:cNvPicPr>
              <a:picLocks noChangeAspect="1"/>
            </p:cNvPicPr>
            <p:nvPr/>
          </p:nvPicPr>
          <p:blipFill>
            <a:blip r:embed="rId4"/>
            <a:stretch>
              <a:fillRect/>
            </a:stretch>
          </p:blipFill>
          <p:spPr>
            <a:xfrm>
              <a:off x="5050" y="0"/>
              <a:ext cx="1116" cy="1010"/>
            </a:xfrm>
            <a:prstGeom prst="rect">
              <a:avLst/>
            </a:prstGeom>
            <a:noFill/>
            <a:ln w="9525">
              <a:noFill/>
            </a:ln>
          </p:spPr>
        </p:pic>
        <p:sp>
          <p:nvSpPr>
            <p:cNvPr id="9" name="矩形 15"/>
            <p:cNvSpPr>
              <a:spLocks noChangeArrowheads="1"/>
            </p:cNvSpPr>
            <p:nvPr/>
          </p:nvSpPr>
          <p:spPr bwMode="auto">
            <a:xfrm>
              <a:off x="80" y="415"/>
              <a:ext cx="5353" cy="5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r>
                <a:rPr kumimoji="0" lang="zh-CN" altLang="en-US" sz="1200" b="0" i="0" u="none" strike="noStrike" kern="1200" cap="none" spc="0" normalizeH="0" baseline="0" noProof="0" dirty="0" smtClean="0">
                  <a:ln>
                    <a:noFill/>
                  </a:ln>
                  <a:solidFill>
                    <a:srgbClr val="00ACE6"/>
                  </a:solidFill>
                  <a:effectLst/>
                  <a:uLnTx/>
                  <a:uFillTx/>
                  <a:latin typeface="微软雅黑" panose="020B0503020204020204" charset="-122"/>
                  <a:ea typeface="微软雅黑" panose="020B0503020204020204" charset="-122"/>
                  <a:cs typeface="+mn-cs"/>
                  <a:sym typeface="Calibri" panose="020F0502020204030204" pitchFamily="34" charset="0"/>
                </a:rPr>
                <a:t>让</a:t>
              </a:r>
              <a:r>
                <a:rPr kumimoji="0" lang="en-US" altLang="zh-CN" sz="1200" b="0" i="0" u="none" strike="noStrike" kern="1200" cap="none" spc="0" normalizeH="0" baseline="0" noProof="0" dirty="0" smtClean="0">
                  <a:ln>
                    <a:noFill/>
                  </a:ln>
                  <a:solidFill>
                    <a:srgbClr val="00ACE6"/>
                  </a:solidFill>
                  <a:effectLst/>
                  <a:uLnTx/>
                  <a:uFillTx/>
                  <a:latin typeface="微软雅黑" panose="020B0503020204020204" charset="-122"/>
                  <a:ea typeface="微软雅黑" panose="020B0503020204020204" charset="-122"/>
                  <a:cs typeface="+mn-cs"/>
                  <a:sym typeface="Calibri" panose="020F0502020204030204" pitchFamily="34" charset="0"/>
                </a:rPr>
                <a:t>IT</a:t>
              </a:r>
              <a:r>
                <a:rPr kumimoji="0" lang="zh-CN" altLang="en-US" sz="1200" b="0" i="0" u="none" strike="noStrike" kern="1200" cap="none" spc="0" normalizeH="0" baseline="0" noProof="0" dirty="0" smtClean="0">
                  <a:ln>
                    <a:noFill/>
                  </a:ln>
                  <a:solidFill>
                    <a:srgbClr val="00ACE6"/>
                  </a:solidFill>
                  <a:effectLst/>
                  <a:uLnTx/>
                  <a:uFillTx/>
                  <a:latin typeface="微软雅黑" panose="020B0503020204020204" charset="-122"/>
                  <a:ea typeface="微软雅黑" panose="020B0503020204020204" charset="-122"/>
                  <a:cs typeface="+mn-cs"/>
                  <a:sym typeface="Calibri" panose="020F0502020204030204" pitchFamily="34" charset="0"/>
                </a:rPr>
                <a:t>教学更简单，让</a:t>
              </a:r>
              <a:r>
                <a:rPr kumimoji="0" lang="en-US" altLang="zh-CN" sz="1200" b="0" i="0" u="none" strike="noStrike" kern="1200" cap="none" spc="0" normalizeH="0" baseline="0" noProof="0" dirty="0" smtClean="0">
                  <a:ln>
                    <a:noFill/>
                  </a:ln>
                  <a:solidFill>
                    <a:srgbClr val="00ACE6"/>
                  </a:solidFill>
                  <a:effectLst/>
                  <a:uLnTx/>
                  <a:uFillTx/>
                  <a:latin typeface="微软雅黑" panose="020B0503020204020204" charset="-122"/>
                  <a:ea typeface="微软雅黑" panose="020B0503020204020204" charset="-122"/>
                  <a:cs typeface="+mn-cs"/>
                  <a:sym typeface="Calibri" panose="020F0502020204030204" pitchFamily="34" charset="0"/>
                </a:rPr>
                <a:t>IT</a:t>
              </a:r>
              <a:r>
                <a:rPr kumimoji="0" lang="zh-CN" altLang="en-US" sz="1200" b="0" i="0" u="none" strike="noStrike" kern="1200" cap="none" spc="0" normalizeH="0" baseline="0" noProof="0" dirty="0" smtClean="0">
                  <a:ln>
                    <a:noFill/>
                  </a:ln>
                  <a:solidFill>
                    <a:srgbClr val="00ACE6"/>
                  </a:solidFill>
                  <a:effectLst/>
                  <a:uLnTx/>
                  <a:uFillTx/>
                  <a:latin typeface="微软雅黑" panose="020B0503020204020204" charset="-122"/>
                  <a:ea typeface="微软雅黑" panose="020B0503020204020204" charset="-122"/>
                  <a:cs typeface="+mn-cs"/>
                  <a:sym typeface="Calibri" panose="020F0502020204030204" pitchFamily="34" charset="0"/>
                </a:rPr>
                <a:t>学习更有效</a:t>
              </a:r>
              <a:endParaRPr kumimoji="0" lang="en-US" altLang="zh-CN" sz="1200" b="0" i="0" u="none" strike="noStrike" kern="1200" cap="none" spc="0" normalizeH="0" baseline="0" noProof="0" dirty="0" smtClean="0">
                <a:ln>
                  <a:noFill/>
                </a:ln>
                <a:solidFill>
                  <a:srgbClr val="00ACE6"/>
                </a:solidFill>
                <a:effectLst/>
                <a:uLnTx/>
                <a:uFillTx/>
                <a:latin typeface="微软雅黑" panose="020B0503020204020204" charset="-122"/>
                <a:ea typeface="微软雅黑" panose="020B0503020204020204" charset="-122"/>
                <a:cs typeface="+mn-cs"/>
                <a:sym typeface="Calibri" panose="020F0502020204030204" pitchFamily="34" charset="0"/>
              </a:endParaRPr>
            </a:p>
          </p:txBody>
        </p:sp>
      </p:grpSp>
      <p:pic>
        <p:nvPicPr>
          <p:cNvPr id="2054" name="Picture 2" descr="http://attach.bbs.miui.com/forum/201302/27/231712nzs6bezpzugpbm81.jpg"/>
          <p:cNvPicPr>
            <a:picLocks noChangeAspect="1"/>
          </p:cNvPicPr>
          <p:nvPr userDrawn="1"/>
        </p:nvPicPr>
        <p:blipFill>
          <a:blip r:embed="rId5"/>
          <a:stretch>
            <a:fillRect/>
          </a:stretch>
        </p:blipFill>
        <p:spPr>
          <a:xfrm>
            <a:off x="290513" y="3830241"/>
            <a:ext cx="1292225" cy="1140619"/>
          </a:xfrm>
          <a:prstGeom prst="rect">
            <a:avLst/>
          </a:prstGeom>
          <a:noFill/>
          <a:ln w="9525">
            <a:noFill/>
          </a:ln>
        </p:spPr>
      </p:pic>
      <p:sp>
        <p:nvSpPr>
          <p:cNvPr id="2" name="标题 1"/>
          <p:cNvSpPr>
            <a:spLocks noGrp="1"/>
          </p:cNvSpPr>
          <p:nvPr>
            <p:ph type="ctrTitle"/>
          </p:nvPr>
        </p:nvSpPr>
        <p:spPr>
          <a:xfrm>
            <a:off x="0" y="1847852"/>
            <a:ext cx="7772400" cy="704849"/>
          </a:xfrm>
          <a:prstGeom prst="rect">
            <a:avLst/>
          </a:prstGeom>
        </p:spPr>
        <p:txBody>
          <a:bodyPr/>
          <a:lstStyle>
            <a:lvl1pPr algn="l">
              <a:defRPr sz="3600" b="1">
                <a:solidFill>
                  <a:schemeClr val="bg1"/>
                </a:solidFill>
                <a:latin typeface="微软雅黑" panose="020B0503020204020204" charset="-122"/>
                <a:ea typeface="微软雅黑" panose="020B0503020204020204" charset="-122"/>
              </a:defRPr>
            </a:lvl1p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2743200" y="2914650"/>
            <a:ext cx="6400800" cy="793750"/>
          </a:xfrm>
          <a:prstGeom prst="rect">
            <a:avLst/>
          </a:prstGeom>
        </p:spPr>
        <p:txBody>
          <a:bodyPr/>
          <a:lstStyle>
            <a:lvl1pPr marL="342900" indent="-342900" algn="l">
              <a:buFont typeface="Arial" panose="020B0604020202090204" pitchFamily="34" charset="0"/>
              <a:buChar char="•"/>
              <a:defRPr sz="1500" b="1">
                <a:solidFill>
                  <a:srgbClr val="FFFF00"/>
                </a:solidFill>
                <a:latin typeface="微软雅黑" panose="020B0503020204020204" charset="-122"/>
                <a:ea typeface="微软雅黑" panose="020B0503020204020204"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dirty="0" smtClean="0"/>
              <a:t>单击此处编辑母版副标题样式</a:t>
            </a:r>
            <a:endParaRPr lang="zh-CN" altLang="en-US" dirty="0"/>
          </a:p>
        </p:txBody>
      </p:sp>
    </p:spTree>
  </p:cSld>
  <p:clrMapOvr>
    <a:masterClrMapping/>
  </p:clrMapOvr>
  <p:timing>
    <p:tnLst>
      <p:par>
        <p:cTn id="1" dur="indefinite" restart="never" nodeType="tmRoot"/>
      </p:par>
    </p:tnLst>
  </p:timing>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6" Type="http://schemas.openxmlformats.org/officeDocument/2006/relationships/theme" Target="../theme/theme1.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8.svg"/><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5.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6.xml"/><Relationship Id="rId1" Type="http://schemas.openxmlformats.org/officeDocument/2006/relationships/image" Target="../media/image9.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9.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1.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4.xml"/><Relationship Id="rId1" Type="http://schemas.openxmlformats.org/officeDocument/2006/relationships/tags" Target="../tags/tag13.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6.xml"/><Relationship Id="rId1" Type="http://schemas.openxmlformats.org/officeDocument/2006/relationships/tags" Target="../tags/tag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8.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0.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2.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tags" Target="../tags/tag23.xml"/><Relationship Id="rId2" Type="http://schemas.openxmlformats.org/officeDocument/2006/relationships/image" Target="../media/image11.jpeg"/><Relationship Id="rId1" Type="http://schemas.openxmlformats.org/officeDocument/2006/relationships/image" Target="../media/image10.jpe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4.xml"/><Relationship Id="rId1" Type="http://schemas.openxmlformats.org/officeDocument/2006/relationships/image" Target="../media/image12.jpe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6.xml"/><Relationship Id="rId1" Type="http://schemas.openxmlformats.org/officeDocument/2006/relationships/tags" Target="../tags/tag25.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8.xml"/><Relationship Id="rId1" Type="http://schemas.openxmlformats.org/officeDocument/2006/relationships/tags" Target="../tags/tag27.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9.xml"/><Relationship Id="rId1" Type="http://schemas.openxmlformats.org/officeDocument/2006/relationships/image" Target="../media/image13.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0.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1.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3.xml"/><Relationship Id="rId1" Type="http://schemas.openxmlformats.org/officeDocument/2006/relationships/tags" Target="../tags/tag3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4.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5.xml"/><Relationship Id="rId1" Type="http://schemas.openxmlformats.org/officeDocument/2006/relationships/image" Target="../media/image14.jpe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6.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7.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8.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9.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41.xml"/><Relationship Id="rId1" Type="http://schemas.openxmlformats.org/officeDocument/2006/relationships/tags" Target="../tags/tag40.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2.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44.xml"/><Relationship Id="rId1" Type="http://schemas.openxmlformats.org/officeDocument/2006/relationships/tags" Target="../tags/tag43.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5.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47.xml"/><Relationship Id="rId1" Type="http://schemas.openxmlformats.org/officeDocument/2006/relationships/tags" Target="../tags/tag46.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8.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9.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51.xml"/><Relationship Id="rId1" Type="http://schemas.openxmlformats.org/officeDocument/2006/relationships/tags" Target="../tags/tag50.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53.xml"/><Relationship Id="rId1" Type="http://schemas.openxmlformats.org/officeDocument/2006/relationships/tags" Target="../tags/tag5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4.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56.xml"/><Relationship Id="rId1" Type="http://schemas.openxmlformats.org/officeDocument/2006/relationships/tags" Target="../tags/tag55.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7.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8.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9.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60.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61.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62.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63.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65.xml"/><Relationship Id="rId1" Type="http://schemas.openxmlformats.org/officeDocument/2006/relationships/tags" Target="../tags/tag64.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67.xml"/><Relationship Id="rId1" Type="http://schemas.openxmlformats.org/officeDocument/2006/relationships/tags" Target="../tags/tag66.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6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81923"/>
          <p:cNvSpPr txBox="1"/>
          <p:nvPr/>
        </p:nvSpPr>
        <p:spPr>
          <a:xfrm>
            <a:off x="1638300" y="334804"/>
            <a:ext cx="5867400" cy="1824038"/>
          </a:xfrm>
          <a:prstGeom prst="rect">
            <a:avLst/>
          </a:prstGeom>
          <a:noFill/>
          <a:ln w="9525">
            <a:noFill/>
          </a:ln>
        </p:spPr>
        <p:txBody>
          <a:bodyPr anchor="b"/>
          <a:lstStyle>
            <a:lvl1pPr marL="0" lvl="0" indent="0" algn="r" defTabSz="914400" rtl="0" eaLnBrk="1" fontAlgn="base" latinLnBrk="0" hangingPunct="1">
              <a:lnSpc>
                <a:spcPct val="100000"/>
              </a:lnSpc>
              <a:spcBef>
                <a:spcPct val="0"/>
              </a:spcBef>
              <a:spcAft>
                <a:spcPct val="0"/>
              </a:spcAft>
              <a:buClrTx/>
              <a:buSzTx/>
              <a:buFontTx/>
              <a:buNone/>
              <a:defRPr sz="4800" b="1" i="0" u="none" kern="1200" baseline="0">
                <a:solidFill>
                  <a:schemeClr val="tx2"/>
                </a:solidFill>
                <a:latin typeface="+mj-lt"/>
                <a:ea typeface="+mj-ea"/>
                <a:cs typeface="+mj-cs"/>
              </a:defRPr>
            </a:lvl1pPr>
          </a:lstStyle>
          <a:p>
            <a:pPr algn="ctr"/>
            <a:r>
              <a:rPr lang="zh-CN" altLang="en-US" sz="3600" noProof="1">
                <a:solidFill>
                  <a:srgbClr val="330066"/>
                </a:solidFill>
                <a:effectLst>
                  <a:outerShdw blurRad="38100" dist="38100" dir="2700000">
                    <a:srgbClr val="C0C0C0"/>
                  </a:outerShdw>
                </a:effectLst>
                <a:latin typeface="Arial" panose="020B0604020202090204" pitchFamily="34" charset="0"/>
                <a:ea typeface="隶书" panose="02010509060101010101" pitchFamily="49" charset="-122"/>
              </a:rPr>
              <a:t>数据类型与运算符</a:t>
            </a:r>
            <a:endParaRPr lang="zh-CN" altLang="en-US" sz="3600" noProof="1">
              <a:solidFill>
                <a:srgbClr val="330066"/>
              </a:solidFill>
              <a:effectLst>
                <a:outerShdw blurRad="38100" dist="38100" dir="2700000">
                  <a:srgbClr val="C0C0C0"/>
                </a:outerShdw>
              </a:effectLst>
              <a:latin typeface="Arial" panose="020B0604020202090204" pitchFamily="34" charset="0"/>
              <a:ea typeface="隶书" panose="02010509060101010101" pitchFamily="49" charset="-122"/>
            </a:endParaRPr>
          </a:p>
        </p:txBody>
      </p:sp>
      <p:sp>
        <p:nvSpPr>
          <p:cNvPr id="3" name="副标题 81924"/>
          <p:cNvSpPr txBox="1"/>
          <p:nvPr/>
        </p:nvSpPr>
        <p:spPr>
          <a:xfrm>
            <a:off x="2195513" y="2914650"/>
            <a:ext cx="4752975" cy="1314450"/>
          </a:xfrm>
          <a:prstGeom prst="rect">
            <a:avLst/>
          </a:prstGeom>
          <a:noFill/>
          <a:ln w="9525">
            <a:noFill/>
          </a:ln>
        </p:spPr>
        <p:txBody>
          <a:bodyPr anchor="t"/>
          <a:lstStyle>
            <a:lvl1pPr marL="0" lvl="0" indent="0" algn="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defRPr sz="3200" b="0" i="0" u="none" kern="1200" baseline="0">
                <a:solidFill>
                  <a:schemeClr val="tx1"/>
                </a:solidFill>
                <a:latin typeface="+mn-lt"/>
                <a:ea typeface="+mn-ea"/>
                <a:cs typeface="+mn-cs"/>
              </a:defRPr>
            </a:lvl1pPr>
            <a:lvl2pPr marL="344805" lvl="1" indent="0" algn="ctr"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defRPr sz="3200" b="0" i="0" u="none" kern="1200" baseline="0">
                <a:solidFill>
                  <a:schemeClr val="tx1"/>
                </a:solidFill>
                <a:latin typeface="+mn-lt"/>
                <a:ea typeface="+mn-ea"/>
                <a:cs typeface="+mn-cs"/>
              </a:defRPr>
            </a:lvl2pPr>
            <a:lvl3pPr marL="694055" lvl="2" indent="0" algn="ctr" defTabSz="914400" rtl="0" eaLnBrk="1" fontAlgn="base" latinLnBrk="0" hangingPunct="1">
              <a:lnSpc>
                <a:spcPct val="100000"/>
              </a:lnSpc>
              <a:spcBef>
                <a:spcPct val="20000"/>
              </a:spcBef>
              <a:spcAft>
                <a:spcPct val="0"/>
              </a:spcAft>
              <a:buClr>
                <a:schemeClr val="accent1"/>
              </a:buClr>
              <a:buSzPct val="70000"/>
              <a:buFont typeface="Wingdings" panose="05000000000000000000" pitchFamily="2" charset="2"/>
              <a:buNone/>
              <a:defRPr sz="3200" b="0" i="0" u="none" kern="1200" baseline="0">
                <a:solidFill>
                  <a:schemeClr val="tx1"/>
                </a:solidFill>
                <a:latin typeface="+mn-lt"/>
                <a:ea typeface="+mn-ea"/>
                <a:cs typeface="+mn-cs"/>
              </a:defRPr>
            </a:lvl3pPr>
            <a:lvl4pPr marL="989330" lvl="3"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defRPr sz="3200" b="0" i="0" u="none" kern="1200" baseline="0">
                <a:solidFill>
                  <a:schemeClr val="tx1"/>
                </a:solidFill>
                <a:latin typeface="+mn-lt"/>
                <a:ea typeface="+mn-ea"/>
                <a:cs typeface="+mn-cs"/>
              </a:defRPr>
            </a:lvl4pPr>
            <a:lvl5pPr marL="1282700" lvl="4" indent="0" algn="ctr" defTabSz="914400" rtl="0" eaLnBrk="1" fontAlgn="base" latinLnBrk="0" hangingPunct="1">
              <a:lnSpc>
                <a:spcPct val="100000"/>
              </a:lnSpc>
              <a:spcBef>
                <a:spcPct val="20000"/>
              </a:spcBef>
              <a:spcAft>
                <a:spcPct val="0"/>
              </a:spcAft>
              <a:buClr>
                <a:schemeClr val="folHlink"/>
              </a:buClr>
              <a:buSzPct val="80000"/>
              <a:buFont typeface="Wingdings" panose="05000000000000000000" pitchFamily="2" charset="2"/>
              <a:buNone/>
              <a:defRPr sz="32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folHlink"/>
              </a:buClr>
              <a:buSzPct val="80000"/>
              <a:buFont typeface="Wingdings" panose="05000000000000000000" pitchFamily="2" charset="2"/>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folHlink"/>
              </a:buClr>
              <a:buSzPct val="80000"/>
              <a:buFont typeface="Wingdings" panose="05000000000000000000" pitchFamily="2" charset="2"/>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folHlink"/>
              </a:buClr>
              <a:buSzPct val="80000"/>
              <a:buFont typeface="Wingdings" panose="05000000000000000000" pitchFamily="2" charset="2"/>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folHlink"/>
              </a:buClr>
              <a:buSzPct val="80000"/>
              <a:buFont typeface="Wingdings" panose="05000000000000000000" pitchFamily="2" charset="2"/>
              <a:buChar char="§"/>
              <a:defRPr sz="2000" b="0" i="0" u="none" kern="1200" baseline="0">
                <a:solidFill>
                  <a:schemeClr val="tx1"/>
                </a:solidFill>
                <a:latin typeface="+mn-lt"/>
                <a:ea typeface="+mn-ea"/>
                <a:cs typeface="+mn-cs"/>
              </a:defRPr>
            </a:lvl9pPr>
          </a:lstStyle>
          <a:p>
            <a:pPr algn="ctr"/>
            <a:r>
              <a:rPr lang="zh-CN" altLang="en-US" sz="2400" dirty="0">
                <a:solidFill>
                  <a:srgbClr val="193B8F"/>
                </a:solidFill>
                <a:latin typeface="Times New Roman" panose="02020503050405090304" pitchFamily="18" charset="0"/>
                <a:ea typeface="楷体" panose="02010609060101010101" pitchFamily="49" charset="-122"/>
              </a:rPr>
              <a:t>朱静雯</a:t>
            </a:r>
            <a:endParaRPr lang="zh-CN" altLang="en-US" sz="2400" dirty="0">
              <a:solidFill>
                <a:srgbClr val="193B8F"/>
              </a:solidFill>
              <a:latin typeface="Times New Roman" panose="02020503050405090304" pitchFamily="18" charset="0"/>
              <a:ea typeface="楷体" panose="02010609060101010101" pitchFamily="49" charset="-122"/>
            </a:endParaRPr>
          </a:p>
          <a:p>
            <a:pPr algn="ctr"/>
            <a:r>
              <a:rPr lang="en-US" altLang="zh-CN" sz="2400" dirty="0">
                <a:latin typeface="Times New Roman" panose="02020503050405090304" pitchFamily="18" charset="0"/>
                <a:ea typeface="楷体" panose="02010609060101010101" pitchFamily="49" charset="-122"/>
              </a:rPr>
              <a:t>zhujingwen@nankai.edu.cn</a:t>
            </a:r>
            <a:endParaRPr lang="en-US" altLang="zh-CN" sz="2400" dirty="0">
              <a:latin typeface="Times New Roman" panose="02020503050405090304" pitchFamily="18" charset="0"/>
              <a:ea typeface="楷体" panose="02010609060101010101" pitchFamily="49" charset="-122"/>
            </a:endParaRPr>
          </a:p>
          <a:p>
            <a:pPr algn="ctr"/>
            <a:r>
              <a:rPr lang="zh-CN" altLang="en-US" sz="2400" dirty="0">
                <a:latin typeface="Times New Roman" panose="02020503050405090304" pitchFamily="18" charset="0"/>
                <a:ea typeface="楷体" panose="02010609060101010101" pitchFamily="49" charset="-122"/>
              </a:rPr>
              <a:t>南开大学</a:t>
            </a:r>
            <a:r>
              <a:rPr lang="en-US" altLang="zh-CN" sz="2400" dirty="0">
                <a:latin typeface="Times New Roman" panose="02020503050405090304" pitchFamily="18" charset="0"/>
                <a:ea typeface="楷体" panose="02010609060101010101" pitchFamily="49" charset="-122"/>
              </a:rPr>
              <a:t>·</a:t>
            </a:r>
            <a:r>
              <a:rPr lang="zh-CN" altLang="en-US" sz="2400" dirty="0">
                <a:latin typeface="Times New Roman" panose="02020503050405090304" pitchFamily="18" charset="0"/>
                <a:ea typeface="楷体" panose="02010609060101010101" pitchFamily="49" charset="-122"/>
              </a:rPr>
              <a:t>软件学院</a:t>
            </a:r>
            <a:endParaRPr lang="zh-CN" altLang="en-US" sz="2400" dirty="0">
              <a:latin typeface="Times New Roman" panose="02020503050405090304" pitchFamily="18" charset="0"/>
              <a:ea typeface="楷体" panose="02010609060101010101" pitchFamily="49" charset="-122"/>
            </a:endParaRPr>
          </a:p>
        </p:txBody>
      </p:sp>
      <p:cxnSp>
        <p:nvCxnSpPr>
          <p:cNvPr id="4" name="直接连接符 3"/>
          <p:cNvCxnSpPr/>
          <p:nvPr/>
        </p:nvCxnSpPr>
        <p:spPr>
          <a:xfrm>
            <a:off x="323850" y="2352052"/>
            <a:ext cx="8496300" cy="0"/>
          </a:xfrm>
          <a:prstGeom prst="line">
            <a:avLst/>
          </a:prstGeom>
          <a:ln w="25400">
            <a:solidFill>
              <a:srgbClr val="782367"/>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73873" y="185003"/>
            <a:ext cx="430355" cy="430355"/>
          </a:xfrm>
          <a:prstGeom prst="rect">
            <a:avLst/>
          </a:prstGeom>
        </p:spPr>
      </p:pic>
      <p:sp>
        <p:nvSpPr>
          <p:cNvPr id="6" name="灯片编号占位符 5"/>
          <p:cNvSpPr>
            <a:spLocks noGrp="1"/>
          </p:cNvSpPr>
          <p:nvPr>
            <p:ph type="sldNum" sz="quarter" idx="12"/>
          </p:nvPr>
        </p:nvSpPr>
        <p:spPr/>
        <p:txBody>
          <a:bodyPr/>
          <a:p>
            <a:fld id="{1A1A799A-9E7D-41E1-9473-F8C111ED8211}"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descr="3b32313538323734393b56fe4e6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72110" y="135890"/>
            <a:ext cx="731520" cy="731520"/>
          </a:xfrm>
          <a:prstGeom prst="rect">
            <a:avLst/>
          </a:prstGeom>
        </p:spPr>
      </p:pic>
      <p:sp>
        <p:nvSpPr>
          <p:cNvPr id="4" name="文本框 3"/>
          <p:cNvSpPr txBox="1"/>
          <p:nvPr/>
        </p:nvSpPr>
        <p:spPr>
          <a:xfrm>
            <a:off x="1286510" y="248285"/>
            <a:ext cx="998855" cy="506730"/>
          </a:xfrm>
          <a:prstGeom prst="rect">
            <a:avLst/>
          </a:prstGeom>
          <a:noFill/>
        </p:spPr>
        <p:txBody>
          <a:bodyPr wrap="square" rtlCol="0">
            <a:spAutoFit/>
          </a:bodyPr>
          <a:p>
            <a:r>
              <a:rPr lang="zh-CN" altLang="en-US" sz="2700" b="1" kern="0" spc="300" noProof="0" dirty="0" smtClean="0">
                <a:ln>
                  <a:noFill/>
                </a:ln>
                <a:solidFill>
                  <a:srgbClr val="782367"/>
                </a:solidFill>
                <a:effectLst/>
                <a:uLnTx/>
                <a:uFillTx/>
                <a:latin typeface="微软雅黑" panose="020B0503020204020204" charset="-122"/>
                <a:ea typeface="微软雅黑" panose="020B0503020204020204" charset="-122"/>
                <a:cs typeface="+mj-cs"/>
                <a:sym typeface="+mn-ea"/>
              </a:rPr>
              <a:t>目录</a:t>
            </a:r>
            <a:endParaRPr lang="zh-CN" altLang="en-US" sz="2700"/>
          </a:p>
        </p:txBody>
      </p:sp>
      <p:grpSp>
        <p:nvGrpSpPr>
          <p:cNvPr id="2" name="组合 1"/>
          <p:cNvGrpSpPr/>
          <p:nvPr/>
        </p:nvGrpSpPr>
        <p:grpSpPr>
          <a:xfrm>
            <a:off x="2426494" y="865585"/>
            <a:ext cx="3031331" cy="445294"/>
            <a:chOff x="1710657" y="1263652"/>
            <a:chExt cx="4042443" cy="592608"/>
          </a:xfrm>
        </p:grpSpPr>
        <p:grpSp>
          <p:nvGrpSpPr>
            <p:cNvPr id="5" name="组合 29"/>
            <p:cNvGrpSpPr/>
            <p:nvPr/>
          </p:nvGrpSpPr>
          <p:grpSpPr>
            <a:xfrm rot="-12767">
              <a:off x="1710657" y="1263652"/>
              <a:ext cx="884411" cy="592608"/>
              <a:chOff x="1936620" y="1275606"/>
              <a:chExt cx="1296144" cy="1728192"/>
            </a:xfrm>
          </p:grpSpPr>
          <p:grpSp>
            <p:nvGrpSpPr>
              <p:cNvPr id="6" name="组合 31"/>
              <p:cNvGrpSpPr/>
              <p:nvPr/>
            </p:nvGrpSpPr>
            <p:grpSpPr>
              <a:xfrm>
                <a:off x="1936620" y="1275606"/>
                <a:ext cx="1296142" cy="1728192"/>
                <a:chOff x="1907704" y="1275606"/>
                <a:chExt cx="1296142" cy="1728192"/>
              </a:xfrm>
            </p:grpSpPr>
            <p:sp>
              <p:nvSpPr>
                <p:cNvPr id="8" name="圆角矩形 7"/>
                <p:cNvSpPr/>
                <p:nvPr/>
              </p:nvSpPr>
              <p:spPr>
                <a:xfrm>
                  <a:off x="1907704" y="1275606"/>
                  <a:ext cx="1296104"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rPr>
                    <a:t>2.1</a:t>
                  </a:r>
                  <a:endParaRPr kumimoji="0" lang="zh-CN" altLang="en-US"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sp>
              <p:nvSpPr>
                <p:cNvPr id="9" name="圆角矩形 8"/>
                <p:cNvSpPr/>
                <p:nvPr/>
              </p:nvSpPr>
              <p:spPr>
                <a:xfrm>
                  <a:off x="1961224" y="1349539"/>
                  <a:ext cx="1189063" cy="1580325"/>
                </a:xfrm>
                <a:prstGeom prst="roundRect">
                  <a:avLst/>
                </a:prstGeom>
                <a:noFill/>
                <a:ln w="15875" cap="flat" cmpd="sng" algn="ctr">
                  <a:solidFill>
                    <a:sysClr val="window" lastClr="FFFFFF"/>
                  </a:solidFill>
                  <a:prstDash val="solid"/>
                </a:ln>
                <a:effectLst/>
              </p:spPr>
              <p:txBody>
                <a:bodyPr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10" name="圆角矩形 5"/>
              <p:cNvSpPr/>
              <p:nvPr/>
            </p:nvSpPr>
            <p:spPr>
              <a:xfrm>
                <a:off x="1931232" y="2065721"/>
                <a:ext cx="1293777" cy="933409"/>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5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grpSp>
        <p:cxnSp>
          <p:nvCxnSpPr>
            <p:cNvPr id="11" name="直接连接符 10"/>
            <p:cNvCxnSpPr/>
            <p:nvPr/>
          </p:nvCxnSpPr>
          <p:spPr bwMode="auto">
            <a:xfrm>
              <a:off x="2809389" y="1761189"/>
              <a:ext cx="2943711"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12" name="矩形 35"/>
            <p:cNvSpPr/>
            <p:nvPr/>
          </p:nvSpPr>
          <p:spPr>
            <a:xfrm>
              <a:off x="2836056" y="1286814"/>
              <a:ext cx="853581" cy="490143"/>
            </a:xfrm>
            <a:prstGeom prst="rect">
              <a:avLst/>
            </a:prstGeom>
            <a:noFill/>
            <a:ln w="9525">
              <a:noFill/>
            </a:ln>
          </p:spPr>
          <p:txBody>
            <a:bodyPr wrap="none">
              <a:spAutoFit/>
            </a:bodyPr>
            <a:p>
              <a:r>
                <a:rPr lang="zh-CN" altLang="en-US" dirty="0">
                  <a:latin typeface="微软雅黑" panose="020B0503020204020204" charset="-122"/>
                  <a:ea typeface="微软雅黑" panose="020B0503020204020204" charset="-122"/>
                </a:rPr>
                <a:t>进制</a:t>
              </a:r>
              <a:endParaRPr lang="en-US" altLang="zh-CN" dirty="0">
                <a:latin typeface="微软雅黑" panose="020B0503020204020204" charset="-122"/>
                <a:ea typeface="微软雅黑" panose="020B0503020204020204" charset="-122"/>
              </a:endParaRPr>
            </a:p>
          </p:txBody>
        </p:sp>
      </p:grpSp>
      <p:grpSp>
        <p:nvGrpSpPr>
          <p:cNvPr id="13" name="组合 195"/>
          <p:cNvGrpSpPr/>
          <p:nvPr/>
        </p:nvGrpSpPr>
        <p:grpSpPr>
          <a:xfrm>
            <a:off x="3250406" y="1758554"/>
            <a:ext cx="3031331" cy="444103"/>
            <a:chOff x="1710657" y="1263652"/>
            <a:chExt cx="4042443" cy="592608"/>
          </a:xfrm>
        </p:grpSpPr>
        <p:grpSp>
          <p:nvGrpSpPr>
            <p:cNvPr id="14" name="组合 29"/>
            <p:cNvGrpSpPr/>
            <p:nvPr/>
          </p:nvGrpSpPr>
          <p:grpSpPr>
            <a:xfrm rot="-12767">
              <a:off x="1710657" y="1263652"/>
              <a:ext cx="884411" cy="592608"/>
              <a:chOff x="1936620" y="1275606"/>
              <a:chExt cx="1296144" cy="1728192"/>
            </a:xfrm>
          </p:grpSpPr>
          <p:grpSp>
            <p:nvGrpSpPr>
              <p:cNvPr id="15" name="组合 31"/>
              <p:cNvGrpSpPr/>
              <p:nvPr/>
            </p:nvGrpSpPr>
            <p:grpSpPr>
              <a:xfrm>
                <a:off x="1936620" y="1275606"/>
                <a:ext cx="1296142" cy="1728192"/>
                <a:chOff x="1907704" y="1275606"/>
                <a:chExt cx="1296142" cy="1728192"/>
              </a:xfrm>
            </p:grpSpPr>
            <p:sp>
              <p:nvSpPr>
                <p:cNvPr id="16" name="圆角矩形 15"/>
                <p:cNvSpPr/>
                <p:nvPr/>
              </p:nvSpPr>
              <p:spPr>
                <a:xfrm>
                  <a:off x="1907704" y="1275606"/>
                  <a:ext cx="1296104"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rPr>
                    <a:t>2.2</a:t>
                  </a:r>
                  <a:endParaRPr kumimoji="0" lang="zh-CN" altLang="en-US"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sp>
              <p:nvSpPr>
                <p:cNvPr id="17" name="圆角矩形 16"/>
                <p:cNvSpPr/>
                <p:nvPr/>
              </p:nvSpPr>
              <p:spPr>
                <a:xfrm>
                  <a:off x="1961224" y="1349737"/>
                  <a:ext cx="1189063" cy="1579929"/>
                </a:xfrm>
                <a:prstGeom prst="roundRect">
                  <a:avLst/>
                </a:prstGeom>
                <a:noFill/>
                <a:ln w="15875" cap="flat" cmpd="sng" algn="ctr">
                  <a:solidFill>
                    <a:sysClr val="window" lastClr="FFFFFF"/>
                  </a:solidFill>
                  <a:prstDash val="solid"/>
                </a:ln>
                <a:effectLst/>
              </p:spPr>
              <p:txBody>
                <a:bodyPr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18" name="圆角矩形 5"/>
              <p:cNvSpPr/>
              <p:nvPr/>
            </p:nvSpPr>
            <p:spPr>
              <a:xfrm>
                <a:off x="1931236" y="2063209"/>
                <a:ext cx="1293777" cy="935912"/>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5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grpSp>
        <p:cxnSp>
          <p:nvCxnSpPr>
            <p:cNvPr id="19" name="直接连接符 18"/>
            <p:cNvCxnSpPr/>
            <p:nvPr/>
          </p:nvCxnSpPr>
          <p:spPr bwMode="auto">
            <a:xfrm>
              <a:off x="2809389" y="1760934"/>
              <a:ext cx="2943711"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20" name="矩形 35"/>
            <p:cNvSpPr/>
            <p:nvPr/>
          </p:nvSpPr>
          <p:spPr>
            <a:xfrm>
              <a:off x="2836056" y="1286814"/>
              <a:ext cx="2377833" cy="491457"/>
            </a:xfrm>
            <a:prstGeom prst="rect">
              <a:avLst/>
            </a:prstGeom>
            <a:noFill/>
            <a:ln w="9525">
              <a:noFill/>
            </a:ln>
          </p:spPr>
          <p:txBody>
            <a:bodyPr wrap="none">
              <a:spAutoFit/>
            </a:bodyPr>
            <a:p>
              <a:r>
                <a:rPr lang="zh-CN" altLang="en-US" dirty="0">
                  <a:latin typeface="微软雅黑" panose="020B0503020204020204" charset="-122"/>
                  <a:ea typeface="微软雅黑" panose="020B0503020204020204" charset="-122"/>
                </a:rPr>
                <a:t>关键字和标识符</a:t>
              </a:r>
              <a:endParaRPr lang="en-US" altLang="zh-CN" dirty="0">
                <a:latin typeface="微软雅黑" panose="020B0503020204020204" charset="-122"/>
                <a:ea typeface="微软雅黑" panose="020B0503020204020204" charset="-122"/>
              </a:endParaRPr>
            </a:p>
          </p:txBody>
        </p:sp>
      </p:grpSp>
      <p:grpSp>
        <p:nvGrpSpPr>
          <p:cNvPr id="21" name="组合 221"/>
          <p:cNvGrpSpPr/>
          <p:nvPr/>
        </p:nvGrpSpPr>
        <p:grpSpPr>
          <a:xfrm>
            <a:off x="2426494" y="2650331"/>
            <a:ext cx="3031331" cy="445294"/>
            <a:chOff x="1710657" y="1263652"/>
            <a:chExt cx="4042443" cy="592608"/>
          </a:xfrm>
        </p:grpSpPr>
        <p:grpSp>
          <p:nvGrpSpPr>
            <p:cNvPr id="22" name="组合 29"/>
            <p:cNvGrpSpPr/>
            <p:nvPr/>
          </p:nvGrpSpPr>
          <p:grpSpPr>
            <a:xfrm rot="-12767">
              <a:off x="1710657" y="1263652"/>
              <a:ext cx="884411" cy="592608"/>
              <a:chOff x="1936620" y="1275606"/>
              <a:chExt cx="1296144" cy="1728192"/>
            </a:xfrm>
          </p:grpSpPr>
          <p:grpSp>
            <p:nvGrpSpPr>
              <p:cNvPr id="23" name="组合 31"/>
              <p:cNvGrpSpPr/>
              <p:nvPr/>
            </p:nvGrpSpPr>
            <p:grpSpPr>
              <a:xfrm>
                <a:off x="1936620" y="1275606"/>
                <a:ext cx="1296142" cy="1728192"/>
                <a:chOff x="1907704" y="1275606"/>
                <a:chExt cx="1296142" cy="1728192"/>
              </a:xfrm>
            </p:grpSpPr>
            <p:sp>
              <p:nvSpPr>
                <p:cNvPr id="24" name="圆角矩形 23"/>
                <p:cNvSpPr/>
                <p:nvPr/>
              </p:nvSpPr>
              <p:spPr>
                <a:xfrm>
                  <a:off x="1907704" y="1275606"/>
                  <a:ext cx="1296104"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rPr>
                    <a:t>2.3</a:t>
                  </a:r>
                  <a:endParaRPr kumimoji="0" lang="zh-CN" altLang="en-US"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sp>
              <p:nvSpPr>
                <p:cNvPr id="25" name="圆角矩形 24"/>
                <p:cNvSpPr/>
                <p:nvPr/>
              </p:nvSpPr>
              <p:spPr>
                <a:xfrm>
                  <a:off x="1961224" y="1349539"/>
                  <a:ext cx="1189063" cy="1580325"/>
                </a:xfrm>
                <a:prstGeom prst="roundRect">
                  <a:avLst/>
                </a:prstGeom>
                <a:noFill/>
                <a:ln w="15875" cap="flat" cmpd="sng" algn="ctr">
                  <a:solidFill>
                    <a:sysClr val="window" lastClr="FFFFFF"/>
                  </a:solidFill>
                  <a:prstDash val="solid"/>
                </a:ln>
                <a:effectLst/>
              </p:spPr>
              <p:txBody>
                <a:bodyPr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26" name="圆角矩形 5"/>
              <p:cNvSpPr/>
              <p:nvPr/>
            </p:nvSpPr>
            <p:spPr>
              <a:xfrm>
                <a:off x="1931232" y="2065724"/>
                <a:ext cx="1293777" cy="933409"/>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5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grpSp>
        <p:cxnSp>
          <p:nvCxnSpPr>
            <p:cNvPr id="27" name="直接连接符 26"/>
            <p:cNvCxnSpPr/>
            <p:nvPr/>
          </p:nvCxnSpPr>
          <p:spPr bwMode="auto">
            <a:xfrm>
              <a:off x="2809389" y="1761189"/>
              <a:ext cx="2943711"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28" name="矩形 35"/>
            <p:cNvSpPr/>
            <p:nvPr/>
          </p:nvSpPr>
          <p:spPr>
            <a:xfrm>
              <a:off x="2836056" y="1286814"/>
              <a:ext cx="1768132" cy="490143"/>
            </a:xfrm>
            <a:prstGeom prst="rect">
              <a:avLst/>
            </a:prstGeom>
            <a:noFill/>
            <a:ln w="9525">
              <a:noFill/>
            </a:ln>
          </p:spPr>
          <p:txBody>
            <a:bodyPr wrap="none">
              <a:spAutoFit/>
            </a:bodyPr>
            <a:p>
              <a:r>
                <a:rPr lang="zh-CN" altLang="en-US" dirty="0">
                  <a:latin typeface="微软雅黑" panose="020B0503020204020204" charset="-122"/>
                  <a:ea typeface="微软雅黑" panose="020B0503020204020204" charset="-122"/>
                </a:rPr>
                <a:t>常量与变量</a:t>
              </a:r>
              <a:endParaRPr lang="en-US" altLang="zh-CN" dirty="0">
                <a:latin typeface="微软雅黑" panose="020B0503020204020204" charset="-122"/>
                <a:ea typeface="微软雅黑" panose="020B0503020204020204" charset="-122"/>
              </a:endParaRPr>
            </a:p>
          </p:txBody>
        </p:sp>
      </p:grpSp>
      <p:grpSp>
        <p:nvGrpSpPr>
          <p:cNvPr id="29" name="组合 234"/>
          <p:cNvGrpSpPr/>
          <p:nvPr/>
        </p:nvGrpSpPr>
        <p:grpSpPr>
          <a:xfrm>
            <a:off x="3276600" y="3568304"/>
            <a:ext cx="3032522" cy="444103"/>
            <a:chOff x="1710657" y="1263652"/>
            <a:chExt cx="4042443" cy="592608"/>
          </a:xfrm>
        </p:grpSpPr>
        <p:grpSp>
          <p:nvGrpSpPr>
            <p:cNvPr id="30" name="组合 29"/>
            <p:cNvGrpSpPr/>
            <p:nvPr/>
          </p:nvGrpSpPr>
          <p:grpSpPr>
            <a:xfrm rot="-12767">
              <a:off x="1710657" y="1263652"/>
              <a:ext cx="884411" cy="592608"/>
              <a:chOff x="1936620" y="1275606"/>
              <a:chExt cx="1296144" cy="1728192"/>
            </a:xfrm>
          </p:grpSpPr>
          <p:grpSp>
            <p:nvGrpSpPr>
              <p:cNvPr id="31" name="组合 31"/>
              <p:cNvGrpSpPr/>
              <p:nvPr/>
            </p:nvGrpSpPr>
            <p:grpSpPr>
              <a:xfrm>
                <a:off x="1936620" y="1275606"/>
                <a:ext cx="1296142" cy="1728192"/>
                <a:chOff x="1907704" y="1275606"/>
                <a:chExt cx="1296142" cy="1728192"/>
              </a:xfrm>
            </p:grpSpPr>
            <p:sp>
              <p:nvSpPr>
                <p:cNvPr id="32" name="圆角矩形 31"/>
                <p:cNvSpPr/>
                <p:nvPr/>
              </p:nvSpPr>
              <p:spPr>
                <a:xfrm>
                  <a:off x="1907704" y="1275604"/>
                  <a:ext cx="1295595"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rPr>
                    <a:t>2.4</a:t>
                  </a:r>
                  <a:endParaRPr kumimoji="0" lang="zh-CN" altLang="en-US"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sp>
              <p:nvSpPr>
                <p:cNvPr id="36" name="圆角矩形 35"/>
                <p:cNvSpPr/>
                <p:nvPr/>
              </p:nvSpPr>
              <p:spPr>
                <a:xfrm>
                  <a:off x="1961203" y="1349736"/>
                  <a:ext cx="1188597" cy="1579929"/>
                </a:xfrm>
                <a:prstGeom prst="roundRect">
                  <a:avLst/>
                </a:prstGeom>
                <a:noFill/>
                <a:ln w="15875" cap="flat" cmpd="sng" algn="ctr">
                  <a:solidFill>
                    <a:sysClr val="window" lastClr="FFFFFF"/>
                  </a:solidFill>
                  <a:prstDash val="solid"/>
                </a:ln>
                <a:effectLst/>
              </p:spPr>
              <p:txBody>
                <a:bodyPr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37" name="圆角矩形 5"/>
              <p:cNvSpPr/>
              <p:nvPr/>
            </p:nvSpPr>
            <p:spPr>
              <a:xfrm>
                <a:off x="1931238" y="2063181"/>
                <a:ext cx="1286292" cy="935912"/>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5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grpSp>
        <p:cxnSp>
          <p:nvCxnSpPr>
            <p:cNvPr id="38" name="直接连接符 37"/>
            <p:cNvCxnSpPr/>
            <p:nvPr/>
          </p:nvCxnSpPr>
          <p:spPr bwMode="auto">
            <a:xfrm>
              <a:off x="2810545" y="1760934"/>
              <a:ext cx="2942555"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39" name="矩形 35"/>
            <p:cNvSpPr/>
            <p:nvPr/>
          </p:nvSpPr>
          <p:spPr>
            <a:xfrm>
              <a:off x="2836056" y="1286814"/>
              <a:ext cx="1157976" cy="491457"/>
            </a:xfrm>
            <a:prstGeom prst="rect">
              <a:avLst/>
            </a:prstGeom>
            <a:noFill/>
            <a:ln w="9525">
              <a:noFill/>
            </a:ln>
          </p:spPr>
          <p:txBody>
            <a:bodyPr wrap="none">
              <a:spAutoFit/>
            </a:bodyPr>
            <a:p>
              <a:r>
                <a:rPr lang="zh-CN" altLang="en-US" dirty="0">
                  <a:latin typeface="微软雅黑" panose="020B0503020204020204" charset="-122"/>
                  <a:ea typeface="微软雅黑" panose="020B0503020204020204" charset="-122"/>
                </a:rPr>
                <a:t>运算符</a:t>
              </a:r>
              <a:endParaRPr lang="en-US" altLang="zh-CN" dirty="0">
                <a:latin typeface="微软雅黑" panose="020B0503020204020204" charset="-122"/>
                <a:ea typeface="微软雅黑" panose="020B0503020204020204" charset="-122"/>
              </a:endParaRPr>
            </a:p>
          </p:txBody>
        </p:sp>
      </p:gr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标题 1"/>
          <p:cNvSpPr>
            <a:spLocks noGrp="1"/>
          </p:cNvSpPr>
          <p:nvPr>
            <p:ph type="title"/>
          </p:nvPr>
        </p:nvSpPr>
        <p:spPr>
          <a:xfrm>
            <a:off x="-317" y="85725"/>
            <a:ext cx="5824538" cy="542925"/>
          </a:xfr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a:ln>
                  <a:noFill/>
                </a:ln>
                <a:solidFill>
                  <a:srgbClr val="782367"/>
                </a:solidFill>
                <a:effectLst/>
                <a:uLnTx/>
                <a:uFillTx/>
                <a:latin typeface="微软雅黑" panose="020B0503020204020204" charset="-122"/>
                <a:ea typeface="微软雅黑" panose="020B0503020204020204" charset="-122"/>
                <a:cs typeface="+mj-cs"/>
              </a:rPr>
              <a:t>2</a:t>
            </a: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.1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进制</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7171" name="内容占位符 2"/>
          <p:cNvSpPr>
            <a:spLocks noGrp="1"/>
          </p:cNvSpPr>
          <p:nvPr>
            <p:ph idx="1"/>
          </p:nvPr>
        </p:nvSpPr>
        <p:spPr>
          <a:noFill/>
          <a:ln>
            <a:noFill/>
          </a:ln>
        </p:spPr>
        <p:txBody>
          <a:bodyPr/>
          <a:p>
            <a:r>
              <a:rPr lang="en-US" altLang="zh-CN" b="1" dirty="0">
                <a:solidFill>
                  <a:srgbClr val="009ED6"/>
                </a:solidFill>
                <a:latin typeface="+mn-lt"/>
                <a:ea typeface="+mn-ea"/>
                <a:cs typeface="+mn-cs"/>
              </a:rPr>
              <a:t>2.1.1 </a:t>
            </a:r>
            <a:r>
              <a:rPr lang="zh-CN" altLang="en-US" b="1" dirty="0">
                <a:solidFill>
                  <a:srgbClr val="009ED6"/>
                </a:solidFill>
                <a:latin typeface="+mn-lt"/>
                <a:ea typeface="+mn-ea"/>
                <a:cs typeface="+mn-cs"/>
              </a:rPr>
              <a:t>什么是二进制</a:t>
            </a:r>
            <a:endParaRPr lang="en-US" altLang="zh-CN" b="1" dirty="0">
              <a:solidFill>
                <a:srgbClr val="009ED6"/>
              </a:solidFill>
              <a:latin typeface="+mn-lt"/>
              <a:ea typeface="+mn-ea"/>
              <a:cs typeface="+mn-cs"/>
            </a:endParaRPr>
          </a:p>
          <a:p>
            <a:pPr marL="457200" lvl="1" indent="0">
              <a:buNone/>
            </a:pPr>
            <a:r>
              <a:rPr lang="en-US" altLang="zh-CN" dirty="0">
                <a:latin typeface="+mn-lt"/>
                <a:ea typeface="+mn-ea"/>
              </a:rPr>
              <a:t>       </a:t>
            </a:r>
            <a:r>
              <a:rPr lang="zh-CN" altLang="zh-CN" dirty="0">
                <a:latin typeface="+mn-lt"/>
                <a:ea typeface="+mn-ea"/>
              </a:rPr>
              <a:t>在大多数计算机系统中，数据都是通过二进制的形式存在的。二进制是一种“逢二进一”的机制，它用</a:t>
            </a:r>
            <a:r>
              <a:rPr lang="en-US" altLang="zh-CN" dirty="0">
                <a:latin typeface="+mn-lt"/>
                <a:ea typeface="+mn-ea"/>
              </a:rPr>
              <a:t>0</a:t>
            </a:r>
            <a:r>
              <a:rPr lang="zh-CN" altLang="zh-CN" dirty="0">
                <a:latin typeface="+mn-lt"/>
                <a:ea typeface="+mn-ea"/>
              </a:rPr>
              <a:t>和</a:t>
            </a:r>
            <a:r>
              <a:rPr lang="en-US" altLang="zh-CN" dirty="0">
                <a:latin typeface="+mn-lt"/>
                <a:ea typeface="+mn-ea"/>
              </a:rPr>
              <a:t>1</a:t>
            </a:r>
            <a:r>
              <a:rPr lang="zh-CN" altLang="zh-CN" dirty="0">
                <a:latin typeface="+mn-lt"/>
                <a:ea typeface="+mn-ea"/>
              </a:rPr>
              <a:t>两个符号来描述。为了帮助大家更好地理解二进制，接下来通过二进制和十进制的对比来描述二进制的表示方式，如表</a:t>
            </a:r>
            <a:r>
              <a:rPr lang="en-US" altLang="zh-CN" dirty="0">
                <a:latin typeface="+mn-lt"/>
                <a:ea typeface="+mn-ea"/>
              </a:rPr>
              <a:t>2-1</a:t>
            </a:r>
            <a:r>
              <a:rPr lang="zh-CN" altLang="zh-CN" dirty="0">
                <a:latin typeface="+mn-lt"/>
                <a:ea typeface="+mn-ea"/>
              </a:rPr>
              <a:t>所示</a:t>
            </a:r>
            <a:r>
              <a:rPr lang="zh-CN" altLang="en-US" dirty="0">
                <a:latin typeface="+mn-lt"/>
                <a:ea typeface="+mn-ea"/>
              </a:rPr>
              <a:t>：</a:t>
            </a:r>
            <a:endParaRPr lang="en-US" altLang="zh-CN" dirty="0">
              <a:latin typeface="+mn-lt"/>
              <a:ea typeface="+mn-ea"/>
            </a:endParaRPr>
          </a:p>
          <a:p>
            <a:pPr marL="457200" lvl="1" indent="0">
              <a:buNone/>
            </a:pPr>
            <a:r>
              <a:rPr lang="en-US" altLang="zh-CN" dirty="0">
                <a:latin typeface="+mn-lt"/>
                <a:ea typeface="+mn-ea"/>
              </a:rPr>
              <a:t>                               	</a:t>
            </a:r>
            <a:r>
              <a:rPr lang="zh-CN" altLang="en-US" sz="1200" dirty="0">
                <a:latin typeface="+mn-lt"/>
                <a:ea typeface="+mn-ea"/>
              </a:rPr>
              <a:t>表</a:t>
            </a:r>
            <a:r>
              <a:rPr lang="en-US" altLang="zh-CN" sz="1200" dirty="0">
                <a:latin typeface="+mn-lt"/>
                <a:ea typeface="+mn-ea"/>
              </a:rPr>
              <a:t>2-1    </a:t>
            </a:r>
            <a:r>
              <a:rPr lang="zh-CN" altLang="en-US" sz="1200" dirty="0">
                <a:latin typeface="+mn-lt"/>
                <a:ea typeface="+mn-ea"/>
              </a:rPr>
              <a:t>十进制与二进制对照表</a:t>
            </a:r>
            <a:endParaRPr lang="en-US" altLang="zh-CN" sz="1200" dirty="0">
              <a:latin typeface="+mn-lt"/>
              <a:ea typeface="+mn-ea"/>
            </a:endParaRPr>
          </a:p>
          <a:p>
            <a:pPr marL="457200" lvl="1" indent="0">
              <a:buNone/>
            </a:pPr>
            <a:endParaRPr lang="zh-CN" altLang="en-US" dirty="0">
              <a:latin typeface="+mn-lt"/>
              <a:ea typeface="+mn-ea"/>
            </a:endParaRPr>
          </a:p>
        </p:txBody>
      </p:sp>
      <p:graphicFrame>
        <p:nvGraphicFramePr>
          <p:cNvPr id="2" name="表格 1"/>
          <p:cNvGraphicFramePr>
            <a:graphicFrameLocks noGrp="1"/>
          </p:cNvGraphicFramePr>
          <p:nvPr>
            <p:custDataLst>
              <p:tags r:id="rId1"/>
            </p:custDataLst>
          </p:nvPr>
        </p:nvGraphicFramePr>
        <p:xfrm>
          <a:off x="1692295" y="2952750"/>
          <a:ext cx="5760000" cy="2160000"/>
        </p:xfrm>
        <a:graphic>
          <a:graphicData uri="http://schemas.openxmlformats.org/drawingml/2006/table">
            <a:tbl>
              <a:tblPr firstRow="1" firstCol="1" bandRow="1"/>
              <a:tblGrid>
                <a:gridCol w="1440000"/>
                <a:gridCol w="1440000"/>
                <a:gridCol w="1440000"/>
                <a:gridCol w="1440000"/>
              </a:tblGrid>
              <a:tr h="360000">
                <a:tc>
                  <a:txBody>
                    <a:bodyPr/>
                    <a:lstStyle/>
                    <a:p>
                      <a:pPr indent="266700" algn="ctr">
                        <a:spcAft>
                          <a:spcPts val="0"/>
                        </a:spcAft>
                      </a:pPr>
                      <a:r>
                        <a:rPr lang="zh-CN" sz="1100" kern="0" dirty="0">
                          <a:solidFill>
                            <a:srgbClr val="584E61"/>
                          </a:solidFill>
                          <a:effectLst/>
                        </a:rPr>
                        <a:t>十进制</a:t>
                      </a:r>
                      <a:endParaRPr lang="zh-CN" sz="1100" kern="0" dirty="0">
                        <a:solidFill>
                          <a:srgbClr val="584E61"/>
                        </a:solidFill>
                        <a:effectLst/>
                        <a:latin typeface="Times New Roman" panose="02020503050405090304"/>
                        <a:ea typeface="宋体" pitchFamily="2" charset="-122"/>
                      </a:endParaRPr>
                    </a:p>
                  </a:txBody>
                  <a:tcPr marL="51435" marR="51435" marT="0" marB="0" anchor="ctr">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indent="266700" algn="ctr">
                        <a:spcAft>
                          <a:spcPts val="0"/>
                        </a:spcAft>
                      </a:pPr>
                      <a:r>
                        <a:rPr lang="zh-CN" sz="1100" kern="0">
                          <a:solidFill>
                            <a:srgbClr val="584E61"/>
                          </a:solidFill>
                          <a:effectLst/>
                        </a:rPr>
                        <a:t>二进制</a:t>
                      </a:r>
                      <a:endParaRPr lang="zh-CN" sz="1100" kern="0">
                        <a:solidFill>
                          <a:srgbClr val="584E61"/>
                        </a:solidFill>
                        <a:effectLst/>
                        <a:latin typeface="Times New Roman" panose="02020503050405090304"/>
                        <a:ea typeface="宋体" pitchFamily="2" charset="-122"/>
                      </a:endParaRPr>
                    </a:p>
                  </a:txBody>
                  <a:tcPr marL="51435" marR="51435" marT="0" marB="0" anchor="ctr">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indent="266700" algn="ctr">
                        <a:spcAft>
                          <a:spcPts val="0"/>
                        </a:spcAft>
                      </a:pPr>
                      <a:r>
                        <a:rPr lang="zh-CN" sz="1100" kern="0">
                          <a:solidFill>
                            <a:srgbClr val="584E61"/>
                          </a:solidFill>
                          <a:effectLst/>
                        </a:rPr>
                        <a:t>十进制</a:t>
                      </a:r>
                      <a:endParaRPr lang="zh-CN" sz="1100" kern="0">
                        <a:solidFill>
                          <a:srgbClr val="584E61"/>
                        </a:solidFill>
                        <a:effectLst/>
                        <a:latin typeface="Times New Roman" panose="02020503050405090304"/>
                        <a:ea typeface="宋体" pitchFamily="2" charset="-122"/>
                      </a:endParaRPr>
                    </a:p>
                  </a:txBody>
                  <a:tcPr marL="51435" marR="51435" marT="0" marB="0" anchor="ctr">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indent="266700" algn="ctr">
                        <a:spcAft>
                          <a:spcPts val="0"/>
                        </a:spcAft>
                      </a:pPr>
                      <a:r>
                        <a:rPr lang="zh-CN" sz="1100" kern="0">
                          <a:solidFill>
                            <a:srgbClr val="584E61"/>
                          </a:solidFill>
                          <a:effectLst/>
                        </a:rPr>
                        <a:t>二进制</a:t>
                      </a:r>
                      <a:endParaRPr lang="zh-CN" sz="1100" kern="0">
                        <a:solidFill>
                          <a:srgbClr val="584E61"/>
                        </a:solidFill>
                        <a:effectLst/>
                        <a:latin typeface="Times New Roman" panose="02020503050405090304"/>
                        <a:ea typeface="宋体" pitchFamily="2" charset="-122"/>
                      </a:endParaRPr>
                    </a:p>
                  </a:txBody>
                  <a:tcPr marL="51435" marR="51435" marT="0" marB="0" anchor="ctr">
                    <a:lnL>
                      <a:noFill/>
                    </a:lnL>
                    <a:lnR>
                      <a:noFill/>
                    </a:lnR>
                    <a:lnT w="19050">
                      <a:solidFill>
                        <a:srgbClr val="584E61"/>
                      </a:solidFill>
                      <a:prstDash val="solid"/>
                    </a:lnT>
                    <a:lnB w="19050">
                      <a:solidFill>
                        <a:srgbClr val="584E61"/>
                      </a:solidFill>
                      <a:prstDash val="solid"/>
                    </a:lnB>
                    <a:solidFill>
                      <a:srgbClr val="FFFFFF"/>
                    </a:solidFill>
                  </a:tcPr>
                </a:tc>
              </a:tr>
              <a:tr h="360000">
                <a:tc>
                  <a:txBody>
                    <a:bodyPr/>
                    <a:lstStyle/>
                    <a:p>
                      <a:pPr indent="266700" algn="ctr">
                        <a:spcAft>
                          <a:spcPts val="0"/>
                        </a:spcAft>
                      </a:pPr>
                      <a:r>
                        <a:rPr lang="en-US" sz="1100" kern="0" dirty="0">
                          <a:solidFill>
                            <a:srgbClr val="584E61"/>
                          </a:solidFill>
                          <a:effectLst/>
                        </a:rPr>
                        <a:t>0</a:t>
                      </a:r>
                      <a:endParaRPr lang="en-US" sz="1100" kern="0" dirty="0">
                        <a:solidFill>
                          <a:srgbClr val="584E61"/>
                        </a:solidFill>
                        <a:effectLst/>
                        <a:latin typeface="Times New Roman" panose="02020503050405090304"/>
                        <a:ea typeface="宋体" pitchFamily="2" charset="-122"/>
                      </a:endParaRPr>
                    </a:p>
                  </a:txBody>
                  <a:tcPr marL="51435" marR="51435" marT="0" marB="0" anchor="ctr">
                    <a:lnL>
                      <a:noFill/>
                    </a:lnL>
                    <a:lnR>
                      <a:noFill/>
                    </a:lnR>
                    <a:lnT w="19050">
                      <a:solidFill>
                        <a:srgbClr val="584E61"/>
                      </a:solidFill>
                      <a:prstDash val="solid"/>
                    </a:lnT>
                    <a:lnB>
                      <a:noFill/>
                    </a:lnB>
                    <a:solidFill>
                      <a:srgbClr val="FFFFFF"/>
                    </a:solidFill>
                  </a:tcPr>
                </a:tc>
                <a:tc>
                  <a:txBody>
                    <a:bodyPr/>
                    <a:lstStyle/>
                    <a:p>
                      <a:pPr indent="266700" algn="ctr">
                        <a:spcAft>
                          <a:spcPts val="0"/>
                        </a:spcAft>
                      </a:pPr>
                      <a:r>
                        <a:rPr lang="en-US" sz="1100" kern="0" dirty="0">
                          <a:solidFill>
                            <a:srgbClr val="584E61"/>
                          </a:solidFill>
                          <a:effectLst/>
                        </a:rPr>
                        <a:t>0000</a:t>
                      </a:r>
                      <a:endParaRPr lang="en-US" sz="1100" kern="0" dirty="0">
                        <a:solidFill>
                          <a:srgbClr val="584E61"/>
                        </a:solidFill>
                        <a:effectLst/>
                        <a:latin typeface="Times New Roman" panose="02020503050405090304"/>
                        <a:ea typeface="宋体" pitchFamily="2" charset="-122"/>
                      </a:endParaRPr>
                    </a:p>
                  </a:txBody>
                  <a:tcPr marL="51435" marR="51435" marT="0" marB="0" anchor="ctr">
                    <a:lnL>
                      <a:noFill/>
                    </a:lnL>
                    <a:lnR>
                      <a:noFill/>
                    </a:lnR>
                    <a:lnT w="19050">
                      <a:solidFill>
                        <a:srgbClr val="584E61"/>
                      </a:solidFill>
                      <a:prstDash val="solid"/>
                    </a:lnT>
                    <a:lnB>
                      <a:noFill/>
                    </a:lnB>
                    <a:solidFill>
                      <a:srgbClr val="FFFFFF"/>
                    </a:solidFill>
                  </a:tcPr>
                </a:tc>
                <a:tc>
                  <a:txBody>
                    <a:bodyPr/>
                    <a:lstStyle/>
                    <a:p>
                      <a:pPr indent="266700" algn="ctr">
                        <a:spcAft>
                          <a:spcPts val="0"/>
                        </a:spcAft>
                      </a:pPr>
                      <a:r>
                        <a:rPr lang="en-US" sz="1100" kern="0" dirty="0">
                          <a:solidFill>
                            <a:srgbClr val="584E61"/>
                          </a:solidFill>
                          <a:effectLst/>
                        </a:rPr>
                        <a:t>5</a:t>
                      </a:r>
                      <a:endParaRPr lang="en-US" sz="1100" kern="0" dirty="0">
                        <a:solidFill>
                          <a:srgbClr val="584E61"/>
                        </a:solidFill>
                        <a:effectLst/>
                        <a:latin typeface="Times New Roman" panose="02020503050405090304"/>
                        <a:ea typeface="宋体" pitchFamily="2" charset="-122"/>
                      </a:endParaRPr>
                    </a:p>
                  </a:txBody>
                  <a:tcPr marL="51435" marR="51435" marT="0" marB="0" anchor="ctr">
                    <a:lnL>
                      <a:noFill/>
                    </a:lnL>
                    <a:lnR>
                      <a:noFill/>
                    </a:lnR>
                    <a:lnT w="19050">
                      <a:solidFill>
                        <a:srgbClr val="584E61"/>
                      </a:solidFill>
                      <a:prstDash val="solid"/>
                    </a:lnT>
                    <a:lnB>
                      <a:noFill/>
                    </a:lnB>
                    <a:solidFill>
                      <a:srgbClr val="FFFFFF"/>
                    </a:solidFill>
                  </a:tcPr>
                </a:tc>
                <a:tc>
                  <a:txBody>
                    <a:bodyPr/>
                    <a:lstStyle/>
                    <a:p>
                      <a:pPr indent="266700" algn="ctr">
                        <a:spcAft>
                          <a:spcPts val="0"/>
                        </a:spcAft>
                      </a:pPr>
                      <a:r>
                        <a:rPr lang="en-US" sz="1100" kern="0" dirty="0">
                          <a:solidFill>
                            <a:srgbClr val="584E61"/>
                          </a:solidFill>
                          <a:effectLst/>
                        </a:rPr>
                        <a:t>0101</a:t>
                      </a:r>
                      <a:endParaRPr lang="en-US" sz="1100" kern="0" dirty="0">
                        <a:solidFill>
                          <a:srgbClr val="584E61"/>
                        </a:solidFill>
                        <a:effectLst/>
                        <a:latin typeface="Times New Roman" panose="02020503050405090304"/>
                        <a:ea typeface="宋体" pitchFamily="2" charset="-122"/>
                      </a:endParaRPr>
                    </a:p>
                  </a:txBody>
                  <a:tcPr marL="51435" marR="51435" marT="0" marB="0" anchor="ctr">
                    <a:lnL>
                      <a:noFill/>
                    </a:lnL>
                    <a:lnR>
                      <a:noFill/>
                    </a:lnR>
                    <a:lnT w="19050">
                      <a:solidFill>
                        <a:srgbClr val="584E61"/>
                      </a:solidFill>
                      <a:prstDash val="solid"/>
                    </a:lnT>
                    <a:lnB>
                      <a:noFill/>
                    </a:lnB>
                    <a:solidFill>
                      <a:srgbClr val="FFFFFF"/>
                    </a:solidFill>
                  </a:tcPr>
                </a:tc>
              </a:tr>
              <a:tr h="360000">
                <a:tc>
                  <a:txBody>
                    <a:bodyPr/>
                    <a:lstStyle/>
                    <a:p>
                      <a:pPr indent="266700" algn="ctr">
                        <a:spcAft>
                          <a:spcPts val="0"/>
                        </a:spcAft>
                      </a:pPr>
                      <a:r>
                        <a:rPr lang="en-US" sz="1100" kern="0" dirty="0">
                          <a:solidFill>
                            <a:srgbClr val="584E61"/>
                          </a:solidFill>
                          <a:effectLst/>
                        </a:rPr>
                        <a:t>1</a:t>
                      </a:r>
                      <a:endParaRPr lang="en-US" sz="1100" kern="0" dirty="0">
                        <a:solidFill>
                          <a:srgbClr val="584E61"/>
                        </a:solidFill>
                        <a:effectLst/>
                        <a:latin typeface="Times New Roman" panose="02020503050405090304"/>
                        <a:ea typeface="宋体" pitchFamily="2" charset="-122"/>
                      </a:endParaRPr>
                    </a:p>
                  </a:txBody>
                  <a:tcPr marL="51435" marR="51435" marT="0" marB="0" anchor="ctr">
                    <a:lnL>
                      <a:noFill/>
                    </a:lnL>
                    <a:lnR>
                      <a:noFill/>
                    </a:lnR>
                    <a:lnT>
                      <a:noFill/>
                    </a:lnT>
                    <a:lnB>
                      <a:noFill/>
                    </a:lnB>
                    <a:solidFill>
                      <a:srgbClr val="F0EFF2"/>
                    </a:solidFill>
                  </a:tcPr>
                </a:tc>
                <a:tc>
                  <a:txBody>
                    <a:bodyPr/>
                    <a:lstStyle/>
                    <a:p>
                      <a:pPr indent="266700" algn="ctr">
                        <a:spcAft>
                          <a:spcPts val="0"/>
                        </a:spcAft>
                      </a:pPr>
                      <a:r>
                        <a:rPr lang="en-US" sz="1100" kern="0" dirty="0">
                          <a:solidFill>
                            <a:srgbClr val="584E61"/>
                          </a:solidFill>
                          <a:effectLst/>
                        </a:rPr>
                        <a:t>0001</a:t>
                      </a:r>
                      <a:endParaRPr lang="en-US" sz="1100" kern="0" dirty="0">
                        <a:solidFill>
                          <a:srgbClr val="584E61"/>
                        </a:solidFill>
                        <a:effectLst/>
                        <a:latin typeface="Times New Roman" panose="02020503050405090304"/>
                        <a:ea typeface="宋体" pitchFamily="2" charset="-122"/>
                      </a:endParaRPr>
                    </a:p>
                  </a:txBody>
                  <a:tcPr marL="51435" marR="51435" marT="0" marB="0" anchor="ctr">
                    <a:lnL>
                      <a:noFill/>
                    </a:lnL>
                    <a:lnR>
                      <a:noFill/>
                    </a:lnR>
                    <a:lnT>
                      <a:noFill/>
                    </a:lnT>
                    <a:lnB>
                      <a:noFill/>
                    </a:lnB>
                    <a:solidFill>
                      <a:srgbClr val="F0EFF2"/>
                    </a:solidFill>
                  </a:tcPr>
                </a:tc>
                <a:tc>
                  <a:txBody>
                    <a:bodyPr/>
                    <a:lstStyle/>
                    <a:p>
                      <a:pPr indent="266700" algn="ctr">
                        <a:spcAft>
                          <a:spcPts val="0"/>
                        </a:spcAft>
                      </a:pPr>
                      <a:r>
                        <a:rPr lang="en-US" sz="1100" kern="0" dirty="0">
                          <a:solidFill>
                            <a:srgbClr val="584E61"/>
                          </a:solidFill>
                          <a:effectLst/>
                        </a:rPr>
                        <a:t>6</a:t>
                      </a:r>
                      <a:endParaRPr lang="en-US" sz="1100" kern="0" dirty="0">
                        <a:solidFill>
                          <a:srgbClr val="584E61"/>
                        </a:solidFill>
                        <a:effectLst/>
                        <a:latin typeface="Times New Roman" panose="02020503050405090304"/>
                        <a:ea typeface="宋体" pitchFamily="2" charset="-122"/>
                      </a:endParaRPr>
                    </a:p>
                  </a:txBody>
                  <a:tcPr marL="51435" marR="51435" marT="0" marB="0" anchor="ctr">
                    <a:lnL>
                      <a:noFill/>
                    </a:lnL>
                    <a:lnR>
                      <a:noFill/>
                    </a:lnR>
                    <a:lnT>
                      <a:noFill/>
                    </a:lnT>
                    <a:lnB>
                      <a:noFill/>
                    </a:lnB>
                    <a:solidFill>
                      <a:srgbClr val="F0EFF2"/>
                    </a:solidFill>
                  </a:tcPr>
                </a:tc>
                <a:tc>
                  <a:txBody>
                    <a:bodyPr/>
                    <a:lstStyle/>
                    <a:p>
                      <a:pPr indent="266700" algn="ctr">
                        <a:spcAft>
                          <a:spcPts val="0"/>
                        </a:spcAft>
                      </a:pPr>
                      <a:r>
                        <a:rPr lang="en-US" sz="1100" kern="0" dirty="0">
                          <a:solidFill>
                            <a:srgbClr val="584E61"/>
                          </a:solidFill>
                          <a:effectLst/>
                        </a:rPr>
                        <a:t>0110</a:t>
                      </a:r>
                      <a:endParaRPr lang="en-US" sz="1100" kern="0" dirty="0">
                        <a:solidFill>
                          <a:srgbClr val="584E61"/>
                        </a:solidFill>
                        <a:effectLst/>
                        <a:latin typeface="Times New Roman" panose="02020503050405090304"/>
                        <a:ea typeface="宋体" pitchFamily="2" charset="-122"/>
                      </a:endParaRPr>
                    </a:p>
                  </a:txBody>
                  <a:tcPr marL="51435" marR="51435" marT="0" marB="0" anchor="ctr">
                    <a:lnL>
                      <a:noFill/>
                    </a:lnL>
                    <a:lnR>
                      <a:noFill/>
                    </a:lnR>
                    <a:lnT>
                      <a:noFill/>
                    </a:lnT>
                    <a:lnB>
                      <a:noFill/>
                    </a:lnB>
                    <a:solidFill>
                      <a:srgbClr val="F0EFF2"/>
                    </a:solidFill>
                  </a:tcPr>
                </a:tc>
              </a:tr>
              <a:tr h="360000">
                <a:tc>
                  <a:txBody>
                    <a:bodyPr/>
                    <a:lstStyle/>
                    <a:p>
                      <a:pPr indent="266700" algn="ctr">
                        <a:spcAft>
                          <a:spcPts val="0"/>
                        </a:spcAft>
                      </a:pPr>
                      <a:r>
                        <a:rPr lang="en-US" sz="1100" kern="0" dirty="0">
                          <a:solidFill>
                            <a:srgbClr val="584E61"/>
                          </a:solidFill>
                          <a:effectLst/>
                        </a:rPr>
                        <a:t>2</a:t>
                      </a:r>
                      <a:endParaRPr lang="en-US" sz="1100" kern="0" dirty="0">
                        <a:solidFill>
                          <a:srgbClr val="584E61"/>
                        </a:solidFill>
                        <a:effectLst/>
                        <a:latin typeface="Times New Roman" panose="02020503050405090304"/>
                        <a:ea typeface="宋体" pitchFamily="2" charset="-122"/>
                      </a:endParaRPr>
                    </a:p>
                  </a:txBody>
                  <a:tcPr marL="51435" marR="51435" marT="0" marB="0" anchor="ctr">
                    <a:lnL>
                      <a:noFill/>
                    </a:lnL>
                    <a:lnR>
                      <a:noFill/>
                    </a:lnR>
                    <a:lnT>
                      <a:noFill/>
                    </a:lnT>
                    <a:lnB>
                      <a:noFill/>
                    </a:lnB>
                    <a:solidFill>
                      <a:srgbClr val="FFFFFF"/>
                    </a:solidFill>
                  </a:tcPr>
                </a:tc>
                <a:tc>
                  <a:txBody>
                    <a:bodyPr/>
                    <a:lstStyle/>
                    <a:p>
                      <a:pPr indent="266700" algn="ctr">
                        <a:spcAft>
                          <a:spcPts val="0"/>
                        </a:spcAft>
                      </a:pPr>
                      <a:r>
                        <a:rPr lang="en-US" sz="1100" kern="0" dirty="0">
                          <a:solidFill>
                            <a:srgbClr val="584E61"/>
                          </a:solidFill>
                          <a:effectLst/>
                        </a:rPr>
                        <a:t>0010</a:t>
                      </a:r>
                      <a:endParaRPr lang="en-US" sz="1100" kern="0" dirty="0">
                        <a:solidFill>
                          <a:srgbClr val="584E61"/>
                        </a:solidFill>
                        <a:effectLst/>
                        <a:latin typeface="Times New Roman" panose="02020503050405090304"/>
                        <a:ea typeface="宋体" pitchFamily="2" charset="-122"/>
                      </a:endParaRPr>
                    </a:p>
                  </a:txBody>
                  <a:tcPr marL="51435" marR="51435" marT="0" marB="0" anchor="ctr">
                    <a:lnL>
                      <a:noFill/>
                    </a:lnL>
                    <a:lnR>
                      <a:noFill/>
                    </a:lnR>
                    <a:lnT>
                      <a:noFill/>
                    </a:lnT>
                    <a:lnB>
                      <a:noFill/>
                    </a:lnB>
                    <a:solidFill>
                      <a:srgbClr val="FFFFFF"/>
                    </a:solidFill>
                  </a:tcPr>
                </a:tc>
                <a:tc>
                  <a:txBody>
                    <a:bodyPr/>
                    <a:lstStyle/>
                    <a:p>
                      <a:pPr indent="266700" algn="ctr">
                        <a:spcAft>
                          <a:spcPts val="0"/>
                        </a:spcAft>
                      </a:pPr>
                      <a:r>
                        <a:rPr lang="en-US" sz="1100" kern="0" dirty="0">
                          <a:solidFill>
                            <a:srgbClr val="584E61"/>
                          </a:solidFill>
                          <a:effectLst/>
                        </a:rPr>
                        <a:t>7</a:t>
                      </a:r>
                      <a:endParaRPr lang="en-US" sz="1100" kern="0" dirty="0">
                        <a:solidFill>
                          <a:srgbClr val="584E61"/>
                        </a:solidFill>
                        <a:effectLst/>
                        <a:latin typeface="Times New Roman" panose="02020503050405090304"/>
                        <a:ea typeface="宋体" pitchFamily="2" charset="-122"/>
                      </a:endParaRPr>
                    </a:p>
                  </a:txBody>
                  <a:tcPr marL="51435" marR="51435" marT="0" marB="0" anchor="ctr">
                    <a:lnL>
                      <a:noFill/>
                    </a:lnL>
                    <a:lnR>
                      <a:noFill/>
                    </a:lnR>
                    <a:lnT>
                      <a:noFill/>
                    </a:lnT>
                    <a:lnB>
                      <a:noFill/>
                    </a:lnB>
                    <a:solidFill>
                      <a:srgbClr val="FFFFFF"/>
                    </a:solidFill>
                  </a:tcPr>
                </a:tc>
                <a:tc>
                  <a:txBody>
                    <a:bodyPr/>
                    <a:lstStyle/>
                    <a:p>
                      <a:pPr indent="266700" algn="ctr">
                        <a:spcAft>
                          <a:spcPts val="0"/>
                        </a:spcAft>
                      </a:pPr>
                      <a:r>
                        <a:rPr lang="en-US" sz="1100" kern="0" dirty="0">
                          <a:solidFill>
                            <a:srgbClr val="584E61"/>
                          </a:solidFill>
                          <a:effectLst/>
                        </a:rPr>
                        <a:t>0111</a:t>
                      </a:r>
                      <a:endParaRPr lang="en-US" sz="1100" kern="0" dirty="0">
                        <a:solidFill>
                          <a:srgbClr val="584E61"/>
                        </a:solidFill>
                        <a:effectLst/>
                        <a:latin typeface="Times New Roman" panose="02020503050405090304"/>
                        <a:ea typeface="宋体" pitchFamily="2" charset="-122"/>
                      </a:endParaRPr>
                    </a:p>
                  </a:txBody>
                  <a:tcPr marL="51435" marR="51435" marT="0" marB="0" anchor="ctr">
                    <a:lnL>
                      <a:noFill/>
                    </a:lnL>
                    <a:lnR>
                      <a:noFill/>
                    </a:lnR>
                    <a:lnT>
                      <a:noFill/>
                    </a:lnT>
                    <a:lnB>
                      <a:noFill/>
                    </a:lnB>
                    <a:solidFill>
                      <a:srgbClr val="FFFFFF"/>
                    </a:solidFill>
                  </a:tcPr>
                </a:tc>
              </a:tr>
              <a:tr h="360000">
                <a:tc>
                  <a:txBody>
                    <a:bodyPr/>
                    <a:lstStyle/>
                    <a:p>
                      <a:pPr indent="266700" algn="ctr">
                        <a:spcAft>
                          <a:spcPts val="0"/>
                        </a:spcAft>
                      </a:pPr>
                      <a:r>
                        <a:rPr lang="en-US" sz="1100" kern="0" dirty="0">
                          <a:solidFill>
                            <a:srgbClr val="584E61"/>
                          </a:solidFill>
                          <a:effectLst/>
                        </a:rPr>
                        <a:t>3</a:t>
                      </a:r>
                      <a:endParaRPr lang="en-US" sz="1100" kern="0" dirty="0">
                        <a:solidFill>
                          <a:srgbClr val="584E61"/>
                        </a:solidFill>
                        <a:effectLst/>
                        <a:latin typeface="Times New Roman" panose="02020503050405090304"/>
                        <a:ea typeface="宋体" pitchFamily="2" charset="-122"/>
                      </a:endParaRPr>
                    </a:p>
                  </a:txBody>
                  <a:tcPr marL="51435" marR="51435" marT="0" marB="0" anchor="ctr">
                    <a:lnL>
                      <a:noFill/>
                    </a:lnL>
                    <a:lnR>
                      <a:noFill/>
                    </a:lnR>
                    <a:lnT>
                      <a:noFill/>
                    </a:lnT>
                    <a:lnB>
                      <a:noFill/>
                    </a:lnB>
                    <a:solidFill>
                      <a:srgbClr val="F0EFF2"/>
                    </a:solidFill>
                  </a:tcPr>
                </a:tc>
                <a:tc>
                  <a:txBody>
                    <a:bodyPr/>
                    <a:lstStyle/>
                    <a:p>
                      <a:pPr indent="266700" algn="ctr">
                        <a:spcAft>
                          <a:spcPts val="0"/>
                        </a:spcAft>
                      </a:pPr>
                      <a:r>
                        <a:rPr lang="en-US" sz="1100" kern="0" dirty="0">
                          <a:solidFill>
                            <a:srgbClr val="584E61"/>
                          </a:solidFill>
                          <a:effectLst/>
                        </a:rPr>
                        <a:t>0011</a:t>
                      </a:r>
                      <a:endParaRPr lang="en-US" sz="1100" kern="0" dirty="0">
                        <a:solidFill>
                          <a:srgbClr val="584E61"/>
                        </a:solidFill>
                        <a:effectLst/>
                        <a:latin typeface="Times New Roman" panose="02020503050405090304"/>
                        <a:ea typeface="宋体" pitchFamily="2" charset="-122"/>
                      </a:endParaRPr>
                    </a:p>
                  </a:txBody>
                  <a:tcPr marL="51435" marR="51435" marT="0" marB="0" anchor="ctr">
                    <a:lnL>
                      <a:noFill/>
                    </a:lnL>
                    <a:lnR>
                      <a:noFill/>
                    </a:lnR>
                    <a:lnT>
                      <a:noFill/>
                    </a:lnT>
                    <a:lnB>
                      <a:noFill/>
                    </a:lnB>
                    <a:solidFill>
                      <a:srgbClr val="F0EFF2"/>
                    </a:solidFill>
                  </a:tcPr>
                </a:tc>
                <a:tc>
                  <a:txBody>
                    <a:bodyPr/>
                    <a:lstStyle/>
                    <a:p>
                      <a:pPr indent="266700" algn="ctr">
                        <a:spcAft>
                          <a:spcPts val="0"/>
                        </a:spcAft>
                      </a:pPr>
                      <a:r>
                        <a:rPr lang="en-US" sz="1100" kern="0" dirty="0">
                          <a:solidFill>
                            <a:srgbClr val="584E61"/>
                          </a:solidFill>
                          <a:effectLst/>
                        </a:rPr>
                        <a:t>8</a:t>
                      </a:r>
                      <a:endParaRPr lang="en-US" sz="1100" kern="0" dirty="0">
                        <a:solidFill>
                          <a:srgbClr val="584E61"/>
                        </a:solidFill>
                        <a:effectLst/>
                        <a:latin typeface="Times New Roman" panose="02020503050405090304"/>
                        <a:ea typeface="宋体" pitchFamily="2" charset="-122"/>
                      </a:endParaRPr>
                    </a:p>
                  </a:txBody>
                  <a:tcPr marL="51435" marR="51435" marT="0" marB="0" anchor="ctr">
                    <a:lnL>
                      <a:noFill/>
                    </a:lnL>
                    <a:lnR>
                      <a:noFill/>
                    </a:lnR>
                    <a:lnT>
                      <a:noFill/>
                    </a:lnT>
                    <a:lnB>
                      <a:noFill/>
                    </a:lnB>
                    <a:solidFill>
                      <a:srgbClr val="F0EFF2"/>
                    </a:solidFill>
                  </a:tcPr>
                </a:tc>
                <a:tc>
                  <a:txBody>
                    <a:bodyPr/>
                    <a:lstStyle/>
                    <a:p>
                      <a:pPr indent="266700" algn="ctr">
                        <a:spcAft>
                          <a:spcPts val="0"/>
                        </a:spcAft>
                      </a:pPr>
                      <a:r>
                        <a:rPr lang="en-US" sz="1100" kern="0" dirty="0">
                          <a:solidFill>
                            <a:srgbClr val="584E61"/>
                          </a:solidFill>
                          <a:effectLst/>
                        </a:rPr>
                        <a:t>1000</a:t>
                      </a:r>
                      <a:endParaRPr lang="en-US" sz="1100" kern="0" dirty="0">
                        <a:solidFill>
                          <a:srgbClr val="584E61"/>
                        </a:solidFill>
                        <a:effectLst/>
                        <a:latin typeface="Times New Roman" panose="02020503050405090304"/>
                        <a:ea typeface="宋体" pitchFamily="2" charset="-122"/>
                      </a:endParaRPr>
                    </a:p>
                  </a:txBody>
                  <a:tcPr marL="51435" marR="51435" marT="0" marB="0" anchor="ctr">
                    <a:lnL>
                      <a:noFill/>
                    </a:lnL>
                    <a:lnR>
                      <a:noFill/>
                    </a:lnR>
                    <a:lnT>
                      <a:noFill/>
                    </a:lnT>
                    <a:lnB>
                      <a:noFill/>
                    </a:lnB>
                    <a:solidFill>
                      <a:srgbClr val="F0EFF2"/>
                    </a:solidFill>
                  </a:tcPr>
                </a:tc>
              </a:tr>
              <a:tr h="360000">
                <a:tc>
                  <a:txBody>
                    <a:bodyPr/>
                    <a:lstStyle/>
                    <a:p>
                      <a:pPr indent="266700" algn="ctr">
                        <a:spcAft>
                          <a:spcPts val="0"/>
                        </a:spcAft>
                      </a:pPr>
                      <a:r>
                        <a:rPr lang="en-US" sz="1100" kern="0" dirty="0">
                          <a:solidFill>
                            <a:srgbClr val="584E61"/>
                          </a:solidFill>
                          <a:effectLst/>
                        </a:rPr>
                        <a:t>4</a:t>
                      </a:r>
                      <a:endParaRPr lang="en-US" sz="1100" kern="0" dirty="0">
                        <a:solidFill>
                          <a:srgbClr val="584E61"/>
                        </a:solidFill>
                        <a:effectLst/>
                        <a:latin typeface="Times New Roman" panose="02020503050405090304"/>
                        <a:ea typeface="宋体" pitchFamily="2" charset="-122"/>
                      </a:endParaRPr>
                    </a:p>
                  </a:txBody>
                  <a:tcPr marL="51435" marR="51435" marT="0" marB="0" anchor="ctr">
                    <a:lnL>
                      <a:noFill/>
                    </a:lnL>
                    <a:lnR>
                      <a:noFill/>
                    </a:lnR>
                    <a:lnT>
                      <a:noFill/>
                    </a:lnT>
                    <a:lnB w="19050">
                      <a:solidFill>
                        <a:srgbClr val="584E61"/>
                      </a:solidFill>
                      <a:prstDash val="solid"/>
                    </a:lnB>
                    <a:solidFill>
                      <a:srgbClr val="FFFFFF"/>
                    </a:solidFill>
                  </a:tcPr>
                </a:tc>
                <a:tc>
                  <a:txBody>
                    <a:bodyPr/>
                    <a:lstStyle/>
                    <a:p>
                      <a:pPr indent="266700" algn="ctr">
                        <a:spcAft>
                          <a:spcPts val="0"/>
                        </a:spcAft>
                      </a:pPr>
                      <a:r>
                        <a:rPr lang="en-US" sz="1100" kern="0" dirty="0">
                          <a:solidFill>
                            <a:srgbClr val="584E61"/>
                          </a:solidFill>
                          <a:effectLst/>
                        </a:rPr>
                        <a:t>0100</a:t>
                      </a:r>
                      <a:endParaRPr lang="en-US" sz="1100" kern="0" dirty="0">
                        <a:solidFill>
                          <a:srgbClr val="584E61"/>
                        </a:solidFill>
                        <a:effectLst/>
                        <a:latin typeface="Times New Roman" panose="02020503050405090304"/>
                        <a:ea typeface="宋体" pitchFamily="2" charset="-122"/>
                      </a:endParaRPr>
                    </a:p>
                  </a:txBody>
                  <a:tcPr marL="51435" marR="51435" marT="0" marB="0" anchor="ctr">
                    <a:lnL>
                      <a:noFill/>
                    </a:lnL>
                    <a:lnR>
                      <a:noFill/>
                    </a:lnR>
                    <a:lnT>
                      <a:noFill/>
                    </a:lnT>
                    <a:lnB w="19050">
                      <a:solidFill>
                        <a:srgbClr val="584E61"/>
                      </a:solidFill>
                      <a:prstDash val="solid"/>
                    </a:lnB>
                    <a:solidFill>
                      <a:srgbClr val="FFFFFF"/>
                    </a:solidFill>
                  </a:tcPr>
                </a:tc>
                <a:tc>
                  <a:txBody>
                    <a:bodyPr/>
                    <a:lstStyle/>
                    <a:p>
                      <a:pPr indent="266700" algn="ctr">
                        <a:spcAft>
                          <a:spcPts val="0"/>
                        </a:spcAft>
                      </a:pPr>
                      <a:r>
                        <a:rPr lang="en-US" sz="1100" kern="0" dirty="0">
                          <a:solidFill>
                            <a:srgbClr val="584E61"/>
                          </a:solidFill>
                          <a:effectLst/>
                        </a:rPr>
                        <a:t>9</a:t>
                      </a:r>
                      <a:endParaRPr lang="en-US" sz="1100" kern="0" dirty="0">
                        <a:solidFill>
                          <a:srgbClr val="584E61"/>
                        </a:solidFill>
                        <a:effectLst/>
                        <a:latin typeface="Times New Roman" panose="02020503050405090304"/>
                        <a:ea typeface="宋体" pitchFamily="2" charset="-122"/>
                      </a:endParaRPr>
                    </a:p>
                  </a:txBody>
                  <a:tcPr marL="51435" marR="51435" marT="0" marB="0" anchor="ctr">
                    <a:lnL>
                      <a:noFill/>
                    </a:lnL>
                    <a:lnR>
                      <a:noFill/>
                    </a:lnR>
                    <a:lnT>
                      <a:noFill/>
                    </a:lnT>
                    <a:lnB w="19050">
                      <a:solidFill>
                        <a:srgbClr val="584E61"/>
                      </a:solidFill>
                      <a:prstDash val="solid"/>
                    </a:lnB>
                    <a:solidFill>
                      <a:srgbClr val="FFFFFF"/>
                    </a:solidFill>
                  </a:tcPr>
                </a:tc>
                <a:tc>
                  <a:txBody>
                    <a:bodyPr/>
                    <a:lstStyle/>
                    <a:p>
                      <a:pPr indent="266700" algn="ctr">
                        <a:spcAft>
                          <a:spcPts val="0"/>
                        </a:spcAft>
                      </a:pPr>
                      <a:r>
                        <a:rPr lang="en-US" sz="1100" kern="0" dirty="0">
                          <a:solidFill>
                            <a:srgbClr val="584E61"/>
                          </a:solidFill>
                          <a:effectLst/>
                        </a:rPr>
                        <a:t>1001</a:t>
                      </a:r>
                      <a:endParaRPr lang="en-US" sz="1100" kern="0" dirty="0">
                        <a:solidFill>
                          <a:srgbClr val="584E61"/>
                        </a:solidFill>
                        <a:effectLst/>
                        <a:latin typeface="Times New Roman" panose="02020503050405090304"/>
                        <a:ea typeface="宋体" pitchFamily="2" charset="-122"/>
                      </a:endParaRPr>
                    </a:p>
                  </a:txBody>
                  <a:tcPr marL="51435" marR="51435" marT="0" marB="0" anchor="ctr">
                    <a:lnL>
                      <a:noFill/>
                    </a:lnL>
                    <a:lnR>
                      <a:noFill/>
                    </a:lnR>
                    <a:lnT>
                      <a:noFill/>
                    </a:lnT>
                    <a:lnB w="19050">
                      <a:solidFill>
                        <a:srgbClr val="584E61"/>
                      </a:solidFill>
                      <a:prstDash val="solid"/>
                    </a:lnB>
                    <a:solidFill>
                      <a:srgbClr val="FFFFFF"/>
                    </a:solidFill>
                  </a:tcPr>
                </a:tc>
              </a:tr>
            </a:tbl>
          </a:graphicData>
        </a:graphic>
      </p:graphicFrame>
      <p:sp>
        <p:nvSpPr>
          <p:cNvPr id="3" name="灯片编号占位符 2"/>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Tx/>
              <a:buChar char="•"/>
              <a:defRPr/>
            </a:pPr>
            <a:r>
              <a:rPr kumimoji="0" lang="en-US" altLang="zh-CN" b="1" i="0" u="none" strike="noStrike" kern="0" cap="none" spc="0" normalizeH="0" baseline="0" noProof="0" dirty="0" smtClean="0">
                <a:ln>
                  <a:noFill/>
                </a:ln>
                <a:solidFill>
                  <a:srgbClr val="009ED6"/>
                </a:solidFill>
                <a:effectLst/>
                <a:uLnTx/>
                <a:uFillTx/>
                <a:latin typeface="+mn-lt"/>
                <a:ea typeface="+mn-ea"/>
                <a:cs typeface="+mn-cs"/>
              </a:rPr>
              <a:t>2.1.2 </a:t>
            </a:r>
            <a:r>
              <a:rPr kumimoji="0" lang="zh-CN" altLang="en-US" b="1" i="0" u="none" strike="noStrike" kern="0" cap="none" spc="0" normalizeH="0" baseline="0" noProof="0" dirty="0" smtClean="0">
                <a:ln>
                  <a:noFill/>
                </a:ln>
                <a:solidFill>
                  <a:srgbClr val="009ED6"/>
                </a:solidFill>
                <a:effectLst/>
                <a:uLnTx/>
                <a:uFillTx/>
                <a:latin typeface="+mn-lt"/>
                <a:ea typeface="+mn-ea"/>
                <a:cs typeface="+mn-cs"/>
              </a:rPr>
              <a:t>八进制与十六进制</a:t>
            </a:r>
            <a:endParaRPr kumimoji="0" lang="en-US" altLang="zh-CN" b="1" i="0" u="none" strike="noStrike" kern="0" cap="none" spc="0" normalizeH="0" baseline="0" noProof="0" dirty="0" smtClean="0">
              <a:ln>
                <a:noFill/>
              </a:ln>
              <a:solidFill>
                <a:srgbClr val="009ED6"/>
              </a:solidFill>
              <a:effectLst/>
              <a:uLnTx/>
              <a:uFillTx/>
              <a:latin typeface="+mn-lt"/>
              <a:ea typeface="+mn-ea"/>
              <a:cs typeface="+mn-cs"/>
            </a:endParaRPr>
          </a:p>
          <a:p>
            <a:pPr marL="742950" marR="0" lvl="1" indent="-285750" algn="l" defTabSz="914400" rtl="0" eaLnBrk="0" fontAlgn="base" latinLnBrk="0" hangingPunct="0">
              <a:lnSpc>
                <a:spcPct val="150000"/>
              </a:lnSpc>
              <a:spcBef>
                <a:spcPct val="20000"/>
              </a:spcBef>
              <a:spcAft>
                <a:spcPct val="0"/>
              </a:spcAft>
              <a:buClrTx/>
              <a:buSzTx/>
              <a:buFontTx/>
              <a:buChar char="–"/>
              <a:defRPr/>
            </a:pPr>
            <a:r>
              <a:rPr kumimoji="0" lang="zh-CN" altLang="en-US" b="0" i="0" u="none" strike="noStrike" kern="0" cap="none" spc="0" normalizeH="0" baseline="0" noProof="0" dirty="0" smtClean="0">
                <a:ln>
                  <a:noFill/>
                </a:ln>
                <a:solidFill>
                  <a:schemeClr val="tx1"/>
                </a:solidFill>
                <a:effectLst/>
                <a:uLnTx/>
                <a:uFillTx/>
                <a:latin typeface="+mn-lt"/>
                <a:ea typeface="+mn-ea"/>
              </a:rPr>
              <a:t>八进制 </a:t>
            </a: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a:ln>
                  <a:noFill/>
                </a:ln>
                <a:solidFill>
                  <a:schemeClr val="tx1"/>
                </a:solidFill>
                <a:effectLst/>
                <a:uLnTx/>
                <a:uFillTx/>
                <a:latin typeface="+mn-lt"/>
                <a:ea typeface="+mn-ea"/>
              </a:rPr>
              <a:t> </a:t>
            </a:r>
            <a:r>
              <a:rPr kumimoji="0" lang="en-US" altLang="zh-CN" b="0" i="0" u="none" strike="noStrike" kern="0" cap="none" spc="0" normalizeH="0" baseline="0" noProof="0" dirty="0" smtClean="0">
                <a:ln>
                  <a:noFill/>
                </a:ln>
                <a:solidFill>
                  <a:schemeClr val="tx1"/>
                </a:solidFill>
                <a:effectLst/>
                <a:uLnTx/>
                <a:uFillTx/>
                <a:latin typeface="+mn-lt"/>
                <a:ea typeface="+mn-ea"/>
              </a:rPr>
              <a:t>      </a:t>
            </a:r>
            <a:r>
              <a:rPr kumimoji="0" lang="zh-CN" altLang="zh-CN" b="0" i="0" u="none" strike="noStrike" kern="0" cap="none" spc="0" normalizeH="0" baseline="0" noProof="0" dirty="0" smtClean="0">
                <a:ln>
                  <a:noFill/>
                </a:ln>
                <a:solidFill>
                  <a:schemeClr val="tx1"/>
                </a:solidFill>
                <a:effectLst/>
                <a:uLnTx/>
                <a:uFillTx/>
                <a:latin typeface="+mn-lt"/>
                <a:ea typeface="+mn-ea"/>
              </a:rPr>
              <a:t>八进制</a:t>
            </a:r>
            <a:r>
              <a:rPr kumimoji="0" lang="zh-CN" altLang="zh-CN" b="0" i="0" u="none" strike="noStrike" kern="0" cap="none" spc="0" normalizeH="0" baseline="0" noProof="0" dirty="0">
                <a:ln>
                  <a:noFill/>
                </a:ln>
                <a:solidFill>
                  <a:schemeClr val="tx1"/>
                </a:solidFill>
                <a:effectLst/>
                <a:uLnTx/>
                <a:uFillTx/>
                <a:latin typeface="+mn-lt"/>
                <a:ea typeface="+mn-ea"/>
              </a:rPr>
              <a:t>是一种“逢八进一”的进制，它由</a:t>
            </a:r>
            <a:r>
              <a:rPr kumimoji="0" lang="en-US" altLang="zh-CN" b="0" i="0" u="none" strike="noStrike" kern="0" cap="none" spc="0" normalizeH="0" baseline="0" noProof="0" dirty="0">
                <a:ln>
                  <a:noFill/>
                </a:ln>
                <a:solidFill>
                  <a:schemeClr val="tx1"/>
                </a:solidFill>
                <a:effectLst/>
                <a:uLnTx/>
                <a:uFillTx/>
                <a:latin typeface="+mn-lt"/>
                <a:ea typeface="+mn-ea"/>
              </a:rPr>
              <a:t>0~7</a:t>
            </a:r>
            <a:r>
              <a:rPr kumimoji="0" lang="zh-CN" altLang="zh-CN" b="0" i="0" u="none" strike="noStrike" kern="0" cap="none" spc="0" normalizeH="0" baseline="0" noProof="0" dirty="0">
                <a:ln>
                  <a:noFill/>
                </a:ln>
                <a:solidFill>
                  <a:schemeClr val="tx1"/>
                </a:solidFill>
                <a:effectLst/>
                <a:uLnTx/>
                <a:uFillTx/>
                <a:latin typeface="+mn-lt"/>
                <a:ea typeface="+mn-ea"/>
              </a:rPr>
              <a:t>八个符号来描述。同样地，此处通过十进制和八进制的对比来描述八进制的表示方式，如表</a:t>
            </a:r>
            <a:r>
              <a:rPr kumimoji="0" lang="en-US" altLang="zh-CN" b="0" i="0" u="none" strike="noStrike" kern="0" cap="none" spc="0" normalizeH="0" baseline="0" noProof="0" dirty="0">
                <a:ln>
                  <a:noFill/>
                </a:ln>
                <a:solidFill>
                  <a:schemeClr val="tx1"/>
                </a:solidFill>
                <a:effectLst/>
                <a:uLnTx/>
                <a:uFillTx/>
                <a:latin typeface="+mn-lt"/>
                <a:ea typeface="+mn-ea"/>
              </a:rPr>
              <a:t>2-2</a:t>
            </a:r>
            <a:r>
              <a:rPr kumimoji="0" lang="zh-CN" altLang="zh-CN" b="0" i="0" u="none" strike="noStrike" kern="0" cap="none" spc="0" normalizeH="0" baseline="0" noProof="0" dirty="0">
                <a:ln>
                  <a:noFill/>
                </a:ln>
                <a:solidFill>
                  <a:schemeClr val="tx1"/>
                </a:solidFill>
                <a:effectLst/>
                <a:uLnTx/>
                <a:uFillTx/>
                <a:latin typeface="+mn-lt"/>
                <a:ea typeface="+mn-ea"/>
              </a:rPr>
              <a:t>所</a:t>
            </a:r>
            <a:r>
              <a:rPr kumimoji="0" lang="zh-CN" altLang="zh-CN" b="0" i="0" u="none" strike="noStrike" kern="0" cap="none" spc="0" normalizeH="0" baseline="0" noProof="0" dirty="0" smtClean="0">
                <a:ln>
                  <a:noFill/>
                </a:ln>
                <a:solidFill>
                  <a:schemeClr val="tx1"/>
                </a:solidFill>
                <a:effectLst/>
                <a:uLnTx/>
                <a:uFillTx/>
                <a:latin typeface="+mn-lt"/>
                <a:ea typeface="+mn-ea"/>
              </a:rPr>
              <a:t>示</a:t>
            </a:r>
            <a:r>
              <a:rPr kumimoji="0" lang="zh-CN" altLang="en-US" b="0" i="0" u="none" strike="noStrike" kern="0" cap="none" spc="0" normalizeH="0" baseline="0" noProof="0" dirty="0" smtClean="0">
                <a:ln>
                  <a:noFill/>
                </a:ln>
                <a:solidFill>
                  <a:schemeClr val="tx1"/>
                </a:solidFill>
                <a:effectLst/>
                <a:uLnTx/>
                <a:uFillTx/>
                <a:latin typeface="+mn-lt"/>
                <a:ea typeface="+mn-ea"/>
              </a:rPr>
              <a:t>：</a:t>
            </a: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zh-CN" altLang="en-US" b="0" i="0" u="none" strike="noStrike" kern="0" cap="none" spc="0" normalizeH="0" baseline="0" noProof="0" dirty="0" smtClean="0">
              <a:ln>
                <a:noFill/>
              </a:ln>
              <a:solidFill>
                <a:schemeClr val="tx1"/>
              </a:solidFill>
              <a:effectLst/>
              <a:uLnTx/>
              <a:uFillTx/>
              <a:latin typeface="+mn-lt"/>
              <a:ea typeface="+mn-ea"/>
            </a:endParaRPr>
          </a:p>
          <a:p>
            <a:pPr marL="742950" marR="0" lvl="1" indent="-285750" algn="l" defTabSz="914400" rtl="0" eaLnBrk="0" fontAlgn="base" latinLnBrk="0" hangingPunct="0">
              <a:lnSpc>
                <a:spcPct val="150000"/>
              </a:lnSpc>
              <a:spcBef>
                <a:spcPct val="20000"/>
              </a:spcBef>
              <a:spcAft>
                <a:spcPct val="0"/>
              </a:spcAft>
              <a:buClrTx/>
              <a:buSzTx/>
              <a:buFontTx/>
              <a:buChar char="–"/>
              <a:defRPr/>
            </a:pPr>
            <a:endParaRPr kumimoji="0" lang="en-US" altLang="zh-CN" b="0" i="0" u="none" strike="noStrike" kern="0" cap="none" spc="0" normalizeH="0" baseline="0" noProof="0" dirty="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zh-CN" altLang="en-US" b="0" i="0" u="none" strike="noStrike" kern="0" cap="none" spc="0" normalizeH="0" baseline="0" noProof="0" dirty="0" smtClean="0">
              <a:ln>
                <a:noFill/>
              </a:ln>
              <a:solidFill>
                <a:schemeClr val="tx1"/>
              </a:solidFill>
              <a:effectLst/>
              <a:uLnTx/>
              <a:uFillTx/>
              <a:latin typeface="+mn-lt"/>
              <a:ea typeface="+mn-ea"/>
            </a:endParaRPr>
          </a:p>
        </p:txBody>
      </p:sp>
      <p:graphicFrame>
        <p:nvGraphicFramePr>
          <p:cNvPr id="2" name="表格 1"/>
          <p:cNvGraphicFramePr>
            <a:graphicFrameLocks noGrp="1"/>
          </p:cNvGraphicFramePr>
          <p:nvPr>
            <p:custDataLst>
              <p:tags r:id="rId1"/>
            </p:custDataLst>
          </p:nvPr>
        </p:nvGraphicFramePr>
        <p:xfrm>
          <a:off x="1691720" y="2525713"/>
          <a:ext cx="5760000" cy="2520000"/>
        </p:xfrm>
        <a:graphic>
          <a:graphicData uri="http://schemas.openxmlformats.org/drawingml/2006/table">
            <a:tbl>
              <a:tblPr firstRow="1" firstCol="1" bandRow="1"/>
              <a:tblGrid>
                <a:gridCol w="1440000"/>
                <a:gridCol w="1440000"/>
                <a:gridCol w="1440000"/>
                <a:gridCol w="1440000"/>
              </a:tblGrid>
              <a:tr h="252000">
                <a:tc>
                  <a:txBody>
                    <a:bodyPr/>
                    <a:lstStyle/>
                    <a:p>
                      <a:pPr indent="266700" algn="ctr">
                        <a:spcAft>
                          <a:spcPts val="0"/>
                        </a:spcAft>
                      </a:pPr>
                      <a:r>
                        <a:rPr lang="zh-CN" sz="1100" kern="100" dirty="0">
                          <a:solidFill>
                            <a:srgbClr val="584E61"/>
                          </a:solidFill>
                          <a:effectLst/>
                        </a:rPr>
                        <a:t>十进制</a:t>
                      </a:r>
                      <a:endParaRPr lang="zh-CN"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indent="266700" algn="ctr">
                        <a:spcAft>
                          <a:spcPts val="0"/>
                        </a:spcAft>
                      </a:pPr>
                      <a:r>
                        <a:rPr lang="zh-CN" sz="1100" kern="100" dirty="0">
                          <a:solidFill>
                            <a:srgbClr val="584E61"/>
                          </a:solidFill>
                          <a:effectLst/>
                        </a:rPr>
                        <a:t>八进制</a:t>
                      </a:r>
                      <a:endParaRPr lang="zh-CN"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indent="266700" algn="ctr">
                        <a:spcAft>
                          <a:spcPts val="0"/>
                        </a:spcAft>
                      </a:pPr>
                      <a:r>
                        <a:rPr lang="zh-CN" sz="1100" kern="100">
                          <a:solidFill>
                            <a:srgbClr val="584E61"/>
                          </a:solidFill>
                          <a:effectLst/>
                        </a:rPr>
                        <a:t>十进制</a:t>
                      </a:r>
                      <a:endParaRPr lang="zh-CN" sz="1100" kern="100">
                        <a:solidFill>
                          <a:srgbClr val="584E61"/>
                        </a:solidFill>
                        <a:effectLst/>
                        <a:latin typeface="Times New Roman" panose="02020503050405090304"/>
                        <a:ea typeface="宋体" pitchFamily="2" charset="-122"/>
                      </a:endParaRPr>
                    </a:p>
                  </a:txBody>
                  <a:tcPr marL="51429" marR="51429"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indent="266700" algn="ctr">
                        <a:spcAft>
                          <a:spcPts val="0"/>
                        </a:spcAft>
                      </a:pPr>
                      <a:r>
                        <a:rPr lang="zh-CN" sz="1100" kern="100">
                          <a:solidFill>
                            <a:srgbClr val="584E61"/>
                          </a:solidFill>
                          <a:effectLst/>
                        </a:rPr>
                        <a:t>八进制</a:t>
                      </a:r>
                      <a:endParaRPr lang="zh-CN" sz="1100" kern="100">
                        <a:solidFill>
                          <a:srgbClr val="584E61"/>
                        </a:solidFill>
                        <a:effectLst/>
                        <a:latin typeface="Times New Roman" panose="02020503050405090304"/>
                        <a:ea typeface="宋体" pitchFamily="2" charset="-122"/>
                      </a:endParaRPr>
                    </a:p>
                  </a:txBody>
                  <a:tcPr marL="51429" marR="51429" marT="0" marB="0" anchor="ctr" anchorCtr="0">
                    <a:lnL>
                      <a:noFill/>
                    </a:lnL>
                    <a:lnR>
                      <a:noFill/>
                    </a:lnR>
                    <a:lnT w="19050">
                      <a:solidFill>
                        <a:srgbClr val="584E61"/>
                      </a:solidFill>
                      <a:prstDash val="solid"/>
                    </a:lnT>
                    <a:lnB w="19050">
                      <a:solidFill>
                        <a:srgbClr val="584E61"/>
                      </a:solidFill>
                      <a:prstDash val="solid"/>
                    </a:lnB>
                    <a:solidFill>
                      <a:srgbClr val="FFFFFF"/>
                    </a:solidFill>
                  </a:tcPr>
                </a:tc>
              </a:tr>
              <a:tr h="252000">
                <a:tc>
                  <a:txBody>
                    <a:bodyPr/>
                    <a:lstStyle/>
                    <a:p>
                      <a:pPr indent="266700" algn="ctr">
                        <a:spcAft>
                          <a:spcPts val="0"/>
                        </a:spcAft>
                      </a:pPr>
                      <a:r>
                        <a:rPr lang="en-US" sz="1100" kern="100" dirty="0">
                          <a:solidFill>
                            <a:srgbClr val="584E61"/>
                          </a:solidFill>
                          <a:effectLst/>
                        </a:rPr>
                        <a:t>0</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w="19050">
                      <a:solidFill>
                        <a:srgbClr val="584E61"/>
                      </a:solidFill>
                      <a:prstDash val="solid"/>
                    </a:lnT>
                    <a:lnB>
                      <a:noFill/>
                    </a:lnB>
                    <a:solidFill>
                      <a:srgbClr val="FFFFFF"/>
                    </a:solidFill>
                  </a:tcPr>
                </a:tc>
                <a:tc>
                  <a:txBody>
                    <a:bodyPr/>
                    <a:lstStyle/>
                    <a:p>
                      <a:pPr indent="266700" algn="ctr">
                        <a:spcAft>
                          <a:spcPts val="0"/>
                        </a:spcAft>
                      </a:pPr>
                      <a:r>
                        <a:rPr lang="en-US" sz="1100" kern="100" dirty="0">
                          <a:solidFill>
                            <a:srgbClr val="584E61"/>
                          </a:solidFill>
                          <a:effectLst/>
                        </a:rPr>
                        <a:t>0</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w="19050">
                      <a:solidFill>
                        <a:srgbClr val="584E61"/>
                      </a:solidFill>
                      <a:prstDash val="solid"/>
                    </a:lnT>
                    <a:lnB>
                      <a:noFill/>
                    </a:lnB>
                    <a:solidFill>
                      <a:srgbClr val="FFFFFF"/>
                    </a:solidFill>
                  </a:tcPr>
                </a:tc>
                <a:tc>
                  <a:txBody>
                    <a:bodyPr/>
                    <a:lstStyle/>
                    <a:p>
                      <a:pPr indent="266700" algn="ctr">
                        <a:spcAft>
                          <a:spcPts val="0"/>
                        </a:spcAft>
                      </a:pPr>
                      <a:r>
                        <a:rPr lang="en-US" sz="1100" kern="100" dirty="0">
                          <a:solidFill>
                            <a:srgbClr val="584E61"/>
                          </a:solidFill>
                          <a:effectLst/>
                        </a:rPr>
                        <a:t>9</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w="19050">
                      <a:solidFill>
                        <a:srgbClr val="584E61"/>
                      </a:solidFill>
                      <a:prstDash val="solid"/>
                    </a:lnT>
                    <a:lnB>
                      <a:noFill/>
                    </a:lnB>
                    <a:solidFill>
                      <a:srgbClr val="FFFFFF"/>
                    </a:solidFill>
                  </a:tcPr>
                </a:tc>
                <a:tc>
                  <a:txBody>
                    <a:bodyPr/>
                    <a:lstStyle/>
                    <a:p>
                      <a:pPr indent="266700" algn="ctr">
                        <a:spcAft>
                          <a:spcPts val="0"/>
                        </a:spcAft>
                      </a:pPr>
                      <a:r>
                        <a:rPr lang="en-US" sz="1100" kern="100" dirty="0">
                          <a:solidFill>
                            <a:srgbClr val="584E61"/>
                          </a:solidFill>
                          <a:effectLst/>
                        </a:rPr>
                        <a:t>11</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w="19050">
                      <a:solidFill>
                        <a:srgbClr val="584E61"/>
                      </a:solidFill>
                      <a:prstDash val="solid"/>
                    </a:lnT>
                    <a:lnB>
                      <a:noFill/>
                    </a:lnB>
                    <a:solidFill>
                      <a:srgbClr val="FFFFFF"/>
                    </a:solidFill>
                  </a:tcPr>
                </a:tc>
              </a:tr>
              <a:tr h="252000">
                <a:tc>
                  <a:txBody>
                    <a:bodyPr/>
                    <a:lstStyle/>
                    <a:p>
                      <a:pPr indent="266700" algn="ctr">
                        <a:spcAft>
                          <a:spcPts val="0"/>
                        </a:spcAft>
                      </a:pPr>
                      <a:r>
                        <a:rPr lang="en-US" sz="1100" kern="100" dirty="0">
                          <a:solidFill>
                            <a:srgbClr val="584E61"/>
                          </a:solidFill>
                          <a:effectLst/>
                        </a:rPr>
                        <a:t>1</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1</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10</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12</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0EFF2"/>
                    </a:solidFill>
                  </a:tcPr>
                </a:tc>
              </a:tr>
              <a:tr h="252000">
                <a:tc>
                  <a:txBody>
                    <a:bodyPr/>
                    <a:lstStyle/>
                    <a:p>
                      <a:pPr indent="266700" algn="ctr">
                        <a:spcAft>
                          <a:spcPts val="0"/>
                        </a:spcAft>
                      </a:pPr>
                      <a:r>
                        <a:rPr lang="en-US" sz="1100" kern="100" dirty="0">
                          <a:solidFill>
                            <a:srgbClr val="584E61"/>
                          </a:solidFill>
                          <a:effectLst/>
                        </a:rPr>
                        <a:t>2</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2</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11</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13</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FFFFF"/>
                    </a:solidFill>
                  </a:tcPr>
                </a:tc>
              </a:tr>
              <a:tr h="252000">
                <a:tc>
                  <a:txBody>
                    <a:bodyPr/>
                    <a:lstStyle/>
                    <a:p>
                      <a:pPr indent="266700" algn="ctr">
                        <a:spcAft>
                          <a:spcPts val="0"/>
                        </a:spcAft>
                      </a:pPr>
                      <a:r>
                        <a:rPr lang="en-US" sz="1100" kern="100" dirty="0">
                          <a:solidFill>
                            <a:srgbClr val="584E61"/>
                          </a:solidFill>
                          <a:effectLst/>
                        </a:rPr>
                        <a:t>3</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3</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12</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14</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0EFF2"/>
                    </a:solidFill>
                  </a:tcPr>
                </a:tc>
              </a:tr>
              <a:tr h="252000">
                <a:tc>
                  <a:txBody>
                    <a:bodyPr/>
                    <a:lstStyle/>
                    <a:p>
                      <a:pPr indent="266700" algn="ctr">
                        <a:spcAft>
                          <a:spcPts val="0"/>
                        </a:spcAft>
                      </a:pPr>
                      <a:r>
                        <a:rPr lang="en-US" sz="1100" kern="100" dirty="0">
                          <a:solidFill>
                            <a:srgbClr val="584E61"/>
                          </a:solidFill>
                          <a:effectLst/>
                        </a:rPr>
                        <a:t>4</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4</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13</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15</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FFFFF"/>
                    </a:solidFill>
                  </a:tcPr>
                </a:tc>
              </a:tr>
              <a:tr h="252000">
                <a:tc>
                  <a:txBody>
                    <a:bodyPr/>
                    <a:lstStyle/>
                    <a:p>
                      <a:pPr indent="266700" algn="ctr">
                        <a:spcAft>
                          <a:spcPts val="0"/>
                        </a:spcAft>
                      </a:pPr>
                      <a:r>
                        <a:rPr lang="en-US" sz="1100" kern="100" dirty="0">
                          <a:solidFill>
                            <a:srgbClr val="584E61"/>
                          </a:solidFill>
                          <a:effectLst/>
                        </a:rPr>
                        <a:t>5</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5</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14</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16</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0EFF2"/>
                    </a:solidFill>
                  </a:tcPr>
                </a:tc>
              </a:tr>
              <a:tr h="252000">
                <a:tc>
                  <a:txBody>
                    <a:bodyPr/>
                    <a:lstStyle/>
                    <a:p>
                      <a:pPr indent="266700" algn="ctr">
                        <a:spcAft>
                          <a:spcPts val="0"/>
                        </a:spcAft>
                      </a:pPr>
                      <a:r>
                        <a:rPr lang="en-US" sz="1100" kern="100" dirty="0">
                          <a:solidFill>
                            <a:srgbClr val="584E61"/>
                          </a:solidFill>
                          <a:effectLst/>
                        </a:rPr>
                        <a:t>6</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6</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15</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17</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FFFFF"/>
                    </a:solidFill>
                  </a:tcPr>
                </a:tc>
              </a:tr>
              <a:tr h="252000">
                <a:tc>
                  <a:txBody>
                    <a:bodyPr/>
                    <a:lstStyle/>
                    <a:p>
                      <a:pPr indent="266700" algn="ctr">
                        <a:spcAft>
                          <a:spcPts val="0"/>
                        </a:spcAft>
                      </a:pPr>
                      <a:r>
                        <a:rPr lang="en-US" sz="1100" kern="100" dirty="0">
                          <a:solidFill>
                            <a:srgbClr val="584E61"/>
                          </a:solidFill>
                          <a:effectLst/>
                        </a:rPr>
                        <a:t>7</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7</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16</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20</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0EFF2"/>
                    </a:solidFill>
                  </a:tcPr>
                </a:tc>
              </a:tr>
              <a:tr h="252000">
                <a:tc>
                  <a:txBody>
                    <a:bodyPr/>
                    <a:lstStyle/>
                    <a:p>
                      <a:pPr indent="266700" algn="ctr">
                        <a:spcAft>
                          <a:spcPts val="0"/>
                        </a:spcAft>
                      </a:pPr>
                      <a:r>
                        <a:rPr lang="en-US" sz="1100" kern="100" dirty="0">
                          <a:solidFill>
                            <a:srgbClr val="584E61"/>
                          </a:solidFill>
                          <a:effectLst/>
                        </a:rPr>
                        <a:t>8</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w="19050">
                      <a:solidFill>
                        <a:srgbClr val="584E61"/>
                      </a:solidFill>
                      <a:prstDash val="solid"/>
                    </a:lnB>
                    <a:solidFill>
                      <a:srgbClr val="FFFFFF"/>
                    </a:solidFill>
                  </a:tcPr>
                </a:tc>
                <a:tc>
                  <a:txBody>
                    <a:bodyPr/>
                    <a:lstStyle/>
                    <a:p>
                      <a:pPr indent="266700" algn="ctr">
                        <a:spcAft>
                          <a:spcPts val="0"/>
                        </a:spcAft>
                      </a:pPr>
                      <a:r>
                        <a:rPr lang="en-US" sz="1100" kern="100" dirty="0">
                          <a:solidFill>
                            <a:srgbClr val="584E61"/>
                          </a:solidFill>
                          <a:effectLst/>
                        </a:rPr>
                        <a:t>10</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w="19050">
                      <a:solidFill>
                        <a:srgbClr val="584E61"/>
                      </a:solidFill>
                      <a:prstDash val="solid"/>
                    </a:lnB>
                    <a:solidFill>
                      <a:srgbClr val="FFFFFF"/>
                    </a:solidFill>
                  </a:tcPr>
                </a:tc>
                <a:tc>
                  <a:txBody>
                    <a:bodyPr/>
                    <a:lstStyle/>
                    <a:p>
                      <a:pPr indent="266700" algn="ctr">
                        <a:spcAft>
                          <a:spcPts val="0"/>
                        </a:spcAft>
                      </a:pPr>
                      <a:r>
                        <a:rPr lang="en-US" sz="1100" kern="100" dirty="0">
                          <a:solidFill>
                            <a:srgbClr val="584E61"/>
                          </a:solidFill>
                          <a:effectLst/>
                        </a:rPr>
                        <a:t>17</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w="19050">
                      <a:solidFill>
                        <a:srgbClr val="584E61"/>
                      </a:solidFill>
                      <a:prstDash val="solid"/>
                    </a:lnB>
                    <a:solidFill>
                      <a:srgbClr val="FFFFFF"/>
                    </a:solidFill>
                  </a:tcPr>
                </a:tc>
                <a:tc>
                  <a:txBody>
                    <a:bodyPr/>
                    <a:lstStyle/>
                    <a:p>
                      <a:pPr indent="266700" algn="ctr">
                        <a:spcAft>
                          <a:spcPts val="0"/>
                        </a:spcAft>
                      </a:pPr>
                      <a:r>
                        <a:rPr lang="en-US" sz="1100" kern="100" dirty="0">
                          <a:solidFill>
                            <a:srgbClr val="584E61"/>
                          </a:solidFill>
                          <a:effectLst/>
                        </a:rPr>
                        <a:t>21</a:t>
                      </a:r>
                      <a:endParaRPr lang="en-US" sz="1100" kern="10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w="19050">
                      <a:solidFill>
                        <a:srgbClr val="584E61"/>
                      </a:solidFill>
                      <a:prstDash val="solid"/>
                    </a:lnB>
                    <a:solidFill>
                      <a:srgbClr val="FFFFFF"/>
                    </a:solidFill>
                  </a:tcPr>
                </a:tc>
              </a:tr>
            </a:tbl>
          </a:graphicData>
        </a:graphic>
      </p:graphicFrame>
      <p:sp>
        <p:nvSpPr>
          <p:cNvPr id="3" name="标题 1"/>
          <p:cNvSpPr>
            <a:spLocks noGrp="1"/>
          </p:cNvSpPr>
          <p:nvPr>
            <p:custDataLst>
              <p:tags r:id="rId2"/>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a:ln>
                  <a:noFill/>
                </a:ln>
                <a:solidFill>
                  <a:srgbClr val="782367"/>
                </a:solidFill>
                <a:effectLst/>
                <a:uLnTx/>
                <a:uFillTx/>
                <a:latin typeface="微软雅黑" panose="020B0503020204020204" charset="-122"/>
                <a:ea typeface="微软雅黑" panose="020B0503020204020204" charset="-122"/>
                <a:cs typeface="+mj-cs"/>
              </a:rPr>
              <a:t>2</a:t>
            </a: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.1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进制</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3" name="内容占位符 2"/>
          <p:cNvSpPr>
            <a:spLocks noGrp="1"/>
          </p:cNvSpPr>
          <p:nvPr>
            <p:ph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742950" marR="0" lvl="1" indent="-285750" algn="l" defTabSz="914400" rtl="0" eaLnBrk="0" fontAlgn="base" latinLnBrk="0" hangingPunct="0">
              <a:lnSpc>
                <a:spcPct val="150000"/>
              </a:lnSpc>
              <a:spcBef>
                <a:spcPct val="20000"/>
              </a:spcBef>
              <a:spcAft>
                <a:spcPct val="0"/>
              </a:spcAft>
              <a:buClrTx/>
              <a:buSzTx/>
              <a:buFontTx/>
              <a:buChar char="–"/>
              <a:defRPr/>
            </a:pPr>
            <a:r>
              <a:rPr kumimoji="0" lang="zh-CN" altLang="en-US" b="0" i="0" u="none" strike="noStrike" kern="0" cap="none" spc="0" normalizeH="0" baseline="0" noProof="0" dirty="0" smtClean="0">
                <a:ln>
                  <a:noFill/>
                </a:ln>
                <a:solidFill>
                  <a:schemeClr val="tx1"/>
                </a:solidFill>
                <a:effectLst/>
                <a:uLnTx/>
                <a:uFillTx/>
                <a:latin typeface="+mn-lt"/>
                <a:ea typeface="+mn-ea"/>
              </a:rPr>
              <a:t>十六进制</a:t>
            </a: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rPr>
              <a:t>        </a:t>
            </a:r>
            <a:r>
              <a:rPr kumimoji="0" lang="zh-CN" altLang="zh-CN" b="0" i="0" u="none" strike="noStrike" kern="0" cap="none" spc="0" normalizeH="0" baseline="0" noProof="0" dirty="0" smtClean="0">
                <a:ln>
                  <a:noFill/>
                </a:ln>
                <a:solidFill>
                  <a:schemeClr val="tx1"/>
                </a:solidFill>
                <a:effectLst/>
                <a:uLnTx/>
                <a:uFillTx/>
                <a:latin typeface="+mn-lt"/>
                <a:ea typeface="+mn-ea"/>
              </a:rPr>
              <a:t>十六进制</a:t>
            </a:r>
            <a:r>
              <a:rPr kumimoji="0" lang="zh-CN" altLang="zh-CN" b="0" i="0" u="none" strike="noStrike" kern="0" cap="none" spc="0" normalizeH="0" baseline="0" noProof="0" dirty="0">
                <a:ln>
                  <a:noFill/>
                </a:ln>
                <a:solidFill>
                  <a:schemeClr val="tx1"/>
                </a:solidFill>
                <a:effectLst/>
                <a:uLnTx/>
                <a:uFillTx/>
                <a:latin typeface="+mn-lt"/>
                <a:ea typeface="+mn-ea"/>
              </a:rPr>
              <a:t>是一种“逢十六进一”的进制，它由</a:t>
            </a:r>
            <a:r>
              <a:rPr kumimoji="0" lang="en-US" altLang="zh-CN" b="0" i="0" u="none" strike="noStrike" kern="0" cap="none" spc="0" normalizeH="0" baseline="0" noProof="0" dirty="0">
                <a:ln>
                  <a:noFill/>
                </a:ln>
                <a:solidFill>
                  <a:schemeClr val="tx1"/>
                </a:solidFill>
                <a:effectLst/>
                <a:uLnTx/>
                <a:uFillTx/>
                <a:latin typeface="+mn-lt"/>
                <a:ea typeface="+mn-ea"/>
              </a:rPr>
              <a:t>0~9</a:t>
            </a:r>
            <a:r>
              <a:rPr kumimoji="0" lang="zh-CN" altLang="zh-CN" b="0" i="0" u="none" strike="noStrike" kern="0" cap="none" spc="0" normalizeH="0" baseline="0" noProof="0" dirty="0">
                <a:ln>
                  <a:noFill/>
                </a:ln>
                <a:solidFill>
                  <a:schemeClr val="tx1"/>
                </a:solidFill>
                <a:effectLst/>
                <a:uLnTx/>
                <a:uFillTx/>
                <a:latin typeface="+mn-lt"/>
                <a:ea typeface="+mn-ea"/>
              </a:rPr>
              <a:t>、</a:t>
            </a:r>
            <a:r>
              <a:rPr kumimoji="0" lang="en-US" altLang="zh-CN" b="0" i="0" u="none" strike="noStrike" kern="0" cap="none" spc="0" normalizeH="0" baseline="0" noProof="0" dirty="0">
                <a:ln>
                  <a:noFill/>
                </a:ln>
                <a:solidFill>
                  <a:schemeClr val="tx1"/>
                </a:solidFill>
                <a:effectLst/>
                <a:uLnTx/>
                <a:uFillTx/>
                <a:latin typeface="+mn-lt"/>
                <a:ea typeface="+mn-ea"/>
              </a:rPr>
              <a:t>A~F</a:t>
            </a:r>
            <a:r>
              <a:rPr kumimoji="0" lang="zh-CN" altLang="zh-CN" b="0" i="0" u="none" strike="noStrike" kern="0" cap="none" spc="0" normalizeH="0" baseline="0" noProof="0" dirty="0">
                <a:ln>
                  <a:noFill/>
                </a:ln>
                <a:solidFill>
                  <a:schemeClr val="tx1"/>
                </a:solidFill>
                <a:effectLst/>
                <a:uLnTx/>
                <a:uFillTx/>
                <a:latin typeface="+mn-lt"/>
                <a:ea typeface="+mn-ea"/>
              </a:rPr>
              <a:t>十六个符号来描述。下面通过十进制和十六进制的对比来描述十六进制的表示方式，如表</a:t>
            </a:r>
            <a:r>
              <a:rPr kumimoji="0" lang="en-US" altLang="zh-CN" b="0" i="0" u="none" strike="noStrike" kern="0" cap="none" spc="0" normalizeH="0" baseline="0" noProof="0" dirty="0">
                <a:ln>
                  <a:noFill/>
                </a:ln>
                <a:solidFill>
                  <a:schemeClr val="tx1"/>
                </a:solidFill>
                <a:effectLst/>
                <a:uLnTx/>
                <a:uFillTx/>
                <a:latin typeface="+mn-lt"/>
                <a:ea typeface="+mn-ea"/>
              </a:rPr>
              <a:t>2-3</a:t>
            </a:r>
            <a:r>
              <a:rPr kumimoji="0" lang="zh-CN" altLang="zh-CN" b="0" i="0" u="none" strike="noStrike" kern="0" cap="none" spc="0" normalizeH="0" baseline="0" noProof="0" dirty="0">
                <a:ln>
                  <a:noFill/>
                </a:ln>
                <a:solidFill>
                  <a:schemeClr val="tx1"/>
                </a:solidFill>
                <a:effectLst/>
                <a:uLnTx/>
                <a:uFillTx/>
                <a:latin typeface="+mn-lt"/>
                <a:ea typeface="+mn-ea"/>
              </a:rPr>
              <a:t>所</a:t>
            </a:r>
            <a:r>
              <a:rPr kumimoji="0" lang="zh-CN" altLang="zh-CN" b="0" i="0" u="none" strike="noStrike" kern="0" cap="none" spc="0" normalizeH="0" baseline="0" noProof="0" dirty="0" smtClean="0">
                <a:ln>
                  <a:noFill/>
                </a:ln>
                <a:solidFill>
                  <a:schemeClr val="tx1"/>
                </a:solidFill>
                <a:effectLst/>
                <a:uLnTx/>
                <a:uFillTx/>
                <a:latin typeface="+mn-lt"/>
                <a:ea typeface="+mn-ea"/>
              </a:rPr>
              <a:t>示</a:t>
            </a:r>
            <a:r>
              <a:rPr kumimoji="0" lang="zh-CN" altLang="en-US" b="0" i="0" u="none" strike="noStrike" kern="0" cap="none" spc="0" normalizeH="0" baseline="0" noProof="0" dirty="0" smtClean="0">
                <a:ln>
                  <a:noFill/>
                </a:ln>
                <a:solidFill>
                  <a:schemeClr val="tx1"/>
                </a:solidFill>
                <a:effectLst/>
                <a:uLnTx/>
                <a:uFillTx/>
                <a:latin typeface="+mn-lt"/>
                <a:ea typeface="+mn-ea"/>
              </a:rPr>
              <a:t>：</a:t>
            </a: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p:txBody>
      </p:sp>
      <p:graphicFrame>
        <p:nvGraphicFramePr>
          <p:cNvPr id="2" name="表格 1"/>
          <p:cNvGraphicFramePr>
            <a:graphicFrameLocks noGrp="1"/>
          </p:cNvGraphicFramePr>
          <p:nvPr>
            <p:custDataLst>
              <p:tags r:id="rId1"/>
            </p:custDataLst>
          </p:nvPr>
        </p:nvGraphicFramePr>
        <p:xfrm>
          <a:off x="1836659" y="2073831"/>
          <a:ext cx="5472000" cy="2442845"/>
        </p:xfrm>
        <a:graphic>
          <a:graphicData uri="http://schemas.openxmlformats.org/drawingml/2006/table">
            <a:tbl>
              <a:tblPr firstRow="1" firstCol="1" bandRow="1"/>
              <a:tblGrid>
                <a:gridCol w="1368000"/>
                <a:gridCol w="1368000"/>
                <a:gridCol w="1368000"/>
                <a:gridCol w="1368000"/>
              </a:tblGrid>
              <a:tr h="139065">
                <a:tc>
                  <a:txBody>
                    <a:bodyPr/>
                    <a:lstStyle/>
                    <a:p>
                      <a:pPr indent="266700" algn="ctr">
                        <a:spcAft>
                          <a:spcPts val="0"/>
                        </a:spcAft>
                      </a:pPr>
                      <a:r>
                        <a:rPr lang="zh-CN" sz="1100" kern="100">
                          <a:solidFill>
                            <a:srgbClr val="584E61"/>
                          </a:solidFill>
                          <a:effectLst/>
                        </a:rPr>
                        <a:t>十进制</a:t>
                      </a:r>
                      <a:endParaRPr lang="zh-CN" sz="1100" kern="100">
                        <a:solidFill>
                          <a:srgbClr val="584E61"/>
                        </a:solidFill>
                        <a:effectLst/>
                        <a:latin typeface="Times New Roman" panose="02020503050405090304"/>
                        <a:ea typeface="宋体" pitchFamily="2" charset="-122"/>
                      </a:endParaRPr>
                    </a:p>
                  </a:txBody>
                  <a:tcPr marL="51433" marR="51433" marT="0" marB="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indent="266700" algn="ctr">
                        <a:spcAft>
                          <a:spcPts val="0"/>
                        </a:spcAft>
                      </a:pPr>
                      <a:r>
                        <a:rPr lang="zh-CN" sz="1100" kern="100" dirty="0">
                          <a:solidFill>
                            <a:srgbClr val="584E61"/>
                          </a:solidFill>
                          <a:effectLst/>
                        </a:rPr>
                        <a:t>十六进制</a:t>
                      </a:r>
                      <a:endParaRPr lang="zh-CN" sz="1100" kern="100" dirty="0">
                        <a:solidFill>
                          <a:srgbClr val="584E61"/>
                        </a:solidFill>
                        <a:effectLst/>
                        <a:latin typeface="Times New Roman" panose="02020503050405090304"/>
                        <a:ea typeface="宋体" pitchFamily="2" charset="-122"/>
                      </a:endParaRPr>
                    </a:p>
                  </a:txBody>
                  <a:tcPr marL="51433" marR="51433" marT="0" marB="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indent="266700" algn="ctr">
                        <a:spcAft>
                          <a:spcPts val="0"/>
                        </a:spcAft>
                      </a:pPr>
                      <a:r>
                        <a:rPr lang="zh-CN" sz="1100" kern="100">
                          <a:solidFill>
                            <a:srgbClr val="584E61"/>
                          </a:solidFill>
                          <a:effectLst/>
                        </a:rPr>
                        <a:t>十进制</a:t>
                      </a:r>
                      <a:endParaRPr lang="zh-CN" sz="1100" kern="100">
                        <a:solidFill>
                          <a:srgbClr val="584E61"/>
                        </a:solidFill>
                        <a:effectLst/>
                        <a:latin typeface="Times New Roman" panose="02020503050405090304"/>
                        <a:ea typeface="宋体" pitchFamily="2" charset="-122"/>
                      </a:endParaRPr>
                    </a:p>
                  </a:txBody>
                  <a:tcPr marL="51433" marR="51433" marT="0" marB="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indent="266700" algn="ctr">
                        <a:spcAft>
                          <a:spcPts val="0"/>
                        </a:spcAft>
                      </a:pPr>
                      <a:r>
                        <a:rPr lang="zh-CN" sz="1100" kern="100">
                          <a:solidFill>
                            <a:srgbClr val="584E61"/>
                          </a:solidFill>
                          <a:effectLst/>
                        </a:rPr>
                        <a:t>十六进制</a:t>
                      </a:r>
                      <a:endParaRPr lang="zh-CN" sz="1100" kern="100">
                        <a:solidFill>
                          <a:srgbClr val="584E61"/>
                        </a:solidFill>
                        <a:effectLst/>
                        <a:latin typeface="Times New Roman" panose="02020503050405090304"/>
                        <a:ea typeface="宋体" pitchFamily="2" charset="-122"/>
                      </a:endParaRPr>
                    </a:p>
                  </a:txBody>
                  <a:tcPr marL="51433" marR="51433" marT="0" marB="0">
                    <a:lnL>
                      <a:noFill/>
                    </a:lnL>
                    <a:lnR>
                      <a:noFill/>
                    </a:lnR>
                    <a:lnT w="19050">
                      <a:solidFill>
                        <a:srgbClr val="584E61"/>
                      </a:solidFill>
                      <a:prstDash val="solid"/>
                    </a:lnT>
                    <a:lnB w="19050">
                      <a:solidFill>
                        <a:srgbClr val="584E61"/>
                      </a:solidFill>
                      <a:prstDash val="solid"/>
                    </a:lnB>
                    <a:solidFill>
                      <a:srgbClr val="FFFFFF"/>
                    </a:solidFill>
                  </a:tcPr>
                </a:tc>
              </a:tr>
              <a:tr h="132080">
                <a:tc>
                  <a:txBody>
                    <a:bodyPr/>
                    <a:lstStyle/>
                    <a:p>
                      <a:pPr indent="266700" algn="ctr">
                        <a:spcAft>
                          <a:spcPts val="0"/>
                        </a:spcAft>
                      </a:pPr>
                      <a:r>
                        <a:rPr lang="en-US" sz="1100" kern="100" dirty="0">
                          <a:solidFill>
                            <a:srgbClr val="584E61"/>
                          </a:solidFill>
                          <a:effectLst/>
                        </a:rPr>
                        <a:t>0</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w="19050">
                      <a:solidFill>
                        <a:srgbClr val="584E61"/>
                      </a:solidFill>
                      <a:prstDash val="solid"/>
                    </a:lnT>
                    <a:lnB>
                      <a:noFill/>
                    </a:lnB>
                    <a:solidFill>
                      <a:srgbClr val="FFFFFF"/>
                    </a:solidFill>
                  </a:tcPr>
                </a:tc>
                <a:tc>
                  <a:txBody>
                    <a:bodyPr/>
                    <a:lstStyle/>
                    <a:p>
                      <a:pPr indent="266700" algn="ctr">
                        <a:spcAft>
                          <a:spcPts val="0"/>
                        </a:spcAft>
                      </a:pPr>
                      <a:r>
                        <a:rPr lang="en-US" sz="1100" kern="100" dirty="0">
                          <a:solidFill>
                            <a:srgbClr val="584E61"/>
                          </a:solidFill>
                          <a:effectLst/>
                        </a:rPr>
                        <a:t>0</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w="19050">
                      <a:solidFill>
                        <a:srgbClr val="584E61"/>
                      </a:solidFill>
                      <a:prstDash val="solid"/>
                    </a:lnT>
                    <a:lnB>
                      <a:noFill/>
                    </a:lnB>
                    <a:solidFill>
                      <a:srgbClr val="FFFFFF"/>
                    </a:solidFill>
                  </a:tcPr>
                </a:tc>
                <a:tc>
                  <a:txBody>
                    <a:bodyPr/>
                    <a:lstStyle/>
                    <a:p>
                      <a:pPr indent="266700" algn="ctr">
                        <a:spcAft>
                          <a:spcPts val="0"/>
                        </a:spcAft>
                      </a:pPr>
                      <a:r>
                        <a:rPr lang="en-US" sz="1100" kern="100" dirty="0">
                          <a:solidFill>
                            <a:srgbClr val="584E61"/>
                          </a:solidFill>
                          <a:effectLst/>
                        </a:rPr>
                        <a:t>17</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w="19050">
                      <a:solidFill>
                        <a:srgbClr val="584E61"/>
                      </a:solidFill>
                      <a:prstDash val="solid"/>
                    </a:lnT>
                    <a:lnB>
                      <a:noFill/>
                    </a:lnB>
                    <a:solidFill>
                      <a:srgbClr val="FFFFFF"/>
                    </a:solidFill>
                  </a:tcPr>
                </a:tc>
                <a:tc>
                  <a:txBody>
                    <a:bodyPr/>
                    <a:lstStyle/>
                    <a:p>
                      <a:pPr indent="266700" algn="ctr">
                        <a:spcAft>
                          <a:spcPts val="0"/>
                        </a:spcAft>
                      </a:pPr>
                      <a:r>
                        <a:rPr lang="en-US" sz="1100" kern="100" dirty="0">
                          <a:solidFill>
                            <a:srgbClr val="584E61"/>
                          </a:solidFill>
                          <a:effectLst/>
                        </a:rPr>
                        <a:t>11</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w="19050">
                      <a:solidFill>
                        <a:srgbClr val="584E61"/>
                      </a:solidFill>
                      <a:prstDash val="solid"/>
                    </a:lnT>
                    <a:lnB>
                      <a:noFill/>
                    </a:lnB>
                    <a:solidFill>
                      <a:srgbClr val="FFFFFF"/>
                    </a:solidFill>
                  </a:tcPr>
                </a:tc>
              </a:tr>
              <a:tr h="139065">
                <a:tc>
                  <a:txBody>
                    <a:bodyPr/>
                    <a:lstStyle/>
                    <a:p>
                      <a:pPr indent="266700" algn="ctr">
                        <a:spcAft>
                          <a:spcPts val="0"/>
                        </a:spcAft>
                      </a:pPr>
                      <a:r>
                        <a:rPr lang="en-US" sz="1100" kern="100" dirty="0">
                          <a:solidFill>
                            <a:srgbClr val="584E61"/>
                          </a:solidFill>
                          <a:effectLst/>
                        </a:rPr>
                        <a:t>1</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1</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18</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12</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0EFF2"/>
                    </a:solidFill>
                  </a:tcPr>
                </a:tc>
              </a:tr>
              <a:tr h="132715">
                <a:tc>
                  <a:txBody>
                    <a:bodyPr/>
                    <a:lstStyle/>
                    <a:p>
                      <a:pPr indent="266700" algn="ctr">
                        <a:spcAft>
                          <a:spcPts val="0"/>
                        </a:spcAft>
                      </a:pPr>
                      <a:r>
                        <a:rPr lang="en-US" sz="1100" kern="100" dirty="0">
                          <a:solidFill>
                            <a:srgbClr val="584E61"/>
                          </a:solidFill>
                          <a:effectLst/>
                        </a:rPr>
                        <a:t>2</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2</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19</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13</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FFFFF"/>
                    </a:solidFill>
                  </a:tcPr>
                </a:tc>
              </a:tr>
              <a:tr h="139065">
                <a:tc>
                  <a:txBody>
                    <a:bodyPr/>
                    <a:lstStyle/>
                    <a:p>
                      <a:pPr indent="266700" algn="ctr">
                        <a:spcAft>
                          <a:spcPts val="0"/>
                        </a:spcAft>
                      </a:pPr>
                      <a:r>
                        <a:rPr lang="en-US" sz="1100" kern="100" dirty="0">
                          <a:solidFill>
                            <a:srgbClr val="584E61"/>
                          </a:solidFill>
                          <a:effectLst/>
                        </a:rPr>
                        <a:t>3</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3</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20</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14</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0EFF2"/>
                    </a:solidFill>
                  </a:tcPr>
                </a:tc>
              </a:tr>
              <a:tr h="132080">
                <a:tc>
                  <a:txBody>
                    <a:bodyPr/>
                    <a:lstStyle/>
                    <a:p>
                      <a:pPr indent="266700" algn="ctr">
                        <a:spcAft>
                          <a:spcPts val="0"/>
                        </a:spcAft>
                      </a:pPr>
                      <a:r>
                        <a:rPr lang="en-US" sz="1100" kern="100" dirty="0">
                          <a:solidFill>
                            <a:srgbClr val="584E61"/>
                          </a:solidFill>
                          <a:effectLst/>
                        </a:rPr>
                        <a:t>4</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4</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21</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15</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FFFFF"/>
                    </a:solidFill>
                  </a:tcPr>
                </a:tc>
              </a:tr>
              <a:tr h="139065">
                <a:tc>
                  <a:txBody>
                    <a:bodyPr/>
                    <a:lstStyle/>
                    <a:p>
                      <a:pPr indent="266700" algn="ctr">
                        <a:spcAft>
                          <a:spcPts val="0"/>
                        </a:spcAft>
                      </a:pPr>
                      <a:r>
                        <a:rPr lang="en-US" sz="1100" kern="100" dirty="0">
                          <a:solidFill>
                            <a:srgbClr val="584E61"/>
                          </a:solidFill>
                          <a:effectLst/>
                        </a:rPr>
                        <a:t>5</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5</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22</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16</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0EFF2"/>
                    </a:solidFill>
                  </a:tcPr>
                </a:tc>
              </a:tr>
              <a:tr h="132715">
                <a:tc>
                  <a:txBody>
                    <a:bodyPr/>
                    <a:lstStyle/>
                    <a:p>
                      <a:pPr indent="266700" algn="ctr">
                        <a:spcAft>
                          <a:spcPts val="0"/>
                        </a:spcAft>
                      </a:pPr>
                      <a:r>
                        <a:rPr lang="en-US" sz="1100" kern="100" dirty="0">
                          <a:solidFill>
                            <a:srgbClr val="584E61"/>
                          </a:solidFill>
                          <a:effectLst/>
                        </a:rPr>
                        <a:t>6</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6</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23</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17</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FFFFF"/>
                    </a:solidFill>
                  </a:tcPr>
                </a:tc>
              </a:tr>
              <a:tr h="132080">
                <a:tc>
                  <a:txBody>
                    <a:bodyPr/>
                    <a:lstStyle/>
                    <a:p>
                      <a:pPr indent="266700" algn="ctr">
                        <a:spcAft>
                          <a:spcPts val="0"/>
                        </a:spcAft>
                      </a:pPr>
                      <a:r>
                        <a:rPr lang="en-US" sz="1100" kern="100" dirty="0">
                          <a:solidFill>
                            <a:srgbClr val="584E61"/>
                          </a:solidFill>
                          <a:effectLst/>
                        </a:rPr>
                        <a:t>7</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7</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24</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18</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0EFF2"/>
                    </a:solidFill>
                  </a:tcPr>
                </a:tc>
              </a:tr>
              <a:tr h="139065">
                <a:tc>
                  <a:txBody>
                    <a:bodyPr/>
                    <a:lstStyle/>
                    <a:p>
                      <a:pPr indent="266700" algn="ctr">
                        <a:spcAft>
                          <a:spcPts val="0"/>
                        </a:spcAft>
                      </a:pPr>
                      <a:r>
                        <a:rPr lang="en-US" sz="1100" kern="100" dirty="0">
                          <a:solidFill>
                            <a:srgbClr val="584E61"/>
                          </a:solidFill>
                          <a:effectLst/>
                        </a:rPr>
                        <a:t>8</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8</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25</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19</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FFFFF"/>
                    </a:solidFill>
                  </a:tcPr>
                </a:tc>
              </a:tr>
              <a:tr h="132715">
                <a:tc>
                  <a:txBody>
                    <a:bodyPr/>
                    <a:lstStyle/>
                    <a:p>
                      <a:pPr indent="266700" algn="ctr">
                        <a:spcAft>
                          <a:spcPts val="0"/>
                        </a:spcAft>
                      </a:pPr>
                      <a:r>
                        <a:rPr lang="en-US" sz="1100" kern="100" dirty="0">
                          <a:solidFill>
                            <a:srgbClr val="584E61"/>
                          </a:solidFill>
                          <a:effectLst/>
                        </a:rPr>
                        <a:t>9</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9</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26</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1A</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0EFF2"/>
                    </a:solidFill>
                  </a:tcPr>
                </a:tc>
              </a:tr>
              <a:tr h="139065">
                <a:tc>
                  <a:txBody>
                    <a:bodyPr/>
                    <a:lstStyle/>
                    <a:p>
                      <a:pPr indent="266700" algn="ctr">
                        <a:spcAft>
                          <a:spcPts val="0"/>
                        </a:spcAft>
                      </a:pPr>
                      <a:r>
                        <a:rPr lang="en-US" sz="1100" kern="100" dirty="0">
                          <a:solidFill>
                            <a:srgbClr val="584E61"/>
                          </a:solidFill>
                          <a:effectLst/>
                        </a:rPr>
                        <a:t>10</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A</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27</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1B</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FFFFF"/>
                    </a:solidFill>
                  </a:tcPr>
                </a:tc>
              </a:tr>
              <a:tr h="132080">
                <a:tc>
                  <a:txBody>
                    <a:bodyPr/>
                    <a:lstStyle/>
                    <a:p>
                      <a:pPr indent="266700" algn="ctr">
                        <a:spcAft>
                          <a:spcPts val="0"/>
                        </a:spcAft>
                      </a:pPr>
                      <a:r>
                        <a:rPr lang="en-US" sz="1100" kern="100" dirty="0">
                          <a:solidFill>
                            <a:srgbClr val="584E61"/>
                          </a:solidFill>
                          <a:effectLst/>
                        </a:rPr>
                        <a:t>11</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B</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28</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1C</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0EFF2"/>
                    </a:solidFill>
                  </a:tcPr>
                </a:tc>
              </a:tr>
              <a:tr h="139065">
                <a:tc>
                  <a:txBody>
                    <a:bodyPr/>
                    <a:lstStyle/>
                    <a:p>
                      <a:pPr indent="266700" algn="ctr">
                        <a:spcAft>
                          <a:spcPts val="0"/>
                        </a:spcAft>
                      </a:pPr>
                      <a:r>
                        <a:rPr lang="en-US" sz="1100" kern="100" dirty="0">
                          <a:solidFill>
                            <a:srgbClr val="584E61"/>
                          </a:solidFill>
                          <a:effectLst/>
                        </a:rPr>
                        <a:t>12</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C</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29</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1D</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FFFFF"/>
                    </a:solidFill>
                  </a:tcPr>
                </a:tc>
              </a:tr>
              <a:tr h="132715">
                <a:tc>
                  <a:txBody>
                    <a:bodyPr/>
                    <a:lstStyle/>
                    <a:p>
                      <a:pPr indent="266700" algn="ctr">
                        <a:spcAft>
                          <a:spcPts val="0"/>
                        </a:spcAft>
                      </a:pPr>
                      <a:r>
                        <a:rPr lang="en-US" sz="1100" kern="100" dirty="0">
                          <a:solidFill>
                            <a:srgbClr val="584E61"/>
                          </a:solidFill>
                          <a:effectLst/>
                        </a:rPr>
                        <a:t>13</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D</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30</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1E</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0EFF2"/>
                    </a:solidFill>
                  </a:tcPr>
                </a:tc>
              </a:tr>
              <a:tr h="139065">
                <a:tc>
                  <a:txBody>
                    <a:bodyPr/>
                    <a:lstStyle/>
                    <a:p>
                      <a:pPr indent="266700" algn="ctr">
                        <a:spcAft>
                          <a:spcPts val="0"/>
                        </a:spcAft>
                      </a:pPr>
                      <a:r>
                        <a:rPr lang="en-US" sz="1100" kern="100" dirty="0">
                          <a:solidFill>
                            <a:srgbClr val="584E61"/>
                          </a:solidFill>
                          <a:effectLst/>
                        </a:rPr>
                        <a:t>14</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E</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31</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1F</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FFFFF"/>
                    </a:solidFill>
                  </a:tcPr>
                </a:tc>
              </a:tr>
              <a:tr h="132080">
                <a:tc>
                  <a:txBody>
                    <a:bodyPr/>
                    <a:lstStyle/>
                    <a:p>
                      <a:pPr indent="266700" algn="ctr">
                        <a:spcAft>
                          <a:spcPts val="0"/>
                        </a:spcAft>
                      </a:pPr>
                      <a:r>
                        <a:rPr lang="en-US" sz="1100" kern="100" dirty="0">
                          <a:solidFill>
                            <a:srgbClr val="584E61"/>
                          </a:solidFill>
                          <a:effectLst/>
                        </a:rPr>
                        <a:t>15</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F</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32</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20</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a:noFill/>
                    </a:lnB>
                    <a:solidFill>
                      <a:srgbClr val="F0EFF2"/>
                    </a:solidFill>
                  </a:tcPr>
                </a:tc>
              </a:tr>
              <a:tr h="139065">
                <a:tc>
                  <a:txBody>
                    <a:bodyPr/>
                    <a:lstStyle/>
                    <a:p>
                      <a:pPr indent="266700" algn="ctr">
                        <a:spcAft>
                          <a:spcPts val="0"/>
                        </a:spcAft>
                      </a:pPr>
                      <a:r>
                        <a:rPr lang="en-US" sz="1100" kern="100" dirty="0">
                          <a:solidFill>
                            <a:srgbClr val="584E61"/>
                          </a:solidFill>
                          <a:effectLst/>
                        </a:rPr>
                        <a:t>16</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w="19050">
                      <a:solidFill>
                        <a:srgbClr val="584E61"/>
                      </a:solidFill>
                      <a:prstDash val="solid"/>
                    </a:lnB>
                    <a:solidFill>
                      <a:srgbClr val="FFFFFF"/>
                    </a:solidFill>
                  </a:tcPr>
                </a:tc>
                <a:tc>
                  <a:txBody>
                    <a:bodyPr/>
                    <a:lstStyle/>
                    <a:p>
                      <a:pPr indent="266700" algn="ctr">
                        <a:spcAft>
                          <a:spcPts val="0"/>
                        </a:spcAft>
                      </a:pPr>
                      <a:r>
                        <a:rPr lang="en-US" sz="1100" kern="100" dirty="0">
                          <a:solidFill>
                            <a:srgbClr val="584E61"/>
                          </a:solidFill>
                          <a:effectLst/>
                        </a:rPr>
                        <a:t>10</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w="19050">
                      <a:solidFill>
                        <a:srgbClr val="584E61"/>
                      </a:solidFill>
                      <a:prstDash val="solid"/>
                    </a:lnB>
                    <a:solidFill>
                      <a:srgbClr val="FFFFFF"/>
                    </a:solidFill>
                  </a:tcPr>
                </a:tc>
                <a:tc>
                  <a:txBody>
                    <a:bodyPr/>
                    <a:lstStyle/>
                    <a:p>
                      <a:pPr indent="266700" algn="ctr">
                        <a:spcAft>
                          <a:spcPts val="0"/>
                        </a:spcAft>
                      </a:pPr>
                      <a:r>
                        <a:rPr lang="en-US" sz="1100" kern="100" dirty="0">
                          <a:solidFill>
                            <a:srgbClr val="584E61"/>
                          </a:solidFill>
                          <a:effectLst/>
                        </a:rPr>
                        <a:t>33</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w="19050">
                      <a:solidFill>
                        <a:srgbClr val="584E61"/>
                      </a:solidFill>
                      <a:prstDash val="solid"/>
                    </a:lnB>
                    <a:solidFill>
                      <a:srgbClr val="FFFFFF"/>
                    </a:solidFill>
                  </a:tcPr>
                </a:tc>
                <a:tc>
                  <a:txBody>
                    <a:bodyPr/>
                    <a:lstStyle/>
                    <a:p>
                      <a:pPr indent="266700" algn="ctr">
                        <a:spcAft>
                          <a:spcPts val="0"/>
                        </a:spcAft>
                      </a:pPr>
                      <a:r>
                        <a:rPr lang="en-US" sz="1100" kern="100" dirty="0">
                          <a:solidFill>
                            <a:srgbClr val="584E61"/>
                          </a:solidFill>
                          <a:effectLst/>
                        </a:rPr>
                        <a:t>21</a:t>
                      </a:r>
                      <a:endParaRPr lang="en-US" sz="1100" kern="100" dirty="0">
                        <a:solidFill>
                          <a:srgbClr val="584E61"/>
                        </a:solidFill>
                        <a:effectLst/>
                        <a:latin typeface="Times New Roman" panose="02020503050405090304"/>
                        <a:ea typeface="宋体" pitchFamily="2" charset="-122"/>
                      </a:endParaRPr>
                    </a:p>
                  </a:txBody>
                  <a:tcPr marL="51433" marR="51433" marT="0" marB="0" anchor="ctr">
                    <a:lnL>
                      <a:noFill/>
                    </a:lnL>
                    <a:lnR>
                      <a:noFill/>
                    </a:lnR>
                    <a:lnT>
                      <a:noFill/>
                    </a:lnT>
                    <a:lnB w="19050">
                      <a:solidFill>
                        <a:srgbClr val="584E61"/>
                      </a:solidFill>
                      <a:prstDash val="solid"/>
                    </a:lnB>
                    <a:solidFill>
                      <a:srgbClr val="FFFFFF"/>
                    </a:solidFill>
                  </a:tcPr>
                </a:tc>
              </a:tr>
            </a:tbl>
          </a:graphicData>
        </a:graphic>
      </p:graphicFrame>
      <p:sp>
        <p:nvSpPr>
          <p:cNvPr id="3" name="标题 1"/>
          <p:cNvSpPr>
            <a:spLocks noGrp="1"/>
          </p:cNvSpPr>
          <p:nvPr>
            <p:custDataLst>
              <p:tags r:id="rId2"/>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a:ln>
                  <a:noFill/>
                </a:ln>
                <a:solidFill>
                  <a:srgbClr val="782367"/>
                </a:solidFill>
                <a:effectLst/>
                <a:uLnTx/>
                <a:uFillTx/>
                <a:latin typeface="微软雅黑" panose="020B0503020204020204" charset="-122"/>
                <a:ea typeface="微软雅黑" panose="020B0503020204020204" charset="-122"/>
                <a:cs typeface="+mj-cs"/>
              </a:rPr>
              <a:t>2</a:t>
            </a: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.1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进制</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3" name="内容占位符 2"/>
          <p:cNvSpPr>
            <a:spLocks noGrp="1"/>
          </p:cNvSpPr>
          <p:nvPr>
            <p:ph idx="1"/>
          </p:nvPr>
        </p:nvSpPr>
        <p:spPr>
          <a:xfrm>
            <a:off x="1485900" y="800100"/>
            <a:ext cx="6172200" cy="4260056"/>
          </a:xfrm>
          <a:noFill/>
          <a:ln>
            <a:noFill/>
          </a:ln>
        </p:spPr>
        <p:txBody>
          <a:bodyPr/>
          <a:p>
            <a:r>
              <a:rPr lang="en-US" altLang="zh-CN" b="1" dirty="0">
                <a:solidFill>
                  <a:srgbClr val="009ED6"/>
                </a:solidFill>
                <a:latin typeface="+mn-lt"/>
                <a:ea typeface="+mn-ea"/>
                <a:cs typeface="+mn-cs"/>
              </a:rPr>
              <a:t>2.1.3 </a:t>
            </a:r>
            <a:r>
              <a:rPr lang="zh-CN" altLang="en-US" b="1" dirty="0">
                <a:solidFill>
                  <a:srgbClr val="009ED6"/>
                </a:solidFill>
                <a:latin typeface="+mn-lt"/>
                <a:ea typeface="+mn-ea"/>
                <a:cs typeface="+mn-cs"/>
              </a:rPr>
              <a:t>进制转换</a:t>
            </a:r>
            <a:endParaRPr lang="en-US" altLang="zh-CN" dirty="0">
              <a:latin typeface="+mn-lt"/>
              <a:ea typeface="+mn-ea"/>
              <a:cs typeface="+mn-cs"/>
            </a:endParaRPr>
          </a:p>
          <a:p>
            <a:pPr marL="914400" lvl="1" indent="-457200">
              <a:buFontTx/>
              <a:buAutoNum type="arabicPeriod"/>
            </a:pPr>
            <a:r>
              <a:rPr lang="zh-CN" altLang="en-US" dirty="0">
                <a:latin typeface="+mn-lt"/>
                <a:ea typeface="+mn-ea"/>
              </a:rPr>
              <a:t>十进制转换为二进制</a:t>
            </a:r>
            <a:endParaRPr lang="en-US" altLang="zh-CN" dirty="0">
              <a:latin typeface="+mn-lt"/>
              <a:ea typeface="+mn-ea"/>
            </a:endParaRPr>
          </a:p>
          <a:p>
            <a:pPr marL="914400" lvl="1" indent="-457200">
              <a:buNone/>
            </a:pPr>
            <a:r>
              <a:rPr lang="en-US" altLang="zh-CN" dirty="0">
                <a:latin typeface="+mn-lt"/>
                <a:ea typeface="+mn-ea"/>
              </a:rPr>
              <a:t>      </a:t>
            </a:r>
            <a:r>
              <a:rPr lang="zh-CN" altLang="zh-CN" dirty="0">
                <a:latin typeface="+mn-lt"/>
                <a:ea typeface="+mn-ea"/>
              </a:rPr>
              <a:t>十进制转换成二进制可以采用除</a:t>
            </a:r>
            <a:r>
              <a:rPr lang="en-US" altLang="zh-CN" dirty="0">
                <a:latin typeface="+mn-lt"/>
                <a:ea typeface="+mn-ea"/>
              </a:rPr>
              <a:t>2</a:t>
            </a:r>
            <a:r>
              <a:rPr lang="zh-CN" altLang="zh-CN" dirty="0">
                <a:latin typeface="+mn-lt"/>
                <a:ea typeface="+mn-ea"/>
              </a:rPr>
              <a:t>取余的方式。</a:t>
            </a:r>
            <a:endParaRPr lang="en-US" altLang="zh-CN" dirty="0">
              <a:latin typeface="+mn-lt"/>
              <a:ea typeface="+mn-ea"/>
            </a:endParaRPr>
          </a:p>
          <a:p>
            <a:pPr marL="914400" lvl="1" indent="-457200">
              <a:buNone/>
            </a:pPr>
            <a:r>
              <a:rPr lang="zh-CN" altLang="en-US" dirty="0">
                <a:latin typeface="+mn-lt"/>
                <a:ea typeface="+mn-ea"/>
              </a:rPr>
              <a:t>即</a:t>
            </a:r>
            <a:r>
              <a:rPr lang="zh-CN" altLang="zh-CN" dirty="0">
                <a:latin typeface="+mn-lt"/>
                <a:ea typeface="+mn-ea"/>
              </a:rPr>
              <a:t>将要转换的数先除以</a:t>
            </a:r>
            <a:r>
              <a:rPr lang="en-US" altLang="zh-CN" dirty="0">
                <a:latin typeface="+mn-lt"/>
                <a:ea typeface="+mn-ea"/>
              </a:rPr>
              <a:t>2</a:t>
            </a:r>
            <a:r>
              <a:rPr lang="zh-CN" altLang="zh-CN" dirty="0">
                <a:latin typeface="+mn-lt"/>
                <a:ea typeface="+mn-ea"/>
              </a:rPr>
              <a:t>，得到商和余数，</a:t>
            </a:r>
            <a:endParaRPr lang="en-US" altLang="zh-CN" dirty="0">
              <a:latin typeface="+mn-lt"/>
              <a:ea typeface="+mn-ea"/>
            </a:endParaRPr>
          </a:p>
          <a:p>
            <a:pPr marL="914400" lvl="1" indent="-457200">
              <a:buNone/>
            </a:pPr>
            <a:r>
              <a:rPr lang="zh-CN" altLang="zh-CN" dirty="0">
                <a:latin typeface="+mn-lt"/>
                <a:ea typeface="+mn-ea"/>
              </a:rPr>
              <a:t>将商继续除以</a:t>
            </a:r>
            <a:r>
              <a:rPr lang="en-US" altLang="zh-CN" dirty="0">
                <a:latin typeface="+mn-lt"/>
                <a:ea typeface="+mn-ea"/>
              </a:rPr>
              <a:t>2</a:t>
            </a:r>
            <a:r>
              <a:rPr lang="zh-CN" altLang="zh-CN" dirty="0">
                <a:latin typeface="+mn-lt"/>
                <a:ea typeface="+mn-ea"/>
              </a:rPr>
              <a:t>，获得商和余数</a:t>
            </a:r>
            <a:r>
              <a:rPr lang="zh-CN" altLang="en-US" dirty="0">
                <a:latin typeface="+mn-lt"/>
                <a:ea typeface="+mn-ea"/>
              </a:rPr>
              <a:t>，</a:t>
            </a:r>
            <a:endParaRPr lang="en-US" altLang="zh-CN" dirty="0">
              <a:latin typeface="+mn-lt"/>
              <a:ea typeface="+mn-ea"/>
            </a:endParaRPr>
          </a:p>
          <a:p>
            <a:pPr marL="914400" lvl="1" indent="-457200">
              <a:buNone/>
            </a:pPr>
            <a:r>
              <a:rPr lang="zh-CN" altLang="zh-CN" dirty="0">
                <a:latin typeface="+mn-lt"/>
                <a:ea typeface="+mn-ea"/>
              </a:rPr>
              <a:t>此过程一直重复直到商为</a:t>
            </a:r>
            <a:r>
              <a:rPr lang="en-US" altLang="zh-CN" dirty="0">
                <a:latin typeface="+mn-lt"/>
                <a:ea typeface="+mn-ea"/>
              </a:rPr>
              <a:t>0</a:t>
            </a:r>
            <a:r>
              <a:rPr lang="zh-CN" altLang="zh-CN" dirty="0">
                <a:latin typeface="+mn-lt"/>
                <a:ea typeface="+mn-ea"/>
              </a:rPr>
              <a:t>。</a:t>
            </a:r>
            <a:endParaRPr lang="en-US" altLang="zh-CN" dirty="0">
              <a:latin typeface="+mn-lt"/>
              <a:ea typeface="+mn-ea"/>
            </a:endParaRPr>
          </a:p>
          <a:p>
            <a:pPr marL="914400" lvl="1" indent="-457200">
              <a:buNone/>
            </a:pPr>
            <a:r>
              <a:rPr lang="zh-CN" altLang="zh-CN" dirty="0">
                <a:latin typeface="+mn-lt"/>
                <a:ea typeface="+mn-ea"/>
              </a:rPr>
              <a:t>最后将所有得到的余数倒序排列，</a:t>
            </a:r>
            <a:endParaRPr lang="en-US" altLang="zh-CN" dirty="0">
              <a:latin typeface="+mn-lt"/>
              <a:ea typeface="+mn-ea"/>
            </a:endParaRPr>
          </a:p>
          <a:p>
            <a:pPr marL="914400" lvl="1" indent="-457200">
              <a:buNone/>
            </a:pPr>
            <a:r>
              <a:rPr lang="zh-CN" altLang="zh-CN" dirty="0">
                <a:latin typeface="+mn-lt"/>
                <a:ea typeface="+mn-ea"/>
              </a:rPr>
              <a:t>即可得到转换结果</a:t>
            </a:r>
            <a:r>
              <a:rPr lang="zh-CN" altLang="en-US" dirty="0">
                <a:latin typeface="+mn-lt"/>
                <a:ea typeface="+mn-ea"/>
              </a:rPr>
              <a:t>。演算过程如图</a:t>
            </a:r>
            <a:r>
              <a:rPr lang="en-US" altLang="zh-CN" dirty="0">
                <a:latin typeface="+mn-lt"/>
                <a:ea typeface="+mn-ea"/>
              </a:rPr>
              <a:t>2-1</a:t>
            </a:r>
            <a:r>
              <a:rPr lang="zh-CN" altLang="en-US" dirty="0">
                <a:latin typeface="+mn-lt"/>
                <a:ea typeface="+mn-ea"/>
              </a:rPr>
              <a:t>：        </a:t>
            </a:r>
            <a:endParaRPr lang="en-US" altLang="zh-CN" dirty="0">
              <a:latin typeface="+mn-lt"/>
              <a:ea typeface="+mn-ea"/>
            </a:endParaRPr>
          </a:p>
          <a:p>
            <a:pPr marL="914400" lvl="1" indent="-457200">
              <a:buNone/>
            </a:pPr>
            <a:r>
              <a:rPr lang="zh-CN" altLang="en-US" sz="1050" dirty="0">
                <a:latin typeface="+mn-lt"/>
                <a:ea typeface="+mn-ea"/>
              </a:rPr>
              <a:t>                                                                                                       图</a:t>
            </a:r>
            <a:r>
              <a:rPr lang="en-US" altLang="zh-CN" sz="1050" dirty="0">
                <a:latin typeface="+mn-lt"/>
                <a:ea typeface="+mn-ea"/>
              </a:rPr>
              <a:t>2-1    </a:t>
            </a:r>
            <a:r>
              <a:rPr lang="zh-CN" altLang="en-US" sz="1050" dirty="0">
                <a:latin typeface="+mn-lt"/>
                <a:ea typeface="+mn-ea"/>
              </a:rPr>
              <a:t>十进制转换为二进制</a:t>
            </a:r>
            <a:endParaRPr lang="en-US" altLang="zh-CN" sz="1050" dirty="0">
              <a:latin typeface="+mn-lt"/>
              <a:ea typeface="+mn-ea"/>
            </a:endParaRPr>
          </a:p>
          <a:p>
            <a:pPr marL="914400" lvl="1" indent="-457200">
              <a:buNone/>
            </a:pPr>
            <a:endParaRPr lang="en-US" altLang="zh-CN" dirty="0">
              <a:latin typeface="+mn-lt"/>
              <a:ea typeface="+mn-ea"/>
            </a:endParaRPr>
          </a:p>
          <a:p>
            <a:pPr marL="914400" lvl="1" indent="-457200">
              <a:buNone/>
            </a:pPr>
            <a:endParaRPr lang="en-US" altLang="zh-CN" dirty="0">
              <a:latin typeface="+mn-lt"/>
              <a:ea typeface="+mn-ea"/>
            </a:endParaRPr>
          </a:p>
          <a:p>
            <a:pPr marL="914400" lvl="1" indent="-457200">
              <a:buNone/>
            </a:pPr>
            <a:endParaRPr lang="en-US" altLang="zh-CN" dirty="0">
              <a:latin typeface="+mn-lt"/>
              <a:ea typeface="+mn-ea"/>
            </a:endParaRPr>
          </a:p>
          <a:p>
            <a:pPr marL="914400" lvl="1" indent="-457200">
              <a:buNone/>
            </a:pPr>
            <a:r>
              <a:rPr lang="en-US" altLang="zh-CN" dirty="0">
                <a:latin typeface="+mn-lt"/>
                <a:ea typeface="+mn-ea"/>
              </a:rPr>
              <a:t>                                                   </a:t>
            </a:r>
            <a:endParaRPr lang="zh-CN" altLang="en-US" dirty="0">
              <a:latin typeface="+mn-lt"/>
              <a:ea typeface="+mn-ea"/>
            </a:endParaRPr>
          </a:p>
        </p:txBody>
      </p:sp>
      <p:pic>
        <p:nvPicPr>
          <p:cNvPr id="10244" name="图片 2"/>
          <p:cNvPicPr>
            <a:picLocks noChangeAspect="1"/>
          </p:cNvPicPr>
          <p:nvPr/>
        </p:nvPicPr>
        <p:blipFill>
          <a:blip r:embed="rId1"/>
          <a:stretch>
            <a:fillRect/>
          </a:stretch>
        </p:blipFill>
        <p:spPr>
          <a:xfrm>
            <a:off x="5494735" y="2226469"/>
            <a:ext cx="2039540" cy="1744266"/>
          </a:xfrm>
          <a:prstGeom prst="rect">
            <a:avLst/>
          </a:prstGeom>
          <a:noFill/>
          <a:ln w="9525">
            <a:noFill/>
          </a:ln>
        </p:spPr>
      </p:pic>
      <p:sp>
        <p:nvSpPr>
          <p:cNvPr id="11" name="标题 1"/>
          <p:cNvSpPr>
            <a:spLocks noGrp="1"/>
          </p:cNvSpPr>
          <p:nvPr>
            <p:custDataLst>
              <p:tags r:id="rId2"/>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a:ln>
                  <a:noFill/>
                </a:ln>
                <a:solidFill>
                  <a:srgbClr val="782367"/>
                </a:solidFill>
                <a:effectLst/>
                <a:uLnTx/>
                <a:uFillTx/>
                <a:latin typeface="微软雅黑" panose="020B0503020204020204" charset="-122"/>
                <a:ea typeface="微软雅黑" panose="020B0503020204020204" charset="-122"/>
                <a:cs typeface="+mj-cs"/>
              </a:rPr>
              <a:t>2</a:t>
            </a: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.1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进制</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2" name="灯片编号占位符 1"/>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1" name="内容占位符 2"/>
          <p:cNvSpPr>
            <a:spLocks noGrp="1"/>
          </p:cNvSpPr>
          <p:nvPr>
            <p:ph idx="1"/>
          </p:nvPr>
        </p:nvSpPr>
        <p:spPr bwMode="auto">
          <a:xfrm>
            <a:off x="1485900" y="800100"/>
            <a:ext cx="6172200" cy="401955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914400" marR="0" lvl="1" indent="-457200" algn="l" defTabSz="914400" rtl="0" eaLnBrk="0" fontAlgn="base" latinLnBrk="0" hangingPunct="0">
              <a:lnSpc>
                <a:spcPct val="150000"/>
              </a:lnSpc>
              <a:spcBef>
                <a:spcPct val="20000"/>
              </a:spcBef>
              <a:spcAft>
                <a:spcPct val="0"/>
              </a:spcAft>
              <a:buClrTx/>
              <a:buSzTx/>
              <a:buFontTx/>
              <a:buAutoNum type="arabicPeriod" startAt="2"/>
              <a:defRPr/>
            </a:pPr>
            <a:r>
              <a:rPr kumimoji="0" lang="zh-CN" altLang="en-US" b="0" i="0" u="none" strike="noStrike" kern="0" cap="none" spc="0" normalizeH="0" baseline="0" noProof="0" dirty="0" smtClean="0">
                <a:ln>
                  <a:noFill/>
                </a:ln>
                <a:solidFill>
                  <a:schemeClr val="tx1"/>
                </a:solidFill>
                <a:effectLst/>
                <a:uLnTx/>
                <a:uFillTx/>
                <a:latin typeface="+mn-lt"/>
                <a:ea typeface="+mn-ea"/>
              </a:rPr>
              <a:t>二进制转换为十进制</a:t>
            </a: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rPr>
              <a:t>        </a:t>
            </a:r>
            <a:r>
              <a:rPr kumimoji="0" lang="zh-CN" altLang="zh-CN" b="0" i="0" u="none" strike="noStrike" kern="0" cap="none" spc="0" normalizeH="0" baseline="0" noProof="0" dirty="0" smtClean="0">
                <a:ln>
                  <a:noFill/>
                </a:ln>
                <a:solidFill>
                  <a:schemeClr val="tx1"/>
                </a:solidFill>
                <a:effectLst/>
                <a:uLnTx/>
                <a:uFillTx/>
                <a:latin typeface="+mn-lt"/>
                <a:ea typeface="+mn-ea"/>
              </a:rPr>
              <a:t>二进制</a:t>
            </a:r>
            <a:r>
              <a:rPr kumimoji="0" lang="zh-CN" altLang="zh-CN" b="0" i="0" u="none" strike="noStrike" kern="0" cap="none" spc="0" normalizeH="0" baseline="0" noProof="0" dirty="0">
                <a:ln>
                  <a:noFill/>
                </a:ln>
                <a:solidFill>
                  <a:schemeClr val="tx1"/>
                </a:solidFill>
                <a:effectLst/>
                <a:uLnTx/>
                <a:uFillTx/>
                <a:latin typeface="+mn-lt"/>
                <a:ea typeface="+mn-ea"/>
              </a:rPr>
              <a:t>转化成十进制要从右到左用二进制位上的每个数去乘以</a:t>
            </a:r>
            <a:r>
              <a:rPr kumimoji="0" lang="en-US" altLang="zh-CN" b="0" i="0" u="none" strike="noStrike" kern="0" cap="none" spc="0" normalizeH="0" baseline="0" noProof="0" dirty="0">
                <a:ln>
                  <a:noFill/>
                </a:ln>
                <a:solidFill>
                  <a:schemeClr val="tx1"/>
                </a:solidFill>
                <a:effectLst/>
                <a:uLnTx/>
                <a:uFillTx/>
                <a:latin typeface="+mn-lt"/>
                <a:ea typeface="+mn-ea"/>
              </a:rPr>
              <a:t>2</a:t>
            </a:r>
            <a:r>
              <a:rPr kumimoji="0" lang="zh-CN" altLang="zh-CN" b="0" i="0" u="none" strike="noStrike" kern="0" cap="none" spc="0" normalizeH="0" baseline="0" noProof="0" dirty="0">
                <a:ln>
                  <a:noFill/>
                </a:ln>
                <a:solidFill>
                  <a:schemeClr val="tx1"/>
                </a:solidFill>
                <a:effectLst/>
                <a:uLnTx/>
                <a:uFillTx/>
                <a:latin typeface="+mn-lt"/>
                <a:ea typeface="+mn-ea"/>
              </a:rPr>
              <a:t>的相应次方，例如，将最右边第一位的数乘以</a:t>
            </a:r>
            <a:r>
              <a:rPr kumimoji="0" lang="en-US" altLang="zh-CN" b="0" i="0" u="none" strike="noStrike" kern="0" cap="none" spc="0" normalizeH="0" baseline="0" noProof="0" dirty="0">
                <a:ln>
                  <a:noFill/>
                </a:ln>
                <a:solidFill>
                  <a:schemeClr val="tx1"/>
                </a:solidFill>
                <a:effectLst/>
                <a:uLnTx/>
                <a:uFillTx/>
                <a:latin typeface="+mn-lt"/>
                <a:ea typeface="+mn-ea"/>
              </a:rPr>
              <a:t>2</a:t>
            </a:r>
            <a:r>
              <a:rPr kumimoji="0" lang="zh-CN" altLang="zh-CN" b="0" i="0" u="none" strike="noStrike" kern="0" cap="none" spc="0" normalizeH="0" baseline="0" noProof="0" dirty="0">
                <a:ln>
                  <a:noFill/>
                </a:ln>
                <a:solidFill>
                  <a:schemeClr val="tx1"/>
                </a:solidFill>
                <a:effectLst/>
                <a:uLnTx/>
                <a:uFillTx/>
                <a:latin typeface="+mn-lt"/>
                <a:ea typeface="+mn-ea"/>
              </a:rPr>
              <a:t>的</a:t>
            </a:r>
            <a:r>
              <a:rPr kumimoji="0" lang="en-US" altLang="zh-CN" b="0" i="0" u="none" strike="noStrike" kern="0" cap="none" spc="0" normalizeH="0" baseline="0" noProof="0" dirty="0">
                <a:ln>
                  <a:noFill/>
                </a:ln>
                <a:solidFill>
                  <a:schemeClr val="tx1"/>
                </a:solidFill>
                <a:effectLst/>
                <a:uLnTx/>
                <a:uFillTx/>
                <a:latin typeface="+mn-lt"/>
                <a:ea typeface="+mn-ea"/>
              </a:rPr>
              <a:t>0</a:t>
            </a:r>
            <a:r>
              <a:rPr kumimoji="0" lang="zh-CN" altLang="zh-CN" b="0" i="0" u="none" strike="noStrike" kern="0" cap="none" spc="0" normalizeH="0" baseline="0" noProof="0" dirty="0">
                <a:ln>
                  <a:noFill/>
                </a:ln>
                <a:solidFill>
                  <a:schemeClr val="tx1"/>
                </a:solidFill>
                <a:effectLst/>
                <a:uLnTx/>
                <a:uFillTx/>
                <a:latin typeface="+mn-lt"/>
                <a:ea typeface="+mn-ea"/>
              </a:rPr>
              <a:t>次方，第二位的数乘以</a:t>
            </a:r>
            <a:r>
              <a:rPr kumimoji="0" lang="en-US" altLang="zh-CN" b="0" i="0" u="none" strike="noStrike" kern="0" cap="none" spc="0" normalizeH="0" baseline="0" noProof="0" dirty="0">
                <a:ln>
                  <a:noFill/>
                </a:ln>
                <a:solidFill>
                  <a:schemeClr val="tx1"/>
                </a:solidFill>
                <a:effectLst/>
                <a:uLnTx/>
                <a:uFillTx/>
                <a:latin typeface="+mn-lt"/>
                <a:ea typeface="+mn-ea"/>
              </a:rPr>
              <a:t>2</a:t>
            </a:r>
            <a:r>
              <a:rPr kumimoji="0" lang="zh-CN" altLang="zh-CN" b="0" i="0" u="none" strike="noStrike" kern="0" cap="none" spc="0" normalizeH="0" baseline="0" noProof="0" dirty="0">
                <a:ln>
                  <a:noFill/>
                </a:ln>
                <a:solidFill>
                  <a:schemeClr val="tx1"/>
                </a:solidFill>
                <a:effectLst/>
                <a:uLnTx/>
                <a:uFillTx/>
                <a:latin typeface="+mn-lt"/>
                <a:ea typeface="+mn-ea"/>
              </a:rPr>
              <a:t>的</a:t>
            </a:r>
            <a:r>
              <a:rPr kumimoji="0" lang="en-US" altLang="zh-CN" b="0" i="0" u="none" strike="noStrike" kern="0" cap="none" spc="0" normalizeH="0" baseline="0" noProof="0" dirty="0">
                <a:ln>
                  <a:noFill/>
                </a:ln>
                <a:solidFill>
                  <a:schemeClr val="tx1"/>
                </a:solidFill>
                <a:effectLst/>
                <a:uLnTx/>
                <a:uFillTx/>
                <a:latin typeface="+mn-lt"/>
                <a:ea typeface="+mn-ea"/>
              </a:rPr>
              <a:t>1</a:t>
            </a:r>
            <a:r>
              <a:rPr kumimoji="0" lang="zh-CN" altLang="zh-CN" b="0" i="0" u="none" strike="noStrike" kern="0" cap="none" spc="0" normalizeH="0" baseline="0" noProof="0" dirty="0">
                <a:ln>
                  <a:noFill/>
                </a:ln>
                <a:solidFill>
                  <a:schemeClr val="tx1"/>
                </a:solidFill>
                <a:effectLst/>
                <a:uLnTx/>
                <a:uFillTx/>
                <a:latin typeface="+mn-lt"/>
                <a:ea typeface="+mn-ea"/>
              </a:rPr>
              <a:t>次方，第</a:t>
            </a:r>
            <a:r>
              <a:rPr kumimoji="0" lang="en-US" altLang="zh-CN" b="0" i="0" u="none" strike="noStrike" kern="0" cap="none" spc="0" normalizeH="0" baseline="0" noProof="0" dirty="0">
                <a:ln>
                  <a:noFill/>
                </a:ln>
                <a:solidFill>
                  <a:schemeClr val="tx1"/>
                </a:solidFill>
                <a:effectLst/>
                <a:uLnTx/>
                <a:uFillTx/>
                <a:latin typeface="+mn-lt"/>
                <a:ea typeface="+mn-ea"/>
              </a:rPr>
              <a:t>n</a:t>
            </a:r>
            <a:r>
              <a:rPr kumimoji="0" lang="zh-CN" altLang="zh-CN" b="0" i="0" u="none" strike="noStrike" kern="0" cap="none" spc="0" normalizeH="0" baseline="0" noProof="0" dirty="0">
                <a:ln>
                  <a:noFill/>
                </a:ln>
                <a:solidFill>
                  <a:schemeClr val="tx1"/>
                </a:solidFill>
                <a:effectLst/>
                <a:uLnTx/>
                <a:uFillTx/>
                <a:latin typeface="+mn-lt"/>
                <a:ea typeface="+mn-ea"/>
              </a:rPr>
              <a:t>位的数乘以</a:t>
            </a:r>
            <a:r>
              <a:rPr kumimoji="0" lang="en-US" altLang="zh-CN" b="0" i="0" u="none" strike="noStrike" kern="0" cap="none" spc="0" normalizeH="0" baseline="0" noProof="0" dirty="0">
                <a:ln>
                  <a:noFill/>
                </a:ln>
                <a:solidFill>
                  <a:schemeClr val="tx1"/>
                </a:solidFill>
                <a:effectLst/>
                <a:uLnTx/>
                <a:uFillTx/>
                <a:latin typeface="+mn-lt"/>
                <a:ea typeface="+mn-ea"/>
              </a:rPr>
              <a:t>2</a:t>
            </a:r>
            <a:r>
              <a:rPr kumimoji="0" lang="zh-CN" altLang="zh-CN" b="0" i="0" u="none" strike="noStrike" kern="0" cap="none" spc="0" normalizeH="0" baseline="0" noProof="0" dirty="0">
                <a:ln>
                  <a:noFill/>
                </a:ln>
                <a:solidFill>
                  <a:schemeClr val="tx1"/>
                </a:solidFill>
                <a:effectLst/>
                <a:uLnTx/>
                <a:uFillTx/>
                <a:latin typeface="+mn-lt"/>
                <a:ea typeface="+mn-ea"/>
              </a:rPr>
              <a:t>的</a:t>
            </a:r>
            <a:r>
              <a:rPr kumimoji="0" lang="en-US" altLang="zh-CN" b="0" i="0" u="none" strike="noStrike" kern="0" cap="none" spc="0" normalizeH="0" baseline="0" noProof="0" dirty="0">
                <a:ln>
                  <a:noFill/>
                </a:ln>
                <a:solidFill>
                  <a:schemeClr val="tx1"/>
                </a:solidFill>
                <a:effectLst/>
                <a:uLnTx/>
                <a:uFillTx/>
                <a:latin typeface="+mn-lt"/>
                <a:ea typeface="+mn-ea"/>
              </a:rPr>
              <a:t>n-1</a:t>
            </a:r>
            <a:r>
              <a:rPr kumimoji="0" lang="zh-CN" altLang="zh-CN" b="0" i="0" u="none" strike="noStrike" kern="0" cap="none" spc="0" normalizeH="0" baseline="0" noProof="0" dirty="0">
                <a:ln>
                  <a:noFill/>
                </a:ln>
                <a:solidFill>
                  <a:schemeClr val="tx1"/>
                </a:solidFill>
                <a:effectLst/>
                <a:uLnTx/>
                <a:uFillTx/>
                <a:latin typeface="+mn-lt"/>
                <a:ea typeface="+mn-ea"/>
              </a:rPr>
              <a:t>次方，然后把所有乘的结果相加，得到的结果就是转换后的</a:t>
            </a:r>
            <a:r>
              <a:rPr kumimoji="0" lang="zh-CN" altLang="zh-CN" b="0" i="0" u="none" strike="noStrike" kern="0" cap="none" spc="0" normalizeH="0" baseline="0" noProof="0" dirty="0" smtClean="0">
                <a:ln>
                  <a:noFill/>
                </a:ln>
                <a:solidFill>
                  <a:schemeClr val="tx1"/>
                </a:solidFill>
                <a:effectLst/>
                <a:uLnTx/>
                <a:uFillTx/>
                <a:latin typeface="+mn-lt"/>
                <a:ea typeface="+mn-ea"/>
              </a:rPr>
              <a:t>十进制</a:t>
            </a:r>
            <a:r>
              <a:rPr kumimoji="0" lang="zh-CN" altLang="en-US" b="0" i="0" u="none" strike="noStrike" kern="0" cap="none" spc="0" normalizeH="0" baseline="0" noProof="0" dirty="0" smtClean="0">
                <a:ln>
                  <a:noFill/>
                </a:ln>
                <a:solidFill>
                  <a:schemeClr val="tx1"/>
                </a:solidFill>
                <a:effectLst/>
                <a:uLnTx/>
                <a:uFillTx/>
                <a:latin typeface="+mn-lt"/>
                <a:ea typeface="+mn-ea"/>
              </a:rPr>
              <a:t>。</a:t>
            </a: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r>
              <a:rPr kumimoji="0" lang="zh-CN" altLang="zh-CN" b="0" i="0" u="none" strike="noStrike" kern="0" cap="none" spc="0" normalizeH="0" baseline="0" noProof="0" dirty="0">
                <a:ln>
                  <a:noFill/>
                </a:ln>
                <a:solidFill>
                  <a:schemeClr val="tx1"/>
                </a:solidFill>
                <a:effectLst/>
                <a:uLnTx/>
                <a:uFillTx/>
                <a:latin typeface="+mn-lt"/>
                <a:ea typeface="+mn-ea"/>
              </a:rPr>
              <a:t>例如，把一个二进制数</a:t>
            </a:r>
            <a:r>
              <a:rPr kumimoji="0" lang="en-US" altLang="zh-CN" b="0" i="0" u="none" strike="noStrike" kern="0" cap="none" spc="0" normalizeH="0" baseline="0" noProof="0" dirty="0">
                <a:ln>
                  <a:noFill/>
                </a:ln>
                <a:solidFill>
                  <a:schemeClr val="tx1"/>
                </a:solidFill>
                <a:effectLst/>
                <a:uLnTx/>
                <a:uFillTx/>
                <a:latin typeface="+mn-lt"/>
                <a:ea typeface="+mn-ea"/>
              </a:rPr>
              <a:t>0110 0100</a:t>
            </a:r>
            <a:r>
              <a:rPr kumimoji="0" lang="zh-CN" altLang="zh-CN" b="0" i="0" u="none" strike="noStrike" kern="0" cap="none" spc="0" normalizeH="0" baseline="0" noProof="0" dirty="0">
                <a:ln>
                  <a:noFill/>
                </a:ln>
                <a:solidFill>
                  <a:schemeClr val="tx1"/>
                </a:solidFill>
                <a:effectLst/>
                <a:uLnTx/>
                <a:uFillTx/>
                <a:latin typeface="+mn-lt"/>
                <a:ea typeface="+mn-ea"/>
              </a:rPr>
              <a:t>转换为</a:t>
            </a:r>
            <a:r>
              <a:rPr kumimoji="0" lang="en-US" altLang="zh-CN" b="0" i="0" u="none" strike="noStrike" kern="0" cap="none" spc="0" normalizeH="0" baseline="0" noProof="0" dirty="0">
                <a:ln>
                  <a:noFill/>
                </a:ln>
                <a:solidFill>
                  <a:schemeClr val="tx1"/>
                </a:solidFill>
                <a:effectLst/>
                <a:uLnTx/>
                <a:uFillTx/>
                <a:latin typeface="+mn-lt"/>
                <a:ea typeface="+mn-ea"/>
              </a:rPr>
              <a:t>10</a:t>
            </a:r>
            <a:r>
              <a:rPr kumimoji="0" lang="zh-CN" altLang="zh-CN" b="0" i="0" u="none" strike="noStrike" kern="0" cap="none" spc="0" normalizeH="0" baseline="0" noProof="0" dirty="0">
                <a:ln>
                  <a:noFill/>
                </a:ln>
                <a:solidFill>
                  <a:schemeClr val="tx1"/>
                </a:solidFill>
                <a:effectLst/>
                <a:uLnTx/>
                <a:uFillTx/>
                <a:latin typeface="+mn-lt"/>
                <a:ea typeface="+mn-ea"/>
              </a:rPr>
              <a:t>进制，转换方式</a:t>
            </a:r>
            <a:r>
              <a:rPr kumimoji="0" lang="zh-CN" altLang="zh-CN" b="0" i="0" u="none" strike="noStrike" kern="0" cap="none" spc="0" normalizeH="0" baseline="0" noProof="0" dirty="0" smtClean="0">
                <a:ln>
                  <a:noFill/>
                </a:ln>
                <a:solidFill>
                  <a:schemeClr val="tx1"/>
                </a:solidFill>
                <a:effectLst/>
                <a:uLnTx/>
                <a:uFillTx/>
                <a:latin typeface="+mn-lt"/>
                <a:ea typeface="+mn-ea"/>
              </a:rPr>
              <a:t>如下</a:t>
            </a:r>
            <a:r>
              <a:rPr kumimoji="0" lang="zh-CN" altLang="en-US" b="0" i="0" u="none" strike="noStrike" kern="0" cap="none" spc="0" normalizeH="0" baseline="0" noProof="0" dirty="0" smtClean="0">
                <a:ln>
                  <a:noFill/>
                </a:ln>
                <a:solidFill>
                  <a:schemeClr val="tx1"/>
                </a:solidFill>
                <a:effectLst/>
                <a:uLnTx/>
                <a:uFillTx/>
                <a:latin typeface="+mn-lt"/>
                <a:ea typeface="+mn-ea"/>
              </a:rPr>
              <a:t>：</a:t>
            </a: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r>
              <a:rPr kumimoji="0" lang="zh-CN" altLang="en-US" b="0" i="0" u="none" strike="noStrike" kern="0" cap="none" spc="0" normalizeH="0" baseline="0" noProof="0" dirty="0" smtClean="0">
                <a:ln>
                  <a:noFill/>
                </a:ln>
                <a:solidFill>
                  <a:schemeClr val="tx1"/>
                </a:solidFill>
                <a:effectLst/>
                <a:uLnTx/>
                <a:uFillTx/>
                <a:latin typeface="+mn-lt"/>
                <a:ea typeface="+mn-ea"/>
              </a:rPr>
              <a:t>由于</a:t>
            </a:r>
            <a:r>
              <a:rPr kumimoji="0" lang="en-US" altLang="zh-CN" b="0" i="0" u="none" strike="noStrike" kern="0" cap="none" spc="0" normalizeH="0" baseline="0" noProof="0" dirty="0" smtClean="0">
                <a:ln>
                  <a:noFill/>
                </a:ln>
                <a:solidFill>
                  <a:schemeClr val="tx1"/>
                </a:solidFill>
                <a:effectLst/>
                <a:uLnTx/>
                <a:uFillTx/>
                <a:latin typeface="+mn-lt"/>
                <a:ea typeface="+mn-ea"/>
              </a:rPr>
              <a:t>0</a:t>
            </a:r>
            <a:r>
              <a:rPr kumimoji="0" lang="zh-CN" altLang="en-US" b="0" i="0" u="none" strike="noStrike" kern="0" cap="none" spc="0" normalizeH="0" baseline="0" noProof="0" dirty="0" smtClean="0">
                <a:ln>
                  <a:noFill/>
                </a:ln>
                <a:solidFill>
                  <a:schemeClr val="tx1"/>
                </a:solidFill>
                <a:effectLst/>
                <a:uLnTx/>
                <a:uFillTx/>
                <a:latin typeface="+mn-lt"/>
                <a:ea typeface="+mn-ea"/>
              </a:rPr>
              <a:t>乘以多少都是</a:t>
            </a:r>
            <a:r>
              <a:rPr kumimoji="0" lang="en-US" altLang="zh-CN" b="0" i="0" u="none" strike="noStrike" kern="0" cap="none" spc="0" normalizeH="0" baseline="0" noProof="0" dirty="0" smtClean="0">
                <a:ln>
                  <a:noFill/>
                </a:ln>
                <a:solidFill>
                  <a:schemeClr val="tx1"/>
                </a:solidFill>
                <a:effectLst/>
                <a:uLnTx/>
                <a:uFillTx/>
                <a:latin typeface="+mn-lt"/>
                <a:ea typeface="+mn-ea"/>
              </a:rPr>
              <a:t>0</a:t>
            </a:r>
            <a:r>
              <a:rPr kumimoji="0" lang="zh-CN" altLang="en-US" b="0" i="0" u="none" strike="noStrike" kern="0" cap="none" spc="0" normalizeH="0" baseline="0" noProof="0" dirty="0" smtClean="0">
                <a:ln>
                  <a:noFill/>
                </a:ln>
                <a:solidFill>
                  <a:schemeClr val="tx1"/>
                </a:solidFill>
                <a:effectLst/>
                <a:uLnTx/>
                <a:uFillTx/>
                <a:latin typeface="+mn-lt"/>
                <a:ea typeface="+mn-ea"/>
              </a:rPr>
              <a:t>，所以上述表达式也可以简写为：</a:t>
            </a: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a:ln>
                <a:noFill/>
              </a:ln>
              <a:solidFill>
                <a:schemeClr val="tx1"/>
              </a:solidFill>
              <a:effectLst/>
              <a:uLnTx/>
              <a:uFillTx/>
              <a:latin typeface="+mn-lt"/>
              <a:ea typeface="+mn-ea"/>
            </a:endParaRPr>
          </a:p>
        </p:txBody>
      </p:sp>
      <p:sp>
        <p:nvSpPr>
          <p:cNvPr id="4" name="标题 1"/>
          <p:cNvSpPr txBox="1"/>
          <p:nvPr/>
        </p:nvSpPr>
        <p:spPr>
          <a:xfrm>
            <a:off x="1754981" y="3045619"/>
            <a:ext cx="5824538" cy="550069"/>
          </a:xfrm>
          <a:prstGeom prst="rect">
            <a:avLst/>
          </a:prstGeom>
          <a:solidFill>
            <a:srgbClr val="66CCFF"/>
          </a:solidFill>
        </p:spPr>
        <p:txBody>
          <a:bodyPr/>
          <a:lstStyle>
            <a:lvl1pPr algn="l" rtl="0" eaLnBrk="0" fontAlgn="base" hangingPunct="0">
              <a:spcBef>
                <a:spcPct val="0"/>
              </a:spcBef>
              <a:spcAft>
                <a:spcPct val="0"/>
              </a:spcAft>
              <a:defRPr sz="3600" b="1" spc="300">
                <a:solidFill>
                  <a:srgbClr val="FFFF00"/>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5pPr>
            <a:lvl6pPr marL="457200" algn="ctr" rtl="0" fontAlgn="base">
              <a:spcBef>
                <a:spcPct val="0"/>
              </a:spcBef>
              <a:spcAft>
                <a:spcPct val="0"/>
              </a:spcAft>
              <a:defRPr sz="4400">
                <a:solidFill>
                  <a:schemeClr val="tx2"/>
                </a:solidFill>
                <a:latin typeface="Arial" panose="020B0604020202090204" pitchFamily="34" charset="0"/>
                <a:ea typeface="宋体" pitchFamily="2" charset="-122"/>
              </a:defRPr>
            </a:lvl6pPr>
            <a:lvl7pPr marL="914400" algn="ctr" rtl="0" fontAlgn="base">
              <a:spcBef>
                <a:spcPct val="0"/>
              </a:spcBef>
              <a:spcAft>
                <a:spcPct val="0"/>
              </a:spcAft>
              <a:defRPr sz="4400">
                <a:solidFill>
                  <a:schemeClr val="tx2"/>
                </a:solidFill>
                <a:latin typeface="Arial" panose="020B0604020202090204" pitchFamily="34" charset="0"/>
                <a:ea typeface="宋体" pitchFamily="2" charset="-122"/>
              </a:defRPr>
            </a:lvl7pPr>
            <a:lvl8pPr marL="1371600" algn="ctr" rtl="0" fontAlgn="base">
              <a:spcBef>
                <a:spcPct val="0"/>
              </a:spcBef>
              <a:spcAft>
                <a:spcPct val="0"/>
              </a:spcAft>
              <a:defRPr sz="4400">
                <a:solidFill>
                  <a:schemeClr val="tx2"/>
                </a:solidFill>
                <a:latin typeface="Arial" panose="020B0604020202090204" pitchFamily="34" charset="0"/>
                <a:ea typeface="宋体" pitchFamily="2" charset="-122"/>
              </a:defRPr>
            </a:lvl8pPr>
            <a:lvl9pPr marL="1828800" algn="ctr" rtl="0" fontAlgn="base">
              <a:spcBef>
                <a:spcPct val="0"/>
              </a:spcBef>
              <a:spcAft>
                <a:spcPct val="0"/>
              </a:spcAft>
              <a:defRPr sz="4400">
                <a:solidFill>
                  <a:schemeClr val="tx2"/>
                </a:solidFill>
                <a:latin typeface="Arial" panose="020B060402020209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500" b="1" i="0" u="none" strike="noStrike" kern="1200" cap="none" spc="300" normalizeH="0" baseline="0" noProof="0" dirty="0" smtClean="0">
                <a:ln>
                  <a:noFill/>
                </a:ln>
                <a:solidFill>
                  <a:schemeClr val="tx1"/>
                </a:solidFill>
                <a:effectLst/>
                <a:uLnTx/>
                <a:uFillTx/>
                <a:latin typeface="+mj-lt"/>
                <a:ea typeface="微软雅黑" panose="020B0503020204020204" charset="-122"/>
                <a:cs typeface="+mj-cs"/>
              </a:rPr>
              <a:t>0 </a:t>
            </a:r>
            <a:r>
              <a:rPr kumimoji="0" lang="en-US" altLang="zh-CN" sz="1500" b="1" i="0" u="none" strike="noStrike" kern="1200" cap="none" spc="300" normalizeH="0" baseline="0" noProof="0" dirty="0">
                <a:ln>
                  <a:noFill/>
                </a:ln>
                <a:solidFill>
                  <a:schemeClr val="tx1"/>
                </a:solidFill>
                <a:effectLst/>
                <a:uLnTx/>
                <a:uFillTx/>
                <a:latin typeface="+mj-lt"/>
                <a:ea typeface="微软雅黑" panose="020B0503020204020204" charset="-122"/>
                <a:cs typeface="+mj-cs"/>
              </a:rPr>
              <a:t>* 2</a:t>
            </a:r>
            <a:r>
              <a:rPr kumimoji="0" lang="en-US" altLang="zh-CN" sz="1500" b="1" i="0" u="none" strike="noStrike" kern="1200" cap="none" spc="300" normalizeH="0" baseline="30000" noProof="0" dirty="0">
                <a:ln>
                  <a:noFill/>
                </a:ln>
                <a:solidFill>
                  <a:schemeClr val="tx1"/>
                </a:solidFill>
                <a:effectLst/>
                <a:uLnTx/>
                <a:uFillTx/>
                <a:latin typeface="+mj-lt"/>
                <a:ea typeface="微软雅黑" panose="020B0503020204020204" charset="-122"/>
                <a:cs typeface="+mj-cs"/>
              </a:rPr>
              <a:t>0</a:t>
            </a:r>
            <a:r>
              <a:rPr kumimoji="0" lang="en-US" altLang="zh-CN" sz="1500" b="1" i="0" u="none" strike="noStrike" kern="1200" cap="none" spc="300" normalizeH="0" baseline="0" noProof="0" dirty="0">
                <a:ln>
                  <a:noFill/>
                </a:ln>
                <a:solidFill>
                  <a:schemeClr val="tx1"/>
                </a:solidFill>
                <a:effectLst/>
                <a:uLnTx/>
                <a:uFillTx/>
                <a:latin typeface="+mj-lt"/>
                <a:ea typeface="微软雅黑" panose="020B0503020204020204" charset="-122"/>
                <a:cs typeface="+mj-cs"/>
              </a:rPr>
              <a:t> + 0 * 2</a:t>
            </a:r>
            <a:r>
              <a:rPr kumimoji="0" lang="en-US" altLang="zh-CN" sz="1500" b="1" i="0" u="none" strike="noStrike" kern="1200" cap="none" spc="300" normalizeH="0" baseline="30000" noProof="0" dirty="0">
                <a:ln>
                  <a:noFill/>
                </a:ln>
                <a:solidFill>
                  <a:schemeClr val="tx1"/>
                </a:solidFill>
                <a:effectLst/>
                <a:uLnTx/>
                <a:uFillTx/>
                <a:latin typeface="+mj-lt"/>
                <a:ea typeface="微软雅黑" panose="020B0503020204020204" charset="-122"/>
                <a:cs typeface="+mj-cs"/>
              </a:rPr>
              <a:t>1</a:t>
            </a:r>
            <a:r>
              <a:rPr kumimoji="0" lang="en-US" altLang="zh-CN" sz="1500" b="1" i="0" u="none" strike="noStrike" kern="1200" cap="none" spc="300" normalizeH="0" baseline="0" noProof="0" dirty="0">
                <a:ln>
                  <a:noFill/>
                </a:ln>
                <a:solidFill>
                  <a:schemeClr val="tx1"/>
                </a:solidFill>
                <a:effectLst/>
                <a:uLnTx/>
                <a:uFillTx/>
                <a:latin typeface="+mj-lt"/>
                <a:ea typeface="微软雅黑" panose="020B0503020204020204" charset="-122"/>
                <a:cs typeface="+mj-cs"/>
              </a:rPr>
              <a:t>  + 1 * 2</a:t>
            </a:r>
            <a:r>
              <a:rPr kumimoji="0" lang="en-US" altLang="zh-CN" sz="1500" b="1" i="0" u="none" strike="noStrike" kern="1200" cap="none" spc="300" normalizeH="0" baseline="30000" noProof="0" dirty="0">
                <a:ln>
                  <a:noFill/>
                </a:ln>
                <a:solidFill>
                  <a:schemeClr val="tx1"/>
                </a:solidFill>
                <a:effectLst/>
                <a:uLnTx/>
                <a:uFillTx/>
                <a:latin typeface="+mj-lt"/>
                <a:ea typeface="微软雅黑" panose="020B0503020204020204" charset="-122"/>
                <a:cs typeface="+mj-cs"/>
              </a:rPr>
              <a:t>2</a:t>
            </a:r>
            <a:r>
              <a:rPr kumimoji="0" lang="en-US" altLang="zh-CN" sz="1500" b="1" i="0" u="none" strike="noStrike" kern="1200" cap="none" spc="300" normalizeH="0" baseline="0" noProof="0" dirty="0">
                <a:ln>
                  <a:noFill/>
                </a:ln>
                <a:solidFill>
                  <a:schemeClr val="tx1"/>
                </a:solidFill>
                <a:effectLst/>
                <a:uLnTx/>
                <a:uFillTx/>
                <a:latin typeface="+mj-lt"/>
                <a:ea typeface="微软雅黑" panose="020B0503020204020204" charset="-122"/>
                <a:cs typeface="+mj-cs"/>
              </a:rPr>
              <a:t> + 0 * 2</a:t>
            </a:r>
            <a:r>
              <a:rPr kumimoji="0" lang="en-US" altLang="zh-CN" sz="1500" b="1" i="0" u="none" strike="noStrike" kern="1200" cap="none" spc="300" normalizeH="0" baseline="30000" noProof="0" dirty="0">
                <a:ln>
                  <a:noFill/>
                </a:ln>
                <a:solidFill>
                  <a:schemeClr val="tx1"/>
                </a:solidFill>
                <a:effectLst/>
                <a:uLnTx/>
                <a:uFillTx/>
                <a:latin typeface="+mj-lt"/>
                <a:ea typeface="微软雅黑" panose="020B0503020204020204" charset="-122"/>
                <a:cs typeface="+mj-cs"/>
              </a:rPr>
              <a:t>3</a:t>
            </a:r>
            <a:r>
              <a:rPr kumimoji="0" lang="en-US" altLang="zh-CN" sz="1500" b="1" i="0" u="none" strike="noStrike" kern="1200" cap="none" spc="300" normalizeH="0" baseline="0" noProof="0" dirty="0">
                <a:ln>
                  <a:noFill/>
                </a:ln>
                <a:solidFill>
                  <a:schemeClr val="tx1"/>
                </a:solidFill>
                <a:effectLst/>
                <a:uLnTx/>
                <a:uFillTx/>
                <a:latin typeface="+mj-lt"/>
                <a:ea typeface="微软雅黑" panose="020B0503020204020204" charset="-122"/>
                <a:cs typeface="+mj-cs"/>
              </a:rPr>
              <a:t> + 0 * 2</a:t>
            </a:r>
            <a:r>
              <a:rPr kumimoji="0" lang="en-US" altLang="zh-CN" sz="1500" b="1" i="0" u="none" strike="noStrike" kern="1200" cap="none" spc="300" normalizeH="0" baseline="30000" noProof="0" dirty="0">
                <a:ln>
                  <a:noFill/>
                </a:ln>
                <a:solidFill>
                  <a:schemeClr val="tx1"/>
                </a:solidFill>
                <a:effectLst/>
                <a:uLnTx/>
                <a:uFillTx/>
                <a:latin typeface="+mj-lt"/>
                <a:ea typeface="微软雅黑" panose="020B0503020204020204" charset="-122"/>
                <a:cs typeface="+mj-cs"/>
              </a:rPr>
              <a:t>4</a:t>
            </a:r>
            <a:r>
              <a:rPr kumimoji="0" lang="en-US" altLang="zh-CN" sz="1500" b="1" i="0" u="none" strike="noStrike" kern="1200" cap="none" spc="300" normalizeH="0" baseline="0" noProof="0" dirty="0">
                <a:ln>
                  <a:noFill/>
                </a:ln>
                <a:solidFill>
                  <a:schemeClr val="tx1"/>
                </a:solidFill>
                <a:effectLst/>
                <a:uLnTx/>
                <a:uFillTx/>
                <a:latin typeface="+mj-lt"/>
                <a:ea typeface="微软雅黑" panose="020B0503020204020204" charset="-122"/>
                <a:cs typeface="+mj-cs"/>
              </a:rPr>
              <a:t> + 1 * 2</a:t>
            </a:r>
            <a:r>
              <a:rPr kumimoji="0" lang="en-US" altLang="zh-CN" sz="1500" b="1" i="0" u="none" strike="noStrike" kern="1200" cap="none" spc="300" normalizeH="0" baseline="30000" noProof="0" dirty="0">
                <a:ln>
                  <a:noFill/>
                </a:ln>
                <a:solidFill>
                  <a:schemeClr val="tx1"/>
                </a:solidFill>
                <a:effectLst/>
                <a:uLnTx/>
                <a:uFillTx/>
                <a:latin typeface="+mj-lt"/>
                <a:ea typeface="微软雅黑" panose="020B0503020204020204" charset="-122"/>
                <a:cs typeface="+mj-cs"/>
              </a:rPr>
              <a:t>5</a:t>
            </a:r>
            <a:r>
              <a:rPr kumimoji="0" lang="en-US" altLang="zh-CN" sz="1500" b="1" i="0" u="none" strike="noStrike" kern="1200" cap="none" spc="300" normalizeH="0" baseline="0" noProof="0" dirty="0">
                <a:ln>
                  <a:noFill/>
                </a:ln>
                <a:solidFill>
                  <a:schemeClr val="tx1"/>
                </a:solidFill>
                <a:effectLst/>
                <a:uLnTx/>
                <a:uFillTx/>
                <a:latin typeface="+mj-lt"/>
                <a:ea typeface="微软雅黑" panose="020B0503020204020204" charset="-122"/>
                <a:cs typeface="+mj-cs"/>
              </a:rPr>
              <a:t> + 1 * 2</a:t>
            </a:r>
            <a:r>
              <a:rPr kumimoji="0" lang="en-US" altLang="zh-CN" sz="1500" b="1" i="0" u="none" strike="noStrike" kern="1200" cap="none" spc="300" normalizeH="0" baseline="30000" noProof="0" dirty="0">
                <a:ln>
                  <a:noFill/>
                </a:ln>
                <a:solidFill>
                  <a:schemeClr val="tx1"/>
                </a:solidFill>
                <a:effectLst/>
                <a:uLnTx/>
                <a:uFillTx/>
                <a:latin typeface="+mj-lt"/>
                <a:ea typeface="微软雅黑" panose="020B0503020204020204" charset="-122"/>
                <a:cs typeface="+mj-cs"/>
              </a:rPr>
              <a:t>6</a:t>
            </a:r>
            <a:r>
              <a:rPr kumimoji="0" lang="en-US" altLang="zh-CN" sz="1500" b="1" i="0" u="none" strike="noStrike" kern="1200" cap="none" spc="300" normalizeH="0" baseline="0" noProof="0" dirty="0">
                <a:ln>
                  <a:noFill/>
                </a:ln>
                <a:solidFill>
                  <a:schemeClr val="tx1"/>
                </a:solidFill>
                <a:effectLst/>
                <a:uLnTx/>
                <a:uFillTx/>
                <a:latin typeface="+mj-lt"/>
                <a:ea typeface="微软雅黑" panose="020B0503020204020204" charset="-122"/>
                <a:cs typeface="+mj-cs"/>
              </a:rPr>
              <a:t>+ 0 * 2</a:t>
            </a:r>
            <a:r>
              <a:rPr kumimoji="0" lang="en-US" altLang="zh-CN" sz="1500" b="1" i="0" u="none" strike="noStrike" kern="1200" cap="none" spc="300" normalizeH="0" baseline="30000" noProof="0" dirty="0">
                <a:ln>
                  <a:noFill/>
                </a:ln>
                <a:solidFill>
                  <a:schemeClr val="tx1"/>
                </a:solidFill>
                <a:effectLst/>
                <a:uLnTx/>
                <a:uFillTx/>
                <a:latin typeface="+mj-lt"/>
                <a:ea typeface="微软雅黑" panose="020B0503020204020204" charset="-122"/>
                <a:cs typeface="+mj-cs"/>
              </a:rPr>
              <a:t>7 </a:t>
            </a:r>
            <a:r>
              <a:rPr kumimoji="0" lang="en-US" altLang="zh-CN" sz="1500" b="1" i="0" u="none" strike="noStrike" kern="1200" cap="none" spc="300" normalizeH="0" baseline="0" noProof="0" dirty="0">
                <a:ln>
                  <a:noFill/>
                </a:ln>
                <a:solidFill>
                  <a:schemeClr val="tx1"/>
                </a:solidFill>
                <a:effectLst/>
                <a:uLnTx/>
                <a:uFillTx/>
                <a:latin typeface="+mj-lt"/>
                <a:ea typeface="微软雅黑" panose="020B0503020204020204" charset="-122"/>
                <a:cs typeface="+mj-cs"/>
              </a:rPr>
              <a:t>= 100</a:t>
            </a:r>
            <a:endParaRPr kumimoji="0" lang="zh-CN" altLang="en-US" sz="1500" b="1" i="0" u="none" strike="noStrike" kern="1200" cap="none" spc="300" normalizeH="0" baseline="0" noProof="0" dirty="0">
              <a:ln>
                <a:noFill/>
              </a:ln>
              <a:solidFill>
                <a:schemeClr val="tx1"/>
              </a:solidFill>
              <a:effectLst/>
              <a:uLnTx/>
              <a:uFillTx/>
              <a:latin typeface="+mj-lt"/>
              <a:ea typeface="微软雅黑" panose="020B0503020204020204" charset="-122"/>
              <a:cs typeface="+mj-cs"/>
            </a:endParaRPr>
          </a:p>
        </p:txBody>
      </p:sp>
      <p:sp>
        <p:nvSpPr>
          <p:cNvPr id="5" name="标题 1"/>
          <p:cNvSpPr txBox="1"/>
          <p:nvPr/>
        </p:nvSpPr>
        <p:spPr>
          <a:xfrm>
            <a:off x="1754981" y="4196954"/>
            <a:ext cx="5824538" cy="371475"/>
          </a:xfrm>
          <a:prstGeom prst="rect">
            <a:avLst/>
          </a:prstGeom>
          <a:solidFill>
            <a:srgbClr val="66CCFF"/>
          </a:solidFill>
        </p:spPr>
        <p:txBody>
          <a:bodyPr/>
          <a:lstStyle>
            <a:lvl1pPr algn="l" rtl="0" eaLnBrk="0" fontAlgn="base" hangingPunct="0">
              <a:spcBef>
                <a:spcPct val="0"/>
              </a:spcBef>
              <a:spcAft>
                <a:spcPct val="0"/>
              </a:spcAft>
              <a:defRPr sz="3600" b="1" spc="300">
                <a:solidFill>
                  <a:srgbClr val="FFFF00"/>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5pPr>
            <a:lvl6pPr marL="457200" algn="ctr" rtl="0" fontAlgn="base">
              <a:spcBef>
                <a:spcPct val="0"/>
              </a:spcBef>
              <a:spcAft>
                <a:spcPct val="0"/>
              </a:spcAft>
              <a:defRPr sz="4400">
                <a:solidFill>
                  <a:schemeClr val="tx2"/>
                </a:solidFill>
                <a:latin typeface="Arial" panose="020B0604020202090204" pitchFamily="34" charset="0"/>
                <a:ea typeface="宋体" pitchFamily="2" charset="-122"/>
              </a:defRPr>
            </a:lvl6pPr>
            <a:lvl7pPr marL="914400" algn="ctr" rtl="0" fontAlgn="base">
              <a:spcBef>
                <a:spcPct val="0"/>
              </a:spcBef>
              <a:spcAft>
                <a:spcPct val="0"/>
              </a:spcAft>
              <a:defRPr sz="4400">
                <a:solidFill>
                  <a:schemeClr val="tx2"/>
                </a:solidFill>
                <a:latin typeface="Arial" panose="020B0604020202090204" pitchFamily="34" charset="0"/>
                <a:ea typeface="宋体" pitchFamily="2" charset="-122"/>
              </a:defRPr>
            </a:lvl7pPr>
            <a:lvl8pPr marL="1371600" algn="ctr" rtl="0" fontAlgn="base">
              <a:spcBef>
                <a:spcPct val="0"/>
              </a:spcBef>
              <a:spcAft>
                <a:spcPct val="0"/>
              </a:spcAft>
              <a:defRPr sz="4400">
                <a:solidFill>
                  <a:schemeClr val="tx2"/>
                </a:solidFill>
                <a:latin typeface="Arial" panose="020B0604020202090204" pitchFamily="34" charset="0"/>
                <a:ea typeface="宋体" pitchFamily="2" charset="-122"/>
              </a:defRPr>
            </a:lvl8pPr>
            <a:lvl9pPr marL="1828800" algn="ctr" rtl="0" fontAlgn="base">
              <a:spcBef>
                <a:spcPct val="0"/>
              </a:spcBef>
              <a:spcAft>
                <a:spcPct val="0"/>
              </a:spcAft>
              <a:defRPr sz="4400">
                <a:solidFill>
                  <a:schemeClr val="tx2"/>
                </a:solidFill>
                <a:latin typeface="Arial" panose="020B0604020202090204" pitchFamily="34" charset="0"/>
                <a:ea typeface="宋体" pitchFamily="2" charset="-122"/>
              </a:defRPr>
            </a:lvl9pPr>
          </a:lstStyle>
          <a:p>
            <a:pPr marL="0" marR="0" lvl="0" indent="0" algn="l" defTabSz="914400" rtl="0" eaLnBrk="0" fontAlgn="base" latinLnBrk="0" hangingPunct="0">
              <a:lnSpc>
                <a:spcPct val="100000"/>
              </a:lnSpc>
              <a:spcBef>
                <a:spcPts val="0"/>
              </a:spcBef>
              <a:spcAft>
                <a:spcPct val="0"/>
              </a:spcAft>
              <a:buClrTx/>
              <a:buSzTx/>
              <a:buFontTx/>
              <a:buNone/>
              <a:defRPr/>
            </a:pPr>
            <a:r>
              <a:rPr kumimoji="0" lang="en-US" altLang="zh-CN" sz="1500" b="1" i="0" u="none" strike="noStrike" kern="1200" cap="none" spc="300" normalizeH="0" baseline="0" noProof="0" dirty="0" smtClean="0">
                <a:ln>
                  <a:noFill/>
                </a:ln>
                <a:solidFill>
                  <a:schemeClr val="tx1"/>
                </a:solidFill>
                <a:effectLst/>
                <a:uLnTx/>
                <a:uFillTx/>
                <a:latin typeface="+mj-lt"/>
                <a:ea typeface="微软雅黑" panose="020B0503020204020204" charset="-122"/>
                <a:cs typeface="+mj-cs"/>
              </a:rPr>
              <a:t>1 </a:t>
            </a:r>
            <a:r>
              <a:rPr kumimoji="0" lang="en-US" altLang="zh-CN" sz="1500" b="1" i="0" u="none" strike="noStrike" kern="1200" cap="none" spc="300" normalizeH="0" baseline="0" noProof="0" dirty="0">
                <a:ln>
                  <a:noFill/>
                </a:ln>
                <a:solidFill>
                  <a:schemeClr val="tx1"/>
                </a:solidFill>
                <a:effectLst/>
                <a:uLnTx/>
                <a:uFillTx/>
                <a:latin typeface="+mj-lt"/>
                <a:ea typeface="微软雅黑" panose="020B0503020204020204" charset="-122"/>
                <a:cs typeface="+mj-cs"/>
              </a:rPr>
              <a:t>* 2</a:t>
            </a:r>
            <a:r>
              <a:rPr kumimoji="0" lang="en-US" altLang="zh-CN" sz="1500" b="1" i="0" u="none" strike="noStrike" kern="1200" cap="none" spc="300" normalizeH="0" baseline="30000" noProof="0" dirty="0">
                <a:ln>
                  <a:noFill/>
                </a:ln>
                <a:solidFill>
                  <a:schemeClr val="tx1"/>
                </a:solidFill>
                <a:effectLst/>
                <a:uLnTx/>
                <a:uFillTx/>
                <a:latin typeface="+mj-lt"/>
                <a:ea typeface="微软雅黑" panose="020B0503020204020204" charset="-122"/>
                <a:cs typeface="+mj-cs"/>
              </a:rPr>
              <a:t>2</a:t>
            </a:r>
            <a:r>
              <a:rPr kumimoji="0" lang="en-US" altLang="zh-CN" sz="1500" b="1" i="0" u="none" strike="noStrike" kern="1200" cap="none" spc="300" normalizeH="0" baseline="0" noProof="0" dirty="0">
                <a:ln>
                  <a:noFill/>
                </a:ln>
                <a:solidFill>
                  <a:schemeClr val="tx1"/>
                </a:solidFill>
                <a:effectLst/>
                <a:uLnTx/>
                <a:uFillTx/>
                <a:latin typeface="+mj-lt"/>
                <a:ea typeface="微软雅黑" panose="020B0503020204020204" charset="-122"/>
                <a:cs typeface="+mj-cs"/>
              </a:rPr>
              <a:t> </a:t>
            </a:r>
            <a:r>
              <a:rPr kumimoji="0" lang="en-US" altLang="zh-CN" sz="1500" b="1" i="0" u="none" strike="noStrike" kern="1200" cap="none" spc="300" normalizeH="0" baseline="0" noProof="0" dirty="0" smtClean="0">
                <a:ln>
                  <a:noFill/>
                </a:ln>
                <a:solidFill>
                  <a:schemeClr val="tx1"/>
                </a:solidFill>
                <a:effectLst/>
                <a:uLnTx/>
                <a:uFillTx/>
                <a:latin typeface="+mj-lt"/>
                <a:ea typeface="微软雅黑" panose="020B0503020204020204" charset="-122"/>
                <a:cs typeface="+mj-cs"/>
              </a:rPr>
              <a:t>+ </a:t>
            </a:r>
            <a:r>
              <a:rPr kumimoji="0" lang="en-US" altLang="zh-CN" sz="1500" b="1" i="0" u="none" strike="noStrike" kern="1200" cap="none" spc="300" normalizeH="0" baseline="0" noProof="0" dirty="0">
                <a:ln>
                  <a:noFill/>
                </a:ln>
                <a:solidFill>
                  <a:schemeClr val="tx1"/>
                </a:solidFill>
                <a:effectLst/>
                <a:uLnTx/>
                <a:uFillTx/>
                <a:latin typeface="+mj-lt"/>
                <a:ea typeface="微软雅黑" panose="020B0503020204020204" charset="-122"/>
                <a:cs typeface="+mj-cs"/>
              </a:rPr>
              <a:t>1 * 2</a:t>
            </a:r>
            <a:r>
              <a:rPr kumimoji="0" lang="en-US" altLang="zh-CN" sz="1500" b="1" i="0" u="none" strike="noStrike" kern="1200" cap="none" spc="300" normalizeH="0" baseline="30000" noProof="0" dirty="0">
                <a:ln>
                  <a:noFill/>
                </a:ln>
                <a:solidFill>
                  <a:schemeClr val="tx1"/>
                </a:solidFill>
                <a:effectLst/>
                <a:uLnTx/>
                <a:uFillTx/>
                <a:latin typeface="+mj-lt"/>
                <a:ea typeface="微软雅黑" panose="020B0503020204020204" charset="-122"/>
                <a:cs typeface="+mj-cs"/>
              </a:rPr>
              <a:t>5</a:t>
            </a:r>
            <a:r>
              <a:rPr kumimoji="0" lang="en-US" altLang="zh-CN" sz="1500" b="1" i="0" u="none" strike="noStrike" kern="1200" cap="none" spc="300" normalizeH="0" baseline="0" noProof="0" dirty="0">
                <a:ln>
                  <a:noFill/>
                </a:ln>
                <a:solidFill>
                  <a:schemeClr val="tx1"/>
                </a:solidFill>
                <a:effectLst/>
                <a:uLnTx/>
                <a:uFillTx/>
                <a:latin typeface="+mj-lt"/>
                <a:ea typeface="微软雅黑" panose="020B0503020204020204" charset="-122"/>
                <a:cs typeface="+mj-cs"/>
              </a:rPr>
              <a:t> + 1 * </a:t>
            </a:r>
            <a:r>
              <a:rPr kumimoji="0" lang="en-US" altLang="zh-CN" sz="1500" b="1" i="0" u="none" strike="noStrike" kern="1200" cap="none" spc="300" normalizeH="0" baseline="0" noProof="0" dirty="0" smtClean="0">
                <a:ln>
                  <a:noFill/>
                </a:ln>
                <a:solidFill>
                  <a:schemeClr val="tx1"/>
                </a:solidFill>
                <a:effectLst/>
                <a:uLnTx/>
                <a:uFillTx/>
                <a:latin typeface="+mj-lt"/>
                <a:ea typeface="微软雅黑" panose="020B0503020204020204" charset="-122"/>
                <a:cs typeface="+mj-cs"/>
              </a:rPr>
              <a:t>2</a:t>
            </a:r>
            <a:r>
              <a:rPr kumimoji="0" lang="en-US" altLang="zh-CN" sz="1500" b="1" i="0" u="none" strike="noStrike" kern="1200" cap="none" spc="300" normalizeH="0" baseline="30000" noProof="0" dirty="0" smtClean="0">
                <a:ln>
                  <a:noFill/>
                </a:ln>
                <a:solidFill>
                  <a:schemeClr val="tx1"/>
                </a:solidFill>
                <a:effectLst/>
                <a:uLnTx/>
                <a:uFillTx/>
                <a:latin typeface="+mj-lt"/>
                <a:ea typeface="微软雅黑" panose="020B0503020204020204" charset="-122"/>
                <a:cs typeface="+mj-cs"/>
              </a:rPr>
              <a:t>6</a:t>
            </a:r>
            <a:r>
              <a:rPr kumimoji="0" lang="en-US" altLang="zh-CN" sz="1500" b="1" i="0" u="none" strike="noStrike" kern="1200" cap="none" spc="300" normalizeH="0" baseline="0" noProof="0" dirty="0" smtClean="0">
                <a:ln>
                  <a:noFill/>
                </a:ln>
                <a:solidFill>
                  <a:schemeClr val="tx1"/>
                </a:solidFill>
                <a:effectLst/>
                <a:uLnTx/>
                <a:uFillTx/>
                <a:latin typeface="+mj-lt"/>
                <a:ea typeface="微软雅黑" panose="020B0503020204020204" charset="-122"/>
                <a:cs typeface="+mj-cs"/>
              </a:rPr>
              <a:t>= </a:t>
            </a:r>
            <a:r>
              <a:rPr kumimoji="0" lang="en-US" altLang="zh-CN" sz="1500" b="1" i="0" u="none" strike="noStrike" kern="1200" cap="none" spc="300" normalizeH="0" baseline="0" noProof="0" dirty="0">
                <a:ln>
                  <a:noFill/>
                </a:ln>
                <a:solidFill>
                  <a:schemeClr val="tx1"/>
                </a:solidFill>
                <a:effectLst/>
                <a:uLnTx/>
                <a:uFillTx/>
                <a:latin typeface="+mj-lt"/>
                <a:ea typeface="微软雅黑" panose="020B0503020204020204" charset="-122"/>
                <a:cs typeface="+mj-cs"/>
              </a:rPr>
              <a:t>100</a:t>
            </a:r>
            <a:endParaRPr kumimoji="0" lang="zh-CN" altLang="en-US" sz="1500" b="1" i="0" u="none" strike="noStrike" kern="1200" cap="none" spc="300" normalizeH="0" baseline="0" noProof="0" dirty="0">
              <a:ln>
                <a:noFill/>
              </a:ln>
              <a:solidFill>
                <a:schemeClr val="tx1"/>
              </a:solidFill>
              <a:effectLst/>
              <a:uLnTx/>
              <a:uFillTx/>
              <a:latin typeface="+mj-lt"/>
              <a:ea typeface="微软雅黑" panose="020B0503020204020204" charset="-122"/>
              <a:cs typeface="+mj-cs"/>
            </a:endParaRPr>
          </a:p>
        </p:txBody>
      </p:sp>
      <p:sp>
        <p:nvSpPr>
          <p:cNvPr id="11" name="标题 1"/>
          <p:cNvSpPr>
            <a:spLocks noGrp="1"/>
          </p:cNvSpPr>
          <p:nvPr>
            <p:custDataLst>
              <p:tags r:id="rId1"/>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a:ln>
                  <a:noFill/>
                </a:ln>
                <a:solidFill>
                  <a:srgbClr val="782367"/>
                </a:solidFill>
                <a:effectLst/>
                <a:uLnTx/>
                <a:uFillTx/>
                <a:latin typeface="微软雅黑" panose="020B0503020204020204" charset="-122"/>
                <a:ea typeface="微软雅黑" panose="020B0503020204020204" charset="-122"/>
                <a:cs typeface="+mj-cs"/>
              </a:rPr>
              <a:t>2</a:t>
            </a: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.1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进制</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2" name="灯片编号占位符 1"/>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1" name="内容占位符 2"/>
          <p:cNvSpPr>
            <a:spLocks noGrp="1"/>
          </p:cNvSpPr>
          <p:nvPr>
            <p:ph idx="1"/>
          </p:nvPr>
        </p:nvSpPr>
        <p:spPr bwMode="auto">
          <a:xfrm>
            <a:off x="1143000" y="748030"/>
            <a:ext cx="6858000" cy="420433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914400" marR="0" lvl="1" indent="-457200" algn="l" defTabSz="914400" rtl="0" eaLnBrk="0" fontAlgn="base" latinLnBrk="0" hangingPunct="0">
              <a:lnSpc>
                <a:spcPct val="150000"/>
              </a:lnSpc>
              <a:spcBef>
                <a:spcPct val="20000"/>
              </a:spcBef>
              <a:spcAft>
                <a:spcPct val="0"/>
              </a:spcAft>
              <a:buClrTx/>
              <a:buSzTx/>
              <a:buFontTx/>
              <a:buAutoNum type="arabicPeriod" startAt="3"/>
              <a:defRPr/>
            </a:pPr>
            <a:r>
              <a:rPr kumimoji="0" lang="zh-CN" altLang="en-US" b="0" i="0" u="none" strike="noStrike" kern="0" cap="none" spc="0" normalizeH="0" baseline="0" noProof="0" dirty="0" smtClean="0">
                <a:ln>
                  <a:noFill/>
                </a:ln>
                <a:solidFill>
                  <a:schemeClr val="tx1"/>
                </a:solidFill>
                <a:effectLst/>
                <a:uLnTx/>
                <a:uFillTx/>
                <a:latin typeface="+mn-lt"/>
                <a:ea typeface="+mn-ea"/>
              </a:rPr>
              <a:t>八进制与二进制之间的转换</a:t>
            </a: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rPr>
              <a:t>        </a:t>
            </a:r>
            <a:r>
              <a:rPr kumimoji="0" lang="zh-CN" altLang="zh-CN" b="0" i="0" u="none" strike="noStrike" kern="0" cap="none" spc="0" normalizeH="0" baseline="0" noProof="0" dirty="0" smtClean="0">
                <a:ln>
                  <a:noFill/>
                </a:ln>
                <a:solidFill>
                  <a:schemeClr val="tx1"/>
                </a:solidFill>
                <a:effectLst/>
                <a:uLnTx/>
                <a:uFillTx/>
                <a:latin typeface="+mn-lt"/>
                <a:ea typeface="+mn-ea"/>
              </a:rPr>
              <a:t>八进制</a:t>
            </a:r>
            <a:r>
              <a:rPr kumimoji="0" lang="zh-CN" altLang="zh-CN" b="0" i="0" u="none" strike="noStrike" kern="0" cap="none" spc="0" normalizeH="0" baseline="0" noProof="0" dirty="0">
                <a:ln>
                  <a:noFill/>
                </a:ln>
                <a:solidFill>
                  <a:schemeClr val="tx1"/>
                </a:solidFill>
                <a:effectLst/>
                <a:uLnTx/>
                <a:uFillTx/>
                <a:latin typeface="+mn-lt"/>
                <a:ea typeface="+mn-ea"/>
              </a:rPr>
              <a:t>与二进制之间的转换比较常见的操作就是将一个二进制数转为八进制。在转换的过程中有一个技巧，就是将二进制数自右向左每三位分成一段（若不足三位，用</a:t>
            </a:r>
            <a:r>
              <a:rPr kumimoji="0" lang="en-US" altLang="zh-CN" b="0" i="0" u="none" strike="noStrike" kern="0" cap="none" spc="0" normalizeH="0" baseline="0" noProof="0" dirty="0">
                <a:ln>
                  <a:noFill/>
                </a:ln>
                <a:solidFill>
                  <a:schemeClr val="tx1"/>
                </a:solidFill>
                <a:effectLst/>
                <a:uLnTx/>
                <a:uFillTx/>
                <a:latin typeface="+mn-lt"/>
                <a:ea typeface="+mn-ea"/>
              </a:rPr>
              <a:t>0</a:t>
            </a:r>
            <a:r>
              <a:rPr kumimoji="0" lang="zh-CN" altLang="zh-CN" b="0" i="0" u="none" strike="noStrike" kern="0" cap="none" spc="0" normalizeH="0" baseline="0" noProof="0" dirty="0">
                <a:ln>
                  <a:noFill/>
                </a:ln>
                <a:solidFill>
                  <a:schemeClr val="tx1"/>
                </a:solidFill>
                <a:effectLst/>
                <a:uLnTx/>
                <a:uFillTx/>
                <a:latin typeface="+mn-lt"/>
                <a:ea typeface="+mn-ea"/>
              </a:rPr>
              <a:t>补齐），然后将二进制每段的三位转为八进制的一位，转换过程中数值的对应关系如表</a:t>
            </a:r>
            <a:r>
              <a:rPr kumimoji="0" lang="en-US" altLang="zh-CN" b="0" i="0" u="none" strike="noStrike" kern="0" cap="none" spc="0" normalizeH="0" baseline="0" noProof="0" dirty="0" smtClean="0">
                <a:ln>
                  <a:noFill/>
                </a:ln>
                <a:solidFill>
                  <a:schemeClr val="tx1"/>
                </a:solidFill>
                <a:effectLst/>
                <a:uLnTx/>
                <a:uFillTx/>
                <a:latin typeface="+mn-lt"/>
                <a:ea typeface="+mn-ea"/>
              </a:rPr>
              <a:t>2-4</a:t>
            </a:r>
            <a:r>
              <a:rPr kumimoji="0" lang="zh-CN" altLang="en-US" b="0" i="0" u="none" strike="noStrike" kern="0" cap="none" spc="0" normalizeH="0" baseline="0" noProof="0" dirty="0" smtClean="0">
                <a:ln>
                  <a:noFill/>
                </a:ln>
                <a:solidFill>
                  <a:schemeClr val="tx1"/>
                </a:solidFill>
                <a:effectLst/>
                <a:uLnTx/>
                <a:uFillTx/>
                <a:latin typeface="+mn-lt"/>
                <a:ea typeface="+mn-ea"/>
              </a:rPr>
              <a:t>：</a:t>
            </a:r>
            <a:r>
              <a:rPr kumimoji="0" lang="en-US" altLang="zh-CN" b="0" i="0" u="none" strike="noStrike" kern="0" cap="none" spc="0" normalizeH="0" baseline="0" noProof="0" dirty="0" smtClean="0">
                <a:ln>
                  <a:noFill/>
                </a:ln>
                <a:solidFill>
                  <a:schemeClr val="tx1"/>
                </a:solidFill>
                <a:effectLst/>
                <a:uLnTx/>
                <a:uFillTx/>
                <a:latin typeface="+mn-lt"/>
                <a:ea typeface="+mn-ea"/>
              </a:rPr>
              <a:t>            </a:t>
            </a:r>
            <a:endParaRPr kumimoji="0" lang="en-US" altLang="zh-CN" sz="1050" b="0"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rPr>
              <a:t>        </a:t>
            </a: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a:ln>
                <a:noFill/>
              </a:ln>
              <a:solidFill>
                <a:schemeClr val="tx1"/>
              </a:solidFill>
              <a:effectLst/>
              <a:uLnTx/>
              <a:uFillTx/>
              <a:latin typeface="+mn-lt"/>
              <a:ea typeface="+mn-ea"/>
            </a:endParaRPr>
          </a:p>
        </p:txBody>
      </p:sp>
      <p:graphicFrame>
        <p:nvGraphicFramePr>
          <p:cNvPr id="3" name="表格 2"/>
          <p:cNvGraphicFramePr>
            <a:graphicFrameLocks noGrp="1"/>
          </p:cNvGraphicFramePr>
          <p:nvPr>
            <p:custDataLst>
              <p:tags r:id="rId1"/>
            </p:custDataLst>
          </p:nvPr>
        </p:nvGraphicFramePr>
        <p:xfrm>
          <a:off x="3347482" y="2683986"/>
          <a:ext cx="2448000" cy="2268000"/>
        </p:xfrm>
        <a:graphic>
          <a:graphicData uri="http://schemas.openxmlformats.org/drawingml/2006/table">
            <a:tbl>
              <a:tblPr firstRow="1" firstCol="1" bandRow="1"/>
              <a:tblGrid>
                <a:gridCol w="1224000"/>
                <a:gridCol w="1224000"/>
              </a:tblGrid>
              <a:tr h="252000">
                <a:tc>
                  <a:txBody>
                    <a:bodyPr/>
                    <a:lstStyle/>
                    <a:p>
                      <a:pPr algn="ctr">
                        <a:spcAft>
                          <a:spcPts val="0"/>
                        </a:spcAft>
                      </a:pPr>
                      <a:r>
                        <a:rPr lang="zh-CN" sz="1100" kern="0" dirty="0">
                          <a:solidFill>
                            <a:srgbClr val="584E61"/>
                          </a:solidFill>
                          <a:effectLst/>
                        </a:rPr>
                        <a:t>二进制</a:t>
                      </a:r>
                      <a:endParaRPr lang="zh-CN" sz="1100" kern="0" dirty="0">
                        <a:solidFill>
                          <a:srgbClr val="584E61"/>
                        </a:solidFill>
                        <a:effectLst/>
                        <a:latin typeface="Times New Roman" panose="02020503050405090304"/>
                        <a:ea typeface="宋体" pitchFamily="2" charset="-122"/>
                      </a:endParaRPr>
                    </a:p>
                  </a:txBody>
                  <a:tcPr marL="51441" marR="51441" marT="0" marB="0" anchor="ctr">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algn="ctr">
                        <a:spcAft>
                          <a:spcPts val="0"/>
                        </a:spcAft>
                      </a:pPr>
                      <a:r>
                        <a:rPr lang="zh-CN" sz="1100" kern="0">
                          <a:solidFill>
                            <a:srgbClr val="584E61"/>
                          </a:solidFill>
                          <a:effectLst/>
                        </a:rPr>
                        <a:t>八进制</a:t>
                      </a:r>
                      <a:endParaRPr lang="zh-CN" sz="1100" kern="0">
                        <a:solidFill>
                          <a:srgbClr val="584E61"/>
                        </a:solidFill>
                        <a:effectLst/>
                        <a:latin typeface="Times New Roman" panose="02020503050405090304"/>
                        <a:ea typeface="宋体" pitchFamily="2" charset="-122"/>
                      </a:endParaRPr>
                    </a:p>
                  </a:txBody>
                  <a:tcPr marL="51441" marR="51441" marT="0" marB="0" anchor="ctr">
                    <a:lnL>
                      <a:noFill/>
                    </a:lnL>
                    <a:lnR>
                      <a:noFill/>
                    </a:lnR>
                    <a:lnT w="19050">
                      <a:solidFill>
                        <a:srgbClr val="584E61"/>
                      </a:solidFill>
                      <a:prstDash val="solid"/>
                    </a:lnT>
                    <a:lnB w="19050">
                      <a:solidFill>
                        <a:srgbClr val="584E61"/>
                      </a:solidFill>
                      <a:prstDash val="solid"/>
                    </a:lnB>
                    <a:solidFill>
                      <a:srgbClr val="FFFFFF"/>
                    </a:solidFill>
                  </a:tcPr>
                </a:tc>
              </a:tr>
              <a:tr h="252000">
                <a:tc>
                  <a:txBody>
                    <a:bodyPr/>
                    <a:lstStyle/>
                    <a:p>
                      <a:pPr algn="ctr">
                        <a:spcAft>
                          <a:spcPts val="0"/>
                        </a:spcAft>
                      </a:pPr>
                      <a:r>
                        <a:rPr lang="en-US" sz="1100" kern="0" dirty="0">
                          <a:solidFill>
                            <a:srgbClr val="584E61"/>
                          </a:solidFill>
                          <a:effectLst/>
                        </a:rPr>
                        <a:t>000</a:t>
                      </a:r>
                      <a:endParaRPr lang="en-US" sz="1100" kern="0" dirty="0">
                        <a:solidFill>
                          <a:srgbClr val="584E61"/>
                        </a:solidFill>
                        <a:effectLst/>
                        <a:latin typeface="Times New Roman" panose="02020503050405090304"/>
                        <a:ea typeface="宋体" pitchFamily="2" charset="-122"/>
                      </a:endParaRPr>
                    </a:p>
                  </a:txBody>
                  <a:tcPr marL="51441" marR="51441" marT="0" marB="0" anchor="ctr">
                    <a:lnL>
                      <a:noFill/>
                    </a:lnL>
                    <a:lnR>
                      <a:noFill/>
                    </a:lnR>
                    <a:lnT w="19050">
                      <a:solidFill>
                        <a:srgbClr val="584E61"/>
                      </a:solidFill>
                      <a:prstDash val="solid"/>
                    </a:lnT>
                    <a:lnB>
                      <a:noFill/>
                    </a:lnB>
                    <a:solidFill>
                      <a:srgbClr val="FFFFFF"/>
                    </a:solidFill>
                  </a:tcPr>
                </a:tc>
                <a:tc>
                  <a:txBody>
                    <a:bodyPr/>
                    <a:lstStyle/>
                    <a:p>
                      <a:pPr algn="ctr">
                        <a:spcAft>
                          <a:spcPts val="0"/>
                        </a:spcAft>
                      </a:pPr>
                      <a:r>
                        <a:rPr lang="en-US" sz="1100" kern="0" dirty="0">
                          <a:solidFill>
                            <a:srgbClr val="584E61"/>
                          </a:solidFill>
                          <a:effectLst/>
                        </a:rPr>
                        <a:t>0</a:t>
                      </a:r>
                      <a:endParaRPr lang="en-US" sz="1100" kern="0" dirty="0">
                        <a:solidFill>
                          <a:srgbClr val="584E61"/>
                        </a:solidFill>
                        <a:effectLst/>
                        <a:latin typeface="Times New Roman" panose="02020503050405090304"/>
                        <a:ea typeface="宋体" pitchFamily="2" charset="-122"/>
                      </a:endParaRPr>
                    </a:p>
                  </a:txBody>
                  <a:tcPr marL="51441" marR="51441" marT="0" marB="0" anchor="ctr">
                    <a:lnL>
                      <a:noFill/>
                    </a:lnL>
                    <a:lnR>
                      <a:noFill/>
                    </a:lnR>
                    <a:lnT w="19050">
                      <a:solidFill>
                        <a:srgbClr val="584E61"/>
                      </a:solidFill>
                      <a:prstDash val="solid"/>
                    </a:lnT>
                    <a:lnB>
                      <a:noFill/>
                    </a:lnB>
                    <a:solidFill>
                      <a:srgbClr val="FFFFFF"/>
                    </a:solidFill>
                  </a:tcPr>
                </a:tc>
              </a:tr>
              <a:tr h="252000">
                <a:tc>
                  <a:txBody>
                    <a:bodyPr/>
                    <a:lstStyle/>
                    <a:p>
                      <a:pPr algn="ctr">
                        <a:spcAft>
                          <a:spcPts val="0"/>
                        </a:spcAft>
                      </a:pPr>
                      <a:r>
                        <a:rPr lang="en-US" sz="1100" kern="0" dirty="0">
                          <a:solidFill>
                            <a:srgbClr val="584E61"/>
                          </a:solidFill>
                          <a:effectLst/>
                        </a:rPr>
                        <a:t>001</a:t>
                      </a:r>
                      <a:endParaRPr lang="en-US" sz="1100" kern="0" dirty="0">
                        <a:solidFill>
                          <a:srgbClr val="584E61"/>
                        </a:solidFill>
                        <a:effectLst/>
                        <a:latin typeface="Times New Roman" panose="02020503050405090304"/>
                        <a:ea typeface="宋体" pitchFamily="2" charset="-122"/>
                      </a:endParaRPr>
                    </a:p>
                  </a:txBody>
                  <a:tcPr marL="51441" marR="51441" marT="0" marB="0" anchor="ctr">
                    <a:lnL>
                      <a:noFill/>
                    </a:lnL>
                    <a:lnR>
                      <a:noFill/>
                    </a:lnR>
                    <a:lnT>
                      <a:noFill/>
                    </a:lnT>
                    <a:lnB>
                      <a:noFill/>
                    </a:lnB>
                    <a:solidFill>
                      <a:srgbClr val="F0EFF2"/>
                    </a:solidFill>
                  </a:tcPr>
                </a:tc>
                <a:tc>
                  <a:txBody>
                    <a:bodyPr/>
                    <a:lstStyle/>
                    <a:p>
                      <a:pPr algn="ctr">
                        <a:spcAft>
                          <a:spcPts val="0"/>
                        </a:spcAft>
                      </a:pPr>
                      <a:r>
                        <a:rPr lang="en-US" sz="1100" kern="0" dirty="0">
                          <a:solidFill>
                            <a:srgbClr val="584E61"/>
                          </a:solidFill>
                          <a:effectLst/>
                        </a:rPr>
                        <a:t>1</a:t>
                      </a:r>
                      <a:endParaRPr lang="en-US" sz="1100" kern="0" dirty="0">
                        <a:solidFill>
                          <a:srgbClr val="584E61"/>
                        </a:solidFill>
                        <a:effectLst/>
                        <a:latin typeface="Times New Roman" panose="02020503050405090304"/>
                        <a:ea typeface="宋体" pitchFamily="2" charset="-122"/>
                      </a:endParaRPr>
                    </a:p>
                  </a:txBody>
                  <a:tcPr marL="51441" marR="51441" marT="0" marB="0" anchor="ctr">
                    <a:lnL>
                      <a:noFill/>
                    </a:lnL>
                    <a:lnR>
                      <a:noFill/>
                    </a:lnR>
                    <a:lnT>
                      <a:noFill/>
                    </a:lnT>
                    <a:lnB>
                      <a:noFill/>
                    </a:lnB>
                    <a:solidFill>
                      <a:srgbClr val="F0EFF2"/>
                    </a:solidFill>
                  </a:tcPr>
                </a:tc>
              </a:tr>
              <a:tr h="252000">
                <a:tc>
                  <a:txBody>
                    <a:bodyPr/>
                    <a:lstStyle/>
                    <a:p>
                      <a:pPr algn="ctr">
                        <a:spcAft>
                          <a:spcPts val="0"/>
                        </a:spcAft>
                      </a:pPr>
                      <a:r>
                        <a:rPr lang="en-US" sz="1100" kern="0" dirty="0">
                          <a:solidFill>
                            <a:srgbClr val="584E61"/>
                          </a:solidFill>
                          <a:effectLst/>
                        </a:rPr>
                        <a:t>010</a:t>
                      </a:r>
                      <a:endParaRPr lang="en-US" sz="1100" kern="0" dirty="0">
                        <a:solidFill>
                          <a:srgbClr val="584E61"/>
                        </a:solidFill>
                        <a:effectLst/>
                        <a:latin typeface="Times New Roman" panose="02020503050405090304"/>
                        <a:ea typeface="宋体" pitchFamily="2" charset="-122"/>
                      </a:endParaRPr>
                    </a:p>
                  </a:txBody>
                  <a:tcPr marL="51441" marR="51441" marT="0" marB="0" anchor="ctr">
                    <a:lnL>
                      <a:noFill/>
                    </a:lnL>
                    <a:lnR>
                      <a:noFill/>
                    </a:lnR>
                    <a:lnT>
                      <a:noFill/>
                    </a:lnT>
                    <a:lnB>
                      <a:noFill/>
                    </a:lnB>
                    <a:solidFill>
                      <a:srgbClr val="FFFFFF"/>
                    </a:solidFill>
                  </a:tcPr>
                </a:tc>
                <a:tc>
                  <a:txBody>
                    <a:bodyPr/>
                    <a:lstStyle/>
                    <a:p>
                      <a:pPr algn="ctr">
                        <a:spcAft>
                          <a:spcPts val="0"/>
                        </a:spcAft>
                      </a:pPr>
                      <a:r>
                        <a:rPr lang="en-US" sz="1100" kern="0" dirty="0">
                          <a:solidFill>
                            <a:srgbClr val="584E61"/>
                          </a:solidFill>
                          <a:effectLst/>
                        </a:rPr>
                        <a:t>2</a:t>
                      </a:r>
                      <a:endParaRPr lang="en-US" sz="1100" kern="0" dirty="0">
                        <a:solidFill>
                          <a:srgbClr val="584E61"/>
                        </a:solidFill>
                        <a:effectLst/>
                        <a:latin typeface="Times New Roman" panose="02020503050405090304"/>
                        <a:ea typeface="宋体" pitchFamily="2" charset="-122"/>
                      </a:endParaRPr>
                    </a:p>
                  </a:txBody>
                  <a:tcPr marL="51441" marR="51441" marT="0" marB="0" anchor="ctr">
                    <a:lnL>
                      <a:noFill/>
                    </a:lnL>
                    <a:lnR>
                      <a:noFill/>
                    </a:lnR>
                    <a:lnT>
                      <a:noFill/>
                    </a:lnT>
                    <a:lnB>
                      <a:noFill/>
                    </a:lnB>
                    <a:solidFill>
                      <a:srgbClr val="FFFFFF"/>
                    </a:solidFill>
                  </a:tcPr>
                </a:tc>
              </a:tr>
              <a:tr h="252000">
                <a:tc>
                  <a:txBody>
                    <a:bodyPr/>
                    <a:lstStyle/>
                    <a:p>
                      <a:pPr algn="ctr">
                        <a:spcAft>
                          <a:spcPts val="0"/>
                        </a:spcAft>
                      </a:pPr>
                      <a:r>
                        <a:rPr lang="en-US" sz="1100" kern="0" dirty="0">
                          <a:solidFill>
                            <a:srgbClr val="584E61"/>
                          </a:solidFill>
                          <a:effectLst/>
                        </a:rPr>
                        <a:t>011</a:t>
                      </a:r>
                      <a:endParaRPr lang="en-US" sz="1100" kern="0" dirty="0">
                        <a:solidFill>
                          <a:srgbClr val="584E61"/>
                        </a:solidFill>
                        <a:effectLst/>
                        <a:latin typeface="Times New Roman" panose="02020503050405090304"/>
                        <a:ea typeface="宋体" pitchFamily="2" charset="-122"/>
                      </a:endParaRPr>
                    </a:p>
                  </a:txBody>
                  <a:tcPr marL="51441" marR="51441" marT="0" marB="0" anchor="ctr">
                    <a:lnL>
                      <a:noFill/>
                    </a:lnL>
                    <a:lnR>
                      <a:noFill/>
                    </a:lnR>
                    <a:lnT>
                      <a:noFill/>
                    </a:lnT>
                    <a:lnB>
                      <a:noFill/>
                    </a:lnB>
                    <a:solidFill>
                      <a:srgbClr val="F0EFF2"/>
                    </a:solidFill>
                  </a:tcPr>
                </a:tc>
                <a:tc>
                  <a:txBody>
                    <a:bodyPr/>
                    <a:lstStyle/>
                    <a:p>
                      <a:pPr algn="ctr">
                        <a:spcAft>
                          <a:spcPts val="0"/>
                        </a:spcAft>
                      </a:pPr>
                      <a:r>
                        <a:rPr lang="en-US" sz="1100" kern="0" dirty="0">
                          <a:solidFill>
                            <a:srgbClr val="584E61"/>
                          </a:solidFill>
                          <a:effectLst/>
                        </a:rPr>
                        <a:t>3</a:t>
                      </a:r>
                      <a:endParaRPr lang="en-US" sz="1100" kern="0" dirty="0">
                        <a:solidFill>
                          <a:srgbClr val="584E61"/>
                        </a:solidFill>
                        <a:effectLst/>
                        <a:latin typeface="Times New Roman" panose="02020503050405090304"/>
                        <a:ea typeface="宋体" pitchFamily="2" charset="-122"/>
                      </a:endParaRPr>
                    </a:p>
                  </a:txBody>
                  <a:tcPr marL="51441" marR="51441" marT="0" marB="0" anchor="ctr">
                    <a:lnL>
                      <a:noFill/>
                    </a:lnL>
                    <a:lnR>
                      <a:noFill/>
                    </a:lnR>
                    <a:lnT>
                      <a:noFill/>
                    </a:lnT>
                    <a:lnB>
                      <a:noFill/>
                    </a:lnB>
                    <a:solidFill>
                      <a:srgbClr val="F0EFF2"/>
                    </a:solidFill>
                  </a:tcPr>
                </a:tc>
              </a:tr>
              <a:tr h="252000">
                <a:tc>
                  <a:txBody>
                    <a:bodyPr/>
                    <a:lstStyle/>
                    <a:p>
                      <a:pPr algn="ctr">
                        <a:spcAft>
                          <a:spcPts val="0"/>
                        </a:spcAft>
                      </a:pPr>
                      <a:r>
                        <a:rPr lang="en-US" sz="1100" kern="0" dirty="0">
                          <a:solidFill>
                            <a:srgbClr val="584E61"/>
                          </a:solidFill>
                          <a:effectLst/>
                        </a:rPr>
                        <a:t>100</a:t>
                      </a:r>
                      <a:endParaRPr lang="en-US" sz="1100" kern="0" dirty="0">
                        <a:solidFill>
                          <a:srgbClr val="584E61"/>
                        </a:solidFill>
                        <a:effectLst/>
                        <a:latin typeface="Times New Roman" panose="02020503050405090304"/>
                        <a:ea typeface="宋体" pitchFamily="2" charset="-122"/>
                      </a:endParaRPr>
                    </a:p>
                  </a:txBody>
                  <a:tcPr marL="51441" marR="51441" marT="0" marB="0" anchor="ctr">
                    <a:lnL>
                      <a:noFill/>
                    </a:lnL>
                    <a:lnR>
                      <a:noFill/>
                    </a:lnR>
                    <a:lnT>
                      <a:noFill/>
                    </a:lnT>
                    <a:lnB>
                      <a:noFill/>
                    </a:lnB>
                    <a:solidFill>
                      <a:srgbClr val="FFFFFF"/>
                    </a:solidFill>
                  </a:tcPr>
                </a:tc>
                <a:tc>
                  <a:txBody>
                    <a:bodyPr/>
                    <a:lstStyle/>
                    <a:p>
                      <a:pPr algn="ctr">
                        <a:spcAft>
                          <a:spcPts val="0"/>
                        </a:spcAft>
                      </a:pPr>
                      <a:r>
                        <a:rPr lang="en-US" sz="1100" kern="0" dirty="0">
                          <a:solidFill>
                            <a:srgbClr val="584E61"/>
                          </a:solidFill>
                          <a:effectLst/>
                        </a:rPr>
                        <a:t>4</a:t>
                      </a:r>
                      <a:endParaRPr lang="en-US" sz="1100" kern="0" dirty="0">
                        <a:solidFill>
                          <a:srgbClr val="584E61"/>
                        </a:solidFill>
                        <a:effectLst/>
                        <a:latin typeface="Times New Roman" panose="02020503050405090304"/>
                        <a:ea typeface="宋体" pitchFamily="2" charset="-122"/>
                      </a:endParaRPr>
                    </a:p>
                  </a:txBody>
                  <a:tcPr marL="51441" marR="51441" marT="0" marB="0" anchor="ctr">
                    <a:lnL>
                      <a:noFill/>
                    </a:lnL>
                    <a:lnR>
                      <a:noFill/>
                    </a:lnR>
                    <a:lnT>
                      <a:noFill/>
                    </a:lnT>
                    <a:lnB>
                      <a:noFill/>
                    </a:lnB>
                    <a:solidFill>
                      <a:srgbClr val="FFFFFF"/>
                    </a:solidFill>
                  </a:tcPr>
                </a:tc>
              </a:tr>
              <a:tr h="252000">
                <a:tc>
                  <a:txBody>
                    <a:bodyPr/>
                    <a:lstStyle/>
                    <a:p>
                      <a:pPr algn="ctr">
                        <a:spcAft>
                          <a:spcPts val="0"/>
                        </a:spcAft>
                      </a:pPr>
                      <a:r>
                        <a:rPr lang="en-US" sz="1100" kern="0" dirty="0">
                          <a:solidFill>
                            <a:srgbClr val="584E61"/>
                          </a:solidFill>
                          <a:effectLst/>
                        </a:rPr>
                        <a:t>101</a:t>
                      </a:r>
                      <a:endParaRPr lang="en-US" sz="1100" kern="0" dirty="0">
                        <a:solidFill>
                          <a:srgbClr val="584E61"/>
                        </a:solidFill>
                        <a:effectLst/>
                        <a:latin typeface="Times New Roman" panose="02020503050405090304"/>
                        <a:ea typeface="宋体" pitchFamily="2" charset="-122"/>
                      </a:endParaRPr>
                    </a:p>
                  </a:txBody>
                  <a:tcPr marL="51441" marR="51441" marT="0" marB="0" anchor="ctr">
                    <a:lnL>
                      <a:noFill/>
                    </a:lnL>
                    <a:lnR>
                      <a:noFill/>
                    </a:lnR>
                    <a:lnT>
                      <a:noFill/>
                    </a:lnT>
                    <a:lnB>
                      <a:noFill/>
                    </a:lnB>
                    <a:solidFill>
                      <a:srgbClr val="F0EFF2"/>
                    </a:solidFill>
                  </a:tcPr>
                </a:tc>
                <a:tc>
                  <a:txBody>
                    <a:bodyPr/>
                    <a:lstStyle/>
                    <a:p>
                      <a:pPr algn="ctr">
                        <a:spcAft>
                          <a:spcPts val="0"/>
                        </a:spcAft>
                      </a:pPr>
                      <a:r>
                        <a:rPr lang="en-US" sz="1100" kern="0" dirty="0">
                          <a:solidFill>
                            <a:srgbClr val="584E61"/>
                          </a:solidFill>
                          <a:effectLst/>
                        </a:rPr>
                        <a:t>5</a:t>
                      </a:r>
                      <a:endParaRPr lang="en-US" sz="1100" kern="0" dirty="0">
                        <a:solidFill>
                          <a:srgbClr val="584E61"/>
                        </a:solidFill>
                        <a:effectLst/>
                        <a:latin typeface="Times New Roman" panose="02020503050405090304"/>
                        <a:ea typeface="宋体" pitchFamily="2" charset="-122"/>
                      </a:endParaRPr>
                    </a:p>
                  </a:txBody>
                  <a:tcPr marL="51441" marR="51441" marT="0" marB="0" anchor="ctr">
                    <a:lnL>
                      <a:noFill/>
                    </a:lnL>
                    <a:lnR>
                      <a:noFill/>
                    </a:lnR>
                    <a:lnT>
                      <a:noFill/>
                    </a:lnT>
                    <a:lnB>
                      <a:noFill/>
                    </a:lnB>
                    <a:solidFill>
                      <a:srgbClr val="F0EFF2"/>
                    </a:solidFill>
                  </a:tcPr>
                </a:tc>
              </a:tr>
              <a:tr h="252000">
                <a:tc>
                  <a:txBody>
                    <a:bodyPr/>
                    <a:lstStyle/>
                    <a:p>
                      <a:pPr algn="ctr">
                        <a:spcAft>
                          <a:spcPts val="0"/>
                        </a:spcAft>
                      </a:pPr>
                      <a:r>
                        <a:rPr lang="en-US" sz="1100" kern="0" dirty="0">
                          <a:solidFill>
                            <a:srgbClr val="584E61"/>
                          </a:solidFill>
                          <a:effectLst/>
                        </a:rPr>
                        <a:t>110</a:t>
                      </a:r>
                      <a:endParaRPr lang="en-US" sz="1100" kern="0" dirty="0">
                        <a:solidFill>
                          <a:srgbClr val="584E61"/>
                        </a:solidFill>
                        <a:effectLst/>
                        <a:latin typeface="Times New Roman" panose="02020503050405090304"/>
                        <a:ea typeface="宋体" pitchFamily="2" charset="-122"/>
                      </a:endParaRPr>
                    </a:p>
                  </a:txBody>
                  <a:tcPr marL="51441" marR="51441" marT="0" marB="0" anchor="ctr">
                    <a:lnL>
                      <a:noFill/>
                    </a:lnL>
                    <a:lnR>
                      <a:noFill/>
                    </a:lnR>
                    <a:lnT>
                      <a:noFill/>
                    </a:lnT>
                    <a:lnB>
                      <a:noFill/>
                    </a:lnB>
                    <a:solidFill>
                      <a:srgbClr val="FFFFFF"/>
                    </a:solidFill>
                  </a:tcPr>
                </a:tc>
                <a:tc>
                  <a:txBody>
                    <a:bodyPr/>
                    <a:lstStyle/>
                    <a:p>
                      <a:pPr algn="ctr">
                        <a:spcAft>
                          <a:spcPts val="0"/>
                        </a:spcAft>
                      </a:pPr>
                      <a:r>
                        <a:rPr lang="en-US" sz="1100" kern="0" dirty="0">
                          <a:solidFill>
                            <a:srgbClr val="584E61"/>
                          </a:solidFill>
                          <a:effectLst/>
                        </a:rPr>
                        <a:t>6</a:t>
                      </a:r>
                      <a:endParaRPr lang="en-US" sz="1100" kern="0" dirty="0">
                        <a:solidFill>
                          <a:srgbClr val="584E61"/>
                        </a:solidFill>
                        <a:effectLst/>
                        <a:latin typeface="Times New Roman" panose="02020503050405090304"/>
                        <a:ea typeface="宋体" pitchFamily="2" charset="-122"/>
                      </a:endParaRPr>
                    </a:p>
                  </a:txBody>
                  <a:tcPr marL="51441" marR="51441" marT="0" marB="0" anchor="ctr">
                    <a:lnL>
                      <a:noFill/>
                    </a:lnL>
                    <a:lnR>
                      <a:noFill/>
                    </a:lnR>
                    <a:lnT>
                      <a:noFill/>
                    </a:lnT>
                    <a:lnB>
                      <a:noFill/>
                    </a:lnB>
                    <a:solidFill>
                      <a:srgbClr val="FFFFFF"/>
                    </a:solidFill>
                  </a:tcPr>
                </a:tc>
              </a:tr>
              <a:tr h="252000">
                <a:tc>
                  <a:txBody>
                    <a:bodyPr/>
                    <a:lstStyle/>
                    <a:p>
                      <a:pPr algn="ctr">
                        <a:spcAft>
                          <a:spcPts val="0"/>
                        </a:spcAft>
                      </a:pPr>
                      <a:r>
                        <a:rPr lang="en-US" sz="1100" kern="0" dirty="0">
                          <a:solidFill>
                            <a:srgbClr val="584E61"/>
                          </a:solidFill>
                          <a:effectLst/>
                        </a:rPr>
                        <a:t>111</a:t>
                      </a:r>
                      <a:endParaRPr lang="en-US" sz="1100" kern="0" dirty="0">
                        <a:solidFill>
                          <a:srgbClr val="584E61"/>
                        </a:solidFill>
                        <a:effectLst/>
                        <a:latin typeface="Times New Roman" panose="02020503050405090304"/>
                        <a:ea typeface="宋体" pitchFamily="2" charset="-122"/>
                      </a:endParaRPr>
                    </a:p>
                  </a:txBody>
                  <a:tcPr marL="51441" marR="51441" marT="0" marB="0" anchor="ctr">
                    <a:lnL>
                      <a:noFill/>
                    </a:lnL>
                    <a:lnR>
                      <a:noFill/>
                    </a:lnR>
                    <a:lnT>
                      <a:noFill/>
                    </a:lnT>
                    <a:lnB w="19050">
                      <a:solidFill>
                        <a:srgbClr val="584E61"/>
                      </a:solidFill>
                      <a:prstDash val="solid"/>
                    </a:lnB>
                    <a:solidFill>
                      <a:srgbClr val="F0EFF2"/>
                    </a:solidFill>
                  </a:tcPr>
                </a:tc>
                <a:tc>
                  <a:txBody>
                    <a:bodyPr/>
                    <a:lstStyle/>
                    <a:p>
                      <a:pPr algn="ctr">
                        <a:spcAft>
                          <a:spcPts val="0"/>
                        </a:spcAft>
                      </a:pPr>
                      <a:r>
                        <a:rPr lang="en-US" sz="1100" kern="0" dirty="0">
                          <a:solidFill>
                            <a:srgbClr val="584E61"/>
                          </a:solidFill>
                          <a:effectLst/>
                        </a:rPr>
                        <a:t>7</a:t>
                      </a:r>
                      <a:endParaRPr lang="en-US" sz="1100" kern="0" dirty="0">
                        <a:solidFill>
                          <a:srgbClr val="584E61"/>
                        </a:solidFill>
                        <a:effectLst/>
                        <a:latin typeface="Times New Roman" panose="02020503050405090304"/>
                        <a:ea typeface="宋体" pitchFamily="2" charset="-122"/>
                      </a:endParaRPr>
                    </a:p>
                  </a:txBody>
                  <a:tcPr marL="51441" marR="51441" marT="0" marB="0" anchor="ctr">
                    <a:lnL>
                      <a:noFill/>
                    </a:lnL>
                    <a:lnR>
                      <a:noFill/>
                    </a:lnR>
                    <a:lnT>
                      <a:noFill/>
                    </a:lnT>
                    <a:lnB w="19050">
                      <a:solidFill>
                        <a:srgbClr val="584E61"/>
                      </a:solidFill>
                      <a:prstDash val="solid"/>
                    </a:lnB>
                    <a:solidFill>
                      <a:srgbClr val="F0EFF2"/>
                    </a:solidFill>
                  </a:tcPr>
                </a:tc>
              </a:tr>
            </a:tbl>
          </a:graphicData>
        </a:graphic>
      </p:graphicFrame>
      <p:sp>
        <p:nvSpPr>
          <p:cNvPr id="11" name="标题 1"/>
          <p:cNvSpPr>
            <a:spLocks noGrp="1"/>
          </p:cNvSpPr>
          <p:nvPr>
            <p:custDataLst>
              <p:tags r:id="rId2"/>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a:ln>
                  <a:noFill/>
                </a:ln>
                <a:solidFill>
                  <a:srgbClr val="782367"/>
                </a:solidFill>
                <a:effectLst/>
                <a:uLnTx/>
                <a:uFillTx/>
                <a:latin typeface="微软雅黑" panose="020B0503020204020204" charset="-122"/>
                <a:ea typeface="微软雅黑" panose="020B0503020204020204" charset="-122"/>
                <a:cs typeface="+mj-cs"/>
              </a:rPr>
              <a:t>2</a:t>
            </a: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.1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进制</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2" name="灯片编号占位符 1"/>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1" name="内容占位符 2"/>
          <p:cNvSpPr>
            <a:spLocks noGrp="1"/>
          </p:cNvSpPr>
          <p:nvPr>
            <p:ph idx="1"/>
          </p:nvPr>
        </p:nvSpPr>
        <p:spPr bwMode="auto">
          <a:xfrm>
            <a:off x="1485900" y="800100"/>
            <a:ext cx="6172200" cy="4101704"/>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914400" marR="0" lvl="1" indent="-457200" algn="l" defTabSz="914400" rtl="0" eaLnBrk="0" fontAlgn="base" latinLnBrk="0" hangingPunct="0">
              <a:lnSpc>
                <a:spcPct val="150000"/>
              </a:lnSpc>
              <a:spcBef>
                <a:spcPct val="20000"/>
              </a:spcBef>
              <a:spcAft>
                <a:spcPct val="0"/>
              </a:spcAft>
              <a:buClrTx/>
              <a:buSzTx/>
              <a:buFontTx/>
              <a:buAutoNum type="arabicPeriod" startAt="4"/>
              <a:defRPr/>
            </a:pPr>
            <a:r>
              <a:rPr kumimoji="0" lang="zh-CN" altLang="en-US" b="0" i="0" u="none" strike="noStrike" kern="0" cap="none" spc="0" normalizeH="0" baseline="0" noProof="0" dirty="0" smtClean="0">
                <a:ln>
                  <a:noFill/>
                </a:ln>
                <a:solidFill>
                  <a:schemeClr val="tx1"/>
                </a:solidFill>
                <a:effectLst/>
                <a:uLnTx/>
                <a:uFillTx/>
                <a:latin typeface="+mn-lt"/>
                <a:ea typeface="+mn-ea"/>
              </a:rPr>
              <a:t>二进制与十六进制之间的转换</a:t>
            </a: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rPr>
              <a:t>        </a:t>
            </a:r>
            <a:r>
              <a:rPr kumimoji="0" lang="zh-CN" altLang="zh-CN" b="0" i="0" u="none" strike="noStrike" kern="0" cap="none" spc="0" normalizeH="0" baseline="0" noProof="0" dirty="0" smtClean="0">
                <a:ln>
                  <a:noFill/>
                </a:ln>
                <a:solidFill>
                  <a:schemeClr val="tx1"/>
                </a:solidFill>
                <a:effectLst/>
                <a:uLnTx/>
                <a:uFillTx/>
                <a:latin typeface="+mn-lt"/>
                <a:ea typeface="+mn-ea"/>
              </a:rPr>
              <a:t>将</a:t>
            </a:r>
            <a:r>
              <a:rPr kumimoji="0" lang="zh-CN" altLang="zh-CN" b="0" i="0" u="none" strike="noStrike" kern="0" cap="none" spc="0" normalizeH="0" baseline="0" noProof="0" dirty="0">
                <a:ln>
                  <a:noFill/>
                </a:ln>
                <a:solidFill>
                  <a:schemeClr val="tx1"/>
                </a:solidFill>
                <a:effectLst/>
                <a:uLnTx/>
                <a:uFillTx/>
                <a:latin typeface="+mn-lt"/>
                <a:ea typeface="+mn-ea"/>
              </a:rPr>
              <a:t>二进制转十六进制时，与转八进制类似，不同的是要将二进制数每四位分成一段（若不足</a:t>
            </a:r>
            <a:r>
              <a:rPr kumimoji="0" lang="en-US" altLang="zh-CN" b="0" i="0" u="none" strike="noStrike" kern="0" cap="none" spc="0" normalizeH="0" baseline="0" noProof="0" dirty="0">
                <a:ln>
                  <a:noFill/>
                </a:ln>
                <a:solidFill>
                  <a:schemeClr val="tx1"/>
                </a:solidFill>
                <a:effectLst/>
                <a:uLnTx/>
                <a:uFillTx/>
                <a:latin typeface="+mn-lt"/>
                <a:ea typeface="+mn-ea"/>
              </a:rPr>
              <a:t>4</a:t>
            </a:r>
            <a:r>
              <a:rPr kumimoji="0" lang="zh-CN" altLang="zh-CN" b="0" i="0" u="none" strike="noStrike" kern="0" cap="none" spc="0" normalizeH="0" baseline="0" noProof="0" dirty="0">
                <a:ln>
                  <a:noFill/>
                </a:ln>
                <a:solidFill>
                  <a:schemeClr val="tx1"/>
                </a:solidFill>
                <a:effectLst/>
                <a:uLnTx/>
                <a:uFillTx/>
                <a:latin typeface="+mn-lt"/>
                <a:ea typeface="+mn-ea"/>
              </a:rPr>
              <a:t>位用</a:t>
            </a:r>
            <a:r>
              <a:rPr kumimoji="0" lang="en-US" altLang="zh-CN" b="0" i="0" u="none" strike="noStrike" kern="0" cap="none" spc="0" normalizeH="0" baseline="0" noProof="0" dirty="0">
                <a:ln>
                  <a:noFill/>
                </a:ln>
                <a:solidFill>
                  <a:schemeClr val="tx1"/>
                </a:solidFill>
                <a:effectLst/>
                <a:uLnTx/>
                <a:uFillTx/>
                <a:latin typeface="+mn-lt"/>
                <a:ea typeface="+mn-ea"/>
              </a:rPr>
              <a:t>0</a:t>
            </a:r>
            <a:r>
              <a:rPr kumimoji="0" lang="zh-CN" altLang="zh-CN" b="0" i="0" u="none" strike="noStrike" kern="0" cap="none" spc="0" normalizeH="0" baseline="0" noProof="0" dirty="0">
                <a:ln>
                  <a:noFill/>
                </a:ln>
                <a:solidFill>
                  <a:schemeClr val="tx1"/>
                </a:solidFill>
                <a:effectLst/>
                <a:uLnTx/>
                <a:uFillTx/>
                <a:latin typeface="+mn-lt"/>
                <a:ea typeface="+mn-ea"/>
              </a:rPr>
              <a:t>补齐），查表转换即可。二进制转十六进制过程中数值的对应关系如表</a:t>
            </a:r>
            <a:r>
              <a:rPr kumimoji="0" lang="en-US" altLang="zh-CN" b="0" i="0" u="none" strike="noStrike" kern="0" cap="none" spc="0" normalizeH="0" baseline="0" noProof="0" dirty="0">
                <a:ln>
                  <a:noFill/>
                </a:ln>
                <a:solidFill>
                  <a:schemeClr val="tx1"/>
                </a:solidFill>
                <a:effectLst/>
                <a:uLnTx/>
                <a:uFillTx/>
                <a:latin typeface="+mn-lt"/>
                <a:ea typeface="+mn-ea"/>
              </a:rPr>
              <a:t>2-5</a:t>
            </a:r>
            <a:r>
              <a:rPr kumimoji="0" lang="zh-CN" altLang="zh-CN" b="0" i="0" u="none" strike="noStrike" kern="0" cap="none" spc="0" normalizeH="0" baseline="0" noProof="0" dirty="0">
                <a:ln>
                  <a:noFill/>
                </a:ln>
                <a:solidFill>
                  <a:schemeClr val="tx1"/>
                </a:solidFill>
                <a:effectLst/>
                <a:uLnTx/>
                <a:uFillTx/>
                <a:latin typeface="+mn-lt"/>
                <a:ea typeface="+mn-ea"/>
              </a:rPr>
              <a:t>所</a:t>
            </a:r>
            <a:r>
              <a:rPr kumimoji="0" lang="zh-CN" altLang="zh-CN" b="0" i="0" u="none" strike="noStrike" kern="0" cap="none" spc="0" normalizeH="0" baseline="0" noProof="0" dirty="0" smtClean="0">
                <a:ln>
                  <a:noFill/>
                </a:ln>
                <a:solidFill>
                  <a:schemeClr val="tx1"/>
                </a:solidFill>
                <a:effectLst/>
                <a:uLnTx/>
                <a:uFillTx/>
                <a:latin typeface="+mn-lt"/>
                <a:ea typeface="+mn-ea"/>
              </a:rPr>
              <a:t>示</a:t>
            </a:r>
            <a:r>
              <a:rPr kumimoji="0" lang="zh-CN" altLang="en-US" b="0" i="0" u="none" strike="noStrike" kern="0" cap="none" spc="0" normalizeH="0" baseline="0" noProof="0" dirty="0" smtClean="0">
                <a:ln>
                  <a:noFill/>
                </a:ln>
                <a:solidFill>
                  <a:schemeClr val="tx1"/>
                </a:solidFill>
                <a:effectLst/>
                <a:uLnTx/>
                <a:uFillTx/>
                <a:latin typeface="+mn-lt"/>
                <a:ea typeface="+mn-ea"/>
              </a:rPr>
              <a:t>：</a:t>
            </a: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a:ln>
                <a:noFill/>
              </a:ln>
              <a:solidFill>
                <a:schemeClr val="tx1"/>
              </a:solidFill>
              <a:effectLst/>
              <a:uLnTx/>
              <a:uFillTx/>
              <a:latin typeface="+mn-lt"/>
              <a:ea typeface="+mn-ea"/>
            </a:endParaRPr>
          </a:p>
        </p:txBody>
      </p:sp>
      <p:graphicFrame>
        <p:nvGraphicFramePr>
          <p:cNvPr id="3" name="表格 2"/>
          <p:cNvGraphicFramePr>
            <a:graphicFrameLocks noGrp="1"/>
          </p:cNvGraphicFramePr>
          <p:nvPr>
            <p:custDataLst>
              <p:tags r:id="rId1"/>
            </p:custDataLst>
          </p:nvPr>
        </p:nvGraphicFramePr>
        <p:xfrm>
          <a:off x="2419985" y="2571909"/>
          <a:ext cx="4320000" cy="2351405"/>
        </p:xfrm>
        <a:graphic>
          <a:graphicData uri="http://schemas.openxmlformats.org/drawingml/2006/table">
            <a:tbl>
              <a:tblPr firstRow="1" firstCol="1" bandRow="1"/>
              <a:tblGrid>
                <a:gridCol w="864000"/>
                <a:gridCol w="864000"/>
                <a:gridCol w="864000"/>
                <a:gridCol w="864000"/>
                <a:gridCol w="864000"/>
              </a:tblGrid>
              <a:tr h="252000">
                <a:tc>
                  <a:txBody>
                    <a:bodyPr/>
                    <a:lstStyle/>
                    <a:p>
                      <a:pPr algn="ctr">
                        <a:spcAft>
                          <a:spcPts val="0"/>
                        </a:spcAft>
                      </a:pPr>
                      <a:r>
                        <a:rPr lang="zh-CN" sz="1100" kern="0">
                          <a:solidFill>
                            <a:srgbClr val="584E61"/>
                          </a:solidFill>
                          <a:effectLst/>
                        </a:rPr>
                        <a:t>二进制</a:t>
                      </a:r>
                      <a:endParaRPr lang="zh-CN" sz="1100" kern="0">
                        <a:solidFill>
                          <a:srgbClr val="584E61"/>
                        </a:solidFill>
                        <a:effectLst/>
                        <a:latin typeface="Times New Roman" panose="02020503050405090304"/>
                        <a:ea typeface="宋体" pitchFamily="2" charset="-122"/>
                      </a:endParaRPr>
                    </a:p>
                  </a:txBody>
                  <a:tcPr marL="51423" marR="51423" marT="0" marB="0" anchor="ctr">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algn="ctr">
                        <a:spcAft>
                          <a:spcPts val="0"/>
                        </a:spcAft>
                      </a:pPr>
                      <a:r>
                        <a:rPr lang="zh-CN" sz="1100" kern="0">
                          <a:solidFill>
                            <a:srgbClr val="584E61"/>
                          </a:solidFill>
                          <a:effectLst/>
                        </a:rPr>
                        <a:t>十六进制</a:t>
                      </a:r>
                      <a:endParaRPr lang="zh-CN" sz="1100" kern="0">
                        <a:solidFill>
                          <a:srgbClr val="584E61"/>
                        </a:solidFill>
                        <a:effectLst/>
                        <a:latin typeface="Times New Roman" panose="02020503050405090304"/>
                        <a:ea typeface="宋体" pitchFamily="2" charset="-122"/>
                      </a:endParaRPr>
                    </a:p>
                  </a:txBody>
                  <a:tcPr marL="51423" marR="51423" marT="0" marB="0" anchor="ctr">
                    <a:lnL>
                      <a:noFill/>
                    </a:lnL>
                    <a:lnR>
                      <a:noFill/>
                    </a:lnR>
                    <a:lnT w="19050">
                      <a:solidFill>
                        <a:srgbClr val="584E61"/>
                      </a:solidFill>
                      <a:prstDash val="solid"/>
                    </a:lnT>
                    <a:lnB w="19050">
                      <a:solidFill>
                        <a:srgbClr val="584E61"/>
                      </a:solidFill>
                      <a:prstDash val="solid"/>
                    </a:lnB>
                    <a:solidFill>
                      <a:srgbClr val="FFFFFF"/>
                    </a:solidFill>
                  </a:tcPr>
                </a:tc>
                <a:tc>
                  <a:txBody>
                    <a:bodyPr/>
                    <a:lstStyle/>
                    <a:p>
                      <a:endParaRPr lang="zh-CN" sz="1100">
                        <a:solidFill>
                          <a:srgbClr val="584E61"/>
                        </a:solidFill>
                        <a:effectLst/>
                        <a:latin typeface="Times New Roman" panose="02020503050405090304"/>
                      </a:endParaRPr>
                    </a:p>
                  </a:txBody>
                  <a:tcPr marL="51423" marR="51423" marT="0" marB="0" anchor="ctr">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algn="ctr">
                        <a:spcAft>
                          <a:spcPts val="0"/>
                        </a:spcAft>
                      </a:pPr>
                      <a:r>
                        <a:rPr lang="zh-CN" sz="1100" kern="0">
                          <a:solidFill>
                            <a:srgbClr val="584E61"/>
                          </a:solidFill>
                          <a:effectLst/>
                        </a:rPr>
                        <a:t>二进制</a:t>
                      </a:r>
                      <a:endParaRPr lang="zh-CN" sz="1100" kern="0">
                        <a:solidFill>
                          <a:srgbClr val="584E61"/>
                        </a:solidFill>
                        <a:effectLst/>
                        <a:latin typeface="Times New Roman" panose="02020503050405090304"/>
                        <a:ea typeface="宋体" pitchFamily="2" charset="-122"/>
                      </a:endParaRPr>
                    </a:p>
                  </a:txBody>
                  <a:tcPr marL="51423" marR="51423" marT="0" marB="0" anchor="ctr">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algn="ctr">
                        <a:spcAft>
                          <a:spcPts val="0"/>
                        </a:spcAft>
                      </a:pPr>
                      <a:r>
                        <a:rPr lang="zh-CN" sz="1100" kern="0">
                          <a:solidFill>
                            <a:srgbClr val="584E61"/>
                          </a:solidFill>
                          <a:effectLst/>
                        </a:rPr>
                        <a:t>十六进制</a:t>
                      </a:r>
                      <a:endParaRPr lang="zh-CN" sz="1100" kern="0">
                        <a:solidFill>
                          <a:srgbClr val="584E61"/>
                        </a:solidFill>
                        <a:effectLst/>
                        <a:latin typeface="Times New Roman" panose="02020503050405090304"/>
                        <a:ea typeface="宋体" pitchFamily="2" charset="-122"/>
                      </a:endParaRPr>
                    </a:p>
                  </a:txBody>
                  <a:tcPr marL="51423" marR="51423" marT="0" marB="0" anchor="ctr">
                    <a:lnL>
                      <a:noFill/>
                    </a:lnL>
                    <a:lnR>
                      <a:noFill/>
                    </a:lnR>
                    <a:lnT w="19050">
                      <a:solidFill>
                        <a:srgbClr val="584E61"/>
                      </a:solidFill>
                      <a:prstDash val="solid"/>
                    </a:lnT>
                    <a:lnB w="19050">
                      <a:solidFill>
                        <a:srgbClr val="584E61"/>
                      </a:solidFill>
                      <a:prstDash val="solid"/>
                    </a:lnB>
                    <a:solidFill>
                      <a:srgbClr val="FFFFFF"/>
                    </a:solidFill>
                  </a:tcPr>
                </a:tc>
              </a:tr>
              <a:tr h="252000">
                <a:tc>
                  <a:txBody>
                    <a:bodyPr/>
                    <a:lstStyle/>
                    <a:p>
                      <a:pPr algn="ctr">
                        <a:spcAft>
                          <a:spcPts val="0"/>
                        </a:spcAft>
                      </a:pPr>
                      <a:r>
                        <a:rPr lang="en-US" sz="1100" kern="0" dirty="0">
                          <a:solidFill>
                            <a:srgbClr val="584E61"/>
                          </a:solidFill>
                          <a:effectLst/>
                        </a:rPr>
                        <a:t>0000</a:t>
                      </a:r>
                      <a:endParaRPr lang="en-US" sz="1100" kern="0" dirty="0">
                        <a:solidFill>
                          <a:srgbClr val="584E61"/>
                        </a:solidFill>
                        <a:effectLst/>
                        <a:latin typeface="Times New Roman" panose="02020503050405090304"/>
                        <a:ea typeface="宋体" pitchFamily="2" charset="-122"/>
                      </a:endParaRPr>
                    </a:p>
                  </a:txBody>
                  <a:tcPr marL="51423" marR="51423" marT="0" marB="0" anchor="ctr">
                    <a:lnL>
                      <a:noFill/>
                    </a:lnL>
                    <a:lnR>
                      <a:noFill/>
                    </a:lnR>
                    <a:lnT w="19050">
                      <a:solidFill>
                        <a:srgbClr val="584E61"/>
                      </a:solidFill>
                      <a:prstDash val="solid"/>
                    </a:lnT>
                    <a:lnB>
                      <a:noFill/>
                    </a:lnB>
                    <a:solidFill>
                      <a:srgbClr val="FFFFFF"/>
                    </a:solidFill>
                  </a:tcPr>
                </a:tc>
                <a:tc>
                  <a:txBody>
                    <a:bodyPr/>
                    <a:lstStyle/>
                    <a:p>
                      <a:pPr algn="ctr">
                        <a:spcAft>
                          <a:spcPts val="0"/>
                        </a:spcAft>
                      </a:pPr>
                      <a:r>
                        <a:rPr lang="en-US" sz="1100" kern="0" dirty="0">
                          <a:solidFill>
                            <a:srgbClr val="584E61"/>
                          </a:solidFill>
                          <a:effectLst/>
                        </a:rPr>
                        <a:t>0</a:t>
                      </a:r>
                      <a:endParaRPr lang="en-US" sz="1100" kern="0" dirty="0">
                        <a:solidFill>
                          <a:srgbClr val="584E61"/>
                        </a:solidFill>
                        <a:effectLst/>
                        <a:latin typeface="Times New Roman" panose="02020503050405090304"/>
                        <a:ea typeface="宋体" pitchFamily="2" charset="-122"/>
                      </a:endParaRPr>
                    </a:p>
                  </a:txBody>
                  <a:tcPr marL="51423" marR="51423" marT="0" marB="0" anchor="ctr">
                    <a:lnL>
                      <a:noFill/>
                    </a:lnL>
                    <a:lnR>
                      <a:noFill/>
                    </a:lnR>
                    <a:lnT w="19050">
                      <a:solidFill>
                        <a:srgbClr val="584E61"/>
                      </a:solidFill>
                      <a:prstDash val="solid"/>
                    </a:lnT>
                    <a:lnB>
                      <a:noFill/>
                    </a:lnB>
                    <a:solidFill>
                      <a:srgbClr val="FFFFFF"/>
                    </a:solidFill>
                  </a:tcPr>
                </a:tc>
                <a:tc>
                  <a:txBody>
                    <a:bodyPr/>
                    <a:lstStyle/>
                    <a:p>
                      <a:endParaRPr lang="zh-CN" sz="1100">
                        <a:solidFill>
                          <a:srgbClr val="584E61"/>
                        </a:solidFill>
                        <a:effectLst/>
                        <a:latin typeface="Times New Roman" panose="02020503050405090304"/>
                      </a:endParaRPr>
                    </a:p>
                  </a:txBody>
                  <a:tcPr marL="51423" marR="51423" marT="0" marB="0" anchor="ctr">
                    <a:lnL>
                      <a:noFill/>
                    </a:lnL>
                    <a:lnR>
                      <a:noFill/>
                    </a:lnR>
                    <a:lnT w="19050">
                      <a:solidFill>
                        <a:srgbClr val="584E61"/>
                      </a:solidFill>
                      <a:prstDash val="solid"/>
                    </a:lnT>
                    <a:lnB>
                      <a:noFill/>
                    </a:lnB>
                    <a:solidFill>
                      <a:srgbClr val="FFFFFF"/>
                    </a:solidFill>
                  </a:tcPr>
                </a:tc>
                <a:tc>
                  <a:txBody>
                    <a:bodyPr/>
                    <a:lstStyle/>
                    <a:p>
                      <a:pPr algn="ctr">
                        <a:spcAft>
                          <a:spcPts val="0"/>
                        </a:spcAft>
                      </a:pPr>
                      <a:r>
                        <a:rPr lang="en-US" sz="1100" kern="0" dirty="0">
                          <a:solidFill>
                            <a:srgbClr val="584E61"/>
                          </a:solidFill>
                          <a:effectLst/>
                        </a:rPr>
                        <a:t>1000</a:t>
                      </a:r>
                      <a:endParaRPr lang="en-US" sz="1100" kern="0" dirty="0">
                        <a:solidFill>
                          <a:srgbClr val="584E61"/>
                        </a:solidFill>
                        <a:effectLst/>
                        <a:latin typeface="Times New Roman" panose="02020503050405090304"/>
                        <a:ea typeface="宋体" pitchFamily="2" charset="-122"/>
                      </a:endParaRPr>
                    </a:p>
                  </a:txBody>
                  <a:tcPr marL="51423" marR="51423" marT="0" marB="0" anchor="ctr">
                    <a:lnL>
                      <a:noFill/>
                    </a:lnL>
                    <a:lnR>
                      <a:noFill/>
                    </a:lnR>
                    <a:lnT w="19050">
                      <a:solidFill>
                        <a:srgbClr val="584E61"/>
                      </a:solidFill>
                      <a:prstDash val="solid"/>
                    </a:lnT>
                    <a:lnB>
                      <a:noFill/>
                    </a:lnB>
                    <a:solidFill>
                      <a:srgbClr val="FFFFFF"/>
                    </a:solidFill>
                  </a:tcPr>
                </a:tc>
                <a:tc>
                  <a:txBody>
                    <a:bodyPr/>
                    <a:lstStyle/>
                    <a:p>
                      <a:pPr algn="ctr">
                        <a:spcAft>
                          <a:spcPts val="0"/>
                        </a:spcAft>
                      </a:pPr>
                      <a:r>
                        <a:rPr lang="en-US" sz="1100" kern="0" dirty="0">
                          <a:solidFill>
                            <a:srgbClr val="584E61"/>
                          </a:solidFill>
                          <a:effectLst/>
                        </a:rPr>
                        <a:t>8</a:t>
                      </a:r>
                      <a:endParaRPr lang="en-US" sz="1100" kern="0" dirty="0">
                        <a:solidFill>
                          <a:srgbClr val="584E61"/>
                        </a:solidFill>
                        <a:effectLst/>
                        <a:latin typeface="Times New Roman" panose="02020503050405090304"/>
                        <a:ea typeface="宋体" pitchFamily="2" charset="-122"/>
                      </a:endParaRPr>
                    </a:p>
                  </a:txBody>
                  <a:tcPr marL="51423" marR="51423" marT="0" marB="0" anchor="ctr">
                    <a:lnL>
                      <a:noFill/>
                    </a:lnL>
                    <a:lnR>
                      <a:noFill/>
                    </a:lnR>
                    <a:lnT w="19050">
                      <a:solidFill>
                        <a:srgbClr val="584E61"/>
                      </a:solidFill>
                      <a:prstDash val="solid"/>
                    </a:lnT>
                    <a:lnB>
                      <a:noFill/>
                    </a:lnB>
                    <a:solidFill>
                      <a:srgbClr val="FFFFFF"/>
                    </a:solidFill>
                  </a:tcPr>
                </a:tc>
              </a:tr>
              <a:tr h="252000">
                <a:tc>
                  <a:txBody>
                    <a:bodyPr/>
                    <a:lstStyle/>
                    <a:p>
                      <a:pPr algn="ctr">
                        <a:spcAft>
                          <a:spcPts val="0"/>
                        </a:spcAft>
                      </a:pPr>
                      <a:r>
                        <a:rPr lang="en-US" sz="1100" kern="0" dirty="0">
                          <a:solidFill>
                            <a:srgbClr val="584E61"/>
                          </a:solidFill>
                          <a:effectLst/>
                        </a:rPr>
                        <a:t>0001</a:t>
                      </a:r>
                      <a:endParaRPr lang="en-US" sz="1100" kern="0" dirty="0">
                        <a:solidFill>
                          <a:srgbClr val="584E61"/>
                        </a:solidFill>
                        <a:effectLst/>
                        <a:latin typeface="Times New Roman" panose="02020503050405090304"/>
                        <a:ea typeface="宋体" pitchFamily="2" charset="-122"/>
                      </a:endParaRPr>
                    </a:p>
                  </a:txBody>
                  <a:tcPr marL="51423" marR="51423" marT="0" marB="0" anchor="ctr">
                    <a:lnL>
                      <a:noFill/>
                    </a:lnL>
                    <a:lnR>
                      <a:noFill/>
                    </a:lnR>
                    <a:lnT>
                      <a:noFill/>
                    </a:lnT>
                    <a:lnB>
                      <a:noFill/>
                    </a:lnB>
                    <a:solidFill>
                      <a:srgbClr val="F0EFF2"/>
                    </a:solidFill>
                  </a:tcPr>
                </a:tc>
                <a:tc>
                  <a:txBody>
                    <a:bodyPr/>
                    <a:lstStyle/>
                    <a:p>
                      <a:pPr algn="ctr">
                        <a:spcAft>
                          <a:spcPts val="0"/>
                        </a:spcAft>
                      </a:pPr>
                      <a:r>
                        <a:rPr lang="en-US" sz="1100" kern="100" dirty="0">
                          <a:solidFill>
                            <a:srgbClr val="584E61"/>
                          </a:solidFill>
                          <a:effectLst/>
                        </a:rPr>
                        <a:t>1</a:t>
                      </a:r>
                      <a:endParaRPr lang="en-US" sz="1100" kern="100" dirty="0">
                        <a:solidFill>
                          <a:srgbClr val="584E61"/>
                        </a:solidFill>
                        <a:effectLst/>
                        <a:latin typeface="Times New Roman" panose="02020503050405090304"/>
                        <a:ea typeface="宋体" pitchFamily="2" charset="-122"/>
                      </a:endParaRPr>
                    </a:p>
                  </a:txBody>
                  <a:tcPr marL="51423" marR="51423" marT="0" marB="0" anchor="ctr">
                    <a:lnL>
                      <a:noFill/>
                    </a:lnL>
                    <a:lnR>
                      <a:noFill/>
                    </a:lnR>
                    <a:lnT>
                      <a:noFill/>
                    </a:lnT>
                    <a:lnB>
                      <a:noFill/>
                    </a:lnB>
                    <a:solidFill>
                      <a:srgbClr val="F0EFF2"/>
                    </a:solidFill>
                  </a:tcPr>
                </a:tc>
                <a:tc>
                  <a:txBody>
                    <a:bodyPr/>
                    <a:lstStyle/>
                    <a:p>
                      <a:endParaRPr lang="zh-CN" sz="1100">
                        <a:solidFill>
                          <a:srgbClr val="584E61"/>
                        </a:solidFill>
                        <a:effectLst/>
                        <a:latin typeface="Times New Roman" panose="02020503050405090304"/>
                      </a:endParaRPr>
                    </a:p>
                  </a:txBody>
                  <a:tcPr marL="51423" marR="51423" marT="0" marB="0" anchor="ctr">
                    <a:lnL>
                      <a:noFill/>
                    </a:lnL>
                    <a:lnR>
                      <a:noFill/>
                    </a:lnR>
                    <a:lnT>
                      <a:noFill/>
                    </a:lnT>
                    <a:lnB>
                      <a:noFill/>
                    </a:lnB>
                    <a:solidFill>
                      <a:srgbClr val="F0EFF2"/>
                    </a:solidFill>
                  </a:tcPr>
                </a:tc>
                <a:tc>
                  <a:txBody>
                    <a:bodyPr/>
                    <a:lstStyle/>
                    <a:p>
                      <a:pPr algn="ctr">
                        <a:spcAft>
                          <a:spcPts val="0"/>
                        </a:spcAft>
                      </a:pPr>
                      <a:r>
                        <a:rPr lang="en-US" sz="1100" kern="0" dirty="0">
                          <a:solidFill>
                            <a:srgbClr val="584E61"/>
                          </a:solidFill>
                          <a:effectLst/>
                        </a:rPr>
                        <a:t>1001</a:t>
                      </a:r>
                      <a:endParaRPr lang="en-US" sz="1100" kern="0" dirty="0">
                        <a:solidFill>
                          <a:srgbClr val="584E61"/>
                        </a:solidFill>
                        <a:effectLst/>
                        <a:latin typeface="Times New Roman" panose="02020503050405090304"/>
                        <a:ea typeface="宋体" pitchFamily="2" charset="-122"/>
                      </a:endParaRPr>
                    </a:p>
                  </a:txBody>
                  <a:tcPr marL="51423" marR="51423" marT="0" marB="0" anchor="ctr">
                    <a:lnL>
                      <a:noFill/>
                    </a:lnL>
                    <a:lnR>
                      <a:noFill/>
                    </a:lnR>
                    <a:lnT>
                      <a:noFill/>
                    </a:lnT>
                    <a:lnB>
                      <a:noFill/>
                    </a:lnB>
                    <a:solidFill>
                      <a:srgbClr val="F0EFF2"/>
                    </a:solidFill>
                  </a:tcPr>
                </a:tc>
                <a:tc>
                  <a:txBody>
                    <a:bodyPr/>
                    <a:lstStyle/>
                    <a:p>
                      <a:pPr algn="ctr">
                        <a:spcAft>
                          <a:spcPts val="0"/>
                        </a:spcAft>
                      </a:pPr>
                      <a:r>
                        <a:rPr lang="en-US" sz="1100" kern="0" dirty="0">
                          <a:solidFill>
                            <a:srgbClr val="584E61"/>
                          </a:solidFill>
                          <a:effectLst/>
                        </a:rPr>
                        <a:t>9</a:t>
                      </a:r>
                      <a:endParaRPr lang="en-US" sz="1100" kern="0" dirty="0">
                        <a:solidFill>
                          <a:srgbClr val="584E61"/>
                        </a:solidFill>
                        <a:effectLst/>
                        <a:latin typeface="Times New Roman" panose="02020503050405090304"/>
                        <a:ea typeface="宋体" pitchFamily="2" charset="-122"/>
                      </a:endParaRPr>
                    </a:p>
                  </a:txBody>
                  <a:tcPr marL="51423" marR="51423" marT="0" marB="0" anchor="ctr">
                    <a:lnL>
                      <a:noFill/>
                    </a:lnL>
                    <a:lnR>
                      <a:noFill/>
                    </a:lnR>
                    <a:lnT>
                      <a:noFill/>
                    </a:lnT>
                    <a:lnB>
                      <a:noFill/>
                    </a:lnB>
                    <a:solidFill>
                      <a:srgbClr val="F0EFF2"/>
                    </a:solidFill>
                  </a:tcPr>
                </a:tc>
              </a:tr>
              <a:tr h="252000">
                <a:tc>
                  <a:txBody>
                    <a:bodyPr/>
                    <a:lstStyle/>
                    <a:p>
                      <a:pPr algn="ctr">
                        <a:spcAft>
                          <a:spcPts val="0"/>
                        </a:spcAft>
                      </a:pPr>
                      <a:r>
                        <a:rPr lang="en-US" sz="1100" kern="0" dirty="0">
                          <a:solidFill>
                            <a:srgbClr val="584E61"/>
                          </a:solidFill>
                          <a:effectLst/>
                        </a:rPr>
                        <a:t>0010</a:t>
                      </a:r>
                      <a:endParaRPr lang="en-US" sz="1100" kern="0" dirty="0">
                        <a:solidFill>
                          <a:srgbClr val="584E61"/>
                        </a:solidFill>
                        <a:effectLst/>
                        <a:latin typeface="Times New Roman" panose="02020503050405090304"/>
                        <a:ea typeface="宋体" pitchFamily="2" charset="-122"/>
                      </a:endParaRPr>
                    </a:p>
                  </a:txBody>
                  <a:tcPr marL="51423" marR="51423" marT="0" marB="0" anchor="ctr">
                    <a:lnL>
                      <a:noFill/>
                    </a:lnL>
                    <a:lnR>
                      <a:noFill/>
                    </a:lnR>
                    <a:lnT>
                      <a:noFill/>
                    </a:lnT>
                    <a:lnB>
                      <a:noFill/>
                    </a:lnB>
                    <a:solidFill>
                      <a:srgbClr val="FFFFFF"/>
                    </a:solidFill>
                  </a:tcPr>
                </a:tc>
                <a:tc>
                  <a:txBody>
                    <a:bodyPr/>
                    <a:lstStyle/>
                    <a:p>
                      <a:pPr algn="ctr">
                        <a:spcAft>
                          <a:spcPts val="0"/>
                        </a:spcAft>
                      </a:pPr>
                      <a:r>
                        <a:rPr lang="en-US" sz="1100" kern="0" dirty="0">
                          <a:solidFill>
                            <a:srgbClr val="584E61"/>
                          </a:solidFill>
                          <a:effectLst/>
                        </a:rPr>
                        <a:t>2</a:t>
                      </a:r>
                      <a:endParaRPr lang="en-US" sz="1100" kern="0" dirty="0">
                        <a:solidFill>
                          <a:srgbClr val="584E61"/>
                        </a:solidFill>
                        <a:effectLst/>
                        <a:latin typeface="Times New Roman" panose="02020503050405090304"/>
                        <a:ea typeface="宋体" pitchFamily="2" charset="-122"/>
                      </a:endParaRPr>
                    </a:p>
                  </a:txBody>
                  <a:tcPr marL="51423" marR="51423" marT="0" marB="0" anchor="ctr">
                    <a:lnL>
                      <a:noFill/>
                    </a:lnL>
                    <a:lnR>
                      <a:noFill/>
                    </a:lnR>
                    <a:lnT>
                      <a:noFill/>
                    </a:lnT>
                    <a:lnB>
                      <a:noFill/>
                    </a:lnB>
                    <a:solidFill>
                      <a:srgbClr val="FFFFFF"/>
                    </a:solidFill>
                  </a:tcPr>
                </a:tc>
                <a:tc>
                  <a:txBody>
                    <a:bodyPr/>
                    <a:lstStyle/>
                    <a:p>
                      <a:endParaRPr lang="zh-CN" sz="1100">
                        <a:solidFill>
                          <a:srgbClr val="584E61"/>
                        </a:solidFill>
                        <a:effectLst/>
                        <a:latin typeface="Times New Roman" panose="02020503050405090304"/>
                      </a:endParaRPr>
                    </a:p>
                  </a:txBody>
                  <a:tcPr marL="51423" marR="51423" marT="0" marB="0" anchor="ctr">
                    <a:lnL>
                      <a:noFill/>
                    </a:lnL>
                    <a:lnR>
                      <a:noFill/>
                    </a:lnR>
                    <a:lnT>
                      <a:noFill/>
                    </a:lnT>
                    <a:lnB>
                      <a:noFill/>
                    </a:lnB>
                    <a:solidFill>
                      <a:srgbClr val="FFFFFF"/>
                    </a:solidFill>
                  </a:tcPr>
                </a:tc>
                <a:tc>
                  <a:txBody>
                    <a:bodyPr/>
                    <a:lstStyle/>
                    <a:p>
                      <a:pPr algn="ctr">
                        <a:spcAft>
                          <a:spcPts val="0"/>
                        </a:spcAft>
                      </a:pPr>
                      <a:r>
                        <a:rPr lang="en-US" sz="1100" kern="0" dirty="0">
                          <a:solidFill>
                            <a:srgbClr val="584E61"/>
                          </a:solidFill>
                          <a:effectLst/>
                        </a:rPr>
                        <a:t>1010</a:t>
                      </a:r>
                      <a:endParaRPr lang="en-US" sz="1100" kern="0" dirty="0">
                        <a:solidFill>
                          <a:srgbClr val="584E61"/>
                        </a:solidFill>
                        <a:effectLst/>
                        <a:latin typeface="Times New Roman" panose="02020503050405090304"/>
                        <a:ea typeface="宋体" pitchFamily="2" charset="-122"/>
                      </a:endParaRPr>
                    </a:p>
                  </a:txBody>
                  <a:tcPr marL="51423" marR="51423" marT="0" marB="0" anchor="ctr">
                    <a:lnL>
                      <a:noFill/>
                    </a:lnL>
                    <a:lnR>
                      <a:noFill/>
                    </a:lnR>
                    <a:lnT>
                      <a:noFill/>
                    </a:lnT>
                    <a:lnB>
                      <a:noFill/>
                    </a:lnB>
                    <a:solidFill>
                      <a:srgbClr val="FFFFFF"/>
                    </a:solidFill>
                  </a:tcPr>
                </a:tc>
                <a:tc>
                  <a:txBody>
                    <a:bodyPr/>
                    <a:lstStyle/>
                    <a:p>
                      <a:pPr algn="ctr">
                        <a:spcAft>
                          <a:spcPts val="0"/>
                        </a:spcAft>
                      </a:pPr>
                      <a:r>
                        <a:rPr lang="en-US" sz="1100" kern="0" dirty="0">
                          <a:solidFill>
                            <a:srgbClr val="584E61"/>
                          </a:solidFill>
                          <a:effectLst/>
                        </a:rPr>
                        <a:t>A</a:t>
                      </a:r>
                      <a:endParaRPr lang="en-US" sz="1100" kern="0" dirty="0">
                        <a:solidFill>
                          <a:srgbClr val="584E61"/>
                        </a:solidFill>
                        <a:effectLst/>
                        <a:latin typeface="Times New Roman" panose="02020503050405090304"/>
                        <a:ea typeface="宋体" pitchFamily="2" charset="-122"/>
                      </a:endParaRPr>
                    </a:p>
                  </a:txBody>
                  <a:tcPr marL="51423" marR="51423" marT="0" marB="0" anchor="ctr">
                    <a:lnL>
                      <a:noFill/>
                    </a:lnL>
                    <a:lnR>
                      <a:noFill/>
                    </a:lnR>
                    <a:lnT>
                      <a:noFill/>
                    </a:lnT>
                    <a:lnB>
                      <a:noFill/>
                    </a:lnB>
                    <a:solidFill>
                      <a:srgbClr val="FFFFFF"/>
                    </a:solidFill>
                  </a:tcPr>
                </a:tc>
              </a:tr>
              <a:tr h="252000">
                <a:tc>
                  <a:txBody>
                    <a:bodyPr/>
                    <a:lstStyle/>
                    <a:p>
                      <a:pPr algn="ctr">
                        <a:spcAft>
                          <a:spcPts val="0"/>
                        </a:spcAft>
                      </a:pPr>
                      <a:r>
                        <a:rPr lang="en-US" sz="1100" kern="0" dirty="0">
                          <a:solidFill>
                            <a:srgbClr val="584E61"/>
                          </a:solidFill>
                          <a:effectLst/>
                        </a:rPr>
                        <a:t>0011</a:t>
                      </a:r>
                      <a:endParaRPr lang="en-US" sz="1100" kern="0" dirty="0">
                        <a:solidFill>
                          <a:srgbClr val="584E61"/>
                        </a:solidFill>
                        <a:effectLst/>
                        <a:latin typeface="Times New Roman" panose="02020503050405090304"/>
                        <a:ea typeface="宋体" pitchFamily="2" charset="-122"/>
                      </a:endParaRPr>
                    </a:p>
                  </a:txBody>
                  <a:tcPr marL="51423" marR="51423" marT="0" marB="0" anchor="ctr">
                    <a:lnL>
                      <a:noFill/>
                    </a:lnL>
                    <a:lnR>
                      <a:noFill/>
                    </a:lnR>
                    <a:lnT>
                      <a:noFill/>
                    </a:lnT>
                    <a:lnB>
                      <a:noFill/>
                    </a:lnB>
                    <a:solidFill>
                      <a:srgbClr val="F0EFF2"/>
                    </a:solidFill>
                  </a:tcPr>
                </a:tc>
                <a:tc>
                  <a:txBody>
                    <a:bodyPr/>
                    <a:lstStyle/>
                    <a:p>
                      <a:pPr algn="ctr">
                        <a:spcAft>
                          <a:spcPts val="0"/>
                        </a:spcAft>
                      </a:pPr>
                      <a:r>
                        <a:rPr lang="en-US" sz="1100" kern="0" dirty="0">
                          <a:solidFill>
                            <a:srgbClr val="584E61"/>
                          </a:solidFill>
                          <a:effectLst/>
                        </a:rPr>
                        <a:t>3</a:t>
                      </a:r>
                      <a:endParaRPr lang="en-US" sz="1100" kern="0" dirty="0">
                        <a:solidFill>
                          <a:srgbClr val="584E61"/>
                        </a:solidFill>
                        <a:effectLst/>
                        <a:latin typeface="Times New Roman" panose="02020503050405090304"/>
                        <a:ea typeface="宋体" pitchFamily="2" charset="-122"/>
                      </a:endParaRPr>
                    </a:p>
                  </a:txBody>
                  <a:tcPr marL="51423" marR="51423" marT="0" marB="0" anchor="ctr">
                    <a:lnL>
                      <a:noFill/>
                    </a:lnL>
                    <a:lnR>
                      <a:noFill/>
                    </a:lnR>
                    <a:lnT>
                      <a:noFill/>
                    </a:lnT>
                    <a:lnB>
                      <a:noFill/>
                    </a:lnB>
                    <a:solidFill>
                      <a:srgbClr val="F0EFF2"/>
                    </a:solidFill>
                  </a:tcPr>
                </a:tc>
                <a:tc>
                  <a:txBody>
                    <a:bodyPr/>
                    <a:lstStyle/>
                    <a:p>
                      <a:endParaRPr lang="zh-CN" sz="1100">
                        <a:solidFill>
                          <a:srgbClr val="584E61"/>
                        </a:solidFill>
                        <a:effectLst/>
                        <a:latin typeface="Times New Roman" panose="02020503050405090304"/>
                      </a:endParaRPr>
                    </a:p>
                  </a:txBody>
                  <a:tcPr marL="51423" marR="51423" marT="0" marB="0" anchor="ctr">
                    <a:lnL>
                      <a:noFill/>
                    </a:lnL>
                    <a:lnR>
                      <a:noFill/>
                    </a:lnR>
                    <a:lnT>
                      <a:noFill/>
                    </a:lnT>
                    <a:lnB>
                      <a:noFill/>
                    </a:lnB>
                    <a:solidFill>
                      <a:srgbClr val="F0EFF2"/>
                    </a:solidFill>
                  </a:tcPr>
                </a:tc>
                <a:tc>
                  <a:txBody>
                    <a:bodyPr/>
                    <a:lstStyle/>
                    <a:p>
                      <a:pPr algn="ctr">
                        <a:spcAft>
                          <a:spcPts val="0"/>
                        </a:spcAft>
                      </a:pPr>
                      <a:r>
                        <a:rPr lang="en-US" sz="1100" kern="0" dirty="0">
                          <a:solidFill>
                            <a:srgbClr val="584E61"/>
                          </a:solidFill>
                          <a:effectLst/>
                        </a:rPr>
                        <a:t>1011</a:t>
                      </a:r>
                      <a:endParaRPr lang="en-US" sz="1100" kern="0" dirty="0">
                        <a:solidFill>
                          <a:srgbClr val="584E61"/>
                        </a:solidFill>
                        <a:effectLst/>
                        <a:latin typeface="Times New Roman" panose="02020503050405090304"/>
                        <a:ea typeface="宋体" pitchFamily="2" charset="-122"/>
                      </a:endParaRPr>
                    </a:p>
                  </a:txBody>
                  <a:tcPr marL="51423" marR="51423" marT="0" marB="0" anchor="ctr">
                    <a:lnL>
                      <a:noFill/>
                    </a:lnL>
                    <a:lnR>
                      <a:noFill/>
                    </a:lnR>
                    <a:lnT>
                      <a:noFill/>
                    </a:lnT>
                    <a:lnB>
                      <a:noFill/>
                    </a:lnB>
                    <a:solidFill>
                      <a:srgbClr val="F0EFF2"/>
                    </a:solidFill>
                  </a:tcPr>
                </a:tc>
                <a:tc>
                  <a:txBody>
                    <a:bodyPr/>
                    <a:lstStyle/>
                    <a:p>
                      <a:pPr algn="ctr">
                        <a:spcAft>
                          <a:spcPts val="0"/>
                        </a:spcAft>
                      </a:pPr>
                      <a:r>
                        <a:rPr lang="en-US" sz="1100" kern="0" dirty="0">
                          <a:solidFill>
                            <a:srgbClr val="584E61"/>
                          </a:solidFill>
                          <a:effectLst/>
                        </a:rPr>
                        <a:t>B</a:t>
                      </a:r>
                      <a:endParaRPr lang="en-US" sz="1100" kern="0" dirty="0">
                        <a:solidFill>
                          <a:srgbClr val="584E61"/>
                        </a:solidFill>
                        <a:effectLst/>
                        <a:latin typeface="Times New Roman" panose="02020503050405090304"/>
                        <a:ea typeface="宋体" pitchFamily="2" charset="-122"/>
                      </a:endParaRPr>
                    </a:p>
                  </a:txBody>
                  <a:tcPr marL="51423" marR="51423" marT="0" marB="0" anchor="ctr">
                    <a:lnL>
                      <a:noFill/>
                    </a:lnL>
                    <a:lnR>
                      <a:noFill/>
                    </a:lnR>
                    <a:lnT>
                      <a:noFill/>
                    </a:lnT>
                    <a:lnB>
                      <a:noFill/>
                    </a:lnB>
                    <a:solidFill>
                      <a:srgbClr val="F0EFF2"/>
                    </a:solidFill>
                  </a:tcPr>
                </a:tc>
              </a:tr>
              <a:tr h="252000">
                <a:tc>
                  <a:txBody>
                    <a:bodyPr/>
                    <a:lstStyle/>
                    <a:p>
                      <a:pPr algn="ctr">
                        <a:spcAft>
                          <a:spcPts val="0"/>
                        </a:spcAft>
                      </a:pPr>
                      <a:r>
                        <a:rPr lang="en-US" sz="1100" kern="0" dirty="0">
                          <a:solidFill>
                            <a:srgbClr val="584E61"/>
                          </a:solidFill>
                          <a:effectLst/>
                        </a:rPr>
                        <a:t>0100</a:t>
                      </a:r>
                      <a:endParaRPr lang="en-US" sz="1100" kern="0" dirty="0">
                        <a:solidFill>
                          <a:srgbClr val="584E61"/>
                        </a:solidFill>
                        <a:effectLst/>
                        <a:latin typeface="Times New Roman" panose="02020503050405090304"/>
                        <a:ea typeface="宋体" pitchFamily="2" charset="-122"/>
                      </a:endParaRPr>
                    </a:p>
                  </a:txBody>
                  <a:tcPr marL="51423" marR="51423" marT="0" marB="0" anchor="ctr">
                    <a:lnL>
                      <a:noFill/>
                    </a:lnL>
                    <a:lnR>
                      <a:noFill/>
                    </a:lnR>
                    <a:lnT>
                      <a:noFill/>
                    </a:lnT>
                    <a:lnB>
                      <a:noFill/>
                    </a:lnB>
                    <a:solidFill>
                      <a:srgbClr val="FFFFFF"/>
                    </a:solidFill>
                  </a:tcPr>
                </a:tc>
                <a:tc>
                  <a:txBody>
                    <a:bodyPr/>
                    <a:lstStyle/>
                    <a:p>
                      <a:pPr algn="ctr">
                        <a:spcAft>
                          <a:spcPts val="0"/>
                        </a:spcAft>
                      </a:pPr>
                      <a:r>
                        <a:rPr lang="en-US" sz="1100" kern="0" dirty="0">
                          <a:solidFill>
                            <a:srgbClr val="584E61"/>
                          </a:solidFill>
                          <a:effectLst/>
                        </a:rPr>
                        <a:t>4</a:t>
                      </a:r>
                      <a:endParaRPr lang="en-US" sz="1100" kern="0" dirty="0">
                        <a:solidFill>
                          <a:srgbClr val="584E61"/>
                        </a:solidFill>
                        <a:effectLst/>
                        <a:latin typeface="Times New Roman" panose="02020503050405090304"/>
                        <a:ea typeface="宋体" pitchFamily="2" charset="-122"/>
                      </a:endParaRPr>
                    </a:p>
                  </a:txBody>
                  <a:tcPr marL="51423" marR="51423" marT="0" marB="0" anchor="ctr">
                    <a:lnL>
                      <a:noFill/>
                    </a:lnL>
                    <a:lnR>
                      <a:noFill/>
                    </a:lnR>
                    <a:lnT>
                      <a:noFill/>
                    </a:lnT>
                    <a:lnB>
                      <a:noFill/>
                    </a:lnB>
                    <a:solidFill>
                      <a:srgbClr val="FFFFFF"/>
                    </a:solidFill>
                  </a:tcPr>
                </a:tc>
                <a:tc>
                  <a:txBody>
                    <a:bodyPr/>
                    <a:lstStyle/>
                    <a:p>
                      <a:endParaRPr lang="zh-CN" sz="1100">
                        <a:solidFill>
                          <a:srgbClr val="584E61"/>
                        </a:solidFill>
                        <a:effectLst/>
                        <a:latin typeface="Times New Roman" panose="02020503050405090304"/>
                      </a:endParaRPr>
                    </a:p>
                  </a:txBody>
                  <a:tcPr marL="51423" marR="51423" marT="0" marB="0" anchor="ctr">
                    <a:lnL>
                      <a:noFill/>
                    </a:lnL>
                    <a:lnR>
                      <a:noFill/>
                    </a:lnR>
                    <a:lnT>
                      <a:noFill/>
                    </a:lnT>
                    <a:lnB>
                      <a:noFill/>
                    </a:lnB>
                    <a:solidFill>
                      <a:srgbClr val="FFFFFF"/>
                    </a:solidFill>
                  </a:tcPr>
                </a:tc>
                <a:tc>
                  <a:txBody>
                    <a:bodyPr/>
                    <a:lstStyle/>
                    <a:p>
                      <a:pPr algn="ctr">
                        <a:spcAft>
                          <a:spcPts val="0"/>
                        </a:spcAft>
                      </a:pPr>
                      <a:r>
                        <a:rPr lang="en-US" sz="1100" kern="0" dirty="0">
                          <a:solidFill>
                            <a:srgbClr val="584E61"/>
                          </a:solidFill>
                          <a:effectLst/>
                        </a:rPr>
                        <a:t>1100</a:t>
                      </a:r>
                      <a:endParaRPr lang="en-US" sz="1100" kern="0" dirty="0">
                        <a:solidFill>
                          <a:srgbClr val="584E61"/>
                        </a:solidFill>
                        <a:effectLst/>
                        <a:latin typeface="Times New Roman" panose="02020503050405090304"/>
                        <a:ea typeface="宋体" pitchFamily="2" charset="-122"/>
                      </a:endParaRPr>
                    </a:p>
                  </a:txBody>
                  <a:tcPr marL="51423" marR="51423" marT="0" marB="0" anchor="ctr">
                    <a:lnL>
                      <a:noFill/>
                    </a:lnL>
                    <a:lnR>
                      <a:noFill/>
                    </a:lnR>
                    <a:lnT>
                      <a:noFill/>
                    </a:lnT>
                    <a:lnB>
                      <a:noFill/>
                    </a:lnB>
                    <a:solidFill>
                      <a:srgbClr val="FFFFFF"/>
                    </a:solidFill>
                  </a:tcPr>
                </a:tc>
                <a:tc>
                  <a:txBody>
                    <a:bodyPr/>
                    <a:lstStyle/>
                    <a:p>
                      <a:pPr algn="ctr">
                        <a:spcAft>
                          <a:spcPts val="0"/>
                        </a:spcAft>
                      </a:pPr>
                      <a:r>
                        <a:rPr lang="en-US" sz="1100" kern="0" dirty="0">
                          <a:solidFill>
                            <a:srgbClr val="584E61"/>
                          </a:solidFill>
                          <a:effectLst/>
                        </a:rPr>
                        <a:t>C</a:t>
                      </a:r>
                      <a:endParaRPr lang="en-US" sz="1100" kern="0" dirty="0">
                        <a:solidFill>
                          <a:srgbClr val="584E61"/>
                        </a:solidFill>
                        <a:effectLst/>
                        <a:latin typeface="Times New Roman" panose="02020503050405090304"/>
                        <a:ea typeface="宋体" pitchFamily="2" charset="-122"/>
                      </a:endParaRPr>
                    </a:p>
                  </a:txBody>
                  <a:tcPr marL="51423" marR="51423" marT="0" marB="0" anchor="ctr">
                    <a:lnL>
                      <a:noFill/>
                    </a:lnL>
                    <a:lnR>
                      <a:noFill/>
                    </a:lnR>
                    <a:lnT>
                      <a:noFill/>
                    </a:lnT>
                    <a:lnB>
                      <a:noFill/>
                    </a:lnB>
                    <a:solidFill>
                      <a:srgbClr val="FFFFFF"/>
                    </a:solidFill>
                  </a:tcPr>
                </a:tc>
              </a:tr>
              <a:tr h="252000">
                <a:tc>
                  <a:txBody>
                    <a:bodyPr/>
                    <a:lstStyle/>
                    <a:p>
                      <a:pPr algn="ctr">
                        <a:spcAft>
                          <a:spcPts val="0"/>
                        </a:spcAft>
                      </a:pPr>
                      <a:r>
                        <a:rPr lang="en-US" sz="1100" kern="0" dirty="0">
                          <a:solidFill>
                            <a:srgbClr val="584E61"/>
                          </a:solidFill>
                          <a:effectLst/>
                        </a:rPr>
                        <a:t>0101</a:t>
                      </a:r>
                      <a:endParaRPr lang="en-US" sz="1100" kern="0" dirty="0">
                        <a:solidFill>
                          <a:srgbClr val="584E61"/>
                        </a:solidFill>
                        <a:effectLst/>
                        <a:latin typeface="Times New Roman" panose="02020503050405090304"/>
                        <a:ea typeface="宋体" pitchFamily="2" charset="-122"/>
                      </a:endParaRPr>
                    </a:p>
                  </a:txBody>
                  <a:tcPr marL="51423" marR="51423" marT="0" marB="0" anchor="ctr">
                    <a:lnL>
                      <a:noFill/>
                    </a:lnL>
                    <a:lnR>
                      <a:noFill/>
                    </a:lnR>
                    <a:lnT>
                      <a:noFill/>
                    </a:lnT>
                    <a:lnB>
                      <a:noFill/>
                    </a:lnB>
                    <a:solidFill>
                      <a:srgbClr val="F0EFF2"/>
                    </a:solidFill>
                  </a:tcPr>
                </a:tc>
                <a:tc>
                  <a:txBody>
                    <a:bodyPr/>
                    <a:lstStyle/>
                    <a:p>
                      <a:pPr algn="ctr">
                        <a:spcAft>
                          <a:spcPts val="0"/>
                        </a:spcAft>
                      </a:pPr>
                      <a:r>
                        <a:rPr lang="en-US" sz="1100" kern="0" dirty="0">
                          <a:solidFill>
                            <a:srgbClr val="584E61"/>
                          </a:solidFill>
                          <a:effectLst/>
                        </a:rPr>
                        <a:t>5</a:t>
                      </a:r>
                      <a:endParaRPr lang="en-US" sz="1100" kern="0" dirty="0">
                        <a:solidFill>
                          <a:srgbClr val="584E61"/>
                        </a:solidFill>
                        <a:effectLst/>
                        <a:latin typeface="Times New Roman" panose="02020503050405090304"/>
                        <a:ea typeface="宋体" pitchFamily="2" charset="-122"/>
                      </a:endParaRPr>
                    </a:p>
                  </a:txBody>
                  <a:tcPr marL="51423" marR="51423" marT="0" marB="0" anchor="ctr">
                    <a:lnL>
                      <a:noFill/>
                    </a:lnL>
                    <a:lnR>
                      <a:noFill/>
                    </a:lnR>
                    <a:lnT>
                      <a:noFill/>
                    </a:lnT>
                    <a:lnB>
                      <a:noFill/>
                    </a:lnB>
                    <a:solidFill>
                      <a:srgbClr val="F0EFF2"/>
                    </a:solidFill>
                  </a:tcPr>
                </a:tc>
                <a:tc>
                  <a:txBody>
                    <a:bodyPr/>
                    <a:lstStyle/>
                    <a:p>
                      <a:endParaRPr lang="zh-CN" sz="1100">
                        <a:solidFill>
                          <a:srgbClr val="584E61"/>
                        </a:solidFill>
                        <a:effectLst/>
                        <a:latin typeface="Times New Roman" panose="02020503050405090304"/>
                      </a:endParaRPr>
                    </a:p>
                  </a:txBody>
                  <a:tcPr marL="51423" marR="51423" marT="0" marB="0" anchor="ctr">
                    <a:lnL>
                      <a:noFill/>
                    </a:lnL>
                    <a:lnR>
                      <a:noFill/>
                    </a:lnR>
                    <a:lnT>
                      <a:noFill/>
                    </a:lnT>
                    <a:lnB>
                      <a:noFill/>
                    </a:lnB>
                    <a:solidFill>
                      <a:srgbClr val="F0EFF2"/>
                    </a:solidFill>
                  </a:tcPr>
                </a:tc>
                <a:tc>
                  <a:txBody>
                    <a:bodyPr/>
                    <a:lstStyle/>
                    <a:p>
                      <a:pPr algn="ctr">
                        <a:spcAft>
                          <a:spcPts val="0"/>
                        </a:spcAft>
                      </a:pPr>
                      <a:r>
                        <a:rPr lang="en-US" sz="1100" kern="0" dirty="0">
                          <a:solidFill>
                            <a:srgbClr val="584E61"/>
                          </a:solidFill>
                          <a:effectLst/>
                        </a:rPr>
                        <a:t>1101</a:t>
                      </a:r>
                      <a:endParaRPr lang="en-US" sz="1100" kern="0" dirty="0">
                        <a:solidFill>
                          <a:srgbClr val="584E61"/>
                        </a:solidFill>
                        <a:effectLst/>
                        <a:latin typeface="Times New Roman" panose="02020503050405090304"/>
                        <a:ea typeface="宋体" pitchFamily="2" charset="-122"/>
                      </a:endParaRPr>
                    </a:p>
                  </a:txBody>
                  <a:tcPr marL="51423" marR="51423" marT="0" marB="0" anchor="ctr">
                    <a:lnL>
                      <a:noFill/>
                    </a:lnL>
                    <a:lnR>
                      <a:noFill/>
                    </a:lnR>
                    <a:lnT>
                      <a:noFill/>
                    </a:lnT>
                    <a:lnB>
                      <a:noFill/>
                    </a:lnB>
                    <a:solidFill>
                      <a:srgbClr val="F0EFF2"/>
                    </a:solidFill>
                  </a:tcPr>
                </a:tc>
                <a:tc>
                  <a:txBody>
                    <a:bodyPr/>
                    <a:lstStyle/>
                    <a:p>
                      <a:pPr algn="ctr">
                        <a:spcAft>
                          <a:spcPts val="0"/>
                        </a:spcAft>
                      </a:pPr>
                      <a:r>
                        <a:rPr lang="en-US" sz="1100" kern="0" dirty="0">
                          <a:solidFill>
                            <a:srgbClr val="584E61"/>
                          </a:solidFill>
                          <a:effectLst/>
                        </a:rPr>
                        <a:t>D</a:t>
                      </a:r>
                      <a:endParaRPr lang="en-US" sz="1100" kern="0" dirty="0">
                        <a:solidFill>
                          <a:srgbClr val="584E61"/>
                        </a:solidFill>
                        <a:effectLst/>
                        <a:latin typeface="Times New Roman" panose="02020503050405090304"/>
                        <a:ea typeface="宋体" pitchFamily="2" charset="-122"/>
                      </a:endParaRPr>
                    </a:p>
                  </a:txBody>
                  <a:tcPr marL="51423" marR="51423" marT="0" marB="0" anchor="ctr">
                    <a:lnL>
                      <a:noFill/>
                    </a:lnL>
                    <a:lnR>
                      <a:noFill/>
                    </a:lnR>
                    <a:lnT>
                      <a:noFill/>
                    </a:lnT>
                    <a:lnB>
                      <a:noFill/>
                    </a:lnB>
                    <a:solidFill>
                      <a:srgbClr val="F0EFF2"/>
                    </a:solidFill>
                  </a:tcPr>
                </a:tc>
              </a:tr>
              <a:tr h="252000">
                <a:tc>
                  <a:txBody>
                    <a:bodyPr/>
                    <a:lstStyle/>
                    <a:p>
                      <a:pPr algn="ctr">
                        <a:spcAft>
                          <a:spcPts val="0"/>
                        </a:spcAft>
                      </a:pPr>
                      <a:r>
                        <a:rPr lang="en-US" sz="1100" kern="0" dirty="0">
                          <a:solidFill>
                            <a:srgbClr val="584E61"/>
                          </a:solidFill>
                          <a:effectLst/>
                        </a:rPr>
                        <a:t>0110</a:t>
                      </a:r>
                      <a:endParaRPr lang="en-US" sz="1100" kern="0" dirty="0">
                        <a:solidFill>
                          <a:srgbClr val="584E61"/>
                        </a:solidFill>
                        <a:effectLst/>
                        <a:latin typeface="Times New Roman" panose="02020503050405090304"/>
                        <a:ea typeface="宋体" pitchFamily="2" charset="-122"/>
                      </a:endParaRPr>
                    </a:p>
                  </a:txBody>
                  <a:tcPr marL="51423" marR="51423" marT="0" marB="0" anchor="ctr">
                    <a:lnL>
                      <a:noFill/>
                    </a:lnL>
                    <a:lnR>
                      <a:noFill/>
                    </a:lnR>
                    <a:lnT>
                      <a:noFill/>
                    </a:lnT>
                    <a:lnB>
                      <a:noFill/>
                    </a:lnB>
                    <a:solidFill>
                      <a:srgbClr val="FFFFFF"/>
                    </a:solidFill>
                  </a:tcPr>
                </a:tc>
                <a:tc>
                  <a:txBody>
                    <a:bodyPr/>
                    <a:lstStyle/>
                    <a:p>
                      <a:pPr algn="ctr">
                        <a:spcAft>
                          <a:spcPts val="0"/>
                        </a:spcAft>
                      </a:pPr>
                      <a:r>
                        <a:rPr lang="en-US" sz="1100" kern="0" dirty="0">
                          <a:solidFill>
                            <a:srgbClr val="584E61"/>
                          </a:solidFill>
                          <a:effectLst/>
                        </a:rPr>
                        <a:t>6</a:t>
                      </a:r>
                      <a:endParaRPr lang="en-US" sz="1100" kern="0" dirty="0">
                        <a:solidFill>
                          <a:srgbClr val="584E61"/>
                        </a:solidFill>
                        <a:effectLst/>
                        <a:latin typeface="Times New Roman" panose="02020503050405090304"/>
                        <a:ea typeface="宋体" pitchFamily="2" charset="-122"/>
                      </a:endParaRPr>
                    </a:p>
                  </a:txBody>
                  <a:tcPr marL="51423" marR="51423" marT="0" marB="0" anchor="ctr">
                    <a:lnL>
                      <a:noFill/>
                    </a:lnL>
                    <a:lnR>
                      <a:noFill/>
                    </a:lnR>
                    <a:lnT>
                      <a:noFill/>
                    </a:lnT>
                    <a:lnB>
                      <a:noFill/>
                    </a:lnB>
                    <a:solidFill>
                      <a:srgbClr val="FFFFFF"/>
                    </a:solidFill>
                  </a:tcPr>
                </a:tc>
                <a:tc>
                  <a:txBody>
                    <a:bodyPr/>
                    <a:lstStyle/>
                    <a:p>
                      <a:endParaRPr lang="zh-CN" sz="1100">
                        <a:solidFill>
                          <a:srgbClr val="584E61"/>
                        </a:solidFill>
                        <a:effectLst/>
                        <a:latin typeface="Times New Roman" panose="02020503050405090304"/>
                      </a:endParaRPr>
                    </a:p>
                  </a:txBody>
                  <a:tcPr marL="51423" marR="51423" marT="0" marB="0" anchor="ctr">
                    <a:lnL>
                      <a:noFill/>
                    </a:lnL>
                    <a:lnR>
                      <a:noFill/>
                    </a:lnR>
                    <a:lnT>
                      <a:noFill/>
                    </a:lnT>
                    <a:lnB>
                      <a:noFill/>
                    </a:lnB>
                    <a:solidFill>
                      <a:srgbClr val="FFFFFF"/>
                    </a:solidFill>
                  </a:tcPr>
                </a:tc>
                <a:tc>
                  <a:txBody>
                    <a:bodyPr/>
                    <a:lstStyle/>
                    <a:p>
                      <a:pPr algn="ctr">
                        <a:spcAft>
                          <a:spcPts val="0"/>
                        </a:spcAft>
                      </a:pPr>
                      <a:r>
                        <a:rPr lang="en-US" sz="1100" kern="0" dirty="0">
                          <a:solidFill>
                            <a:srgbClr val="584E61"/>
                          </a:solidFill>
                          <a:effectLst/>
                        </a:rPr>
                        <a:t>1110</a:t>
                      </a:r>
                      <a:endParaRPr lang="en-US" sz="1100" kern="0" dirty="0">
                        <a:solidFill>
                          <a:srgbClr val="584E61"/>
                        </a:solidFill>
                        <a:effectLst/>
                        <a:latin typeface="Times New Roman" panose="02020503050405090304"/>
                        <a:ea typeface="宋体" pitchFamily="2" charset="-122"/>
                      </a:endParaRPr>
                    </a:p>
                  </a:txBody>
                  <a:tcPr marL="51423" marR="51423" marT="0" marB="0" anchor="ctr">
                    <a:lnL>
                      <a:noFill/>
                    </a:lnL>
                    <a:lnR>
                      <a:noFill/>
                    </a:lnR>
                    <a:lnT>
                      <a:noFill/>
                    </a:lnT>
                    <a:lnB>
                      <a:noFill/>
                    </a:lnB>
                    <a:solidFill>
                      <a:srgbClr val="FFFFFF"/>
                    </a:solidFill>
                  </a:tcPr>
                </a:tc>
                <a:tc>
                  <a:txBody>
                    <a:bodyPr/>
                    <a:lstStyle/>
                    <a:p>
                      <a:pPr algn="ctr">
                        <a:spcAft>
                          <a:spcPts val="0"/>
                        </a:spcAft>
                      </a:pPr>
                      <a:r>
                        <a:rPr lang="en-US" sz="1100" kern="0" dirty="0">
                          <a:solidFill>
                            <a:srgbClr val="584E61"/>
                          </a:solidFill>
                          <a:effectLst/>
                        </a:rPr>
                        <a:t>E</a:t>
                      </a:r>
                      <a:endParaRPr lang="en-US" sz="1100" kern="0" dirty="0">
                        <a:solidFill>
                          <a:srgbClr val="584E61"/>
                        </a:solidFill>
                        <a:effectLst/>
                        <a:latin typeface="Times New Roman" panose="02020503050405090304"/>
                        <a:ea typeface="宋体" pitchFamily="2" charset="-122"/>
                      </a:endParaRPr>
                    </a:p>
                  </a:txBody>
                  <a:tcPr marL="51423" marR="51423" marT="0" marB="0" anchor="ctr">
                    <a:lnL>
                      <a:noFill/>
                    </a:lnL>
                    <a:lnR>
                      <a:noFill/>
                    </a:lnR>
                    <a:lnT>
                      <a:noFill/>
                    </a:lnT>
                    <a:lnB>
                      <a:noFill/>
                    </a:lnB>
                    <a:solidFill>
                      <a:srgbClr val="FFFFFF"/>
                    </a:solidFill>
                  </a:tcPr>
                </a:tc>
              </a:tr>
              <a:tr h="252000">
                <a:tc>
                  <a:txBody>
                    <a:bodyPr/>
                    <a:lstStyle/>
                    <a:p>
                      <a:pPr algn="ctr">
                        <a:spcAft>
                          <a:spcPts val="0"/>
                        </a:spcAft>
                      </a:pPr>
                      <a:r>
                        <a:rPr lang="en-US" sz="1100" kern="0" dirty="0">
                          <a:solidFill>
                            <a:srgbClr val="584E61"/>
                          </a:solidFill>
                          <a:effectLst/>
                        </a:rPr>
                        <a:t>0111</a:t>
                      </a:r>
                      <a:endParaRPr lang="en-US" sz="1100" kern="0" dirty="0">
                        <a:solidFill>
                          <a:srgbClr val="584E61"/>
                        </a:solidFill>
                        <a:effectLst/>
                        <a:latin typeface="Times New Roman" panose="02020503050405090304"/>
                        <a:ea typeface="宋体" pitchFamily="2" charset="-122"/>
                      </a:endParaRPr>
                    </a:p>
                  </a:txBody>
                  <a:tcPr marL="51423" marR="51423" marT="0" marB="0" anchor="ctr">
                    <a:lnL>
                      <a:noFill/>
                    </a:lnL>
                    <a:lnR>
                      <a:noFill/>
                    </a:lnR>
                    <a:lnT>
                      <a:noFill/>
                    </a:lnT>
                    <a:lnB w="19050">
                      <a:solidFill>
                        <a:srgbClr val="584E61"/>
                      </a:solidFill>
                      <a:prstDash val="solid"/>
                    </a:lnB>
                    <a:solidFill>
                      <a:srgbClr val="F0EFF2"/>
                    </a:solidFill>
                  </a:tcPr>
                </a:tc>
                <a:tc>
                  <a:txBody>
                    <a:bodyPr/>
                    <a:lstStyle/>
                    <a:p>
                      <a:pPr algn="ctr">
                        <a:spcAft>
                          <a:spcPts val="0"/>
                        </a:spcAft>
                      </a:pPr>
                      <a:r>
                        <a:rPr lang="en-US" sz="1100" kern="0" dirty="0">
                          <a:solidFill>
                            <a:srgbClr val="584E61"/>
                          </a:solidFill>
                          <a:effectLst/>
                        </a:rPr>
                        <a:t>7</a:t>
                      </a:r>
                      <a:endParaRPr lang="en-US" sz="1100" kern="0" dirty="0">
                        <a:solidFill>
                          <a:srgbClr val="584E61"/>
                        </a:solidFill>
                        <a:effectLst/>
                        <a:latin typeface="Times New Roman" panose="02020503050405090304"/>
                        <a:ea typeface="宋体" pitchFamily="2" charset="-122"/>
                      </a:endParaRPr>
                    </a:p>
                  </a:txBody>
                  <a:tcPr marL="51423" marR="51423" marT="0" marB="0" anchor="ctr">
                    <a:lnL>
                      <a:noFill/>
                    </a:lnL>
                    <a:lnR>
                      <a:noFill/>
                    </a:lnR>
                    <a:lnT>
                      <a:noFill/>
                    </a:lnT>
                    <a:lnB w="19050">
                      <a:solidFill>
                        <a:srgbClr val="584E61"/>
                      </a:solidFill>
                      <a:prstDash val="solid"/>
                    </a:lnB>
                    <a:solidFill>
                      <a:srgbClr val="F0EFF2"/>
                    </a:solidFill>
                  </a:tcPr>
                </a:tc>
                <a:tc>
                  <a:txBody>
                    <a:bodyPr/>
                    <a:lstStyle/>
                    <a:p>
                      <a:endParaRPr lang="zh-CN" sz="1100">
                        <a:solidFill>
                          <a:srgbClr val="584E61"/>
                        </a:solidFill>
                        <a:effectLst/>
                        <a:latin typeface="Times New Roman" panose="02020503050405090304"/>
                      </a:endParaRPr>
                    </a:p>
                  </a:txBody>
                  <a:tcPr marL="51423" marR="51423" marT="0" marB="0" anchor="ctr">
                    <a:lnL>
                      <a:noFill/>
                    </a:lnL>
                    <a:lnR>
                      <a:noFill/>
                    </a:lnR>
                    <a:lnT>
                      <a:noFill/>
                    </a:lnT>
                    <a:lnB w="19050">
                      <a:solidFill>
                        <a:srgbClr val="584E61"/>
                      </a:solidFill>
                      <a:prstDash val="solid"/>
                    </a:lnB>
                    <a:solidFill>
                      <a:srgbClr val="F0EFF2"/>
                    </a:solidFill>
                  </a:tcPr>
                </a:tc>
                <a:tc>
                  <a:txBody>
                    <a:bodyPr/>
                    <a:lstStyle/>
                    <a:p>
                      <a:pPr algn="ctr">
                        <a:spcAft>
                          <a:spcPts val="0"/>
                        </a:spcAft>
                      </a:pPr>
                      <a:r>
                        <a:rPr lang="en-US" sz="1100" kern="0" dirty="0">
                          <a:solidFill>
                            <a:srgbClr val="584E61"/>
                          </a:solidFill>
                          <a:effectLst/>
                        </a:rPr>
                        <a:t>1111</a:t>
                      </a:r>
                      <a:endParaRPr lang="en-US" sz="1100" kern="0" dirty="0">
                        <a:solidFill>
                          <a:srgbClr val="584E61"/>
                        </a:solidFill>
                        <a:effectLst/>
                        <a:latin typeface="Times New Roman" panose="02020503050405090304"/>
                        <a:ea typeface="宋体" pitchFamily="2" charset="-122"/>
                      </a:endParaRPr>
                    </a:p>
                  </a:txBody>
                  <a:tcPr marL="51423" marR="51423" marT="0" marB="0" anchor="ctr">
                    <a:lnL>
                      <a:noFill/>
                    </a:lnL>
                    <a:lnR>
                      <a:noFill/>
                    </a:lnR>
                    <a:lnT>
                      <a:noFill/>
                    </a:lnT>
                    <a:lnB w="19050">
                      <a:solidFill>
                        <a:srgbClr val="584E61"/>
                      </a:solidFill>
                      <a:prstDash val="solid"/>
                    </a:lnB>
                    <a:solidFill>
                      <a:srgbClr val="F0EFF2"/>
                    </a:solidFill>
                  </a:tcPr>
                </a:tc>
                <a:tc>
                  <a:txBody>
                    <a:bodyPr/>
                    <a:lstStyle/>
                    <a:p>
                      <a:pPr algn="ctr">
                        <a:spcAft>
                          <a:spcPts val="0"/>
                        </a:spcAft>
                      </a:pPr>
                      <a:r>
                        <a:rPr lang="en-US" sz="1100" kern="0" dirty="0">
                          <a:solidFill>
                            <a:srgbClr val="584E61"/>
                          </a:solidFill>
                          <a:effectLst/>
                        </a:rPr>
                        <a:t>F</a:t>
                      </a:r>
                      <a:endParaRPr lang="en-US" sz="1100" kern="0" dirty="0">
                        <a:solidFill>
                          <a:srgbClr val="584E61"/>
                        </a:solidFill>
                        <a:effectLst/>
                        <a:latin typeface="Times New Roman" panose="02020503050405090304"/>
                        <a:ea typeface="宋体" pitchFamily="2" charset="-122"/>
                      </a:endParaRPr>
                    </a:p>
                  </a:txBody>
                  <a:tcPr marL="51423" marR="51423" marT="0" marB="0" anchor="ctr">
                    <a:lnL>
                      <a:noFill/>
                    </a:lnL>
                    <a:lnR>
                      <a:noFill/>
                    </a:lnR>
                    <a:lnT>
                      <a:noFill/>
                    </a:lnT>
                    <a:lnB w="19050">
                      <a:solidFill>
                        <a:srgbClr val="584E61"/>
                      </a:solidFill>
                      <a:prstDash val="solid"/>
                    </a:lnB>
                    <a:solidFill>
                      <a:srgbClr val="F0EFF2"/>
                    </a:solidFill>
                  </a:tcPr>
                </a:tc>
              </a:tr>
            </a:tbl>
          </a:graphicData>
        </a:graphic>
      </p:graphicFrame>
      <p:sp>
        <p:nvSpPr>
          <p:cNvPr id="11" name="标题 1"/>
          <p:cNvSpPr>
            <a:spLocks noGrp="1"/>
          </p:cNvSpPr>
          <p:nvPr>
            <p:custDataLst>
              <p:tags r:id="rId2"/>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a:ln>
                  <a:noFill/>
                </a:ln>
                <a:solidFill>
                  <a:srgbClr val="782367"/>
                </a:solidFill>
                <a:effectLst/>
                <a:uLnTx/>
                <a:uFillTx/>
                <a:latin typeface="微软雅黑" panose="020B0503020204020204" charset="-122"/>
                <a:ea typeface="微软雅黑" panose="020B0503020204020204" charset="-122"/>
                <a:cs typeface="+mj-cs"/>
              </a:rPr>
              <a:t>2</a:t>
            </a: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.1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进制</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2" name="灯片编号占位符 1"/>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5" name="内容占位符 2"/>
          <p:cNvSpPr>
            <a:spLocks noGrp="1"/>
          </p:cNvSpPr>
          <p:nvPr>
            <p:ph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Tx/>
              <a:buChar char="•"/>
              <a:defRPr/>
            </a:pPr>
            <a:r>
              <a:rPr kumimoji="0" lang="en-US" altLang="zh-CN" b="1" i="0" u="none" strike="noStrike" kern="0" cap="none" spc="0" normalizeH="0" baseline="0" noProof="0" dirty="0" smtClean="0">
                <a:ln>
                  <a:noFill/>
                </a:ln>
                <a:solidFill>
                  <a:srgbClr val="009ED6"/>
                </a:solidFill>
                <a:effectLst/>
                <a:uLnTx/>
                <a:uFillTx/>
                <a:latin typeface="+mn-lt"/>
                <a:ea typeface="+mn-ea"/>
                <a:cs typeface="+mn-cs"/>
              </a:rPr>
              <a:t>2.1.4 </a:t>
            </a:r>
            <a:r>
              <a:rPr kumimoji="0" lang="zh-CN" altLang="en-US" b="1" i="0" u="none" strike="noStrike" kern="0" cap="none" spc="0" normalizeH="0" baseline="0" noProof="0" dirty="0" smtClean="0">
                <a:ln>
                  <a:noFill/>
                </a:ln>
                <a:solidFill>
                  <a:srgbClr val="009ED6"/>
                </a:solidFill>
                <a:effectLst/>
                <a:uLnTx/>
                <a:uFillTx/>
                <a:latin typeface="+mn-lt"/>
                <a:ea typeface="+mn-ea"/>
                <a:cs typeface="+mn-cs"/>
              </a:rPr>
              <a:t>  </a:t>
            </a:r>
            <a:r>
              <a:rPr kumimoji="0" lang="en-US" altLang="zh-CN" b="1" i="0" u="none" strike="noStrike" kern="0" cap="none" spc="0" normalizeH="0" baseline="0" noProof="0" dirty="0" smtClean="0">
                <a:ln>
                  <a:noFill/>
                </a:ln>
                <a:solidFill>
                  <a:srgbClr val="009ED6"/>
                </a:solidFill>
                <a:effectLst/>
                <a:uLnTx/>
                <a:uFillTx/>
                <a:latin typeface="+mn-lt"/>
                <a:ea typeface="+mn-ea"/>
                <a:cs typeface="+mn-cs"/>
              </a:rPr>
              <a:t>ASCII</a:t>
            </a:r>
            <a:r>
              <a:rPr kumimoji="0" lang="zh-CN" altLang="en-US" b="1" i="0" u="none" strike="noStrike" kern="0" cap="none" spc="0" normalizeH="0" baseline="0" noProof="0" dirty="0" smtClean="0">
                <a:ln>
                  <a:noFill/>
                </a:ln>
                <a:solidFill>
                  <a:srgbClr val="009ED6"/>
                </a:solidFill>
                <a:effectLst/>
                <a:uLnTx/>
                <a:uFillTx/>
                <a:latin typeface="+mn-lt"/>
                <a:ea typeface="+mn-ea"/>
                <a:cs typeface="+mn-cs"/>
              </a:rPr>
              <a:t>码表</a:t>
            </a:r>
            <a:endParaRPr kumimoji="0" lang="en-US" altLang="zh-CN" b="1" i="0" u="none" strike="noStrike" kern="0" cap="none" spc="0" normalizeH="0" baseline="0" noProof="0" dirty="0" smtClean="0">
              <a:ln>
                <a:noFill/>
              </a:ln>
              <a:solidFill>
                <a:srgbClr val="009ED6"/>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b="0" i="0" u="none" strike="noStrike" kern="0" cap="none" spc="0" normalizeH="0" baseline="0" noProof="0" dirty="0" smtClean="0">
                <a:ln>
                  <a:noFill/>
                </a:ln>
                <a:solidFill>
                  <a:schemeClr val="tx1"/>
                </a:solidFill>
                <a:effectLst/>
                <a:uLnTx/>
                <a:uFillTx/>
                <a:latin typeface="+mn-lt"/>
                <a:ea typeface="+mn-ea"/>
                <a:cs typeface="+mn-cs"/>
              </a:rPr>
              <a:t>我们</a:t>
            </a:r>
            <a:r>
              <a:rPr kumimoji="0" lang="zh-CN" altLang="zh-CN" b="0" i="0" u="none" strike="noStrike" kern="0" cap="none" spc="0" normalizeH="0" baseline="0" noProof="0" dirty="0">
                <a:ln>
                  <a:noFill/>
                </a:ln>
                <a:solidFill>
                  <a:schemeClr val="tx1"/>
                </a:solidFill>
                <a:effectLst/>
                <a:uLnTx/>
                <a:uFillTx/>
                <a:latin typeface="+mn-lt"/>
                <a:ea typeface="+mn-ea"/>
                <a:cs typeface="+mn-cs"/>
              </a:rPr>
              <a:t>通常使用的英文字符编码是</a:t>
            </a:r>
            <a:r>
              <a:rPr kumimoji="0" lang="en-US" altLang="zh-CN" b="0" i="0" u="none" strike="noStrike" kern="0" cap="none" spc="0" normalizeH="0" baseline="0" noProof="0" dirty="0">
                <a:ln>
                  <a:noFill/>
                </a:ln>
                <a:solidFill>
                  <a:schemeClr val="tx1"/>
                </a:solidFill>
                <a:effectLst/>
                <a:uLnTx/>
                <a:uFillTx/>
                <a:latin typeface="+mn-lt"/>
                <a:ea typeface="+mn-ea"/>
                <a:cs typeface="+mn-cs"/>
              </a:rPr>
              <a:t> ASCII</a:t>
            </a:r>
            <a:r>
              <a:rPr kumimoji="0" lang="zh-CN" altLang="zh-CN" b="0" i="0" u="none" strike="noStrike" kern="0" cap="none" spc="0" normalizeH="0" baseline="0" noProof="0" dirty="0">
                <a:ln>
                  <a:noFill/>
                </a:ln>
                <a:solidFill>
                  <a:schemeClr val="tx1"/>
                </a:solidFill>
                <a:effectLst/>
                <a:uLnTx/>
                <a:uFillTx/>
                <a:latin typeface="+mn-lt"/>
                <a:ea typeface="+mn-ea"/>
                <a:cs typeface="+mn-cs"/>
              </a:rPr>
              <a:t>（</a:t>
            </a:r>
            <a:r>
              <a:rPr kumimoji="0" lang="en-US" altLang="zh-CN" b="0" i="0" u="none" strike="noStrike" kern="0" cap="none" spc="0" normalizeH="0" baseline="0" noProof="0" dirty="0">
                <a:ln>
                  <a:noFill/>
                </a:ln>
                <a:solidFill>
                  <a:schemeClr val="tx1"/>
                </a:solidFill>
                <a:effectLst/>
                <a:uLnTx/>
                <a:uFillTx/>
                <a:latin typeface="+mn-lt"/>
                <a:ea typeface="+mn-ea"/>
                <a:cs typeface="+mn-cs"/>
              </a:rPr>
              <a:t>American Standard Code for Information Interchange </a:t>
            </a:r>
            <a:r>
              <a:rPr kumimoji="0" lang="zh-CN" altLang="zh-CN" b="0" i="0" u="none" strike="noStrike" kern="0" cap="none" spc="0" normalizeH="0" baseline="0" noProof="0" dirty="0">
                <a:ln>
                  <a:noFill/>
                </a:ln>
                <a:solidFill>
                  <a:schemeClr val="tx1"/>
                </a:solidFill>
                <a:effectLst/>
                <a:uLnTx/>
                <a:uFillTx/>
                <a:latin typeface="+mn-lt"/>
                <a:ea typeface="+mn-ea"/>
                <a:cs typeface="+mn-cs"/>
              </a:rPr>
              <a:t>美国信息交换标准编码）。</a:t>
            </a:r>
            <a:r>
              <a:rPr kumimoji="0" lang="en-US" altLang="zh-CN" b="0" i="0" u="none" strike="noStrike" kern="0" cap="none" spc="0" normalizeH="0" baseline="0" noProof="0" dirty="0">
                <a:ln>
                  <a:noFill/>
                </a:ln>
                <a:solidFill>
                  <a:schemeClr val="tx1"/>
                </a:solidFill>
                <a:effectLst/>
                <a:uLnTx/>
                <a:uFillTx/>
                <a:latin typeface="+mn-lt"/>
                <a:ea typeface="+mn-ea"/>
                <a:cs typeface="+mn-cs"/>
              </a:rPr>
              <a:t>ASCII</a:t>
            </a:r>
            <a:r>
              <a:rPr kumimoji="0" lang="zh-CN" altLang="zh-CN" b="0" i="0" u="none" strike="noStrike" kern="0" cap="none" spc="0" normalizeH="0" baseline="0" noProof="0" dirty="0">
                <a:ln>
                  <a:noFill/>
                </a:ln>
                <a:solidFill>
                  <a:schemeClr val="tx1"/>
                </a:solidFill>
                <a:effectLst/>
                <a:uLnTx/>
                <a:uFillTx/>
                <a:latin typeface="+mn-lt"/>
                <a:ea typeface="+mn-ea"/>
                <a:cs typeface="+mn-cs"/>
              </a:rPr>
              <a:t>编码是一个标准，其内容规定了把英文字母、数字、标点、字符转换成计算机能识别的二进制数的</a:t>
            </a:r>
            <a:r>
              <a:rPr kumimoji="0" lang="zh-CN" altLang="zh-CN" b="0" i="0" u="none" strike="noStrike" kern="0" cap="none" spc="0" normalizeH="0" baseline="0" noProof="0" dirty="0" smtClean="0">
                <a:ln>
                  <a:noFill/>
                </a:ln>
                <a:solidFill>
                  <a:schemeClr val="tx1"/>
                </a:solidFill>
                <a:effectLst/>
                <a:uLnTx/>
                <a:uFillTx/>
                <a:latin typeface="+mn-lt"/>
                <a:ea typeface="+mn-ea"/>
                <a:cs typeface="+mn-cs"/>
              </a:rPr>
              <a:t>规则</a:t>
            </a:r>
            <a:r>
              <a:rPr kumimoji="0" lang="zh-CN" altLang="en-US" b="0" i="0" u="none" strike="noStrike" kern="0" cap="none" spc="0" normalizeH="0" baseline="0" noProof="0" dirty="0" smtClean="0">
                <a:ln>
                  <a:noFill/>
                </a:ln>
                <a:solidFill>
                  <a:schemeClr val="tx1"/>
                </a:solidFill>
                <a:effectLst/>
                <a:uLnTx/>
                <a:uFillTx/>
                <a:latin typeface="+mn-lt"/>
                <a:ea typeface="+mn-ea"/>
                <a:cs typeface="+mn-cs"/>
              </a:rPr>
              <a:t>，</a:t>
            </a:r>
            <a:r>
              <a:rPr kumimoji="0" lang="zh-CN" altLang="zh-CN" b="0" i="0" u="none" strike="noStrike" kern="0" cap="none" spc="0" normalizeH="0" baseline="0" noProof="0" dirty="0">
                <a:ln>
                  <a:noFill/>
                </a:ln>
                <a:solidFill>
                  <a:schemeClr val="tx1"/>
                </a:solidFill>
                <a:effectLst/>
                <a:uLnTx/>
                <a:uFillTx/>
                <a:latin typeface="+mn-lt"/>
                <a:ea typeface="+mn-ea"/>
                <a:cs typeface="+mn-cs"/>
              </a:rPr>
              <a:t>下表为</a:t>
            </a:r>
            <a:r>
              <a:rPr kumimoji="0" lang="en-US" altLang="zh-CN" b="0" i="0" u="none" strike="noStrike" kern="0" cap="none" spc="0" normalizeH="0" baseline="0" noProof="0" dirty="0">
                <a:ln>
                  <a:noFill/>
                </a:ln>
                <a:solidFill>
                  <a:schemeClr val="tx1"/>
                </a:solidFill>
                <a:effectLst/>
                <a:uLnTx/>
                <a:uFillTx/>
                <a:latin typeface="+mn-lt"/>
                <a:ea typeface="+mn-ea"/>
                <a:cs typeface="+mn-cs"/>
              </a:rPr>
              <a:t>ASCII</a:t>
            </a:r>
            <a:r>
              <a:rPr kumimoji="0" lang="zh-CN" altLang="zh-CN" b="0" i="0" u="none" strike="noStrike" kern="0" cap="none" spc="0" normalizeH="0" baseline="0" noProof="0" dirty="0">
                <a:ln>
                  <a:noFill/>
                </a:ln>
                <a:solidFill>
                  <a:schemeClr val="tx1"/>
                </a:solidFill>
                <a:effectLst/>
                <a:uLnTx/>
                <a:uFillTx/>
                <a:latin typeface="+mn-lt"/>
                <a:ea typeface="+mn-ea"/>
                <a:cs typeface="+mn-cs"/>
              </a:rPr>
              <a:t>码表的可打印字符部分（</a:t>
            </a:r>
            <a:r>
              <a:rPr kumimoji="0" lang="en-US" altLang="zh-CN" b="0" i="0" u="none" strike="noStrike" kern="0" cap="none" spc="0" normalizeH="0" baseline="0" noProof="0" dirty="0">
                <a:ln>
                  <a:noFill/>
                </a:ln>
                <a:solidFill>
                  <a:schemeClr val="tx1"/>
                </a:solidFill>
                <a:effectLst/>
                <a:uLnTx/>
                <a:uFillTx/>
                <a:latin typeface="+mn-lt"/>
                <a:ea typeface="+mn-ea"/>
                <a:cs typeface="+mn-cs"/>
              </a:rPr>
              <a:t>0 ~ 127</a:t>
            </a:r>
            <a:r>
              <a:rPr kumimoji="0" lang="zh-CN" altLang="zh-CN" b="0" i="0" u="none" strike="noStrike" kern="0" cap="none" spc="0" normalizeH="0" baseline="0" noProof="0" dirty="0">
                <a:ln>
                  <a:noFill/>
                </a:ln>
                <a:solidFill>
                  <a:schemeClr val="tx1"/>
                </a:solidFill>
                <a:effectLst/>
                <a:uLnTx/>
                <a:uFillTx/>
                <a:latin typeface="+mn-lt"/>
                <a:ea typeface="+mn-ea"/>
                <a:cs typeface="+mn-cs"/>
              </a:rPr>
              <a:t>），供大家查阅使用，如表</a:t>
            </a:r>
            <a:r>
              <a:rPr kumimoji="0" lang="en-US" altLang="zh-CN" b="0" i="0" u="none" strike="noStrike" kern="0" cap="none" spc="0" normalizeH="0" baseline="0" noProof="0" dirty="0" smtClean="0">
                <a:ln>
                  <a:noFill/>
                </a:ln>
                <a:solidFill>
                  <a:schemeClr val="tx1"/>
                </a:solidFill>
                <a:effectLst/>
                <a:uLnTx/>
                <a:uFillTx/>
                <a:latin typeface="+mn-lt"/>
                <a:ea typeface="+mn-ea"/>
                <a:cs typeface="+mn-cs"/>
              </a:rPr>
              <a:t>2-6</a:t>
            </a:r>
            <a:r>
              <a:rPr kumimoji="0" lang="zh-CN" altLang="zh-CN" b="0" i="0" u="none" strike="noStrike" kern="0" cap="none" spc="0" normalizeH="0" baseline="0" noProof="0" dirty="0" smtClean="0">
                <a:ln>
                  <a:noFill/>
                </a:ln>
                <a:solidFill>
                  <a:schemeClr val="tx1"/>
                </a:solidFill>
                <a:effectLst/>
                <a:uLnTx/>
                <a:uFillTx/>
                <a:latin typeface="+mn-lt"/>
                <a:ea typeface="+mn-ea"/>
                <a:cs typeface="+mn-cs"/>
              </a:rPr>
              <a:t>所示</a:t>
            </a:r>
            <a:r>
              <a:rPr kumimoji="0" lang="zh-CN" altLang="en-US"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b="1" i="0" u="none" strike="noStrike" kern="0" cap="none" spc="0" normalizeH="0" baseline="0" noProof="0" dirty="0">
              <a:ln>
                <a:noFill/>
              </a:ln>
              <a:solidFill>
                <a:srgbClr val="009ED6"/>
              </a:solidFill>
              <a:effectLst/>
              <a:uLnTx/>
              <a:uFillTx/>
              <a:latin typeface="+mn-lt"/>
              <a:ea typeface="+mn-ea"/>
              <a:cs typeface="+mn-cs"/>
            </a:endParaRPr>
          </a:p>
        </p:txBody>
      </p:sp>
      <p:sp>
        <p:nvSpPr>
          <p:cNvPr id="11" name="标题 1"/>
          <p:cNvSpPr>
            <a:spLocks noGrp="1"/>
          </p:cNvSpPr>
          <p:nvPr>
            <p:custDataLst>
              <p:tags r:id="rId1"/>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a:ln>
                  <a:noFill/>
                </a:ln>
                <a:solidFill>
                  <a:srgbClr val="782367"/>
                </a:solidFill>
                <a:effectLst/>
                <a:uLnTx/>
                <a:uFillTx/>
                <a:latin typeface="微软雅黑" panose="020B0503020204020204" charset="-122"/>
                <a:ea typeface="微软雅黑" panose="020B0503020204020204" charset="-122"/>
                <a:cs typeface="+mj-cs"/>
              </a:rPr>
              <a:t>2</a:t>
            </a: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.1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进制</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2" name="灯片编号占位符 1"/>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表格 2"/>
          <p:cNvGraphicFramePr>
            <a:graphicFrameLocks noGrp="1"/>
          </p:cNvGraphicFramePr>
          <p:nvPr>
            <p:custDataLst>
              <p:tags r:id="rId1"/>
            </p:custDataLst>
          </p:nvPr>
        </p:nvGraphicFramePr>
        <p:xfrm>
          <a:off x="540068" y="758587"/>
          <a:ext cx="8064000" cy="4284000"/>
        </p:xfrm>
        <a:graphic>
          <a:graphicData uri="http://schemas.openxmlformats.org/drawingml/2006/table">
            <a:tbl>
              <a:tblPr firstRow="1" firstCol="1" bandRow="1"/>
              <a:tblGrid>
                <a:gridCol w="1008000"/>
                <a:gridCol w="1008000"/>
                <a:gridCol w="1008000"/>
                <a:gridCol w="1008000"/>
                <a:gridCol w="1008000"/>
                <a:gridCol w="1008000"/>
                <a:gridCol w="1008000"/>
                <a:gridCol w="1008000"/>
              </a:tblGrid>
              <a:tr h="252000">
                <a:tc>
                  <a:txBody>
                    <a:bodyPr/>
                    <a:lstStyle/>
                    <a:p>
                      <a:pPr indent="266700" algn="ctr">
                        <a:spcAft>
                          <a:spcPts val="0"/>
                        </a:spcAft>
                      </a:pPr>
                      <a:r>
                        <a:rPr lang="zh-CN" sz="1100" kern="100" dirty="0">
                          <a:solidFill>
                            <a:srgbClr val="584E61"/>
                          </a:solidFill>
                          <a:effectLst/>
                        </a:rPr>
                        <a:t>代码</a:t>
                      </a:r>
                      <a:endParaRPr lang="zh-CN"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indent="266700" algn="ctr">
                        <a:spcAft>
                          <a:spcPts val="0"/>
                        </a:spcAft>
                      </a:pPr>
                      <a:r>
                        <a:rPr lang="zh-CN" sz="1100" kern="100">
                          <a:solidFill>
                            <a:srgbClr val="584E61"/>
                          </a:solidFill>
                          <a:effectLst/>
                        </a:rPr>
                        <a:t>字符</a:t>
                      </a:r>
                      <a:endParaRPr lang="zh-CN"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indent="266700" algn="ctr">
                        <a:spcAft>
                          <a:spcPts val="0"/>
                        </a:spcAft>
                      </a:pPr>
                      <a:r>
                        <a:rPr lang="zh-CN" sz="1100" kern="100">
                          <a:solidFill>
                            <a:srgbClr val="584E61"/>
                          </a:solidFill>
                          <a:effectLst/>
                        </a:rPr>
                        <a:t>代码</a:t>
                      </a:r>
                      <a:endParaRPr lang="zh-CN"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indent="266700" algn="ctr">
                        <a:spcAft>
                          <a:spcPts val="0"/>
                        </a:spcAft>
                      </a:pPr>
                      <a:r>
                        <a:rPr lang="zh-CN" sz="1100" kern="100" dirty="0">
                          <a:solidFill>
                            <a:srgbClr val="584E61"/>
                          </a:solidFill>
                          <a:effectLst/>
                        </a:rPr>
                        <a:t>字符</a:t>
                      </a:r>
                      <a:endParaRPr lang="zh-CN"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indent="266700" algn="ctr">
                        <a:spcAft>
                          <a:spcPts val="0"/>
                        </a:spcAft>
                      </a:pPr>
                      <a:r>
                        <a:rPr lang="zh-CN" sz="1100" kern="100">
                          <a:solidFill>
                            <a:srgbClr val="584E61"/>
                          </a:solidFill>
                          <a:effectLst/>
                        </a:rPr>
                        <a:t>代码</a:t>
                      </a:r>
                      <a:endParaRPr lang="zh-CN"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indent="266700" algn="ctr">
                        <a:spcAft>
                          <a:spcPts val="0"/>
                        </a:spcAft>
                      </a:pPr>
                      <a:r>
                        <a:rPr lang="zh-CN" sz="1100" kern="100">
                          <a:solidFill>
                            <a:srgbClr val="584E61"/>
                          </a:solidFill>
                          <a:effectLst/>
                        </a:rPr>
                        <a:t>字符</a:t>
                      </a:r>
                      <a:endParaRPr lang="zh-CN"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indent="266700" algn="ctr">
                        <a:spcAft>
                          <a:spcPts val="0"/>
                        </a:spcAft>
                      </a:pPr>
                      <a:r>
                        <a:rPr lang="zh-CN" sz="1100" kern="100">
                          <a:solidFill>
                            <a:srgbClr val="584E61"/>
                          </a:solidFill>
                          <a:effectLst/>
                        </a:rPr>
                        <a:t>代码</a:t>
                      </a:r>
                      <a:endParaRPr lang="zh-CN"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indent="266700" algn="ctr">
                        <a:spcAft>
                          <a:spcPts val="0"/>
                        </a:spcAft>
                      </a:pPr>
                      <a:r>
                        <a:rPr lang="zh-CN" sz="1100" kern="100">
                          <a:solidFill>
                            <a:srgbClr val="584E61"/>
                          </a:solidFill>
                          <a:effectLst/>
                        </a:rPr>
                        <a:t>字符</a:t>
                      </a:r>
                      <a:endParaRPr lang="zh-CN"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w="19050">
                      <a:solidFill>
                        <a:srgbClr val="584E61"/>
                      </a:solidFill>
                      <a:prstDash val="solid"/>
                    </a:lnT>
                    <a:lnB w="19050">
                      <a:solidFill>
                        <a:srgbClr val="584E61"/>
                      </a:solidFill>
                      <a:prstDash val="solid"/>
                    </a:lnB>
                    <a:solidFill>
                      <a:srgbClr val="FFFFFF"/>
                    </a:solidFill>
                  </a:tcPr>
                </a:tc>
              </a:tr>
              <a:tr h="252000">
                <a:tc>
                  <a:txBody>
                    <a:bodyPr/>
                    <a:lstStyle/>
                    <a:p>
                      <a:pPr indent="266700" algn="ctr">
                        <a:spcAft>
                          <a:spcPts val="0"/>
                        </a:spcAft>
                      </a:pPr>
                      <a:r>
                        <a:rPr lang="en-US" sz="1100" kern="100" dirty="0">
                          <a:solidFill>
                            <a:srgbClr val="584E61"/>
                          </a:solidFill>
                          <a:effectLst/>
                        </a:rPr>
                        <a:t>0</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w="19050">
                      <a:solidFill>
                        <a:srgbClr val="584E61"/>
                      </a:solidFill>
                      <a:prstDash val="solid"/>
                    </a:lnT>
                    <a:lnB>
                      <a:noFill/>
                    </a:lnB>
                    <a:solidFill>
                      <a:srgbClr val="FFFFFF"/>
                    </a:solidFill>
                  </a:tcPr>
                </a:tc>
                <a:tc>
                  <a:txBody>
                    <a:bodyPr/>
                    <a:lstStyle/>
                    <a:p>
                      <a:endParaRPr lang="zh-CN" sz="1100">
                        <a:solidFill>
                          <a:srgbClr val="584E61"/>
                        </a:solidFill>
                        <a:effectLst/>
                        <a:latin typeface="Times New Roman" panose="02020503050405090304"/>
                      </a:endParaRPr>
                    </a:p>
                  </a:txBody>
                  <a:tcPr marL="36156" marR="36156" marT="0" marB="0" anchor="ctr" anchorCtr="0">
                    <a:lnL>
                      <a:noFill/>
                    </a:lnL>
                    <a:lnR>
                      <a:noFill/>
                    </a:lnR>
                    <a:lnT w="19050">
                      <a:solidFill>
                        <a:srgbClr val="584E61"/>
                      </a:solidFill>
                      <a:prstDash val="solid"/>
                    </a:lnT>
                    <a:lnB>
                      <a:noFill/>
                    </a:lnB>
                    <a:solidFill>
                      <a:srgbClr val="FFFFFF"/>
                    </a:solidFill>
                  </a:tcPr>
                </a:tc>
                <a:tc>
                  <a:txBody>
                    <a:bodyPr/>
                    <a:lstStyle/>
                    <a:p>
                      <a:pPr indent="266700" algn="ctr">
                        <a:spcAft>
                          <a:spcPts val="0"/>
                        </a:spcAft>
                      </a:pPr>
                      <a:r>
                        <a:rPr lang="en-US" sz="1100" kern="100" dirty="0">
                          <a:solidFill>
                            <a:srgbClr val="584E61"/>
                          </a:solidFill>
                          <a:effectLst/>
                        </a:rPr>
                        <a:t>32</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w="19050">
                      <a:solidFill>
                        <a:srgbClr val="584E61"/>
                      </a:solidFill>
                      <a:prstDash val="solid"/>
                    </a:lnT>
                    <a:lnB>
                      <a:noFill/>
                    </a:lnB>
                    <a:solidFill>
                      <a:srgbClr val="FFFFFF"/>
                    </a:solidFill>
                  </a:tcPr>
                </a:tc>
                <a:tc>
                  <a:txBody>
                    <a:bodyPr/>
                    <a:lstStyle/>
                    <a:p>
                      <a:pPr indent="266700" algn="ctr">
                        <a:spcAft>
                          <a:spcPts val="0"/>
                        </a:spcAft>
                      </a:pPr>
                      <a:r>
                        <a:rPr lang="en-US" sz="1100" kern="100" dirty="0">
                          <a:solidFill>
                            <a:srgbClr val="584E61"/>
                          </a:solidFill>
                          <a:effectLst/>
                        </a:rPr>
                        <a:t>[</a:t>
                      </a:r>
                      <a:r>
                        <a:rPr lang="zh-CN" sz="1100" kern="100">
                          <a:solidFill>
                            <a:srgbClr val="584E61"/>
                          </a:solidFill>
                          <a:effectLst/>
                        </a:rPr>
                        <a:t>空格</a:t>
                      </a:r>
                      <a:r>
                        <a:rPr lang="en-US" sz="1100" kern="100" dirty="0">
                          <a:solidFill>
                            <a:srgbClr val="584E61"/>
                          </a:solidFill>
                          <a:effectLst/>
                        </a:rPr>
                        <a:t>]</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w="19050">
                      <a:solidFill>
                        <a:srgbClr val="584E61"/>
                      </a:solidFill>
                      <a:prstDash val="solid"/>
                    </a:lnT>
                    <a:lnB>
                      <a:noFill/>
                    </a:lnB>
                    <a:solidFill>
                      <a:srgbClr val="FFFFFF"/>
                    </a:solidFill>
                  </a:tcPr>
                </a:tc>
                <a:tc>
                  <a:txBody>
                    <a:bodyPr/>
                    <a:lstStyle/>
                    <a:p>
                      <a:pPr indent="266700" algn="ctr">
                        <a:spcAft>
                          <a:spcPts val="0"/>
                        </a:spcAft>
                      </a:pPr>
                      <a:r>
                        <a:rPr lang="en-US" sz="1100" kern="100" dirty="0">
                          <a:solidFill>
                            <a:srgbClr val="584E61"/>
                          </a:solidFill>
                          <a:effectLst/>
                        </a:rPr>
                        <a:t>64</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w="19050">
                      <a:solidFill>
                        <a:srgbClr val="584E61"/>
                      </a:solidFill>
                      <a:prstDash val="solid"/>
                    </a:lnT>
                    <a:lnB>
                      <a:noFill/>
                    </a:lnB>
                    <a:solidFill>
                      <a:srgbClr val="FFFFFF"/>
                    </a:solidFill>
                  </a:tcPr>
                </a:tc>
                <a:tc>
                  <a:txBody>
                    <a:bodyPr/>
                    <a:lstStyle/>
                    <a:p>
                      <a:pPr indent="266700" algn="ctr">
                        <a:spcAft>
                          <a:spcPts val="0"/>
                        </a:spcAft>
                      </a:pPr>
                      <a:r>
                        <a:rPr lang="en-US" sz="1100" kern="100" dirty="0">
                          <a:solidFill>
                            <a:srgbClr val="584E61"/>
                          </a:solidFill>
                          <a:effectLst/>
                        </a:rPr>
                        <a:t>@</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w="19050">
                      <a:solidFill>
                        <a:srgbClr val="584E61"/>
                      </a:solidFill>
                      <a:prstDash val="solid"/>
                    </a:lnT>
                    <a:lnB>
                      <a:noFill/>
                    </a:lnB>
                    <a:solidFill>
                      <a:srgbClr val="FFFFFF"/>
                    </a:solidFill>
                  </a:tcPr>
                </a:tc>
                <a:tc>
                  <a:txBody>
                    <a:bodyPr/>
                    <a:lstStyle/>
                    <a:p>
                      <a:pPr indent="266700" algn="ctr">
                        <a:spcAft>
                          <a:spcPts val="0"/>
                        </a:spcAft>
                      </a:pPr>
                      <a:r>
                        <a:rPr lang="en-US" sz="1100" kern="100" dirty="0">
                          <a:solidFill>
                            <a:srgbClr val="584E61"/>
                          </a:solidFill>
                          <a:effectLst/>
                        </a:rPr>
                        <a:t>96</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w="19050">
                      <a:solidFill>
                        <a:srgbClr val="584E61"/>
                      </a:solidFill>
                      <a:prstDash val="solid"/>
                    </a:lnT>
                    <a:lnB>
                      <a:noFill/>
                    </a:lnB>
                    <a:solidFill>
                      <a:srgbClr val="FFFFFF"/>
                    </a:solidFill>
                  </a:tcPr>
                </a:tc>
                <a:tc>
                  <a:txBody>
                    <a:bodyPr/>
                    <a:lstStyle/>
                    <a:p>
                      <a:pPr indent="266700" algn="ctr">
                        <a:spcAft>
                          <a:spcPts val="0"/>
                        </a:spcAft>
                      </a:pPr>
                      <a:r>
                        <a:rPr lang="en-US" sz="1100" kern="100" dirty="0">
                          <a:solidFill>
                            <a:srgbClr val="584E61"/>
                          </a:solidFill>
                          <a:effectLst/>
                        </a:rPr>
                        <a:t>`</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w="19050">
                      <a:solidFill>
                        <a:srgbClr val="584E61"/>
                      </a:solidFill>
                      <a:prstDash val="solid"/>
                    </a:lnT>
                    <a:lnB>
                      <a:noFill/>
                    </a:lnB>
                    <a:solidFill>
                      <a:srgbClr val="FFFFFF"/>
                    </a:solidFill>
                  </a:tcPr>
                </a:tc>
              </a:tr>
              <a:tr h="252000">
                <a:tc>
                  <a:txBody>
                    <a:bodyPr/>
                    <a:lstStyle/>
                    <a:p>
                      <a:pPr indent="266700" algn="ctr">
                        <a:spcAft>
                          <a:spcPts val="0"/>
                        </a:spcAft>
                      </a:pPr>
                      <a:r>
                        <a:rPr lang="en-US" sz="1100" kern="100" dirty="0">
                          <a:solidFill>
                            <a:srgbClr val="584E61"/>
                          </a:solidFill>
                          <a:effectLst/>
                        </a:rPr>
                        <a:t>1</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endParaRPr lang="zh-CN" sz="1100">
                        <a:solidFill>
                          <a:srgbClr val="584E61"/>
                        </a:solidFill>
                        <a:effectLst/>
                        <a:latin typeface="Times New Roman" panose="02020503050405090304"/>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33</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65</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A</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97</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a</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r>
              <a:tr h="252000">
                <a:tc>
                  <a:txBody>
                    <a:bodyPr/>
                    <a:lstStyle/>
                    <a:p>
                      <a:pPr indent="266700" algn="ctr">
                        <a:spcAft>
                          <a:spcPts val="0"/>
                        </a:spcAft>
                      </a:pPr>
                      <a:r>
                        <a:rPr lang="en-US" sz="1100" kern="100" dirty="0">
                          <a:solidFill>
                            <a:srgbClr val="584E61"/>
                          </a:solidFill>
                          <a:effectLst/>
                        </a:rPr>
                        <a:t>2</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endParaRPr lang="zh-CN" sz="1100">
                        <a:solidFill>
                          <a:srgbClr val="584E61"/>
                        </a:solidFill>
                        <a:effectLst/>
                        <a:latin typeface="Times New Roman" panose="02020503050405090304"/>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34</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66</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B</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98</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b</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r>
              <a:tr h="252000">
                <a:tc>
                  <a:txBody>
                    <a:bodyPr/>
                    <a:lstStyle/>
                    <a:p>
                      <a:pPr indent="266700" algn="ctr">
                        <a:spcAft>
                          <a:spcPts val="0"/>
                        </a:spcAft>
                      </a:pPr>
                      <a:r>
                        <a:rPr lang="en-US" sz="1100" kern="100" dirty="0">
                          <a:solidFill>
                            <a:srgbClr val="584E61"/>
                          </a:solidFill>
                          <a:effectLst/>
                        </a:rPr>
                        <a:t>3</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endParaRPr lang="zh-CN" sz="1100">
                        <a:solidFill>
                          <a:srgbClr val="584E61"/>
                        </a:solidFill>
                        <a:effectLst/>
                        <a:latin typeface="Times New Roman" panose="02020503050405090304"/>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35</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67</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C</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99</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c</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r>
              <a:tr h="252000">
                <a:tc>
                  <a:txBody>
                    <a:bodyPr/>
                    <a:lstStyle/>
                    <a:p>
                      <a:pPr indent="266700" algn="ctr">
                        <a:spcAft>
                          <a:spcPts val="0"/>
                        </a:spcAft>
                      </a:pPr>
                      <a:r>
                        <a:rPr lang="en-US" sz="1100" kern="100" dirty="0">
                          <a:solidFill>
                            <a:srgbClr val="584E61"/>
                          </a:solidFill>
                          <a:effectLst/>
                        </a:rPr>
                        <a:t>4</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endParaRPr lang="zh-CN" sz="1100">
                        <a:solidFill>
                          <a:srgbClr val="584E61"/>
                        </a:solidFill>
                        <a:effectLst/>
                        <a:latin typeface="Times New Roman" panose="02020503050405090304"/>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36</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68</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D</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100</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d</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r>
              <a:tr h="252000">
                <a:tc>
                  <a:txBody>
                    <a:bodyPr/>
                    <a:lstStyle/>
                    <a:p>
                      <a:pPr indent="266700" algn="ctr">
                        <a:spcAft>
                          <a:spcPts val="0"/>
                        </a:spcAft>
                      </a:pPr>
                      <a:r>
                        <a:rPr lang="en-US" sz="1100" kern="100" dirty="0">
                          <a:solidFill>
                            <a:srgbClr val="584E61"/>
                          </a:solidFill>
                          <a:effectLst/>
                        </a:rPr>
                        <a:t>5</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endParaRPr lang="zh-CN" sz="1100">
                        <a:solidFill>
                          <a:srgbClr val="584E61"/>
                        </a:solidFill>
                        <a:effectLst/>
                        <a:latin typeface="Times New Roman" panose="02020503050405090304"/>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37</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69</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E</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101</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e</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r>
              <a:tr h="252000">
                <a:tc>
                  <a:txBody>
                    <a:bodyPr/>
                    <a:lstStyle/>
                    <a:p>
                      <a:pPr indent="266700" algn="ctr">
                        <a:spcAft>
                          <a:spcPts val="0"/>
                        </a:spcAft>
                      </a:pPr>
                      <a:r>
                        <a:rPr lang="en-US" sz="1100" kern="100" dirty="0">
                          <a:solidFill>
                            <a:srgbClr val="584E61"/>
                          </a:solidFill>
                          <a:effectLst/>
                        </a:rPr>
                        <a:t>6</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endParaRPr lang="zh-CN" sz="1100">
                        <a:solidFill>
                          <a:srgbClr val="584E61"/>
                        </a:solidFill>
                        <a:effectLst/>
                        <a:latin typeface="Times New Roman" panose="02020503050405090304"/>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38</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&amp;</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70</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F</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102</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f</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r>
              <a:tr h="252000">
                <a:tc>
                  <a:txBody>
                    <a:bodyPr/>
                    <a:lstStyle/>
                    <a:p>
                      <a:pPr indent="266700" algn="ctr">
                        <a:spcAft>
                          <a:spcPts val="0"/>
                        </a:spcAft>
                      </a:pPr>
                      <a:r>
                        <a:rPr lang="en-US" sz="1100" kern="100" dirty="0">
                          <a:solidFill>
                            <a:srgbClr val="584E61"/>
                          </a:solidFill>
                          <a:effectLst/>
                        </a:rPr>
                        <a:t>7</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endParaRPr lang="zh-CN" sz="1100">
                        <a:solidFill>
                          <a:srgbClr val="584E61"/>
                        </a:solidFill>
                        <a:effectLst/>
                        <a:latin typeface="Times New Roman" panose="02020503050405090304"/>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39</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71</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G</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103</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g</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r>
              <a:tr h="252000">
                <a:tc>
                  <a:txBody>
                    <a:bodyPr/>
                    <a:lstStyle/>
                    <a:p>
                      <a:pPr indent="266700" algn="ctr">
                        <a:spcAft>
                          <a:spcPts val="0"/>
                        </a:spcAft>
                      </a:pPr>
                      <a:r>
                        <a:rPr lang="en-US" sz="1100" kern="100" dirty="0">
                          <a:solidFill>
                            <a:srgbClr val="584E61"/>
                          </a:solidFill>
                          <a:effectLst/>
                        </a:rPr>
                        <a:t>8</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zh-CN" sz="1100" kern="100">
                          <a:solidFill>
                            <a:srgbClr val="584E61"/>
                          </a:solidFill>
                          <a:effectLst/>
                        </a:rPr>
                        <a:t>退格</a:t>
                      </a:r>
                      <a:endParaRPr lang="zh-CN"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40</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72</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H</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104</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h</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r>
              <a:tr h="252000">
                <a:tc>
                  <a:txBody>
                    <a:bodyPr/>
                    <a:lstStyle/>
                    <a:p>
                      <a:pPr indent="266700" algn="ctr">
                        <a:spcAft>
                          <a:spcPts val="0"/>
                        </a:spcAft>
                      </a:pPr>
                      <a:r>
                        <a:rPr lang="en-US" sz="1100" kern="100" dirty="0">
                          <a:solidFill>
                            <a:srgbClr val="584E61"/>
                          </a:solidFill>
                          <a:effectLst/>
                        </a:rPr>
                        <a:t>9</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Tab</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41</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73</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I</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a:solidFill>
                            <a:srgbClr val="584E61"/>
                          </a:solidFill>
                          <a:effectLst/>
                        </a:rPr>
                        <a:t>105</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dirty="0" err="1">
                          <a:solidFill>
                            <a:srgbClr val="584E61"/>
                          </a:solidFill>
                          <a:effectLst/>
                        </a:rPr>
                        <a:t>i</a:t>
                      </a:r>
                      <a:endParaRPr lang="en-US" sz="1100" kern="100" dirty="0" err="1">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r>
              <a:tr h="252000">
                <a:tc>
                  <a:txBody>
                    <a:bodyPr/>
                    <a:lstStyle/>
                    <a:p>
                      <a:pPr indent="266700" algn="ctr">
                        <a:spcAft>
                          <a:spcPts val="0"/>
                        </a:spcAft>
                      </a:pPr>
                      <a:r>
                        <a:rPr lang="en-US" sz="1100" kern="100">
                          <a:solidFill>
                            <a:srgbClr val="584E61"/>
                          </a:solidFill>
                          <a:effectLst/>
                        </a:rPr>
                        <a:t>10</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zh-CN" sz="1100" kern="100">
                          <a:solidFill>
                            <a:srgbClr val="584E61"/>
                          </a:solidFill>
                          <a:effectLst/>
                        </a:rPr>
                        <a:t>换行</a:t>
                      </a:r>
                      <a:endParaRPr lang="zh-CN"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42</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74</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J</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106</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j</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r>
              <a:tr h="252000">
                <a:tc>
                  <a:txBody>
                    <a:bodyPr/>
                    <a:lstStyle/>
                    <a:p>
                      <a:pPr indent="266700" algn="ctr">
                        <a:spcAft>
                          <a:spcPts val="0"/>
                        </a:spcAft>
                      </a:pPr>
                      <a:r>
                        <a:rPr lang="en-US" sz="1100" kern="100">
                          <a:solidFill>
                            <a:srgbClr val="584E61"/>
                          </a:solidFill>
                          <a:effectLst/>
                        </a:rPr>
                        <a:t>11</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endParaRPr lang="zh-CN" sz="1100">
                        <a:solidFill>
                          <a:srgbClr val="584E61"/>
                        </a:solidFill>
                        <a:effectLst/>
                        <a:latin typeface="Times New Roman" panose="02020503050405090304"/>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43</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75</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K</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107</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k</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r>
              <a:tr h="252000">
                <a:tc>
                  <a:txBody>
                    <a:bodyPr/>
                    <a:lstStyle/>
                    <a:p>
                      <a:pPr indent="266700" algn="ctr">
                        <a:spcAft>
                          <a:spcPts val="0"/>
                        </a:spcAft>
                      </a:pPr>
                      <a:r>
                        <a:rPr lang="en-US" sz="1100" kern="100">
                          <a:solidFill>
                            <a:srgbClr val="584E61"/>
                          </a:solidFill>
                          <a:effectLst/>
                        </a:rPr>
                        <a:t>12</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endParaRPr lang="zh-CN" sz="1100">
                        <a:solidFill>
                          <a:srgbClr val="584E61"/>
                        </a:solidFill>
                        <a:effectLst/>
                        <a:latin typeface="Times New Roman" panose="02020503050405090304"/>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44</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76</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L</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108</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l</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r>
              <a:tr h="252000">
                <a:tc>
                  <a:txBody>
                    <a:bodyPr/>
                    <a:lstStyle/>
                    <a:p>
                      <a:pPr indent="266700" algn="ctr">
                        <a:spcAft>
                          <a:spcPts val="0"/>
                        </a:spcAft>
                      </a:pPr>
                      <a:r>
                        <a:rPr lang="en-US" sz="1100" kern="100">
                          <a:solidFill>
                            <a:srgbClr val="584E61"/>
                          </a:solidFill>
                          <a:effectLst/>
                        </a:rPr>
                        <a:t>13</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zh-CN" sz="1100" kern="100">
                          <a:solidFill>
                            <a:srgbClr val="584E61"/>
                          </a:solidFill>
                          <a:effectLst/>
                        </a:rPr>
                        <a:t>回车</a:t>
                      </a:r>
                      <a:endParaRPr lang="zh-CN"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45</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77</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M</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109</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m</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r>
              <a:tr h="252000">
                <a:tc>
                  <a:txBody>
                    <a:bodyPr/>
                    <a:lstStyle/>
                    <a:p>
                      <a:pPr indent="266700" algn="ctr">
                        <a:spcAft>
                          <a:spcPts val="0"/>
                        </a:spcAft>
                      </a:pPr>
                      <a:r>
                        <a:rPr lang="en-US" sz="1100" kern="100">
                          <a:solidFill>
                            <a:srgbClr val="584E61"/>
                          </a:solidFill>
                          <a:effectLst/>
                        </a:rPr>
                        <a:t>14</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endParaRPr lang="zh-CN" sz="1100">
                        <a:solidFill>
                          <a:srgbClr val="584E61"/>
                        </a:solidFill>
                        <a:effectLst/>
                        <a:latin typeface="Times New Roman" panose="02020503050405090304"/>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46</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78</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N</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110</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n</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r>
              <a:tr h="252000">
                <a:tc>
                  <a:txBody>
                    <a:bodyPr/>
                    <a:lstStyle/>
                    <a:p>
                      <a:pPr indent="266700" algn="ctr">
                        <a:spcAft>
                          <a:spcPts val="0"/>
                        </a:spcAft>
                      </a:pPr>
                      <a:r>
                        <a:rPr lang="en-US" sz="1100" kern="100" dirty="0">
                          <a:solidFill>
                            <a:srgbClr val="584E61"/>
                          </a:solidFill>
                          <a:effectLst/>
                        </a:rPr>
                        <a:t>15</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w="19050">
                      <a:solidFill>
                        <a:srgbClr val="584E61"/>
                      </a:solidFill>
                      <a:prstDash val="solid"/>
                    </a:lnB>
                    <a:solidFill>
                      <a:srgbClr val="F0EFF2"/>
                    </a:solidFill>
                  </a:tcPr>
                </a:tc>
                <a:tc>
                  <a:txBody>
                    <a:bodyPr/>
                    <a:lstStyle/>
                    <a:p>
                      <a:endParaRPr lang="zh-CN" sz="1100">
                        <a:solidFill>
                          <a:srgbClr val="584E61"/>
                        </a:solidFill>
                        <a:effectLst/>
                        <a:latin typeface="Times New Roman" panose="02020503050405090304"/>
                      </a:endParaRPr>
                    </a:p>
                  </a:txBody>
                  <a:tcPr marL="36156" marR="36156" marT="0" marB="0" anchor="ctr" anchorCtr="0">
                    <a:lnL>
                      <a:noFill/>
                    </a:lnL>
                    <a:lnR>
                      <a:noFill/>
                    </a:lnR>
                    <a:lnT>
                      <a:noFill/>
                    </a:lnT>
                    <a:lnB w="19050">
                      <a:solidFill>
                        <a:srgbClr val="584E61"/>
                      </a:solidFill>
                      <a:prstDash val="solid"/>
                    </a:lnB>
                    <a:solidFill>
                      <a:srgbClr val="F0EFF2"/>
                    </a:solidFill>
                  </a:tcPr>
                </a:tc>
                <a:tc>
                  <a:txBody>
                    <a:bodyPr/>
                    <a:lstStyle/>
                    <a:p>
                      <a:pPr indent="266700" algn="ctr">
                        <a:spcAft>
                          <a:spcPts val="0"/>
                        </a:spcAft>
                      </a:pPr>
                      <a:r>
                        <a:rPr lang="en-US" sz="1100" kern="100">
                          <a:solidFill>
                            <a:srgbClr val="584E61"/>
                          </a:solidFill>
                          <a:effectLst/>
                        </a:rPr>
                        <a:t>47</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w="19050">
                      <a:solidFill>
                        <a:srgbClr val="584E61"/>
                      </a:solidFill>
                      <a:prstDash val="solid"/>
                    </a:lnB>
                    <a:solidFill>
                      <a:srgbClr val="F0EFF2"/>
                    </a:solidFill>
                  </a:tcPr>
                </a:tc>
                <a:tc>
                  <a:txBody>
                    <a:bodyPr/>
                    <a:lstStyle/>
                    <a:p>
                      <a:pPr indent="266700" algn="ctr">
                        <a:spcAft>
                          <a:spcPts val="0"/>
                        </a:spcAft>
                      </a:pPr>
                      <a:r>
                        <a:rPr lang="en-US" sz="1100" kern="100">
                          <a:solidFill>
                            <a:srgbClr val="584E61"/>
                          </a:solidFill>
                          <a:effectLst/>
                        </a:rPr>
                        <a:t>/</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w="19050">
                      <a:solidFill>
                        <a:srgbClr val="584E61"/>
                      </a:solidFill>
                      <a:prstDash val="solid"/>
                    </a:lnB>
                    <a:solidFill>
                      <a:srgbClr val="F0EFF2"/>
                    </a:solidFill>
                  </a:tcPr>
                </a:tc>
                <a:tc>
                  <a:txBody>
                    <a:bodyPr/>
                    <a:lstStyle/>
                    <a:p>
                      <a:pPr indent="266700" algn="ctr">
                        <a:spcAft>
                          <a:spcPts val="0"/>
                        </a:spcAft>
                      </a:pPr>
                      <a:r>
                        <a:rPr lang="en-US" sz="1100" kern="100">
                          <a:solidFill>
                            <a:srgbClr val="584E61"/>
                          </a:solidFill>
                          <a:effectLst/>
                        </a:rPr>
                        <a:t>79</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w="19050">
                      <a:solidFill>
                        <a:srgbClr val="584E61"/>
                      </a:solidFill>
                      <a:prstDash val="solid"/>
                    </a:lnB>
                    <a:solidFill>
                      <a:srgbClr val="F0EFF2"/>
                    </a:solidFill>
                  </a:tcPr>
                </a:tc>
                <a:tc>
                  <a:txBody>
                    <a:bodyPr/>
                    <a:lstStyle/>
                    <a:p>
                      <a:pPr indent="266700" algn="ctr">
                        <a:spcAft>
                          <a:spcPts val="0"/>
                        </a:spcAft>
                      </a:pPr>
                      <a:r>
                        <a:rPr lang="en-US" sz="1100" kern="100">
                          <a:solidFill>
                            <a:srgbClr val="584E61"/>
                          </a:solidFill>
                          <a:effectLst/>
                        </a:rPr>
                        <a:t>O</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w="19050">
                      <a:solidFill>
                        <a:srgbClr val="584E61"/>
                      </a:solidFill>
                      <a:prstDash val="solid"/>
                    </a:lnB>
                    <a:solidFill>
                      <a:srgbClr val="F0EFF2"/>
                    </a:solidFill>
                  </a:tcPr>
                </a:tc>
                <a:tc>
                  <a:txBody>
                    <a:bodyPr/>
                    <a:lstStyle/>
                    <a:p>
                      <a:pPr indent="266700" algn="ctr">
                        <a:spcAft>
                          <a:spcPts val="0"/>
                        </a:spcAft>
                      </a:pPr>
                      <a:r>
                        <a:rPr lang="en-US" sz="1100" kern="100">
                          <a:solidFill>
                            <a:srgbClr val="584E61"/>
                          </a:solidFill>
                          <a:effectLst/>
                        </a:rPr>
                        <a:t>111</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w="19050">
                      <a:solidFill>
                        <a:srgbClr val="584E61"/>
                      </a:solidFill>
                      <a:prstDash val="solid"/>
                    </a:lnB>
                    <a:solidFill>
                      <a:srgbClr val="F0EFF2"/>
                    </a:solidFill>
                  </a:tcPr>
                </a:tc>
                <a:tc>
                  <a:txBody>
                    <a:bodyPr/>
                    <a:lstStyle/>
                    <a:p>
                      <a:pPr indent="266700" algn="ctr">
                        <a:spcAft>
                          <a:spcPts val="0"/>
                        </a:spcAft>
                      </a:pPr>
                      <a:r>
                        <a:rPr lang="en-US" sz="1100" kern="100">
                          <a:solidFill>
                            <a:srgbClr val="584E61"/>
                          </a:solidFill>
                          <a:effectLst/>
                        </a:rPr>
                        <a:t>o</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w="19050">
                      <a:solidFill>
                        <a:srgbClr val="584E61"/>
                      </a:solidFill>
                      <a:prstDash val="solid"/>
                    </a:lnB>
                    <a:solidFill>
                      <a:srgbClr val="F0EFF2"/>
                    </a:solidFill>
                  </a:tcPr>
                </a:tc>
              </a:tr>
            </a:tbl>
          </a:graphicData>
        </a:graphic>
      </p:graphicFrame>
      <p:sp>
        <p:nvSpPr>
          <p:cNvPr id="11" name="标题 1"/>
          <p:cNvSpPr>
            <a:spLocks noGrp="1"/>
          </p:cNvSpPr>
          <p:nvPr>
            <p:custDataLst>
              <p:tags r:id="rId2"/>
            </p:custDataLst>
          </p:nvPr>
        </p:nvSpPr>
        <p:spPr>
          <a:xfrm>
            <a:off x="0" y="85725"/>
            <a:ext cx="5824855" cy="43878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a:ln>
                  <a:noFill/>
                </a:ln>
                <a:solidFill>
                  <a:srgbClr val="782367"/>
                </a:solidFill>
                <a:effectLst/>
                <a:uLnTx/>
                <a:uFillTx/>
                <a:latin typeface="微软雅黑" panose="020B0503020204020204" charset="-122"/>
                <a:ea typeface="微软雅黑" panose="020B0503020204020204" charset="-122"/>
                <a:cs typeface="+mj-cs"/>
              </a:rPr>
              <a:t>2</a:t>
            </a: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.1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进制</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2" name="灯片编号占位符 1"/>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表格 2"/>
          <p:cNvGraphicFramePr>
            <a:graphicFrameLocks noGrp="1"/>
          </p:cNvGraphicFramePr>
          <p:nvPr>
            <p:custDataLst>
              <p:tags r:id="rId1"/>
            </p:custDataLst>
          </p:nvPr>
        </p:nvGraphicFramePr>
        <p:xfrm>
          <a:off x="540000" y="759600"/>
          <a:ext cx="8064000" cy="8276495"/>
        </p:xfrm>
        <a:graphic>
          <a:graphicData uri="http://schemas.openxmlformats.org/drawingml/2006/table">
            <a:tbl>
              <a:tblPr firstRow="1" firstCol="1" bandRow="1"/>
              <a:tblGrid>
                <a:gridCol w="1008000"/>
                <a:gridCol w="1008000"/>
                <a:gridCol w="1008000"/>
                <a:gridCol w="1008000"/>
                <a:gridCol w="1008000"/>
                <a:gridCol w="1008000"/>
                <a:gridCol w="1008000"/>
                <a:gridCol w="1008000"/>
              </a:tblGrid>
              <a:tr h="252095">
                <a:tc>
                  <a:txBody>
                    <a:bodyPr/>
                    <a:lstStyle/>
                    <a:p>
                      <a:pPr indent="266700" algn="ctr">
                        <a:spcAft>
                          <a:spcPts val="0"/>
                        </a:spcAft>
                      </a:pPr>
                      <a:r>
                        <a:rPr lang="zh-CN" sz="1100" kern="100" dirty="0">
                          <a:solidFill>
                            <a:srgbClr val="584E61"/>
                          </a:solidFill>
                          <a:effectLst/>
                        </a:rPr>
                        <a:t>代码</a:t>
                      </a:r>
                      <a:endParaRPr lang="zh-CN"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indent="266700" algn="ctr">
                        <a:spcAft>
                          <a:spcPts val="0"/>
                        </a:spcAft>
                      </a:pPr>
                      <a:r>
                        <a:rPr lang="zh-CN" sz="1100" kern="100">
                          <a:solidFill>
                            <a:srgbClr val="584E61"/>
                          </a:solidFill>
                          <a:effectLst/>
                        </a:rPr>
                        <a:t>字符</a:t>
                      </a:r>
                      <a:endParaRPr lang="zh-CN"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indent="266700" algn="ctr">
                        <a:spcAft>
                          <a:spcPts val="0"/>
                        </a:spcAft>
                      </a:pPr>
                      <a:r>
                        <a:rPr lang="zh-CN" sz="1100" kern="100">
                          <a:solidFill>
                            <a:srgbClr val="584E61"/>
                          </a:solidFill>
                          <a:effectLst/>
                        </a:rPr>
                        <a:t>代码</a:t>
                      </a:r>
                      <a:endParaRPr lang="zh-CN"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indent="266700" algn="ctr">
                        <a:spcAft>
                          <a:spcPts val="0"/>
                        </a:spcAft>
                      </a:pPr>
                      <a:r>
                        <a:rPr lang="zh-CN" sz="1100" kern="100" dirty="0">
                          <a:solidFill>
                            <a:srgbClr val="584E61"/>
                          </a:solidFill>
                          <a:effectLst/>
                        </a:rPr>
                        <a:t>字符</a:t>
                      </a:r>
                      <a:endParaRPr lang="zh-CN"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indent="266700" algn="ctr">
                        <a:spcAft>
                          <a:spcPts val="0"/>
                        </a:spcAft>
                      </a:pPr>
                      <a:r>
                        <a:rPr lang="zh-CN" sz="1100" kern="100">
                          <a:solidFill>
                            <a:srgbClr val="584E61"/>
                          </a:solidFill>
                          <a:effectLst/>
                        </a:rPr>
                        <a:t>代码</a:t>
                      </a:r>
                      <a:endParaRPr lang="zh-CN"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indent="266700" algn="ctr">
                        <a:spcAft>
                          <a:spcPts val="0"/>
                        </a:spcAft>
                      </a:pPr>
                      <a:r>
                        <a:rPr lang="zh-CN" sz="1100" kern="100">
                          <a:solidFill>
                            <a:srgbClr val="584E61"/>
                          </a:solidFill>
                          <a:effectLst/>
                        </a:rPr>
                        <a:t>字符</a:t>
                      </a:r>
                      <a:endParaRPr lang="zh-CN"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indent="266700" algn="ctr">
                        <a:spcAft>
                          <a:spcPts val="0"/>
                        </a:spcAft>
                      </a:pPr>
                      <a:r>
                        <a:rPr lang="zh-CN" sz="1100" kern="100">
                          <a:solidFill>
                            <a:srgbClr val="584E61"/>
                          </a:solidFill>
                          <a:effectLst/>
                        </a:rPr>
                        <a:t>代码</a:t>
                      </a:r>
                      <a:endParaRPr lang="zh-CN"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indent="266700" algn="ctr">
                        <a:spcAft>
                          <a:spcPts val="0"/>
                        </a:spcAft>
                      </a:pPr>
                      <a:r>
                        <a:rPr lang="zh-CN" sz="1100" kern="100">
                          <a:solidFill>
                            <a:srgbClr val="584E61"/>
                          </a:solidFill>
                          <a:effectLst/>
                        </a:rPr>
                        <a:t>字符</a:t>
                      </a:r>
                      <a:endParaRPr lang="zh-CN"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w="19050">
                      <a:solidFill>
                        <a:srgbClr val="584E61"/>
                      </a:solidFill>
                      <a:prstDash val="solid"/>
                    </a:lnT>
                    <a:lnB w="19050">
                      <a:solidFill>
                        <a:srgbClr val="584E61"/>
                      </a:solidFill>
                      <a:prstDash val="solid"/>
                    </a:lnB>
                    <a:solidFill>
                      <a:srgbClr val="FFFFFF"/>
                    </a:solidFill>
                  </a:tcPr>
                </a:tc>
              </a:tr>
              <a:tr h="252000">
                <a:tc>
                  <a:txBody>
                    <a:bodyPr/>
                    <a:lstStyle/>
                    <a:p>
                      <a:pPr indent="266700" algn="ctr">
                        <a:spcAft>
                          <a:spcPts val="0"/>
                        </a:spcAft>
                      </a:pPr>
                      <a:r>
                        <a:rPr lang="en-US" sz="1100" kern="100">
                          <a:solidFill>
                            <a:srgbClr val="584E61"/>
                          </a:solidFill>
                          <a:effectLst/>
                        </a:rPr>
                        <a:t>16</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w="19050">
                      <a:solidFill>
                        <a:srgbClr val="584E61"/>
                      </a:solidFill>
                      <a:prstDash val="solid"/>
                    </a:lnT>
                    <a:lnB>
                      <a:noFill/>
                    </a:lnB>
                    <a:solidFill>
                      <a:srgbClr val="FFFFFF"/>
                    </a:solidFill>
                  </a:tcPr>
                </a:tc>
                <a:tc>
                  <a:txBody>
                    <a:bodyPr/>
                    <a:lstStyle/>
                    <a:p>
                      <a:endParaRPr lang="zh-CN" sz="1100">
                        <a:solidFill>
                          <a:srgbClr val="584E61"/>
                        </a:solidFill>
                        <a:effectLst/>
                        <a:latin typeface="Times New Roman" panose="02020503050405090304"/>
                      </a:endParaRPr>
                    </a:p>
                  </a:txBody>
                  <a:tcPr marL="36156" marR="36156" marT="0" marB="0" anchor="ctr" anchorCtr="0">
                    <a:lnL>
                      <a:noFill/>
                    </a:lnL>
                    <a:lnR>
                      <a:noFill/>
                    </a:lnR>
                    <a:lnT w="19050">
                      <a:solidFill>
                        <a:srgbClr val="584E61"/>
                      </a:solidFill>
                      <a:prstDash val="solid"/>
                    </a:lnT>
                    <a:lnB>
                      <a:noFill/>
                    </a:lnB>
                    <a:solidFill>
                      <a:srgbClr val="FFFFFF"/>
                    </a:solidFill>
                  </a:tcPr>
                </a:tc>
                <a:tc>
                  <a:txBody>
                    <a:bodyPr/>
                    <a:lstStyle/>
                    <a:p>
                      <a:pPr indent="266700" algn="ctr">
                        <a:spcAft>
                          <a:spcPts val="0"/>
                        </a:spcAft>
                      </a:pPr>
                      <a:r>
                        <a:rPr lang="en-US" sz="1100" kern="100">
                          <a:solidFill>
                            <a:srgbClr val="584E61"/>
                          </a:solidFill>
                          <a:effectLst/>
                        </a:rPr>
                        <a:t>48</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w="19050">
                      <a:solidFill>
                        <a:srgbClr val="584E61"/>
                      </a:solidFill>
                      <a:prstDash val="solid"/>
                    </a:lnT>
                    <a:lnB>
                      <a:noFill/>
                    </a:lnB>
                    <a:solidFill>
                      <a:srgbClr val="FFFFFF"/>
                    </a:solidFill>
                  </a:tcPr>
                </a:tc>
                <a:tc>
                  <a:txBody>
                    <a:bodyPr/>
                    <a:lstStyle/>
                    <a:p>
                      <a:pPr indent="266700" algn="ctr">
                        <a:spcAft>
                          <a:spcPts val="0"/>
                        </a:spcAft>
                      </a:pPr>
                      <a:r>
                        <a:rPr lang="en-US" sz="1100" kern="100">
                          <a:solidFill>
                            <a:srgbClr val="584E61"/>
                          </a:solidFill>
                          <a:effectLst/>
                        </a:rPr>
                        <a:t>0</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w="19050">
                      <a:solidFill>
                        <a:srgbClr val="584E61"/>
                      </a:solidFill>
                      <a:prstDash val="solid"/>
                    </a:lnT>
                    <a:lnB>
                      <a:noFill/>
                    </a:lnB>
                    <a:solidFill>
                      <a:srgbClr val="FFFFFF"/>
                    </a:solidFill>
                  </a:tcPr>
                </a:tc>
                <a:tc>
                  <a:txBody>
                    <a:bodyPr/>
                    <a:lstStyle/>
                    <a:p>
                      <a:pPr indent="266700" algn="ctr">
                        <a:spcAft>
                          <a:spcPts val="0"/>
                        </a:spcAft>
                      </a:pPr>
                      <a:r>
                        <a:rPr lang="en-US" sz="1100" kern="100">
                          <a:solidFill>
                            <a:srgbClr val="584E61"/>
                          </a:solidFill>
                          <a:effectLst/>
                        </a:rPr>
                        <a:t>80</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w="19050">
                      <a:solidFill>
                        <a:srgbClr val="584E61"/>
                      </a:solidFill>
                      <a:prstDash val="solid"/>
                    </a:lnT>
                    <a:lnB>
                      <a:noFill/>
                    </a:lnB>
                    <a:solidFill>
                      <a:srgbClr val="FFFFFF"/>
                    </a:solidFill>
                  </a:tcPr>
                </a:tc>
                <a:tc>
                  <a:txBody>
                    <a:bodyPr/>
                    <a:lstStyle/>
                    <a:p>
                      <a:pPr indent="266700" algn="ctr">
                        <a:spcAft>
                          <a:spcPts val="0"/>
                        </a:spcAft>
                      </a:pPr>
                      <a:r>
                        <a:rPr lang="en-US" sz="1100" kern="100">
                          <a:solidFill>
                            <a:srgbClr val="584E61"/>
                          </a:solidFill>
                          <a:effectLst/>
                        </a:rPr>
                        <a:t>P</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w="19050">
                      <a:solidFill>
                        <a:srgbClr val="584E61"/>
                      </a:solidFill>
                      <a:prstDash val="solid"/>
                    </a:lnT>
                    <a:lnB>
                      <a:noFill/>
                    </a:lnB>
                    <a:solidFill>
                      <a:srgbClr val="FFFFFF"/>
                    </a:solidFill>
                  </a:tcPr>
                </a:tc>
                <a:tc>
                  <a:txBody>
                    <a:bodyPr/>
                    <a:lstStyle/>
                    <a:p>
                      <a:pPr indent="266700" algn="ctr">
                        <a:spcAft>
                          <a:spcPts val="0"/>
                        </a:spcAft>
                      </a:pPr>
                      <a:r>
                        <a:rPr lang="en-US" sz="1100" kern="100">
                          <a:solidFill>
                            <a:srgbClr val="584E61"/>
                          </a:solidFill>
                          <a:effectLst/>
                        </a:rPr>
                        <a:t>112</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w="19050">
                      <a:solidFill>
                        <a:srgbClr val="584E61"/>
                      </a:solidFill>
                      <a:prstDash val="solid"/>
                    </a:lnT>
                    <a:lnB>
                      <a:noFill/>
                    </a:lnB>
                    <a:solidFill>
                      <a:srgbClr val="FFFFFF"/>
                    </a:solidFill>
                  </a:tcPr>
                </a:tc>
                <a:tc>
                  <a:txBody>
                    <a:bodyPr/>
                    <a:lstStyle/>
                    <a:p>
                      <a:pPr indent="266700" algn="ctr">
                        <a:spcAft>
                          <a:spcPts val="0"/>
                        </a:spcAft>
                      </a:pPr>
                      <a:r>
                        <a:rPr lang="en-US" sz="1100" kern="100">
                          <a:solidFill>
                            <a:srgbClr val="584E61"/>
                          </a:solidFill>
                          <a:effectLst/>
                        </a:rPr>
                        <a:t>p</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w="19050">
                      <a:solidFill>
                        <a:srgbClr val="584E61"/>
                      </a:solidFill>
                      <a:prstDash val="solid"/>
                    </a:lnT>
                    <a:lnB>
                      <a:noFill/>
                    </a:lnB>
                    <a:solidFill>
                      <a:srgbClr val="FFFFFF"/>
                    </a:solidFill>
                  </a:tcPr>
                </a:tc>
              </a:tr>
              <a:tr h="252000">
                <a:tc>
                  <a:txBody>
                    <a:bodyPr/>
                    <a:lstStyle/>
                    <a:p>
                      <a:pPr indent="266700" algn="ctr">
                        <a:spcAft>
                          <a:spcPts val="0"/>
                        </a:spcAft>
                      </a:pPr>
                      <a:r>
                        <a:rPr lang="en-US" sz="1100" kern="100">
                          <a:solidFill>
                            <a:srgbClr val="584E61"/>
                          </a:solidFill>
                          <a:effectLst/>
                        </a:rPr>
                        <a:t>17</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endParaRPr lang="zh-CN" sz="1100">
                        <a:solidFill>
                          <a:srgbClr val="584E61"/>
                        </a:solidFill>
                        <a:effectLst/>
                        <a:latin typeface="Times New Roman" panose="02020503050405090304"/>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49</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1</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81</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Q</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113</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q</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r>
              <a:tr h="252000">
                <a:tc>
                  <a:txBody>
                    <a:bodyPr/>
                    <a:lstStyle/>
                    <a:p>
                      <a:pPr indent="266700" algn="ctr">
                        <a:spcAft>
                          <a:spcPts val="0"/>
                        </a:spcAft>
                      </a:pPr>
                      <a:r>
                        <a:rPr lang="en-US" sz="1100" kern="100">
                          <a:solidFill>
                            <a:srgbClr val="584E61"/>
                          </a:solidFill>
                          <a:effectLst/>
                        </a:rPr>
                        <a:t>18</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endParaRPr lang="zh-CN" sz="1100">
                        <a:solidFill>
                          <a:srgbClr val="584E61"/>
                        </a:solidFill>
                        <a:effectLst/>
                        <a:latin typeface="Times New Roman" panose="02020503050405090304"/>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50</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2</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82</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R</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114</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r</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r>
              <a:tr h="252000">
                <a:tc>
                  <a:txBody>
                    <a:bodyPr/>
                    <a:lstStyle/>
                    <a:p>
                      <a:pPr indent="266700" algn="ctr">
                        <a:spcAft>
                          <a:spcPts val="0"/>
                        </a:spcAft>
                      </a:pPr>
                      <a:r>
                        <a:rPr lang="en-US" sz="1100" kern="100">
                          <a:solidFill>
                            <a:srgbClr val="584E61"/>
                          </a:solidFill>
                          <a:effectLst/>
                        </a:rPr>
                        <a:t>19</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endParaRPr lang="zh-CN" sz="1100">
                        <a:solidFill>
                          <a:srgbClr val="584E61"/>
                        </a:solidFill>
                        <a:effectLst/>
                        <a:latin typeface="Times New Roman" panose="02020503050405090304"/>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51</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3</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83</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S</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115</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s</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r>
              <a:tr h="252000">
                <a:tc>
                  <a:txBody>
                    <a:bodyPr/>
                    <a:lstStyle/>
                    <a:p>
                      <a:pPr indent="266700" algn="ctr">
                        <a:spcAft>
                          <a:spcPts val="0"/>
                        </a:spcAft>
                      </a:pPr>
                      <a:r>
                        <a:rPr lang="en-US" sz="1100" kern="100">
                          <a:solidFill>
                            <a:srgbClr val="584E61"/>
                          </a:solidFill>
                          <a:effectLst/>
                        </a:rPr>
                        <a:t>20</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endParaRPr lang="zh-CN" sz="1100">
                        <a:solidFill>
                          <a:srgbClr val="584E61"/>
                        </a:solidFill>
                        <a:effectLst/>
                        <a:latin typeface="Times New Roman" panose="02020503050405090304"/>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52</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4</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84</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T</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116</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t</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r>
              <a:tr h="252000">
                <a:tc>
                  <a:txBody>
                    <a:bodyPr/>
                    <a:lstStyle/>
                    <a:p>
                      <a:pPr indent="266700" algn="ctr">
                        <a:spcAft>
                          <a:spcPts val="0"/>
                        </a:spcAft>
                      </a:pPr>
                      <a:r>
                        <a:rPr lang="en-US" sz="1100" kern="100">
                          <a:solidFill>
                            <a:srgbClr val="584E61"/>
                          </a:solidFill>
                          <a:effectLst/>
                        </a:rPr>
                        <a:t>21</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algn="ctr"/>
                      <a:endParaRPr lang="zh-CN" sz="1100">
                        <a:solidFill>
                          <a:srgbClr val="584E61"/>
                        </a:solidFill>
                        <a:effectLst/>
                        <a:latin typeface="Times New Roman" panose="02020503050405090304"/>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53</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5</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85</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U</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117</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u</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r>
              <a:tr h="252095">
                <a:tc>
                  <a:txBody>
                    <a:bodyPr/>
                    <a:lstStyle/>
                    <a:p>
                      <a:pPr indent="266700" algn="ctr">
                        <a:spcAft>
                          <a:spcPts val="0"/>
                        </a:spcAft>
                      </a:pPr>
                      <a:r>
                        <a:rPr lang="en-US" sz="1100" kern="100">
                          <a:solidFill>
                            <a:srgbClr val="584E61"/>
                          </a:solidFill>
                          <a:effectLst/>
                        </a:rPr>
                        <a:t>22</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algn="ctr"/>
                      <a:endParaRPr lang="zh-CN" sz="1100">
                        <a:solidFill>
                          <a:srgbClr val="584E61"/>
                        </a:solidFill>
                        <a:effectLst/>
                        <a:latin typeface="Times New Roman" panose="02020503050405090304"/>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54</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6</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86</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V</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118</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v</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r>
              <a:tr h="252000">
                <a:tc>
                  <a:txBody>
                    <a:bodyPr/>
                    <a:lstStyle/>
                    <a:p>
                      <a:pPr indent="266700" algn="ctr">
                        <a:spcAft>
                          <a:spcPts val="0"/>
                        </a:spcAft>
                      </a:pPr>
                      <a:r>
                        <a:rPr lang="en-US" sz="1100" kern="100">
                          <a:solidFill>
                            <a:srgbClr val="584E61"/>
                          </a:solidFill>
                          <a:effectLst/>
                        </a:rPr>
                        <a:t>23</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algn="ctr"/>
                      <a:endParaRPr lang="zh-CN" sz="1100">
                        <a:solidFill>
                          <a:srgbClr val="584E61"/>
                        </a:solidFill>
                        <a:effectLst/>
                        <a:latin typeface="Times New Roman" panose="02020503050405090304"/>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55</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7</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87</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W</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119</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w</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r>
              <a:tr h="252000">
                <a:tc>
                  <a:txBody>
                    <a:bodyPr/>
                    <a:lstStyle/>
                    <a:p>
                      <a:pPr indent="266700" algn="ctr">
                        <a:spcAft>
                          <a:spcPts val="0"/>
                        </a:spcAft>
                      </a:pPr>
                      <a:r>
                        <a:rPr lang="en-US" sz="1100" kern="100">
                          <a:solidFill>
                            <a:srgbClr val="584E61"/>
                          </a:solidFill>
                          <a:effectLst/>
                        </a:rPr>
                        <a:t>24</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algn="ctr"/>
                      <a:endParaRPr lang="zh-CN" sz="1100">
                        <a:solidFill>
                          <a:srgbClr val="584E61"/>
                        </a:solidFill>
                        <a:effectLst/>
                        <a:latin typeface="Times New Roman" panose="02020503050405090304"/>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56</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8</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88</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X</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120</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x</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r>
              <a:tr h="252000">
                <a:tc>
                  <a:txBody>
                    <a:bodyPr/>
                    <a:lstStyle/>
                    <a:p>
                      <a:pPr indent="266700" algn="ctr">
                        <a:spcAft>
                          <a:spcPts val="0"/>
                        </a:spcAft>
                      </a:pPr>
                      <a:r>
                        <a:rPr lang="en-US" sz="1100" kern="100">
                          <a:solidFill>
                            <a:srgbClr val="584E61"/>
                          </a:solidFill>
                          <a:effectLst/>
                        </a:rPr>
                        <a:t>25</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algn="ctr"/>
                      <a:endParaRPr lang="zh-CN" sz="1100">
                        <a:solidFill>
                          <a:srgbClr val="584E61"/>
                        </a:solidFill>
                        <a:effectLst/>
                        <a:latin typeface="Times New Roman" panose="02020503050405090304"/>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57</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9</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89</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Y</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121</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y</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r>
              <a:tr h="252000">
                <a:tc>
                  <a:txBody>
                    <a:bodyPr/>
                    <a:lstStyle/>
                    <a:p>
                      <a:pPr indent="266700" algn="ctr">
                        <a:spcAft>
                          <a:spcPts val="0"/>
                        </a:spcAft>
                      </a:pPr>
                      <a:r>
                        <a:rPr lang="en-US" sz="1100" kern="100">
                          <a:solidFill>
                            <a:srgbClr val="584E61"/>
                          </a:solidFill>
                          <a:effectLst/>
                        </a:rPr>
                        <a:t>26</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algn="ctr"/>
                      <a:endParaRPr lang="zh-CN" sz="1100">
                        <a:solidFill>
                          <a:srgbClr val="584E61"/>
                        </a:solidFill>
                        <a:effectLst/>
                        <a:latin typeface="Times New Roman" panose="02020503050405090304"/>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58</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90</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Z</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122</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z</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r>
              <a:tr h="252000">
                <a:tc>
                  <a:txBody>
                    <a:bodyPr/>
                    <a:lstStyle/>
                    <a:p>
                      <a:pPr indent="266700" algn="ctr">
                        <a:spcAft>
                          <a:spcPts val="0"/>
                        </a:spcAft>
                      </a:pPr>
                      <a:r>
                        <a:rPr lang="en-US" sz="1100" kern="100">
                          <a:solidFill>
                            <a:srgbClr val="584E61"/>
                          </a:solidFill>
                          <a:effectLst/>
                        </a:rPr>
                        <a:t>27</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algn="ctr"/>
                      <a:endParaRPr lang="zh-CN" sz="1100">
                        <a:solidFill>
                          <a:srgbClr val="584E61"/>
                        </a:solidFill>
                        <a:effectLst/>
                        <a:latin typeface="Times New Roman" panose="02020503050405090304"/>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59</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91</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123</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r>
              <a:tr h="252000">
                <a:tc>
                  <a:txBody>
                    <a:bodyPr/>
                    <a:lstStyle/>
                    <a:p>
                      <a:pPr indent="266700" algn="ctr">
                        <a:spcAft>
                          <a:spcPts val="0"/>
                        </a:spcAft>
                      </a:pPr>
                      <a:r>
                        <a:rPr lang="en-US" sz="1100" kern="100">
                          <a:solidFill>
                            <a:srgbClr val="584E61"/>
                          </a:solidFill>
                          <a:effectLst/>
                        </a:rPr>
                        <a:t>28</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algn="ctr"/>
                      <a:endParaRPr lang="zh-CN" sz="1100">
                        <a:solidFill>
                          <a:srgbClr val="584E61"/>
                        </a:solidFill>
                        <a:effectLst/>
                        <a:latin typeface="Times New Roman" panose="02020503050405090304"/>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60</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&lt; </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92</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124</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r>
              <a:tr h="252000">
                <a:tc>
                  <a:txBody>
                    <a:bodyPr/>
                    <a:lstStyle/>
                    <a:p>
                      <a:pPr indent="266700" algn="ctr">
                        <a:spcAft>
                          <a:spcPts val="0"/>
                        </a:spcAft>
                      </a:pPr>
                      <a:r>
                        <a:rPr lang="en-US" sz="1100" kern="100">
                          <a:solidFill>
                            <a:srgbClr val="584E61"/>
                          </a:solidFill>
                          <a:effectLst/>
                        </a:rPr>
                        <a:t>29</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algn="ctr"/>
                      <a:endParaRPr lang="zh-CN" sz="1100">
                        <a:solidFill>
                          <a:srgbClr val="584E61"/>
                        </a:solidFill>
                        <a:effectLst/>
                        <a:latin typeface="Times New Roman" panose="02020503050405090304"/>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61</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93</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125</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0EFF2"/>
                    </a:solidFill>
                  </a:tcPr>
                </a:tc>
              </a:tr>
              <a:tr h="252000">
                <a:tc>
                  <a:txBody>
                    <a:bodyPr/>
                    <a:lstStyle/>
                    <a:p>
                      <a:pPr indent="266700" algn="ctr">
                        <a:spcAft>
                          <a:spcPts val="0"/>
                        </a:spcAft>
                      </a:pPr>
                      <a:r>
                        <a:rPr lang="en-US" sz="1100" kern="100">
                          <a:solidFill>
                            <a:srgbClr val="584E61"/>
                          </a:solidFill>
                          <a:effectLst/>
                        </a:rPr>
                        <a:t>30</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62</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&gt; </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94</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126</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a:noFill/>
                    </a:lnB>
                    <a:solidFill>
                      <a:srgbClr val="FFFFFF"/>
                    </a:solidFill>
                  </a:tcPr>
                </a:tc>
              </a:tr>
              <a:tr h="252000">
                <a:tc>
                  <a:txBody>
                    <a:bodyPr/>
                    <a:lstStyle/>
                    <a:p>
                      <a:pPr indent="266700" algn="ctr">
                        <a:spcAft>
                          <a:spcPts val="0"/>
                        </a:spcAft>
                      </a:pPr>
                      <a:r>
                        <a:rPr lang="en-US" sz="1100" kern="100" dirty="0">
                          <a:solidFill>
                            <a:srgbClr val="584E61"/>
                          </a:solidFill>
                          <a:effectLst/>
                        </a:rPr>
                        <a:t>31</a:t>
                      </a:r>
                      <a:endParaRPr lang="en-US" sz="1100" kern="100" dirty="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w="19050">
                      <a:solidFill>
                        <a:srgbClr val="584E61"/>
                      </a:solidFill>
                      <a:prstDash val="solid"/>
                    </a:lnB>
                    <a:solidFill>
                      <a:srgbClr val="F0EFF2"/>
                    </a:solidFill>
                  </a:tcPr>
                </a:tc>
                <a:tc>
                  <a:txBody>
                    <a:bodyPr/>
                    <a:lstStyle/>
                    <a:p>
                      <a:pPr algn="ctr"/>
                      <a:endParaRPr lang="zh-CN" sz="1100" dirty="0">
                        <a:solidFill>
                          <a:srgbClr val="584E61"/>
                        </a:solidFill>
                        <a:effectLst/>
                        <a:latin typeface="Times New Roman" panose="02020503050405090304"/>
                      </a:endParaRPr>
                    </a:p>
                  </a:txBody>
                  <a:tcPr marL="36156" marR="36156" marT="0" marB="0" anchor="ctr" anchorCtr="0">
                    <a:lnL>
                      <a:noFill/>
                    </a:lnL>
                    <a:lnR>
                      <a:noFill/>
                    </a:lnR>
                    <a:lnT>
                      <a:noFill/>
                    </a:lnT>
                    <a:lnB w="19050">
                      <a:solidFill>
                        <a:srgbClr val="584E61"/>
                      </a:solidFill>
                      <a:prstDash val="solid"/>
                    </a:lnB>
                    <a:solidFill>
                      <a:srgbClr val="F0EFF2"/>
                    </a:solidFill>
                  </a:tcPr>
                </a:tc>
                <a:tc>
                  <a:txBody>
                    <a:bodyPr/>
                    <a:lstStyle/>
                    <a:p>
                      <a:pPr indent="266700" algn="ctr">
                        <a:spcAft>
                          <a:spcPts val="0"/>
                        </a:spcAft>
                      </a:pPr>
                      <a:r>
                        <a:rPr lang="en-US" sz="1100" kern="100">
                          <a:solidFill>
                            <a:srgbClr val="584E61"/>
                          </a:solidFill>
                          <a:effectLst/>
                        </a:rPr>
                        <a:t>63</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w="19050">
                      <a:solidFill>
                        <a:srgbClr val="584E61"/>
                      </a:solidFill>
                      <a:prstDash val="solid"/>
                    </a:lnB>
                    <a:solidFill>
                      <a:srgbClr val="F0EFF2"/>
                    </a:solidFill>
                  </a:tcPr>
                </a:tc>
                <a:tc>
                  <a:txBody>
                    <a:bodyPr/>
                    <a:lstStyle/>
                    <a:p>
                      <a:pPr indent="266700" algn="ctr">
                        <a:spcAft>
                          <a:spcPts val="0"/>
                        </a:spcAft>
                      </a:pPr>
                      <a:r>
                        <a:rPr lang="en-US" sz="1100" kern="100">
                          <a:solidFill>
                            <a:srgbClr val="584E61"/>
                          </a:solidFill>
                          <a:effectLst/>
                        </a:rPr>
                        <a:t>?</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w="19050">
                      <a:solidFill>
                        <a:srgbClr val="584E61"/>
                      </a:solidFill>
                      <a:prstDash val="solid"/>
                    </a:lnB>
                    <a:solidFill>
                      <a:srgbClr val="F0EFF2"/>
                    </a:solidFill>
                  </a:tcPr>
                </a:tc>
                <a:tc>
                  <a:txBody>
                    <a:bodyPr/>
                    <a:lstStyle/>
                    <a:p>
                      <a:pPr indent="266700" algn="ctr">
                        <a:spcAft>
                          <a:spcPts val="0"/>
                        </a:spcAft>
                      </a:pPr>
                      <a:r>
                        <a:rPr lang="en-US" sz="1100" kern="100">
                          <a:solidFill>
                            <a:srgbClr val="584E61"/>
                          </a:solidFill>
                          <a:effectLst/>
                        </a:rPr>
                        <a:t>95</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w="19050">
                      <a:solidFill>
                        <a:srgbClr val="584E61"/>
                      </a:solidFill>
                      <a:prstDash val="solid"/>
                    </a:lnB>
                    <a:solidFill>
                      <a:srgbClr val="F0EFF2"/>
                    </a:solidFill>
                  </a:tcPr>
                </a:tc>
                <a:tc>
                  <a:txBody>
                    <a:bodyPr/>
                    <a:lstStyle/>
                    <a:p>
                      <a:pPr indent="266700" algn="ctr">
                        <a:spcAft>
                          <a:spcPts val="0"/>
                        </a:spcAft>
                      </a:pPr>
                      <a:r>
                        <a:rPr lang="en-US" sz="1100" kern="100">
                          <a:solidFill>
                            <a:srgbClr val="584E61"/>
                          </a:solidFill>
                          <a:effectLst/>
                        </a:rPr>
                        <a:t>_</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w="19050">
                      <a:solidFill>
                        <a:srgbClr val="584E61"/>
                      </a:solidFill>
                      <a:prstDash val="solid"/>
                    </a:lnB>
                    <a:solidFill>
                      <a:srgbClr val="F0EFF2"/>
                    </a:solidFill>
                  </a:tcPr>
                </a:tc>
                <a:tc>
                  <a:txBody>
                    <a:bodyPr/>
                    <a:lstStyle/>
                    <a:p>
                      <a:pPr indent="266700" algn="ctr">
                        <a:spcAft>
                          <a:spcPts val="0"/>
                        </a:spcAft>
                      </a:pPr>
                      <a:r>
                        <a:rPr lang="en-US" sz="1100" kern="100">
                          <a:solidFill>
                            <a:srgbClr val="584E61"/>
                          </a:solidFill>
                          <a:effectLst/>
                        </a:rPr>
                        <a:t>127</a:t>
                      </a:r>
                      <a:endParaRPr lang="en-US" sz="1100" kern="100">
                        <a:solidFill>
                          <a:srgbClr val="584E61"/>
                        </a:solidFill>
                        <a:effectLst/>
                        <a:latin typeface="Times New Roman" panose="02020503050405090304"/>
                        <a:ea typeface="宋体" pitchFamily="2" charset="-122"/>
                      </a:endParaRPr>
                    </a:p>
                  </a:txBody>
                  <a:tcPr marL="36156" marR="36156" marT="0" marB="0" anchor="ctr" anchorCtr="0">
                    <a:lnL>
                      <a:noFill/>
                    </a:lnL>
                    <a:lnR>
                      <a:noFill/>
                    </a:lnR>
                    <a:lnT>
                      <a:noFill/>
                    </a:lnT>
                    <a:lnB w="19050">
                      <a:solidFill>
                        <a:srgbClr val="584E61"/>
                      </a:solidFill>
                      <a:prstDash val="solid"/>
                    </a:lnB>
                    <a:solidFill>
                      <a:srgbClr val="F0EFF2"/>
                    </a:solidFill>
                  </a:tcPr>
                </a:tc>
                <a:tc>
                  <a:txBody>
                    <a:bodyPr/>
                    <a:lstStyle/>
                    <a:p>
                      <a:pPr algn="ctr"/>
                      <a:endParaRPr lang="zh-CN" sz="1100" dirty="0">
                        <a:solidFill>
                          <a:srgbClr val="584E61"/>
                        </a:solidFill>
                        <a:effectLst/>
                        <a:latin typeface="Times New Roman" panose="02020503050405090304"/>
                      </a:endParaRPr>
                    </a:p>
                  </a:txBody>
                  <a:tcPr marL="36156" marR="36156" marT="0" marB="0" anchor="ctr" anchorCtr="0">
                    <a:lnL>
                      <a:noFill/>
                    </a:lnL>
                    <a:lnR>
                      <a:noFill/>
                    </a:lnR>
                    <a:lnT>
                      <a:noFill/>
                    </a:lnT>
                    <a:lnB w="19050">
                      <a:solidFill>
                        <a:srgbClr val="584E61"/>
                      </a:solidFill>
                      <a:prstDash val="solid"/>
                    </a:lnB>
                    <a:solidFill>
                      <a:srgbClr val="F0EFF2"/>
                    </a:solidFill>
                  </a:tcPr>
                </a:tc>
              </a:tr>
            </a:tbl>
          </a:graphicData>
        </a:graphic>
      </p:graphicFrame>
      <p:sp>
        <p:nvSpPr>
          <p:cNvPr id="11" name="标题 1"/>
          <p:cNvSpPr>
            <a:spLocks noGrp="1"/>
          </p:cNvSpPr>
          <p:nvPr>
            <p:custDataLst>
              <p:tags r:id="rId2"/>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a:ln>
                  <a:noFill/>
                </a:ln>
                <a:solidFill>
                  <a:srgbClr val="782367"/>
                </a:solidFill>
                <a:effectLst/>
                <a:uLnTx/>
                <a:uFillTx/>
                <a:latin typeface="微软雅黑" panose="020B0503020204020204" charset="-122"/>
                <a:ea typeface="微软雅黑" panose="020B0503020204020204" charset="-122"/>
                <a:cs typeface="+mj-cs"/>
              </a:rPr>
              <a:t>2</a:t>
            </a: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.1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进制</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2" name="灯片编号占位符 1"/>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0" y="85725"/>
            <a:ext cx="5905500" cy="542925"/>
          </a:xfr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2.2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关键字与标识符</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14339" name="内容占位符 2"/>
          <p:cNvSpPr>
            <a:spLocks noGrp="1"/>
          </p:cNvSpPr>
          <p:nvPr>
            <p:ph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Tx/>
              <a:buChar char="•"/>
              <a:defRPr/>
            </a:pPr>
            <a:r>
              <a:rPr kumimoji="0" lang="en-US" altLang="zh-CN" b="1" i="0" u="none" strike="noStrike" kern="0" cap="none" spc="0" normalizeH="0" baseline="0" noProof="0" dirty="0" smtClean="0">
                <a:ln>
                  <a:noFill/>
                </a:ln>
                <a:solidFill>
                  <a:srgbClr val="009ED6"/>
                </a:solidFill>
                <a:effectLst/>
                <a:uLnTx/>
                <a:uFillTx/>
                <a:latin typeface="+mn-lt"/>
                <a:ea typeface="+mn-ea"/>
                <a:cs typeface="+mn-cs"/>
              </a:rPr>
              <a:t>2.2.1 </a:t>
            </a:r>
            <a:r>
              <a:rPr kumimoji="0" lang="zh-CN" altLang="en-US" b="1" i="0" u="none" strike="noStrike" kern="0" cap="none" spc="0" normalizeH="0" baseline="0" noProof="0" dirty="0" smtClean="0">
                <a:ln>
                  <a:noFill/>
                </a:ln>
                <a:solidFill>
                  <a:srgbClr val="009ED6"/>
                </a:solidFill>
                <a:effectLst/>
                <a:uLnTx/>
                <a:uFillTx/>
                <a:latin typeface="+mn-lt"/>
                <a:ea typeface="+mn-ea"/>
                <a:cs typeface="+mn-cs"/>
              </a:rPr>
              <a:t> 关键字</a:t>
            </a:r>
            <a:endParaRPr kumimoji="0" lang="en-US" altLang="zh-CN" b="1" i="0" u="none" strike="noStrike" kern="0" cap="none" spc="0" normalizeH="0" baseline="0" noProof="0" dirty="0" smtClean="0">
              <a:ln>
                <a:noFill/>
              </a:ln>
              <a:solidFill>
                <a:srgbClr val="009ED6"/>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b="0" i="0" u="none" strike="noStrike" kern="0" cap="none" spc="0" normalizeH="0" baseline="0" noProof="0" dirty="0" smtClean="0">
                <a:ln>
                  <a:noFill/>
                </a:ln>
                <a:solidFill>
                  <a:schemeClr val="tx1"/>
                </a:solidFill>
                <a:effectLst/>
                <a:uLnTx/>
                <a:uFillTx/>
                <a:latin typeface="+mn-lt"/>
                <a:ea typeface="+mn-ea"/>
                <a:cs typeface="+mn-cs"/>
              </a:rPr>
              <a:t>所谓</a:t>
            </a:r>
            <a:r>
              <a:rPr kumimoji="0" lang="zh-CN" altLang="zh-CN" b="0" i="0" u="none" strike="noStrike" kern="0" cap="none" spc="0" normalizeH="0" baseline="0" noProof="0" dirty="0">
                <a:ln>
                  <a:noFill/>
                </a:ln>
                <a:solidFill>
                  <a:schemeClr val="tx1"/>
                </a:solidFill>
                <a:effectLst/>
                <a:uLnTx/>
                <a:uFillTx/>
                <a:latin typeface="+mn-lt"/>
                <a:ea typeface="+mn-ea"/>
                <a:cs typeface="+mn-cs"/>
              </a:rPr>
              <a:t>关键字是指在编程语言里事先定义好并赋予了特殊含义的单词，也称作保留字。关键字在程序中用于表示特殊含义，不能被随便用作变量名、函数名等，在</a:t>
            </a:r>
            <a:r>
              <a:rPr kumimoji="0" lang="en-US" altLang="zh-CN" b="0" i="0" u="none" strike="noStrike" kern="0" cap="none" spc="0" normalizeH="0" baseline="0" noProof="0" dirty="0">
                <a:ln>
                  <a:noFill/>
                </a:ln>
                <a:solidFill>
                  <a:schemeClr val="tx1"/>
                </a:solidFill>
                <a:effectLst/>
                <a:uLnTx/>
                <a:uFillTx/>
                <a:latin typeface="+mn-lt"/>
                <a:ea typeface="+mn-ea"/>
                <a:cs typeface="+mn-cs"/>
              </a:rPr>
              <a:t>C</a:t>
            </a:r>
            <a:r>
              <a:rPr kumimoji="0" lang="zh-CN" altLang="zh-CN" b="0" i="0" u="none" strike="noStrike" kern="0" cap="none" spc="0" normalizeH="0" baseline="0" noProof="0" dirty="0">
                <a:ln>
                  <a:noFill/>
                </a:ln>
                <a:solidFill>
                  <a:schemeClr val="tx1"/>
                </a:solidFill>
                <a:effectLst/>
                <a:uLnTx/>
                <a:uFillTx/>
                <a:latin typeface="+mn-lt"/>
                <a:ea typeface="+mn-ea"/>
                <a:cs typeface="+mn-cs"/>
              </a:rPr>
              <a:t>语言中，</a:t>
            </a:r>
            <a:r>
              <a:rPr kumimoji="0" lang="en-US" altLang="zh-CN" b="0" i="0" u="none" strike="noStrike" kern="0" cap="none" spc="0" normalizeH="0" baseline="0" noProof="0" dirty="0">
                <a:ln>
                  <a:noFill/>
                </a:ln>
                <a:solidFill>
                  <a:schemeClr val="tx1"/>
                </a:solidFill>
                <a:effectLst/>
                <a:uLnTx/>
                <a:uFillTx/>
                <a:latin typeface="+mn-lt"/>
                <a:ea typeface="+mn-ea"/>
                <a:cs typeface="+mn-cs"/>
              </a:rPr>
              <a:t>C99</a:t>
            </a:r>
            <a:r>
              <a:rPr kumimoji="0" lang="zh-CN" altLang="zh-CN" b="0" i="0" u="none" strike="noStrike" kern="0" cap="none" spc="0" normalizeH="0" baseline="0" noProof="0" dirty="0">
                <a:ln>
                  <a:noFill/>
                </a:ln>
                <a:solidFill>
                  <a:schemeClr val="tx1"/>
                </a:solidFill>
                <a:effectLst/>
                <a:uLnTx/>
                <a:uFillTx/>
                <a:latin typeface="+mn-lt"/>
                <a:ea typeface="+mn-ea"/>
                <a:cs typeface="+mn-cs"/>
              </a:rPr>
              <a:t>标准中共定义了</a:t>
            </a:r>
            <a:r>
              <a:rPr kumimoji="0" lang="en-US" altLang="zh-CN" b="0" i="0" u="none" strike="noStrike" kern="0" cap="none" spc="0" normalizeH="0" baseline="0" noProof="0" dirty="0">
                <a:ln>
                  <a:noFill/>
                </a:ln>
                <a:solidFill>
                  <a:schemeClr val="tx1"/>
                </a:solidFill>
                <a:effectLst/>
                <a:uLnTx/>
                <a:uFillTx/>
                <a:latin typeface="+mn-lt"/>
                <a:ea typeface="+mn-ea"/>
                <a:cs typeface="+mn-cs"/>
              </a:rPr>
              <a:t>37</a:t>
            </a:r>
            <a:r>
              <a:rPr kumimoji="0" lang="zh-CN" altLang="zh-CN" b="0" i="0" u="none" strike="noStrike" kern="0" cap="none" spc="0" normalizeH="0" baseline="0" noProof="0" dirty="0">
                <a:ln>
                  <a:noFill/>
                </a:ln>
                <a:solidFill>
                  <a:schemeClr val="tx1"/>
                </a:solidFill>
                <a:effectLst/>
                <a:uLnTx/>
                <a:uFillTx/>
                <a:latin typeface="+mn-lt"/>
                <a:ea typeface="+mn-ea"/>
                <a:cs typeface="+mn-cs"/>
              </a:rPr>
              <a:t>个关键字，具体</a:t>
            </a:r>
            <a:r>
              <a:rPr kumimoji="0" lang="zh-CN" altLang="zh-CN" b="0" i="0" u="none" strike="noStrike" kern="0" cap="none" spc="0" normalizeH="0" baseline="0" noProof="0" dirty="0" smtClean="0">
                <a:ln>
                  <a:noFill/>
                </a:ln>
                <a:solidFill>
                  <a:schemeClr val="tx1"/>
                </a:solidFill>
                <a:effectLst/>
                <a:uLnTx/>
                <a:uFillTx/>
                <a:latin typeface="+mn-lt"/>
                <a:ea typeface="+mn-ea"/>
                <a:cs typeface="+mn-cs"/>
              </a:rPr>
              <a:t>如下</a:t>
            </a:r>
            <a:r>
              <a:rPr kumimoji="0" lang="zh-CN" altLang="en-US"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1" i="0" u="none" strike="noStrike" kern="0" cap="none" spc="0" normalizeH="0" baseline="0" noProof="0" dirty="0">
              <a:ln>
                <a:noFill/>
              </a:ln>
              <a:solidFill>
                <a:srgbClr val="009ED6"/>
              </a:solidFill>
              <a:effectLst/>
              <a:uLnTx/>
              <a:uFillTx/>
              <a:latin typeface="+mn-lt"/>
              <a:ea typeface="+mn-ea"/>
              <a:cs typeface="+mn-cs"/>
            </a:endParaRPr>
          </a:p>
        </p:txBody>
      </p:sp>
      <p:sp>
        <p:nvSpPr>
          <p:cNvPr id="3" name="灯片编号占位符 2"/>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0" y="85725"/>
            <a:ext cx="5905500" cy="542925"/>
          </a:xfr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2.2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关键字与标识符</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14339" name="内容占位符 2"/>
          <p:cNvSpPr>
            <a:spLocks noGrp="1"/>
          </p:cNvSpPr>
          <p:nvPr>
            <p:ph idx="1"/>
          </p:nvPr>
        </p:nvSpPr>
        <p:spPr bwMode="auto">
          <a:xfrm>
            <a:off x="457200" y="497840"/>
            <a:ext cx="8229600" cy="57340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Tx/>
              <a:buChar char="•"/>
              <a:defRPr/>
            </a:pPr>
            <a:r>
              <a:rPr kumimoji="0" lang="en-US" altLang="zh-CN" b="1" i="0" u="none" strike="noStrike" kern="0" cap="none" spc="0" normalizeH="0" baseline="0" noProof="0" dirty="0" smtClean="0">
                <a:ln>
                  <a:noFill/>
                </a:ln>
                <a:solidFill>
                  <a:srgbClr val="009ED6"/>
                </a:solidFill>
                <a:effectLst/>
                <a:uLnTx/>
                <a:uFillTx/>
                <a:latin typeface="+mn-lt"/>
                <a:ea typeface="+mn-ea"/>
                <a:cs typeface="+mn-cs"/>
              </a:rPr>
              <a:t>2.2.1 </a:t>
            </a:r>
            <a:r>
              <a:rPr kumimoji="0" lang="zh-CN" altLang="en-US" b="1" i="0" u="none" strike="noStrike" kern="0" cap="none" spc="0" normalizeH="0" baseline="0" noProof="0" dirty="0" smtClean="0">
                <a:ln>
                  <a:noFill/>
                </a:ln>
                <a:solidFill>
                  <a:srgbClr val="009ED6"/>
                </a:solidFill>
                <a:effectLst/>
                <a:uLnTx/>
                <a:uFillTx/>
                <a:latin typeface="+mn-lt"/>
                <a:ea typeface="+mn-ea"/>
                <a:cs typeface="+mn-cs"/>
              </a:rPr>
              <a:t> 关键字</a:t>
            </a:r>
            <a:endParaRPr kumimoji="0" lang="en-US" altLang="zh-CN" b="1" i="0" u="none" strike="noStrike" kern="0" cap="none" spc="0" normalizeH="0" baseline="0" noProof="0" dirty="0" smtClean="0">
              <a:ln>
                <a:noFill/>
              </a:ln>
              <a:solidFill>
                <a:srgbClr val="009ED6"/>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1" i="0" u="none" strike="noStrike" kern="0" cap="none" spc="0" normalizeH="0" baseline="0" noProof="0" dirty="0">
              <a:ln>
                <a:noFill/>
              </a:ln>
              <a:solidFill>
                <a:srgbClr val="009ED6"/>
              </a:solidFill>
              <a:effectLst/>
              <a:uLnTx/>
              <a:uFillTx/>
              <a:latin typeface="+mn-lt"/>
              <a:ea typeface="+mn-ea"/>
              <a:cs typeface="+mn-cs"/>
            </a:endParaRPr>
          </a:p>
        </p:txBody>
      </p:sp>
      <p:graphicFrame>
        <p:nvGraphicFramePr>
          <p:cNvPr id="3" name="表格 2"/>
          <p:cNvGraphicFramePr/>
          <p:nvPr>
            <p:custDataLst>
              <p:tags r:id="rId1"/>
            </p:custDataLst>
          </p:nvPr>
        </p:nvGraphicFramePr>
        <p:xfrm>
          <a:off x="1007110" y="1136650"/>
          <a:ext cx="7505700" cy="3872230"/>
        </p:xfrm>
        <a:graphic>
          <a:graphicData uri="http://schemas.openxmlformats.org/drawingml/2006/table">
            <a:tbl>
              <a:tblPr firstRow="1" bandRow="1"/>
              <a:tblGrid>
                <a:gridCol w="943610"/>
                <a:gridCol w="1073150"/>
                <a:gridCol w="5488940"/>
              </a:tblGrid>
              <a:tr h="210820">
                <a:tc>
                  <a:txBody>
                    <a:bodyPr/>
                    <a:p>
                      <a:pPr algn="ctr">
                        <a:buNone/>
                      </a:pPr>
                      <a:r>
                        <a:rPr lang="zh-CN" altLang="en-US" sz="1100">
                          <a:solidFill>
                            <a:srgbClr val="584E61"/>
                          </a:solidFill>
                        </a:rPr>
                        <a:t>序号</a:t>
                      </a:r>
                      <a:endParaRPr lang="zh-CN" altLang="en-US" sz="1100">
                        <a:solidFill>
                          <a:srgbClr val="584E61"/>
                        </a:solidFill>
                      </a:endParaRPr>
                    </a:p>
                  </a:txBody>
                  <a:tcPr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p>
                      <a:pPr algn="ctr">
                        <a:buNone/>
                      </a:pPr>
                      <a:r>
                        <a:rPr lang="zh-CN" altLang="en-US" sz="1100">
                          <a:solidFill>
                            <a:srgbClr val="584E61"/>
                          </a:solidFill>
                        </a:rPr>
                        <a:t>关键字</a:t>
                      </a:r>
                      <a:endParaRPr lang="zh-CN" altLang="en-US" sz="1100">
                        <a:solidFill>
                          <a:srgbClr val="584E61"/>
                        </a:solidFill>
                      </a:endParaRPr>
                    </a:p>
                  </a:txBody>
                  <a:tcPr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p>
                      <a:pPr algn="ctr">
                        <a:buNone/>
                      </a:pPr>
                      <a:r>
                        <a:rPr lang="zh-CN" altLang="en-US" sz="1100">
                          <a:solidFill>
                            <a:srgbClr val="584E61"/>
                          </a:solidFill>
                        </a:rPr>
                        <a:t>说明</a:t>
                      </a:r>
                      <a:endParaRPr lang="zh-CN" altLang="en-US" sz="1100">
                        <a:solidFill>
                          <a:srgbClr val="584E61"/>
                        </a:solidFill>
                      </a:endParaRPr>
                    </a:p>
                  </a:txBody>
                  <a:tcPr anchor="ctr" anchorCtr="0">
                    <a:lnL>
                      <a:noFill/>
                    </a:lnL>
                    <a:lnR>
                      <a:noFill/>
                    </a:lnR>
                    <a:lnT w="19050">
                      <a:solidFill>
                        <a:srgbClr val="584E61"/>
                      </a:solidFill>
                      <a:prstDash val="solid"/>
                    </a:lnT>
                    <a:lnB w="19050">
                      <a:solidFill>
                        <a:srgbClr val="584E61"/>
                      </a:solidFill>
                      <a:prstDash val="solid"/>
                    </a:lnB>
                    <a:solidFill>
                      <a:srgbClr val="FFFFFF"/>
                    </a:solidFill>
                  </a:tcPr>
                </a:tc>
              </a:tr>
              <a:tr h="324000">
                <a:tc>
                  <a:txBody>
                    <a:bodyPr/>
                    <a:p>
                      <a:pPr algn="ctr">
                        <a:buNone/>
                      </a:pPr>
                      <a:r>
                        <a:rPr lang="en-US" altLang="zh-CN" sz="1100">
                          <a:solidFill>
                            <a:srgbClr val="584E61"/>
                          </a:solidFill>
                        </a:rPr>
                        <a:t>1</a:t>
                      </a:r>
                      <a:endParaRPr lang="en-US" altLang="zh-CN" sz="1100">
                        <a:solidFill>
                          <a:srgbClr val="584E61"/>
                        </a:solidFill>
                      </a:endParaRPr>
                    </a:p>
                  </a:txBody>
                  <a:tcPr anchor="ctr" anchorCtr="0">
                    <a:lnL>
                      <a:noFill/>
                    </a:lnL>
                    <a:lnR>
                      <a:noFill/>
                    </a:lnR>
                    <a:lnT w="19050">
                      <a:solidFill>
                        <a:srgbClr val="584E61"/>
                      </a:solidFill>
                      <a:prstDash val="solid"/>
                    </a:lnT>
                    <a:lnB>
                      <a:noFill/>
                    </a:lnB>
                    <a:solidFill>
                      <a:srgbClr val="FFFFFF"/>
                    </a:solidFill>
                  </a:tcPr>
                </a:tc>
                <a:tc>
                  <a:txBody>
                    <a:bodyPr/>
                    <a:p>
                      <a:pPr algn="ctr">
                        <a:buNone/>
                      </a:pPr>
                      <a:r>
                        <a:rPr lang="en-US" altLang="zh-CN" sz="1100">
                          <a:solidFill>
                            <a:srgbClr val="584E61"/>
                          </a:solidFill>
                        </a:rPr>
                        <a:t>auto</a:t>
                      </a:r>
                      <a:endParaRPr lang="en-US" altLang="zh-CN" sz="1100">
                        <a:solidFill>
                          <a:srgbClr val="584E61"/>
                        </a:solidFill>
                      </a:endParaRPr>
                    </a:p>
                  </a:txBody>
                  <a:tcPr anchor="ctr" anchorCtr="0">
                    <a:lnL>
                      <a:noFill/>
                    </a:lnL>
                    <a:lnR>
                      <a:noFill/>
                    </a:lnR>
                    <a:lnT w="19050">
                      <a:solidFill>
                        <a:srgbClr val="584E61"/>
                      </a:solidFill>
                      <a:prstDash val="solid"/>
                    </a:lnT>
                    <a:lnB>
                      <a:noFill/>
                    </a:lnB>
                    <a:solidFill>
                      <a:srgbClr val="FFFFFF"/>
                    </a:solidFill>
                  </a:tcPr>
                </a:tc>
                <a:tc>
                  <a:txBody>
                    <a:bodyPr/>
                    <a:p>
                      <a:pPr algn="l">
                        <a:buNone/>
                      </a:pPr>
                      <a:r>
                        <a:rPr lang="zh-CN" altLang="en-US" sz="1100">
                          <a:solidFill>
                            <a:srgbClr val="584E61"/>
                          </a:solidFill>
                        </a:rPr>
                        <a:t>声明自动变量</a:t>
                      </a:r>
                      <a:endParaRPr lang="zh-CN" altLang="en-US" sz="1100">
                        <a:solidFill>
                          <a:srgbClr val="584E61"/>
                        </a:solidFill>
                      </a:endParaRPr>
                    </a:p>
                    <a:p>
                      <a:pPr algn="l">
                        <a:buNone/>
                      </a:pPr>
                      <a:r>
                        <a:rPr lang="zh-CN" altLang="en-US" sz="1100">
                          <a:solidFill>
                            <a:srgbClr val="584E61"/>
                          </a:solidFill>
                        </a:rPr>
                        <a:t>auto 变量存放在动态存储区，随着生命周期</a:t>
                      </a:r>
                      <a:r>
                        <a:rPr lang="en-US" altLang="zh-CN" sz="1100">
                          <a:solidFill>
                            <a:srgbClr val="584E61"/>
                          </a:solidFill>
                        </a:rPr>
                        <a:t>{</a:t>
                      </a:r>
                      <a:r>
                        <a:rPr lang="zh-CN" altLang="en-US" sz="1100">
                          <a:solidFill>
                            <a:srgbClr val="584E61"/>
                          </a:solidFill>
                        </a:rPr>
                        <a:t>开始}结束而立即释放，存放在栈上默认 变量都是auto的，基本都是不写的</a:t>
                      </a:r>
                      <a:endParaRPr lang="zh-CN" altLang="en-US" sz="1100">
                        <a:solidFill>
                          <a:srgbClr val="584E61"/>
                        </a:solidFill>
                      </a:endParaRPr>
                    </a:p>
                  </a:txBody>
                  <a:tcPr anchor="ctr" anchorCtr="0">
                    <a:lnL>
                      <a:noFill/>
                    </a:lnL>
                    <a:lnR>
                      <a:noFill/>
                    </a:lnR>
                    <a:lnT w="19050">
                      <a:solidFill>
                        <a:srgbClr val="584E61"/>
                      </a:solidFill>
                      <a:prstDash val="solid"/>
                    </a:lnT>
                    <a:lnB>
                      <a:noFill/>
                    </a:lnB>
                    <a:solidFill>
                      <a:srgbClr val="FFFFFF"/>
                    </a:solidFill>
                  </a:tcPr>
                </a:tc>
              </a:tr>
              <a:tr h="324000">
                <a:tc>
                  <a:txBody>
                    <a:bodyPr/>
                    <a:p>
                      <a:pPr algn="ctr">
                        <a:buNone/>
                      </a:pPr>
                      <a:r>
                        <a:rPr lang="en-US" altLang="zh-CN" sz="1100">
                          <a:solidFill>
                            <a:srgbClr val="584E61"/>
                          </a:solidFill>
                        </a:rPr>
                        <a:t>2</a:t>
                      </a:r>
                      <a:endParaRPr lang="en-US" altLang="zh-CN" sz="1100">
                        <a:solidFill>
                          <a:srgbClr val="584E61"/>
                        </a:solidFill>
                      </a:endParaRPr>
                    </a:p>
                  </a:txBody>
                  <a:tcPr anchor="ctr" anchorCtr="0">
                    <a:lnL>
                      <a:noFill/>
                    </a:lnL>
                    <a:lnR>
                      <a:noFill/>
                    </a:lnR>
                    <a:lnT>
                      <a:noFill/>
                    </a:lnT>
                    <a:lnB>
                      <a:noFill/>
                    </a:lnB>
                    <a:solidFill>
                      <a:srgbClr val="F0EFF2"/>
                    </a:solidFill>
                  </a:tcPr>
                </a:tc>
                <a:tc>
                  <a:txBody>
                    <a:bodyPr/>
                    <a:p>
                      <a:pPr algn="ctr">
                        <a:buNone/>
                      </a:pPr>
                      <a:r>
                        <a:rPr lang="zh-CN" altLang="en-US" sz="1100">
                          <a:solidFill>
                            <a:srgbClr val="584E61"/>
                          </a:solidFill>
                        </a:rPr>
                        <a:t>break</a:t>
                      </a:r>
                      <a:endParaRPr lang="zh-CN" altLang="en-US" sz="1100">
                        <a:solidFill>
                          <a:srgbClr val="584E61"/>
                        </a:solidFill>
                      </a:endParaRPr>
                    </a:p>
                  </a:txBody>
                  <a:tcPr anchor="ctr" anchorCtr="0">
                    <a:lnL>
                      <a:noFill/>
                    </a:lnL>
                    <a:lnR>
                      <a:noFill/>
                    </a:lnR>
                    <a:lnT>
                      <a:noFill/>
                    </a:lnT>
                    <a:lnB>
                      <a:noFill/>
                    </a:lnB>
                    <a:solidFill>
                      <a:srgbClr val="F0EFF2"/>
                    </a:solidFill>
                  </a:tcPr>
                </a:tc>
                <a:tc>
                  <a:txBody>
                    <a:bodyPr/>
                    <a:p>
                      <a:pPr algn="l">
                        <a:buNone/>
                      </a:pPr>
                      <a:r>
                        <a:rPr lang="zh-CN" altLang="en-US" sz="1100">
                          <a:solidFill>
                            <a:srgbClr val="584E61"/>
                          </a:solidFill>
                        </a:rPr>
                        <a:t>跳出当前循环</a:t>
                      </a:r>
                      <a:endParaRPr lang="zh-CN" altLang="en-US" sz="1100">
                        <a:solidFill>
                          <a:srgbClr val="584E61"/>
                        </a:solidFill>
                      </a:endParaRPr>
                    </a:p>
                  </a:txBody>
                  <a:tcPr anchor="ctr" anchorCtr="0">
                    <a:lnL>
                      <a:noFill/>
                    </a:lnL>
                    <a:lnR>
                      <a:noFill/>
                    </a:lnR>
                    <a:lnT>
                      <a:noFill/>
                    </a:lnT>
                    <a:lnB>
                      <a:noFill/>
                    </a:lnB>
                    <a:solidFill>
                      <a:srgbClr val="F0EFF2"/>
                    </a:solidFill>
                  </a:tcPr>
                </a:tc>
              </a:tr>
              <a:tr h="324000">
                <a:tc>
                  <a:txBody>
                    <a:bodyPr/>
                    <a:p>
                      <a:pPr algn="ctr">
                        <a:buNone/>
                      </a:pPr>
                      <a:r>
                        <a:rPr lang="en-US" altLang="zh-CN" sz="1100">
                          <a:solidFill>
                            <a:srgbClr val="584E61"/>
                          </a:solidFill>
                        </a:rPr>
                        <a:t>3</a:t>
                      </a:r>
                      <a:endParaRPr lang="en-US" altLang="zh-CN" sz="1100">
                        <a:solidFill>
                          <a:srgbClr val="584E61"/>
                        </a:solidFill>
                      </a:endParaRPr>
                    </a:p>
                  </a:txBody>
                  <a:tcPr anchor="ctr" anchorCtr="0">
                    <a:lnL>
                      <a:noFill/>
                    </a:lnL>
                    <a:lnR>
                      <a:noFill/>
                    </a:lnR>
                    <a:lnT>
                      <a:noFill/>
                    </a:lnT>
                    <a:lnB>
                      <a:noFill/>
                    </a:lnB>
                    <a:solidFill>
                      <a:srgbClr val="FFFFFF"/>
                    </a:solidFill>
                  </a:tcPr>
                </a:tc>
                <a:tc>
                  <a:txBody>
                    <a:bodyPr/>
                    <a:p>
                      <a:pPr algn="ctr">
                        <a:buNone/>
                      </a:pPr>
                      <a:r>
                        <a:rPr lang="zh-CN" altLang="en-US" sz="1100">
                          <a:solidFill>
                            <a:srgbClr val="584E61"/>
                          </a:solidFill>
                        </a:rPr>
                        <a:t>case</a:t>
                      </a:r>
                      <a:endParaRPr lang="zh-CN" altLang="en-US" sz="1100">
                        <a:solidFill>
                          <a:srgbClr val="584E61"/>
                        </a:solidFill>
                      </a:endParaRPr>
                    </a:p>
                  </a:txBody>
                  <a:tcPr anchor="ctr" anchorCtr="0">
                    <a:lnL>
                      <a:noFill/>
                    </a:lnL>
                    <a:lnR>
                      <a:noFill/>
                    </a:lnR>
                    <a:lnT>
                      <a:noFill/>
                    </a:lnT>
                    <a:lnB>
                      <a:noFill/>
                    </a:lnB>
                    <a:solidFill>
                      <a:srgbClr val="FFFFFF"/>
                    </a:solidFill>
                  </a:tcPr>
                </a:tc>
                <a:tc>
                  <a:txBody>
                    <a:bodyPr/>
                    <a:p>
                      <a:pPr algn="l">
                        <a:buNone/>
                      </a:pPr>
                      <a:r>
                        <a:rPr lang="zh-CN" altLang="en-US" sz="1100">
                          <a:solidFill>
                            <a:srgbClr val="584E61"/>
                          </a:solidFill>
                        </a:rPr>
                        <a:t>switch 语句分支</a:t>
                      </a:r>
                      <a:endParaRPr lang="zh-CN" altLang="en-US" sz="1100">
                        <a:solidFill>
                          <a:srgbClr val="584E61"/>
                        </a:solidFill>
                      </a:endParaRPr>
                    </a:p>
                  </a:txBody>
                  <a:tcPr anchor="ctr" anchorCtr="0">
                    <a:lnL>
                      <a:noFill/>
                    </a:lnL>
                    <a:lnR>
                      <a:noFill/>
                    </a:lnR>
                    <a:lnT>
                      <a:noFill/>
                    </a:lnT>
                    <a:lnB>
                      <a:noFill/>
                    </a:lnB>
                    <a:solidFill>
                      <a:srgbClr val="FFFFFF"/>
                    </a:solidFill>
                  </a:tcPr>
                </a:tc>
              </a:tr>
              <a:tr h="324000">
                <a:tc>
                  <a:txBody>
                    <a:bodyPr/>
                    <a:p>
                      <a:pPr algn="ctr">
                        <a:buNone/>
                      </a:pPr>
                      <a:r>
                        <a:rPr lang="en-US" altLang="zh-CN" sz="1100">
                          <a:solidFill>
                            <a:srgbClr val="584E61"/>
                          </a:solidFill>
                        </a:rPr>
                        <a:t>4</a:t>
                      </a:r>
                      <a:endParaRPr lang="en-US" altLang="zh-CN" sz="1100">
                        <a:solidFill>
                          <a:srgbClr val="584E61"/>
                        </a:solidFill>
                      </a:endParaRPr>
                    </a:p>
                  </a:txBody>
                  <a:tcPr anchor="ctr" anchorCtr="0">
                    <a:lnL>
                      <a:noFill/>
                    </a:lnL>
                    <a:lnR>
                      <a:noFill/>
                    </a:lnR>
                    <a:lnT>
                      <a:noFill/>
                    </a:lnT>
                    <a:lnB>
                      <a:noFill/>
                    </a:lnB>
                    <a:solidFill>
                      <a:srgbClr val="F0EFF2"/>
                    </a:solidFill>
                  </a:tcPr>
                </a:tc>
                <a:tc>
                  <a:txBody>
                    <a:bodyPr/>
                    <a:p>
                      <a:pPr algn="ctr">
                        <a:buNone/>
                      </a:pPr>
                      <a:r>
                        <a:rPr lang="zh-CN" altLang="en-US" sz="1100">
                          <a:solidFill>
                            <a:srgbClr val="584E61"/>
                          </a:solidFill>
                        </a:rPr>
                        <a:t>char</a:t>
                      </a:r>
                      <a:endParaRPr lang="zh-CN" altLang="en-US" sz="1100">
                        <a:solidFill>
                          <a:srgbClr val="584E61"/>
                        </a:solidFill>
                      </a:endParaRPr>
                    </a:p>
                  </a:txBody>
                  <a:tcPr anchor="ctr" anchorCtr="0">
                    <a:lnL>
                      <a:noFill/>
                    </a:lnL>
                    <a:lnR>
                      <a:noFill/>
                    </a:lnR>
                    <a:lnT>
                      <a:noFill/>
                    </a:lnT>
                    <a:lnB>
                      <a:noFill/>
                    </a:lnB>
                    <a:solidFill>
                      <a:srgbClr val="F0EFF2"/>
                    </a:solidFill>
                  </a:tcPr>
                </a:tc>
                <a:tc>
                  <a:txBody>
                    <a:bodyPr/>
                    <a:p>
                      <a:pPr algn="l">
                        <a:buNone/>
                      </a:pPr>
                      <a:r>
                        <a:rPr lang="zh-CN" altLang="en-US" sz="1100">
                          <a:solidFill>
                            <a:srgbClr val="584E61"/>
                          </a:solidFill>
                        </a:rPr>
                        <a:t>声明字符型变量或函数</a:t>
                      </a:r>
                      <a:endParaRPr lang="zh-CN" altLang="en-US" sz="1100">
                        <a:solidFill>
                          <a:srgbClr val="584E61"/>
                        </a:solidFill>
                      </a:endParaRPr>
                    </a:p>
                  </a:txBody>
                  <a:tcPr anchor="ctr" anchorCtr="0">
                    <a:lnL>
                      <a:noFill/>
                    </a:lnL>
                    <a:lnR>
                      <a:noFill/>
                    </a:lnR>
                    <a:lnT>
                      <a:noFill/>
                    </a:lnT>
                    <a:lnB>
                      <a:noFill/>
                    </a:lnB>
                    <a:solidFill>
                      <a:srgbClr val="F0EFF2"/>
                    </a:solidFill>
                  </a:tcPr>
                </a:tc>
              </a:tr>
              <a:tr h="324000">
                <a:tc>
                  <a:txBody>
                    <a:bodyPr/>
                    <a:p>
                      <a:pPr algn="ctr">
                        <a:buNone/>
                      </a:pPr>
                      <a:r>
                        <a:rPr lang="en-US" altLang="zh-CN" sz="1100">
                          <a:solidFill>
                            <a:srgbClr val="584E61"/>
                          </a:solidFill>
                        </a:rPr>
                        <a:t>5</a:t>
                      </a:r>
                      <a:endParaRPr lang="en-US" altLang="zh-CN" sz="1100">
                        <a:solidFill>
                          <a:srgbClr val="584E61"/>
                        </a:solidFill>
                      </a:endParaRPr>
                    </a:p>
                  </a:txBody>
                  <a:tcPr anchor="ctr" anchorCtr="0">
                    <a:lnL>
                      <a:noFill/>
                    </a:lnL>
                    <a:lnR>
                      <a:noFill/>
                    </a:lnR>
                    <a:lnT>
                      <a:noFill/>
                    </a:lnT>
                    <a:lnB>
                      <a:noFill/>
                    </a:lnB>
                    <a:solidFill>
                      <a:srgbClr val="FFFFFF"/>
                    </a:solidFill>
                  </a:tcPr>
                </a:tc>
                <a:tc>
                  <a:txBody>
                    <a:bodyPr/>
                    <a:p>
                      <a:pPr algn="ctr">
                        <a:buNone/>
                      </a:pPr>
                      <a:r>
                        <a:rPr lang="zh-CN" altLang="en-US" sz="1100">
                          <a:solidFill>
                            <a:srgbClr val="584E61"/>
                          </a:solidFill>
                        </a:rPr>
                        <a:t>const</a:t>
                      </a:r>
                      <a:endParaRPr lang="zh-CN" altLang="en-US" sz="1100">
                        <a:solidFill>
                          <a:srgbClr val="584E61"/>
                        </a:solidFill>
                      </a:endParaRPr>
                    </a:p>
                  </a:txBody>
                  <a:tcPr anchor="ctr" anchorCtr="0">
                    <a:lnL>
                      <a:noFill/>
                    </a:lnL>
                    <a:lnR>
                      <a:noFill/>
                    </a:lnR>
                    <a:lnT>
                      <a:noFill/>
                    </a:lnT>
                    <a:lnB>
                      <a:noFill/>
                    </a:lnB>
                    <a:solidFill>
                      <a:srgbClr val="FFFFFF"/>
                    </a:solidFill>
                  </a:tcPr>
                </a:tc>
                <a:tc>
                  <a:txBody>
                    <a:bodyPr/>
                    <a:p>
                      <a:pPr algn="l">
                        <a:buNone/>
                      </a:pPr>
                      <a:r>
                        <a:rPr lang="zh-CN" altLang="en-US" sz="1100">
                          <a:solidFill>
                            <a:srgbClr val="584E61"/>
                          </a:solidFill>
                        </a:rPr>
                        <a:t>声明只读变量</a:t>
                      </a:r>
                      <a:endParaRPr lang="zh-CN" altLang="en-US" sz="1100">
                        <a:solidFill>
                          <a:srgbClr val="584E61"/>
                        </a:solidFill>
                      </a:endParaRPr>
                    </a:p>
                  </a:txBody>
                  <a:tcPr anchor="ctr" anchorCtr="0">
                    <a:lnL>
                      <a:noFill/>
                    </a:lnL>
                    <a:lnR>
                      <a:noFill/>
                    </a:lnR>
                    <a:lnT>
                      <a:noFill/>
                    </a:lnT>
                    <a:lnB>
                      <a:noFill/>
                    </a:lnB>
                    <a:solidFill>
                      <a:srgbClr val="FFFFFF"/>
                    </a:solidFill>
                  </a:tcPr>
                </a:tc>
              </a:tr>
              <a:tr h="324000">
                <a:tc>
                  <a:txBody>
                    <a:bodyPr/>
                    <a:p>
                      <a:pPr algn="ctr">
                        <a:buNone/>
                      </a:pPr>
                      <a:r>
                        <a:rPr lang="en-US" altLang="zh-CN" sz="1100">
                          <a:solidFill>
                            <a:srgbClr val="584E61"/>
                          </a:solidFill>
                        </a:rPr>
                        <a:t>6</a:t>
                      </a:r>
                      <a:endParaRPr lang="en-US" altLang="zh-CN" sz="1100">
                        <a:solidFill>
                          <a:srgbClr val="584E61"/>
                        </a:solidFill>
                      </a:endParaRPr>
                    </a:p>
                  </a:txBody>
                  <a:tcPr anchor="ctr" anchorCtr="0">
                    <a:lnL>
                      <a:noFill/>
                    </a:lnL>
                    <a:lnR>
                      <a:noFill/>
                    </a:lnR>
                    <a:lnT>
                      <a:noFill/>
                    </a:lnT>
                    <a:lnB>
                      <a:noFill/>
                    </a:lnB>
                    <a:solidFill>
                      <a:srgbClr val="F0EFF2"/>
                    </a:solidFill>
                  </a:tcPr>
                </a:tc>
                <a:tc>
                  <a:txBody>
                    <a:bodyPr/>
                    <a:p>
                      <a:pPr algn="ctr">
                        <a:buNone/>
                      </a:pPr>
                      <a:r>
                        <a:rPr lang="zh-CN" altLang="en-US" sz="1100">
                          <a:solidFill>
                            <a:srgbClr val="584E61"/>
                          </a:solidFill>
                        </a:rPr>
                        <a:t>continue</a:t>
                      </a:r>
                      <a:endParaRPr lang="zh-CN" altLang="en-US" sz="1100">
                        <a:solidFill>
                          <a:srgbClr val="584E61"/>
                        </a:solidFill>
                      </a:endParaRPr>
                    </a:p>
                  </a:txBody>
                  <a:tcPr anchor="ctr" anchorCtr="0">
                    <a:lnL>
                      <a:noFill/>
                    </a:lnL>
                    <a:lnR>
                      <a:noFill/>
                    </a:lnR>
                    <a:lnT>
                      <a:noFill/>
                    </a:lnT>
                    <a:lnB>
                      <a:noFill/>
                    </a:lnB>
                    <a:solidFill>
                      <a:srgbClr val="F0EFF2"/>
                    </a:solidFill>
                  </a:tcPr>
                </a:tc>
                <a:tc>
                  <a:txBody>
                    <a:bodyPr/>
                    <a:p>
                      <a:pPr algn="l">
                        <a:buNone/>
                      </a:pPr>
                      <a:r>
                        <a:rPr lang="zh-CN" altLang="en-US" sz="1100">
                          <a:solidFill>
                            <a:srgbClr val="584E61"/>
                          </a:solidFill>
                        </a:rPr>
                        <a:t>结束本次循环，继续执行下一次循环</a:t>
                      </a:r>
                      <a:endParaRPr lang="zh-CN" altLang="en-US" sz="1100">
                        <a:solidFill>
                          <a:srgbClr val="584E61"/>
                        </a:solidFill>
                      </a:endParaRPr>
                    </a:p>
                  </a:txBody>
                  <a:tcPr anchor="ctr" anchorCtr="0">
                    <a:lnL>
                      <a:noFill/>
                    </a:lnL>
                    <a:lnR>
                      <a:noFill/>
                    </a:lnR>
                    <a:lnT>
                      <a:noFill/>
                    </a:lnT>
                    <a:lnB>
                      <a:noFill/>
                    </a:lnB>
                    <a:solidFill>
                      <a:srgbClr val="F0EFF2"/>
                    </a:solidFill>
                  </a:tcPr>
                </a:tc>
              </a:tr>
              <a:tr h="324000">
                <a:tc>
                  <a:txBody>
                    <a:bodyPr/>
                    <a:p>
                      <a:pPr algn="ctr">
                        <a:buNone/>
                      </a:pPr>
                      <a:r>
                        <a:rPr lang="en-US" altLang="zh-CN" sz="1100">
                          <a:solidFill>
                            <a:srgbClr val="584E61"/>
                          </a:solidFill>
                        </a:rPr>
                        <a:t>7</a:t>
                      </a:r>
                      <a:endParaRPr lang="en-US" altLang="zh-CN" sz="1100">
                        <a:solidFill>
                          <a:srgbClr val="584E61"/>
                        </a:solidFill>
                      </a:endParaRPr>
                    </a:p>
                  </a:txBody>
                  <a:tcPr anchor="ctr" anchorCtr="0">
                    <a:lnL>
                      <a:noFill/>
                    </a:lnL>
                    <a:lnR>
                      <a:noFill/>
                    </a:lnR>
                    <a:lnT>
                      <a:noFill/>
                    </a:lnT>
                    <a:lnB>
                      <a:noFill/>
                    </a:lnB>
                    <a:solidFill>
                      <a:srgbClr val="FFFFFF"/>
                    </a:solidFill>
                  </a:tcPr>
                </a:tc>
                <a:tc>
                  <a:txBody>
                    <a:bodyPr/>
                    <a:p>
                      <a:pPr algn="ctr">
                        <a:buNone/>
                      </a:pPr>
                      <a:r>
                        <a:rPr lang="zh-CN" altLang="en-US" sz="1100">
                          <a:solidFill>
                            <a:srgbClr val="584E61"/>
                          </a:solidFill>
                        </a:rPr>
                        <a:t>default</a:t>
                      </a:r>
                      <a:endParaRPr lang="zh-CN" altLang="en-US" sz="1100">
                        <a:solidFill>
                          <a:srgbClr val="584E61"/>
                        </a:solidFill>
                      </a:endParaRPr>
                    </a:p>
                  </a:txBody>
                  <a:tcPr anchor="ctr" anchorCtr="0">
                    <a:lnL>
                      <a:noFill/>
                    </a:lnL>
                    <a:lnR>
                      <a:noFill/>
                    </a:lnR>
                    <a:lnT>
                      <a:noFill/>
                    </a:lnT>
                    <a:lnB>
                      <a:noFill/>
                    </a:lnB>
                    <a:solidFill>
                      <a:srgbClr val="FFFFFF"/>
                    </a:solidFill>
                  </a:tcPr>
                </a:tc>
                <a:tc>
                  <a:txBody>
                    <a:bodyPr/>
                    <a:p>
                      <a:pPr algn="l">
                        <a:buNone/>
                      </a:pPr>
                      <a:r>
                        <a:rPr lang="zh-CN" altLang="en-US" sz="1100">
                          <a:solidFill>
                            <a:srgbClr val="584E61"/>
                          </a:solidFill>
                        </a:rPr>
                        <a:t>switch 语句中的默认分支</a:t>
                      </a:r>
                      <a:endParaRPr lang="zh-CN" altLang="en-US" sz="1100">
                        <a:solidFill>
                          <a:srgbClr val="584E61"/>
                        </a:solidFill>
                      </a:endParaRPr>
                    </a:p>
                  </a:txBody>
                  <a:tcPr anchor="ctr" anchorCtr="0">
                    <a:lnL>
                      <a:noFill/>
                    </a:lnL>
                    <a:lnR>
                      <a:noFill/>
                    </a:lnR>
                    <a:lnT>
                      <a:noFill/>
                    </a:lnT>
                    <a:lnB>
                      <a:noFill/>
                    </a:lnB>
                    <a:solidFill>
                      <a:srgbClr val="FFFFFF"/>
                    </a:solidFill>
                  </a:tcPr>
                </a:tc>
              </a:tr>
              <a:tr h="324000">
                <a:tc>
                  <a:txBody>
                    <a:bodyPr/>
                    <a:p>
                      <a:pPr algn="ctr">
                        <a:buNone/>
                      </a:pPr>
                      <a:r>
                        <a:rPr lang="en-US" altLang="zh-CN" sz="1100">
                          <a:solidFill>
                            <a:srgbClr val="584E61"/>
                          </a:solidFill>
                        </a:rPr>
                        <a:t>8</a:t>
                      </a:r>
                      <a:endParaRPr lang="en-US" altLang="zh-CN" sz="1100">
                        <a:solidFill>
                          <a:srgbClr val="584E61"/>
                        </a:solidFill>
                      </a:endParaRPr>
                    </a:p>
                  </a:txBody>
                  <a:tcPr anchor="ctr" anchorCtr="0">
                    <a:lnL>
                      <a:noFill/>
                    </a:lnL>
                    <a:lnR>
                      <a:noFill/>
                    </a:lnR>
                    <a:lnT>
                      <a:noFill/>
                    </a:lnT>
                    <a:lnB>
                      <a:noFill/>
                    </a:lnB>
                    <a:solidFill>
                      <a:srgbClr val="F0EFF2"/>
                    </a:solidFill>
                  </a:tcPr>
                </a:tc>
                <a:tc>
                  <a:txBody>
                    <a:bodyPr/>
                    <a:p>
                      <a:pPr algn="ctr">
                        <a:buNone/>
                      </a:pPr>
                      <a:r>
                        <a:rPr lang="en-US" altLang="zh-CN" sz="1100">
                          <a:solidFill>
                            <a:srgbClr val="584E61"/>
                          </a:solidFill>
                        </a:rPr>
                        <a:t>do</a:t>
                      </a:r>
                      <a:endParaRPr lang="en-US" altLang="zh-CN" sz="1100">
                        <a:solidFill>
                          <a:srgbClr val="584E61"/>
                        </a:solidFill>
                      </a:endParaRPr>
                    </a:p>
                  </a:txBody>
                  <a:tcPr anchor="ctr" anchorCtr="0">
                    <a:lnL>
                      <a:noFill/>
                    </a:lnL>
                    <a:lnR>
                      <a:noFill/>
                    </a:lnR>
                    <a:lnT>
                      <a:noFill/>
                    </a:lnT>
                    <a:lnB>
                      <a:noFill/>
                    </a:lnB>
                    <a:solidFill>
                      <a:srgbClr val="F0EFF2"/>
                    </a:solidFill>
                  </a:tcPr>
                </a:tc>
                <a:tc>
                  <a:txBody>
                    <a:bodyPr/>
                    <a:p>
                      <a:pPr algn="l">
                        <a:buNone/>
                      </a:pPr>
                      <a:r>
                        <a:rPr lang="zh-CN" altLang="en-US" sz="1100">
                          <a:solidFill>
                            <a:srgbClr val="584E61"/>
                          </a:solidFill>
                        </a:rPr>
                        <a:t>do 循环，先执行循环体 ，后再执行条件判断。</a:t>
                      </a:r>
                      <a:endParaRPr lang="zh-CN" altLang="en-US" sz="1100">
                        <a:solidFill>
                          <a:srgbClr val="584E61"/>
                        </a:solidFill>
                      </a:endParaRPr>
                    </a:p>
                    <a:p>
                      <a:pPr algn="l">
                        <a:buNone/>
                      </a:pPr>
                      <a:r>
                        <a:rPr lang="zh-CN" altLang="en-US" sz="1100">
                          <a:solidFill>
                            <a:srgbClr val="584E61"/>
                          </a:solidFill>
                        </a:rPr>
                        <a:t>do-while 循环可以减少 一次条件判断 ，性能更好，代码更长。</a:t>
                      </a:r>
                      <a:endParaRPr lang="zh-CN" altLang="en-US" sz="1100">
                        <a:solidFill>
                          <a:srgbClr val="584E61"/>
                        </a:solidFill>
                      </a:endParaRPr>
                    </a:p>
                  </a:txBody>
                  <a:tcPr anchor="ctr" anchorCtr="0">
                    <a:lnL>
                      <a:noFill/>
                    </a:lnL>
                    <a:lnR>
                      <a:noFill/>
                    </a:lnR>
                    <a:lnT>
                      <a:noFill/>
                    </a:lnT>
                    <a:lnB>
                      <a:noFill/>
                    </a:lnB>
                    <a:solidFill>
                      <a:srgbClr val="F0EFF2"/>
                    </a:solidFill>
                  </a:tcPr>
                </a:tc>
              </a:tr>
              <a:tr h="324000">
                <a:tc>
                  <a:txBody>
                    <a:bodyPr/>
                    <a:p>
                      <a:pPr algn="ctr">
                        <a:buNone/>
                      </a:pPr>
                      <a:r>
                        <a:rPr lang="en-US" altLang="zh-CN" sz="1100">
                          <a:solidFill>
                            <a:srgbClr val="584E61"/>
                          </a:solidFill>
                        </a:rPr>
                        <a:t>9</a:t>
                      </a:r>
                      <a:endParaRPr lang="en-US" altLang="zh-CN" sz="1100">
                        <a:solidFill>
                          <a:srgbClr val="584E61"/>
                        </a:solidFill>
                      </a:endParaRPr>
                    </a:p>
                  </a:txBody>
                  <a:tcPr anchor="ctr" anchorCtr="0">
                    <a:lnL>
                      <a:noFill/>
                    </a:lnL>
                    <a:lnR>
                      <a:noFill/>
                    </a:lnR>
                    <a:lnT>
                      <a:noFill/>
                    </a:lnT>
                    <a:lnB>
                      <a:noFill/>
                    </a:lnB>
                    <a:solidFill>
                      <a:srgbClr val="FFFFFF"/>
                    </a:solidFill>
                  </a:tcPr>
                </a:tc>
                <a:tc>
                  <a:txBody>
                    <a:bodyPr/>
                    <a:p>
                      <a:pPr algn="ctr">
                        <a:buNone/>
                      </a:pPr>
                      <a:r>
                        <a:rPr lang="zh-CN" altLang="en-US" sz="1100">
                          <a:solidFill>
                            <a:srgbClr val="584E61"/>
                          </a:solidFill>
                        </a:rPr>
                        <a:t>double</a:t>
                      </a:r>
                      <a:endParaRPr lang="zh-CN" altLang="en-US" sz="1100">
                        <a:solidFill>
                          <a:srgbClr val="584E61"/>
                        </a:solidFill>
                      </a:endParaRPr>
                    </a:p>
                  </a:txBody>
                  <a:tcPr anchor="ctr" anchorCtr="0">
                    <a:lnL>
                      <a:noFill/>
                    </a:lnL>
                    <a:lnR>
                      <a:noFill/>
                    </a:lnR>
                    <a:lnT>
                      <a:noFill/>
                    </a:lnT>
                    <a:lnB>
                      <a:noFill/>
                    </a:lnB>
                    <a:solidFill>
                      <a:srgbClr val="FFFFFF"/>
                    </a:solidFill>
                  </a:tcPr>
                </a:tc>
                <a:tc>
                  <a:txBody>
                    <a:bodyPr/>
                    <a:p>
                      <a:pPr algn="l">
                        <a:buNone/>
                      </a:pPr>
                      <a:r>
                        <a:rPr lang="zh-CN" altLang="en-US" sz="1100">
                          <a:solidFill>
                            <a:srgbClr val="584E61"/>
                          </a:solidFill>
                        </a:rPr>
                        <a:t>声明双精度浮点型变量或函数</a:t>
                      </a:r>
                      <a:endParaRPr lang="zh-CN" altLang="en-US" sz="1100">
                        <a:solidFill>
                          <a:srgbClr val="584E61"/>
                        </a:solidFill>
                      </a:endParaRPr>
                    </a:p>
                  </a:txBody>
                  <a:tcPr anchor="ctr" anchorCtr="0">
                    <a:lnL>
                      <a:noFill/>
                    </a:lnL>
                    <a:lnR>
                      <a:noFill/>
                    </a:lnR>
                    <a:lnT>
                      <a:noFill/>
                    </a:lnT>
                    <a:lnB>
                      <a:noFill/>
                    </a:lnB>
                    <a:solidFill>
                      <a:srgbClr val="FFFFFF"/>
                    </a:solidFill>
                  </a:tcPr>
                </a:tc>
              </a:tr>
              <a:tr h="324000">
                <a:tc>
                  <a:txBody>
                    <a:bodyPr/>
                    <a:p>
                      <a:pPr algn="ctr">
                        <a:buNone/>
                      </a:pPr>
                      <a:r>
                        <a:rPr lang="en-US" altLang="zh-CN" sz="1100">
                          <a:solidFill>
                            <a:srgbClr val="584E61"/>
                          </a:solidFill>
                        </a:rPr>
                        <a:t>10</a:t>
                      </a:r>
                      <a:endParaRPr lang="en-US" altLang="zh-CN" sz="1100">
                        <a:solidFill>
                          <a:srgbClr val="584E61"/>
                        </a:solidFill>
                      </a:endParaRPr>
                    </a:p>
                  </a:txBody>
                  <a:tcPr anchor="ctr" anchorCtr="0">
                    <a:lnL>
                      <a:noFill/>
                    </a:lnL>
                    <a:lnR>
                      <a:noFill/>
                    </a:lnR>
                    <a:lnT>
                      <a:noFill/>
                    </a:lnT>
                    <a:lnB w="19050">
                      <a:solidFill>
                        <a:srgbClr val="584E61"/>
                      </a:solidFill>
                      <a:prstDash val="solid"/>
                    </a:lnB>
                    <a:solidFill>
                      <a:srgbClr val="F0EFF2"/>
                    </a:solidFill>
                  </a:tcPr>
                </a:tc>
                <a:tc>
                  <a:txBody>
                    <a:bodyPr/>
                    <a:p>
                      <a:pPr algn="ctr">
                        <a:buNone/>
                      </a:pPr>
                      <a:r>
                        <a:rPr lang="zh-CN" altLang="en-US" sz="1100">
                          <a:solidFill>
                            <a:srgbClr val="584E61"/>
                          </a:solidFill>
                        </a:rPr>
                        <a:t>else</a:t>
                      </a:r>
                      <a:endParaRPr lang="zh-CN" altLang="en-US" sz="1100">
                        <a:solidFill>
                          <a:srgbClr val="584E61"/>
                        </a:solidFill>
                      </a:endParaRPr>
                    </a:p>
                  </a:txBody>
                  <a:tcPr anchor="ctr" anchorCtr="0">
                    <a:lnL>
                      <a:noFill/>
                    </a:lnL>
                    <a:lnR>
                      <a:noFill/>
                    </a:lnR>
                    <a:lnT>
                      <a:noFill/>
                    </a:lnT>
                    <a:lnB w="19050">
                      <a:solidFill>
                        <a:srgbClr val="584E61"/>
                      </a:solidFill>
                      <a:prstDash val="solid"/>
                    </a:lnB>
                    <a:solidFill>
                      <a:srgbClr val="F0EFF2"/>
                    </a:solidFill>
                  </a:tcPr>
                </a:tc>
                <a:tc>
                  <a:txBody>
                    <a:bodyPr/>
                    <a:p>
                      <a:pPr algn="l">
                        <a:buNone/>
                      </a:pPr>
                      <a:r>
                        <a:rPr lang="zh-CN" altLang="en-US" sz="1100">
                          <a:solidFill>
                            <a:srgbClr val="584E61"/>
                          </a:solidFill>
                        </a:rPr>
                        <a:t>条件语句否定分支 (与</a:t>
                      </a:r>
                      <a:r>
                        <a:rPr lang="en-US" altLang="zh-CN" sz="1100">
                          <a:solidFill>
                            <a:srgbClr val="584E61"/>
                          </a:solidFill>
                        </a:rPr>
                        <a:t>if</a:t>
                      </a:r>
                      <a:r>
                        <a:rPr lang="zh-CN" altLang="en-US" sz="1100">
                          <a:solidFill>
                            <a:srgbClr val="584E61"/>
                          </a:solidFill>
                        </a:rPr>
                        <a:t>连用)</a:t>
                      </a:r>
                      <a:endParaRPr lang="zh-CN" altLang="en-US" sz="1100">
                        <a:solidFill>
                          <a:srgbClr val="584E61"/>
                        </a:solidFill>
                      </a:endParaRPr>
                    </a:p>
                  </a:txBody>
                  <a:tcPr anchor="ctr" anchorCtr="0">
                    <a:lnL>
                      <a:noFill/>
                    </a:lnL>
                    <a:lnR>
                      <a:noFill/>
                    </a:lnR>
                    <a:lnT>
                      <a:noFill/>
                    </a:lnT>
                    <a:lnB w="19050">
                      <a:solidFill>
                        <a:srgbClr val="584E61"/>
                      </a:solidFill>
                      <a:prstDash val="solid"/>
                    </a:lnB>
                    <a:solidFill>
                      <a:srgbClr val="F0EFF2"/>
                    </a:solidFill>
                  </a:tcPr>
                </a:tc>
              </a:tr>
            </a:tbl>
          </a:graphicData>
        </a:graphic>
      </p:graphicFrame>
      <p:sp>
        <p:nvSpPr>
          <p:cNvPr id="4" name="灯片编号占位符 3"/>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0" y="85725"/>
            <a:ext cx="5905500" cy="542925"/>
          </a:xfr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2.2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关键字与标识符</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14339" name="内容占位符 2"/>
          <p:cNvSpPr>
            <a:spLocks noGrp="1"/>
          </p:cNvSpPr>
          <p:nvPr>
            <p:ph idx="1"/>
          </p:nvPr>
        </p:nvSpPr>
        <p:spPr bwMode="auto">
          <a:xfrm>
            <a:off x="457200" y="497840"/>
            <a:ext cx="8229600" cy="57340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Tx/>
              <a:buChar char="•"/>
              <a:defRPr/>
            </a:pPr>
            <a:r>
              <a:rPr kumimoji="0" lang="en-US" altLang="zh-CN" b="1" i="0" u="none" strike="noStrike" kern="0" cap="none" spc="0" normalizeH="0" baseline="0" noProof="0" dirty="0" smtClean="0">
                <a:ln>
                  <a:noFill/>
                </a:ln>
                <a:solidFill>
                  <a:srgbClr val="009ED6"/>
                </a:solidFill>
                <a:effectLst/>
                <a:uLnTx/>
                <a:uFillTx/>
                <a:latin typeface="+mn-lt"/>
                <a:ea typeface="+mn-ea"/>
                <a:cs typeface="+mn-cs"/>
              </a:rPr>
              <a:t>2.2.1 </a:t>
            </a:r>
            <a:r>
              <a:rPr kumimoji="0" lang="zh-CN" altLang="en-US" b="1" i="0" u="none" strike="noStrike" kern="0" cap="none" spc="0" normalizeH="0" baseline="0" noProof="0" dirty="0" smtClean="0">
                <a:ln>
                  <a:noFill/>
                </a:ln>
                <a:solidFill>
                  <a:srgbClr val="009ED6"/>
                </a:solidFill>
                <a:effectLst/>
                <a:uLnTx/>
                <a:uFillTx/>
                <a:latin typeface="+mn-lt"/>
                <a:ea typeface="+mn-ea"/>
                <a:cs typeface="+mn-cs"/>
              </a:rPr>
              <a:t> 关键字</a:t>
            </a:r>
            <a:endParaRPr kumimoji="0" lang="en-US" altLang="zh-CN" b="1" i="0" u="none" strike="noStrike" kern="0" cap="none" spc="0" normalizeH="0" baseline="0" noProof="0" dirty="0" smtClean="0">
              <a:ln>
                <a:noFill/>
              </a:ln>
              <a:solidFill>
                <a:srgbClr val="009ED6"/>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1" i="0" u="none" strike="noStrike" kern="0" cap="none" spc="0" normalizeH="0" baseline="0" noProof="0" dirty="0">
              <a:ln>
                <a:noFill/>
              </a:ln>
              <a:solidFill>
                <a:srgbClr val="009ED6"/>
              </a:solidFill>
              <a:effectLst/>
              <a:uLnTx/>
              <a:uFillTx/>
              <a:latin typeface="+mn-lt"/>
              <a:ea typeface="+mn-ea"/>
              <a:cs typeface="+mn-cs"/>
            </a:endParaRPr>
          </a:p>
        </p:txBody>
      </p:sp>
      <p:graphicFrame>
        <p:nvGraphicFramePr>
          <p:cNvPr id="3" name="表格 2"/>
          <p:cNvGraphicFramePr/>
          <p:nvPr>
            <p:custDataLst>
              <p:tags r:id="rId1"/>
            </p:custDataLst>
          </p:nvPr>
        </p:nvGraphicFramePr>
        <p:xfrm>
          <a:off x="1007110" y="1136650"/>
          <a:ext cx="7505700" cy="3872230"/>
        </p:xfrm>
        <a:graphic>
          <a:graphicData uri="http://schemas.openxmlformats.org/drawingml/2006/table">
            <a:tbl>
              <a:tblPr firstRow="1" bandRow="1"/>
              <a:tblGrid>
                <a:gridCol w="943610"/>
                <a:gridCol w="1073150"/>
                <a:gridCol w="5488940"/>
              </a:tblGrid>
              <a:tr h="210820">
                <a:tc>
                  <a:txBody>
                    <a:bodyPr/>
                    <a:p>
                      <a:pPr algn="ctr">
                        <a:buNone/>
                      </a:pPr>
                      <a:r>
                        <a:rPr lang="zh-CN" altLang="en-US" sz="1100">
                          <a:solidFill>
                            <a:srgbClr val="584E61"/>
                          </a:solidFill>
                        </a:rPr>
                        <a:t>序号</a:t>
                      </a:r>
                      <a:endParaRPr lang="zh-CN" altLang="en-US" sz="1100">
                        <a:solidFill>
                          <a:srgbClr val="584E61"/>
                        </a:solidFill>
                      </a:endParaRPr>
                    </a:p>
                  </a:txBody>
                  <a:tcPr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p>
                      <a:pPr algn="ctr">
                        <a:buNone/>
                      </a:pPr>
                      <a:r>
                        <a:rPr lang="zh-CN" altLang="en-US" sz="1100">
                          <a:solidFill>
                            <a:srgbClr val="584E61"/>
                          </a:solidFill>
                        </a:rPr>
                        <a:t>关键字</a:t>
                      </a:r>
                      <a:endParaRPr lang="zh-CN" altLang="en-US" sz="1100">
                        <a:solidFill>
                          <a:srgbClr val="584E61"/>
                        </a:solidFill>
                      </a:endParaRPr>
                    </a:p>
                  </a:txBody>
                  <a:tcPr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p>
                      <a:pPr algn="ctr">
                        <a:buNone/>
                      </a:pPr>
                      <a:r>
                        <a:rPr lang="zh-CN" altLang="en-US" sz="1100">
                          <a:solidFill>
                            <a:srgbClr val="584E61"/>
                          </a:solidFill>
                        </a:rPr>
                        <a:t>说明</a:t>
                      </a:r>
                      <a:endParaRPr lang="zh-CN" altLang="en-US" sz="1100">
                        <a:solidFill>
                          <a:srgbClr val="584E61"/>
                        </a:solidFill>
                      </a:endParaRPr>
                    </a:p>
                  </a:txBody>
                  <a:tcPr anchor="ctr" anchorCtr="0">
                    <a:lnL>
                      <a:noFill/>
                    </a:lnL>
                    <a:lnR>
                      <a:noFill/>
                    </a:lnR>
                    <a:lnT w="19050">
                      <a:solidFill>
                        <a:srgbClr val="584E61"/>
                      </a:solidFill>
                      <a:prstDash val="solid"/>
                    </a:lnT>
                    <a:lnB w="19050">
                      <a:solidFill>
                        <a:srgbClr val="584E61"/>
                      </a:solidFill>
                      <a:prstDash val="solid"/>
                    </a:lnB>
                    <a:solidFill>
                      <a:srgbClr val="FFFFFF"/>
                    </a:solidFill>
                  </a:tcPr>
                </a:tc>
              </a:tr>
              <a:tr h="324000">
                <a:tc>
                  <a:txBody>
                    <a:bodyPr/>
                    <a:p>
                      <a:pPr algn="ctr">
                        <a:buNone/>
                      </a:pPr>
                      <a:r>
                        <a:rPr lang="en-US" altLang="zh-CN" sz="1100">
                          <a:solidFill>
                            <a:srgbClr val="584E61"/>
                          </a:solidFill>
                        </a:rPr>
                        <a:t>11</a:t>
                      </a:r>
                      <a:endParaRPr lang="en-US" altLang="zh-CN" sz="1100">
                        <a:solidFill>
                          <a:srgbClr val="584E61"/>
                        </a:solidFill>
                      </a:endParaRPr>
                    </a:p>
                  </a:txBody>
                  <a:tcPr anchor="ctr" anchorCtr="0">
                    <a:lnL>
                      <a:noFill/>
                    </a:lnL>
                    <a:lnR>
                      <a:noFill/>
                    </a:lnR>
                    <a:lnT w="19050">
                      <a:solidFill>
                        <a:srgbClr val="584E61"/>
                      </a:solidFill>
                      <a:prstDash val="solid"/>
                    </a:lnT>
                    <a:lnB>
                      <a:noFill/>
                    </a:lnB>
                    <a:solidFill>
                      <a:srgbClr val="FFFFFF"/>
                    </a:solidFill>
                  </a:tcPr>
                </a:tc>
                <a:tc>
                  <a:txBody>
                    <a:bodyPr/>
                    <a:p>
                      <a:pPr algn="ctr">
                        <a:buNone/>
                      </a:pPr>
                      <a:r>
                        <a:rPr lang="en-US" altLang="zh-CN" sz="1100">
                          <a:solidFill>
                            <a:srgbClr val="584E61"/>
                          </a:solidFill>
                        </a:rPr>
                        <a:t>enum</a:t>
                      </a:r>
                      <a:endParaRPr lang="en-US" altLang="zh-CN" sz="1100">
                        <a:solidFill>
                          <a:srgbClr val="584E61"/>
                        </a:solidFill>
                      </a:endParaRPr>
                    </a:p>
                  </a:txBody>
                  <a:tcPr anchor="ctr" anchorCtr="0">
                    <a:lnL>
                      <a:noFill/>
                    </a:lnL>
                    <a:lnR>
                      <a:noFill/>
                    </a:lnR>
                    <a:lnT w="19050">
                      <a:solidFill>
                        <a:srgbClr val="584E61"/>
                      </a:solidFill>
                      <a:prstDash val="solid"/>
                    </a:lnT>
                    <a:lnB>
                      <a:noFill/>
                    </a:lnB>
                    <a:solidFill>
                      <a:srgbClr val="FFFFFF"/>
                    </a:solidFill>
                  </a:tcPr>
                </a:tc>
                <a:tc>
                  <a:txBody>
                    <a:bodyPr/>
                    <a:p>
                      <a:pPr algn="l">
                        <a:buNone/>
                      </a:pPr>
                      <a:r>
                        <a:rPr lang="zh-CN" altLang="en-US" sz="1100">
                          <a:solidFill>
                            <a:srgbClr val="584E61"/>
                          </a:solidFill>
                        </a:rPr>
                        <a:t>声明枚举类型</a:t>
                      </a:r>
                      <a:endParaRPr lang="zh-CN" altLang="en-US" sz="1100">
                        <a:solidFill>
                          <a:srgbClr val="584E61"/>
                        </a:solidFill>
                      </a:endParaRPr>
                    </a:p>
                  </a:txBody>
                  <a:tcPr anchor="ctr" anchorCtr="0">
                    <a:lnL>
                      <a:noFill/>
                    </a:lnL>
                    <a:lnR>
                      <a:noFill/>
                    </a:lnR>
                    <a:lnT w="19050">
                      <a:solidFill>
                        <a:srgbClr val="584E61"/>
                      </a:solidFill>
                      <a:prstDash val="solid"/>
                    </a:lnT>
                    <a:lnB>
                      <a:noFill/>
                    </a:lnB>
                    <a:solidFill>
                      <a:srgbClr val="FFFFFF"/>
                    </a:solidFill>
                  </a:tcPr>
                </a:tc>
              </a:tr>
              <a:tr h="324000">
                <a:tc>
                  <a:txBody>
                    <a:bodyPr/>
                    <a:p>
                      <a:pPr algn="ctr">
                        <a:buNone/>
                      </a:pPr>
                      <a:r>
                        <a:rPr lang="en-US" altLang="zh-CN" sz="1100">
                          <a:solidFill>
                            <a:srgbClr val="584E61"/>
                          </a:solidFill>
                        </a:rPr>
                        <a:t>12</a:t>
                      </a:r>
                      <a:endParaRPr lang="en-US" altLang="zh-CN" sz="1100">
                        <a:solidFill>
                          <a:srgbClr val="584E61"/>
                        </a:solidFill>
                      </a:endParaRPr>
                    </a:p>
                  </a:txBody>
                  <a:tcPr anchor="ctr" anchorCtr="0">
                    <a:lnL>
                      <a:noFill/>
                    </a:lnL>
                    <a:lnR>
                      <a:noFill/>
                    </a:lnR>
                    <a:lnT>
                      <a:noFill/>
                    </a:lnT>
                    <a:lnB>
                      <a:noFill/>
                    </a:lnB>
                    <a:solidFill>
                      <a:srgbClr val="F0EFF2"/>
                    </a:solidFill>
                  </a:tcPr>
                </a:tc>
                <a:tc>
                  <a:txBody>
                    <a:bodyPr/>
                    <a:p>
                      <a:pPr algn="ctr">
                        <a:buNone/>
                      </a:pPr>
                      <a:r>
                        <a:rPr lang="zh-CN" altLang="en-US" sz="1100">
                          <a:solidFill>
                            <a:srgbClr val="584E61"/>
                          </a:solidFill>
                        </a:rPr>
                        <a:t>extern</a:t>
                      </a:r>
                      <a:endParaRPr lang="zh-CN" altLang="en-US" sz="1100">
                        <a:solidFill>
                          <a:srgbClr val="584E61"/>
                        </a:solidFill>
                      </a:endParaRPr>
                    </a:p>
                  </a:txBody>
                  <a:tcPr anchor="ctr" anchorCtr="0">
                    <a:lnL>
                      <a:noFill/>
                    </a:lnL>
                    <a:lnR>
                      <a:noFill/>
                    </a:lnR>
                    <a:lnT>
                      <a:noFill/>
                    </a:lnT>
                    <a:lnB>
                      <a:noFill/>
                    </a:lnB>
                    <a:solidFill>
                      <a:srgbClr val="F0EFF2"/>
                    </a:solidFill>
                  </a:tcPr>
                </a:tc>
                <a:tc>
                  <a:txBody>
                    <a:bodyPr/>
                    <a:p>
                      <a:pPr algn="l">
                        <a:buNone/>
                      </a:pPr>
                      <a:r>
                        <a:rPr lang="zh-CN" altLang="en-US" sz="1100">
                          <a:solidFill>
                            <a:srgbClr val="584E61"/>
                          </a:solidFill>
                        </a:rPr>
                        <a:t>声明变量或函数是在其它文件或本文件的其他位置定义</a:t>
                      </a:r>
                      <a:endParaRPr lang="zh-CN" altLang="en-US" sz="1100">
                        <a:solidFill>
                          <a:srgbClr val="584E61"/>
                        </a:solidFill>
                      </a:endParaRPr>
                    </a:p>
                  </a:txBody>
                  <a:tcPr anchor="ctr" anchorCtr="0">
                    <a:lnL>
                      <a:noFill/>
                    </a:lnL>
                    <a:lnR>
                      <a:noFill/>
                    </a:lnR>
                    <a:lnT>
                      <a:noFill/>
                    </a:lnT>
                    <a:lnB>
                      <a:noFill/>
                    </a:lnB>
                    <a:solidFill>
                      <a:srgbClr val="F0EFF2"/>
                    </a:solidFill>
                  </a:tcPr>
                </a:tc>
              </a:tr>
              <a:tr h="324000">
                <a:tc>
                  <a:txBody>
                    <a:bodyPr/>
                    <a:p>
                      <a:pPr algn="ctr">
                        <a:buNone/>
                      </a:pPr>
                      <a:r>
                        <a:rPr lang="en-US" altLang="zh-CN" sz="1100">
                          <a:solidFill>
                            <a:srgbClr val="584E61"/>
                          </a:solidFill>
                        </a:rPr>
                        <a:t>13</a:t>
                      </a:r>
                      <a:endParaRPr lang="en-US" altLang="zh-CN" sz="1100">
                        <a:solidFill>
                          <a:srgbClr val="584E61"/>
                        </a:solidFill>
                      </a:endParaRPr>
                    </a:p>
                  </a:txBody>
                  <a:tcPr anchor="ctr" anchorCtr="0">
                    <a:lnL>
                      <a:noFill/>
                    </a:lnL>
                    <a:lnR>
                      <a:noFill/>
                    </a:lnR>
                    <a:lnT>
                      <a:noFill/>
                    </a:lnT>
                    <a:lnB>
                      <a:noFill/>
                    </a:lnB>
                    <a:solidFill>
                      <a:srgbClr val="FFFFFF"/>
                    </a:solidFill>
                  </a:tcPr>
                </a:tc>
                <a:tc>
                  <a:txBody>
                    <a:bodyPr/>
                    <a:p>
                      <a:pPr algn="ctr">
                        <a:buNone/>
                      </a:pPr>
                      <a:r>
                        <a:rPr lang="zh-CN" altLang="en-US" sz="1100">
                          <a:solidFill>
                            <a:srgbClr val="584E61"/>
                          </a:solidFill>
                        </a:rPr>
                        <a:t>float</a:t>
                      </a:r>
                      <a:endParaRPr lang="zh-CN" altLang="en-US" sz="1100">
                        <a:solidFill>
                          <a:srgbClr val="584E61"/>
                        </a:solidFill>
                      </a:endParaRPr>
                    </a:p>
                  </a:txBody>
                  <a:tcPr anchor="ctr" anchorCtr="0">
                    <a:lnL>
                      <a:noFill/>
                    </a:lnL>
                    <a:lnR>
                      <a:noFill/>
                    </a:lnR>
                    <a:lnT>
                      <a:noFill/>
                    </a:lnT>
                    <a:lnB>
                      <a:noFill/>
                    </a:lnB>
                    <a:solidFill>
                      <a:srgbClr val="FFFFFF"/>
                    </a:solidFill>
                  </a:tcPr>
                </a:tc>
                <a:tc>
                  <a:txBody>
                    <a:bodyPr/>
                    <a:p>
                      <a:pPr algn="l">
                        <a:buNone/>
                      </a:pPr>
                      <a:r>
                        <a:rPr lang="zh-CN" altLang="en-US" sz="1100">
                          <a:solidFill>
                            <a:srgbClr val="584E61"/>
                          </a:solidFill>
                        </a:rPr>
                        <a:t>声明浮点型变量或函数</a:t>
                      </a:r>
                      <a:endParaRPr lang="zh-CN" altLang="en-US" sz="1100">
                        <a:solidFill>
                          <a:srgbClr val="584E61"/>
                        </a:solidFill>
                      </a:endParaRPr>
                    </a:p>
                  </a:txBody>
                  <a:tcPr anchor="ctr" anchorCtr="0">
                    <a:lnL>
                      <a:noFill/>
                    </a:lnL>
                    <a:lnR>
                      <a:noFill/>
                    </a:lnR>
                    <a:lnT>
                      <a:noFill/>
                    </a:lnT>
                    <a:lnB>
                      <a:noFill/>
                    </a:lnB>
                    <a:solidFill>
                      <a:srgbClr val="FFFFFF"/>
                    </a:solidFill>
                  </a:tcPr>
                </a:tc>
              </a:tr>
              <a:tr h="324000">
                <a:tc>
                  <a:txBody>
                    <a:bodyPr/>
                    <a:p>
                      <a:pPr algn="ctr">
                        <a:buNone/>
                      </a:pPr>
                      <a:r>
                        <a:rPr lang="en-US" altLang="zh-CN" sz="1100">
                          <a:solidFill>
                            <a:srgbClr val="584E61"/>
                          </a:solidFill>
                        </a:rPr>
                        <a:t>14</a:t>
                      </a:r>
                      <a:endParaRPr lang="en-US" altLang="zh-CN" sz="1100">
                        <a:solidFill>
                          <a:srgbClr val="584E61"/>
                        </a:solidFill>
                      </a:endParaRPr>
                    </a:p>
                  </a:txBody>
                  <a:tcPr anchor="ctr" anchorCtr="0">
                    <a:lnL>
                      <a:noFill/>
                    </a:lnL>
                    <a:lnR>
                      <a:noFill/>
                    </a:lnR>
                    <a:lnT>
                      <a:noFill/>
                    </a:lnT>
                    <a:lnB>
                      <a:noFill/>
                    </a:lnB>
                    <a:solidFill>
                      <a:srgbClr val="F0EFF2"/>
                    </a:solidFill>
                  </a:tcPr>
                </a:tc>
                <a:tc>
                  <a:txBody>
                    <a:bodyPr/>
                    <a:p>
                      <a:pPr algn="ctr">
                        <a:buNone/>
                      </a:pPr>
                      <a:r>
                        <a:rPr lang="zh-CN" altLang="en-US" sz="1100">
                          <a:solidFill>
                            <a:srgbClr val="584E61"/>
                          </a:solidFill>
                        </a:rPr>
                        <a:t>for</a:t>
                      </a:r>
                      <a:endParaRPr lang="zh-CN" altLang="en-US" sz="1100">
                        <a:solidFill>
                          <a:srgbClr val="584E61"/>
                        </a:solidFill>
                      </a:endParaRPr>
                    </a:p>
                  </a:txBody>
                  <a:tcPr anchor="ctr" anchorCtr="0">
                    <a:lnL>
                      <a:noFill/>
                    </a:lnL>
                    <a:lnR>
                      <a:noFill/>
                    </a:lnR>
                    <a:lnT>
                      <a:noFill/>
                    </a:lnT>
                    <a:lnB>
                      <a:noFill/>
                    </a:lnB>
                    <a:solidFill>
                      <a:srgbClr val="F0EFF2"/>
                    </a:solidFill>
                  </a:tcPr>
                </a:tc>
                <a:tc>
                  <a:txBody>
                    <a:bodyPr/>
                    <a:p>
                      <a:pPr algn="l">
                        <a:buNone/>
                      </a:pPr>
                      <a:r>
                        <a:rPr lang="zh-CN" altLang="en-US" sz="1100">
                          <a:solidFill>
                            <a:srgbClr val="584E61"/>
                          </a:solidFill>
                        </a:rPr>
                        <a:t>for 循环</a:t>
                      </a:r>
                      <a:endParaRPr lang="zh-CN" altLang="en-US" sz="1100">
                        <a:solidFill>
                          <a:srgbClr val="584E61"/>
                        </a:solidFill>
                      </a:endParaRPr>
                    </a:p>
                  </a:txBody>
                  <a:tcPr anchor="ctr" anchorCtr="0">
                    <a:lnL>
                      <a:noFill/>
                    </a:lnL>
                    <a:lnR>
                      <a:noFill/>
                    </a:lnR>
                    <a:lnT>
                      <a:noFill/>
                    </a:lnT>
                    <a:lnB>
                      <a:noFill/>
                    </a:lnB>
                    <a:solidFill>
                      <a:srgbClr val="F0EFF2"/>
                    </a:solidFill>
                  </a:tcPr>
                </a:tc>
              </a:tr>
              <a:tr h="324000">
                <a:tc>
                  <a:txBody>
                    <a:bodyPr/>
                    <a:p>
                      <a:pPr algn="ctr">
                        <a:buNone/>
                      </a:pPr>
                      <a:r>
                        <a:rPr lang="en-US" altLang="zh-CN" sz="1100">
                          <a:solidFill>
                            <a:srgbClr val="584E61"/>
                          </a:solidFill>
                        </a:rPr>
                        <a:t>15</a:t>
                      </a:r>
                      <a:endParaRPr lang="en-US" altLang="zh-CN" sz="1100">
                        <a:solidFill>
                          <a:srgbClr val="584E61"/>
                        </a:solidFill>
                      </a:endParaRPr>
                    </a:p>
                  </a:txBody>
                  <a:tcPr anchor="ctr" anchorCtr="0">
                    <a:lnL>
                      <a:noFill/>
                    </a:lnL>
                    <a:lnR>
                      <a:noFill/>
                    </a:lnR>
                    <a:lnT>
                      <a:noFill/>
                    </a:lnT>
                    <a:lnB>
                      <a:noFill/>
                    </a:lnB>
                    <a:solidFill>
                      <a:srgbClr val="FFFFFF"/>
                    </a:solidFill>
                  </a:tcPr>
                </a:tc>
                <a:tc>
                  <a:txBody>
                    <a:bodyPr/>
                    <a:p>
                      <a:pPr algn="ctr">
                        <a:buNone/>
                      </a:pPr>
                      <a:r>
                        <a:rPr lang="zh-CN" altLang="en-US" sz="1100">
                          <a:solidFill>
                            <a:srgbClr val="584E61"/>
                          </a:solidFill>
                        </a:rPr>
                        <a:t>goto</a:t>
                      </a:r>
                      <a:endParaRPr lang="zh-CN" altLang="en-US" sz="1100">
                        <a:solidFill>
                          <a:srgbClr val="584E61"/>
                        </a:solidFill>
                      </a:endParaRPr>
                    </a:p>
                  </a:txBody>
                  <a:tcPr anchor="ctr" anchorCtr="0">
                    <a:lnL>
                      <a:noFill/>
                    </a:lnL>
                    <a:lnR>
                      <a:noFill/>
                    </a:lnR>
                    <a:lnT>
                      <a:noFill/>
                    </a:lnT>
                    <a:lnB>
                      <a:noFill/>
                    </a:lnB>
                    <a:solidFill>
                      <a:srgbClr val="FFFFFF"/>
                    </a:solidFill>
                  </a:tcPr>
                </a:tc>
                <a:tc>
                  <a:txBody>
                    <a:bodyPr/>
                    <a:p>
                      <a:pPr algn="l">
                        <a:buNone/>
                      </a:pPr>
                      <a:r>
                        <a:rPr lang="zh-CN" altLang="en-US" sz="1100">
                          <a:solidFill>
                            <a:srgbClr val="584E61"/>
                          </a:solidFill>
                        </a:rPr>
                        <a:t>无条件跳转语句</a:t>
                      </a:r>
                      <a:endParaRPr lang="zh-CN" altLang="en-US" sz="1100">
                        <a:solidFill>
                          <a:srgbClr val="584E61"/>
                        </a:solidFill>
                      </a:endParaRPr>
                    </a:p>
                  </a:txBody>
                  <a:tcPr anchor="ctr" anchorCtr="0">
                    <a:lnL>
                      <a:noFill/>
                    </a:lnL>
                    <a:lnR>
                      <a:noFill/>
                    </a:lnR>
                    <a:lnT>
                      <a:noFill/>
                    </a:lnT>
                    <a:lnB>
                      <a:noFill/>
                    </a:lnB>
                    <a:solidFill>
                      <a:srgbClr val="FFFFFF"/>
                    </a:solidFill>
                  </a:tcPr>
                </a:tc>
              </a:tr>
              <a:tr h="324000">
                <a:tc>
                  <a:txBody>
                    <a:bodyPr/>
                    <a:p>
                      <a:pPr algn="ctr">
                        <a:buNone/>
                      </a:pPr>
                      <a:r>
                        <a:rPr lang="en-US" altLang="zh-CN" sz="1100">
                          <a:solidFill>
                            <a:srgbClr val="584E61"/>
                          </a:solidFill>
                        </a:rPr>
                        <a:t>16</a:t>
                      </a:r>
                      <a:endParaRPr lang="en-US" altLang="zh-CN" sz="1100">
                        <a:solidFill>
                          <a:srgbClr val="584E61"/>
                        </a:solidFill>
                      </a:endParaRPr>
                    </a:p>
                  </a:txBody>
                  <a:tcPr anchor="ctr" anchorCtr="0">
                    <a:lnL>
                      <a:noFill/>
                    </a:lnL>
                    <a:lnR>
                      <a:noFill/>
                    </a:lnR>
                    <a:lnT>
                      <a:noFill/>
                    </a:lnT>
                    <a:lnB>
                      <a:noFill/>
                    </a:lnB>
                    <a:solidFill>
                      <a:srgbClr val="F0EFF2"/>
                    </a:solidFill>
                  </a:tcPr>
                </a:tc>
                <a:tc>
                  <a:txBody>
                    <a:bodyPr/>
                    <a:p>
                      <a:pPr algn="ctr">
                        <a:buNone/>
                      </a:pPr>
                      <a:r>
                        <a:rPr lang="en-US" altLang="zh-CN" sz="1100">
                          <a:solidFill>
                            <a:srgbClr val="584E61"/>
                          </a:solidFill>
                        </a:rPr>
                        <a:t>if</a:t>
                      </a:r>
                      <a:endParaRPr lang="en-US" altLang="zh-CN" sz="1100">
                        <a:solidFill>
                          <a:srgbClr val="584E61"/>
                        </a:solidFill>
                      </a:endParaRPr>
                    </a:p>
                  </a:txBody>
                  <a:tcPr anchor="ctr" anchorCtr="0">
                    <a:lnL>
                      <a:noFill/>
                    </a:lnL>
                    <a:lnR>
                      <a:noFill/>
                    </a:lnR>
                    <a:lnT>
                      <a:noFill/>
                    </a:lnT>
                    <a:lnB>
                      <a:noFill/>
                    </a:lnB>
                    <a:solidFill>
                      <a:srgbClr val="F0EFF2"/>
                    </a:solidFill>
                  </a:tcPr>
                </a:tc>
                <a:tc>
                  <a:txBody>
                    <a:bodyPr/>
                    <a:p>
                      <a:pPr algn="l">
                        <a:buNone/>
                      </a:pPr>
                      <a:r>
                        <a:rPr lang="zh-CN" altLang="en-US" sz="1100">
                          <a:solidFill>
                            <a:srgbClr val="584E61"/>
                          </a:solidFill>
                        </a:rPr>
                        <a:t>if 分支语句</a:t>
                      </a:r>
                      <a:endParaRPr lang="zh-CN" altLang="en-US" sz="1100">
                        <a:solidFill>
                          <a:srgbClr val="584E61"/>
                        </a:solidFill>
                      </a:endParaRPr>
                    </a:p>
                  </a:txBody>
                  <a:tcPr anchor="ctr" anchorCtr="0">
                    <a:lnL>
                      <a:noFill/>
                    </a:lnL>
                    <a:lnR>
                      <a:noFill/>
                    </a:lnR>
                    <a:lnT>
                      <a:noFill/>
                    </a:lnT>
                    <a:lnB>
                      <a:noFill/>
                    </a:lnB>
                    <a:solidFill>
                      <a:srgbClr val="F0EFF2"/>
                    </a:solidFill>
                  </a:tcPr>
                </a:tc>
              </a:tr>
              <a:tr h="324000">
                <a:tc>
                  <a:txBody>
                    <a:bodyPr/>
                    <a:p>
                      <a:pPr algn="ctr">
                        <a:buNone/>
                      </a:pPr>
                      <a:r>
                        <a:rPr lang="en-US" altLang="zh-CN" sz="1100">
                          <a:solidFill>
                            <a:srgbClr val="584E61"/>
                          </a:solidFill>
                        </a:rPr>
                        <a:t>17</a:t>
                      </a:r>
                      <a:endParaRPr lang="en-US" altLang="zh-CN" sz="1100">
                        <a:solidFill>
                          <a:srgbClr val="584E61"/>
                        </a:solidFill>
                      </a:endParaRPr>
                    </a:p>
                  </a:txBody>
                  <a:tcPr anchor="ctr" anchorCtr="0">
                    <a:lnL>
                      <a:noFill/>
                    </a:lnL>
                    <a:lnR>
                      <a:noFill/>
                    </a:lnR>
                    <a:lnT>
                      <a:noFill/>
                    </a:lnT>
                    <a:lnB>
                      <a:noFill/>
                    </a:lnB>
                    <a:solidFill>
                      <a:srgbClr val="FFFFFF"/>
                    </a:solidFill>
                  </a:tcPr>
                </a:tc>
                <a:tc>
                  <a:txBody>
                    <a:bodyPr/>
                    <a:p>
                      <a:pPr algn="ctr">
                        <a:buNone/>
                      </a:pPr>
                      <a:r>
                        <a:rPr lang="zh-CN" altLang="en-US" sz="1100">
                          <a:solidFill>
                            <a:srgbClr val="584E61"/>
                          </a:solidFill>
                        </a:rPr>
                        <a:t>int</a:t>
                      </a:r>
                      <a:endParaRPr lang="zh-CN" altLang="en-US" sz="1100">
                        <a:solidFill>
                          <a:srgbClr val="584E61"/>
                        </a:solidFill>
                      </a:endParaRPr>
                    </a:p>
                  </a:txBody>
                  <a:tcPr anchor="ctr" anchorCtr="0">
                    <a:lnL>
                      <a:noFill/>
                    </a:lnL>
                    <a:lnR>
                      <a:noFill/>
                    </a:lnR>
                    <a:lnT>
                      <a:noFill/>
                    </a:lnT>
                    <a:lnB>
                      <a:noFill/>
                    </a:lnB>
                    <a:solidFill>
                      <a:srgbClr val="FFFFFF"/>
                    </a:solidFill>
                  </a:tcPr>
                </a:tc>
                <a:tc>
                  <a:txBody>
                    <a:bodyPr/>
                    <a:p>
                      <a:pPr algn="l">
                        <a:buNone/>
                      </a:pPr>
                      <a:r>
                        <a:rPr lang="zh-CN" altLang="en-US" sz="1100">
                          <a:solidFill>
                            <a:srgbClr val="584E61"/>
                          </a:solidFill>
                        </a:rPr>
                        <a:t>声明整型变量或函数</a:t>
                      </a:r>
                      <a:endParaRPr lang="zh-CN" altLang="en-US" sz="1100">
                        <a:solidFill>
                          <a:srgbClr val="584E61"/>
                        </a:solidFill>
                      </a:endParaRPr>
                    </a:p>
                  </a:txBody>
                  <a:tcPr anchor="ctr" anchorCtr="0">
                    <a:lnL>
                      <a:noFill/>
                    </a:lnL>
                    <a:lnR>
                      <a:noFill/>
                    </a:lnR>
                    <a:lnT>
                      <a:noFill/>
                    </a:lnT>
                    <a:lnB>
                      <a:noFill/>
                    </a:lnB>
                    <a:solidFill>
                      <a:srgbClr val="FFFFFF"/>
                    </a:solidFill>
                  </a:tcPr>
                </a:tc>
              </a:tr>
              <a:tr h="324000">
                <a:tc>
                  <a:txBody>
                    <a:bodyPr/>
                    <a:p>
                      <a:pPr algn="ctr">
                        <a:buNone/>
                      </a:pPr>
                      <a:r>
                        <a:rPr lang="en-US" altLang="zh-CN" sz="1100">
                          <a:solidFill>
                            <a:srgbClr val="584E61"/>
                          </a:solidFill>
                        </a:rPr>
                        <a:t>18</a:t>
                      </a:r>
                      <a:endParaRPr lang="en-US" altLang="zh-CN" sz="1100">
                        <a:solidFill>
                          <a:srgbClr val="584E61"/>
                        </a:solidFill>
                      </a:endParaRPr>
                    </a:p>
                  </a:txBody>
                  <a:tcPr anchor="ctr" anchorCtr="0">
                    <a:lnL>
                      <a:noFill/>
                    </a:lnL>
                    <a:lnR>
                      <a:noFill/>
                    </a:lnR>
                    <a:lnT>
                      <a:noFill/>
                    </a:lnT>
                    <a:lnB>
                      <a:noFill/>
                    </a:lnB>
                    <a:solidFill>
                      <a:srgbClr val="F0EFF2"/>
                    </a:solidFill>
                  </a:tcPr>
                </a:tc>
                <a:tc>
                  <a:txBody>
                    <a:bodyPr/>
                    <a:p>
                      <a:pPr algn="ctr">
                        <a:buNone/>
                      </a:pPr>
                      <a:r>
                        <a:rPr lang="en-US" altLang="zh-CN" sz="1100">
                          <a:solidFill>
                            <a:srgbClr val="584E61"/>
                          </a:solidFill>
                        </a:rPr>
                        <a:t>long</a:t>
                      </a:r>
                      <a:endParaRPr lang="en-US" altLang="zh-CN" sz="1100">
                        <a:solidFill>
                          <a:srgbClr val="584E61"/>
                        </a:solidFill>
                      </a:endParaRPr>
                    </a:p>
                  </a:txBody>
                  <a:tcPr anchor="ctr" anchorCtr="0">
                    <a:lnL>
                      <a:noFill/>
                    </a:lnL>
                    <a:lnR>
                      <a:noFill/>
                    </a:lnR>
                    <a:lnT>
                      <a:noFill/>
                    </a:lnT>
                    <a:lnB>
                      <a:noFill/>
                    </a:lnB>
                    <a:solidFill>
                      <a:srgbClr val="F0EFF2"/>
                    </a:solidFill>
                  </a:tcPr>
                </a:tc>
                <a:tc>
                  <a:txBody>
                    <a:bodyPr/>
                    <a:p>
                      <a:pPr algn="l">
                        <a:buNone/>
                      </a:pPr>
                      <a:r>
                        <a:rPr lang="zh-CN" altLang="en-US" sz="1100">
                          <a:solidFill>
                            <a:srgbClr val="584E61"/>
                          </a:solidFill>
                        </a:rPr>
                        <a:t>声明长整型变量或函数</a:t>
                      </a:r>
                      <a:endParaRPr lang="zh-CN" altLang="en-US" sz="1100">
                        <a:solidFill>
                          <a:srgbClr val="584E61"/>
                        </a:solidFill>
                      </a:endParaRPr>
                    </a:p>
                  </a:txBody>
                  <a:tcPr anchor="ctr" anchorCtr="0">
                    <a:lnL>
                      <a:noFill/>
                    </a:lnL>
                    <a:lnR>
                      <a:noFill/>
                    </a:lnR>
                    <a:lnT>
                      <a:noFill/>
                    </a:lnT>
                    <a:lnB>
                      <a:noFill/>
                    </a:lnB>
                    <a:solidFill>
                      <a:srgbClr val="F0EFF2"/>
                    </a:solidFill>
                  </a:tcPr>
                </a:tc>
              </a:tr>
              <a:tr h="324000">
                <a:tc>
                  <a:txBody>
                    <a:bodyPr/>
                    <a:p>
                      <a:pPr algn="ctr">
                        <a:buNone/>
                      </a:pPr>
                      <a:r>
                        <a:rPr lang="en-US" altLang="zh-CN" sz="1100">
                          <a:solidFill>
                            <a:srgbClr val="584E61"/>
                          </a:solidFill>
                        </a:rPr>
                        <a:t>19</a:t>
                      </a:r>
                      <a:endParaRPr lang="en-US" altLang="zh-CN" sz="1100">
                        <a:solidFill>
                          <a:srgbClr val="584E61"/>
                        </a:solidFill>
                      </a:endParaRPr>
                    </a:p>
                  </a:txBody>
                  <a:tcPr anchor="ctr" anchorCtr="0">
                    <a:lnL>
                      <a:noFill/>
                    </a:lnL>
                    <a:lnR>
                      <a:noFill/>
                    </a:lnR>
                    <a:lnT>
                      <a:noFill/>
                    </a:lnT>
                    <a:lnB>
                      <a:noFill/>
                    </a:lnB>
                    <a:solidFill>
                      <a:srgbClr val="FFFFFF"/>
                    </a:solidFill>
                  </a:tcPr>
                </a:tc>
                <a:tc>
                  <a:txBody>
                    <a:bodyPr/>
                    <a:p>
                      <a:pPr algn="ctr">
                        <a:buNone/>
                      </a:pPr>
                      <a:r>
                        <a:rPr lang="zh-CN" altLang="en-US" sz="1100">
                          <a:solidFill>
                            <a:srgbClr val="584E61"/>
                          </a:solidFill>
                        </a:rPr>
                        <a:t>register</a:t>
                      </a:r>
                      <a:endParaRPr lang="zh-CN" altLang="en-US" sz="1100">
                        <a:solidFill>
                          <a:srgbClr val="584E61"/>
                        </a:solidFill>
                      </a:endParaRPr>
                    </a:p>
                  </a:txBody>
                  <a:tcPr anchor="ctr" anchorCtr="0">
                    <a:lnL>
                      <a:noFill/>
                    </a:lnL>
                    <a:lnR>
                      <a:noFill/>
                    </a:lnR>
                    <a:lnT>
                      <a:noFill/>
                    </a:lnT>
                    <a:lnB>
                      <a:noFill/>
                    </a:lnB>
                    <a:solidFill>
                      <a:srgbClr val="FFFFFF"/>
                    </a:solidFill>
                  </a:tcPr>
                </a:tc>
                <a:tc>
                  <a:txBody>
                    <a:bodyPr/>
                    <a:p>
                      <a:pPr algn="l">
                        <a:buNone/>
                      </a:pPr>
                      <a:r>
                        <a:rPr lang="zh-CN" altLang="en-US" sz="1100">
                          <a:solidFill>
                            <a:srgbClr val="584E61"/>
                          </a:solidFill>
                        </a:rPr>
                        <a:t>声明寄存器变量。</a:t>
                      </a:r>
                      <a:endParaRPr lang="zh-CN" altLang="en-US" sz="1100">
                        <a:solidFill>
                          <a:srgbClr val="584E61"/>
                        </a:solidFill>
                      </a:endParaRPr>
                    </a:p>
                    <a:p>
                      <a:pPr algn="l">
                        <a:buNone/>
                      </a:pPr>
                      <a:r>
                        <a:rPr lang="zh-CN" altLang="en-US" sz="1100">
                          <a:solidFill>
                            <a:srgbClr val="584E61"/>
                          </a:solidFill>
                        </a:rPr>
                        <a:t>只能修饰整</a:t>
                      </a:r>
                      <a:r>
                        <a:rPr lang="zh-CN" altLang="en-US" sz="1100">
                          <a:solidFill>
                            <a:srgbClr val="584E61"/>
                          </a:solidFill>
                        </a:rPr>
                        <a:t>型变量，表示希望这个变量存放在 CPU的寄存器上。</a:t>
                      </a:r>
                      <a:endParaRPr lang="zh-CN" altLang="en-US" sz="1100">
                        <a:solidFill>
                          <a:srgbClr val="584E61"/>
                        </a:solidFill>
                      </a:endParaRPr>
                    </a:p>
                    <a:p>
                      <a:pPr algn="l">
                        <a:buNone/>
                      </a:pPr>
                      <a:r>
                        <a:rPr lang="zh-CN" altLang="en-US" sz="1100">
                          <a:solidFill>
                            <a:srgbClr val="584E61"/>
                          </a:solidFill>
                        </a:rPr>
                        <a:t>现代编译器在开启优化的时候，能够一定程度上 默认启用 register 寄存器变量。</a:t>
                      </a:r>
                      <a:endParaRPr lang="en-US" altLang="zh-CN" sz="1100">
                        <a:solidFill>
                          <a:srgbClr val="584E61"/>
                        </a:solidFill>
                      </a:endParaRPr>
                    </a:p>
                    <a:p>
                      <a:pPr algn="l">
                        <a:buNone/>
                      </a:pPr>
                      <a:r>
                        <a:rPr lang="zh-CN" altLang="en-US" sz="1100">
                          <a:solidFill>
                            <a:srgbClr val="584E61"/>
                          </a:solidFill>
                        </a:rPr>
                        <a:t>寄存器变量不能取地址。</a:t>
                      </a:r>
                      <a:endParaRPr lang="zh-CN" altLang="en-US" sz="1100">
                        <a:solidFill>
                          <a:srgbClr val="584E61"/>
                        </a:solidFill>
                      </a:endParaRPr>
                    </a:p>
                  </a:txBody>
                  <a:tcPr anchor="ctr" anchorCtr="0">
                    <a:lnL>
                      <a:noFill/>
                    </a:lnL>
                    <a:lnR>
                      <a:noFill/>
                    </a:lnR>
                    <a:lnT>
                      <a:noFill/>
                    </a:lnT>
                    <a:lnB>
                      <a:noFill/>
                    </a:lnB>
                    <a:solidFill>
                      <a:srgbClr val="FFFFFF"/>
                    </a:solidFill>
                  </a:tcPr>
                </a:tc>
              </a:tr>
              <a:tr h="324000">
                <a:tc>
                  <a:txBody>
                    <a:bodyPr/>
                    <a:p>
                      <a:pPr algn="ctr">
                        <a:buNone/>
                      </a:pPr>
                      <a:r>
                        <a:rPr lang="en-US" altLang="zh-CN" sz="1100">
                          <a:solidFill>
                            <a:srgbClr val="584E61"/>
                          </a:solidFill>
                        </a:rPr>
                        <a:t>20</a:t>
                      </a:r>
                      <a:endParaRPr lang="en-US" altLang="zh-CN" sz="1100">
                        <a:solidFill>
                          <a:srgbClr val="584E61"/>
                        </a:solidFill>
                      </a:endParaRPr>
                    </a:p>
                  </a:txBody>
                  <a:tcPr anchor="ctr" anchorCtr="0">
                    <a:lnL>
                      <a:noFill/>
                    </a:lnL>
                    <a:lnR>
                      <a:noFill/>
                    </a:lnR>
                    <a:lnT>
                      <a:noFill/>
                    </a:lnT>
                    <a:lnB w="19050">
                      <a:solidFill>
                        <a:srgbClr val="584E61"/>
                      </a:solidFill>
                      <a:prstDash val="solid"/>
                    </a:lnB>
                    <a:solidFill>
                      <a:srgbClr val="F0EFF2"/>
                    </a:solidFill>
                  </a:tcPr>
                </a:tc>
                <a:tc>
                  <a:txBody>
                    <a:bodyPr/>
                    <a:p>
                      <a:pPr algn="ctr">
                        <a:buNone/>
                      </a:pPr>
                      <a:r>
                        <a:rPr lang="zh-CN" altLang="en-US" sz="1100">
                          <a:solidFill>
                            <a:srgbClr val="584E61"/>
                          </a:solidFill>
                        </a:rPr>
                        <a:t>return</a:t>
                      </a:r>
                      <a:endParaRPr lang="zh-CN" altLang="en-US" sz="1100">
                        <a:solidFill>
                          <a:srgbClr val="584E61"/>
                        </a:solidFill>
                      </a:endParaRPr>
                    </a:p>
                  </a:txBody>
                  <a:tcPr anchor="ctr" anchorCtr="0">
                    <a:lnL>
                      <a:noFill/>
                    </a:lnL>
                    <a:lnR>
                      <a:noFill/>
                    </a:lnR>
                    <a:lnT>
                      <a:noFill/>
                    </a:lnT>
                    <a:lnB w="19050">
                      <a:solidFill>
                        <a:srgbClr val="584E61"/>
                      </a:solidFill>
                      <a:prstDash val="solid"/>
                    </a:lnB>
                    <a:solidFill>
                      <a:srgbClr val="F0EFF2"/>
                    </a:solidFill>
                  </a:tcPr>
                </a:tc>
                <a:tc>
                  <a:txBody>
                    <a:bodyPr/>
                    <a:p>
                      <a:pPr algn="l">
                        <a:buNone/>
                      </a:pPr>
                      <a:r>
                        <a:rPr sz="1100">
                          <a:solidFill>
                            <a:srgbClr val="584E61"/>
                          </a:solidFill>
                        </a:rPr>
                        <a:t>函数返回语句 (可以带参数，也可不带参数 )</a:t>
                      </a:r>
                      <a:endParaRPr sz="1100">
                        <a:solidFill>
                          <a:srgbClr val="584E61"/>
                        </a:solidFill>
                      </a:endParaRPr>
                    </a:p>
                  </a:txBody>
                  <a:tcPr anchor="ctr" anchorCtr="0">
                    <a:lnL>
                      <a:noFill/>
                    </a:lnL>
                    <a:lnR>
                      <a:noFill/>
                    </a:lnR>
                    <a:lnT>
                      <a:noFill/>
                    </a:lnT>
                    <a:lnB w="19050">
                      <a:solidFill>
                        <a:srgbClr val="584E61"/>
                      </a:solidFill>
                      <a:prstDash val="solid"/>
                    </a:lnB>
                    <a:solidFill>
                      <a:srgbClr val="F0EFF2"/>
                    </a:solidFill>
                  </a:tcPr>
                </a:tc>
              </a:tr>
            </a:tbl>
          </a:graphicData>
        </a:graphic>
      </p:graphicFrame>
      <p:sp>
        <p:nvSpPr>
          <p:cNvPr id="4" name="灯片编号占位符 3"/>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0" y="85725"/>
            <a:ext cx="5905500" cy="542925"/>
          </a:xfr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2.2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关键字与标识符</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14339" name="内容占位符 2"/>
          <p:cNvSpPr>
            <a:spLocks noGrp="1"/>
          </p:cNvSpPr>
          <p:nvPr>
            <p:ph idx="1"/>
          </p:nvPr>
        </p:nvSpPr>
        <p:spPr bwMode="auto">
          <a:xfrm>
            <a:off x="457200" y="497840"/>
            <a:ext cx="8229600" cy="57340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Tx/>
              <a:buChar char="•"/>
              <a:defRPr/>
            </a:pPr>
            <a:r>
              <a:rPr kumimoji="0" lang="en-US" altLang="zh-CN" b="1" i="0" u="none" strike="noStrike" kern="0" cap="none" spc="0" normalizeH="0" baseline="0" noProof="0" dirty="0" smtClean="0">
                <a:ln>
                  <a:noFill/>
                </a:ln>
                <a:solidFill>
                  <a:srgbClr val="009ED6"/>
                </a:solidFill>
                <a:effectLst/>
                <a:uLnTx/>
                <a:uFillTx/>
                <a:latin typeface="+mn-lt"/>
                <a:ea typeface="+mn-ea"/>
                <a:cs typeface="+mn-cs"/>
              </a:rPr>
              <a:t>2.2.1 </a:t>
            </a:r>
            <a:r>
              <a:rPr kumimoji="0" lang="zh-CN" altLang="en-US" b="1" i="0" u="none" strike="noStrike" kern="0" cap="none" spc="0" normalizeH="0" baseline="0" noProof="0" dirty="0" smtClean="0">
                <a:ln>
                  <a:noFill/>
                </a:ln>
                <a:solidFill>
                  <a:srgbClr val="009ED6"/>
                </a:solidFill>
                <a:effectLst/>
                <a:uLnTx/>
                <a:uFillTx/>
                <a:latin typeface="+mn-lt"/>
                <a:ea typeface="+mn-ea"/>
                <a:cs typeface="+mn-cs"/>
              </a:rPr>
              <a:t> 关键字</a:t>
            </a:r>
            <a:endParaRPr kumimoji="0" lang="en-US" altLang="zh-CN" b="1" i="0" u="none" strike="noStrike" kern="0" cap="none" spc="0" normalizeH="0" baseline="0" noProof="0" dirty="0" smtClean="0">
              <a:ln>
                <a:noFill/>
              </a:ln>
              <a:solidFill>
                <a:srgbClr val="009ED6"/>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1" i="0" u="none" strike="noStrike" kern="0" cap="none" spc="0" normalizeH="0" baseline="0" noProof="0" dirty="0">
              <a:ln>
                <a:noFill/>
              </a:ln>
              <a:solidFill>
                <a:srgbClr val="009ED6"/>
              </a:solidFill>
              <a:effectLst/>
              <a:uLnTx/>
              <a:uFillTx/>
              <a:latin typeface="+mn-lt"/>
              <a:ea typeface="+mn-ea"/>
              <a:cs typeface="+mn-cs"/>
            </a:endParaRPr>
          </a:p>
        </p:txBody>
      </p:sp>
      <p:graphicFrame>
        <p:nvGraphicFramePr>
          <p:cNvPr id="3" name="表格 2"/>
          <p:cNvGraphicFramePr/>
          <p:nvPr>
            <p:custDataLst>
              <p:tags r:id="rId1"/>
            </p:custDataLst>
          </p:nvPr>
        </p:nvGraphicFramePr>
        <p:xfrm>
          <a:off x="1007110" y="1005840"/>
          <a:ext cx="7505700" cy="4541520"/>
        </p:xfrm>
        <a:graphic>
          <a:graphicData uri="http://schemas.openxmlformats.org/drawingml/2006/table">
            <a:tbl>
              <a:tblPr firstRow="1" bandRow="1"/>
              <a:tblGrid>
                <a:gridCol w="943610"/>
                <a:gridCol w="1073150"/>
                <a:gridCol w="5488940"/>
              </a:tblGrid>
              <a:tr h="212400">
                <a:tc>
                  <a:txBody>
                    <a:bodyPr/>
                    <a:p>
                      <a:pPr algn="ctr">
                        <a:buNone/>
                      </a:pPr>
                      <a:r>
                        <a:rPr lang="zh-CN" altLang="en-US" sz="1000">
                          <a:solidFill>
                            <a:srgbClr val="584E61"/>
                          </a:solidFill>
                        </a:rPr>
                        <a:t>序号</a:t>
                      </a:r>
                      <a:endParaRPr lang="zh-CN" altLang="en-US" sz="1000">
                        <a:solidFill>
                          <a:srgbClr val="584E61"/>
                        </a:solidFill>
                      </a:endParaRPr>
                    </a:p>
                  </a:txBody>
                  <a:tcPr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p>
                      <a:pPr algn="ctr">
                        <a:buNone/>
                      </a:pPr>
                      <a:r>
                        <a:rPr lang="zh-CN" altLang="en-US" sz="1000">
                          <a:solidFill>
                            <a:srgbClr val="584E61"/>
                          </a:solidFill>
                        </a:rPr>
                        <a:t>关键字</a:t>
                      </a:r>
                      <a:endParaRPr lang="zh-CN" altLang="en-US" sz="1000">
                        <a:solidFill>
                          <a:srgbClr val="584E61"/>
                        </a:solidFill>
                      </a:endParaRPr>
                    </a:p>
                  </a:txBody>
                  <a:tcPr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p>
                      <a:pPr algn="ctr">
                        <a:buNone/>
                      </a:pPr>
                      <a:r>
                        <a:rPr lang="zh-CN" altLang="en-US" sz="1000">
                          <a:solidFill>
                            <a:srgbClr val="584E61"/>
                          </a:solidFill>
                        </a:rPr>
                        <a:t>说明</a:t>
                      </a:r>
                      <a:endParaRPr lang="zh-CN" altLang="en-US" sz="1000">
                        <a:solidFill>
                          <a:srgbClr val="584E61"/>
                        </a:solidFill>
                      </a:endParaRPr>
                    </a:p>
                  </a:txBody>
                  <a:tcPr anchor="ctr" anchorCtr="0">
                    <a:lnL>
                      <a:noFill/>
                    </a:lnL>
                    <a:lnR>
                      <a:noFill/>
                    </a:lnR>
                    <a:lnT w="19050">
                      <a:solidFill>
                        <a:srgbClr val="584E61"/>
                      </a:solidFill>
                      <a:prstDash val="solid"/>
                    </a:lnT>
                    <a:lnB w="19050">
                      <a:solidFill>
                        <a:srgbClr val="584E61"/>
                      </a:solidFill>
                      <a:prstDash val="solid"/>
                    </a:lnB>
                    <a:solidFill>
                      <a:srgbClr val="FFFFFF"/>
                    </a:solidFill>
                  </a:tcPr>
                </a:tc>
              </a:tr>
              <a:tr h="212400">
                <a:tc>
                  <a:txBody>
                    <a:bodyPr/>
                    <a:p>
                      <a:pPr algn="ctr">
                        <a:buNone/>
                      </a:pPr>
                      <a:r>
                        <a:rPr lang="en-US" altLang="zh-CN" sz="1000">
                          <a:solidFill>
                            <a:srgbClr val="584E61"/>
                          </a:solidFill>
                        </a:rPr>
                        <a:t>21</a:t>
                      </a:r>
                      <a:endParaRPr lang="en-US" altLang="zh-CN" sz="1000">
                        <a:solidFill>
                          <a:srgbClr val="584E61"/>
                        </a:solidFill>
                      </a:endParaRPr>
                    </a:p>
                  </a:txBody>
                  <a:tcPr anchor="ctr" anchorCtr="0">
                    <a:lnL>
                      <a:noFill/>
                    </a:lnL>
                    <a:lnR>
                      <a:noFill/>
                    </a:lnR>
                    <a:lnT w="19050">
                      <a:solidFill>
                        <a:srgbClr val="584E61"/>
                      </a:solidFill>
                      <a:prstDash val="solid"/>
                    </a:lnT>
                    <a:lnB>
                      <a:noFill/>
                    </a:lnB>
                    <a:solidFill>
                      <a:srgbClr val="FFFFFF"/>
                    </a:solidFill>
                  </a:tcPr>
                </a:tc>
                <a:tc>
                  <a:txBody>
                    <a:bodyPr/>
                    <a:p>
                      <a:pPr algn="ctr">
                        <a:buNone/>
                      </a:pPr>
                      <a:r>
                        <a:rPr lang="en-US" altLang="zh-CN" sz="1000">
                          <a:solidFill>
                            <a:srgbClr val="584E61"/>
                          </a:solidFill>
                        </a:rPr>
                        <a:t>short</a:t>
                      </a:r>
                      <a:endParaRPr lang="en-US" altLang="zh-CN" sz="1000">
                        <a:solidFill>
                          <a:srgbClr val="584E61"/>
                        </a:solidFill>
                      </a:endParaRPr>
                    </a:p>
                  </a:txBody>
                  <a:tcPr anchor="ctr" anchorCtr="0">
                    <a:lnL>
                      <a:noFill/>
                    </a:lnL>
                    <a:lnR>
                      <a:noFill/>
                    </a:lnR>
                    <a:lnT w="19050">
                      <a:solidFill>
                        <a:srgbClr val="584E61"/>
                      </a:solidFill>
                      <a:prstDash val="solid"/>
                    </a:lnT>
                    <a:lnB>
                      <a:noFill/>
                    </a:lnB>
                    <a:solidFill>
                      <a:srgbClr val="FFFFFF"/>
                    </a:solidFill>
                  </a:tcPr>
                </a:tc>
                <a:tc>
                  <a:txBody>
                    <a:bodyPr/>
                    <a:p>
                      <a:pPr algn="l">
                        <a:buNone/>
                      </a:pPr>
                      <a:r>
                        <a:rPr lang="zh-CN" altLang="en-US" sz="1000">
                          <a:solidFill>
                            <a:srgbClr val="584E61"/>
                          </a:solidFill>
                        </a:rPr>
                        <a:t>声明短整型变量或函数</a:t>
                      </a:r>
                      <a:endParaRPr lang="zh-CN" altLang="en-US" sz="1000">
                        <a:solidFill>
                          <a:srgbClr val="584E61"/>
                        </a:solidFill>
                      </a:endParaRPr>
                    </a:p>
                  </a:txBody>
                  <a:tcPr anchor="ctr" anchorCtr="0">
                    <a:lnL>
                      <a:noFill/>
                    </a:lnL>
                    <a:lnR>
                      <a:noFill/>
                    </a:lnR>
                    <a:lnT w="19050">
                      <a:solidFill>
                        <a:srgbClr val="584E61"/>
                      </a:solidFill>
                      <a:prstDash val="solid"/>
                    </a:lnT>
                    <a:lnB>
                      <a:noFill/>
                    </a:lnB>
                    <a:solidFill>
                      <a:srgbClr val="FFFFFF"/>
                    </a:solidFill>
                  </a:tcPr>
                </a:tc>
              </a:tr>
              <a:tr h="212400">
                <a:tc>
                  <a:txBody>
                    <a:bodyPr/>
                    <a:p>
                      <a:pPr algn="ctr">
                        <a:buNone/>
                      </a:pPr>
                      <a:r>
                        <a:rPr lang="en-US" altLang="zh-CN" sz="1000">
                          <a:solidFill>
                            <a:srgbClr val="584E61"/>
                          </a:solidFill>
                        </a:rPr>
                        <a:t>22</a:t>
                      </a:r>
                      <a:endParaRPr lang="en-US" altLang="zh-CN" sz="1000">
                        <a:solidFill>
                          <a:srgbClr val="584E61"/>
                        </a:solidFill>
                      </a:endParaRPr>
                    </a:p>
                  </a:txBody>
                  <a:tcPr anchor="ctr" anchorCtr="0">
                    <a:lnL>
                      <a:noFill/>
                    </a:lnL>
                    <a:lnR>
                      <a:noFill/>
                    </a:lnR>
                    <a:lnT>
                      <a:noFill/>
                    </a:lnT>
                    <a:lnB>
                      <a:noFill/>
                    </a:lnB>
                    <a:solidFill>
                      <a:srgbClr val="F0EFF2"/>
                    </a:solidFill>
                  </a:tcPr>
                </a:tc>
                <a:tc>
                  <a:txBody>
                    <a:bodyPr/>
                    <a:p>
                      <a:pPr algn="ctr">
                        <a:buNone/>
                      </a:pPr>
                      <a:r>
                        <a:rPr lang="zh-CN" altLang="en-US" sz="1000">
                          <a:solidFill>
                            <a:srgbClr val="584E61"/>
                          </a:solidFill>
                        </a:rPr>
                        <a:t>signed</a:t>
                      </a:r>
                      <a:endParaRPr lang="zh-CN" altLang="en-US" sz="1000">
                        <a:solidFill>
                          <a:srgbClr val="584E61"/>
                        </a:solidFill>
                      </a:endParaRPr>
                    </a:p>
                  </a:txBody>
                  <a:tcPr anchor="ctr" anchorCtr="0">
                    <a:lnL>
                      <a:noFill/>
                    </a:lnL>
                    <a:lnR>
                      <a:noFill/>
                    </a:lnR>
                    <a:lnT>
                      <a:noFill/>
                    </a:lnT>
                    <a:lnB>
                      <a:noFill/>
                    </a:lnB>
                    <a:solidFill>
                      <a:srgbClr val="F0EFF2"/>
                    </a:solidFill>
                  </a:tcPr>
                </a:tc>
                <a:tc>
                  <a:txBody>
                    <a:bodyPr/>
                    <a:p>
                      <a:pPr algn="l">
                        <a:buNone/>
                      </a:pPr>
                      <a:r>
                        <a:rPr lang="zh-CN" altLang="en-US" sz="1000">
                          <a:solidFill>
                            <a:srgbClr val="584E61"/>
                          </a:solidFill>
                        </a:rPr>
                        <a:t>声明有符号类型变量或函数</a:t>
                      </a:r>
                      <a:endParaRPr lang="zh-CN" altLang="en-US" sz="1000">
                        <a:solidFill>
                          <a:srgbClr val="584E61"/>
                        </a:solidFill>
                      </a:endParaRPr>
                    </a:p>
                  </a:txBody>
                  <a:tcPr anchor="ctr" anchorCtr="0">
                    <a:lnL>
                      <a:noFill/>
                    </a:lnL>
                    <a:lnR>
                      <a:noFill/>
                    </a:lnR>
                    <a:lnT>
                      <a:noFill/>
                    </a:lnT>
                    <a:lnB>
                      <a:noFill/>
                    </a:lnB>
                    <a:solidFill>
                      <a:srgbClr val="F0EFF2"/>
                    </a:solidFill>
                  </a:tcPr>
                </a:tc>
              </a:tr>
              <a:tr h="212400">
                <a:tc>
                  <a:txBody>
                    <a:bodyPr/>
                    <a:p>
                      <a:pPr algn="ctr">
                        <a:buNone/>
                      </a:pPr>
                      <a:r>
                        <a:rPr lang="en-US" altLang="zh-CN" sz="1000">
                          <a:solidFill>
                            <a:srgbClr val="584E61"/>
                          </a:solidFill>
                        </a:rPr>
                        <a:t>23</a:t>
                      </a:r>
                      <a:endParaRPr lang="en-US" altLang="zh-CN" sz="1000">
                        <a:solidFill>
                          <a:srgbClr val="584E61"/>
                        </a:solidFill>
                      </a:endParaRPr>
                    </a:p>
                  </a:txBody>
                  <a:tcPr anchor="ctr" anchorCtr="0">
                    <a:lnL>
                      <a:noFill/>
                    </a:lnL>
                    <a:lnR>
                      <a:noFill/>
                    </a:lnR>
                    <a:lnT>
                      <a:noFill/>
                    </a:lnT>
                    <a:lnB>
                      <a:noFill/>
                    </a:lnB>
                    <a:solidFill>
                      <a:srgbClr val="FFFFFF"/>
                    </a:solidFill>
                  </a:tcPr>
                </a:tc>
                <a:tc>
                  <a:txBody>
                    <a:bodyPr/>
                    <a:p>
                      <a:pPr algn="ctr">
                        <a:buNone/>
                      </a:pPr>
                      <a:r>
                        <a:rPr lang="zh-CN" altLang="en-US" sz="1000">
                          <a:solidFill>
                            <a:srgbClr val="584E61"/>
                          </a:solidFill>
                        </a:rPr>
                        <a:t>sizeof</a:t>
                      </a:r>
                      <a:endParaRPr lang="zh-CN" altLang="en-US" sz="1000">
                        <a:solidFill>
                          <a:srgbClr val="584E61"/>
                        </a:solidFill>
                      </a:endParaRPr>
                    </a:p>
                  </a:txBody>
                  <a:tcPr anchor="ctr" anchorCtr="0">
                    <a:lnL>
                      <a:noFill/>
                    </a:lnL>
                    <a:lnR>
                      <a:noFill/>
                    </a:lnR>
                    <a:lnT>
                      <a:noFill/>
                    </a:lnT>
                    <a:lnB>
                      <a:noFill/>
                    </a:lnB>
                    <a:solidFill>
                      <a:srgbClr val="FFFFFF"/>
                    </a:solidFill>
                  </a:tcPr>
                </a:tc>
                <a:tc>
                  <a:txBody>
                    <a:bodyPr/>
                    <a:p>
                      <a:pPr algn="l">
                        <a:buNone/>
                      </a:pPr>
                      <a:r>
                        <a:rPr lang="zh-CN" altLang="en-US" sz="1000">
                          <a:solidFill>
                            <a:srgbClr val="584E61"/>
                          </a:solidFill>
                        </a:rPr>
                        <a:t>计算变量或类型的字节 大小</a:t>
                      </a:r>
                      <a:endParaRPr lang="zh-CN" altLang="en-US" sz="1000">
                        <a:solidFill>
                          <a:srgbClr val="584E61"/>
                        </a:solidFill>
                      </a:endParaRPr>
                    </a:p>
                  </a:txBody>
                  <a:tcPr anchor="ctr" anchorCtr="0">
                    <a:lnL>
                      <a:noFill/>
                    </a:lnL>
                    <a:lnR>
                      <a:noFill/>
                    </a:lnR>
                    <a:lnT>
                      <a:noFill/>
                    </a:lnT>
                    <a:lnB>
                      <a:noFill/>
                    </a:lnB>
                    <a:solidFill>
                      <a:srgbClr val="FFFFFF"/>
                    </a:solidFill>
                  </a:tcPr>
                </a:tc>
              </a:tr>
              <a:tr h="212400">
                <a:tc>
                  <a:txBody>
                    <a:bodyPr/>
                    <a:p>
                      <a:pPr algn="ctr">
                        <a:buNone/>
                      </a:pPr>
                      <a:r>
                        <a:rPr lang="en-US" altLang="zh-CN" sz="1000">
                          <a:solidFill>
                            <a:srgbClr val="584E61"/>
                          </a:solidFill>
                        </a:rPr>
                        <a:t>24</a:t>
                      </a:r>
                      <a:endParaRPr lang="en-US" altLang="zh-CN" sz="1000">
                        <a:solidFill>
                          <a:srgbClr val="584E61"/>
                        </a:solidFill>
                      </a:endParaRPr>
                    </a:p>
                  </a:txBody>
                  <a:tcPr anchor="ctr" anchorCtr="0">
                    <a:lnL>
                      <a:noFill/>
                    </a:lnL>
                    <a:lnR>
                      <a:noFill/>
                    </a:lnR>
                    <a:lnT>
                      <a:noFill/>
                    </a:lnT>
                    <a:lnB>
                      <a:noFill/>
                    </a:lnB>
                    <a:solidFill>
                      <a:srgbClr val="F0EFF2"/>
                    </a:solidFill>
                  </a:tcPr>
                </a:tc>
                <a:tc>
                  <a:txBody>
                    <a:bodyPr/>
                    <a:p>
                      <a:pPr algn="ctr">
                        <a:buNone/>
                      </a:pPr>
                      <a:r>
                        <a:rPr lang="zh-CN" altLang="en-US" sz="1000">
                          <a:solidFill>
                            <a:srgbClr val="584E61"/>
                          </a:solidFill>
                        </a:rPr>
                        <a:t>static</a:t>
                      </a:r>
                      <a:endParaRPr lang="zh-CN" altLang="en-US" sz="1000">
                        <a:solidFill>
                          <a:srgbClr val="584E61"/>
                        </a:solidFill>
                      </a:endParaRPr>
                    </a:p>
                  </a:txBody>
                  <a:tcPr anchor="ctr" anchorCtr="0">
                    <a:lnL>
                      <a:noFill/>
                    </a:lnL>
                    <a:lnR>
                      <a:noFill/>
                    </a:lnR>
                    <a:lnT>
                      <a:noFill/>
                    </a:lnT>
                    <a:lnB>
                      <a:noFill/>
                    </a:lnB>
                    <a:solidFill>
                      <a:srgbClr val="F0EFF2"/>
                    </a:solidFill>
                  </a:tcPr>
                </a:tc>
                <a:tc>
                  <a:txBody>
                    <a:bodyPr/>
                    <a:p>
                      <a:pPr algn="l">
                        <a:buNone/>
                      </a:pPr>
                      <a:r>
                        <a:rPr lang="zh-CN" altLang="en-US" sz="1000">
                          <a:solidFill>
                            <a:srgbClr val="584E61"/>
                          </a:solidFill>
                        </a:rPr>
                        <a:t>声明静态变量。</a:t>
                      </a:r>
                      <a:endParaRPr lang="zh-CN" altLang="en-US" sz="1000">
                        <a:solidFill>
                          <a:srgbClr val="584E61"/>
                        </a:solidFill>
                      </a:endParaRPr>
                    </a:p>
                    <a:p>
                      <a:pPr algn="l">
                        <a:buNone/>
                      </a:pPr>
                      <a:r>
                        <a:rPr lang="en-US" altLang="zh-CN" sz="1000">
                          <a:solidFill>
                            <a:srgbClr val="584E61"/>
                          </a:solidFill>
                        </a:rPr>
                        <a:t>表示变量存在于 静态区 ，基本就</a:t>
                      </a:r>
                      <a:r>
                        <a:rPr lang="zh-CN" altLang="en-US" sz="1000">
                          <a:solidFill>
                            <a:srgbClr val="584E61"/>
                          </a:solidFill>
                        </a:rPr>
                        <a:t>是</a:t>
                      </a:r>
                      <a:r>
                        <a:rPr lang="en-US" altLang="zh-CN" sz="1000">
                          <a:solidFill>
                            <a:srgbClr val="584E61"/>
                          </a:solidFill>
                        </a:rPr>
                        <a:t>全局区</a:t>
                      </a:r>
                      <a:r>
                        <a:rPr lang="zh-CN" altLang="en-US" sz="1000">
                          <a:solidFill>
                            <a:srgbClr val="584E61"/>
                          </a:solidFill>
                          <a:ea typeface="宋体" pitchFamily="2" charset="-122"/>
                        </a:rPr>
                        <a:t>，生存周期同系统生存周期。</a:t>
                      </a:r>
                      <a:endParaRPr lang="zh-CN" altLang="en-US" sz="1000">
                        <a:solidFill>
                          <a:srgbClr val="584E61"/>
                        </a:solidFill>
                        <a:ea typeface="宋体" pitchFamily="2" charset="-122"/>
                      </a:endParaRPr>
                    </a:p>
                  </a:txBody>
                  <a:tcPr anchor="ctr" anchorCtr="0">
                    <a:lnL>
                      <a:noFill/>
                    </a:lnL>
                    <a:lnR>
                      <a:noFill/>
                    </a:lnR>
                    <a:lnT>
                      <a:noFill/>
                    </a:lnT>
                    <a:lnB>
                      <a:noFill/>
                    </a:lnB>
                    <a:solidFill>
                      <a:srgbClr val="F0EFF2"/>
                    </a:solidFill>
                  </a:tcPr>
                </a:tc>
              </a:tr>
              <a:tr h="212400">
                <a:tc>
                  <a:txBody>
                    <a:bodyPr/>
                    <a:p>
                      <a:pPr algn="ctr">
                        <a:buNone/>
                      </a:pPr>
                      <a:r>
                        <a:rPr lang="en-US" altLang="zh-CN" sz="1000">
                          <a:solidFill>
                            <a:srgbClr val="584E61"/>
                          </a:solidFill>
                        </a:rPr>
                        <a:t>25</a:t>
                      </a:r>
                      <a:endParaRPr lang="en-US" altLang="zh-CN" sz="1000">
                        <a:solidFill>
                          <a:srgbClr val="584E61"/>
                        </a:solidFill>
                      </a:endParaRPr>
                    </a:p>
                  </a:txBody>
                  <a:tcPr anchor="ctr" anchorCtr="0">
                    <a:lnL>
                      <a:noFill/>
                    </a:lnL>
                    <a:lnR>
                      <a:noFill/>
                    </a:lnR>
                    <a:lnT>
                      <a:noFill/>
                    </a:lnT>
                    <a:lnB>
                      <a:noFill/>
                    </a:lnB>
                    <a:solidFill>
                      <a:srgbClr val="FFFFFF"/>
                    </a:solidFill>
                  </a:tcPr>
                </a:tc>
                <a:tc>
                  <a:txBody>
                    <a:bodyPr/>
                    <a:p>
                      <a:pPr algn="ctr">
                        <a:buNone/>
                      </a:pPr>
                      <a:r>
                        <a:rPr lang="zh-CN" altLang="en-US" sz="1000">
                          <a:solidFill>
                            <a:srgbClr val="584E61"/>
                          </a:solidFill>
                        </a:rPr>
                        <a:t>struct</a:t>
                      </a:r>
                      <a:endParaRPr lang="zh-CN" altLang="en-US" sz="1000">
                        <a:solidFill>
                          <a:srgbClr val="584E61"/>
                        </a:solidFill>
                      </a:endParaRPr>
                    </a:p>
                  </a:txBody>
                  <a:tcPr anchor="ctr" anchorCtr="0">
                    <a:lnL>
                      <a:noFill/>
                    </a:lnL>
                    <a:lnR>
                      <a:noFill/>
                    </a:lnR>
                    <a:lnT>
                      <a:noFill/>
                    </a:lnT>
                    <a:lnB>
                      <a:noFill/>
                    </a:lnB>
                    <a:solidFill>
                      <a:srgbClr val="FFFFFF"/>
                    </a:solidFill>
                  </a:tcPr>
                </a:tc>
                <a:tc>
                  <a:txBody>
                    <a:bodyPr/>
                    <a:p>
                      <a:pPr algn="l">
                        <a:buNone/>
                      </a:pPr>
                      <a:r>
                        <a:rPr lang="zh-CN" altLang="en-US" sz="1000">
                          <a:solidFill>
                            <a:srgbClr val="584E61"/>
                          </a:solidFill>
                        </a:rPr>
                        <a:t>定义结构体。</a:t>
                      </a:r>
                      <a:endParaRPr lang="zh-CN" altLang="en-US" sz="1000">
                        <a:solidFill>
                          <a:srgbClr val="584E61"/>
                        </a:solidFill>
                      </a:endParaRPr>
                    </a:p>
                    <a:p>
                      <a:pPr algn="l">
                        <a:buNone/>
                      </a:pPr>
                      <a:r>
                        <a:rPr lang="zh-CN" altLang="en-US" sz="1000">
                          <a:solidFill>
                            <a:srgbClr val="584E61"/>
                          </a:solidFill>
                        </a:rPr>
                        <a:t>用法 广泛 ，很重要。</a:t>
                      </a:r>
                      <a:endParaRPr lang="zh-CN" altLang="en-US" sz="1000">
                        <a:solidFill>
                          <a:srgbClr val="584E61"/>
                        </a:solidFill>
                      </a:endParaRPr>
                    </a:p>
                    <a:p>
                      <a:pPr algn="l">
                        <a:buNone/>
                      </a:pPr>
                      <a:r>
                        <a:rPr lang="zh-CN" altLang="en-US" sz="1000">
                          <a:solidFill>
                            <a:srgbClr val="584E61"/>
                          </a:solidFill>
                        </a:rPr>
                        <a:t>C 的重要思路就是面向过程编程，撑起面向过程的关键就是结构体。</a:t>
                      </a:r>
                      <a:endParaRPr lang="zh-CN" altLang="en-US" sz="1000">
                        <a:solidFill>
                          <a:srgbClr val="584E61"/>
                        </a:solidFill>
                      </a:endParaRPr>
                    </a:p>
                  </a:txBody>
                  <a:tcPr anchor="ctr" anchorCtr="0">
                    <a:lnL>
                      <a:noFill/>
                    </a:lnL>
                    <a:lnR>
                      <a:noFill/>
                    </a:lnR>
                    <a:lnT>
                      <a:noFill/>
                    </a:lnT>
                    <a:lnB>
                      <a:noFill/>
                    </a:lnB>
                    <a:solidFill>
                      <a:srgbClr val="FFFFFF"/>
                    </a:solidFill>
                  </a:tcPr>
                </a:tc>
              </a:tr>
              <a:tr h="212400">
                <a:tc>
                  <a:txBody>
                    <a:bodyPr/>
                    <a:p>
                      <a:pPr algn="ctr">
                        <a:buNone/>
                      </a:pPr>
                      <a:r>
                        <a:rPr lang="en-US" altLang="zh-CN" sz="1000">
                          <a:solidFill>
                            <a:srgbClr val="584E61"/>
                          </a:solidFill>
                        </a:rPr>
                        <a:t>26</a:t>
                      </a:r>
                      <a:endParaRPr lang="en-US" altLang="zh-CN" sz="1000">
                        <a:solidFill>
                          <a:srgbClr val="584E61"/>
                        </a:solidFill>
                      </a:endParaRPr>
                    </a:p>
                  </a:txBody>
                  <a:tcPr anchor="ctr" anchorCtr="0">
                    <a:lnL>
                      <a:noFill/>
                    </a:lnL>
                    <a:lnR>
                      <a:noFill/>
                    </a:lnR>
                    <a:lnT>
                      <a:noFill/>
                    </a:lnT>
                    <a:lnB>
                      <a:noFill/>
                    </a:lnB>
                    <a:solidFill>
                      <a:srgbClr val="F0EFF2"/>
                    </a:solidFill>
                  </a:tcPr>
                </a:tc>
                <a:tc>
                  <a:txBody>
                    <a:bodyPr/>
                    <a:p>
                      <a:pPr algn="ctr">
                        <a:buNone/>
                      </a:pPr>
                      <a:r>
                        <a:rPr lang="en-US" altLang="zh-CN" sz="1000">
                          <a:solidFill>
                            <a:srgbClr val="584E61"/>
                          </a:solidFill>
                        </a:rPr>
                        <a:t>switch</a:t>
                      </a:r>
                      <a:endParaRPr lang="en-US" altLang="zh-CN" sz="1000">
                        <a:solidFill>
                          <a:srgbClr val="584E61"/>
                        </a:solidFill>
                      </a:endParaRPr>
                    </a:p>
                  </a:txBody>
                  <a:tcPr anchor="ctr" anchorCtr="0">
                    <a:lnL>
                      <a:noFill/>
                    </a:lnL>
                    <a:lnR>
                      <a:noFill/>
                    </a:lnR>
                    <a:lnT>
                      <a:noFill/>
                    </a:lnT>
                    <a:lnB>
                      <a:noFill/>
                    </a:lnB>
                    <a:solidFill>
                      <a:srgbClr val="F0EFF2"/>
                    </a:solidFill>
                  </a:tcPr>
                </a:tc>
                <a:tc>
                  <a:txBody>
                    <a:bodyPr/>
                    <a:p>
                      <a:pPr algn="l">
                        <a:buNone/>
                      </a:pPr>
                      <a:r>
                        <a:rPr lang="zh-CN" altLang="en-US" sz="1000">
                          <a:solidFill>
                            <a:srgbClr val="584E61"/>
                          </a:solidFill>
                        </a:rPr>
                        <a:t>多分支选择语句</a:t>
                      </a:r>
                      <a:endParaRPr lang="zh-CN" altLang="en-US" sz="1000">
                        <a:solidFill>
                          <a:srgbClr val="584E61"/>
                        </a:solidFill>
                      </a:endParaRPr>
                    </a:p>
                  </a:txBody>
                  <a:tcPr anchor="ctr" anchorCtr="0">
                    <a:lnL>
                      <a:noFill/>
                    </a:lnL>
                    <a:lnR>
                      <a:noFill/>
                    </a:lnR>
                    <a:lnT>
                      <a:noFill/>
                    </a:lnT>
                    <a:lnB>
                      <a:noFill/>
                    </a:lnB>
                    <a:solidFill>
                      <a:srgbClr val="F0EFF2"/>
                    </a:solidFill>
                  </a:tcPr>
                </a:tc>
              </a:tr>
              <a:tr h="212400">
                <a:tc>
                  <a:txBody>
                    <a:bodyPr/>
                    <a:p>
                      <a:pPr algn="ctr">
                        <a:buNone/>
                      </a:pPr>
                      <a:r>
                        <a:rPr lang="en-US" altLang="zh-CN" sz="1000">
                          <a:solidFill>
                            <a:srgbClr val="584E61"/>
                          </a:solidFill>
                        </a:rPr>
                        <a:t>27</a:t>
                      </a:r>
                      <a:endParaRPr lang="en-US" altLang="zh-CN" sz="1000">
                        <a:solidFill>
                          <a:srgbClr val="584E61"/>
                        </a:solidFill>
                      </a:endParaRPr>
                    </a:p>
                  </a:txBody>
                  <a:tcPr anchor="ctr" anchorCtr="0">
                    <a:lnL>
                      <a:noFill/>
                    </a:lnL>
                    <a:lnR>
                      <a:noFill/>
                    </a:lnR>
                    <a:lnT>
                      <a:noFill/>
                    </a:lnT>
                    <a:lnB>
                      <a:noFill/>
                    </a:lnB>
                    <a:solidFill>
                      <a:srgbClr val="FFFFFF"/>
                    </a:solidFill>
                  </a:tcPr>
                </a:tc>
                <a:tc>
                  <a:txBody>
                    <a:bodyPr/>
                    <a:p>
                      <a:pPr algn="ctr">
                        <a:buNone/>
                      </a:pPr>
                      <a:r>
                        <a:rPr lang="zh-CN" altLang="en-US" sz="1000">
                          <a:solidFill>
                            <a:srgbClr val="584E61"/>
                          </a:solidFill>
                        </a:rPr>
                        <a:t>typedef</a:t>
                      </a:r>
                      <a:endParaRPr lang="zh-CN" altLang="en-US" sz="1000">
                        <a:solidFill>
                          <a:srgbClr val="584E61"/>
                        </a:solidFill>
                      </a:endParaRPr>
                    </a:p>
                  </a:txBody>
                  <a:tcPr anchor="ctr" anchorCtr="0">
                    <a:lnL>
                      <a:noFill/>
                    </a:lnL>
                    <a:lnR>
                      <a:noFill/>
                    </a:lnR>
                    <a:lnT>
                      <a:noFill/>
                    </a:lnT>
                    <a:lnB>
                      <a:noFill/>
                    </a:lnB>
                    <a:solidFill>
                      <a:srgbClr val="FFFFFF"/>
                    </a:solidFill>
                  </a:tcPr>
                </a:tc>
                <a:tc>
                  <a:txBody>
                    <a:bodyPr/>
                    <a:p>
                      <a:pPr algn="l">
                        <a:buNone/>
                      </a:pPr>
                      <a:r>
                        <a:rPr lang="zh-CN" altLang="en-US" sz="1000">
                          <a:solidFill>
                            <a:srgbClr val="584E61"/>
                          </a:solidFill>
                        </a:rPr>
                        <a:t>类型重定义。</a:t>
                      </a:r>
                      <a:endParaRPr lang="zh-CN" altLang="en-US" sz="1000">
                        <a:solidFill>
                          <a:srgbClr val="584E61"/>
                        </a:solidFill>
                      </a:endParaRPr>
                    </a:p>
                    <a:p>
                      <a:pPr algn="l">
                        <a:buNone/>
                      </a:pPr>
                      <a:r>
                        <a:rPr lang="zh-CN" altLang="en-US" sz="1000">
                          <a:solidFill>
                            <a:srgbClr val="584E61"/>
                          </a:solidFill>
                        </a:rPr>
                        <a:t>重新定义新的类型</a:t>
                      </a:r>
                      <a:endParaRPr lang="zh-CN" altLang="en-US" sz="1000">
                        <a:solidFill>
                          <a:srgbClr val="584E61"/>
                        </a:solidFill>
                      </a:endParaRPr>
                    </a:p>
                  </a:txBody>
                  <a:tcPr anchor="ctr" anchorCtr="0">
                    <a:lnL>
                      <a:noFill/>
                    </a:lnL>
                    <a:lnR>
                      <a:noFill/>
                    </a:lnR>
                    <a:lnT>
                      <a:noFill/>
                    </a:lnT>
                    <a:lnB>
                      <a:noFill/>
                    </a:lnB>
                    <a:solidFill>
                      <a:srgbClr val="FFFFFF"/>
                    </a:solidFill>
                  </a:tcPr>
                </a:tc>
              </a:tr>
              <a:tr h="212400">
                <a:tc>
                  <a:txBody>
                    <a:bodyPr/>
                    <a:p>
                      <a:pPr algn="ctr">
                        <a:buNone/>
                      </a:pPr>
                      <a:r>
                        <a:rPr lang="en-US" altLang="zh-CN" sz="1000">
                          <a:solidFill>
                            <a:srgbClr val="584E61"/>
                          </a:solidFill>
                        </a:rPr>
                        <a:t>28</a:t>
                      </a:r>
                      <a:endParaRPr lang="en-US" altLang="zh-CN" sz="1000">
                        <a:solidFill>
                          <a:srgbClr val="584E61"/>
                        </a:solidFill>
                      </a:endParaRPr>
                    </a:p>
                  </a:txBody>
                  <a:tcPr anchor="ctr" anchorCtr="0">
                    <a:lnL>
                      <a:noFill/>
                    </a:lnL>
                    <a:lnR>
                      <a:noFill/>
                    </a:lnR>
                    <a:lnT>
                      <a:noFill/>
                    </a:lnT>
                    <a:lnB>
                      <a:noFill/>
                    </a:lnB>
                    <a:solidFill>
                      <a:srgbClr val="F0EFF2"/>
                    </a:solidFill>
                  </a:tcPr>
                </a:tc>
                <a:tc>
                  <a:txBody>
                    <a:bodyPr/>
                    <a:p>
                      <a:pPr algn="ctr">
                        <a:buNone/>
                      </a:pPr>
                      <a:r>
                        <a:rPr lang="en-US" altLang="zh-CN" sz="1000">
                          <a:solidFill>
                            <a:srgbClr val="584E61"/>
                          </a:solidFill>
                        </a:rPr>
                        <a:t>unsigned</a:t>
                      </a:r>
                      <a:endParaRPr lang="en-US" altLang="zh-CN" sz="1000">
                        <a:solidFill>
                          <a:srgbClr val="584E61"/>
                        </a:solidFill>
                      </a:endParaRPr>
                    </a:p>
                  </a:txBody>
                  <a:tcPr anchor="ctr" anchorCtr="0">
                    <a:lnL>
                      <a:noFill/>
                    </a:lnL>
                    <a:lnR>
                      <a:noFill/>
                    </a:lnR>
                    <a:lnT>
                      <a:noFill/>
                    </a:lnT>
                    <a:lnB>
                      <a:noFill/>
                    </a:lnB>
                    <a:solidFill>
                      <a:srgbClr val="F0EFF2"/>
                    </a:solidFill>
                  </a:tcPr>
                </a:tc>
                <a:tc>
                  <a:txBody>
                    <a:bodyPr/>
                    <a:p>
                      <a:pPr algn="l">
                        <a:buNone/>
                      </a:pPr>
                      <a:r>
                        <a:rPr lang="zh-CN" altLang="en-US" sz="1000">
                          <a:solidFill>
                            <a:srgbClr val="584E61"/>
                          </a:solidFill>
                        </a:rPr>
                        <a:t>声明无符号类型变量或函数</a:t>
                      </a:r>
                      <a:endParaRPr lang="zh-CN" altLang="en-US" sz="1000">
                        <a:solidFill>
                          <a:srgbClr val="584E61"/>
                        </a:solidFill>
                      </a:endParaRPr>
                    </a:p>
                  </a:txBody>
                  <a:tcPr anchor="ctr" anchorCtr="0">
                    <a:lnL>
                      <a:noFill/>
                    </a:lnL>
                    <a:lnR>
                      <a:noFill/>
                    </a:lnR>
                    <a:lnT>
                      <a:noFill/>
                    </a:lnT>
                    <a:lnB>
                      <a:noFill/>
                    </a:lnB>
                    <a:solidFill>
                      <a:srgbClr val="F0EFF2"/>
                    </a:solidFill>
                  </a:tcPr>
                </a:tc>
              </a:tr>
              <a:tr h="212400">
                <a:tc>
                  <a:txBody>
                    <a:bodyPr/>
                    <a:p>
                      <a:pPr algn="ctr">
                        <a:buNone/>
                      </a:pPr>
                      <a:r>
                        <a:rPr lang="en-US" altLang="zh-CN" sz="1000">
                          <a:solidFill>
                            <a:srgbClr val="584E61"/>
                          </a:solidFill>
                        </a:rPr>
                        <a:t>29</a:t>
                      </a:r>
                      <a:endParaRPr lang="en-US" altLang="zh-CN" sz="1000">
                        <a:solidFill>
                          <a:srgbClr val="584E61"/>
                        </a:solidFill>
                      </a:endParaRPr>
                    </a:p>
                  </a:txBody>
                  <a:tcPr anchor="ctr" anchorCtr="0">
                    <a:lnL>
                      <a:noFill/>
                    </a:lnL>
                    <a:lnR>
                      <a:noFill/>
                    </a:lnR>
                    <a:lnT>
                      <a:noFill/>
                    </a:lnT>
                    <a:lnB>
                      <a:noFill/>
                    </a:lnB>
                    <a:solidFill>
                      <a:srgbClr val="FFFFFF"/>
                    </a:solidFill>
                  </a:tcPr>
                </a:tc>
                <a:tc>
                  <a:txBody>
                    <a:bodyPr/>
                    <a:p>
                      <a:pPr algn="ctr">
                        <a:buNone/>
                      </a:pPr>
                      <a:r>
                        <a:rPr lang="zh-CN" altLang="en-US" sz="1000">
                          <a:solidFill>
                            <a:srgbClr val="584E61"/>
                          </a:solidFill>
                        </a:rPr>
                        <a:t>union</a:t>
                      </a:r>
                      <a:endParaRPr lang="zh-CN" altLang="en-US" sz="1000">
                        <a:solidFill>
                          <a:srgbClr val="584E61"/>
                        </a:solidFill>
                      </a:endParaRPr>
                    </a:p>
                  </a:txBody>
                  <a:tcPr anchor="ctr" anchorCtr="0">
                    <a:lnL>
                      <a:noFill/>
                    </a:lnL>
                    <a:lnR>
                      <a:noFill/>
                    </a:lnR>
                    <a:lnT>
                      <a:noFill/>
                    </a:lnT>
                    <a:lnB>
                      <a:noFill/>
                    </a:lnB>
                    <a:solidFill>
                      <a:srgbClr val="FFFFFF"/>
                    </a:solidFill>
                  </a:tcPr>
                </a:tc>
                <a:tc>
                  <a:txBody>
                    <a:bodyPr/>
                    <a:p>
                      <a:pPr algn="l">
                        <a:buNone/>
                      </a:pPr>
                      <a:r>
                        <a:rPr lang="zh-CN" altLang="en-US" sz="1000">
                          <a:solidFill>
                            <a:srgbClr val="584E61"/>
                          </a:solidFill>
                        </a:rPr>
                        <a:t>定义共用体</a:t>
                      </a:r>
                      <a:endParaRPr lang="zh-CN" altLang="en-US" sz="1000">
                        <a:solidFill>
                          <a:srgbClr val="584E61"/>
                        </a:solidFill>
                      </a:endParaRPr>
                    </a:p>
                    <a:p>
                      <a:pPr algn="l">
                        <a:buNone/>
                      </a:pPr>
                      <a:r>
                        <a:rPr lang="zh-CN" altLang="en-US" sz="1000">
                          <a:solidFill>
                            <a:srgbClr val="584E61"/>
                          </a:solidFill>
                        </a:rPr>
                        <a:t>常在特殊库函数封装中用到，技巧性强</a:t>
                      </a:r>
                      <a:endParaRPr lang="zh-CN" altLang="en-US" sz="1000">
                        <a:solidFill>
                          <a:srgbClr val="584E61"/>
                        </a:solidFill>
                      </a:endParaRPr>
                    </a:p>
                  </a:txBody>
                  <a:tcPr anchor="ctr" anchorCtr="0">
                    <a:lnL>
                      <a:noFill/>
                    </a:lnL>
                    <a:lnR>
                      <a:noFill/>
                    </a:lnR>
                    <a:lnT>
                      <a:noFill/>
                    </a:lnT>
                    <a:lnB>
                      <a:noFill/>
                    </a:lnB>
                    <a:solidFill>
                      <a:srgbClr val="FFFFFF"/>
                    </a:solidFill>
                  </a:tcPr>
                </a:tc>
              </a:tr>
              <a:tr h="212400">
                <a:tc>
                  <a:txBody>
                    <a:bodyPr/>
                    <a:p>
                      <a:pPr algn="ctr">
                        <a:buNone/>
                      </a:pPr>
                      <a:r>
                        <a:rPr lang="en-US" altLang="zh-CN" sz="1000">
                          <a:solidFill>
                            <a:srgbClr val="584E61"/>
                          </a:solidFill>
                        </a:rPr>
                        <a:t>30</a:t>
                      </a:r>
                      <a:endParaRPr lang="en-US" altLang="zh-CN" sz="1000">
                        <a:solidFill>
                          <a:srgbClr val="584E61"/>
                        </a:solidFill>
                      </a:endParaRPr>
                    </a:p>
                  </a:txBody>
                  <a:tcPr anchor="ctr" anchorCtr="0">
                    <a:lnL>
                      <a:noFill/>
                    </a:lnL>
                    <a:lnR>
                      <a:noFill/>
                    </a:lnR>
                    <a:lnT>
                      <a:noFill/>
                    </a:lnT>
                    <a:lnB>
                      <a:noFill/>
                    </a:lnB>
                    <a:solidFill>
                      <a:srgbClr val="F0EFF2"/>
                    </a:solidFill>
                  </a:tcPr>
                </a:tc>
                <a:tc>
                  <a:txBody>
                    <a:bodyPr/>
                    <a:p>
                      <a:pPr algn="ctr">
                        <a:buNone/>
                      </a:pPr>
                      <a:r>
                        <a:rPr lang="zh-CN" altLang="en-US" sz="1000">
                          <a:solidFill>
                            <a:srgbClr val="584E61"/>
                          </a:solidFill>
                        </a:rPr>
                        <a:t>void</a:t>
                      </a:r>
                      <a:endParaRPr lang="zh-CN" altLang="en-US" sz="1000">
                        <a:solidFill>
                          <a:srgbClr val="584E61"/>
                        </a:solidFill>
                      </a:endParaRPr>
                    </a:p>
                  </a:txBody>
                  <a:tcPr anchor="ctr" anchorCtr="0">
                    <a:lnL>
                      <a:noFill/>
                    </a:lnL>
                    <a:lnR>
                      <a:noFill/>
                    </a:lnR>
                    <a:lnT>
                      <a:noFill/>
                    </a:lnT>
                    <a:lnB>
                      <a:noFill/>
                    </a:lnB>
                    <a:solidFill>
                      <a:srgbClr val="F0EFF2"/>
                    </a:solidFill>
                  </a:tcPr>
                </a:tc>
                <a:tc>
                  <a:txBody>
                    <a:bodyPr/>
                    <a:p>
                      <a:pPr algn="l">
                        <a:buNone/>
                      </a:pPr>
                      <a:r>
                        <a:rPr sz="1000">
                          <a:solidFill>
                            <a:srgbClr val="584E61"/>
                          </a:solidFill>
                        </a:rPr>
                        <a:t>(1) 声明</a:t>
                      </a:r>
                      <a:r>
                        <a:rPr lang="zh-CN" sz="1000">
                          <a:solidFill>
                            <a:srgbClr val="584E61"/>
                          </a:solidFill>
                          <a:ea typeface="宋体" pitchFamily="2" charset="-122"/>
                        </a:rPr>
                        <a:t>函数</a:t>
                      </a:r>
                      <a:r>
                        <a:rPr sz="1000">
                          <a:solidFill>
                            <a:srgbClr val="584E61"/>
                          </a:solidFill>
                        </a:rPr>
                        <a:t>无返回值或无参数</a:t>
                      </a:r>
                      <a:r>
                        <a:rPr lang="en-US" sz="1000">
                          <a:solidFill>
                            <a:srgbClr val="584E61"/>
                          </a:solidFill>
                        </a:rPr>
                        <a:t> </a:t>
                      </a:r>
                      <a:r>
                        <a:rPr sz="1000">
                          <a:solidFill>
                            <a:srgbClr val="584E61"/>
                          </a:solidFill>
                        </a:rPr>
                        <a:t>(2) 声明无类型指针</a:t>
                      </a:r>
                      <a:endParaRPr sz="1000">
                        <a:solidFill>
                          <a:srgbClr val="584E61"/>
                        </a:solidFill>
                      </a:endParaRPr>
                    </a:p>
                  </a:txBody>
                  <a:tcPr anchor="ctr" anchorCtr="0">
                    <a:lnL>
                      <a:noFill/>
                    </a:lnL>
                    <a:lnR>
                      <a:noFill/>
                    </a:lnR>
                    <a:lnT>
                      <a:noFill/>
                    </a:lnT>
                    <a:lnB>
                      <a:noFill/>
                    </a:lnB>
                    <a:solidFill>
                      <a:srgbClr val="F0EFF2"/>
                    </a:solidFill>
                  </a:tcPr>
                </a:tc>
              </a:tr>
              <a:tr h="212400">
                <a:tc>
                  <a:txBody>
                    <a:bodyPr/>
                    <a:p>
                      <a:pPr algn="ctr">
                        <a:buNone/>
                      </a:pPr>
                      <a:r>
                        <a:rPr lang="en-US" altLang="zh-CN" sz="1000">
                          <a:solidFill>
                            <a:srgbClr val="584E61"/>
                          </a:solidFill>
                        </a:rPr>
                        <a:t>31</a:t>
                      </a:r>
                      <a:endParaRPr lang="en-US" altLang="zh-CN" sz="1000">
                        <a:solidFill>
                          <a:srgbClr val="584E61"/>
                        </a:solidFill>
                      </a:endParaRPr>
                    </a:p>
                  </a:txBody>
                  <a:tcPr anchor="ctr" anchorCtr="0">
                    <a:lnL>
                      <a:noFill/>
                    </a:lnL>
                    <a:lnR>
                      <a:noFill/>
                    </a:lnR>
                    <a:lnT>
                      <a:noFill/>
                    </a:lnT>
                    <a:lnB>
                      <a:noFill/>
                    </a:lnB>
                    <a:solidFill>
                      <a:srgbClr val="FFFFFF"/>
                    </a:solidFill>
                  </a:tcPr>
                </a:tc>
                <a:tc>
                  <a:txBody>
                    <a:bodyPr/>
                    <a:p>
                      <a:pPr algn="ctr">
                        <a:buNone/>
                      </a:pPr>
                      <a:r>
                        <a:rPr lang="zh-CN" altLang="en-US" sz="1000">
                          <a:solidFill>
                            <a:srgbClr val="584E61"/>
                          </a:solidFill>
                        </a:rPr>
                        <a:t>volatile</a:t>
                      </a:r>
                      <a:endParaRPr lang="zh-CN" altLang="en-US" sz="1000">
                        <a:solidFill>
                          <a:srgbClr val="584E61"/>
                        </a:solidFill>
                      </a:endParaRPr>
                    </a:p>
                  </a:txBody>
                  <a:tcPr anchor="ctr" anchorCtr="0">
                    <a:lnL>
                      <a:noFill/>
                    </a:lnL>
                    <a:lnR>
                      <a:noFill/>
                    </a:lnR>
                    <a:lnT>
                      <a:noFill/>
                    </a:lnT>
                    <a:lnB>
                      <a:noFill/>
                    </a:lnB>
                    <a:solidFill>
                      <a:srgbClr val="FFFFFF"/>
                    </a:solidFill>
                  </a:tcPr>
                </a:tc>
                <a:tc>
                  <a:txBody>
                    <a:bodyPr/>
                    <a:p>
                      <a:pPr algn="l">
                        <a:buNone/>
                      </a:pPr>
                      <a:r>
                        <a:rPr lang="zh-CN" altLang="en-US" sz="1000">
                          <a:solidFill>
                            <a:srgbClr val="584E61"/>
                          </a:solidFill>
                        </a:rPr>
                        <a:t>说明变量在程序执行中可能被隐含地改变</a:t>
                      </a:r>
                      <a:endParaRPr lang="zh-CN" altLang="en-US" sz="1000">
                        <a:solidFill>
                          <a:srgbClr val="584E61"/>
                        </a:solidFill>
                      </a:endParaRPr>
                    </a:p>
                    <a:p>
                      <a:pPr algn="l">
                        <a:buNone/>
                      </a:pPr>
                      <a:r>
                        <a:rPr lang="zh-CN" altLang="en-US" sz="1000">
                          <a:solidFill>
                            <a:srgbClr val="584E61"/>
                          </a:solidFill>
                        </a:rPr>
                        <a:t>优化器在用到这个变量时必须重新读取这个变量的值，而不是保存在</a:t>
                      </a:r>
                      <a:r>
                        <a:rPr lang="zh-CN" altLang="en-US" sz="1000">
                          <a:solidFill>
                            <a:srgbClr val="584E61"/>
                          </a:solidFill>
                          <a:ea typeface="宋体" pitchFamily="2" charset="-122"/>
                        </a:rPr>
                        <a:t>寄存器</a:t>
                      </a:r>
                      <a:r>
                        <a:rPr lang="zh-CN" altLang="en-US" sz="1000">
                          <a:solidFill>
                            <a:srgbClr val="584E61"/>
                          </a:solidFill>
                        </a:rPr>
                        <a:t>里的备份</a:t>
                      </a:r>
                      <a:endParaRPr lang="zh-CN" altLang="en-US" sz="1000">
                        <a:solidFill>
                          <a:srgbClr val="584E61"/>
                        </a:solidFill>
                      </a:endParaRPr>
                    </a:p>
                  </a:txBody>
                  <a:tcPr anchor="ctr" anchorCtr="0">
                    <a:lnL>
                      <a:noFill/>
                    </a:lnL>
                    <a:lnR>
                      <a:noFill/>
                    </a:lnR>
                    <a:lnT>
                      <a:noFill/>
                    </a:lnT>
                    <a:lnB>
                      <a:noFill/>
                    </a:lnB>
                    <a:solidFill>
                      <a:srgbClr val="FFFFFF"/>
                    </a:solidFill>
                  </a:tcPr>
                </a:tc>
              </a:tr>
              <a:tr h="212400">
                <a:tc>
                  <a:txBody>
                    <a:bodyPr/>
                    <a:p>
                      <a:pPr algn="ctr">
                        <a:buNone/>
                      </a:pPr>
                      <a:r>
                        <a:rPr lang="en-US" altLang="zh-CN" sz="1000">
                          <a:solidFill>
                            <a:srgbClr val="584E61"/>
                          </a:solidFill>
                        </a:rPr>
                        <a:t>32</a:t>
                      </a:r>
                      <a:endParaRPr lang="en-US" altLang="zh-CN" sz="1000">
                        <a:solidFill>
                          <a:srgbClr val="584E61"/>
                        </a:solidFill>
                      </a:endParaRPr>
                    </a:p>
                  </a:txBody>
                  <a:tcPr anchor="ctr" anchorCtr="0">
                    <a:lnL>
                      <a:noFill/>
                    </a:lnL>
                    <a:lnR>
                      <a:noFill/>
                    </a:lnR>
                    <a:lnT>
                      <a:noFill/>
                    </a:lnT>
                    <a:lnB w="19050">
                      <a:solidFill>
                        <a:srgbClr val="584E61"/>
                      </a:solidFill>
                      <a:prstDash val="solid"/>
                    </a:lnB>
                    <a:solidFill>
                      <a:srgbClr val="F0EFF2"/>
                    </a:solidFill>
                  </a:tcPr>
                </a:tc>
                <a:tc>
                  <a:txBody>
                    <a:bodyPr/>
                    <a:p>
                      <a:pPr algn="ctr">
                        <a:buNone/>
                      </a:pPr>
                      <a:r>
                        <a:rPr lang="zh-CN" altLang="en-US" sz="1000">
                          <a:solidFill>
                            <a:srgbClr val="584E61"/>
                          </a:solidFill>
                        </a:rPr>
                        <a:t>while</a:t>
                      </a:r>
                      <a:endParaRPr lang="zh-CN" altLang="en-US" sz="1000">
                        <a:solidFill>
                          <a:srgbClr val="584E61"/>
                        </a:solidFill>
                      </a:endParaRPr>
                    </a:p>
                  </a:txBody>
                  <a:tcPr anchor="ctr" anchorCtr="0">
                    <a:lnL>
                      <a:noFill/>
                    </a:lnL>
                    <a:lnR>
                      <a:noFill/>
                    </a:lnR>
                    <a:lnT>
                      <a:noFill/>
                    </a:lnT>
                    <a:lnB w="19050">
                      <a:solidFill>
                        <a:srgbClr val="584E61"/>
                      </a:solidFill>
                      <a:prstDash val="solid"/>
                    </a:lnB>
                    <a:solidFill>
                      <a:srgbClr val="F0EFF2"/>
                    </a:solidFill>
                  </a:tcPr>
                </a:tc>
                <a:tc>
                  <a:txBody>
                    <a:bodyPr/>
                    <a:p>
                      <a:pPr algn="l">
                        <a:buNone/>
                      </a:pPr>
                      <a:r>
                        <a:rPr lang="zh-CN" altLang="en-US" sz="1000">
                          <a:solidFill>
                            <a:srgbClr val="584E61"/>
                          </a:solidFill>
                        </a:rPr>
                        <a:t>while 循环语句</a:t>
                      </a:r>
                      <a:endParaRPr lang="zh-CN" altLang="en-US" sz="1000">
                        <a:solidFill>
                          <a:srgbClr val="584E61"/>
                        </a:solidFill>
                      </a:endParaRPr>
                    </a:p>
                  </a:txBody>
                  <a:tcPr anchor="ctr" anchorCtr="0">
                    <a:lnL>
                      <a:noFill/>
                    </a:lnL>
                    <a:lnR>
                      <a:noFill/>
                    </a:lnR>
                    <a:lnT>
                      <a:noFill/>
                    </a:lnT>
                    <a:lnB w="19050">
                      <a:solidFill>
                        <a:srgbClr val="584E61"/>
                      </a:solidFill>
                      <a:prstDash val="solid"/>
                    </a:lnB>
                    <a:solidFill>
                      <a:srgbClr val="F0EFF2"/>
                    </a:solidFill>
                  </a:tcPr>
                </a:tc>
              </a:tr>
            </a:tbl>
          </a:graphicData>
        </a:graphic>
      </p:graphicFrame>
      <p:sp>
        <p:nvSpPr>
          <p:cNvPr id="4" name="灯片编号占位符 3"/>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0" y="85725"/>
            <a:ext cx="5905500" cy="542925"/>
          </a:xfr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2.2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关键字与标识符</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14339" name="内容占位符 2"/>
          <p:cNvSpPr>
            <a:spLocks noGrp="1"/>
          </p:cNvSpPr>
          <p:nvPr>
            <p:ph idx="1"/>
          </p:nvPr>
        </p:nvSpPr>
        <p:spPr bwMode="auto">
          <a:xfrm>
            <a:off x="457200" y="497840"/>
            <a:ext cx="8229600" cy="57340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Tx/>
              <a:buChar char="•"/>
              <a:defRPr/>
            </a:pPr>
            <a:r>
              <a:rPr kumimoji="0" lang="en-US" altLang="zh-CN" b="1" i="0" u="none" strike="noStrike" kern="0" cap="none" spc="0" normalizeH="0" baseline="0" noProof="0" dirty="0" smtClean="0">
                <a:ln>
                  <a:noFill/>
                </a:ln>
                <a:solidFill>
                  <a:srgbClr val="009ED6"/>
                </a:solidFill>
                <a:effectLst/>
                <a:uLnTx/>
                <a:uFillTx/>
                <a:latin typeface="+mn-lt"/>
                <a:ea typeface="+mn-ea"/>
                <a:cs typeface="+mn-cs"/>
              </a:rPr>
              <a:t>2.2.1 </a:t>
            </a:r>
            <a:r>
              <a:rPr kumimoji="0" lang="zh-CN" altLang="en-US" b="1" i="0" u="none" strike="noStrike" kern="0" cap="none" spc="0" normalizeH="0" baseline="0" noProof="0" dirty="0" smtClean="0">
                <a:ln>
                  <a:noFill/>
                </a:ln>
                <a:solidFill>
                  <a:srgbClr val="009ED6"/>
                </a:solidFill>
                <a:effectLst/>
                <a:uLnTx/>
                <a:uFillTx/>
                <a:latin typeface="+mn-lt"/>
                <a:ea typeface="+mn-ea"/>
                <a:cs typeface="+mn-cs"/>
              </a:rPr>
              <a:t> 关键字</a:t>
            </a:r>
            <a:r>
              <a:rPr kumimoji="0" lang="en-US" altLang="zh-CN" b="1" i="0" u="none" strike="noStrike" kern="0" cap="none" spc="0" normalizeH="0" baseline="0" noProof="0" dirty="0" smtClean="0">
                <a:ln>
                  <a:noFill/>
                </a:ln>
                <a:solidFill>
                  <a:srgbClr val="009ED6"/>
                </a:solidFill>
                <a:effectLst/>
                <a:uLnTx/>
                <a:uFillTx/>
                <a:latin typeface="+mn-lt"/>
                <a:ea typeface="+mn-ea"/>
                <a:cs typeface="+mn-cs"/>
              </a:rPr>
              <a:t>—</a:t>
            </a:r>
            <a:r>
              <a:rPr kumimoji="0" lang="zh-CN" altLang="en-US" b="1" i="0" u="none" strike="noStrike" kern="0" cap="none" spc="0" normalizeH="0" baseline="0" noProof="0" dirty="0" smtClean="0">
                <a:ln>
                  <a:noFill/>
                </a:ln>
                <a:solidFill>
                  <a:srgbClr val="009ED6"/>
                </a:solidFill>
                <a:effectLst/>
                <a:uLnTx/>
                <a:uFillTx/>
                <a:latin typeface="+mn-lt"/>
                <a:ea typeface="+mn-ea"/>
                <a:cs typeface="+mn-cs"/>
              </a:rPr>
              <a:t>C99新增关键字（5个）</a:t>
            </a:r>
            <a:endParaRPr kumimoji="0" lang="zh-CN" altLang="en-US" b="1" i="0" u="none" strike="noStrike" kern="0" cap="none" spc="0" normalizeH="0" baseline="0" noProof="0" dirty="0" smtClean="0">
              <a:ln>
                <a:noFill/>
              </a:ln>
              <a:solidFill>
                <a:srgbClr val="009ED6"/>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1" i="0" u="none" strike="noStrike" kern="0" cap="none" spc="0" normalizeH="0" baseline="0" noProof="0" dirty="0">
              <a:ln>
                <a:noFill/>
              </a:ln>
              <a:solidFill>
                <a:srgbClr val="009ED6"/>
              </a:solidFill>
              <a:effectLst/>
              <a:uLnTx/>
              <a:uFillTx/>
              <a:latin typeface="+mn-lt"/>
              <a:ea typeface="+mn-ea"/>
              <a:cs typeface="+mn-cs"/>
            </a:endParaRPr>
          </a:p>
        </p:txBody>
      </p:sp>
      <p:graphicFrame>
        <p:nvGraphicFramePr>
          <p:cNvPr id="6" name="表格 5"/>
          <p:cNvGraphicFramePr/>
          <p:nvPr>
            <p:custDataLst>
              <p:tags r:id="rId1"/>
            </p:custDataLst>
          </p:nvPr>
        </p:nvGraphicFramePr>
        <p:xfrm>
          <a:off x="1007110" y="1136650"/>
          <a:ext cx="7505700" cy="3872230"/>
        </p:xfrm>
        <a:graphic>
          <a:graphicData uri="http://schemas.openxmlformats.org/drawingml/2006/table">
            <a:tbl>
              <a:tblPr firstRow="1" bandRow="1"/>
              <a:tblGrid>
                <a:gridCol w="943610"/>
                <a:gridCol w="1073150"/>
                <a:gridCol w="5488940"/>
              </a:tblGrid>
              <a:tr h="210820">
                <a:tc>
                  <a:txBody>
                    <a:bodyPr/>
                    <a:p>
                      <a:pPr algn="ctr">
                        <a:buNone/>
                      </a:pPr>
                      <a:r>
                        <a:rPr lang="zh-CN" altLang="en-US" sz="1100">
                          <a:solidFill>
                            <a:srgbClr val="584E61"/>
                          </a:solidFill>
                        </a:rPr>
                        <a:t>序号</a:t>
                      </a:r>
                      <a:endParaRPr lang="zh-CN" altLang="en-US" sz="1100">
                        <a:solidFill>
                          <a:srgbClr val="584E61"/>
                        </a:solidFill>
                      </a:endParaRPr>
                    </a:p>
                  </a:txBody>
                  <a:tcPr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p>
                      <a:pPr algn="ctr">
                        <a:buNone/>
                      </a:pPr>
                      <a:r>
                        <a:rPr lang="zh-CN" altLang="en-US" sz="1100">
                          <a:solidFill>
                            <a:srgbClr val="584E61"/>
                          </a:solidFill>
                        </a:rPr>
                        <a:t>关键字</a:t>
                      </a:r>
                      <a:endParaRPr lang="zh-CN" altLang="en-US" sz="1100">
                        <a:solidFill>
                          <a:srgbClr val="584E61"/>
                        </a:solidFill>
                      </a:endParaRPr>
                    </a:p>
                  </a:txBody>
                  <a:tcPr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p>
                      <a:pPr algn="ctr">
                        <a:buNone/>
                      </a:pPr>
                      <a:r>
                        <a:rPr lang="zh-CN" altLang="en-US" sz="1100">
                          <a:solidFill>
                            <a:srgbClr val="584E61"/>
                          </a:solidFill>
                        </a:rPr>
                        <a:t>说明</a:t>
                      </a:r>
                      <a:endParaRPr lang="zh-CN" altLang="en-US" sz="1100">
                        <a:solidFill>
                          <a:srgbClr val="584E61"/>
                        </a:solidFill>
                      </a:endParaRPr>
                    </a:p>
                  </a:txBody>
                  <a:tcPr anchor="ctr" anchorCtr="0">
                    <a:lnL>
                      <a:noFill/>
                    </a:lnL>
                    <a:lnR>
                      <a:noFill/>
                    </a:lnR>
                    <a:lnT w="19050">
                      <a:solidFill>
                        <a:srgbClr val="584E61"/>
                      </a:solidFill>
                      <a:prstDash val="solid"/>
                    </a:lnT>
                    <a:lnB w="19050">
                      <a:solidFill>
                        <a:srgbClr val="584E61"/>
                      </a:solidFill>
                      <a:prstDash val="solid"/>
                    </a:lnB>
                    <a:solidFill>
                      <a:srgbClr val="FFFFFF"/>
                    </a:solidFill>
                  </a:tcPr>
                </a:tc>
              </a:tr>
              <a:tr h="324000">
                <a:tc>
                  <a:txBody>
                    <a:bodyPr/>
                    <a:p>
                      <a:pPr algn="ctr">
                        <a:buNone/>
                      </a:pPr>
                      <a:r>
                        <a:rPr lang="en-US" altLang="zh-CN" sz="1100">
                          <a:solidFill>
                            <a:srgbClr val="584E61"/>
                          </a:solidFill>
                        </a:rPr>
                        <a:t>1</a:t>
                      </a:r>
                      <a:endParaRPr lang="en-US" altLang="zh-CN" sz="1100">
                        <a:solidFill>
                          <a:srgbClr val="584E61"/>
                        </a:solidFill>
                      </a:endParaRPr>
                    </a:p>
                  </a:txBody>
                  <a:tcPr anchor="ctr" anchorCtr="0">
                    <a:lnL>
                      <a:noFill/>
                    </a:lnL>
                    <a:lnR>
                      <a:noFill/>
                    </a:lnR>
                    <a:lnT w="19050">
                      <a:solidFill>
                        <a:srgbClr val="584E61"/>
                      </a:solidFill>
                      <a:prstDash val="solid"/>
                    </a:lnT>
                    <a:lnB>
                      <a:noFill/>
                    </a:lnB>
                    <a:solidFill>
                      <a:srgbClr val="FFFFFF"/>
                    </a:solidFill>
                  </a:tcPr>
                </a:tc>
                <a:tc>
                  <a:txBody>
                    <a:bodyPr/>
                    <a:p>
                      <a:pPr algn="ctr">
                        <a:buNone/>
                      </a:pPr>
                      <a:r>
                        <a:rPr lang="en-US" altLang="zh-CN" sz="1100">
                          <a:solidFill>
                            <a:srgbClr val="584E61"/>
                          </a:solidFill>
                          <a:sym typeface="+mn-ea"/>
                        </a:rPr>
                        <a:t>_Bool</a:t>
                      </a:r>
                      <a:endParaRPr lang="en-US" altLang="zh-CN" sz="1100">
                        <a:solidFill>
                          <a:srgbClr val="584E61"/>
                        </a:solidFill>
                      </a:endParaRPr>
                    </a:p>
                  </a:txBody>
                  <a:tcPr anchor="ctr" anchorCtr="0">
                    <a:lnL>
                      <a:noFill/>
                    </a:lnL>
                    <a:lnR>
                      <a:noFill/>
                    </a:lnR>
                    <a:lnT w="19050">
                      <a:solidFill>
                        <a:srgbClr val="584E61"/>
                      </a:solidFill>
                      <a:prstDash val="solid"/>
                    </a:lnT>
                    <a:lnB>
                      <a:noFill/>
                    </a:lnB>
                    <a:solidFill>
                      <a:srgbClr val="FFFFFF"/>
                    </a:solidFill>
                  </a:tcPr>
                </a:tc>
                <a:tc>
                  <a:txBody>
                    <a:bodyPr/>
                    <a:p>
                      <a:pPr algn="l">
                        <a:buNone/>
                      </a:pPr>
                      <a:r>
                        <a:rPr lang="zh-CN" altLang="en-US" sz="1100">
                          <a:solidFill>
                            <a:srgbClr val="584E61"/>
                          </a:solidFill>
                        </a:rPr>
                        <a:t>布尔值类型Boo</a:t>
                      </a:r>
                      <a:r>
                        <a:rPr lang="en-US" altLang="zh-CN" sz="1100">
                          <a:solidFill>
                            <a:srgbClr val="584E61"/>
                          </a:solidFill>
                        </a:rPr>
                        <a:t>l</a:t>
                      </a:r>
                      <a:r>
                        <a:rPr lang="zh-CN" altLang="en-US" sz="1100">
                          <a:solidFill>
                            <a:srgbClr val="584E61"/>
                          </a:solidFill>
                        </a:rPr>
                        <a:t>等价于 unsigned char ，只有0和1</a:t>
                      </a:r>
                      <a:endParaRPr lang="zh-CN" altLang="en-US" sz="1100">
                        <a:solidFill>
                          <a:srgbClr val="584E61"/>
                        </a:solidFill>
                      </a:endParaRPr>
                    </a:p>
                  </a:txBody>
                  <a:tcPr anchor="ctr" anchorCtr="0">
                    <a:lnL>
                      <a:noFill/>
                    </a:lnL>
                    <a:lnR>
                      <a:noFill/>
                    </a:lnR>
                    <a:lnT w="19050">
                      <a:solidFill>
                        <a:srgbClr val="584E61"/>
                      </a:solidFill>
                      <a:prstDash val="solid"/>
                    </a:lnT>
                    <a:lnB>
                      <a:noFill/>
                    </a:lnB>
                    <a:solidFill>
                      <a:srgbClr val="FFFFFF"/>
                    </a:solidFill>
                  </a:tcPr>
                </a:tc>
              </a:tr>
              <a:tr h="324000">
                <a:tc>
                  <a:txBody>
                    <a:bodyPr/>
                    <a:p>
                      <a:pPr algn="ctr">
                        <a:buNone/>
                      </a:pPr>
                      <a:r>
                        <a:rPr lang="en-US" altLang="zh-CN" sz="1100">
                          <a:solidFill>
                            <a:srgbClr val="584E61"/>
                          </a:solidFill>
                        </a:rPr>
                        <a:t>2</a:t>
                      </a:r>
                      <a:endParaRPr lang="en-US" altLang="zh-CN" sz="1100">
                        <a:solidFill>
                          <a:srgbClr val="584E61"/>
                        </a:solidFill>
                      </a:endParaRPr>
                    </a:p>
                  </a:txBody>
                  <a:tcPr anchor="ctr" anchorCtr="0">
                    <a:lnL>
                      <a:noFill/>
                    </a:lnL>
                    <a:lnR>
                      <a:noFill/>
                    </a:lnR>
                    <a:lnT>
                      <a:noFill/>
                    </a:lnT>
                    <a:lnB>
                      <a:noFill/>
                    </a:lnB>
                    <a:solidFill>
                      <a:srgbClr val="F0EFF2"/>
                    </a:solidFill>
                  </a:tcPr>
                </a:tc>
                <a:tc>
                  <a:txBody>
                    <a:bodyPr/>
                    <a:p>
                      <a:pPr algn="ctr">
                        <a:buNone/>
                      </a:pPr>
                      <a:r>
                        <a:rPr lang="en-US" altLang="zh-CN" sz="1100">
                          <a:solidFill>
                            <a:srgbClr val="584E61"/>
                          </a:solidFill>
                        </a:rPr>
                        <a:t>_</a:t>
                      </a:r>
                      <a:r>
                        <a:rPr lang="zh-CN" altLang="en-US" sz="1100">
                          <a:solidFill>
                            <a:srgbClr val="584E61"/>
                          </a:solidFill>
                        </a:rPr>
                        <a:t>Complex</a:t>
                      </a:r>
                      <a:endParaRPr lang="zh-CN" altLang="en-US" sz="1100">
                        <a:solidFill>
                          <a:srgbClr val="584E61"/>
                        </a:solidFill>
                      </a:endParaRPr>
                    </a:p>
                  </a:txBody>
                  <a:tcPr anchor="ctr" anchorCtr="0">
                    <a:lnL>
                      <a:noFill/>
                    </a:lnL>
                    <a:lnR>
                      <a:noFill/>
                    </a:lnR>
                    <a:lnT>
                      <a:noFill/>
                    </a:lnT>
                    <a:lnB>
                      <a:noFill/>
                    </a:lnB>
                    <a:solidFill>
                      <a:srgbClr val="F0EFF2"/>
                    </a:solidFill>
                  </a:tcPr>
                </a:tc>
                <a:tc>
                  <a:txBody>
                    <a:bodyPr/>
                    <a:p>
                      <a:pPr algn="l">
                        <a:buNone/>
                      </a:pPr>
                      <a:r>
                        <a:rPr lang="zh-CN" altLang="en-US" sz="1100">
                          <a:solidFill>
                            <a:srgbClr val="584E61"/>
                          </a:solidFill>
                        </a:rPr>
                        <a:t>复数类型</a:t>
                      </a:r>
                      <a:endParaRPr lang="zh-CN" altLang="en-US" sz="1100">
                        <a:solidFill>
                          <a:srgbClr val="584E61"/>
                        </a:solidFill>
                      </a:endParaRPr>
                    </a:p>
                  </a:txBody>
                  <a:tcPr anchor="ctr" anchorCtr="0">
                    <a:lnL>
                      <a:noFill/>
                    </a:lnL>
                    <a:lnR>
                      <a:noFill/>
                    </a:lnR>
                    <a:lnT>
                      <a:noFill/>
                    </a:lnT>
                    <a:lnB>
                      <a:noFill/>
                    </a:lnB>
                    <a:solidFill>
                      <a:srgbClr val="F0EFF2"/>
                    </a:solidFill>
                  </a:tcPr>
                </a:tc>
              </a:tr>
              <a:tr h="324000">
                <a:tc>
                  <a:txBody>
                    <a:bodyPr/>
                    <a:p>
                      <a:pPr algn="ctr">
                        <a:buNone/>
                      </a:pPr>
                      <a:r>
                        <a:rPr lang="en-US" altLang="zh-CN" sz="1100">
                          <a:solidFill>
                            <a:srgbClr val="584E61"/>
                          </a:solidFill>
                        </a:rPr>
                        <a:t>3</a:t>
                      </a:r>
                      <a:endParaRPr lang="en-US" altLang="zh-CN" sz="1100">
                        <a:solidFill>
                          <a:srgbClr val="584E61"/>
                        </a:solidFill>
                      </a:endParaRPr>
                    </a:p>
                  </a:txBody>
                  <a:tcPr anchor="ctr" anchorCtr="0">
                    <a:lnL>
                      <a:noFill/>
                    </a:lnL>
                    <a:lnR>
                      <a:noFill/>
                    </a:lnR>
                    <a:lnT>
                      <a:noFill/>
                    </a:lnT>
                    <a:lnB>
                      <a:noFill/>
                    </a:lnB>
                    <a:solidFill>
                      <a:srgbClr val="FFFFFF"/>
                    </a:solidFill>
                  </a:tcPr>
                </a:tc>
                <a:tc>
                  <a:txBody>
                    <a:bodyPr/>
                    <a:p>
                      <a:pPr algn="ctr">
                        <a:buNone/>
                      </a:pPr>
                      <a:r>
                        <a:rPr lang="en-US" altLang="zh-CN" sz="1100">
                          <a:solidFill>
                            <a:srgbClr val="584E61"/>
                          </a:solidFill>
                        </a:rPr>
                        <a:t>_</a:t>
                      </a:r>
                      <a:r>
                        <a:rPr lang="zh-CN" altLang="en-US" sz="1100">
                          <a:solidFill>
                            <a:srgbClr val="584E61"/>
                          </a:solidFill>
                        </a:rPr>
                        <a:t>Imaginary</a:t>
                      </a:r>
                      <a:endParaRPr lang="zh-CN" altLang="en-US" sz="1100">
                        <a:solidFill>
                          <a:srgbClr val="584E61"/>
                        </a:solidFill>
                      </a:endParaRPr>
                    </a:p>
                  </a:txBody>
                  <a:tcPr anchor="ctr" anchorCtr="0">
                    <a:lnL>
                      <a:noFill/>
                    </a:lnL>
                    <a:lnR>
                      <a:noFill/>
                    </a:lnR>
                    <a:lnT>
                      <a:noFill/>
                    </a:lnT>
                    <a:lnB>
                      <a:noFill/>
                    </a:lnB>
                    <a:solidFill>
                      <a:srgbClr val="FFFFFF"/>
                    </a:solidFill>
                  </a:tcPr>
                </a:tc>
                <a:tc>
                  <a:txBody>
                    <a:bodyPr/>
                    <a:p>
                      <a:pPr algn="l">
                        <a:buNone/>
                      </a:pPr>
                      <a:r>
                        <a:rPr lang="zh-CN" altLang="en-US" sz="1100">
                          <a:solidFill>
                            <a:srgbClr val="584E61"/>
                          </a:solidFill>
                        </a:rPr>
                        <a:t>虚数类型</a:t>
                      </a:r>
                      <a:endParaRPr lang="zh-CN" altLang="en-US" sz="1100">
                        <a:solidFill>
                          <a:srgbClr val="584E61"/>
                        </a:solidFill>
                      </a:endParaRPr>
                    </a:p>
                    <a:p>
                      <a:pPr algn="l">
                        <a:buNone/>
                      </a:pPr>
                      <a:r>
                        <a:rPr lang="zh-CN" altLang="en-US" sz="1100">
                          <a:solidFill>
                            <a:srgbClr val="584E61"/>
                          </a:solidFill>
                        </a:rPr>
                        <a:t>无法在代码中表示，系统保留 ，我们不能使用</a:t>
                      </a:r>
                      <a:endParaRPr lang="zh-CN" altLang="en-US" sz="1100">
                        <a:solidFill>
                          <a:srgbClr val="584E61"/>
                        </a:solidFill>
                      </a:endParaRPr>
                    </a:p>
                  </a:txBody>
                  <a:tcPr anchor="ctr" anchorCtr="0">
                    <a:lnL>
                      <a:noFill/>
                    </a:lnL>
                    <a:lnR>
                      <a:noFill/>
                    </a:lnR>
                    <a:lnT>
                      <a:noFill/>
                    </a:lnT>
                    <a:lnB>
                      <a:noFill/>
                    </a:lnB>
                    <a:solidFill>
                      <a:srgbClr val="FFFFFF"/>
                    </a:solidFill>
                  </a:tcPr>
                </a:tc>
              </a:tr>
              <a:tr h="324000">
                <a:tc>
                  <a:txBody>
                    <a:bodyPr/>
                    <a:p>
                      <a:pPr algn="ctr">
                        <a:buNone/>
                      </a:pPr>
                      <a:r>
                        <a:rPr lang="en-US" altLang="zh-CN" sz="1100">
                          <a:solidFill>
                            <a:srgbClr val="584E61"/>
                          </a:solidFill>
                        </a:rPr>
                        <a:t>4</a:t>
                      </a:r>
                      <a:endParaRPr lang="en-US" altLang="zh-CN" sz="1100">
                        <a:solidFill>
                          <a:srgbClr val="584E61"/>
                        </a:solidFill>
                      </a:endParaRPr>
                    </a:p>
                  </a:txBody>
                  <a:tcPr anchor="ctr" anchorCtr="0">
                    <a:lnL>
                      <a:noFill/>
                    </a:lnL>
                    <a:lnR>
                      <a:noFill/>
                    </a:lnR>
                    <a:lnT>
                      <a:noFill/>
                    </a:lnT>
                    <a:lnB>
                      <a:noFill/>
                    </a:lnB>
                    <a:solidFill>
                      <a:srgbClr val="F0EFF2"/>
                    </a:solidFill>
                  </a:tcPr>
                </a:tc>
                <a:tc>
                  <a:txBody>
                    <a:bodyPr/>
                    <a:p>
                      <a:pPr algn="ctr">
                        <a:buNone/>
                      </a:pPr>
                      <a:r>
                        <a:rPr lang="zh-CN" altLang="en-US" sz="1100">
                          <a:solidFill>
                            <a:srgbClr val="584E61"/>
                          </a:solidFill>
                        </a:rPr>
                        <a:t>inline</a:t>
                      </a:r>
                      <a:endParaRPr lang="zh-CN" altLang="en-US" sz="1100">
                        <a:solidFill>
                          <a:srgbClr val="584E61"/>
                        </a:solidFill>
                      </a:endParaRPr>
                    </a:p>
                  </a:txBody>
                  <a:tcPr anchor="ctr" anchorCtr="0">
                    <a:lnL>
                      <a:noFill/>
                    </a:lnL>
                    <a:lnR>
                      <a:noFill/>
                    </a:lnR>
                    <a:lnT>
                      <a:noFill/>
                    </a:lnT>
                    <a:lnB>
                      <a:noFill/>
                    </a:lnB>
                    <a:solidFill>
                      <a:srgbClr val="F0EFF2"/>
                    </a:solidFill>
                  </a:tcPr>
                </a:tc>
                <a:tc>
                  <a:txBody>
                    <a:bodyPr/>
                    <a:p>
                      <a:pPr algn="l">
                        <a:buNone/>
                      </a:pPr>
                      <a:r>
                        <a:rPr lang="zh-CN" altLang="en-US" sz="1100">
                          <a:solidFill>
                            <a:srgbClr val="584E61"/>
                          </a:solidFill>
                        </a:rPr>
                        <a:t>内联函数。</a:t>
                      </a:r>
                      <a:endParaRPr lang="zh-CN" altLang="en-US" sz="1100">
                        <a:solidFill>
                          <a:srgbClr val="584E61"/>
                        </a:solidFill>
                      </a:endParaRPr>
                    </a:p>
                    <a:p>
                      <a:pPr algn="l">
                        <a:buNone/>
                      </a:pPr>
                      <a:r>
                        <a:rPr lang="zh-CN" altLang="en-US" sz="1100">
                          <a:solidFill>
                            <a:srgbClr val="584E61"/>
                          </a:solidFill>
                        </a:rPr>
                        <a:t>从 C++ 中引入的概念，就是将小函数直接嵌入到代码中。</a:t>
                      </a:r>
                      <a:endParaRPr lang="zh-CN" altLang="en-US" sz="1100">
                        <a:solidFill>
                          <a:srgbClr val="584E61"/>
                        </a:solidFill>
                      </a:endParaRPr>
                    </a:p>
                    <a:p>
                      <a:pPr algn="l">
                        <a:buNone/>
                      </a:pPr>
                      <a:r>
                        <a:rPr lang="zh-CN" altLang="en-US" sz="1100">
                          <a:solidFill>
                            <a:srgbClr val="584E61"/>
                          </a:solidFill>
                        </a:rPr>
                        <a:t>C的代码损耗在于函数的进出栈，要是可以，推荐用内联函数替代宏，宏能不用就不用。</a:t>
                      </a:r>
                      <a:endParaRPr lang="zh-CN" altLang="en-US" sz="1100">
                        <a:solidFill>
                          <a:srgbClr val="584E61"/>
                        </a:solidFill>
                      </a:endParaRPr>
                    </a:p>
                  </a:txBody>
                  <a:tcPr anchor="ctr" anchorCtr="0">
                    <a:lnL>
                      <a:noFill/>
                    </a:lnL>
                    <a:lnR>
                      <a:noFill/>
                    </a:lnR>
                    <a:lnT>
                      <a:noFill/>
                    </a:lnT>
                    <a:lnB>
                      <a:noFill/>
                    </a:lnB>
                    <a:solidFill>
                      <a:srgbClr val="F0EFF2"/>
                    </a:solidFill>
                  </a:tcPr>
                </a:tc>
              </a:tr>
              <a:tr h="324000">
                <a:tc>
                  <a:txBody>
                    <a:bodyPr/>
                    <a:p>
                      <a:pPr algn="ctr">
                        <a:buNone/>
                      </a:pPr>
                      <a:r>
                        <a:rPr lang="en-US" altLang="zh-CN" sz="1100">
                          <a:solidFill>
                            <a:srgbClr val="584E61"/>
                          </a:solidFill>
                        </a:rPr>
                        <a:t>5</a:t>
                      </a:r>
                      <a:endParaRPr lang="en-US" altLang="zh-CN" sz="1100">
                        <a:solidFill>
                          <a:srgbClr val="584E61"/>
                        </a:solidFill>
                      </a:endParaRPr>
                    </a:p>
                  </a:txBody>
                  <a:tcPr anchor="ctr" anchorCtr="0">
                    <a:lnL>
                      <a:noFill/>
                    </a:lnL>
                    <a:lnR>
                      <a:noFill/>
                    </a:lnR>
                    <a:lnT>
                      <a:noFill/>
                    </a:lnT>
                    <a:lnB w="19050">
                      <a:solidFill>
                        <a:srgbClr val="584E61"/>
                      </a:solidFill>
                      <a:prstDash val="solid"/>
                    </a:lnB>
                    <a:solidFill>
                      <a:srgbClr val="FFFFFF"/>
                    </a:solidFill>
                  </a:tcPr>
                </a:tc>
                <a:tc>
                  <a:txBody>
                    <a:bodyPr/>
                    <a:p>
                      <a:pPr algn="ctr">
                        <a:buNone/>
                      </a:pPr>
                      <a:r>
                        <a:rPr lang="zh-CN" altLang="en-US" sz="1100">
                          <a:solidFill>
                            <a:srgbClr val="584E61"/>
                          </a:solidFill>
                        </a:rPr>
                        <a:t>restrict</a:t>
                      </a:r>
                      <a:endParaRPr lang="zh-CN" altLang="en-US" sz="1100">
                        <a:solidFill>
                          <a:srgbClr val="584E61"/>
                        </a:solidFill>
                      </a:endParaRPr>
                    </a:p>
                  </a:txBody>
                  <a:tcPr anchor="ctr" anchorCtr="0">
                    <a:lnL>
                      <a:noFill/>
                    </a:lnL>
                    <a:lnR>
                      <a:noFill/>
                    </a:lnR>
                    <a:lnT>
                      <a:noFill/>
                    </a:lnT>
                    <a:lnB w="19050">
                      <a:solidFill>
                        <a:srgbClr val="584E61"/>
                      </a:solidFill>
                      <a:prstDash val="solid"/>
                    </a:lnB>
                    <a:solidFill>
                      <a:srgbClr val="FFFFFF"/>
                    </a:solidFill>
                  </a:tcPr>
                </a:tc>
                <a:tc>
                  <a:txBody>
                    <a:bodyPr/>
                    <a:p>
                      <a:pPr algn="l">
                        <a:buNone/>
                      </a:pPr>
                      <a:r>
                        <a:rPr lang="zh-CN" altLang="en-US" sz="1100">
                          <a:solidFill>
                            <a:srgbClr val="584E61"/>
                          </a:solidFill>
                        </a:rPr>
                        <a:t>只用于限定指针</a:t>
                      </a:r>
                      <a:endParaRPr lang="zh-CN" altLang="en-US" sz="1100">
                        <a:solidFill>
                          <a:srgbClr val="584E61"/>
                        </a:solidFill>
                      </a:endParaRPr>
                    </a:p>
                    <a:p>
                      <a:pPr algn="l">
                        <a:buNone/>
                      </a:pPr>
                      <a:r>
                        <a:rPr lang="zh-CN" altLang="en-US" sz="1100">
                          <a:solidFill>
                            <a:srgbClr val="584E61"/>
                          </a:solidFill>
                        </a:rPr>
                        <a:t>用于 编译器优化，告知编译器，所有修改该指针所指向内容 的 操作 全部都是基于该指针的，即不存在其它进行修改操作的途径</a:t>
                      </a:r>
                      <a:endParaRPr lang="zh-CN" altLang="en-US" sz="1100">
                        <a:solidFill>
                          <a:srgbClr val="584E61"/>
                        </a:solidFill>
                      </a:endParaRPr>
                    </a:p>
                    <a:p>
                      <a:pPr algn="l">
                        <a:buNone/>
                      </a:pPr>
                      <a:r>
                        <a:rPr lang="zh-CN" altLang="en-US" sz="1100">
                          <a:solidFill>
                            <a:srgbClr val="584E61"/>
                          </a:solidFill>
                        </a:rPr>
                        <a:t>这样是帮助编译器进行更好的代码优化 ，生成更有效率的汇编代码</a:t>
                      </a:r>
                      <a:endParaRPr lang="zh-CN" altLang="en-US" sz="1100">
                        <a:solidFill>
                          <a:srgbClr val="584E61"/>
                        </a:solidFill>
                      </a:endParaRPr>
                    </a:p>
                  </a:txBody>
                  <a:tcPr anchor="ctr" anchorCtr="0">
                    <a:lnL>
                      <a:noFill/>
                    </a:lnL>
                    <a:lnR>
                      <a:noFill/>
                    </a:lnR>
                    <a:lnT>
                      <a:noFill/>
                    </a:lnT>
                    <a:lnB w="19050">
                      <a:solidFill>
                        <a:srgbClr val="584E61"/>
                      </a:solidFill>
                      <a:prstDash val="solid"/>
                    </a:lnB>
                    <a:solidFill>
                      <a:srgbClr val="FFFFFF"/>
                    </a:solidFill>
                  </a:tcPr>
                </a:tc>
              </a:tr>
            </a:tbl>
          </a:graphicData>
        </a:graphic>
      </p:graphicFrame>
      <p:sp>
        <p:nvSpPr>
          <p:cNvPr id="3" name="灯片编号占位符 2"/>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bwMode="auto">
          <a:xfrm>
            <a:off x="1485900" y="800100"/>
            <a:ext cx="6172200" cy="4229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Tx/>
              <a:buChar char="•"/>
              <a:defRPr/>
            </a:pPr>
            <a:r>
              <a:rPr kumimoji="0" lang="en-US" altLang="zh-CN" b="1" i="0" u="none" strike="noStrike" kern="0" cap="none" spc="0" normalizeH="0" baseline="0" noProof="0" dirty="0" smtClean="0">
                <a:ln>
                  <a:noFill/>
                </a:ln>
                <a:solidFill>
                  <a:srgbClr val="009ED6"/>
                </a:solidFill>
                <a:effectLst/>
                <a:uLnTx/>
                <a:uFillTx/>
                <a:latin typeface="+mn-lt"/>
                <a:ea typeface="+mn-ea"/>
                <a:cs typeface="+mn-cs"/>
              </a:rPr>
              <a:t>2.2.2  </a:t>
            </a:r>
            <a:r>
              <a:rPr kumimoji="0" lang="zh-CN" altLang="en-US" b="1" i="0" u="none" strike="noStrike" kern="0" cap="none" spc="0" normalizeH="0" baseline="0" noProof="0" dirty="0" smtClean="0">
                <a:ln>
                  <a:noFill/>
                </a:ln>
                <a:solidFill>
                  <a:srgbClr val="009ED6"/>
                </a:solidFill>
                <a:effectLst/>
                <a:uLnTx/>
                <a:uFillTx/>
                <a:latin typeface="+mn-lt"/>
                <a:ea typeface="+mn-ea"/>
                <a:cs typeface="+mn-cs"/>
              </a:rPr>
              <a:t>标识符</a:t>
            </a:r>
            <a:endParaRPr kumimoji="0" lang="en-US" altLang="zh-CN" b="1" i="0" u="none" strike="noStrike" kern="0" cap="none" spc="0" normalizeH="0" baseline="0" noProof="0" dirty="0" smtClean="0">
              <a:ln>
                <a:noFill/>
              </a:ln>
              <a:solidFill>
                <a:srgbClr val="009ED6"/>
              </a:solidFill>
              <a:effectLst/>
              <a:uLnTx/>
              <a:uFillTx/>
              <a:latin typeface="+mn-lt"/>
              <a:ea typeface="+mn-ea"/>
              <a:cs typeface="+mn-cs"/>
            </a:endParaRPr>
          </a:p>
          <a:p>
            <a:pPr marL="457200" marR="0" lvl="1"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rPr>
              <a:t>       </a:t>
            </a:r>
            <a:r>
              <a:rPr kumimoji="0" lang="zh-CN" altLang="zh-CN" b="0" i="0" u="none" strike="noStrike" kern="0" cap="none" spc="0" normalizeH="0" baseline="0" noProof="0" dirty="0" smtClean="0">
                <a:ln>
                  <a:noFill/>
                </a:ln>
                <a:solidFill>
                  <a:schemeClr val="tx1"/>
                </a:solidFill>
                <a:effectLst/>
                <a:uLnTx/>
                <a:uFillTx/>
                <a:latin typeface="+mn-lt"/>
                <a:ea typeface="+mn-ea"/>
              </a:rPr>
              <a:t>在编程中</a:t>
            </a:r>
            <a:r>
              <a:rPr kumimoji="0" lang="zh-CN" altLang="zh-CN" b="0" i="0" u="none" strike="noStrike" kern="0" cap="none" spc="0" normalizeH="0" baseline="0" noProof="0" dirty="0">
                <a:ln>
                  <a:noFill/>
                </a:ln>
                <a:solidFill>
                  <a:schemeClr val="tx1"/>
                </a:solidFill>
                <a:effectLst/>
                <a:uLnTx/>
                <a:uFillTx/>
                <a:latin typeface="+mn-lt"/>
                <a:ea typeface="+mn-ea"/>
              </a:rPr>
              <a:t>，</a:t>
            </a:r>
            <a:r>
              <a:rPr kumimoji="0" lang="zh-CN" altLang="zh-CN" b="0" i="0" u="none" strike="noStrike" kern="0" cap="none" spc="0" normalizeH="0" baseline="0" noProof="0" dirty="0" smtClean="0">
                <a:ln>
                  <a:noFill/>
                </a:ln>
                <a:solidFill>
                  <a:schemeClr val="tx1"/>
                </a:solidFill>
                <a:effectLst/>
                <a:uLnTx/>
                <a:uFillTx/>
                <a:latin typeface="+mn-lt"/>
                <a:ea typeface="+mn-ea"/>
              </a:rPr>
              <a:t>经常要</a:t>
            </a:r>
            <a:r>
              <a:rPr kumimoji="0" lang="zh-CN" altLang="zh-CN" b="0" i="0" u="none" strike="noStrike" kern="0" cap="none" spc="0" normalizeH="0" baseline="0" noProof="0" dirty="0">
                <a:ln>
                  <a:noFill/>
                </a:ln>
                <a:solidFill>
                  <a:schemeClr val="tx1"/>
                </a:solidFill>
                <a:effectLst/>
                <a:uLnTx/>
                <a:uFillTx/>
                <a:latin typeface="+mn-lt"/>
                <a:ea typeface="+mn-ea"/>
              </a:rPr>
              <a:t>定义一些符号来标记一些名称，如变量名、方法</a:t>
            </a:r>
            <a:r>
              <a:rPr kumimoji="0" lang="zh-CN" altLang="zh-CN" b="0" i="0" u="none" strike="noStrike" kern="0" cap="none" spc="0" normalizeH="0" baseline="0" noProof="0" dirty="0" smtClean="0">
                <a:ln>
                  <a:noFill/>
                </a:ln>
                <a:solidFill>
                  <a:schemeClr val="tx1"/>
                </a:solidFill>
                <a:effectLst/>
                <a:uLnTx/>
                <a:uFillTx/>
                <a:latin typeface="+mn-lt"/>
                <a:ea typeface="+mn-ea"/>
              </a:rPr>
              <a:t>名，</a:t>
            </a:r>
            <a:r>
              <a:rPr kumimoji="0" lang="zh-CN" altLang="zh-CN" b="0" i="0" u="none" strike="noStrike" kern="0" cap="none" spc="0" normalizeH="0" baseline="0" noProof="0" dirty="0">
                <a:ln>
                  <a:noFill/>
                </a:ln>
                <a:solidFill>
                  <a:schemeClr val="tx1"/>
                </a:solidFill>
                <a:effectLst/>
                <a:uLnTx/>
                <a:uFillTx/>
                <a:latin typeface="+mn-lt"/>
                <a:ea typeface="+mn-ea"/>
              </a:rPr>
              <a:t>这些符号被称为标识符</a:t>
            </a:r>
            <a:r>
              <a:rPr kumimoji="0" lang="zh-CN" altLang="zh-CN" b="0" i="0" u="none" strike="noStrike" kern="0" cap="none" spc="0" normalizeH="0" baseline="0" noProof="0" dirty="0" smtClean="0">
                <a:ln>
                  <a:noFill/>
                </a:ln>
                <a:solidFill>
                  <a:schemeClr val="tx1"/>
                </a:solidFill>
                <a:effectLst/>
                <a:uLnTx/>
                <a:uFillTx/>
                <a:latin typeface="+mn-lt"/>
                <a:ea typeface="+mn-ea"/>
              </a:rPr>
              <a:t>。标识符</a:t>
            </a:r>
            <a:r>
              <a:rPr kumimoji="0" lang="zh-CN" altLang="zh-CN" b="0" i="0" u="none" strike="noStrike" kern="0" cap="none" spc="0" normalizeH="0" baseline="0" noProof="0" dirty="0">
                <a:ln>
                  <a:noFill/>
                </a:ln>
                <a:solidFill>
                  <a:schemeClr val="tx1"/>
                </a:solidFill>
                <a:effectLst/>
                <a:uLnTx/>
                <a:uFillTx/>
                <a:latin typeface="+mn-lt"/>
                <a:ea typeface="+mn-ea"/>
              </a:rPr>
              <a:t>的</a:t>
            </a:r>
            <a:r>
              <a:rPr kumimoji="0" lang="zh-CN" altLang="zh-CN" b="0" i="0" u="none" strike="noStrike" kern="0" cap="none" spc="0" normalizeH="0" baseline="0" noProof="0" dirty="0" smtClean="0">
                <a:ln>
                  <a:noFill/>
                </a:ln>
                <a:solidFill>
                  <a:schemeClr val="tx1"/>
                </a:solidFill>
                <a:effectLst/>
                <a:uLnTx/>
                <a:uFillTx/>
                <a:latin typeface="+mn-lt"/>
                <a:ea typeface="+mn-ea"/>
              </a:rPr>
              <a:t>命名要</a:t>
            </a:r>
            <a:r>
              <a:rPr kumimoji="0" lang="zh-CN" altLang="zh-CN" b="0" i="0" u="none" strike="noStrike" kern="0" cap="none" spc="0" normalizeH="0" baseline="0" noProof="0" dirty="0">
                <a:ln>
                  <a:noFill/>
                </a:ln>
                <a:solidFill>
                  <a:schemeClr val="tx1"/>
                </a:solidFill>
                <a:effectLst/>
                <a:uLnTx/>
                <a:uFillTx/>
                <a:latin typeface="+mn-lt"/>
                <a:ea typeface="+mn-ea"/>
              </a:rPr>
              <a:t>遵循一些</a:t>
            </a:r>
            <a:r>
              <a:rPr kumimoji="0" lang="zh-CN" altLang="zh-CN" b="0" i="0" u="none" strike="noStrike" kern="0" cap="none" spc="0" normalizeH="0" baseline="0" noProof="0" dirty="0" smtClean="0">
                <a:ln>
                  <a:noFill/>
                </a:ln>
                <a:solidFill>
                  <a:schemeClr val="tx1"/>
                </a:solidFill>
                <a:effectLst/>
                <a:uLnTx/>
                <a:uFillTx/>
                <a:latin typeface="+mn-lt"/>
                <a:ea typeface="+mn-ea"/>
              </a:rPr>
              <a:t>规范</a:t>
            </a:r>
            <a:r>
              <a:rPr kumimoji="0" lang="zh-CN" altLang="en-US" b="0" i="0" u="none" strike="noStrike" kern="0" cap="none" spc="0" normalizeH="0" baseline="0" noProof="0" dirty="0" smtClean="0">
                <a:ln>
                  <a:noFill/>
                </a:ln>
                <a:solidFill>
                  <a:schemeClr val="tx1"/>
                </a:solidFill>
                <a:effectLst/>
                <a:uLnTx/>
                <a:uFillTx/>
                <a:latin typeface="+mn-lt"/>
                <a:ea typeface="+mn-ea"/>
              </a:rPr>
              <a:t>：</a:t>
            </a: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742950" marR="0" lvl="1" indent="-285750" algn="l" defTabSz="914400" rtl="0" eaLnBrk="0" fontAlgn="base" latinLnBrk="0" hangingPunct="0">
              <a:lnSpc>
                <a:spcPct val="150000"/>
              </a:lnSpc>
              <a:spcBef>
                <a:spcPct val="20000"/>
              </a:spcBef>
              <a:spcAft>
                <a:spcPct val="0"/>
              </a:spcAft>
              <a:buClrTx/>
              <a:buSzTx/>
              <a:buFontTx/>
              <a:buChar char="–"/>
              <a:defRPr/>
            </a:pPr>
            <a:r>
              <a:rPr kumimoji="0" lang="zh-CN" altLang="zh-CN" b="0" i="0" u="none" strike="noStrike" kern="0" cap="none" spc="0" normalizeH="0" baseline="0" noProof="0" dirty="0" smtClean="0">
                <a:ln>
                  <a:noFill/>
                </a:ln>
                <a:solidFill>
                  <a:schemeClr val="tx1"/>
                </a:solidFill>
                <a:effectLst/>
                <a:uLnTx/>
                <a:uFillTx/>
                <a:latin typeface="+mn-lt"/>
                <a:ea typeface="+mn-ea"/>
              </a:rPr>
              <a:t>标识符只能由字母、数字和下划线组成</a:t>
            </a:r>
            <a:r>
              <a:rPr kumimoji="0" lang="zh-CN" altLang="en-US" b="0" i="0" u="none" strike="noStrike" kern="0" cap="none" spc="0" normalizeH="0" baseline="0" noProof="0" dirty="0" smtClean="0">
                <a:ln>
                  <a:noFill/>
                </a:ln>
                <a:solidFill>
                  <a:schemeClr val="tx1"/>
                </a:solidFill>
                <a:effectLst/>
                <a:uLnTx/>
                <a:uFillTx/>
                <a:latin typeface="+mn-lt"/>
                <a:ea typeface="+mn-ea"/>
              </a:rPr>
              <a:t>；</a:t>
            </a: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742950" marR="0" lvl="1" indent="-285750" algn="l" defTabSz="914400" rtl="0" eaLnBrk="0" fontAlgn="base" latinLnBrk="0" hangingPunct="0">
              <a:lnSpc>
                <a:spcPct val="150000"/>
              </a:lnSpc>
              <a:spcBef>
                <a:spcPct val="20000"/>
              </a:spcBef>
              <a:spcAft>
                <a:spcPct val="0"/>
              </a:spcAft>
              <a:buClrTx/>
              <a:buSzTx/>
              <a:buFontTx/>
              <a:buChar char="–"/>
              <a:defRPr/>
            </a:pPr>
            <a:r>
              <a:rPr kumimoji="0" lang="zh-CN" altLang="zh-CN" b="0" i="0" u="none" strike="noStrike" kern="0" cap="none" spc="0" normalizeH="0" baseline="0" noProof="0" dirty="0" smtClean="0">
                <a:ln>
                  <a:noFill/>
                </a:ln>
                <a:solidFill>
                  <a:schemeClr val="tx1"/>
                </a:solidFill>
                <a:effectLst/>
                <a:uLnTx/>
                <a:uFillTx/>
                <a:latin typeface="+mn-lt"/>
                <a:ea typeface="+mn-ea"/>
              </a:rPr>
              <a:t>标识符</a:t>
            </a:r>
            <a:r>
              <a:rPr kumimoji="0" lang="zh-CN" altLang="zh-CN" b="0" i="0" u="none" strike="noStrike" kern="0" cap="none" spc="0" normalizeH="0" baseline="0" noProof="0" dirty="0">
                <a:ln>
                  <a:noFill/>
                </a:ln>
                <a:solidFill>
                  <a:schemeClr val="tx1"/>
                </a:solidFill>
                <a:effectLst/>
                <a:uLnTx/>
                <a:uFillTx/>
                <a:latin typeface="+mn-lt"/>
                <a:ea typeface="+mn-ea"/>
              </a:rPr>
              <a:t>不能以数字作为第一个</a:t>
            </a:r>
            <a:r>
              <a:rPr kumimoji="0" lang="zh-CN" altLang="zh-CN" b="0" i="0" u="none" strike="noStrike" kern="0" cap="none" spc="0" normalizeH="0" baseline="0" noProof="0" dirty="0" smtClean="0">
                <a:ln>
                  <a:noFill/>
                </a:ln>
                <a:solidFill>
                  <a:schemeClr val="tx1"/>
                </a:solidFill>
                <a:effectLst/>
                <a:uLnTx/>
                <a:uFillTx/>
                <a:latin typeface="+mn-lt"/>
                <a:ea typeface="+mn-ea"/>
              </a:rPr>
              <a:t>字符</a:t>
            </a:r>
            <a:r>
              <a:rPr kumimoji="0" lang="zh-CN" altLang="en-US" b="0" i="0" u="none" strike="noStrike" kern="0" cap="none" spc="0" normalizeH="0" baseline="0" noProof="0" dirty="0" smtClean="0">
                <a:ln>
                  <a:noFill/>
                </a:ln>
                <a:solidFill>
                  <a:schemeClr val="tx1"/>
                </a:solidFill>
                <a:effectLst/>
                <a:uLnTx/>
                <a:uFillTx/>
                <a:latin typeface="+mn-lt"/>
                <a:ea typeface="+mn-ea"/>
              </a:rPr>
              <a:t>；</a:t>
            </a: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742950" marR="0" lvl="1" indent="-285750" algn="l" defTabSz="914400" rtl="0" eaLnBrk="0" fontAlgn="base" latinLnBrk="0" hangingPunct="0">
              <a:lnSpc>
                <a:spcPct val="150000"/>
              </a:lnSpc>
              <a:spcBef>
                <a:spcPct val="20000"/>
              </a:spcBef>
              <a:spcAft>
                <a:spcPct val="0"/>
              </a:spcAft>
              <a:buClrTx/>
              <a:buSzTx/>
              <a:buFontTx/>
              <a:buChar char="–"/>
              <a:defRPr/>
            </a:pPr>
            <a:r>
              <a:rPr kumimoji="0" lang="zh-CN" altLang="zh-CN" b="0" i="0" u="none" strike="noStrike" kern="0" cap="none" spc="0" normalizeH="0" baseline="0" noProof="0" dirty="0">
                <a:ln>
                  <a:noFill/>
                </a:ln>
                <a:solidFill>
                  <a:schemeClr val="tx1"/>
                </a:solidFill>
                <a:effectLst/>
                <a:uLnTx/>
                <a:uFillTx/>
                <a:latin typeface="+mn-lt"/>
                <a:ea typeface="+mn-ea"/>
              </a:rPr>
              <a:t>标识符不能使用</a:t>
            </a:r>
            <a:r>
              <a:rPr kumimoji="0" lang="zh-CN" altLang="zh-CN" b="0" i="0" u="none" strike="noStrike" kern="0" cap="none" spc="0" normalizeH="0" baseline="0" noProof="0" dirty="0" smtClean="0">
                <a:ln>
                  <a:noFill/>
                </a:ln>
                <a:solidFill>
                  <a:schemeClr val="tx1"/>
                </a:solidFill>
                <a:effectLst/>
                <a:uLnTx/>
                <a:uFillTx/>
                <a:latin typeface="+mn-lt"/>
                <a:ea typeface="+mn-ea"/>
              </a:rPr>
              <a:t>关键字</a:t>
            </a:r>
            <a:r>
              <a:rPr kumimoji="0" lang="zh-CN" altLang="en-US" b="0" i="0" u="none" strike="noStrike" kern="0" cap="none" spc="0" normalizeH="0" baseline="0" noProof="0" dirty="0" smtClean="0">
                <a:ln>
                  <a:noFill/>
                </a:ln>
                <a:solidFill>
                  <a:schemeClr val="tx1"/>
                </a:solidFill>
                <a:effectLst/>
                <a:uLnTx/>
                <a:uFillTx/>
                <a:latin typeface="+mn-lt"/>
                <a:ea typeface="+mn-ea"/>
              </a:rPr>
              <a:t>；</a:t>
            </a:r>
            <a:endParaRPr kumimoji="0" lang="en-US" altLang="zh-CN" b="0"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50000"/>
              </a:lnSpc>
              <a:spcBef>
                <a:spcPct val="20000"/>
              </a:spcBef>
              <a:spcAft>
                <a:spcPct val="0"/>
              </a:spcAft>
              <a:buClrTx/>
              <a:buSzTx/>
              <a:buFontTx/>
              <a:buChar char="–"/>
              <a:defRPr/>
            </a:pPr>
            <a:r>
              <a:rPr kumimoji="0" lang="zh-CN" altLang="zh-CN" b="0" i="0" u="none" strike="noStrike" kern="0" cap="none" spc="0" normalizeH="0" baseline="0" noProof="0" dirty="0">
                <a:ln>
                  <a:noFill/>
                </a:ln>
                <a:solidFill>
                  <a:schemeClr val="tx1"/>
                </a:solidFill>
                <a:effectLst/>
                <a:uLnTx/>
                <a:uFillTx/>
                <a:latin typeface="+mn-lt"/>
                <a:ea typeface="+mn-ea"/>
              </a:rPr>
              <a:t>标识符区分大小写字母，如</a:t>
            </a:r>
            <a:r>
              <a:rPr kumimoji="0" lang="en-US" altLang="zh-CN" b="0" i="0" u="none" strike="noStrike" kern="0" cap="none" spc="0" normalizeH="0" baseline="0" noProof="0" dirty="0">
                <a:ln>
                  <a:noFill/>
                </a:ln>
                <a:solidFill>
                  <a:schemeClr val="tx1"/>
                </a:solidFill>
                <a:effectLst/>
                <a:uLnTx/>
                <a:uFillTx/>
                <a:latin typeface="+mn-lt"/>
                <a:ea typeface="+mn-ea"/>
              </a:rPr>
              <a:t>add</a:t>
            </a:r>
            <a:r>
              <a:rPr kumimoji="0" lang="zh-CN" altLang="zh-CN" b="0" i="0" u="none" strike="noStrike" kern="0" cap="none" spc="0" normalizeH="0" baseline="0" noProof="0" dirty="0">
                <a:ln>
                  <a:noFill/>
                </a:ln>
                <a:solidFill>
                  <a:schemeClr val="tx1"/>
                </a:solidFill>
                <a:effectLst/>
                <a:uLnTx/>
                <a:uFillTx/>
                <a:latin typeface="+mn-lt"/>
                <a:ea typeface="+mn-ea"/>
              </a:rPr>
              <a:t>、</a:t>
            </a:r>
            <a:r>
              <a:rPr kumimoji="0" lang="en-US" altLang="zh-CN" b="0" i="0" u="none" strike="noStrike" kern="0" cap="none" spc="0" normalizeH="0" baseline="0" noProof="0" dirty="0">
                <a:ln>
                  <a:noFill/>
                </a:ln>
                <a:solidFill>
                  <a:schemeClr val="tx1"/>
                </a:solidFill>
                <a:effectLst/>
                <a:uLnTx/>
                <a:uFillTx/>
                <a:latin typeface="+mn-lt"/>
                <a:ea typeface="+mn-ea"/>
              </a:rPr>
              <a:t>Add</a:t>
            </a:r>
            <a:r>
              <a:rPr kumimoji="0" lang="zh-CN" altLang="zh-CN" b="0" i="0" u="none" strike="noStrike" kern="0" cap="none" spc="0" normalizeH="0" baseline="0" noProof="0" dirty="0">
                <a:ln>
                  <a:noFill/>
                </a:ln>
                <a:solidFill>
                  <a:schemeClr val="tx1"/>
                </a:solidFill>
                <a:effectLst/>
                <a:uLnTx/>
                <a:uFillTx/>
                <a:latin typeface="+mn-lt"/>
                <a:ea typeface="+mn-ea"/>
              </a:rPr>
              <a:t>和</a:t>
            </a:r>
            <a:r>
              <a:rPr kumimoji="0" lang="en-US" altLang="zh-CN" b="0" i="0" u="none" strike="noStrike" kern="0" cap="none" spc="0" normalizeH="0" baseline="0" noProof="0" dirty="0">
                <a:ln>
                  <a:noFill/>
                </a:ln>
                <a:solidFill>
                  <a:schemeClr val="tx1"/>
                </a:solidFill>
                <a:effectLst/>
                <a:uLnTx/>
                <a:uFillTx/>
                <a:latin typeface="+mn-lt"/>
                <a:ea typeface="+mn-ea"/>
              </a:rPr>
              <a:t>ADD</a:t>
            </a:r>
            <a:r>
              <a:rPr kumimoji="0" lang="zh-CN" altLang="zh-CN" b="0" i="0" u="none" strike="noStrike" kern="0" cap="none" spc="0" normalizeH="0" baseline="0" noProof="0" dirty="0">
                <a:ln>
                  <a:noFill/>
                </a:ln>
                <a:solidFill>
                  <a:schemeClr val="tx1"/>
                </a:solidFill>
                <a:effectLst/>
                <a:uLnTx/>
                <a:uFillTx/>
                <a:latin typeface="+mn-lt"/>
                <a:ea typeface="+mn-ea"/>
              </a:rPr>
              <a:t>是不同的</a:t>
            </a:r>
            <a:r>
              <a:rPr kumimoji="0" lang="zh-CN" altLang="zh-CN" b="0" i="0" u="none" strike="noStrike" kern="0" cap="none" spc="0" normalizeH="0" baseline="0" noProof="0" dirty="0" smtClean="0">
                <a:ln>
                  <a:noFill/>
                </a:ln>
                <a:solidFill>
                  <a:schemeClr val="tx1"/>
                </a:solidFill>
                <a:effectLst/>
                <a:uLnTx/>
                <a:uFillTx/>
                <a:latin typeface="+mn-lt"/>
                <a:ea typeface="+mn-ea"/>
              </a:rPr>
              <a:t>标识符</a:t>
            </a:r>
            <a:r>
              <a:rPr kumimoji="0" lang="zh-CN" altLang="en-US" b="0" i="0" u="none" strike="noStrike" kern="0" cap="none" spc="0" normalizeH="0" baseline="0" noProof="0" dirty="0" smtClean="0">
                <a:ln>
                  <a:noFill/>
                </a:ln>
                <a:solidFill>
                  <a:schemeClr val="tx1"/>
                </a:solidFill>
                <a:effectLst/>
                <a:uLnTx/>
                <a:uFillTx/>
                <a:latin typeface="+mn-lt"/>
                <a:ea typeface="+mn-ea"/>
              </a:rPr>
              <a:t>；</a:t>
            </a: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742950" marR="0" lvl="1" indent="-285750" algn="l" defTabSz="914400" rtl="0" eaLnBrk="0" fontAlgn="base" latinLnBrk="0" hangingPunct="0">
              <a:lnSpc>
                <a:spcPct val="150000"/>
              </a:lnSpc>
              <a:spcBef>
                <a:spcPct val="20000"/>
              </a:spcBef>
              <a:spcAft>
                <a:spcPct val="0"/>
              </a:spcAft>
              <a:buClrTx/>
              <a:buSzTx/>
              <a:buFontTx/>
              <a:buChar char="–"/>
              <a:defRPr/>
            </a:pPr>
            <a:r>
              <a:rPr kumimoji="0" lang="zh-CN" altLang="zh-CN" b="0" i="0" u="none" strike="noStrike" kern="0" cap="none" spc="0" normalizeH="0" baseline="0" noProof="0" dirty="0">
                <a:ln>
                  <a:noFill/>
                </a:ln>
                <a:solidFill>
                  <a:schemeClr val="tx1"/>
                </a:solidFill>
                <a:effectLst/>
                <a:uLnTx/>
                <a:uFillTx/>
                <a:latin typeface="+mn-lt"/>
                <a:ea typeface="+mn-ea"/>
              </a:rPr>
              <a:t>尽量做到“见名知意”，以增加程序的可读性，</a:t>
            </a:r>
            <a:r>
              <a:rPr kumimoji="0" lang="zh-CN" altLang="zh-CN" b="0" i="0" u="none" strike="noStrike" kern="0" cap="none" spc="0" normalizeH="0" baseline="0" noProof="0" dirty="0" smtClean="0">
                <a:ln>
                  <a:noFill/>
                </a:ln>
                <a:solidFill>
                  <a:schemeClr val="tx1"/>
                </a:solidFill>
                <a:effectLst/>
                <a:uLnTx/>
                <a:uFillTx/>
                <a:latin typeface="+mn-lt"/>
                <a:ea typeface="+mn-ea"/>
              </a:rPr>
              <a:t>如</a:t>
            </a:r>
            <a:r>
              <a:rPr kumimoji="0" lang="en-US" altLang="zh-CN" b="0" i="0" u="none" strike="noStrike" kern="0" cap="none" spc="0" normalizeH="0" baseline="0" noProof="0" dirty="0" smtClean="0">
                <a:ln>
                  <a:noFill/>
                </a:ln>
                <a:solidFill>
                  <a:schemeClr val="tx1"/>
                </a:solidFill>
                <a:effectLst/>
                <a:uLnTx/>
                <a:uFillTx/>
                <a:latin typeface="+mn-lt"/>
                <a:ea typeface="+mn-ea"/>
              </a:rPr>
              <a:t>age</a:t>
            </a:r>
            <a:r>
              <a:rPr kumimoji="0" lang="zh-CN" altLang="zh-CN" b="0" i="0" u="none" strike="noStrike" kern="0" cap="none" spc="0" normalizeH="0" baseline="0" noProof="0" dirty="0">
                <a:ln>
                  <a:noFill/>
                </a:ln>
                <a:solidFill>
                  <a:schemeClr val="tx1"/>
                </a:solidFill>
                <a:effectLst/>
                <a:uLnTx/>
                <a:uFillTx/>
                <a:latin typeface="+mn-lt"/>
                <a:ea typeface="+mn-ea"/>
              </a:rPr>
              <a:t>表示</a:t>
            </a:r>
            <a:r>
              <a:rPr kumimoji="0" lang="zh-CN" altLang="zh-CN" b="0" i="0" u="none" strike="noStrike" kern="0" cap="none" spc="0" normalizeH="0" baseline="0" noProof="0" dirty="0" smtClean="0">
                <a:ln>
                  <a:noFill/>
                </a:ln>
                <a:solidFill>
                  <a:schemeClr val="tx1"/>
                </a:solidFill>
                <a:effectLst/>
                <a:uLnTx/>
                <a:uFillTx/>
                <a:latin typeface="+mn-lt"/>
                <a:ea typeface="+mn-ea"/>
              </a:rPr>
              <a:t>年龄</a:t>
            </a:r>
            <a:r>
              <a:rPr kumimoji="0" lang="zh-CN" altLang="en-US" b="0" i="0" u="none" strike="noStrike" kern="0" cap="none" spc="0" normalizeH="0" baseline="0" noProof="0" dirty="0" smtClean="0">
                <a:ln>
                  <a:noFill/>
                </a:ln>
                <a:solidFill>
                  <a:schemeClr val="tx1"/>
                </a:solidFill>
                <a:effectLst/>
                <a:uLnTx/>
                <a:uFillTx/>
                <a:latin typeface="+mn-lt"/>
                <a:ea typeface="+mn-ea"/>
              </a:rPr>
              <a:t>，</a:t>
            </a:r>
            <a:r>
              <a:rPr kumimoji="0" lang="en-US" altLang="zh-CN" b="0" i="0" u="none" strike="noStrike" kern="0" cap="none" spc="0" normalizeH="0" baseline="0" noProof="0" dirty="0" smtClean="0">
                <a:ln>
                  <a:noFill/>
                </a:ln>
                <a:solidFill>
                  <a:schemeClr val="tx1"/>
                </a:solidFill>
                <a:effectLst/>
                <a:uLnTx/>
                <a:uFillTx/>
                <a:latin typeface="+mn-lt"/>
                <a:ea typeface="+mn-ea"/>
              </a:rPr>
              <a:t>length</a:t>
            </a:r>
            <a:r>
              <a:rPr kumimoji="0" lang="zh-CN" altLang="zh-CN" b="0" i="0" u="none" strike="noStrike" kern="0" cap="none" spc="0" normalizeH="0" baseline="0" noProof="0" dirty="0">
                <a:ln>
                  <a:noFill/>
                </a:ln>
                <a:solidFill>
                  <a:schemeClr val="tx1"/>
                </a:solidFill>
                <a:effectLst/>
                <a:uLnTx/>
                <a:uFillTx/>
                <a:latin typeface="+mn-lt"/>
                <a:ea typeface="+mn-ea"/>
              </a:rPr>
              <a:t>表示长度</a:t>
            </a:r>
            <a:r>
              <a:rPr kumimoji="0" lang="zh-CN" altLang="zh-CN" b="0" i="0" u="none" strike="noStrike" kern="0" cap="none" spc="0" normalizeH="0" baseline="0" noProof="0" dirty="0" smtClean="0">
                <a:ln>
                  <a:noFill/>
                </a:ln>
                <a:solidFill>
                  <a:schemeClr val="tx1"/>
                </a:solidFill>
                <a:effectLst/>
                <a:uLnTx/>
                <a:uFillTx/>
                <a:latin typeface="+mn-lt"/>
                <a:ea typeface="+mn-ea"/>
              </a:rPr>
              <a:t>等</a:t>
            </a:r>
            <a:r>
              <a:rPr kumimoji="0" lang="zh-CN" altLang="en-US" b="0" i="0" u="none" strike="noStrike" kern="0" cap="none" spc="0" normalizeH="0" baseline="0" noProof="0" dirty="0" smtClean="0">
                <a:ln>
                  <a:noFill/>
                </a:ln>
                <a:solidFill>
                  <a:schemeClr val="tx1"/>
                </a:solidFill>
                <a:effectLst/>
                <a:uLnTx/>
                <a:uFillTx/>
                <a:latin typeface="+mn-lt"/>
                <a:ea typeface="+mn-ea"/>
              </a:rPr>
              <a:t>；</a:t>
            </a: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742950" marR="0" lvl="1" indent="-285750" algn="l" defTabSz="914400" rtl="0" eaLnBrk="0" fontAlgn="base" latinLnBrk="0" hangingPunct="0">
              <a:lnSpc>
                <a:spcPct val="150000"/>
              </a:lnSpc>
              <a:spcBef>
                <a:spcPct val="20000"/>
              </a:spcBef>
              <a:spcAft>
                <a:spcPct val="0"/>
              </a:spcAft>
              <a:buClrTx/>
              <a:buSzTx/>
              <a:buFontTx/>
              <a:buChar char="–"/>
              <a:defRPr/>
            </a:pPr>
            <a:r>
              <a:rPr kumimoji="0" lang="zh-CN" altLang="zh-CN" b="0" i="0" u="none" strike="noStrike" kern="0" cap="none" spc="0" normalizeH="0" baseline="0" noProof="0" dirty="0">
                <a:ln>
                  <a:noFill/>
                </a:ln>
                <a:solidFill>
                  <a:schemeClr val="tx1"/>
                </a:solidFill>
                <a:effectLst/>
                <a:uLnTx/>
                <a:uFillTx/>
                <a:latin typeface="+mn-lt"/>
                <a:ea typeface="+mn-ea"/>
              </a:rPr>
              <a:t>虽然</a:t>
            </a:r>
            <a:r>
              <a:rPr kumimoji="0" lang="en-US" altLang="zh-CN" b="0" i="0" u="none" strike="noStrike" kern="0" cap="none" spc="0" normalizeH="0" baseline="0" noProof="0" dirty="0">
                <a:ln>
                  <a:noFill/>
                </a:ln>
                <a:solidFill>
                  <a:schemeClr val="tx1"/>
                </a:solidFill>
                <a:effectLst/>
                <a:uLnTx/>
                <a:uFillTx/>
                <a:latin typeface="+mn-lt"/>
                <a:ea typeface="+mn-ea"/>
              </a:rPr>
              <a:t>ANSIC</a:t>
            </a:r>
            <a:r>
              <a:rPr kumimoji="0" lang="zh-CN" altLang="zh-CN" b="0" i="0" u="none" strike="noStrike" kern="0" cap="none" spc="0" normalizeH="0" baseline="0" noProof="0" dirty="0">
                <a:ln>
                  <a:noFill/>
                </a:ln>
                <a:solidFill>
                  <a:schemeClr val="tx1"/>
                </a:solidFill>
                <a:effectLst/>
                <a:uLnTx/>
                <a:uFillTx/>
                <a:latin typeface="+mn-lt"/>
                <a:ea typeface="+mn-ea"/>
              </a:rPr>
              <a:t>中没有规定标识符的长度，但建议标识符的长度不超过</a:t>
            </a:r>
            <a:r>
              <a:rPr kumimoji="0" lang="en-US" altLang="zh-CN" b="0" i="0" u="none" strike="noStrike" kern="0" cap="none" spc="0" normalizeH="0" baseline="0" noProof="0" dirty="0">
                <a:ln>
                  <a:noFill/>
                </a:ln>
                <a:solidFill>
                  <a:schemeClr val="tx1"/>
                </a:solidFill>
                <a:effectLst/>
                <a:uLnTx/>
                <a:uFillTx/>
                <a:latin typeface="+mn-lt"/>
                <a:ea typeface="+mn-ea"/>
              </a:rPr>
              <a:t>8</a:t>
            </a:r>
            <a:r>
              <a:rPr kumimoji="0" lang="zh-CN" altLang="zh-CN" b="0" i="0" u="none" strike="noStrike" kern="0" cap="none" spc="0" normalizeH="0" baseline="0" noProof="0" dirty="0">
                <a:ln>
                  <a:noFill/>
                </a:ln>
                <a:solidFill>
                  <a:schemeClr val="tx1"/>
                </a:solidFill>
                <a:effectLst/>
                <a:uLnTx/>
                <a:uFillTx/>
                <a:latin typeface="+mn-lt"/>
                <a:ea typeface="+mn-ea"/>
              </a:rPr>
              <a:t>个字符</a:t>
            </a: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a:ln>
                  <a:noFill/>
                </a:ln>
                <a:solidFill>
                  <a:schemeClr val="tx1"/>
                </a:solidFill>
                <a:effectLst/>
                <a:uLnTx/>
                <a:uFillTx/>
                <a:latin typeface="+mn-lt"/>
                <a:ea typeface="+mn-ea"/>
              </a:rPr>
              <a:t> </a:t>
            </a:r>
            <a:r>
              <a:rPr kumimoji="0" lang="en-US" altLang="zh-CN" b="0" i="0" u="none" strike="noStrike" kern="0" cap="none" spc="0" normalizeH="0" baseline="0" noProof="0" dirty="0" smtClean="0">
                <a:ln>
                  <a:noFill/>
                </a:ln>
                <a:solidFill>
                  <a:schemeClr val="tx1"/>
                </a:solidFill>
                <a:effectLst/>
                <a:uLnTx/>
                <a:uFillTx/>
                <a:latin typeface="+mn-lt"/>
                <a:ea typeface="+mn-ea"/>
              </a:rPr>
              <a:t>      </a:t>
            </a:r>
            <a:endParaRPr kumimoji="0" lang="en-US" altLang="zh-CN" b="0"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50000"/>
              </a:lnSpc>
              <a:spcBef>
                <a:spcPct val="20000"/>
              </a:spcBef>
              <a:spcAft>
                <a:spcPct val="0"/>
              </a:spcAft>
              <a:buClrTx/>
              <a:buSzTx/>
              <a:buFontTx/>
              <a:buChar char="–"/>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742950" marR="0" lvl="1" indent="-285750" algn="l" defTabSz="914400" rtl="0" eaLnBrk="0" fontAlgn="base" latinLnBrk="0" hangingPunct="0">
              <a:lnSpc>
                <a:spcPct val="150000"/>
              </a:lnSpc>
              <a:spcBef>
                <a:spcPct val="20000"/>
              </a:spcBef>
              <a:spcAft>
                <a:spcPct val="0"/>
              </a:spcAft>
              <a:buClrTx/>
              <a:buSzTx/>
              <a:buFontTx/>
              <a:buChar char="–"/>
              <a:defRPr/>
            </a:pPr>
            <a:endParaRPr kumimoji="0" lang="zh-CN" altLang="en-US" b="0" i="0" u="none" strike="noStrike" kern="0" cap="none" spc="0" normalizeH="0" baseline="0" noProof="0" dirty="0" smtClean="0">
              <a:ln>
                <a:noFill/>
              </a:ln>
              <a:solidFill>
                <a:schemeClr val="tx1"/>
              </a:solidFill>
              <a:effectLst/>
              <a:uLnTx/>
              <a:uFillTx/>
              <a:latin typeface="+mn-lt"/>
              <a:ea typeface="+mn-ea"/>
            </a:endParaRPr>
          </a:p>
        </p:txBody>
      </p:sp>
      <p:sp>
        <p:nvSpPr>
          <p:cNvPr id="3" name="标题 1"/>
          <p:cNvSpPr>
            <a:spLocks noGrp="1"/>
          </p:cNvSpPr>
          <p:nvPr>
            <p:custDataLst>
              <p:tags r:id="rId1"/>
            </p:custDataLst>
          </p:nvPr>
        </p:nvSpPr>
        <p:spPr>
          <a:xfrm>
            <a:off x="0" y="85725"/>
            <a:ext cx="5905500"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2.2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关键字与标识符</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2" name="灯片编号占位符 1"/>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标题 1"/>
          <p:cNvSpPr>
            <a:spLocks noGrp="1"/>
          </p:cNvSpPr>
          <p:nvPr>
            <p:ph type="title"/>
          </p:nvPr>
        </p:nvSpPr>
        <p:spPr>
          <a:xfrm>
            <a:off x="-317" y="85725"/>
            <a:ext cx="5824538" cy="542925"/>
          </a:xfr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2.3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常量与变量</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9219" name="内容占位符 2"/>
          <p:cNvSpPr>
            <a:spLocks noGrp="1"/>
          </p:cNvSpPr>
          <p:nvPr>
            <p:ph idx="1"/>
          </p:nvPr>
        </p:nvSpPr>
        <p:spPr bwMode="auto">
          <a:xfrm>
            <a:off x="1485900" y="800100"/>
            <a:ext cx="6172200" cy="412789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Tx/>
              <a:buChar char="•"/>
              <a:defRPr/>
            </a:pPr>
            <a:r>
              <a:rPr kumimoji="0" lang="en-US" altLang="zh-CN" b="1" i="0" u="none" strike="noStrike" kern="0" cap="none" spc="0" normalizeH="0" baseline="0" noProof="0" dirty="0" smtClean="0">
                <a:ln>
                  <a:noFill/>
                </a:ln>
                <a:solidFill>
                  <a:srgbClr val="009ED6"/>
                </a:solidFill>
                <a:effectLst/>
                <a:uLnTx/>
                <a:uFillTx/>
                <a:latin typeface="+mn-lt"/>
                <a:ea typeface="+mn-ea"/>
                <a:cs typeface="+mn-cs"/>
              </a:rPr>
              <a:t>2.3.1  </a:t>
            </a:r>
            <a:r>
              <a:rPr kumimoji="0" lang="zh-CN" altLang="en-US" b="1" i="0" u="none" strike="noStrike" kern="0" cap="none" spc="0" normalizeH="0" baseline="0" noProof="0" dirty="0">
                <a:ln>
                  <a:noFill/>
                </a:ln>
                <a:solidFill>
                  <a:srgbClr val="009ED6"/>
                </a:solidFill>
                <a:effectLst/>
                <a:uLnTx/>
                <a:uFillTx/>
                <a:latin typeface="+mn-lt"/>
                <a:ea typeface="+mn-ea"/>
                <a:cs typeface="+mn-cs"/>
              </a:rPr>
              <a:t>常量</a:t>
            </a:r>
            <a:endParaRPr kumimoji="0" lang="en-US" altLang="zh-CN" b="1" i="0" u="none" strike="noStrike" kern="0" cap="none" spc="0" normalizeH="0" baseline="0" noProof="0" dirty="0" smtClean="0">
              <a:ln>
                <a:noFill/>
              </a:ln>
              <a:solidFill>
                <a:srgbClr val="009ED6"/>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生活中有些事物需要用数值来表示</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，例如</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人民币、时间等。在程序中，同样也会出现一些数值，例如</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123</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1.5</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等，这些值是不可变的，通常将它们称之为常量</a:t>
            </a:r>
            <a:r>
              <a:rPr kumimoji="0" lang="zh-CN" altLang="en-US"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50000"/>
              </a:lnSpc>
              <a:spcBef>
                <a:spcPct val="20000"/>
              </a:spcBef>
              <a:spcAft>
                <a:spcPct val="0"/>
              </a:spcAft>
              <a:buClrTx/>
              <a:buSzTx/>
              <a:buFontTx/>
              <a:buChar char="–"/>
              <a:defRPr/>
            </a:pPr>
            <a:r>
              <a:rPr kumimoji="0" lang="zh-CN" altLang="en-US" b="0" i="0" u="none" strike="noStrike" kern="0" cap="none" spc="0" normalizeH="0" baseline="0" noProof="0" dirty="0" smtClean="0">
                <a:ln>
                  <a:noFill/>
                </a:ln>
                <a:solidFill>
                  <a:schemeClr val="tx1"/>
                </a:solidFill>
                <a:effectLst/>
                <a:uLnTx/>
                <a:uFillTx/>
                <a:latin typeface="+mn-lt"/>
                <a:ea typeface="+mn-ea"/>
              </a:rPr>
              <a:t>整型常量</a:t>
            </a: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rPr>
              <a:t>       </a:t>
            </a:r>
            <a:r>
              <a:rPr kumimoji="0" lang="zh-CN" altLang="zh-CN" b="0" i="0" u="none" strike="noStrike" kern="0" cap="none" spc="0" normalizeH="0" baseline="0" noProof="0" dirty="0" smtClean="0">
                <a:ln>
                  <a:noFill/>
                </a:ln>
                <a:solidFill>
                  <a:schemeClr val="tx1"/>
                </a:solidFill>
                <a:effectLst/>
                <a:uLnTx/>
                <a:uFillTx/>
                <a:latin typeface="+mn-lt"/>
                <a:ea typeface="+mn-ea"/>
              </a:rPr>
              <a:t>整型</a:t>
            </a:r>
            <a:r>
              <a:rPr kumimoji="0" lang="zh-CN" altLang="zh-CN" b="0" i="0" u="none" strike="noStrike" kern="0" cap="none" spc="0" normalizeH="0" baseline="0" noProof="0" dirty="0">
                <a:ln>
                  <a:noFill/>
                </a:ln>
                <a:solidFill>
                  <a:schemeClr val="tx1"/>
                </a:solidFill>
                <a:effectLst/>
                <a:uLnTx/>
                <a:uFillTx/>
                <a:latin typeface="+mn-lt"/>
                <a:ea typeface="+mn-ea"/>
              </a:rPr>
              <a:t>常量是整数类型的数据，又被称为整常数。整常数可用以下三种形式表示，具体</a:t>
            </a:r>
            <a:r>
              <a:rPr kumimoji="0" lang="zh-CN" altLang="zh-CN" b="0" i="0" u="none" strike="noStrike" kern="0" cap="none" spc="0" normalizeH="0" baseline="0" noProof="0" dirty="0" smtClean="0">
                <a:ln>
                  <a:noFill/>
                </a:ln>
                <a:solidFill>
                  <a:schemeClr val="tx1"/>
                </a:solidFill>
                <a:effectLst/>
                <a:uLnTx/>
                <a:uFillTx/>
                <a:latin typeface="+mn-lt"/>
                <a:ea typeface="+mn-ea"/>
              </a:rPr>
              <a:t>如下</a:t>
            </a:r>
            <a:r>
              <a:rPr kumimoji="0" lang="zh-CN" altLang="en-US" b="0" i="0" u="none" strike="noStrike" kern="0" cap="none" spc="0" normalizeH="0" baseline="0" noProof="0" dirty="0" smtClean="0">
                <a:ln>
                  <a:noFill/>
                </a:ln>
                <a:solidFill>
                  <a:schemeClr val="tx1"/>
                </a:solidFill>
                <a:effectLst/>
                <a:uLnTx/>
                <a:uFillTx/>
                <a:latin typeface="+mn-lt"/>
                <a:ea typeface="+mn-ea"/>
              </a:rPr>
              <a:t>：</a:t>
            </a: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rPr>
              <a:t>1.</a:t>
            </a:r>
            <a:r>
              <a:rPr kumimoji="0" lang="zh-CN" altLang="zh-CN" b="0" i="0" u="none" strike="noStrike" kern="0" cap="none" spc="0" normalizeH="0" baseline="0" noProof="0" dirty="0">
                <a:ln>
                  <a:noFill/>
                </a:ln>
                <a:solidFill>
                  <a:schemeClr val="tx1"/>
                </a:solidFill>
                <a:effectLst/>
                <a:uLnTx/>
                <a:uFillTx/>
                <a:latin typeface="+mn-lt"/>
                <a:ea typeface="+mn-ea"/>
              </a:rPr>
              <a:t>十进制整数，如</a:t>
            </a:r>
            <a:r>
              <a:rPr kumimoji="0" lang="en-US" altLang="zh-CN" b="0" i="0" u="none" strike="noStrike" kern="0" cap="none" spc="0" normalizeH="0" baseline="0" noProof="0" dirty="0">
                <a:ln>
                  <a:noFill/>
                </a:ln>
                <a:solidFill>
                  <a:schemeClr val="tx1"/>
                </a:solidFill>
                <a:effectLst/>
                <a:uLnTx/>
                <a:uFillTx/>
                <a:latin typeface="+mn-lt"/>
                <a:ea typeface="+mn-ea"/>
              </a:rPr>
              <a:t>123</a:t>
            </a:r>
            <a:r>
              <a:rPr kumimoji="0" lang="zh-CN" altLang="zh-CN" b="0" i="0" u="none" strike="noStrike" kern="0" cap="none" spc="0" normalizeH="0" baseline="0" noProof="0" dirty="0">
                <a:ln>
                  <a:noFill/>
                </a:ln>
                <a:solidFill>
                  <a:schemeClr val="tx1"/>
                </a:solidFill>
                <a:effectLst/>
                <a:uLnTx/>
                <a:uFillTx/>
                <a:latin typeface="+mn-lt"/>
                <a:ea typeface="+mn-ea"/>
              </a:rPr>
              <a:t>，</a:t>
            </a:r>
            <a:r>
              <a:rPr kumimoji="0" lang="en-US" altLang="zh-CN" b="0" i="0" u="none" strike="noStrike" kern="0" cap="none" spc="0" normalizeH="0" baseline="0" noProof="0" dirty="0">
                <a:ln>
                  <a:noFill/>
                </a:ln>
                <a:solidFill>
                  <a:schemeClr val="tx1"/>
                </a:solidFill>
                <a:effectLst/>
                <a:uLnTx/>
                <a:uFillTx/>
                <a:latin typeface="+mn-lt"/>
                <a:ea typeface="+mn-ea"/>
              </a:rPr>
              <a:t>-456</a:t>
            </a:r>
            <a:r>
              <a:rPr kumimoji="0" lang="zh-CN" altLang="zh-CN" b="0" i="0" u="none" strike="noStrike" kern="0" cap="none" spc="0" normalizeH="0" baseline="0" noProof="0" dirty="0">
                <a:ln>
                  <a:noFill/>
                </a:ln>
                <a:solidFill>
                  <a:schemeClr val="tx1"/>
                </a:solidFill>
                <a:effectLst/>
                <a:uLnTx/>
                <a:uFillTx/>
                <a:latin typeface="+mn-lt"/>
                <a:ea typeface="+mn-ea"/>
              </a:rPr>
              <a:t>，</a:t>
            </a:r>
            <a:r>
              <a:rPr kumimoji="0" lang="en-US" altLang="zh-CN" b="0" i="0" u="none" strike="noStrike" kern="0" cap="none" spc="0" normalizeH="0" baseline="0" noProof="0" dirty="0" smtClean="0">
                <a:ln>
                  <a:noFill/>
                </a:ln>
                <a:solidFill>
                  <a:schemeClr val="tx1"/>
                </a:solidFill>
                <a:effectLst/>
                <a:uLnTx/>
                <a:uFillTx/>
                <a:latin typeface="+mn-lt"/>
                <a:ea typeface="+mn-ea"/>
              </a:rPr>
              <a:t>0</a:t>
            </a:r>
            <a:r>
              <a:rPr kumimoji="0" lang="zh-CN" altLang="en-US" b="0" i="0" u="none" strike="noStrike" kern="0" cap="none" spc="0" normalizeH="0" baseline="0" noProof="0" dirty="0" smtClean="0">
                <a:ln>
                  <a:noFill/>
                </a:ln>
                <a:solidFill>
                  <a:schemeClr val="tx1"/>
                </a:solidFill>
                <a:effectLst/>
                <a:uLnTx/>
                <a:uFillTx/>
                <a:latin typeface="+mn-lt"/>
                <a:ea typeface="+mn-ea"/>
              </a:rPr>
              <a:t>；</a:t>
            </a: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rPr>
              <a:t>2.</a:t>
            </a:r>
            <a:r>
              <a:rPr kumimoji="0" lang="zh-CN" altLang="zh-CN" b="0" i="0" u="none" strike="noStrike" kern="0" cap="none" spc="0" normalizeH="0" baseline="0" noProof="0" dirty="0">
                <a:ln>
                  <a:noFill/>
                </a:ln>
                <a:solidFill>
                  <a:schemeClr val="tx1"/>
                </a:solidFill>
                <a:effectLst/>
                <a:uLnTx/>
                <a:uFillTx/>
                <a:latin typeface="+mn-lt"/>
                <a:ea typeface="+mn-ea"/>
              </a:rPr>
              <a:t>八进制整数，如</a:t>
            </a:r>
            <a:r>
              <a:rPr kumimoji="0" lang="en-US" altLang="zh-CN" b="0" i="0" u="none" strike="noStrike" kern="0" cap="none" spc="0" normalizeH="0" baseline="0" noProof="0" dirty="0">
                <a:ln>
                  <a:noFill/>
                </a:ln>
                <a:solidFill>
                  <a:schemeClr val="tx1"/>
                </a:solidFill>
                <a:effectLst/>
                <a:uLnTx/>
                <a:uFillTx/>
                <a:latin typeface="+mn-lt"/>
                <a:ea typeface="+mn-ea"/>
              </a:rPr>
              <a:t>0123</a:t>
            </a:r>
            <a:r>
              <a:rPr kumimoji="0" lang="zh-CN" altLang="zh-CN" b="0" i="0" u="none" strike="noStrike" kern="0" cap="none" spc="0" normalizeH="0" baseline="0" noProof="0" dirty="0">
                <a:ln>
                  <a:noFill/>
                </a:ln>
                <a:solidFill>
                  <a:schemeClr val="tx1"/>
                </a:solidFill>
                <a:effectLst/>
                <a:uLnTx/>
                <a:uFillTx/>
                <a:latin typeface="+mn-lt"/>
                <a:ea typeface="+mn-ea"/>
              </a:rPr>
              <a:t>，</a:t>
            </a:r>
            <a:r>
              <a:rPr kumimoji="0" lang="en-US" altLang="zh-CN" b="0" i="0" u="none" strike="noStrike" kern="0" cap="none" spc="0" normalizeH="0" baseline="0" noProof="0" dirty="0">
                <a:ln>
                  <a:noFill/>
                </a:ln>
                <a:solidFill>
                  <a:schemeClr val="tx1"/>
                </a:solidFill>
                <a:effectLst/>
                <a:uLnTx/>
                <a:uFillTx/>
                <a:latin typeface="+mn-lt"/>
                <a:ea typeface="+mn-ea"/>
              </a:rPr>
              <a:t>-</a:t>
            </a:r>
            <a:r>
              <a:rPr kumimoji="0" lang="en-US" altLang="zh-CN" b="0" i="0" u="none" strike="noStrike" kern="0" cap="none" spc="0" normalizeH="0" baseline="0" noProof="0" dirty="0" smtClean="0">
                <a:ln>
                  <a:noFill/>
                </a:ln>
                <a:solidFill>
                  <a:schemeClr val="tx1"/>
                </a:solidFill>
                <a:effectLst/>
                <a:uLnTx/>
                <a:uFillTx/>
                <a:latin typeface="+mn-lt"/>
                <a:ea typeface="+mn-ea"/>
              </a:rPr>
              <a:t>011</a:t>
            </a:r>
            <a:r>
              <a:rPr kumimoji="0" lang="zh-CN" altLang="en-US" b="0" i="0" u="none" strike="noStrike" kern="0" cap="none" spc="0" normalizeH="0" baseline="0" noProof="0" dirty="0" smtClean="0">
                <a:ln>
                  <a:noFill/>
                </a:ln>
                <a:solidFill>
                  <a:schemeClr val="tx1"/>
                </a:solidFill>
                <a:effectLst/>
                <a:uLnTx/>
                <a:uFillTx/>
                <a:latin typeface="+mn-lt"/>
                <a:ea typeface="+mn-ea"/>
              </a:rPr>
              <a:t>；</a:t>
            </a: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rPr>
              <a:t>3.</a:t>
            </a:r>
            <a:r>
              <a:rPr kumimoji="0" lang="zh-CN" altLang="zh-CN" b="0" i="0" u="none" strike="noStrike" kern="0" cap="none" spc="0" normalizeH="0" baseline="0" noProof="0" dirty="0">
                <a:ln>
                  <a:noFill/>
                </a:ln>
                <a:solidFill>
                  <a:schemeClr val="tx1"/>
                </a:solidFill>
                <a:effectLst/>
                <a:uLnTx/>
                <a:uFillTx/>
                <a:latin typeface="+mn-lt"/>
                <a:ea typeface="+mn-ea"/>
              </a:rPr>
              <a:t>十六进制整数，如</a:t>
            </a:r>
            <a:r>
              <a:rPr kumimoji="0" lang="en-US" altLang="zh-CN" b="0" i="0" u="none" strike="noStrike" kern="0" cap="none" spc="0" normalizeH="0" baseline="0" noProof="0" dirty="0">
                <a:ln>
                  <a:noFill/>
                </a:ln>
                <a:solidFill>
                  <a:schemeClr val="tx1"/>
                </a:solidFill>
                <a:effectLst/>
                <a:uLnTx/>
                <a:uFillTx/>
                <a:latin typeface="+mn-lt"/>
                <a:ea typeface="+mn-ea"/>
              </a:rPr>
              <a:t>0x123</a:t>
            </a:r>
            <a:r>
              <a:rPr kumimoji="0" lang="zh-CN" altLang="zh-CN" b="0" i="0" u="none" strike="noStrike" kern="0" cap="none" spc="0" normalizeH="0" baseline="0" noProof="0" dirty="0">
                <a:ln>
                  <a:noFill/>
                </a:ln>
                <a:solidFill>
                  <a:schemeClr val="tx1"/>
                </a:solidFill>
                <a:effectLst/>
                <a:uLnTx/>
                <a:uFillTx/>
                <a:latin typeface="+mn-lt"/>
                <a:ea typeface="+mn-ea"/>
              </a:rPr>
              <a:t>，</a:t>
            </a:r>
            <a:r>
              <a:rPr kumimoji="0" lang="en-US" altLang="zh-CN" b="0" i="0" u="none" strike="noStrike" kern="0" cap="none" spc="0" normalizeH="0" baseline="0" noProof="0" dirty="0">
                <a:ln>
                  <a:noFill/>
                </a:ln>
                <a:solidFill>
                  <a:schemeClr val="tx1"/>
                </a:solidFill>
                <a:effectLst/>
                <a:uLnTx/>
                <a:uFillTx/>
                <a:latin typeface="+mn-lt"/>
                <a:ea typeface="+mn-ea"/>
              </a:rPr>
              <a:t>-</a:t>
            </a:r>
            <a:r>
              <a:rPr kumimoji="0" lang="en-US" altLang="zh-CN" b="0" i="0" u="none" strike="noStrike" kern="0" cap="none" spc="0" normalizeH="0" baseline="0" noProof="0" dirty="0" smtClean="0">
                <a:ln>
                  <a:noFill/>
                </a:ln>
                <a:solidFill>
                  <a:schemeClr val="tx1"/>
                </a:solidFill>
                <a:effectLst/>
                <a:uLnTx/>
                <a:uFillTx/>
                <a:latin typeface="+mn-lt"/>
                <a:ea typeface="+mn-ea"/>
              </a:rPr>
              <a:t>0x12</a:t>
            </a:r>
            <a:r>
              <a:rPr kumimoji="0" lang="zh-CN" altLang="en-US" b="0" i="0" u="none" strike="noStrike" kern="0" cap="none" spc="0" normalizeH="0" baseline="0" noProof="0" dirty="0" smtClean="0">
                <a:ln>
                  <a:noFill/>
                </a:ln>
                <a:solidFill>
                  <a:schemeClr val="tx1"/>
                </a:solidFill>
                <a:effectLst/>
                <a:uLnTx/>
                <a:uFillTx/>
                <a:latin typeface="+mn-lt"/>
                <a:ea typeface="+mn-ea"/>
              </a:rPr>
              <a:t>；</a:t>
            </a: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rPr>
              <a:t>       </a:t>
            </a:r>
            <a:endParaRPr kumimoji="0" lang="en-US" altLang="zh-CN" b="0"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50000"/>
              </a:lnSpc>
              <a:spcBef>
                <a:spcPct val="20000"/>
              </a:spcBef>
              <a:spcAft>
                <a:spcPct val="0"/>
              </a:spcAft>
              <a:buClrTx/>
              <a:buSzTx/>
              <a:buFontTx/>
              <a:buChar char="–"/>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742950" marR="0" lvl="1" indent="-285750" algn="l" defTabSz="914400" rtl="0" eaLnBrk="0" fontAlgn="base" latinLnBrk="0" hangingPunct="0">
              <a:lnSpc>
                <a:spcPct val="150000"/>
              </a:lnSpc>
              <a:spcBef>
                <a:spcPct val="20000"/>
              </a:spcBef>
              <a:spcAft>
                <a:spcPct val="0"/>
              </a:spcAft>
              <a:buClrTx/>
              <a:buSzTx/>
              <a:buFontTx/>
              <a:buChar char="–"/>
              <a:defRPr/>
            </a:pPr>
            <a:endParaRPr kumimoji="0" lang="zh-CN" altLang="en-US" b="0" i="0" u="none" strike="noStrike" kern="0" cap="none" spc="0" normalizeH="0" baseline="0" noProof="0" dirty="0" smtClean="0">
              <a:ln>
                <a:noFill/>
              </a:ln>
              <a:solidFill>
                <a:schemeClr val="tx1"/>
              </a:solidFill>
              <a:effectLst/>
              <a:uLnTx/>
              <a:uFillTx/>
              <a:latin typeface="+mn-lt"/>
              <a:ea typeface="+mn-ea"/>
            </a:endParaRPr>
          </a:p>
        </p:txBody>
      </p:sp>
      <p:sp>
        <p:nvSpPr>
          <p:cNvPr id="2" name="灯片编号占位符 1"/>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bwMode="auto">
          <a:xfrm>
            <a:off x="1485900" y="800100"/>
            <a:ext cx="6172200" cy="4017169"/>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742950" marR="0" lvl="1" indent="-285750" algn="l" defTabSz="914400" rtl="0" eaLnBrk="0" fontAlgn="base" latinLnBrk="0" hangingPunct="0">
              <a:lnSpc>
                <a:spcPct val="150000"/>
              </a:lnSpc>
              <a:spcBef>
                <a:spcPct val="20000"/>
              </a:spcBef>
              <a:spcAft>
                <a:spcPct val="0"/>
              </a:spcAft>
              <a:buClrTx/>
              <a:buSzTx/>
              <a:buFontTx/>
              <a:buChar char="–"/>
              <a:defRPr/>
            </a:pPr>
            <a:r>
              <a:rPr kumimoji="0" lang="zh-CN" altLang="en-US" b="0" i="0" u="none" strike="noStrike" kern="0" cap="none" spc="0" normalizeH="0" baseline="0" noProof="0" dirty="0" smtClean="0">
                <a:ln>
                  <a:noFill/>
                </a:ln>
                <a:solidFill>
                  <a:schemeClr val="tx1"/>
                </a:solidFill>
                <a:effectLst/>
                <a:uLnTx/>
                <a:uFillTx/>
                <a:latin typeface="+mn-lt"/>
                <a:ea typeface="+mn-ea"/>
              </a:rPr>
              <a:t>实型常量</a:t>
            </a: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rPr>
              <a:t>        </a:t>
            </a:r>
            <a:r>
              <a:rPr kumimoji="0" lang="zh-CN" altLang="zh-CN" b="0" i="0" u="none" strike="noStrike" kern="0" cap="none" spc="0" normalizeH="0" baseline="0" noProof="0" dirty="0" smtClean="0">
                <a:ln>
                  <a:noFill/>
                </a:ln>
                <a:solidFill>
                  <a:schemeClr val="tx1"/>
                </a:solidFill>
                <a:effectLst/>
                <a:uLnTx/>
                <a:uFillTx/>
                <a:latin typeface="+mn-lt"/>
                <a:ea typeface="+mn-ea"/>
              </a:rPr>
              <a:t>实</a:t>
            </a:r>
            <a:r>
              <a:rPr kumimoji="0" lang="zh-CN" altLang="zh-CN" b="0" i="0" u="none" strike="noStrike" kern="0" cap="none" spc="0" normalizeH="0" baseline="0" noProof="0" dirty="0">
                <a:ln>
                  <a:noFill/>
                </a:ln>
                <a:solidFill>
                  <a:schemeClr val="tx1"/>
                </a:solidFill>
                <a:effectLst/>
                <a:uLnTx/>
                <a:uFillTx/>
                <a:latin typeface="+mn-lt"/>
                <a:ea typeface="+mn-ea"/>
              </a:rPr>
              <a:t>型常量也称为浮点数常量，也就是在数学中用到的小数，可以分为</a:t>
            </a:r>
            <a:r>
              <a:rPr kumimoji="0" lang="en-US" altLang="zh-CN" b="0" i="0" u="none" strike="noStrike" kern="0" cap="none" spc="0" normalizeH="0" baseline="0" noProof="0" dirty="0">
                <a:ln>
                  <a:noFill/>
                </a:ln>
                <a:solidFill>
                  <a:schemeClr val="tx1"/>
                </a:solidFill>
                <a:effectLst/>
                <a:uLnTx/>
                <a:uFillTx/>
                <a:latin typeface="+mn-lt"/>
                <a:ea typeface="+mn-ea"/>
              </a:rPr>
              <a:t>float</a:t>
            </a:r>
            <a:r>
              <a:rPr kumimoji="0" lang="zh-CN" altLang="zh-CN" b="0" i="0" u="none" strike="noStrike" kern="0" cap="none" spc="0" normalizeH="0" baseline="0" noProof="0" dirty="0">
                <a:ln>
                  <a:noFill/>
                </a:ln>
                <a:solidFill>
                  <a:schemeClr val="tx1"/>
                </a:solidFill>
                <a:effectLst/>
                <a:uLnTx/>
                <a:uFillTx/>
                <a:latin typeface="+mn-lt"/>
                <a:ea typeface="+mn-ea"/>
              </a:rPr>
              <a:t>单精度浮点数和</a:t>
            </a:r>
            <a:r>
              <a:rPr kumimoji="0" lang="en-US" altLang="zh-CN" b="0" i="0" u="none" strike="noStrike" kern="0" cap="none" spc="0" normalizeH="0" baseline="0" noProof="0" dirty="0">
                <a:ln>
                  <a:noFill/>
                </a:ln>
                <a:solidFill>
                  <a:schemeClr val="tx1"/>
                </a:solidFill>
                <a:effectLst/>
                <a:uLnTx/>
                <a:uFillTx/>
                <a:latin typeface="+mn-lt"/>
                <a:ea typeface="+mn-ea"/>
              </a:rPr>
              <a:t>double</a:t>
            </a:r>
            <a:r>
              <a:rPr kumimoji="0" lang="zh-CN" altLang="zh-CN" b="0" i="0" u="none" strike="noStrike" kern="0" cap="none" spc="0" normalizeH="0" baseline="0" noProof="0" dirty="0">
                <a:ln>
                  <a:noFill/>
                </a:ln>
                <a:solidFill>
                  <a:schemeClr val="tx1"/>
                </a:solidFill>
                <a:effectLst/>
                <a:uLnTx/>
                <a:uFillTx/>
                <a:latin typeface="+mn-lt"/>
                <a:ea typeface="+mn-ea"/>
              </a:rPr>
              <a:t>双精度浮点数两种类型。其中，单精度浮点数后面以</a:t>
            </a:r>
            <a:r>
              <a:rPr kumimoji="0" lang="en-US" altLang="zh-CN" b="0" i="0" u="none" strike="noStrike" kern="0" cap="none" spc="0" normalizeH="0" baseline="0" noProof="0" dirty="0">
                <a:ln>
                  <a:noFill/>
                </a:ln>
                <a:solidFill>
                  <a:schemeClr val="tx1"/>
                </a:solidFill>
                <a:effectLst/>
                <a:uLnTx/>
                <a:uFillTx/>
                <a:latin typeface="+mn-lt"/>
                <a:ea typeface="+mn-ea"/>
              </a:rPr>
              <a:t>F</a:t>
            </a:r>
            <a:r>
              <a:rPr kumimoji="0" lang="zh-CN" altLang="zh-CN" b="0" i="0" u="none" strike="noStrike" kern="0" cap="none" spc="0" normalizeH="0" baseline="0" noProof="0" dirty="0">
                <a:ln>
                  <a:noFill/>
                </a:ln>
                <a:solidFill>
                  <a:schemeClr val="tx1"/>
                </a:solidFill>
                <a:effectLst/>
                <a:uLnTx/>
                <a:uFillTx/>
                <a:latin typeface="+mn-lt"/>
                <a:ea typeface="+mn-ea"/>
              </a:rPr>
              <a:t>或</a:t>
            </a:r>
            <a:r>
              <a:rPr kumimoji="0" lang="en-US" altLang="zh-CN" b="0" i="0" u="none" strike="noStrike" kern="0" cap="none" spc="0" normalizeH="0" baseline="0" noProof="0" dirty="0">
                <a:ln>
                  <a:noFill/>
                </a:ln>
                <a:solidFill>
                  <a:schemeClr val="tx1"/>
                </a:solidFill>
                <a:effectLst/>
                <a:uLnTx/>
                <a:uFillTx/>
                <a:latin typeface="+mn-lt"/>
                <a:ea typeface="+mn-ea"/>
              </a:rPr>
              <a:t>f</a:t>
            </a:r>
            <a:r>
              <a:rPr kumimoji="0" lang="zh-CN" altLang="zh-CN" b="0" i="0" u="none" strike="noStrike" kern="0" cap="none" spc="0" normalizeH="0" baseline="0" noProof="0" dirty="0">
                <a:ln>
                  <a:noFill/>
                </a:ln>
                <a:solidFill>
                  <a:schemeClr val="tx1"/>
                </a:solidFill>
                <a:effectLst/>
                <a:uLnTx/>
                <a:uFillTx/>
                <a:latin typeface="+mn-lt"/>
                <a:ea typeface="+mn-ea"/>
              </a:rPr>
              <a:t>结尾，而双精度浮点数则以</a:t>
            </a:r>
            <a:r>
              <a:rPr kumimoji="0" lang="en-US" altLang="zh-CN" b="0" i="0" u="none" strike="noStrike" kern="0" cap="none" spc="0" normalizeH="0" baseline="0" noProof="0" dirty="0">
                <a:ln>
                  <a:noFill/>
                </a:ln>
                <a:solidFill>
                  <a:schemeClr val="tx1"/>
                </a:solidFill>
                <a:effectLst/>
                <a:uLnTx/>
                <a:uFillTx/>
                <a:latin typeface="+mn-lt"/>
                <a:ea typeface="+mn-ea"/>
              </a:rPr>
              <a:t>D</a:t>
            </a:r>
            <a:r>
              <a:rPr kumimoji="0" lang="zh-CN" altLang="zh-CN" b="0" i="0" u="none" strike="noStrike" kern="0" cap="none" spc="0" normalizeH="0" baseline="0" noProof="0" dirty="0">
                <a:ln>
                  <a:noFill/>
                </a:ln>
                <a:solidFill>
                  <a:schemeClr val="tx1"/>
                </a:solidFill>
                <a:effectLst/>
                <a:uLnTx/>
                <a:uFillTx/>
                <a:latin typeface="+mn-lt"/>
                <a:ea typeface="+mn-ea"/>
              </a:rPr>
              <a:t>或</a:t>
            </a:r>
            <a:r>
              <a:rPr kumimoji="0" lang="en-US" altLang="zh-CN" b="0" i="0" u="none" strike="noStrike" kern="0" cap="none" spc="0" normalizeH="0" baseline="0" noProof="0" dirty="0">
                <a:ln>
                  <a:noFill/>
                </a:ln>
                <a:solidFill>
                  <a:schemeClr val="tx1"/>
                </a:solidFill>
                <a:effectLst/>
                <a:uLnTx/>
                <a:uFillTx/>
                <a:latin typeface="+mn-lt"/>
                <a:ea typeface="+mn-ea"/>
              </a:rPr>
              <a:t>d</a:t>
            </a:r>
            <a:r>
              <a:rPr kumimoji="0" lang="zh-CN" altLang="zh-CN" b="0" i="0" u="none" strike="noStrike" kern="0" cap="none" spc="0" normalizeH="0" baseline="0" noProof="0" dirty="0">
                <a:ln>
                  <a:noFill/>
                </a:ln>
                <a:solidFill>
                  <a:schemeClr val="tx1"/>
                </a:solidFill>
                <a:effectLst/>
                <a:uLnTx/>
                <a:uFillTx/>
                <a:latin typeface="+mn-lt"/>
                <a:ea typeface="+mn-ea"/>
              </a:rPr>
              <a:t>结尾。当然，在使用浮点数时也可以在结尾处不加任何的后缀。浮点数常量还可以通过指数形式来</a:t>
            </a:r>
            <a:r>
              <a:rPr kumimoji="0" lang="zh-CN" altLang="zh-CN" b="0" i="0" u="none" strike="noStrike" kern="0" cap="none" spc="0" normalizeH="0" baseline="0" noProof="0" dirty="0" smtClean="0">
                <a:ln>
                  <a:noFill/>
                </a:ln>
                <a:solidFill>
                  <a:schemeClr val="tx1"/>
                </a:solidFill>
                <a:effectLst/>
                <a:uLnTx/>
                <a:uFillTx/>
                <a:latin typeface="+mn-lt"/>
                <a:ea typeface="+mn-ea"/>
              </a:rPr>
              <a:t>表示</a:t>
            </a:r>
            <a:r>
              <a:rPr kumimoji="0" lang="zh-CN" altLang="en-US" b="0" i="0" u="none" strike="noStrike" kern="0" cap="none" spc="0" normalizeH="0" baseline="0" noProof="0" dirty="0">
                <a:ln>
                  <a:noFill/>
                </a:ln>
                <a:solidFill>
                  <a:schemeClr val="tx1"/>
                </a:solidFill>
                <a:effectLst/>
                <a:uLnTx/>
                <a:uFillTx/>
                <a:latin typeface="+mn-lt"/>
                <a:ea typeface="+mn-ea"/>
              </a:rPr>
              <a:t>。</a:t>
            </a:r>
            <a:endParaRPr kumimoji="0" lang="en-US" altLang="zh-CN" b="0"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a:pPr>
            <a:r>
              <a:rPr kumimoji="0" lang="zh-CN" altLang="en-US" b="0" i="0" u="none" strike="noStrike" kern="0" cap="none" spc="0" normalizeH="0" baseline="0" noProof="0" dirty="0" smtClean="0">
                <a:ln>
                  <a:noFill/>
                </a:ln>
                <a:solidFill>
                  <a:schemeClr val="tx1"/>
                </a:solidFill>
                <a:effectLst/>
                <a:uLnTx/>
                <a:uFillTx/>
                <a:latin typeface="+mn-lt"/>
                <a:ea typeface="+mn-ea"/>
              </a:rPr>
              <a:t>字符型常量</a:t>
            </a: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r>
              <a:rPr kumimoji="0" lang="zh-CN" altLang="zh-CN" b="0" i="0" u="none" strike="noStrike" kern="0" cap="none" spc="0" normalizeH="0" baseline="0" noProof="0" dirty="0">
                <a:ln>
                  <a:noFill/>
                </a:ln>
                <a:solidFill>
                  <a:schemeClr val="tx1"/>
                </a:solidFill>
                <a:effectLst/>
                <a:uLnTx/>
                <a:uFillTx/>
                <a:latin typeface="+mn-lt"/>
                <a:ea typeface="+mn-ea"/>
              </a:rPr>
              <a:t>字符常量用于表示一个字符，一个字符常量要用一对英文半角格式的单引号（</a:t>
            </a:r>
            <a:r>
              <a:rPr kumimoji="0" lang="en-US" altLang="zh-CN" b="0" i="0" u="none" strike="noStrike" kern="0" cap="none" spc="0" normalizeH="0" baseline="0" noProof="0" dirty="0">
                <a:ln>
                  <a:noFill/>
                </a:ln>
                <a:solidFill>
                  <a:schemeClr val="tx1"/>
                </a:solidFill>
                <a:effectLst/>
                <a:uLnTx/>
                <a:uFillTx/>
                <a:latin typeface="+mn-lt"/>
                <a:ea typeface="+mn-ea"/>
              </a:rPr>
              <a:t>' '</a:t>
            </a:r>
            <a:r>
              <a:rPr kumimoji="0" lang="zh-CN" altLang="zh-CN" b="0" i="0" u="none" strike="noStrike" kern="0" cap="none" spc="0" normalizeH="0" baseline="0" noProof="0" dirty="0">
                <a:ln>
                  <a:noFill/>
                </a:ln>
                <a:solidFill>
                  <a:schemeClr val="tx1"/>
                </a:solidFill>
                <a:effectLst/>
                <a:uLnTx/>
                <a:uFillTx/>
                <a:latin typeface="+mn-lt"/>
                <a:ea typeface="+mn-ea"/>
              </a:rPr>
              <a:t>）引起来，它可以是英文字母、数字、标点符号以及由转义序列来表示的特殊字符</a:t>
            </a:r>
            <a:r>
              <a:rPr kumimoji="0" lang="zh-CN" altLang="zh-CN" b="0" i="0" u="none" strike="noStrike" kern="0" cap="none" spc="0" normalizeH="0" baseline="0" noProof="0" dirty="0" smtClean="0">
                <a:ln>
                  <a:noFill/>
                </a:ln>
                <a:solidFill>
                  <a:schemeClr val="tx1"/>
                </a:solidFill>
                <a:effectLst/>
                <a:uLnTx/>
                <a:uFillTx/>
                <a:latin typeface="+mn-lt"/>
                <a:ea typeface="+mn-ea"/>
              </a:rPr>
              <a:t>。</a:t>
            </a: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rPr>
              <a:t> </a:t>
            </a: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rPr>
              <a:t>       </a:t>
            </a:r>
            <a:endParaRPr kumimoji="0" lang="en-US" altLang="zh-CN" b="0"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50000"/>
              </a:lnSpc>
              <a:spcBef>
                <a:spcPct val="20000"/>
              </a:spcBef>
              <a:spcAft>
                <a:spcPct val="0"/>
              </a:spcAft>
              <a:buClrTx/>
              <a:buSzTx/>
              <a:buFontTx/>
              <a:buChar char="–"/>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742950" marR="0" lvl="1" indent="-285750" algn="l" defTabSz="914400" rtl="0" eaLnBrk="0" fontAlgn="base" latinLnBrk="0" hangingPunct="0">
              <a:lnSpc>
                <a:spcPct val="150000"/>
              </a:lnSpc>
              <a:spcBef>
                <a:spcPct val="20000"/>
              </a:spcBef>
              <a:spcAft>
                <a:spcPct val="0"/>
              </a:spcAft>
              <a:buClrTx/>
              <a:buSzTx/>
              <a:buFontTx/>
              <a:buChar char="–"/>
              <a:defRPr/>
            </a:pPr>
            <a:endParaRPr kumimoji="0" lang="zh-CN" altLang="en-US" b="0" i="0" u="none" strike="noStrike" kern="0" cap="none" spc="0" normalizeH="0" baseline="0" noProof="0" dirty="0" smtClean="0">
              <a:ln>
                <a:noFill/>
              </a:ln>
              <a:solidFill>
                <a:schemeClr val="tx1"/>
              </a:solidFill>
              <a:effectLst/>
              <a:uLnTx/>
              <a:uFillTx/>
              <a:latin typeface="+mn-lt"/>
              <a:ea typeface="+mn-ea"/>
            </a:endParaRPr>
          </a:p>
        </p:txBody>
      </p:sp>
      <p:sp>
        <p:nvSpPr>
          <p:cNvPr id="2" name="标题 1"/>
          <p:cNvSpPr>
            <a:spLocks noGrp="1"/>
          </p:cNvSpPr>
          <p:nvPr>
            <p:custDataLst>
              <p:tags r:id="rId1"/>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2.3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常量与变量</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3" name="灯片编号占位符 2"/>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bwMode="auto">
          <a:xfrm>
            <a:off x="1485900" y="628650"/>
            <a:ext cx="6172200" cy="441007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Tx/>
              <a:buChar char="•"/>
              <a:defRPr/>
            </a:pPr>
            <a:r>
              <a:rPr kumimoji="0" lang="en-US" altLang="zh-CN" b="1" i="0" u="none" strike="noStrike" kern="0" cap="none" spc="0" normalizeH="0" baseline="0" noProof="0" dirty="0" smtClean="0">
                <a:ln>
                  <a:noFill/>
                </a:ln>
                <a:solidFill>
                  <a:srgbClr val="009ED6"/>
                </a:solidFill>
                <a:effectLst/>
                <a:uLnTx/>
                <a:uFillTx/>
                <a:latin typeface="+mn-lt"/>
                <a:ea typeface="+mn-ea"/>
                <a:cs typeface="+mn-cs"/>
              </a:rPr>
              <a:t>2.3.2  </a:t>
            </a:r>
            <a:r>
              <a:rPr kumimoji="0" lang="zh-CN" altLang="en-US" b="1" i="0" u="none" strike="noStrike" kern="0" cap="none" spc="0" normalizeH="0" baseline="0" noProof="0" dirty="0" smtClean="0">
                <a:ln>
                  <a:noFill/>
                </a:ln>
                <a:solidFill>
                  <a:srgbClr val="009ED6"/>
                </a:solidFill>
                <a:effectLst/>
                <a:uLnTx/>
                <a:uFillTx/>
                <a:latin typeface="+mn-lt"/>
                <a:ea typeface="+mn-ea"/>
                <a:cs typeface="+mn-cs"/>
              </a:rPr>
              <a:t>变量</a:t>
            </a:r>
            <a:endParaRPr kumimoji="0" lang="en-US" altLang="zh-CN" b="1" i="0" u="none" strike="noStrike" kern="0" cap="none" spc="0" normalizeH="0" baseline="0" noProof="0" dirty="0" smtClean="0">
              <a:ln>
                <a:noFill/>
              </a:ln>
              <a:solidFill>
                <a:srgbClr val="009ED6"/>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在</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程序运行期间，随时可能产生一些临时数据，应用程序会将这些数据保存在一些内存单元中，每个内存单元都用一个标识符来标识。这些内存单元我们称之为变量，定义的标识符就是变量名，内存单元中存储的数据就是变量的值</a:t>
            </a:r>
            <a:r>
              <a:rPr kumimoji="0" lang="zh-CN" altLang="en-US"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50000"/>
              </a:lnSpc>
              <a:spcBef>
                <a:spcPct val="20000"/>
              </a:spcBef>
              <a:spcAft>
                <a:spcPct val="0"/>
              </a:spcAft>
              <a:buClrTx/>
              <a:buSzTx/>
              <a:buFontTx/>
              <a:buNone/>
              <a:defRPr/>
            </a:pPr>
            <a:r>
              <a:rPr kumimoji="0" lang="zh-CN" altLang="zh-CN" b="0" i="0" u="none" strike="noStrike" kern="0" cap="none" spc="0" normalizeH="0" baseline="0" noProof="0" dirty="0">
                <a:ln>
                  <a:noFill/>
                </a:ln>
                <a:solidFill>
                  <a:schemeClr val="tx1"/>
                </a:solidFill>
                <a:effectLst/>
                <a:uLnTx/>
                <a:uFillTx/>
                <a:latin typeface="+mn-lt"/>
                <a:ea typeface="+mn-ea"/>
              </a:rPr>
              <a:t>接下来，通过一段代码来学习变量的定义，具体</a:t>
            </a:r>
            <a:r>
              <a:rPr kumimoji="0" lang="zh-CN" altLang="zh-CN" b="0" i="0" u="none" strike="noStrike" kern="0" cap="none" spc="0" normalizeH="0" baseline="0" noProof="0" dirty="0" smtClean="0">
                <a:ln>
                  <a:noFill/>
                </a:ln>
                <a:solidFill>
                  <a:schemeClr val="tx1"/>
                </a:solidFill>
                <a:effectLst/>
                <a:uLnTx/>
                <a:uFillTx/>
                <a:latin typeface="+mn-lt"/>
                <a:ea typeface="+mn-ea"/>
              </a:rPr>
              <a:t>如下</a:t>
            </a:r>
            <a:r>
              <a:rPr kumimoji="0" lang="zh-CN" altLang="en-US" b="0" i="0" u="none" strike="noStrike" kern="0" cap="none" spc="0" normalizeH="0" baseline="0" noProof="0" dirty="0" smtClean="0">
                <a:ln>
                  <a:noFill/>
                </a:ln>
                <a:solidFill>
                  <a:schemeClr val="tx1"/>
                </a:solidFill>
                <a:effectLst/>
                <a:uLnTx/>
                <a:uFillTx/>
                <a:latin typeface="+mn-lt"/>
                <a:ea typeface="+mn-ea"/>
              </a:rPr>
              <a:t>：</a:t>
            </a: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a:ln>
                  <a:noFill/>
                </a:ln>
                <a:solidFill>
                  <a:schemeClr val="tx1"/>
                </a:solidFill>
                <a:effectLst/>
                <a:uLnTx/>
                <a:uFillTx/>
                <a:latin typeface="+mn-lt"/>
                <a:ea typeface="+mn-ea"/>
              </a:rPr>
              <a:t> </a:t>
            </a:r>
            <a:r>
              <a:rPr kumimoji="0" lang="en-US" altLang="zh-CN" b="0" i="0" u="none" strike="noStrike" kern="0" cap="none" spc="0" normalizeH="0" baseline="0" noProof="0" dirty="0" smtClean="0">
                <a:ln>
                  <a:noFill/>
                </a:ln>
                <a:solidFill>
                  <a:schemeClr val="tx1"/>
                </a:solidFill>
                <a:effectLst/>
                <a:uLnTx/>
                <a:uFillTx/>
                <a:latin typeface="+mn-lt"/>
                <a:ea typeface="+mn-ea"/>
              </a:rPr>
              <a:t>   </a:t>
            </a:r>
            <a:r>
              <a:rPr kumimoji="0" lang="zh-CN" altLang="en-US" b="0" i="0" u="none" strike="noStrike" kern="0" cap="none" spc="0" normalizeH="0" baseline="0" noProof="0" dirty="0" smtClean="0">
                <a:ln>
                  <a:noFill/>
                </a:ln>
                <a:solidFill>
                  <a:schemeClr val="tx1"/>
                </a:solidFill>
                <a:effectLst/>
                <a:uLnTx/>
                <a:uFillTx/>
                <a:latin typeface="+mn-lt"/>
                <a:ea typeface="+mn-ea"/>
              </a:rPr>
              <a:t>其内存变化 如下图：</a:t>
            </a: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50000"/>
              </a:lnSpc>
              <a:spcBef>
                <a:spcPct val="20000"/>
              </a:spcBef>
              <a:spcAft>
                <a:spcPct val="0"/>
              </a:spcAft>
              <a:buClrTx/>
              <a:buSzTx/>
              <a:buFontTx/>
              <a:buChar char="–"/>
              <a:defRPr/>
            </a:pPr>
            <a:r>
              <a:rPr kumimoji="0" lang="en-US" altLang="zh-CN" b="0" i="0" u="none" strike="noStrike" kern="0" cap="none" spc="0" normalizeH="0" baseline="0" noProof="0" dirty="0" smtClean="0">
                <a:ln>
                  <a:noFill/>
                </a:ln>
                <a:solidFill>
                  <a:schemeClr val="tx1"/>
                </a:solidFill>
                <a:effectLst/>
                <a:uLnTx/>
                <a:uFillTx/>
                <a:latin typeface="+mn-lt"/>
                <a:ea typeface="+mn-ea"/>
              </a:rPr>
              <a:t>                              </a:t>
            </a:r>
            <a:endParaRPr kumimoji="0" lang="en-US" altLang="zh-CN" b="0" i="0" u="none" strike="noStrike" kern="0" cap="none" spc="0" normalizeH="0" baseline="0" noProof="0" dirty="0" smtClean="0">
              <a:ln>
                <a:noFill/>
              </a:ln>
              <a:solidFill>
                <a:schemeClr val="tx1"/>
              </a:solidFill>
              <a:effectLst/>
              <a:uLnTx/>
              <a:uFillTx/>
              <a:latin typeface="+mn-lt"/>
              <a:ea typeface="+mn-ea"/>
            </a:endParaRPr>
          </a:p>
        </p:txBody>
      </p:sp>
      <p:sp>
        <p:nvSpPr>
          <p:cNvPr id="4" name="标题 1"/>
          <p:cNvSpPr txBox="1"/>
          <p:nvPr/>
        </p:nvSpPr>
        <p:spPr>
          <a:xfrm>
            <a:off x="1719263" y="3000375"/>
            <a:ext cx="5824538" cy="460772"/>
          </a:xfrm>
          <a:prstGeom prst="rect">
            <a:avLst/>
          </a:prstGeom>
          <a:solidFill>
            <a:srgbClr val="66CCFF"/>
          </a:solidFill>
        </p:spPr>
        <p:txBody>
          <a:bodyPr/>
          <a:lstStyle>
            <a:lvl1pPr algn="l" rtl="0" eaLnBrk="0" fontAlgn="base" hangingPunct="0">
              <a:spcBef>
                <a:spcPct val="0"/>
              </a:spcBef>
              <a:spcAft>
                <a:spcPct val="0"/>
              </a:spcAft>
              <a:defRPr sz="3600" b="1" spc="300">
                <a:solidFill>
                  <a:srgbClr val="FFFF00"/>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5pPr>
            <a:lvl6pPr marL="457200" algn="ctr" rtl="0" fontAlgn="base">
              <a:spcBef>
                <a:spcPct val="0"/>
              </a:spcBef>
              <a:spcAft>
                <a:spcPct val="0"/>
              </a:spcAft>
              <a:defRPr sz="4400">
                <a:solidFill>
                  <a:schemeClr val="tx2"/>
                </a:solidFill>
                <a:latin typeface="Arial" panose="020B0604020202090204" pitchFamily="34" charset="0"/>
                <a:ea typeface="宋体" pitchFamily="2" charset="-122"/>
              </a:defRPr>
            </a:lvl6pPr>
            <a:lvl7pPr marL="914400" algn="ctr" rtl="0" fontAlgn="base">
              <a:spcBef>
                <a:spcPct val="0"/>
              </a:spcBef>
              <a:spcAft>
                <a:spcPct val="0"/>
              </a:spcAft>
              <a:defRPr sz="4400">
                <a:solidFill>
                  <a:schemeClr val="tx2"/>
                </a:solidFill>
                <a:latin typeface="Arial" panose="020B0604020202090204" pitchFamily="34" charset="0"/>
                <a:ea typeface="宋体" pitchFamily="2" charset="-122"/>
              </a:defRPr>
            </a:lvl7pPr>
            <a:lvl8pPr marL="1371600" algn="ctr" rtl="0" fontAlgn="base">
              <a:spcBef>
                <a:spcPct val="0"/>
              </a:spcBef>
              <a:spcAft>
                <a:spcPct val="0"/>
              </a:spcAft>
              <a:defRPr sz="4400">
                <a:solidFill>
                  <a:schemeClr val="tx2"/>
                </a:solidFill>
                <a:latin typeface="Arial" panose="020B0604020202090204" pitchFamily="34" charset="0"/>
                <a:ea typeface="宋体" pitchFamily="2" charset="-122"/>
              </a:defRPr>
            </a:lvl8pPr>
            <a:lvl9pPr marL="1828800" algn="ctr" rtl="0" fontAlgn="base">
              <a:spcBef>
                <a:spcPct val="0"/>
              </a:spcBef>
              <a:spcAft>
                <a:spcPct val="0"/>
              </a:spcAft>
              <a:defRPr sz="4400">
                <a:solidFill>
                  <a:schemeClr val="tx2"/>
                </a:solidFill>
                <a:latin typeface="Arial" panose="020B060402020209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300" normalizeH="0" baseline="0" noProof="0" dirty="0" smtClean="0">
                <a:ln>
                  <a:noFill/>
                </a:ln>
                <a:solidFill>
                  <a:schemeClr val="tx1"/>
                </a:solidFill>
                <a:effectLst/>
                <a:uLnTx/>
                <a:uFillTx/>
                <a:latin typeface="+mn-lt"/>
                <a:ea typeface="微软雅黑" panose="020B0503020204020204" charset="-122"/>
                <a:cs typeface="+mj-cs"/>
              </a:rPr>
              <a:t>  int </a:t>
            </a:r>
            <a:r>
              <a:rPr kumimoji="0" lang="en-US" altLang="zh-CN" sz="1200" b="0" i="0" u="none" strike="noStrike" kern="1200" cap="none" spc="300" normalizeH="0" baseline="0" noProof="0" dirty="0">
                <a:ln>
                  <a:noFill/>
                </a:ln>
                <a:solidFill>
                  <a:schemeClr val="tx1"/>
                </a:solidFill>
                <a:effectLst/>
                <a:uLnTx/>
                <a:uFillTx/>
                <a:latin typeface="+mn-lt"/>
                <a:ea typeface="微软雅黑" panose="020B0503020204020204" charset="-122"/>
                <a:cs typeface="+mj-cs"/>
              </a:rPr>
              <a:t>x = </a:t>
            </a:r>
            <a:r>
              <a:rPr kumimoji="0" lang="en-US" altLang="zh-CN" sz="1200" b="0" i="0" u="none" strike="noStrike" kern="1200" cap="none" spc="300" normalizeH="0" baseline="0" noProof="0" dirty="0" smtClean="0">
                <a:ln>
                  <a:noFill/>
                </a:ln>
                <a:solidFill>
                  <a:schemeClr val="tx1"/>
                </a:solidFill>
                <a:effectLst/>
                <a:uLnTx/>
                <a:uFillTx/>
                <a:latin typeface="+mn-lt"/>
                <a:ea typeface="微软雅黑" panose="020B0503020204020204" charset="-122"/>
                <a:cs typeface="+mj-cs"/>
              </a:rPr>
              <a:t>0,y;</a:t>
            </a:r>
            <a:r>
              <a:rPr kumimoji="0" lang="en-US" altLang="zh-CN" sz="1200" b="0" i="0" u="none" strike="noStrike" kern="1200" cap="none" spc="300" normalizeH="0" baseline="0" noProof="0" dirty="0">
                <a:ln>
                  <a:noFill/>
                </a:ln>
                <a:solidFill>
                  <a:schemeClr val="tx1"/>
                </a:solidFill>
                <a:effectLst/>
                <a:uLnTx/>
                <a:uFillTx/>
                <a:latin typeface="+mn-lt"/>
                <a:ea typeface="微软雅黑" panose="020B0503020204020204" charset="-122"/>
                <a:cs typeface="+mj-cs"/>
              </a:rPr>
              <a:t> </a:t>
            </a:r>
            <a:endParaRPr kumimoji="0" lang="en-US" altLang="zh-CN" sz="1200" b="0" i="0" u="none" strike="noStrike" kern="1200" cap="none" spc="300" normalizeH="0" baseline="0" noProof="0" dirty="0" smtClean="0">
              <a:ln>
                <a:noFill/>
              </a:ln>
              <a:solidFill>
                <a:schemeClr val="tx1"/>
              </a:solidFill>
              <a:effectLst/>
              <a:uLnTx/>
              <a:uFillTx/>
              <a:latin typeface="+mn-lt"/>
              <a:ea typeface="微软雅黑" panose="020B0503020204020204" charset="-122"/>
              <a:cs typeface="+mj-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300" normalizeH="0" baseline="0" noProof="0" dirty="0">
                <a:ln>
                  <a:noFill/>
                </a:ln>
                <a:solidFill>
                  <a:schemeClr val="tx1"/>
                </a:solidFill>
                <a:effectLst/>
                <a:uLnTx/>
                <a:uFillTx/>
                <a:latin typeface="+mn-lt"/>
                <a:ea typeface="微软雅黑" panose="020B0503020204020204" charset="-122"/>
                <a:cs typeface="+mj-cs"/>
              </a:rPr>
              <a:t> </a:t>
            </a:r>
            <a:r>
              <a:rPr kumimoji="0" lang="en-US" altLang="zh-CN" sz="1200" b="0" i="0" u="none" strike="noStrike" kern="1200" cap="none" spc="300" normalizeH="0" baseline="0" noProof="0" dirty="0" smtClean="0">
                <a:ln>
                  <a:noFill/>
                </a:ln>
                <a:solidFill>
                  <a:schemeClr val="tx1"/>
                </a:solidFill>
                <a:effectLst/>
                <a:uLnTx/>
                <a:uFillTx/>
                <a:latin typeface="+mn-lt"/>
                <a:ea typeface="微软雅黑" panose="020B0503020204020204" charset="-122"/>
                <a:cs typeface="+mj-cs"/>
              </a:rPr>
              <a:t> y </a:t>
            </a:r>
            <a:r>
              <a:rPr kumimoji="0" lang="en-US" altLang="zh-CN" sz="1200" b="0" i="0" u="none" strike="noStrike" kern="1200" cap="none" spc="300" normalizeH="0" baseline="0" noProof="0" dirty="0">
                <a:ln>
                  <a:noFill/>
                </a:ln>
                <a:solidFill>
                  <a:schemeClr val="tx1"/>
                </a:solidFill>
                <a:effectLst/>
                <a:uLnTx/>
                <a:uFillTx/>
                <a:latin typeface="+mn-lt"/>
                <a:ea typeface="微软雅黑" panose="020B0503020204020204" charset="-122"/>
                <a:cs typeface="+mj-cs"/>
              </a:rPr>
              <a:t>= </a:t>
            </a:r>
            <a:r>
              <a:rPr kumimoji="0" lang="en-US" altLang="zh-CN" sz="1200" b="0" i="0" u="none" strike="noStrike" kern="1200" cap="none" spc="300" normalizeH="0" baseline="0" noProof="0" dirty="0" smtClean="0">
                <a:ln>
                  <a:noFill/>
                </a:ln>
                <a:solidFill>
                  <a:schemeClr val="tx1"/>
                </a:solidFill>
                <a:effectLst/>
                <a:uLnTx/>
                <a:uFillTx/>
                <a:latin typeface="+mn-lt"/>
                <a:ea typeface="微软雅黑" panose="020B0503020204020204" charset="-122"/>
                <a:cs typeface="+mj-cs"/>
              </a:rPr>
              <a:t>x+3</a:t>
            </a:r>
            <a:r>
              <a:rPr kumimoji="0" lang="zh-CN" altLang="en-US" sz="1200" b="0" i="0" u="none" strike="noStrike" kern="1200" cap="none" spc="300" normalizeH="0" baseline="0" noProof="0" dirty="0" smtClean="0">
                <a:ln>
                  <a:noFill/>
                </a:ln>
                <a:solidFill>
                  <a:schemeClr val="tx1"/>
                </a:solidFill>
                <a:effectLst/>
                <a:uLnTx/>
                <a:uFillTx/>
                <a:latin typeface="+mn-lt"/>
                <a:ea typeface="微软雅黑" panose="020B0503020204020204" charset="-122"/>
                <a:cs typeface="+mj-cs"/>
              </a:rPr>
              <a:t>；</a:t>
            </a:r>
            <a:endParaRPr kumimoji="0" lang="zh-CN" altLang="en-US" sz="1200" b="0" i="0" u="none" strike="noStrike" kern="1200" cap="none" spc="300" normalizeH="0" baseline="0" noProof="0" dirty="0">
              <a:ln>
                <a:noFill/>
              </a:ln>
              <a:solidFill>
                <a:schemeClr val="tx1"/>
              </a:solidFill>
              <a:effectLst/>
              <a:uLnTx/>
              <a:uFillTx/>
              <a:latin typeface="+mn-lt"/>
              <a:ea typeface="微软雅黑" panose="020B0503020204020204" charset="-122"/>
              <a:cs typeface="+mj-cs"/>
            </a:endParaRPr>
          </a:p>
        </p:txBody>
      </p:sp>
      <p:pic>
        <p:nvPicPr>
          <p:cNvPr id="20485" name="图片 1"/>
          <p:cNvPicPr>
            <a:picLocks noChangeAspect="1"/>
          </p:cNvPicPr>
          <p:nvPr/>
        </p:nvPicPr>
        <p:blipFill>
          <a:blip r:embed="rId1"/>
          <a:stretch>
            <a:fillRect/>
          </a:stretch>
        </p:blipFill>
        <p:spPr>
          <a:xfrm>
            <a:off x="1949054" y="3896916"/>
            <a:ext cx="1571625" cy="1057275"/>
          </a:xfrm>
          <a:prstGeom prst="rect">
            <a:avLst/>
          </a:prstGeom>
          <a:noFill/>
          <a:ln w="9525">
            <a:noFill/>
          </a:ln>
        </p:spPr>
      </p:pic>
      <p:sp>
        <p:nvSpPr>
          <p:cNvPr id="20486" name="右箭头 2"/>
          <p:cNvSpPr/>
          <p:nvPr/>
        </p:nvSpPr>
        <p:spPr>
          <a:xfrm>
            <a:off x="3657600" y="4360069"/>
            <a:ext cx="846535" cy="100013"/>
          </a:xfrm>
          <a:prstGeom prst="rightArrow">
            <a:avLst>
              <a:gd name="adj1" fmla="val 50000"/>
              <a:gd name="adj2" fmla="val 49727"/>
            </a:avLst>
          </a:prstGeom>
          <a:noFill/>
          <a:ln w="28575" cap="flat" cmpd="sng">
            <a:solidFill>
              <a:srgbClr val="00ACE6"/>
            </a:solidFill>
            <a:prstDash val="solid"/>
            <a:round/>
            <a:headEnd type="none" w="med" len="med"/>
            <a:tailEnd type="none" w="med" len="med"/>
          </a:ln>
        </p:spPr>
        <p:txBody>
          <a:bodyPr/>
          <a:p>
            <a:pPr eaLnBrk="1" hangingPunct="1"/>
            <a:endParaRPr lang="zh-CN" altLang="en-US" sz="1350" dirty="0">
              <a:latin typeface="Arial" panose="020B0604020202090204" pitchFamily="34" charset="0"/>
            </a:endParaRPr>
          </a:p>
        </p:txBody>
      </p:sp>
      <p:pic>
        <p:nvPicPr>
          <p:cNvPr id="20487" name="图片 4"/>
          <p:cNvPicPr>
            <a:picLocks noChangeAspect="1"/>
          </p:cNvPicPr>
          <p:nvPr/>
        </p:nvPicPr>
        <p:blipFill>
          <a:blip r:embed="rId2"/>
          <a:stretch>
            <a:fillRect/>
          </a:stretch>
        </p:blipFill>
        <p:spPr>
          <a:xfrm>
            <a:off x="4631531" y="3896916"/>
            <a:ext cx="1621631" cy="992981"/>
          </a:xfrm>
          <a:prstGeom prst="rect">
            <a:avLst/>
          </a:prstGeom>
          <a:noFill/>
          <a:ln w="9525">
            <a:noFill/>
          </a:ln>
        </p:spPr>
      </p:pic>
      <p:sp>
        <p:nvSpPr>
          <p:cNvPr id="2" name="标题 1"/>
          <p:cNvSpPr>
            <a:spLocks noGrp="1"/>
          </p:cNvSpPr>
          <p:nvPr>
            <p:custDataLst>
              <p:tags r:id="rId3"/>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2.3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常量与变量</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3" name="灯片编号占位符 2"/>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bwMode="auto">
          <a:xfrm>
            <a:off x="1485900" y="628650"/>
            <a:ext cx="6172200" cy="441007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Tx/>
              <a:buChar char="•"/>
              <a:defRPr/>
            </a:pPr>
            <a:r>
              <a:rPr kumimoji="0" lang="en-US" altLang="zh-CN" b="1" i="0" u="none" strike="noStrike" kern="0" cap="none" spc="0" normalizeH="0" baseline="0" noProof="0" dirty="0" smtClean="0">
                <a:ln>
                  <a:noFill/>
                </a:ln>
                <a:solidFill>
                  <a:srgbClr val="009ED6"/>
                </a:solidFill>
                <a:effectLst/>
                <a:uLnTx/>
                <a:uFillTx/>
                <a:latin typeface="+mn-lt"/>
                <a:ea typeface="+mn-ea"/>
                <a:cs typeface="+mn-cs"/>
              </a:rPr>
              <a:t>2.3.3  </a:t>
            </a:r>
            <a:r>
              <a:rPr kumimoji="0" lang="zh-CN" altLang="en-US" b="1" i="0" u="none" strike="noStrike" kern="0" cap="none" spc="0" normalizeH="0" baseline="0" noProof="0" dirty="0" smtClean="0">
                <a:ln>
                  <a:noFill/>
                </a:ln>
                <a:solidFill>
                  <a:srgbClr val="009ED6"/>
                </a:solidFill>
                <a:effectLst/>
                <a:uLnTx/>
                <a:uFillTx/>
                <a:latin typeface="+mn-lt"/>
                <a:ea typeface="+mn-ea"/>
                <a:cs typeface="+mn-cs"/>
              </a:rPr>
              <a:t>变量的数据类型</a:t>
            </a:r>
            <a:endParaRPr kumimoji="0" lang="en-US" altLang="zh-CN" b="1" i="0" u="none" strike="noStrike" kern="0" cap="none" spc="0" normalizeH="0" baseline="0" noProof="0" dirty="0" smtClean="0">
              <a:ln>
                <a:noFill/>
              </a:ln>
              <a:solidFill>
                <a:srgbClr val="009ED6"/>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在</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应用程序中，由于数据存储时所需要的容量各不相同，因此，为了区分不同的数据，需要将数据划分为不同的数据类型。</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C</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语言中的数据类型有很多种，具体如图</a:t>
            </a: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2-2</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所示</a:t>
            </a:r>
            <a:r>
              <a:rPr kumimoji="0" lang="zh-CN" altLang="en-US"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a:pP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整型变量</a:t>
            </a:r>
            <a:endParaRPr kumimoji="0" lang="en-US" altLang="zh-CN" sz="15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在</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程序开发中，经常会遇到</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0</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-100</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1024</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等数字</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，这些数字都可称为整型</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。整型</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就是一</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个</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不</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包含小数部分的数</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。在</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C</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语言中，根据</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数值</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的</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取值范围，可以将整型定义为短整型（</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short int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en-US" sz="1050" b="0" i="0" u="none" strike="noStrike" kern="0" cap="none" spc="0" normalizeH="0" baseline="0" noProof="0" dirty="0" smtClean="0">
                <a:ln>
                  <a:noFill/>
                </a:ln>
                <a:solidFill>
                  <a:schemeClr val="tx1"/>
                </a:solidFill>
                <a:effectLst/>
                <a:uLnTx/>
                <a:uFillTx/>
                <a:latin typeface="+mn-lt"/>
                <a:ea typeface="+mn-ea"/>
                <a:cs typeface="+mn-cs"/>
              </a:rPr>
              <a:t>图 </a:t>
            </a: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2-2  </a:t>
            </a:r>
            <a:r>
              <a:rPr kumimoji="0" lang="zh-CN" altLang="en-US" sz="1050" b="0" i="0" u="none" strike="noStrike" kern="0" cap="none" spc="0" normalizeH="0" baseline="0" noProof="0" dirty="0" smtClean="0">
                <a:ln>
                  <a:noFill/>
                </a:ln>
                <a:solidFill>
                  <a:schemeClr val="tx1"/>
                </a:solidFill>
                <a:effectLst/>
                <a:uLnTx/>
                <a:uFillTx/>
                <a:latin typeface="+mn-lt"/>
                <a:ea typeface="+mn-ea"/>
                <a:cs typeface="+mn-cs"/>
              </a:rPr>
              <a:t>数据类型</a:t>
            </a: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基本</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整型（</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int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）和长整型（</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long int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）。表</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2-7</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列举了整数类型</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的</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长度</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及其取值</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范围</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p:txBody>
      </p:sp>
      <p:pic>
        <p:nvPicPr>
          <p:cNvPr id="21508" name="图片 6"/>
          <p:cNvPicPr>
            <a:picLocks noChangeAspect="1"/>
          </p:cNvPicPr>
          <p:nvPr/>
        </p:nvPicPr>
        <p:blipFill>
          <a:blip r:embed="rId1"/>
          <a:stretch>
            <a:fillRect/>
          </a:stretch>
        </p:blipFill>
        <p:spPr>
          <a:xfrm>
            <a:off x="5586413" y="2055019"/>
            <a:ext cx="2071688" cy="1864519"/>
          </a:xfrm>
          <a:prstGeom prst="rect">
            <a:avLst/>
          </a:prstGeom>
          <a:noFill/>
          <a:ln w="9525">
            <a:noFill/>
          </a:ln>
        </p:spPr>
      </p:pic>
      <p:sp>
        <p:nvSpPr>
          <p:cNvPr id="2" name="标题 1"/>
          <p:cNvSpPr>
            <a:spLocks noGrp="1"/>
          </p:cNvSpPr>
          <p:nvPr>
            <p:custDataLst>
              <p:tags r:id="rId2"/>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2.3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常量与变量</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3" name="灯片编号占位符 2"/>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1" name="内容占位符 2"/>
          <p:cNvSpPr>
            <a:spLocks noGrp="1"/>
          </p:cNvSpPr>
          <p:nvPr>
            <p:ph idx="1"/>
          </p:nvPr>
        </p:nvSpPr>
        <p:spPr>
          <a:xfrm>
            <a:off x="1544955" y="3763010"/>
            <a:ext cx="6172200" cy="1223645"/>
          </a:xfrm>
          <a:noFill/>
          <a:ln>
            <a:noFill/>
          </a:ln>
        </p:spPr>
        <p:txBody>
          <a:bodyPr/>
          <a:p>
            <a:pPr marL="0" indent="0" algn="l">
              <a:buNone/>
            </a:pPr>
            <a:r>
              <a:rPr lang="zh-CN" altLang="zh-CN" sz="1500" dirty="0">
                <a:latin typeface="+mn-lt"/>
                <a:ea typeface="+mn-ea"/>
                <a:cs typeface="+mn-cs"/>
              </a:rPr>
              <a:t>需要注意的是，整型数据在内存中占的字节数与所选择的操作系统有关。虽然</a:t>
            </a:r>
            <a:r>
              <a:rPr lang="en-US" altLang="zh-CN" sz="1500" dirty="0">
                <a:latin typeface="+mn-lt"/>
                <a:ea typeface="+mn-ea"/>
                <a:cs typeface="+mn-cs"/>
              </a:rPr>
              <a:t>C</a:t>
            </a:r>
            <a:r>
              <a:rPr lang="zh-CN" altLang="zh-CN" sz="1500" dirty="0">
                <a:latin typeface="+mn-lt"/>
                <a:ea typeface="+mn-ea"/>
                <a:cs typeface="+mn-cs"/>
              </a:rPr>
              <a:t>语言标准中没有明确规定整型数据的长度，但</a:t>
            </a:r>
            <a:r>
              <a:rPr lang="en-US" altLang="zh-CN" sz="1500" dirty="0">
                <a:latin typeface="+mn-lt"/>
                <a:ea typeface="+mn-ea"/>
                <a:cs typeface="+mn-cs"/>
              </a:rPr>
              <a:t>long</a:t>
            </a:r>
            <a:r>
              <a:rPr lang="zh-CN" altLang="zh-CN" sz="1500" dirty="0">
                <a:latin typeface="+mn-lt"/>
                <a:ea typeface="+mn-ea"/>
                <a:cs typeface="+mn-cs"/>
              </a:rPr>
              <a:t>类型整数的长度不能短于</a:t>
            </a:r>
            <a:r>
              <a:rPr lang="en-US" altLang="zh-CN" sz="1500" dirty="0">
                <a:latin typeface="+mn-lt"/>
                <a:ea typeface="+mn-ea"/>
                <a:cs typeface="+mn-cs"/>
              </a:rPr>
              <a:t>int</a:t>
            </a:r>
            <a:r>
              <a:rPr lang="zh-CN" altLang="zh-CN" sz="1500" dirty="0">
                <a:latin typeface="+mn-lt"/>
                <a:ea typeface="+mn-ea"/>
                <a:cs typeface="+mn-cs"/>
              </a:rPr>
              <a:t>类型，</a:t>
            </a:r>
            <a:r>
              <a:rPr lang="en-US" altLang="zh-CN" sz="1500" dirty="0">
                <a:latin typeface="+mn-lt"/>
                <a:ea typeface="+mn-ea"/>
                <a:cs typeface="+mn-cs"/>
              </a:rPr>
              <a:t>short</a:t>
            </a:r>
            <a:r>
              <a:rPr lang="zh-CN" altLang="zh-CN" sz="1500" dirty="0">
                <a:latin typeface="+mn-lt"/>
                <a:ea typeface="+mn-ea"/>
                <a:cs typeface="+mn-cs"/>
              </a:rPr>
              <a:t>类型整数的长度不能短于</a:t>
            </a:r>
            <a:r>
              <a:rPr lang="en-US" altLang="zh-CN" sz="1500" dirty="0">
                <a:latin typeface="+mn-lt"/>
                <a:ea typeface="+mn-ea"/>
                <a:cs typeface="+mn-cs"/>
              </a:rPr>
              <a:t>int</a:t>
            </a:r>
            <a:r>
              <a:rPr lang="zh-CN" altLang="zh-CN" sz="1500" dirty="0">
                <a:latin typeface="+mn-lt"/>
                <a:ea typeface="+mn-ea"/>
                <a:cs typeface="+mn-cs"/>
              </a:rPr>
              <a:t>类型</a:t>
            </a:r>
            <a:r>
              <a:rPr lang="zh-CN" altLang="en-US" sz="1500" dirty="0">
                <a:latin typeface="+mn-lt"/>
                <a:ea typeface="+mn-ea"/>
                <a:cs typeface="+mn-cs"/>
              </a:rPr>
              <a:t>。</a:t>
            </a:r>
            <a:endParaRPr lang="en-US" altLang="zh-CN" sz="1500" dirty="0">
              <a:latin typeface="+mn-lt"/>
              <a:ea typeface="+mn-ea"/>
              <a:cs typeface="+mn-cs"/>
            </a:endParaRPr>
          </a:p>
          <a:p>
            <a:pPr marL="0" indent="0">
              <a:buNone/>
            </a:pPr>
            <a:endParaRPr lang="en-US" altLang="zh-CN" dirty="0">
              <a:latin typeface="+mn-lt"/>
              <a:ea typeface="+mn-ea"/>
              <a:cs typeface="+mn-cs"/>
            </a:endParaRPr>
          </a:p>
          <a:p>
            <a:pPr marL="0" indent="0">
              <a:buNone/>
            </a:pPr>
            <a:r>
              <a:rPr lang="en-US" altLang="zh-CN" dirty="0">
                <a:latin typeface="+mn-lt"/>
                <a:ea typeface="+mn-ea"/>
                <a:cs typeface="+mn-cs"/>
              </a:rPr>
              <a:t>                                                                       </a:t>
            </a:r>
            <a:endParaRPr lang="zh-CN" altLang="en-US" dirty="0">
              <a:latin typeface="+mn-lt"/>
              <a:ea typeface="+mn-ea"/>
              <a:cs typeface="+mn-cs"/>
            </a:endParaRPr>
          </a:p>
          <a:p>
            <a:pPr marL="0" indent="0">
              <a:buNone/>
            </a:pPr>
            <a:endParaRPr lang="en-US" altLang="zh-CN" dirty="0">
              <a:latin typeface="+mn-lt"/>
              <a:ea typeface="+mn-ea"/>
              <a:cs typeface="+mn-cs"/>
            </a:endParaRPr>
          </a:p>
          <a:p>
            <a:pPr marL="457200" lvl="1" indent="0">
              <a:buNone/>
            </a:pPr>
            <a:endParaRPr lang="en-US" altLang="zh-CN" dirty="0">
              <a:latin typeface="+mn-lt"/>
              <a:ea typeface="+mn-ea"/>
            </a:endParaRPr>
          </a:p>
        </p:txBody>
      </p:sp>
      <p:sp>
        <p:nvSpPr>
          <p:cNvPr id="3" name="标题 1"/>
          <p:cNvSpPr>
            <a:spLocks noGrp="1"/>
          </p:cNvSpPr>
          <p:nvPr>
            <p:custDataLst>
              <p:tags r:id="rId1"/>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2.3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常量与变量</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graphicFrame>
        <p:nvGraphicFramePr>
          <p:cNvPr id="4" name="表格 3"/>
          <p:cNvGraphicFramePr/>
          <p:nvPr>
            <p:custDataLst>
              <p:tags r:id="rId2"/>
            </p:custDataLst>
          </p:nvPr>
        </p:nvGraphicFramePr>
        <p:xfrm>
          <a:off x="1432560" y="1191895"/>
          <a:ext cx="6398260" cy="2667000"/>
        </p:xfrm>
        <a:graphic>
          <a:graphicData uri="http://schemas.openxmlformats.org/drawingml/2006/table">
            <a:tbl>
              <a:tblPr firstRow="1" bandRow="1"/>
              <a:tblGrid>
                <a:gridCol w="922020"/>
                <a:gridCol w="1034415"/>
                <a:gridCol w="1600200"/>
                <a:gridCol w="2841625"/>
              </a:tblGrid>
              <a:tr h="324000">
                <a:tc>
                  <a:txBody>
                    <a:bodyPr/>
                    <a:p>
                      <a:pPr algn="ctr">
                        <a:buNone/>
                      </a:pPr>
                      <a:r>
                        <a:rPr lang="zh-CN" sz="1100" kern="100" dirty="0">
                          <a:solidFill>
                            <a:srgbClr val="584E61"/>
                          </a:solidFill>
                          <a:effectLst/>
                          <a:sym typeface="+mn-ea"/>
                        </a:rPr>
                        <a:t>修饰符</a:t>
                      </a:r>
                      <a:endParaRPr lang="zh-CN" altLang="en-US" sz="1100" kern="100" dirty="0">
                        <a:solidFill>
                          <a:srgbClr val="584E61"/>
                        </a:solidFill>
                        <a:effectLst/>
                        <a:sym typeface="+mn-ea"/>
                      </a:endParaRPr>
                    </a:p>
                  </a:txBody>
                  <a:tcPr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p>
                      <a:pPr algn="ctr">
                        <a:buNone/>
                      </a:pPr>
                      <a:r>
                        <a:rPr lang="zh-CN" altLang="en-US" sz="1100">
                          <a:solidFill>
                            <a:srgbClr val="584E61"/>
                          </a:solidFill>
                          <a:ea typeface="宋体" pitchFamily="2" charset="-122"/>
                        </a:rPr>
                        <a:t>数据类型</a:t>
                      </a:r>
                      <a:endParaRPr lang="zh-CN" altLang="en-US" sz="1100">
                        <a:solidFill>
                          <a:srgbClr val="584E61"/>
                        </a:solidFill>
                        <a:ea typeface="宋体" pitchFamily="2" charset="-122"/>
                      </a:endParaRPr>
                    </a:p>
                  </a:txBody>
                  <a:tcPr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p>
                      <a:pPr algn="ctr">
                        <a:buNone/>
                      </a:pPr>
                      <a:r>
                        <a:rPr lang="zh-CN" altLang="en-US" sz="1100">
                          <a:solidFill>
                            <a:srgbClr val="584E61"/>
                          </a:solidFill>
                        </a:rPr>
                        <a:t>占用空间</a:t>
                      </a:r>
                      <a:endParaRPr lang="zh-CN" altLang="en-US" sz="1100">
                        <a:solidFill>
                          <a:srgbClr val="584E61"/>
                        </a:solidFill>
                      </a:endParaRPr>
                    </a:p>
                  </a:txBody>
                  <a:tcPr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p>
                      <a:pPr algn="ctr">
                        <a:buNone/>
                      </a:pPr>
                      <a:r>
                        <a:rPr lang="zh-CN" altLang="en-US" sz="1100">
                          <a:solidFill>
                            <a:srgbClr val="584E61"/>
                          </a:solidFill>
                        </a:rPr>
                        <a:t>取值范围</a:t>
                      </a:r>
                      <a:endParaRPr lang="zh-CN" altLang="en-US" sz="1100">
                        <a:solidFill>
                          <a:srgbClr val="584E61"/>
                        </a:solidFill>
                      </a:endParaRPr>
                    </a:p>
                  </a:txBody>
                  <a:tcPr anchor="ctr" anchorCtr="0">
                    <a:lnL>
                      <a:noFill/>
                    </a:lnL>
                    <a:lnR>
                      <a:noFill/>
                    </a:lnR>
                    <a:lnT w="19050">
                      <a:solidFill>
                        <a:srgbClr val="584E61"/>
                      </a:solidFill>
                      <a:prstDash val="solid"/>
                    </a:lnT>
                    <a:lnB w="19050">
                      <a:solidFill>
                        <a:srgbClr val="584E61"/>
                      </a:solidFill>
                      <a:prstDash val="solid"/>
                    </a:lnB>
                    <a:solidFill>
                      <a:srgbClr val="FFFFFF"/>
                    </a:solidFill>
                  </a:tcPr>
                </a:tc>
              </a:tr>
              <a:tr h="324000">
                <a:tc rowSpan="3">
                  <a:txBody>
                    <a:bodyPr/>
                    <a:p>
                      <a:pPr algn="ctr">
                        <a:buNone/>
                      </a:pPr>
                      <a:r>
                        <a:rPr lang="en-US" sz="1100" kern="100">
                          <a:solidFill>
                            <a:srgbClr val="584E61"/>
                          </a:solidFill>
                          <a:effectLst/>
                          <a:sym typeface="+mn-ea"/>
                        </a:rPr>
                        <a:t>signed</a:t>
                      </a:r>
                      <a:endParaRPr lang="zh-CN" altLang="en-US" sz="1100">
                        <a:solidFill>
                          <a:srgbClr val="584E61"/>
                        </a:solidFill>
                      </a:endParaRPr>
                    </a:p>
                  </a:txBody>
                  <a:tcPr anchor="ctr" anchorCtr="0">
                    <a:lnL>
                      <a:noFill/>
                    </a:lnL>
                    <a:lnR>
                      <a:noFill/>
                    </a:lnR>
                    <a:lnT w="19050">
                      <a:solidFill>
                        <a:srgbClr val="584E61"/>
                      </a:solidFill>
                      <a:prstDash val="solid"/>
                    </a:lnT>
                    <a:lnB>
                      <a:noFill/>
                    </a:lnB>
                    <a:solidFill>
                      <a:srgbClr val="FFFFFF"/>
                    </a:solidFill>
                  </a:tcPr>
                </a:tc>
                <a:tc>
                  <a:txBody>
                    <a:bodyPr/>
                    <a:p>
                      <a:pPr algn="ctr">
                        <a:buNone/>
                      </a:pPr>
                      <a:r>
                        <a:rPr lang="en-US" sz="1100" kern="100" dirty="0">
                          <a:solidFill>
                            <a:srgbClr val="584E61"/>
                          </a:solidFill>
                          <a:effectLst/>
                          <a:sym typeface="+mn-ea"/>
                        </a:rPr>
                        <a:t>short [int]</a:t>
                      </a:r>
                      <a:endParaRPr lang="zh-CN" altLang="en-US" sz="1100">
                        <a:solidFill>
                          <a:srgbClr val="584E61"/>
                        </a:solidFill>
                      </a:endParaRPr>
                    </a:p>
                  </a:txBody>
                  <a:tcPr anchor="ctr" anchorCtr="0">
                    <a:lnL>
                      <a:noFill/>
                    </a:lnL>
                    <a:lnR>
                      <a:noFill/>
                    </a:lnR>
                    <a:lnT w="19050">
                      <a:solidFill>
                        <a:srgbClr val="584E61"/>
                      </a:solidFill>
                      <a:prstDash val="solid"/>
                    </a:lnT>
                    <a:lnB>
                      <a:noFill/>
                    </a:lnB>
                    <a:solidFill>
                      <a:srgbClr val="FFFFFF"/>
                    </a:solidFill>
                  </a:tcPr>
                </a:tc>
                <a:tc>
                  <a:txBody>
                    <a:bodyPr/>
                    <a:p>
                      <a:pPr algn="ctr">
                        <a:buNone/>
                      </a:pPr>
                      <a:r>
                        <a:rPr lang="en-US" sz="1100" kern="100" dirty="0">
                          <a:solidFill>
                            <a:srgbClr val="584E61"/>
                          </a:solidFill>
                          <a:effectLst/>
                          <a:sym typeface="+mn-ea"/>
                        </a:rPr>
                        <a:t>16</a:t>
                      </a:r>
                      <a:r>
                        <a:rPr lang="zh-CN" sz="1100" kern="100" dirty="0">
                          <a:solidFill>
                            <a:srgbClr val="584E61"/>
                          </a:solidFill>
                          <a:effectLst/>
                          <a:sym typeface="+mn-ea"/>
                        </a:rPr>
                        <a:t>位（</a:t>
                      </a:r>
                      <a:r>
                        <a:rPr lang="en-US" sz="1100" kern="100" dirty="0">
                          <a:solidFill>
                            <a:srgbClr val="584E61"/>
                          </a:solidFill>
                          <a:effectLst/>
                          <a:sym typeface="+mn-ea"/>
                        </a:rPr>
                        <a:t>2</a:t>
                      </a:r>
                      <a:r>
                        <a:rPr lang="zh-CN" sz="1100" kern="100" dirty="0">
                          <a:solidFill>
                            <a:srgbClr val="584E61"/>
                          </a:solidFill>
                          <a:effectLst/>
                          <a:sym typeface="+mn-ea"/>
                        </a:rPr>
                        <a:t>个字节）</a:t>
                      </a:r>
                      <a:endParaRPr lang="zh-CN" altLang="en-US" sz="1100">
                        <a:solidFill>
                          <a:srgbClr val="584E61"/>
                        </a:solidFill>
                      </a:endParaRPr>
                    </a:p>
                  </a:txBody>
                  <a:tcPr anchor="ctr" anchorCtr="0">
                    <a:lnL>
                      <a:noFill/>
                    </a:lnL>
                    <a:lnR>
                      <a:noFill/>
                    </a:lnR>
                    <a:lnT w="19050">
                      <a:solidFill>
                        <a:srgbClr val="584E61"/>
                      </a:solidFill>
                      <a:prstDash val="solid"/>
                    </a:lnT>
                    <a:lnB>
                      <a:noFill/>
                    </a:lnB>
                    <a:solidFill>
                      <a:srgbClr val="FFFFFF"/>
                    </a:solidFill>
                  </a:tcPr>
                </a:tc>
                <a:tc>
                  <a:txBody>
                    <a:bodyPr/>
                    <a:p>
                      <a:pPr algn="ctr">
                        <a:buNone/>
                      </a:pPr>
                      <a:r>
                        <a:rPr lang="en-US" sz="1100" kern="100">
                          <a:solidFill>
                            <a:srgbClr val="584E61"/>
                          </a:solidFill>
                          <a:effectLst/>
                          <a:sym typeface="+mn-ea"/>
                        </a:rPr>
                        <a:t>-32768</a:t>
                      </a:r>
                      <a:r>
                        <a:rPr lang="zh-CN" sz="1100" kern="100">
                          <a:solidFill>
                            <a:srgbClr val="584E61"/>
                          </a:solidFill>
                          <a:effectLst/>
                          <a:sym typeface="+mn-ea"/>
                        </a:rPr>
                        <a:t>到</a:t>
                      </a:r>
                      <a:r>
                        <a:rPr lang="en-US" sz="1100" kern="100">
                          <a:solidFill>
                            <a:srgbClr val="584E61"/>
                          </a:solidFill>
                          <a:effectLst/>
                          <a:sym typeface="+mn-ea"/>
                        </a:rPr>
                        <a:t>32767 (-2</a:t>
                      </a:r>
                      <a:r>
                        <a:rPr lang="en-US" sz="1100" kern="100" baseline="30000">
                          <a:solidFill>
                            <a:srgbClr val="584E61"/>
                          </a:solidFill>
                          <a:effectLst/>
                          <a:sym typeface="+mn-ea"/>
                        </a:rPr>
                        <a:t>15</a:t>
                      </a:r>
                      <a:r>
                        <a:rPr lang="en-US" sz="1100" kern="100">
                          <a:solidFill>
                            <a:srgbClr val="584E61"/>
                          </a:solidFill>
                          <a:effectLst/>
                          <a:sym typeface="+mn-ea"/>
                        </a:rPr>
                        <a:t> ~ 2</a:t>
                      </a:r>
                      <a:r>
                        <a:rPr lang="en-US" sz="1100" kern="100" baseline="30000">
                          <a:solidFill>
                            <a:srgbClr val="584E61"/>
                          </a:solidFill>
                          <a:effectLst/>
                          <a:sym typeface="+mn-ea"/>
                        </a:rPr>
                        <a:t>15</a:t>
                      </a:r>
                      <a:r>
                        <a:rPr lang="en-US" sz="1100" kern="100">
                          <a:solidFill>
                            <a:srgbClr val="584E61"/>
                          </a:solidFill>
                          <a:effectLst/>
                          <a:sym typeface="+mn-ea"/>
                        </a:rPr>
                        <a:t>-1)</a:t>
                      </a:r>
                      <a:endParaRPr lang="zh-CN" altLang="en-US" sz="1100">
                        <a:solidFill>
                          <a:srgbClr val="584E61"/>
                        </a:solidFill>
                      </a:endParaRPr>
                    </a:p>
                  </a:txBody>
                  <a:tcPr anchor="ctr" anchorCtr="0">
                    <a:lnL>
                      <a:noFill/>
                    </a:lnL>
                    <a:lnR>
                      <a:noFill/>
                    </a:lnR>
                    <a:lnT w="19050">
                      <a:solidFill>
                        <a:srgbClr val="584E61"/>
                      </a:solidFill>
                      <a:prstDash val="solid"/>
                    </a:lnT>
                    <a:lnB>
                      <a:noFill/>
                    </a:lnB>
                    <a:solidFill>
                      <a:srgbClr val="FFFFFF"/>
                    </a:solidFill>
                  </a:tcPr>
                </a:tc>
              </a:tr>
              <a:tr h="324000">
                <a:tc vMerge="1">
                  <a:tcPr>
                    <a:lnL>
                      <a:noFill/>
                    </a:lnL>
                    <a:lnR>
                      <a:noFill/>
                    </a:lnR>
                    <a:lnT>
                      <a:noFill/>
                    </a:lnT>
                    <a:lnB>
                      <a:noFill/>
                    </a:lnB>
                    <a:solidFill>
                      <a:srgbClr val="F0EFF2"/>
                    </a:solidFill>
                  </a:tcPr>
                </a:tc>
                <a:tc>
                  <a:txBody>
                    <a:bodyPr/>
                    <a:p>
                      <a:pPr algn="ctr">
                        <a:buNone/>
                      </a:pPr>
                      <a:r>
                        <a:rPr lang="en-US" sz="1100" kern="100" dirty="0">
                          <a:solidFill>
                            <a:srgbClr val="584E61"/>
                          </a:solidFill>
                          <a:effectLst/>
                          <a:sym typeface="+mn-ea"/>
                        </a:rPr>
                        <a:t>int</a:t>
                      </a:r>
                      <a:endParaRPr lang="zh-CN" altLang="en-US" sz="1100">
                        <a:solidFill>
                          <a:srgbClr val="584E61"/>
                        </a:solidFill>
                      </a:endParaRPr>
                    </a:p>
                  </a:txBody>
                  <a:tcPr anchor="ctr" anchorCtr="0">
                    <a:lnL>
                      <a:noFill/>
                    </a:lnL>
                    <a:lnR>
                      <a:noFill/>
                    </a:lnR>
                    <a:lnT>
                      <a:noFill/>
                    </a:lnT>
                    <a:lnB>
                      <a:noFill/>
                    </a:lnB>
                    <a:solidFill>
                      <a:srgbClr val="F0EFF2"/>
                    </a:solidFill>
                  </a:tcPr>
                </a:tc>
                <a:tc>
                  <a:txBody>
                    <a:bodyPr/>
                    <a:p>
                      <a:pPr algn="ctr">
                        <a:buNone/>
                      </a:pPr>
                      <a:r>
                        <a:rPr lang="en-US" sz="1100" kern="100">
                          <a:solidFill>
                            <a:srgbClr val="584E61"/>
                          </a:solidFill>
                          <a:effectLst/>
                          <a:sym typeface="+mn-ea"/>
                        </a:rPr>
                        <a:t>32</a:t>
                      </a:r>
                      <a:r>
                        <a:rPr lang="zh-CN" sz="1100" kern="100">
                          <a:solidFill>
                            <a:srgbClr val="584E61"/>
                          </a:solidFill>
                          <a:effectLst/>
                          <a:sym typeface="+mn-ea"/>
                        </a:rPr>
                        <a:t>位（</a:t>
                      </a:r>
                      <a:r>
                        <a:rPr lang="en-US" sz="1100" kern="100">
                          <a:solidFill>
                            <a:srgbClr val="584E61"/>
                          </a:solidFill>
                          <a:effectLst/>
                          <a:sym typeface="+mn-ea"/>
                        </a:rPr>
                        <a:t>4</a:t>
                      </a:r>
                      <a:r>
                        <a:rPr lang="zh-CN" sz="1100" kern="100">
                          <a:solidFill>
                            <a:srgbClr val="584E61"/>
                          </a:solidFill>
                          <a:effectLst/>
                          <a:sym typeface="+mn-ea"/>
                        </a:rPr>
                        <a:t>个字节）</a:t>
                      </a:r>
                      <a:endParaRPr lang="zh-CN" altLang="en-US" sz="1100">
                        <a:solidFill>
                          <a:srgbClr val="584E61"/>
                        </a:solidFill>
                      </a:endParaRPr>
                    </a:p>
                  </a:txBody>
                  <a:tcPr anchor="ctr" anchorCtr="0">
                    <a:lnL>
                      <a:noFill/>
                    </a:lnL>
                    <a:lnR>
                      <a:noFill/>
                    </a:lnR>
                    <a:lnT>
                      <a:noFill/>
                    </a:lnT>
                    <a:lnB>
                      <a:noFill/>
                    </a:lnB>
                    <a:solidFill>
                      <a:srgbClr val="F0EFF2"/>
                    </a:solidFill>
                  </a:tcPr>
                </a:tc>
                <a:tc>
                  <a:txBody>
                    <a:bodyPr/>
                    <a:p>
                      <a:pPr algn="ctr">
                        <a:buNone/>
                      </a:pPr>
                      <a:r>
                        <a:rPr lang="en-US" sz="1100" kern="100">
                          <a:solidFill>
                            <a:srgbClr val="584E61"/>
                          </a:solidFill>
                          <a:effectLst/>
                          <a:sym typeface="+mn-ea"/>
                        </a:rPr>
                        <a:t>-2147483648</a:t>
                      </a:r>
                      <a:r>
                        <a:rPr lang="zh-CN" sz="1100" kern="100">
                          <a:solidFill>
                            <a:srgbClr val="584E61"/>
                          </a:solidFill>
                          <a:effectLst/>
                          <a:sym typeface="+mn-ea"/>
                        </a:rPr>
                        <a:t>到</a:t>
                      </a:r>
                      <a:r>
                        <a:rPr lang="en-US" sz="1100" kern="100">
                          <a:solidFill>
                            <a:srgbClr val="584E61"/>
                          </a:solidFill>
                          <a:effectLst/>
                          <a:sym typeface="+mn-ea"/>
                        </a:rPr>
                        <a:t>2147483647 (-2</a:t>
                      </a:r>
                      <a:r>
                        <a:rPr lang="en-US" sz="1100" kern="100" baseline="30000">
                          <a:solidFill>
                            <a:srgbClr val="584E61"/>
                          </a:solidFill>
                          <a:effectLst/>
                          <a:sym typeface="+mn-ea"/>
                        </a:rPr>
                        <a:t>31</a:t>
                      </a:r>
                      <a:r>
                        <a:rPr lang="en-US" sz="1100" kern="100">
                          <a:solidFill>
                            <a:srgbClr val="584E61"/>
                          </a:solidFill>
                          <a:effectLst/>
                          <a:sym typeface="+mn-ea"/>
                        </a:rPr>
                        <a:t> ~ 2</a:t>
                      </a:r>
                      <a:r>
                        <a:rPr lang="en-US" sz="1100" kern="100" baseline="30000">
                          <a:solidFill>
                            <a:srgbClr val="584E61"/>
                          </a:solidFill>
                          <a:effectLst/>
                          <a:sym typeface="+mn-ea"/>
                        </a:rPr>
                        <a:t>31</a:t>
                      </a:r>
                      <a:r>
                        <a:rPr lang="en-US" sz="1100" kern="100">
                          <a:solidFill>
                            <a:srgbClr val="584E61"/>
                          </a:solidFill>
                          <a:effectLst/>
                          <a:sym typeface="+mn-ea"/>
                        </a:rPr>
                        <a:t>-1)</a:t>
                      </a:r>
                      <a:endParaRPr lang="zh-CN" altLang="en-US" sz="1100">
                        <a:solidFill>
                          <a:srgbClr val="584E61"/>
                        </a:solidFill>
                      </a:endParaRPr>
                    </a:p>
                  </a:txBody>
                  <a:tcPr anchor="ctr" anchorCtr="0">
                    <a:lnL>
                      <a:noFill/>
                    </a:lnL>
                    <a:lnR>
                      <a:noFill/>
                    </a:lnR>
                    <a:lnT>
                      <a:noFill/>
                    </a:lnT>
                    <a:lnB>
                      <a:noFill/>
                    </a:lnB>
                    <a:solidFill>
                      <a:srgbClr val="F0EFF2"/>
                    </a:solidFill>
                  </a:tcPr>
                </a:tc>
              </a:tr>
              <a:tr h="324000">
                <a:tc vMerge="1">
                  <a:tcPr>
                    <a:lnL>
                      <a:noFill/>
                    </a:lnL>
                    <a:lnR>
                      <a:noFill/>
                    </a:lnR>
                    <a:lnT>
                      <a:noFill/>
                    </a:lnT>
                    <a:lnB>
                      <a:noFill/>
                    </a:lnB>
                    <a:solidFill>
                      <a:srgbClr val="FFFFFF"/>
                    </a:solidFill>
                  </a:tcPr>
                </a:tc>
                <a:tc>
                  <a:txBody>
                    <a:bodyPr/>
                    <a:p>
                      <a:pPr algn="ctr">
                        <a:buNone/>
                      </a:pPr>
                      <a:r>
                        <a:rPr lang="en-US" sz="1100" kern="100" dirty="0">
                          <a:solidFill>
                            <a:srgbClr val="584E61"/>
                          </a:solidFill>
                          <a:effectLst/>
                          <a:sym typeface="+mn-ea"/>
                        </a:rPr>
                        <a:t>long [int]</a:t>
                      </a:r>
                      <a:endParaRPr lang="zh-CN" altLang="en-US" sz="1100">
                        <a:solidFill>
                          <a:srgbClr val="584E61"/>
                        </a:solidFill>
                      </a:endParaRPr>
                    </a:p>
                  </a:txBody>
                  <a:tcPr anchor="ctr" anchorCtr="0">
                    <a:lnL>
                      <a:noFill/>
                    </a:lnL>
                    <a:lnR>
                      <a:noFill/>
                    </a:lnR>
                    <a:lnT>
                      <a:noFill/>
                    </a:lnT>
                    <a:lnB>
                      <a:noFill/>
                    </a:lnB>
                    <a:solidFill>
                      <a:srgbClr val="FFFFFF"/>
                    </a:solidFill>
                  </a:tcPr>
                </a:tc>
                <a:tc>
                  <a:txBody>
                    <a:bodyPr/>
                    <a:p>
                      <a:pPr algn="ctr">
                        <a:buNone/>
                      </a:pPr>
                      <a:r>
                        <a:rPr lang="en-US" sz="1100" kern="100">
                          <a:solidFill>
                            <a:srgbClr val="584E61"/>
                          </a:solidFill>
                          <a:effectLst/>
                          <a:sym typeface="+mn-ea"/>
                        </a:rPr>
                        <a:t>32</a:t>
                      </a:r>
                      <a:r>
                        <a:rPr lang="zh-CN" sz="1100" kern="100">
                          <a:solidFill>
                            <a:srgbClr val="584E61"/>
                          </a:solidFill>
                          <a:effectLst/>
                          <a:sym typeface="+mn-ea"/>
                        </a:rPr>
                        <a:t>位（</a:t>
                      </a:r>
                      <a:r>
                        <a:rPr lang="en-US" sz="1100" kern="100">
                          <a:solidFill>
                            <a:srgbClr val="584E61"/>
                          </a:solidFill>
                          <a:effectLst/>
                          <a:sym typeface="+mn-ea"/>
                        </a:rPr>
                        <a:t>4</a:t>
                      </a:r>
                      <a:r>
                        <a:rPr lang="zh-CN" sz="1100" kern="100">
                          <a:solidFill>
                            <a:srgbClr val="584E61"/>
                          </a:solidFill>
                          <a:effectLst/>
                          <a:sym typeface="+mn-ea"/>
                        </a:rPr>
                        <a:t>个字节）</a:t>
                      </a:r>
                      <a:endParaRPr lang="zh-CN" altLang="en-US" sz="1100">
                        <a:solidFill>
                          <a:srgbClr val="584E61"/>
                        </a:solidFill>
                      </a:endParaRPr>
                    </a:p>
                  </a:txBody>
                  <a:tcPr anchor="ctr" anchorCtr="0">
                    <a:lnL>
                      <a:noFill/>
                    </a:lnL>
                    <a:lnR>
                      <a:noFill/>
                    </a:lnR>
                    <a:lnT>
                      <a:noFill/>
                    </a:lnT>
                    <a:lnB>
                      <a:noFill/>
                    </a:lnB>
                    <a:solidFill>
                      <a:srgbClr val="FFFFFF"/>
                    </a:solidFill>
                  </a:tcPr>
                </a:tc>
                <a:tc>
                  <a:txBody>
                    <a:bodyPr/>
                    <a:p>
                      <a:pPr algn="ctr">
                        <a:buNone/>
                      </a:pPr>
                      <a:r>
                        <a:rPr lang="en-US" sz="1100" kern="100">
                          <a:solidFill>
                            <a:srgbClr val="584E61"/>
                          </a:solidFill>
                          <a:effectLst/>
                          <a:sym typeface="+mn-ea"/>
                        </a:rPr>
                        <a:t>-2147483648</a:t>
                      </a:r>
                      <a:r>
                        <a:rPr lang="zh-CN" sz="1100" kern="100">
                          <a:solidFill>
                            <a:srgbClr val="584E61"/>
                          </a:solidFill>
                          <a:effectLst/>
                          <a:sym typeface="+mn-ea"/>
                        </a:rPr>
                        <a:t>到</a:t>
                      </a:r>
                      <a:r>
                        <a:rPr lang="en-US" sz="1100" kern="100">
                          <a:solidFill>
                            <a:srgbClr val="584E61"/>
                          </a:solidFill>
                          <a:effectLst/>
                          <a:sym typeface="+mn-ea"/>
                        </a:rPr>
                        <a:t>2147483647 (-2</a:t>
                      </a:r>
                      <a:r>
                        <a:rPr lang="en-US" sz="1100" kern="100" baseline="30000">
                          <a:solidFill>
                            <a:srgbClr val="584E61"/>
                          </a:solidFill>
                          <a:effectLst/>
                          <a:sym typeface="+mn-ea"/>
                        </a:rPr>
                        <a:t>31</a:t>
                      </a:r>
                      <a:r>
                        <a:rPr lang="en-US" sz="1100" kern="100">
                          <a:solidFill>
                            <a:srgbClr val="584E61"/>
                          </a:solidFill>
                          <a:effectLst/>
                          <a:sym typeface="+mn-ea"/>
                        </a:rPr>
                        <a:t> ~ 2</a:t>
                      </a:r>
                      <a:r>
                        <a:rPr lang="en-US" sz="1100" kern="100" baseline="30000">
                          <a:solidFill>
                            <a:srgbClr val="584E61"/>
                          </a:solidFill>
                          <a:effectLst/>
                          <a:sym typeface="+mn-ea"/>
                        </a:rPr>
                        <a:t>31</a:t>
                      </a:r>
                      <a:r>
                        <a:rPr lang="en-US" sz="1100" kern="100">
                          <a:solidFill>
                            <a:srgbClr val="584E61"/>
                          </a:solidFill>
                          <a:effectLst/>
                          <a:sym typeface="+mn-ea"/>
                        </a:rPr>
                        <a:t>-1)</a:t>
                      </a:r>
                      <a:endParaRPr lang="zh-CN" altLang="en-US" sz="1100">
                        <a:solidFill>
                          <a:srgbClr val="584E61"/>
                        </a:solidFill>
                      </a:endParaRPr>
                    </a:p>
                  </a:txBody>
                  <a:tcPr anchor="ctr" anchorCtr="0">
                    <a:lnL>
                      <a:noFill/>
                    </a:lnL>
                    <a:lnR>
                      <a:noFill/>
                    </a:lnR>
                    <a:lnT>
                      <a:noFill/>
                    </a:lnT>
                    <a:lnB>
                      <a:noFill/>
                    </a:lnB>
                    <a:solidFill>
                      <a:srgbClr val="FFFFFF"/>
                    </a:solidFill>
                  </a:tcPr>
                </a:tc>
              </a:tr>
              <a:tr h="324000">
                <a:tc rowSpan="3">
                  <a:txBody>
                    <a:bodyPr/>
                    <a:p>
                      <a:pPr algn="ctr">
                        <a:buNone/>
                      </a:pPr>
                      <a:r>
                        <a:rPr lang="en-US" sz="1100" kern="100">
                          <a:solidFill>
                            <a:srgbClr val="584E61"/>
                          </a:solidFill>
                          <a:effectLst/>
                          <a:sym typeface="+mn-ea"/>
                        </a:rPr>
                        <a:t>unsigned</a:t>
                      </a:r>
                      <a:endParaRPr lang="zh-CN" altLang="en-US" sz="1100">
                        <a:solidFill>
                          <a:srgbClr val="584E61"/>
                        </a:solidFill>
                      </a:endParaRPr>
                    </a:p>
                  </a:txBody>
                  <a:tcPr anchor="ctr" anchorCtr="0">
                    <a:lnL>
                      <a:noFill/>
                    </a:lnL>
                    <a:lnR>
                      <a:noFill/>
                    </a:lnR>
                    <a:lnT>
                      <a:noFill/>
                    </a:lnT>
                    <a:lnB w="19050">
                      <a:solidFill>
                        <a:srgbClr val="584E61"/>
                      </a:solidFill>
                      <a:prstDash val="solid"/>
                    </a:lnB>
                    <a:solidFill>
                      <a:srgbClr val="F0EFF2"/>
                    </a:solidFill>
                  </a:tcPr>
                </a:tc>
                <a:tc>
                  <a:txBody>
                    <a:bodyPr/>
                    <a:p>
                      <a:pPr algn="ctr">
                        <a:buNone/>
                      </a:pPr>
                      <a:r>
                        <a:rPr lang="en-US" sz="1100" kern="100" dirty="0">
                          <a:solidFill>
                            <a:srgbClr val="584E61"/>
                          </a:solidFill>
                          <a:effectLst/>
                          <a:sym typeface="+mn-ea"/>
                        </a:rPr>
                        <a:t>short [int]</a:t>
                      </a:r>
                      <a:endParaRPr lang="zh-CN" altLang="en-US" sz="1100">
                        <a:solidFill>
                          <a:srgbClr val="584E61"/>
                        </a:solidFill>
                      </a:endParaRPr>
                    </a:p>
                  </a:txBody>
                  <a:tcPr anchor="ctr" anchorCtr="0">
                    <a:lnL>
                      <a:noFill/>
                    </a:lnL>
                    <a:lnR>
                      <a:noFill/>
                    </a:lnR>
                    <a:lnT>
                      <a:noFill/>
                    </a:lnT>
                    <a:lnB>
                      <a:noFill/>
                    </a:lnB>
                    <a:solidFill>
                      <a:srgbClr val="F0EFF2"/>
                    </a:solidFill>
                  </a:tcPr>
                </a:tc>
                <a:tc>
                  <a:txBody>
                    <a:bodyPr/>
                    <a:p>
                      <a:pPr algn="ctr">
                        <a:buNone/>
                      </a:pPr>
                      <a:r>
                        <a:rPr lang="en-US" sz="1100" kern="100">
                          <a:solidFill>
                            <a:srgbClr val="584E61"/>
                          </a:solidFill>
                          <a:effectLst/>
                          <a:sym typeface="+mn-ea"/>
                        </a:rPr>
                        <a:t>16</a:t>
                      </a:r>
                      <a:r>
                        <a:rPr lang="zh-CN" sz="1100" kern="100">
                          <a:solidFill>
                            <a:srgbClr val="584E61"/>
                          </a:solidFill>
                          <a:effectLst/>
                          <a:sym typeface="+mn-ea"/>
                        </a:rPr>
                        <a:t>位（</a:t>
                      </a:r>
                      <a:r>
                        <a:rPr lang="en-US" sz="1100" kern="100">
                          <a:solidFill>
                            <a:srgbClr val="584E61"/>
                          </a:solidFill>
                          <a:effectLst/>
                          <a:sym typeface="+mn-ea"/>
                        </a:rPr>
                        <a:t>2</a:t>
                      </a:r>
                      <a:r>
                        <a:rPr lang="zh-CN" sz="1100" kern="100">
                          <a:solidFill>
                            <a:srgbClr val="584E61"/>
                          </a:solidFill>
                          <a:effectLst/>
                          <a:sym typeface="+mn-ea"/>
                        </a:rPr>
                        <a:t>个字节）</a:t>
                      </a:r>
                      <a:endParaRPr lang="zh-CN" altLang="en-US" sz="1100">
                        <a:solidFill>
                          <a:srgbClr val="584E61"/>
                        </a:solidFill>
                      </a:endParaRPr>
                    </a:p>
                  </a:txBody>
                  <a:tcPr anchor="ctr" anchorCtr="0">
                    <a:lnL>
                      <a:noFill/>
                    </a:lnL>
                    <a:lnR>
                      <a:noFill/>
                    </a:lnR>
                    <a:lnT>
                      <a:noFill/>
                    </a:lnT>
                    <a:lnB>
                      <a:noFill/>
                    </a:lnB>
                    <a:solidFill>
                      <a:srgbClr val="F0EFF2"/>
                    </a:solidFill>
                  </a:tcPr>
                </a:tc>
                <a:tc>
                  <a:txBody>
                    <a:bodyPr/>
                    <a:p>
                      <a:pPr algn="ctr">
                        <a:buNone/>
                      </a:pPr>
                      <a:r>
                        <a:rPr lang="en-US" sz="1100" kern="100">
                          <a:solidFill>
                            <a:srgbClr val="584E61"/>
                          </a:solidFill>
                          <a:effectLst/>
                          <a:sym typeface="+mn-ea"/>
                        </a:rPr>
                        <a:t>0</a:t>
                      </a:r>
                      <a:r>
                        <a:rPr lang="zh-CN" sz="1100" kern="100">
                          <a:solidFill>
                            <a:srgbClr val="584E61"/>
                          </a:solidFill>
                          <a:effectLst/>
                          <a:sym typeface="+mn-ea"/>
                        </a:rPr>
                        <a:t>到</a:t>
                      </a:r>
                      <a:r>
                        <a:rPr lang="en-US" sz="1100" kern="100">
                          <a:solidFill>
                            <a:srgbClr val="584E61"/>
                          </a:solidFill>
                          <a:effectLst/>
                          <a:sym typeface="+mn-ea"/>
                        </a:rPr>
                        <a:t>65535 (0</a:t>
                      </a:r>
                      <a:r>
                        <a:rPr lang="en-US" sz="1100" kern="100" baseline="30000">
                          <a:solidFill>
                            <a:srgbClr val="584E61"/>
                          </a:solidFill>
                          <a:effectLst/>
                          <a:sym typeface="+mn-ea"/>
                        </a:rPr>
                        <a:t> </a:t>
                      </a:r>
                      <a:r>
                        <a:rPr lang="en-US" sz="1100" kern="100">
                          <a:solidFill>
                            <a:srgbClr val="584E61"/>
                          </a:solidFill>
                          <a:effectLst/>
                          <a:sym typeface="+mn-ea"/>
                        </a:rPr>
                        <a:t>~ 2</a:t>
                      </a:r>
                      <a:r>
                        <a:rPr lang="en-US" sz="1100" kern="100" baseline="30000">
                          <a:solidFill>
                            <a:srgbClr val="584E61"/>
                          </a:solidFill>
                          <a:effectLst/>
                          <a:sym typeface="+mn-ea"/>
                        </a:rPr>
                        <a:t>16</a:t>
                      </a:r>
                      <a:r>
                        <a:rPr lang="en-US" sz="1100" kern="100">
                          <a:solidFill>
                            <a:srgbClr val="584E61"/>
                          </a:solidFill>
                          <a:effectLst/>
                          <a:sym typeface="+mn-ea"/>
                        </a:rPr>
                        <a:t>-1)</a:t>
                      </a:r>
                      <a:endParaRPr lang="zh-CN" altLang="en-US" sz="1100">
                        <a:solidFill>
                          <a:srgbClr val="584E61"/>
                        </a:solidFill>
                      </a:endParaRPr>
                    </a:p>
                  </a:txBody>
                  <a:tcPr anchor="ctr" anchorCtr="0">
                    <a:lnL>
                      <a:noFill/>
                    </a:lnL>
                    <a:lnR>
                      <a:noFill/>
                    </a:lnR>
                    <a:lnT>
                      <a:noFill/>
                    </a:lnT>
                    <a:lnB>
                      <a:noFill/>
                    </a:lnB>
                    <a:solidFill>
                      <a:srgbClr val="F0EFF2"/>
                    </a:solidFill>
                  </a:tcPr>
                </a:tc>
              </a:tr>
              <a:tr h="324000">
                <a:tc vMerge="1">
                  <a:tcPr>
                    <a:lnL>
                      <a:noFill/>
                    </a:lnL>
                    <a:lnR>
                      <a:noFill/>
                    </a:lnR>
                    <a:lnT>
                      <a:noFill/>
                    </a:lnT>
                    <a:lnB>
                      <a:noFill/>
                    </a:lnB>
                    <a:solidFill>
                      <a:srgbClr val="FFFFFF"/>
                    </a:solidFill>
                  </a:tcPr>
                </a:tc>
                <a:tc>
                  <a:txBody>
                    <a:bodyPr/>
                    <a:p>
                      <a:pPr algn="ctr">
                        <a:buNone/>
                      </a:pPr>
                      <a:r>
                        <a:rPr lang="en-US" sz="1100" kern="100" dirty="0">
                          <a:solidFill>
                            <a:srgbClr val="584E61"/>
                          </a:solidFill>
                          <a:effectLst/>
                          <a:sym typeface="+mn-ea"/>
                        </a:rPr>
                        <a:t>int</a:t>
                      </a:r>
                      <a:endParaRPr lang="zh-CN" altLang="en-US" sz="1100">
                        <a:solidFill>
                          <a:srgbClr val="584E61"/>
                        </a:solidFill>
                      </a:endParaRPr>
                    </a:p>
                  </a:txBody>
                  <a:tcPr anchor="ctr" anchorCtr="0">
                    <a:lnL>
                      <a:noFill/>
                    </a:lnL>
                    <a:lnR>
                      <a:noFill/>
                    </a:lnR>
                    <a:lnT>
                      <a:noFill/>
                    </a:lnT>
                    <a:lnB>
                      <a:noFill/>
                    </a:lnB>
                    <a:solidFill>
                      <a:srgbClr val="FFFFFF"/>
                    </a:solidFill>
                  </a:tcPr>
                </a:tc>
                <a:tc>
                  <a:txBody>
                    <a:bodyPr/>
                    <a:p>
                      <a:pPr algn="ctr">
                        <a:buNone/>
                      </a:pPr>
                      <a:r>
                        <a:rPr lang="en-US" sz="1100" kern="100">
                          <a:solidFill>
                            <a:srgbClr val="584E61"/>
                          </a:solidFill>
                          <a:effectLst/>
                          <a:sym typeface="+mn-ea"/>
                        </a:rPr>
                        <a:t>32</a:t>
                      </a:r>
                      <a:r>
                        <a:rPr lang="zh-CN" sz="1100" kern="100">
                          <a:solidFill>
                            <a:srgbClr val="584E61"/>
                          </a:solidFill>
                          <a:effectLst/>
                          <a:sym typeface="+mn-ea"/>
                        </a:rPr>
                        <a:t>位（</a:t>
                      </a:r>
                      <a:r>
                        <a:rPr lang="en-US" sz="1100" kern="100">
                          <a:solidFill>
                            <a:srgbClr val="584E61"/>
                          </a:solidFill>
                          <a:effectLst/>
                          <a:sym typeface="+mn-ea"/>
                        </a:rPr>
                        <a:t>4</a:t>
                      </a:r>
                      <a:r>
                        <a:rPr lang="zh-CN" sz="1100" kern="100">
                          <a:solidFill>
                            <a:srgbClr val="584E61"/>
                          </a:solidFill>
                          <a:effectLst/>
                          <a:sym typeface="+mn-ea"/>
                        </a:rPr>
                        <a:t>个字节）</a:t>
                      </a:r>
                      <a:endParaRPr lang="zh-CN" altLang="en-US" sz="1100">
                        <a:solidFill>
                          <a:srgbClr val="584E61"/>
                        </a:solidFill>
                      </a:endParaRPr>
                    </a:p>
                  </a:txBody>
                  <a:tcPr anchor="ctr" anchorCtr="0">
                    <a:lnL>
                      <a:noFill/>
                    </a:lnL>
                    <a:lnR>
                      <a:noFill/>
                    </a:lnR>
                    <a:lnT>
                      <a:noFill/>
                    </a:lnT>
                    <a:lnB>
                      <a:noFill/>
                    </a:lnB>
                    <a:solidFill>
                      <a:srgbClr val="FFFFFF"/>
                    </a:solidFill>
                  </a:tcPr>
                </a:tc>
                <a:tc>
                  <a:txBody>
                    <a:bodyPr/>
                    <a:p>
                      <a:pPr algn="ctr">
                        <a:buNone/>
                      </a:pPr>
                      <a:r>
                        <a:rPr lang="en-US" sz="1100" kern="100">
                          <a:solidFill>
                            <a:srgbClr val="584E61"/>
                          </a:solidFill>
                          <a:effectLst/>
                          <a:sym typeface="+mn-ea"/>
                        </a:rPr>
                        <a:t>0</a:t>
                      </a:r>
                      <a:r>
                        <a:rPr lang="zh-CN" sz="1100" kern="100">
                          <a:solidFill>
                            <a:srgbClr val="584E61"/>
                          </a:solidFill>
                          <a:effectLst/>
                          <a:sym typeface="+mn-ea"/>
                        </a:rPr>
                        <a:t>到</a:t>
                      </a:r>
                      <a:r>
                        <a:rPr lang="en-US" sz="1100" kern="100">
                          <a:solidFill>
                            <a:srgbClr val="584E61"/>
                          </a:solidFill>
                          <a:effectLst/>
                          <a:sym typeface="+mn-ea"/>
                        </a:rPr>
                        <a:t>4294967295 (0 ~ 2</a:t>
                      </a:r>
                      <a:r>
                        <a:rPr lang="en-US" sz="1100" kern="100" baseline="30000">
                          <a:solidFill>
                            <a:srgbClr val="584E61"/>
                          </a:solidFill>
                          <a:effectLst/>
                          <a:sym typeface="+mn-ea"/>
                        </a:rPr>
                        <a:t>32</a:t>
                      </a:r>
                      <a:r>
                        <a:rPr lang="en-US" sz="1100" kern="100">
                          <a:solidFill>
                            <a:srgbClr val="584E61"/>
                          </a:solidFill>
                          <a:effectLst/>
                          <a:sym typeface="+mn-ea"/>
                        </a:rPr>
                        <a:t>-1)</a:t>
                      </a:r>
                      <a:endParaRPr lang="zh-CN" altLang="en-US" sz="1100">
                        <a:solidFill>
                          <a:srgbClr val="584E61"/>
                        </a:solidFill>
                      </a:endParaRPr>
                    </a:p>
                  </a:txBody>
                  <a:tcPr anchor="ctr" anchorCtr="0">
                    <a:lnL>
                      <a:noFill/>
                    </a:lnL>
                    <a:lnR>
                      <a:noFill/>
                    </a:lnR>
                    <a:lnT>
                      <a:noFill/>
                    </a:lnT>
                    <a:lnB>
                      <a:noFill/>
                    </a:lnB>
                    <a:solidFill>
                      <a:srgbClr val="FFFFFF"/>
                    </a:solidFill>
                  </a:tcPr>
                </a:tc>
              </a:tr>
              <a:tr h="324000">
                <a:tc vMerge="1">
                  <a:tcPr>
                    <a:lnL>
                      <a:noFill/>
                    </a:lnL>
                    <a:lnR>
                      <a:noFill/>
                    </a:lnR>
                    <a:lnT>
                      <a:noFill/>
                    </a:lnT>
                    <a:lnB w="19050">
                      <a:solidFill>
                        <a:srgbClr val="584E61"/>
                      </a:solidFill>
                      <a:prstDash val="solid"/>
                    </a:lnB>
                    <a:solidFill>
                      <a:srgbClr val="F0EFF2"/>
                    </a:solidFill>
                  </a:tcPr>
                </a:tc>
                <a:tc>
                  <a:txBody>
                    <a:bodyPr/>
                    <a:p>
                      <a:pPr algn="ctr">
                        <a:buNone/>
                      </a:pPr>
                      <a:r>
                        <a:rPr lang="en-US" sz="1100" kern="100" dirty="0">
                          <a:solidFill>
                            <a:srgbClr val="584E61"/>
                          </a:solidFill>
                          <a:effectLst/>
                          <a:sym typeface="+mn-ea"/>
                        </a:rPr>
                        <a:t>long [int]</a:t>
                      </a:r>
                      <a:endParaRPr lang="zh-CN" altLang="en-US" sz="1100">
                        <a:solidFill>
                          <a:srgbClr val="584E61"/>
                        </a:solidFill>
                      </a:endParaRPr>
                    </a:p>
                  </a:txBody>
                  <a:tcPr anchor="ctr" anchorCtr="0">
                    <a:lnL>
                      <a:noFill/>
                    </a:lnL>
                    <a:lnR>
                      <a:noFill/>
                    </a:lnR>
                    <a:lnT>
                      <a:noFill/>
                    </a:lnT>
                    <a:lnB w="19050">
                      <a:solidFill>
                        <a:srgbClr val="584E61"/>
                      </a:solidFill>
                      <a:prstDash val="solid"/>
                    </a:lnB>
                    <a:solidFill>
                      <a:srgbClr val="F0EFF2"/>
                    </a:solidFill>
                  </a:tcPr>
                </a:tc>
                <a:tc>
                  <a:txBody>
                    <a:bodyPr/>
                    <a:p>
                      <a:pPr algn="ctr">
                        <a:buNone/>
                      </a:pPr>
                      <a:r>
                        <a:rPr lang="en-US" sz="1100" kern="100">
                          <a:solidFill>
                            <a:srgbClr val="584E61"/>
                          </a:solidFill>
                          <a:effectLst/>
                          <a:sym typeface="+mn-ea"/>
                        </a:rPr>
                        <a:t>32</a:t>
                      </a:r>
                      <a:r>
                        <a:rPr lang="zh-CN" sz="1100" kern="100">
                          <a:solidFill>
                            <a:srgbClr val="584E61"/>
                          </a:solidFill>
                          <a:effectLst/>
                          <a:sym typeface="+mn-ea"/>
                        </a:rPr>
                        <a:t>位（</a:t>
                      </a:r>
                      <a:r>
                        <a:rPr lang="en-US" sz="1100" kern="100">
                          <a:solidFill>
                            <a:srgbClr val="584E61"/>
                          </a:solidFill>
                          <a:effectLst/>
                          <a:sym typeface="+mn-ea"/>
                        </a:rPr>
                        <a:t>4</a:t>
                      </a:r>
                      <a:r>
                        <a:rPr lang="zh-CN" sz="1100" kern="100">
                          <a:solidFill>
                            <a:srgbClr val="584E61"/>
                          </a:solidFill>
                          <a:effectLst/>
                          <a:sym typeface="+mn-ea"/>
                        </a:rPr>
                        <a:t>个字节）</a:t>
                      </a:r>
                      <a:endParaRPr lang="zh-CN" altLang="en-US" sz="1100">
                        <a:solidFill>
                          <a:srgbClr val="584E61"/>
                        </a:solidFill>
                      </a:endParaRPr>
                    </a:p>
                  </a:txBody>
                  <a:tcPr anchor="ctr" anchorCtr="0">
                    <a:lnL>
                      <a:noFill/>
                    </a:lnL>
                    <a:lnR>
                      <a:noFill/>
                    </a:lnR>
                    <a:lnT>
                      <a:noFill/>
                    </a:lnT>
                    <a:lnB w="19050">
                      <a:solidFill>
                        <a:srgbClr val="584E61"/>
                      </a:solidFill>
                      <a:prstDash val="solid"/>
                    </a:lnB>
                    <a:solidFill>
                      <a:srgbClr val="F0EFF2"/>
                    </a:solidFill>
                  </a:tcPr>
                </a:tc>
                <a:tc>
                  <a:txBody>
                    <a:bodyPr/>
                    <a:p>
                      <a:pPr algn="ctr">
                        <a:buNone/>
                      </a:pPr>
                      <a:r>
                        <a:rPr lang="en-US" sz="1100" kern="100" dirty="0">
                          <a:solidFill>
                            <a:srgbClr val="584E61"/>
                          </a:solidFill>
                          <a:effectLst/>
                          <a:sym typeface="+mn-ea"/>
                        </a:rPr>
                        <a:t>0</a:t>
                      </a:r>
                      <a:r>
                        <a:rPr lang="zh-CN" sz="1100" kern="100" dirty="0">
                          <a:solidFill>
                            <a:srgbClr val="584E61"/>
                          </a:solidFill>
                          <a:effectLst/>
                          <a:sym typeface="+mn-ea"/>
                        </a:rPr>
                        <a:t>到</a:t>
                      </a:r>
                      <a:r>
                        <a:rPr lang="en-US" sz="1100" kern="100" dirty="0">
                          <a:solidFill>
                            <a:srgbClr val="584E61"/>
                          </a:solidFill>
                          <a:effectLst/>
                          <a:sym typeface="+mn-ea"/>
                        </a:rPr>
                        <a:t>4294967295 (0 ~ 2</a:t>
                      </a:r>
                      <a:r>
                        <a:rPr lang="en-US" sz="1100" kern="100" baseline="30000" dirty="0">
                          <a:solidFill>
                            <a:srgbClr val="584E61"/>
                          </a:solidFill>
                          <a:effectLst/>
                          <a:sym typeface="+mn-ea"/>
                        </a:rPr>
                        <a:t>32</a:t>
                      </a:r>
                      <a:r>
                        <a:rPr lang="en-US" sz="1100" kern="100" dirty="0">
                          <a:solidFill>
                            <a:srgbClr val="584E61"/>
                          </a:solidFill>
                          <a:effectLst/>
                          <a:sym typeface="+mn-ea"/>
                        </a:rPr>
                        <a:t>-1)</a:t>
                      </a:r>
                      <a:endParaRPr lang="zh-CN" altLang="en-US" sz="1100">
                        <a:solidFill>
                          <a:srgbClr val="584E61"/>
                        </a:solidFill>
                      </a:endParaRPr>
                    </a:p>
                  </a:txBody>
                  <a:tcPr anchor="ctr" anchorCtr="0">
                    <a:lnL>
                      <a:noFill/>
                    </a:lnL>
                    <a:lnR>
                      <a:noFill/>
                    </a:lnR>
                    <a:lnT>
                      <a:noFill/>
                    </a:lnT>
                    <a:lnB w="19050">
                      <a:solidFill>
                        <a:srgbClr val="584E61"/>
                      </a:solidFill>
                      <a:prstDash val="solid"/>
                    </a:lnB>
                    <a:solidFill>
                      <a:srgbClr val="F0EFF2"/>
                    </a:solidFill>
                  </a:tcPr>
                </a:tc>
              </a:tr>
            </a:tbl>
          </a:graphicData>
        </a:graphic>
      </p:graphicFrame>
      <p:sp>
        <p:nvSpPr>
          <p:cNvPr id="5" name="文本框 4"/>
          <p:cNvSpPr txBox="1"/>
          <p:nvPr/>
        </p:nvSpPr>
        <p:spPr>
          <a:xfrm>
            <a:off x="2564765" y="810895"/>
            <a:ext cx="4133215" cy="252730"/>
          </a:xfrm>
          <a:prstGeom prst="rect">
            <a:avLst/>
          </a:prstGeom>
          <a:noFill/>
        </p:spPr>
        <p:txBody>
          <a:bodyPr wrap="square" rtlCol="0">
            <a:spAutoFit/>
          </a:bodyPr>
          <a:p>
            <a:pPr algn="ctr"/>
            <a:r>
              <a:rPr lang="zh-CN" altLang="en-US" sz="1050"/>
              <a:t>表</a:t>
            </a:r>
            <a:r>
              <a:rPr lang="en-US" altLang="zh-CN" sz="1050" dirty="0">
                <a:sym typeface="+mn-ea"/>
              </a:rPr>
              <a:t>2-7  </a:t>
            </a:r>
            <a:r>
              <a:rPr lang="zh-CN" altLang="en-US" sz="1050" dirty="0">
                <a:sym typeface="+mn-ea"/>
              </a:rPr>
              <a:t>整数类型的长度及其取值范围</a:t>
            </a:r>
            <a:endParaRPr lang="zh-CN" altLang="en-US" sz="1050"/>
          </a:p>
        </p:txBody>
      </p:sp>
      <p:sp>
        <p:nvSpPr>
          <p:cNvPr id="2" name="灯片编号占位符 1"/>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bwMode="auto">
          <a:xfrm>
            <a:off x="1485900" y="628650"/>
            <a:ext cx="6172200" cy="441007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a:pPr>
            <a:r>
              <a:rPr kumimoji="0" lang="zh-CN" altLang="en-US" sz="1500" b="0" i="0" u="none" strike="noStrike" kern="0" cap="none" spc="0" normalizeH="0" baseline="0" noProof="0" dirty="0" smtClean="0">
                <a:ln>
                  <a:noFill/>
                </a:ln>
                <a:solidFill>
                  <a:schemeClr val="tx1"/>
                </a:solidFill>
                <a:effectLst/>
                <a:uLnTx/>
                <a:uFillTx/>
                <a:latin typeface="+mn-ea"/>
                <a:ea typeface="+mn-ea"/>
                <a:cs typeface="+mn-cs"/>
              </a:rPr>
              <a:t>实型变量</a:t>
            </a: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实</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型变量也可以称为浮点型变量，浮点型变量是用来存储小数数值的。在</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C</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语言中，浮点型变量分为两种：单精度浮点数（</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float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）、双精度浮点数（</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double</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），但是</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double</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型变量所表示的浮点数比</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float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型变量更精确</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a:ln>
                  <a:noFill/>
                </a:ln>
                <a:solidFill>
                  <a:schemeClr val="tx1"/>
                </a:solidFill>
                <a:effectLst/>
                <a:uLnTx/>
                <a:uFillTx/>
                <a:latin typeface="+mn-lt"/>
                <a:ea typeface="+mn-ea"/>
                <a:cs typeface="+mn-cs"/>
              </a:rPr>
              <a:t> </a:t>
            </a: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表</a:t>
            </a: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2-8</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列举了两种不同浮点型数所占用的存储空间大小及取值</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范围</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en-US" sz="1050" b="0" i="0" u="none" strike="noStrike" kern="0" cap="none" spc="0" normalizeH="0" baseline="0" noProof="0" dirty="0" smtClean="0">
                <a:ln>
                  <a:noFill/>
                </a:ln>
                <a:solidFill>
                  <a:schemeClr val="tx1"/>
                </a:solidFill>
                <a:effectLst/>
                <a:uLnTx/>
                <a:uFillTx/>
                <a:latin typeface="+mn-lt"/>
                <a:ea typeface="+mn-ea"/>
                <a:cs typeface="+mn-cs"/>
              </a:rPr>
              <a:t>表</a:t>
            </a: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2-8     </a:t>
            </a:r>
            <a:r>
              <a:rPr kumimoji="0" lang="zh-CN" altLang="en-US" sz="1050" b="0" i="0" u="none" strike="noStrike" kern="0" cap="none" spc="0" normalizeH="0" baseline="0" noProof="0" dirty="0" smtClean="0">
                <a:ln>
                  <a:noFill/>
                </a:ln>
                <a:solidFill>
                  <a:schemeClr val="tx1"/>
                </a:solidFill>
                <a:effectLst/>
                <a:uLnTx/>
                <a:uFillTx/>
                <a:latin typeface="+mn-lt"/>
                <a:ea typeface="+mn-ea"/>
                <a:cs typeface="+mn-cs"/>
              </a:rPr>
              <a:t>浮点型长度及其取值范围</a:t>
            </a: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500" b="0" i="0" u="none" strike="noStrike" kern="0" cap="none" spc="0" normalizeH="0" baseline="0" noProof="0" dirty="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在</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取值范围中，</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E</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表示以</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10</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为底的指数，</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E</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后面的“</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”号和“</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”号代表正指数和负</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指数</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en-US"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p:txBody>
      </p:sp>
      <p:sp>
        <p:nvSpPr>
          <p:cNvPr id="2" name="标题 1"/>
          <p:cNvSpPr>
            <a:spLocks noGrp="1"/>
          </p:cNvSpPr>
          <p:nvPr>
            <p:custDataLst>
              <p:tags r:id="rId1"/>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2.3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常量与变量</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graphicFrame>
        <p:nvGraphicFramePr>
          <p:cNvPr id="4" name="表格 3"/>
          <p:cNvGraphicFramePr/>
          <p:nvPr>
            <p:custDataLst>
              <p:tags r:id="rId2"/>
            </p:custDataLst>
          </p:nvPr>
        </p:nvGraphicFramePr>
        <p:xfrm>
          <a:off x="1371600" y="2900045"/>
          <a:ext cx="6398895" cy="1112520"/>
        </p:xfrm>
        <a:graphic>
          <a:graphicData uri="http://schemas.openxmlformats.org/drawingml/2006/table">
            <a:tbl>
              <a:tblPr firstRow="1" bandRow="1"/>
              <a:tblGrid>
                <a:gridCol w="2132965"/>
                <a:gridCol w="2132965"/>
                <a:gridCol w="2132965"/>
              </a:tblGrid>
              <a:tr h="212400">
                <a:tc>
                  <a:txBody>
                    <a:bodyPr/>
                    <a:p>
                      <a:pPr algn="ctr">
                        <a:buNone/>
                      </a:pPr>
                      <a:r>
                        <a:rPr lang="zh-CN" altLang="en-US" sz="1100">
                          <a:solidFill>
                            <a:srgbClr val="584E61"/>
                          </a:solidFill>
                        </a:rPr>
                        <a:t>类型名</a:t>
                      </a:r>
                      <a:endParaRPr lang="zh-CN" altLang="en-US" sz="1100">
                        <a:solidFill>
                          <a:srgbClr val="584E61"/>
                        </a:solidFill>
                      </a:endParaRPr>
                    </a:p>
                  </a:txBody>
                  <a:tcPr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p>
                      <a:pPr algn="ctr">
                        <a:buNone/>
                      </a:pPr>
                      <a:r>
                        <a:rPr lang="zh-CN" altLang="en-US" sz="1100">
                          <a:solidFill>
                            <a:srgbClr val="584E61"/>
                          </a:solidFill>
                        </a:rPr>
                        <a:t>占用空间</a:t>
                      </a:r>
                      <a:endParaRPr lang="zh-CN" altLang="en-US" sz="1100">
                        <a:solidFill>
                          <a:srgbClr val="584E61"/>
                        </a:solidFill>
                      </a:endParaRPr>
                    </a:p>
                  </a:txBody>
                  <a:tcPr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p>
                      <a:pPr algn="ctr">
                        <a:buNone/>
                      </a:pPr>
                      <a:r>
                        <a:rPr lang="zh-CN" altLang="en-US" sz="1100">
                          <a:solidFill>
                            <a:srgbClr val="584E61"/>
                          </a:solidFill>
                        </a:rPr>
                        <a:t>取值范围</a:t>
                      </a:r>
                      <a:endParaRPr lang="zh-CN" altLang="en-US" sz="1100">
                        <a:solidFill>
                          <a:srgbClr val="584E61"/>
                        </a:solidFill>
                      </a:endParaRPr>
                    </a:p>
                  </a:txBody>
                  <a:tcPr anchor="ctr" anchorCtr="0">
                    <a:lnL>
                      <a:noFill/>
                    </a:lnL>
                    <a:lnR>
                      <a:noFill/>
                    </a:lnR>
                    <a:lnT w="19050">
                      <a:solidFill>
                        <a:srgbClr val="584E61"/>
                      </a:solidFill>
                      <a:prstDash val="solid"/>
                    </a:lnT>
                    <a:lnB w="19050">
                      <a:solidFill>
                        <a:srgbClr val="584E61"/>
                      </a:solidFill>
                      <a:prstDash val="solid"/>
                    </a:lnB>
                    <a:solidFill>
                      <a:srgbClr val="FFFFFF"/>
                    </a:solidFill>
                  </a:tcPr>
                </a:tc>
              </a:tr>
              <a:tr h="212400">
                <a:tc>
                  <a:txBody>
                    <a:bodyPr/>
                    <a:p>
                      <a:pPr algn="ctr">
                        <a:buNone/>
                      </a:pPr>
                      <a:r>
                        <a:rPr lang="en-US" sz="1100" kern="0" dirty="0">
                          <a:solidFill>
                            <a:srgbClr val="584E61"/>
                          </a:solidFill>
                          <a:effectLst/>
                          <a:sym typeface="+mn-ea"/>
                        </a:rPr>
                        <a:t>float</a:t>
                      </a:r>
                      <a:endParaRPr lang="zh-CN" altLang="en-US" sz="1100">
                        <a:solidFill>
                          <a:srgbClr val="584E61"/>
                        </a:solidFill>
                      </a:endParaRPr>
                    </a:p>
                  </a:txBody>
                  <a:tcPr anchor="ctr" anchorCtr="0">
                    <a:lnL>
                      <a:noFill/>
                    </a:lnL>
                    <a:lnR>
                      <a:noFill/>
                    </a:lnR>
                    <a:lnT w="19050">
                      <a:solidFill>
                        <a:srgbClr val="584E61"/>
                      </a:solidFill>
                      <a:prstDash val="solid"/>
                    </a:lnT>
                    <a:lnB>
                      <a:noFill/>
                    </a:lnB>
                    <a:solidFill>
                      <a:srgbClr val="FFFFFF"/>
                    </a:solidFill>
                  </a:tcPr>
                </a:tc>
                <a:tc>
                  <a:txBody>
                    <a:bodyPr/>
                    <a:p>
                      <a:pPr algn="ctr">
                        <a:buNone/>
                      </a:pPr>
                      <a:r>
                        <a:rPr lang="en-US" sz="1100" kern="0">
                          <a:solidFill>
                            <a:srgbClr val="584E61"/>
                          </a:solidFill>
                          <a:effectLst/>
                          <a:sym typeface="+mn-ea"/>
                        </a:rPr>
                        <a:t>32</a:t>
                      </a:r>
                      <a:r>
                        <a:rPr lang="zh-CN" sz="1100" kern="0">
                          <a:solidFill>
                            <a:srgbClr val="584E61"/>
                          </a:solidFill>
                          <a:effectLst/>
                          <a:sym typeface="+mn-ea"/>
                        </a:rPr>
                        <a:t>位（</a:t>
                      </a:r>
                      <a:r>
                        <a:rPr lang="en-US" sz="1100" kern="0">
                          <a:solidFill>
                            <a:srgbClr val="584E61"/>
                          </a:solidFill>
                          <a:effectLst/>
                          <a:sym typeface="+mn-ea"/>
                        </a:rPr>
                        <a:t>4</a:t>
                      </a:r>
                      <a:r>
                        <a:rPr lang="zh-CN" sz="1100" kern="0">
                          <a:solidFill>
                            <a:srgbClr val="584E61"/>
                          </a:solidFill>
                          <a:effectLst/>
                          <a:sym typeface="+mn-ea"/>
                        </a:rPr>
                        <a:t>个字节）</a:t>
                      </a:r>
                      <a:endParaRPr lang="zh-CN" altLang="en-US" sz="1100">
                        <a:solidFill>
                          <a:srgbClr val="584E61"/>
                        </a:solidFill>
                      </a:endParaRPr>
                    </a:p>
                  </a:txBody>
                  <a:tcPr anchor="ctr" anchorCtr="0">
                    <a:lnL>
                      <a:noFill/>
                    </a:lnL>
                    <a:lnR>
                      <a:noFill/>
                    </a:lnR>
                    <a:lnT w="19050">
                      <a:solidFill>
                        <a:srgbClr val="584E61"/>
                      </a:solidFill>
                      <a:prstDash val="solid"/>
                    </a:lnT>
                    <a:lnB>
                      <a:noFill/>
                    </a:lnB>
                    <a:solidFill>
                      <a:srgbClr val="FFFFFF"/>
                    </a:solidFill>
                  </a:tcPr>
                </a:tc>
                <a:tc>
                  <a:txBody>
                    <a:bodyPr/>
                    <a:p>
                      <a:pPr algn="l">
                        <a:buNone/>
                      </a:pPr>
                      <a:r>
                        <a:rPr lang="en-US" sz="1100" kern="0" dirty="0">
                          <a:solidFill>
                            <a:srgbClr val="584E61"/>
                          </a:solidFill>
                          <a:effectLst/>
                          <a:sym typeface="+mn-ea"/>
                        </a:rPr>
                        <a:t>1.4E-45 </a:t>
                      </a:r>
                      <a:r>
                        <a:rPr lang="zh-CN" sz="1100" kern="0" dirty="0">
                          <a:solidFill>
                            <a:srgbClr val="584E61"/>
                          </a:solidFill>
                          <a:effectLst/>
                          <a:sym typeface="+mn-ea"/>
                        </a:rPr>
                        <a:t>～</a:t>
                      </a:r>
                      <a:r>
                        <a:rPr lang="en-US" sz="1100" kern="0" dirty="0">
                          <a:solidFill>
                            <a:srgbClr val="584E61"/>
                          </a:solidFill>
                          <a:effectLst/>
                          <a:sym typeface="+mn-ea"/>
                        </a:rPr>
                        <a:t> 3.4E+38</a:t>
                      </a:r>
                      <a:r>
                        <a:rPr lang="zh-CN" sz="1100" kern="0" dirty="0">
                          <a:solidFill>
                            <a:srgbClr val="584E61"/>
                          </a:solidFill>
                          <a:effectLst/>
                          <a:sym typeface="+mn-ea"/>
                        </a:rPr>
                        <a:t>，</a:t>
                      </a:r>
                      <a:r>
                        <a:rPr lang="en-US" sz="1100" kern="0" dirty="0">
                          <a:solidFill>
                            <a:srgbClr val="584E61"/>
                          </a:solidFill>
                          <a:effectLst/>
                          <a:sym typeface="+mn-ea"/>
                        </a:rPr>
                        <a:t>-1.4E-45  </a:t>
                      </a:r>
                      <a:r>
                        <a:rPr lang="zh-CN" sz="1100" kern="0" dirty="0">
                          <a:solidFill>
                            <a:srgbClr val="584E61"/>
                          </a:solidFill>
                          <a:effectLst/>
                          <a:sym typeface="+mn-ea"/>
                        </a:rPr>
                        <a:t>～</a:t>
                      </a:r>
                      <a:r>
                        <a:rPr lang="en-US" sz="1100" kern="0" dirty="0">
                          <a:solidFill>
                            <a:srgbClr val="584E61"/>
                          </a:solidFill>
                          <a:effectLst/>
                          <a:sym typeface="+mn-ea"/>
                        </a:rPr>
                        <a:t> -3.4E+38</a:t>
                      </a:r>
                      <a:endParaRPr lang="zh-CN" altLang="en-US" sz="1100">
                        <a:solidFill>
                          <a:srgbClr val="584E61"/>
                        </a:solidFill>
                      </a:endParaRPr>
                    </a:p>
                  </a:txBody>
                  <a:tcPr anchor="ctr" anchorCtr="0">
                    <a:lnL>
                      <a:noFill/>
                    </a:lnL>
                    <a:lnR>
                      <a:noFill/>
                    </a:lnR>
                    <a:lnT w="19050">
                      <a:solidFill>
                        <a:srgbClr val="584E61"/>
                      </a:solidFill>
                      <a:prstDash val="solid"/>
                    </a:lnT>
                    <a:lnB>
                      <a:noFill/>
                    </a:lnB>
                    <a:solidFill>
                      <a:srgbClr val="FFFFFF"/>
                    </a:solidFill>
                  </a:tcPr>
                </a:tc>
              </a:tr>
              <a:tr h="212400">
                <a:tc>
                  <a:txBody>
                    <a:bodyPr/>
                    <a:p>
                      <a:pPr algn="ctr">
                        <a:buNone/>
                      </a:pPr>
                      <a:r>
                        <a:rPr lang="en-US" sz="1100" kern="0" dirty="0">
                          <a:solidFill>
                            <a:srgbClr val="584E61"/>
                          </a:solidFill>
                          <a:effectLst/>
                          <a:sym typeface="+mn-ea"/>
                        </a:rPr>
                        <a:t>double</a:t>
                      </a:r>
                      <a:endParaRPr lang="zh-CN" altLang="en-US" sz="1100">
                        <a:solidFill>
                          <a:srgbClr val="584E61"/>
                        </a:solidFill>
                      </a:endParaRPr>
                    </a:p>
                  </a:txBody>
                  <a:tcPr anchor="ctr" anchorCtr="0">
                    <a:lnL>
                      <a:noFill/>
                    </a:lnL>
                    <a:lnR>
                      <a:noFill/>
                    </a:lnR>
                    <a:lnT>
                      <a:noFill/>
                    </a:lnT>
                    <a:lnB w="19050">
                      <a:solidFill>
                        <a:srgbClr val="584E61"/>
                      </a:solidFill>
                      <a:prstDash val="solid"/>
                    </a:lnB>
                    <a:solidFill>
                      <a:srgbClr val="F0EFF2"/>
                    </a:solidFill>
                  </a:tcPr>
                </a:tc>
                <a:tc>
                  <a:txBody>
                    <a:bodyPr/>
                    <a:p>
                      <a:pPr algn="ctr">
                        <a:buNone/>
                      </a:pPr>
                      <a:r>
                        <a:rPr lang="en-US" sz="1100" kern="0" dirty="0">
                          <a:solidFill>
                            <a:srgbClr val="584E61"/>
                          </a:solidFill>
                          <a:effectLst/>
                          <a:sym typeface="+mn-ea"/>
                        </a:rPr>
                        <a:t>64</a:t>
                      </a:r>
                      <a:r>
                        <a:rPr lang="zh-CN" sz="1100" kern="0" dirty="0">
                          <a:solidFill>
                            <a:srgbClr val="584E61"/>
                          </a:solidFill>
                          <a:effectLst/>
                          <a:sym typeface="+mn-ea"/>
                        </a:rPr>
                        <a:t>位（</a:t>
                      </a:r>
                      <a:r>
                        <a:rPr lang="en-US" sz="1100" kern="0" dirty="0">
                          <a:solidFill>
                            <a:srgbClr val="584E61"/>
                          </a:solidFill>
                          <a:effectLst/>
                          <a:sym typeface="+mn-ea"/>
                        </a:rPr>
                        <a:t>8</a:t>
                      </a:r>
                      <a:r>
                        <a:rPr lang="zh-CN" sz="1100" kern="0" dirty="0">
                          <a:solidFill>
                            <a:srgbClr val="584E61"/>
                          </a:solidFill>
                          <a:effectLst/>
                          <a:sym typeface="+mn-ea"/>
                        </a:rPr>
                        <a:t>个字节）</a:t>
                      </a:r>
                      <a:endParaRPr lang="zh-CN" altLang="en-US" sz="1100">
                        <a:solidFill>
                          <a:srgbClr val="584E61"/>
                        </a:solidFill>
                      </a:endParaRPr>
                    </a:p>
                  </a:txBody>
                  <a:tcPr anchor="ctr" anchorCtr="0">
                    <a:lnL>
                      <a:noFill/>
                    </a:lnL>
                    <a:lnR>
                      <a:noFill/>
                    </a:lnR>
                    <a:lnT>
                      <a:noFill/>
                    </a:lnT>
                    <a:lnB w="19050">
                      <a:solidFill>
                        <a:srgbClr val="584E61"/>
                      </a:solidFill>
                      <a:prstDash val="solid"/>
                    </a:lnB>
                    <a:solidFill>
                      <a:srgbClr val="F0EFF2"/>
                    </a:solidFill>
                  </a:tcPr>
                </a:tc>
                <a:tc>
                  <a:txBody>
                    <a:bodyPr/>
                    <a:p>
                      <a:pPr algn="l">
                        <a:buNone/>
                      </a:pPr>
                      <a:r>
                        <a:rPr lang="en-US" sz="1100" kern="0" dirty="0">
                          <a:solidFill>
                            <a:srgbClr val="584E61"/>
                          </a:solidFill>
                          <a:effectLst/>
                          <a:sym typeface="+mn-ea"/>
                        </a:rPr>
                        <a:t>4.9E-324 </a:t>
                      </a:r>
                      <a:r>
                        <a:rPr lang="zh-CN" sz="1100" kern="0" dirty="0">
                          <a:solidFill>
                            <a:srgbClr val="584E61"/>
                          </a:solidFill>
                          <a:effectLst/>
                          <a:sym typeface="+mn-ea"/>
                        </a:rPr>
                        <a:t>～</a:t>
                      </a:r>
                      <a:r>
                        <a:rPr lang="en-US" sz="1100" kern="0" dirty="0">
                          <a:solidFill>
                            <a:srgbClr val="584E61"/>
                          </a:solidFill>
                          <a:effectLst/>
                          <a:sym typeface="+mn-ea"/>
                        </a:rPr>
                        <a:t> 1.7E+308, -4.9E-324  </a:t>
                      </a:r>
                      <a:r>
                        <a:rPr lang="zh-CN" sz="1100" kern="0" dirty="0">
                          <a:solidFill>
                            <a:srgbClr val="584E61"/>
                          </a:solidFill>
                          <a:effectLst/>
                          <a:sym typeface="+mn-ea"/>
                        </a:rPr>
                        <a:t>～</a:t>
                      </a:r>
                      <a:r>
                        <a:rPr lang="en-US" sz="1100" kern="0" dirty="0">
                          <a:solidFill>
                            <a:srgbClr val="584E61"/>
                          </a:solidFill>
                          <a:effectLst/>
                          <a:sym typeface="+mn-ea"/>
                        </a:rPr>
                        <a:t> -1.7E+308</a:t>
                      </a:r>
                      <a:endParaRPr lang="zh-CN" altLang="en-US" sz="1100">
                        <a:solidFill>
                          <a:srgbClr val="584E61"/>
                        </a:solidFill>
                      </a:endParaRPr>
                    </a:p>
                  </a:txBody>
                  <a:tcPr anchor="ctr" anchorCtr="0">
                    <a:lnL>
                      <a:noFill/>
                    </a:lnL>
                    <a:lnR>
                      <a:noFill/>
                    </a:lnR>
                    <a:lnT>
                      <a:noFill/>
                    </a:lnT>
                    <a:lnB w="19050">
                      <a:solidFill>
                        <a:srgbClr val="584E61"/>
                      </a:solidFill>
                      <a:prstDash val="solid"/>
                    </a:lnB>
                    <a:solidFill>
                      <a:srgbClr val="F0EFF2"/>
                    </a:solidFill>
                  </a:tcPr>
                </a:tc>
              </a:tr>
            </a:tbl>
          </a:graphicData>
        </a:graphic>
      </p:graphicFrame>
      <p:sp>
        <p:nvSpPr>
          <p:cNvPr id="3" name="灯片编号占位符 2"/>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bwMode="auto">
          <a:xfrm>
            <a:off x="1485900" y="628650"/>
            <a:ext cx="6172200" cy="441007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为了</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让读者更好地理解浮点型数据在内存中的存储方式，接下来以单精度浮点数为例进行详细讲解，如图</a:t>
            </a: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2-3</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所示</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在</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图</a:t>
            </a: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2-3</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中</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，浮点数包含符号位、小数位和</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指</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数位</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三部分。例如，小数</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3.14159</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在内存中的</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符号</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位</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为“</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”，小数部分为</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.31415</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，指数位为</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1</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连</a:t>
            </a: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en-US" sz="1050" b="0" i="0" u="none" strike="noStrike" kern="0" cap="none" spc="0" normalizeH="0" baseline="0" noProof="0" dirty="0" smtClean="0">
                <a:ln>
                  <a:noFill/>
                </a:ln>
                <a:solidFill>
                  <a:schemeClr val="tx1"/>
                </a:solidFill>
                <a:effectLst/>
                <a:uLnTx/>
                <a:uFillTx/>
                <a:latin typeface="+mn-lt"/>
                <a:ea typeface="+mn-ea"/>
                <a:cs typeface="+mn-cs"/>
              </a:rPr>
              <a:t>图</a:t>
            </a:r>
            <a:r>
              <a:rPr kumimoji="0" lang="en-US" altLang="zh-CN" sz="1050" b="0" i="0" u="none" strike="noStrike" kern="0" cap="none" spc="0" normalizeH="0" baseline="0" noProof="0" dirty="0">
                <a:ln>
                  <a:noFill/>
                </a:ln>
                <a:solidFill>
                  <a:schemeClr val="tx1"/>
                </a:solidFill>
                <a:effectLst/>
                <a:uLnTx/>
                <a:uFillTx/>
                <a:latin typeface="+mn-lt"/>
                <a:ea typeface="+mn-ea"/>
                <a:cs typeface="+mn-cs"/>
              </a:rPr>
              <a:t>2-3  </a:t>
            </a:r>
            <a:r>
              <a:rPr kumimoji="0" lang="zh-CN" altLang="en-US" sz="1050" b="0" i="0" u="none" strike="noStrike" kern="0" cap="none" spc="0" normalizeH="0" baseline="0" noProof="0" dirty="0">
                <a:ln>
                  <a:noFill/>
                </a:ln>
                <a:solidFill>
                  <a:schemeClr val="tx1"/>
                </a:solidFill>
                <a:effectLst/>
                <a:uLnTx/>
                <a:uFillTx/>
                <a:latin typeface="+mn-lt"/>
                <a:ea typeface="+mn-ea"/>
                <a:cs typeface="+mn-cs"/>
              </a:rPr>
              <a:t>单精度浮数</a:t>
            </a:r>
            <a:r>
              <a:rPr kumimoji="0" lang="zh-CN" altLang="en-US" sz="1050" b="0" i="0" u="none" strike="noStrike" kern="0" cap="none" spc="0" normalizeH="0" baseline="0" noProof="0" dirty="0" smtClean="0">
                <a:ln>
                  <a:noFill/>
                </a:ln>
                <a:solidFill>
                  <a:schemeClr val="tx1"/>
                </a:solidFill>
                <a:effectLst/>
                <a:uLnTx/>
                <a:uFillTx/>
                <a:latin typeface="+mn-lt"/>
                <a:ea typeface="+mn-ea"/>
                <a:cs typeface="+mn-cs"/>
              </a:rPr>
              <a:t>存储</a:t>
            </a: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方式</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接</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在一起即</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为</a:t>
            </a: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0.314159 * 10</a:t>
            </a:r>
            <a:r>
              <a:rPr kumimoji="0" lang="en-US" altLang="zh-CN" sz="1500" b="0" i="0" u="none" strike="noStrike" kern="0" cap="none" spc="0" normalizeH="0" baseline="30000" noProof="0" dirty="0">
                <a:ln>
                  <a:noFill/>
                </a:ln>
                <a:solidFill>
                  <a:schemeClr val="tx1"/>
                </a:solidFill>
                <a:effectLst/>
                <a:uLnTx/>
                <a:uFillTx/>
                <a:latin typeface="+mn-lt"/>
                <a:ea typeface="+mn-ea"/>
                <a:cs typeface="+mn-cs"/>
              </a:rPr>
              <a:t>1  </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en-US" altLang="zh-CN" sz="1500" b="0" i="0" u="none" strike="noStrike" kern="0" cap="none" spc="0" normalizeH="0" baseline="30000" noProof="0" dirty="0">
                <a:ln>
                  <a:noFill/>
                </a:ln>
                <a:solidFill>
                  <a:schemeClr val="tx1"/>
                </a:solidFill>
                <a:effectLst/>
                <a:uLnTx/>
                <a:uFillTx/>
                <a:latin typeface="+mn-lt"/>
                <a:ea typeface="+mn-ea"/>
                <a:cs typeface="+mn-cs"/>
              </a:rPr>
              <a:t>  </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3.14159</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a:ln>
                  <a:noFill/>
                </a:ln>
                <a:solidFill>
                  <a:schemeClr val="tx1"/>
                </a:solidFill>
                <a:effectLst/>
                <a:uLnTx/>
                <a:uFillTx/>
                <a:latin typeface="+mn-lt"/>
                <a:ea typeface="+mn-ea"/>
                <a:cs typeface="+mn-cs"/>
              </a:rPr>
              <a:t> </a:t>
            </a: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在</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C</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语言中，一个小数会被默认为</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double</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类型的值，因此在为一个</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float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类型的变量赋值时需要注意一点，所赋值的后面一定要加上字母“</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F</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”（或者小写“</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f</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”），而为</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double</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类型的变量赋值时，其所赋值后面的字符“</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D</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”（或小写“</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d</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”），可以</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省略</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en-US"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p:txBody>
      </p:sp>
      <p:pic>
        <p:nvPicPr>
          <p:cNvPr id="24580" name="图片 1"/>
          <p:cNvPicPr>
            <a:picLocks noChangeAspect="1"/>
          </p:cNvPicPr>
          <p:nvPr/>
        </p:nvPicPr>
        <p:blipFill>
          <a:blip r:embed="rId1"/>
          <a:stretch>
            <a:fillRect/>
          </a:stretch>
        </p:blipFill>
        <p:spPr>
          <a:xfrm>
            <a:off x="5699522" y="1128713"/>
            <a:ext cx="1933575" cy="1038225"/>
          </a:xfrm>
          <a:prstGeom prst="rect">
            <a:avLst/>
          </a:prstGeom>
          <a:noFill/>
          <a:ln w="9525">
            <a:noFill/>
          </a:ln>
        </p:spPr>
      </p:pic>
      <p:sp>
        <p:nvSpPr>
          <p:cNvPr id="2" name="标题 1"/>
          <p:cNvSpPr>
            <a:spLocks noGrp="1"/>
          </p:cNvSpPr>
          <p:nvPr>
            <p:custDataLst>
              <p:tags r:id="rId2"/>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2.3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常量与变量</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3" name="灯片编号占位符 2"/>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5" name="内容占位符 2"/>
          <p:cNvSpPr>
            <a:spLocks noGrp="1"/>
          </p:cNvSpPr>
          <p:nvPr>
            <p:ph idx="1"/>
          </p:nvPr>
        </p:nvSpPr>
        <p:spPr bwMode="auto">
          <a:xfrm>
            <a:off x="1485900" y="800100"/>
            <a:ext cx="6218635" cy="4040981"/>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Tx/>
              <a:buChar char="•"/>
              <a:defRPr/>
            </a:pPr>
            <a:endParaRPr kumimoji="0" lang="en-US" altLang="zh-CN"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50000"/>
              </a:lnSpc>
              <a:spcBef>
                <a:spcPct val="20000"/>
              </a:spcBef>
              <a:spcAft>
                <a:spcPct val="0"/>
              </a:spcAft>
              <a:buClrTx/>
              <a:buSzTx/>
              <a:buFontTx/>
              <a:buChar char="•"/>
              <a:defRPr/>
            </a:pPr>
            <a:r>
              <a:rPr kumimoji="0" lang="en-US" altLang="zh-CN"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float</a:t>
            </a:r>
            <a:r>
              <a:rPr kumimoji="0" lang="zh-CN" altLang="zh-CN"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和</a:t>
            </a:r>
            <a:r>
              <a:rPr kumimoji="0" lang="en-US" altLang="zh-CN"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double</a:t>
            </a:r>
            <a:r>
              <a:rPr kumimoji="0" lang="zh-CN" altLang="zh-CN"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之间的数据</a:t>
            </a:r>
            <a:r>
              <a:rPr kumimoji="0" lang="zh-CN" altLang="zh-CN"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转换</a:t>
            </a:r>
            <a:r>
              <a:rPr kumimoji="0" lang="zh-CN" altLang="en-US"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由于</a:t>
            </a:r>
            <a:r>
              <a:rPr kumimoji="0" lang="zh-CN" altLang="zh-CN"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浮点型变量是由有限的存储单元组成的，因此只能提供有限的有效数字。在有效位以外的数字将被舍去，这样可能会产生一些误差，例如，将</a:t>
            </a:r>
            <a:r>
              <a:rPr kumimoji="0" lang="en-US" altLang="zh-CN"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3.1415926</a:t>
            </a:r>
            <a:r>
              <a:rPr kumimoji="0" lang="zh-CN" altLang="zh-CN"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赋给一个</a:t>
            </a:r>
            <a:r>
              <a:rPr kumimoji="0" lang="en-US" altLang="zh-CN"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float</a:t>
            </a:r>
            <a:r>
              <a:rPr kumimoji="0" lang="zh-CN" altLang="zh-CN"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型变量，</a:t>
            </a:r>
            <a:r>
              <a:rPr kumimoji="0" lang="zh-CN" altLang="zh-CN"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但它</a:t>
            </a:r>
            <a:r>
              <a:rPr kumimoji="0" lang="zh-CN" altLang="zh-CN"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只能保证前</a:t>
            </a:r>
            <a:r>
              <a:rPr kumimoji="0" lang="en-US" altLang="zh-CN"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7</a:t>
            </a:r>
            <a:r>
              <a:rPr kumimoji="0" lang="zh-CN" altLang="zh-CN"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位是有效</a:t>
            </a:r>
            <a:r>
              <a:rPr kumimoji="0" lang="zh-CN" altLang="zh-CN"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的</a:t>
            </a:r>
            <a:r>
              <a:rPr kumimoji="0" lang="zh-CN" altLang="en-US"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a:t>
            </a:r>
            <a:endParaRPr kumimoji="0" lang="zh-CN" altLang="en-US"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p:txBody>
      </p:sp>
      <p:sp>
        <p:nvSpPr>
          <p:cNvPr id="11" name="标题 1"/>
          <p:cNvSpPr>
            <a:spLocks noGrp="1"/>
          </p:cNvSpPr>
          <p:nvPr>
            <p:custDataLst>
              <p:tags r:id="rId1"/>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2.3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常量与变量</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2" name="灯片编号占位符 1"/>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bwMode="auto">
          <a:xfrm>
            <a:off x="1485900" y="628650"/>
            <a:ext cx="6172200" cy="441007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a:pPr>
            <a:r>
              <a:rPr kumimoji="0" lang="zh-CN" altLang="en-US" sz="1500" b="0" i="0" u="none" strike="noStrike" kern="0" cap="none" spc="0" normalizeH="0" baseline="0" noProof="0" dirty="0" smtClean="0">
                <a:ln>
                  <a:noFill/>
                </a:ln>
                <a:solidFill>
                  <a:schemeClr val="tx1"/>
                </a:solidFill>
                <a:effectLst/>
                <a:uLnTx/>
                <a:uFillTx/>
                <a:latin typeface="+mn-ea"/>
                <a:ea typeface="+mn-ea"/>
                <a:cs typeface="+mn-cs"/>
              </a:rPr>
              <a:t>字符型变量</a:t>
            </a: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字符型</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变量用于存储一个单一字符，在</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C</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语言中用</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char</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表示，其中每个字符变量都会占用</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2</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个字节。在给字符型变量赋值时，需要用一对英文半角格式的单引号</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把字符括</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起来</a:t>
            </a: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例如</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‘A’</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的声明如下</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所</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示</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上述</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代码中，将字符常量</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放到字符变量</a:t>
            </a:r>
            <a:r>
              <a:rPr kumimoji="0" lang="en-US" altLang="zh-CN" sz="1500" b="0" i="0" u="none" strike="noStrike" kern="0" cap="none" spc="0" normalizeH="0" baseline="0" noProof="0" dirty="0" err="1">
                <a:ln>
                  <a:noFill/>
                </a:ln>
                <a:solidFill>
                  <a:schemeClr val="tx1"/>
                </a:solidFill>
                <a:effectLst/>
                <a:uLnTx/>
                <a:uFillTx/>
                <a:latin typeface="+mn-lt"/>
                <a:ea typeface="+mn-ea"/>
                <a:cs typeface="+mn-cs"/>
              </a:rPr>
              <a:t>ch</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中，实际上并不是把该字符本身放到变量的内存单元中去，而是将该字符对应的</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ASCII</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编码放到变量的存储单元中</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需要</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注意的是，除了可以直接从键盘上输入的字符（如英文字母，标点符号，数字，数学运算符等）以外，还有一些字符是无法用键盘直接输入的，比如，“回车”，此时需要采用一种新的定义方式——转义字符，它以反斜杠</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开头，随后接特定的字符</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en-US"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p:txBody>
      </p:sp>
      <p:sp>
        <p:nvSpPr>
          <p:cNvPr id="5" name="标题 1"/>
          <p:cNvSpPr txBox="1"/>
          <p:nvPr/>
        </p:nvSpPr>
        <p:spPr>
          <a:xfrm>
            <a:off x="1591945" y="2156460"/>
            <a:ext cx="6318885" cy="341630"/>
          </a:xfrm>
          <a:prstGeom prst="rect">
            <a:avLst/>
          </a:prstGeom>
          <a:solidFill>
            <a:srgbClr val="66CCFF"/>
          </a:solidFill>
        </p:spPr>
        <p:txBody>
          <a:bodyPr/>
          <a:lstStyle>
            <a:lvl1pPr algn="l" rtl="0" eaLnBrk="0" fontAlgn="base" hangingPunct="0">
              <a:spcBef>
                <a:spcPct val="0"/>
              </a:spcBef>
              <a:spcAft>
                <a:spcPct val="0"/>
              </a:spcAft>
              <a:defRPr sz="3600" b="1" spc="300">
                <a:solidFill>
                  <a:srgbClr val="FFFF00"/>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5pPr>
            <a:lvl6pPr marL="457200" algn="ctr" rtl="0" fontAlgn="base">
              <a:spcBef>
                <a:spcPct val="0"/>
              </a:spcBef>
              <a:spcAft>
                <a:spcPct val="0"/>
              </a:spcAft>
              <a:defRPr sz="4400">
                <a:solidFill>
                  <a:schemeClr val="tx2"/>
                </a:solidFill>
                <a:latin typeface="Arial" panose="020B0604020202090204" pitchFamily="34" charset="0"/>
                <a:ea typeface="宋体" pitchFamily="2" charset="-122"/>
              </a:defRPr>
            </a:lvl6pPr>
            <a:lvl7pPr marL="914400" algn="ctr" rtl="0" fontAlgn="base">
              <a:spcBef>
                <a:spcPct val="0"/>
              </a:spcBef>
              <a:spcAft>
                <a:spcPct val="0"/>
              </a:spcAft>
              <a:defRPr sz="4400">
                <a:solidFill>
                  <a:schemeClr val="tx2"/>
                </a:solidFill>
                <a:latin typeface="Arial" panose="020B0604020202090204" pitchFamily="34" charset="0"/>
                <a:ea typeface="宋体" pitchFamily="2" charset="-122"/>
              </a:defRPr>
            </a:lvl7pPr>
            <a:lvl8pPr marL="1371600" algn="ctr" rtl="0" fontAlgn="base">
              <a:spcBef>
                <a:spcPct val="0"/>
              </a:spcBef>
              <a:spcAft>
                <a:spcPct val="0"/>
              </a:spcAft>
              <a:defRPr sz="4400">
                <a:solidFill>
                  <a:schemeClr val="tx2"/>
                </a:solidFill>
                <a:latin typeface="Arial" panose="020B0604020202090204" pitchFamily="34" charset="0"/>
                <a:ea typeface="宋体" pitchFamily="2" charset="-122"/>
              </a:defRPr>
            </a:lvl8pPr>
            <a:lvl9pPr marL="1828800" algn="ctr" rtl="0" fontAlgn="base">
              <a:spcBef>
                <a:spcPct val="0"/>
              </a:spcBef>
              <a:spcAft>
                <a:spcPct val="0"/>
              </a:spcAft>
              <a:defRPr sz="4400">
                <a:solidFill>
                  <a:schemeClr val="tx2"/>
                </a:solidFill>
                <a:latin typeface="Arial" panose="020B060402020209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500" b="0" i="0" u="none" strike="noStrike" kern="1200" cap="none" spc="300" normalizeH="0" baseline="0" noProof="0" dirty="0">
                <a:ln>
                  <a:noFill/>
                </a:ln>
                <a:solidFill>
                  <a:schemeClr val="tx1"/>
                </a:solidFill>
                <a:effectLst/>
                <a:uLnTx/>
                <a:uFillTx/>
                <a:latin typeface="+mn-lt"/>
                <a:ea typeface="微软雅黑" panose="020B0503020204020204" charset="-122"/>
                <a:cs typeface="+mj-cs"/>
              </a:rPr>
              <a:t>char </a:t>
            </a:r>
            <a:r>
              <a:rPr kumimoji="0" lang="en-US" altLang="zh-CN" sz="1500" b="0" i="0" u="none" strike="noStrike" kern="1200" cap="none" spc="300" normalizeH="0" baseline="0" noProof="0" dirty="0" err="1">
                <a:ln>
                  <a:noFill/>
                </a:ln>
                <a:solidFill>
                  <a:schemeClr val="tx1"/>
                </a:solidFill>
                <a:effectLst/>
                <a:uLnTx/>
                <a:uFillTx/>
                <a:latin typeface="+mn-lt"/>
                <a:ea typeface="微软雅黑" panose="020B0503020204020204" charset="-122"/>
                <a:cs typeface="+mj-cs"/>
              </a:rPr>
              <a:t>ch</a:t>
            </a:r>
            <a:r>
              <a:rPr kumimoji="0" lang="en-US" altLang="zh-CN" sz="1500" b="0" i="0" u="none" strike="noStrike" kern="1200" cap="none" spc="300" normalizeH="0" baseline="0" noProof="0" dirty="0">
                <a:ln>
                  <a:noFill/>
                </a:ln>
                <a:solidFill>
                  <a:schemeClr val="tx1"/>
                </a:solidFill>
                <a:effectLst/>
                <a:uLnTx/>
                <a:uFillTx/>
                <a:latin typeface="+mn-lt"/>
                <a:ea typeface="微软雅黑" panose="020B0503020204020204" charset="-122"/>
                <a:cs typeface="+mj-cs"/>
              </a:rPr>
              <a:t> = 'A';   //</a:t>
            </a:r>
            <a:r>
              <a:rPr kumimoji="0" lang="zh-CN" altLang="zh-CN" sz="1500" b="0" i="0" u="none" strike="noStrike" kern="1200" cap="none" spc="300" normalizeH="0" baseline="0" noProof="0" dirty="0">
                <a:ln>
                  <a:noFill/>
                </a:ln>
                <a:solidFill>
                  <a:schemeClr val="tx1"/>
                </a:solidFill>
                <a:effectLst/>
                <a:uLnTx/>
                <a:uFillTx/>
                <a:latin typeface="+mn-lt"/>
                <a:ea typeface="微软雅黑" panose="020B0503020204020204" charset="-122"/>
                <a:cs typeface="+mj-cs"/>
              </a:rPr>
              <a:t>为一个</a:t>
            </a:r>
            <a:r>
              <a:rPr kumimoji="0" lang="en-US" altLang="zh-CN" sz="1500" b="0" i="0" u="none" strike="noStrike" kern="1200" cap="none" spc="300" normalizeH="0" baseline="0" noProof="0" dirty="0">
                <a:ln>
                  <a:noFill/>
                </a:ln>
                <a:solidFill>
                  <a:schemeClr val="tx1"/>
                </a:solidFill>
                <a:effectLst/>
                <a:uLnTx/>
                <a:uFillTx/>
                <a:latin typeface="+mn-lt"/>
                <a:ea typeface="微软雅黑" panose="020B0503020204020204" charset="-122"/>
                <a:cs typeface="+mj-cs"/>
              </a:rPr>
              <a:t>char</a:t>
            </a:r>
            <a:r>
              <a:rPr kumimoji="0" lang="zh-CN" altLang="zh-CN" sz="1500" b="0" i="0" u="none" strike="noStrike" kern="1200" cap="none" spc="300" normalizeH="0" baseline="0" noProof="0" dirty="0">
                <a:ln>
                  <a:noFill/>
                </a:ln>
                <a:solidFill>
                  <a:schemeClr val="tx1"/>
                </a:solidFill>
                <a:effectLst/>
                <a:uLnTx/>
                <a:uFillTx/>
                <a:latin typeface="+mn-lt"/>
                <a:ea typeface="微软雅黑" panose="020B0503020204020204" charset="-122"/>
                <a:cs typeface="+mj-cs"/>
              </a:rPr>
              <a:t>类型的变量赋值字符</a:t>
            </a:r>
            <a:r>
              <a:rPr kumimoji="0" lang="en-US" altLang="zh-CN" sz="1500" b="0" i="0" u="none" strike="noStrike" kern="1200" cap="none" spc="300" normalizeH="0" baseline="0" noProof="0" dirty="0" smtClean="0">
                <a:ln>
                  <a:noFill/>
                </a:ln>
                <a:solidFill>
                  <a:schemeClr val="tx1"/>
                </a:solidFill>
                <a:effectLst/>
                <a:uLnTx/>
                <a:uFillTx/>
                <a:latin typeface="+mn-lt"/>
                <a:ea typeface="微软雅黑" panose="020B0503020204020204" charset="-122"/>
                <a:cs typeface="+mj-cs"/>
              </a:rPr>
              <a:t>'</a:t>
            </a:r>
            <a:r>
              <a:rPr kumimoji="0" lang="en-US" altLang="zh-CN" sz="1500" b="0" i="0" u="none" strike="noStrike" kern="1200" cap="none" spc="300" normalizeH="0" baseline="0" noProof="0" dirty="0" smtClean="0">
                <a:ln>
                  <a:noFill/>
                </a:ln>
                <a:solidFill>
                  <a:schemeClr val="tx1"/>
                </a:solidFill>
                <a:effectLst/>
                <a:uLnTx/>
                <a:uFillTx/>
                <a:latin typeface="+mn-lt"/>
                <a:ea typeface="微软雅黑" panose="020B0503020204020204" charset="-122"/>
                <a:cs typeface="+mj-cs"/>
              </a:rPr>
              <a:t>A’</a:t>
            </a:r>
            <a:endParaRPr kumimoji="0" lang="zh-CN" altLang="en-US" sz="1500" b="0" i="0" u="none" strike="noStrike" kern="1200" cap="none" spc="300" normalizeH="0" baseline="0" noProof="0" dirty="0">
              <a:ln>
                <a:noFill/>
              </a:ln>
              <a:solidFill>
                <a:schemeClr val="tx1"/>
              </a:solidFill>
              <a:effectLst/>
              <a:uLnTx/>
              <a:uFillTx/>
              <a:latin typeface="+mn-lt"/>
              <a:ea typeface="微软雅黑" panose="020B0503020204020204" charset="-122"/>
              <a:cs typeface="+mj-cs"/>
            </a:endParaRPr>
          </a:p>
        </p:txBody>
      </p:sp>
      <p:sp>
        <p:nvSpPr>
          <p:cNvPr id="2" name="标题 1"/>
          <p:cNvSpPr>
            <a:spLocks noGrp="1"/>
          </p:cNvSpPr>
          <p:nvPr>
            <p:custDataLst>
              <p:tags r:id="rId1"/>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2.3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常量与变量</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3" name="灯片编号占位符 2"/>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bwMode="auto">
          <a:xfrm>
            <a:off x="1485900" y="628650"/>
            <a:ext cx="6172200" cy="441007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0" marR="0" lvl="0" indent="0" algn="l" defTabSz="914400" rtl="0" eaLnBrk="0" fontAlgn="base" latinLnBrk="0" hangingPunct="0">
              <a:lnSpc>
                <a:spcPct val="150000"/>
              </a:lnSpc>
              <a:spcBef>
                <a:spcPct val="20000"/>
              </a:spcBef>
              <a:spcAft>
                <a:spcPct val="0"/>
              </a:spcAft>
              <a:buClrTx/>
              <a:buSzTx/>
              <a:buFontTx/>
              <a:buNone/>
              <a:defRPr/>
            </a:pPr>
            <a:r>
              <a:rPr kumimoji="0" lang="zh-CN" altLang="zh-CN" sz="1500" b="0" i="0" u="none" strike="noStrike" kern="0" cap="none" spc="0" normalizeH="0" baseline="0" noProof="0" dirty="0">
                <a:ln>
                  <a:noFill/>
                </a:ln>
                <a:solidFill>
                  <a:schemeClr val="tx1"/>
                </a:solidFill>
                <a:effectLst/>
                <a:uLnTx/>
                <a:uFillTx/>
                <a:latin typeface="+mn-lt"/>
                <a:ea typeface="+mn-ea"/>
                <a:cs typeface="+mn-cs"/>
              </a:rPr>
              <a:t>表</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2-9</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列举了一些常见的</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转义字符</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a:ln>
                  <a:noFill/>
                </a:ln>
                <a:solidFill>
                  <a:schemeClr val="tx1"/>
                </a:solidFill>
                <a:effectLst/>
                <a:uLnTx/>
                <a:uFillTx/>
                <a:latin typeface="+mn-lt"/>
                <a:ea typeface="+mn-ea"/>
                <a:cs typeface="+mn-cs"/>
              </a:rPr>
              <a:t> </a:t>
            </a: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en-US" sz="1050" b="0" i="0" u="none" strike="noStrike" kern="0" cap="none" spc="0" normalizeH="0" baseline="0" noProof="0" dirty="0" smtClean="0">
                <a:ln>
                  <a:noFill/>
                </a:ln>
                <a:solidFill>
                  <a:schemeClr val="tx1"/>
                </a:solidFill>
                <a:effectLst/>
                <a:uLnTx/>
                <a:uFillTx/>
                <a:latin typeface="+mn-lt"/>
                <a:ea typeface="+mn-ea"/>
                <a:cs typeface="+mn-cs"/>
              </a:rPr>
              <a:t>表</a:t>
            </a: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2-9  </a:t>
            </a:r>
            <a:r>
              <a:rPr kumimoji="0" lang="zh-CN" altLang="en-US" sz="1050" b="0" i="0" u="none" strike="noStrike" kern="0" cap="none" spc="0" normalizeH="0" baseline="0" noProof="0" dirty="0" smtClean="0">
                <a:ln>
                  <a:noFill/>
                </a:ln>
                <a:solidFill>
                  <a:schemeClr val="tx1"/>
                </a:solidFill>
                <a:effectLst/>
                <a:uLnTx/>
                <a:uFillTx/>
                <a:latin typeface="+mn-lt"/>
                <a:ea typeface="+mn-ea"/>
                <a:cs typeface="+mn-cs"/>
              </a:rPr>
              <a:t>部分常见转义字符表</a:t>
            </a: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en-US"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p:txBody>
      </p:sp>
      <p:graphicFrame>
        <p:nvGraphicFramePr>
          <p:cNvPr id="2" name="表格 1"/>
          <p:cNvGraphicFramePr>
            <a:graphicFrameLocks noGrp="1"/>
          </p:cNvGraphicFramePr>
          <p:nvPr>
            <p:custDataLst>
              <p:tags r:id="rId1"/>
            </p:custDataLst>
          </p:nvPr>
        </p:nvGraphicFramePr>
        <p:xfrm>
          <a:off x="1800225" y="1431131"/>
          <a:ext cx="5311140" cy="2268000"/>
        </p:xfrm>
        <a:graphic>
          <a:graphicData uri="http://schemas.openxmlformats.org/drawingml/2006/table">
            <a:tbl>
              <a:tblPr firstRow="1" firstCol="1" bandRow="1"/>
              <a:tblGrid>
                <a:gridCol w="1570990"/>
                <a:gridCol w="1850390"/>
                <a:gridCol w="1889760"/>
              </a:tblGrid>
              <a:tr h="324000">
                <a:tc>
                  <a:txBody>
                    <a:bodyPr/>
                    <a:lstStyle/>
                    <a:p>
                      <a:pPr indent="266700" algn="ctr">
                        <a:spcAft>
                          <a:spcPts val="0"/>
                        </a:spcAft>
                      </a:pPr>
                      <a:r>
                        <a:rPr lang="zh-CN" sz="1100" kern="100">
                          <a:solidFill>
                            <a:srgbClr val="584E61"/>
                          </a:solidFill>
                          <a:effectLst/>
                        </a:rPr>
                        <a:t>转义字符</a:t>
                      </a:r>
                      <a:endParaRPr lang="zh-CN" sz="1100" kern="100">
                        <a:solidFill>
                          <a:srgbClr val="584E61"/>
                        </a:solidFill>
                        <a:effectLst/>
                        <a:latin typeface="Times New Roman" panose="02020503050405090304"/>
                        <a:ea typeface="楷体_GB2312"/>
                      </a:endParaRPr>
                    </a:p>
                  </a:txBody>
                  <a:tcPr marL="51430" marR="51430"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indent="266700" algn="ctr">
                        <a:spcAft>
                          <a:spcPts val="0"/>
                        </a:spcAft>
                      </a:pPr>
                      <a:r>
                        <a:rPr lang="zh-CN" sz="1100" kern="100">
                          <a:solidFill>
                            <a:srgbClr val="584E61"/>
                          </a:solidFill>
                          <a:effectLst/>
                        </a:rPr>
                        <a:t>对应字符</a:t>
                      </a:r>
                      <a:endParaRPr lang="zh-CN" sz="1100" kern="100">
                        <a:solidFill>
                          <a:srgbClr val="584E61"/>
                        </a:solidFill>
                        <a:effectLst/>
                        <a:latin typeface="Times New Roman" panose="02020503050405090304"/>
                        <a:ea typeface="楷体_GB2312"/>
                      </a:endParaRPr>
                    </a:p>
                  </a:txBody>
                  <a:tcPr marL="51430" marR="51430"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indent="266700" algn="ctr">
                        <a:spcAft>
                          <a:spcPts val="0"/>
                        </a:spcAft>
                      </a:pPr>
                      <a:r>
                        <a:rPr lang="en-US" sz="1100" kern="100">
                          <a:solidFill>
                            <a:srgbClr val="584E61"/>
                          </a:solidFill>
                          <a:effectLst/>
                        </a:rPr>
                        <a:t>ASCII</a:t>
                      </a:r>
                      <a:r>
                        <a:rPr lang="zh-CN" sz="1100" kern="100">
                          <a:solidFill>
                            <a:srgbClr val="584E61"/>
                          </a:solidFill>
                          <a:effectLst/>
                        </a:rPr>
                        <a:t>码表中的值</a:t>
                      </a:r>
                      <a:endParaRPr lang="zh-CN" sz="1100" kern="100">
                        <a:solidFill>
                          <a:srgbClr val="584E61"/>
                        </a:solidFill>
                        <a:effectLst/>
                        <a:latin typeface="Times New Roman" panose="02020503050405090304"/>
                        <a:ea typeface="楷体_GB2312"/>
                      </a:endParaRPr>
                    </a:p>
                  </a:txBody>
                  <a:tcPr marL="51430" marR="51430" marT="0" marB="0" anchor="ctr" anchorCtr="0">
                    <a:lnL>
                      <a:noFill/>
                    </a:lnL>
                    <a:lnR>
                      <a:noFill/>
                    </a:lnR>
                    <a:lnT w="19050">
                      <a:solidFill>
                        <a:srgbClr val="584E61"/>
                      </a:solidFill>
                      <a:prstDash val="solid"/>
                    </a:lnT>
                    <a:lnB w="19050">
                      <a:solidFill>
                        <a:srgbClr val="584E61"/>
                      </a:solidFill>
                      <a:prstDash val="solid"/>
                    </a:lnB>
                    <a:solidFill>
                      <a:srgbClr val="FFFFFF"/>
                    </a:solidFill>
                  </a:tcPr>
                </a:tc>
              </a:tr>
              <a:tr h="324000">
                <a:tc>
                  <a:txBody>
                    <a:bodyPr/>
                    <a:lstStyle/>
                    <a:p>
                      <a:pPr indent="266700" algn="ctr">
                        <a:spcAft>
                          <a:spcPts val="0"/>
                        </a:spcAft>
                      </a:pPr>
                      <a:r>
                        <a:rPr lang="en-US" sz="1100" kern="0">
                          <a:solidFill>
                            <a:srgbClr val="584E61"/>
                          </a:solidFill>
                          <a:effectLst/>
                        </a:rPr>
                        <a:t>'\t'</a:t>
                      </a:r>
                      <a:endParaRPr lang="en-US" sz="1100" kern="0">
                        <a:solidFill>
                          <a:srgbClr val="584E61"/>
                        </a:solidFill>
                        <a:effectLst/>
                        <a:latin typeface="Times New Roman" panose="02020503050405090304"/>
                        <a:ea typeface="楷体_GB2312"/>
                      </a:endParaRPr>
                    </a:p>
                  </a:txBody>
                  <a:tcPr marL="51430" marR="51430" marT="0" marB="0" anchor="ctr" anchorCtr="0">
                    <a:lnL>
                      <a:noFill/>
                    </a:lnL>
                    <a:lnR>
                      <a:noFill/>
                    </a:lnR>
                    <a:lnT w="19050">
                      <a:solidFill>
                        <a:srgbClr val="584E61"/>
                      </a:solidFill>
                      <a:prstDash val="solid"/>
                    </a:lnT>
                    <a:lnB>
                      <a:noFill/>
                    </a:lnB>
                    <a:solidFill>
                      <a:srgbClr val="FFFFFF"/>
                    </a:solidFill>
                  </a:tcPr>
                </a:tc>
                <a:tc>
                  <a:txBody>
                    <a:bodyPr/>
                    <a:lstStyle/>
                    <a:p>
                      <a:pPr indent="266700" algn="ctr">
                        <a:spcAft>
                          <a:spcPts val="0"/>
                        </a:spcAft>
                      </a:pPr>
                      <a:r>
                        <a:rPr lang="zh-CN" sz="1100" kern="100">
                          <a:solidFill>
                            <a:srgbClr val="584E61"/>
                          </a:solidFill>
                          <a:effectLst/>
                        </a:rPr>
                        <a:t>制表符（</a:t>
                      </a:r>
                      <a:r>
                        <a:rPr lang="en-US" sz="1100" kern="100">
                          <a:solidFill>
                            <a:srgbClr val="584E61"/>
                          </a:solidFill>
                          <a:effectLst/>
                        </a:rPr>
                        <a:t>Tab</a:t>
                      </a:r>
                      <a:r>
                        <a:rPr lang="zh-CN" sz="1100" kern="100">
                          <a:solidFill>
                            <a:srgbClr val="584E61"/>
                          </a:solidFill>
                          <a:effectLst/>
                        </a:rPr>
                        <a:t>键）</a:t>
                      </a:r>
                      <a:endParaRPr lang="zh-CN" sz="1100" kern="100">
                        <a:solidFill>
                          <a:srgbClr val="584E61"/>
                        </a:solidFill>
                        <a:effectLst/>
                        <a:latin typeface="Times New Roman" panose="02020503050405090304"/>
                        <a:ea typeface="楷体_GB2312"/>
                      </a:endParaRPr>
                    </a:p>
                  </a:txBody>
                  <a:tcPr marL="51430" marR="51430" marT="0" marB="0" anchor="ctr" anchorCtr="0">
                    <a:lnL>
                      <a:noFill/>
                    </a:lnL>
                    <a:lnR>
                      <a:noFill/>
                    </a:lnR>
                    <a:lnT w="19050">
                      <a:solidFill>
                        <a:srgbClr val="584E61"/>
                      </a:solidFill>
                      <a:prstDash val="solid"/>
                    </a:lnT>
                    <a:lnB>
                      <a:noFill/>
                    </a:lnB>
                    <a:solidFill>
                      <a:srgbClr val="FFFFFF"/>
                    </a:solidFill>
                  </a:tcPr>
                </a:tc>
                <a:tc>
                  <a:txBody>
                    <a:bodyPr/>
                    <a:lstStyle/>
                    <a:p>
                      <a:pPr indent="266700" algn="ctr">
                        <a:spcAft>
                          <a:spcPts val="0"/>
                        </a:spcAft>
                      </a:pPr>
                      <a:r>
                        <a:rPr lang="en-US" sz="1100" kern="100">
                          <a:solidFill>
                            <a:srgbClr val="584E61"/>
                          </a:solidFill>
                          <a:effectLst/>
                        </a:rPr>
                        <a:t>9</a:t>
                      </a:r>
                      <a:endParaRPr lang="en-US" sz="1100" kern="100">
                        <a:solidFill>
                          <a:srgbClr val="584E61"/>
                        </a:solidFill>
                        <a:effectLst/>
                        <a:latin typeface="Times New Roman" panose="02020503050405090304"/>
                        <a:ea typeface="楷体_GB2312"/>
                      </a:endParaRPr>
                    </a:p>
                  </a:txBody>
                  <a:tcPr marL="51430" marR="51430" marT="0" marB="0" anchor="ctr" anchorCtr="0">
                    <a:lnL>
                      <a:noFill/>
                    </a:lnL>
                    <a:lnR>
                      <a:noFill/>
                    </a:lnR>
                    <a:lnT w="19050">
                      <a:solidFill>
                        <a:srgbClr val="584E61"/>
                      </a:solidFill>
                      <a:prstDash val="solid"/>
                    </a:lnT>
                    <a:lnB>
                      <a:noFill/>
                    </a:lnB>
                    <a:solidFill>
                      <a:srgbClr val="FFFFFF"/>
                    </a:solidFill>
                  </a:tcPr>
                </a:tc>
              </a:tr>
              <a:tr h="324000">
                <a:tc>
                  <a:txBody>
                    <a:bodyPr/>
                    <a:lstStyle/>
                    <a:p>
                      <a:pPr indent="266700" algn="ctr">
                        <a:spcAft>
                          <a:spcPts val="0"/>
                        </a:spcAft>
                      </a:pPr>
                      <a:r>
                        <a:rPr lang="en-US" sz="1100" kern="0">
                          <a:solidFill>
                            <a:srgbClr val="584E61"/>
                          </a:solidFill>
                          <a:effectLst/>
                        </a:rPr>
                        <a:t>'\n'</a:t>
                      </a:r>
                      <a:endParaRPr lang="en-US" sz="1100" kern="0">
                        <a:solidFill>
                          <a:srgbClr val="584E61"/>
                        </a:solidFill>
                        <a:effectLst/>
                        <a:latin typeface="Times New Roman" panose="02020503050405090304"/>
                        <a:ea typeface="楷体_GB2312"/>
                      </a:endParaRPr>
                    </a:p>
                  </a:txBody>
                  <a:tcPr marL="51430" marR="51430" marT="0" marB="0" anchor="ctr" anchorCtr="0">
                    <a:lnL>
                      <a:noFill/>
                    </a:lnL>
                    <a:lnR>
                      <a:noFill/>
                    </a:lnR>
                    <a:lnT>
                      <a:noFill/>
                    </a:lnT>
                    <a:lnB>
                      <a:noFill/>
                    </a:lnB>
                    <a:solidFill>
                      <a:srgbClr val="F0EFF2"/>
                    </a:solidFill>
                  </a:tcPr>
                </a:tc>
                <a:tc>
                  <a:txBody>
                    <a:bodyPr/>
                    <a:lstStyle/>
                    <a:p>
                      <a:pPr indent="266700" algn="ctr">
                        <a:spcAft>
                          <a:spcPts val="0"/>
                        </a:spcAft>
                      </a:pPr>
                      <a:r>
                        <a:rPr lang="zh-CN" sz="1100" kern="100">
                          <a:solidFill>
                            <a:srgbClr val="584E61"/>
                          </a:solidFill>
                          <a:effectLst/>
                        </a:rPr>
                        <a:t>换行</a:t>
                      </a:r>
                      <a:endParaRPr lang="zh-CN" sz="1100" kern="100">
                        <a:solidFill>
                          <a:srgbClr val="584E61"/>
                        </a:solidFill>
                        <a:effectLst/>
                        <a:latin typeface="Times New Roman" panose="02020503050405090304"/>
                        <a:ea typeface="楷体_GB2312"/>
                      </a:endParaRPr>
                    </a:p>
                  </a:txBody>
                  <a:tcPr marL="51430" marR="51430"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10</a:t>
                      </a:r>
                      <a:endParaRPr lang="en-US" sz="1100" kern="100">
                        <a:solidFill>
                          <a:srgbClr val="584E61"/>
                        </a:solidFill>
                        <a:effectLst/>
                        <a:latin typeface="Times New Roman" panose="02020503050405090304"/>
                        <a:ea typeface="楷体_GB2312"/>
                      </a:endParaRPr>
                    </a:p>
                  </a:txBody>
                  <a:tcPr marL="51430" marR="51430" marT="0" marB="0" anchor="ctr" anchorCtr="0">
                    <a:lnL>
                      <a:noFill/>
                    </a:lnL>
                    <a:lnR>
                      <a:noFill/>
                    </a:lnR>
                    <a:lnT>
                      <a:noFill/>
                    </a:lnT>
                    <a:lnB>
                      <a:noFill/>
                    </a:lnB>
                    <a:solidFill>
                      <a:srgbClr val="F0EFF2"/>
                    </a:solidFill>
                  </a:tcPr>
                </a:tc>
              </a:tr>
              <a:tr h="324000">
                <a:tc>
                  <a:txBody>
                    <a:bodyPr/>
                    <a:lstStyle/>
                    <a:p>
                      <a:pPr indent="266700" algn="ctr">
                        <a:spcAft>
                          <a:spcPts val="0"/>
                        </a:spcAft>
                      </a:pPr>
                      <a:r>
                        <a:rPr lang="en-US" sz="1100" kern="0">
                          <a:solidFill>
                            <a:srgbClr val="584E61"/>
                          </a:solidFill>
                          <a:effectLst/>
                        </a:rPr>
                        <a:t>'\r'</a:t>
                      </a:r>
                      <a:endParaRPr lang="en-US" sz="1100" kern="0">
                        <a:solidFill>
                          <a:srgbClr val="584E61"/>
                        </a:solidFill>
                        <a:effectLst/>
                        <a:latin typeface="Times New Roman" panose="02020503050405090304"/>
                        <a:ea typeface="楷体_GB2312"/>
                      </a:endParaRPr>
                    </a:p>
                  </a:txBody>
                  <a:tcPr marL="51430" marR="51430" marT="0" marB="0" anchor="ctr" anchorCtr="0">
                    <a:lnL>
                      <a:noFill/>
                    </a:lnL>
                    <a:lnR>
                      <a:noFill/>
                    </a:lnR>
                    <a:lnT>
                      <a:noFill/>
                    </a:lnT>
                    <a:lnB>
                      <a:noFill/>
                    </a:lnB>
                    <a:solidFill>
                      <a:srgbClr val="FFFFFF"/>
                    </a:solidFill>
                  </a:tcPr>
                </a:tc>
                <a:tc>
                  <a:txBody>
                    <a:bodyPr/>
                    <a:lstStyle/>
                    <a:p>
                      <a:pPr indent="266700" algn="ctr">
                        <a:spcAft>
                          <a:spcPts val="0"/>
                        </a:spcAft>
                      </a:pPr>
                      <a:r>
                        <a:rPr lang="zh-CN" sz="1100" kern="100">
                          <a:solidFill>
                            <a:srgbClr val="584E61"/>
                          </a:solidFill>
                          <a:effectLst/>
                        </a:rPr>
                        <a:t>回车</a:t>
                      </a:r>
                      <a:endParaRPr lang="zh-CN" sz="1100" kern="100">
                        <a:solidFill>
                          <a:srgbClr val="584E61"/>
                        </a:solidFill>
                        <a:effectLst/>
                        <a:latin typeface="Times New Roman" panose="02020503050405090304"/>
                        <a:ea typeface="楷体_GB2312"/>
                      </a:endParaRPr>
                    </a:p>
                  </a:txBody>
                  <a:tcPr marL="51430" marR="51430"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dirty="0">
                          <a:solidFill>
                            <a:srgbClr val="584E61"/>
                          </a:solidFill>
                          <a:effectLst/>
                        </a:rPr>
                        <a:t>13</a:t>
                      </a:r>
                      <a:endParaRPr lang="en-US" sz="1100" kern="100" dirty="0">
                        <a:solidFill>
                          <a:srgbClr val="584E61"/>
                        </a:solidFill>
                        <a:effectLst/>
                        <a:latin typeface="Times New Roman" panose="02020503050405090304"/>
                        <a:ea typeface="楷体_GB2312"/>
                      </a:endParaRPr>
                    </a:p>
                  </a:txBody>
                  <a:tcPr marL="51430" marR="51430" marT="0" marB="0" anchor="ctr" anchorCtr="0">
                    <a:lnL>
                      <a:noFill/>
                    </a:lnL>
                    <a:lnR>
                      <a:noFill/>
                    </a:lnR>
                    <a:lnT>
                      <a:noFill/>
                    </a:lnT>
                    <a:lnB>
                      <a:noFill/>
                    </a:lnB>
                    <a:solidFill>
                      <a:srgbClr val="FFFFFF"/>
                    </a:solidFill>
                  </a:tcPr>
                </a:tc>
              </a:tr>
              <a:tr h="324000">
                <a:tc>
                  <a:txBody>
                    <a:bodyPr/>
                    <a:lstStyle/>
                    <a:p>
                      <a:pPr indent="266700" algn="ctr">
                        <a:spcAft>
                          <a:spcPts val="0"/>
                        </a:spcAft>
                      </a:pPr>
                      <a:r>
                        <a:rPr lang="en-US" sz="1100" kern="0">
                          <a:solidFill>
                            <a:srgbClr val="584E61"/>
                          </a:solidFill>
                          <a:effectLst/>
                        </a:rPr>
                        <a:t>'\"'</a:t>
                      </a:r>
                      <a:endParaRPr lang="en-US" sz="1100" kern="0">
                        <a:solidFill>
                          <a:srgbClr val="584E61"/>
                        </a:solidFill>
                        <a:effectLst/>
                        <a:latin typeface="Times New Roman" panose="02020503050405090304"/>
                        <a:ea typeface="楷体_GB2312"/>
                      </a:endParaRPr>
                    </a:p>
                  </a:txBody>
                  <a:tcPr marL="51430" marR="51430" marT="0" marB="0" anchor="ctr" anchorCtr="0">
                    <a:lnL>
                      <a:noFill/>
                    </a:lnL>
                    <a:lnR>
                      <a:noFill/>
                    </a:lnR>
                    <a:lnT>
                      <a:noFill/>
                    </a:lnT>
                    <a:lnB>
                      <a:noFill/>
                    </a:lnB>
                    <a:solidFill>
                      <a:srgbClr val="F0EFF2"/>
                    </a:solidFill>
                  </a:tcPr>
                </a:tc>
                <a:tc>
                  <a:txBody>
                    <a:bodyPr/>
                    <a:lstStyle/>
                    <a:p>
                      <a:pPr indent="266700" algn="ctr">
                        <a:spcAft>
                          <a:spcPts val="0"/>
                        </a:spcAft>
                      </a:pPr>
                      <a:r>
                        <a:rPr lang="zh-CN" sz="1100" kern="100">
                          <a:solidFill>
                            <a:srgbClr val="584E61"/>
                          </a:solidFill>
                          <a:effectLst/>
                        </a:rPr>
                        <a:t>双引号</a:t>
                      </a:r>
                      <a:endParaRPr lang="zh-CN" sz="1100" kern="100">
                        <a:solidFill>
                          <a:srgbClr val="584E61"/>
                        </a:solidFill>
                        <a:effectLst/>
                        <a:latin typeface="Times New Roman" panose="02020503050405090304"/>
                        <a:ea typeface="楷体_GB2312"/>
                      </a:endParaRPr>
                    </a:p>
                  </a:txBody>
                  <a:tcPr marL="51430" marR="51430" marT="0" marB="0" anchor="ctr" anchorCtr="0">
                    <a:lnL>
                      <a:noFill/>
                    </a:lnL>
                    <a:lnR>
                      <a:noFill/>
                    </a:lnR>
                    <a:lnT>
                      <a:noFill/>
                    </a:lnT>
                    <a:lnB>
                      <a:noFill/>
                    </a:lnB>
                    <a:solidFill>
                      <a:srgbClr val="F0EFF2"/>
                    </a:solidFill>
                  </a:tcPr>
                </a:tc>
                <a:tc>
                  <a:txBody>
                    <a:bodyPr/>
                    <a:lstStyle/>
                    <a:p>
                      <a:pPr indent="266700" algn="ctr">
                        <a:spcAft>
                          <a:spcPts val="0"/>
                        </a:spcAft>
                      </a:pPr>
                      <a:r>
                        <a:rPr lang="en-US" sz="1100" kern="100">
                          <a:solidFill>
                            <a:srgbClr val="584E61"/>
                          </a:solidFill>
                          <a:effectLst/>
                        </a:rPr>
                        <a:t>34</a:t>
                      </a:r>
                      <a:endParaRPr lang="en-US" sz="1100" kern="100">
                        <a:solidFill>
                          <a:srgbClr val="584E61"/>
                        </a:solidFill>
                        <a:effectLst/>
                        <a:latin typeface="Times New Roman" panose="02020503050405090304"/>
                        <a:ea typeface="楷体_GB2312"/>
                      </a:endParaRPr>
                    </a:p>
                  </a:txBody>
                  <a:tcPr marL="51430" marR="51430" marT="0" marB="0" anchor="ctr" anchorCtr="0">
                    <a:lnL>
                      <a:noFill/>
                    </a:lnL>
                    <a:lnR>
                      <a:noFill/>
                    </a:lnR>
                    <a:lnT>
                      <a:noFill/>
                    </a:lnT>
                    <a:lnB>
                      <a:noFill/>
                    </a:lnB>
                    <a:solidFill>
                      <a:srgbClr val="F0EFF2"/>
                    </a:solidFill>
                  </a:tcPr>
                </a:tc>
              </a:tr>
              <a:tr h="324000">
                <a:tc>
                  <a:txBody>
                    <a:bodyPr/>
                    <a:lstStyle/>
                    <a:p>
                      <a:pPr indent="266700" algn="ctr">
                        <a:spcAft>
                          <a:spcPts val="0"/>
                        </a:spcAft>
                      </a:pPr>
                      <a:r>
                        <a:rPr lang="en-US" sz="1100" kern="0">
                          <a:solidFill>
                            <a:srgbClr val="584E61"/>
                          </a:solidFill>
                          <a:effectLst/>
                        </a:rPr>
                        <a:t>'\''</a:t>
                      </a:r>
                      <a:endParaRPr lang="en-US" sz="1100" kern="0">
                        <a:solidFill>
                          <a:srgbClr val="584E61"/>
                        </a:solidFill>
                        <a:effectLst/>
                        <a:latin typeface="Times New Roman" panose="02020503050405090304"/>
                        <a:ea typeface="楷体_GB2312"/>
                      </a:endParaRPr>
                    </a:p>
                  </a:txBody>
                  <a:tcPr marL="51430" marR="51430" marT="0" marB="0" anchor="ctr" anchorCtr="0">
                    <a:lnL>
                      <a:noFill/>
                    </a:lnL>
                    <a:lnR>
                      <a:noFill/>
                    </a:lnR>
                    <a:lnT>
                      <a:noFill/>
                    </a:lnT>
                    <a:lnB>
                      <a:noFill/>
                    </a:lnB>
                    <a:solidFill>
                      <a:srgbClr val="FFFFFF"/>
                    </a:solidFill>
                  </a:tcPr>
                </a:tc>
                <a:tc>
                  <a:txBody>
                    <a:bodyPr/>
                    <a:lstStyle/>
                    <a:p>
                      <a:pPr indent="266700" algn="ctr">
                        <a:spcAft>
                          <a:spcPts val="0"/>
                        </a:spcAft>
                      </a:pPr>
                      <a:r>
                        <a:rPr lang="zh-CN" sz="1100" kern="100">
                          <a:solidFill>
                            <a:srgbClr val="584E61"/>
                          </a:solidFill>
                          <a:effectLst/>
                        </a:rPr>
                        <a:t>单引号</a:t>
                      </a:r>
                      <a:endParaRPr lang="zh-CN" sz="1100" kern="100">
                        <a:solidFill>
                          <a:srgbClr val="584E61"/>
                        </a:solidFill>
                        <a:effectLst/>
                        <a:latin typeface="Times New Roman" panose="02020503050405090304"/>
                        <a:ea typeface="楷体_GB2312"/>
                      </a:endParaRPr>
                    </a:p>
                  </a:txBody>
                  <a:tcPr marL="51430" marR="51430" marT="0" marB="0" anchor="ctr" anchorCtr="0">
                    <a:lnL>
                      <a:noFill/>
                    </a:lnL>
                    <a:lnR>
                      <a:noFill/>
                    </a:lnR>
                    <a:lnT>
                      <a:noFill/>
                    </a:lnT>
                    <a:lnB>
                      <a:noFill/>
                    </a:lnB>
                    <a:solidFill>
                      <a:srgbClr val="FFFFFF"/>
                    </a:solidFill>
                  </a:tcPr>
                </a:tc>
                <a:tc>
                  <a:txBody>
                    <a:bodyPr/>
                    <a:lstStyle/>
                    <a:p>
                      <a:pPr indent="266700" algn="ctr">
                        <a:spcAft>
                          <a:spcPts val="0"/>
                        </a:spcAft>
                      </a:pPr>
                      <a:r>
                        <a:rPr lang="en-US" sz="1100" kern="100">
                          <a:solidFill>
                            <a:srgbClr val="584E61"/>
                          </a:solidFill>
                          <a:effectLst/>
                        </a:rPr>
                        <a:t>39</a:t>
                      </a:r>
                      <a:endParaRPr lang="en-US" sz="1100" kern="100">
                        <a:solidFill>
                          <a:srgbClr val="584E61"/>
                        </a:solidFill>
                        <a:effectLst/>
                        <a:latin typeface="Times New Roman" panose="02020503050405090304"/>
                        <a:ea typeface="楷体_GB2312"/>
                      </a:endParaRPr>
                    </a:p>
                  </a:txBody>
                  <a:tcPr marL="51430" marR="51430" marT="0" marB="0" anchor="ctr" anchorCtr="0">
                    <a:lnL>
                      <a:noFill/>
                    </a:lnL>
                    <a:lnR>
                      <a:noFill/>
                    </a:lnR>
                    <a:lnT>
                      <a:noFill/>
                    </a:lnT>
                    <a:lnB>
                      <a:noFill/>
                    </a:lnB>
                    <a:solidFill>
                      <a:srgbClr val="FFFFFF"/>
                    </a:solidFill>
                  </a:tcPr>
                </a:tc>
              </a:tr>
              <a:tr h="324000">
                <a:tc>
                  <a:txBody>
                    <a:bodyPr/>
                    <a:lstStyle/>
                    <a:p>
                      <a:pPr indent="266700" algn="ctr">
                        <a:spcAft>
                          <a:spcPts val="0"/>
                        </a:spcAft>
                      </a:pPr>
                      <a:r>
                        <a:rPr lang="en-US" sz="1100" kern="0">
                          <a:solidFill>
                            <a:srgbClr val="584E61"/>
                          </a:solidFill>
                          <a:effectLst/>
                        </a:rPr>
                        <a:t>'\\'</a:t>
                      </a:r>
                      <a:endParaRPr lang="en-US" sz="1100" kern="0">
                        <a:solidFill>
                          <a:srgbClr val="584E61"/>
                        </a:solidFill>
                        <a:effectLst/>
                        <a:latin typeface="Times New Roman" panose="02020503050405090304"/>
                        <a:ea typeface="楷体_GB2312"/>
                      </a:endParaRPr>
                    </a:p>
                  </a:txBody>
                  <a:tcPr marL="51430" marR="51430" marT="0" marB="0" anchor="ctr" anchorCtr="0">
                    <a:lnL>
                      <a:noFill/>
                    </a:lnL>
                    <a:lnR>
                      <a:noFill/>
                    </a:lnR>
                    <a:lnT>
                      <a:noFill/>
                    </a:lnT>
                    <a:lnB w="19050">
                      <a:solidFill>
                        <a:srgbClr val="584E61"/>
                      </a:solidFill>
                      <a:prstDash val="solid"/>
                    </a:lnB>
                    <a:solidFill>
                      <a:srgbClr val="F0EFF2"/>
                    </a:solidFill>
                  </a:tcPr>
                </a:tc>
                <a:tc>
                  <a:txBody>
                    <a:bodyPr/>
                    <a:lstStyle/>
                    <a:p>
                      <a:pPr indent="266700" algn="ctr">
                        <a:spcAft>
                          <a:spcPts val="0"/>
                        </a:spcAft>
                      </a:pPr>
                      <a:r>
                        <a:rPr lang="zh-CN" sz="1100" kern="100">
                          <a:solidFill>
                            <a:srgbClr val="584E61"/>
                          </a:solidFill>
                          <a:effectLst/>
                        </a:rPr>
                        <a:t>反斜杠</a:t>
                      </a:r>
                      <a:endParaRPr lang="zh-CN" sz="1100" kern="100">
                        <a:solidFill>
                          <a:srgbClr val="584E61"/>
                        </a:solidFill>
                        <a:effectLst/>
                        <a:latin typeface="Times New Roman" panose="02020503050405090304"/>
                        <a:ea typeface="楷体_GB2312"/>
                      </a:endParaRPr>
                    </a:p>
                  </a:txBody>
                  <a:tcPr marL="51430" marR="51430" marT="0" marB="0" anchor="ctr" anchorCtr="0">
                    <a:lnL>
                      <a:noFill/>
                    </a:lnL>
                    <a:lnR>
                      <a:noFill/>
                    </a:lnR>
                    <a:lnT>
                      <a:noFill/>
                    </a:lnT>
                    <a:lnB w="19050">
                      <a:solidFill>
                        <a:srgbClr val="584E61"/>
                      </a:solidFill>
                      <a:prstDash val="solid"/>
                    </a:lnB>
                    <a:solidFill>
                      <a:srgbClr val="F0EFF2"/>
                    </a:solidFill>
                  </a:tcPr>
                </a:tc>
                <a:tc>
                  <a:txBody>
                    <a:bodyPr/>
                    <a:lstStyle/>
                    <a:p>
                      <a:pPr indent="266700" algn="ctr">
                        <a:spcAft>
                          <a:spcPts val="0"/>
                        </a:spcAft>
                      </a:pPr>
                      <a:r>
                        <a:rPr lang="en-US" sz="1100" kern="100" dirty="0">
                          <a:solidFill>
                            <a:srgbClr val="584E61"/>
                          </a:solidFill>
                          <a:effectLst/>
                        </a:rPr>
                        <a:t>92</a:t>
                      </a:r>
                      <a:endParaRPr lang="en-US" sz="1100" kern="100" dirty="0">
                        <a:solidFill>
                          <a:srgbClr val="584E61"/>
                        </a:solidFill>
                        <a:effectLst/>
                        <a:latin typeface="Times New Roman" panose="02020503050405090304"/>
                        <a:ea typeface="楷体_GB2312"/>
                      </a:endParaRPr>
                    </a:p>
                  </a:txBody>
                  <a:tcPr marL="51430" marR="51430" marT="0" marB="0" anchor="ctr" anchorCtr="0">
                    <a:lnL>
                      <a:noFill/>
                    </a:lnL>
                    <a:lnR>
                      <a:noFill/>
                    </a:lnR>
                    <a:lnT>
                      <a:noFill/>
                    </a:lnT>
                    <a:lnB w="19050">
                      <a:solidFill>
                        <a:srgbClr val="584E61"/>
                      </a:solidFill>
                      <a:prstDash val="solid"/>
                    </a:lnB>
                    <a:solidFill>
                      <a:srgbClr val="F0EFF2"/>
                    </a:solidFill>
                  </a:tcPr>
                </a:tc>
              </a:tr>
            </a:tbl>
          </a:graphicData>
        </a:graphic>
      </p:graphicFrame>
      <p:sp>
        <p:nvSpPr>
          <p:cNvPr id="3" name="标题 1"/>
          <p:cNvSpPr>
            <a:spLocks noGrp="1"/>
          </p:cNvSpPr>
          <p:nvPr>
            <p:custDataLst>
              <p:tags r:id="rId2"/>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2.3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常量与变量</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bwMode="auto">
          <a:xfrm>
            <a:off x="1485900" y="628650"/>
            <a:ext cx="6172200" cy="429934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a:pPr>
            <a:r>
              <a:rPr kumimoji="0" lang="zh-CN" altLang="en-US" sz="1500" b="0" i="0" u="none" strike="noStrike" kern="0" cap="none" spc="0" normalizeH="0" baseline="0" noProof="0" dirty="0" smtClean="0">
                <a:ln>
                  <a:noFill/>
                </a:ln>
                <a:solidFill>
                  <a:schemeClr val="tx1"/>
                </a:solidFill>
                <a:effectLst/>
                <a:uLnTx/>
                <a:uFillTx/>
                <a:latin typeface="+mn-ea"/>
                <a:ea typeface="+mn-ea"/>
                <a:cs typeface="+mn-cs"/>
              </a:rPr>
              <a:t>枚举类型变量</a:t>
            </a: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在</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日常生活中有许多对象的值是有限的，可以一一列举出来。例如一个星期内只有七天、一年只有十二个月等等。如果把这些量说明为整型，字符型或其它类型显然是不妥当的。为此，</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C</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语言提供了一种称为“枚举”的类型。枚举类型就是其值可以被一一列举出来，并且变量的取值不能超过定义的</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范围</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枚举</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类型的声明方式比较特殊，具体格式</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如下</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在</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上述代码中，</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enum</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表示声明枚举的关键字，枚举名表示枚举对象的</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名称</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需要注意的是，枚举值是常量，不是变量，在程序中不能</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赋值</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en-US"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p:txBody>
      </p:sp>
      <p:sp>
        <p:nvSpPr>
          <p:cNvPr id="6" name="标题 1"/>
          <p:cNvSpPr txBox="1"/>
          <p:nvPr/>
        </p:nvSpPr>
        <p:spPr>
          <a:xfrm>
            <a:off x="1591866" y="3171825"/>
            <a:ext cx="5884069" cy="282179"/>
          </a:xfrm>
          <a:prstGeom prst="rect">
            <a:avLst/>
          </a:prstGeom>
          <a:solidFill>
            <a:srgbClr val="66CCFF"/>
          </a:solidFill>
        </p:spPr>
        <p:txBody>
          <a:bodyPr/>
          <a:lstStyle>
            <a:lvl1pPr algn="l" rtl="0" eaLnBrk="0" fontAlgn="base" hangingPunct="0">
              <a:spcBef>
                <a:spcPct val="0"/>
              </a:spcBef>
              <a:spcAft>
                <a:spcPct val="0"/>
              </a:spcAft>
              <a:defRPr sz="3600" b="1" spc="300">
                <a:solidFill>
                  <a:srgbClr val="FFFF00"/>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5pPr>
            <a:lvl6pPr marL="457200" algn="ctr" rtl="0" fontAlgn="base">
              <a:spcBef>
                <a:spcPct val="0"/>
              </a:spcBef>
              <a:spcAft>
                <a:spcPct val="0"/>
              </a:spcAft>
              <a:defRPr sz="4400">
                <a:solidFill>
                  <a:schemeClr val="tx2"/>
                </a:solidFill>
                <a:latin typeface="Arial" panose="020B0604020202090204" pitchFamily="34" charset="0"/>
                <a:ea typeface="宋体" pitchFamily="2" charset="-122"/>
              </a:defRPr>
            </a:lvl6pPr>
            <a:lvl7pPr marL="914400" algn="ctr" rtl="0" fontAlgn="base">
              <a:spcBef>
                <a:spcPct val="0"/>
              </a:spcBef>
              <a:spcAft>
                <a:spcPct val="0"/>
              </a:spcAft>
              <a:defRPr sz="4400">
                <a:solidFill>
                  <a:schemeClr val="tx2"/>
                </a:solidFill>
                <a:latin typeface="Arial" panose="020B0604020202090204" pitchFamily="34" charset="0"/>
                <a:ea typeface="宋体" pitchFamily="2" charset="-122"/>
              </a:defRPr>
            </a:lvl7pPr>
            <a:lvl8pPr marL="1371600" algn="ctr" rtl="0" fontAlgn="base">
              <a:spcBef>
                <a:spcPct val="0"/>
              </a:spcBef>
              <a:spcAft>
                <a:spcPct val="0"/>
              </a:spcAft>
              <a:defRPr sz="4400">
                <a:solidFill>
                  <a:schemeClr val="tx2"/>
                </a:solidFill>
                <a:latin typeface="Arial" panose="020B0604020202090204" pitchFamily="34" charset="0"/>
                <a:ea typeface="宋体" pitchFamily="2" charset="-122"/>
              </a:defRPr>
            </a:lvl8pPr>
            <a:lvl9pPr marL="1828800" algn="ctr" rtl="0" fontAlgn="base">
              <a:spcBef>
                <a:spcPct val="0"/>
              </a:spcBef>
              <a:spcAft>
                <a:spcPct val="0"/>
              </a:spcAft>
              <a:defRPr sz="4400">
                <a:solidFill>
                  <a:schemeClr val="tx2"/>
                </a:solidFill>
                <a:latin typeface="Arial" panose="020B060402020209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050" b="0" i="0" u="none" strike="noStrike" kern="1200" cap="none" spc="300" normalizeH="0" baseline="0" noProof="0" dirty="0">
                <a:ln>
                  <a:noFill/>
                </a:ln>
                <a:solidFill>
                  <a:schemeClr val="tx1"/>
                </a:solidFill>
                <a:effectLst/>
                <a:uLnTx/>
                <a:uFillTx/>
                <a:latin typeface="+mn-lt"/>
                <a:ea typeface="微软雅黑" panose="020B0503020204020204" charset="-122"/>
                <a:cs typeface="+mj-cs"/>
              </a:rPr>
              <a:t>enum </a:t>
            </a:r>
            <a:r>
              <a:rPr kumimoji="0" lang="zh-CN" altLang="zh-CN" sz="1050" b="0" i="0" u="none" strike="noStrike" kern="1200" cap="none" spc="300" normalizeH="0" baseline="0" noProof="0" dirty="0">
                <a:ln>
                  <a:noFill/>
                </a:ln>
                <a:solidFill>
                  <a:schemeClr val="tx1"/>
                </a:solidFill>
                <a:effectLst/>
                <a:uLnTx/>
                <a:uFillTx/>
                <a:latin typeface="+mn-lt"/>
                <a:ea typeface="微软雅黑" panose="020B0503020204020204" charset="-122"/>
                <a:cs typeface="+mj-cs"/>
              </a:rPr>
              <a:t>枚举名 </a:t>
            </a:r>
            <a:r>
              <a:rPr kumimoji="0" lang="en-US" altLang="zh-CN" sz="1050" b="0" i="0" u="none" strike="noStrike" kern="1200" cap="none" spc="300" normalizeH="0" baseline="0" noProof="0" dirty="0">
                <a:ln>
                  <a:noFill/>
                </a:ln>
                <a:solidFill>
                  <a:schemeClr val="tx1"/>
                </a:solidFill>
                <a:effectLst/>
                <a:uLnTx/>
                <a:uFillTx/>
                <a:latin typeface="+mn-lt"/>
                <a:ea typeface="微软雅黑" panose="020B0503020204020204" charset="-122"/>
                <a:cs typeface="+mj-cs"/>
              </a:rPr>
              <a:t>{</a:t>
            </a:r>
            <a:r>
              <a:rPr kumimoji="0" lang="zh-CN" altLang="zh-CN" sz="1050" b="0" i="0" u="none" strike="noStrike" kern="1200" cap="none" spc="300" normalizeH="0" baseline="0" noProof="0" dirty="0">
                <a:ln>
                  <a:noFill/>
                </a:ln>
                <a:solidFill>
                  <a:schemeClr val="tx1"/>
                </a:solidFill>
                <a:effectLst/>
                <a:uLnTx/>
                <a:uFillTx/>
                <a:latin typeface="+mn-lt"/>
                <a:ea typeface="微软雅黑" panose="020B0503020204020204" charset="-122"/>
                <a:cs typeface="+mj-cs"/>
              </a:rPr>
              <a:t>标识符</a:t>
            </a:r>
            <a:r>
              <a:rPr kumimoji="0" lang="en-US" altLang="zh-CN" sz="1050" b="0" i="0" u="none" strike="noStrike" kern="1200" cap="none" spc="300" normalizeH="0" baseline="0" noProof="0" dirty="0">
                <a:ln>
                  <a:noFill/>
                </a:ln>
                <a:solidFill>
                  <a:schemeClr val="tx1"/>
                </a:solidFill>
                <a:effectLst/>
                <a:uLnTx/>
                <a:uFillTx/>
                <a:latin typeface="+mn-lt"/>
                <a:ea typeface="微软雅黑" panose="020B0503020204020204" charset="-122"/>
                <a:cs typeface="+mj-cs"/>
              </a:rPr>
              <a:t>1 = </a:t>
            </a:r>
            <a:r>
              <a:rPr kumimoji="0" lang="zh-CN" altLang="zh-CN" sz="1050" b="0" i="0" u="none" strike="noStrike" kern="1200" cap="none" spc="300" normalizeH="0" baseline="0" noProof="0" dirty="0">
                <a:ln>
                  <a:noFill/>
                </a:ln>
                <a:solidFill>
                  <a:schemeClr val="tx1"/>
                </a:solidFill>
                <a:effectLst/>
                <a:uLnTx/>
                <a:uFillTx/>
                <a:latin typeface="+mn-lt"/>
                <a:ea typeface="微软雅黑" panose="020B0503020204020204" charset="-122"/>
                <a:cs typeface="+mj-cs"/>
              </a:rPr>
              <a:t>整型常量</a:t>
            </a:r>
            <a:r>
              <a:rPr kumimoji="0" lang="en-US" altLang="zh-CN" sz="1050" b="0" i="0" u="none" strike="noStrike" kern="1200" cap="none" spc="300" normalizeH="0" baseline="0" noProof="0" dirty="0">
                <a:ln>
                  <a:noFill/>
                </a:ln>
                <a:solidFill>
                  <a:schemeClr val="tx1"/>
                </a:solidFill>
                <a:effectLst/>
                <a:uLnTx/>
                <a:uFillTx/>
                <a:latin typeface="+mn-lt"/>
                <a:ea typeface="微软雅黑" panose="020B0503020204020204" charset="-122"/>
                <a:cs typeface="+mj-cs"/>
              </a:rPr>
              <a:t>1, </a:t>
            </a:r>
            <a:r>
              <a:rPr kumimoji="0" lang="zh-CN" altLang="zh-CN" sz="1050" b="0" i="0" u="none" strike="noStrike" kern="1200" cap="none" spc="300" normalizeH="0" baseline="0" noProof="0" dirty="0">
                <a:ln>
                  <a:noFill/>
                </a:ln>
                <a:solidFill>
                  <a:schemeClr val="tx1"/>
                </a:solidFill>
                <a:effectLst/>
                <a:uLnTx/>
                <a:uFillTx/>
                <a:latin typeface="+mn-lt"/>
                <a:ea typeface="微软雅黑" panose="020B0503020204020204" charset="-122"/>
                <a:cs typeface="+mj-cs"/>
              </a:rPr>
              <a:t>标识符</a:t>
            </a:r>
            <a:r>
              <a:rPr kumimoji="0" lang="en-US" altLang="zh-CN" sz="1050" b="0" i="0" u="none" strike="noStrike" kern="1200" cap="none" spc="300" normalizeH="0" baseline="0" noProof="0" dirty="0">
                <a:ln>
                  <a:noFill/>
                </a:ln>
                <a:solidFill>
                  <a:schemeClr val="tx1"/>
                </a:solidFill>
                <a:effectLst/>
                <a:uLnTx/>
                <a:uFillTx/>
                <a:latin typeface="+mn-lt"/>
                <a:ea typeface="微软雅黑" panose="020B0503020204020204" charset="-122"/>
                <a:cs typeface="+mj-cs"/>
              </a:rPr>
              <a:t>2 = </a:t>
            </a:r>
            <a:r>
              <a:rPr kumimoji="0" lang="zh-CN" altLang="zh-CN" sz="1050" b="0" i="0" u="none" strike="noStrike" kern="1200" cap="none" spc="300" normalizeH="0" baseline="0" noProof="0" dirty="0">
                <a:ln>
                  <a:noFill/>
                </a:ln>
                <a:solidFill>
                  <a:schemeClr val="tx1"/>
                </a:solidFill>
                <a:effectLst/>
                <a:uLnTx/>
                <a:uFillTx/>
                <a:latin typeface="+mn-lt"/>
                <a:ea typeface="微软雅黑" panose="020B0503020204020204" charset="-122"/>
                <a:cs typeface="+mj-cs"/>
              </a:rPr>
              <a:t>整型常量</a:t>
            </a:r>
            <a:r>
              <a:rPr kumimoji="0" lang="en-US" altLang="zh-CN" sz="1050" b="0" i="0" u="none" strike="noStrike" kern="1200" cap="none" spc="300" normalizeH="0" baseline="0" noProof="0" dirty="0">
                <a:ln>
                  <a:noFill/>
                </a:ln>
                <a:solidFill>
                  <a:schemeClr val="tx1"/>
                </a:solidFill>
                <a:effectLst/>
                <a:uLnTx/>
                <a:uFillTx/>
                <a:latin typeface="+mn-lt"/>
                <a:ea typeface="微软雅黑" panose="020B0503020204020204" charset="-122"/>
                <a:cs typeface="+mj-cs"/>
              </a:rPr>
              <a:t>2, </a:t>
            </a:r>
            <a:r>
              <a:rPr kumimoji="0" lang="en-US" altLang="zh-CN" sz="1050" b="0" i="0" u="none" strike="noStrike" kern="1200" cap="none" spc="300" normalizeH="0" baseline="0" noProof="0" dirty="0" smtClean="0">
                <a:ln>
                  <a:noFill/>
                </a:ln>
                <a:solidFill>
                  <a:schemeClr val="tx1"/>
                </a:solidFill>
                <a:effectLst/>
                <a:uLnTx/>
                <a:uFillTx/>
                <a:latin typeface="+mn-lt"/>
                <a:ea typeface="微软雅黑" panose="020B0503020204020204" charset="-122"/>
                <a:cs typeface="+mj-cs"/>
              </a:rPr>
              <a:t>...}</a:t>
            </a:r>
            <a:r>
              <a:rPr kumimoji="0" lang="zh-CN" altLang="en-US" sz="1050" b="0" i="0" u="none" strike="noStrike" kern="1200" cap="none" spc="300" normalizeH="0" baseline="0" noProof="0" dirty="0" smtClean="0">
                <a:ln>
                  <a:noFill/>
                </a:ln>
                <a:solidFill>
                  <a:schemeClr val="tx1"/>
                </a:solidFill>
                <a:effectLst/>
                <a:uLnTx/>
                <a:uFillTx/>
                <a:latin typeface="+mn-lt"/>
                <a:ea typeface="微软雅黑" panose="020B0503020204020204" charset="-122"/>
                <a:cs typeface="+mj-cs"/>
              </a:rPr>
              <a:t>；</a:t>
            </a:r>
            <a:endParaRPr kumimoji="0" lang="zh-CN" altLang="en-US" sz="1050" b="0" i="0" u="none" strike="noStrike" kern="1200" cap="none" spc="300" normalizeH="0" baseline="0" noProof="0" dirty="0">
              <a:ln>
                <a:noFill/>
              </a:ln>
              <a:solidFill>
                <a:schemeClr val="tx1"/>
              </a:solidFill>
              <a:effectLst/>
              <a:uLnTx/>
              <a:uFillTx/>
              <a:latin typeface="+mn-lt"/>
              <a:ea typeface="微软雅黑" panose="020B0503020204020204" charset="-122"/>
              <a:cs typeface="+mj-cs"/>
            </a:endParaRPr>
          </a:p>
        </p:txBody>
      </p:sp>
      <p:sp>
        <p:nvSpPr>
          <p:cNvPr id="2" name="标题 1"/>
          <p:cNvSpPr>
            <a:spLocks noGrp="1"/>
          </p:cNvSpPr>
          <p:nvPr>
            <p:custDataLst>
              <p:tags r:id="rId1"/>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2.3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常量与变量</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3" name="灯片编号占位符 2"/>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bwMode="auto">
          <a:xfrm>
            <a:off x="1485900" y="560785"/>
            <a:ext cx="6172200" cy="4417219"/>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在</a:t>
            </a:r>
            <a:r>
              <a:rPr kumimoji="0" lang="zh-CN"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枚举中规定，如果不给标识符指定具体的值，会默认该标识符的值等于前一标识符的值加</a:t>
            </a:r>
            <a:r>
              <a:rPr kumimoji="0" lang="en-US"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zh-CN" sz="15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a:t>
            </a:r>
            <a:endParaRPr kumimoji="0" lang="en-US" altLang="zh-CN" sz="15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如果</a:t>
            </a:r>
            <a:r>
              <a:rPr kumimoji="0" lang="zh-CN"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不指定第一个标识符对应的常量，则它的默认值是</a:t>
            </a:r>
            <a:r>
              <a:rPr kumimoji="0" lang="en-US" altLang="zh-CN" sz="15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0</a:t>
            </a:r>
            <a:r>
              <a:rPr kumimoji="0" lang="zh-CN" altLang="en-US" sz="15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。例：</a:t>
            </a:r>
            <a:endParaRPr kumimoji="0" lang="en-US" altLang="zh-CN" sz="15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5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en-US"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zh-CN" altLang="zh-CN" sz="15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运行</a:t>
            </a:r>
            <a:r>
              <a:rPr kumimoji="0" lang="zh-CN"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结果如图</a:t>
            </a:r>
            <a:r>
              <a:rPr kumimoji="0" lang="en-US" altLang="zh-CN" sz="15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2-4</a:t>
            </a:r>
            <a:r>
              <a:rPr kumimoji="0" lang="zh-CN" altLang="zh-CN" sz="15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所示</a:t>
            </a:r>
            <a:r>
              <a:rPr kumimoji="0" lang="zh-CN" altLang="en-US" sz="15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a:t>
            </a:r>
            <a:endParaRPr kumimoji="0" lang="en-US"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457200" marR="0" lvl="1"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rPr>
              <a:t>                                                        </a:t>
            </a:r>
            <a:r>
              <a:rPr kumimoji="0" lang="zh-CN" altLang="en-US" sz="105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图</a:t>
            </a:r>
            <a:r>
              <a:rPr kumimoji="0" lang="en-US" altLang="zh-CN" sz="105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2-4   </a:t>
            </a:r>
            <a:r>
              <a:rPr kumimoji="0" lang="zh-CN" altLang="en-US" sz="105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运行结果</a:t>
            </a:r>
            <a:endParaRPr kumimoji="0" lang="en-US" altLang="zh-CN" sz="105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p:txBody>
      </p:sp>
      <p:sp>
        <p:nvSpPr>
          <p:cNvPr id="5" name="标题 1"/>
          <p:cNvSpPr txBox="1"/>
          <p:nvPr/>
        </p:nvSpPr>
        <p:spPr>
          <a:xfrm>
            <a:off x="1485900" y="1283494"/>
            <a:ext cx="5938838" cy="542925"/>
          </a:xfrm>
          <a:prstGeom prst="rect">
            <a:avLst/>
          </a:prstGeom>
          <a:solidFill>
            <a:srgbClr val="66CCFF"/>
          </a:solidFill>
        </p:spPr>
        <p:txBody>
          <a:bodyPr/>
          <a:lstStyle>
            <a:lvl1pPr algn="l" rtl="0" eaLnBrk="0" fontAlgn="base" hangingPunct="0">
              <a:spcBef>
                <a:spcPct val="0"/>
              </a:spcBef>
              <a:spcAft>
                <a:spcPct val="0"/>
              </a:spcAft>
              <a:defRPr sz="3600" b="1" spc="300">
                <a:solidFill>
                  <a:srgbClr val="FFFF00"/>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5pPr>
            <a:lvl6pPr marL="457200" algn="ctr" rtl="0" fontAlgn="base">
              <a:spcBef>
                <a:spcPct val="0"/>
              </a:spcBef>
              <a:spcAft>
                <a:spcPct val="0"/>
              </a:spcAft>
              <a:defRPr sz="4400">
                <a:solidFill>
                  <a:schemeClr val="tx2"/>
                </a:solidFill>
                <a:latin typeface="Arial" panose="020B0604020202090204" pitchFamily="34" charset="0"/>
                <a:ea typeface="宋体" pitchFamily="2" charset="-122"/>
              </a:defRPr>
            </a:lvl6pPr>
            <a:lvl7pPr marL="914400" algn="ctr" rtl="0" fontAlgn="base">
              <a:spcBef>
                <a:spcPct val="0"/>
              </a:spcBef>
              <a:spcAft>
                <a:spcPct val="0"/>
              </a:spcAft>
              <a:defRPr sz="4400">
                <a:solidFill>
                  <a:schemeClr val="tx2"/>
                </a:solidFill>
                <a:latin typeface="Arial" panose="020B0604020202090204" pitchFamily="34" charset="0"/>
                <a:ea typeface="宋体" pitchFamily="2" charset="-122"/>
              </a:defRPr>
            </a:lvl7pPr>
            <a:lvl8pPr marL="1371600" algn="ctr" rtl="0" fontAlgn="base">
              <a:spcBef>
                <a:spcPct val="0"/>
              </a:spcBef>
              <a:spcAft>
                <a:spcPct val="0"/>
              </a:spcAft>
              <a:defRPr sz="4400">
                <a:solidFill>
                  <a:schemeClr val="tx2"/>
                </a:solidFill>
                <a:latin typeface="Arial" panose="020B0604020202090204" pitchFamily="34" charset="0"/>
                <a:ea typeface="宋体" pitchFamily="2" charset="-122"/>
              </a:defRPr>
            </a:lvl8pPr>
            <a:lvl9pPr marL="1828800" algn="ctr" rtl="0" fontAlgn="base">
              <a:spcBef>
                <a:spcPct val="0"/>
              </a:spcBef>
              <a:spcAft>
                <a:spcPct val="0"/>
              </a:spcAft>
              <a:defRPr sz="4400">
                <a:solidFill>
                  <a:schemeClr val="tx2"/>
                </a:solidFill>
                <a:latin typeface="Arial" panose="020B060402020209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500" b="0" i="0" u="none" strike="noStrike" kern="1200" cap="none" spc="300" normalizeH="0" baseline="0" noProof="0" dirty="0">
                <a:ln>
                  <a:noFill/>
                </a:ln>
                <a:solidFill>
                  <a:schemeClr val="tx1"/>
                </a:solidFill>
                <a:effectLst/>
                <a:uLnTx/>
                <a:uFillTx/>
                <a:latin typeface="+mn-lt"/>
                <a:ea typeface="微软雅黑" panose="020B0503020204020204" charset="-122"/>
                <a:cs typeface="+mj-cs"/>
              </a:rPr>
              <a:t>enum month{JAN=1, FEB, MAR, APR, MAY, JUN, JUL, AUG, SEP, OCT, NOV, DEC</a:t>
            </a:r>
            <a:r>
              <a:rPr kumimoji="0" lang="en-US" altLang="zh-CN" sz="1500" b="0" i="0" u="none" strike="noStrike" kern="1200" cap="none" spc="300" normalizeH="0" baseline="0" noProof="0" dirty="0" smtClean="0">
                <a:ln>
                  <a:noFill/>
                </a:ln>
                <a:solidFill>
                  <a:schemeClr val="tx1"/>
                </a:solidFill>
                <a:effectLst/>
                <a:uLnTx/>
                <a:uFillTx/>
                <a:latin typeface="+mn-lt"/>
                <a:ea typeface="微软雅黑" panose="020B0503020204020204" charset="-122"/>
                <a:cs typeface="+mj-cs"/>
              </a:rPr>
              <a:t>};</a:t>
            </a:r>
            <a:endParaRPr kumimoji="0" lang="zh-CN" altLang="en-US" sz="1500" b="0" i="0" u="none" strike="noStrike" kern="1200" cap="none" spc="300" normalizeH="0" baseline="0" noProof="0" dirty="0">
              <a:ln>
                <a:noFill/>
              </a:ln>
              <a:solidFill>
                <a:schemeClr val="tx1"/>
              </a:solidFill>
              <a:effectLst/>
              <a:uLnTx/>
              <a:uFillTx/>
              <a:latin typeface="+mn-lt"/>
              <a:ea typeface="微软雅黑" panose="020B0503020204020204" charset="-122"/>
              <a:cs typeface="+mj-cs"/>
            </a:endParaRPr>
          </a:p>
        </p:txBody>
      </p:sp>
      <p:sp>
        <p:nvSpPr>
          <p:cNvPr id="8" name="标题 1"/>
          <p:cNvSpPr txBox="1"/>
          <p:nvPr/>
        </p:nvSpPr>
        <p:spPr>
          <a:xfrm>
            <a:off x="1485900" y="2244329"/>
            <a:ext cx="5938838" cy="1853804"/>
          </a:xfrm>
          <a:prstGeom prst="rect">
            <a:avLst/>
          </a:prstGeom>
          <a:solidFill>
            <a:srgbClr val="66CCFF"/>
          </a:solidFill>
        </p:spPr>
        <p:txBody>
          <a:bodyPr/>
          <a:lstStyle>
            <a:lvl1pPr algn="l" rtl="0" eaLnBrk="0" fontAlgn="base" hangingPunct="0">
              <a:spcBef>
                <a:spcPct val="0"/>
              </a:spcBef>
              <a:spcAft>
                <a:spcPct val="0"/>
              </a:spcAft>
              <a:defRPr sz="3600" b="1" spc="300">
                <a:solidFill>
                  <a:srgbClr val="FFFF00"/>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5pPr>
            <a:lvl6pPr marL="457200" algn="ctr" rtl="0" fontAlgn="base">
              <a:spcBef>
                <a:spcPct val="0"/>
              </a:spcBef>
              <a:spcAft>
                <a:spcPct val="0"/>
              </a:spcAft>
              <a:defRPr sz="4400">
                <a:solidFill>
                  <a:schemeClr val="tx2"/>
                </a:solidFill>
                <a:latin typeface="Arial" panose="020B0604020202090204" pitchFamily="34" charset="0"/>
                <a:ea typeface="宋体" pitchFamily="2" charset="-122"/>
              </a:defRPr>
            </a:lvl6pPr>
            <a:lvl7pPr marL="914400" algn="ctr" rtl="0" fontAlgn="base">
              <a:spcBef>
                <a:spcPct val="0"/>
              </a:spcBef>
              <a:spcAft>
                <a:spcPct val="0"/>
              </a:spcAft>
              <a:defRPr sz="4400">
                <a:solidFill>
                  <a:schemeClr val="tx2"/>
                </a:solidFill>
                <a:latin typeface="Arial" panose="020B0604020202090204" pitchFamily="34" charset="0"/>
                <a:ea typeface="宋体" pitchFamily="2" charset="-122"/>
              </a:defRPr>
            </a:lvl7pPr>
            <a:lvl8pPr marL="1371600" algn="ctr" rtl="0" fontAlgn="base">
              <a:spcBef>
                <a:spcPct val="0"/>
              </a:spcBef>
              <a:spcAft>
                <a:spcPct val="0"/>
              </a:spcAft>
              <a:defRPr sz="4400">
                <a:solidFill>
                  <a:schemeClr val="tx2"/>
                </a:solidFill>
                <a:latin typeface="Arial" panose="020B0604020202090204" pitchFamily="34" charset="0"/>
                <a:ea typeface="宋体" pitchFamily="2" charset="-122"/>
              </a:defRPr>
            </a:lvl8pPr>
            <a:lvl9pPr marL="1828800" algn="ctr" rtl="0" fontAlgn="base">
              <a:spcBef>
                <a:spcPct val="0"/>
              </a:spcBef>
              <a:spcAft>
                <a:spcPct val="0"/>
              </a:spcAft>
              <a:defRPr sz="4400">
                <a:solidFill>
                  <a:schemeClr val="tx2"/>
                </a:solidFill>
                <a:latin typeface="Arial" panose="020B060402020209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500" b="0" i="0" u="none" strike="noStrike" kern="1200" cap="none" spc="300" normalizeH="0" baseline="0" noProof="0" dirty="0">
                <a:ln>
                  <a:noFill/>
                </a:ln>
                <a:solidFill>
                  <a:schemeClr val="tx1"/>
                </a:solidFill>
                <a:effectLst/>
                <a:uLnTx/>
                <a:uFillTx/>
                <a:latin typeface="+mn-lt"/>
                <a:ea typeface="微软雅黑" panose="020B0503020204020204" charset="-122"/>
                <a:cs typeface="+mj-cs"/>
              </a:rPr>
              <a:t>#include &lt;</a:t>
            </a:r>
            <a:r>
              <a:rPr kumimoji="0" lang="en-US" altLang="zh-CN" sz="1500" b="0" i="0" u="none" strike="noStrike" kern="1200" cap="none" spc="300" normalizeH="0" baseline="0" noProof="0" dirty="0" err="1">
                <a:ln>
                  <a:noFill/>
                </a:ln>
                <a:solidFill>
                  <a:schemeClr val="tx1"/>
                </a:solidFill>
                <a:effectLst/>
                <a:uLnTx/>
                <a:uFillTx/>
                <a:latin typeface="+mn-lt"/>
                <a:ea typeface="微软雅黑" panose="020B0503020204020204" charset="-122"/>
                <a:cs typeface="+mj-cs"/>
              </a:rPr>
              <a:t>stdio.h</a:t>
            </a:r>
            <a:r>
              <a:rPr kumimoji="0" lang="en-US" altLang="zh-CN" sz="1500" b="0" i="0" u="none" strike="noStrike" kern="1200" cap="none" spc="300" normalizeH="0" baseline="0" noProof="0" dirty="0">
                <a:ln>
                  <a:noFill/>
                </a:ln>
                <a:solidFill>
                  <a:schemeClr val="tx1"/>
                </a:solidFill>
                <a:effectLst/>
                <a:uLnTx/>
                <a:uFillTx/>
                <a:latin typeface="+mn-lt"/>
                <a:ea typeface="微软雅黑" panose="020B0503020204020204" charset="-122"/>
                <a:cs typeface="+mj-cs"/>
              </a:rPr>
              <a:t>&gt;</a:t>
            </a:r>
            <a:endParaRPr kumimoji="0" lang="zh-CN" altLang="zh-CN" sz="1500" b="0" i="0" u="none" strike="noStrike" kern="1200" cap="none" spc="300" normalizeH="0" baseline="0" noProof="0" dirty="0">
              <a:ln>
                <a:noFill/>
              </a:ln>
              <a:solidFill>
                <a:schemeClr val="tx1"/>
              </a:solidFill>
              <a:effectLst/>
              <a:uLnTx/>
              <a:uFillTx/>
              <a:latin typeface="+mn-lt"/>
              <a:ea typeface="微软雅黑" panose="020B0503020204020204" charset="-122"/>
              <a:cs typeface="+mj-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500" b="0" i="0" u="none" strike="noStrike" kern="1200" cap="none" spc="300" normalizeH="0" baseline="0" noProof="0" dirty="0">
                <a:ln>
                  <a:noFill/>
                </a:ln>
                <a:solidFill>
                  <a:schemeClr val="tx1"/>
                </a:solidFill>
                <a:effectLst/>
                <a:uLnTx/>
                <a:uFillTx/>
                <a:latin typeface="+mn-lt"/>
                <a:ea typeface="微软雅黑" panose="020B0503020204020204" charset="-122"/>
                <a:cs typeface="+mj-cs"/>
              </a:rPr>
              <a:t>//</a:t>
            </a:r>
            <a:r>
              <a:rPr kumimoji="0" lang="zh-CN" altLang="zh-CN" sz="1500" b="0" i="0" u="none" strike="noStrike" kern="1200" cap="none" spc="300" normalizeH="0" baseline="0" noProof="0" dirty="0">
                <a:ln>
                  <a:noFill/>
                </a:ln>
                <a:solidFill>
                  <a:schemeClr val="tx1"/>
                </a:solidFill>
                <a:effectLst/>
                <a:uLnTx/>
                <a:uFillTx/>
                <a:latin typeface="+mn-lt"/>
                <a:ea typeface="微软雅黑" panose="020B0503020204020204" charset="-122"/>
                <a:cs typeface="+mj-cs"/>
              </a:rPr>
              <a:t>定义一组常量 </a:t>
            </a:r>
            <a:endParaRPr kumimoji="0" lang="zh-CN" altLang="zh-CN" sz="1500" b="0" i="0" u="none" strike="noStrike" kern="1200" cap="none" spc="300" normalizeH="0" baseline="0" noProof="0" dirty="0">
              <a:ln>
                <a:noFill/>
              </a:ln>
              <a:solidFill>
                <a:schemeClr val="tx1"/>
              </a:solidFill>
              <a:effectLst/>
              <a:uLnTx/>
              <a:uFillTx/>
              <a:latin typeface="+mn-lt"/>
              <a:ea typeface="微软雅黑" panose="020B0503020204020204" charset="-122"/>
              <a:cs typeface="+mj-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500" b="0" i="0" u="none" strike="noStrike" kern="1200" cap="none" spc="300" normalizeH="0" baseline="0" noProof="0" dirty="0">
                <a:ln>
                  <a:noFill/>
                </a:ln>
                <a:solidFill>
                  <a:schemeClr val="tx1"/>
                </a:solidFill>
                <a:effectLst/>
                <a:uLnTx/>
                <a:uFillTx/>
                <a:latin typeface="+mn-lt"/>
                <a:ea typeface="微软雅黑" panose="020B0503020204020204" charset="-122"/>
                <a:cs typeface="+mj-cs"/>
              </a:rPr>
              <a:t>enum Constants {C1, C2, C3 = 4, C4, C5 = 3, C6, C7, C8 = '0', C9};</a:t>
            </a:r>
            <a:endParaRPr kumimoji="0" lang="zh-CN" altLang="zh-CN" sz="1500" b="0" i="0" u="none" strike="noStrike" kern="1200" cap="none" spc="300" normalizeH="0" baseline="0" noProof="0" dirty="0">
              <a:ln>
                <a:noFill/>
              </a:ln>
              <a:solidFill>
                <a:schemeClr val="tx1"/>
              </a:solidFill>
              <a:effectLst/>
              <a:uLnTx/>
              <a:uFillTx/>
              <a:latin typeface="+mn-lt"/>
              <a:ea typeface="微软雅黑" panose="020B0503020204020204" charset="-122"/>
              <a:cs typeface="+mj-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500" b="0" i="0" u="none" strike="noStrike" kern="1200" cap="none" spc="300" normalizeH="0" baseline="0" noProof="0" dirty="0">
                <a:ln>
                  <a:noFill/>
                </a:ln>
                <a:solidFill>
                  <a:schemeClr val="tx1"/>
                </a:solidFill>
                <a:effectLst/>
                <a:uLnTx/>
                <a:uFillTx/>
                <a:latin typeface="+mn-lt"/>
                <a:ea typeface="微软雅黑" panose="020B0503020204020204" charset="-122"/>
                <a:cs typeface="+mj-cs"/>
              </a:rPr>
              <a:t>void main()</a:t>
            </a:r>
            <a:endParaRPr kumimoji="0" lang="zh-CN" altLang="zh-CN" sz="1500" b="0" i="0" u="none" strike="noStrike" kern="1200" cap="none" spc="300" normalizeH="0" baseline="0" noProof="0" dirty="0">
              <a:ln>
                <a:noFill/>
              </a:ln>
              <a:solidFill>
                <a:schemeClr val="tx1"/>
              </a:solidFill>
              <a:effectLst/>
              <a:uLnTx/>
              <a:uFillTx/>
              <a:latin typeface="+mn-lt"/>
              <a:ea typeface="微软雅黑" panose="020B0503020204020204" charset="-122"/>
              <a:cs typeface="+mj-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500" b="0" i="0" u="none" strike="noStrike" kern="1200" cap="none" spc="300" normalizeH="0" baseline="0" noProof="0" dirty="0">
                <a:ln>
                  <a:noFill/>
                </a:ln>
                <a:solidFill>
                  <a:schemeClr val="tx1"/>
                </a:solidFill>
                <a:effectLst/>
                <a:uLnTx/>
                <a:uFillTx/>
                <a:latin typeface="+mn-lt"/>
                <a:ea typeface="微软雅黑" panose="020B0503020204020204" charset="-122"/>
                <a:cs typeface="+mj-cs"/>
              </a:rPr>
              <a:t>{</a:t>
            </a:r>
            <a:endParaRPr kumimoji="0" lang="zh-CN" altLang="zh-CN" sz="1500" b="0" i="0" u="none" strike="noStrike" kern="1200" cap="none" spc="300" normalizeH="0" baseline="0" noProof="0" dirty="0">
              <a:ln>
                <a:noFill/>
              </a:ln>
              <a:solidFill>
                <a:schemeClr val="tx1"/>
              </a:solidFill>
              <a:effectLst/>
              <a:uLnTx/>
              <a:uFillTx/>
              <a:latin typeface="+mn-lt"/>
              <a:ea typeface="微软雅黑" panose="020B0503020204020204" charset="-122"/>
              <a:cs typeface="+mj-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500" b="0" i="0" u="none" strike="noStrike" kern="1200" cap="none" spc="300" normalizeH="0" baseline="0" noProof="0" dirty="0">
                <a:ln>
                  <a:noFill/>
                </a:ln>
                <a:solidFill>
                  <a:schemeClr val="tx1"/>
                </a:solidFill>
                <a:effectLst/>
                <a:uLnTx/>
                <a:uFillTx/>
                <a:latin typeface="+mn-lt"/>
                <a:ea typeface="微软雅黑" panose="020B0503020204020204" charset="-122"/>
                <a:cs typeface="+mj-cs"/>
              </a:rPr>
              <a:t>	printf("C1=%d\n", C1);</a:t>
            </a:r>
            <a:endParaRPr kumimoji="0" lang="zh-CN" altLang="zh-CN" sz="1500" b="0" i="0" u="none" strike="noStrike" kern="1200" cap="none" spc="300" normalizeH="0" baseline="0" noProof="0" dirty="0">
              <a:ln>
                <a:noFill/>
              </a:ln>
              <a:solidFill>
                <a:schemeClr val="tx1"/>
              </a:solidFill>
              <a:effectLst/>
              <a:uLnTx/>
              <a:uFillTx/>
              <a:latin typeface="+mn-lt"/>
              <a:ea typeface="微软雅黑" panose="020B0503020204020204" charset="-122"/>
              <a:cs typeface="+mj-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500" b="0" i="0" u="none" strike="noStrike" kern="1200" cap="none" spc="300" normalizeH="0" baseline="0" noProof="0" dirty="0" smtClean="0">
                <a:ln>
                  <a:noFill/>
                </a:ln>
                <a:solidFill>
                  <a:schemeClr val="tx1"/>
                </a:solidFill>
                <a:effectLst/>
                <a:uLnTx/>
                <a:uFillTx/>
                <a:latin typeface="+mn-lt"/>
                <a:ea typeface="微软雅黑" panose="020B0503020204020204" charset="-122"/>
                <a:cs typeface="+mj-cs"/>
              </a:rPr>
              <a:t>}</a:t>
            </a:r>
            <a:endParaRPr kumimoji="0" lang="en-US" altLang="zh-CN" sz="1500" b="0" i="0" u="none" strike="noStrike" kern="1200" cap="none" spc="300" normalizeH="0" baseline="0" noProof="0" dirty="0" smtClean="0">
              <a:ln>
                <a:noFill/>
              </a:ln>
              <a:solidFill>
                <a:schemeClr val="tx1"/>
              </a:solidFill>
              <a:effectLst/>
              <a:uLnTx/>
              <a:uFillTx/>
              <a:latin typeface="+mn-lt"/>
              <a:ea typeface="微软雅黑" panose="020B0503020204020204" charset="-122"/>
              <a:cs typeface="+mj-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zh-CN" sz="1500" b="0" i="0" u="none" strike="noStrike" kern="1200" cap="none" spc="300" normalizeH="0" baseline="0" noProof="0" dirty="0">
              <a:ln>
                <a:noFill/>
              </a:ln>
              <a:solidFill>
                <a:schemeClr val="tx1"/>
              </a:solidFill>
              <a:effectLst/>
              <a:uLnTx/>
              <a:uFillTx/>
              <a:latin typeface="+mn-lt"/>
              <a:ea typeface="微软雅黑" panose="020B0503020204020204" charset="-122"/>
              <a:cs typeface="+mj-cs"/>
            </a:endParaRPr>
          </a:p>
        </p:txBody>
      </p:sp>
      <p:pic>
        <p:nvPicPr>
          <p:cNvPr id="29702" name="图片 1"/>
          <p:cNvPicPr>
            <a:picLocks noChangeAspect="1"/>
          </p:cNvPicPr>
          <p:nvPr/>
        </p:nvPicPr>
        <p:blipFill>
          <a:blip r:embed="rId1"/>
          <a:stretch>
            <a:fillRect/>
          </a:stretch>
        </p:blipFill>
        <p:spPr>
          <a:xfrm>
            <a:off x="3636169" y="4198144"/>
            <a:ext cx="3788569" cy="534591"/>
          </a:xfrm>
          <a:prstGeom prst="rect">
            <a:avLst/>
          </a:prstGeom>
          <a:noFill/>
          <a:ln w="9525">
            <a:noFill/>
          </a:ln>
        </p:spPr>
      </p:pic>
      <p:sp>
        <p:nvSpPr>
          <p:cNvPr id="2" name="标题 1"/>
          <p:cNvSpPr>
            <a:spLocks noGrp="1"/>
          </p:cNvSpPr>
          <p:nvPr>
            <p:custDataLst>
              <p:tags r:id="rId2"/>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2.3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常量与变量</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3" name="灯片编号占位符 2"/>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bwMode="auto">
          <a:xfrm>
            <a:off x="1485900" y="628650"/>
            <a:ext cx="6172200" cy="429934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0" marR="0" lvl="0" indent="0" algn="l" defTabSz="914400" rtl="0" eaLnBrk="0" fontAlgn="base" latinLnBrk="0" hangingPunct="0">
              <a:lnSpc>
                <a:spcPct val="150000"/>
              </a:lnSpc>
              <a:spcBef>
                <a:spcPct val="20000"/>
              </a:spcBef>
              <a:spcAft>
                <a:spcPct val="0"/>
              </a:spcAft>
              <a:buClrTx/>
              <a:buSzTx/>
              <a:buFontTx/>
              <a:buNone/>
              <a:defRPr/>
            </a:pPr>
            <a:r>
              <a:rPr kumimoji="0" lang="zh-CN" altLang="en-US" sz="1500" b="0" i="0" u="none" strike="noStrike" kern="0" cap="none" spc="0" normalizeH="0" baseline="0" noProof="0" dirty="0" smtClean="0">
                <a:ln>
                  <a:noFill/>
                </a:ln>
                <a:solidFill>
                  <a:schemeClr val="tx1"/>
                </a:solidFill>
                <a:effectLst/>
                <a:uLnTx/>
                <a:uFillTx/>
                <a:latin typeface="+mn-ea"/>
                <a:ea typeface="+mn-ea"/>
                <a:cs typeface="+mn-cs"/>
              </a:rPr>
              <a:t>类型转换：</a:t>
            </a: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C</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语言程序中的类型转换可分为隐式和强制类型转换</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两种</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ea"/>
                <a:ea typeface="+mn-ea"/>
                <a:cs typeface="+mn-cs"/>
              </a:rPr>
              <a:t>1.</a:t>
            </a:r>
            <a:r>
              <a:rPr kumimoji="0" lang="zh-CN" altLang="en-US" sz="1500" b="0" i="0" u="none" strike="noStrike" kern="0" cap="none" spc="0" normalizeH="0" baseline="0" noProof="0" dirty="0" smtClean="0">
                <a:ln>
                  <a:noFill/>
                </a:ln>
                <a:solidFill>
                  <a:schemeClr val="tx1"/>
                </a:solidFill>
                <a:effectLst/>
                <a:uLnTx/>
                <a:uFillTx/>
                <a:latin typeface="+mn-ea"/>
                <a:ea typeface="+mn-ea"/>
                <a:cs typeface="+mn-cs"/>
              </a:rPr>
              <a:t>隐式类型转换</a:t>
            </a: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所谓</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隐式类型转换指的是，系统自动将取值范围小的数据类型转换为数据取值范围大的数据类型，它是由系统自动转换完成的。例如，将</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int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类型和</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double</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类型的数据相加，系统会将</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int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类型的数据转换为</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double</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类型的数据，再进行相加</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操作</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ea"/>
                <a:ea typeface="+mn-ea"/>
                <a:cs typeface="+mn-cs"/>
              </a:rPr>
              <a:t>2.</a:t>
            </a:r>
            <a:r>
              <a:rPr kumimoji="0" lang="zh-CN" altLang="en-US" sz="1500" b="0" i="0" u="none" strike="noStrike" kern="0" cap="none" spc="0" normalizeH="0" baseline="0" noProof="0" dirty="0" smtClean="0">
                <a:ln>
                  <a:noFill/>
                </a:ln>
                <a:solidFill>
                  <a:schemeClr val="tx1"/>
                </a:solidFill>
                <a:effectLst/>
                <a:uLnTx/>
                <a:uFillTx/>
                <a:latin typeface="+mn-ea"/>
                <a:ea typeface="+mn-ea"/>
                <a:cs typeface="+mn-cs"/>
              </a:rPr>
              <a:t>强制类型转换</a:t>
            </a: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所谓</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强制类型转换指的是使用强制类型转换运算符，将一个变量或表达式转化成所需的类型，其基本语法格式如下所</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示</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en-US"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p:txBody>
      </p:sp>
      <p:sp>
        <p:nvSpPr>
          <p:cNvPr id="5" name="标题 1"/>
          <p:cNvSpPr txBox="1"/>
          <p:nvPr/>
        </p:nvSpPr>
        <p:spPr>
          <a:xfrm>
            <a:off x="1591866" y="4391025"/>
            <a:ext cx="5884069" cy="282179"/>
          </a:xfrm>
          <a:prstGeom prst="rect">
            <a:avLst/>
          </a:prstGeom>
          <a:solidFill>
            <a:srgbClr val="66CCFF"/>
          </a:solidFill>
        </p:spPr>
        <p:txBody>
          <a:bodyPr/>
          <a:lstStyle>
            <a:lvl1pPr algn="l" rtl="0" eaLnBrk="0" fontAlgn="base" hangingPunct="0">
              <a:spcBef>
                <a:spcPct val="0"/>
              </a:spcBef>
              <a:spcAft>
                <a:spcPct val="0"/>
              </a:spcAft>
              <a:defRPr sz="3600" b="1" spc="300">
                <a:solidFill>
                  <a:srgbClr val="FFFF00"/>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5pPr>
            <a:lvl6pPr marL="457200" algn="ctr" rtl="0" fontAlgn="base">
              <a:spcBef>
                <a:spcPct val="0"/>
              </a:spcBef>
              <a:spcAft>
                <a:spcPct val="0"/>
              </a:spcAft>
              <a:defRPr sz="4400">
                <a:solidFill>
                  <a:schemeClr val="tx2"/>
                </a:solidFill>
                <a:latin typeface="Arial" panose="020B0604020202090204" pitchFamily="34" charset="0"/>
                <a:ea typeface="宋体" pitchFamily="2" charset="-122"/>
              </a:defRPr>
            </a:lvl6pPr>
            <a:lvl7pPr marL="914400" algn="ctr" rtl="0" fontAlgn="base">
              <a:spcBef>
                <a:spcPct val="0"/>
              </a:spcBef>
              <a:spcAft>
                <a:spcPct val="0"/>
              </a:spcAft>
              <a:defRPr sz="4400">
                <a:solidFill>
                  <a:schemeClr val="tx2"/>
                </a:solidFill>
                <a:latin typeface="Arial" panose="020B0604020202090204" pitchFamily="34" charset="0"/>
                <a:ea typeface="宋体" pitchFamily="2" charset="-122"/>
              </a:defRPr>
            </a:lvl7pPr>
            <a:lvl8pPr marL="1371600" algn="ctr" rtl="0" fontAlgn="base">
              <a:spcBef>
                <a:spcPct val="0"/>
              </a:spcBef>
              <a:spcAft>
                <a:spcPct val="0"/>
              </a:spcAft>
              <a:defRPr sz="4400">
                <a:solidFill>
                  <a:schemeClr val="tx2"/>
                </a:solidFill>
                <a:latin typeface="Arial" panose="020B0604020202090204" pitchFamily="34" charset="0"/>
                <a:ea typeface="宋体" pitchFamily="2" charset="-122"/>
              </a:defRPr>
            </a:lvl8pPr>
            <a:lvl9pPr marL="1828800" algn="ctr" rtl="0" fontAlgn="base">
              <a:spcBef>
                <a:spcPct val="0"/>
              </a:spcBef>
              <a:spcAft>
                <a:spcPct val="0"/>
              </a:spcAft>
              <a:defRPr sz="4400">
                <a:solidFill>
                  <a:schemeClr val="tx2"/>
                </a:solidFill>
                <a:latin typeface="Arial" panose="020B060402020209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050" b="0" i="0" u="none" strike="noStrike" kern="1200" cap="none" spc="300" normalizeH="0" baseline="0" noProof="0" dirty="0">
                <a:ln>
                  <a:noFill/>
                </a:ln>
                <a:solidFill>
                  <a:schemeClr val="tx1"/>
                </a:solidFill>
                <a:effectLst/>
                <a:uLnTx/>
                <a:uFillTx/>
                <a:latin typeface="微软雅黑" panose="020B0503020204020204" charset="-122"/>
                <a:ea typeface="微软雅黑" panose="020B0503020204020204" charset="-122"/>
                <a:cs typeface="+mj-cs"/>
              </a:rPr>
              <a:t>（类型名）（</a:t>
            </a:r>
            <a:r>
              <a:rPr kumimoji="0" lang="zh-CN" altLang="zh-CN" sz="1050" b="0" i="0" u="none" strike="noStrike" kern="1200" cap="none" spc="300" normalizeH="0" baseline="0" noProof="0" dirty="0" smtClean="0">
                <a:ln>
                  <a:noFill/>
                </a:ln>
                <a:solidFill>
                  <a:schemeClr val="tx1"/>
                </a:solidFill>
                <a:effectLst/>
                <a:uLnTx/>
                <a:uFillTx/>
                <a:latin typeface="微软雅黑" panose="020B0503020204020204" charset="-122"/>
                <a:ea typeface="微软雅黑" panose="020B0503020204020204" charset="-122"/>
                <a:cs typeface="+mj-cs"/>
              </a:rPr>
              <a:t>表达式</a:t>
            </a:r>
            <a:r>
              <a:rPr kumimoji="0" lang="zh-CN" altLang="en-US" sz="1050" b="0" i="0" u="none" strike="noStrike" kern="1200" cap="none" spc="300" normalizeH="0" baseline="0" noProof="0" dirty="0" smtClean="0">
                <a:ln>
                  <a:noFill/>
                </a:ln>
                <a:solidFill>
                  <a:schemeClr val="tx1"/>
                </a:solidFill>
                <a:effectLst/>
                <a:uLnTx/>
                <a:uFillTx/>
                <a:latin typeface="微软雅黑" panose="020B0503020204020204" charset="-122"/>
                <a:ea typeface="微软雅黑" panose="020B0503020204020204" charset="-122"/>
                <a:cs typeface="+mj-cs"/>
              </a:rPr>
              <a:t>）</a:t>
            </a:r>
            <a:endParaRPr kumimoji="0" lang="zh-CN" altLang="en-US" sz="1050" b="0" i="0" u="none" strike="noStrike" kern="1200" cap="none" spc="300" normalizeH="0" baseline="0" noProof="0" dirty="0">
              <a:ln>
                <a:noFill/>
              </a:ln>
              <a:solidFill>
                <a:schemeClr val="tx1"/>
              </a:solidFill>
              <a:effectLst/>
              <a:uLnTx/>
              <a:uFillTx/>
              <a:latin typeface="+mn-lt"/>
              <a:ea typeface="微软雅黑" panose="020B0503020204020204" charset="-122"/>
              <a:cs typeface="+mj-cs"/>
            </a:endParaRPr>
          </a:p>
        </p:txBody>
      </p:sp>
      <p:sp>
        <p:nvSpPr>
          <p:cNvPr id="2" name="标题 1"/>
          <p:cNvSpPr>
            <a:spLocks noGrp="1"/>
          </p:cNvSpPr>
          <p:nvPr>
            <p:custDataLst>
              <p:tags r:id="rId1"/>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2.3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常量与变量</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3" name="灯片编号占位符 2"/>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bwMode="auto">
          <a:xfrm>
            <a:off x="1485900" y="628650"/>
            <a:ext cx="6172200" cy="429934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0" marR="0" lvl="0" indent="0" algn="l" defTabSz="914400" rtl="0" eaLnBrk="0" fontAlgn="base" latinLnBrk="0" hangingPunct="0">
              <a:lnSpc>
                <a:spcPct val="150000"/>
              </a:lnSpc>
              <a:spcBef>
                <a:spcPct val="20000"/>
              </a:spcBef>
              <a:spcAft>
                <a:spcPct val="0"/>
              </a:spcAft>
              <a:buClrTx/>
              <a:buSzTx/>
              <a:buFontTx/>
              <a:buNone/>
              <a:defRPr/>
            </a:pPr>
            <a:r>
              <a:rPr kumimoji="0" lang="zh-CN" altLang="en-US" sz="1500" b="0" i="0" u="none" strike="noStrike" kern="0" cap="none" spc="0" normalizeH="0" baseline="0" noProof="0" dirty="0" smtClean="0">
                <a:ln>
                  <a:noFill/>
                </a:ln>
                <a:solidFill>
                  <a:schemeClr val="tx1"/>
                </a:solidFill>
                <a:effectLst/>
                <a:uLnTx/>
                <a:uFillTx/>
                <a:latin typeface="+mn-ea"/>
                <a:ea typeface="+mn-ea"/>
                <a:cs typeface="+mn-cs"/>
              </a:rPr>
              <a:t>强制类型转换：</a:t>
            </a: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ea"/>
                <a:ea typeface="+mn-ea"/>
                <a:cs typeface="+mn-cs"/>
              </a:rPr>
              <a:t>1</a:t>
            </a:r>
            <a:r>
              <a:rPr kumimoji="0" lang="zh-CN" altLang="en-US" sz="1500" b="0" i="0" u="none" strike="noStrike" kern="0" cap="none" spc="0" normalizeH="0" baseline="0" noProof="0" dirty="0" smtClean="0">
                <a:ln>
                  <a:noFill/>
                </a:ln>
                <a:solidFill>
                  <a:schemeClr val="tx1"/>
                </a:solidFill>
                <a:effectLst/>
                <a:uLnTx/>
                <a:uFillTx/>
                <a:latin typeface="+mn-ea"/>
                <a:ea typeface="+mn-ea"/>
                <a:cs typeface="+mn-cs"/>
              </a:rPr>
              <a:t>）</a:t>
            </a:r>
            <a:r>
              <a:rPr kumimoji="0" lang="en-US" altLang="zh-CN" sz="1500" b="0" i="0" u="none" strike="noStrike" kern="0" cap="none" spc="0" normalizeH="0" baseline="0" noProof="0" dirty="0" smtClean="0">
                <a:ln>
                  <a:noFill/>
                </a:ln>
                <a:solidFill>
                  <a:schemeClr val="tx1"/>
                </a:solidFill>
                <a:effectLst/>
                <a:uLnTx/>
                <a:uFillTx/>
                <a:latin typeface="+mn-ea"/>
                <a:ea typeface="+mn-ea"/>
                <a:cs typeface="+mn-cs"/>
              </a:rPr>
              <a:t>.</a:t>
            </a:r>
            <a:r>
              <a:rPr kumimoji="0" lang="zh-CN" altLang="en-US" sz="1500" b="0" i="0" u="none" strike="noStrike" kern="0" cap="none" spc="0" normalizeH="0" baseline="0" noProof="0" dirty="0" smtClean="0">
                <a:ln>
                  <a:noFill/>
                </a:ln>
                <a:solidFill>
                  <a:schemeClr val="tx1"/>
                </a:solidFill>
                <a:effectLst/>
                <a:uLnTx/>
                <a:uFillTx/>
                <a:latin typeface="+mn-ea"/>
                <a:ea typeface="+mn-ea"/>
                <a:cs typeface="+mn-cs"/>
              </a:rPr>
              <a:t>浮点型与整型</a:t>
            </a: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将</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浮点数</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单双精度</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转换为整数时，将舍弃浮点数的小数部分，只保留整数部分。将整型值赋给浮点型变量，数值不变，只将形式改为浮点形式，即小数点后带若干个</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0</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。需要注意的是，赋值时的类型转换实际上是强制的</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ea"/>
                <a:ea typeface="+mn-ea"/>
                <a:cs typeface="+mn-cs"/>
              </a:rPr>
              <a:t>2</a:t>
            </a:r>
            <a:r>
              <a:rPr kumimoji="0" lang="zh-CN" altLang="en-US" sz="1500" b="0" i="0" u="none" strike="noStrike" kern="0" cap="none" spc="0" normalizeH="0" baseline="0" noProof="0" dirty="0" smtClean="0">
                <a:ln>
                  <a:noFill/>
                </a:ln>
                <a:solidFill>
                  <a:schemeClr val="tx1"/>
                </a:solidFill>
                <a:effectLst/>
                <a:uLnTx/>
                <a:uFillTx/>
                <a:latin typeface="+mn-ea"/>
                <a:ea typeface="+mn-ea"/>
                <a:cs typeface="+mn-cs"/>
              </a:rPr>
              <a:t>）</a:t>
            </a:r>
            <a:r>
              <a:rPr kumimoji="0" lang="en-US" altLang="zh-CN" sz="1500" b="0" i="0" u="none" strike="noStrike" kern="0" cap="none" spc="0" normalizeH="0" baseline="0" noProof="0" dirty="0" smtClean="0">
                <a:ln>
                  <a:noFill/>
                </a:ln>
                <a:solidFill>
                  <a:schemeClr val="tx1"/>
                </a:solidFill>
                <a:effectLst/>
                <a:uLnTx/>
                <a:uFillTx/>
                <a:latin typeface="+mn-ea"/>
                <a:ea typeface="+mn-ea"/>
                <a:cs typeface="+mn-cs"/>
              </a:rPr>
              <a:t>.</a:t>
            </a:r>
            <a:r>
              <a:rPr kumimoji="0" lang="zh-CN" altLang="en-US" sz="1500" b="0" i="0" u="none" strike="noStrike" kern="0" cap="none" spc="0" normalizeH="0" baseline="0" noProof="0" dirty="0" smtClean="0">
                <a:ln>
                  <a:noFill/>
                </a:ln>
                <a:solidFill>
                  <a:schemeClr val="tx1"/>
                </a:solidFill>
                <a:effectLst/>
                <a:uLnTx/>
                <a:uFillTx/>
                <a:latin typeface="+mn-ea"/>
                <a:ea typeface="+mn-ea"/>
                <a:cs typeface="+mn-cs"/>
              </a:rPr>
              <a:t>单、双精度浮点型</a:t>
            </a: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由于</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C</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语言中的浮点值总是用双精度表示的，所以</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float </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型数据参与运算时只需要在尾部加</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0</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延长为</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double</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型数据。</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double</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型数据转换为</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float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型时，会造成数据精度丢失，有效位以外的数据将会进行</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四舍五入</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457200" marR="0" lvl="0" indent="-457200" algn="l" defTabSz="914400" rtl="0" eaLnBrk="0" fontAlgn="base" latinLnBrk="0" hangingPunct="0">
              <a:lnSpc>
                <a:spcPct val="150000"/>
              </a:lnSpc>
              <a:spcBef>
                <a:spcPct val="20000"/>
              </a:spcBef>
              <a:spcAft>
                <a:spcPct val="0"/>
              </a:spcAft>
              <a:buClrTx/>
              <a:buSzTx/>
              <a:buFont typeface="+mj-ea"/>
              <a:buAutoNum type="alphaLcPeriod"/>
              <a:defRPr/>
            </a:pP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en-US"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p:txBody>
      </p:sp>
      <p:sp>
        <p:nvSpPr>
          <p:cNvPr id="2" name="标题 1"/>
          <p:cNvSpPr>
            <a:spLocks noGrp="1"/>
          </p:cNvSpPr>
          <p:nvPr>
            <p:custDataLst>
              <p:tags r:id="rId1"/>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2.3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常量与变量</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3" name="灯片编号占位符 2"/>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bwMode="auto">
          <a:xfrm>
            <a:off x="1485900" y="603647"/>
            <a:ext cx="6172200" cy="4298156"/>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ea"/>
                <a:ea typeface="+mn-ea"/>
                <a:cs typeface="+mn-cs"/>
              </a:rPr>
              <a:t>3</a:t>
            </a:r>
            <a:r>
              <a:rPr kumimoji="0" lang="zh-CN" altLang="en-US" sz="1500" b="0" i="0" u="none" strike="noStrike" kern="0" cap="none" spc="0" normalizeH="0" baseline="0" noProof="0" dirty="0" smtClean="0">
                <a:ln>
                  <a:noFill/>
                </a:ln>
                <a:solidFill>
                  <a:schemeClr val="tx1"/>
                </a:solidFill>
                <a:effectLst/>
                <a:uLnTx/>
                <a:uFillTx/>
                <a:latin typeface="+mn-ea"/>
                <a:ea typeface="+mn-ea"/>
                <a:cs typeface="+mn-cs"/>
              </a:rPr>
              <a:t>）</a:t>
            </a:r>
            <a:r>
              <a:rPr kumimoji="0" lang="en-US" altLang="zh-CN" sz="1500" b="0" i="0" u="none" strike="noStrike" kern="0" cap="none" spc="0" normalizeH="0" baseline="0" noProof="0" dirty="0" smtClean="0">
                <a:ln>
                  <a:noFill/>
                </a:ln>
                <a:solidFill>
                  <a:schemeClr val="tx1"/>
                </a:solidFill>
                <a:effectLst/>
                <a:uLnTx/>
                <a:uFillTx/>
                <a:latin typeface="+mn-ea"/>
                <a:ea typeface="+mn-ea"/>
                <a:cs typeface="+mn-cs"/>
              </a:rPr>
              <a:t>.char</a:t>
            </a:r>
            <a:r>
              <a:rPr kumimoji="0" lang="zh-CN" altLang="en-US" sz="1500" b="0" i="0" u="none" strike="noStrike" kern="0" cap="none" spc="0" normalizeH="0" baseline="0" noProof="0" dirty="0" smtClean="0">
                <a:ln>
                  <a:noFill/>
                </a:ln>
                <a:solidFill>
                  <a:schemeClr val="tx1"/>
                </a:solidFill>
                <a:effectLst/>
                <a:uLnTx/>
                <a:uFillTx/>
                <a:latin typeface="+mn-ea"/>
                <a:ea typeface="+mn-ea"/>
                <a:cs typeface="+mn-cs"/>
              </a:rPr>
              <a:t>型与</a:t>
            </a:r>
            <a:r>
              <a:rPr kumimoji="0" lang="en-US" altLang="zh-CN" sz="1500" b="0" i="0" u="none" strike="noStrike" kern="0" cap="none" spc="0" normalizeH="0" baseline="0" noProof="0" dirty="0" smtClean="0">
                <a:ln>
                  <a:noFill/>
                </a:ln>
                <a:solidFill>
                  <a:schemeClr val="tx1"/>
                </a:solidFill>
                <a:effectLst/>
                <a:uLnTx/>
                <a:uFillTx/>
                <a:latin typeface="+mn-ea"/>
                <a:ea typeface="+mn-ea"/>
                <a:cs typeface="+mn-cs"/>
              </a:rPr>
              <a:t>int</a:t>
            </a:r>
            <a:r>
              <a:rPr kumimoji="0" lang="zh-CN" altLang="en-US" sz="1500" b="0" i="0" u="none" strike="noStrike" kern="0" cap="none" spc="0" normalizeH="0" baseline="0" noProof="0" dirty="0" smtClean="0">
                <a:ln>
                  <a:noFill/>
                </a:ln>
                <a:solidFill>
                  <a:schemeClr val="tx1"/>
                </a:solidFill>
                <a:effectLst/>
                <a:uLnTx/>
                <a:uFillTx/>
                <a:latin typeface="+mn-ea"/>
                <a:ea typeface="+mn-ea"/>
                <a:cs typeface="+mn-cs"/>
              </a:rPr>
              <a:t>型</a:t>
            </a: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ea"/>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ea"/>
                <a:ea typeface="+mn-ea"/>
                <a:cs typeface="+mn-cs"/>
              </a:rPr>
              <a:t>将</a:t>
            </a:r>
            <a:r>
              <a:rPr kumimoji="0" lang="en-US" altLang="zh-CN" sz="1500" b="0" i="0" u="none" strike="noStrike" kern="0" cap="none" spc="0" normalizeH="0" baseline="0" noProof="0" dirty="0">
                <a:ln>
                  <a:noFill/>
                </a:ln>
                <a:solidFill>
                  <a:schemeClr val="tx1"/>
                </a:solidFill>
                <a:effectLst/>
                <a:uLnTx/>
                <a:uFillTx/>
                <a:latin typeface="+mn-ea"/>
                <a:ea typeface="+mn-ea"/>
                <a:cs typeface="+mn-cs"/>
              </a:rPr>
              <a:t>int</a:t>
            </a:r>
            <a:r>
              <a:rPr kumimoji="0" lang="zh-CN" altLang="zh-CN" sz="1500" b="0" i="0" u="none" strike="noStrike" kern="0" cap="none" spc="0" normalizeH="0" baseline="0" noProof="0" dirty="0">
                <a:ln>
                  <a:noFill/>
                </a:ln>
                <a:solidFill>
                  <a:schemeClr val="tx1"/>
                </a:solidFill>
                <a:effectLst/>
                <a:uLnTx/>
                <a:uFillTx/>
                <a:latin typeface="+mn-ea"/>
                <a:ea typeface="+mn-ea"/>
                <a:cs typeface="+mn-cs"/>
              </a:rPr>
              <a:t>型数值赋给</a:t>
            </a:r>
            <a:r>
              <a:rPr kumimoji="0" lang="en-US" altLang="zh-CN" sz="1500" b="0" i="0" u="none" strike="noStrike" kern="0" cap="none" spc="0" normalizeH="0" baseline="0" noProof="0" dirty="0">
                <a:ln>
                  <a:noFill/>
                </a:ln>
                <a:solidFill>
                  <a:schemeClr val="tx1"/>
                </a:solidFill>
                <a:effectLst/>
                <a:uLnTx/>
                <a:uFillTx/>
                <a:latin typeface="+mn-ea"/>
                <a:ea typeface="+mn-ea"/>
                <a:cs typeface="+mn-cs"/>
              </a:rPr>
              <a:t>char</a:t>
            </a:r>
            <a:r>
              <a:rPr kumimoji="0" lang="zh-CN" altLang="zh-CN" sz="1500" b="0" i="0" u="none" strike="noStrike" kern="0" cap="none" spc="0" normalizeH="0" baseline="0" noProof="0" dirty="0">
                <a:ln>
                  <a:noFill/>
                </a:ln>
                <a:solidFill>
                  <a:schemeClr val="tx1"/>
                </a:solidFill>
                <a:effectLst/>
                <a:uLnTx/>
                <a:uFillTx/>
                <a:latin typeface="+mn-ea"/>
                <a:ea typeface="+mn-ea"/>
                <a:cs typeface="+mn-cs"/>
              </a:rPr>
              <a:t>型</a:t>
            </a:r>
            <a:r>
              <a:rPr kumimoji="0" lang="zh-CN" altLang="zh-CN" sz="1500" b="0" i="0" u="none" strike="noStrike" kern="0" cap="none" spc="0" normalizeH="0" baseline="0" noProof="0" dirty="0" smtClean="0">
                <a:ln>
                  <a:noFill/>
                </a:ln>
                <a:solidFill>
                  <a:schemeClr val="tx1"/>
                </a:solidFill>
                <a:effectLst/>
                <a:uLnTx/>
                <a:uFillTx/>
                <a:latin typeface="+mn-ea"/>
                <a:ea typeface="+mn-ea"/>
                <a:cs typeface="+mn-cs"/>
              </a:rPr>
              <a:t>变量，</a:t>
            </a:r>
            <a:r>
              <a:rPr kumimoji="0" lang="zh-CN" altLang="zh-CN" sz="1500" b="0" i="0" u="none" strike="noStrike" kern="0" cap="none" spc="0" normalizeH="0" baseline="0" noProof="0" dirty="0">
                <a:ln>
                  <a:noFill/>
                </a:ln>
                <a:solidFill>
                  <a:schemeClr val="tx1"/>
                </a:solidFill>
                <a:effectLst/>
                <a:uLnTx/>
                <a:uFillTx/>
                <a:latin typeface="+mn-ea"/>
                <a:ea typeface="+mn-ea"/>
                <a:cs typeface="+mn-cs"/>
              </a:rPr>
              <a:t>只保留其最低</a:t>
            </a:r>
            <a:r>
              <a:rPr kumimoji="0" lang="en-US" altLang="zh-CN" sz="1500" b="0" i="0" u="none" strike="noStrike" kern="0" cap="none" spc="0" normalizeH="0" baseline="0" noProof="0" dirty="0">
                <a:ln>
                  <a:noFill/>
                </a:ln>
                <a:solidFill>
                  <a:schemeClr val="tx1"/>
                </a:solidFill>
                <a:effectLst/>
                <a:uLnTx/>
                <a:uFillTx/>
                <a:latin typeface="+mn-ea"/>
                <a:ea typeface="+mn-ea"/>
                <a:cs typeface="+mn-cs"/>
              </a:rPr>
              <a:t>8</a:t>
            </a:r>
            <a:r>
              <a:rPr kumimoji="0" lang="zh-CN" altLang="zh-CN" sz="1500" b="0" i="0" u="none" strike="noStrike" kern="0" cap="none" spc="0" normalizeH="0" baseline="0" noProof="0" dirty="0">
                <a:ln>
                  <a:noFill/>
                </a:ln>
                <a:solidFill>
                  <a:schemeClr val="tx1"/>
                </a:solidFill>
                <a:effectLst/>
                <a:uLnTx/>
                <a:uFillTx/>
                <a:latin typeface="+mn-ea"/>
                <a:ea typeface="+mn-ea"/>
                <a:cs typeface="+mn-cs"/>
              </a:rPr>
              <a:t>位，高位部分舍弃。</a:t>
            </a:r>
            <a:endParaRPr kumimoji="0" lang="zh-CN" altLang="zh-CN" sz="1500" b="0" i="0" u="none" strike="noStrike" kern="0" cap="none" spc="0" normalizeH="0" baseline="0" noProof="0" dirty="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ea"/>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ea"/>
                <a:ea typeface="+mn-ea"/>
                <a:cs typeface="+mn-cs"/>
              </a:rPr>
              <a:t>将</a:t>
            </a:r>
            <a:r>
              <a:rPr kumimoji="0" lang="en-US" altLang="zh-CN" sz="1500" b="0" i="0" u="none" strike="noStrike" kern="0" cap="none" spc="0" normalizeH="0" baseline="0" noProof="0" dirty="0">
                <a:ln>
                  <a:noFill/>
                </a:ln>
                <a:solidFill>
                  <a:schemeClr val="tx1"/>
                </a:solidFill>
                <a:effectLst/>
                <a:uLnTx/>
                <a:uFillTx/>
                <a:latin typeface="+mn-ea"/>
                <a:ea typeface="+mn-ea"/>
                <a:cs typeface="+mn-cs"/>
              </a:rPr>
              <a:t>char</a:t>
            </a:r>
            <a:r>
              <a:rPr kumimoji="0" lang="zh-CN" altLang="zh-CN" sz="1500" b="0" i="0" u="none" strike="noStrike" kern="0" cap="none" spc="0" normalizeH="0" baseline="0" noProof="0" dirty="0">
                <a:ln>
                  <a:noFill/>
                </a:ln>
                <a:solidFill>
                  <a:schemeClr val="tx1"/>
                </a:solidFill>
                <a:effectLst/>
                <a:uLnTx/>
                <a:uFillTx/>
                <a:latin typeface="+mn-ea"/>
                <a:ea typeface="+mn-ea"/>
                <a:cs typeface="+mn-cs"/>
              </a:rPr>
              <a:t>型数值赋给</a:t>
            </a:r>
            <a:r>
              <a:rPr kumimoji="0" lang="en-US" altLang="zh-CN" sz="1500" b="0" i="0" u="none" strike="noStrike" kern="0" cap="none" spc="0" normalizeH="0" baseline="0" noProof="0" dirty="0">
                <a:ln>
                  <a:noFill/>
                </a:ln>
                <a:solidFill>
                  <a:schemeClr val="tx1"/>
                </a:solidFill>
                <a:effectLst/>
                <a:uLnTx/>
                <a:uFillTx/>
                <a:latin typeface="+mn-ea"/>
                <a:ea typeface="+mn-ea"/>
                <a:cs typeface="+mn-cs"/>
              </a:rPr>
              <a:t>int</a:t>
            </a:r>
            <a:r>
              <a:rPr kumimoji="0" lang="zh-CN" altLang="zh-CN" sz="1500" b="0" i="0" u="none" strike="noStrike" kern="0" cap="none" spc="0" normalizeH="0" baseline="0" noProof="0" dirty="0">
                <a:ln>
                  <a:noFill/>
                </a:ln>
                <a:solidFill>
                  <a:schemeClr val="tx1"/>
                </a:solidFill>
                <a:effectLst/>
                <a:uLnTx/>
                <a:uFillTx/>
                <a:latin typeface="+mn-ea"/>
                <a:ea typeface="+mn-ea"/>
                <a:cs typeface="+mn-cs"/>
              </a:rPr>
              <a:t>型变量时， 一些编译程序不管其值大小都作正数处理，而另一些编译程序在转换时会根据</a:t>
            </a:r>
            <a:r>
              <a:rPr kumimoji="0" lang="en-US" altLang="zh-CN" sz="1500" b="0" i="0" u="none" strike="noStrike" kern="0" cap="none" spc="0" normalizeH="0" baseline="0" noProof="0" dirty="0">
                <a:ln>
                  <a:noFill/>
                </a:ln>
                <a:solidFill>
                  <a:schemeClr val="tx1"/>
                </a:solidFill>
                <a:effectLst/>
                <a:uLnTx/>
                <a:uFillTx/>
                <a:latin typeface="+mn-ea"/>
                <a:ea typeface="+mn-ea"/>
                <a:cs typeface="+mn-cs"/>
              </a:rPr>
              <a:t>char</a:t>
            </a:r>
            <a:r>
              <a:rPr kumimoji="0" lang="zh-CN" altLang="zh-CN" sz="1500" b="0" i="0" u="none" strike="noStrike" kern="0" cap="none" spc="0" normalizeH="0" baseline="0" noProof="0" dirty="0">
                <a:ln>
                  <a:noFill/>
                </a:ln>
                <a:solidFill>
                  <a:schemeClr val="tx1"/>
                </a:solidFill>
                <a:effectLst/>
                <a:uLnTx/>
                <a:uFillTx/>
                <a:latin typeface="+mn-ea"/>
                <a:ea typeface="+mn-ea"/>
                <a:cs typeface="+mn-cs"/>
              </a:rPr>
              <a:t>型数据值的大小进行判断，若值大于</a:t>
            </a:r>
            <a:r>
              <a:rPr kumimoji="0" lang="en-US" altLang="zh-CN" sz="1500" b="0" i="0" u="none" strike="noStrike" kern="0" cap="none" spc="0" normalizeH="0" baseline="0" noProof="0" dirty="0">
                <a:ln>
                  <a:noFill/>
                </a:ln>
                <a:solidFill>
                  <a:schemeClr val="tx1"/>
                </a:solidFill>
                <a:effectLst/>
                <a:uLnTx/>
                <a:uFillTx/>
                <a:latin typeface="+mn-ea"/>
                <a:ea typeface="+mn-ea"/>
                <a:cs typeface="+mn-cs"/>
              </a:rPr>
              <a:t>127</a:t>
            </a:r>
            <a:r>
              <a:rPr kumimoji="0" lang="zh-CN" altLang="zh-CN" sz="1500" b="0" i="0" u="none" strike="noStrike" kern="0" cap="none" spc="0" normalizeH="0" baseline="0" noProof="0" dirty="0">
                <a:ln>
                  <a:noFill/>
                </a:ln>
                <a:solidFill>
                  <a:schemeClr val="tx1"/>
                </a:solidFill>
                <a:effectLst/>
                <a:uLnTx/>
                <a:uFillTx/>
                <a:latin typeface="+mn-ea"/>
                <a:ea typeface="+mn-ea"/>
                <a:cs typeface="+mn-cs"/>
              </a:rPr>
              <a:t>，就作为负数处理。对于使用者来讲，如果原来</a:t>
            </a:r>
            <a:r>
              <a:rPr kumimoji="0" lang="en-US" altLang="zh-CN" sz="1500" b="0" i="0" u="none" strike="noStrike" kern="0" cap="none" spc="0" normalizeH="0" baseline="0" noProof="0" dirty="0">
                <a:ln>
                  <a:noFill/>
                </a:ln>
                <a:solidFill>
                  <a:schemeClr val="tx1"/>
                </a:solidFill>
                <a:effectLst/>
                <a:uLnTx/>
                <a:uFillTx/>
                <a:latin typeface="+mn-ea"/>
                <a:ea typeface="+mn-ea"/>
                <a:cs typeface="+mn-cs"/>
              </a:rPr>
              <a:t>char</a:t>
            </a:r>
            <a:r>
              <a:rPr kumimoji="0" lang="zh-CN" altLang="zh-CN" sz="1500" b="0" i="0" u="none" strike="noStrike" kern="0" cap="none" spc="0" normalizeH="0" baseline="0" noProof="0" dirty="0">
                <a:ln>
                  <a:noFill/>
                </a:ln>
                <a:solidFill>
                  <a:schemeClr val="tx1"/>
                </a:solidFill>
                <a:effectLst/>
                <a:uLnTx/>
                <a:uFillTx/>
                <a:latin typeface="+mn-ea"/>
                <a:ea typeface="+mn-ea"/>
                <a:cs typeface="+mn-cs"/>
              </a:rPr>
              <a:t>型数据取正值，转换后仍为正值。如果原来</a:t>
            </a:r>
            <a:r>
              <a:rPr kumimoji="0" lang="en-US" altLang="zh-CN" sz="1500" b="0" i="0" u="none" strike="noStrike" kern="0" cap="none" spc="0" normalizeH="0" baseline="0" noProof="0" dirty="0">
                <a:ln>
                  <a:noFill/>
                </a:ln>
                <a:solidFill>
                  <a:schemeClr val="tx1"/>
                </a:solidFill>
                <a:effectLst/>
                <a:uLnTx/>
                <a:uFillTx/>
                <a:latin typeface="+mn-ea"/>
                <a:ea typeface="+mn-ea"/>
                <a:cs typeface="+mn-cs"/>
              </a:rPr>
              <a:t>char</a:t>
            </a:r>
            <a:r>
              <a:rPr kumimoji="0" lang="zh-CN" altLang="zh-CN" sz="1500" b="0" i="0" u="none" strike="noStrike" kern="0" cap="none" spc="0" normalizeH="0" baseline="0" noProof="0" dirty="0">
                <a:ln>
                  <a:noFill/>
                </a:ln>
                <a:solidFill>
                  <a:schemeClr val="tx1"/>
                </a:solidFill>
                <a:effectLst/>
                <a:uLnTx/>
                <a:uFillTx/>
                <a:latin typeface="+mn-ea"/>
                <a:ea typeface="+mn-ea"/>
                <a:cs typeface="+mn-cs"/>
              </a:rPr>
              <a:t>型值可正可负，则转换后也仍然保持原值，只是数据的内部表示形式</a:t>
            </a:r>
            <a:r>
              <a:rPr kumimoji="0" lang="zh-CN" altLang="zh-CN" sz="1500" b="0" i="0" u="none" strike="noStrike" kern="0" cap="none" spc="0" normalizeH="0" baseline="0" noProof="0" dirty="0" smtClean="0">
                <a:ln>
                  <a:noFill/>
                </a:ln>
                <a:solidFill>
                  <a:schemeClr val="tx1"/>
                </a:solidFill>
                <a:effectLst/>
                <a:uLnTx/>
                <a:uFillTx/>
                <a:latin typeface="+mn-ea"/>
                <a:ea typeface="+mn-ea"/>
                <a:cs typeface="+mn-cs"/>
              </a:rPr>
              <a:t>有所不同</a:t>
            </a:r>
            <a:r>
              <a:rPr kumimoji="0" lang="zh-CN" altLang="en-US" sz="1500" b="0" i="0" u="none" strike="noStrike" kern="0" cap="none" spc="0" normalizeH="0" baseline="0" noProof="0" dirty="0" smtClean="0">
                <a:ln>
                  <a:noFill/>
                </a:ln>
                <a:solidFill>
                  <a:schemeClr val="tx1"/>
                </a:solidFill>
                <a:effectLst/>
                <a:uLnTx/>
                <a:uFillTx/>
                <a:latin typeface="+mn-ea"/>
                <a:ea typeface="+mn-ea"/>
                <a:cs typeface="+mn-cs"/>
              </a:rPr>
              <a:t>。</a:t>
            </a: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ea"/>
                <a:ea typeface="+mn-ea"/>
                <a:cs typeface="+mn-cs"/>
              </a:rPr>
              <a:t>4</a:t>
            </a:r>
            <a:r>
              <a:rPr kumimoji="0" lang="zh-CN" altLang="en-US" sz="1500" b="0" i="0" u="none" strike="noStrike" kern="0" cap="none" spc="0" normalizeH="0" baseline="0" noProof="0" dirty="0" smtClean="0">
                <a:ln>
                  <a:noFill/>
                </a:ln>
                <a:solidFill>
                  <a:schemeClr val="tx1"/>
                </a:solidFill>
                <a:effectLst/>
                <a:uLnTx/>
                <a:uFillTx/>
                <a:latin typeface="+mn-ea"/>
                <a:ea typeface="+mn-ea"/>
                <a:cs typeface="+mn-cs"/>
              </a:rPr>
              <a:t>）</a:t>
            </a:r>
            <a:r>
              <a:rPr kumimoji="0" lang="en-US" altLang="zh-CN" sz="1500" b="0" i="0" u="none" strike="noStrike" kern="0" cap="none" spc="0" normalizeH="0" baseline="0" noProof="0" dirty="0" smtClean="0">
                <a:ln>
                  <a:noFill/>
                </a:ln>
                <a:solidFill>
                  <a:schemeClr val="tx1"/>
                </a:solidFill>
                <a:effectLst/>
                <a:uLnTx/>
                <a:uFillTx/>
                <a:latin typeface="+mn-ea"/>
                <a:ea typeface="+mn-ea"/>
                <a:cs typeface="+mn-cs"/>
              </a:rPr>
              <a:t>.int</a:t>
            </a:r>
            <a:r>
              <a:rPr kumimoji="0" lang="zh-CN" altLang="en-US" sz="1500" b="0" i="0" u="none" strike="noStrike" kern="0" cap="none" spc="0" normalizeH="0" baseline="0" noProof="0" dirty="0" smtClean="0">
                <a:ln>
                  <a:noFill/>
                </a:ln>
                <a:solidFill>
                  <a:schemeClr val="tx1"/>
                </a:solidFill>
                <a:effectLst/>
                <a:uLnTx/>
                <a:uFillTx/>
                <a:latin typeface="+mn-ea"/>
                <a:ea typeface="+mn-ea"/>
                <a:cs typeface="+mn-cs"/>
              </a:rPr>
              <a:t>型与</a:t>
            </a:r>
            <a:r>
              <a:rPr kumimoji="0" lang="en-US" altLang="zh-CN" sz="1500" b="0" i="0" u="none" strike="noStrike" kern="0" cap="none" spc="0" normalizeH="0" baseline="0" noProof="0" dirty="0" smtClean="0">
                <a:ln>
                  <a:noFill/>
                </a:ln>
                <a:solidFill>
                  <a:schemeClr val="tx1"/>
                </a:solidFill>
                <a:effectLst/>
                <a:uLnTx/>
                <a:uFillTx/>
                <a:latin typeface="+mn-ea"/>
                <a:ea typeface="+mn-ea"/>
                <a:cs typeface="+mn-cs"/>
              </a:rPr>
              <a:t>long</a:t>
            </a:r>
            <a:r>
              <a:rPr kumimoji="0" lang="zh-CN" altLang="en-US" sz="1500" b="0" i="0" u="none" strike="noStrike" kern="0" cap="none" spc="0" normalizeH="0" baseline="0" noProof="0" dirty="0" smtClean="0">
                <a:ln>
                  <a:noFill/>
                </a:ln>
                <a:solidFill>
                  <a:schemeClr val="tx1"/>
                </a:solidFill>
                <a:effectLst/>
                <a:uLnTx/>
                <a:uFillTx/>
                <a:latin typeface="+mn-ea"/>
                <a:ea typeface="+mn-ea"/>
                <a:cs typeface="+mn-cs"/>
              </a:rPr>
              <a:t>型</a:t>
            </a: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long</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型数据赋给</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int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型变量时，将低</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16</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位值送给</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int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型变量，而将高</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16 </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位截断舍弃。</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这里假定</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int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型占两个字节</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 将</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int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型数据送给</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long</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型变量时，其外部值保持不变，而内部形式有所</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改变</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en-US"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p:txBody>
      </p:sp>
      <p:sp>
        <p:nvSpPr>
          <p:cNvPr id="2" name="标题 1"/>
          <p:cNvSpPr>
            <a:spLocks noGrp="1"/>
          </p:cNvSpPr>
          <p:nvPr>
            <p:custDataLst>
              <p:tags r:id="rId1"/>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2.3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常量与变量</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3" name="灯片编号占位符 2"/>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bwMode="auto">
          <a:xfrm>
            <a:off x="1485900" y="577454"/>
            <a:ext cx="6172200" cy="429934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ea"/>
                <a:ea typeface="+mn-ea"/>
                <a:cs typeface="+mn-cs"/>
              </a:rPr>
              <a:t>5</a:t>
            </a:r>
            <a:r>
              <a:rPr kumimoji="0" lang="zh-CN" altLang="en-US" sz="1500" b="0" i="0" u="none" strike="noStrike" kern="0" cap="none" spc="0" normalizeH="0" baseline="0" noProof="0" dirty="0" smtClean="0">
                <a:ln>
                  <a:noFill/>
                </a:ln>
                <a:solidFill>
                  <a:schemeClr val="tx1"/>
                </a:solidFill>
                <a:effectLst/>
                <a:uLnTx/>
                <a:uFillTx/>
                <a:latin typeface="+mn-ea"/>
                <a:ea typeface="+mn-ea"/>
                <a:cs typeface="+mn-cs"/>
              </a:rPr>
              <a:t>）</a:t>
            </a:r>
            <a:r>
              <a:rPr kumimoji="0" lang="en-US" altLang="zh-CN" sz="1500" b="0" i="0" u="none" strike="noStrike" kern="0" cap="none" spc="0" normalizeH="0" baseline="0" noProof="0" dirty="0" smtClean="0">
                <a:ln>
                  <a:noFill/>
                </a:ln>
                <a:solidFill>
                  <a:schemeClr val="tx1"/>
                </a:solidFill>
                <a:effectLst/>
                <a:uLnTx/>
                <a:uFillTx/>
                <a:latin typeface="+mn-ea"/>
                <a:ea typeface="+mn-ea"/>
                <a:cs typeface="+mn-cs"/>
              </a:rPr>
              <a:t>.</a:t>
            </a:r>
            <a:r>
              <a:rPr kumimoji="0" lang="zh-CN" altLang="en-US" sz="1500" b="0" i="0" u="none" strike="noStrike" kern="0" cap="none" spc="0" normalizeH="0" baseline="0" noProof="0" dirty="0" smtClean="0">
                <a:ln>
                  <a:noFill/>
                </a:ln>
                <a:solidFill>
                  <a:schemeClr val="tx1"/>
                </a:solidFill>
                <a:effectLst/>
                <a:uLnTx/>
                <a:uFillTx/>
                <a:latin typeface="+mn-ea"/>
                <a:ea typeface="+mn-ea"/>
                <a:cs typeface="+mn-cs"/>
              </a:rPr>
              <a:t>无符号整数</a:t>
            </a: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ea"/>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ea"/>
                <a:ea typeface="+mn-ea"/>
                <a:cs typeface="+mn-cs"/>
              </a:rPr>
              <a:t>将</a:t>
            </a:r>
            <a:r>
              <a:rPr kumimoji="0" lang="zh-CN" altLang="zh-CN" sz="1500" b="0" i="0" u="none" strike="noStrike" kern="0" cap="none" spc="0" normalizeH="0" baseline="0" noProof="0" dirty="0">
                <a:ln>
                  <a:noFill/>
                </a:ln>
                <a:solidFill>
                  <a:schemeClr val="tx1"/>
                </a:solidFill>
                <a:effectLst/>
                <a:uLnTx/>
                <a:uFillTx/>
                <a:latin typeface="+mn-ea"/>
                <a:ea typeface="+mn-ea"/>
                <a:cs typeface="+mn-cs"/>
              </a:rPr>
              <a:t>一个</a:t>
            </a:r>
            <a:r>
              <a:rPr kumimoji="0" lang="en-US" altLang="zh-CN" sz="1500" b="0" i="0" u="none" strike="noStrike" kern="0" cap="none" spc="0" normalizeH="0" baseline="0" noProof="0" dirty="0">
                <a:ln>
                  <a:noFill/>
                </a:ln>
                <a:solidFill>
                  <a:schemeClr val="tx1"/>
                </a:solidFill>
                <a:effectLst/>
                <a:uLnTx/>
                <a:uFillTx/>
                <a:latin typeface="+mn-ea"/>
                <a:ea typeface="+mn-ea"/>
                <a:cs typeface="+mn-cs"/>
              </a:rPr>
              <a:t>unsigned</a:t>
            </a:r>
            <a:r>
              <a:rPr kumimoji="0" lang="zh-CN" altLang="zh-CN" sz="1500" b="0" i="0" u="none" strike="noStrike" kern="0" cap="none" spc="0" normalizeH="0" baseline="0" noProof="0" dirty="0">
                <a:ln>
                  <a:noFill/>
                </a:ln>
                <a:solidFill>
                  <a:schemeClr val="tx1"/>
                </a:solidFill>
                <a:effectLst/>
                <a:uLnTx/>
                <a:uFillTx/>
                <a:latin typeface="+mn-ea"/>
                <a:ea typeface="+mn-ea"/>
                <a:cs typeface="+mn-cs"/>
              </a:rPr>
              <a:t>型数据赋给一个长度相同的整型变量时</a:t>
            </a:r>
            <a:r>
              <a:rPr kumimoji="0" lang="en-US" altLang="zh-CN" sz="1500" b="0" i="0" u="none" strike="noStrike" kern="0" cap="none" spc="0" normalizeH="0" baseline="0" noProof="0" dirty="0">
                <a:ln>
                  <a:noFill/>
                </a:ln>
                <a:solidFill>
                  <a:schemeClr val="tx1"/>
                </a:solidFill>
                <a:effectLst/>
                <a:uLnTx/>
                <a:uFillTx/>
                <a:latin typeface="+mn-ea"/>
                <a:ea typeface="+mn-ea"/>
                <a:cs typeface="+mn-cs"/>
              </a:rPr>
              <a:t>(</a:t>
            </a:r>
            <a:r>
              <a:rPr kumimoji="0" lang="zh-CN" altLang="zh-CN" sz="1500" b="0" i="0" u="none" strike="noStrike" kern="0" cap="none" spc="0" normalizeH="0" baseline="0" noProof="0" dirty="0">
                <a:ln>
                  <a:noFill/>
                </a:ln>
                <a:solidFill>
                  <a:schemeClr val="tx1"/>
                </a:solidFill>
                <a:effectLst/>
                <a:uLnTx/>
                <a:uFillTx/>
                <a:latin typeface="+mn-ea"/>
                <a:ea typeface="+mn-ea"/>
                <a:cs typeface="+mn-cs"/>
              </a:rPr>
              <a:t>如：</a:t>
            </a:r>
            <a:r>
              <a:rPr kumimoji="0" lang="en-US" altLang="zh-CN" sz="1500" b="0" i="0" u="none" strike="noStrike" kern="0" cap="none" spc="0" normalizeH="0" baseline="0" noProof="0" dirty="0" err="1">
                <a:ln>
                  <a:noFill/>
                </a:ln>
                <a:solidFill>
                  <a:schemeClr val="tx1"/>
                </a:solidFill>
                <a:effectLst/>
                <a:uLnTx/>
                <a:uFillTx/>
                <a:latin typeface="+mn-ea"/>
                <a:ea typeface="+mn-ea"/>
                <a:cs typeface="+mn-cs"/>
              </a:rPr>
              <a:t>unsigned→int</a:t>
            </a:r>
            <a:r>
              <a:rPr kumimoji="0" lang="zh-CN" altLang="zh-CN" sz="1500" b="0" i="0" u="none" strike="noStrike" kern="0" cap="none" spc="0" normalizeH="0" baseline="0" noProof="0" dirty="0">
                <a:ln>
                  <a:noFill/>
                </a:ln>
                <a:solidFill>
                  <a:schemeClr val="tx1"/>
                </a:solidFill>
                <a:effectLst/>
                <a:uLnTx/>
                <a:uFillTx/>
                <a:latin typeface="+mn-ea"/>
                <a:ea typeface="+mn-ea"/>
                <a:cs typeface="+mn-cs"/>
              </a:rPr>
              <a:t>、</a:t>
            </a:r>
            <a:r>
              <a:rPr kumimoji="0" lang="en-US" altLang="zh-CN" sz="1500" b="0" i="0" u="none" strike="noStrike" kern="0" cap="none" spc="0" normalizeH="0" baseline="0" noProof="0" dirty="0">
                <a:ln>
                  <a:noFill/>
                </a:ln>
                <a:solidFill>
                  <a:schemeClr val="tx1"/>
                </a:solidFill>
                <a:effectLst/>
                <a:uLnTx/>
                <a:uFillTx/>
                <a:latin typeface="+mn-ea"/>
                <a:ea typeface="+mn-ea"/>
                <a:cs typeface="+mn-cs"/>
              </a:rPr>
              <a:t>unsigned long→long</a:t>
            </a:r>
            <a:r>
              <a:rPr kumimoji="0" lang="zh-CN" altLang="zh-CN" sz="1500" b="0" i="0" u="none" strike="noStrike" kern="0" cap="none" spc="0" normalizeH="0" baseline="0" noProof="0" dirty="0">
                <a:ln>
                  <a:noFill/>
                </a:ln>
                <a:solidFill>
                  <a:schemeClr val="tx1"/>
                </a:solidFill>
                <a:effectLst/>
                <a:uLnTx/>
                <a:uFillTx/>
                <a:latin typeface="+mn-ea"/>
                <a:ea typeface="+mn-ea"/>
                <a:cs typeface="+mn-cs"/>
              </a:rPr>
              <a:t>，</a:t>
            </a:r>
            <a:r>
              <a:rPr kumimoji="0" lang="en-US" altLang="zh-CN" sz="1500" b="0" i="0" u="none" strike="noStrike" kern="0" cap="none" spc="0" normalizeH="0" baseline="0" noProof="0" dirty="0">
                <a:ln>
                  <a:noFill/>
                </a:ln>
                <a:solidFill>
                  <a:schemeClr val="tx1"/>
                </a:solidFill>
                <a:effectLst/>
                <a:uLnTx/>
                <a:uFillTx/>
                <a:latin typeface="+mn-ea"/>
                <a:ea typeface="+mn-ea"/>
                <a:cs typeface="+mn-cs"/>
              </a:rPr>
              <a:t>unsigned short→short) </a:t>
            </a:r>
            <a:r>
              <a:rPr kumimoji="0" lang="zh-CN" altLang="zh-CN" sz="1500" b="0" i="0" u="none" strike="noStrike" kern="0" cap="none" spc="0" normalizeH="0" baseline="0" noProof="0" dirty="0">
                <a:ln>
                  <a:noFill/>
                </a:ln>
                <a:solidFill>
                  <a:schemeClr val="tx1"/>
                </a:solidFill>
                <a:effectLst/>
                <a:uLnTx/>
                <a:uFillTx/>
                <a:latin typeface="+mn-ea"/>
                <a:ea typeface="+mn-ea"/>
                <a:cs typeface="+mn-cs"/>
              </a:rPr>
              <a:t>，内部的存储方式不变，但外部值却可能改变。</a:t>
            </a:r>
            <a:endParaRPr kumimoji="0" lang="zh-CN" altLang="zh-CN" sz="1500" b="0" i="0" u="none" strike="noStrike" kern="0" cap="none" spc="0" normalizeH="0" baseline="0" noProof="0" dirty="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ea"/>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ea"/>
                <a:ea typeface="+mn-ea"/>
                <a:cs typeface="+mn-cs"/>
              </a:rPr>
              <a:t>将</a:t>
            </a:r>
            <a:r>
              <a:rPr kumimoji="0" lang="zh-CN" altLang="zh-CN" sz="1500" b="0" i="0" u="none" strike="noStrike" kern="0" cap="none" spc="0" normalizeH="0" baseline="0" noProof="0" dirty="0">
                <a:ln>
                  <a:noFill/>
                </a:ln>
                <a:solidFill>
                  <a:schemeClr val="tx1"/>
                </a:solidFill>
                <a:effectLst/>
                <a:uLnTx/>
                <a:uFillTx/>
                <a:latin typeface="+mn-ea"/>
                <a:ea typeface="+mn-ea"/>
                <a:cs typeface="+mn-cs"/>
              </a:rPr>
              <a:t>一个非</a:t>
            </a:r>
            <a:r>
              <a:rPr kumimoji="0" lang="en-US" altLang="zh-CN" sz="1500" b="0" i="0" u="none" strike="noStrike" kern="0" cap="none" spc="0" normalizeH="0" baseline="0" noProof="0" dirty="0">
                <a:ln>
                  <a:noFill/>
                </a:ln>
                <a:solidFill>
                  <a:schemeClr val="tx1"/>
                </a:solidFill>
                <a:effectLst/>
                <a:uLnTx/>
                <a:uFillTx/>
                <a:latin typeface="+mn-ea"/>
                <a:ea typeface="+mn-ea"/>
                <a:cs typeface="+mn-cs"/>
              </a:rPr>
              <a:t>unsigned</a:t>
            </a:r>
            <a:r>
              <a:rPr kumimoji="0" lang="zh-CN" altLang="zh-CN" sz="1500" b="0" i="0" u="none" strike="noStrike" kern="0" cap="none" spc="0" normalizeH="0" baseline="0" noProof="0" dirty="0">
                <a:ln>
                  <a:noFill/>
                </a:ln>
                <a:solidFill>
                  <a:schemeClr val="tx1"/>
                </a:solidFill>
                <a:effectLst/>
                <a:uLnTx/>
                <a:uFillTx/>
                <a:latin typeface="+mn-ea"/>
                <a:ea typeface="+mn-ea"/>
                <a:cs typeface="+mn-cs"/>
              </a:rPr>
              <a:t>整型数据赋给一个长度相同的</a:t>
            </a:r>
            <a:r>
              <a:rPr kumimoji="0" lang="en-US" altLang="zh-CN" sz="1500" b="0" i="0" u="none" strike="noStrike" kern="0" cap="none" spc="0" normalizeH="0" baseline="0" noProof="0" dirty="0">
                <a:ln>
                  <a:noFill/>
                </a:ln>
                <a:solidFill>
                  <a:schemeClr val="tx1"/>
                </a:solidFill>
                <a:effectLst/>
                <a:uLnTx/>
                <a:uFillTx/>
                <a:latin typeface="+mn-ea"/>
                <a:ea typeface="+mn-ea"/>
                <a:cs typeface="+mn-cs"/>
              </a:rPr>
              <a:t>unsigned</a:t>
            </a:r>
            <a:r>
              <a:rPr kumimoji="0" lang="zh-CN" altLang="zh-CN" sz="1500" b="0" i="0" u="none" strike="noStrike" kern="0" cap="none" spc="0" normalizeH="0" baseline="0" noProof="0" dirty="0">
                <a:ln>
                  <a:noFill/>
                </a:ln>
                <a:solidFill>
                  <a:schemeClr val="tx1"/>
                </a:solidFill>
                <a:effectLst/>
                <a:uLnTx/>
                <a:uFillTx/>
                <a:latin typeface="+mn-ea"/>
                <a:ea typeface="+mn-ea"/>
                <a:cs typeface="+mn-cs"/>
              </a:rPr>
              <a:t>型</a:t>
            </a:r>
            <a:r>
              <a:rPr kumimoji="0" lang="zh-CN" altLang="zh-CN" sz="1500" b="0" i="0" u="none" strike="noStrike" kern="0" cap="none" spc="0" normalizeH="0" baseline="0" noProof="0" dirty="0" smtClean="0">
                <a:ln>
                  <a:noFill/>
                </a:ln>
                <a:solidFill>
                  <a:schemeClr val="tx1"/>
                </a:solidFill>
                <a:effectLst/>
                <a:uLnTx/>
                <a:uFillTx/>
                <a:latin typeface="+mn-ea"/>
                <a:ea typeface="+mn-ea"/>
                <a:cs typeface="+mn-cs"/>
              </a:rPr>
              <a:t>变量， </a:t>
            </a:r>
            <a:r>
              <a:rPr kumimoji="0" lang="zh-CN" altLang="zh-CN" sz="1500" b="0" i="0" u="none" strike="noStrike" kern="0" cap="none" spc="0" normalizeH="0" baseline="0" noProof="0" dirty="0">
                <a:ln>
                  <a:noFill/>
                </a:ln>
                <a:solidFill>
                  <a:schemeClr val="tx1"/>
                </a:solidFill>
                <a:effectLst/>
                <a:uLnTx/>
                <a:uFillTx/>
                <a:latin typeface="+mn-ea"/>
                <a:ea typeface="+mn-ea"/>
                <a:cs typeface="+mn-cs"/>
              </a:rPr>
              <a:t>内部存储形式不变，但外部表示时总是无符号</a:t>
            </a:r>
            <a:r>
              <a:rPr kumimoji="0" lang="zh-CN" altLang="zh-CN" sz="1500" b="0" i="0" u="none" strike="noStrike" kern="0" cap="none" spc="0" normalizeH="0" baseline="0" noProof="0" dirty="0" smtClean="0">
                <a:ln>
                  <a:noFill/>
                </a:ln>
                <a:solidFill>
                  <a:schemeClr val="tx1"/>
                </a:solidFill>
                <a:effectLst/>
                <a:uLnTx/>
                <a:uFillTx/>
                <a:latin typeface="+mn-ea"/>
                <a:ea typeface="+mn-ea"/>
                <a:cs typeface="+mn-cs"/>
              </a:rPr>
              <a:t>的</a:t>
            </a:r>
            <a:r>
              <a:rPr kumimoji="0" lang="zh-CN" altLang="en-US" sz="1500" b="0" i="0" u="none" strike="noStrike" kern="0" cap="none" spc="0" normalizeH="0" baseline="0" noProof="0" dirty="0" smtClean="0">
                <a:ln>
                  <a:noFill/>
                </a:ln>
                <a:solidFill>
                  <a:schemeClr val="tx1"/>
                </a:solidFill>
                <a:effectLst/>
                <a:uLnTx/>
                <a:uFillTx/>
                <a:latin typeface="+mn-ea"/>
                <a:ea typeface="+mn-ea"/>
                <a:cs typeface="+mn-cs"/>
              </a:rPr>
              <a:t>。</a:t>
            </a:r>
            <a:endParaRPr kumimoji="0" lang="en-US" altLang="zh-CN" sz="1500" b="0" i="0" u="none" strike="noStrike" kern="0" cap="none" spc="0" normalizeH="0" baseline="0" noProof="0" dirty="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en-US"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p:txBody>
      </p:sp>
      <p:sp>
        <p:nvSpPr>
          <p:cNvPr id="2" name="标题 1"/>
          <p:cNvSpPr>
            <a:spLocks noGrp="1"/>
          </p:cNvSpPr>
          <p:nvPr>
            <p:custDataLst>
              <p:tags r:id="rId1"/>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2.3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常量与变量</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3" name="灯片编号占位符 2"/>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bwMode="auto">
          <a:xfrm>
            <a:off x="638175" y="561340"/>
            <a:ext cx="8289290" cy="452564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Tx/>
              <a:buChar char="•"/>
              <a:defRPr/>
            </a:pPr>
            <a:r>
              <a:rPr kumimoji="0" lang="en-US" altLang="zh-CN" sz="1500" b="1" i="0" u="none" strike="noStrike" kern="0" cap="none" spc="0" normalizeH="0" baseline="0" noProof="0" dirty="0" smtClean="0">
                <a:ln>
                  <a:noFill/>
                </a:ln>
                <a:solidFill>
                  <a:srgbClr val="009ED6"/>
                </a:solidFill>
                <a:effectLst/>
                <a:uLnTx/>
                <a:uFillTx/>
                <a:latin typeface="+mn-lt"/>
                <a:ea typeface="+mn-ea"/>
                <a:cs typeface="+mn-cs"/>
              </a:rPr>
              <a:t>2.4.1  </a:t>
            </a:r>
            <a:r>
              <a:rPr kumimoji="0" lang="zh-CN" altLang="en-US" sz="1500" b="1" i="0" u="none" strike="noStrike" kern="0" cap="none" spc="0" normalizeH="0" baseline="0" noProof="0" dirty="0" smtClean="0">
                <a:ln>
                  <a:noFill/>
                </a:ln>
                <a:solidFill>
                  <a:srgbClr val="009ED6"/>
                </a:solidFill>
                <a:effectLst/>
                <a:uLnTx/>
                <a:uFillTx/>
                <a:latin typeface="+mn-lt"/>
                <a:ea typeface="+mn-ea"/>
                <a:cs typeface="+mn-cs"/>
              </a:rPr>
              <a:t>运算符与表达式</a:t>
            </a:r>
            <a:endParaRPr kumimoji="0" lang="en-US" altLang="zh-CN" sz="1500" b="1" i="0" u="none" strike="noStrike" kern="0" cap="none" spc="0" normalizeH="0" baseline="0" noProof="0" dirty="0">
              <a:ln>
                <a:noFill/>
              </a:ln>
              <a:solidFill>
                <a:srgbClr val="009ED6"/>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应用程序中，经常会对数据进行运算，为此，</a:t>
            </a: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C</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语言提供了多种类型的运算符，即专门用于告诉程序执行特定运算或逻辑操作的符号。根据运算符的作用，可以将</a:t>
            </a: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C</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语言中常见的运算符分为六大类</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zh-CN" altLang="en-US"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50000"/>
              </a:lnSpc>
              <a:spcBef>
                <a:spcPct val="20000"/>
              </a:spcBef>
              <a:spcAft>
                <a:spcPct val="0"/>
              </a:spcAft>
              <a:buClrTx/>
              <a:buSzTx/>
              <a:buFontTx/>
              <a:buNone/>
              <a:defRPr/>
            </a:pPr>
            <a:r>
              <a:rPr kumimoji="0" lang="zh-CN" altLang="en-US" sz="1050" b="0" i="0" u="none" strike="noStrike" kern="0" cap="none" spc="0" normalizeH="0" baseline="0" noProof="0" dirty="0" smtClean="0">
                <a:ln>
                  <a:noFill/>
                </a:ln>
                <a:solidFill>
                  <a:schemeClr val="tx1"/>
                </a:solidFill>
                <a:effectLst/>
                <a:uLnTx/>
                <a:uFillTx/>
                <a:latin typeface="+mn-ea"/>
                <a:ea typeface="+mn-ea"/>
                <a:cs typeface="+mn-cs"/>
              </a:rPr>
              <a:t>表</a:t>
            </a:r>
            <a:r>
              <a:rPr kumimoji="0" lang="en-US" altLang="zh-CN" sz="1050" b="0" i="0" u="none" strike="noStrike" kern="0" cap="none" spc="0" normalizeH="0" baseline="0" noProof="0" dirty="0" smtClean="0">
                <a:ln>
                  <a:noFill/>
                </a:ln>
                <a:solidFill>
                  <a:schemeClr val="tx1"/>
                </a:solidFill>
                <a:effectLst/>
                <a:uLnTx/>
                <a:uFillTx/>
                <a:latin typeface="+mn-ea"/>
                <a:ea typeface="+mn-ea"/>
                <a:cs typeface="+mn-cs"/>
              </a:rPr>
              <a:t>2-10   </a:t>
            </a:r>
            <a:r>
              <a:rPr kumimoji="0" lang="zh-CN" altLang="en-US" sz="1050" b="0" i="0" u="none" strike="noStrike" kern="0" cap="none" spc="0" normalizeH="0" baseline="0" noProof="0" dirty="0" smtClean="0">
                <a:ln>
                  <a:noFill/>
                </a:ln>
                <a:solidFill>
                  <a:schemeClr val="tx1"/>
                </a:solidFill>
                <a:effectLst/>
                <a:uLnTx/>
                <a:uFillTx/>
                <a:latin typeface="+mn-ea"/>
                <a:ea typeface="+mn-ea"/>
                <a:cs typeface="+mn-cs"/>
              </a:rPr>
              <a:t>常见的运算符类型及其作用</a:t>
            </a:r>
            <a:endParaRPr kumimoji="0" lang="en-US" altLang="zh-CN" sz="105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lang="en-US" altLang="zh-CN" sz="1500" kern="0" noProof="0" dirty="0" smtClean="0">
                <a:ln>
                  <a:noFill/>
                </a:ln>
                <a:effectLst/>
                <a:uLnTx/>
                <a:uFillTx/>
                <a:sym typeface="+mn-ea"/>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表</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2-10</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列举了</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C</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语言中常用的运算符类型，并且每种类型运算符的作用都不同。运算符是用来操作数据的，因此，这些数据也被称为操作数，使用运算符将操作数连接而成的式子称为</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表达式</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en-US"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p:txBody>
      </p:sp>
      <p:graphicFrame>
        <p:nvGraphicFramePr>
          <p:cNvPr id="2" name="表格 1"/>
          <p:cNvGraphicFramePr>
            <a:graphicFrameLocks noGrp="1"/>
          </p:cNvGraphicFramePr>
          <p:nvPr>
            <p:custDataLst>
              <p:tags r:id="rId1"/>
            </p:custDataLst>
          </p:nvPr>
        </p:nvGraphicFramePr>
        <p:xfrm>
          <a:off x="1727597" y="2387521"/>
          <a:ext cx="5671820" cy="1764095"/>
        </p:xfrm>
        <a:graphic>
          <a:graphicData uri="http://schemas.openxmlformats.org/drawingml/2006/table">
            <a:tbl>
              <a:tblPr firstRow="1" firstCol="1" bandRow="1"/>
              <a:tblGrid>
                <a:gridCol w="2197100"/>
                <a:gridCol w="3474720"/>
              </a:tblGrid>
              <a:tr h="252095">
                <a:tc>
                  <a:txBody>
                    <a:bodyPr/>
                    <a:lstStyle/>
                    <a:p>
                      <a:pPr algn="ctr">
                        <a:spcAft>
                          <a:spcPts val="0"/>
                        </a:spcAft>
                      </a:pPr>
                      <a:r>
                        <a:rPr lang="zh-CN" sz="1100" kern="100" dirty="0">
                          <a:solidFill>
                            <a:srgbClr val="584E61"/>
                          </a:solidFill>
                          <a:effectLst/>
                        </a:rPr>
                        <a:t>运算符类型</a:t>
                      </a:r>
                      <a:endParaRPr lang="zh-CN" sz="1100" kern="100" dirty="0">
                        <a:solidFill>
                          <a:srgbClr val="584E61"/>
                        </a:solidFill>
                        <a:effectLst/>
                        <a:latin typeface="Times New Roman" panose="02020503050405090304"/>
                        <a:ea typeface="宋体" pitchFamily="2" charset="-122"/>
                      </a:endParaRPr>
                    </a:p>
                  </a:txBody>
                  <a:tcPr marL="51430" marR="51430"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algn="ctr">
                        <a:spcAft>
                          <a:spcPts val="0"/>
                        </a:spcAft>
                      </a:pPr>
                      <a:r>
                        <a:rPr lang="zh-CN" sz="1100" kern="100">
                          <a:solidFill>
                            <a:srgbClr val="584E61"/>
                          </a:solidFill>
                          <a:effectLst/>
                        </a:rPr>
                        <a:t>作用</a:t>
                      </a:r>
                      <a:endParaRPr lang="zh-CN" sz="1100" kern="100">
                        <a:solidFill>
                          <a:srgbClr val="584E61"/>
                        </a:solidFill>
                        <a:effectLst/>
                        <a:latin typeface="Times New Roman" panose="02020503050405090304"/>
                        <a:ea typeface="宋体" pitchFamily="2" charset="-122"/>
                      </a:endParaRPr>
                    </a:p>
                  </a:txBody>
                  <a:tcPr marL="51430" marR="51430" marT="0" marB="0" anchor="ctr" anchorCtr="0">
                    <a:lnL>
                      <a:noFill/>
                    </a:lnL>
                    <a:lnR>
                      <a:noFill/>
                    </a:lnR>
                    <a:lnT w="19050">
                      <a:solidFill>
                        <a:srgbClr val="584E61"/>
                      </a:solidFill>
                      <a:prstDash val="solid"/>
                    </a:lnT>
                    <a:lnB w="19050">
                      <a:solidFill>
                        <a:srgbClr val="584E61"/>
                      </a:solidFill>
                      <a:prstDash val="solid"/>
                    </a:lnB>
                    <a:solidFill>
                      <a:srgbClr val="FFFFFF"/>
                    </a:solidFill>
                  </a:tcPr>
                </a:tc>
              </a:tr>
              <a:tr h="252000">
                <a:tc>
                  <a:txBody>
                    <a:bodyPr/>
                    <a:lstStyle/>
                    <a:p>
                      <a:pPr algn="ctr">
                        <a:spcAft>
                          <a:spcPts val="0"/>
                        </a:spcAft>
                      </a:pPr>
                      <a:r>
                        <a:rPr lang="zh-CN" sz="1100" kern="100">
                          <a:solidFill>
                            <a:srgbClr val="584E61"/>
                          </a:solidFill>
                          <a:effectLst/>
                        </a:rPr>
                        <a:t>算术运算符</a:t>
                      </a:r>
                      <a:endParaRPr lang="zh-CN" sz="1100" kern="100">
                        <a:solidFill>
                          <a:srgbClr val="584E61"/>
                        </a:solidFill>
                        <a:effectLst/>
                        <a:latin typeface="Times New Roman" panose="02020503050405090304"/>
                        <a:ea typeface="宋体" pitchFamily="2" charset="-122"/>
                      </a:endParaRPr>
                    </a:p>
                  </a:txBody>
                  <a:tcPr marL="51430" marR="51430" marT="0" marB="0" anchor="ctr" anchorCtr="0">
                    <a:lnL>
                      <a:noFill/>
                    </a:lnL>
                    <a:lnR>
                      <a:noFill/>
                    </a:lnR>
                    <a:lnT w="19050">
                      <a:solidFill>
                        <a:srgbClr val="584E61"/>
                      </a:solidFill>
                      <a:prstDash val="solid"/>
                    </a:lnT>
                    <a:lnB>
                      <a:noFill/>
                    </a:lnB>
                    <a:solidFill>
                      <a:srgbClr val="FFFFFF"/>
                    </a:solidFill>
                  </a:tcPr>
                </a:tc>
                <a:tc>
                  <a:txBody>
                    <a:bodyPr/>
                    <a:lstStyle/>
                    <a:p>
                      <a:pPr algn="just">
                        <a:spcAft>
                          <a:spcPts val="0"/>
                        </a:spcAft>
                      </a:pPr>
                      <a:r>
                        <a:rPr lang="zh-CN" sz="1100" kern="100">
                          <a:solidFill>
                            <a:srgbClr val="584E61"/>
                          </a:solidFill>
                          <a:effectLst/>
                        </a:rPr>
                        <a:t>用于处理四则运算</a:t>
                      </a:r>
                      <a:endParaRPr lang="zh-CN" sz="1100" kern="100">
                        <a:solidFill>
                          <a:srgbClr val="584E61"/>
                        </a:solidFill>
                        <a:effectLst/>
                        <a:latin typeface="Times New Roman" panose="02020503050405090304"/>
                        <a:ea typeface="宋体" pitchFamily="2" charset="-122"/>
                      </a:endParaRPr>
                    </a:p>
                  </a:txBody>
                  <a:tcPr marL="51430" marR="51430" marT="0" marB="0" anchor="ctr" anchorCtr="0">
                    <a:lnL>
                      <a:noFill/>
                    </a:lnL>
                    <a:lnR>
                      <a:noFill/>
                    </a:lnR>
                    <a:lnT w="19050">
                      <a:solidFill>
                        <a:srgbClr val="584E61"/>
                      </a:solidFill>
                      <a:prstDash val="solid"/>
                    </a:lnT>
                    <a:lnB>
                      <a:noFill/>
                    </a:lnB>
                    <a:solidFill>
                      <a:srgbClr val="FFFFFF"/>
                    </a:solidFill>
                  </a:tcPr>
                </a:tc>
              </a:tr>
              <a:tr h="252000">
                <a:tc>
                  <a:txBody>
                    <a:bodyPr/>
                    <a:lstStyle/>
                    <a:p>
                      <a:pPr algn="ctr">
                        <a:spcAft>
                          <a:spcPts val="0"/>
                        </a:spcAft>
                      </a:pPr>
                      <a:r>
                        <a:rPr lang="zh-CN" sz="1100" kern="100">
                          <a:solidFill>
                            <a:srgbClr val="584E61"/>
                          </a:solidFill>
                          <a:effectLst/>
                        </a:rPr>
                        <a:t>赋值运算符</a:t>
                      </a:r>
                      <a:endParaRPr lang="zh-CN" sz="1100" kern="100">
                        <a:solidFill>
                          <a:srgbClr val="584E61"/>
                        </a:solidFill>
                        <a:effectLst/>
                        <a:latin typeface="Times New Roman" panose="02020503050405090304"/>
                        <a:ea typeface="宋体" pitchFamily="2" charset="-122"/>
                      </a:endParaRPr>
                    </a:p>
                  </a:txBody>
                  <a:tcPr marL="51430" marR="51430" marT="0" marB="0" anchor="ctr" anchorCtr="0">
                    <a:lnL>
                      <a:noFill/>
                    </a:lnL>
                    <a:lnR>
                      <a:noFill/>
                    </a:lnR>
                    <a:lnT>
                      <a:noFill/>
                    </a:lnT>
                    <a:lnB>
                      <a:noFill/>
                    </a:lnB>
                    <a:solidFill>
                      <a:srgbClr val="F0EFF2"/>
                    </a:solidFill>
                  </a:tcPr>
                </a:tc>
                <a:tc>
                  <a:txBody>
                    <a:bodyPr/>
                    <a:lstStyle/>
                    <a:p>
                      <a:pPr algn="just">
                        <a:spcAft>
                          <a:spcPts val="0"/>
                        </a:spcAft>
                      </a:pPr>
                      <a:r>
                        <a:rPr lang="zh-CN" sz="1100" kern="100">
                          <a:solidFill>
                            <a:srgbClr val="584E61"/>
                          </a:solidFill>
                          <a:effectLst/>
                        </a:rPr>
                        <a:t>用于将表达式的值赋给变量</a:t>
                      </a:r>
                      <a:endParaRPr lang="zh-CN" sz="1100" kern="100">
                        <a:solidFill>
                          <a:srgbClr val="584E61"/>
                        </a:solidFill>
                        <a:effectLst/>
                        <a:latin typeface="Times New Roman" panose="02020503050405090304"/>
                        <a:ea typeface="宋体" pitchFamily="2" charset="-122"/>
                      </a:endParaRPr>
                    </a:p>
                  </a:txBody>
                  <a:tcPr marL="51430" marR="51430" marT="0" marB="0" anchor="ctr" anchorCtr="0">
                    <a:lnL>
                      <a:noFill/>
                    </a:lnL>
                    <a:lnR>
                      <a:noFill/>
                    </a:lnR>
                    <a:lnT>
                      <a:noFill/>
                    </a:lnT>
                    <a:lnB>
                      <a:noFill/>
                    </a:lnB>
                    <a:solidFill>
                      <a:srgbClr val="F0EFF2"/>
                    </a:solidFill>
                  </a:tcPr>
                </a:tc>
              </a:tr>
              <a:tr h="252000">
                <a:tc>
                  <a:txBody>
                    <a:bodyPr/>
                    <a:lstStyle/>
                    <a:p>
                      <a:pPr algn="ctr">
                        <a:spcAft>
                          <a:spcPts val="0"/>
                        </a:spcAft>
                      </a:pPr>
                      <a:r>
                        <a:rPr lang="zh-CN" sz="1100" kern="100">
                          <a:solidFill>
                            <a:srgbClr val="584E61"/>
                          </a:solidFill>
                          <a:effectLst/>
                        </a:rPr>
                        <a:t>比较运算符</a:t>
                      </a:r>
                      <a:endParaRPr lang="zh-CN" sz="1100" kern="100">
                        <a:solidFill>
                          <a:srgbClr val="584E61"/>
                        </a:solidFill>
                        <a:effectLst/>
                        <a:latin typeface="Times New Roman" panose="02020503050405090304"/>
                        <a:ea typeface="宋体" pitchFamily="2" charset="-122"/>
                      </a:endParaRPr>
                    </a:p>
                  </a:txBody>
                  <a:tcPr marL="51430" marR="51430" marT="0" marB="0" anchor="ctr" anchorCtr="0">
                    <a:lnL>
                      <a:noFill/>
                    </a:lnL>
                    <a:lnR>
                      <a:noFill/>
                    </a:lnR>
                    <a:lnT>
                      <a:noFill/>
                    </a:lnT>
                    <a:lnB>
                      <a:noFill/>
                    </a:lnB>
                    <a:solidFill>
                      <a:srgbClr val="FFFFFF"/>
                    </a:solidFill>
                  </a:tcPr>
                </a:tc>
                <a:tc>
                  <a:txBody>
                    <a:bodyPr/>
                    <a:lstStyle/>
                    <a:p>
                      <a:pPr algn="just">
                        <a:spcAft>
                          <a:spcPts val="0"/>
                        </a:spcAft>
                      </a:pPr>
                      <a:r>
                        <a:rPr lang="zh-CN" sz="1100" kern="100">
                          <a:solidFill>
                            <a:srgbClr val="584E61"/>
                          </a:solidFill>
                          <a:effectLst/>
                        </a:rPr>
                        <a:t>用于表达式的比较，并返回一个真值或假值</a:t>
                      </a:r>
                      <a:endParaRPr lang="zh-CN" sz="1100" kern="100">
                        <a:solidFill>
                          <a:srgbClr val="584E61"/>
                        </a:solidFill>
                        <a:effectLst/>
                        <a:latin typeface="Times New Roman" panose="02020503050405090304"/>
                        <a:ea typeface="宋体" pitchFamily="2" charset="-122"/>
                      </a:endParaRPr>
                    </a:p>
                  </a:txBody>
                  <a:tcPr marL="51430" marR="51430" marT="0" marB="0" anchor="ctr" anchorCtr="0">
                    <a:lnL>
                      <a:noFill/>
                    </a:lnL>
                    <a:lnR>
                      <a:noFill/>
                    </a:lnR>
                    <a:lnT>
                      <a:noFill/>
                    </a:lnT>
                    <a:lnB>
                      <a:noFill/>
                    </a:lnB>
                    <a:solidFill>
                      <a:srgbClr val="FFFFFF"/>
                    </a:solidFill>
                  </a:tcPr>
                </a:tc>
              </a:tr>
              <a:tr h="252000">
                <a:tc>
                  <a:txBody>
                    <a:bodyPr/>
                    <a:lstStyle/>
                    <a:p>
                      <a:pPr algn="ctr">
                        <a:spcAft>
                          <a:spcPts val="0"/>
                        </a:spcAft>
                      </a:pPr>
                      <a:r>
                        <a:rPr lang="zh-CN" sz="1100" kern="100">
                          <a:solidFill>
                            <a:srgbClr val="584E61"/>
                          </a:solidFill>
                          <a:effectLst/>
                        </a:rPr>
                        <a:t>逻辑运算符</a:t>
                      </a:r>
                      <a:endParaRPr lang="zh-CN" sz="1100" kern="100">
                        <a:solidFill>
                          <a:srgbClr val="584E61"/>
                        </a:solidFill>
                        <a:effectLst/>
                        <a:latin typeface="Times New Roman" panose="02020503050405090304"/>
                        <a:ea typeface="宋体" pitchFamily="2" charset="-122"/>
                      </a:endParaRPr>
                    </a:p>
                  </a:txBody>
                  <a:tcPr marL="51430" marR="51430" marT="0" marB="0" anchor="ctr" anchorCtr="0">
                    <a:lnL>
                      <a:noFill/>
                    </a:lnL>
                    <a:lnR>
                      <a:noFill/>
                    </a:lnR>
                    <a:lnT>
                      <a:noFill/>
                    </a:lnT>
                    <a:lnB>
                      <a:noFill/>
                    </a:lnB>
                    <a:solidFill>
                      <a:srgbClr val="F0EFF2"/>
                    </a:solidFill>
                  </a:tcPr>
                </a:tc>
                <a:tc>
                  <a:txBody>
                    <a:bodyPr/>
                    <a:lstStyle/>
                    <a:p>
                      <a:pPr algn="just">
                        <a:spcAft>
                          <a:spcPts val="0"/>
                        </a:spcAft>
                      </a:pPr>
                      <a:r>
                        <a:rPr lang="zh-CN" sz="1100" kern="100">
                          <a:solidFill>
                            <a:srgbClr val="584E61"/>
                          </a:solidFill>
                          <a:effectLst/>
                        </a:rPr>
                        <a:t>用于根据表达式的值返回真值或假值</a:t>
                      </a:r>
                      <a:endParaRPr lang="zh-CN" sz="1100" kern="100">
                        <a:solidFill>
                          <a:srgbClr val="584E61"/>
                        </a:solidFill>
                        <a:effectLst/>
                        <a:latin typeface="Times New Roman" panose="02020503050405090304"/>
                        <a:ea typeface="宋体" pitchFamily="2" charset="-122"/>
                      </a:endParaRPr>
                    </a:p>
                  </a:txBody>
                  <a:tcPr marL="51430" marR="51430" marT="0" marB="0" anchor="ctr" anchorCtr="0">
                    <a:lnL>
                      <a:noFill/>
                    </a:lnL>
                    <a:lnR>
                      <a:noFill/>
                    </a:lnR>
                    <a:lnT>
                      <a:noFill/>
                    </a:lnT>
                    <a:lnB>
                      <a:noFill/>
                    </a:lnB>
                    <a:solidFill>
                      <a:srgbClr val="F0EFF2"/>
                    </a:solidFill>
                  </a:tcPr>
                </a:tc>
              </a:tr>
              <a:tr h="252000">
                <a:tc>
                  <a:txBody>
                    <a:bodyPr/>
                    <a:lstStyle/>
                    <a:p>
                      <a:pPr algn="ctr">
                        <a:spcAft>
                          <a:spcPts val="0"/>
                        </a:spcAft>
                      </a:pPr>
                      <a:r>
                        <a:rPr lang="zh-CN" sz="1100" kern="100">
                          <a:solidFill>
                            <a:srgbClr val="584E61"/>
                          </a:solidFill>
                          <a:effectLst/>
                        </a:rPr>
                        <a:t>位运算符</a:t>
                      </a:r>
                      <a:endParaRPr lang="zh-CN" sz="1100" kern="100">
                        <a:solidFill>
                          <a:srgbClr val="584E61"/>
                        </a:solidFill>
                        <a:effectLst/>
                        <a:latin typeface="Times New Roman" panose="02020503050405090304"/>
                        <a:ea typeface="宋体" pitchFamily="2" charset="-122"/>
                      </a:endParaRPr>
                    </a:p>
                  </a:txBody>
                  <a:tcPr marL="51430" marR="51430" marT="0" marB="0" anchor="ctr" anchorCtr="0">
                    <a:lnL>
                      <a:noFill/>
                    </a:lnL>
                    <a:lnR>
                      <a:noFill/>
                    </a:lnR>
                    <a:lnT>
                      <a:noFill/>
                    </a:lnT>
                    <a:lnB>
                      <a:noFill/>
                    </a:lnB>
                    <a:solidFill>
                      <a:srgbClr val="FFFFFF"/>
                    </a:solidFill>
                  </a:tcPr>
                </a:tc>
                <a:tc>
                  <a:txBody>
                    <a:bodyPr/>
                    <a:lstStyle/>
                    <a:p>
                      <a:pPr algn="just">
                        <a:spcAft>
                          <a:spcPts val="0"/>
                        </a:spcAft>
                      </a:pPr>
                      <a:r>
                        <a:rPr lang="zh-CN" sz="1100" kern="100">
                          <a:solidFill>
                            <a:srgbClr val="584E61"/>
                          </a:solidFill>
                          <a:effectLst/>
                        </a:rPr>
                        <a:t>用于处理数据的位运算</a:t>
                      </a:r>
                      <a:endParaRPr lang="zh-CN" sz="1100" kern="100">
                        <a:solidFill>
                          <a:srgbClr val="584E61"/>
                        </a:solidFill>
                        <a:effectLst/>
                        <a:latin typeface="Times New Roman" panose="02020503050405090304"/>
                        <a:ea typeface="宋体" pitchFamily="2" charset="-122"/>
                      </a:endParaRPr>
                    </a:p>
                  </a:txBody>
                  <a:tcPr marL="51430" marR="51430" marT="0" marB="0" anchor="ctr" anchorCtr="0">
                    <a:lnL>
                      <a:noFill/>
                    </a:lnL>
                    <a:lnR>
                      <a:noFill/>
                    </a:lnR>
                    <a:lnT>
                      <a:noFill/>
                    </a:lnT>
                    <a:lnB>
                      <a:noFill/>
                    </a:lnB>
                    <a:solidFill>
                      <a:srgbClr val="FFFFFF"/>
                    </a:solidFill>
                  </a:tcPr>
                </a:tc>
              </a:tr>
              <a:tr h="252000">
                <a:tc>
                  <a:txBody>
                    <a:bodyPr/>
                    <a:lstStyle/>
                    <a:p>
                      <a:pPr algn="ctr">
                        <a:spcAft>
                          <a:spcPts val="0"/>
                        </a:spcAft>
                      </a:pPr>
                      <a:r>
                        <a:rPr lang="en-US" sz="1100" kern="100" dirty="0">
                          <a:solidFill>
                            <a:srgbClr val="584E61"/>
                          </a:solidFill>
                          <a:effectLst/>
                        </a:rPr>
                        <a:t>sizeof</a:t>
                      </a:r>
                      <a:r>
                        <a:rPr lang="zh-CN" sz="1100" kern="100" dirty="0">
                          <a:solidFill>
                            <a:srgbClr val="584E61"/>
                          </a:solidFill>
                          <a:effectLst/>
                        </a:rPr>
                        <a:t>运算符</a:t>
                      </a:r>
                      <a:endParaRPr lang="zh-CN" sz="1100" kern="100" dirty="0">
                        <a:solidFill>
                          <a:srgbClr val="584E61"/>
                        </a:solidFill>
                        <a:effectLst/>
                        <a:latin typeface="Times New Roman" panose="02020503050405090304"/>
                        <a:ea typeface="宋体" pitchFamily="2" charset="-122"/>
                      </a:endParaRPr>
                    </a:p>
                  </a:txBody>
                  <a:tcPr marL="51430" marR="51430" marT="0" marB="0" anchor="ctr" anchorCtr="0">
                    <a:lnL>
                      <a:noFill/>
                    </a:lnL>
                    <a:lnR>
                      <a:noFill/>
                    </a:lnR>
                    <a:lnT>
                      <a:noFill/>
                    </a:lnT>
                    <a:lnB w="19050">
                      <a:solidFill>
                        <a:srgbClr val="584E61"/>
                      </a:solidFill>
                      <a:prstDash val="solid"/>
                    </a:lnB>
                    <a:solidFill>
                      <a:srgbClr val="F0EFF2"/>
                    </a:solidFill>
                  </a:tcPr>
                </a:tc>
                <a:tc>
                  <a:txBody>
                    <a:bodyPr/>
                    <a:lstStyle/>
                    <a:p>
                      <a:pPr algn="just">
                        <a:spcAft>
                          <a:spcPts val="0"/>
                        </a:spcAft>
                      </a:pPr>
                      <a:r>
                        <a:rPr lang="zh-CN" sz="1100" kern="100" dirty="0">
                          <a:solidFill>
                            <a:srgbClr val="584E61"/>
                          </a:solidFill>
                          <a:effectLst/>
                        </a:rPr>
                        <a:t>用于求字节数长度</a:t>
                      </a:r>
                      <a:endParaRPr lang="zh-CN" sz="1100" kern="100" dirty="0">
                        <a:solidFill>
                          <a:srgbClr val="584E61"/>
                        </a:solidFill>
                        <a:effectLst/>
                        <a:latin typeface="Times New Roman" panose="02020503050405090304"/>
                        <a:ea typeface="宋体" pitchFamily="2" charset="-122"/>
                      </a:endParaRPr>
                    </a:p>
                  </a:txBody>
                  <a:tcPr marL="51430" marR="51430" marT="0" marB="0" anchor="ctr" anchorCtr="0">
                    <a:lnL>
                      <a:noFill/>
                    </a:lnL>
                    <a:lnR>
                      <a:noFill/>
                    </a:lnR>
                    <a:lnT>
                      <a:noFill/>
                    </a:lnT>
                    <a:lnB w="19050">
                      <a:solidFill>
                        <a:srgbClr val="584E61"/>
                      </a:solidFill>
                      <a:prstDash val="solid"/>
                    </a:lnB>
                    <a:solidFill>
                      <a:srgbClr val="F0EFF2"/>
                    </a:solidFill>
                  </a:tcPr>
                </a:tc>
              </a:tr>
            </a:tbl>
          </a:graphicData>
        </a:graphic>
      </p:graphicFrame>
      <p:sp>
        <p:nvSpPr>
          <p:cNvPr id="3" name="标题 1"/>
          <p:cNvSpPr>
            <a:spLocks noGrp="1"/>
          </p:cNvSpPr>
          <p:nvPr>
            <p:custDataLst>
              <p:tags r:id="rId2"/>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2.4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运算符</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bwMode="auto">
          <a:xfrm>
            <a:off x="1485900" y="628650"/>
            <a:ext cx="6172200" cy="424815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5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表达式有如下特点：</a:t>
            </a: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1.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常量</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和变量都是表达式，例如，常量</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3.14</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、变量</a:t>
            </a:r>
            <a:r>
              <a:rPr kumimoji="0" lang="en-US" altLang="zh-CN" sz="1500" b="0" i="0" u="none" strike="noStrike" kern="0" cap="none" spc="0" normalizeH="0" baseline="0" noProof="0" dirty="0" err="1">
                <a:ln>
                  <a:noFill/>
                </a:ln>
                <a:solidFill>
                  <a:schemeClr val="tx1"/>
                </a:solidFill>
                <a:effectLst/>
                <a:uLnTx/>
                <a:uFillTx/>
                <a:latin typeface="+mn-lt"/>
                <a:ea typeface="+mn-ea"/>
                <a:cs typeface="+mn-cs"/>
              </a:rPr>
              <a:t>i</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a:t>
            </a:r>
            <a:endParaRPr kumimoji="0" lang="zh-CN" altLang="zh-CN" sz="15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2.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运算符</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的类型对应表达式的类型，</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例如算术运算</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符对应算术表达式。</a:t>
            </a:r>
            <a:endParaRPr kumimoji="0" lang="zh-CN" altLang="zh-CN" sz="15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3.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每</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一个表达式都有自己的值，即表达式都有运算结果。</a:t>
            </a: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en-US" altLang="zh-CN" sz="1500" b="0" i="0" u="none" strike="noStrike" kern="0" cap="none" spc="0" normalizeH="0" baseline="0" noProof="0" dirty="0" smtClean="0">
                <a:ln>
                  <a:noFill/>
                </a:ln>
                <a:solidFill>
                  <a:schemeClr val="tx1"/>
                </a:solidFill>
                <a:effectLst/>
                <a:uLnTx/>
                <a:uFillTx/>
                <a:latin typeface="+mn-ea"/>
                <a:ea typeface="+mn-ea"/>
                <a:cs typeface="+mn-cs"/>
              </a:rPr>
              <a:t>                </a:t>
            </a: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en-US"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p:txBody>
      </p:sp>
      <p:sp>
        <p:nvSpPr>
          <p:cNvPr id="3" name="标题 1"/>
          <p:cNvSpPr>
            <a:spLocks noGrp="1"/>
          </p:cNvSpPr>
          <p:nvPr>
            <p:custDataLst>
              <p:tags r:id="rId1"/>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2.4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运算符</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2" name="灯片编号占位符 1"/>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bwMode="auto">
          <a:xfrm>
            <a:off x="1485900" y="577454"/>
            <a:ext cx="6172200" cy="429934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Tx/>
              <a:buChar char="•"/>
              <a:defRPr/>
            </a:pPr>
            <a:r>
              <a:rPr kumimoji="0" lang="en-US" altLang="zh-CN" sz="1500" b="1" i="0" u="none" strike="noStrike" kern="0" cap="none" spc="0" normalizeH="0" baseline="0" noProof="0" dirty="0" smtClean="0">
                <a:ln>
                  <a:noFill/>
                </a:ln>
                <a:solidFill>
                  <a:srgbClr val="009ED6"/>
                </a:solidFill>
                <a:effectLst/>
                <a:uLnTx/>
                <a:uFillTx/>
                <a:latin typeface="+mn-lt"/>
                <a:ea typeface="+mn-ea"/>
                <a:cs typeface="+mn-cs"/>
              </a:rPr>
              <a:t>2.4.2  </a:t>
            </a:r>
            <a:r>
              <a:rPr kumimoji="0" lang="zh-CN" altLang="en-US" sz="1500" b="1" i="0" u="none" strike="noStrike" kern="0" cap="none" spc="0" normalizeH="0" baseline="0" noProof="0" dirty="0" smtClean="0">
                <a:ln>
                  <a:noFill/>
                </a:ln>
                <a:solidFill>
                  <a:srgbClr val="009ED6"/>
                </a:solidFill>
                <a:effectLst/>
                <a:uLnTx/>
                <a:uFillTx/>
                <a:latin typeface="+mn-lt"/>
                <a:ea typeface="+mn-ea"/>
                <a:cs typeface="+mn-cs"/>
              </a:rPr>
              <a:t>算术运算符</a:t>
            </a:r>
            <a:endParaRPr kumimoji="0" lang="en-US" altLang="zh-CN" sz="1500" b="1" i="0" u="none" strike="noStrike" kern="0" cap="none" spc="0" normalizeH="0" baseline="0" noProof="0" dirty="0" smtClean="0">
              <a:ln>
                <a:noFill/>
              </a:ln>
              <a:solidFill>
                <a:srgbClr val="009ED6"/>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在数学</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运算中最常见的就是加减乘除四则运算。</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C</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语言中的算术运算符就是用来处理四则运算的符号，这是最简单、最常用的运算符号。表</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2-11</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列出了</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C</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语言中的算术运算符及其</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用法</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zh-CN" altLang="en-US"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50000"/>
              </a:lnSpc>
              <a:spcBef>
                <a:spcPct val="20000"/>
              </a:spcBef>
              <a:spcAft>
                <a:spcPct val="0"/>
              </a:spcAft>
              <a:buClrTx/>
              <a:buSzTx/>
              <a:buFontTx/>
              <a:buNone/>
              <a:defRPr/>
            </a:pPr>
            <a:r>
              <a:rPr kumimoji="0" lang="zh-CN" altLang="en-US" sz="1050" b="0" i="0" u="none" strike="noStrike" kern="0" cap="none" spc="0" normalizeH="0" baseline="0" noProof="0" dirty="0" smtClean="0">
                <a:ln>
                  <a:noFill/>
                </a:ln>
                <a:solidFill>
                  <a:schemeClr val="tx1"/>
                </a:solidFill>
                <a:effectLst/>
                <a:uLnTx/>
                <a:uFillTx/>
                <a:latin typeface="+mn-lt"/>
                <a:ea typeface="+mn-ea"/>
                <a:cs typeface="+mn-cs"/>
              </a:rPr>
              <a:t>表</a:t>
            </a: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2-11   </a:t>
            </a:r>
            <a:r>
              <a:rPr kumimoji="0" lang="zh-CN" altLang="en-US" sz="1050" b="0" i="0" u="none" strike="noStrike" kern="0" cap="none" spc="0" normalizeH="0" baseline="0" noProof="0" dirty="0" smtClean="0">
                <a:ln>
                  <a:noFill/>
                </a:ln>
                <a:solidFill>
                  <a:schemeClr val="tx1"/>
                </a:solidFill>
                <a:effectLst/>
                <a:uLnTx/>
                <a:uFillTx/>
                <a:latin typeface="+mn-lt"/>
                <a:ea typeface="+mn-ea"/>
                <a:cs typeface="+mn-cs"/>
              </a:rPr>
              <a:t>算术运算符</a:t>
            </a: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5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ea"/>
                <a:ea typeface="+mn-ea"/>
                <a:cs typeface="+mn-cs"/>
              </a:rPr>
              <a:t>                </a:t>
            </a: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5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en-US"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p:txBody>
      </p:sp>
      <p:graphicFrame>
        <p:nvGraphicFramePr>
          <p:cNvPr id="3" name="表格 2"/>
          <p:cNvGraphicFramePr>
            <a:graphicFrameLocks noGrp="1"/>
          </p:cNvGraphicFramePr>
          <p:nvPr>
            <p:custDataLst>
              <p:tags r:id="rId1"/>
            </p:custDataLst>
          </p:nvPr>
        </p:nvGraphicFramePr>
        <p:xfrm>
          <a:off x="1713310" y="2337276"/>
          <a:ext cx="5558790" cy="2671445"/>
        </p:xfrm>
        <a:graphic>
          <a:graphicData uri="http://schemas.openxmlformats.org/drawingml/2006/table">
            <a:tbl>
              <a:tblPr/>
              <a:tblGrid>
                <a:gridCol w="1226820"/>
                <a:gridCol w="1542415"/>
                <a:gridCol w="1415415"/>
                <a:gridCol w="1374140"/>
              </a:tblGrid>
              <a:tr h="212400">
                <a:tc>
                  <a:txBody>
                    <a:bodyPr/>
                    <a:lstStyle/>
                    <a:p>
                      <a:pPr algn="ctr">
                        <a:spcAft>
                          <a:spcPts val="0"/>
                        </a:spcAft>
                      </a:pPr>
                      <a:r>
                        <a:rPr lang="zh-CN" sz="1100" kern="0" dirty="0">
                          <a:solidFill>
                            <a:srgbClr val="584E61"/>
                          </a:solidFill>
                          <a:effectLst/>
                        </a:rPr>
                        <a:t>运算符</a:t>
                      </a:r>
                      <a:endParaRPr lang="zh-CN" sz="1100" kern="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algn="ctr">
                        <a:spcAft>
                          <a:spcPts val="0"/>
                        </a:spcAft>
                      </a:pPr>
                      <a:r>
                        <a:rPr lang="zh-CN" sz="1100" kern="0">
                          <a:solidFill>
                            <a:srgbClr val="584E61"/>
                          </a:solidFill>
                          <a:effectLst/>
                        </a:rPr>
                        <a:t>运算</a:t>
                      </a:r>
                      <a:endParaRPr lang="zh-CN"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algn="ctr">
                        <a:spcAft>
                          <a:spcPts val="0"/>
                        </a:spcAft>
                      </a:pPr>
                      <a:r>
                        <a:rPr lang="zh-CN" sz="1100" kern="0">
                          <a:solidFill>
                            <a:srgbClr val="584E61"/>
                          </a:solidFill>
                          <a:effectLst/>
                        </a:rPr>
                        <a:t>范例</a:t>
                      </a:r>
                      <a:endParaRPr lang="zh-CN"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algn="ctr">
                        <a:spcAft>
                          <a:spcPts val="0"/>
                        </a:spcAft>
                      </a:pPr>
                      <a:r>
                        <a:rPr lang="zh-CN" sz="1100" kern="0">
                          <a:solidFill>
                            <a:srgbClr val="584E61"/>
                          </a:solidFill>
                          <a:effectLst/>
                        </a:rPr>
                        <a:t>结果</a:t>
                      </a:r>
                      <a:endParaRPr lang="zh-CN"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w="19050">
                      <a:solidFill>
                        <a:srgbClr val="584E61"/>
                      </a:solidFill>
                      <a:prstDash val="solid"/>
                    </a:lnT>
                    <a:lnB w="19050">
                      <a:solidFill>
                        <a:srgbClr val="584E61"/>
                      </a:solidFill>
                      <a:prstDash val="solid"/>
                    </a:lnB>
                    <a:solidFill>
                      <a:srgbClr val="FFFFFF"/>
                    </a:solidFill>
                  </a:tcPr>
                </a:tc>
              </a:tr>
              <a:tr h="212400">
                <a:tc>
                  <a:txBody>
                    <a:bodyPr/>
                    <a:lstStyle/>
                    <a:p>
                      <a:pPr algn="ctr">
                        <a:spcAft>
                          <a:spcPts val="0"/>
                        </a:spcAft>
                      </a:pPr>
                      <a:r>
                        <a:rPr lang="en-US" sz="1100" kern="0">
                          <a:solidFill>
                            <a:srgbClr val="584E61"/>
                          </a:solidFill>
                          <a:effectLst/>
                        </a:rPr>
                        <a:t>+</a:t>
                      </a:r>
                      <a:endParaRPr lang="en-US"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w="19050">
                      <a:solidFill>
                        <a:srgbClr val="584E61"/>
                      </a:solidFill>
                      <a:prstDash val="solid"/>
                    </a:lnT>
                    <a:lnB>
                      <a:noFill/>
                    </a:lnB>
                    <a:solidFill>
                      <a:srgbClr val="FFFFFF"/>
                    </a:solidFill>
                  </a:tcPr>
                </a:tc>
                <a:tc>
                  <a:txBody>
                    <a:bodyPr/>
                    <a:lstStyle/>
                    <a:p>
                      <a:pPr indent="0" algn="ctr" fontAlgn="auto">
                        <a:spcAft>
                          <a:spcPts val="0"/>
                        </a:spcAft>
                      </a:pPr>
                      <a:r>
                        <a:rPr lang="zh-CN" sz="1100" kern="0" dirty="0">
                          <a:solidFill>
                            <a:srgbClr val="584E61"/>
                          </a:solidFill>
                          <a:effectLst/>
                        </a:rPr>
                        <a:t>正号</a:t>
                      </a:r>
                      <a:endParaRPr lang="zh-CN" sz="1100" kern="0" dirty="0">
                        <a:solidFill>
                          <a:srgbClr val="584E61"/>
                        </a:solidFill>
                        <a:effectLst/>
                        <a:latin typeface="Times New Roman" panose="02020503050405090304"/>
                        <a:ea typeface="宋体" pitchFamily="2" charset="-122"/>
                      </a:endParaRPr>
                    </a:p>
                  </a:txBody>
                  <a:tcPr marL="0" marR="0" marT="0" marB="0" anchor="ctr" anchorCtr="0">
                    <a:lnL>
                      <a:noFill/>
                    </a:lnL>
                    <a:lnR>
                      <a:noFill/>
                    </a:lnR>
                    <a:lnT w="19050">
                      <a:solidFill>
                        <a:srgbClr val="584E61"/>
                      </a:solidFill>
                      <a:prstDash val="solid"/>
                    </a:lnT>
                    <a:lnB>
                      <a:noFill/>
                    </a:lnB>
                    <a:solidFill>
                      <a:srgbClr val="FFFFFF"/>
                    </a:solidFill>
                  </a:tcPr>
                </a:tc>
                <a:tc>
                  <a:txBody>
                    <a:bodyPr/>
                    <a:lstStyle/>
                    <a:p>
                      <a:pPr algn="ctr">
                        <a:spcAft>
                          <a:spcPts val="0"/>
                        </a:spcAft>
                      </a:pPr>
                      <a:r>
                        <a:rPr lang="en-US" sz="1100" kern="0">
                          <a:solidFill>
                            <a:srgbClr val="584E61"/>
                          </a:solidFill>
                          <a:effectLst/>
                        </a:rPr>
                        <a:t>+3</a:t>
                      </a:r>
                      <a:endParaRPr lang="en-US"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w="19050">
                      <a:solidFill>
                        <a:srgbClr val="584E61"/>
                      </a:solidFill>
                      <a:prstDash val="solid"/>
                    </a:lnT>
                    <a:lnB>
                      <a:noFill/>
                    </a:lnB>
                    <a:solidFill>
                      <a:srgbClr val="FFFFFF"/>
                    </a:solidFill>
                  </a:tcPr>
                </a:tc>
                <a:tc>
                  <a:txBody>
                    <a:bodyPr/>
                    <a:lstStyle/>
                    <a:p>
                      <a:pPr algn="ctr">
                        <a:spcAft>
                          <a:spcPts val="0"/>
                        </a:spcAft>
                      </a:pPr>
                      <a:r>
                        <a:rPr lang="en-US" sz="1100" kern="0">
                          <a:solidFill>
                            <a:srgbClr val="584E61"/>
                          </a:solidFill>
                          <a:effectLst/>
                        </a:rPr>
                        <a:t>3</a:t>
                      </a:r>
                      <a:endParaRPr lang="en-US"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w="19050">
                      <a:solidFill>
                        <a:srgbClr val="584E61"/>
                      </a:solidFill>
                      <a:prstDash val="solid"/>
                    </a:lnT>
                    <a:lnB>
                      <a:noFill/>
                    </a:lnB>
                    <a:solidFill>
                      <a:srgbClr val="FFFFFF"/>
                    </a:solidFill>
                  </a:tcPr>
                </a:tc>
              </a:tr>
              <a:tr h="212400">
                <a:tc>
                  <a:txBody>
                    <a:bodyPr/>
                    <a:lstStyle/>
                    <a:p>
                      <a:pPr algn="ctr">
                        <a:spcAft>
                          <a:spcPts val="0"/>
                        </a:spcAft>
                      </a:pPr>
                      <a:r>
                        <a:rPr lang="en-US" sz="1100" kern="0">
                          <a:solidFill>
                            <a:srgbClr val="584E61"/>
                          </a:solidFill>
                          <a:effectLst/>
                        </a:rPr>
                        <a:t>-</a:t>
                      </a:r>
                      <a:endParaRPr lang="en-US"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0EFF2"/>
                    </a:solidFill>
                  </a:tcPr>
                </a:tc>
                <a:tc>
                  <a:txBody>
                    <a:bodyPr/>
                    <a:lstStyle/>
                    <a:p>
                      <a:pPr indent="0" algn="ctr" fontAlgn="auto">
                        <a:spcAft>
                          <a:spcPts val="0"/>
                        </a:spcAft>
                      </a:pPr>
                      <a:r>
                        <a:rPr lang="zh-CN" sz="1100" kern="0">
                          <a:solidFill>
                            <a:srgbClr val="584E61"/>
                          </a:solidFill>
                          <a:effectLst/>
                        </a:rPr>
                        <a:t>负号</a:t>
                      </a:r>
                      <a:endParaRPr lang="zh-CN" sz="1100" kern="0">
                        <a:solidFill>
                          <a:srgbClr val="584E61"/>
                        </a:solidFill>
                        <a:effectLst/>
                        <a:latin typeface="Times New Roman" panose="02020503050405090304"/>
                        <a:ea typeface="宋体" pitchFamily="2" charset="-122"/>
                      </a:endParaRPr>
                    </a:p>
                  </a:txBody>
                  <a:tcPr marL="0" marR="0" marT="0" marB="0" anchor="ctr" anchorCtr="0">
                    <a:lnL>
                      <a:noFill/>
                    </a:lnL>
                    <a:lnR>
                      <a:noFill/>
                    </a:lnR>
                    <a:lnT>
                      <a:noFill/>
                    </a:lnT>
                    <a:lnB>
                      <a:noFill/>
                    </a:lnB>
                    <a:solidFill>
                      <a:srgbClr val="F0EFF2"/>
                    </a:solidFill>
                  </a:tcPr>
                </a:tc>
                <a:tc>
                  <a:txBody>
                    <a:bodyPr/>
                    <a:lstStyle/>
                    <a:p>
                      <a:pPr algn="ctr">
                        <a:spcAft>
                          <a:spcPts val="0"/>
                        </a:spcAft>
                      </a:pPr>
                      <a:r>
                        <a:rPr lang="en-US" sz="1100" kern="0">
                          <a:solidFill>
                            <a:srgbClr val="584E61"/>
                          </a:solidFill>
                          <a:effectLst/>
                        </a:rPr>
                        <a:t>b=4;-b;</a:t>
                      </a:r>
                      <a:endParaRPr lang="en-US"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0EFF2"/>
                    </a:solidFill>
                  </a:tcPr>
                </a:tc>
                <a:tc>
                  <a:txBody>
                    <a:bodyPr/>
                    <a:lstStyle/>
                    <a:p>
                      <a:pPr algn="ctr">
                        <a:spcAft>
                          <a:spcPts val="0"/>
                        </a:spcAft>
                      </a:pPr>
                      <a:r>
                        <a:rPr lang="en-US" sz="1100" kern="0">
                          <a:solidFill>
                            <a:srgbClr val="584E61"/>
                          </a:solidFill>
                          <a:effectLst/>
                        </a:rPr>
                        <a:t>-4</a:t>
                      </a:r>
                      <a:endParaRPr lang="en-US"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0EFF2"/>
                    </a:solidFill>
                  </a:tcPr>
                </a:tc>
              </a:tr>
              <a:tr h="212400">
                <a:tc>
                  <a:txBody>
                    <a:bodyPr/>
                    <a:lstStyle/>
                    <a:p>
                      <a:pPr algn="ctr">
                        <a:spcAft>
                          <a:spcPts val="0"/>
                        </a:spcAft>
                      </a:pPr>
                      <a:r>
                        <a:rPr lang="en-US" sz="1100" kern="0">
                          <a:solidFill>
                            <a:srgbClr val="584E61"/>
                          </a:solidFill>
                          <a:effectLst/>
                        </a:rPr>
                        <a:t>+</a:t>
                      </a:r>
                      <a:endParaRPr lang="en-US"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FFFFF"/>
                    </a:solidFill>
                  </a:tcPr>
                </a:tc>
                <a:tc>
                  <a:txBody>
                    <a:bodyPr/>
                    <a:lstStyle/>
                    <a:p>
                      <a:pPr indent="0" algn="ctr" fontAlgn="auto">
                        <a:spcAft>
                          <a:spcPts val="0"/>
                        </a:spcAft>
                      </a:pPr>
                      <a:r>
                        <a:rPr lang="zh-CN" sz="1100" kern="0">
                          <a:solidFill>
                            <a:srgbClr val="584E61"/>
                          </a:solidFill>
                          <a:effectLst/>
                        </a:rPr>
                        <a:t>加</a:t>
                      </a:r>
                      <a:endParaRPr lang="zh-CN" sz="1100" kern="0">
                        <a:solidFill>
                          <a:srgbClr val="584E61"/>
                        </a:solidFill>
                        <a:effectLst/>
                        <a:latin typeface="Times New Roman" panose="02020503050405090304"/>
                        <a:ea typeface="宋体" pitchFamily="2" charset="-122"/>
                      </a:endParaRPr>
                    </a:p>
                  </a:txBody>
                  <a:tcPr marL="0" marR="0" marT="0" marB="0" anchor="ctr" anchorCtr="0">
                    <a:lnL>
                      <a:noFill/>
                    </a:lnL>
                    <a:lnR>
                      <a:noFill/>
                    </a:lnR>
                    <a:lnT>
                      <a:noFill/>
                    </a:lnT>
                    <a:lnB>
                      <a:noFill/>
                    </a:lnB>
                    <a:solidFill>
                      <a:srgbClr val="FFFFFF"/>
                    </a:solidFill>
                  </a:tcPr>
                </a:tc>
                <a:tc>
                  <a:txBody>
                    <a:bodyPr/>
                    <a:lstStyle/>
                    <a:p>
                      <a:pPr algn="ctr">
                        <a:spcAft>
                          <a:spcPts val="0"/>
                        </a:spcAft>
                      </a:pPr>
                      <a:r>
                        <a:rPr lang="en-US" sz="1100" kern="0">
                          <a:solidFill>
                            <a:srgbClr val="584E61"/>
                          </a:solidFill>
                          <a:effectLst/>
                        </a:rPr>
                        <a:t>5+5</a:t>
                      </a:r>
                      <a:endParaRPr lang="en-US"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FFFFF"/>
                    </a:solidFill>
                  </a:tcPr>
                </a:tc>
                <a:tc>
                  <a:txBody>
                    <a:bodyPr/>
                    <a:lstStyle/>
                    <a:p>
                      <a:pPr algn="ctr">
                        <a:spcAft>
                          <a:spcPts val="0"/>
                        </a:spcAft>
                      </a:pPr>
                      <a:r>
                        <a:rPr lang="en-US" sz="1100" kern="0">
                          <a:solidFill>
                            <a:srgbClr val="584E61"/>
                          </a:solidFill>
                          <a:effectLst/>
                        </a:rPr>
                        <a:t>10</a:t>
                      </a:r>
                      <a:endParaRPr lang="en-US"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FFFFF"/>
                    </a:solidFill>
                  </a:tcPr>
                </a:tc>
              </a:tr>
              <a:tr h="212400">
                <a:tc>
                  <a:txBody>
                    <a:bodyPr/>
                    <a:lstStyle/>
                    <a:p>
                      <a:pPr algn="ctr">
                        <a:spcAft>
                          <a:spcPts val="0"/>
                        </a:spcAft>
                      </a:pPr>
                      <a:r>
                        <a:rPr lang="en-US" sz="1100" kern="0">
                          <a:solidFill>
                            <a:srgbClr val="584E61"/>
                          </a:solidFill>
                          <a:effectLst/>
                        </a:rPr>
                        <a:t>-</a:t>
                      </a:r>
                      <a:endParaRPr lang="en-US"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0EFF2"/>
                    </a:solidFill>
                  </a:tcPr>
                </a:tc>
                <a:tc>
                  <a:txBody>
                    <a:bodyPr/>
                    <a:lstStyle/>
                    <a:p>
                      <a:pPr indent="0" algn="ctr" fontAlgn="auto">
                        <a:spcAft>
                          <a:spcPts val="0"/>
                        </a:spcAft>
                      </a:pPr>
                      <a:r>
                        <a:rPr lang="zh-CN" sz="1100" kern="0">
                          <a:solidFill>
                            <a:srgbClr val="584E61"/>
                          </a:solidFill>
                          <a:effectLst/>
                        </a:rPr>
                        <a:t>减</a:t>
                      </a:r>
                      <a:endParaRPr lang="zh-CN" sz="1100" kern="0">
                        <a:solidFill>
                          <a:srgbClr val="584E61"/>
                        </a:solidFill>
                        <a:effectLst/>
                        <a:latin typeface="Times New Roman" panose="02020503050405090304"/>
                        <a:ea typeface="宋体" pitchFamily="2" charset="-122"/>
                      </a:endParaRPr>
                    </a:p>
                  </a:txBody>
                  <a:tcPr marL="0" marR="0" marT="0" marB="0" anchor="ctr" anchorCtr="0">
                    <a:lnL>
                      <a:noFill/>
                    </a:lnL>
                    <a:lnR>
                      <a:noFill/>
                    </a:lnR>
                    <a:lnT>
                      <a:noFill/>
                    </a:lnT>
                    <a:lnB>
                      <a:noFill/>
                    </a:lnB>
                    <a:solidFill>
                      <a:srgbClr val="F0EFF2"/>
                    </a:solidFill>
                  </a:tcPr>
                </a:tc>
                <a:tc>
                  <a:txBody>
                    <a:bodyPr/>
                    <a:lstStyle/>
                    <a:p>
                      <a:pPr algn="ctr">
                        <a:spcAft>
                          <a:spcPts val="0"/>
                        </a:spcAft>
                      </a:pPr>
                      <a:r>
                        <a:rPr lang="en-US" sz="1100" kern="0">
                          <a:solidFill>
                            <a:srgbClr val="584E61"/>
                          </a:solidFill>
                          <a:effectLst/>
                        </a:rPr>
                        <a:t>6-4</a:t>
                      </a:r>
                      <a:endParaRPr lang="en-US"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0EFF2"/>
                    </a:solidFill>
                  </a:tcPr>
                </a:tc>
                <a:tc>
                  <a:txBody>
                    <a:bodyPr/>
                    <a:lstStyle/>
                    <a:p>
                      <a:pPr algn="ctr">
                        <a:spcAft>
                          <a:spcPts val="0"/>
                        </a:spcAft>
                      </a:pPr>
                      <a:r>
                        <a:rPr lang="en-US" sz="1100" kern="0">
                          <a:solidFill>
                            <a:srgbClr val="584E61"/>
                          </a:solidFill>
                          <a:effectLst/>
                        </a:rPr>
                        <a:t>2</a:t>
                      </a:r>
                      <a:endParaRPr lang="en-US"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0EFF2"/>
                    </a:solidFill>
                  </a:tcPr>
                </a:tc>
              </a:tr>
              <a:tr h="212400">
                <a:tc>
                  <a:txBody>
                    <a:bodyPr/>
                    <a:lstStyle/>
                    <a:p>
                      <a:pPr algn="ctr">
                        <a:spcAft>
                          <a:spcPts val="0"/>
                        </a:spcAft>
                      </a:pPr>
                      <a:r>
                        <a:rPr lang="en-US" sz="1100" kern="0">
                          <a:solidFill>
                            <a:srgbClr val="584E61"/>
                          </a:solidFill>
                          <a:effectLst/>
                        </a:rPr>
                        <a:t>*</a:t>
                      </a:r>
                      <a:endParaRPr lang="en-US"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FFFFF"/>
                    </a:solidFill>
                  </a:tcPr>
                </a:tc>
                <a:tc>
                  <a:txBody>
                    <a:bodyPr/>
                    <a:lstStyle/>
                    <a:p>
                      <a:pPr indent="0" algn="ctr" fontAlgn="auto">
                        <a:spcAft>
                          <a:spcPts val="0"/>
                        </a:spcAft>
                      </a:pPr>
                      <a:r>
                        <a:rPr lang="zh-CN" sz="1100" kern="0">
                          <a:solidFill>
                            <a:srgbClr val="584E61"/>
                          </a:solidFill>
                          <a:effectLst/>
                        </a:rPr>
                        <a:t>乘</a:t>
                      </a:r>
                      <a:endParaRPr lang="zh-CN" sz="1100" kern="0">
                        <a:solidFill>
                          <a:srgbClr val="584E61"/>
                        </a:solidFill>
                        <a:effectLst/>
                        <a:latin typeface="Times New Roman" panose="02020503050405090304"/>
                        <a:ea typeface="宋体" pitchFamily="2" charset="-122"/>
                      </a:endParaRPr>
                    </a:p>
                  </a:txBody>
                  <a:tcPr marL="0" marR="0" marT="0" marB="0" anchor="ctr" anchorCtr="0">
                    <a:lnL>
                      <a:noFill/>
                    </a:lnL>
                    <a:lnR>
                      <a:noFill/>
                    </a:lnR>
                    <a:lnT>
                      <a:noFill/>
                    </a:lnT>
                    <a:lnB>
                      <a:noFill/>
                    </a:lnB>
                    <a:solidFill>
                      <a:srgbClr val="FFFFFF"/>
                    </a:solidFill>
                  </a:tcPr>
                </a:tc>
                <a:tc>
                  <a:txBody>
                    <a:bodyPr/>
                    <a:lstStyle/>
                    <a:p>
                      <a:pPr algn="ctr">
                        <a:spcAft>
                          <a:spcPts val="0"/>
                        </a:spcAft>
                      </a:pPr>
                      <a:r>
                        <a:rPr lang="en-US" sz="1100" kern="0">
                          <a:solidFill>
                            <a:srgbClr val="584E61"/>
                          </a:solidFill>
                          <a:effectLst/>
                        </a:rPr>
                        <a:t>3*4</a:t>
                      </a:r>
                      <a:endParaRPr lang="en-US"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FFFFF"/>
                    </a:solidFill>
                  </a:tcPr>
                </a:tc>
                <a:tc>
                  <a:txBody>
                    <a:bodyPr/>
                    <a:lstStyle/>
                    <a:p>
                      <a:pPr algn="ctr">
                        <a:spcAft>
                          <a:spcPts val="0"/>
                        </a:spcAft>
                      </a:pPr>
                      <a:r>
                        <a:rPr lang="en-US" sz="1100" kern="0">
                          <a:solidFill>
                            <a:srgbClr val="584E61"/>
                          </a:solidFill>
                          <a:effectLst/>
                        </a:rPr>
                        <a:t>12</a:t>
                      </a:r>
                      <a:endParaRPr lang="en-US"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FFFFF"/>
                    </a:solidFill>
                  </a:tcPr>
                </a:tc>
              </a:tr>
              <a:tr h="212400">
                <a:tc>
                  <a:txBody>
                    <a:bodyPr/>
                    <a:lstStyle/>
                    <a:p>
                      <a:pPr algn="ctr">
                        <a:spcAft>
                          <a:spcPts val="0"/>
                        </a:spcAft>
                      </a:pPr>
                      <a:r>
                        <a:rPr lang="en-US" sz="1100" kern="0">
                          <a:solidFill>
                            <a:srgbClr val="584E61"/>
                          </a:solidFill>
                          <a:effectLst/>
                        </a:rPr>
                        <a:t>/</a:t>
                      </a:r>
                      <a:endParaRPr lang="en-US"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0EFF2"/>
                    </a:solidFill>
                  </a:tcPr>
                </a:tc>
                <a:tc>
                  <a:txBody>
                    <a:bodyPr/>
                    <a:lstStyle/>
                    <a:p>
                      <a:pPr indent="0" algn="ctr" fontAlgn="auto">
                        <a:spcAft>
                          <a:spcPts val="0"/>
                        </a:spcAft>
                      </a:pPr>
                      <a:r>
                        <a:rPr lang="zh-CN" sz="1100" kern="0">
                          <a:solidFill>
                            <a:srgbClr val="584E61"/>
                          </a:solidFill>
                          <a:effectLst/>
                        </a:rPr>
                        <a:t>除</a:t>
                      </a:r>
                      <a:endParaRPr lang="zh-CN" sz="1100" kern="0">
                        <a:solidFill>
                          <a:srgbClr val="584E61"/>
                        </a:solidFill>
                        <a:effectLst/>
                        <a:latin typeface="Times New Roman" panose="02020503050405090304"/>
                        <a:ea typeface="宋体" pitchFamily="2" charset="-122"/>
                      </a:endParaRPr>
                    </a:p>
                  </a:txBody>
                  <a:tcPr marL="0" marR="0" marT="0" marB="0" anchor="ctr" anchorCtr="0">
                    <a:lnL>
                      <a:noFill/>
                    </a:lnL>
                    <a:lnR>
                      <a:noFill/>
                    </a:lnR>
                    <a:lnT>
                      <a:noFill/>
                    </a:lnT>
                    <a:lnB>
                      <a:noFill/>
                    </a:lnB>
                    <a:solidFill>
                      <a:srgbClr val="F0EFF2"/>
                    </a:solidFill>
                  </a:tcPr>
                </a:tc>
                <a:tc>
                  <a:txBody>
                    <a:bodyPr/>
                    <a:lstStyle/>
                    <a:p>
                      <a:pPr algn="ctr">
                        <a:spcAft>
                          <a:spcPts val="0"/>
                        </a:spcAft>
                      </a:pPr>
                      <a:r>
                        <a:rPr lang="en-US" sz="1100" kern="0">
                          <a:solidFill>
                            <a:srgbClr val="584E61"/>
                          </a:solidFill>
                          <a:effectLst/>
                        </a:rPr>
                        <a:t>5/5</a:t>
                      </a:r>
                      <a:endParaRPr lang="en-US"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0EFF2"/>
                    </a:solidFill>
                  </a:tcPr>
                </a:tc>
                <a:tc>
                  <a:txBody>
                    <a:bodyPr/>
                    <a:lstStyle/>
                    <a:p>
                      <a:pPr algn="ctr">
                        <a:spcAft>
                          <a:spcPts val="0"/>
                        </a:spcAft>
                      </a:pPr>
                      <a:r>
                        <a:rPr lang="en-US" sz="1100" kern="0">
                          <a:solidFill>
                            <a:srgbClr val="584E61"/>
                          </a:solidFill>
                          <a:effectLst/>
                        </a:rPr>
                        <a:t>1</a:t>
                      </a:r>
                      <a:endParaRPr lang="en-US"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0EFF2"/>
                    </a:solidFill>
                  </a:tcPr>
                </a:tc>
              </a:tr>
              <a:tr h="212400">
                <a:tc>
                  <a:txBody>
                    <a:bodyPr/>
                    <a:lstStyle/>
                    <a:p>
                      <a:pPr algn="ctr">
                        <a:spcAft>
                          <a:spcPts val="0"/>
                        </a:spcAft>
                      </a:pPr>
                      <a:r>
                        <a:rPr lang="en-US" sz="1100" kern="0">
                          <a:solidFill>
                            <a:srgbClr val="584E61"/>
                          </a:solidFill>
                          <a:effectLst/>
                        </a:rPr>
                        <a:t>%</a:t>
                      </a:r>
                      <a:endParaRPr lang="en-US"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FFFFF"/>
                    </a:solidFill>
                  </a:tcPr>
                </a:tc>
                <a:tc>
                  <a:txBody>
                    <a:bodyPr/>
                    <a:lstStyle/>
                    <a:p>
                      <a:pPr algn="ctr">
                        <a:spcAft>
                          <a:spcPts val="0"/>
                        </a:spcAft>
                      </a:pPr>
                      <a:r>
                        <a:rPr lang="zh-CN" sz="1100" kern="0">
                          <a:solidFill>
                            <a:srgbClr val="584E61"/>
                          </a:solidFill>
                          <a:effectLst/>
                        </a:rPr>
                        <a:t>取模（即算术中的求余数）</a:t>
                      </a:r>
                      <a:endParaRPr lang="zh-CN"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FFFFF"/>
                    </a:solidFill>
                  </a:tcPr>
                </a:tc>
                <a:tc>
                  <a:txBody>
                    <a:bodyPr/>
                    <a:lstStyle/>
                    <a:p>
                      <a:pPr algn="ctr">
                        <a:spcAft>
                          <a:spcPts val="0"/>
                        </a:spcAft>
                      </a:pPr>
                      <a:r>
                        <a:rPr lang="en-US" sz="1100" kern="0">
                          <a:solidFill>
                            <a:srgbClr val="584E61"/>
                          </a:solidFill>
                          <a:effectLst/>
                        </a:rPr>
                        <a:t>7%5</a:t>
                      </a:r>
                      <a:endParaRPr lang="en-US"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FFFFF"/>
                    </a:solidFill>
                  </a:tcPr>
                </a:tc>
                <a:tc>
                  <a:txBody>
                    <a:bodyPr/>
                    <a:lstStyle/>
                    <a:p>
                      <a:pPr algn="ctr">
                        <a:spcAft>
                          <a:spcPts val="0"/>
                        </a:spcAft>
                      </a:pPr>
                      <a:r>
                        <a:rPr lang="en-US" sz="1100" kern="0">
                          <a:solidFill>
                            <a:srgbClr val="584E61"/>
                          </a:solidFill>
                          <a:effectLst/>
                        </a:rPr>
                        <a:t>2</a:t>
                      </a:r>
                      <a:endParaRPr lang="en-US"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FFFFF"/>
                    </a:solidFill>
                  </a:tcPr>
                </a:tc>
              </a:tr>
              <a:tr h="212400">
                <a:tc>
                  <a:txBody>
                    <a:bodyPr/>
                    <a:lstStyle/>
                    <a:p>
                      <a:pPr algn="ctr">
                        <a:spcAft>
                          <a:spcPts val="0"/>
                        </a:spcAft>
                      </a:pPr>
                      <a:r>
                        <a:rPr lang="en-US" sz="1100" kern="0">
                          <a:solidFill>
                            <a:srgbClr val="584E61"/>
                          </a:solidFill>
                          <a:effectLst/>
                        </a:rPr>
                        <a:t>++</a:t>
                      </a:r>
                      <a:endParaRPr lang="en-US"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0EFF2"/>
                    </a:solidFill>
                  </a:tcPr>
                </a:tc>
                <a:tc>
                  <a:txBody>
                    <a:bodyPr/>
                    <a:lstStyle/>
                    <a:p>
                      <a:pPr algn="ctr">
                        <a:spcAft>
                          <a:spcPts val="0"/>
                        </a:spcAft>
                      </a:pPr>
                      <a:r>
                        <a:rPr lang="zh-CN" sz="1100" kern="0">
                          <a:solidFill>
                            <a:srgbClr val="584E61"/>
                          </a:solidFill>
                          <a:effectLst/>
                        </a:rPr>
                        <a:t>自增（前）</a:t>
                      </a:r>
                      <a:endParaRPr lang="zh-CN"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0EFF2"/>
                    </a:solidFill>
                  </a:tcPr>
                </a:tc>
                <a:tc>
                  <a:txBody>
                    <a:bodyPr/>
                    <a:lstStyle/>
                    <a:p>
                      <a:pPr indent="0" algn="ctr" fontAlgn="auto">
                        <a:spcAft>
                          <a:spcPts val="0"/>
                        </a:spcAft>
                      </a:pPr>
                      <a:r>
                        <a:rPr lang="en-US" sz="1100" kern="0">
                          <a:solidFill>
                            <a:srgbClr val="584E61"/>
                          </a:solidFill>
                          <a:effectLst/>
                        </a:rPr>
                        <a:t>a=2;b=++a;</a:t>
                      </a:r>
                      <a:endParaRPr lang="en-US"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0EFF2"/>
                    </a:solidFill>
                  </a:tcPr>
                </a:tc>
                <a:tc>
                  <a:txBody>
                    <a:bodyPr/>
                    <a:lstStyle/>
                    <a:p>
                      <a:pPr algn="ctr">
                        <a:spcAft>
                          <a:spcPts val="0"/>
                        </a:spcAft>
                      </a:pPr>
                      <a:r>
                        <a:rPr lang="en-US" sz="1100" kern="0">
                          <a:solidFill>
                            <a:srgbClr val="584E61"/>
                          </a:solidFill>
                          <a:effectLst/>
                        </a:rPr>
                        <a:t>a=3;b=3;</a:t>
                      </a:r>
                      <a:endParaRPr lang="en-US"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0EFF2"/>
                    </a:solidFill>
                  </a:tcPr>
                </a:tc>
              </a:tr>
              <a:tr h="212400">
                <a:tc>
                  <a:txBody>
                    <a:bodyPr/>
                    <a:lstStyle/>
                    <a:p>
                      <a:pPr algn="ctr">
                        <a:spcAft>
                          <a:spcPts val="0"/>
                        </a:spcAft>
                      </a:pPr>
                      <a:r>
                        <a:rPr lang="en-US" sz="1100" kern="0">
                          <a:solidFill>
                            <a:srgbClr val="584E61"/>
                          </a:solidFill>
                          <a:effectLst/>
                        </a:rPr>
                        <a:t>++</a:t>
                      </a:r>
                      <a:endParaRPr lang="en-US"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FFFFF"/>
                    </a:solidFill>
                  </a:tcPr>
                </a:tc>
                <a:tc>
                  <a:txBody>
                    <a:bodyPr/>
                    <a:lstStyle/>
                    <a:p>
                      <a:pPr algn="ctr">
                        <a:spcAft>
                          <a:spcPts val="0"/>
                        </a:spcAft>
                      </a:pPr>
                      <a:r>
                        <a:rPr lang="zh-CN" sz="1100" kern="0">
                          <a:solidFill>
                            <a:srgbClr val="584E61"/>
                          </a:solidFill>
                          <a:effectLst/>
                        </a:rPr>
                        <a:t>自增（后）</a:t>
                      </a:r>
                      <a:endParaRPr lang="zh-CN"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FFFFF"/>
                    </a:solidFill>
                  </a:tcPr>
                </a:tc>
                <a:tc>
                  <a:txBody>
                    <a:bodyPr/>
                    <a:lstStyle/>
                    <a:p>
                      <a:pPr indent="0" algn="ctr" fontAlgn="auto">
                        <a:spcAft>
                          <a:spcPts val="0"/>
                        </a:spcAft>
                      </a:pPr>
                      <a:r>
                        <a:rPr lang="en-US" sz="1100" kern="0">
                          <a:solidFill>
                            <a:srgbClr val="584E61"/>
                          </a:solidFill>
                          <a:effectLst/>
                        </a:rPr>
                        <a:t>a=2;b=a++;</a:t>
                      </a:r>
                      <a:endParaRPr lang="en-US"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FFFFF"/>
                    </a:solidFill>
                  </a:tcPr>
                </a:tc>
                <a:tc>
                  <a:txBody>
                    <a:bodyPr/>
                    <a:lstStyle/>
                    <a:p>
                      <a:pPr algn="ctr">
                        <a:spcAft>
                          <a:spcPts val="0"/>
                        </a:spcAft>
                      </a:pPr>
                      <a:r>
                        <a:rPr lang="en-US" sz="1100" kern="0">
                          <a:solidFill>
                            <a:srgbClr val="584E61"/>
                          </a:solidFill>
                          <a:effectLst/>
                        </a:rPr>
                        <a:t>a=3;b=2;</a:t>
                      </a:r>
                      <a:endParaRPr lang="en-US"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FFFFF"/>
                    </a:solidFill>
                  </a:tcPr>
                </a:tc>
              </a:tr>
              <a:tr h="212400">
                <a:tc>
                  <a:txBody>
                    <a:bodyPr/>
                    <a:lstStyle/>
                    <a:p>
                      <a:pPr algn="ctr">
                        <a:spcAft>
                          <a:spcPts val="0"/>
                        </a:spcAft>
                      </a:pPr>
                      <a:r>
                        <a:rPr lang="en-US" sz="1100" kern="0">
                          <a:solidFill>
                            <a:srgbClr val="584E61"/>
                          </a:solidFill>
                          <a:effectLst/>
                        </a:rPr>
                        <a:t>--</a:t>
                      </a:r>
                      <a:endParaRPr lang="en-US"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0EFF2"/>
                    </a:solidFill>
                  </a:tcPr>
                </a:tc>
                <a:tc>
                  <a:txBody>
                    <a:bodyPr/>
                    <a:lstStyle/>
                    <a:p>
                      <a:pPr algn="ctr">
                        <a:spcAft>
                          <a:spcPts val="0"/>
                        </a:spcAft>
                      </a:pPr>
                      <a:r>
                        <a:rPr lang="zh-CN" sz="1100" kern="0">
                          <a:solidFill>
                            <a:srgbClr val="584E61"/>
                          </a:solidFill>
                          <a:effectLst/>
                        </a:rPr>
                        <a:t>自减（前）</a:t>
                      </a:r>
                      <a:endParaRPr lang="zh-CN"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0EFF2"/>
                    </a:solidFill>
                  </a:tcPr>
                </a:tc>
                <a:tc>
                  <a:txBody>
                    <a:bodyPr/>
                    <a:lstStyle/>
                    <a:p>
                      <a:pPr indent="0" algn="ctr" fontAlgn="auto">
                        <a:spcAft>
                          <a:spcPts val="0"/>
                        </a:spcAft>
                      </a:pPr>
                      <a:r>
                        <a:rPr lang="en-US" sz="1100" kern="0">
                          <a:solidFill>
                            <a:srgbClr val="584E61"/>
                          </a:solidFill>
                          <a:effectLst/>
                        </a:rPr>
                        <a:t>a=2;b=--a;</a:t>
                      </a:r>
                      <a:endParaRPr lang="en-US"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0EFF2"/>
                    </a:solidFill>
                  </a:tcPr>
                </a:tc>
                <a:tc>
                  <a:txBody>
                    <a:bodyPr/>
                    <a:lstStyle/>
                    <a:p>
                      <a:pPr algn="ctr">
                        <a:spcAft>
                          <a:spcPts val="0"/>
                        </a:spcAft>
                      </a:pPr>
                      <a:r>
                        <a:rPr lang="en-US" sz="1100" kern="0">
                          <a:solidFill>
                            <a:srgbClr val="584E61"/>
                          </a:solidFill>
                          <a:effectLst/>
                        </a:rPr>
                        <a:t>a=1;b=1;</a:t>
                      </a:r>
                      <a:endParaRPr lang="en-US"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a:noFill/>
                    </a:lnB>
                    <a:solidFill>
                      <a:srgbClr val="F0EFF2"/>
                    </a:solidFill>
                  </a:tcPr>
                </a:tc>
              </a:tr>
              <a:tr h="212400">
                <a:tc>
                  <a:txBody>
                    <a:bodyPr/>
                    <a:lstStyle/>
                    <a:p>
                      <a:pPr algn="ctr">
                        <a:spcAft>
                          <a:spcPts val="0"/>
                        </a:spcAft>
                      </a:pPr>
                      <a:r>
                        <a:rPr lang="en-US" sz="1100" kern="0">
                          <a:solidFill>
                            <a:srgbClr val="584E61"/>
                          </a:solidFill>
                          <a:effectLst/>
                        </a:rPr>
                        <a:t>--</a:t>
                      </a:r>
                      <a:endParaRPr lang="en-US"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w="19050">
                      <a:solidFill>
                        <a:srgbClr val="584E61"/>
                      </a:solidFill>
                      <a:prstDash val="solid"/>
                    </a:lnB>
                    <a:solidFill>
                      <a:srgbClr val="FFFFFF"/>
                    </a:solidFill>
                  </a:tcPr>
                </a:tc>
                <a:tc>
                  <a:txBody>
                    <a:bodyPr/>
                    <a:lstStyle/>
                    <a:p>
                      <a:pPr algn="ctr">
                        <a:spcAft>
                          <a:spcPts val="0"/>
                        </a:spcAft>
                      </a:pPr>
                      <a:r>
                        <a:rPr lang="zh-CN" sz="1100" kern="0">
                          <a:solidFill>
                            <a:srgbClr val="584E61"/>
                          </a:solidFill>
                          <a:effectLst/>
                        </a:rPr>
                        <a:t>自减（后）</a:t>
                      </a:r>
                      <a:endParaRPr lang="zh-CN"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w="19050">
                      <a:solidFill>
                        <a:srgbClr val="584E61"/>
                      </a:solidFill>
                      <a:prstDash val="solid"/>
                    </a:lnB>
                    <a:solidFill>
                      <a:srgbClr val="FFFFFF"/>
                    </a:solidFill>
                  </a:tcPr>
                </a:tc>
                <a:tc>
                  <a:txBody>
                    <a:bodyPr/>
                    <a:lstStyle/>
                    <a:p>
                      <a:pPr indent="0" algn="ctr" fontAlgn="auto">
                        <a:spcAft>
                          <a:spcPts val="0"/>
                        </a:spcAft>
                      </a:pPr>
                      <a:r>
                        <a:rPr lang="en-US" sz="1100" kern="0">
                          <a:solidFill>
                            <a:srgbClr val="584E61"/>
                          </a:solidFill>
                          <a:effectLst/>
                        </a:rPr>
                        <a:t>a=2;b=a--;</a:t>
                      </a:r>
                      <a:endParaRPr lang="en-US" sz="1100" kern="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w="19050">
                      <a:solidFill>
                        <a:srgbClr val="584E61"/>
                      </a:solidFill>
                      <a:prstDash val="solid"/>
                    </a:lnB>
                    <a:solidFill>
                      <a:srgbClr val="FFFFFF"/>
                    </a:solidFill>
                  </a:tcPr>
                </a:tc>
                <a:tc>
                  <a:txBody>
                    <a:bodyPr/>
                    <a:lstStyle/>
                    <a:p>
                      <a:pPr algn="ctr">
                        <a:spcAft>
                          <a:spcPts val="0"/>
                        </a:spcAft>
                      </a:pPr>
                      <a:r>
                        <a:rPr lang="en-US" sz="1100" kern="0" dirty="0">
                          <a:solidFill>
                            <a:srgbClr val="584E61"/>
                          </a:solidFill>
                          <a:effectLst/>
                        </a:rPr>
                        <a:t>a=1;b=2;</a:t>
                      </a:r>
                      <a:endParaRPr lang="en-US" sz="1100" kern="0" dirty="0">
                        <a:solidFill>
                          <a:srgbClr val="584E61"/>
                        </a:solidFill>
                        <a:effectLst/>
                        <a:latin typeface="Times New Roman" panose="02020503050405090304"/>
                        <a:ea typeface="宋体" pitchFamily="2" charset="-122"/>
                      </a:endParaRPr>
                    </a:p>
                  </a:txBody>
                  <a:tcPr marL="51429" marR="51429" marT="0" marB="0" anchor="ctr" anchorCtr="0">
                    <a:lnL>
                      <a:noFill/>
                    </a:lnL>
                    <a:lnR>
                      <a:noFill/>
                    </a:lnR>
                    <a:lnT>
                      <a:noFill/>
                    </a:lnT>
                    <a:lnB w="19050">
                      <a:solidFill>
                        <a:srgbClr val="584E61"/>
                      </a:solidFill>
                      <a:prstDash val="solid"/>
                    </a:lnB>
                    <a:solidFill>
                      <a:srgbClr val="FFFFFF"/>
                    </a:solidFill>
                  </a:tcPr>
                </a:tc>
              </a:tr>
            </a:tbl>
          </a:graphicData>
        </a:graphic>
      </p:graphicFrame>
      <p:sp>
        <p:nvSpPr>
          <p:cNvPr id="2" name="标题 1"/>
          <p:cNvSpPr>
            <a:spLocks noGrp="1"/>
          </p:cNvSpPr>
          <p:nvPr>
            <p:custDataLst>
              <p:tags r:id="rId2"/>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2.4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运算符</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bwMode="auto">
          <a:xfrm>
            <a:off x="1485900" y="725170"/>
            <a:ext cx="6736715" cy="429958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0" marR="0" lvl="0" indent="0" algn="l" defTabSz="914400" rtl="0" eaLnBrk="0" fontAlgn="base" latinLnBrk="0" hangingPunct="0">
              <a:lnSpc>
                <a:spcPct val="150000"/>
              </a:lnSpc>
              <a:spcBef>
                <a:spcPct val="20000"/>
              </a:spcBef>
              <a:spcAft>
                <a:spcPct val="0"/>
              </a:spcAft>
              <a:buClrTx/>
              <a:buSzTx/>
              <a:buFontTx/>
              <a:buNone/>
              <a:defRPr/>
            </a:pP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算术运算</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符看上去都比较简单</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但在使用时需要注意以下几点：</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1.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进行</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四则混合运算时，运算顺序遵循数学中</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先乘除后加减</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的</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原则</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2.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在</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进行自增（</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）和自减（</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）的运算时，如果运算符（</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或</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放</a:t>
            </a: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在</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操作数的前面</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则先</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进行自增或自减运算，再进行其他运算。反之，如果运算符放在操作数的后面则是先进行其他运算再进行自增或自减</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运算</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3.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在</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进行除法运算时，当除数和被除数都为整数时，得到的结果也是一个整数。如果除法运算有浮点数参与运算，系统会将整数数据隐形类型转换为浮点类型，最终得到的结果会是一个</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浮点数</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4.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取</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模运算在程序设计中都有着广泛的应用，例如判断奇偶数的方法就是求一个数字除以</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2</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的余数是</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1</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还是</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0</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。在进行取模运算时，运算结果的正负取决于被模数</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左边的数</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的符号，与模数</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右边的数</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的符号</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无关</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ea"/>
                <a:ea typeface="+mn-ea"/>
                <a:cs typeface="+mn-cs"/>
              </a:rPr>
              <a:t>                </a:t>
            </a: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5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en-US"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p:txBody>
      </p:sp>
      <p:sp>
        <p:nvSpPr>
          <p:cNvPr id="3" name="标题 1"/>
          <p:cNvSpPr>
            <a:spLocks noGrp="1"/>
          </p:cNvSpPr>
          <p:nvPr>
            <p:custDataLst>
              <p:tags r:id="rId1"/>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2.4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运算符</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2" name="灯片编号占位符 1"/>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bwMode="auto">
          <a:xfrm>
            <a:off x="1485900" y="577454"/>
            <a:ext cx="6172200" cy="429934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Tx/>
              <a:buChar char="•"/>
              <a:defRPr/>
            </a:pPr>
            <a:r>
              <a:rPr kumimoji="0" lang="en-US" altLang="zh-CN" sz="1500" b="1" i="0" u="none" strike="noStrike" kern="0" cap="none" spc="0" normalizeH="0" baseline="0" noProof="0" dirty="0" smtClean="0">
                <a:ln>
                  <a:noFill/>
                </a:ln>
                <a:solidFill>
                  <a:srgbClr val="009ED6"/>
                </a:solidFill>
                <a:effectLst/>
                <a:uLnTx/>
                <a:uFillTx/>
                <a:latin typeface="+mn-lt"/>
                <a:ea typeface="+mn-ea"/>
                <a:cs typeface="+mn-cs"/>
              </a:rPr>
              <a:t>2.4.3  </a:t>
            </a:r>
            <a:r>
              <a:rPr kumimoji="0" lang="zh-CN" altLang="en-US" sz="1500" b="1" i="0" u="none" strike="noStrike" kern="0" cap="none" spc="0" normalizeH="0" baseline="0" noProof="0" dirty="0">
                <a:ln>
                  <a:noFill/>
                </a:ln>
                <a:solidFill>
                  <a:srgbClr val="009ED6"/>
                </a:solidFill>
                <a:effectLst/>
                <a:uLnTx/>
                <a:uFillTx/>
                <a:latin typeface="+mn-lt"/>
                <a:ea typeface="+mn-ea"/>
                <a:cs typeface="+mn-cs"/>
              </a:rPr>
              <a:t>赋值</a:t>
            </a:r>
            <a:r>
              <a:rPr kumimoji="0" lang="zh-CN" altLang="en-US" sz="1500" b="1" i="0" u="none" strike="noStrike" kern="0" cap="none" spc="0" normalizeH="0" baseline="0" noProof="0" dirty="0" smtClean="0">
                <a:ln>
                  <a:noFill/>
                </a:ln>
                <a:solidFill>
                  <a:srgbClr val="009ED6"/>
                </a:solidFill>
                <a:effectLst/>
                <a:uLnTx/>
                <a:uFillTx/>
                <a:latin typeface="+mn-lt"/>
                <a:ea typeface="+mn-ea"/>
                <a:cs typeface="+mn-cs"/>
              </a:rPr>
              <a:t>运算符</a:t>
            </a:r>
            <a:endParaRPr kumimoji="0" lang="en-US" altLang="zh-CN" sz="1500" b="1" i="0" u="none" strike="noStrike" kern="0" cap="none" spc="0" normalizeH="0" baseline="0" noProof="0" dirty="0" smtClean="0">
              <a:ln>
                <a:noFill/>
              </a:ln>
              <a:solidFill>
                <a:srgbClr val="009ED6"/>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赋值</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运算符的作用就是将常量、变量或表达式的值赋给某一个变量。表</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2-12</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列举了</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C</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语言中的赋值运算符及其</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用法</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zh-CN" altLang="en-US"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50000"/>
              </a:lnSpc>
              <a:spcBef>
                <a:spcPct val="20000"/>
              </a:spcBef>
              <a:spcAft>
                <a:spcPct val="0"/>
              </a:spcAft>
              <a:buClrTx/>
              <a:buSzTx/>
              <a:buFontTx/>
              <a:buNone/>
              <a:defRPr/>
            </a:pPr>
            <a:r>
              <a:rPr kumimoji="0" lang="zh-CN" altLang="en-US" sz="1050" b="0" i="0" u="none" strike="noStrike" kern="0" cap="none" spc="0" normalizeH="0" baseline="0" noProof="0" dirty="0" smtClean="0">
                <a:ln>
                  <a:noFill/>
                </a:ln>
                <a:solidFill>
                  <a:schemeClr val="tx1"/>
                </a:solidFill>
                <a:effectLst/>
                <a:uLnTx/>
                <a:uFillTx/>
                <a:latin typeface="+mn-lt"/>
                <a:ea typeface="+mn-ea"/>
                <a:cs typeface="+mn-cs"/>
              </a:rPr>
              <a:t>表</a:t>
            </a: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2-12   </a:t>
            </a:r>
            <a:r>
              <a:rPr kumimoji="0" lang="zh-CN" altLang="en-US" sz="1050" b="0" i="0" u="none" strike="noStrike" kern="0" cap="none" spc="0" normalizeH="0" baseline="0" noProof="0" dirty="0" smtClean="0">
                <a:ln>
                  <a:noFill/>
                </a:ln>
                <a:solidFill>
                  <a:schemeClr val="tx1"/>
                </a:solidFill>
                <a:effectLst/>
                <a:uLnTx/>
                <a:uFillTx/>
                <a:latin typeface="+mn-lt"/>
                <a:ea typeface="+mn-ea"/>
                <a:cs typeface="+mn-cs"/>
              </a:rPr>
              <a:t>赋值运算符</a:t>
            </a: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ea"/>
                <a:ea typeface="+mn-ea"/>
                <a:cs typeface="+mn-cs"/>
              </a:rPr>
              <a:t>                </a:t>
            </a: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在</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表</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2-12</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中，“</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”的作用不是表示相等关系，而是赋值运算符，即将等号右侧的值赋给等号左侧的</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变量</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5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en-US"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p:txBody>
      </p:sp>
      <p:graphicFrame>
        <p:nvGraphicFramePr>
          <p:cNvPr id="2" name="表格 1"/>
          <p:cNvGraphicFramePr>
            <a:graphicFrameLocks noGrp="1"/>
          </p:cNvGraphicFramePr>
          <p:nvPr>
            <p:custDataLst>
              <p:tags r:id="rId1"/>
            </p:custDataLst>
          </p:nvPr>
        </p:nvGraphicFramePr>
        <p:xfrm>
          <a:off x="1719263" y="2116931"/>
          <a:ext cx="5638800" cy="1764000"/>
        </p:xfrm>
        <a:graphic>
          <a:graphicData uri="http://schemas.openxmlformats.org/drawingml/2006/table">
            <a:tbl>
              <a:tblPr/>
              <a:tblGrid>
                <a:gridCol w="1152525"/>
                <a:gridCol w="1250950"/>
                <a:gridCol w="1501140"/>
                <a:gridCol w="1734185"/>
              </a:tblGrid>
              <a:tr h="252000">
                <a:tc>
                  <a:txBody>
                    <a:bodyPr/>
                    <a:lstStyle/>
                    <a:p>
                      <a:pPr algn="ctr">
                        <a:spcAft>
                          <a:spcPts val="0"/>
                        </a:spcAft>
                      </a:pPr>
                      <a:r>
                        <a:rPr lang="zh-CN" sz="1100" kern="0" dirty="0">
                          <a:solidFill>
                            <a:srgbClr val="584E61"/>
                          </a:solidFill>
                          <a:effectLst/>
                        </a:rPr>
                        <a:t>运算符</a:t>
                      </a:r>
                      <a:endParaRPr lang="zh-CN" sz="1100" kern="0" dirty="0">
                        <a:solidFill>
                          <a:srgbClr val="584E61"/>
                        </a:solidFill>
                        <a:effectLst/>
                        <a:latin typeface="Times New Roman" panose="02020503050405090304"/>
                        <a:ea typeface="宋体" pitchFamily="2" charset="-122"/>
                      </a:endParaRPr>
                    </a:p>
                  </a:txBody>
                  <a:tcPr marL="51435" marR="51435"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algn="ctr">
                        <a:spcAft>
                          <a:spcPts val="0"/>
                        </a:spcAft>
                      </a:pPr>
                      <a:r>
                        <a:rPr lang="zh-CN" sz="1100" kern="0">
                          <a:solidFill>
                            <a:srgbClr val="584E61"/>
                          </a:solidFill>
                          <a:effectLst/>
                        </a:rPr>
                        <a:t>运算</a:t>
                      </a:r>
                      <a:endParaRPr lang="zh-CN" sz="1100" kern="0">
                        <a:solidFill>
                          <a:srgbClr val="584E61"/>
                        </a:solidFill>
                        <a:effectLst/>
                        <a:latin typeface="Times New Roman" panose="02020503050405090304"/>
                        <a:ea typeface="宋体" pitchFamily="2" charset="-122"/>
                      </a:endParaRPr>
                    </a:p>
                  </a:txBody>
                  <a:tcPr marL="51435" marR="51435"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algn="ctr">
                        <a:spcAft>
                          <a:spcPts val="0"/>
                        </a:spcAft>
                      </a:pPr>
                      <a:r>
                        <a:rPr lang="zh-CN" sz="1100" kern="0">
                          <a:solidFill>
                            <a:srgbClr val="584E61"/>
                          </a:solidFill>
                          <a:effectLst/>
                        </a:rPr>
                        <a:t>范例</a:t>
                      </a:r>
                      <a:endParaRPr lang="zh-CN" sz="1100" kern="0">
                        <a:solidFill>
                          <a:srgbClr val="584E61"/>
                        </a:solidFill>
                        <a:effectLst/>
                        <a:latin typeface="Times New Roman" panose="02020503050405090304"/>
                        <a:ea typeface="宋体" pitchFamily="2" charset="-122"/>
                      </a:endParaRPr>
                    </a:p>
                  </a:txBody>
                  <a:tcPr marL="51435" marR="51435"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algn="ctr">
                        <a:spcAft>
                          <a:spcPts val="0"/>
                        </a:spcAft>
                      </a:pPr>
                      <a:r>
                        <a:rPr lang="zh-CN" sz="1100" kern="0">
                          <a:solidFill>
                            <a:srgbClr val="584E61"/>
                          </a:solidFill>
                          <a:effectLst/>
                        </a:rPr>
                        <a:t>结果</a:t>
                      </a:r>
                      <a:endParaRPr lang="zh-CN" sz="1100" kern="0">
                        <a:solidFill>
                          <a:srgbClr val="584E61"/>
                        </a:solidFill>
                        <a:effectLst/>
                        <a:latin typeface="Times New Roman" panose="02020503050405090304"/>
                        <a:ea typeface="宋体" pitchFamily="2" charset="-122"/>
                      </a:endParaRPr>
                    </a:p>
                  </a:txBody>
                  <a:tcPr marL="51435" marR="51435" marT="0" marB="0" anchor="ctr" anchorCtr="0">
                    <a:lnL>
                      <a:noFill/>
                    </a:lnL>
                    <a:lnR>
                      <a:noFill/>
                    </a:lnR>
                    <a:lnT w="19050">
                      <a:solidFill>
                        <a:srgbClr val="584E61"/>
                      </a:solidFill>
                      <a:prstDash val="solid"/>
                    </a:lnT>
                    <a:lnB w="19050">
                      <a:solidFill>
                        <a:srgbClr val="584E61"/>
                      </a:solidFill>
                      <a:prstDash val="solid"/>
                    </a:lnB>
                    <a:solidFill>
                      <a:srgbClr val="FFFFFF"/>
                    </a:solidFill>
                  </a:tcPr>
                </a:tc>
              </a:tr>
              <a:tr h="252000">
                <a:tc>
                  <a:txBody>
                    <a:bodyPr/>
                    <a:lstStyle/>
                    <a:p>
                      <a:pPr indent="0" algn="ctr" fontAlgn="auto">
                        <a:spcAft>
                          <a:spcPts val="0"/>
                        </a:spcAft>
                      </a:pPr>
                      <a:r>
                        <a:rPr lang="en-US" sz="1100" kern="0">
                          <a:solidFill>
                            <a:srgbClr val="584E61"/>
                          </a:solidFill>
                          <a:effectLst/>
                        </a:rPr>
                        <a:t>=</a:t>
                      </a:r>
                      <a:endParaRPr lang="en-US" sz="1100" kern="0">
                        <a:solidFill>
                          <a:srgbClr val="584E61"/>
                        </a:solidFill>
                        <a:effectLst/>
                        <a:latin typeface="Times New Roman" panose="02020503050405090304"/>
                        <a:ea typeface="宋体" pitchFamily="2" charset="-122"/>
                      </a:endParaRPr>
                    </a:p>
                  </a:txBody>
                  <a:tcPr marL="51435" marR="51435" marT="0" marB="0" anchor="ctr" anchorCtr="0">
                    <a:lnL>
                      <a:noFill/>
                    </a:lnL>
                    <a:lnR>
                      <a:noFill/>
                    </a:lnR>
                    <a:lnT w="19050">
                      <a:solidFill>
                        <a:srgbClr val="584E61"/>
                      </a:solidFill>
                      <a:prstDash val="solid"/>
                    </a:lnT>
                    <a:lnB>
                      <a:noFill/>
                    </a:lnB>
                    <a:solidFill>
                      <a:srgbClr val="FFFFFF"/>
                    </a:solidFill>
                  </a:tcPr>
                </a:tc>
                <a:tc>
                  <a:txBody>
                    <a:bodyPr/>
                    <a:lstStyle/>
                    <a:p>
                      <a:pPr indent="0" algn="ctr" fontAlgn="auto">
                        <a:spcAft>
                          <a:spcPts val="0"/>
                        </a:spcAft>
                      </a:pPr>
                      <a:r>
                        <a:rPr lang="zh-CN" sz="1100" kern="0">
                          <a:solidFill>
                            <a:srgbClr val="584E61"/>
                          </a:solidFill>
                          <a:effectLst/>
                        </a:rPr>
                        <a:t>赋值</a:t>
                      </a:r>
                      <a:endParaRPr lang="zh-CN" sz="1100" kern="0">
                        <a:solidFill>
                          <a:srgbClr val="584E61"/>
                        </a:solidFill>
                        <a:effectLst/>
                        <a:latin typeface="Times New Roman" panose="02020503050405090304"/>
                        <a:ea typeface="宋体" pitchFamily="2" charset="-122"/>
                      </a:endParaRPr>
                    </a:p>
                  </a:txBody>
                  <a:tcPr marL="51435" marR="51435" marT="0" marB="0" anchor="ctr" anchorCtr="0">
                    <a:lnL>
                      <a:noFill/>
                    </a:lnL>
                    <a:lnR>
                      <a:noFill/>
                    </a:lnR>
                    <a:lnT w="19050">
                      <a:solidFill>
                        <a:srgbClr val="584E61"/>
                      </a:solidFill>
                      <a:prstDash val="solid"/>
                    </a:lnT>
                    <a:lnB>
                      <a:noFill/>
                    </a:lnB>
                    <a:solidFill>
                      <a:srgbClr val="FFFFFF"/>
                    </a:solidFill>
                  </a:tcPr>
                </a:tc>
                <a:tc>
                  <a:txBody>
                    <a:bodyPr/>
                    <a:lstStyle/>
                    <a:p>
                      <a:pPr indent="0" algn="ctr" fontAlgn="auto">
                        <a:spcAft>
                          <a:spcPts val="0"/>
                        </a:spcAft>
                      </a:pPr>
                      <a:r>
                        <a:rPr lang="en-US" sz="1100" kern="0">
                          <a:solidFill>
                            <a:srgbClr val="584E61"/>
                          </a:solidFill>
                          <a:effectLst/>
                        </a:rPr>
                        <a:t>a=3;b=2;</a:t>
                      </a:r>
                      <a:endParaRPr lang="en-US" sz="1100" kern="0">
                        <a:solidFill>
                          <a:srgbClr val="584E61"/>
                        </a:solidFill>
                        <a:effectLst/>
                        <a:latin typeface="Times New Roman" panose="02020503050405090304"/>
                        <a:ea typeface="宋体" pitchFamily="2" charset="-122"/>
                      </a:endParaRPr>
                    </a:p>
                  </a:txBody>
                  <a:tcPr marL="51435" marR="51435" marT="0" marB="0" anchor="ctr" anchorCtr="0">
                    <a:lnL>
                      <a:noFill/>
                    </a:lnL>
                    <a:lnR>
                      <a:noFill/>
                    </a:lnR>
                    <a:lnT w="19050">
                      <a:solidFill>
                        <a:srgbClr val="584E61"/>
                      </a:solidFill>
                      <a:prstDash val="solid"/>
                    </a:lnT>
                    <a:lnB>
                      <a:noFill/>
                    </a:lnB>
                    <a:solidFill>
                      <a:srgbClr val="FFFFFF"/>
                    </a:solidFill>
                  </a:tcPr>
                </a:tc>
                <a:tc>
                  <a:txBody>
                    <a:bodyPr/>
                    <a:lstStyle/>
                    <a:p>
                      <a:pPr algn="ctr">
                        <a:spcAft>
                          <a:spcPts val="0"/>
                        </a:spcAft>
                      </a:pPr>
                      <a:r>
                        <a:rPr lang="en-US" sz="1100" kern="0">
                          <a:solidFill>
                            <a:srgbClr val="584E61"/>
                          </a:solidFill>
                          <a:effectLst/>
                        </a:rPr>
                        <a:t>a=3;b=2;</a:t>
                      </a:r>
                      <a:endParaRPr lang="en-US" sz="1100" kern="0">
                        <a:solidFill>
                          <a:srgbClr val="584E61"/>
                        </a:solidFill>
                        <a:effectLst/>
                        <a:latin typeface="Times New Roman" panose="02020503050405090304"/>
                        <a:ea typeface="宋体" pitchFamily="2" charset="-122"/>
                      </a:endParaRPr>
                    </a:p>
                  </a:txBody>
                  <a:tcPr marL="51435" marR="51435" marT="0" marB="0" anchor="ctr" anchorCtr="0">
                    <a:lnL>
                      <a:noFill/>
                    </a:lnL>
                    <a:lnR>
                      <a:noFill/>
                    </a:lnR>
                    <a:lnT w="19050">
                      <a:solidFill>
                        <a:srgbClr val="584E61"/>
                      </a:solidFill>
                      <a:prstDash val="solid"/>
                    </a:lnT>
                    <a:lnB>
                      <a:noFill/>
                    </a:lnB>
                    <a:solidFill>
                      <a:srgbClr val="FFFFFF"/>
                    </a:solidFill>
                  </a:tcPr>
                </a:tc>
              </a:tr>
              <a:tr h="252000">
                <a:tc>
                  <a:txBody>
                    <a:bodyPr/>
                    <a:lstStyle/>
                    <a:p>
                      <a:pPr indent="0" algn="ctr" fontAlgn="auto">
                        <a:spcAft>
                          <a:spcPts val="0"/>
                        </a:spcAft>
                      </a:pPr>
                      <a:r>
                        <a:rPr lang="en-US" sz="1100" kern="0">
                          <a:solidFill>
                            <a:srgbClr val="584E61"/>
                          </a:solidFill>
                          <a:effectLst/>
                        </a:rPr>
                        <a:t>+=</a:t>
                      </a:r>
                      <a:endParaRPr lang="en-US" sz="1100" kern="0">
                        <a:solidFill>
                          <a:srgbClr val="584E61"/>
                        </a:solidFill>
                        <a:effectLst/>
                        <a:latin typeface="Times New Roman" panose="02020503050405090304"/>
                        <a:ea typeface="宋体" pitchFamily="2" charset="-122"/>
                      </a:endParaRPr>
                    </a:p>
                  </a:txBody>
                  <a:tcPr marL="51435" marR="51435" marT="0" marB="0" anchor="ctr" anchorCtr="0">
                    <a:lnL>
                      <a:noFill/>
                    </a:lnL>
                    <a:lnR>
                      <a:noFill/>
                    </a:lnR>
                    <a:lnT>
                      <a:noFill/>
                    </a:lnT>
                    <a:lnB>
                      <a:noFill/>
                    </a:lnB>
                    <a:solidFill>
                      <a:srgbClr val="F0EFF2"/>
                    </a:solidFill>
                  </a:tcPr>
                </a:tc>
                <a:tc>
                  <a:txBody>
                    <a:bodyPr/>
                    <a:lstStyle/>
                    <a:p>
                      <a:pPr indent="0" algn="ctr" fontAlgn="auto">
                        <a:spcAft>
                          <a:spcPts val="0"/>
                        </a:spcAft>
                      </a:pPr>
                      <a:r>
                        <a:rPr lang="zh-CN" sz="1100" kern="0">
                          <a:solidFill>
                            <a:srgbClr val="584E61"/>
                          </a:solidFill>
                          <a:effectLst/>
                        </a:rPr>
                        <a:t>加等于</a:t>
                      </a:r>
                      <a:endParaRPr lang="zh-CN" sz="1100" kern="0">
                        <a:solidFill>
                          <a:srgbClr val="584E61"/>
                        </a:solidFill>
                        <a:effectLst/>
                        <a:latin typeface="Times New Roman" panose="02020503050405090304"/>
                        <a:ea typeface="宋体" pitchFamily="2" charset="-122"/>
                      </a:endParaRPr>
                    </a:p>
                  </a:txBody>
                  <a:tcPr marL="51435" marR="51435" marT="0" marB="0" anchor="ctr" anchorCtr="0">
                    <a:lnL>
                      <a:noFill/>
                    </a:lnL>
                    <a:lnR>
                      <a:noFill/>
                    </a:lnR>
                    <a:lnT>
                      <a:noFill/>
                    </a:lnT>
                    <a:lnB>
                      <a:noFill/>
                    </a:lnB>
                    <a:solidFill>
                      <a:srgbClr val="F0EFF2"/>
                    </a:solidFill>
                  </a:tcPr>
                </a:tc>
                <a:tc>
                  <a:txBody>
                    <a:bodyPr/>
                    <a:lstStyle/>
                    <a:p>
                      <a:pPr indent="0" algn="ctr" fontAlgn="auto">
                        <a:spcAft>
                          <a:spcPts val="0"/>
                        </a:spcAft>
                      </a:pPr>
                      <a:r>
                        <a:rPr lang="en-US" sz="1100" kern="0">
                          <a:solidFill>
                            <a:srgbClr val="584E61"/>
                          </a:solidFill>
                          <a:effectLst/>
                        </a:rPr>
                        <a:t>a=3;b=2;a+=b;</a:t>
                      </a:r>
                      <a:endParaRPr lang="en-US" sz="1100" kern="0">
                        <a:solidFill>
                          <a:srgbClr val="584E61"/>
                        </a:solidFill>
                        <a:effectLst/>
                        <a:latin typeface="Times New Roman" panose="02020503050405090304"/>
                        <a:ea typeface="宋体" pitchFamily="2" charset="-122"/>
                      </a:endParaRPr>
                    </a:p>
                  </a:txBody>
                  <a:tcPr marL="51435" marR="51435" marT="0" marB="0" anchor="ctr" anchorCtr="0">
                    <a:lnL>
                      <a:noFill/>
                    </a:lnL>
                    <a:lnR>
                      <a:noFill/>
                    </a:lnR>
                    <a:lnT>
                      <a:noFill/>
                    </a:lnT>
                    <a:lnB>
                      <a:noFill/>
                    </a:lnB>
                    <a:solidFill>
                      <a:srgbClr val="F0EFF2"/>
                    </a:solidFill>
                  </a:tcPr>
                </a:tc>
                <a:tc>
                  <a:txBody>
                    <a:bodyPr/>
                    <a:lstStyle/>
                    <a:p>
                      <a:pPr algn="ctr">
                        <a:spcAft>
                          <a:spcPts val="0"/>
                        </a:spcAft>
                      </a:pPr>
                      <a:r>
                        <a:rPr lang="en-US" sz="1100" kern="0">
                          <a:solidFill>
                            <a:srgbClr val="584E61"/>
                          </a:solidFill>
                          <a:effectLst/>
                        </a:rPr>
                        <a:t>a=5;b=2;</a:t>
                      </a:r>
                      <a:endParaRPr lang="en-US" sz="1100" kern="0">
                        <a:solidFill>
                          <a:srgbClr val="584E61"/>
                        </a:solidFill>
                        <a:effectLst/>
                        <a:latin typeface="Times New Roman" panose="02020503050405090304"/>
                        <a:ea typeface="宋体" pitchFamily="2" charset="-122"/>
                      </a:endParaRPr>
                    </a:p>
                  </a:txBody>
                  <a:tcPr marL="51435" marR="51435" marT="0" marB="0" anchor="ctr" anchorCtr="0">
                    <a:lnL>
                      <a:noFill/>
                    </a:lnL>
                    <a:lnR>
                      <a:noFill/>
                    </a:lnR>
                    <a:lnT>
                      <a:noFill/>
                    </a:lnT>
                    <a:lnB>
                      <a:noFill/>
                    </a:lnB>
                    <a:solidFill>
                      <a:srgbClr val="F0EFF2"/>
                    </a:solidFill>
                  </a:tcPr>
                </a:tc>
              </a:tr>
              <a:tr h="252000">
                <a:tc>
                  <a:txBody>
                    <a:bodyPr/>
                    <a:lstStyle/>
                    <a:p>
                      <a:pPr indent="0" algn="ctr" fontAlgn="auto">
                        <a:spcAft>
                          <a:spcPts val="0"/>
                        </a:spcAft>
                      </a:pPr>
                      <a:r>
                        <a:rPr lang="en-US" sz="1100" kern="0">
                          <a:solidFill>
                            <a:srgbClr val="584E61"/>
                          </a:solidFill>
                          <a:effectLst/>
                        </a:rPr>
                        <a:t>-=</a:t>
                      </a:r>
                      <a:endParaRPr lang="en-US" sz="1100" kern="0">
                        <a:solidFill>
                          <a:srgbClr val="584E61"/>
                        </a:solidFill>
                        <a:effectLst/>
                        <a:latin typeface="Times New Roman" panose="02020503050405090304"/>
                        <a:ea typeface="宋体" pitchFamily="2" charset="-122"/>
                      </a:endParaRPr>
                    </a:p>
                  </a:txBody>
                  <a:tcPr marL="51435" marR="51435" marT="0" marB="0" anchor="ctr" anchorCtr="0">
                    <a:lnL>
                      <a:noFill/>
                    </a:lnL>
                    <a:lnR>
                      <a:noFill/>
                    </a:lnR>
                    <a:lnT>
                      <a:noFill/>
                    </a:lnT>
                    <a:lnB>
                      <a:noFill/>
                    </a:lnB>
                    <a:solidFill>
                      <a:srgbClr val="FFFFFF"/>
                    </a:solidFill>
                  </a:tcPr>
                </a:tc>
                <a:tc>
                  <a:txBody>
                    <a:bodyPr/>
                    <a:lstStyle/>
                    <a:p>
                      <a:pPr indent="0" algn="ctr" fontAlgn="auto">
                        <a:spcAft>
                          <a:spcPts val="0"/>
                        </a:spcAft>
                      </a:pPr>
                      <a:r>
                        <a:rPr lang="zh-CN" sz="1100" kern="0">
                          <a:solidFill>
                            <a:srgbClr val="584E61"/>
                          </a:solidFill>
                          <a:effectLst/>
                        </a:rPr>
                        <a:t>减等于</a:t>
                      </a:r>
                      <a:endParaRPr lang="zh-CN" sz="1100" kern="0">
                        <a:solidFill>
                          <a:srgbClr val="584E61"/>
                        </a:solidFill>
                        <a:effectLst/>
                        <a:latin typeface="Times New Roman" panose="02020503050405090304"/>
                        <a:ea typeface="宋体" pitchFamily="2" charset="-122"/>
                      </a:endParaRPr>
                    </a:p>
                  </a:txBody>
                  <a:tcPr marL="51435" marR="51435" marT="0" marB="0" anchor="ctr" anchorCtr="0">
                    <a:lnL>
                      <a:noFill/>
                    </a:lnL>
                    <a:lnR>
                      <a:noFill/>
                    </a:lnR>
                    <a:lnT>
                      <a:noFill/>
                    </a:lnT>
                    <a:lnB>
                      <a:noFill/>
                    </a:lnB>
                    <a:solidFill>
                      <a:srgbClr val="FFFFFF"/>
                    </a:solidFill>
                  </a:tcPr>
                </a:tc>
                <a:tc>
                  <a:txBody>
                    <a:bodyPr/>
                    <a:lstStyle/>
                    <a:p>
                      <a:pPr indent="0" algn="ctr" fontAlgn="auto">
                        <a:spcAft>
                          <a:spcPts val="0"/>
                        </a:spcAft>
                      </a:pPr>
                      <a:r>
                        <a:rPr lang="en-US" sz="1100" kern="0">
                          <a:solidFill>
                            <a:srgbClr val="584E61"/>
                          </a:solidFill>
                          <a:effectLst/>
                        </a:rPr>
                        <a:t>a=3;b=2;a-=b;</a:t>
                      </a:r>
                      <a:endParaRPr lang="en-US" sz="1100" kern="0">
                        <a:solidFill>
                          <a:srgbClr val="584E61"/>
                        </a:solidFill>
                        <a:effectLst/>
                        <a:latin typeface="Times New Roman" panose="02020503050405090304"/>
                        <a:ea typeface="宋体" pitchFamily="2" charset="-122"/>
                      </a:endParaRPr>
                    </a:p>
                  </a:txBody>
                  <a:tcPr marL="51435" marR="51435" marT="0" marB="0" anchor="ctr" anchorCtr="0">
                    <a:lnL>
                      <a:noFill/>
                    </a:lnL>
                    <a:lnR>
                      <a:noFill/>
                    </a:lnR>
                    <a:lnT>
                      <a:noFill/>
                    </a:lnT>
                    <a:lnB>
                      <a:noFill/>
                    </a:lnB>
                    <a:solidFill>
                      <a:srgbClr val="FFFFFF"/>
                    </a:solidFill>
                  </a:tcPr>
                </a:tc>
                <a:tc>
                  <a:txBody>
                    <a:bodyPr/>
                    <a:lstStyle/>
                    <a:p>
                      <a:pPr algn="ctr">
                        <a:spcAft>
                          <a:spcPts val="0"/>
                        </a:spcAft>
                      </a:pPr>
                      <a:r>
                        <a:rPr lang="en-US" sz="1100" kern="0">
                          <a:solidFill>
                            <a:srgbClr val="584E61"/>
                          </a:solidFill>
                          <a:effectLst/>
                        </a:rPr>
                        <a:t>a=1;b=2;</a:t>
                      </a:r>
                      <a:endParaRPr lang="en-US" sz="1100" kern="0">
                        <a:solidFill>
                          <a:srgbClr val="584E61"/>
                        </a:solidFill>
                        <a:effectLst/>
                        <a:latin typeface="Times New Roman" panose="02020503050405090304"/>
                        <a:ea typeface="宋体" pitchFamily="2" charset="-122"/>
                      </a:endParaRPr>
                    </a:p>
                  </a:txBody>
                  <a:tcPr marL="51435" marR="51435" marT="0" marB="0" anchor="ctr" anchorCtr="0">
                    <a:lnL>
                      <a:noFill/>
                    </a:lnL>
                    <a:lnR>
                      <a:noFill/>
                    </a:lnR>
                    <a:lnT>
                      <a:noFill/>
                    </a:lnT>
                    <a:lnB>
                      <a:noFill/>
                    </a:lnB>
                    <a:solidFill>
                      <a:srgbClr val="FFFFFF"/>
                    </a:solidFill>
                  </a:tcPr>
                </a:tc>
              </a:tr>
              <a:tr h="252000">
                <a:tc>
                  <a:txBody>
                    <a:bodyPr/>
                    <a:lstStyle/>
                    <a:p>
                      <a:pPr indent="0" algn="ctr" fontAlgn="auto">
                        <a:spcAft>
                          <a:spcPts val="0"/>
                        </a:spcAft>
                      </a:pPr>
                      <a:r>
                        <a:rPr lang="en-US" sz="1100" kern="0">
                          <a:solidFill>
                            <a:srgbClr val="584E61"/>
                          </a:solidFill>
                          <a:effectLst/>
                        </a:rPr>
                        <a:t>*=</a:t>
                      </a:r>
                      <a:endParaRPr lang="en-US" sz="1100" kern="0">
                        <a:solidFill>
                          <a:srgbClr val="584E61"/>
                        </a:solidFill>
                        <a:effectLst/>
                        <a:latin typeface="Times New Roman" panose="02020503050405090304"/>
                        <a:ea typeface="宋体" pitchFamily="2" charset="-122"/>
                      </a:endParaRPr>
                    </a:p>
                  </a:txBody>
                  <a:tcPr marL="51435" marR="51435" marT="0" marB="0" anchor="ctr" anchorCtr="0">
                    <a:lnL>
                      <a:noFill/>
                    </a:lnL>
                    <a:lnR>
                      <a:noFill/>
                    </a:lnR>
                    <a:lnT>
                      <a:noFill/>
                    </a:lnT>
                    <a:lnB>
                      <a:noFill/>
                    </a:lnB>
                    <a:solidFill>
                      <a:srgbClr val="F0EFF2"/>
                    </a:solidFill>
                  </a:tcPr>
                </a:tc>
                <a:tc>
                  <a:txBody>
                    <a:bodyPr/>
                    <a:lstStyle/>
                    <a:p>
                      <a:pPr indent="0" algn="ctr" fontAlgn="auto">
                        <a:spcAft>
                          <a:spcPts val="0"/>
                        </a:spcAft>
                      </a:pPr>
                      <a:r>
                        <a:rPr lang="zh-CN" sz="1100" kern="0">
                          <a:solidFill>
                            <a:srgbClr val="584E61"/>
                          </a:solidFill>
                          <a:effectLst/>
                        </a:rPr>
                        <a:t>乘等于</a:t>
                      </a:r>
                      <a:endParaRPr lang="zh-CN" sz="1100" kern="0">
                        <a:solidFill>
                          <a:srgbClr val="584E61"/>
                        </a:solidFill>
                        <a:effectLst/>
                        <a:latin typeface="Times New Roman" panose="02020503050405090304"/>
                        <a:ea typeface="宋体" pitchFamily="2" charset="-122"/>
                      </a:endParaRPr>
                    </a:p>
                  </a:txBody>
                  <a:tcPr marL="51435" marR="51435" marT="0" marB="0" anchor="ctr" anchorCtr="0">
                    <a:lnL>
                      <a:noFill/>
                    </a:lnL>
                    <a:lnR>
                      <a:noFill/>
                    </a:lnR>
                    <a:lnT>
                      <a:noFill/>
                    </a:lnT>
                    <a:lnB>
                      <a:noFill/>
                    </a:lnB>
                    <a:solidFill>
                      <a:srgbClr val="F0EFF2"/>
                    </a:solidFill>
                  </a:tcPr>
                </a:tc>
                <a:tc>
                  <a:txBody>
                    <a:bodyPr/>
                    <a:lstStyle/>
                    <a:p>
                      <a:pPr indent="0" algn="ctr" fontAlgn="auto">
                        <a:spcAft>
                          <a:spcPts val="0"/>
                        </a:spcAft>
                      </a:pPr>
                      <a:r>
                        <a:rPr lang="en-US" sz="1100" kern="0">
                          <a:solidFill>
                            <a:srgbClr val="584E61"/>
                          </a:solidFill>
                          <a:effectLst/>
                        </a:rPr>
                        <a:t>a=3;b=2;a*=b;</a:t>
                      </a:r>
                      <a:endParaRPr lang="en-US" sz="1100" kern="0">
                        <a:solidFill>
                          <a:srgbClr val="584E61"/>
                        </a:solidFill>
                        <a:effectLst/>
                        <a:latin typeface="Times New Roman" panose="02020503050405090304"/>
                        <a:ea typeface="宋体" pitchFamily="2" charset="-122"/>
                      </a:endParaRPr>
                    </a:p>
                  </a:txBody>
                  <a:tcPr marL="51435" marR="51435" marT="0" marB="0" anchor="ctr" anchorCtr="0">
                    <a:lnL>
                      <a:noFill/>
                    </a:lnL>
                    <a:lnR>
                      <a:noFill/>
                    </a:lnR>
                    <a:lnT>
                      <a:noFill/>
                    </a:lnT>
                    <a:lnB>
                      <a:noFill/>
                    </a:lnB>
                    <a:solidFill>
                      <a:srgbClr val="F0EFF2"/>
                    </a:solidFill>
                  </a:tcPr>
                </a:tc>
                <a:tc>
                  <a:txBody>
                    <a:bodyPr/>
                    <a:lstStyle/>
                    <a:p>
                      <a:pPr algn="ctr">
                        <a:spcAft>
                          <a:spcPts val="0"/>
                        </a:spcAft>
                      </a:pPr>
                      <a:r>
                        <a:rPr lang="en-US" sz="1100" kern="0">
                          <a:solidFill>
                            <a:srgbClr val="584E61"/>
                          </a:solidFill>
                          <a:effectLst/>
                        </a:rPr>
                        <a:t>a=6;b=2;</a:t>
                      </a:r>
                      <a:endParaRPr lang="en-US" sz="1100" kern="0">
                        <a:solidFill>
                          <a:srgbClr val="584E61"/>
                        </a:solidFill>
                        <a:effectLst/>
                        <a:latin typeface="Times New Roman" panose="02020503050405090304"/>
                        <a:ea typeface="宋体" pitchFamily="2" charset="-122"/>
                      </a:endParaRPr>
                    </a:p>
                  </a:txBody>
                  <a:tcPr marL="51435" marR="51435" marT="0" marB="0" anchor="ctr" anchorCtr="0">
                    <a:lnL>
                      <a:noFill/>
                    </a:lnL>
                    <a:lnR>
                      <a:noFill/>
                    </a:lnR>
                    <a:lnT>
                      <a:noFill/>
                    </a:lnT>
                    <a:lnB>
                      <a:noFill/>
                    </a:lnB>
                    <a:solidFill>
                      <a:srgbClr val="F0EFF2"/>
                    </a:solidFill>
                  </a:tcPr>
                </a:tc>
              </a:tr>
              <a:tr h="252000">
                <a:tc>
                  <a:txBody>
                    <a:bodyPr/>
                    <a:lstStyle/>
                    <a:p>
                      <a:pPr indent="0" algn="ctr" fontAlgn="auto">
                        <a:spcAft>
                          <a:spcPts val="0"/>
                        </a:spcAft>
                      </a:pPr>
                      <a:r>
                        <a:rPr lang="en-US" sz="1100" kern="0">
                          <a:solidFill>
                            <a:srgbClr val="584E61"/>
                          </a:solidFill>
                          <a:effectLst/>
                        </a:rPr>
                        <a:t>/=</a:t>
                      </a:r>
                      <a:endParaRPr lang="en-US" sz="1100" kern="0">
                        <a:solidFill>
                          <a:srgbClr val="584E61"/>
                        </a:solidFill>
                        <a:effectLst/>
                        <a:latin typeface="Times New Roman" panose="02020503050405090304"/>
                        <a:ea typeface="宋体" pitchFamily="2" charset="-122"/>
                      </a:endParaRPr>
                    </a:p>
                  </a:txBody>
                  <a:tcPr marL="51435" marR="51435" marT="0" marB="0" anchor="ctr" anchorCtr="0">
                    <a:lnL>
                      <a:noFill/>
                    </a:lnL>
                    <a:lnR>
                      <a:noFill/>
                    </a:lnR>
                    <a:lnT>
                      <a:noFill/>
                    </a:lnT>
                    <a:lnB>
                      <a:noFill/>
                    </a:lnB>
                    <a:solidFill>
                      <a:srgbClr val="FFFFFF"/>
                    </a:solidFill>
                  </a:tcPr>
                </a:tc>
                <a:tc>
                  <a:txBody>
                    <a:bodyPr/>
                    <a:lstStyle/>
                    <a:p>
                      <a:pPr indent="0" algn="ctr" fontAlgn="auto">
                        <a:spcAft>
                          <a:spcPts val="0"/>
                        </a:spcAft>
                      </a:pPr>
                      <a:r>
                        <a:rPr lang="zh-CN" sz="1100" kern="0">
                          <a:solidFill>
                            <a:srgbClr val="584E61"/>
                          </a:solidFill>
                          <a:effectLst/>
                        </a:rPr>
                        <a:t>除等于</a:t>
                      </a:r>
                      <a:endParaRPr lang="zh-CN" sz="1100" kern="0">
                        <a:solidFill>
                          <a:srgbClr val="584E61"/>
                        </a:solidFill>
                        <a:effectLst/>
                        <a:latin typeface="Times New Roman" panose="02020503050405090304"/>
                        <a:ea typeface="宋体" pitchFamily="2" charset="-122"/>
                      </a:endParaRPr>
                    </a:p>
                  </a:txBody>
                  <a:tcPr marL="51435" marR="51435" marT="0" marB="0" anchor="ctr" anchorCtr="0">
                    <a:lnL>
                      <a:noFill/>
                    </a:lnL>
                    <a:lnR>
                      <a:noFill/>
                    </a:lnR>
                    <a:lnT>
                      <a:noFill/>
                    </a:lnT>
                    <a:lnB>
                      <a:noFill/>
                    </a:lnB>
                    <a:solidFill>
                      <a:srgbClr val="FFFFFF"/>
                    </a:solidFill>
                  </a:tcPr>
                </a:tc>
                <a:tc>
                  <a:txBody>
                    <a:bodyPr/>
                    <a:lstStyle/>
                    <a:p>
                      <a:pPr indent="0" algn="ctr" fontAlgn="auto">
                        <a:spcAft>
                          <a:spcPts val="0"/>
                        </a:spcAft>
                      </a:pPr>
                      <a:r>
                        <a:rPr lang="en-US" sz="1100" kern="0">
                          <a:solidFill>
                            <a:srgbClr val="584E61"/>
                          </a:solidFill>
                          <a:effectLst/>
                        </a:rPr>
                        <a:t>a=3;b=2;a/=b;</a:t>
                      </a:r>
                      <a:endParaRPr lang="en-US" sz="1100" kern="0">
                        <a:solidFill>
                          <a:srgbClr val="584E61"/>
                        </a:solidFill>
                        <a:effectLst/>
                        <a:latin typeface="Times New Roman" panose="02020503050405090304"/>
                        <a:ea typeface="宋体" pitchFamily="2" charset="-122"/>
                      </a:endParaRPr>
                    </a:p>
                  </a:txBody>
                  <a:tcPr marL="51435" marR="51435" marT="0" marB="0" anchor="ctr" anchorCtr="0">
                    <a:lnL>
                      <a:noFill/>
                    </a:lnL>
                    <a:lnR>
                      <a:noFill/>
                    </a:lnR>
                    <a:lnT>
                      <a:noFill/>
                    </a:lnT>
                    <a:lnB>
                      <a:noFill/>
                    </a:lnB>
                    <a:solidFill>
                      <a:srgbClr val="FFFFFF"/>
                    </a:solidFill>
                  </a:tcPr>
                </a:tc>
                <a:tc>
                  <a:txBody>
                    <a:bodyPr/>
                    <a:lstStyle/>
                    <a:p>
                      <a:pPr algn="ctr">
                        <a:spcAft>
                          <a:spcPts val="0"/>
                        </a:spcAft>
                      </a:pPr>
                      <a:r>
                        <a:rPr lang="en-US" sz="1100" kern="0">
                          <a:solidFill>
                            <a:srgbClr val="584E61"/>
                          </a:solidFill>
                          <a:effectLst/>
                        </a:rPr>
                        <a:t>a=1;b=2;</a:t>
                      </a:r>
                      <a:endParaRPr lang="en-US" sz="1100" kern="0">
                        <a:solidFill>
                          <a:srgbClr val="584E61"/>
                        </a:solidFill>
                        <a:effectLst/>
                        <a:latin typeface="Times New Roman" panose="02020503050405090304"/>
                        <a:ea typeface="宋体" pitchFamily="2" charset="-122"/>
                      </a:endParaRPr>
                    </a:p>
                  </a:txBody>
                  <a:tcPr marL="51435" marR="51435" marT="0" marB="0" anchor="ctr" anchorCtr="0">
                    <a:lnL>
                      <a:noFill/>
                    </a:lnL>
                    <a:lnR>
                      <a:noFill/>
                    </a:lnR>
                    <a:lnT>
                      <a:noFill/>
                    </a:lnT>
                    <a:lnB>
                      <a:noFill/>
                    </a:lnB>
                    <a:solidFill>
                      <a:srgbClr val="FFFFFF"/>
                    </a:solidFill>
                  </a:tcPr>
                </a:tc>
              </a:tr>
              <a:tr h="252000">
                <a:tc>
                  <a:txBody>
                    <a:bodyPr/>
                    <a:lstStyle/>
                    <a:p>
                      <a:pPr indent="0" algn="ctr" fontAlgn="auto">
                        <a:spcAft>
                          <a:spcPts val="0"/>
                        </a:spcAft>
                      </a:pPr>
                      <a:r>
                        <a:rPr lang="en-US" sz="1100" kern="0">
                          <a:solidFill>
                            <a:srgbClr val="584E61"/>
                          </a:solidFill>
                          <a:effectLst/>
                        </a:rPr>
                        <a:t>%=</a:t>
                      </a:r>
                      <a:endParaRPr lang="en-US" sz="1100" kern="0">
                        <a:solidFill>
                          <a:srgbClr val="584E61"/>
                        </a:solidFill>
                        <a:effectLst/>
                        <a:latin typeface="Times New Roman" panose="02020503050405090304"/>
                        <a:ea typeface="宋体" pitchFamily="2" charset="-122"/>
                      </a:endParaRPr>
                    </a:p>
                  </a:txBody>
                  <a:tcPr marL="51435" marR="51435" marT="0" marB="0" anchor="ctr" anchorCtr="0">
                    <a:lnL>
                      <a:noFill/>
                    </a:lnL>
                    <a:lnR>
                      <a:noFill/>
                    </a:lnR>
                    <a:lnT>
                      <a:noFill/>
                    </a:lnT>
                    <a:lnB w="19050">
                      <a:solidFill>
                        <a:srgbClr val="584E61"/>
                      </a:solidFill>
                      <a:prstDash val="solid"/>
                    </a:lnB>
                    <a:solidFill>
                      <a:srgbClr val="F0EFF2"/>
                    </a:solidFill>
                  </a:tcPr>
                </a:tc>
                <a:tc>
                  <a:txBody>
                    <a:bodyPr/>
                    <a:lstStyle/>
                    <a:p>
                      <a:pPr indent="0" algn="ctr" fontAlgn="auto">
                        <a:spcAft>
                          <a:spcPts val="0"/>
                        </a:spcAft>
                      </a:pPr>
                      <a:r>
                        <a:rPr lang="zh-CN" sz="1100" kern="0">
                          <a:solidFill>
                            <a:srgbClr val="584E61"/>
                          </a:solidFill>
                          <a:effectLst/>
                        </a:rPr>
                        <a:t>模等于</a:t>
                      </a:r>
                      <a:endParaRPr lang="zh-CN" sz="1100" kern="0">
                        <a:solidFill>
                          <a:srgbClr val="584E61"/>
                        </a:solidFill>
                        <a:effectLst/>
                        <a:latin typeface="Times New Roman" panose="02020503050405090304"/>
                        <a:ea typeface="宋体" pitchFamily="2" charset="-122"/>
                      </a:endParaRPr>
                    </a:p>
                  </a:txBody>
                  <a:tcPr marL="51435" marR="51435" marT="0" marB="0" anchor="ctr" anchorCtr="0">
                    <a:lnL>
                      <a:noFill/>
                    </a:lnL>
                    <a:lnR>
                      <a:noFill/>
                    </a:lnR>
                    <a:lnT>
                      <a:noFill/>
                    </a:lnT>
                    <a:lnB w="19050">
                      <a:solidFill>
                        <a:srgbClr val="584E61"/>
                      </a:solidFill>
                      <a:prstDash val="solid"/>
                    </a:lnB>
                    <a:solidFill>
                      <a:srgbClr val="F0EFF2"/>
                    </a:solidFill>
                  </a:tcPr>
                </a:tc>
                <a:tc>
                  <a:txBody>
                    <a:bodyPr/>
                    <a:lstStyle/>
                    <a:p>
                      <a:pPr indent="0" algn="ctr" fontAlgn="auto">
                        <a:spcAft>
                          <a:spcPts val="0"/>
                        </a:spcAft>
                      </a:pPr>
                      <a:r>
                        <a:rPr lang="en-US" sz="1100" kern="0">
                          <a:solidFill>
                            <a:srgbClr val="584E61"/>
                          </a:solidFill>
                          <a:effectLst/>
                        </a:rPr>
                        <a:t>a=3;b=2;a%=b;</a:t>
                      </a:r>
                      <a:endParaRPr lang="en-US" sz="1100" kern="0">
                        <a:solidFill>
                          <a:srgbClr val="584E61"/>
                        </a:solidFill>
                        <a:effectLst/>
                        <a:latin typeface="Times New Roman" panose="02020503050405090304"/>
                        <a:ea typeface="宋体" pitchFamily="2" charset="-122"/>
                      </a:endParaRPr>
                    </a:p>
                  </a:txBody>
                  <a:tcPr marL="51435" marR="51435" marT="0" marB="0" anchor="ctr" anchorCtr="0">
                    <a:lnL>
                      <a:noFill/>
                    </a:lnL>
                    <a:lnR>
                      <a:noFill/>
                    </a:lnR>
                    <a:lnT>
                      <a:noFill/>
                    </a:lnT>
                    <a:lnB w="19050">
                      <a:solidFill>
                        <a:srgbClr val="584E61"/>
                      </a:solidFill>
                      <a:prstDash val="solid"/>
                    </a:lnB>
                    <a:solidFill>
                      <a:srgbClr val="F0EFF2"/>
                    </a:solidFill>
                  </a:tcPr>
                </a:tc>
                <a:tc>
                  <a:txBody>
                    <a:bodyPr/>
                    <a:lstStyle/>
                    <a:p>
                      <a:pPr algn="ctr">
                        <a:spcAft>
                          <a:spcPts val="0"/>
                        </a:spcAft>
                      </a:pPr>
                      <a:r>
                        <a:rPr lang="en-US" sz="1100" kern="0" dirty="0">
                          <a:solidFill>
                            <a:srgbClr val="584E61"/>
                          </a:solidFill>
                          <a:effectLst/>
                        </a:rPr>
                        <a:t>a=1;b=2;</a:t>
                      </a:r>
                      <a:endParaRPr lang="en-US" sz="1100" kern="0" dirty="0">
                        <a:solidFill>
                          <a:srgbClr val="584E61"/>
                        </a:solidFill>
                        <a:effectLst/>
                        <a:latin typeface="Times New Roman" panose="02020503050405090304"/>
                        <a:ea typeface="宋体" pitchFamily="2" charset="-122"/>
                      </a:endParaRPr>
                    </a:p>
                  </a:txBody>
                  <a:tcPr marL="51435" marR="51435" marT="0" marB="0" anchor="ctr" anchorCtr="0">
                    <a:lnL>
                      <a:noFill/>
                    </a:lnL>
                    <a:lnR>
                      <a:noFill/>
                    </a:lnR>
                    <a:lnT>
                      <a:noFill/>
                    </a:lnT>
                    <a:lnB w="19050">
                      <a:solidFill>
                        <a:srgbClr val="584E61"/>
                      </a:solidFill>
                      <a:prstDash val="solid"/>
                    </a:lnB>
                    <a:solidFill>
                      <a:srgbClr val="F0EFF2"/>
                    </a:solidFill>
                  </a:tcPr>
                </a:tc>
              </a:tr>
            </a:tbl>
          </a:graphicData>
        </a:graphic>
      </p:graphicFrame>
      <p:sp>
        <p:nvSpPr>
          <p:cNvPr id="3" name="标题 1"/>
          <p:cNvSpPr>
            <a:spLocks noGrp="1"/>
          </p:cNvSpPr>
          <p:nvPr>
            <p:custDataLst>
              <p:tags r:id="rId2"/>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2.4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运算符</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bwMode="auto">
          <a:xfrm>
            <a:off x="1485900" y="577454"/>
            <a:ext cx="6172200" cy="429934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0" marR="0" lvl="0" indent="0" algn="l" defTabSz="914400" rtl="0" eaLnBrk="0" fontAlgn="base" latinLnBrk="0" hangingPunct="0">
              <a:lnSpc>
                <a:spcPct val="150000"/>
              </a:lnSpc>
              <a:spcBef>
                <a:spcPct val="20000"/>
              </a:spcBef>
              <a:spcAft>
                <a:spcPct val="0"/>
              </a:spcAft>
              <a:buClrTx/>
              <a:buSzTx/>
              <a:buFontTx/>
              <a:buNone/>
              <a:defRPr/>
            </a:pP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在</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赋值运算符的使用中，需要注意以下几个</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问题</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1.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在</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C</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语言中可以通过一条赋值语句对多个变量进行</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赋值</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，例：</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1" i="0" u="none" strike="noStrike" kern="0" cap="none" spc="0" normalizeH="0" baseline="0" noProof="0" dirty="0" smtClean="0">
                <a:ln>
                  <a:noFill/>
                </a:ln>
                <a:solidFill>
                  <a:schemeClr val="tx1"/>
                </a:solidFill>
                <a:effectLst/>
                <a:uLnTx/>
                <a:uFillTx/>
                <a:latin typeface="+mn-ea"/>
                <a:ea typeface="+mn-ea"/>
                <a:cs typeface="+mn-cs"/>
              </a:rPr>
              <a:t>2</a:t>
            </a:r>
            <a:r>
              <a:rPr kumimoji="0" lang="en-US" altLang="zh-CN" sz="1500" b="0" i="0" u="none" strike="noStrike" kern="0" cap="none" spc="0" normalizeH="0" baseline="0" noProof="0" dirty="0" smtClean="0">
                <a:ln>
                  <a:noFill/>
                </a:ln>
                <a:solidFill>
                  <a:schemeClr val="tx1"/>
                </a:solidFill>
                <a:effectLst/>
                <a:uLnTx/>
                <a:uFillTx/>
                <a:latin typeface="+mn-ea"/>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在表</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2-12</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中，除了</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，其他的都是特殊的赋值运算符，接下来以</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为例，学习特殊赋值运算符的用法，示例代码</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如下</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上述</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代码中，执行代码</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x += 3</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后，</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x</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的值为</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5</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。这是因为在表达式</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x+=3</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中的执行过程</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为</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a.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将</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x</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的值和</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3</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的执行</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相加</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b.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将</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相加的结果赋值给变量</a:t>
            </a: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x</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5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en-US"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p:txBody>
      </p:sp>
      <p:sp>
        <p:nvSpPr>
          <p:cNvPr id="4" name="标题 1"/>
          <p:cNvSpPr txBox="1"/>
          <p:nvPr/>
        </p:nvSpPr>
        <p:spPr>
          <a:xfrm>
            <a:off x="1519238" y="1309688"/>
            <a:ext cx="5824538" cy="542925"/>
          </a:xfrm>
          <a:prstGeom prst="rect">
            <a:avLst/>
          </a:prstGeom>
          <a:solidFill>
            <a:srgbClr val="66CCFF"/>
          </a:solidFill>
        </p:spPr>
        <p:txBody>
          <a:bodyPr/>
          <a:lstStyle>
            <a:lvl1pPr algn="l" rtl="0" eaLnBrk="0" fontAlgn="base" hangingPunct="0">
              <a:spcBef>
                <a:spcPct val="0"/>
              </a:spcBef>
              <a:spcAft>
                <a:spcPct val="0"/>
              </a:spcAft>
              <a:defRPr sz="3600" b="1" spc="300">
                <a:solidFill>
                  <a:srgbClr val="FFFF00"/>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5pPr>
            <a:lvl6pPr marL="457200" algn="ctr" rtl="0" fontAlgn="base">
              <a:spcBef>
                <a:spcPct val="0"/>
              </a:spcBef>
              <a:spcAft>
                <a:spcPct val="0"/>
              </a:spcAft>
              <a:defRPr sz="4400">
                <a:solidFill>
                  <a:schemeClr val="tx2"/>
                </a:solidFill>
                <a:latin typeface="Arial" panose="020B0604020202090204" pitchFamily="34" charset="0"/>
                <a:ea typeface="宋体" pitchFamily="2" charset="-122"/>
              </a:defRPr>
            </a:lvl6pPr>
            <a:lvl7pPr marL="914400" algn="ctr" rtl="0" fontAlgn="base">
              <a:spcBef>
                <a:spcPct val="0"/>
              </a:spcBef>
              <a:spcAft>
                <a:spcPct val="0"/>
              </a:spcAft>
              <a:defRPr sz="4400">
                <a:solidFill>
                  <a:schemeClr val="tx2"/>
                </a:solidFill>
                <a:latin typeface="Arial" panose="020B0604020202090204" pitchFamily="34" charset="0"/>
                <a:ea typeface="宋体" pitchFamily="2" charset="-122"/>
              </a:defRPr>
            </a:lvl7pPr>
            <a:lvl8pPr marL="1371600" algn="ctr" rtl="0" fontAlgn="base">
              <a:spcBef>
                <a:spcPct val="0"/>
              </a:spcBef>
              <a:spcAft>
                <a:spcPct val="0"/>
              </a:spcAft>
              <a:defRPr sz="4400">
                <a:solidFill>
                  <a:schemeClr val="tx2"/>
                </a:solidFill>
                <a:latin typeface="Arial" panose="020B0604020202090204" pitchFamily="34" charset="0"/>
                <a:ea typeface="宋体" pitchFamily="2" charset="-122"/>
              </a:defRPr>
            </a:lvl8pPr>
            <a:lvl9pPr marL="1828800" algn="ctr" rtl="0" fontAlgn="base">
              <a:spcBef>
                <a:spcPct val="0"/>
              </a:spcBef>
              <a:spcAft>
                <a:spcPct val="0"/>
              </a:spcAft>
              <a:defRPr sz="4400">
                <a:solidFill>
                  <a:schemeClr val="tx2"/>
                </a:solidFill>
                <a:latin typeface="Arial" panose="020B060402020209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500" b="0" i="0" u="none" strike="noStrike" kern="1200" cap="none" spc="300" normalizeH="0" baseline="0" noProof="0" dirty="0">
                <a:ln>
                  <a:noFill/>
                </a:ln>
                <a:solidFill>
                  <a:schemeClr val="tx1"/>
                </a:solidFill>
                <a:effectLst/>
                <a:uLnTx/>
                <a:uFillTx/>
                <a:latin typeface="+mn-lt"/>
                <a:ea typeface="微软雅黑" panose="020B0503020204020204" charset="-122"/>
                <a:cs typeface="+mj-cs"/>
              </a:rPr>
              <a:t>int  x, y, z; </a:t>
            </a:r>
            <a:endParaRPr kumimoji="0" lang="zh-CN" altLang="zh-CN" sz="1500" b="0" i="0" u="none" strike="noStrike" kern="1200" cap="none" spc="300" normalizeH="0" baseline="0" noProof="0" dirty="0">
              <a:ln>
                <a:noFill/>
              </a:ln>
              <a:solidFill>
                <a:schemeClr val="tx1"/>
              </a:solidFill>
              <a:effectLst/>
              <a:uLnTx/>
              <a:uFillTx/>
              <a:latin typeface="+mn-lt"/>
              <a:ea typeface="微软雅黑" panose="020B0503020204020204" charset="-122"/>
              <a:cs typeface="+mj-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500" b="0" i="0" u="none" strike="noStrike" kern="1200" cap="none" spc="300" normalizeH="0" baseline="0" noProof="0" dirty="0">
                <a:ln>
                  <a:noFill/>
                </a:ln>
                <a:solidFill>
                  <a:schemeClr val="tx1"/>
                </a:solidFill>
                <a:effectLst/>
                <a:uLnTx/>
                <a:uFillTx/>
                <a:latin typeface="+mn-lt"/>
                <a:ea typeface="微软雅黑" panose="020B0503020204020204" charset="-122"/>
                <a:cs typeface="+mj-cs"/>
              </a:rPr>
              <a:t>x = y = z = 5;	          //</a:t>
            </a:r>
            <a:r>
              <a:rPr kumimoji="0" lang="zh-CN" altLang="zh-CN" sz="1500" b="0" i="0" u="none" strike="noStrike" kern="1200" cap="none" spc="300" normalizeH="0" baseline="0" noProof="0" dirty="0">
                <a:ln>
                  <a:noFill/>
                </a:ln>
                <a:solidFill>
                  <a:schemeClr val="tx1"/>
                </a:solidFill>
                <a:effectLst/>
                <a:uLnTx/>
                <a:uFillTx/>
                <a:latin typeface="+mn-lt"/>
                <a:ea typeface="微软雅黑" panose="020B0503020204020204" charset="-122"/>
                <a:cs typeface="+mj-cs"/>
              </a:rPr>
              <a:t>为三个变量同时赋值</a:t>
            </a:r>
            <a:endParaRPr kumimoji="0" lang="zh-CN" altLang="en-US" sz="1500" b="0" i="0" u="none" strike="noStrike" kern="1200" cap="none" spc="300" normalizeH="0" baseline="0" noProof="0" dirty="0">
              <a:ln>
                <a:noFill/>
              </a:ln>
              <a:solidFill>
                <a:schemeClr val="tx1"/>
              </a:solidFill>
              <a:effectLst/>
              <a:uLnTx/>
              <a:uFillTx/>
              <a:latin typeface="+mn-lt"/>
              <a:ea typeface="微软雅黑" panose="020B0503020204020204" charset="-122"/>
              <a:cs typeface="+mj-cs"/>
            </a:endParaRPr>
          </a:p>
        </p:txBody>
      </p:sp>
      <p:sp>
        <p:nvSpPr>
          <p:cNvPr id="6" name="标题 1"/>
          <p:cNvSpPr txBox="1"/>
          <p:nvPr/>
        </p:nvSpPr>
        <p:spPr>
          <a:xfrm>
            <a:off x="1532335" y="2447925"/>
            <a:ext cx="5824538" cy="507206"/>
          </a:xfrm>
          <a:prstGeom prst="rect">
            <a:avLst/>
          </a:prstGeom>
          <a:solidFill>
            <a:srgbClr val="66CCFF"/>
          </a:solidFill>
        </p:spPr>
        <p:txBody>
          <a:bodyPr/>
          <a:lstStyle>
            <a:lvl1pPr algn="l" rtl="0" eaLnBrk="0" fontAlgn="base" hangingPunct="0">
              <a:spcBef>
                <a:spcPct val="0"/>
              </a:spcBef>
              <a:spcAft>
                <a:spcPct val="0"/>
              </a:spcAft>
              <a:defRPr sz="3600" b="1" spc="300">
                <a:solidFill>
                  <a:srgbClr val="FFFF00"/>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5pPr>
            <a:lvl6pPr marL="457200" algn="ctr" rtl="0" fontAlgn="base">
              <a:spcBef>
                <a:spcPct val="0"/>
              </a:spcBef>
              <a:spcAft>
                <a:spcPct val="0"/>
              </a:spcAft>
              <a:defRPr sz="4400">
                <a:solidFill>
                  <a:schemeClr val="tx2"/>
                </a:solidFill>
                <a:latin typeface="Arial" panose="020B0604020202090204" pitchFamily="34" charset="0"/>
                <a:ea typeface="宋体" pitchFamily="2" charset="-122"/>
              </a:defRPr>
            </a:lvl6pPr>
            <a:lvl7pPr marL="914400" algn="ctr" rtl="0" fontAlgn="base">
              <a:spcBef>
                <a:spcPct val="0"/>
              </a:spcBef>
              <a:spcAft>
                <a:spcPct val="0"/>
              </a:spcAft>
              <a:defRPr sz="4400">
                <a:solidFill>
                  <a:schemeClr val="tx2"/>
                </a:solidFill>
                <a:latin typeface="Arial" panose="020B0604020202090204" pitchFamily="34" charset="0"/>
                <a:ea typeface="宋体" pitchFamily="2" charset="-122"/>
              </a:defRPr>
            </a:lvl7pPr>
            <a:lvl8pPr marL="1371600" algn="ctr" rtl="0" fontAlgn="base">
              <a:spcBef>
                <a:spcPct val="0"/>
              </a:spcBef>
              <a:spcAft>
                <a:spcPct val="0"/>
              </a:spcAft>
              <a:defRPr sz="4400">
                <a:solidFill>
                  <a:schemeClr val="tx2"/>
                </a:solidFill>
                <a:latin typeface="Arial" panose="020B0604020202090204" pitchFamily="34" charset="0"/>
                <a:ea typeface="宋体" pitchFamily="2" charset="-122"/>
              </a:defRPr>
            </a:lvl8pPr>
            <a:lvl9pPr marL="1828800" algn="ctr" rtl="0" fontAlgn="base">
              <a:spcBef>
                <a:spcPct val="0"/>
              </a:spcBef>
              <a:spcAft>
                <a:spcPct val="0"/>
              </a:spcAft>
              <a:defRPr sz="4400">
                <a:solidFill>
                  <a:schemeClr val="tx2"/>
                </a:solidFill>
                <a:latin typeface="Arial" panose="020B060402020209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500" b="0" i="0" u="none" strike="noStrike" kern="1200" cap="none" spc="300" normalizeH="0" baseline="0" noProof="0" dirty="0">
                <a:ln>
                  <a:noFill/>
                </a:ln>
                <a:solidFill>
                  <a:schemeClr val="tx1"/>
                </a:solidFill>
                <a:effectLst/>
                <a:uLnTx/>
                <a:uFillTx/>
                <a:latin typeface="微软雅黑" panose="020B0503020204020204" charset="-122"/>
                <a:ea typeface="微软雅黑" panose="020B0503020204020204" charset="-122"/>
                <a:cs typeface="+mj-cs"/>
              </a:rPr>
              <a:t>int x=2;</a:t>
            </a:r>
            <a:endParaRPr kumimoji="0" lang="zh-CN" altLang="zh-CN" sz="1500" b="0" i="0" u="none" strike="noStrike" kern="1200" cap="none" spc="300" normalizeH="0" baseline="0" noProof="0" dirty="0">
              <a:ln>
                <a:noFill/>
              </a:ln>
              <a:solidFill>
                <a:schemeClr val="tx1"/>
              </a:solidFill>
              <a:effectLst/>
              <a:uLnTx/>
              <a:uFillTx/>
              <a:latin typeface="微软雅黑" panose="020B0503020204020204" charset="-122"/>
              <a:ea typeface="微软雅黑" panose="020B0503020204020204" charset="-122"/>
              <a:cs typeface="+mj-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500" b="0" i="0" u="none" strike="noStrike" kern="1200" cap="none" spc="300" normalizeH="0" baseline="0" noProof="0" dirty="0">
                <a:ln>
                  <a:noFill/>
                </a:ln>
                <a:solidFill>
                  <a:schemeClr val="tx1"/>
                </a:solidFill>
                <a:effectLst/>
                <a:uLnTx/>
                <a:uFillTx/>
                <a:latin typeface="微软雅黑" panose="020B0503020204020204" charset="-122"/>
                <a:ea typeface="微软雅黑" panose="020B0503020204020204" charset="-122"/>
                <a:cs typeface="+mj-cs"/>
              </a:rPr>
              <a:t>x+=</a:t>
            </a:r>
            <a:r>
              <a:rPr kumimoji="0" lang="en-US" altLang="zh-CN" sz="1500" b="0" i="0" u="none" strike="noStrike" kern="1200" cap="none" spc="300" normalizeH="0" baseline="0" noProof="0" dirty="0" smtClean="0">
                <a:ln>
                  <a:noFill/>
                </a:ln>
                <a:solidFill>
                  <a:schemeClr val="tx1"/>
                </a:solidFill>
                <a:effectLst/>
                <a:uLnTx/>
                <a:uFillTx/>
                <a:latin typeface="微软雅黑" panose="020B0503020204020204" charset="-122"/>
                <a:ea typeface="微软雅黑" panose="020B0503020204020204" charset="-122"/>
                <a:cs typeface="+mj-cs"/>
              </a:rPr>
              <a:t>3</a:t>
            </a:r>
            <a:r>
              <a:rPr kumimoji="0" lang="en-US" altLang="zh-CN" sz="1500" b="0" i="0" u="none" strike="noStrike" kern="1200" cap="none" spc="300" normalizeH="0" baseline="0" noProof="0" dirty="0">
                <a:ln>
                  <a:noFill/>
                </a:ln>
                <a:solidFill>
                  <a:schemeClr val="tx1"/>
                </a:solidFill>
                <a:effectLst/>
                <a:uLnTx/>
                <a:uFillTx/>
                <a:latin typeface="微软雅黑" panose="020B0503020204020204" charset="-122"/>
                <a:ea typeface="微软雅黑" panose="020B0503020204020204" charset="-122"/>
                <a:cs typeface="+mj-cs"/>
              </a:rPr>
              <a:t>;</a:t>
            </a:r>
            <a:endParaRPr kumimoji="0" lang="zh-CN" altLang="en-US" sz="1500" b="0" i="0" u="none" strike="noStrike" kern="1200" cap="none" spc="300" normalizeH="0" baseline="0" noProof="0" dirty="0">
              <a:ln>
                <a:noFill/>
              </a:ln>
              <a:solidFill>
                <a:schemeClr val="tx1"/>
              </a:solidFill>
              <a:effectLst/>
              <a:uLnTx/>
              <a:uFillTx/>
              <a:latin typeface="+mn-lt"/>
              <a:ea typeface="微软雅黑" panose="020B0503020204020204" charset="-122"/>
              <a:cs typeface="+mj-cs"/>
            </a:endParaRPr>
          </a:p>
        </p:txBody>
      </p:sp>
      <p:sp>
        <p:nvSpPr>
          <p:cNvPr id="3" name="标题 1"/>
          <p:cNvSpPr>
            <a:spLocks noGrp="1"/>
          </p:cNvSpPr>
          <p:nvPr>
            <p:custDataLst>
              <p:tags r:id="rId1"/>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2.4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运算符</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2" name="灯片编号占位符 1"/>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bwMode="auto">
          <a:xfrm>
            <a:off x="1485900" y="560785"/>
            <a:ext cx="6172200" cy="4417219"/>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0" marR="0" lvl="0" indent="0" algn="l" defTabSz="914400" rtl="0" eaLnBrk="0" fontAlgn="base" latinLnBrk="0" hangingPunct="0">
              <a:lnSpc>
                <a:spcPct val="150000"/>
              </a:lnSpc>
              <a:spcBef>
                <a:spcPct val="20000"/>
              </a:spcBef>
              <a:spcAft>
                <a:spcPct val="0"/>
              </a:spcAft>
              <a:buClrTx/>
              <a:buSzTx/>
              <a:buFontTx/>
              <a:buNone/>
              <a:defRPr/>
            </a:pPr>
            <a:r>
              <a:rPr kumimoji="0" lang="zh-CN" altLang="en-US" sz="15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运算符的结合性：</a:t>
            </a:r>
            <a:endParaRPr kumimoji="0" lang="en-US" altLang="zh-CN" sz="15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        </a:t>
            </a:r>
            <a:r>
              <a:rPr kumimoji="0" lang="zh-CN" altLang="zh-CN" sz="15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运算符</a:t>
            </a:r>
            <a:r>
              <a:rPr kumimoji="0" lang="zh-CN"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的结合性指同一优先级的运算符在表达式中操作的结合方向</a:t>
            </a:r>
            <a:r>
              <a:rPr kumimoji="0" lang="en-US"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即当一个运算对象两侧运算符的优先级别相同时</a:t>
            </a:r>
            <a:r>
              <a:rPr kumimoji="0" lang="en-US"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 </a:t>
            </a:r>
            <a:r>
              <a:rPr kumimoji="0" lang="zh-CN"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运算对象与运算符的结合顺序。大多数运算符结合方向是“自左至右”。</a:t>
            </a:r>
            <a:endParaRPr kumimoji="0" lang="en-US"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        </a:t>
            </a:r>
            <a:r>
              <a:rPr kumimoji="0" lang="zh-CN" altLang="zh-CN" sz="15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上述</a:t>
            </a:r>
            <a:r>
              <a:rPr kumimoji="0" lang="zh-CN"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代码中表达式</a:t>
            </a:r>
            <a:r>
              <a:rPr kumimoji="0" lang="en-US"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 </a:t>
            </a:r>
            <a:r>
              <a:rPr kumimoji="0" lang="en-US" altLang="zh-CN" sz="1500" b="0" i="0" u="none" strike="noStrike" kern="0" cap="none" spc="0" normalizeH="0" baseline="0" noProof="0" dirty="0" err="1">
                <a:ln>
                  <a:noFill/>
                </a:ln>
                <a:solidFill>
                  <a:schemeClr val="tx1"/>
                </a:solidFill>
                <a:effectLst/>
                <a:uLnTx/>
                <a:uFillTx/>
                <a:latin typeface="华文楷体" panose="02010600040101010101" pitchFamily="2" charset="-122"/>
                <a:ea typeface="华文楷体" panose="02010600040101010101" pitchFamily="2" charset="-122"/>
                <a:cs typeface="+mn-cs"/>
              </a:rPr>
              <a:t>b+c</a:t>
            </a:r>
            <a:r>
              <a:rPr kumimoji="0" lang="zh-CN"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en-US"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b </a:t>
            </a:r>
            <a:r>
              <a:rPr kumimoji="0" lang="zh-CN"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两侧有</a:t>
            </a:r>
            <a:r>
              <a:rPr kumimoji="0" lang="en-US"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和</a:t>
            </a:r>
            <a:r>
              <a:rPr kumimoji="0" lang="en-US"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两种运算符的优先级相同</a:t>
            </a:r>
            <a:r>
              <a:rPr kumimoji="0" lang="en-US"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 </a:t>
            </a:r>
            <a:r>
              <a:rPr kumimoji="0" lang="zh-CN"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按先左后右的结合方向</a:t>
            </a:r>
            <a:r>
              <a:rPr kumimoji="0" lang="en-US"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 b </a:t>
            </a:r>
            <a:r>
              <a:rPr kumimoji="0" lang="zh-CN"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先与减号结合</a:t>
            </a:r>
            <a:r>
              <a:rPr kumimoji="0" lang="en-US"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 </a:t>
            </a:r>
            <a:r>
              <a:rPr kumimoji="0" lang="zh-CN"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执行</a:t>
            </a:r>
            <a:r>
              <a:rPr kumimoji="0" lang="en-US"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 b </a:t>
            </a:r>
            <a:r>
              <a:rPr kumimoji="0" lang="zh-CN"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的运算</a:t>
            </a:r>
            <a:r>
              <a:rPr kumimoji="0" lang="en-US"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 </a:t>
            </a:r>
            <a:r>
              <a:rPr kumimoji="0" lang="zh-CN"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然后再执行加</a:t>
            </a:r>
            <a:r>
              <a:rPr kumimoji="0" lang="en-US"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c </a:t>
            </a:r>
            <a:r>
              <a:rPr kumimoji="0" lang="zh-CN"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的运算。除了自左至右的结合性外</a:t>
            </a:r>
            <a:r>
              <a:rPr kumimoji="0" lang="en-US"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 C </a:t>
            </a:r>
            <a:r>
              <a:rPr kumimoji="0" lang="zh-CN"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语言还有三类运算符，它们分别是单目运算符、条件运算符和赋值运算符。以赋值运算符为例，具体代码如下所</a:t>
            </a:r>
            <a:r>
              <a:rPr kumimoji="0" lang="zh-CN" altLang="zh-CN" sz="15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示</a:t>
            </a:r>
            <a:r>
              <a:rPr kumimoji="0" lang="zh-CN" altLang="en-US" sz="15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a:t>
            </a:r>
            <a:endParaRPr kumimoji="0" lang="en-US"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en-US" b="0" i="0" u="none" strike="noStrike" kern="0" cap="none" spc="0" normalizeH="0" baseline="0" noProof="0" dirty="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rPr>
              <a:t>                                                        </a:t>
            </a:r>
            <a:endParaRPr kumimoji="0" lang="en-US" altLang="zh-CN" sz="105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p:txBody>
      </p:sp>
      <p:sp>
        <p:nvSpPr>
          <p:cNvPr id="7" name="标题 1"/>
          <p:cNvSpPr txBox="1"/>
          <p:nvPr/>
        </p:nvSpPr>
        <p:spPr>
          <a:xfrm>
            <a:off x="1604963" y="2066925"/>
            <a:ext cx="5824538" cy="253604"/>
          </a:xfrm>
          <a:prstGeom prst="rect">
            <a:avLst/>
          </a:prstGeom>
          <a:solidFill>
            <a:srgbClr val="66CCFF"/>
          </a:solidFill>
        </p:spPr>
        <p:txBody>
          <a:bodyPr/>
          <a:lstStyle>
            <a:lvl1pPr algn="l" rtl="0" eaLnBrk="0" fontAlgn="base" hangingPunct="0">
              <a:spcBef>
                <a:spcPct val="0"/>
              </a:spcBef>
              <a:spcAft>
                <a:spcPct val="0"/>
              </a:spcAft>
              <a:defRPr sz="3600" b="1" spc="300">
                <a:solidFill>
                  <a:srgbClr val="FFFF00"/>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5pPr>
            <a:lvl6pPr marL="457200" algn="ctr" rtl="0" fontAlgn="base">
              <a:spcBef>
                <a:spcPct val="0"/>
              </a:spcBef>
              <a:spcAft>
                <a:spcPct val="0"/>
              </a:spcAft>
              <a:defRPr sz="4400">
                <a:solidFill>
                  <a:schemeClr val="tx2"/>
                </a:solidFill>
                <a:latin typeface="Arial" panose="020B0604020202090204" pitchFamily="34" charset="0"/>
                <a:ea typeface="宋体" pitchFamily="2" charset="-122"/>
              </a:defRPr>
            </a:lvl6pPr>
            <a:lvl7pPr marL="914400" algn="ctr" rtl="0" fontAlgn="base">
              <a:spcBef>
                <a:spcPct val="0"/>
              </a:spcBef>
              <a:spcAft>
                <a:spcPct val="0"/>
              </a:spcAft>
              <a:defRPr sz="4400">
                <a:solidFill>
                  <a:schemeClr val="tx2"/>
                </a:solidFill>
                <a:latin typeface="Arial" panose="020B0604020202090204" pitchFamily="34" charset="0"/>
                <a:ea typeface="宋体" pitchFamily="2" charset="-122"/>
              </a:defRPr>
            </a:lvl7pPr>
            <a:lvl8pPr marL="1371600" algn="ctr" rtl="0" fontAlgn="base">
              <a:spcBef>
                <a:spcPct val="0"/>
              </a:spcBef>
              <a:spcAft>
                <a:spcPct val="0"/>
              </a:spcAft>
              <a:defRPr sz="4400">
                <a:solidFill>
                  <a:schemeClr val="tx2"/>
                </a:solidFill>
                <a:latin typeface="Arial" panose="020B0604020202090204" pitchFamily="34" charset="0"/>
                <a:ea typeface="宋体" pitchFamily="2" charset="-122"/>
              </a:defRPr>
            </a:lvl8pPr>
            <a:lvl9pPr marL="1828800" algn="ctr" rtl="0" fontAlgn="base">
              <a:spcBef>
                <a:spcPct val="0"/>
              </a:spcBef>
              <a:spcAft>
                <a:spcPct val="0"/>
              </a:spcAft>
              <a:defRPr sz="4400">
                <a:solidFill>
                  <a:schemeClr val="tx2"/>
                </a:solidFill>
                <a:latin typeface="Arial" panose="020B060402020209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500" b="0" i="0" u="none" strike="noStrike" kern="1200" cap="none" spc="300" normalizeH="0" baseline="0" noProof="0" dirty="0" err="1" smtClean="0">
                <a:ln>
                  <a:noFill/>
                </a:ln>
                <a:solidFill>
                  <a:schemeClr val="tx1"/>
                </a:solidFill>
                <a:effectLst/>
                <a:uLnTx/>
                <a:uFillTx/>
                <a:latin typeface="+mn-lt"/>
                <a:ea typeface="微软雅黑" panose="020B0503020204020204" charset="-122"/>
                <a:cs typeface="+mj-cs"/>
              </a:rPr>
              <a:t>a-b+c</a:t>
            </a:r>
            <a:r>
              <a:rPr kumimoji="0" lang="en-US" altLang="zh-CN" sz="1500" b="0" i="0" u="none" strike="noStrike" kern="1200" cap="none" spc="300" normalizeH="0" baseline="0" noProof="0" dirty="0">
                <a:ln>
                  <a:noFill/>
                </a:ln>
                <a:solidFill>
                  <a:schemeClr val="tx1"/>
                </a:solidFill>
                <a:effectLst/>
                <a:uLnTx/>
                <a:uFillTx/>
                <a:latin typeface="+mn-lt"/>
                <a:ea typeface="微软雅黑" panose="020B0503020204020204" charset="-122"/>
                <a:cs typeface="+mj-cs"/>
              </a:rPr>
              <a:t>;</a:t>
            </a:r>
            <a:endParaRPr kumimoji="0" lang="zh-CN" altLang="en-US" sz="1500" b="0" i="0" u="none" strike="noStrike" kern="1200" cap="none" spc="300" normalizeH="0" baseline="0" noProof="0" dirty="0">
              <a:ln>
                <a:noFill/>
              </a:ln>
              <a:solidFill>
                <a:schemeClr val="tx1"/>
              </a:solidFill>
              <a:effectLst/>
              <a:uLnTx/>
              <a:uFillTx/>
              <a:latin typeface="+mn-lt"/>
              <a:ea typeface="微软雅黑" panose="020B0503020204020204" charset="-122"/>
              <a:cs typeface="+mj-cs"/>
            </a:endParaRPr>
          </a:p>
        </p:txBody>
      </p:sp>
      <p:sp>
        <p:nvSpPr>
          <p:cNvPr id="9" name="标题 1"/>
          <p:cNvSpPr txBox="1"/>
          <p:nvPr/>
        </p:nvSpPr>
        <p:spPr>
          <a:xfrm>
            <a:off x="1604963" y="4044554"/>
            <a:ext cx="5824538" cy="253604"/>
          </a:xfrm>
          <a:prstGeom prst="rect">
            <a:avLst/>
          </a:prstGeom>
          <a:solidFill>
            <a:srgbClr val="66CCFF"/>
          </a:solidFill>
        </p:spPr>
        <p:txBody>
          <a:bodyPr/>
          <a:lstStyle>
            <a:lvl1pPr algn="l" rtl="0" eaLnBrk="0" fontAlgn="base" hangingPunct="0">
              <a:spcBef>
                <a:spcPct val="0"/>
              </a:spcBef>
              <a:spcAft>
                <a:spcPct val="0"/>
              </a:spcAft>
              <a:defRPr sz="3600" b="1" spc="300">
                <a:solidFill>
                  <a:srgbClr val="FFFF00"/>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5pPr>
            <a:lvl6pPr marL="457200" algn="ctr" rtl="0" fontAlgn="base">
              <a:spcBef>
                <a:spcPct val="0"/>
              </a:spcBef>
              <a:spcAft>
                <a:spcPct val="0"/>
              </a:spcAft>
              <a:defRPr sz="4400">
                <a:solidFill>
                  <a:schemeClr val="tx2"/>
                </a:solidFill>
                <a:latin typeface="Arial" panose="020B0604020202090204" pitchFamily="34" charset="0"/>
                <a:ea typeface="宋体" pitchFamily="2" charset="-122"/>
              </a:defRPr>
            </a:lvl6pPr>
            <a:lvl7pPr marL="914400" algn="ctr" rtl="0" fontAlgn="base">
              <a:spcBef>
                <a:spcPct val="0"/>
              </a:spcBef>
              <a:spcAft>
                <a:spcPct val="0"/>
              </a:spcAft>
              <a:defRPr sz="4400">
                <a:solidFill>
                  <a:schemeClr val="tx2"/>
                </a:solidFill>
                <a:latin typeface="Arial" panose="020B0604020202090204" pitchFamily="34" charset="0"/>
                <a:ea typeface="宋体" pitchFamily="2" charset="-122"/>
              </a:defRPr>
            </a:lvl7pPr>
            <a:lvl8pPr marL="1371600" algn="ctr" rtl="0" fontAlgn="base">
              <a:spcBef>
                <a:spcPct val="0"/>
              </a:spcBef>
              <a:spcAft>
                <a:spcPct val="0"/>
              </a:spcAft>
              <a:defRPr sz="4400">
                <a:solidFill>
                  <a:schemeClr val="tx2"/>
                </a:solidFill>
                <a:latin typeface="Arial" panose="020B0604020202090204" pitchFamily="34" charset="0"/>
                <a:ea typeface="宋体" pitchFamily="2" charset="-122"/>
              </a:defRPr>
            </a:lvl8pPr>
            <a:lvl9pPr marL="1828800" algn="ctr" rtl="0" fontAlgn="base">
              <a:spcBef>
                <a:spcPct val="0"/>
              </a:spcBef>
              <a:spcAft>
                <a:spcPct val="0"/>
              </a:spcAft>
              <a:defRPr sz="4400">
                <a:solidFill>
                  <a:schemeClr val="tx2"/>
                </a:solidFill>
                <a:latin typeface="Arial" panose="020B060402020209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500" b="0" i="0" u="none" strike="noStrike" kern="1200" cap="none" spc="300" normalizeH="0" baseline="0" noProof="0" dirty="0" smtClean="0">
                <a:ln>
                  <a:noFill/>
                </a:ln>
                <a:solidFill>
                  <a:schemeClr val="tx1"/>
                </a:solidFill>
                <a:effectLst/>
                <a:uLnTx/>
                <a:uFillTx/>
                <a:latin typeface="+mn-lt"/>
                <a:ea typeface="微软雅黑" panose="020B0503020204020204" charset="-122"/>
                <a:cs typeface="+mj-cs"/>
              </a:rPr>
              <a:t>a=</a:t>
            </a:r>
            <a:r>
              <a:rPr kumimoji="0" lang="en-US" altLang="zh-CN" sz="1500" b="0" i="0" u="none" strike="noStrike" kern="1200" cap="none" spc="300" normalizeH="0" baseline="0" noProof="0" dirty="0" err="1" smtClean="0">
                <a:ln>
                  <a:noFill/>
                </a:ln>
                <a:solidFill>
                  <a:schemeClr val="tx1"/>
                </a:solidFill>
                <a:effectLst/>
                <a:uLnTx/>
                <a:uFillTx/>
                <a:latin typeface="+mn-lt"/>
                <a:ea typeface="微软雅黑" panose="020B0503020204020204" charset="-122"/>
                <a:cs typeface="+mj-cs"/>
              </a:rPr>
              <a:t>b+c</a:t>
            </a:r>
            <a:r>
              <a:rPr kumimoji="0" lang="en-US" altLang="zh-CN" sz="1500" b="0" i="0" u="none" strike="noStrike" kern="1200" cap="none" spc="300" normalizeH="0" baseline="0" noProof="0" dirty="0">
                <a:ln>
                  <a:noFill/>
                </a:ln>
                <a:solidFill>
                  <a:schemeClr val="tx1"/>
                </a:solidFill>
                <a:effectLst/>
                <a:uLnTx/>
                <a:uFillTx/>
                <a:latin typeface="+mn-lt"/>
                <a:ea typeface="微软雅黑" panose="020B0503020204020204" charset="-122"/>
                <a:cs typeface="+mj-cs"/>
              </a:rPr>
              <a:t>;</a:t>
            </a:r>
            <a:endParaRPr kumimoji="0" lang="zh-CN" altLang="en-US" sz="1500" b="0" i="0" u="none" strike="noStrike" kern="1200" cap="none" spc="300" normalizeH="0" baseline="0" noProof="0" dirty="0">
              <a:ln>
                <a:noFill/>
              </a:ln>
              <a:solidFill>
                <a:schemeClr val="tx1"/>
              </a:solidFill>
              <a:effectLst/>
              <a:uLnTx/>
              <a:uFillTx/>
              <a:latin typeface="+mn-lt"/>
              <a:ea typeface="微软雅黑" panose="020B0503020204020204" charset="-122"/>
              <a:cs typeface="+mj-cs"/>
            </a:endParaRPr>
          </a:p>
        </p:txBody>
      </p:sp>
      <p:sp>
        <p:nvSpPr>
          <p:cNvPr id="3" name="标题 1"/>
          <p:cNvSpPr>
            <a:spLocks noGrp="1"/>
          </p:cNvSpPr>
          <p:nvPr>
            <p:custDataLst>
              <p:tags r:id="rId1"/>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2.4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运算符</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2" name="灯片编号占位符 1"/>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bwMode="auto">
          <a:xfrm>
            <a:off x="540385" y="577215"/>
            <a:ext cx="8211820" cy="434276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Tx/>
              <a:buChar char="•"/>
              <a:defRPr/>
            </a:pPr>
            <a:r>
              <a:rPr kumimoji="0" lang="en-US" altLang="zh-CN" sz="1500" b="1" i="0" u="none" strike="noStrike" kern="0" cap="none" spc="0" normalizeH="0" baseline="0" noProof="0" dirty="0" smtClean="0">
                <a:ln>
                  <a:noFill/>
                </a:ln>
                <a:solidFill>
                  <a:srgbClr val="009ED6"/>
                </a:solidFill>
                <a:effectLst/>
                <a:uLnTx/>
                <a:uFillTx/>
                <a:latin typeface="+mn-lt"/>
                <a:ea typeface="+mn-ea"/>
                <a:cs typeface="+mn-cs"/>
              </a:rPr>
              <a:t>2.4.4  </a:t>
            </a:r>
            <a:r>
              <a:rPr kumimoji="0" lang="zh-CN" altLang="en-US" sz="1500" b="1" i="0" u="none" strike="noStrike" kern="0" cap="none" spc="0" normalizeH="0" baseline="0" noProof="0" dirty="0" smtClean="0">
                <a:ln>
                  <a:noFill/>
                </a:ln>
                <a:solidFill>
                  <a:srgbClr val="009ED6"/>
                </a:solidFill>
                <a:effectLst/>
                <a:uLnTx/>
                <a:uFillTx/>
                <a:latin typeface="+mn-lt"/>
                <a:ea typeface="+mn-ea"/>
                <a:cs typeface="+mn-cs"/>
              </a:rPr>
              <a:t>比较运算符</a:t>
            </a:r>
            <a:endParaRPr kumimoji="0" lang="en-US" altLang="zh-CN" sz="1500" b="1" i="0" u="none" strike="noStrike" kern="0" cap="none" spc="0" normalizeH="0" baseline="0" noProof="0" dirty="0" smtClean="0">
              <a:ln>
                <a:noFill/>
              </a:ln>
              <a:solidFill>
                <a:srgbClr val="009ED6"/>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比较</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运算符用于对两个数值或变量进行比较，其结果是一个逻辑值（</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真</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或</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假</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），如</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“5&gt;3”</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，其值为</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真</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C</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语言的比较运算中，</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真</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用数字</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“1”</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来表示，</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假</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用数字</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“0”</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来表示。表</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2-13</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列出了</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C</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中的比较运算符及其</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用法</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zh-CN" altLang="en-US"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50000"/>
              </a:lnSpc>
              <a:spcBef>
                <a:spcPct val="20000"/>
              </a:spcBef>
              <a:spcAft>
                <a:spcPct val="0"/>
              </a:spcAft>
              <a:buClrTx/>
              <a:buSzTx/>
              <a:buFontTx/>
              <a:buNone/>
              <a:defRPr/>
            </a:pPr>
            <a:r>
              <a:rPr kumimoji="0" lang="zh-CN" altLang="en-US" sz="1050" b="0" i="0" u="none" strike="noStrike" kern="0" cap="none" spc="0" normalizeH="0" baseline="0" noProof="0" dirty="0" smtClean="0">
                <a:ln>
                  <a:noFill/>
                </a:ln>
                <a:solidFill>
                  <a:schemeClr val="tx1"/>
                </a:solidFill>
                <a:effectLst/>
                <a:uLnTx/>
                <a:uFillTx/>
                <a:latin typeface="+mn-lt"/>
                <a:ea typeface="+mn-ea"/>
                <a:cs typeface="+mn-cs"/>
              </a:rPr>
              <a:t>表</a:t>
            </a: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2-13    </a:t>
            </a:r>
            <a:r>
              <a:rPr kumimoji="0" lang="zh-CN" altLang="en-US" sz="1050" b="0" i="0" u="none" strike="noStrike" kern="0" cap="none" spc="0" normalizeH="0" baseline="0" noProof="0" dirty="0" smtClean="0">
                <a:ln>
                  <a:noFill/>
                </a:ln>
                <a:solidFill>
                  <a:schemeClr val="tx1"/>
                </a:solidFill>
                <a:effectLst/>
                <a:uLnTx/>
                <a:uFillTx/>
                <a:latin typeface="+mn-lt"/>
                <a:ea typeface="+mn-ea"/>
                <a:cs typeface="+mn-cs"/>
              </a:rPr>
              <a:t>比较运算符</a:t>
            </a: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5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457200" algn="l" defTabSz="914400" rtl="0" eaLnBrk="0" fontAlgn="base" latinLnBrk="0" hangingPunct="0">
              <a:lnSpc>
                <a:spcPct val="150000"/>
              </a:lnSpc>
              <a:spcBef>
                <a:spcPct val="20000"/>
              </a:spcBef>
              <a:spcAft>
                <a:spcPct val="0"/>
              </a:spcAft>
              <a:buClrTx/>
              <a:buSzTx/>
              <a:buFontTx/>
              <a:buNone/>
              <a:defRPr/>
            </a:pP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需要</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注意的是，在使用比较运算符时，不能将比较运算符</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误写成赋值运算符</a:t>
            </a: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a:t>
            </a:r>
            <a:r>
              <a:rPr kumimoji="0" lang="zh-CN" altLang="en-US"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en-US"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p:txBody>
      </p:sp>
      <p:sp>
        <p:nvSpPr>
          <p:cNvPr id="2" name="标题 1"/>
          <p:cNvSpPr>
            <a:spLocks noGrp="1"/>
          </p:cNvSpPr>
          <p:nvPr>
            <p:custDataLst>
              <p:tags r:id="rId1"/>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2.4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运算符</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graphicFrame>
        <p:nvGraphicFramePr>
          <p:cNvPr id="5" name="表格 4"/>
          <p:cNvGraphicFramePr/>
          <p:nvPr>
            <p:custDataLst>
              <p:tags r:id="rId2"/>
            </p:custDataLst>
          </p:nvPr>
        </p:nvGraphicFramePr>
        <p:xfrm>
          <a:off x="1163320" y="2497455"/>
          <a:ext cx="6400165" cy="2667000"/>
        </p:xfrm>
        <a:graphic>
          <a:graphicData uri="http://schemas.openxmlformats.org/drawingml/2006/table">
            <a:tbl>
              <a:tblPr firstRow="1" bandRow="1"/>
              <a:tblGrid>
                <a:gridCol w="1599565"/>
                <a:gridCol w="1599565"/>
                <a:gridCol w="1599565"/>
                <a:gridCol w="1599565"/>
              </a:tblGrid>
              <a:tr h="288000">
                <a:tc>
                  <a:txBody>
                    <a:bodyPr/>
                    <a:p>
                      <a:pPr algn="ctr">
                        <a:buNone/>
                      </a:pPr>
                      <a:r>
                        <a:rPr lang="zh-CN" altLang="en-US" sz="1100">
                          <a:solidFill>
                            <a:srgbClr val="584E61"/>
                          </a:solidFill>
                        </a:rPr>
                        <a:t>运算符</a:t>
                      </a:r>
                      <a:endParaRPr lang="zh-CN" altLang="en-US" sz="1100">
                        <a:solidFill>
                          <a:srgbClr val="584E61"/>
                        </a:solidFill>
                      </a:endParaRPr>
                    </a:p>
                  </a:txBody>
                  <a:tcPr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p>
                      <a:pPr algn="ctr">
                        <a:buNone/>
                      </a:pPr>
                      <a:r>
                        <a:rPr lang="zh-CN" altLang="en-US" sz="1100">
                          <a:solidFill>
                            <a:srgbClr val="584E61"/>
                          </a:solidFill>
                        </a:rPr>
                        <a:t>运算</a:t>
                      </a:r>
                      <a:endParaRPr lang="zh-CN" altLang="en-US" sz="1100">
                        <a:solidFill>
                          <a:srgbClr val="584E61"/>
                        </a:solidFill>
                      </a:endParaRPr>
                    </a:p>
                  </a:txBody>
                  <a:tcPr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p>
                      <a:pPr algn="ctr">
                        <a:buNone/>
                      </a:pPr>
                      <a:r>
                        <a:rPr lang="zh-CN" altLang="en-US" sz="1100">
                          <a:solidFill>
                            <a:srgbClr val="584E61"/>
                          </a:solidFill>
                        </a:rPr>
                        <a:t>范例</a:t>
                      </a:r>
                      <a:endParaRPr lang="zh-CN" altLang="en-US" sz="1100">
                        <a:solidFill>
                          <a:srgbClr val="584E61"/>
                        </a:solidFill>
                      </a:endParaRPr>
                    </a:p>
                  </a:txBody>
                  <a:tcPr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p>
                      <a:pPr algn="ctr">
                        <a:buNone/>
                      </a:pPr>
                      <a:r>
                        <a:rPr lang="zh-CN" altLang="en-US" sz="1100">
                          <a:solidFill>
                            <a:srgbClr val="584E61"/>
                          </a:solidFill>
                        </a:rPr>
                        <a:t>结果</a:t>
                      </a:r>
                      <a:endParaRPr lang="zh-CN" altLang="en-US" sz="1100">
                        <a:solidFill>
                          <a:srgbClr val="584E61"/>
                        </a:solidFill>
                      </a:endParaRPr>
                    </a:p>
                  </a:txBody>
                  <a:tcPr anchor="ctr" anchorCtr="0">
                    <a:lnL>
                      <a:noFill/>
                    </a:lnL>
                    <a:lnR>
                      <a:noFill/>
                    </a:lnR>
                    <a:lnT w="19050">
                      <a:solidFill>
                        <a:srgbClr val="584E61"/>
                      </a:solidFill>
                      <a:prstDash val="solid"/>
                    </a:lnT>
                    <a:lnB w="19050">
                      <a:solidFill>
                        <a:srgbClr val="584E61"/>
                      </a:solidFill>
                      <a:prstDash val="solid"/>
                    </a:lnB>
                    <a:solidFill>
                      <a:srgbClr val="FFFFFF"/>
                    </a:solidFill>
                  </a:tcPr>
                </a:tc>
              </a:tr>
              <a:tr h="288000">
                <a:tc>
                  <a:txBody>
                    <a:bodyPr/>
                    <a:p>
                      <a:pPr algn="ctr">
                        <a:buNone/>
                      </a:pPr>
                      <a:r>
                        <a:rPr lang="zh-CN" altLang="en-US" sz="1100">
                          <a:solidFill>
                            <a:srgbClr val="584E61"/>
                          </a:solidFill>
                        </a:rPr>
                        <a:t>==</a:t>
                      </a:r>
                      <a:endParaRPr lang="zh-CN" altLang="en-US" sz="1100">
                        <a:solidFill>
                          <a:srgbClr val="584E61"/>
                        </a:solidFill>
                      </a:endParaRPr>
                    </a:p>
                  </a:txBody>
                  <a:tcPr anchor="ctr" anchorCtr="0">
                    <a:lnL>
                      <a:noFill/>
                    </a:lnL>
                    <a:lnR>
                      <a:noFill/>
                    </a:lnR>
                    <a:lnT w="19050">
                      <a:solidFill>
                        <a:srgbClr val="584E61"/>
                      </a:solidFill>
                      <a:prstDash val="solid"/>
                    </a:lnT>
                    <a:lnB>
                      <a:noFill/>
                    </a:lnB>
                    <a:solidFill>
                      <a:srgbClr val="FFFFFF"/>
                    </a:solidFill>
                  </a:tcPr>
                </a:tc>
                <a:tc>
                  <a:txBody>
                    <a:bodyPr/>
                    <a:p>
                      <a:pPr algn="ctr">
                        <a:buNone/>
                      </a:pPr>
                      <a:r>
                        <a:rPr lang="zh-CN" altLang="en-US" sz="1100">
                          <a:solidFill>
                            <a:srgbClr val="584E61"/>
                          </a:solidFill>
                        </a:rPr>
                        <a:t>相等于</a:t>
                      </a:r>
                      <a:endParaRPr lang="zh-CN" altLang="en-US" sz="1100">
                        <a:solidFill>
                          <a:srgbClr val="584E61"/>
                        </a:solidFill>
                      </a:endParaRPr>
                    </a:p>
                  </a:txBody>
                  <a:tcPr anchor="ctr" anchorCtr="0">
                    <a:lnL>
                      <a:noFill/>
                    </a:lnL>
                    <a:lnR>
                      <a:noFill/>
                    </a:lnR>
                    <a:lnT w="19050">
                      <a:solidFill>
                        <a:srgbClr val="584E61"/>
                      </a:solidFill>
                      <a:prstDash val="solid"/>
                    </a:lnT>
                    <a:lnB>
                      <a:noFill/>
                    </a:lnB>
                    <a:solidFill>
                      <a:srgbClr val="FFFFFF"/>
                    </a:solidFill>
                  </a:tcPr>
                </a:tc>
                <a:tc>
                  <a:txBody>
                    <a:bodyPr/>
                    <a:p>
                      <a:pPr indent="0" algn="ctr" fontAlgn="auto">
                        <a:spcAft>
                          <a:spcPts val="0"/>
                        </a:spcAft>
                      </a:pPr>
                      <a:r>
                        <a:rPr lang="en-US" sz="1100" kern="0">
                          <a:solidFill>
                            <a:srgbClr val="584E61"/>
                          </a:solidFill>
                          <a:effectLst/>
                        </a:rPr>
                        <a:t>4 == 3</a:t>
                      </a:r>
                      <a:endParaRPr lang="en-US" sz="1100" kern="0">
                        <a:solidFill>
                          <a:srgbClr val="584E61"/>
                        </a:solidFill>
                        <a:effectLst/>
                        <a:latin typeface="Times New Roman" panose="02020503050405090304"/>
                        <a:ea typeface="宋体" pitchFamily="2" charset="-122"/>
                      </a:endParaRPr>
                    </a:p>
                  </a:txBody>
                  <a:tcPr marL="51437" marR="51437" marT="0" marB="0" anchor="ctr" anchorCtr="0">
                    <a:lnL>
                      <a:noFill/>
                    </a:lnL>
                    <a:lnR>
                      <a:noFill/>
                    </a:lnR>
                    <a:lnT w="19050">
                      <a:solidFill>
                        <a:srgbClr val="584E61"/>
                      </a:solidFill>
                      <a:prstDash val="solid"/>
                    </a:lnT>
                    <a:lnB>
                      <a:noFill/>
                    </a:lnB>
                    <a:solidFill>
                      <a:srgbClr val="FFFFFF"/>
                    </a:solidFill>
                  </a:tcPr>
                </a:tc>
                <a:tc>
                  <a:txBody>
                    <a:bodyPr/>
                    <a:p>
                      <a:pPr indent="88265" algn="ctr">
                        <a:spcAft>
                          <a:spcPts val="0"/>
                        </a:spcAft>
                      </a:pPr>
                      <a:r>
                        <a:rPr lang="en-US" sz="1100" kern="0">
                          <a:solidFill>
                            <a:srgbClr val="584E61"/>
                          </a:solidFill>
                          <a:effectLst/>
                        </a:rPr>
                        <a:t>0</a:t>
                      </a:r>
                      <a:endParaRPr lang="en-US" sz="1100" kern="0">
                        <a:solidFill>
                          <a:srgbClr val="584E61"/>
                        </a:solidFill>
                        <a:effectLst/>
                        <a:latin typeface="Times New Roman" panose="02020503050405090304"/>
                        <a:ea typeface="宋体" pitchFamily="2" charset="-122"/>
                      </a:endParaRPr>
                    </a:p>
                  </a:txBody>
                  <a:tcPr marL="51437" marR="51437" marT="0" marB="0" anchor="ctr" anchorCtr="0">
                    <a:lnL>
                      <a:noFill/>
                    </a:lnL>
                    <a:lnR>
                      <a:noFill/>
                    </a:lnR>
                    <a:lnT w="19050">
                      <a:solidFill>
                        <a:srgbClr val="584E61"/>
                      </a:solidFill>
                      <a:prstDash val="solid"/>
                    </a:lnT>
                    <a:lnB>
                      <a:noFill/>
                    </a:lnB>
                    <a:solidFill>
                      <a:srgbClr val="FFFFFF"/>
                    </a:solidFill>
                  </a:tcPr>
                </a:tc>
              </a:tr>
              <a:tr h="288000">
                <a:tc>
                  <a:txBody>
                    <a:bodyPr/>
                    <a:p>
                      <a:pPr algn="ctr">
                        <a:buNone/>
                      </a:pPr>
                      <a:r>
                        <a:rPr lang="zh-CN" altLang="en-US" sz="1100">
                          <a:solidFill>
                            <a:srgbClr val="584E61"/>
                          </a:solidFill>
                          <a:sym typeface="+mn-ea"/>
                        </a:rPr>
                        <a:t>!=</a:t>
                      </a:r>
                      <a:endParaRPr lang="zh-CN" altLang="en-US" sz="1100">
                        <a:solidFill>
                          <a:srgbClr val="584E61"/>
                        </a:solidFill>
                        <a:sym typeface="+mn-ea"/>
                      </a:endParaRPr>
                    </a:p>
                  </a:txBody>
                  <a:tcPr anchor="ctr" anchorCtr="0">
                    <a:lnL>
                      <a:noFill/>
                    </a:lnL>
                    <a:lnR>
                      <a:noFill/>
                    </a:lnR>
                    <a:lnT>
                      <a:noFill/>
                    </a:lnT>
                    <a:lnB>
                      <a:noFill/>
                    </a:lnB>
                    <a:solidFill>
                      <a:srgbClr val="F0EFF2"/>
                    </a:solidFill>
                  </a:tcPr>
                </a:tc>
                <a:tc>
                  <a:txBody>
                    <a:bodyPr/>
                    <a:p>
                      <a:pPr algn="ctr">
                        <a:buNone/>
                      </a:pPr>
                      <a:r>
                        <a:rPr lang="zh-CN" altLang="en-US" sz="1100">
                          <a:solidFill>
                            <a:srgbClr val="584E61"/>
                          </a:solidFill>
                        </a:rPr>
                        <a:t>不等于</a:t>
                      </a:r>
                      <a:endParaRPr lang="zh-CN" altLang="en-US" sz="1100">
                        <a:solidFill>
                          <a:srgbClr val="584E61"/>
                        </a:solidFill>
                      </a:endParaRPr>
                    </a:p>
                  </a:txBody>
                  <a:tcPr anchor="ctr" anchorCtr="0">
                    <a:lnL>
                      <a:noFill/>
                    </a:lnL>
                    <a:lnR>
                      <a:noFill/>
                    </a:lnR>
                    <a:lnT>
                      <a:noFill/>
                    </a:lnT>
                    <a:lnB>
                      <a:noFill/>
                    </a:lnB>
                    <a:solidFill>
                      <a:srgbClr val="F0EFF2"/>
                    </a:solidFill>
                  </a:tcPr>
                </a:tc>
                <a:tc>
                  <a:txBody>
                    <a:bodyPr/>
                    <a:p>
                      <a:pPr indent="0" algn="ctr" fontAlgn="auto">
                        <a:spcAft>
                          <a:spcPts val="0"/>
                        </a:spcAft>
                      </a:pPr>
                      <a:r>
                        <a:rPr lang="en-US" sz="1100" kern="0">
                          <a:solidFill>
                            <a:srgbClr val="584E61"/>
                          </a:solidFill>
                          <a:effectLst/>
                        </a:rPr>
                        <a:t>4 != 3</a:t>
                      </a:r>
                      <a:endParaRPr lang="en-US" sz="1100" kern="0">
                        <a:solidFill>
                          <a:srgbClr val="584E61"/>
                        </a:solidFill>
                        <a:effectLst/>
                        <a:latin typeface="Times New Roman" panose="02020503050405090304"/>
                        <a:ea typeface="宋体" pitchFamily="2" charset="-122"/>
                      </a:endParaRPr>
                    </a:p>
                  </a:txBody>
                  <a:tcPr marL="51437" marR="51437" marT="0" marB="0" anchor="ctr" anchorCtr="0">
                    <a:lnL>
                      <a:noFill/>
                    </a:lnL>
                    <a:lnR>
                      <a:noFill/>
                    </a:lnR>
                    <a:lnT>
                      <a:noFill/>
                    </a:lnT>
                    <a:lnB>
                      <a:noFill/>
                    </a:lnB>
                    <a:solidFill>
                      <a:srgbClr val="F0EFF2"/>
                    </a:solidFill>
                  </a:tcPr>
                </a:tc>
                <a:tc>
                  <a:txBody>
                    <a:bodyPr/>
                    <a:p>
                      <a:pPr indent="88265" algn="ctr">
                        <a:spcAft>
                          <a:spcPts val="0"/>
                        </a:spcAft>
                      </a:pPr>
                      <a:r>
                        <a:rPr lang="en-US" sz="1100" kern="0">
                          <a:solidFill>
                            <a:srgbClr val="584E61"/>
                          </a:solidFill>
                          <a:effectLst/>
                        </a:rPr>
                        <a:t>1</a:t>
                      </a:r>
                      <a:endParaRPr lang="en-US" sz="1100" kern="0">
                        <a:solidFill>
                          <a:srgbClr val="584E61"/>
                        </a:solidFill>
                        <a:effectLst/>
                        <a:latin typeface="Times New Roman" panose="02020503050405090304"/>
                        <a:ea typeface="宋体" pitchFamily="2" charset="-122"/>
                      </a:endParaRPr>
                    </a:p>
                  </a:txBody>
                  <a:tcPr marL="51437" marR="51437" marT="0" marB="0" anchor="ctr" anchorCtr="0">
                    <a:lnL>
                      <a:noFill/>
                    </a:lnL>
                    <a:lnR>
                      <a:noFill/>
                    </a:lnR>
                    <a:lnT>
                      <a:noFill/>
                    </a:lnT>
                    <a:lnB>
                      <a:noFill/>
                    </a:lnB>
                    <a:solidFill>
                      <a:srgbClr val="F0EFF2"/>
                    </a:solidFill>
                  </a:tcPr>
                </a:tc>
              </a:tr>
              <a:tr h="288000">
                <a:tc>
                  <a:txBody>
                    <a:bodyPr/>
                    <a:p>
                      <a:pPr algn="ctr">
                        <a:buNone/>
                      </a:pPr>
                      <a:r>
                        <a:rPr lang="zh-CN" altLang="en-US" sz="1100">
                          <a:solidFill>
                            <a:srgbClr val="584E61"/>
                          </a:solidFill>
                          <a:sym typeface="+mn-ea"/>
                        </a:rPr>
                        <a:t>&lt; </a:t>
                      </a:r>
                      <a:endParaRPr lang="zh-CN" altLang="en-US" sz="1100">
                        <a:solidFill>
                          <a:srgbClr val="584E61"/>
                        </a:solidFill>
                        <a:sym typeface="+mn-ea"/>
                      </a:endParaRPr>
                    </a:p>
                  </a:txBody>
                  <a:tcPr anchor="ctr" anchorCtr="0">
                    <a:lnL>
                      <a:noFill/>
                    </a:lnL>
                    <a:lnR>
                      <a:noFill/>
                    </a:lnR>
                    <a:lnT>
                      <a:noFill/>
                    </a:lnT>
                    <a:lnB>
                      <a:noFill/>
                    </a:lnB>
                    <a:solidFill>
                      <a:srgbClr val="FFFFFF"/>
                    </a:solidFill>
                  </a:tcPr>
                </a:tc>
                <a:tc>
                  <a:txBody>
                    <a:bodyPr/>
                    <a:p>
                      <a:pPr algn="ctr">
                        <a:buNone/>
                      </a:pPr>
                      <a:r>
                        <a:rPr lang="zh-CN" altLang="en-US" sz="1100">
                          <a:solidFill>
                            <a:srgbClr val="584E61"/>
                          </a:solidFill>
                        </a:rPr>
                        <a:t>小于</a:t>
                      </a:r>
                      <a:endParaRPr lang="zh-CN" altLang="en-US" sz="1100">
                        <a:solidFill>
                          <a:srgbClr val="584E61"/>
                        </a:solidFill>
                      </a:endParaRPr>
                    </a:p>
                  </a:txBody>
                  <a:tcPr anchor="ctr" anchorCtr="0">
                    <a:lnL>
                      <a:noFill/>
                    </a:lnL>
                    <a:lnR>
                      <a:noFill/>
                    </a:lnR>
                    <a:lnT>
                      <a:noFill/>
                    </a:lnT>
                    <a:lnB>
                      <a:noFill/>
                    </a:lnB>
                    <a:solidFill>
                      <a:srgbClr val="FFFFFF"/>
                    </a:solidFill>
                  </a:tcPr>
                </a:tc>
                <a:tc>
                  <a:txBody>
                    <a:bodyPr/>
                    <a:p>
                      <a:pPr indent="0" algn="ctr" fontAlgn="auto">
                        <a:spcAft>
                          <a:spcPts val="0"/>
                        </a:spcAft>
                      </a:pPr>
                      <a:r>
                        <a:rPr lang="en-US" sz="1100" kern="0">
                          <a:solidFill>
                            <a:srgbClr val="584E61"/>
                          </a:solidFill>
                          <a:effectLst/>
                        </a:rPr>
                        <a:t>4 &lt; 3</a:t>
                      </a:r>
                      <a:endParaRPr lang="en-US" sz="1100" kern="0">
                        <a:solidFill>
                          <a:srgbClr val="584E61"/>
                        </a:solidFill>
                        <a:effectLst/>
                        <a:latin typeface="Times New Roman" panose="02020503050405090304"/>
                        <a:ea typeface="宋体" pitchFamily="2" charset="-122"/>
                      </a:endParaRPr>
                    </a:p>
                  </a:txBody>
                  <a:tcPr marL="51437" marR="51437" marT="0" marB="0" anchor="ctr" anchorCtr="0">
                    <a:lnL>
                      <a:noFill/>
                    </a:lnL>
                    <a:lnR>
                      <a:noFill/>
                    </a:lnR>
                    <a:lnT>
                      <a:noFill/>
                    </a:lnT>
                    <a:lnB>
                      <a:noFill/>
                    </a:lnB>
                    <a:solidFill>
                      <a:srgbClr val="FFFFFF"/>
                    </a:solidFill>
                  </a:tcPr>
                </a:tc>
                <a:tc>
                  <a:txBody>
                    <a:bodyPr/>
                    <a:p>
                      <a:pPr indent="88265" algn="ctr">
                        <a:spcAft>
                          <a:spcPts val="0"/>
                        </a:spcAft>
                      </a:pPr>
                      <a:r>
                        <a:rPr lang="en-US" sz="1100" kern="0">
                          <a:solidFill>
                            <a:srgbClr val="584E61"/>
                          </a:solidFill>
                          <a:effectLst/>
                        </a:rPr>
                        <a:t>0</a:t>
                      </a:r>
                      <a:endParaRPr lang="en-US" sz="1100" kern="0">
                        <a:solidFill>
                          <a:srgbClr val="584E61"/>
                        </a:solidFill>
                        <a:effectLst/>
                        <a:latin typeface="Times New Roman" panose="02020503050405090304"/>
                        <a:ea typeface="宋体" pitchFamily="2" charset="-122"/>
                      </a:endParaRPr>
                    </a:p>
                  </a:txBody>
                  <a:tcPr marL="51437" marR="51437" marT="0" marB="0" anchor="ctr" anchorCtr="0">
                    <a:lnL>
                      <a:noFill/>
                    </a:lnL>
                    <a:lnR>
                      <a:noFill/>
                    </a:lnR>
                    <a:lnT>
                      <a:noFill/>
                    </a:lnT>
                    <a:lnB>
                      <a:noFill/>
                    </a:lnB>
                    <a:solidFill>
                      <a:srgbClr val="FFFFFF"/>
                    </a:solidFill>
                  </a:tcPr>
                </a:tc>
              </a:tr>
              <a:tr h="288000">
                <a:tc>
                  <a:txBody>
                    <a:bodyPr/>
                    <a:p>
                      <a:pPr algn="ctr">
                        <a:buNone/>
                      </a:pPr>
                      <a:r>
                        <a:rPr lang="zh-CN" altLang="en-US" sz="1100">
                          <a:solidFill>
                            <a:srgbClr val="584E61"/>
                          </a:solidFill>
                          <a:sym typeface="+mn-ea"/>
                        </a:rPr>
                        <a:t>&gt; </a:t>
                      </a:r>
                      <a:endParaRPr lang="zh-CN" altLang="en-US" sz="1100">
                        <a:solidFill>
                          <a:srgbClr val="584E61"/>
                        </a:solidFill>
                        <a:sym typeface="+mn-ea"/>
                      </a:endParaRPr>
                    </a:p>
                  </a:txBody>
                  <a:tcPr anchor="ctr" anchorCtr="0">
                    <a:lnL>
                      <a:noFill/>
                    </a:lnL>
                    <a:lnR>
                      <a:noFill/>
                    </a:lnR>
                    <a:lnT>
                      <a:noFill/>
                    </a:lnT>
                    <a:lnB>
                      <a:noFill/>
                    </a:lnB>
                    <a:solidFill>
                      <a:srgbClr val="F0EFF2"/>
                    </a:solidFill>
                  </a:tcPr>
                </a:tc>
                <a:tc>
                  <a:txBody>
                    <a:bodyPr/>
                    <a:p>
                      <a:pPr algn="ctr">
                        <a:buNone/>
                      </a:pPr>
                      <a:r>
                        <a:rPr lang="zh-CN" altLang="en-US" sz="1100">
                          <a:solidFill>
                            <a:srgbClr val="584E61"/>
                          </a:solidFill>
                        </a:rPr>
                        <a:t>大于</a:t>
                      </a:r>
                      <a:endParaRPr lang="zh-CN" altLang="en-US" sz="1100">
                        <a:solidFill>
                          <a:srgbClr val="584E61"/>
                        </a:solidFill>
                      </a:endParaRPr>
                    </a:p>
                  </a:txBody>
                  <a:tcPr anchor="ctr" anchorCtr="0">
                    <a:lnL>
                      <a:noFill/>
                    </a:lnL>
                    <a:lnR>
                      <a:noFill/>
                    </a:lnR>
                    <a:lnT>
                      <a:noFill/>
                    </a:lnT>
                    <a:lnB>
                      <a:noFill/>
                    </a:lnB>
                    <a:solidFill>
                      <a:srgbClr val="F0EFF2"/>
                    </a:solidFill>
                  </a:tcPr>
                </a:tc>
                <a:tc>
                  <a:txBody>
                    <a:bodyPr/>
                    <a:p>
                      <a:pPr indent="0" algn="ctr" fontAlgn="auto">
                        <a:spcAft>
                          <a:spcPts val="0"/>
                        </a:spcAft>
                      </a:pPr>
                      <a:r>
                        <a:rPr lang="en-US" sz="1100" kern="0">
                          <a:solidFill>
                            <a:srgbClr val="584E61"/>
                          </a:solidFill>
                          <a:effectLst/>
                        </a:rPr>
                        <a:t>4 &gt; 3</a:t>
                      </a:r>
                      <a:endParaRPr lang="en-US" sz="1100" kern="0">
                        <a:solidFill>
                          <a:srgbClr val="584E61"/>
                        </a:solidFill>
                        <a:effectLst/>
                        <a:latin typeface="Times New Roman" panose="02020503050405090304"/>
                        <a:ea typeface="宋体" pitchFamily="2" charset="-122"/>
                      </a:endParaRPr>
                    </a:p>
                  </a:txBody>
                  <a:tcPr marL="51437" marR="51437" marT="0" marB="0" anchor="ctr" anchorCtr="0">
                    <a:lnL>
                      <a:noFill/>
                    </a:lnL>
                    <a:lnR>
                      <a:noFill/>
                    </a:lnR>
                    <a:lnT>
                      <a:noFill/>
                    </a:lnT>
                    <a:lnB>
                      <a:noFill/>
                    </a:lnB>
                    <a:solidFill>
                      <a:srgbClr val="F0EFF2"/>
                    </a:solidFill>
                  </a:tcPr>
                </a:tc>
                <a:tc>
                  <a:txBody>
                    <a:bodyPr/>
                    <a:p>
                      <a:pPr indent="88265" algn="ctr">
                        <a:spcAft>
                          <a:spcPts val="0"/>
                        </a:spcAft>
                      </a:pPr>
                      <a:r>
                        <a:rPr lang="en-US" sz="1100" kern="0">
                          <a:solidFill>
                            <a:srgbClr val="584E61"/>
                          </a:solidFill>
                          <a:effectLst/>
                        </a:rPr>
                        <a:t>1</a:t>
                      </a:r>
                      <a:endParaRPr lang="en-US" sz="1100" kern="0">
                        <a:solidFill>
                          <a:srgbClr val="584E61"/>
                        </a:solidFill>
                        <a:effectLst/>
                        <a:latin typeface="Times New Roman" panose="02020503050405090304"/>
                        <a:ea typeface="宋体" pitchFamily="2" charset="-122"/>
                      </a:endParaRPr>
                    </a:p>
                  </a:txBody>
                  <a:tcPr marL="51437" marR="51437" marT="0" marB="0" anchor="ctr" anchorCtr="0">
                    <a:lnL>
                      <a:noFill/>
                    </a:lnL>
                    <a:lnR>
                      <a:noFill/>
                    </a:lnR>
                    <a:lnT>
                      <a:noFill/>
                    </a:lnT>
                    <a:lnB>
                      <a:noFill/>
                    </a:lnB>
                    <a:solidFill>
                      <a:srgbClr val="F0EFF2"/>
                    </a:solidFill>
                  </a:tcPr>
                </a:tc>
              </a:tr>
              <a:tr h="288000">
                <a:tc>
                  <a:txBody>
                    <a:bodyPr/>
                    <a:p>
                      <a:pPr algn="ctr">
                        <a:buNone/>
                      </a:pPr>
                      <a:r>
                        <a:rPr lang="zh-CN" altLang="en-US" sz="1100">
                          <a:solidFill>
                            <a:srgbClr val="584E61"/>
                          </a:solidFill>
                          <a:sym typeface="+mn-ea"/>
                        </a:rPr>
                        <a:t>&lt;=</a:t>
                      </a:r>
                      <a:endParaRPr lang="zh-CN" altLang="en-US" sz="1100">
                        <a:solidFill>
                          <a:srgbClr val="584E61"/>
                        </a:solidFill>
                        <a:sym typeface="+mn-ea"/>
                      </a:endParaRPr>
                    </a:p>
                  </a:txBody>
                  <a:tcPr anchor="ctr" anchorCtr="0">
                    <a:lnL>
                      <a:noFill/>
                    </a:lnL>
                    <a:lnR>
                      <a:noFill/>
                    </a:lnR>
                    <a:lnT>
                      <a:noFill/>
                    </a:lnT>
                    <a:lnB>
                      <a:noFill/>
                    </a:lnB>
                    <a:solidFill>
                      <a:srgbClr val="FFFFFF"/>
                    </a:solidFill>
                  </a:tcPr>
                </a:tc>
                <a:tc>
                  <a:txBody>
                    <a:bodyPr/>
                    <a:p>
                      <a:pPr algn="ctr">
                        <a:buNone/>
                      </a:pPr>
                      <a:r>
                        <a:rPr lang="zh-CN" altLang="en-US" sz="1100">
                          <a:solidFill>
                            <a:srgbClr val="584E61"/>
                          </a:solidFill>
                        </a:rPr>
                        <a:t>小于等于</a:t>
                      </a:r>
                      <a:endParaRPr lang="zh-CN" altLang="en-US" sz="1100">
                        <a:solidFill>
                          <a:srgbClr val="584E61"/>
                        </a:solidFill>
                      </a:endParaRPr>
                    </a:p>
                  </a:txBody>
                  <a:tcPr anchor="ctr" anchorCtr="0">
                    <a:lnL>
                      <a:noFill/>
                    </a:lnL>
                    <a:lnR>
                      <a:noFill/>
                    </a:lnR>
                    <a:lnT>
                      <a:noFill/>
                    </a:lnT>
                    <a:lnB>
                      <a:noFill/>
                    </a:lnB>
                    <a:solidFill>
                      <a:srgbClr val="FFFFFF"/>
                    </a:solidFill>
                  </a:tcPr>
                </a:tc>
                <a:tc>
                  <a:txBody>
                    <a:bodyPr/>
                    <a:p>
                      <a:pPr indent="0" algn="ctr" fontAlgn="auto">
                        <a:spcAft>
                          <a:spcPts val="0"/>
                        </a:spcAft>
                      </a:pPr>
                      <a:r>
                        <a:rPr lang="en-US" sz="1100" kern="0">
                          <a:solidFill>
                            <a:srgbClr val="584E61"/>
                          </a:solidFill>
                          <a:effectLst/>
                        </a:rPr>
                        <a:t>4 &lt;= 3</a:t>
                      </a:r>
                      <a:endParaRPr lang="en-US" sz="1100" kern="0">
                        <a:solidFill>
                          <a:srgbClr val="584E61"/>
                        </a:solidFill>
                        <a:effectLst/>
                        <a:latin typeface="Times New Roman" panose="02020503050405090304"/>
                        <a:ea typeface="宋体" pitchFamily="2" charset="-122"/>
                      </a:endParaRPr>
                    </a:p>
                  </a:txBody>
                  <a:tcPr marL="51437" marR="51437" marT="0" marB="0" anchor="ctr" anchorCtr="0">
                    <a:lnL>
                      <a:noFill/>
                    </a:lnL>
                    <a:lnR>
                      <a:noFill/>
                    </a:lnR>
                    <a:lnT>
                      <a:noFill/>
                    </a:lnT>
                    <a:lnB>
                      <a:noFill/>
                    </a:lnB>
                    <a:solidFill>
                      <a:srgbClr val="FFFFFF"/>
                    </a:solidFill>
                  </a:tcPr>
                </a:tc>
                <a:tc>
                  <a:txBody>
                    <a:bodyPr/>
                    <a:p>
                      <a:pPr indent="88265" algn="ctr">
                        <a:spcAft>
                          <a:spcPts val="0"/>
                        </a:spcAft>
                      </a:pPr>
                      <a:r>
                        <a:rPr lang="en-US" sz="1100" kern="0">
                          <a:solidFill>
                            <a:srgbClr val="584E61"/>
                          </a:solidFill>
                          <a:effectLst/>
                        </a:rPr>
                        <a:t>0</a:t>
                      </a:r>
                      <a:endParaRPr lang="en-US" sz="1100" kern="0">
                        <a:solidFill>
                          <a:srgbClr val="584E61"/>
                        </a:solidFill>
                        <a:effectLst/>
                        <a:latin typeface="Times New Roman" panose="02020503050405090304"/>
                        <a:ea typeface="宋体" pitchFamily="2" charset="-122"/>
                      </a:endParaRPr>
                    </a:p>
                  </a:txBody>
                  <a:tcPr marL="51437" marR="51437" marT="0" marB="0" anchor="ctr" anchorCtr="0">
                    <a:lnL>
                      <a:noFill/>
                    </a:lnL>
                    <a:lnR>
                      <a:noFill/>
                    </a:lnR>
                    <a:lnT>
                      <a:noFill/>
                    </a:lnT>
                    <a:lnB>
                      <a:noFill/>
                    </a:lnB>
                    <a:solidFill>
                      <a:srgbClr val="FFFFFF"/>
                    </a:solidFill>
                  </a:tcPr>
                </a:tc>
              </a:tr>
              <a:tr h="288000">
                <a:tc>
                  <a:txBody>
                    <a:bodyPr/>
                    <a:p>
                      <a:pPr algn="ctr">
                        <a:buNone/>
                      </a:pPr>
                      <a:r>
                        <a:rPr lang="zh-CN" altLang="en-US" sz="1100">
                          <a:solidFill>
                            <a:srgbClr val="584E61"/>
                          </a:solidFill>
                          <a:sym typeface="+mn-ea"/>
                        </a:rPr>
                        <a:t>&gt;=</a:t>
                      </a:r>
                      <a:endParaRPr lang="zh-CN" altLang="en-US" sz="1100">
                        <a:solidFill>
                          <a:srgbClr val="584E61"/>
                        </a:solidFill>
                        <a:sym typeface="+mn-ea"/>
                      </a:endParaRPr>
                    </a:p>
                  </a:txBody>
                  <a:tcPr anchor="ctr" anchorCtr="0">
                    <a:lnL>
                      <a:noFill/>
                    </a:lnL>
                    <a:lnR>
                      <a:noFill/>
                    </a:lnR>
                    <a:lnT>
                      <a:noFill/>
                    </a:lnT>
                    <a:lnB w="19050">
                      <a:solidFill>
                        <a:srgbClr val="584E61"/>
                      </a:solidFill>
                      <a:prstDash val="solid"/>
                    </a:lnB>
                    <a:solidFill>
                      <a:srgbClr val="F0EFF2"/>
                    </a:solidFill>
                  </a:tcPr>
                </a:tc>
                <a:tc>
                  <a:txBody>
                    <a:bodyPr/>
                    <a:p>
                      <a:pPr algn="ctr">
                        <a:buNone/>
                      </a:pPr>
                      <a:r>
                        <a:rPr lang="zh-CN" altLang="en-US" sz="1100">
                          <a:solidFill>
                            <a:srgbClr val="584E61"/>
                          </a:solidFill>
                        </a:rPr>
                        <a:t>大于等于</a:t>
                      </a:r>
                      <a:endParaRPr lang="zh-CN" altLang="en-US" sz="1100">
                        <a:solidFill>
                          <a:srgbClr val="584E61"/>
                        </a:solidFill>
                      </a:endParaRPr>
                    </a:p>
                  </a:txBody>
                  <a:tcPr anchor="ctr" anchorCtr="0">
                    <a:lnL>
                      <a:noFill/>
                    </a:lnL>
                    <a:lnR>
                      <a:noFill/>
                    </a:lnR>
                    <a:lnT>
                      <a:noFill/>
                    </a:lnT>
                    <a:lnB w="19050">
                      <a:solidFill>
                        <a:srgbClr val="584E61"/>
                      </a:solidFill>
                      <a:prstDash val="solid"/>
                    </a:lnB>
                    <a:solidFill>
                      <a:srgbClr val="F0EFF2"/>
                    </a:solidFill>
                  </a:tcPr>
                </a:tc>
                <a:tc>
                  <a:txBody>
                    <a:bodyPr/>
                    <a:p>
                      <a:pPr indent="0" algn="ctr" fontAlgn="auto">
                        <a:spcAft>
                          <a:spcPts val="0"/>
                        </a:spcAft>
                      </a:pPr>
                      <a:r>
                        <a:rPr lang="en-US" sz="1100" kern="0">
                          <a:solidFill>
                            <a:srgbClr val="584E61"/>
                          </a:solidFill>
                          <a:effectLst/>
                        </a:rPr>
                        <a:t>4 &gt;= 3</a:t>
                      </a:r>
                      <a:endParaRPr lang="en-US" sz="1100" kern="0">
                        <a:solidFill>
                          <a:srgbClr val="584E61"/>
                        </a:solidFill>
                        <a:effectLst/>
                        <a:latin typeface="Times New Roman" panose="02020503050405090304"/>
                        <a:ea typeface="宋体" pitchFamily="2" charset="-122"/>
                      </a:endParaRPr>
                    </a:p>
                  </a:txBody>
                  <a:tcPr marL="51437" marR="51437" marT="0" marB="0" anchor="ctr" anchorCtr="0">
                    <a:lnL>
                      <a:noFill/>
                    </a:lnL>
                    <a:lnR>
                      <a:noFill/>
                    </a:lnR>
                    <a:lnT>
                      <a:noFill/>
                    </a:lnT>
                    <a:lnB w="19050">
                      <a:solidFill>
                        <a:srgbClr val="584E61"/>
                      </a:solidFill>
                      <a:prstDash val="solid"/>
                    </a:lnB>
                    <a:solidFill>
                      <a:srgbClr val="F0EFF2"/>
                    </a:solidFill>
                  </a:tcPr>
                </a:tc>
                <a:tc>
                  <a:txBody>
                    <a:bodyPr/>
                    <a:p>
                      <a:pPr indent="88265" algn="ctr">
                        <a:spcAft>
                          <a:spcPts val="0"/>
                        </a:spcAft>
                      </a:pPr>
                      <a:r>
                        <a:rPr lang="en-US" sz="1100" kern="0" dirty="0">
                          <a:solidFill>
                            <a:srgbClr val="584E61"/>
                          </a:solidFill>
                          <a:effectLst/>
                        </a:rPr>
                        <a:t>1</a:t>
                      </a:r>
                      <a:endParaRPr lang="en-US" sz="1100" kern="0" dirty="0">
                        <a:solidFill>
                          <a:srgbClr val="584E61"/>
                        </a:solidFill>
                        <a:effectLst/>
                        <a:latin typeface="Times New Roman" panose="02020503050405090304"/>
                        <a:ea typeface="宋体" pitchFamily="2" charset="-122"/>
                      </a:endParaRPr>
                    </a:p>
                  </a:txBody>
                  <a:tcPr marL="51437" marR="51437" marT="0" marB="0" anchor="ctr" anchorCtr="0">
                    <a:lnL>
                      <a:noFill/>
                    </a:lnL>
                    <a:lnR>
                      <a:noFill/>
                    </a:lnR>
                    <a:lnT>
                      <a:noFill/>
                    </a:lnT>
                    <a:lnB w="19050">
                      <a:solidFill>
                        <a:srgbClr val="584E61"/>
                      </a:solidFill>
                      <a:prstDash val="solid"/>
                    </a:lnB>
                    <a:solidFill>
                      <a:srgbClr val="F0EFF2"/>
                    </a:solidFill>
                  </a:tcPr>
                </a:tc>
              </a:tr>
            </a:tbl>
          </a:graphicData>
        </a:graphic>
      </p:graphicFrame>
      <p:sp>
        <p:nvSpPr>
          <p:cNvPr id="3" name="灯片编号占位符 2"/>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bwMode="auto">
          <a:xfrm>
            <a:off x="1485900" y="577454"/>
            <a:ext cx="6172200" cy="429934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Tx/>
              <a:buChar char="•"/>
              <a:defRPr/>
            </a:pPr>
            <a:r>
              <a:rPr kumimoji="0" lang="en-US" altLang="zh-CN" sz="1500" b="1" i="0" u="none" strike="noStrike" kern="0" cap="none" spc="0" normalizeH="0" baseline="0" noProof="0" dirty="0" smtClean="0">
                <a:ln>
                  <a:noFill/>
                </a:ln>
                <a:solidFill>
                  <a:srgbClr val="009ED6"/>
                </a:solidFill>
                <a:effectLst/>
                <a:uLnTx/>
                <a:uFillTx/>
                <a:latin typeface="+mn-lt"/>
                <a:ea typeface="+mn-ea"/>
                <a:cs typeface="+mn-cs"/>
              </a:rPr>
              <a:t>2.4.5   </a:t>
            </a:r>
            <a:r>
              <a:rPr kumimoji="0" lang="zh-CN" altLang="en-US" sz="1500" b="1" i="0" u="none" strike="noStrike" kern="0" cap="none" spc="0" normalizeH="0" baseline="0" noProof="0" dirty="0" smtClean="0">
                <a:ln>
                  <a:noFill/>
                </a:ln>
                <a:solidFill>
                  <a:srgbClr val="009ED6"/>
                </a:solidFill>
                <a:effectLst/>
                <a:uLnTx/>
                <a:uFillTx/>
                <a:latin typeface="+mn-lt"/>
                <a:ea typeface="+mn-ea"/>
                <a:cs typeface="+mn-cs"/>
              </a:rPr>
              <a:t>逻辑运算符</a:t>
            </a:r>
            <a:endParaRPr kumimoji="0" lang="en-US" altLang="zh-CN" sz="1500" b="1" i="0" u="none" strike="noStrike" kern="0" cap="none" spc="0" normalizeH="0" baseline="0" noProof="0" dirty="0" smtClean="0">
              <a:ln>
                <a:noFill/>
              </a:ln>
              <a:solidFill>
                <a:srgbClr val="009ED6"/>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逻辑运算</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符用于判断数据的真假，其结果仍为</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真</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或</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假</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。表</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2-14</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列举了</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C</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语言中的逻辑运算符及其</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范例</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en-US" sz="1050" b="0" i="0" u="none" strike="noStrike" kern="0" cap="none" spc="0" normalizeH="0" baseline="0" noProof="0" dirty="0" smtClean="0">
                <a:ln>
                  <a:noFill/>
                </a:ln>
                <a:solidFill>
                  <a:schemeClr val="tx1"/>
                </a:solidFill>
                <a:effectLst/>
                <a:uLnTx/>
                <a:uFillTx/>
                <a:latin typeface="+mn-lt"/>
                <a:ea typeface="+mn-ea"/>
                <a:cs typeface="+mn-cs"/>
              </a:rPr>
              <a:t>表</a:t>
            </a: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2-14     </a:t>
            </a:r>
            <a:r>
              <a:rPr kumimoji="0" lang="zh-CN" altLang="en-US" sz="1050" b="0" i="0" u="none" strike="noStrike" kern="0" cap="none" spc="0" normalizeH="0" baseline="0" noProof="0" dirty="0" smtClean="0">
                <a:ln>
                  <a:noFill/>
                </a:ln>
                <a:solidFill>
                  <a:schemeClr val="tx1"/>
                </a:solidFill>
                <a:effectLst/>
                <a:uLnTx/>
                <a:uFillTx/>
                <a:latin typeface="+mn-lt"/>
                <a:ea typeface="+mn-ea"/>
                <a:cs typeface="+mn-cs"/>
              </a:rPr>
              <a:t>逻辑运算符</a:t>
            </a: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5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en-US"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p:txBody>
      </p:sp>
      <p:graphicFrame>
        <p:nvGraphicFramePr>
          <p:cNvPr id="2" name="表格 1"/>
          <p:cNvGraphicFramePr>
            <a:graphicFrameLocks noGrp="1"/>
          </p:cNvGraphicFramePr>
          <p:nvPr>
            <p:custDataLst>
              <p:tags r:id="rId1"/>
            </p:custDataLst>
          </p:nvPr>
        </p:nvGraphicFramePr>
        <p:xfrm>
          <a:off x="1760935" y="2134791"/>
          <a:ext cx="5731510" cy="1827530"/>
        </p:xfrm>
        <a:graphic>
          <a:graphicData uri="http://schemas.openxmlformats.org/drawingml/2006/table">
            <a:tbl>
              <a:tblPr/>
              <a:tblGrid>
                <a:gridCol w="995680"/>
                <a:gridCol w="861060"/>
                <a:gridCol w="1183640"/>
                <a:gridCol w="2691130"/>
              </a:tblGrid>
              <a:tr h="304165">
                <a:tc>
                  <a:txBody>
                    <a:bodyPr/>
                    <a:lstStyle/>
                    <a:p>
                      <a:pPr algn="ctr">
                        <a:spcAft>
                          <a:spcPts val="0"/>
                        </a:spcAft>
                      </a:pPr>
                      <a:r>
                        <a:rPr lang="zh-CN" sz="1100" kern="0" dirty="0">
                          <a:solidFill>
                            <a:srgbClr val="584E61"/>
                          </a:solidFill>
                          <a:effectLst/>
                        </a:rPr>
                        <a:t>运算符</a:t>
                      </a:r>
                      <a:endParaRPr lang="zh-CN" sz="1100" kern="0" dirty="0">
                        <a:solidFill>
                          <a:srgbClr val="584E61"/>
                        </a:solidFill>
                        <a:effectLst/>
                        <a:latin typeface="Times New Roman" panose="02020503050405090304"/>
                        <a:ea typeface="宋体" pitchFamily="2" charset="-122"/>
                      </a:endParaRPr>
                    </a:p>
                  </a:txBody>
                  <a:tcPr marL="51432" marR="51432"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algn="ctr">
                        <a:spcAft>
                          <a:spcPts val="0"/>
                        </a:spcAft>
                      </a:pPr>
                      <a:r>
                        <a:rPr lang="zh-CN" sz="1100" kern="0">
                          <a:solidFill>
                            <a:srgbClr val="584E61"/>
                          </a:solidFill>
                          <a:effectLst/>
                        </a:rPr>
                        <a:t>运算</a:t>
                      </a:r>
                      <a:endParaRPr lang="zh-CN"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algn="ctr">
                        <a:spcAft>
                          <a:spcPts val="0"/>
                        </a:spcAft>
                      </a:pPr>
                      <a:r>
                        <a:rPr lang="zh-CN" sz="1100" kern="0">
                          <a:solidFill>
                            <a:srgbClr val="584E61"/>
                          </a:solidFill>
                          <a:effectLst/>
                        </a:rPr>
                        <a:t>范例</a:t>
                      </a:r>
                      <a:endParaRPr lang="zh-CN"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algn="ctr">
                        <a:spcAft>
                          <a:spcPts val="0"/>
                        </a:spcAft>
                      </a:pPr>
                      <a:r>
                        <a:rPr lang="zh-CN" sz="1100" kern="0">
                          <a:solidFill>
                            <a:srgbClr val="584E61"/>
                          </a:solidFill>
                          <a:effectLst/>
                        </a:rPr>
                        <a:t>结果</a:t>
                      </a:r>
                      <a:endParaRPr lang="zh-CN"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w="19050">
                      <a:solidFill>
                        <a:srgbClr val="584E61"/>
                      </a:solidFill>
                      <a:prstDash val="solid"/>
                    </a:lnT>
                    <a:lnB w="19050">
                      <a:solidFill>
                        <a:srgbClr val="584E61"/>
                      </a:solidFill>
                      <a:prstDash val="solid"/>
                    </a:lnB>
                    <a:solidFill>
                      <a:srgbClr val="FFFFFF"/>
                    </a:solidFill>
                  </a:tcPr>
                </a:tc>
              </a:tr>
              <a:tr h="608965">
                <a:tc>
                  <a:txBody>
                    <a:bodyPr/>
                    <a:lstStyle/>
                    <a:p>
                      <a:pPr algn="ctr">
                        <a:lnSpc>
                          <a:spcPct val="200000"/>
                        </a:lnSpc>
                        <a:spcAft>
                          <a:spcPts val="0"/>
                        </a:spcAft>
                      </a:pPr>
                      <a:r>
                        <a:rPr lang="en-US" sz="1100" kern="0">
                          <a:solidFill>
                            <a:srgbClr val="584E61"/>
                          </a:solidFill>
                          <a:effectLst/>
                        </a:rPr>
                        <a:t>!</a:t>
                      </a:r>
                      <a:endParaRPr lang="en-US"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w="19050">
                      <a:solidFill>
                        <a:srgbClr val="584E61"/>
                      </a:solidFill>
                      <a:prstDash val="solid"/>
                    </a:lnT>
                    <a:lnB>
                      <a:noFill/>
                    </a:lnB>
                    <a:solidFill>
                      <a:srgbClr val="FFFFFF"/>
                    </a:solidFill>
                  </a:tcPr>
                </a:tc>
                <a:tc>
                  <a:txBody>
                    <a:bodyPr/>
                    <a:lstStyle/>
                    <a:p>
                      <a:pPr algn="ctr">
                        <a:lnSpc>
                          <a:spcPct val="200000"/>
                        </a:lnSpc>
                        <a:spcAft>
                          <a:spcPts val="0"/>
                        </a:spcAft>
                      </a:pPr>
                      <a:r>
                        <a:rPr lang="zh-CN" sz="1100" kern="0">
                          <a:solidFill>
                            <a:srgbClr val="584E61"/>
                          </a:solidFill>
                          <a:effectLst/>
                        </a:rPr>
                        <a:t>非</a:t>
                      </a:r>
                      <a:endParaRPr lang="zh-CN"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w="19050">
                      <a:solidFill>
                        <a:srgbClr val="584E61"/>
                      </a:solidFill>
                      <a:prstDash val="solid"/>
                    </a:lnT>
                    <a:lnB>
                      <a:noFill/>
                    </a:lnB>
                    <a:solidFill>
                      <a:srgbClr val="FFFFFF"/>
                    </a:solidFill>
                  </a:tcPr>
                </a:tc>
                <a:tc>
                  <a:txBody>
                    <a:bodyPr/>
                    <a:lstStyle/>
                    <a:p>
                      <a:pPr algn="ctr">
                        <a:spcAft>
                          <a:spcPts val="0"/>
                        </a:spcAft>
                      </a:pPr>
                      <a:r>
                        <a:rPr lang="en-US" sz="1100" kern="0" dirty="0">
                          <a:solidFill>
                            <a:srgbClr val="584E61"/>
                          </a:solidFill>
                          <a:effectLst/>
                        </a:rPr>
                        <a:t>!a</a:t>
                      </a:r>
                      <a:endParaRPr lang="en-US" sz="1100" kern="0" dirty="0">
                        <a:solidFill>
                          <a:srgbClr val="584E61"/>
                        </a:solidFill>
                        <a:effectLst/>
                        <a:latin typeface="Times New Roman" panose="02020503050405090304"/>
                        <a:ea typeface="宋体" pitchFamily="2" charset="-122"/>
                      </a:endParaRPr>
                    </a:p>
                  </a:txBody>
                  <a:tcPr marL="51432" marR="51432" marT="0" marB="0" anchor="ctr" anchorCtr="0">
                    <a:lnL>
                      <a:noFill/>
                    </a:lnL>
                    <a:lnR>
                      <a:noFill/>
                    </a:lnR>
                    <a:lnT w="19050">
                      <a:solidFill>
                        <a:srgbClr val="584E61"/>
                      </a:solidFill>
                      <a:prstDash val="solid"/>
                    </a:lnT>
                    <a:lnB>
                      <a:noFill/>
                    </a:lnB>
                    <a:solidFill>
                      <a:srgbClr val="FFFFFF"/>
                    </a:solidFill>
                  </a:tcPr>
                </a:tc>
                <a:tc>
                  <a:txBody>
                    <a:bodyPr/>
                    <a:lstStyle/>
                    <a:p>
                      <a:pPr algn="l">
                        <a:spcAft>
                          <a:spcPts val="0"/>
                        </a:spcAft>
                      </a:pPr>
                      <a:r>
                        <a:rPr lang="zh-CN" sz="1100" kern="0">
                          <a:solidFill>
                            <a:srgbClr val="584E61"/>
                          </a:solidFill>
                          <a:effectLst/>
                        </a:rPr>
                        <a:t>如果</a:t>
                      </a:r>
                      <a:r>
                        <a:rPr lang="en-US" sz="1100" kern="0">
                          <a:solidFill>
                            <a:srgbClr val="584E61"/>
                          </a:solidFill>
                          <a:effectLst/>
                        </a:rPr>
                        <a:t>a</a:t>
                      </a:r>
                      <a:r>
                        <a:rPr lang="zh-CN" sz="1100" kern="0">
                          <a:solidFill>
                            <a:srgbClr val="584E61"/>
                          </a:solidFill>
                          <a:effectLst/>
                        </a:rPr>
                        <a:t>为假，则</a:t>
                      </a:r>
                      <a:r>
                        <a:rPr lang="en-US" sz="1100" kern="0">
                          <a:solidFill>
                            <a:srgbClr val="584E61"/>
                          </a:solidFill>
                          <a:effectLst/>
                        </a:rPr>
                        <a:t>!a</a:t>
                      </a:r>
                      <a:r>
                        <a:rPr lang="zh-CN" sz="1100" kern="0">
                          <a:solidFill>
                            <a:srgbClr val="584E61"/>
                          </a:solidFill>
                          <a:effectLst/>
                        </a:rPr>
                        <a:t>为真；</a:t>
                      </a:r>
                      <a:endParaRPr lang="zh-CN" sz="1100" kern="100">
                        <a:solidFill>
                          <a:srgbClr val="584E61"/>
                        </a:solidFill>
                        <a:effectLst/>
                      </a:endParaRPr>
                    </a:p>
                    <a:p>
                      <a:pPr algn="l">
                        <a:spcAft>
                          <a:spcPts val="0"/>
                        </a:spcAft>
                      </a:pPr>
                      <a:r>
                        <a:rPr lang="zh-CN" sz="1100" kern="0">
                          <a:solidFill>
                            <a:srgbClr val="584E61"/>
                          </a:solidFill>
                          <a:effectLst/>
                        </a:rPr>
                        <a:t>如果</a:t>
                      </a:r>
                      <a:r>
                        <a:rPr lang="en-US" sz="1100" kern="0">
                          <a:solidFill>
                            <a:srgbClr val="584E61"/>
                          </a:solidFill>
                          <a:effectLst/>
                        </a:rPr>
                        <a:t>a</a:t>
                      </a:r>
                      <a:r>
                        <a:rPr lang="zh-CN" sz="1100" kern="0">
                          <a:solidFill>
                            <a:srgbClr val="584E61"/>
                          </a:solidFill>
                          <a:effectLst/>
                        </a:rPr>
                        <a:t>为真，则</a:t>
                      </a:r>
                      <a:r>
                        <a:rPr lang="en-US" sz="1100" kern="0">
                          <a:solidFill>
                            <a:srgbClr val="584E61"/>
                          </a:solidFill>
                          <a:effectLst/>
                        </a:rPr>
                        <a:t>!a</a:t>
                      </a:r>
                      <a:r>
                        <a:rPr lang="zh-CN" sz="1100" kern="0">
                          <a:solidFill>
                            <a:srgbClr val="584E61"/>
                          </a:solidFill>
                          <a:effectLst/>
                        </a:rPr>
                        <a:t>为假</a:t>
                      </a:r>
                      <a:endParaRPr lang="zh-CN"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w="19050">
                      <a:solidFill>
                        <a:srgbClr val="584E61"/>
                      </a:solidFill>
                      <a:prstDash val="solid"/>
                    </a:lnT>
                    <a:lnB>
                      <a:noFill/>
                    </a:lnB>
                    <a:solidFill>
                      <a:srgbClr val="FFFFFF"/>
                    </a:solidFill>
                  </a:tcPr>
                </a:tc>
              </a:tr>
              <a:tr h="305435">
                <a:tc>
                  <a:txBody>
                    <a:bodyPr/>
                    <a:lstStyle/>
                    <a:p>
                      <a:pPr algn="ctr">
                        <a:spcAft>
                          <a:spcPts val="0"/>
                        </a:spcAft>
                      </a:pPr>
                      <a:r>
                        <a:rPr lang="en-US" sz="1100" kern="0">
                          <a:solidFill>
                            <a:srgbClr val="584E61"/>
                          </a:solidFill>
                          <a:effectLst/>
                        </a:rPr>
                        <a:t>&amp;&amp;</a:t>
                      </a:r>
                      <a:endParaRPr lang="en-US"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a:noFill/>
                    </a:lnT>
                    <a:lnB>
                      <a:noFill/>
                    </a:lnB>
                    <a:solidFill>
                      <a:srgbClr val="F0EFF2"/>
                    </a:solidFill>
                  </a:tcPr>
                </a:tc>
                <a:tc>
                  <a:txBody>
                    <a:bodyPr/>
                    <a:lstStyle/>
                    <a:p>
                      <a:pPr algn="ctr">
                        <a:spcAft>
                          <a:spcPts val="0"/>
                        </a:spcAft>
                      </a:pPr>
                      <a:r>
                        <a:rPr lang="zh-CN" sz="1100" kern="0">
                          <a:solidFill>
                            <a:srgbClr val="584E61"/>
                          </a:solidFill>
                          <a:effectLst/>
                        </a:rPr>
                        <a:t>与</a:t>
                      </a:r>
                      <a:endParaRPr lang="zh-CN"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a:noFill/>
                    </a:lnT>
                    <a:lnB>
                      <a:noFill/>
                    </a:lnB>
                    <a:solidFill>
                      <a:srgbClr val="F0EFF2"/>
                    </a:solidFill>
                  </a:tcPr>
                </a:tc>
                <a:tc>
                  <a:txBody>
                    <a:bodyPr/>
                    <a:lstStyle/>
                    <a:p>
                      <a:pPr algn="ctr">
                        <a:spcAft>
                          <a:spcPts val="0"/>
                        </a:spcAft>
                      </a:pPr>
                      <a:r>
                        <a:rPr lang="en-US" sz="1100" kern="0">
                          <a:solidFill>
                            <a:srgbClr val="584E61"/>
                          </a:solidFill>
                          <a:effectLst/>
                        </a:rPr>
                        <a:t>a&amp;&amp;b</a:t>
                      </a:r>
                      <a:endParaRPr lang="en-US"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a:noFill/>
                    </a:lnT>
                    <a:lnB>
                      <a:noFill/>
                    </a:lnB>
                    <a:solidFill>
                      <a:srgbClr val="F0EFF2"/>
                    </a:solidFill>
                  </a:tcPr>
                </a:tc>
                <a:tc>
                  <a:txBody>
                    <a:bodyPr/>
                    <a:lstStyle/>
                    <a:p>
                      <a:pPr algn="l">
                        <a:spcAft>
                          <a:spcPts val="0"/>
                        </a:spcAft>
                      </a:pPr>
                      <a:r>
                        <a:rPr lang="zh-CN" sz="1100" kern="0">
                          <a:solidFill>
                            <a:srgbClr val="584E61"/>
                          </a:solidFill>
                          <a:effectLst/>
                        </a:rPr>
                        <a:t>如果</a:t>
                      </a:r>
                      <a:r>
                        <a:rPr lang="en-US" sz="1100" kern="0">
                          <a:solidFill>
                            <a:srgbClr val="584E61"/>
                          </a:solidFill>
                          <a:effectLst/>
                        </a:rPr>
                        <a:t>a</a:t>
                      </a:r>
                      <a:r>
                        <a:rPr lang="zh-CN" sz="1100" kern="0">
                          <a:solidFill>
                            <a:srgbClr val="584E61"/>
                          </a:solidFill>
                          <a:effectLst/>
                        </a:rPr>
                        <a:t>和</a:t>
                      </a:r>
                      <a:r>
                        <a:rPr lang="en-US" sz="1100" kern="0">
                          <a:solidFill>
                            <a:srgbClr val="584E61"/>
                          </a:solidFill>
                          <a:effectLst/>
                        </a:rPr>
                        <a:t>b</a:t>
                      </a:r>
                      <a:r>
                        <a:rPr lang="zh-CN" sz="1100" kern="0">
                          <a:solidFill>
                            <a:srgbClr val="584E61"/>
                          </a:solidFill>
                          <a:effectLst/>
                        </a:rPr>
                        <a:t>都为真，则结果为真否则为假</a:t>
                      </a:r>
                      <a:endParaRPr lang="zh-CN"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a:noFill/>
                    </a:lnT>
                    <a:lnB>
                      <a:noFill/>
                    </a:lnB>
                    <a:solidFill>
                      <a:srgbClr val="F0EFF2"/>
                    </a:solidFill>
                  </a:tcPr>
                </a:tc>
              </a:tr>
              <a:tr h="608965">
                <a:tc>
                  <a:txBody>
                    <a:bodyPr/>
                    <a:lstStyle/>
                    <a:p>
                      <a:pPr algn="ctr">
                        <a:spcAft>
                          <a:spcPts val="0"/>
                        </a:spcAft>
                      </a:pPr>
                      <a:r>
                        <a:rPr lang="en-US" sz="1100" kern="0">
                          <a:solidFill>
                            <a:srgbClr val="584E61"/>
                          </a:solidFill>
                          <a:effectLst/>
                        </a:rPr>
                        <a:t>||</a:t>
                      </a:r>
                      <a:endParaRPr lang="en-US"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a:noFill/>
                    </a:lnT>
                    <a:lnB w="19050">
                      <a:solidFill>
                        <a:srgbClr val="584E61"/>
                      </a:solidFill>
                      <a:prstDash val="solid"/>
                    </a:lnB>
                    <a:solidFill>
                      <a:srgbClr val="FFFFFF"/>
                    </a:solidFill>
                  </a:tcPr>
                </a:tc>
                <a:tc>
                  <a:txBody>
                    <a:bodyPr/>
                    <a:lstStyle/>
                    <a:p>
                      <a:pPr algn="ctr">
                        <a:spcAft>
                          <a:spcPts val="0"/>
                        </a:spcAft>
                      </a:pPr>
                      <a:r>
                        <a:rPr lang="zh-CN" sz="1100" kern="0">
                          <a:solidFill>
                            <a:srgbClr val="584E61"/>
                          </a:solidFill>
                          <a:effectLst/>
                        </a:rPr>
                        <a:t>或</a:t>
                      </a:r>
                      <a:endParaRPr lang="zh-CN"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a:noFill/>
                    </a:lnT>
                    <a:lnB w="19050">
                      <a:solidFill>
                        <a:srgbClr val="584E61"/>
                      </a:solidFill>
                      <a:prstDash val="solid"/>
                    </a:lnB>
                    <a:solidFill>
                      <a:srgbClr val="FFFFFF"/>
                    </a:solidFill>
                  </a:tcPr>
                </a:tc>
                <a:tc>
                  <a:txBody>
                    <a:bodyPr/>
                    <a:lstStyle/>
                    <a:p>
                      <a:pPr algn="ctr">
                        <a:spcAft>
                          <a:spcPts val="0"/>
                        </a:spcAft>
                      </a:pPr>
                      <a:r>
                        <a:rPr lang="en-US" sz="1100" kern="0" dirty="0">
                          <a:solidFill>
                            <a:srgbClr val="584E61"/>
                          </a:solidFill>
                          <a:effectLst/>
                        </a:rPr>
                        <a:t>a|| b</a:t>
                      </a:r>
                      <a:endParaRPr lang="en-US" sz="1100" kern="0" dirty="0">
                        <a:solidFill>
                          <a:srgbClr val="584E61"/>
                        </a:solidFill>
                        <a:effectLst/>
                        <a:latin typeface="Times New Roman" panose="02020503050405090304"/>
                        <a:ea typeface="宋体" pitchFamily="2" charset="-122"/>
                      </a:endParaRPr>
                    </a:p>
                  </a:txBody>
                  <a:tcPr marL="51432" marR="51432" marT="0" marB="0" anchor="ctr" anchorCtr="0">
                    <a:lnL>
                      <a:noFill/>
                    </a:lnL>
                    <a:lnR>
                      <a:noFill/>
                    </a:lnR>
                    <a:lnT>
                      <a:noFill/>
                    </a:lnT>
                    <a:lnB w="19050">
                      <a:solidFill>
                        <a:srgbClr val="584E61"/>
                      </a:solidFill>
                      <a:prstDash val="solid"/>
                    </a:lnB>
                    <a:solidFill>
                      <a:srgbClr val="FFFFFF"/>
                    </a:solidFill>
                  </a:tcPr>
                </a:tc>
                <a:tc>
                  <a:txBody>
                    <a:bodyPr/>
                    <a:lstStyle/>
                    <a:p>
                      <a:pPr algn="l">
                        <a:spcAft>
                          <a:spcPts val="0"/>
                        </a:spcAft>
                      </a:pPr>
                      <a:r>
                        <a:rPr lang="zh-CN" sz="1100" kern="0" dirty="0">
                          <a:solidFill>
                            <a:srgbClr val="584E61"/>
                          </a:solidFill>
                          <a:effectLst/>
                        </a:rPr>
                        <a:t>如果</a:t>
                      </a:r>
                      <a:r>
                        <a:rPr lang="en-US" sz="1100" kern="0" dirty="0">
                          <a:solidFill>
                            <a:srgbClr val="584E61"/>
                          </a:solidFill>
                          <a:effectLst/>
                        </a:rPr>
                        <a:t>a</a:t>
                      </a:r>
                      <a:r>
                        <a:rPr lang="zh-CN" sz="1100" kern="0" dirty="0">
                          <a:solidFill>
                            <a:srgbClr val="584E61"/>
                          </a:solidFill>
                          <a:effectLst/>
                        </a:rPr>
                        <a:t>和</a:t>
                      </a:r>
                      <a:r>
                        <a:rPr lang="en-US" sz="1100" kern="0" dirty="0">
                          <a:solidFill>
                            <a:srgbClr val="584E61"/>
                          </a:solidFill>
                          <a:effectLst/>
                        </a:rPr>
                        <a:t>b</a:t>
                      </a:r>
                      <a:r>
                        <a:rPr lang="zh-CN" sz="1100" kern="0" dirty="0">
                          <a:solidFill>
                            <a:srgbClr val="584E61"/>
                          </a:solidFill>
                          <a:effectLst/>
                        </a:rPr>
                        <a:t>有一个或以上为真，则结</a:t>
                      </a:r>
                      <a:endParaRPr lang="zh-CN" sz="1100" kern="100" dirty="0">
                        <a:solidFill>
                          <a:srgbClr val="584E61"/>
                        </a:solidFill>
                        <a:effectLst/>
                      </a:endParaRPr>
                    </a:p>
                    <a:p>
                      <a:pPr algn="l">
                        <a:spcAft>
                          <a:spcPts val="0"/>
                        </a:spcAft>
                      </a:pPr>
                      <a:r>
                        <a:rPr lang="zh-CN" sz="1100" kern="0" dirty="0">
                          <a:solidFill>
                            <a:srgbClr val="584E61"/>
                          </a:solidFill>
                          <a:effectLst/>
                        </a:rPr>
                        <a:t>果为真，二者都为假时，结果为假</a:t>
                      </a:r>
                      <a:endParaRPr lang="zh-CN" sz="1100" kern="0" dirty="0">
                        <a:solidFill>
                          <a:srgbClr val="584E61"/>
                        </a:solidFill>
                        <a:effectLst/>
                        <a:latin typeface="Times New Roman" panose="02020503050405090304"/>
                        <a:ea typeface="宋体" pitchFamily="2" charset="-122"/>
                      </a:endParaRPr>
                    </a:p>
                  </a:txBody>
                  <a:tcPr marL="51432" marR="51432" marT="0" marB="0" anchor="ctr" anchorCtr="0">
                    <a:lnL>
                      <a:noFill/>
                    </a:lnL>
                    <a:lnR>
                      <a:noFill/>
                    </a:lnR>
                    <a:lnT>
                      <a:noFill/>
                    </a:lnT>
                    <a:lnB w="19050">
                      <a:solidFill>
                        <a:srgbClr val="584E61"/>
                      </a:solidFill>
                      <a:prstDash val="solid"/>
                    </a:lnB>
                    <a:solidFill>
                      <a:srgbClr val="FFFFFF"/>
                    </a:solidFill>
                  </a:tcPr>
                </a:tc>
              </a:tr>
            </a:tbl>
          </a:graphicData>
        </a:graphic>
      </p:graphicFrame>
      <p:sp>
        <p:nvSpPr>
          <p:cNvPr id="3" name="标题 1"/>
          <p:cNvSpPr>
            <a:spLocks noGrp="1"/>
          </p:cNvSpPr>
          <p:nvPr>
            <p:custDataLst>
              <p:tags r:id="rId2"/>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2.4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运算符</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5" name="内容占位符 2"/>
          <p:cNvSpPr>
            <a:spLocks noGrp="1"/>
          </p:cNvSpPr>
          <p:nvPr>
            <p:ph idx="1"/>
          </p:nvPr>
        </p:nvSpPr>
        <p:spPr>
          <a:xfrm>
            <a:off x="1485900" y="670322"/>
            <a:ext cx="6172200" cy="4299347"/>
          </a:xfrm>
          <a:noFill/>
          <a:ln>
            <a:noFill/>
          </a:ln>
        </p:spPr>
        <p:txBody>
          <a:bodyPr/>
          <a:p>
            <a:pPr marL="0" indent="0">
              <a:buNone/>
            </a:pPr>
            <a:r>
              <a:rPr lang="zh-CN" altLang="zh-CN" sz="1500" dirty="0">
                <a:latin typeface="+mn-lt"/>
                <a:ea typeface="+mn-ea"/>
                <a:cs typeface="+mn-cs"/>
              </a:rPr>
              <a:t>当使用逻辑运算符时，有一些细节需要注意，具体如下</a:t>
            </a:r>
            <a:r>
              <a:rPr lang="zh-CN" altLang="en-US" sz="1500" dirty="0">
                <a:latin typeface="+mn-lt"/>
                <a:ea typeface="+mn-ea"/>
                <a:cs typeface="+mn-cs"/>
              </a:rPr>
              <a:t>：</a:t>
            </a:r>
            <a:endParaRPr lang="en-US" altLang="zh-CN" sz="1500" dirty="0">
              <a:latin typeface="+mn-lt"/>
              <a:ea typeface="+mn-ea"/>
              <a:cs typeface="+mn-cs"/>
            </a:endParaRPr>
          </a:p>
          <a:p>
            <a:pPr marL="0" indent="0">
              <a:buNone/>
            </a:pPr>
            <a:r>
              <a:rPr lang="en-US" altLang="zh-CN" sz="1500" dirty="0">
                <a:latin typeface="+mn-lt"/>
                <a:ea typeface="+mn-ea"/>
                <a:cs typeface="+mn-cs"/>
              </a:rPr>
              <a:t>1. </a:t>
            </a:r>
            <a:r>
              <a:rPr lang="zh-CN" altLang="zh-CN" sz="1500" dirty="0">
                <a:latin typeface="+mn-lt"/>
                <a:ea typeface="+mn-ea"/>
                <a:cs typeface="+mn-cs"/>
              </a:rPr>
              <a:t>逻辑表达式中可以包含多个逻辑运算符，例如，</a:t>
            </a:r>
            <a:r>
              <a:rPr lang="en-US" altLang="zh-CN" sz="1500" dirty="0">
                <a:latin typeface="+mn-lt"/>
                <a:ea typeface="+mn-ea"/>
                <a:cs typeface="+mn-cs"/>
              </a:rPr>
              <a:t>!a||a&gt;b</a:t>
            </a:r>
            <a:r>
              <a:rPr lang="zh-CN" altLang="en-US" sz="1500" dirty="0">
                <a:latin typeface="+mn-lt"/>
                <a:ea typeface="+mn-ea"/>
                <a:cs typeface="+mn-cs"/>
              </a:rPr>
              <a:t>；</a:t>
            </a:r>
            <a:endParaRPr lang="en-US" altLang="zh-CN" sz="1500" dirty="0">
              <a:latin typeface="+mn-lt"/>
              <a:ea typeface="+mn-ea"/>
              <a:cs typeface="+mn-cs"/>
            </a:endParaRPr>
          </a:p>
          <a:p>
            <a:pPr marL="0" indent="0">
              <a:buNone/>
            </a:pPr>
            <a:r>
              <a:rPr lang="en-US" altLang="zh-CN" sz="1500" dirty="0">
                <a:latin typeface="+mn-lt"/>
                <a:ea typeface="+mn-ea"/>
                <a:cs typeface="+mn-cs"/>
              </a:rPr>
              <a:t>2. </a:t>
            </a:r>
            <a:r>
              <a:rPr lang="zh-CN" altLang="zh-CN" sz="1500" dirty="0">
                <a:latin typeface="+mn-lt"/>
                <a:ea typeface="+mn-ea"/>
                <a:cs typeface="+mn-cs"/>
              </a:rPr>
              <a:t>三种逻辑运算符的优先级从高到低依次为：</a:t>
            </a:r>
            <a:r>
              <a:rPr lang="en-US" altLang="zh-CN" sz="1500" dirty="0">
                <a:latin typeface="+mn-lt"/>
                <a:ea typeface="+mn-ea"/>
                <a:cs typeface="+mn-cs"/>
              </a:rPr>
              <a:t>!</a:t>
            </a:r>
            <a:r>
              <a:rPr lang="zh-CN" altLang="zh-CN" sz="1500" dirty="0">
                <a:latin typeface="+mn-lt"/>
                <a:ea typeface="+mn-ea"/>
                <a:cs typeface="+mn-cs"/>
              </a:rPr>
              <a:t>、</a:t>
            </a:r>
            <a:r>
              <a:rPr lang="en-US" altLang="zh-CN" sz="1500" dirty="0">
                <a:latin typeface="+mn-lt"/>
                <a:ea typeface="+mn-ea"/>
                <a:cs typeface="+mn-cs"/>
              </a:rPr>
              <a:t>&amp;&amp;</a:t>
            </a:r>
            <a:r>
              <a:rPr lang="zh-CN" altLang="zh-CN" sz="1500" dirty="0">
                <a:latin typeface="+mn-lt"/>
                <a:ea typeface="+mn-ea"/>
                <a:cs typeface="+mn-cs"/>
              </a:rPr>
              <a:t>、</a:t>
            </a:r>
            <a:r>
              <a:rPr lang="en-US" altLang="zh-CN" sz="1500" dirty="0">
                <a:latin typeface="+mn-lt"/>
                <a:ea typeface="+mn-ea"/>
                <a:cs typeface="+mn-cs"/>
              </a:rPr>
              <a:t>||</a:t>
            </a:r>
            <a:r>
              <a:rPr lang="zh-CN" altLang="en-US" sz="1500" dirty="0">
                <a:latin typeface="+mn-lt"/>
                <a:ea typeface="+mn-ea"/>
                <a:cs typeface="+mn-cs"/>
              </a:rPr>
              <a:t>；</a:t>
            </a:r>
            <a:endParaRPr lang="en-US" altLang="zh-CN" sz="1500" dirty="0">
              <a:latin typeface="+mn-lt"/>
              <a:ea typeface="+mn-ea"/>
              <a:cs typeface="+mn-cs"/>
            </a:endParaRPr>
          </a:p>
          <a:p>
            <a:pPr marL="0" indent="0">
              <a:buNone/>
            </a:pPr>
            <a:r>
              <a:rPr lang="en-US" altLang="zh-CN" sz="1500" dirty="0">
                <a:latin typeface="+mn-lt"/>
                <a:ea typeface="+mn-ea"/>
                <a:cs typeface="+mn-cs"/>
              </a:rPr>
              <a:t>3. </a:t>
            </a:r>
            <a:r>
              <a:rPr lang="zh-CN" altLang="zh-CN" sz="1500" dirty="0">
                <a:latin typeface="+mn-lt"/>
                <a:ea typeface="+mn-ea"/>
                <a:cs typeface="+mn-cs"/>
              </a:rPr>
              <a:t>运算符</a:t>
            </a:r>
            <a:r>
              <a:rPr lang="en-US" altLang="zh-CN" sz="1500" dirty="0">
                <a:latin typeface="+mn-lt"/>
                <a:ea typeface="+mn-ea"/>
                <a:cs typeface="+mn-cs"/>
              </a:rPr>
              <a:t>“&amp;&amp;”</a:t>
            </a:r>
            <a:r>
              <a:rPr lang="zh-CN" altLang="zh-CN" sz="1500" dirty="0">
                <a:latin typeface="+mn-lt"/>
                <a:ea typeface="+mn-ea"/>
                <a:cs typeface="+mn-cs"/>
              </a:rPr>
              <a:t>表示与操作，当且仅当运算符两边的表达式结果都为真时，其结果才为真，否则结果为假。如果左边为假，那么右边表达式是不会进行运算的</a:t>
            </a:r>
            <a:r>
              <a:rPr lang="zh-CN" altLang="en-US" sz="1500" dirty="0">
                <a:latin typeface="+mn-lt"/>
                <a:ea typeface="+mn-ea"/>
                <a:cs typeface="+mn-cs"/>
              </a:rPr>
              <a:t>；</a:t>
            </a:r>
            <a:endParaRPr lang="en-US" altLang="zh-CN" sz="1500" dirty="0">
              <a:latin typeface="+mn-lt"/>
              <a:ea typeface="+mn-ea"/>
              <a:cs typeface="+mn-cs"/>
            </a:endParaRPr>
          </a:p>
          <a:p>
            <a:pPr marL="0" indent="0">
              <a:buNone/>
            </a:pPr>
            <a:r>
              <a:rPr lang="en-US" altLang="zh-CN" sz="1500" dirty="0">
                <a:latin typeface="+mn-lt"/>
                <a:ea typeface="+mn-ea"/>
                <a:cs typeface="+mn-cs"/>
              </a:rPr>
              <a:t>4. </a:t>
            </a:r>
            <a:r>
              <a:rPr lang="zh-CN" altLang="zh-CN" sz="1500" dirty="0">
                <a:latin typeface="+mn-lt"/>
                <a:ea typeface="+mn-ea"/>
                <a:cs typeface="+mn-cs"/>
              </a:rPr>
              <a:t>运算符“</a:t>
            </a:r>
            <a:r>
              <a:rPr lang="en-US" altLang="zh-CN" sz="1500" dirty="0">
                <a:latin typeface="+mn-lt"/>
                <a:ea typeface="+mn-ea"/>
                <a:cs typeface="+mn-cs"/>
              </a:rPr>
              <a:t>||</a:t>
            </a:r>
            <a:r>
              <a:rPr lang="zh-CN" altLang="zh-CN" sz="1500" dirty="0">
                <a:latin typeface="+mn-lt"/>
                <a:ea typeface="+mn-ea"/>
                <a:cs typeface="+mn-cs"/>
              </a:rPr>
              <a:t>”表示或操作，当且仅当运算符两边的表达式结果都为假时，其结果为假。同</a:t>
            </a:r>
            <a:r>
              <a:rPr lang="en-US" altLang="zh-CN" sz="1500" dirty="0">
                <a:latin typeface="+mn-lt"/>
                <a:ea typeface="+mn-ea"/>
                <a:cs typeface="+mn-cs"/>
              </a:rPr>
              <a:t>“&amp;&amp;”</a:t>
            </a:r>
            <a:r>
              <a:rPr lang="zh-CN" altLang="zh-CN" sz="1500" dirty="0">
                <a:latin typeface="+mn-lt"/>
                <a:ea typeface="+mn-ea"/>
                <a:cs typeface="+mn-cs"/>
              </a:rPr>
              <a:t>运算符类似，如果运算符</a:t>
            </a:r>
            <a:r>
              <a:rPr lang="en-US" altLang="zh-CN" sz="1500" dirty="0">
                <a:latin typeface="+mn-lt"/>
                <a:ea typeface="+mn-ea"/>
                <a:cs typeface="+mn-cs"/>
              </a:rPr>
              <a:t>“||”</a:t>
            </a:r>
            <a:r>
              <a:rPr lang="zh-CN" altLang="zh-CN" sz="1500" dirty="0">
                <a:latin typeface="+mn-lt"/>
                <a:ea typeface="+mn-ea"/>
                <a:cs typeface="+mn-cs"/>
              </a:rPr>
              <a:t>左边操作数的结果为真，右边表达式是不会进行运算的</a:t>
            </a:r>
            <a:r>
              <a:rPr lang="zh-CN" altLang="en-US" sz="1500" dirty="0">
                <a:latin typeface="+mn-lt"/>
                <a:ea typeface="+mn-ea"/>
                <a:cs typeface="+mn-cs"/>
              </a:rPr>
              <a:t>；</a:t>
            </a:r>
            <a:endParaRPr lang="en-US" altLang="zh-CN" sz="1500" dirty="0">
              <a:latin typeface="+mn-lt"/>
              <a:ea typeface="+mn-ea"/>
              <a:cs typeface="+mn-cs"/>
            </a:endParaRPr>
          </a:p>
          <a:p>
            <a:pPr marL="0" indent="0">
              <a:buNone/>
            </a:pPr>
            <a:endParaRPr lang="en-US" altLang="zh-CN" sz="1050" dirty="0">
              <a:latin typeface="+mn-lt"/>
              <a:ea typeface="+mn-ea"/>
              <a:cs typeface="+mn-cs"/>
            </a:endParaRPr>
          </a:p>
          <a:p>
            <a:pPr marL="0" indent="0">
              <a:buNone/>
            </a:pPr>
            <a:endParaRPr lang="en-US" altLang="zh-CN" dirty="0">
              <a:latin typeface="+mn-lt"/>
              <a:ea typeface="+mn-ea"/>
              <a:cs typeface="+mn-cs"/>
            </a:endParaRPr>
          </a:p>
          <a:p>
            <a:pPr marL="0" indent="0">
              <a:buNone/>
            </a:pPr>
            <a:r>
              <a:rPr lang="en-US" altLang="zh-CN" dirty="0">
                <a:latin typeface="+mn-lt"/>
                <a:ea typeface="+mn-ea"/>
                <a:cs typeface="+mn-cs"/>
              </a:rPr>
              <a:t>      </a:t>
            </a:r>
            <a:endParaRPr lang="zh-CN" altLang="en-US" dirty="0">
              <a:latin typeface="+mn-lt"/>
              <a:ea typeface="+mn-ea"/>
              <a:cs typeface="+mn-cs"/>
            </a:endParaRPr>
          </a:p>
          <a:p>
            <a:pPr marL="0" indent="0">
              <a:buNone/>
            </a:pPr>
            <a:endParaRPr lang="en-US" altLang="zh-CN" dirty="0">
              <a:latin typeface="+mn-lt"/>
              <a:ea typeface="+mn-ea"/>
              <a:cs typeface="+mn-cs"/>
            </a:endParaRPr>
          </a:p>
          <a:p>
            <a:pPr marL="457200" lvl="1" indent="0">
              <a:buNone/>
            </a:pPr>
            <a:endParaRPr lang="en-US" altLang="zh-CN" dirty="0">
              <a:latin typeface="+mn-lt"/>
              <a:ea typeface="+mn-ea"/>
            </a:endParaRPr>
          </a:p>
        </p:txBody>
      </p:sp>
      <p:sp>
        <p:nvSpPr>
          <p:cNvPr id="3" name="标题 1"/>
          <p:cNvSpPr>
            <a:spLocks noGrp="1"/>
          </p:cNvSpPr>
          <p:nvPr>
            <p:custDataLst>
              <p:tags r:id="rId1"/>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2.4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运算符</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2" name="灯片编号占位符 1"/>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bwMode="auto">
          <a:xfrm>
            <a:off x="1485900" y="577454"/>
            <a:ext cx="6172200" cy="429934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Tx/>
              <a:buChar char="•"/>
              <a:defRPr/>
            </a:pPr>
            <a:r>
              <a:rPr kumimoji="0" lang="en-US" altLang="zh-CN" sz="1500" b="1" i="0" u="none" strike="noStrike" kern="0" cap="none" spc="0" normalizeH="0" baseline="0" noProof="0" dirty="0" smtClean="0">
                <a:ln>
                  <a:noFill/>
                </a:ln>
                <a:solidFill>
                  <a:srgbClr val="009ED6"/>
                </a:solidFill>
                <a:effectLst/>
                <a:uLnTx/>
                <a:uFillTx/>
                <a:latin typeface="+mn-lt"/>
                <a:ea typeface="+mn-ea"/>
                <a:cs typeface="+mn-cs"/>
              </a:rPr>
              <a:t>2.4.6   </a:t>
            </a:r>
            <a:r>
              <a:rPr kumimoji="0" lang="zh-CN" altLang="en-US" sz="1500" b="1" i="0" u="none" strike="noStrike" kern="0" cap="none" spc="0" normalizeH="0" baseline="0" noProof="0" dirty="0" smtClean="0">
                <a:ln>
                  <a:noFill/>
                </a:ln>
                <a:solidFill>
                  <a:srgbClr val="009ED6"/>
                </a:solidFill>
                <a:effectLst/>
                <a:uLnTx/>
                <a:uFillTx/>
                <a:latin typeface="+mn-lt"/>
                <a:ea typeface="+mn-ea"/>
                <a:cs typeface="+mn-cs"/>
              </a:rPr>
              <a:t>位运算符</a:t>
            </a:r>
            <a:endParaRPr kumimoji="0" lang="en-US" altLang="zh-CN" sz="1500" b="1" i="0" u="none" strike="noStrike" kern="0" cap="none" spc="0" normalizeH="0" baseline="0" noProof="0" dirty="0" smtClean="0">
              <a:ln>
                <a:noFill/>
              </a:ln>
              <a:solidFill>
                <a:srgbClr val="009ED6"/>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位</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运算符是针对二进制数的每一位进行运算的符号，它是专门针对数字</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0</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和</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1</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进行操作的。</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C </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语言中的位运算符及其范例如表</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2-15</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所</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示</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a:ln>
                  <a:noFill/>
                </a:ln>
                <a:solidFill>
                  <a:schemeClr val="tx1"/>
                </a:solidFill>
                <a:effectLst/>
                <a:uLnTx/>
                <a:uFillTx/>
                <a:latin typeface="+mn-lt"/>
                <a:ea typeface="+mn-ea"/>
                <a:cs typeface="+mn-cs"/>
              </a:rPr>
              <a:t> </a:t>
            </a: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en-US" sz="1050" b="0" i="0" u="none" strike="noStrike" kern="0" cap="none" spc="0" normalizeH="0" baseline="0" noProof="0" dirty="0" smtClean="0">
                <a:ln>
                  <a:noFill/>
                </a:ln>
                <a:solidFill>
                  <a:schemeClr val="tx1"/>
                </a:solidFill>
                <a:effectLst/>
                <a:uLnTx/>
                <a:uFillTx/>
                <a:latin typeface="+mn-lt"/>
                <a:ea typeface="+mn-ea"/>
                <a:cs typeface="+mn-cs"/>
              </a:rPr>
              <a:t>表</a:t>
            </a: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2-15   </a:t>
            </a:r>
            <a:r>
              <a:rPr kumimoji="0" lang="zh-CN" altLang="en-US" sz="1050" b="0" i="0" u="none" strike="noStrike" kern="0" cap="none" spc="0" normalizeH="0" baseline="0" noProof="0" dirty="0" smtClean="0">
                <a:ln>
                  <a:noFill/>
                </a:ln>
                <a:solidFill>
                  <a:schemeClr val="tx1"/>
                </a:solidFill>
                <a:effectLst/>
                <a:uLnTx/>
                <a:uFillTx/>
                <a:latin typeface="+mn-lt"/>
                <a:ea typeface="+mn-ea"/>
                <a:cs typeface="+mn-cs"/>
              </a:rPr>
              <a:t>位运算符</a:t>
            </a: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en-US"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p:txBody>
      </p:sp>
      <p:sp>
        <p:nvSpPr>
          <p:cNvPr id="3" name="标题 1"/>
          <p:cNvSpPr>
            <a:spLocks noGrp="1"/>
          </p:cNvSpPr>
          <p:nvPr>
            <p:custDataLst>
              <p:tags r:id="rId1"/>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2.4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运算符</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graphicFrame>
        <p:nvGraphicFramePr>
          <p:cNvPr id="4" name="表格 3"/>
          <p:cNvGraphicFramePr/>
          <p:nvPr>
            <p:custDataLst>
              <p:tags r:id="rId2"/>
            </p:custDataLst>
          </p:nvPr>
        </p:nvGraphicFramePr>
        <p:xfrm>
          <a:off x="1293495" y="1692910"/>
          <a:ext cx="7674610" cy="3450590"/>
        </p:xfrm>
        <a:graphic>
          <a:graphicData uri="http://schemas.openxmlformats.org/drawingml/2006/table">
            <a:tbl>
              <a:tblPr firstRow="1" bandRow="1"/>
              <a:tblGrid>
                <a:gridCol w="969198"/>
                <a:gridCol w="969198"/>
                <a:gridCol w="2558012"/>
                <a:gridCol w="2061237"/>
              </a:tblGrid>
              <a:tr h="181610">
                <a:tc>
                  <a:txBody>
                    <a:bodyPr/>
                    <a:p>
                      <a:pPr algn="ctr">
                        <a:spcAft>
                          <a:spcPts val="0"/>
                        </a:spcAft>
                        <a:buNone/>
                      </a:pPr>
                      <a:endParaRPr lang="zh-CN" altLang="en-US"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p>
                      <a:pPr algn="ctr">
                        <a:spcAft>
                          <a:spcPts val="0"/>
                        </a:spcAft>
                      </a:pPr>
                      <a:r>
                        <a:rPr lang="zh-CN" sz="800" kern="0">
                          <a:solidFill>
                            <a:srgbClr val="584E61"/>
                          </a:solidFill>
                          <a:effectLst/>
                        </a:rPr>
                        <a:t>运算</a:t>
                      </a:r>
                      <a:endParaRPr lang="zh-CN"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p>
                      <a:pPr algn="ctr">
                        <a:spcAft>
                          <a:spcPts val="0"/>
                        </a:spcAft>
                      </a:pPr>
                      <a:r>
                        <a:rPr lang="zh-CN" sz="800" kern="0">
                          <a:solidFill>
                            <a:srgbClr val="584E61"/>
                          </a:solidFill>
                          <a:effectLst/>
                        </a:rPr>
                        <a:t>范例</a:t>
                      </a:r>
                      <a:endParaRPr lang="zh-CN"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p>
                      <a:pPr algn="ctr">
                        <a:spcAft>
                          <a:spcPts val="0"/>
                        </a:spcAft>
                      </a:pPr>
                      <a:r>
                        <a:rPr lang="zh-CN" sz="800" kern="0">
                          <a:solidFill>
                            <a:srgbClr val="584E61"/>
                          </a:solidFill>
                          <a:effectLst/>
                        </a:rPr>
                        <a:t>结果</a:t>
                      </a:r>
                      <a:endParaRPr lang="zh-CN"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w="19050">
                      <a:solidFill>
                        <a:srgbClr val="584E61"/>
                      </a:solidFill>
                      <a:prstDash val="solid"/>
                    </a:lnT>
                    <a:lnB w="19050">
                      <a:solidFill>
                        <a:srgbClr val="584E61"/>
                      </a:solidFill>
                      <a:prstDash val="solid"/>
                    </a:lnB>
                    <a:solidFill>
                      <a:srgbClr val="FFFFFF"/>
                    </a:solidFill>
                  </a:tcPr>
                </a:tc>
              </a:tr>
              <a:tr h="181610">
                <a:tc rowSpan="4">
                  <a:txBody>
                    <a:bodyPr/>
                    <a:p>
                      <a:pPr algn="ctr">
                        <a:buNone/>
                      </a:pPr>
                      <a:r>
                        <a:rPr lang="en-US" sz="800" kern="0">
                          <a:solidFill>
                            <a:srgbClr val="584E61"/>
                          </a:solidFill>
                          <a:effectLst/>
                          <a:sym typeface="+mn-ea"/>
                        </a:rPr>
                        <a:t>&amp;</a:t>
                      </a:r>
                      <a:endParaRPr lang="zh-CN" altLang="en-US" sz="800" kern="0">
                        <a:solidFill>
                          <a:srgbClr val="584E61"/>
                        </a:solidFill>
                        <a:effectLst/>
                        <a:sym typeface="+mn-ea"/>
                      </a:endParaRPr>
                    </a:p>
                  </a:txBody>
                  <a:tcPr anchor="ctr" anchorCtr="0">
                    <a:lnL>
                      <a:noFill/>
                    </a:lnL>
                    <a:lnR>
                      <a:noFill/>
                    </a:lnR>
                    <a:lnT w="19050">
                      <a:solidFill>
                        <a:srgbClr val="584E61"/>
                      </a:solidFill>
                      <a:prstDash val="solid"/>
                    </a:lnT>
                    <a:lnB>
                      <a:noFill/>
                    </a:lnB>
                    <a:solidFill>
                      <a:srgbClr val="FFFFFF"/>
                    </a:solidFill>
                  </a:tcPr>
                </a:tc>
                <a:tc rowSpan="4">
                  <a:txBody>
                    <a:bodyPr/>
                    <a:p>
                      <a:pPr algn="ctr">
                        <a:buNone/>
                      </a:pPr>
                      <a:r>
                        <a:rPr lang="zh-CN" sz="800" kern="0">
                          <a:solidFill>
                            <a:srgbClr val="584E61"/>
                          </a:solidFill>
                          <a:effectLst/>
                          <a:sym typeface="+mn-ea"/>
                        </a:rPr>
                        <a:t>按位与</a:t>
                      </a:r>
                      <a:endParaRPr lang="zh-CN" altLang="en-US" sz="800" kern="0">
                        <a:solidFill>
                          <a:srgbClr val="584E61"/>
                        </a:solidFill>
                        <a:effectLst/>
                        <a:sym typeface="+mn-ea"/>
                      </a:endParaRPr>
                    </a:p>
                  </a:txBody>
                  <a:tcPr anchor="ctr" anchorCtr="0">
                    <a:lnL>
                      <a:noFill/>
                    </a:lnL>
                    <a:lnR>
                      <a:noFill/>
                    </a:lnR>
                    <a:lnT w="19050">
                      <a:solidFill>
                        <a:srgbClr val="584E61"/>
                      </a:solidFill>
                      <a:prstDash val="solid"/>
                    </a:lnT>
                    <a:lnB>
                      <a:noFill/>
                    </a:lnB>
                    <a:solidFill>
                      <a:srgbClr val="FFFFFF"/>
                    </a:solidFill>
                  </a:tcPr>
                </a:tc>
                <a:tc>
                  <a:txBody>
                    <a:bodyPr/>
                    <a:p>
                      <a:pPr algn="ctr">
                        <a:spcAft>
                          <a:spcPts val="0"/>
                        </a:spcAft>
                      </a:pPr>
                      <a:r>
                        <a:rPr lang="en-US" sz="800" kern="0">
                          <a:solidFill>
                            <a:srgbClr val="584E61"/>
                          </a:solidFill>
                          <a:effectLst/>
                        </a:rPr>
                        <a:t>0 &amp; 0</a:t>
                      </a:r>
                      <a:endParaRPr lang="en-US"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w="19050">
                      <a:solidFill>
                        <a:srgbClr val="584E61"/>
                      </a:solidFill>
                      <a:prstDash val="solid"/>
                    </a:lnT>
                    <a:lnB>
                      <a:noFill/>
                    </a:lnB>
                    <a:solidFill>
                      <a:srgbClr val="FFFFFF"/>
                    </a:solidFill>
                  </a:tcPr>
                </a:tc>
                <a:tc>
                  <a:txBody>
                    <a:bodyPr/>
                    <a:p>
                      <a:pPr algn="ctr">
                        <a:spcAft>
                          <a:spcPts val="0"/>
                        </a:spcAft>
                      </a:pPr>
                      <a:r>
                        <a:rPr lang="en-US" sz="800" kern="0">
                          <a:solidFill>
                            <a:srgbClr val="584E61"/>
                          </a:solidFill>
                          <a:effectLst/>
                        </a:rPr>
                        <a:t>0</a:t>
                      </a:r>
                      <a:endParaRPr lang="en-US"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w="19050">
                      <a:solidFill>
                        <a:srgbClr val="584E61"/>
                      </a:solidFill>
                      <a:prstDash val="solid"/>
                    </a:lnT>
                    <a:lnB>
                      <a:noFill/>
                    </a:lnB>
                    <a:solidFill>
                      <a:srgbClr val="FFFFFF"/>
                    </a:solidFill>
                  </a:tcPr>
                </a:tc>
              </a:tr>
              <a:tr h="181610">
                <a:tc vMerge="1">
                  <a:tcPr>
                    <a:lnL>
                      <a:noFill/>
                    </a:lnL>
                    <a:lnR>
                      <a:noFill/>
                    </a:lnR>
                    <a:lnT>
                      <a:noFill/>
                    </a:lnT>
                    <a:lnB>
                      <a:noFill/>
                    </a:lnB>
                    <a:solidFill>
                      <a:srgbClr val="F0EFF2"/>
                    </a:solidFill>
                  </a:tcPr>
                </a:tc>
                <a:tc vMerge="1">
                  <a:tcPr>
                    <a:lnL>
                      <a:noFill/>
                    </a:lnL>
                    <a:lnR>
                      <a:noFill/>
                    </a:lnR>
                    <a:lnT>
                      <a:noFill/>
                    </a:lnT>
                    <a:lnB>
                      <a:noFill/>
                    </a:lnB>
                    <a:solidFill>
                      <a:srgbClr val="F0EFF2"/>
                    </a:solidFill>
                  </a:tcPr>
                </a:tc>
                <a:tc>
                  <a:txBody>
                    <a:bodyPr/>
                    <a:p>
                      <a:pPr algn="ctr">
                        <a:spcAft>
                          <a:spcPts val="0"/>
                        </a:spcAft>
                      </a:pPr>
                      <a:r>
                        <a:rPr lang="en-US" sz="800" kern="0">
                          <a:solidFill>
                            <a:srgbClr val="584E61"/>
                          </a:solidFill>
                          <a:effectLst/>
                        </a:rPr>
                        <a:t>0 &amp; 1</a:t>
                      </a:r>
                      <a:endParaRPr lang="en-US"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a:noFill/>
                    </a:lnT>
                    <a:lnB>
                      <a:noFill/>
                    </a:lnB>
                    <a:solidFill>
                      <a:srgbClr val="F0EFF2"/>
                    </a:solidFill>
                  </a:tcPr>
                </a:tc>
                <a:tc>
                  <a:txBody>
                    <a:bodyPr/>
                    <a:p>
                      <a:pPr algn="ctr">
                        <a:spcAft>
                          <a:spcPts val="0"/>
                        </a:spcAft>
                      </a:pPr>
                      <a:r>
                        <a:rPr lang="en-US" sz="800" kern="0">
                          <a:solidFill>
                            <a:srgbClr val="584E61"/>
                          </a:solidFill>
                          <a:effectLst/>
                        </a:rPr>
                        <a:t>0</a:t>
                      </a:r>
                      <a:endParaRPr lang="en-US"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a:noFill/>
                    </a:lnT>
                    <a:lnB>
                      <a:noFill/>
                    </a:lnB>
                    <a:solidFill>
                      <a:srgbClr val="F0EFF2"/>
                    </a:solidFill>
                  </a:tcPr>
                </a:tc>
              </a:tr>
              <a:tr h="181610">
                <a:tc vMerge="1">
                  <a:tcPr>
                    <a:lnL>
                      <a:noFill/>
                    </a:lnL>
                    <a:lnR>
                      <a:noFill/>
                    </a:lnR>
                    <a:lnT>
                      <a:noFill/>
                    </a:lnT>
                    <a:lnB>
                      <a:noFill/>
                    </a:lnB>
                    <a:solidFill>
                      <a:srgbClr val="FFFFFF"/>
                    </a:solidFill>
                  </a:tcPr>
                </a:tc>
                <a:tc vMerge="1">
                  <a:tcPr>
                    <a:lnL>
                      <a:noFill/>
                    </a:lnL>
                    <a:lnR>
                      <a:noFill/>
                    </a:lnR>
                    <a:lnT>
                      <a:noFill/>
                    </a:lnT>
                    <a:lnB>
                      <a:noFill/>
                    </a:lnB>
                    <a:solidFill>
                      <a:srgbClr val="FFFFFF"/>
                    </a:solidFill>
                  </a:tcPr>
                </a:tc>
                <a:tc>
                  <a:txBody>
                    <a:bodyPr/>
                    <a:p>
                      <a:pPr algn="ctr">
                        <a:spcAft>
                          <a:spcPts val="0"/>
                        </a:spcAft>
                      </a:pPr>
                      <a:r>
                        <a:rPr lang="en-US" sz="800" kern="0">
                          <a:solidFill>
                            <a:srgbClr val="584E61"/>
                          </a:solidFill>
                          <a:effectLst/>
                        </a:rPr>
                        <a:t>1 &amp; 1</a:t>
                      </a:r>
                      <a:endParaRPr lang="en-US"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a:noFill/>
                    </a:lnT>
                    <a:lnB>
                      <a:noFill/>
                    </a:lnB>
                    <a:solidFill>
                      <a:srgbClr val="FFFFFF"/>
                    </a:solidFill>
                  </a:tcPr>
                </a:tc>
                <a:tc>
                  <a:txBody>
                    <a:bodyPr/>
                    <a:p>
                      <a:pPr algn="ctr">
                        <a:spcAft>
                          <a:spcPts val="0"/>
                        </a:spcAft>
                      </a:pPr>
                      <a:r>
                        <a:rPr lang="en-US" sz="800" kern="0">
                          <a:solidFill>
                            <a:srgbClr val="584E61"/>
                          </a:solidFill>
                          <a:effectLst/>
                        </a:rPr>
                        <a:t>1</a:t>
                      </a:r>
                      <a:endParaRPr lang="en-US"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a:noFill/>
                    </a:lnT>
                    <a:lnB>
                      <a:noFill/>
                    </a:lnB>
                    <a:solidFill>
                      <a:srgbClr val="FFFFFF"/>
                    </a:solidFill>
                  </a:tcPr>
                </a:tc>
              </a:tr>
              <a:tr h="181610">
                <a:tc vMerge="1">
                  <a:tcPr>
                    <a:lnL>
                      <a:noFill/>
                    </a:lnL>
                    <a:lnR>
                      <a:noFill/>
                    </a:lnR>
                    <a:lnT>
                      <a:noFill/>
                    </a:lnT>
                    <a:lnB>
                      <a:noFill/>
                    </a:lnB>
                    <a:solidFill>
                      <a:srgbClr val="F0EFF2"/>
                    </a:solidFill>
                  </a:tcPr>
                </a:tc>
                <a:tc vMerge="1">
                  <a:tcPr>
                    <a:lnL>
                      <a:noFill/>
                    </a:lnL>
                    <a:lnR>
                      <a:noFill/>
                    </a:lnR>
                    <a:lnT>
                      <a:noFill/>
                    </a:lnT>
                    <a:lnB>
                      <a:noFill/>
                    </a:lnB>
                    <a:solidFill>
                      <a:srgbClr val="F0EFF2"/>
                    </a:solidFill>
                  </a:tcPr>
                </a:tc>
                <a:tc>
                  <a:txBody>
                    <a:bodyPr/>
                    <a:p>
                      <a:pPr algn="ctr">
                        <a:spcAft>
                          <a:spcPts val="0"/>
                        </a:spcAft>
                      </a:pPr>
                      <a:r>
                        <a:rPr lang="en-US" sz="800" kern="0">
                          <a:solidFill>
                            <a:srgbClr val="584E61"/>
                          </a:solidFill>
                          <a:effectLst/>
                        </a:rPr>
                        <a:t>1 &amp; 0</a:t>
                      </a:r>
                      <a:endParaRPr lang="en-US"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a:noFill/>
                    </a:lnT>
                    <a:lnB>
                      <a:noFill/>
                    </a:lnB>
                    <a:solidFill>
                      <a:srgbClr val="F0EFF2"/>
                    </a:solidFill>
                  </a:tcPr>
                </a:tc>
                <a:tc>
                  <a:txBody>
                    <a:bodyPr/>
                    <a:p>
                      <a:pPr algn="ctr">
                        <a:spcAft>
                          <a:spcPts val="0"/>
                        </a:spcAft>
                      </a:pPr>
                      <a:r>
                        <a:rPr lang="en-US" sz="800" kern="0">
                          <a:solidFill>
                            <a:srgbClr val="584E61"/>
                          </a:solidFill>
                          <a:effectLst/>
                        </a:rPr>
                        <a:t>0</a:t>
                      </a:r>
                      <a:endParaRPr lang="en-US"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a:noFill/>
                    </a:lnT>
                    <a:lnB>
                      <a:noFill/>
                    </a:lnB>
                    <a:solidFill>
                      <a:srgbClr val="F0EFF2"/>
                    </a:solidFill>
                  </a:tcPr>
                </a:tc>
              </a:tr>
              <a:tr h="181610">
                <a:tc rowSpan="4">
                  <a:txBody>
                    <a:bodyPr/>
                    <a:p>
                      <a:pPr algn="ctr">
                        <a:buNone/>
                      </a:pPr>
                      <a:r>
                        <a:rPr lang="en-US" sz="800" kern="0">
                          <a:solidFill>
                            <a:srgbClr val="584E61"/>
                          </a:solidFill>
                          <a:effectLst/>
                          <a:sym typeface="+mn-ea"/>
                        </a:rPr>
                        <a:t>|</a:t>
                      </a:r>
                      <a:endParaRPr lang="zh-CN" altLang="en-US" sz="800" kern="0">
                        <a:solidFill>
                          <a:srgbClr val="584E61"/>
                        </a:solidFill>
                        <a:effectLst/>
                        <a:sym typeface="+mn-ea"/>
                      </a:endParaRPr>
                    </a:p>
                  </a:txBody>
                  <a:tcPr anchor="ctr" anchorCtr="0">
                    <a:lnL>
                      <a:noFill/>
                    </a:lnL>
                    <a:lnR>
                      <a:noFill/>
                    </a:lnR>
                    <a:lnT>
                      <a:noFill/>
                    </a:lnT>
                    <a:lnB>
                      <a:noFill/>
                    </a:lnB>
                    <a:solidFill>
                      <a:srgbClr val="FFFFFF"/>
                    </a:solidFill>
                  </a:tcPr>
                </a:tc>
                <a:tc rowSpan="4">
                  <a:txBody>
                    <a:bodyPr/>
                    <a:p>
                      <a:pPr algn="ctr">
                        <a:buNone/>
                      </a:pPr>
                      <a:r>
                        <a:rPr lang="zh-CN" sz="800" kern="0">
                          <a:solidFill>
                            <a:srgbClr val="584E61"/>
                          </a:solidFill>
                          <a:effectLst/>
                          <a:sym typeface="+mn-ea"/>
                        </a:rPr>
                        <a:t>按位或</a:t>
                      </a:r>
                      <a:endParaRPr lang="zh-CN" altLang="en-US" sz="800" kern="0">
                        <a:solidFill>
                          <a:srgbClr val="584E61"/>
                        </a:solidFill>
                        <a:effectLst/>
                        <a:sym typeface="+mn-ea"/>
                      </a:endParaRPr>
                    </a:p>
                  </a:txBody>
                  <a:tcPr anchor="ctr" anchorCtr="0">
                    <a:lnL>
                      <a:noFill/>
                    </a:lnL>
                    <a:lnR>
                      <a:noFill/>
                    </a:lnR>
                    <a:lnT>
                      <a:noFill/>
                    </a:lnT>
                    <a:lnB>
                      <a:noFill/>
                    </a:lnB>
                    <a:solidFill>
                      <a:srgbClr val="FFFFFF"/>
                    </a:solidFill>
                  </a:tcPr>
                </a:tc>
                <a:tc>
                  <a:txBody>
                    <a:bodyPr/>
                    <a:p>
                      <a:pPr algn="ctr">
                        <a:spcAft>
                          <a:spcPts val="0"/>
                        </a:spcAft>
                      </a:pPr>
                      <a:r>
                        <a:rPr lang="en-US" sz="800" kern="0">
                          <a:solidFill>
                            <a:srgbClr val="584E61"/>
                          </a:solidFill>
                          <a:effectLst/>
                        </a:rPr>
                        <a:t>0 | 0</a:t>
                      </a:r>
                      <a:endParaRPr lang="en-US"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a:noFill/>
                    </a:lnT>
                    <a:lnB>
                      <a:noFill/>
                    </a:lnB>
                    <a:solidFill>
                      <a:srgbClr val="FFFFFF"/>
                    </a:solidFill>
                  </a:tcPr>
                </a:tc>
                <a:tc>
                  <a:txBody>
                    <a:bodyPr/>
                    <a:p>
                      <a:pPr algn="ctr">
                        <a:spcAft>
                          <a:spcPts val="0"/>
                        </a:spcAft>
                      </a:pPr>
                      <a:r>
                        <a:rPr lang="en-US" sz="800" kern="0">
                          <a:solidFill>
                            <a:srgbClr val="584E61"/>
                          </a:solidFill>
                          <a:effectLst/>
                        </a:rPr>
                        <a:t>0</a:t>
                      </a:r>
                      <a:endParaRPr lang="en-US"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a:noFill/>
                    </a:lnT>
                    <a:lnB>
                      <a:noFill/>
                    </a:lnB>
                    <a:solidFill>
                      <a:srgbClr val="FFFFFF"/>
                    </a:solidFill>
                  </a:tcPr>
                </a:tc>
              </a:tr>
              <a:tr h="181610">
                <a:tc vMerge="1">
                  <a:tcPr>
                    <a:lnL>
                      <a:noFill/>
                    </a:lnL>
                    <a:lnR>
                      <a:noFill/>
                    </a:lnR>
                    <a:lnT>
                      <a:noFill/>
                    </a:lnT>
                    <a:lnB>
                      <a:noFill/>
                    </a:lnB>
                    <a:solidFill>
                      <a:srgbClr val="F0EFF2"/>
                    </a:solidFill>
                  </a:tcPr>
                </a:tc>
                <a:tc vMerge="1">
                  <a:tcPr>
                    <a:lnL>
                      <a:noFill/>
                    </a:lnL>
                    <a:lnR>
                      <a:noFill/>
                    </a:lnR>
                    <a:lnT>
                      <a:noFill/>
                    </a:lnT>
                    <a:lnB>
                      <a:noFill/>
                    </a:lnB>
                    <a:solidFill>
                      <a:srgbClr val="F0EFF2"/>
                    </a:solidFill>
                  </a:tcPr>
                </a:tc>
                <a:tc>
                  <a:txBody>
                    <a:bodyPr/>
                    <a:p>
                      <a:pPr algn="ctr">
                        <a:spcAft>
                          <a:spcPts val="0"/>
                        </a:spcAft>
                      </a:pPr>
                      <a:r>
                        <a:rPr lang="en-US" sz="800" kern="0">
                          <a:solidFill>
                            <a:srgbClr val="584E61"/>
                          </a:solidFill>
                          <a:effectLst/>
                        </a:rPr>
                        <a:t>0 | 1</a:t>
                      </a:r>
                      <a:endParaRPr lang="en-US"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a:noFill/>
                    </a:lnT>
                    <a:lnB>
                      <a:noFill/>
                    </a:lnB>
                    <a:solidFill>
                      <a:srgbClr val="F0EFF2"/>
                    </a:solidFill>
                  </a:tcPr>
                </a:tc>
                <a:tc>
                  <a:txBody>
                    <a:bodyPr/>
                    <a:p>
                      <a:pPr algn="ctr">
                        <a:spcAft>
                          <a:spcPts val="0"/>
                        </a:spcAft>
                      </a:pPr>
                      <a:r>
                        <a:rPr lang="en-US" sz="800" kern="0">
                          <a:solidFill>
                            <a:srgbClr val="584E61"/>
                          </a:solidFill>
                          <a:effectLst/>
                        </a:rPr>
                        <a:t>1</a:t>
                      </a:r>
                      <a:endParaRPr lang="en-US"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a:noFill/>
                    </a:lnT>
                    <a:lnB>
                      <a:noFill/>
                    </a:lnB>
                    <a:solidFill>
                      <a:srgbClr val="F0EFF2"/>
                    </a:solidFill>
                  </a:tcPr>
                </a:tc>
              </a:tr>
              <a:tr h="181610">
                <a:tc vMerge="1">
                  <a:tcPr>
                    <a:lnL>
                      <a:noFill/>
                    </a:lnL>
                    <a:lnR>
                      <a:noFill/>
                    </a:lnR>
                    <a:lnT>
                      <a:noFill/>
                    </a:lnT>
                    <a:lnB>
                      <a:noFill/>
                    </a:lnB>
                    <a:solidFill>
                      <a:srgbClr val="FFFFFF"/>
                    </a:solidFill>
                  </a:tcPr>
                </a:tc>
                <a:tc vMerge="1">
                  <a:tcPr>
                    <a:lnL>
                      <a:noFill/>
                    </a:lnL>
                    <a:lnR>
                      <a:noFill/>
                    </a:lnR>
                    <a:lnT>
                      <a:noFill/>
                    </a:lnT>
                    <a:lnB>
                      <a:noFill/>
                    </a:lnB>
                    <a:solidFill>
                      <a:srgbClr val="FFFFFF"/>
                    </a:solidFill>
                  </a:tcPr>
                </a:tc>
                <a:tc>
                  <a:txBody>
                    <a:bodyPr/>
                    <a:p>
                      <a:pPr algn="ctr">
                        <a:spcAft>
                          <a:spcPts val="0"/>
                        </a:spcAft>
                      </a:pPr>
                      <a:r>
                        <a:rPr lang="en-US" sz="800" kern="0">
                          <a:solidFill>
                            <a:srgbClr val="584E61"/>
                          </a:solidFill>
                          <a:effectLst/>
                        </a:rPr>
                        <a:t>1 | 1</a:t>
                      </a:r>
                      <a:endParaRPr lang="en-US"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a:noFill/>
                    </a:lnT>
                    <a:lnB>
                      <a:noFill/>
                    </a:lnB>
                    <a:solidFill>
                      <a:srgbClr val="FFFFFF"/>
                    </a:solidFill>
                  </a:tcPr>
                </a:tc>
                <a:tc>
                  <a:txBody>
                    <a:bodyPr/>
                    <a:p>
                      <a:pPr algn="ctr">
                        <a:spcAft>
                          <a:spcPts val="0"/>
                        </a:spcAft>
                      </a:pPr>
                      <a:r>
                        <a:rPr lang="en-US" sz="800" kern="0">
                          <a:solidFill>
                            <a:srgbClr val="584E61"/>
                          </a:solidFill>
                          <a:effectLst/>
                        </a:rPr>
                        <a:t>1</a:t>
                      </a:r>
                      <a:endParaRPr lang="en-US"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a:noFill/>
                    </a:lnT>
                    <a:lnB>
                      <a:noFill/>
                    </a:lnB>
                    <a:solidFill>
                      <a:srgbClr val="FFFFFF"/>
                    </a:solidFill>
                  </a:tcPr>
                </a:tc>
              </a:tr>
              <a:tr h="181610">
                <a:tc vMerge="1">
                  <a:tcPr>
                    <a:lnL>
                      <a:noFill/>
                    </a:lnL>
                    <a:lnR>
                      <a:noFill/>
                    </a:lnR>
                    <a:lnT>
                      <a:noFill/>
                    </a:lnT>
                    <a:lnB>
                      <a:noFill/>
                    </a:lnB>
                    <a:solidFill>
                      <a:srgbClr val="F0EFF2"/>
                    </a:solidFill>
                  </a:tcPr>
                </a:tc>
                <a:tc vMerge="1">
                  <a:tcPr>
                    <a:lnL>
                      <a:noFill/>
                    </a:lnL>
                    <a:lnR>
                      <a:noFill/>
                    </a:lnR>
                    <a:lnT>
                      <a:noFill/>
                    </a:lnT>
                    <a:lnB>
                      <a:noFill/>
                    </a:lnB>
                    <a:solidFill>
                      <a:srgbClr val="F0EFF2"/>
                    </a:solidFill>
                  </a:tcPr>
                </a:tc>
                <a:tc>
                  <a:txBody>
                    <a:bodyPr/>
                    <a:p>
                      <a:pPr algn="ctr">
                        <a:spcAft>
                          <a:spcPts val="0"/>
                        </a:spcAft>
                      </a:pPr>
                      <a:r>
                        <a:rPr lang="en-US" sz="800" kern="0">
                          <a:solidFill>
                            <a:srgbClr val="584E61"/>
                          </a:solidFill>
                          <a:effectLst/>
                        </a:rPr>
                        <a:t>1 | 0</a:t>
                      </a:r>
                      <a:endParaRPr lang="en-US"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a:noFill/>
                    </a:lnT>
                    <a:lnB>
                      <a:noFill/>
                    </a:lnB>
                    <a:solidFill>
                      <a:srgbClr val="F0EFF2"/>
                    </a:solidFill>
                  </a:tcPr>
                </a:tc>
                <a:tc>
                  <a:txBody>
                    <a:bodyPr/>
                    <a:p>
                      <a:pPr algn="ctr">
                        <a:spcAft>
                          <a:spcPts val="0"/>
                        </a:spcAft>
                      </a:pPr>
                      <a:r>
                        <a:rPr lang="en-US" sz="800" kern="0">
                          <a:solidFill>
                            <a:srgbClr val="584E61"/>
                          </a:solidFill>
                          <a:effectLst/>
                        </a:rPr>
                        <a:t>1</a:t>
                      </a:r>
                      <a:endParaRPr lang="en-US"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a:noFill/>
                    </a:lnT>
                    <a:lnB>
                      <a:noFill/>
                    </a:lnB>
                    <a:solidFill>
                      <a:srgbClr val="F0EFF2"/>
                    </a:solidFill>
                  </a:tcPr>
                </a:tc>
              </a:tr>
              <a:tr h="181610">
                <a:tc rowSpan="2">
                  <a:txBody>
                    <a:bodyPr/>
                    <a:p>
                      <a:pPr algn="ctr">
                        <a:buNone/>
                      </a:pPr>
                      <a:r>
                        <a:rPr lang="en-US" sz="800" kern="0">
                          <a:solidFill>
                            <a:srgbClr val="584E61"/>
                          </a:solidFill>
                          <a:effectLst/>
                          <a:sym typeface="+mn-ea"/>
                        </a:rPr>
                        <a:t>~</a:t>
                      </a:r>
                      <a:endParaRPr lang="zh-CN" altLang="en-US" sz="800" kern="0">
                        <a:solidFill>
                          <a:srgbClr val="584E61"/>
                        </a:solidFill>
                        <a:effectLst/>
                        <a:sym typeface="+mn-ea"/>
                      </a:endParaRPr>
                    </a:p>
                  </a:txBody>
                  <a:tcPr anchor="ctr" anchorCtr="0">
                    <a:lnL>
                      <a:noFill/>
                    </a:lnL>
                    <a:lnR>
                      <a:noFill/>
                    </a:lnR>
                    <a:lnT>
                      <a:noFill/>
                    </a:lnT>
                    <a:lnB>
                      <a:noFill/>
                    </a:lnB>
                    <a:solidFill>
                      <a:srgbClr val="FFFFFF"/>
                    </a:solidFill>
                  </a:tcPr>
                </a:tc>
                <a:tc rowSpan="2">
                  <a:txBody>
                    <a:bodyPr/>
                    <a:p>
                      <a:pPr algn="ctr">
                        <a:buNone/>
                      </a:pPr>
                      <a:r>
                        <a:rPr lang="zh-CN" sz="800" kern="0">
                          <a:solidFill>
                            <a:srgbClr val="584E61"/>
                          </a:solidFill>
                          <a:effectLst/>
                          <a:sym typeface="+mn-ea"/>
                        </a:rPr>
                        <a:t>取反</a:t>
                      </a:r>
                      <a:endParaRPr lang="zh-CN" altLang="en-US" sz="800" kern="0">
                        <a:solidFill>
                          <a:srgbClr val="584E61"/>
                        </a:solidFill>
                        <a:effectLst/>
                        <a:sym typeface="+mn-ea"/>
                      </a:endParaRPr>
                    </a:p>
                  </a:txBody>
                  <a:tcPr anchor="ctr" anchorCtr="0">
                    <a:lnL>
                      <a:noFill/>
                    </a:lnL>
                    <a:lnR>
                      <a:noFill/>
                    </a:lnR>
                    <a:lnT>
                      <a:noFill/>
                    </a:lnT>
                    <a:lnB>
                      <a:noFill/>
                    </a:lnB>
                    <a:solidFill>
                      <a:srgbClr val="FFFFFF"/>
                    </a:solidFill>
                  </a:tcPr>
                </a:tc>
                <a:tc>
                  <a:txBody>
                    <a:bodyPr/>
                    <a:p>
                      <a:pPr algn="ctr">
                        <a:spcAft>
                          <a:spcPts val="0"/>
                        </a:spcAft>
                      </a:pPr>
                      <a:r>
                        <a:rPr lang="en-US" sz="800" kern="0">
                          <a:solidFill>
                            <a:srgbClr val="584E61"/>
                          </a:solidFill>
                          <a:effectLst/>
                        </a:rPr>
                        <a:t>~0</a:t>
                      </a:r>
                      <a:endParaRPr lang="en-US"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a:noFill/>
                    </a:lnT>
                    <a:lnB>
                      <a:noFill/>
                    </a:lnB>
                    <a:solidFill>
                      <a:srgbClr val="FFFFFF"/>
                    </a:solidFill>
                  </a:tcPr>
                </a:tc>
                <a:tc>
                  <a:txBody>
                    <a:bodyPr/>
                    <a:p>
                      <a:pPr algn="ctr">
                        <a:spcAft>
                          <a:spcPts val="0"/>
                        </a:spcAft>
                      </a:pPr>
                      <a:r>
                        <a:rPr lang="en-US" sz="800" kern="0">
                          <a:solidFill>
                            <a:srgbClr val="584E61"/>
                          </a:solidFill>
                          <a:effectLst/>
                        </a:rPr>
                        <a:t>1</a:t>
                      </a:r>
                      <a:endParaRPr lang="en-US"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a:noFill/>
                    </a:lnT>
                    <a:lnB>
                      <a:noFill/>
                    </a:lnB>
                    <a:solidFill>
                      <a:srgbClr val="FFFFFF"/>
                    </a:solidFill>
                  </a:tcPr>
                </a:tc>
              </a:tr>
              <a:tr h="181610">
                <a:tc vMerge="1">
                  <a:tcPr>
                    <a:lnL>
                      <a:noFill/>
                    </a:lnL>
                    <a:lnR>
                      <a:noFill/>
                    </a:lnR>
                    <a:lnT>
                      <a:noFill/>
                    </a:lnT>
                    <a:lnB>
                      <a:noFill/>
                    </a:lnB>
                    <a:solidFill>
                      <a:srgbClr val="F0EFF2"/>
                    </a:solidFill>
                  </a:tcPr>
                </a:tc>
                <a:tc vMerge="1">
                  <a:tcPr>
                    <a:lnL>
                      <a:noFill/>
                    </a:lnL>
                    <a:lnR>
                      <a:noFill/>
                    </a:lnR>
                    <a:lnT>
                      <a:noFill/>
                    </a:lnT>
                    <a:lnB>
                      <a:noFill/>
                    </a:lnB>
                    <a:solidFill>
                      <a:srgbClr val="F0EFF2"/>
                    </a:solidFill>
                  </a:tcPr>
                </a:tc>
                <a:tc>
                  <a:txBody>
                    <a:bodyPr/>
                    <a:p>
                      <a:pPr algn="ctr">
                        <a:spcAft>
                          <a:spcPts val="0"/>
                        </a:spcAft>
                      </a:pPr>
                      <a:r>
                        <a:rPr lang="en-US" sz="800" kern="0">
                          <a:solidFill>
                            <a:srgbClr val="584E61"/>
                          </a:solidFill>
                          <a:effectLst/>
                        </a:rPr>
                        <a:t>~1</a:t>
                      </a:r>
                      <a:endParaRPr lang="en-US"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a:noFill/>
                    </a:lnT>
                    <a:lnB>
                      <a:noFill/>
                    </a:lnB>
                    <a:solidFill>
                      <a:srgbClr val="F0EFF2"/>
                    </a:solidFill>
                  </a:tcPr>
                </a:tc>
                <a:tc>
                  <a:txBody>
                    <a:bodyPr/>
                    <a:p>
                      <a:pPr algn="ctr">
                        <a:spcAft>
                          <a:spcPts val="0"/>
                        </a:spcAft>
                      </a:pPr>
                      <a:r>
                        <a:rPr lang="en-US" sz="800" kern="0">
                          <a:solidFill>
                            <a:srgbClr val="584E61"/>
                          </a:solidFill>
                          <a:effectLst/>
                        </a:rPr>
                        <a:t>0</a:t>
                      </a:r>
                      <a:endParaRPr lang="en-US"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a:noFill/>
                    </a:lnT>
                    <a:lnB>
                      <a:noFill/>
                    </a:lnB>
                    <a:solidFill>
                      <a:srgbClr val="F0EFF2"/>
                    </a:solidFill>
                  </a:tcPr>
                </a:tc>
              </a:tr>
              <a:tr h="181610">
                <a:tc rowSpan="4">
                  <a:txBody>
                    <a:bodyPr/>
                    <a:p>
                      <a:pPr algn="ctr">
                        <a:buNone/>
                      </a:pPr>
                      <a:r>
                        <a:rPr lang="en-US" sz="800" kern="0">
                          <a:solidFill>
                            <a:srgbClr val="584E61"/>
                          </a:solidFill>
                          <a:effectLst/>
                          <a:sym typeface="+mn-ea"/>
                        </a:rPr>
                        <a:t>^</a:t>
                      </a:r>
                      <a:endParaRPr lang="zh-CN" altLang="en-US" sz="800" kern="0">
                        <a:solidFill>
                          <a:srgbClr val="584E61"/>
                        </a:solidFill>
                        <a:effectLst/>
                        <a:sym typeface="+mn-ea"/>
                      </a:endParaRPr>
                    </a:p>
                  </a:txBody>
                  <a:tcPr anchor="ctr" anchorCtr="0">
                    <a:lnL>
                      <a:noFill/>
                    </a:lnL>
                    <a:lnR>
                      <a:noFill/>
                    </a:lnR>
                    <a:lnT>
                      <a:noFill/>
                    </a:lnT>
                    <a:lnB>
                      <a:noFill/>
                    </a:lnB>
                    <a:solidFill>
                      <a:srgbClr val="FFFFFF"/>
                    </a:solidFill>
                  </a:tcPr>
                </a:tc>
                <a:tc rowSpan="4">
                  <a:txBody>
                    <a:bodyPr/>
                    <a:p>
                      <a:pPr algn="ctr">
                        <a:buNone/>
                      </a:pPr>
                      <a:r>
                        <a:rPr lang="zh-CN" sz="800" kern="0">
                          <a:solidFill>
                            <a:srgbClr val="584E61"/>
                          </a:solidFill>
                          <a:effectLst/>
                          <a:sym typeface="+mn-ea"/>
                        </a:rPr>
                        <a:t>按位异或</a:t>
                      </a:r>
                      <a:endParaRPr lang="zh-CN" altLang="en-US" sz="800" kern="0">
                        <a:solidFill>
                          <a:srgbClr val="584E61"/>
                        </a:solidFill>
                        <a:effectLst/>
                        <a:sym typeface="+mn-ea"/>
                      </a:endParaRPr>
                    </a:p>
                  </a:txBody>
                  <a:tcPr anchor="ctr" anchorCtr="0">
                    <a:lnL>
                      <a:noFill/>
                    </a:lnL>
                    <a:lnR>
                      <a:noFill/>
                    </a:lnR>
                    <a:lnT>
                      <a:noFill/>
                    </a:lnT>
                    <a:lnB>
                      <a:noFill/>
                    </a:lnB>
                    <a:solidFill>
                      <a:srgbClr val="FFFFFF"/>
                    </a:solidFill>
                  </a:tcPr>
                </a:tc>
                <a:tc>
                  <a:txBody>
                    <a:bodyPr/>
                    <a:p>
                      <a:pPr algn="ctr">
                        <a:spcAft>
                          <a:spcPts val="0"/>
                        </a:spcAft>
                      </a:pPr>
                      <a:r>
                        <a:rPr lang="en-US" sz="800" kern="0">
                          <a:solidFill>
                            <a:srgbClr val="584E61"/>
                          </a:solidFill>
                          <a:effectLst/>
                        </a:rPr>
                        <a:t>0 ^ 0</a:t>
                      </a:r>
                      <a:endParaRPr lang="en-US"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a:noFill/>
                    </a:lnT>
                    <a:lnB>
                      <a:noFill/>
                    </a:lnB>
                    <a:solidFill>
                      <a:srgbClr val="FFFFFF"/>
                    </a:solidFill>
                  </a:tcPr>
                </a:tc>
                <a:tc>
                  <a:txBody>
                    <a:bodyPr/>
                    <a:p>
                      <a:pPr algn="ctr">
                        <a:spcAft>
                          <a:spcPts val="0"/>
                        </a:spcAft>
                      </a:pPr>
                      <a:r>
                        <a:rPr lang="en-US" sz="800" kern="0">
                          <a:solidFill>
                            <a:srgbClr val="584E61"/>
                          </a:solidFill>
                          <a:effectLst/>
                        </a:rPr>
                        <a:t>0</a:t>
                      </a:r>
                      <a:endParaRPr lang="en-US"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a:noFill/>
                    </a:lnT>
                    <a:lnB>
                      <a:noFill/>
                    </a:lnB>
                    <a:solidFill>
                      <a:srgbClr val="FFFFFF"/>
                    </a:solidFill>
                  </a:tcPr>
                </a:tc>
              </a:tr>
              <a:tr h="181610">
                <a:tc vMerge="1">
                  <a:tcPr>
                    <a:lnL>
                      <a:noFill/>
                    </a:lnL>
                    <a:lnR>
                      <a:noFill/>
                    </a:lnR>
                    <a:lnT>
                      <a:noFill/>
                    </a:lnT>
                    <a:lnB>
                      <a:noFill/>
                    </a:lnB>
                    <a:solidFill>
                      <a:srgbClr val="F0EFF2"/>
                    </a:solidFill>
                  </a:tcPr>
                </a:tc>
                <a:tc vMerge="1">
                  <a:tcPr>
                    <a:lnL>
                      <a:noFill/>
                    </a:lnL>
                    <a:lnR>
                      <a:noFill/>
                    </a:lnR>
                    <a:lnT>
                      <a:noFill/>
                    </a:lnT>
                    <a:lnB>
                      <a:noFill/>
                    </a:lnB>
                    <a:solidFill>
                      <a:srgbClr val="F0EFF2"/>
                    </a:solidFill>
                  </a:tcPr>
                </a:tc>
                <a:tc>
                  <a:txBody>
                    <a:bodyPr/>
                    <a:p>
                      <a:pPr algn="ctr">
                        <a:spcAft>
                          <a:spcPts val="0"/>
                        </a:spcAft>
                      </a:pPr>
                      <a:r>
                        <a:rPr lang="en-US" sz="800" kern="0">
                          <a:solidFill>
                            <a:srgbClr val="584E61"/>
                          </a:solidFill>
                          <a:effectLst/>
                        </a:rPr>
                        <a:t>0 ^ 1</a:t>
                      </a:r>
                      <a:endParaRPr lang="en-US"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a:noFill/>
                    </a:lnT>
                    <a:lnB>
                      <a:noFill/>
                    </a:lnB>
                    <a:solidFill>
                      <a:srgbClr val="F0EFF2"/>
                    </a:solidFill>
                  </a:tcPr>
                </a:tc>
                <a:tc>
                  <a:txBody>
                    <a:bodyPr/>
                    <a:p>
                      <a:pPr algn="ctr">
                        <a:spcAft>
                          <a:spcPts val="0"/>
                        </a:spcAft>
                      </a:pPr>
                      <a:r>
                        <a:rPr lang="en-US" sz="800" kern="0">
                          <a:solidFill>
                            <a:srgbClr val="584E61"/>
                          </a:solidFill>
                          <a:effectLst/>
                        </a:rPr>
                        <a:t>1</a:t>
                      </a:r>
                      <a:endParaRPr lang="en-US"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a:noFill/>
                    </a:lnT>
                    <a:lnB>
                      <a:noFill/>
                    </a:lnB>
                    <a:solidFill>
                      <a:srgbClr val="F0EFF2"/>
                    </a:solidFill>
                  </a:tcPr>
                </a:tc>
              </a:tr>
              <a:tr h="181610">
                <a:tc vMerge="1">
                  <a:tcPr>
                    <a:lnL>
                      <a:noFill/>
                    </a:lnL>
                    <a:lnR>
                      <a:noFill/>
                    </a:lnR>
                    <a:lnT>
                      <a:noFill/>
                    </a:lnT>
                    <a:lnB>
                      <a:noFill/>
                    </a:lnB>
                    <a:solidFill>
                      <a:srgbClr val="FFFFFF"/>
                    </a:solidFill>
                  </a:tcPr>
                </a:tc>
                <a:tc vMerge="1">
                  <a:tcPr>
                    <a:lnL>
                      <a:noFill/>
                    </a:lnL>
                    <a:lnR>
                      <a:noFill/>
                    </a:lnR>
                    <a:lnT>
                      <a:noFill/>
                    </a:lnT>
                    <a:lnB>
                      <a:noFill/>
                    </a:lnB>
                    <a:solidFill>
                      <a:srgbClr val="FFFFFF"/>
                    </a:solidFill>
                  </a:tcPr>
                </a:tc>
                <a:tc>
                  <a:txBody>
                    <a:bodyPr/>
                    <a:p>
                      <a:pPr algn="ctr">
                        <a:spcAft>
                          <a:spcPts val="0"/>
                        </a:spcAft>
                      </a:pPr>
                      <a:r>
                        <a:rPr lang="en-US" sz="800" kern="0">
                          <a:solidFill>
                            <a:srgbClr val="584E61"/>
                          </a:solidFill>
                          <a:effectLst/>
                        </a:rPr>
                        <a:t>1 ^ 1</a:t>
                      </a:r>
                      <a:endParaRPr lang="en-US"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a:noFill/>
                    </a:lnT>
                    <a:lnB>
                      <a:noFill/>
                    </a:lnB>
                    <a:solidFill>
                      <a:srgbClr val="FFFFFF"/>
                    </a:solidFill>
                  </a:tcPr>
                </a:tc>
                <a:tc>
                  <a:txBody>
                    <a:bodyPr/>
                    <a:p>
                      <a:pPr algn="ctr">
                        <a:spcAft>
                          <a:spcPts val="0"/>
                        </a:spcAft>
                      </a:pPr>
                      <a:r>
                        <a:rPr lang="en-US" sz="800" kern="0">
                          <a:solidFill>
                            <a:srgbClr val="584E61"/>
                          </a:solidFill>
                          <a:effectLst/>
                        </a:rPr>
                        <a:t>0</a:t>
                      </a:r>
                      <a:endParaRPr lang="en-US"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a:noFill/>
                    </a:lnT>
                    <a:lnB>
                      <a:noFill/>
                    </a:lnB>
                    <a:solidFill>
                      <a:srgbClr val="FFFFFF"/>
                    </a:solidFill>
                  </a:tcPr>
                </a:tc>
              </a:tr>
              <a:tr h="181610">
                <a:tc vMerge="1">
                  <a:tcPr>
                    <a:lnL>
                      <a:noFill/>
                    </a:lnL>
                    <a:lnR>
                      <a:noFill/>
                    </a:lnR>
                    <a:lnT>
                      <a:noFill/>
                    </a:lnT>
                    <a:lnB>
                      <a:noFill/>
                    </a:lnB>
                    <a:solidFill>
                      <a:srgbClr val="F0EFF2"/>
                    </a:solidFill>
                  </a:tcPr>
                </a:tc>
                <a:tc vMerge="1">
                  <a:tcPr>
                    <a:lnL>
                      <a:noFill/>
                    </a:lnL>
                    <a:lnR>
                      <a:noFill/>
                    </a:lnR>
                    <a:lnT>
                      <a:noFill/>
                    </a:lnT>
                    <a:lnB>
                      <a:noFill/>
                    </a:lnB>
                    <a:solidFill>
                      <a:srgbClr val="F0EFF2"/>
                    </a:solidFill>
                  </a:tcPr>
                </a:tc>
                <a:tc>
                  <a:txBody>
                    <a:bodyPr/>
                    <a:p>
                      <a:pPr algn="ctr">
                        <a:spcAft>
                          <a:spcPts val="0"/>
                        </a:spcAft>
                      </a:pPr>
                      <a:r>
                        <a:rPr lang="en-US" sz="800" kern="0">
                          <a:solidFill>
                            <a:srgbClr val="584E61"/>
                          </a:solidFill>
                          <a:effectLst/>
                        </a:rPr>
                        <a:t>1 ^ 0</a:t>
                      </a:r>
                      <a:endParaRPr lang="en-US"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a:noFill/>
                    </a:lnT>
                    <a:lnB>
                      <a:noFill/>
                    </a:lnB>
                    <a:solidFill>
                      <a:srgbClr val="F0EFF2"/>
                    </a:solidFill>
                  </a:tcPr>
                </a:tc>
                <a:tc>
                  <a:txBody>
                    <a:bodyPr/>
                    <a:p>
                      <a:pPr algn="ctr">
                        <a:spcAft>
                          <a:spcPts val="0"/>
                        </a:spcAft>
                      </a:pPr>
                      <a:r>
                        <a:rPr lang="en-US" sz="800" kern="0">
                          <a:solidFill>
                            <a:srgbClr val="584E61"/>
                          </a:solidFill>
                          <a:effectLst/>
                        </a:rPr>
                        <a:t>1</a:t>
                      </a:r>
                      <a:endParaRPr lang="en-US"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a:noFill/>
                    </a:lnT>
                    <a:lnB>
                      <a:noFill/>
                    </a:lnB>
                    <a:solidFill>
                      <a:srgbClr val="F0EFF2"/>
                    </a:solidFill>
                  </a:tcPr>
                </a:tc>
              </a:tr>
              <a:tr h="181610">
                <a:tc rowSpan="2">
                  <a:txBody>
                    <a:bodyPr/>
                    <a:p>
                      <a:pPr algn="ctr">
                        <a:buNone/>
                      </a:pPr>
                      <a:r>
                        <a:rPr lang="en-US" sz="800" kern="0">
                          <a:solidFill>
                            <a:srgbClr val="584E61"/>
                          </a:solidFill>
                          <a:effectLst/>
                          <a:sym typeface="+mn-ea"/>
                        </a:rPr>
                        <a:t>&lt;&lt; </a:t>
                      </a:r>
                      <a:endParaRPr lang="zh-CN" altLang="en-US" sz="800" kern="0">
                        <a:solidFill>
                          <a:srgbClr val="584E61"/>
                        </a:solidFill>
                        <a:effectLst/>
                        <a:sym typeface="+mn-ea"/>
                      </a:endParaRPr>
                    </a:p>
                  </a:txBody>
                  <a:tcPr anchor="ctr" anchorCtr="0">
                    <a:lnL>
                      <a:noFill/>
                    </a:lnL>
                    <a:lnR>
                      <a:noFill/>
                    </a:lnR>
                    <a:lnT>
                      <a:noFill/>
                    </a:lnT>
                    <a:lnB>
                      <a:noFill/>
                    </a:lnB>
                    <a:solidFill>
                      <a:srgbClr val="FFFFFF"/>
                    </a:solidFill>
                  </a:tcPr>
                </a:tc>
                <a:tc rowSpan="2">
                  <a:txBody>
                    <a:bodyPr/>
                    <a:p>
                      <a:pPr algn="ctr">
                        <a:buNone/>
                      </a:pPr>
                      <a:r>
                        <a:rPr lang="zh-CN" sz="800" kern="0">
                          <a:solidFill>
                            <a:srgbClr val="584E61"/>
                          </a:solidFill>
                          <a:effectLst/>
                          <a:sym typeface="+mn-ea"/>
                        </a:rPr>
                        <a:t>左移</a:t>
                      </a:r>
                      <a:endParaRPr lang="zh-CN" altLang="en-US" sz="800" kern="0">
                        <a:solidFill>
                          <a:srgbClr val="584E61"/>
                        </a:solidFill>
                        <a:effectLst/>
                        <a:sym typeface="+mn-ea"/>
                      </a:endParaRPr>
                    </a:p>
                  </a:txBody>
                  <a:tcPr anchor="ctr" anchorCtr="0">
                    <a:lnL>
                      <a:noFill/>
                    </a:lnL>
                    <a:lnR>
                      <a:noFill/>
                    </a:lnR>
                    <a:lnT>
                      <a:noFill/>
                    </a:lnT>
                    <a:lnB>
                      <a:noFill/>
                    </a:lnB>
                    <a:solidFill>
                      <a:srgbClr val="FFFFFF"/>
                    </a:solidFill>
                  </a:tcPr>
                </a:tc>
                <a:tc>
                  <a:txBody>
                    <a:bodyPr/>
                    <a:p>
                      <a:pPr indent="0" algn="ctr" fontAlgn="auto">
                        <a:spcAft>
                          <a:spcPts val="0"/>
                        </a:spcAft>
                      </a:pPr>
                      <a:r>
                        <a:rPr lang="en-US" sz="800" kern="100">
                          <a:solidFill>
                            <a:srgbClr val="584E61"/>
                          </a:solidFill>
                          <a:effectLst/>
                        </a:rPr>
                        <a:t>00000010&lt;&lt;2</a:t>
                      </a:r>
                      <a:endParaRPr lang="en-US" sz="800" kern="100">
                        <a:solidFill>
                          <a:srgbClr val="584E61"/>
                        </a:solidFill>
                        <a:effectLst/>
                        <a:latin typeface="Times New Roman" panose="02020503050405090304"/>
                        <a:ea typeface="宋体" pitchFamily="2" charset="-122"/>
                      </a:endParaRPr>
                    </a:p>
                  </a:txBody>
                  <a:tcPr marL="51431" marR="51431" marT="0" marB="0" anchor="ctr" anchorCtr="0">
                    <a:lnL>
                      <a:noFill/>
                    </a:lnL>
                    <a:lnR>
                      <a:noFill/>
                    </a:lnR>
                    <a:lnT>
                      <a:noFill/>
                    </a:lnT>
                    <a:lnB>
                      <a:noFill/>
                    </a:lnB>
                    <a:solidFill>
                      <a:srgbClr val="FFFFFF"/>
                    </a:solidFill>
                  </a:tcPr>
                </a:tc>
                <a:tc>
                  <a:txBody>
                    <a:bodyPr/>
                    <a:p>
                      <a:pPr indent="0" algn="ctr" fontAlgn="auto">
                        <a:spcAft>
                          <a:spcPts val="0"/>
                        </a:spcAft>
                      </a:pPr>
                      <a:r>
                        <a:rPr lang="en-US" sz="800" kern="100">
                          <a:solidFill>
                            <a:srgbClr val="584E61"/>
                          </a:solidFill>
                          <a:effectLst/>
                        </a:rPr>
                        <a:t>00001000</a:t>
                      </a:r>
                      <a:endParaRPr lang="en-US" sz="800" kern="100">
                        <a:solidFill>
                          <a:srgbClr val="584E61"/>
                        </a:solidFill>
                        <a:effectLst/>
                        <a:latin typeface="Times New Roman" panose="02020503050405090304"/>
                        <a:ea typeface="宋体" pitchFamily="2" charset="-122"/>
                      </a:endParaRPr>
                    </a:p>
                  </a:txBody>
                  <a:tcPr marL="51431" marR="51431" marT="0" marB="0" anchor="ctr" anchorCtr="0">
                    <a:lnL>
                      <a:noFill/>
                    </a:lnL>
                    <a:lnR>
                      <a:noFill/>
                    </a:lnR>
                    <a:lnT>
                      <a:noFill/>
                    </a:lnT>
                    <a:lnB>
                      <a:noFill/>
                    </a:lnB>
                    <a:solidFill>
                      <a:srgbClr val="FFFFFF"/>
                    </a:solidFill>
                  </a:tcPr>
                </a:tc>
              </a:tr>
              <a:tr h="181610">
                <a:tc vMerge="1">
                  <a:tcPr>
                    <a:lnL>
                      <a:noFill/>
                    </a:lnL>
                    <a:lnR>
                      <a:noFill/>
                    </a:lnR>
                    <a:lnT>
                      <a:noFill/>
                    </a:lnT>
                    <a:lnB>
                      <a:noFill/>
                    </a:lnB>
                    <a:solidFill>
                      <a:srgbClr val="F0EFF2"/>
                    </a:solidFill>
                  </a:tcPr>
                </a:tc>
                <a:tc vMerge="1">
                  <a:tcPr>
                    <a:lnL>
                      <a:noFill/>
                    </a:lnL>
                    <a:lnR>
                      <a:noFill/>
                    </a:lnR>
                    <a:lnT>
                      <a:noFill/>
                    </a:lnT>
                    <a:lnB>
                      <a:noFill/>
                    </a:lnB>
                    <a:solidFill>
                      <a:srgbClr val="F0EFF2"/>
                    </a:solidFill>
                  </a:tcPr>
                </a:tc>
                <a:tc>
                  <a:txBody>
                    <a:bodyPr/>
                    <a:p>
                      <a:pPr indent="0" algn="ctr" fontAlgn="auto">
                        <a:spcAft>
                          <a:spcPts val="0"/>
                        </a:spcAft>
                      </a:pPr>
                      <a:r>
                        <a:rPr lang="en-US" sz="800" kern="100">
                          <a:solidFill>
                            <a:srgbClr val="584E61"/>
                          </a:solidFill>
                          <a:effectLst/>
                        </a:rPr>
                        <a:t>10010011&lt;&lt;2</a:t>
                      </a:r>
                      <a:endParaRPr lang="en-US" sz="800" kern="100">
                        <a:solidFill>
                          <a:srgbClr val="584E61"/>
                        </a:solidFill>
                        <a:effectLst/>
                        <a:latin typeface="Times New Roman" panose="02020503050405090304"/>
                        <a:ea typeface="宋体" pitchFamily="2" charset="-122"/>
                      </a:endParaRPr>
                    </a:p>
                  </a:txBody>
                  <a:tcPr marL="51431" marR="51431" marT="0" marB="0" anchor="ctr" anchorCtr="0">
                    <a:lnL>
                      <a:noFill/>
                    </a:lnL>
                    <a:lnR>
                      <a:noFill/>
                    </a:lnR>
                    <a:lnT>
                      <a:noFill/>
                    </a:lnT>
                    <a:lnB>
                      <a:noFill/>
                    </a:lnB>
                    <a:solidFill>
                      <a:srgbClr val="F0EFF2"/>
                    </a:solidFill>
                  </a:tcPr>
                </a:tc>
                <a:tc>
                  <a:txBody>
                    <a:bodyPr/>
                    <a:p>
                      <a:pPr indent="0" algn="ctr" fontAlgn="auto">
                        <a:spcAft>
                          <a:spcPts val="0"/>
                        </a:spcAft>
                      </a:pPr>
                      <a:r>
                        <a:rPr lang="en-US" sz="800" kern="0">
                          <a:solidFill>
                            <a:srgbClr val="584E61"/>
                          </a:solidFill>
                          <a:effectLst/>
                        </a:rPr>
                        <a:t>01001100</a:t>
                      </a:r>
                      <a:endParaRPr lang="en-US"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a:noFill/>
                    </a:lnT>
                    <a:lnB>
                      <a:noFill/>
                    </a:lnB>
                    <a:solidFill>
                      <a:srgbClr val="F0EFF2"/>
                    </a:solidFill>
                  </a:tcPr>
                </a:tc>
              </a:tr>
              <a:tr h="181610">
                <a:tc rowSpan="2">
                  <a:txBody>
                    <a:bodyPr/>
                    <a:p>
                      <a:pPr algn="ctr">
                        <a:buNone/>
                      </a:pPr>
                      <a:r>
                        <a:rPr lang="en-US" sz="800" kern="0">
                          <a:solidFill>
                            <a:srgbClr val="584E61"/>
                          </a:solidFill>
                          <a:effectLst/>
                          <a:sym typeface="+mn-ea"/>
                        </a:rPr>
                        <a:t>&gt;&gt; </a:t>
                      </a:r>
                      <a:endParaRPr lang="zh-CN" altLang="en-US" sz="800" kern="0">
                        <a:solidFill>
                          <a:srgbClr val="584E61"/>
                        </a:solidFill>
                        <a:effectLst/>
                        <a:sym typeface="+mn-ea"/>
                      </a:endParaRPr>
                    </a:p>
                  </a:txBody>
                  <a:tcPr anchor="ctr" anchorCtr="0">
                    <a:lnL>
                      <a:noFill/>
                    </a:lnL>
                    <a:lnR>
                      <a:noFill/>
                    </a:lnR>
                    <a:lnT>
                      <a:noFill/>
                    </a:lnT>
                    <a:lnB w="19050">
                      <a:solidFill>
                        <a:srgbClr val="584E61"/>
                      </a:solidFill>
                      <a:prstDash val="solid"/>
                    </a:lnB>
                    <a:solidFill>
                      <a:srgbClr val="FFFFFF"/>
                    </a:solidFill>
                  </a:tcPr>
                </a:tc>
                <a:tc rowSpan="2">
                  <a:txBody>
                    <a:bodyPr/>
                    <a:p>
                      <a:pPr algn="ctr">
                        <a:buNone/>
                      </a:pPr>
                      <a:r>
                        <a:rPr lang="zh-CN" sz="800" kern="0">
                          <a:solidFill>
                            <a:srgbClr val="584E61"/>
                          </a:solidFill>
                          <a:effectLst/>
                          <a:sym typeface="+mn-ea"/>
                        </a:rPr>
                        <a:t>右移</a:t>
                      </a:r>
                      <a:endParaRPr lang="zh-CN" altLang="en-US" sz="800" kern="0">
                        <a:solidFill>
                          <a:srgbClr val="584E61"/>
                        </a:solidFill>
                        <a:effectLst/>
                        <a:sym typeface="+mn-ea"/>
                      </a:endParaRPr>
                    </a:p>
                  </a:txBody>
                  <a:tcPr anchor="ctr" anchorCtr="0">
                    <a:lnL>
                      <a:noFill/>
                    </a:lnL>
                    <a:lnR>
                      <a:noFill/>
                    </a:lnR>
                    <a:lnT>
                      <a:noFill/>
                    </a:lnT>
                    <a:lnB w="19050">
                      <a:solidFill>
                        <a:srgbClr val="584E61"/>
                      </a:solidFill>
                      <a:prstDash val="solid"/>
                    </a:lnB>
                    <a:solidFill>
                      <a:srgbClr val="FFFFFF"/>
                    </a:solidFill>
                  </a:tcPr>
                </a:tc>
                <a:tc>
                  <a:txBody>
                    <a:bodyPr/>
                    <a:p>
                      <a:pPr indent="0" algn="ctr" fontAlgn="auto">
                        <a:spcAft>
                          <a:spcPts val="0"/>
                        </a:spcAft>
                      </a:pPr>
                      <a:r>
                        <a:rPr lang="en-US" sz="800" kern="100">
                          <a:solidFill>
                            <a:srgbClr val="584E61"/>
                          </a:solidFill>
                          <a:effectLst/>
                        </a:rPr>
                        <a:t>01100010&gt;&gt;2</a:t>
                      </a:r>
                      <a:endParaRPr lang="en-US" sz="800" kern="100">
                        <a:solidFill>
                          <a:srgbClr val="584E61"/>
                        </a:solidFill>
                        <a:effectLst/>
                        <a:latin typeface="Times New Roman" panose="02020503050405090304"/>
                        <a:ea typeface="宋体" pitchFamily="2" charset="-122"/>
                      </a:endParaRPr>
                    </a:p>
                  </a:txBody>
                  <a:tcPr marL="51431" marR="51431" marT="0" marB="0" anchor="ctr" anchorCtr="0">
                    <a:lnL>
                      <a:noFill/>
                    </a:lnL>
                    <a:lnR>
                      <a:noFill/>
                    </a:lnR>
                    <a:lnT>
                      <a:noFill/>
                    </a:lnT>
                    <a:lnB>
                      <a:noFill/>
                    </a:lnB>
                    <a:solidFill>
                      <a:srgbClr val="FFFFFF"/>
                    </a:solidFill>
                  </a:tcPr>
                </a:tc>
                <a:tc>
                  <a:txBody>
                    <a:bodyPr/>
                    <a:p>
                      <a:pPr indent="0" algn="ctr" fontAlgn="auto">
                        <a:spcAft>
                          <a:spcPts val="0"/>
                        </a:spcAft>
                      </a:pPr>
                      <a:r>
                        <a:rPr lang="en-US" sz="800" kern="0">
                          <a:solidFill>
                            <a:srgbClr val="584E61"/>
                          </a:solidFill>
                          <a:effectLst/>
                        </a:rPr>
                        <a:t>00011000</a:t>
                      </a:r>
                      <a:endParaRPr lang="en-US"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a:noFill/>
                    </a:lnT>
                    <a:lnB>
                      <a:noFill/>
                    </a:lnB>
                    <a:solidFill>
                      <a:srgbClr val="FFFFFF"/>
                    </a:solidFill>
                  </a:tcPr>
                </a:tc>
              </a:tr>
              <a:tr h="181610">
                <a:tc vMerge="1">
                  <a:tcPr>
                    <a:lnL>
                      <a:noFill/>
                    </a:lnL>
                    <a:lnR>
                      <a:noFill/>
                    </a:lnR>
                    <a:lnT>
                      <a:noFill/>
                    </a:lnT>
                    <a:lnB w="19050">
                      <a:solidFill>
                        <a:srgbClr val="584E61"/>
                      </a:solidFill>
                      <a:prstDash val="solid"/>
                    </a:lnB>
                    <a:solidFill>
                      <a:srgbClr val="F0EFF2"/>
                    </a:solidFill>
                  </a:tcPr>
                </a:tc>
                <a:tc vMerge="1">
                  <a:tcPr>
                    <a:lnL>
                      <a:noFill/>
                    </a:lnL>
                    <a:lnR>
                      <a:noFill/>
                    </a:lnR>
                    <a:lnT>
                      <a:noFill/>
                    </a:lnT>
                    <a:lnB w="19050">
                      <a:solidFill>
                        <a:srgbClr val="584E61"/>
                      </a:solidFill>
                      <a:prstDash val="solid"/>
                    </a:lnB>
                    <a:solidFill>
                      <a:srgbClr val="F0EFF2"/>
                    </a:solidFill>
                  </a:tcPr>
                </a:tc>
                <a:tc>
                  <a:txBody>
                    <a:bodyPr/>
                    <a:p>
                      <a:pPr indent="0" algn="ctr" fontAlgn="auto">
                        <a:spcAft>
                          <a:spcPts val="0"/>
                        </a:spcAft>
                      </a:pPr>
                      <a:r>
                        <a:rPr lang="en-US" sz="800" kern="0">
                          <a:solidFill>
                            <a:srgbClr val="584E61"/>
                          </a:solidFill>
                          <a:effectLst/>
                        </a:rPr>
                        <a:t>11100010&gt;&gt;2</a:t>
                      </a:r>
                      <a:endParaRPr lang="en-US" sz="800" kern="0">
                        <a:solidFill>
                          <a:srgbClr val="584E61"/>
                        </a:solidFill>
                        <a:effectLst/>
                        <a:latin typeface="Times New Roman" panose="02020503050405090304"/>
                        <a:ea typeface="宋体" pitchFamily="2" charset="-122"/>
                      </a:endParaRPr>
                    </a:p>
                  </a:txBody>
                  <a:tcPr marL="51431" marR="51431" marT="0" marB="0" anchor="ctr" anchorCtr="0">
                    <a:lnL>
                      <a:noFill/>
                    </a:lnL>
                    <a:lnR>
                      <a:noFill/>
                    </a:lnR>
                    <a:lnT>
                      <a:noFill/>
                    </a:lnT>
                    <a:lnB w="19050">
                      <a:solidFill>
                        <a:srgbClr val="584E61"/>
                      </a:solidFill>
                      <a:prstDash val="solid"/>
                    </a:lnB>
                    <a:solidFill>
                      <a:srgbClr val="F0EFF2"/>
                    </a:solidFill>
                  </a:tcPr>
                </a:tc>
                <a:tc>
                  <a:txBody>
                    <a:bodyPr/>
                    <a:p>
                      <a:pPr indent="0" algn="ctr" fontAlgn="auto">
                        <a:spcAft>
                          <a:spcPts val="0"/>
                        </a:spcAft>
                      </a:pPr>
                      <a:r>
                        <a:rPr lang="en-US" sz="800" kern="0" dirty="0">
                          <a:solidFill>
                            <a:srgbClr val="584E61"/>
                          </a:solidFill>
                          <a:effectLst/>
                        </a:rPr>
                        <a:t>11111000 </a:t>
                      </a:r>
                      <a:endParaRPr lang="en-US" sz="800" kern="0" dirty="0">
                        <a:solidFill>
                          <a:srgbClr val="584E61"/>
                        </a:solidFill>
                        <a:effectLst/>
                        <a:latin typeface="Times New Roman" panose="02020503050405090304"/>
                        <a:ea typeface="宋体" pitchFamily="2" charset="-122"/>
                      </a:endParaRPr>
                    </a:p>
                  </a:txBody>
                  <a:tcPr marL="51431" marR="51431" marT="0" marB="0" anchor="ctr" anchorCtr="0">
                    <a:lnL>
                      <a:noFill/>
                    </a:lnL>
                    <a:lnR>
                      <a:noFill/>
                    </a:lnR>
                    <a:lnT>
                      <a:noFill/>
                    </a:lnT>
                    <a:lnB w="19050">
                      <a:solidFill>
                        <a:srgbClr val="584E61"/>
                      </a:solidFill>
                      <a:prstDash val="solid"/>
                    </a:lnB>
                    <a:solidFill>
                      <a:srgbClr val="F0EFF2"/>
                    </a:solidFill>
                  </a:tcPr>
                </a:tc>
              </a:tr>
            </a:tbl>
          </a:graphicData>
        </a:graphic>
      </p:graphicFrame>
      <p:sp>
        <p:nvSpPr>
          <p:cNvPr id="2" name="灯片编号占位符 1"/>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bwMode="auto">
          <a:xfrm>
            <a:off x="1485900" y="679847"/>
            <a:ext cx="6172200" cy="429934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0" marR="0" lvl="0" indent="0" algn="l" defTabSz="914400" rtl="0" eaLnBrk="0" fontAlgn="base" latinLnBrk="0" hangingPunct="0">
              <a:lnSpc>
                <a:spcPct val="150000"/>
              </a:lnSpc>
              <a:spcBef>
                <a:spcPct val="20000"/>
              </a:spcBef>
              <a:spcAft>
                <a:spcPct val="0"/>
              </a:spcAft>
              <a:buClrTx/>
              <a:buSzTx/>
              <a:buFontTx/>
              <a:buNone/>
              <a:defRPr/>
            </a:pP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     位运算符介绍：</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a:pPr>
            <a:r>
              <a:rPr kumimoji="0" lang="zh-CN" altLang="zh-CN" sz="1500" b="0" i="0" u="none" strike="noStrike" kern="0" cap="none" spc="0" normalizeH="0" baseline="0" noProof="0" dirty="0">
                <a:ln>
                  <a:noFill/>
                </a:ln>
                <a:solidFill>
                  <a:schemeClr val="tx1"/>
                </a:solidFill>
                <a:effectLst/>
                <a:uLnTx/>
                <a:uFillTx/>
                <a:latin typeface="+mn-lt"/>
                <a:ea typeface="+mn-ea"/>
                <a:cs typeface="+mn-cs"/>
              </a:rPr>
              <a:t>与运算符“</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&amp;</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”是将参与运算的两个二进制数进行</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与</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运算，如果两个二进制位都为</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1</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，则该位的运算结果为</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1</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，否则为</a:t>
            </a: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0</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例如将</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6</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和</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11</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进行与运算， </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6</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对应的二进制数为</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00000110</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11</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对应的二进制数为</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00001011</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，具体演算过程如下所示</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ts val="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00000110</a:t>
            </a: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ts val="0"/>
              </a:spcBef>
              <a:spcAft>
                <a:spcPct val="0"/>
              </a:spcAft>
              <a:buClrTx/>
              <a:buSzTx/>
              <a:buFontTx/>
              <a:buNone/>
              <a:defRPr/>
            </a:pPr>
            <a:r>
              <a:rPr kumimoji="0" lang="en-US" altLang="zh-CN" sz="1050" b="0" i="0" u="none" strike="noStrike" kern="0" cap="none" spc="0" normalizeH="0" baseline="0" noProof="0" dirty="0">
                <a:ln>
                  <a:noFill/>
                </a:ln>
                <a:solidFill>
                  <a:schemeClr val="tx1"/>
                </a:solidFill>
                <a:effectLst/>
                <a:uLnTx/>
                <a:uFillTx/>
                <a:latin typeface="+mn-lt"/>
                <a:ea typeface="+mn-ea"/>
                <a:cs typeface="+mn-cs"/>
              </a:rPr>
              <a:t> </a:t>
            </a: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                                           &amp;</a:t>
            </a: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ts val="0"/>
              </a:spcBef>
              <a:spcAft>
                <a:spcPct val="0"/>
              </a:spcAft>
              <a:buClrTx/>
              <a:buSzTx/>
              <a:buFontTx/>
              <a:buNone/>
              <a:defRPr/>
            </a:pPr>
            <a:r>
              <a:rPr kumimoji="0" lang="en-US" altLang="zh-CN" sz="1050" b="0" i="0" u="none" strike="noStrike" kern="0" cap="none" spc="0" normalizeH="0" baseline="0" noProof="0" dirty="0">
                <a:ln>
                  <a:noFill/>
                </a:ln>
                <a:solidFill>
                  <a:schemeClr val="tx1"/>
                </a:solidFill>
                <a:effectLst/>
                <a:uLnTx/>
                <a:uFillTx/>
                <a:latin typeface="+mn-lt"/>
                <a:ea typeface="+mn-ea"/>
                <a:cs typeface="+mn-cs"/>
              </a:rPr>
              <a:t> </a:t>
            </a: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                                                 00001011</a:t>
            </a: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ts val="0"/>
              </a:spcBef>
              <a:spcAft>
                <a:spcPct val="0"/>
              </a:spcAft>
              <a:buClrTx/>
              <a:buSzTx/>
              <a:buFontTx/>
              <a:buNone/>
              <a:defRPr/>
            </a:pPr>
            <a:r>
              <a:rPr kumimoji="0" lang="en-US" altLang="zh-CN" sz="1050" b="0" i="0" u="none" strike="noStrike" kern="0" cap="none" spc="0" normalizeH="0" baseline="0" noProof="0" dirty="0">
                <a:ln>
                  <a:noFill/>
                </a:ln>
                <a:solidFill>
                  <a:schemeClr val="tx1"/>
                </a:solidFill>
                <a:effectLst/>
                <a:uLnTx/>
                <a:uFillTx/>
                <a:latin typeface="+mn-lt"/>
                <a:ea typeface="+mn-ea"/>
                <a:cs typeface="+mn-cs"/>
              </a:rPr>
              <a:t> </a:t>
            </a: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ts val="0"/>
              </a:spcBef>
              <a:spcAft>
                <a:spcPct val="0"/>
              </a:spcAft>
              <a:buClrTx/>
              <a:buSzTx/>
              <a:buFontTx/>
              <a:buNone/>
              <a:defRPr/>
            </a:pPr>
            <a:r>
              <a:rPr kumimoji="0" lang="en-US" altLang="zh-CN" sz="1050" b="0" i="0" u="none" strike="noStrike" kern="0" cap="none" spc="0" normalizeH="0" baseline="0" noProof="0" dirty="0">
                <a:ln>
                  <a:noFill/>
                </a:ln>
                <a:solidFill>
                  <a:schemeClr val="tx1"/>
                </a:solidFill>
                <a:effectLst/>
                <a:uLnTx/>
                <a:uFillTx/>
                <a:latin typeface="+mn-lt"/>
                <a:ea typeface="+mn-ea"/>
                <a:cs typeface="+mn-cs"/>
              </a:rPr>
              <a:t> </a:t>
            </a: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                                                 00000010</a:t>
            </a: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ts val="0"/>
              </a:spcBef>
              <a:spcAft>
                <a:spcPct val="0"/>
              </a:spcAft>
              <a:buClrTx/>
              <a:buSzTx/>
              <a:buFontTx/>
              <a:buNone/>
              <a:defRPr/>
            </a:pPr>
            <a:r>
              <a:rPr kumimoji="0" lang="en-US" altLang="zh-CN" sz="1500" b="0" i="0" u="none" strike="noStrike" kern="0" cap="none" spc="0" normalizeH="0" baseline="0" noProof="0" dirty="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运算结果为</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00000010</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，对应数值</a:t>
            </a: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2</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en-US"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p:txBody>
      </p:sp>
      <p:sp>
        <p:nvSpPr>
          <p:cNvPr id="3" name="标题 1"/>
          <p:cNvSpPr>
            <a:spLocks noGrp="1"/>
          </p:cNvSpPr>
          <p:nvPr>
            <p:custDataLst>
              <p:tags r:id="rId1"/>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2.4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运算符</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2" name="灯片编号占位符 1"/>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bwMode="auto">
          <a:xfrm>
            <a:off x="1485900" y="694135"/>
            <a:ext cx="6172200" cy="429934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a:pP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位</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运算符“</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”是将参与运算的两个二进制数进行</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或</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运算，如果二进制位上有一个值为</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1</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，则该位的运行结果为</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1</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，否则为</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0</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例如将</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6</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与</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11</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进行或运算，具体演算过程</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如下</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00000110</a:t>
            </a:r>
            <a:endParaRPr kumimoji="0" lang="zh-CN"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                                    </a:t>
            </a:r>
            <a:r>
              <a:rPr kumimoji="0" lang="en-US" altLang="zh-CN" sz="1050" b="0" i="0" u="none" strike="noStrike" kern="0" cap="none" spc="0" normalizeH="0" baseline="0" noProof="0" dirty="0">
                <a:ln>
                  <a:noFill/>
                </a:ln>
                <a:solidFill>
                  <a:schemeClr val="tx1"/>
                </a:solidFill>
                <a:effectLst/>
                <a:uLnTx/>
                <a:uFillTx/>
                <a:latin typeface="+mn-lt"/>
                <a:ea typeface="+mn-ea"/>
                <a:cs typeface="+mn-cs"/>
              </a:rPr>
              <a:t>|</a:t>
            </a:r>
            <a:endParaRPr kumimoji="0" lang="zh-CN"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zh-CN" altLang="en-US" sz="1050" b="0" i="0" u="none" strike="noStrike" kern="0" cap="none" spc="0" normalizeH="0" baseline="0" noProof="0" dirty="0">
                <a:ln>
                  <a:noFill/>
                </a:ln>
                <a:solidFill>
                  <a:schemeClr val="tx1"/>
                </a:solidFill>
                <a:effectLst/>
                <a:uLnTx/>
                <a:uFillTx/>
                <a:latin typeface="+mn-lt"/>
                <a:ea typeface="+mn-ea"/>
                <a:cs typeface="+mn-cs"/>
              </a:rPr>
              <a:t> </a:t>
            </a:r>
            <a:r>
              <a:rPr kumimoji="0" lang="zh-CN" altLang="en-US" sz="1050" b="0" i="0" u="none" strike="noStrike" kern="0" cap="none" spc="0" normalizeH="0" baseline="0" noProof="0" dirty="0" smtClean="0">
                <a:ln>
                  <a:noFill/>
                </a:ln>
                <a:solidFill>
                  <a:schemeClr val="tx1"/>
                </a:solidFill>
                <a:effectLst/>
                <a:uLnTx/>
                <a:uFillTx/>
                <a:latin typeface="+mn-lt"/>
                <a:ea typeface="+mn-ea"/>
                <a:cs typeface="+mn-cs"/>
              </a:rPr>
              <a:t>                                        </a:t>
            </a: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00001011</a:t>
            </a:r>
            <a:endParaRPr kumimoji="0" lang="zh-CN"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050" b="0" i="0" u="none" strike="noStrike" kern="0" cap="none" spc="0" normalizeH="0" baseline="0" noProof="0" dirty="0">
                <a:ln>
                  <a:noFill/>
                </a:ln>
                <a:solidFill>
                  <a:schemeClr val="tx1"/>
                </a:solidFill>
                <a:effectLst/>
                <a:uLnTx/>
                <a:uFillTx/>
                <a:latin typeface="+mn-lt"/>
                <a:ea typeface="+mn-ea"/>
                <a:cs typeface="+mn-cs"/>
              </a:rPr>
              <a:t> </a:t>
            </a: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                                        </a:t>
            </a:r>
            <a:r>
              <a:rPr kumimoji="0" lang="en-US" altLang="zh-CN" sz="1050" b="0" i="0" u="none" strike="noStrike" kern="0" cap="none" spc="0" normalizeH="0" baseline="0" noProof="0" dirty="0">
                <a:ln>
                  <a:noFill/>
                </a:ln>
                <a:solidFill>
                  <a:schemeClr val="tx1"/>
                </a:solidFill>
                <a:effectLst/>
                <a:uLnTx/>
                <a:uFillTx/>
                <a:latin typeface="+mn-lt"/>
                <a:ea typeface="+mn-ea"/>
                <a:cs typeface="+mn-cs"/>
              </a:rPr>
              <a:t>00001111 </a:t>
            </a: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运算</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结果为</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00001111</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，对应数值</a:t>
            </a: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15</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a:pP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en-US"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p:txBody>
      </p:sp>
      <p:sp>
        <p:nvSpPr>
          <p:cNvPr id="3" name="标题 1"/>
          <p:cNvSpPr>
            <a:spLocks noGrp="1"/>
          </p:cNvSpPr>
          <p:nvPr>
            <p:custDataLst>
              <p:tags r:id="rId1"/>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2.4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运算符</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2" name="灯片编号占位符 1"/>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bwMode="auto">
          <a:xfrm>
            <a:off x="1485900" y="844154"/>
            <a:ext cx="6172200" cy="4030266"/>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a:pP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位</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运算符“</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”只针对一个操作数进行操作，如果二进制位是</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0</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，则取反值为</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1</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；如果是</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1</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，则取反值为</a:t>
            </a: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0</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例如将</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6</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进行取反运算，具体演算过程</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如下</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                                    ~   </a:t>
            </a:r>
            <a:r>
              <a:rPr kumimoji="0" lang="en-US" altLang="zh-CN" sz="1050" b="0" i="0" u="none" strike="noStrike" kern="0" cap="none" spc="0" normalizeH="0" baseline="0" noProof="0" dirty="0">
                <a:ln>
                  <a:noFill/>
                </a:ln>
                <a:solidFill>
                  <a:schemeClr val="tx1"/>
                </a:solidFill>
                <a:effectLst/>
                <a:uLnTx/>
                <a:uFillTx/>
                <a:latin typeface="+mn-lt"/>
                <a:ea typeface="+mn-ea"/>
                <a:cs typeface="+mn-cs"/>
              </a:rPr>
              <a:t>00000110</a:t>
            </a:r>
            <a:endParaRPr kumimoji="0" lang="zh-CN"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                                         11111001</a:t>
            </a: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运算</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结果为</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11111001</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，对应数值</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7</a:t>
            </a:r>
            <a:r>
              <a:rPr kumimoji="0" lang="zh-CN" altLang="en-US"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en-US"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p:txBody>
      </p:sp>
      <p:sp>
        <p:nvSpPr>
          <p:cNvPr id="3" name="标题 1"/>
          <p:cNvSpPr>
            <a:spLocks noGrp="1"/>
          </p:cNvSpPr>
          <p:nvPr>
            <p:custDataLst>
              <p:tags r:id="rId1"/>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2.4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运算符</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2" name="灯片编号占位符 1"/>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bwMode="auto">
          <a:xfrm>
            <a:off x="1485900" y="757238"/>
            <a:ext cx="6172200" cy="4182666"/>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a:pP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位</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运算符“</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”是将参与运算的两个二进制数进行</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异或</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运算，如果二进制位相同，则值为</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0</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，否则为</a:t>
            </a: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1</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例如将</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6</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与</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11</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进行异或运算，具体演算过程如下</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                                         00000110</a:t>
            </a: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050" b="0" i="0" u="none" strike="noStrike" kern="0" cap="none" spc="0" normalizeH="0" baseline="0" noProof="0" dirty="0">
                <a:ln>
                  <a:noFill/>
                </a:ln>
                <a:solidFill>
                  <a:schemeClr val="tx1"/>
                </a:solidFill>
                <a:effectLst/>
                <a:uLnTx/>
                <a:uFillTx/>
                <a:latin typeface="+mn-lt"/>
                <a:ea typeface="+mn-ea"/>
                <a:cs typeface="+mn-cs"/>
              </a:rPr>
              <a:t> </a:t>
            </a: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050" b="0" i="0" u="none" strike="noStrike" kern="0" cap="none" spc="0" normalizeH="0" baseline="0" noProof="0" dirty="0">
                <a:ln>
                  <a:noFill/>
                </a:ln>
                <a:solidFill>
                  <a:schemeClr val="tx1"/>
                </a:solidFill>
                <a:effectLst/>
                <a:uLnTx/>
                <a:uFillTx/>
                <a:latin typeface="+mn-lt"/>
                <a:ea typeface="+mn-ea"/>
                <a:cs typeface="+mn-cs"/>
              </a:rPr>
              <a:t> </a:t>
            </a: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                                         00001011</a:t>
            </a:r>
            <a:endParaRPr kumimoji="0" lang="zh-CN"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                                         </a:t>
            </a:r>
            <a:r>
              <a:rPr kumimoji="0" lang="en-US" altLang="zh-CN" sz="1050" b="0" i="0" u="none" strike="noStrike" kern="0" cap="none" spc="0" normalizeH="0" baseline="0" noProof="0" dirty="0">
                <a:ln>
                  <a:noFill/>
                </a:ln>
                <a:solidFill>
                  <a:schemeClr val="tx1"/>
                </a:solidFill>
                <a:effectLst/>
                <a:uLnTx/>
                <a:uFillTx/>
                <a:latin typeface="+mn-lt"/>
                <a:ea typeface="+mn-ea"/>
                <a:cs typeface="+mn-cs"/>
              </a:rPr>
              <a:t>00001101</a:t>
            </a: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运算结果为</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00001101</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，对应数值</a:t>
            </a: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13</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en-US"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p:txBody>
      </p:sp>
      <p:sp>
        <p:nvSpPr>
          <p:cNvPr id="3" name="标题 1"/>
          <p:cNvSpPr>
            <a:spLocks noGrp="1"/>
          </p:cNvSpPr>
          <p:nvPr>
            <p:custDataLst>
              <p:tags r:id="rId1"/>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2.4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运算符</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2" name="灯片编号占位符 1"/>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bwMode="auto">
          <a:xfrm>
            <a:off x="1485900" y="783431"/>
            <a:ext cx="6172200" cy="398978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a:pP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位</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运算符“</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&lt;&lt;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”就是将操作数所有二进制位向左移动一位。运算时，右边的空位补</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0</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。左边移走的部分</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舍去</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例如一个</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byte</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类型的数字</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11</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用二进制表示为</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00001011</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，将它左移一位，具体演算过程如下</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                                         </a:t>
            </a:r>
            <a:r>
              <a:rPr kumimoji="0" lang="en-US" altLang="zh-CN" sz="1050" b="0" i="0" u="none" strike="noStrike" kern="0" cap="none" spc="0" normalizeH="0" baseline="0" noProof="0" dirty="0">
                <a:ln>
                  <a:noFill/>
                </a:ln>
                <a:solidFill>
                  <a:schemeClr val="tx1"/>
                </a:solidFill>
                <a:effectLst/>
                <a:uLnTx/>
                <a:uFillTx/>
                <a:latin typeface="+mn-lt"/>
                <a:ea typeface="+mn-ea"/>
                <a:cs typeface="+mn-cs"/>
              </a:rPr>
              <a:t>00001011         &lt;&lt;1</a:t>
            </a: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                                         00010110</a:t>
            </a: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运算</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结果为</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00010110</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，对应数值</a:t>
            </a: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22</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zh-CN" altLang="en-US" sz="15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p:txBody>
      </p:sp>
      <p:sp>
        <p:nvSpPr>
          <p:cNvPr id="3" name="标题 1"/>
          <p:cNvSpPr>
            <a:spLocks noGrp="1"/>
          </p:cNvSpPr>
          <p:nvPr>
            <p:custDataLst>
              <p:tags r:id="rId1"/>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2.4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运算符</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2" name="灯片编号占位符 1"/>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bwMode="auto">
          <a:xfrm>
            <a:off x="1485900" y="858441"/>
            <a:ext cx="6172200" cy="3979069"/>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a:pP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位</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运算符“</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&gt;&gt;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”就是将操作数所有二进制位向右移动一位。运算时，左边的空位根据原数的符号位补</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0</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或者</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1</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（原来是负数就补</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1</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，是正数就补</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0</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例如一个</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byte</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的数字</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11</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用二进制表示为</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00001011</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，将它右移一位，具体演算过程如下</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                                         </a:t>
            </a:r>
            <a:r>
              <a:rPr kumimoji="0" lang="en-US" altLang="zh-CN" sz="1050" b="0" i="0" u="none" strike="noStrike" kern="0" cap="none" spc="0" normalizeH="0" baseline="0" noProof="0" dirty="0">
                <a:ln>
                  <a:noFill/>
                </a:ln>
                <a:solidFill>
                  <a:schemeClr val="tx1"/>
                </a:solidFill>
                <a:effectLst/>
                <a:uLnTx/>
                <a:uFillTx/>
                <a:latin typeface="+mn-lt"/>
                <a:ea typeface="+mn-ea"/>
                <a:cs typeface="+mn-cs"/>
              </a:rPr>
              <a:t>00001011         </a:t>
            </a: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&gt;&gt;1                                      </a:t>
            </a: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                                         00000101</a:t>
            </a: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运算</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结果为</a:t>
            </a: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00000101</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对应</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数值</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5</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zh-CN" altLang="en-US" sz="15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p:txBody>
      </p:sp>
      <p:sp>
        <p:nvSpPr>
          <p:cNvPr id="3" name="标题 1"/>
          <p:cNvSpPr>
            <a:spLocks noGrp="1"/>
          </p:cNvSpPr>
          <p:nvPr>
            <p:custDataLst>
              <p:tags r:id="rId1"/>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2.4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运算符</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2" name="灯片编号占位符 1"/>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bwMode="auto">
          <a:xfrm>
            <a:off x="1485900" y="688181"/>
            <a:ext cx="6172200" cy="4289822"/>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Tx/>
              <a:buChar char="•"/>
              <a:defRPr/>
            </a:pPr>
            <a:r>
              <a:rPr kumimoji="0" lang="en-US" altLang="zh-CN" sz="1500" b="1" i="0" u="none" strike="noStrike" kern="0" cap="none" spc="0" normalizeH="0" baseline="0" noProof="0" dirty="0" smtClean="0">
                <a:ln>
                  <a:noFill/>
                </a:ln>
                <a:solidFill>
                  <a:srgbClr val="009ED6"/>
                </a:solidFill>
                <a:effectLst/>
                <a:uLnTx/>
                <a:uFillTx/>
                <a:latin typeface="+mn-lt"/>
                <a:ea typeface="+mn-ea"/>
                <a:cs typeface="+mn-cs"/>
              </a:rPr>
              <a:t>2.4.7   sizeof()</a:t>
            </a:r>
            <a:r>
              <a:rPr kumimoji="0" lang="zh-CN" altLang="en-US" sz="1500" b="1" i="0" u="none" strike="noStrike" kern="0" cap="none" spc="0" normalizeH="0" baseline="0" noProof="0" dirty="0" smtClean="0">
                <a:ln>
                  <a:noFill/>
                </a:ln>
                <a:solidFill>
                  <a:srgbClr val="009ED6"/>
                </a:solidFill>
                <a:effectLst/>
                <a:uLnTx/>
                <a:uFillTx/>
                <a:latin typeface="+mn-lt"/>
                <a:ea typeface="+mn-ea"/>
                <a:cs typeface="+mn-cs"/>
              </a:rPr>
              <a:t>运算符</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同</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一种数据类型在不同的编译系统中所占空间不一定相同，例如，在基于</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16</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位的编译系统中，</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int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类型占用</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2</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个字节，而在</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32</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位的编译系统中，</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int</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类型占用</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4</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个字节。为了获取某一数据或数据类型在内存中所占的字节数，</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C</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语言提供了</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sizeof</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运算符，使用</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sizeof</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运算符获取数据字节数，其基本语法规则如下所</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示</a:t>
            </a:r>
            <a:r>
              <a:rPr kumimoji="0" lang="zh-CN" altLang="en-US" sz="1500" b="0" i="0" u="none" strike="noStrike" kern="0" cap="none" spc="0" normalizeH="0" baseline="0" noProof="0" dirty="0" smtClean="0">
                <a:ln>
                  <a:noFill/>
                </a:ln>
                <a:solidFill>
                  <a:schemeClr val="tx1"/>
                </a:solidFill>
                <a:effectLst/>
                <a:uLnTx/>
                <a:uFillTx/>
                <a:latin typeface="+mn-lt"/>
                <a:ea typeface="+mn-ea"/>
                <a:cs typeface="+mn-cs"/>
              </a:rPr>
              <a:t>：</a:t>
            </a:r>
            <a:endParaRPr kumimoji="0" lang="zh-CN" altLang="en-US" sz="15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rPr>
              <a:t>        </a:t>
            </a:r>
            <a:endParaRPr kumimoji="0" lang="en-US" altLang="zh-CN" b="0" i="0" u="none" strike="noStrike" kern="0" cap="none" spc="0" normalizeH="0" baseline="0" noProof="0" dirty="0" smtClean="0">
              <a:ln>
                <a:noFill/>
              </a:ln>
              <a:solidFill>
                <a:schemeClr val="tx1"/>
              </a:solidFill>
              <a:effectLst/>
              <a:uLnTx/>
              <a:uFillTx/>
              <a:latin typeface="+mn-lt"/>
              <a:ea typeface="+mn-ea"/>
            </a:endParaRPr>
          </a:p>
        </p:txBody>
      </p:sp>
      <p:sp>
        <p:nvSpPr>
          <p:cNvPr id="4" name="标题 1"/>
          <p:cNvSpPr txBox="1"/>
          <p:nvPr/>
        </p:nvSpPr>
        <p:spPr>
          <a:xfrm>
            <a:off x="1833563" y="2994422"/>
            <a:ext cx="5824538" cy="739379"/>
          </a:xfrm>
          <a:prstGeom prst="rect">
            <a:avLst/>
          </a:prstGeom>
          <a:solidFill>
            <a:srgbClr val="66CCFF"/>
          </a:solidFill>
        </p:spPr>
        <p:txBody>
          <a:bodyPr/>
          <a:lstStyle>
            <a:lvl1pPr algn="l" rtl="0" eaLnBrk="0" fontAlgn="base" hangingPunct="0">
              <a:spcBef>
                <a:spcPct val="0"/>
              </a:spcBef>
              <a:spcAft>
                <a:spcPct val="0"/>
              </a:spcAft>
              <a:defRPr sz="3600" b="1" spc="300">
                <a:solidFill>
                  <a:srgbClr val="FFFF00"/>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5pPr>
            <a:lvl6pPr marL="457200" algn="ctr" rtl="0" fontAlgn="base">
              <a:spcBef>
                <a:spcPct val="0"/>
              </a:spcBef>
              <a:spcAft>
                <a:spcPct val="0"/>
              </a:spcAft>
              <a:defRPr sz="4400">
                <a:solidFill>
                  <a:schemeClr val="tx2"/>
                </a:solidFill>
                <a:latin typeface="Arial" panose="020B0604020202090204" pitchFamily="34" charset="0"/>
                <a:ea typeface="宋体" pitchFamily="2" charset="-122"/>
              </a:defRPr>
            </a:lvl6pPr>
            <a:lvl7pPr marL="914400" algn="ctr" rtl="0" fontAlgn="base">
              <a:spcBef>
                <a:spcPct val="0"/>
              </a:spcBef>
              <a:spcAft>
                <a:spcPct val="0"/>
              </a:spcAft>
              <a:defRPr sz="4400">
                <a:solidFill>
                  <a:schemeClr val="tx2"/>
                </a:solidFill>
                <a:latin typeface="Arial" panose="020B0604020202090204" pitchFamily="34" charset="0"/>
                <a:ea typeface="宋体" pitchFamily="2" charset="-122"/>
              </a:defRPr>
            </a:lvl7pPr>
            <a:lvl8pPr marL="1371600" algn="ctr" rtl="0" fontAlgn="base">
              <a:spcBef>
                <a:spcPct val="0"/>
              </a:spcBef>
              <a:spcAft>
                <a:spcPct val="0"/>
              </a:spcAft>
              <a:defRPr sz="4400">
                <a:solidFill>
                  <a:schemeClr val="tx2"/>
                </a:solidFill>
                <a:latin typeface="Arial" panose="020B0604020202090204" pitchFamily="34" charset="0"/>
                <a:ea typeface="宋体" pitchFamily="2" charset="-122"/>
              </a:defRPr>
            </a:lvl8pPr>
            <a:lvl9pPr marL="1828800" algn="ctr" rtl="0" fontAlgn="base">
              <a:spcBef>
                <a:spcPct val="0"/>
              </a:spcBef>
              <a:spcAft>
                <a:spcPct val="0"/>
              </a:spcAft>
              <a:defRPr sz="4400">
                <a:solidFill>
                  <a:schemeClr val="tx2"/>
                </a:solidFill>
                <a:latin typeface="Arial" panose="020B060402020209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500" b="0" i="0" u="none" strike="noStrike" kern="1200" cap="none" spc="300" normalizeH="0" baseline="0" noProof="0" dirty="0">
                <a:ln>
                  <a:noFill/>
                </a:ln>
                <a:solidFill>
                  <a:schemeClr val="tx1"/>
                </a:solidFill>
                <a:effectLst/>
                <a:uLnTx/>
                <a:uFillTx/>
                <a:latin typeface="+mn-ea"/>
                <a:ea typeface="+mn-ea"/>
                <a:cs typeface="+mj-cs"/>
              </a:rPr>
              <a:t>sizeof(</a:t>
            </a:r>
            <a:r>
              <a:rPr kumimoji="0" lang="zh-CN" altLang="zh-CN" sz="1500" b="0" i="0" u="none" strike="noStrike" kern="1200" cap="none" spc="300" normalizeH="0" baseline="0" noProof="0" dirty="0">
                <a:ln>
                  <a:noFill/>
                </a:ln>
                <a:solidFill>
                  <a:schemeClr val="tx1"/>
                </a:solidFill>
                <a:effectLst/>
                <a:uLnTx/>
                <a:uFillTx/>
                <a:latin typeface="+mn-ea"/>
                <a:ea typeface="+mn-ea"/>
                <a:cs typeface="+mj-cs"/>
              </a:rPr>
              <a:t>数据类型名称</a:t>
            </a:r>
            <a:r>
              <a:rPr kumimoji="0" lang="en-US" altLang="zh-CN" sz="1500" b="0" i="0" u="none" strike="noStrike" kern="1200" cap="none" spc="300" normalizeH="0" baseline="0" noProof="0" dirty="0">
                <a:ln>
                  <a:noFill/>
                </a:ln>
                <a:solidFill>
                  <a:schemeClr val="tx1"/>
                </a:solidFill>
                <a:effectLst/>
                <a:uLnTx/>
                <a:uFillTx/>
                <a:latin typeface="+mn-ea"/>
                <a:ea typeface="+mn-ea"/>
                <a:cs typeface="+mj-cs"/>
              </a:rPr>
              <a:t>); </a:t>
            </a:r>
            <a:endParaRPr kumimoji="0" lang="zh-CN" altLang="zh-CN" sz="1500" b="0" i="0" u="none" strike="noStrike" kern="1200" cap="none" spc="300" normalizeH="0" baseline="0" noProof="0" dirty="0">
              <a:ln>
                <a:noFill/>
              </a:ln>
              <a:solidFill>
                <a:schemeClr val="tx1"/>
              </a:solidFill>
              <a:effectLst/>
              <a:uLnTx/>
              <a:uFillTx/>
              <a:latin typeface="+mn-ea"/>
              <a:ea typeface="+mn-ea"/>
              <a:cs typeface="+mj-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500" b="0" i="0" u="none" strike="noStrike" kern="1200" cap="none" spc="300" normalizeH="0" baseline="0" noProof="0" dirty="0">
                <a:ln>
                  <a:noFill/>
                </a:ln>
                <a:solidFill>
                  <a:schemeClr val="tx1"/>
                </a:solidFill>
                <a:effectLst/>
                <a:uLnTx/>
                <a:uFillTx/>
                <a:latin typeface="+mn-ea"/>
                <a:ea typeface="+mn-ea"/>
                <a:cs typeface="+mj-cs"/>
              </a:rPr>
              <a:t>或 </a:t>
            </a:r>
            <a:endParaRPr kumimoji="0" lang="zh-CN" altLang="zh-CN" sz="1500" b="0" i="0" u="none" strike="noStrike" kern="1200" cap="none" spc="300" normalizeH="0" baseline="0" noProof="0" dirty="0">
              <a:ln>
                <a:noFill/>
              </a:ln>
              <a:solidFill>
                <a:schemeClr val="tx1"/>
              </a:solidFill>
              <a:effectLst/>
              <a:uLnTx/>
              <a:uFillTx/>
              <a:latin typeface="+mn-ea"/>
              <a:ea typeface="+mn-ea"/>
              <a:cs typeface="+mj-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500" b="0" i="0" u="none" strike="noStrike" kern="1200" cap="none" spc="300" normalizeH="0" baseline="0" noProof="0" dirty="0">
                <a:ln>
                  <a:noFill/>
                </a:ln>
                <a:solidFill>
                  <a:schemeClr val="tx1"/>
                </a:solidFill>
                <a:effectLst/>
                <a:uLnTx/>
                <a:uFillTx/>
                <a:latin typeface="+mn-ea"/>
                <a:ea typeface="+mn-ea"/>
                <a:cs typeface="+mj-cs"/>
              </a:rPr>
              <a:t>sizeof(</a:t>
            </a:r>
            <a:r>
              <a:rPr kumimoji="0" lang="zh-CN" altLang="zh-CN" sz="1500" b="0" i="0" u="none" strike="noStrike" kern="1200" cap="none" spc="300" normalizeH="0" baseline="0" noProof="0" dirty="0">
                <a:ln>
                  <a:noFill/>
                </a:ln>
                <a:solidFill>
                  <a:schemeClr val="tx1"/>
                </a:solidFill>
                <a:effectLst/>
                <a:uLnTx/>
                <a:uFillTx/>
                <a:latin typeface="+mn-ea"/>
                <a:ea typeface="+mn-ea"/>
                <a:cs typeface="+mj-cs"/>
              </a:rPr>
              <a:t>变量名称</a:t>
            </a:r>
            <a:r>
              <a:rPr kumimoji="0" lang="en-US" altLang="zh-CN" sz="1500" b="0" i="0" u="none" strike="noStrike" kern="1200" cap="none" spc="300" normalizeH="0" baseline="0" noProof="0" dirty="0" smtClean="0">
                <a:ln>
                  <a:noFill/>
                </a:ln>
                <a:solidFill>
                  <a:schemeClr val="tx1"/>
                </a:solidFill>
                <a:effectLst/>
                <a:uLnTx/>
                <a:uFillTx/>
                <a:latin typeface="+mn-ea"/>
                <a:ea typeface="+mn-ea"/>
                <a:cs typeface="+mj-cs"/>
              </a:rPr>
              <a:t>)</a:t>
            </a:r>
            <a:r>
              <a:rPr kumimoji="0" lang="en-US" altLang="zh-CN" sz="1500" b="0" i="0" u="none" strike="noStrike" kern="1200" cap="none" spc="300" normalizeH="0" baseline="0" noProof="0" dirty="0">
                <a:ln>
                  <a:noFill/>
                </a:ln>
                <a:solidFill>
                  <a:schemeClr val="tx1"/>
                </a:solidFill>
                <a:effectLst/>
                <a:uLnTx/>
                <a:uFillTx/>
                <a:latin typeface="+mn-ea"/>
                <a:ea typeface="+mn-ea"/>
                <a:cs typeface="+mj-cs"/>
              </a:rPr>
              <a:t>;</a:t>
            </a:r>
            <a:endParaRPr kumimoji="0" lang="zh-CN" altLang="en-US" sz="1500" b="0" i="0" u="none" strike="noStrike" kern="1200" cap="none" spc="300" normalizeH="0" baseline="0" noProof="0" dirty="0">
              <a:ln>
                <a:noFill/>
              </a:ln>
              <a:solidFill>
                <a:schemeClr val="tx1"/>
              </a:solidFill>
              <a:effectLst/>
              <a:uLnTx/>
              <a:uFillTx/>
              <a:latin typeface="+mn-ea"/>
              <a:ea typeface="+mn-ea"/>
              <a:cs typeface="+mj-cs"/>
            </a:endParaRPr>
          </a:p>
        </p:txBody>
      </p:sp>
      <p:sp>
        <p:nvSpPr>
          <p:cNvPr id="3" name="标题 1"/>
          <p:cNvSpPr>
            <a:spLocks noGrp="1"/>
          </p:cNvSpPr>
          <p:nvPr>
            <p:custDataLst>
              <p:tags r:id="rId1"/>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2.4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运算符</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2" name="灯片编号占位符 1"/>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bwMode="auto">
          <a:xfrm>
            <a:off x="1485900" y="620316"/>
            <a:ext cx="6172200" cy="4289822"/>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Tx/>
              <a:buChar char="•"/>
              <a:defRPr/>
            </a:pPr>
            <a:r>
              <a:rPr kumimoji="0" lang="en-US" altLang="zh-CN" sz="1500" b="1" i="0" u="none" strike="noStrike" kern="0" cap="none" spc="0" normalizeH="0" baseline="0" noProof="0" dirty="0" smtClean="0">
                <a:ln>
                  <a:noFill/>
                </a:ln>
                <a:solidFill>
                  <a:srgbClr val="009ED6"/>
                </a:solidFill>
                <a:effectLst/>
                <a:uLnTx/>
                <a:uFillTx/>
                <a:latin typeface="+mn-lt"/>
                <a:ea typeface="+mn-ea"/>
                <a:cs typeface="+mn-cs"/>
              </a:rPr>
              <a:t>2.4.8   </a:t>
            </a:r>
            <a:r>
              <a:rPr kumimoji="0" lang="zh-CN" altLang="en-US" sz="1500" b="1" i="0" u="none" strike="noStrike" kern="0" cap="none" spc="0" normalizeH="0" baseline="0" noProof="0" dirty="0" smtClean="0">
                <a:ln>
                  <a:noFill/>
                </a:ln>
                <a:solidFill>
                  <a:srgbClr val="009ED6"/>
                </a:solidFill>
                <a:effectLst/>
                <a:uLnTx/>
                <a:uFillTx/>
                <a:latin typeface="+mn-lt"/>
                <a:ea typeface="+mn-ea"/>
                <a:cs typeface="+mn-cs"/>
              </a:rPr>
              <a:t>运算符的优先级</a:t>
            </a:r>
            <a:endParaRPr kumimoji="0" lang="en-US" altLang="zh-CN" sz="1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在</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对一些比较复杂的表达式进行运算时，要明确表达式中所有运算符参与运算的先后顺序，我们把这种顺序称作运算符的优先级。表</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2-16</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列出了</a:t>
            </a:r>
            <a:r>
              <a:rPr kumimoji="0" lang="en-US" altLang="zh-CN" sz="1500" b="0" i="0" u="none" strike="noStrike" kern="0" cap="none" spc="0" normalizeH="0" baseline="0" noProof="0" dirty="0">
                <a:ln>
                  <a:noFill/>
                </a:ln>
                <a:solidFill>
                  <a:schemeClr val="tx1"/>
                </a:solidFill>
                <a:effectLst/>
                <a:uLnTx/>
                <a:uFillTx/>
                <a:latin typeface="+mn-lt"/>
                <a:ea typeface="+mn-ea"/>
                <a:cs typeface="+mn-cs"/>
              </a:rPr>
              <a:t>C</a:t>
            </a:r>
            <a:r>
              <a:rPr kumimoji="0" lang="zh-CN" altLang="zh-CN" sz="1500" b="0" i="0" u="none" strike="noStrike" kern="0" cap="none" spc="0" normalizeH="0" baseline="0" noProof="0" dirty="0">
                <a:ln>
                  <a:noFill/>
                </a:ln>
                <a:solidFill>
                  <a:schemeClr val="tx1"/>
                </a:solidFill>
                <a:effectLst/>
                <a:uLnTx/>
                <a:uFillTx/>
                <a:latin typeface="+mn-lt"/>
                <a:ea typeface="+mn-ea"/>
                <a:cs typeface="+mn-cs"/>
              </a:rPr>
              <a:t>语言中运算符的优先级，数字越小优先级越</a:t>
            </a:r>
            <a:r>
              <a:rPr kumimoji="0" lang="zh-CN" altLang="zh-CN" sz="1500" b="0" i="0" u="none" strike="noStrike" kern="0" cap="none" spc="0" normalizeH="0" baseline="0" noProof="0" dirty="0" smtClean="0">
                <a:ln>
                  <a:noFill/>
                </a:ln>
                <a:solidFill>
                  <a:schemeClr val="tx1"/>
                </a:solidFill>
                <a:effectLst/>
                <a:uLnTx/>
                <a:uFillTx/>
                <a:latin typeface="+mn-lt"/>
                <a:ea typeface="+mn-ea"/>
                <a:cs typeface="+mn-cs"/>
              </a:rPr>
              <a:t>高</a:t>
            </a:r>
            <a:r>
              <a:rPr kumimoji="0" lang="zh-CN" altLang="en-US"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50000"/>
              </a:lnSpc>
              <a:spcBef>
                <a:spcPts val="0"/>
              </a:spcBef>
              <a:spcAft>
                <a:spcPct val="0"/>
              </a:spcAft>
              <a:buClrTx/>
              <a:buSzTx/>
              <a:buFontTx/>
              <a:buNone/>
              <a:defRPr/>
            </a:pPr>
            <a:r>
              <a:rPr kumimoji="0" lang="zh-CN" altLang="en-US" sz="1050" b="0" i="0" u="none" strike="noStrike" kern="0" cap="none" spc="0" normalizeH="0" baseline="0" noProof="0" dirty="0" smtClean="0">
                <a:ln>
                  <a:noFill/>
                </a:ln>
                <a:solidFill>
                  <a:schemeClr val="tx1"/>
                </a:solidFill>
                <a:effectLst/>
                <a:uLnTx/>
                <a:uFillTx/>
                <a:latin typeface="+mn-lt"/>
                <a:ea typeface="+mn-ea"/>
                <a:cs typeface="+mn-cs"/>
              </a:rPr>
              <a:t>表</a:t>
            </a:r>
            <a:r>
              <a:rPr kumimoji="0" lang="en-US" altLang="zh-CN" sz="1050" b="0" i="0" u="none" strike="noStrike" kern="0" cap="none" spc="0" normalizeH="0" baseline="0" noProof="0" dirty="0" smtClean="0">
                <a:ln>
                  <a:noFill/>
                </a:ln>
                <a:solidFill>
                  <a:schemeClr val="tx1"/>
                </a:solidFill>
                <a:effectLst/>
                <a:uLnTx/>
                <a:uFillTx/>
                <a:latin typeface="+mn-lt"/>
                <a:ea typeface="+mn-ea"/>
                <a:cs typeface="+mn-cs"/>
              </a:rPr>
              <a:t>2-16  </a:t>
            </a:r>
            <a:r>
              <a:rPr kumimoji="0" lang="zh-CN" altLang="en-US" sz="1050" b="0" i="0" u="none" strike="noStrike" kern="0" cap="none" spc="0" normalizeH="0" baseline="0" noProof="0" dirty="0" smtClean="0">
                <a:ln>
                  <a:noFill/>
                </a:ln>
                <a:solidFill>
                  <a:schemeClr val="tx1"/>
                </a:solidFill>
                <a:effectLst/>
                <a:uLnTx/>
                <a:uFillTx/>
                <a:latin typeface="+mn-lt"/>
                <a:ea typeface="+mn-ea"/>
                <a:cs typeface="+mn-cs"/>
              </a:rPr>
              <a:t>运算符优先级</a:t>
            </a: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smtClean="0">
              <a:ln>
                <a:noFill/>
              </a:ln>
              <a:solidFill>
                <a:schemeClr val="tx1"/>
              </a:solidFill>
              <a:effectLst/>
              <a:uLnTx/>
              <a:uFillTx/>
              <a:latin typeface="+mn-lt"/>
              <a:ea typeface="+mn-ea"/>
              <a:cs typeface="+mn-cs"/>
            </a:endParaRPr>
          </a:p>
        </p:txBody>
      </p:sp>
      <p:graphicFrame>
        <p:nvGraphicFramePr>
          <p:cNvPr id="2" name="表格 1"/>
          <p:cNvGraphicFramePr>
            <a:graphicFrameLocks noGrp="1"/>
          </p:cNvGraphicFramePr>
          <p:nvPr>
            <p:custDataLst>
              <p:tags r:id="rId1"/>
            </p:custDataLst>
          </p:nvPr>
        </p:nvGraphicFramePr>
        <p:xfrm>
          <a:off x="1485900" y="2513330"/>
          <a:ext cx="6262370" cy="2571750"/>
        </p:xfrm>
        <a:graphic>
          <a:graphicData uri="http://schemas.openxmlformats.org/drawingml/2006/table">
            <a:tbl>
              <a:tblPr/>
              <a:tblGrid>
                <a:gridCol w="1592580"/>
                <a:gridCol w="4669790"/>
              </a:tblGrid>
              <a:tr h="171450">
                <a:tc>
                  <a:txBody>
                    <a:bodyPr/>
                    <a:lstStyle/>
                    <a:p>
                      <a:pPr algn="ctr">
                        <a:spcAft>
                          <a:spcPts val="0"/>
                        </a:spcAft>
                      </a:pPr>
                      <a:r>
                        <a:rPr lang="zh-CN" sz="1100" kern="0" dirty="0">
                          <a:solidFill>
                            <a:srgbClr val="584E61"/>
                          </a:solidFill>
                          <a:effectLst/>
                        </a:rPr>
                        <a:t>优先级</a:t>
                      </a:r>
                      <a:endParaRPr lang="zh-CN" sz="1100" kern="0" dirty="0">
                        <a:solidFill>
                          <a:srgbClr val="584E61"/>
                        </a:solidFill>
                        <a:effectLst/>
                        <a:latin typeface="Times New Roman" panose="02020503050405090304"/>
                        <a:ea typeface="宋体" pitchFamily="2" charset="-122"/>
                      </a:endParaRPr>
                    </a:p>
                  </a:txBody>
                  <a:tcPr marL="51432" marR="51432"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algn="ctr">
                        <a:spcAft>
                          <a:spcPts val="0"/>
                        </a:spcAft>
                      </a:pPr>
                      <a:r>
                        <a:rPr lang="zh-CN" sz="1100" kern="0" dirty="0">
                          <a:solidFill>
                            <a:srgbClr val="584E61"/>
                          </a:solidFill>
                          <a:effectLst/>
                        </a:rPr>
                        <a:t>运算符</a:t>
                      </a:r>
                      <a:endParaRPr lang="zh-CN" sz="1100" kern="0" dirty="0">
                        <a:solidFill>
                          <a:srgbClr val="584E61"/>
                        </a:solidFill>
                        <a:effectLst/>
                        <a:latin typeface="Times New Roman" panose="02020503050405090304"/>
                        <a:ea typeface="宋体" pitchFamily="2" charset="-122"/>
                      </a:endParaRPr>
                    </a:p>
                  </a:txBody>
                  <a:tcPr marL="51432" marR="51432" marT="0" marB="0" anchor="ctr" anchorCtr="0">
                    <a:lnL>
                      <a:noFill/>
                    </a:lnL>
                    <a:lnR>
                      <a:noFill/>
                    </a:lnR>
                    <a:lnT w="19050">
                      <a:solidFill>
                        <a:srgbClr val="584E61"/>
                      </a:solidFill>
                      <a:prstDash val="solid"/>
                    </a:lnT>
                    <a:lnB w="19050">
                      <a:solidFill>
                        <a:srgbClr val="584E61"/>
                      </a:solidFill>
                      <a:prstDash val="solid"/>
                    </a:lnB>
                    <a:solidFill>
                      <a:srgbClr val="FFFFFF"/>
                    </a:solidFill>
                  </a:tcPr>
                </a:tc>
              </a:tr>
              <a:tr h="171450">
                <a:tc>
                  <a:txBody>
                    <a:bodyPr/>
                    <a:lstStyle/>
                    <a:p>
                      <a:pPr algn="ctr">
                        <a:spcAft>
                          <a:spcPts val="0"/>
                        </a:spcAft>
                        <a:tabLst>
                          <a:tab pos="-180340" algn="l"/>
                        </a:tabLst>
                      </a:pPr>
                      <a:r>
                        <a:rPr lang="en-US" sz="1100" kern="0">
                          <a:solidFill>
                            <a:srgbClr val="584E61"/>
                          </a:solidFill>
                          <a:effectLst/>
                        </a:rPr>
                        <a:t>1</a:t>
                      </a:r>
                      <a:endParaRPr lang="en-US"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w="19050">
                      <a:solidFill>
                        <a:srgbClr val="584E61"/>
                      </a:solidFill>
                      <a:prstDash val="solid"/>
                    </a:lnT>
                    <a:lnB>
                      <a:noFill/>
                    </a:lnB>
                    <a:solidFill>
                      <a:srgbClr val="FFFFFF"/>
                    </a:solidFill>
                  </a:tcPr>
                </a:tc>
                <a:tc>
                  <a:txBody>
                    <a:bodyPr/>
                    <a:lstStyle/>
                    <a:p>
                      <a:pPr algn="ctr">
                        <a:spcAft>
                          <a:spcPts val="0"/>
                        </a:spcAft>
                        <a:tabLst>
                          <a:tab pos="-180340" algn="l"/>
                        </a:tabLst>
                      </a:pPr>
                      <a:r>
                        <a:rPr lang="en-US" sz="1100" kern="0" dirty="0">
                          <a:solidFill>
                            <a:srgbClr val="584E61"/>
                          </a:solidFill>
                          <a:effectLst/>
                        </a:rPr>
                        <a:t>.  []  ()</a:t>
                      </a:r>
                      <a:endParaRPr lang="en-US" sz="1100" kern="0" dirty="0">
                        <a:solidFill>
                          <a:srgbClr val="584E61"/>
                        </a:solidFill>
                        <a:effectLst/>
                        <a:latin typeface="Times New Roman" panose="02020503050405090304"/>
                        <a:ea typeface="宋体" pitchFamily="2" charset="-122"/>
                      </a:endParaRPr>
                    </a:p>
                  </a:txBody>
                  <a:tcPr marL="51432" marR="51432" marT="0" marB="0" anchor="ctr" anchorCtr="0">
                    <a:lnL>
                      <a:noFill/>
                    </a:lnL>
                    <a:lnR>
                      <a:noFill/>
                    </a:lnR>
                    <a:lnT w="19050">
                      <a:solidFill>
                        <a:srgbClr val="584E61"/>
                      </a:solidFill>
                      <a:prstDash val="solid"/>
                    </a:lnT>
                    <a:lnB>
                      <a:noFill/>
                    </a:lnB>
                    <a:solidFill>
                      <a:srgbClr val="FFFFFF"/>
                    </a:solidFill>
                  </a:tcPr>
                </a:tc>
              </a:tr>
              <a:tr h="171450">
                <a:tc>
                  <a:txBody>
                    <a:bodyPr/>
                    <a:lstStyle/>
                    <a:p>
                      <a:pPr algn="ctr">
                        <a:spcAft>
                          <a:spcPts val="0"/>
                        </a:spcAft>
                        <a:tabLst>
                          <a:tab pos="-180340" algn="l"/>
                        </a:tabLst>
                      </a:pPr>
                      <a:r>
                        <a:rPr lang="en-US" sz="1100" kern="0">
                          <a:solidFill>
                            <a:srgbClr val="584E61"/>
                          </a:solidFill>
                          <a:effectLst/>
                        </a:rPr>
                        <a:t>2</a:t>
                      </a:r>
                      <a:endParaRPr lang="en-US"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a:noFill/>
                    </a:lnT>
                    <a:lnB>
                      <a:noFill/>
                    </a:lnB>
                    <a:solidFill>
                      <a:srgbClr val="F0EFF2"/>
                    </a:solidFill>
                  </a:tcPr>
                </a:tc>
                <a:tc>
                  <a:txBody>
                    <a:bodyPr/>
                    <a:lstStyle/>
                    <a:p>
                      <a:pPr algn="ctr">
                        <a:spcAft>
                          <a:spcPts val="0"/>
                        </a:spcAft>
                        <a:tabLst>
                          <a:tab pos="-180340" algn="l"/>
                        </a:tabLst>
                      </a:pPr>
                      <a:r>
                        <a:rPr lang="en-US" sz="1100" kern="0">
                          <a:solidFill>
                            <a:srgbClr val="584E61"/>
                          </a:solidFill>
                          <a:effectLst/>
                        </a:rPr>
                        <a:t>++  --  ~  !  (</a:t>
                      </a:r>
                      <a:r>
                        <a:rPr lang="zh-CN" sz="1100" kern="0">
                          <a:solidFill>
                            <a:srgbClr val="584E61"/>
                          </a:solidFill>
                          <a:effectLst/>
                        </a:rPr>
                        <a:t>数据类型</a:t>
                      </a:r>
                      <a:r>
                        <a:rPr lang="en-US" sz="1100" kern="0">
                          <a:solidFill>
                            <a:srgbClr val="584E61"/>
                          </a:solidFill>
                          <a:effectLst/>
                        </a:rPr>
                        <a:t>)</a:t>
                      </a:r>
                      <a:endParaRPr lang="en-US"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a:noFill/>
                    </a:lnT>
                    <a:lnB>
                      <a:noFill/>
                    </a:lnB>
                    <a:solidFill>
                      <a:srgbClr val="F0EFF2"/>
                    </a:solidFill>
                  </a:tcPr>
                </a:tc>
              </a:tr>
              <a:tr h="171450">
                <a:tc>
                  <a:txBody>
                    <a:bodyPr/>
                    <a:lstStyle/>
                    <a:p>
                      <a:pPr algn="ctr">
                        <a:spcAft>
                          <a:spcPts val="0"/>
                        </a:spcAft>
                        <a:tabLst>
                          <a:tab pos="-180340" algn="l"/>
                        </a:tabLst>
                      </a:pPr>
                      <a:r>
                        <a:rPr lang="en-US" sz="1100" kern="0">
                          <a:solidFill>
                            <a:srgbClr val="584E61"/>
                          </a:solidFill>
                          <a:effectLst/>
                        </a:rPr>
                        <a:t>3</a:t>
                      </a:r>
                      <a:endParaRPr lang="en-US"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a:noFill/>
                    </a:lnT>
                    <a:lnB>
                      <a:noFill/>
                    </a:lnB>
                    <a:solidFill>
                      <a:srgbClr val="FFFFFF"/>
                    </a:solidFill>
                  </a:tcPr>
                </a:tc>
                <a:tc>
                  <a:txBody>
                    <a:bodyPr/>
                    <a:lstStyle/>
                    <a:p>
                      <a:pPr algn="ctr">
                        <a:spcAft>
                          <a:spcPts val="0"/>
                        </a:spcAft>
                        <a:tabLst>
                          <a:tab pos="-180340" algn="l"/>
                        </a:tabLst>
                      </a:pPr>
                      <a:r>
                        <a:rPr lang="en-US" sz="1100" kern="0">
                          <a:solidFill>
                            <a:srgbClr val="584E61"/>
                          </a:solidFill>
                          <a:effectLst/>
                        </a:rPr>
                        <a:t>*  /  %</a:t>
                      </a:r>
                      <a:endParaRPr lang="en-US"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a:noFill/>
                    </a:lnT>
                    <a:lnB>
                      <a:noFill/>
                    </a:lnB>
                    <a:solidFill>
                      <a:srgbClr val="FFFFFF"/>
                    </a:solidFill>
                  </a:tcPr>
                </a:tc>
              </a:tr>
              <a:tr h="171450">
                <a:tc>
                  <a:txBody>
                    <a:bodyPr/>
                    <a:lstStyle/>
                    <a:p>
                      <a:pPr algn="ctr">
                        <a:spcAft>
                          <a:spcPts val="0"/>
                        </a:spcAft>
                        <a:tabLst>
                          <a:tab pos="-180340" algn="l"/>
                        </a:tabLst>
                      </a:pPr>
                      <a:r>
                        <a:rPr lang="en-US" sz="1100" kern="0">
                          <a:solidFill>
                            <a:srgbClr val="584E61"/>
                          </a:solidFill>
                          <a:effectLst/>
                        </a:rPr>
                        <a:t>4</a:t>
                      </a:r>
                      <a:endParaRPr lang="en-US"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a:noFill/>
                    </a:lnT>
                    <a:lnB>
                      <a:noFill/>
                    </a:lnB>
                    <a:solidFill>
                      <a:srgbClr val="F0EFF2"/>
                    </a:solidFill>
                  </a:tcPr>
                </a:tc>
                <a:tc>
                  <a:txBody>
                    <a:bodyPr/>
                    <a:lstStyle/>
                    <a:p>
                      <a:pPr algn="ctr">
                        <a:spcAft>
                          <a:spcPts val="0"/>
                        </a:spcAft>
                        <a:tabLst>
                          <a:tab pos="-180340" algn="l"/>
                        </a:tabLst>
                      </a:pPr>
                      <a:r>
                        <a:rPr lang="en-US" sz="1100" kern="0">
                          <a:solidFill>
                            <a:srgbClr val="584E61"/>
                          </a:solidFill>
                          <a:effectLst/>
                        </a:rPr>
                        <a:t>+  -</a:t>
                      </a:r>
                      <a:endParaRPr lang="en-US"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a:noFill/>
                    </a:lnT>
                    <a:lnB>
                      <a:noFill/>
                    </a:lnB>
                    <a:solidFill>
                      <a:srgbClr val="F0EFF2"/>
                    </a:solidFill>
                  </a:tcPr>
                </a:tc>
              </a:tr>
              <a:tr h="171450">
                <a:tc>
                  <a:txBody>
                    <a:bodyPr/>
                    <a:lstStyle/>
                    <a:p>
                      <a:pPr algn="ctr">
                        <a:spcAft>
                          <a:spcPts val="0"/>
                        </a:spcAft>
                        <a:tabLst>
                          <a:tab pos="-180340" algn="l"/>
                        </a:tabLst>
                      </a:pPr>
                      <a:r>
                        <a:rPr lang="en-US" sz="1100" kern="0">
                          <a:solidFill>
                            <a:srgbClr val="584E61"/>
                          </a:solidFill>
                          <a:effectLst/>
                        </a:rPr>
                        <a:t>5</a:t>
                      </a:r>
                      <a:endParaRPr lang="en-US"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a:noFill/>
                    </a:lnT>
                    <a:lnB>
                      <a:noFill/>
                    </a:lnB>
                    <a:solidFill>
                      <a:srgbClr val="FFFFFF"/>
                    </a:solidFill>
                  </a:tcPr>
                </a:tc>
                <a:tc>
                  <a:txBody>
                    <a:bodyPr/>
                    <a:lstStyle/>
                    <a:p>
                      <a:pPr algn="ctr">
                        <a:spcAft>
                          <a:spcPts val="0"/>
                        </a:spcAft>
                        <a:tabLst>
                          <a:tab pos="-180340" algn="l"/>
                        </a:tabLst>
                      </a:pPr>
                      <a:r>
                        <a:rPr lang="en-US" sz="1100" kern="0">
                          <a:solidFill>
                            <a:srgbClr val="584E61"/>
                          </a:solidFill>
                          <a:effectLst/>
                        </a:rPr>
                        <a:t>&lt;&lt;  &gt;&gt;  &gt;&gt;&gt;</a:t>
                      </a:r>
                      <a:endParaRPr lang="en-US"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a:noFill/>
                    </a:lnT>
                    <a:lnB>
                      <a:noFill/>
                    </a:lnB>
                    <a:solidFill>
                      <a:srgbClr val="FFFFFF"/>
                    </a:solidFill>
                  </a:tcPr>
                </a:tc>
              </a:tr>
              <a:tr h="171450">
                <a:tc>
                  <a:txBody>
                    <a:bodyPr/>
                    <a:lstStyle/>
                    <a:p>
                      <a:pPr algn="ctr">
                        <a:spcAft>
                          <a:spcPts val="0"/>
                        </a:spcAft>
                        <a:tabLst>
                          <a:tab pos="-180340" algn="l"/>
                        </a:tabLst>
                      </a:pPr>
                      <a:r>
                        <a:rPr lang="en-US" sz="1100" kern="0">
                          <a:solidFill>
                            <a:srgbClr val="584E61"/>
                          </a:solidFill>
                          <a:effectLst/>
                        </a:rPr>
                        <a:t>6</a:t>
                      </a:r>
                      <a:endParaRPr lang="en-US"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a:noFill/>
                    </a:lnT>
                    <a:lnB>
                      <a:noFill/>
                    </a:lnB>
                    <a:solidFill>
                      <a:srgbClr val="F0EFF2"/>
                    </a:solidFill>
                  </a:tcPr>
                </a:tc>
                <a:tc>
                  <a:txBody>
                    <a:bodyPr/>
                    <a:lstStyle/>
                    <a:p>
                      <a:pPr algn="ctr">
                        <a:spcAft>
                          <a:spcPts val="0"/>
                        </a:spcAft>
                        <a:tabLst>
                          <a:tab pos="-180340" algn="l"/>
                        </a:tabLst>
                      </a:pPr>
                      <a:r>
                        <a:rPr lang="en-US" sz="1100" kern="0">
                          <a:solidFill>
                            <a:srgbClr val="584E61"/>
                          </a:solidFill>
                          <a:effectLst/>
                        </a:rPr>
                        <a:t>&lt;  &gt; &lt;=  &gt;=</a:t>
                      </a:r>
                      <a:endParaRPr lang="en-US"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a:noFill/>
                    </a:lnT>
                    <a:lnB>
                      <a:noFill/>
                    </a:lnB>
                    <a:solidFill>
                      <a:srgbClr val="F0EFF2"/>
                    </a:solidFill>
                  </a:tcPr>
                </a:tc>
              </a:tr>
              <a:tr h="171450">
                <a:tc>
                  <a:txBody>
                    <a:bodyPr/>
                    <a:lstStyle/>
                    <a:p>
                      <a:pPr algn="ctr">
                        <a:spcAft>
                          <a:spcPts val="0"/>
                        </a:spcAft>
                        <a:tabLst>
                          <a:tab pos="-180340" algn="l"/>
                        </a:tabLst>
                      </a:pPr>
                      <a:r>
                        <a:rPr lang="en-US" sz="1100" kern="0">
                          <a:solidFill>
                            <a:srgbClr val="584E61"/>
                          </a:solidFill>
                          <a:effectLst/>
                        </a:rPr>
                        <a:t>7</a:t>
                      </a:r>
                      <a:endParaRPr lang="en-US"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a:noFill/>
                    </a:lnT>
                    <a:lnB>
                      <a:noFill/>
                    </a:lnB>
                    <a:solidFill>
                      <a:srgbClr val="FFFFFF"/>
                    </a:solidFill>
                  </a:tcPr>
                </a:tc>
                <a:tc>
                  <a:txBody>
                    <a:bodyPr/>
                    <a:lstStyle/>
                    <a:p>
                      <a:pPr algn="ctr">
                        <a:spcAft>
                          <a:spcPts val="0"/>
                        </a:spcAft>
                        <a:tabLst>
                          <a:tab pos="-180340" algn="l"/>
                        </a:tabLst>
                      </a:pPr>
                      <a:r>
                        <a:rPr lang="en-US" sz="1100" kern="0">
                          <a:solidFill>
                            <a:srgbClr val="584E61"/>
                          </a:solidFill>
                          <a:effectLst/>
                        </a:rPr>
                        <a:t>==  !=</a:t>
                      </a:r>
                      <a:endParaRPr lang="en-US"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a:noFill/>
                    </a:lnT>
                    <a:lnB>
                      <a:noFill/>
                    </a:lnB>
                    <a:solidFill>
                      <a:srgbClr val="FFFFFF"/>
                    </a:solidFill>
                  </a:tcPr>
                </a:tc>
              </a:tr>
              <a:tr h="171450">
                <a:tc>
                  <a:txBody>
                    <a:bodyPr/>
                    <a:lstStyle/>
                    <a:p>
                      <a:pPr algn="ctr">
                        <a:spcAft>
                          <a:spcPts val="0"/>
                        </a:spcAft>
                        <a:tabLst>
                          <a:tab pos="-180340" algn="l"/>
                        </a:tabLst>
                      </a:pPr>
                      <a:r>
                        <a:rPr lang="en-US" sz="1100" kern="0">
                          <a:solidFill>
                            <a:srgbClr val="584E61"/>
                          </a:solidFill>
                          <a:effectLst/>
                        </a:rPr>
                        <a:t>8</a:t>
                      </a:r>
                      <a:endParaRPr lang="en-US"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a:noFill/>
                    </a:lnT>
                    <a:lnB>
                      <a:noFill/>
                    </a:lnB>
                    <a:solidFill>
                      <a:srgbClr val="F0EFF2"/>
                    </a:solidFill>
                  </a:tcPr>
                </a:tc>
                <a:tc>
                  <a:txBody>
                    <a:bodyPr/>
                    <a:lstStyle/>
                    <a:p>
                      <a:pPr algn="ctr">
                        <a:spcAft>
                          <a:spcPts val="0"/>
                        </a:spcAft>
                        <a:tabLst>
                          <a:tab pos="-180340" algn="l"/>
                        </a:tabLst>
                      </a:pPr>
                      <a:r>
                        <a:rPr lang="en-US" sz="1100" kern="0">
                          <a:solidFill>
                            <a:srgbClr val="584E61"/>
                          </a:solidFill>
                          <a:effectLst/>
                        </a:rPr>
                        <a:t>&amp;</a:t>
                      </a:r>
                      <a:endParaRPr lang="en-US"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a:noFill/>
                    </a:lnT>
                    <a:lnB>
                      <a:noFill/>
                    </a:lnB>
                    <a:solidFill>
                      <a:srgbClr val="F0EFF2"/>
                    </a:solidFill>
                  </a:tcPr>
                </a:tc>
              </a:tr>
              <a:tr h="171450">
                <a:tc>
                  <a:txBody>
                    <a:bodyPr/>
                    <a:lstStyle/>
                    <a:p>
                      <a:pPr algn="ctr">
                        <a:spcAft>
                          <a:spcPts val="0"/>
                        </a:spcAft>
                        <a:tabLst>
                          <a:tab pos="-180340" algn="l"/>
                        </a:tabLst>
                      </a:pPr>
                      <a:r>
                        <a:rPr lang="en-US" sz="1100" kern="0">
                          <a:solidFill>
                            <a:srgbClr val="584E61"/>
                          </a:solidFill>
                          <a:effectLst/>
                        </a:rPr>
                        <a:t>9</a:t>
                      </a:r>
                      <a:endParaRPr lang="en-US"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a:noFill/>
                    </a:lnT>
                    <a:lnB>
                      <a:noFill/>
                    </a:lnB>
                    <a:solidFill>
                      <a:srgbClr val="FFFFFF"/>
                    </a:solidFill>
                  </a:tcPr>
                </a:tc>
                <a:tc>
                  <a:txBody>
                    <a:bodyPr/>
                    <a:lstStyle/>
                    <a:p>
                      <a:pPr algn="ctr">
                        <a:spcAft>
                          <a:spcPts val="0"/>
                        </a:spcAft>
                        <a:tabLst>
                          <a:tab pos="-180340" algn="l"/>
                        </a:tabLst>
                      </a:pPr>
                      <a:r>
                        <a:rPr lang="en-US" sz="1100" kern="0">
                          <a:solidFill>
                            <a:srgbClr val="584E61"/>
                          </a:solidFill>
                          <a:effectLst/>
                        </a:rPr>
                        <a:t>^</a:t>
                      </a:r>
                      <a:endParaRPr lang="en-US"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a:noFill/>
                    </a:lnT>
                    <a:lnB>
                      <a:noFill/>
                    </a:lnB>
                    <a:solidFill>
                      <a:srgbClr val="FFFFFF"/>
                    </a:solidFill>
                  </a:tcPr>
                </a:tc>
              </a:tr>
              <a:tr h="171450">
                <a:tc>
                  <a:txBody>
                    <a:bodyPr/>
                    <a:lstStyle/>
                    <a:p>
                      <a:pPr algn="ctr">
                        <a:spcAft>
                          <a:spcPts val="0"/>
                        </a:spcAft>
                        <a:tabLst>
                          <a:tab pos="-180340" algn="l"/>
                        </a:tabLst>
                      </a:pPr>
                      <a:r>
                        <a:rPr lang="en-US" sz="1100" kern="0">
                          <a:solidFill>
                            <a:srgbClr val="584E61"/>
                          </a:solidFill>
                          <a:effectLst/>
                        </a:rPr>
                        <a:t>10</a:t>
                      </a:r>
                      <a:endParaRPr lang="en-US"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a:noFill/>
                    </a:lnT>
                    <a:lnB>
                      <a:noFill/>
                    </a:lnB>
                    <a:solidFill>
                      <a:srgbClr val="F0EFF2"/>
                    </a:solidFill>
                  </a:tcPr>
                </a:tc>
                <a:tc>
                  <a:txBody>
                    <a:bodyPr/>
                    <a:lstStyle/>
                    <a:p>
                      <a:pPr algn="ctr">
                        <a:spcAft>
                          <a:spcPts val="0"/>
                        </a:spcAft>
                        <a:tabLst>
                          <a:tab pos="-180340" algn="l"/>
                        </a:tabLst>
                      </a:pPr>
                      <a:r>
                        <a:rPr lang="en-US" sz="1100" kern="0">
                          <a:solidFill>
                            <a:srgbClr val="584E61"/>
                          </a:solidFill>
                          <a:effectLst/>
                        </a:rPr>
                        <a:t>|</a:t>
                      </a:r>
                      <a:endParaRPr lang="en-US"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a:noFill/>
                    </a:lnT>
                    <a:lnB>
                      <a:noFill/>
                    </a:lnB>
                    <a:solidFill>
                      <a:srgbClr val="F0EFF2"/>
                    </a:solidFill>
                  </a:tcPr>
                </a:tc>
              </a:tr>
              <a:tr h="171450">
                <a:tc>
                  <a:txBody>
                    <a:bodyPr/>
                    <a:lstStyle/>
                    <a:p>
                      <a:pPr algn="ctr">
                        <a:spcAft>
                          <a:spcPts val="0"/>
                        </a:spcAft>
                        <a:tabLst>
                          <a:tab pos="-180340" algn="l"/>
                        </a:tabLst>
                      </a:pPr>
                      <a:r>
                        <a:rPr lang="en-US" sz="1100" kern="0">
                          <a:solidFill>
                            <a:srgbClr val="584E61"/>
                          </a:solidFill>
                          <a:effectLst/>
                        </a:rPr>
                        <a:t>11</a:t>
                      </a:r>
                      <a:endParaRPr lang="en-US"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a:noFill/>
                    </a:lnT>
                    <a:lnB>
                      <a:noFill/>
                    </a:lnB>
                    <a:solidFill>
                      <a:srgbClr val="FFFFFF"/>
                    </a:solidFill>
                  </a:tcPr>
                </a:tc>
                <a:tc>
                  <a:txBody>
                    <a:bodyPr/>
                    <a:lstStyle/>
                    <a:p>
                      <a:pPr algn="ctr">
                        <a:spcAft>
                          <a:spcPts val="0"/>
                        </a:spcAft>
                        <a:tabLst>
                          <a:tab pos="-180340" algn="l"/>
                        </a:tabLst>
                      </a:pPr>
                      <a:r>
                        <a:rPr lang="en-US" sz="1100" kern="0">
                          <a:solidFill>
                            <a:srgbClr val="584E61"/>
                          </a:solidFill>
                          <a:effectLst/>
                        </a:rPr>
                        <a:t>&amp;&amp;</a:t>
                      </a:r>
                      <a:endParaRPr lang="en-US"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a:noFill/>
                    </a:lnT>
                    <a:lnB>
                      <a:noFill/>
                    </a:lnB>
                    <a:solidFill>
                      <a:srgbClr val="FFFFFF"/>
                    </a:solidFill>
                  </a:tcPr>
                </a:tc>
              </a:tr>
              <a:tr h="171450">
                <a:tc>
                  <a:txBody>
                    <a:bodyPr/>
                    <a:lstStyle/>
                    <a:p>
                      <a:pPr algn="ctr">
                        <a:spcAft>
                          <a:spcPts val="0"/>
                        </a:spcAft>
                        <a:tabLst>
                          <a:tab pos="-180340" algn="l"/>
                        </a:tabLst>
                      </a:pPr>
                      <a:r>
                        <a:rPr lang="en-US" sz="1100" kern="0">
                          <a:solidFill>
                            <a:srgbClr val="584E61"/>
                          </a:solidFill>
                          <a:effectLst/>
                        </a:rPr>
                        <a:t>12</a:t>
                      </a:r>
                      <a:endParaRPr lang="en-US"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a:noFill/>
                    </a:lnT>
                    <a:lnB>
                      <a:noFill/>
                    </a:lnB>
                    <a:solidFill>
                      <a:srgbClr val="F0EFF2"/>
                    </a:solidFill>
                  </a:tcPr>
                </a:tc>
                <a:tc>
                  <a:txBody>
                    <a:bodyPr/>
                    <a:lstStyle/>
                    <a:p>
                      <a:pPr algn="ctr">
                        <a:spcAft>
                          <a:spcPts val="0"/>
                        </a:spcAft>
                        <a:tabLst>
                          <a:tab pos="-180340" algn="l"/>
                        </a:tabLst>
                      </a:pPr>
                      <a:r>
                        <a:rPr lang="en-US" sz="1100" kern="0">
                          <a:solidFill>
                            <a:srgbClr val="584E61"/>
                          </a:solidFill>
                          <a:effectLst/>
                        </a:rPr>
                        <a:t>||</a:t>
                      </a:r>
                      <a:endParaRPr lang="en-US"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a:noFill/>
                    </a:lnT>
                    <a:lnB>
                      <a:noFill/>
                    </a:lnB>
                    <a:solidFill>
                      <a:srgbClr val="F0EFF2"/>
                    </a:solidFill>
                  </a:tcPr>
                </a:tc>
              </a:tr>
              <a:tr h="171450">
                <a:tc>
                  <a:txBody>
                    <a:bodyPr/>
                    <a:lstStyle/>
                    <a:p>
                      <a:pPr algn="ctr">
                        <a:spcAft>
                          <a:spcPts val="0"/>
                        </a:spcAft>
                        <a:tabLst>
                          <a:tab pos="-180340" algn="l"/>
                        </a:tabLst>
                      </a:pPr>
                      <a:r>
                        <a:rPr lang="en-US" sz="1100" kern="0">
                          <a:solidFill>
                            <a:srgbClr val="584E61"/>
                          </a:solidFill>
                          <a:effectLst/>
                        </a:rPr>
                        <a:t>13</a:t>
                      </a:r>
                      <a:endParaRPr lang="en-US"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a:noFill/>
                    </a:lnT>
                    <a:lnB>
                      <a:noFill/>
                    </a:lnB>
                    <a:solidFill>
                      <a:srgbClr val="FFFFFF"/>
                    </a:solidFill>
                  </a:tcPr>
                </a:tc>
                <a:tc>
                  <a:txBody>
                    <a:bodyPr/>
                    <a:lstStyle/>
                    <a:p>
                      <a:pPr algn="ctr">
                        <a:spcAft>
                          <a:spcPts val="0"/>
                        </a:spcAft>
                        <a:tabLst>
                          <a:tab pos="-180340" algn="l"/>
                        </a:tabLst>
                      </a:pPr>
                      <a:r>
                        <a:rPr lang="en-US" sz="1100" kern="0">
                          <a:solidFill>
                            <a:srgbClr val="584E61"/>
                          </a:solidFill>
                          <a:effectLst/>
                        </a:rPr>
                        <a:t>?:</a:t>
                      </a:r>
                      <a:r>
                        <a:rPr lang="zh-CN" sz="1100" kern="0">
                          <a:solidFill>
                            <a:srgbClr val="584E61"/>
                          </a:solidFill>
                          <a:effectLst/>
                        </a:rPr>
                        <a:t>（三目运算符）</a:t>
                      </a:r>
                      <a:endParaRPr lang="zh-CN"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a:noFill/>
                    </a:lnT>
                    <a:lnB>
                      <a:noFill/>
                    </a:lnB>
                    <a:solidFill>
                      <a:srgbClr val="FFFFFF"/>
                    </a:solidFill>
                  </a:tcPr>
                </a:tc>
              </a:tr>
              <a:tr h="171450">
                <a:tc>
                  <a:txBody>
                    <a:bodyPr/>
                    <a:lstStyle/>
                    <a:p>
                      <a:pPr algn="ctr">
                        <a:spcAft>
                          <a:spcPts val="0"/>
                        </a:spcAft>
                        <a:tabLst>
                          <a:tab pos="-180340" algn="l"/>
                        </a:tabLst>
                      </a:pPr>
                      <a:r>
                        <a:rPr lang="en-US" sz="1100" kern="0">
                          <a:solidFill>
                            <a:srgbClr val="584E61"/>
                          </a:solidFill>
                          <a:effectLst/>
                        </a:rPr>
                        <a:t>14</a:t>
                      </a:r>
                      <a:endParaRPr lang="en-US" sz="1100" kern="0">
                        <a:solidFill>
                          <a:srgbClr val="584E61"/>
                        </a:solidFill>
                        <a:effectLst/>
                        <a:latin typeface="Times New Roman" panose="02020503050405090304"/>
                        <a:ea typeface="宋体" pitchFamily="2" charset="-122"/>
                      </a:endParaRPr>
                    </a:p>
                  </a:txBody>
                  <a:tcPr marL="51432" marR="51432" marT="0" marB="0" anchor="ctr" anchorCtr="0">
                    <a:lnL>
                      <a:noFill/>
                    </a:lnL>
                    <a:lnR>
                      <a:noFill/>
                    </a:lnR>
                    <a:lnT>
                      <a:noFill/>
                    </a:lnT>
                    <a:lnB w="19050">
                      <a:solidFill>
                        <a:srgbClr val="584E61"/>
                      </a:solidFill>
                      <a:prstDash val="solid"/>
                    </a:lnB>
                    <a:solidFill>
                      <a:srgbClr val="F0EFF2"/>
                    </a:solidFill>
                  </a:tcPr>
                </a:tc>
                <a:tc>
                  <a:txBody>
                    <a:bodyPr/>
                    <a:lstStyle/>
                    <a:p>
                      <a:pPr algn="ctr">
                        <a:spcAft>
                          <a:spcPts val="0"/>
                        </a:spcAft>
                        <a:tabLst>
                          <a:tab pos="-180340" algn="l"/>
                        </a:tabLst>
                      </a:pPr>
                      <a:r>
                        <a:rPr lang="en-US" sz="1100" kern="0" dirty="0">
                          <a:solidFill>
                            <a:srgbClr val="584E61"/>
                          </a:solidFill>
                          <a:effectLst/>
                        </a:rPr>
                        <a:t>=  *=  /=  %=  +=  -=  &lt;&lt;=  &gt;&gt;=  &gt;&gt;&gt;=  &amp;=  ^=  |=</a:t>
                      </a:r>
                      <a:endParaRPr lang="en-US" sz="1100" kern="0" dirty="0">
                        <a:solidFill>
                          <a:srgbClr val="584E61"/>
                        </a:solidFill>
                        <a:effectLst/>
                        <a:latin typeface="Times New Roman" panose="02020503050405090304"/>
                        <a:ea typeface="宋体" pitchFamily="2" charset="-122"/>
                      </a:endParaRPr>
                    </a:p>
                  </a:txBody>
                  <a:tcPr marL="51432" marR="51432" marT="0" marB="0" anchor="ctr" anchorCtr="0">
                    <a:lnL>
                      <a:noFill/>
                    </a:lnL>
                    <a:lnR>
                      <a:noFill/>
                    </a:lnR>
                    <a:lnT>
                      <a:noFill/>
                    </a:lnT>
                    <a:lnB w="19050">
                      <a:solidFill>
                        <a:srgbClr val="584E61"/>
                      </a:solidFill>
                      <a:prstDash val="solid"/>
                    </a:lnB>
                    <a:solidFill>
                      <a:srgbClr val="F0EFF2"/>
                    </a:solidFill>
                  </a:tcPr>
                </a:tc>
              </a:tr>
            </a:tbl>
          </a:graphicData>
        </a:graphic>
      </p:graphicFrame>
      <p:sp>
        <p:nvSpPr>
          <p:cNvPr id="3" name="标题 1"/>
          <p:cNvSpPr>
            <a:spLocks noGrp="1"/>
          </p:cNvSpPr>
          <p:nvPr>
            <p:custDataLst>
              <p:tags r:id="rId2"/>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2.4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运算符</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bwMode="auto">
          <a:xfrm>
            <a:off x="1485900" y="560785"/>
            <a:ext cx="6172200" cy="4417219"/>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0" marR="0" lvl="0" indent="0" algn="l" defTabSz="914400" rtl="0" eaLnBrk="0" fontAlgn="base" latinLnBrk="0" hangingPunct="0">
              <a:lnSpc>
                <a:spcPct val="150000"/>
              </a:lnSpc>
              <a:spcBef>
                <a:spcPct val="20000"/>
              </a:spcBef>
              <a:spcAft>
                <a:spcPct val="0"/>
              </a:spcAft>
              <a:buClrTx/>
              <a:buSzTx/>
              <a:buFontTx/>
              <a:buNone/>
              <a:defRPr/>
            </a:pPr>
            <a:r>
              <a:rPr kumimoji="0" lang="zh-CN"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单目、</a:t>
            </a:r>
            <a:r>
              <a:rPr kumimoji="0" lang="zh-CN" altLang="zh-CN" sz="15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双目、</a:t>
            </a:r>
            <a:r>
              <a:rPr kumimoji="0" lang="zh-CN"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三目运算符</a:t>
            </a:r>
            <a:r>
              <a:rPr kumimoji="0" lang="zh-CN" altLang="en-US" sz="15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a:t>
            </a:r>
            <a:endParaRPr kumimoji="0" lang="en-US" altLang="zh-CN" sz="15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        </a:t>
            </a:r>
            <a:r>
              <a:rPr kumimoji="0" lang="zh-CN" altLang="zh-CN" sz="15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在</a:t>
            </a:r>
            <a:r>
              <a:rPr kumimoji="0" lang="en-US"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C</a:t>
            </a:r>
            <a:r>
              <a:rPr kumimoji="0" lang="zh-CN"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语言中根据运算符进行运算需根据变量的个数可以将运算符分为单目运算符、双目运算符和三目运算符，具体如表</a:t>
            </a:r>
            <a:r>
              <a:rPr kumimoji="0" lang="en-US"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2-17</a:t>
            </a:r>
            <a:r>
              <a:rPr kumimoji="0" lang="zh-CN"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所</a:t>
            </a:r>
            <a:r>
              <a:rPr kumimoji="0" lang="zh-CN" altLang="zh-CN" sz="15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示</a:t>
            </a:r>
            <a:r>
              <a:rPr kumimoji="0" lang="zh-CN" altLang="en-US" sz="15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a:t>
            </a:r>
            <a:endParaRPr kumimoji="0" lang="en-US" altLang="zh-CN" sz="15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 </a:t>
            </a:r>
            <a:r>
              <a:rPr kumimoji="0" lang="en-US" altLang="zh-CN" sz="15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                               </a:t>
            </a:r>
            <a:r>
              <a:rPr kumimoji="0" lang="zh-CN" altLang="en-US" sz="105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表</a:t>
            </a:r>
            <a:r>
              <a:rPr kumimoji="0" lang="en-US" altLang="zh-CN" sz="105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2-17  </a:t>
            </a:r>
            <a:r>
              <a:rPr kumimoji="0" lang="zh-CN" altLang="en-US" sz="105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单目、双目、三目运算符比较</a:t>
            </a:r>
            <a:endParaRPr kumimoji="0" lang="en-US" altLang="zh-CN" sz="105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sz="105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endParaRPr kumimoji="0" lang="en-US" altLang="zh-CN"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Tx/>
              <a:buNone/>
              <a:defRPr/>
            </a:pPr>
            <a:r>
              <a:rPr kumimoji="0" lang="en-US" altLang="zh-CN" sz="15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        </a:t>
            </a:r>
            <a:r>
              <a:rPr kumimoji="0" lang="zh-CN" altLang="zh-CN" sz="15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在</a:t>
            </a:r>
            <a:r>
              <a:rPr kumimoji="0" lang="zh-CN"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表</a:t>
            </a:r>
            <a:r>
              <a:rPr kumimoji="0" lang="en-US"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2-17</a:t>
            </a:r>
            <a:r>
              <a:rPr kumimoji="0" lang="zh-CN"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中单目运算符的优先级高于双目运算符和三目运算符。三目运算符</a:t>
            </a:r>
            <a:r>
              <a:rPr kumimoji="0" lang="en-US"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zh-CN"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用于条件判断的情况，读者在这只需了解即可，在后面的章节中将会进行详细</a:t>
            </a:r>
            <a:r>
              <a:rPr kumimoji="0" lang="zh-CN" altLang="zh-CN" sz="15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讲解</a:t>
            </a:r>
            <a:r>
              <a:rPr kumimoji="0" lang="zh-CN" altLang="en-US" sz="15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a:t>
            </a:r>
            <a:endParaRPr kumimoji="0" lang="zh-CN" altLang="en-US" sz="15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457200" marR="0" lvl="1" indent="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0" cap="none" spc="0" normalizeH="0" baseline="0" noProof="0" dirty="0" smtClean="0">
                <a:ln>
                  <a:noFill/>
                </a:ln>
                <a:solidFill>
                  <a:schemeClr val="tx1"/>
                </a:solidFill>
                <a:effectLst/>
                <a:uLnTx/>
                <a:uFillTx/>
                <a:latin typeface="+mn-lt"/>
                <a:ea typeface="+mn-ea"/>
              </a:rPr>
              <a:t>                                                        </a:t>
            </a:r>
            <a:endParaRPr kumimoji="0" lang="en-US" altLang="zh-CN" sz="105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p:txBody>
      </p:sp>
      <p:graphicFrame>
        <p:nvGraphicFramePr>
          <p:cNvPr id="2" name="表格 1"/>
          <p:cNvGraphicFramePr>
            <a:graphicFrameLocks noGrp="1"/>
          </p:cNvGraphicFramePr>
          <p:nvPr>
            <p:custDataLst>
              <p:tags r:id="rId1"/>
            </p:custDataLst>
          </p:nvPr>
        </p:nvGraphicFramePr>
        <p:xfrm>
          <a:off x="1769269" y="2057400"/>
          <a:ext cx="5520690" cy="1270000"/>
        </p:xfrm>
        <a:graphic>
          <a:graphicData uri="http://schemas.openxmlformats.org/drawingml/2006/table">
            <a:tbl>
              <a:tblPr/>
              <a:tblGrid>
                <a:gridCol w="1449705"/>
                <a:gridCol w="1675130"/>
                <a:gridCol w="2395855"/>
              </a:tblGrid>
              <a:tr h="350520">
                <a:tc>
                  <a:txBody>
                    <a:bodyPr/>
                    <a:lstStyle/>
                    <a:p>
                      <a:pPr algn="ctr">
                        <a:spcAft>
                          <a:spcPts val="0"/>
                        </a:spcAft>
                      </a:pPr>
                      <a:r>
                        <a:rPr lang="zh-CN" sz="1100" kern="0" dirty="0">
                          <a:solidFill>
                            <a:srgbClr val="584E61"/>
                          </a:solidFill>
                          <a:effectLst/>
                        </a:rPr>
                        <a:t>名称</a:t>
                      </a:r>
                      <a:endParaRPr lang="zh-CN" sz="1100" kern="0" dirty="0">
                        <a:solidFill>
                          <a:srgbClr val="584E61"/>
                        </a:solidFill>
                        <a:effectLst/>
                        <a:latin typeface="Times New Roman" panose="02020503050405090304"/>
                        <a:ea typeface="宋体" pitchFamily="2" charset="-122"/>
                      </a:endParaRPr>
                    </a:p>
                  </a:txBody>
                  <a:tcPr marL="51441" marR="51441"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algn="ctr">
                        <a:spcAft>
                          <a:spcPts val="0"/>
                        </a:spcAft>
                      </a:pPr>
                      <a:r>
                        <a:rPr lang="zh-CN" sz="1100" kern="0">
                          <a:solidFill>
                            <a:srgbClr val="584E61"/>
                          </a:solidFill>
                          <a:effectLst/>
                        </a:rPr>
                        <a:t>运算所需变量个数</a:t>
                      </a:r>
                      <a:endParaRPr lang="zh-CN" sz="1100" kern="0">
                        <a:solidFill>
                          <a:srgbClr val="584E61"/>
                        </a:solidFill>
                        <a:effectLst/>
                        <a:latin typeface="Times New Roman" panose="02020503050405090304"/>
                        <a:ea typeface="宋体" pitchFamily="2" charset="-122"/>
                      </a:endParaRPr>
                    </a:p>
                  </a:txBody>
                  <a:tcPr marL="51441" marR="51441" marT="0" marB="0" anchor="ctr" anchorCtr="0">
                    <a:lnL>
                      <a:noFill/>
                    </a:lnL>
                    <a:lnR>
                      <a:noFill/>
                    </a:lnR>
                    <a:lnT w="19050">
                      <a:solidFill>
                        <a:srgbClr val="584E61"/>
                      </a:solidFill>
                      <a:prstDash val="solid"/>
                    </a:lnT>
                    <a:lnB w="19050">
                      <a:solidFill>
                        <a:srgbClr val="584E61"/>
                      </a:solidFill>
                      <a:prstDash val="solid"/>
                    </a:lnB>
                    <a:solidFill>
                      <a:srgbClr val="FFFFFF"/>
                    </a:solidFill>
                  </a:tcPr>
                </a:tc>
                <a:tc>
                  <a:txBody>
                    <a:bodyPr/>
                    <a:lstStyle/>
                    <a:p>
                      <a:pPr algn="ctr">
                        <a:spcAft>
                          <a:spcPts val="0"/>
                        </a:spcAft>
                      </a:pPr>
                      <a:r>
                        <a:rPr lang="zh-CN" sz="1100" kern="0">
                          <a:solidFill>
                            <a:srgbClr val="584E61"/>
                          </a:solidFill>
                          <a:effectLst/>
                        </a:rPr>
                        <a:t>范例</a:t>
                      </a:r>
                      <a:endParaRPr lang="zh-CN" sz="1100" kern="0">
                        <a:solidFill>
                          <a:srgbClr val="584E61"/>
                        </a:solidFill>
                        <a:effectLst/>
                        <a:latin typeface="Times New Roman" panose="02020503050405090304"/>
                        <a:ea typeface="宋体" pitchFamily="2" charset="-122"/>
                      </a:endParaRPr>
                    </a:p>
                  </a:txBody>
                  <a:tcPr marL="51441" marR="51441" marT="0" marB="0" anchor="ctr" anchorCtr="0">
                    <a:lnL>
                      <a:noFill/>
                    </a:lnL>
                    <a:lnR>
                      <a:noFill/>
                    </a:lnR>
                    <a:lnT w="19050">
                      <a:solidFill>
                        <a:srgbClr val="584E61"/>
                      </a:solidFill>
                      <a:prstDash val="solid"/>
                    </a:lnT>
                    <a:lnB w="19050">
                      <a:solidFill>
                        <a:srgbClr val="584E61"/>
                      </a:solidFill>
                      <a:prstDash val="solid"/>
                    </a:lnB>
                    <a:solidFill>
                      <a:srgbClr val="FFFFFF"/>
                    </a:solidFill>
                  </a:tcPr>
                </a:tc>
              </a:tr>
              <a:tr h="306705">
                <a:tc>
                  <a:txBody>
                    <a:bodyPr/>
                    <a:lstStyle/>
                    <a:p>
                      <a:pPr algn="ctr">
                        <a:spcAft>
                          <a:spcPts val="0"/>
                        </a:spcAft>
                        <a:tabLst>
                          <a:tab pos="-180340" algn="l"/>
                        </a:tabLst>
                      </a:pPr>
                      <a:r>
                        <a:rPr lang="zh-CN" sz="1100" kern="0">
                          <a:solidFill>
                            <a:srgbClr val="584E61"/>
                          </a:solidFill>
                          <a:effectLst/>
                        </a:rPr>
                        <a:t>单目运算符</a:t>
                      </a:r>
                      <a:endParaRPr lang="zh-CN" sz="1100" kern="0">
                        <a:solidFill>
                          <a:srgbClr val="584E61"/>
                        </a:solidFill>
                        <a:effectLst/>
                        <a:latin typeface="Times New Roman" panose="02020503050405090304"/>
                        <a:ea typeface="宋体" pitchFamily="2" charset="-122"/>
                      </a:endParaRPr>
                    </a:p>
                  </a:txBody>
                  <a:tcPr marL="51441" marR="51441" marT="0" marB="0" anchor="ctr" anchorCtr="0">
                    <a:lnL>
                      <a:noFill/>
                    </a:lnL>
                    <a:lnR>
                      <a:noFill/>
                    </a:lnR>
                    <a:lnT w="19050">
                      <a:solidFill>
                        <a:srgbClr val="584E61"/>
                      </a:solidFill>
                      <a:prstDash val="solid"/>
                    </a:lnT>
                    <a:lnB>
                      <a:noFill/>
                    </a:lnB>
                    <a:solidFill>
                      <a:srgbClr val="FFFFFF"/>
                    </a:solidFill>
                  </a:tcPr>
                </a:tc>
                <a:tc>
                  <a:txBody>
                    <a:bodyPr/>
                    <a:lstStyle/>
                    <a:p>
                      <a:pPr algn="ctr">
                        <a:spcAft>
                          <a:spcPts val="0"/>
                        </a:spcAft>
                        <a:tabLst>
                          <a:tab pos="-180340" algn="l"/>
                        </a:tabLst>
                      </a:pPr>
                      <a:r>
                        <a:rPr lang="en-US" sz="1100" kern="0">
                          <a:solidFill>
                            <a:srgbClr val="584E61"/>
                          </a:solidFill>
                          <a:effectLst/>
                        </a:rPr>
                        <a:t>1</a:t>
                      </a:r>
                      <a:r>
                        <a:rPr lang="zh-CN" sz="1100" kern="0">
                          <a:solidFill>
                            <a:srgbClr val="584E61"/>
                          </a:solidFill>
                          <a:effectLst/>
                        </a:rPr>
                        <a:t>个</a:t>
                      </a:r>
                      <a:endParaRPr lang="zh-CN" sz="1100" kern="0">
                        <a:solidFill>
                          <a:srgbClr val="584E61"/>
                        </a:solidFill>
                        <a:effectLst/>
                        <a:latin typeface="Times New Roman" panose="02020503050405090304"/>
                        <a:ea typeface="宋体" pitchFamily="2" charset="-122"/>
                      </a:endParaRPr>
                    </a:p>
                  </a:txBody>
                  <a:tcPr marL="51441" marR="51441" marT="0" marB="0" anchor="ctr" anchorCtr="0">
                    <a:lnL>
                      <a:noFill/>
                    </a:lnL>
                    <a:lnR>
                      <a:noFill/>
                    </a:lnR>
                    <a:lnT w="19050">
                      <a:solidFill>
                        <a:srgbClr val="584E61"/>
                      </a:solidFill>
                      <a:prstDash val="solid"/>
                    </a:lnT>
                    <a:lnB>
                      <a:noFill/>
                    </a:lnB>
                    <a:solidFill>
                      <a:srgbClr val="FFFFFF"/>
                    </a:solidFill>
                  </a:tcPr>
                </a:tc>
                <a:tc>
                  <a:txBody>
                    <a:bodyPr/>
                    <a:lstStyle/>
                    <a:p>
                      <a:pPr algn="ctr">
                        <a:spcAft>
                          <a:spcPts val="0"/>
                        </a:spcAft>
                        <a:tabLst>
                          <a:tab pos="-180340" algn="l"/>
                        </a:tabLst>
                      </a:pPr>
                      <a:r>
                        <a:rPr lang="en-US" sz="1100" kern="0" dirty="0">
                          <a:solidFill>
                            <a:srgbClr val="584E61"/>
                          </a:solidFill>
                          <a:effectLst/>
                        </a:rPr>
                        <a:t>++</a:t>
                      </a:r>
                      <a:r>
                        <a:rPr lang="zh-CN" sz="1100" kern="0" dirty="0">
                          <a:solidFill>
                            <a:srgbClr val="584E61"/>
                          </a:solidFill>
                          <a:effectLst/>
                        </a:rPr>
                        <a:t>、</a:t>
                      </a:r>
                      <a:r>
                        <a:rPr lang="en-US" sz="1100" kern="0" dirty="0">
                          <a:solidFill>
                            <a:srgbClr val="584E61"/>
                          </a:solidFill>
                          <a:effectLst/>
                        </a:rPr>
                        <a:t>--</a:t>
                      </a:r>
                      <a:r>
                        <a:rPr lang="zh-CN" sz="1100" kern="0" dirty="0">
                          <a:solidFill>
                            <a:srgbClr val="584E61"/>
                          </a:solidFill>
                          <a:effectLst/>
                        </a:rPr>
                        <a:t>、</a:t>
                      </a:r>
                      <a:r>
                        <a:rPr lang="en-US" sz="1100" kern="0" dirty="0">
                          <a:solidFill>
                            <a:srgbClr val="584E61"/>
                          </a:solidFill>
                          <a:effectLst/>
                        </a:rPr>
                        <a:t>!</a:t>
                      </a:r>
                      <a:r>
                        <a:rPr lang="zh-CN" sz="1100" kern="0" dirty="0">
                          <a:solidFill>
                            <a:srgbClr val="584E61"/>
                          </a:solidFill>
                          <a:effectLst/>
                        </a:rPr>
                        <a:t>、</a:t>
                      </a:r>
                      <a:r>
                        <a:rPr lang="en-US" sz="1100" kern="0" dirty="0">
                          <a:solidFill>
                            <a:srgbClr val="584E61"/>
                          </a:solidFill>
                          <a:effectLst/>
                        </a:rPr>
                        <a:t>sizeof</a:t>
                      </a:r>
                      <a:r>
                        <a:rPr lang="zh-CN" sz="1100" kern="0" dirty="0">
                          <a:solidFill>
                            <a:srgbClr val="584E61"/>
                          </a:solidFill>
                          <a:effectLst/>
                        </a:rPr>
                        <a:t>、</a:t>
                      </a:r>
                      <a:r>
                        <a:rPr lang="en-US" sz="1100" kern="0" dirty="0">
                          <a:solidFill>
                            <a:srgbClr val="584E61"/>
                          </a:solidFill>
                          <a:effectLst/>
                        </a:rPr>
                        <a:t>~</a:t>
                      </a:r>
                      <a:r>
                        <a:rPr lang="zh-CN" sz="1100" kern="0" dirty="0">
                          <a:solidFill>
                            <a:srgbClr val="584E61"/>
                          </a:solidFill>
                          <a:effectLst/>
                        </a:rPr>
                        <a:t>、</a:t>
                      </a:r>
                      <a:r>
                        <a:rPr lang="en-US" sz="1100" kern="0" dirty="0">
                          <a:solidFill>
                            <a:srgbClr val="584E61"/>
                          </a:solidFill>
                          <a:effectLst/>
                        </a:rPr>
                        <a:t>…</a:t>
                      </a:r>
                      <a:endParaRPr lang="en-US" sz="1100" kern="0" dirty="0">
                        <a:solidFill>
                          <a:srgbClr val="584E61"/>
                        </a:solidFill>
                        <a:effectLst/>
                        <a:latin typeface="Times New Roman" panose="02020503050405090304"/>
                        <a:ea typeface="宋体" pitchFamily="2" charset="-122"/>
                      </a:endParaRPr>
                    </a:p>
                  </a:txBody>
                  <a:tcPr marL="51441" marR="51441" marT="0" marB="0" anchor="ctr" anchorCtr="0">
                    <a:lnL>
                      <a:noFill/>
                    </a:lnL>
                    <a:lnR>
                      <a:noFill/>
                    </a:lnR>
                    <a:lnT w="19050">
                      <a:solidFill>
                        <a:srgbClr val="584E61"/>
                      </a:solidFill>
                      <a:prstDash val="solid"/>
                    </a:lnT>
                    <a:lnB>
                      <a:noFill/>
                    </a:lnB>
                    <a:solidFill>
                      <a:srgbClr val="FFFFFF"/>
                    </a:solidFill>
                  </a:tcPr>
                </a:tc>
              </a:tr>
              <a:tr h="306705">
                <a:tc>
                  <a:txBody>
                    <a:bodyPr/>
                    <a:lstStyle/>
                    <a:p>
                      <a:pPr algn="ctr">
                        <a:spcAft>
                          <a:spcPts val="0"/>
                        </a:spcAft>
                        <a:tabLst>
                          <a:tab pos="-180340" algn="l"/>
                        </a:tabLst>
                      </a:pPr>
                      <a:r>
                        <a:rPr lang="zh-CN" sz="1100" kern="0">
                          <a:solidFill>
                            <a:srgbClr val="584E61"/>
                          </a:solidFill>
                          <a:effectLst/>
                        </a:rPr>
                        <a:t>双目运算符</a:t>
                      </a:r>
                      <a:endParaRPr lang="zh-CN" sz="1100" kern="0">
                        <a:solidFill>
                          <a:srgbClr val="584E61"/>
                        </a:solidFill>
                        <a:effectLst/>
                        <a:latin typeface="Times New Roman" panose="02020503050405090304"/>
                        <a:ea typeface="宋体" pitchFamily="2" charset="-122"/>
                      </a:endParaRPr>
                    </a:p>
                  </a:txBody>
                  <a:tcPr marL="51441" marR="51441" marT="0" marB="0" anchor="ctr" anchorCtr="0">
                    <a:lnL>
                      <a:noFill/>
                    </a:lnL>
                    <a:lnR>
                      <a:noFill/>
                    </a:lnR>
                    <a:lnT>
                      <a:noFill/>
                    </a:lnT>
                    <a:lnB>
                      <a:noFill/>
                    </a:lnB>
                    <a:solidFill>
                      <a:srgbClr val="F0EFF2"/>
                    </a:solidFill>
                  </a:tcPr>
                </a:tc>
                <a:tc>
                  <a:txBody>
                    <a:bodyPr/>
                    <a:lstStyle/>
                    <a:p>
                      <a:pPr algn="ctr">
                        <a:spcAft>
                          <a:spcPts val="0"/>
                        </a:spcAft>
                        <a:tabLst>
                          <a:tab pos="-180340" algn="l"/>
                        </a:tabLst>
                      </a:pPr>
                      <a:r>
                        <a:rPr lang="en-US" sz="1100" kern="0">
                          <a:solidFill>
                            <a:srgbClr val="584E61"/>
                          </a:solidFill>
                          <a:effectLst/>
                        </a:rPr>
                        <a:t>2</a:t>
                      </a:r>
                      <a:r>
                        <a:rPr lang="zh-CN" sz="1100" kern="0">
                          <a:solidFill>
                            <a:srgbClr val="584E61"/>
                          </a:solidFill>
                          <a:effectLst/>
                        </a:rPr>
                        <a:t>个</a:t>
                      </a:r>
                      <a:endParaRPr lang="zh-CN" sz="1100" kern="0">
                        <a:solidFill>
                          <a:srgbClr val="584E61"/>
                        </a:solidFill>
                        <a:effectLst/>
                        <a:latin typeface="Times New Roman" panose="02020503050405090304"/>
                        <a:ea typeface="宋体" pitchFamily="2" charset="-122"/>
                      </a:endParaRPr>
                    </a:p>
                  </a:txBody>
                  <a:tcPr marL="51441" marR="51441" marT="0" marB="0" anchor="ctr" anchorCtr="0">
                    <a:lnL>
                      <a:noFill/>
                    </a:lnL>
                    <a:lnR>
                      <a:noFill/>
                    </a:lnR>
                    <a:lnT>
                      <a:noFill/>
                    </a:lnT>
                    <a:lnB>
                      <a:noFill/>
                    </a:lnB>
                    <a:solidFill>
                      <a:srgbClr val="F0EFF2"/>
                    </a:solidFill>
                  </a:tcPr>
                </a:tc>
                <a:tc>
                  <a:txBody>
                    <a:bodyPr/>
                    <a:lstStyle/>
                    <a:p>
                      <a:pPr algn="ctr">
                        <a:spcAft>
                          <a:spcPts val="0"/>
                        </a:spcAft>
                        <a:tabLst>
                          <a:tab pos="-180340" algn="l"/>
                        </a:tabLst>
                      </a:pPr>
                      <a:r>
                        <a:rPr lang="en-US" sz="1100" kern="0">
                          <a:solidFill>
                            <a:srgbClr val="584E61"/>
                          </a:solidFill>
                          <a:effectLst/>
                        </a:rPr>
                        <a:t>+</a:t>
                      </a:r>
                      <a:r>
                        <a:rPr lang="zh-CN" sz="1100" kern="0">
                          <a:solidFill>
                            <a:srgbClr val="584E61"/>
                          </a:solidFill>
                          <a:effectLst/>
                        </a:rPr>
                        <a:t>、</a:t>
                      </a:r>
                      <a:r>
                        <a:rPr lang="en-US" sz="1100" kern="0">
                          <a:solidFill>
                            <a:srgbClr val="584E61"/>
                          </a:solidFill>
                          <a:effectLst/>
                        </a:rPr>
                        <a:t>-</a:t>
                      </a:r>
                      <a:r>
                        <a:rPr lang="zh-CN" sz="1100" kern="0">
                          <a:solidFill>
                            <a:srgbClr val="584E61"/>
                          </a:solidFill>
                          <a:effectLst/>
                        </a:rPr>
                        <a:t>、</a:t>
                      </a:r>
                      <a:r>
                        <a:rPr lang="en-US" sz="1100" kern="0">
                          <a:solidFill>
                            <a:srgbClr val="584E61"/>
                          </a:solidFill>
                          <a:effectLst/>
                        </a:rPr>
                        <a:t>*</a:t>
                      </a:r>
                      <a:r>
                        <a:rPr lang="zh-CN" sz="1100" kern="0">
                          <a:solidFill>
                            <a:srgbClr val="584E61"/>
                          </a:solidFill>
                          <a:effectLst/>
                        </a:rPr>
                        <a:t>、</a:t>
                      </a:r>
                      <a:r>
                        <a:rPr lang="en-US" sz="1100" kern="0">
                          <a:solidFill>
                            <a:srgbClr val="584E61"/>
                          </a:solidFill>
                          <a:effectLst/>
                        </a:rPr>
                        <a:t>/</a:t>
                      </a:r>
                      <a:r>
                        <a:rPr lang="zh-CN" sz="1100" kern="0">
                          <a:solidFill>
                            <a:srgbClr val="584E61"/>
                          </a:solidFill>
                          <a:effectLst/>
                        </a:rPr>
                        <a:t>、</a:t>
                      </a:r>
                      <a:r>
                        <a:rPr lang="en-US" sz="1100" kern="0">
                          <a:solidFill>
                            <a:srgbClr val="584E61"/>
                          </a:solidFill>
                          <a:effectLst/>
                        </a:rPr>
                        <a:t>%</a:t>
                      </a:r>
                      <a:r>
                        <a:rPr lang="zh-CN" sz="1100" kern="0">
                          <a:solidFill>
                            <a:srgbClr val="584E61"/>
                          </a:solidFill>
                          <a:effectLst/>
                        </a:rPr>
                        <a:t>、</a:t>
                      </a:r>
                      <a:r>
                        <a:rPr lang="en-US" sz="1100" kern="0">
                          <a:solidFill>
                            <a:srgbClr val="584E61"/>
                          </a:solidFill>
                          <a:effectLst/>
                        </a:rPr>
                        <a:t>&lt;&lt;</a:t>
                      </a:r>
                      <a:r>
                        <a:rPr lang="zh-CN" sz="1100" kern="0">
                          <a:solidFill>
                            <a:srgbClr val="584E61"/>
                          </a:solidFill>
                          <a:effectLst/>
                        </a:rPr>
                        <a:t>、</a:t>
                      </a:r>
                      <a:r>
                        <a:rPr lang="en-US" sz="1100" kern="0">
                          <a:solidFill>
                            <a:srgbClr val="584E61"/>
                          </a:solidFill>
                          <a:effectLst/>
                        </a:rPr>
                        <a:t>==</a:t>
                      </a:r>
                      <a:r>
                        <a:rPr lang="zh-CN" sz="1100" kern="0">
                          <a:solidFill>
                            <a:srgbClr val="584E61"/>
                          </a:solidFill>
                          <a:effectLst/>
                        </a:rPr>
                        <a:t>、</a:t>
                      </a:r>
                      <a:r>
                        <a:rPr lang="en-US" sz="1100" kern="0">
                          <a:solidFill>
                            <a:srgbClr val="584E61"/>
                          </a:solidFill>
                          <a:effectLst/>
                        </a:rPr>
                        <a:t>…</a:t>
                      </a:r>
                      <a:endParaRPr lang="en-US" sz="1100" kern="0">
                        <a:solidFill>
                          <a:srgbClr val="584E61"/>
                        </a:solidFill>
                        <a:effectLst/>
                        <a:latin typeface="Times New Roman" panose="02020503050405090304"/>
                        <a:ea typeface="宋体" pitchFamily="2" charset="-122"/>
                      </a:endParaRPr>
                    </a:p>
                  </a:txBody>
                  <a:tcPr marL="51441" marR="51441" marT="0" marB="0" anchor="ctr" anchorCtr="0">
                    <a:lnL>
                      <a:noFill/>
                    </a:lnL>
                    <a:lnR>
                      <a:noFill/>
                    </a:lnR>
                    <a:lnT>
                      <a:noFill/>
                    </a:lnT>
                    <a:lnB>
                      <a:noFill/>
                    </a:lnB>
                    <a:solidFill>
                      <a:srgbClr val="F0EFF2"/>
                    </a:solidFill>
                  </a:tcPr>
                </a:tc>
              </a:tr>
              <a:tr h="306070">
                <a:tc>
                  <a:txBody>
                    <a:bodyPr/>
                    <a:lstStyle/>
                    <a:p>
                      <a:pPr algn="ctr">
                        <a:spcAft>
                          <a:spcPts val="0"/>
                        </a:spcAft>
                        <a:tabLst>
                          <a:tab pos="-180340" algn="l"/>
                        </a:tabLst>
                      </a:pPr>
                      <a:r>
                        <a:rPr lang="zh-CN" sz="1100" kern="0">
                          <a:solidFill>
                            <a:srgbClr val="584E61"/>
                          </a:solidFill>
                          <a:effectLst/>
                        </a:rPr>
                        <a:t>三目运算符</a:t>
                      </a:r>
                      <a:endParaRPr lang="zh-CN" sz="1100" kern="0">
                        <a:solidFill>
                          <a:srgbClr val="584E61"/>
                        </a:solidFill>
                        <a:effectLst/>
                        <a:latin typeface="Times New Roman" panose="02020503050405090304"/>
                        <a:ea typeface="宋体" pitchFamily="2" charset="-122"/>
                      </a:endParaRPr>
                    </a:p>
                  </a:txBody>
                  <a:tcPr marL="51441" marR="51441" marT="0" marB="0" anchor="ctr" anchorCtr="0">
                    <a:lnL>
                      <a:noFill/>
                    </a:lnL>
                    <a:lnR>
                      <a:noFill/>
                    </a:lnR>
                    <a:lnT>
                      <a:noFill/>
                    </a:lnT>
                    <a:lnB w="19050">
                      <a:solidFill>
                        <a:srgbClr val="584E61"/>
                      </a:solidFill>
                      <a:prstDash val="solid"/>
                    </a:lnB>
                    <a:solidFill>
                      <a:srgbClr val="FFFFFF"/>
                    </a:solidFill>
                  </a:tcPr>
                </a:tc>
                <a:tc>
                  <a:txBody>
                    <a:bodyPr/>
                    <a:lstStyle/>
                    <a:p>
                      <a:pPr algn="ctr">
                        <a:spcAft>
                          <a:spcPts val="0"/>
                        </a:spcAft>
                        <a:tabLst>
                          <a:tab pos="-180340" algn="l"/>
                        </a:tabLst>
                      </a:pPr>
                      <a:r>
                        <a:rPr lang="en-US" sz="1100" kern="0">
                          <a:solidFill>
                            <a:srgbClr val="584E61"/>
                          </a:solidFill>
                          <a:effectLst/>
                        </a:rPr>
                        <a:t>3</a:t>
                      </a:r>
                      <a:r>
                        <a:rPr lang="zh-CN" sz="1100" kern="0">
                          <a:solidFill>
                            <a:srgbClr val="584E61"/>
                          </a:solidFill>
                          <a:effectLst/>
                        </a:rPr>
                        <a:t>个</a:t>
                      </a:r>
                      <a:endParaRPr lang="zh-CN" sz="1100" kern="0">
                        <a:solidFill>
                          <a:srgbClr val="584E61"/>
                        </a:solidFill>
                        <a:effectLst/>
                        <a:latin typeface="Times New Roman" panose="02020503050405090304"/>
                        <a:ea typeface="宋体" pitchFamily="2" charset="-122"/>
                      </a:endParaRPr>
                    </a:p>
                  </a:txBody>
                  <a:tcPr marL="51441" marR="51441" marT="0" marB="0" anchor="ctr" anchorCtr="0">
                    <a:lnL>
                      <a:noFill/>
                    </a:lnL>
                    <a:lnR>
                      <a:noFill/>
                    </a:lnR>
                    <a:lnT>
                      <a:noFill/>
                    </a:lnT>
                    <a:lnB w="19050">
                      <a:solidFill>
                        <a:srgbClr val="584E61"/>
                      </a:solidFill>
                      <a:prstDash val="solid"/>
                    </a:lnB>
                    <a:solidFill>
                      <a:srgbClr val="FFFFFF"/>
                    </a:solidFill>
                  </a:tcPr>
                </a:tc>
                <a:tc>
                  <a:txBody>
                    <a:bodyPr/>
                    <a:lstStyle/>
                    <a:p>
                      <a:pPr algn="ctr">
                        <a:spcAft>
                          <a:spcPts val="0"/>
                        </a:spcAft>
                        <a:tabLst>
                          <a:tab pos="-180340" algn="l"/>
                        </a:tabLst>
                      </a:pPr>
                      <a:r>
                        <a:rPr lang="en-US" sz="1100" kern="0" dirty="0">
                          <a:solidFill>
                            <a:srgbClr val="584E61"/>
                          </a:solidFill>
                          <a:effectLst/>
                        </a:rPr>
                        <a:t>?:</a:t>
                      </a:r>
                      <a:endParaRPr lang="en-US" sz="1100" kern="0" dirty="0">
                        <a:solidFill>
                          <a:srgbClr val="584E61"/>
                        </a:solidFill>
                        <a:effectLst/>
                        <a:latin typeface="Times New Roman" panose="02020503050405090304"/>
                        <a:ea typeface="宋体" pitchFamily="2" charset="-122"/>
                      </a:endParaRPr>
                    </a:p>
                  </a:txBody>
                  <a:tcPr marL="51441" marR="51441" marT="0" marB="0" anchor="ctr" anchorCtr="0">
                    <a:lnL>
                      <a:noFill/>
                    </a:lnL>
                    <a:lnR>
                      <a:noFill/>
                    </a:lnR>
                    <a:lnT>
                      <a:noFill/>
                    </a:lnT>
                    <a:lnB w="19050">
                      <a:solidFill>
                        <a:srgbClr val="584E61"/>
                      </a:solidFill>
                      <a:prstDash val="solid"/>
                    </a:lnB>
                    <a:solidFill>
                      <a:srgbClr val="FFFFFF"/>
                    </a:solidFill>
                  </a:tcPr>
                </a:tc>
              </a:tr>
            </a:tbl>
          </a:graphicData>
        </a:graphic>
      </p:graphicFrame>
      <p:sp>
        <p:nvSpPr>
          <p:cNvPr id="3" name="标题 1"/>
          <p:cNvSpPr>
            <a:spLocks noGrp="1"/>
          </p:cNvSpPr>
          <p:nvPr>
            <p:custDataLst>
              <p:tags r:id="rId2"/>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2.4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运算符</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3" name="内容占位符 2"/>
          <p:cNvSpPr>
            <a:spLocks noGrp="1"/>
          </p:cNvSpPr>
          <p:nvPr>
            <p:ph idx="1"/>
          </p:nvPr>
        </p:nvSpPr>
        <p:spPr>
          <a:xfrm>
            <a:off x="1485900" y="620316"/>
            <a:ext cx="6172200" cy="4289822"/>
          </a:xfrm>
          <a:noFill/>
          <a:ln>
            <a:noFill/>
          </a:ln>
        </p:spPr>
        <p:txBody>
          <a:bodyPr/>
          <a:p>
            <a:pPr marL="0" indent="0">
              <a:buNone/>
            </a:pPr>
            <a:r>
              <a:rPr lang="en-US" altLang="zh-CN" dirty="0">
                <a:latin typeface="+mn-lt"/>
                <a:ea typeface="+mn-ea"/>
                <a:cs typeface="+mn-cs"/>
              </a:rPr>
              <a:t>        </a:t>
            </a:r>
            <a:endParaRPr lang="en-US" altLang="zh-CN" dirty="0">
              <a:latin typeface="+mn-lt"/>
              <a:ea typeface="+mn-ea"/>
              <a:cs typeface="+mn-cs"/>
            </a:endParaRPr>
          </a:p>
          <a:p>
            <a:pPr marL="0" indent="0">
              <a:buNone/>
            </a:pPr>
            <a:endParaRPr lang="en-US" altLang="zh-CN" dirty="0">
              <a:latin typeface="+mn-lt"/>
              <a:ea typeface="+mn-ea"/>
              <a:cs typeface="+mn-cs"/>
            </a:endParaRPr>
          </a:p>
          <a:p>
            <a:pPr marL="0" indent="0">
              <a:buNone/>
            </a:pPr>
            <a:r>
              <a:rPr lang="en-US" altLang="zh-CN" dirty="0">
                <a:latin typeface="+mn-lt"/>
                <a:ea typeface="+mn-ea"/>
                <a:cs typeface="+mn-cs"/>
              </a:rPr>
              <a:t>        </a:t>
            </a:r>
            <a:r>
              <a:rPr lang="zh-CN" altLang="zh-CN" dirty="0">
                <a:latin typeface="+mn-lt"/>
                <a:ea typeface="+mn-ea"/>
                <a:cs typeface="+mn-cs"/>
              </a:rPr>
              <a:t>本章主要讲解了</a:t>
            </a:r>
            <a:r>
              <a:rPr lang="en-US" altLang="zh-CN" dirty="0">
                <a:latin typeface="+mn-lt"/>
                <a:ea typeface="+mn-ea"/>
                <a:cs typeface="+mn-cs"/>
              </a:rPr>
              <a:t>C</a:t>
            </a:r>
            <a:r>
              <a:rPr lang="zh-CN" altLang="zh-CN" dirty="0">
                <a:latin typeface="+mn-lt"/>
                <a:ea typeface="+mn-ea"/>
                <a:cs typeface="+mn-cs"/>
              </a:rPr>
              <a:t>语言中的数据类型以及运算符。其中包括进制、基本数据类型、类型转换、运算符与表达式等。通过本章的学习，可以掌握</a:t>
            </a:r>
            <a:r>
              <a:rPr lang="en-US" altLang="zh-CN" dirty="0">
                <a:latin typeface="+mn-lt"/>
                <a:ea typeface="+mn-ea"/>
                <a:cs typeface="+mn-cs"/>
              </a:rPr>
              <a:t>C</a:t>
            </a:r>
            <a:r>
              <a:rPr lang="zh-CN" altLang="zh-CN" dirty="0">
                <a:latin typeface="+mn-lt"/>
                <a:ea typeface="+mn-ea"/>
                <a:cs typeface="+mn-cs"/>
              </a:rPr>
              <a:t>语言中数据类型及其运算的一些相关知识。熟练掌握本章的内容，可以为后面的学习打下坚实的基础。</a:t>
            </a:r>
            <a:endParaRPr lang="en-US" altLang="zh-CN" dirty="0">
              <a:latin typeface="+mn-lt"/>
              <a:ea typeface="+mn-ea"/>
              <a:cs typeface="+mn-cs"/>
            </a:endParaRPr>
          </a:p>
        </p:txBody>
      </p:sp>
      <p:sp>
        <p:nvSpPr>
          <p:cNvPr id="3" name="标题 1"/>
          <p:cNvSpPr>
            <a:spLocks noGrp="1"/>
          </p:cNvSpPr>
          <p:nvPr>
            <p:custDataLst>
              <p:tags r:id="rId1"/>
            </p:custDataLst>
          </p:nvPr>
        </p:nvSpPr>
        <p:spPr>
          <a:xfrm>
            <a:off x="-317" y="85725"/>
            <a:ext cx="5824538" cy="54292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2.4 </a:t>
            </a:r>
            <a:r>
              <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rPr>
              <a:t>运算符</a:t>
            </a:r>
            <a:endParaRPr kumimoji="0" lang="zh-CN" altLang="en-US" sz="2700" b="1" i="0" u="none" strike="noStrike" kern="0" cap="none" spc="300" normalizeH="0" baseline="0" noProof="0" dirty="0" smtClean="0">
              <a:ln>
                <a:noFill/>
              </a:ln>
              <a:solidFill>
                <a:srgbClr val="782367"/>
              </a:solidFill>
              <a:effectLst/>
              <a:uLnTx/>
              <a:uFillTx/>
              <a:latin typeface="微软雅黑" panose="020B0503020204020204" charset="-122"/>
              <a:ea typeface="微软雅黑" panose="020B0503020204020204" charset="-122"/>
              <a:cs typeface="+mj-cs"/>
            </a:endParaRPr>
          </a:p>
        </p:txBody>
      </p:sp>
      <p:sp>
        <p:nvSpPr>
          <p:cNvPr id="2" name="灯片编号占位符 1"/>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90204" pitchFamily="34" charset="0"/>
            </a:endParaRPr>
          </a:p>
        </p:txBody>
      </p:sp>
    </p:spTree>
  </p:cSld>
  <p:clrMapOvr>
    <a:masterClrMapping/>
  </p:clrMapOvr>
  <p:transition>
    <p:fade/>
  </p:transition>
</p:sld>
</file>

<file path=ppt/tags/tag1.xml><?xml version="1.0" encoding="utf-8"?>
<p:tagLst xmlns:p="http://schemas.openxmlformats.org/presentationml/2006/main">
  <p:tag name="KSO_WM_UNIT_TABLE_BEAUTIFY" val="smartTable{9b616dfd-25ab-497d-80d1-2f55684cd680}"/>
  <p:tag name="TABLE_EMPHASIZE_COLOR" val="5787233"/>
  <p:tag name="TABLE_SKINIDX" val="4"/>
  <p:tag name="TABLE_COLORIDX" val="19"/>
  <p:tag name="TABLE_COLOR_RGB" val="0x000000*0xFFFFFF*0x212121*0xFFFFFF*0x584E61*0x786577*0xA593A4*0xB3ADC2*0xC8C6CF*0xE6E6E8"/>
</p:tagLst>
</file>

<file path=ppt/tags/tag2.xml><?xml version="1.0" encoding="utf-8"?>
<p:tagLst xmlns:p="http://schemas.openxmlformats.org/presentationml/2006/main">
  <p:tag name="KSO_WM_UNIT_TABLE_BEAUTIFY" val="smartTable{6bb582a8-8920-45e0-8aec-b4849b6c9641}"/>
  <p:tag name="TABLE_EMPHASIZE_COLOR" val="5787233"/>
  <p:tag name="TABLE_SKINIDX" val="4"/>
  <p:tag name="TABLE_COLORIDX" val="19"/>
  <p:tag name="TABLE_COLOR_RGB" val="0x000000*0xFFFFFF*0x212121*0xFFFFFF*0x584E61*0x786577*0xA593A4*0xB3ADC2*0xC8C6CF*0xE6E6E8"/>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UNIT_TABLE_BEAUTIFY" val="smartTable{8de1691f-87c7-4a77-9e70-c55883a1bdd6}"/>
  <p:tag name="TABLE_EMPHASIZE_COLOR" val="5787233"/>
  <p:tag name="TABLE_SKINIDX" val="4"/>
  <p:tag name="TABLE_COLORIDX" val="19"/>
  <p:tag name="TABLE_COLOR_RGB" val="0x000000*0xFFFFFF*0x212121*0xFFFFFF*0x584E61*0x786577*0xA593A4*0xB3ADC2*0xC8C6CF*0xE6E6E8"/>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UNIT_TABLE_BEAUTIFY" val="smartTable{c96ab49d-db99-4291-b69d-493e106e4b62}"/>
  <p:tag name="TABLE_EMPHASIZE_COLOR" val="5787233"/>
  <p:tag name="TABLE_SKINIDX" val="4"/>
  <p:tag name="TABLE_COLORIDX" val="19"/>
  <p:tag name="TABLE_COLOR_RGB" val="0x000000*0xFFFFFF*0x212121*0xFFFFFF*0x584E61*0x786577*0xA593A4*0xB3ADC2*0xC8C6CF*0xE6E6E8"/>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UNIT_TABLE_BEAUTIFY" val="smartTable{6933f1f9-aba1-4c34-bc00-8863ee6a2884}"/>
  <p:tag name="TABLE_EMPHASIZE_COLOR" val="5787233"/>
  <p:tag name="TABLE_SKINIDX" val="4"/>
  <p:tag name="TABLE_COLORIDX" val="19"/>
  <p:tag name="TABLE_COLOR_RGB" val="0x000000*0xFFFFFF*0x212121*0xFFFFFF*0x584E61*0x786577*0xA593A4*0xB3ADC2*0xC8C6CF*0xE6E6E8"/>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UNIT_TABLE_BEAUTIFY" val="smartTable{7f001c88-5391-4e50-b132-6eaf83155f05}"/>
  <p:tag name="TABLE_EMPHASIZE_COLOR" val="5787233"/>
  <p:tag name="TABLE_SKINIDX" val="4"/>
  <p:tag name="TABLE_COLORIDX" val="19"/>
  <p:tag name="TABLE_COLOR_RGB" val="0x000000*0xFFFFFF*0x212121*0xFFFFFF*0x584E61*0x786577*0xA593A4*0xB3ADC2*0xC8C6CF*0xE6E6E8"/>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UNIT_TABLE_BEAUTIFY" val="smartTable{89fe8d51-e14a-41f3-803f-950ab4e542cf}"/>
  <p:tag name="TABLE_EMPHASIZE_COLOR" val="5787233"/>
  <p:tag name="TABLE_SKINIDX" val="4"/>
  <p:tag name="TABLE_COLORIDX" val="19"/>
  <p:tag name="TABLE_COLOR_RGB" val="0x000000*0xFFFFFF*0x212121*0xFFFFFF*0x584E61*0x786577*0xA593A4*0xB3ADC2*0xC8C6CF*0xE6E6E8"/>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UNIT_TABLE_BEAUTIFY" val="smartTable{10f824d5-3ae1-4126-be40-afd9e5463930}"/>
  <p:tag name="TABLE_EMPHASIZE_COLOR" val="5787233"/>
  <p:tag name="TABLE_SKINIDX" val="4"/>
  <p:tag name="TABLE_COLORIDX" val="19"/>
  <p:tag name="TABLE_COLOR_RGB" val="0x000000*0xFFFFFF*0x212121*0xFFFFFF*0x584E61*0x786577*0xA593A4*0xB3ADC2*0xC8C6CF*0xE6E6E8"/>
  <p:tag name="TABLE_ENDDRAG_ORIGIN_RECT" val="591*241"/>
  <p:tag name="TABLE_ENDDRAG_RECT" val="79*75*591*241"/>
</p:tagLst>
</file>

<file path=ppt/tags/tag18.xml><?xml version="1.0" encoding="utf-8"?>
<p:tagLst xmlns:p="http://schemas.openxmlformats.org/presentationml/2006/main">
  <p:tag name="KSO_WM_UNIT_TABLE_BEAUTIFY" val="smartTable{f5812b34-56b9-41c6-8ca8-04a43ab7cb7f}"/>
  <p:tag name="TABLE_EMPHASIZE_COLOR" val="5787233"/>
  <p:tag name="TABLE_SKINIDX" val="4"/>
  <p:tag name="TABLE_COLORIDX" val="19"/>
  <p:tag name="TABLE_COLOR_RGB" val="0x000000*0xFFFFFF*0x212121*0xFFFFFF*0x584E61*0x786577*0xA593A4*0xB3ADC2*0xC8C6CF*0xE6E6E8"/>
  <p:tag name="TABLE_ENDDRAG_ORIGIN_RECT" val="591*241"/>
  <p:tag name="TABLE_ENDDRAG_RECT" val="79*75*591*241"/>
</p:tagLst>
</file>

<file path=ppt/tags/tag19.xml><?xml version="1.0" encoding="utf-8"?>
<p:tagLst xmlns:p="http://schemas.openxmlformats.org/presentationml/2006/main">
  <p:tag name="KSO_WM_UNIT_TABLE_BEAUTIFY" val="smartTable{10f824d5-3ae1-4126-be40-afd9e5463930}"/>
  <p:tag name="TABLE_EMPHASIZE_COLOR" val="5787233"/>
  <p:tag name="TABLE_SKINIDX" val="4"/>
  <p:tag name="TABLE_COLORIDX" val="19"/>
  <p:tag name="TABLE_COLOR_RGB" val="0x000000*0xFFFFFF*0x212121*0xFFFFFF*0x584E61*0x786577*0xA593A4*0xB3ADC2*0xC8C6CF*0xE6E6E8"/>
  <p:tag name="TABLE_ENDDRAG_ORIGIN_RECT" val="591*241"/>
  <p:tag name="TABLE_ENDDRAG_RECT" val="79*75*591*241"/>
</p:tagLst>
</file>

<file path=ppt/tags/tag20.xml><?xml version="1.0" encoding="utf-8"?>
<p:tagLst xmlns:p="http://schemas.openxmlformats.org/presentationml/2006/main">
  <p:tag name="KSO_WM_UNIT_TABLE_BEAUTIFY" val="smartTable{a4290ff3-efd1-45df-a8db-0e165672fbbf}"/>
  <p:tag name="TABLE_EMPHASIZE_COLOR" val="5787233"/>
  <p:tag name="TABLE_SKINIDX" val="4"/>
  <p:tag name="TABLE_COLORIDX" val="19"/>
  <p:tag name="TABLE_COLOR_RGB" val="0x000000*0xFFFFFF*0x212121*0xFFFFFF*0x584E61*0x786577*0xA593A4*0xB3ADC2*0xC8C6CF*0xE6E6E8"/>
  <p:tag name="TABLE_ENDDRAG_ORIGIN_RECT" val="591*241"/>
  <p:tag name="TABLE_ENDDRAG_RECT" val="79*75*591*241"/>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UNIT_TABLE_BEAUTIFY" val="smartTable{1aa72eb1-3944-4231-8359-d180775ca257}"/>
  <p:tag name="TABLE_EMPHASIZE_COLOR" val="5787233"/>
  <p:tag name="TABLE_SKINIDX" val="4"/>
  <p:tag name="TABLE_COLORIDX" val="19"/>
  <p:tag name="TABLE_COLOR_RGB" val="0x000000*0xFFFFFF*0x212121*0xFFFFFF*0x584E61*0x786577*0xA593A4*0xB3ADC2*0xC8C6CF*0xE6E6E8"/>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UNIT_TABLE_BEAUTIFY" val="smartTable{8903e62d-bdd7-469a-ad55-1dcddebdcd2e}"/>
  <p:tag name="TABLE_EMPHASIZE_COLOR" val="5787233"/>
  <p:tag name="TABLE_SKINIDX" val="4"/>
  <p:tag name="TABLE_COLORIDX" val="19"/>
  <p:tag name="TABLE_COLOR_RGB" val="0x000000*0xFFFFFF*0x212121*0xFFFFFF*0x584E61*0x786577*0xA593A4*0xB3ADC2*0xC8C6CF*0xE6E6E8"/>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UNIT_TABLE_BEAUTIFY" val="smartTable{e5cf9da1-1963-4bc9-a2a9-ce7cd2525e4b}"/>
  <p:tag name="TABLE_EMPHASIZE_COLOR" val="5787233"/>
  <p:tag name="TABLE_SKINIDX" val="4"/>
  <p:tag name="TABLE_COLORIDX" val="19"/>
  <p:tag name="TABLE_COLOR_RGB" val="0x000000*0xFFFFFF*0x212121*0xFFFFFF*0x584E61*0x786577*0xA593A4*0xB3ADC2*0xC8C6CF*0xE6E6E8"/>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UNIT_TABLE_BEAUTIFY" val="smartTable{a7c94f2e-48a3-4fa9-a4de-e6c2500831c4}"/>
  <p:tag name="TABLE_EMPHASIZE_COLOR" val="5787233"/>
  <p:tag name="TABLE_SKINIDX" val="4"/>
  <p:tag name="TABLE_COLORIDX" val="19"/>
  <p:tag name="TABLE_COLOR_RGB" val="0x000000*0xFFFFFF*0x212121*0xFFFFFF*0x584E61*0x786577*0xA593A4*0xB3ADC2*0xC8C6CF*0xE6E6E8"/>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UNIT_TABLE_BEAUTIFY" val="smartTable{73e96e72-7cec-4535-a142-5fa417f1ead6}"/>
  <p:tag name="TABLE_EMPHASIZE_COLOR" val="5787233"/>
  <p:tag name="TABLE_SKINIDX" val="4"/>
  <p:tag name="TABLE_COLORIDX" val="19"/>
  <p:tag name="TABLE_COLOR_RGB" val="0x000000*0xFFFFFF*0x212121*0xFFFFFF*0x584E61*0x786577*0xA593A4*0xB3ADC2*0xC8C6CF*0xE6E6E8"/>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UNIT_TABLE_BEAUTIFY" val="smartTable{e821b19f-8c49-4148-87fe-414c4b4d8e66}"/>
  <p:tag name="TABLE_EMPHASIZE_COLOR" val="5787233"/>
  <p:tag name="TABLE_SKINIDX" val="4"/>
  <p:tag name="TABLE_COLORIDX" val="19"/>
  <p:tag name="TABLE_COLOR_RGB" val="0x000000*0xFFFFFF*0x212121*0xFFFFFF*0x584E61*0x786577*0xA593A4*0xB3ADC2*0xC8C6CF*0xE6E6E8"/>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UNIT_TABLE_BEAUTIFY" val="smartTable{f8769078-5760-43f7-bab2-b90d7ec23af3}"/>
  <p:tag name="TABLE_EMPHASIZE_COLOR" val="5787233"/>
  <p:tag name="TABLE_SKINIDX" val="4"/>
  <p:tag name="TABLE_COLORIDX" val="19"/>
  <p:tag name="TABLE_COLOR_RGB" val="0x000000*0xFFFFFF*0x212121*0xFFFFFF*0x584E61*0x786577*0xA593A4*0xB3ADC2*0xC8C6CF*0xE6E6E8"/>
</p:tagLst>
</file>

<file path=ppt/tags/tag52.xml><?xml version="1.0" encoding="utf-8"?>
<p:tagLst xmlns:p="http://schemas.openxmlformats.org/presentationml/2006/main">
  <p:tag name="KSO_WM_UNIT_TABLE_BEAUTIFY" val="smartTable{76e6c373-554e-4183-88f0-dac033f3d46e}"/>
  <p:tag name="TABLE_EMPHASIZE_COLOR" val="5787233"/>
  <p:tag name="TABLE_SKINIDX" val="4"/>
  <p:tag name="TABLE_COLORIDX" val="19"/>
  <p:tag name="TABLE_COLOR_RGB" val="0x000000*0xFFFFFF*0x212121*0xFFFFFF*0x584E61*0x786577*0xA593A4*0xB3ADC2*0xC8C6CF*0xE6E6E8"/>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UNIT_TABLE_BEAUTIFY" val="smartTable{fb464c3f-5c59-402f-b114-3fc95bddd7ee}"/>
  <p:tag name="TABLE_EMPHASIZE_COLOR" val="5787233"/>
  <p:tag name="TABLE_SKINIDX" val="4"/>
  <p:tag name="TABLE_COLORIDX" val="19"/>
  <p:tag name="TABLE_COLOR_RGB" val="0x000000*0xFFFFFF*0x212121*0xFFFFFF*0x584E61*0x786577*0xA593A4*0xB3ADC2*0xC8C6CF*0xE6E6E8"/>
  <p:tag name="TABLE_ENDDRAG_ORIGIN_RECT" val="604*271"/>
  <p:tag name="TABLE_ENDDRAG_RECT" val="108*127*604*271"/>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UNIT_TABLE_BEAUTIFY" val="smartTable{71773cef-c949-4574-aee8-1e81e5f66e16}"/>
  <p:tag name="TABLE_EMPHASIZE_COLOR" val="5787233"/>
  <p:tag name="TABLE_SKINIDX" val="4"/>
  <p:tag name="TABLE_COLORIDX" val="19"/>
  <p:tag name="TABLE_COLOR_RGB" val="0x000000*0xFFFFFF*0x212121*0xFFFFFF*0x584E61*0x786577*0xA593A4*0xB3ADC2*0xC8C6CF*0xE6E6E8"/>
  <p:tag name="TABLE_ENDDRAG_ORIGIN_RECT" val="493*201"/>
  <p:tag name="TABLE_ENDDRAG_RECT" val="138*203*493*201"/>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UNIT_TABLE_BEAUTIFY" val="smartTable{9c16825c-b297-4b6d-a901-65c422ab3833}"/>
  <p:tag name="TABLE_EMPHASIZE_COLOR" val="5787233"/>
  <p:tag name="TABLE_SKINIDX" val="4"/>
  <p:tag name="TABLE_COLORIDX" val="19"/>
  <p:tag name="TABLE_COLOR_RGB" val="0x000000*0xFFFFFF*0x212121*0xFFFFFF*0x584E61*0x786577*0xA593A4*0xB3ADC2*0xC8C6CF*0xE6E6E8"/>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PP_MARK_KEY" val="06e9bb6b-4b73-46d8-a310-5d4bb7e549df"/>
  <p:tag name="COMMONDATA" val="eyJoZGlkIjoiODY5YmNiYTY4NjQ3Zjc2MmM5YTEwNTg4NWRkNjhjOTcifQ=="/>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16577</Words>
  <Application>WPS 表格</Application>
  <PresentationFormat/>
  <Paragraphs>2579</Paragraphs>
  <Slides>55</Slides>
  <Notes>0</Notes>
  <HiddenSlides>0</HiddenSlides>
  <MMClips>0</MMClips>
  <ScaleCrop>false</ScaleCrop>
  <HeadingPairs>
    <vt:vector size="6" baseType="variant">
      <vt:variant>
        <vt:lpstr>已用的字体</vt:lpstr>
      </vt:variant>
      <vt:variant>
        <vt:i4>24</vt:i4>
      </vt:variant>
      <vt:variant>
        <vt:lpstr>主题</vt:lpstr>
      </vt:variant>
      <vt:variant>
        <vt:i4>1</vt:i4>
      </vt:variant>
      <vt:variant>
        <vt:lpstr>幻灯片标题</vt:lpstr>
      </vt:variant>
      <vt:variant>
        <vt:i4>55</vt:i4>
      </vt:variant>
    </vt:vector>
  </HeadingPairs>
  <TitlesOfParts>
    <vt:vector size="80" baseType="lpstr">
      <vt:lpstr>Arial</vt:lpstr>
      <vt:lpstr>宋体</vt:lpstr>
      <vt:lpstr>Wingdings</vt:lpstr>
      <vt:lpstr>Calibri</vt:lpstr>
      <vt:lpstr>微软雅黑</vt:lpstr>
      <vt:lpstr>汉仪旗黑</vt:lpstr>
      <vt:lpstr>汉仪书宋二KW</vt:lpstr>
      <vt:lpstr>Calibri</vt:lpstr>
      <vt:lpstr>隶书</vt:lpstr>
      <vt:lpstr>报隶-简</vt:lpstr>
      <vt:lpstr>Times New Roman</vt:lpstr>
      <vt:lpstr>楷体</vt:lpstr>
      <vt:lpstr>Cambria Math</vt:lpstr>
      <vt:lpstr>汉仪综艺体简</vt:lpstr>
      <vt:lpstr>Times New Roman</vt:lpstr>
      <vt:lpstr>汉仪楷体KW</vt:lpstr>
      <vt:lpstr>宋体</vt:lpstr>
      <vt:lpstr>Arial Unicode MS</vt:lpstr>
      <vt:lpstr>Helvetica Neue</vt:lpstr>
      <vt:lpstr>华文楷体</vt:lpstr>
      <vt:lpstr>楷体_GB2312</vt:lpstr>
      <vt:lpstr>汉仪楷体简</vt:lpstr>
      <vt:lpstr>Kingsoft Math</vt:lpstr>
      <vt:lpstr>苹方-简</vt:lpstr>
      <vt:lpstr>Office theme</vt:lpstr>
      <vt:lpstr>PowerPoint 演示文稿</vt:lpstr>
      <vt:lpstr>PowerPoint 演示文稿</vt:lpstr>
      <vt:lpstr>2.1 进制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2.2 关键字与标识符</vt:lpstr>
      <vt:lpstr>2.2 关键字与标识符</vt:lpstr>
      <vt:lpstr>2.2 关键字与标识符</vt:lpstr>
      <vt:lpstr>2.2 关键字与标识符</vt:lpstr>
      <vt:lpstr>2.2 关键字与标识符</vt:lpstr>
      <vt:lpstr>PowerPoint 演示文稿</vt:lpstr>
      <vt:lpstr>2.3 常量与变量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朱静雯</cp:lastModifiedBy>
  <cp:revision>1398</cp:revision>
  <dcterms:created xsi:type="dcterms:W3CDTF">2024-09-02T12:43:36Z</dcterms:created>
  <dcterms:modified xsi:type="dcterms:W3CDTF">2024-09-02T12:43:36Z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wqlLaW5nc29mdCBQREYgdG8gV1BTIDgw</vt:lpwstr>
  </property>
  <property fmtid="{D5CDD505-2E9C-101B-9397-08002B2CF9AE}" pid="3" name="Created">
    <vt:filetime>2023-08-26T15:21:40Z</vt:filetime>
  </property>
  <property fmtid="{D5CDD505-2E9C-101B-9397-08002B2CF9AE}" pid="4" name="ICV">
    <vt:lpwstr>8EBAA2FB7AD54031BE2C7C81E8946690_12</vt:lpwstr>
  </property>
  <property fmtid="{D5CDD505-2E9C-101B-9397-08002B2CF9AE}" pid="5" name="KSOProductBuildVer">
    <vt:lpwstr>2052-6.8.2.8850</vt:lpwstr>
  </property>
</Properties>
</file>