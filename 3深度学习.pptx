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850" r:id="rId3"/>
    <p:sldId id="926" r:id="rId4"/>
    <p:sldId id="927" r:id="rId5"/>
    <p:sldId id="854" r:id="rId6"/>
    <p:sldId id="855" r:id="rId7"/>
    <p:sldId id="928" r:id="rId8"/>
    <p:sldId id="929" r:id="rId9"/>
    <p:sldId id="930" r:id="rId10"/>
    <p:sldId id="932" r:id="rId11"/>
    <p:sldId id="933" r:id="rId12"/>
    <p:sldId id="939" r:id="rId13"/>
    <p:sldId id="942" r:id="rId14"/>
    <p:sldId id="943" r:id="rId15"/>
    <p:sldId id="935" r:id="rId16"/>
    <p:sldId id="944" r:id="rId17"/>
    <p:sldId id="946" r:id="rId18"/>
    <p:sldId id="945" r:id="rId19"/>
    <p:sldId id="947" r:id="rId20"/>
    <p:sldId id="1057" r:id="rId21"/>
    <p:sldId id="948" r:id="rId22"/>
    <p:sldId id="949" r:id="rId23"/>
    <p:sldId id="950" r:id="rId24"/>
    <p:sldId id="951" r:id="rId25"/>
    <p:sldId id="952" r:id="rId26"/>
    <p:sldId id="953" r:id="rId27"/>
    <p:sldId id="954" r:id="rId28"/>
    <p:sldId id="955" r:id="rId29"/>
    <p:sldId id="956" r:id="rId30"/>
    <p:sldId id="957" r:id="rId31"/>
    <p:sldId id="958" r:id="rId32"/>
    <p:sldId id="1059" r:id="rId33"/>
    <p:sldId id="959" r:id="rId34"/>
    <p:sldId id="971" r:id="rId35"/>
    <p:sldId id="972" r:id="rId36"/>
    <p:sldId id="973" r:id="rId37"/>
    <p:sldId id="974" r:id="rId38"/>
    <p:sldId id="975" r:id="rId39"/>
    <p:sldId id="976" r:id="rId40"/>
    <p:sldId id="1062" r:id="rId41"/>
    <p:sldId id="983" r:id="rId42"/>
    <p:sldId id="984" r:id="rId43"/>
    <p:sldId id="985" r:id="rId44"/>
    <p:sldId id="986" r:id="rId45"/>
    <p:sldId id="987" r:id="rId46"/>
    <p:sldId id="988" r:id="rId47"/>
    <p:sldId id="989" r:id="rId48"/>
    <p:sldId id="1056" r:id="rId49"/>
    <p:sldId id="990" r:id="rId50"/>
    <p:sldId id="991" r:id="rId51"/>
    <p:sldId id="992" r:id="rId52"/>
    <p:sldId id="993" r:id="rId53"/>
    <p:sldId id="994" r:id="rId54"/>
    <p:sldId id="996" r:id="rId55"/>
    <p:sldId id="997" r:id="rId56"/>
    <p:sldId id="998" r:id="rId57"/>
    <p:sldId id="999" r:id="rId58"/>
    <p:sldId id="1000" r:id="rId59"/>
    <p:sldId id="1001" r:id="rId60"/>
    <p:sldId id="1002" r:id="rId61"/>
    <p:sldId id="1003" r:id="rId62"/>
    <p:sldId id="1004" r:id="rId63"/>
    <p:sldId id="1005" r:id="rId64"/>
    <p:sldId id="1006" r:id="rId65"/>
    <p:sldId id="1007" r:id="rId66"/>
    <p:sldId id="1008" r:id="rId67"/>
    <p:sldId id="1009" r:id="rId68"/>
    <p:sldId id="1010" r:id="rId69"/>
    <p:sldId id="852" r:id="rId7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80" autoAdjust="0"/>
    <p:restoredTop sz="72960" autoAdjust="0"/>
  </p:normalViewPr>
  <p:slideViewPr>
    <p:cSldViewPr snapToGrid="0">
      <p:cViewPr varScale="1">
        <p:scale>
          <a:sx n="77" d="100"/>
          <a:sy n="77" d="100"/>
        </p:scale>
        <p:origin x="114"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9AEC2-48E7-474E-A7F5-02930BFCEB1D}" type="datetimeFigureOut">
              <a:rPr lang="zh-CN" altLang="en-US" smtClean="0"/>
              <a:t>2024/4/7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84927D-C6EB-456C-998A-C0C21A7BE8FD}" type="slidenum">
              <a:rPr lang="zh-CN" altLang="en-US" smtClean="0"/>
              <a:t>‹#›</a:t>
            </a:fld>
            <a:endParaRPr lang="zh-CN" altLang="en-US"/>
          </a:p>
        </p:txBody>
      </p:sp>
    </p:spTree>
    <p:extLst>
      <p:ext uri="{BB962C8B-B14F-4D97-AF65-F5344CB8AC3E}">
        <p14:creationId xmlns:p14="http://schemas.microsoft.com/office/powerpoint/2010/main" val="666924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RGB</a:t>
            </a:r>
            <a:r>
              <a:rPr lang="zh-CN" altLang="en-US" dirty="0"/>
              <a:t>图像</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卷积神经网络：局部连接和权重共享。</a:t>
            </a:r>
            <a:endParaRPr lang="en-US" altLang="zh-CN" dirty="0"/>
          </a:p>
          <a:p>
            <a:r>
              <a:rPr lang="zh-CN" altLang="en-US" dirty="0"/>
              <a:t>局部连接是因为视觉或图像具有很强的局部性，相邻的数个点很可能构成一个完整的物体，距离越远的两个点之间的联系可能越弱，所以用神经网络做图像处理时，一般不需要做全连接，应该充分考虑领域信息，对局部做稠密连接。</a:t>
            </a:r>
            <a:endParaRPr lang="en-US" altLang="zh-CN" dirty="0"/>
          </a:p>
          <a:p>
            <a:r>
              <a:rPr lang="zh-CN" altLang="en-US" dirty="0"/>
              <a:t>权重共享。卷积神经网络使用卷积核做卷积处理，一张图片中不同的位置可以用同样的卷积系数（即突触权重）。例如，一张图片的左上角和右下角，神经网络的突触权重可以是同一组值。其原理是，每一组权重抽取图像的一种特征，比如，抽取形状特征时，在图像不同位置都可以使用同一组权重。</a:t>
            </a:r>
            <a:endParaRPr lang="en-US" altLang="zh-CN" dirty="0"/>
          </a:p>
          <a:p>
            <a:r>
              <a:rPr lang="zh-CN" altLang="en-US" dirty="0"/>
              <a:t>基于局部连接和权重共享，卷积神经网络可以大幅减少处理图像时的权重数量，从而避免过拟合。</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VGG16</a:t>
            </a:r>
            <a:r>
              <a:rPr lang="zh-CN" altLang="en-US" dirty="0"/>
              <a:t>包括卷积层、池化层、全连接层，</a:t>
            </a:r>
            <a:r>
              <a:rPr lang="en-US" altLang="zh-CN" dirty="0" err="1"/>
              <a:t>Softmax</a:t>
            </a:r>
            <a:r>
              <a:rPr lang="zh-CN" altLang="en-US" dirty="0"/>
              <a:t>层。其中，每个卷积层有一组卷积核来抽取特定的特征，卷积层的输入、输出的特征图（</a:t>
            </a:r>
            <a:r>
              <a:rPr lang="en-US" altLang="zh-CN" dirty="0"/>
              <a:t>feature map</a:t>
            </a:r>
            <a:r>
              <a:rPr lang="zh-CN" altLang="en-US" dirty="0"/>
              <a:t>）尺寸一般变化不大，输入图像是一张</a:t>
            </a:r>
            <a:r>
              <a:rPr lang="en-US" altLang="zh-CN" dirty="0"/>
              <a:t>224</a:t>
            </a:r>
            <a:r>
              <a:rPr lang="zh-CN" altLang="en-US" dirty="0"/>
              <a:t>*</a:t>
            </a:r>
            <a:r>
              <a:rPr lang="en-US" altLang="zh-CN" dirty="0"/>
              <a:t>224</a:t>
            </a:r>
            <a:r>
              <a:rPr lang="zh-CN" altLang="en-US" dirty="0"/>
              <a:t>的</a:t>
            </a:r>
            <a:r>
              <a:rPr lang="en-US" altLang="zh-CN" dirty="0"/>
              <a:t>RGB</a:t>
            </a:r>
            <a:r>
              <a:rPr lang="zh-CN" altLang="en-US" dirty="0"/>
              <a:t>图片，通过第</a:t>
            </a:r>
            <a:r>
              <a:rPr lang="en-US" altLang="zh-CN" dirty="0"/>
              <a:t>1</a:t>
            </a:r>
            <a:r>
              <a:rPr lang="zh-CN" altLang="en-US" dirty="0"/>
              <a:t>组卷积层后变成</a:t>
            </a:r>
            <a:r>
              <a:rPr lang="en-US" altLang="zh-CN" dirty="0"/>
              <a:t>64</a:t>
            </a:r>
            <a:r>
              <a:rPr lang="zh-CN" altLang="en-US" dirty="0"/>
              <a:t>个</a:t>
            </a:r>
            <a:r>
              <a:rPr lang="en-US" altLang="zh-CN" dirty="0"/>
              <a:t>224</a:t>
            </a:r>
            <a:r>
              <a:rPr lang="zh-CN" altLang="en-US" dirty="0"/>
              <a:t>*</a:t>
            </a:r>
            <a:r>
              <a:rPr lang="en-US" altLang="zh-CN" dirty="0"/>
              <a:t>224</a:t>
            </a:r>
            <a:r>
              <a:rPr lang="zh-CN" altLang="en-US" dirty="0"/>
              <a:t>大小的特征图，这</a:t>
            </a:r>
            <a:r>
              <a:rPr lang="en-US" altLang="zh-CN" dirty="0"/>
              <a:t>64</a:t>
            </a:r>
            <a:r>
              <a:rPr lang="zh-CN" altLang="en-US" dirty="0"/>
              <a:t>个特征图代表</a:t>
            </a:r>
            <a:r>
              <a:rPr lang="en-US" altLang="zh-CN" dirty="0"/>
              <a:t>64</a:t>
            </a:r>
            <a:r>
              <a:rPr lang="zh-CN" altLang="en-US" dirty="0"/>
              <a:t>个不同的卷积核抽取出图像中的</a:t>
            </a:r>
            <a:r>
              <a:rPr lang="en-US" altLang="zh-CN" dirty="0"/>
              <a:t>64</a:t>
            </a:r>
            <a:r>
              <a:rPr lang="zh-CN" altLang="en-US" dirty="0"/>
              <a:t>种不同的特征，同时特征图尺寸保持不变。</a:t>
            </a:r>
            <a:endParaRPr lang="en-US" altLang="zh-CN" dirty="0"/>
          </a:p>
          <a:p>
            <a:r>
              <a:rPr lang="zh-CN" altLang="en-US" dirty="0"/>
              <a:t>为了缩小特征图尺寸，一个卷积层后一般会有一个池化层，通过池化层把特征图尺寸从</a:t>
            </a:r>
            <a:r>
              <a:rPr lang="en-US" altLang="zh-CN" dirty="0"/>
              <a:t>224</a:t>
            </a:r>
            <a:r>
              <a:rPr lang="zh-CN" altLang="en-US" dirty="0"/>
              <a:t>*</a:t>
            </a:r>
            <a:r>
              <a:rPr lang="en-US" altLang="zh-CN" dirty="0"/>
              <a:t>224</a:t>
            </a:r>
            <a:r>
              <a:rPr lang="zh-CN" altLang="en-US" dirty="0"/>
              <a:t>变为</a:t>
            </a:r>
            <a:r>
              <a:rPr lang="en-US" altLang="zh-CN" dirty="0"/>
              <a:t>112*112,</a:t>
            </a:r>
            <a:r>
              <a:rPr lang="zh-CN" altLang="en-US" dirty="0"/>
              <a:t>。卷积和池化交替出现，特征图的尺寸不断变小，直到</a:t>
            </a:r>
            <a:r>
              <a:rPr lang="en-US" altLang="zh-CN" dirty="0"/>
              <a:t>7</a:t>
            </a:r>
            <a:r>
              <a:rPr lang="zh-CN" altLang="en-US" dirty="0"/>
              <a:t>*</a:t>
            </a:r>
            <a:r>
              <a:rPr lang="en-US" altLang="zh-CN" dirty="0"/>
              <a:t>7</a:t>
            </a:r>
            <a:r>
              <a:rPr lang="zh-CN" altLang="en-US" dirty="0"/>
              <a:t>。但抽取的特征数量不断增多，第一组卷积</a:t>
            </a:r>
            <a:r>
              <a:rPr lang="en-US" altLang="zh-CN" dirty="0"/>
              <a:t>64</a:t>
            </a:r>
            <a:r>
              <a:rPr lang="zh-CN" altLang="en-US" dirty="0"/>
              <a:t>种特征，第二组卷积</a:t>
            </a:r>
            <a:r>
              <a:rPr lang="en-US" altLang="zh-CN" dirty="0"/>
              <a:t>128</a:t>
            </a:r>
            <a:r>
              <a:rPr lang="zh-CN" altLang="en-US" dirty="0"/>
              <a:t>种特征，到最后一组卷积</a:t>
            </a:r>
            <a:r>
              <a:rPr lang="en-US" altLang="zh-CN" dirty="0"/>
              <a:t>512</a:t>
            </a:r>
            <a:r>
              <a:rPr lang="zh-CN" altLang="en-US" dirty="0"/>
              <a:t>种特征。</a:t>
            </a:r>
            <a:endParaRPr lang="en-US" altLang="zh-CN" dirty="0"/>
          </a:p>
          <a:p>
            <a:r>
              <a:rPr lang="zh-CN" altLang="en-US" dirty="0"/>
              <a:t>然后用全连接层，将输入的神经元与输出的神经元全部一一连接起来。在每一个卷积层和每一个全连接层的内部，除了向量内积，还有激活函数，最后使用</a:t>
            </a:r>
            <a:r>
              <a:rPr lang="en-US" altLang="zh-CN" dirty="0" err="1"/>
              <a:t>softmax</a:t>
            </a:r>
            <a:r>
              <a:rPr lang="zh-CN" altLang="en-US" dirty="0"/>
              <a:t>函数进行分类概率的凸显、抑制以及归一化。</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卷积运算是对输入子矩阵和卷积核做矩阵内积</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一个卷积核就可以提取出一种特征。</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池化层可以主动减小图片或者特征图的尺寸，从而减少参数的数量和计算量，抑制过拟合。例如，输入图片或特征图的大小为</a:t>
            </a:r>
            <a:r>
              <a:rPr lang="en-US" altLang="zh-CN" dirty="0"/>
              <a:t>100*100</a:t>
            </a:r>
            <a:r>
              <a:rPr lang="zh-CN" altLang="en-US" dirty="0"/>
              <a:t>，经过池化，可能变成</a:t>
            </a:r>
            <a:r>
              <a:rPr lang="en-US" altLang="zh-CN" dirty="0"/>
              <a:t>50</a:t>
            </a:r>
            <a:r>
              <a:rPr lang="zh-CN" altLang="en-US" dirty="0"/>
              <a:t>*</a:t>
            </a:r>
            <a:r>
              <a:rPr lang="en-US" altLang="zh-CN" dirty="0"/>
              <a:t>50</a:t>
            </a:r>
            <a:r>
              <a:rPr lang="zh-CN" altLang="en-US" dirty="0"/>
              <a:t>。池化层一般没有参数，训练时很简单。</a:t>
            </a:r>
            <a:endParaRPr lang="en-US" altLang="zh-CN" dirty="0"/>
          </a:p>
          <a:p>
            <a:r>
              <a:rPr lang="zh-CN" altLang="en-US" dirty="0"/>
              <a:t>最大池化仅保留池化窗口内特征的最大值；</a:t>
            </a:r>
            <a:endParaRPr lang="en-US" altLang="zh-CN" dirty="0"/>
          </a:p>
          <a:p>
            <a:r>
              <a:rPr lang="zh-CN" altLang="en-US" dirty="0"/>
              <a:t>平均池化对池化窗口内对所有的数取平均值，会把图像的一些特征平均化，模糊化</a:t>
            </a:r>
            <a:endParaRPr lang="en-US" altLang="zh-CN" dirty="0"/>
          </a:p>
          <a:p>
            <a:r>
              <a:rPr lang="en-US" altLang="zh-CN" dirty="0"/>
              <a:t>L2</a:t>
            </a:r>
            <a:r>
              <a:rPr lang="zh-CN" altLang="en-US" dirty="0"/>
              <a:t>池化是在池化窗口内对所有的数计算平方并累加和后再开平方</a:t>
            </a:r>
            <a:endParaRPr lang="en-US" altLang="zh-CN" dirty="0"/>
          </a:p>
          <a:p>
            <a:r>
              <a:rPr lang="zh-CN" altLang="en-US" dirty="0"/>
              <a:t>对于硬件设计而言，最大池化只需要找几个数中的最大值，很容易实现。而</a:t>
            </a:r>
            <a:r>
              <a:rPr lang="en-US" altLang="zh-CN" dirty="0"/>
              <a:t>L2</a:t>
            </a:r>
            <a:r>
              <a:rPr lang="zh-CN" altLang="en-US" dirty="0"/>
              <a:t>池化需要计算开平方，硬件实现复杂度高。</a:t>
            </a:r>
            <a:endParaRPr lang="en-US" altLang="zh-CN" dirty="0"/>
          </a:p>
          <a:p>
            <a:r>
              <a:rPr lang="zh-CN" altLang="en-US" dirty="0"/>
              <a:t>几何平均做池化，复杂度更高，如果几何池化窗口为</a:t>
            </a:r>
            <a:r>
              <a:rPr lang="en-US" altLang="zh-CN" dirty="0"/>
              <a:t>2</a:t>
            </a:r>
            <a:r>
              <a:rPr lang="zh-CN" altLang="en-US" dirty="0"/>
              <a:t>*</a:t>
            </a:r>
            <a:r>
              <a:rPr lang="en-US" altLang="zh-CN" dirty="0"/>
              <a:t>2</a:t>
            </a:r>
            <a:r>
              <a:rPr lang="zh-CN" altLang="en-US" dirty="0"/>
              <a:t>，需要计算开</a:t>
            </a:r>
            <a:r>
              <a:rPr lang="en-US" altLang="zh-CN" dirty="0"/>
              <a:t>4</a:t>
            </a:r>
            <a:r>
              <a:rPr lang="zh-CN" altLang="en-US" dirty="0"/>
              <a:t>次方；如果几何池化窗口为</a:t>
            </a:r>
            <a:r>
              <a:rPr lang="en-US" altLang="zh-CN" dirty="0"/>
              <a:t>3</a:t>
            </a:r>
            <a:r>
              <a:rPr lang="zh-CN" altLang="en-US" dirty="0"/>
              <a:t>*</a:t>
            </a:r>
            <a:r>
              <a:rPr lang="en-US" altLang="zh-CN" dirty="0"/>
              <a:t>3</a:t>
            </a:r>
            <a:r>
              <a:rPr lang="zh-CN" altLang="en-US" dirty="0"/>
              <a:t>，则需要计算开</a:t>
            </a:r>
            <a:r>
              <a:rPr lang="en-US" altLang="zh-CN" dirty="0"/>
              <a:t>9</a:t>
            </a:r>
            <a:r>
              <a:rPr lang="zh-CN" altLang="en-US" dirty="0"/>
              <a:t>次方。几何池化计算时间长，可能会带来一点精度的提升，但实际使用时会很麻烦。</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nSpc>
                <a:spcPct val="150000"/>
              </a:lnSpc>
              <a:buFont typeface="Wingdings" panose="05000000000000000000" pitchFamily="2" charset="2"/>
              <a:buChar char="l"/>
            </a:pPr>
            <a:r>
              <a:rPr lang="en-US" altLang="zh-CN" sz="1200" dirty="0" err="1">
                <a:latin typeface="Microsoft YaHei UI Light" panose="020B0502040204020203" pitchFamily="34" charset="-122"/>
                <a:ea typeface="微软雅黑 Light" panose="020B0502040204020203" pitchFamily="34" charset="-122"/>
                <a:cs typeface="+mn-ea"/>
                <a:sym typeface="+mn-lt"/>
              </a:rPr>
              <a:t>AlexNet</a:t>
            </a:r>
            <a:r>
              <a:rPr lang="zh-CN" altLang="en-US" sz="1200" dirty="0">
                <a:latin typeface="Microsoft YaHei UI Light" panose="020B0502040204020203" pitchFamily="34" charset="-122"/>
                <a:ea typeface="微软雅黑 Light" panose="020B0502040204020203" pitchFamily="34" charset="-122"/>
                <a:cs typeface="+mn-ea"/>
                <a:sym typeface="+mn-lt"/>
              </a:rPr>
              <a:t>获得了</a:t>
            </a:r>
            <a:r>
              <a:rPr lang="en-US" altLang="zh-CN" sz="1200" dirty="0">
                <a:latin typeface="Microsoft YaHei UI Light" panose="020B0502040204020203" pitchFamily="34" charset="-122"/>
                <a:ea typeface="微软雅黑 Light" panose="020B0502040204020203" pitchFamily="34" charset="-122"/>
                <a:cs typeface="+mn-ea"/>
                <a:sym typeface="+mn-lt"/>
              </a:rPr>
              <a:t>ILSVRC</a:t>
            </a:r>
            <a:r>
              <a:rPr lang="zh-CN" altLang="en-US" sz="1200" dirty="0">
                <a:latin typeface="Microsoft YaHei UI Light" panose="020B0502040204020203" pitchFamily="34" charset="-122"/>
                <a:ea typeface="微软雅黑 Light" panose="020B0502040204020203" pitchFamily="34" charset="-122"/>
                <a:cs typeface="+mn-ea"/>
                <a:sym typeface="+mn-lt"/>
              </a:rPr>
              <a:t>比赛分类项目的</a:t>
            </a:r>
            <a:r>
              <a:rPr lang="en-US" altLang="zh-CN" sz="1200" dirty="0">
                <a:latin typeface="Microsoft YaHei UI Light" panose="020B0502040204020203" pitchFamily="34" charset="-122"/>
                <a:ea typeface="微软雅黑 Light" panose="020B0502040204020203" pitchFamily="34" charset="-122"/>
                <a:cs typeface="+mn-ea"/>
                <a:sym typeface="+mn-lt"/>
              </a:rPr>
              <a:t>2012</a:t>
            </a:r>
            <a:r>
              <a:rPr lang="zh-CN" altLang="en-US" sz="1200" dirty="0">
                <a:latin typeface="Microsoft YaHei UI Light" panose="020B0502040204020203" pitchFamily="34" charset="-122"/>
                <a:ea typeface="微软雅黑 Light" panose="020B0502040204020203" pitchFamily="34" charset="-122"/>
                <a:cs typeface="+mn-ea"/>
                <a:sym typeface="+mn-lt"/>
              </a:rPr>
              <a:t>年冠军，</a:t>
            </a:r>
            <a:r>
              <a:rPr lang="en-US" altLang="zh-CN" sz="1200" dirty="0">
                <a:latin typeface="Microsoft YaHei UI Light" panose="020B0502040204020203" pitchFamily="34" charset="-122"/>
                <a:ea typeface="微软雅黑 Light" panose="020B0502040204020203" pitchFamily="34" charset="-122"/>
                <a:cs typeface="+mn-ea"/>
                <a:sym typeface="+mn-lt"/>
              </a:rPr>
              <a:t>top5</a:t>
            </a:r>
            <a:r>
              <a:rPr lang="zh-CN" altLang="en-US" sz="1200" dirty="0">
                <a:latin typeface="Microsoft YaHei UI Light" panose="020B0502040204020203" pitchFamily="34" charset="-122"/>
                <a:ea typeface="微软雅黑 Light" panose="020B0502040204020203" pitchFamily="34" charset="-122"/>
                <a:cs typeface="+mn-ea"/>
                <a:sym typeface="+mn-lt"/>
              </a:rPr>
              <a:t>错误率是</a:t>
            </a:r>
            <a:r>
              <a:rPr lang="en-US" altLang="zh-CN" sz="1200" dirty="0">
                <a:latin typeface="Microsoft YaHei UI Light" panose="020B0502040204020203" pitchFamily="34" charset="-122"/>
                <a:ea typeface="微软雅黑 Light" panose="020B0502040204020203" pitchFamily="34" charset="-122"/>
                <a:cs typeface="+mn-ea"/>
                <a:sym typeface="+mn-lt"/>
              </a:rPr>
              <a:t>16.4%</a:t>
            </a:r>
            <a:r>
              <a:rPr lang="zh-CN" altLang="en-US" sz="1200" dirty="0">
                <a:latin typeface="Microsoft YaHei UI Light" panose="020B0502040204020203" pitchFamily="34" charset="-122"/>
                <a:ea typeface="微软雅黑 Light" panose="020B0502040204020203" pitchFamily="34" charset="-122"/>
                <a:cs typeface="+mn-ea"/>
                <a:sym typeface="+mn-lt"/>
              </a:rPr>
              <a:t>，使用额外数据可达</a:t>
            </a:r>
            <a:r>
              <a:rPr lang="en-US" altLang="zh-CN" sz="1200" dirty="0">
                <a:latin typeface="Microsoft YaHei UI Light" panose="020B0502040204020203" pitchFamily="34" charset="-122"/>
                <a:ea typeface="微软雅黑 Light" panose="020B0502040204020203" pitchFamily="34" charset="-122"/>
                <a:cs typeface="+mn-ea"/>
                <a:sym typeface="+mn-lt"/>
              </a:rPr>
              <a:t>15.3%</a:t>
            </a:r>
            <a:r>
              <a:rPr lang="zh-CN" altLang="en-US" sz="1200" dirty="0">
                <a:latin typeface="Microsoft YaHei UI Light" panose="020B0502040204020203" pitchFamily="34" charset="-122"/>
                <a:ea typeface="微软雅黑 Light" panose="020B0502040204020203" pitchFamily="34" charset="-122"/>
                <a:cs typeface="+mn-ea"/>
                <a:sym typeface="+mn-lt"/>
              </a:rPr>
              <a:t>，</a:t>
            </a:r>
            <a:r>
              <a:rPr lang="en-US" altLang="zh-CN" sz="1200" dirty="0">
                <a:latin typeface="Microsoft YaHei UI Light" panose="020B0502040204020203" pitchFamily="34" charset="-122"/>
                <a:ea typeface="微软雅黑 Light" panose="020B0502040204020203" pitchFamily="34" charset="-122"/>
                <a:cs typeface="+mn-ea"/>
                <a:sym typeface="+mn-lt"/>
              </a:rPr>
              <a:t>8</a:t>
            </a:r>
            <a:r>
              <a:rPr lang="zh-CN" altLang="en-US" sz="1200" dirty="0">
                <a:latin typeface="Microsoft YaHei UI Light" panose="020B0502040204020203" pitchFamily="34" charset="-122"/>
                <a:ea typeface="微软雅黑 Light" panose="020B0502040204020203" pitchFamily="34" charset="-122"/>
                <a:cs typeface="+mn-ea"/>
                <a:sym typeface="+mn-lt"/>
              </a:rPr>
              <a:t>层网络</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1200" dirty="0">
                <a:latin typeface="Microsoft YaHei UI Light" panose="020B0502040204020203" pitchFamily="34" charset="-122"/>
                <a:ea typeface="微软雅黑 Light" panose="020B0502040204020203" pitchFamily="34" charset="-122"/>
                <a:cs typeface="+mn-ea"/>
                <a:sym typeface="+mn-lt"/>
              </a:rPr>
              <a:t>VGG</a:t>
            </a:r>
            <a:r>
              <a:rPr lang="zh-CN" altLang="en-US" sz="1200" dirty="0">
                <a:latin typeface="Microsoft YaHei UI Light" panose="020B0502040204020203" pitchFamily="34" charset="-122"/>
                <a:ea typeface="微软雅黑 Light" panose="020B0502040204020203" pitchFamily="34" charset="-122"/>
                <a:cs typeface="+mn-ea"/>
                <a:sym typeface="+mn-lt"/>
              </a:rPr>
              <a:t>获得了</a:t>
            </a:r>
            <a:r>
              <a:rPr lang="en-US" altLang="zh-CN" sz="1200" dirty="0">
                <a:latin typeface="Microsoft YaHei UI Light" panose="020B0502040204020203" pitchFamily="34" charset="-122"/>
                <a:ea typeface="微软雅黑 Light" panose="020B0502040204020203" pitchFamily="34" charset="-122"/>
                <a:cs typeface="+mn-ea"/>
                <a:sym typeface="+mn-lt"/>
              </a:rPr>
              <a:t>2014</a:t>
            </a:r>
            <a:r>
              <a:rPr lang="zh-CN" altLang="en-US" sz="1200" dirty="0">
                <a:latin typeface="Microsoft YaHei UI Light" panose="020B0502040204020203" pitchFamily="34" charset="-122"/>
                <a:ea typeface="微软雅黑 Light" panose="020B0502040204020203" pitchFamily="34" charset="-122"/>
                <a:cs typeface="+mn-ea"/>
                <a:sym typeface="+mn-lt"/>
              </a:rPr>
              <a:t>年亚军，</a:t>
            </a:r>
            <a:r>
              <a:rPr lang="en-US" altLang="zh-CN" sz="1200" dirty="0">
                <a:latin typeface="Microsoft YaHei UI Light" panose="020B0502040204020203" pitchFamily="34" charset="-122"/>
                <a:ea typeface="微软雅黑 Light" panose="020B0502040204020203" pitchFamily="34" charset="-122"/>
                <a:cs typeface="+mn-ea"/>
                <a:sym typeface="+mn-lt"/>
              </a:rPr>
              <a:t>top5</a:t>
            </a:r>
            <a:r>
              <a:rPr lang="zh-CN" altLang="en-US" sz="1200" dirty="0">
                <a:latin typeface="Microsoft YaHei UI Light" panose="020B0502040204020203" pitchFamily="34" charset="-122"/>
                <a:ea typeface="微软雅黑 Light" panose="020B0502040204020203" pitchFamily="34" charset="-122"/>
                <a:cs typeface="+mn-ea"/>
                <a:sym typeface="+mn-lt"/>
              </a:rPr>
              <a:t>错误率</a:t>
            </a:r>
            <a:r>
              <a:rPr lang="en-US" altLang="zh-CN" sz="1200" dirty="0">
                <a:latin typeface="Microsoft YaHei UI Light" panose="020B0502040204020203" pitchFamily="34" charset="-122"/>
                <a:ea typeface="微软雅黑 Light" panose="020B0502040204020203" pitchFamily="34" charset="-122"/>
                <a:cs typeface="+mn-ea"/>
                <a:sym typeface="+mn-lt"/>
              </a:rPr>
              <a:t>7.3%</a:t>
            </a:r>
            <a:r>
              <a:rPr lang="zh-CN" altLang="en-US" sz="1200" dirty="0">
                <a:latin typeface="Microsoft YaHei UI Light" panose="020B0502040204020203" pitchFamily="34" charset="-122"/>
                <a:ea typeface="微软雅黑 Light" panose="020B0502040204020203" pitchFamily="34" charset="-122"/>
                <a:cs typeface="+mn-ea"/>
                <a:sym typeface="+mn-lt"/>
              </a:rPr>
              <a:t>，</a:t>
            </a:r>
            <a:r>
              <a:rPr lang="en-US" altLang="zh-CN" sz="1200" dirty="0">
                <a:latin typeface="Microsoft YaHei UI Light" panose="020B0502040204020203" pitchFamily="34" charset="-122"/>
                <a:ea typeface="微软雅黑 Light" panose="020B0502040204020203" pitchFamily="34" charset="-122"/>
                <a:cs typeface="+mn-ea"/>
                <a:sym typeface="+mn-lt"/>
              </a:rPr>
              <a:t>19</a:t>
            </a:r>
            <a:r>
              <a:rPr lang="zh-CN" altLang="en-US" sz="1200" dirty="0">
                <a:latin typeface="Microsoft YaHei UI Light" panose="020B0502040204020203" pitchFamily="34" charset="-122"/>
                <a:ea typeface="微软雅黑 Light" panose="020B0502040204020203" pitchFamily="34" charset="-122"/>
                <a:cs typeface="+mn-ea"/>
                <a:sym typeface="+mn-lt"/>
              </a:rPr>
              <a:t>层网络</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1200" dirty="0">
                <a:latin typeface="Microsoft YaHei UI Light" panose="020B0502040204020203" pitchFamily="34" charset="-122"/>
                <a:ea typeface="微软雅黑 Light" panose="020B0502040204020203" pitchFamily="34" charset="-122"/>
                <a:cs typeface="+mn-ea"/>
                <a:sym typeface="+mn-lt"/>
              </a:rPr>
              <a:t>Google Inception Net</a:t>
            </a:r>
            <a:r>
              <a:rPr lang="zh-CN" altLang="en-US" sz="1200" dirty="0">
                <a:latin typeface="Microsoft YaHei UI Light" panose="020B0502040204020203" pitchFamily="34" charset="-122"/>
                <a:ea typeface="微软雅黑 Light" panose="020B0502040204020203" pitchFamily="34" charset="-122"/>
                <a:cs typeface="+mn-ea"/>
                <a:sym typeface="+mn-lt"/>
              </a:rPr>
              <a:t>获得了</a:t>
            </a:r>
            <a:r>
              <a:rPr lang="en-US" altLang="zh-CN" sz="1200" dirty="0">
                <a:latin typeface="Microsoft YaHei UI Light" panose="020B0502040204020203" pitchFamily="34" charset="-122"/>
                <a:ea typeface="微软雅黑 Light" panose="020B0502040204020203" pitchFamily="34" charset="-122"/>
                <a:cs typeface="+mn-ea"/>
                <a:sym typeface="+mn-lt"/>
              </a:rPr>
              <a:t>2014</a:t>
            </a:r>
            <a:r>
              <a:rPr lang="zh-CN" altLang="en-US" sz="1200" dirty="0">
                <a:latin typeface="Microsoft YaHei UI Light" panose="020B0502040204020203" pitchFamily="34" charset="-122"/>
                <a:ea typeface="微软雅黑 Light" panose="020B0502040204020203" pitchFamily="34" charset="-122"/>
                <a:cs typeface="+mn-ea"/>
                <a:sym typeface="+mn-lt"/>
              </a:rPr>
              <a:t>年冠军，</a:t>
            </a:r>
            <a:r>
              <a:rPr lang="en-US" altLang="zh-CN" sz="1200" dirty="0">
                <a:latin typeface="Microsoft YaHei UI Light" panose="020B0502040204020203" pitchFamily="34" charset="-122"/>
                <a:ea typeface="微软雅黑 Light" panose="020B0502040204020203" pitchFamily="34" charset="-122"/>
                <a:cs typeface="+mn-ea"/>
                <a:sym typeface="+mn-lt"/>
              </a:rPr>
              <a:t>top5</a:t>
            </a:r>
            <a:r>
              <a:rPr lang="zh-CN" altLang="en-US" sz="1200" dirty="0">
                <a:latin typeface="Microsoft YaHei UI Light" panose="020B0502040204020203" pitchFamily="34" charset="-122"/>
                <a:ea typeface="微软雅黑 Light" panose="020B0502040204020203" pitchFamily="34" charset="-122"/>
                <a:cs typeface="+mn-ea"/>
                <a:sym typeface="+mn-lt"/>
              </a:rPr>
              <a:t>错误率</a:t>
            </a:r>
            <a:r>
              <a:rPr lang="en-US" altLang="zh-CN" sz="1200" dirty="0">
                <a:latin typeface="Microsoft YaHei UI Light" panose="020B0502040204020203" pitchFamily="34" charset="-122"/>
                <a:ea typeface="微软雅黑 Light" panose="020B0502040204020203" pitchFamily="34" charset="-122"/>
                <a:cs typeface="+mn-ea"/>
                <a:sym typeface="+mn-lt"/>
              </a:rPr>
              <a:t>6.7%</a:t>
            </a:r>
            <a:r>
              <a:rPr lang="zh-CN" altLang="en-US" sz="1200" dirty="0">
                <a:latin typeface="Microsoft YaHei UI Light" panose="020B0502040204020203" pitchFamily="34" charset="-122"/>
                <a:ea typeface="微软雅黑 Light" panose="020B0502040204020203" pitchFamily="34" charset="-122"/>
                <a:cs typeface="+mn-ea"/>
                <a:sym typeface="+mn-lt"/>
              </a:rPr>
              <a:t>，</a:t>
            </a:r>
            <a:r>
              <a:rPr lang="en-US" altLang="zh-CN" sz="1200" dirty="0">
                <a:latin typeface="Microsoft YaHei UI Light" panose="020B0502040204020203" pitchFamily="34" charset="-122"/>
                <a:ea typeface="微软雅黑 Light" panose="020B0502040204020203" pitchFamily="34" charset="-122"/>
                <a:cs typeface="+mn-ea"/>
                <a:sym typeface="+mn-lt"/>
              </a:rPr>
              <a:t>22</a:t>
            </a:r>
            <a:r>
              <a:rPr lang="zh-CN" altLang="en-US" sz="1200" dirty="0">
                <a:latin typeface="Microsoft YaHei UI Light" panose="020B0502040204020203" pitchFamily="34" charset="-122"/>
                <a:ea typeface="微软雅黑 Light" panose="020B0502040204020203" pitchFamily="34" charset="-122"/>
                <a:cs typeface="+mn-ea"/>
                <a:sym typeface="+mn-lt"/>
              </a:rPr>
              <a:t>层网络</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1200" dirty="0" err="1">
                <a:latin typeface="Microsoft YaHei UI Light" panose="020B0502040204020203" pitchFamily="34" charset="-122"/>
                <a:ea typeface="微软雅黑 Light" panose="020B0502040204020203" pitchFamily="34" charset="-122"/>
                <a:cs typeface="+mn-ea"/>
                <a:sym typeface="+mn-lt"/>
              </a:rPr>
              <a:t>ResNet</a:t>
            </a:r>
            <a:r>
              <a:rPr lang="zh-CN" altLang="en-US" sz="1200" dirty="0">
                <a:latin typeface="Microsoft YaHei UI Light" panose="020B0502040204020203" pitchFamily="34" charset="-122"/>
                <a:ea typeface="微软雅黑 Light" panose="020B0502040204020203" pitchFamily="34" charset="-122"/>
                <a:cs typeface="+mn-ea"/>
                <a:sym typeface="+mn-lt"/>
              </a:rPr>
              <a:t>获得了</a:t>
            </a:r>
            <a:r>
              <a:rPr lang="en-US" altLang="zh-CN" sz="1200" dirty="0">
                <a:latin typeface="Microsoft YaHei UI Light" panose="020B0502040204020203" pitchFamily="34" charset="-122"/>
                <a:ea typeface="微软雅黑 Light" panose="020B0502040204020203" pitchFamily="34" charset="-122"/>
                <a:cs typeface="+mn-ea"/>
                <a:sym typeface="+mn-lt"/>
              </a:rPr>
              <a:t>2015</a:t>
            </a:r>
            <a:r>
              <a:rPr lang="zh-CN" altLang="en-US" sz="1200" dirty="0">
                <a:latin typeface="Microsoft YaHei UI Light" panose="020B0502040204020203" pitchFamily="34" charset="-122"/>
                <a:ea typeface="微软雅黑 Light" panose="020B0502040204020203" pitchFamily="34" charset="-122"/>
                <a:cs typeface="+mn-ea"/>
                <a:sym typeface="+mn-lt"/>
              </a:rPr>
              <a:t>年冠军， </a:t>
            </a:r>
            <a:r>
              <a:rPr lang="en-US" altLang="zh-CN" sz="1200" dirty="0">
                <a:latin typeface="Microsoft YaHei UI Light" panose="020B0502040204020203" pitchFamily="34" charset="-122"/>
                <a:ea typeface="微软雅黑 Light" panose="020B0502040204020203" pitchFamily="34" charset="-122"/>
                <a:cs typeface="+mn-ea"/>
                <a:sym typeface="+mn-lt"/>
              </a:rPr>
              <a:t>top5</a:t>
            </a:r>
            <a:r>
              <a:rPr lang="zh-CN" altLang="en-US" sz="1200" dirty="0">
                <a:latin typeface="Microsoft YaHei UI Light" panose="020B0502040204020203" pitchFamily="34" charset="-122"/>
                <a:ea typeface="微软雅黑 Light" panose="020B0502040204020203" pitchFamily="34" charset="-122"/>
                <a:cs typeface="+mn-ea"/>
                <a:sym typeface="+mn-lt"/>
              </a:rPr>
              <a:t>错误率</a:t>
            </a:r>
            <a:r>
              <a:rPr lang="en-US" altLang="zh-CN" sz="1200" dirty="0">
                <a:latin typeface="Microsoft YaHei UI Light" panose="020B0502040204020203" pitchFamily="34" charset="-122"/>
                <a:ea typeface="微软雅黑 Light" panose="020B0502040204020203" pitchFamily="34" charset="-122"/>
                <a:cs typeface="+mn-ea"/>
                <a:sym typeface="+mn-lt"/>
              </a:rPr>
              <a:t>3.57%</a:t>
            </a:r>
            <a:r>
              <a:rPr lang="zh-CN" altLang="en-US" sz="1200" dirty="0">
                <a:latin typeface="Microsoft YaHei UI Light" panose="020B0502040204020203" pitchFamily="34" charset="-122"/>
                <a:ea typeface="微软雅黑 Light" panose="020B0502040204020203" pitchFamily="34" charset="-122"/>
                <a:cs typeface="+mn-ea"/>
                <a:sym typeface="+mn-lt"/>
              </a:rPr>
              <a:t>，</a:t>
            </a:r>
            <a:r>
              <a:rPr lang="en-US" altLang="zh-CN" sz="1200" dirty="0">
                <a:latin typeface="Microsoft YaHei UI Light" panose="020B0502040204020203" pitchFamily="34" charset="-122"/>
                <a:ea typeface="微软雅黑 Light" panose="020B0502040204020203" pitchFamily="34" charset="-122"/>
                <a:cs typeface="+mn-ea"/>
                <a:sym typeface="+mn-lt"/>
              </a:rPr>
              <a:t>152</a:t>
            </a:r>
            <a:r>
              <a:rPr lang="zh-CN" altLang="en-US" sz="1200" dirty="0">
                <a:latin typeface="Microsoft YaHei UI Light" panose="020B0502040204020203" pitchFamily="34" charset="-122"/>
                <a:ea typeface="微软雅黑 Light" panose="020B0502040204020203" pitchFamily="34" charset="-122"/>
                <a:cs typeface="+mn-ea"/>
                <a:sym typeface="+mn-lt"/>
              </a:rPr>
              <a:t>层网络</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1200" dirty="0">
                <a:latin typeface="Microsoft YaHei UI Light" panose="020B0502040204020203" pitchFamily="34" charset="-122"/>
                <a:ea typeface="微软雅黑 Light" panose="020B0502040204020203" pitchFamily="34" charset="-122"/>
                <a:cs typeface="+mn-ea"/>
                <a:sym typeface="+mn-lt"/>
              </a:rPr>
              <a:t>在各自年代使用了很多先进的卷积神经网络结构，代表了</a:t>
            </a:r>
            <a:r>
              <a:rPr lang="en-US" altLang="zh-CN" sz="1200" dirty="0">
                <a:latin typeface="Microsoft YaHei UI Light" panose="020B0502040204020203" pitchFamily="34" charset="-122"/>
                <a:ea typeface="微软雅黑 Light" panose="020B0502040204020203" pitchFamily="34" charset="-122"/>
                <a:cs typeface="+mn-ea"/>
                <a:sym typeface="+mn-lt"/>
              </a:rPr>
              <a:t>2012-2015</a:t>
            </a:r>
            <a:r>
              <a:rPr lang="zh-CN" altLang="en-US" sz="1200" dirty="0">
                <a:latin typeface="Microsoft YaHei UI Light" panose="020B0502040204020203" pitchFamily="34" charset="-122"/>
                <a:ea typeface="微软雅黑 Light" panose="020B0502040204020203" pitchFamily="34" charset="-122"/>
                <a:cs typeface="+mn-ea"/>
                <a:sym typeface="+mn-lt"/>
              </a:rPr>
              <a:t>的快速发展</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1200" dirty="0">
                <a:latin typeface="Microsoft YaHei UI Light" panose="020B0502040204020203" pitchFamily="34" charset="-122"/>
                <a:ea typeface="微软雅黑 Light" panose="020B0502040204020203" pitchFamily="34" charset="-122"/>
                <a:cs typeface="+mn-ea"/>
                <a:sym typeface="+mn-lt"/>
              </a:rPr>
              <a:t>数据来自于</a:t>
            </a:r>
            <a:r>
              <a:rPr lang="en-US" altLang="zh-CN" sz="1200" dirty="0">
                <a:latin typeface="Microsoft YaHei UI Light" panose="020B0502040204020203" pitchFamily="34" charset="-122"/>
                <a:ea typeface="微软雅黑 Light" panose="020B0502040204020203" pitchFamily="34" charset="-122"/>
                <a:cs typeface="+mn-ea"/>
                <a:sym typeface="+mn-lt"/>
              </a:rPr>
              <a:t>ImageNet</a:t>
            </a:r>
            <a:r>
              <a:rPr lang="zh-CN" altLang="en-US" sz="1200" dirty="0">
                <a:latin typeface="Microsoft YaHei UI Light" panose="020B0502040204020203" pitchFamily="34" charset="-122"/>
                <a:ea typeface="微软雅黑 Light" panose="020B0502040204020203" pitchFamily="34" charset="-122"/>
                <a:cs typeface="+mn-ea"/>
                <a:sym typeface="+mn-lt"/>
              </a:rPr>
              <a:t>，</a:t>
            </a:r>
            <a:r>
              <a:rPr lang="en-US" altLang="zh-CN" sz="1200" dirty="0">
                <a:latin typeface="Microsoft YaHei UI Light" panose="020B0502040204020203" pitchFamily="34" charset="-122"/>
                <a:ea typeface="微软雅黑 Light" panose="020B0502040204020203" pitchFamily="34" charset="-122"/>
                <a:cs typeface="+mn-ea"/>
                <a:sym typeface="+mn-lt"/>
              </a:rPr>
              <a:t>2017</a:t>
            </a:r>
            <a:r>
              <a:rPr lang="zh-CN" altLang="en-US" sz="1200" dirty="0">
                <a:latin typeface="Microsoft YaHei UI Light" panose="020B0502040204020203" pitchFamily="34" charset="-122"/>
                <a:ea typeface="微软雅黑 Light" panose="020B0502040204020203" pitchFamily="34" charset="-122"/>
                <a:cs typeface="+mn-ea"/>
                <a:sym typeface="+mn-lt"/>
              </a:rPr>
              <a:t>年斯坦福大学李飞飞教授创办，目标是收集大量带有标注信息的图片数据供计算机视觉模型训练</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整个</a:t>
            </a:r>
            <a:r>
              <a:rPr lang="en-US" altLang="zh-CN" dirty="0" err="1"/>
              <a:t>alexnet</a:t>
            </a:r>
            <a:r>
              <a:rPr lang="zh-CN" altLang="en-US" dirty="0"/>
              <a:t>有</a:t>
            </a:r>
            <a:r>
              <a:rPr lang="en-US" altLang="zh-CN" dirty="0"/>
              <a:t>8</a:t>
            </a:r>
            <a:r>
              <a:rPr lang="zh-CN" altLang="en-US" dirty="0"/>
              <a:t>个需要训练参数的层（不包括池化层和</a:t>
            </a:r>
            <a:r>
              <a:rPr lang="en-US" altLang="zh-CN" dirty="0"/>
              <a:t>LRN</a:t>
            </a:r>
            <a:r>
              <a:rPr lang="zh-CN" altLang="en-US" dirty="0"/>
              <a:t>层），前</a:t>
            </a:r>
            <a:r>
              <a:rPr lang="en-US" altLang="zh-CN" dirty="0"/>
              <a:t>5</a:t>
            </a:r>
            <a:r>
              <a:rPr lang="zh-CN" altLang="en-US" dirty="0"/>
              <a:t>层为卷积层，后</a:t>
            </a:r>
            <a:r>
              <a:rPr lang="en-US" altLang="zh-CN" dirty="0"/>
              <a:t>3</a:t>
            </a:r>
            <a:r>
              <a:rPr lang="zh-CN" altLang="en-US" dirty="0"/>
              <a:t>层为全连接层，最后一层有</a:t>
            </a:r>
            <a:r>
              <a:rPr lang="en-US" altLang="zh-CN" dirty="0"/>
              <a:t>1000</a:t>
            </a:r>
            <a:r>
              <a:rPr lang="zh-CN" altLang="en-US" dirty="0"/>
              <a:t>类输出的</a:t>
            </a:r>
            <a:r>
              <a:rPr lang="en-US" altLang="zh-CN" dirty="0" err="1"/>
              <a:t>softmax</a:t>
            </a:r>
            <a:r>
              <a:rPr lang="zh-CN" altLang="en-US" dirty="0"/>
              <a:t>层用作分类。</a:t>
            </a:r>
            <a:endParaRPr lang="en-US" altLang="zh-CN" dirty="0"/>
          </a:p>
          <a:p>
            <a:r>
              <a:rPr lang="en-US" altLang="zh-CN" dirty="0"/>
              <a:t>LRN</a:t>
            </a:r>
            <a:r>
              <a:rPr lang="zh-CN" altLang="en-US" dirty="0"/>
              <a:t>层出现在第</a:t>
            </a:r>
            <a:r>
              <a:rPr lang="en-US" altLang="zh-CN" dirty="0"/>
              <a:t>1</a:t>
            </a:r>
            <a:r>
              <a:rPr lang="zh-CN" altLang="en-US" dirty="0"/>
              <a:t>个和第</a:t>
            </a:r>
            <a:r>
              <a:rPr lang="en-US" altLang="zh-CN" dirty="0"/>
              <a:t>2</a:t>
            </a:r>
            <a:r>
              <a:rPr lang="zh-CN" altLang="en-US" dirty="0"/>
              <a:t>个卷积层之后，最大池化层出现在两个</a:t>
            </a:r>
            <a:r>
              <a:rPr lang="en-US" altLang="zh-CN" dirty="0"/>
              <a:t>LRN</a:t>
            </a:r>
            <a:r>
              <a:rPr lang="zh-CN" altLang="en-US" dirty="0"/>
              <a:t>层及最后一个卷积层之后。</a:t>
            </a:r>
            <a:r>
              <a:rPr lang="en-US" altLang="zh-CN" dirty="0" err="1"/>
              <a:t>ReLU</a:t>
            </a:r>
            <a:r>
              <a:rPr lang="zh-CN" altLang="en-US" dirty="0"/>
              <a:t>激活函数则应用在这</a:t>
            </a:r>
            <a:r>
              <a:rPr lang="en-US" altLang="zh-CN" dirty="0"/>
              <a:t>8</a:t>
            </a:r>
            <a:r>
              <a:rPr lang="zh-CN" altLang="en-US" dirty="0"/>
              <a:t>层每一层的后面。</a:t>
            </a:r>
            <a:endParaRPr lang="en-US" altLang="zh-CN" dirty="0"/>
          </a:p>
          <a:p>
            <a:r>
              <a:rPr lang="zh-CN" altLang="en-US" dirty="0"/>
              <a:t>因为</a:t>
            </a:r>
            <a:r>
              <a:rPr lang="en-US" altLang="zh-CN" dirty="0" err="1"/>
              <a:t>AlexNet</a:t>
            </a:r>
            <a:r>
              <a:rPr lang="zh-CN" altLang="en-US" dirty="0"/>
              <a:t>训练使用了</a:t>
            </a:r>
            <a:r>
              <a:rPr lang="en-US" altLang="zh-CN" dirty="0"/>
              <a:t>2</a:t>
            </a:r>
            <a:r>
              <a:rPr lang="zh-CN" altLang="en-US" dirty="0"/>
              <a:t>块</a:t>
            </a:r>
            <a:r>
              <a:rPr lang="en-US" altLang="zh-CN" dirty="0"/>
              <a:t>GPU</a:t>
            </a:r>
            <a:r>
              <a:rPr lang="zh-CN" altLang="en-US" dirty="0"/>
              <a:t>，因此不少组件被分成了两部分。</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LRN</a:t>
            </a:r>
            <a:r>
              <a:rPr lang="zh-CN" altLang="en-US" dirty="0"/>
              <a:t>对同一层的多个输入特征图在每个位置上做局部归一化，以提升高响应特征和抑制低响应特征。输入是卷积层的输出特征图经过</a:t>
            </a:r>
            <a:r>
              <a:rPr lang="en-US" altLang="zh-CN" dirty="0" err="1"/>
              <a:t>ReLU</a:t>
            </a:r>
            <a:r>
              <a:rPr lang="zh-CN" altLang="en-US" dirty="0"/>
              <a:t>激活函数后的输入。</a:t>
            </a:r>
            <a:endParaRPr lang="en-US" altLang="zh-CN" dirty="0"/>
          </a:p>
          <a:p>
            <a:endParaRPr lang="en-US" altLang="zh-CN" dirty="0"/>
          </a:p>
          <a:p>
            <a:r>
              <a:rPr lang="en-US" altLang="zh-CN" dirty="0"/>
              <a:t>LRN</a:t>
            </a:r>
            <a:r>
              <a:rPr lang="zh-CN" altLang="en-US" dirty="0"/>
              <a:t>的输入是</a:t>
            </a:r>
            <a:r>
              <a:rPr lang="en-US" altLang="zh-CN" dirty="0"/>
              <a:t>N</a:t>
            </a:r>
            <a:r>
              <a:rPr lang="zh-CN" altLang="en-US" dirty="0"/>
              <a:t>个不同的特征图，包含三角形特征、长方形特征、正方形特征、菱形特征等。当在一个图像的同一个位置上，同时有多个特征时，就要对该位置上的点进行归一化，以将该位置上最显著的特征找出来。</a:t>
            </a:r>
            <a:endParaRPr lang="en-US" altLang="zh-CN" dirty="0"/>
          </a:p>
          <a:p>
            <a:endParaRPr lang="en-US" altLang="zh-CN" dirty="0"/>
          </a:p>
          <a:p>
            <a:r>
              <a:rPr lang="zh-CN" altLang="en-US" dirty="0"/>
              <a:t>但实际上，一个位置上的点确实包含多个特征，强行抑制并不合理，所以现在很少使用了。</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Dropout</a:t>
            </a:r>
            <a:r>
              <a:rPr lang="zh-CN" altLang="en-US" dirty="0"/>
              <a:t>训练不是真的丢掉部分隐层神经元，只是暂时不更新与其连接的权重。对于这一批样本，可能不用某些隐层神经元，但对于下一批样本，可能又会用到这些神经元，并且需要更新与其连接的权重。训练完成后，使用神经网络进行预测时，所有神经元都是要用到的。</a:t>
            </a:r>
            <a:r>
              <a:rPr lang="en-US" altLang="zh-CN" dirty="0" err="1"/>
              <a:t>AlexNet</a:t>
            </a:r>
            <a:r>
              <a:rPr lang="zh-CN" altLang="en-US" dirty="0"/>
              <a:t>网络的前两个全连接层使用了</a:t>
            </a:r>
            <a:r>
              <a:rPr lang="en-US" altLang="zh-CN" dirty="0"/>
              <a:t>Dropout.</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8</a:t>
            </a:r>
            <a:r>
              <a:rPr lang="zh-CN" altLang="en-US" dirty="0"/>
              <a:t>层的</a:t>
            </a:r>
            <a:r>
              <a:rPr lang="en-US" altLang="zh-CN" dirty="0" err="1"/>
              <a:t>Alexnet</a:t>
            </a:r>
            <a:r>
              <a:rPr lang="zh-CN" altLang="en-US" dirty="0"/>
              <a:t>显著提高了图像分类精度，那么更多层的神经网络是否能进一步提升分类精度呢？</a:t>
            </a:r>
            <a:r>
              <a:rPr lang="en-US" altLang="zh-CN" dirty="0"/>
              <a:t>2014</a:t>
            </a:r>
            <a:r>
              <a:rPr lang="zh-CN" altLang="en-US" dirty="0"/>
              <a:t>年，提出了比</a:t>
            </a:r>
            <a:r>
              <a:rPr lang="en-US" altLang="zh-CN" dirty="0" err="1"/>
              <a:t>AlexNet</a:t>
            </a:r>
            <a:r>
              <a:rPr lang="zh-CN" altLang="en-US" dirty="0"/>
              <a:t>更深的神经网络</a:t>
            </a:r>
            <a:r>
              <a:rPr lang="en-US" altLang="zh-CN" dirty="0"/>
              <a:t>VGG</a:t>
            </a:r>
            <a:r>
              <a:rPr lang="zh-CN" altLang="en-US" dirty="0"/>
              <a:t>（</a:t>
            </a:r>
            <a:r>
              <a:rPr lang="en-US" altLang="zh-CN" dirty="0"/>
              <a:t>very deep convolutional networks</a:t>
            </a:r>
            <a:r>
              <a:rPr lang="zh-CN" altLang="en-US" dirty="0"/>
              <a:t>），进一步提升了网络精度，其中</a:t>
            </a:r>
            <a:r>
              <a:rPr lang="en-US" altLang="zh-CN" dirty="0"/>
              <a:t>VGG16</a:t>
            </a:r>
            <a:r>
              <a:rPr lang="zh-CN" altLang="en-US" dirty="0"/>
              <a:t>是最经典的版本之一。</a:t>
            </a:r>
            <a:endParaRPr lang="en-US" altLang="zh-CN" dirty="0"/>
          </a:p>
          <a:p>
            <a:endParaRPr lang="en-US" altLang="zh-CN" dirty="0"/>
          </a:p>
          <a:p>
            <a:r>
              <a:rPr lang="zh-CN" altLang="en-US" dirty="0"/>
              <a:t>神经网络随着层数增多之后会遇到很多问题，包括梯度爆炸、梯度消失等。距离输出层很近的一两层，可能很快就训练好了，但是距离较远的层，损失函数的导数可能会非常小，神经网络可能就无法继续训练了。</a:t>
            </a:r>
            <a:endParaRPr lang="en-US" altLang="zh-CN" dirty="0"/>
          </a:p>
          <a:p>
            <a:r>
              <a:rPr lang="en-US" altLang="zh-CN" dirty="0"/>
              <a:t>VGG</a:t>
            </a:r>
            <a:r>
              <a:rPr lang="zh-CN" altLang="en-US" dirty="0"/>
              <a:t>的作者就预先设计了一系列不同配置的网络结构，在此基础上提出了预训练策略，利用较浅神经网络训练出来的权重参数来初始化更深神经网络的部分层，从而逐步加深神经网络层数的效果。</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VGG</a:t>
            </a:r>
            <a:r>
              <a:rPr lang="zh-CN" altLang="en-US" dirty="0"/>
              <a:t>首先训练一个</a:t>
            </a:r>
            <a:r>
              <a:rPr lang="en-US" altLang="zh-CN" dirty="0"/>
              <a:t>11</a:t>
            </a:r>
            <a:r>
              <a:rPr lang="zh-CN" altLang="en-US" dirty="0"/>
              <a:t>层的神经网络</a:t>
            </a:r>
            <a:r>
              <a:rPr lang="en-US" altLang="zh-CN" dirty="0"/>
              <a:t>A</a:t>
            </a:r>
            <a:r>
              <a:rPr lang="zh-CN" altLang="en-US" dirty="0"/>
              <a:t>；训练更深的神经网络时，比如</a:t>
            </a:r>
            <a:r>
              <a:rPr lang="en-US" altLang="zh-CN" dirty="0"/>
              <a:t>13</a:t>
            </a:r>
            <a:r>
              <a:rPr lang="zh-CN" altLang="en-US" dirty="0"/>
              <a:t>层的网络</a:t>
            </a:r>
            <a:r>
              <a:rPr lang="en-US" altLang="zh-CN" dirty="0"/>
              <a:t>B</a:t>
            </a:r>
            <a:r>
              <a:rPr lang="zh-CN" altLang="en-US" dirty="0"/>
              <a:t>，先将网络的前</a:t>
            </a:r>
            <a:r>
              <a:rPr lang="en-US" altLang="zh-CN" dirty="0"/>
              <a:t>4</a:t>
            </a:r>
            <a:r>
              <a:rPr lang="zh-CN" altLang="en-US" dirty="0"/>
              <a:t>个卷积层和后</a:t>
            </a:r>
            <a:r>
              <a:rPr lang="en-US" altLang="zh-CN" dirty="0"/>
              <a:t>3</a:t>
            </a:r>
            <a:r>
              <a:rPr lang="zh-CN" altLang="en-US" dirty="0"/>
              <a:t>个全连接层的参数用训练好的网络</a:t>
            </a:r>
            <a:r>
              <a:rPr lang="en-US" altLang="zh-CN" dirty="0"/>
              <a:t>A</a:t>
            </a:r>
            <a:r>
              <a:rPr lang="zh-CN" altLang="en-US" dirty="0"/>
              <a:t>的前</a:t>
            </a:r>
            <a:r>
              <a:rPr lang="en-US" altLang="zh-CN" dirty="0"/>
              <a:t>4</a:t>
            </a:r>
            <a:r>
              <a:rPr lang="zh-CN" altLang="en-US" dirty="0"/>
              <a:t>个卷积层和后</a:t>
            </a:r>
            <a:r>
              <a:rPr lang="en-US" altLang="zh-CN" dirty="0"/>
              <a:t>3</a:t>
            </a:r>
            <a:r>
              <a:rPr lang="zh-CN" altLang="en-US" dirty="0"/>
              <a:t>个全连接层的权重参数进行初始化，网络</a:t>
            </a:r>
            <a:r>
              <a:rPr lang="en-US" altLang="zh-CN" dirty="0"/>
              <a:t>B</a:t>
            </a:r>
            <a:r>
              <a:rPr lang="zh-CN" altLang="en-US" dirty="0"/>
              <a:t>其他中间层的参数采用随机初始化；然后再对网络</a:t>
            </a:r>
            <a:r>
              <a:rPr lang="en-US" altLang="zh-CN" dirty="0"/>
              <a:t>B</a:t>
            </a:r>
            <a:r>
              <a:rPr lang="zh-CN" altLang="en-US" dirty="0"/>
              <a:t>进行训练。</a:t>
            </a:r>
            <a:endParaRPr lang="en-US" altLang="zh-CN" dirty="0"/>
          </a:p>
          <a:p>
            <a:r>
              <a:rPr lang="zh-CN" altLang="en-US" dirty="0"/>
              <a:t>不同配置的</a:t>
            </a:r>
            <a:r>
              <a:rPr lang="en-US" altLang="zh-CN" dirty="0"/>
              <a:t>VGG</a:t>
            </a:r>
            <a:r>
              <a:rPr lang="zh-CN" altLang="en-US" dirty="0"/>
              <a:t>网络中，所有隐层使用了非线性激活函数</a:t>
            </a:r>
            <a:r>
              <a:rPr lang="en-US" altLang="zh-CN" dirty="0" err="1"/>
              <a:t>ReLU</a:t>
            </a:r>
            <a:endParaRPr lang="en-US" altLang="zh-CN"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VGG</a:t>
            </a:r>
            <a:r>
              <a:rPr lang="zh-CN" altLang="en-US" dirty="0"/>
              <a:t>通过逐渐增加层数，训练出了多个版本的神经网络。首先增了</a:t>
            </a:r>
            <a:r>
              <a:rPr lang="en-US" altLang="zh-CN" dirty="0"/>
              <a:t>LRN</a:t>
            </a:r>
            <a:r>
              <a:rPr lang="zh-CN" altLang="en-US" dirty="0"/>
              <a:t>层，发现对模型效果没啥影响。然后发现，随着层数增加，</a:t>
            </a:r>
            <a:r>
              <a:rPr lang="en-US" altLang="zh-CN" dirty="0"/>
              <a:t>Top5</a:t>
            </a:r>
            <a:r>
              <a:rPr lang="zh-CN" altLang="en-US" dirty="0"/>
              <a:t>错误率基本上是在下降，但是到了</a:t>
            </a:r>
            <a:r>
              <a:rPr lang="en-US" altLang="zh-CN" dirty="0"/>
              <a:t>16</a:t>
            </a:r>
            <a:r>
              <a:rPr lang="zh-CN" altLang="en-US" dirty="0"/>
              <a:t>层和</a:t>
            </a:r>
            <a:r>
              <a:rPr lang="en-US" altLang="zh-CN" dirty="0"/>
              <a:t>19</a:t>
            </a:r>
            <a:r>
              <a:rPr lang="zh-CN" altLang="en-US" dirty="0"/>
              <a:t>层后，基本在</a:t>
            </a:r>
            <a:r>
              <a:rPr lang="en-US" altLang="zh-CN" dirty="0"/>
              <a:t>8%</a:t>
            </a:r>
            <a:r>
              <a:rPr lang="zh-CN" altLang="en-US" dirty="0"/>
              <a:t>左右，不再有大的变化。</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VGG</a:t>
            </a:r>
            <a:r>
              <a:rPr lang="zh-CN" altLang="en-US" dirty="0"/>
              <a:t>中图像尺寸基本上是通过卷积和池化来调整的。由于</a:t>
            </a:r>
            <a:r>
              <a:rPr lang="en-US" altLang="zh-CN" dirty="0"/>
              <a:t>VGG</a:t>
            </a:r>
            <a:r>
              <a:rPr lang="zh-CN" altLang="en-US" dirty="0"/>
              <a:t>的层数很多，为了避免边缘特征被弱化掉，</a:t>
            </a:r>
            <a:r>
              <a:rPr lang="en-US" altLang="zh-CN" dirty="0"/>
              <a:t>VGG</a:t>
            </a:r>
            <a:r>
              <a:rPr lang="zh-CN" altLang="en-US" dirty="0"/>
              <a:t>在卷积层做边界扩充使输出图像和输入图像的尺寸相同。</a:t>
            </a:r>
            <a:endParaRPr lang="en-US" altLang="zh-CN" dirty="0"/>
          </a:p>
          <a:p>
            <a:r>
              <a:rPr lang="zh-CN" altLang="en-US" dirty="0"/>
              <a:t>在</a:t>
            </a:r>
            <a:r>
              <a:rPr lang="en-US" altLang="zh-CN" dirty="0"/>
              <a:t>VGG</a:t>
            </a:r>
            <a:r>
              <a:rPr lang="zh-CN" altLang="en-US" dirty="0"/>
              <a:t>中使用的</a:t>
            </a:r>
            <a:r>
              <a:rPr lang="en-US" altLang="zh-CN" dirty="0"/>
              <a:t>3</a:t>
            </a:r>
            <a:r>
              <a:rPr lang="zh-CN" altLang="en-US" dirty="0"/>
              <a:t>*</a:t>
            </a:r>
            <a:r>
              <a:rPr lang="en-US" altLang="zh-CN" dirty="0"/>
              <a:t>3</a:t>
            </a:r>
            <a:r>
              <a:rPr lang="zh-CN" altLang="en-US" dirty="0"/>
              <a:t>的卷积核，除了</a:t>
            </a:r>
            <a:r>
              <a:rPr lang="en-US" altLang="zh-CN" dirty="0"/>
              <a:t>C</a:t>
            </a:r>
            <a:r>
              <a:rPr lang="zh-CN" altLang="en-US" dirty="0"/>
              <a:t>网络中使用了</a:t>
            </a:r>
            <a:r>
              <a:rPr lang="en-US" altLang="zh-CN" dirty="0"/>
              <a:t>1</a:t>
            </a:r>
            <a:r>
              <a:rPr lang="zh-CN" altLang="en-US" dirty="0"/>
              <a:t>*</a:t>
            </a:r>
            <a:r>
              <a:rPr lang="en-US" altLang="zh-CN" dirty="0"/>
              <a:t>1</a:t>
            </a:r>
            <a:r>
              <a:rPr lang="zh-CN" altLang="en-US" dirty="0"/>
              <a:t>的卷积核，卷积步长都为</a:t>
            </a:r>
            <a:r>
              <a:rPr lang="en-US" altLang="zh-CN" dirty="0"/>
              <a:t>1</a:t>
            </a:r>
            <a:r>
              <a:rPr lang="zh-CN" altLang="en-US" dirty="0"/>
              <a:t>，而</a:t>
            </a:r>
            <a:r>
              <a:rPr lang="en-US" altLang="zh-CN" dirty="0" err="1"/>
              <a:t>AlexNet</a:t>
            </a:r>
            <a:r>
              <a:rPr lang="zh-CN" altLang="en-US" dirty="0"/>
              <a:t>中使用了</a:t>
            </a:r>
            <a:r>
              <a:rPr lang="en-US" altLang="zh-CN" dirty="0"/>
              <a:t>11</a:t>
            </a:r>
            <a:r>
              <a:rPr lang="zh-CN" altLang="en-US" dirty="0"/>
              <a:t>*</a:t>
            </a:r>
            <a:r>
              <a:rPr lang="en-US" altLang="zh-CN" dirty="0"/>
              <a:t>11,5</a:t>
            </a:r>
            <a:r>
              <a:rPr lang="zh-CN" altLang="en-US" dirty="0"/>
              <a:t>*</a:t>
            </a:r>
            <a:r>
              <a:rPr lang="en-US" altLang="zh-CN" dirty="0"/>
              <a:t>5,3</a:t>
            </a:r>
            <a:r>
              <a:rPr lang="zh-CN" altLang="en-US" dirty="0"/>
              <a:t>*</a:t>
            </a:r>
            <a:r>
              <a:rPr lang="en-US" altLang="zh-CN" dirty="0"/>
              <a:t>3</a:t>
            </a:r>
            <a:r>
              <a:rPr lang="zh-CN" altLang="en-US" dirty="0"/>
              <a:t>等</a:t>
            </a:r>
            <a:r>
              <a:rPr lang="en-US" altLang="zh-CN" dirty="0"/>
              <a:t>3</a:t>
            </a:r>
            <a:r>
              <a:rPr lang="zh-CN" altLang="en-US" dirty="0"/>
              <a:t>种卷积核，越靠前卷积核越大。</a:t>
            </a:r>
            <a:endParaRPr lang="en-US" altLang="zh-CN" dirty="0"/>
          </a:p>
          <a:p>
            <a:r>
              <a:rPr lang="zh-CN" altLang="en-US" dirty="0"/>
              <a:t>直观上，越大的卷积核的视野范围（感受野）更大，效果应该更好。</a:t>
            </a:r>
            <a:endParaRPr lang="en-US" altLang="zh-CN"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但是，</a:t>
            </a:r>
            <a:r>
              <a:rPr lang="en-US" altLang="zh-CN" dirty="0"/>
              <a:t>VGG</a:t>
            </a:r>
            <a:r>
              <a:rPr lang="zh-CN" altLang="en-US" dirty="0"/>
              <a:t>使用了连续的多层卷积，每个卷积核都是</a:t>
            </a:r>
            <a:r>
              <a:rPr lang="en-US" altLang="zh-CN" dirty="0"/>
              <a:t>3</a:t>
            </a:r>
            <a:r>
              <a:rPr lang="zh-CN" altLang="en-US" dirty="0"/>
              <a:t>*</a:t>
            </a:r>
            <a:r>
              <a:rPr lang="en-US" altLang="zh-CN" dirty="0"/>
              <a:t>3</a:t>
            </a:r>
            <a:r>
              <a:rPr lang="zh-CN" altLang="en-US" dirty="0"/>
              <a:t>的。在每一层卷积中加入了非线性激活函数</a:t>
            </a:r>
            <a:r>
              <a:rPr lang="en-US" altLang="zh-CN" dirty="0" err="1"/>
              <a:t>ReLU</a:t>
            </a:r>
            <a:r>
              <a:rPr lang="zh-CN" altLang="en-US" dirty="0"/>
              <a:t>，多层卷积可以增强决策函数的区分能力，从而提高分类准确率。</a:t>
            </a:r>
            <a:endParaRPr lang="en-US" altLang="zh-CN" dirty="0"/>
          </a:p>
          <a:p>
            <a:r>
              <a:rPr lang="en-US" altLang="zh-CN" dirty="0" err="1"/>
              <a:t>AlexNet</a:t>
            </a:r>
            <a:r>
              <a:rPr lang="zh-CN" altLang="en-US" dirty="0"/>
              <a:t>常用的</a:t>
            </a:r>
            <a:r>
              <a:rPr lang="en-US" altLang="zh-CN" dirty="0"/>
              <a:t>5</a:t>
            </a:r>
            <a:r>
              <a:rPr lang="zh-CN" altLang="en-US" dirty="0"/>
              <a:t>*</a:t>
            </a:r>
            <a:r>
              <a:rPr lang="en-US" altLang="zh-CN" dirty="0"/>
              <a:t>5</a:t>
            </a:r>
            <a:r>
              <a:rPr lang="zh-CN" altLang="en-US" dirty="0"/>
              <a:t>的卷积可以看成是</a:t>
            </a:r>
            <a:r>
              <a:rPr lang="en-US" altLang="zh-CN" dirty="0"/>
              <a:t>2</a:t>
            </a:r>
            <a:r>
              <a:rPr lang="zh-CN" altLang="en-US" dirty="0"/>
              <a:t>层连续的</a:t>
            </a:r>
            <a:r>
              <a:rPr lang="en-US" altLang="zh-CN" dirty="0"/>
              <a:t>3</a:t>
            </a:r>
            <a:r>
              <a:rPr lang="zh-CN" altLang="en-US" dirty="0"/>
              <a:t>*</a:t>
            </a:r>
            <a:r>
              <a:rPr lang="en-US" altLang="zh-CN" dirty="0"/>
              <a:t>3</a:t>
            </a:r>
            <a:r>
              <a:rPr lang="zh-CN" altLang="en-US" dirty="0"/>
              <a:t>卷积，二者在输入图像上的感受野是一样的，</a:t>
            </a:r>
            <a:r>
              <a:rPr lang="zh-CN" altLang="en-US" dirty="0">
                <a:latin typeface="Microsoft YaHei UI Light" panose="020B0502040204020203" pitchFamily="34" charset="-122"/>
                <a:ea typeface="微软雅黑 Light" panose="020B0502040204020203" pitchFamily="34" charset="-122"/>
                <a:cs typeface="+mn-ea"/>
                <a:sym typeface="+mn-lt"/>
              </a:rPr>
              <a:t>但</a:t>
            </a:r>
            <a:r>
              <a:rPr lang="en-US" altLang="zh-CN" dirty="0">
                <a:latin typeface="Microsoft YaHei UI Light" panose="020B0502040204020203" pitchFamily="34" charset="-122"/>
                <a:ea typeface="微软雅黑 Light" panose="020B0502040204020203" pitchFamily="34" charset="-122"/>
                <a:cs typeface="+mn-ea"/>
                <a:sym typeface="+mn-lt"/>
              </a:rPr>
              <a:t>5x5conv</a:t>
            </a:r>
            <a:r>
              <a:rPr lang="zh-CN" altLang="en-US" dirty="0">
                <a:latin typeface="Microsoft YaHei UI Light" panose="020B0502040204020203" pitchFamily="34" charset="-122"/>
                <a:ea typeface="微软雅黑 Light" panose="020B0502040204020203" pitchFamily="34" charset="-122"/>
                <a:cs typeface="+mn-ea"/>
                <a:sym typeface="+mn-lt"/>
              </a:rPr>
              <a:t>网络比两个</a:t>
            </a:r>
            <a:r>
              <a:rPr lang="en-US" altLang="zh-CN" dirty="0">
                <a:latin typeface="Microsoft YaHei UI Light" panose="020B0502040204020203" pitchFamily="34" charset="-122"/>
                <a:ea typeface="微软雅黑 Light" panose="020B0502040204020203" pitchFamily="34" charset="-122"/>
                <a:cs typeface="+mn-ea"/>
                <a:sym typeface="+mn-lt"/>
              </a:rPr>
              <a:t>3x3conv</a:t>
            </a:r>
            <a:r>
              <a:rPr lang="zh-CN" altLang="en-US" dirty="0">
                <a:latin typeface="Microsoft YaHei UI Light" panose="020B0502040204020203" pitchFamily="34" charset="-122"/>
                <a:ea typeface="微软雅黑 Light" panose="020B0502040204020203" pitchFamily="34" charset="-122"/>
                <a:cs typeface="+mn-ea"/>
                <a:sym typeface="+mn-lt"/>
              </a:rPr>
              <a:t>网络</a:t>
            </a:r>
            <a:r>
              <a:rPr lang="en-US" altLang="zh-CN" dirty="0">
                <a:latin typeface="Microsoft YaHei UI Light" panose="020B0502040204020203" pitchFamily="34" charset="-122"/>
                <a:ea typeface="微软雅黑 Light" panose="020B0502040204020203" pitchFamily="34" charset="-122"/>
                <a:cs typeface="+mn-ea"/>
                <a:sym typeface="+mn-lt"/>
              </a:rPr>
              <a:t>top-1</a:t>
            </a:r>
            <a:r>
              <a:rPr lang="zh-CN" altLang="en-US" dirty="0">
                <a:latin typeface="Microsoft YaHei UI Light" panose="020B0502040204020203" pitchFamily="34" charset="-122"/>
                <a:ea typeface="微软雅黑 Light" panose="020B0502040204020203" pitchFamily="34" charset="-122"/>
                <a:cs typeface="+mn-ea"/>
                <a:sym typeface="+mn-lt"/>
              </a:rPr>
              <a:t>准确率低</a:t>
            </a:r>
            <a:r>
              <a:rPr lang="en-US" altLang="zh-CN" dirty="0">
                <a:latin typeface="Microsoft YaHei UI Light" panose="020B0502040204020203" pitchFamily="34" charset="-122"/>
                <a:ea typeface="微软雅黑 Light" panose="020B0502040204020203" pitchFamily="34" charset="-122"/>
                <a:cs typeface="+mn-ea"/>
                <a:sym typeface="+mn-lt"/>
              </a:rPr>
              <a:t>7%</a:t>
            </a:r>
            <a:r>
              <a:rPr lang="zh-CN" altLang="en-US" dirty="0">
                <a:latin typeface="Microsoft YaHei UI Light" panose="020B0502040204020203" pitchFamily="34" charset="-122"/>
                <a:ea typeface="微软雅黑 Light" panose="020B0502040204020203" pitchFamily="34" charset="-122"/>
                <a:cs typeface="+mn-ea"/>
                <a:sym typeface="+mn-lt"/>
              </a:rPr>
              <a:t>。</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一个</a:t>
            </a:r>
            <a:r>
              <a:rPr lang="en-US" altLang="zh-CN" dirty="0"/>
              <a:t>7</a:t>
            </a:r>
            <a:r>
              <a:rPr lang="zh-CN" altLang="en-US" dirty="0"/>
              <a:t>*</a:t>
            </a:r>
            <a:r>
              <a:rPr lang="en-US" altLang="zh-CN" dirty="0"/>
              <a:t>7</a:t>
            </a:r>
            <a:r>
              <a:rPr lang="zh-CN" altLang="en-US" dirty="0"/>
              <a:t>的卷积与</a:t>
            </a:r>
            <a:r>
              <a:rPr lang="en-US" altLang="zh-CN" dirty="0"/>
              <a:t>3</a:t>
            </a:r>
            <a:r>
              <a:rPr lang="zh-CN" altLang="en-US" dirty="0"/>
              <a:t>层连续的</a:t>
            </a:r>
            <a:r>
              <a:rPr lang="en-US" altLang="zh-CN" dirty="0"/>
              <a:t>3</a:t>
            </a:r>
            <a:r>
              <a:rPr lang="zh-CN" altLang="en-US" dirty="0"/>
              <a:t>*</a:t>
            </a:r>
            <a:r>
              <a:rPr lang="en-US" altLang="zh-CN" dirty="0"/>
              <a:t>3</a:t>
            </a:r>
            <a:r>
              <a:rPr lang="zh-CN" altLang="en-US" dirty="0"/>
              <a:t>卷积的感受野相同，</a:t>
            </a:r>
            <a:r>
              <a:rPr lang="en-US" altLang="zh-CN" dirty="0"/>
              <a:t>11</a:t>
            </a:r>
            <a:r>
              <a:rPr lang="zh-CN" altLang="en-US" dirty="0"/>
              <a:t>*</a:t>
            </a:r>
            <a:r>
              <a:rPr lang="en-US" altLang="zh-CN" dirty="0"/>
              <a:t>11</a:t>
            </a:r>
            <a:r>
              <a:rPr lang="zh-CN" altLang="en-US" dirty="0"/>
              <a:t>的卷积与</a:t>
            </a:r>
            <a:r>
              <a:rPr lang="en-US" altLang="zh-CN" dirty="0"/>
              <a:t>5</a:t>
            </a:r>
            <a:r>
              <a:rPr lang="zh-CN" altLang="en-US" dirty="0"/>
              <a:t>层连续的</a:t>
            </a:r>
            <a:r>
              <a:rPr lang="en-US" altLang="zh-CN" dirty="0"/>
              <a:t>3</a:t>
            </a:r>
            <a:r>
              <a:rPr lang="zh-CN" altLang="en-US" dirty="0"/>
              <a:t>*</a:t>
            </a:r>
            <a:r>
              <a:rPr lang="en-US" altLang="zh-CN" dirty="0"/>
              <a:t>3</a:t>
            </a:r>
            <a:r>
              <a:rPr lang="zh-CN" altLang="en-US" dirty="0"/>
              <a:t>的卷积感受野相同。但一个</a:t>
            </a:r>
            <a:r>
              <a:rPr lang="en-US" altLang="zh-CN" dirty="0"/>
              <a:t>7</a:t>
            </a:r>
            <a:r>
              <a:rPr lang="zh-CN" altLang="en-US" dirty="0"/>
              <a:t>*</a:t>
            </a:r>
            <a:r>
              <a:rPr lang="en-US" altLang="zh-CN" dirty="0"/>
              <a:t>7</a:t>
            </a:r>
            <a:r>
              <a:rPr lang="zh-CN" altLang="en-US" dirty="0"/>
              <a:t>的卷积包含</a:t>
            </a:r>
            <a:r>
              <a:rPr lang="en-US" altLang="zh-CN" dirty="0"/>
              <a:t>49</a:t>
            </a:r>
            <a:r>
              <a:rPr lang="zh-CN" altLang="en-US" dirty="0"/>
              <a:t>个参数，</a:t>
            </a:r>
            <a:r>
              <a:rPr lang="en-US" altLang="zh-CN" dirty="0"/>
              <a:t>3</a:t>
            </a:r>
            <a:r>
              <a:rPr lang="zh-CN" altLang="en-US" dirty="0"/>
              <a:t>层连续的</a:t>
            </a:r>
            <a:r>
              <a:rPr lang="en-US" altLang="zh-CN" dirty="0"/>
              <a:t>3</a:t>
            </a:r>
            <a:r>
              <a:rPr lang="zh-CN" altLang="en-US" dirty="0"/>
              <a:t>*</a:t>
            </a:r>
            <a:r>
              <a:rPr lang="en-US" altLang="zh-CN" dirty="0"/>
              <a:t>3</a:t>
            </a:r>
            <a:r>
              <a:rPr lang="zh-CN" altLang="en-US" dirty="0"/>
              <a:t>卷积包含</a:t>
            </a:r>
            <a:r>
              <a:rPr lang="en-US" altLang="zh-CN" dirty="0"/>
              <a:t>27</a:t>
            </a:r>
            <a:r>
              <a:rPr lang="zh-CN" altLang="en-US" dirty="0"/>
              <a:t>个参数。因此，</a:t>
            </a:r>
            <a:r>
              <a:rPr lang="en-US" altLang="zh-CN" dirty="0"/>
              <a:t>VGG</a:t>
            </a:r>
            <a:r>
              <a:rPr lang="zh-CN" altLang="en-US" dirty="0"/>
              <a:t>通过使用连续的小卷积核，用更少的参数，训练起来难度会更小。</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Multi-Scale</a:t>
            </a:r>
            <a:r>
              <a:rPr lang="zh-CN" altLang="en-US" dirty="0"/>
              <a:t>方法：将图像</a:t>
            </a:r>
            <a:r>
              <a:rPr lang="en-US" altLang="zh-CN" dirty="0"/>
              <a:t>scale</a:t>
            </a:r>
            <a:r>
              <a:rPr lang="zh-CN" altLang="en-US" dirty="0"/>
              <a:t>到一个尺寸</a:t>
            </a:r>
            <a:r>
              <a:rPr lang="en-US" altLang="zh-CN" dirty="0"/>
              <a:t>Q</a:t>
            </a:r>
            <a:r>
              <a:rPr lang="zh-CN" altLang="en-US" dirty="0"/>
              <a:t>，并将图片输入网络计算。在最后一个卷积层使用滑动窗口方式进行分类预测，将不同窗口的分类结果平均，再将不同尺寸</a:t>
            </a:r>
            <a:r>
              <a:rPr lang="en-US" altLang="zh-CN" dirty="0"/>
              <a:t>Q</a:t>
            </a:r>
            <a:r>
              <a:rPr lang="zh-CN" altLang="en-US" dirty="0"/>
              <a:t>的结果平均得到最后的结果，这样可以提高数据的利用率，提升预测准确率。</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卷积核是否还可以更小？网络是否还可以更深呢？</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Highway Network</a:t>
            </a:r>
            <a:r>
              <a:rPr lang="zh-CN" altLang="en-US" dirty="0"/>
              <a:t>的设计在理论上允许其训练认一深度的网络，其优化方法基本上与网络的深度独立，而传统的神经网络结构则对深度非常敏感，训练复杂度随深度增加而急剧增加。</a:t>
            </a:r>
            <a:endParaRPr lang="en-US" altLang="zh-CN" dirty="0"/>
          </a:p>
          <a:p>
            <a:r>
              <a:rPr lang="en-US" altLang="zh-CN" dirty="0" err="1"/>
              <a:t>Resnet</a:t>
            </a:r>
            <a:r>
              <a:rPr lang="zh-CN" altLang="en-US" dirty="0"/>
              <a:t>最初的灵感出自这个问题，在不断加深网络深度时，会出现一个</a:t>
            </a:r>
            <a:r>
              <a:rPr lang="en-US" altLang="zh-CN" dirty="0"/>
              <a:t>degradation</a:t>
            </a:r>
            <a:r>
              <a:rPr lang="zh-CN" altLang="en-US" dirty="0"/>
              <a:t>问题，即准确率先上升后达到饱和，再持续加深则会导致准确率下降。使用全等映射直接将前一层输出传到后面的思想，就是</a:t>
            </a:r>
            <a:r>
              <a:rPr lang="en-US" altLang="zh-CN" dirty="0" err="1"/>
              <a:t>ResNet</a:t>
            </a:r>
            <a:r>
              <a:rPr lang="zh-CN" altLang="en-US" dirty="0"/>
              <a:t>灵感的来源。</a:t>
            </a:r>
            <a:endParaRPr lang="en-US" altLang="zh-CN" dirty="0"/>
          </a:p>
          <a:p>
            <a:r>
              <a:rPr lang="zh-CN" altLang="en-US" dirty="0"/>
              <a:t>传统的卷积层或全连接层在信息传递时，或多或少会存在信息丢失、损耗等问题，</a:t>
            </a:r>
            <a:r>
              <a:rPr lang="en-US" altLang="zh-CN" dirty="0" err="1"/>
              <a:t>Resnet</a:t>
            </a:r>
            <a:r>
              <a:rPr lang="zh-CN" altLang="en-US" dirty="0"/>
              <a:t>在某种程度上解决了这个问题，通过将输入信息直接绕道传到输出，保护信息的完整性，整个网络则只需要学习输入、输出差别的那一部分，简化学习目标和速度。</a:t>
            </a:r>
            <a:endParaRPr lang="en-US" altLang="zh-CN" dirty="0"/>
          </a:p>
          <a:p>
            <a:r>
              <a:rPr lang="zh-CN" altLang="en-US" dirty="0"/>
              <a:t>根据</a:t>
            </a:r>
            <a:r>
              <a:rPr lang="en-US" altLang="zh-CN" dirty="0" err="1"/>
              <a:t>Schmidhuber</a:t>
            </a:r>
            <a:r>
              <a:rPr lang="zh-CN" altLang="en-US" dirty="0"/>
              <a:t>教授的观点，</a:t>
            </a:r>
            <a:r>
              <a:rPr lang="en-US" altLang="zh-CN" dirty="0" err="1"/>
              <a:t>Resnet</a:t>
            </a:r>
            <a:r>
              <a:rPr lang="zh-CN" altLang="en-US" dirty="0"/>
              <a:t>类似于一个没有</a:t>
            </a:r>
            <a:r>
              <a:rPr lang="en-US" altLang="zh-CN" dirty="0"/>
              <a:t>gate</a:t>
            </a:r>
            <a:r>
              <a:rPr lang="zh-CN" altLang="en-US" dirty="0"/>
              <a:t>的</a:t>
            </a:r>
            <a:r>
              <a:rPr lang="en-US" altLang="zh-CN" dirty="0"/>
              <a:t>LSTM</a:t>
            </a:r>
            <a:r>
              <a:rPr lang="zh-CN" altLang="en-US" dirty="0"/>
              <a:t>，即将输入</a:t>
            </a:r>
            <a:r>
              <a:rPr lang="en-US" altLang="zh-CN" dirty="0"/>
              <a:t>x</a:t>
            </a:r>
            <a:r>
              <a:rPr lang="zh-CN" altLang="en-US" dirty="0"/>
              <a:t>传递到后面层的过程是一直发生的，而不是学习出来的。</a:t>
            </a:r>
            <a:endParaRPr lang="en-US" altLang="zh-CN" dirty="0"/>
          </a:p>
          <a:p>
            <a:r>
              <a:rPr lang="zh-CN" altLang="en-US" dirty="0"/>
              <a:t>有人认为</a:t>
            </a:r>
            <a:r>
              <a:rPr lang="en-US" altLang="zh-CN" dirty="0" err="1"/>
              <a:t>Resnet</a:t>
            </a:r>
            <a:r>
              <a:rPr lang="zh-CN" altLang="en-US" dirty="0"/>
              <a:t>基本等价于</a:t>
            </a:r>
            <a:r>
              <a:rPr lang="en-US" altLang="zh-CN" dirty="0"/>
              <a:t>RNN</a:t>
            </a:r>
            <a:r>
              <a:rPr lang="zh-CN" altLang="en-US" dirty="0"/>
              <a:t>，且</a:t>
            </a:r>
            <a:r>
              <a:rPr lang="en-US" altLang="zh-CN" dirty="0" err="1"/>
              <a:t>Resnet</a:t>
            </a:r>
            <a:r>
              <a:rPr lang="zh-CN" altLang="en-US" dirty="0"/>
              <a:t>的效果类似于在多层网络间的集成方法。</a:t>
            </a:r>
            <a:endParaRPr lang="en-US" altLang="zh-CN" dirty="0"/>
          </a:p>
          <a:p>
            <a:r>
              <a:rPr lang="en-US" altLang="zh-CN" dirty="0"/>
              <a:t>The</a:t>
            </a:r>
            <a:r>
              <a:rPr lang="en-US" altLang="zh-CN" baseline="0" dirty="0"/>
              <a:t> power of depth for feedforward NN</a:t>
            </a:r>
            <a:r>
              <a:rPr lang="zh-CN" altLang="en-US" baseline="0" dirty="0"/>
              <a:t>从理论上证明了加深网络比加宽网络更有效，也给深度学习为什么要深提供了合理解释。</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下图来源于参考文献</a:t>
            </a:r>
            <a:r>
              <a:rPr lang="en-US" altLang="zh-CN" dirty="0"/>
              <a:t>Fig.2</a:t>
            </a:r>
            <a:r>
              <a:rPr lang="zh-CN" altLang="en-US" dirty="0"/>
              <a:t>，首先获得不同</a:t>
            </a:r>
            <a:r>
              <a:rPr lang="en-US" altLang="zh-CN" dirty="0"/>
              <a:t>scale</a:t>
            </a:r>
            <a:r>
              <a:rPr lang="zh-CN" altLang="en-US" dirty="0"/>
              <a:t>的</a:t>
            </a:r>
            <a:r>
              <a:rPr lang="en-US" altLang="zh-CN" dirty="0"/>
              <a:t>object</a:t>
            </a:r>
            <a:r>
              <a:rPr lang="zh-CN" altLang="en-US" dirty="0"/>
              <a:t>，然后由于不同</a:t>
            </a:r>
            <a:r>
              <a:rPr lang="en-US" altLang="zh-CN" dirty="0"/>
              <a:t>object</a:t>
            </a:r>
            <a:r>
              <a:rPr lang="zh-CN" altLang="en-US" dirty="0"/>
              <a:t>由不同的特征确定而来，因此不能使用同样的策略去处理所有的框，此外还要求计算要快。为此使用层次化分组算法。</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Figure 3. In object detection, first category independent region proposals are generated. These region proposals are then assigned a score for each class label using a classification network and their positions are updated slightly using a regression network. Finally, non-maximum-suppression is applied to obtain detections.  </a:t>
            </a:r>
            <a:r>
              <a:rPr lang="zh-CN" altLang="en-US" dirty="0"/>
              <a:t>核心思想是可学习。</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56</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59</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借鉴了</a:t>
            </a:r>
            <a:r>
              <a:rPr lang="en-US" altLang="zh-CN" dirty="0" err="1"/>
              <a:t>GoogLeNet</a:t>
            </a:r>
            <a:r>
              <a:rPr lang="zh-CN" altLang="en-US" dirty="0"/>
              <a:t>的设计思想</a:t>
            </a:r>
            <a:endParaRPr lang="en-US" altLang="zh-CN" dirty="0"/>
          </a:p>
          <a:p>
            <a:r>
              <a:rPr lang="en-US" altLang="zh-CN" dirty="0"/>
              <a:t>YOLO</a:t>
            </a:r>
            <a:r>
              <a:rPr lang="zh-CN" altLang="en-US" dirty="0"/>
              <a:t>包括</a:t>
            </a:r>
            <a:r>
              <a:rPr lang="en-US" altLang="zh-CN" dirty="0"/>
              <a:t>24</a:t>
            </a:r>
            <a:r>
              <a:rPr lang="zh-CN" altLang="en-US" dirty="0"/>
              <a:t>个卷积层和</a:t>
            </a:r>
            <a:r>
              <a:rPr lang="en-US" altLang="zh-CN" dirty="0"/>
              <a:t>2</a:t>
            </a:r>
            <a:r>
              <a:rPr lang="zh-CN" altLang="en-US" dirty="0"/>
              <a:t>个全连接层，没有使用</a:t>
            </a:r>
            <a:r>
              <a:rPr lang="en-US" altLang="zh-CN" dirty="0"/>
              <a:t>Inception</a:t>
            </a:r>
            <a:r>
              <a:rPr lang="zh-CN" altLang="en-US" dirty="0"/>
              <a:t>模块，而是直接使用</a:t>
            </a:r>
            <a:r>
              <a:rPr lang="en-US" altLang="zh-CN" dirty="0"/>
              <a:t>1</a:t>
            </a:r>
            <a:r>
              <a:rPr lang="zh-CN" altLang="en-US" dirty="0"/>
              <a:t>*</a:t>
            </a:r>
            <a:r>
              <a:rPr lang="en-US" altLang="zh-CN" dirty="0"/>
              <a:t>1</a:t>
            </a:r>
            <a:r>
              <a:rPr lang="zh-CN" altLang="en-US" dirty="0"/>
              <a:t>卷积及</a:t>
            </a:r>
            <a:r>
              <a:rPr lang="en-US" altLang="zh-CN" dirty="0"/>
              <a:t>3</a:t>
            </a:r>
            <a:r>
              <a:rPr lang="zh-CN" altLang="en-US" dirty="0"/>
              <a:t>*</a:t>
            </a:r>
            <a:r>
              <a:rPr lang="en-US" altLang="zh-CN" dirty="0"/>
              <a:t>3</a:t>
            </a:r>
            <a:r>
              <a:rPr lang="zh-CN" altLang="en-US" dirty="0"/>
              <a:t>卷积。</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t>61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64</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65</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t>69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565D9-23E7-4B26-9A16-C3411F8BFD3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1D0A34E-83FE-4E8A-B44C-127EDAE774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EE9CC3-D174-4A53-9917-56419447164E}"/>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07277AD8-BE5A-4075-8D8D-8851C5963A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A12CE88-5C96-4F6A-BD60-4D8EBC8F0D92}"/>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721992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841F8-1B6C-4439-B52B-8F205B070C9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B5C86E-7913-49B8-9BF3-5DBFCCC7EC42}"/>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181B3C5-514A-4998-8E5A-49270E1D3A3F}"/>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5E49D939-A0EF-4FF5-B14D-4BE1667EE9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215B9E-9FF0-487B-9F82-17D335B5FB90}"/>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61756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F4808A-75DE-4E20-84AD-E34743272B1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B5AEE6F-8A5C-4976-8900-702C58FE75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EA03F3BD-27CA-434B-81B9-AB6C8EA90BED}"/>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42B58285-958F-492B-A50F-1601E5373B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0E46BD-A543-4014-B28A-AF8054AE9167}"/>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194846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12969-A443-4059-87C0-1831D681A04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5589420-B867-421E-B3CE-7B91383AE1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F975C58-08B7-4E62-9B1A-81C6BCE355F2}"/>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03363C1E-CC2D-41C1-B143-25610274B718}"/>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C2A4E993-62AB-47B1-AF70-C97715C4757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3E53E53-8D55-4CF6-B5CB-6BF272C2E6FA}"/>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473636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6A274-CBCA-46DC-A3DE-16C47279391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4FDF8E8-328F-49C8-87E4-742B7E2BAA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F5C39BC9-8535-4B40-B3F6-1DEB189546BA}"/>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88EC861-24BC-425D-9EAA-D58D9E5E4B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447235FD-3A8B-460D-9057-6495A919D94D}"/>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7383EB5E-6B4B-4985-92FD-39AF14B83C6D}"/>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8" name="页脚占位符 7">
            <a:extLst>
              <a:ext uri="{FF2B5EF4-FFF2-40B4-BE49-F238E27FC236}">
                <a16:creationId xmlns:a16="http://schemas.microsoft.com/office/drawing/2014/main" id="{6AD8B94C-7559-4F03-8F55-73A03CA1B62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86BB51-DF13-43E8-A0C1-FA6E61CB7610}"/>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4238969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0A1E8C-0B6F-471A-BEE9-E19B7D05C1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A30E776-2D89-4D15-8F37-FB46E76DD71D}"/>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4" name="页脚占位符 3">
            <a:extLst>
              <a:ext uri="{FF2B5EF4-FFF2-40B4-BE49-F238E27FC236}">
                <a16:creationId xmlns:a16="http://schemas.microsoft.com/office/drawing/2014/main" id="{9A7C4DE1-3A66-49E2-8363-5904426E69E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1DC399-F245-41C8-9926-0991F6BE4886}"/>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109817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E978355-A9BE-4F54-8435-52983C34CF42}"/>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3" name="页脚占位符 2">
            <a:extLst>
              <a:ext uri="{FF2B5EF4-FFF2-40B4-BE49-F238E27FC236}">
                <a16:creationId xmlns:a16="http://schemas.microsoft.com/office/drawing/2014/main" id="{57538568-55FB-48FE-AFF4-EB46F9E7135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759C095-A8EE-4864-BD57-62130ED18610}"/>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91430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2676A-401D-4D8F-8FF0-33A83525AB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4D5658E-1BC4-4CD6-9E9F-32F4CA8007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9E9BF5F-030F-4536-823B-CC7BF2DC39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FBFD06C3-89AB-4F99-97A4-517F771C2643}"/>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BF640EF7-7D3A-41CE-AE3F-7D181AE5710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0FFE86-78A7-427B-B799-41F8578CEB3A}"/>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130700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7CCF2-A34D-4DE8-8A29-8605ED497F5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AAF1624-5C9A-4F9B-BB03-B1ED67929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3D4E60-6E97-4379-811E-40D0C1CEC2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1F86832-98EC-4F72-8982-ADCD1416A66E}"/>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59FC21B1-757C-497D-83FE-69CC9939E5C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1105E0-F9AF-40C1-A6F9-1EB86F602E02}"/>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336862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F43728-05A0-4039-9041-125D6BD379A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09D5EE6-7CD7-4213-86EC-A9ED1C88C7CC}"/>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7D97706-8BF2-4394-BC2D-1FAC6924C212}"/>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5AC4A729-0E49-4F1F-A2A9-31ED1E55CB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455B6B-F25A-41A3-B511-66CD893AF4D8}"/>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309851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651BCCE-3217-4853-99E0-30442BE104B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8C45B80-3693-4C07-B12F-9E615968AB6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D6E2B46-96C1-4BCA-8D84-49FF9AB40CB1}"/>
              </a:ext>
            </a:extLst>
          </p:cNvPr>
          <p:cNvSpPr>
            <a:spLocks noGrp="1"/>
          </p:cNvSpPr>
          <p:nvPr>
            <p:ph type="dt" sz="half" idx="10"/>
          </p:nvPr>
        </p:nvSpPr>
        <p:spPr/>
        <p:txBody>
          <a:bodyPr/>
          <a:lstStyle/>
          <a:p>
            <a:fld id="{44E012D7-225F-485A-8F42-D7DC67AC6660}"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EA9B679C-C703-43DE-8C85-EC85ACE954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2E6493-E963-4057-9F8E-4911F07640EF}"/>
              </a:ext>
            </a:extLst>
          </p:cNvPr>
          <p:cNvSpPr>
            <a:spLocks noGrp="1"/>
          </p:cNvSpPr>
          <p:nvPr>
            <p:ph type="sldNum" sz="quarter" idx="12"/>
          </p:nvPr>
        </p:nvSpPr>
        <p:spPr/>
        <p:txBody>
          <a:bodyPr/>
          <a:lstStyle/>
          <a:p>
            <a:fld id="{997B6F81-C07C-4107-94A9-8875B481BD66}" type="slidenum">
              <a:rPr lang="zh-CN" altLang="en-US" smtClean="0"/>
              <a:t>‹#›</a:t>
            </a:fld>
            <a:endParaRPr lang="zh-CN" altLang="en-US"/>
          </a:p>
        </p:txBody>
      </p:sp>
    </p:spTree>
    <p:extLst>
      <p:ext uri="{BB962C8B-B14F-4D97-AF65-F5344CB8AC3E}">
        <p14:creationId xmlns:p14="http://schemas.microsoft.com/office/powerpoint/2010/main" val="406639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BD1D856-D246-46B4-8FE7-931EF9A9E2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103D1A7-2600-4710-A398-70DF10595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B21ACBA-268F-49AD-97F2-601DBF88AF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E012D7-225F-485A-8F42-D7DC67AC6660}"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4D60FA12-E516-4149-B479-A5D4F1FFF7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F553270-4F81-47A5-AFBB-5D4B96B6AD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7B6F81-C07C-4107-94A9-8875B481BD66}" type="slidenum">
              <a:rPr lang="zh-CN" altLang="en-US" smtClean="0"/>
              <a:t>‹#›</a:t>
            </a:fld>
            <a:endParaRPr lang="zh-CN" altLang="en-US"/>
          </a:p>
        </p:txBody>
      </p:sp>
      <p:sp>
        <p:nvSpPr>
          <p:cNvPr id="7" name="矩形 6">
            <a:extLst>
              <a:ext uri="{FF2B5EF4-FFF2-40B4-BE49-F238E27FC236}">
                <a16:creationId xmlns:a16="http://schemas.microsoft.com/office/drawing/2014/main" id="{58171217-F43B-4B55-A563-4C718A318178}"/>
              </a:ext>
            </a:extLst>
          </p:cNvPr>
          <p:cNvSpPr/>
          <p:nvPr userDrawn="1"/>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8" name="图片 7">
            <a:extLst>
              <a:ext uri="{FF2B5EF4-FFF2-40B4-BE49-F238E27FC236}">
                <a16:creationId xmlns:a16="http://schemas.microsoft.com/office/drawing/2014/main" id="{3910EB6F-44D3-4825-9830-7F783C3B2015}"/>
              </a:ext>
            </a:extLst>
          </p:cNvPr>
          <p:cNvPicPr>
            <a:picLocks noChangeAspect="1"/>
          </p:cNvPicPr>
          <p:nvPr userDrawn="1"/>
        </p:nvPicPr>
        <p:blipFill>
          <a:blip r:embed="rId1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pic>
        <p:nvPicPr>
          <p:cNvPr id="9" name="图片 8">
            <a:extLst>
              <a:ext uri="{FF2B5EF4-FFF2-40B4-BE49-F238E27FC236}">
                <a16:creationId xmlns:a16="http://schemas.microsoft.com/office/drawing/2014/main" id="{BC33ADB8-7BE0-42C3-B0BC-771B66F717F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10" name="矩形 9">
            <a:extLst>
              <a:ext uri="{FF2B5EF4-FFF2-40B4-BE49-F238E27FC236}">
                <a16:creationId xmlns:a16="http://schemas.microsoft.com/office/drawing/2014/main" id="{8E40400D-E13C-43D5-A06F-E4C910CB9A88}"/>
              </a:ext>
            </a:extLst>
          </p:cNvPr>
          <p:cNvSpPr/>
          <p:nvPr userDrawn="1"/>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Tree>
    <p:extLst>
      <p:ext uri="{BB962C8B-B14F-4D97-AF65-F5344CB8AC3E}">
        <p14:creationId xmlns:p14="http://schemas.microsoft.com/office/powerpoint/2010/main" val="3815974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jpeg"/><Relationship Id="rId5" Type="http://schemas.openxmlformats.org/officeDocument/2006/relationships/notesSlide" Target="../notesSlides/notesSlide1.xml"/><Relationship Id="rId10" Type="http://schemas.openxmlformats.org/officeDocument/2006/relationships/image" Target="../media/image5.png"/><Relationship Id="rId4" Type="http://schemas.openxmlformats.org/officeDocument/2006/relationships/slideLayout" Target="../slideLayouts/slideLayout1.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1.jpeg"/><Relationship Id="rId7"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2.jpeg"/><Relationship Id="rId9"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emf"/><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8.jpe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jpeg"/><Relationship Id="rId7"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2.png"/><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emf"/><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jpeg"/><Relationship Id="rId7"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23.png"/><Relationship Id="rId10" Type="http://schemas.openxmlformats.org/officeDocument/2006/relationships/image" Target="../media/image49.png"/><Relationship Id="rId4" Type="http://schemas.openxmlformats.org/officeDocument/2006/relationships/image" Target="../media/image2.jpeg"/><Relationship Id="rId9"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jpe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84.png"/><Relationship Id="rId4" Type="http://schemas.openxmlformats.org/officeDocument/2006/relationships/image" Target="../media/image2.jpe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2.jpe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2.jpe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38.emf"/><Relationship Id="rId4" Type="http://schemas.openxmlformats.org/officeDocument/2006/relationships/image" Target="../media/image2.jpeg"/></Relationships>
</file>

<file path=ppt/slides/_rels/slide46.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1.jpeg"/><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36.png"/><Relationship Id="rId10" Type="http://schemas.openxmlformats.org/officeDocument/2006/relationships/image" Target="../media/image42.png"/><Relationship Id="rId4" Type="http://schemas.openxmlformats.org/officeDocument/2006/relationships/image" Target="../media/image2.jpeg"/><Relationship Id="rId9"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08.png"/><Relationship Id="rId4" Type="http://schemas.openxmlformats.org/officeDocument/2006/relationships/image" Target="../media/image2.jpe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2.jpe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2.jpe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jpe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2.jpe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jpe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54.emf"/><Relationship Id="rId4" Type="http://schemas.openxmlformats.org/officeDocument/2006/relationships/image" Target="../media/image2.jpeg"/></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55.emf"/><Relationship Id="rId4" Type="http://schemas.openxmlformats.org/officeDocument/2006/relationships/image" Target="../media/image2.jpe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2.jpeg"/></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hyperlink" Target="../../RCNN_training.pdf" TargetMode="External"/><Relationship Id="rId5" Type="http://schemas.openxmlformats.org/officeDocument/2006/relationships/image" Target="../media/image58.png"/><Relationship Id="rId4" Type="http://schemas.openxmlformats.org/officeDocument/2006/relationships/image" Target="../media/image2.jpe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2.jpeg"/></Relationships>
</file>

<file path=ppt/slides/_rels/slide6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eg"/><Relationship Id="rId7" Type="http://schemas.openxmlformats.org/officeDocument/2006/relationships/image" Target="../media/image120.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19.png"/><Relationship Id="rId5" Type="http://schemas.openxmlformats.org/officeDocument/2006/relationships/image" Target="../media/image60.png"/><Relationship Id="rId4" Type="http://schemas.openxmlformats.org/officeDocument/2006/relationships/image" Target="../media/image2.jpeg"/><Relationship Id="rId9" Type="http://schemas.openxmlformats.org/officeDocument/2006/relationships/image" Target="../media/image122.pn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2.jpe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2.jpe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2.jpeg"/></Relationships>
</file>

<file path=ppt/slides/_rels/slide66.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68.emf"/><Relationship Id="rId3" Type="http://schemas.openxmlformats.org/officeDocument/2006/relationships/image" Target="../media/image1.jpeg"/><Relationship Id="rId7" Type="http://schemas.openxmlformats.org/officeDocument/2006/relationships/image" Target="../media/image129.png"/><Relationship Id="rId12" Type="http://schemas.openxmlformats.org/officeDocument/2006/relationships/image" Target="../media/image67.emf"/><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image" Target="../media/image133.png"/><Relationship Id="rId5" Type="http://schemas.openxmlformats.org/officeDocument/2006/relationships/image" Target="../media/image117.png"/><Relationship Id="rId10" Type="http://schemas.openxmlformats.org/officeDocument/2006/relationships/image" Target="../media/image132.png"/><Relationship Id="rId4" Type="http://schemas.openxmlformats.org/officeDocument/2006/relationships/image" Target="../media/image2.jpeg"/><Relationship Id="rId9" Type="http://schemas.openxmlformats.org/officeDocument/2006/relationships/image" Target="../media/image131.png"/><Relationship Id="rId14" Type="http://schemas.openxmlformats.org/officeDocument/2006/relationships/image" Target="../media/image69.emf"/></Relationships>
</file>

<file path=ppt/slides/_rels/slide67.xml.rels><?xml version="1.0" encoding="UTF-8" standalone="yes"?>
<Relationships xmlns="http://schemas.openxmlformats.org/package/2006/relationships"><Relationship Id="rId8" Type="http://schemas.openxmlformats.org/officeDocument/2006/relationships/image" Target="../media/image73.emf"/><Relationship Id="rId3" Type="http://schemas.openxmlformats.org/officeDocument/2006/relationships/image" Target="../media/image1.jpeg"/><Relationship Id="rId7" Type="http://schemas.openxmlformats.org/officeDocument/2006/relationships/image" Target="../media/image72.emf"/><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2.jpeg"/></Relationships>
</file>

<file path=ppt/slides/_rels/slide6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jpe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266A1-71D8-41B2-83A8-92E6EC0C2A07}"/>
              </a:ext>
            </a:extLst>
          </p:cNvPr>
          <p:cNvSpPr>
            <a:spLocks noGrp="1"/>
          </p:cNvSpPr>
          <p:nvPr>
            <p:ph type="ctrTitle"/>
          </p:nvPr>
        </p:nvSpPr>
        <p:spPr/>
        <p:txBody>
          <a:bodyPr/>
          <a:lstStyle/>
          <a:p>
            <a:r>
              <a:rPr lang="zh-CN" altLang="en-US" dirty="0"/>
              <a:t>深度学习</a:t>
            </a:r>
          </a:p>
        </p:txBody>
      </p:sp>
      <p:sp>
        <p:nvSpPr>
          <p:cNvPr id="4" name="副标题 2">
            <a:extLst>
              <a:ext uri="{FF2B5EF4-FFF2-40B4-BE49-F238E27FC236}">
                <a16:creationId xmlns:a16="http://schemas.microsoft.com/office/drawing/2014/main" id="{86EC1D18-5374-4B96-8401-64D0BADEA3CA}"/>
              </a:ext>
            </a:extLst>
          </p:cNvPr>
          <p:cNvSpPr>
            <a:spLocks noGrp="1"/>
          </p:cNvSpPr>
          <p:nvPr>
            <p:ph type="subTitle" idx="1"/>
          </p:nvPr>
        </p:nvSpPr>
        <p:spPr>
          <a:xfrm>
            <a:off x="1524000" y="3602038"/>
            <a:ext cx="9144000" cy="1655762"/>
          </a:xfrm>
        </p:spPr>
        <p:txBody>
          <a:bodyPr anchor="b"/>
          <a:lstStyle/>
          <a:p>
            <a:r>
              <a:rPr lang="zh-CN" altLang="en-US" dirty="0"/>
              <a:t>董前琨</a:t>
            </a:r>
            <a:endParaRPr lang="en-US" altLang="zh-CN" dirty="0"/>
          </a:p>
          <a:p>
            <a:r>
              <a:rPr lang="en-US" altLang="zh-CN" dirty="0"/>
              <a:t>2024-04-08</a:t>
            </a:r>
            <a:endParaRPr lang="zh-CN" altLang="en-US" dirty="0"/>
          </a:p>
        </p:txBody>
      </p:sp>
    </p:spTree>
    <p:extLst>
      <p:ext uri="{BB962C8B-B14F-4D97-AF65-F5344CB8AC3E}">
        <p14:creationId xmlns:p14="http://schemas.microsoft.com/office/powerpoint/2010/main" val="1560388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6"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en-US" altLang="zh-CN" sz="2800" dirty="0">
                <a:solidFill>
                  <a:schemeClr val="bg1"/>
                </a:solidFill>
                <a:latin typeface="微软雅黑" panose="020B0503020204020204" pitchFamily="34" charset="-122"/>
                <a:ea typeface="微软雅黑" panose="020B0503020204020204" pitchFamily="34" charset="-122"/>
              </a:rPr>
              <a:t>Driving Example</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93" name="矩形 92"/>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pic>
        <p:nvPicPr>
          <p:cNvPr id="273" name="图片 272"/>
          <p:cNvPicPr>
            <a:picLocks noChangeAspect="1"/>
          </p:cNvPicPr>
          <p:nvPr/>
        </p:nvPicPr>
        <p:blipFill>
          <a:blip r:embed="rId8"/>
          <a:stretch>
            <a:fillRect/>
          </a:stretch>
        </p:blipFill>
        <p:spPr>
          <a:xfrm>
            <a:off x="1621738" y="854431"/>
            <a:ext cx="1819656" cy="1145100"/>
          </a:xfrm>
          <a:prstGeom prst="rect">
            <a:avLst/>
          </a:prstGeom>
        </p:spPr>
      </p:pic>
      <p:pic>
        <p:nvPicPr>
          <p:cNvPr id="274" name="图片 273"/>
          <p:cNvPicPr>
            <a:picLocks noChangeAspect="1"/>
          </p:cNvPicPr>
          <p:nvPr/>
        </p:nvPicPr>
        <p:blipFill>
          <a:blip r:embed="rId9"/>
          <a:stretch>
            <a:fillRect/>
          </a:stretch>
        </p:blipFill>
        <p:spPr>
          <a:xfrm>
            <a:off x="8185837" y="884951"/>
            <a:ext cx="1810512" cy="1146768"/>
          </a:xfrm>
          <a:prstGeom prst="rect">
            <a:avLst/>
          </a:prstGeom>
        </p:spPr>
      </p:pic>
      <p:pic>
        <p:nvPicPr>
          <p:cNvPr id="275" name="图片 274"/>
          <p:cNvPicPr>
            <a:picLocks noChangeAspect="1"/>
          </p:cNvPicPr>
          <p:nvPr/>
        </p:nvPicPr>
        <p:blipFill>
          <a:blip r:embed="rId10"/>
          <a:stretch>
            <a:fillRect/>
          </a:stretch>
        </p:blipFill>
        <p:spPr>
          <a:xfrm>
            <a:off x="3489840" y="914639"/>
            <a:ext cx="1645803" cy="1084891"/>
          </a:xfrm>
          <a:prstGeom prst="rect">
            <a:avLst/>
          </a:prstGeom>
        </p:spPr>
      </p:pic>
      <p:grpSp>
        <p:nvGrpSpPr>
          <p:cNvPr id="276" name="2436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668666" y="2229119"/>
            <a:ext cx="6438900" cy="950119"/>
            <a:chOff x="1803400" y="1598613"/>
            <a:chExt cx="8585200" cy="1266825"/>
          </a:xfrm>
        </p:grpSpPr>
        <p:sp>
          <p:nvSpPr>
            <p:cNvPr id="277" name="ï$ḻíḓé"/>
            <p:cNvSpPr/>
            <p:nvPr/>
          </p:nvSpPr>
          <p:spPr>
            <a:xfrm>
              <a:off x="1803400" y="1598613"/>
              <a:ext cx="1371600" cy="1266825"/>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输入</a:t>
              </a:r>
            </a:p>
          </p:txBody>
        </p:sp>
        <p:sp>
          <p:nvSpPr>
            <p:cNvPr id="278" name="íšliḋè"/>
            <p:cNvSpPr/>
            <p:nvPr/>
          </p:nvSpPr>
          <p:spPr>
            <a:xfrm>
              <a:off x="9017000" y="1598613"/>
              <a:ext cx="1371600" cy="1266825"/>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输出</a:t>
              </a:r>
            </a:p>
          </p:txBody>
        </p:sp>
        <p:sp>
          <p:nvSpPr>
            <p:cNvPr id="279" name="ïsḷïḑè"/>
            <p:cNvSpPr/>
            <p:nvPr/>
          </p:nvSpPr>
          <p:spPr>
            <a:xfrm>
              <a:off x="3606801" y="1598613"/>
              <a:ext cx="1371601" cy="1266825"/>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建模</a:t>
              </a:r>
            </a:p>
          </p:txBody>
        </p:sp>
        <p:sp>
          <p:nvSpPr>
            <p:cNvPr id="280" name="ïšḷïḓé"/>
            <p:cNvSpPr/>
            <p:nvPr/>
          </p:nvSpPr>
          <p:spPr>
            <a:xfrm>
              <a:off x="5410203" y="1598613"/>
              <a:ext cx="1371600" cy="1266825"/>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实现</a:t>
              </a:r>
            </a:p>
          </p:txBody>
        </p:sp>
        <p:sp>
          <p:nvSpPr>
            <p:cNvPr id="281" name="íśḻíḑè"/>
            <p:cNvSpPr/>
            <p:nvPr/>
          </p:nvSpPr>
          <p:spPr>
            <a:xfrm>
              <a:off x="7213603" y="1598613"/>
              <a:ext cx="1371600" cy="1266825"/>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运行</a:t>
              </a:r>
            </a:p>
          </p:txBody>
        </p:sp>
        <p:sp>
          <p:nvSpPr>
            <p:cNvPr id="282" name="ïṣḷïḍè"/>
            <p:cNvSpPr/>
            <p:nvPr/>
          </p:nvSpPr>
          <p:spPr>
            <a:xfrm>
              <a:off x="3289300" y="2079625"/>
              <a:ext cx="203201"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p>
          </p:txBody>
        </p:sp>
        <p:sp>
          <p:nvSpPr>
            <p:cNvPr id="283" name="ïṧḷïḓé"/>
            <p:cNvSpPr/>
            <p:nvPr/>
          </p:nvSpPr>
          <p:spPr>
            <a:xfrm>
              <a:off x="5092702" y="2079625"/>
              <a:ext cx="203201"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solidFill>
                  <a:schemeClr val="bg1"/>
                </a:solidFill>
              </a:endParaRPr>
            </a:p>
          </p:txBody>
        </p:sp>
        <p:sp>
          <p:nvSpPr>
            <p:cNvPr id="284" name="iṡļíḍè"/>
            <p:cNvSpPr/>
            <p:nvPr/>
          </p:nvSpPr>
          <p:spPr>
            <a:xfrm>
              <a:off x="8699503" y="2079625"/>
              <a:ext cx="203200"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solidFill>
                  <a:schemeClr val="bg1"/>
                </a:solidFill>
              </a:endParaRPr>
            </a:p>
          </p:txBody>
        </p:sp>
        <p:sp>
          <p:nvSpPr>
            <p:cNvPr id="285" name="ïş1ïḓè"/>
            <p:cNvSpPr/>
            <p:nvPr/>
          </p:nvSpPr>
          <p:spPr>
            <a:xfrm>
              <a:off x="6896103" y="2079625"/>
              <a:ext cx="203200"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solidFill>
                  <a:schemeClr val="bg1"/>
                </a:solidFill>
              </a:endParaRPr>
            </a:p>
          </p:txBody>
        </p:sp>
      </p:grpSp>
      <p:grpSp>
        <p:nvGrpSpPr>
          <p:cNvPr id="286" name="62a0234c-3beb-46f2-bd39-7e0bbc0a0fb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5184089" y="871911"/>
            <a:ext cx="1456504" cy="1339314"/>
            <a:chOff x="3381264" y="1151007"/>
            <a:chExt cx="5429472" cy="4992618"/>
          </a:xfrm>
        </p:grpSpPr>
        <p:sp>
          <p:nvSpPr>
            <p:cNvPr id="287" name="íSļîḋè"/>
            <p:cNvSpPr/>
            <p:nvPr/>
          </p:nvSpPr>
          <p:spPr bwMode="auto">
            <a:xfrm>
              <a:off x="5468456" y="2803656"/>
              <a:ext cx="3342280" cy="3339969"/>
            </a:xfrm>
            <a:custGeom>
              <a:avLst/>
              <a:gdLst>
                <a:gd name="T0" fmla="*/ 835 w 1669"/>
                <a:gd name="T1" fmla="*/ 114 h 1668"/>
                <a:gd name="T2" fmla="*/ 915 w 1669"/>
                <a:gd name="T3" fmla="*/ 119 h 1668"/>
                <a:gd name="T4" fmla="*/ 951 w 1669"/>
                <a:gd name="T5" fmla="*/ 0 h 1668"/>
                <a:gd name="T6" fmla="*/ 1202 w 1669"/>
                <a:gd name="T7" fmla="*/ 76 h 1668"/>
                <a:gd name="T8" fmla="*/ 1166 w 1669"/>
                <a:gd name="T9" fmla="*/ 195 h 1668"/>
                <a:gd name="T10" fmla="*/ 1397 w 1669"/>
                <a:gd name="T11" fmla="*/ 385 h 1668"/>
                <a:gd name="T12" fmla="*/ 1507 w 1669"/>
                <a:gd name="T13" fmla="*/ 326 h 1668"/>
                <a:gd name="T14" fmla="*/ 1630 w 1669"/>
                <a:gd name="T15" fmla="*/ 558 h 1668"/>
                <a:gd name="T16" fmla="*/ 1520 w 1669"/>
                <a:gd name="T17" fmla="*/ 617 h 1668"/>
                <a:gd name="T18" fmla="*/ 1549 w 1669"/>
                <a:gd name="T19" fmla="*/ 914 h 1668"/>
                <a:gd name="T20" fmla="*/ 1669 w 1669"/>
                <a:gd name="T21" fmla="*/ 950 h 1668"/>
                <a:gd name="T22" fmla="*/ 1592 w 1669"/>
                <a:gd name="T23" fmla="*/ 1201 h 1668"/>
                <a:gd name="T24" fmla="*/ 1473 w 1669"/>
                <a:gd name="T25" fmla="*/ 1165 h 1668"/>
                <a:gd name="T26" fmla="*/ 1283 w 1669"/>
                <a:gd name="T27" fmla="*/ 1396 h 1668"/>
                <a:gd name="T28" fmla="*/ 1342 w 1669"/>
                <a:gd name="T29" fmla="*/ 1506 h 1668"/>
                <a:gd name="T30" fmla="*/ 1110 w 1669"/>
                <a:gd name="T31" fmla="*/ 1630 h 1668"/>
                <a:gd name="T32" fmla="*/ 1052 w 1669"/>
                <a:gd name="T33" fmla="*/ 1520 h 1668"/>
                <a:gd name="T34" fmla="*/ 835 w 1669"/>
                <a:gd name="T35" fmla="*/ 1553 h 1668"/>
                <a:gd name="T36" fmla="*/ 835 w 1669"/>
                <a:gd name="T37" fmla="*/ 1365 h 1668"/>
                <a:gd name="T38" fmla="*/ 1343 w 1669"/>
                <a:gd name="T39" fmla="*/ 988 h 1668"/>
                <a:gd name="T40" fmla="*/ 989 w 1669"/>
                <a:gd name="T41" fmla="*/ 326 h 1668"/>
                <a:gd name="T42" fmla="*/ 835 w 1669"/>
                <a:gd name="T43" fmla="*/ 303 h 1668"/>
                <a:gd name="T44" fmla="*/ 835 w 1669"/>
                <a:gd name="T45" fmla="*/ 114 h 1668"/>
                <a:gd name="T46" fmla="*/ 386 w 1669"/>
                <a:gd name="T47" fmla="*/ 272 h 1668"/>
                <a:gd name="T48" fmla="*/ 327 w 1669"/>
                <a:gd name="T49" fmla="*/ 162 h 1668"/>
                <a:gd name="T50" fmla="*/ 559 w 1669"/>
                <a:gd name="T51" fmla="*/ 38 h 1668"/>
                <a:gd name="T52" fmla="*/ 617 w 1669"/>
                <a:gd name="T53" fmla="*/ 148 h 1668"/>
                <a:gd name="T54" fmla="*/ 835 w 1669"/>
                <a:gd name="T55" fmla="*/ 114 h 1668"/>
                <a:gd name="T56" fmla="*/ 835 w 1669"/>
                <a:gd name="T57" fmla="*/ 303 h 1668"/>
                <a:gd name="T58" fmla="*/ 326 w 1669"/>
                <a:gd name="T59" fmla="*/ 679 h 1668"/>
                <a:gd name="T60" fmla="*/ 680 w 1669"/>
                <a:gd name="T61" fmla="*/ 1342 h 1668"/>
                <a:gd name="T62" fmla="*/ 680 w 1669"/>
                <a:gd name="T63" fmla="*/ 1342 h 1668"/>
                <a:gd name="T64" fmla="*/ 835 w 1669"/>
                <a:gd name="T65" fmla="*/ 1365 h 1668"/>
                <a:gd name="T66" fmla="*/ 835 w 1669"/>
                <a:gd name="T67" fmla="*/ 1553 h 1668"/>
                <a:gd name="T68" fmla="*/ 754 w 1669"/>
                <a:gd name="T69" fmla="*/ 1549 h 1668"/>
                <a:gd name="T70" fmla="*/ 718 w 1669"/>
                <a:gd name="T71" fmla="*/ 1668 h 1668"/>
                <a:gd name="T72" fmla="*/ 467 w 1669"/>
                <a:gd name="T73" fmla="*/ 1592 h 1668"/>
                <a:gd name="T74" fmla="*/ 503 w 1669"/>
                <a:gd name="T75" fmla="*/ 1472 h 1668"/>
                <a:gd name="T76" fmla="*/ 272 w 1669"/>
                <a:gd name="T77" fmla="*/ 1283 h 1668"/>
                <a:gd name="T78" fmla="*/ 162 w 1669"/>
                <a:gd name="T79" fmla="*/ 1341 h 1668"/>
                <a:gd name="T80" fmla="*/ 39 w 1669"/>
                <a:gd name="T81" fmla="*/ 1110 h 1668"/>
                <a:gd name="T82" fmla="*/ 149 w 1669"/>
                <a:gd name="T83" fmla="*/ 1051 h 1668"/>
                <a:gd name="T84" fmla="*/ 120 w 1669"/>
                <a:gd name="T85" fmla="*/ 754 h 1668"/>
                <a:gd name="T86" fmla="*/ 0 w 1669"/>
                <a:gd name="T87" fmla="*/ 718 h 1668"/>
                <a:gd name="T88" fmla="*/ 77 w 1669"/>
                <a:gd name="T89" fmla="*/ 466 h 1668"/>
                <a:gd name="T90" fmla="*/ 196 w 1669"/>
                <a:gd name="T91" fmla="*/ 502 h 1668"/>
                <a:gd name="T92" fmla="*/ 386 w 1669"/>
                <a:gd name="T93" fmla="*/ 272 h 1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9" h="1668">
                  <a:moveTo>
                    <a:pt x="835" y="114"/>
                  </a:moveTo>
                  <a:cubicBezTo>
                    <a:pt x="861" y="114"/>
                    <a:pt x="888" y="116"/>
                    <a:pt x="915" y="119"/>
                  </a:cubicBezTo>
                  <a:cubicBezTo>
                    <a:pt x="951" y="0"/>
                    <a:pt x="951" y="0"/>
                    <a:pt x="951" y="0"/>
                  </a:cubicBezTo>
                  <a:cubicBezTo>
                    <a:pt x="1202" y="76"/>
                    <a:pt x="1202" y="76"/>
                    <a:pt x="1202" y="76"/>
                  </a:cubicBezTo>
                  <a:cubicBezTo>
                    <a:pt x="1166" y="195"/>
                    <a:pt x="1166" y="195"/>
                    <a:pt x="1166" y="195"/>
                  </a:cubicBezTo>
                  <a:cubicBezTo>
                    <a:pt x="1257" y="242"/>
                    <a:pt x="1335" y="308"/>
                    <a:pt x="1397" y="385"/>
                  </a:cubicBezTo>
                  <a:cubicBezTo>
                    <a:pt x="1507" y="326"/>
                    <a:pt x="1507" y="326"/>
                    <a:pt x="1507" y="326"/>
                  </a:cubicBezTo>
                  <a:cubicBezTo>
                    <a:pt x="1630" y="558"/>
                    <a:pt x="1630" y="558"/>
                    <a:pt x="1630" y="558"/>
                  </a:cubicBezTo>
                  <a:cubicBezTo>
                    <a:pt x="1520" y="617"/>
                    <a:pt x="1520" y="617"/>
                    <a:pt x="1520" y="617"/>
                  </a:cubicBezTo>
                  <a:cubicBezTo>
                    <a:pt x="1550" y="711"/>
                    <a:pt x="1561" y="812"/>
                    <a:pt x="1549" y="914"/>
                  </a:cubicBezTo>
                  <a:cubicBezTo>
                    <a:pt x="1669" y="950"/>
                    <a:pt x="1669" y="950"/>
                    <a:pt x="1669" y="950"/>
                  </a:cubicBezTo>
                  <a:cubicBezTo>
                    <a:pt x="1592" y="1201"/>
                    <a:pt x="1592" y="1201"/>
                    <a:pt x="1592" y="1201"/>
                  </a:cubicBezTo>
                  <a:cubicBezTo>
                    <a:pt x="1473" y="1165"/>
                    <a:pt x="1473" y="1165"/>
                    <a:pt x="1473" y="1165"/>
                  </a:cubicBezTo>
                  <a:cubicBezTo>
                    <a:pt x="1426" y="1256"/>
                    <a:pt x="1361" y="1334"/>
                    <a:pt x="1283" y="1396"/>
                  </a:cubicBezTo>
                  <a:cubicBezTo>
                    <a:pt x="1342" y="1506"/>
                    <a:pt x="1342" y="1506"/>
                    <a:pt x="1342" y="1506"/>
                  </a:cubicBezTo>
                  <a:cubicBezTo>
                    <a:pt x="1110" y="1630"/>
                    <a:pt x="1110" y="1630"/>
                    <a:pt x="1110" y="1630"/>
                  </a:cubicBezTo>
                  <a:cubicBezTo>
                    <a:pt x="1052" y="1520"/>
                    <a:pt x="1052" y="1520"/>
                    <a:pt x="1052" y="1520"/>
                  </a:cubicBezTo>
                  <a:cubicBezTo>
                    <a:pt x="982" y="1542"/>
                    <a:pt x="909" y="1553"/>
                    <a:pt x="835" y="1553"/>
                  </a:cubicBezTo>
                  <a:cubicBezTo>
                    <a:pt x="835" y="1365"/>
                    <a:pt x="835" y="1365"/>
                    <a:pt x="835" y="1365"/>
                  </a:cubicBezTo>
                  <a:cubicBezTo>
                    <a:pt x="1062" y="1365"/>
                    <a:pt x="1273" y="1218"/>
                    <a:pt x="1343" y="988"/>
                  </a:cubicBezTo>
                  <a:cubicBezTo>
                    <a:pt x="1428" y="708"/>
                    <a:pt x="1270" y="411"/>
                    <a:pt x="989" y="326"/>
                  </a:cubicBezTo>
                  <a:cubicBezTo>
                    <a:pt x="938" y="310"/>
                    <a:pt x="886" y="303"/>
                    <a:pt x="835" y="303"/>
                  </a:cubicBezTo>
                  <a:lnTo>
                    <a:pt x="835" y="114"/>
                  </a:lnTo>
                  <a:close/>
                  <a:moveTo>
                    <a:pt x="386" y="272"/>
                  </a:moveTo>
                  <a:cubicBezTo>
                    <a:pt x="327" y="162"/>
                    <a:pt x="327" y="162"/>
                    <a:pt x="327" y="162"/>
                  </a:cubicBezTo>
                  <a:cubicBezTo>
                    <a:pt x="559" y="38"/>
                    <a:pt x="559" y="38"/>
                    <a:pt x="559" y="38"/>
                  </a:cubicBezTo>
                  <a:cubicBezTo>
                    <a:pt x="617" y="148"/>
                    <a:pt x="617" y="148"/>
                    <a:pt x="617" y="148"/>
                  </a:cubicBezTo>
                  <a:cubicBezTo>
                    <a:pt x="687" y="126"/>
                    <a:pt x="760" y="114"/>
                    <a:pt x="835" y="114"/>
                  </a:cubicBezTo>
                  <a:cubicBezTo>
                    <a:pt x="835" y="303"/>
                    <a:pt x="835" y="303"/>
                    <a:pt x="835" y="303"/>
                  </a:cubicBezTo>
                  <a:cubicBezTo>
                    <a:pt x="607" y="302"/>
                    <a:pt x="396" y="450"/>
                    <a:pt x="326" y="679"/>
                  </a:cubicBezTo>
                  <a:cubicBezTo>
                    <a:pt x="241" y="960"/>
                    <a:pt x="399" y="1257"/>
                    <a:pt x="680" y="1342"/>
                  </a:cubicBezTo>
                  <a:cubicBezTo>
                    <a:pt x="680" y="1342"/>
                    <a:pt x="680" y="1342"/>
                    <a:pt x="680" y="1342"/>
                  </a:cubicBezTo>
                  <a:cubicBezTo>
                    <a:pt x="731" y="1358"/>
                    <a:pt x="783" y="1365"/>
                    <a:pt x="835" y="1365"/>
                  </a:cubicBezTo>
                  <a:cubicBezTo>
                    <a:pt x="835" y="1553"/>
                    <a:pt x="835" y="1553"/>
                    <a:pt x="835" y="1553"/>
                  </a:cubicBezTo>
                  <a:cubicBezTo>
                    <a:pt x="808" y="1553"/>
                    <a:pt x="781" y="1552"/>
                    <a:pt x="754" y="1549"/>
                  </a:cubicBezTo>
                  <a:cubicBezTo>
                    <a:pt x="718" y="1668"/>
                    <a:pt x="718" y="1668"/>
                    <a:pt x="718" y="1668"/>
                  </a:cubicBezTo>
                  <a:cubicBezTo>
                    <a:pt x="467" y="1592"/>
                    <a:pt x="467" y="1592"/>
                    <a:pt x="467" y="1592"/>
                  </a:cubicBezTo>
                  <a:cubicBezTo>
                    <a:pt x="503" y="1472"/>
                    <a:pt x="503" y="1472"/>
                    <a:pt x="503" y="1472"/>
                  </a:cubicBezTo>
                  <a:cubicBezTo>
                    <a:pt x="412" y="1425"/>
                    <a:pt x="334" y="1360"/>
                    <a:pt x="272" y="1283"/>
                  </a:cubicBezTo>
                  <a:cubicBezTo>
                    <a:pt x="162" y="1341"/>
                    <a:pt x="162" y="1341"/>
                    <a:pt x="162" y="1341"/>
                  </a:cubicBezTo>
                  <a:cubicBezTo>
                    <a:pt x="39" y="1110"/>
                    <a:pt x="39" y="1110"/>
                    <a:pt x="39" y="1110"/>
                  </a:cubicBezTo>
                  <a:cubicBezTo>
                    <a:pt x="149" y="1051"/>
                    <a:pt x="149" y="1051"/>
                    <a:pt x="149" y="1051"/>
                  </a:cubicBezTo>
                  <a:cubicBezTo>
                    <a:pt x="119" y="957"/>
                    <a:pt x="108" y="856"/>
                    <a:pt x="120" y="754"/>
                  </a:cubicBezTo>
                  <a:cubicBezTo>
                    <a:pt x="0" y="718"/>
                    <a:pt x="0" y="718"/>
                    <a:pt x="0" y="718"/>
                  </a:cubicBezTo>
                  <a:cubicBezTo>
                    <a:pt x="77" y="466"/>
                    <a:pt x="77" y="466"/>
                    <a:pt x="77" y="466"/>
                  </a:cubicBezTo>
                  <a:cubicBezTo>
                    <a:pt x="196" y="502"/>
                    <a:pt x="196" y="502"/>
                    <a:pt x="196" y="502"/>
                  </a:cubicBezTo>
                  <a:cubicBezTo>
                    <a:pt x="243" y="411"/>
                    <a:pt x="308" y="333"/>
                    <a:pt x="386" y="272"/>
                  </a:cubicBezTo>
                  <a:close/>
                </a:path>
              </a:pathLst>
            </a:custGeom>
            <a:solidFill>
              <a:srgbClr val="FFA1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8" name="íṡḻïḋè"/>
            <p:cNvSpPr/>
            <p:nvPr/>
          </p:nvSpPr>
          <p:spPr bwMode="auto">
            <a:xfrm>
              <a:off x="3381264" y="1427219"/>
              <a:ext cx="2022473" cy="2021317"/>
            </a:xfrm>
            <a:custGeom>
              <a:avLst/>
              <a:gdLst>
                <a:gd name="T0" fmla="*/ 505 w 1010"/>
                <a:gd name="T1" fmla="*/ 69 h 1009"/>
                <a:gd name="T2" fmla="*/ 553 w 1010"/>
                <a:gd name="T3" fmla="*/ 72 h 1009"/>
                <a:gd name="T4" fmla="*/ 575 w 1010"/>
                <a:gd name="T5" fmla="*/ 0 h 1009"/>
                <a:gd name="T6" fmla="*/ 727 w 1010"/>
                <a:gd name="T7" fmla="*/ 46 h 1009"/>
                <a:gd name="T8" fmla="*/ 705 w 1010"/>
                <a:gd name="T9" fmla="*/ 118 h 1009"/>
                <a:gd name="T10" fmla="*/ 845 w 1010"/>
                <a:gd name="T11" fmla="*/ 233 h 1009"/>
                <a:gd name="T12" fmla="*/ 912 w 1010"/>
                <a:gd name="T13" fmla="*/ 197 h 1009"/>
                <a:gd name="T14" fmla="*/ 986 w 1010"/>
                <a:gd name="T15" fmla="*/ 337 h 1009"/>
                <a:gd name="T16" fmla="*/ 920 w 1010"/>
                <a:gd name="T17" fmla="*/ 373 h 1009"/>
                <a:gd name="T18" fmla="*/ 938 w 1010"/>
                <a:gd name="T19" fmla="*/ 553 h 1009"/>
                <a:gd name="T20" fmla="*/ 1010 w 1010"/>
                <a:gd name="T21" fmla="*/ 575 h 1009"/>
                <a:gd name="T22" fmla="*/ 963 w 1010"/>
                <a:gd name="T23" fmla="*/ 727 h 1009"/>
                <a:gd name="T24" fmla="*/ 891 w 1010"/>
                <a:gd name="T25" fmla="*/ 705 h 1009"/>
                <a:gd name="T26" fmla="*/ 777 w 1010"/>
                <a:gd name="T27" fmla="*/ 845 h 1009"/>
                <a:gd name="T28" fmla="*/ 812 w 1010"/>
                <a:gd name="T29" fmla="*/ 911 h 1009"/>
                <a:gd name="T30" fmla="*/ 672 w 1010"/>
                <a:gd name="T31" fmla="*/ 986 h 1009"/>
                <a:gd name="T32" fmla="*/ 636 w 1010"/>
                <a:gd name="T33" fmla="*/ 919 h 1009"/>
                <a:gd name="T34" fmla="*/ 505 w 1010"/>
                <a:gd name="T35" fmla="*/ 940 h 1009"/>
                <a:gd name="T36" fmla="*/ 505 w 1010"/>
                <a:gd name="T37" fmla="*/ 826 h 1009"/>
                <a:gd name="T38" fmla="*/ 812 w 1010"/>
                <a:gd name="T39" fmla="*/ 598 h 1009"/>
                <a:gd name="T40" fmla="*/ 598 w 1010"/>
                <a:gd name="T41" fmla="*/ 197 h 1009"/>
                <a:gd name="T42" fmla="*/ 505 w 1010"/>
                <a:gd name="T43" fmla="*/ 183 h 1009"/>
                <a:gd name="T44" fmla="*/ 505 w 1010"/>
                <a:gd name="T45" fmla="*/ 69 h 1009"/>
                <a:gd name="T46" fmla="*/ 233 w 1010"/>
                <a:gd name="T47" fmla="*/ 164 h 1009"/>
                <a:gd name="T48" fmla="*/ 198 w 1010"/>
                <a:gd name="T49" fmla="*/ 98 h 1009"/>
                <a:gd name="T50" fmla="*/ 338 w 1010"/>
                <a:gd name="T51" fmla="*/ 23 h 1009"/>
                <a:gd name="T52" fmla="*/ 373 w 1010"/>
                <a:gd name="T53" fmla="*/ 89 h 1009"/>
                <a:gd name="T54" fmla="*/ 505 w 1010"/>
                <a:gd name="T55" fmla="*/ 69 h 1009"/>
                <a:gd name="T56" fmla="*/ 505 w 1010"/>
                <a:gd name="T57" fmla="*/ 183 h 1009"/>
                <a:gd name="T58" fmla="*/ 197 w 1010"/>
                <a:gd name="T59" fmla="*/ 411 h 1009"/>
                <a:gd name="T60" fmla="*/ 411 w 1010"/>
                <a:gd name="T61" fmla="*/ 812 h 1009"/>
                <a:gd name="T62" fmla="*/ 411 w 1010"/>
                <a:gd name="T63" fmla="*/ 812 h 1009"/>
                <a:gd name="T64" fmla="*/ 505 w 1010"/>
                <a:gd name="T65" fmla="*/ 826 h 1009"/>
                <a:gd name="T66" fmla="*/ 505 w 1010"/>
                <a:gd name="T67" fmla="*/ 940 h 1009"/>
                <a:gd name="T68" fmla="*/ 456 w 1010"/>
                <a:gd name="T69" fmla="*/ 937 h 1009"/>
                <a:gd name="T70" fmla="*/ 434 w 1010"/>
                <a:gd name="T71" fmla="*/ 1009 h 1009"/>
                <a:gd name="T72" fmla="*/ 282 w 1010"/>
                <a:gd name="T73" fmla="*/ 963 h 1009"/>
                <a:gd name="T74" fmla="*/ 304 w 1010"/>
                <a:gd name="T75" fmla="*/ 891 h 1009"/>
                <a:gd name="T76" fmla="*/ 165 w 1010"/>
                <a:gd name="T77" fmla="*/ 776 h 1009"/>
                <a:gd name="T78" fmla="*/ 98 w 1010"/>
                <a:gd name="T79" fmla="*/ 812 h 1009"/>
                <a:gd name="T80" fmla="*/ 23 w 1010"/>
                <a:gd name="T81" fmla="*/ 671 h 1009"/>
                <a:gd name="T82" fmla="*/ 90 w 1010"/>
                <a:gd name="T83" fmla="*/ 636 h 1009"/>
                <a:gd name="T84" fmla="*/ 72 w 1010"/>
                <a:gd name="T85" fmla="*/ 456 h 1009"/>
                <a:gd name="T86" fmla="*/ 0 w 1010"/>
                <a:gd name="T87" fmla="*/ 434 h 1009"/>
                <a:gd name="T88" fmla="*/ 46 w 1010"/>
                <a:gd name="T89" fmla="*/ 282 h 1009"/>
                <a:gd name="T90" fmla="*/ 118 w 1010"/>
                <a:gd name="T91" fmla="*/ 304 h 1009"/>
                <a:gd name="T92" fmla="*/ 233 w 1010"/>
                <a:gd name="T93" fmla="*/ 164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10" h="1009">
                  <a:moveTo>
                    <a:pt x="505" y="69"/>
                  </a:moveTo>
                  <a:cubicBezTo>
                    <a:pt x="521" y="69"/>
                    <a:pt x="537" y="70"/>
                    <a:pt x="553" y="72"/>
                  </a:cubicBezTo>
                  <a:cubicBezTo>
                    <a:pt x="575" y="0"/>
                    <a:pt x="575" y="0"/>
                    <a:pt x="575" y="0"/>
                  </a:cubicBezTo>
                  <a:cubicBezTo>
                    <a:pt x="727" y="46"/>
                    <a:pt x="727" y="46"/>
                    <a:pt x="727" y="46"/>
                  </a:cubicBezTo>
                  <a:cubicBezTo>
                    <a:pt x="705" y="118"/>
                    <a:pt x="705" y="118"/>
                    <a:pt x="705" y="118"/>
                  </a:cubicBezTo>
                  <a:cubicBezTo>
                    <a:pt x="761" y="146"/>
                    <a:pt x="808" y="186"/>
                    <a:pt x="845" y="233"/>
                  </a:cubicBezTo>
                  <a:cubicBezTo>
                    <a:pt x="912" y="197"/>
                    <a:pt x="912" y="197"/>
                    <a:pt x="912" y="197"/>
                  </a:cubicBezTo>
                  <a:cubicBezTo>
                    <a:pt x="986" y="337"/>
                    <a:pt x="986" y="337"/>
                    <a:pt x="986" y="337"/>
                  </a:cubicBezTo>
                  <a:cubicBezTo>
                    <a:pt x="920" y="373"/>
                    <a:pt x="920" y="373"/>
                    <a:pt x="920" y="373"/>
                  </a:cubicBezTo>
                  <a:cubicBezTo>
                    <a:pt x="938" y="430"/>
                    <a:pt x="945" y="491"/>
                    <a:pt x="938" y="553"/>
                  </a:cubicBezTo>
                  <a:cubicBezTo>
                    <a:pt x="1010" y="575"/>
                    <a:pt x="1010" y="575"/>
                    <a:pt x="1010" y="575"/>
                  </a:cubicBezTo>
                  <a:cubicBezTo>
                    <a:pt x="963" y="727"/>
                    <a:pt x="963" y="727"/>
                    <a:pt x="963" y="727"/>
                  </a:cubicBezTo>
                  <a:cubicBezTo>
                    <a:pt x="891" y="705"/>
                    <a:pt x="891" y="705"/>
                    <a:pt x="891" y="705"/>
                  </a:cubicBezTo>
                  <a:cubicBezTo>
                    <a:pt x="863" y="760"/>
                    <a:pt x="823" y="807"/>
                    <a:pt x="777" y="845"/>
                  </a:cubicBezTo>
                  <a:cubicBezTo>
                    <a:pt x="812" y="911"/>
                    <a:pt x="812" y="911"/>
                    <a:pt x="812" y="911"/>
                  </a:cubicBezTo>
                  <a:cubicBezTo>
                    <a:pt x="672" y="986"/>
                    <a:pt x="672" y="986"/>
                    <a:pt x="672" y="986"/>
                  </a:cubicBezTo>
                  <a:cubicBezTo>
                    <a:pt x="636" y="919"/>
                    <a:pt x="636" y="919"/>
                    <a:pt x="636" y="919"/>
                  </a:cubicBezTo>
                  <a:cubicBezTo>
                    <a:pt x="594" y="933"/>
                    <a:pt x="550" y="940"/>
                    <a:pt x="505" y="940"/>
                  </a:cubicBezTo>
                  <a:cubicBezTo>
                    <a:pt x="505" y="826"/>
                    <a:pt x="505" y="826"/>
                    <a:pt x="505" y="826"/>
                  </a:cubicBezTo>
                  <a:cubicBezTo>
                    <a:pt x="643" y="826"/>
                    <a:pt x="770" y="737"/>
                    <a:pt x="812" y="598"/>
                  </a:cubicBezTo>
                  <a:cubicBezTo>
                    <a:pt x="864" y="428"/>
                    <a:pt x="768" y="248"/>
                    <a:pt x="598" y="197"/>
                  </a:cubicBezTo>
                  <a:cubicBezTo>
                    <a:pt x="567" y="187"/>
                    <a:pt x="536" y="183"/>
                    <a:pt x="505" y="183"/>
                  </a:cubicBezTo>
                  <a:lnTo>
                    <a:pt x="505" y="69"/>
                  </a:lnTo>
                  <a:close/>
                  <a:moveTo>
                    <a:pt x="233" y="164"/>
                  </a:moveTo>
                  <a:cubicBezTo>
                    <a:pt x="198" y="98"/>
                    <a:pt x="198" y="98"/>
                    <a:pt x="198" y="98"/>
                  </a:cubicBezTo>
                  <a:cubicBezTo>
                    <a:pt x="338" y="23"/>
                    <a:pt x="338" y="23"/>
                    <a:pt x="338" y="23"/>
                  </a:cubicBezTo>
                  <a:cubicBezTo>
                    <a:pt x="373" y="89"/>
                    <a:pt x="373" y="89"/>
                    <a:pt x="373" y="89"/>
                  </a:cubicBezTo>
                  <a:cubicBezTo>
                    <a:pt x="415" y="76"/>
                    <a:pt x="460" y="69"/>
                    <a:pt x="505" y="69"/>
                  </a:cubicBezTo>
                  <a:cubicBezTo>
                    <a:pt x="505" y="183"/>
                    <a:pt x="505" y="183"/>
                    <a:pt x="505" y="183"/>
                  </a:cubicBezTo>
                  <a:cubicBezTo>
                    <a:pt x="367" y="183"/>
                    <a:pt x="239" y="272"/>
                    <a:pt x="197" y="411"/>
                  </a:cubicBezTo>
                  <a:cubicBezTo>
                    <a:pt x="146" y="581"/>
                    <a:pt x="241" y="760"/>
                    <a:pt x="411" y="812"/>
                  </a:cubicBezTo>
                  <a:cubicBezTo>
                    <a:pt x="411" y="812"/>
                    <a:pt x="411" y="812"/>
                    <a:pt x="411" y="812"/>
                  </a:cubicBezTo>
                  <a:cubicBezTo>
                    <a:pt x="443" y="821"/>
                    <a:pt x="474" y="826"/>
                    <a:pt x="505" y="826"/>
                  </a:cubicBezTo>
                  <a:cubicBezTo>
                    <a:pt x="505" y="940"/>
                    <a:pt x="505" y="940"/>
                    <a:pt x="505" y="940"/>
                  </a:cubicBezTo>
                  <a:cubicBezTo>
                    <a:pt x="489" y="940"/>
                    <a:pt x="473" y="939"/>
                    <a:pt x="456" y="937"/>
                  </a:cubicBezTo>
                  <a:cubicBezTo>
                    <a:pt x="434" y="1009"/>
                    <a:pt x="434" y="1009"/>
                    <a:pt x="434" y="1009"/>
                  </a:cubicBezTo>
                  <a:cubicBezTo>
                    <a:pt x="282" y="963"/>
                    <a:pt x="282" y="963"/>
                    <a:pt x="282" y="963"/>
                  </a:cubicBezTo>
                  <a:cubicBezTo>
                    <a:pt x="304" y="891"/>
                    <a:pt x="304" y="891"/>
                    <a:pt x="304" y="891"/>
                  </a:cubicBezTo>
                  <a:cubicBezTo>
                    <a:pt x="249" y="862"/>
                    <a:pt x="202" y="823"/>
                    <a:pt x="165" y="776"/>
                  </a:cubicBezTo>
                  <a:cubicBezTo>
                    <a:pt x="98" y="812"/>
                    <a:pt x="98" y="812"/>
                    <a:pt x="98" y="812"/>
                  </a:cubicBezTo>
                  <a:cubicBezTo>
                    <a:pt x="23" y="671"/>
                    <a:pt x="23" y="671"/>
                    <a:pt x="23" y="671"/>
                  </a:cubicBezTo>
                  <a:cubicBezTo>
                    <a:pt x="90" y="636"/>
                    <a:pt x="90" y="636"/>
                    <a:pt x="90" y="636"/>
                  </a:cubicBezTo>
                  <a:cubicBezTo>
                    <a:pt x="72" y="579"/>
                    <a:pt x="65" y="518"/>
                    <a:pt x="72" y="456"/>
                  </a:cubicBezTo>
                  <a:cubicBezTo>
                    <a:pt x="0" y="434"/>
                    <a:pt x="0" y="434"/>
                    <a:pt x="0" y="434"/>
                  </a:cubicBezTo>
                  <a:cubicBezTo>
                    <a:pt x="46" y="282"/>
                    <a:pt x="46" y="282"/>
                    <a:pt x="46" y="282"/>
                  </a:cubicBezTo>
                  <a:cubicBezTo>
                    <a:pt x="118" y="304"/>
                    <a:pt x="118" y="304"/>
                    <a:pt x="118" y="304"/>
                  </a:cubicBezTo>
                  <a:cubicBezTo>
                    <a:pt x="147" y="249"/>
                    <a:pt x="186" y="201"/>
                    <a:pt x="233" y="164"/>
                  </a:cubicBezTo>
                  <a:close/>
                </a:path>
              </a:pathLst>
            </a:custGeom>
            <a:solidFill>
              <a:srgbClr val="FFA1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89" name="ïŝľídè"/>
            <p:cNvSpPr/>
            <p:nvPr/>
          </p:nvSpPr>
          <p:spPr bwMode="auto">
            <a:xfrm>
              <a:off x="7188135" y="1954218"/>
              <a:ext cx="1292071" cy="1828315"/>
            </a:xfrm>
            <a:custGeom>
              <a:avLst/>
              <a:gdLst>
                <a:gd name="T0" fmla="*/ 0 w 1118"/>
                <a:gd name="T1" fmla="*/ 0 h 1582"/>
                <a:gd name="T2" fmla="*/ 958 w 1118"/>
                <a:gd name="T3" fmla="*/ 0 h 1582"/>
                <a:gd name="T4" fmla="*/ 1118 w 1118"/>
                <a:gd name="T5" fmla="*/ 161 h 1582"/>
                <a:gd name="T6" fmla="*/ 1118 w 1118"/>
                <a:gd name="T7" fmla="*/ 0 h 1582"/>
                <a:gd name="T8" fmla="*/ 1118 w 1118"/>
                <a:gd name="T9" fmla="*/ 1582 h 1582"/>
                <a:gd name="T10" fmla="*/ 0 w 1118"/>
                <a:gd name="T11" fmla="*/ 1582 h 1582"/>
                <a:gd name="T12" fmla="*/ 0 w 1118"/>
                <a:gd name="T13" fmla="*/ 0 h 1582"/>
              </a:gdLst>
              <a:ahLst/>
              <a:cxnLst>
                <a:cxn ang="0">
                  <a:pos x="T0" y="T1"/>
                </a:cxn>
                <a:cxn ang="0">
                  <a:pos x="T2" y="T3"/>
                </a:cxn>
                <a:cxn ang="0">
                  <a:pos x="T4" y="T5"/>
                </a:cxn>
                <a:cxn ang="0">
                  <a:pos x="T6" y="T7"/>
                </a:cxn>
                <a:cxn ang="0">
                  <a:pos x="T8" y="T9"/>
                </a:cxn>
                <a:cxn ang="0">
                  <a:pos x="T10" y="T11"/>
                </a:cxn>
                <a:cxn ang="0">
                  <a:pos x="T12" y="T13"/>
                </a:cxn>
              </a:cxnLst>
              <a:rect l="0" t="0" r="r" b="b"/>
              <a:pathLst>
                <a:path w="1118" h="1582">
                  <a:moveTo>
                    <a:pt x="0" y="0"/>
                  </a:moveTo>
                  <a:lnTo>
                    <a:pt x="958" y="0"/>
                  </a:lnTo>
                  <a:lnTo>
                    <a:pt x="1118" y="161"/>
                  </a:lnTo>
                  <a:lnTo>
                    <a:pt x="1118" y="0"/>
                  </a:lnTo>
                  <a:lnTo>
                    <a:pt x="1118" y="1582"/>
                  </a:lnTo>
                  <a:lnTo>
                    <a:pt x="0" y="158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0" name="ïśḻïḋè"/>
            <p:cNvSpPr/>
            <p:nvPr/>
          </p:nvSpPr>
          <p:spPr bwMode="auto">
            <a:xfrm>
              <a:off x="7972855" y="3252067"/>
              <a:ext cx="0" cy="114414"/>
            </a:xfrm>
            <a:prstGeom prst="line">
              <a:avLst/>
            </a:prstGeom>
            <a:noFill/>
            <a:ln w="11113" cap="flat">
              <a:solidFill>
                <a:srgbClr val="CCCCCC"/>
              </a:solidFill>
              <a:prstDash val="solid"/>
              <a:miter lim="800000"/>
            </a:ln>
            <a:extLst>
              <a:ext uri="{909E8E84-426E-40DD-AFC4-6F175D3DCCD1}">
                <a14:hiddenFill xmlns:a14="http://schemas.microsoft.com/office/drawing/2010/main">
                  <a:noFill/>
                </a14:hiddenFill>
              </a:ext>
            </a:extLst>
          </p:spPr>
          <p:txBody>
            <a:bodyPr anchor="ctr"/>
            <a:lstStyle/>
            <a:p>
              <a:pPr algn="ctr"/>
              <a:endParaRPr/>
            </a:p>
          </p:txBody>
        </p:sp>
        <p:sp>
          <p:nvSpPr>
            <p:cNvPr id="291" name="ïṥľîdê"/>
            <p:cNvSpPr/>
            <p:nvPr/>
          </p:nvSpPr>
          <p:spPr bwMode="auto">
            <a:xfrm>
              <a:off x="8251378" y="3252067"/>
              <a:ext cx="0" cy="228828"/>
            </a:xfrm>
            <a:prstGeom prst="line">
              <a:avLst/>
            </a:prstGeom>
            <a:noFill/>
            <a:ln w="11113" cap="flat">
              <a:solidFill>
                <a:srgbClr val="CCCCCC"/>
              </a:solidFill>
              <a:prstDash val="solid"/>
              <a:miter lim="800000"/>
            </a:ln>
            <a:extLst>
              <a:ext uri="{909E8E84-426E-40DD-AFC4-6F175D3DCCD1}">
                <a14:hiddenFill xmlns:a14="http://schemas.microsoft.com/office/drawing/2010/main">
                  <a:noFill/>
                </a14:hiddenFill>
              </a:ext>
            </a:extLst>
          </p:spPr>
          <p:txBody>
            <a:bodyPr anchor="ctr"/>
            <a:lstStyle/>
            <a:p>
              <a:pPr algn="ctr"/>
              <a:endParaRPr/>
            </a:p>
          </p:txBody>
        </p:sp>
        <p:sp>
          <p:nvSpPr>
            <p:cNvPr id="292" name="íṣ1iḍè"/>
            <p:cNvSpPr/>
            <p:nvPr/>
          </p:nvSpPr>
          <p:spPr bwMode="auto">
            <a:xfrm>
              <a:off x="7520976" y="2150686"/>
              <a:ext cx="62638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3" name="îṥļîďè"/>
            <p:cNvSpPr/>
            <p:nvPr/>
          </p:nvSpPr>
          <p:spPr bwMode="auto">
            <a:xfrm>
              <a:off x="7306016" y="2262789"/>
              <a:ext cx="105630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4" name="ïšḻïďè"/>
            <p:cNvSpPr/>
            <p:nvPr/>
          </p:nvSpPr>
          <p:spPr bwMode="auto">
            <a:xfrm>
              <a:off x="7306016" y="2341377"/>
              <a:ext cx="105630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5" name="íṩľïḓè"/>
            <p:cNvSpPr/>
            <p:nvPr/>
          </p:nvSpPr>
          <p:spPr bwMode="auto">
            <a:xfrm>
              <a:off x="7306016" y="2418808"/>
              <a:ext cx="105630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6" name="ïṩḷiḑé"/>
            <p:cNvSpPr/>
            <p:nvPr/>
          </p:nvSpPr>
          <p:spPr bwMode="auto">
            <a:xfrm>
              <a:off x="7306016" y="2497396"/>
              <a:ext cx="49463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97" name="ïṧliḍé"/>
            <p:cNvSpPr/>
            <p:nvPr/>
          </p:nvSpPr>
          <p:spPr bwMode="auto">
            <a:xfrm>
              <a:off x="8087269" y="2743560"/>
              <a:ext cx="275056" cy="272745"/>
            </a:xfrm>
            <a:prstGeom prst="ellipse">
              <a:avLst/>
            </a:prstGeom>
            <a:solidFill>
              <a:srgbClr val="EF413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8" name="íṣliḓè"/>
            <p:cNvSpPr/>
            <p:nvPr/>
          </p:nvSpPr>
          <p:spPr bwMode="auto">
            <a:xfrm>
              <a:off x="8103448" y="2879932"/>
              <a:ext cx="122504" cy="114414"/>
            </a:xfrm>
            <a:custGeom>
              <a:avLst/>
              <a:gdLst>
                <a:gd name="T0" fmla="*/ 23 w 61"/>
                <a:gd name="T1" fmla="*/ 57 h 57"/>
                <a:gd name="T2" fmla="*/ 0 w 61"/>
                <a:gd name="T3" fmla="*/ 31 h 57"/>
                <a:gd name="T4" fmla="*/ 61 w 61"/>
                <a:gd name="T5" fmla="*/ 0 h 57"/>
                <a:gd name="T6" fmla="*/ 23 w 61"/>
                <a:gd name="T7" fmla="*/ 57 h 57"/>
              </a:gdLst>
              <a:ahLst/>
              <a:cxnLst>
                <a:cxn ang="0">
                  <a:pos x="T0" y="T1"/>
                </a:cxn>
                <a:cxn ang="0">
                  <a:pos x="T2" y="T3"/>
                </a:cxn>
                <a:cxn ang="0">
                  <a:pos x="T4" y="T5"/>
                </a:cxn>
                <a:cxn ang="0">
                  <a:pos x="T6" y="T7"/>
                </a:cxn>
              </a:cxnLst>
              <a:rect l="0" t="0" r="r" b="b"/>
              <a:pathLst>
                <a:path w="61" h="57">
                  <a:moveTo>
                    <a:pt x="23" y="57"/>
                  </a:moveTo>
                  <a:cubicBezTo>
                    <a:pt x="13" y="51"/>
                    <a:pt x="5" y="42"/>
                    <a:pt x="0" y="31"/>
                  </a:cubicBezTo>
                  <a:cubicBezTo>
                    <a:pt x="61" y="0"/>
                    <a:pt x="61" y="0"/>
                    <a:pt x="61" y="0"/>
                  </a:cubicBezTo>
                  <a:lnTo>
                    <a:pt x="23" y="57"/>
                  </a:lnTo>
                  <a:close/>
                </a:path>
              </a:pathLst>
            </a:custGeom>
            <a:solidFill>
              <a:srgbClr val="FCD8D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299" name="ïSlídè"/>
            <p:cNvSpPr/>
            <p:nvPr/>
          </p:nvSpPr>
          <p:spPr bwMode="auto">
            <a:xfrm>
              <a:off x="8087269" y="2771296"/>
              <a:ext cx="138684" cy="169888"/>
            </a:xfrm>
            <a:custGeom>
              <a:avLst/>
              <a:gdLst>
                <a:gd name="T0" fmla="*/ 8 w 69"/>
                <a:gd name="T1" fmla="*/ 85 h 85"/>
                <a:gd name="T2" fmla="*/ 0 w 69"/>
                <a:gd name="T3" fmla="*/ 54 h 85"/>
                <a:gd name="T4" fmla="*/ 27 w 69"/>
                <a:gd name="T5" fmla="*/ 0 h 85"/>
                <a:gd name="T6" fmla="*/ 69 w 69"/>
                <a:gd name="T7" fmla="*/ 54 h 85"/>
                <a:gd name="T8" fmla="*/ 8 w 69"/>
                <a:gd name="T9" fmla="*/ 85 h 85"/>
              </a:gdLst>
              <a:ahLst/>
              <a:cxnLst>
                <a:cxn ang="0">
                  <a:pos x="T0" y="T1"/>
                </a:cxn>
                <a:cxn ang="0">
                  <a:pos x="T2" y="T3"/>
                </a:cxn>
                <a:cxn ang="0">
                  <a:pos x="T4" y="T5"/>
                </a:cxn>
                <a:cxn ang="0">
                  <a:pos x="T6" y="T7"/>
                </a:cxn>
                <a:cxn ang="0">
                  <a:pos x="T8" y="T9"/>
                </a:cxn>
              </a:cxnLst>
              <a:rect l="0" t="0" r="r" b="b"/>
              <a:pathLst>
                <a:path w="69" h="85">
                  <a:moveTo>
                    <a:pt x="8" y="85"/>
                  </a:moveTo>
                  <a:cubicBezTo>
                    <a:pt x="3" y="76"/>
                    <a:pt x="0" y="65"/>
                    <a:pt x="0" y="54"/>
                  </a:cubicBezTo>
                  <a:cubicBezTo>
                    <a:pt x="0" y="32"/>
                    <a:pt x="11" y="13"/>
                    <a:pt x="27" y="0"/>
                  </a:cubicBezTo>
                  <a:cubicBezTo>
                    <a:pt x="69" y="54"/>
                    <a:pt x="69" y="54"/>
                    <a:pt x="69" y="54"/>
                  </a:cubicBezTo>
                  <a:lnTo>
                    <a:pt x="8" y="85"/>
                  </a:lnTo>
                  <a:close/>
                </a:path>
              </a:pathLst>
            </a:custGeom>
            <a:solidFill>
              <a:srgbClr val="F9B3A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0" name="îsḷidé"/>
            <p:cNvSpPr/>
            <p:nvPr/>
          </p:nvSpPr>
          <p:spPr bwMode="auto">
            <a:xfrm>
              <a:off x="8141587" y="2743560"/>
              <a:ext cx="84366" cy="136372"/>
            </a:xfrm>
            <a:custGeom>
              <a:avLst/>
              <a:gdLst>
                <a:gd name="T0" fmla="*/ 0 w 42"/>
                <a:gd name="T1" fmla="*/ 14 h 68"/>
                <a:gd name="T2" fmla="*/ 42 w 42"/>
                <a:gd name="T3" fmla="*/ 0 h 68"/>
                <a:gd name="T4" fmla="*/ 42 w 42"/>
                <a:gd name="T5" fmla="*/ 68 h 68"/>
                <a:gd name="T6" fmla="*/ 0 w 42"/>
                <a:gd name="T7" fmla="*/ 14 h 68"/>
              </a:gdLst>
              <a:ahLst/>
              <a:cxnLst>
                <a:cxn ang="0">
                  <a:pos x="T0" y="T1"/>
                </a:cxn>
                <a:cxn ang="0">
                  <a:pos x="T2" y="T3"/>
                </a:cxn>
                <a:cxn ang="0">
                  <a:pos x="T4" y="T5"/>
                </a:cxn>
                <a:cxn ang="0">
                  <a:pos x="T6" y="T7"/>
                </a:cxn>
              </a:cxnLst>
              <a:rect l="0" t="0" r="r" b="b"/>
              <a:pathLst>
                <a:path w="42" h="68">
                  <a:moveTo>
                    <a:pt x="0" y="14"/>
                  </a:moveTo>
                  <a:cubicBezTo>
                    <a:pt x="11" y="5"/>
                    <a:pt x="26" y="0"/>
                    <a:pt x="42" y="0"/>
                  </a:cubicBezTo>
                  <a:cubicBezTo>
                    <a:pt x="42" y="68"/>
                    <a:pt x="42" y="68"/>
                    <a:pt x="42" y="68"/>
                  </a:cubicBezTo>
                  <a:lnTo>
                    <a:pt x="0" y="14"/>
                  </a:lnTo>
                  <a:close/>
                </a:path>
              </a:pathLst>
            </a:custGeom>
            <a:solidFill>
              <a:srgbClr val="F48C8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1" name="íṥḻîḋê"/>
            <p:cNvSpPr/>
            <p:nvPr/>
          </p:nvSpPr>
          <p:spPr bwMode="auto">
            <a:xfrm>
              <a:off x="8225953" y="2743560"/>
              <a:ext cx="98234" cy="136372"/>
            </a:xfrm>
            <a:custGeom>
              <a:avLst/>
              <a:gdLst>
                <a:gd name="T0" fmla="*/ 0 w 49"/>
                <a:gd name="T1" fmla="*/ 0 h 68"/>
                <a:gd name="T2" fmla="*/ 0 w 49"/>
                <a:gd name="T3" fmla="*/ 68 h 68"/>
                <a:gd name="T4" fmla="*/ 49 w 49"/>
                <a:gd name="T5" fmla="*/ 20 h 68"/>
                <a:gd name="T6" fmla="*/ 0 w 49"/>
                <a:gd name="T7" fmla="*/ 0 h 68"/>
              </a:gdLst>
              <a:ahLst/>
              <a:cxnLst>
                <a:cxn ang="0">
                  <a:pos x="T0" y="T1"/>
                </a:cxn>
                <a:cxn ang="0">
                  <a:pos x="T2" y="T3"/>
                </a:cxn>
                <a:cxn ang="0">
                  <a:pos x="T4" y="T5"/>
                </a:cxn>
                <a:cxn ang="0">
                  <a:pos x="T6" y="T7"/>
                </a:cxn>
              </a:cxnLst>
              <a:rect l="0" t="0" r="r" b="b"/>
              <a:pathLst>
                <a:path w="49" h="68">
                  <a:moveTo>
                    <a:pt x="0" y="0"/>
                  </a:moveTo>
                  <a:cubicBezTo>
                    <a:pt x="0" y="68"/>
                    <a:pt x="0" y="68"/>
                    <a:pt x="0" y="68"/>
                  </a:cubicBezTo>
                  <a:cubicBezTo>
                    <a:pt x="49" y="20"/>
                    <a:pt x="49" y="20"/>
                    <a:pt x="49" y="20"/>
                  </a:cubicBezTo>
                  <a:cubicBezTo>
                    <a:pt x="36" y="8"/>
                    <a:pt x="19" y="0"/>
                    <a:pt x="0" y="0"/>
                  </a:cubicBezTo>
                  <a:close/>
                </a:path>
              </a:pathLst>
            </a:custGeom>
            <a:solidFill>
              <a:srgbClr val="F2675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02" name="îṣḻïďe"/>
            <p:cNvSpPr/>
            <p:nvPr/>
          </p:nvSpPr>
          <p:spPr bwMode="auto">
            <a:xfrm>
              <a:off x="7306016" y="3039419"/>
              <a:ext cx="629856" cy="1618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3" name="išľiḑe"/>
            <p:cNvSpPr/>
            <p:nvPr/>
          </p:nvSpPr>
          <p:spPr bwMode="auto">
            <a:xfrm>
              <a:off x="7306016" y="2703110"/>
              <a:ext cx="112103" cy="336308"/>
            </a:xfrm>
            <a:prstGeom prst="rect">
              <a:avLst/>
            </a:prstGeom>
            <a:solidFill>
              <a:srgbClr val="4C8EB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4" name="iśḷïďé"/>
            <p:cNvSpPr/>
            <p:nvPr/>
          </p:nvSpPr>
          <p:spPr bwMode="auto">
            <a:xfrm>
              <a:off x="7436610" y="2829081"/>
              <a:ext cx="109791" cy="210337"/>
            </a:xfrm>
            <a:prstGeom prst="rect">
              <a:avLst/>
            </a:prstGeom>
            <a:solidFill>
              <a:srgbClr val="609DC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5" name="ïṥľíḍé"/>
            <p:cNvSpPr/>
            <p:nvPr/>
          </p:nvSpPr>
          <p:spPr bwMode="auto">
            <a:xfrm>
              <a:off x="7564893" y="2901890"/>
              <a:ext cx="112103" cy="137528"/>
            </a:xfrm>
            <a:prstGeom prst="rect">
              <a:avLst/>
            </a:prstGeom>
            <a:solidFill>
              <a:srgbClr val="73ACC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6" name="iṧḷîḑê"/>
            <p:cNvSpPr/>
            <p:nvPr/>
          </p:nvSpPr>
          <p:spPr bwMode="auto">
            <a:xfrm>
              <a:off x="7693175" y="2836016"/>
              <a:ext cx="112103" cy="203403"/>
            </a:xfrm>
            <a:prstGeom prst="rect">
              <a:avLst/>
            </a:prstGeom>
            <a:solidFill>
              <a:srgbClr val="87BB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7" name="ïṥľíḑe"/>
            <p:cNvSpPr/>
            <p:nvPr/>
          </p:nvSpPr>
          <p:spPr bwMode="auto">
            <a:xfrm>
              <a:off x="7823769" y="2893801"/>
              <a:ext cx="112103" cy="14561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8" name="íşliḋe"/>
            <p:cNvSpPr/>
            <p:nvPr/>
          </p:nvSpPr>
          <p:spPr bwMode="auto">
            <a:xfrm>
              <a:off x="8097670" y="3039419"/>
              <a:ext cx="55474" cy="1618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09" name="ïṡļíďê"/>
            <p:cNvSpPr/>
            <p:nvPr/>
          </p:nvSpPr>
          <p:spPr bwMode="auto">
            <a:xfrm>
              <a:off x="8179725" y="3039419"/>
              <a:ext cx="167576" cy="1618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0" name="ïṩļiḓé"/>
            <p:cNvSpPr/>
            <p:nvPr/>
          </p:nvSpPr>
          <p:spPr bwMode="auto">
            <a:xfrm>
              <a:off x="8295294" y="1954218"/>
              <a:ext cx="184912" cy="186067"/>
            </a:xfrm>
            <a:custGeom>
              <a:avLst/>
              <a:gdLst>
                <a:gd name="T0" fmla="*/ 0 w 160"/>
                <a:gd name="T1" fmla="*/ 161 h 161"/>
                <a:gd name="T2" fmla="*/ 160 w 160"/>
                <a:gd name="T3" fmla="*/ 161 h 161"/>
                <a:gd name="T4" fmla="*/ 0 w 160"/>
                <a:gd name="T5" fmla="*/ 0 h 161"/>
                <a:gd name="T6" fmla="*/ 0 w 160"/>
                <a:gd name="T7" fmla="*/ 161 h 161"/>
              </a:gdLst>
              <a:ahLst/>
              <a:cxnLst>
                <a:cxn ang="0">
                  <a:pos x="T0" y="T1"/>
                </a:cxn>
                <a:cxn ang="0">
                  <a:pos x="T2" y="T3"/>
                </a:cxn>
                <a:cxn ang="0">
                  <a:pos x="T4" y="T5"/>
                </a:cxn>
                <a:cxn ang="0">
                  <a:pos x="T6" y="T7"/>
                </a:cxn>
              </a:cxnLst>
              <a:rect l="0" t="0" r="r" b="b"/>
              <a:pathLst>
                <a:path w="160" h="161">
                  <a:moveTo>
                    <a:pt x="0" y="161"/>
                  </a:moveTo>
                  <a:lnTo>
                    <a:pt x="160" y="161"/>
                  </a:lnTo>
                  <a:lnTo>
                    <a:pt x="0" y="0"/>
                  </a:lnTo>
                  <a:lnTo>
                    <a:pt x="0" y="161"/>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11" name="íS1íḓe"/>
            <p:cNvSpPr/>
            <p:nvPr/>
          </p:nvSpPr>
          <p:spPr bwMode="auto">
            <a:xfrm>
              <a:off x="7306016" y="3218552"/>
              <a:ext cx="223050" cy="68186"/>
            </a:xfrm>
            <a:prstGeom prst="rect">
              <a:avLst/>
            </a:prstGeom>
            <a:solidFill>
              <a:srgbClr val="EF413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2" name="îṥlîḍê"/>
            <p:cNvSpPr/>
            <p:nvPr/>
          </p:nvSpPr>
          <p:spPr bwMode="auto">
            <a:xfrm>
              <a:off x="7584540" y="3218552"/>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3" name="ïšḷïḍê"/>
            <p:cNvSpPr/>
            <p:nvPr/>
          </p:nvSpPr>
          <p:spPr bwMode="auto">
            <a:xfrm>
              <a:off x="7860752" y="3218552"/>
              <a:ext cx="225361" cy="68186"/>
            </a:xfrm>
            <a:prstGeom prst="rect">
              <a:avLst/>
            </a:prstGeom>
            <a:solidFill>
              <a:srgbClr val="609DC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4" name="íšlíḑe"/>
            <p:cNvSpPr/>
            <p:nvPr/>
          </p:nvSpPr>
          <p:spPr bwMode="auto">
            <a:xfrm>
              <a:off x="8139275" y="3218552"/>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5" name="ïṥḻïďe"/>
            <p:cNvSpPr/>
            <p:nvPr/>
          </p:nvSpPr>
          <p:spPr bwMode="auto">
            <a:xfrm>
              <a:off x="7306016" y="3331810"/>
              <a:ext cx="223050" cy="68186"/>
            </a:xfrm>
            <a:prstGeom prst="rect">
              <a:avLst/>
            </a:prstGeom>
            <a:solidFill>
              <a:srgbClr val="F2675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6" name="íṣḻîḓè"/>
            <p:cNvSpPr/>
            <p:nvPr/>
          </p:nvSpPr>
          <p:spPr bwMode="auto">
            <a:xfrm>
              <a:off x="7306016" y="3446224"/>
              <a:ext cx="223050" cy="68186"/>
            </a:xfrm>
            <a:prstGeom prst="rect">
              <a:avLst/>
            </a:prstGeom>
            <a:solidFill>
              <a:srgbClr val="F48C8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7" name="ïSliḑé"/>
            <p:cNvSpPr/>
            <p:nvPr/>
          </p:nvSpPr>
          <p:spPr bwMode="auto">
            <a:xfrm>
              <a:off x="7306016" y="3560639"/>
              <a:ext cx="223050" cy="68186"/>
            </a:xfrm>
            <a:prstGeom prst="rect">
              <a:avLst/>
            </a:prstGeom>
            <a:solidFill>
              <a:srgbClr val="FCD8D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8" name="ïṡḻîḑe"/>
            <p:cNvSpPr/>
            <p:nvPr/>
          </p:nvSpPr>
          <p:spPr bwMode="auto">
            <a:xfrm>
              <a:off x="7860752" y="3331810"/>
              <a:ext cx="225361" cy="68186"/>
            </a:xfrm>
            <a:prstGeom prst="rect">
              <a:avLst/>
            </a:prstGeom>
            <a:solidFill>
              <a:srgbClr val="609DC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19" name="iS1îḓê"/>
            <p:cNvSpPr/>
            <p:nvPr/>
          </p:nvSpPr>
          <p:spPr bwMode="auto">
            <a:xfrm>
              <a:off x="8139275" y="3331810"/>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0" name="ísļiḑe"/>
            <p:cNvSpPr/>
            <p:nvPr/>
          </p:nvSpPr>
          <p:spPr bwMode="auto">
            <a:xfrm>
              <a:off x="8139275" y="3446224"/>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1" name="iṣļiḋé"/>
            <p:cNvSpPr/>
            <p:nvPr/>
          </p:nvSpPr>
          <p:spPr bwMode="auto">
            <a:xfrm>
              <a:off x="4432950" y="3142276"/>
              <a:ext cx="2985169" cy="1962376"/>
            </a:xfrm>
            <a:custGeom>
              <a:avLst/>
              <a:gdLst>
                <a:gd name="T0" fmla="*/ 52 w 1491"/>
                <a:gd name="T1" fmla="*/ 0 h 980"/>
                <a:gd name="T2" fmla="*/ 1440 w 1491"/>
                <a:gd name="T3" fmla="*/ 0 h 980"/>
                <a:gd name="T4" fmla="*/ 1491 w 1491"/>
                <a:gd name="T5" fmla="*/ 51 h 980"/>
                <a:gd name="T6" fmla="*/ 1491 w 1491"/>
                <a:gd name="T7" fmla="*/ 928 h 980"/>
                <a:gd name="T8" fmla="*/ 1440 w 1491"/>
                <a:gd name="T9" fmla="*/ 980 h 980"/>
                <a:gd name="T10" fmla="*/ 52 w 1491"/>
                <a:gd name="T11" fmla="*/ 980 h 980"/>
                <a:gd name="T12" fmla="*/ 0 w 1491"/>
                <a:gd name="T13" fmla="*/ 928 h 980"/>
                <a:gd name="T14" fmla="*/ 0 w 1491"/>
                <a:gd name="T15" fmla="*/ 51 h 980"/>
                <a:gd name="T16" fmla="*/ 52 w 1491"/>
                <a:gd name="T17" fmla="*/ 0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1" h="980">
                  <a:moveTo>
                    <a:pt x="52" y="0"/>
                  </a:moveTo>
                  <a:cubicBezTo>
                    <a:pt x="1440" y="0"/>
                    <a:pt x="1440" y="0"/>
                    <a:pt x="1440" y="0"/>
                  </a:cubicBezTo>
                  <a:cubicBezTo>
                    <a:pt x="1468" y="0"/>
                    <a:pt x="1491" y="23"/>
                    <a:pt x="1491" y="51"/>
                  </a:cubicBezTo>
                  <a:cubicBezTo>
                    <a:pt x="1491" y="928"/>
                    <a:pt x="1491" y="928"/>
                    <a:pt x="1491" y="928"/>
                  </a:cubicBezTo>
                  <a:cubicBezTo>
                    <a:pt x="1491" y="957"/>
                    <a:pt x="1468" y="980"/>
                    <a:pt x="1440" y="980"/>
                  </a:cubicBezTo>
                  <a:cubicBezTo>
                    <a:pt x="52" y="980"/>
                    <a:pt x="52" y="980"/>
                    <a:pt x="52" y="980"/>
                  </a:cubicBezTo>
                  <a:cubicBezTo>
                    <a:pt x="23" y="980"/>
                    <a:pt x="0" y="957"/>
                    <a:pt x="0" y="928"/>
                  </a:cubicBezTo>
                  <a:cubicBezTo>
                    <a:pt x="0" y="51"/>
                    <a:pt x="0" y="51"/>
                    <a:pt x="0" y="51"/>
                  </a:cubicBezTo>
                  <a:cubicBezTo>
                    <a:pt x="0" y="23"/>
                    <a:pt x="23" y="0"/>
                    <a:pt x="52" y="0"/>
                  </a:cubicBez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2" name="i$1íďè"/>
            <p:cNvSpPr/>
            <p:nvPr/>
          </p:nvSpPr>
          <p:spPr bwMode="auto">
            <a:xfrm>
              <a:off x="4586658" y="3346834"/>
              <a:ext cx="2677754" cy="143768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3" name="ïṡlîḑe"/>
            <p:cNvSpPr/>
            <p:nvPr/>
          </p:nvSpPr>
          <p:spPr bwMode="auto">
            <a:xfrm>
              <a:off x="5862549" y="4872357"/>
              <a:ext cx="125971" cy="12828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4" name="iṡ1ïḓê"/>
            <p:cNvSpPr/>
            <p:nvPr/>
          </p:nvSpPr>
          <p:spPr bwMode="auto">
            <a:xfrm>
              <a:off x="3914041" y="5104652"/>
              <a:ext cx="4022987" cy="340931"/>
            </a:xfrm>
            <a:custGeom>
              <a:avLst/>
              <a:gdLst>
                <a:gd name="T0" fmla="*/ 449 w 3481"/>
                <a:gd name="T1" fmla="*/ 0 h 295"/>
                <a:gd name="T2" fmla="*/ 3032 w 3481"/>
                <a:gd name="T3" fmla="*/ 0 h 295"/>
                <a:gd name="T4" fmla="*/ 3481 w 3481"/>
                <a:gd name="T5" fmla="*/ 295 h 295"/>
                <a:gd name="T6" fmla="*/ 0 w 3481"/>
                <a:gd name="T7" fmla="*/ 295 h 295"/>
                <a:gd name="T8" fmla="*/ 449 w 3481"/>
                <a:gd name="T9" fmla="*/ 0 h 295"/>
              </a:gdLst>
              <a:ahLst/>
              <a:cxnLst>
                <a:cxn ang="0">
                  <a:pos x="T0" y="T1"/>
                </a:cxn>
                <a:cxn ang="0">
                  <a:pos x="T2" y="T3"/>
                </a:cxn>
                <a:cxn ang="0">
                  <a:pos x="T4" y="T5"/>
                </a:cxn>
                <a:cxn ang="0">
                  <a:pos x="T6" y="T7"/>
                </a:cxn>
                <a:cxn ang="0">
                  <a:pos x="T8" y="T9"/>
                </a:cxn>
              </a:cxnLst>
              <a:rect l="0" t="0" r="r" b="b"/>
              <a:pathLst>
                <a:path w="3481" h="295">
                  <a:moveTo>
                    <a:pt x="449" y="0"/>
                  </a:moveTo>
                  <a:lnTo>
                    <a:pt x="3032" y="0"/>
                  </a:lnTo>
                  <a:lnTo>
                    <a:pt x="3481" y="295"/>
                  </a:lnTo>
                  <a:lnTo>
                    <a:pt x="0" y="295"/>
                  </a:lnTo>
                  <a:lnTo>
                    <a:pt x="44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5" name="iŝḻïḋé"/>
            <p:cNvSpPr/>
            <p:nvPr/>
          </p:nvSpPr>
          <p:spPr bwMode="auto">
            <a:xfrm>
              <a:off x="3914041" y="5445583"/>
              <a:ext cx="4022987" cy="189535"/>
            </a:xfrm>
            <a:custGeom>
              <a:avLst/>
              <a:gdLst>
                <a:gd name="T0" fmla="*/ 0 w 2009"/>
                <a:gd name="T1" fmla="*/ 0 h 95"/>
                <a:gd name="T2" fmla="*/ 2009 w 2009"/>
                <a:gd name="T3" fmla="*/ 0 h 95"/>
                <a:gd name="T4" fmla="*/ 2009 w 2009"/>
                <a:gd name="T5" fmla="*/ 58 h 95"/>
                <a:gd name="T6" fmla="*/ 1972 w 2009"/>
                <a:gd name="T7" fmla="*/ 95 h 95"/>
                <a:gd name="T8" fmla="*/ 37 w 2009"/>
                <a:gd name="T9" fmla="*/ 95 h 95"/>
                <a:gd name="T10" fmla="*/ 0 w 2009"/>
                <a:gd name="T11" fmla="*/ 58 h 95"/>
                <a:gd name="T12" fmla="*/ 0 w 2009"/>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2009" h="95">
                  <a:moveTo>
                    <a:pt x="0" y="0"/>
                  </a:moveTo>
                  <a:cubicBezTo>
                    <a:pt x="2009" y="0"/>
                    <a:pt x="2009" y="0"/>
                    <a:pt x="2009" y="0"/>
                  </a:cubicBezTo>
                  <a:cubicBezTo>
                    <a:pt x="2009" y="58"/>
                    <a:pt x="2009" y="58"/>
                    <a:pt x="2009" y="58"/>
                  </a:cubicBezTo>
                  <a:cubicBezTo>
                    <a:pt x="2009" y="78"/>
                    <a:pt x="1993" y="95"/>
                    <a:pt x="1972" y="95"/>
                  </a:cubicBezTo>
                  <a:cubicBezTo>
                    <a:pt x="37" y="95"/>
                    <a:pt x="37" y="95"/>
                    <a:pt x="37" y="95"/>
                  </a:cubicBezTo>
                  <a:cubicBezTo>
                    <a:pt x="17" y="95"/>
                    <a:pt x="0" y="78"/>
                    <a:pt x="0" y="58"/>
                  </a:cubicBezTo>
                  <a:lnTo>
                    <a:pt x="0"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6" name="ïšľïďê"/>
            <p:cNvSpPr/>
            <p:nvPr/>
          </p:nvSpPr>
          <p:spPr bwMode="auto">
            <a:xfrm>
              <a:off x="5520462" y="5543817"/>
              <a:ext cx="812456" cy="52006"/>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7" name="iṣlíḍè"/>
            <p:cNvSpPr/>
            <p:nvPr/>
          </p:nvSpPr>
          <p:spPr bwMode="auto">
            <a:xfrm>
              <a:off x="3914041" y="5445583"/>
              <a:ext cx="4022987" cy="57785"/>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28" name="ïṧlîḓè"/>
            <p:cNvSpPr/>
            <p:nvPr/>
          </p:nvSpPr>
          <p:spPr bwMode="auto">
            <a:xfrm>
              <a:off x="4022677" y="5126610"/>
              <a:ext cx="3762955" cy="286613"/>
            </a:xfrm>
            <a:custGeom>
              <a:avLst/>
              <a:gdLst>
                <a:gd name="T0" fmla="*/ 1852 w 1879"/>
                <a:gd name="T1" fmla="*/ 120 h 143"/>
                <a:gd name="T2" fmla="*/ 1566 w 1879"/>
                <a:gd name="T3" fmla="*/ 52 h 143"/>
                <a:gd name="T4" fmla="*/ 1566 w 1879"/>
                <a:gd name="T5" fmla="*/ 87 h 143"/>
                <a:gd name="T6" fmla="*/ 1566 w 1879"/>
                <a:gd name="T7" fmla="*/ 38 h 143"/>
                <a:gd name="T8" fmla="*/ 1728 w 1879"/>
                <a:gd name="T9" fmla="*/ 38 h 143"/>
                <a:gd name="T10" fmla="*/ 1566 w 1879"/>
                <a:gd name="T11" fmla="*/ 4 h 143"/>
                <a:gd name="T12" fmla="*/ 1803 w 1879"/>
                <a:gd name="T13" fmla="*/ 87 h 143"/>
                <a:gd name="T14" fmla="*/ 337 w 1879"/>
                <a:gd name="T15" fmla="*/ 105 h 143"/>
                <a:gd name="T16" fmla="*/ 914 w 1879"/>
                <a:gd name="T17" fmla="*/ 140 h 143"/>
                <a:gd name="T18" fmla="*/ 1566 w 1879"/>
                <a:gd name="T19" fmla="*/ 2 h 143"/>
                <a:gd name="T20" fmla="*/ 1566 w 1879"/>
                <a:gd name="T21" fmla="*/ 36 h 143"/>
                <a:gd name="T22" fmla="*/ 1433 w 1879"/>
                <a:gd name="T23" fmla="*/ 20 h 143"/>
                <a:gd name="T24" fmla="*/ 1566 w 1879"/>
                <a:gd name="T25" fmla="*/ 52 h 143"/>
                <a:gd name="T26" fmla="*/ 1462 w 1879"/>
                <a:gd name="T27" fmla="*/ 52 h 143"/>
                <a:gd name="T28" fmla="*/ 1517 w 1879"/>
                <a:gd name="T29" fmla="*/ 138 h 143"/>
                <a:gd name="T30" fmla="*/ 1486 w 1879"/>
                <a:gd name="T31" fmla="*/ 103 h 143"/>
                <a:gd name="T32" fmla="*/ 434 w 1879"/>
                <a:gd name="T33" fmla="*/ 52 h 143"/>
                <a:gd name="T34" fmla="*/ 337 w 1879"/>
                <a:gd name="T35" fmla="*/ 38 h 143"/>
                <a:gd name="T36" fmla="*/ 490 w 1879"/>
                <a:gd name="T37" fmla="*/ 1 h 143"/>
                <a:gd name="T38" fmla="*/ 337 w 1879"/>
                <a:gd name="T39" fmla="*/ 5 h 143"/>
                <a:gd name="T40" fmla="*/ 966 w 1879"/>
                <a:gd name="T41" fmla="*/ 104 h 143"/>
                <a:gd name="T42" fmla="*/ 964 w 1879"/>
                <a:gd name="T43" fmla="*/ 140 h 143"/>
                <a:gd name="T44" fmla="*/ 598 w 1879"/>
                <a:gd name="T45" fmla="*/ 52 h 143"/>
                <a:gd name="T46" fmla="*/ 457 w 1879"/>
                <a:gd name="T47" fmla="*/ 71 h 143"/>
                <a:gd name="T48" fmla="*/ 754 w 1879"/>
                <a:gd name="T49" fmla="*/ 71 h 143"/>
                <a:gd name="T50" fmla="*/ 640 w 1879"/>
                <a:gd name="T51" fmla="*/ 52 h 143"/>
                <a:gd name="T52" fmla="*/ 922 w 1879"/>
                <a:gd name="T53" fmla="*/ 89 h 143"/>
                <a:gd name="T54" fmla="*/ 969 w 1879"/>
                <a:gd name="T55" fmla="*/ 52 h 143"/>
                <a:gd name="T56" fmla="*/ 967 w 1879"/>
                <a:gd name="T57" fmla="*/ 88 h 143"/>
                <a:gd name="T58" fmla="*/ 1256 w 1879"/>
                <a:gd name="T59" fmla="*/ 52 h 143"/>
                <a:gd name="T60" fmla="*/ 1138 w 1879"/>
                <a:gd name="T61" fmla="*/ 70 h 143"/>
                <a:gd name="T62" fmla="*/ 1435 w 1879"/>
                <a:gd name="T63" fmla="*/ 70 h 143"/>
                <a:gd name="T64" fmla="*/ 1298 w 1879"/>
                <a:gd name="T65" fmla="*/ 52 h 143"/>
                <a:gd name="T66" fmla="*/ 610 w 1879"/>
                <a:gd name="T67" fmla="*/ 38 h 143"/>
                <a:gd name="T68" fmla="*/ 676 w 1879"/>
                <a:gd name="T69" fmla="*/ 1 h 143"/>
                <a:gd name="T70" fmla="*/ 650 w 1879"/>
                <a:gd name="T71" fmla="*/ 38 h 143"/>
                <a:gd name="T72" fmla="*/ 934 w 1879"/>
                <a:gd name="T73" fmla="*/ 1 h 143"/>
                <a:gd name="T74" fmla="*/ 817 w 1879"/>
                <a:gd name="T75" fmla="*/ 19 h 143"/>
                <a:gd name="T76" fmla="*/ 1086 w 1879"/>
                <a:gd name="T77" fmla="*/ 20 h 143"/>
                <a:gd name="T78" fmla="*/ 972 w 1879"/>
                <a:gd name="T79" fmla="*/ 1 h 143"/>
                <a:gd name="T80" fmla="*/ 1249 w 1879"/>
                <a:gd name="T81" fmla="*/ 38 h 143"/>
                <a:gd name="T82" fmla="*/ 1268 w 1879"/>
                <a:gd name="T83" fmla="*/ 2 h 143"/>
                <a:gd name="T84" fmla="*/ 1290 w 1879"/>
                <a:gd name="T85" fmla="*/ 38 h 143"/>
                <a:gd name="T86" fmla="*/ 337 w 1879"/>
                <a:gd name="T87" fmla="*/ 105 h 143"/>
                <a:gd name="T88" fmla="*/ 337 w 1879"/>
                <a:gd name="T89" fmla="*/ 1 h 143"/>
                <a:gd name="T90" fmla="*/ 266 w 1879"/>
                <a:gd name="T91" fmla="*/ 38 h 143"/>
                <a:gd name="T92" fmla="*/ 331 w 1879"/>
                <a:gd name="T93" fmla="*/ 38 h 143"/>
                <a:gd name="T94" fmla="*/ 337 w 1879"/>
                <a:gd name="T95" fmla="*/ 90 h 143"/>
                <a:gd name="T96" fmla="*/ 312 w 1879"/>
                <a:gd name="T97" fmla="*/ 52 h 143"/>
                <a:gd name="T98" fmla="*/ 266 w 1879"/>
                <a:gd name="T99" fmla="*/ 52 h 143"/>
                <a:gd name="T100" fmla="*/ 266 w 1879"/>
                <a:gd name="T101" fmla="*/ 142 h 143"/>
                <a:gd name="T102" fmla="*/ 266 w 1879"/>
                <a:gd name="T103" fmla="*/ 0 h 143"/>
                <a:gd name="T104" fmla="*/ 232 w 1879"/>
                <a:gd name="T105" fmla="*/ 0 h 143"/>
                <a:gd name="T106" fmla="*/ 243 w 1879"/>
                <a:gd name="T107" fmla="*/ 71 h 143"/>
                <a:gd name="T108" fmla="*/ 148 w 1879"/>
                <a:gd name="T109" fmla="*/ 52 h 143"/>
                <a:gd name="T110" fmla="*/ 266 w 1879"/>
                <a:gd name="T111" fmla="*/ 9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79" h="143">
                  <a:moveTo>
                    <a:pt x="1566" y="138"/>
                  </a:moveTo>
                  <a:cubicBezTo>
                    <a:pt x="1566" y="102"/>
                    <a:pt x="1566" y="102"/>
                    <a:pt x="1566" y="102"/>
                  </a:cubicBezTo>
                  <a:cubicBezTo>
                    <a:pt x="1825" y="102"/>
                    <a:pt x="1825" y="102"/>
                    <a:pt x="1825" y="102"/>
                  </a:cubicBezTo>
                  <a:cubicBezTo>
                    <a:pt x="1834" y="108"/>
                    <a:pt x="1843" y="114"/>
                    <a:pt x="1852" y="120"/>
                  </a:cubicBezTo>
                  <a:cubicBezTo>
                    <a:pt x="1861" y="125"/>
                    <a:pt x="1870" y="131"/>
                    <a:pt x="1879" y="137"/>
                  </a:cubicBezTo>
                  <a:cubicBezTo>
                    <a:pt x="1774" y="138"/>
                    <a:pt x="1670" y="138"/>
                    <a:pt x="1566" y="138"/>
                  </a:cubicBezTo>
                  <a:close/>
                  <a:moveTo>
                    <a:pt x="1566" y="87"/>
                  </a:moveTo>
                  <a:cubicBezTo>
                    <a:pt x="1566" y="52"/>
                    <a:pt x="1566" y="52"/>
                    <a:pt x="1566" y="52"/>
                  </a:cubicBezTo>
                  <a:cubicBezTo>
                    <a:pt x="1585" y="52"/>
                    <a:pt x="1585" y="52"/>
                    <a:pt x="1585" y="52"/>
                  </a:cubicBezTo>
                  <a:cubicBezTo>
                    <a:pt x="1592" y="58"/>
                    <a:pt x="1599" y="63"/>
                    <a:pt x="1606" y="70"/>
                  </a:cubicBezTo>
                  <a:cubicBezTo>
                    <a:pt x="1612" y="75"/>
                    <a:pt x="1619" y="81"/>
                    <a:pt x="1626" y="87"/>
                  </a:cubicBezTo>
                  <a:cubicBezTo>
                    <a:pt x="1566" y="87"/>
                    <a:pt x="1566" y="87"/>
                    <a:pt x="1566" y="87"/>
                  </a:cubicBezTo>
                  <a:close/>
                  <a:moveTo>
                    <a:pt x="1566" y="38"/>
                  </a:moveTo>
                  <a:cubicBezTo>
                    <a:pt x="1566" y="36"/>
                    <a:pt x="1566" y="36"/>
                    <a:pt x="1566" y="36"/>
                  </a:cubicBezTo>
                  <a:cubicBezTo>
                    <a:pt x="1568" y="38"/>
                    <a:pt x="1568" y="38"/>
                    <a:pt x="1568" y="38"/>
                  </a:cubicBezTo>
                  <a:cubicBezTo>
                    <a:pt x="1566" y="38"/>
                    <a:pt x="1566" y="38"/>
                    <a:pt x="1566" y="38"/>
                  </a:cubicBezTo>
                  <a:close/>
                  <a:moveTo>
                    <a:pt x="1566" y="4"/>
                  </a:moveTo>
                  <a:cubicBezTo>
                    <a:pt x="1573" y="9"/>
                    <a:pt x="1580" y="14"/>
                    <a:pt x="1587" y="20"/>
                  </a:cubicBezTo>
                  <a:cubicBezTo>
                    <a:pt x="1595" y="26"/>
                    <a:pt x="1602" y="32"/>
                    <a:pt x="1609" y="38"/>
                  </a:cubicBezTo>
                  <a:cubicBezTo>
                    <a:pt x="1649" y="38"/>
                    <a:pt x="1688" y="38"/>
                    <a:pt x="1728" y="38"/>
                  </a:cubicBezTo>
                  <a:cubicBezTo>
                    <a:pt x="1719" y="32"/>
                    <a:pt x="1711" y="26"/>
                    <a:pt x="1702" y="20"/>
                  </a:cubicBezTo>
                  <a:cubicBezTo>
                    <a:pt x="1693" y="14"/>
                    <a:pt x="1684" y="8"/>
                    <a:pt x="1675" y="2"/>
                  </a:cubicBezTo>
                  <a:cubicBezTo>
                    <a:pt x="1566" y="2"/>
                    <a:pt x="1566" y="2"/>
                    <a:pt x="1566" y="2"/>
                  </a:cubicBezTo>
                  <a:cubicBezTo>
                    <a:pt x="1566" y="4"/>
                    <a:pt x="1566" y="4"/>
                    <a:pt x="1566" y="4"/>
                  </a:cubicBezTo>
                  <a:close/>
                  <a:moveTo>
                    <a:pt x="1627" y="52"/>
                  </a:moveTo>
                  <a:cubicBezTo>
                    <a:pt x="1667" y="52"/>
                    <a:pt x="1708" y="52"/>
                    <a:pt x="1749" y="52"/>
                  </a:cubicBezTo>
                  <a:cubicBezTo>
                    <a:pt x="1758" y="57"/>
                    <a:pt x="1767" y="63"/>
                    <a:pt x="1776" y="69"/>
                  </a:cubicBezTo>
                  <a:cubicBezTo>
                    <a:pt x="1785" y="75"/>
                    <a:pt x="1794" y="81"/>
                    <a:pt x="1803" y="87"/>
                  </a:cubicBezTo>
                  <a:cubicBezTo>
                    <a:pt x="1759" y="87"/>
                    <a:pt x="1715" y="87"/>
                    <a:pt x="1672" y="87"/>
                  </a:cubicBezTo>
                  <a:cubicBezTo>
                    <a:pt x="1664" y="81"/>
                    <a:pt x="1657" y="75"/>
                    <a:pt x="1649" y="69"/>
                  </a:cubicBezTo>
                  <a:cubicBezTo>
                    <a:pt x="1642" y="63"/>
                    <a:pt x="1634" y="58"/>
                    <a:pt x="1627" y="52"/>
                  </a:cubicBezTo>
                  <a:close/>
                  <a:moveTo>
                    <a:pt x="337" y="105"/>
                  </a:moveTo>
                  <a:cubicBezTo>
                    <a:pt x="490" y="105"/>
                    <a:pt x="490" y="105"/>
                    <a:pt x="490" y="105"/>
                  </a:cubicBezTo>
                  <a:cubicBezTo>
                    <a:pt x="633" y="104"/>
                    <a:pt x="776" y="104"/>
                    <a:pt x="920" y="104"/>
                  </a:cubicBezTo>
                  <a:cubicBezTo>
                    <a:pt x="919" y="110"/>
                    <a:pt x="918" y="116"/>
                    <a:pt x="917" y="122"/>
                  </a:cubicBezTo>
                  <a:cubicBezTo>
                    <a:pt x="916" y="128"/>
                    <a:pt x="915" y="134"/>
                    <a:pt x="914" y="140"/>
                  </a:cubicBezTo>
                  <a:cubicBezTo>
                    <a:pt x="762" y="141"/>
                    <a:pt x="609" y="141"/>
                    <a:pt x="457" y="142"/>
                  </a:cubicBezTo>
                  <a:cubicBezTo>
                    <a:pt x="337" y="142"/>
                    <a:pt x="337" y="142"/>
                    <a:pt x="337" y="142"/>
                  </a:cubicBezTo>
                  <a:cubicBezTo>
                    <a:pt x="337" y="105"/>
                    <a:pt x="337" y="105"/>
                    <a:pt x="337" y="105"/>
                  </a:cubicBezTo>
                  <a:close/>
                  <a:moveTo>
                    <a:pt x="1566" y="2"/>
                  </a:moveTo>
                  <a:cubicBezTo>
                    <a:pt x="1566" y="4"/>
                    <a:pt x="1566" y="4"/>
                    <a:pt x="1566" y="4"/>
                  </a:cubicBezTo>
                  <a:cubicBezTo>
                    <a:pt x="1564" y="2"/>
                    <a:pt x="1564" y="2"/>
                    <a:pt x="1564" y="2"/>
                  </a:cubicBezTo>
                  <a:cubicBezTo>
                    <a:pt x="1566" y="2"/>
                    <a:pt x="1566" y="2"/>
                    <a:pt x="1566" y="2"/>
                  </a:cubicBezTo>
                  <a:close/>
                  <a:moveTo>
                    <a:pt x="1566" y="36"/>
                  </a:moveTo>
                  <a:cubicBezTo>
                    <a:pt x="1560" y="31"/>
                    <a:pt x="1554" y="25"/>
                    <a:pt x="1548" y="20"/>
                  </a:cubicBezTo>
                  <a:cubicBezTo>
                    <a:pt x="1541" y="14"/>
                    <a:pt x="1533" y="8"/>
                    <a:pt x="1527" y="2"/>
                  </a:cubicBezTo>
                  <a:cubicBezTo>
                    <a:pt x="1490" y="2"/>
                    <a:pt x="1453" y="2"/>
                    <a:pt x="1416" y="2"/>
                  </a:cubicBezTo>
                  <a:cubicBezTo>
                    <a:pt x="1422" y="8"/>
                    <a:pt x="1427" y="14"/>
                    <a:pt x="1433" y="20"/>
                  </a:cubicBezTo>
                  <a:cubicBezTo>
                    <a:pt x="1439" y="26"/>
                    <a:pt x="1444" y="32"/>
                    <a:pt x="1449" y="38"/>
                  </a:cubicBezTo>
                  <a:cubicBezTo>
                    <a:pt x="1488" y="38"/>
                    <a:pt x="1527" y="38"/>
                    <a:pt x="1566" y="38"/>
                  </a:cubicBezTo>
                  <a:cubicBezTo>
                    <a:pt x="1566" y="36"/>
                    <a:pt x="1566" y="36"/>
                    <a:pt x="1566" y="36"/>
                  </a:cubicBezTo>
                  <a:close/>
                  <a:moveTo>
                    <a:pt x="1566" y="52"/>
                  </a:moveTo>
                  <a:cubicBezTo>
                    <a:pt x="1566" y="87"/>
                    <a:pt x="1566" y="87"/>
                    <a:pt x="1566" y="87"/>
                  </a:cubicBezTo>
                  <a:cubicBezTo>
                    <a:pt x="1495" y="88"/>
                    <a:pt x="1495" y="88"/>
                    <a:pt x="1495" y="88"/>
                  </a:cubicBezTo>
                  <a:cubicBezTo>
                    <a:pt x="1490" y="82"/>
                    <a:pt x="1484" y="76"/>
                    <a:pt x="1479" y="70"/>
                  </a:cubicBezTo>
                  <a:cubicBezTo>
                    <a:pt x="1473" y="64"/>
                    <a:pt x="1468" y="58"/>
                    <a:pt x="1462" y="52"/>
                  </a:cubicBezTo>
                  <a:cubicBezTo>
                    <a:pt x="1497" y="52"/>
                    <a:pt x="1532" y="52"/>
                    <a:pt x="1566" y="52"/>
                  </a:cubicBezTo>
                  <a:close/>
                  <a:moveTo>
                    <a:pt x="1566" y="102"/>
                  </a:moveTo>
                  <a:cubicBezTo>
                    <a:pt x="1566" y="138"/>
                    <a:pt x="1566" y="138"/>
                    <a:pt x="1566" y="138"/>
                  </a:cubicBezTo>
                  <a:cubicBezTo>
                    <a:pt x="1517" y="138"/>
                    <a:pt x="1517" y="138"/>
                    <a:pt x="1517" y="138"/>
                  </a:cubicBezTo>
                  <a:cubicBezTo>
                    <a:pt x="1397" y="139"/>
                    <a:pt x="1277" y="139"/>
                    <a:pt x="1157" y="140"/>
                  </a:cubicBezTo>
                  <a:cubicBezTo>
                    <a:pt x="1155" y="133"/>
                    <a:pt x="1153" y="127"/>
                    <a:pt x="1152" y="121"/>
                  </a:cubicBezTo>
                  <a:cubicBezTo>
                    <a:pt x="1150" y="115"/>
                    <a:pt x="1149" y="109"/>
                    <a:pt x="1147" y="103"/>
                  </a:cubicBezTo>
                  <a:cubicBezTo>
                    <a:pt x="1260" y="103"/>
                    <a:pt x="1373" y="103"/>
                    <a:pt x="1486" y="103"/>
                  </a:cubicBezTo>
                  <a:cubicBezTo>
                    <a:pt x="1566" y="102"/>
                    <a:pt x="1566" y="102"/>
                    <a:pt x="1566" y="102"/>
                  </a:cubicBezTo>
                  <a:close/>
                  <a:moveTo>
                    <a:pt x="337" y="90"/>
                  </a:moveTo>
                  <a:cubicBezTo>
                    <a:pt x="337" y="52"/>
                    <a:pt x="337" y="52"/>
                    <a:pt x="337" y="52"/>
                  </a:cubicBezTo>
                  <a:cubicBezTo>
                    <a:pt x="369" y="52"/>
                    <a:pt x="401" y="52"/>
                    <a:pt x="434" y="52"/>
                  </a:cubicBezTo>
                  <a:cubicBezTo>
                    <a:pt x="427" y="59"/>
                    <a:pt x="420" y="65"/>
                    <a:pt x="414" y="71"/>
                  </a:cubicBezTo>
                  <a:cubicBezTo>
                    <a:pt x="407" y="77"/>
                    <a:pt x="400" y="83"/>
                    <a:pt x="393" y="89"/>
                  </a:cubicBezTo>
                  <a:cubicBezTo>
                    <a:pt x="337" y="90"/>
                    <a:pt x="337" y="90"/>
                    <a:pt x="337" y="90"/>
                  </a:cubicBezTo>
                  <a:close/>
                  <a:moveTo>
                    <a:pt x="337" y="38"/>
                  </a:moveTo>
                  <a:cubicBezTo>
                    <a:pt x="337" y="34"/>
                    <a:pt x="337" y="34"/>
                    <a:pt x="337" y="34"/>
                  </a:cubicBezTo>
                  <a:cubicBezTo>
                    <a:pt x="343" y="29"/>
                    <a:pt x="349" y="24"/>
                    <a:pt x="356" y="19"/>
                  </a:cubicBezTo>
                  <a:cubicBezTo>
                    <a:pt x="364" y="13"/>
                    <a:pt x="372" y="7"/>
                    <a:pt x="380" y="1"/>
                  </a:cubicBezTo>
                  <a:cubicBezTo>
                    <a:pt x="417" y="1"/>
                    <a:pt x="453" y="1"/>
                    <a:pt x="490" y="1"/>
                  </a:cubicBezTo>
                  <a:cubicBezTo>
                    <a:pt x="483" y="7"/>
                    <a:pt x="477" y="13"/>
                    <a:pt x="470" y="19"/>
                  </a:cubicBezTo>
                  <a:cubicBezTo>
                    <a:pt x="463" y="25"/>
                    <a:pt x="456" y="32"/>
                    <a:pt x="450" y="38"/>
                  </a:cubicBezTo>
                  <a:cubicBezTo>
                    <a:pt x="412" y="38"/>
                    <a:pt x="374" y="38"/>
                    <a:pt x="337" y="38"/>
                  </a:cubicBezTo>
                  <a:close/>
                  <a:moveTo>
                    <a:pt x="337" y="5"/>
                  </a:moveTo>
                  <a:cubicBezTo>
                    <a:pt x="338" y="3"/>
                    <a:pt x="340" y="2"/>
                    <a:pt x="342" y="1"/>
                  </a:cubicBezTo>
                  <a:cubicBezTo>
                    <a:pt x="337" y="1"/>
                    <a:pt x="337" y="1"/>
                    <a:pt x="337" y="1"/>
                  </a:cubicBezTo>
                  <a:cubicBezTo>
                    <a:pt x="337" y="5"/>
                    <a:pt x="337" y="5"/>
                    <a:pt x="337" y="5"/>
                  </a:cubicBezTo>
                  <a:close/>
                  <a:moveTo>
                    <a:pt x="966" y="104"/>
                  </a:moveTo>
                  <a:cubicBezTo>
                    <a:pt x="1011" y="104"/>
                    <a:pt x="1056" y="103"/>
                    <a:pt x="1101" y="103"/>
                  </a:cubicBezTo>
                  <a:cubicBezTo>
                    <a:pt x="1102" y="109"/>
                    <a:pt x="1103" y="115"/>
                    <a:pt x="1104" y="121"/>
                  </a:cubicBezTo>
                  <a:cubicBezTo>
                    <a:pt x="1105" y="128"/>
                    <a:pt x="1106" y="134"/>
                    <a:pt x="1107" y="140"/>
                  </a:cubicBezTo>
                  <a:cubicBezTo>
                    <a:pt x="1059" y="140"/>
                    <a:pt x="1012" y="140"/>
                    <a:pt x="964" y="140"/>
                  </a:cubicBezTo>
                  <a:cubicBezTo>
                    <a:pt x="964" y="134"/>
                    <a:pt x="965" y="128"/>
                    <a:pt x="965" y="122"/>
                  </a:cubicBezTo>
                  <a:cubicBezTo>
                    <a:pt x="965" y="116"/>
                    <a:pt x="966" y="110"/>
                    <a:pt x="966" y="104"/>
                  </a:cubicBezTo>
                  <a:close/>
                  <a:moveTo>
                    <a:pt x="476" y="52"/>
                  </a:moveTo>
                  <a:cubicBezTo>
                    <a:pt x="517" y="52"/>
                    <a:pt x="558" y="52"/>
                    <a:pt x="598" y="52"/>
                  </a:cubicBezTo>
                  <a:cubicBezTo>
                    <a:pt x="594" y="58"/>
                    <a:pt x="589" y="64"/>
                    <a:pt x="584" y="71"/>
                  </a:cubicBezTo>
                  <a:cubicBezTo>
                    <a:pt x="579" y="77"/>
                    <a:pt x="574" y="83"/>
                    <a:pt x="570" y="89"/>
                  </a:cubicBezTo>
                  <a:cubicBezTo>
                    <a:pt x="526" y="89"/>
                    <a:pt x="482" y="89"/>
                    <a:pt x="438" y="89"/>
                  </a:cubicBezTo>
                  <a:cubicBezTo>
                    <a:pt x="445" y="83"/>
                    <a:pt x="451" y="77"/>
                    <a:pt x="457" y="71"/>
                  </a:cubicBezTo>
                  <a:cubicBezTo>
                    <a:pt x="464" y="65"/>
                    <a:pt x="470" y="58"/>
                    <a:pt x="476" y="52"/>
                  </a:cubicBezTo>
                  <a:close/>
                  <a:moveTo>
                    <a:pt x="640" y="52"/>
                  </a:moveTo>
                  <a:cubicBezTo>
                    <a:pt x="681" y="52"/>
                    <a:pt x="722" y="52"/>
                    <a:pt x="763" y="52"/>
                  </a:cubicBezTo>
                  <a:cubicBezTo>
                    <a:pt x="760" y="58"/>
                    <a:pt x="757" y="64"/>
                    <a:pt x="754" y="71"/>
                  </a:cubicBezTo>
                  <a:cubicBezTo>
                    <a:pt x="751" y="77"/>
                    <a:pt x="749" y="83"/>
                    <a:pt x="746" y="89"/>
                  </a:cubicBezTo>
                  <a:cubicBezTo>
                    <a:pt x="702" y="89"/>
                    <a:pt x="658" y="89"/>
                    <a:pt x="615" y="89"/>
                  </a:cubicBezTo>
                  <a:cubicBezTo>
                    <a:pt x="619" y="83"/>
                    <a:pt x="623" y="77"/>
                    <a:pt x="628" y="71"/>
                  </a:cubicBezTo>
                  <a:cubicBezTo>
                    <a:pt x="632" y="65"/>
                    <a:pt x="636" y="58"/>
                    <a:pt x="640" y="52"/>
                  </a:cubicBezTo>
                  <a:close/>
                  <a:moveTo>
                    <a:pt x="805" y="52"/>
                  </a:moveTo>
                  <a:cubicBezTo>
                    <a:pt x="846" y="52"/>
                    <a:pt x="886" y="52"/>
                    <a:pt x="927" y="52"/>
                  </a:cubicBezTo>
                  <a:cubicBezTo>
                    <a:pt x="926" y="58"/>
                    <a:pt x="925" y="64"/>
                    <a:pt x="924" y="70"/>
                  </a:cubicBezTo>
                  <a:cubicBezTo>
                    <a:pt x="924" y="76"/>
                    <a:pt x="923" y="82"/>
                    <a:pt x="922" y="89"/>
                  </a:cubicBezTo>
                  <a:cubicBezTo>
                    <a:pt x="878" y="89"/>
                    <a:pt x="834" y="89"/>
                    <a:pt x="791" y="89"/>
                  </a:cubicBezTo>
                  <a:cubicBezTo>
                    <a:pt x="793" y="83"/>
                    <a:pt x="796" y="77"/>
                    <a:pt x="798" y="70"/>
                  </a:cubicBezTo>
                  <a:cubicBezTo>
                    <a:pt x="800" y="64"/>
                    <a:pt x="802" y="58"/>
                    <a:pt x="805" y="52"/>
                  </a:cubicBezTo>
                  <a:close/>
                  <a:moveTo>
                    <a:pt x="969" y="52"/>
                  </a:moveTo>
                  <a:cubicBezTo>
                    <a:pt x="1010" y="52"/>
                    <a:pt x="1051" y="52"/>
                    <a:pt x="1091" y="52"/>
                  </a:cubicBezTo>
                  <a:cubicBezTo>
                    <a:pt x="1092" y="58"/>
                    <a:pt x="1093" y="64"/>
                    <a:pt x="1095" y="70"/>
                  </a:cubicBezTo>
                  <a:cubicBezTo>
                    <a:pt x="1096" y="76"/>
                    <a:pt x="1097" y="82"/>
                    <a:pt x="1098" y="88"/>
                  </a:cubicBezTo>
                  <a:cubicBezTo>
                    <a:pt x="1054" y="88"/>
                    <a:pt x="1010" y="88"/>
                    <a:pt x="967" y="88"/>
                  </a:cubicBezTo>
                  <a:cubicBezTo>
                    <a:pt x="967" y="82"/>
                    <a:pt x="968" y="76"/>
                    <a:pt x="968" y="70"/>
                  </a:cubicBezTo>
                  <a:cubicBezTo>
                    <a:pt x="968" y="64"/>
                    <a:pt x="969" y="58"/>
                    <a:pt x="969" y="52"/>
                  </a:cubicBezTo>
                  <a:close/>
                  <a:moveTo>
                    <a:pt x="1133" y="52"/>
                  </a:moveTo>
                  <a:cubicBezTo>
                    <a:pt x="1174" y="52"/>
                    <a:pt x="1215" y="52"/>
                    <a:pt x="1256" y="52"/>
                  </a:cubicBezTo>
                  <a:cubicBezTo>
                    <a:pt x="1259" y="58"/>
                    <a:pt x="1262" y="64"/>
                    <a:pt x="1265" y="70"/>
                  </a:cubicBezTo>
                  <a:cubicBezTo>
                    <a:pt x="1268" y="76"/>
                    <a:pt x="1271" y="82"/>
                    <a:pt x="1274" y="88"/>
                  </a:cubicBezTo>
                  <a:cubicBezTo>
                    <a:pt x="1230" y="88"/>
                    <a:pt x="1187" y="88"/>
                    <a:pt x="1143" y="88"/>
                  </a:cubicBezTo>
                  <a:cubicBezTo>
                    <a:pt x="1142" y="82"/>
                    <a:pt x="1140" y="76"/>
                    <a:pt x="1138" y="70"/>
                  </a:cubicBezTo>
                  <a:cubicBezTo>
                    <a:pt x="1137" y="64"/>
                    <a:pt x="1135" y="58"/>
                    <a:pt x="1133" y="52"/>
                  </a:cubicBezTo>
                  <a:close/>
                  <a:moveTo>
                    <a:pt x="1298" y="52"/>
                  </a:moveTo>
                  <a:cubicBezTo>
                    <a:pt x="1339" y="52"/>
                    <a:pt x="1379" y="52"/>
                    <a:pt x="1420" y="52"/>
                  </a:cubicBezTo>
                  <a:cubicBezTo>
                    <a:pt x="1425" y="58"/>
                    <a:pt x="1430" y="64"/>
                    <a:pt x="1435" y="70"/>
                  </a:cubicBezTo>
                  <a:cubicBezTo>
                    <a:pt x="1440" y="76"/>
                    <a:pt x="1445" y="82"/>
                    <a:pt x="1450" y="88"/>
                  </a:cubicBezTo>
                  <a:cubicBezTo>
                    <a:pt x="1406" y="88"/>
                    <a:pt x="1363" y="88"/>
                    <a:pt x="1319" y="88"/>
                  </a:cubicBezTo>
                  <a:cubicBezTo>
                    <a:pt x="1316" y="82"/>
                    <a:pt x="1312" y="76"/>
                    <a:pt x="1309" y="70"/>
                  </a:cubicBezTo>
                  <a:cubicBezTo>
                    <a:pt x="1305" y="64"/>
                    <a:pt x="1301" y="58"/>
                    <a:pt x="1298" y="52"/>
                  </a:cubicBezTo>
                  <a:close/>
                  <a:moveTo>
                    <a:pt x="528" y="1"/>
                  </a:moveTo>
                  <a:cubicBezTo>
                    <a:pt x="565" y="1"/>
                    <a:pt x="602" y="1"/>
                    <a:pt x="638" y="1"/>
                  </a:cubicBezTo>
                  <a:cubicBezTo>
                    <a:pt x="634" y="7"/>
                    <a:pt x="629" y="13"/>
                    <a:pt x="624" y="19"/>
                  </a:cubicBezTo>
                  <a:cubicBezTo>
                    <a:pt x="619" y="26"/>
                    <a:pt x="614" y="32"/>
                    <a:pt x="610" y="38"/>
                  </a:cubicBezTo>
                  <a:cubicBezTo>
                    <a:pt x="570" y="38"/>
                    <a:pt x="530" y="38"/>
                    <a:pt x="491" y="38"/>
                  </a:cubicBezTo>
                  <a:cubicBezTo>
                    <a:pt x="497" y="32"/>
                    <a:pt x="503" y="26"/>
                    <a:pt x="509" y="19"/>
                  </a:cubicBezTo>
                  <a:cubicBezTo>
                    <a:pt x="516" y="13"/>
                    <a:pt x="522" y="7"/>
                    <a:pt x="528" y="1"/>
                  </a:cubicBezTo>
                  <a:close/>
                  <a:moveTo>
                    <a:pt x="676" y="1"/>
                  </a:moveTo>
                  <a:cubicBezTo>
                    <a:pt x="713" y="1"/>
                    <a:pt x="750" y="1"/>
                    <a:pt x="786" y="1"/>
                  </a:cubicBezTo>
                  <a:cubicBezTo>
                    <a:pt x="783" y="7"/>
                    <a:pt x="781" y="13"/>
                    <a:pt x="778" y="19"/>
                  </a:cubicBezTo>
                  <a:cubicBezTo>
                    <a:pt x="775" y="26"/>
                    <a:pt x="772" y="32"/>
                    <a:pt x="769" y="38"/>
                  </a:cubicBezTo>
                  <a:cubicBezTo>
                    <a:pt x="730" y="38"/>
                    <a:pt x="690" y="38"/>
                    <a:pt x="650" y="38"/>
                  </a:cubicBezTo>
                  <a:cubicBezTo>
                    <a:pt x="655" y="32"/>
                    <a:pt x="659" y="26"/>
                    <a:pt x="663" y="19"/>
                  </a:cubicBezTo>
                  <a:cubicBezTo>
                    <a:pt x="668" y="13"/>
                    <a:pt x="672" y="7"/>
                    <a:pt x="676" y="1"/>
                  </a:cubicBezTo>
                  <a:close/>
                  <a:moveTo>
                    <a:pt x="824" y="1"/>
                  </a:moveTo>
                  <a:cubicBezTo>
                    <a:pt x="861" y="1"/>
                    <a:pt x="898" y="1"/>
                    <a:pt x="934" y="1"/>
                  </a:cubicBezTo>
                  <a:cubicBezTo>
                    <a:pt x="933" y="7"/>
                    <a:pt x="933" y="13"/>
                    <a:pt x="932" y="20"/>
                  </a:cubicBezTo>
                  <a:cubicBezTo>
                    <a:pt x="931" y="26"/>
                    <a:pt x="930" y="32"/>
                    <a:pt x="929" y="38"/>
                  </a:cubicBezTo>
                  <a:cubicBezTo>
                    <a:pt x="889" y="38"/>
                    <a:pt x="850" y="38"/>
                    <a:pt x="810" y="38"/>
                  </a:cubicBezTo>
                  <a:cubicBezTo>
                    <a:pt x="813" y="32"/>
                    <a:pt x="815" y="26"/>
                    <a:pt x="817" y="19"/>
                  </a:cubicBezTo>
                  <a:cubicBezTo>
                    <a:pt x="820" y="13"/>
                    <a:pt x="822" y="7"/>
                    <a:pt x="824" y="1"/>
                  </a:cubicBezTo>
                  <a:close/>
                  <a:moveTo>
                    <a:pt x="972" y="1"/>
                  </a:moveTo>
                  <a:cubicBezTo>
                    <a:pt x="1009" y="1"/>
                    <a:pt x="1046" y="1"/>
                    <a:pt x="1082" y="1"/>
                  </a:cubicBezTo>
                  <a:cubicBezTo>
                    <a:pt x="1084" y="8"/>
                    <a:pt x="1085" y="14"/>
                    <a:pt x="1086" y="20"/>
                  </a:cubicBezTo>
                  <a:cubicBezTo>
                    <a:pt x="1087" y="26"/>
                    <a:pt x="1088" y="32"/>
                    <a:pt x="1089" y="38"/>
                  </a:cubicBezTo>
                  <a:cubicBezTo>
                    <a:pt x="1049" y="38"/>
                    <a:pt x="1010" y="38"/>
                    <a:pt x="970" y="38"/>
                  </a:cubicBezTo>
                  <a:cubicBezTo>
                    <a:pt x="970" y="32"/>
                    <a:pt x="971" y="26"/>
                    <a:pt x="971" y="20"/>
                  </a:cubicBezTo>
                  <a:cubicBezTo>
                    <a:pt x="972" y="13"/>
                    <a:pt x="972" y="7"/>
                    <a:pt x="972" y="1"/>
                  </a:cubicBezTo>
                  <a:close/>
                  <a:moveTo>
                    <a:pt x="1120" y="1"/>
                  </a:moveTo>
                  <a:cubicBezTo>
                    <a:pt x="1157" y="2"/>
                    <a:pt x="1194" y="2"/>
                    <a:pt x="1230" y="2"/>
                  </a:cubicBezTo>
                  <a:cubicBezTo>
                    <a:pt x="1234" y="8"/>
                    <a:pt x="1237" y="14"/>
                    <a:pt x="1240" y="20"/>
                  </a:cubicBezTo>
                  <a:cubicBezTo>
                    <a:pt x="1243" y="26"/>
                    <a:pt x="1246" y="32"/>
                    <a:pt x="1249" y="38"/>
                  </a:cubicBezTo>
                  <a:cubicBezTo>
                    <a:pt x="1209" y="38"/>
                    <a:pt x="1169" y="38"/>
                    <a:pt x="1130" y="38"/>
                  </a:cubicBezTo>
                  <a:cubicBezTo>
                    <a:pt x="1128" y="32"/>
                    <a:pt x="1127" y="26"/>
                    <a:pt x="1125" y="20"/>
                  </a:cubicBezTo>
                  <a:cubicBezTo>
                    <a:pt x="1123" y="14"/>
                    <a:pt x="1122" y="8"/>
                    <a:pt x="1120" y="1"/>
                  </a:cubicBezTo>
                  <a:close/>
                  <a:moveTo>
                    <a:pt x="1268" y="2"/>
                  </a:moveTo>
                  <a:cubicBezTo>
                    <a:pt x="1305" y="2"/>
                    <a:pt x="1342" y="2"/>
                    <a:pt x="1378" y="2"/>
                  </a:cubicBezTo>
                  <a:cubicBezTo>
                    <a:pt x="1384" y="8"/>
                    <a:pt x="1389" y="14"/>
                    <a:pt x="1393" y="20"/>
                  </a:cubicBezTo>
                  <a:cubicBezTo>
                    <a:pt x="1399" y="26"/>
                    <a:pt x="1404" y="32"/>
                    <a:pt x="1409" y="38"/>
                  </a:cubicBezTo>
                  <a:cubicBezTo>
                    <a:pt x="1369" y="38"/>
                    <a:pt x="1329" y="38"/>
                    <a:pt x="1290" y="38"/>
                  </a:cubicBezTo>
                  <a:cubicBezTo>
                    <a:pt x="1286" y="32"/>
                    <a:pt x="1282" y="26"/>
                    <a:pt x="1279" y="20"/>
                  </a:cubicBezTo>
                  <a:cubicBezTo>
                    <a:pt x="1275" y="14"/>
                    <a:pt x="1272" y="8"/>
                    <a:pt x="1268" y="2"/>
                  </a:cubicBezTo>
                  <a:close/>
                  <a:moveTo>
                    <a:pt x="266" y="105"/>
                  </a:moveTo>
                  <a:cubicBezTo>
                    <a:pt x="337" y="105"/>
                    <a:pt x="337" y="105"/>
                    <a:pt x="337" y="105"/>
                  </a:cubicBezTo>
                  <a:cubicBezTo>
                    <a:pt x="337" y="142"/>
                    <a:pt x="337" y="142"/>
                    <a:pt x="337" y="142"/>
                  </a:cubicBezTo>
                  <a:cubicBezTo>
                    <a:pt x="266" y="142"/>
                    <a:pt x="266" y="142"/>
                    <a:pt x="266" y="142"/>
                  </a:cubicBezTo>
                  <a:cubicBezTo>
                    <a:pt x="266" y="105"/>
                    <a:pt x="266" y="105"/>
                    <a:pt x="266" y="105"/>
                  </a:cubicBezTo>
                  <a:close/>
                  <a:moveTo>
                    <a:pt x="337" y="1"/>
                  </a:moveTo>
                  <a:cubicBezTo>
                    <a:pt x="337" y="5"/>
                    <a:pt x="337" y="5"/>
                    <a:pt x="337" y="5"/>
                  </a:cubicBezTo>
                  <a:cubicBezTo>
                    <a:pt x="330" y="9"/>
                    <a:pt x="323" y="14"/>
                    <a:pt x="316" y="19"/>
                  </a:cubicBezTo>
                  <a:cubicBezTo>
                    <a:pt x="307" y="25"/>
                    <a:pt x="298" y="32"/>
                    <a:pt x="290" y="38"/>
                  </a:cubicBezTo>
                  <a:cubicBezTo>
                    <a:pt x="266" y="38"/>
                    <a:pt x="266" y="38"/>
                    <a:pt x="266" y="38"/>
                  </a:cubicBezTo>
                  <a:cubicBezTo>
                    <a:pt x="266" y="0"/>
                    <a:pt x="266" y="0"/>
                    <a:pt x="266" y="0"/>
                  </a:cubicBezTo>
                  <a:cubicBezTo>
                    <a:pt x="290" y="0"/>
                    <a:pt x="313" y="1"/>
                    <a:pt x="337" y="1"/>
                  </a:cubicBezTo>
                  <a:close/>
                  <a:moveTo>
                    <a:pt x="337" y="34"/>
                  </a:moveTo>
                  <a:cubicBezTo>
                    <a:pt x="335" y="35"/>
                    <a:pt x="333" y="36"/>
                    <a:pt x="331" y="38"/>
                  </a:cubicBezTo>
                  <a:cubicBezTo>
                    <a:pt x="337" y="38"/>
                    <a:pt x="337" y="38"/>
                    <a:pt x="337" y="38"/>
                  </a:cubicBezTo>
                  <a:cubicBezTo>
                    <a:pt x="337" y="34"/>
                    <a:pt x="337" y="34"/>
                    <a:pt x="337" y="34"/>
                  </a:cubicBezTo>
                  <a:close/>
                  <a:moveTo>
                    <a:pt x="337" y="52"/>
                  </a:moveTo>
                  <a:cubicBezTo>
                    <a:pt x="337" y="90"/>
                    <a:pt x="337" y="90"/>
                    <a:pt x="337" y="90"/>
                  </a:cubicBezTo>
                  <a:cubicBezTo>
                    <a:pt x="266" y="90"/>
                    <a:pt x="266" y="90"/>
                    <a:pt x="266" y="90"/>
                  </a:cubicBezTo>
                  <a:cubicBezTo>
                    <a:pt x="266" y="87"/>
                    <a:pt x="266" y="87"/>
                    <a:pt x="266" y="87"/>
                  </a:cubicBezTo>
                  <a:cubicBezTo>
                    <a:pt x="273" y="82"/>
                    <a:pt x="280" y="76"/>
                    <a:pt x="287" y="71"/>
                  </a:cubicBezTo>
                  <a:cubicBezTo>
                    <a:pt x="295" y="65"/>
                    <a:pt x="304" y="59"/>
                    <a:pt x="312" y="52"/>
                  </a:cubicBezTo>
                  <a:cubicBezTo>
                    <a:pt x="337" y="52"/>
                    <a:pt x="337" y="52"/>
                    <a:pt x="337" y="52"/>
                  </a:cubicBezTo>
                  <a:close/>
                  <a:moveTo>
                    <a:pt x="266" y="55"/>
                  </a:moveTo>
                  <a:cubicBezTo>
                    <a:pt x="270" y="52"/>
                    <a:pt x="270" y="52"/>
                    <a:pt x="270" y="52"/>
                  </a:cubicBezTo>
                  <a:cubicBezTo>
                    <a:pt x="266" y="52"/>
                    <a:pt x="266" y="52"/>
                    <a:pt x="266" y="52"/>
                  </a:cubicBezTo>
                  <a:lnTo>
                    <a:pt x="266" y="55"/>
                  </a:lnTo>
                  <a:close/>
                  <a:moveTo>
                    <a:pt x="61" y="105"/>
                  </a:moveTo>
                  <a:cubicBezTo>
                    <a:pt x="266" y="105"/>
                    <a:pt x="266" y="105"/>
                    <a:pt x="266" y="105"/>
                  </a:cubicBezTo>
                  <a:cubicBezTo>
                    <a:pt x="266" y="142"/>
                    <a:pt x="266" y="142"/>
                    <a:pt x="266" y="142"/>
                  </a:cubicBezTo>
                  <a:cubicBezTo>
                    <a:pt x="177" y="142"/>
                    <a:pt x="89" y="143"/>
                    <a:pt x="0" y="143"/>
                  </a:cubicBezTo>
                  <a:cubicBezTo>
                    <a:pt x="10" y="137"/>
                    <a:pt x="20" y="130"/>
                    <a:pt x="31" y="124"/>
                  </a:cubicBezTo>
                  <a:cubicBezTo>
                    <a:pt x="41" y="118"/>
                    <a:pt x="51" y="112"/>
                    <a:pt x="61" y="105"/>
                  </a:cubicBezTo>
                  <a:close/>
                  <a:moveTo>
                    <a:pt x="266" y="0"/>
                  </a:moveTo>
                  <a:cubicBezTo>
                    <a:pt x="266" y="38"/>
                    <a:pt x="266" y="38"/>
                    <a:pt x="266" y="38"/>
                  </a:cubicBezTo>
                  <a:cubicBezTo>
                    <a:pt x="234" y="38"/>
                    <a:pt x="203" y="38"/>
                    <a:pt x="171" y="38"/>
                  </a:cubicBezTo>
                  <a:cubicBezTo>
                    <a:pt x="181" y="32"/>
                    <a:pt x="192" y="25"/>
                    <a:pt x="202" y="19"/>
                  </a:cubicBezTo>
                  <a:cubicBezTo>
                    <a:pt x="212" y="13"/>
                    <a:pt x="222" y="7"/>
                    <a:pt x="232" y="0"/>
                  </a:cubicBezTo>
                  <a:cubicBezTo>
                    <a:pt x="266" y="0"/>
                    <a:pt x="266" y="0"/>
                    <a:pt x="266" y="0"/>
                  </a:cubicBezTo>
                  <a:close/>
                  <a:moveTo>
                    <a:pt x="266" y="52"/>
                  </a:moveTo>
                  <a:cubicBezTo>
                    <a:pt x="266" y="55"/>
                    <a:pt x="266" y="55"/>
                    <a:pt x="266" y="55"/>
                  </a:cubicBezTo>
                  <a:cubicBezTo>
                    <a:pt x="258" y="60"/>
                    <a:pt x="251" y="66"/>
                    <a:pt x="243" y="71"/>
                  </a:cubicBezTo>
                  <a:cubicBezTo>
                    <a:pt x="235" y="77"/>
                    <a:pt x="226" y="84"/>
                    <a:pt x="217" y="90"/>
                  </a:cubicBezTo>
                  <a:cubicBezTo>
                    <a:pt x="174" y="90"/>
                    <a:pt x="130" y="90"/>
                    <a:pt x="86" y="90"/>
                  </a:cubicBezTo>
                  <a:cubicBezTo>
                    <a:pt x="97" y="84"/>
                    <a:pt x="107" y="77"/>
                    <a:pt x="117" y="71"/>
                  </a:cubicBezTo>
                  <a:cubicBezTo>
                    <a:pt x="127" y="65"/>
                    <a:pt x="137" y="59"/>
                    <a:pt x="148" y="52"/>
                  </a:cubicBezTo>
                  <a:cubicBezTo>
                    <a:pt x="187" y="52"/>
                    <a:pt x="226" y="52"/>
                    <a:pt x="266" y="52"/>
                  </a:cubicBezTo>
                  <a:close/>
                  <a:moveTo>
                    <a:pt x="266" y="87"/>
                  </a:moveTo>
                  <a:cubicBezTo>
                    <a:pt x="262" y="90"/>
                    <a:pt x="262" y="90"/>
                    <a:pt x="262" y="90"/>
                  </a:cubicBezTo>
                  <a:cubicBezTo>
                    <a:pt x="266" y="90"/>
                    <a:pt x="266" y="90"/>
                    <a:pt x="266" y="90"/>
                  </a:cubicBezTo>
                  <a:lnTo>
                    <a:pt x="266" y="87"/>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9" name="îṧļíďe"/>
            <p:cNvSpPr/>
            <p:nvPr/>
          </p:nvSpPr>
          <p:spPr bwMode="auto">
            <a:xfrm>
              <a:off x="4586658" y="1375213"/>
              <a:ext cx="2677754" cy="248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0" name="iṡḻïdè"/>
            <p:cNvSpPr/>
            <p:nvPr/>
          </p:nvSpPr>
          <p:spPr bwMode="auto">
            <a:xfrm>
              <a:off x="4586658" y="1569370"/>
              <a:ext cx="2641927" cy="54318"/>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1" name="ïsḻíḋê"/>
            <p:cNvSpPr/>
            <p:nvPr/>
          </p:nvSpPr>
          <p:spPr bwMode="auto">
            <a:xfrm>
              <a:off x="4586658" y="1451489"/>
              <a:ext cx="28892"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2" name="ïšļíḑê"/>
            <p:cNvSpPr/>
            <p:nvPr/>
          </p:nvSpPr>
          <p:spPr bwMode="auto">
            <a:xfrm>
              <a:off x="4651377" y="1500028"/>
              <a:ext cx="11557"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3" name="ïšḻîďê"/>
            <p:cNvSpPr/>
            <p:nvPr/>
          </p:nvSpPr>
          <p:spPr bwMode="auto">
            <a:xfrm>
              <a:off x="470107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4" name="îṩḻîḍè"/>
            <p:cNvSpPr/>
            <p:nvPr/>
          </p:nvSpPr>
          <p:spPr bwMode="auto">
            <a:xfrm>
              <a:off x="4750767"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5" name="iṣ1íḓé"/>
            <p:cNvSpPr/>
            <p:nvPr/>
          </p:nvSpPr>
          <p:spPr bwMode="auto">
            <a:xfrm>
              <a:off x="479930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6" name="i$ļïḍè"/>
            <p:cNvSpPr/>
            <p:nvPr/>
          </p:nvSpPr>
          <p:spPr bwMode="auto">
            <a:xfrm>
              <a:off x="4849001" y="1451489"/>
              <a:ext cx="28892"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7" name="íṩľíḑê"/>
            <p:cNvSpPr/>
            <p:nvPr/>
          </p:nvSpPr>
          <p:spPr bwMode="auto">
            <a:xfrm>
              <a:off x="4913720"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8" name="ï$lïḍê"/>
            <p:cNvSpPr/>
            <p:nvPr/>
          </p:nvSpPr>
          <p:spPr bwMode="auto">
            <a:xfrm>
              <a:off x="4961104" y="1500028"/>
              <a:ext cx="12713"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39" name="iṥľïḋé"/>
            <p:cNvSpPr/>
            <p:nvPr/>
          </p:nvSpPr>
          <p:spPr bwMode="auto">
            <a:xfrm>
              <a:off x="5011955"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0" name="î$ḷîḍé"/>
            <p:cNvSpPr/>
            <p:nvPr/>
          </p:nvSpPr>
          <p:spPr bwMode="auto">
            <a:xfrm>
              <a:off x="5061650"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1" name="ïṣ1ïḋè"/>
            <p:cNvSpPr/>
            <p:nvPr/>
          </p:nvSpPr>
          <p:spPr bwMode="auto">
            <a:xfrm>
              <a:off x="5110189"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2" name="ísľîḍè"/>
            <p:cNvSpPr/>
            <p:nvPr/>
          </p:nvSpPr>
          <p:spPr bwMode="auto">
            <a:xfrm>
              <a:off x="5173753"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3" name="íśḻïḓe"/>
            <p:cNvSpPr/>
            <p:nvPr/>
          </p:nvSpPr>
          <p:spPr bwMode="auto">
            <a:xfrm>
              <a:off x="522344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4" name="íślide"/>
            <p:cNvSpPr/>
            <p:nvPr/>
          </p:nvSpPr>
          <p:spPr bwMode="auto">
            <a:xfrm>
              <a:off x="5271987" y="1500028"/>
              <a:ext cx="11557"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5" name="isḻïḋe"/>
            <p:cNvSpPr/>
            <p:nvPr/>
          </p:nvSpPr>
          <p:spPr bwMode="auto">
            <a:xfrm>
              <a:off x="532168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6" name="îṧ1ïḋe"/>
            <p:cNvSpPr/>
            <p:nvPr/>
          </p:nvSpPr>
          <p:spPr bwMode="auto">
            <a:xfrm>
              <a:off x="5372533"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7" name="ïšḻïḍe"/>
            <p:cNvSpPr/>
            <p:nvPr/>
          </p:nvSpPr>
          <p:spPr bwMode="auto">
            <a:xfrm>
              <a:off x="543609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8" name="îṣ1ïḍê"/>
            <p:cNvSpPr/>
            <p:nvPr/>
          </p:nvSpPr>
          <p:spPr bwMode="auto">
            <a:xfrm>
              <a:off x="5484635"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49" name="îṥļîḋe"/>
            <p:cNvSpPr/>
            <p:nvPr/>
          </p:nvSpPr>
          <p:spPr bwMode="auto">
            <a:xfrm>
              <a:off x="5534330"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0" name="íşľïḓe"/>
            <p:cNvSpPr/>
            <p:nvPr/>
          </p:nvSpPr>
          <p:spPr bwMode="auto">
            <a:xfrm>
              <a:off x="558402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1" name="íśḻidé"/>
            <p:cNvSpPr/>
            <p:nvPr/>
          </p:nvSpPr>
          <p:spPr bwMode="auto">
            <a:xfrm>
              <a:off x="5632565"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2" name="íŝḻïdê"/>
            <p:cNvSpPr/>
            <p:nvPr/>
          </p:nvSpPr>
          <p:spPr bwMode="auto">
            <a:xfrm>
              <a:off x="569612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3" name="íṡḷiḍè"/>
            <p:cNvSpPr/>
            <p:nvPr/>
          </p:nvSpPr>
          <p:spPr bwMode="auto">
            <a:xfrm>
              <a:off x="5746979"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4" name="iśḷiḋé"/>
            <p:cNvSpPr/>
            <p:nvPr/>
          </p:nvSpPr>
          <p:spPr bwMode="auto">
            <a:xfrm>
              <a:off x="5794363"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5" name="îSļïḋè"/>
            <p:cNvSpPr/>
            <p:nvPr/>
          </p:nvSpPr>
          <p:spPr bwMode="auto">
            <a:xfrm>
              <a:off x="5845213"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6" name="îS1îḑe"/>
            <p:cNvSpPr/>
            <p:nvPr/>
          </p:nvSpPr>
          <p:spPr bwMode="auto">
            <a:xfrm>
              <a:off x="5894908"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7" name="íśļîḍê"/>
            <p:cNvSpPr/>
            <p:nvPr/>
          </p:nvSpPr>
          <p:spPr bwMode="auto">
            <a:xfrm>
              <a:off x="595847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8" name="ïşļîḋê"/>
            <p:cNvSpPr/>
            <p:nvPr/>
          </p:nvSpPr>
          <p:spPr bwMode="auto">
            <a:xfrm>
              <a:off x="6007011"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59" name="íṩľiḓé"/>
            <p:cNvSpPr/>
            <p:nvPr/>
          </p:nvSpPr>
          <p:spPr bwMode="auto">
            <a:xfrm>
              <a:off x="605670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0" name="íś1iḑê"/>
            <p:cNvSpPr/>
            <p:nvPr/>
          </p:nvSpPr>
          <p:spPr bwMode="auto">
            <a:xfrm>
              <a:off x="6105246"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1" name="ïṥľîḋe"/>
            <p:cNvSpPr/>
            <p:nvPr/>
          </p:nvSpPr>
          <p:spPr bwMode="auto">
            <a:xfrm>
              <a:off x="6154941"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2" name="ïṥḻîḓe"/>
            <p:cNvSpPr/>
            <p:nvPr/>
          </p:nvSpPr>
          <p:spPr bwMode="auto">
            <a:xfrm>
              <a:off x="6219660"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3" name="ïṥḷïdè"/>
            <p:cNvSpPr/>
            <p:nvPr/>
          </p:nvSpPr>
          <p:spPr bwMode="auto">
            <a:xfrm>
              <a:off x="6269355"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4" name="işḷïḑê"/>
            <p:cNvSpPr/>
            <p:nvPr/>
          </p:nvSpPr>
          <p:spPr bwMode="auto">
            <a:xfrm>
              <a:off x="631673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5" name="ïṩlîḋe"/>
            <p:cNvSpPr/>
            <p:nvPr/>
          </p:nvSpPr>
          <p:spPr bwMode="auto">
            <a:xfrm>
              <a:off x="6367589"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6" name="isḷîḑê"/>
            <p:cNvSpPr/>
            <p:nvPr/>
          </p:nvSpPr>
          <p:spPr bwMode="auto">
            <a:xfrm>
              <a:off x="6414973" y="1451489"/>
              <a:ext cx="30048"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7" name="íṡḷíďé"/>
            <p:cNvSpPr/>
            <p:nvPr/>
          </p:nvSpPr>
          <p:spPr bwMode="auto">
            <a:xfrm>
              <a:off x="6479692" y="1500028"/>
              <a:ext cx="11557"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8" name="ïŝḷíḋe"/>
            <p:cNvSpPr/>
            <p:nvPr/>
          </p:nvSpPr>
          <p:spPr bwMode="auto">
            <a:xfrm>
              <a:off x="6529387"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69" name="îṥlïdé"/>
            <p:cNvSpPr/>
            <p:nvPr/>
          </p:nvSpPr>
          <p:spPr bwMode="auto">
            <a:xfrm>
              <a:off x="657908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0" name="i$ḻîḑé"/>
            <p:cNvSpPr/>
            <p:nvPr/>
          </p:nvSpPr>
          <p:spPr bwMode="auto">
            <a:xfrm>
              <a:off x="6627621"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1" name="ïśľîḑé"/>
            <p:cNvSpPr/>
            <p:nvPr/>
          </p:nvSpPr>
          <p:spPr bwMode="auto">
            <a:xfrm>
              <a:off x="6677316" y="1451489"/>
              <a:ext cx="28892"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2" name="íSḻïḑé"/>
            <p:cNvSpPr/>
            <p:nvPr/>
          </p:nvSpPr>
          <p:spPr bwMode="auto">
            <a:xfrm>
              <a:off x="6742036"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3" name="îŝ1iḓê"/>
            <p:cNvSpPr/>
            <p:nvPr/>
          </p:nvSpPr>
          <p:spPr bwMode="auto">
            <a:xfrm>
              <a:off x="6791731"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4" name="iṣliḓé"/>
            <p:cNvSpPr/>
            <p:nvPr/>
          </p:nvSpPr>
          <p:spPr bwMode="auto">
            <a:xfrm>
              <a:off x="6840270"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5" name="ïś1iḑè"/>
            <p:cNvSpPr/>
            <p:nvPr/>
          </p:nvSpPr>
          <p:spPr bwMode="auto">
            <a:xfrm>
              <a:off x="6889965"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6" name="ïšḷïḓé"/>
            <p:cNvSpPr/>
            <p:nvPr/>
          </p:nvSpPr>
          <p:spPr bwMode="auto">
            <a:xfrm>
              <a:off x="6938504"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7" name="í$1íďe"/>
            <p:cNvSpPr/>
            <p:nvPr/>
          </p:nvSpPr>
          <p:spPr bwMode="auto">
            <a:xfrm>
              <a:off x="700206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8" name="iš1îḋè"/>
            <p:cNvSpPr/>
            <p:nvPr/>
          </p:nvSpPr>
          <p:spPr bwMode="auto">
            <a:xfrm>
              <a:off x="7051763"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79" name="íşľiḍê"/>
            <p:cNvSpPr/>
            <p:nvPr/>
          </p:nvSpPr>
          <p:spPr bwMode="auto">
            <a:xfrm>
              <a:off x="7102613"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80" name="îŝļîḓè"/>
            <p:cNvSpPr/>
            <p:nvPr/>
          </p:nvSpPr>
          <p:spPr bwMode="auto">
            <a:xfrm>
              <a:off x="7149997"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81" name="í$ľîďé"/>
            <p:cNvSpPr/>
            <p:nvPr/>
          </p:nvSpPr>
          <p:spPr bwMode="auto">
            <a:xfrm>
              <a:off x="7200848"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82" name="ïṣ1îďé"/>
            <p:cNvSpPr/>
            <p:nvPr/>
          </p:nvSpPr>
          <p:spPr bwMode="auto">
            <a:xfrm>
              <a:off x="3974137" y="3735149"/>
              <a:ext cx="144462" cy="918780"/>
            </a:xfrm>
            <a:custGeom>
              <a:avLst/>
              <a:gdLst>
                <a:gd name="T0" fmla="*/ 2 w 125"/>
                <a:gd name="T1" fmla="*/ 0 h 795"/>
                <a:gd name="T2" fmla="*/ 125 w 125"/>
                <a:gd name="T3" fmla="*/ 0 h 795"/>
                <a:gd name="T4" fmla="*/ 123 w 125"/>
                <a:gd name="T5" fmla="*/ 795 h 795"/>
                <a:gd name="T6" fmla="*/ 0 w 125"/>
                <a:gd name="T7" fmla="*/ 793 h 795"/>
                <a:gd name="T8" fmla="*/ 2 w 125"/>
                <a:gd name="T9" fmla="*/ 0 h 795"/>
              </a:gdLst>
              <a:ahLst/>
              <a:cxnLst>
                <a:cxn ang="0">
                  <a:pos x="T0" y="T1"/>
                </a:cxn>
                <a:cxn ang="0">
                  <a:pos x="T2" y="T3"/>
                </a:cxn>
                <a:cxn ang="0">
                  <a:pos x="T4" y="T5"/>
                </a:cxn>
                <a:cxn ang="0">
                  <a:pos x="T6" y="T7"/>
                </a:cxn>
                <a:cxn ang="0">
                  <a:pos x="T8" y="T9"/>
                </a:cxn>
              </a:cxnLst>
              <a:rect l="0" t="0" r="r" b="b"/>
              <a:pathLst>
                <a:path w="125" h="795">
                  <a:moveTo>
                    <a:pt x="2" y="0"/>
                  </a:moveTo>
                  <a:lnTo>
                    <a:pt x="125" y="0"/>
                  </a:lnTo>
                  <a:lnTo>
                    <a:pt x="123" y="795"/>
                  </a:lnTo>
                  <a:lnTo>
                    <a:pt x="0" y="793"/>
                  </a:lnTo>
                  <a:lnTo>
                    <a:pt x="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3" name="îṧḷïďê"/>
            <p:cNvSpPr/>
            <p:nvPr/>
          </p:nvSpPr>
          <p:spPr bwMode="auto">
            <a:xfrm>
              <a:off x="4001874" y="3774443"/>
              <a:ext cx="88989" cy="837881"/>
            </a:xfrm>
            <a:custGeom>
              <a:avLst/>
              <a:gdLst>
                <a:gd name="T0" fmla="*/ 2 w 77"/>
                <a:gd name="T1" fmla="*/ 0 h 725"/>
                <a:gd name="T2" fmla="*/ 0 w 77"/>
                <a:gd name="T3" fmla="*/ 725 h 725"/>
                <a:gd name="T4" fmla="*/ 75 w 77"/>
                <a:gd name="T5" fmla="*/ 725 h 725"/>
                <a:gd name="T6" fmla="*/ 77 w 77"/>
                <a:gd name="T7" fmla="*/ 2 h 725"/>
                <a:gd name="T8" fmla="*/ 2 w 77"/>
                <a:gd name="T9" fmla="*/ 0 h 725"/>
              </a:gdLst>
              <a:ahLst/>
              <a:cxnLst>
                <a:cxn ang="0">
                  <a:pos x="T0" y="T1"/>
                </a:cxn>
                <a:cxn ang="0">
                  <a:pos x="T2" y="T3"/>
                </a:cxn>
                <a:cxn ang="0">
                  <a:pos x="T4" y="T5"/>
                </a:cxn>
                <a:cxn ang="0">
                  <a:pos x="T6" y="T7"/>
                </a:cxn>
                <a:cxn ang="0">
                  <a:pos x="T8" y="T9"/>
                </a:cxn>
              </a:cxnLst>
              <a:rect l="0" t="0" r="r" b="b"/>
              <a:pathLst>
                <a:path w="77" h="725">
                  <a:moveTo>
                    <a:pt x="2" y="0"/>
                  </a:moveTo>
                  <a:lnTo>
                    <a:pt x="0" y="725"/>
                  </a:lnTo>
                  <a:lnTo>
                    <a:pt x="75" y="725"/>
                  </a:lnTo>
                  <a:lnTo>
                    <a:pt x="77" y="2"/>
                  </a:lnTo>
                  <a:lnTo>
                    <a:pt x="2" y="0"/>
                  </a:lnTo>
                  <a:close/>
                </a:path>
              </a:pathLst>
            </a:custGeom>
            <a:solidFill>
              <a:srgbClr val="87BB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4" name="îṩ1ïḓé"/>
            <p:cNvSpPr/>
            <p:nvPr/>
          </p:nvSpPr>
          <p:spPr bwMode="auto">
            <a:xfrm>
              <a:off x="3875903" y="3502854"/>
              <a:ext cx="344398" cy="317817"/>
            </a:xfrm>
            <a:custGeom>
              <a:avLst/>
              <a:gdLst>
                <a:gd name="T0" fmla="*/ 131 w 172"/>
                <a:gd name="T1" fmla="*/ 0 h 159"/>
                <a:gd name="T2" fmla="*/ 172 w 172"/>
                <a:gd name="T3" fmla="*/ 74 h 159"/>
                <a:gd name="T4" fmla="*/ 86 w 172"/>
                <a:gd name="T5" fmla="*/ 159 h 159"/>
                <a:gd name="T6" fmla="*/ 0 w 172"/>
                <a:gd name="T7" fmla="*/ 73 h 159"/>
                <a:gd name="T8" fmla="*/ 42 w 172"/>
                <a:gd name="T9" fmla="*/ 0 h 159"/>
                <a:gd name="T10" fmla="*/ 41 w 172"/>
                <a:gd name="T11" fmla="*/ 49 h 159"/>
                <a:gd name="T12" fmla="*/ 41 w 172"/>
                <a:gd name="T13" fmla="*/ 74 h 159"/>
                <a:gd name="T14" fmla="*/ 64 w 172"/>
                <a:gd name="T15" fmla="*/ 87 h 159"/>
                <a:gd name="T16" fmla="*/ 86 w 172"/>
                <a:gd name="T17" fmla="*/ 100 h 159"/>
                <a:gd name="T18" fmla="*/ 108 w 172"/>
                <a:gd name="T19" fmla="*/ 88 h 159"/>
                <a:gd name="T20" fmla="*/ 131 w 172"/>
                <a:gd name="T21" fmla="*/ 75 h 159"/>
                <a:gd name="T22" fmla="*/ 131 w 172"/>
                <a:gd name="T23" fmla="*/ 49 h 159"/>
                <a:gd name="T24" fmla="*/ 131 w 172"/>
                <a:gd name="T25"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59">
                  <a:moveTo>
                    <a:pt x="131" y="0"/>
                  </a:moveTo>
                  <a:cubicBezTo>
                    <a:pt x="155" y="16"/>
                    <a:pt x="172" y="43"/>
                    <a:pt x="172" y="74"/>
                  </a:cubicBezTo>
                  <a:cubicBezTo>
                    <a:pt x="171" y="121"/>
                    <a:pt x="133" y="159"/>
                    <a:pt x="86" y="159"/>
                  </a:cubicBezTo>
                  <a:cubicBezTo>
                    <a:pt x="38" y="159"/>
                    <a:pt x="0" y="120"/>
                    <a:pt x="0" y="73"/>
                  </a:cubicBezTo>
                  <a:cubicBezTo>
                    <a:pt x="0" y="42"/>
                    <a:pt x="17" y="15"/>
                    <a:pt x="42" y="0"/>
                  </a:cubicBezTo>
                  <a:cubicBezTo>
                    <a:pt x="41" y="49"/>
                    <a:pt x="41" y="49"/>
                    <a:pt x="41" y="49"/>
                  </a:cubicBezTo>
                  <a:cubicBezTo>
                    <a:pt x="41" y="74"/>
                    <a:pt x="41" y="74"/>
                    <a:pt x="41" y="74"/>
                  </a:cubicBezTo>
                  <a:cubicBezTo>
                    <a:pt x="64" y="87"/>
                    <a:pt x="64" y="87"/>
                    <a:pt x="64" y="87"/>
                  </a:cubicBezTo>
                  <a:cubicBezTo>
                    <a:pt x="86" y="100"/>
                    <a:pt x="86" y="100"/>
                    <a:pt x="86" y="100"/>
                  </a:cubicBezTo>
                  <a:cubicBezTo>
                    <a:pt x="108" y="88"/>
                    <a:pt x="108" y="88"/>
                    <a:pt x="108" y="88"/>
                  </a:cubicBezTo>
                  <a:cubicBezTo>
                    <a:pt x="131" y="75"/>
                    <a:pt x="131" y="75"/>
                    <a:pt x="131" y="75"/>
                  </a:cubicBezTo>
                  <a:cubicBezTo>
                    <a:pt x="131" y="49"/>
                    <a:pt x="131" y="49"/>
                    <a:pt x="131" y="49"/>
                  </a:cubicBezTo>
                  <a:lnTo>
                    <a:pt x="131"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5" name="ïšľïḍe"/>
            <p:cNvSpPr/>
            <p:nvPr/>
          </p:nvSpPr>
          <p:spPr bwMode="auto">
            <a:xfrm>
              <a:off x="3873592" y="4536048"/>
              <a:ext cx="343242" cy="317817"/>
            </a:xfrm>
            <a:custGeom>
              <a:avLst/>
              <a:gdLst>
                <a:gd name="T0" fmla="*/ 130 w 171"/>
                <a:gd name="T1" fmla="*/ 159 h 159"/>
                <a:gd name="T2" fmla="*/ 171 w 171"/>
                <a:gd name="T3" fmla="*/ 86 h 159"/>
                <a:gd name="T4" fmla="*/ 86 w 171"/>
                <a:gd name="T5" fmla="*/ 0 h 159"/>
                <a:gd name="T6" fmla="*/ 0 w 171"/>
                <a:gd name="T7" fmla="*/ 85 h 159"/>
                <a:gd name="T8" fmla="*/ 40 w 171"/>
                <a:gd name="T9" fmla="*/ 158 h 159"/>
                <a:gd name="T10" fmla="*/ 41 w 171"/>
                <a:gd name="T11" fmla="*/ 110 h 159"/>
                <a:gd name="T12" fmla="*/ 41 w 171"/>
                <a:gd name="T13" fmla="*/ 84 h 159"/>
                <a:gd name="T14" fmla="*/ 63 w 171"/>
                <a:gd name="T15" fmla="*/ 71 h 159"/>
                <a:gd name="T16" fmla="*/ 85 w 171"/>
                <a:gd name="T17" fmla="*/ 59 h 159"/>
                <a:gd name="T18" fmla="*/ 108 w 171"/>
                <a:gd name="T19" fmla="*/ 72 h 159"/>
                <a:gd name="T20" fmla="*/ 130 w 171"/>
                <a:gd name="T21" fmla="*/ 85 h 159"/>
                <a:gd name="T22" fmla="*/ 130 w 171"/>
                <a:gd name="T23" fmla="*/ 110 h 159"/>
                <a:gd name="T24" fmla="*/ 130 w 171"/>
                <a:gd name="T2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159">
                  <a:moveTo>
                    <a:pt x="130" y="159"/>
                  </a:moveTo>
                  <a:cubicBezTo>
                    <a:pt x="154" y="144"/>
                    <a:pt x="171" y="117"/>
                    <a:pt x="171" y="86"/>
                  </a:cubicBezTo>
                  <a:cubicBezTo>
                    <a:pt x="171" y="39"/>
                    <a:pt x="133" y="0"/>
                    <a:pt x="86" y="0"/>
                  </a:cubicBezTo>
                  <a:cubicBezTo>
                    <a:pt x="38" y="0"/>
                    <a:pt x="0" y="38"/>
                    <a:pt x="0" y="85"/>
                  </a:cubicBezTo>
                  <a:cubicBezTo>
                    <a:pt x="0" y="116"/>
                    <a:pt x="16" y="143"/>
                    <a:pt x="40" y="158"/>
                  </a:cubicBezTo>
                  <a:cubicBezTo>
                    <a:pt x="41" y="110"/>
                    <a:pt x="41" y="110"/>
                    <a:pt x="41" y="110"/>
                  </a:cubicBezTo>
                  <a:cubicBezTo>
                    <a:pt x="41" y="84"/>
                    <a:pt x="41" y="84"/>
                    <a:pt x="41" y="84"/>
                  </a:cubicBezTo>
                  <a:cubicBezTo>
                    <a:pt x="63" y="71"/>
                    <a:pt x="63" y="71"/>
                    <a:pt x="63" y="71"/>
                  </a:cubicBezTo>
                  <a:cubicBezTo>
                    <a:pt x="85" y="59"/>
                    <a:pt x="85" y="59"/>
                    <a:pt x="85" y="59"/>
                  </a:cubicBezTo>
                  <a:cubicBezTo>
                    <a:pt x="108" y="72"/>
                    <a:pt x="108" y="72"/>
                    <a:pt x="108" y="72"/>
                  </a:cubicBezTo>
                  <a:cubicBezTo>
                    <a:pt x="130" y="85"/>
                    <a:pt x="130" y="85"/>
                    <a:pt x="130" y="85"/>
                  </a:cubicBezTo>
                  <a:cubicBezTo>
                    <a:pt x="130" y="110"/>
                    <a:pt x="130" y="110"/>
                    <a:pt x="130" y="110"/>
                  </a:cubicBezTo>
                  <a:lnTo>
                    <a:pt x="130" y="15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6" name="iṣľïďê"/>
            <p:cNvSpPr/>
            <p:nvPr/>
          </p:nvSpPr>
          <p:spPr bwMode="auto">
            <a:xfrm>
              <a:off x="3900173" y="4563785"/>
              <a:ext cx="287769" cy="228828"/>
            </a:xfrm>
            <a:custGeom>
              <a:avLst/>
              <a:gdLst>
                <a:gd name="T0" fmla="*/ 131 w 144"/>
                <a:gd name="T1" fmla="*/ 114 h 114"/>
                <a:gd name="T2" fmla="*/ 144 w 144"/>
                <a:gd name="T3" fmla="*/ 72 h 114"/>
                <a:gd name="T4" fmla="*/ 73 w 144"/>
                <a:gd name="T5" fmla="*/ 0 h 114"/>
                <a:gd name="T6" fmla="*/ 0 w 144"/>
                <a:gd name="T7" fmla="*/ 71 h 114"/>
                <a:gd name="T8" fmla="*/ 14 w 144"/>
                <a:gd name="T9" fmla="*/ 113 h 114"/>
                <a:gd name="T10" fmla="*/ 14 w 144"/>
                <a:gd name="T11" fmla="*/ 62 h 114"/>
                <a:gd name="T12" fmla="*/ 73 w 144"/>
                <a:gd name="T13" fmla="*/ 29 h 114"/>
                <a:gd name="T14" fmla="*/ 131 w 144"/>
                <a:gd name="T15" fmla="*/ 63 h 114"/>
                <a:gd name="T16" fmla="*/ 131 w 144"/>
                <a:gd name="T17"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114">
                  <a:moveTo>
                    <a:pt x="131" y="114"/>
                  </a:moveTo>
                  <a:cubicBezTo>
                    <a:pt x="139" y="102"/>
                    <a:pt x="144" y="87"/>
                    <a:pt x="144" y="72"/>
                  </a:cubicBezTo>
                  <a:cubicBezTo>
                    <a:pt x="144" y="32"/>
                    <a:pt x="112" y="0"/>
                    <a:pt x="73" y="0"/>
                  </a:cubicBezTo>
                  <a:cubicBezTo>
                    <a:pt x="33" y="0"/>
                    <a:pt x="1" y="32"/>
                    <a:pt x="0" y="71"/>
                  </a:cubicBezTo>
                  <a:cubicBezTo>
                    <a:pt x="0" y="87"/>
                    <a:pt x="5" y="101"/>
                    <a:pt x="14" y="113"/>
                  </a:cubicBezTo>
                  <a:cubicBezTo>
                    <a:pt x="14" y="62"/>
                    <a:pt x="14" y="62"/>
                    <a:pt x="14" y="62"/>
                  </a:cubicBezTo>
                  <a:cubicBezTo>
                    <a:pt x="73" y="29"/>
                    <a:pt x="73" y="29"/>
                    <a:pt x="73" y="29"/>
                  </a:cubicBezTo>
                  <a:cubicBezTo>
                    <a:pt x="131" y="63"/>
                    <a:pt x="131" y="63"/>
                    <a:pt x="131" y="63"/>
                  </a:cubicBezTo>
                  <a:lnTo>
                    <a:pt x="131" y="114"/>
                  </a:lnTo>
                  <a:close/>
                </a:path>
              </a:pathLst>
            </a:custGeom>
            <a:solidFill>
              <a:srgbClr val="87BB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7" name="îṣḻíḑé"/>
            <p:cNvSpPr/>
            <p:nvPr/>
          </p:nvSpPr>
          <p:spPr bwMode="auto">
            <a:xfrm>
              <a:off x="3903640" y="3564106"/>
              <a:ext cx="288925" cy="228828"/>
            </a:xfrm>
            <a:custGeom>
              <a:avLst/>
              <a:gdLst>
                <a:gd name="T0" fmla="*/ 14 w 144"/>
                <a:gd name="T1" fmla="*/ 0 h 114"/>
                <a:gd name="T2" fmla="*/ 0 w 144"/>
                <a:gd name="T3" fmla="*/ 41 h 114"/>
                <a:gd name="T4" fmla="*/ 72 w 144"/>
                <a:gd name="T5" fmla="*/ 114 h 114"/>
                <a:gd name="T6" fmla="*/ 144 w 144"/>
                <a:gd name="T7" fmla="*/ 42 h 114"/>
                <a:gd name="T8" fmla="*/ 131 w 144"/>
                <a:gd name="T9" fmla="*/ 0 h 114"/>
                <a:gd name="T10" fmla="*/ 130 w 144"/>
                <a:gd name="T11" fmla="*/ 51 h 114"/>
                <a:gd name="T12" fmla="*/ 72 w 144"/>
                <a:gd name="T13" fmla="*/ 85 h 114"/>
                <a:gd name="T14" fmla="*/ 13 w 144"/>
                <a:gd name="T15" fmla="*/ 51 h 114"/>
                <a:gd name="T16" fmla="*/ 14 w 144"/>
                <a:gd name="T1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114">
                  <a:moveTo>
                    <a:pt x="14" y="0"/>
                  </a:moveTo>
                  <a:cubicBezTo>
                    <a:pt x="5" y="12"/>
                    <a:pt x="0" y="26"/>
                    <a:pt x="0" y="41"/>
                  </a:cubicBezTo>
                  <a:cubicBezTo>
                    <a:pt x="0" y="81"/>
                    <a:pt x="32" y="113"/>
                    <a:pt x="72" y="114"/>
                  </a:cubicBezTo>
                  <a:cubicBezTo>
                    <a:pt x="111" y="114"/>
                    <a:pt x="144" y="82"/>
                    <a:pt x="144" y="42"/>
                  </a:cubicBezTo>
                  <a:cubicBezTo>
                    <a:pt x="144" y="27"/>
                    <a:pt x="139" y="12"/>
                    <a:pt x="131" y="0"/>
                  </a:cubicBezTo>
                  <a:cubicBezTo>
                    <a:pt x="130" y="51"/>
                    <a:pt x="130" y="51"/>
                    <a:pt x="130" y="51"/>
                  </a:cubicBezTo>
                  <a:cubicBezTo>
                    <a:pt x="72" y="85"/>
                    <a:pt x="72" y="85"/>
                    <a:pt x="72" y="85"/>
                  </a:cubicBezTo>
                  <a:cubicBezTo>
                    <a:pt x="13" y="51"/>
                    <a:pt x="13" y="51"/>
                    <a:pt x="13" y="51"/>
                  </a:cubicBezTo>
                  <a:lnTo>
                    <a:pt x="14" y="0"/>
                  </a:lnTo>
                  <a:close/>
                </a:path>
              </a:pathLst>
            </a:custGeom>
            <a:solidFill>
              <a:srgbClr val="87BB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8" name="íš1ïḍé"/>
            <p:cNvSpPr/>
            <p:nvPr/>
          </p:nvSpPr>
          <p:spPr bwMode="auto">
            <a:xfrm>
              <a:off x="7627301" y="3502854"/>
              <a:ext cx="129438" cy="1351012"/>
            </a:xfrm>
            <a:custGeom>
              <a:avLst/>
              <a:gdLst>
                <a:gd name="T0" fmla="*/ 65 w 65"/>
                <a:gd name="T1" fmla="*/ 74 h 675"/>
                <a:gd name="T2" fmla="*/ 32 w 65"/>
                <a:gd name="T3" fmla="*/ 0 h 675"/>
                <a:gd name="T4" fmla="*/ 0 w 65"/>
                <a:gd name="T5" fmla="*/ 74 h 675"/>
                <a:gd name="T6" fmla="*/ 0 w 65"/>
                <a:gd name="T7" fmla="*/ 657 h 675"/>
                <a:gd name="T8" fmla="*/ 18 w 65"/>
                <a:gd name="T9" fmla="*/ 675 h 675"/>
                <a:gd name="T10" fmla="*/ 47 w 65"/>
                <a:gd name="T11" fmla="*/ 675 h 675"/>
                <a:gd name="T12" fmla="*/ 65 w 65"/>
                <a:gd name="T13" fmla="*/ 657 h 675"/>
                <a:gd name="T14" fmla="*/ 65 w 65"/>
                <a:gd name="T15" fmla="*/ 74 h 6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675">
                  <a:moveTo>
                    <a:pt x="65" y="74"/>
                  </a:moveTo>
                  <a:cubicBezTo>
                    <a:pt x="32" y="0"/>
                    <a:pt x="32" y="0"/>
                    <a:pt x="32" y="0"/>
                  </a:cubicBezTo>
                  <a:cubicBezTo>
                    <a:pt x="0" y="74"/>
                    <a:pt x="0" y="74"/>
                    <a:pt x="0" y="74"/>
                  </a:cubicBezTo>
                  <a:cubicBezTo>
                    <a:pt x="0" y="657"/>
                    <a:pt x="0" y="657"/>
                    <a:pt x="0" y="657"/>
                  </a:cubicBezTo>
                  <a:cubicBezTo>
                    <a:pt x="0" y="667"/>
                    <a:pt x="8" y="675"/>
                    <a:pt x="18" y="675"/>
                  </a:cubicBezTo>
                  <a:cubicBezTo>
                    <a:pt x="47" y="675"/>
                    <a:pt x="47" y="675"/>
                    <a:pt x="47" y="675"/>
                  </a:cubicBezTo>
                  <a:cubicBezTo>
                    <a:pt x="57" y="675"/>
                    <a:pt x="65" y="667"/>
                    <a:pt x="65" y="657"/>
                  </a:cubicBezTo>
                  <a:lnTo>
                    <a:pt x="65" y="74"/>
                  </a:lnTo>
                  <a:close/>
                </a:path>
              </a:pathLst>
            </a:custGeom>
            <a:solidFill>
              <a:srgbClr val="FFEEC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9" name="íṥḷîdè"/>
            <p:cNvSpPr/>
            <p:nvPr/>
          </p:nvSpPr>
          <p:spPr bwMode="auto">
            <a:xfrm>
              <a:off x="7690864" y="3502854"/>
              <a:ext cx="65875" cy="1351012"/>
            </a:xfrm>
            <a:custGeom>
              <a:avLst/>
              <a:gdLst>
                <a:gd name="T0" fmla="*/ 33 w 33"/>
                <a:gd name="T1" fmla="*/ 74 h 675"/>
                <a:gd name="T2" fmla="*/ 0 w 33"/>
                <a:gd name="T3" fmla="*/ 0 h 675"/>
                <a:gd name="T4" fmla="*/ 15 w 33"/>
                <a:gd name="T5" fmla="*/ 77 h 675"/>
                <a:gd name="T6" fmla="*/ 15 w 33"/>
                <a:gd name="T7" fmla="*/ 675 h 675"/>
                <a:gd name="T8" fmla="*/ 15 w 33"/>
                <a:gd name="T9" fmla="*/ 675 h 675"/>
                <a:gd name="T10" fmla="*/ 33 w 33"/>
                <a:gd name="T11" fmla="*/ 657 h 675"/>
                <a:gd name="T12" fmla="*/ 33 w 33"/>
                <a:gd name="T13" fmla="*/ 74 h 675"/>
              </a:gdLst>
              <a:ahLst/>
              <a:cxnLst>
                <a:cxn ang="0">
                  <a:pos x="T0" y="T1"/>
                </a:cxn>
                <a:cxn ang="0">
                  <a:pos x="T2" y="T3"/>
                </a:cxn>
                <a:cxn ang="0">
                  <a:pos x="T4" y="T5"/>
                </a:cxn>
                <a:cxn ang="0">
                  <a:pos x="T6" y="T7"/>
                </a:cxn>
                <a:cxn ang="0">
                  <a:pos x="T8" y="T9"/>
                </a:cxn>
                <a:cxn ang="0">
                  <a:pos x="T10" y="T11"/>
                </a:cxn>
                <a:cxn ang="0">
                  <a:pos x="T12" y="T13"/>
                </a:cxn>
              </a:cxnLst>
              <a:rect l="0" t="0" r="r" b="b"/>
              <a:pathLst>
                <a:path w="33" h="675">
                  <a:moveTo>
                    <a:pt x="33" y="74"/>
                  </a:moveTo>
                  <a:cubicBezTo>
                    <a:pt x="0" y="0"/>
                    <a:pt x="0" y="0"/>
                    <a:pt x="0" y="0"/>
                  </a:cubicBezTo>
                  <a:cubicBezTo>
                    <a:pt x="15" y="77"/>
                    <a:pt x="15" y="77"/>
                    <a:pt x="15" y="77"/>
                  </a:cubicBezTo>
                  <a:cubicBezTo>
                    <a:pt x="15" y="675"/>
                    <a:pt x="15" y="675"/>
                    <a:pt x="15" y="675"/>
                  </a:cubicBezTo>
                  <a:cubicBezTo>
                    <a:pt x="15" y="675"/>
                    <a:pt x="15" y="675"/>
                    <a:pt x="15" y="675"/>
                  </a:cubicBezTo>
                  <a:cubicBezTo>
                    <a:pt x="25" y="675"/>
                    <a:pt x="33" y="667"/>
                    <a:pt x="33" y="657"/>
                  </a:cubicBezTo>
                  <a:lnTo>
                    <a:pt x="33" y="74"/>
                  </a:lnTo>
                  <a:close/>
                </a:path>
              </a:pathLst>
            </a:custGeom>
            <a:solidFill>
              <a:srgbClr val="FFCD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0" name="íṥľïḑe"/>
            <p:cNvSpPr/>
            <p:nvPr/>
          </p:nvSpPr>
          <p:spPr bwMode="auto">
            <a:xfrm>
              <a:off x="7627301" y="3502854"/>
              <a:ext cx="129438" cy="1271268"/>
            </a:xfrm>
            <a:custGeom>
              <a:avLst/>
              <a:gdLst>
                <a:gd name="T0" fmla="*/ 65 w 65"/>
                <a:gd name="T1" fmla="*/ 74 h 635"/>
                <a:gd name="T2" fmla="*/ 32 w 65"/>
                <a:gd name="T3" fmla="*/ 0 h 635"/>
                <a:gd name="T4" fmla="*/ 0 w 65"/>
                <a:gd name="T5" fmla="*/ 74 h 635"/>
                <a:gd name="T6" fmla="*/ 0 w 65"/>
                <a:gd name="T7" fmla="*/ 631 h 635"/>
                <a:gd name="T8" fmla="*/ 65 w 65"/>
                <a:gd name="T9" fmla="*/ 631 h 635"/>
                <a:gd name="T10" fmla="*/ 65 w 65"/>
                <a:gd name="T11" fmla="*/ 74 h 635"/>
              </a:gdLst>
              <a:ahLst/>
              <a:cxnLst>
                <a:cxn ang="0">
                  <a:pos x="T0" y="T1"/>
                </a:cxn>
                <a:cxn ang="0">
                  <a:pos x="T2" y="T3"/>
                </a:cxn>
                <a:cxn ang="0">
                  <a:pos x="T4" y="T5"/>
                </a:cxn>
                <a:cxn ang="0">
                  <a:pos x="T6" y="T7"/>
                </a:cxn>
                <a:cxn ang="0">
                  <a:pos x="T8" y="T9"/>
                </a:cxn>
                <a:cxn ang="0">
                  <a:pos x="T10" y="T11"/>
                </a:cxn>
              </a:cxnLst>
              <a:rect l="0" t="0" r="r" b="b"/>
              <a:pathLst>
                <a:path w="65" h="635">
                  <a:moveTo>
                    <a:pt x="65" y="74"/>
                  </a:moveTo>
                  <a:cubicBezTo>
                    <a:pt x="32" y="0"/>
                    <a:pt x="32" y="0"/>
                    <a:pt x="32" y="0"/>
                  </a:cubicBezTo>
                  <a:cubicBezTo>
                    <a:pt x="0" y="74"/>
                    <a:pt x="0" y="74"/>
                    <a:pt x="0" y="74"/>
                  </a:cubicBezTo>
                  <a:cubicBezTo>
                    <a:pt x="0" y="631"/>
                    <a:pt x="0" y="631"/>
                    <a:pt x="0" y="631"/>
                  </a:cubicBezTo>
                  <a:cubicBezTo>
                    <a:pt x="23" y="635"/>
                    <a:pt x="44" y="635"/>
                    <a:pt x="65" y="631"/>
                  </a:cubicBezTo>
                  <a:lnTo>
                    <a:pt x="65" y="74"/>
                  </a:lnTo>
                  <a:close/>
                </a:path>
              </a:pathLst>
            </a:custGeom>
            <a:solidFill>
              <a:srgbClr val="C0F7F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1" name="í$lïḑe"/>
            <p:cNvSpPr/>
            <p:nvPr/>
          </p:nvSpPr>
          <p:spPr bwMode="auto">
            <a:xfrm>
              <a:off x="7690864" y="3502854"/>
              <a:ext cx="65875" cy="1268957"/>
            </a:xfrm>
            <a:custGeom>
              <a:avLst/>
              <a:gdLst>
                <a:gd name="T0" fmla="*/ 33 w 33"/>
                <a:gd name="T1" fmla="*/ 74 h 634"/>
                <a:gd name="T2" fmla="*/ 0 w 33"/>
                <a:gd name="T3" fmla="*/ 0 h 634"/>
                <a:gd name="T4" fmla="*/ 15 w 33"/>
                <a:gd name="T5" fmla="*/ 77 h 634"/>
                <a:gd name="T6" fmla="*/ 15 w 33"/>
                <a:gd name="T7" fmla="*/ 634 h 634"/>
                <a:gd name="T8" fmla="*/ 33 w 33"/>
                <a:gd name="T9" fmla="*/ 631 h 634"/>
                <a:gd name="T10" fmla="*/ 33 w 33"/>
                <a:gd name="T11" fmla="*/ 74 h 634"/>
              </a:gdLst>
              <a:ahLst/>
              <a:cxnLst>
                <a:cxn ang="0">
                  <a:pos x="T0" y="T1"/>
                </a:cxn>
                <a:cxn ang="0">
                  <a:pos x="T2" y="T3"/>
                </a:cxn>
                <a:cxn ang="0">
                  <a:pos x="T4" y="T5"/>
                </a:cxn>
                <a:cxn ang="0">
                  <a:pos x="T6" y="T7"/>
                </a:cxn>
                <a:cxn ang="0">
                  <a:pos x="T8" y="T9"/>
                </a:cxn>
                <a:cxn ang="0">
                  <a:pos x="T10" y="T11"/>
                </a:cxn>
              </a:cxnLst>
              <a:rect l="0" t="0" r="r" b="b"/>
              <a:pathLst>
                <a:path w="33" h="634">
                  <a:moveTo>
                    <a:pt x="33" y="74"/>
                  </a:moveTo>
                  <a:cubicBezTo>
                    <a:pt x="0" y="0"/>
                    <a:pt x="0" y="0"/>
                    <a:pt x="0" y="0"/>
                  </a:cubicBezTo>
                  <a:cubicBezTo>
                    <a:pt x="15" y="77"/>
                    <a:pt x="15" y="77"/>
                    <a:pt x="15" y="77"/>
                  </a:cubicBezTo>
                  <a:cubicBezTo>
                    <a:pt x="15" y="634"/>
                    <a:pt x="15" y="634"/>
                    <a:pt x="15" y="634"/>
                  </a:cubicBezTo>
                  <a:cubicBezTo>
                    <a:pt x="26" y="634"/>
                    <a:pt x="22" y="633"/>
                    <a:pt x="33" y="631"/>
                  </a:cubicBezTo>
                  <a:lnTo>
                    <a:pt x="33" y="74"/>
                  </a:lnTo>
                  <a:close/>
                </a:path>
              </a:pathLst>
            </a:custGeom>
            <a:solidFill>
              <a:srgbClr val="A2ED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2" name="išḻïḋè"/>
            <p:cNvSpPr/>
            <p:nvPr/>
          </p:nvSpPr>
          <p:spPr bwMode="auto">
            <a:xfrm>
              <a:off x="7627301" y="3502854"/>
              <a:ext cx="129438" cy="1229663"/>
            </a:xfrm>
            <a:custGeom>
              <a:avLst/>
              <a:gdLst>
                <a:gd name="T0" fmla="*/ 65 w 65"/>
                <a:gd name="T1" fmla="*/ 74 h 614"/>
                <a:gd name="T2" fmla="*/ 32 w 65"/>
                <a:gd name="T3" fmla="*/ 0 h 614"/>
                <a:gd name="T4" fmla="*/ 0 w 65"/>
                <a:gd name="T5" fmla="*/ 74 h 614"/>
                <a:gd name="T6" fmla="*/ 0 w 65"/>
                <a:gd name="T7" fmla="*/ 610 h 614"/>
                <a:gd name="T8" fmla="*/ 65 w 65"/>
                <a:gd name="T9" fmla="*/ 610 h 614"/>
                <a:gd name="T10" fmla="*/ 65 w 65"/>
                <a:gd name="T11" fmla="*/ 74 h 614"/>
              </a:gdLst>
              <a:ahLst/>
              <a:cxnLst>
                <a:cxn ang="0">
                  <a:pos x="T0" y="T1"/>
                </a:cxn>
                <a:cxn ang="0">
                  <a:pos x="T2" y="T3"/>
                </a:cxn>
                <a:cxn ang="0">
                  <a:pos x="T4" y="T5"/>
                </a:cxn>
                <a:cxn ang="0">
                  <a:pos x="T6" y="T7"/>
                </a:cxn>
                <a:cxn ang="0">
                  <a:pos x="T8" y="T9"/>
                </a:cxn>
                <a:cxn ang="0">
                  <a:pos x="T10" y="T11"/>
                </a:cxn>
              </a:cxnLst>
              <a:rect l="0" t="0" r="r" b="b"/>
              <a:pathLst>
                <a:path w="65" h="614">
                  <a:moveTo>
                    <a:pt x="65" y="74"/>
                  </a:moveTo>
                  <a:cubicBezTo>
                    <a:pt x="32" y="0"/>
                    <a:pt x="32" y="0"/>
                    <a:pt x="32" y="0"/>
                  </a:cubicBezTo>
                  <a:cubicBezTo>
                    <a:pt x="0" y="74"/>
                    <a:pt x="0" y="74"/>
                    <a:pt x="0" y="74"/>
                  </a:cubicBezTo>
                  <a:cubicBezTo>
                    <a:pt x="0" y="610"/>
                    <a:pt x="0" y="610"/>
                    <a:pt x="0" y="610"/>
                  </a:cubicBezTo>
                  <a:cubicBezTo>
                    <a:pt x="23" y="614"/>
                    <a:pt x="45" y="614"/>
                    <a:pt x="65" y="610"/>
                  </a:cubicBezTo>
                  <a:lnTo>
                    <a:pt x="65" y="74"/>
                  </a:lnTo>
                  <a:close/>
                </a:path>
              </a:pathLst>
            </a:custGeom>
            <a:solidFill>
              <a:srgbClr val="87BBD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3" name="ïśḻíḑê"/>
            <p:cNvSpPr/>
            <p:nvPr/>
          </p:nvSpPr>
          <p:spPr bwMode="auto">
            <a:xfrm>
              <a:off x="7693175" y="3508632"/>
              <a:ext cx="63563" cy="1219262"/>
            </a:xfrm>
            <a:custGeom>
              <a:avLst/>
              <a:gdLst>
                <a:gd name="T0" fmla="*/ 32 w 32"/>
                <a:gd name="T1" fmla="*/ 74 h 609"/>
                <a:gd name="T2" fmla="*/ 0 w 32"/>
                <a:gd name="T3" fmla="*/ 0 h 609"/>
                <a:gd name="T4" fmla="*/ 16 w 32"/>
                <a:gd name="T5" fmla="*/ 74 h 609"/>
                <a:gd name="T6" fmla="*/ 16 w 32"/>
                <a:gd name="T7" fmla="*/ 607 h 609"/>
                <a:gd name="T8" fmla="*/ 32 w 32"/>
                <a:gd name="T9" fmla="*/ 607 h 609"/>
                <a:gd name="T10" fmla="*/ 32 w 32"/>
                <a:gd name="T11" fmla="*/ 74 h 609"/>
              </a:gdLst>
              <a:ahLst/>
              <a:cxnLst>
                <a:cxn ang="0">
                  <a:pos x="T0" y="T1"/>
                </a:cxn>
                <a:cxn ang="0">
                  <a:pos x="T2" y="T3"/>
                </a:cxn>
                <a:cxn ang="0">
                  <a:pos x="T4" y="T5"/>
                </a:cxn>
                <a:cxn ang="0">
                  <a:pos x="T6" y="T7"/>
                </a:cxn>
                <a:cxn ang="0">
                  <a:pos x="T8" y="T9"/>
                </a:cxn>
                <a:cxn ang="0">
                  <a:pos x="T10" y="T11"/>
                </a:cxn>
              </a:cxnLst>
              <a:rect l="0" t="0" r="r" b="b"/>
              <a:pathLst>
                <a:path w="32" h="609">
                  <a:moveTo>
                    <a:pt x="32" y="74"/>
                  </a:moveTo>
                  <a:cubicBezTo>
                    <a:pt x="0" y="0"/>
                    <a:pt x="0" y="0"/>
                    <a:pt x="0" y="0"/>
                  </a:cubicBezTo>
                  <a:cubicBezTo>
                    <a:pt x="16" y="74"/>
                    <a:pt x="16" y="74"/>
                    <a:pt x="16" y="74"/>
                  </a:cubicBezTo>
                  <a:cubicBezTo>
                    <a:pt x="16" y="607"/>
                    <a:pt x="16" y="607"/>
                    <a:pt x="16" y="607"/>
                  </a:cubicBezTo>
                  <a:cubicBezTo>
                    <a:pt x="27" y="607"/>
                    <a:pt x="21" y="609"/>
                    <a:pt x="32" y="607"/>
                  </a:cubicBezTo>
                  <a:lnTo>
                    <a:pt x="32" y="74"/>
                  </a:lnTo>
                  <a:close/>
                </a:path>
              </a:pathLst>
            </a:custGeom>
            <a:solidFill>
              <a:srgbClr val="4C8EB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4" name="î$ľîḍê"/>
            <p:cNvSpPr/>
            <p:nvPr/>
          </p:nvSpPr>
          <p:spPr bwMode="auto">
            <a:xfrm>
              <a:off x="7627301" y="3502854"/>
              <a:ext cx="129438" cy="153708"/>
            </a:xfrm>
            <a:custGeom>
              <a:avLst/>
              <a:gdLst>
                <a:gd name="T0" fmla="*/ 65 w 65"/>
                <a:gd name="T1" fmla="*/ 74 h 77"/>
                <a:gd name="T2" fmla="*/ 32 w 65"/>
                <a:gd name="T3" fmla="*/ 0 h 77"/>
                <a:gd name="T4" fmla="*/ 0 w 65"/>
                <a:gd name="T5" fmla="*/ 74 h 77"/>
                <a:gd name="T6" fmla="*/ 32 w 65"/>
                <a:gd name="T7" fmla="*/ 77 h 77"/>
                <a:gd name="T8" fmla="*/ 65 w 65"/>
                <a:gd name="T9" fmla="*/ 74 h 77"/>
              </a:gdLst>
              <a:ahLst/>
              <a:cxnLst>
                <a:cxn ang="0">
                  <a:pos x="T0" y="T1"/>
                </a:cxn>
                <a:cxn ang="0">
                  <a:pos x="T2" y="T3"/>
                </a:cxn>
                <a:cxn ang="0">
                  <a:pos x="T4" y="T5"/>
                </a:cxn>
                <a:cxn ang="0">
                  <a:pos x="T6" y="T7"/>
                </a:cxn>
                <a:cxn ang="0">
                  <a:pos x="T8" y="T9"/>
                </a:cxn>
              </a:cxnLst>
              <a:rect l="0" t="0" r="r" b="b"/>
              <a:pathLst>
                <a:path w="65" h="77">
                  <a:moveTo>
                    <a:pt x="65" y="74"/>
                  </a:moveTo>
                  <a:cubicBezTo>
                    <a:pt x="32" y="0"/>
                    <a:pt x="32" y="0"/>
                    <a:pt x="32" y="0"/>
                  </a:cubicBezTo>
                  <a:cubicBezTo>
                    <a:pt x="0" y="74"/>
                    <a:pt x="0" y="74"/>
                    <a:pt x="0" y="74"/>
                  </a:cubicBezTo>
                  <a:cubicBezTo>
                    <a:pt x="10" y="76"/>
                    <a:pt x="21" y="77"/>
                    <a:pt x="32" y="77"/>
                  </a:cubicBezTo>
                  <a:cubicBezTo>
                    <a:pt x="44" y="77"/>
                    <a:pt x="55" y="76"/>
                    <a:pt x="65" y="7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5" name="iṥļiḑè"/>
            <p:cNvSpPr/>
            <p:nvPr/>
          </p:nvSpPr>
          <p:spPr bwMode="auto">
            <a:xfrm>
              <a:off x="7690864" y="3502854"/>
              <a:ext cx="65875" cy="153708"/>
            </a:xfrm>
            <a:custGeom>
              <a:avLst/>
              <a:gdLst>
                <a:gd name="T0" fmla="*/ 33 w 33"/>
                <a:gd name="T1" fmla="*/ 74 h 77"/>
                <a:gd name="T2" fmla="*/ 0 w 33"/>
                <a:gd name="T3" fmla="*/ 0 h 77"/>
                <a:gd name="T4" fmla="*/ 17 w 33"/>
                <a:gd name="T5" fmla="*/ 77 h 77"/>
                <a:gd name="T6" fmla="*/ 33 w 33"/>
                <a:gd name="T7" fmla="*/ 74 h 77"/>
              </a:gdLst>
              <a:ahLst/>
              <a:cxnLst>
                <a:cxn ang="0">
                  <a:pos x="T0" y="T1"/>
                </a:cxn>
                <a:cxn ang="0">
                  <a:pos x="T2" y="T3"/>
                </a:cxn>
                <a:cxn ang="0">
                  <a:pos x="T4" y="T5"/>
                </a:cxn>
                <a:cxn ang="0">
                  <a:pos x="T6" y="T7"/>
                </a:cxn>
              </a:cxnLst>
              <a:rect l="0" t="0" r="r" b="b"/>
              <a:pathLst>
                <a:path w="33" h="77">
                  <a:moveTo>
                    <a:pt x="33" y="74"/>
                  </a:moveTo>
                  <a:cubicBezTo>
                    <a:pt x="0" y="0"/>
                    <a:pt x="0" y="0"/>
                    <a:pt x="0" y="0"/>
                  </a:cubicBezTo>
                  <a:cubicBezTo>
                    <a:pt x="17" y="77"/>
                    <a:pt x="17" y="77"/>
                    <a:pt x="17" y="77"/>
                  </a:cubicBezTo>
                  <a:cubicBezTo>
                    <a:pt x="28" y="77"/>
                    <a:pt x="23" y="76"/>
                    <a:pt x="33" y="74"/>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6" name="íšḻïdè"/>
            <p:cNvSpPr/>
            <p:nvPr/>
          </p:nvSpPr>
          <p:spPr bwMode="auto">
            <a:xfrm>
              <a:off x="7671217" y="3502854"/>
              <a:ext cx="41605" cy="52006"/>
            </a:xfrm>
            <a:custGeom>
              <a:avLst/>
              <a:gdLst>
                <a:gd name="T0" fmla="*/ 21 w 21"/>
                <a:gd name="T1" fmla="*/ 25 h 26"/>
                <a:gd name="T2" fmla="*/ 10 w 21"/>
                <a:gd name="T3" fmla="*/ 0 h 26"/>
                <a:gd name="T4" fmla="*/ 0 w 21"/>
                <a:gd name="T5" fmla="*/ 25 h 26"/>
                <a:gd name="T6" fmla="*/ 10 w 21"/>
                <a:gd name="T7" fmla="*/ 26 h 26"/>
                <a:gd name="T8" fmla="*/ 21 w 21"/>
                <a:gd name="T9" fmla="*/ 25 h 26"/>
              </a:gdLst>
              <a:ahLst/>
              <a:cxnLst>
                <a:cxn ang="0">
                  <a:pos x="T0" y="T1"/>
                </a:cxn>
                <a:cxn ang="0">
                  <a:pos x="T2" y="T3"/>
                </a:cxn>
                <a:cxn ang="0">
                  <a:pos x="T4" y="T5"/>
                </a:cxn>
                <a:cxn ang="0">
                  <a:pos x="T6" y="T7"/>
                </a:cxn>
                <a:cxn ang="0">
                  <a:pos x="T8" y="T9"/>
                </a:cxn>
              </a:cxnLst>
              <a:rect l="0" t="0" r="r" b="b"/>
              <a:pathLst>
                <a:path w="21" h="26">
                  <a:moveTo>
                    <a:pt x="21" y="25"/>
                  </a:moveTo>
                  <a:cubicBezTo>
                    <a:pt x="10" y="0"/>
                    <a:pt x="10" y="0"/>
                    <a:pt x="10" y="0"/>
                  </a:cubicBezTo>
                  <a:cubicBezTo>
                    <a:pt x="0" y="25"/>
                    <a:pt x="0" y="25"/>
                    <a:pt x="0" y="25"/>
                  </a:cubicBezTo>
                  <a:cubicBezTo>
                    <a:pt x="3" y="26"/>
                    <a:pt x="7" y="26"/>
                    <a:pt x="10" y="26"/>
                  </a:cubicBezTo>
                  <a:cubicBezTo>
                    <a:pt x="14" y="26"/>
                    <a:pt x="18" y="26"/>
                    <a:pt x="21" y="25"/>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7" name="íśľïḑé"/>
            <p:cNvSpPr/>
            <p:nvPr/>
          </p:nvSpPr>
          <p:spPr bwMode="auto">
            <a:xfrm>
              <a:off x="3619338" y="2062853"/>
              <a:ext cx="543178" cy="542023"/>
            </a:xfrm>
            <a:custGeom>
              <a:avLst/>
              <a:gdLst>
                <a:gd name="T0" fmla="*/ 239 w 271"/>
                <a:gd name="T1" fmla="*/ 189 h 271"/>
                <a:gd name="T2" fmla="*/ 254 w 271"/>
                <a:gd name="T3" fmla="*/ 202 h 271"/>
                <a:gd name="T4" fmla="*/ 222 w 271"/>
                <a:gd name="T5" fmla="*/ 241 h 271"/>
                <a:gd name="T6" fmla="*/ 207 w 271"/>
                <a:gd name="T7" fmla="*/ 228 h 271"/>
                <a:gd name="T8" fmla="*/ 171 w 271"/>
                <a:gd name="T9" fmla="*/ 246 h 271"/>
                <a:gd name="T10" fmla="*/ 172 w 271"/>
                <a:gd name="T11" fmla="*/ 266 h 271"/>
                <a:gd name="T12" fmla="*/ 136 w 271"/>
                <a:gd name="T13" fmla="*/ 270 h 271"/>
                <a:gd name="T14" fmla="*/ 136 w 271"/>
                <a:gd name="T15" fmla="*/ 213 h 271"/>
                <a:gd name="T16" fmla="*/ 195 w 271"/>
                <a:gd name="T17" fmla="*/ 186 h 271"/>
                <a:gd name="T18" fmla="*/ 186 w 271"/>
                <a:gd name="T19" fmla="*/ 76 h 271"/>
                <a:gd name="T20" fmla="*/ 186 w 271"/>
                <a:gd name="T21" fmla="*/ 76 h 271"/>
                <a:gd name="T22" fmla="*/ 158 w 271"/>
                <a:gd name="T23" fmla="*/ 61 h 271"/>
                <a:gd name="T24" fmla="*/ 136 w 271"/>
                <a:gd name="T25" fmla="*/ 57 h 271"/>
                <a:gd name="T26" fmla="*/ 136 w 271"/>
                <a:gd name="T27" fmla="*/ 1 h 271"/>
                <a:gd name="T28" fmla="*/ 149 w 271"/>
                <a:gd name="T29" fmla="*/ 0 h 271"/>
                <a:gd name="T30" fmla="*/ 151 w 271"/>
                <a:gd name="T31" fmla="*/ 20 h 271"/>
                <a:gd name="T32" fmla="*/ 190 w 271"/>
                <a:gd name="T33" fmla="*/ 32 h 271"/>
                <a:gd name="T34" fmla="*/ 203 w 271"/>
                <a:gd name="T35" fmla="*/ 17 h 271"/>
                <a:gd name="T36" fmla="*/ 241 w 271"/>
                <a:gd name="T37" fmla="*/ 49 h 271"/>
                <a:gd name="T38" fmla="*/ 228 w 271"/>
                <a:gd name="T39" fmla="*/ 64 h 271"/>
                <a:gd name="T40" fmla="*/ 247 w 271"/>
                <a:gd name="T41" fmla="*/ 101 h 271"/>
                <a:gd name="T42" fmla="*/ 267 w 271"/>
                <a:gd name="T43" fmla="*/ 99 h 271"/>
                <a:gd name="T44" fmla="*/ 271 w 271"/>
                <a:gd name="T45" fmla="*/ 149 h 271"/>
                <a:gd name="T46" fmla="*/ 251 w 271"/>
                <a:gd name="T47" fmla="*/ 150 h 271"/>
                <a:gd name="T48" fmla="*/ 239 w 271"/>
                <a:gd name="T49" fmla="*/ 189 h 271"/>
                <a:gd name="T50" fmla="*/ 136 w 271"/>
                <a:gd name="T51" fmla="*/ 270 h 271"/>
                <a:gd name="T52" fmla="*/ 123 w 271"/>
                <a:gd name="T53" fmla="*/ 271 h 271"/>
                <a:gd name="T54" fmla="*/ 121 w 271"/>
                <a:gd name="T55" fmla="*/ 251 h 271"/>
                <a:gd name="T56" fmla="*/ 82 w 271"/>
                <a:gd name="T57" fmla="*/ 238 h 271"/>
                <a:gd name="T58" fmla="*/ 69 w 271"/>
                <a:gd name="T59" fmla="*/ 254 h 271"/>
                <a:gd name="T60" fmla="*/ 31 w 271"/>
                <a:gd name="T61" fmla="*/ 222 h 271"/>
                <a:gd name="T62" fmla="*/ 44 w 271"/>
                <a:gd name="T63" fmla="*/ 206 h 271"/>
                <a:gd name="T64" fmla="*/ 25 w 271"/>
                <a:gd name="T65" fmla="*/ 170 h 271"/>
                <a:gd name="T66" fmla="*/ 5 w 271"/>
                <a:gd name="T67" fmla="*/ 172 h 271"/>
                <a:gd name="T68" fmla="*/ 0 w 271"/>
                <a:gd name="T69" fmla="*/ 122 h 271"/>
                <a:gd name="T70" fmla="*/ 20 w 271"/>
                <a:gd name="T71" fmla="*/ 120 h 271"/>
                <a:gd name="T72" fmla="*/ 33 w 271"/>
                <a:gd name="T73" fmla="*/ 82 h 271"/>
                <a:gd name="T74" fmla="*/ 17 w 271"/>
                <a:gd name="T75" fmla="*/ 69 h 271"/>
                <a:gd name="T76" fmla="*/ 49 w 271"/>
                <a:gd name="T77" fmla="*/ 30 h 271"/>
                <a:gd name="T78" fmla="*/ 65 w 271"/>
                <a:gd name="T79" fmla="*/ 43 h 271"/>
                <a:gd name="T80" fmla="*/ 101 w 271"/>
                <a:gd name="T81" fmla="*/ 24 h 271"/>
                <a:gd name="T82" fmla="*/ 99 w 271"/>
                <a:gd name="T83" fmla="*/ 4 h 271"/>
                <a:gd name="T84" fmla="*/ 136 w 271"/>
                <a:gd name="T85" fmla="*/ 1 h 271"/>
                <a:gd name="T86" fmla="*/ 136 w 271"/>
                <a:gd name="T87" fmla="*/ 57 h 271"/>
                <a:gd name="T88" fmla="*/ 76 w 271"/>
                <a:gd name="T89" fmla="*/ 85 h 271"/>
                <a:gd name="T90" fmla="*/ 86 w 271"/>
                <a:gd name="T91" fmla="*/ 195 h 271"/>
                <a:gd name="T92" fmla="*/ 113 w 271"/>
                <a:gd name="T93" fmla="*/ 210 h 271"/>
                <a:gd name="T94" fmla="*/ 136 w 271"/>
                <a:gd name="T95" fmla="*/ 213 h 271"/>
                <a:gd name="T96" fmla="*/ 136 w 271"/>
                <a:gd name="T97" fmla="*/ 27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1" h="271">
                  <a:moveTo>
                    <a:pt x="239" y="189"/>
                  </a:moveTo>
                  <a:cubicBezTo>
                    <a:pt x="254" y="202"/>
                    <a:pt x="254" y="202"/>
                    <a:pt x="254" y="202"/>
                  </a:cubicBezTo>
                  <a:cubicBezTo>
                    <a:pt x="222" y="241"/>
                    <a:pt x="222" y="241"/>
                    <a:pt x="222" y="241"/>
                  </a:cubicBezTo>
                  <a:cubicBezTo>
                    <a:pt x="207" y="228"/>
                    <a:pt x="207" y="228"/>
                    <a:pt x="207" y="228"/>
                  </a:cubicBezTo>
                  <a:cubicBezTo>
                    <a:pt x="196" y="236"/>
                    <a:pt x="184" y="242"/>
                    <a:pt x="171" y="246"/>
                  </a:cubicBezTo>
                  <a:cubicBezTo>
                    <a:pt x="172" y="266"/>
                    <a:pt x="172" y="266"/>
                    <a:pt x="172" y="266"/>
                  </a:cubicBezTo>
                  <a:cubicBezTo>
                    <a:pt x="136" y="270"/>
                    <a:pt x="136" y="270"/>
                    <a:pt x="136" y="270"/>
                  </a:cubicBezTo>
                  <a:cubicBezTo>
                    <a:pt x="136" y="213"/>
                    <a:pt x="136" y="213"/>
                    <a:pt x="136" y="213"/>
                  </a:cubicBezTo>
                  <a:cubicBezTo>
                    <a:pt x="158" y="213"/>
                    <a:pt x="180" y="204"/>
                    <a:pt x="195" y="186"/>
                  </a:cubicBezTo>
                  <a:cubicBezTo>
                    <a:pt x="223" y="153"/>
                    <a:pt x="219" y="103"/>
                    <a:pt x="186" y="76"/>
                  </a:cubicBezTo>
                  <a:cubicBezTo>
                    <a:pt x="186" y="76"/>
                    <a:pt x="186" y="76"/>
                    <a:pt x="186" y="76"/>
                  </a:cubicBezTo>
                  <a:cubicBezTo>
                    <a:pt x="178" y="69"/>
                    <a:pt x="169" y="64"/>
                    <a:pt x="158" y="61"/>
                  </a:cubicBezTo>
                  <a:cubicBezTo>
                    <a:pt x="151" y="59"/>
                    <a:pt x="143" y="57"/>
                    <a:pt x="136" y="57"/>
                  </a:cubicBezTo>
                  <a:cubicBezTo>
                    <a:pt x="136" y="1"/>
                    <a:pt x="136" y="1"/>
                    <a:pt x="136" y="1"/>
                  </a:cubicBezTo>
                  <a:cubicBezTo>
                    <a:pt x="149" y="0"/>
                    <a:pt x="149" y="0"/>
                    <a:pt x="149" y="0"/>
                  </a:cubicBezTo>
                  <a:cubicBezTo>
                    <a:pt x="151" y="20"/>
                    <a:pt x="151" y="20"/>
                    <a:pt x="151" y="20"/>
                  </a:cubicBezTo>
                  <a:cubicBezTo>
                    <a:pt x="164" y="22"/>
                    <a:pt x="178" y="26"/>
                    <a:pt x="190" y="32"/>
                  </a:cubicBezTo>
                  <a:cubicBezTo>
                    <a:pt x="203" y="17"/>
                    <a:pt x="203" y="17"/>
                    <a:pt x="203" y="17"/>
                  </a:cubicBezTo>
                  <a:cubicBezTo>
                    <a:pt x="241" y="49"/>
                    <a:pt x="241" y="49"/>
                    <a:pt x="241" y="49"/>
                  </a:cubicBezTo>
                  <a:cubicBezTo>
                    <a:pt x="228" y="64"/>
                    <a:pt x="228" y="64"/>
                    <a:pt x="228" y="64"/>
                  </a:cubicBezTo>
                  <a:cubicBezTo>
                    <a:pt x="236" y="75"/>
                    <a:pt x="243" y="88"/>
                    <a:pt x="247" y="101"/>
                  </a:cubicBezTo>
                  <a:cubicBezTo>
                    <a:pt x="267" y="99"/>
                    <a:pt x="267" y="99"/>
                    <a:pt x="267" y="99"/>
                  </a:cubicBezTo>
                  <a:cubicBezTo>
                    <a:pt x="271" y="149"/>
                    <a:pt x="271" y="149"/>
                    <a:pt x="271" y="149"/>
                  </a:cubicBezTo>
                  <a:cubicBezTo>
                    <a:pt x="251" y="150"/>
                    <a:pt x="251" y="150"/>
                    <a:pt x="251" y="150"/>
                  </a:cubicBezTo>
                  <a:cubicBezTo>
                    <a:pt x="249" y="164"/>
                    <a:pt x="245" y="177"/>
                    <a:pt x="239" y="189"/>
                  </a:cubicBezTo>
                  <a:close/>
                  <a:moveTo>
                    <a:pt x="136" y="270"/>
                  </a:moveTo>
                  <a:cubicBezTo>
                    <a:pt x="123" y="271"/>
                    <a:pt x="123" y="271"/>
                    <a:pt x="123" y="271"/>
                  </a:cubicBezTo>
                  <a:cubicBezTo>
                    <a:pt x="121" y="251"/>
                    <a:pt x="121" y="251"/>
                    <a:pt x="121" y="251"/>
                  </a:cubicBezTo>
                  <a:cubicBezTo>
                    <a:pt x="107" y="249"/>
                    <a:pt x="94" y="245"/>
                    <a:pt x="82" y="238"/>
                  </a:cubicBezTo>
                  <a:cubicBezTo>
                    <a:pt x="69" y="254"/>
                    <a:pt x="69" y="254"/>
                    <a:pt x="69" y="254"/>
                  </a:cubicBezTo>
                  <a:cubicBezTo>
                    <a:pt x="31" y="222"/>
                    <a:pt x="31" y="222"/>
                    <a:pt x="31" y="222"/>
                  </a:cubicBezTo>
                  <a:cubicBezTo>
                    <a:pt x="44" y="206"/>
                    <a:pt x="44" y="206"/>
                    <a:pt x="44" y="206"/>
                  </a:cubicBezTo>
                  <a:cubicBezTo>
                    <a:pt x="35" y="195"/>
                    <a:pt x="29" y="183"/>
                    <a:pt x="25" y="170"/>
                  </a:cubicBezTo>
                  <a:cubicBezTo>
                    <a:pt x="5" y="172"/>
                    <a:pt x="5" y="172"/>
                    <a:pt x="5" y="172"/>
                  </a:cubicBezTo>
                  <a:cubicBezTo>
                    <a:pt x="0" y="122"/>
                    <a:pt x="0" y="122"/>
                    <a:pt x="0" y="122"/>
                  </a:cubicBezTo>
                  <a:cubicBezTo>
                    <a:pt x="20" y="120"/>
                    <a:pt x="20" y="120"/>
                    <a:pt x="20" y="120"/>
                  </a:cubicBezTo>
                  <a:cubicBezTo>
                    <a:pt x="22" y="107"/>
                    <a:pt x="26" y="94"/>
                    <a:pt x="33" y="82"/>
                  </a:cubicBezTo>
                  <a:cubicBezTo>
                    <a:pt x="17" y="69"/>
                    <a:pt x="17" y="69"/>
                    <a:pt x="17" y="69"/>
                  </a:cubicBezTo>
                  <a:cubicBezTo>
                    <a:pt x="49" y="30"/>
                    <a:pt x="49" y="30"/>
                    <a:pt x="49" y="30"/>
                  </a:cubicBezTo>
                  <a:cubicBezTo>
                    <a:pt x="65" y="43"/>
                    <a:pt x="65" y="43"/>
                    <a:pt x="65" y="43"/>
                  </a:cubicBezTo>
                  <a:cubicBezTo>
                    <a:pt x="76" y="35"/>
                    <a:pt x="88" y="29"/>
                    <a:pt x="101" y="24"/>
                  </a:cubicBezTo>
                  <a:cubicBezTo>
                    <a:pt x="99" y="4"/>
                    <a:pt x="99" y="4"/>
                    <a:pt x="99" y="4"/>
                  </a:cubicBezTo>
                  <a:cubicBezTo>
                    <a:pt x="136" y="1"/>
                    <a:pt x="136" y="1"/>
                    <a:pt x="136" y="1"/>
                  </a:cubicBezTo>
                  <a:cubicBezTo>
                    <a:pt x="136" y="57"/>
                    <a:pt x="136" y="57"/>
                    <a:pt x="136" y="57"/>
                  </a:cubicBezTo>
                  <a:cubicBezTo>
                    <a:pt x="113" y="57"/>
                    <a:pt x="91" y="67"/>
                    <a:pt x="76" y="85"/>
                  </a:cubicBezTo>
                  <a:cubicBezTo>
                    <a:pt x="48" y="118"/>
                    <a:pt x="53" y="168"/>
                    <a:pt x="86" y="195"/>
                  </a:cubicBezTo>
                  <a:cubicBezTo>
                    <a:pt x="94" y="202"/>
                    <a:pt x="103" y="207"/>
                    <a:pt x="113" y="210"/>
                  </a:cubicBezTo>
                  <a:cubicBezTo>
                    <a:pt x="121" y="212"/>
                    <a:pt x="128" y="213"/>
                    <a:pt x="136" y="213"/>
                  </a:cubicBezTo>
                  <a:lnTo>
                    <a:pt x="136" y="27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8" name="ïṡlîḑê"/>
            <p:cNvSpPr/>
            <p:nvPr/>
          </p:nvSpPr>
          <p:spPr bwMode="auto">
            <a:xfrm>
              <a:off x="7726691" y="1159097"/>
              <a:ext cx="538556" cy="374446"/>
            </a:xfrm>
            <a:custGeom>
              <a:avLst/>
              <a:gdLst>
                <a:gd name="T0" fmla="*/ 213 w 269"/>
                <a:gd name="T1" fmla="*/ 68 h 187"/>
                <a:gd name="T2" fmla="*/ 269 w 269"/>
                <a:gd name="T3" fmla="*/ 127 h 187"/>
                <a:gd name="T4" fmla="*/ 269 w 269"/>
                <a:gd name="T5" fmla="*/ 127 h 187"/>
                <a:gd name="T6" fmla="*/ 211 w 269"/>
                <a:gd name="T7" fmla="*/ 187 h 187"/>
                <a:gd name="T8" fmla="*/ 63 w 269"/>
                <a:gd name="T9" fmla="*/ 187 h 187"/>
                <a:gd name="T10" fmla="*/ 0 w 269"/>
                <a:gd name="T11" fmla="*/ 127 h 187"/>
                <a:gd name="T12" fmla="*/ 0 w 269"/>
                <a:gd name="T13" fmla="*/ 127 h 187"/>
                <a:gd name="T14" fmla="*/ 55 w 269"/>
                <a:gd name="T15" fmla="*/ 68 h 187"/>
                <a:gd name="T16" fmla="*/ 55 w 269"/>
                <a:gd name="T17" fmla="*/ 66 h 187"/>
                <a:gd name="T18" fmla="*/ 134 w 269"/>
                <a:gd name="T19" fmla="*/ 0 h 187"/>
                <a:gd name="T20" fmla="*/ 213 w 269"/>
                <a:gd name="T21" fmla="*/ 66 h 187"/>
                <a:gd name="T22" fmla="*/ 213 w 269"/>
                <a:gd name="T23" fmla="*/ 6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9" h="187">
                  <a:moveTo>
                    <a:pt x="213" y="68"/>
                  </a:moveTo>
                  <a:cubicBezTo>
                    <a:pt x="245" y="75"/>
                    <a:pt x="269" y="99"/>
                    <a:pt x="269" y="127"/>
                  </a:cubicBezTo>
                  <a:cubicBezTo>
                    <a:pt x="269" y="127"/>
                    <a:pt x="269" y="127"/>
                    <a:pt x="269" y="127"/>
                  </a:cubicBezTo>
                  <a:cubicBezTo>
                    <a:pt x="269" y="157"/>
                    <a:pt x="244" y="187"/>
                    <a:pt x="211" y="187"/>
                  </a:cubicBezTo>
                  <a:cubicBezTo>
                    <a:pt x="63" y="187"/>
                    <a:pt x="63" y="187"/>
                    <a:pt x="63" y="187"/>
                  </a:cubicBezTo>
                  <a:cubicBezTo>
                    <a:pt x="27" y="187"/>
                    <a:pt x="0" y="158"/>
                    <a:pt x="0" y="127"/>
                  </a:cubicBezTo>
                  <a:cubicBezTo>
                    <a:pt x="0" y="127"/>
                    <a:pt x="0" y="127"/>
                    <a:pt x="0" y="127"/>
                  </a:cubicBezTo>
                  <a:cubicBezTo>
                    <a:pt x="0" y="99"/>
                    <a:pt x="23" y="75"/>
                    <a:pt x="55" y="68"/>
                  </a:cubicBezTo>
                  <a:cubicBezTo>
                    <a:pt x="55" y="68"/>
                    <a:pt x="55" y="67"/>
                    <a:pt x="55" y="66"/>
                  </a:cubicBezTo>
                  <a:cubicBezTo>
                    <a:pt x="55" y="30"/>
                    <a:pt x="91" y="0"/>
                    <a:pt x="134" y="0"/>
                  </a:cubicBezTo>
                  <a:cubicBezTo>
                    <a:pt x="178" y="0"/>
                    <a:pt x="213" y="30"/>
                    <a:pt x="213" y="66"/>
                  </a:cubicBezTo>
                  <a:cubicBezTo>
                    <a:pt x="213" y="67"/>
                    <a:pt x="213" y="68"/>
                    <a:pt x="213" y="68"/>
                  </a:cubicBezTo>
                  <a:close/>
                </a:path>
              </a:pathLst>
            </a:custGeom>
            <a:solidFill>
              <a:srgbClr val="FFBBA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9" name="íšḻíḍè"/>
            <p:cNvSpPr/>
            <p:nvPr/>
          </p:nvSpPr>
          <p:spPr bwMode="auto">
            <a:xfrm>
              <a:off x="7619211" y="1151007"/>
              <a:ext cx="376758" cy="262344"/>
            </a:xfrm>
            <a:custGeom>
              <a:avLst/>
              <a:gdLst>
                <a:gd name="T0" fmla="*/ 149 w 188"/>
                <a:gd name="T1" fmla="*/ 48 h 131"/>
                <a:gd name="T2" fmla="*/ 188 w 188"/>
                <a:gd name="T3" fmla="*/ 89 h 131"/>
                <a:gd name="T4" fmla="*/ 188 w 188"/>
                <a:gd name="T5" fmla="*/ 89 h 131"/>
                <a:gd name="T6" fmla="*/ 147 w 188"/>
                <a:gd name="T7" fmla="*/ 131 h 131"/>
                <a:gd name="T8" fmla="*/ 44 w 188"/>
                <a:gd name="T9" fmla="*/ 131 h 131"/>
                <a:gd name="T10" fmla="*/ 0 w 188"/>
                <a:gd name="T11" fmla="*/ 89 h 131"/>
                <a:gd name="T12" fmla="*/ 0 w 188"/>
                <a:gd name="T13" fmla="*/ 89 h 131"/>
                <a:gd name="T14" fmla="*/ 39 w 188"/>
                <a:gd name="T15" fmla="*/ 48 h 131"/>
                <a:gd name="T16" fmla="*/ 39 w 188"/>
                <a:gd name="T17" fmla="*/ 47 h 131"/>
                <a:gd name="T18" fmla="*/ 94 w 188"/>
                <a:gd name="T19" fmla="*/ 0 h 131"/>
                <a:gd name="T20" fmla="*/ 149 w 188"/>
                <a:gd name="T21" fmla="*/ 47 h 131"/>
                <a:gd name="T22" fmla="*/ 149 w 188"/>
                <a:gd name="T23" fmla="*/ 4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31">
                  <a:moveTo>
                    <a:pt x="149" y="48"/>
                  </a:moveTo>
                  <a:cubicBezTo>
                    <a:pt x="172" y="53"/>
                    <a:pt x="188" y="69"/>
                    <a:pt x="188" y="89"/>
                  </a:cubicBezTo>
                  <a:cubicBezTo>
                    <a:pt x="188" y="89"/>
                    <a:pt x="188" y="89"/>
                    <a:pt x="188" y="89"/>
                  </a:cubicBezTo>
                  <a:cubicBezTo>
                    <a:pt x="188" y="110"/>
                    <a:pt x="171" y="131"/>
                    <a:pt x="147" y="131"/>
                  </a:cubicBezTo>
                  <a:cubicBezTo>
                    <a:pt x="44" y="131"/>
                    <a:pt x="44" y="131"/>
                    <a:pt x="44" y="131"/>
                  </a:cubicBezTo>
                  <a:cubicBezTo>
                    <a:pt x="19" y="131"/>
                    <a:pt x="0" y="111"/>
                    <a:pt x="0" y="89"/>
                  </a:cubicBezTo>
                  <a:cubicBezTo>
                    <a:pt x="0" y="89"/>
                    <a:pt x="0" y="89"/>
                    <a:pt x="0" y="89"/>
                  </a:cubicBezTo>
                  <a:cubicBezTo>
                    <a:pt x="0" y="69"/>
                    <a:pt x="17" y="53"/>
                    <a:pt x="39" y="48"/>
                  </a:cubicBezTo>
                  <a:cubicBezTo>
                    <a:pt x="39" y="48"/>
                    <a:pt x="39" y="47"/>
                    <a:pt x="39" y="47"/>
                  </a:cubicBezTo>
                  <a:cubicBezTo>
                    <a:pt x="39" y="21"/>
                    <a:pt x="64" y="0"/>
                    <a:pt x="94" y="0"/>
                  </a:cubicBezTo>
                  <a:cubicBezTo>
                    <a:pt x="125" y="0"/>
                    <a:pt x="149" y="21"/>
                    <a:pt x="149" y="47"/>
                  </a:cubicBezTo>
                  <a:cubicBezTo>
                    <a:pt x="149" y="47"/>
                    <a:pt x="149" y="48"/>
                    <a:pt x="149"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0" name="îṣḷíḓe"/>
            <p:cNvSpPr/>
            <p:nvPr/>
          </p:nvSpPr>
          <p:spPr bwMode="auto">
            <a:xfrm>
              <a:off x="4913720" y="1954218"/>
              <a:ext cx="2024784" cy="2830306"/>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1" name="îSlîḑè"/>
            <p:cNvSpPr/>
            <p:nvPr/>
          </p:nvSpPr>
          <p:spPr bwMode="auto">
            <a:xfrm>
              <a:off x="5061650" y="2118327"/>
              <a:ext cx="970787" cy="35827"/>
            </a:xfrm>
            <a:prstGeom prst="rect">
              <a:avLst/>
            </a:prstGeom>
            <a:solidFill>
              <a:srgbClr val="F2675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2" name="íSlîďè"/>
            <p:cNvSpPr/>
            <p:nvPr/>
          </p:nvSpPr>
          <p:spPr bwMode="auto">
            <a:xfrm>
              <a:off x="5061650" y="2208471"/>
              <a:ext cx="31088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3" name="îṥļïďe"/>
            <p:cNvSpPr/>
            <p:nvPr/>
          </p:nvSpPr>
          <p:spPr bwMode="auto">
            <a:xfrm>
              <a:off x="5061650" y="2300927"/>
              <a:ext cx="5027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4" name="îŝḻïḑé"/>
            <p:cNvSpPr/>
            <p:nvPr/>
          </p:nvSpPr>
          <p:spPr bwMode="auto">
            <a:xfrm>
              <a:off x="5296257" y="2391072"/>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5" name="íšļîḋè"/>
            <p:cNvSpPr/>
            <p:nvPr/>
          </p:nvSpPr>
          <p:spPr bwMode="auto">
            <a:xfrm>
              <a:off x="5296257" y="2483527"/>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6" name="î$ļíḍé"/>
            <p:cNvSpPr/>
            <p:nvPr/>
          </p:nvSpPr>
          <p:spPr bwMode="auto">
            <a:xfrm>
              <a:off x="5498504" y="2573672"/>
              <a:ext cx="28661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7" name="íśḷïḋè"/>
            <p:cNvSpPr/>
            <p:nvPr/>
          </p:nvSpPr>
          <p:spPr bwMode="auto">
            <a:xfrm>
              <a:off x="5477701" y="2208471"/>
              <a:ext cx="53162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8" name="îşḻîďê"/>
            <p:cNvSpPr/>
            <p:nvPr/>
          </p:nvSpPr>
          <p:spPr bwMode="auto">
            <a:xfrm>
              <a:off x="6084443" y="2208471"/>
              <a:ext cx="25540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9" name="ïṧḷîḑe"/>
            <p:cNvSpPr/>
            <p:nvPr/>
          </p:nvSpPr>
          <p:spPr bwMode="auto">
            <a:xfrm>
              <a:off x="6435775" y="2208471"/>
              <a:ext cx="342087"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0" name="iŝľîdé"/>
            <p:cNvSpPr/>
            <p:nvPr/>
          </p:nvSpPr>
          <p:spPr bwMode="auto">
            <a:xfrm>
              <a:off x="5648745" y="2300927"/>
              <a:ext cx="298170"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1" name="ïŝḷïḓê"/>
            <p:cNvSpPr/>
            <p:nvPr/>
          </p:nvSpPr>
          <p:spPr bwMode="auto">
            <a:xfrm>
              <a:off x="5678793" y="2391072"/>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2" name="îśliḍé"/>
            <p:cNvSpPr/>
            <p:nvPr/>
          </p:nvSpPr>
          <p:spPr bwMode="auto">
            <a:xfrm>
              <a:off x="5678793" y="2483527"/>
              <a:ext cx="29239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3" name="íŝļíḍé"/>
            <p:cNvSpPr/>
            <p:nvPr/>
          </p:nvSpPr>
          <p:spPr bwMode="auto">
            <a:xfrm>
              <a:off x="5930735" y="2391072"/>
              <a:ext cx="32475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4" name="ïŝ1ïḓé"/>
            <p:cNvSpPr/>
            <p:nvPr/>
          </p:nvSpPr>
          <p:spPr bwMode="auto">
            <a:xfrm>
              <a:off x="6321361" y="2391072"/>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5" name="îsļîḋé"/>
            <p:cNvSpPr/>
            <p:nvPr/>
          </p:nvSpPr>
          <p:spPr bwMode="auto">
            <a:xfrm>
              <a:off x="6565214" y="2391072"/>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6" name="iŝlidé"/>
            <p:cNvSpPr/>
            <p:nvPr/>
          </p:nvSpPr>
          <p:spPr bwMode="auto">
            <a:xfrm>
              <a:off x="6037059" y="2483527"/>
              <a:ext cx="368668"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7" name="ïŝ1iďé"/>
            <p:cNvSpPr/>
            <p:nvPr/>
          </p:nvSpPr>
          <p:spPr bwMode="auto">
            <a:xfrm>
              <a:off x="6461201" y="2483527"/>
              <a:ext cx="110947"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8" name="îṧľiḋê"/>
            <p:cNvSpPr/>
            <p:nvPr/>
          </p:nvSpPr>
          <p:spPr bwMode="auto">
            <a:xfrm>
              <a:off x="5864860" y="2573672"/>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9" name="îṣľïďè"/>
            <p:cNvSpPr/>
            <p:nvPr/>
          </p:nvSpPr>
          <p:spPr bwMode="auto">
            <a:xfrm>
              <a:off x="5296257" y="2755117"/>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0" name="îSḻidé"/>
            <p:cNvSpPr/>
            <p:nvPr/>
          </p:nvSpPr>
          <p:spPr bwMode="auto">
            <a:xfrm>
              <a:off x="5296257" y="2847573"/>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1" name="í$ḻîďé"/>
            <p:cNvSpPr/>
            <p:nvPr/>
          </p:nvSpPr>
          <p:spPr bwMode="auto">
            <a:xfrm>
              <a:off x="5678793" y="2755117"/>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2" name="ísļiḓé"/>
            <p:cNvSpPr/>
            <p:nvPr/>
          </p:nvSpPr>
          <p:spPr bwMode="auto">
            <a:xfrm>
              <a:off x="5678793" y="2847573"/>
              <a:ext cx="26234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3" name="íṣḷíḋe"/>
            <p:cNvSpPr/>
            <p:nvPr/>
          </p:nvSpPr>
          <p:spPr bwMode="auto">
            <a:xfrm>
              <a:off x="5930735" y="2755117"/>
              <a:ext cx="250787"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4" name="iṩḷîdé"/>
            <p:cNvSpPr/>
            <p:nvPr/>
          </p:nvSpPr>
          <p:spPr bwMode="auto">
            <a:xfrm>
              <a:off x="6231217" y="2755117"/>
              <a:ext cx="131750"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5" name="iśḻïḑe"/>
            <p:cNvSpPr/>
            <p:nvPr/>
          </p:nvSpPr>
          <p:spPr bwMode="auto">
            <a:xfrm>
              <a:off x="6419596" y="2755117"/>
              <a:ext cx="16179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6" name="îṥļíďé"/>
            <p:cNvSpPr/>
            <p:nvPr/>
          </p:nvSpPr>
          <p:spPr bwMode="auto">
            <a:xfrm>
              <a:off x="6198857" y="2847573"/>
              <a:ext cx="29239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7" name="îšḻîďe"/>
            <p:cNvSpPr/>
            <p:nvPr/>
          </p:nvSpPr>
          <p:spPr bwMode="auto">
            <a:xfrm>
              <a:off x="5296257" y="2937717"/>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8" name="íṩḻîḍe"/>
            <p:cNvSpPr/>
            <p:nvPr/>
          </p:nvSpPr>
          <p:spPr bwMode="auto">
            <a:xfrm>
              <a:off x="5296257" y="3030173"/>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9" name="î$ḷïdé"/>
            <p:cNvSpPr/>
            <p:nvPr/>
          </p:nvSpPr>
          <p:spPr bwMode="auto">
            <a:xfrm>
              <a:off x="5678793" y="2937717"/>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0" name="ïŝlíḍé"/>
            <p:cNvSpPr/>
            <p:nvPr/>
          </p:nvSpPr>
          <p:spPr bwMode="auto">
            <a:xfrm>
              <a:off x="5678793" y="3030173"/>
              <a:ext cx="53624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1" name="ïṡľíḍe"/>
            <p:cNvSpPr/>
            <p:nvPr/>
          </p:nvSpPr>
          <p:spPr bwMode="auto">
            <a:xfrm>
              <a:off x="5930735" y="2937717"/>
              <a:ext cx="32475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2" name="iSḷiḓè"/>
            <p:cNvSpPr/>
            <p:nvPr/>
          </p:nvSpPr>
          <p:spPr bwMode="auto">
            <a:xfrm>
              <a:off x="6321361" y="2937717"/>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3" name="iṥļîdé"/>
            <p:cNvSpPr/>
            <p:nvPr/>
          </p:nvSpPr>
          <p:spPr bwMode="auto">
            <a:xfrm>
              <a:off x="6565214" y="2937717"/>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4" name="ïṩḻîḍè"/>
            <p:cNvSpPr/>
            <p:nvPr/>
          </p:nvSpPr>
          <p:spPr bwMode="auto">
            <a:xfrm>
              <a:off x="6280912" y="3030173"/>
              <a:ext cx="30048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5" name="íŝľïḑe"/>
            <p:cNvSpPr/>
            <p:nvPr/>
          </p:nvSpPr>
          <p:spPr bwMode="auto">
            <a:xfrm>
              <a:off x="6001233" y="2847573"/>
              <a:ext cx="123660"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6" name="íśľíḓé"/>
            <p:cNvSpPr/>
            <p:nvPr/>
          </p:nvSpPr>
          <p:spPr bwMode="auto">
            <a:xfrm>
              <a:off x="5061650" y="3211618"/>
              <a:ext cx="31088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7" name="îš1îḑè"/>
            <p:cNvSpPr/>
            <p:nvPr/>
          </p:nvSpPr>
          <p:spPr bwMode="auto">
            <a:xfrm>
              <a:off x="5061650" y="3304074"/>
              <a:ext cx="5027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8" name="íṡľíḓé"/>
            <p:cNvSpPr/>
            <p:nvPr/>
          </p:nvSpPr>
          <p:spPr bwMode="auto">
            <a:xfrm>
              <a:off x="5296257" y="3394218"/>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9" name="i$ļîḑe"/>
            <p:cNvSpPr/>
            <p:nvPr/>
          </p:nvSpPr>
          <p:spPr bwMode="auto">
            <a:xfrm>
              <a:off x="5296257" y="3486674"/>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0" name="îs1iḋé"/>
            <p:cNvSpPr/>
            <p:nvPr/>
          </p:nvSpPr>
          <p:spPr bwMode="auto">
            <a:xfrm>
              <a:off x="5498504" y="3576818"/>
              <a:ext cx="28661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1" name="îśļîḑè"/>
            <p:cNvSpPr/>
            <p:nvPr/>
          </p:nvSpPr>
          <p:spPr bwMode="auto">
            <a:xfrm>
              <a:off x="5477701" y="3211618"/>
              <a:ext cx="294703"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2" name="ïṧḷiďe"/>
            <p:cNvSpPr/>
            <p:nvPr/>
          </p:nvSpPr>
          <p:spPr bwMode="auto">
            <a:xfrm>
              <a:off x="5848681" y="3211618"/>
              <a:ext cx="14792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3" name="íSḷîḋê"/>
            <p:cNvSpPr/>
            <p:nvPr/>
          </p:nvSpPr>
          <p:spPr bwMode="auto">
            <a:xfrm>
              <a:off x="6092533" y="3211618"/>
              <a:ext cx="47268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4" name="ïṧḻïḓè"/>
            <p:cNvSpPr/>
            <p:nvPr/>
          </p:nvSpPr>
          <p:spPr bwMode="auto">
            <a:xfrm>
              <a:off x="5648745" y="3304074"/>
              <a:ext cx="298170"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5" name="îṧḷíḓé"/>
            <p:cNvSpPr/>
            <p:nvPr/>
          </p:nvSpPr>
          <p:spPr bwMode="auto">
            <a:xfrm>
              <a:off x="5678793" y="3394218"/>
              <a:ext cx="331685"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6" name="íṥḷídè"/>
            <p:cNvSpPr/>
            <p:nvPr/>
          </p:nvSpPr>
          <p:spPr bwMode="auto">
            <a:xfrm>
              <a:off x="5678793" y="3486674"/>
              <a:ext cx="225361"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7" name="îšḷiḑê"/>
            <p:cNvSpPr/>
            <p:nvPr/>
          </p:nvSpPr>
          <p:spPr bwMode="auto">
            <a:xfrm>
              <a:off x="6092533" y="3394218"/>
              <a:ext cx="248475"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8" name="ïslíḋè"/>
            <p:cNvSpPr/>
            <p:nvPr/>
          </p:nvSpPr>
          <p:spPr bwMode="auto">
            <a:xfrm>
              <a:off x="5971185" y="3486674"/>
              <a:ext cx="434543"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49" name="işḻiḋè"/>
            <p:cNvSpPr/>
            <p:nvPr/>
          </p:nvSpPr>
          <p:spPr bwMode="auto">
            <a:xfrm>
              <a:off x="6461201" y="3486674"/>
              <a:ext cx="110947"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0" name="ïŝļídê"/>
            <p:cNvSpPr/>
            <p:nvPr/>
          </p:nvSpPr>
          <p:spPr bwMode="auto">
            <a:xfrm>
              <a:off x="5864860" y="3576818"/>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1" name="îṥ1iḑè"/>
            <p:cNvSpPr/>
            <p:nvPr/>
          </p:nvSpPr>
          <p:spPr bwMode="auto">
            <a:xfrm>
              <a:off x="6124892" y="3576818"/>
              <a:ext cx="394093"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2" name="îsḻîďè"/>
            <p:cNvSpPr/>
            <p:nvPr/>
          </p:nvSpPr>
          <p:spPr bwMode="auto">
            <a:xfrm>
              <a:off x="6577926" y="3576818"/>
              <a:ext cx="11788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3" name="išlïdé"/>
            <p:cNvSpPr/>
            <p:nvPr/>
          </p:nvSpPr>
          <p:spPr bwMode="auto">
            <a:xfrm>
              <a:off x="5296257" y="3759419"/>
              <a:ext cx="292392" cy="36982"/>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4" name="ïsļíḋê"/>
            <p:cNvSpPr/>
            <p:nvPr/>
          </p:nvSpPr>
          <p:spPr bwMode="auto">
            <a:xfrm>
              <a:off x="5296257" y="3850719"/>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5" name="îṡľíḑè"/>
            <p:cNvSpPr/>
            <p:nvPr/>
          </p:nvSpPr>
          <p:spPr bwMode="auto">
            <a:xfrm>
              <a:off x="5678793" y="3759419"/>
              <a:ext cx="481926" cy="3698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6" name="îṩḷïḍê"/>
            <p:cNvSpPr/>
            <p:nvPr/>
          </p:nvSpPr>
          <p:spPr bwMode="auto">
            <a:xfrm>
              <a:off x="5678793" y="3850719"/>
              <a:ext cx="26234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7" name="ïṧļïďe"/>
            <p:cNvSpPr/>
            <p:nvPr/>
          </p:nvSpPr>
          <p:spPr bwMode="auto">
            <a:xfrm>
              <a:off x="6231217" y="3759419"/>
              <a:ext cx="131750" cy="3698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8" name="îṣḻîďè"/>
            <p:cNvSpPr/>
            <p:nvPr/>
          </p:nvSpPr>
          <p:spPr bwMode="auto">
            <a:xfrm>
              <a:off x="6419596" y="3759419"/>
              <a:ext cx="161798" cy="3698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59" name="iṧļiḋê"/>
            <p:cNvSpPr/>
            <p:nvPr/>
          </p:nvSpPr>
          <p:spPr bwMode="auto">
            <a:xfrm>
              <a:off x="6198857" y="3850719"/>
              <a:ext cx="29239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0" name="íślíḍe"/>
            <p:cNvSpPr/>
            <p:nvPr/>
          </p:nvSpPr>
          <p:spPr bwMode="auto">
            <a:xfrm>
              <a:off x="6001233" y="3850719"/>
              <a:ext cx="123660"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1" name="iśļîďè"/>
            <p:cNvSpPr/>
            <p:nvPr/>
          </p:nvSpPr>
          <p:spPr bwMode="auto">
            <a:xfrm>
              <a:off x="5061650" y="4000960"/>
              <a:ext cx="310883"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2" name="îśľídè"/>
            <p:cNvSpPr/>
            <p:nvPr/>
          </p:nvSpPr>
          <p:spPr bwMode="auto">
            <a:xfrm>
              <a:off x="5061650" y="4091104"/>
              <a:ext cx="5027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3" name="islíḓé"/>
            <p:cNvSpPr/>
            <p:nvPr/>
          </p:nvSpPr>
          <p:spPr bwMode="auto">
            <a:xfrm>
              <a:off x="5296257" y="4183560"/>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4" name="ïsļïḋé"/>
            <p:cNvSpPr/>
            <p:nvPr/>
          </p:nvSpPr>
          <p:spPr bwMode="auto">
            <a:xfrm>
              <a:off x="5296257" y="4273705"/>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5" name="îṣlïḑe"/>
            <p:cNvSpPr/>
            <p:nvPr/>
          </p:nvSpPr>
          <p:spPr bwMode="auto">
            <a:xfrm>
              <a:off x="5498504" y="4366161"/>
              <a:ext cx="286613"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6" name="îṥľíḓé"/>
            <p:cNvSpPr/>
            <p:nvPr/>
          </p:nvSpPr>
          <p:spPr bwMode="auto">
            <a:xfrm>
              <a:off x="5477701" y="4000960"/>
              <a:ext cx="294703"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7" name="îşḷídé"/>
            <p:cNvSpPr/>
            <p:nvPr/>
          </p:nvSpPr>
          <p:spPr bwMode="auto">
            <a:xfrm>
              <a:off x="5848681" y="4000960"/>
              <a:ext cx="1479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8" name="ïŝḷíde"/>
            <p:cNvSpPr/>
            <p:nvPr/>
          </p:nvSpPr>
          <p:spPr bwMode="auto">
            <a:xfrm>
              <a:off x="6092533" y="4000960"/>
              <a:ext cx="6853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9" name="îSļîḑè"/>
            <p:cNvSpPr/>
            <p:nvPr/>
          </p:nvSpPr>
          <p:spPr bwMode="auto">
            <a:xfrm>
              <a:off x="5648745" y="4091104"/>
              <a:ext cx="298170"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0" name="îS1ïďè"/>
            <p:cNvSpPr/>
            <p:nvPr/>
          </p:nvSpPr>
          <p:spPr bwMode="auto">
            <a:xfrm>
              <a:off x="5678793" y="4183560"/>
              <a:ext cx="331685"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1" name="íṣḷíḓé"/>
            <p:cNvSpPr/>
            <p:nvPr/>
          </p:nvSpPr>
          <p:spPr bwMode="auto">
            <a:xfrm>
              <a:off x="5678793" y="4273705"/>
              <a:ext cx="22536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2" name="ïŝlîḓê"/>
            <p:cNvSpPr/>
            <p:nvPr/>
          </p:nvSpPr>
          <p:spPr bwMode="auto">
            <a:xfrm>
              <a:off x="6092533" y="4183560"/>
              <a:ext cx="248475"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3" name="ïś1ïdè"/>
            <p:cNvSpPr/>
            <p:nvPr/>
          </p:nvSpPr>
          <p:spPr bwMode="auto">
            <a:xfrm>
              <a:off x="6406883" y="4183560"/>
              <a:ext cx="150241"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4" name="iṩļiḋè"/>
            <p:cNvSpPr/>
            <p:nvPr/>
          </p:nvSpPr>
          <p:spPr bwMode="auto">
            <a:xfrm>
              <a:off x="6631088" y="4183560"/>
              <a:ext cx="14677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5" name="îšḻiḓê"/>
            <p:cNvSpPr/>
            <p:nvPr/>
          </p:nvSpPr>
          <p:spPr bwMode="auto">
            <a:xfrm>
              <a:off x="5971185" y="4273705"/>
              <a:ext cx="434543"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6" name="îṧ1îḋè"/>
            <p:cNvSpPr/>
            <p:nvPr/>
          </p:nvSpPr>
          <p:spPr bwMode="auto">
            <a:xfrm>
              <a:off x="6461201" y="4273705"/>
              <a:ext cx="110947"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7" name="îṣ1iḍè"/>
            <p:cNvSpPr/>
            <p:nvPr/>
          </p:nvSpPr>
          <p:spPr bwMode="auto">
            <a:xfrm>
              <a:off x="5864860" y="4366161"/>
              <a:ext cx="21264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8" name="ïşlîďe"/>
            <p:cNvSpPr/>
            <p:nvPr/>
          </p:nvSpPr>
          <p:spPr bwMode="auto">
            <a:xfrm>
              <a:off x="5296257" y="4547605"/>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9" name="íṣ1îḓè"/>
            <p:cNvSpPr/>
            <p:nvPr/>
          </p:nvSpPr>
          <p:spPr bwMode="auto">
            <a:xfrm>
              <a:off x="5296257" y="4637750"/>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0" name="îśľíḓê"/>
            <p:cNvSpPr/>
            <p:nvPr/>
          </p:nvSpPr>
          <p:spPr bwMode="auto">
            <a:xfrm>
              <a:off x="5678793" y="4547605"/>
              <a:ext cx="481926"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1" name="îšḻîde"/>
            <p:cNvSpPr/>
            <p:nvPr/>
          </p:nvSpPr>
          <p:spPr bwMode="auto">
            <a:xfrm>
              <a:off x="5678793" y="4637750"/>
              <a:ext cx="262344"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2" name="ï$1îḋè"/>
            <p:cNvSpPr/>
            <p:nvPr/>
          </p:nvSpPr>
          <p:spPr bwMode="auto">
            <a:xfrm>
              <a:off x="6231217" y="4547605"/>
              <a:ext cx="131750"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3" name="íş1idè"/>
            <p:cNvSpPr/>
            <p:nvPr/>
          </p:nvSpPr>
          <p:spPr bwMode="auto">
            <a:xfrm>
              <a:off x="6419596" y="4547605"/>
              <a:ext cx="161798"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4" name="íšḻîďe"/>
            <p:cNvSpPr/>
            <p:nvPr/>
          </p:nvSpPr>
          <p:spPr bwMode="auto">
            <a:xfrm>
              <a:off x="6198857" y="4637750"/>
              <a:ext cx="292392"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5" name="ïş1îďê"/>
            <p:cNvSpPr/>
            <p:nvPr/>
          </p:nvSpPr>
          <p:spPr bwMode="auto">
            <a:xfrm>
              <a:off x="6001233" y="4637750"/>
              <a:ext cx="123660"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grpSp>
      <p:grpSp>
        <p:nvGrpSpPr>
          <p:cNvPr id="486" name="1042c4d6-065c-43ea-a1d1-115b3632b96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3"/>
            </p:custDataLst>
          </p:nvPr>
        </p:nvGrpSpPr>
        <p:grpSpPr>
          <a:xfrm>
            <a:off x="6702908" y="953466"/>
            <a:ext cx="1227745" cy="1225913"/>
            <a:chOff x="3979863" y="1304925"/>
            <a:chExt cx="4254500" cy="4248151"/>
          </a:xfrm>
        </p:grpSpPr>
        <p:sp>
          <p:nvSpPr>
            <p:cNvPr id="487" name="iṡḻíḍè"/>
            <p:cNvSpPr/>
            <p:nvPr/>
          </p:nvSpPr>
          <p:spPr bwMode="auto">
            <a:xfrm>
              <a:off x="4533900" y="1857375"/>
              <a:ext cx="3146425" cy="3141663"/>
            </a:xfrm>
            <a:custGeom>
              <a:avLst/>
              <a:gdLst>
                <a:gd name="T0" fmla="*/ 284 w 284"/>
                <a:gd name="T1" fmla="*/ 223 h 284"/>
                <a:gd name="T2" fmla="*/ 223 w 284"/>
                <a:gd name="T3" fmla="*/ 284 h 284"/>
                <a:gd name="T4" fmla="*/ 61 w 284"/>
                <a:gd name="T5" fmla="*/ 284 h 284"/>
                <a:gd name="T6" fmla="*/ 0 w 284"/>
                <a:gd name="T7" fmla="*/ 223 h 284"/>
                <a:gd name="T8" fmla="*/ 0 w 284"/>
                <a:gd name="T9" fmla="*/ 62 h 284"/>
                <a:gd name="T10" fmla="*/ 61 w 284"/>
                <a:gd name="T11" fmla="*/ 0 h 284"/>
                <a:gd name="T12" fmla="*/ 223 w 284"/>
                <a:gd name="T13" fmla="*/ 0 h 284"/>
                <a:gd name="T14" fmla="*/ 284 w 284"/>
                <a:gd name="T15" fmla="*/ 62 h 284"/>
                <a:gd name="T16" fmla="*/ 284 w 284"/>
                <a:gd name="T17" fmla="*/ 22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284">
                  <a:moveTo>
                    <a:pt x="284" y="223"/>
                  </a:moveTo>
                  <a:cubicBezTo>
                    <a:pt x="284" y="257"/>
                    <a:pt x="257" y="284"/>
                    <a:pt x="223" y="284"/>
                  </a:cubicBezTo>
                  <a:cubicBezTo>
                    <a:pt x="61" y="284"/>
                    <a:pt x="61" y="284"/>
                    <a:pt x="61" y="284"/>
                  </a:cubicBezTo>
                  <a:cubicBezTo>
                    <a:pt x="27" y="284"/>
                    <a:pt x="0" y="257"/>
                    <a:pt x="0" y="223"/>
                  </a:cubicBezTo>
                  <a:cubicBezTo>
                    <a:pt x="0" y="62"/>
                    <a:pt x="0" y="62"/>
                    <a:pt x="0" y="62"/>
                  </a:cubicBezTo>
                  <a:cubicBezTo>
                    <a:pt x="0" y="27"/>
                    <a:pt x="27" y="0"/>
                    <a:pt x="61" y="0"/>
                  </a:cubicBezTo>
                  <a:cubicBezTo>
                    <a:pt x="223" y="0"/>
                    <a:pt x="223" y="0"/>
                    <a:pt x="223" y="0"/>
                  </a:cubicBezTo>
                  <a:cubicBezTo>
                    <a:pt x="257" y="0"/>
                    <a:pt x="284" y="27"/>
                    <a:pt x="284" y="62"/>
                  </a:cubicBezTo>
                  <a:lnTo>
                    <a:pt x="284" y="223"/>
                  </a:lnTo>
                  <a:close/>
                </a:path>
              </a:pathLst>
            </a:custGeom>
            <a:solidFill>
              <a:srgbClr val="11BC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88" name="íṡḷiďê"/>
            <p:cNvSpPr/>
            <p:nvPr/>
          </p:nvSpPr>
          <p:spPr bwMode="auto">
            <a:xfrm>
              <a:off x="4976813" y="2311400"/>
              <a:ext cx="2260600" cy="2246313"/>
            </a:xfrm>
            <a:custGeom>
              <a:avLst/>
              <a:gdLst>
                <a:gd name="T0" fmla="*/ 204 w 204"/>
                <a:gd name="T1" fmla="*/ 159 h 203"/>
                <a:gd name="T2" fmla="*/ 159 w 204"/>
                <a:gd name="T3" fmla="*/ 203 h 203"/>
                <a:gd name="T4" fmla="*/ 45 w 204"/>
                <a:gd name="T5" fmla="*/ 203 h 203"/>
                <a:gd name="T6" fmla="*/ 0 w 204"/>
                <a:gd name="T7" fmla="*/ 159 h 203"/>
                <a:gd name="T8" fmla="*/ 0 w 204"/>
                <a:gd name="T9" fmla="*/ 44 h 203"/>
                <a:gd name="T10" fmla="*/ 45 w 204"/>
                <a:gd name="T11" fmla="*/ 0 h 203"/>
                <a:gd name="T12" fmla="*/ 159 w 204"/>
                <a:gd name="T13" fmla="*/ 0 h 203"/>
                <a:gd name="T14" fmla="*/ 204 w 204"/>
                <a:gd name="T15" fmla="*/ 44 h 203"/>
                <a:gd name="T16" fmla="*/ 204 w 204"/>
                <a:gd name="T17" fmla="*/ 15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03">
                  <a:moveTo>
                    <a:pt x="204" y="159"/>
                  </a:moveTo>
                  <a:cubicBezTo>
                    <a:pt x="204" y="183"/>
                    <a:pt x="184" y="203"/>
                    <a:pt x="159" y="203"/>
                  </a:cubicBezTo>
                  <a:cubicBezTo>
                    <a:pt x="45" y="203"/>
                    <a:pt x="45" y="203"/>
                    <a:pt x="45" y="203"/>
                  </a:cubicBezTo>
                  <a:cubicBezTo>
                    <a:pt x="20" y="203"/>
                    <a:pt x="0" y="183"/>
                    <a:pt x="0" y="159"/>
                  </a:cubicBezTo>
                  <a:cubicBezTo>
                    <a:pt x="0" y="44"/>
                    <a:pt x="0" y="44"/>
                    <a:pt x="0" y="44"/>
                  </a:cubicBezTo>
                  <a:cubicBezTo>
                    <a:pt x="0" y="19"/>
                    <a:pt x="20" y="0"/>
                    <a:pt x="45" y="0"/>
                  </a:cubicBezTo>
                  <a:cubicBezTo>
                    <a:pt x="159" y="0"/>
                    <a:pt x="159" y="0"/>
                    <a:pt x="159" y="0"/>
                  </a:cubicBezTo>
                  <a:cubicBezTo>
                    <a:pt x="184" y="0"/>
                    <a:pt x="204" y="19"/>
                    <a:pt x="204" y="44"/>
                  </a:cubicBezTo>
                  <a:lnTo>
                    <a:pt x="204" y="159"/>
                  </a:lnTo>
                  <a:close/>
                </a:path>
              </a:pathLst>
            </a:custGeom>
            <a:solidFill>
              <a:srgbClr val="5EE8E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89" name="iṣľîḋê"/>
            <p:cNvSpPr/>
            <p:nvPr/>
          </p:nvSpPr>
          <p:spPr bwMode="auto">
            <a:xfrm>
              <a:off x="5221288" y="2543175"/>
              <a:ext cx="1773238" cy="1770063"/>
            </a:xfrm>
            <a:custGeom>
              <a:avLst/>
              <a:gdLst>
                <a:gd name="T0" fmla="*/ 160 w 160"/>
                <a:gd name="T1" fmla="*/ 20 h 160"/>
                <a:gd name="T2" fmla="*/ 20 w 160"/>
                <a:gd name="T3" fmla="*/ 0 h 160"/>
                <a:gd name="T4" fmla="*/ 0 w 160"/>
                <a:gd name="T5" fmla="*/ 140 h 160"/>
                <a:gd name="T6" fmla="*/ 140 w 160"/>
                <a:gd name="T7" fmla="*/ 160 h 160"/>
                <a:gd name="T8" fmla="*/ 20 w 160"/>
                <a:gd name="T9" fmla="*/ 151 h 160"/>
                <a:gd name="T10" fmla="*/ 9 w 160"/>
                <a:gd name="T11" fmla="*/ 138 h 160"/>
                <a:gd name="T12" fmla="*/ 51 w 160"/>
                <a:gd name="T13" fmla="*/ 142 h 160"/>
                <a:gd name="T14" fmla="*/ 51 w 160"/>
                <a:gd name="T15" fmla="*/ 123 h 160"/>
                <a:gd name="T16" fmla="*/ 9 w 160"/>
                <a:gd name="T17" fmla="*/ 127 h 160"/>
                <a:gd name="T18" fmla="*/ 67 w 160"/>
                <a:gd name="T19" fmla="*/ 107 h 160"/>
                <a:gd name="T20" fmla="*/ 88 w 160"/>
                <a:gd name="T21" fmla="*/ 123 h 160"/>
                <a:gd name="T22" fmla="*/ 108 w 160"/>
                <a:gd name="T23" fmla="*/ 123 h 160"/>
                <a:gd name="T24" fmla="*/ 95 w 160"/>
                <a:gd name="T25" fmla="*/ 113 h 160"/>
                <a:gd name="T26" fmla="*/ 9 w 160"/>
                <a:gd name="T27" fmla="*/ 96 h 160"/>
                <a:gd name="T28" fmla="*/ 25 w 160"/>
                <a:gd name="T29" fmla="*/ 80 h 160"/>
                <a:gd name="T30" fmla="*/ 43 w 160"/>
                <a:gd name="T31" fmla="*/ 75 h 160"/>
                <a:gd name="T32" fmla="*/ 25 w 160"/>
                <a:gd name="T33" fmla="*/ 69 h 160"/>
                <a:gd name="T34" fmla="*/ 9 w 160"/>
                <a:gd name="T35" fmla="*/ 31 h 160"/>
                <a:gd name="T36" fmla="*/ 60 w 160"/>
                <a:gd name="T37" fmla="*/ 36 h 160"/>
                <a:gd name="T38" fmla="*/ 60 w 160"/>
                <a:gd name="T39" fmla="*/ 16 h 160"/>
                <a:gd name="T40" fmla="*/ 9 w 160"/>
                <a:gd name="T41" fmla="*/ 20 h 160"/>
                <a:gd name="T42" fmla="*/ 20 w 160"/>
                <a:gd name="T43" fmla="*/ 9 h 160"/>
                <a:gd name="T44" fmla="*/ 151 w 160"/>
                <a:gd name="T45" fmla="*/ 20 h 160"/>
                <a:gd name="T46" fmla="*/ 104 w 160"/>
                <a:gd name="T47" fmla="*/ 30 h 160"/>
                <a:gd name="T48" fmla="*/ 70 w 160"/>
                <a:gd name="T49" fmla="*/ 45 h 160"/>
                <a:gd name="T50" fmla="*/ 70 w 160"/>
                <a:gd name="T51" fmla="*/ 65 h 160"/>
                <a:gd name="T52" fmla="*/ 106 w 160"/>
                <a:gd name="T53" fmla="*/ 41 h 160"/>
                <a:gd name="T54" fmla="*/ 151 w 160"/>
                <a:gd name="T55" fmla="*/ 61 h 160"/>
                <a:gd name="T56" fmla="*/ 121 w 160"/>
                <a:gd name="T57" fmla="*/ 57 h 160"/>
                <a:gd name="T58" fmla="*/ 121 w 160"/>
                <a:gd name="T59" fmla="*/ 76 h 160"/>
                <a:gd name="T60" fmla="*/ 151 w 160"/>
                <a:gd name="T61" fmla="*/ 72 h 160"/>
                <a:gd name="T62" fmla="*/ 117 w 160"/>
                <a:gd name="T63" fmla="*/ 90 h 160"/>
                <a:gd name="T64" fmla="*/ 88 w 160"/>
                <a:gd name="T65" fmla="*/ 70 h 160"/>
                <a:gd name="T66" fmla="*/ 88 w 160"/>
                <a:gd name="T67" fmla="*/ 90 h 160"/>
                <a:gd name="T68" fmla="*/ 114 w 160"/>
                <a:gd name="T69" fmla="*/ 101 h 160"/>
                <a:gd name="T70" fmla="*/ 151 w 160"/>
                <a:gd name="T71" fmla="*/ 117 h 160"/>
                <a:gd name="T72" fmla="*/ 137 w 160"/>
                <a:gd name="T73" fmla="*/ 113 h 160"/>
                <a:gd name="T74" fmla="*/ 137 w 160"/>
                <a:gd name="T75" fmla="*/ 132 h 160"/>
                <a:gd name="T76" fmla="*/ 151 w 160"/>
                <a:gd name="T77" fmla="*/ 128 h 160"/>
                <a:gd name="T78" fmla="*/ 140 w 160"/>
                <a:gd name="T79" fmla="*/ 1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60">
                  <a:moveTo>
                    <a:pt x="160" y="140"/>
                  </a:moveTo>
                  <a:cubicBezTo>
                    <a:pt x="160" y="20"/>
                    <a:pt x="160" y="20"/>
                    <a:pt x="160" y="20"/>
                  </a:cubicBezTo>
                  <a:cubicBezTo>
                    <a:pt x="160" y="9"/>
                    <a:pt x="151" y="0"/>
                    <a:pt x="140" y="0"/>
                  </a:cubicBezTo>
                  <a:cubicBezTo>
                    <a:pt x="20" y="0"/>
                    <a:pt x="20" y="0"/>
                    <a:pt x="20" y="0"/>
                  </a:cubicBezTo>
                  <a:cubicBezTo>
                    <a:pt x="9" y="0"/>
                    <a:pt x="0" y="9"/>
                    <a:pt x="0" y="20"/>
                  </a:cubicBezTo>
                  <a:cubicBezTo>
                    <a:pt x="0" y="140"/>
                    <a:pt x="0" y="140"/>
                    <a:pt x="0" y="140"/>
                  </a:cubicBezTo>
                  <a:cubicBezTo>
                    <a:pt x="0" y="151"/>
                    <a:pt x="9" y="160"/>
                    <a:pt x="20" y="160"/>
                  </a:cubicBezTo>
                  <a:cubicBezTo>
                    <a:pt x="140" y="160"/>
                    <a:pt x="140" y="160"/>
                    <a:pt x="140" y="160"/>
                  </a:cubicBezTo>
                  <a:cubicBezTo>
                    <a:pt x="151" y="160"/>
                    <a:pt x="160" y="151"/>
                    <a:pt x="160" y="140"/>
                  </a:cubicBezTo>
                  <a:close/>
                  <a:moveTo>
                    <a:pt x="20" y="151"/>
                  </a:moveTo>
                  <a:cubicBezTo>
                    <a:pt x="14" y="151"/>
                    <a:pt x="9" y="146"/>
                    <a:pt x="9" y="140"/>
                  </a:cubicBezTo>
                  <a:cubicBezTo>
                    <a:pt x="9" y="138"/>
                    <a:pt x="9" y="138"/>
                    <a:pt x="9" y="138"/>
                  </a:cubicBezTo>
                  <a:cubicBezTo>
                    <a:pt x="42" y="138"/>
                    <a:pt x="42" y="138"/>
                    <a:pt x="42" y="138"/>
                  </a:cubicBezTo>
                  <a:cubicBezTo>
                    <a:pt x="44" y="140"/>
                    <a:pt x="47" y="142"/>
                    <a:pt x="51" y="142"/>
                  </a:cubicBezTo>
                  <a:cubicBezTo>
                    <a:pt x="56" y="142"/>
                    <a:pt x="60" y="138"/>
                    <a:pt x="60" y="132"/>
                  </a:cubicBezTo>
                  <a:cubicBezTo>
                    <a:pt x="60" y="127"/>
                    <a:pt x="56" y="123"/>
                    <a:pt x="51" y="123"/>
                  </a:cubicBezTo>
                  <a:cubicBezTo>
                    <a:pt x="47" y="123"/>
                    <a:pt x="44" y="124"/>
                    <a:pt x="43" y="127"/>
                  </a:cubicBezTo>
                  <a:cubicBezTo>
                    <a:pt x="9" y="127"/>
                    <a:pt x="9" y="127"/>
                    <a:pt x="9" y="127"/>
                  </a:cubicBezTo>
                  <a:cubicBezTo>
                    <a:pt x="9" y="107"/>
                    <a:pt x="9" y="107"/>
                    <a:pt x="9" y="107"/>
                  </a:cubicBezTo>
                  <a:cubicBezTo>
                    <a:pt x="67" y="107"/>
                    <a:pt x="67" y="107"/>
                    <a:pt x="67" y="107"/>
                  </a:cubicBezTo>
                  <a:cubicBezTo>
                    <a:pt x="88" y="122"/>
                    <a:pt x="88" y="122"/>
                    <a:pt x="88" y="122"/>
                  </a:cubicBezTo>
                  <a:cubicBezTo>
                    <a:pt x="88" y="122"/>
                    <a:pt x="88" y="122"/>
                    <a:pt x="88" y="123"/>
                  </a:cubicBezTo>
                  <a:cubicBezTo>
                    <a:pt x="88" y="128"/>
                    <a:pt x="92" y="132"/>
                    <a:pt x="98" y="132"/>
                  </a:cubicBezTo>
                  <a:cubicBezTo>
                    <a:pt x="103" y="132"/>
                    <a:pt x="108" y="128"/>
                    <a:pt x="108" y="123"/>
                  </a:cubicBezTo>
                  <a:cubicBezTo>
                    <a:pt x="108" y="117"/>
                    <a:pt x="103" y="113"/>
                    <a:pt x="98" y="113"/>
                  </a:cubicBezTo>
                  <a:cubicBezTo>
                    <a:pt x="97" y="113"/>
                    <a:pt x="96" y="113"/>
                    <a:pt x="95" y="113"/>
                  </a:cubicBezTo>
                  <a:cubicBezTo>
                    <a:pt x="70" y="96"/>
                    <a:pt x="70" y="96"/>
                    <a:pt x="70" y="96"/>
                  </a:cubicBezTo>
                  <a:cubicBezTo>
                    <a:pt x="9" y="96"/>
                    <a:pt x="9" y="96"/>
                    <a:pt x="9" y="96"/>
                  </a:cubicBezTo>
                  <a:cubicBezTo>
                    <a:pt x="9" y="80"/>
                    <a:pt x="9" y="80"/>
                    <a:pt x="9" y="80"/>
                  </a:cubicBezTo>
                  <a:cubicBezTo>
                    <a:pt x="25" y="80"/>
                    <a:pt x="25" y="80"/>
                    <a:pt x="25" y="80"/>
                  </a:cubicBezTo>
                  <a:cubicBezTo>
                    <a:pt x="27" y="83"/>
                    <a:pt x="30" y="85"/>
                    <a:pt x="33" y="85"/>
                  </a:cubicBezTo>
                  <a:cubicBezTo>
                    <a:pt x="39" y="85"/>
                    <a:pt x="43" y="80"/>
                    <a:pt x="43" y="75"/>
                  </a:cubicBezTo>
                  <a:cubicBezTo>
                    <a:pt x="43" y="70"/>
                    <a:pt x="39" y="65"/>
                    <a:pt x="33" y="65"/>
                  </a:cubicBezTo>
                  <a:cubicBezTo>
                    <a:pt x="30" y="65"/>
                    <a:pt x="27" y="67"/>
                    <a:pt x="25" y="69"/>
                  </a:cubicBezTo>
                  <a:cubicBezTo>
                    <a:pt x="9" y="69"/>
                    <a:pt x="9" y="69"/>
                    <a:pt x="9" y="69"/>
                  </a:cubicBezTo>
                  <a:cubicBezTo>
                    <a:pt x="9" y="31"/>
                    <a:pt x="9" y="31"/>
                    <a:pt x="9" y="31"/>
                  </a:cubicBezTo>
                  <a:cubicBezTo>
                    <a:pt x="52" y="31"/>
                    <a:pt x="52" y="31"/>
                    <a:pt x="52" y="31"/>
                  </a:cubicBezTo>
                  <a:cubicBezTo>
                    <a:pt x="54" y="34"/>
                    <a:pt x="57" y="36"/>
                    <a:pt x="60" y="36"/>
                  </a:cubicBezTo>
                  <a:cubicBezTo>
                    <a:pt x="65" y="36"/>
                    <a:pt x="70" y="31"/>
                    <a:pt x="70" y="26"/>
                  </a:cubicBezTo>
                  <a:cubicBezTo>
                    <a:pt x="70" y="21"/>
                    <a:pt x="65" y="16"/>
                    <a:pt x="60" y="16"/>
                  </a:cubicBezTo>
                  <a:cubicBezTo>
                    <a:pt x="57" y="16"/>
                    <a:pt x="54" y="18"/>
                    <a:pt x="52" y="20"/>
                  </a:cubicBezTo>
                  <a:cubicBezTo>
                    <a:pt x="9" y="20"/>
                    <a:pt x="9" y="20"/>
                    <a:pt x="9" y="20"/>
                  </a:cubicBezTo>
                  <a:cubicBezTo>
                    <a:pt x="9" y="20"/>
                    <a:pt x="9" y="20"/>
                    <a:pt x="9" y="20"/>
                  </a:cubicBezTo>
                  <a:cubicBezTo>
                    <a:pt x="9" y="14"/>
                    <a:pt x="14" y="9"/>
                    <a:pt x="20" y="9"/>
                  </a:cubicBezTo>
                  <a:cubicBezTo>
                    <a:pt x="140" y="9"/>
                    <a:pt x="140" y="9"/>
                    <a:pt x="140" y="9"/>
                  </a:cubicBezTo>
                  <a:cubicBezTo>
                    <a:pt x="146" y="9"/>
                    <a:pt x="151" y="14"/>
                    <a:pt x="151" y="20"/>
                  </a:cubicBezTo>
                  <a:cubicBezTo>
                    <a:pt x="151" y="30"/>
                    <a:pt x="151" y="30"/>
                    <a:pt x="151" y="30"/>
                  </a:cubicBezTo>
                  <a:cubicBezTo>
                    <a:pt x="104" y="30"/>
                    <a:pt x="104" y="30"/>
                    <a:pt x="104" y="30"/>
                  </a:cubicBezTo>
                  <a:cubicBezTo>
                    <a:pt x="74" y="46"/>
                    <a:pt x="74" y="46"/>
                    <a:pt x="74" y="46"/>
                  </a:cubicBezTo>
                  <a:cubicBezTo>
                    <a:pt x="73" y="46"/>
                    <a:pt x="71" y="45"/>
                    <a:pt x="70" y="45"/>
                  </a:cubicBezTo>
                  <a:cubicBezTo>
                    <a:pt x="64" y="45"/>
                    <a:pt x="60" y="50"/>
                    <a:pt x="60" y="55"/>
                  </a:cubicBezTo>
                  <a:cubicBezTo>
                    <a:pt x="60" y="60"/>
                    <a:pt x="64" y="65"/>
                    <a:pt x="70" y="65"/>
                  </a:cubicBezTo>
                  <a:cubicBezTo>
                    <a:pt x="75" y="65"/>
                    <a:pt x="79" y="61"/>
                    <a:pt x="80" y="56"/>
                  </a:cubicBezTo>
                  <a:cubicBezTo>
                    <a:pt x="106" y="41"/>
                    <a:pt x="106" y="41"/>
                    <a:pt x="106" y="41"/>
                  </a:cubicBezTo>
                  <a:cubicBezTo>
                    <a:pt x="151" y="41"/>
                    <a:pt x="151" y="41"/>
                    <a:pt x="151" y="41"/>
                  </a:cubicBezTo>
                  <a:cubicBezTo>
                    <a:pt x="151" y="61"/>
                    <a:pt x="151" y="61"/>
                    <a:pt x="151" y="61"/>
                  </a:cubicBezTo>
                  <a:cubicBezTo>
                    <a:pt x="129" y="61"/>
                    <a:pt x="129" y="61"/>
                    <a:pt x="129" y="61"/>
                  </a:cubicBezTo>
                  <a:cubicBezTo>
                    <a:pt x="127" y="59"/>
                    <a:pt x="124" y="57"/>
                    <a:pt x="121" y="57"/>
                  </a:cubicBezTo>
                  <a:cubicBezTo>
                    <a:pt x="116" y="57"/>
                    <a:pt x="111" y="61"/>
                    <a:pt x="111" y="67"/>
                  </a:cubicBezTo>
                  <a:cubicBezTo>
                    <a:pt x="111" y="72"/>
                    <a:pt x="116" y="76"/>
                    <a:pt x="121" y="76"/>
                  </a:cubicBezTo>
                  <a:cubicBezTo>
                    <a:pt x="124" y="76"/>
                    <a:pt x="127" y="75"/>
                    <a:pt x="129" y="72"/>
                  </a:cubicBezTo>
                  <a:cubicBezTo>
                    <a:pt x="151" y="72"/>
                    <a:pt x="151" y="72"/>
                    <a:pt x="151" y="72"/>
                  </a:cubicBezTo>
                  <a:cubicBezTo>
                    <a:pt x="151" y="90"/>
                    <a:pt x="151" y="90"/>
                    <a:pt x="151" y="90"/>
                  </a:cubicBezTo>
                  <a:cubicBezTo>
                    <a:pt x="117" y="90"/>
                    <a:pt x="117" y="90"/>
                    <a:pt x="117" y="90"/>
                  </a:cubicBezTo>
                  <a:cubicBezTo>
                    <a:pt x="98" y="79"/>
                    <a:pt x="98" y="79"/>
                    <a:pt x="98" y="79"/>
                  </a:cubicBezTo>
                  <a:cubicBezTo>
                    <a:pt x="97" y="74"/>
                    <a:pt x="93" y="70"/>
                    <a:pt x="88" y="70"/>
                  </a:cubicBezTo>
                  <a:cubicBezTo>
                    <a:pt x="83" y="70"/>
                    <a:pt x="78" y="75"/>
                    <a:pt x="78" y="80"/>
                  </a:cubicBezTo>
                  <a:cubicBezTo>
                    <a:pt x="78" y="85"/>
                    <a:pt x="83" y="90"/>
                    <a:pt x="88" y="90"/>
                  </a:cubicBezTo>
                  <a:cubicBezTo>
                    <a:pt x="90" y="90"/>
                    <a:pt x="91" y="89"/>
                    <a:pt x="92" y="89"/>
                  </a:cubicBezTo>
                  <a:cubicBezTo>
                    <a:pt x="114" y="101"/>
                    <a:pt x="114" y="101"/>
                    <a:pt x="114" y="101"/>
                  </a:cubicBezTo>
                  <a:cubicBezTo>
                    <a:pt x="151" y="101"/>
                    <a:pt x="151" y="101"/>
                    <a:pt x="151" y="101"/>
                  </a:cubicBezTo>
                  <a:cubicBezTo>
                    <a:pt x="151" y="117"/>
                    <a:pt x="151" y="117"/>
                    <a:pt x="151" y="117"/>
                  </a:cubicBezTo>
                  <a:cubicBezTo>
                    <a:pt x="145" y="117"/>
                    <a:pt x="145" y="117"/>
                    <a:pt x="145" y="117"/>
                  </a:cubicBezTo>
                  <a:cubicBezTo>
                    <a:pt x="143" y="114"/>
                    <a:pt x="140" y="113"/>
                    <a:pt x="137" y="113"/>
                  </a:cubicBezTo>
                  <a:cubicBezTo>
                    <a:pt x="132" y="113"/>
                    <a:pt x="127" y="117"/>
                    <a:pt x="127" y="123"/>
                  </a:cubicBezTo>
                  <a:cubicBezTo>
                    <a:pt x="127" y="128"/>
                    <a:pt x="132" y="132"/>
                    <a:pt x="137" y="132"/>
                  </a:cubicBezTo>
                  <a:cubicBezTo>
                    <a:pt x="140" y="132"/>
                    <a:pt x="143" y="131"/>
                    <a:pt x="145" y="128"/>
                  </a:cubicBezTo>
                  <a:cubicBezTo>
                    <a:pt x="151" y="128"/>
                    <a:pt x="151" y="128"/>
                    <a:pt x="151" y="128"/>
                  </a:cubicBezTo>
                  <a:cubicBezTo>
                    <a:pt x="151" y="140"/>
                    <a:pt x="151" y="140"/>
                    <a:pt x="151" y="140"/>
                  </a:cubicBezTo>
                  <a:cubicBezTo>
                    <a:pt x="151" y="146"/>
                    <a:pt x="146" y="151"/>
                    <a:pt x="140" y="151"/>
                  </a:cubicBezTo>
                  <a:lnTo>
                    <a:pt x="20" y="151"/>
                  </a:lnTo>
                  <a:close/>
                </a:path>
              </a:pathLst>
            </a:custGeom>
            <a:solidFill>
              <a:srgbClr val="737E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90" name="íṩ1ïdê"/>
            <p:cNvSpPr/>
            <p:nvPr/>
          </p:nvSpPr>
          <p:spPr bwMode="auto">
            <a:xfrm>
              <a:off x="6018213"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1" name="ïşḻïḓe"/>
            <p:cNvSpPr/>
            <p:nvPr/>
          </p:nvSpPr>
          <p:spPr bwMode="auto">
            <a:xfrm>
              <a:off x="5619750"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2" name="isľiḑê"/>
            <p:cNvSpPr/>
            <p:nvPr/>
          </p:nvSpPr>
          <p:spPr bwMode="auto">
            <a:xfrm>
              <a:off x="5221288"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3" name="ísļîďé"/>
            <p:cNvSpPr/>
            <p:nvPr/>
          </p:nvSpPr>
          <p:spPr bwMode="auto">
            <a:xfrm>
              <a:off x="6816725"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4" name="îsḻiḑe"/>
            <p:cNvSpPr/>
            <p:nvPr/>
          </p:nvSpPr>
          <p:spPr bwMode="auto">
            <a:xfrm>
              <a:off x="6418263" y="1304925"/>
              <a:ext cx="176213"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5" name="î$ḷíḋè"/>
            <p:cNvSpPr/>
            <p:nvPr/>
          </p:nvSpPr>
          <p:spPr bwMode="auto">
            <a:xfrm>
              <a:off x="6018213"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6" name="ïSľiḍè"/>
            <p:cNvSpPr/>
            <p:nvPr/>
          </p:nvSpPr>
          <p:spPr bwMode="auto">
            <a:xfrm>
              <a:off x="5619750"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7" name="îṡļîḋê"/>
            <p:cNvSpPr/>
            <p:nvPr/>
          </p:nvSpPr>
          <p:spPr bwMode="auto">
            <a:xfrm>
              <a:off x="5221288"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8" name="íš1îde"/>
            <p:cNvSpPr/>
            <p:nvPr/>
          </p:nvSpPr>
          <p:spPr bwMode="auto">
            <a:xfrm>
              <a:off x="6816725"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9" name="iṧļíḍê"/>
            <p:cNvSpPr/>
            <p:nvPr/>
          </p:nvSpPr>
          <p:spPr bwMode="auto">
            <a:xfrm>
              <a:off x="6418263" y="4999038"/>
              <a:ext cx="176213"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0" name="ïŝlïḍé"/>
            <p:cNvSpPr/>
            <p:nvPr/>
          </p:nvSpPr>
          <p:spPr bwMode="auto">
            <a:xfrm>
              <a:off x="7680325" y="3340100"/>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1" name="íŝḻïḍè"/>
            <p:cNvSpPr/>
            <p:nvPr/>
          </p:nvSpPr>
          <p:spPr bwMode="auto">
            <a:xfrm>
              <a:off x="7680325" y="2941638"/>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2" name="íṡḷidé"/>
            <p:cNvSpPr/>
            <p:nvPr/>
          </p:nvSpPr>
          <p:spPr bwMode="auto">
            <a:xfrm>
              <a:off x="7680325" y="2543175"/>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3" name="işḻiḓé"/>
            <p:cNvSpPr/>
            <p:nvPr/>
          </p:nvSpPr>
          <p:spPr bwMode="auto">
            <a:xfrm>
              <a:off x="7680325" y="4137025"/>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4" name="iS1îdè"/>
            <p:cNvSpPr/>
            <p:nvPr/>
          </p:nvSpPr>
          <p:spPr bwMode="auto">
            <a:xfrm>
              <a:off x="7680325" y="3738563"/>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5" name="ïṡļídé"/>
            <p:cNvSpPr/>
            <p:nvPr/>
          </p:nvSpPr>
          <p:spPr bwMode="auto">
            <a:xfrm>
              <a:off x="3979863" y="3340100"/>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6" name="iŝ1iḋè"/>
            <p:cNvSpPr/>
            <p:nvPr/>
          </p:nvSpPr>
          <p:spPr bwMode="auto">
            <a:xfrm>
              <a:off x="3979863" y="2941638"/>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7" name="ïṥľîdé"/>
            <p:cNvSpPr/>
            <p:nvPr/>
          </p:nvSpPr>
          <p:spPr bwMode="auto">
            <a:xfrm>
              <a:off x="3979863" y="2543175"/>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8" name="íSḷïḋè"/>
            <p:cNvSpPr/>
            <p:nvPr/>
          </p:nvSpPr>
          <p:spPr bwMode="auto">
            <a:xfrm>
              <a:off x="3979863" y="4137025"/>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9" name="ïšḻîḑè"/>
            <p:cNvSpPr/>
            <p:nvPr/>
          </p:nvSpPr>
          <p:spPr bwMode="auto">
            <a:xfrm>
              <a:off x="3979863" y="3738563"/>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grpSp>
      <p:sp>
        <p:nvSpPr>
          <p:cNvPr id="510" name="矩形 509"/>
          <p:cNvSpPr/>
          <p:nvPr/>
        </p:nvSpPr>
        <p:spPr>
          <a:xfrm>
            <a:off x="7315744" y="3943447"/>
            <a:ext cx="1526244" cy="948189"/>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1" name="肘形连接符 510"/>
          <p:cNvCxnSpPr/>
          <p:nvPr/>
        </p:nvCxnSpPr>
        <p:spPr>
          <a:xfrm rot="10800000" flipV="1">
            <a:off x="3216544" y="3644008"/>
            <a:ext cx="1305414" cy="414046"/>
          </a:xfrm>
          <a:prstGeom prst="bentConnector3">
            <a:avLst>
              <a:gd name="adj1" fmla="val 99616"/>
            </a:avLst>
          </a:prstGeom>
          <a:noFill/>
          <a:ln w="28575" cap="flat" cmpd="sng">
            <a:solidFill>
              <a:srgbClr val="BC3649"/>
            </a:solidFill>
            <a:prstDash val="solid"/>
            <a:round/>
            <a:tailEnd type="triangle"/>
          </a:ln>
          <a:effectLst/>
        </p:spPr>
      </p:cxnSp>
      <p:cxnSp>
        <p:nvCxnSpPr>
          <p:cNvPr id="512" name="肘形连接符 511"/>
          <p:cNvCxnSpPr/>
          <p:nvPr/>
        </p:nvCxnSpPr>
        <p:spPr>
          <a:xfrm>
            <a:off x="4521957" y="3164880"/>
            <a:ext cx="3556909" cy="487277"/>
          </a:xfrm>
          <a:prstGeom prst="bentConnector3">
            <a:avLst>
              <a:gd name="adj1" fmla="val -612"/>
            </a:avLst>
          </a:prstGeom>
          <a:noFill/>
          <a:ln w="28575" cap="flat" cmpd="sng">
            <a:solidFill>
              <a:srgbClr val="BC3649"/>
            </a:solidFill>
            <a:prstDash val="solid"/>
            <a:round/>
            <a:headEnd type="none" w="med" len="med"/>
            <a:tailEnd type="none" w="med" len="med"/>
          </a:ln>
          <a:effectLst/>
        </p:spPr>
      </p:cxnSp>
      <p:sp>
        <p:nvSpPr>
          <p:cNvPr id="513" name="retro-abacus_73707"/>
          <p:cNvSpPr/>
          <p:nvPr/>
        </p:nvSpPr>
        <p:spPr bwMode="auto">
          <a:xfrm>
            <a:off x="3022219" y="4127813"/>
            <a:ext cx="398466" cy="295119"/>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88862 h 440259"/>
              <a:gd name="T45" fmla="*/ 88862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278945 h 440259"/>
              <a:gd name="T93" fmla="*/ 278945 h 440259"/>
              <a:gd name="T94" fmla="*/ 278945 h 440259"/>
              <a:gd name="T95" fmla="*/ 278945 h 440259"/>
              <a:gd name="T96" fmla="*/ 278945 h 440259"/>
              <a:gd name="T97" fmla="*/ 278945 h 440259"/>
              <a:gd name="T98" fmla="*/ 278945 h 440259"/>
              <a:gd name="T99" fmla="*/ 278945 h 440259"/>
              <a:gd name="T100" fmla="*/ 278945 h 440259"/>
              <a:gd name="T10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48" h="2613">
                <a:moveTo>
                  <a:pt x="2582" y="0"/>
                </a:moveTo>
                <a:lnTo>
                  <a:pt x="2362" y="0"/>
                </a:lnTo>
                <a:cubicBezTo>
                  <a:pt x="2325" y="0"/>
                  <a:pt x="2296" y="29"/>
                  <a:pt x="2296" y="66"/>
                </a:cubicBezTo>
                <a:lnTo>
                  <a:pt x="2296" y="386"/>
                </a:lnTo>
                <a:lnTo>
                  <a:pt x="1455" y="386"/>
                </a:lnTo>
                <a:lnTo>
                  <a:pt x="1455" y="361"/>
                </a:lnTo>
                <a:cubicBezTo>
                  <a:pt x="1455" y="261"/>
                  <a:pt x="1374" y="180"/>
                  <a:pt x="1275" y="180"/>
                </a:cubicBezTo>
                <a:lnTo>
                  <a:pt x="1272" y="180"/>
                </a:lnTo>
                <a:cubicBezTo>
                  <a:pt x="1173" y="180"/>
                  <a:pt x="1091" y="261"/>
                  <a:pt x="1091" y="361"/>
                </a:cubicBezTo>
                <a:lnTo>
                  <a:pt x="1091" y="386"/>
                </a:lnTo>
                <a:lnTo>
                  <a:pt x="918" y="386"/>
                </a:lnTo>
                <a:lnTo>
                  <a:pt x="918" y="361"/>
                </a:lnTo>
                <a:cubicBezTo>
                  <a:pt x="918" y="261"/>
                  <a:pt x="836" y="180"/>
                  <a:pt x="737" y="180"/>
                </a:cubicBezTo>
                <a:lnTo>
                  <a:pt x="734" y="180"/>
                </a:lnTo>
                <a:cubicBezTo>
                  <a:pt x="635" y="180"/>
                  <a:pt x="554" y="261"/>
                  <a:pt x="554" y="361"/>
                </a:cubicBezTo>
                <a:lnTo>
                  <a:pt x="554" y="386"/>
                </a:lnTo>
                <a:lnTo>
                  <a:pt x="353" y="386"/>
                </a:lnTo>
                <a:lnTo>
                  <a:pt x="353" y="66"/>
                </a:lnTo>
                <a:cubicBezTo>
                  <a:pt x="353" y="29"/>
                  <a:pt x="323" y="0"/>
                  <a:pt x="286" y="0"/>
                </a:cubicBezTo>
                <a:lnTo>
                  <a:pt x="67" y="0"/>
                </a:lnTo>
                <a:cubicBezTo>
                  <a:pt x="30" y="0"/>
                  <a:pt x="0" y="29"/>
                  <a:pt x="0" y="66"/>
                </a:cubicBezTo>
                <a:lnTo>
                  <a:pt x="0" y="2546"/>
                </a:lnTo>
                <a:cubicBezTo>
                  <a:pt x="0" y="2583"/>
                  <a:pt x="30" y="2613"/>
                  <a:pt x="67" y="2613"/>
                </a:cubicBezTo>
                <a:lnTo>
                  <a:pt x="286" y="2613"/>
                </a:lnTo>
                <a:cubicBezTo>
                  <a:pt x="323" y="2613"/>
                  <a:pt x="353" y="2583"/>
                  <a:pt x="353" y="2546"/>
                </a:cubicBezTo>
                <a:lnTo>
                  <a:pt x="353" y="2226"/>
                </a:lnTo>
                <a:lnTo>
                  <a:pt x="496" y="2226"/>
                </a:lnTo>
                <a:lnTo>
                  <a:pt x="496" y="2259"/>
                </a:lnTo>
                <a:cubicBezTo>
                  <a:pt x="496" y="2358"/>
                  <a:pt x="577" y="2440"/>
                  <a:pt x="676" y="2440"/>
                </a:cubicBezTo>
                <a:lnTo>
                  <a:pt x="679" y="2440"/>
                </a:lnTo>
                <a:cubicBezTo>
                  <a:pt x="778" y="2440"/>
                  <a:pt x="860" y="2358"/>
                  <a:pt x="860" y="2259"/>
                </a:cubicBezTo>
                <a:lnTo>
                  <a:pt x="860" y="2226"/>
                </a:lnTo>
                <a:lnTo>
                  <a:pt x="1033" y="2226"/>
                </a:lnTo>
                <a:lnTo>
                  <a:pt x="1033" y="2259"/>
                </a:lnTo>
                <a:cubicBezTo>
                  <a:pt x="1033" y="2358"/>
                  <a:pt x="1115" y="2440"/>
                  <a:pt x="1214" y="2440"/>
                </a:cubicBezTo>
                <a:lnTo>
                  <a:pt x="1217" y="2440"/>
                </a:lnTo>
                <a:cubicBezTo>
                  <a:pt x="1316" y="2440"/>
                  <a:pt x="1397" y="2358"/>
                  <a:pt x="1397" y="2259"/>
                </a:cubicBezTo>
                <a:lnTo>
                  <a:pt x="1397" y="2226"/>
                </a:lnTo>
                <a:lnTo>
                  <a:pt x="2296" y="2226"/>
                </a:lnTo>
                <a:lnTo>
                  <a:pt x="2296" y="2546"/>
                </a:lnTo>
                <a:cubicBezTo>
                  <a:pt x="2296" y="2583"/>
                  <a:pt x="2325" y="2613"/>
                  <a:pt x="2362" y="2613"/>
                </a:cubicBezTo>
                <a:lnTo>
                  <a:pt x="2582" y="2613"/>
                </a:lnTo>
                <a:cubicBezTo>
                  <a:pt x="2619" y="2613"/>
                  <a:pt x="2648" y="2583"/>
                  <a:pt x="2648" y="2546"/>
                </a:cubicBezTo>
                <a:lnTo>
                  <a:pt x="2648" y="66"/>
                </a:lnTo>
                <a:cubicBezTo>
                  <a:pt x="2648" y="29"/>
                  <a:pt x="2619" y="0"/>
                  <a:pt x="2582" y="0"/>
                </a:cubicBezTo>
                <a:close/>
                <a:moveTo>
                  <a:pt x="553" y="520"/>
                </a:moveTo>
                <a:lnTo>
                  <a:pt x="553" y="559"/>
                </a:lnTo>
                <a:cubicBezTo>
                  <a:pt x="553" y="659"/>
                  <a:pt x="635" y="740"/>
                  <a:pt x="734" y="740"/>
                </a:cubicBezTo>
                <a:lnTo>
                  <a:pt x="737" y="740"/>
                </a:lnTo>
                <a:cubicBezTo>
                  <a:pt x="836" y="740"/>
                  <a:pt x="918" y="659"/>
                  <a:pt x="918" y="559"/>
                </a:cubicBezTo>
                <a:lnTo>
                  <a:pt x="918" y="520"/>
                </a:lnTo>
                <a:lnTo>
                  <a:pt x="1091" y="520"/>
                </a:lnTo>
                <a:lnTo>
                  <a:pt x="1091" y="559"/>
                </a:lnTo>
                <a:cubicBezTo>
                  <a:pt x="1091" y="659"/>
                  <a:pt x="1172" y="740"/>
                  <a:pt x="1272" y="740"/>
                </a:cubicBezTo>
                <a:lnTo>
                  <a:pt x="1275" y="740"/>
                </a:lnTo>
                <a:cubicBezTo>
                  <a:pt x="1374" y="740"/>
                  <a:pt x="1455" y="659"/>
                  <a:pt x="1455" y="559"/>
                </a:cubicBezTo>
                <a:lnTo>
                  <a:pt x="1455" y="520"/>
                </a:lnTo>
                <a:lnTo>
                  <a:pt x="2296" y="520"/>
                </a:lnTo>
                <a:lnTo>
                  <a:pt x="2296" y="1240"/>
                </a:lnTo>
                <a:lnTo>
                  <a:pt x="2051" y="1240"/>
                </a:lnTo>
                <a:lnTo>
                  <a:pt x="2051" y="1188"/>
                </a:lnTo>
                <a:cubicBezTo>
                  <a:pt x="2051" y="1088"/>
                  <a:pt x="1970" y="1007"/>
                  <a:pt x="1870" y="1007"/>
                </a:cubicBezTo>
                <a:lnTo>
                  <a:pt x="1868" y="1007"/>
                </a:lnTo>
                <a:cubicBezTo>
                  <a:pt x="1768" y="1007"/>
                  <a:pt x="1687" y="1088"/>
                  <a:pt x="1687" y="1188"/>
                </a:cubicBezTo>
                <a:lnTo>
                  <a:pt x="1687" y="1240"/>
                </a:lnTo>
                <a:lnTo>
                  <a:pt x="1513" y="1240"/>
                </a:lnTo>
                <a:lnTo>
                  <a:pt x="1513" y="1188"/>
                </a:lnTo>
                <a:cubicBezTo>
                  <a:pt x="1513" y="1088"/>
                  <a:pt x="1432" y="1007"/>
                  <a:pt x="1332" y="1007"/>
                </a:cubicBezTo>
                <a:lnTo>
                  <a:pt x="1330" y="1007"/>
                </a:lnTo>
                <a:cubicBezTo>
                  <a:pt x="1230" y="1007"/>
                  <a:pt x="1149" y="1088"/>
                  <a:pt x="1149" y="1188"/>
                </a:cubicBezTo>
                <a:lnTo>
                  <a:pt x="1149" y="1240"/>
                </a:lnTo>
                <a:lnTo>
                  <a:pt x="353" y="1240"/>
                </a:lnTo>
                <a:lnTo>
                  <a:pt x="353" y="520"/>
                </a:lnTo>
                <a:lnTo>
                  <a:pt x="553" y="520"/>
                </a:lnTo>
                <a:close/>
                <a:moveTo>
                  <a:pt x="1397" y="2093"/>
                </a:moveTo>
                <a:lnTo>
                  <a:pt x="1397" y="2060"/>
                </a:lnTo>
                <a:cubicBezTo>
                  <a:pt x="1397" y="1961"/>
                  <a:pt x="1316" y="1880"/>
                  <a:pt x="1217" y="1880"/>
                </a:cubicBezTo>
                <a:lnTo>
                  <a:pt x="1214" y="1880"/>
                </a:lnTo>
                <a:cubicBezTo>
                  <a:pt x="1115" y="1880"/>
                  <a:pt x="1033" y="1961"/>
                  <a:pt x="1033" y="2060"/>
                </a:cubicBezTo>
                <a:lnTo>
                  <a:pt x="1033" y="2093"/>
                </a:lnTo>
                <a:lnTo>
                  <a:pt x="860" y="2093"/>
                </a:lnTo>
                <a:lnTo>
                  <a:pt x="860" y="2060"/>
                </a:lnTo>
                <a:cubicBezTo>
                  <a:pt x="860" y="1961"/>
                  <a:pt x="778" y="1880"/>
                  <a:pt x="679" y="1880"/>
                </a:cubicBezTo>
                <a:lnTo>
                  <a:pt x="676" y="1880"/>
                </a:lnTo>
                <a:cubicBezTo>
                  <a:pt x="577" y="1880"/>
                  <a:pt x="496" y="1961"/>
                  <a:pt x="496" y="2060"/>
                </a:cubicBezTo>
                <a:lnTo>
                  <a:pt x="496" y="2093"/>
                </a:lnTo>
                <a:lnTo>
                  <a:pt x="353" y="2093"/>
                </a:lnTo>
                <a:lnTo>
                  <a:pt x="353" y="1373"/>
                </a:lnTo>
                <a:lnTo>
                  <a:pt x="1149" y="1373"/>
                </a:lnTo>
                <a:lnTo>
                  <a:pt x="1149" y="1386"/>
                </a:lnTo>
                <a:cubicBezTo>
                  <a:pt x="1149" y="1486"/>
                  <a:pt x="1230" y="1567"/>
                  <a:pt x="1330" y="1567"/>
                </a:cubicBezTo>
                <a:lnTo>
                  <a:pt x="1332" y="1567"/>
                </a:lnTo>
                <a:cubicBezTo>
                  <a:pt x="1432" y="1567"/>
                  <a:pt x="1513" y="1486"/>
                  <a:pt x="1513" y="1386"/>
                </a:cubicBezTo>
                <a:lnTo>
                  <a:pt x="1513" y="1373"/>
                </a:lnTo>
                <a:lnTo>
                  <a:pt x="1687" y="1373"/>
                </a:lnTo>
                <a:lnTo>
                  <a:pt x="1687" y="1386"/>
                </a:lnTo>
                <a:cubicBezTo>
                  <a:pt x="1687" y="1486"/>
                  <a:pt x="1768" y="1567"/>
                  <a:pt x="1868" y="1567"/>
                </a:cubicBezTo>
                <a:lnTo>
                  <a:pt x="1870" y="1567"/>
                </a:lnTo>
                <a:cubicBezTo>
                  <a:pt x="1970" y="1567"/>
                  <a:pt x="2051" y="1486"/>
                  <a:pt x="2051" y="1386"/>
                </a:cubicBezTo>
                <a:lnTo>
                  <a:pt x="2051" y="1373"/>
                </a:lnTo>
                <a:lnTo>
                  <a:pt x="2296" y="1373"/>
                </a:lnTo>
                <a:lnTo>
                  <a:pt x="2296" y="2093"/>
                </a:lnTo>
                <a:lnTo>
                  <a:pt x="1397" y="2093"/>
                </a:lnTo>
                <a:close/>
              </a:path>
            </a:pathLst>
          </a:custGeom>
          <a:solidFill>
            <a:srgbClr val="BC3649"/>
          </a:solidFill>
          <a:ln>
            <a:noFill/>
          </a:ln>
        </p:spPr>
      </p:sp>
      <p:sp>
        <p:nvSpPr>
          <p:cNvPr id="514" name="old-computer-screen-and-keyboard_77334"/>
          <p:cNvSpPr/>
          <p:nvPr/>
        </p:nvSpPr>
        <p:spPr bwMode="auto">
          <a:xfrm>
            <a:off x="7879633" y="4144465"/>
            <a:ext cx="398466" cy="295119"/>
          </a:xfrm>
          <a:custGeom>
            <a:avLst/>
            <a:gdLst>
              <a:gd name="connsiteX0" fmla="*/ 77343 w 606580"/>
              <a:gd name="connsiteY0" fmla="*/ 537652 h 605592"/>
              <a:gd name="connsiteX1" fmla="*/ 64994 w 606580"/>
              <a:gd name="connsiteY1" fmla="*/ 549979 h 605592"/>
              <a:gd name="connsiteX2" fmla="*/ 77343 w 606580"/>
              <a:gd name="connsiteY2" fmla="*/ 562399 h 605592"/>
              <a:gd name="connsiteX3" fmla="*/ 529237 w 606580"/>
              <a:gd name="connsiteY3" fmla="*/ 562399 h 605592"/>
              <a:gd name="connsiteX4" fmla="*/ 541586 w 606580"/>
              <a:gd name="connsiteY4" fmla="*/ 549979 h 605592"/>
              <a:gd name="connsiteX5" fmla="*/ 529237 w 606580"/>
              <a:gd name="connsiteY5" fmla="*/ 537652 h 605592"/>
              <a:gd name="connsiteX6" fmla="*/ 462386 w 606580"/>
              <a:gd name="connsiteY6" fmla="*/ 487785 h 605592"/>
              <a:gd name="connsiteX7" fmla="*/ 450037 w 606580"/>
              <a:gd name="connsiteY7" fmla="*/ 500205 h 605592"/>
              <a:gd name="connsiteX8" fmla="*/ 462386 w 606580"/>
              <a:gd name="connsiteY8" fmla="*/ 512533 h 605592"/>
              <a:gd name="connsiteX9" fmla="*/ 492376 w 606580"/>
              <a:gd name="connsiteY9" fmla="*/ 512533 h 605592"/>
              <a:gd name="connsiteX10" fmla="*/ 504818 w 606580"/>
              <a:gd name="connsiteY10" fmla="*/ 500205 h 605592"/>
              <a:gd name="connsiteX11" fmla="*/ 492376 w 606580"/>
              <a:gd name="connsiteY11" fmla="*/ 487785 h 605592"/>
              <a:gd name="connsiteX12" fmla="*/ 375387 w 606580"/>
              <a:gd name="connsiteY12" fmla="*/ 487785 h 605592"/>
              <a:gd name="connsiteX13" fmla="*/ 362945 w 606580"/>
              <a:gd name="connsiteY13" fmla="*/ 500205 h 605592"/>
              <a:gd name="connsiteX14" fmla="*/ 375387 w 606580"/>
              <a:gd name="connsiteY14" fmla="*/ 512533 h 605592"/>
              <a:gd name="connsiteX15" fmla="*/ 405377 w 606580"/>
              <a:gd name="connsiteY15" fmla="*/ 512533 h 605592"/>
              <a:gd name="connsiteX16" fmla="*/ 417726 w 606580"/>
              <a:gd name="connsiteY16" fmla="*/ 500205 h 605592"/>
              <a:gd name="connsiteX17" fmla="*/ 405377 w 606580"/>
              <a:gd name="connsiteY17" fmla="*/ 487785 h 605592"/>
              <a:gd name="connsiteX18" fmla="*/ 288295 w 606580"/>
              <a:gd name="connsiteY18" fmla="*/ 487785 h 605592"/>
              <a:gd name="connsiteX19" fmla="*/ 275946 w 606580"/>
              <a:gd name="connsiteY19" fmla="*/ 500205 h 605592"/>
              <a:gd name="connsiteX20" fmla="*/ 288295 w 606580"/>
              <a:gd name="connsiteY20" fmla="*/ 512533 h 605592"/>
              <a:gd name="connsiteX21" fmla="*/ 318285 w 606580"/>
              <a:gd name="connsiteY21" fmla="*/ 512533 h 605592"/>
              <a:gd name="connsiteX22" fmla="*/ 330727 w 606580"/>
              <a:gd name="connsiteY22" fmla="*/ 500205 h 605592"/>
              <a:gd name="connsiteX23" fmla="*/ 318285 w 606580"/>
              <a:gd name="connsiteY23" fmla="*/ 487785 h 605592"/>
              <a:gd name="connsiteX24" fmla="*/ 201296 w 606580"/>
              <a:gd name="connsiteY24" fmla="*/ 487785 h 605592"/>
              <a:gd name="connsiteX25" fmla="*/ 188854 w 606580"/>
              <a:gd name="connsiteY25" fmla="*/ 500205 h 605592"/>
              <a:gd name="connsiteX26" fmla="*/ 201296 w 606580"/>
              <a:gd name="connsiteY26" fmla="*/ 512533 h 605592"/>
              <a:gd name="connsiteX27" fmla="*/ 231286 w 606580"/>
              <a:gd name="connsiteY27" fmla="*/ 512533 h 605592"/>
              <a:gd name="connsiteX28" fmla="*/ 243635 w 606580"/>
              <a:gd name="connsiteY28" fmla="*/ 500205 h 605592"/>
              <a:gd name="connsiteX29" fmla="*/ 231286 w 606580"/>
              <a:gd name="connsiteY29" fmla="*/ 487785 h 605592"/>
              <a:gd name="connsiteX30" fmla="*/ 114204 w 606580"/>
              <a:gd name="connsiteY30" fmla="*/ 487785 h 605592"/>
              <a:gd name="connsiteX31" fmla="*/ 101855 w 606580"/>
              <a:gd name="connsiteY31" fmla="*/ 500205 h 605592"/>
              <a:gd name="connsiteX32" fmla="*/ 114204 w 606580"/>
              <a:gd name="connsiteY32" fmla="*/ 512533 h 605592"/>
              <a:gd name="connsiteX33" fmla="*/ 144194 w 606580"/>
              <a:gd name="connsiteY33" fmla="*/ 512533 h 605592"/>
              <a:gd name="connsiteX34" fmla="*/ 156636 w 606580"/>
              <a:gd name="connsiteY34" fmla="*/ 500205 h 605592"/>
              <a:gd name="connsiteX35" fmla="*/ 144194 w 606580"/>
              <a:gd name="connsiteY35" fmla="*/ 487785 h 605592"/>
              <a:gd name="connsiteX36" fmla="*/ 110304 w 606580"/>
              <a:gd name="connsiteY36" fmla="*/ 468413 h 605592"/>
              <a:gd name="connsiteX37" fmla="*/ 302687 w 606580"/>
              <a:gd name="connsiteY37" fmla="*/ 468413 h 605592"/>
              <a:gd name="connsiteX38" fmla="*/ 303894 w 606580"/>
              <a:gd name="connsiteY38" fmla="*/ 468413 h 605592"/>
              <a:gd name="connsiteX39" fmla="*/ 496276 w 606580"/>
              <a:gd name="connsiteY39" fmla="*/ 468413 h 605592"/>
              <a:gd name="connsiteX40" fmla="*/ 513267 w 606580"/>
              <a:gd name="connsiteY40" fmla="*/ 472770 h 605592"/>
              <a:gd name="connsiteX41" fmla="*/ 515589 w 606580"/>
              <a:gd name="connsiteY41" fmla="*/ 474809 h 605592"/>
              <a:gd name="connsiteX42" fmla="*/ 589496 w 606580"/>
              <a:gd name="connsiteY42" fmla="*/ 538300 h 605592"/>
              <a:gd name="connsiteX43" fmla="*/ 597760 w 606580"/>
              <a:gd name="connsiteY43" fmla="*/ 545345 h 605592"/>
              <a:gd name="connsiteX44" fmla="*/ 606580 w 606580"/>
              <a:gd name="connsiteY44" fmla="*/ 569166 h 605592"/>
              <a:gd name="connsiteX45" fmla="*/ 570091 w 606580"/>
              <a:gd name="connsiteY45" fmla="*/ 605592 h 605592"/>
              <a:gd name="connsiteX46" fmla="*/ 303894 w 606580"/>
              <a:gd name="connsiteY46" fmla="*/ 605592 h 605592"/>
              <a:gd name="connsiteX47" fmla="*/ 302687 w 606580"/>
              <a:gd name="connsiteY47" fmla="*/ 605592 h 605592"/>
              <a:gd name="connsiteX48" fmla="*/ 36489 w 606580"/>
              <a:gd name="connsiteY48" fmla="*/ 605592 h 605592"/>
              <a:gd name="connsiteX49" fmla="*/ 0 w 606580"/>
              <a:gd name="connsiteY49" fmla="*/ 569166 h 605592"/>
              <a:gd name="connsiteX50" fmla="*/ 8820 w 606580"/>
              <a:gd name="connsiteY50" fmla="*/ 545345 h 605592"/>
              <a:gd name="connsiteX51" fmla="*/ 17084 w 606580"/>
              <a:gd name="connsiteY51" fmla="*/ 538300 h 605592"/>
              <a:gd name="connsiteX52" fmla="*/ 90991 w 606580"/>
              <a:gd name="connsiteY52" fmla="*/ 474809 h 605592"/>
              <a:gd name="connsiteX53" fmla="*/ 93405 w 606580"/>
              <a:gd name="connsiteY53" fmla="*/ 472770 h 605592"/>
              <a:gd name="connsiteX54" fmla="*/ 110304 w 606580"/>
              <a:gd name="connsiteY54" fmla="*/ 468413 h 605592"/>
              <a:gd name="connsiteX55" fmla="*/ 150233 w 606580"/>
              <a:gd name="connsiteY55" fmla="*/ 49396 h 605592"/>
              <a:gd name="connsiteX56" fmla="*/ 456347 w 606580"/>
              <a:gd name="connsiteY56" fmla="*/ 49396 h 605592"/>
              <a:gd name="connsiteX57" fmla="*/ 479280 w 606580"/>
              <a:gd name="connsiteY57" fmla="*/ 72295 h 605592"/>
              <a:gd name="connsiteX58" fmla="*/ 479280 w 606580"/>
              <a:gd name="connsiteY58" fmla="*/ 183541 h 605592"/>
              <a:gd name="connsiteX59" fmla="*/ 479280 w 606580"/>
              <a:gd name="connsiteY59" fmla="*/ 294788 h 605592"/>
              <a:gd name="connsiteX60" fmla="*/ 456347 w 606580"/>
              <a:gd name="connsiteY60" fmla="*/ 317686 h 605592"/>
              <a:gd name="connsiteX61" fmla="*/ 150233 w 606580"/>
              <a:gd name="connsiteY61" fmla="*/ 317686 h 605592"/>
              <a:gd name="connsiteX62" fmla="*/ 127300 w 606580"/>
              <a:gd name="connsiteY62" fmla="*/ 294788 h 605592"/>
              <a:gd name="connsiteX63" fmla="*/ 127300 w 606580"/>
              <a:gd name="connsiteY63" fmla="*/ 183541 h 605592"/>
              <a:gd name="connsiteX64" fmla="*/ 127300 w 606580"/>
              <a:gd name="connsiteY64" fmla="*/ 72295 h 605592"/>
              <a:gd name="connsiteX65" fmla="*/ 150233 w 606580"/>
              <a:gd name="connsiteY65" fmla="*/ 49396 h 605592"/>
              <a:gd name="connsiteX66" fmla="*/ 150248 w 606580"/>
              <a:gd name="connsiteY66" fmla="*/ 24750 h 605592"/>
              <a:gd name="connsiteX67" fmla="*/ 102621 w 606580"/>
              <a:gd name="connsiteY67" fmla="*/ 72304 h 605592"/>
              <a:gd name="connsiteX68" fmla="*/ 102621 w 606580"/>
              <a:gd name="connsiteY68" fmla="*/ 183541 h 605592"/>
              <a:gd name="connsiteX69" fmla="*/ 102621 w 606580"/>
              <a:gd name="connsiteY69" fmla="*/ 294777 h 605592"/>
              <a:gd name="connsiteX70" fmla="*/ 150248 w 606580"/>
              <a:gd name="connsiteY70" fmla="*/ 342331 h 605592"/>
              <a:gd name="connsiteX71" fmla="*/ 456334 w 606580"/>
              <a:gd name="connsiteY71" fmla="*/ 342331 h 605592"/>
              <a:gd name="connsiteX72" fmla="*/ 504052 w 606580"/>
              <a:gd name="connsiteY72" fmla="*/ 294777 h 605592"/>
              <a:gd name="connsiteX73" fmla="*/ 504052 w 606580"/>
              <a:gd name="connsiteY73" fmla="*/ 183541 h 605592"/>
              <a:gd name="connsiteX74" fmla="*/ 504052 w 606580"/>
              <a:gd name="connsiteY74" fmla="*/ 72304 h 605592"/>
              <a:gd name="connsiteX75" fmla="*/ 456334 w 606580"/>
              <a:gd name="connsiteY75" fmla="*/ 24750 h 605592"/>
              <a:gd name="connsiteX76" fmla="*/ 150248 w 606580"/>
              <a:gd name="connsiteY76" fmla="*/ 0 h 605592"/>
              <a:gd name="connsiteX77" fmla="*/ 456334 w 606580"/>
              <a:gd name="connsiteY77" fmla="*/ 0 h 605592"/>
              <a:gd name="connsiteX78" fmla="*/ 528747 w 606580"/>
              <a:gd name="connsiteY78" fmla="*/ 72304 h 605592"/>
              <a:gd name="connsiteX79" fmla="*/ 528747 w 606580"/>
              <a:gd name="connsiteY79" fmla="*/ 183541 h 605592"/>
              <a:gd name="connsiteX80" fmla="*/ 528747 w 606580"/>
              <a:gd name="connsiteY80" fmla="*/ 294777 h 605592"/>
              <a:gd name="connsiteX81" fmla="*/ 456334 w 606580"/>
              <a:gd name="connsiteY81" fmla="*/ 367081 h 605592"/>
              <a:gd name="connsiteX82" fmla="*/ 371477 w 606580"/>
              <a:gd name="connsiteY82" fmla="*/ 367081 h 605592"/>
              <a:gd name="connsiteX83" fmla="*/ 371477 w 606580"/>
              <a:gd name="connsiteY83" fmla="*/ 410093 h 605592"/>
              <a:gd name="connsiteX84" fmla="*/ 380391 w 606580"/>
              <a:gd name="connsiteY84" fmla="*/ 418992 h 605592"/>
              <a:gd name="connsiteX85" fmla="*/ 399240 w 606580"/>
              <a:gd name="connsiteY85" fmla="*/ 418992 h 605592"/>
              <a:gd name="connsiteX86" fmla="*/ 399240 w 606580"/>
              <a:gd name="connsiteY86" fmla="*/ 419085 h 605592"/>
              <a:gd name="connsiteX87" fmla="*/ 440094 w 606580"/>
              <a:gd name="connsiteY87" fmla="*/ 419085 h 605592"/>
              <a:gd name="connsiteX88" fmla="*/ 449007 w 606580"/>
              <a:gd name="connsiteY88" fmla="*/ 427891 h 605592"/>
              <a:gd name="connsiteX89" fmla="*/ 449007 w 606580"/>
              <a:gd name="connsiteY89" fmla="*/ 448655 h 605592"/>
              <a:gd name="connsiteX90" fmla="*/ 157643 w 606580"/>
              <a:gd name="connsiteY90" fmla="*/ 448655 h 605592"/>
              <a:gd name="connsiteX91" fmla="*/ 157643 w 606580"/>
              <a:gd name="connsiteY91" fmla="*/ 427891 h 605592"/>
              <a:gd name="connsiteX92" fmla="*/ 166557 w 606580"/>
              <a:gd name="connsiteY92" fmla="*/ 419085 h 605592"/>
              <a:gd name="connsiteX93" fmla="*/ 207318 w 606580"/>
              <a:gd name="connsiteY93" fmla="*/ 419085 h 605592"/>
              <a:gd name="connsiteX94" fmla="*/ 207318 w 606580"/>
              <a:gd name="connsiteY94" fmla="*/ 418992 h 605592"/>
              <a:gd name="connsiteX95" fmla="*/ 226167 w 606580"/>
              <a:gd name="connsiteY95" fmla="*/ 418992 h 605592"/>
              <a:gd name="connsiteX96" fmla="*/ 235080 w 606580"/>
              <a:gd name="connsiteY96" fmla="*/ 410093 h 605592"/>
              <a:gd name="connsiteX97" fmla="*/ 235080 w 606580"/>
              <a:gd name="connsiteY97" fmla="*/ 367081 h 605592"/>
              <a:gd name="connsiteX98" fmla="*/ 150248 w 606580"/>
              <a:gd name="connsiteY98" fmla="*/ 367081 h 605592"/>
              <a:gd name="connsiteX99" fmla="*/ 77834 w 606580"/>
              <a:gd name="connsiteY99" fmla="*/ 294777 h 605592"/>
              <a:gd name="connsiteX100" fmla="*/ 77834 w 606580"/>
              <a:gd name="connsiteY100" fmla="*/ 183541 h 605592"/>
              <a:gd name="connsiteX101" fmla="*/ 77834 w 606580"/>
              <a:gd name="connsiteY101" fmla="*/ 72304 h 605592"/>
              <a:gd name="connsiteX102" fmla="*/ 150248 w 606580"/>
              <a:gd name="connsiteY102"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606580" h="605592">
                <a:moveTo>
                  <a:pt x="77343" y="537652"/>
                </a:moveTo>
                <a:cubicBezTo>
                  <a:pt x="70565" y="537652"/>
                  <a:pt x="64994" y="543213"/>
                  <a:pt x="64994" y="549979"/>
                </a:cubicBezTo>
                <a:cubicBezTo>
                  <a:pt x="64994" y="556838"/>
                  <a:pt x="70565" y="562399"/>
                  <a:pt x="77343" y="562399"/>
                </a:cubicBezTo>
                <a:lnTo>
                  <a:pt x="529237" y="562399"/>
                </a:lnTo>
                <a:cubicBezTo>
                  <a:pt x="536108" y="562399"/>
                  <a:pt x="541586" y="556838"/>
                  <a:pt x="541586" y="549979"/>
                </a:cubicBezTo>
                <a:cubicBezTo>
                  <a:pt x="541586" y="543213"/>
                  <a:pt x="536108" y="537652"/>
                  <a:pt x="529237" y="537652"/>
                </a:cubicBezTo>
                <a:close/>
                <a:moveTo>
                  <a:pt x="462386" y="487785"/>
                </a:moveTo>
                <a:cubicBezTo>
                  <a:pt x="455516" y="487785"/>
                  <a:pt x="450037" y="493346"/>
                  <a:pt x="450037" y="500205"/>
                </a:cubicBezTo>
                <a:cubicBezTo>
                  <a:pt x="450037" y="506972"/>
                  <a:pt x="455516" y="512533"/>
                  <a:pt x="462386" y="512533"/>
                </a:cubicBezTo>
                <a:lnTo>
                  <a:pt x="492376" y="512533"/>
                </a:lnTo>
                <a:cubicBezTo>
                  <a:pt x="499247" y="512533"/>
                  <a:pt x="504818" y="506972"/>
                  <a:pt x="504818" y="500205"/>
                </a:cubicBezTo>
                <a:cubicBezTo>
                  <a:pt x="504818" y="493346"/>
                  <a:pt x="499247" y="487785"/>
                  <a:pt x="492376" y="487785"/>
                </a:cubicBezTo>
                <a:close/>
                <a:moveTo>
                  <a:pt x="375387" y="487785"/>
                </a:moveTo>
                <a:cubicBezTo>
                  <a:pt x="368516" y="487785"/>
                  <a:pt x="362945" y="493346"/>
                  <a:pt x="362945" y="500205"/>
                </a:cubicBezTo>
                <a:cubicBezTo>
                  <a:pt x="362945" y="506972"/>
                  <a:pt x="368516" y="512533"/>
                  <a:pt x="375387" y="512533"/>
                </a:cubicBezTo>
                <a:lnTo>
                  <a:pt x="405377" y="512533"/>
                </a:lnTo>
                <a:cubicBezTo>
                  <a:pt x="412155" y="512533"/>
                  <a:pt x="417726" y="506972"/>
                  <a:pt x="417726" y="500205"/>
                </a:cubicBezTo>
                <a:cubicBezTo>
                  <a:pt x="417726" y="493346"/>
                  <a:pt x="412155" y="487785"/>
                  <a:pt x="405377" y="487785"/>
                </a:cubicBezTo>
                <a:close/>
                <a:moveTo>
                  <a:pt x="288295" y="487785"/>
                </a:moveTo>
                <a:cubicBezTo>
                  <a:pt x="281424" y="487785"/>
                  <a:pt x="275946" y="493346"/>
                  <a:pt x="275946" y="500205"/>
                </a:cubicBezTo>
                <a:cubicBezTo>
                  <a:pt x="275946" y="506972"/>
                  <a:pt x="281424" y="512533"/>
                  <a:pt x="288295" y="512533"/>
                </a:cubicBezTo>
                <a:lnTo>
                  <a:pt x="318285" y="512533"/>
                </a:lnTo>
                <a:cubicBezTo>
                  <a:pt x="325156" y="512533"/>
                  <a:pt x="330727" y="506972"/>
                  <a:pt x="330727" y="500205"/>
                </a:cubicBezTo>
                <a:cubicBezTo>
                  <a:pt x="330727" y="493346"/>
                  <a:pt x="325156" y="487785"/>
                  <a:pt x="318285" y="487785"/>
                </a:cubicBezTo>
                <a:close/>
                <a:moveTo>
                  <a:pt x="201296" y="487785"/>
                </a:moveTo>
                <a:cubicBezTo>
                  <a:pt x="194425" y="487785"/>
                  <a:pt x="188854" y="493346"/>
                  <a:pt x="188854" y="500205"/>
                </a:cubicBezTo>
                <a:cubicBezTo>
                  <a:pt x="188854" y="506972"/>
                  <a:pt x="194425" y="512533"/>
                  <a:pt x="201296" y="512533"/>
                </a:cubicBezTo>
                <a:lnTo>
                  <a:pt x="231286" y="512533"/>
                </a:lnTo>
                <a:cubicBezTo>
                  <a:pt x="238064" y="512533"/>
                  <a:pt x="243635" y="506972"/>
                  <a:pt x="243635" y="500205"/>
                </a:cubicBezTo>
                <a:cubicBezTo>
                  <a:pt x="243635" y="493346"/>
                  <a:pt x="238064" y="487785"/>
                  <a:pt x="231286" y="487785"/>
                </a:cubicBezTo>
                <a:close/>
                <a:moveTo>
                  <a:pt x="114204" y="487785"/>
                </a:moveTo>
                <a:cubicBezTo>
                  <a:pt x="107333" y="487785"/>
                  <a:pt x="101855" y="493346"/>
                  <a:pt x="101855" y="500205"/>
                </a:cubicBezTo>
                <a:cubicBezTo>
                  <a:pt x="101855" y="506972"/>
                  <a:pt x="107333" y="512533"/>
                  <a:pt x="114204" y="512533"/>
                </a:cubicBezTo>
                <a:lnTo>
                  <a:pt x="144194" y="512533"/>
                </a:lnTo>
                <a:cubicBezTo>
                  <a:pt x="151065" y="512533"/>
                  <a:pt x="156636" y="506972"/>
                  <a:pt x="156636" y="500205"/>
                </a:cubicBezTo>
                <a:cubicBezTo>
                  <a:pt x="156636" y="493346"/>
                  <a:pt x="151065" y="487785"/>
                  <a:pt x="144194" y="487785"/>
                </a:cubicBezTo>
                <a:close/>
                <a:moveTo>
                  <a:pt x="110304" y="468413"/>
                </a:moveTo>
                <a:lnTo>
                  <a:pt x="302687" y="468413"/>
                </a:lnTo>
                <a:lnTo>
                  <a:pt x="303894" y="468413"/>
                </a:lnTo>
                <a:lnTo>
                  <a:pt x="496276" y="468413"/>
                </a:lnTo>
                <a:cubicBezTo>
                  <a:pt x="503240" y="468413"/>
                  <a:pt x="509461" y="470174"/>
                  <a:pt x="513267" y="472770"/>
                </a:cubicBezTo>
                <a:cubicBezTo>
                  <a:pt x="514196" y="473418"/>
                  <a:pt x="515032" y="474067"/>
                  <a:pt x="515589" y="474809"/>
                </a:cubicBezTo>
                <a:lnTo>
                  <a:pt x="589496" y="538300"/>
                </a:lnTo>
                <a:cubicBezTo>
                  <a:pt x="592560" y="540247"/>
                  <a:pt x="595346" y="542657"/>
                  <a:pt x="597760" y="545345"/>
                </a:cubicBezTo>
                <a:cubicBezTo>
                  <a:pt x="603238" y="551740"/>
                  <a:pt x="606580" y="560082"/>
                  <a:pt x="606580" y="569166"/>
                </a:cubicBezTo>
                <a:cubicBezTo>
                  <a:pt x="606580" y="589279"/>
                  <a:pt x="590239" y="605592"/>
                  <a:pt x="570091" y="605592"/>
                </a:cubicBezTo>
                <a:lnTo>
                  <a:pt x="303894" y="605592"/>
                </a:lnTo>
                <a:lnTo>
                  <a:pt x="302687" y="605592"/>
                </a:lnTo>
                <a:lnTo>
                  <a:pt x="36489" y="605592"/>
                </a:lnTo>
                <a:cubicBezTo>
                  <a:pt x="16341" y="605592"/>
                  <a:pt x="0" y="589279"/>
                  <a:pt x="0" y="569166"/>
                </a:cubicBezTo>
                <a:cubicBezTo>
                  <a:pt x="0" y="560082"/>
                  <a:pt x="3342" y="551740"/>
                  <a:pt x="8820" y="545345"/>
                </a:cubicBezTo>
                <a:cubicBezTo>
                  <a:pt x="11234" y="542657"/>
                  <a:pt x="14020" y="540247"/>
                  <a:pt x="17084" y="538300"/>
                </a:cubicBezTo>
                <a:lnTo>
                  <a:pt x="90991" y="474809"/>
                </a:lnTo>
                <a:cubicBezTo>
                  <a:pt x="91641" y="474067"/>
                  <a:pt x="92384" y="473418"/>
                  <a:pt x="93405" y="472770"/>
                </a:cubicBezTo>
                <a:cubicBezTo>
                  <a:pt x="97212" y="470174"/>
                  <a:pt x="103340" y="468413"/>
                  <a:pt x="110304" y="468413"/>
                </a:cubicBezTo>
                <a:close/>
                <a:moveTo>
                  <a:pt x="150233" y="49396"/>
                </a:moveTo>
                <a:lnTo>
                  <a:pt x="456347" y="49396"/>
                </a:lnTo>
                <a:cubicBezTo>
                  <a:pt x="468974" y="49396"/>
                  <a:pt x="479280" y="59687"/>
                  <a:pt x="479280" y="72295"/>
                </a:cubicBezTo>
                <a:lnTo>
                  <a:pt x="479280" y="183541"/>
                </a:lnTo>
                <a:lnTo>
                  <a:pt x="479280" y="294788"/>
                </a:lnTo>
                <a:cubicBezTo>
                  <a:pt x="479280" y="307396"/>
                  <a:pt x="468974" y="317686"/>
                  <a:pt x="456347" y="317686"/>
                </a:cubicBezTo>
                <a:lnTo>
                  <a:pt x="150233" y="317686"/>
                </a:lnTo>
                <a:cubicBezTo>
                  <a:pt x="137606" y="317686"/>
                  <a:pt x="127300" y="307396"/>
                  <a:pt x="127300" y="294788"/>
                </a:cubicBezTo>
                <a:lnTo>
                  <a:pt x="127300" y="183541"/>
                </a:lnTo>
                <a:lnTo>
                  <a:pt x="127300" y="72295"/>
                </a:lnTo>
                <a:cubicBezTo>
                  <a:pt x="127300" y="59687"/>
                  <a:pt x="137606" y="49396"/>
                  <a:pt x="150233" y="49396"/>
                </a:cubicBezTo>
                <a:close/>
                <a:moveTo>
                  <a:pt x="150248" y="24750"/>
                </a:moveTo>
                <a:cubicBezTo>
                  <a:pt x="123881" y="24750"/>
                  <a:pt x="102621" y="45978"/>
                  <a:pt x="102621" y="72304"/>
                </a:cubicBezTo>
                <a:lnTo>
                  <a:pt x="102621" y="183541"/>
                </a:lnTo>
                <a:lnTo>
                  <a:pt x="102621" y="294777"/>
                </a:lnTo>
                <a:cubicBezTo>
                  <a:pt x="102621" y="321103"/>
                  <a:pt x="123881" y="342331"/>
                  <a:pt x="150248" y="342331"/>
                </a:cubicBezTo>
                <a:lnTo>
                  <a:pt x="456334" y="342331"/>
                </a:lnTo>
                <a:cubicBezTo>
                  <a:pt x="482700" y="342331"/>
                  <a:pt x="504052" y="321103"/>
                  <a:pt x="504052" y="294777"/>
                </a:cubicBezTo>
                <a:lnTo>
                  <a:pt x="504052" y="183541"/>
                </a:lnTo>
                <a:lnTo>
                  <a:pt x="504052" y="72304"/>
                </a:lnTo>
                <a:cubicBezTo>
                  <a:pt x="504052" y="45978"/>
                  <a:pt x="482700" y="24750"/>
                  <a:pt x="456334" y="24750"/>
                </a:cubicBezTo>
                <a:close/>
                <a:moveTo>
                  <a:pt x="150248" y="0"/>
                </a:moveTo>
                <a:lnTo>
                  <a:pt x="456334" y="0"/>
                </a:lnTo>
                <a:cubicBezTo>
                  <a:pt x="496254" y="0"/>
                  <a:pt x="528747" y="32444"/>
                  <a:pt x="528747" y="72304"/>
                </a:cubicBezTo>
                <a:lnTo>
                  <a:pt x="528747" y="183541"/>
                </a:lnTo>
                <a:lnTo>
                  <a:pt x="528747" y="294777"/>
                </a:lnTo>
                <a:cubicBezTo>
                  <a:pt x="528747" y="334637"/>
                  <a:pt x="496254" y="367081"/>
                  <a:pt x="456334" y="367081"/>
                </a:cubicBezTo>
                <a:lnTo>
                  <a:pt x="371477" y="367081"/>
                </a:lnTo>
                <a:lnTo>
                  <a:pt x="371477" y="410093"/>
                </a:lnTo>
                <a:cubicBezTo>
                  <a:pt x="371477" y="415006"/>
                  <a:pt x="375470" y="418992"/>
                  <a:pt x="380391" y="418992"/>
                </a:cubicBezTo>
                <a:lnTo>
                  <a:pt x="399240" y="418992"/>
                </a:lnTo>
                <a:lnTo>
                  <a:pt x="399240" y="419085"/>
                </a:lnTo>
                <a:lnTo>
                  <a:pt x="440094" y="419085"/>
                </a:lnTo>
                <a:cubicBezTo>
                  <a:pt x="445015" y="419085"/>
                  <a:pt x="449007" y="422978"/>
                  <a:pt x="449007" y="427891"/>
                </a:cubicBezTo>
                <a:lnTo>
                  <a:pt x="449007" y="448655"/>
                </a:lnTo>
                <a:lnTo>
                  <a:pt x="157643" y="448655"/>
                </a:lnTo>
                <a:lnTo>
                  <a:pt x="157643" y="427891"/>
                </a:lnTo>
                <a:cubicBezTo>
                  <a:pt x="157643" y="422978"/>
                  <a:pt x="161636" y="419085"/>
                  <a:pt x="166557" y="419085"/>
                </a:cubicBezTo>
                <a:lnTo>
                  <a:pt x="207318" y="419085"/>
                </a:lnTo>
                <a:lnTo>
                  <a:pt x="207318" y="418992"/>
                </a:lnTo>
                <a:lnTo>
                  <a:pt x="226167" y="418992"/>
                </a:lnTo>
                <a:cubicBezTo>
                  <a:pt x="231088" y="418992"/>
                  <a:pt x="235080" y="415006"/>
                  <a:pt x="235080" y="410093"/>
                </a:cubicBezTo>
                <a:lnTo>
                  <a:pt x="235080" y="367081"/>
                </a:lnTo>
                <a:lnTo>
                  <a:pt x="150248" y="367081"/>
                </a:lnTo>
                <a:cubicBezTo>
                  <a:pt x="110327" y="367081"/>
                  <a:pt x="77834" y="334637"/>
                  <a:pt x="77834" y="294777"/>
                </a:cubicBezTo>
                <a:lnTo>
                  <a:pt x="77834" y="183541"/>
                </a:lnTo>
                <a:lnTo>
                  <a:pt x="77834" y="72304"/>
                </a:lnTo>
                <a:cubicBezTo>
                  <a:pt x="77834" y="32444"/>
                  <a:pt x="110327" y="0"/>
                  <a:pt x="150248" y="0"/>
                </a:cubicBezTo>
                <a:close/>
              </a:path>
            </a:pathLst>
          </a:custGeom>
          <a:solidFill>
            <a:srgbClr val="BC3649"/>
          </a:solidFill>
          <a:ln>
            <a:noFill/>
          </a:ln>
        </p:spPr>
      </p:sp>
      <p:cxnSp>
        <p:nvCxnSpPr>
          <p:cNvPr id="515" name="直接连接符 514"/>
          <p:cNvCxnSpPr/>
          <p:nvPr/>
        </p:nvCxnSpPr>
        <p:spPr>
          <a:xfrm>
            <a:off x="8078866" y="3644009"/>
            <a:ext cx="0" cy="474663"/>
          </a:xfrm>
          <a:prstGeom prst="line">
            <a:avLst/>
          </a:prstGeom>
          <a:noFill/>
          <a:ln w="28575" cap="flat" cmpd="sng">
            <a:solidFill>
              <a:srgbClr val="BC3649"/>
            </a:solidFill>
            <a:prstDash val="solid"/>
            <a:round/>
            <a:headEnd type="none" w="med" len="med"/>
            <a:tailEnd type="triangle" w="med" len="med"/>
          </a:ln>
          <a:effectLst/>
        </p:spPr>
      </p:cxnSp>
      <p:sp>
        <p:nvSpPr>
          <p:cNvPr id="516" name="文本框 515"/>
          <p:cNvSpPr txBox="1"/>
          <p:nvPr/>
        </p:nvSpPr>
        <p:spPr>
          <a:xfrm>
            <a:off x="2451557" y="4492691"/>
            <a:ext cx="1569660" cy="369332"/>
          </a:xfrm>
          <a:prstGeom prst="rect">
            <a:avLst/>
          </a:prstGeom>
          <a:noFill/>
        </p:spPr>
        <p:txBody>
          <a:bodyPr wrap="none" rtlCol="0">
            <a:spAutoFit/>
          </a:bodyPr>
          <a:lstStyle/>
          <a:p>
            <a:r>
              <a:rPr lang="zh-CN" altLang="en-US" dirty="0">
                <a:solidFill>
                  <a:schemeClr val="tx2">
                    <a:lumMod val="60000"/>
                    <a:lumOff val="40000"/>
                  </a:schemeClr>
                </a:solidFill>
                <a:latin typeface="微软雅黑 Light" panose="020B0502040204020203" pitchFamily="34" charset="-122"/>
                <a:ea typeface="微软雅黑 Light" panose="020B0502040204020203" pitchFamily="34" charset="-122"/>
              </a:rPr>
              <a:t>神经网络基础</a:t>
            </a:r>
          </a:p>
        </p:txBody>
      </p:sp>
      <p:sp>
        <p:nvSpPr>
          <p:cNvPr id="517" name="文本框 516"/>
          <p:cNvSpPr txBox="1"/>
          <p:nvPr/>
        </p:nvSpPr>
        <p:spPr>
          <a:xfrm>
            <a:off x="7524868" y="4500743"/>
            <a:ext cx="1107996" cy="369332"/>
          </a:xfrm>
          <a:prstGeom prst="rect">
            <a:avLst/>
          </a:prstGeom>
          <a:noFill/>
        </p:spPr>
        <p:txBody>
          <a:bodyPr wrap="none" rtlCol="0">
            <a:spAutoFit/>
          </a:bodyPr>
          <a:lstStyle/>
          <a:p>
            <a:r>
              <a:rPr lang="zh-CN" altLang="en-US" dirty="0">
                <a:latin typeface="微软雅黑 Light" panose="020B0502040204020203" pitchFamily="34" charset="-122"/>
                <a:ea typeface="微软雅黑 Light" panose="020B0502040204020203" pitchFamily="34" charset="-122"/>
              </a:rPr>
              <a:t>深度学习</a:t>
            </a:r>
          </a:p>
        </p:txBody>
      </p:sp>
      <p:sp>
        <p:nvSpPr>
          <p:cNvPr id="518" name="下箭头 517"/>
          <p:cNvSpPr/>
          <p:nvPr/>
        </p:nvSpPr>
        <p:spPr>
          <a:xfrm rot="10800000">
            <a:off x="3022219" y="4931782"/>
            <a:ext cx="361950" cy="390525"/>
          </a:xfrm>
          <a:prstGeom prst="downArrow">
            <a:avLst>
              <a:gd name="adj1" fmla="val 39473"/>
              <a:gd name="adj2" fmla="val 50000"/>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60000"/>
                  <a:lumOff val="40000"/>
                </a:schemeClr>
              </a:solidFill>
            </a:endParaRPr>
          </a:p>
        </p:txBody>
      </p:sp>
      <p:sp>
        <p:nvSpPr>
          <p:cNvPr id="519" name="文本框 518"/>
          <p:cNvSpPr txBox="1"/>
          <p:nvPr/>
        </p:nvSpPr>
        <p:spPr>
          <a:xfrm>
            <a:off x="1677364" y="5430733"/>
            <a:ext cx="3387274" cy="923330"/>
          </a:xfrm>
          <a:prstGeom prst="rect">
            <a:avLst/>
          </a:prstGeom>
          <a:noFill/>
        </p:spPr>
        <p:txBody>
          <a:bodyPr wrap="square" rtlCol="0">
            <a:spAutoFit/>
          </a:bodyPr>
          <a:lstStyle/>
          <a:p>
            <a:r>
              <a:rPr lang="zh-CN" altLang="en-US" dirty="0">
                <a:solidFill>
                  <a:schemeClr val="tx2">
                    <a:lumMod val="60000"/>
                    <a:lumOff val="40000"/>
                  </a:schemeClr>
                </a:solidFill>
                <a:latin typeface="微软雅黑 Light" panose="020B0502040204020203" pitchFamily="34" charset="-122"/>
                <a:ea typeface="微软雅黑 Light" panose="020B0502040204020203" pitchFamily="34" charset="-122"/>
              </a:rPr>
              <a:t>上一节学习了神经网络的基本知识，多层感知机的正反向计算过程，以及基础优化方法。</a:t>
            </a:r>
          </a:p>
        </p:txBody>
      </p:sp>
      <p:sp>
        <p:nvSpPr>
          <p:cNvPr id="520" name="下箭头 519"/>
          <p:cNvSpPr/>
          <p:nvPr/>
        </p:nvSpPr>
        <p:spPr>
          <a:xfrm rot="10800000">
            <a:off x="7930653" y="4961395"/>
            <a:ext cx="361950" cy="390525"/>
          </a:xfrm>
          <a:prstGeom prst="downArrow">
            <a:avLst>
              <a:gd name="adj1" fmla="val 3947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1" name="文本框 520"/>
          <p:cNvSpPr txBox="1"/>
          <p:nvPr/>
        </p:nvSpPr>
        <p:spPr>
          <a:xfrm>
            <a:off x="5818888" y="5448932"/>
            <a:ext cx="4636656" cy="923330"/>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本节通过分析经典深度学习算法，学习将基础神经网络应用到实际场景，并逐步优化实现工业级应用的过程。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en-US" altLang="zh-CN" sz="2800" dirty="0">
                <a:solidFill>
                  <a:schemeClr val="bg1"/>
                </a:solidFill>
                <a:latin typeface="微软雅黑" panose="020B0503020204020204" pitchFamily="34" charset="-122"/>
                <a:ea typeface="微软雅黑" panose="020B0503020204020204" pitchFamily="34" charset="-122"/>
              </a:rPr>
              <a:t>Driving Example</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93" name="矩形 92"/>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256" name="内容占位符 2"/>
          <p:cNvSpPr txBox="1"/>
          <p:nvPr/>
        </p:nvSpPr>
        <p:spPr>
          <a:xfrm>
            <a:off x="293722" y="691951"/>
            <a:ext cx="11637087" cy="19801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让机器更好地理解和服务人类</a:t>
            </a:r>
            <a:endParaRPr lang="en-US" altLang="zh-CN" sz="2800" b="1" dirty="0"/>
          </a:p>
        </p:txBody>
      </p:sp>
      <p:sp>
        <p:nvSpPr>
          <p:cNvPr id="257" name="KSO_Shape"/>
          <p:cNvSpPr/>
          <p:nvPr/>
        </p:nvSpPr>
        <p:spPr bwMode="auto">
          <a:xfrm>
            <a:off x="2431619" y="3415181"/>
            <a:ext cx="2105025" cy="1809750"/>
          </a:xfrm>
          <a:custGeom>
            <a:avLst/>
            <a:gdLst/>
            <a:ahLst/>
            <a:cxnLst/>
            <a:rect l="0" t="0" r="r" b="b"/>
            <a:pathLst>
              <a:path w="4741862" h="3833813">
                <a:moveTo>
                  <a:pt x="247650" y="2000250"/>
                </a:moveTo>
                <a:lnTo>
                  <a:pt x="1016000" y="2000250"/>
                </a:lnTo>
                <a:lnTo>
                  <a:pt x="1030288" y="2003425"/>
                </a:lnTo>
                <a:lnTo>
                  <a:pt x="1041400" y="2012950"/>
                </a:lnTo>
                <a:lnTo>
                  <a:pt x="1050925" y="2020888"/>
                </a:lnTo>
                <a:lnTo>
                  <a:pt x="1054100" y="2036763"/>
                </a:lnTo>
                <a:lnTo>
                  <a:pt x="1050925" y="2051051"/>
                </a:lnTo>
                <a:lnTo>
                  <a:pt x="1041400" y="2063751"/>
                </a:lnTo>
                <a:lnTo>
                  <a:pt x="1030288" y="2071688"/>
                </a:lnTo>
                <a:lnTo>
                  <a:pt x="1016000" y="2074863"/>
                </a:lnTo>
                <a:lnTo>
                  <a:pt x="247650" y="2074863"/>
                </a:lnTo>
                <a:lnTo>
                  <a:pt x="233362" y="2071688"/>
                </a:lnTo>
                <a:lnTo>
                  <a:pt x="220662" y="2063751"/>
                </a:lnTo>
                <a:lnTo>
                  <a:pt x="212725" y="2051051"/>
                </a:lnTo>
                <a:lnTo>
                  <a:pt x="209550" y="2036763"/>
                </a:lnTo>
                <a:lnTo>
                  <a:pt x="212725" y="2020888"/>
                </a:lnTo>
                <a:lnTo>
                  <a:pt x="220662" y="2012950"/>
                </a:lnTo>
                <a:lnTo>
                  <a:pt x="233362" y="2003425"/>
                </a:lnTo>
                <a:lnTo>
                  <a:pt x="247650" y="2000250"/>
                </a:lnTo>
                <a:close/>
                <a:moveTo>
                  <a:pt x="244475" y="1901825"/>
                </a:moveTo>
                <a:lnTo>
                  <a:pt x="1012825" y="1901825"/>
                </a:lnTo>
                <a:lnTo>
                  <a:pt x="1027112" y="1905000"/>
                </a:lnTo>
                <a:lnTo>
                  <a:pt x="1039812" y="1914525"/>
                </a:lnTo>
                <a:lnTo>
                  <a:pt x="1044575" y="1925638"/>
                </a:lnTo>
                <a:lnTo>
                  <a:pt x="1047750" y="1941513"/>
                </a:lnTo>
                <a:lnTo>
                  <a:pt x="1044575" y="1952626"/>
                </a:lnTo>
                <a:lnTo>
                  <a:pt x="1039812" y="1965326"/>
                </a:lnTo>
                <a:lnTo>
                  <a:pt x="1027112" y="1973263"/>
                </a:lnTo>
                <a:lnTo>
                  <a:pt x="1012825" y="1976438"/>
                </a:lnTo>
                <a:lnTo>
                  <a:pt x="244475" y="1976438"/>
                </a:lnTo>
                <a:lnTo>
                  <a:pt x="230188" y="1973263"/>
                </a:lnTo>
                <a:lnTo>
                  <a:pt x="217488" y="1965326"/>
                </a:lnTo>
                <a:lnTo>
                  <a:pt x="209550" y="1952626"/>
                </a:lnTo>
                <a:lnTo>
                  <a:pt x="206375" y="1941513"/>
                </a:lnTo>
                <a:lnTo>
                  <a:pt x="209550" y="1925638"/>
                </a:lnTo>
                <a:lnTo>
                  <a:pt x="217488" y="1914525"/>
                </a:lnTo>
                <a:lnTo>
                  <a:pt x="230188" y="1905000"/>
                </a:lnTo>
                <a:lnTo>
                  <a:pt x="244475" y="1901825"/>
                </a:lnTo>
                <a:close/>
                <a:moveTo>
                  <a:pt x="277813" y="1803400"/>
                </a:moveTo>
                <a:lnTo>
                  <a:pt x="1047750" y="1803400"/>
                </a:lnTo>
                <a:lnTo>
                  <a:pt x="1060450" y="1806575"/>
                </a:lnTo>
                <a:lnTo>
                  <a:pt x="1071563" y="1816100"/>
                </a:lnTo>
                <a:lnTo>
                  <a:pt x="1081088" y="1827213"/>
                </a:lnTo>
                <a:lnTo>
                  <a:pt x="1084263" y="1843088"/>
                </a:lnTo>
                <a:lnTo>
                  <a:pt x="1081088" y="1857376"/>
                </a:lnTo>
                <a:lnTo>
                  <a:pt x="1071563" y="1868488"/>
                </a:lnTo>
                <a:lnTo>
                  <a:pt x="1060450" y="1874838"/>
                </a:lnTo>
                <a:lnTo>
                  <a:pt x="1047750" y="1878013"/>
                </a:lnTo>
                <a:lnTo>
                  <a:pt x="277813" y="1878013"/>
                </a:lnTo>
                <a:lnTo>
                  <a:pt x="263525" y="1874838"/>
                </a:lnTo>
                <a:lnTo>
                  <a:pt x="250825" y="1868488"/>
                </a:lnTo>
                <a:lnTo>
                  <a:pt x="244475" y="1857376"/>
                </a:lnTo>
                <a:lnTo>
                  <a:pt x="241300" y="1843088"/>
                </a:lnTo>
                <a:lnTo>
                  <a:pt x="244475" y="1827213"/>
                </a:lnTo>
                <a:lnTo>
                  <a:pt x="250825" y="1816100"/>
                </a:lnTo>
                <a:lnTo>
                  <a:pt x="263525" y="1806575"/>
                </a:lnTo>
                <a:lnTo>
                  <a:pt x="277813" y="1803400"/>
                </a:lnTo>
                <a:close/>
                <a:moveTo>
                  <a:pt x="238125" y="1708150"/>
                </a:moveTo>
                <a:lnTo>
                  <a:pt x="1009650" y="1708150"/>
                </a:lnTo>
                <a:lnTo>
                  <a:pt x="1020762" y="1711325"/>
                </a:lnTo>
                <a:lnTo>
                  <a:pt x="1033462" y="1717675"/>
                </a:lnTo>
                <a:lnTo>
                  <a:pt x="1041400" y="1728788"/>
                </a:lnTo>
                <a:lnTo>
                  <a:pt x="1044575" y="1744663"/>
                </a:lnTo>
                <a:lnTo>
                  <a:pt x="1041400" y="1758951"/>
                </a:lnTo>
                <a:lnTo>
                  <a:pt x="1033462" y="1770063"/>
                </a:lnTo>
                <a:lnTo>
                  <a:pt x="1020762" y="1779588"/>
                </a:lnTo>
                <a:lnTo>
                  <a:pt x="1009650" y="1782763"/>
                </a:lnTo>
                <a:lnTo>
                  <a:pt x="238125" y="1782763"/>
                </a:lnTo>
                <a:lnTo>
                  <a:pt x="223838" y="1779588"/>
                </a:lnTo>
                <a:lnTo>
                  <a:pt x="212725" y="1770063"/>
                </a:lnTo>
                <a:lnTo>
                  <a:pt x="206375" y="1758951"/>
                </a:lnTo>
                <a:lnTo>
                  <a:pt x="203200" y="1744663"/>
                </a:lnTo>
                <a:lnTo>
                  <a:pt x="206375" y="1728788"/>
                </a:lnTo>
                <a:lnTo>
                  <a:pt x="212725" y="1717675"/>
                </a:lnTo>
                <a:lnTo>
                  <a:pt x="223838" y="1711325"/>
                </a:lnTo>
                <a:lnTo>
                  <a:pt x="238125" y="1708150"/>
                </a:lnTo>
                <a:close/>
                <a:moveTo>
                  <a:pt x="301626" y="1609725"/>
                </a:moveTo>
                <a:lnTo>
                  <a:pt x="1068388" y="1609725"/>
                </a:lnTo>
                <a:lnTo>
                  <a:pt x="1084264" y="1612900"/>
                </a:lnTo>
                <a:lnTo>
                  <a:pt x="1095376" y="1620838"/>
                </a:lnTo>
                <a:lnTo>
                  <a:pt x="1104901" y="1633538"/>
                </a:lnTo>
                <a:lnTo>
                  <a:pt x="1108076" y="1644650"/>
                </a:lnTo>
                <a:lnTo>
                  <a:pt x="1104901" y="1660526"/>
                </a:lnTo>
                <a:lnTo>
                  <a:pt x="1095376" y="1671638"/>
                </a:lnTo>
                <a:lnTo>
                  <a:pt x="1084264" y="1681163"/>
                </a:lnTo>
                <a:lnTo>
                  <a:pt x="1068388" y="1684338"/>
                </a:lnTo>
                <a:lnTo>
                  <a:pt x="301626" y="1684338"/>
                </a:lnTo>
                <a:lnTo>
                  <a:pt x="287338" y="1681163"/>
                </a:lnTo>
                <a:lnTo>
                  <a:pt x="274638" y="1671638"/>
                </a:lnTo>
                <a:lnTo>
                  <a:pt x="268288" y="1660526"/>
                </a:lnTo>
                <a:lnTo>
                  <a:pt x="265113" y="1644650"/>
                </a:lnTo>
                <a:lnTo>
                  <a:pt x="268288" y="1633538"/>
                </a:lnTo>
                <a:lnTo>
                  <a:pt x="274638" y="1620838"/>
                </a:lnTo>
                <a:lnTo>
                  <a:pt x="287338" y="1612900"/>
                </a:lnTo>
                <a:lnTo>
                  <a:pt x="301626" y="1609725"/>
                </a:lnTo>
                <a:close/>
                <a:moveTo>
                  <a:pt x="254001" y="1511300"/>
                </a:moveTo>
                <a:lnTo>
                  <a:pt x="1020764" y="1511300"/>
                </a:lnTo>
                <a:lnTo>
                  <a:pt x="1036638" y="1514475"/>
                </a:lnTo>
                <a:lnTo>
                  <a:pt x="1047751" y="1522413"/>
                </a:lnTo>
                <a:lnTo>
                  <a:pt x="1057276" y="1535113"/>
                </a:lnTo>
                <a:lnTo>
                  <a:pt x="1060451" y="1549401"/>
                </a:lnTo>
                <a:lnTo>
                  <a:pt x="1057276" y="1562101"/>
                </a:lnTo>
                <a:lnTo>
                  <a:pt x="1047751" y="1573213"/>
                </a:lnTo>
                <a:lnTo>
                  <a:pt x="1036638" y="1582738"/>
                </a:lnTo>
                <a:lnTo>
                  <a:pt x="1020764" y="1585913"/>
                </a:lnTo>
                <a:lnTo>
                  <a:pt x="254001" y="1585913"/>
                </a:lnTo>
                <a:lnTo>
                  <a:pt x="238126" y="1582738"/>
                </a:lnTo>
                <a:lnTo>
                  <a:pt x="227013" y="1573213"/>
                </a:lnTo>
                <a:lnTo>
                  <a:pt x="220663" y="1562101"/>
                </a:lnTo>
                <a:lnTo>
                  <a:pt x="217488" y="1549401"/>
                </a:lnTo>
                <a:lnTo>
                  <a:pt x="220663" y="1535113"/>
                </a:lnTo>
                <a:lnTo>
                  <a:pt x="227013" y="1522413"/>
                </a:lnTo>
                <a:lnTo>
                  <a:pt x="238126" y="1514475"/>
                </a:lnTo>
                <a:lnTo>
                  <a:pt x="254001" y="1511300"/>
                </a:lnTo>
                <a:close/>
                <a:moveTo>
                  <a:pt x="274638" y="1412875"/>
                </a:moveTo>
                <a:lnTo>
                  <a:pt x="1041400" y="1412875"/>
                </a:lnTo>
                <a:lnTo>
                  <a:pt x="1057276" y="1416050"/>
                </a:lnTo>
                <a:lnTo>
                  <a:pt x="1068388" y="1423988"/>
                </a:lnTo>
                <a:lnTo>
                  <a:pt x="1077913" y="1436688"/>
                </a:lnTo>
                <a:lnTo>
                  <a:pt x="1081088" y="1450976"/>
                </a:lnTo>
                <a:lnTo>
                  <a:pt x="1077913" y="1466851"/>
                </a:lnTo>
                <a:lnTo>
                  <a:pt x="1068388" y="1477963"/>
                </a:lnTo>
                <a:lnTo>
                  <a:pt x="1057276" y="1484313"/>
                </a:lnTo>
                <a:lnTo>
                  <a:pt x="1041400" y="1487488"/>
                </a:lnTo>
                <a:lnTo>
                  <a:pt x="274638" y="1487488"/>
                </a:lnTo>
                <a:lnTo>
                  <a:pt x="260350" y="1484313"/>
                </a:lnTo>
                <a:lnTo>
                  <a:pt x="247650" y="1477963"/>
                </a:lnTo>
                <a:lnTo>
                  <a:pt x="238126" y="1466851"/>
                </a:lnTo>
                <a:lnTo>
                  <a:pt x="236538" y="1450976"/>
                </a:lnTo>
                <a:lnTo>
                  <a:pt x="238126" y="1436688"/>
                </a:lnTo>
                <a:lnTo>
                  <a:pt x="247650" y="1423988"/>
                </a:lnTo>
                <a:lnTo>
                  <a:pt x="260350" y="1416050"/>
                </a:lnTo>
                <a:lnTo>
                  <a:pt x="274638" y="1412875"/>
                </a:lnTo>
                <a:close/>
                <a:moveTo>
                  <a:pt x="3359150" y="0"/>
                </a:moveTo>
                <a:lnTo>
                  <a:pt x="3403600" y="3175"/>
                </a:lnTo>
                <a:lnTo>
                  <a:pt x="3449638" y="6350"/>
                </a:lnTo>
                <a:lnTo>
                  <a:pt x="3494088" y="17462"/>
                </a:lnTo>
                <a:lnTo>
                  <a:pt x="3535362" y="30162"/>
                </a:lnTo>
                <a:lnTo>
                  <a:pt x="3579814" y="50800"/>
                </a:lnTo>
                <a:lnTo>
                  <a:pt x="3619500" y="71437"/>
                </a:lnTo>
                <a:lnTo>
                  <a:pt x="3654426" y="98425"/>
                </a:lnTo>
                <a:lnTo>
                  <a:pt x="3687762" y="128587"/>
                </a:lnTo>
                <a:lnTo>
                  <a:pt x="3717926" y="158750"/>
                </a:lnTo>
                <a:lnTo>
                  <a:pt x="3744914" y="193675"/>
                </a:lnTo>
                <a:lnTo>
                  <a:pt x="3768726" y="230187"/>
                </a:lnTo>
                <a:lnTo>
                  <a:pt x="3789362" y="268287"/>
                </a:lnTo>
                <a:lnTo>
                  <a:pt x="3803650" y="311150"/>
                </a:lnTo>
                <a:lnTo>
                  <a:pt x="3816350" y="352425"/>
                </a:lnTo>
                <a:lnTo>
                  <a:pt x="3822700" y="393700"/>
                </a:lnTo>
                <a:lnTo>
                  <a:pt x="3827462" y="439737"/>
                </a:lnTo>
                <a:lnTo>
                  <a:pt x="3825876" y="484187"/>
                </a:lnTo>
                <a:lnTo>
                  <a:pt x="3822700" y="528637"/>
                </a:lnTo>
                <a:lnTo>
                  <a:pt x="3813176" y="573087"/>
                </a:lnTo>
                <a:lnTo>
                  <a:pt x="3798888" y="615950"/>
                </a:lnTo>
                <a:lnTo>
                  <a:pt x="3776662" y="660400"/>
                </a:lnTo>
                <a:lnTo>
                  <a:pt x="3756026" y="698500"/>
                </a:lnTo>
                <a:lnTo>
                  <a:pt x="3729038" y="735012"/>
                </a:lnTo>
                <a:lnTo>
                  <a:pt x="3702050" y="768350"/>
                </a:lnTo>
                <a:lnTo>
                  <a:pt x="3670300" y="796925"/>
                </a:lnTo>
                <a:lnTo>
                  <a:pt x="3633788" y="823912"/>
                </a:lnTo>
                <a:lnTo>
                  <a:pt x="3598862" y="847724"/>
                </a:lnTo>
                <a:lnTo>
                  <a:pt x="3606800" y="844549"/>
                </a:lnTo>
                <a:lnTo>
                  <a:pt x="3633788" y="842962"/>
                </a:lnTo>
                <a:lnTo>
                  <a:pt x="3675062" y="839787"/>
                </a:lnTo>
                <a:lnTo>
                  <a:pt x="3721100" y="839787"/>
                </a:lnTo>
                <a:lnTo>
                  <a:pt x="3765550" y="842962"/>
                </a:lnTo>
                <a:lnTo>
                  <a:pt x="3810000" y="850899"/>
                </a:lnTo>
                <a:lnTo>
                  <a:pt x="3857626" y="863599"/>
                </a:lnTo>
                <a:lnTo>
                  <a:pt x="3902076" y="881062"/>
                </a:lnTo>
                <a:lnTo>
                  <a:pt x="3948112" y="904874"/>
                </a:lnTo>
                <a:lnTo>
                  <a:pt x="3989388" y="935037"/>
                </a:lnTo>
                <a:lnTo>
                  <a:pt x="4019550" y="958849"/>
                </a:lnTo>
                <a:lnTo>
                  <a:pt x="4046538" y="982662"/>
                </a:lnTo>
                <a:lnTo>
                  <a:pt x="4070350" y="1009649"/>
                </a:lnTo>
                <a:lnTo>
                  <a:pt x="4094162" y="1039812"/>
                </a:lnTo>
                <a:lnTo>
                  <a:pt x="4117976" y="1068387"/>
                </a:lnTo>
                <a:lnTo>
                  <a:pt x="4138612" y="1101724"/>
                </a:lnTo>
                <a:lnTo>
                  <a:pt x="4179888" y="1169987"/>
                </a:lnTo>
                <a:lnTo>
                  <a:pt x="4216400" y="1243012"/>
                </a:lnTo>
                <a:lnTo>
                  <a:pt x="4249738" y="1319212"/>
                </a:lnTo>
                <a:lnTo>
                  <a:pt x="4278312" y="1400174"/>
                </a:lnTo>
                <a:lnTo>
                  <a:pt x="4305300" y="1484312"/>
                </a:lnTo>
                <a:lnTo>
                  <a:pt x="4329112" y="1568450"/>
                </a:lnTo>
                <a:lnTo>
                  <a:pt x="4352926" y="1654175"/>
                </a:lnTo>
                <a:lnTo>
                  <a:pt x="4395788" y="1824038"/>
                </a:lnTo>
                <a:lnTo>
                  <a:pt x="4433888" y="1989138"/>
                </a:lnTo>
                <a:lnTo>
                  <a:pt x="4451910" y="2059780"/>
                </a:lnTo>
                <a:lnTo>
                  <a:pt x="4606926" y="935037"/>
                </a:lnTo>
                <a:lnTo>
                  <a:pt x="4610100" y="919162"/>
                </a:lnTo>
                <a:lnTo>
                  <a:pt x="4616450" y="908049"/>
                </a:lnTo>
                <a:lnTo>
                  <a:pt x="4625976" y="898524"/>
                </a:lnTo>
                <a:lnTo>
                  <a:pt x="4633914" y="890587"/>
                </a:lnTo>
                <a:lnTo>
                  <a:pt x="4646614" y="881062"/>
                </a:lnTo>
                <a:lnTo>
                  <a:pt x="4657726" y="877887"/>
                </a:lnTo>
                <a:lnTo>
                  <a:pt x="4670426" y="874712"/>
                </a:lnTo>
                <a:lnTo>
                  <a:pt x="4684714" y="874712"/>
                </a:lnTo>
                <a:lnTo>
                  <a:pt x="4697414" y="877887"/>
                </a:lnTo>
                <a:lnTo>
                  <a:pt x="4708526" y="884237"/>
                </a:lnTo>
                <a:lnTo>
                  <a:pt x="4721226" y="892174"/>
                </a:lnTo>
                <a:lnTo>
                  <a:pt x="4729162" y="901699"/>
                </a:lnTo>
                <a:lnTo>
                  <a:pt x="4735514" y="914399"/>
                </a:lnTo>
                <a:lnTo>
                  <a:pt x="4738688" y="925512"/>
                </a:lnTo>
                <a:lnTo>
                  <a:pt x="4741862" y="938212"/>
                </a:lnTo>
                <a:lnTo>
                  <a:pt x="4741862" y="952499"/>
                </a:lnTo>
                <a:lnTo>
                  <a:pt x="4538662" y="2415850"/>
                </a:lnTo>
                <a:lnTo>
                  <a:pt x="4538662" y="3765551"/>
                </a:lnTo>
                <a:lnTo>
                  <a:pt x="4535488" y="3779838"/>
                </a:lnTo>
                <a:lnTo>
                  <a:pt x="4532314" y="3792538"/>
                </a:lnTo>
                <a:lnTo>
                  <a:pt x="4527550" y="3803651"/>
                </a:lnTo>
                <a:lnTo>
                  <a:pt x="4518026" y="3813176"/>
                </a:lnTo>
                <a:lnTo>
                  <a:pt x="4508500" y="3821113"/>
                </a:lnTo>
                <a:lnTo>
                  <a:pt x="4497388" y="3827463"/>
                </a:lnTo>
                <a:lnTo>
                  <a:pt x="4484688" y="3833813"/>
                </a:lnTo>
                <a:lnTo>
                  <a:pt x="4470400" y="3833813"/>
                </a:lnTo>
                <a:lnTo>
                  <a:pt x="4454526" y="3833813"/>
                </a:lnTo>
                <a:lnTo>
                  <a:pt x="4443414" y="3827463"/>
                </a:lnTo>
                <a:lnTo>
                  <a:pt x="4430714" y="3821113"/>
                </a:lnTo>
                <a:lnTo>
                  <a:pt x="4422776" y="3813176"/>
                </a:lnTo>
                <a:lnTo>
                  <a:pt x="4413250" y="3803651"/>
                </a:lnTo>
                <a:lnTo>
                  <a:pt x="4406900" y="3792538"/>
                </a:lnTo>
                <a:lnTo>
                  <a:pt x="4403726" y="3779838"/>
                </a:lnTo>
                <a:lnTo>
                  <a:pt x="4402138" y="3765551"/>
                </a:lnTo>
                <a:lnTo>
                  <a:pt x="4402138" y="2505075"/>
                </a:lnTo>
                <a:lnTo>
                  <a:pt x="4398962" y="2493962"/>
                </a:lnTo>
                <a:lnTo>
                  <a:pt x="4395788" y="2478087"/>
                </a:lnTo>
                <a:lnTo>
                  <a:pt x="4395788" y="2474913"/>
                </a:lnTo>
                <a:lnTo>
                  <a:pt x="4386264" y="2493963"/>
                </a:lnTo>
                <a:lnTo>
                  <a:pt x="4378326" y="2511425"/>
                </a:lnTo>
                <a:lnTo>
                  <a:pt x="4365626" y="2528888"/>
                </a:lnTo>
                <a:lnTo>
                  <a:pt x="4351338" y="2544763"/>
                </a:lnTo>
                <a:lnTo>
                  <a:pt x="4335464" y="2559050"/>
                </a:lnTo>
                <a:lnTo>
                  <a:pt x="4321176" y="2570163"/>
                </a:lnTo>
                <a:lnTo>
                  <a:pt x="4302126" y="2579688"/>
                </a:lnTo>
                <a:lnTo>
                  <a:pt x="4284664" y="2589213"/>
                </a:lnTo>
                <a:lnTo>
                  <a:pt x="4264026" y="2597150"/>
                </a:lnTo>
                <a:lnTo>
                  <a:pt x="4243388" y="2603500"/>
                </a:lnTo>
                <a:lnTo>
                  <a:pt x="4222750" y="2606675"/>
                </a:lnTo>
                <a:lnTo>
                  <a:pt x="3565526" y="2677005"/>
                </a:lnTo>
                <a:lnTo>
                  <a:pt x="3565526" y="3765551"/>
                </a:lnTo>
                <a:lnTo>
                  <a:pt x="3565526" y="3779838"/>
                </a:lnTo>
                <a:lnTo>
                  <a:pt x="3559176" y="3792538"/>
                </a:lnTo>
                <a:lnTo>
                  <a:pt x="3552826" y="3803651"/>
                </a:lnTo>
                <a:lnTo>
                  <a:pt x="3548064" y="3813176"/>
                </a:lnTo>
                <a:lnTo>
                  <a:pt x="3535364" y="3821113"/>
                </a:lnTo>
                <a:lnTo>
                  <a:pt x="3524250" y="3827463"/>
                </a:lnTo>
                <a:lnTo>
                  <a:pt x="3511550" y="3833813"/>
                </a:lnTo>
                <a:lnTo>
                  <a:pt x="3500438" y="3833813"/>
                </a:lnTo>
                <a:lnTo>
                  <a:pt x="3484564" y="3833813"/>
                </a:lnTo>
                <a:lnTo>
                  <a:pt x="3473450" y="3827463"/>
                </a:lnTo>
                <a:lnTo>
                  <a:pt x="3460750" y="3821113"/>
                </a:lnTo>
                <a:lnTo>
                  <a:pt x="3451226" y="3813176"/>
                </a:lnTo>
                <a:lnTo>
                  <a:pt x="3443288" y="3803651"/>
                </a:lnTo>
                <a:lnTo>
                  <a:pt x="3436938" y="3792538"/>
                </a:lnTo>
                <a:lnTo>
                  <a:pt x="3430588" y="3779838"/>
                </a:lnTo>
                <a:lnTo>
                  <a:pt x="3430588" y="3765551"/>
                </a:lnTo>
                <a:lnTo>
                  <a:pt x="3430588" y="2920423"/>
                </a:lnTo>
                <a:lnTo>
                  <a:pt x="3355976" y="3582988"/>
                </a:lnTo>
                <a:lnTo>
                  <a:pt x="3349626" y="3603625"/>
                </a:lnTo>
                <a:lnTo>
                  <a:pt x="3348038" y="3624263"/>
                </a:lnTo>
                <a:lnTo>
                  <a:pt x="3338514" y="3643313"/>
                </a:lnTo>
                <a:lnTo>
                  <a:pt x="3328988" y="3663950"/>
                </a:lnTo>
                <a:lnTo>
                  <a:pt x="3317876" y="3678238"/>
                </a:lnTo>
                <a:lnTo>
                  <a:pt x="3305176" y="3695700"/>
                </a:lnTo>
                <a:lnTo>
                  <a:pt x="3290888" y="3711575"/>
                </a:lnTo>
                <a:lnTo>
                  <a:pt x="3275014" y="3722688"/>
                </a:lnTo>
                <a:lnTo>
                  <a:pt x="3260726" y="3735388"/>
                </a:lnTo>
                <a:lnTo>
                  <a:pt x="3243262" y="3746500"/>
                </a:lnTo>
                <a:lnTo>
                  <a:pt x="3222626" y="3756025"/>
                </a:lnTo>
                <a:lnTo>
                  <a:pt x="3203576" y="3762375"/>
                </a:lnTo>
                <a:lnTo>
                  <a:pt x="3182938" y="3768725"/>
                </a:lnTo>
                <a:lnTo>
                  <a:pt x="3162300" y="3771900"/>
                </a:lnTo>
                <a:lnTo>
                  <a:pt x="3141662" y="3771900"/>
                </a:lnTo>
                <a:lnTo>
                  <a:pt x="3121026" y="3771900"/>
                </a:lnTo>
                <a:lnTo>
                  <a:pt x="3097214" y="3765550"/>
                </a:lnTo>
                <a:lnTo>
                  <a:pt x="3078162" y="3759200"/>
                </a:lnTo>
                <a:lnTo>
                  <a:pt x="3057526" y="3752850"/>
                </a:lnTo>
                <a:lnTo>
                  <a:pt x="3040062" y="3744913"/>
                </a:lnTo>
                <a:lnTo>
                  <a:pt x="3022600" y="3732213"/>
                </a:lnTo>
                <a:lnTo>
                  <a:pt x="3003550" y="3721100"/>
                </a:lnTo>
                <a:lnTo>
                  <a:pt x="2989263" y="3705225"/>
                </a:lnTo>
                <a:lnTo>
                  <a:pt x="2976563" y="3690938"/>
                </a:lnTo>
                <a:lnTo>
                  <a:pt x="2965450" y="3671888"/>
                </a:lnTo>
                <a:lnTo>
                  <a:pt x="2952750" y="3657600"/>
                </a:lnTo>
                <a:lnTo>
                  <a:pt x="2947988" y="3636963"/>
                </a:lnTo>
                <a:lnTo>
                  <a:pt x="2938463" y="3619500"/>
                </a:lnTo>
                <a:lnTo>
                  <a:pt x="2935288" y="3597275"/>
                </a:lnTo>
                <a:lnTo>
                  <a:pt x="2932113" y="3576638"/>
                </a:lnTo>
                <a:lnTo>
                  <a:pt x="2928938" y="3556000"/>
                </a:lnTo>
                <a:lnTo>
                  <a:pt x="2932113" y="3532188"/>
                </a:lnTo>
                <a:lnTo>
                  <a:pt x="3051176" y="2478087"/>
                </a:lnTo>
                <a:lnTo>
                  <a:pt x="3054350" y="2457450"/>
                </a:lnTo>
                <a:lnTo>
                  <a:pt x="3060700" y="2436812"/>
                </a:lnTo>
                <a:lnTo>
                  <a:pt x="3070226" y="2416175"/>
                </a:lnTo>
                <a:lnTo>
                  <a:pt x="3078162" y="2397125"/>
                </a:lnTo>
                <a:lnTo>
                  <a:pt x="3087688" y="2379662"/>
                </a:lnTo>
                <a:lnTo>
                  <a:pt x="3101976" y="2365375"/>
                </a:lnTo>
                <a:lnTo>
                  <a:pt x="3114676" y="2349500"/>
                </a:lnTo>
                <a:lnTo>
                  <a:pt x="3128962" y="2335212"/>
                </a:lnTo>
                <a:lnTo>
                  <a:pt x="3148014" y="2322512"/>
                </a:lnTo>
                <a:lnTo>
                  <a:pt x="3165476" y="2314575"/>
                </a:lnTo>
                <a:lnTo>
                  <a:pt x="3182938" y="2305050"/>
                </a:lnTo>
                <a:lnTo>
                  <a:pt x="3203576" y="2298700"/>
                </a:lnTo>
                <a:lnTo>
                  <a:pt x="3222626" y="2293937"/>
                </a:lnTo>
                <a:lnTo>
                  <a:pt x="3243262" y="2290762"/>
                </a:lnTo>
                <a:lnTo>
                  <a:pt x="3260726" y="2290762"/>
                </a:lnTo>
                <a:lnTo>
                  <a:pt x="3273426" y="2284412"/>
                </a:lnTo>
                <a:lnTo>
                  <a:pt x="3294064" y="2281237"/>
                </a:lnTo>
                <a:lnTo>
                  <a:pt x="3314700" y="2274887"/>
                </a:lnTo>
                <a:lnTo>
                  <a:pt x="3690474" y="2234675"/>
                </a:lnTo>
                <a:lnTo>
                  <a:pt x="3667126" y="2144713"/>
                </a:lnTo>
                <a:lnTo>
                  <a:pt x="3609976" y="1931988"/>
                </a:lnTo>
                <a:lnTo>
                  <a:pt x="3582988" y="1827213"/>
                </a:lnTo>
                <a:lnTo>
                  <a:pt x="3549650" y="1722437"/>
                </a:lnTo>
                <a:lnTo>
                  <a:pt x="3514726" y="1620837"/>
                </a:lnTo>
                <a:lnTo>
                  <a:pt x="3475038" y="1525587"/>
                </a:lnTo>
                <a:lnTo>
                  <a:pt x="3459802" y="1481266"/>
                </a:lnTo>
                <a:lnTo>
                  <a:pt x="3457576" y="1484313"/>
                </a:lnTo>
                <a:lnTo>
                  <a:pt x="3406776" y="1570038"/>
                </a:lnTo>
                <a:lnTo>
                  <a:pt x="3359150" y="1660525"/>
                </a:lnTo>
                <a:lnTo>
                  <a:pt x="3341750" y="1690108"/>
                </a:lnTo>
                <a:lnTo>
                  <a:pt x="3341688" y="1690688"/>
                </a:lnTo>
                <a:lnTo>
                  <a:pt x="3328988" y="1717675"/>
                </a:lnTo>
                <a:lnTo>
                  <a:pt x="3317876" y="1744663"/>
                </a:lnTo>
                <a:lnTo>
                  <a:pt x="3297238" y="1765300"/>
                </a:lnTo>
                <a:lnTo>
                  <a:pt x="3275014" y="1782763"/>
                </a:lnTo>
                <a:lnTo>
                  <a:pt x="3249614" y="1797050"/>
                </a:lnTo>
                <a:lnTo>
                  <a:pt x="3219450" y="1806575"/>
                </a:lnTo>
                <a:lnTo>
                  <a:pt x="2603954" y="1993900"/>
                </a:lnTo>
                <a:lnTo>
                  <a:pt x="2606676" y="1993900"/>
                </a:lnTo>
                <a:lnTo>
                  <a:pt x="2619376" y="1993900"/>
                </a:lnTo>
                <a:lnTo>
                  <a:pt x="2633663" y="2000250"/>
                </a:lnTo>
                <a:lnTo>
                  <a:pt x="2646363" y="2006600"/>
                </a:lnTo>
                <a:lnTo>
                  <a:pt x="2654300" y="2016125"/>
                </a:lnTo>
                <a:lnTo>
                  <a:pt x="2663826" y="2024063"/>
                </a:lnTo>
                <a:lnTo>
                  <a:pt x="2670176" y="2036763"/>
                </a:lnTo>
                <a:lnTo>
                  <a:pt x="2671763" y="2047875"/>
                </a:lnTo>
                <a:lnTo>
                  <a:pt x="2674938" y="2063751"/>
                </a:lnTo>
                <a:lnTo>
                  <a:pt x="2671763" y="2074863"/>
                </a:lnTo>
                <a:lnTo>
                  <a:pt x="2670176" y="2087563"/>
                </a:lnTo>
                <a:lnTo>
                  <a:pt x="2663826" y="2098676"/>
                </a:lnTo>
                <a:lnTo>
                  <a:pt x="2654300" y="2111375"/>
                </a:lnTo>
                <a:lnTo>
                  <a:pt x="3027362" y="2111375"/>
                </a:lnTo>
                <a:lnTo>
                  <a:pt x="3040062" y="2111375"/>
                </a:lnTo>
                <a:lnTo>
                  <a:pt x="3054350" y="2114550"/>
                </a:lnTo>
                <a:lnTo>
                  <a:pt x="3063876" y="2119313"/>
                </a:lnTo>
                <a:lnTo>
                  <a:pt x="3074988" y="2128838"/>
                </a:lnTo>
                <a:lnTo>
                  <a:pt x="3084514" y="2141538"/>
                </a:lnTo>
                <a:lnTo>
                  <a:pt x="3090862" y="2149475"/>
                </a:lnTo>
                <a:lnTo>
                  <a:pt x="3094038" y="2165350"/>
                </a:lnTo>
                <a:lnTo>
                  <a:pt x="3094038" y="2176463"/>
                </a:lnTo>
                <a:lnTo>
                  <a:pt x="3094038" y="2192338"/>
                </a:lnTo>
                <a:lnTo>
                  <a:pt x="3090862" y="2203450"/>
                </a:lnTo>
                <a:lnTo>
                  <a:pt x="3084514" y="2216150"/>
                </a:lnTo>
                <a:lnTo>
                  <a:pt x="3074988" y="2224088"/>
                </a:lnTo>
                <a:lnTo>
                  <a:pt x="3063876" y="2233613"/>
                </a:lnTo>
                <a:lnTo>
                  <a:pt x="3054350" y="2239963"/>
                </a:lnTo>
                <a:lnTo>
                  <a:pt x="3040062" y="2243138"/>
                </a:lnTo>
                <a:lnTo>
                  <a:pt x="3027362" y="2244725"/>
                </a:lnTo>
                <a:lnTo>
                  <a:pt x="2857501" y="2244725"/>
                </a:lnTo>
                <a:lnTo>
                  <a:pt x="2857501" y="3765551"/>
                </a:lnTo>
                <a:lnTo>
                  <a:pt x="2857501" y="3779838"/>
                </a:lnTo>
                <a:lnTo>
                  <a:pt x="2851151" y="3792538"/>
                </a:lnTo>
                <a:lnTo>
                  <a:pt x="2846388" y="3803651"/>
                </a:lnTo>
                <a:lnTo>
                  <a:pt x="2836863" y="3813176"/>
                </a:lnTo>
                <a:lnTo>
                  <a:pt x="2827338" y="3821113"/>
                </a:lnTo>
                <a:lnTo>
                  <a:pt x="2816226" y="3827463"/>
                </a:lnTo>
                <a:lnTo>
                  <a:pt x="2803526" y="3833813"/>
                </a:lnTo>
                <a:lnTo>
                  <a:pt x="2789238" y="3833813"/>
                </a:lnTo>
                <a:lnTo>
                  <a:pt x="2776538" y="3833813"/>
                </a:lnTo>
                <a:lnTo>
                  <a:pt x="2765426" y="3827463"/>
                </a:lnTo>
                <a:lnTo>
                  <a:pt x="2752726" y="3821113"/>
                </a:lnTo>
                <a:lnTo>
                  <a:pt x="2741613" y="3813176"/>
                </a:lnTo>
                <a:lnTo>
                  <a:pt x="2735263" y="3803651"/>
                </a:lnTo>
                <a:lnTo>
                  <a:pt x="2728913" y="3792538"/>
                </a:lnTo>
                <a:lnTo>
                  <a:pt x="2722563" y="3779838"/>
                </a:lnTo>
                <a:lnTo>
                  <a:pt x="2722563" y="3765551"/>
                </a:lnTo>
                <a:lnTo>
                  <a:pt x="2722563" y="2244725"/>
                </a:lnTo>
                <a:lnTo>
                  <a:pt x="274638" y="2244725"/>
                </a:lnTo>
                <a:lnTo>
                  <a:pt x="274638" y="3765551"/>
                </a:lnTo>
                <a:lnTo>
                  <a:pt x="271463" y="3779838"/>
                </a:lnTo>
                <a:lnTo>
                  <a:pt x="268288" y="3792538"/>
                </a:lnTo>
                <a:lnTo>
                  <a:pt x="263526" y="3803651"/>
                </a:lnTo>
                <a:lnTo>
                  <a:pt x="254000" y="3813176"/>
                </a:lnTo>
                <a:lnTo>
                  <a:pt x="244476" y="3821113"/>
                </a:lnTo>
                <a:lnTo>
                  <a:pt x="233363" y="3827463"/>
                </a:lnTo>
                <a:lnTo>
                  <a:pt x="217488" y="3833813"/>
                </a:lnTo>
                <a:lnTo>
                  <a:pt x="206376" y="3833813"/>
                </a:lnTo>
                <a:lnTo>
                  <a:pt x="190500" y="3833813"/>
                </a:lnTo>
                <a:lnTo>
                  <a:pt x="179388" y="3827463"/>
                </a:lnTo>
                <a:lnTo>
                  <a:pt x="166688" y="3821113"/>
                </a:lnTo>
                <a:lnTo>
                  <a:pt x="158750" y="3813176"/>
                </a:lnTo>
                <a:lnTo>
                  <a:pt x="149226" y="3803651"/>
                </a:lnTo>
                <a:lnTo>
                  <a:pt x="142876" y="3792538"/>
                </a:lnTo>
                <a:lnTo>
                  <a:pt x="139700" y="3779838"/>
                </a:lnTo>
                <a:lnTo>
                  <a:pt x="138113" y="3765551"/>
                </a:lnTo>
                <a:lnTo>
                  <a:pt x="138113" y="2244725"/>
                </a:lnTo>
                <a:lnTo>
                  <a:pt x="68263" y="2244725"/>
                </a:lnTo>
                <a:lnTo>
                  <a:pt x="53975" y="2243138"/>
                </a:lnTo>
                <a:lnTo>
                  <a:pt x="41275" y="2239963"/>
                </a:lnTo>
                <a:lnTo>
                  <a:pt x="30163" y="2233613"/>
                </a:lnTo>
                <a:lnTo>
                  <a:pt x="20638" y="2224088"/>
                </a:lnTo>
                <a:lnTo>
                  <a:pt x="12700" y="2216150"/>
                </a:lnTo>
                <a:lnTo>
                  <a:pt x="6350" y="2203450"/>
                </a:lnTo>
                <a:lnTo>
                  <a:pt x="0" y="2192338"/>
                </a:lnTo>
                <a:lnTo>
                  <a:pt x="0" y="2176463"/>
                </a:lnTo>
                <a:lnTo>
                  <a:pt x="0" y="2165350"/>
                </a:lnTo>
                <a:lnTo>
                  <a:pt x="6350" y="2149475"/>
                </a:lnTo>
                <a:lnTo>
                  <a:pt x="12700" y="2141538"/>
                </a:lnTo>
                <a:lnTo>
                  <a:pt x="20638" y="2128838"/>
                </a:lnTo>
                <a:lnTo>
                  <a:pt x="30163" y="2119313"/>
                </a:lnTo>
                <a:lnTo>
                  <a:pt x="41275" y="2114550"/>
                </a:lnTo>
                <a:lnTo>
                  <a:pt x="53975" y="2111375"/>
                </a:lnTo>
                <a:lnTo>
                  <a:pt x="68263" y="2111375"/>
                </a:lnTo>
                <a:lnTo>
                  <a:pt x="1738313" y="2111375"/>
                </a:lnTo>
                <a:lnTo>
                  <a:pt x="1731963" y="2098676"/>
                </a:lnTo>
                <a:lnTo>
                  <a:pt x="1722438" y="2087563"/>
                </a:lnTo>
                <a:lnTo>
                  <a:pt x="1719263" y="2074863"/>
                </a:lnTo>
                <a:lnTo>
                  <a:pt x="1719263" y="2063751"/>
                </a:lnTo>
                <a:lnTo>
                  <a:pt x="1719263" y="2062529"/>
                </a:lnTo>
                <a:lnTo>
                  <a:pt x="1690688" y="2057400"/>
                </a:lnTo>
                <a:lnTo>
                  <a:pt x="1677988" y="2051050"/>
                </a:lnTo>
                <a:lnTo>
                  <a:pt x="1666875" y="2039937"/>
                </a:lnTo>
                <a:lnTo>
                  <a:pt x="1639888" y="2009775"/>
                </a:lnTo>
                <a:lnTo>
                  <a:pt x="1617662" y="1970087"/>
                </a:lnTo>
                <a:lnTo>
                  <a:pt x="1597025" y="1928812"/>
                </a:lnTo>
                <a:lnTo>
                  <a:pt x="1565275" y="1854200"/>
                </a:lnTo>
                <a:lnTo>
                  <a:pt x="1552575" y="1820862"/>
                </a:lnTo>
                <a:lnTo>
                  <a:pt x="1484312" y="1576387"/>
                </a:lnTo>
                <a:lnTo>
                  <a:pt x="1444625" y="1443037"/>
                </a:lnTo>
                <a:lnTo>
                  <a:pt x="1412875" y="1311274"/>
                </a:lnTo>
                <a:lnTo>
                  <a:pt x="1385888" y="1192212"/>
                </a:lnTo>
                <a:lnTo>
                  <a:pt x="1373188" y="1138237"/>
                </a:lnTo>
                <a:lnTo>
                  <a:pt x="1366838" y="1090612"/>
                </a:lnTo>
                <a:lnTo>
                  <a:pt x="1365250" y="1047749"/>
                </a:lnTo>
                <a:lnTo>
                  <a:pt x="1365250" y="1015999"/>
                </a:lnTo>
                <a:lnTo>
                  <a:pt x="1370012" y="989012"/>
                </a:lnTo>
                <a:lnTo>
                  <a:pt x="1376362" y="979487"/>
                </a:lnTo>
                <a:lnTo>
                  <a:pt x="1379538" y="973137"/>
                </a:lnTo>
                <a:lnTo>
                  <a:pt x="1460500" y="935037"/>
                </a:lnTo>
                <a:lnTo>
                  <a:pt x="1738957" y="2015573"/>
                </a:lnTo>
                <a:lnTo>
                  <a:pt x="1749426" y="2006600"/>
                </a:lnTo>
                <a:lnTo>
                  <a:pt x="1758950" y="2000250"/>
                </a:lnTo>
                <a:lnTo>
                  <a:pt x="1773238" y="1993900"/>
                </a:lnTo>
                <a:lnTo>
                  <a:pt x="1785938" y="1993900"/>
                </a:lnTo>
                <a:lnTo>
                  <a:pt x="2264305" y="1993900"/>
                </a:lnTo>
                <a:lnTo>
                  <a:pt x="2257426" y="1985963"/>
                </a:lnTo>
                <a:lnTo>
                  <a:pt x="2244726" y="1958975"/>
                </a:lnTo>
                <a:lnTo>
                  <a:pt x="2236788" y="1928813"/>
                </a:lnTo>
                <a:lnTo>
                  <a:pt x="2233613" y="1898650"/>
                </a:lnTo>
                <a:lnTo>
                  <a:pt x="2236788" y="1868488"/>
                </a:lnTo>
                <a:lnTo>
                  <a:pt x="2244726" y="1839913"/>
                </a:lnTo>
                <a:lnTo>
                  <a:pt x="2260600" y="1812925"/>
                </a:lnTo>
                <a:lnTo>
                  <a:pt x="2278063" y="1792288"/>
                </a:lnTo>
                <a:lnTo>
                  <a:pt x="2301876" y="1773238"/>
                </a:lnTo>
                <a:lnTo>
                  <a:pt x="2328863" y="1758950"/>
                </a:lnTo>
                <a:lnTo>
                  <a:pt x="2359026" y="1749425"/>
                </a:lnTo>
                <a:lnTo>
                  <a:pt x="3084708" y="1528565"/>
                </a:lnTo>
                <a:lnTo>
                  <a:pt x="3311526" y="1152524"/>
                </a:lnTo>
                <a:lnTo>
                  <a:pt x="3349626" y="1084262"/>
                </a:lnTo>
                <a:lnTo>
                  <a:pt x="3368676" y="1050924"/>
                </a:lnTo>
                <a:lnTo>
                  <a:pt x="3389314" y="1017587"/>
                </a:lnTo>
                <a:lnTo>
                  <a:pt x="3413126" y="989012"/>
                </a:lnTo>
                <a:lnTo>
                  <a:pt x="3436938" y="958849"/>
                </a:lnTo>
                <a:lnTo>
                  <a:pt x="3467100" y="935037"/>
                </a:lnTo>
                <a:lnTo>
                  <a:pt x="3467392" y="934856"/>
                </a:lnTo>
                <a:lnTo>
                  <a:pt x="3475038" y="925512"/>
                </a:lnTo>
                <a:lnTo>
                  <a:pt x="3490912" y="911224"/>
                </a:lnTo>
                <a:lnTo>
                  <a:pt x="3505200" y="895349"/>
                </a:lnTo>
                <a:lnTo>
                  <a:pt x="3522244" y="882567"/>
                </a:lnTo>
                <a:lnTo>
                  <a:pt x="3517900" y="884237"/>
                </a:lnTo>
                <a:lnTo>
                  <a:pt x="3475038" y="895350"/>
                </a:lnTo>
                <a:lnTo>
                  <a:pt x="3433762" y="901700"/>
                </a:lnTo>
                <a:lnTo>
                  <a:pt x="3389314" y="908050"/>
                </a:lnTo>
                <a:lnTo>
                  <a:pt x="3344862" y="904875"/>
                </a:lnTo>
                <a:lnTo>
                  <a:pt x="3302000" y="901700"/>
                </a:lnTo>
                <a:lnTo>
                  <a:pt x="3257550" y="890587"/>
                </a:lnTo>
                <a:lnTo>
                  <a:pt x="3213100" y="877887"/>
                </a:lnTo>
                <a:lnTo>
                  <a:pt x="3171826" y="857250"/>
                </a:lnTo>
                <a:lnTo>
                  <a:pt x="3128962" y="836612"/>
                </a:lnTo>
                <a:lnTo>
                  <a:pt x="3094038" y="809625"/>
                </a:lnTo>
                <a:lnTo>
                  <a:pt x="3060700" y="779462"/>
                </a:lnTo>
                <a:lnTo>
                  <a:pt x="3030538" y="749300"/>
                </a:lnTo>
                <a:lnTo>
                  <a:pt x="3003550" y="714375"/>
                </a:lnTo>
                <a:lnTo>
                  <a:pt x="2979738" y="677862"/>
                </a:lnTo>
                <a:lnTo>
                  <a:pt x="2962276" y="639762"/>
                </a:lnTo>
                <a:lnTo>
                  <a:pt x="2944813" y="596900"/>
                </a:lnTo>
                <a:lnTo>
                  <a:pt x="2932113" y="555625"/>
                </a:lnTo>
                <a:lnTo>
                  <a:pt x="2925763" y="514350"/>
                </a:lnTo>
                <a:lnTo>
                  <a:pt x="2922588" y="468312"/>
                </a:lnTo>
                <a:lnTo>
                  <a:pt x="2922588" y="427037"/>
                </a:lnTo>
                <a:lnTo>
                  <a:pt x="2925763" y="382587"/>
                </a:lnTo>
                <a:lnTo>
                  <a:pt x="2938463" y="338137"/>
                </a:lnTo>
                <a:lnTo>
                  <a:pt x="2952750" y="292100"/>
                </a:lnTo>
                <a:lnTo>
                  <a:pt x="2971800" y="250825"/>
                </a:lnTo>
                <a:lnTo>
                  <a:pt x="2992438" y="212725"/>
                </a:lnTo>
                <a:lnTo>
                  <a:pt x="3019426" y="173037"/>
                </a:lnTo>
                <a:lnTo>
                  <a:pt x="3048000" y="141287"/>
                </a:lnTo>
                <a:lnTo>
                  <a:pt x="3078162" y="111125"/>
                </a:lnTo>
                <a:lnTo>
                  <a:pt x="3114676" y="84137"/>
                </a:lnTo>
                <a:lnTo>
                  <a:pt x="3149600" y="60325"/>
                </a:lnTo>
                <a:lnTo>
                  <a:pt x="3189288" y="41275"/>
                </a:lnTo>
                <a:lnTo>
                  <a:pt x="3230562" y="23812"/>
                </a:lnTo>
                <a:lnTo>
                  <a:pt x="3273426" y="12700"/>
                </a:lnTo>
                <a:lnTo>
                  <a:pt x="3314700" y="6350"/>
                </a:lnTo>
                <a:lnTo>
                  <a:pt x="3359150"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258" name="文本框 257"/>
          <p:cNvSpPr txBox="1"/>
          <p:nvPr/>
        </p:nvSpPr>
        <p:spPr>
          <a:xfrm>
            <a:off x="1953540" y="2280976"/>
            <a:ext cx="2880304" cy="400110"/>
          </a:xfrm>
          <a:prstGeom prst="rect">
            <a:avLst/>
          </a:prstGeom>
          <a:noFill/>
        </p:spPr>
        <p:txBody>
          <a:bodyPr wrap="square" rtlCol="0">
            <a:spAutoFit/>
          </a:bodyPr>
          <a:lstStyle/>
          <a:p>
            <a:r>
              <a:rPr lang="zh-CN" altLang="en-US" sz="2000" dirty="0">
                <a:solidFill>
                  <a:schemeClr val="tx1">
                    <a:lumMod val="65000"/>
                    <a:lumOff val="35000"/>
                  </a:schemeClr>
                </a:solidFill>
                <a:latin typeface="微软雅黑 Light" panose="020B0502040204020203" pitchFamily="34" charset="-122"/>
                <a:ea typeface="微软雅黑 Light" panose="020B0502040204020203" pitchFamily="34" charset="-122"/>
              </a:rPr>
              <a:t>人获得的输入是什么？</a:t>
            </a:r>
          </a:p>
        </p:txBody>
      </p:sp>
      <p:grpSp>
        <p:nvGrpSpPr>
          <p:cNvPr id="259" name="组合 258"/>
          <p:cNvGrpSpPr/>
          <p:nvPr/>
        </p:nvGrpSpPr>
        <p:grpSpPr>
          <a:xfrm>
            <a:off x="1863990" y="2025863"/>
            <a:ext cx="2828131" cy="1246845"/>
            <a:chOff x="6896998" y="2444877"/>
            <a:chExt cx="1221935" cy="1023811"/>
          </a:xfrm>
          <a:solidFill>
            <a:schemeClr val="tx1">
              <a:lumMod val="65000"/>
              <a:lumOff val="35000"/>
            </a:schemeClr>
          </a:solidFill>
        </p:grpSpPr>
        <p:sp>
          <p:nvSpPr>
            <p:cNvPr id="260" name="Freeform 823"/>
            <p:cNvSpPr>
              <a:spLocks noEditPoints="1"/>
            </p:cNvSpPr>
            <p:nvPr/>
          </p:nvSpPr>
          <p:spPr bwMode="auto">
            <a:xfrm>
              <a:off x="6896998" y="2444877"/>
              <a:ext cx="1221935" cy="702287"/>
            </a:xfrm>
            <a:custGeom>
              <a:avLst/>
              <a:gdLst>
                <a:gd name="T0" fmla="*/ 529 w 534"/>
                <a:gd name="T1" fmla="*/ 118 h 361"/>
                <a:gd name="T2" fmla="*/ 500 w 534"/>
                <a:gd name="T3" fmla="*/ 74 h 361"/>
                <a:gd name="T4" fmla="*/ 460 w 534"/>
                <a:gd name="T5" fmla="*/ 42 h 361"/>
                <a:gd name="T6" fmla="*/ 409 w 534"/>
                <a:gd name="T7" fmla="*/ 17 h 361"/>
                <a:gd name="T8" fmla="*/ 350 w 534"/>
                <a:gd name="T9" fmla="*/ 2 h 361"/>
                <a:gd name="T10" fmla="*/ 295 w 534"/>
                <a:gd name="T11" fmla="*/ 0 h 361"/>
                <a:gd name="T12" fmla="*/ 268 w 534"/>
                <a:gd name="T13" fmla="*/ 4 h 361"/>
                <a:gd name="T14" fmla="*/ 231 w 534"/>
                <a:gd name="T15" fmla="*/ 4 h 361"/>
                <a:gd name="T16" fmla="*/ 161 w 534"/>
                <a:gd name="T17" fmla="*/ 11 h 361"/>
                <a:gd name="T18" fmla="*/ 94 w 534"/>
                <a:gd name="T19" fmla="*/ 31 h 361"/>
                <a:gd name="T20" fmla="*/ 41 w 534"/>
                <a:gd name="T21" fmla="*/ 69 h 361"/>
                <a:gd name="T22" fmla="*/ 10 w 534"/>
                <a:gd name="T23" fmla="*/ 122 h 361"/>
                <a:gd name="T24" fmla="*/ 0 w 534"/>
                <a:gd name="T25" fmla="*/ 186 h 361"/>
                <a:gd name="T26" fmla="*/ 11 w 534"/>
                <a:gd name="T27" fmla="*/ 248 h 361"/>
                <a:gd name="T28" fmla="*/ 41 w 534"/>
                <a:gd name="T29" fmla="*/ 297 h 361"/>
                <a:gd name="T30" fmla="*/ 86 w 534"/>
                <a:gd name="T31" fmla="*/ 334 h 361"/>
                <a:gd name="T32" fmla="*/ 144 w 534"/>
                <a:gd name="T33" fmla="*/ 353 h 361"/>
                <a:gd name="T34" fmla="*/ 206 w 534"/>
                <a:gd name="T35" fmla="*/ 359 h 361"/>
                <a:gd name="T36" fmla="*/ 374 w 534"/>
                <a:gd name="T37" fmla="*/ 359 h 361"/>
                <a:gd name="T38" fmla="*/ 447 w 534"/>
                <a:gd name="T39" fmla="*/ 342 h 361"/>
                <a:gd name="T40" fmla="*/ 491 w 534"/>
                <a:gd name="T41" fmla="*/ 311 h 361"/>
                <a:gd name="T42" fmla="*/ 520 w 534"/>
                <a:gd name="T43" fmla="*/ 263 h 361"/>
                <a:gd name="T44" fmla="*/ 533 w 534"/>
                <a:gd name="T45" fmla="*/ 204 h 361"/>
                <a:gd name="T46" fmla="*/ 533 w 534"/>
                <a:gd name="T47" fmla="*/ 145 h 361"/>
                <a:gd name="T48" fmla="*/ 502 w 534"/>
                <a:gd name="T49" fmla="*/ 270 h 361"/>
                <a:gd name="T50" fmla="*/ 474 w 534"/>
                <a:gd name="T51" fmla="*/ 308 h 361"/>
                <a:gd name="T52" fmla="*/ 423 w 534"/>
                <a:gd name="T53" fmla="*/ 337 h 361"/>
                <a:gd name="T54" fmla="*/ 355 w 534"/>
                <a:gd name="T55" fmla="*/ 348 h 361"/>
                <a:gd name="T56" fmla="*/ 286 w 534"/>
                <a:gd name="T57" fmla="*/ 346 h 361"/>
                <a:gd name="T58" fmla="*/ 207 w 534"/>
                <a:gd name="T59" fmla="*/ 345 h 361"/>
                <a:gd name="T60" fmla="*/ 118 w 534"/>
                <a:gd name="T61" fmla="*/ 332 h 361"/>
                <a:gd name="T62" fmla="*/ 71 w 534"/>
                <a:gd name="T63" fmla="*/ 307 h 361"/>
                <a:gd name="T64" fmla="*/ 34 w 534"/>
                <a:gd name="T65" fmla="*/ 265 h 361"/>
                <a:gd name="T66" fmla="*/ 16 w 534"/>
                <a:gd name="T67" fmla="*/ 210 h 361"/>
                <a:gd name="T68" fmla="*/ 17 w 534"/>
                <a:gd name="T69" fmla="*/ 149 h 361"/>
                <a:gd name="T70" fmla="*/ 40 w 534"/>
                <a:gd name="T71" fmla="*/ 95 h 361"/>
                <a:gd name="T72" fmla="*/ 82 w 534"/>
                <a:gd name="T73" fmla="*/ 53 h 361"/>
                <a:gd name="T74" fmla="*/ 140 w 534"/>
                <a:gd name="T75" fmla="*/ 29 h 361"/>
                <a:gd name="T76" fmla="*/ 203 w 534"/>
                <a:gd name="T77" fmla="*/ 19 h 361"/>
                <a:gd name="T78" fmla="*/ 265 w 534"/>
                <a:gd name="T79" fmla="*/ 18 h 361"/>
                <a:gd name="T80" fmla="*/ 269 w 534"/>
                <a:gd name="T81" fmla="*/ 18 h 361"/>
                <a:gd name="T82" fmla="*/ 292 w 534"/>
                <a:gd name="T83" fmla="*/ 14 h 361"/>
                <a:gd name="T84" fmla="*/ 333 w 534"/>
                <a:gd name="T85" fmla="*/ 15 h 361"/>
                <a:gd name="T86" fmla="*/ 409 w 534"/>
                <a:gd name="T87" fmla="*/ 32 h 361"/>
                <a:gd name="T88" fmla="*/ 453 w 534"/>
                <a:gd name="T89" fmla="*/ 53 h 361"/>
                <a:gd name="T90" fmla="*/ 492 w 534"/>
                <a:gd name="T91" fmla="*/ 84 h 361"/>
                <a:gd name="T92" fmla="*/ 516 w 534"/>
                <a:gd name="T93" fmla="*/ 125 h 361"/>
                <a:gd name="T94" fmla="*/ 522 w 534"/>
                <a:gd name="T95" fmla="*/ 187 h 361"/>
                <a:gd name="T96" fmla="*/ 510 w 534"/>
                <a:gd name="T97" fmla="*/ 248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4" h="361">
                  <a:moveTo>
                    <a:pt x="533" y="145"/>
                  </a:moveTo>
                  <a:lnTo>
                    <a:pt x="529" y="118"/>
                  </a:lnTo>
                  <a:lnTo>
                    <a:pt x="517" y="94"/>
                  </a:lnTo>
                  <a:lnTo>
                    <a:pt x="500" y="74"/>
                  </a:lnTo>
                  <a:lnTo>
                    <a:pt x="482" y="57"/>
                  </a:lnTo>
                  <a:lnTo>
                    <a:pt x="460" y="42"/>
                  </a:lnTo>
                  <a:lnTo>
                    <a:pt x="437" y="28"/>
                  </a:lnTo>
                  <a:lnTo>
                    <a:pt x="409" y="17"/>
                  </a:lnTo>
                  <a:lnTo>
                    <a:pt x="379" y="7"/>
                  </a:lnTo>
                  <a:lnTo>
                    <a:pt x="350" y="2"/>
                  </a:lnTo>
                  <a:lnTo>
                    <a:pt x="323" y="0"/>
                  </a:lnTo>
                  <a:lnTo>
                    <a:pt x="295" y="0"/>
                  </a:lnTo>
                  <a:lnTo>
                    <a:pt x="268" y="4"/>
                  </a:lnTo>
                  <a:lnTo>
                    <a:pt x="268" y="4"/>
                  </a:lnTo>
                  <a:lnTo>
                    <a:pt x="265" y="4"/>
                  </a:lnTo>
                  <a:lnTo>
                    <a:pt x="231" y="4"/>
                  </a:lnTo>
                  <a:lnTo>
                    <a:pt x="196" y="5"/>
                  </a:lnTo>
                  <a:lnTo>
                    <a:pt x="161" y="11"/>
                  </a:lnTo>
                  <a:lnTo>
                    <a:pt x="127" y="18"/>
                  </a:lnTo>
                  <a:lnTo>
                    <a:pt x="94" y="31"/>
                  </a:lnTo>
                  <a:lnTo>
                    <a:pt x="65" y="48"/>
                  </a:lnTo>
                  <a:lnTo>
                    <a:pt x="41" y="69"/>
                  </a:lnTo>
                  <a:lnTo>
                    <a:pt x="23" y="94"/>
                  </a:lnTo>
                  <a:lnTo>
                    <a:pt x="10" y="122"/>
                  </a:lnTo>
                  <a:lnTo>
                    <a:pt x="3" y="153"/>
                  </a:lnTo>
                  <a:lnTo>
                    <a:pt x="0" y="186"/>
                  </a:lnTo>
                  <a:lnTo>
                    <a:pt x="3" y="217"/>
                  </a:lnTo>
                  <a:lnTo>
                    <a:pt x="11" y="248"/>
                  </a:lnTo>
                  <a:lnTo>
                    <a:pt x="23" y="273"/>
                  </a:lnTo>
                  <a:lnTo>
                    <a:pt x="41" y="297"/>
                  </a:lnTo>
                  <a:lnTo>
                    <a:pt x="62" y="318"/>
                  </a:lnTo>
                  <a:lnTo>
                    <a:pt x="86" y="334"/>
                  </a:lnTo>
                  <a:lnTo>
                    <a:pt x="114" y="346"/>
                  </a:lnTo>
                  <a:lnTo>
                    <a:pt x="144" y="353"/>
                  </a:lnTo>
                  <a:lnTo>
                    <a:pt x="175" y="356"/>
                  </a:lnTo>
                  <a:lnTo>
                    <a:pt x="206" y="359"/>
                  </a:lnTo>
                  <a:lnTo>
                    <a:pt x="326" y="361"/>
                  </a:lnTo>
                  <a:lnTo>
                    <a:pt x="374" y="359"/>
                  </a:lnTo>
                  <a:lnTo>
                    <a:pt x="422" y="351"/>
                  </a:lnTo>
                  <a:lnTo>
                    <a:pt x="447" y="342"/>
                  </a:lnTo>
                  <a:lnTo>
                    <a:pt x="471" y="330"/>
                  </a:lnTo>
                  <a:lnTo>
                    <a:pt x="491" y="311"/>
                  </a:lnTo>
                  <a:lnTo>
                    <a:pt x="508" y="290"/>
                  </a:lnTo>
                  <a:lnTo>
                    <a:pt x="520" y="263"/>
                  </a:lnTo>
                  <a:lnTo>
                    <a:pt x="529" y="235"/>
                  </a:lnTo>
                  <a:lnTo>
                    <a:pt x="533" y="204"/>
                  </a:lnTo>
                  <a:lnTo>
                    <a:pt x="534" y="174"/>
                  </a:lnTo>
                  <a:lnTo>
                    <a:pt x="533" y="145"/>
                  </a:lnTo>
                  <a:close/>
                  <a:moveTo>
                    <a:pt x="510" y="248"/>
                  </a:moveTo>
                  <a:lnTo>
                    <a:pt x="502" y="270"/>
                  </a:lnTo>
                  <a:lnTo>
                    <a:pt x="489" y="291"/>
                  </a:lnTo>
                  <a:lnTo>
                    <a:pt x="474" y="308"/>
                  </a:lnTo>
                  <a:lnTo>
                    <a:pt x="454" y="322"/>
                  </a:lnTo>
                  <a:lnTo>
                    <a:pt x="423" y="337"/>
                  </a:lnTo>
                  <a:lnTo>
                    <a:pt x="391" y="344"/>
                  </a:lnTo>
                  <a:lnTo>
                    <a:pt x="355" y="348"/>
                  </a:lnTo>
                  <a:lnTo>
                    <a:pt x="320" y="348"/>
                  </a:lnTo>
                  <a:lnTo>
                    <a:pt x="286" y="346"/>
                  </a:lnTo>
                  <a:lnTo>
                    <a:pt x="252" y="345"/>
                  </a:lnTo>
                  <a:lnTo>
                    <a:pt x="207" y="345"/>
                  </a:lnTo>
                  <a:lnTo>
                    <a:pt x="164" y="341"/>
                  </a:lnTo>
                  <a:lnTo>
                    <a:pt x="118" y="332"/>
                  </a:lnTo>
                  <a:lnTo>
                    <a:pt x="93" y="322"/>
                  </a:lnTo>
                  <a:lnTo>
                    <a:pt x="71" y="307"/>
                  </a:lnTo>
                  <a:lnTo>
                    <a:pt x="51" y="287"/>
                  </a:lnTo>
                  <a:lnTo>
                    <a:pt x="34" y="265"/>
                  </a:lnTo>
                  <a:lnTo>
                    <a:pt x="23" y="239"/>
                  </a:lnTo>
                  <a:lnTo>
                    <a:pt x="16" y="210"/>
                  </a:lnTo>
                  <a:lnTo>
                    <a:pt x="14" y="180"/>
                  </a:lnTo>
                  <a:lnTo>
                    <a:pt x="17" y="149"/>
                  </a:lnTo>
                  <a:lnTo>
                    <a:pt x="27" y="121"/>
                  </a:lnTo>
                  <a:lnTo>
                    <a:pt x="40" y="95"/>
                  </a:lnTo>
                  <a:lnTo>
                    <a:pt x="59" y="71"/>
                  </a:lnTo>
                  <a:lnTo>
                    <a:pt x="82" y="53"/>
                  </a:lnTo>
                  <a:lnTo>
                    <a:pt x="110" y="39"/>
                  </a:lnTo>
                  <a:lnTo>
                    <a:pt x="140" y="29"/>
                  </a:lnTo>
                  <a:lnTo>
                    <a:pt x="171" y="22"/>
                  </a:lnTo>
                  <a:lnTo>
                    <a:pt x="203" y="19"/>
                  </a:lnTo>
                  <a:lnTo>
                    <a:pt x="234" y="18"/>
                  </a:lnTo>
                  <a:lnTo>
                    <a:pt x="265" y="18"/>
                  </a:lnTo>
                  <a:lnTo>
                    <a:pt x="268" y="17"/>
                  </a:lnTo>
                  <a:lnTo>
                    <a:pt x="269" y="18"/>
                  </a:lnTo>
                  <a:lnTo>
                    <a:pt x="272" y="17"/>
                  </a:lnTo>
                  <a:lnTo>
                    <a:pt x="292" y="14"/>
                  </a:lnTo>
                  <a:lnTo>
                    <a:pt x="313" y="14"/>
                  </a:lnTo>
                  <a:lnTo>
                    <a:pt x="333" y="15"/>
                  </a:lnTo>
                  <a:lnTo>
                    <a:pt x="372" y="19"/>
                  </a:lnTo>
                  <a:lnTo>
                    <a:pt x="409" y="32"/>
                  </a:lnTo>
                  <a:lnTo>
                    <a:pt x="431" y="40"/>
                  </a:lnTo>
                  <a:lnTo>
                    <a:pt x="453" y="53"/>
                  </a:lnTo>
                  <a:lnTo>
                    <a:pt x="474" y="67"/>
                  </a:lnTo>
                  <a:lnTo>
                    <a:pt x="492" y="84"/>
                  </a:lnTo>
                  <a:lnTo>
                    <a:pt x="506" y="104"/>
                  </a:lnTo>
                  <a:lnTo>
                    <a:pt x="516" y="125"/>
                  </a:lnTo>
                  <a:lnTo>
                    <a:pt x="522" y="155"/>
                  </a:lnTo>
                  <a:lnTo>
                    <a:pt x="522" y="187"/>
                  </a:lnTo>
                  <a:lnTo>
                    <a:pt x="517" y="218"/>
                  </a:lnTo>
                  <a:lnTo>
                    <a:pt x="510" y="248"/>
                  </a:lnTo>
                  <a:close/>
                </a:path>
              </a:pathLst>
            </a:custGeom>
            <a:grpFill/>
            <a:ln w="9525">
              <a:solidFill>
                <a:schemeClr val="accent1">
                  <a:lumMod val="60000"/>
                  <a:lumOff val="40000"/>
                </a:scheme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1" name="Freeform 824"/>
            <p:cNvSpPr>
              <a:spLocks noEditPoints="1"/>
            </p:cNvSpPr>
            <p:nvPr/>
          </p:nvSpPr>
          <p:spPr bwMode="auto">
            <a:xfrm>
              <a:off x="7483829" y="3186058"/>
              <a:ext cx="148198" cy="130996"/>
            </a:xfrm>
            <a:custGeom>
              <a:avLst/>
              <a:gdLst>
                <a:gd name="T0" fmla="*/ 153 w 155"/>
                <a:gd name="T1" fmla="*/ 37 h 103"/>
                <a:gd name="T2" fmla="*/ 146 w 155"/>
                <a:gd name="T3" fmla="*/ 24 h 103"/>
                <a:gd name="T4" fmla="*/ 134 w 155"/>
                <a:gd name="T5" fmla="*/ 14 h 103"/>
                <a:gd name="T6" fmla="*/ 119 w 155"/>
                <a:gd name="T7" fmla="*/ 7 h 103"/>
                <a:gd name="T8" fmla="*/ 103 w 155"/>
                <a:gd name="T9" fmla="*/ 1 h 103"/>
                <a:gd name="T10" fmla="*/ 86 w 155"/>
                <a:gd name="T11" fmla="*/ 0 h 103"/>
                <a:gd name="T12" fmla="*/ 70 w 155"/>
                <a:gd name="T13" fmla="*/ 0 h 103"/>
                <a:gd name="T14" fmla="*/ 67 w 155"/>
                <a:gd name="T15" fmla="*/ 0 h 103"/>
                <a:gd name="T16" fmla="*/ 52 w 155"/>
                <a:gd name="T17" fmla="*/ 1 h 103"/>
                <a:gd name="T18" fmla="*/ 36 w 155"/>
                <a:gd name="T19" fmla="*/ 6 h 103"/>
                <a:gd name="T20" fmla="*/ 22 w 155"/>
                <a:gd name="T21" fmla="*/ 13 h 103"/>
                <a:gd name="T22" fmla="*/ 11 w 155"/>
                <a:gd name="T23" fmla="*/ 23 h 103"/>
                <a:gd name="T24" fmla="*/ 2 w 155"/>
                <a:gd name="T25" fmla="*/ 35 h 103"/>
                <a:gd name="T26" fmla="*/ 0 w 155"/>
                <a:gd name="T27" fmla="*/ 49 h 103"/>
                <a:gd name="T28" fmla="*/ 4 w 155"/>
                <a:gd name="T29" fmla="*/ 66 h 103"/>
                <a:gd name="T30" fmla="*/ 11 w 155"/>
                <a:gd name="T31" fmla="*/ 79 h 103"/>
                <a:gd name="T32" fmla="*/ 24 w 155"/>
                <a:gd name="T33" fmla="*/ 89 h 103"/>
                <a:gd name="T34" fmla="*/ 38 w 155"/>
                <a:gd name="T35" fmla="*/ 96 h 103"/>
                <a:gd name="T36" fmla="*/ 55 w 155"/>
                <a:gd name="T37" fmla="*/ 100 h 103"/>
                <a:gd name="T38" fmla="*/ 70 w 155"/>
                <a:gd name="T39" fmla="*/ 103 h 103"/>
                <a:gd name="T40" fmla="*/ 86 w 155"/>
                <a:gd name="T41" fmla="*/ 103 h 103"/>
                <a:gd name="T42" fmla="*/ 103 w 155"/>
                <a:gd name="T43" fmla="*/ 102 h 103"/>
                <a:gd name="T44" fmla="*/ 121 w 155"/>
                <a:gd name="T45" fmla="*/ 96 h 103"/>
                <a:gd name="T46" fmla="*/ 136 w 155"/>
                <a:gd name="T47" fmla="*/ 85 h 103"/>
                <a:gd name="T48" fmla="*/ 148 w 155"/>
                <a:gd name="T49" fmla="*/ 72 h 103"/>
                <a:gd name="T50" fmla="*/ 155 w 155"/>
                <a:gd name="T51" fmla="*/ 55 h 103"/>
                <a:gd name="T52" fmla="*/ 153 w 155"/>
                <a:gd name="T53" fmla="*/ 37 h 103"/>
                <a:gd name="T54" fmla="*/ 81 w 155"/>
                <a:gd name="T55" fmla="*/ 89 h 103"/>
                <a:gd name="T56" fmla="*/ 66 w 155"/>
                <a:gd name="T57" fmla="*/ 87 h 103"/>
                <a:gd name="T58" fmla="*/ 50 w 155"/>
                <a:gd name="T59" fmla="*/ 85 h 103"/>
                <a:gd name="T60" fmla="*/ 35 w 155"/>
                <a:gd name="T61" fmla="*/ 79 h 103"/>
                <a:gd name="T62" fmla="*/ 22 w 155"/>
                <a:gd name="T63" fmla="*/ 69 h 103"/>
                <a:gd name="T64" fmla="*/ 15 w 155"/>
                <a:gd name="T65" fmla="*/ 59 h 103"/>
                <a:gd name="T66" fmla="*/ 15 w 155"/>
                <a:gd name="T67" fmla="*/ 47 h 103"/>
                <a:gd name="T68" fmla="*/ 19 w 155"/>
                <a:gd name="T69" fmla="*/ 34 h 103"/>
                <a:gd name="T70" fmla="*/ 29 w 155"/>
                <a:gd name="T71" fmla="*/ 24 h 103"/>
                <a:gd name="T72" fmla="*/ 42 w 155"/>
                <a:gd name="T73" fmla="*/ 17 h 103"/>
                <a:gd name="T74" fmla="*/ 57 w 155"/>
                <a:gd name="T75" fmla="*/ 14 h 103"/>
                <a:gd name="T76" fmla="*/ 59 w 155"/>
                <a:gd name="T77" fmla="*/ 16 h 103"/>
                <a:gd name="T78" fmla="*/ 62 w 155"/>
                <a:gd name="T79" fmla="*/ 16 h 103"/>
                <a:gd name="T80" fmla="*/ 80 w 155"/>
                <a:gd name="T81" fmla="*/ 14 h 103"/>
                <a:gd name="T82" fmla="*/ 100 w 155"/>
                <a:gd name="T83" fmla="*/ 16 h 103"/>
                <a:gd name="T84" fmla="*/ 118 w 155"/>
                <a:gd name="T85" fmla="*/ 21 h 103"/>
                <a:gd name="T86" fmla="*/ 132 w 155"/>
                <a:gd name="T87" fmla="*/ 31 h 103"/>
                <a:gd name="T88" fmla="*/ 141 w 155"/>
                <a:gd name="T89" fmla="*/ 42 h 103"/>
                <a:gd name="T90" fmla="*/ 142 w 155"/>
                <a:gd name="T91" fmla="*/ 54 h 103"/>
                <a:gd name="T92" fmla="*/ 138 w 155"/>
                <a:gd name="T93" fmla="*/ 63 h 103"/>
                <a:gd name="T94" fmla="*/ 129 w 155"/>
                <a:gd name="T95" fmla="*/ 72 h 103"/>
                <a:gd name="T96" fmla="*/ 118 w 155"/>
                <a:gd name="T97" fmla="*/ 79 h 103"/>
                <a:gd name="T98" fmla="*/ 105 w 155"/>
                <a:gd name="T99" fmla="*/ 85 h 103"/>
                <a:gd name="T100" fmla="*/ 93 w 155"/>
                <a:gd name="T101" fmla="*/ 89 h 103"/>
                <a:gd name="T102" fmla="*/ 81 w 155"/>
                <a:gd name="T103" fmla="*/ 89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5" h="103">
                  <a:moveTo>
                    <a:pt x="153" y="37"/>
                  </a:moveTo>
                  <a:lnTo>
                    <a:pt x="146" y="24"/>
                  </a:lnTo>
                  <a:lnTo>
                    <a:pt x="134" y="14"/>
                  </a:lnTo>
                  <a:lnTo>
                    <a:pt x="119" y="7"/>
                  </a:lnTo>
                  <a:lnTo>
                    <a:pt x="103" y="1"/>
                  </a:lnTo>
                  <a:lnTo>
                    <a:pt x="86" y="0"/>
                  </a:lnTo>
                  <a:lnTo>
                    <a:pt x="70" y="0"/>
                  </a:lnTo>
                  <a:lnTo>
                    <a:pt x="67" y="0"/>
                  </a:lnTo>
                  <a:lnTo>
                    <a:pt x="52" y="1"/>
                  </a:lnTo>
                  <a:lnTo>
                    <a:pt x="36" y="6"/>
                  </a:lnTo>
                  <a:lnTo>
                    <a:pt x="22" y="13"/>
                  </a:lnTo>
                  <a:lnTo>
                    <a:pt x="11" y="23"/>
                  </a:lnTo>
                  <a:lnTo>
                    <a:pt x="2" y="35"/>
                  </a:lnTo>
                  <a:lnTo>
                    <a:pt x="0" y="49"/>
                  </a:lnTo>
                  <a:lnTo>
                    <a:pt x="4" y="66"/>
                  </a:lnTo>
                  <a:lnTo>
                    <a:pt x="11" y="79"/>
                  </a:lnTo>
                  <a:lnTo>
                    <a:pt x="24" y="89"/>
                  </a:lnTo>
                  <a:lnTo>
                    <a:pt x="38" y="96"/>
                  </a:lnTo>
                  <a:lnTo>
                    <a:pt x="55" y="100"/>
                  </a:lnTo>
                  <a:lnTo>
                    <a:pt x="70" y="103"/>
                  </a:lnTo>
                  <a:lnTo>
                    <a:pt x="86" y="103"/>
                  </a:lnTo>
                  <a:lnTo>
                    <a:pt x="103" y="102"/>
                  </a:lnTo>
                  <a:lnTo>
                    <a:pt x="121" y="96"/>
                  </a:lnTo>
                  <a:lnTo>
                    <a:pt x="136" y="85"/>
                  </a:lnTo>
                  <a:lnTo>
                    <a:pt x="148" y="72"/>
                  </a:lnTo>
                  <a:lnTo>
                    <a:pt x="155" y="55"/>
                  </a:lnTo>
                  <a:lnTo>
                    <a:pt x="153" y="37"/>
                  </a:lnTo>
                  <a:close/>
                  <a:moveTo>
                    <a:pt x="81" y="89"/>
                  </a:moveTo>
                  <a:lnTo>
                    <a:pt x="66" y="87"/>
                  </a:lnTo>
                  <a:lnTo>
                    <a:pt x="50" y="85"/>
                  </a:lnTo>
                  <a:lnTo>
                    <a:pt x="35" y="79"/>
                  </a:lnTo>
                  <a:lnTo>
                    <a:pt x="22" y="69"/>
                  </a:lnTo>
                  <a:lnTo>
                    <a:pt x="15" y="59"/>
                  </a:lnTo>
                  <a:lnTo>
                    <a:pt x="15" y="47"/>
                  </a:lnTo>
                  <a:lnTo>
                    <a:pt x="19" y="34"/>
                  </a:lnTo>
                  <a:lnTo>
                    <a:pt x="29" y="24"/>
                  </a:lnTo>
                  <a:lnTo>
                    <a:pt x="42" y="17"/>
                  </a:lnTo>
                  <a:lnTo>
                    <a:pt x="57" y="14"/>
                  </a:lnTo>
                  <a:lnTo>
                    <a:pt x="59" y="16"/>
                  </a:lnTo>
                  <a:lnTo>
                    <a:pt x="62" y="16"/>
                  </a:lnTo>
                  <a:lnTo>
                    <a:pt x="80" y="14"/>
                  </a:lnTo>
                  <a:lnTo>
                    <a:pt x="100" y="16"/>
                  </a:lnTo>
                  <a:lnTo>
                    <a:pt x="118" y="21"/>
                  </a:lnTo>
                  <a:lnTo>
                    <a:pt x="132" y="31"/>
                  </a:lnTo>
                  <a:lnTo>
                    <a:pt x="141" y="42"/>
                  </a:lnTo>
                  <a:lnTo>
                    <a:pt x="142" y="54"/>
                  </a:lnTo>
                  <a:lnTo>
                    <a:pt x="138" y="63"/>
                  </a:lnTo>
                  <a:lnTo>
                    <a:pt x="129" y="72"/>
                  </a:lnTo>
                  <a:lnTo>
                    <a:pt x="118" y="79"/>
                  </a:lnTo>
                  <a:lnTo>
                    <a:pt x="105" y="85"/>
                  </a:lnTo>
                  <a:lnTo>
                    <a:pt x="93" y="89"/>
                  </a:lnTo>
                  <a:lnTo>
                    <a:pt x="81" y="89"/>
                  </a:lnTo>
                  <a:close/>
                </a:path>
              </a:pathLst>
            </a:custGeom>
            <a:grpFill/>
            <a:ln w="9525">
              <a:solidFill>
                <a:schemeClr val="accent1">
                  <a:lumMod val="60000"/>
                  <a:lumOff val="40000"/>
                </a:scheme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2" name="Freeform 825"/>
            <p:cNvSpPr>
              <a:spLocks noEditPoints="1"/>
            </p:cNvSpPr>
            <p:nvPr/>
          </p:nvSpPr>
          <p:spPr bwMode="auto">
            <a:xfrm>
              <a:off x="7603219" y="3314700"/>
              <a:ext cx="127000" cy="111738"/>
            </a:xfrm>
            <a:custGeom>
              <a:avLst/>
              <a:gdLst>
                <a:gd name="T0" fmla="*/ 93 w 93"/>
                <a:gd name="T1" fmla="*/ 24 h 66"/>
                <a:gd name="T2" fmla="*/ 89 w 93"/>
                <a:gd name="T3" fmla="*/ 14 h 66"/>
                <a:gd name="T4" fmla="*/ 80 w 93"/>
                <a:gd name="T5" fmla="*/ 7 h 66"/>
                <a:gd name="T6" fmla="*/ 69 w 93"/>
                <a:gd name="T7" fmla="*/ 2 h 66"/>
                <a:gd name="T8" fmla="*/ 68 w 93"/>
                <a:gd name="T9" fmla="*/ 2 h 66"/>
                <a:gd name="T10" fmla="*/ 66 w 93"/>
                <a:gd name="T11" fmla="*/ 2 h 66"/>
                <a:gd name="T12" fmla="*/ 46 w 93"/>
                <a:gd name="T13" fmla="*/ 0 h 66"/>
                <a:gd name="T14" fmla="*/ 27 w 93"/>
                <a:gd name="T15" fmla="*/ 6 h 66"/>
                <a:gd name="T16" fmla="*/ 8 w 93"/>
                <a:gd name="T17" fmla="*/ 16 h 66"/>
                <a:gd name="T18" fmla="*/ 0 w 93"/>
                <a:gd name="T19" fmla="*/ 25 h 66"/>
                <a:gd name="T20" fmla="*/ 0 w 93"/>
                <a:gd name="T21" fmla="*/ 37 h 66"/>
                <a:gd name="T22" fmla="*/ 6 w 93"/>
                <a:gd name="T23" fmla="*/ 48 h 66"/>
                <a:gd name="T24" fmla="*/ 14 w 93"/>
                <a:gd name="T25" fmla="*/ 56 h 66"/>
                <a:gd name="T26" fmla="*/ 25 w 93"/>
                <a:gd name="T27" fmla="*/ 62 h 66"/>
                <a:gd name="T28" fmla="*/ 41 w 93"/>
                <a:gd name="T29" fmla="*/ 66 h 66"/>
                <a:gd name="T30" fmla="*/ 58 w 93"/>
                <a:gd name="T31" fmla="*/ 64 h 66"/>
                <a:gd name="T32" fmla="*/ 73 w 93"/>
                <a:gd name="T33" fmla="*/ 58 h 66"/>
                <a:gd name="T34" fmla="*/ 86 w 93"/>
                <a:gd name="T35" fmla="*/ 48 h 66"/>
                <a:gd name="T36" fmla="*/ 93 w 93"/>
                <a:gd name="T37" fmla="*/ 37 h 66"/>
                <a:gd name="T38" fmla="*/ 93 w 93"/>
                <a:gd name="T39" fmla="*/ 24 h 66"/>
                <a:gd name="T40" fmla="*/ 72 w 93"/>
                <a:gd name="T41" fmla="*/ 41 h 66"/>
                <a:gd name="T42" fmla="*/ 59 w 93"/>
                <a:gd name="T43" fmla="*/ 49 h 66"/>
                <a:gd name="T44" fmla="*/ 44 w 93"/>
                <a:gd name="T45" fmla="*/ 52 h 66"/>
                <a:gd name="T46" fmla="*/ 30 w 93"/>
                <a:gd name="T47" fmla="*/ 48 h 66"/>
                <a:gd name="T48" fmla="*/ 25 w 93"/>
                <a:gd name="T49" fmla="*/ 47 h 66"/>
                <a:gd name="T50" fmla="*/ 21 w 93"/>
                <a:gd name="T51" fmla="*/ 44 h 66"/>
                <a:gd name="T52" fmla="*/ 18 w 93"/>
                <a:gd name="T53" fmla="*/ 41 h 66"/>
                <a:gd name="T54" fmla="*/ 14 w 93"/>
                <a:gd name="T55" fmla="*/ 38 h 66"/>
                <a:gd name="T56" fmla="*/ 13 w 93"/>
                <a:gd name="T57" fmla="*/ 34 h 66"/>
                <a:gd name="T58" fmla="*/ 14 w 93"/>
                <a:gd name="T59" fmla="*/ 31 h 66"/>
                <a:gd name="T60" fmla="*/ 15 w 93"/>
                <a:gd name="T61" fmla="*/ 28 h 66"/>
                <a:gd name="T62" fmla="*/ 18 w 93"/>
                <a:gd name="T63" fmla="*/ 25 h 66"/>
                <a:gd name="T64" fmla="*/ 21 w 93"/>
                <a:gd name="T65" fmla="*/ 24 h 66"/>
                <a:gd name="T66" fmla="*/ 24 w 93"/>
                <a:gd name="T67" fmla="*/ 23 h 66"/>
                <a:gd name="T68" fmla="*/ 38 w 93"/>
                <a:gd name="T69" fmla="*/ 16 h 66"/>
                <a:gd name="T70" fmla="*/ 54 w 93"/>
                <a:gd name="T71" fmla="*/ 14 h 66"/>
                <a:gd name="T72" fmla="*/ 69 w 93"/>
                <a:gd name="T73" fmla="*/ 17 h 66"/>
                <a:gd name="T74" fmla="*/ 70 w 93"/>
                <a:gd name="T75" fmla="*/ 17 h 66"/>
                <a:gd name="T76" fmla="*/ 78 w 93"/>
                <a:gd name="T77" fmla="*/ 24 h 66"/>
                <a:gd name="T78" fmla="*/ 79 w 93"/>
                <a:gd name="T79" fmla="*/ 33 h 66"/>
                <a:gd name="T80" fmla="*/ 72 w 93"/>
                <a:gd name="T81" fmla="*/ 41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 h="66">
                  <a:moveTo>
                    <a:pt x="93" y="24"/>
                  </a:moveTo>
                  <a:lnTo>
                    <a:pt x="89" y="14"/>
                  </a:lnTo>
                  <a:lnTo>
                    <a:pt x="80" y="7"/>
                  </a:lnTo>
                  <a:lnTo>
                    <a:pt x="69" y="2"/>
                  </a:lnTo>
                  <a:lnTo>
                    <a:pt x="68" y="2"/>
                  </a:lnTo>
                  <a:lnTo>
                    <a:pt x="66" y="2"/>
                  </a:lnTo>
                  <a:lnTo>
                    <a:pt x="46" y="0"/>
                  </a:lnTo>
                  <a:lnTo>
                    <a:pt x="27" y="6"/>
                  </a:lnTo>
                  <a:lnTo>
                    <a:pt x="8" y="16"/>
                  </a:lnTo>
                  <a:lnTo>
                    <a:pt x="0" y="25"/>
                  </a:lnTo>
                  <a:lnTo>
                    <a:pt x="0" y="37"/>
                  </a:lnTo>
                  <a:lnTo>
                    <a:pt x="6" y="48"/>
                  </a:lnTo>
                  <a:lnTo>
                    <a:pt x="14" y="56"/>
                  </a:lnTo>
                  <a:lnTo>
                    <a:pt x="25" y="62"/>
                  </a:lnTo>
                  <a:lnTo>
                    <a:pt x="41" y="66"/>
                  </a:lnTo>
                  <a:lnTo>
                    <a:pt x="58" y="64"/>
                  </a:lnTo>
                  <a:lnTo>
                    <a:pt x="73" y="58"/>
                  </a:lnTo>
                  <a:lnTo>
                    <a:pt x="86" y="48"/>
                  </a:lnTo>
                  <a:lnTo>
                    <a:pt x="93" y="37"/>
                  </a:lnTo>
                  <a:lnTo>
                    <a:pt x="93" y="24"/>
                  </a:lnTo>
                  <a:close/>
                  <a:moveTo>
                    <a:pt x="72" y="41"/>
                  </a:moveTo>
                  <a:lnTo>
                    <a:pt x="59" y="49"/>
                  </a:lnTo>
                  <a:lnTo>
                    <a:pt x="44" y="52"/>
                  </a:lnTo>
                  <a:lnTo>
                    <a:pt x="30" y="48"/>
                  </a:lnTo>
                  <a:lnTo>
                    <a:pt x="25" y="47"/>
                  </a:lnTo>
                  <a:lnTo>
                    <a:pt x="21" y="44"/>
                  </a:lnTo>
                  <a:lnTo>
                    <a:pt x="18" y="41"/>
                  </a:lnTo>
                  <a:lnTo>
                    <a:pt x="14" y="38"/>
                  </a:lnTo>
                  <a:lnTo>
                    <a:pt x="13" y="34"/>
                  </a:lnTo>
                  <a:lnTo>
                    <a:pt x="14" y="31"/>
                  </a:lnTo>
                  <a:lnTo>
                    <a:pt x="15" y="28"/>
                  </a:lnTo>
                  <a:lnTo>
                    <a:pt x="18" y="25"/>
                  </a:lnTo>
                  <a:lnTo>
                    <a:pt x="21" y="24"/>
                  </a:lnTo>
                  <a:lnTo>
                    <a:pt x="24" y="23"/>
                  </a:lnTo>
                  <a:lnTo>
                    <a:pt x="38" y="16"/>
                  </a:lnTo>
                  <a:lnTo>
                    <a:pt x="54" y="14"/>
                  </a:lnTo>
                  <a:lnTo>
                    <a:pt x="69" y="17"/>
                  </a:lnTo>
                  <a:lnTo>
                    <a:pt x="70" y="17"/>
                  </a:lnTo>
                  <a:lnTo>
                    <a:pt x="78" y="24"/>
                  </a:lnTo>
                  <a:lnTo>
                    <a:pt x="79" y="33"/>
                  </a:lnTo>
                  <a:lnTo>
                    <a:pt x="72" y="41"/>
                  </a:lnTo>
                  <a:close/>
                </a:path>
              </a:pathLst>
            </a:custGeom>
            <a:grpFill/>
            <a:ln w="9525">
              <a:solidFill>
                <a:schemeClr val="accent1">
                  <a:lumMod val="60000"/>
                  <a:lumOff val="40000"/>
                </a:scheme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3" name="Freeform 826"/>
            <p:cNvSpPr>
              <a:spLocks noEditPoints="1"/>
            </p:cNvSpPr>
            <p:nvPr/>
          </p:nvSpPr>
          <p:spPr bwMode="auto">
            <a:xfrm>
              <a:off x="7714343" y="3392488"/>
              <a:ext cx="90488" cy="76200"/>
            </a:xfrm>
            <a:custGeom>
              <a:avLst/>
              <a:gdLst>
                <a:gd name="T0" fmla="*/ 49 w 57"/>
                <a:gd name="T1" fmla="*/ 9 h 48"/>
                <a:gd name="T2" fmla="*/ 49 w 57"/>
                <a:gd name="T3" fmla="*/ 6 h 48"/>
                <a:gd name="T4" fmla="*/ 48 w 57"/>
                <a:gd name="T5" fmla="*/ 3 h 48"/>
                <a:gd name="T6" fmla="*/ 45 w 57"/>
                <a:gd name="T7" fmla="*/ 2 h 48"/>
                <a:gd name="T8" fmla="*/ 31 w 57"/>
                <a:gd name="T9" fmla="*/ 0 h 48"/>
                <a:gd name="T10" fmla="*/ 18 w 57"/>
                <a:gd name="T11" fmla="*/ 3 h 48"/>
                <a:gd name="T12" fmla="*/ 6 w 57"/>
                <a:gd name="T13" fmla="*/ 10 h 48"/>
                <a:gd name="T14" fmla="*/ 0 w 57"/>
                <a:gd name="T15" fmla="*/ 19 h 48"/>
                <a:gd name="T16" fmla="*/ 2 w 57"/>
                <a:gd name="T17" fmla="*/ 29 h 48"/>
                <a:gd name="T18" fmla="*/ 6 w 57"/>
                <a:gd name="T19" fmla="*/ 39 h 48"/>
                <a:gd name="T20" fmla="*/ 14 w 57"/>
                <a:gd name="T21" fmla="*/ 46 h 48"/>
                <a:gd name="T22" fmla="*/ 27 w 57"/>
                <a:gd name="T23" fmla="*/ 48 h 48"/>
                <a:gd name="T24" fmla="*/ 41 w 57"/>
                <a:gd name="T25" fmla="*/ 46 h 48"/>
                <a:gd name="T26" fmla="*/ 51 w 57"/>
                <a:gd name="T27" fmla="*/ 37 h 48"/>
                <a:gd name="T28" fmla="*/ 57 w 57"/>
                <a:gd name="T29" fmla="*/ 27 h 48"/>
                <a:gd name="T30" fmla="*/ 55 w 57"/>
                <a:gd name="T31" fmla="*/ 17 h 48"/>
                <a:gd name="T32" fmla="*/ 49 w 57"/>
                <a:gd name="T33" fmla="*/ 9 h 48"/>
                <a:gd name="T34" fmla="*/ 40 w 57"/>
                <a:gd name="T35" fmla="*/ 29 h 48"/>
                <a:gd name="T36" fmla="*/ 35 w 57"/>
                <a:gd name="T37" fmla="*/ 33 h 48"/>
                <a:gd name="T38" fmla="*/ 31 w 57"/>
                <a:gd name="T39" fmla="*/ 34 h 48"/>
                <a:gd name="T40" fmla="*/ 26 w 57"/>
                <a:gd name="T41" fmla="*/ 34 h 48"/>
                <a:gd name="T42" fmla="*/ 20 w 57"/>
                <a:gd name="T43" fmla="*/ 33 h 48"/>
                <a:gd name="T44" fmla="*/ 17 w 57"/>
                <a:gd name="T45" fmla="*/ 30 h 48"/>
                <a:gd name="T46" fmla="*/ 16 w 57"/>
                <a:gd name="T47" fmla="*/ 27 h 48"/>
                <a:gd name="T48" fmla="*/ 14 w 57"/>
                <a:gd name="T49" fmla="*/ 24 h 48"/>
                <a:gd name="T50" fmla="*/ 16 w 57"/>
                <a:gd name="T51" fmla="*/ 22 h 48"/>
                <a:gd name="T52" fmla="*/ 18 w 57"/>
                <a:gd name="T53" fmla="*/ 19 h 48"/>
                <a:gd name="T54" fmla="*/ 24 w 57"/>
                <a:gd name="T55" fmla="*/ 16 h 48"/>
                <a:gd name="T56" fmla="*/ 30 w 57"/>
                <a:gd name="T57" fmla="*/ 15 h 48"/>
                <a:gd name="T58" fmla="*/ 35 w 57"/>
                <a:gd name="T59" fmla="*/ 15 h 48"/>
                <a:gd name="T60" fmla="*/ 35 w 57"/>
                <a:gd name="T61" fmla="*/ 15 h 48"/>
                <a:gd name="T62" fmla="*/ 40 w 57"/>
                <a:gd name="T63" fmla="*/ 17 h 48"/>
                <a:gd name="T64" fmla="*/ 41 w 57"/>
                <a:gd name="T65" fmla="*/ 20 h 48"/>
                <a:gd name="T66" fmla="*/ 42 w 57"/>
                <a:gd name="T67" fmla="*/ 22 h 48"/>
                <a:gd name="T68" fmla="*/ 42 w 57"/>
                <a:gd name="T69" fmla="*/ 26 h 48"/>
                <a:gd name="T70" fmla="*/ 40 w 57"/>
                <a:gd name="T71" fmla="*/ 2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48">
                  <a:moveTo>
                    <a:pt x="49" y="9"/>
                  </a:moveTo>
                  <a:lnTo>
                    <a:pt x="49" y="6"/>
                  </a:lnTo>
                  <a:lnTo>
                    <a:pt x="48" y="3"/>
                  </a:lnTo>
                  <a:lnTo>
                    <a:pt x="45" y="2"/>
                  </a:lnTo>
                  <a:lnTo>
                    <a:pt x="31" y="0"/>
                  </a:lnTo>
                  <a:lnTo>
                    <a:pt x="18" y="3"/>
                  </a:lnTo>
                  <a:lnTo>
                    <a:pt x="6" y="10"/>
                  </a:lnTo>
                  <a:lnTo>
                    <a:pt x="0" y="19"/>
                  </a:lnTo>
                  <a:lnTo>
                    <a:pt x="2" y="29"/>
                  </a:lnTo>
                  <a:lnTo>
                    <a:pt x="6" y="39"/>
                  </a:lnTo>
                  <a:lnTo>
                    <a:pt x="14" y="46"/>
                  </a:lnTo>
                  <a:lnTo>
                    <a:pt x="27" y="48"/>
                  </a:lnTo>
                  <a:lnTo>
                    <a:pt x="41" y="46"/>
                  </a:lnTo>
                  <a:lnTo>
                    <a:pt x="51" y="37"/>
                  </a:lnTo>
                  <a:lnTo>
                    <a:pt x="57" y="27"/>
                  </a:lnTo>
                  <a:lnTo>
                    <a:pt x="55" y="17"/>
                  </a:lnTo>
                  <a:lnTo>
                    <a:pt x="49" y="9"/>
                  </a:lnTo>
                  <a:close/>
                  <a:moveTo>
                    <a:pt x="40" y="29"/>
                  </a:moveTo>
                  <a:lnTo>
                    <a:pt x="35" y="33"/>
                  </a:lnTo>
                  <a:lnTo>
                    <a:pt x="31" y="34"/>
                  </a:lnTo>
                  <a:lnTo>
                    <a:pt x="26" y="34"/>
                  </a:lnTo>
                  <a:lnTo>
                    <a:pt x="20" y="33"/>
                  </a:lnTo>
                  <a:lnTo>
                    <a:pt x="17" y="30"/>
                  </a:lnTo>
                  <a:lnTo>
                    <a:pt x="16" y="27"/>
                  </a:lnTo>
                  <a:lnTo>
                    <a:pt x="14" y="24"/>
                  </a:lnTo>
                  <a:lnTo>
                    <a:pt x="16" y="22"/>
                  </a:lnTo>
                  <a:lnTo>
                    <a:pt x="18" y="19"/>
                  </a:lnTo>
                  <a:lnTo>
                    <a:pt x="24" y="16"/>
                  </a:lnTo>
                  <a:lnTo>
                    <a:pt x="30" y="15"/>
                  </a:lnTo>
                  <a:lnTo>
                    <a:pt x="35" y="15"/>
                  </a:lnTo>
                  <a:lnTo>
                    <a:pt x="35" y="15"/>
                  </a:lnTo>
                  <a:lnTo>
                    <a:pt x="40" y="17"/>
                  </a:lnTo>
                  <a:lnTo>
                    <a:pt x="41" y="20"/>
                  </a:lnTo>
                  <a:lnTo>
                    <a:pt x="42" y="22"/>
                  </a:lnTo>
                  <a:lnTo>
                    <a:pt x="42" y="26"/>
                  </a:lnTo>
                  <a:lnTo>
                    <a:pt x="40" y="29"/>
                  </a:lnTo>
                  <a:close/>
                </a:path>
              </a:pathLst>
            </a:custGeom>
            <a:grpFill/>
            <a:ln w="9525">
              <a:solidFill>
                <a:schemeClr val="accent1">
                  <a:lumMod val="60000"/>
                  <a:lumOff val="40000"/>
                </a:schemeClr>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64" name="ïsḷïḑè"/>
          <p:cNvSpPr/>
          <p:nvPr/>
        </p:nvSpPr>
        <p:spPr>
          <a:xfrm>
            <a:off x="5293684" y="2268301"/>
            <a:ext cx="1409700" cy="825569"/>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图像信息</a:t>
            </a:r>
          </a:p>
        </p:txBody>
      </p:sp>
      <p:sp>
        <p:nvSpPr>
          <p:cNvPr id="265" name="ïsḷïḑè"/>
          <p:cNvSpPr/>
          <p:nvPr/>
        </p:nvSpPr>
        <p:spPr>
          <a:xfrm>
            <a:off x="5293684" y="4126346"/>
            <a:ext cx="1409700" cy="825569"/>
          </a:xfrm>
          <a:prstGeom prst="roundRect">
            <a:avLst/>
          </a:prstGeom>
          <a:solidFill>
            <a:srgbClr val="BC3649"/>
          </a:solidFill>
          <a:ln w="12700" cap="flat">
            <a:noFill/>
            <a:miter lim="400000"/>
          </a:ln>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序列信息</a:t>
            </a:r>
          </a:p>
        </p:txBody>
      </p:sp>
      <p:sp>
        <p:nvSpPr>
          <p:cNvPr id="266" name="文本框 265"/>
          <p:cNvSpPr txBox="1"/>
          <p:nvPr/>
        </p:nvSpPr>
        <p:spPr>
          <a:xfrm>
            <a:off x="6939658" y="2164245"/>
            <a:ext cx="3141231" cy="1015663"/>
          </a:xfrm>
          <a:prstGeom prst="rect">
            <a:avLst/>
          </a:prstGeom>
          <a:noFill/>
        </p:spPr>
        <p:txBody>
          <a:bodyPr wrap="square" rtlCol="0">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任务：理解图像内容</a:t>
            </a:r>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方法：卷积神经网络</a:t>
            </a:r>
          </a:p>
        </p:txBody>
      </p:sp>
      <p:sp>
        <p:nvSpPr>
          <p:cNvPr id="267" name="文本框 266"/>
          <p:cNvSpPr txBox="1"/>
          <p:nvPr/>
        </p:nvSpPr>
        <p:spPr>
          <a:xfrm>
            <a:off x="6939658" y="3986571"/>
            <a:ext cx="3322206" cy="1015663"/>
          </a:xfrm>
          <a:prstGeom prst="rect">
            <a:avLst/>
          </a:prstGeom>
          <a:noFill/>
        </p:spPr>
        <p:txBody>
          <a:bodyPr wrap="square" rtlCol="0">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任务：理解语音</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文字</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视频</a:t>
            </a:r>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方法：循环神经网络</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en-US" altLang="zh-CN" sz="2800" dirty="0">
                <a:solidFill>
                  <a:schemeClr val="bg1"/>
                </a:solidFill>
                <a:latin typeface="微软雅黑" panose="020B0503020204020204" pitchFamily="34" charset="-122"/>
                <a:ea typeface="微软雅黑" panose="020B0503020204020204" pitchFamily="34" charset="-122"/>
              </a:rPr>
              <a:t>Driving Example</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93" name="矩形 92"/>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256" name="内容占位符 2"/>
          <p:cNvSpPr txBox="1"/>
          <p:nvPr/>
        </p:nvSpPr>
        <p:spPr>
          <a:xfrm>
            <a:off x="293722" y="691951"/>
            <a:ext cx="11637087" cy="19801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深度学习里程碑</a:t>
            </a:r>
            <a:endParaRPr lang="en-US" altLang="zh-CN" sz="2800" b="1" dirty="0"/>
          </a:p>
        </p:txBody>
      </p:sp>
      <p:grpSp>
        <p:nvGrpSpPr>
          <p:cNvPr id="19" name="组合 18"/>
          <p:cNvGrpSpPr/>
          <p:nvPr/>
        </p:nvGrpSpPr>
        <p:grpSpPr>
          <a:xfrm>
            <a:off x="3688659" y="773072"/>
            <a:ext cx="8118306" cy="5514981"/>
            <a:chOff x="146926" y="499952"/>
            <a:chExt cx="8420893" cy="5981963"/>
          </a:xfrm>
        </p:grpSpPr>
        <p:pic>
          <p:nvPicPr>
            <p:cNvPr id="20" name="图片 19"/>
            <p:cNvPicPr>
              <a:picLocks noChangeAspect="1"/>
            </p:cNvPicPr>
            <p:nvPr/>
          </p:nvPicPr>
          <p:blipFill>
            <a:blip r:embed="rId5"/>
            <a:stretch>
              <a:fillRect/>
            </a:stretch>
          </p:blipFill>
          <p:spPr>
            <a:xfrm>
              <a:off x="146926" y="499952"/>
              <a:ext cx="8420893" cy="4917544"/>
            </a:xfrm>
            <a:prstGeom prst="rect">
              <a:avLst/>
            </a:prstGeom>
          </p:spPr>
        </p:pic>
        <p:sp>
          <p:nvSpPr>
            <p:cNvPr id="21" name="文本框 20"/>
            <p:cNvSpPr txBox="1"/>
            <p:nvPr/>
          </p:nvSpPr>
          <p:spPr>
            <a:xfrm>
              <a:off x="7380683" y="580306"/>
              <a:ext cx="638868" cy="307777"/>
            </a:xfrm>
            <a:prstGeom prst="rect">
              <a:avLst/>
            </a:prstGeom>
            <a:solidFill>
              <a:srgbClr val="5F5F5F">
                <a:lumMod val="20000"/>
                <a:lumOff val="80000"/>
              </a:srgbClr>
            </a:solid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en-US" altLang="zh-CN" sz="1400" b="0" i="0" u="none" strike="noStrike" kern="0" cap="none" spc="0" normalizeH="0" baseline="0" noProof="0" dirty="0">
                  <a:ln>
                    <a:noFill/>
                  </a:ln>
                  <a:solidFill>
                    <a:srgbClr val="000000"/>
                  </a:solidFill>
                  <a:effectLst/>
                  <a:uLnTx/>
                  <a:uFillTx/>
                  <a:latin typeface="Microsoft YaHei UI Light" panose="020B0502040204020203" pitchFamily="34" charset="-122"/>
                  <a:ea typeface="微软雅黑 Light" panose="020B0502040204020203" pitchFamily="34" charset="-122"/>
                  <a:cs typeface="Times New Roman" panose="02020603050405020304" pitchFamily="18" charset="0"/>
                </a:rPr>
                <a:t>GAN</a:t>
              </a:r>
              <a:endParaRPr kumimoji="0" lang="zh-CN" altLang="en-US" sz="1400" b="0" i="0" u="none" strike="noStrike" kern="0" cap="none" spc="0" normalizeH="0" baseline="0" noProof="0" dirty="0">
                <a:ln>
                  <a:noFill/>
                </a:ln>
                <a:solidFill>
                  <a:srgbClr val="000000"/>
                </a:solidFill>
                <a:effectLst/>
                <a:uLnTx/>
                <a:uFillTx/>
                <a:latin typeface="Microsoft YaHei UI Light" panose="020B0502040204020203" pitchFamily="34" charset="-122"/>
                <a:ea typeface="微软雅黑 Light" panose="020B0502040204020203" pitchFamily="34" charset="-122"/>
                <a:cs typeface="Times New Roman" panose="02020603050405020304" pitchFamily="18" charset="0"/>
              </a:endParaRPr>
            </a:p>
          </p:txBody>
        </p:sp>
        <p:sp>
          <p:nvSpPr>
            <p:cNvPr id="22" name="椭圆 21"/>
            <p:cNvSpPr/>
            <p:nvPr/>
          </p:nvSpPr>
          <p:spPr bwMode="auto">
            <a:xfrm flipH="1">
              <a:off x="8019551" y="1082981"/>
              <a:ext cx="110358" cy="111785"/>
            </a:xfrm>
            <a:prstGeom prst="ellipse">
              <a:avLst/>
            </a:prstGeom>
            <a:solidFill>
              <a:srgbClr val="FF0000"/>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lstStyle/>
            <a:p>
              <a:pPr marL="342900" marR="0" lvl="0" indent="-342900" algn="ctr" defTabSz="914400" eaLnBrk="1" fontAlgn="base" latinLnBrk="0" hangingPunct="1">
                <a:lnSpc>
                  <a:spcPct val="80000"/>
                </a:lnSpc>
                <a:spcBef>
                  <a:spcPct val="20000"/>
                </a:spcBef>
                <a:spcAft>
                  <a:spcPct val="0"/>
                </a:spcAft>
                <a:buClr>
                  <a:srgbClr val="5F5F5F"/>
                </a:buClr>
                <a:buSzPct val="75000"/>
                <a:buFont typeface="Wingdings" panose="05000000000000000000" pitchFamily="2" charset="2"/>
                <a:buChar char="n"/>
                <a:defRPr/>
              </a:pPr>
              <a:endParaRPr kumimoji="0" lang="zh-CN" altLang="en-US" sz="1800" b="1" i="0" u="none" strike="noStrike" kern="0" cap="none" spc="0" normalizeH="0" baseline="0" noProof="0">
                <a:ln>
                  <a:noFill/>
                </a:ln>
                <a:solidFill>
                  <a:srgbClr val="000000"/>
                </a:solidFill>
                <a:effectLst/>
                <a:uLnTx/>
                <a:uFillTx/>
                <a:latin typeface="Microsoft YaHei UI Light" panose="020B0502040204020203" pitchFamily="34" charset="-122"/>
                <a:ea typeface="微软雅黑 Light" panose="020B0502040204020203" pitchFamily="34" charset="-122"/>
                <a:sym typeface="Symbol" panose="05050102010706020507" pitchFamily="18" charset="2"/>
              </a:endParaRPr>
            </a:p>
          </p:txBody>
        </p:sp>
        <p:sp>
          <p:nvSpPr>
            <p:cNvPr id="23" name="文本框 22"/>
            <p:cNvSpPr txBox="1"/>
            <p:nvPr/>
          </p:nvSpPr>
          <p:spPr>
            <a:xfrm rot="18051687">
              <a:off x="8085970" y="1000876"/>
              <a:ext cx="612576" cy="276999"/>
            </a:xfrm>
            <a:prstGeom prst="rect">
              <a:avLst/>
            </a:prstGeom>
            <a:noFill/>
          </p:spPr>
          <p:txBody>
            <a:bodyPr wrap="square" rtlCol="0">
              <a:spAutoFit/>
            </a:bodyPr>
            <a:lstStyle/>
            <a:p>
              <a:pPr fontAlgn="base">
                <a:spcBef>
                  <a:spcPct val="0"/>
                </a:spcBef>
                <a:spcAft>
                  <a:spcPct val="0"/>
                </a:spcAft>
              </a:pPr>
              <a:r>
                <a:rPr lang="en-US" altLang="zh-CN" sz="1200" b="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2016</a:t>
              </a:r>
              <a:endParaRPr lang="zh-CN" altLang="en-US" sz="1200" b="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endParaRPr>
            </a:p>
          </p:txBody>
        </p:sp>
        <p:sp>
          <p:nvSpPr>
            <p:cNvPr id="24" name="标题 1"/>
            <p:cNvSpPr txBox="1"/>
            <p:nvPr/>
          </p:nvSpPr>
          <p:spPr bwMode="auto">
            <a:xfrm>
              <a:off x="438663" y="1030160"/>
              <a:ext cx="4314312" cy="960438"/>
            </a:xfrm>
            <a:prstGeom prst="rect">
              <a:avLst/>
            </a:prstGeom>
            <a:noFill/>
            <a:ln w="9525">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200">
                  <a:solidFill>
                    <a:schemeClr val="tx1"/>
                  </a:solidFill>
                  <a:latin typeface="+mj-lt"/>
                  <a:ea typeface="+mj-ea"/>
                  <a:cs typeface="+mj-cs"/>
                </a:defRPr>
              </a:lvl1pPr>
              <a:lvl2pPr algn="l" rtl="0" eaLnBrk="0" fontAlgn="base" hangingPunct="0">
                <a:spcBef>
                  <a:spcPct val="0"/>
                </a:spcBef>
                <a:spcAft>
                  <a:spcPct val="0"/>
                </a:spcAft>
                <a:defRPr sz="4200">
                  <a:solidFill>
                    <a:schemeClr val="tx1"/>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1"/>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1"/>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1"/>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200">
                  <a:solidFill>
                    <a:schemeClr val="tx1"/>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200">
                  <a:solidFill>
                    <a:schemeClr val="tx1"/>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200">
                  <a:solidFill>
                    <a:schemeClr val="tx1"/>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200">
                  <a:solidFill>
                    <a:schemeClr val="tx1"/>
                  </a:solidFill>
                  <a:latin typeface="Garamond" panose="02020404030301010803"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0" cap="none" spc="0" normalizeH="0" baseline="0" noProof="0" dirty="0">
                <a:ln>
                  <a:noFill/>
                </a:ln>
                <a:solidFill>
                  <a:srgbClr val="000000"/>
                </a:solidFill>
                <a:effectLst/>
                <a:uLnTx/>
                <a:uFillTx/>
                <a:latin typeface="Microsoft YaHei UI Light" panose="020B0502040204020203" pitchFamily="34" charset="-122"/>
                <a:ea typeface="微软雅黑 Light" panose="020B0502040204020203" pitchFamily="34" charset="-122"/>
                <a:cs typeface="+mj-cs"/>
              </a:endParaRPr>
            </a:p>
          </p:txBody>
        </p:sp>
        <p:sp>
          <p:nvSpPr>
            <p:cNvPr id="25" name="矩形 24"/>
            <p:cNvSpPr/>
            <p:nvPr/>
          </p:nvSpPr>
          <p:spPr bwMode="auto">
            <a:xfrm>
              <a:off x="971599" y="5312574"/>
              <a:ext cx="7200801" cy="661134"/>
            </a:xfrm>
            <a:prstGeom prst="rect">
              <a:avLst/>
            </a:prstGeom>
            <a:solidFill>
              <a:srgbClr val="35742A">
                <a:lumMod val="20000"/>
                <a:lumOff val="80000"/>
              </a:srgbClr>
            </a:solidFill>
            <a:ln w="25400" cap="flat" cmpd="sng" algn="ctr">
              <a:solidFill>
                <a:srgbClr val="3B812F">
                  <a:lumMod val="20000"/>
                  <a:lumOff val="80000"/>
                </a:srgbClr>
              </a:solidFill>
              <a:prstDash val="solid"/>
              <a:headEnd type="none" w="med" len="med"/>
              <a:tailEnd type="none" w="med" len="med"/>
            </a:ln>
            <a:effectLst/>
          </p:spPr>
          <p:txBody>
            <a:bodyPr wrap="none" rtlCol="0" anchor="ct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Microsoft YaHei UI Light" panose="020B0502040204020203" pitchFamily="34" charset="-122"/>
                  <a:ea typeface="微软雅黑 Light" panose="020B0502040204020203" pitchFamily="34" charset="-122"/>
                  <a:cs typeface="+mn-cs"/>
                </a:rPr>
                <a:t>人工智能</a:t>
              </a:r>
            </a:p>
          </p:txBody>
        </p:sp>
        <p:sp>
          <p:nvSpPr>
            <p:cNvPr id="26" name="矩形 25"/>
            <p:cNvSpPr/>
            <p:nvPr/>
          </p:nvSpPr>
          <p:spPr bwMode="auto">
            <a:xfrm>
              <a:off x="3129256" y="5404843"/>
              <a:ext cx="5043144" cy="576064"/>
            </a:xfrm>
            <a:prstGeom prst="rect">
              <a:avLst/>
            </a:prstGeom>
            <a:solidFill>
              <a:srgbClr val="35742A">
                <a:lumMod val="40000"/>
                <a:lumOff val="60000"/>
              </a:srgbClr>
            </a:solidFill>
            <a:ln w="25400" cap="flat" cmpd="sng" algn="ctr">
              <a:noFill/>
              <a:prstDash val="solid"/>
              <a:headEnd type="none" w="med" len="med"/>
              <a:tailEnd type="none" w="med" len="med"/>
            </a:ln>
            <a:effectLst/>
          </p:spPr>
          <p:txBody>
            <a:bodyPr wrap="none" rtlCol="0" anchor="ct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Microsoft YaHei UI Light" panose="020B0502040204020203" pitchFamily="34" charset="-122"/>
                  <a:ea typeface="微软雅黑 Light" panose="020B0502040204020203" pitchFamily="34" charset="-122"/>
                  <a:cs typeface="+mn-cs"/>
                </a:rPr>
                <a:t>机器学习</a:t>
              </a:r>
            </a:p>
          </p:txBody>
        </p:sp>
        <p:sp>
          <p:nvSpPr>
            <p:cNvPr id="27" name="矩形 26"/>
            <p:cNvSpPr/>
            <p:nvPr/>
          </p:nvSpPr>
          <p:spPr bwMode="auto">
            <a:xfrm>
              <a:off x="5076055" y="5557243"/>
              <a:ext cx="3096343" cy="423634"/>
            </a:xfrm>
            <a:prstGeom prst="rect">
              <a:avLst/>
            </a:prstGeom>
            <a:solidFill>
              <a:srgbClr val="35742A">
                <a:lumMod val="60000"/>
                <a:lumOff val="40000"/>
              </a:srgbClr>
            </a:solidFill>
            <a:ln w="25400" cap="flat" cmpd="sng" algn="ctr">
              <a:noFill/>
              <a:prstDash val="solid"/>
              <a:headEnd type="none" w="med" len="med"/>
              <a:tailEnd type="none" w="med" len="med"/>
            </a:ln>
            <a:effectLst/>
          </p:spPr>
          <p:txBody>
            <a:bodyPr wrap="none" rtlCol="0" anchor="ct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Microsoft YaHei UI Light" panose="020B0502040204020203" pitchFamily="34" charset="-122"/>
                  <a:ea typeface="微软雅黑 Light" panose="020B0502040204020203" pitchFamily="34" charset="-122"/>
                  <a:cs typeface="+mn-cs"/>
                </a:rPr>
                <a:t>深度学习</a:t>
              </a:r>
            </a:p>
          </p:txBody>
        </p:sp>
        <p:sp>
          <p:nvSpPr>
            <p:cNvPr id="28" name="椭圆 27"/>
            <p:cNvSpPr/>
            <p:nvPr/>
          </p:nvSpPr>
          <p:spPr bwMode="auto">
            <a:xfrm>
              <a:off x="899591" y="5747593"/>
              <a:ext cx="144016" cy="216024"/>
            </a:xfrm>
            <a:prstGeom prst="ellipse">
              <a:avLst/>
            </a:prstGeom>
            <a:solidFill>
              <a:srgbClr val="3B812F">
                <a:lumMod val="75000"/>
              </a:srgbClr>
            </a:solidFill>
            <a:ln w="25400" cap="flat" cmpd="sng" algn="ctr">
              <a:noFill/>
              <a:prstDash val="solid"/>
              <a:headEnd type="none" w="med" len="med"/>
              <a:tailEnd type="none" w="med" len="med"/>
            </a:ln>
            <a:effectLst/>
          </p:spPr>
          <p:txBody>
            <a:bodyPr wrap="none"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icrosoft YaHei UI Light" panose="020B0502040204020203" pitchFamily="34" charset="-122"/>
                <a:ea typeface="微软雅黑 Light" panose="020B0502040204020203" pitchFamily="34" charset="-122"/>
                <a:cs typeface="+mn-cs"/>
              </a:endParaRPr>
            </a:p>
          </p:txBody>
        </p:sp>
        <p:sp>
          <p:nvSpPr>
            <p:cNvPr id="29" name="文本框 28"/>
            <p:cNvSpPr txBox="1"/>
            <p:nvPr/>
          </p:nvSpPr>
          <p:spPr>
            <a:xfrm>
              <a:off x="709348" y="6204916"/>
              <a:ext cx="498855"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1950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0" name="文本框 29"/>
            <p:cNvSpPr txBox="1"/>
            <p:nvPr/>
          </p:nvSpPr>
          <p:spPr>
            <a:xfrm>
              <a:off x="1436485" y="6204916"/>
              <a:ext cx="498855"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1960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1" name="文本框 30"/>
            <p:cNvSpPr txBox="1"/>
            <p:nvPr/>
          </p:nvSpPr>
          <p:spPr>
            <a:xfrm>
              <a:off x="2163622" y="6204916"/>
              <a:ext cx="497252"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1970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2" name="文本框 31"/>
            <p:cNvSpPr txBox="1"/>
            <p:nvPr/>
          </p:nvSpPr>
          <p:spPr>
            <a:xfrm>
              <a:off x="2890759" y="6204916"/>
              <a:ext cx="498855"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1980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3" name="文本框 32"/>
            <p:cNvSpPr txBox="1"/>
            <p:nvPr/>
          </p:nvSpPr>
          <p:spPr>
            <a:xfrm>
              <a:off x="3591622" y="6204916"/>
              <a:ext cx="498855"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1990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4" name="文本框 33"/>
            <p:cNvSpPr txBox="1"/>
            <p:nvPr/>
          </p:nvSpPr>
          <p:spPr>
            <a:xfrm>
              <a:off x="4309748" y="6204916"/>
              <a:ext cx="524503"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2000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5" name="文本框 34"/>
            <p:cNvSpPr txBox="1"/>
            <p:nvPr/>
          </p:nvSpPr>
          <p:spPr>
            <a:xfrm>
              <a:off x="5021680" y="6204916"/>
              <a:ext cx="498855" cy="276999"/>
            </a:xfrm>
            <a:prstGeom prst="rect">
              <a:avLst/>
            </a:prstGeom>
            <a:noFill/>
          </p:spPr>
          <p:txBody>
            <a:bodyPr wrap="none" rtlCol="0">
              <a:spAutoFit/>
            </a:bodyPr>
            <a:lstStyle/>
            <a:p>
              <a:pPr fontAlgn="base">
                <a:spcBef>
                  <a:spcPct val="0"/>
                </a:spcBef>
                <a:spcAft>
                  <a:spcPct val="0"/>
                </a:spcAft>
              </a:pPr>
              <a:r>
                <a:rPr lang="en-US" altLang="zh-CN" sz="1200" dirty="0">
                  <a:solidFill>
                    <a:srgbClr val="000000"/>
                  </a:solidFill>
                  <a:latin typeface="Microsoft YaHei UI Light" panose="020B0502040204020203" pitchFamily="34" charset="-122"/>
                  <a:ea typeface="微软雅黑 Light" panose="020B0502040204020203" pitchFamily="34" charset="-122"/>
                </a:rPr>
                <a:t>2010</a:t>
              </a:r>
              <a:endParaRPr lang="zh-CN" altLang="en-US" sz="1200" dirty="0">
                <a:solidFill>
                  <a:srgbClr val="000000"/>
                </a:solidFill>
                <a:latin typeface="Microsoft YaHei UI Light" panose="020B0502040204020203" pitchFamily="34" charset="-122"/>
                <a:ea typeface="微软雅黑 Light" panose="020B0502040204020203" pitchFamily="34" charset="-122"/>
              </a:endParaRPr>
            </a:p>
          </p:txBody>
        </p:sp>
        <p:sp>
          <p:nvSpPr>
            <p:cNvPr id="36" name="椭圆 35"/>
            <p:cNvSpPr/>
            <p:nvPr/>
          </p:nvSpPr>
          <p:spPr bwMode="auto">
            <a:xfrm>
              <a:off x="3081002" y="5757684"/>
              <a:ext cx="144016" cy="216024"/>
            </a:xfrm>
            <a:prstGeom prst="ellipse">
              <a:avLst/>
            </a:prstGeom>
            <a:solidFill>
              <a:srgbClr val="3B812F">
                <a:lumMod val="75000"/>
              </a:srgbClr>
            </a:solidFill>
            <a:ln w="25400" cap="flat" cmpd="sng" algn="ctr">
              <a:noFill/>
              <a:prstDash val="solid"/>
              <a:headEnd type="none" w="med" len="med"/>
              <a:tailEnd type="none" w="med" len="med"/>
            </a:ln>
            <a:effectLst/>
          </p:spPr>
          <p:txBody>
            <a:bodyPr wrap="none"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icrosoft YaHei UI Light" panose="020B0502040204020203" pitchFamily="34" charset="-122"/>
                <a:ea typeface="微软雅黑 Light" panose="020B0502040204020203" pitchFamily="34" charset="-122"/>
                <a:cs typeface="+mn-cs"/>
              </a:endParaRPr>
            </a:p>
          </p:txBody>
        </p:sp>
        <p:sp>
          <p:nvSpPr>
            <p:cNvPr id="37" name="椭圆 36"/>
            <p:cNvSpPr/>
            <p:nvPr/>
          </p:nvSpPr>
          <p:spPr bwMode="auto">
            <a:xfrm>
              <a:off x="5004048" y="5739459"/>
              <a:ext cx="144016" cy="216024"/>
            </a:xfrm>
            <a:prstGeom prst="ellipse">
              <a:avLst/>
            </a:prstGeom>
            <a:solidFill>
              <a:srgbClr val="3B812F">
                <a:lumMod val="75000"/>
              </a:srgbClr>
            </a:solidFill>
            <a:ln w="25400" cap="flat" cmpd="sng" algn="ctr">
              <a:noFill/>
              <a:prstDash val="solid"/>
              <a:headEnd type="none" w="med" len="med"/>
              <a:tailEnd type="none" w="med" len="med"/>
            </a:ln>
            <a:effectLst/>
          </p:spPr>
          <p:txBody>
            <a:bodyPr wrap="none" rtlCol="0"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icrosoft YaHei UI Light" panose="020B0502040204020203" pitchFamily="34" charset="-122"/>
                <a:ea typeface="微软雅黑 Light" panose="020B0502040204020203" pitchFamily="34" charset="-122"/>
                <a:cs typeface="+mn-cs"/>
              </a:endParaRPr>
            </a:p>
          </p:txBody>
        </p:sp>
        <p:cxnSp>
          <p:nvCxnSpPr>
            <p:cNvPr id="38" name="直接连接符 37"/>
            <p:cNvCxnSpPr/>
            <p:nvPr/>
          </p:nvCxnSpPr>
          <p:spPr bwMode="auto">
            <a:xfrm>
              <a:off x="971599"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39" name="直接连接符 38"/>
            <p:cNvCxnSpPr/>
            <p:nvPr/>
          </p:nvCxnSpPr>
          <p:spPr bwMode="auto">
            <a:xfrm>
              <a:off x="1698735"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0" name="直接连接符 39"/>
            <p:cNvCxnSpPr/>
            <p:nvPr/>
          </p:nvCxnSpPr>
          <p:spPr bwMode="auto">
            <a:xfrm>
              <a:off x="2411760"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1" name="直接连接符 40"/>
            <p:cNvCxnSpPr/>
            <p:nvPr/>
          </p:nvCxnSpPr>
          <p:spPr bwMode="auto">
            <a:xfrm>
              <a:off x="3129256"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2" name="直接连接符 41"/>
            <p:cNvCxnSpPr/>
            <p:nvPr/>
          </p:nvCxnSpPr>
          <p:spPr bwMode="auto">
            <a:xfrm>
              <a:off x="3851919"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3" name="直接连接符 42"/>
            <p:cNvCxnSpPr/>
            <p:nvPr/>
          </p:nvCxnSpPr>
          <p:spPr bwMode="auto">
            <a:xfrm>
              <a:off x="4583527"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4" name="直接连接符 43"/>
            <p:cNvCxnSpPr/>
            <p:nvPr/>
          </p:nvCxnSpPr>
          <p:spPr bwMode="auto">
            <a:xfrm>
              <a:off x="5300957"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5" name="直接连接符 44"/>
            <p:cNvCxnSpPr/>
            <p:nvPr/>
          </p:nvCxnSpPr>
          <p:spPr bwMode="auto">
            <a:xfrm>
              <a:off x="6004342"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6" name="直接连接符 45"/>
            <p:cNvCxnSpPr/>
            <p:nvPr/>
          </p:nvCxnSpPr>
          <p:spPr bwMode="auto">
            <a:xfrm>
              <a:off x="6748995"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7" name="直接连接符 46"/>
            <p:cNvCxnSpPr/>
            <p:nvPr/>
          </p:nvCxnSpPr>
          <p:spPr bwMode="auto">
            <a:xfrm>
              <a:off x="7439203"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48" name="直接连接符 47"/>
            <p:cNvCxnSpPr/>
            <p:nvPr/>
          </p:nvCxnSpPr>
          <p:spPr bwMode="auto">
            <a:xfrm>
              <a:off x="971600" y="6204916"/>
              <a:ext cx="7200799" cy="7169"/>
            </a:xfrm>
            <a:prstGeom prst="line">
              <a:avLst/>
            </a:prstGeom>
            <a:noFill/>
            <a:ln w="9525" cap="flat" cmpd="sng" algn="ctr">
              <a:solidFill>
                <a:srgbClr val="5BBD4B"/>
              </a:solidFill>
              <a:prstDash val="solid"/>
              <a:round/>
              <a:headEnd type="none" w="med" len="med"/>
              <a:tailEnd type="none" w="med" len="med"/>
            </a:ln>
            <a:effectLst/>
          </p:spPr>
        </p:cxnSp>
        <p:sp>
          <p:nvSpPr>
            <p:cNvPr id="49" name="文本框 48"/>
            <p:cNvSpPr txBox="1"/>
            <p:nvPr/>
          </p:nvSpPr>
          <p:spPr>
            <a:xfrm>
              <a:off x="6732240" y="5709366"/>
              <a:ext cx="1656184" cy="261610"/>
            </a:xfrm>
            <a:prstGeom prst="rect">
              <a:avLst/>
            </a:prstGeom>
            <a:noFill/>
          </p:spPr>
          <p:txBody>
            <a:bodyPr wrap="square" rtlCol="0">
              <a:spAutoFit/>
            </a:bodyPr>
            <a:lstStyle/>
            <a:p>
              <a:pPr fontAlgn="base">
                <a:spcBef>
                  <a:spcPct val="0"/>
                </a:spcBef>
                <a:spcAft>
                  <a:spcPct val="0"/>
                </a:spcAft>
              </a:pPr>
              <a:r>
                <a:rPr lang="zh-CN" altLang="en-US" sz="1100" dirty="0">
                  <a:solidFill>
                    <a:srgbClr val="FFFFFF"/>
                  </a:solidFill>
                  <a:latin typeface="Microsoft YaHei UI Light" panose="020B0502040204020203" pitchFamily="34" charset="-122"/>
                  <a:ea typeface="微软雅黑 Light" panose="020B0502040204020203" pitchFamily="34" charset="-122"/>
                </a:rPr>
                <a:t>计算变快 数据变多</a:t>
              </a:r>
            </a:p>
          </p:txBody>
        </p:sp>
        <p:cxnSp>
          <p:nvCxnSpPr>
            <p:cNvPr id="50" name="直接连接符 49"/>
            <p:cNvCxnSpPr/>
            <p:nvPr/>
          </p:nvCxnSpPr>
          <p:spPr bwMode="auto">
            <a:xfrm>
              <a:off x="8172399" y="6100337"/>
              <a:ext cx="1" cy="112713"/>
            </a:xfrm>
            <a:prstGeom prst="line">
              <a:avLst/>
            </a:prstGeom>
            <a:noFill/>
            <a:ln w="9525" cap="flat" cmpd="sng" algn="ctr">
              <a:solidFill>
                <a:srgbClr val="5BBD4B"/>
              </a:solidFill>
              <a:prstDash val="solid"/>
              <a:round/>
              <a:headEnd type="none" w="med" len="med"/>
              <a:tailEnd type="none" w="med" len="med"/>
            </a:ln>
            <a:effectLst/>
          </p:spPr>
        </p:cxnSp>
        <p:cxnSp>
          <p:nvCxnSpPr>
            <p:cNvPr id="51" name="直接连接符 50"/>
            <p:cNvCxnSpPr>
              <a:endCxn id="27" idx="1"/>
            </p:cNvCxnSpPr>
            <p:nvPr/>
          </p:nvCxnSpPr>
          <p:spPr bwMode="auto">
            <a:xfrm>
              <a:off x="5076055" y="4828778"/>
              <a:ext cx="0" cy="940282"/>
            </a:xfrm>
            <a:prstGeom prst="line">
              <a:avLst/>
            </a:prstGeom>
            <a:noFill/>
            <a:ln w="38100" cap="flat" cmpd="sng" algn="ctr">
              <a:solidFill>
                <a:srgbClr val="35742A"/>
              </a:solidFill>
              <a:prstDash val="solid"/>
              <a:round/>
              <a:headEnd type="triangle" w="med" len="med"/>
              <a:tailEnd type="triangle" w="med" len="med"/>
            </a:ln>
            <a:effectLst/>
          </p:spPr>
        </p:cxnSp>
        <p:sp>
          <p:nvSpPr>
            <p:cNvPr id="52" name="矩形 51"/>
            <p:cNvSpPr/>
            <p:nvPr/>
          </p:nvSpPr>
          <p:spPr>
            <a:xfrm>
              <a:off x="4918877" y="5984809"/>
              <a:ext cx="1407758" cy="276999"/>
            </a:xfrm>
            <a:prstGeom prst="rect">
              <a:avLst/>
            </a:prstGeom>
          </p:spPr>
          <p:txBody>
            <a:bodyPr wrap="none">
              <a:spAutoFit/>
            </a:bodyPr>
            <a:lstStyle/>
            <a:p>
              <a:pPr fontAlgn="base">
                <a:spcBef>
                  <a:spcPct val="0"/>
                </a:spcBef>
                <a:spcAft>
                  <a:spcPct val="0"/>
                </a:spcAft>
              </a:pPr>
              <a:r>
                <a:rPr lang="zh-CN" altLang="en-US" sz="1200" b="1" dirty="0">
                  <a:solidFill>
                    <a:srgbClr val="000000"/>
                  </a:solidFill>
                  <a:latin typeface="Microsoft YaHei UI Light" panose="020B0502040204020203" pitchFamily="34" charset="-122"/>
                  <a:ea typeface="微软雅黑 Light" panose="020B0502040204020203" pitchFamily="34" charset="-122"/>
                </a:rPr>
                <a:t>人工智能</a:t>
              </a:r>
              <a:r>
                <a:rPr lang="en-US" altLang="zh-CN" sz="1200" b="1" dirty="0">
                  <a:solidFill>
                    <a:srgbClr val="000000"/>
                  </a:solidFill>
                  <a:latin typeface="Microsoft YaHei UI Light" panose="020B0502040204020203" pitchFamily="34" charset="-122"/>
                  <a:ea typeface="微软雅黑 Light" panose="020B0502040204020203" pitchFamily="34" charset="-122"/>
                </a:rPr>
                <a:t>2.0 </a:t>
              </a:r>
              <a:r>
                <a:rPr lang="zh-CN" altLang="en-US" sz="1200" b="1" dirty="0">
                  <a:solidFill>
                    <a:srgbClr val="000000"/>
                  </a:solidFill>
                  <a:latin typeface="Microsoft YaHei UI Light" panose="020B0502040204020203" pitchFamily="34" charset="-122"/>
                  <a:ea typeface="微软雅黑 Light" panose="020B0502040204020203" pitchFamily="34" charset="-122"/>
                </a:rPr>
                <a:t>时代 </a:t>
              </a:r>
              <a:endParaRPr lang="en-US" altLang="zh-CN" sz="1200" b="1" dirty="0">
                <a:solidFill>
                  <a:srgbClr val="000000"/>
                </a:solidFill>
                <a:latin typeface="Microsoft YaHei UI Light" panose="020B0502040204020203" pitchFamily="34" charset="-122"/>
                <a:ea typeface="微软雅黑 Light" panose="020B0502040204020203" pitchFamily="34" charset="-122"/>
              </a:endParaRPr>
            </a:p>
          </p:txBody>
        </p:sp>
        <p:sp>
          <p:nvSpPr>
            <p:cNvPr id="53" name="矩形 52"/>
            <p:cNvSpPr/>
            <p:nvPr/>
          </p:nvSpPr>
          <p:spPr>
            <a:xfrm>
              <a:off x="910288" y="5984809"/>
              <a:ext cx="1407758" cy="276999"/>
            </a:xfrm>
            <a:prstGeom prst="rect">
              <a:avLst/>
            </a:prstGeom>
          </p:spPr>
          <p:txBody>
            <a:bodyPr wrap="none">
              <a:spAutoFit/>
            </a:bodyPr>
            <a:lstStyle/>
            <a:p>
              <a:pPr fontAlgn="base">
                <a:spcBef>
                  <a:spcPct val="0"/>
                </a:spcBef>
                <a:spcAft>
                  <a:spcPct val="0"/>
                </a:spcAft>
              </a:pPr>
              <a:r>
                <a:rPr lang="zh-CN" altLang="en-US" sz="1200" b="1" dirty="0">
                  <a:solidFill>
                    <a:srgbClr val="000000"/>
                  </a:solidFill>
                  <a:latin typeface="Microsoft YaHei UI Light" panose="020B0502040204020203" pitchFamily="34" charset="-122"/>
                  <a:ea typeface="微软雅黑 Light" panose="020B0502040204020203" pitchFamily="34" charset="-122"/>
                </a:rPr>
                <a:t>人工智能</a:t>
              </a:r>
              <a:r>
                <a:rPr lang="en-US" altLang="zh-CN" sz="1200" b="1" dirty="0">
                  <a:solidFill>
                    <a:srgbClr val="000000"/>
                  </a:solidFill>
                  <a:latin typeface="Microsoft YaHei UI Light" panose="020B0502040204020203" pitchFamily="34" charset="-122"/>
                  <a:ea typeface="微软雅黑 Light" panose="020B0502040204020203" pitchFamily="34" charset="-122"/>
                </a:rPr>
                <a:t>1.0 </a:t>
              </a:r>
              <a:r>
                <a:rPr lang="zh-CN" altLang="en-US" sz="1200" b="1" dirty="0">
                  <a:solidFill>
                    <a:srgbClr val="000000"/>
                  </a:solidFill>
                  <a:latin typeface="Microsoft YaHei UI Light" panose="020B0502040204020203" pitchFamily="34" charset="-122"/>
                  <a:ea typeface="微软雅黑 Light" panose="020B0502040204020203" pitchFamily="34" charset="-122"/>
                </a:rPr>
                <a:t>时代 </a:t>
              </a:r>
              <a:endParaRPr lang="en-US" altLang="zh-CN" sz="1200" b="1" dirty="0">
                <a:solidFill>
                  <a:srgbClr val="000000"/>
                </a:solidFill>
                <a:latin typeface="Microsoft YaHei UI Light" panose="020B0502040204020203" pitchFamily="34" charset="-122"/>
                <a:ea typeface="微软雅黑 Light" panose="020B0502040204020203" pitchFamily="34" charset="-122"/>
              </a:endParaRPr>
            </a:p>
          </p:txBody>
        </p:sp>
      </p:grpSp>
      <p:sp>
        <p:nvSpPr>
          <p:cNvPr id="54" name="文本框 53"/>
          <p:cNvSpPr txBox="1"/>
          <p:nvPr/>
        </p:nvSpPr>
        <p:spPr>
          <a:xfrm>
            <a:off x="40139" y="6252445"/>
            <a:ext cx="6398061" cy="276999"/>
          </a:xfrm>
          <a:prstGeom prst="rect">
            <a:avLst/>
          </a:prstGeom>
          <a:noFill/>
        </p:spPr>
        <p:txBody>
          <a:bodyPr wrap="square" rtlCol="0">
            <a:spAutoFit/>
          </a:bodyPr>
          <a:lstStyle/>
          <a:p>
            <a:pPr fontAlgn="base">
              <a:spcBef>
                <a:spcPct val="0"/>
              </a:spcBef>
              <a:spcAft>
                <a:spcPct val="0"/>
              </a:spcAft>
            </a:pPr>
            <a:r>
              <a:rPr lang="zh-CN" altLang="en-US" sz="1200" i="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引自</a:t>
            </a:r>
            <a:r>
              <a:rPr lang="en-US" altLang="zh-CN" sz="1200" i="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Prof. </a:t>
            </a:r>
            <a:r>
              <a:rPr lang="en-US" altLang="zh-CN" sz="1200" i="1" dirty="0" err="1">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Meina</a:t>
            </a:r>
            <a:r>
              <a:rPr lang="en-US" altLang="zh-CN" sz="1200" i="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 </a:t>
            </a:r>
            <a:r>
              <a:rPr lang="en-US" altLang="zh-CN" sz="1200" i="1" dirty="0" err="1">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Kan</a:t>
            </a:r>
            <a:r>
              <a:rPr lang="en-US" altLang="zh-CN" sz="1200" i="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 PHD Student Xin Liu and </a:t>
            </a:r>
            <a:r>
              <a:rPr lang="en-US" altLang="zh-CN" sz="1200" i="1" dirty="0" err="1">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Shuzhe</a:t>
            </a:r>
            <a:r>
              <a:rPr lang="en-US" altLang="zh-CN" sz="1200" i="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rPr>
              <a:t> Wu</a:t>
            </a:r>
            <a:endParaRPr lang="zh-CN" altLang="en-US" sz="1200" i="1" dirty="0">
              <a:solidFill>
                <a:srgbClr val="000000"/>
              </a:solidFill>
              <a:latin typeface="Microsoft YaHei UI Light" panose="020B0502040204020203" pitchFamily="34" charset="-122"/>
              <a:ea typeface="微软雅黑 Light" panose="020B0502040204020203" pitchFamily="3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本章提纲</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8" name="内容占位符 2"/>
          <p:cNvSpPr txBox="1"/>
          <p:nvPr/>
        </p:nvSpPr>
        <p:spPr>
          <a:xfrm>
            <a:off x="845420" y="806353"/>
            <a:ext cx="7288254" cy="575327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Ø"/>
            </a:pPr>
            <a:r>
              <a:rPr lang="zh-CN" altLang="en-US" u="sng" dirty="0">
                <a:latin typeface="Microsoft YaHei UI Light" panose="020B0502040204020203" pitchFamily="34" charset="-122"/>
                <a:cs typeface="+mn-ea"/>
                <a:sym typeface="+mn-lt"/>
              </a:rPr>
              <a:t>适合图像处理的卷积神经网络</a:t>
            </a:r>
            <a:endParaRPr lang="en-US" altLang="zh-CN" u="sng" dirty="0">
              <a:latin typeface="Microsoft YaHei UI Light" panose="020B0502040204020203" pitchFamily="34" charset="-122"/>
              <a:cs typeface="+mn-ea"/>
              <a:sym typeface="+mn-lt"/>
            </a:endParaRPr>
          </a:p>
          <a:p>
            <a:pPr marL="342900" indent="-342900" algn="l">
              <a:lnSpc>
                <a:spcPct val="150000"/>
              </a:lnSpc>
              <a:buFont typeface="Wingdings" panose="05000000000000000000" pitchFamily="2" charset="2"/>
              <a:buChar char="Ø"/>
            </a:pPr>
            <a:r>
              <a:rPr lang="zh-CN" altLang="en-US" dirty="0">
                <a:latin typeface="Microsoft YaHei UI Light" panose="020B0502040204020203" pitchFamily="34" charset="-122"/>
                <a:cs typeface="+mn-ea"/>
                <a:sym typeface="+mn-lt"/>
              </a:rPr>
              <a:t>基于</a:t>
            </a:r>
            <a:r>
              <a:rPr lang="en-US" altLang="zh-CN" dirty="0">
                <a:latin typeface="Microsoft YaHei UI Light" panose="020B0502040204020203" pitchFamily="34" charset="-122"/>
                <a:cs typeface="+mn-ea"/>
                <a:sym typeface="+mn-lt"/>
              </a:rPr>
              <a:t>CNN</a:t>
            </a:r>
            <a:r>
              <a:rPr lang="zh-CN" altLang="en-US" dirty="0">
                <a:latin typeface="Microsoft YaHei UI Light" panose="020B0502040204020203" pitchFamily="34" charset="-122"/>
                <a:cs typeface="+mn-ea"/>
                <a:sym typeface="+mn-lt"/>
              </a:rPr>
              <a:t>的图像分类算法</a:t>
            </a:r>
            <a:endParaRPr lang="en-US" altLang="zh-CN" dirty="0">
              <a:latin typeface="Microsoft YaHei UI Light" panose="020B0502040204020203" pitchFamily="34" charset="-122"/>
              <a:cs typeface="+mn-ea"/>
              <a:sym typeface="+mn-lt"/>
            </a:endParaRPr>
          </a:p>
          <a:p>
            <a:pPr marL="342900" indent="-342900" algn="l">
              <a:lnSpc>
                <a:spcPct val="150000"/>
              </a:lnSpc>
              <a:buFont typeface="Wingdings" panose="05000000000000000000" pitchFamily="2" charset="2"/>
              <a:buChar char="Ø"/>
            </a:pPr>
            <a:r>
              <a:rPr lang="zh-CN" altLang="en-US" dirty="0">
                <a:latin typeface="Microsoft YaHei UI Light" panose="020B0502040204020203" pitchFamily="34" charset="-122"/>
                <a:cs typeface="+mn-ea"/>
                <a:sym typeface="+mn-lt"/>
              </a:rPr>
              <a:t>基于</a:t>
            </a:r>
            <a:r>
              <a:rPr lang="en-US" altLang="zh-CN" dirty="0">
                <a:latin typeface="Microsoft YaHei UI Light" panose="020B0502040204020203" pitchFamily="34" charset="-122"/>
                <a:cs typeface="+mn-ea"/>
                <a:sym typeface="+mn-lt"/>
              </a:rPr>
              <a:t>CNN</a:t>
            </a:r>
            <a:r>
              <a:rPr lang="zh-CN" altLang="en-US" dirty="0">
                <a:latin typeface="Microsoft YaHei UI Light" panose="020B0502040204020203" pitchFamily="34" charset="-122"/>
                <a:cs typeface="+mn-ea"/>
                <a:sym typeface="+mn-lt"/>
              </a:rPr>
              <a:t>的图像检测算法</a:t>
            </a:r>
            <a:endParaRPr lang="en-US" altLang="zh-CN" dirty="0">
              <a:latin typeface="Microsoft YaHei UI Light" panose="020B0502040204020203" pitchFamily="34" charset="-122"/>
              <a:cs typeface="+mn-ea"/>
              <a:sym typeface="+mn-lt"/>
            </a:endParaRPr>
          </a:p>
          <a:p>
            <a:pPr marL="342900" indent="-342900" algn="l">
              <a:lnSpc>
                <a:spcPct val="150000"/>
              </a:lnSpc>
              <a:buFont typeface="Wingdings" panose="05000000000000000000" pitchFamily="2" charset="2"/>
              <a:buChar char="Ø"/>
            </a:pPr>
            <a:endParaRPr lang="en-US" altLang="zh-CN" dirty="0">
              <a:latin typeface="Microsoft YaHei UI Light" panose="020B0502040204020203" pitchFamily="34" charset="-122"/>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一个例子</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计算机视觉</a:t>
            </a:r>
            <a:endParaRPr lang="en-US" altLang="zh-CN" sz="2800" b="1" dirty="0"/>
          </a:p>
        </p:txBody>
      </p:sp>
      <p:grpSp>
        <p:nvGrpSpPr>
          <p:cNvPr id="28" name="组合 27"/>
          <p:cNvGrpSpPr/>
          <p:nvPr/>
        </p:nvGrpSpPr>
        <p:grpSpPr>
          <a:xfrm>
            <a:off x="1525453" y="1500722"/>
            <a:ext cx="8625937" cy="3625955"/>
            <a:chOff x="806412" y="2510117"/>
            <a:chExt cx="7757075" cy="3186212"/>
          </a:xfrm>
        </p:grpSpPr>
        <p:pic>
          <p:nvPicPr>
            <p:cNvPr id="30" name="Picture 2" descr="https://ss0.bdstatic.com/70cFvHSh_Q1YnxGkpoWK1HF6hhy/it/u=2583594870,4039553926&amp;fm=26&amp;gp=0.jpg"/>
            <p:cNvPicPr>
              <a:picLocks noChangeAspect="1" noChangeArrowheads="1"/>
            </p:cNvPicPr>
            <p:nvPr/>
          </p:nvPicPr>
          <p:blipFill rotWithShape="1">
            <a:blip r:embed="rId5">
              <a:extLst>
                <a:ext uri="{28A0092B-C50C-407E-A947-70E740481C1C}">
                  <a14:useLocalDpi xmlns:a14="http://schemas.microsoft.com/office/drawing/2010/main" val="0"/>
                </a:ext>
              </a:extLst>
            </a:blip>
            <a:srcRect l="-61" r="-1" b="10998"/>
            <a:stretch>
              <a:fillRect/>
            </a:stretch>
          </p:blipFill>
          <p:spPr bwMode="auto">
            <a:xfrm>
              <a:off x="3353214" y="2510117"/>
              <a:ext cx="5210273" cy="2518726"/>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直接箭头连接符 30"/>
            <p:cNvCxnSpPr/>
            <p:nvPr/>
          </p:nvCxnSpPr>
          <p:spPr>
            <a:xfrm>
              <a:off x="2375649" y="3769480"/>
              <a:ext cx="762000" cy="0"/>
            </a:xfrm>
            <a:prstGeom prst="straightConnector1">
              <a:avLst/>
            </a:prstGeom>
            <a:noFill/>
            <a:ln w="28575" cap="flat" cmpd="sng">
              <a:solidFill>
                <a:schemeClr val="tx2">
                  <a:lumMod val="60000"/>
                  <a:lumOff val="40000"/>
                </a:schemeClr>
              </a:solidFill>
              <a:prstDash val="solid"/>
              <a:round/>
              <a:tailEnd type="triangle" w="lg" len="lg"/>
            </a:ln>
            <a:effectLst/>
          </p:spPr>
        </p:cxnSp>
        <p:pic>
          <p:nvPicPr>
            <p:cNvPr id="32" name="Picture 6" descr="https://ss1.bdstatic.com/70cFvXSh_Q1YnxGkpoWK1HF6hhy/it/u=3632789765,2546969310&amp;fm=200&amp;gp=0.jpg"/>
            <p:cNvPicPr>
              <a:picLocks noChangeAspect="1" noChangeArrowheads="1"/>
            </p:cNvPicPr>
            <p:nvPr/>
          </p:nvPicPr>
          <p:blipFill rotWithShape="1">
            <a:blip r:embed="rId6">
              <a:extLst>
                <a:ext uri="{28A0092B-C50C-407E-A947-70E740481C1C}">
                  <a14:useLocalDpi xmlns:a14="http://schemas.microsoft.com/office/drawing/2010/main" val="0"/>
                </a:ext>
              </a:extLst>
            </a:blip>
            <a:srcRect l="22889" t="3607" r="18561" b="11036"/>
            <a:stretch>
              <a:fillRect/>
            </a:stretch>
          </p:blipFill>
          <p:spPr bwMode="auto">
            <a:xfrm>
              <a:off x="806412" y="3112330"/>
              <a:ext cx="1353672" cy="1314303"/>
            </a:xfrm>
            <a:prstGeom prst="rect">
              <a:avLst/>
            </a:prstGeom>
            <a:noFill/>
            <a:extLst>
              <a:ext uri="{909E8E84-426E-40DD-AFC4-6F175D3DCCD1}">
                <a14:hiddenFill xmlns:a14="http://schemas.microsoft.com/office/drawing/2010/main">
                  <a:solidFill>
                    <a:srgbClr val="FFFFFF"/>
                  </a:solidFill>
                </a14:hiddenFill>
              </a:ext>
            </a:extLst>
          </p:spPr>
        </p:pic>
        <p:sp>
          <p:nvSpPr>
            <p:cNvPr id="34" name="文本框 33"/>
            <p:cNvSpPr txBox="1"/>
            <p:nvPr/>
          </p:nvSpPr>
          <p:spPr>
            <a:xfrm>
              <a:off x="929247" y="4656645"/>
              <a:ext cx="1219651" cy="42318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输入图像</a:t>
              </a:r>
            </a:p>
          </p:txBody>
        </p:sp>
        <p:sp>
          <p:nvSpPr>
            <p:cNvPr id="35" name="文本框 34"/>
            <p:cNvSpPr txBox="1"/>
            <p:nvPr/>
          </p:nvSpPr>
          <p:spPr>
            <a:xfrm>
              <a:off x="3986016" y="5273147"/>
              <a:ext cx="711463" cy="42318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输入</a:t>
              </a:r>
            </a:p>
          </p:txBody>
        </p:sp>
        <p:sp>
          <p:nvSpPr>
            <p:cNvPr id="36" name="文本框 35"/>
            <p:cNvSpPr txBox="1"/>
            <p:nvPr/>
          </p:nvSpPr>
          <p:spPr>
            <a:xfrm>
              <a:off x="5588449" y="5273147"/>
              <a:ext cx="711463" cy="42318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隐层</a:t>
              </a:r>
            </a:p>
          </p:txBody>
        </p:sp>
        <p:sp>
          <p:nvSpPr>
            <p:cNvPr id="37" name="文本框 36"/>
            <p:cNvSpPr txBox="1"/>
            <p:nvPr/>
          </p:nvSpPr>
          <p:spPr>
            <a:xfrm>
              <a:off x="7073991" y="5273147"/>
              <a:ext cx="965556" cy="42318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输出层</a:t>
              </a:r>
            </a:p>
          </p:txBody>
        </p:sp>
      </p:grpSp>
      <p:sp>
        <p:nvSpPr>
          <p:cNvPr id="38" name="文本框 37"/>
          <p:cNvSpPr txBox="1"/>
          <p:nvPr/>
        </p:nvSpPr>
        <p:spPr>
          <a:xfrm>
            <a:off x="1024408" y="5252836"/>
            <a:ext cx="9948392" cy="12003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400" dirty="0">
                <a:latin typeface="Microsoft YaHei UI Light" panose="020B0502040204020203" pitchFamily="34" charset="-122"/>
                <a:ea typeface="微软雅黑 Light" panose="020B0502040204020203" pitchFamily="34" charset="-122"/>
                <a:cs typeface="+mn-ea"/>
                <a:sym typeface="+mn-lt"/>
              </a:rPr>
              <a:t>输入图像大小为 </a:t>
            </a:r>
            <a:r>
              <a:rPr lang="en-US" altLang="zh-CN" sz="2400" dirty="0">
                <a:latin typeface="Microsoft YaHei UI Light" panose="020B0502040204020203" pitchFamily="34" charset="-122"/>
                <a:ea typeface="微软雅黑 Light" panose="020B0502040204020203" pitchFamily="34" charset="-122"/>
                <a:cs typeface="+mn-ea"/>
                <a:sym typeface="+mn-lt"/>
              </a:rPr>
              <a:t>32x32</a:t>
            </a:r>
            <a:r>
              <a:rPr lang="zh-CN" altLang="en-US" sz="2400" dirty="0">
                <a:latin typeface="Microsoft YaHei UI Light" panose="020B0502040204020203" pitchFamily="34" charset="-122"/>
                <a:ea typeface="微软雅黑 Light" panose="020B0502040204020203" pitchFamily="34" charset="-122"/>
                <a:cs typeface="+mn-ea"/>
                <a:sym typeface="+mn-lt"/>
              </a:rPr>
              <a:t>，输入数据量为 </a:t>
            </a:r>
            <a:r>
              <a:rPr lang="en-US" altLang="zh-CN" sz="2400" dirty="0">
                <a:latin typeface="Microsoft YaHei UI Light" panose="020B0502040204020203" pitchFamily="34" charset="-122"/>
                <a:ea typeface="微软雅黑 Light" panose="020B0502040204020203" pitchFamily="34" charset="-122"/>
                <a:cs typeface="+mn-ea"/>
                <a:sym typeface="+mn-lt"/>
              </a:rPr>
              <a:t>32x32x3 = 3072</a:t>
            </a:r>
          </a:p>
          <a:p>
            <a:pPr marL="285750" indent="-285750">
              <a:lnSpc>
                <a:spcPct val="150000"/>
              </a:lnSpc>
              <a:buFont typeface="Arial" panose="020B0604020202020204" pitchFamily="34" charset="0"/>
              <a:buChar char="•"/>
            </a:pPr>
            <a:r>
              <a:rPr lang="zh-CN" altLang="en-US" sz="2400" dirty="0">
                <a:latin typeface="Microsoft YaHei UI Light" panose="020B0502040204020203" pitchFamily="34" charset="-122"/>
                <a:ea typeface="微软雅黑 Light" panose="020B0502040204020203" pitchFamily="34" charset="-122"/>
                <a:cs typeface="+mn-ea"/>
                <a:sym typeface="+mn-lt"/>
              </a:rPr>
              <a:t>隐层神经元个数为 </a:t>
            </a:r>
            <a:r>
              <a:rPr lang="en-US" altLang="zh-CN" sz="2400" dirty="0">
                <a:latin typeface="Microsoft YaHei UI Light" panose="020B0502040204020203" pitchFamily="34" charset="-122"/>
                <a:ea typeface="微软雅黑 Light" panose="020B0502040204020203" pitchFamily="34" charset="-122"/>
                <a:cs typeface="+mn-ea"/>
                <a:sym typeface="+mn-lt"/>
              </a:rPr>
              <a:t>100</a:t>
            </a:r>
            <a:r>
              <a:rPr lang="zh-CN" altLang="en-US" sz="2400" dirty="0">
                <a:latin typeface="Microsoft YaHei UI Light" panose="020B0502040204020203" pitchFamily="34" charset="-122"/>
                <a:ea typeface="微软雅黑 Light" panose="020B0502040204020203" pitchFamily="34" charset="-122"/>
                <a:cs typeface="+mn-ea"/>
                <a:sym typeface="+mn-lt"/>
              </a:rPr>
              <a:t>，第一层权值数量为</a:t>
            </a:r>
            <a:r>
              <a:rPr lang="en-US" altLang="zh-CN" sz="2400" dirty="0">
                <a:latin typeface="Microsoft YaHei UI Light" panose="020B0502040204020203" pitchFamily="34" charset="-122"/>
                <a:ea typeface="微软雅黑 Light" panose="020B0502040204020203" pitchFamily="34" charset="-122"/>
                <a:cs typeface="+mn-ea"/>
                <a:sym typeface="+mn-lt"/>
              </a:rPr>
              <a:t> 3072 x100 = 307200</a:t>
            </a:r>
            <a:endParaRPr lang="zh-CN" altLang="en-US" sz="24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一个例子</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计算机视觉</a:t>
            </a:r>
            <a:endParaRPr lang="en-US" altLang="zh-CN" sz="2800" b="1" dirty="0"/>
          </a:p>
        </p:txBody>
      </p:sp>
      <p:sp>
        <p:nvSpPr>
          <p:cNvPr id="18" name="内容占位符 2"/>
          <p:cNvSpPr txBox="1"/>
          <p:nvPr/>
        </p:nvSpPr>
        <p:spPr>
          <a:xfrm>
            <a:off x="679083" y="1332708"/>
            <a:ext cx="7992888" cy="672948"/>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a:latin typeface="Microsoft YaHei UI Light" panose="020B0502040204020203" pitchFamily="34" charset="-122"/>
                <a:cs typeface="+mn-ea"/>
                <a:sym typeface="+mn-lt"/>
              </a:rPr>
              <a:t>实际场景中，往往需要更大的输入图像以及更深的网络结构。</a:t>
            </a:r>
            <a:endParaRPr lang="en-US" altLang="zh-CN" dirty="0">
              <a:latin typeface="Microsoft YaHei UI Light" panose="020B0502040204020203" pitchFamily="34" charset="-122"/>
              <a:cs typeface="+mn-ea"/>
              <a:sym typeface="+mn-lt"/>
            </a:endParaRPr>
          </a:p>
        </p:txBody>
      </p:sp>
      <p:sp>
        <p:nvSpPr>
          <p:cNvPr id="19" name="文本框 18"/>
          <p:cNvSpPr txBox="1"/>
          <p:nvPr/>
        </p:nvSpPr>
        <p:spPr>
          <a:xfrm>
            <a:off x="1195246" y="5010850"/>
            <a:ext cx="9359099" cy="14773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输入图像大小为 </a:t>
            </a:r>
            <a:r>
              <a:rPr lang="en-US" altLang="zh-CN" sz="2000" dirty="0">
                <a:latin typeface="Microsoft YaHei UI Light" panose="020B0502040204020203" pitchFamily="34" charset="-122"/>
                <a:ea typeface="微软雅黑 Light" panose="020B0502040204020203" pitchFamily="34" charset="-122"/>
                <a:cs typeface="+mn-ea"/>
                <a:sym typeface="+mn-lt"/>
              </a:rPr>
              <a:t>1024x1024</a:t>
            </a:r>
            <a:r>
              <a:rPr lang="zh-CN" altLang="en-US" sz="2000" dirty="0">
                <a:latin typeface="Microsoft YaHei UI Light" panose="020B0502040204020203" pitchFamily="34" charset="-122"/>
                <a:ea typeface="微软雅黑 Light" panose="020B0502040204020203" pitchFamily="34" charset="-122"/>
                <a:cs typeface="+mn-ea"/>
                <a:sym typeface="+mn-lt"/>
              </a:rPr>
              <a:t>，第一层隐层神经元个数为 </a:t>
            </a:r>
            <a:r>
              <a:rPr lang="en-US" altLang="zh-CN" sz="2000" dirty="0">
                <a:latin typeface="Microsoft YaHei UI Light" panose="020B0502040204020203" pitchFamily="34" charset="-122"/>
                <a:ea typeface="微软雅黑 Light" panose="020B0502040204020203" pitchFamily="34" charset="-122"/>
                <a:cs typeface="+mn-ea"/>
                <a:sym typeface="+mn-lt"/>
              </a:rPr>
              <a:t>1000</a:t>
            </a:r>
            <a:r>
              <a:rPr lang="zh-CN" altLang="en-US" sz="2000" dirty="0">
                <a:latin typeface="Microsoft YaHei UI Light" panose="020B0502040204020203" pitchFamily="34" charset="-122"/>
                <a:ea typeface="微软雅黑 Light" panose="020B0502040204020203" pitchFamily="34" charset="-122"/>
                <a:cs typeface="+mn-ea"/>
                <a:sym typeface="+mn-lt"/>
              </a:rPr>
              <a:t>；</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第一层权值数量级为</a:t>
            </a:r>
            <a:r>
              <a:rPr lang="en-US" altLang="zh-CN" sz="2000" dirty="0">
                <a:latin typeface="Microsoft YaHei UI Light" panose="020B0502040204020203" pitchFamily="34" charset="-122"/>
                <a:ea typeface="微软雅黑 Light" panose="020B0502040204020203" pitchFamily="34" charset="-122"/>
                <a:cs typeface="+mn-ea"/>
                <a:sym typeface="+mn-lt"/>
              </a:rPr>
              <a:t> 10^9</a:t>
            </a:r>
            <a:r>
              <a:rPr lang="zh-CN" altLang="en-US" sz="2000" dirty="0">
                <a:latin typeface="Microsoft YaHei UI Light" panose="020B0502040204020203" pitchFamily="34" charset="-122"/>
                <a:ea typeface="微软雅黑 Light" panose="020B0502040204020203" pitchFamily="34" charset="-122"/>
                <a:cs typeface="+mn-ea"/>
                <a:sym typeface="+mn-lt"/>
              </a:rPr>
              <a:t>，过多的参数会导致</a:t>
            </a:r>
            <a:r>
              <a:rPr lang="zh-CN" altLang="en-US" sz="2000" b="1" dirty="0">
                <a:latin typeface="Microsoft YaHei UI Light" panose="020B0502040204020203" pitchFamily="34" charset="-122"/>
                <a:ea typeface="微软雅黑 Light" panose="020B0502040204020203" pitchFamily="34" charset="-122"/>
                <a:cs typeface="+mn-ea"/>
                <a:sym typeface="+mn-lt"/>
              </a:rPr>
              <a:t>过拟合</a:t>
            </a:r>
            <a:r>
              <a:rPr lang="zh-CN" altLang="en-US" sz="2000" dirty="0">
                <a:latin typeface="Microsoft YaHei UI Light" panose="020B0502040204020203" pitchFamily="34" charset="-122"/>
                <a:ea typeface="微软雅黑 Light" panose="020B0502040204020203" pitchFamily="34" charset="-122"/>
                <a:cs typeface="+mn-ea"/>
                <a:sym typeface="+mn-lt"/>
              </a:rPr>
              <a:t>。</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000" b="1" dirty="0">
                <a:latin typeface="Microsoft YaHei UI Light" panose="020B0502040204020203" pitchFamily="34" charset="-122"/>
                <a:ea typeface="微软雅黑 Light" panose="020B0502040204020203" pitchFamily="34" charset="-122"/>
                <a:cs typeface="+mn-ea"/>
                <a:sym typeface="+mn-lt"/>
              </a:rPr>
              <a:t>卷积神经网络</a:t>
            </a:r>
            <a:r>
              <a:rPr lang="zh-CN" altLang="en-US" sz="2000" dirty="0">
                <a:latin typeface="Microsoft YaHei UI Light" panose="020B0502040204020203" pitchFamily="34" charset="-122"/>
                <a:ea typeface="微软雅黑 Light" panose="020B0502040204020203" pitchFamily="34" charset="-122"/>
                <a:cs typeface="+mn-ea"/>
                <a:sym typeface="+mn-lt"/>
              </a:rPr>
              <a:t>可以有效减少权值数量。</a:t>
            </a:r>
          </a:p>
        </p:txBody>
      </p:sp>
      <p:grpSp>
        <p:nvGrpSpPr>
          <p:cNvPr id="20" name="组合 19"/>
          <p:cNvGrpSpPr/>
          <p:nvPr/>
        </p:nvGrpSpPr>
        <p:grpSpPr>
          <a:xfrm>
            <a:off x="1883563" y="2055802"/>
            <a:ext cx="7508409" cy="2955048"/>
            <a:chOff x="992025" y="2336995"/>
            <a:chExt cx="7740327" cy="2741266"/>
          </a:xfrm>
        </p:grpSpPr>
        <p:cxnSp>
          <p:nvCxnSpPr>
            <p:cNvPr id="21" name="直接箭头连接符 20"/>
            <p:cNvCxnSpPr/>
            <p:nvPr/>
          </p:nvCxnSpPr>
          <p:spPr>
            <a:xfrm>
              <a:off x="2312894" y="3378935"/>
              <a:ext cx="517751" cy="0"/>
            </a:xfrm>
            <a:prstGeom prst="straightConnector1">
              <a:avLst/>
            </a:prstGeom>
            <a:noFill/>
            <a:ln w="28575" cap="flat" cmpd="sng">
              <a:solidFill>
                <a:schemeClr val="tx2">
                  <a:lumMod val="60000"/>
                  <a:lumOff val="40000"/>
                </a:schemeClr>
              </a:solidFill>
              <a:prstDash val="solid"/>
              <a:round/>
              <a:tailEnd type="triangle" w="lg" len="lg"/>
            </a:ln>
            <a:effectLst/>
          </p:spPr>
        </p:cxnSp>
        <p:pic>
          <p:nvPicPr>
            <p:cNvPr id="22" name="Picture 6" descr="https://ss1.bdstatic.com/70cFvXSh_Q1YnxGkpoWK1HF6hhy/it/u=3632789765,2546969310&amp;fm=200&amp;gp=0.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2889" t="3607" r="18561" b="11036"/>
            <a:stretch>
              <a:fillRect/>
            </a:stretch>
          </p:blipFill>
          <p:spPr bwMode="auto">
            <a:xfrm>
              <a:off x="992025" y="2805406"/>
              <a:ext cx="1229748" cy="1147058"/>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p:cNvSpPr txBox="1"/>
            <p:nvPr/>
          </p:nvSpPr>
          <p:spPr>
            <a:xfrm>
              <a:off x="1052901" y="4113488"/>
              <a:ext cx="1225683" cy="38700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输入图像</a:t>
              </a:r>
            </a:p>
          </p:txBody>
        </p:sp>
        <p:sp>
          <p:nvSpPr>
            <p:cNvPr id="24" name="文本框 23"/>
            <p:cNvSpPr txBox="1"/>
            <p:nvPr/>
          </p:nvSpPr>
          <p:spPr>
            <a:xfrm>
              <a:off x="3547431" y="4667760"/>
              <a:ext cx="714982" cy="38700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输入</a:t>
              </a:r>
            </a:p>
          </p:txBody>
        </p:sp>
        <p:sp>
          <p:nvSpPr>
            <p:cNvPr id="25" name="文本框 24"/>
            <p:cNvSpPr txBox="1"/>
            <p:nvPr/>
          </p:nvSpPr>
          <p:spPr>
            <a:xfrm>
              <a:off x="5387827" y="4691259"/>
              <a:ext cx="714982" cy="38700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隐层</a:t>
              </a:r>
            </a:p>
          </p:txBody>
        </p:sp>
        <p:sp>
          <p:nvSpPr>
            <p:cNvPr id="26" name="文本框 25"/>
            <p:cNvSpPr txBox="1"/>
            <p:nvPr/>
          </p:nvSpPr>
          <p:spPr>
            <a:xfrm>
              <a:off x="6737376" y="4691259"/>
              <a:ext cx="970332" cy="387002"/>
            </a:xfrm>
            <a:prstGeom prst="rect">
              <a:avLst/>
            </a:prstGeom>
            <a:noFill/>
          </p:spPr>
          <p:txBody>
            <a:bodyPr wrap="none" rtlCol="0">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输出层</a:t>
              </a:r>
            </a:p>
          </p:txBody>
        </p:sp>
        <p:pic>
          <p:nvPicPr>
            <p:cNvPr id="27" name="图片 26"/>
            <p:cNvPicPr>
              <a:picLocks noChangeAspect="1"/>
            </p:cNvPicPr>
            <p:nvPr/>
          </p:nvPicPr>
          <p:blipFill>
            <a:blip r:embed="rId6"/>
            <a:stretch>
              <a:fillRect/>
            </a:stretch>
          </p:blipFill>
          <p:spPr>
            <a:xfrm>
              <a:off x="2921766" y="2336995"/>
              <a:ext cx="5810586" cy="2297094"/>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CNN</a:t>
            </a:r>
            <a:r>
              <a:rPr lang="zh-CN" altLang="en-US" sz="2800" b="1" dirty="0"/>
              <a:t>（</a:t>
            </a:r>
            <a:r>
              <a:rPr lang="en-US" altLang="zh-CN" sz="2800" b="1" dirty="0"/>
              <a:t>Convolutional Neural Network</a:t>
            </a:r>
            <a:r>
              <a:rPr lang="zh-CN" altLang="en-US" sz="2800" b="1" dirty="0"/>
              <a:t>）</a:t>
            </a:r>
            <a:endParaRPr lang="en-US" altLang="zh-CN" sz="2800" b="1" dirty="0"/>
          </a:p>
        </p:txBody>
      </p:sp>
      <mc:AlternateContent xmlns:mc="http://schemas.openxmlformats.org/markup-compatibility/2006" xmlns:a14="http://schemas.microsoft.com/office/drawing/2010/main">
        <mc:Choice Requires="a14">
          <p:graphicFrame>
            <p:nvGraphicFramePr>
              <p:cNvPr id="8" name="表格 7"/>
              <p:cNvGraphicFramePr>
                <a:graphicFrameLocks noGrp="1"/>
              </p:cNvGraphicFramePr>
              <p:nvPr/>
            </p:nvGraphicFramePr>
            <p:xfrm>
              <a:off x="1874484" y="1360869"/>
              <a:ext cx="8205802" cy="5121270"/>
            </p:xfrm>
            <a:graphic>
              <a:graphicData uri="http://schemas.openxmlformats.org/drawingml/2006/table">
                <a:tbl>
                  <a:tblPr firstRow="1" bandRow="1">
                    <a:tableStyleId>{5940675A-B579-460E-94D1-54222C63F5DA}</a:tableStyleId>
                  </a:tblPr>
                  <a:tblGrid>
                    <a:gridCol w="432333">
                      <a:extLst>
                        <a:ext uri="{9D8B030D-6E8A-4147-A177-3AD203B41FA5}">
                          <a16:colId xmlns:a16="http://schemas.microsoft.com/office/drawing/2014/main" val="20000"/>
                        </a:ext>
                      </a:extLst>
                    </a:gridCol>
                    <a:gridCol w="3872753">
                      <a:extLst>
                        <a:ext uri="{9D8B030D-6E8A-4147-A177-3AD203B41FA5}">
                          <a16:colId xmlns:a16="http://schemas.microsoft.com/office/drawing/2014/main" val="20001"/>
                        </a:ext>
                      </a:extLst>
                    </a:gridCol>
                    <a:gridCol w="3900716">
                      <a:extLst>
                        <a:ext uri="{9D8B030D-6E8A-4147-A177-3AD203B41FA5}">
                          <a16:colId xmlns:a16="http://schemas.microsoft.com/office/drawing/2014/main" val="20002"/>
                        </a:ext>
                      </a:extLst>
                    </a:gridCol>
                  </a:tblGrid>
                  <a:tr h="356727">
                    <a:tc>
                      <a:txBody>
                        <a:bodyPr/>
                        <a:lstStyle/>
                        <a:p>
                          <a:pPr algn="ctr"/>
                          <a:endParaRPr lang="zh-CN" altLang="en-US" dirty="0">
                            <a:latin typeface="+mn-lt"/>
                            <a:ea typeface="+mn-ea"/>
                            <a:cs typeface="+mn-ea"/>
                            <a:sym typeface="+mn-lt"/>
                          </a:endParaRPr>
                        </a:p>
                      </a:txBody>
                      <a:tcPr/>
                    </a:tc>
                    <a:tc>
                      <a:txBody>
                        <a:bodyPr/>
                        <a:lstStyle/>
                        <a:p>
                          <a:pPr algn="ctr"/>
                          <a:r>
                            <a:rPr lang="zh-CN" altLang="en-US" dirty="0">
                              <a:latin typeface="+mn-lt"/>
                              <a:ea typeface="+mn-ea"/>
                              <a:cs typeface="+mn-ea"/>
                              <a:sym typeface="+mn-lt"/>
                            </a:rPr>
                            <a:t>全连接</a:t>
                          </a:r>
                        </a:p>
                      </a:txBody>
                      <a:tcPr/>
                    </a:tc>
                    <a:tc>
                      <a:txBody>
                        <a:bodyPr/>
                        <a:lstStyle/>
                        <a:p>
                          <a:pPr algn="ctr"/>
                          <a:r>
                            <a:rPr lang="zh-CN" altLang="en-US" dirty="0">
                              <a:latin typeface="+mn-lt"/>
                              <a:ea typeface="+mn-ea"/>
                              <a:cs typeface="+mn-ea"/>
                              <a:sym typeface="+mn-lt"/>
                            </a:rPr>
                            <a:t>卷积</a:t>
                          </a:r>
                        </a:p>
                      </a:txBody>
                      <a:tcPr/>
                    </a:tc>
                    <a:extLst>
                      <a:ext uri="{0D108BD9-81ED-4DB2-BD59-A6C34878D82A}">
                        <a16:rowId xmlns:a16="http://schemas.microsoft.com/office/drawing/2014/main" val="10000"/>
                      </a:ext>
                    </a:extLst>
                  </a:tr>
                  <a:tr h="2157423">
                    <a:tc>
                      <a:txBody>
                        <a:bodyPr/>
                        <a:lstStyle/>
                        <a:p>
                          <a:endParaRPr lang="en-US" altLang="zh-CN" dirty="0">
                            <a:latin typeface="+mn-lt"/>
                            <a:ea typeface="+mn-ea"/>
                            <a:cs typeface="+mn-ea"/>
                            <a:sym typeface="+mn-lt"/>
                          </a:endParaRPr>
                        </a:p>
                        <a:p>
                          <a:endParaRPr lang="en-US" altLang="zh-CN" dirty="0">
                            <a:latin typeface="+mn-lt"/>
                            <a:ea typeface="+mn-ea"/>
                            <a:cs typeface="+mn-ea"/>
                            <a:sym typeface="+mn-lt"/>
                          </a:endParaRPr>
                        </a:p>
                        <a:p>
                          <a:r>
                            <a:rPr lang="zh-CN" altLang="en-US" dirty="0">
                              <a:latin typeface="+mn-lt"/>
                              <a:ea typeface="+mn-ea"/>
                              <a:cs typeface="+mn-ea"/>
                              <a:sym typeface="+mn-lt"/>
                            </a:rPr>
                            <a:t>局部连接</a:t>
                          </a:r>
                        </a:p>
                      </a:txBody>
                      <a:tcPr/>
                    </a:tc>
                    <a:tc>
                      <a:txBody>
                        <a:bodyPr/>
                        <a:lstStyle/>
                        <a:p>
                          <a:endParaRPr lang="zh-CN" altLang="en-US" dirty="0">
                            <a:latin typeface="+mn-lt"/>
                            <a:ea typeface="+mn-ea"/>
                            <a:cs typeface="+mn-ea"/>
                            <a:sym typeface="+mn-lt"/>
                          </a:endParaRPr>
                        </a:p>
                      </a:txBody>
                      <a:tcPr/>
                    </a:tc>
                    <a:tc>
                      <a:txBody>
                        <a:bodyPr/>
                        <a:lstStyle/>
                        <a:p>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1349541">
                    <a:tc>
                      <a:txBody>
                        <a:bodyPr/>
                        <a:lstStyle/>
                        <a:p>
                          <a:r>
                            <a:rPr lang="zh-CN" altLang="en-US" dirty="0">
                              <a:latin typeface="+mn-lt"/>
                              <a:ea typeface="+mn-ea"/>
                              <a:cs typeface="+mn-ea"/>
                              <a:sym typeface="+mn-lt"/>
                            </a:rPr>
                            <a:t>权值共享</a:t>
                          </a:r>
                          <a:endParaRPr lang="en-US" altLang="zh-CN" dirty="0">
                            <a:latin typeface="+mn-lt"/>
                            <a:ea typeface="+mn-ea"/>
                            <a:cs typeface="+mn-ea"/>
                            <a:sym typeface="+mn-lt"/>
                          </a:endParaRPr>
                        </a:p>
                      </a:txBody>
                      <a:tcPr/>
                    </a:tc>
                    <a:tc>
                      <a:txBody>
                        <a:bodyPr/>
                        <a:lstStyle/>
                        <a:p>
                          <a:pPr algn="ctr"/>
                          <a:endParaRPr lang="en-US" altLang="zh-CN" sz="1600" dirty="0">
                            <a:latin typeface="+mn-lt"/>
                            <a:ea typeface="+mn-ea"/>
                            <a:cs typeface="+mn-ea"/>
                            <a:sym typeface="+mn-lt"/>
                          </a:endParaRPr>
                        </a:p>
                        <a:p>
                          <a:pPr algn="ctr"/>
                          <a:r>
                            <a:rPr lang="zh-CN" altLang="en-US" sz="1600" dirty="0">
                              <a:latin typeface="+mn-lt"/>
                              <a:ea typeface="+mn-ea"/>
                              <a:cs typeface="+mn-ea"/>
                              <a:sym typeface="+mn-lt"/>
                            </a:rPr>
                            <a:t>所有神经元之间的连接都使用不同权值。</a:t>
                          </a:r>
                          <a:endParaRPr lang="en-US" altLang="zh-CN" sz="1600" dirty="0">
                            <a:latin typeface="+mn-lt"/>
                            <a:ea typeface="+mn-ea"/>
                            <a:cs typeface="+mn-ea"/>
                            <a:sym typeface="+mn-lt"/>
                          </a:endParaRPr>
                        </a:p>
                        <a:p>
                          <a:pPr algn="ctr"/>
                          <a:endParaRPr lang="en-US" altLang="zh-CN" sz="1600" dirty="0">
                            <a:latin typeface="+mn-lt"/>
                            <a:ea typeface="+mn-ea"/>
                            <a:cs typeface="+mn-ea"/>
                            <a:sym typeface="+mn-lt"/>
                          </a:endParaRPr>
                        </a:p>
                        <a:p>
                          <a:pPr algn="ctr"/>
                          <a:endParaRPr lang="zh-CN" altLang="en-US" sz="1600" dirty="0">
                            <a:latin typeface="+mn-lt"/>
                            <a:ea typeface="+mn-ea"/>
                            <a:cs typeface="+mn-ea"/>
                            <a:sym typeface="+mn-lt"/>
                          </a:endParaRPr>
                        </a:p>
                      </a:txBody>
                      <a:tcPr/>
                    </a:tc>
                    <a:tc>
                      <a:txBody>
                        <a:bodyPr/>
                        <a:lstStyle/>
                        <a:p>
                          <a:pPr algn="ctr"/>
                          <a:endParaRPr lang="en-US" altLang="zh-CN" sz="1600" dirty="0">
                            <a:latin typeface="+mn-lt"/>
                            <a:ea typeface="+mn-ea"/>
                            <a:cs typeface="+mn-ea"/>
                            <a:sym typeface="+mn-lt"/>
                          </a:endParaRPr>
                        </a:p>
                        <a:p>
                          <a:pPr algn="ctr"/>
                          <a:r>
                            <a:rPr lang="zh-CN" altLang="en-US" sz="1600" dirty="0">
                              <a:latin typeface="+mn-lt"/>
                              <a:ea typeface="+mn-ea"/>
                              <a:cs typeface="+mn-ea"/>
                              <a:sym typeface="+mn-lt"/>
                            </a:rPr>
                            <a:t>输出层神经元共用同一组权值，</a:t>
                          </a:r>
                          <a:endParaRPr lang="en-US" altLang="zh-CN" sz="1600" dirty="0">
                            <a:latin typeface="+mn-lt"/>
                            <a:ea typeface="+mn-ea"/>
                            <a:cs typeface="+mn-ea"/>
                            <a:sym typeface="+mn-lt"/>
                          </a:endParaRPr>
                        </a:p>
                        <a:p>
                          <a:pPr algn="ctr"/>
                          <a:r>
                            <a:rPr lang="zh-CN" altLang="en-US" sz="1600" dirty="0">
                              <a:latin typeface="+mn-lt"/>
                              <a:ea typeface="+mn-ea"/>
                              <a:cs typeface="+mn-ea"/>
                              <a:sym typeface="+mn-lt"/>
                            </a:rPr>
                            <a:t>进一步减少权值数量。</a:t>
                          </a:r>
                        </a:p>
                      </a:txBody>
                      <a:tcPr/>
                    </a:tc>
                    <a:extLst>
                      <a:ext uri="{0D108BD9-81ED-4DB2-BD59-A6C34878D82A}">
                        <a16:rowId xmlns:a16="http://schemas.microsoft.com/office/drawing/2014/main" val="10002"/>
                      </a:ext>
                    </a:extLst>
                  </a:tr>
                  <a:tr h="1248546">
                    <a:tc>
                      <a:txBody>
                        <a:bodyPr/>
                        <a:lstStyle/>
                        <a:p>
                          <a:r>
                            <a:rPr lang="zh-CN" altLang="en-US" dirty="0">
                              <a:latin typeface="+mn-lt"/>
                              <a:ea typeface="+mn-ea"/>
                              <a:cs typeface="+mn-ea"/>
                              <a:sym typeface="+mn-lt"/>
                            </a:rPr>
                            <a:t>权值数量</a:t>
                          </a:r>
                          <a:endParaRPr lang="en-US" altLang="zh-CN" dirty="0">
                            <a:latin typeface="+mn-lt"/>
                            <a:ea typeface="+mn-ea"/>
                            <a:cs typeface="+mn-ea"/>
                            <a:sym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b="0" i="1" dirty="0">
                            <a:latin typeface="+mn-lt"/>
                            <a:ea typeface="+mn-ea"/>
                            <a:cs typeface="+mn-ea"/>
                            <a:sym typeface="+mn-lt"/>
                          </a:endParaRPr>
                        </a:p>
                        <a:p>
                          <a:pPr marL="0" marR="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ea typeface="+mn-ea"/>
                                        <a:cs typeface="+mn-ea"/>
                                        <a:sym typeface="+mn-lt"/>
                                      </a:rPr>
                                    </m:ctrlPr>
                                  </m:sSubPr>
                                  <m:e>
                                    <m:r>
                                      <a:rPr lang="en-US" altLang="zh-CN" sz="1600" b="0" i="1" smtClean="0">
                                        <a:latin typeface="Cambria Math" panose="02040503050406030204" pitchFamily="18" charset="0"/>
                                        <a:ea typeface="+mn-ea"/>
                                        <a:cs typeface="+mn-ea"/>
                                        <a:sym typeface="+mn-lt"/>
                                      </a:rPr>
                                      <m:t>𝑤</m:t>
                                    </m:r>
                                  </m:e>
                                  <m:sub>
                                    <m:r>
                                      <a:rPr lang="en-US" altLang="zh-CN" sz="1600" b="0" i="1" smtClean="0">
                                        <a:latin typeface="Cambria Math" panose="02040503050406030204" pitchFamily="18" charset="0"/>
                                        <a:ea typeface="+mn-ea"/>
                                        <a:cs typeface="+mn-ea"/>
                                        <a:sym typeface="+mn-lt"/>
                                      </a:rPr>
                                      <m:t>𝑖</m:t>
                                    </m:r>
                                  </m:sub>
                                </m:sSub>
                                <m:r>
                                  <a:rPr lang="en-US" altLang="zh-CN" sz="1600" b="0" i="1" smtClean="0">
                                    <a:latin typeface="Cambria Math" panose="02040503050406030204" pitchFamily="18" charset="0"/>
                                    <a:ea typeface="+mn-ea"/>
                                    <a:cs typeface="+mn-ea"/>
                                    <a:sym typeface="+mn-lt"/>
                                  </a:rPr>
                                  <m:t>×</m:t>
                                </m:r>
                                <m:sSub>
                                  <m:sSubPr>
                                    <m:ctrlPr>
                                      <a:rPr lang="en-US" altLang="zh-CN" sz="1600" b="0" i="1" smtClean="0">
                                        <a:latin typeface="Cambria Math" panose="02040503050406030204" pitchFamily="18" charset="0"/>
                                        <a:ea typeface="+mn-ea"/>
                                        <a:cs typeface="+mn-ea"/>
                                        <a:sym typeface="+mn-lt"/>
                                      </a:rPr>
                                    </m:ctrlPr>
                                  </m:sSubPr>
                                  <m:e>
                                    <m:r>
                                      <a:rPr lang="en-US" altLang="zh-CN" sz="1600" b="0" i="1" smtClean="0">
                                        <a:latin typeface="Cambria Math" panose="02040503050406030204" pitchFamily="18" charset="0"/>
                                        <a:ea typeface="+mn-ea"/>
                                        <a:cs typeface="+mn-ea"/>
                                        <a:sym typeface="+mn-lt"/>
                                      </a:rPr>
                                      <m:t>h</m:t>
                                    </m:r>
                                  </m:e>
                                  <m:sub>
                                    <m:r>
                                      <a:rPr lang="en-US" altLang="zh-CN" sz="1600" b="0" i="1" smtClean="0">
                                        <a:latin typeface="Cambria Math" panose="02040503050406030204" pitchFamily="18" charset="0"/>
                                        <a:ea typeface="+mn-ea"/>
                                        <a:cs typeface="+mn-ea"/>
                                        <a:sym typeface="+mn-lt"/>
                                      </a:rPr>
                                      <m:t>𝑖</m:t>
                                    </m:r>
                                  </m:sub>
                                </m:sSub>
                                <m:r>
                                  <a:rPr lang="en-US" altLang="zh-CN" sz="1600" b="0" i="1" smtClean="0">
                                    <a:latin typeface="Cambria Math" panose="02040503050406030204" pitchFamily="18" charset="0"/>
                                    <a:ea typeface="+mn-ea"/>
                                    <a:cs typeface="+mn-ea"/>
                                    <a:sym typeface="+mn-lt"/>
                                  </a:rPr>
                                  <m:t>×</m:t>
                                </m:r>
                                <m:sSub>
                                  <m:sSubPr>
                                    <m:ctrlPr>
                                      <a:rPr lang="en-US" altLang="zh-CN" sz="1600" b="0" i="1" smtClean="0">
                                        <a:latin typeface="Cambria Math" panose="02040503050406030204" pitchFamily="18" charset="0"/>
                                        <a:ea typeface="+mn-ea"/>
                                        <a:cs typeface="+mn-ea"/>
                                        <a:sym typeface="+mn-lt"/>
                                      </a:rPr>
                                    </m:ctrlPr>
                                  </m:sSubPr>
                                  <m:e>
                                    <m:r>
                                      <a:rPr lang="en-US" altLang="zh-CN" sz="1600" b="0" i="1" smtClean="0">
                                        <a:latin typeface="Cambria Math" panose="02040503050406030204" pitchFamily="18" charset="0"/>
                                        <a:ea typeface="+mn-ea"/>
                                        <a:cs typeface="+mn-ea"/>
                                        <a:sym typeface="+mn-lt"/>
                                      </a:rPr>
                                      <m:t>𝑤</m:t>
                                    </m:r>
                                  </m:e>
                                  <m:sub>
                                    <m:r>
                                      <a:rPr lang="en-US" altLang="zh-CN" sz="1600" b="0" i="1" smtClean="0">
                                        <a:latin typeface="Cambria Math" panose="02040503050406030204" pitchFamily="18" charset="0"/>
                                        <a:ea typeface="+mn-ea"/>
                                        <a:cs typeface="+mn-ea"/>
                                        <a:sym typeface="+mn-lt"/>
                                      </a:rPr>
                                      <m:t>𝑜</m:t>
                                    </m:r>
                                  </m:sub>
                                </m:sSub>
                                <m:r>
                                  <a:rPr lang="en-US" altLang="zh-CN" sz="1600" b="0" i="1" smtClean="0">
                                    <a:latin typeface="Cambria Math" panose="02040503050406030204" pitchFamily="18" charset="0"/>
                                    <a:ea typeface="+mn-ea"/>
                                    <a:cs typeface="+mn-ea"/>
                                    <a:sym typeface="+mn-lt"/>
                                  </a:rPr>
                                  <m:t>×</m:t>
                                </m:r>
                                <m:sSub>
                                  <m:sSubPr>
                                    <m:ctrlPr>
                                      <a:rPr lang="en-US" altLang="zh-CN" sz="1600" b="0" i="1" smtClean="0">
                                        <a:latin typeface="Cambria Math" panose="02040503050406030204" pitchFamily="18" charset="0"/>
                                        <a:ea typeface="+mn-ea"/>
                                        <a:cs typeface="+mn-ea"/>
                                        <a:sym typeface="+mn-lt"/>
                                      </a:rPr>
                                    </m:ctrlPr>
                                  </m:sSubPr>
                                  <m:e>
                                    <m:r>
                                      <a:rPr lang="en-US" altLang="zh-CN" sz="1600" b="0" i="1" smtClean="0">
                                        <a:latin typeface="Cambria Math" panose="02040503050406030204" pitchFamily="18" charset="0"/>
                                        <a:ea typeface="+mn-ea"/>
                                        <a:cs typeface="+mn-ea"/>
                                        <a:sym typeface="+mn-lt"/>
                                      </a:rPr>
                                      <m:t>h</m:t>
                                    </m:r>
                                  </m:e>
                                  <m:sub>
                                    <m:r>
                                      <a:rPr lang="en-US" altLang="zh-CN" sz="1600" b="0" i="1" smtClean="0">
                                        <a:latin typeface="Cambria Math" panose="02040503050406030204" pitchFamily="18" charset="0"/>
                                        <a:ea typeface="+mn-ea"/>
                                        <a:cs typeface="+mn-ea"/>
                                        <a:sym typeface="+mn-lt"/>
                                      </a:rPr>
                                      <m:t>𝑜</m:t>
                                    </m:r>
                                  </m:sub>
                                </m:sSub>
                              </m:oMath>
                            </m:oMathPara>
                          </a14:m>
                          <a:endParaRPr lang="zh-CN" altLang="en-US" sz="1600" dirty="0">
                            <a:latin typeface="+mn-lt"/>
                            <a:ea typeface="+mn-ea"/>
                            <a:cs typeface="+mn-ea"/>
                            <a:sym typeface="+mn-lt"/>
                          </a:endParaRP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600" dirty="0">
                            <a:latin typeface="+mn-lt"/>
                            <a:ea typeface="+mn-ea"/>
                            <a:cs typeface="+mn-ea"/>
                            <a:sym typeface="+mn-lt"/>
                          </a:endParaRPr>
                        </a:p>
                      </a:txBody>
                      <a:tcPr/>
                    </a:tc>
                    <a:tc>
                      <a:txBody>
                        <a:bodyPr/>
                        <a:lstStyle/>
                        <a:p>
                          <a:endParaRPr lang="en-US" altLang="zh-CN" sz="1600" b="0" i="1" dirty="0">
                            <a:latin typeface="+mn-lt"/>
                            <a:ea typeface="+mn-ea"/>
                            <a:cs typeface="+mn-ea"/>
                            <a:sym typeface="+mn-lt"/>
                          </a:endParaRPr>
                        </a:p>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ea typeface="+mn-ea"/>
                                    <a:cs typeface="+mn-ea"/>
                                    <a:sym typeface="+mn-lt"/>
                                  </a:rPr>
                                  <m:t>𝑓</m:t>
                                </m:r>
                                <m:r>
                                  <a:rPr lang="en-US" altLang="zh-CN" sz="1600" b="0" i="1" smtClean="0">
                                    <a:latin typeface="Cambria Math" panose="02040503050406030204" pitchFamily="18" charset="0"/>
                                    <a:ea typeface="+mn-ea"/>
                                    <a:cs typeface="+mn-ea"/>
                                    <a:sym typeface="+mn-lt"/>
                                  </a:rPr>
                                  <m:t>×</m:t>
                                </m:r>
                                <m:r>
                                  <a:rPr lang="en-US" altLang="zh-CN" sz="1600" b="0" i="1" smtClean="0">
                                    <a:latin typeface="Cambria Math" panose="02040503050406030204" pitchFamily="18" charset="0"/>
                                    <a:ea typeface="+mn-ea"/>
                                    <a:cs typeface="+mn-ea"/>
                                    <a:sym typeface="+mn-lt"/>
                                  </a:rPr>
                                  <m:t>𝑓</m:t>
                                </m:r>
                              </m:oMath>
                            </m:oMathPara>
                          </a14:m>
                          <a:endParaRPr lang="zh-CN" altLang="en-US" sz="1600" dirty="0">
                            <a:latin typeface="+mn-lt"/>
                            <a:ea typeface="+mn-ea"/>
                            <a:cs typeface="+mn-ea"/>
                            <a:sym typeface="+mn-lt"/>
                          </a:endParaRPr>
                        </a:p>
                      </a:txBody>
                      <a:tcPr/>
                    </a:tc>
                    <a:extLst>
                      <a:ext uri="{0D108BD9-81ED-4DB2-BD59-A6C34878D82A}">
                        <a16:rowId xmlns:a16="http://schemas.microsoft.com/office/drawing/2014/main" val="10003"/>
                      </a:ext>
                    </a:extLst>
                  </a:tr>
                </a:tbl>
              </a:graphicData>
            </a:graphic>
          </p:graphicFrame>
        </mc:Choice>
        <mc:Fallback xmlns="">
          <p:graphicFrame>
            <p:nvGraphicFramePr>
              <p:cNvPr id="8" name="表格 7"/>
              <p:cNvGraphicFramePr>
                <a:graphicFrameLocks noGrp="1"/>
              </p:cNvGraphicFramePr>
              <p:nvPr/>
            </p:nvGraphicFramePr>
            <p:xfrm>
              <a:off x="1874484" y="1360869"/>
              <a:ext cx="8205802" cy="5121270"/>
            </p:xfrm>
            <a:graphic>
              <a:graphicData uri="http://schemas.openxmlformats.org/drawingml/2006/table">
                <a:tbl>
                  <a:tblPr firstRow="1" bandRow="1">
                    <a:tableStyleId>{5940675A-B579-460E-94D1-54222C63F5DA}</a:tableStyleId>
                  </a:tblPr>
                  <a:tblGrid>
                    <a:gridCol w="432333"/>
                    <a:gridCol w="3872753"/>
                    <a:gridCol w="3900716"/>
                  </a:tblGrid>
                  <a:tr h="356727">
                    <a:tc>
                      <a:txBody>
                        <a:bodyPr/>
                        <a:lstStyle/>
                        <a:p>
                          <a:pPr algn="ctr"/>
                          <a:endParaRPr lang="zh-CN" altLang="en-US" dirty="0">
                            <a:latin typeface="+mn-lt"/>
                            <a:ea typeface="+mn-ea"/>
                            <a:cs typeface="+mn-ea"/>
                            <a:sym typeface="+mn-lt"/>
                          </a:endParaRPr>
                        </a:p>
                      </a:txBody>
                      <a:tcPr/>
                    </a:tc>
                    <a:tc>
                      <a:txBody>
                        <a:bodyPr/>
                        <a:lstStyle/>
                        <a:p>
                          <a:pPr algn="ctr"/>
                          <a:r>
                            <a:rPr lang="zh-CN" altLang="en-US" dirty="0">
                              <a:latin typeface="+mn-lt"/>
                              <a:ea typeface="+mn-ea"/>
                              <a:cs typeface="+mn-ea"/>
                              <a:sym typeface="+mn-lt"/>
                            </a:rPr>
                            <a:t>全连接</a:t>
                          </a:r>
                          <a:endParaRPr lang="zh-CN" altLang="en-US" dirty="0">
                            <a:latin typeface="+mn-lt"/>
                            <a:ea typeface="+mn-ea"/>
                            <a:cs typeface="+mn-ea"/>
                            <a:sym typeface="+mn-lt"/>
                          </a:endParaRPr>
                        </a:p>
                      </a:txBody>
                      <a:tcPr/>
                    </a:tc>
                    <a:tc>
                      <a:txBody>
                        <a:bodyPr/>
                        <a:lstStyle/>
                        <a:p>
                          <a:pPr algn="ctr"/>
                          <a:r>
                            <a:rPr lang="zh-CN" altLang="en-US" dirty="0">
                              <a:latin typeface="+mn-lt"/>
                              <a:ea typeface="+mn-ea"/>
                              <a:cs typeface="+mn-ea"/>
                              <a:sym typeface="+mn-lt"/>
                            </a:rPr>
                            <a:t>卷积</a:t>
                          </a:r>
                          <a:endParaRPr lang="zh-CN" altLang="en-US" dirty="0">
                            <a:latin typeface="+mn-lt"/>
                            <a:ea typeface="+mn-ea"/>
                            <a:cs typeface="+mn-ea"/>
                            <a:sym typeface="+mn-lt"/>
                          </a:endParaRPr>
                        </a:p>
                      </a:txBody>
                      <a:tcPr/>
                    </a:tc>
                  </a:tr>
                  <a:tr h="2157423">
                    <a:tc>
                      <a:txBody>
                        <a:bodyPr/>
                        <a:lstStyle/>
                        <a:p>
                          <a:endParaRPr lang="en-US" altLang="zh-CN" dirty="0">
                            <a:latin typeface="+mn-lt"/>
                            <a:ea typeface="+mn-ea"/>
                            <a:cs typeface="+mn-ea"/>
                            <a:sym typeface="+mn-lt"/>
                          </a:endParaRPr>
                        </a:p>
                        <a:p>
                          <a:endParaRPr lang="en-US" altLang="zh-CN" dirty="0">
                            <a:latin typeface="+mn-lt"/>
                            <a:ea typeface="+mn-ea"/>
                            <a:cs typeface="+mn-ea"/>
                            <a:sym typeface="+mn-lt"/>
                          </a:endParaRPr>
                        </a:p>
                        <a:p>
                          <a:r>
                            <a:rPr lang="zh-CN" altLang="en-US" dirty="0">
                              <a:latin typeface="+mn-lt"/>
                              <a:ea typeface="+mn-ea"/>
                              <a:cs typeface="+mn-ea"/>
                              <a:sym typeface="+mn-lt"/>
                            </a:rPr>
                            <a:t>局部连接</a:t>
                          </a:r>
                          <a:endParaRPr lang="zh-CN" altLang="en-US" dirty="0">
                            <a:latin typeface="+mn-lt"/>
                            <a:ea typeface="+mn-ea"/>
                            <a:cs typeface="+mn-ea"/>
                            <a:sym typeface="+mn-lt"/>
                          </a:endParaRPr>
                        </a:p>
                      </a:txBody>
                      <a:tcPr/>
                    </a:tc>
                    <a:tc>
                      <a:txBody>
                        <a:bodyPr/>
                        <a:lstStyle/>
                        <a:p>
                          <a:endParaRPr lang="zh-CN" altLang="en-US" dirty="0">
                            <a:latin typeface="+mn-lt"/>
                            <a:ea typeface="+mn-ea"/>
                            <a:cs typeface="+mn-ea"/>
                            <a:sym typeface="+mn-lt"/>
                          </a:endParaRPr>
                        </a:p>
                      </a:txBody>
                      <a:tcPr/>
                    </a:tc>
                    <a:tc>
                      <a:txBody>
                        <a:bodyPr/>
                        <a:lstStyle/>
                        <a:p>
                          <a:endParaRPr lang="zh-CN" altLang="en-US" dirty="0">
                            <a:latin typeface="+mn-lt"/>
                            <a:ea typeface="+mn-ea"/>
                            <a:cs typeface="+mn-ea"/>
                            <a:sym typeface="+mn-lt"/>
                          </a:endParaRPr>
                        </a:p>
                      </a:txBody>
                      <a:tcPr/>
                    </a:tc>
                  </a:tr>
                  <a:tr h="1349541">
                    <a:tc>
                      <a:txBody>
                        <a:bodyPr/>
                        <a:lstStyle/>
                        <a:p>
                          <a:r>
                            <a:rPr lang="zh-CN" altLang="en-US" dirty="0">
                              <a:latin typeface="+mn-lt"/>
                              <a:ea typeface="+mn-ea"/>
                              <a:cs typeface="+mn-ea"/>
                              <a:sym typeface="+mn-lt"/>
                            </a:rPr>
                            <a:t>权值共享</a:t>
                          </a:r>
                          <a:endParaRPr lang="en-US" altLang="zh-CN" dirty="0">
                            <a:latin typeface="+mn-lt"/>
                            <a:ea typeface="+mn-ea"/>
                            <a:cs typeface="+mn-ea"/>
                            <a:sym typeface="+mn-lt"/>
                          </a:endParaRPr>
                        </a:p>
                      </a:txBody>
                      <a:tcPr/>
                    </a:tc>
                    <a:tc>
                      <a:txBody>
                        <a:bodyPr/>
                        <a:lstStyle/>
                        <a:p>
                          <a:pPr algn="ctr"/>
                          <a:endParaRPr lang="en-US" altLang="zh-CN" sz="1600" dirty="0">
                            <a:latin typeface="+mn-lt"/>
                            <a:ea typeface="+mn-ea"/>
                            <a:cs typeface="+mn-ea"/>
                            <a:sym typeface="+mn-lt"/>
                          </a:endParaRPr>
                        </a:p>
                        <a:p>
                          <a:pPr algn="ctr"/>
                          <a:r>
                            <a:rPr lang="zh-CN" altLang="en-US" sz="1600" dirty="0">
                              <a:latin typeface="+mn-lt"/>
                              <a:ea typeface="+mn-ea"/>
                              <a:cs typeface="+mn-ea"/>
                              <a:sym typeface="+mn-lt"/>
                            </a:rPr>
                            <a:t>所有神经元之间的连接都使用不同权值。</a:t>
                          </a:r>
                          <a:endParaRPr lang="en-US" altLang="zh-CN" sz="1600" dirty="0">
                            <a:latin typeface="+mn-lt"/>
                            <a:ea typeface="+mn-ea"/>
                            <a:cs typeface="+mn-ea"/>
                            <a:sym typeface="+mn-lt"/>
                          </a:endParaRPr>
                        </a:p>
                        <a:p>
                          <a:pPr algn="ctr"/>
                          <a:endParaRPr lang="en-US" altLang="zh-CN" sz="1600" dirty="0">
                            <a:latin typeface="+mn-lt"/>
                            <a:ea typeface="+mn-ea"/>
                            <a:cs typeface="+mn-ea"/>
                            <a:sym typeface="+mn-lt"/>
                          </a:endParaRPr>
                        </a:p>
                        <a:p>
                          <a:pPr algn="ctr"/>
                          <a:endParaRPr lang="zh-CN" altLang="en-US" sz="1600" dirty="0">
                            <a:latin typeface="+mn-lt"/>
                            <a:ea typeface="+mn-ea"/>
                            <a:cs typeface="+mn-ea"/>
                            <a:sym typeface="+mn-lt"/>
                          </a:endParaRPr>
                        </a:p>
                      </a:txBody>
                      <a:tcPr/>
                    </a:tc>
                    <a:tc>
                      <a:txBody>
                        <a:bodyPr/>
                        <a:lstStyle/>
                        <a:p>
                          <a:pPr algn="ctr"/>
                          <a:endParaRPr lang="en-US" altLang="zh-CN" sz="1600" dirty="0">
                            <a:latin typeface="+mn-lt"/>
                            <a:ea typeface="+mn-ea"/>
                            <a:cs typeface="+mn-ea"/>
                            <a:sym typeface="+mn-lt"/>
                          </a:endParaRPr>
                        </a:p>
                        <a:p>
                          <a:pPr algn="ctr"/>
                          <a:r>
                            <a:rPr lang="zh-CN" altLang="en-US" sz="1600" dirty="0">
                              <a:latin typeface="+mn-lt"/>
                              <a:ea typeface="+mn-ea"/>
                              <a:cs typeface="+mn-ea"/>
                              <a:sym typeface="+mn-lt"/>
                            </a:rPr>
                            <a:t>输出层神经元共用同一组权值，</a:t>
                          </a:r>
                          <a:endParaRPr lang="en-US" altLang="zh-CN" sz="1600" dirty="0">
                            <a:latin typeface="+mn-lt"/>
                            <a:ea typeface="+mn-ea"/>
                            <a:cs typeface="+mn-ea"/>
                            <a:sym typeface="+mn-lt"/>
                          </a:endParaRPr>
                        </a:p>
                        <a:p>
                          <a:pPr algn="ctr"/>
                          <a:r>
                            <a:rPr lang="zh-CN" altLang="en-US" sz="1600" dirty="0">
                              <a:latin typeface="+mn-lt"/>
                              <a:ea typeface="+mn-ea"/>
                              <a:cs typeface="+mn-ea"/>
                              <a:sym typeface="+mn-lt"/>
                            </a:rPr>
                            <a:t>进一步减少权值数量。</a:t>
                          </a:r>
                          <a:endParaRPr lang="zh-CN" altLang="en-US" sz="1600" dirty="0">
                            <a:latin typeface="+mn-lt"/>
                            <a:ea typeface="+mn-ea"/>
                            <a:cs typeface="+mn-ea"/>
                            <a:sym typeface="+mn-lt"/>
                          </a:endParaRPr>
                        </a:p>
                      </a:txBody>
                      <a:tcPr/>
                    </a:tc>
                  </a:tr>
                  <a:tr h="1248410">
                    <a:tc>
                      <a:txBody>
                        <a:bodyPr/>
                        <a:lstStyle/>
                        <a:p>
                          <a:r>
                            <a:rPr lang="zh-CN" altLang="en-US" dirty="0">
                              <a:latin typeface="+mn-lt"/>
                              <a:ea typeface="+mn-ea"/>
                              <a:cs typeface="+mn-ea"/>
                              <a:sym typeface="+mn-lt"/>
                            </a:rPr>
                            <a:t>权值数量</a:t>
                          </a:r>
                          <a:endParaRPr lang="en-US" altLang="zh-CN" dirty="0">
                            <a:latin typeface="+mn-lt"/>
                            <a:ea typeface="+mn-ea"/>
                            <a:cs typeface="+mn-ea"/>
                            <a:sym typeface="+mn-lt"/>
                          </a:endParaRPr>
                        </a:p>
                      </a:txBody>
                      <a:tcPr/>
                    </a:tc>
                    <a:tc>
                      <a:txBody>
                        <a:bodyPr/>
                        <a:lstStyle/>
                        <a:p>
                          <a:endParaRPr lang="zh-CN"/>
                        </a:p>
                      </a:txBody>
                      <a:tcPr>
                        <a:blipFill>
                          <a:blip r:embed="rId5"/>
                        </a:blipFill>
                      </a:tcPr>
                    </a:tc>
                    <a:tc>
                      <a:txBody>
                        <a:bodyPr/>
                        <a:lstStyle/>
                        <a:p>
                          <a:endParaRPr lang="zh-CN"/>
                        </a:p>
                      </a:txBody>
                      <a:tcPr>
                        <a:blipFill>
                          <a:blip r:embed="rId5"/>
                        </a:blipFill>
                      </a:tcPr>
                    </a:tc>
                  </a:tr>
                </a:tbl>
              </a:graphicData>
            </a:graphic>
          </p:graphicFrame>
        </mc:Fallback>
      </mc:AlternateContent>
      <p:graphicFrame>
        <p:nvGraphicFramePr>
          <p:cNvPr id="9" name="表格 8"/>
          <p:cNvGraphicFramePr>
            <a:graphicFrameLocks noGrp="1"/>
          </p:cNvGraphicFramePr>
          <p:nvPr/>
        </p:nvGraphicFramePr>
        <p:xfrm>
          <a:off x="2598529" y="1982611"/>
          <a:ext cx="1596186" cy="1630428"/>
        </p:xfrm>
        <a:graphic>
          <a:graphicData uri="http://schemas.openxmlformats.org/drawingml/2006/table">
            <a:tbl>
              <a:tblPr firstRow="1" bandRow="1">
                <a:tableStyleId>{5940675A-B579-460E-94D1-54222C63F5DA}</a:tableStyleId>
              </a:tblPr>
              <a:tblGrid>
                <a:gridCol w="266031">
                  <a:extLst>
                    <a:ext uri="{9D8B030D-6E8A-4147-A177-3AD203B41FA5}">
                      <a16:colId xmlns:a16="http://schemas.microsoft.com/office/drawing/2014/main" val="20000"/>
                    </a:ext>
                  </a:extLst>
                </a:gridCol>
                <a:gridCol w="266031">
                  <a:extLst>
                    <a:ext uri="{9D8B030D-6E8A-4147-A177-3AD203B41FA5}">
                      <a16:colId xmlns:a16="http://schemas.microsoft.com/office/drawing/2014/main" val="20001"/>
                    </a:ext>
                  </a:extLst>
                </a:gridCol>
                <a:gridCol w="266031">
                  <a:extLst>
                    <a:ext uri="{9D8B030D-6E8A-4147-A177-3AD203B41FA5}">
                      <a16:colId xmlns:a16="http://schemas.microsoft.com/office/drawing/2014/main" val="20002"/>
                    </a:ext>
                  </a:extLst>
                </a:gridCol>
                <a:gridCol w="266031">
                  <a:extLst>
                    <a:ext uri="{9D8B030D-6E8A-4147-A177-3AD203B41FA5}">
                      <a16:colId xmlns:a16="http://schemas.microsoft.com/office/drawing/2014/main" val="20003"/>
                    </a:ext>
                  </a:extLst>
                </a:gridCol>
                <a:gridCol w="266031">
                  <a:extLst>
                    <a:ext uri="{9D8B030D-6E8A-4147-A177-3AD203B41FA5}">
                      <a16:colId xmlns:a16="http://schemas.microsoft.com/office/drawing/2014/main" val="20004"/>
                    </a:ext>
                  </a:extLst>
                </a:gridCol>
                <a:gridCol w="266031">
                  <a:extLst>
                    <a:ext uri="{9D8B030D-6E8A-4147-A177-3AD203B41FA5}">
                      <a16:colId xmlns:a16="http://schemas.microsoft.com/office/drawing/2014/main" val="20005"/>
                    </a:ext>
                  </a:extLst>
                </a:gridCol>
              </a:tblGrid>
              <a:tr h="271738">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0"/>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1"/>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2"/>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3"/>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4"/>
                  </a:ext>
                </a:extLst>
              </a:tr>
              <a:tr h="271738">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0" name="表格 9"/>
          <p:cNvGraphicFramePr>
            <a:graphicFrameLocks noGrp="1"/>
          </p:cNvGraphicFramePr>
          <p:nvPr/>
        </p:nvGraphicFramePr>
        <p:xfrm>
          <a:off x="4852305" y="2249185"/>
          <a:ext cx="1089216" cy="1097280"/>
        </p:xfrm>
        <a:graphic>
          <a:graphicData uri="http://schemas.openxmlformats.org/drawingml/2006/table">
            <a:tbl>
              <a:tblPr firstRow="1" bandRow="1">
                <a:tableStyleId>{5940675A-B579-460E-94D1-54222C63F5DA}</a:tableStyleId>
              </a:tblPr>
              <a:tblGrid>
                <a:gridCol w="272304">
                  <a:extLst>
                    <a:ext uri="{9D8B030D-6E8A-4147-A177-3AD203B41FA5}">
                      <a16:colId xmlns:a16="http://schemas.microsoft.com/office/drawing/2014/main" val="20000"/>
                    </a:ext>
                  </a:extLst>
                </a:gridCol>
                <a:gridCol w="272304">
                  <a:extLst>
                    <a:ext uri="{9D8B030D-6E8A-4147-A177-3AD203B41FA5}">
                      <a16:colId xmlns:a16="http://schemas.microsoft.com/office/drawing/2014/main" val="20001"/>
                    </a:ext>
                  </a:extLst>
                </a:gridCol>
                <a:gridCol w="272304">
                  <a:extLst>
                    <a:ext uri="{9D8B030D-6E8A-4147-A177-3AD203B41FA5}">
                      <a16:colId xmlns:a16="http://schemas.microsoft.com/office/drawing/2014/main" val="20002"/>
                    </a:ext>
                  </a:extLst>
                </a:gridCol>
                <a:gridCol w="272304">
                  <a:extLst>
                    <a:ext uri="{9D8B030D-6E8A-4147-A177-3AD203B41FA5}">
                      <a16:colId xmlns:a16="http://schemas.microsoft.com/office/drawing/2014/main" val="20003"/>
                    </a:ext>
                  </a:extLst>
                </a:gridCol>
              </a:tblGrid>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0"/>
                  </a:ext>
                </a:extLst>
              </a:tr>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1"/>
                  </a:ext>
                </a:extLst>
              </a:tr>
              <a:tr h="253186">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2"/>
                  </a:ext>
                </a:extLst>
              </a:tr>
              <a:tr h="253186">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3"/>
                  </a:ext>
                </a:extLst>
              </a:tr>
            </a:tbl>
          </a:graphicData>
        </a:graphic>
      </p:graphicFrame>
      <p:grpSp>
        <p:nvGrpSpPr>
          <p:cNvPr id="11" name="组合 10"/>
          <p:cNvGrpSpPr/>
          <p:nvPr/>
        </p:nvGrpSpPr>
        <p:grpSpPr>
          <a:xfrm>
            <a:off x="2666139" y="2117458"/>
            <a:ext cx="2299233" cy="1378544"/>
            <a:chOff x="1453023" y="2038572"/>
            <a:chExt cx="2299233" cy="1378544"/>
          </a:xfrm>
        </p:grpSpPr>
        <p:cxnSp>
          <p:nvCxnSpPr>
            <p:cNvPr id="12" name="直接连接符 11"/>
            <p:cNvCxnSpPr/>
            <p:nvPr/>
          </p:nvCxnSpPr>
          <p:spPr>
            <a:xfrm>
              <a:off x="1500469" y="2038572"/>
              <a:ext cx="2244746" cy="283285"/>
            </a:xfrm>
            <a:prstGeom prst="line">
              <a:avLst/>
            </a:prstGeom>
            <a:noFill/>
            <a:ln w="12700" cap="flat" cmpd="sng">
              <a:solidFill>
                <a:schemeClr val="bg1">
                  <a:lumMod val="50000"/>
                </a:schemeClr>
              </a:solidFill>
              <a:prstDash val="solid"/>
              <a:round/>
            </a:ln>
            <a:effectLst/>
          </p:spPr>
        </p:cxnSp>
        <p:cxnSp>
          <p:nvCxnSpPr>
            <p:cNvPr id="13" name="直接连接符 12"/>
            <p:cNvCxnSpPr/>
            <p:nvPr/>
          </p:nvCxnSpPr>
          <p:spPr>
            <a:xfrm>
              <a:off x="1802632" y="2038572"/>
              <a:ext cx="1942583" cy="274320"/>
            </a:xfrm>
            <a:prstGeom prst="line">
              <a:avLst/>
            </a:prstGeom>
            <a:noFill/>
            <a:ln w="12700" cap="flat" cmpd="sng">
              <a:solidFill>
                <a:schemeClr val="bg1">
                  <a:lumMod val="50000"/>
                </a:schemeClr>
              </a:solidFill>
              <a:prstDash val="solid"/>
              <a:round/>
            </a:ln>
            <a:effectLst/>
          </p:spPr>
        </p:cxnSp>
        <p:cxnSp>
          <p:nvCxnSpPr>
            <p:cNvPr id="14" name="直接连接符 13"/>
            <p:cNvCxnSpPr/>
            <p:nvPr/>
          </p:nvCxnSpPr>
          <p:spPr>
            <a:xfrm>
              <a:off x="2049109" y="2038572"/>
              <a:ext cx="1696106" cy="283285"/>
            </a:xfrm>
            <a:prstGeom prst="line">
              <a:avLst/>
            </a:prstGeom>
            <a:noFill/>
            <a:ln w="12700" cap="flat" cmpd="sng">
              <a:solidFill>
                <a:schemeClr val="bg1">
                  <a:lumMod val="50000"/>
                </a:schemeClr>
              </a:solidFill>
              <a:prstDash val="solid"/>
              <a:round/>
            </a:ln>
            <a:effectLst/>
          </p:spPr>
        </p:cxnSp>
        <p:cxnSp>
          <p:nvCxnSpPr>
            <p:cNvPr id="16" name="直接连接符 15"/>
            <p:cNvCxnSpPr/>
            <p:nvPr/>
          </p:nvCxnSpPr>
          <p:spPr>
            <a:xfrm>
              <a:off x="2323429" y="2038572"/>
              <a:ext cx="1421786" cy="283285"/>
            </a:xfrm>
            <a:prstGeom prst="line">
              <a:avLst/>
            </a:prstGeom>
            <a:noFill/>
            <a:ln w="12700" cap="flat" cmpd="sng">
              <a:solidFill>
                <a:schemeClr val="bg1">
                  <a:lumMod val="50000"/>
                </a:schemeClr>
              </a:solidFill>
              <a:prstDash val="solid"/>
              <a:round/>
            </a:ln>
            <a:effectLst/>
          </p:spPr>
        </p:cxnSp>
        <p:cxnSp>
          <p:nvCxnSpPr>
            <p:cNvPr id="18" name="直接连接符 17"/>
            <p:cNvCxnSpPr/>
            <p:nvPr/>
          </p:nvCxnSpPr>
          <p:spPr>
            <a:xfrm>
              <a:off x="2599501" y="2038572"/>
              <a:ext cx="1145714" cy="283285"/>
            </a:xfrm>
            <a:prstGeom prst="line">
              <a:avLst/>
            </a:prstGeom>
            <a:noFill/>
            <a:ln w="12700" cap="flat" cmpd="sng">
              <a:solidFill>
                <a:schemeClr val="bg1">
                  <a:lumMod val="50000"/>
                </a:schemeClr>
              </a:solidFill>
              <a:prstDash val="solid"/>
              <a:round/>
            </a:ln>
            <a:effectLst/>
          </p:spPr>
        </p:cxnSp>
        <p:cxnSp>
          <p:nvCxnSpPr>
            <p:cNvPr id="19" name="直接连接符 18"/>
            <p:cNvCxnSpPr/>
            <p:nvPr/>
          </p:nvCxnSpPr>
          <p:spPr>
            <a:xfrm>
              <a:off x="2849209" y="2038572"/>
              <a:ext cx="896006" cy="283285"/>
            </a:xfrm>
            <a:prstGeom prst="line">
              <a:avLst/>
            </a:prstGeom>
            <a:noFill/>
            <a:ln w="12700" cap="flat" cmpd="sng">
              <a:solidFill>
                <a:schemeClr val="bg1">
                  <a:lumMod val="50000"/>
                </a:schemeClr>
              </a:solidFill>
              <a:prstDash val="solid"/>
              <a:round/>
            </a:ln>
            <a:effectLst/>
          </p:spPr>
        </p:cxnSp>
        <p:cxnSp>
          <p:nvCxnSpPr>
            <p:cNvPr id="20" name="直接连接符 19"/>
            <p:cNvCxnSpPr/>
            <p:nvPr/>
          </p:nvCxnSpPr>
          <p:spPr>
            <a:xfrm>
              <a:off x="1480553" y="2260292"/>
              <a:ext cx="2261236" cy="56923"/>
            </a:xfrm>
            <a:prstGeom prst="line">
              <a:avLst/>
            </a:prstGeom>
            <a:noFill/>
            <a:ln w="12700" cap="flat" cmpd="sng">
              <a:solidFill>
                <a:schemeClr val="bg1">
                  <a:lumMod val="50000"/>
                </a:schemeClr>
              </a:solidFill>
              <a:prstDash val="solid"/>
              <a:round/>
            </a:ln>
            <a:effectLst/>
          </p:spPr>
        </p:cxnSp>
        <p:cxnSp>
          <p:nvCxnSpPr>
            <p:cNvPr id="21" name="直接连接符 20"/>
            <p:cNvCxnSpPr/>
            <p:nvPr/>
          </p:nvCxnSpPr>
          <p:spPr>
            <a:xfrm>
              <a:off x="1750342" y="2296238"/>
              <a:ext cx="1991447" cy="20977"/>
            </a:xfrm>
            <a:prstGeom prst="line">
              <a:avLst/>
            </a:prstGeom>
            <a:noFill/>
            <a:ln w="12700" cap="flat" cmpd="sng">
              <a:solidFill>
                <a:schemeClr val="bg1">
                  <a:lumMod val="50000"/>
                </a:schemeClr>
              </a:solidFill>
              <a:prstDash val="solid"/>
              <a:round/>
            </a:ln>
            <a:effectLst/>
          </p:spPr>
        </p:cxnSp>
        <p:cxnSp>
          <p:nvCxnSpPr>
            <p:cNvPr id="22" name="直接连接符 21"/>
            <p:cNvCxnSpPr/>
            <p:nvPr/>
          </p:nvCxnSpPr>
          <p:spPr>
            <a:xfrm flipV="1">
              <a:off x="2005651" y="2296299"/>
              <a:ext cx="1736138" cy="42500"/>
            </a:xfrm>
            <a:prstGeom prst="line">
              <a:avLst/>
            </a:prstGeom>
            <a:noFill/>
            <a:ln w="12700" cap="flat" cmpd="sng">
              <a:solidFill>
                <a:schemeClr val="bg1">
                  <a:lumMod val="50000"/>
                </a:schemeClr>
              </a:solidFill>
              <a:prstDash val="solid"/>
              <a:round/>
            </a:ln>
            <a:effectLst/>
          </p:spPr>
        </p:cxnSp>
        <p:cxnSp>
          <p:nvCxnSpPr>
            <p:cNvPr id="23" name="直接连接符 22"/>
            <p:cNvCxnSpPr/>
            <p:nvPr/>
          </p:nvCxnSpPr>
          <p:spPr>
            <a:xfrm flipV="1">
              <a:off x="2306071" y="2296303"/>
              <a:ext cx="1435718" cy="85830"/>
            </a:xfrm>
            <a:prstGeom prst="line">
              <a:avLst/>
            </a:prstGeom>
            <a:noFill/>
            <a:ln w="12700" cap="flat" cmpd="sng">
              <a:solidFill>
                <a:schemeClr val="bg1">
                  <a:lumMod val="50000"/>
                </a:schemeClr>
              </a:solidFill>
              <a:prstDash val="solid"/>
              <a:round/>
            </a:ln>
            <a:effectLst/>
          </p:spPr>
        </p:cxnSp>
        <p:cxnSp>
          <p:nvCxnSpPr>
            <p:cNvPr id="24" name="直接连接符 23"/>
            <p:cNvCxnSpPr/>
            <p:nvPr/>
          </p:nvCxnSpPr>
          <p:spPr>
            <a:xfrm flipV="1">
              <a:off x="2560044" y="2296308"/>
              <a:ext cx="1181745" cy="100113"/>
            </a:xfrm>
            <a:prstGeom prst="line">
              <a:avLst/>
            </a:prstGeom>
            <a:noFill/>
            <a:ln w="12700" cap="flat" cmpd="sng">
              <a:solidFill>
                <a:schemeClr val="bg1">
                  <a:lumMod val="50000"/>
                </a:schemeClr>
              </a:solidFill>
              <a:prstDash val="solid"/>
              <a:round/>
            </a:ln>
            <a:effectLst/>
          </p:spPr>
        </p:cxnSp>
        <p:cxnSp>
          <p:nvCxnSpPr>
            <p:cNvPr id="25" name="直接连接符 24"/>
            <p:cNvCxnSpPr/>
            <p:nvPr/>
          </p:nvCxnSpPr>
          <p:spPr>
            <a:xfrm flipV="1">
              <a:off x="2811567" y="2317215"/>
              <a:ext cx="930222" cy="85671"/>
            </a:xfrm>
            <a:prstGeom prst="line">
              <a:avLst/>
            </a:prstGeom>
            <a:noFill/>
            <a:ln w="12700" cap="flat" cmpd="sng">
              <a:solidFill>
                <a:schemeClr val="bg1">
                  <a:lumMod val="50000"/>
                </a:schemeClr>
              </a:solidFill>
              <a:prstDash val="solid"/>
              <a:round/>
            </a:ln>
            <a:effectLst/>
          </p:spPr>
        </p:cxnSp>
        <p:cxnSp>
          <p:nvCxnSpPr>
            <p:cNvPr id="26" name="直接连接符 25"/>
            <p:cNvCxnSpPr/>
            <p:nvPr/>
          </p:nvCxnSpPr>
          <p:spPr>
            <a:xfrm flipV="1">
              <a:off x="1480554" y="2306741"/>
              <a:ext cx="2261235" cy="310750"/>
            </a:xfrm>
            <a:prstGeom prst="line">
              <a:avLst/>
            </a:prstGeom>
            <a:noFill/>
            <a:ln w="12700" cap="flat" cmpd="sng">
              <a:solidFill>
                <a:schemeClr val="bg1">
                  <a:lumMod val="50000"/>
                </a:schemeClr>
              </a:solidFill>
              <a:prstDash val="solid"/>
              <a:round/>
            </a:ln>
            <a:effectLst/>
          </p:spPr>
        </p:cxnSp>
        <p:cxnSp>
          <p:nvCxnSpPr>
            <p:cNvPr id="27" name="直接连接符 26"/>
            <p:cNvCxnSpPr/>
            <p:nvPr/>
          </p:nvCxnSpPr>
          <p:spPr>
            <a:xfrm flipV="1">
              <a:off x="1784914" y="2306741"/>
              <a:ext cx="1956875" cy="310750"/>
            </a:xfrm>
            <a:prstGeom prst="line">
              <a:avLst/>
            </a:prstGeom>
            <a:noFill/>
            <a:ln w="12700" cap="flat" cmpd="sng">
              <a:solidFill>
                <a:schemeClr val="bg1">
                  <a:lumMod val="50000"/>
                </a:schemeClr>
              </a:solidFill>
              <a:prstDash val="solid"/>
              <a:round/>
            </a:ln>
            <a:effectLst/>
          </p:spPr>
        </p:cxnSp>
        <p:cxnSp>
          <p:nvCxnSpPr>
            <p:cNvPr id="28" name="直接连接符 27"/>
            <p:cNvCxnSpPr/>
            <p:nvPr/>
          </p:nvCxnSpPr>
          <p:spPr>
            <a:xfrm flipV="1">
              <a:off x="2033183" y="2296306"/>
              <a:ext cx="1708606" cy="321185"/>
            </a:xfrm>
            <a:prstGeom prst="line">
              <a:avLst/>
            </a:prstGeom>
            <a:noFill/>
            <a:ln w="12700" cap="flat" cmpd="sng">
              <a:solidFill>
                <a:schemeClr val="bg1">
                  <a:lumMod val="50000"/>
                </a:schemeClr>
              </a:solidFill>
              <a:prstDash val="solid"/>
              <a:round/>
            </a:ln>
            <a:effectLst/>
          </p:spPr>
        </p:cxnSp>
        <p:cxnSp>
          <p:nvCxnSpPr>
            <p:cNvPr id="30" name="直接连接符 29"/>
            <p:cNvCxnSpPr/>
            <p:nvPr/>
          </p:nvCxnSpPr>
          <p:spPr>
            <a:xfrm flipV="1">
              <a:off x="2309497" y="2306741"/>
              <a:ext cx="1432292" cy="310750"/>
            </a:xfrm>
            <a:prstGeom prst="line">
              <a:avLst/>
            </a:prstGeom>
            <a:noFill/>
            <a:ln w="12700" cap="flat" cmpd="sng">
              <a:solidFill>
                <a:schemeClr val="bg1">
                  <a:lumMod val="50000"/>
                </a:schemeClr>
              </a:solidFill>
              <a:prstDash val="solid"/>
              <a:round/>
            </a:ln>
            <a:effectLst/>
          </p:spPr>
        </p:cxnSp>
        <p:cxnSp>
          <p:nvCxnSpPr>
            <p:cNvPr id="31" name="直接连接符 30"/>
            <p:cNvCxnSpPr/>
            <p:nvPr/>
          </p:nvCxnSpPr>
          <p:spPr>
            <a:xfrm flipV="1">
              <a:off x="2587576" y="2306741"/>
              <a:ext cx="1154213" cy="310750"/>
            </a:xfrm>
            <a:prstGeom prst="line">
              <a:avLst/>
            </a:prstGeom>
            <a:noFill/>
            <a:ln w="12700" cap="flat" cmpd="sng">
              <a:solidFill>
                <a:schemeClr val="bg1">
                  <a:lumMod val="50000"/>
                </a:schemeClr>
              </a:solidFill>
              <a:prstDash val="solid"/>
              <a:round/>
            </a:ln>
            <a:effectLst/>
          </p:spPr>
        </p:cxnSp>
        <p:cxnSp>
          <p:nvCxnSpPr>
            <p:cNvPr id="32" name="直接连接符 31"/>
            <p:cNvCxnSpPr/>
            <p:nvPr/>
          </p:nvCxnSpPr>
          <p:spPr>
            <a:xfrm flipV="1">
              <a:off x="2839100" y="2306741"/>
              <a:ext cx="902690" cy="310750"/>
            </a:xfrm>
            <a:prstGeom prst="line">
              <a:avLst/>
            </a:prstGeom>
            <a:noFill/>
            <a:ln w="12700" cap="flat" cmpd="sng">
              <a:solidFill>
                <a:schemeClr val="bg1">
                  <a:lumMod val="50000"/>
                </a:schemeClr>
              </a:solidFill>
              <a:prstDash val="solid"/>
              <a:round/>
            </a:ln>
            <a:effectLst/>
          </p:spPr>
        </p:cxnSp>
        <p:cxnSp>
          <p:nvCxnSpPr>
            <p:cNvPr id="34" name="直接连接符 33"/>
            <p:cNvCxnSpPr/>
            <p:nvPr/>
          </p:nvCxnSpPr>
          <p:spPr>
            <a:xfrm flipV="1">
              <a:off x="1490002" y="2305331"/>
              <a:ext cx="2251787" cy="562012"/>
            </a:xfrm>
            <a:prstGeom prst="line">
              <a:avLst/>
            </a:prstGeom>
            <a:noFill/>
            <a:ln w="12700" cap="flat" cmpd="sng">
              <a:solidFill>
                <a:schemeClr val="bg1">
                  <a:lumMod val="50000"/>
                </a:schemeClr>
              </a:solidFill>
              <a:prstDash val="solid"/>
              <a:round/>
            </a:ln>
            <a:effectLst/>
          </p:spPr>
        </p:cxnSp>
        <p:cxnSp>
          <p:nvCxnSpPr>
            <p:cNvPr id="35" name="直接连接符 34"/>
            <p:cNvCxnSpPr/>
            <p:nvPr/>
          </p:nvCxnSpPr>
          <p:spPr>
            <a:xfrm flipV="1">
              <a:off x="1794362" y="2314656"/>
              <a:ext cx="1947427" cy="552687"/>
            </a:xfrm>
            <a:prstGeom prst="line">
              <a:avLst/>
            </a:prstGeom>
            <a:noFill/>
            <a:ln w="12700" cap="flat" cmpd="sng">
              <a:solidFill>
                <a:schemeClr val="bg1">
                  <a:lumMod val="50000"/>
                </a:schemeClr>
              </a:solidFill>
              <a:prstDash val="solid"/>
              <a:round/>
            </a:ln>
            <a:effectLst/>
          </p:spPr>
        </p:cxnSp>
        <p:cxnSp>
          <p:nvCxnSpPr>
            <p:cNvPr id="36" name="直接连接符 35"/>
            <p:cNvCxnSpPr/>
            <p:nvPr/>
          </p:nvCxnSpPr>
          <p:spPr>
            <a:xfrm flipV="1">
              <a:off x="2042631" y="2314656"/>
              <a:ext cx="1699158" cy="552687"/>
            </a:xfrm>
            <a:prstGeom prst="line">
              <a:avLst/>
            </a:prstGeom>
            <a:noFill/>
            <a:ln w="12700" cap="flat" cmpd="sng">
              <a:solidFill>
                <a:schemeClr val="bg1">
                  <a:lumMod val="50000"/>
                </a:schemeClr>
              </a:solidFill>
              <a:prstDash val="solid"/>
              <a:round/>
            </a:ln>
            <a:effectLst/>
          </p:spPr>
        </p:cxnSp>
        <p:cxnSp>
          <p:nvCxnSpPr>
            <p:cNvPr id="37" name="直接连接符 36"/>
            <p:cNvCxnSpPr/>
            <p:nvPr/>
          </p:nvCxnSpPr>
          <p:spPr>
            <a:xfrm flipV="1">
              <a:off x="2318945" y="2306749"/>
              <a:ext cx="1422844" cy="560594"/>
            </a:xfrm>
            <a:prstGeom prst="line">
              <a:avLst/>
            </a:prstGeom>
            <a:noFill/>
            <a:ln w="12700" cap="flat" cmpd="sng">
              <a:solidFill>
                <a:schemeClr val="bg1">
                  <a:lumMod val="50000"/>
                </a:schemeClr>
              </a:solidFill>
              <a:prstDash val="solid"/>
              <a:round/>
            </a:ln>
            <a:effectLst/>
          </p:spPr>
        </p:cxnSp>
        <p:cxnSp>
          <p:nvCxnSpPr>
            <p:cNvPr id="38" name="直接连接符 37"/>
            <p:cNvCxnSpPr/>
            <p:nvPr/>
          </p:nvCxnSpPr>
          <p:spPr>
            <a:xfrm flipV="1">
              <a:off x="2597024" y="2314656"/>
              <a:ext cx="1144765" cy="552687"/>
            </a:xfrm>
            <a:prstGeom prst="line">
              <a:avLst/>
            </a:prstGeom>
            <a:noFill/>
            <a:ln w="12700" cap="flat" cmpd="sng">
              <a:solidFill>
                <a:schemeClr val="bg1">
                  <a:lumMod val="50000"/>
                </a:schemeClr>
              </a:solidFill>
              <a:prstDash val="solid"/>
              <a:round/>
            </a:ln>
            <a:effectLst/>
          </p:spPr>
        </p:cxnSp>
        <p:cxnSp>
          <p:nvCxnSpPr>
            <p:cNvPr id="39" name="直接连接符 38"/>
            <p:cNvCxnSpPr/>
            <p:nvPr/>
          </p:nvCxnSpPr>
          <p:spPr>
            <a:xfrm flipV="1">
              <a:off x="2848548" y="2314656"/>
              <a:ext cx="893241" cy="552687"/>
            </a:xfrm>
            <a:prstGeom prst="line">
              <a:avLst/>
            </a:prstGeom>
            <a:noFill/>
            <a:ln w="12700" cap="flat" cmpd="sng">
              <a:solidFill>
                <a:schemeClr val="bg1">
                  <a:lumMod val="50000"/>
                </a:schemeClr>
              </a:solidFill>
              <a:prstDash val="solid"/>
              <a:round/>
            </a:ln>
            <a:effectLst/>
          </p:spPr>
        </p:cxnSp>
        <p:cxnSp>
          <p:nvCxnSpPr>
            <p:cNvPr id="40" name="直接连接符 39"/>
            <p:cNvCxnSpPr/>
            <p:nvPr/>
          </p:nvCxnSpPr>
          <p:spPr>
            <a:xfrm flipV="1">
              <a:off x="1477128" y="2303686"/>
              <a:ext cx="2275128" cy="857411"/>
            </a:xfrm>
            <a:prstGeom prst="line">
              <a:avLst/>
            </a:prstGeom>
            <a:noFill/>
            <a:ln w="12700" cap="flat" cmpd="sng">
              <a:solidFill>
                <a:schemeClr val="bg1">
                  <a:lumMod val="50000"/>
                </a:schemeClr>
              </a:solidFill>
              <a:prstDash val="solid"/>
              <a:round/>
            </a:ln>
            <a:effectLst/>
          </p:spPr>
        </p:cxnSp>
        <p:cxnSp>
          <p:nvCxnSpPr>
            <p:cNvPr id="41" name="直接连接符 40"/>
            <p:cNvCxnSpPr/>
            <p:nvPr/>
          </p:nvCxnSpPr>
          <p:spPr>
            <a:xfrm flipV="1">
              <a:off x="1781488" y="2312885"/>
              <a:ext cx="1970768" cy="848212"/>
            </a:xfrm>
            <a:prstGeom prst="line">
              <a:avLst/>
            </a:prstGeom>
            <a:noFill/>
            <a:ln w="12700" cap="flat" cmpd="sng">
              <a:solidFill>
                <a:schemeClr val="bg1">
                  <a:lumMod val="50000"/>
                </a:schemeClr>
              </a:solidFill>
              <a:prstDash val="solid"/>
              <a:round/>
            </a:ln>
            <a:effectLst/>
          </p:spPr>
        </p:cxnSp>
        <p:cxnSp>
          <p:nvCxnSpPr>
            <p:cNvPr id="42" name="直接连接符 41"/>
            <p:cNvCxnSpPr/>
            <p:nvPr/>
          </p:nvCxnSpPr>
          <p:spPr>
            <a:xfrm flipV="1">
              <a:off x="2029757" y="2304082"/>
              <a:ext cx="1699158" cy="857015"/>
            </a:xfrm>
            <a:prstGeom prst="line">
              <a:avLst/>
            </a:prstGeom>
            <a:noFill/>
            <a:ln w="12700" cap="flat" cmpd="sng">
              <a:solidFill>
                <a:schemeClr val="bg1">
                  <a:lumMod val="50000"/>
                </a:schemeClr>
              </a:solidFill>
              <a:prstDash val="solid"/>
              <a:round/>
            </a:ln>
            <a:effectLst/>
          </p:spPr>
        </p:cxnSp>
        <p:cxnSp>
          <p:nvCxnSpPr>
            <p:cNvPr id="43" name="直接连接符 42"/>
            <p:cNvCxnSpPr/>
            <p:nvPr/>
          </p:nvCxnSpPr>
          <p:spPr>
            <a:xfrm flipV="1">
              <a:off x="2306071" y="2312889"/>
              <a:ext cx="1432292" cy="848208"/>
            </a:xfrm>
            <a:prstGeom prst="line">
              <a:avLst/>
            </a:prstGeom>
            <a:noFill/>
            <a:ln w="12700" cap="flat" cmpd="sng">
              <a:solidFill>
                <a:schemeClr val="bg1">
                  <a:lumMod val="50000"/>
                </a:schemeClr>
              </a:solidFill>
              <a:prstDash val="solid"/>
              <a:round/>
            </a:ln>
            <a:effectLst/>
          </p:spPr>
        </p:cxnSp>
        <p:cxnSp>
          <p:nvCxnSpPr>
            <p:cNvPr id="44" name="直接连接符 43"/>
            <p:cNvCxnSpPr/>
            <p:nvPr/>
          </p:nvCxnSpPr>
          <p:spPr>
            <a:xfrm flipV="1">
              <a:off x="2584150" y="2304087"/>
              <a:ext cx="1144764" cy="857010"/>
            </a:xfrm>
            <a:prstGeom prst="line">
              <a:avLst/>
            </a:prstGeom>
            <a:noFill/>
            <a:ln w="12700" cap="flat" cmpd="sng">
              <a:solidFill>
                <a:schemeClr val="bg1">
                  <a:lumMod val="50000"/>
                </a:schemeClr>
              </a:solidFill>
              <a:prstDash val="solid"/>
              <a:round/>
            </a:ln>
            <a:effectLst/>
          </p:spPr>
        </p:cxnSp>
        <p:cxnSp>
          <p:nvCxnSpPr>
            <p:cNvPr id="45" name="直接连接符 44"/>
            <p:cNvCxnSpPr/>
            <p:nvPr/>
          </p:nvCxnSpPr>
          <p:spPr>
            <a:xfrm flipV="1">
              <a:off x="2835673" y="2312894"/>
              <a:ext cx="902689" cy="848203"/>
            </a:xfrm>
            <a:prstGeom prst="line">
              <a:avLst/>
            </a:prstGeom>
            <a:noFill/>
            <a:ln w="12700" cap="flat" cmpd="sng">
              <a:solidFill>
                <a:schemeClr val="bg1">
                  <a:lumMod val="50000"/>
                </a:schemeClr>
              </a:solidFill>
              <a:prstDash val="solid"/>
              <a:round/>
            </a:ln>
            <a:effectLst/>
          </p:spPr>
        </p:cxnSp>
        <p:cxnSp>
          <p:nvCxnSpPr>
            <p:cNvPr id="46" name="直接连接符 45"/>
            <p:cNvCxnSpPr/>
            <p:nvPr/>
          </p:nvCxnSpPr>
          <p:spPr>
            <a:xfrm flipV="1">
              <a:off x="1453023" y="2303680"/>
              <a:ext cx="2285339" cy="1113431"/>
            </a:xfrm>
            <a:prstGeom prst="line">
              <a:avLst/>
            </a:prstGeom>
            <a:noFill/>
            <a:ln w="12700" cap="flat" cmpd="sng">
              <a:solidFill>
                <a:schemeClr val="bg1">
                  <a:lumMod val="50000"/>
                </a:schemeClr>
              </a:solidFill>
              <a:prstDash val="solid"/>
              <a:round/>
            </a:ln>
            <a:effectLst/>
          </p:spPr>
        </p:cxnSp>
        <p:cxnSp>
          <p:nvCxnSpPr>
            <p:cNvPr id="47" name="直接连接符 46"/>
            <p:cNvCxnSpPr/>
            <p:nvPr/>
          </p:nvCxnSpPr>
          <p:spPr>
            <a:xfrm flipV="1">
              <a:off x="1757383" y="2296296"/>
              <a:ext cx="1987832" cy="1120815"/>
            </a:xfrm>
            <a:prstGeom prst="line">
              <a:avLst/>
            </a:prstGeom>
            <a:noFill/>
            <a:ln w="12700" cap="flat" cmpd="sng">
              <a:solidFill>
                <a:schemeClr val="bg1">
                  <a:lumMod val="50000"/>
                </a:schemeClr>
              </a:solidFill>
              <a:prstDash val="solid"/>
              <a:round/>
            </a:ln>
            <a:effectLst/>
          </p:spPr>
        </p:cxnSp>
        <p:cxnSp>
          <p:nvCxnSpPr>
            <p:cNvPr id="48" name="直接连接符 47"/>
            <p:cNvCxnSpPr/>
            <p:nvPr/>
          </p:nvCxnSpPr>
          <p:spPr>
            <a:xfrm flipV="1">
              <a:off x="2005652" y="2303685"/>
              <a:ext cx="1739563" cy="1113427"/>
            </a:xfrm>
            <a:prstGeom prst="line">
              <a:avLst/>
            </a:prstGeom>
            <a:noFill/>
            <a:ln w="12700" cap="flat" cmpd="sng">
              <a:solidFill>
                <a:schemeClr val="bg1">
                  <a:lumMod val="50000"/>
                </a:schemeClr>
              </a:solidFill>
              <a:prstDash val="solid"/>
              <a:round/>
            </a:ln>
            <a:effectLst/>
          </p:spPr>
        </p:cxnSp>
        <p:cxnSp>
          <p:nvCxnSpPr>
            <p:cNvPr id="49" name="直接连接符 48"/>
            <p:cNvCxnSpPr/>
            <p:nvPr/>
          </p:nvCxnSpPr>
          <p:spPr>
            <a:xfrm flipV="1">
              <a:off x="2281966" y="2303689"/>
              <a:ext cx="1463249" cy="1113422"/>
            </a:xfrm>
            <a:prstGeom prst="line">
              <a:avLst/>
            </a:prstGeom>
            <a:noFill/>
            <a:ln w="12700" cap="flat" cmpd="sng">
              <a:solidFill>
                <a:schemeClr val="bg1">
                  <a:lumMod val="50000"/>
                </a:schemeClr>
              </a:solidFill>
              <a:prstDash val="solid"/>
              <a:round/>
            </a:ln>
            <a:effectLst/>
          </p:spPr>
        </p:cxnSp>
        <p:cxnSp>
          <p:nvCxnSpPr>
            <p:cNvPr id="50" name="直接连接符 49"/>
            <p:cNvCxnSpPr/>
            <p:nvPr/>
          </p:nvCxnSpPr>
          <p:spPr>
            <a:xfrm flipV="1">
              <a:off x="2560045" y="2312898"/>
              <a:ext cx="1192210" cy="1104218"/>
            </a:xfrm>
            <a:prstGeom prst="line">
              <a:avLst/>
            </a:prstGeom>
            <a:noFill/>
            <a:ln w="12700" cap="flat" cmpd="sng">
              <a:solidFill>
                <a:schemeClr val="bg1">
                  <a:lumMod val="50000"/>
                </a:schemeClr>
              </a:solidFill>
              <a:prstDash val="solid"/>
              <a:round/>
            </a:ln>
            <a:effectLst/>
          </p:spPr>
        </p:cxnSp>
        <p:cxnSp>
          <p:nvCxnSpPr>
            <p:cNvPr id="51" name="直接连接符 50"/>
            <p:cNvCxnSpPr/>
            <p:nvPr/>
          </p:nvCxnSpPr>
          <p:spPr>
            <a:xfrm flipV="1">
              <a:off x="2811568" y="2312898"/>
              <a:ext cx="926794" cy="1104214"/>
            </a:xfrm>
            <a:prstGeom prst="line">
              <a:avLst/>
            </a:prstGeom>
            <a:noFill/>
            <a:ln w="12700" cap="flat" cmpd="sng">
              <a:solidFill>
                <a:schemeClr val="bg1">
                  <a:lumMod val="50000"/>
                </a:schemeClr>
              </a:solidFill>
              <a:prstDash val="solid"/>
              <a:round/>
            </a:ln>
            <a:effectLst/>
          </p:spPr>
        </p:cxnSp>
      </p:grpSp>
      <p:graphicFrame>
        <p:nvGraphicFramePr>
          <p:cNvPr id="52" name="表格 51"/>
          <p:cNvGraphicFramePr>
            <a:graphicFrameLocks noGrp="1"/>
          </p:cNvGraphicFramePr>
          <p:nvPr/>
        </p:nvGraphicFramePr>
        <p:xfrm>
          <a:off x="6498179" y="1982606"/>
          <a:ext cx="1596186" cy="1630428"/>
        </p:xfrm>
        <a:graphic>
          <a:graphicData uri="http://schemas.openxmlformats.org/drawingml/2006/table">
            <a:tbl>
              <a:tblPr firstRow="1" bandRow="1">
                <a:tableStyleId>{5940675A-B579-460E-94D1-54222C63F5DA}</a:tableStyleId>
              </a:tblPr>
              <a:tblGrid>
                <a:gridCol w="266031">
                  <a:extLst>
                    <a:ext uri="{9D8B030D-6E8A-4147-A177-3AD203B41FA5}">
                      <a16:colId xmlns:a16="http://schemas.microsoft.com/office/drawing/2014/main" val="20000"/>
                    </a:ext>
                  </a:extLst>
                </a:gridCol>
                <a:gridCol w="266031">
                  <a:extLst>
                    <a:ext uri="{9D8B030D-6E8A-4147-A177-3AD203B41FA5}">
                      <a16:colId xmlns:a16="http://schemas.microsoft.com/office/drawing/2014/main" val="20001"/>
                    </a:ext>
                  </a:extLst>
                </a:gridCol>
                <a:gridCol w="266031">
                  <a:extLst>
                    <a:ext uri="{9D8B030D-6E8A-4147-A177-3AD203B41FA5}">
                      <a16:colId xmlns:a16="http://schemas.microsoft.com/office/drawing/2014/main" val="20002"/>
                    </a:ext>
                  </a:extLst>
                </a:gridCol>
                <a:gridCol w="266031">
                  <a:extLst>
                    <a:ext uri="{9D8B030D-6E8A-4147-A177-3AD203B41FA5}">
                      <a16:colId xmlns:a16="http://schemas.microsoft.com/office/drawing/2014/main" val="20003"/>
                    </a:ext>
                  </a:extLst>
                </a:gridCol>
                <a:gridCol w="266031">
                  <a:extLst>
                    <a:ext uri="{9D8B030D-6E8A-4147-A177-3AD203B41FA5}">
                      <a16:colId xmlns:a16="http://schemas.microsoft.com/office/drawing/2014/main" val="20004"/>
                    </a:ext>
                  </a:extLst>
                </a:gridCol>
                <a:gridCol w="266031">
                  <a:extLst>
                    <a:ext uri="{9D8B030D-6E8A-4147-A177-3AD203B41FA5}">
                      <a16:colId xmlns:a16="http://schemas.microsoft.com/office/drawing/2014/main" val="20005"/>
                    </a:ext>
                  </a:extLst>
                </a:gridCol>
              </a:tblGrid>
              <a:tr h="271738">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0"/>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1"/>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2"/>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3"/>
                  </a:ext>
                </a:extLst>
              </a:tr>
              <a:tr h="271738">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4"/>
                  </a:ext>
                </a:extLst>
              </a:tr>
              <a:tr h="271738">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53" name="表格 52"/>
          <p:cNvGraphicFramePr>
            <a:graphicFrameLocks noGrp="1"/>
          </p:cNvGraphicFramePr>
          <p:nvPr/>
        </p:nvGraphicFramePr>
        <p:xfrm>
          <a:off x="8751955" y="2249180"/>
          <a:ext cx="1089216" cy="1097280"/>
        </p:xfrm>
        <a:graphic>
          <a:graphicData uri="http://schemas.openxmlformats.org/drawingml/2006/table">
            <a:tbl>
              <a:tblPr firstRow="1" bandRow="1">
                <a:tableStyleId>{5940675A-B579-460E-94D1-54222C63F5DA}</a:tableStyleId>
              </a:tblPr>
              <a:tblGrid>
                <a:gridCol w="272304">
                  <a:extLst>
                    <a:ext uri="{9D8B030D-6E8A-4147-A177-3AD203B41FA5}">
                      <a16:colId xmlns:a16="http://schemas.microsoft.com/office/drawing/2014/main" val="20000"/>
                    </a:ext>
                  </a:extLst>
                </a:gridCol>
                <a:gridCol w="272304">
                  <a:extLst>
                    <a:ext uri="{9D8B030D-6E8A-4147-A177-3AD203B41FA5}">
                      <a16:colId xmlns:a16="http://schemas.microsoft.com/office/drawing/2014/main" val="20001"/>
                    </a:ext>
                  </a:extLst>
                </a:gridCol>
                <a:gridCol w="272304">
                  <a:extLst>
                    <a:ext uri="{9D8B030D-6E8A-4147-A177-3AD203B41FA5}">
                      <a16:colId xmlns:a16="http://schemas.microsoft.com/office/drawing/2014/main" val="20002"/>
                    </a:ext>
                  </a:extLst>
                </a:gridCol>
                <a:gridCol w="272304">
                  <a:extLst>
                    <a:ext uri="{9D8B030D-6E8A-4147-A177-3AD203B41FA5}">
                      <a16:colId xmlns:a16="http://schemas.microsoft.com/office/drawing/2014/main" val="20003"/>
                    </a:ext>
                  </a:extLst>
                </a:gridCol>
              </a:tblGrid>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0"/>
                  </a:ext>
                </a:extLst>
              </a:tr>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1"/>
                  </a:ext>
                </a:extLst>
              </a:tr>
              <a:tr h="253186">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2"/>
                  </a:ext>
                </a:extLst>
              </a:tr>
              <a:tr h="253186">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0003"/>
                  </a:ext>
                </a:extLst>
              </a:tr>
            </a:tbl>
          </a:graphicData>
        </a:graphic>
      </p:graphicFrame>
      <p:grpSp>
        <p:nvGrpSpPr>
          <p:cNvPr id="54" name="组合 53"/>
          <p:cNvGrpSpPr/>
          <p:nvPr/>
        </p:nvGrpSpPr>
        <p:grpSpPr>
          <a:xfrm>
            <a:off x="6498179" y="1982606"/>
            <a:ext cx="2359802" cy="805412"/>
            <a:chOff x="5141623" y="1903720"/>
            <a:chExt cx="2359802" cy="805412"/>
          </a:xfrm>
        </p:grpSpPr>
        <p:cxnSp>
          <p:nvCxnSpPr>
            <p:cNvPr id="55" name="直接连接符 54"/>
            <p:cNvCxnSpPr/>
            <p:nvPr/>
          </p:nvCxnSpPr>
          <p:spPr>
            <a:xfrm>
              <a:off x="5256679" y="2038567"/>
              <a:ext cx="2244746" cy="283285"/>
            </a:xfrm>
            <a:prstGeom prst="line">
              <a:avLst/>
            </a:prstGeom>
            <a:noFill/>
            <a:ln w="12700" cap="flat" cmpd="sng">
              <a:solidFill>
                <a:schemeClr val="bg1">
                  <a:lumMod val="50000"/>
                </a:schemeClr>
              </a:solidFill>
              <a:prstDash val="solid"/>
              <a:round/>
            </a:ln>
            <a:effectLst/>
          </p:spPr>
        </p:cxnSp>
        <p:cxnSp>
          <p:nvCxnSpPr>
            <p:cNvPr id="56" name="直接连接符 55"/>
            <p:cNvCxnSpPr/>
            <p:nvPr/>
          </p:nvCxnSpPr>
          <p:spPr>
            <a:xfrm>
              <a:off x="5558842" y="2038567"/>
              <a:ext cx="1942583" cy="274320"/>
            </a:xfrm>
            <a:prstGeom prst="line">
              <a:avLst/>
            </a:prstGeom>
            <a:noFill/>
            <a:ln w="12700" cap="flat" cmpd="sng">
              <a:solidFill>
                <a:schemeClr val="bg1">
                  <a:lumMod val="50000"/>
                </a:schemeClr>
              </a:solidFill>
              <a:prstDash val="solid"/>
              <a:round/>
            </a:ln>
            <a:effectLst/>
          </p:spPr>
        </p:cxnSp>
        <p:cxnSp>
          <p:nvCxnSpPr>
            <p:cNvPr id="57" name="直接连接符 56"/>
            <p:cNvCxnSpPr/>
            <p:nvPr/>
          </p:nvCxnSpPr>
          <p:spPr>
            <a:xfrm>
              <a:off x="5805319" y="2038567"/>
              <a:ext cx="1696106" cy="283285"/>
            </a:xfrm>
            <a:prstGeom prst="line">
              <a:avLst/>
            </a:prstGeom>
            <a:noFill/>
            <a:ln w="12700" cap="flat" cmpd="sng">
              <a:solidFill>
                <a:schemeClr val="bg1">
                  <a:lumMod val="50000"/>
                </a:schemeClr>
              </a:solidFill>
              <a:prstDash val="solid"/>
              <a:round/>
            </a:ln>
            <a:effectLst/>
          </p:spPr>
        </p:cxnSp>
        <p:cxnSp>
          <p:nvCxnSpPr>
            <p:cNvPr id="58" name="直接连接符 57"/>
            <p:cNvCxnSpPr/>
            <p:nvPr/>
          </p:nvCxnSpPr>
          <p:spPr>
            <a:xfrm>
              <a:off x="5236763" y="2260240"/>
              <a:ext cx="2261236" cy="56923"/>
            </a:xfrm>
            <a:prstGeom prst="line">
              <a:avLst/>
            </a:prstGeom>
            <a:noFill/>
            <a:ln w="12700" cap="flat" cmpd="sng">
              <a:solidFill>
                <a:schemeClr val="bg1">
                  <a:lumMod val="50000"/>
                </a:schemeClr>
              </a:solidFill>
              <a:prstDash val="solid"/>
              <a:round/>
            </a:ln>
            <a:effectLst/>
          </p:spPr>
        </p:cxnSp>
        <p:cxnSp>
          <p:nvCxnSpPr>
            <p:cNvPr id="59" name="直接连接符 58"/>
            <p:cNvCxnSpPr/>
            <p:nvPr/>
          </p:nvCxnSpPr>
          <p:spPr>
            <a:xfrm>
              <a:off x="5506552" y="2296186"/>
              <a:ext cx="1991447" cy="20977"/>
            </a:xfrm>
            <a:prstGeom prst="line">
              <a:avLst/>
            </a:prstGeom>
            <a:noFill/>
            <a:ln w="12700" cap="flat" cmpd="sng">
              <a:solidFill>
                <a:schemeClr val="bg1">
                  <a:lumMod val="50000"/>
                </a:schemeClr>
              </a:solidFill>
              <a:prstDash val="solid"/>
              <a:round/>
            </a:ln>
            <a:effectLst/>
          </p:spPr>
        </p:cxnSp>
        <p:cxnSp>
          <p:nvCxnSpPr>
            <p:cNvPr id="60" name="直接连接符 59"/>
            <p:cNvCxnSpPr/>
            <p:nvPr/>
          </p:nvCxnSpPr>
          <p:spPr>
            <a:xfrm flipV="1">
              <a:off x="5761861" y="2296246"/>
              <a:ext cx="1736138" cy="42500"/>
            </a:xfrm>
            <a:prstGeom prst="line">
              <a:avLst/>
            </a:prstGeom>
            <a:noFill/>
            <a:ln w="12700" cap="flat" cmpd="sng">
              <a:solidFill>
                <a:schemeClr val="bg1">
                  <a:lumMod val="50000"/>
                </a:schemeClr>
              </a:solidFill>
              <a:prstDash val="solid"/>
              <a:round/>
            </a:ln>
            <a:effectLst/>
          </p:spPr>
        </p:cxnSp>
        <p:cxnSp>
          <p:nvCxnSpPr>
            <p:cNvPr id="61" name="直接连接符 60"/>
            <p:cNvCxnSpPr/>
            <p:nvPr/>
          </p:nvCxnSpPr>
          <p:spPr>
            <a:xfrm flipV="1">
              <a:off x="5236764" y="2306736"/>
              <a:ext cx="2261235" cy="310750"/>
            </a:xfrm>
            <a:prstGeom prst="line">
              <a:avLst/>
            </a:prstGeom>
            <a:noFill/>
            <a:ln w="12700" cap="flat" cmpd="sng">
              <a:solidFill>
                <a:schemeClr val="bg1">
                  <a:lumMod val="50000"/>
                </a:schemeClr>
              </a:solidFill>
              <a:prstDash val="solid"/>
              <a:round/>
            </a:ln>
            <a:effectLst/>
          </p:spPr>
        </p:cxnSp>
        <p:cxnSp>
          <p:nvCxnSpPr>
            <p:cNvPr id="62" name="直接连接符 61"/>
            <p:cNvCxnSpPr/>
            <p:nvPr/>
          </p:nvCxnSpPr>
          <p:spPr>
            <a:xfrm flipV="1">
              <a:off x="5541124" y="2306736"/>
              <a:ext cx="1956875" cy="310750"/>
            </a:xfrm>
            <a:prstGeom prst="line">
              <a:avLst/>
            </a:prstGeom>
            <a:noFill/>
            <a:ln w="12700" cap="flat" cmpd="sng">
              <a:solidFill>
                <a:schemeClr val="bg1">
                  <a:lumMod val="50000"/>
                </a:schemeClr>
              </a:solidFill>
              <a:prstDash val="solid"/>
              <a:round/>
            </a:ln>
            <a:effectLst/>
          </p:spPr>
        </p:cxnSp>
        <p:cxnSp>
          <p:nvCxnSpPr>
            <p:cNvPr id="63" name="直接连接符 62"/>
            <p:cNvCxnSpPr/>
            <p:nvPr/>
          </p:nvCxnSpPr>
          <p:spPr>
            <a:xfrm flipV="1">
              <a:off x="5789393" y="2296301"/>
              <a:ext cx="1708606" cy="321185"/>
            </a:xfrm>
            <a:prstGeom prst="line">
              <a:avLst/>
            </a:prstGeom>
            <a:noFill/>
            <a:ln w="12700" cap="flat" cmpd="sng">
              <a:solidFill>
                <a:schemeClr val="bg1">
                  <a:lumMod val="50000"/>
                </a:schemeClr>
              </a:solidFill>
              <a:prstDash val="solid"/>
              <a:round/>
            </a:ln>
            <a:effectLst/>
          </p:spPr>
        </p:cxnSp>
        <p:sp>
          <p:nvSpPr>
            <p:cNvPr id="64" name="矩形 63"/>
            <p:cNvSpPr/>
            <p:nvPr/>
          </p:nvSpPr>
          <p:spPr>
            <a:xfrm>
              <a:off x="5141623" y="1903720"/>
              <a:ext cx="794448" cy="805412"/>
            </a:xfrm>
            <a:prstGeom prst="rect">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VGG16</a:t>
            </a:r>
            <a:r>
              <a:rPr lang="zh-CN" altLang="en-US" sz="2800" b="1" dirty="0"/>
              <a:t>及其组成</a:t>
            </a:r>
            <a:endParaRPr lang="en-US" altLang="zh-CN" sz="2800" b="1" dirty="0"/>
          </a:p>
        </p:txBody>
      </p:sp>
      <p:pic>
        <p:nvPicPr>
          <p:cNvPr id="8" name="图片 7"/>
          <p:cNvPicPr>
            <a:picLocks noChangeAspect="1"/>
          </p:cNvPicPr>
          <p:nvPr/>
        </p:nvPicPr>
        <p:blipFill>
          <a:blip r:embed="rId5"/>
          <a:stretch>
            <a:fillRect/>
          </a:stretch>
        </p:blipFill>
        <p:spPr>
          <a:xfrm>
            <a:off x="4804688" y="712887"/>
            <a:ext cx="2324532" cy="5793086"/>
          </a:xfrm>
          <a:prstGeom prst="rect">
            <a:avLst/>
          </a:prstGeom>
        </p:spPr>
      </p:pic>
      <p:sp>
        <p:nvSpPr>
          <p:cNvPr id="9" name="矩形 8"/>
          <p:cNvSpPr/>
          <p:nvPr/>
        </p:nvSpPr>
        <p:spPr>
          <a:xfrm>
            <a:off x="9954821" y="2533260"/>
            <a:ext cx="1685365" cy="1754326"/>
          </a:xfrm>
          <a:prstGeom prst="rect">
            <a:avLst/>
          </a:prstGeom>
        </p:spPr>
        <p:txBody>
          <a:bodyPr wrap="square">
            <a:spAutoFit/>
          </a:bodyPr>
          <a:lstStyle/>
          <a:p>
            <a:pPr>
              <a:lnSpc>
                <a:spcPct val="150000"/>
              </a:lnSpc>
            </a:pPr>
            <a:r>
              <a:rPr lang="zh-CN" altLang="en-US" dirty="0">
                <a:latin typeface="Microsoft YaHei UI Light" panose="020B0502040204020203" pitchFamily="34" charset="-122"/>
                <a:ea typeface="微软雅黑 Light" panose="020B0502040204020203" pitchFamily="34" charset="-122"/>
                <a:cs typeface="+mn-ea"/>
                <a:sym typeface="+mn-lt"/>
              </a:rPr>
              <a:t>卷积层</a:t>
            </a:r>
            <a:endParaRPr lang="en-US" altLang="zh-CN"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zh-CN" altLang="en-US" dirty="0">
                <a:latin typeface="Microsoft YaHei UI Light" panose="020B0502040204020203" pitchFamily="34" charset="-122"/>
                <a:ea typeface="微软雅黑 Light" panose="020B0502040204020203" pitchFamily="34" charset="-122"/>
                <a:cs typeface="+mn-ea"/>
                <a:sym typeface="+mn-lt"/>
              </a:rPr>
              <a:t>池化层</a:t>
            </a:r>
            <a:endParaRPr lang="en-US" altLang="zh-CN"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zh-CN" altLang="en-US" dirty="0">
                <a:latin typeface="Microsoft YaHei UI Light" panose="020B0502040204020203" pitchFamily="34" charset="-122"/>
                <a:ea typeface="微软雅黑 Light" panose="020B0502040204020203" pitchFamily="34" charset="-122"/>
                <a:cs typeface="+mn-ea"/>
                <a:sym typeface="+mn-lt"/>
              </a:rPr>
              <a:t>全连接层</a:t>
            </a:r>
            <a:endParaRPr lang="en-US" altLang="zh-CN"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dirty="0" err="1">
                <a:latin typeface="Microsoft YaHei UI Light" panose="020B0502040204020203" pitchFamily="34" charset="-122"/>
                <a:ea typeface="微软雅黑 Light" panose="020B0502040204020203" pitchFamily="34" charset="-122"/>
                <a:cs typeface="+mn-ea"/>
                <a:sym typeface="+mn-lt"/>
              </a:rPr>
              <a:t>Softmax</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pic>
        <p:nvPicPr>
          <p:cNvPr id="10" name="图片 9"/>
          <p:cNvPicPr>
            <a:picLocks noChangeAspect="1"/>
          </p:cNvPicPr>
          <p:nvPr/>
        </p:nvPicPr>
        <p:blipFill>
          <a:blip r:embed="rId6"/>
          <a:stretch>
            <a:fillRect/>
          </a:stretch>
        </p:blipFill>
        <p:spPr>
          <a:xfrm>
            <a:off x="8411519" y="2669388"/>
            <a:ext cx="1383210" cy="343440"/>
          </a:xfrm>
          <a:prstGeom prst="rect">
            <a:avLst/>
          </a:prstGeom>
        </p:spPr>
      </p:pic>
      <p:pic>
        <p:nvPicPr>
          <p:cNvPr id="11" name="图片 10"/>
          <p:cNvPicPr>
            <a:picLocks noChangeAspect="1"/>
          </p:cNvPicPr>
          <p:nvPr/>
        </p:nvPicPr>
        <p:blipFill>
          <a:blip r:embed="rId7"/>
          <a:stretch>
            <a:fillRect/>
          </a:stretch>
        </p:blipFill>
        <p:spPr>
          <a:xfrm>
            <a:off x="8411519" y="3087403"/>
            <a:ext cx="1383210" cy="343440"/>
          </a:xfrm>
          <a:prstGeom prst="rect">
            <a:avLst/>
          </a:prstGeom>
        </p:spPr>
      </p:pic>
      <p:pic>
        <p:nvPicPr>
          <p:cNvPr id="12" name="图片 11"/>
          <p:cNvPicPr>
            <a:picLocks noChangeAspect="1"/>
          </p:cNvPicPr>
          <p:nvPr/>
        </p:nvPicPr>
        <p:blipFill>
          <a:blip r:embed="rId8"/>
          <a:stretch>
            <a:fillRect/>
          </a:stretch>
        </p:blipFill>
        <p:spPr>
          <a:xfrm>
            <a:off x="8411519" y="3505418"/>
            <a:ext cx="1383210" cy="343440"/>
          </a:xfrm>
          <a:prstGeom prst="rect">
            <a:avLst/>
          </a:prstGeom>
        </p:spPr>
      </p:pic>
      <p:pic>
        <p:nvPicPr>
          <p:cNvPr id="13" name="图片 12"/>
          <p:cNvPicPr>
            <a:picLocks noChangeAspect="1"/>
          </p:cNvPicPr>
          <p:nvPr/>
        </p:nvPicPr>
        <p:blipFill>
          <a:blip r:embed="rId9"/>
          <a:stretch>
            <a:fillRect/>
          </a:stretch>
        </p:blipFill>
        <p:spPr>
          <a:xfrm>
            <a:off x="8411519" y="3923433"/>
            <a:ext cx="1383210" cy="343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卷积层</a:t>
            </a:r>
            <a:endParaRPr lang="en-US" altLang="zh-CN" sz="2800" b="1" dirty="0"/>
          </a:p>
        </p:txBody>
      </p:sp>
      <p:sp>
        <p:nvSpPr>
          <p:cNvPr id="8" name="内容占位符 2"/>
          <p:cNvSpPr txBox="1"/>
          <p:nvPr/>
        </p:nvSpPr>
        <p:spPr>
          <a:xfrm>
            <a:off x="1561726" y="2337830"/>
            <a:ext cx="1374746" cy="5558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2000">
                <a:latin typeface="Microsoft YaHei UI Light" panose="020B0502040204020203" pitchFamily="34" charset="-122"/>
                <a:cs typeface="+mn-ea"/>
                <a:sym typeface="+mn-lt"/>
              </a:rPr>
              <a:t>数学：</a:t>
            </a:r>
            <a:endParaRPr lang="en-US" altLang="zh-CN" sz="2000" dirty="0">
              <a:latin typeface="Microsoft YaHei UI Light" panose="020B0502040204020203" pitchFamily="34" charset="-122"/>
              <a:cs typeface="+mn-ea"/>
              <a:sym typeface="+mn-lt"/>
            </a:endParaRPr>
          </a:p>
        </p:txBody>
      </p:sp>
      <p:sp>
        <p:nvSpPr>
          <p:cNvPr id="9" name="内容占位符 2"/>
          <p:cNvSpPr txBox="1"/>
          <p:nvPr/>
        </p:nvSpPr>
        <p:spPr>
          <a:xfrm>
            <a:off x="1561726" y="1387152"/>
            <a:ext cx="7992888"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卷积运算</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0" name="文本框 9"/>
              <p:cNvSpPr txBox="1"/>
              <p:nvPr/>
            </p:nvSpPr>
            <p:spPr>
              <a:xfrm>
                <a:off x="3215752" y="2238067"/>
                <a:ext cx="4031360" cy="7553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𝑦</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𝑛</m:t>
                          </m:r>
                        </m:e>
                      </m:d>
                      <m:r>
                        <a:rPr lang="en-US" altLang="zh-CN" b="0" i="1" smtClean="0">
                          <a:latin typeface="Cambria Math" panose="02040503050406030204" pitchFamily="18" charset="0"/>
                          <a:cs typeface="+mn-ea"/>
                          <a:sym typeface="+mn-lt"/>
                        </a:rPr>
                        <m:t>=</m:t>
                      </m:r>
                      <m:nary>
                        <m:naryPr>
                          <m:chr m:val="∑"/>
                          <m:ctrlPr>
                            <a:rPr lang="en-US" altLang="zh-CN" b="0" i="1" smtClean="0">
                              <a:latin typeface="Cambria Math" panose="02040503050406030204" pitchFamily="18" charset="0"/>
                              <a:cs typeface="+mn-ea"/>
                              <a:sym typeface="+mn-lt"/>
                            </a:rPr>
                          </m:ctrlPr>
                        </m:naryPr>
                        <m:sub>
                          <m:r>
                            <m:rPr>
                              <m:brk m:alnAt="23"/>
                            </m:rPr>
                            <a:rPr lang="en-US" altLang="zh-CN" b="0" i="1" smtClean="0">
                              <a:latin typeface="Cambria Math" panose="02040503050406030204" pitchFamily="18" charset="0"/>
                              <a:cs typeface="+mn-ea"/>
                              <a:sym typeface="+mn-lt"/>
                            </a:rPr>
                            <m:t>𝑖</m:t>
                          </m:r>
                          <m:r>
                            <a:rPr lang="en-US" altLang="zh-CN" b="0" i="1" smtClean="0">
                              <a:latin typeface="Cambria Math" panose="02040503050406030204" pitchFamily="18" charset="0"/>
                              <a:cs typeface="+mn-ea"/>
                              <a:sym typeface="+mn-lt"/>
                            </a:rPr>
                            <m:t>=−∞</m:t>
                          </m:r>
                        </m:sub>
                        <m:sup>
                          <m:r>
                            <a:rPr lang="en-US" altLang="zh-CN" b="0" i="1" smtClean="0">
                              <a:latin typeface="Cambria Math" panose="02040503050406030204" pitchFamily="18" charset="0"/>
                              <a:cs typeface="+mn-ea"/>
                              <a:sym typeface="+mn-lt"/>
                            </a:rPr>
                            <m:t>∞</m:t>
                          </m:r>
                        </m:sup>
                        <m:e>
                          <m:r>
                            <a:rPr lang="en-US" altLang="zh-CN" b="0" i="1" smtClean="0">
                              <a:latin typeface="Cambria Math" panose="02040503050406030204" pitchFamily="18" charset="0"/>
                              <a:cs typeface="+mn-ea"/>
                              <a:sym typeface="+mn-lt"/>
                            </a:rPr>
                            <m:t>𝑥</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𝑖</m:t>
                              </m:r>
                            </m:e>
                          </m:d>
                          <m:r>
                            <a:rPr lang="en-US" altLang="zh-CN" b="0" i="1" smtClean="0">
                              <a:latin typeface="Cambria Math" panose="02040503050406030204" pitchFamily="18" charset="0"/>
                              <a:cs typeface="+mn-ea"/>
                              <a:sym typeface="+mn-lt"/>
                            </a:rPr>
                            <m:t>h</m:t>
                          </m:r>
                        </m:e>
                      </m:nary>
                      <m:d>
                        <m:dPr>
                          <m:ctrlPr>
                            <a:rPr lang="en-US" altLang="zh-CN" i="1">
                              <a:latin typeface="Cambria Math" panose="02040503050406030204" pitchFamily="18" charset="0"/>
                              <a:cs typeface="+mn-ea"/>
                              <a:sym typeface="+mn-lt"/>
                            </a:rPr>
                          </m:ctrlPr>
                        </m:dPr>
                        <m:e>
                          <m:r>
                            <a:rPr lang="en-US" altLang="zh-CN" i="1">
                              <a:solidFill>
                                <a:srgbClr val="FF0000"/>
                              </a:solidFill>
                              <a:latin typeface="Cambria Math" panose="02040503050406030204" pitchFamily="18" charset="0"/>
                              <a:cs typeface="+mn-ea"/>
                              <a:sym typeface="+mn-lt"/>
                            </a:rPr>
                            <m:t>𝑛</m:t>
                          </m:r>
                          <m:r>
                            <a:rPr lang="en-US" altLang="zh-CN" i="1">
                              <a:solidFill>
                                <a:srgbClr val="FF0000"/>
                              </a:solidFill>
                              <a:latin typeface="Cambria Math" panose="02040503050406030204" pitchFamily="18" charset="0"/>
                              <a:cs typeface="+mn-ea"/>
                              <a:sym typeface="+mn-lt"/>
                            </a:rPr>
                            <m:t>−</m:t>
                          </m:r>
                          <m:r>
                            <a:rPr lang="en-US" altLang="zh-CN" i="1">
                              <a:solidFill>
                                <a:srgbClr val="FF0000"/>
                              </a:solidFill>
                              <a:latin typeface="Cambria Math" panose="02040503050406030204" pitchFamily="18" charset="0"/>
                              <a:cs typeface="+mn-ea"/>
                              <a:sym typeface="+mn-lt"/>
                            </a:rPr>
                            <m:t>𝑖</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𝑥</m:t>
                      </m:r>
                      <m:d>
                        <m:dPr>
                          <m:ctrlPr>
                            <a:rPr lang="en-US" altLang="zh-CN" b="0" i="1" smtClean="0">
                              <a:latin typeface="Cambria Math" panose="02040503050406030204" pitchFamily="18" charset="0"/>
                              <a:cs typeface="+mn-ea"/>
                              <a:sym typeface="+mn-lt"/>
                            </a:rPr>
                          </m:ctrlPr>
                        </m:dPr>
                        <m:e>
                          <m:r>
                            <a:rPr lang="en-US" altLang="zh-CN" b="0" i="1" smtClean="0">
                              <a:latin typeface="Cambria Math" panose="02040503050406030204" pitchFamily="18" charset="0"/>
                              <a:cs typeface="+mn-ea"/>
                              <a:sym typeface="+mn-lt"/>
                            </a:rPr>
                            <m:t>𝑛</m:t>
                          </m:r>
                        </m:e>
                      </m:d>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h</m:t>
                      </m:r>
                      <m:r>
                        <a:rPr lang="en-US" altLang="zh-CN"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𝑛</m:t>
                      </m:r>
                      <m:r>
                        <a:rPr lang="en-US" altLang="zh-CN" b="0" i="1" smtClean="0">
                          <a:latin typeface="Cambria Math" panose="02040503050406030204" pitchFamily="18" charset="0"/>
                          <a:cs typeface="+mn-ea"/>
                          <a:sym typeface="+mn-lt"/>
                        </a:rPr>
                        <m:t>)</m:t>
                      </m:r>
                    </m:oMath>
                  </m:oMathPara>
                </a14:m>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215752" y="2238067"/>
                <a:ext cx="4031360" cy="755335"/>
              </a:xfrm>
              <a:prstGeom prst="rect">
                <a:avLst/>
              </a:prstGeom>
              <a:blipFill rotWithShape="1">
                <a:blip r:embed="rId5"/>
                <a:stretch>
                  <a:fillRect l="-3" t="-43" r="-193" b="2"/>
                </a:stretch>
              </a:blipFill>
            </p:spPr>
            <p:txBody>
              <a:bodyPr/>
              <a:lstStyle/>
              <a:p>
                <a:r>
                  <a:rPr lang="zh-CN" altLang="en-US">
                    <a:noFill/>
                  </a:rPr>
                  <a:t> </a:t>
                </a:r>
              </a:p>
            </p:txBody>
          </p:sp>
        </mc:Fallback>
      </mc:AlternateContent>
      <p:sp>
        <p:nvSpPr>
          <p:cNvPr id="11" name="内容占位符 2"/>
          <p:cNvSpPr txBox="1"/>
          <p:nvPr/>
        </p:nvSpPr>
        <p:spPr>
          <a:xfrm>
            <a:off x="1552760" y="3254220"/>
            <a:ext cx="8134135" cy="55581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r>
              <a:rPr lang="zh-CN" altLang="en-US" sz="2000" dirty="0">
                <a:latin typeface="Microsoft YaHei UI Light" panose="020B0502040204020203" pitchFamily="34" charset="-122"/>
                <a:ea typeface="微软雅黑 Light" panose="020B0502040204020203" pitchFamily="34" charset="-122"/>
                <a:cs typeface="+mn-ea"/>
                <a:sym typeface="+mn-lt"/>
              </a:rPr>
              <a:t>神经网络：实际为计算矩阵内积</a:t>
            </a:r>
            <a:r>
              <a:rPr lang="en-US" altLang="zh-CN" sz="2000" dirty="0">
                <a:latin typeface="Microsoft YaHei UI Light" panose="020B0502040204020203" pitchFamily="34" charset="-122"/>
                <a:ea typeface="微软雅黑 Light" panose="020B0502040204020203" pitchFamily="34" charset="-122"/>
                <a:cs typeface="+mn-ea"/>
                <a:sym typeface="+mn-lt"/>
              </a:rPr>
              <a:t>(</a:t>
            </a:r>
            <a:r>
              <a:rPr lang="zh-CN" altLang="en-US" sz="2000" dirty="0">
                <a:latin typeface="Microsoft YaHei UI Light" panose="020B0502040204020203" pitchFamily="34" charset="-122"/>
                <a:ea typeface="微软雅黑 Light" panose="020B0502040204020203" pitchFamily="34" charset="-122"/>
                <a:cs typeface="+mn-ea"/>
                <a:sym typeface="+mn-lt"/>
              </a:rPr>
              <a:t>相关系数</a:t>
            </a:r>
            <a:r>
              <a:rPr lang="en-US" altLang="zh-CN" sz="2000" dirty="0">
                <a:latin typeface="Microsoft YaHei UI Light" panose="020B0502040204020203" pitchFamily="34" charset="-122"/>
                <a:ea typeface="微软雅黑 Light" panose="020B0502040204020203" pitchFamily="34" charset="-122"/>
                <a:cs typeface="+mn-ea"/>
                <a:sym typeface="+mn-lt"/>
              </a:rPr>
              <a:t>)</a:t>
            </a:r>
            <a:r>
              <a:rPr lang="zh-CN" altLang="en-US" sz="2000" dirty="0">
                <a:latin typeface="Microsoft YaHei UI Light" panose="020B0502040204020203" pitchFamily="34" charset="-122"/>
                <a:ea typeface="微软雅黑 Light" panose="020B0502040204020203" pitchFamily="34" charset="-122"/>
                <a:cs typeface="+mn-ea"/>
                <a:sym typeface="+mn-lt"/>
              </a:rPr>
              <a:t>；</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
        <p:nvSpPr>
          <p:cNvPr id="12" name="内容占位符 2"/>
          <p:cNvSpPr txBox="1"/>
          <p:nvPr/>
        </p:nvSpPr>
        <p:spPr>
          <a:xfrm>
            <a:off x="7621866" y="2410698"/>
            <a:ext cx="1831947" cy="555810"/>
          </a:xfrm>
          <a:prstGeom prst="rect">
            <a:avLst/>
          </a:prstGeom>
        </p:spPr>
        <p:txBody>
          <a:bodyPr vert="horz">
            <a:normAutofit fontScale="92500"/>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marL="0" indent="0">
              <a:buNone/>
            </a:pPr>
            <a:r>
              <a:rPr lang="en-US" altLang="zh-CN" sz="2000" i="1" dirty="0">
                <a:latin typeface="Microsoft YaHei UI Light" panose="020B0502040204020203" pitchFamily="34" charset="-122"/>
                <a:ea typeface="微软雅黑 Light" panose="020B0502040204020203" pitchFamily="34" charset="-122"/>
                <a:cs typeface="+mn-ea"/>
                <a:sym typeface="+mn-lt"/>
              </a:rPr>
              <a:t>( “ * ”</a:t>
            </a:r>
            <a:r>
              <a:rPr lang="zh-CN" altLang="en-US" sz="2000" i="1" dirty="0">
                <a:latin typeface="Microsoft YaHei UI Light" panose="020B0502040204020203" pitchFamily="34" charset="-122"/>
                <a:ea typeface="微软雅黑 Light" panose="020B0502040204020203" pitchFamily="34" charset="-122"/>
                <a:cs typeface="+mn-ea"/>
                <a:sym typeface="+mn-lt"/>
              </a:rPr>
              <a:t>表示卷积 </a:t>
            </a:r>
            <a:r>
              <a:rPr lang="en-US" altLang="zh-CN" sz="2000" i="1" dirty="0">
                <a:latin typeface="Microsoft YaHei UI Light" panose="020B0502040204020203" pitchFamily="34" charset="-122"/>
                <a:ea typeface="微软雅黑 Light" panose="020B0502040204020203" pitchFamily="34" charset="-122"/>
                <a:cs typeface="+mn-ea"/>
                <a:sym typeface="+mn-lt"/>
              </a:rPr>
              <a:t>)</a:t>
            </a:r>
          </a:p>
        </p:txBody>
      </p:sp>
      <p:graphicFrame>
        <p:nvGraphicFramePr>
          <p:cNvPr id="13" name="表格 12"/>
          <p:cNvGraphicFramePr>
            <a:graphicFrameLocks noGrp="1"/>
          </p:cNvGraphicFramePr>
          <p:nvPr/>
        </p:nvGraphicFramePr>
        <p:xfrm>
          <a:off x="2033945" y="4070848"/>
          <a:ext cx="2226978" cy="2225040"/>
        </p:xfrm>
        <a:graphic>
          <a:graphicData uri="http://schemas.openxmlformats.org/drawingml/2006/table">
            <a:tbl>
              <a:tblPr firstRow="1" bandRow="1">
                <a:tableStyleId>{5940675A-B579-460E-94D1-54222C63F5DA}</a:tableStyleId>
              </a:tblPr>
              <a:tblGrid>
                <a:gridCol w="371163">
                  <a:extLst>
                    <a:ext uri="{9D8B030D-6E8A-4147-A177-3AD203B41FA5}">
                      <a16:colId xmlns:a16="http://schemas.microsoft.com/office/drawing/2014/main" val="20000"/>
                    </a:ext>
                  </a:extLst>
                </a:gridCol>
                <a:gridCol w="371163">
                  <a:extLst>
                    <a:ext uri="{9D8B030D-6E8A-4147-A177-3AD203B41FA5}">
                      <a16:colId xmlns:a16="http://schemas.microsoft.com/office/drawing/2014/main" val="20001"/>
                    </a:ext>
                  </a:extLst>
                </a:gridCol>
                <a:gridCol w="371163">
                  <a:extLst>
                    <a:ext uri="{9D8B030D-6E8A-4147-A177-3AD203B41FA5}">
                      <a16:colId xmlns:a16="http://schemas.microsoft.com/office/drawing/2014/main" val="20002"/>
                    </a:ext>
                  </a:extLst>
                </a:gridCol>
                <a:gridCol w="371163">
                  <a:extLst>
                    <a:ext uri="{9D8B030D-6E8A-4147-A177-3AD203B41FA5}">
                      <a16:colId xmlns:a16="http://schemas.microsoft.com/office/drawing/2014/main" val="20003"/>
                    </a:ext>
                  </a:extLst>
                </a:gridCol>
                <a:gridCol w="371163">
                  <a:extLst>
                    <a:ext uri="{9D8B030D-6E8A-4147-A177-3AD203B41FA5}">
                      <a16:colId xmlns:a16="http://schemas.microsoft.com/office/drawing/2014/main" val="20004"/>
                    </a:ext>
                  </a:extLst>
                </a:gridCol>
                <a:gridCol w="371163">
                  <a:extLst>
                    <a:ext uri="{9D8B030D-6E8A-4147-A177-3AD203B41FA5}">
                      <a16:colId xmlns:a16="http://schemas.microsoft.com/office/drawing/2014/main" val="20005"/>
                    </a:ext>
                  </a:extLst>
                </a:gridCol>
              </a:tblGrid>
              <a:tr h="370840">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5</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5</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9</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2"/>
                  </a:ext>
                </a:extLst>
              </a:tr>
              <a:tr h="370840">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3"/>
                  </a:ext>
                </a:extLst>
              </a:tr>
              <a:tr h="370840">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8</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extLst>
                  <a:ext uri="{0D108BD9-81ED-4DB2-BD59-A6C34878D82A}">
                    <a16:rowId xmlns:a16="http://schemas.microsoft.com/office/drawing/2014/main" val="10004"/>
                  </a:ext>
                </a:extLst>
              </a:tr>
              <a:tr h="370840">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extLst>
                  <a:ext uri="{0D108BD9-81ED-4DB2-BD59-A6C34878D82A}">
                    <a16:rowId xmlns:a16="http://schemas.microsoft.com/office/drawing/2014/main" val="10005"/>
                  </a:ext>
                </a:extLst>
              </a:tr>
            </a:tbl>
          </a:graphicData>
        </a:graphic>
      </p:graphicFrame>
      <p:sp>
        <p:nvSpPr>
          <p:cNvPr id="14" name="文本框 13"/>
          <p:cNvSpPr txBox="1"/>
          <p:nvPr/>
        </p:nvSpPr>
        <p:spPr>
          <a:xfrm>
            <a:off x="4579502" y="4831327"/>
            <a:ext cx="400837" cy="523220"/>
          </a:xfrm>
          <a:prstGeom prst="rect">
            <a:avLst/>
          </a:prstGeom>
          <a:noFill/>
        </p:spPr>
        <p:txBody>
          <a:bodyPr wrap="square" rtlCol="0">
            <a:spAutoFit/>
          </a:bodyPr>
          <a:lstStyle/>
          <a:p>
            <a:r>
              <a:rPr lang="zh-CN" altLang="en-US" sz="2800" dirty="0">
                <a:latin typeface="Microsoft YaHei UI Light" panose="020B0502040204020203" pitchFamily="34" charset="-122"/>
                <a:ea typeface="微软雅黑 Light" panose="020B0502040204020203" pitchFamily="34" charset="-122"/>
                <a:cs typeface="+mn-ea"/>
                <a:sym typeface="+mn-lt"/>
              </a:rPr>
              <a:t>*</a:t>
            </a:r>
          </a:p>
        </p:txBody>
      </p:sp>
      <p:graphicFrame>
        <p:nvGraphicFramePr>
          <p:cNvPr id="16" name="表格 15"/>
          <p:cNvGraphicFramePr>
            <a:graphicFrameLocks noGrp="1"/>
          </p:cNvGraphicFramePr>
          <p:nvPr/>
        </p:nvGraphicFramePr>
        <p:xfrm>
          <a:off x="5247453" y="4542986"/>
          <a:ext cx="1330932" cy="1112520"/>
        </p:xfrm>
        <a:graphic>
          <a:graphicData uri="http://schemas.openxmlformats.org/drawingml/2006/table">
            <a:tbl>
              <a:tblPr firstRow="1" bandRow="1">
                <a:tableStyleId>{5940675A-B579-460E-94D1-54222C63F5DA}</a:tableStyleId>
              </a:tblPr>
              <a:tblGrid>
                <a:gridCol w="443644">
                  <a:extLst>
                    <a:ext uri="{9D8B030D-6E8A-4147-A177-3AD203B41FA5}">
                      <a16:colId xmlns:a16="http://schemas.microsoft.com/office/drawing/2014/main" val="20000"/>
                    </a:ext>
                  </a:extLst>
                </a:gridCol>
                <a:gridCol w="443644">
                  <a:extLst>
                    <a:ext uri="{9D8B030D-6E8A-4147-A177-3AD203B41FA5}">
                      <a16:colId xmlns:a16="http://schemas.microsoft.com/office/drawing/2014/main" val="20001"/>
                    </a:ext>
                  </a:extLst>
                </a:gridCol>
                <a:gridCol w="443644">
                  <a:extLst>
                    <a:ext uri="{9D8B030D-6E8A-4147-A177-3AD203B41FA5}">
                      <a16:colId xmlns:a16="http://schemas.microsoft.com/office/drawing/2014/main" val="20002"/>
                    </a:ext>
                  </a:extLst>
                </a:gridCol>
              </a:tblGrid>
              <a:tr h="370840">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sp>
        <p:nvSpPr>
          <p:cNvPr id="18" name="文本框 17"/>
          <p:cNvSpPr txBox="1"/>
          <p:nvPr/>
        </p:nvSpPr>
        <p:spPr>
          <a:xfrm>
            <a:off x="6646443" y="4831327"/>
            <a:ext cx="400837" cy="523220"/>
          </a:xfrm>
          <a:prstGeom prst="rect">
            <a:avLst/>
          </a:prstGeom>
          <a:noFill/>
        </p:spPr>
        <p:txBody>
          <a:bodyPr wrap="square" rtlCol="0">
            <a:spAutoFit/>
          </a:bodyPr>
          <a:lstStyle/>
          <a:p>
            <a:r>
              <a:rPr lang="en-US" altLang="zh-CN" sz="2800" dirty="0">
                <a:latin typeface="Microsoft YaHei UI Light" panose="020B0502040204020203" pitchFamily="34" charset="-122"/>
                <a:ea typeface="微软雅黑 Light" panose="020B0502040204020203" pitchFamily="34" charset="-122"/>
                <a:cs typeface="+mn-ea"/>
                <a:sym typeface="+mn-lt"/>
              </a:rPr>
              <a:t>=</a:t>
            </a:r>
            <a:endParaRPr lang="zh-CN" altLang="en-US" sz="2800"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19" name="表格 18"/>
          <p:cNvGraphicFramePr>
            <a:graphicFrameLocks noGrp="1"/>
          </p:cNvGraphicFramePr>
          <p:nvPr/>
        </p:nvGraphicFramePr>
        <p:xfrm>
          <a:off x="7365859" y="4351255"/>
          <a:ext cx="1812848" cy="1604500"/>
        </p:xfrm>
        <a:graphic>
          <a:graphicData uri="http://schemas.openxmlformats.org/drawingml/2006/table">
            <a:tbl>
              <a:tblPr firstRow="1" bandRow="1">
                <a:tableStyleId>{5940675A-B579-460E-94D1-54222C63F5DA}</a:tableStyleId>
              </a:tblPr>
              <a:tblGrid>
                <a:gridCol w="453212">
                  <a:extLst>
                    <a:ext uri="{9D8B030D-6E8A-4147-A177-3AD203B41FA5}">
                      <a16:colId xmlns:a16="http://schemas.microsoft.com/office/drawing/2014/main" val="20000"/>
                    </a:ext>
                  </a:extLst>
                </a:gridCol>
                <a:gridCol w="453212">
                  <a:extLst>
                    <a:ext uri="{9D8B030D-6E8A-4147-A177-3AD203B41FA5}">
                      <a16:colId xmlns:a16="http://schemas.microsoft.com/office/drawing/2014/main" val="20001"/>
                    </a:ext>
                  </a:extLst>
                </a:gridCol>
                <a:gridCol w="453212">
                  <a:extLst>
                    <a:ext uri="{9D8B030D-6E8A-4147-A177-3AD203B41FA5}">
                      <a16:colId xmlns:a16="http://schemas.microsoft.com/office/drawing/2014/main" val="20002"/>
                    </a:ext>
                  </a:extLst>
                </a:gridCol>
                <a:gridCol w="453212">
                  <a:extLst>
                    <a:ext uri="{9D8B030D-6E8A-4147-A177-3AD203B41FA5}">
                      <a16:colId xmlns:a16="http://schemas.microsoft.com/office/drawing/2014/main" val="20003"/>
                    </a:ext>
                  </a:extLst>
                </a:gridCol>
              </a:tblGrid>
              <a:tr h="401125">
                <a:tc>
                  <a:txBody>
                    <a:bodyPr/>
                    <a:lstStyle/>
                    <a:p>
                      <a:pPr algn="ctr"/>
                      <a:r>
                        <a:rPr lang="en-US" altLang="zh-CN" dirty="0">
                          <a:solidFill>
                            <a:srgbClr val="0070C0"/>
                          </a:solidFill>
                          <a:latin typeface="+mn-lt"/>
                          <a:ea typeface="+mn-ea"/>
                          <a:cs typeface="+mn-ea"/>
                          <a:sym typeface="+mn-lt"/>
                        </a:rPr>
                        <a:t>32</a:t>
                      </a:r>
                      <a:endParaRPr lang="zh-CN" altLang="en-US" dirty="0">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extLst>
                  <a:ext uri="{0D108BD9-81ED-4DB2-BD59-A6C34878D82A}">
                    <a16:rowId xmlns:a16="http://schemas.microsoft.com/office/drawing/2014/main" val="10000"/>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dirty="0">
                        <a:solidFill>
                          <a:srgbClr val="0070C0"/>
                        </a:solidFill>
                        <a:latin typeface="+mn-lt"/>
                        <a:ea typeface="+mn-ea"/>
                        <a:cs typeface="+mn-ea"/>
                        <a:sym typeface="+mn-lt"/>
                      </a:endParaRPr>
                    </a:p>
                  </a:txBody>
                  <a:tcPr/>
                </a:tc>
                <a:extLst>
                  <a:ext uri="{0D108BD9-81ED-4DB2-BD59-A6C34878D82A}">
                    <a16:rowId xmlns:a16="http://schemas.microsoft.com/office/drawing/2014/main" val="10001"/>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dirty="0">
                        <a:solidFill>
                          <a:srgbClr val="0070C0"/>
                        </a:solidFill>
                        <a:latin typeface="+mn-lt"/>
                        <a:ea typeface="+mn-ea"/>
                        <a:cs typeface="+mn-ea"/>
                        <a:sym typeface="+mn-lt"/>
                      </a:endParaRPr>
                    </a:p>
                  </a:txBody>
                  <a:tcPr/>
                </a:tc>
                <a:extLst>
                  <a:ext uri="{0D108BD9-81ED-4DB2-BD59-A6C34878D82A}">
                    <a16:rowId xmlns:a16="http://schemas.microsoft.com/office/drawing/2014/main" val="10002"/>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dirty="0">
                        <a:solidFill>
                          <a:srgbClr val="0070C0"/>
                        </a:solidFill>
                        <a:latin typeface="+mn-lt"/>
                        <a:ea typeface="+mn-ea"/>
                        <a:cs typeface="+mn-ea"/>
                        <a:sym typeface="+mn-lt"/>
                      </a:endParaRPr>
                    </a:p>
                  </a:txBody>
                  <a:tcPr/>
                </a:tc>
                <a:extLst>
                  <a:ext uri="{0D108BD9-81ED-4DB2-BD59-A6C34878D82A}">
                    <a16:rowId xmlns:a16="http://schemas.microsoft.com/office/drawing/2014/main" val="10003"/>
                  </a:ext>
                </a:extLst>
              </a:tr>
            </a:tbl>
          </a:graphicData>
        </a:graphic>
      </p:graphicFrame>
      <p:sp>
        <p:nvSpPr>
          <p:cNvPr id="20" name="矩形 19"/>
          <p:cNvSpPr/>
          <p:nvPr/>
        </p:nvSpPr>
        <p:spPr>
          <a:xfrm>
            <a:off x="1959318" y="3992485"/>
            <a:ext cx="1256434" cy="125213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graphicFrame>
        <p:nvGraphicFramePr>
          <p:cNvPr id="21" name="表格 20"/>
          <p:cNvGraphicFramePr>
            <a:graphicFrameLocks noGrp="1"/>
          </p:cNvGraphicFramePr>
          <p:nvPr/>
        </p:nvGraphicFramePr>
        <p:xfrm>
          <a:off x="2218183" y="4037310"/>
          <a:ext cx="1072197" cy="1112520"/>
        </p:xfrm>
        <a:graphic>
          <a:graphicData uri="http://schemas.openxmlformats.org/drawingml/2006/table">
            <a:tbl>
              <a:tblPr firstRow="1" bandRow="1">
                <a:tableStyleId>{2D5ABB26-0587-4C30-8999-92F81FD0307C}</a:tableStyleId>
              </a:tblPr>
              <a:tblGrid>
                <a:gridCol w="357399">
                  <a:extLst>
                    <a:ext uri="{9D8B030D-6E8A-4147-A177-3AD203B41FA5}">
                      <a16:colId xmlns:a16="http://schemas.microsoft.com/office/drawing/2014/main" val="20000"/>
                    </a:ext>
                  </a:extLst>
                </a:gridCol>
                <a:gridCol w="357399">
                  <a:extLst>
                    <a:ext uri="{9D8B030D-6E8A-4147-A177-3AD203B41FA5}">
                      <a16:colId xmlns:a16="http://schemas.microsoft.com/office/drawing/2014/main" val="20001"/>
                    </a:ext>
                  </a:extLst>
                </a:gridCol>
                <a:gridCol w="357399">
                  <a:extLst>
                    <a:ext uri="{9D8B030D-6E8A-4147-A177-3AD203B41FA5}">
                      <a16:colId xmlns:a16="http://schemas.microsoft.com/office/drawing/2014/main" val="20002"/>
                    </a:ext>
                  </a:extLst>
                </a:gridCol>
              </a:tblGrid>
              <a:tr h="370840">
                <a:tc>
                  <a:txBody>
                    <a:bodyPr/>
                    <a:lstStyle/>
                    <a:p>
                      <a:pPr algn="l"/>
                      <a:r>
                        <a:rPr lang="en-US" altLang="zh-CN" sz="1050" dirty="0">
                          <a:solidFill>
                            <a:srgbClr val="0070C0"/>
                          </a:solidFill>
                          <a:latin typeface="+mn-lt"/>
                          <a:ea typeface="+mn-ea"/>
                          <a:cs typeface="+mn-ea"/>
                          <a:sym typeface="+mn-lt"/>
                        </a:rPr>
                        <a:t>1</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0</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1</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l"/>
                      <a:r>
                        <a:rPr lang="en-US" altLang="zh-CN" sz="1050" dirty="0">
                          <a:solidFill>
                            <a:srgbClr val="0070C0"/>
                          </a:solidFill>
                          <a:latin typeface="+mn-lt"/>
                          <a:ea typeface="+mn-ea"/>
                          <a:cs typeface="+mn-ea"/>
                          <a:sym typeface="+mn-lt"/>
                        </a:rPr>
                        <a:t>4</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-3</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2</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l"/>
                      <a:r>
                        <a:rPr lang="en-US" altLang="zh-CN" sz="1050" dirty="0">
                          <a:solidFill>
                            <a:srgbClr val="0070C0"/>
                          </a:solidFill>
                          <a:latin typeface="+mn-lt"/>
                          <a:ea typeface="+mn-ea"/>
                          <a:cs typeface="+mn-ea"/>
                          <a:sym typeface="+mn-lt"/>
                        </a:rPr>
                        <a:t>3</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0</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-1</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卷积层</a:t>
            </a:r>
            <a:endParaRPr lang="en-US" altLang="zh-CN" sz="2800" b="1" dirty="0"/>
          </a:p>
        </p:txBody>
      </p:sp>
      <p:graphicFrame>
        <p:nvGraphicFramePr>
          <p:cNvPr id="8" name="表格 7"/>
          <p:cNvGraphicFramePr>
            <a:graphicFrameLocks noGrp="1"/>
          </p:cNvGraphicFramePr>
          <p:nvPr/>
        </p:nvGraphicFramePr>
        <p:xfrm>
          <a:off x="2056128" y="1577174"/>
          <a:ext cx="2226978" cy="2225040"/>
        </p:xfrm>
        <a:graphic>
          <a:graphicData uri="http://schemas.openxmlformats.org/drawingml/2006/table">
            <a:tbl>
              <a:tblPr firstRow="1" bandRow="1">
                <a:tableStyleId>{5940675A-B579-460E-94D1-54222C63F5DA}</a:tableStyleId>
              </a:tblPr>
              <a:tblGrid>
                <a:gridCol w="371163">
                  <a:extLst>
                    <a:ext uri="{9D8B030D-6E8A-4147-A177-3AD203B41FA5}">
                      <a16:colId xmlns:a16="http://schemas.microsoft.com/office/drawing/2014/main" val="20000"/>
                    </a:ext>
                  </a:extLst>
                </a:gridCol>
                <a:gridCol w="371163">
                  <a:extLst>
                    <a:ext uri="{9D8B030D-6E8A-4147-A177-3AD203B41FA5}">
                      <a16:colId xmlns:a16="http://schemas.microsoft.com/office/drawing/2014/main" val="20001"/>
                    </a:ext>
                  </a:extLst>
                </a:gridCol>
                <a:gridCol w="371163">
                  <a:extLst>
                    <a:ext uri="{9D8B030D-6E8A-4147-A177-3AD203B41FA5}">
                      <a16:colId xmlns:a16="http://schemas.microsoft.com/office/drawing/2014/main" val="20002"/>
                    </a:ext>
                  </a:extLst>
                </a:gridCol>
                <a:gridCol w="371163">
                  <a:extLst>
                    <a:ext uri="{9D8B030D-6E8A-4147-A177-3AD203B41FA5}">
                      <a16:colId xmlns:a16="http://schemas.microsoft.com/office/drawing/2014/main" val="20003"/>
                    </a:ext>
                  </a:extLst>
                </a:gridCol>
                <a:gridCol w="371163">
                  <a:extLst>
                    <a:ext uri="{9D8B030D-6E8A-4147-A177-3AD203B41FA5}">
                      <a16:colId xmlns:a16="http://schemas.microsoft.com/office/drawing/2014/main" val="20004"/>
                    </a:ext>
                  </a:extLst>
                </a:gridCol>
                <a:gridCol w="371163">
                  <a:extLst>
                    <a:ext uri="{9D8B030D-6E8A-4147-A177-3AD203B41FA5}">
                      <a16:colId xmlns:a16="http://schemas.microsoft.com/office/drawing/2014/main" val="20005"/>
                    </a:ext>
                  </a:extLst>
                </a:gridCol>
              </a:tblGrid>
              <a:tr h="370840">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5</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5</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9</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2"/>
                  </a:ext>
                </a:extLst>
              </a:tr>
              <a:tr h="370840">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3"/>
                  </a:ext>
                </a:extLst>
              </a:tr>
              <a:tr h="370840">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8</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extLst>
                  <a:ext uri="{0D108BD9-81ED-4DB2-BD59-A6C34878D82A}">
                    <a16:rowId xmlns:a16="http://schemas.microsoft.com/office/drawing/2014/main" val="10004"/>
                  </a:ext>
                </a:extLst>
              </a:tr>
              <a:tr h="370840">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extLst>
                  <a:ext uri="{0D108BD9-81ED-4DB2-BD59-A6C34878D82A}">
                    <a16:rowId xmlns:a16="http://schemas.microsoft.com/office/drawing/2014/main" val="10005"/>
                  </a:ext>
                </a:extLst>
              </a:tr>
            </a:tbl>
          </a:graphicData>
        </a:graphic>
      </p:graphicFrame>
      <p:sp>
        <p:nvSpPr>
          <p:cNvPr id="9" name="文本框 8"/>
          <p:cNvSpPr txBox="1"/>
          <p:nvPr/>
        </p:nvSpPr>
        <p:spPr>
          <a:xfrm>
            <a:off x="4601685" y="2337653"/>
            <a:ext cx="400837" cy="523220"/>
          </a:xfrm>
          <a:prstGeom prst="rect">
            <a:avLst/>
          </a:prstGeom>
          <a:noFill/>
        </p:spPr>
        <p:txBody>
          <a:bodyPr wrap="square" rtlCol="0">
            <a:spAutoFit/>
          </a:bodyPr>
          <a:lstStyle/>
          <a:p>
            <a:r>
              <a:rPr lang="zh-CN" altLang="en-US" sz="2800" dirty="0">
                <a:latin typeface="Microsoft YaHei UI Light" panose="020B0502040204020203" pitchFamily="34" charset="-122"/>
                <a:ea typeface="微软雅黑 Light" panose="020B0502040204020203" pitchFamily="34" charset="-122"/>
                <a:cs typeface="+mn-ea"/>
                <a:sym typeface="+mn-lt"/>
              </a:rPr>
              <a:t>*</a:t>
            </a:r>
          </a:p>
        </p:txBody>
      </p:sp>
      <p:graphicFrame>
        <p:nvGraphicFramePr>
          <p:cNvPr id="10" name="表格 9"/>
          <p:cNvGraphicFramePr>
            <a:graphicFrameLocks noGrp="1"/>
          </p:cNvGraphicFramePr>
          <p:nvPr/>
        </p:nvGraphicFramePr>
        <p:xfrm>
          <a:off x="5269636" y="2049312"/>
          <a:ext cx="1262577" cy="1112520"/>
        </p:xfrm>
        <a:graphic>
          <a:graphicData uri="http://schemas.openxmlformats.org/drawingml/2006/table">
            <a:tbl>
              <a:tblPr firstRow="1" bandRow="1">
                <a:tableStyleId>{5940675A-B579-460E-94D1-54222C63F5DA}</a:tableStyleId>
              </a:tblPr>
              <a:tblGrid>
                <a:gridCol w="420859">
                  <a:extLst>
                    <a:ext uri="{9D8B030D-6E8A-4147-A177-3AD203B41FA5}">
                      <a16:colId xmlns:a16="http://schemas.microsoft.com/office/drawing/2014/main" val="20000"/>
                    </a:ext>
                  </a:extLst>
                </a:gridCol>
                <a:gridCol w="420859">
                  <a:extLst>
                    <a:ext uri="{9D8B030D-6E8A-4147-A177-3AD203B41FA5}">
                      <a16:colId xmlns:a16="http://schemas.microsoft.com/office/drawing/2014/main" val="20001"/>
                    </a:ext>
                  </a:extLst>
                </a:gridCol>
                <a:gridCol w="420859">
                  <a:extLst>
                    <a:ext uri="{9D8B030D-6E8A-4147-A177-3AD203B41FA5}">
                      <a16:colId xmlns:a16="http://schemas.microsoft.com/office/drawing/2014/main" val="20002"/>
                    </a:ext>
                  </a:extLst>
                </a:gridCol>
              </a:tblGrid>
              <a:tr h="370840">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sp>
        <p:nvSpPr>
          <p:cNvPr id="11" name="文本框 10"/>
          <p:cNvSpPr txBox="1"/>
          <p:nvPr/>
        </p:nvSpPr>
        <p:spPr>
          <a:xfrm>
            <a:off x="6668626" y="2337653"/>
            <a:ext cx="400837" cy="523220"/>
          </a:xfrm>
          <a:prstGeom prst="rect">
            <a:avLst/>
          </a:prstGeom>
          <a:noFill/>
        </p:spPr>
        <p:txBody>
          <a:bodyPr wrap="square" rtlCol="0">
            <a:spAutoFit/>
          </a:bodyPr>
          <a:lstStyle/>
          <a:p>
            <a:r>
              <a:rPr lang="en-US" altLang="zh-CN" sz="2800" dirty="0">
                <a:latin typeface="Microsoft YaHei UI Light" panose="020B0502040204020203" pitchFamily="34" charset="-122"/>
                <a:ea typeface="微软雅黑 Light" panose="020B0502040204020203" pitchFamily="34" charset="-122"/>
                <a:cs typeface="+mn-ea"/>
                <a:sym typeface="+mn-lt"/>
              </a:rPr>
              <a:t>=</a:t>
            </a:r>
            <a:endParaRPr lang="zh-CN" altLang="en-US" sz="2800"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12" name="表格 11"/>
          <p:cNvGraphicFramePr>
            <a:graphicFrameLocks noGrp="1"/>
          </p:cNvGraphicFramePr>
          <p:nvPr/>
        </p:nvGraphicFramePr>
        <p:xfrm>
          <a:off x="7388042" y="1857581"/>
          <a:ext cx="1868320" cy="1604500"/>
        </p:xfrm>
        <a:graphic>
          <a:graphicData uri="http://schemas.openxmlformats.org/drawingml/2006/table">
            <a:tbl>
              <a:tblPr firstRow="1" bandRow="1">
                <a:tableStyleId>{5940675A-B579-460E-94D1-54222C63F5DA}</a:tableStyleId>
              </a:tblPr>
              <a:tblGrid>
                <a:gridCol w="467080">
                  <a:extLst>
                    <a:ext uri="{9D8B030D-6E8A-4147-A177-3AD203B41FA5}">
                      <a16:colId xmlns:a16="http://schemas.microsoft.com/office/drawing/2014/main" val="20000"/>
                    </a:ext>
                  </a:extLst>
                </a:gridCol>
                <a:gridCol w="467080">
                  <a:extLst>
                    <a:ext uri="{9D8B030D-6E8A-4147-A177-3AD203B41FA5}">
                      <a16:colId xmlns:a16="http://schemas.microsoft.com/office/drawing/2014/main" val="20001"/>
                    </a:ext>
                  </a:extLst>
                </a:gridCol>
                <a:gridCol w="467080">
                  <a:extLst>
                    <a:ext uri="{9D8B030D-6E8A-4147-A177-3AD203B41FA5}">
                      <a16:colId xmlns:a16="http://schemas.microsoft.com/office/drawing/2014/main" val="20002"/>
                    </a:ext>
                  </a:extLst>
                </a:gridCol>
                <a:gridCol w="467080">
                  <a:extLst>
                    <a:ext uri="{9D8B030D-6E8A-4147-A177-3AD203B41FA5}">
                      <a16:colId xmlns:a16="http://schemas.microsoft.com/office/drawing/2014/main" val="20003"/>
                    </a:ext>
                  </a:extLst>
                </a:gridCol>
              </a:tblGrid>
              <a:tr h="401125">
                <a:tc>
                  <a:txBody>
                    <a:bodyPr/>
                    <a:lstStyle/>
                    <a:p>
                      <a:pPr algn="ctr"/>
                      <a:r>
                        <a:rPr lang="en-US" altLang="zh-CN" dirty="0">
                          <a:solidFill>
                            <a:schemeClr val="tx1"/>
                          </a:solidFill>
                          <a:latin typeface="+mn-lt"/>
                          <a:ea typeface="+mn-ea"/>
                          <a:cs typeface="+mn-ea"/>
                          <a:sym typeface="+mn-lt"/>
                        </a:rPr>
                        <a:t>32</a:t>
                      </a:r>
                      <a:endParaRPr lang="zh-CN" altLang="en-US" dirty="0">
                        <a:solidFill>
                          <a:schemeClr val="tx1"/>
                        </a:solidFill>
                        <a:latin typeface="+mn-lt"/>
                        <a:ea typeface="+mn-ea"/>
                        <a:cs typeface="+mn-ea"/>
                        <a:sym typeface="+mn-lt"/>
                      </a:endParaRPr>
                    </a:p>
                  </a:txBody>
                  <a:tcPr/>
                </a:tc>
                <a:tc>
                  <a:txBody>
                    <a:bodyPr/>
                    <a:lstStyle/>
                    <a:p>
                      <a:pPr algn="ctr"/>
                      <a:r>
                        <a:rPr lang="en-US" altLang="zh-CN" dirty="0">
                          <a:solidFill>
                            <a:srgbClr val="0070C0"/>
                          </a:solidFill>
                          <a:latin typeface="+mn-lt"/>
                          <a:ea typeface="+mn-ea"/>
                          <a:cs typeface="+mn-ea"/>
                          <a:sym typeface="+mn-lt"/>
                        </a:rPr>
                        <a:t>40</a:t>
                      </a:r>
                      <a:endParaRPr lang="zh-CN" altLang="en-US" dirty="0">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extLst>
                  <a:ext uri="{0D108BD9-81ED-4DB2-BD59-A6C34878D82A}">
                    <a16:rowId xmlns:a16="http://schemas.microsoft.com/office/drawing/2014/main" val="10000"/>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extLst>
                  <a:ext uri="{0D108BD9-81ED-4DB2-BD59-A6C34878D82A}">
                    <a16:rowId xmlns:a16="http://schemas.microsoft.com/office/drawing/2014/main" val="10001"/>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dirty="0">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extLst>
                  <a:ext uri="{0D108BD9-81ED-4DB2-BD59-A6C34878D82A}">
                    <a16:rowId xmlns:a16="http://schemas.microsoft.com/office/drawing/2014/main" val="10002"/>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dirty="0">
                        <a:solidFill>
                          <a:srgbClr val="0070C0"/>
                        </a:solidFill>
                        <a:latin typeface="+mn-lt"/>
                        <a:ea typeface="+mn-ea"/>
                        <a:cs typeface="+mn-ea"/>
                        <a:sym typeface="+mn-lt"/>
                      </a:endParaRPr>
                    </a:p>
                  </a:txBody>
                  <a:tcPr/>
                </a:tc>
                <a:extLst>
                  <a:ext uri="{0D108BD9-81ED-4DB2-BD59-A6C34878D82A}">
                    <a16:rowId xmlns:a16="http://schemas.microsoft.com/office/drawing/2014/main" val="10003"/>
                  </a:ext>
                </a:extLst>
              </a:tr>
            </a:tbl>
          </a:graphicData>
        </a:graphic>
      </p:graphicFrame>
      <p:sp>
        <p:nvSpPr>
          <p:cNvPr id="13" name="矩形 12"/>
          <p:cNvSpPr/>
          <p:nvPr/>
        </p:nvSpPr>
        <p:spPr>
          <a:xfrm>
            <a:off x="2357133" y="1500722"/>
            <a:ext cx="1256434" cy="125213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graphicFrame>
        <p:nvGraphicFramePr>
          <p:cNvPr id="14" name="表格 13"/>
          <p:cNvGraphicFramePr>
            <a:graphicFrameLocks noGrp="1"/>
          </p:cNvGraphicFramePr>
          <p:nvPr/>
        </p:nvGraphicFramePr>
        <p:xfrm>
          <a:off x="2606623" y="1538873"/>
          <a:ext cx="1072197" cy="1112520"/>
        </p:xfrm>
        <a:graphic>
          <a:graphicData uri="http://schemas.openxmlformats.org/drawingml/2006/table">
            <a:tbl>
              <a:tblPr firstRow="1" bandRow="1">
                <a:tableStyleId>{2D5ABB26-0587-4C30-8999-92F81FD0307C}</a:tableStyleId>
              </a:tblPr>
              <a:tblGrid>
                <a:gridCol w="357399">
                  <a:extLst>
                    <a:ext uri="{9D8B030D-6E8A-4147-A177-3AD203B41FA5}">
                      <a16:colId xmlns:a16="http://schemas.microsoft.com/office/drawing/2014/main" val="20000"/>
                    </a:ext>
                  </a:extLst>
                </a:gridCol>
                <a:gridCol w="357399">
                  <a:extLst>
                    <a:ext uri="{9D8B030D-6E8A-4147-A177-3AD203B41FA5}">
                      <a16:colId xmlns:a16="http://schemas.microsoft.com/office/drawing/2014/main" val="20001"/>
                    </a:ext>
                  </a:extLst>
                </a:gridCol>
                <a:gridCol w="357399">
                  <a:extLst>
                    <a:ext uri="{9D8B030D-6E8A-4147-A177-3AD203B41FA5}">
                      <a16:colId xmlns:a16="http://schemas.microsoft.com/office/drawing/2014/main" val="20002"/>
                    </a:ext>
                  </a:extLst>
                </a:gridCol>
              </a:tblGrid>
              <a:tr h="370840">
                <a:tc>
                  <a:txBody>
                    <a:bodyPr/>
                    <a:lstStyle/>
                    <a:p>
                      <a:pPr algn="l"/>
                      <a:r>
                        <a:rPr lang="en-US" altLang="zh-CN" sz="1050" dirty="0">
                          <a:solidFill>
                            <a:srgbClr val="0070C0"/>
                          </a:solidFill>
                          <a:latin typeface="+mn-lt"/>
                          <a:ea typeface="+mn-ea"/>
                          <a:cs typeface="+mn-ea"/>
                          <a:sym typeface="+mn-lt"/>
                        </a:rPr>
                        <a:t>1</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0</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1</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l"/>
                      <a:r>
                        <a:rPr lang="en-US" altLang="zh-CN" sz="1050" dirty="0">
                          <a:solidFill>
                            <a:srgbClr val="0070C0"/>
                          </a:solidFill>
                          <a:latin typeface="+mn-lt"/>
                          <a:ea typeface="+mn-ea"/>
                          <a:cs typeface="+mn-ea"/>
                          <a:sym typeface="+mn-lt"/>
                        </a:rPr>
                        <a:t>4</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-3</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2</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l"/>
                      <a:r>
                        <a:rPr lang="en-US" altLang="zh-CN" sz="1050" dirty="0">
                          <a:solidFill>
                            <a:srgbClr val="0070C0"/>
                          </a:solidFill>
                          <a:latin typeface="+mn-lt"/>
                          <a:ea typeface="+mn-ea"/>
                          <a:cs typeface="+mn-ea"/>
                          <a:sym typeface="+mn-lt"/>
                        </a:rPr>
                        <a:t>3</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0</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-1</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graphicFrame>
        <p:nvGraphicFramePr>
          <p:cNvPr id="16" name="表格 15"/>
          <p:cNvGraphicFramePr>
            <a:graphicFrameLocks noGrp="1"/>
          </p:cNvGraphicFramePr>
          <p:nvPr/>
        </p:nvGraphicFramePr>
        <p:xfrm>
          <a:off x="2056128" y="4196781"/>
          <a:ext cx="2226978" cy="2225040"/>
        </p:xfrm>
        <a:graphic>
          <a:graphicData uri="http://schemas.openxmlformats.org/drawingml/2006/table">
            <a:tbl>
              <a:tblPr firstRow="1" bandRow="1">
                <a:tableStyleId>{5940675A-B579-460E-94D1-54222C63F5DA}</a:tableStyleId>
              </a:tblPr>
              <a:tblGrid>
                <a:gridCol w="371163">
                  <a:extLst>
                    <a:ext uri="{9D8B030D-6E8A-4147-A177-3AD203B41FA5}">
                      <a16:colId xmlns:a16="http://schemas.microsoft.com/office/drawing/2014/main" val="20000"/>
                    </a:ext>
                  </a:extLst>
                </a:gridCol>
                <a:gridCol w="371163">
                  <a:extLst>
                    <a:ext uri="{9D8B030D-6E8A-4147-A177-3AD203B41FA5}">
                      <a16:colId xmlns:a16="http://schemas.microsoft.com/office/drawing/2014/main" val="20001"/>
                    </a:ext>
                  </a:extLst>
                </a:gridCol>
                <a:gridCol w="371163">
                  <a:extLst>
                    <a:ext uri="{9D8B030D-6E8A-4147-A177-3AD203B41FA5}">
                      <a16:colId xmlns:a16="http://schemas.microsoft.com/office/drawing/2014/main" val="20002"/>
                    </a:ext>
                  </a:extLst>
                </a:gridCol>
                <a:gridCol w="371163">
                  <a:extLst>
                    <a:ext uri="{9D8B030D-6E8A-4147-A177-3AD203B41FA5}">
                      <a16:colId xmlns:a16="http://schemas.microsoft.com/office/drawing/2014/main" val="20003"/>
                    </a:ext>
                  </a:extLst>
                </a:gridCol>
                <a:gridCol w="371163">
                  <a:extLst>
                    <a:ext uri="{9D8B030D-6E8A-4147-A177-3AD203B41FA5}">
                      <a16:colId xmlns:a16="http://schemas.microsoft.com/office/drawing/2014/main" val="20004"/>
                    </a:ext>
                  </a:extLst>
                </a:gridCol>
                <a:gridCol w="371163">
                  <a:extLst>
                    <a:ext uri="{9D8B030D-6E8A-4147-A177-3AD203B41FA5}">
                      <a16:colId xmlns:a16="http://schemas.microsoft.com/office/drawing/2014/main" val="20005"/>
                    </a:ext>
                  </a:extLst>
                </a:gridCol>
              </a:tblGrid>
              <a:tr h="370840">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5</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5</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9</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2"/>
                  </a:ext>
                </a:extLst>
              </a:tr>
              <a:tr h="370840">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3"/>
                  </a:ext>
                </a:extLst>
              </a:tr>
              <a:tr h="370840">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8</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extLst>
                  <a:ext uri="{0D108BD9-81ED-4DB2-BD59-A6C34878D82A}">
                    <a16:rowId xmlns:a16="http://schemas.microsoft.com/office/drawing/2014/main" val="10004"/>
                  </a:ext>
                </a:extLst>
              </a:tr>
              <a:tr h="370840">
                <a:tc>
                  <a:txBody>
                    <a:bodyPr/>
                    <a:lstStyle/>
                    <a:p>
                      <a:pPr algn="ctr"/>
                      <a:r>
                        <a:rPr lang="en-US" altLang="zh-CN" dirty="0">
                          <a:latin typeface="+mn-lt"/>
                          <a:ea typeface="+mn-ea"/>
                          <a:cs typeface="+mn-ea"/>
                          <a:sym typeface="+mn-lt"/>
                        </a:rPr>
                        <a:t>7</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6</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extLst>
                  <a:ext uri="{0D108BD9-81ED-4DB2-BD59-A6C34878D82A}">
                    <a16:rowId xmlns:a16="http://schemas.microsoft.com/office/drawing/2014/main" val="10005"/>
                  </a:ext>
                </a:extLst>
              </a:tr>
            </a:tbl>
          </a:graphicData>
        </a:graphic>
      </p:graphicFrame>
      <p:sp>
        <p:nvSpPr>
          <p:cNvPr id="18" name="文本框 17"/>
          <p:cNvSpPr txBox="1"/>
          <p:nvPr/>
        </p:nvSpPr>
        <p:spPr>
          <a:xfrm>
            <a:off x="4601685" y="4957260"/>
            <a:ext cx="400837" cy="523220"/>
          </a:xfrm>
          <a:prstGeom prst="rect">
            <a:avLst/>
          </a:prstGeom>
          <a:noFill/>
        </p:spPr>
        <p:txBody>
          <a:bodyPr wrap="square" rtlCol="0">
            <a:spAutoFit/>
          </a:bodyPr>
          <a:lstStyle/>
          <a:p>
            <a:r>
              <a:rPr lang="zh-CN" altLang="en-US" sz="2800" dirty="0">
                <a:latin typeface="Microsoft YaHei UI Light" panose="020B0502040204020203" pitchFamily="34" charset="-122"/>
                <a:ea typeface="微软雅黑 Light" panose="020B0502040204020203" pitchFamily="34" charset="-122"/>
                <a:cs typeface="+mn-ea"/>
                <a:sym typeface="+mn-lt"/>
              </a:rPr>
              <a:t>*</a:t>
            </a:r>
          </a:p>
        </p:txBody>
      </p:sp>
      <p:graphicFrame>
        <p:nvGraphicFramePr>
          <p:cNvPr id="19" name="表格 18"/>
          <p:cNvGraphicFramePr>
            <a:graphicFrameLocks noGrp="1"/>
          </p:cNvGraphicFramePr>
          <p:nvPr/>
        </p:nvGraphicFramePr>
        <p:xfrm>
          <a:off x="5269635" y="4668919"/>
          <a:ext cx="1262577" cy="1112520"/>
        </p:xfrm>
        <a:graphic>
          <a:graphicData uri="http://schemas.openxmlformats.org/drawingml/2006/table">
            <a:tbl>
              <a:tblPr firstRow="1" bandRow="1">
                <a:tableStyleId>{5940675A-B579-460E-94D1-54222C63F5DA}</a:tableStyleId>
              </a:tblPr>
              <a:tblGrid>
                <a:gridCol w="420859">
                  <a:extLst>
                    <a:ext uri="{9D8B030D-6E8A-4147-A177-3AD203B41FA5}">
                      <a16:colId xmlns:a16="http://schemas.microsoft.com/office/drawing/2014/main" val="20000"/>
                    </a:ext>
                  </a:extLst>
                </a:gridCol>
                <a:gridCol w="420859">
                  <a:extLst>
                    <a:ext uri="{9D8B030D-6E8A-4147-A177-3AD203B41FA5}">
                      <a16:colId xmlns:a16="http://schemas.microsoft.com/office/drawing/2014/main" val="20001"/>
                    </a:ext>
                  </a:extLst>
                </a:gridCol>
                <a:gridCol w="420859">
                  <a:extLst>
                    <a:ext uri="{9D8B030D-6E8A-4147-A177-3AD203B41FA5}">
                      <a16:colId xmlns:a16="http://schemas.microsoft.com/office/drawing/2014/main" val="20002"/>
                    </a:ext>
                  </a:extLst>
                </a:gridCol>
              </a:tblGrid>
              <a:tr h="370840">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mn-lt"/>
                          <a:ea typeface="+mn-ea"/>
                          <a:cs typeface="+mn-ea"/>
                          <a:sym typeface="+mn-lt"/>
                        </a:rPr>
                        <a:t>4</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2</a:t>
                      </a:r>
                      <a:endParaRPr lang="zh-CN" altLang="en-US"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ctr"/>
                      <a:r>
                        <a:rPr lang="en-US" altLang="zh-CN" dirty="0">
                          <a:latin typeface="+mn-lt"/>
                          <a:ea typeface="+mn-ea"/>
                          <a:cs typeface="+mn-ea"/>
                          <a:sym typeface="+mn-lt"/>
                        </a:rPr>
                        <a:t>3</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0</a:t>
                      </a:r>
                      <a:endParaRPr lang="zh-CN" altLang="en-US" dirty="0">
                        <a:latin typeface="+mn-lt"/>
                        <a:ea typeface="+mn-ea"/>
                        <a:cs typeface="+mn-ea"/>
                        <a:sym typeface="+mn-lt"/>
                      </a:endParaRPr>
                    </a:p>
                  </a:txBody>
                  <a:tcPr/>
                </a:tc>
                <a:tc>
                  <a:txBody>
                    <a:bodyPr/>
                    <a:lstStyle/>
                    <a:p>
                      <a:pPr algn="ctr"/>
                      <a:r>
                        <a:rPr lang="en-US" altLang="zh-CN" dirty="0">
                          <a:latin typeface="+mn-lt"/>
                          <a:ea typeface="+mn-ea"/>
                          <a:cs typeface="+mn-ea"/>
                          <a:sym typeface="+mn-lt"/>
                        </a:rPr>
                        <a:t>-1</a:t>
                      </a:r>
                      <a:endParaRPr lang="zh-CN" altLang="en-US" dirty="0">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sp>
        <p:nvSpPr>
          <p:cNvPr id="20" name="文本框 19"/>
          <p:cNvSpPr txBox="1"/>
          <p:nvPr/>
        </p:nvSpPr>
        <p:spPr>
          <a:xfrm>
            <a:off x="6668626" y="4957260"/>
            <a:ext cx="400837" cy="523220"/>
          </a:xfrm>
          <a:prstGeom prst="rect">
            <a:avLst/>
          </a:prstGeom>
          <a:noFill/>
        </p:spPr>
        <p:txBody>
          <a:bodyPr wrap="square" rtlCol="0">
            <a:spAutoFit/>
          </a:bodyPr>
          <a:lstStyle/>
          <a:p>
            <a:r>
              <a:rPr lang="en-US" altLang="zh-CN" sz="2800" dirty="0">
                <a:latin typeface="Microsoft YaHei UI Light" panose="020B0502040204020203" pitchFamily="34" charset="-122"/>
                <a:ea typeface="微软雅黑 Light" panose="020B0502040204020203" pitchFamily="34" charset="-122"/>
                <a:cs typeface="+mn-ea"/>
                <a:sym typeface="+mn-lt"/>
              </a:rPr>
              <a:t>=</a:t>
            </a:r>
            <a:endParaRPr lang="zh-CN" altLang="en-US" sz="2800"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21" name="表格 20"/>
          <p:cNvGraphicFramePr>
            <a:graphicFrameLocks noGrp="1"/>
          </p:cNvGraphicFramePr>
          <p:nvPr/>
        </p:nvGraphicFramePr>
        <p:xfrm>
          <a:off x="7388042" y="4477188"/>
          <a:ext cx="1868320" cy="1604500"/>
        </p:xfrm>
        <a:graphic>
          <a:graphicData uri="http://schemas.openxmlformats.org/drawingml/2006/table">
            <a:tbl>
              <a:tblPr firstRow="1" bandRow="1">
                <a:tableStyleId>{5940675A-B579-460E-94D1-54222C63F5DA}</a:tableStyleId>
              </a:tblPr>
              <a:tblGrid>
                <a:gridCol w="467080">
                  <a:extLst>
                    <a:ext uri="{9D8B030D-6E8A-4147-A177-3AD203B41FA5}">
                      <a16:colId xmlns:a16="http://schemas.microsoft.com/office/drawing/2014/main" val="20000"/>
                    </a:ext>
                  </a:extLst>
                </a:gridCol>
                <a:gridCol w="467080">
                  <a:extLst>
                    <a:ext uri="{9D8B030D-6E8A-4147-A177-3AD203B41FA5}">
                      <a16:colId xmlns:a16="http://schemas.microsoft.com/office/drawing/2014/main" val="20001"/>
                    </a:ext>
                  </a:extLst>
                </a:gridCol>
                <a:gridCol w="467080">
                  <a:extLst>
                    <a:ext uri="{9D8B030D-6E8A-4147-A177-3AD203B41FA5}">
                      <a16:colId xmlns:a16="http://schemas.microsoft.com/office/drawing/2014/main" val="20002"/>
                    </a:ext>
                  </a:extLst>
                </a:gridCol>
                <a:gridCol w="467080">
                  <a:extLst>
                    <a:ext uri="{9D8B030D-6E8A-4147-A177-3AD203B41FA5}">
                      <a16:colId xmlns:a16="http://schemas.microsoft.com/office/drawing/2014/main" val="20003"/>
                    </a:ext>
                  </a:extLst>
                </a:gridCol>
              </a:tblGrid>
              <a:tr h="401125">
                <a:tc>
                  <a:txBody>
                    <a:bodyPr/>
                    <a:lstStyle/>
                    <a:p>
                      <a:pPr algn="ctr"/>
                      <a:r>
                        <a:rPr lang="en-US" altLang="zh-CN" dirty="0">
                          <a:solidFill>
                            <a:schemeClr val="tx1"/>
                          </a:solidFill>
                          <a:latin typeface="+mn-lt"/>
                          <a:ea typeface="+mn-ea"/>
                          <a:cs typeface="+mn-ea"/>
                          <a:sym typeface="+mn-lt"/>
                        </a:rPr>
                        <a:t>32</a:t>
                      </a:r>
                      <a:endParaRPr lang="zh-CN" altLang="en-US" dirty="0">
                        <a:solidFill>
                          <a:schemeClr val="tx1"/>
                        </a:solidFill>
                        <a:latin typeface="+mn-lt"/>
                        <a:ea typeface="+mn-ea"/>
                        <a:cs typeface="+mn-ea"/>
                        <a:sym typeface="+mn-lt"/>
                      </a:endParaRPr>
                    </a:p>
                  </a:txBody>
                  <a:tcPr/>
                </a:tc>
                <a:tc>
                  <a:txBody>
                    <a:bodyPr/>
                    <a:lstStyle/>
                    <a:p>
                      <a:pPr algn="ctr"/>
                      <a:r>
                        <a:rPr lang="en-US" altLang="zh-CN" dirty="0">
                          <a:solidFill>
                            <a:schemeClr val="tx1"/>
                          </a:solidFill>
                          <a:latin typeface="+mn-lt"/>
                          <a:ea typeface="+mn-ea"/>
                          <a:cs typeface="+mn-ea"/>
                          <a:sym typeface="+mn-lt"/>
                        </a:rPr>
                        <a:t>40</a:t>
                      </a:r>
                      <a:endParaRPr lang="zh-CN" altLang="en-US" dirty="0">
                        <a:solidFill>
                          <a:schemeClr val="tx1"/>
                        </a:solidFill>
                        <a:latin typeface="+mn-lt"/>
                        <a:ea typeface="+mn-ea"/>
                        <a:cs typeface="+mn-ea"/>
                        <a:sym typeface="+mn-lt"/>
                      </a:endParaRPr>
                    </a:p>
                  </a:txBody>
                  <a:tcPr/>
                </a:tc>
                <a:tc>
                  <a:txBody>
                    <a:bodyPr/>
                    <a:lstStyle/>
                    <a:p>
                      <a:pPr algn="ctr"/>
                      <a:r>
                        <a:rPr lang="en-US" altLang="zh-CN" dirty="0">
                          <a:solidFill>
                            <a:schemeClr val="tx1"/>
                          </a:solidFill>
                          <a:latin typeface="+mn-lt"/>
                          <a:ea typeface="+mn-ea"/>
                          <a:cs typeface="+mn-ea"/>
                          <a:sym typeface="+mn-lt"/>
                        </a:rPr>
                        <a:t>37</a:t>
                      </a:r>
                      <a:endParaRPr lang="zh-CN" altLang="en-US" dirty="0">
                        <a:solidFill>
                          <a:schemeClr val="tx1"/>
                        </a:solidFill>
                        <a:latin typeface="+mn-lt"/>
                        <a:ea typeface="+mn-ea"/>
                        <a:cs typeface="+mn-ea"/>
                        <a:sym typeface="+mn-lt"/>
                      </a:endParaRPr>
                    </a:p>
                  </a:txBody>
                  <a:tcPr/>
                </a:tc>
                <a:tc>
                  <a:txBody>
                    <a:bodyPr/>
                    <a:lstStyle/>
                    <a:p>
                      <a:pPr algn="ctr"/>
                      <a:r>
                        <a:rPr lang="en-US" altLang="zh-CN" dirty="0">
                          <a:solidFill>
                            <a:schemeClr val="tx1"/>
                          </a:solidFill>
                          <a:latin typeface="+mn-lt"/>
                          <a:ea typeface="+mn-ea"/>
                          <a:cs typeface="+mn-ea"/>
                          <a:sym typeface="+mn-lt"/>
                        </a:rPr>
                        <a:t>7</a:t>
                      </a:r>
                      <a:endParaRPr lang="zh-CN" altLang="en-US" dirty="0">
                        <a:solidFill>
                          <a:schemeClr val="tx1"/>
                        </a:solidFill>
                        <a:latin typeface="+mn-lt"/>
                        <a:ea typeface="+mn-ea"/>
                        <a:cs typeface="+mn-ea"/>
                        <a:sym typeface="+mn-lt"/>
                      </a:endParaRPr>
                    </a:p>
                  </a:txBody>
                  <a:tcPr/>
                </a:tc>
                <a:extLst>
                  <a:ext uri="{0D108BD9-81ED-4DB2-BD59-A6C34878D82A}">
                    <a16:rowId xmlns:a16="http://schemas.microsoft.com/office/drawing/2014/main" val="10000"/>
                  </a:ext>
                </a:extLst>
              </a:tr>
              <a:tr h="401125">
                <a:tc>
                  <a:txBody>
                    <a:bodyPr/>
                    <a:lstStyle/>
                    <a:p>
                      <a:pPr algn="ctr"/>
                      <a:r>
                        <a:rPr lang="en-US" altLang="zh-CN" dirty="0">
                          <a:solidFill>
                            <a:srgbClr val="0070C0"/>
                          </a:solidFill>
                          <a:latin typeface="+mn-lt"/>
                          <a:ea typeface="+mn-ea"/>
                          <a:cs typeface="+mn-ea"/>
                          <a:sym typeface="+mn-lt"/>
                        </a:rPr>
                        <a:t>5</a:t>
                      </a:r>
                      <a:endParaRPr lang="zh-CN" altLang="en-US" dirty="0">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extLst>
                  <a:ext uri="{0D108BD9-81ED-4DB2-BD59-A6C34878D82A}">
                    <a16:rowId xmlns:a16="http://schemas.microsoft.com/office/drawing/2014/main" val="10001"/>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extLst>
                  <a:ext uri="{0D108BD9-81ED-4DB2-BD59-A6C34878D82A}">
                    <a16:rowId xmlns:a16="http://schemas.microsoft.com/office/drawing/2014/main" val="10002"/>
                  </a:ext>
                </a:extLst>
              </a:tr>
              <a:tr h="401125">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a:solidFill>
                          <a:srgbClr val="0070C0"/>
                        </a:solidFill>
                        <a:latin typeface="+mn-lt"/>
                        <a:ea typeface="+mn-ea"/>
                        <a:cs typeface="+mn-ea"/>
                        <a:sym typeface="+mn-lt"/>
                      </a:endParaRPr>
                    </a:p>
                  </a:txBody>
                  <a:tcPr/>
                </a:tc>
                <a:tc>
                  <a:txBody>
                    <a:bodyPr/>
                    <a:lstStyle/>
                    <a:p>
                      <a:pPr algn="ctr"/>
                      <a:endParaRPr lang="zh-CN" altLang="en-US" dirty="0">
                        <a:solidFill>
                          <a:srgbClr val="0070C0"/>
                        </a:solidFill>
                        <a:latin typeface="+mn-lt"/>
                        <a:ea typeface="+mn-ea"/>
                        <a:cs typeface="+mn-ea"/>
                        <a:sym typeface="+mn-lt"/>
                      </a:endParaRPr>
                    </a:p>
                  </a:txBody>
                  <a:tcPr/>
                </a:tc>
                <a:extLst>
                  <a:ext uri="{0D108BD9-81ED-4DB2-BD59-A6C34878D82A}">
                    <a16:rowId xmlns:a16="http://schemas.microsoft.com/office/drawing/2014/main" val="10003"/>
                  </a:ext>
                </a:extLst>
              </a:tr>
            </a:tbl>
          </a:graphicData>
        </a:graphic>
      </p:graphicFrame>
      <p:sp>
        <p:nvSpPr>
          <p:cNvPr id="22" name="矩形 21"/>
          <p:cNvSpPr/>
          <p:nvPr/>
        </p:nvSpPr>
        <p:spPr>
          <a:xfrm>
            <a:off x="1998539" y="4496847"/>
            <a:ext cx="1256434" cy="125213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graphicFrame>
        <p:nvGraphicFramePr>
          <p:cNvPr id="23" name="表格 22"/>
          <p:cNvGraphicFramePr>
            <a:graphicFrameLocks noGrp="1"/>
          </p:cNvGraphicFramePr>
          <p:nvPr/>
        </p:nvGraphicFramePr>
        <p:xfrm>
          <a:off x="2248029" y="4534998"/>
          <a:ext cx="1072197" cy="1112520"/>
        </p:xfrm>
        <a:graphic>
          <a:graphicData uri="http://schemas.openxmlformats.org/drawingml/2006/table">
            <a:tbl>
              <a:tblPr firstRow="1" bandRow="1">
                <a:tableStyleId>{2D5ABB26-0587-4C30-8999-92F81FD0307C}</a:tableStyleId>
              </a:tblPr>
              <a:tblGrid>
                <a:gridCol w="357399">
                  <a:extLst>
                    <a:ext uri="{9D8B030D-6E8A-4147-A177-3AD203B41FA5}">
                      <a16:colId xmlns:a16="http://schemas.microsoft.com/office/drawing/2014/main" val="20000"/>
                    </a:ext>
                  </a:extLst>
                </a:gridCol>
                <a:gridCol w="357399">
                  <a:extLst>
                    <a:ext uri="{9D8B030D-6E8A-4147-A177-3AD203B41FA5}">
                      <a16:colId xmlns:a16="http://schemas.microsoft.com/office/drawing/2014/main" val="20001"/>
                    </a:ext>
                  </a:extLst>
                </a:gridCol>
                <a:gridCol w="357399">
                  <a:extLst>
                    <a:ext uri="{9D8B030D-6E8A-4147-A177-3AD203B41FA5}">
                      <a16:colId xmlns:a16="http://schemas.microsoft.com/office/drawing/2014/main" val="20002"/>
                    </a:ext>
                  </a:extLst>
                </a:gridCol>
              </a:tblGrid>
              <a:tr h="370840">
                <a:tc>
                  <a:txBody>
                    <a:bodyPr/>
                    <a:lstStyle/>
                    <a:p>
                      <a:pPr algn="l"/>
                      <a:r>
                        <a:rPr lang="en-US" altLang="zh-CN" sz="1050" dirty="0">
                          <a:solidFill>
                            <a:srgbClr val="0070C0"/>
                          </a:solidFill>
                          <a:latin typeface="+mn-lt"/>
                          <a:ea typeface="+mn-ea"/>
                          <a:cs typeface="+mn-ea"/>
                          <a:sym typeface="+mn-lt"/>
                        </a:rPr>
                        <a:t>1</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0</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1</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0"/>
                  </a:ext>
                </a:extLst>
              </a:tr>
              <a:tr h="370840">
                <a:tc>
                  <a:txBody>
                    <a:bodyPr/>
                    <a:lstStyle/>
                    <a:p>
                      <a:pPr algn="l"/>
                      <a:r>
                        <a:rPr lang="en-US" altLang="zh-CN" sz="1050" dirty="0">
                          <a:solidFill>
                            <a:srgbClr val="0070C0"/>
                          </a:solidFill>
                          <a:latin typeface="+mn-lt"/>
                          <a:ea typeface="+mn-ea"/>
                          <a:cs typeface="+mn-ea"/>
                          <a:sym typeface="+mn-lt"/>
                        </a:rPr>
                        <a:t>4</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-3</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 2</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algn="l"/>
                      <a:r>
                        <a:rPr lang="en-US" altLang="zh-CN" sz="1050" dirty="0">
                          <a:solidFill>
                            <a:srgbClr val="0070C0"/>
                          </a:solidFill>
                          <a:latin typeface="+mn-lt"/>
                          <a:ea typeface="+mn-ea"/>
                          <a:cs typeface="+mn-ea"/>
                          <a:sym typeface="+mn-lt"/>
                        </a:rPr>
                        <a:t>3</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0</a:t>
                      </a:r>
                      <a:endParaRPr lang="zh-CN" altLang="en-US" sz="1050" dirty="0">
                        <a:solidFill>
                          <a:srgbClr val="0070C0"/>
                        </a:solidFill>
                        <a:latin typeface="+mn-lt"/>
                        <a:ea typeface="+mn-ea"/>
                        <a:cs typeface="+mn-ea"/>
                        <a:sym typeface="+mn-lt"/>
                      </a:endParaRPr>
                    </a:p>
                  </a:txBody>
                  <a:tcPr/>
                </a:tc>
                <a:tc>
                  <a:txBody>
                    <a:bodyPr/>
                    <a:lstStyle/>
                    <a:p>
                      <a:pPr algn="l"/>
                      <a:r>
                        <a:rPr lang="en-US" altLang="zh-CN" sz="1050" dirty="0">
                          <a:solidFill>
                            <a:srgbClr val="0070C0"/>
                          </a:solidFill>
                          <a:latin typeface="+mn-lt"/>
                          <a:ea typeface="+mn-ea"/>
                          <a:cs typeface="+mn-ea"/>
                          <a:sym typeface="+mn-lt"/>
                        </a:rPr>
                        <a:t>-1</a:t>
                      </a:r>
                      <a:endParaRPr lang="zh-CN" altLang="en-US" sz="1050" dirty="0">
                        <a:solidFill>
                          <a:srgbClr val="0070C0"/>
                        </a:solidFill>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卷积层</a:t>
            </a:r>
            <a:endParaRPr lang="en-US" altLang="zh-CN" sz="2800" b="1" dirty="0"/>
          </a:p>
        </p:txBody>
      </p:sp>
      <p:sp>
        <p:nvSpPr>
          <p:cNvPr id="54" name="内容占位符 2"/>
          <p:cNvSpPr txBox="1"/>
          <p:nvPr/>
        </p:nvSpPr>
        <p:spPr>
          <a:xfrm>
            <a:off x="1716709" y="1371653"/>
            <a:ext cx="7992888"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卷积层如何检测特征</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55" name="表格 54"/>
          <p:cNvGraphicFramePr>
            <a:graphicFrameLocks noGrp="1"/>
          </p:cNvGraphicFramePr>
          <p:nvPr/>
        </p:nvGraphicFramePr>
        <p:xfrm>
          <a:off x="3714872" y="2139240"/>
          <a:ext cx="2083656" cy="1923602"/>
        </p:xfrm>
        <a:graphic>
          <a:graphicData uri="http://schemas.openxmlformats.org/drawingml/2006/table">
            <a:tbl>
              <a:tblPr firstRow="1" bandRow="1">
                <a:tableStyleId>{5940675A-B579-460E-94D1-54222C63F5DA}</a:tableStyleId>
              </a:tblPr>
              <a:tblGrid>
                <a:gridCol w="347276">
                  <a:extLst>
                    <a:ext uri="{9D8B030D-6E8A-4147-A177-3AD203B41FA5}">
                      <a16:colId xmlns:a16="http://schemas.microsoft.com/office/drawing/2014/main" val="20000"/>
                    </a:ext>
                  </a:extLst>
                </a:gridCol>
                <a:gridCol w="347276">
                  <a:extLst>
                    <a:ext uri="{9D8B030D-6E8A-4147-A177-3AD203B41FA5}">
                      <a16:colId xmlns:a16="http://schemas.microsoft.com/office/drawing/2014/main" val="20001"/>
                    </a:ext>
                  </a:extLst>
                </a:gridCol>
                <a:gridCol w="347276">
                  <a:extLst>
                    <a:ext uri="{9D8B030D-6E8A-4147-A177-3AD203B41FA5}">
                      <a16:colId xmlns:a16="http://schemas.microsoft.com/office/drawing/2014/main" val="20002"/>
                    </a:ext>
                  </a:extLst>
                </a:gridCol>
                <a:gridCol w="347276">
                  <a:extLst>
                    <a:ext uri="{9D8B030D-6E8A-4147-A177-3AD203B41FA5}">
                      <a16:colId xmlns:a16="http://schemas.microsoft.com/office/drawing/2014/main" val="20003"/>
                    </a:ext>
                  </a:extLst>
                </a:gridCol>
                <a:gridCol w="347276">
                  <a:extLst>
                    <a:ext uri="{9D8B030D-6E8A-4147-A177-3AD203B41FA5}">
                      <a16:colId xmlns:a16="http://schemas.microsoft.com/office/drawing/2014/main" val="20004"/>
                    </a:ext>
                  </a:extLst>
                </a:gridCol>
                <a:gridCol w="347276">
                  <a:extLst>
                    <a:ext uri="{9D8B030D-6E8A-4147-A177-3AD203B41FA5}">
                      <a16:colId xmlns:a16="http://schemas.microsoft.com/office/drawing/2014/main" val="20005"/>
                    </a:ext>
                  </a:extLst>
                </a:gridCol>
              </a:tblGrid>
              <a:tr h="348407">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15039">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315039">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r h="315039">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3"/>
                  </a:ext>
                </a:extLst>
              </a:tr>
              <a:tr h="315039">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315039">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5"/>
                  </a:ext>
                </a:extLst>
              </a:tr>
            </a:tbl>
          </a:graphicData>
        </a:graphic>
      </p:graphicFrame>
      <p:graphicFrame>
        <p:nvGraphicFramePr>
          <p:cNvPr id="56" name="表格 55"/>
          <p:cNvGraphicFramePr>
            <a:graphicFrameLocks noGrp="1"/>
          </p:cNvGraphicFramePr>
          <p:nvPr/>
        </p:nvGraphicFramePr>
        <p:xfrm>
          <a:off x="6332566" y="2502205"/>
          <a:ext cx="1040883" cy="986088"/>
        </p:xfrm>
        <a:graphic>
          <a:graphicData uri="http://schemas.openxmlformats.org/drawingml/2006/table">
            <a:tbl>
              <a:tblPr firstRow="1" bandRow="1">
                <a:tableStyleId>{5940675A-B579-460E-94D1-54222C63F5DA}</a:tableStyleId>
              </a:tblPr>
              <a:tblGrid>
                <a:gridCol w="346961">
                  <a:extLst>
                    <a:ext uri="{9D8B030D-6E8A-4147-A177-3AD203B41FA5}">
                      <a16:colId xmlns:a16="http://schemas.microsoft.com/office/drawing/2014/main" val="20000"/>
                    </a:ext>
                  </a:extLst>
                </a:gridCol>
                <a:gridCol w="346961">
                  <a:extLst>
                    <a:ext uri="{9D8B030D-6E8A-4147-A177-3AD203B41FA5}">
                      <a16:colId xmlns:a16="http://schemas.microsoft.com/office/drawing/2014/main" val="20001"/>
                    </a:ext>
                  </a:extLst>
                </a:gridCol>
                <a:gridCol w="346961">
                  <a:extLst>
                    <a:ext uri="{9D8B030D-6E8A-4147-A177-3AD203B41FA5}">
                      <a16:colId xmlns:a16="http://schemas.microsoft.com/office/drawing/2014/main" val="20002"/>
                    </a:ext>
                  </a:extLst>
                </a:gridCol>
              </a:tblGrid>
              <a:tr h="328696">
                <a:tc>
                  <a:txBody>
                    <a:bodyPr/>
                    <a:lstStyle/>
                    <a:p>
                      <a:r>
                        <a:rPr lang="en-US" altLang="zh-CN" sz="1200" dirty="0">
                          <a:latin typeface="+mn-lt"/>
                          <a:ea typeface="+mn-ea"/>
                          <a:cs typeface="+mn-ea"/>
                          <a:sym typeface="+mn-lt"/>
                        </a:rPr>
                        <a:t>1</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200" dirty="0">
                          <a:latin typeface="+mn-lt"/>
                          <a:ea typeface="+mn-ea"/>
                          <a:cs typeface="+mn-ea"/>
                          <a:sym typeface="+mn-lt"/>
                        </a:rPr>
                        <a:t>0</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altLang="zh-CN" sz="1200" dirty="0">
                          <a:solidFill>
                            <a:schemeClr val="bg1"/>
                          </a:solidFill>
                          <a:latin typeface="+mn-lt"/>
                          <a:ea typeface="+mn-ea"/>
                          <a:cs typeface="+mn-ea"/>
                          <a:sym typeface="+mn-lt"/>
                        </a:rPr>
                        <a:t>-1</a:t>
                      </a:r>
                      <a:endParaRPr lang="zh-CN" altLang="en-US" sz="1200" dirty="0">
                        <a:solidFill>
                          <a:schemeClr val="bg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28696">
                <a:tc>
                  <a:txBody>
                    <a:bodyPr/>
                    <a:lstStyle/>
                    <a:p>
                      <a:r>
                        <a:rPr lang="en-US" altLang="zh-CN" sz="1200" dirty="0">
                          <a:latin typeface="+mn-lt"/>
                          <a:ea typeface="+mn-ea"/>
                          <a:cs typeface="+mn-ea"/>
                          <a:sym typeface="+mn-lt"/>
                        </a:rPr>
                        <a:t>1</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200" dirty="0">
                          <a:latin typeface="+mn-lt"/>
                          <a:ea typeface="+mn-ea"/>
                          <a:cs typeface="+mn-ea"/>
                          <a:sym typeface="+mn-lt"/>
                        </a:rPr>
                        <a:t>0</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altLang="zh-CN" sz="1200" dirty="0">
                          <a:solidFill>
                            <a:schemeClr val="bg1"/>
                          </a:solidFill>
                          <a:latin typeface="+mn-lt"/>
                          <a:ea typeface="+mn-ea"/>
                          <a:cs typeface="+mn-ea"/>
                          <a:sym typeface="+mn-lt"/>
                        </a:rPr>
                        <a:t>-1</a:t>
                      </a:r>
                      <a:endParaRPr lang="zh-CN" altLang="en-US" sz="1200" dirty="0">
                        <a:solidFill>
                          <a:schemeClr val="bg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328696">
                <a:tc>
                  <a:txBody>
                    <a:bodyPr/>
                    <a:lstStyle/>
                    <a:p>
                      <a:r>
                        <a:rPr lang="en-US" altLang="zh-CN" sz="1200" dirty="0">
                          <a:latin typeface="+mn-lt"/>
                          <a:ea typeface="+mn-ea"/>
                          <a:cs typeface="+mn-ea"/>
                          <a:sym typeface="+mn-lt"/>
                        </a:rPr>
                        <a:t>1</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200" dirty="0">
                          <a:latin typeface="+mn-lt"/>
                          <a:ea typeface="+mn-ea"/>
                          <a:cs typeface="+mn-ea"/>
                          <a:sym typeface="+mn-lt"/>
                        </a:rPr>
                        <a:t>0</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altLang="zh-CN" sz="1200" dirty="0">
                          <a:solidFill>
                            <a:schemeClr val="bg1"/>
                          </a:solidFill>
                          <a:latin typeface="+mn-lt"/>
                          <a:ea typeface="+mn-ea"/>
                          <a:cs typeface="+mn-ea"/>
                          <a:sym typeface="+mn-lt"/>
                        </a:rPr>
                        <a:t>-1</a:t>
                      </a:r>
                      <a:endParaRPr lang="zh-CN" altLang="en-US" sz="1200" dirty="0">
                        <a:solidFill>
                          <a:schemeClr val="bg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bl>
          </a:graphicData>
        </a:graphic>
      </p:graphicFrame>
      <p:graphicFrame>
        <p:nvGraphicFramePr>
          <p:cNvPr id="57" name="表格 56"/>
          <p:cNvGraphicFramePr>
            <a:graphicFrameLocks noGrp="1"/>
          </p:cNvGraphicFramePr>
          <p:nvPr/>
        </p:nvGraphicFramePr>
        <p:xfrm>
          <a:off x="8143432" y="2354287"/>
          <a:ext cx="1430596" cy="1281924"/>
        </p:xfrm>
        <a:graphic>
          <a:graphicData uri="http://schemas.openxmlformats.org/drawingml/2006/table">
            <a:tbl>
              <a:tblPr firstRow="1" bandRow="1">
                <a:tableStyleId>{5940675A-B579-460E-94D1-54222C63F5DA}</a:tableStyleId>
              </a:tblPr>
              <a:tblGrid>
                <a:gridCol w="357649">
                  <a:extLst>
                    <a:ext uri="{9D8B030D-6E8A-4147-A177-3AD203B41FA5}">
                      <a16:colId xmlns:a16="http://schemas.microsoft.com/office/drawing/2014/main" val="20000"/>
                    </a:ext>
                  </a:extLst>
                </a:gridCol>
                <a:gridCol w="357649">
                  <a:extLst>
                    <a:ext uri="{9D8B030D-6E8A-4147-A177-3AD203B41FA5}">
                      <a16:colId xmlns:a16="http://schemas.microsoft.com/office/drawing/2014/main" val="20001"/>
                    </a:ext>
                  </a:extLst>
                </a:gridCol>
                <a:gridCol w="357649">
                  <a:extLst>
                    <a:ext uri="{9D8B030D-6E8A-4147-A177-3AD203B41FA5}">
                      <a16:colId xmlns:a16="http://schemas.microsoft.com/office/drawing/2014/main" val="20002"/>
                    </a:ext>
                  </a:extLst>
                </a:gridCol>
                <a:gridCol w="357649">
                  <a:extLst>
                    <a:ext uri="{9D8B030D-6E8A-4147-A177-3AD203B41FA5}">
                      <a16:colId xmlns:a16="http://schemas.microsoft.com/office/drawing/2014/main" val="20003"/>
                    </a:ext>
                  </a:extLst>
                </a:gridCol>
              </a:tblGrid>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3"/>
                  </a:ext>
                </a:extLst>
              </a:tr>
            </a:tbl>
          </a:graphicData>
        </a:graphic>
      </p:graphicFrame>
      <p:grpSp>
        <p:nvGrpSpPr>
          <p:cNvPr id="58" name="组合 57"/>
          <p:cNvGrpSpPr/>
          <p:nvPr/>
        </p:nvGrpSpPr>
        <p:grpSpPr>
          <a:xfrm>
            <a:off x="3634186" y="2185947"/>
            <a:ext cx="2133936" cy="1865848"/>
            <a:chOff x="1143359" y="2341692"/>
            <a:chExt cx="1987663" cy="1865848"/>
          </a:xfrm>
        </p:grpSpPr>
        <p:sp>
          <p:nvSpPr>
            <p:cNvPr id="59" name="文本框 58"/>
            <p:cNvSpPr txBox="1"/>
            <p:nvPr/>
          </p:nvSpPr>
          <p:spPr>
            <a:xfrm>
              <a:off x="1143359" y="2341692"/>
              <a:ext cx="1969728"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60" name="文本框 59"/>
            <p:cNvSpPr txBox="1"/>
            <p:nvPr/>
          </p:nvSpPr>
          <p:spPr>
            <a:xfrm>
              <a:off x="1153524" y="2691763"/>
              <a:ext cx="1969728"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61" name="文本框 60"/>
            <p:cNvSpPr txBox="1"/>
            <p:nvPr/>
          </p:nvSpPr>
          <p:spPr>
            <a:xfrm>
              <a:off x="1153524" y="3012495"/>
              <a:ext cx="1969728"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62" name="文本框 61"/>
            <p:cNvSpPr txBox="1"/>
            <p:nvPr/>
          </p:nvSpPr>
          <p:spPr>
            <a:xfrm>
              <a:off x="1153524" y="3330104"/>
              <a:ext cx="1969728"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63" name="文本框 62"/>
            <p:cNvSpPr txBox="1"/>
            <p:nvPr/>
          </p:nvSpPr>
          <p:spPr>
            <a:xfrm>
              <a:off x="1160737" y="3633527"/>
              <a:ext cx="1969728"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64" name="文本框 63"/>
            <p:cNvSpPr txBox="1"/>
            <p:nvPr/>
          </p:nvSpPr>
          <p:spPr>
            <a:xfrm>
              <a:off x="1161294" y="3930541"/>
              <a:ext cx="1969728"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grpSp>
      <p:sp>
        <p:nvSpPr>
          <p:cNvPr id="65" name="矩形 64"/>
          <p:cNvSpPr/>
          <p:nvPr/>
        </p:nvSpPr>
        <p:spPr>
          <a:xfrm>
            <a:off x="8168533" y="2397518"/>
            <a:ext cx="1351652" cy="276999"/>
          </a:xfrm>
          <a:prstGeom prst="rect">
            <a:avLst/>
          </a:prstGeom>
        </p:spPr>
        <p:txBody>
          <a:bodyPr wrap="none">
            <a:spAutoFit/>
          </a:bodyPr>
          <a:lstStyle/>
          <a:p>
            <a:pPr lvl="0"/>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a:t>
            </a:r>
            <a:r>
              <a:rPr lang="en-US" altLang="zh-CN" sz="1200" dirty="0">
                <a:solidFill>
                  <a:prstClr val="black">
                    <a:lumMod val="65000"/>
                    <a:lumOff val="35000"/>
                  </a:prstClr>
                </a:solidFill>
                <a:latin typeface="Microsoft YaHei UI" panose="020B0503020204020204" pitchFamily="34" charset="-122"/>
                <a:ea typeface="Microsoft YaHei UI" panose="020B0503020204020204" pitchFamily="34" charset="-122"/>
                <a:cs typeface="+mn-ea"/>
                <a:sym typeface="+mn-lt"/>
              </a:rPr>
              <a:t>     30    30     </a:t>
            </a:r>
            <a:r>
              <a:rPr lang="en-US" altLang="zh-CN" sz="1200" dirty="0">
                <a:solidFill>
                  <a:prstClr val="white"/>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prstClr val="white"/>
              </a:solidFill>
              <a:latin typeface="Microsoft YaHei UI" panose="020B0503020204020204" pitchFamily="34" charset="-122"/>
              <a:ea typeface="Microsoft YaHei UI" panose="020B0503020204020204" pitchFamily="34" charset="-122"/>
              <a:cs typeface="+mn-ea"/>
              <a:sym typeface="+mn-lt"/>
            </a:endParaRPr>
          </a:p>
        </p:txBody>
      </p:sp>
      <p:sp>
        <p:nvSpPr>
          <p:cNvPr id="66" name="矩形 65"/>
          <p:cNvSpPr/>
          <p:nvPr/>
        </p:nvSpPr>
        <p:spPr>
          <a:xfrm>
            <a:off x="8168533" y="2705856"/>
            <a:ext cx="1351652" cy="276999"/>
          </a:xfrm>
          <a:prstGeom prst="rect">
            <a:avLst/>
          </a:prstGeom>
        </p:spPr>
        <p:txBody>
          <a:bodyPr wrap="none">
            <a:spAutoFit/>
          </a:bodyPr>
          <a:lstStyle/>
          <a:p>
            <a:pPr lvl="0"/>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a:t>
            </a:r>
            <a:r>
              <a:rPr lang="en-US" altLang="zh-CN" sz="1200" dirty="0">
                <a:solidFill>
                  <a:prstClr val="black">
                    <a:lumMod val="65000"/>
                    <a:lumOff val="35000"/>
                  </a:prstClr>
                </a:solidFill>
                <a:latin typeface="Microsoft YaHei UI" panose="020B0503020204020204" pitchFamily="34" charset="-122"/>
                <a:ea typeface="Microsoft YaHei UI" panose="020B0503020204020204" pitchFamily="34" charset="-122"/>
                <a:cs typeface="+mn-ea"/>
                <a:sym typeface="+mn-lt"/>
              </a:rPr>
              <a:t>     30    30     </a:t>
            </a:r>
            <a:r>
              <a:rPr lang="en-US" altLang="zh-CN" sz="1200" dirty="0">
                <a:solidFill>
                  <a:prstClr val="white"/>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prstClr val="white"/>
              </a:solidFill>
              <a:latin typeface="Microsoft YaHei UI" panose="020B0503020204020204" pitchFamily="34" charset="-122"/>
              <a:ea typeface="Microsoft YaHei UI" panose="020B0503020204020204" pitchFamily="34" charset="-122"/>
              <a:cs typeface="+mn-ea"/>
              <a:sym typeface="+mn-lt"/>
            </a:endParaRPr>
          </a:p>
        </p:txBody>
      </p:sp>
      <p:sp>
        <p:nvSpPr>
          <p:cNvPr id="67" name="矩形 66"/>
          <p:cNvSpPr/>
          <p:nvPr/>
        </p:nvSpPr>
        <p:spPr>
          <a:xfrm>
            <a:off x="8168533" y="3032783"/>
            <a:ext cx="1351652" cy="276999"/>
          </a:xfrm>
          <a:prstGeom prst="rect">
            <a:avLst/>
          </a:prstGeom>
        </p:spPr>
        <p:txBody>
          <a:bodyPr wrap="none">
            <a:spAutoFit/>
          </a:bodyPr>
          <a:lstStyle/>
          <a:p>
            <a:pPr lvl="0"/>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a:t>
            </a:r>
            <a:r>
              <a:rPr lang="en-US" altLang="zh-CN" sz="1200" dirty="0">
                <a:solidFill>
                  <a:prstClr val="black">
                    <a:lumMod val="65000"/>
                    <a:lumOff val="35000"/>
                  </a:prstClr>
                </a:solidFill>
                <a:latin typeface="Microsoft YaHei UI" panose="020B0503020204020204" pitchFamily="34" charset="-122"/>
                <a:ea typeface="Microsoft YaHei UI" panose="020B0503020204020204" pitchFamily="34" charset="-122"/>
                <a:cs typeface="+mn-ea"/>
                <a:sym typeface="+mn-lt"/>
              </a:rPr>
              <a:t>     30    30     </a:t>
            </a:r>
            <a:r>
              <a:rPr lang="en-US" altLang="zh-CN" sz="1200" dirty="0">
                <a:solidFill>
                  <a:prstClr val="white"/>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prstClr val="white"/>
              </a:solidFill>
              <a:latin typeface="Microsoft YaHei UI" panose="020B0503020204020204" pitchFamily="34" charset="-122"/>
              <a:ea typeface="Microsoft YaHei UI" panose="020B0503020204020204" pitchFamily="34" charset="-122"/>
              <a:cs typeface="+mn-ea"/>
              <a:sym typeface="+mn-lt"/>
            </a:endParaRPr>
          </a:p>
        </p:txBody>
      </p:sp>
      <p:sp>
        <p:nvSpPr>
          <p:cNvPr id="68" name="矩形 67"/>
          <p:cNvSpPr/>
          <p:nvPr/>
        </p:nvSpPr>
        <p:spPr>
          <a:xfrm>
            <a:off x="8168533" y="3339282"/>
            <a:ext cx="1351652" cy="276999"/>
          </a:xfrm>
          <a:prstGeom prst="rect">
            <a:avLst/>
          </a:prstGeom>
        </p:spPr>
        <p:txBody>
          <a:bodyPr wrap="none">
            <a:spAutoFit/>
          </a:bodyPr>
          <a:lstStyle/>
          <a:p>
            <a:pPr lvl="0"/>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a:t>
            </a:r>
            <a:r>
              <a:rPr lang="en-US" altLang="zh-CN" sz="1200" dirty="0">
                <a:solidFill>
                  <a:prstClr val="black">
                    <a:lumMod val="65000"/>
                    <a:lumOff val="35000"/>
                  </a:prstClr>
                </a:solidFill>
                <a:latin typeface="Microsoft YaHei UI" panose="020B0503020204020204" pitchFamily="34" charset="-122"/>
                <a:ea typeface="Microsoft YaHei UI" panose="020B0503020204020204" pitchFamily="34" charset="-122"/>
                <a:cs typeface="+mn-ea"/>
                <a:sym typeface="+mn-lt"/>
              </a:rPr>
              <a:t>     30    30     </a:t>
            </a:r>
            <a:r>
              <a:rPr lang="en-US" altLang="zh-CN" sz="1200" dirty="0">
                <a:solidFill>
                  <a:prstClr val="white"/>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prstClr val="white"/>
              </a:solidFill>
              <a:latin typeface="Microsoft YaHei UI" panose="020B0503020204020204" pitchFamily="34" charset="-122"/>
              <a:ea typeface="Microsoft YaHei UI" panose="020B0503020204020204" pitchFamily="34" charset="-122"/>
              <a:cs typeface="+mn-ea"/>
              <a:sym typeface="+mn-lt"/>
            </a:endParaRPr>
          </a:p>
        </p:txBody>
      </p:sp>
      <p:sp>
        <p:nvSpPr>
          <p:cNvPr id="69" name="文本框 68"/>
          <p:cNvSpPr txBox="1"/>
          <p:nvPr/>
        </p:nvSpPr>
        <p:spPr>
          <a:xfrm>
            <a:off x="5821060" y="2813017"/>
            <a:ext cx="346962" cy="523220"/>
          </a:xfrm>
          <a:prstGeom prst="rect">
            <a:avLst/>
          </a:prstGeom>
          <a:noFill/>
        </p:spPr>
        <p:txBody>
          <a:bodyPr wrap="square" rtlCol="0">
            <a:spAutoFit/>
          </a:bodyPr>
          <a:lstStyle/>
          <a:p>
            <a:r>
              <a:rPr lang="zh-CN" altLang="en-US" sz="2800" dirty="0">
                <a:latin typeface="Microsoft YaHei UI Light" panose="020B0502040204020203" pitchFamily="34" charset="-122"/>
                <a:ea typeface="微软雅黑 Light" panose="020B0502040204020203" pitchFamily="34" charset="-122"/>
                <a:cs typeface="+mn-ea"/>
                <a:sym typeface="+mn-lt"/>
              </a:rPr>
              <a:t>*</a:t>
            </a:r>
          </a:p>
        </p:txBody>
      </p:sp>
      <p:sp>
        <p:nvSpPr>
          <p:cNvPr id="70" name="文本框 69"/>
          <p:cNvSpPr txBox="1"/>
          <p:nvPr/>
        </p:nvSpPr>
        <p:spPr>
          <a:xfrm>
            <a:off x="7549641" y="2787983"/>
            <a:ext cx="322130" cy="523220"/>
          </a:xfrm>
          <a:prstGeom prst="rect">
            <a:avLst/>
          </a:prstGeom>
          <a:noFill/>
        </p:spPr>
        <p:txBody>
          <a:bodyPr wrap="square" rtlCol="0">
            <a:spAutoFit/>
          </a:bodyPr>
          <a:lstStyle/>
          <a:p>
            <a:r>
              <a:rPr lang="en-US" altLang="zh-CN" sz="2800" dirty="0">
                <a:latin typeface="Microsoft YaHei UI Light" panose="020B0502040204020203" pitchFamily="34" charset="-122"/>
                <a:ea typeface="微软雅黑 Light" panose="020B0502040204020203" pitchFamily="34" charset="-122"/>
                <a:cs typeface="+mn-ea"/>
                <a:sym typeface="+mn-lt"/>
              </a:rPr>
              <a:t>=</a:t>
            </a:r>
            <a:endParaRPr lang="zh-CN" altLang="en-US" sz="2800"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71" name="表格 70"/>
          <p:cNvGraphicFramePr>
            <a:graphicFrameLocks noGrp="1"/>
          </p:cNvGraphicFramePr>
          <p:nvPr/>
        </p:nvGraphicFramePr>
        <p:xfrm>
          <a:off x="3723830" y="4362492"/>
          <a:ext cx="2068518" cy="1923602"/>
        </p:xfrm>
        <a:graphic>
          <a:graphicData uri="http://schemas.openxmlformats.org/drawingml/2006/table">
            <a:tbl>
              <a:tblPr firstRow="1" bandRow="1">
                <a:tableStyleId>{5940675A-B579-460E-94D1-54222C63F5DA}</a:tableStyleId>
              </a:tblPr>
              <a:tblGrid>
                <a:gridCol w="344753">
                  <a:extLst>
                    <a:ext uri="{9D8B030D-6E8A-4147-A177-3AD203B41FA5}">
                      <a16:colId xmlns:a16="http://schemas.microsoft.com/office/drawing/2014/main" val="20000"/>
                    </a:ext>
                  </a:extLst>
                </a:gridCol>
                <a:gridCol w="344753">
                  <a:extLst>
                    <a:ext uri="{9D8B030D-6E8A-4147-A177-3AD203B41FA5}">
                      <a16:colId xmlns:a16="http://schemas.microsoft.com/office/drawing/2014/main" val="20001"/>
                    </a:ext>
                  </a:extLst>
                </a:gridCol>
                <a:gridCol w="344753">
                  <a:extLst>
                    <a:ext uri="{9D8B030D-6E8A-4147-A177-3AD203B41FA5}">
                      <a16:colId xmlns:a16="http://schemas.microsoft.com/office/drawing/2014/main" val="20002"/>
                    </a:ext>
                  </a:extLst>
                </a:gridCol>
                <a:gridCol w="344753">
                  <a:extLst>
                    <a:ext uri="{9D8B030D-6E8A-4147-A177-3AD203B41FA5}">
                      <a16:colId xmlns:a16="http://schemas.microsoft.com/office/drawing/2014/main" val="20003"/>
                    </a:ext>
                  </a:extLst>
                </a:gridCol>
                <a:gridCol w="344753">
                  <a:extLst>
                    <a:ext uri="{9D8B030D-6E8A-4147-A177-3AD203B41FA5}">
                      <a16:colId xmlns:a16="http://schemas.microsoft.com/office/drawing/2014/main" val="20004"/>
                    </a:ext>
                  </a:extLst>
                </a:gridCol>
                <a:gridCol w="344753">
                  <a:extLst>
                    <a:ext uri="{9D8B030D-6E8A-4147-A177-3AD203B41FA5}">
                      <a16:colId xmlns:a16="http://schemas.microsoft.com/office/drawing/2014/main" val="20005"/>
                    </a:ext>
                  </a:extLst>
                </a:gridCol>
              </a:tblGrid>
              <a:tr h="348407">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15039">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315039">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r h="315039">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3"/>
                  </a:ext>
                </a:extLst>
              </a:tr>
              <a:tr h="315039">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315039">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5"/>
                  </a:ext>
                </a:extLst>
              </a:tr>
            </a:tbl>
          </a:graphicData>
        </a:graphic>
      </p:graphicFrame>
      <p:graphicFrame>
        <p:nvGraphicFramePr>
          <p:cNvPr id="72" name="表格 71"/>
          <p:cNvGraphicFramePr>
            <a:graphicFrameLocks noGrp="1"/>
          </p:cNvGraphicFramePr>
          <p:nvPr/>
        </p:nvGraphicFramePr>
        <p:xfrm>
          <a:off x="6341525" y="4725457"/>
          <a:ext cx="1031925" cy="986088"/>
        </p:xfrm>
        <a:graphic>
          <a:graphicData uri="http://schemas.openxmlformats.org/drawingml/2006/table">
            <a:tbl>
              <a:tblPr firstRow="1" bandRow="1">
                <a:tableStyleId>{5940675A-B579-460E-94D1-54222C63F5DA}</a:tableStyleId>
              </a:tblPr>
              <a:tblGrid>
                <a:gridCol w="343975">
                  <a:extLst>
                    <a:ext uri="{9D8B030D-6E8A-4147-A177-3AD203B41FA5}">
                      <a16:colId xmlns:a16="http://schemas.microsoft.com/office/drawing/2014/main" val="20000"/>
                    </a:ext>
                  </a:extLst>
                </a:gridCol>
                <a:gridCol w="343975">
                  <a:extLst>
                    <a:ext uri="{9D8B030D-6E8A-4147-A177-3AD203B41FA5}">
                      <a16:colId xmlns:a16="http://schemas.microsoft.com/office/drawing/2014/main" val="20001"/>
                    </a:ext>
                  </a:extLst>
                </a:gridCol>
                <a:gridCol w="343975">
                  <a:extLst>
                    <a:ext uri="{9D8B030D-6E8A-4147-A177-3AD203B41FA5}">
                      <a16:colId xmlns:a16="http://schemas.microsoft.com/office/drawing/2014/main" val="20002"/>
                    </a:ext>
                  </a:extLst>
                </a:gridCol>
              </a:tblGrid>
              <a:tr h="328696">
                <a:tc>
                  <a:txBody>
                    <a:bodyPr/>
                    <a:lstStyle/>
                    <a:p>
                      <a:r>
                        <a:rPr lang="en-US" altLang="zh-CN" sz="1200" dirty="0">
                          <a:latin typeface="+mn-lt"/>
                          <a:ea typeface="+mn-ea"/>
                          <a:cs typeface="+mn-ea"/>
                          <a:sym typeface="+mn-lt"/>
                        </a:rPr>
                        <a:t>1</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200" dirty="0">
                          <a:latin typeface="+mn-lt"/>
                          <a:ea typeface="+mn-ea"/>
                          <a:cs typeface="+mn-ea"/>
                          <a:sym typeface="+mn-lt"/>
                        </a:rPr>
                        <a:t>1</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200" dirty="0">
                          <a:solidFill>
                            <a:schemeClr val="tx1"/>
                          </a:solidFill>
                          <a:latin typeface="+mn-lt"/>
                          <a:ea typeface="+mn-ea"/>
                          <a:cs typeface="+mn-ea"/>
                          <a:sym typeface="+mn-lt"/>
                        </a:rPr>
                        <a:t>0</a:t>
                      </a:r>
                      <a:endParaRPr lang="zh-CN" altLang="en-US" sz="1200" dirty="0">
                        <a:solidFill>
                          <a:schemeClr val="tx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0"/>
                  </a:ext>
                </a:extLst>
              </a:tr>
              <a:tr h="328696">
                <a:tc>
                  <a:txBody>
                    <a:bodyPr/>
                    <a:lstStyle/>
                    <a:p>
                      <a:r>
                        <a:rPr lang="en-US" altLang="zh-CN" sz="1200" dirty="0">
                          <a:latin typeface="+mn-lt"/>
                          <a:ea typeface="+mn-ea"/>
                          <a:cs typeface="+mn-ea"/>
                          <a:sym typeface="+mn-lt"/>
                        </a:rPr>
                        <a:t>1</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zh-CN" sz="1200" dirty="0">
                          <a:latin typeface="+mn-lt"/>
                          <a:ea typeface="+mn-ea"/>
                          <a:cs typeface="+mn-ea"/>
                          <a:sym typeface="+mn-lt"/>
                        </a:rPr>
                        <a:t>0</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altLang="zh-CN" sz="1200" dirty="0">
                          <a:solidFill>
                            <a:schemeClr val="bg1"/>
                          </a:solidFill>
                          <a:latin typeface="+mn-lt"/>
                          <a:ea typeface="+mn-ea"/>
                          <a:cs typeface="+mn-ea"/>
                          <a:sym typeface="+mn-lt"/>
                        </a:rPr>
                        <a:t>-1</a:t>
                      </a:r>
                      <a:endParaRPr lang="zh-CN" altLang="en-US" sz="1200" dirty="0">
                        <a:solidFill>
                          <a:schemeClr val="bg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328696">
                <a:tc>
                  <a:txBody>
                    <a:bodyPr/>
                    <a:lstStyle/>
                    <a:p>
                      <a:r>
                        <a:rPr lang="en-US" altLang="zh-CN" sz="1200" dirty="0">
                          <a:latin typeface="+mn-lt"/>
                          <a:ea typeface="+mn-ea"/>
                          <a:cs typeface="+mn-ea"/>
                          <a:sym typeface="+mn-lt"/>
                        </a:rPr>
                        <a:t>0</a:t>
                      </a:r>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p>
                      <a:r>
                        <a:rPr lang="en-US" altLang="zh-CN" sz="1200" dirty="0">
                          <a:solidFill>
                            <a:schemeClr val="bg1"/>
                          </a:solidFill>
                          <a:latin typeface="+mn-lt"/>
                          <a:ea typeface="+mn-ea"/>
                          <a:cs typeface="+mn-ea"/>
                          <a:sym typeface="+mn-lt"/>
                        </a:rPr>
                        <a:t>-1</a:t>
                      </a:r>
                      <a:endParaRPr lang="zh-CN" altLang="en-US" sz="1200" dirty="0">
                        <a:solidFill>
                          <a:schemeClr val="bg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altLang="zh-CN" sz="1200" dirty="0">
                          <a:solidFill>
                            <a:schemeClr val="bg1"/>
                          </a:solidFill>
                          <a:latin typeface="+mn-lt"/>
                          <a:ea typeface="+mn-ea"/>
                          <a:cs typeface="+mn-ea"/>
                          <a:sym typeface="+mn-lt"/>
                        </a:rPr>
                        <a:t>-1</a:t>
                      </a:r>
                      <a:endParaRPr lang="zh-CN" altLang="en-US" sz="1200" dirty="0">
                        <a:solidFill>
                          <a:schemeClr val="bg1"/>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bl>
          </a:graphicData>
        </a:graphic>
      </p:graphicFrame>
      <p:graphicFrame>
        <p:nvGraphicFramePr>
          <p:cNvPr id="73" name="表格 72"/>
          <p:cNvGraphicFramePr>
            <a:graphicFrameLocks noGrp="1"/>
          </p:cNvGraphicFramePr>
          <p:nvPr/>
        </p:nvGraphicFramePr>
        <p:xfrm>
          <a:off x="8188255" y="4577539"/>
          <a:ext cx="1385776" cy="1281924"/>
        </p:xfrm>
        <a:graphic>
          <a:graphicData uri="http://schemas.openxmlformats.org/drawingml/2006/table">
            <a:tbl>
              <a:tblPr firstRow="1" bandRow="1">
                <a:tableStyleId>{5940675A-B579-460E-94D1-54222C63F5DA}</a:tableStyleId>
              </a:tblPr>
              <a:tblGrid>
                <a:gridCol w="346444">
                  <a:extLst>
                    <a:ext uri="{9D8B030D-6E8A-4147-A177-3AD203B41FA5}">
                      <a16:colId xmlns:a16="http://schemas.microsoft.com/office/drawing/2014/main" val="20000"/>
                    </a:ext>
                  </a:extLst>
                </a:gridCol>
                <a:gridCol w="346444">
                  <a:extLst>
                    <a:ext uri="{9D8B030D-6E8A-4147-A177-3AD203B41FA5}">
                      <a16:colId xmlns:a16="http://schemas.microsoft.com/office/drawing/2014/main" val="20001"/>
                    </a:ext>
                  </a:extLst>
                </a:gridCol>
                <a:gridCol w="346444">
                  <a:extLst>
                    <a:ext uri="{9D8B030D-6E8A-4147-A177-3AD203B41FA5}">
                      <a16:colId xmlns:a16="http://schemas.microsoft.com/office/drawing/2014/main" val="20002"/>
                    </a:ext>
                  </a:extLst>
                </a:gridCol>
                <a:gridCol w="346444">
                  <a:extLst>
                    <a:ext uri="{9D8B030D-6E8A-4147-A177-3AD203B41FA5}">
                      <a16:colId xmlns:a16="http://schemas.microsoft.com/office/drawing/2014/main" val="20003"/>
                    </a:ext>
                  </a:extLst>
                </a:gridCol>
              </a:tblGrid>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20481">
                <a:tc>
                  <a:txBody>
                    <a:bodyPr/>
                    <a:lstStyle/>
                    <a:p>
                      <a:endParaRPr lang="zh-CN" altLang="en-US" sz="1400" dirty="0">
                        <a:solidFill>
                          <a:schemeClr val="bg1">
                            <a:lumMod val="75000"/>
                          </a:schemeClr>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1"/>
                  </a:ext>
                </a:extLst>
              </a:tr>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2"/>
                  </a:ext>
                </a:extLst>
              </a:tr>
              <a:tr h="320481">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endParaRPr lang="zh-CN" altLang="en-US" sz="14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3"/>
                  </a:ext>
                </a:extLst>
              </a:tr>
            </a:tbl>
          </a:graphicData>
        </a:graphic>
      </p:graphicFrame>
      <p:grpSp>
        <p:nvGrpSpPr>
          <p:cNvPr id="74" name="组合 73"/>
          <p:cNvGrpSpPr/>
          <p:nvPr/>
        </p:nvGrpSpPr>
        <p:grpSpPr>
          <a:xfrm>
            <a:off x="3638960" y="4395764"/>
            <a:ext cx="2159566" cy="1865848"/>
            <a:chOff x="1143359" y="2341692"/>
            <a:chExt cx="2159566" cy="1865848"/>
          </a:xfrm>
        </p:grpSpPr>
        <p:sp>
          <p:nvSpPr>
            <p:cNvPr id="75" name="文本框 74"/>
            <p:cNvSpPr txBox="1"/>
            <p:nvPr/>
          </p:nvSpPr>
          <p:spPr>
            <a:xfrm>
              <a:off x="1143359" y="2341692"/>
              <a:ext cx="2159566"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tx2"/>
                  </a:solidFill>
                  <a:latin typeface="Microsoft YaHei UI" panose="020B0503020204020204" pitchFamily="34" charset="-122"/>
                  <a:ea typeface="Microsoft YaHei UI" panose="020B0503020204020204" pitchFamily="34" charset="-122"/>
                  <a:cs typeface="+mn-ea"/>
                  <a:sym typeface="+mn-lt"/>
                </a:rPr>
                <a:t>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76" name="文本框 75"/>
            <p:cNvSpPr txBox="1"/>
            <p:nvPr/>
          </p:nvSpPr>
          <p:spPr>
            <a:xfrm>
              <a:off x="1153524" y="2691763"/>
              <a:ext cx="2114681"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tx2"/>
                  </a:solidFill>
                  <a:latin typeface="Microsoft YaHei UI" panose="020B0503020204020204" pitchFamily="34" charset="-122"/>
                  <a:ea typeface="Microsoft YaHei UI" panose="020B0503020204020204" pitchFamily="34" charset="-122"/>
                  <a:cs typeface="+mn-ea"/>
                  <a:sym typeface="+mn-lt"/>
                </a:rPr>
                <a:t>10</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77" name="文本框 76"/>
            <p:cNvSpPr txBox="1"/>
            <p:nvPr/>
          </p:nvSpPr>
          <p:spPr>
            <a:xfrm>
              <a:off x="1153524" y="3012495"/>
              <a:ext cx="2114681"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78" name="文本框 77"/>
            <p:cNvSpPr txBox="1"/>
            <p:nvPr/>
          </p:nvSpPr>
          <p:spPr>
            <a:xfrm>
              <a:off x="1153524" y="3330104"/>
              <a:ext cx="2069797"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a:t>
              </a:r>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79" name="文本框 78"/>
            <p:cNvSpPr txBox="1"/>
            <p:nvPr/>
          </p:nvSpPr>
          <p:spPr>
            <a:xfrm>
              <a:off x="1160737" y="3633527"/>
              <a:ext cx="2069797"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 0      0     0      0     0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sp>
          <p:nvSpPr>
            <p:cNvPr id="80" name="文本框 79"/>
            <p:cNvSpPr txBox="1"/>
            <p:nvPr/>
          </p:nvSpPr>
          <p:spPr>
            <a:xfrm>
              <a:off x="1161294" y="3930541"/>
              <a:ext cx="2069797" cy="276999"/>
            </a:xfrm>
            <a:prstGeom prst="rect">
              <a:avLst/>
            </a:prstGeom>
            <a:noFill/>
          </p:spPr>
          <p:txBody>
            <a:bodyPr wrap="none" rtlCol="0">
              <a:spAutoFit/>
            </a:bodyPr>
            <a:lstStyle/>
            <a:p>
              <a:r>
                <a:rPr lang="en-US" altLang="zh-CN" sz="1200" dirty="0">
                  <a:solidFill>
                    <a:schemeClr val="tx1">
                      <a:lumMod val="65000"/>
                      <a:lumOff val="35000"/>
                    </a:schemeClr>
                  </a:solidFill>
                  <a:latin typeface="Microsoft YaHei UI" panose="020B0503020204020204" pitchFamily="34" charset="-122"/>
                  <a:ea typeface="Microsoft YaHei UI" panose="020B0503020204020204" pitchFamily="34" charset="-122"/>
                  <a:cs typeface="+mn-ea"/>
                  <a:sym typeface="+mn-lt"/>
                </a:rPr>
                <a:t>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0      0      0     0      0     0</a:t>
              </a:r>
              <a:endParaRPr lang="zh-CN" altLang="en-US" sz="1200" dirty="0">
                <a:solidFill>
                  <a:schemeClr val="bg1"/>
                </a:solidFill>
                <a:latin typeface="Microsoft YaHei UI" panose="020B0503020204020204" pitchFamily="34" charset="-122"/>
                <a:ea typeface="Microsoft YaHei UI" panose="020B0503020204020204" pitchFamily="34" charset="-122"/>
                <a:cs typeface="+mn-ea"/>
                <a:sym typeface="+mn-lt"/>
              </a:endParaRPr>
            </a:p>
          </p:txBody>
        </p:sp>
      </p:grpSp>
      <p:sp>
        <p:nvSpPr>
          <p:cNvPr id="81" name="矩形 80"/>
          <p:cNvSpPr/>
          <p:nvPr/>
        </p:nvSpPr>
        <p:spPr>
          <a:xfrm>
            <a:off x="8177493" y="4620770"/>
            <a:ext cx="1396536" cy="276999"/>
          </a:xfrm>
          <a:prstGeom prst="rect">
            <a:avLst/>
          </a:prstGeom>
        </p:spPr>
        <p:txBody>
          <a:bodyPr wrap="none">
            <a:spAutoFit/>
          </a:bodyPr>
          <a:lstStyle/>
          <a:p>
            <a:pPr lvl="0"/>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 0</a:t>
            </a:r>
            <a:r>
              <a:rPr lang="en-US" altLang="zh-CN" sz="1200" dirty="0">
                <a:solidFill>
                  <a:prstClr val="black">
                    <a:lumMod val="65000"/>
                    <a:lumOff val="35000"/>
                  </a:prstClr>
                </a:solidFill>
                <a:latin typeface="Microsoft YaHei UI" panose="020B0503020204020204" pitchFamily="34" charset="-122"/>
                <a:ea typeface="Microsoft YaHei UI" panose="020B0503020204020204" pitchFamily="34" charset="-122"/>
                <a:cs typeface="+mn-ea"/>
                <a:sym typeface="+mn-lt"/>
              </a:rPr>
              <a:t>     </a:t>
            </a:r>
            <a:r>
              <a:rPr lang="en-US" altLang="zh-CN" sz="1200" dirty="0">
                <a:latin typeface="Microsoft YaHei UI" panose="020B0503020204020204" pitchFamily="34" charset="-122"/>
                <a:ea typeface="Microsoft YaHei UI" panose="020B0503020204020204" pitchFamily="34" charset="-122"/>
                <a:cs typeface="+mn-ea"/>
                <a:sym typeface="+mn-lt"/>
              </a:rPr>
              <a:t>10    30   30</a:t>
            </a:r>
            <a:endParaRPr lang="zh-CN" altLang="en-US" sz="1200" dirty="0">
              <a:latin typeface="Microsoft YaHei UI" panose="020B0503020204020204" pitchFamily="34" charset="-122"/>
              <a:ea typeface="Microsoft YaHei UI" panose="020B0503020204020204" pitchFamily="34" charset="-122"/>
              <a:cs typeface="+mn-ea"/>
              <a:sym typeface="+mn-lt"/>
            </a:endParaRPr>
          </a:p>
        </p:txBody>
      </p:sp>
      <p:sp>
        <p:nvSpPr>
          <p:cNvPr id="82" name="矩形 81"/>
          <p:cNvSpPr/>
          <p:nvPr/>
        </p:nvSpPr>
        <p:spPr>
          <a:xfrm>
            <a:off x="8177493" y="4929108"/>
            <a:ext cx="1396536" cy="276999"/>
          </a:xfrm>
          <a:prstGeom prst="rect">
            <a:avLst/>
          </a:prstGeom>
        </p:spPr>
        <p:txBody>
          <a:bodyPr wrap="none">
            <a:spAutoFit/>
          </a:bodyPr>
          <a:lstStyle/>
          <a:p>
            <a:pPr lvl="0"/>
            <a:r>
              <a:rPr lang="en-US" altLang="zh-CN" sz="1200" dirty="0">
                <a:latin typeface="Microsoft YaHei UI" panose="020B0503020204020204" pitchFamily="34" charset="-122"/>
                <a:ea typeface="Microsoft YaHei UI" panose="020B0503020204020204" pitchFamily="34" charset="-122"/>
                <a:cs typeface="+mn-ea"/>
                <a:sym typeface="+mn-lt"/>
              </a:rPr>
              <a:t>10    30    30   10</a:t>
            </a:r>
            <a:endParaRPr lang="zh-CN" altLang="en-US" sz="1200" dirty="0">
              <a:latin typeface="Microsoft YaHei UI" panose="020B0503020204020204" pitchFamily="34" charset="-122"/>
              <a:ea typeface="Microsoft YaHei UI" panose="020B0503020204020204" pitchFamily="34" charset="-122"/>
              <a:cs typeface="+mn-ea"/>
              <a:sym typeface="+mn-lt"/>
            </a:endParaRPr>
          </a:p>
        </p:txBody>
      </p:sp>
      <p:sp>
        <p:nvSpPr>
          <p:cNvPr id="83" name="矩形 82"/>
          <p:cNvSpPr/>
          <p:nvPr/>
        </p:nvSpPr>
        <p:spPr>
          <a:xfrm>
            <a:off x="8177493" y="5256035"/>
            <a:ext cx="1351652" cy="276999"/>
          </a:xfrm>
          <a:prstGeom prst="rect">
            <a:avLst/>
          </a:prstGeom>
        </p:spPr>
        <p:txBody>
          <a:bodyPr wrap="none">
            <a:spAutoFit/>
          </a:bodyPr>
          <a:lstStyle/>
          <a:p>
            <a:pPr lvl="0"/>
            <a:r>
              <a:rPr lang="en-US" altLang="zh-CN" sz="1200" dirty="0">
                <a:latin typeface="Microsoft YaHei UI" panose="020B0503020204020204" pitchFamily="34" charset="-122"/>
                <a:ea typeface="Microsoft YaHei UI" panose="020B0503020204020204" pitchFamily="34" charset="-122"/>
                <a:cs typeface="+mn-ea"/>
                <a:sym typeface="+mn-lt"/>
              </a:rPr>
              <a:t>30  </a:t>
            </a:r>
            <a:r>
              <a:rPr lang="en-US" altLang="zh-CN" sz="1200" dirty="0">
                <a:solidFill>
                  <a:prstClr val="black">
                    <a:lumMod val="65000"/>
                    <a:lumOff val="35000"/>
                  </a:prstClr>
                </a:solidFill>
                <a:latin typeface="Microsoft YaHei UI" panose="020B0503020204020204" pitchFamily="34" charset="-122"/>
                <a:ea typeface="Microsoft YaHei UI" panose="020B0503020204020204" pitchFamily="34" charset="-122"/>
                <a:cs typeface="+mn-ea"/>
                <a:sym typeface="+mn-lt"/>
              </a:rPr>
              <a:t>  </a:t>
            </a:r>
            <a:r>
              <a:rPr lang="en-US" altLang="zh-CN" sz="1200" dirty="0">
                <a:latin typeface="Microsoft YaHei UI" panose="020B0503020204020204" pitchFamily="34" charset="-122"/>
                <a:ea typeface="Microsoft YaHei UI" panose="020B0503020204020204" pitchFamily="34" charset="-122"/>
                <a:cs typeface="+mn-ea"/>
                <a:sym typeface="+mn-lt"/>
              </a:rPr>
              <a:t>30    10    </a:t>
            </a:r>
            <a:r>
              <a:rPr lang="en-US" altLang="zh-CN" sz="1200" dirty="0">
                <a:solidFill>
                  <a:prstClr val="white"/>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prstClr val="white"/>
              </a:solidFill>
              <a:latin typeface="Microsoft YaHei UI" panose="020B0503020204020204" pitchFamily="34" charset="-122"/>
              <a:ea typeface="Microsoft YaHei UI" panose="020B0503020204020204" pitchFamily="34" charset="-122"/>
              <a:cs typeface="+mn-ea"/>
              <a:sym typeface="+mn-lt"/>
            </a:endParaRPr>
          </a:p>
        </p:txBody>
      </p:sp>
      <p:sp>
        <p:nvSpPr>
          <p:cNvPr id="84" name="矩形 83"/>
          <p:cNvSpPr/>
          <p:nvPr/>
        </p:nvSpPr>
        <p:spPr>
          <a:xfrm>
            <a:off x="8177493" y="5562534"/>
            <a:ext cx="1351652" cy="276999"/>
          </a:xfrm>
          <a:prstGeom prst="rect">
            <a:avLst/>
          </a:prstGeom>
        </p:spPr>
        <p:txBody>
          <a:bodyPr wrap="none">
            <a:spAutoFit/>
          </a:bodyPr>
          <a:lstStyle/>
          <a:p>
            <a:pPr lvl="0"/>
            <a:r>
              <a:rPr lang="en-US" altLang="zh-CN" sz="1200" dirty="0">
                <a:latin typeface="Microsoft YaHei UI" panose="020B0503020204020204" pitchFamily="34" charset="-122"/>
                <a:ea typeface="Microsoft YaHei UI" panose="020B0503020204020204" pitchFamily="34" charset="-122"/>
                <a:cs typeface="+mn-ea"/>
                <a:sym typeface="+mn-lt"/>
              </a:rPr>
              <a:t>30    10     </a:t>
            </a:r>
            <a:r>
              <a:rPr lang="en-US" altLang="zh-CN" sz="1200" dirty="0">
                <a:solidFill>
                  <a:schemeClr val="bg1"/>
                </a:solidFill>
                <a:latin typeface="Microsoft YaHei UI" panose="020B0503020204020204" pitchFamily="34" charset="-122"/>
                <a:ea typeface="Microsoft YaHei UI" panose="020B0503020204020204" pitchFamily="34" charset="-122"/>
                <a:cs typeface="+mn-ea"/>
                <a:sym typeface="+mn-lt"/>
              </a:rPr>
              <a:t>0     </a:t>
            </a:r>
            <a:r>
              <a:rPr lang="en-US" altLang="zh-CN" sz="1200" dirty="0">
                <a:solidFill>
                  <a:prstClr val="white"/>
                </a:solidFill>
                <a:latin typeface="Microsoft YaHei UI" panose="020B0503020204020204" pitchFamily="34" charset="-122"/>
                <a:ea typeface="Microsoft YaHei UI" panose="020B0503020204020204" pitchFamily="34" charset="-122"/>
                <a:cs typeface="+mn-ea"/>
                <a:sym typeface="+mn-lt"/>
              </a:rPr>
              <a:t>0</a:t>
            </a:r>
            <a:endParaRPr lang="zh-CN" altLang="en-US" sz="1200" dirty="0">
              <a:solidFill>
                <a:prstClr val="white"/>
              </a:solidFill>
              <a:latin typeface="Microsoft YaHei UI" panose="020B0503020204020204" pitchFamily="34" charset="-122"/>
              <a:ea typeface="Microsoft YaHei UI" panose="020B0503020204020204" pitchFamily="34" charset="-122"/>
              <a:cs typeface="+mn-ea"/>
              <a:sym typeface="+mn-lt"/>
            </a:endParaRPr>
          </a:p>
        </p:txBody>
      </p:sp>
      <p:sp>
        <p:nvSpPr>
          <p:cNvPr id="85" name="文本框 84"/>
          <p:cNvSpPr txBox="1"/>
          <p:nvPr/>
        </p:nvSpPr>
        <p:spPr>
          <a:xfrm>
            <a:off x="5830020" y="5036269"/>
            <a:ext cx="346962" cy="523220"/>
          </a:xfrm>
          <a:prstGeom prst="rect">
            <a:avLst/>
          </a:prstGeom>
          <a:noFill/>
        </p:spPr>
        <p:txBody>
          <a:bodyPr wrap="square" rtlCol="0">
            <a:spAutoFit/>
          </a:bodyPr>
          <a:lstStyle/>
          <a:p>
            <a:r>
              <a:rPr lang="zh-CN" altLang="en-US" sz="2800" dirty="0">
                <a:latin typeface="Microsoft YaHei UI Light" panose="020B0502040204020203" pitchFamily="34" charset="-122"/>
                <a:ea typeface="微软雅黑 Light" panose="020B0502040204020203" pitchFamily="34" charset="-122"/>
                <a:cs typeface="+mn-ea"/>
                <a:sym typeface="+mn-lt"/>
              </a:rPr>
              <a:t>*</a:t>
            </a:r>
          </a:p>
        </p:txBody>
      </p:sp>
      <p:sp>
        <p:nvSpPr>
          <p:cNvPr id="86" name="文本框 85"/>
          <p:cNvSpPr txBox="1"/>
          <p:nvPr/>
        </p:nvSpPr>
        <p:spPr>
          <a:xfrm>
            <a:off x="7558601" y="5011235"/>
            <a:ext cx="322130" cy="523220"/>
          </a:xfrm>
          <a:prstGeom prst="rect">
            <a:avLst/>
          </a:prstGeom>
          <a:noFill/>
        </p:spPr>
        <p:txBody>
          <a:bodyPr wrap="square" rtlCol="0">
            <a:spAutoFit/>
          </a:bodyPr>
          <a:lstStyle/>
          <a:p>
            <a:r>
              <a:rPr lang="en-US" altLang="zh-CN" sz="2800" dirty="0">
                <a:latin typeface="Microsoft YaHei UI Light" panose="020B0502040204020203" pitchFamily="34" charset="-122"/>
                <a:ea typeface="微软雅黑 Light" panose="020B0502040204020203" pitchFamily="34" charset="-122"/>
                <a:cs typeface="+mn-ea"/>
                <a:sym typeface="+mn-lt"/>
              </a:rPr>
              <a:t>=</a:t>
            </a:r>
            <a:endParaRPr lang="zh-CN" altLang="en-US" sz="2800" dirty="0">
              <a:latin typeface="Microsoft YaHei UI Light" panose="020B0502040204020203" pitchFamily="34" charset="-122"/>
              <a:ea typeface="微软雅黑 Light" panose="020B0502040204020203" pitchFamily="34" charset="-122"/>
              <a:cs typeface="+mn-ea"/>
              <a:sym typeface="+mn-lt"/>
            </a:endParaRPr>
          </a:p>
        </p:txBody>
      </p:sp>
      <p:sp>
        <p:nvSpPr>
          <p:cNvPr id="87" name="矩形 86"/>
          <p:cNvSpPr/>
          <p:nvPr/>
        </p:nvSpPr>
        <p:spPr>
          <a:xfrm>
            <a:off x="1703878" y="2816325"/>
            <a:ext cx="1858201" cy="460062"/>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检测垂直边缘</a:t>
            </a:r>
          </a:p>
        </p:txBody>
      </p:sp>
      <p:sp>
        <p:nvSpPr>
          <p:cNvPr id="88" name="矩形 87"/>
          <p:cNvSpPr/>
          <p:nvPr/>
        </p:nvSpPr>
        <p:spPr>
          <a:xfrm>
            <a:off x="1703878" y="4997054"/>
            <a:ext cx="1754006" cy="460062"/>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检测</a:t>
            </a:r>
            <a:r>
              <a:rPr lang="en-US" altLang="zh-CN" dirty="0">
                <a:latin typeface="Microsoft YaHei UI Light" panose="020B0502040204020203" pitchFamily="34" charset="-122"/>
                <a:ea typeface="微软雅黑 Light" panose="020B0502040204020203" pitchFamily="34" charset="-122"/>
                <a:cs typeface="+mn-ea"/>
                <a:sym typeface="+mn-lt"/>
              </a:rPr>
              <a:t>45°</a:t>
            </a:r>
            <a:r>
              <a:rPr lang="zh-CN" altLang="en-US" dirty="0">
                <a:latin typeface="Microsoft YaHei UI Light" panose="020B0502040204020203" pitchFamily="34" charset="-122"/>
                <a:ea typeface="微软雅黑 Light" panose="020B0502040204020203" pitchFamily="34" charset="-122"/>
                <a:cs typeface="+mn-ea"/>
                <a:sym typeface="+mn-lt"/>
              </a:rPr>
              <a:t>边缘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池化层（</a:t>
            </a:r>
            <a:r>
              <a:rPr lang="en-US" altLang="zh-CN" sz="2800" b="1" dirty="0"/>
              <a:t>Pooling</a:t>
            </a:r>
            <a:r>
              <a:rPr lang="zh-CN" altLang="en-US" sz="2800" b="1" dirty="0"/>
              <a:t>）</a:t>
            </a:r>
            <a:endParaRPr lang="en-US" altLang="zh-CN" sz="2800" b="1" dirty="0"/>
          </a:p>
        </p:txBody>
      </p:sp>
      <p:sp>
        <p:nvSpPr>
          <p:cNvPr id="44" name="矩形 43"/>
          <p:cNvSpPr/>
          <p:nvPr/>
        </p:nvSpPr>
        <p:spPr>
          <a:xfrm>
            <a:off x="1444205" y="1633674"/>
            <a:ext cx="7167347" cy="1338828"/>
          </a:xfrm>
          <a:prstGeom prst="rect">
            <a:avLst/>
          </a:prstGeom>
        </p:spPr>
        <p:txBody>
          <a:bodyPr wrap="none">
            <a:spAutoFit/>
          </a:bodyPr>
          <a:lstStyle/>
          <a:p>
            <a:pPr marL="285750" indent="-285750">
              <a:lnSpc>
                <a:spcPct val="150000"/>
              </a:lnSpc>
              <a:buFont typeface="Arial" panose="020B0604020202020204" pitchFamily="34" charset="0"/>
              <a:buChar char="•"/>
            </a:pPr>
            <a:r>
              <a:rPr lang="en-US" altLang="zh-CN" dirty="0">
                <a:latin typeface="Microsoft YaHei UI Light" panose="020B0502040204020203" pitchFamily="34" charset="-122"/>
                <a:ea typeface="微软雅黑 Light" panose="020B0502040204020203" pitchFamily="34" charset="-122"/>
                <a:cs typeface="+mn-ea"/>
                <a:sym typeface="+mn-lt"/>
              </a:rPr>
              <a:t>Max Pooling / </a:t>
            </a:r>
            <a:r>
              <a:rPr lang="en-US" altLang="zh-CN" dirty="0" err="1">
                <a:latin typeface="Microsoft YaHei UI Light" panose="020B0502040204020203" pitchFamily="34" charset="-122"/>
                <a:ea typeface="微软雅黑 Light" panose="020B0502040204020203" pitchFamily="34" charset="-122"/>
                <a:cs typeface="+mn-ea"/>
                <a:sym typeface="+mn-lt"/>
              </a:rPr>
              <a:t>Avg</a:t>
            </a:r>
            <a:r>
              <a:rPr lang="en-US" altLang="zh-CN" dirty="0">
                <a:latin typeface="Microsoft YaHei UI Light" panose="020B0502040204020203" pitchFamily="34" charset="-122"/>
                <a:ea typeface="微软雅黑 Light" panose="020B0502040204020203" pitchFamily="34" charset="-122"/>
                <a:cs typeface="+mn-ea"/>
                <a:sym typeface="+mn-lt"/>
              </a:rPr>
              <a:t> Pooling / L2 Pooling</a:t>
            </a: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主动减小图片尺寸，从而减少参数的数量和计算量，控制过拟合；</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不引入额外参数；</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45" name="表格 44"/>
          <p:cNvGraphicFramePr>
            <a:graphicFrameLocks noGrp="1"/>
          </p:cNvGraphicFramePr>
          <p:nvPr/>
        </p:nvGraphicFramePr>
        <p:xfrm>
          <a:off x="1907462" y="3184140"/>
          <a:ext cx="2033694" cy="2011680"/>
        </p:xfrm>
        <a:graphic>
          <a:graphicData uri="http://schemas.openxmlformats.org/drawingml/2006/table">
            <a:tbl>
              <a:tblPr firstRow="1" bandRow="1">
                <a:tableStyleId>{5940675A-B579-460E-94D1-54222C63F5DA}</a:tableStyleId>
              </a:tblPr>
              <a:tblGrid>
                <a:gridCol w="338949">
                  <a:extLst>
                    <a:ext uri="{9D8B030D-6E8A-4147-A177-3AD203B41FA5}">
                      <a16:colId xmlns:a16="http://schemas.microsoft.com/office/drawing/2014/main" val="20000"/>
                    </a:ext>
                  </a:extLst>
                </a:gridCol>
                <a:gridCol w="338949">
                  <a:extLst>
                    <a:ext uri="{9D8B030D-6E8A-4147-A177-3AD203B41FA5}">
                      <a16:colId xmlns:a16="http://schemas.microsoft.com/office/drawing/2014/main" val="20001"/>
                    </a:ext>
                  </a:extLst>
                </a:gridCol>
                <a:gridCol w="338949">
                  <a:extLst>
                    <a:ext uri="{9D8B030D-6E8A-4147-A177-3AD203B41FA5}">
                      <a16:colId xmlns:a16="http://schemas.microsoft.com/office/drawing/2014/main" val="20002"/>
                    </a:ext>
                  </a:extLst>
                </a:gridCol>
                <a:gridCol w="338949">
                  <a:extLst>
                    <a:ext uri="{9D8B030D-6E8A-4147-A177-3AD203B41FA5}">
                      <a16:colId xmlns:a16="http://schemas.microsoft.com/office/drawing/2014/main" val="20003"/>
                    </a:ext>
                  </a:extLst>
                </a:gridCol>
                <a:gridCol w="338949">
                  <a:extLst>
                    <a:ext uri="{9D8B030D-6E8A-4147-A177-3AD203B41FA5}">
                      <a16:colId xmlns:a16="http://schemas.microsoft.com/office/drawing/2014/main" val="20004"/>
                    </a:ext>
                  </a:extLst>
                </a:gridCol>
                <a:gridCol w="338949">
                  <a:extLst>
                    <a:ext uri="{9D8B030D-6E8A-4147-A177-3AD203B41FA5}">
                      <a16:colId xmlns:a16="http://schemas.microsoft.com/office/drawing/2014/main" val="20005"/>
                    </a:ext>
                  </a:extLst>
                </a:gridCol>
              </a:tblGrid>
              <a:tr h="330701">
                <a:tc>
                  <a:txBody>
                    <a:bodyPr/>
                    <a:lstStyle/>
                    <a:p>
                      <a:pPr algn="ctr"/>
                      <a:r>
                        <a:rPr lang="en-US" altLang="zh-CN" sz="1600" dirty="0">
                          <a:latin typeface="+mn-lt"/>
                          <a:ea typeface="+mn-ea"/>
                          <a:cs typeface="+mn-ea"/>
                          <a:sym typeface="+mn-lt"/>
                        </a:rPr>
                        <a:t>2</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3</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1</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5</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2</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3</a:t>
                      </a:r>
                      <a:endParaRPr lang="zh-CN" altLang="en-US" sz="1600" dirty="0">
                        <a:latin typeface="+mn-lt"/>
                        <a:ea typeface="+mn-ea"/>
                        <a:cs typeface="+mn-ea"/>
                        <a:sym typeface="+mn-lt"/>
                      </a:endParaRPr>
                    </a:p>
                  </a:txBody>
                  <a:tcPr/>
                </a:tc>
                <a:extLst>
                  <a:ext uri="{0D108BD9-81ED-4DB2-BD59-A6C34878D82A}">
                    <a16:rowId xmlns:a16="http://schemas.microsoft.com/office/drawing/2014/main" val="10000"/>
                  </a:ext>
                </a:extLst>
              </a:tr>
              <a:tr h="330701">
                <a:tc>
                  <a:txBody>
                    <a:bodyPr/>
                    <a:lstStyle/>
                    <a:p>
                      <a:pPr algn="ctr"/>
                      <a:r>
                        <a:rPr lang="en-US" altLang="zh-CN" sz="1600" dirty="0">
                          <a:latin typeface="+mn-lt"/>
                          <a:ea typeface="+mn-ea"/>
                          <a:cs typeface="+mn-ea"/>
                          <a:sym typeface="+mn-lt"/>
                        </a:rPr>
                        <a:t>7</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4</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5</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2</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3</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1</a:t>
                      </a:r>
                      <a:endParaRPr lang="zh-CN" altLang="en-US" sz="1600" dirty="0">
                        <a:latin typeface="+mn-lt"/>
                        <a:ea typeface="+mn-ea"/>
                        <a:cs typeface="+mn-ea"/>
                        <a:sym typeface="+mn-lt"/>
                      </a:endParaRPr>
                    </a:p>
                  </a:txBody>
                  <a:tcPr/>
                </a:tc>
                <a:extLst>
                  <a:ext uri="{0D108BD9-81ED-4DB2-BD59-A6C34878D82A}">
                    <a16:rowId xmlns:a16="http://schemas.microsoft.com/office/drawing/2014/main" val="10001"/>
                  </a:ext>
                </a:extLst>
              </a:tr>
              <a:tr h="330701">
                <a:tc>
                  <a:txBody>
                    <a:bodyPr/>
                    <a:lstStyle/>
                    <a:p>
                      <a:pPr algn="ctr"/>
                      <a:r>
                        <a:rPr lang="en-US" altLang="zh-CN" sz="1600" dirty="0">
                          <a:latin typeface="+mn-lt"/>
                          <a:ea typeface="+mn-ea"/>
                          <a:cs typeface="+mn-ea"/>
                          <a:sym typeface="+mn-lt"/>
                        </a:rPr>
                        <a:t>3</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9</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6</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0</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4</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2</a:t>
                      </a:r>
                      <a:endParaRPr lang="zh-CN" altLang="en-US" sz="1600" dirty="0">
                        <a:latin typeface="+mn-lt"/>
                        <a:ea typeface="+mn-ea"/>
                        <a:cs typeface="+mn-ea"/>
                        <a:sym typeface="+mn-lt"/>
                      </a:endParaRPr>
                    </a:p>
                  </a:txBody>
                  <a:tcPr/>
                </a:tc>
                <a:extLst>
                  <a:ext uri="{0D108BD9-81ED-4DB2-BD59-A6C34878D82A}">
                    <a16:rowId xmlns:a16="http://schemas.microsoft.com/office/drawing/2014/main" val="10002"/>
                  </a:ext>
                </a:extLst>
              </a:tr>
              <a:tr h="330701">
                <a:tc>
                  <a:txBody>
                    <a:bodyPr/>
                    <a:lstStyle/>
                    <a:p>
                      <a:pPr algn="ctr"/>
                      <a:r>
                        <a:rPr lang="en-US" altLang="zh-CN" sz="1600" dirty="0">
                          <a:latin typeface="+mn-lt"/>
                          <a:ea typeface="+mn-ea"/>
                          <a:cs typeface="+mn-ea"/>
                          <a:sym typeface="+mn-lt"/>
                        </a:rPr>
                        <a:t>0</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6</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4</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7</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1</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2</a:t>
                      </a:r>
                      <a:endParaRPr lang="zh-CN" altLang="en-US" sz="1600" dirty="0">
                        <a:latin typeface="+mn-lt"/>
                        <a:ea typeface="+mn-ea"/>
                        <a:cs typeface="+mn-ea"/>
                        <a:sym typeface="+mn-lt"/>
                      </a:endParaRPr>
                    </a:p>
                  </a:txBody>
                  <a:tcPr/>
                </a:tc>
                <a:extLst>
                  <a:ext uri="{0D108BD9-81ED-4DB2-BD59-A6C34878D82A}">
                    <a16:rowId xmlns:a16="http://schemas.microsoft.com/office/drawing/2014/main" val="10003"/>
                  </a:ext>
                </a:extLst>
              </a:tr>
              <a:tr h="330701">
                <a:tc>
                  <a:txBody>
                    <a:bodyPr/>
                    <a:lstStyle/>
                    <a:p>
                      <a:pPr algn="ctr"/>
                      <a:r>
                        <a:rPr lang="en-US" altLang="zh-CN" sz="1600" dirty="0">
                          <a:latin typeface="+mn-lt"/>
                          <a:ea typeface="+mn-ea"/>
                          <a:cs typeface="+mn-ea"/>
                          <a:sym typeface="+mn-lt"/>
                        </a:rPr>
                        <a:t>4</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1</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0</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8</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0</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6</a:t>
                      </a:r>
                      <a:endParaRPr lang="zh-CN" altLang="en-US" sz="1600" dirty="0">
                        <a:latin typeface="+mn-lt"/>
                        <a:ea typeface="+mn-ea"/>
                        <a:cs typeface="+mn-ea"/>
                        <a:sym typeface="+mn-lt"/>
                      </a:endParaRPr>
                    </a:p>
                  </a:txBody>
                  <a:tcPr/>
                </a:tc>
                <a:extLst>
                  <a:ext uri="{0D108BD9-81ED-4DB2-BD59-A6C34878D82A}">
                    <a16:rowId xmlns:a16="http://schemas.microsoft.com/office/drawing/2014/main" val="10004"/>
                  </a:ext>
                </a:extLst>
              </a:tr>
              <a:tr h="330701">
                <a:tc>
                  <a:txBody>
                    <a:bodyPr/>
                    <a:lstStyle/>
                    <a:p>
                      <a:pPr algn="ctr"/>
                      <a:r>
                        <a:rPr lang="en-US" altLang="zh-CN" sz="1600" dirty="0">
                          <a:latin typeface="+mn-lt"/>
                          <a:ea typeface="+mn-ea"/>
                          <a:cs typeface="+mn-ea"/>
                          <a:sym typeface="+mn-lt"/>
                        </a:rPr>
                        <a:t>7</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0</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2</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1</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6</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3</a:t>
                      </a:r>
                      <a:endParaRPr lang="zh-CN" altLang="en-US" sz="1600" dirty="0">
                        <a:latin typeface="+mn-lt"/>
                        <a:ea typeface="+mn-ea"/>
                        <a:cs typeface="+mn-ea"/>
                        <a:sym typeface="+mn-lt"/>
                      </a:endParaRPr>
                    </a:p>
                  </a:txBody>
                  <a:tcPr/>
                </a:tc>
                <a:extLst>
                  <a:ext uri="{0D108BD9-81ED-4DB2-BD59-A6C34878D82A}">
                    <a16:rowId xmlns:a16="http://schemas.microsoft.com/office/drawing/2014/main" val="10005"/>
                  </a:ext>
                </a:extLst>
              </a:tr>
            </a:tbl>
          </a:graphicData>
        </a:graphic>
      </p:graphicFrame>
      <p:graphicFrame>
        <p:nvGraphicFramePr>
          <p:cNvPr id="46" name="表格 45"/>
          <p:cNvGraphicFramePr>
            <a:graphicFrameLocks noGrp="1"/>
          </p:cNvGraphicFramePr>
          <p:nvPr/>
        </p:nvGraphicFramePr>
        <p:xfrm>
          <a:off x="7674838" y="3616726"/>
          <a:ext cx="936714" cy="1005840"/>
        </p:xfrm>
        <a:graphic>
          <a:graphicData uri="http://schemas.openxmlformats.org/drawingml/2006/table">
            <a:tbl>
              <a:tblPr firstRow="1" bandRow="1">
                <a:tableStyleId>{5940675A-B579-460E-94D1-54222C63F5DA}</a:tableStyleId>
              </a:tblPr>
              <a:tblGrid>
                <a:gridCol w="312238">
                  <a:extLst>
                    <a:ext uri="{9D8B030D-6E8A-4147-A177-3AD203B41FA5}">
                      <a16:colId xmlns:a16="http://schemas.microsoft.com/office/drawing/2014/main" val="20000"/>
                    </a:ext>
                  </a:extLst>
                </a:gridCol>
                <a:gridCol w="312238">
                  <a:extLst>
                    <a:ext uri="{9D8B030D-6E8A-4147-A177-3AD203B41FA5}">
                      <a16:colId xmlns:a16="http://schemas.microsoft.com/office/drawing/2014/main" val="20001"/>
                    </a:ext>
                  </a:extLst>
                </a:gridCol>
                <a:gridCol w="312238">
                  <a:extLst>
                    <a:ext uri="{9D8B030D-6E8A-4147-A177-3AD203B41FA5}">
                      <a16:colId xmlns:a16="http://schemas.microsoft.com/office/drawing/2014/main" val="20002"/>
                    </a:ext>
                  </a:extLst>
                </a:gridCol>
              </a:tblGrid>
              <a:tr h="328949">
                <a:tc>
                  <a:txBody>
                    <a:bodyPr/>
                    <a:lstStyle/>
                    <a:p>
                      <a:pPr algn="ctr"/>
                      <a:r>
                        <a:rPr lang="en-US" altLang="zh-CN" sz="1600" dirty="0">
                          <a:solidFill>
                            <a:srgbClr val="0070C0"/>
                          </a:solidFill>
                          <a:latin typeface="+mn-lt"/>
                          <a:ea typeface="+mn-ea"/>
                          <a:cs typeface="+mn-ea"/>
                          <a:sym typeface="+mn-lt"/>
                        </a:rPr>
                        <a:t>7</a:t>
                      </a:r>
                      <a:endParaRPr lang="zh-CN" altLang="en-US" sz="1600" dirty="0">
                        <a:solidFill>
                          <a:srgbClr val="0070C0"/>
                        </a:solidFill>
                        <a:latin typeface="+mn-lt"/>
                        <a:ea typeface="+mn-ea"/>
                        <a:cs typeface="+mn-ea"/>
                        <a:sym typeface="+mn-lt"/>
                      </a:endParaRPr>
                    </a:p>
                  </a:txBody>
                  <a:tcPr/>
                </a:tc>
                <a:tc>
                  <a:txBody>
                    <a:bodyPr/>
                    <a:lstStyle/>
                    <a:p>
                      <a:pPr algn="ctr"/>
                      <a:r>
                        <a:rPr lang="en-US" altLang="zh-CN" sz="1600" dirty="0">
                          <a:latin typeface="+mn-lt"/>
                          <a:ea typeface="+mn-ea"/>
                          <a:cs typeface="+mn-ea"/>
                          <a:sym typeface="+mn-lt"/>
                        </a:rPr>
                        <a:t>5</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3</a:t>
                      </a:r>
                      <a:endParaRPr lang="zh-CN" altLang="en-US" sz="1600" dirty="0">
                        <a:latin typeface="+mn-lt"/>
                        <a:ea typeface="+mn-ea"/>
                        <a:cs typeface="+mn-ea"/>
                        <a:sym typeface="+mn-lt"/>
                      </a:endParaRPr>
                    </a:p>
                  </a:txBody>
                  <a:tcPr/>
                </a:tc>
                <a:extLst>
                  <a:ext uri="{0D108BD9-81ED-4DB2-BD59-A6C34878D82A}">
                    <a16:rowId xmlns:a16="http://schemas.microsoft.com/office/drawing/2014/main" val="10000"/>
                  </a:ext>
                </a:extLst>
              </a:tr>
              <a:tr h="328949">
                <a:tc>
                  <a:txBody>
                    <a:bodyPr/>
                    <a:lstStyle/>
                    <a:p>
                      <a:pPr algn="ctr"/>
                      <a:r>
                        <a:rPr lang="en-US" altLang="zh-CN" sz="1600" dirty="0">
                          <a:latin typeface="+mn-lt"/>
                          <a:ea typeface="+mn-ea"/>
                          <a:cs typeface="+mn-ea"/>
                          <a:sym typeface="+mn-lt"/>
                        </a:rPr>
                        <a:t>9</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6</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4</a:t>
                      </a:r>
                      <a:endParaRPr lang="zh-CN" altLang="en-US" sz="1600" dirty="0">
                        <a:latin typeface="+mn-lt"/>
                        <a:ea typeface="+mn-ea"/>
                        <a:cs typeface="+mn-ea"/>
                        <a:sym typeface="+mn-lt"/>
                      </a:endParaRPr>
                    </a:p>
                  </a:txBody>
                  <a:tcPr/>
                </a:tc>
                <a:extLst>
                  <a:ext uri="{0D108BD9-81ED-4DB2-BD59-A6C34878D82A}">
                    <a16:rowId xmlns:a16="http://schemas.microsoft.com/office/drawing/2014/main" val="10001"/>
                  </a:ext>
                </a:extLst>
              </a:tr>
              <a:tr h="328949">
                <a:tc>
                  <a:txBody>
                    <a:bodyPr/>
                    <a:lstStyle/>
                    <a:p>
                      <a:pPr algn="ctr"/>
                      <a:r>
                        <a:rPr lang="en-US" altLang="zh-CN" sz="1600" dirty="0">
                          <a:latin typeface="+mn-lt"/>
                          <a:ea typeface="+mn-ea"/>
                          <a:cs typeface="+mn-ea"/>
                          <a:sym typeface="+mn-lt"/>
                        </a:rPr>
                        <a:t>7</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8</a:t>
                      </a:r>
                      <a:endParaRPr lang="zh-CN" altLang="en-US" sz="1600" dirty="0">
                        <a:latin typeface="+mn-lt"/>
                        <a:ea typeface="+mn-ea"/>
                        <a:cs typeface="+mn-ea"/>
                        <a:sym typeface="+mn-lt"/>
                      </a:endParaRPr>
                    </a:p>
                  </a:txBody>
                  <a:tcPr/>
                </a:tc>
                <a:tc>
                  <a:txBody>
                    <a:bodyPr/>
                    <a:lstStyle/>
                    <a:p>
                      <a:pPr algn="ctr"/>
                      <a:r>
                        <a:rPr lang="en-US" altLang="zh-CN" sz="1600" dirty="0">
                          <a:latin typeface="+mn-lt"/>
                          <a:ea typeface="+mn-ea"/>
                          <a:cs typeface="+mn-ea"/>
                          <a:sym typeface="+mn-lt"/>
                        </a:rPr>
                        <a:t>6</a:t>
                      </a:r>
                      <a:endParaRPr lang="zh-CN" altLang="en-US" sz="1600" dirty="0">
                        <a:latin typeface="+mn-lt"/>
                        <a:ea typeface="+mn-ea"/>
                        <a:cs typeface="+mn-ea"/>
                        <a:sym typeface="+mn-lt"/>
                      </a:endParaRPr>
                    </a:p>
                  </a:txBody>
                  <a:tcPr/>
                </a:tc>
                <a:extLst>
                  <a:ext uri="{0D108BD9-81ED-4DB2-BD59-A6C34878D82A}">
                    <a16:rowId xmlns:a16="http://schemas.microsoft.com/office/drawing/2014/main" val="10002"/>
                  </a:ext>
                </a:extLst>
              </a:tr>
            </a:tbl>
          </a:graphicData>
        </a:graphic>
      </p:graphicFrame>
      <p:sp>
        <p:nvSpPr>
          <p:cNvPr id="47" name="矩形 46"/>
          <p:cNvSpPr/>
          <p:nvPr/>
        </p:nvSpPr>
        <p:spPr>
          <a:xfrm>
            <a:off x="1907462" y="3184140"/>
            <a:ext cx="658827" cy="675359"/>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48" name="右箭头 47"/>
          <p:cNvSpPr/>
          <p:nvPr/>
        </p:nvSpPr>
        <p:spPr>
          <a:xfrm>
            <a:off x="4283598" y="4128725"/>
            <a:ext cx="3057431" cy="61255"/>
          </a:xfrm>
          <a:prstGeom prst="rightArrow">
            <a:avLst>
              <a:gd name="adj1" fmla="val 25511"/>
              <a:gd name="adj2" fmla="val 520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49" name="文本框 48"/>
          <p:cNvSpPr txBox="1"/>
          <p:nvPr/>
        </p:nvSpPr>
        <p:spPr>
          <a:xfrm>
            <a:off x="4992019" y="3759393"/>
            <a:ext cx="1483098" cy="369332"/>
          </a:xfrm>
          <a:prstGeom prst="rect">
            <a:avLst/>
          </a:prstGeom>
          <a:noFill/>
        </p:spPr>
        <p:txBody>
          <a:bodyPr wrap="none" rtlCol="0">
            <a:spAutoFit/>
          </a:bodyPr>
          <a:lstStyle/>
          <a:p>
            <a:r>
              <a:rPr lang="en-US" altLang="zh-CN" i="1" dirty="0">
                <a:latin typeface="Microsoft YaHei UI Light" panose="020B0502040204020203" pitchFamily="34" charset="-122"/>
                <a:ea typeface="微软雅黑 Light" panose="020B0502040204020203" pitchFamily="34" charset="-122"/>
                <a:cs typeface="+mn-ea"/>
                <a:sym typeface="+mn-lt"/>
              </a:rPr>
              <a:t>Max pooling</a:t>
            </a:r>
            <a:endParaRPr lang="zh-CN" altLang="en-US" i="1"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50" name="矩形 49"/>
              <p:cNvSpPr/>
              <p:nvPr/>
            </p:nvSpPr>
            <p:spPr>
              <a:xfrm>
                <a:off x="4169450" y="4251535"/>
                <a:ext cx="3285725"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mn-ea"/>
                          <a:sym typeface="+mn-lt"/>
                        </a:rPr>
                        <m:t>𝑓𝑖𝑙𝑡𝑒𝑟</m:t>
                      </m:r>
                      <m:r>
                        <a:rPr lang="en-US" altLang="zh-CN" sz="1400" i="1">
                          <a:latin typeface="Cambria Math" panose="02040503050406030204" pitchFamily="18" charset="0"/>
                          <a:cs typeface="+mn-ea"/>
                          <a:sym typeface="+mn-lt"/>
                        </a:rPr>
                        <m:t>=2×2</m:t>
                      </m:r>
                      <m:r>
                        <a:rPr lang="en-US" altLang="zh-CN" sz="1400" i="1">
                          <a:latin typeface="Cambria Math" panose="02040503050406030204" pitchFamily="18" charset="0"/>
                          <a:cs typeface="+mn-ea"/>
                          <a:sym typeface="+mn-lt"/>
                        </a:rPr>
                        <m:t>，</m:t>
                      </m:r>
                      <m:r>
                        <a:rPr lang="en-US" altLang="zh-CN" sz="1400" i="1">
                          <a:latin typeface="Cambria Math" panose="02040503050406030204" pitchFamily="18" charset="0"/>
                          <a:cs typeface="+mn-ea"/>
                          <a:sym typeface="+mn-lt"/>
                        </a:rPr>
                        <m:t>𝑝𝑎𝑑</m:t>
                      </m:r>
                      <m:r>
                        <a:rPr lang="en-US" altLang="zh-CN" sz="1400" i="1">
                          <a:latin typeface="Cambria Math" panose="02040503050406030204" pitchFamily="18" charset="0"/>
                          <a:cs typeface="+mn-ea"/>
                          <a:sym typeface="+mn-lt"/>
                        </a:rPr>
                        <m:t>=0</m:t>
                      </m:r>
                      <m:r>
                        <a:rPr lang="en-US" altLang="zh-CN" sz="1400" i="1">
                          <a:latin typeface="Cambria Math" panose="02040503050406030204" pitchFamily="18" charset="0"/>
                          <a:cs typeface="+mn-ea"/>
                          <a:sym typeface="+mn-lt"/>
                        </a:rPr>
                        <m:t>，</m:t>
                      </m:r>
                      <m:r>
                        <a:rPr lang="en-US" altLang="zh-CN" sz="1400" i="1">
                          <a:latin typeface="Cambria Math" panose="02040503050406030204" pitchFamily="18" charset="0"/>
                          <a:cs typeface="+mn-ea"/>
                          <a:sym typeface="+mn-lt"/>
                        </a:rPr>
                        <m:t>𝑠𝑡𝑟𝑖𝑑𝑒</m:t>
                      </m:r>
                      <m:r>
                        <a:rPr lang="en-US" altLang="zh-CN" sz="1400" i="1">
                          <a:latin typeface="Cambria Math" panose="02040503050406030204" pitchFamily="18" charset="0"/>
                          <a:cs typeface="+mn-ea"/>
                          <a:sym typeface="+mn-lt"/>
                        </a:rPr>
                        <m:t>=2</m:t>
                      </m:r>
                    </m:oMath>
                  </m:oMathPara>
                </a14:m>
                <a:endParaRPr lang="zh-CN" altLang="en-US" sz="14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50" name="矩形 49"/>
              <p:cNvSpPr>
                <a:spLocks noRot="1" noChangeAspect="1" noMove="1" noResize="1" noEditPoints="1" noAdjustHandles="1" noChangeArrowheads="1" noChangeShapeType="1" noTextEdit="1"/>
              </p:cNvSpPr>
              <p:nvPr/>
            </p:nvSpPr>
            <p:spPr>
              <a:xfrm>
                <a:off x="4169450" y="4251535"/>
                <a:ext cx="3285725" cy="307777"/>
              </a:xfrm>
              <a:prstGeom prst="rect">
                <a:avLst/>
              </a:prstGeom>
              <a:blipFill rotWithShape="1">
                <a:blip r:embed="rId5"/>
                <a:stretch>
                  <a:fillRect l="-1" t="-68" r="8" b="4"/>
                </a:stretch>
              </a:blipFill>
            </p:spPr>
            <p:txBody>
              <a:bodyPr/>
              <a:lstStyle/>
              <a:p>
                <a:r>
                  <a:rPr lang="zh-CN" altLang="en-US">
                    <a:noFill/>
                  </a:rPr>
                  <a:t> </a:t>
                </a:r>
              </a:p>
            </p:txBody>
          </p:sp>
        </mc:Fallback>
      </mc:AlternateContent>
      <p:sp>
        <p:nvSpPr>
          <p:cNvPr id="51" name="矩形 50"/>
          <p:cNvSpPr/>
          <p:nvPr/>
        </p:nvSpPr>
        <p:spPr>
          <a:xfrm>
            <a:off x="2566289" y="5306754"/>
            <a:ext cx="5809604" cy="419217"/>
          </a:xfrm>
          <a:prstGeom prst="rect">
            <a:avLst/>
          </a:prstGeom>
        </p:spPr>
        <p:txBody>
          <a:bodyPr wrap="none">
            <a:spAutoFit/>
          </a:bodyPr>
          <a:lstStyle/>
          <a:p>
            <a:pPr>
              <a:lnSpc>
                <a:spcPct val="150000"/>
              </a:lnSpc>
            </a:pPr>
            <a:r>
              <a:rPr lang="en-US" altLang="zh-CN" sz="1600" b="1" i="1" u="sng" dirty="0">
                <a:solidFill>
                  <a:srgbClr val="0070C0"/>
                </a:solidFill>
                <a:latin typeface="Microsoft YaHei UI Light" panose="020B0502040204020203" pitchFamily="34" charset="-122"/>
                <a:ea typeface="微软雅黑 Light" panose="020B0502040204020203" pitchFamily="34" charset="-122"/>
                <a:cs typeface="+mn-ea"/>
                <a:sym typeface="+mn-lt"/>
              </a:rPr>
              <a:t>   Max pooling </a:t>
            </a:r>
            <a:r>
              <a:rPr lang="zh-CN" altLang="en-US" sz="1600" b="1" i="1" u="sng" dirty="0">
                <a:solidFill>
                  <a:srgbClr val="0070C0"/>
                </a:solidFill>
                <a:latin typeface="Microsoft YaHei UI Light" panose="020B0502040204020203" pitchFamily="34" charset="-122"/>
                <a:ea typeface="微软雅黑 Light" panose="020B0502040204020203" pitchFamily="34" charset="-122"/>
                <a:cs typeface="+mn-ea"/>
                <a:sym typeface="+mn-lt"/>
              </a:rPr>
              <a:t>可保留特征最大值，提高提取特征的鲁棒性。  </a:t>
            </a:r>
            <a:endParaRPr lang="en-US" altLang="zh-CN" sz="1600" b="1" i="1" u="sng" dirty="0">
              <a:solidFill>
                <a:srgbClr val="0070C0"/>
              </a:solidFill>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全连接层</a:t>
            </a:r>
            <a:endParaRPr lang="en-US" altLang="zh-CN" sz="2800" b="1" dirty="0"/>
          </a:p>
        </p:txBody>
      </p:sp>
      <p:sp>
        <p:nvSpPr>
          <p:cNvPr id="16" name="内容占位符 2"/>
          <p:cNvSpPr txBox="1"/>
          <p:nvPr/>
        </p:nvSpPr>
        <p:spPr>
          <a:xfrm>
            <a:off x="507842" y="1464643"/>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Fully Connect </a:t>
            </a:r>
          </a:p>
        </p:txBody>
      </p:sp>
      <p:sp>
        <p:nvSpPr>
          <p:cNvPr id="18" name="矩形 17"/>
          <p:cNvSpPr/>
          <p:nvPr/>
        </p:nvSpPr>
        <p:spPr>
          <a:xfrm>
            <a:off x="808775" y="2137591"/>
            <a:ext cx="7398179" cy="1338828"/>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卷积层和池化层构成特征提取器，全连接层则为分类器；</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将特征提取得到的高维特征图映射成一维特征向量，该特征向量包含</a:t>
            </a:r>
            <a:endParaRPr lang="en-US" altLang="zh-CN"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dirty="0">
                <a:latin typeface="Microsoft YaHei UI Light" panose="020B0502040204020203" pitchFamily="34" charset="-122"/>
                <a:ea typeface="微软雅黑 Light" panose="020B0502040204020203" pitchFamily="34" charset="-122"/>
                <a:cs typeface="+mn-ea"/>
                <a:sym typeface="+mn-lt"/>
              </a:rPr>
              <a:t>  </a:t>
            </a:r>
            <a:r>
              <a:rPr lang="zh-CN" altLang="en-US" dirty="0">
                <a:latin typeface="Microsoft YaHei UI Light" panose="020B0502040204020203" pitchFamily="34" charset="-122"/>
                <a:ea typeface="微软雅黑 Light" panose="020B0502040204020203" pitchFamily="34" charset="-122"/>
                <a:cs typeface="+mn-ea"/>
                <a:sym typeface="+mn-lt"/>
              </a:rPr>
              <a:t>所有特征信息，可转化为各个类别的概率。</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19" name="内容占位符 2"/>
          <p:cNvSpPr txBox="1"/>
          <p:nvPr/>
        </p:nvSpPr>
        <p:spPr>
          <a:xfrm>
            <a:off x="507842" y="3530209"/>
            <a:ext cx="65473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err="1">
                <a:latin typeface="Microsoft YaHei UI Light" panose="020B0502040204020203" pitchFamily="34" charset="-122"/>
                <a:ea typeface="微软雅黑 Light" panose="020B0502040204020203" pitchFamily="34" charset="-122"/>
                <a:cs typeface="+mn-ea"/>
                <a:sym typeface="+mn-lt"/>
              </a:rPr>
              <a:t>Softmax</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20" name="矩形 19"/>
              <p:cNvSpPr/>
              <p:nvPr/>
            </p:nvSpPr>
            <p:spPr>
              <a:xfrm>
                <a:off x="808775" y="4203157"/>
                <a:ext cx="6936514" cy="1817421"/>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通常作为网络的最后一层，对输出进行归一化，输出分类概率；</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凸显其中最大的值并抑制远低于最大值的其他分量；</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dirty="0" err="1">
                    <a:latin typeface="Microsoft YaHei UI Light" panose="020B0502040204020203" pitchFamily="34" charset="-122"/>
                    <a:ea typeface="微软雅黑 Light" panose="020B0502040204020203" pitchFamily="34" charset="-122"/>
                    <a:cs typeface="+mn-ea"/>
                    <a:sym typeface="+mn-lt"/>
                  </a:rPr>
                  <a:t>Softmax</a:t>
                </a:r>
                <a:r>
                  <a:rPr lang="zh-CN" altLang="en-US" dirty="0">
                    <a:latin typeface="Microsoft YaHei UI Light" panose="020B0502040204020203" pitchFamily="34" charset="-122"/>
                    <a:ea typeface="微软雅黑 Light" panose="020B0502040204020203" pitchFamily="34" charset="-122"/>
                    <a:cs typeface="+mn-ea"/>
                    <a:sym typeface="+mn-lt"/>
                  </a:rPr>
                  <a:t>层输入、输出数据规模相同；</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公式</a:t>
                </a:r>
                <a14:m>
                  <m:oMath xmlns:m="http://schemas.openxmlformats.org/officeDocument/2006/math">
                    <m:r>
                      <a:rPr lang="zh-CN" altLang="en-US" b="0" i="1" smtClean="0">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d>
                      <m:dPr>
                        <m:ctrlPr>
                          <a:rPr lang="en-US" altLang="zh-CN" b="0" i="1" smtClean="0">
                            <a:latin typeface="Cambria Math" panose="02040503050406030204" pitchFamily="18" charset="0"/>
                            <a:cs typeface="+mn-ea"/>
                            <a:sym typeface="+mn-lt"/>
                          </a:rPr>
                        </m:ctrlPr>
                      </m:dPr>
                      <m:e>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𝑧</m:t>
                            </m:r>
                          </m:e>
                          <m:sub>
                            <m:r>
                              <a:rPr lang="en-US" altLang="zh-CN" b="0" i="1" smtClean="0">
                                <a:latin typeface="Cambria Math" panose="02040503050406030204" pitchFamily="18" charset="0"/>
                                <a:cs typeface="+mn-ea"/>
                                <a:sym typeface="+mn-lt"/>
                              </a:rPr>
                              <m:t>𝑗</m:t>
                            </m:r>
                          </m:sub>
                        </m:sSub>
                      </m:e>
                    </m:d>
                    <m:r>
                      <a:rPr lang="en-US" altLang="zh-CN" b="0" i="1" smtClean="0">
                        <a:latin typeface="Cambria Math" panose="02040503050406030204" pitchFamily="18" charset="0"/>
                        <a:cs typeface="+mn-ea"/>
                        <a:sym typeface="+mn-lt"/>
                      </a:rPr>
                      <m:t>=</m:t>
                    </m:r>
                    <m:sSup>
                      <m:sSupPr>
                        <m:ctrlPr>
                          <a:rPr lang="en-US" altLang="zh-CN" i="1">
                            <a:latin typeface="Cambria Math" panose="02040503050406030204" pitchFamily="18" charset="0"/>
                            <a:cs typeface="+mn-ea"/>
                            <a:sym typeface="+mn-lt"/>
                          </a:rPr>
                        </m:ctrlPr>
                      </m:sSupPr>
                      <m:e>
                        <m:r>
                          <a:rPr lang="en-US" altLang="zh-CN" i="1">
                            <a:latin typeface="Cambria Math" panose="02040503050406030204" pitchFamily="18" charset="0"/>
                            <a:cs typeface="+mn-ea"/>
                            <a:sym typeface="+mn-lt"/>
                          </a:rPr>
                          <m:t>𝑒</m:t>
                        </m:r>
                      </m:e>
                      <m:sup>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𝑧</m:t>
                            </m:r>
                          </m:e>
                          <m:sub>
                            <m:r>
                              <a:rPr lang="en-US" altLang="zh-CN" i="1">
                                <a:latin typeface="Cambria Math" panose="02040503050406030204" pitchFamily="18" charset="0"/>
                                <a:cs typeface="+mn-ea"/>
                                <a:sym typeface="+mn-lt"/>
                              </a:rPr>
                              <m:t>𝑗</m:t>
                            </m:r>
                          </m:sub>
                        </m:sSub>
                      </m:sup>
                    </m:sSup>
                    <m:r>
                      <a:rPr lang="en-US" altLang="zh-CN" i="1">
                        <a:latin typeface="Cambria Math" panose="02040503050406030204" pitchFamily="18" charset="0"/>
                        <a:cs typeface="+mn-ea"/>
                        <a:sym typeface="+mn-lt"/>
                      </a:rPr>
                      <m:t>/</m:t>
                    </m:r>
                    <m:nary>
                      <m:naryPr>
                        <m:chr m:val="∑"/>
                        <m:limLoc m:val="subSup"/>
                        <m:ctrlPr>
                          <a:rPr lang="en-US" altLang="zh-CN" i="1">
                            <a:latin typeface="Cambria Math" panose="02040503050406030204" pitchFamily="18" charset="0"/>
                            <a:cs typeface="+mn-ea"/>
                            <a:sym typeface="+mn-lt"/>
                          </a:rPr>
                        </m:ctrlPr>
                      </m:naryPr>
                      <m:sub>
                        <m:r>
                          <m:rPr>
                            <m:brk m:alnAt="25"/>
                          </m:rPr>
                          <a:rPr lang="en-US" altLang="zh-CN" i="1">
                            <a:latin typeface="Cambria Math" panose="02040503050406030204" pitchFamily="18" charset="0"/>
                            <a:cs typeface="+mn-ea"/>
                            <a:sym typeface="+mn-lt"/>
                          </a:rPr>
                          <m:t>𝑖</m:t>
                        </m:r>
                        <m:r>
                          <a:rPr lang="en-US" altLang="zh-CN" i="1">
                            <a:latin typeface="Cambria Math" panose="02040503050406030204" pitchFamily="18" charset="0"/>
                            <a:cs typeface="+mn-ea"/>
                            <a:sym typeface="+mn-lt"/>
                          </a:rPr>
                          <m:t>=0</m:t>
                        </m:r>
                      </m:sub>
                      <m:sup>
                        <m:r>
                          <a:rPr lang="en-US" altLang="zh-CN" i="1">
                            <a:latin typeface="Cambria Math" panose="02040503050406030204" pitchFamily="18" charset="0"/>
                            <a:cs typeface="+mn-ea"/>
                            <a:sym typeface="+mn-lt"/>
                          </a:rPr>
                          <m:t>𝑛</m:t>
                        </m:r>
                      </m:sup>
                      <m:e>
                        <m:sSup>
                          <m:sSupPr>
                            <m:ctrlPr>
                              <a:rPr lang="en-US" altLang="zh-CN" i="1">
                                <a:latin typeface="Cambria Math" panose="02040503050406030204" pitchFamily="18" charset="0"/>
                                <a:cs typeface="+mn-ea"/>
                                <a:sym typeface="+mn-lt"/>
                              </a:rPr>
                            </m:ctrlPr>
                          </m:sSupPr>
                          <m:e>
                            <m:r>
                              <a:rPr lang="en-US" altLang="zh-CN" i="1">
                                <a:latin typeface="Cambria Math" panose="02040503050406030204" pitchFamily="18" charset="0"/>
                                <a:cs typeface="+mn-ea"/>
                                <a:sym typeface="+mn-lt"/>
                              </a:rPr>
                              <m:t>𝑒</m:t>
                            </m:r>
                          </m:e>
                          <m:sup>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𝑧</m:t>
                                </m:r>
                              </m:e>
                              <m:sub>
                                <m:r>
                                  <a:rPr lang="en-US" altLang="zh-CN" i="1">
                                    <a:latin typeface="Cambria Math" panose="02040503050406030204" pitchFamily="18" charset="0"/>
                                    <a:cs typeface="+mn-ea"/>
                                    <a:sym typeface="+mn-lt"/>
                                  </a:rPr>
                                  <m:t>𝑖</m:t>
                                </m:r>
                              </m:sub>
                            </m:sSub>
                          </m:sup>
                        </m:sSup>
                      </m:e>
                    </m:nary>
                  </m:oMath>
                </a14:m>
                <a:endParaRPr lang="en-US" altLang="zh-CN"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20" name="矩形 19"/>
              <p:cNvSpPr>
                <a:spLocks noRot="1" noChangeAspect="1" noMove="1" noResize="1" noEditPoints="1" noAdjustHandles="1" noChangeArrowheads="1" noChangeShapeType="1" noTextEdit="1"/>
              </p:cNvSpPr>
              <p:nvPr/>
            </p:nvSpPr>
            <p:spPr>
              <a:xfrm>
                <a:off x="808775" y="4203157"/>
                <a:ext cx="6936514" cy="1817421"/>
              </a:xfrm>
              <a:prstGeom prst="rect">
                <a:avLst/>
              </a:prstGeom>
              <a:blipFill rotWithShape="1">
                <a:blip r:embed="rId5"/>
                <a:stretch>
                  <a:fillRect l="-6" t="-5" r="3" b="8"/>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19272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各层如何排布成一个网络？</a:t>
            </a:r>
            <a:endParaRPr lang="en-US" altLang="zh-CN" sz="2800" b="1" dirty="0"/>
          </a:p>
          <a:p>
            <a:pPr marL="342900" indent="-342900" algn="l">
              <a:lnSpc>
                <a:spcPct val="150000"/>
              </a:lnSpc>
              <a:buFont typeface="Wingdings" panose="05000000000000000000" pitchFamily="2" charset="2"/>
              <a:buChar char="ü"/>
            </a:pPr>
            <a:r>
              <a:rPr lang="en-US" altLang="zh-CN" sz="2800" b="1" dirty="0"/>
              <a:t>VGG16</a:t>
            </a:r>
          </a:p>
        </p:txBody>
      </p:sp>
      <p:pic>
        <p:nvPicPr>
          <p:cNvPr id="9" name="图片 8"/>
          <p:cNvPicPr>
            <a:picLocks noChangeAspect="1"/>
          </p:cNvPicPr>
          <p:nvPr/>
        </p:nvPicPr>
        <p:blipFill>
          <a:blip r:embed="rId5"/>
          <a:stretch>
            <a:fillRect/>
          </a:stretch>
        </p:blipFill>
        <p:spPr>
          <a:xfrm>
            <a:off x="6924598" y="806353"/>
            <a:ext cx="2265166" cy="5645137"/>
          </a:xfrm>
          <a:prstGeom prst="rect">
            <a:avLst/>
          </a:prstGeom>
        </p:spPr>
      </p:pic>
      <p:sp>
        <p:nvSpPr>
          <p:cNvPr id="10" name="矩形 9"/>
          <p:cNvSpPr/>
          <p:nvPr/>
        </p:nvSpPr>
        <p:spPr>
          <a:xfrm>
            <a:off x="5535220" y="1053843"/>
            <a:ext cx="3830956" cy="4410074"/>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5535220" y="1116707"/>
            <a:ext cx="1005403" cy="338554"/>
          </a:xfrm>
          <a:prstGeom prst="rect">
            <a:avLst/>
          </a:prstGeom>
          <a:noFill/>
        </p:spPr>
        <p:txBody>
          <a:bodyPr wrap="none" rtlCol="0">
            <a:spAutoFit/>
          </a:bodyPr>
          <a:lstStyle/>
          <a:p>
            <a:r>
              <a:rPr lang="zh-CN" altLang="en-US" sz="1600" b="1" dirty="0">
                <a:latin typeface="Microsoft YaHei UI Light" panose="020B0502040204020203" pitchFamily="34" charset="-122"/>
                <a:ea typeface="微软雅黑 Light" panose="020B0502040204020203" pitchFamily="34" charset="-122"/>
                <a:cs typeface="+mn-ea"/>
                <a:sym typeface="+mn-lt"/>
              </a:rPr>
              <a:t>特征提取</a:t>
            </a:r>
          </a:p>
        </p:txBody>
      </p:sp>
      <p:sp>
        <p:nvSpPr>
          <p:cNvPr id="12" name="矩形 11"/>
          <p:cNvSpPr/>
          <p:nvPr/>
        </p:nvSpPr>
        <p:spPr>
          <a:xfrm>
            <a:off x="5535220" y="5511542"/>
            <a:ext cx="3830956" cy="939948"/>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5535220" y="5526781"/>
            <a:ext cx="595035" cy="338554"/>
          </a:xfrm>
          <a:prstGeom prst="rect">
            <a:avLst/>
          </a:prstGeom>
          <a:noFill/>
        </p:spPr>
        <p:txBody>
          <a:bodyPr wrap="none" rtlCol="0">
            <a:spAutoFit/>
          </a:bodyPr>
          <a:lstStyle/>
          <a:p>
            <a:r>
              <a:rPr lang="zh-CN" altLang="en-US" sz="1600" b="1" dirty="0">
                <a:latin typeface="Microsoft YaHei UI Light" panose="020B0502040204020203" pitchFamily="34" charset="-122"/>
                <a:ea typeface="微软雅黑 Light" panose="020B0502040204020203" pitchFamily="34" charset="-122"/>
                <a:cs typeface="+mn-ea"/>
                <a:sym typeface="+mn-lt"/>
              </a:rPr>
              <a:t>分类</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卷积神经网络结构</a:t>
            </a:r>
            <a:endParaRPr lang="en-US" altLang="zh-CN" sz="2800" b="1" dirty="0"/>
          </a:p>
        </p:txBody>
      </p:sp>
      <p:grpSp>
        <p:nvGrpSpPr>
          <p:cNvPr id="12" name="组合 11"/>
          <p:cNvGrpSpPr/>
          <p:nvPr/>
        </p:nvGrpSpPr>
        <p:grpSpPr>
          <a:xfrm>
            <a:off x="1238834" y="1922434"/>
            <a:ext cx="8087811" cy="1656080"/>
            <a:chOff x="696394" y="1927964"/>
            <a:chExt cx="8087811" cy="1656080"/>
          </a:xfrm>
        </p:grpSpPr>
        <p:sp>
          <p:nvSpPr>
            <p:cNvPr id="13" name="椭圆 12"/>
            <p:cNvSpPr/>
            <p:nvPr/>
          </p:nvSpPr>
          <p:spPr>
            <a:xfrm>
              <a:off x="2168476" y="2260600"/>
              <a:ext cx="950909" cy="99080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tx1"/>
                  </a:solidFill>
                  <a:latin typeface="Microsoft YaHei UI Light" panose="020B0502040204020203" pitchFamily="34" charset="-122"/>
                  <a:ea typeface="微软雅黑 Light" panose="020B0502040204020203" pitchFamily="34" charset="-122"/>
                  <a:cs typeface="+mn-ea"/>
                  <a:sym typeface="+mn-lt"/>
                </a:rPr>
                <a:t>Conv</a:t>
              </a:r>
              <a:endPar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endParaRPr>
            </a:p>
            <a:p>
              <a:pPr algn="ct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a:t>
              </a:r>
            </a:p>
            <a:p>
              <a:pPr algn="ctr"/>
              <a:r>
                <a:rPr lang="en-US" altLang="zh-CN" sz="1400" dirty="0" err="1">
                  <a:solidFill>
                    <a:schemeClr val="tx1"/>
                  </a:solidFill>
                  <a:latin typeface="Microsoft YaHei UI Light" panose="020B0502040204020203" pitchFamily="34" charset="-122"/>
                  <a:ea typeface="微软雅黑 Light" panose="020B0502040204020203" pitchFamily="34" charset="-122"/>
                  <a:cs typeface="+mn-ea"/>
                  <a:sym typeface="+mn-lt"/>
                </a:rPr>
                <a:t>relu</a:t>
              </a:r>
              <a:endPar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14" name="椭圆 13"/>
            <p:cNvSpPr/>
            <p:nvPr/>
          </p:nvSpPr>
          <p:spPr>
            <a:xfrm>
              <a:off x="3662696" y="2366437"/>
              <a:ext cx="795306" cy="8286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pool</a:t>
              </a:r>
              <a:endPar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pic>
          <p:nvPicPr>
            <p:cNvPr id="21" name="Picture 6" descr="https://ss1.bdstatic.com/70cFvXSh_Q1YnxGkpoWK1HF6hhy/it/u=3632789765,2546969310&amp;fm=200&amp;gp=0.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2889" t="3607" r="18561" b="11036"/>
            <a:stretch>
              <a:fillRect/>
            </a:stretch>
          </p:blipFill>
          <p:spPr bwMode="auto">
            <a:xfrm>
              <a:off x="696394" y="2341667"/>
              <a:ext cx="945863" cy="970494"/>
            </a:xfrm>
            <a:prstGeom prst="rect">
              <a:avLst/>
            </a:prstGeom>
            <a:noFill/>
            <a:extLst>
              <a:ext uri="{909E8E84-426E-40DD-AFC4-6F175D3DCCD1}">
                <a14:hiddenFill xmlns:a14="http://schemas.microsoft.com/office/drawing/2010/main">
                  <a:solidFill>
                    <a:srgbClr val="FFFFFF"/>
                  </a:solidFill>
                </a14:hiddenFill>
              </a:ext>
            </a:extLst>
          </p:spPr>
        </p:pic>
        <p:sp>
          <p:nvSpPr>
            <p:cNvPr id="22" name="矩形 21"/>
            <p:cNvSpPr/>
            <p:nvPr/>
          </p:nvSpPr>
          <p:spPr>
            <a:xfrm>
              <a:off x="5065276" y="2316897"/>
              <a:ext cx="858418" cy="8782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FC</a:t>
              </a:r>
            </a:p>
            <a:p>
              <a:pPr algn="ct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a:t>
              </a:r>
            </a:p>
            <a:p>
              <a:pPr algn="ctr"/>
              <a:r>
                <a:rPr lang="en-US" altLang="zh-CN" sz="1400" dirty="0" err="1">
                  <a:solidFill>
                    <a:schemeClr val="tx1"/>
                  </a:solidFill>
                  <a:latin typeface="Microsoft YaHei UI Light" panose="020B0502040204020203" pitchFamily="34" charset="-122"/>
                  <a:ea typeface="微软雅黑 Light" panose="020B0502040204020203" pitchFamily="34" charset="-122"/>
                  <a:cs typeface="+mn-ea"/>
                  <a:sym typeface="+mn-lt"/>
                </a:rPr>
                <a:t>relu</a:t>
              </a:r>
              <a:endPar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23" name="矩形 22"/>
            <p:cNvSpPr/>
            <p:nvPr/>
          </p:nvSpPr>
          <p:spPr>
            <a:xfrm>
              <a:off x="6342474" y="2517310"/>
              <a:ext cx="1181715" cy="477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FC/</a:t>
              </a:r>
              <a:r>
                <a:rPr lang="en-US" altLang="zh-CN" sz="1400" dirty="0" err="1">
                  <a:solidFill>
                    <a:schemeClr val="tx1"/>
                  </a:solidFill>
                  <a:latin typeface="Microsoft YaHei UI Light" panose="020B0502040204020203" pitchFamily="34" charset="-122"/>
                  <a:ea typeface="微软雅黑 Light" panose="020B0502040204020203" pitchFamily="34" charset="-122"/>
                  <a:cs typeface="+mn-ea"/>
                  <a:sym typeface="+mn-lt"/>
                </a:rPr>
                <a:t>softmax</a:t>
              </a:r>
              <a:endPar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24" name="右箭头 23"/>
            <p:cNvSpPr/>
            <p:nvPr/>
          </p:nvSpPr>
          <p:spPr>
            <a:xfrm>
              <a:off x="3348825" y="2756005"/>
              <a:ext cx="190182" cy="405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5" name="右箭头 24"/>
            <p:cNvSpPr/>
            <p:nvPr/>
          </p:nvSpPr>
          <p:spPr>
            <a:xfrm>
              <a:off x="1788112" y="2756005"/>
              <a:ext cx="190182" cy="405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6" name="右箭头 25"/>
            <p:cNvSpPr/>
            <p:nvPr/>
          </p:nvSpPr>
          <p:spPr>
            <a:xfrm>
              <a:off x="4741587" y="2756005"/>
              <a:ext cx="190182" cy="405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7" name="右箭头 26"/>
            <p:cNvSpPr/>
            <p:nvPr/>
          </p:nvSpPr>
          <p:spPr>
            <a:xfrm>
              <a:off x="6057201" y="2756005"/>
              <a:ext cx="190182" cy="405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8" name="右箭头 27"/>
            <p:cNvSpPr/>
            <p:nvPr/>
          </p:nvSpPr>
          <p:spPr>
            <a:xfrm>
              <a:off x="7647878" y="2756005"/>
              <a:ext cx="190182" cy="405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30" name="矩形 29"/>
            <p:cNvSpPr/>
            <p:nvPr/>
          </p:nvSpPr>
          <p:spPr>
            <a:xfrm>
              <a:off x="2078207" y="2168719"/>
              <a:ext cx="2478447" cy="117457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31" name="文本框 30"/>
            <p:cNvSpPr txBox="1"/>
            <p:nvPr/>
          </p:nvSpPr>
          <p:spPr>
            <a:xfrm>
              <a:off x="2945154" y="2172278"/>
              <a:ext cx="304569" cy="338554"/>
            </a:xfrm>
            <a:prstGeom prst="rect">
              <a:avLst/>
            </a:prstGeom>
            <a:noFill/>
          </p:spPr>
          <p:txBody>
            <a:bodyPr wrap="square" rtlCol="0">
              <a:spAutoFit/>
            </a:bodyPr>
            <a:lstStyle/>
            <a:p>
              <a:r>
                <a:rPr lang="en-US" altLang="zh-CN" sz="1600" b="1" dirty="0">
                  <a:solidFill>
                    <a:srgbClr val="C00000"/>
                  </a:solidFill>
                  <a:latin typeface="Microsoft YaHei UI Light" panose="020B0502040204020203" pitchFamily="34" charset="-122"/>
                  <a:ea typeface="微软雅黑 Light" panose="020B0502040204020203" pitchFamily="34" charset="-122"/>
                  <a:cs typeface="+mn-ea"/>
                  <a:sym typeface="+mn-lt"/>
                </a:rPr>
                <a:t>N</a:t>
              </a:r>
              <a:endParaRPr lang="zh-CN" altLang="en-US" sz="16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p:sp>
          <p:nvSpPr>
            <p:cNvPr id="32" name="文本框 31"/>
            <p:cNvSpPr txBox="1"/>
            <p:nvPr/>
          </p:nvSpPr>
          <p:spPr>
            <a:xfrm>
              <a:off x="4537540" y="2157001"/>
              <a:ext cx="369012" cy="338554"/>
            </a:xfrm>
            <a:prstGeom prst="rect">
              <a:avLst/>
            </a:prstGeom>
            <a:noFill/>
          </p:spPr>
          <p:txBody>
            <a:bodyPr wrap="none" rtlCol="0">
              <a:spAutoFit/>
            </a:bodyPr>
            <a:lstStyle/>
            <a:p>
              <a:r>
                <a:rPr lang="en-US" altLang="zh-CN" sz="1600" b="1" dirty="0">
                  <a:solidFill>
                    <a:srgbClr val="C00000"/>
                  </a:solidFill>
                  <a:latin typeface="Microsoft YaHei UI Light" panose="020B0502040204020203" pitchFamily="34" charset="-122"/>
                  <a:ea typeface="微软雅黑 Light" panose="020B0502040204020203" pitchFamily="34" charset="-122"/>
                  <a:cs typeface="+mn-ea"/>
                  <a:sym typeface="+mn-lt"/>
                </a:rPr>
                <a:t>M</a:t>
              </a:r>
              <a:endParaRPr lang="zh-CN" altLang="en-US" sz="16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5876815" y="2163639"/>
              <a:ext cx="283939" cy="338554"/>
            </a:xfrm>
            <a:prstGeom prst="rect">
              <a:avLst/>
            </a:prstGeom>
            <a:noFill/>
          </p:spPr>
          <p:txBody>
            <a:bodyPr wrap="square" rtlCol="0">
              <a:spAutoFit/>
            </a:bodyPr>
            <a:lstStyle/>
            <a:p>
              <a:r>
                <a:rPr lang="en-US" altLang="zh-CN" sz="1600" b="1" dirty="0">
                  <a:solidFill>
                    <a:srgbClr val="C00000"/>
                  </a:solidFill>
                  <a:latin typeface="Microsoft YaHei UI Light" panose="020B0502040204020203" pitchFamily="34" charset="-122"/>
                  <a:ea typeface="微软雅黑 Light" panose="020B0502040204020203" pitchFamily="34" charset="-122"/>
                  <a:cs typeface="+mn-ea"/>
                  <a:sym typeface="+mn-lt"/>
                </a:rPr>
                <a:t>K</a:t>
              </a:r>
              <a:endParaRPr lang="zh-CN" altLang="en-US" sz="16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p:sp>
          <p:nvSpPr>
            <p:cNvPr id="35" name="矩形 34"/>
            <p:cNvSpPr/>
            <p:nvPr/>
          </p:nvSpPr>
          <p:spPr>
            <a:xfrm>
              <a:off x="7969444" y="1927964"/>
              <a:ext cx="284480" cy="1656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icrosoft YaHei UI Light" panose="020B0502040204020203" pitchFamily="34" charset="-122"/>
                <a:ea typeface="微软雅黑 Light" panose="020B0502040204020203" pitchFamily="34" charset="-122"/>
                <a:cs typeface="+mn-ea"/>
                <a:sym typeface="+mn-lt"/>
              </a:endParaRPr>
            </a:p>
          </p:txBody>
        </p:sp>
        <p:sp>
          <p:nvSpPr>
            <p:cNvPr id="36" name="椭圆 35"/>
            <p:cNvSpPr/>
            <p:nvPr/>
          </p:nvSpPr>
          <p:spPr>
            <a:xfrm>
              <a:off x="8011290" y="2019338"/>
              <a:ext cx="184666" cy="18466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37" name="椭圆 36"/>
            <p:cNvSpPr/>
            <p:nvPr/>
          </p:nvSpPr>
          <p:spPr>
            <a:xfrm>
              <a:off x="8011290" y="2271684"/>
              <a:ext cx="184666" cy="184666"/>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38" name="椭圆 37"/>
            <p:cNvSpPr/>
            <p:nvPr/>
          </p:nvSpPr>
          <p:spPr>
            <a:xfrm>
              <a:off x="8011290" y="3061248"/>
              <a:ext cx="184666" cy="18466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39" name="椭圆 38"/>
            <p:cNvSpPr/>
            <p:nvPr/>
          </p:nvSpPr>
          <p:spPr>
            <a:xfrm>
              <a:off x="8011290" y="3320520"/>
              <a:ext cx="184666" cy="18466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40" name="椭圆 39"/>
            <p:cNvSpPr/>
            <p:nvPr/>
          </p:nvSpPr>
          <p:spPr>
            <a:xfrm>
              <a:off x="8011290" y="2550965"/>
              <a:ext cx="184666" cy="18466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41" name="文本框 40"/>
            <p:cNvSpPr txBox="1"/>
            <p:nvPr/>
          </p:nvSpPr>
          <p:spPr>
            <a:xfrm rot="5400000">
              <a:off x="8003559" y="2729163"/>
              <a:ext cx="332142" cy="338554"/>
            </a:xfrm>
            <a:prstGeom prst="rect">
              <a:avLst/>
            </a:prstGeom>
            <a:noFill/>
          </p:spPr>
          <p:txBody>
            <a:bodyPr wrap="none" rtlCol="0">
              <a:spAutoFit/>
            </a:bodyPr>
            <a:lstStyle/>
            <a:p>
              <a:r>
                <a:rPr lang="en-US" altLang="zh-CN" sz="1600" dirty="0">
                  <a:latin typeface="Microsoft YaHei UI Light" panose="020B0502040204020203" pitchFamily="34" charset="-122"/>
                  <a:ea typeface="微软雅黑 Light" panose="020B0502040204020203" pitchFamily="34" charset="-122"/>
                  <a:cs typeface="+mn-ea"/>
                  <a:sym typeface="+mn-lt"/>
                </a:rPr>
                <a:t>…</a:t>
              </a:r>
              <a:endParaRPr lang="zh-CN" altLang="en-US" sz="1600" dirty="0">
                <a:latin typeface="Microsoft YaHei UI Light" panose="020B0502040204020203" pitchFamily="34" charset="-122"/>
                <a:ea typeface="微软雅黑 Light" panose="020B0502040204020203" pitchFamily="34" charset="-122"/>
                <a:cs typeface="+mn-ea"/>
                <a:sym typeface="+mn-lt"/>
              </a:endParaRPr>
            </a:p>
          </p:txBody>
        </p:sp>
        <p:sp>
          <p:nvSpPr>
            <p:cNvPr id="42" name="文本框 41"/>
            <p:cNvSpPr txBox="1"/>
            <p:nvPr/>
          </p:nvSpPr>
          <p:spPr>
            <a:xfrm>
              <a:off x="8227642" y="2168719"/>
              <a:ext cx="556563" cy="338554"/>
            </a:xfrm>
            <a:prstGeom prst="rect">
              <a:avLst/>
            </a:prstGeom>
            <a:noFill/>
          </p:spPr>
          <p:txBody>
            <a:bodyPr wrap="none" rtlCol="0">
              <a:spAutoFit/>
            </a:bodyPr>
            <a:lstStyle/>
            <a:p>
              <a:r>
                <a:rPr lang="en-US" altLang="zh-CN" sz="1600" dirty="0">
                  <a:latin typeface="Microsoft YaHei UI Light" panose="020B0502040204020203" pitchFamily="34" charset="-122"/>
                  <a:ea typeface="微软雅黑 Light" panose="020B0502040204020203" pitchFamily="34" charset="-122"/>
                  <a:cs typeface="+mn-ea"/>
                  <a:sym typeface="+mn-lt"/>
                </a:rPr>
                <a:t>dog</a:t>
              </a:r>
              <a:endParaRPr lang="zh-CN" altLang="en-US" sz="1600" dirty="0">
                <a:latin typeface="Microsoft YaHei UI Light" panose="020B0502040204020203" pitchFamily="34" charset="-122"/>
                <a:ea typeface="微软雅黑 Light" panose="020B0502040204020203" pitchFamily="34" charset="-122"/>
                <a:cs typeface="+mn-ea"/>
                <a:sym typeface="+mn-lt"/>
              </a:endParaRPr>
            </a:p>
          </p:txBody>
        </p:sp>
      </p:grpSp>
      <p:sp>
        <p:nvSpPr>
          <p:cNvPr id="43" name="矩形 42"/>
          <p:cNvSpPr/>
          <p:nvPr/>
        </p:nvSpPr>
        <p:spPr>
          <a:xfrm>
            <a:off x="1213578" y="3723040"/>
            <a:ext cx="6936514" cy="1338828"/>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常见卷积神经网络由卷积层（激活）、池化层和全连接层构成；</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各层的常见排列方式如图所示，其中</a:t>
            </a:r>
            <a:r>
              <a:rPr lang="en-US" altLang="zh-CN" dirty="0">
                <a:latin typeface="Microsoft YaHei UI Light" panose="020B0502040204020203" pitchFamily="34" charset="-122"/>
                <a:ea typeface="微软雅黑 Light" panose="020B0502040204020203" pitchFamily="34" charset="-122"/>
                <a:cs typeface="+mn-ea"/>
                <a:sym typeface="+mn-lt"/>
              </a:rPr>
              <a:t>N</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M</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K</a:t>
            </a:r>
            <a:r>
              <a:rPr lang="zh-CN" altLang="en-US" dirty="0">
                <a:latin typeface="Microsoft YaHei UI Light" panose="020B0502040204020203" pitchFamily="34" charset="-122"/>
                <a:ea typeface="微软雅黑 Light" panose="020B0502040204020203" pitchFamily="34" charset="-122"/>
                <a:cs typeface="+mn-ea"/>
                <a:sym typeface="+mn-lt"/>
              </a:rPr>
              <a:t>为重复次数；</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例如：</a:t>
            </a:r>
            <a:r>
              <a:rPr lang="en-US" altLang="zh-CN" dirty="0">
                <a:latin typeface="Microsoft YaHei UI Light" panose="020B0502040204020203" pitchFamily="34" charset="-122"/>
                <a:ea typeface="微软雅黑 Light" panose="020B0502040204020203" pitchFamily="34" charset="-122"/>
                <a:cs typeface="+mn-ea"/>
                <a:sym typeface="+mn-lt"/>
              </a:rPr>
              <a:t>N=3</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M=1</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K=2</a:t>
            </a:r>
            <a:r>
              <a:rPr lang="zh-CN" altLang="en-US" dirty="0">
                <a:latin typeface="Microsoft YaHei UI Light" panose="020B0502040204020203" pitchFamily="34" charset="-122"/>
                <a:ea typeface="微软雅黑 Light" panose="020B0502040204020203" pitchFamily="34" charset="-122"/>
                <a:cs typeface="+mn-ea"/>
                <a:sym typeface="+mn-lt"/>
              </a:rPr>
              <a:t> 情况下的网络结构为：</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44" name="文本框 43"/>
              <p:cNvSpPr txBox="1"/>
              <p:nvPr/>
            </p:nvSpPr>
            <p:spPr>
              <a:xfrm>
                <a:off x="1007693" y="5200067"/>
                <a:ext cx="8357031" cy="246221"/>
              </a:xfrm>
              <a:prstGeom prst="rect">
                <a:avLst/>
              </a:prstGeom>
              <a:noFill/>
              <a:ln w="19050">
                <a:noFill/>
              </a:ln>
            </p:spPr>
            <p:txBody>
              <a:bodyPr wrap="none" lIns="0" tIns="0" rIns="0" bIns="0" rtlCol="0">
                <a:spAutoFit/>
              </a:bodyPr>
              <a:lstStyle/>
              <a:p>
                <a:pPr algn="ctr">
                  <a:spcBef>
                    <a:spcPts val="600"/>
                  </a:spcBef>
                  <a:spcAft>
                    <a:spcPts val="600"/>
                  </a:spcAft>
                </a:pPr>
                <a14:m>
                  <m:oMath xmlns:m="http://schemas.openxmlformats.org/officeDocument/2006/math">
                    <m:r>
                      <a:rPr lang="en-US" altLang="zh-CN" sz="1600" b="0" i="0" smtClean="0">
                        <a:latin typeface="Cambria Math" panose="02040503050406030204" pitchFamily="18" charset="0"/>
                        <a:cs typeface="+mn-ea"/>
                        <a:sym typeface="+mn-lt"/>
                      </a:rPr>
                      <m:t>  </m:t>
                    </m:r>
                    <m:r>
                      <m:rPr>
                        <m:sty m:val="p"/>
                      </m:rPr>
                      <a:rPr lang="en-US" altLang="zh-CN" sz="1600" b="0" i="0" smtClean="0">
                        <a:latin typeface="Cambria Math" panose="02040503050406030204" pitchFamily="18" charset="0"/>
                        <a:cs typeface="+mn-ea"/>
                        <a:sym typeface="+mn-lt"/>
                      </a:rPr>
                      <m:t>input</m:t>
                    </m:r>
                    <m:r>
                      <a:rPr lang="en-US" altLang="zh-CN" sz="1600" b="0" i="0" smtClean="0">
                        <a:latin typeface="Cambria Math" panose="02040503050406030204" pitchFamily="18" charset="0"/>
                        <a:cs typeface="+mn-ea"/>
                        <a:sym typeface="+mn-lt"/>
                      </a:rPr>
                      <m:t>→</m:t>
                    </m:r>
                    <m:r>
                      <m:rPr>
                        <m:sty m:val="p"/>
                      </m:rPr>
                      <a:rPr lang="en-US" altLang="zh-CN" sz="1600" b="0" i="0" smtClean="0">
                        <a:latin typeface="Cambria Math" panose="02040503050406030204" pitchFamily="18" charset="0"/>
                        <a:cs typeface="+mn-ea"/>
                        <a:sym typeface="+mn-lt"/>
                      </a:rPr>
                      <m:t>conv</m:t>
                    </m:r>
                    <m:d>
                      <m:dPr>
                        <m:ctrlPr>
                          <a:rPr lang="en-US" altLang="zh-CN" sz="1600" b="0" i="1" smtClean="0">
                            <a:latin typeface="Cambria Math" panose="02040503050406030204" pitchFamily="18" charset="0"/>
                            <a:cs typeface="+mn-ea"/>
                            <a:sym typeface="+mn-lt"/>
                          </a:rPr>
                        </m:ctrlPr>
                      </m:dPr>
                      <m:e>
                        <m:r>
                          <m:rPr>
                            <m:sty m:val="p"/>
                          </m:rPr>
                          <a:rPr lang="en-US" altLang="zh-CN" sz="1600" b="0" i="0" smtClean="0">
                            <a:latin typeface="Cambria Math" panose="02040503050406030204" pitchFamily="18" charset="0"/>
                            <a:cs typeface="+mn-ea"/>
                            <a:sym typeface="+mn-lt"/>
                          </a:rPr>
                          <m:t>relu</m:t>
                        </m:r>
                      </m:e>
                    </m:d>
                    <m:r>
                      <a:rPr lang="en-US" altLang="zh-CN" sz="1600" b="0" i="0" smtClean="0">
                        <a:latin typeface="Cambria Math" panose="02040503050406030204" pitchFamily="18" charset="0"/>
                        <a:cs typeface="+mn-ea"/>
                        <a:sym typeface="+mn-lt"/>
                      </a:rPr>
                      <m:t>→</m:t>
                    </m:r>
                    <m:r>
                      <m:rPr>
                        <m:sty m:val="p"/>
                      </m:rPr>
                      <a:rPr lang="en-US" altLang="zh-CN" sz="1600" i="0">
                        <a:latin typeface="Cambria Math" panose="02040503050406030204" pitchFamily="18" charset="0"/>
                        <a:cs typeface="+mn-ea"/>
                        <a:sym typeface="+mn-lt"/>
                      </a:rPr>
                      <m:t>conv</m:t>
                    </m:r>
                    <m:d>
                      <m:dPr>
                        <m:ctrlPr>
                          <a:rPr lang="en-US" altLang="zh-CN" sz="1600" i="1">
                            <a:latin typeface="Cambria Math" panose="02040503050406030204" pitchFamily="18" charset="0"/>
                            <a:cs typeface="+mn-ea"/>
                            <a:sym typeface="+mn-lt"/>
                          </a:rPr>
                        </m:ctrlPr>
                      </m:dPr>
                      <m:e>
                        <m:r>
                          <m:rPr>
                            <m:sty m:val="p"/>
                          </m:rPr>
                          <a:rPr lang="en-US" altLang="zh-CN" sz="1600" i="0">
                            <a:latin typeface="Cambria Math" panose="02040503050406030204" pitchFamily="18" charset="0"/>
                            <a:cs typeface="+mn-ea"/>
                            <a:sym typeface="+mn-lt"/>
                          </a:rPr>
                          <m:t>relu</m:t>
                        </m:r>
                      </m:e>
                    </m:d>
                    <m:r>
                      <a:rPr lang="en-US" altLang="zh-CN" sz="1600" b="0" i="0" smtClean="0">
                        <a:latin typeface="Cambria Math" panose="02040503050406030204" pitchFamily="18" charset="0"/>
                        <a:cs typeface="+mn-ea"/>
                        <a:sym typeface="+mn-lt"/>
                      </a:rPr>
                      <m:t>→</m:t>
                    </m:r>
                    <m:r>
                      <m:rPr>
                        <m:sty m:val="p"/>
                      </m:rPr>
                      <a:rPr lang="en-US" altLang="zh-CN" sz="1600" i="0">
                        <a:latin typeface="Cambria Math" panose="02040503050406030204" pitchFamily="18" charset="0"/>
                        <a:cs typeface="+mn-ea"/>
                        <a:sym typeface="+mn-lt"/>
                      </a:rPr>
                      <m:t>conv</m:t>
                    </m:r>
                    <m:d>
                      <m:dPr>
                        <m:ctrlPr>
                          <a:rPr lang="en-US" altLang="zh-CN" sz="1600" i="1">
                            <a:latin typeface="Cambria Math" panose="02040503050406030204" pitchFamily="18" charset="0"/>
                            <a:cs typeface="+mn-ea"/>
                            <a:sym typeface="+mn-lt"/>
                          </a:rPr>
                        </m:ctrlPr>
                      </m:dPr>
                      <m:e>
                        <m:r>
                          <m:rPr>
                            <m:sty m:val="p"/>
                          </m:rPr>
                          <a:rPr lang="en-US" altLang="zh-CN" sz="1600" i="0">
                            <a:latin typeface="Cambria Math" panose="02040503050406030204" pitchFamily="18" charset="0"/>
                            <a:cs typeface="+mn-ea"/>
                            <a:sym typeface="+mn-lt"/>
                          </a:rPr>
                          <m:t>relu</m:t>
                        </m:r>
                      </m:e>
                    </m:d>
                    <m:r>
                      <a:rPr lang="en-US" altLang="zh-CN" sz="1600" b="0" i="0" smtClean="0">
                        <a:latin typeface="Cambria Math" panose="02040503050406030204" pitchFamily="18" charset="0"/>
                        <a:cs typeface="+mn-ea"/>
                        <a:sym typeface="+mn-lt"/>
                      </a:rPr>
                      <m:t>→</m:t>
                    </m:r>
                    <m:r>
                      <m:rPr>
                        <m:sty m:val="p"/>
                      </m:rPr>
                      <a:rPr lang="en-US" altLang="zh-CN" sz="1600" b="0" i="0" smtClean="0">
                        <a:latin typeface="Cambria Math" panose="02040503050406030204" pitchFamily="18" charset="0"/>
                        <a:cs typeface="+mn-ea"/>
                        <a:sym typeface="+mn-lt"/>
                      </a:rPr>
                      <m:t>pool</m:t>
                    </m:r>
                    <m:r>
                      <a:rPr lang="en-US" altLang="zh-CN" sz="1600" b="0" i="0" smtClean="0">
                        <a:latin typeface="Cambria Math" panose="02040503050406030204" pitchFamily="18" charset="0"/>
                        <a:cs typeface="+mn-ea"/>
                        <a:sym typeface="+mn-lt"/>
                      </a:rPr>
                      <m:t>→</m:t>
                    </m:r>
                    <m:r>
                      <m:rPr>
                        <m:sty m:val="p"/>
                      </m:rPr>
                      <a:rPr lang="en-US" altLang="zh-CN" sz="1600" b="0" i="0" smtClean="0">
                        <a:latin typeface="Cambria Math" panose="02040503050406030204" pitchFamily="18" charset="0"/>
                        <a:cs typeface="+mn-ea"/>
                        <a:sym typeface="+mn-lt"/>
                      </a:rPr>
                      <m:t>FC</m:t>
                    </m:r>
                    <m:r>
                      <a:rPr lang="en-US" altLang="zh-CN" sz="1600" b="0" i="0" smtClean="0">
                        <a:latin typeface="Cambria Math" panose="02040503050406030204" pitchFamily="18" charset="0"/>
                        <a:cs typeface="+mn-ea"/>
                        <a:sym typeface="+mn-lt"/>
                      </a:rPr>
                      <m:t>(</m:t>
                    </m:r>
                    <m:r>
                      <m:rPr>
                        <m:sty m:val="p"/>
                      </m:rPr>
                      <a:rPr lang="en-US" altLang="zh-CN" sz="1600" b="0" i="0" smtClean="0">
                        <a:latin typeface="Cambria Math" panose="02040503050406030204" pitchFamily="18" charset="0"/>
                        <a:cs typeface="+mn-ea"/>
                        <a:sym typeface="+mn-lt"/>
                      </a:rPr>
                      <m:t>relu</m:t>
                    </m:r>
                    <m:r>
                      <a:rPr lang="en-US" altLang="zh-CN" sz="1600" b="0" i="0" smtClean="0">
                        <a:latin typeface="Cambria Math" panose="02040503050406030204" pitchFamily="18" charset="0"/>
                        <a:cs typeface="+mn-ea"/>
                        <a:sym typeface="+mn-lt"/>
                      </a:rPr>
                      <m:t>)</m:t>
                    </m:r>
                  </m:oMath>
                </a14:m>
                <a:r>
                  <a:rPr lang="en-US" altLang="zh-CN" sz="1600" dirty="0">
                    <a:latin typeface="Microsoft YaHei UI Light" panose="020B0502040204020203" pitchFamily="34" charset="-122"/>
                    <a:ea typeface="微软雅黑 Light" panose="020B0502040204020203" pitchFamily="34" charset="-122"/>
                    <a:cs typeface="+mn-ea"/>
                    <a:sym typeface="+mn-lt"/>
                  </a:rPr>
                  <a:t> </a:t>
                </a:r>
                <a14:m>
                  <m:oMath xmlns:m="http://schemas.openxmlformats.org/officeDocument/2006/math">
                    <m:r>
                      <a:rPr lang="en-US" altLang="zh-CN" sz="1600" i="0">
                        <a:latin typeface="Cambria Math" panose="02040503050406030204" pitchFamily="18" charset="0"/>
                        <a:cs typeface="+mn-ea"/>
                        <a:sym typeface="+mn-lt"/>
                      </a:rPr>
                      <m:t>→</m:t>
                    </m:r>
                    <m:r>
                      <m:rPr>
                        <m:sty m:val="p"/>
                      </m:rPr>
                      <a:rPr lang="en-US" altLang="zh-CN" sz="1600" i="0">
                        <a:latin typeface="Cambria Math" panose="02040503050406030204" pitchFamily="18" charset="0"/>
                        <a:cs typeface="+mn-ea"/>
                        <a:sym typeface="+mn-lt"/>
                      </a:rPr>
                      <m:t>FC</m:t>
                    </m:r>
                    <m:d>
                      <m:dPr>
                        <m:ctrlPr>
                          <a:rPr lang="en-US" altLang="zh-CN" sz="1600" i="1">
                            <a:latin typeface="Cambria Math" panose="02040503050406030204" pitchFamily="18" charset="0"/>
                            <a:cs typeface="+mn-ea"/>
                            <a:sym typeface="+mn-lt"/>
                          </a:rPr>
                        </m:ctrlPr>
                      </m:dPr>
                      <m:e>
                        <m:r>
                          <m:rPr>
                            <m:sty m:val="p"/>
                          </m:rPr>
                          <a:rPr lang="en-US" altLang="zh-CN" sz="1600" i="0">
                            <a:latin typeface="Cambria Math" panose="02040503050406030204" pitchFamily="18" charset="0"/>
                            <a:cs typeface="+mn-ea"/>
                            <a:sym typeface="+mn-lt"/>
                          </a:rPr>
                          <m:t>relu</m:t>
                        </m:r>
                      </m:e>
                    </m:d>
                    <m:r>
                      <a:rPr lang="en-US" altLang="zh-CN" sz="1600" b="0" i="0" smtClean="0">
                        <a:latin typeface="Cambria Math" panose="02040503050406030204" pitchFamily="18" charset="0"/>
                        <a:cs typeface="+mn-ea"/>
                        <a:sym typeface="+mn-lt"/>
                      </a:rPr>
                      <m:t>→</m:t>
                    </m:r>
                    <m:r>
                      <m:rPr>
                        <m:sty m:val="p"/>
                      </m:rPr>
                      <a:rPr lang="en-US" altLang="zh-CN" sz="1600" b="0" i="0" smtClean="0">
                        <a:latin typeface="Cambria Math" panose="02040503050406030204" pitchFamily="18" charset="0"/>
                        <a:cs typeface="+mn-ea"/>
                        <a:sym typeface="+mn-lt"/>
                      </a:rPr>
                      <m:t>FC</m:t>
                    </m:r>
                    <m:r>
                      <a:rPr lang="en-US" altLang="zh-CN" sz="1600" b="0" i="0" smtClean="0">
                        <a:latin typeface="Cambria Math" panose="02040503050406030204" pitchFamily="18" charset="0"/>
                        <a:cs typeface="+mn-ea"/>
                        <a:sym typeface="+mn-lt"/>
                      </a:rPr>
                      <m:t>→</m:t>
                    </m:r>
                    <m:r>
                      <m:rPr>
                        <m:sty m:val="p"/>
                      </m:rPr>
                      <a:rPr lang="en-US" altLang="zh-CN" sz="1600" b="0" i="0" smtClean="0">
                        <a:latin typeface="Cambria Math" panose="02040503050406030204" pitchFamily="18" charset="0"/>
                        <a:cs typeface="+mn-ea"/>
                        <a:sym typeface="+mn-lt"/>
                      </a:rPr>
                      <m:t>output</m:t>
                    </m:r>
                  </m:oMath>
                </a14:m>
                <a:endParaRPr lang="zh-CN" altLang="en-US" sz="16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44" name="文本框 43"/>
              <p:cNvSpPr txBox="1">
                <a:spLocks noRot="1" noChangeAspect="1" noMove="1" noResize="1" noEditPoints="1" noAdjustHandles="1" noChangeArrowheads="1" noChangeShapeType="1" noTextEdit="1"/>
              </p:cNvSpPr>
              <p:nvPr/>
            </p:nvSpPr>
            <p:spPr>
              <a:xfrm>
                <a:off x="1007693" y="5200067"/>
                <a:ext cx="8357031" cy="246221"/>
              </a:xfrm>
              <a:prstGeom prst="rect">
                <a:avLst/>
              </a:prstGeom>
              <a:blipFill rotWithShape="1">
                <a:blip r:embed="rId6"/>
                <a:stretch>
                  <a:fillRect l="-7" t="-6726" r="-497" b="214"/>
                </a:stretch>
              </a:blipFill>
              <a:ln w="19050">
                <a:noFill/>
              </a:ln>
            </p:spPr>
            <p:txBody>
              <a:bodyPr/>
              <a:lstStyle/>
              <a:p>
                <a:r>
                  <a:rPr lang="zh-CN" altLang="en-US">
                    <a:noFill/>
                  </a:rPr>
                  <a:t> </a:t>
                </a:r>
              </a:p>
            </p:txBody>
          </p:sp>
        </mc:Fallback>
      </mc:AlternateContent>
      <p:sp>
        <p:nvSpPr>
          <p:cNvPr id="45" name="矩形 44"/>
          <p:cNvSpPr/>
          <p:nvPr/>
        </p:nvSpPr>
        <p:spPr>
          <a:xfrm>
            <a:off x="1213578" y="5656549"/>
            <a:ext cx="7683158" cy="460062"/>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其中卷积和池化部分可包含分支和连接结构，将在具体网络分析中介绍。</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浅层学习局部特征，深层学习整体特征：神经网络可视化</a:t>
            </a:r>
            <a:endParaRPr lang="en-US" altLang="zh-CN" sz="2800" b="1" dirty="0"/>
          </a:p>
        </p:txBody>
      </p:sp>
      <p:pic>
        <p:nvPicPr>
          <p:cNvPr id="14" name="图片 13"/>
          <p:cNvPicPr>
            <a:picLocks noChangeAspect="1"/>
          </p:cNvPicPr>
          <p:nvPr/>
        </p:nvPicPr>
        <p:blipFill>
          <a:blip r:embed="rId5"/>
          <a:stretch>
            <a:fillRect/>
          </a:stretch>
        </p:blipFill>
        <p:spPr>
          <a:xfrm>
            <a:off x="1954795" y="1630988"/>
            <a:ext cx="7661355" cy="2245110"/>
          </a:xfrm>
          <a:prstGeom prst="rect">
            <a:avLst/>
          </a:prstGeom>
        </p:spPr>
      </p:pic>
      <p:pic>
        <p:nvPicPr>
          <p:cNvPr id="16" name="图片 15"/>
          <p:cNvPicPr>
            <a:picLocks noChangeAspect="1"/>
          </p:cNvPicPr>
          <p:nvPr/>
        </p:nvPicPr>
        <p:blipFill>
          <a:blip r:embed="rId6"/>
          <a:stretch>
            <a:fillRect/>
          </a:stretch>
        </p:blipFill>
        <p:spPr>
          <a:xfrm>
            <a:off x="1947391" y="3881144"/>
            <a:ext cx="7668759" cy="2255203"/>
          </a:xfrm>
          <a:prstGeom prst="rect">
            <a:avLst/>
          </a:prstGeom>
        </p:spPr>
      </p:pic>
      <p:sp>
        <p:nvSpPr>
          <p:cNvPr id="19" name="矩形 18"/>
          <p:cNvSpPr/>
          <p:nvPr/>
        </p:nvSpPr>
        <p:spPr>
          <a:xfrm>
            <a:off x="1255758" y="2369652"/>
            <a:ext cx="792205" cy="369332"/>
          </a:xfrm>
          <a:prstGeom prst="rect">
            <a:avLst/>
          </a:prstGeom>
        </p:spPr>
        <p:txBody>
          <a:bodyPr wrap="none">
            <a:spAutoFit/>
          </a:bodyPr>
          <a:lstStyle/>
          <a:p>
            <a:r>
              <a:rPr lang="en-US" altLang="zh-CN" dirty="0" err="1">
                <a:latin typeface="Microsoft YaHei UI Light" panose="020B0502040204020203" pitchFamily="34" charset="-122"/>
                <a:ea typeface="微软雅黑 Light" panose="020B0502040204020203" pitchFamily="34" charset="-122"/>
                <a:cs typeface="+mn-ea"/>
                <a:sym typeface="+mn-lt"/>
              </a:rPr>
              <a:t>conv6</a:t>
            </a:r>
            <a:endParaRPr lang="zh-CN" altLang="en-US" dirty="0"/>
          </a:p>
        </p:txBody>
      </p:sp>
      <p:sp>
        <p:nvSpPr>
          <p:cNvPr id="20" name="矩形 19"/>
          <p:cNvSpPr/>
          <p:nvPr/>
        </p:nvSpPr>
        <p:spPr>
          <a:xfrm>
            <a:off x="1255757" y="4686896"/>
            <a:ext cx="792205" cy="507831"/>
          </a:xfrm>
          <a:prstGeom prst="rect">
            <a:avLst/>
          </a:prstGeom>
        </p:spPr>
        <p:txBody>
          <a:bodyPr wrap="none">
            <a:spAutoFit/>
          </a:bodyPr>
          <a:lstStyle/>
          <a:p>
            <a:pPr>
              <a:lnSpc>
                <a:spcPct val="150000"/>
              </a:lnSpc>
            </a:pPr>
            <a:r>
              <a:rPr lang="en-US" altLang="zh-CN" dirty="0" err="1">
                <a:latin typeface="Microsoft YaHei UI Light" panose="020B0502040204020203" pitchFamily="34" charset="-122"/>
                <a:ea typeface="微软雅黑 Light" panose="020B0502040204020203" pitchFamily="34" charset="-122"/>
                <a:cs typeface="+mn-ea"/>
                <a:sym typeface="+mn-lt"/>
              </a:rPr>
              <a:t>conv9</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21" name="矩形 20"/>
          <p:cNvSpPr/>
          <p:nvPr/>
        </p:nvSpPr>
        <p:spPr>
          <a:xfrm>
            <a:off x="1769983" y="6228223"/>
            <a:ext cx="8176385" cy="253916"/>
          </a:xfrm>
          <a:prstGeom prst="rect">
            <a:avLst/>
          </a:prstGeom>
        </p:spPr>
        <p:txBody>
          <a:bodyPr wrap="square">
            <a:spAutoFit/>
          </a:bodyPr>
          <a:lstStyle/>
          <a:p>
            <a:r>
              <a:rPr lang="zh-CN" altLang="en-US" sz="1050" dirty="0"/>
              <a:t>Springenberg, J. T.; Dosovitskiy, A.; Brox, T. &amp; Riedmiller, M. Striving for simplicity: the all convolutinal net ICML, 2015, 1-12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卷积神经网络结构</a:t>
            </a:r>
            <a:endParaRPr lang="en-US" altLang="zh-CN" sz="2800" b="1" dirty="0"/>
          </a:p>
        </p:txBody>
      </p:sp>
      <p:sp>
        <p:nvSpPr>
          <p:cNvPr id="46" name="内容占位符 2"/>
          <p:cNvSpPr txBox="1"/>
          <p:nvPr/>
        </p:nvSpPr>
        <p:spPr>
          <a:xfrm>
            <a:off x="678806" y="1500722"/>
            <a:ext cx="8152581"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为何选择 “深” 而非 “广” 的网络结构</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47" name="矩形 46"/>
          <p:cNvSpPr/>
          <p:nvPr/>
        </p:nvSpPr>
        <p:spPr>
          <a:xfrm>
            <a:off x="678806" y="2313552"/>
            <a:ext cx="10569264" cy="923330"/>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latin typeface="Microsoft YaHei UI Light" panose="020B0502040204020203" pitchFamily="34" charset="-122"/>
                <a:ea typeface="微软雅黑 Light" panose="020B0502040204020203" pitchFamily="34" charset="-122"/>
                <a:cs typeface="+mn-ea"/>
                <a:sym typeface="+mn-lt"/>
              </a:rPr>
              <a:t>即使只有一层隐层，只要有足够的神经元，神经网络理论上可以拟合任意连续函数。为什么还要使用深层网络结构？</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48" name="内容占位符 2"/>
          <p:cNvSpPr txBox="1"/>
          <p:nvPr/>
        </p:nvSpPr>
        <p:spPr>
          <a:xfrm>
            <a:off x="678805" y="3429417"/>
            <a:ext cx="7800999" cy="649625"/>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2000" dirty="0">
                <a:latin typeface="Microsoft YaHei UI Light" panose="020B0502040204020203" pitchFamily="34" charset="-122"/>
                <a:ea typeface="微软雅黑 Light" panose="020B0502040204020203" pitchFamily="34" charset="-122"/>
                <a:cs typeface="+mn-ea"/>
                <a:sym typeface="+mn-lt"/>
              </a:rPr>
              <a:t>深度网络可从局部到整体“理解图像”</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
        <p:nvSpPr>
          <p:cNvPr id="49" name="矩形 48"/>
          <p:cNvSpPr/>
          <p:nvPr/>
        </p:nvSpPr>
        <p:spPr>
          <a:xfrm>
            <a:off x="980875" y="3999239"/>
            <a:ext cx="10177341" cy="830997"/>
          </a:xfrm>
          <a:prstGeom prst="rect">
            <a:avLst/>
          </a:prstGeom>
        </p:spPr>
        <p:txBody>
          <a:bodyPr wrap="square">
            <a:spAutoFit/>
          </a:bodyPr>
          <a:lstStyle/>
          <a:p>
            <a:pPr>
              <a:lnSpc>
                <a:spcPct val="150000"/>
              </a:lnSpc>
            </a:pPr>
            <a:r>
              <a:rPr lang="zh-CN" altLang="en-US" sz="1600" dirty="0">
                <a:latin typeface="Microsoft YaHei UI Light" panose="020B0502040204020203" pitchFamily="34" charset="-122"/>
                <a:ea typeface="微软雅黑 Light" panose="020B0502040204020203" pitchFamily="34" charset="-122"/>
                <a:cs typeface="+mn-ea"/>
                <a:sym typeface="+mn-lt"/>
              </a:rPr>
              <a:t>学习复杂特征时（例如人脸识别），浅层的卷积层感受野小，学习到局部特征，深层的卷积层感受野大，学习到整体特征。</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50" name="矩形 49"/>
          <p:cNvSpPr/>
          <p:nvPr/>
        </p:nvSpPr>
        <p:spPr>
          <a:xfrm>
            <a:off x="980874" y="5467951"/>
            <a:ext cx="10090833" cy="461665"/>
          </a:xfrm>
          <a:prstGeom prst="rect">
            <a:avLst/>
          </a:prstGeom>
        </p:spPr>
        <p:txBody>
          <a:bodyPr wrap="square">
            <a:spAutoFit/>
          </a:bodyPr>
          <a:lstStyle/>
          <a:p>
            <a:pPr>
              <a:lnSpc>
                <a:spcPct val="150000"/>
              </a:lnSpc>
            </a:pPr>
            <a:r>
              <a:rPr lang="zh-CN" altLang="en-US" sz="1600" dirty="0">
                <a:latin typeface="Microsoft YaHei UI Light" panose="020B0502040204020203" pitchFamily="34" charset="-122"/>
                <a:ea typeface="微软雅黑 Light" panose="020B0502040204020203" pitchFamily="34" charset="-122"/>
                <a:cs typeface="+mn-ea"/>
                <a:sym typeface="+mn-lt"/>
              </a:rPr>
              <a:t>以深度换宽度，用多个小卷积替代一个大卷积，在获得更多样特征的同时所需权值数量也更少。</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51" name="内容占位符 2"/>
          <p:cNvSpPr txBox="1"/>
          <p:nvPr/>
        </p:nvSpPr>
        <p:spPr>
          <a:xfrm>
            <a:off x="678805" y="4921203"/>
            <a:ext cx="7800999" cy="649625"/>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2000" dirty="0">
                <a:latin typeface="Microsoft YaHei UI Light" panose="020B0502040204020203" pitchFamily="34" charset="-122"/>
                <a:ea typeface="微软雅黑 Light" panose="020B0502040204020203" pitchFamily="34" charset="-122"/>
                <a:cs typeface="+mn-ea"/>
                <a:sym typeface="+mn-lt"/>
              </a:rPr>
              <a:t>深度网络可减少权值数量</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基于</a:t>
            </a:r>
            <a:r>
              <a:rPr lang="en-US" altLang="zh-CN" sz="2800" b="1" dirty="0"/>
              <a:t>CNN</a:t>
            </a:r>
            <a:r>
              <a:rPr lang="zh-CN" altLang="en-US" sz="2800" b="1" dirty="0"/>
              <a:t>的图像分类算法</a:t>
            </a:r>
            <a:endParaRPr lang="en-US" altLang="zh-CN" sz="2800" b="1" dirty="0"/>
          </a:p>
        </p:txBody>
      </p:sp>
      <p:sp>
        <p:nvSpPr>
          <p:cNvPr id="8" name="内容占位符 2"/>
          <p:cNvSpPr txBox="1"/>
          <p:nvPr/>
        </p:nvSpPr>
        <p:spPr>
          <a:xfrm>
            <a:off x="638977" y="1324474"/>
            <a:ext cx="11496195" cy="1932988"/>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1800" dirty="0">
                <a:latin typeface="Microsoft YaHei UI Light" panose="020B0502040204020203" pitchFamily="34" charset="-122"/>
                <a:ea typeface="微软雅黑 Light" panose="020B0502040204020203" pitchFamily="34" charset="-122"/>
                <a:cs typeface="+mn-ea"/>
                <a:sym typeface="+mn-lt"/>
              </a:rPr>
              <a:t>对卷积神经网络的研究可追溯至日本学者福岛邦彦提出的</a:t>
            </a:r>
            <a:r>
              <a:rPr lang="en-US" altLang="zh-CN" sz="1800" dirty="0" err="1">
                <a:latin typeface="Microsoft YaHei UI Light" panose="020B0502040204020203" pitchFamily="34" charset="-122"/>
                <a:ea typeface="微软雅黑 Light" panose="020B0502040204020203" pitchFamily="34" charset="-122"/>
                <a:cs typeface="+mn-ea"/>
                <a:sym typeface="+mn-lt"/>
              </a:rPr>
              <a:t>neocognition</a:t>
            </a:r>
            <a:r>
              <a:rPr lang="zh-CN" altLang="en-US" sz="1800" dirty="0">
                <a:latin typeface="Microsoft YaHei UI Light" panose="020B0502040204020203" pitchFamily="34" charset="-122"/>
                <a:ea typeface="微软雅黑 Light" panose="020B0502040204020203" pitchFamily="34" charset="-122"/>
                <a:cs typeface="+mn-ea"/>
                <a:sym typeface="+mn-lt"/>
              </a:rPr>
              <a:t>模型。在其</a:t>
            </a:r>
            <a:r>
              <a:rPr lang="en-US" altLang="zh-CN" sz="1800" dirty="0">
                <a:latin typeface="Microsoft YaHei UI Light" panose="020B0502040204020203" pitchFamily="34" charset="-122"/>
                <a:ea typeface="微软雅黑 Light" panose="020B0502040204020203" pitchFamily="34" charset="-122"/>
                <a:cs typeface="+mn-ea"/>
                <a:sym typeface="+mn-lt"/>
              </a:rPr>
              <a:t>1979 </a:t>
            </a:r>
            <a:r>
              <a:rPr lang="zh-CN" altLang="en-US" sz="1800" dirty="0">
                <a:latin typeface="Microsoft YaHei UI Light" panose="020B0502040204020203" pitchFamily="34" charset="-122"/>
                <a:ea typeface="微软雅黑 Light" panose="020B0502040204020203" pitchFamily="34" charset="-122"/>
                <a:cs typeface="+mn-ea"/>
                <a:sym typeface="+mn-lt"/>
              </a:rPr>
              <a:t>和</a:t>
            </a:r>
            <a:r>
              <a:rPr lang="en-US" altLang="zh-CN" sz="1800" dirty="0">
                <a:latin typeface="Microsoft YaHei UI Light" panose="020B0502040204020203" pitchFamily="34" charset="-122"/>
                <a:ea typeface="微软雅黑 Light" panose="020B0502040204020203" pitchFamily="34" charset="-122"/>
                <a:cs typeface="+mn-ea"/>
                <a:sym typeface="+mn-lt"/>
              </a:rPr>
              <a:t>1980</a:t>
            </a:r>
            <a:r>
              <a:rPr lang="zh-CN" altLang="en-US" sz="1800" dirty="0">
                <a:latin typeface="Microsoft YaHei UI Light" panose="020B0502040204020203" pitchFamily="34" charset="-122"/>
                <a:ea typeface="微软雅黑 Light" panose="020B0502040204020203" pitchFamily="34" charset="-122"/>
                <a:cs typeface="+mn-ea"/>
                <a:sym typeface="+mn-lt"/>
              </a:rPr>
              <a:t>年发表的论文中，福岛参照生物的视觉皮层（</a:t>
            </a:r>
            <a:r>
              <a:rPr lang="en-US" altLang="zh-CN" sz="1800" dirty="0">
                <a:latin typeface="Microsoft YaHei UI Light" panose="020B0502040204020203" pitchFamily="34" charset="-122"/>
                <a:ea typeface="微软雅黑 Light" panose="020B0502040204020203" pitchFamily="34" charset="-122"/>
                <a:cs typeface="+mn-ea"/>
                <a:sym typeface="+mn-lt"/>
              </a:rPr>
              <a:t>visual cortex</a:t>
            </a:r>
            <a:r>
              <a:rPr lang="zh-CN" altLang="en-US" sz="1800" dirty="0">
                <a:latin typeface="Microsoft YaHei UI Light" panose="020B0502040204020203" pitchFamily="34" charset="-122"/>
                <a:ea typeface="微软雅黑 Light" panose="020B0502040204020203" pitchFamily="34" charset="-122"/>
                <a:cs typeface="+mn-ea"/>
                <a:sym typeface="+mn-lt"/>
              </a:rPr>
              <a:t>）设计了以“</a:t>
            </a:r>
            <a:r>
              <a:rPr lang="en-US" altLang="zh-CN" sz="1800" dirty="0" err="1">
                <a:latin typeface="Microsoft YaHei UI Light" panose="020B0502040204020203" pitchFamily="34" charset="-122"/>
                <a:ea typeface="微软雅黑 Light" panose="020B0502040204020203" pitchFamily="34" charset="-122"/>
                <a:cs typeface="+mn-ea"/>
                <a:sym typeface="+mn-lt"/>
              </a:rPr>
              <a:t>neocognition</a:t>
            </a:r>
            <a:r>
              <a:rPr lang="en-US" altLang="zh-CN" sz="1800" dirty="0">
                <a:latin typeface="Microsoft YaHei UI Light" panose="020B0502040204020203" pitchFamily="34" charset="-122"/>
                <a:ea typeface="微软雅黑 Light" panose="020B0502040204020203" pitchFamily="34" charset="-122"/>
                <a:cs typeface="+mn-ea"/>
                <a:sym typeface="+mn-lt"/>
              </a:rPr>
              <a:t>”</a:t>
            </a:r>
            <a:r>
              <a:rPr lang="zh-CN" altLang="en-US" sz="1800" dirty="0">
                <a:latin typeface="Microsoft YaHei UI Light" panose="020B0502040204020203" pitchFamily="34" charset="-122"/>
                <a:ea typeface="微软雅黑 Light" panose="020B0502040204020203" pitchFamily="34" charset="-122"/>
                <a:cs typeface="+mn-ea"/>
                <a:sym typeface="+mn-lt"/>
              </a:rPr>
              <a:t>命名的神经网络。</a:t>
            </a:r>
            <a:r>
              <a:rPr lang="en-US" altLang="zh-CN" sz="1800" dirty="0">
                <a:latin typeface="Microsoft YaHei UI Light" panose="020B0502040204020203" pitchFamily="34" charset="-122"/>
                <a:ea typeface="微软雅黑 Light" panose="020B0502040204020203" pitchFamily="34" charset="-122"/>
                <a:cs typeface="+mn-ea"/>
                <a:sym typeface="+mn-lt"/>
              </a:rPr>
              <a:t> </a:t>
            </a:r>
          </a:p>
          <a:p>
            <a:pPr>
              <a:lnSpc>
                <a:spcPct val="150000"/>
              </a:lnSpc>
              <a:buFont typeface="Wingdings" panose="05000000000000000000" pitchFamily="2" charset="2"/>
              <a:buChar char="l"/>
            </a:pPr>
            <a:r>
              <a:rPr lang="en-US" altLang="zh-CN" sz="1800" dirty="0" err="1">
                <a:latin typeface="Microsoft YaHei UI Light" panose="020B0502040204020203" pitchFamily="34" charset="-122"/>
                <a:ea typeface="微软雅黑 Light" panose="020B0502040204020203" pitchFamily="34" charset="-122"/>
                <a:cs typeface="+mn-ea"/>
                <a:sym typeface="+mn-lt"/>
              </a:rPr>
              <a:t>AlexNet</a:t>
            </a:r>
            <a:r>
              <a:rPr lang="zh-CN" altLang="en-US" sz="1800" dirty="0">
                <a:latin typeface="Microsoft YaHei UI Light" panose="020B0502040204020203" pitchFamily="34" charset="-122"/>
                <a:ea typeface="微软雅黑 Light" panose="020B0502040204020203" pitchFamily="34" charset="-122"/>
                <a:cs typeface="+mn-ea"/>
                <a:sym typeface="+mn-lt"/>
              </a:rPr>
              <a:t>使用卷积神经网络解决图像分类问题，在</a:t>
            </a:r>
            <a:r>
              <a:rPr lang="en-US" altLang="zh-CN" sz="1800" dirty="0">
                <a:latin typeface="Microsoft YaHei UI Light" panose="020B0502040204020203" pitchFamily="34" charset="-122"/>
                <a:ea typeface="微软雅黑 Light" panose="020B0502040204020203" pitchFamily="34" charset="-122"/>
                <a:cs typeface="+mn-ea"/>
                <a:sym typeface="+mn-lt"/>
              </a:rPr>
              <a:t>ILSVRC2012</a:t>
            </a:r>
            <a:r>
              <a:rPr lang="zh-CN" altLang="en-US" sz="1800" dirty="0">
                <a:latin typeface="Microsoft YaHei UI Light" panose="020B0502040204020203" pitchFamily="34" charset="-122"/>
                <a:ea typeface="微软雅黑 Light" panose="020B0502040204020203" pitchFamily="34" charset="-122"/>
                <a:cs typeface="+mn-ea"/>
                <a:sym typeface="+mn-lt"/>
              </a:rPr>
              <a:t>中取得获胜并大大提高了</a:t>
            </a:r>
            <a:r>
              <a:rPr lang="en-US" altLang="zh-CN" sz="1800" dirty="0">
                <a:latin typeface="Microsoft YaHei UI Light" panose="020B0502040204020203" pitchFamily="34" charset="-122"/>
                <a:ea typeface="微软雅黑 Light" panose="020B0502040204020203" pitchFamily="34" charset="-122"/>
                <a:cs typeface="+mn-ea"/>
                <a:sym typeface="+mn-lt"/>
              </a:rPr>
              <a:t>state-of-art</a:t>
            </a:r>
            <a:r>
              <a:rPr lang="zh-CN" altLang="en-US" sz="1800" dirty="0">
                <a:latin typeface="Microsoft YaHei UI Light" panose="020B0502040204020203" pitchFamily="34" charset="-122"/>
                <a:ea typeface="微软雅黑 Light" panose="020B0502040204020203" pitchFamily="34" charset="-122"/>
                <a:cs typeface="+mn-ea"/>
                <a:sym typeface="+mn-lt"/>
              </a:rPr>
              <a:t>的准确率。自此卷积神经网络在图像分类领域获得快速发展。</a:t>
            </a:r>
            <a:endParaRPr lang="en-US" altLang="zh-CN" sz="1800" dirty="0">
              <a:latin typeface="Microsoft YaHei UI Light" panose="020B0502040204020203" pitchFamily="34" charset="-122"/>
              <a:ea typeface="微软雅黑 Light" panose="020B0502040204020203" pitchFamily="34" charset="-122"/>
              <a:cs typeface="+mn-ea"/>
              <a:sym typeface="+mn-lt"/>
            </a:endParaRPr>
          </a:p>
        </p:txBody>
      </p:sp>
      <p:sp>
        <p:nvSpPr>
          <p:cNvPr id="9" name="灯片编号占位符 2"/>
          <p:cNvSpPr>
            <a:spLocks noGrp="1"/>
          </p:cNvSpPr>
          <p:nvPr>
            <p:ph type="sldNum" sz="quarter" idx="4294967295"/>
          </p:nvPr>
        </p:nvSpPr>
        <p:spPr>
          <a:xfrm>
            <a:off x="3986014" y="6453336"/>
            <a:ext cx="1533488" cy="365125"/>
          </a:xfrm>
          <a:prstGeom prst="rect">
            <a:avLst/>
          </a:prstGeom>
        </p:spPr>
        <p:txBody>
          <a:bodyPr/>
          <a:lstStyle/>
          <a:p>
            <a:fld id="{F7B54BD4-5486-4A33-9B83-769ED7785D49}" type="slidenum">
              <a:rPr lang="zh-CN" altLang="en-US" smtClean="0">
                <a:latin typeface="Microsoft YaHei UI Light" panose="020B0502040204020203" pitchFamily="34" charset="-122"/>
              </a:rPr>
              <a:t>19</a:t>
            </a:fld>
            <a:endParaRPr lang="en-US" altLang="zh-CN" dirty="0">
              <a:latin typeface="Microsoft YaHei UI Light" panose="020B0502040204020203" pitchFamily="34" charset="-122"/>
            </a:endParaRPr>
          </a:p>
        </p:txBody>
      </p:sp>
      <p:grpSp>
        <p:nvGrpSpPr>
          <p:cNvPr id="10" name="组合 9"/>
          <p:cNvGrpSpPr>
            <a:grpSpLocks noChangeAspect="1"/>
          </p:cNvGrpSpPr>
          <p:nvPr/>
        </p:nvGrpSpPr>
        <p:grpSpPr>
          <a:xfrm>
            <a:off x="1064597" y="3055987"/>
            <a:ext cx="7452965" cy="3482337"/>
            <a:chOff x="647630" y="2684702"/>
            <a:chExt cx="7919390" cy="4096867"/>
          </a:xfrm>
        </p:grpSpPr>
        <p:pic>
          <p:nvPicPr>
            <p:cNvPr id="11" name="图片 10"/>
            <p:cNvPicPr>
              <a:picLocks noChangeAspect="1"/>
            </p:cNvPicPr>
            <p:nvPr/>
          </p:nvPicPr>
          <p:blipFill>
            <a:blip r:embed="rId5"/>
            <a:stretch>
              <a:fillRect/>
            </a:stretch>
          </p:blipFill>
          <p:spPr>
            <a:xfrm>
              <a:off x="647630" y="2684702"/>
              <a:ext cx="7919390" cy="4096867"/>
            </a:xfrm>
            <a:prstGeom prst="rect">
              <a:avLst/>
            </a:prstGeom>
          </p:spPr>
        </p:pic>
        <p:pic>
          <p:nvPicPr>
            <p:cNvPr id="12" name="图片 11"/>
            <p:cNvPicPr>
              <a:picLocks noChangeAspect="1"/>
            </p:cNvPicPr>
            <p:nvPr/>
          </p:nvPicPr>
          <p:blipFill rotWithShape="1">
            <a:blip r:embed="rId6"/>
            <a:srcRect l="26470" t="60546" r="27733" b="8385"/>
            <a:stretch>
              <a:fillRect/>
            </a:stretch>
          </p:blipFill>
          <p:spPr>
            <a:xfrm>
              <a:off x="5983333" y="6525257"/>
              <a:ext cx="1027466" cy="170472"/>
            </a:xfrm>
            <a:prstGeom prst="rect">
              <a:avLst/>
            </a:prstGeom>
          </p:spPr>
        </p:pic>
      </p:grpSp>
      <p:sp>
        <p:nvSpPr>
          <p:cNvPr id="13" name="内容占位符 2"/>
          <p:cNvSpPr txBox="1"/>
          <p:nvPr/>
        </p:nvSpPr>
        <p:spPr>
          <a:xfrm>
            <a:off x="9159337" y="3463923"/>
            <a:ext cx="2634874" cy="2626911"/>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b="1" dirty="0" err="1">
                <a:latin typeface="Microsoft YaHei UI Light" panose="020B0502040204020203" pitchFamily="34" charset="-122"/>
                <a:ea typeface="微软雅黑 Light" panose="020B0502040204020203" pitchFamily="34" charset="-122"/>
                <a:cs typeface="+mn-ea"/>
                <a:sym typeface="+mn-lt"/>
              </a:rPr>
              <a:t>AlexNet</a:t>
            </a:r>
            <a:endParaRPr lang="en-US" altLang="zh-CN" sz="2400" b="1"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b="1" dirty="0">
                <a:latin typeface="Microsoft YaHei UI Light" panose="020B0502040204020203" pitchFamily="34" charset="-122"/>
                <a:ea typeface="微软雅黑 Light" panose="020B0502040204020203" pitchFamily="34" charset="-122"/>
                <a:cs typeface="+mn-ea"/>
                <a:sym typeface="+mn-lt"/>
              </a:rPr>
              <a:t>VGG</a:t>
            </a:r>
          </a:p>
          <a:p>
            <a:pPr>
              <a:lnSpc>
                <a:spcPct val="150000"/>
              </a:lnSpc>
              <a:buFont typeface="Wingdings" panose="05000000000000000000" pitchFamily="2" charset="2"/>
              <a:buChar char="l"/>
            </a:pPr>
            <a:r>
              <a:rPr lang="en-US" altLang="zh-CN" sz="2400" b="1" dirty="0">
                <a:latin typeface="Microsoft YaHei UI Light" panose="020B0502040204020203" pitchFamily="34" charset="-122"/>
                <a:ea typeface="微软雅黑 Light" panose="020B0502040204020203" pitchFamily="34" charset="-122"/>
                <a:cs typeface="+mn-ea"/>
                <a:sym typeface="+mn-lt"/>
              </a:rPr>
              <a:t>Inception </a:t>
            </a:r>
            <a:r>
              <a:rPr lang="zh-CN" altLang="en-US" sz="2400" b="1" dirty="0">
                <a:latin typeface="Microsoft YaHei UI Light" panose="020B0502040204020203" pitchFamily="34" charset="-122"/>
                <a:ea typeface="微软雅黑 Light" panose="020B0502040204020203" pitchFamily="34" charset="-122"/>
                <a:cs typeface="+mn-ea"/>
                <a:sym typeface="+mn-lt"/>
              </a:rPr>
              <a:t>系列</a:t>
            </a:r>
            <a:endParaRPr lang="en-US" altLang="zh-CN" sz="2400" b="1"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b="1" dirty="0" err="1">
                <a:latin typeface="Microsoft YaHei UI Light" panose="020B0502040204020203" pitchFamily="34" charset="-122"/>
                <a:ea typeface="微软雅黑 Light" panose="020B0502040204020203" pitchFamily="34" charset="-122"/>
                <a:cs typeface="+mn-ea"/>
                <a:sym typeface="+mn-lt"/>
              </a:rPr>
              <a:t>ResNet</a:t>
            </a:r>
            <a:endParaRPr lang="en-US" altLang="zh-CN" sz="2400" b="1"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基于</a:t>
            </a:r>
            <a:r>
              <a:rPr lang="en-US" altLang="zh-CN" sz="2800" b="1" dirty="0"/>
              <a:t>CNN</a:t>
            </a:r>
            <a:r>
              <a:rPr lang="zh-CN" altLang="en-US" sz="2800" b="1" dirty="0"/>
              <a:t>的图像分类算法</a:t>
            </a:r>
            <a:endParaRPr lang="en-US" altLang="zh-CN" sz="2800" b="1" dirty="0"/>
          </a:p>
        </p:txBody>
      </p:sp>
      <p:sp>
        <p:nvSpPr>
          <p:cNvPr id="8" name="内容占位符 2"/>
          <p:cNvSpPr txBox="1"/>
          <p:nvPr/>
        </p:nvSpPr>
        <p:spPr>
          <a:xfrm>
            <a:off x="638977" y="1386465"/>
            <a:ext cx="11015748" cy="5053358"/>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err="1">
                <a:latin typeface="Microsoft YaHei UI Light" panose="020B0502040204020203" pitchFamily="34" charset="-122"/>
                <a:ea typeface="微软雅黑 Light" panose="020B0502040204020203" pitchFamily="34" charset="-122"/>
                <a:cs typeface="+mn-ea"/>
                <a:sym typeface="+mn-lt"/>
              </a:rPr>
              <a:t>AlexNet</a:t>
            </a:r>
            <a:r>
              <a:rPr lang="zh-CN" altLang="en-US" sz="2400" dirty="0">
                <a:latin typeface="Microsoft YaHei UI Light" panose="020B0502040204020203" pitchFamily="34" charset="-122"/>
                <a:ea typeface="微软雅黑 Light" panose="020B0502040204020203" pitchFamily="34" charset="-122"/>
                <a:cs typeface="+mn-ea"/>
                <a:sym typeface="+mn-lt"/>
              </a:rPr>
              <a:t>获得了</a:t>
            </a:r>
            <a:r>
              <a:rPr lang="en-US" altLang="zh-CN" sz="2400" dirty="0">
                <a:latin typeface="Microsoft YaHei UI Light" panose="020B0502040204020203" pitchFamily="34" charset="-122"/>
                <a:ea typeface="微软雅黑 Light" panose="020B0502040204020203" pitchFamily="34" charset="-122"/>
                <a:cs typeface="+mn-ea"/>
                <a:sym typeface="+mn-lt"/>
              </a:rPr>
              <a:t>ILSVRC</a:t>
            </a:r>
            <a:r>
              <a:rPr lang="zh-CN" altLang="en-US" sz="2400" dirty="0">
                <a:latin typeface="Microsoft YaHei UI Light" panose="020B0502040204020203" pitchFamily="34" charset="-122"/>
                <a:ea typeface="微软雅黑 Light" panose="020B0502040204020203" pitchFamily="34" charset="-122"/>
                <a:cs typeface="+mn-ea"/>
                <a:sym typeface="+mn-lt"/>
              </a:rPr>
              <a:t>比赛分类项目的</a:t>
            </a:r>
            <a:r>
              <a:rPr lang="en-US" altLang="zh-CN" sz="2400" dirty="0">
                <a:latin typeface="Microsoft YaHei UI Light" panose="020B0502040204020203" pitchFamily="34" charset="-122"/>
                <a:ea typeface="微软雅黑 Light" panose="020B0502040204020203" pitchFamily="34" charset="-122"/>
                <a:cs typeface="+mn-ea"/>
                <a:sym typeface="+mn-lt"/>
              </a:rPr>
              <a:t>2012</a:t>
            </a:r>
            <a:r>
              <a:rPr lang="zh-CN" altLang="en-US" sz="2400" dirty="0">
                <a:latin typeface="Microsoft YaHei UI Light" panose="020B0502040204020203" pitchFamily="34" charset="-122"/>
                <a:ea typeface="微软雅黑 Light" panose="020B0502040204020203" pitchFamily="34" charset="-122"/>
                <a:cs typeface="+mn-ea"/>
                <a:sym typeface="+mn-lt"/>
              </a:rPr>
              <a:t>年冠军，</a:t>
            </a:r>
            <a:r>
              <a:rPr lang="en-US" altLang="zh-CN" sz="2400" dirty="0">
                <a:latin typeface="Microsoft YaHei UI Light" panose="020B0502040204020203" pitchFamily="34" charset="-122"/>
                <a:ea typeface="微软雅黑 Light" panose="020B0502040204020203" pitchFamily="34" charset="-122"/>
                <a:cs typeface="+mn-ea"/>
                <a:sym typeface="+mn-lt"/>
              </a:rPr>
              <a:t>top5</a:t>
            </a:r>
            <a:r>
              <a:rPr lang="zh-CN" altLang="en-US" sz="2400" dirty="0">
                <a:latin typeface="Microsoft YaHei UI Light" panose="020B0502040204020203" pitchFamily="34" charset="-122"/>
                <a:ea typeface="微软雅黑 Light" panose="020B0502040204020203" pitchFamily="34" charset="-122"/>
                <a:cs typeface="+mn-ea"/>
                <a:sym typeface="+mn-lt"/>
              </a:rPr>
              <a:t>错误率是</a:t>
            </a:r>
            <a:r>
              <a:rPr lang="en-US" altLang="zh-CN" sz="2400" dirty="0">
                <a:latin typeface="Microsoft YaHei UI Light" panose="020B0502040204020203" pitchFamily="34" charset="-122"/>
                <a:ea typeface="微软雅黑 Light" panose="020B0502040204020203" pitchFamily="34" charset="-122"/>
                <a:cs typeface="+mn-ea"/>
                <a:sym typeface="+mn-lt"/>
              </a:rPr>
              <a:t>16.4%</a:t>
            </a:r>
            <a:r>
              <a:rPr lang="zh-CN" altLang="en-US" sz="2400" dirty="0">
                <a:latin typeface="Microsoft YaHei UI Light" panose="020B0502040204020203" pitchFamily="34" charset="-122"/>
                <a:ea typeface="微软雅黑 Light" panose="020B0502040204020203" pitchFamily="34" charset="-122"/>
                <a:cs typeface="+mn-ea"/>
                <a:sym typeface="+mn-lt"/>
              </a:rPr>
              <a:t>，使用额外数据可达</a:t>
            </a:r>
            <a:r>
              <a:rPr lang="en-US" altLang="zh-CN" sz="2400" dirty="0">
                <a:latin typeface="Microsoft YaHei UI Light" panose="020B0502040204020203" pitchFamily="34" charset="-122"/>
                <a:ea typeface="微软雅黑 Light" panose="020B0502040204020203" pitchFamily="34" charset="-122"/>
                <a:cs typeface="+mn-ea"/>
                <a:sym typeface="+mn-lt"/>
              </a:rPr>
              <a:t>15.3%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8</a:t>
            </a:r>
            <a:r>
              <a:rPr lang="zh-CN" altLang="en-US" sz="2400" dirty="0">
                <a:latin typeface="Microsoft YaHei UI Light" panose="020B0502040204020203" pitchFamily="34" charset="-122"/>
                <a:ea typeface="微软雅黑 Light" panose="020B0502040204020203" pitchFamily="34" charset="-122"/>
                <a:cs typeface="+mn-ea"/>
                <a:sym typeface="+mn-lt"/>
              </a:rPr>
              <a:t>层网络</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VGG</a:t>
            </a:r>
            <a:r>
              <a:rPr lang="zh-CN" altLang="en-US" sz="2400" dirty="0">
                <a:latin typeface="Microsoft YaHei UI Light" panose="020B0502040204020203" pitchFamily="34" charset="-122"/>
                <a:ea typeface="微软雅黑 Light" panose="020B0502040204020203" pitchFamily="34" charset="-122"/>
                <a:cs typeface="+mn-ea"/>
                <a:sym typeface="+mn-lt"/>
              </a:rPr>
              <a:t>获得了</a:t>
            </a:r>
            <a:r>
              <a:rPr lang="en-US" altLang="zh-CN" sz="2400" dirty="0">
                <a:latin typeface="Microsoft YaHei UI Light" panose="020B0502040204020203" pitchFamily="34" charset="-122"/>
                <a:ea typeface="微软雅黑 Light" panose="020B0502040204020203" pitchFamily="34" charset="-122"/>
                <a:cs typeface="+mn-ea"/>
                <a:sym typeface="+mn-lt"/>
              </a:rPr>
              <a:t>2014</a:t>
            </a:r>
            <a:r>
              <a:rPr lang="zh-CN" altLang="en-US" sz="2400" dirty="0">
                <a:latin typeface="Microsoft YaHei UI Light" panose="020B0502040204020203" pitchFamily="34" charset="-122"/>
                <a:ea typeface="微软雅黑 Light" panose="020B0502040204020203" pitchFamily="34" charset="-122"/>
                <a:cs typeface="+mn-ea"/>
                <a:sym typeface="+mn-lt"/>
              </a:rPr>
              <a:t>年亚军，</a:t>
            </a:r>
            <a:r>
              <a:rPr lang="en-US" altLang="zh-CN" sz="2400" dirty="0">
                <a:latin typeface="Microsoft YaHei UI Light" panose="020B0502040204020203" pitchFamily="34" charset="-122"/>
                <a:ea typeface="微软雅黑 Light" panose="020B0502040204020203" pitchFamily="34" charset="-122"/>
                <a:cs typeface="+mn-ea"/>
                <a:sym typeface="+mn-lt"/>
              </a:rPr>
              <a:t>top5</a:t>
            </a:r>
            <a:r>
              <a:rPr lang="zh-CN" altLang="en-US" sz="2400" dirty="0">
                <a:latin typeface="Microsoft YaHei UI Light" panose="020B0502040204020203" pitchFamily="34" charset="-122"/>
                <a:ea typeface="微软雅黑 Light" panose="020B0502040204020203" pitchFamily="34" charset="-122"/>
                <a:cs typeface="+mn-ea"/>
                <a:sym typeface="+mn-lt"/>
              </a:rPr>
              <a:t>错误率</a:t>
            </a:r>
            <a:r>
              <a:rPr lang="en-US" altLang="zh-CN" sz="2400" dirty="0">
                <a:latin typeface="Microsoft YaHei UI Light" panose="020B0502040204020203" pitchFamily="34" charset="-122"/>
                <a:ea typeface="微软雅黑 Light" panose="020B0502040204020203" pitchFamily="34" charset="-122"/>
                <a:cs typeface="+mn-ea"/>
                <a:sym typeface="+mn-lt"/>
              </a:rPr>
              <a:t>7.3%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19</a:t>
            </a:r>
            <a:r>
              <a:rPr lang="zh-CN" altLang="en-US" sz="2400" dirty="0">
                <a:latin typeface="Microsoft YaHei UI Light" panose="020B0502040204020203" pitchFamily="34" charset="-122"/>
                <a:ea typeface="微软雅黑 Light" panose="020B0502040204020203" pitchFamily="34" charset="-122"/>
                <a:cs typeface="+mn-ea"/>
                <a:sym typeface="+mn-lt"/>
              </a:rPr>
              <a:t>层网络</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Google Inception Net</a:t>
            </a:r>
            <a:r>
              <a:rPr lang="zh-CN" altLang="en-US" sz="2400" dirty="0">
                <a:latin typeface="Microsoft YaHei UI Light" panose="020B0502040204020203" pitchFamily="34" charset="-122"/>
                <a:ea typeface="微软雅黑 Light" panose="020B0502040204020203" pitchFamily="34" charset="-122"/>
                <a:cs typeface="+mn-ea"/>
                <a:sym typeface="+mn-lt"/>
              </a:rPr>
              <a:t>获得了</a:t>
            </a:r>
            <a:r>
              <a:rPr lang="en-US" altLang="zh-CN" sz="2400" dirty="0">
                <a:latin typeface="Microsoft YaHei UI Light" panose="020B0502040204020203" pitchFamily="34" charset="-122"/>
                <a:ea typeface="微软雅黑 Light" panose="020B0502040204020203" pitchFamily="34" charset="-122"/>
                <a:cs typeface="+mn-ea"/>
                <a:sym typeface="+mn-lt"/>
              </a:rPr>
              <a:t>2014</a:t>
            </a:r>
            <a:r>
              <a:rPr lang="zh-CN" altLang="en-US" sz="2400" dirty="0">
                <a:latin typeface="Microsoft YaHei UI Light" panose="020B0502040204020203" pitchFamily="34" charset="-122"/>
                <a:ea typeface="微软雅黑 Light" panose="020B0502040204020203" pitchFamily="34" charset="-122"/>
                <a:cs typeface="+mn-ea"/>
                <a:sym typeface="+mn-lt"/>
              </a:rPr>
              <a:t>年冠军，</a:t>
            </a:r>
            <a:r>
              <a:rPr lang="en-US" altLang="zh-CN" sz="2400" dirty="0">
                <a:latin typeface="Microsoft YaHei UI Light" panose="020B0502040204020203" pitchFamily="34" charset="-122"/>
                <a:ea typeface="微软雅黑 Light" panose="020B0502040204020203" pitchFamily="34" charset="-122"/>
                <a:cs typeface="+mn-ea"/>
                <a:sym typeface="+mn-lt"/>
              </a:rPr>
              <a:t>top5</a:t>
            </a:r>
            <a:r>
              <a:rPr lang="zh-CN" altLang="en-US" sz="2400" dirty="0">
                <a:latin typeface="Microsoft YaHei UI Light" panose="020B0502040204020203" pitchFamily="34" charset="-122"/>
                <a:ea typeface="微软雅黑 Light" panose="020B0502040204020203" pitchFamily="34" charset="-122"/>
                <a:cs typeface="+mn-ea"/>
                <a:sym typeface="+mn-lt"/>
              </a:rPr>
              <a:t>错误率</a:t>
            </a:r>
            <a:r>
              <a:rPr lang="en-US" altLang="zh-CN" sz="2400" dirty="0">
                <a:latin typeface="Microsoft YaHei UI Light" panose="020B0502040204020203" pitchFamily="34" charset="-122"/>
                <a:ea typeface="微软雅黑 Light" panose="020B0502040204020203" pitchFamily="34" charset="-122"/>
                <a:cs typeface="+mn-ea"/>
                <a:sym typeface="+mn-lt"/>
              </a:rPr>
              <a:t>6.7%</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22</a:t>
            </a:r>
            <a:r>
              <a:rPr lang="zh-CN" altLang="en-US" sz="2400" dirty="0">
                <a:latin typeface="Microsoft YaHei UI Light" panose="020B0502040204020203" pitchFamily="34" charset="-122"/>
                <a:ea typeface="微软雅黑 Light" panose="020B0502040204020203" pitchFamily="34" charset="-122"/>
                <a:cs typeface="+mn-ea"/>
                <a:sym typeface="+mn-lt"/>
              </a:rPr>
              <a:t>层网络</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err="1">
                <a:latin typeface="Microsoft YaHei UI Light" panose="020B0502040204020203" pitchFamily="34" charset="-122"/>
                <a:ea typeface="微软雅黑 Light" panose="020B0502040204020203" pitchFamily="34" charset="-122"/>
                <a:cs typeface="+mn-ea"/>
                <a:sym typeface="+mn-lt"/>
              </a:rPr>
              <a:t>ResNet</a:t>
            </a:r>
            <a:r>
              <a:rPr lang="zh-CN" altLang="en-US" sz="2400" dirty="0">
                <a:latin typeface="Microsoft YaHei UI Light" panose="020B0502040204020203" pitchFamily="34" charset="-122"/>
                <a:ea typeface="微软雅黑 Light" panose="020B0502040204020203" pitchFamily="34" charset="-122"/>
                <a:cs typeface="+mn-ea"/>
                <a:sym typeface="+mn-lt"/>
              </a:rPr>
              <a:t>获得了</a:t>
            </a:r>
            <a:r>
              <a:rPr lang="en-US" altLang="zh-CN" sz="2400" dirty="0">
                <a:latin typeface="Microsoft YaHei UI Light" panose="020B0502040204020203" pitchFamily="34" charset="-122"/>
                <a:ea typeface="微软雅黑 Light" panose="020B0502040204020203" pitchFamily="34" charset="-122"/>
                <a:cs typeface="+mn-ea"/>
                <a:sym typeface="+mn-lt"/>
              </a:rPr>
              <a:t>2015</a:t>
            </a:r>
            <a:r>
              <a:rPr lang="zh-CN" altLang="en-US" sz="2400" dirty="0">
                <a:latin typeface="Microsoft YaHei UI Light" panose="020B0502040204020203" pitchFamily="34" charset="-122"/>
                <a:ea typeface="微软雅黑 Light" panose="020B0502040204020203" pitchFamily="34" charset="-122"/>
                <a:cs typeface="+mn-ea"/>
                <a:sym typeface="+mn-lt"/>
              </a:rPr>
              <a:t>年冠军， </a:t>
            </a:r>
            <a:r>
              <a:rPr lang="en-US" altLang="zh-CN" sz="2400" dirty="0">
                <a:latin typeface="Microsoft YaHei UI Light" panose="020B0502040204020203" pitchFamily="34" charset="-122"/>
                <a:ea typeface="微软雅黑 Light" panose="020B0502040204020203" pitchFamily="34" charset="-122"/>
                <a:cs typeface="+mn-ea"/>
                <a:sym typeface="+mn-lt"/>
              </a:rPr>
              <a:t>top5</a:t>
            </a:r>
            <a:r>
              <a:rPr lang="zh-CN" altLang="en-US" sz="2400" dirty="0">
                <a:latin typeface="Microsoft YaHei UI Light" panose="020B0502040204020203" pitchFamily="34" charset="-122"/>
                <a:ea typeface="微软雅黑 Light" panose="020B0502040204020203" pitchFamily="34" charset="-122"/>
                <a:cs typeface="+mn-ea"/>
                <a:sym typeface="+mn-lt"/>
              </a:rPr>
              <a:t>错误率</a:t>
            </a:r>
            <a:r>
              <a:rPr lang="en-US" altLang="zh-CN" sz="2400" dirty="0">
                <a:latin typeface="Microsoft YaHei UI Light" panose="020B0502040204020203" pitchFamily="34" charset="-122"/>
                <a:ea typeface="微软雅黑 Light" panose="020B0502040204020203" pitchFamily="34" charset="-122"/>
                <a:cs typeface="+mn-ea"/>
                <a:sym typeface="+mn-lt"/>
              </a:rPr>
              <a:t>3.57%</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152</a:t>
            </a:r>
            <a:r>
              <a:rPr lang="zh-CN" altLang="en-US" sz="2400" dirty="0">
                <a:latin typeface="Microsoft YaHei UI Light" panose="020B0502040204020203" pitchFamily="34" charset="-122"/>
                <a:ea typeface="微软雅黑 Light" panose="020B0502040204020203" pitchFamily="34" charset="-122"/>
                <a:cs typeface="+mn-ea"/>
                <a:sym typeface="+mn-lt"/>
              </a:rPr>
              <a:t>层网络</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在各自年代使用了很多先进的卷积神经网络结构，代表了</a:t>
            </a:r>
            <a:r>
              <a:rPr lang="en-US" altLang="zh-CN" sz="2400" dirty="0">
                <a:latin typeface="Microsoft YaHei UI Light" panose="020B0502040204020203" pitchFamily="34" charset="-122"/>
                <a:ea typeface="微软雅黑 Light" panose="020B0502040204020203" pitchFamily="34" charset="-122"/>
                <a:cs typeface="+mn-ea"/>
                <a:sym typeface="+mn-lt"/>
              </a:rPr>
              <a:t>2012-2015</a:t>
            </a:r>
            <a:r>
              <a:rPr lang="zh-CN" altLang="en-US" sz="2400" dirty="0">
                <a:latin typeface="Microsoft YaHei UI Light" panose="020B0502040204020203" pitchFamily="34" charset="-122"/>
                <a:ea typeface="微软雅黑 Light" panose="020B0502040204020203" pitchFamily="34" charset="-122"/>
                <a:cs typeface="+mn-ea"/>
                <a:sym typeface="+mn-lt"/>
              </a:rPr>
              <a:t>的快速发展</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数据来自于</a:t>
            </a:r>
            <a:r>
              <a:rPr lang="en-US" altLang="zh-CN" sz="2400" dirty="0">
                <a:latin typeface="Microsoft YaHei UI Light" panose="020B0502040204020203" pitchFamily="34" charset="-122"/>
                <a:ea typeface="微软雅黑 Light" panose="020B0502040204020203" pitchFamily="34" charset="-122"/>
                <a:cs typeface="+mn-ea"/>
                <a:sym typeface="+mn-lt"/>
              </a:rPr>
              <a:t>ImageNet</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2017</a:t>
            </a:r>
            <a:r>
              <a:rPr lang="zh-CN" altLang="en-US" sz="2400" dirty="0">
                <a:latin typeface="Microsoft YaHei UI Light" panose="020B0502040204020203" pitchFamily="34" charset="-122"/>
                <a:ea typeface="微软雅黑 Light" panose="020B0502040204020203" pitchFamily="34" charset="-122"/>
                <a:cs typeface="+mn-ea"/>
                <a:sym typeface="+mn-lt"/>
              </a:rPr>
              <a:t>年斯坦福大学李飞飞教授创办，目标是收集大量带有标注信息的图片数据供计算机视觉模型训练</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9" name="灯片编号占位符 2"/>
          <p:cNvSpPr>
            <a:spLocks noGrp="1"/>
          </p:cNvSpPr>
          <p:nvPr>
            <p:ph type="sldNum" sz="quarter" idx="4294967295"/>
          </p:nvPr>
        </p:nvSpPr>
        <p:spPr>
          <a:xfrm>
            <a:off x="3986014" y="6453336"/>
            <a:ext cx="1533488" cy="365125"/>
          </a:xfrm>
          <a:prstGeom prst="rect">
            <a:avLst/>
          </a:prstGeom>
        </p:spPr>
        <p:txBody>
          <a:bodyPr/>
          <a:lstStyle/>
          <a:p>
            <a:fld id="{F7B54BD4-5486-4A33-9B83-769ED7785D49}" type="slidenum">
              <a:rPr lang="zh-CN" altLang="en-US" smtClean="0">
                <a:latin typeface="Microsoft YaHei UI Light" panose="020B0502040204020203" pitchFamily="34" charset="-122"/>
              </a:rPr>
              <a:t>20</a:t>
            </a:fld>
            <a:endParaRPr lang="en-US" altLang="zh-CN" dirty="0">
              <a:latin typeface="Microsoft YaHei UI Light" panose="020B0502040204020203"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AlexNet</a:t>
            </a:r>
            <a:endParaRPr lang="en-US" altLang="zh-CN" sz="2800" b="1" dirty="0"/>
          </a:p>
        </p:txBody>
      </p:sp>
      <p:sp>
        <p:nvSpPr>
          <p:cNvPr id="8" name="内容占位符 2"/>
          <p:cNvSpPr txBox="1"/>
          <p:nvPr/>
        </p:nvSpPr>
        <p:spPr>
          <a:xfrm>
            <a:off x="1475886" y="1474531"/>
            <a:ext cx="8291845" cy="1380055"/>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Paper:  ImageNet Classification with Deep Convolutional Neural Networks (2012)</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Author:  </a:t>
            </a:r>
            <a:r>
              <a:rPr lang="en-US" altLang="zh-CN" sz="1600" u="sng" dirty="0">
                <a:latin typeface="Microsoft YaHei UI Light" panose="020B0502040204020203" pitchFamily="34" charset="-122"/>
                <a:ea typeface="微软雅黑 Light" panose="020B0502040204020203" pitchFamily="34" charset="-122"/>
                <a:cs typeface="+mn-ea"/>
                <a:sym typeface="+mn-lt"/>
              </a:rPr>
              <a:t>Alex </a:t>
            </a:r>
            <a:r>
              <a:rPr lang="en-US" altLang="zh-CN" sz="1600" u="sng" dirty="0" err="1">
                <a:latin typeface="Microsoft YaHei UI Light" panose="020B0502040204020203" pitchFamily="34" charset="-122"/>
                <a:ea typeface="微软雅黑 Light" panose="020B0502040204020203" pitchFamily="34" charset="-122"/>
                <a:cs typeface="+mn-ea"/>
                <a:sym typeface="+mn-lt"/>
              </a:rPr>
              <a:t>Krizhevsky</a:t>
            </a:r>
            <a:r>
              <a:rPr lang="en-US" altLang="zh-CN" sz="1600" dirty="0">
                <a:latin typeface="Microsoft YaHei UI Light" panose="020B0502040204020203" pitchFamily="34" charset="-122"/>
                <a:ea typeface="微软雅黑 Light" panose="020B0502040204020203" pitchFamily="34" charset="-122"/>
                <a:cs typeface="+mn-ea"/>
                <a:sym typeface="+mn-lt"/>
              </a:rPr>
              <a:t>,  </a:t>
            </a:r>
            <a:r>
              <a:rPr lang="en-US" altLang="zh-CN" sz="1600" u="sng" dirty="0">
                <a:latin typeface="Microsoft YaHei UI Light" panose="020B0502040204020203" pitchFamily="34" charset="-122"/>
                <a:ea typeface="微软雅黑 Light" panose="020B0502040204020203" pitchFamily="34" charset="-122"/>
                <a:cs typeface="+mn-ea"/>
                <a:sym typeface="+mn-lt"/>
              </a:rPr>
              <a:t>Ilya </a:t>
            </a:r>
            <a:r>
              <a:rPr lang="en-US" altLang="zh-CN" sz="1600" u="sng" dirty="0" err="1">
                <a:latin typeface="Microsoft YaHei UI Light" panose="020B0502040204020203" pitchFamily="34" charset="-122"/>
                <a:ea typeface="微软雅黑 Light" panose="020B0502040204020203" pitchFamily="34" charset="-122"/>
                <a:cs typeface="+mn-ea"/>
                <a:sym typeface="+mn-lt"/>
              </a:rPr>
              <a:t>Sutskever</a:t>
            </a:r>
            <a:r>
              <a:rPr lang="en-US" altLang="zh-CN" sz="1600" dirty="0">
                <a:latin typeface="Microsoft YaHei UI Light" panose="020B0502040204020203" pitchFamily="34" charset="-122"/>
                <a:ea typeface="微软雅黑 Light" panose="020B0502040204020203" pitchFamily="34" charset="-122"/>
                <a:cs typeface="+mn-ea"/>
                <a:sym typeface="+mn-lt"/>
              </a:rPr>
              <a:t>,  </a:t>
            </a:r>
            <a:r>
              <a:rPr lang="en-US" altLang="zh-CN" sz="1600" u="sng" dirty="0">
                <a:latin typeface="Microsoft YaHei UI Light" panose="020B0502040204020203" pitchFamily="34" charset="-122"/>
                <a:ea typeface="微软雅黑 Light" panose="020B0502040204020203" pitchFamily="34" charset="-122"/>
                <a:cs typeface="+mn-ea"/>
                <a:sym typeface="+mn-lt"/>
              </a:rPr>
              <a:t>Geoffrey E. Hinton</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Test: error rate on ImageNet,  top1: 37.5%, top5: 17.0%</a:t>
            </a:r>
          </a:p>
        </p:txBody>
      </p:sp>
      <p:pic>
        <p:nvPicPr>
          <p:cNvPr id="9" name="图片 8"/>
          <p:cNvPicPr>
            <a:picLocks noChangeAspect="1"/>
          </p:cNvPicPr>
          <p:nvPr/>
        </p:nvPicPr>
        <p:blipFill>
          <a:blip r:embed="rId5"/>
          <a:stretch>
            <a:fillRect/>
          </a:stretch>
        </p:blipFill>
        <p:spPr>
          <a:xfrm>
            <a:off x="915995" y="2742434"/>
            <a:ext cx="10151331" cy="3375743"/>
          </a:xfrm>
          <a:prstGeom prst="rect">
            <a:avLst/>
          </a:prstGeom>
        </p:spPr>
      </p:pic>
      <p:sp>
        <p:nvSpPr>
          <p:cNvPr id="10" name="文本框 9"/>
          <p:cNvSpPr txBox="1"/>
          <p:nvPr/>
        </p:nvSpPr>
        <p:spPr>
          <a:xfrm>
            <a:off x="4002293" y="6174362"/>
            <a:ext cx="3615092" cy="307777"/>
          </a:xfrm>
          <a:prstGeom prst="rect">
            <a:avLst/>
          </a:prstGeom>
          <a:noFill/>
        </p:spPr>
        <p:txBody>
          <a:bodyPr wrap="none" rtlCol="0">
            <a:spAutoFit/>
          </a:bodyPr>
          <a:lstStyle/>
          <a:p>
            <a:r>
              <a:rPr lang="zh-CN" altLang="en-US" sz="1400" u="sng" dirty="0">
                <a:latin typeface="Microsoft YaHei UI Light" panose="020B0502040204020203" pitchFamily="34" charset="-122"/>
                <a:ea typeface="微软雅黑 Light" panose="020B0502040204020203" pitchFamily="34" charset="-122"/>
                <a:cs typeface="+mn-ea"/>
                <a:sym typeface="+mn-lt"/>
              </a:rPr>
              <a:t>论文中给出的网络结构（用两台</a:t>
            </a:r>
            <a:r>
              <a:rPr lang="en-US" altLang="zh-CN" sz="1400" u="sng" dirty="0">
                <a:latin typeface="Microsoft YaHei UI Light" panose="020B0502040204020203" pitchFamily="34" charset="-122"/>
                <a:ea typeface="微软雅黑 Light" panose="020B0502040204020203" pitchFamily="34" charset="-122"/>
                <a:cs typeface="+mn-ea"/>
                <a:sym typeface="+mn-lt"/>
              </a:rPr>
              <a:t>GPU</a:t>
            </a:r>
            <a:r>
              <a:rPr lang="zh-CN" altLang="en-US" sz="1400" u="sng" dirty="0">
                <a:latin typeface="Microsoft YaHei UI Light" panose="020B0502040204020203" pitchFamily="34" charset="-122"/>
                <a:ea typeface="微软雅黑 Light" panose="020B0502040204020203" pitchFamily="34" charset="-122"/>
                <a:cs typeface="+mn-ea"/>
                <a:sym typeface="+mn-lt"/>
              </a:rPr>
              <a:t>训练）</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AlexNet</a:t>
            </a:r>
            <a:endParaRPr lang="en-US" altLang="zh-CN" sz="2800" b="1" dirty="0"/>
          </a:p>
        </p:txBody>
      </p:sp>
      <p:pic>
        <p:nvPicPr>
          <p:cNvPr id="8" name="图片 7"/>
          <p:cNvPicPr>
            <a:picLocks noChangeAspect="1"/>
          </p:cNvPicPr>
          <p:nvPr/>
        </p:nvPicPr>
        <p:blipFill>
          <a:blip r:embed="rId5"/>
          <a:stretch>
            <a:fillRect/>
          </a:stretch>
        </p:blipFill>
        <p:spPr>
          <a:xfrm>
            <a:off x="2339681" y="1283076"/>
            <a:ext cx="5714048" cy="4833938"/>
          </a:xfrm>
          <a:prstGeom prst="rect">
            <a:avLst/>
          </a:prstGeom>
        </p:spPr>
      </p:pic>
      <p:sp>
        <p:nvSpPr>
          <p:cNvPr id="9" name="椭圆 8"/>
          <p:cNvSpPr/>
          <p:nvPr/>
        </p:nvSpPr>
        <p:spPr>
          <a:xfrm>
            <a:off x="2856438" y="5492372"/>
            <a:ext cx="726141" cy="189152"/>
          </a:xfrm>
          <a:prstGeom prst="ellipse">
            <a:avLst/>
          </a:prstGeom>
          <a:noFill/>
          <a:ln w="19050">
            <a:solidFill>
              <a:srgbClr val="C00000"/>
            </a:solidFill>
          </a:ln>
          <a:effectLst>
            <a:outerShdw blurRad="63500" dist="38100" dir="2760000" algn="tl"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8590894" y="1052742"/>
            <a:ext cx="1657826" cy="369332"/>
          </a:xfrm>
          <a:prstGeom prst="rect">
            <a:avLst/>
          </a:prstGeom>
          <a:noFill/>
        </p:spPr>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What</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s New</a:t>
            </a:r>
            <a:r>
              <a:rPr lang="zh-CN" altLang="en-US" dirty="0">
                <a:latin typeface="Microsoft YaHei UI Light" panose="020B0502040204020203" pitchFamily="34" charset="-122"/>
                <a:ea typeface="微软雅黑 Light" panose="020B0502040204020203" pitchFamily="34" charset="-122"/>
                <a:cs typeface="+mn-ea"/>
                <a:sym typeface="+mn-lt"/>
              </a:rPr>
              <a:t>？</a:t>
            </a:r>
          </a:p>
        </p:txBody>
      </p:sp>
      <p:sp>
        <p:nvSpPr>
          <p:cNvPr id="11" name="内容占位符 2"/>
          <p:cNvSpPr txBox="1"/>
          <p:nvPr/>
        </p:nvSpPr>
        <p:spPr>
          <a:xfrm>
            <a:off x="8123340" y="5263248"/>
            <a:ext cx="2950796" cy="1147636"/>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Dropout</a:t>
            </a:r>
            <a:r>
              <a:rPr lang="zh-CN" altLang="en-US" sz="1600" dirty="0">
                <a:latin typeface="Microsoft YaHei UI Light" panose="020B0502040204020203" pitchFamily="34" charset="-122"/>
                <a:ea typeface="微软雅黑 Light" panose="020B0502040204020203" pitchFamily="34" charset="-122"/>
                <a:cs typeface="+mn-ea"/>
                <a:sym typeface="+mn-lt"/>
              </a:rPr>
              <a:t>：随机舍弃部分隐层节点，避免过拟合；</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12" name="内容占位符 2"/>
          <p:cNvSpPr txBox="1"/>
          <p:nvPr/>
        </p:nvSpPr>
        <p:spPr>
          <a:xfrm>
            <a:off x="8123340" y="2770906"/>
            <a:ext cx="2950796" cy="114840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LRN</a:t>
            </a:r>
            <a:r>
              <a:rPr lang="zh-CN" altLang="en-US" sz="1600" dirty="0">
                <a:latin typeface="Microsoft YaHei UI Light" panose="020B0502040204020203" pitchFamily="34" charset="-122"/>
                <a:ea typeface="微软雅黑 Light" panose="020B0502040204020203" pitchFamily="34" charset="-122"/>
                <a:cs typeface="+mn-ea"/>
                <a:sym typeface="+mn-lt"/>
              </a:rPr>
              <a:t>局部归一化：提升较大响应，抑制较小响应；</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13" name="内容占位符 2"/>
          <p:cNvSpPr txBox="1"/>
          <p:nvPr/>
        </p:nvSpPr>
        <p:spPr>
          <a:xfrm>
            <a:off x="8123340" y="1525499"/>
            <a:ext cx="2950796" cy="1147636"/>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err="1">
                <a:latin typeface="Microsoft YaHei UI Light" panose="020B0502040204020203" pitchFamily="34" charset="-122"/>
                <a:ea typeface="微软雅黑 Light" panose="020B0502040204020203" pitchFamily="34" charset="-122"/>
                <a:cs typeface="+mn-ea"/>
                <a:sym typeface="+mn-lt"/>
              </a:rPr>
              <a:t>ReLU</a:t>
            </a:r>
            <a:r>
              <a:rPr lang="zh-CN" altLang="en-US" sz="1600" dirty="0">
                <a:latin typeface="Microsoft YaHei UI Light" panose="020B0502040204020203" pitchFamily="34" charset="-122"/>
                <a:ea typeface="微软雅黑 Light" panose="020B0502040204020203" pitchFamily="34" charset="-122"/>
                <a:cs typeface="+mn-ea"/>
                <a:sym typeface="+mn-lt"/>
              </a:rPr>
              <a:t>激活函数：训练中收敛速度更快；</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14" name="内容占位符 2"/>
          <p:cNvSpPr txBox="1"/>
          <p:nvPr/>
        </p:nvSpPr>
        <p:spPr>
          <a:xfrm>
            <a:off x="8161025" y="4017077"/>
            <a:ext cx="2875426" cy="114840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err="1">
                <a:latin typeface="Microsoft YaHei UI Light" panose="020B0502040204020203" pitchFamily="34" charset="-122"/>
                <a:ea typeface="微软雅黑 Light" panose="020B0502040204020203" pitchFamily="34" charset="-122"/>
                <a:cs typeface="+mn-ea"/>
                <a:sym typeface="+mn-lt"/>
              </a:rPr>
              <a:t>MaxPool</a:t>
            </a:r>
            <a:r>
              <a:rPr lang="zh-CN" altLang="en-US" sz="1600" dirty="0">
                <a:latin typeface="Microsoft YaHei UI Light" panose="020B0502040204020203" pitchFamily="34" charset="-122"/>
                <a:ea typeface="微软雅黑 Light" panose="020B0502040204020203" pitchFamily="34" charset="-122"/>
                <a:cs typeface="+mn-ea"/>
                <a:sym typeface="+mn-lt"/>
              </a:rPr>
              <a:t>：避免特征被平均池化模糊，提升特征鲁棒性；</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cxnSp>
        <p:nvCxnSpPr>
          <p:cNvPr id="16" name="直接箭头连接符 15"/>
          <p:cNvCxnSpPr/>
          <p:nvPr/>
        </p:nvCxnSpPr>
        <p:spPr>
          <a:xfrm>
            <a:off x="3582578" y="4424193"/>
            <a:ext cx="475233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sp>
        <p:nvSpPr>
          <p:cNvPr id="19" name="椭圆 18"/>
          <p:cNvSpPr/>
          <p:nvPr/>
        </p:nvSpPr>
        <p:spPr>
          <a:xfrm>
            <a:off x="2856437" y="4298201"/>
            <a:ext cx="726141" cy="189298"/>
          </a:xfrm>
          <a:prstGeom prst="ellipse">
            <a:avLst/>
          </a:prstGeom>
          <a:noFill/>
          <a:ln w="19050">
            <a:solidFill>
              <a:srgbClr val="C00000"/>
            </a:solidFill>
          </a:ln>
          <a:effectLst>
            <a:outerShdw blurRad="63500" dist="38100" dir="2760000" algn="tl"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cxnSp>
        <p:nvCxnSpPr>
          <p:cNvPr id="20" name="直接箭头连接符 19"/>
          <p:cNvCxnSpPr/>
          <p:nvPr/>
        </p:nvCxnSpPr>
        <p:spPr>
          <a:xfrm>
            <a:off x="3572818" y="5588686"/>
            <a:ext cx="475233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sp>
        <p:nvSpPr>
          <p:cNvPr id="21" name="椭圆 20"/>
          <p:cNvSpPr/>
          <p:nvPr/>
        </p:nvSpPr>
        <p:spPr>
          <a:xfrm>
            <a:off x="2856437" y="1714249"/>
            <a:ext cx="726141" cy="189298"/>
          </a:xfrm>
          <a:prstGeom prst="ellipse">
            <a:avLst/>
          </a:prstGeom>
          <a:noFill/>
          <a:ln w="19050">
            <a:solidFill>
              <a:srgbClr val="C00000"/>
            </a:solidFill>
          </a:ln>
          <a:effectLst>
            <a:outerShdw blurRad="63500" dist="38100" dir="2760000" algn="tl"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22" name="椭圆 21"/>
          <p:cNvSpPr/>
          <p:nvPr/>
        </p:nvSpPr>
        <p:spPr>
          <a:xfrm>
            <a:off x="2846677" y="2719122"/>
            <a:ext cx="726141" cy="189298"/>
          </a:xfrm>
          <a:prstGeom prst="ellipse">
            <a:avLst/>
          </a:prstGeom>
          <a:noFill/>
          <a:ln w="19050">
            <a:solidFill>
              <a:srgbClr val="C00000"/>
            </a:solidFill>
          </a:ln>
          <a:effectLst>
            <a:outerShdw blurRad="63500" dist="38100" dir="2760000" algn="tl"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cxnSp>
        <p:nvCxnSpPr>
          <p:cNvPr id="23" name="直接箭头连接符 22"/>
          <p:cNvCxnSpPr/>
          <p:nvPr/>
        </p:nvCxnSpPr>
        <p:spPr>
          <a:xfrm>
            <a:off x="3582578" y="1808898"/>
            <a:ext cx="4752330" cy="0"/>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cxnSp>
        <p:nvCxnSpPr>
          <p:cNvPr id="24" name="直接箭头连接符 23"/>
          <p:cNvCxnSpPr/>
          <p:nvPr/>
        </p:nvCxnSpPr>
        <p:spPr>
          <a:xfrm>
            <a:off x="3566394" y="2840529"/>
            <a:ext cx="4651284" cy="230657"/>
          </a:xfrm>
          <a:prstGeom prst="straightConnector1">
            <a:avLst/>
          </a:prstGeom>
          <a:ln>
            <a:tailEnd type="triangle"/>
          </a:ln>
          <a:effectLst/>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AlexNet</a:t>
            </a:r>
            <a:endParaRPr lang="en-US" altLang="zh-CN" sz="2800" b="1" dirty="0"/>
          </a:p>
        </p:txBody>
      </p:sp>
      <p:sp>
        <p:nvSpPr>
          <p:cNvPr id="8" name="内容占位符 2"/>
          <p:cNvSpPr txBox="1"/>
          <p:nvPr/>
        </p:nvSpPr>
        <p:spPr>
          <a:xfrm>
            <a:off x="1530730" y="1500722"/>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Local </a:t>
            </a:r>
            <a:r>
              <a:rPr lang="en-US" altLang="zh-CN" sz="2400" dirty="0" err="1">
                <a:latin typeface="Microsoft YaHei UI Light" panose="020B0502040204020203" pitchFamily="34" charset="-122"/>
                <a:ea typeface="微软雅黑 Light" panose="020B0502040204020203" pitchFamily="34" charset="-122"/>
                <a:cs typeface="+mn-ea"/>
                <a:sym typeface="+mn-lt"/>
              </a:rPr>
              <a:t>Respose</a:t>
            </a:r>
            <a:r>
              <a:rPr lang="en-US" altLang="zh-CN" sz="2400" dirty="0">
                <a:latin typeface="Microsoft YaHei UI Light" panose="020B0502040204020203" pitchFamily="34" charset="-122"/>
                <a:ea typeface="微软雅黑 Light" panose="020B0502040204020203" pitchFamily="34" charset="-122"/>
                <a:cs typeface="+mn-ea"/>
                <a:sym typeface="+mn-lt"/>
              </a:rPr>
              <a:t> Normalization (LRN)</a:t>
            </a:r>
          </a:p>
        </p:txBody>
      </p:sp>
      <p:sp>
        <p:nvSpPr>
          <p:cNvPr id="9" name="矩形 8"/>
          <p:cNvSpPr/>
          <p:nvPr/>
        </p:nvSpPr>
        <p:spPr>
          <a:xfrm>
            <a:off x="1593486" y="2335597"/>
            <a:ext cx="3203544" cy="460062"/>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局部响应归一化；</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pic>
        <p:nvPicPr>
          <p:cNvPr id="10" name="图片 9"/>
          <p:cNvPicPr>
            <a:picLocks noChangeAspect="1"/>
          </p:cNvPicPr>
          <p:nvPr/>
        </p:nvPicPr>
        <p:blipFill>
          <a:blip r:embed="rId5"/>
          <a:stretch>
            <a:fillRect/>
          </a:stretch>
        </p:blipFill>
        <p:spPr>
          <a:xfrm>
            <a:off x="1948560" y="3338704"/>
            <a:ext cx="4294110" cy="966449"/>
          </a:xfrm>
          <a:prstGeom prst="rect">
            <a:avLst/>
          </a:prstGeom>
        </p:spPr>
      </p:pic>
      <p:grpSp>
        <p:nvGrpSpPr>
          <p:cNvPr id="11" name="组合 10"/>
          <p:cNvGrpSpPr/>
          <p:nvPr/>
        </p:nvGrpSpPr>
        <p:grpSpPr>
          <a:xfrm>
            <a:off x="7071819" y="2557036"/>
            <a:ext cx="2073093" cy="1985676"/>
            <a:chOff x="5977213" y="2768785"/>
            <a:chExt cx="2073093" cy="1985676"/>
          </a:xfrm>
        </p:grpSpPr>
        <p:cxnSp>
          <p:nvCxnSpPr>
            <p:cNvPr id="12" name="直接连接符 11"/>
            <p:cNvCxnSpPr/>
            <p:nvPr/>
          </p:nvCxnSpPr>
          <p:spPr>
            <a:xfrm>
              <a:off x="6762750" y="2768785"/>
              <a:ext cx="0" cy="1189805"/>
            </a:xfrm>
            <a:prstGeom prst="line">
              <a:avLst/>
            </a:prstGeom>
            <a:noFill/>
            <a:ln w="19050" cap="flat" cmpd="sng">
              <a:solidFill>
                <a:srgbClr val="525977"/>
              </a:solidFill>
              <a:prstDash val="sysDash"/>
              <a:round/>
              <a:tailEnd type="none"/>
            </a:ln>
            <a:effectLst/>
          </p:spPr>
        </p:cxnSp>
        <p:cxnSp>
          <p:nvCxnSpPr>
            <p:cNvPr id="13" name="直接连接符 12"/>
            <p:cNvCxnSpPr/>
            <p:nvPr/>
          </p:nvCxnSpPr>
          <p:spPr>
            <a:xfrm>
              <a:off x="6762750" y="3958590"/>
              <a:ext cx="1287556" cy="0"/>
            </a:xfrm>
            <a:prstGeom prst="line">
              <a:avLst/>
            </a:prstGeom>
            <a:noFill/>
            <a:ln w="19050" cap="flat" cmpd="sng">
              <a:solidFill>
                <a:srgbClr val="525977"/>
              </a:solidFill>
              <a:prstDash val="sysDash"/>
              <a:round/>
              <a:tailEnd type="none"/>
            </a:ln>
            <a:effectLst/>
          </p:spPr>
        </p:cxnSp>
        <p:cxnSp>
          <p:nvCxnSpPr>
            <p:cNvPr id="14" name="直接连接符 13"/>
            <p:cNvCxnSpPr/>
            <p:nvPr/>
          </p:nvCxnSpPr>
          <p:spPr>
            <a:xfrm flipH="1">
              <a:off x="6194611" y="3958590"/>
              <a:ext cx="568138" cy="558312"/>
            </a:xfrm>
            <a:prstGeom prst="line">
              <a:avLst/>
            </a:prstGeom>
            <a:noFill/>
            <a:ln w="19050" cap="flat" cmpd="sng">
              <a:solidFill>
                <a:srgbClr val="525977"/>
              </a:solidFill>
              <a:prstDash val="sysDash"/>
              <a:round/>
              <a:tailEnd type="none"/>
            </a:ln>
            <a:effectLst/>
          </p:spPr>
        </p:cxnSp>
        <p:sp>
          <p:nvSpPr>
            <p:cNvPr id="16" name="立方体 15"/>
            <p:cNvSpPr/>
            <p:nvPr/>
          </p:nvSpPr>
          <p:spPr>
            <a:xfrm>
              <a:off x="6544035" y="3099354"/>
              <a:ext cx="739589" cy="746928"/>
            </a:xfrm>
            <a:prstGeom prst="cube">
              <a:avLst>
                <a:gd name="adj" fmla="val 763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8" name="立方体 17"/>
            <p:cNvSpPr/>
            <p:nvPr/>
          </p:nvSpPr>
          <p:spPr>
            <a:xfrm>
              <a:off x="6194612" y="2768785"/>
              <a:ext cx="1855694" cy="1748117"/>
            </a:xfrm>
            <a:prstGeom prst="cube">
              <a:avLst>
                <a:gd name="adj" fmla="val 3217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9" name="椭圆 18"/>
            <p:cNvSpPr/>
            <p:nvPr/>
          </p:nvSpPr>
          <p:spPr>
            <a:xfrm>
              <a:off x="6607673" y="373761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cxnSp>
          <p:nvCxnSpPr>
            <p:cNvPr id="20" name="直接连接符 19"/>
            <p:cNvCxnSpPr>
              <a:stCxn id="19" idx="2"/>
            </p:cNvCxnSpPr>
            <p:nvPr/>
          </p:nvCxnSpPr>
          <p:spPr>
            <a:xfrm flipH="1" flipV="1">
              <a:off x="6194611" y="3756660"/>
              <a:ext cx="413062" cy="3811"/>
            </a:xfrm>
            <a:prstGeom prst="line">
              <a:avLst/>
            </a:prstGeom>
            <a:noFill/>
            <a:ln w="19050" cap="flat" cmpd="sng">
              <a:solidFill>
                <a:schemeClr val="tx1"/>
              </a:solidFill>
              <a:prstDash val="solid"/>
              <a:round/>
              <a:tailEnd type="none"/>
            </a:ln>
            <a:effectLst/>
          </p:spPr>
        </p:cxnSp>
        <p:cxnSp>
          <p:nvCxnSpPr>
            <p:cNvPr id="21" name="直接连接符 20"/>
            <p:cNvCxnSpPr>
              <a:stCxn id="19" idx="4"/>
            </p:cNvCxnSpPr>
            <p:nvPr/>
          </p:nvCxnSpPr>
          <p:spPr>
            <a:xfrm>
              <a:off x="6630533" y="3783330"/>
              <a:ext cx="0" cy="733572"/>
            </a:xfrm>
            <a:prstGeom prst="line">
              <a:avLst/>
            </a:prstGeom>
            <a:noFill/>
            <a:ln w="19050" cap="flat" cmpd="sng">
              <a:solidFill>
                <a:srgbClr val="181818"/>
              </a:solidFill>
              <a:prstDash val="solid"/>
              <a:round/>
              <a:tailEnd type="none"/>
            </a:ln>
            <a:effectLst/>
          </p:spPr>
        </p:cxnSp>
        <mc:AlternateContent xmlns:mc="http://schemas.openxmlformats.org/markup-compatibility/2006" xmlns:a14="http://schemas.microsoft.com/office/drawing/2010/main">
          <mc:Choice Requires="a14">
            <p:sp>
              <p:nvSpPr>
                <p:cNvPr id="22" name="文本框 21"/>
                <p:cNvSpPr txBox="1"/>
                <p:nvPr/>
              </p:nvSpPr>
              <p:spPr>
                <a:xfrm>
                  <a:off x="6303872" y="4477462"/>
                  <a:ext cx="1993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𝑥</m:t>
                        </m:r>
                      </m:oMath>
                    </m:oMathPara>
                  </a14:m>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6303872" y="4477462"/>
                  <a:ext cx="199350" cy="276999"/>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5977213" y="3969987"/>
                  <a:ext cx="2027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𝑦</m:t>
                        </m:r>
                      </m:oMath>
                    </m:oMathPara>
                  </a14:m>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5977213" y="3969987"/>
                  <a:ext cx="202748" cy="276999"/>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7809297" y="4146907"/>
                  <a:ext cx="19712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𝑁</m:t>
                        </m:r>
                      </m:oMath>
                    </m:oMathPara>
                  </a14:m>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7809297" y="4146907"/>
                  <a:ext cx="197120" cy="276999"/>
                </a:xfrm>
                <a:prstGeom prst="rect">
                  <a:avLst/>
                </a:prstGeom>
                <a:blipFill rotWithShape="1">
                  <a:blip r:embed="rId8"/>
                </a:blipFill>
              </p:spPr>
              <p:txBody>
                <a:bodyPr/>
                <a:lstStyle/>
                <a:p>
                  <a:r>
                    <a:rPr lang="zh-CN" altLang="en-US">
                      <a:noFill/>
                    </a:rPr>
                    <a:t> </a:t>
                  </a:r>
                </a:p>
              </p:txBody>
            </p:sp>
          </mc:Fallback>
        </mc:AlternateContent>
      </p:grpSp>
      <p:sp>
        <p:nvSpPr>
          <p:cNvPr id="25" name="矩形 24"/>
          <p:cNvSpPr/>
          <p:nvPr/>
        </p:nvSpPr>
        <p:spPr>
          <a:xfrm>
            <a:off x="1593486" y="4809654"/>
            <a:ext cx="7310417" cy="87556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对图像的每个“位置”，提升高响应特征，抑制低响应特征；</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减少高激活神经元数量，提高训练速度，抑制过拟合；</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26" name="文本框 25"/>
          <p:cNvSpPr txBox="1"/>
          <p:nvPr/>
        </p:nvSpPr>
        <p:spPr>
          <a:xfrm>
            <a:off x="3184461" y="5910213"/>
            <a:ext cx="4810932" cy="338554"/>
          </a:xfrm>
          <a:prstGeom prst="rect">
            <a:avLst/>
          </a:prstGeom>
          <a:noFill/>
        </p:spPr>
        <p:txBody>
          <a:bodyPr wrap="none" rtlCol="0">
            <a:spAutoFit/>
          </a:bodyPr>
          <a:lstStyle/>
          <a:p>
            <a:r>
              <a:rPr lang="zh-CN" altLang="en-US" sz="1600" i="1" u="sng" dirty="0">
                <a:latin typeface="Microsoft YaHei UI Light" panose="020B0502040204020203" pitchFamily="34" charset="-122"/>
                <a:ea typeface="微软雅黑 Light" panose="020B0502040204020203" pitchFamily="34" charset="-122"/>
                <a:cs typeface="+mn-ea"/>
                <a:sym typeface="+mn-lt"/>
              </a:rPr>
              <a:t> 被后来研究者发现无明显效果，故现在很少使用。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AlexNet</a:t>
            </a:r>
            <a:endParaRPr lang="en-US" altLang="zh-CN" sz="2800" b="1" dirty="0"/>
          </a:p>
        </p:txBody>
      </p:sp>
      <p:sp>
        <p:nvSpPr>
          <p:cNvPr id="8" name="矩形 7"/>
          <p:cNvSpPr/>
          <p:nvPr/>
        </p:nvSpPr>
        <p:spPr>
          <a:xfrm>
            <a:off x="570598" y="1726691"/>
            <a:ext cx="5706216" cy="646331"/>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400" dirty="0">
                <a:latin typeface="Microsoft YaHei UI Light" panose="020B0502040204020203" pitchFamily="34" charset="-122"/>
                <a:ea typeface="微软雅黑 Light" panose="020B0502040204020203" pitchFamily="34" charset="-122"/>
                <a:cs typeface="+mn-ea"/>
                <a:sym typeface="+mn-lt"/>
              </a:rPr>
              <a:t>Dropout</a:t>
            </a:r>
            <a:r>
              <a:rPr lang="zh-CN" altLang="en-US" sz="2400" dirty="0">
                <a:latin typeface="Microsoft YaHei UI Light" panose="020B0502040204020203" pitchFamily="34" charset="-122"/>
                <a:ea typeface="微软雅黑 Light" panose="020B0502040204020203" pitchFamily="34" charset="-122"/>
                <a:cs typeface="+mn-ea"/>
                <a:sym typeface="+mn-lt"/>
              </a:rPr>
              <a:t>：随机丢弃部分神经元</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586096" y="2481888"/>
            <a:ext cx="10677472" cy="341632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400" dirty="0">
                <a:latin typeface="Microsoft YaHei UI Light" panose="020B0502040204020203" pitchFamily="34" charset="-122"/>
                <a:ea typeface="微软雅黑 Light" panose="020B0502040204020203" pitchFamily="34" charset="-122"/>
                <a:cs typeface="+mn-ea"/>
                <a:sym typeface="+mn-lt"/>
              </a:rPr>
              <a:t>在模型训练过程中，以一定概率随机地舍弃某些隐层神经元。在反向传播更新权重时，不更新与该神经元相关的权重；</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400" dirty="0">
                <a:latin typeface="Microsoft YaHei UI Light" panose="020B0502040204020203" pitchFamily="34" charset="-122"/>
                <a:ea typeface="微软雅黑 Light" panose="020B0502040204020203" pitchFamily="34" charset="-122"/>
                <a:cs typeface="+mn-ea"/>
                <a:sym typeface="+mn-lt"/>
              </a:rPr>
              <a:t>但是与被舍弃神经元相关的权重得保留下来（只是暂时不更新），另一批样本输入时继续使用与该神经元相关的权重；</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400" dirty="0">
                <a:latin typeface="Microsoft YaHei UI Light" panose="020B0502040204020203" pitchFamily="34" charset="-122"/>
                <a:ea typeface="微软雅黑 Light" panose="020B0502040204020203" pitchFamily="34" charset="-122"/>
                <a:cs typeface="+mn-ea"/>
                <a:sym typeface="+mn-lt"/>
              </a:rPr>
              <a:t>防止训练数据中复杂的共同适应（</a:t>
            </a:r>
            <a:r>
              <a:rPr lang="en-US" altLang="zh-CN" sz="2400" dirty="0">
                <a:latin typeface="Microsoft YaHei UI Light" panose="020B0502040204020203" pitchFamily="34" charset="-122"/>
                <a:ea typeface="微软雅黑 Light" panose="020B0502040204020203" pitchFamily="34" charset="-122"/>
                <a:cs typeface="+mn-ea"/>
                <a:sym typeface="+mn-lt"/>
              </a:rPr>
              <a:t>co-adaptation</a:t>
            </a:r>
            <a:r>
              <a:rPr lang="zh-CN" altLang="en-US" sz="2400" dirty="0">
                <a:latin typeface="Microsoft YaHei UI Light" panose="020B0502040204020203" pitchFamily="34" charset="-122"/>
                <a:ea typeface="微软雅黑 Light" panose="020B0502040204020203" pitchFamily="34" charset="-122"/>
                <a:cs typeface="+mn-ea"/>
                <a:sym typeface="+mn-lt"/>
              </a:rPr>
              <a:t>），即一个特征检测器需要依赖其他几个特定的特征检测器，从而抑制过拟合；</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AlexNet</a:t>
            </a:r>
            <a:r>
              <a:rPr lang="zh-CN" altLang="en-US" sz="2800" b="1" dirty="0"/>
              <a:t>小结</a:t>
            </a:r>
            <a:endParaRPr lang="en-US" altLang="zh-CN" sz="2800" b="1" dirty="0"/>
          </a:p>
        </p:txBody>
      </p:sp>
      <p:sp>
        <p:nvSpPr>
          <p:cNvPr id="8" name="内容占位符 2"/>
          <p:cNvSpPr txBox="1"/>
          <p:nvPr/>
        </p:nvSpPr>
        <p:spPr>
          <a:xfrm>
            <a:off x="647323" y="1480141"/>
            <a:ext cx="11283486" cy="500199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使用</a:t>
            </a:r>
            <a:r>
              <a:rPr lang="en-US" altLang="zh-CN" sz="2400" dirty="0" err="1">
                <a:latin typeface="Microsoft YaHei UI Light" panose="020B0502040204020203" pitchFamily="34" charset="-122"/>
                <a:ea typeface="微软雅黑 Light" panose="020B0502040204020203" pitchFamily="34" charset="-122"/>
                <a:cs typeface="+mn-ea"/>
                <a:sym typeface="+mn-lt"/>
              </a:rPr>
              <a:t>ReLU</a:t>
            </a:r>
            <a:r>
              <a:rPr lang="zh-CN" altLang="en-US" sz="2400" dirty="0">
                <a:latin typeface="Microsoft YaHei UI Light" panose="020B0502040204020203" pitchFamily="34" charset="-122"/>
                <a:ea typeface="微软雅黑 Light" panose="020B0502040204020203" pitchFamily="34" charset="-122"/>
                <a:cs typeface="+mn-ea"/>
                <a:sym typeface="+mn-lt"/>
              </a:rPr>
              <a:t>作为</a:t>
            </a:r>
            <a:r>
              <a:rPr lang="en-US" altLang="zh-CN" sz="2400" dirty="0">
                <a:latin typeface="Microsoft YaHei UI Light" panose="020B0502040204020203" pitchFamily="34" charset="-122"/>
                <a:ea typeface="微软雅黑 Light" panose="020B0502040204020203" pitchFamily="34" charset="-122"/>
                <a:cs typeface="+mn-ea"/>
                <a:sym typeface="+mn-lt"/>
              </a:rPr>
              <a:t>CNN</a:t>
            </a:r>
            <a:r>
              <a:rPr lang="zh-CN" altLang="en-US" sz="2400" dirty="0">
                <a:latin typeface="Microsoft YaHei UI Light" panose="020B0502040204020203" pitchFamily="34" charset="-122"/>
                <a:ea typeface="微软雅黑 Light" panose="020B0502040204020203" pitchFamily="34" charset="-122"/>
                <a:cs typeface="+mn-ea"/>
                <a:sym typeface="+mn-lt"/>
              </a:rPr>
              <a:t>的激活函数，解决了</a:t>
            </a:r>
            <a:r>
              <a:rPr lang="en-US" altLang="zh-CN" sz="2400" dirty="0">
                <a:latin typeface="Microsoft YaHei UI Light" panose="020B0502040204020203" pitchFamily="34" charset="-122"/>
                <a:ea typeface="微软雅黑 Light" panose="020B0502040204020203" pitchFamily="34" charset="-122"/>
                <a:cs typeface="+mn-ea"/>
                <a:sym typeface="+mn-lt"/>
              </a:rPr>
              <a:t>Sigmoid</a:t>
            </a:r>
            <a:r>
              <a:rPr lang="zh-CN" altLang="en-US" sz="2400" dirty="0">
                <a:latin typeface="Microsoft YaHei UI Light" panose="020B0502040204020203" pitchFamily="34" charset="-122"/>
                <a:ea typeface="微软雅黑 Light" panose="020B0502040204020203" pitchFamily="34" charset="-122"/>
                <a:cs typeface="+mn-ea"/>
                <a:sym typeface="+mn-lt"/>
              </a:rPr>
              <a:t>在网络较深时的梯度弥散问题</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使用</a:t>
            </a:r>
            <a:r>
              <a:rPr lang="en-US" altLang="zh-CN" sz="2400" dirty="0">
                <a:latin typeface="Microsoft YaHei UI Light" panose="020B0502040204020203" pitchFamily="34" charset="-122"/>
                <a:ea typeface="微软雅黑 Light" panose="020B0502040204020203" pitchFamily="34" charset="-122"/>
                <a:cs typeface="+mn-ea"/>
                <a:sym typeface="+mn-lt"/>
              </a:rPr>
              <a:t>Dropout</a:t>
            </a:r>
            <a:r>
              <a:rPr lang="zh-CN" altLang="en-US" sz="2400" dirty="0">
                <a:latin typeface="Microsoft YaHei UI Light" panose="020B0502040204020203" pitchFamily="34" charset="-122"/>
                <a:ea typeface="微软雅黑 Light" panose="020B0502040204020203" pitchFamily="34" charset="-122"/>
                <a:cs typeface="+mn-ea"/>
                <a:sym typeface="+mn-lt"/>
              </a:rPr>
              <a:t>以避免模型过拟合，主要用于最后几个全连接层</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使用最大池化，避免平均池化的模糊化效果，且步长比卷积核尺寸小</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提出了</a:t>
            </a:r>
            <a:r>
              <a:rPr lang="en-US" altLang="zh-CN" sz="2400" dirty="0">
                <a:latin typeface="Microsoft YaHei UI Light" panose="020B0502040204020203" pitchFamily="34" charset="-122"/>
                <a:ea typeface="微软雅黑 Light" panose="020B0502040204020203" pitchFamily="34" charset="-122"/>
                <a:cs typeface="+mn-ea"/>
                <a:sym typeface="+mn-lt"/>
              </a:rPr>
              <a:t>LRN</a:t>
            </a:r>
            <a:r>
              <a:rPr lang="zh-CN" altLang="en-US" sz="2400" dirty="0">
                <a:latin typeface="Microsoft YaHei UI Light" panose="020B0502040204020203" pitchFamily="34" charset="-122"/>
                <a:ea typeface="微软雅黑 Light" panose="020B0502040204020203" pitchFamily="34" charset="-122"/>
                <a:cs typeface="+mn-ea"/>
                <a:sym typeface="+mn-lt"/>
              </a:rPr>
              <a:t>层，使得响应大的值变得更大，并抑制反馈较小的值，增强泛化能力</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使用</a:t>
            </a:r>
            <a:r>
              <a:rPr lang="en-US" altLang="zh-CN" sz="2400" dirty="0">
                <a:latin typeface="Microsoft YaHei UI Light" panose="020B0502040204020203" pitchFamily="34" charset="-122"/>
                <a:ea typeface="微软雅黑 Light" panose="020B0502040204020203" pitchFamily="34" charset="-122"/>
                <a:cs typeface="+mn-ea"/>
                <a:sym typeface="+mn-lt"/>
              </a:rPr>
              <a:t>CUDA</a:t>
            </a:r>
            <a:r>
              <a:rPr lang="zh-CN" altLang="en-US" sz="2400" dirty="0">
                <a:latin typeface="Microsoft YaHei UI Light" panose="020B0502040204020203" pitchFamily="34" charset="-122"/>
                <a:ea typeface="微软雅黑 Light" panose="020B0502040204020203" pitchFamily="34" charset="-122"/>
                <a:cs typeface="+mn-ea"/>
                <a:sym typeface="+mn-lt"/>
              </a:rPr>
              <a:t>加速训练，并且使用了两块</a:t>
            </a:r>
            <a:r>
              <a:rPr lang="en-US" altLang="zh-CN" sz="2400" dirty="0">
                <a:latin typeface="Microsoft YaHei UI Light" panose="020B0502040204020203" pitchFamily="34" charset="-122"/>
                <a:ea typeface="微软雅黑 Light" panose="020B0502040204020203" pitchFamily="34" charset="-122"/>
                <a:cs typeface="+mn-ea"/>
                <a:sym typeface="+mn-lt"/>
              </a:rPr>
              <a:t>GPU</a:t>
            </a:r>
            <a:r>
              <a:rPr lang="zh-CN" altLang="en-US" sz="2400" dirty="0">
                <a:latin typeface="Microsoft YaHei UI Light" panose="020B0502040204020203" pitchFamily="34" charset="-122"/>
                <a:ea typeface="微软雅黑 Light" panose="020B0502040204020203" pitchFamily="34" charset="-122"/>
                <a:cs typeface="+mn-ea"/>
                <a:sym typeface="+mn-lt"/>
              </a:rPr>
              <a:t>，并且通信只在网络的部分层进行</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数据增强，随机地从</a:t>
            </a:r>
            <a:r>
              <a:rPr lang="en-US" altLang="zh-CN" sz="2400" dirty="0">
                <a:latin typeface="Microsoft YaHei UI Light" panose="020B0502040204020203" pitchFamily="34" charset="-122"/>
                <a:ea typeface="微软雅黑 Light" panose="020B0502040204020203" pitchFamily="34" charset="-122"/>
                <a:cs typeface="+mn-ea"/>
                <a:sym typeface="+mn-lt"/>
              </a:rPr>
              <a:t>256</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256</a:t>
            </a:r>
            <a:r>
              <a:rPr lang="zh-CN" altLang="en-US" sz="2400" dirty="0">
                <a:latin typeface="Microsoft YaHei UI Light" panose="020B0502040204020203" pitchFamily="34" charset="-122"/>
                <a:ea typeface="微软雅黑 Light" panose="020B0502040204020203" pitchFamily="34" charset="-122"/>
                <a:cs typeface="+mn-ea"/>
                <a:sym typeface="+mn-lt"/>
              </a:rPr>
              <a:t>的原始图像中截取</a:t>
            </a:r>
            <a:r>
              <a:rPr lang="en-US" altLang="zh-CN" sz="2400" dirty="0">
                <a:latin typeface="Microsoft YaHei UI Light" panose="020B0502040204020203" pitchFamily="34" charset="-122"/>
                <a:ea typeface="微软雅黑 Light" panose="020B0502040204020203" pitchFamily="34" charset="-122"/>
                <a:cs typeface="+mn-ea"/>
                <a:sym typeface="+mn-lt"/>
              </a:rPr>
              <a:t>224</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224</a:t>
            </a:r>
            <a:r>
              <a:rPr lang="zh-CN" altLang="en-US" sz="2400" dirty="0">
                <a:latin typeface="Microsoft YaHei UI Light" panose="020B0502040204020203" pitchFamily="34" charset="-122"/>
                <a:ea typeface="微软雅黑 Light" panose="020B0502040204020203" pitchFamily="34" charset="-122"/>
                <a:cs typeface="+mn-ea"/>
                <a:sym typeface="+mn-lt"/>
              </a:rPr>
              <a:t>大小的区域（以及水平翻转的镜像），减轻过拟合，提升模型的泛化能力。预测时，取图片的四个角和中间</a:t>
            </a:r>
            <a:r>
              <a:rPr lang="en-US" altLang="zh-CN" sz="2400" dirty="0">
                <a:latin typeface="Microsoft YaHei UI Light" panose="020B0502040204020203" pitchFamily="34" charset="-122"/>
                <a:ea typeface="微软雅黑 Light" panose="020B0502040204020203" pitchFamily="34" charset="-122"/>
                <a:cs typeface="+mn-ea"/>
                <a:sym typeface="+mn-lt"/>
              </a:rPr>
              <a:t>5</a:t>
            </a:r>
            <a:r>
              <a:rPr lang="zh-CN" altLang="en-US" sz="2400" dirty="0">
                <a:latin typeface="Microsoft YaHei UI Light" panose="020B0502040204020203" pitchFamily="34" charset="-122"/>
                <a:ea typeface="微软雅黑 Light" panose="020B0502040204020203" pitchFamily="34" charset="-122"/>
                <a:cs typeface="+mn-ea"/>
                <a:sym typeface="+mn-lt"/>
              </a:rPr>
              <a:t>个位置，并左右翻转，预测</a:t>
            </a:r>
            <a:r>
              <a:rPr lang="en-US" altLang="zh-CN" sz="2400" dirty="0">
                <a:latin typeface="Microsoft YaHei UI Light" panose="020B0502040204020203" pitchFamily="34" charset="-122"/>
                <a:ea typeface="微软雅黑 Light" panose="020B0502040204020203" pitchFamily="34" charset="-122"/>
                <a:cs typeface="+mn-ea"/>
                <a:sym typeface="+mn-lt"/>
              </a:rPr>
              <a:t>10</a:t>
            </a:r>
            <a:r>
              <a:rPr lang="zh-CN" altLang="en-US" sz="2400" dirty="0">
                <a:latin typeface="Microsoft YaHei UI Light" panose="020B0502040204020203" pitchFamily="34" charset="-122"/>
                <a:ea typeface="微软雅黑 Light" panose="020B0502040204020203" pitchFamily="34" charset="-122"/>
                <a:cs typeface="+mn-ea"/>
                <a:sym typeface="+mn-lt"/>
              </a:rPr>
              <a:t>次并结果求平均值。</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p>
        </p:txBody>
      </p:sp>
      <p:sp>
        <p:nvSpPr>
          <p:cNvPr id="12" name="内容占位符 2"/>
          <p:cNvSpPr txBox="1"/>
          <p:nvPr/>
        </p:nvSpPr>
        <p:spPr>
          <a:xfrm>
            <a:off x="592483" y="1476725"/>
            <a:ext cx="5549205" cy="1380055"/>
          </a:xfrm>
          <a:prstGeom prst="rect">
            <a:avLst/>
          </a:prstGeom>
        </p:spPr>
        <p:txBody>
          <a:bodyPr vert="horz">
            <a:normAutofit fontScale="85000" lnSpcReduction="20000"/>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Paper:  Very Deep Convolutional Networks for Large-Scale Image Recognition (2014)</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Author:  </a:t>
            </a:r>
            <a:r>
              <a:rPr lang="en-US" altLang="zh-CN" sz="1600" u="sng" dirty="0">
                <a:latin typeface="Microsoft YaHei UI Light" panose="020B0502040204020203" pitchFamily="34" charset="-122"/>
                <a:ea typeface="微软雅黑 Light" panose="020B0502040204020203" pitchFamily="34" charset="-122"/>
                <a:cs typeface="+mn-ea"/>
                <a:sym typeface="+mn-lt"/>
              </a:rPr>
              <a:t>K. </a:t>
            </a:r>
            <a:r>
              <a:rPr lang="en-US" altLang="zh-CN" sz="1600" u="sng" dirty="0" err="1">
                <a:latin typeface="Microsoft YaHei UI Light" panose="020B0502040204020203" pitchFamily="34" charset="-122"/>
                <a:ea typeface="微软雅黑 Light" panose="020B0502040204020203" pitchFamily="34" charset="-122"/>
                <a:cs typeface="+mn-ea"/>
                <a:sym typeface="+mn-lt"/>
              </a:rPr>
              <a:t>Simonyan</a:t>
            </a:r>
            <a:r>
              <a:rPr lang="en-US" altLang="zh-CN" sz="1600" u="sng"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   </a:t>
            </a:r>
            <a:r>
              <a:rPr lang="en-US" altLang="zh-CN" sz="1600" u="sng" dirty="0">
                <a:latin typeface="Microsoft YaHei UI Light" panose="020B0502040204020203" pitchFamily="34" charset="-122"/>
                <a:ea typeface="微软雅黑 Light" panose="020B0502040204020203" pitchFamily="34" charset="-122"/>
                <a:cs typeface="+mn-ea"/>
                <a:sym typeface="+mn-lt"/>
              </a:rPr>
              <a:t>A. Zisserman</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Test: error rate on ImageNet,  top1: 24.7%,  top5: 7.5%</a:t>
            </a:r>
          </a:p>
        </p:txBody>
      </p:sp>
      <p:sp>
        <p:nvSpPr>
          <p:cNvPr id="13" name="文本框 12"/>
          <p:cNvSpPr txBox="1"/>
          <p:nvPr/>
        </p:nvSpPr>
        <p:spPr>
          <a:xfrm>
            <a:off x="592483" y="3152503"/>
            <a:ext cx="1088055" cy="338554"/>
          </a:xfrm>
          <a:prstGeom prst="rect">
            <a:avLst/>
          </a:prstGeom>
          <a:noFill/>
        </p:spPr>
        <p:txBody>
          <a:bodyPr wrap="none" rtlCol="0">
            <a:spAutoFit/>
          </a:bodyPr>
          <a:lstStyle/>
          <a:p>
            <a:pPr marL="285750" indent="-285750">
              <a:buFont typeface="Arial" panose="020B0604020202020204" pitchFamily="34" charset="0"/>
              <a:buChar char="•"/>
            </a:pPr>
            <a:r>
              <a:rPr lang="en-US" altLang="zh-CN" sz="1600" dirty="0">
                <a:latin typeface="Microsoft YaHei UI Light" panose="020B0502040204020203" pitchFamily="34" charset="-122"/>
                <a:ea typeface="微软雅黑 Light" panose="020B0502040204020203" pitchFamily="34" charset="-122"/>
                <a:cs typeface="+mn-ea"/>
                <a:sym typeface="+mn-lt"/>
              </a:rPr>
              <a:t>VGG16</a:t>
            </a:r>
            <a:endParaRPr lang="zh-CN" altLang="en-US" sz="1600" dirty="0">
              <a:latin typeface="Microsoft YaHei UI Light" panose="020B0502040204020203" pitchFamily="34" charset="-122"/>
              <a:ea typeface="微软雅黑 Light" panose="020B0502040204020203" pitchFamily="34" charset="-122"/>
              <a:cs typeface="+mn-ea"/>
              <a:sym typeface="+mn-lt"/>
            </a:endParaRPr>
          </a:p>
        </p:txBody>
      </p:sp>
      <p:pic>
        <p:nvPicPr>
          <p:cNvPr id="14" name="图片 13"/>
          <p:cNvPicPr>
            <a:picLocks noChangeAspect="1"/>
          </p:cNvPicPr>
          <p:nvPr/>
        </p:nvPicPr>
        <p:blipFill>
          <a:blip r:embed="rId5"/>
          <a:stretch>
            <a:fillRect/>
          </a:stretch>
        </p:blipFill>
        <p:spPr>
          <a:xfrm>
            <a:off x="6141687" y="667409"/>
            <a:ext cx="2351383" cy="586000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p>
        </p:txBody>
      </p:sp>
      <p:sp>
        <p:nvSpPr>
          <p:cNvPr id="8" name="内容占位符 2"/>
          <p:cNvSpPr txBox="1"/>
          <p:nvPr/>
        </p:nvSpPr>
        <p:spPr>
          <a:xfrm>
            <a:off x="2444158" y="831890"/>
            <a:ext cx="5635626" cy="59451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由简单到复杂的网络结构</a:t>
            </a:r>
            <a:endParaRPr lang="en-US" altLang="zh-CN" sz="1800" dirty="0">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rotWithShape="1">
          <a:blip r:embed="rId5"/>
          <a:srcRect t="675"/>
          <a:stretch>
            <a:fillRect/>
          </a:stretch>
        </p:blipFill>
        <p:spPr>
          <a:xfrm>
            <a:off x="2235303" y="1386506"/>
            <a:ext cx="5056338" cy="5095633"/>
          </a:xfrm>
          <a:prstGeom prst="rect">
            <a:avLst/>
          </a:prstGeom>
        </p:spPr>
      </p:pic>
      <p:grpSp>
        <p:nvGrpSpPr>
          <p:cNvPr id="10" name="组合 9"/>
          <p:cNvGrpSpPr/>
          <p:nvPr/>
        </p:nvGrpSpPr>
        <p:grpSpPr>
          <a:xfrm>
            <a:off x="7559319" y="2356970"/>
            <a:ext cx="3316943" cy="3196493"/>
            <a:chOff x="5575537" y="1873623"/>
            <a:chExt cx="3316943" cy="1715852"/>
          </a:xfrm>
        </p:grpSpPr>
        <p:sp>
          <p:nvSpPr>
            <p:cNvPr id="11" name="矩形 10"/>
            <p:cNvSpPr/>
            <p:nvPr/>
          </p:nvSpPr>
          <p:spPr>
            <a:xfrm>
              <a:off x="6203068" y="1873623"/>
              <a:ext cx="2061881" cy="340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icrosoft YaHei UI Light" panose="020B0502040204020203" pitchFamily="34" charset="-122"/>
                  <a:ea typeface="微软雅黑 Light" panose="020B0502040204020203" pitchFamily="34" charset="-122"/>
                  <a:cs typeface="+mn-ea"/>
                  <a:sym typeface="+mn-lt"/>
                </a:rPr>
                <a:t>训练</a:t>
              </a:r>
              <a:r>
                <a:rPr lang="en-US" altLang="zh-CN" sz="1600" dirty="0">
                  <a:latin typeface="Microsoft YaHei UI Light" panose="020B0502040204020203" pitchFamily="34" charset="-122"/>
                  <a:ea typeface="微软雅黑 Light" panose="020B0502040204020203" pitchFamily="34" charset="-122"/>
                  <a:cs typeface="+mn-ea"/>
                  <a:sym typeface="+mn-lt"/>
                </a:rPr>
                <a:t>VGG11</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A</a:t>
              </a:r>
              <a:r>
                <a:rPr lang="zh-CN" altLang="en-US" sz="1600" dirty="0">
                  <a:latin typeface="Microsoft YaHei UI Light" panose="020B0502040204020203" pitchFamily="34" charset="-122"/>
                  <a:ea typeface="微软雅黑 Light" panose="020B0502040204020203" pitchFamily="34" charset="-122"/>
                  <a:cs typeface="+mn-ea"/>
                  <a:sym typeface="+mn-lt"/>
                </a:rPr>
                <a:t>）</a:t>
              </a:r>
            </a:p>
          </p:txBody>
        </p:sp>
        <p:sp>
          <p:nvSpPr>
            <p:cNvPr id="12" name="矩形 11"/>
            <p:cNvSpPr/>
            <p:nvPr/>
          </p:nvSpPr>
          <p:spPr>
            <a:xfrm>
              <a:off x="6203068" y="3248816"/>
              <a:ext cx="2061881" cy="340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icrosoft YaHei UI Light" panose="020B0502040204020203" pitchFamily="34" charset="-122"/>
                  <a:ea typeface="微软雅黑 Light" panose="020B0502040204020203" pitchFamily="34" charset="-122"/>
                  <a:cs typeface="+mn-ea"/>
                  <a:sym typeface="+mn-lt"/>
                </a:rPr>
                <a:t>训练更深神经网络</a:t>
              </a:r>
            </a:p>
          </p:txBody>
        </p:sp>
        <p:sp>
          <p:nvSpPr>
            <p:cNvPr id="13" name="圆角矩形 12"/>
            <p:cNvSpPr/>
            <p:nvPr/>
          </p:nvSpPr>
          <p:spPr>
            <a:xfrm>
              <a:off x="5575537" y="2437093"/>
              <a:ext cx="3316943" cy="58270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rPr>
                <a:t>收敛后的前</a:t>
              </a: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4</a:t>
              </a:r>
              <a:r>
                <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rPr>
                <a:t>个卷积层和后</a:t>
              </a: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3</a:t>
              </a:r>
              <a:r>
                <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rPr>
                <a:t>个全连接层的权重作为更深神经网络的前</a:t>
              </a: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4</a:t>
              </a:r>
              <a:r>
                <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rPr>
                <a:t>个卷积层和后</a:t>
              </a:r>
              <a:r>
                <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rPr>
                <a:t>3</a:t>
              </a:r>
              <a:r>
                <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rPr>
                <a:t>个全连接层权重的初始值，</a:t>
              </a:r>
              <a:endParaRPr lang="en-US" altLang="zh-CN" sz="1400" dirty="0">
                <a:solidFill>
                  <a:schemeClr val="tx1"/>
                </a:solidFill>
                <a:latin typeface="Microsoft YaHei UI Light" panose="020B0502040204020203" pitchFamily="34" charset="-122"/>
                <a:ea typeface="微软雅黑 Light" panose="020B0502040204020203" pitchFamily="34" charset="-122"/>
                <a:cs typeface="+mn-ea"/>
                <a:sym typeface="+mn-lt"/>
              </a:endParaRPr>
            </a:p>
            <a:p>
              <a:r>
                <a:rPr lang="zh-CN" altLang="en-US" sz="1400" dirty="0">
                  <a:solidFill>
                    <a:schemeClr val="tx1"/>
                  </a:solidFill>
                  <a:latin typeface="Microsoft YaHei UI Light" panose="020B0502040204020203" pitchFamily="34" charset="-122"/>
                  <a:ea typeface="微软雅黑 Light" panose="020B0502040204020203" pitchFamily="34" charset="-122"/>
                  <a:cs typeface="+mn-ea"/>
                  <a:sym typeface="+mn-lt"/>
                </a:rPr>
                <a:t>其余层的权重随机初始化；</a:t>
              </a:r>
            </a:p>
          </p:txBody>
        </p:sp>
        <p:cxnSp>
          <p:nvCxnSpPr>
            <p:cNvPr id="14" name="直接箭头连接符 13"/>
            <p:cNvCxnSpPr/>
            <p:nvPr/>
          </p:nvCxnSpPr>
          <p:spPr>
            <a:xfrm>
              <a:off x="7234008" y="2214282"/>
              <a:ext cx="0" cy="222811"/>
            </a:xfrm>
            <a:prstGeom prst="straightConnector1">
              <a:avLst/>
            </a:prstGeom>
            <a:noFill/>
            <a:ln w="19050" cap="flat" cmpd="sng">
              <a:solidFill>
                <a:schemeClr val="tx1"/>
              </a:solidFill>
              <a:prstDash val="solid"/>
              <a:round/>
              <a:tailEnd type="triangle"/>
            </a:ln>
            <a:effectLst/>
          </p:spPr>
        </p:cxnSp>
        <p:cxnSp>
          <p:nvCxnSpPr>
            <p:cNvPr id="16" name="直接箭头连接符 15"/>
            <p:cNvCxnSpPr/>
            <p:nvPr/>
          </p:nvCxnSpPr>
          <p:spPr>
            <a:xfrm>
              <a:off x="7234008" y="3019799"/>
              <a:ext cx="0" cy="222811"/>
            </a:xfrm>
            <a:prstGeom prst="straightConnector1">
              <a:avLst/>
            </a:prstGeom>
            <a:noFill/>
            <a:ln w="19050" cap="flat" cmpd="sng">
              <a:solidFill>
                <a:schemeClr val="tx1"/>
              </a:solidFill>
              <a:prstDash val="solid"/>
              <a:round/>
              <a:tailEnd type="triangle"/>
            </a:ln>
            <a:effectLst/>
          </p:spPr>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p>
        </p:txBody>
      </p:sp>
      <p:sp>
        <p:nvSpPr>
          <p:cNvPr id="8" name="内容占位符 2"/>
          <p:cNvSpPr txBox="1"/>
          <p:nvPr/>
        </p:nvSpPr>
        <p:spPr>
          <a:xfrm>
            <a:off x="692849" y="1325207"/>
            <a:ext cx="5779060"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实验结果</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a:blip r:embed="rId5"/>
          <a:stretch>
            <a:fillRect/>
          </a:stretch>
        </p:blipFill>
        <p:spPr>
          <a:xfrm>
            <a:off x="1633853" y="1998155"/>
            <a:ext cx="6331319" cy="2739640"/>
          </a:xfrm>
          <a:prstGeom prst="rect">
            <a:avLst/>
          </a:prstGeom>
        </p:spPr>
      </p:pic>
      <p:sp>
        <p:nvSpPr>
          <p:cNvPr id="10" name="矩形 9"/>
          <p:cNvSpPr/>
          <p:nvPr/>
        </p:nvSpPr>
        <p:spPr>
          <a:xfrm>
            <a:off x="1633853" y="4912479"/>
            <a:ext cx="4649797" cy="156966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600" b="1" dirty="0">
                <a:latin typeface="Microsoft YaHei UI Light" panose="020B0502040204020203" pitchFamily="34" charset="-122"/>
                <a:ea typeface="微软雅黑 Light" panose="020B0502040204020203" pitchFamily="34" charset="-122"/>
                <a:cs typeface="+mn-ea"/>
                <a:sym typeface="+mn-lt"/>
              </a:rPr>
              <a:t>A/A-LRN</a:t>
            </a:r>
            <a:r>
              <a:rPr lang="zh-CN" altLang="en-US" sz="1600" dirty="0">
                <a:latin typeface="Microsoft YaHei UI Light" panose="020B0502040204020203" pitchFamily="34" charset="-122"/>
                <a:ea typeface="微软雅黑 Light" panose="020B0502040204020203" pitchFamily="34" charset="-122"/>
                <a:cs typeface="+mn-ea"/>
                <a:sym typeface="+mn-lt"/>
              </a:rPr>
              <a:t>：加 </a:t>
            </a:r>
            <a:r>
              <a:rPr lang="en-US" altLang="zh-CN" sz="1600" dirty="0">
                <a:latin typeface="Microsoft YaHei UI Light" panose="020B0502040204020203" pitchFamily="34" charset="-122"/>
                <a:ea typeface="微软雅黑 Light" panose="020B0502040204020203" pitchFamily="34" charset="-122"/>
                <a:cs typeface="+mn-ea"/>
                <a:sym typeface="+mn-lt"/>
              </a:rPr>
              <a:t>LRN </a:t>
            </a:r>
            <a:r>
              <a:rPr lang="zh-CN" altLang="en-US" sz="1600" dirty="0">
                <a:latin typeface="Microsoft YaHei UI Light" panose="020B0502040204020203" pitchFamily="34" charset="-122"/>
                <a:ea typeface="微软雅黑 Light" panose="020B0502040204020203" pitchFamily="34" charset="-122"/>
                <a:cs typeface="+mn-ea"/>
                <a:sym typeface="+mn-lt"/>
              </a:rPr>
              <a:t>准确率无明显提升；</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sz="1600" b="1" dirty="0">
                <a:latin typeface="Microsoft YaHei UI Light" panose="020B0502040204020203" pitchFamily="34" charset="-122"/>
                <a:ea typeface="微软雅黑 Light" panose="020B0502040204020203" pitchFamily="34" charset="-122"/>
                <a:cs typeface="+mn-ea"/>
                <a:sym typeface="+mn-lt"/>
              </a:rPr>
              <a:t>A/B/D/E</a:t>
            </a:r>
            <a:r>
              <a:rPr lang="zh-CN" altLang="en-US" sz="1600" dirty="0">
                <a:latin typeface="Microsoft YaHei UI Light" panose="020B0502040204020203" pitchFamily="34" charset="-122"/>
                <a:ea typeface="微软雅黑 Light" panose="020B0502040204020203" pitchFamily="34" charset="-122"/>
                <a:cs typeface="+mn-ea"/>
                <a:sym typeface="+mn-lt"/>
              </a:rPr>
              <a:t>：层数越多准确率越高；</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sz="1600" b="1" dirty="0">
                <a:latin typeface="Microsoft YaHei UI Light" panose="020B0502040204020203" pitchFamily="34" charset="-122"/>
                <a:ea typeface="微软雅黑 Light" panose="020B0502040204020203" pitchFamily="34" charset="-122"/>
                <a:cs typeface="+mn-ea"/>
                <a:sym typeface="+mn-lt"/>
              </a:rPr>
              <a:t>C/D</a:t>
            </a:r>
            <a:r>
              <a:rPr lang="zh-CN" altLang="en-US" sz="1600" dirty="0">
                <a:latin typeface="Microsoft YaHei UI Light" panose="020B0502040204020203" pitchFamily="34" charset="-122"/>
                <a:ea typeface="微软雅黑 Light" panose="020B0502040204020203" pitchFamily="34" charset="-122"/>
                <a:cs typeface="+mn-ea"/>
                <a:sym typeface="+mn-lt"/>
              </a:rPr>
              <a:t>： </a:t>
            </a:r>
            <a:r>
              <a:rPr lang="en-US" altLang="zh-CN" sz="1600" dirty="0">
                <a:latin typeface="Microsoft YaHei UI Light" panose="020B0502040204020203" pitchFamily="34" charset="-122"/>
                <a:ea typeface="微软雅黑 Light" panose="020B0502040204020203" pitchFamily="34" charset="-122"/>
                <a:cs typeface="+mn-ea"/>
                <a:sym typeface="+mn-lt"/>
              </a:rPr>
              <a:t>conv3x3 </a:t>
            </a:r>
            <a:r>
              <a:rPr lang="zh-CN" altLang="en-US" sz="1600" dirty="0">
                <a:latin typeface="Microsoft YaHei UI Light" panose="020B0502040204020203" pitchFamily="34" charset="-122"/>
                <a:ea typeface="微软雅黑 Light" panose="020B0502040204020203" pitchFamily="34" charset="-122"/>
                <a:cs typeface="+mn-ea"/>
                <a:sym typeface="+mn-lt"/>
              </a:rPr>
              <a:t>比 </a:t>
            </a:r>
            <a:r>
              <a:rPr lang="en-US" altLang="zh-CN" sz="1600" dirty="0">
                <a:latin typeface="Microsoft YaHei UI Light" panose="020B0502040204020203" pitchFamily="34" charset="-122"/>
                <a:ea typeface="微软雅黑 Light" panose="020B0502040204020203" pitchFamily="34" charset="-122"/>
                <a:cs typeface="+mn-ea"/>
                <a:sym typeface="+mn-lt"/>
              </a:rPr>
              <a:t>conv1x1 </a:t>
            </a:r>
            <a:r>
              <a:rPr lang="zh-CN" altLang="en-US" sz="1600" dirty="0">
                <a:latin typeface="Microsoft YaHei UI Light" panose="020B0502040204020203" pitchFamily="34" charset="-122"/>
                <a:ea typeface="微软雅黑 Light" panose="020B0502040204020203" pitchFamily="34" charset="-122"/>
                <a:cs typeface="+mn-ea"/>
                <a:sym typeface="+mn-lt"/>
              </a:rPr>
              <a:t>得到的准确率高；</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sz="1600" dirty="0">
                <a:latin typeface="Microsoft YaHei UI Light" panose="020B0502040204020203" pitchFamily="34" charset="-122"/>
                <a:ea typeface="微软雅黑 Light" panose="020B0502040204020203" pitchFamily="34" charset="-122"/>
                <a:cs typeface="+mn-ea"/>
                <a:sym typeface="+mn-lt"/>
              </a:rPr>
              <a:t>Multi-scale training </a:t>
            </a:r>
            <a:r>
              <a:rPr lang="zh-CN" altLang="en-US" sz="1600" dirty="0">
                <a:latin typeface="Microsoft YaHei UI Light" panose="020B0502040204020203" pitchFamily="34" charset="-122"/>
                <a:ea typeface="微软雅黑 Light" panose="020B0502040204020203" pitchFamily="34" charset="-122"/>
                <a:cs typeface="+mn-ea"/>
                <a:sym typeface="+mn-lt"/>
              </a:rPr>
              <a:t>可明显提高准确率；</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p>
        </p:txBody>
      </p:sp>
      <p:sp>
        <p:nvSpPr>
          <p:cNvPr id="8" name="内容占位符 2"/>
          <p:cNvSpPr txBox="1"/>
          <p:nvPr/>
        </p:nvSpPr>
        <p:spPr>
          <a:xfrm>
            <a:off x="1653745" y="928979"/>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规整的卷积</a:t>
            </a:r>
            <a:r>
              <a:rPr lang="en-US" altLang="zh-CN" sz="2400" dirty="0">
                <a:latin typeface="Microsoft YaHei UI Light" panose="020B0502040204020203" pitchFamily="34" charset="-122"/>
                <a:ea typeface="微软雅黑 Light" panose="020B0502040204020203" pitchFamily="34" charset="-122"/>
                <a:cs typeface="+mn-ea"/>
                <a:sym typeface="+mn-lt"/>
              </a:rPr>
              <a:t>-</a:t>
            </a:r>
            <a:r>
              <a:rPr lang="zh-CN" altLang="en-US" sz="2400" dirty="0">
                <a:latin typeface="Microsoft YaHei UI Light" panose="020B0502040204020203" pitchFamily="34" charset="-122"/>
                <a:ea typeface="微软雅黑 Light" panose="020B0502040204020203" pitchFamily="34" charset="-122"/>
                <a:cs typeface="+mn-ea"/>
                <a:sym typeface="+mn-lt"/>
              </a:rPr>
              <a:t>池化结构</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grpSp>
        <p:nvGrpSpPr>
          <p:cNvPr id="9" name="组合 8"/>
          <p:cNvGrpSpPr/>
          <p:nvPr/>
        </p:nvGrpSpPr>
        <p:grpSpPr>
          <a:xfrm>
            <a:off x="1653745" y="1676951"/>
            <a:ext cx="5250840" cy="4568536"/>
            <a:chOff x="460375" y="1886534"/>
            <a:chExt cx="5250840" cy="4568536"/>
          </a:xfrm>
        </p:grpSpPr>
        <p:pic>
          <p:nvPicPr>
            <p:cNvPr id="10" name="图片 9"/>
            <p:cNvPicPr>
              <a:picLocks noChangeAspect="1"/>
            </p:cNvPicPr>
            <p:nvPr/>
          </p:nvPicPr>
          <p:blipFill rotWithShape="1">
            <a:blip r:embed="rId5"/>
            <a:srcRect t="675" b="13605"/>
            <a:stretch>
              <a:fillRect/>
            </a:stretch>
          </p:blipFill>
          <p:spPr>
            <a:xfrm>
              <a:off x="460375" y="1886534"/>
              <a:ext cx="5250840" cy="4566802"/>
            </a:xfrm>
            <a:prstGeom prst="rect">
              <a:avLst/>
            </a:prstGeom>
          </p:spPr>
        </p:pic>
        <p:sp>
          <p:nvSpPr>
            <p:cNvPr id="11" name="矩形 10"/>
            <p:cNvSpPr/>
            <p:nvPr/>
          </p:nvSpPr>
          <p:spPr>
            <a:xfrm>
              <a:off x="2497455" y="2640330"/>
              <a:ext cx="1535430" cy="1485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2" name="文本框 11"/>
                <p:cNvSpPr txBox="1"/>
                <p:nvPr/>
              </p:nvSpPr>
              <p:spPr>
                <a:xfrm>
                  <a:off x="3982215" y="2638596"/>
                  <a:ext cx="780663"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0" b="1" i="0" smtClean="0">
                            <a:solidFill>
                              <a:srgbClr val="C00000"/>
                            </a:solidFill>
                            <a:latin typeface="Cambria Math" panose="02040503050406030204" pitchFamily="18" charset="0"/>
                            <a:cs typeface="+mn-ea"/>
                            <a:sym typeface="+mn-lt"/>
                          </a:rPr>
                          <m:t>𝟐𝟐</m:t>
                        </m:r>
                        <m:r>
                          <a:rPr lang="en-US" altLang="zh-CN" sz="900" b="1" i="0">
                            <a:solidFill>
                              <a:srgbClr val="C00000"/>
                            </a:solidFill>
                            <a:latin typeface="Cambria Math" panose="02040503050406030204" pitchFamily="18" charset="0"/>
                            <a:cs typeface="+mn-ea"/>
                            <a:sym typeface="+mn-lt"/>
                          </a:rPr>
                          <m:t>𝟒</m:t>
                        </m:r>
                        <m:r>
                          <a:rPr lang="en-US" altLang="zh-CN" sz="900" b="1" i="0" smtClean="0">
                            <a:solidFill>
                              <a:srgbClr val="C00000"/>
                            </a:solidFill>
                            <a:latin typeface="Cambria Math" panose="02040503050406030204" pitchFamily="18" charset="0"/>
                            <a:cs typeface="+mn-ea"/>
                            <a:sym typeface="+mn-lt"/>
                          </a:rPr>
                          <m:t>×</m:t>
                        </m:r>
                        <m:r>
                          <a:rPr lang="en-US" altLang="zh-CN" sz="900" b="1" i="0">
                            <a:solidFill>
                              <a:srgbClr val="C00000"/>
                            </a:solidFill>
                            <a:latin typeface="Cambria Math" panose="02040503050406030204" pitchFamily="18" charset="0"/>
                            <a:cs typeface="+mn-ea"/>
                            <a:sym typeface="+mn-lt"/>
                          </a:rPr>
                          <m:t>𝟐</m:t>
                        </m:r>
                        <m:r>
                          <a:rPr lang="en-US" altLang="zh-CN" sz="900" b="1" i="0" smtClean="0">
                            <a:solidFill>
                              <a:srgbClr val="C00000"/>
                            </a:solidFill>
                            <a:latin typeface="Cambria Math" panose="02040503050406030204" pitchFamily="18" charset="0"/>
                            <a:cs typeface="+mn-ea"/>
                            <a:sym typeface="+mn-lt"/>
                          </a:rPr>
                          <m:t>𝟐</m:t>
                        </m:r>
                        <m:r>
                          <a:rPr lang="en-US" altLang="zh-CN" sz="900" b="1" i="0">
                            <a:solidFill>
                              <a:srgbClr val="C00000"/>
                            </a:solidFill>
                            <a:latin typeface="Cambria Math" panose="02040503050406030204" pitchFamily="18" charset="0"/>
                            <a:cs typeface="+mn-ea"/>
                            <a:sym typeface="+mn-lt"/>
                          </a:rPr>
                          <m:t>𝟒</m:t>
                        </m:r>
                        <m:r>
                          <a:rPr lang="en-US" altLang="zh-CN" sz="900" b="1" i="0" smtClean="0">
                            <a:solidFill>
                              <a:srgbClr val="C00000"/>
                            </a:solidFill>
                            <a:latin typeface="Cambria Math" panose="02040503050406030204" pitchFamily="18" charset="0"/>
                            <a:cs typeface="+mn-ea"/>
                            <a:sym typeface="+mn-lt"/>
                          </a:rPr>
                          <m:t>×</m:t>
                        </m:r>
                        <m:r>
                          <a:rPr lang="en-US" altLang="zh-CN" sz="900" b="1" i="0">
                            <a:solidFill>
                              <a:srgbClr val="C00000"/>
                            </a:solidFill>
                            <a:latin typeface="Cambria Math" panose="02040503050406030204" pitchFamily="18" charset="0"/>
                            <a:cs typeface="+mn-ea"/>
                            <a:sym typeface="+mn-lt"/>
                          </a:rPr>
                          <m:t>𝟑</m:t>
                        </m:r>
                      </m:oMath>
                    </m:oMathPara>
                  </a14:m>
                  <a:endParaRPr lang="zh-CN" altLang="en-US" sz="9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982215" y="2638596"/>
                  <a:ext cx="780663" cy="138499"/>
                </a:xfrm>
                <a:prstGeom prst="rect">
                  <a:avLst/>
                </a:prstGeom>
                <a:blipFill rotWithShape="1">
                  <a:blip r:embed="rId6"/>
                </a:blipFill>
              </p:spPr>
              <p:txBody>
                <a:bodyPr/>
                <a:lstStyle/>
                <a:p>
                  <a:r>
                    <a:rPr lang="zh-CN" altLang="en-US">
                      <a:noFill/>
                    </a:rPr>
                    <a:t> </a:t>
                  </a:r>
                </a:p>
              </p:txBody>
            </p:sp>
          </mc:Fallback>
        </mc:AlternateContent>
        <p:sp>
          <p:nvSpPr>
            <p:cNvPr id="13" name="矩形 12"/>
            <p:cNvSpPr/>
            <p:nvPr/>
          </p:nvSpPr>
          <p:spPr>
            <a:xfrm>
              <a:off x="3947752" y="2037079"/>
              <a:ext cx="870494" cy="441799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4" name="文本框 13"/>
                <p:cNvSpPr txBox="1"/>
                <p:nvPr/>
              </p:nvSpPr>
              <p:spPr>
                <a:xfrm>
                  <a:off x="3947751" y="3162877"/>
                  <a:ext cx="849592"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0" b="1" i="1" smtClean="0">
                            <a:solidFill>
                              <a:srgbClr val="C00000"/>
                            </a:solidFill>
                            <a:latin typeface="Cambria Math" panose="02040503050406030204" pitchFamily="18" charset="0"/>
                            <a:cs typeface="+mn-ea"/>
                            <a:sym typeface="+mn-lt"/>
                          </a:rPr>
                          <m:t>𝟏</m:t>
                        </m:r>
                        <m:r>
                          <a:rPr lang="en-US" altLang="zh-CN" sz="900" b="1" i="1">
                            <a:solidFill>
                              <a:srgbClr val="C00000"/>
                            </a:solidFill>
                            <a:latin typeface="Cambria Math" panose="02040503050406030204" pitchFamily="18" charset="0"/>
                            <a:cs typeface="+mn-ea"/>
                            <a:sym typeface="+mn-lt"/>
                          </a:rPr>
                          <m:t>𝟏</m:t>
                        </m:r>
                        <m:r>
                          <a:rPr lang="en-US" altLang="zh-CN" sz="900" b="1" i="1" smtClean="0">
                            <a:solidFill>
                              <a:srgbClr val="C00000"/>
                            </a:solidFill>
                            <a:latin typeface="Cambria Math" panose="02040503050406030204" pitchFamily="18" charset="0"/>
                            <a:cs typeface="+mn-ea"/>
                            <a:sym typeface="+mn-lt"/>
                          </a:rPr>
                          <m:t>𝟐</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𝟏</m:t>
                        </m:r>
                        <m:r>
                          <a:rPr lang="en-US" altLang="zh-CN" sz="900" b="1" i="1" smtClean="0">
                            <a:solidFill>
                              <a:srgbClr val="C00000"/>
                            </a:solidFill>
                            <a:latin typeface="Cambria Math" panose="02040503050406030204" pitchFamily="18" charset="0"/>
                            <a:cs typeface="+mn-ea"/>
                            <a:sym typeface="+mn-lt"/>
                          </a:rPr>
                          <m:t>𝟏</m:t>
                        </m:r>
                        <m:r>
                          <a:rPr lang="en-US" altLang="zh-CN" sz="900" b="1" i="1">
                            <a:solidFill>
                              <a:srgbClr val="C00000"/>
                            </a:solidFill>
                            <a:latin typeface="Cambria Math" panose="02040503050406030204" pitchFamily="18" charset="0"/>
                            <a:cs typeface="+mn-ea"/>
                            <a:sym typeface="+mn-lt"/>
                          </a:rPr>
                          <m:t>𝟐</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𝟔</m:t>
                        </m:r>
                        <m:r>
                          <a:rPr lang="en-US" altLang="zh-CN" sz="900" b="1" i="1" smtClean="0">
                            <a:solidFill>
                              <a:srgbClr val="C00000"/>
                            </a:solidFill>
                            <a:latin typeface="Cambria Math" panose="02040503050406030204" pitchFamily="18" charset="0"/>
                            <a:cs typeface="+mn-ea"/>
                            <a:sym typeface="+mn-lt"/>
                          </a:rPr>
                          <m:t>𝟒</m:t>
                        </m:r>
                      </m:oMath>
                    </m:oMathPara>
                  </a14:m>
                  <a:endParaRPr lang="zh-CN" altLang="en-US" sz="9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3947751" y="3162877"/>
                  <a:ext cx="849592" cy="138499"/>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4003687" y="3693254"/>
                  <a:ext cx="780662"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0" b="1" i="1">
                            <a:solidFill>
                              <a:srgbClr val="C00000"/>
                            </a:solidFill>
                            <a:latin typeface="Cambria Math" panose="02040503050406030204" pitchFamily="18" charset="0"/>
                            <a:cs typeface="+mn-ea"/>
                            <a:sym typeface="+mn-lt"/>
                          </a:rPr>
                          <m:t>𝟓</m:t>
                        </m:r>
                        <m:r>
                          <a:rPr lang="en-US" altLang="zh-CN" sz="900" b="1" i="1" smtClean="0">
                            <a:solidFill>
                              <a:srgbClr val="C00000"/>
                            </a:solidFill>
                            <a:latin typeface="Cambria Math" panose="02040503050406030204" pitchFamily="18" charset="0"/>
                            <a:cs typeface="+mn-ea"/>
                            <a:sym typeface="+mn-lt"/>
                          </a:rPr>
                          <m:t>𝟔</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𝟓</m:t>
                        </m:r>
                        <m:r>
                          <a:rPr lang="en-US" altLang="zh-CN" sz="900" b="1" i="1" smtClean="0">
                            <a:solidFill>
                              <a:srgbClr val="C00000"/>
                            </a:solidFill>
                            <a:latin typeface="Cambria Math" panose="02040503050406030204" pitchFamily="18" charset="0"/>
                            <a:cs typeface="+mn-ea"/>
                            <a:sym typeface="+mn-lt"/>
                          </a:rPr>
                          <m:t>𝟔</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𝟏</m:t>
                        </m:r>
                        <m:r>
                          <a:rPr lang="en-US" altLang="zh-CN" sz="900" b="1" i="1" smtClean="0">
                            <a:solidFill>
                              <a:srgbClr val="C00000"/>
                            </a:solidFill>
                            <a:latin typeface="Cambria Math" panose="02040503050406030204" pitchFamily="18" charset="0"/>
                            <a:cs typeface="+mn-ea"/>
                            <a:sym typeface="+mn-lt"/>
                          </a:rPr>
                          <m:t>𝟐</m:t>
                        </m:r>
                        <m:r>
                          <a:rPr lang="en-US" altLang="zh-CN" sz="900" b="1" i="1">
                            <a:solidFill>
                              <a:srgbClr val="C00000"/>
                            </a:solidFill>
                            <a:latin typeface="Cambria Math" panose="02040503050406030204" pitchFamily="18" charset="0"/>
                            <a:cs typeface="+mn-ea"/>
                            <a:sym typeface="+mn-lt"/>
                          </a:rPr>
                          <m:t>𝟖</m:t>
                        </m:r>
                      </m:oMath>
                    </m:oMathPara>
                  </a14:m>
                  <a:endParaRPr lang="zh-CN" altLang="en-US" sz="9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4003687" y="3693254"/>
                  <a:ext cx="780662" cy="138499"/>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3992668" y="4551878"/>
                  <a:ext cx="780662"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0" b="1" i="1" smtClean="0">
                            <a:solidFill>
                              <a:srgbClr val="C00000"/>
                            </a:solidFill>
                            <a:latin typeface="Cambria Math" panose="02040503050406030204" pitchFamily="18" charset="0"/>
                            <a:cs typeface="+mn-ea"/>
                            <a:sym typeface="+mn-lt"/>
                          </a:rPr>
                          <m:t>𝟐</m:t>
                        </m:r>
                        <m:r>
                          <a:rPr lang="en-US" altLang="zh-CN" sz="900" b="1" i="1">
                            <a:solidFill>
                              <a:srgbClr val="C00000"/>
                            </a:solidFill>
                            <a:latin typeface="Cambria Math" panose="02040503050406030204" pitchFamily="18" charset="0"/>
                            <a:cs typeface="+mn-ea"/>
                            <a:sym typeface="+mn-lt"/>
                          </a:rPr>
                          <m:t>𝟖</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𝟐</m:t>
                        </m:r>
                        <m:r>
                          <a:rPr lang="en-US" altLang="zh-CN" sz="900" b="1" i="1" smtClean="0">
                            <a:solidFill>
                              <a:srgbClr val="C00000"/>
                            </a:solidFill>
                            <a:latin typeface="Cambria Math" panose="02040503050406030204" pitchFamily="18" charset="0"/>
                            <a:cs typeface="+mn-ea"/>
                            <a:sym typeface="+mn-lt"/>
                          </a:rPr>
                          <m:t>𝟖</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𝟐</m:t>
                        </m:r>
                        <m:r>
                          <a:rPr lang="en-US" altLang="zh-CN" sz="900" b="1" i="1" smtClean="0">
                            <a:solidFill>
                              <a:srgbClr val="C00000"/>
                            </a:solidFill>
                            <a:latin typeface="Cambria Math" panose="02040503050406030204" pitchFamily="18" charset="0"/>
                            <a:cs typeface="+mn-ea"/>
                            <a:sym typeface="+mn-lt"/>
                          </a:rPr>
                          <m:t>𝟓</m:t>
                        </m:r>
                        <m:r>
                          <a:rPr lang="en-US" altLang="zh-CN" sz="900" b="1" i="1">
                            <a:solidFill>
                              <a:srgbClr val="C00000"/>
                            </a:solidFill>
                            <a:latin typeface="Cambria Math" panose="02040503050406030204" pitchFamily="18" charset="0"/>
                            <a:cs typeface="+mn-ea"/>
                            <a:sym typeface="+mn-lt"/>
                          </a:rPr>
                          <m:t>𝟔</m:t>
                        </m:r>
                      </m:oMath>
                    </m:oMathPara>
                  </a14:m>
                  <a:endParaRPr lang="zh-CN" altLang="en-US" sz="9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3992668" y="4551878"/>
                  <a:ext cx="780662" cy="138499"/>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3992668" y="5425820"/>
                  <a:ext cx="780662"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0" b="1" i="1" smtClean="0">
                            <a:solidFill>
                              <a:srgbClr val="C00000"/>
                            </a:solidFill>
                            <a:latin typeface="Cambria Math" panose="02040503050406030204" pitchFamily="18" charset="0"/>
                            <a:cs typeface="+mn-ea"/>
                            <a:sym typeface="+mn-lt"/>
                          </a:rPr>
                          <m:t>𝟏</m:t>
                        </m:r>
                        <m:r>
                          <a:rPr lang="en-US" altLang="zh-CN" sz="900" b="1" i="1">
                            <a:solidFill>
                              <a:srgbClr val="C00000"/>
                            </a:solidFill>
                            <a:latin typeface="Cambria Math" panose="02040503050406030204" pitchFamily="18" charset="0"/>
                            <a:cs typeface="+mn-ea"/>
                            <a:sym typeface="+mn-lt"/>
                          </a:rPr>
                          <m:t>𝟒</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𝟏</m:t>
                        </m:r>
                        <m:r>
                          <a:rPr lang="en-US" altLang="zh-CN" sz="900" b="1" i="1" smtClean="0">
                            <a:solidFill>
                              <a:srgbClr val="C00000"/>
                            </a:solidFill>
                            <a:latin typeface="Cambria Math" panose="02040503050406030204" pitchFamily="18" charset="0"/>
                            <a:cs typeface="+mn-ea"/>
                            <a:sym typeface="+mn-lt"/>
                          </a:rPr>
                          <m:t>𝟒</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𝟓</m:t>
                        </m:r>
                        <m:r>
                          <a:rPr lang="en-US" altLang="zh-CN" sz="900" b="1" i="1" smtClean="0">
                            <a:solidFill>
                              <a:srgbClr val="C00000"/>
                            </a:solidFill>
                            <a:latin typeface="Cambria Math" panose="02040503050406030204" pitchFamily="18" charset="0"/>
                            <a:cs typeface="+mn-ea"/>
                            <a:sym typeface="+mn-lt"/>
                          </a:rPr>
                          <m:t>𝟏</m:t>
                        </m:r>
                        <m:r>
                          <a:rPr lang="en-US" altLang="zh-CN" sz="900" b="1" i="1">
                            <a:solidFill>
                              <a:srgbClr val="C00000"/>
                            </a:solidFill>
                            <a:latin typeface="Cambria Math" panose="02040503050406030204" pitchFamily="18" charset="0"/>
                            <a:cs typeface="+mn-ea"/>
                            <a:sym typeface="+mn-lt"/>
                          </a:rPr>
                          <m:t>𝟐</m:t>
                        </m:r>
                      </m:oMath>
                    </m:oMathPara>
                  </a14:m>
                  <a:endParaRPr lang="zh-CN" altLang="en-US" sz="9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3992668" y="5425820"/>
                  <a:ext cx="780662" cy="138499"/>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4032885" y="6299762"/>
                  <a:ext cx="642805" cy="1384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0" b="1" i="1">
                            <a:solidFill>
                              <a:srgbClr val="C00000"/>
                            </a:solidFill>
                            <a:latin typeface="Cambria Math" panose="02040503050406030204" pitchFamily="18" charset="0"/>
                            <a:cs typeface="+mn-ea"/>
                            <a:sym typeface="+mn-lt"/>
                          </a:rPr>
                          <m:t>𝟕</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𝟕</m:t>
                        </m:r>
                        <m:r>
                          <a:rPr lang="en-US" altLang="zh-CN" sz="900" b="1" i="0" smtClean="0">
                            <a:solidFill>
                              <a:srgbClr val="C00000"/>
                            </a:solidFill>
                            <a:latin typeface="Cambria Math" panose="02040503050406030204" pitchFamily="18" charset="0"/>
                            <a:cs typeface="+mn-ea"/>
                            <a:sym typeface="+mn-lt"/>
                          </a:rPr>
                          <m:t>×</m:t>
                        </m:r>
                        <m:r>
                          <a:rPr lang="en-US" altLang="zh-CN" sz="900" b="1" i="1">
                            <a:solidFill>
                              <a:srgbClr val="C00000"/>
                            </a:solidFill>
                            <a:latin typeface="Cambria Math" panose="02040503050406030204" pitchFamily="18" charset="0"/>
                            <a:cs typeface="+mn-ea"/>
                            <a:sym typeface="+mn-lt"/>
                          </a:rPr>
                          <m:t>𝟓</m:t>
                        </m:r>
                        <m:r>
                          <a:rPr lang="en-US" altLang="zh-CN" sz="900" b="1" i="1" smtClean="0">
                            <a:solidFill>
                              <a:srgbClr val="C00000"/>
                            </a:solidFill>
                            <a:latin typeface="Cambria Math" panose="02040503050406030204" pitchFamily="18" charset="0"/>
                            <a:cs typeface="+mn-ea"/>
                            <a:sym typeface="+mn-lt"/>
                          </a:rPr>
                          <m:t>𝟏</m:t>
                        </m:r>
                        <m:r>
                          <a:rPr lang="en-US" altLang="zh-CN" sz="900" b="1" i="1">
                            <a:solidFill>
                              <a:srgbClr val="C00000"/>
                            </a:solidFill>
                            <a:latin typeface="Cambria Math" panose="02040503050406030204" pitchFamily="18" charset="0"/>
                            <a:cs typeface="+mn-ea"/>
                            <a:sym typeface="+mn-lt"/>
                          </a:rPr>
                          <m:t>𝟐</m:t>
                        </m:r>
                      </m:oMath>
                    </m:oMathPara>
                  </a14:m>
                  <a:endParaRPr lang="zh-CN" altLang="en-US" sz="900" b="1" dirty="0">
                    <a:solidFill>
                      <a:srgbClr val="C00000"/>
                    </a:solidFill>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4032885" y="6299762"/>
                  <a:ext cx="642805" cy="138499"/>
                </a:xfrm>
                <a:prstGeom prst="rect">
                  <a:avLst/>
                </a:prstGeom>
                <a:blipFill rotWithShape="1">
                  <a:blip r:embed="rId11"/>
                </a:blipFill>
              </p:spPr>
              <p:txBody>
                <a:bodyPr/>
                <a:lstStyle/>
                <a:p>
                  <a:r>
                    <a:rPr lang="zh-CN" altLang="en-US">
                      <a:noFill/>
                    </a:rPr>
                    <a:t> </a:t>
                  </a:r>
                </a:p>
              </p:txBody>
            </p:sp>
          </mc:Fallback>
        </mc:AlternateContent>
      </p:grpSp>
      <p:sp>
        <p:nvSpPr>
          <p:cNvPr id="21" name="内容占位符 2"/>
          <p:cNvSpPr txBox="1"/>
          <p:nvPr/>
        </p:nvSpPr>
        <p:spPr>
          <a:xfrm>
            <a:off x="6936880" y="1405080"/>
            <a:ext cx="2950796" cy="57530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800" b="1" dirty="0" err="1">
                <a:latin typeface="Microsoft YaHei UI Light" panose="020B0502040204020203" pitchFamily="34" charset="-122"/>
                <a:ea typeface="微软雅黑 Light" panose="020B0502040204020203" pitchFamily="34" charset="-122"/>
                <a:cs typeface="+mn-ea"/>
                <a:sym typeface="+mn-lt"/>
              </a:rPr>
              <a:t>Conv</a:t>
            </a:r>
            <a:endParaRPr lang="en-US" altLang="zh-CN" sz="1800" b="1" dirty="0">
              <a:latin typeface="Microsoft YaHei UI Light" panose="020B0502040204020203" pitchFamily="34" charset="-122"/>
              <a:ea typeface="微软雅黑 Light" panose="020B0502040204020203" pitchFamily="34" charset="-122"/>
              <a:cs typeface="+mn-ea"/>
              <a:sym typeface="+mn-lt"/>
            </a:endParaRPr>
          </a:p>
        </p:txBody>
      </p:sp>
      <p:sp>
        <p:nvSpPr>
          <p:cNvPr id="22" name="矩形 21"/>
          <p:cNvSpPr/>
          <p:nvPr/>
        </p:nvSpPr>
        <p:spPr>
          <a:xfrm>
            <a:off x="6963992" y="1852590"/>
            <a:ext cx="3403754" cy="170816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latin typeface="Microsoft YaHei UI Light" panose="020B0502040204020203" pitchFamily="34" charset="-122"/>
                <a:ea typeface="微软雅黑 Light" panose="020B0502040204020203" pitchFamily="34" charset="-122"/>
                <a:cs typeface="+mn-ea"/>
                <a:sym typeface="+mn-lt"/>
              </a:rPr>
              <a:t>所有卷积层</a:t>
            </a:r>
            <a:r>
              <a:rPr lang="en-US" altLang="zh-CN" sz="1400" dirty="0">
                <a:latin typeface="Microsoft YaHei UI Light" panose="020B0502040204020203" pitchFamily="34" charset="-122"/>
                <a:ea typeface="微软雅黑 Light" panose="020B0502040204020203" pitchFamily="34" charset="-122"/>
                <a:cs typeface="+mn-ea"/>
                <a:sym typeface="+mn-lt"/>
              </a:rPr>
              <a:t>filter</a:t>
            </a:r>
            <a:r>
              <a:rPr lang="zh-CN" altLang="en-US" sz="1400" dirty="0">
                <a:latin typeface="Microsoft YaHei UI Light" panose="020B0502040204020203" pitchFamily="34" charset="-122"/>
                <a:ea typeface="微软雅黑 Light" panose="020B0502040204020203" pitchFamily="34" charset="-122"/>
                <a:cs typeface="+mn-ea"/>
                <a:sym typeface="+mn-lt"/>
              </a:rPr>
              <a:t>大小</a:t>
            </a:r>
            <a:r>
              <a:rPr lang="en-US" altLang="zh-CN" sz="1400" dirty="0">
                <a:latin typeface="Microsoft YaHei UI Light" panose="020B0502040204020203" pitchFamily="34" charset="-122"/>
                <a:ea typeface="微软雅黑 Light" panose="020B0502040204020203" pitchFamily="34" charset="-122"/>
                <a:cs typeface="+mn-ea"/>
                <a:sym typeface="+mn-lt"/>
              </a:rPr>
              <a:t>/stride/pad</a:t>
            </a:r>
            <a:r>
              <a:rPr lang="zh-CN" altLang="en-US" sz="1400" dirty="0">
                <a:latin typeface="Microsoft YaHei UI Light" panose="020B0502040204020203" pitchFamily="34" charset="-122"/>
                <a:ea typeface="微软雅黑 Light" panose="020B0502040204020203" pitchFamily="34" charset="-122"/>
                <a:cs typeface="+mn-ea"/>
                <a:sym typeface="+mn-lt"/>
              </a:rPr>
              <a:t>相同；</a:t>
            </a:r>
            <a:endParaRPr lang="en-US" altLang="zh-CN" sz="14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sz="1400" u="sng" dirty="0">
                <a:latin typeface="Microsoft YaHei UI Light" panose="020B0502040204020203" pitchFamily="34" charset="-122"/>
                <a:ea typeface="微软雅黑 Light" panose="020B0502040204020203" pitchFamily="34" charset="-122"/>
                <a:cs typeface="+mn-ea"/>
                <a:sym typeface="+mn-lt"/>
              </a:rPr>
              <a:t>filter=3*3,  stride=1,  pad=SAME</a:t>
            </a:r>
            <a:r>
              <a:rPr lang="zh-CN" altLang="en-US" sz="1400" dirty="0">
                <a:latin typeface="Microsoft YaHei UI Light" panose="020B0502040204020203" pitchFamily="34" charset="-122"/>
                <a:ea typeface="微软雅黑 Light" panose="020B0502040204020203" pitchFamily="34" charset="-122"/>
                <a:cs typeface="+mn-ea"/>
                <a:sym typeface="+mn-lt"/>
              </a:rPr>
              <a:t>；</a:t>
            </a:r>
            <a:endParaRPr lang="en-US" altLang="zh-CN" sz="1400" dirty="0">
              <a:latin typeface="Microsoft YaHei UI Light" panose="020B0502040204020203" pitchFamily="34" charset="-122"/>
              <a:ea typeface="微软雅黑 Light" panose="020B0502040204020203" pitchFamily="34" charset="-122"/>
              <a:cs typeface="+mn-ea"/>
              <a:sym typeface="+mn-lt"/>
            </a:endParaRPr>
          </a:p>
          <a:p>
            <a:pPr marL="742950" lvl="1" indent="-285750">
              <a:lnSpc>
                <a:spcPct val="150000"/>
              </a:lnSpc>
              <a:buFont typeface="Arial" panose="020B0604020202020204" pitchFamily="34" charset="0"/>
              <a:buChar char="•"/>
            </a:pPr>
            <a:r>
              <a:rPr lang="en-US" altLang="zh-CN" sz="1400" dirty="0">
                <a:latin typeface="Microsoft YaHei UI Light" panose="020B0502040204020203" pitchFamily="34" charset="-122"/>
                <a:ea typeface="微软雅黑 Light" panose="020B0502040204020203" pitchFamily="34" charset="-122"/>
                <a:cs typeface="+mn-ea"/>
                <a:sym typeface="+mn-lt"/>
              </a:rPr>
              <a:t>pad=SAME</a:t>
            </a:r>
            <a:r>
              <a:rPr lang="zh-CN" altLang="en-US" sz="1400" dirty="0">
                <a:latin typeface="Microsoft YaHei UI Light" panose="020B0502040204020203" pitchFamily="34" charset="-122"/>
                <a:ea typeface="微软雅黑 Light" panose="020B0502040204020203" pitchFamily="34" charset="-122"/>
                <a:cs typeface="+mn-ea"/>
                <a:sym typeface="+mn-lt"/>
              </a:rPr>
              <a:t>：补</a:t>
            </a:r>
            <a:r>
              <a:rPr lang="en-US" altLang="zh-CN" sz="1400" dirty="0">
                <a:latin typeface="Microsoft YaHei UI Light" panose="020B0502040204020203" pitchFamily="34" charset="-122"/>
                <a:ea typeface="微软雅黑 Light" panose="020B0502040204020203" pitchFamily="34" charset="-122"/>
                <a:cs typeface="+mn-ea"/>
                <a:sym typeface="+mn-lt"/>
              </a:rPr>
              <a:t>pad</a:t>
            </a:r>
            <a:r>
              <a:rPr lang="zh-CN" altLang="en-US" sz="1400" dirty="0">
                <a:latin typeface="Microsoft YaHei UI Light" panose="020B0502040204020203" pitchFamily="34" charset="-122"/>
                <a:ea typeface="微软雅黑 Light" panose="020B0502040204020203" pitchFamily="34" charset="-122"/>
                <a:cs typeface="+mn-ea"/>
                <a:sym typeface="+mn-lt"/>
              </a:rPr>
              <a:t>至输出图像大小等于输入图像大小</a:t>
            </a:r>
            <a:endParaRPr lang="en-US" altLang="zh-CN" sz="1400" dirty="0">
              <a:latin typeface="Microsoft YaHei UI Light" panose="020B0502040204020203" pitchFamily="34" charset="-122"/>
              <a:ea typeface="微软雅黑 Light" panose="020B0502040204020203" pitchFamily="34" charset="-122"/>
              <a:cs typeface="+mn-ea"/>
              <a:sym typeface="+mn-lt"/>
            </a:endParaRPr>
          </a:p>
          <a:p>
            <a:pPr marL="742950" lvl="1" indent="-285750">
              <a:lnSpc>
                <a:spcPct val="150000"/>
              </a:lnSpc>
              <a:buFont typeface="Arial" panose="020B0604020202020204" pitchFamily="34" charset="0"/>
              <a:buChar char="•"/>
            </a:pPr>
            <a:r>
              <a:rPr lang="en-US" altLang="zh-CN" sz="1400" dirty="0">
                <a:latin typeface="Microsoft YaHei UI Light" panose="020B0502040204020203" pitchFamily="34" charset="-122"/>
                <a:ea typeface="微软雅黑 Light" panose="020B0502040204020203" pitchFamily="34" charset="-122"/>
                <a:cs typeface="+mn-ea"/>
                <a:sym typeface="+mn-lt"/>
              </a:rPr>
              <a:t>pad=VALID</a:t>
            </a:r>
            <a:r>
              <a:rPr lang="zh-CN" altLang="en-US" sz="1400" dirty="0">
                <a:latin typeface="Microsoft YaHei UI Light" panose="020B0502040204020203" pitchFamily="34" charset="-122"/>
                <a:ea typeface="微软雅黑 Light" panose="020B0502040204020203" pitchFamily="34" charset="-122"/>
                <a:cs typeface="+mn-ea"/>
                <a:sym typeface="+mn-lt"/>
              </a:rPr>
              <a:t>：</a:t>
            </a:r>
            <a:r>
              <a:rPr lang="en-US" altLang="zh-CN" sz="1400" dirty="0">
                <a:latin typeface="Microsoft YaHei UI Light" panose="020B0502040204020203" pitchFamily="34" charset="-122"/>
                <a:ea typeface="微软雅黑 Light" panose="020B0502040204020203" pitchFamily="34" charset="-122"/>
                <a:cs typeface="+mn-ea"/>
                <a:sym typeface="+mn-lt"/>
              </a:rPr>
              <a:t>pad=0</a:t>
            </a:r>
            <a:r>
              <a:rPr lang="zh-CN" altLang="en-US" sz="1400" dirty="0">
                <a:latin typeface="Microsoft YaHei UI Light" panose="020B0502040204020203" pitchFamily="34" charset="-122"/>
                <a:ea typeface="微软雅黑 Light" panose="020B0502040204020203" pitchFamily="34" charset="-122"/>
                <a:cs typeface="+mn-ea"/>
                <a:sym typeface="+mn-lt"/>
              </a:rPr>
              <a:t>；</a:t>
            </a:r>
            <a:endParaRPr lang="en-US" altLang="zh-CN" sz="1400" dirty="0">
              <a:latin typeface="Microsoft YaHei UI Light" panose="020B0502040204020203" pitchFamily="34" charset="-122"/>
              <a:ea typeface="微软雅黑 Light" panose="020B0502040204020203" pitchFamily="34" charset="-122"/>
              <a:cs typeface="+mn-ea"/>
              <a:sym typeface="+mn-lt"/>
            </a:endParaRPr>
          </a:p>
        </p:txBody>
      </p:sp>
      <p:sp>
        <p:nvSpPr>
          <p:cNvPr id="23" name="内容占位符 2"/>
          <p:cNvSpPr txBox="1"/>
          <p:nvPr/>
        </p:nvSpPr>
        <p:spPr>
          <a:xfrm>
            <a:off x="6954129" y="3625997"/>
            <a:ext cx="2950796" cy="57530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800" b="1" dirty="0" err="1">
                <a:latin typeface="Microsoft YaHei UI Light" panose="020B0502040204020203" pitchFamily="34" charset="-122"/>
                <a:ea typeface="微软雅黑 Light" panose="020B0502040204020203" pitchFamily="34" charset="-122"/>
                <a:cs typeface="+mn-ea"/>
                <a:sym typeface="+mn-lt"/>
              </a:rPr>
              <a:t>Maxpool</a:t>
            </a:r>
            <a:r>
              <a:rPr lang="en-US" altLang="zh-CN" sz="1800" b="1" dirty="0">
                <a:latin typeface="Microsoft YaHei UI Light" panose="020B0502040204020203" pitchFamily="34" charset="-122"/>
                <a:ea typeface="微软雅黑 Light" panose="020B0502040204020203" pitchFamily="34" charset="-122"/>
                <a:cs typeface="+mn-ea"/>
                <a:sym typeface="+mn-lt"/>
              </a:rPr>
              <a:t> </a:t>
            </a:r>
          </a:p>
        </p:txBody>
      </p:sp>
      <p:sp>
        <p:nvSpPr>
          <p:cNvPr id="24" name="矩形 23"/>
          <p:cNvSpPr/>
          <p:nvPr/>
        </p:nvSpPr>
        <p:spPr>
          <a:xfrm>
            <a:off x="6981240" y="4076818"/>
            <a:ext cx="3356129" cy="738664"/>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latin typeface="Microsoft YaHei UI Light" panose="020B0502040204020203" pitchFamily="34" charset="-122"/>
                <a:ea typeface="微软雅黑 Light" panose="020B0502040204020203" pitchFamily="34" charset="-122"/>
                <a:cs typeface="+mn-ea"/>
                <a:sym typeface="+mn-lt"/>
              </a:rPr>
              <a:t>所有池化层</a:t>
            </a:r>
            <a:r>
              <a:rPr lang="en-US" altLang="zh-CN" sz="1400" dirty="0">
                <a:latin typeface="Microsoft YaHei UI Light" panose="020B0502040204020203" pitchFamily="34" charset="-122"/>
                <a:ea typeface="微软雅黑 Light" panose="020B0502040204020203" pitchFamily="34" charset="-122"/>
                <a:cs typeface="+mn-ea"/>
                <a:sym typeface="+mn-lt"/>
              </a:rPr>
              <a:t>filter</a:t>
            </a:r>
            <a:r>
              <a:rPr lang="zh-CN" altLang="en-US" sz="1400" dirty="0">
                <a:latin typeface="Microsoft YaHei UI Light" panose="020B0502040204020203" pitchFamily="34" charset="-122"/>
                <a:ea typeface="微软雅黑 Light" panose="020B0502040204020203" pitchFamily="34" charset="-122"/>
                <a:cs typeface="+mn-ea"/>
                <a:sym typeface="+mn-lt"/>
              </a:rPr>
              <a:t>大小</a:t>
            </a:r>
            <a:r>
              <a:rPr lang="en-US" altLang="zh-CN" sz="1400" dirty="0">
                <a:latin typeface="Microsoft YaHei UI Light" panose="020B0502040204020203" pitchFamily="34" charset="-122"/>
                <a:ea typeface="微软雅黑 Light" panose="020B0502040204020203" pitchFamily="34" charset="-122"/>
                <a:cs typeface="+mn-ea"/>
                <a:sym typeface="+mn-lt"/>
              </a:rPr>
              <a:t>/stride/pad</a:t>
            </a:r>
            <a:r>
              <a:rPr lang="zh-CN" altLang="en-US" sz="1400" dirty="0">
                <a:latin typeface="Microsoft YaHei UI Light" panose="020B0502040204020203" pitchFamily="34" charset="-122"/>
                <a:ea typeface="微软雅黑 Light" panose="020B0502040204020203" pitchFamily="34" charset="-122"/>
                <a:cs typeface="+mn-ea"/>
                <a:sym typeface="+mn-lt"/>
              </a:rPr>
              <a:t>相同；</a:t>
            </a:r>
            <a:endParaRPr lang="en-US" altLang="zh-CN" sz="14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sz="1400" u="sng" dirty="0">
                <a:latin typeface="Microsoft YaHei UI Light" panose="020B0502040204020203" pitchFamily="34" charset="-122"/>
                <a:ea typeface="微软雅黑 Light" panose="020B0502040204020203" pitchFamily="34" charset="-122"/>
                <a:cs typeface="+mn-ea"/>
                <a:sym typeface="+mn-lt"/>
              </a:rPr>
              <a:t>filter=2*2,  stride=2,  pad=0</a:t>
            </a:r>
            <a:r>
              <a:rPr lang="zh-CN" altLang="en-US" sz="1400" dirty="0">
                <a:latin typeface="Microsoft YaHei UI Light" panose="020B0502040204020203" pitchFamily="34" charset="-122"/>
                <a:ea typeface="微软雅黑 Light" panose="020B0502040204020203" pitchFamily="34" charset="-122"/>
                <a:cs typeface="+mn-ea"/>
                <a:sym typeface="+mn-lt"/>
              </a:rPr>
              <a:t>；</a:t>
            </a:r>
            <a:endParaRPr lang="en-US" altLang="zh-CN" sz="1400" dirty="0">
              <a:latin typeface="Microsoft YaHei UI Light" panose="020B0502040204020203" pitchFamily="34" charset="-122"/>
              <a:ea typeface="微软雅黑 Light" panose="020B0502040204020203" pitchFamily="34" charset="-122"/>
              <a:cs typeface="+mn-ea"/>
              <a:sym typeface="+mn-lt"/>
            </a:endParaRPr>
          </a:p>
        </p:txBody>
      </p:sp>
      <p:sp>
        <p:nvSpPr>
          <p:cNvPr id="25" name="矩形 24"/>
          <p:cNvSpPr/>
          <p:nvPr/>
        </p:nvSpPr>
        <p:spPr>
          <a:xfrm>
            <a:off x="7217978" y="5110972"/>
            <a:ext cx="2669698" cy="1186741"/>
          </a:xfrm>
          <a:prstGeom prst="rect">
            <a:avLst/>
          </a:prstGeom>
          <a:solidFill>
            <a:schemeClr val="accent3">
              <a:lumMod val="40000"/>
              <a:lumOff val="60000"/>
            </a:schemeClr>
          </a:solidFill>
          <a:ln w="381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00" b="1" dirty="0">
                <a:solidFill>
                  <a:schemeClr val="tx1"/>
                </a:solidFill>
                <a:latin typeface="Microsoft YaHei UI Light" panose="020B0502040204020203" pitchFamily="34" charset="-122"/>
                <a:ea typeface="微软雅黑 Light" panose="020B0502040204020203" pitchFamily="34" charset="-122"/>
                <a:cs typeface="+mn-ea"/>
                <a:sym typeface="+mn-lt"/>
              </a:rPr>
              <a:t>    卷积层：负责数据体深度变换</a:t>
            </a:r>
            <a:endParaRPr lang="en-US" altLang="zh-CN" sz="1300" b="1" dirty="0">
              <a:solidFill>
                <a:schemeClr val="tx1"/>
              </a:solidFill>
              <a:latin typeface="Microsoft YaHei UI Light" panose="020B0502040204020203" pitchFamily="34" charset="-122"/>
              <a:ea typeface="微软雅黑 Light" panose="020B0502040204020203" pitchFamily="34" charset="-122"/>
              <a:cs typeface="+mn-ea"/>
              <a:sym typeface="+mn-lt"/>
            </a:endParaRPr>
          </a:p>
          <a:p>
            <a:r>
              <a:rPr lang="zh-CN" altLang="en-US" sz="1300" b="1" dirty="0">
                <a:solidFill>
                  <a:schemeClr val="tx1"/>
                </a:solidFill>
                <a:latin typeface="Microsoft YaHei UI Light" panose="020B0502040204020203" pitchFamily="34" charset="-122"/>
                <a:ea typeface="微软雅黑 Light" panose="020B0502040204020203" pitchFamily="34" charset="-122"/>
                <a:cs typeface="+mn-ea"/>
                <a:sym typeface="+mn-lt"/>
              </a:rPr>
              <a:t>                （控制特征图数量）</a:t>
            </a:r>
            <a:endParaRPr lang="en-US" altLang="zh-CN" sz="1300" b="1" dirty="0">
              <a:solidFill>
                <a:schemeClr val="tx1"/>
              </a:solidFill>
              <a:latin typeface="Microsoft YaHei UI Light" panose="020B0502040204020203" pitchFamily="34" charset="-122"/>
              <a:ea typeface="微软雅黑 Light" panose="020B0502040204020203" pitchFamily="34" charset="-122"/>
              <a:cs typeface="+mn-ea"/>
              <a:sym typeface="+mn-lt"/>
            </a:endParaRPr>
          </a:p>
          <a:p>
            <a:endParaRPr lang="en-US" altLang="zh-CN" sz="1300" b="1" dirty="0">
              <a:solidFill>
                <a:schemeClr val="tx1"/>
              </a:solidFill>
              <a:latin typeface="Microsoft YaHei UI Light" panose="020B0502040204020203" pitchFamily="34" charset="-122"/>
              <a:ea typeface="微软雅黑 Light" panose="020B0502040204020203" pitchFamily="34" charset="-122"/>
              <a:cs typeface="+mn-ea"/>
              <a:sym typeface="+mn-lt"/>
            </a:endParaRPr>
          </a:p>
          <a:p>
            <a:r>
              <a:rPr lang="zh-CN" altLang="en-US" sz="1300" b="1" dirty="0">
                <a:solidFill>
                  <a:schemeClr val="tx1"/>
                </a:solidFill>
                <a:latin typeface="Microsoft YaHei UI Light" panose="020B0502040204020203" pitchFamily="34" charset="-122"/>
                <a:ea typeface="微软雅黑 Light" panose="020B0502040204020203" pitchFamily="34" charset="-122"/>
                <a:cs typeface="+mn-ea"/>
                <a:sym typeface="+mn-lt"/>
              </a:rPr>
              <a:t>    池化层：负责数据体长宽变换</a:t>
            </a:r>
            <a:endParaRPr lang="en-US" altLang="zh-CN" sz="1300" b="1" dirty="0">
              <a:solidFill>
                <a:schemeClr val="tx1"/>
              </a:solidFill>
              <a:latin typeface="Microsoft YaHei UI Light" panose="020B0502040204020203" pitchFamily="34" charset="-122"/>
              <a:ea typeface="微软雅黑 Light" panose="020B0502040204020203" pitchFamily="34" charset="-122"/>
              <a:cs typeface="+mn-ea"/>
              <a:sym typeface="+mn-lt"/>
            </a:endParaRPr>
          </a:p>
          <a:p>
            <a:r>
              <a:rPr lang="en-US" altLang="zh-CN" sz="1300" b="1" dirty="0">
                <a:solidFill>
                  <a:schemeClr val="tx1"/>
                </a:solidFill>
                <a:latin typeface="Microsoft YaHei UI Light" panose="020B0502040204020203" pitchFamily="34" charset="-122"/>
                <a:ea typeface="微软雅黑 Light" panose="020B0502040204020203" pitchFamily="34" charset="-122"/>
                <a:cs typeface="+mn-ea"/>
                <a:sym typeface="+mn-lt"/>
              </a:rPr>
              <a:t>                </a:t>
            </a:r>
            <a:r>
              <a:rPr lang="zh-CN" altLang="en-US" sz="1300" b="1" dirty="0">
                <a:solidFill>
                  <a:schemeClr val="tx1"/>
                </a:solidFill>
                <a:latin typeface="Microsoft YaHei UI Light" panose="020B0502040204020203" pitchFamily="34" charset="-122"/>
                <a:ea typeface="微软雅黑 Light" panose="020B0502040204020203" pitchFamily="34" charset="-122"/>
                <a:cs typeface="+mn-ea"/>
                <a:sym typeface="+mn-lt"/>
              </a:rPr>
              <a:t>（控制特征图大小）</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p>
        </p:txBody>
      </p:sp>
      <p:sp>
        <p:nvSpPr>
          <p:cNvPr id="8" name="内容占位符 2"/>
          <p:cNvSpPr txBox="1"/>
          <p:nvPr/>
        </p:nvSpPr>
        <p:spPr>
          <a:xfrm>
            <a:off x="1700239" y="969900"/>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规整的</a:t>
            </a:r>
            <a:r>
              <a:rPr lang="en-US" altLang="zh-CN" sz="2400" dirty="0">
                <a:latin typeface="Microsoft YaHei UI Light" panose="020B0502040204020203" pitchFamily="34" charset="-122"/>
                <a:ea typeface="微软雅黑 Light" panose="020B0502040204020203" pitchFamily="34" charset="-122"/>
                <a:cs typeface="+mn-ea"/>
                <a:sym typeface="+mn-lt"/>
              </a:rPr>
              <a:t>&lt;</a:t>
            </a:r>
            <a:r>
              <a:rPr lang="zh-CN" altLang="en-US" sz="2400" dirty="0">
                <a:latin typeface="Microsoft YaHei UI Light" panose="020B0502040204020203" pitchFamily="34" charset="-122"/>
                <a:ea typeface="微软雅黑 Light" panose="020B0502040204020203" pitchFamily="34" charset="-122"/>
                <a:cs typeface="+mn-ea"/>
                <a:sym typeface="+mn-lt"/>
              </a:rPr>
              <a:t>卷积</a:t>
            </a:r>
            <a:r>
              <a:rPr lang="en-US" altLang="zh-CN" sz="2400" dirty="0">
                <a:latin typeface="Microsoft YaHei UI Light" panose="020B0502040204020203" pitchFamily="34" charset="-122"/>
                <a:ea typeface="微软雅黑 Light" panose="020B0502040204020203" pitchFamily="34" charset="-122"/>
                <a:cs typeface="+mn-ea"/>
                <a:sym typeface="+mn-lt"/>
              </a:rPr>
              <a:t>-</a:t>
            </a:r>
            <a:r>
              <a:rPr lang="zh-CN" altLang="en-US" sz="2400" dirty="0">
                <a:latin typeface="Microsoft YaHei UI Light" panose="020B0502040204020203" pitchFamily="34" charset="-122"/>
                <a:ea typeface="微软雅黑 Light" panose="020B0502040204020203" pitchFamily="34" charset="-122"/>
                <a:cs typeface="+mn-ea"/>
                <a:sym typeface="+mn-lt"/>
              </a:rPr>
              <a:t>池化</a:t>
            </a:r>
            <a:r>
              <a:rPr lang="en-US" altLang="zh-CN" sz="2400" dirty="0">
                <a:latin typeface="Microsoft YaHei UI Light" panose="020B0502040204020203" pitchFamily="34" charset="-122"/>
                <a:ea typeface="微软雅黑 Light" panose="020B0502040204020203" pitchFamily="34" charset="-122"/>
                <a:cs typeface="+mn-ea"/>
                <a:sym typeface="+mn-lt"/>
              </a:rPr>
              <a:t>&gt;</a:t>
            </a:r>
            <a:r>
              <a:rPr lang="zh-CN" altLang="en-US" sz="2400" dirty="0">
                <a:latin typeface="Microsoft YaHei UI Light" panose="020B0502040204020203" pitchFamily="34" charset="-122"/>
                <a:ea typeface="微软雅黑 Light" panose="020B0502040204020203" pitchFamily="34" charset="-122"/>
                <a:cs typeface="+mn-ea"/>
                <a:sym typeface="+mn-lt"/>
              </a:rPr>
              <a:t>结构</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1720212" y="1604760"/>
            <a:ext cx="8173381"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多层小卷积比单层大卷积效果好</a:t>
            </a:r>
            <a:r>
              <a:rPr lang="en-US" altLang="zh-CN" dirty="0">
                <a:latin typeface="Microsoft YaHei UI Light" panose="020B0502040204020203" pitchFamily="34" charset="-122"/>
                <a:ea typeface="微软雅黑 Light" panose="020B0502040204020203" pitchFamily="34" charset="-122"/>
                <a:cs typeface="+mn-ea"/>
                <a:sym typeface="+mn-lt"/>
              </a:rPr>
              <a:t>;</a:t>
            </a: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实验：对 </a:t>
            </a:r>
            <a:r>
              <a:rPr lang="en-US" altLang="zh-CN" dirty="0">
                <a:latin typeface="Microsoft YaHei UI Light" panose="020B0502040204020203" pitchFamily="34" charset="-122"/>
                <a:ea typeface="微软雅黑 Light" panose="020B0502040204020203" pitchFamily="34" charset="-122"/>
                <a:cs typeface="+mn-ea"/>
                <a:sym typeface="+mn-lt"/>
              </a:rPr>
              <a:t>VGG13(</a:t>
            </a:r>
            <a:r>
              <a:rPr lang="zh-CN" altLang="en-US" dirty="0">
                <a:latin typeface="Microsoft YaHei UI Light" panose="020B0502040204020203" pitchFamily="34" charset="-122"/>
                <a:ea typeface="微软雅黑 Light" panose="020B0502040204020203" pitchFamily="34" charset="-122"/>
                <a:cs typeface="+mn-ea"/>
                <a:sym typeface="+mn-lt"/>
              </a:rPr>
              <a:t>上表</a:t>
            </a:r>
            <a:r>
              <a:rPr lang="en-US" altLang="zh-CN" dirty="0">
                <a:latin typeface="Microsoft YaHei UI Light" panose="020B0502040204020203" pitchFamily="34" charset="-122"/>
                <a:ea typeface="微软雅黑 Light" panose="020B0502040204020203" pitchFamily="34" charset="-122"/>
                <a:cs typeface="+mn-ea"/>
                <a:sym typeface="+mn-lt"/>
              </a:rPr>
              <a:t>B)</a:t>
            </a:r>
            <a:r>
              <a:rPr lang="zh-CN" altLang="en-US" dirty="0">
                <a:latin typeface="Microsoft YaHei UI Light" panose="020B0502040204020203" pitchFamily="34" charset="-122"/>
                <a:ea typeface="微软雅黑 Light" panose="020B0502040204020203" pitchFamily="34" charset="-122"/>
                <a:cs typeface="+mn-ea"/>
                <a:sym typeface="+mn-lt"/>
              </a:rPr>
              <a:t>，使用</a:t>
            </a:r>
            <a:r>
              <a:rPr lang="en-US" altLang="zh-CN" dirty="0">
                <a:latin typeface="Microsoft YaHei UI Light" panose="020B0502040204020203" pitchFamily="34" charset="-122"/>
                <a:ea typeface="微软雅黑 Light" panose="020B0502040204020203" pitchFamily="34" charset="-122"/>
                <a:cs typeface="+mn-ea"/>
                <a:sym typeface="+mn-lt"/>
              </a:rPr>
              <a:t>5x5conv</a:t>
            </a:r>
            <a:r>
              <a:rPr lang="zh-CN" altLang="en-US" dirty="0">
                <a:latin typeface="Microsoft YaHei UI Light" panose="020B0502040204020203" pitchFamily="34" charset="-122"/>
                <a:ea typeface="微软雅黑 Light" panose="020B0502040204020203" pitchFamily="34" charset="-122"/>
                <a:cs typeface="+mn-ea"/>
                <a:sym typeface="+mn-lt"/>
              </a:rPr>
              <a:t>代替两层</a:t>
            </a:r>
            <a:r>
              <a:rPr lang="en-US" altLang="zh-CN" dirty="0" err="1">
                <a:latin typeface="Microsoft YaHei UI Light" panose="020B0502040204020203" pitchFamily="34" charset="-122"/>
                <a:ea typeface="微软雅黑 Light" panose="020B0502040204020203" pitchFamily="34" charset="-122"/>
                <a:cs typeface="+mn-ea"/>
                <a:sym typeface="+mn-lt"/>
              </a:rPr>
              <a:t>3x3conv</a:t>
            </a:r>
            <a:r>
              <a:rPr lang="zh-CN" altLang="en-US" dirty="0">
                <a:latin typeface="Microsoft YaHei UI Light" panose="020B0502040204020203" pitchFamily="34" charset="-122"/>
                <a:ea typeface="微软雅黑 Light" panose="020B0502040204020203" pitchFamily="34" charset="-122"/>
                <a:cs typeface="+mn-ea"/>
                <a:sym typeface="+mn-lt"/>
              </a:rPr>
              <a:t>，进行训练和测试；</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原因：一个</a:t>
            </a:r>
            <a:r>
              <a:rPr lang="en-US" altLang="zh-CN" dirty="0">
                <a:latin typeface="Microsoft YaHei UI Light" panose="020B0502040204020203" pitchFamily="34" charset="-122"/>
                <a:ea typeface="微软雅黑 Light" panose="020B0502040204020203" pitchFamily="34" charset="-122"/>
                <a:cs typeface="+mn-ea"/>
                <a:sym typeface="+mn-lt"/>
              </a:rPr>
              <a:t>5x5conv</a:t>
            </a:r>
            <a:r>
              <a:rPr lang="zh-CN" altLang="en-US" dirty="0">
                <a:latin typeface="Microsoft YaHei UI Light" panose="020B0502040204020203" pitchFamily="34" charset="-122"/>
                <a:ea typeface="微软雅黑 Light" panose="020B0502040204020203" pitchFamily="34" charset="-122"/>
                <a:cs typeface="+mn-ea"/>
                <a:sym typeface="+mn-lt"/>
              </a:rPr>
              <a:t>和两个</a:t>
            </a:r>
            <a:r>
              <a:rPr lang="en-US" altLang="zh-CN" dirty="0">
                <a:latin typeface="Microsoft YaHei UI Light" panose="020B0502040204020203" pitchFamily="34" charset="-122"/>
                <a:ea typeface="微软雅黑 Light" panose="020B0502040204020203" pitchFamily="34" charset="-122"/>
                <a:cs typeface="+mn-ea"/>
                <a:sym typeface="+mn-lt"/>
              </a:rPr>
              <a:t>3x3conv</a:t>
            </a:r>
            <a:r>
              <a:rPr lang="zh-CN" altLang="en-US" dirty="0">
                <a:latin typeface="Microsoft YaHei UI Light" panose="020B0502040204020203" pitchFamily="34" charset="-122"/>
                <a:ea typeface="微软雅黑 Light" panose="020B0502040204020203" pitchFamily="34" charset="-122"/>
                <a:cs typeface="+mn-ea"/>
                <a:sym typeface="+mn-lt"/>
              </a:rPr>
              <a:t>的感受野大小相同；每个卷积层加入</a:t>
            </a:r>
            <a:r>
              <a:rPr lang="en-US" altLang="zh-CN" dirty="0" err="1">
                <a:latin typeface="Microsoft YaHei UI Light" panose="020B0502040204020203" pitchFamily="34" charset="-122"/>
                <a:ea typeface="微软雅黑 Light" panose="020B0502040204020203" pitchFamily="34" charset="-122"/>
                <a:cs typeface="+mn-ea"/>
                <a:sym typeface="+mn-lt"/>
              </a:rPr>
              <a:t>ReLU</a:t>
            </a:r>
            <a:r>
              <a:rPr lang="zh-CN" altLang="en-US" dirty="0">
                <a:latin typeface="Microsoft YaHei UI Light" panose="020B0502040204020203" pitchFamily="34" charset="-122"/>
                <a:ea typeface="微软雅黑 Light" panose="020B0502040204020203" pitchFamily="34" charset="-122"/>
                <a:cs typeface="+mn-ea"/>
                <a:sym typeface="+mn-lt"/>
              </a:rPr>
              <a:t>，两层</a:t>
            </a:r>
            <a:r>
              <a:rPr lang="en-US" altLang="zh-CN" dirty="0" err="1">
                <a:latin typeface="Microsoft YaHei UI Light" panose="020B0502040204020203" pitchFamily="34" charset="-122"/>
                <a:ea typeface="微软雅黑 Light" panose="020B0502040204020203" pitchFamily="34" charset="-122"/>
                <a:cs typeface="+mn-ea"/>
                <a:sym typeface="+mn-lt"/>
              </a:rPr>
              <a:t>3x3conv</a:t>
            </a:r>
            <a:r>
              <a:rPr lang="en-US" altLang="zh-CN" dirty="0">
                <a:latin typeface="Microsoft YaHei UI Light" panose="020B0502040204020203" pitchFamily="34" charset="-122"/>
                <a:ea typeface="微软雅黑 Light" panose="020B0502040204020203" pitchFamily="34" charset="-122"/>
                <a:cs typeface="+mn-ea"/>
                <a:sym typeface="+mn-lt"/>
              </a:rPr>
              <a:t> </a:t>
            </a:r>
            <a:r>
              <a:rPr lang="zh-CN" altLang="en-US" dirty="0">
                <a:latin typeface="Microsoft YaHei UI Light" panose="020B0502040204020203" pitchFamily="34" charset="-122"/>
                <a:ea typeface="微软雅黑 Light" panose="020B0502040204020203" pitchFamily="34" charset="-122"/>
                <a:cs typeface="+mn-ea"/>
                <a:sym typeface="+mn-lt"/>
              </a:rPr>
              <a:t>决策函数的区分能力更强</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10" name="表格 9"/>
          <p:cNvGraphicFramePr>
            <a:graphicFrameLocks noGrp="1"/>
          </p:cNvGraphicFramePr>
          <p:nvPr/>
        </p:nvGraphicFramePr>
        <p:xfrm>
          <a:off x="2409221" y="3657472"/>
          <a:ext cx="1832922" cy="1871532"/>
        </p:xfrm>
        <a:graphic>
          <a:graphicData uri="http://schemas.openxmlformats.org/drawingml/2006/table">
            <a:tbl>
              <a:tblPr firstRow="1" bandRow="1">
                <a:tableStyleId>{5940675A-B579-460E-94D1-54222C63F5DA}</a:tableStyleId>
              </a:tblPr>
              <a:tblGrid>
                <a:gridCol w="305487">
                  <a:extLst>
                    <a:ext uri="{9D8B030D-6E8A-4147-A177-3AD203B41FA5}">
                      <a16:colId xmlns:a16="http://schemas.microsoft.com/office/drawing/2014/main" val="20000"/>
                    </a:ext>
                  </a:extLst>
                </a:gridCol>
                <a:gridCol w="305487">
                  <a:extLst>
                    <a:ext uri="{9D8B030D-6E8A-4147-A177-3AD203B41FA5}">
                      <a16:colId xmlns:a16="http://schemas.microsoft.com/office/drawing/2014/main" val="20001"/>
                    </a:ext>
                  </a:extLst>
                </a:gridCol>
                <a:gridCol w="305487">
                  <a:extLst>
                    <a:ext uri="{9D8B030D-6E8A-4147-A177-3AD203B41FA5}">
                      <a16:colId xmlns:a16="http://schemas.microsoft.com/office/drawing/2014/main" val="20002"/>
                    </a:ext>
                  </a:extLst>
                </a:gridCol>
                <a:gridCol w="305487">
                  <a:extLst>
                    <a:ext uri="{9D8B030D-6E8A-4147-A177-3AD203B41FA5}">
                      <a16:colId xmlns:a16="http://schemas.microsoft.com/office/drawing/2014/main" val="20003"/>
                    </a:ext>
                  </a:extLst>
                </a:gridCol>
                <a:gridCol w="305487">
                  <a:extLst>
                    <a:ext uri="{9D8B030D-6E8A-4147-A177-3AD203B41FA5}">
                      <a16:colId xmlns:a16="http://schemas.microsoft.com/office/drawing/2014/main" val="20004"/>
                    </a:ext>
                  </a:extLst>
                </a:gridCol>
                <a:gridCol w="305487">
                  <a:extLst>
                    <a:ext uri="{9D8B030D-6E8A-4147-A177-3AD203B41FA5}">
                      <a16:colId xmlns:a16="http://schemas.microsoft.com/office/drawing/2014/main" val="20005"/>
                    </a:ext>
                  </a:extLst>
                </a:gridCol>
              </a:tblGrid>
              <a:tr h="311922">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0"/>
                  </a:ext>
                </a:extLst>
              </a:tr>
              <a:tr h="311922">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1"/>
                  </a:ext>
                </a:extLst>
              </a:tr>
              <a:tr h="311922">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2"/>
                  </a:ext>
                </a:extLst>
              </a:tr>
              <a:tr h="311922">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3"/>
                  </a:ext>
                </a:extLst>
              </a:tr>
              <a:tr h="311922">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4"/>
                  </a:ext>
                </a:extLst>
              </a:tr>
              <a:tr h="311922">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zh-CN" altLang="en-US" sz="800" dirty="0">
                        <a:solidFill>
                          <a:srgbClr val="525977"/>
                        </a:solidFill>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0005"/>
                  </a:ext>
                </a:extLst>
              </a:tr>
            </a:tbl>
          </a:graphicData>
        </a:graphic>
      </p:graphicFrame>
      <p:sp>
        <p:nvSpPr>
          <p:cNvPr id="11" name="矩形 10"/>
          <p:cNvSpPr/>
          <p:nvPr/>
        </p:nvSpPr>
        <p:spPr>
          <a:xfrm>
            <a:off x="2409221" y="3657472"/>
            <a:ext cx="908363" cy="94697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2" name="矩形 11"/>
          <p:cNvSpPr/>
          <p:nvPr/>
        </p:nvSpPr>
        <p:spPr>
          <a:xfrm>
            <a:off x="2718144" y="3657472"/>
            <a:ext cx="894080" cy="94697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3" name="矩形 12"/>
          <p:cNvSpPr/>
          <p:nvPr/>
        </p:nvSpPr>
        <p:spPr>
          <a:xfrm>
            <a:off x="3017864" y="3657472"/>
            <a:ext cx="894080" cy="946972"/>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graphicFrame>
        <p:nvGraphicFramePr>
          <p:cNvPr id="14" name="表格 13"/>
          <p:cNvGraphicFramePr>
            <a:graphicFrameLocks noGrp="1"/>
          </p:cNvGraphicFramePr>
          <p:nvPr/>
        </p:nvGraphicFramePr>
        <p:xfrm>
          <a:off x="5509865" y="3423792"/>
          <a:ext cx="1089216" cy="1097280"/>
        </p:xfrm>
        <a:graphic>
          <a:graphicData uri="http://schemas.openxmlformats.org/drawingml/2006/table">
            <a:tbl>
              <a:tblPr firstRow="1" bandRow="1">
                <a:tableStyleId>{5940675A-B579-460E-94D1-54222C63F5DA}</a:tableStyleId>
              </a:tblPr>
              <a:tblGrid>
                <a:gridCol w="272304">
                  <a:extLst>
                    <a:ext uri="{9D8B030D-6E8A-4147-A177-3AD203B41FA5}">
                      <a16:colId xmlns:a16="http://schemas.microsoft.com/office/drawing/2014/main" val="20000"/>
                    </a:ext>
                  </a:extLst>
                </a:gridCol>
                <a:gridCol w="272304">
                  <a:extLst>
                    <a:ext uri="{9D8B030D-6E8A-4147-A177-3AD203B41FA5}">
                      <a16:colId xmlns:a16="http://schemas.microsoft.com/office/drawing/2014/main" val="20001"/>
                    </a:ext>
                  </a:extLst>
                </a:gridCol>
                <a:gridCol w="272304">
                  <a:extLst>
                    <a:ext uri="{9D8B030D-6E8A-4147-A177-3AD203B41FA5}">
                      <a16:colId xmlns:a16="http://schemas.microsoft.com/office/drawing/2014/main" val="20002"/>
                    </a:ext>
                  </a:extLst>
                </a:gridCol>
                <a:gridCol w="272304">
                  <a:extLst>
                    <a:ext uri="{9D8B030D-6E8A-4147-A177-3AD203B41FA5}">
                      <a16:colId xmlns:a16="http://schemas.microsoft.com/office/drawing/2014/main" val="20003"/>
                    </a:ext>
                  </a:extLst>
                </a:gridCol>
              </a:tblGrid>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0"/>
                  </a:ext>
                </a:extLst>
              </a:tr>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1"/>
                  </a:ext>
                </a:extLst>
              </a:tr>
              <a:tr h="253186">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2"/>
                  </a:ext>
                </a:extLst>
              </a:tr>
              <a:tr h="253186">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3"/>
                  </a:ext>
                </a:extLst>
              </a:tr>
            </a:tbl>
          </a:graphicData>
        </a:graphic>
      </p:graphicFrame>
      <p:graphicFrame>
        <p:nvGraphicFramePr>
          <p:cNvPr id="16" name="表格 15"/>
          <p:cNvGraphicFramePr>
            <a:graphicFrameLocks noGrp="1"/>
          </p:cNvGraphicFramePr>
          <p:nvPr/>
        </p:nvGraphicFramePr>
        <p:xfrm>
          <a:off x="8102642" y="4604444"/>
          <a:ext cx="544608" cy="548640"/>
        </p:xfrm>
        <a:graphic>
          <a:graphicData uri="http://schemas.openxmlformats.org/drawingml/2006/table">
            <a:tbl>
              <a:tblPr firstRow="1" bandRow="1">
                <a:tableStyleId>{5940675A-B579-460E-94D1-54222C63F5DA}</a:tableStyleId>
              </a:tblPr>
              <a:tblGrid>
                <a:gridCol w="272304">
                  <a:extLst>
                    <a:ext uri="{9D8B030D-6E8A-4147-A177-3AD203B41FA5}">
                      <a16:colId xmlns:a16="http://schemas.microsoft.com/office/drawing/2014/main" val="20000"/>
                    </a:ext>
                  </a:extLst>
                </a:gridCol>
                <a:gridCol w="272304">
                  <a:extLst>
                    <a:ext uri="{9D8B030D-6E8A-4147-A177-3AD203B41FA5}">
                      <a16:colId xmlns:a16="http://schemas.microsoft.com/office/drawing/2014/main" val="20001"/>
                    </a:ext>
                  </a:extLst>
                </a:gridCol>
              </a:tblGrid>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253186">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endParaRPr lang="zh-CN" altLang="en-US" sz="1200" dirty="0">
                        <a:latin typeface="+mn-lt"/>
                        <a:ea typeface="+mn-ea"/>
                        <a:cs typeface="+mn-ea"/>
                        <a:sym typeface="+mn-lt"/>
                      </a:endParaRPr>
                    </a:p>
                  </a:txBody>
                  <a:tcPr>
                    <a:lnL w="12700" cap="flat" cmpd="sng" algn="ctr">
                      <a:solidFill>
                        <a:srgbClr val="525977"/>
                      </a:solidFill>
                      <a:prstDash val="solid"/>
                      <a:round/>
                      <a:headEnd type="none" w="med" len="med"/>
                      <a:tailEnd type="none" w="med" len="med"/>
                    </a:lnL>
                    <a:lnR w="12700" cap="flat" cmpd="sng" algn="ctr">
                      <a:solidFill>
                        <a:srgbClr val="525977"/>
                      </a:solidFill>
                      <a:prstDash val="solid"/>
                      <a:round/>
                      <a:headEnd type="none" w="med" len="med"/>
                      <a:tailEnd type="none" w="med" len="med"/>
                    </a:lnR>
                    <a:lnT w="12700" cap="flat" cmpd="sng" algn="ctr">
                      <a:solidFill>
                        <a:srgbClr val="525977"/>
                      </a:solidFill>
                      <a:prstDash val="solid"/>
                      <a:round/>
                      <a:headEnd type="none" w="med" len="med"/>
                      <a:tailEnd type="none" w="med" len="med"/>
                    </a:lnT>
                    <a:lnB w="12700" cap="flat" cmpd="sng" algn="ctr">
                      <a:solidFill>
                        <a:srgbClr val="525977"/>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18" name="矩形 17"/>
          <p:cNvSpPr/>
          <p:nvPr/>
        </p:nvSpPr>
        <p:spPr>
          <a:xfrm>
            <a:off x="5509865" y="3423792"/>
            <a:ext cx="818908" cy="818024"/>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9" name="矩形 18"/>
          <p:cNvSpPr/>
          <p:nvPr/>
        </p:nvSpPr>
        <p:spPr>
          <a:xfrm>
            <a:off x="2380324" y="3626544"/>
            <a:ext cx="1574799" cy="1587500"/>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cxnSp>
        <p:nvCxnSpPr>
          <p:cNvPr id="20" name="直接箭头连接符 19"/>
          <p:cNvCxnSpPr/>
          <p:nvPr/>
        </p:nvCxnSpPr>
        <p:spPr>
          <a:xfrm flipV="1">
            <a:off x="4331044" y="3832804"/>
            <a:ext cx="1062838" cy="455410"/>
          </a:xfrm>
          <a:prstGeom prst="straightConnector1">
            <a:avLst/>
          </a:prstGeom>
          <a:noFill/>
          <a:ln w="19050" cap="flat" cmpd="sng">
            <a:solidFill>
              <a:srgbClr val="525977"/>
            </a:solidFill>
            <a:prstDash val="solid"/>
            <a:round/>
            <a:tailEnd type="triangle"/>
          </a:ln>
          <a:effectLst/>
        </p:spPr>
      </p:cxnSp>
      <p:cxnSp>
        <p:nvCxnSpPr>
          <p:cNvPr id="21" name="直接箭头连接符 20"/>
          <p:cNvCxnSpPr/>
          <p:nvPr/>
        </p:nvCxnSpPr>
        <p:spPr>
          <a:xfrm>
            <a:off x="6715064" y="3867390"/>
            <a:ext cx="1151739" cy="653682"/>
          </a:xfrm>
          <a:prstGeom prst="straightConnector1">
            <a:avLst/>
          </a:prstGeom>
          <a:noFill/>
          <a:ln w="19050" cap="flat" cmpd="sng">
            <a:solidFill>
              <a:srgbClr val="525977"/>
            </a:solidFill>
            <a:prstDash val="solid"/>
            <a:round/>
            <a:tailEnd type="triangle"/>
          </a:ln>
          <a:effectLst/>
        </p:spPr>
      </p:cxnSp>
      <p:cxnSp>
        <p:nvCxnSpPr>
          <p:cNvPr id="22" name="直接箭头连接符 21"/>
          <p:cNvCxnSpPr/>
          <p:nvPr/>
        </p:nvCxnSpPr>
        <p:spPr>
          <a:xfrm>
            <a:off x="4362833" y="4878764"/>
            <a:ext cx="3503970" cy="0"/>
          </a:xfrm>
          <a:prstGeom prst="straightConnector1">
            <a:avLst/>
          </a:prstGeom>
          <a:noFill/>
          <a:ln w="19050" cap="flat" cmpd="sng">
            <a:solidFill>
              <a:srgbClr val="525977"/>
            </a:solidFill>
            <a:prstDash val="solid"/>
            <a:round/>
            <a:tailEnd type="triangle"/>
          </a:ln>
          <a:effectLst/>
        </p:spPr>
      </p:cxnSp>
      <p:sp>
        <p:nvSpPr>
          <p:cNvPr id="23" name="矩形 22"/>
          <p:cNvSpPr/>
          <p:nvPr/>
        </p:nvSpPr>
        <p:spPr>
          <a:xfrm>
            <a:off x="1853618" y="5748961"/>
            <a:ext cx="6554808" cy="507831"/>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结果：</a:t>
            </a:r>
            <a:r>
              <a:rPr lang="en-US" altLang="zh-CN" dirty="0">
                <a:latin typeface="Microsoft YaHei UI Light" panose="020B0502040204020203" pitchFamily="34" charset="-122"/>
                <a:ea typeface="微软雅黑 Light" panose="020B0502040204020203" pitchFamily="34" charset="-122"/>
                <a:cs typeface="+mn-ea"/>
                <a:sym typeface="+mn-lt"/>
              </a:rPr>
              <a:t> 5x5conv</a:t>
            </a:r>
            <a:r>
              <a:rPr lang="zh-CN" altLang="en-US" dirty="0">
                <a:latin typeface="Microsoft YaHei UI Light" panose="020B0502040204020203" pitchFamily="34" charset="-122"/>
                <a:ea typeface="微软雅黑 Light" panose="020B0502040204020203" pitchFamily="34" charset="-122"/>
                <a:cs typeface="+mn-ea"/>
                <a:sym typeface="+mn-lt"/>
              </a:rPr>
              <a:t>网络比两个</a:t>
            </a:r>
            <a:r>
              <a:rPr lang="en-US" altLang="zh-CN" dirty="0" err="1">
                <a:latin typeface="Microsoft YaHei UI Light" panose="020B0502040204020203" pitchFamily="34" charset="-122"/>
                <a:ea typeface="微软雅黑 Light" panose="020B0502040204020203" pitchFamily="34" charset="-122"/>
                <a:cs typeface="+mn-ea"/>
                <a:sym typeface="+mn-lt"/>
              </a:rPr>
              <a:t>3x3conv</a:t>
            </a:r>
            <a:r>
              <a:rPr lang="zh-CN" altLang="en-US" dirty="0">
                <a:latin typeface="Microsoft YaHei UI Light" panose="020B0502040204020203" pitchFamily="34" charset="-122"/>
                <a:ea typeface="微软雅黑 Light" panose="020B0502040204020203" pitchFamily="34" charset="-122"/>
                <a:cs typeface="+mn-ea"/>
                <a:sym typeface="+mn-lt"/>
              </a:rPr>
              <a:t>网络</a:t>
            </a:r>
            <a:r>
              <a:rPr lang="en-US" altLang="zh-CN" dirty="0">
                <a:latin typeface="Microsoft YaHei UI Light" panose="020B0502040204020203" pitchFamily="34" charset="-122"/>
                <a:ea typeface="微软雅黑 Light" panose="020B0502040204020203" pitchFamily="34" charset="-122"/>
                <a:cs typeface="+mn-ea"/>
                <a:sym typeface="+mn-lt"/>
              </a:rPr>
              <a:t>top-1</a:t>
            </a:r>
            <a:r>
              <a:rPr lang="zh-CN" altLang="en-US" dirty="0">
                <a:latin typeface="Microsoft YaHei UI Light" panose="020B0502040204020203" pitchFamily="34" charset="-122"/>
                <a:ea typeface="微软雅黑 Light" panose="020B0502040204020203" pitchFamily="34" charset="-122"/>
                <a:cs typeface="+mn-ea"/>
                <a:sym typeface="+mn-lt"/>
              </a:rPr>
              <a:t>准确率低</a:t>
            </a:r>
            <a:r>
              <a:rPr lang="en-US" altLang="zh-CN" dirty="0">
                <a:latin typeface="Microsoft YaHei UI Light" panose="020B0502040204020203" pitchFamily="34" charset="-122"/>
                <a:ea typeface="微软雅黑 Light" panose="020B0502040204020203" pitchFamily="34" charset="-122"/>
                <a:cs typeface="+mn-ea"/>
                <a:sym typeface="+mn-lt"/>
              </a:rPr>
              <a:t>7%</a:t>
            </a:r>
            <a:r>
              <a:rPr lang="zh-CN" altLang="en-US" dirty="0">
                <a:latin typeface="Microsoft YaHei UI Light" panose="020B0502040204020203" pitchFamily="34" charset="-122"/>
                <a:ea typeface="微软雅黑 Light" panose="020B0502040204020203" pitchFamily="34" charset="-122"/>
                <a:cs typeface="+mn-ea"/>
                <a:sym typeface="+mn-lt"/>
              </a:rPr>
              <a:t>。</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r>
              <a:rPr lang="zh-CN" altLang="en-US" sz="2800" b="1" dirty="0"/>
              <a:t>：相同感受野，多层网络权值更少</a:t>
            </a:r>
            <a:endParaRPr lang="en-US" altLang="zh-CN" sz="2800" b="1" dirty="0"/>
          </a:p>
        </p:txBody>
      </p:sp>
      <p:sp>
        <p:nvSpPr>
          <p:cNvPr id="8" name="右箭头 7"/>
          <p:cNvSpPr/>
          <p:nvPr/>
        </p:nvSpPr>
        <p:spPr>
          <a:xfrm>
            <a:off x="3820663" y="2397796"/>
            <a:ext cx="587535" cy="1064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9" name="椭圆 8"/>
          <p:cNvSpPr/>
          <p:nvPr/>
        </p:nvSpPr>
        <p:spPr>
          <a:xfrm>
            <a:off x="4618648" y="1938048"/>
            <a:ext cx="1025980" cy="10259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Microsoft YaHei UI Light" panose="020B0502040204020203" pitchFamily="34" charset="-122"/>
                <a:ea typeface="微软雅黑 Light" panose="020B0502040204020203" pitchFamily="34" charset="-122"/>
                <a:cs typeface="+mn-ea"/>
                <a:sym typeface="+mn-lt"/>
              </a:rPr>
              <a:t>Conv</a:t>
            </a:r>
            <a:endPar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a:p>
            <a:pPr algn="ctr"/>
            <a:r>
              <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rPr>
              <a:t>7x7</a:t>
            </a:r>
            <a:endParaRPr lang="zh-CN" altLang="en-US"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10" name="右箭头 9"/>
          <p:cNvSpPr/>
          <p:nvPr/>
        </p:nvSpPr>
        <p:spPr>
          <a:xfrm>
            <a:off x="5797030" y="2397796"/>
            <a:ext cx="587535" cy="1064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5758278" y="2065427"/>
            <a:ext cx="894785" cy="276999"/>
          </a:xfrm>
          <a:prstGeom prst="rect">
            <a:avLst/>
          </a:prstGeom>
          <a:noFill/>
        </p:spPr>
        <p:txBody>
          <a:bodyPr wrap="square" rtlCol="0">
            <a:spAutoFit/>
          </a:bodyPr>
          <a:lstStyle/>
          <a:p>
            <a:r>
              <a:rPr lang="en-US" altLang="zh-CN" sz="1200" dirty="0" err="1">
                <a:latin typeface="Microsoft YaHei UI Light" panose="020B0502040204020203" pitchFamily="34" charset="-122"/>
                <a:ea typeface="微软雅黑 Light" panose="020B0502040204020203" pitchFamily="34" charset="-122"/>
                <a:cs typeface="+mn-ea"/>
                <a:sym typeface="+mn-lt"/>
              </a:rPr>
              <a:t>56x56x64</a:t>
            </a:r>
            <a:endParaRPr lang="zh-CN" altLang="en-US" sz="1200"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2" name="文本框 11"/>
              <p:cNvSpPr txBox="1"/>
              <p:nvPr/>
            </p:nvSpPr>
            <p:spPr>
              <a:xfrm>
                <a:off x="3244544" y="3538018"/>
                <a:ext cx="45052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𝑤𝑒𝑖𝑔h𝑡</m:t>
                      </m:r>
                      <m:r>
                        <a:rPr lang="en-US" altLang="zh-CN" b="0" i="1" smtClean="0">
                          <a:latin typeface="Cambria Math" panose="02040503050406030204" pitchFamily="18" charset="0"/>
                          <a:cs typeface="+mn-ea"/>
                          <a:sym typeface="+mn-lt"/>
                        </a:rPr>
                        <m:t>_</m:t>
                      </m:r>
                      <m:r>
                        <a:rPr lang="en-US" altLang="zh-CN" b="0" i="1" smtClean="0">
                          <a:latin typeface="Cambria Math" panose="02040503050406030204" pitchFamily="18" charset="0"/>
                          <a:cs typeface="+mn-ea"/>
                          <a:sym typeface="+mn-lt"/>
                        </a:rPr>
                        <m:t>𝑐𝑜𝑢𝑛</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𝑡</m:t>
                          </m:r>
                        </m:e>
                        <m:sub>
                          <m:r>
                            <a:rPr lang="en-US" altLang="zh-CN" b="0" i="1" smtClean="0">
                              <a:latin typeface="Cambria Math" panose="02040503050406030204" pitchFamily="18" charset="0"/>
                              <a:cs typeface="+mn-ea"/>
                              <a:sym typeface="+mn-lt"/>
                            </a:rPr>
                            <m:t>1</m:t>
                          </m:r>
                        </m:sub>
                      </m:sSub>
                      <m:r>
                        <a:rPr lang="en-US" altLang="zh-CN" b="0" i="1" smtClean="0">
                          <a:latin typeface="Cambria Math" panose="02040503050406030204" pitchFamily="18" charset="0"/>
                          <a:cs typeface="+mn-ea"/>
                          <a:sym typeface="+mn-lt"/>
                        </a:rPr>
                        <m:t>=7×7×64×64=</m:t>
                      </m:r>
                      <m:r>
                        <a:rPr lang="en-US" altLang="zh-CN" b="0" i="0" smtClean="0">
                          <a:latin typeface="Cambria Math" panose="02040503050406030204" pitchFamily="18" charset="0"/>
                          <a:cs typeface="+mn-ea"/>
                          <a:sym typeface="+mn-lt"/>
                        </a:rPr>
                        <m:t>200704</m:t>
                      </m:r>
                    </m:oMath>
                  </m:oMathPara>
                </a14:m>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244544" y="3538018"/>
                <a:ext cx="4505271" cy="276999"/>
              </a:xfrm>
              <a:prstGeom prst="rect">
                <a:avLst/>
              </a:prstGeom>
              <a:blipFill rotWithShape="1">
                <a:blip r:embed="rId5"/>
                <a:stretch>
                  <a:fillRect l="-7" t="-156" r="-670" b="206"/>
                </a:stretch>
              </a:blipFill>
            </p:spPr>
            <p:txBody>
              <a:bodyPr/>
              <a:lstStyle/>
              <a:p>
                <a:r>
                  <a:rPr lang="zh-CN" altLang="en-US">
                    <a:noFill/>
                  </a:rPr>
                  <a:t> </a:t>
                </a:r>
              </a:p>
            </p:txBody>
          </p:sp>
        </mc:Fallback>
      </mc:AlternateContent>
      <p:sp>
        <p:nvSpPr>
          <p:cNvPr id="13" name="右箭头 12"/>
          <p:cNvSpPr/>
          <p:nvPr/>
        </p:nvSpPr>
        <p:spPr>
          <a:xfrm>
            <a:off x="3282035" y="4916165"/>
            <a:ext cx="22424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4" name="椭圆 13"/>
          <p:cNvSpPr/>
          <p:nvPr/>
        </p:nvSpPr>
        <p:spPr>
          <a:xfrm>
            <a:off x="3606726" y="4426034"/>
            <a:ext cx="1025980" cy="10259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Microsoft YaHei UI Light" panose="020B0502040204020203" pitchFamily="34" charset="-122"/>
                <a:ea typeface="微软雅黑 Light" panose="020B0502040204020203" pitchFamily="34" charset="-122"/>
                <a:cs typeface="+mn-ea"/>
                <a:sym typeface="+mn-lt"/>
              </a:rPr>
              <a:t>Conv</a:t>
            </a:r>
            <a:endPar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a:p>
            <a:pPr algn="ctr"/>
            <a:r>
              <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rPr>
              <a:t>3x3</a:t>
            </a:r>
            <a:endParaRPr lang="zh-CN" altLang="en-US"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16" name="椭圆 15"/>
          <p:cNvSpPr/>
          <p:nvPr/>
        </p:nvSpPr>
        <p:spPr>
          <a:xfrm>
            <a:off x="5057845" y="4426034"/>
            <a:ext cx="1025980" cy="10259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Microsoft YaHei UI Light" panose="020B0502040204020203" pitchFamily="34" charset="-122"/>
                <a:ea typeface="微软雅黑 Light" panose="020B0502040204020203" pitchFamily="34" charset="-122"/>
                <a:cs typeface="+mn-ea"/>
                <a:sym typeface="+mn-lt"/>
              </a:rPr>
              <a:t>Conv</a:t>
            </a:r>
            <a:endPar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a:p>
            <a:pPr algn="ctr"/>
            <a:r>
              <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rPr>
              <a:t>3x3</a:t>
            </a:r>
            <a:endParaRPr lang="zh-CN" altLang="en-US"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18" name="椭圆 17"/>
          <p:cNvSpPr/>
          <p:nvPr/>
        </p:nvSpPr>
        <p:spPr>
          <a:xfrm>
            <a:off x="6508964" y="4426034"/>
            <a:ext cx="1025980" cy="10259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Microsoft YaHei UI Light" panose="020B0502040204020203" pitchFamily="34" charset="-122"/>
                <a:ea typeface="微软雅黑 Light" panose="020B0502040204020203" pitchFamily="34" charset="-122"/>
                <a:cs typeface="+mn-ea"/>
                <a:sym typeface="+mn-lt"/>
              </a:rPr>
              <a:t>Conv</a:t>
            </a:r>
            <a:endPar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a:p>
            <a:pPr algn="ctr"/>
            <a:r>
              <a:rPr lang="en-US" altLang="zh-CN" sz="1600" dirty="0">
                <a:solidFill>
                  <a:schemeClr val="tx1"/>
                </a:solidFill>
                <a:latin typeface="Microsoft YaHei UI Light" panose="020B0502040204020203" pitchFamily="34" charset="-122"/>
                <a:ea typeface="微软雅黑 Light" panose="020B0502040204020203" pitchFamily="34" charset="-122"/>
                <a:cs typeface="+mn-ea"/>
                <a:sym typeface="+mn-lt"/>
              </a:rPr>
              <a:t>3x3</a:t>
            </a:r>
            <a:endParaRPr lang="zh-CN" altLang="en-US" sz="1600" dirty="0">
              <a:solidFill>
                <a:schemeClr val="tx1"/>
              </a:solidFill>
              <a:latin typeface="Microsoft YaHei UI Light" panose="020B0502040204020203" pitchFamily="34" charset="-122"/>
              <a:ea typeface="微软雅黑 Light" panose="020B0502040204020203" pitchFamily="34" charset="-122"/>
              <a:cs typeface="+mn-ea"/>
              <a:sym typeface="+mn-lt"/>
            </a:endParaRPr>
          </a:p>
        </p:txBody>
      </p:sp>
      <p:sp>
        <p:nvSpPr>
          <p:cNvPr id="19" name="右箭头 18"/>
          <p:cNvSpPr/>
          <p:nvPr/>
        </p:nvSpPr>
        <p:spPr>
          <a:xfrm>
            <a:off x="4733154" y="4916165"/>
            <a:ext cx="22424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0" name="右箭头 19"/>
          <p:cNvSpPr/>
          <p:nvPr/>
        </p:nvSpPr>
        <p:spPr>
          <a:xfrm>
            <a:off x="6184273" y="4916165"/>
            <a:ext cx="22424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1" name="右箭头 20"/>
          <p:cNvSpPr/>
          <p:nvPr/>
        </p:nvSpPr>
        <p:spPr>
          <a:xfrm>
            <a:off x="7635392" y="4916165"/>
            <a:ext cx="32468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icrosoft YaHei UI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a:xfrm>
            <a:off x="7542881" y="4539876"/>
            <a:ext cx="896740" cy="276999"/>
          </a:xfrm>
          <a:prstGeom prst="rect">
            <a:avLst/>
          </a:prstGeom>
          <a:noFill/>
        </p:spPr>
        <p:txBody>
          <a:bodyPr wrap="square" rtlCol="0">
            <a:spAutoFit/>
          </a:bodyPr>
          <a:lstStyle/>
          <a:p>
            <a:r>
              <a:rPr lang="en-US" altLang="zh-CN" sz="1200" dirty="0" err="1">
                <a:latin typeface="Microsoft YaHei UI Light" panose="020B0502040204020203" pitchFamily="34" charset="-122"/>
                <a:ea typeface="微软雅黑 Light" panose="020B0502040204020203" pitchFamily="34" charset="-122"/>
                <a:cs typeface="+mn-ea"/>
                <a:sym typeface="+mn-lt"/>
              </a:rPr>
              <a:t>56x56x64</a:t>
            </a:r>
            <a:endParaRPr lang="zh-CN" altLang="en-US" sz="1200"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23" name="文本框 22"/>
              <p:cNvSpPr txBox="1"/>
              <p:nvPr/>
            </p:nvSpPr>
            <p:spPr>
              <a:xfrm>
                <a:off x="3244544" y="5823998"/>
                <a:ext cx="503477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mn-ea"/>
                          <a:sym typeface="+mn-lt"/>
                        </a:rPr>
                        <m:t>𝑤𝑒𝑖𝑔h𝑡</m:t>
                      </m:r>
                      <m:r>
                        <a:rPr lang="en-US" altLang="zh-CN" b="0" i="1" smtClean="0">
                          <a:latin typeface="Cambria Math" panose="02040503050406030204" pitchFamily="18" charset="0"/>
                          <a:cs typeface="+mn-ea"/>
                          <a:sym typeface="+mn-lt"/>
                        </a:rPr>
                        <m:t>_</m:t>
                      </m:r>
                      <m:r>
                        <a:rPr lang="en-US" altLang="zh-CN" b="0" i="1" smtClean="0">
                          <a:latin typeface="Cambria Math" panose="02040503050406030204" pitchFamily="18" charset="0"/>
                          <a:cs typeface="+mn-ea"/>
                          <a:sym typeface="+mn-lt"/>
                        </a:rPr>
                        <m:t>𝑐𝑜𝑢𝑛</m:t>
                      </m:r>
                      <m:sSub>
                        <m:sSubPr>
                          <m:ctrlPr>
                            <a:rPr lang="en-US" altLang="zh-CN" b="0"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𝑡</m:t>
                          </m:r>
                        </m:e>
                        <m:sub>
                          <m:r>
                            <a:rPr lang="en-US" altLang="zh-CN" b="0" i="1" smtClean="0">
                              <a:latin typeface="Cambria Math" panose="02040503050406030204" pitchFamily="18" charset="0"/>
                              <a:cs typeface="+mn-ea"/>
                              <a:sym typeface="+mn-lt"/>
                            </a:rPr>
                            <m:t>2</m:t>
                          </m:r>
                        </m:sub>
                      </m:sSub>
                      <m:r>
                        <a:rPr lang="en-US" altLang="zh-CN" b="0" i="1" smtClean="0">
                          <a:latin typeface="Cambria Math" panose="02040503050406030204" pitchFamily="18" charset="0"/>
                          <a:cs typeface="+mn-ea"/>
                          <a:sym typeface="+mn-lt"/>
                        </a:rPr>
                        <m:t>=3×3×3×64×64=110592</m:t>
                      </m:r>
                    </m:oMath>
                  </m:oMathPara>
                </a14:m>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3244544" y="5823998"/>
                <a:ext cx="5034775" cy="276999"/>
              </a:xfrm>
              <a:prstGeom prst="rect">
                <a:avLst/>
              </a:prstGeom>
              <a:blipFill rotWithShape="1">
                <a:blip r:embed="rId6"/>
                <a:stretch>
                  <a:fillRect l="-7" t="-149" r="4" b="199"/>
                </a:stretch>
              </a:blipFill>
            </p:spPr>
            <p:txBody>
              <a:bodyPr/>
              <a:lstStyle/>
              <a:p>
                <a:r>
                  <a:rPr lang="zh-CN" altLang="en-US">
                    <a:noFill/>
                  </a:rPr>
                  <a:t> </a:t>
                </a:r>
              </a:p>
            </p:txBody>
          </p:sp>
        </mc:Fallback>
      </mc:AlternateContent>
      <p:sp>
        <p:nvSpPr>
          <p:cNvPr id="24" name="文本框 23"/>
          <p:cNvSpPr txBox="1"/>
          <p:nvPr/>
        </p:nvSpPr>
        <p:spPr>
          <a:xfrm>
            <a:off x="3423020" y="2025812"/>
            <a:ext cx="894785" cy="276999"/>
          </a:xfrm>
          <a:prstGeom prst="rect">
            <a:avLst/>
          </a:prstGeom>
          <a:noFill/>
        </p:spPr>
        <p:txBody>
          <a:bodyPr wrap="square" rtlCol="0">
            <a:spAutoFit/>
          </a:bodyPr>
          <a:lstStyle/>
          <a:p>
            <a:r>
              <a:rPr lang="en-US" altLang="zh-CN" sz="1200" dirty="0" err="1">
                <a:latin typeface="Microsoft YaHei UI Light" panose="020B0502040204020203" pitchFamily="34" charset="-122"/>
                <a:ea typeface="微软雅黑 Light" panose="020B0502040204020203" pitchFamily="34" charset="-122"/>
                <a:cs typeface="+mn-ea"/>
                <a:sym typeface="+mn-lt"/>
              </a:rPr>
              <a:t>56x56x64</a:t>
            </a:r>
            <a:endParaRPr lang="zh-CN" altLang="en-US" sz="1200" dirty="0">
              <a:latin typeface="Microsoft YaHei UI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2661717" y="4545127"/>
            <a:ext cx="894785" cy="276999"/>
          </a:xfrm>
          <a:prstGeom prst="rect">
            <a:avLst/>
          </a:prstGeom>
          <a:noFill/>
        </p:spPr>
        <p:txBody>
          <a:bodyPr wrap="square" rtlCol="0">
            <a:spAutoFit/>
          </a:bodyPr>
          <a:lstStyle/>
          <a:p>
            <a:r>
              <a:rPr lang="en-US" altLang="zh-CN" sz="1200" dirty="0" err="1">
                <a:latin typeface="Microsoft YaHei UI Light" panose="020B0502040204020203" pitchFamily="34" charset="-122"/>
                <a:ea typeface="微软雅黑 Light" panose="020B0502040204020203" pitchFamily="34" charset="-122"/>
                <a:cs typeface="+mn-ea"/>
                <a:sym typeface="+mn-lt"/>
              </a:rPr>
              <a:t>56x56x64</a:t>
            </a:r>
            <a:endParaRPr lang="zh-CN" altLang="en-US" sz="12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r>
              <a:rPr lang="zh-CN" altLang="en-US" sz="2800" b="1" dirty="0"/>
              <a:t>小结</a:t>
            </a:r>
            <a:endParaRPr lang="en-US" altLang="zh-CN" sz="2800" b="1" dirty="0"/>
          </a:p>
        </p:txBody>
      </p:sp>
      <p:sp>
        <p:nvSpPr>
          <p:cNvPr id="8" name="内容占位符 2"/>
          <p:cNvSpPr txBox="1"/>
          <p:nvPr/>
        </p:nvSpPr>
        <p:spPr>
          <a:xfrm>
            <a:off x="678322" y="1301857"/>
            <a:ext cx="11053895" cy="5211277"/>
          </a:xfrm>
          <a:prstGeom prst="rect">
            <a:avLst/>
          </a:prstGeom>
        </p:spPr>
        <p:txBody>
          <a:bodyPr vert="horz">
            <a:normAutofit fontScale="92500" lnSpcReduction="10000"/>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探索了</a:t>
            </a:r>
            <a:r>
              <a:rPr lang="en-US" altLang="zh-CN" sz="2400" dirty="0">
                <a:latin typeface="Microsoft YaHei UI Light" panose="020B0502040204020203" pitchFamily="34" charset="-122"/>
                <a:ea typeface="微软雅黑 Light" panose="020B0502040204020203" pitchFamily="34" charset="-122"/>
                <a:cs typeface="+mn-ea"/>
                <a:sym typeface="+mn-lt"/>
              </a:rPr>
              <a:t>CNN</a:t>
            </a:r>
            <a:r>
              <a:rPr lang="zh-CN" altLang="en-US" sz="2400" dirty="0">
                <a:latin typeface="Microsoft YaHei UI Light" panose="020B0502040204020203" pitchFamily="34" charset="-122"/>
                <a:ea typeface="微软雅黑 Light" panose="020B0502040204020203" pitchFamily="34" charset="-122"/>
                <a:cs typeface="+mn-ea"/>
                <a:sym typeface="+mn-lt"/>
              </a:rPr>
              <a:t>的深度与性能之间的关系，通过反复堆叠</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的小型卷积核和</a:t>
            </a:r>
            <a:r>
              <a:rPr lang="en-US" altLang="zh-CN" sz="2400" dirty="0">
                <a:latin typeface="Microsoft YaHei UI Light" panose="020B0502040204020203" pitchFamily="34" charset="-122"/>
                <a:ea typeface="微软雅黑 Light" panose="020B0502040204020203" pitchFamily="34" charset="-122"/>
                <a:cs typeface="+mn-ea"/>
                <a:sym typeface="+mn-lt"/>
              </a:rPr>
              <a:t>2</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2</a:t>
            </a:r>
            <a:r>
              <a:rPr lang="zh-CN" altLang="en-US" sz="2400" dirty="0">
                <a:latin typeface="Microsoft YaHei UI Light" panose="020B0502040204020203" pitchFamily="34" charset="-122"/>
                <a:ea typeface="微软雅黑 Light" panose="020B0502040204020203" pitchFamily="34" charset="-122"/>
                <a:cs typeface="+mn-ea"/>
                <a:sym typeface="+mn-lt"/>
              </a:rPr>
              <a:t>的最大池化层，结构非常简洁，</a:t>
            </a:r>
            <a:r>
              <a:rPr lang="en-US" altLang="zh-CN" sz="2400" dirty="0">
                <a:latin typeface="Microsoft YaHei UI Light" panose="020B0502040204020203" pitchFamily="34" charset="-122"/>
                <a:ea typeface="微软雅黑 Light" panose="020B0502040204020203" pitchFamily="34" charset="-122"/>
                <a:cs typeface="+mn-ea"/>
                <a:sym typeface="+mn-lt"/>
              </a:rPr>
              <a:t>16-19</a:t>
            </a:r>
            <a:r>
              <a:rPr lang="zh-CN" altLang="en-US" sz="2400" dirty="0">
                <a:latin typeface="Microsoft YaHei UI Light" panose="020B0502040204020203" pitchFamily="34" charset="-122"/>
                <a:ea typeface="微软雅黑 Light" panose="020B0502040204020203" pitchFamily="34" charset="-122"/>
                <a:cs typeface="+mn-ea"/>
                <a:sym typeface="+mn-lt"/>
              </a:rPr>
              <a:t>层</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拓展性强，迁移到其他图片数据上的泛化性非常好</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VGG</a:t>
            </a:r>
            <a:r>
              <a:rPr lang="zh-CN" altLang="en-US" sz="2400" dirty="0">
                <a:latin typeface="Microsoft YaHei UI Light" panose="020B0502040204020203" pitchFamily="34" charset="-122"/>
                <a:ea typeface="微软雅黑 Light" panose="020B0502040204020203" pitchFamily="34" charset="-122"/>
                <a:cs typeface="+mn-ea"/>
                <a:sym typeface="+mn-lt"/>
              </a:rPr>
              <a:t>经常被用来提取图像特征，提供了非常好的初始化权重，可用于</a:t>
            </a:r>
            <a:r>
              <a:rPr lang="en-US" altLang="zh-CN" sz="2400" dirty="0">
                <a:latin typeface="Microsoft YaHei UI Light" panose="020B0502040204020203" pitchFamily="34" charset="-122"/>
                <a:ea typeface="微软雅黑 Light" panose="020B0502040204020203" pitchFamily="34" charset="-122"/>
                <a:cs typeface="+mn-ea"/>
                <a:sym typeface="+mn-lt"/>
              </a:rPr>
              <a:t>domain Specific</a:t>
            </a:r>
            <a:r>
              <a:rPr lang="zh-CN" altLang="en-US" sz="2400" dirty="0">
                <a:latin typeface="Microsoft YaHei UI Light" panose="020B0502040204020203" pitchFamily="34" charset="-122"/>
                <a:ea typeface="微软雅黑 Light" panose="020B0502040204020203" pitchFamily="34" charset="-122"/>
                <a:cs typeface="+mn-ea"/>
                <a:sym typeface="+mn-lt"/>
              </a:rPr>
              <a:t>的图像分类任务上进行再训练</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VGG</a:t>
            </a:r>
            <a:r>
              <a:rPr lang="zh-CN" altLang="en-US" sz="2400" dirty="0">
                <a:latin typeface="Microsoft YaHei UI Light" panose="020B0502040204020203" pitchFamily="34" charset="-122"/>
                <a:ea typeface="微软雅黑 Light" panose="020B0502040204020203" pitchFamily="34" charset="-122"/>
                <a:cs typeface="+mn-ea"/>
                <a:sym typeface="+mn-lt"/>
              </a:rPr>
              <a:t>中多个</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卷积层堆叠在一起，这是非常有用的一种设计。两个</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卷积层串联相当于一个</a:t>
            </a:r>
            <a:r>
              <a:rPr lang="en-US" altLang="zh-CN" sz="2400" dirty="0">
                <a:latin typeface="Microsoft YaHei UI Light" panose="020B0502040204020203" pitchFamily="34" charset="-122"/>
                <a:ea typeface="微软雅黑 Light" panose="020B0502040204020203" pitchFamily="34" charset="-122"/>
                <a:cs typeface="+mn-ea"/>
                <a:sym typeface="+mn-lt"/>
              </a:rPr>
              <a:t>5</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5</a:t>
            </a:r>
            <a:r>
              <a:rPr lang="zh-CN" altLang="en-US" sz="2400" dirty="0">
                <a:latin typeface="Microsoft YaHei UI Light" panose="020B0502040204020203" pitchFamily="34" charset="-122"/>
                <a:ea typeface="微软雅黑 Light" panose="020B0502040204020203" pitchFamily="34" charset="-122"/>
                <a:cs typeface="+mn-ea"/>
                <a:sym typeface="+mn-lt"/>
              </a:rPr>
              <a:t>卷积层，感受野变大为</a:t>
            </a:r>
            <a:r>
              <a:rPr lang="en-US" altLang="zh-CN" sz="2400" dirty="0">
                <a:latin typeface="Microsoft YaHei UI Light" panose="020B0502040204020203" pitchFamily="34" charset="-122"/>
                <a:ea typeface="微软雅黑 Light" panose="020B0502040204020203" pitchFamily="34" charset="-122"/>
                <a:cs typeface="+mn-ea"/>
                <a:sym typeface="+mn-lt"/>
              </a:rPr>
              <a:t>5</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5</a:t>
            </a:r>
            <a:r>
              <a:rPr lang="zh-CN" altLang="en-US" sz="2400" dirty="0">
                <a:latin typeface="Microsoft YaHei UI Light" panose="020B0502040204020203" pitchFamily="34" charset="-122"/>
                <a:ea typeface="微软雅黑 Light" panose="020B0502040204020203" pitchFamily="34" charset="-122"/>
                <a:cs typeface="+mn-ea"/>
                <a:sym typeface="+mn-lt"/>
              </a:rPr>
              <a:t>，三个串联相当于</a:t>
            </a:r>
            <a:r>
              <a:rPr lang="en-US" altLang="zh-CN" sz="2400" dirty="0">
                <a:latin typeface="Microsoft YaHei UI Light" panose="020B0502040204020203" pitchFamily="34" charset="-122"/>
                <a:ea typeface="微软雅黑 Light" panose="020B0502040204020203" pitchFamily="34" charset="-122"/>
                <a:cs typeface="+mn-ea"/>
                <a:sym typeface="+mn-lt"/>
              </a:rPr>
              <a:t>7</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7</a:t>
            </a:r>
            <a:r>
              <a:rPr lang="zh-CN" altLang="en-US" sz="2400" dirty="0">
                <a:latin typeface="Microsoft YaHei UI Light" panose="020B0502040204020203" pitchFamily="34" charset="-122"/>
                <a:ea typeface="微软雅黑 Light" panose="020B0502040204020203" pitchFamily="34" charset="-122"/>
                <a:cs typeface="+mn-ea"/>
                <a:sym typeface="+mn-lt"/>
              </a:rPr>
              <a:t>，而参数则更少（</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3</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3/7</a:t>
            </a:r>
            <a:r>
              <a:rPr lang="zh-CN" altLang="en-US"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a:latin typeface="Microsoft YaHei UI Light" panose="020B0502040204020203" pitchFamily="34" charset="-122"/>
                <a:ea typeface="微软雅黑 Light" panose="020B0502040204020203" pitchFamily="34" charset="-122"/>
                <a:cs typeface="+mn-ea"/>
                <a:sym typeface="+mn-lt"/>
              </a:rPr>
              <a:t>7=55%</a:t>
            </a:r>
            <a:r>
              <a:rPr lang="zh-CN" altLang="en-US" sz="2400" dirty="0">
                <a:latin typeface="Microsoft YaHei UI Light" panose="020B0502040204020203" pitchFamily="34" charset="-122"/>
                <a:ea typeface="微软雅黑 Light" panose="020B0502040204020203" pitchFamily="34" charset="-122"/>
                <a:cs typeface="+mn-ea"/>
                <a:sym typeface="+mn-lt"/>
              </a:rPr>
              <a:t>），而且拥有更多的非线性变换，提高了学习能力</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训练技巧：先训练简单网络</a:t>
            </a:r>
            <a:r>
              <a:rPr lang="en-US" altLang="zh-CN" sz="2400" dirty="0">
                <a:latin typeface="Microsoft YaHei UI Light" panose="020B0502040204020203" pitchFamily="34" charset="-122"/>
                <a:ea typeface="微软雅黑 Light" panose="020B0502040204020203" pitchFamily="34" charset="-122"/>
                <a:cs typeface="+mn-ea"/>
                <a:sym typeface="+mn-lt"/>
              </a:rPr>
              <a:t>A</a:t>
            </a:r>
            <a:r>
              <a:rPr lang="zh-CN" altLang="en-US" sz="2400" dirty="0">
                <a:latin typeface="Microsoft YaHei UI Light" panose="020B0502040204020203" pitchFamily="34" charset="-122"/>
                <a:ea typeface="微软雅黑 Light" panose="020B0502040204020203" pitchFamily="34" charset="-122"/>
                <a:cs typeface="+mn-ea"/>
                <a:sym typeface="+mn-lt"/>
              </a:rPr>
              <a:t>，用</a:t>
            </a:r>
            <a:r>
              <a:rPr lang="en-US" altLang="zh-CN" sz="2400" dirty="0">
                <a:latin typeface="Microsoft YaHei UI Light" panose="020B0502040204020203" pitchFamily="34" charset="-122"/>
                <a:ea typeface="微软雅黑 Light" panose="020B0502040204020203" pitchFamily="34" charset="-122"/>
                <a:cs typeface="+mn-ea"/>
                <a:sym typeface="+mn-lt"/>
              </a:rPr>
              <a:t>A</a:t>
            </a:r>
            <a:r>
              <a:rPr lang="zh-CN" altLang="en-US" sz="2400" dirty="0">
                <a:latin typeface="Microsoft YaHei UI Light" panose="020B0502040204020203" pitchFamily="34" charset="-122"/>
                <a:ea typeface="微软雅黑 Light" panose="020B0502040204020203" pitchFamily="34" charset="-122"/>
                <a:cs typeface="+mn-ea"/>
                <a:sym typeface="+mn-lt"/>
              </a:rPr>
              <a:t>的权重初始化后面的复杂模型，加快收敛速度；预测采用了</a:t>
            </a:r>
            <a:r>
              <a:rPr lang="en-US" altLang="zh-CN" sz="2400" dirty="0">
                <a:latin typeface="Microsoft YaHei UI Light" panose="020B0502040204020203" pitchFamily="34" charset="-122"/>
                <a:ea typeface="微软雅黑 Light" panose="020B0502040204020203" pitchFamily="34" charset="-122"/>
                <a:cs typeface="+mn-ea"/>
                <a:sym typeface="+mn-lt"/>
              </a:rPr>
              <a:t>Multi-Scale</a:t>
            </a:r>
            <a:r>
              <a:rPr lang="zh-CN" altLang="en-US" sz="2400" dirty="0">
                <a:latin typeface="Microsoft YaHei UI Light" panose="020B0502040204020203" pitchFamily="34" charset="-122"/>
                <a:ea typeface="微软雅黑 Light" panose="020B0502040204020203" pitchFamily="34" charset="-122"/>
                <a:cs typeface="+mn-ea"/>
                <a:sym typeface="+mn-lt"/>
              </a:rPr>
              <a:t>方法，训练时也采用</a:t>
            </a:r>
            <a:r>
              <a:rPr lang="en-US" altLang="zh-CN" sz="2400" dirty="0">
                <a:latin typeface="Microsoft YaHei UI Light" panose="020B0502040204020203" pitchFamily="34" charset="-122"/>
                <a:ea typeface="微软雅黑 Light" panose="020B0502040204020203" pitchFamily="34" charset="-122"/>
                <a:cs typeface="+mn-ea"/>
                <a:sym typeface="+mn-lt"/>
              </a:rPr>
              <a:t>Multi-Scale</a:t>
            </a:r>
            <a:r>
              <a:rPr lang="zh-CN" altLang="en-US" sz="2400" dirty="0">
                <a:latin typeface="Microsoft YaHei UI Light" panose="020B0502040204020203" pitchFamily="34" charset="-122"/>
                <a:ea typeface="微软雅黑 Light" panose="020B0502040204020203" pitchFamily="34" charset="-122"/>
                <a:cs typeface="+mn-ea"/>
                <a:sym typeface="+mn-lt"/>
              </a:rPr>
              <a:t>方法做数据增强  </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VGG</a:t>
            </a:r>
          </a:p>
        </p:txBody>
      </p:sp>
      <p:sp>
        <p:nvSpPr>
          <p:cNvPr id="8" name="内容占位符 2"/>
          <p:cNvSpPr txBox="1"/>
          <p:nvPr/>
        </p:nvSpPr>
        <p:spPr>
          <a:xfrm>
            <a:off x="678323" y="1500722"/>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VGG</a:t>
            </a:r>
            <a:r>
              <a:rPr lang="zh-CN" altLang="en-US" sz="2400" dirty="0">
                <a:latin typeface="Microsoft YaHei UI Light" panose="020B0502040204020203" pitchFamily="34" charset="-122"/>
                <a:ea typeface="微软雅黑 Light" panose="020B0502040204020203" pitchFamily="34" charset="-122"/>
                <a:cs typeface="+mn-ea"/>
                <a:sym typeface="+mn-lt"/>
              </a:rPr>
              <a:t>成功的原因</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678323" y="2251758"/>
            <a:ext cx="10247982"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更深的卷积神经网络，更多的卷积层和非线性激活函数，提升分类准确率</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使用规则的多层小卷积替代大卷积，减少参数数量，提高训练收敛速度</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部分网络层参数的预初始化，提高训练收敛速度</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此外，还得到几个结论：</a:t>
            </a:r>
            <a:r>
              <a:rPr lang="en-US" altLang="zh-CN" dirty="0">
                <a:latin typeface="Microsoft YaHei UI Light" panose="020B0502040204020203" pitchFamily="34" charset="-122"/>
                <a:ea typeface="微软雅黑 Light" panose="020B0502040204020203" pitchFamily="34" charset="-122"/>
                <a:cs typeface="+mn-ea"/>
                <a:sym typeface="+mn-lt"/>
              </a:rPr>
              <a:t>LRN</a:t>
            </a:r>
            <a:r>
              <a:rPr lang="zh-CN" altLang="en-US" dirty="0">
                <a:latin typeface="Microsoft YaHei UI Light" panose="020B0502040204020203" pitchFamily="34" charset="-122"/>
                <a:ea typeface="微软雅黑 Light" panose="020B0502040204020203" pitchFamily="34" charset="-122"/>
                <a:cs typeface="+mn-ea"/>
                <a:sym typeface="+mn-lt"/>
              </a:rPr>
              <a:t>层作用不大；</a:t>
            </a:r>
            <a:r>
              <a:rPr lang="en-US" altLang="zh-CN" dirty="0">
                <a:latin typeface="Microsoft YaHei UI Light" panose="020B0502040204020203" pitchFamily="34" charset="-122"/>
                <a:ea typeface="微软雅黑 Light" panose="020B0502040204020203" pitchFamily="34" charset="-122"/>
                <a:cs typeface="+mn-ea"/>
                <a:sym typeface="+mn-lt"/>
              </a:rPr>
              <a:t>1</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1</a:t>
            </a:r>
            <a:r>
              <a:rPr lang="zh-CN" altLang="en-US" dirty="0">
                <a:latin typeface="Microsoft YaHei UI Light" panose="020B0502040204020203" pitchFamily="34" charset="-122"/>
                <a:ea typeface="微软雅黑 Light" panose="020B0502040204020203" pitchFamily="34" charset="-122"/>
                <a:cs typeface="+mn-ea"/>
                <a:sym typeface="+mn-lt"/>
              </a:rPr>
              <a:t>卷积有效；网络越深越好</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dirty="0">
                <a:latin typeface="Microsoft YaHei UI Light" panose="020B0502040204020203" pitchFamily="34" charset="-122"/>
                <a:ea typeface="微软雅黑 Light" panose="020B0502040204020203" pitchFamily="34" charset="-122"/>
                <a:cs typeface="+mn-ea"/>
                <a:sym typeface="+mn-lt"/>
              </a:rPr>
              <a:t>VGG</a:t>
            </a:r>
            <a:r>
              <a:rPr lang="zh-CN" altLang="en-US" dirty="0">
                <a:latin typeface="Microsoft YaHei UI Light" panose="020B0502040204020203" pitchFamily="34" charset="-122"/>
                <a:ea typeface="微软雅黑 Light" panose="020B0502040204020203" pitchFamily="34" charset="-122"/>
                <a:cs typeface="+mn-ea"/>
                <a:sym typeface="+mn-lt"/>
              </a:rPr>
              <a:t>虽然比</a:t>
            </a:r>
            <a:r>
              <a:rPr lang="en-US" altLang="zh-CN" dirty="0" err="1">
                <a:latin typeface="Microsoft YaHei UI Light" panose="020B0502040204020203" pitchFamily="34" charset="-122"/>
                <a:ea typeface="微软雅黑 Light" panose="020B0502040204020203" pitchFamily="34" charset="-122"/>
                <a:cs typeface="+mn-ea"/>
                <a:sym typeface="+mn-lt"/>
              </a:rPr>
              <a:t>AlexNet</a:t>
            </a:r>
            <a:r>
              <a:rPr lang="zh-CN" altLang="en-US" dirty="0">
                <a:latin typeface="Microsoft YaHei UI Light" panose="020B0502040204020203" pitchFamily="34" charset="-122"/>
                <a:ea typeface="微软雅黑 Light" panose="020B0502040204020203" pitchFamily="34" charset="-122"/>
                <a:cs typeface="+mn-ea"/>
                <a:sym typeface="+mn-lt"/>
              </a:rPr>
              <a:t>的参数多，但只需要较少的迭代次数就可以收敛，主要原因是更深的网络和更小的卷积核带来的隐士正则化效果。</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2208622" y="5517697"/>
            <a:ext cx="5057795" cy="400110"/>
          </a:xfrm>
          <a:prstGeom prst="rect">
            <a:avLst/>
          </a:prstGeom>
          <a:noFill/>
        </p:spPr>
        <p:txBody>
          <a:bodyPr wrap="none" rtlCol="0">
            <a:spAutoFit/>
          </a:bodyPr>
          <a:lstStyle/>
          <a:p>
            <a:r>
              <a:rPr lang="zh-CN" altLang="en-US" sz="2000" i="1" dirty="0">
                <a:solidFill>
                  <a:srgbClr val="C00000"/>
                </a:solidFill>
                <a:latin typeface="微软雅黑 Light" panose="020B0502040204020203" pitchFamily="34" charset="-122"/>
                <a:ea typeface="微软雅黑 Light" panose="020B0502040204020203" pitchFamily="34" charset="-122"/>
              </a:rPr>
              <a:t>卷积核还能不能更小？网络还能不能更深？</a:t>
            </a: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44037" y="4983664"/>
            <a:ext cx="1468176" cy="14681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ResNet</a:t>
            </a:r>
            <a:endParaRPr lang="en-US" altLang="zh-CN" sz="2800" b="1" dirty="0"/>
          </a:p>
        </p:txBody>
      </p:sp>
      <p:sp>
        <p:nvSpPr>
          <p:cNvPr id="8" name="内容占位符 2"/>
          <p:cNvSpPr txBox="1"/>
          <p:nvPr/>
        </p:nvSpPr>
        <p:spPr>
          <a:xfrm>
            <a:off x="607981" y="1367298"/>
            <a:ext cx="8291845" cy="1380055"/>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Paper:  Deep Residual Learning for Image Recognition (2015)</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Author:  </a:t>
            </a:r>
            <a:r>
              <a:rPr lang="en-US" altLang="zh-CN" sz="1600" u="sng" dirty="0" err="1">
                <a:latin typeface="Microsoft YaHei UI Light" panose="020B0502040204020203" pitchFamily="34" charset="-122"/>
                <a:ea typeface="微软雅黑 Light" panose="020B0502040204020203" pitchFamily="34" charset="-122"/>
                <a:cs typeface="+mn-ea"/>
                <a:sym typeface="+mn-lt"/>
              </a:rPr>
              <a:t>Kaiming</a:t>
            </a:r>
            <a:r>
              <a:rPr lang="en-US" altLang="zh-CN" sz="1600" u="sng" dirty="0">
                <a:latin typeface="Microsoft YaHei UI Light" panose="020B0502040204020203" pitchFamily="34" charset="-122"/>
                <a:ea typeface="微软雅黑 Light" panose="020B0502040204020203" pitchFamily="34" charset="-122"/>
                <a:cs typeface="+mn-ea"/>
                <a:sym typeface="+mn-lt"/>
              </a:rPr>
              <a:t> He</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u="sng" dirty="0" err="1">
                <a:latin typeface="Microsoft YaHei UI Light" panose="020B0502040204020203" pitchFamily="34" charset="-122"/>
                <a:ea typeface="微软雅黑 Light" panose="020B0502040204020203" pitchFamily="34" charset="-122"/>
                <a:cs typeface="+mn-ea"/>
                <a:sym typeface="+mn-lt"/>
              </a:rPr>
              <a:t>Xiangyu</a:t>
            </a:r>
            <a:r>
              <a:rPr lang="en-US" altLang="zh-CN" sz="1600" u="sng" dirty="0">
                <a:latin typeface="Microsoft YaHei UI Light" panose="020B0502040204020203" pitchFamily="34" charset="-122"/>
                <a:ea typeface="微软雅黑 Light" panose="020B0502040204020203" pitchFamily="34" charset="-122"/>
                <a:cs typeface="+mn-ea"/>
                <a:sym typeface="+mn-lt"/>
              </a:rPr>
              <a:t> Zhang</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u="sng" dirty="0" err="1">
                <a:latin typeface="Microsoft YaHei UI Light" panose="020B0502040204020203" pitchFamily="34" charset="-122"/>
                <a:ea typeface="微软雅黑 Light" panose="020B0502040204020203" pitchFamily="34" charset="-122"/>
                <a:cs typeface="+mn-ea"/>
                <a:sym typeface="+mn-lt"/>
              </a:rPr>
              <a:t>Shaoqing</a:t>
            </a:r>
            <a:r>
              <a:rPr lang="en-US" altLang="zh-CN" sz="1600" u="sng" dirty="0">
                <a:latin typeface="Microsoft YaHei UI Light" panose="020B0502040204020203" pitchFamily="34" charset="-122"/>
                <a:ea typeface="微软雅黑 Light" panose="020B0502040204020203" pitchFamily="34" charset="-122"/>
                <a:cs typeface="+mn-ea"/>
                <a:sym typeface="+mn-lt"/>
              </a:rPr>
              <a:t> Ren</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u="sng" dirty="0">
                <a:latin typeface="Microsoft YaHei UI Light" panose="020B0502040204020203" pitchFamily="34" charset="-122"/>
                <a:ea typeface="微软雅黑 Light" panose="020B0502040204020203" pitchFamily="34" charset="-122"/>
                <a:cs typeface="+mn-ea"/>
                <a:sym typeface="+mn-lt"/>
              </a:rPr>
              <a:t>Jian Sun</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Test: error rate on ImageNet,  top5: 3. 57% (resnet152)</a:t>
            </a:r>
          </a:p>
        </p:txBody>
      </p:sp>
      <p:pic>
        <p:nvPicPr>
          <p:cNvPr id="9" name="Picture 2" descr="https://ss.csdn.net/p?http://mmbiz.qpic.cn/mmbiz_jpg/iaTa8ut6HiawDvApRvJtwlaSkzfhuiaNRVPrrQKpnic8z5nricMT04qPSO7rZEySP9BNicCcbVx4DDJR4L2c1wp0oDgQ/640?wx_fmt=jpeg&amp;wxfrom=5&amp;wx_lazy=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981" y="2861493"/>
            <a:ext cx="5596943" cy="24408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s://ss.csdn.net/p?http://mmbiz.qpic.cn/mmbiz_png/iaTa8ut6HiawDvApRvJtwlaSkzfhuiaNRVP76J8qsJn2q40Izic6r35EapGsbRVgs0WIFOE05LO19D2xAsGs6UWPoQ/640?wx_fmt=png&amp;wxfrom=5&amp;wx_laz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1977" y="3421061"/>
            <a:ext cx="5577538" cy="29892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ResNet</a:t>
            </a:r>
            <a:endParaRPr lang="en-US" altLang="zh-CN" sz="2800" b="1" dirty="0"/>
          </a:p>
        </p:txBody>
      </p:sp>
      <p:pic>
        <p:nvPicPr>
          <p:cNvPr id="8" name="图片 7"/>
          <p:cNvPicPr>
            <a:picLocks noChangeAspect="1"/>
          </p:cNvPicPr>
          <p:nvPr/>
        </p:nvPicPr>
        <p:blipFill>
          <a:blip r:embed="rId5"/>
          <a:stretch>
            <a:fillRect/>
          </a:stretch>
        </p:blipFill>
        <p:spPr>
          <a:xfrm>
            <a:off x="2832104" y="2517831"/>
            <a:ext cx="7075400" cy="2565726"/>
          </a:xfrm>
          <a:prstGeom prst="rect">
            <a:avLst/>
          </a:prstGeom>
        </p:spPr>
      </p:pic>
      <p:sp>
        <p:nvSpPr>
          <p:cNvPr id="9" name="矩形 8"/>
          <p:cNvSpPr/>
          <p:nvPr/>
        </p:nvSpPr>
        <p:spPr>
          <a:xfrm>
            <a:off x="2258179" y="1111102"/>
            <a:ext cx="8201600" cy="1338828"/>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问题：卷积层堆积就能提升图像分类准确率吗？</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实验：分别用</a:t>
            </a:r>
            <a:r>
              <a:rPr lang="en-US" altLang="zh-CN" dirty="0">
                <a:latin typeface="Microsoft YaHei UI Light" panose="020B0502040204020203" pitchFamily="34" charset="-122"/>
                <a:ea typeface="微软雅黑 Light" panose="020B0502040204020203" pitchFamily="34" charset="-122"/>
                <a:cs typeface="+mn-ea"/>
                <a:sym typeface="+mn-lt"/>
              </a:rPr>
              <a:t>20</a:t>
            </a:r>
            <a:r>
              <a:rPr lang="zh-CN" altLang="en-US" dirty="0">
                <a:latin typeface="Microsoft YaHei UI Light" panose="020B0502040204020203" pitchFamily="34" charset="-122"/>
                <a:ea typeface="微软雅黑 Light" panose="020B0502040204020203" pitchFamily="34" charset="-122"/>
                <a:cs typeface="+mn-ea"/>
                <a:sym typeface="+mn-lt"/>
              </a:rPr>
              <a:t>层和</a:t>
            </a:r>
            <a:r>
              <a:rPr lang="en-US" altLang="zh-CN" dirty="0">
                <a:latin typeface="Microsoft YaHei UI Light" panose="020B0502040204020203" pitchFamily="34" charset="-122"/>
                <a:ea typeface="微软雅黑 Light" panose="020B0502040204020203" pitchFamily="34" charset="-122"/>
                <a:cs typeface="+mn-ea"/>
                <a:sym typeface="+mn-lt"/>
              </a:rPr>
              <a:t>56</a:t>
            </a:r>
            <a:r>
              <a:rPr lang="zh-CN" altLang="en-US" dirty="0">
                <a:latin typeface="Microsoft YaHei UI Light" panose="020B0502040204020203" pitchFamily="34" charset="-122"/>
                <a:ea typeface="微软雅黑 Light" panose="020B0502040204020203" pitchFamily="34" charset="-122"/>
                <a:cs typeface="+mn-ea"/>
                <a:sym typeface="+mn-lt"/>
              </a:rPr>
              <a:t>层卷积神经网络在</a:t>
            </a:r>
            <a:r>
              <a:rPr lang="en-US" altLang="zh-CN" dirty="0">
                <a:latin typeface="Microsoft YaHei UI Light" panose="020B0502040204020203" pitchFamily="34" charset="-122"/>
                <a:ea typeface="微软雅黑 Light" panose="020B0502040204020203" pitchFamily="34" charset="-122"/>
                <a:cs typeface="+mn-ea"/>
                <a:sym typeface="+mn-lt"/>
              </a:rPr>
              <a:t>cifar10</a:t>
            </a:r>
            <a:r>
              <a:rPr lang="zh-CN" altLang="en-US" dirty="0">
                <a:latin typeface="Microsoft YaHei UI Light" panose="020B0502040204020203" pitchFamily="34" charset="-122"/>
                <a:ea typeface="微软雅黑 Light" panose="020B0502040204020203" pitchFamily="34" charset="-122"/>
                <a:cs typeface="+mn-ea"/>
                <a:sym typeface="+mn-lt"/>
              </a:rPr>
              <a:t>数据集上进行训练和测试，发现更深的网络错误率更高，在</a:t>
            </a:r>
            <a:r>
              <a:rPr lang="en-US" altLang="zh-CN" dirty="0">
                <a:latin typeface="Microsoft YaHei UI Light" panose="020B0502040204020203" pitchFamily="34" charset="-122"/>
                <a:ea typeface="微软雅黑 Light" panose="020B0502040204020203" pitchFamily="34" charset="-122"/>
                <a:cs typeface="+mn-ea"/>
                <a:sym typeface="+mn-lt"/>
              </a:rPr>
              <a:t>ImageNet</a:t>
            </a:r>
            <a:r>
              <a:rPr lang="zh-CN" altLang="en-US" dirty="0">
                <a:latin typeface="Microsoft YaHei UI Light" panose="020B0502040204020203" pitchFamily="34" charset="-122"/>
                <a:ea typeface="微软雅黑 Light" panose="020B0502040204020203" pitchFamily="34" charset="-122"/>
                <a:cs typeface="+mn-ea"/>
                <a:sym typeface="+mn-lt"/>
              </a:rPr>
              <a:t>数据集上也同样如此。</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2258179" y="5151458"/>
            <a:ext cx="7725291" cy="92333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原因：梯度消失？</a:t>
            </a:r>
            <a:r>
              <a:rPr lang="en-US" altLang="zh-CN" dirty="0">
                <a:latin typeface="Microsoft YaHei UI Light" panose="020B0502040204020203" pitchFamily="34" charset="-122"/>
                <a:ea typeface="微软雅黑 Light" panose="020B0502040204020203" pitchFamily="34" charset="-122"/>
                <a:cs typeface="+mn-ea"/>
                <a:sym typeface="+mn-lt"/>
              </a:rPr>
              <a:t>No, </a:t>
            </a:r>
            <a:r>
              <a:rPr lang="zh-CN" altLang="en-US" dirty="0">
                <a:latin typeface="Microsoft YaHei UI Light" panose="020B0502040204020203" pitchFamily="34" charset="-122"/>
                <a:ea typeface="微软雅黑 Light" panose="020B0502040204020203" pitchFamily="34" charset="-122"/>
                <a:cs typeface="+mn-ea"/>
                <a:sym typeface="+mn-lt"/>
              </a:rPr>
              <a:t>使用</a:t>
            </a:r>
            <a:r>
              <a:rPr lang="en-US" altLang="zh-CN" dirty="0" err="1">
                <a:latin typeface="Microsoft YaHei UI Light" panose="020B0502040204020203" pitchFamily="34" charset="-122"/>
                <a:ea typeface="微软雅黑 Light" panose="020B0502040204020203" pitchFamily="34" charset="-122"/>
                <a:cs typeface="+mn-ea"/>
                <a:sym typeface="+mn-lt"/>
              </a:rPr>
              <a:t>BatchNorm</a:t>
            </a:r>
            <a:r>
              <a:rPr lang="zh-CN" altLang="en-US" dirty="0">
                <a:latin typeface="Microsoft YaHei UI Light" panose="020B0502040204020203" pitchFamily="34" charset="-122"/>
                <a:ea typeface="微软雅黑 Light" panose="020B0502040204020203" pitchFamily="34" charset="-122"/>
                <a:cs typeface="+mn-ea"/>
                <a:sym typeface="+mn-lt"/>
              </a:rPr>
              <a:t>可有效缓解梯度消失；</a:t>
            </a:r>
            <a:endParaRPr lang="en-US" altLang="zh-CN"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dirty="0">
                <a:latin typeface="Microsoft YaHei UI Light" panose="020B0502040204020203" pitchFamily="34" charset="-122"/>
                <a:ea typeface="微软雅黑 Light" panose="020B0502040204020203" pitchFamily="34" charset="-122"/>
                <a:cs typeface="+mn-ea"/>
                <a:sym typeface="+mn-lt"/>
              </a:rPr>
              <a:t>              </a:t>
            </a:r>
            <a:r>
              <a:rPr lang="zh-CN" altLang="en-US" dirty="0">
                <a:latin typeface="Microsoft YaHei UI Light" panose="020B0502040204020203" pitchFamily="34" charset="-122"/>
                <a:ea typeface="微软雅黑 Light" panose="020B0502040204020203" pitchFamily="34" charset="-122"/>
                <a:cs typeface="+mn-ea"/>
                <a:sym typeface="+mn-lt"/>
              </a:rPr>
              <a:t>过拟合？  </a:t>
            </a:r>
            <a:r>
              <a:rPr lang="en-US" altLang="zh-CN" dirty="0">
                <a:latin typeface="Microsoft YaHei UI Light" panose="020B0502040204020203" pitchFamily="34" charset="-122"/>
                <a:ea typeface="微软雅黑 Light" panose="020B0502040204020203" pitchFamily="34" charset="-122"/>
                <a:cs typeface="+mn-ea"/>
                <a:sym typeface="+mn-lt"/>
              </a:rPr>
              <a:t>No, </a:t>
            </a:r>
            <a:r>
              <a:rPr lang="zh-CN" altLang="en-US" dirty="0">
                <a:latin typeface="Microsoft YaHei UI Light" panose="020B0502040204020203" pitchFamily="34" charset="-122"/>
                <a:ea typeface="微软雅黑 Light" panose="020B0502040204020203" pitchFamily="34" charset="-122"/>
                <a:cs typeface="+mn-ea"/>
                <a:sym typeface="+mn-lt"/>
              </a:rPr>
              <a:t>更深的网络在训练集上的误差同样更高；</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3207206" y="6129194"/>
            <a:ext cx="5827236" cy="400110"/>
          </a:xfrm>
          <a:prstGeom prst="rect">
            <a:avLst/>
          </a:prstGeom>
          <a:noFill/>
        </p:spPr>
        <p:txBody>
          <a:bodyPr wrap="none" rtlCol="0">
            <a:spAutoFit/>
          </a:bodyPr>
          <a:lstStyle/>
          <a:p>
            <a:r>
              <a:rPr lang="zh-CN" altLang="en-US" sz="2000" b="1" u="sng" dirty="0">
                <a:solidFill>
                  <a:srgbClr val="C00000"/>
                </a:solidFill>
                <a:latin typeface="Microsoft YaHei UI Light" panose="020B0502040204020203" pitchFamily="34" charset="-122"/>
                <a:ea typeface="微软雅黑 Light" panose="020B0502040204020203" pitchFamily="34" charset="-122"/>
                <a:cs typeface="+mn-ea"/>
                <a:sym typeface="+mn-lt"/>
              </a:rPr>
              <a:t>神经网络退化：收敛到极值点而非最值，误差大。</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ResNet</a:t>
            </a:r>
            <a:endParaRPr lang="en-US" altLang="zh-CN" sz="2800" b="1" dirty="0"/>
          </a:p>
        </p:txBody>
      </p:sp>
      <p:sp>
        <p:nvSpPr>
          <p:cNvPr id="8" name="矩形 7"/>
          <p:cNvSpPr/>
          <p:nvPr/>
        </p:nvSpPr>
        <p:spPr>
          <a:xfrm>
            <a:off x="879802" y="4949873"/>
            <a:ext cx="7144273" cy="133882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dirty="0">
                <a:latin typeface="Microsoft YaHei UI Light" panose="020B0502040204020203" pitchFamily="34" charset="-122"/>
                <a:ea typeface="微软雅黑 Light" panose="020B0502040204020203" pitchFamily="34" charset="-122"/>
                <a:cs typeface="+mn-ea"/>
                <a:sym typeface="+mn-lt"/>
              </a:rPr>
              <a:t>Plain network(</a:t>
            </a:r>
            <a:r>
              <a:rPr lang="zh-CN" altLang="en-US" dirty="0">
                <a:latin typeface="Microsoft YaHei UI Light" panose="020B0502040204020203" pitchFamily="34" charset="-122"/>
                <a:ea typeface="微软雅黑 Light" panose="020B0502040204020203" pitchFamily="34" charset="-122"/>
                <a:cs typeface="+mn-ea"/>
                <a:sym typeface="+mn-lt"/>
              </a:rPr>
              <a:t>普通网络</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：直接用多项式拟合输出；</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dirty="0">
                <a:latin typeface="Microsoft YaHei UI Light" panose="020B0502040204020203" pitchFamily="34" charset="-122"/>
                <a:ea typeface="微软雅黑 Light" panose="020B0502040204020203" pitchFamily="34" charset="-122"/>
                <a:cs typeface="+mn-ea"/>
                <a:sym typeface="+mn-lt"/>
              </a:rPr>
              <a:t>Residual network(</a:t>
            </a:r>
            <a:r>
              <a:rPr lang="zh-CN" altLang="en-US" dirty="0">
                <a:latin typeface="Microsoft YaHei UI Light" panose="020B0502040204020203" pitchFamily="34" charset="-122"/>
                <a:ea typeface="微软雅黑 Light" panose="020B0502040204020203" pitchFamily="34" charset="-122"/>
                <a:cs typeface="+mn-ea"/>
                <a:sym typeface="+mn-lt"/>
              </a:rPr>
              <a:t>残差网络</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：用多项式拟合差值；</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优点：在解附近时权值的反应更灵敏，更容易学习获得最优解。</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9" name="内容占位符 2"/>
          <p:cNvSpPr txBox="1"/>
          <p:nvPr/>
        </p:nvSpPr>
        <p:spPr>
          <a:xfrm>
            <a:off x="879802" y="1500722"/>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什么是“残差”</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grpSp>
        <p:nvGrpSpPr>
          <p:cNvPr id="10" name="组合 9"/>
          <p:cNvGrpSpPr/>
          <p:nvPr/>
        </p:nvGrpSpPr>
        <p:grpSpPr>
          <a:xfrm>
            <a:off x="1188744" y="2395628"/>
            <a:ext cx="3037658" cy="1562941"/>
            <a:chOff x="816784" y="2359549"/>
            <a:chExt cx="3037658" cy="1562941"/>
          </a:xfrm>
        </p:grpSpPr>
        <p:sp>
          <p:nvSpPr>
            <p:cNvPr id="11" name="文本框 10"/>
            <p:cNvSpPr txBox="1"/>
            <p:nvPr/>
          </p:nvSpPr>
          <p:spPr>
            <a:xfrm>
              <a:off x="816784" y="3509224"/>
              <a:ext cx="715260" cy="369332"/>
            </a:xfrm>
            <a:prstGeom prst="rect">
              <a:avLst/>
            </a:prstGeom>
            <a:noFill/>
          </p:spPr>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input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12" name="圆角矩形 11"/>
            <p:cNvSpPr/>
            <p:nvPr/>
          </p:nvSpPr>
          <p:spPr>
            <a:xfrm>
              <a:off x="1731184" y="3465290"/>
              <a:ext cx="1013012"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crosoft YaHei UI Light" panose="020B0502040204020203" pitchFamily="34" charset="-122"/>
                  <a:ea typeface="微软雅黑 Light" panose="020B0502040204020203" pitchFamily="34" charset="-122"/>
                  <a:cs typeface="+mn-ea"/>
                  <a:sym typeface="+mn-lt"/>
                </a:rPr>
                <a:t>CNN</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2977279" y="3509224"/>
              <a:ext cx="877163" cy="369332"/>
            </a:xfrm>
            <a:prstGeom prst="rect">
              <a:avLst/>
            </a:prstGeom>
            <a:noFill/>
          </p:spPr>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output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cxnSp>
          <p:nvCxnSpPr>
            <p:cNvPr id="14" name="直接箭头连接符 13"/>
            <p:cNvCxnSpPr>
              <a:stCxn id="11" idx="3"/>
              <a:endCxn id="12" idx="1"/>
            </p:cNvCxnSpPr>
            <p:nvPr/>
          </p:nvCxnSpPr>
          <p:spPr>
            <a:xfrm>
              <a:off x="1532044" y="3693890"/>
              <a:ext cx="199140" cy="0"/>
            </a:xfrm>
            <a:prstGeom prst="straightConnector1">
              <a:avLst/>
            </a:prstGeom>
            <a:noFill/>
            <a:ln w="19050" cap="flat" cmpd="sng">
              <a:solidFill>
                <a:srgbClr val="525977"/>
              </a:solidFill>
              <a:prstDash val="solid"/>
              <a:round/>
              <a:tailEnd type="triangle"/>
            </a:ln>
            <a:effectLst/>
          </p:spPr>
        </p:cxnSp>
        <p:cxnSp>
          <p:nvCxnSpPr>
            <p:cNvPr id="16" name="直接箭头连接符 15"/>
            <p:cNvCxnSpPr>
              <a:stCxn id="12" idx="3"/>
              <a:endCxn id="13" idx="1"/>
            </p:cNvCxnSpPr>
            <p:nvPr/>
          </p:nvCxnSpPr>
          <p:spPr>
            <a:xfrm>
              <a:off x="2744196" y="3693890"/>
              <a:ext cx="233083" cy="0"/>
            </a:xfrm>
            <a:prstGeom prst="straightConnector1">
              <a:avLst/>
            </a:prstGeom>
            <a:noFill/>
            <a:ln w="19050" cap="flat" cmpd="sng">
              <a:solidFill>
                <a:srgbClr val="525977"/>
              </a:solidFill>
              <a:prstDash val="solid"/>
              <a:round/>
              <a:tailEnd type="triangle"/>
            </a:ln>
            <a:effectLst/>
          </p:spPr>
        </p:cxnSp>
        <p:sp>
          <p:nvSpPr>
            <p:cNvPr id="18" name="文本框 17"/>
            <p:cNvSpPr txBox="1"/>
            <p:nvPr/>
          </p:nvSpPr>
          <p:spPr>
            <a:xfrm>
              <a:off x="1503606" y="2359549"/>
              <a:ext cx="1585690"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plain network</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grpSp>
      <p:grpSp>
        <p:nvGrpSpPr>
          <p:cNvPr id="19" name="组合 18"/>
          <p:cNvGrpSpPr/>
          <p:nvPr/>
        </p:nvGrpSpPr>
        <p:grpSpPr>
          <a:xfrm>
            <a:off x="5017596" y="2397113"/>
            <a:ext cx="3772588" cy="2311504"/>
            <a:chOff x="4645636" y="2361034"/>
            <a:chExt cx="3772588" cy="2311504"/>
          </a:xfrm>
        </p:grpSpPr>
        <p:sp>
          <p:nvSpPr>
            <p:cNvPr id="20" name="文本框 19"/>
            <p:cNvSpPr txBox="1"/>
            <p:nvPr/>
          </p:nvSpPr>
          <p:spPr>
            <a:xfrm>
              <a:off x="4645636" y="3515811"/>
              <a:ext cx="715260" cy="369332"/>
            </a:xfrm>
            <a:prstGeom prst="rect">
              <a:avLst/>
            </a:prstGeom>
            <a:noFill/>
          </p:spPr>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input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21" name="圆角矩形 20"/>
            <p:cNvSpPr/>
            <p:nvPr/>
          </p:nvSpPr>
          <p:spPr>
            <a:xfrm>
              <a:off x="5916420" y="3471877"/>
              <a:ext cx="1013012"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crosoft YaHei UI Light" panose="020B0502040204020203" pitchFamily="34" charset="-122"/>
                  <a:ea typeface="微软雅黑 Light" panose="020B0502040204020203" pitchFamily="34" charset="-122"/>
                  <a:cs typeface="+mn-ea"/>
                  <a:sym typeface="+mn-lt"/>
                </a:rPr>
                <a:t>CNN</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a:xfrm>
              <a:off x="7541061" y="3515811"/>
              <a:ext cx="877163" cy="369332"/>
            </a:xfrm>
            <a:prstGeom prst="rect">
              <a:avLst/>
            </a:prstGeom>
            <a:noFill/>
          </p:spPr>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output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cxnSp>
          <p:nvCxnSpPr>
            <p:cNvPr id="23" name="直接箭头连接符 22"/>
            <p:cNvCxnSpPr>
              <a:stCxn id="20" idx="3"/>
              <a:endCxn id="21" idx="1"/>
            </p:cNvCxnSpPr>
            <p:nvPr/>
          </p:nvCxnSpPr>
          <p:spPr>
            <a:xfrm>
              <a:off x="5360896" y="3700477"/>
              <a:ext cx="555524" cy="0"/>
            </a:xfrm>
            <a:prstGeom prst="straightConnector1">
              <a:avLst/>
            </a:prstGeom>
            <a:noFill/>
            <a:ln w="19050" cap="flat" cmpd="sng">
              <a:solidFill>
                <a:srgbClr val="525977"/>
              </a:solidFill>
              <a:prstDash val="solid"/>
              <a:round/>
              <a:tailEnd type="triangle"/>
            </a:ln>
            <a:effectLst/>
          </p:spPr>
        </p:cxnSp>
        <p:cxnSp>
          <p:nvCxnSpPr>
            <p:cNvPr id="24" name="直接箭头连接符 23"/>
            <p:cNvCxnSpPr>
              <a:stCxn id="21" idx="3"/>
              <a:endCxn id="22" idx="1"/>
            </p:cNvCxnSpPr>
            <p:nvPr/>
          </p:nvCxnSpPr>
          <p:spPr>
            <a:xfrm>
              <a:off x="6929432" y="3700477"/>
              <a:ext cx="611629" cy="0"/>
            </a:xfrm>
            <a:prstGeom prst="straightConnector1">
              <a:avLst/>
            </a:prstGeom>
            <a:noFill/>
            <a:ln w="19050" cap="flat" cmpd="sng">
              <a:solidFill>
                <a:srgbClr val="525977"/>
              </a:solidFill>
              <a:prstDash val="solid"/>
              <a:round/>
              <a:tailEnd type="triangle"/>
            </a:ln>
            <a:effectLst/>
          </p:spPr>
        </p:cxnSp>
        <p:sp>
          <p:nvSpPr>
            <p:cNvPr id="25" name="文本框 24"/>
            <p:cNvSpPr txBox="1"/>
            <p:nvPr/>
          </p:nvSpPr>
          <p:spPr>
            <a:xfrm>
              <a:off x="5535271" y="2361034"/>
              <a:ext cx="1885324"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residual network</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cxnSp>
          <p:nvCxnSpPr>
            <p:cNvPr id="26" name="直接连接符 25"/>
            <p:cNvCxnSpPr/>
            <p:nvPr/>
          </p:nvCxnSpPr>
          <p:spPr>
            <a:xfrm flipH="1" flipV="1">
              <a:off x="5586717" y="3142858"/>
              <a:ext cx="9382" cy="548813"/>
            </a:xfrm>
            <a:prstGeom prst="line">
              <a:avLst/>
            </a:prstGeom>
            <a:noFill/>
            <a:ln w="19050" cap="flat" cmpd="sng">
              <a:solidFill>
                <a:srgbClr val="525977"/>
              </a:solidFill>
              <a:prstDash val="solid"/>
              <a:round/>
              <a:tailEnd type="none"/>
            </a:ln>
            <a:effectLst/>
          </p:spPr>
        </p:cxnSp>
        <p:cxnSp>
          <p:nvCxnSpPr>
            <p:cNvPr id="27" name="直接连接符 26"/>
            <p:cNvCxnSpPr/>
            <p:nvPr/>
          </p:nvCxnSpPr>
          <p:spPr>
            <a:xfrm>
              <a:off x="5586717" y="3152641"/>
              <a:ext cx="1657494" cy="2826"/>
            </a:xfrm>
            <a:prstGeom prst="line">
              <a:avLst/>
            </a:prstGeom>
            <a:noFill/>
            <a:ln w="19050" cap="flat" cmpd="sng">
              <a:solidFill>
                <a:srgbClr val="525977"/>
              </a:solidFill>
              <a:prstDash val="solid"/>
              <a:round/>
              <a:tailEnd type="none"/>
            </a:ln>
            <a:effectLst/>
          </p:spPr>
        </p:cxnSp>
        <p:cxnSp>
          <p:nvCxnSpPr>
            <p:cNvPr id="28" name="直接箭头连接符 27"/>
            <p:cNvCxnSpPr>
              <a:endCxn id="31" idx="0"/>
            </p:cNvCxnSpPr>
            <p:nvPr/>
          </p:nvCxnSpPr>
          <p:spPr>
            <a:xfrm>
              <a:off x="7230929" y="3148179"/>
              <a:ext cx="5658" cy="458099"/>
            </a:xfrm>
            <a:prstGeom prst="straightConnector1">
              <a:avLst/>
            </a:prstGeom>
            <a:noFill/>
            <a:ln w="19050" cap="flat" cmpd="sng">
              <a:solidFill>
                <a:srgbClr val="525977"/>
              </a:solidFill>
              <a:prstDash val="solid"/>
              <a:round/>
              <a:tailEnd type="triangle"/>
            </a:ln>
            <a:effectLst/>
          </p:spPr>
        </p:cxnSp>
        <p:sp>
          <p:nvSpPr>
            <p:cNvPr id="30" name="椭圆 29"/>
            <p:cNvSpPr/>
            <p:nvPr/>
          </p:nvSpPr>
          <p:spPr>
            <a:xfrm>
              <a:off x="5569204" y="367374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31" name="椭圆 30"/>
            <p:cNvSpPr/>
            <p:nvPr/>
          </p:nvSpPr>
          <p:spPr>
            <a:xfrm>
              <a:off x="7143221" y="3606278"/>
              <a:ext cx="186732" cy="186732"/>
            </a:xfrm>
            <a:prstGeom prst="ellipse">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2060"/>
                  </a:solidFill>
                  <a:latin typeface="Microsoft YaHei UI Light" panose="020B0502040204020203" pitchFamily="34" charset="-122"/>
                  <a:ea typeface="微软雅黑 Light" panose="020B0502040204020203" pitchFamily="34" charset="-122"/>
                  <a:cs typeface="+mn-ea"/>
                  <a:sym typeface="+mn-lt"/>
                </a:rPr>
                <a:t>+</a:t>
              </a:r>
              <a:endParaRPr lang="zh-CN" altLang="en-US" dirty="0">
                <a:solidFill>
                  <a:srgbClr val="002060"/>
                </a:solidFill>
                <a:latin typeface="Microsoft YaHei UI Light" panose="020B0502040204020203" pitchFamily="34" charset="-122"/>
                <a:ea typeface="微软雅黑 Light" panose="020B0502040204020203" pitchFamily="34" charset="-122"/>
                <a:cs typeface="+mn-ea"/>
                <a:sym typeface="+mn-lt"/>
              </a:endParaRPr>
            </a:p>
          </p:txBody>
        </p:sp>
        <p:sp>
          <p:nvSpPr>
            <p:cNvPr id="32" name="下箭头 31"/>
            <p:cNvSpPr/>
            <p:nvPr/>
          </p:nvSpPr>
          <p:spPr>
            <a:xfrm>
              <a:off x="6260869" y="4064574"/>
              <a:ext cx="324114" cy="268942"/>
            </a:xfrm>
            <a:prstGeom prst="downArrow">
              <a:avLst/>
            </a:prstGeom>
            <a:solidFill>
              <a:srgbClr val="EDF0C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5603356" y="4303206"/>
              <a:ext cx="1811714" cy="369332"/>
            </a:xfrm>
            <a:prstGeom prst="rect">
              <a:avLst/>
            </a:prstGeom>
            <a:noFill/>
          </p:spPr>
          <p:txBody>
            <a:bodyPr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(output – input)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ResNet</a:t>
            </a:r>
            <a:endParaRPr lang="en-US" altLang="zh-CN" sz="2800" b="1" dirty="0"/>
          </a:p>
        </p:txBody>
      </p:sp>
      <p:sp>
        <p:nvSpPr>
          <p:cNvPr id="8" name="内容占位符 2"/>
          <p:cNvSpPr txBox="1"/>
          <p:nvPr/>
        </p:nvSpPr>
        <p:spPr>
          <a:xfrm>
            <a:off x="802310" y="1500722"/>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残差块</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a:blip r:embed="rId5"/>
          <a:stretch>
            <a:fillRect/>
          </a:stretch>
        </p:blipFill>
        <p:spPr>
          <a:xfrm>
            <a:off x="1374455" y="2292468"/>
            <a:ext cx="2815746" cy="2546338"/>
          </a:xfrm>
          <a:prstGeom prst="rect">
            <a:avLst/>
          </a:prstGeom>
        </p:spPr>
      </p:pic>
      <p:pic>
        <p:nvPicPr>
          <p:cNvPr id="10" name="图片 9"/>
          <p:cNvPicPr>
            <a:picLocks noChangeAspect="1"/>
          </p:cNvPicPr>
          <p:nvPr/>
        </p:nvPicPr>
        <p:blipFill>
          <a:blip r:embed="rId6"/>
          <a:stretch>
            <a:fillRect/>
          </a:stretch>
        </p:blipFill>
        <p:spPr>
          <a:xfrm>
            <a:off x="4919578" y="2292468"/>
            <a:ext cx="3738961" cy="2545007"/>
          </a:xfrm>
          <a:prstGeom prst="rect">
            <a:avLst/>
          </a:prstGeom>
        </p:spPr>
      </p:pic>
      <p:sp>
        <p:nvSpPr>
          <p:cNvPr id="11" name="矩形 10"/>
          <p:cNvSpPr/>
          <p:nvPr/>
        </p:nvSpPr>
        <p:spPr>
          <a:xfrm>
            <a:off x="802310" y="5030874"/>
            <a:ext cx="7187371" cy="50783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残差网络在训练时更容易收敛</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8" name="矩形 7"/>
          <p:cNvSpPr/>
          <p:nvPr/>
        </p:nvSpPr>
        <p:spPr>
          <a:xfrm>
            <a:off x="1239864" y="-17928"/>
            <a:ext cx="9143998" cy="6876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a:blip r:embed="rId5"/>
          <a:stretch>
            <a:fillRect/>
          </a:stretch>
        </p:blipFill>
        <p:spPr>
          <a:xfrm rot="16200000">
            <a:off x="-566790" y="1788726"/>
            <a:ext cx="6876459" cy="3263152"/>
          </a:xfrm>
          <a:prstGeom prst="rect">
            <a:avLst/>
          </a:prstGeom>
        </p:spPr>
      </p:pic>
      <p:sp>
        <p:nvSpPr>
          <p:cNvPr id="10" name="内容占位符 2"/>
          <p:cNvSpPr txBox="1"/>
          <p:nvPr/>
        </p:nvSpPr>
        <p:spPr>
          <a:xfrm>
            <a:off x="4682152" y="344846"/>
            <a:ext cx="4835123"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将残差块应用到普通网络</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11" name="内容占位符 2"/>
          <p:cNvSpPr txBox="1"/>
          <p:nvPr/>
        </p:nvSpPr>
        <p:spPr>
          <a:xfrm>
            <a:off x="4731437" y="1037136"/>
            <a:ext cx="4006505" cy="57530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1600" b="1" dirty="0">
                <a:latin typeface="Microsoft YaHei UI Light" panose="020B0502040204020203" pitchFamily="34" charset="-122"/>
                <a:ea typeface="微软雅黑 Light" panose="020B0502040204020203" pitchFamily="34" charset="-122"/>
                <a:cs typeface="+mn-ea"/>
                <a:sym typeface="+mn-lt"/>
              </a:rPr>
              <a:t>改造</a:t>
            </a:r>
            <a:r>
              <a:rPr lang="en-US" altLang="zh-CN" sz="1600" b="1" dirty="0">
                <a:latin typeface="Microsoft YaHei UI Light" panose="020B0502040204020203" pitchFamily="34" charset="-122"/>
                <a:ea typeface="微软雅黑 Light" panose="020B0502040204020203" pitchFamily="34" charset="-122"/>
                <a:cs typeface="+mn-ea"/>
                <a:sym typeface="+mn-lt"/>
              </a:rPr>
              <a:t>VGG</a:t>
            </a:r>
            <a:r>
              <a:rPr lang="zh-CN" altLang="en-US" sz="1600" b="1" dirty="0">
                <a:latin typeface="Microsoft YaHei UI Light" panose="020B0502040204020203" pitchFamily="34" charset="-122"/>
                <a:ea typeface="微软雅黑 Light" panose="020B0502040204020203" pitchFamily="34" charset="-122"/>
                <a:cs typeface="+mn-ea"/>
                <a:sym typeface="+mn-lt"/>
              </a:rPr>
              <a:t>得到 </a:t>
            </a:r>
            <a:r>
              <a:rPr lang="en-US" altLang="zh-CN" sz="1600" b="1" dirty="0">
                <a:latin typeface="Microsoft YaHei UI Light" panose="020B0502040204020203" pitchFamily="34" charset="-122"/>
                <a:ea typeface="微软雅黑 Light" panose="020B0502040204020203" pitchFamily="34" charset="-122"/>
                <a:cs typeface="+mn-ea"/>
                <a:sym typeface="+mn-lt"/>
              </a:rPr>
              <a:t>plain-network</a:t>
            </a:r>
          </a:p>
        </p:txBody>
      </p:sp>
      <p:sp>
        <p:nvSpPr>
          <p:cNvPr id="12" name="矩形 11"/>
          <p:cNvSpPr/>
          <p:nvPr/>
        </p:nvSpPr>
        <p:spPr>
          <a:xfrm>
            <a:off x="4731437" y="1460353"/>
            <a:ext cx="5560986" cy="193899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600" dirty="0">
                <a:latin typeface="Microsoft YaHei UI Light" panose="020B0502040204020203" pitchFamily="34" charset="-122"/>
                <a:ea typeface="微软雅黑 Light" panose="020B0502040204020203" pitchFamily="34" charset="-122"/>
                <a:cs typeface="+mn-ea"/>
                <a:sym typeface="+mn-lt"/>
              </a:rPr>
              <a:t>plain-network</a:t>
            </a:r>
            <a:r>
              <a:rPr lang="zh-CN" altLang="en-US" sz="1600" dirty="0">
                <a:latin typeface="Microsoft YaHei UI Light" panose="020B0502040204020203" pitchFamily="34" charset="-122"/>
                <a:ea typeface="微软雅黑 Light" panose="020B0502040204020203" pitchFamily="34" charset="-122"/>
                <a:cs typeface="+mn-ea"/>
                <a:sym typeface="+mn-lt"/>
              </a:rPr>
              <a:t>：无跳转连接的普通网络；</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基本全部由卷积层构成：</a:t>
            </a:r>
            <a:r>
              <a:rPr lang="en-US" altLang="zh-CN" sz="1400" dirty="0">
                <a:latin typeface="Microsoft YaHei UI Light" panose="020B0502040204020203" pitchFamily="34" charset="-122"/>
                <a:ea typeface="微软雅黑 Light" panose="020B0502040204020203" pitchFamily="34" charset="-122"/>
                <a:cs typeface="+mn-ea"/>
                <a:sym typeface="+mn-lt"/>
              </a:rPr>
              <a:t>filter=3*3, stride=1, pad=SAME</a:t>
            </a:r>
            <a:r>
              <a:rPr lang="zh-CN" altLang="en-US" sz="1600" dirty="0">
                <a:latin typeface="Microsoft YaHei UI Light" panose="020B0502040204020203" pitchFamily="34" charset="-122"/>
                <a:ea typeface="微软雅黑 Light" panose="020B0502040204020203" pitchFamily="34" charset="-122"/>
                <a:cs typeface="+mn-ea"/>
                <a:sym typeface="+mn-lt"/>
              </a:rPr>
              <a:t>；</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特征图尺寸的减小由 </a:t>
            </a:r>
            <a:r>
              <a:rPr lang="en-US" altLang="zh-CN" sz="1600" dirty="0">
                <a:latin typeface="Microsoft YaHei UI Light" panose="020B0502040204020203" pitchFamily="34" charset="-122"/>
                <a:ea typeface="微软雅黑 Light" panose="020B0502040204020203" pitchFamily="34" charset="-122"/>
                <a:cs typeface="+mn-ea"/>
                <a:sym typeface="+mn-lt"/>
              </a:rPr>
              <a:t>stride=2 </a:t>
            </a:r>
            <a:r>
              <a:rPr lang="zh-CN" altLang="en-US" sz="1600" dirty="0">
                <a:latin typeface="Microsoft YaHei UI Light" panose="020B0502040204020203" pitchFamily="34" charset="-122"/>
                <a:ea typeface="微软雅黑 Light" panose="020B0502040204020203" pitchFamily="34" charset="-122"/>
                <a:cs typeface="+mn-ea"/>
                <a:sym typeface="+mn-lt"/>
              </a:rPr>
              <a:t>的卷积层完成；</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若特征图的尺寸不变，则特征的数量也不变；若特征图的尺寸减半，则特征图的数量翻倍；</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13" name="内容占位符 2"/>
          <p:cNvSpPr txBox="1"/>
          <p:nvPr/>
        </p:nvSpPr>
        <p:spPr>
          <a:xfrm>
            <a:off x="4731437" y="3362862"/>
            <a:ext cx="4006505" cy="575300"/>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1600" b="1" dirty="0">
                <a:latin typeface="Microsoft YaHei UI Light" panose="020B0502040204020203" pitchFamily="34" charset="-122"/>
                <a:ea typeface="微软雅黑 Light" panose="020B0502040204020203" pitchFamily="34" charset="-122"/>
                <a:cs typeface="+mn-ea"/>
                <a:sym typeface="+mn-lt"/>
              </a:rPr>
              <a:t>增加跳转连接得到 </a:t>
            </a:r>
            <a:r>
              <a:rPr lang="en-US" altLang="zh-CN" sz="1600" b="1" dirty="0" err="1">
                <a:latin typeface="Microsoft YaHei UI Light" panose="020B0502040204020203" pitchFamily="34" charset="-122"/>
                <a:ea typeface="微软雅黑 Light" panose="020B0502040204020203" pitchFamily="34" charset="-122"/>
                <a:cs typeface="+mn-ea"/>
                <a:sym typeface="+mn-lt"/>
              </a:rPr>
              <a:t>resnet</a:t>
            </a:r>
            <a:endParaRPr lang="en-US" altLang="zh-CN" sz="1600" b="1" dirty="0">
              <a:latin typeface="Microsoft YaHei UI Light" panose="020B0502040204020203" pitchFamily="34" charset="-122"/>
              <a:ea typeface="微软雅黑 Light" panose="020B0502040204020203" pitchFamily="34" charset="-122"/>
              <a:cs typeface="+mn-ea"/>
              <a:sym typeface="+mn-lt"/>
            </a:endParaRPr>
          </a:p>
        </p:txBody>
      </p:sp>
      <p:sp>
        <p:nvSpPr>
          <p:cNvPr id="14" name="矩形 13"/>
          <p:cNvSpPr/>
          <p:nvPr/>
        </p:nvSpPr>
        <p:spPr>
          <a:xfrm>
            <a:off x="4731437" y="3810943"/>
            <a:ext cx="5661071" cy="267765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实线：特征图尺寸和特征数量不变，直接相连；</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虚线：特征图尺寸减半，特征图数量翻倍；</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两种方法：</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sz="1600" dirty="0">
                <a:latin typeface="Microsoft YaHei UI Light" panose="020B0502040204020203" pitchFamily="34" charset="-122"/>
                <a:ea typeface="微软雅黑 Light" panose="020B0502040204020203" pitchFamily="34" charset="-122"/>
                <a:cs typeface="+mn-ea"/>
                <a:sym typeface="+mn-lt"/>
              </a:rPr>
              <a:t>       a. </a:t>
            </a:r>
            <a:r>
              <a:rPr lang="zh-CN" altLang="en-US" sz="1600" dirty="0">
                <a:latin typeface="Microsoft YaHei UI Light" panose="020B0502040204020203" pitchFamily="34" charset="-122"/>
                <a:ea typeface="微软雅黑 Light" panose="020B0502040204020203" pitchFamily="34" charset="-122"/>
                <a:cs typeface="+mn-ea"/>
                <a:sym typeface="+mn-lt"/>
              </a:rPr>
              <a:t>以</a:t>
            </a:r>
            <a:r>
              <a:rPr lang="en-US" altLang="zh-CN" sz="1600" dirty="0">
                <a:latin typeface="Microsoft YaHei UI Light" panose="020B0502040204020203" pitchFamily="34" charset="-122"/>
                <a:ea typeface="微软雅黑 Light" panose="020B0502040204020203" pitchFamily="34" charset="-122"/>
                <a:cs typeface="+mn-ea"/>
                <a:sym typeface="+mn-lt"/>
              </a:rPr>
              <a:t>stride=2</a:t>
            </a:r>
            <a:r>
              <a:rPr lang="zh-CN" altLang="en-US" sz="1600" dirty="0">
                <a:latin typeface="Microsoft YaHei UI Light" panose="020B0502040204020203" pitchFamily="34" charset="-122"/>
                <a:ea typeface="微软雅黑 Light" panose="020B0502040204020203" pitchFamily="34" charset="-122"/>
                <a:cs typeface="+mn-ea"/>
                <a:sym typeface="+mn-lt"/>
              </a:rPr>
              <a:t>直接取值，不够的特征补</a:t>
            </a:r>
            <a:r>
              <a:rPr lang="en-US" altLang="zh-CN" sz="1600" dirty="0">
                <a:latin typeface="Microsoft YaHei UI Light" panose="020B0502040204020203" pitchFamily="34" charset="-122"/>
                <a:ea typeface="微软雅黑 Light" panose="020B0502040204020203" pitchFamily="34" charset="-122"/>
                <a:cs typeface="+mn-ea"/>
                <a:sym typeface="+mn-lt"/>
              </a:rPr>
              <a:t>0(</a:t>
            </a:r>
            <a:r>
              <a:rPr lang="zh-CN" altLang="en-US" sz="1600" dirty="0">
                <a:latin typeface="Microsoft YaHei UI Light" panose="020B0502040204020203" pitchFamily="34" charset="-122"/>
                <a:ea typeface="微软雅黑 Light" panose="020B0502040204020203" pitchFamily="34" charset="-122"/>
                <a:cs typeface="+mn-ea"/>
                <a:sym typeface="+mn-lt"/>
              </a:rPr>
              <a:t>不引入额外参数</a:t>
            </a:r>
            <a:r>
              <a:rPr lang="en-US" altLang="zh-CN" sz="1600" dirty="0">
                <a:latin typeface="Microsoft YaHei UI Light" panose="020B0502040204020203" pitchFamily="34" charset="-122"/>
                <a:ea typeface="微软雅黑 Light" panose="020B0502040204020203" pitchFamily="34" charset="-122"/>
                <a:cs typeface="+mn-ea"/>
                <a:sym typeface="+mn-lt"/>
              </a:rPr>
              <a:t>)</a:t>
            </a:r>
            <a:r>
              <a:rPr lang="zh-CN" altLang="en-US" sz="1600" dirty="0">
                <a:latin typeface="Microsoft YaHei UI Light" panose="020B0502040204020203" pitchFamily="34" charset="-122"/>
                <a:ea typeface="微软雅黑 Light" panose="020B0502040204020203" pitchFamily="34" charset="-122"/>
                <a:cs typeface="+mn-ea"/>
                <a:sym typeface="+mn-lt"/>
              </a:rPr>
              <a:t>；</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sz="1600" dirty="0">
                <a:latin typeface="Microsoft YaHei UI Light" panose="020B0502040204020203" pitchFamily="34" charset="-122"/>
                <a:ea typeface="微软雅黑 Light" panose="020B0502040204020203" pitchFamily="34" charset="-122"/>
                <a:cs typeface="+mn-ea"/>
                <a:sym typeface="+mn-lt"/>
              </a:rPr>
              <a:t>       b. </a:t>
            </a:r>
            <a:r>
              <a:rPr lang="zh-CN" altLang="en-US" sz="1600" dirty="0">
                <a:latin typeface="Microsoft YaHei UI Light" panose="020B0502040204020203" pitchFamily="34" charset="-122"/>
                <a:ea typeface="微软雅黑 Light" panose="020B0502040204020203" pitchFamily="34" charset="-122"/>
                <a:cs typeface="+mn-ea"/>
                <a:sym typeface="+mn-lt"/>
              </a:rPr>
              <a:t>用</a:t>
            </a:r>
            <a:r>
              <a:rPr lang="en-US" altLang="zh-CN" sz="1600" dirty="0">
                <a:latin typeface="Microsoft YaHei UI Light" panose="020B0502040204020203" pitchFamily="34" charset="-122"/>
                <a:ea typeface="微软雅黑 Light" panose="020B0502040204020203" pitchFamily="34" charset="-122"/>
                <a:cs typeface="+mn-ea"/>
                <a:sym typeface="+mn-lt"/>
              </a:rPr>
              <a:t>stride=2</a:t>
            </a:r>
            <a:r>
              <a:rPr lang="zh-CN" altLang="en-US" sz="1600" dirty="0">
                <a:latin typeface="Microsoft YaHei UI Light" panose="020B0502040204020203" pitchFamily="34" charset="-122"/>
                <a:ea typeface="微软雅黑 Light" panose="020B0502040204020203" pitchFamily="34" charset="-122"/>
                <a:cs typeface="+mn-ea"/>
                <a:sym typeface="+mn-lt"/>
              </a:rPr>
              <a:t>，特征数量翻倍的的</a:t>
            </a:r>
            <a:r>
              <a:rPr lang="en-US" altLang="zh-CN" sz="1600" dirty="0">
                <a:latin typeface="Microsoft YaHei UI Light" panose="020B0502040204020203" pitchFamily="34" charset="-122"/>
                <a:ea typeface="微软雅黑 Light" panose="020B0502040204020203" pitchFamily="34" charset="-122"/>
                <a:cs typeface="+mn-ea"/>
                <a:sym typeface="+mn-lt"/>
              </a:rPr>
              <a:t>1x1</a:t>
            </a:r>
            <a:r>
              <a:rPr lang="zh-CN" altLang="en-US" sz="1600" dirty="0">
                <a:latin typeface="Microsoft YaHei UI Light" panose="020B0502040204020203" pitchFamily="34" charset="-122"/>
                <a:ea typeface="微软雅黑 Light" panose="020B0502040204020203" pitchFamily="34" charset="-122"/>
                <a:cs typeface="+mn-ea"/>
                <a:sym typeface="+mn-lt"/>
              </a:rPr>
              <a:t>卷积做映射，卷积的权值经过学习得到，会引入额外参数；</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
        <p:nvSpPr>
          <p:cNvPr id="16" name="灯片编号占位符 1"/>
          <p:cNvSpPr>
            <a:spLocks noGrp="1"/>
          </p:cNvSpPr>
          <p:nvPr>
            <p:ph type="sldNum" sz="quarter" idx="4294967295"/>
          </p:nvPr>
        </p:nvSpPr>
        <p:spPr>
          <a:xfrm>
            <a:off x="5225877" y="6453336"/>
            <a:ext cx="1162050" cy="365125"/>
          </a:xfrm>
          <a:prstGeom prst="rect">
            <a:avLst/>
          </a:prstGeom>
        </p:spPr>
        <p:txBody>
          <a:bodyPr/>
          <a:lstStyle/>
          <a:p>
            <a:fld id="{F7B54BD4-5486-4A33-9B83-769ED7785D49}" type="slidenum">
              <a:rPr lang="zh-CN" altLang="en-US" smtClean="0">
                <a:latin typeface="Microsoft YaHei UI Light" panose="020B0502040204020203" pitchFamily="34" charset="-122"/>
              </a:rPr>
              <a:t>38</a:t>
            </a:fld>
            <a:endParaRPr lang="en-US" altLang="zh-CN" dirty="0">
              <a:latin typeface="Microsoft YaHei UI Light" panose="020B0502040204020203"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ResNet</a:t>
            </a:r>
            <a:endParaRPr lang="en-US" altLang="zh-CN" sz="2800" b="1" dirty="0"/>
          </a:p>
        </p:txBody>
      </p:sp>
      <mc:AlternateContent xmlns:mc="http://schemas.openxmlformats.org/markup-compatibility/2006" xmlns:a14="http://schemas.microsoft.com/office/drawing/2010/main">
        <mc:Choice Requires="a14">
          <p:sp>
            <p:nvSpPr>
              <p:cNvPr id="12" name="矩形 11"/>
              <p:cNvSpPr/>
              <p:nvPr/>
            </p:nvSpPr>
            <p:spPr>
              <a:xfrm>
                <a:off x="753106" y="2088030"/>
                <a:ext cx="8201600" cy="873124"/>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为避免梯度消失，在每个卷积层之后、激活函数之前增加</a:t>
                </a:r>
                <a14:m>
                  <m:oMath xmlns:m="http://schemas.openxmlformats.org/officeDocument/2006/math">
                    <m:r>
                      <a:rPr lang="en-US" altLang="zh-CN" i="1" dirty="0" smtClean="0">
                        <a:latin typeface="Cambria Math" panose="02040503050406030204" pitchFamily="18" charset="0"/>
                        <a:cs typeface="+mn-ea"/>
                        <a:sym typeface="+mn-lt"/>
                      </a:rPr>
                      <m:t>𝐵𝑁</m:t>
                    </m:r>
                  </m:oMath>
                </a14:m>
                <a:r>
                  <a:rPr lang="zh-CN" altLang="en-US" dirty="0">
                    <a:latin typeface="Microsoft YaHei UI Light" panose="020B0502040204020203" pitchFamily="34" charset="-122"/>
                    <a:ea typeface="微软雅黑 Light" panose="020B0502040204020203" pitchFamily="34" charset="-122"/>
                    <a:cs typeface="+mn-ea"/>
                    <a:sym typeface="+mn-lt"/>
                  </a:rPr>
                  <a:t>层；</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使得残差模块的输入和输出在同一个值域。</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2" name="矩形 11"/>
              <p:cNvSpPr>
                <a:spLocks noRot="1" noChangeAspect="1" noMove="1" noResize="1" noEditPoints="1" noAdjustHandles="1" noChangeArrowheads="1" noChangeShapeType="1" noTextEdit="1"/>
              </p:cNvSpPr>
              <p:nvPr/>
            </p:nvSpPr>
            <p:spPr>
              <a:xfrm>
                <a:off x="753106" y="2088030"/>
                <a:ext cx="8201600" cy="873124"/>
              </a:xfrm>
              <a:prstGeom prst="rect">
                <a:avLst/>
              </a:prstGeom>
              <a:blipFill rotWithShape="1">
                <a:blip r:embed="rId5"/>
                <a:stretch>
                  <a:fillRect l="-8" t="-17" r="7" b="17"/>
                </a:stretch>
              </a:blipFill>
            </p:spPr>
            <p:txBody>
              <a:bodyPr/>
              <a:lstStyle/>
              <a:p>
                <a:r>
                  <a:rPr lang="zh-CN" altLang="en-US">
                    <a:noFill/>
                  </a:rPr>
                  <a:t> </a:t>
                </a:r>
              </a:p>
            </p:txBody>
          </p:sp>
        </mc:Fallback>
      </mc:AlternateContent>
      <p:sp>
        <p:nvSpPr>
          <p:cNvPr id="13" name="内容占位符 2"/>
          <p:cNvSpPr txBox="1"/>
          <p:nvPr/>
        </p:nvSpPr>
        <p:spPr>
          <a:xfrm>
            <a:off x="753106" y="1415082"/>
            <a:ext cx="6775782" cy="67294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err="1">
                <a:latin typeface="Microsoft YaHei UI Light" panose="020B0502040204020203" pitchFamily="34" charset="-122"/>
                <a:ea typeface="微软雅黑 Light" panose="020B0502040204020203" pitchFamily="34" charset="-122"/>
                <a:cs typeface="+mn-ea"/>
                <a:sym typeface="+mn-lt"/>
              </a:rPr>
              <a:t>BatchNorm</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pic>
        <p:nvPicPr>
          <p:cNvPr id="14" name="图片 13"/>
          <p:cNvPicPr>
            <a:picLocks noChangeAspect="1"/>
          </p:cNvPicPr>
          <p:nvPr/>
        </p:nvPicPr>
        <p:blipFill>
          <a:blip r:embed="rId6"/>
          <a:stretch>
            <a:fillRect/>
          </a:stretch>
        </p:blipFill>
        <p:spPr>
          <a:xfrm>
            <a:off x="1130821" y="3454218"/>
            <a:ext cx="3478172" cy="2367495"/>
          </a:xfrm>
          <a:prstGeom prst="rect">
            <a:avLst/>
          </a:prstGeom>
        </p:spPr>
      </p:pic>
      <p:pic>
        <p:nvPicPr>
          <p:cNvPr id="16" name="图片 15"/>
          <p:cNvPicPr>
            <a:picLocks noChangeAspect="1"/>
          </p:cNvPicPr>
          <p:nvPr/>
        </p:nvPicPr>
        <p:blipFill>
          <a:blip r:embed="rId7"/>
          <a:stretch>
            <a:fillRect/>
          </a:stretch>
        </p:blipFill>
        <p:spPr>
          <a:xfrm>
            <a:off x="5893546" y="2737606"/>
            <a:ext cx="2265929" cy="3800718"/>
          </a:xfrm>
          <a:prstGeom prst="rect">
            <a:avLst/>
          </a:prstGeom>
        </p:spPr>
      </p:pic>
      <p:sp>
        <p:nvSpPr>
          <p:cNvPr id="18" name="左右箭头 17"/>
          <p:cNvSpPr/>
          <p:nvPr/>
        </p:nvSpPr>
        <p:spPr>
          <a:xfrm>
            <a:off x="4940978" y="4479509"/>
            <a:ext cx="619760" cy="1584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err="1"/>
              <a:t>ResNet</a:t>
            </a:r>
            <a:r>
              <a:rPr lang="zh-CN" altLang="en-US" sz="2800" b="1" dirty="0"/>
              <a:t>小结</a:t>
            </a:r>
            <a:endParaRPr lang="en-US" altLang="zh-CN" sz="2800" b="1" dirty="0"/>
          </a:p>
        </p:txBody>
      </p:sp>
      <p:sp>
        <p:nvSpPr>
          <p:cNvPr id="13" name="内容占位符 2"/>
          <p:cNvSpPr txBox="1"/>
          <p:nvPr/>
        </p:nvSpPr>
        <p:spPr>
          <a:xfrm>
            <a:off x="629122" y="1415081"/>
            <a:ext cx="10932614" cy="5067057"/>
          </a:xfrm>
          <a:prstGeom prst="rect">
            <a:avLst/>
          </a:prstGeom>
        </p:spPr>
        <p:txBody>
          <a:bodyPr vert="horz">
            <a:normAutofit lnSpcReduction="10000"/>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通过使用</a:t>
            </a:r>
            <a:r>
              <a:rPr lang="en-US" altLang="zh-CN" sz="2400" dirty="0">
                <a:latin typeface="Microsoft YaHei UI Light" panose="020B0502040204020203" pitchFamily="34" charset="-122"/>
                <a:ea typeface="微软雅黑 Light" panose="020B0502040204020203" pitchFamily="34" charset="-122"/>
                <a:cs typeface="+mn-ea"/>
                <a:sym typeface="+mn-lt"/>
              </a:rPr>
              <a:t>Residual Unit</a:t>
            </a:r>
            <a:r>
              <a:rPr lang="zh-CN" altLang="en-US" sz="2400" dirty="0">
                <a:latin typeface="Microsoft YaHei UI Light" panose="020B0502040204020203" pitchFamily="34" charset="-122"/>
                <a:ea typeface="微软雅黑 Light" panose="020B0502040204020203" pitchFamily="34" charset="-122"/>
                <a:cs typeface="+mn-ea"/>
                <a:sym typeface="+mn-lt"/>
              </a:rPr>
              <a:t>成功训练</a:t>
            </a:r>
            <a:r>
              <a:rPr lang="en-US" altLang="zh-CN" sz="2400" dirty="0">
                <a:latin typeface="Microsoft YaHei UI Light" panose="020B0502040204020203" pitchFamily="34" charset="-122"/>
                <a:ea typeface="微软雅黑 Light" panose="020B0502040204020203" pitchFamily="34" charset="-122"/>
                <a:cs typeface="+mn-ea"/>
                <a:sym typeface="+mn-lt"/>
              </a:rPr>
              <a:t>152</a:t>
            </a:r>
            <a:r>
              <a:rPr lang="zh-CN" altLang="en-US" sz="2400" dirty="0">
                <a:latin typeface="Microsoft YaHei UI Light" panose="020B0502040204020203" pitchFamily="34" charset="-122"/>
                <a:ea typeface="微软雅黑 Light" panose="020B0502040204020203" pitchFamily="34" charset="-122"/>
                <a:cs typeface="+mn-ea"/>
                <a:sym typeface="+mn-lt"/>
              </a:rPr>
              <a:t>层的神经网络，参数量比</a:t>
            </a:r>
            <a:r>
              <a:rPr lang="en-US" altLang="zh-CN" sz="2400" dirty="0">
                <a:latin typeface="Microsoft YaHei UI Light" panose="020B0502040204020203" pitchFamily="34" charset="-122"/>
                <a:ea typeface="微软雅黑 Light" panose="020B0502040204020203" pitchFamily="34" charset="-122"/>
                <a:cs typeface="+mn-ea"/>
                <a:sym typeface="+mn-lt"/>
              </a:rPr>
              <a:t>VGG</a:t>
            </a:r>
            <a:r>
              <a:rPr lang="zh-CN" altLang="en-US" sz="2400" dirty="0">
                <a:latin typeface="Microsoft YaHei UI Light" panose="020B0502040204020203" pitchFamily="34" charset="-122"/>
                <a:ea typeface="微软雅黑 Light" panose="020B0502040204020203" pitchFamily="34" charset="-122"/>
                <a:cs typeface="+mn-ea"/>
                <a:sym typeface="+mn-lt"/>
              </a:rPr>
              <a:t>低，效果好</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推广性好，可以直接用到</a:t>
            </a:r>
            <a:r>
              <a:rPr lang="en-US" altLang="zh-CN" sz="2400" dirty="0">
                <a:latin typeface="Microsoft YaHei UI Light" panose="020B0502040204020203" pitchFamily="34" charset="-122"/>
                <a:ea typeface="微软雅黑 Light" panose="020B0502040204020203" pitchFamily="34" charset="-122"/>
                <a:cs typeface="+mn-ea"/>
                <a:sym typeface="+mn-lt"/>
              </a:rPr>
              <a:t>Inception Net</a:t>
            </a:r>
            <a:r>
              <a:rPr lang="zh-CN" altLang="en-US" sz="2400" dirty="0">
                <a:latin typeface="Microsoft YaHei UI Light" panose="020B0502040204020203" pitchFamily="34" charset="-122"/>
                <a:ea typeface="微软雅黑 Light" panose="020B0502040204020203" pitchFamily="34" charset="-122"/>
                <a:cs typeface="+mn-ea"/>
                <a:sym typeface="+mn-lt"/>
              </a:rPr>
              <a:t>中。</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err="1">
                <a:latin typeface="Microsoft YaHei UI Light" panose="020B0502040204020203" pitchFamily="34" charset="-122"/>
                <a:ea typeface="微软雅黑 Light" panose="020B0502040204020203" pitchFamily="34" charset="-122"/>
                <a:cs typeface="+mn-ea"/>
                <a:sym typeface="+mn-lt"/>
              </a:rPr>
              <a:t>ResNet</a:t>
            </a:r>
            <a:r>
              <a:rPr lang="zh-CN" altLang="en-US" sz="2400" dirty="0">
                <a:latin typeface="Microsoft YaHei UI Light" panose="020B0502040204020203" pitchFamily="34" charset="-122"/>
                <a:ea typeface="微软雅黑 Light" panose="020B0502040204020203" pitchFamily="34" charset="-122"/>
                <a:cs typeface="+mn-ea"/>
                <a:sym typeface="+mn-lt"/>
              </a:rPr>
              <a:t>与</a:t>
            </a:r>
            <a:r>
              <a:rPr lang="en-US" altLang="zh-CN" sz="2400" dirty="0" err="1">
                <a:latin typeface="Microsoft YaHei UI Light" panose="020B0502040204020203" pitchFamily="34" charset="-122"/>
                <a:ea typeface="微软雅黑 Light" panose="020B0502040204020203" pitchFamily="34" charset="-122"/>
                <a:cs typeface="+mn-ea"/>
                <a:sym typeface="+mn-lt"/>
              </a:rPr>
              <a:t>Schmidhuber</a:t>
            </a:r>
            <a:r>
              <a:rPr lang="zh-CN" altLang="en-US" sz="2400" dirty="0">
                <a:latin typeface="Microsoft YaHei UI Light" panose="020B0502040204020203" pitchFamily="34" charset="-122"/>
                <a:ea typeface="微软雅黑 Light" panose="020B0502040204020203" pitchFamily="34" charset="-122"/>
                <a:cs typeface="+mn-ea"/>
                <a:sym typeface="+mn-lt"/>
              </a:rPr>
              <a:t>教授（提出</a:t>
            </a:r>
            <a:r>
              <a:rPr lang="en-US" altLang="zh-CN" sz="2400" dirty="0">
                <a:latin typeface="Microsoft YaHei UI Light" panose="020B0502040204020203" pitchFamily="34" charset="-122"/>
                <a:ea typeface="微软雅黑 Light" panose="020B0502040204020203" pitchFamily="34" charset="-122"/>
                <a:cs typeface="+mn-ea"/>
                <a:sym typeface="+mn-lt"/>
              </a:rPr>
              <a:t>LSTM</a:t>
            </a:r>
            <a:r>
              <a:rPr lang="zh-CN" altLang="en-US" sz="2400" dirty="0">
                <a:latin typeface="Microsoft YaHei UI Light" panose="020B0502040204020203" pitchFamily="34" charset="-122"/>
                <a:ea typeface="微软雅黑 Light" panose="020B0502040204020203" pitchFamily="34" charset="-122"/>
                <a:cs typeface="+mn-ea"/>
                <a:sym typeface="+mn-lt"/>
              </a:rPr>
              <a:t>）提出的</a:t>
            </a:r>
            <a:r>
              <a:rPr lang="en-US" altLang="zh-CN" sz="2400" dirty="0">
                <a:latin typeface="Microsoft YaHei UI Light" panose="020B0502040204020203" pitchFamily="34" charset="-122"/>
                <a:ea typeface="微软雅黑 Light" panose="020B0502040204020203" pitchFamily="34" charset="-122"/>
                <a:cs typeface="+mn-ea"/>
                <a:sym typeface="+mn-lt"/>
              </a:rPr>
              <a:t>Highway network</a:t>
            </a:r>
            <a:r>
              <a:rPr lang="zh-CN" altLang="en-US" sz="2400" dirty="0">
                <a:latin typeface="Microsoft YaHei UI Light" panose="020B0502040204020203" pitchFamily="34" charset="-122"/>
                <a:ea typeface="微软雅黑 Light" panose="020B0502040204020203" pitchFamily="34" charset="-122"/>
                <a:cs typeface="+mn-ea"/>
                <a:sym typeface="+mn-lt"/>
              </a:rPr>
              <a:t>的原理类似，主要通过</a:t>
            </a:r>
            <a:r>
              <a:rPr lang="en-US" altLang="zh-CN" sz="2400" dirty="0">
                <a:latin typeface="Microsoft YaHei UI Light" panose="020B0502040204020203" pitchFamily="34" charset="-122"/>
                <a:ea typeface="微软雅黑 Light" panose="020B0502040204020203" pitchFamily="34" charset="-122"/>
                <a:cs typeface="+mn-ea"/>
                <a:sym typeface="+mn-lt"/>
              </a:rPr>
              <a:t>gating units</a:t>
            </a:r>
            <a:r>
              <a:rPr lang="zh-CN" altLang="en-US" sz="2400" dirty="0">
                <a:latin typeface="Microsoft YaHei UI Light" panose="020B0502040204020203" pitchFamily="34" charset="-122"/>
                <a:ea typeface="微软雅黑 Light" panose="020B0502040204020203" pitchFamily="34" charset="-122"/>
                <a:cs typeface="+mn-ea"/>
                <a:sym typeface="+mn-lt"/>
              </a:rPr>
              <a:t>（借鉴自</a:t>
            </a:r>
            <a:r>
              <a:rPr lang="en-US" altLang="zh-CN" sz="2400" dirty="0">
                <a:latin typeface="Microsoft YaHei UI Light" panose="020B0502040204020203" pitchFamily="34" charset="-122"/>
                <a:ea typeface="微软雅黑 Light" panose="020B0502040204020203" pitchFamily="34" charset="-122"/>
                <a:cs typeface="+mn-ea"/>
                <a:sym typeface="+mn-lt"/>
              </a:rPr>
              <a:t>LSTM</a:t>
            </a:r>
            <a:r>
              <a:rPr lang="zh-CN" altLang="en-US" sz="2400" dirty="0">
                <a:latin typeface="Microsoft YaHei UI Light" panose="020B0502040204020203" pitchFamily="34" charset="-122"/>
                <a:ea typeface="微软雅黑 Light" panose="020B0502040204020203" pitchFamily="34" charset="-122"/>
                <a:cs typeface="+mn-ea"/>
                <a:sym typeface="+mn-lt"/>
              </a:rPr>
              <a:t>中的</a:t>
            </a:r>
            <a:r>
              <a:rPr lang="en-US" altLang="zh-CN" sz="2400" dirty="0">
                <a:latin typeface="Microsoft YaHei UI Light" panose="020B0502040204020203" pitchFamily="34" charset="-122"/>
                <a:ea typeface="微软雅黑 Light" panose="020B0502040204020203" pitchFamily="34" charset="-122"/>
                <a:cs typeface="+mn-ea"/>
                <a:sym typeface="+mn-lt"/>
              </a:rPr>
              <a:t>gating</a:t>
            </a:r>
            <a:r>
              <a:rPr lang="zh-CN" altLang="en-US" sz="2400" dirty="0">
                <a:latin typeface="Microsoft YaHei UI Light" panose="020B0502040204020203" pitchFamily="34" charset="-122"/>
                <a:ea typeface="微软雅黑 Light" panose="020B0502040204020203" pitchFamily="34" charset="-122"/>
                <a:cs typeface="+mn-ea"/>
                <a:sym typeface="+mn-lt"/>
              </a:rPr>
              <a:t>）学习如何控制网络中的信息流，即学习原始信息应保留的比例</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err="1">
                <a:latin typeface="Microsoft YaHei UI Light" panose="020B0502040204020203" pitchFamily="34" charset="-122"/>
                <a:ea typeface="微软雅黑 Light" panose="020B0502040204020203" pitchFamily="34" charset="-122"/>
                <a:cs typeface="+mn-ea"/>
                <a:sym typeface="+mn-lt"/>
              </a:rPr>
              <a:t>ResNet</a:t>
            </a:r>
            <a:r>
              <a:rPr lang="zh-CN" altLang="en-US" sz="2400" dirty="0">
                <a:latin typeface="Microsoft YaHei UI Light" panose="020B0502040204020203" pitchFamily="34" charset="-122"/>
                <a:ea typeface="微软雅黑 Light" panose="020B0502040204020203" pitchFamily="34" charset="-122"/>
                <a:cs typeface="+mn-ea"/>
                <a:sym typeface="+mn-lt"/>
              </a:rPr>
              <a:t>相当于改变了学习目标，不是学习一个完整的输出</a:t>
            </a:r>
            <a:r>
              <a:rPr lang="en-US" altLang="zh-CN" sz="2400" dirty="0">
                <a:latin typeface="Microsoft YaHei UI Light" panose="020B0502040204020203" pitchFamily="34" charset="-122"/>
                <a:ea typeface="微软雅黑 Light" panose="020B0502040204020203" pitchFamily="34" charset="-122"/>
                <a:cs typeface="+mn-ea"/>
                <a:sym typeface="+mn-lt"/>
              </a:rPr>
              <a:t>H(x)</a:t>
            </a:r>
            <a:r>
              <a:rPr lang="zh-CN" altLang="en-US" sz="2400" dirty="0">
                <a:latin typeface="Microsoft YaHei UI Light" panose="020B0502040204020203" pitchFamily="34" charset="-122"/>
                <a:ea typeface="微软雅黑 Light" panose="020B0502040204020203" pitchFamily="34" charset="-122"/>
                <a:cs typeface="+mn-ea"/>
                <a:sym typeface="+mn-lt"/>
              </a:rPr>
              <a:t>，只是输出和输入的差</a:t>
            </a:r>
            <a:r>
              <a:rPr lang="en-US" altLang="zh-CN" sz="2400" dirty="0">
                <a:latin typeface="Microsoft YaHei UI Light" panose="020B0502040204020203" pitchFamily="34" charset="-122"/>
                <a:ea typeface="微软雅黑 Light" panose="020B0502040204020203" pitchFamily="34" charset="-122"/>
                <a:cs typeface="+mn-ea"/>
                <a:sym typeface="+mn-lt"/>
              </a:rPr>
              <a:t>H(x)-x</a:t>
            </a:r>
            <a:r>
              <a:rPr lang="zh-CN" altLang="en-US" sz="2400" dirty="0">
                <a:latin typeface="Microsoft YaHei UI Light" panose="020B0502040204020203" pitchFamily="34" charset="-122"/>
                <a:ea typeface="微软雅黑 Light" panose="020B0502040204020203" pitchFamily="34" charset="-122"/>
                <a:cs typeface="+mn-ea"/>
                <a:sym typeface="+mn-lt"/>
              </a:rPr>
              <a:t>，即残差。</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Inception V4</a:t>
            </a:r>
            <a:r>
              <a:rPr lang="zh-CN" altLang="en-US" sz="2400" dirty="0">
                <a:latin typeface="Microsoft YaHei UI Light" panose="020B0502040204020203" pitchFamily="34" charset="-122"/>
                <a:ea typeface="微软雅黑 Light" panose="020B0502040204020203" pitchFamily="34" charset="-122"/>
                <a:cs typeface="+mn-ea"/>
                <a:sym typeface="+mn-lt"/>
              </a:rPr>
              <a:t>借鉴了</a:t>
            </a:r>
            <a:r>
              <a:rPr lang="en-US" altLang="zh-CN" sz="2400" dirty="0" err="1">
                <a:latin typeface="Microsoft YaHei UI Light" panose="020B0502040204020203" pitchFamily="34" charset="-122"/>
                <a:ea typeface="微软雅黑 Light" panose="020B0502040204020203" pitchFamily="34" charset="-122"/>
                <a:cs typeface="+mn-ea"/>
                <a:sym typeface="+mn-lt"/>
              </a:rPr>
              <a:t>ResNet</a:t>
            </a:r>
            <a:r>
              <a:rPr lang="zh-CN" altLang="en-US" sz="2400" dirty="0">
                <a:latin typeface="Microsoft YaHei UI Light" panose="020B0502040204020203" pitchFamily="34" charset="-122"/>
                <a:ea typeface="微软雅黑 Light" panose="020B0502040204020203" pitchFamily="34" charset="-122"/>
                <a:cs typeface="+mn-ea"/>
                <a:sym typeface="+mn-lt"/>
              </a:rPr>
              <a:t>，通过融合两个模型，在</a:t>
            </a:r>
            <a:r>
              <a:rPr lang="en-US" altLang="zh-CN" sz="2400" dirty="0">
                <a:latin typeface="Microsoft YaHei UI Light" panose="020B0502040204020203" pitchFamily="34" charset="-122"/>
                <a:ea typeface="微软雅黑 Light" panose="020B0502040204020203" pitchFamily="34" charset="-122"/>
                <a:cs typeface="+mn-ea"/>
                <a:sym typeface="+mn-lt"/>
              </a:rPr>
              <a:t>ILSVRC</a:t>
            </a:r>
            <a:r>
              <a:rPr lang="zh-CN" altLang="en-US" sz="2400" dirty="0">
                <a:latin typeface="Microsoft YaHei UI Light" panose="020B0502040204020203" pitchFamily="34" charset="-122"/>
                <a:ea typeface="微软雅黑 Light" panose="020B0502040204020203" pitchFamily="34" charset="-122"/>
                <a:cs typeface="+mn-ea"/>
                <a:sym typeface="+mn-lt"/>
              </a:rPr>
              <a:t>数据集上取得</a:t>
            </a:r>
            <a:r>
              <a:rPr lang="en-US" altLang="zh-CN" sz="2400" dirty="0">
                <a:latin typeface="Microsoft YaHei UI Light" panose="020B0502040204020203" pitchFamily="34" charset="-122"/>
                <a:ea typeface="微软雅黑 Light" panose="020B0502040204020203" pitchFamily="34" charset="-122"/>
                <a:cs typeface="+mn-ea"/>
                <a:sym typeface="+mn-lt"/>
              </a:rPr>
              <a:t>3.08%</a:t>
            </a:r>
            <a:r>
              <a:rPr lang="zh-CN" altLang="en-US" sz="2400" dirty="0">
                <a:latin typeface="Microsoft YaHei UI Light" panose="020B0502040204020203" pitchFamily="34" charset="-122"/>
                <a:ea typeface="微软雅黑 Light" panose="020B0502040204020203" pitchFamily="34" charset="-122"/>
                <a:cs typeface="+mn-ea"/>
                <a:sym typeface="+mn-lt"/>
              </a:rPr>
              <a:t>的错误率。</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基于</a:t>
            </a:r>
            <a:r>
              <a:rPr lang="en-US" altLang="zh-CN" sz="2800" b="1" dirty="0"/>
              <a:t>CNN</a:t>
            </a:r>
            <a:r>
              <a:rPr lang="zh-CN" altLang="en-US" sz="2800" b="1" dirty="0"/>
              <a:t>的图像检测算法</a:t>
            </a:r>
            <a:endParaRPr lang="en-US" altLang="zh-CN" sz="2800" b="1" dirty="0"/>
          </a:p>
        </p:txBody>
      </p:sp>
      <p:sp>
        <p:nvSpPr>
          <p:cNvPr id="8" name="内容占位符 2"/>
          <p:cNvSpPr txBox="1"/>
          <p:nvPr/>
        </p:nvSpPr>
        <p:spPr>
          <a:xfrm>
            <a:off x="864976" y="1499793"/>
            <a:ext cx="7659092" cy="261778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R-CNN</a:t>
            </a:r>
            <a:r>
              <a:rPr lang="zh-CN" altLang="en-US" sz="2400" dirty="0">
                <a:latin typeface="Microsoft YaHei UI Light" panose="020B0502040204020203" pitchFamily="34" charset="-122"/>
                <a:ea typeface="微软雅黑 Light" panose="020B0502040204020203" pitchFamily="34" charset="-122"/>
                <a:cs typeface="+mn-ea"/>
                <a:sym typeface="+mn-lt"/>
              </a:rPr>
              <a:t>系列</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YOLO</a:t>
            </a: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SSD</a:t>
            </a:r>
          </a:p>
        </p:txBody>
      </p:sp>
      <p:sp>
        <p:nvSpPr>
          <p:cNvPr id="9" name="矩形 8"/>
          <p:cNvSpPr/>
          <p:nvPr/>
        </p:nvSpPr>
        <p:spPr>
          <a:xfrm>
            <a:off x="1009667" y="4573202"/>
            <a:ext cx="8642230" cy="1200329"/>
          </a:xfrm>
          <a:prstGeom prst="rect">
            <a:avLst/>
          </a:prstGeom>
          <a:solidFill>
            <a:srgbClr val="EDF0CA"/>
          </a:solidFill>
          <a:ln w="19050">
            <a:solidFill>
              <a:srgbClr val="181818"/>
            </a:solidFill>
          </a:ln>
        </p:spPr>
        <p:txBody>
          <a:bodyPr wrap="square">
            <a:spAutoFit/>
          </a:bodyPr>
          <a:lstStyle/>
          <a:p>
            <a:pPr>
              <a:lnSpc>
                <a:spcPct val="150000"/>
              </a:lnSpc>
            </a:pPr>
            <a:r>
              <a:rPr lang="zh-CN" altLang="en-US" sz="1600" u="sng" dirty="0">
                <a:latin typeface="Microsoft YaHei UI Light" panose="020B0502040204020203" pitchFamily="34" charset="-122"/>
                <a:ea typeface="微软雅黑 Light" panose="020B0502040204020203" pitchFamily="34" charset="-122"/>
                <a:cs typeface="+mn-ea"/>
                <a:sym typeface="+mn-lt"/>
              </a:rPr>
              <a:t>目前，基于深度学习的目标检测算法大致分为两类： </a:t>
            </a:r>
            <a:br>
              <a:rPr lang="zh-CN" altLang="en-US" sz="1600" u="sng" dirty="0">
                <a:latin typeface="Microsoft YaHei UI Light" panose="020B0502040204020203" pitchFamily="34" charset="-122"/>
                <a:ea typeface="微软雅黑 Light" panose="020B0502040204020203" pitchFamily="34" charset="-122"/>
                <a:cs typeface="+mn-ea"/>
                <a:sym typeface="+mn-lt"/>
              </a:rPr>
            </a:br>
            <a:r>
              <a:rPr lang="en-US" altLang="zh-CN" sz="1600" u="sng" dirty="0">
                <a:latin typeface="Microsoft YaHei UI Light" panose="020B0502040204020203" pitchFamily="34" charset="-122"/>
                <a:ea typeface="微软雅黑 Light" panose="020B0502040204020203" pitchFamily="34" charset="-122"/>
                <a:cs typeface="+mn-ea"/>
                <a:sym typeface="+mn-lt"/>
              </a:rPr>
              <a:t>1.</a:t>
            </a:r>
            <a:r>
              <a:rPr lang="zh-CN" altLang="en-US" sz="1600" u="sng" dirty="0">
                <a:latin typeface="Microsoft YaHei UI Light" panose="020B0502040204020203" pitchFamily="34" charset="-122"/>
                <a:ea typeface="微软雅黑 Light" panose="020B0502040204020203" pitchFamily="34" charset="-122"/>
                <a:cs typeface="+mn-ea"/>
                <a:sym typeface="+mn-lt"/>
              </a:rPr>
              <a:t>两步走（</a:t>
            </a:r>
            <a:r>
              <a:rPr lang="en-US" altLang="zh-CN" sz="1600" u="sng" dirty="0">
                <a:latin typeface="Microsoft YaHei UI Light" panose="020B0502040204020203" pitchFamily="34" charset="-122"/>
                <a:ea typeface="微软雅黑 Light" panose="020B0502040204020203" pitchFamily="34" charset="-122"/>
                <a:cs typeface="+mn-ea"/>
                <a:sym typeface="+mn-lt"/>
              </a:rPr>
              <a:t>two-stage</a:t>
            </a:r>
            <a:r>
              <a:rPr lang="zh-CN" altLang="en-US" sz="1600" u="sng" dirty="0">
                <a:latin typeface="Microsoft YaHei UI Light" panose="020B0502040204020203" pitchFamily="34" charset="-122"/>
                <a:ea typeface="微软雅黑 Light" panose="020B0502040204020203" pitchFamily="34" charset="-122"/>
                <a:cs typeface="+mn-ea"/>
                <a:sym typeface="+mn-lt"/>
              </a:rPr>
              <a:t>）算法：基于候选区域方法，先产生边界框</a:t>
            </a:r>
            <a:r>
              <a:rPr lang="zh-CN" altLang="en-US" sz="1600" b="1" u="sng" dirty="0">
                <a:latin typeface="Microsoft YaHei UI Light" panose="020B0502040204020203" pitchFamily="34" charset="-122"/>
                <a:ea typeface="微软雅黑 Light" panose="020B0502040204020203" pitchFamily="34" charset="-122"/>
                <a:cs typeface="+mn-ea"/>
                <a:sym typeface="+mn-lt"/>
              </a:rPr>
              <a:t>，</a:t>
            </a:r>
            <a:r>
              <a:rPr lang="zh-CN" altLang="en-US" sz="1600" u="sng" dirty="0">
                <a:latin typeface="Microsoft YaHei UI Light" panose="020B0502040204020203" pitchFamily="34" charset="-122"/>
                <a:ea typeface="微软雅黑 Light" panose="020B0502040204020203" pitchFamily="34" charset="-122"/>
                <a:cs typeface="+mn-ea"/>
                <a:sym typeface="+mn-lt"/>
              </a:rPr>
              <a:t>再做</a:t>
            </a:r>
            <a:r>
              <a:rPr lang="en-US" altLang="zh-CN" sz="1600" u="sng" dirty="0">
                <a:latin typeface="Microsoft YaHei UI Light" panose="020B0502040204020203" pitchFamily="34" charset="-122"/>
                <a:ea typeface="微软雅黑 Light" panose="020B0502040204020203" pitchFamily="34" charset="-122"/>
                <a:cs typeface="+mn-ea"/>
                <a:sym typeface="+mn-lt"/>
              </a:rPr>
              <a:t>CNN</a:t>
            </a:r>
            <a:r>
              <a:rPr lang="zh-CN" altLang="en-US" sz="1600" u="sng" dirty="0">
                <a:latin typeface="Microsoft YaHei UI Light" panose="020B0502040204020203" pitchFamily="34" charset="-122"/>
                <a:ea typeface="微软雅黑 Light" panose="020B0502040204020203" pitchFamily="34" charset="-122"/>
                <a:cs typeface="+mn-ea"/>
                <a:sym typeface="+mn-lt"/>
              </a:rPr>
              <a:t>分类</a:t>
            </a:r>
            <a:r>
              <a:rPr lang="en-US" altLang="zh-CN" sz="1600" u="sng" dirty="0">
                <a:latin typeface="Microsoft YaHei UI Light" panose="020B0502040204020203" pitchFamily="34" charset="-122"/>
                <a:ea typeface="微软雅黑 Light" panose="020B0502040204020203" pitchFamily="34" charset="-122"/>
                <a:cs typeface="+mn-ea"/>
                <a:sym typeface="+mn-lt"/>
              </a:rPr>
              <a:t>(R-CNN</a:t>
            </a:r>
            <a:r>
              <a:rPr lang="zh-CN" altLang="en-US" sz="1600" u="sng" dirty="0">
                <a:latin typeface="Microsoft YaHei UI Light" panose="020B0502040204020203" pitchFamily="34" charset="-122"/>
                <a:ea typeface="微软雅黑 Light" panose="020B0502040204020203" pitchFamily="34" charset="-122"/>
                <a:cs typeface="+mn-ea"/>
                <a:sym typeface="+mn-lt"/>
              </a:rPr>
              <a:t>系列</a:t>
            </a:r>
            <a:r>
              <a:rPr lang="en-US" altLang="zh-CN" sz="1600" u="sng" dirty="0">
                <a:latin typeface="Microsoft YaHei UI Light" panose="020B0502040204020203" pitchFamily="34" charset="-122"/>
                <a:ea typeface="微软雅黑 Light" panose="020B0502040204020203" pitchFamily="34" charset="-122"/>
                <a:cs typeface="+mn-ea"/>
                <a:sym typeface="+mn-lt"/>
              </a:rPr>
              <a:t>)</a:t>
            </a:r>
            <a:r>
              <a:rPr lang="zh-CN" altLang="en-US" sz="1600" u="sng" dirty="0">
                <a:latin typeface="Microsoft YaHei UI Light" panose="020B0502040204020203" pitchFamily="34" charset="-122"/>
                <a:ea typeface="微软雅黑 Light" panose="020B0502040204020203" pitchFamily="34" charset="-122"/>
                <a:cs typeface="+mn-ea"/>
                <a:sym typeface="+mn-lt"/>
              </a:rPr>
              <a:t> </a:t>
            </a:r>
            <a:br>
              <a:rPr lang="zh-CN" altLang="en-US" sz="1600" u="sng" dirty="0">
                <a:latin typeface="Microsoft YaHei UI Light" panose="020B0502040204020203" pitchFamily="34" charset="-122"/>
                <a:ea typeface="微软雅黑 Light" panose="020B0502040204020203" pitchFamily="34" charset="-122"/>
                <a:cs typeface="+mn-ea"/>
                <a:sym typeface="+mn-lt"/>
              </a:rPr>
            </a:br>
            <a:r>
              <a:rPr lang="en-US" altLang="zh-CN" sz="1600" u="sng" dirty="0">
                <a:latin typeface="Microsoft YaHei UI Light" panose="020B0502040204020203" pitchFamily="34" charset="-122"/>
                <a:ea typeface="微软雅黑 Light" panose="020B0502040204020203" pitchFamily="34" charset="-122"/>
                <a:cs typeface="+mn-ea"/>
                <a:sym typeface="+mn-lt"/>
              </a:rPr>
              <a:t>2.</a:t>
            </a:r>
            <a:r>
              <a:rPr lang="zh-CN" altLang="en-US" sz="1600" u="sng" dirty="0">
                <a:latin typeface="Microsoft YaHei UI Light" panose="020B0502040204020203" pitchFamily="34" charset="-122"/>
                <a:ea typeface="微软雅黑 Light" panose="020B0502040204020203" pitchFamily="34" charset="-122"/>
                <a:cs typeface="+mn-ea"/>
                <a:sym typeface="+mn-lt"/>
              </a:rPr>
              <a:t>一步走（</a:t>
            </a:r>
            <a:r>
              <a:rPr lang="en-US" altLang="zh-CN" sz="1600" u="sng" dirty="0">
                <a:latin typeface="Microsoft YaHei UI Light" panose="020B0502040204020203" pitchFamily="34" charset="-122"/>
                <a:ea typeface="微软雅黑 Light" panose="020B0502040204020203" pitchFamily="34" charset="-122"/>
                <a:cs typeface="+mn-ea"/>
                <a:sym typeface="+mn-lt"/>
              </a:rPr>
              <a:t>one-stage</a:t>
            </a:r>
            <a:r>
              <a:rPr lang="zh-CN" altLang="en-US" sz="1600" u="sng" dirty="0">
                <a:latin typeface="Microsoft YaHei UI Light" panose="020B0502040204020203" pitchFamily="34" charset="-122"/>
                <a:ea typeface="微软雅黑 Light" panose="020B0502040204020203" pitchFamily="34" charset="-122"/>
                <a:cs typeface="+mn-ea"/>
                <a:sym typeface="+mn-lt"/>
              </a:rPr>
              <a:t>）算法：</a:t>
            </a:r>
            <a:r>
              <a:rPr lang="zh-CN" altLang="en-US" sz="1600" b="1" u="sng" dirty="0">
                <a:latin typeface="Microsoft YaHei UI Light" panose="020B0502040204020203" pitchFamily="34" charset="-122"/>
                <a:ea typeface="微软雅黑 Light" panose="020B0502040204020203" pitchFamily="34" charset="-122"/>
                <a:cs typeface="+mn-ea"/>
                <a:sym typeface="+mn-lt"/>
              </a:rPr>
              <a:t>对输入图像</a:t>
            </a:r>
            <a:r>
              <a:rPr lang="zh-CN" altLang="en-US" sz="1600" u="sng" dirty="0">
                <a:latin typeface="Microsoft YaHei UI Light" panose="020B0502040204020203" pitchFamily="34" charset="-122"/>
                <a:ea typeface="微软雅黑 Light" panose="020B0502040204020203" pitchFamily="34" charset="-122"/>
                <a:cs typeface="+mn-ea"/>
                <a:sym typeface="+mn-lt"/>
              </a:rPr>
              <a:t>直接处理，同时输出定位及其类别 </a:t>
            </a:r>
            <a:r>
              <a:rPr lang="en-US" altLang="zh-CN" sz="1600" u="sng" dirty="0">
                <a:latin typeface="Microsoft YaHei UI Light" panose="020B0502040204020203" pitchFamily="34" charset="-122"/>
                <a:ea typeface="微软雅黑 Light" panose="020B0502040204020203" pitchFamily="34" charset="-122"/>
                <a:cs typeface="+mn-ea"/>
                <a:sym typeface="+mn-lt"/>
              </a:rPr>
              <a:t>(YOLO</a:t>
            </a:r>
            <a:r>
              <a:rPr lang="zh-CN" altLang="en-US" sz="1600" u="sng" dirty="0">
                <a:latin typeface="Microsoft YaHei UI Light" panose="020B0502040204020203" pitchFamily="34" charset="-122"/>
                <a:ea typeface="微软雅黑 Light" panose="020B0502040204020203" pitchFamily="34" charset="-122"/>
                <a:cs typeface="+mn-ea"/>
                <a:sym typeface="+mn-lt"/>
              </a:rPr>
              <a:t>系列</a:t>
            </a:r>
            <a:r>
              <a:rPr lang="en-US" altLang="zh-CN" sz="1600" u="sng" dirty="0">
                <a:latin typeface="Microsoft YaHei UI Light" panose="020B0502040204020203" pitchFamily="34" charset="-122"/>
                <a:ea typeface="微软雅黑 Light" panose="020B0502040204020203" pitchFamily="34" charset="-122"/>
                <a:cs typeface="+mn-ea"/>
                <a:sym typeface="+mn-lt"/>
              </a:rPr>
              <a:t>)</a:t>
            </a:r>
            <a:r>
              <a:rPr lang="zh-CN" altLang="en-US" sz="1600" u="sng" dirty="0">
                <a:latin typeface="Microsoft YaHei UI Light" panose="020B0502040204020203" pitchFamily="34" charset="-122"/>
                <a:ea typeface="微软雅黑 Light" panose="020B0502040204020203" pitchFamily="34" charset="-122"/>
                <a:cs typeface="+mn-ea"/>
                <a:sym typeface="+mn-lt"/>
              </a:rPr>
              <a:t> </a:t>
            </a:r>
            <a:endParaRPr lang="en-US" altLang="zh-CN" sz="1600" u="sng"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r>
              <a:rPr lang="zh-CN" altLang="en-US" sz="2800" b="1" dirty="0"/>
              <a:t>系列</a:t>
            </a:r>
            <a:endParaRPr lang="en-US" altLang="zh-CN" sz="2800" b="1" dirty="0"/>
          </a:p>
        </p:txBody>
      </p:sp>
      <p:sp>
        <p:nvSpPr>
          <p:cNvPr id="8" name="内容占位符 2"/>
          <p:cNvSpPr txBox="1"/>
          <p:nvPr/>
        </p:nvSpPr>
        <p:spPr>
          <a:xfrm>
            <a:off x="662239" y="1500722"/>
            <a:ext cx="10692698" cy="1940396"/>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R-CNN</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err="1">
                <a:latin typeface="Microsoft YaHei UI Light" panose="020B0502040204020203" pitchFamily="34" charset="-122"/>
                <a:ea typeface="微软雅黑 Light" panose="020B0502040204020203" pitchFamily="34" charset="-122"/>
                <a:cs typeface="+mn-ea"/>
                <a:sym typeface="+mn-lt"/>
              </a:rPr>
              <a:t>Girshick</a:t>
            </a:r>
            <a:r>
              <a:rPr lang="en-US" altLang="zh-CN" sz="1600" dirty="0">
                <a:latin typeface="Microsoft YaHei UI Light" panose="020B0502040204020203" pitchFamily="34" charset="-122"/>
                <a:ea typeface="微软雅黑 Light" panose="020B0502040204020203" pitchFamily="34" charset="-122"/>
                <a:cs typeface="+mn-ea"/>
                <a:sym typeface="+mn-lt"/>
              </a:rPr>
              <a:t> R , Donahue J , Darrell T , et al.  Rich Feature Hierarchies for Accurate Object Detection and Semantic Segmentation[C]. CVPR 2014.</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Fast R-CNN</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err="1">
                <a:latin typeface="Microsoft YaHei UI Light" panose="020B0502040204020203" pitchFamily="34" charset="-122"/>
                <a:ea typeface="微软雅黑 Light" panose="020B0502040204020203" pitchFamily="34" charset="-122"/>
                <a:cs typeface="+mn-ea"/>
                <a:sym typeface="+mn-lt"/>
              </a:rPr>
              <a:t>Girshick</a:t>
            </a:r>
            <a:r>
              <a:rPr lang="en-US" altLang="zh-CN" sz="1600" dirty="0">
                <a:latin typeface="Microsoft YaHei UI Light" panose="020B0502040204020203" pitchFamily="34" charset="-122"/>
                <a:ea typeface="微软雅黑 Light" panose="020B0502040204020203" pitchFamily="34" charset="-122"/>
                <a:cs typeface="+mn-ea"/>
                <a:sym typeface="+mn-lt"/>
              </a:rPr>
              <a:t> R. Fast R-CNN[J]. Computer Science, 2015.</a:t>
            </a:r>
          </a:p>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Faster R-CNN </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Ren S, He K, </a:t>
            </a:r>
            <a:r>
              <a:rPr lang="en-US" altLang="zh-CN" sz="1600" dirty="0" err="1">
                <a:latin typeface="Microsoft YaHei UI Light" panose="020B0502040204020203" pitchFamily="34" charset="-122"/>
                <a:ea typeface="微软雅黑 Light" panose="020B0502040204020203" pitchFamily="34" charset="-122"/>
                <a:cs typeface="+mn-ea"/>
                <a:sym typeface="+mn-lt"/>
              </a:rPr>
              <a:t>Girshick</a:t>
            </a:r>
            <a:r>
              <a:rPr lang="en-US" altLang="zh-CN" sz="1600" dirty="0">
                <a:latin typeface="Microsoft YaHei UI Light" panose="020B0502040204020203" pitchFamily="34" charset="-122"/>
                <a:ea typeface="微软雅黑 Light" panose="020B0502040204020203" pitchFamily="34" charset="-122"/>
                <a:cs typeface="+mn-ea"/>
                <a:sym typeface="+mn-lt"/>
              </a:rPr>
              <a:t> R, et al.  Faster R-CNN: towards real-time object detection with region proposal networks[C], 2015:91-99.</a:t>
            </a:r>
          </a:p>
        </p:txBody>
      </p:sp>
      <p:graphicFrame>
        <p:nvGraphicFramePr>
          <p:cNvPr id="9" name="表格 8"/>
          <p:cNvGraphicFramePr>
            <a:graphicFrameLocks noGrp="1"/>
          </p:cNvGraphicFramePr>
          <p:nvPr/>
        </p:nvGraphicFramePr>
        <p:xfrm>
          <a:off x="1241640" y="3702363"/>
          <a:ext cx="9365296" cy="2546018"/>
        </p:xfrm>
        <a:graphic>
          <a:graphicData uri="http://schemas.openxmlformats.org/drawingml/2006/table">
            <a:tbl>
              <a:tblPr firstRow="1" bandRow="1">
                <a:tableStyleId>{5C22544A-7EE6-4342-B048-85BDC9FD1C3A}</a:tableStyleId>
              </a:tblPr>
              <a:tblGrid>
                <a:gridCol w="1613217">
                  <a:extLst>
                    <a:ext uri="{9D8B030D-6E8A-4147-A177-3AD203B41FA5}">
                      <a16:colId xmlns:a16="http://schemas.microsoft.com/office/drawing/2014/main" val="20000"/>
                    </a:ext>
                  </a:extLst>
                </a:gridCol>
                <a:gridCol w="5008880">
                  <a:extLst>
                    <a:ext uri="{9D8B030D-6E8A-4147-A177-3AD203B41FA5}">
                      <a16:colId xmlns:a16="http://schemas.microsoft.com/office/drawing/2014/main" val="20001"/>
                    </a:ext>
                  </a:extLst>
                </a:gridCol>
                <a:gridCol w="1434353">
                  <a:extLst>
                    <a:ext uri="{9D8B030D-6E8A-4147-A177-3AD203B41FA5}">
                      <a16:colId xmlns:a16="http://schemas.microsoft.com/office/drawing/2014/main" val="20002"/>
                    </a:ext>
                  </a:extLst>
                </a:gridCol>
                <a:gridCol w="1308846">
                  <a:extLst>
                    <a:ext uri="{9D8B030D-6E8A-4147-A177-3AD203B41FA5}">
                      <a16:colId xmlns:a16="http://schemas.microsoft.com/office/drawing/2014/main" val="20003"/>
                    </a:ext>
                  </a:extLst>
                </a:gridCol>
              </a:tblGrid>
              <a:tr h="370840">
                <a:tc>
                  <a:txBody>
                    <a:bodyPr/>
                    <a:lstStyle/>
                    <a:p>
                      <a:pPr algn="ctr"/>
                      <a:r>
                        <a:rPr lang="zh-CN" altLang="en-US" sz="1800" dirty="0">
                          <a:latin typeface="+mn-lt"/>
                          <a:ea typeface="+mn-ea"/>
                          <a:cs typeface="+mn-ea"/>
                          <a:sym typeface="+mn-lt"/>
                        </a:rPr>
                        <a:t>网络</a:t>
                      </a:r>
                    </a:p>
                  </a:txBody>
                  <a:tcPr/>
                </a:tc>
                <a:tc>
                  <a:txBody>
                    <a:bodyPr/>
                    <a:lstStyle/>
                    <a:p>
                      <a:pPr algn="ctr"/>
                      <a:r>
                        <a:rPr lang="zh-CN" altLang="en-US" sz="1800" dirty="0">
                          <a:latin typeface="+mn-lt"/>
                          <a:ea typeface="+mn-ea"/>
                          <a:cs typeface="+mn-ea"/>
                          <a:sym typeface="+mn-lt"/>
                        </a:rPr>
                        <a:t>主要特点</a:t>
                      </a:r>
                    </a:p>
                  </a:txBody>
                  <a:tcPr/>
                </a:tc>
                <a:tc>
                  <a:txBody>
                    <a:bodyPr/>
                    <a:lstStyle/>
                    <a:p>
                      <a:pPr algn="ctr"/>
                      <a:r>
                        <a:rPr lang="en-US" altLang="zh-CN" sz="1800" dirty="0" err="1">
                          <a:latin typeface="+mn-lt"/>
                          <a:ea typeface="+mn-ea"/>
                          <a:cs typeface="+mn-ea"/>
                          <a:sym typeface="+mn-lt"/>
                        </a:rPr>
                        <a:t>mAP</a:t>
                      </a:r>
                      <a:endParaRPr lang="en-US" altLang="zh-CN" sz="1800" dirty="0">
                        <a:latin typeface="+mn-lt"/>
                        <a:ea typeface="+mn-ea"/>
                        <a:cs typeface="+mn-ea"/>
                        <a:sym typeface="+mn-lt"/>
                      </a:endParaRPr>
                    </a:p>
                    <a:p>
                      <a:pPr algn="ctr"/>
                      <a:r>
                        <a:rPr lang="en-US" altLang="zh-CN" sz="1800" dirty="0">
                          <a:latin typeface="+mn-lt"/>
                          <a:ea typeface="+mn-ea"/>
                          <a:cs typeface="+mn-ea"/>
                          <a:sym typeface="+mn-lt"/>
                        </a:rPr>
                        <a:t>(VOC2012)</a:t>
                      </a:r>
                      <a:endParaRPr lang="zh-CN" altLang="en-US" sz="1800" dirty="0">
                        <a:latin typeface="+mn-lt"/>
                        <a:ea typeface="+mn-ea"/>
                        <a:cs typeface="+mn-ea"/>
                        <a:sym typeface="+mn-lt"/>
                      </a:endParaRPr>
                    </a:p>
                  </a:txBody>
                  <a:tcPr/>
                </a:tc>
                <a:tc>
                  <a:txBody>
                    <a:bodyPr/>
                    <a:lstStyle/>
                    <a:p>
                      <a:pPr algn="ctr"/>
                      <a:r>
                        <a:rPr lang="zh-CN" altLang="en-US" sz="1800" dirty="0">
                          <a:latin typeface="+mn-lt"/>
                          <a:ea typeface="+mn-ea"/>
                          <a:cs typeface="+mn-ea"/>
                          <a:sym typeface="+mn-lt"/>
                        </a:rPr>
                        <a:t>单帧检测时间</a:t>
                      </a:r>
                    </a:p>
                  </a:txBody>
                  <a:tcPr/>
                </a:tc>
                <a:extLst>
                  <a:ext uri="{0D108BD9-81ED-4DB2-BD59-A6C34878D82A}">
                    <a16:rowId xmlns:a16="http://schemas.microsoft.com/office/drawing/2014/main" val="10000"/>
                  </a:ext>
                </a:extLst>
              </a:tr>
              <a:tr h="603778">
                <a:tc>
                  <a:txBody>
                    <a:bodyPr/>
                    <a:lstStyle/>
                    <a:p>
                      <a:pPr algn="ctr"/>
                      <a:r>
                        <a:rPr lang="en-US" altLang="zh-CN" sz="1800" dirty="0">
                          <a:latin typeface="+mn-lt"/>
                          <a:ea typeface="+mn-ea"/>
                          <a:cs typeface="+mn-ea"/>
                          <a:sym typeface="+mn-lt"/>
                        </a:rPr>
                        <a:t>R-CNN</a:t>
                      </a:r>
                      <a:endParaRPr lang="zh-CN" altLang="en-US" sz="1800" dirty="0">
                        <a:latin typeface="+mn-lt"/>
                        <a:ea typeface="+mn-ea"/>
                        <a:cs typeface="+mn-ea"/>
                        <a:sym typeface="+mn-lt"/>
                      </a:endParaRPr>
                    </a:p>
                  </a:txBody>
                  <a:tcPr/>
                </a:tc>
                <a:tc>
                  <a:txBody>
                    <a:bodyPr/>
                    <a:lstStyle/>
                    <a:p>
                      <a:pPr algn="ctr">
                        <a:lnSpc>
                          <a:spcPct val="120000"/>
                        </a:lnSpc>
                      </a:pPr>
                      <a:r>
                        <a:rPr lang="zh-CN" altLang="en-US" sz="1800" dirty="0">
                          <a:latin typeface="+mn-lt"/>
                          <a:ea typeface="+mn-ea"/>
                          <a:cs typeface="+mn-ea"/>
                          <a:sym typeface="+mn-lt"/>
                        </a:rPr>
                        <a:t>结合</a:t>
                      </a:r>
                      <a:r>
                        <a:rPr lang="en-US" altLang="zh-CN" sz="1800" dirty="0" err="1">
                          <a:latin typeface="+mn-lt"/>
                          <a:ea typeface="+mn-ea"/>
                          <a:cs typeface="+mn-ea"/>
                          <a:sym typeface="+mn-lt"/>
                        </a:rPr>
                        <a:t>RegionProposal</a:t>
                      </a:r>
                      <a:r>
                        <a:rPr lang="zh-CN" altLang="en-US" sz="1800" dirty="0">
                          <a:latin typeface="+mn-lt"/>
                          <a:ea typeface="+mn-ea"/>
                          <a:cs typeface="+mn-ea"/>
                          <a:sym typeface="+mn-lt"/>
                        </a:rPr>
                        <a:t>区域提取和</a:t>
                      </a:r>
                      <a:r>
                        <a:rPr lang="en-US" altLang="zh-CN" sz="1800" dirty="0">
                          <a:latin typeface="+mn-lt"/>
                          <a:ea typeface="+mn-ea"/>
                          <a:cs typeface="+mn-ea"/>
                          <a:sym typeface="+mn-lt"/>
                        </a:rPr>
                        <a:t>CNN</a:t>
                      </a:r>
                      <a:r>
                        <a:rPr lang="zh-CN" altLang="en-US" sz="1800" dirty="0">
                          <a:latin typeface="+mn-lt"/>
                          <a:ea typeface="+mn-ea"/>
                          <a:cs typeface="+mn-ea"/>
                          <a:sym typeface="+mn-lt"/>
                        </a:rPr>
                        <a:t>特征提取；</a:t>
                      </a:r>
                      <a:endParaRPr lang="en-US" altLang="zh-CN" sz="1800" dirty="0">
                        <a:latin typeface="+mn-lt"/>
                        <a:ea typeface="+mn-ea"/>
                        <a:cs typeface="+mn-ea"/>
                        <a:sym typeface="+mn-lt"/>
                      </a:endParaRPr>
                    </a:p>
                    <a:p>
                      <a:pPr algn="ctr">
                        <a:lnSpc>
                          <a:spcPct val="120000"/>
                        </a:lnSpc>
                      </a:pPr>
                      <a:r>
                        <a:rPr lang="en-US" altLang="zh-CN" sz="1800" dirty="0">
                          <a:latin typeface="+mn-lt"/>
                          <a:ea typeface="+mn-ea"/>
                          <a:cs typeface="+mn-ea"/>
                          <a:sym typeface="+mn-lt"/>
                        </a:rPr>
                        <a:t>SVM</a:t>
                      </a:r>
                      <a:r>
                        <a:rPr lang="zh-CN" altLang="en-US" sz="1800" dirty="0">
                          <a:latin typeface="+mn-lt"/>
                          <a:ea typeface="+mn-ea"/>
                          <a:cs typeface="+mn-ea"/>
                          <a:sym typeface="+mn-lt"/>
                        </a:rPr>
                        <a:t>分类，</a:t>
                      </a:r>
                      <a:r>
                        <a:rPr lang="en-US" altLang="zh-CN" sz="1800" dirty="0">
                          <a:latin typeface="+mn-lt"/>
                          <a:ea typeface="+mn-ea"/>
                          <a:cs typeface="+mn-ea"/>
                          <a:sym typeface="+mn-lt"/>
                        </a:rPr>
                        <a:t>Bounding Box</a:t>
                      </a:r>
                      <a:r>
                        <a:rPr lang="zh-CN" altLang="en-US" sz="1800" dirty="0">
                          <a:latin typeface="+mn-lt"/>
                          <a:ea typeface="+mn-ea"/>
                          <a:cs typeface="+mn-ea"/>
                          <a:sym typeface="+mn-lt"/>
                        </a:rPr>
                        <a:t>回归；</a:t>
                      </a:r>
                    </a:p>
                  </a:txBody>
                  <a:tcPr/>
                </a:tc>
                <a:tc>
                  <a:txBody>
                    <a:bodyPr/>
                    <a:lstStyle/>
                    <a:p>
                      <a:pPr algn="ctr"/>
                      <a:r>
                        <a:rPr lang="en-US" altLang="zh-CN" sz="1800" dirty="0">
                          <a:latin typeface="+mn-lt"/>
                          <a:ea typeface="+mn-ea"/>
                          <a:cs typeface="+mn-ea"/>
                          <a:sym typeface="+mn-lt"/>
                        </a:rPr>
                        <a:t>53.3%</a:t>
                      </a:r>
                      <a:endParaRPr lang="zh-CN" altLang="en-US" sz="1800" dirty="0">
                        <a:latin typeface="+mn-lt"/>
                        <a:ea typeface="+mn-ea"/>
                        <a:cs typeface="+mn-ea"/>
                        <a:sym typeface="+mn-lt"/>
                      </a:endParaRPr>
                    </a:p>
                  </a:txBody>
                  <a:tcPr/>
                </a:tc>
                <a:tc>
                  <a:txBody>
                    <a:bodyPr/>
                    <a:lstStyle/>
                    <a:p>
                      <a:pPr algn="ctr"/>
                      <a:r>
                        <a:rPr lang="en-US" altLang="zh-CN" sz="1800" dirty="0">
                          <a:latin typeface="+mn-lt"/>
                          <a:ea typeface="+mn-ea"/>
                          <a:cs typeface="+mn-ea"/>
                          <a:sym typeface="+mn-lt"/>
                        </a:rPr>
                        <a:t>50 s</a:t>
                      </a:r>
                      <a:endParaRPr lang="zh-CN" altLang="en-US" sz="1800" dirty="0">
                        <a:latin typeface="+mn-lt"/>
                        <a:ea typeface="+mn-ea"/>
                        <a:cs typeface="+mn-ea"/>
                        <a:sym typeface="+mn-lt"/>
                      </a:endParaRPr>
                    </a:p>
                  </a:txBody>
                  <a:tcPr/>
                </a:tc>
                <a:extLst>
                  <a:ext uri="{0D108BD9-81ED-4DB2-BD59-A6C34878D82A}">
                    <a16:rowId xmlns:a16="http://schemas.microsoft.com/office/drawing/2014/main" val="10001"/>
                  </a:ext>
                </a:extLst>
              </a:tr>
              <a:tr h="4487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mn-lt"/>
                          <a:ea typeface="+mn-ea"/>
                          <a:cs typeface="+mn-ea"/>
                          <a:sym typeface="+mn-lt"/>
                        </a:rPr>
                        <a:t>Fast R-CNN</a:t>
                      </a:r>
                      <a:endParaRPr lang="zh-CN" altLang="en-US" sz="1800" dirty="0">
                        <a:latin typeface="+mn-lt"/>
                        <a:ea typeface="+mn-ea"/>
                        <a:cs typeface="+mn-ea"/>
                        <a:sym typeface="+mn-lt"/>
                      </a:endParaRPr>
                    </a:p>
                  </a:txBody>
                  <a:tcPr/>
                </a:tc>
                <a:tc>
                  <a:txBody>
                    <a:bodyPr/>
                    <a:lstStyle/>
                    <a:p>
                      <a:pPr algn="ctr"/>
                      <a:r>
                        <a:rPr lang="zh-CN" altLang="en-US" sz="1800" dirty="0">
                          <a:latin typeface="+mn-lt"/>
                          <a:ea typeface="+mn-ea"/>
                          <a:cs typeface="+mn-ea"/>
                          <a:sym typeface="+mn-lt"/>
                        </a:rPr>
                        <a:t>提出 </a:t>
                      </a:r>
                      <a:r>
                        <a:rPr lang="en-US" altLang="zh-CN" sz="1800" dirty="0" err="1">
                          <a:latin typeface="+mn-lt"/>
                          <a:ea typeface="+mn-ea"/>
                          <a:cs typeface="+mn-ea"/>
                          <a:sym typeface="+mn-lt"/>
                        </a:rPr>
                        <a:t>ROIPooling</a:t>
                      </a:r>
                      <a:r>
                        <a:rPr lang="zh-CN" altLang="en-US" sz="1800" dirty="0">
                          <a:latin typeface="+mn-lt"/>
                          <a:ea typeface="+mn-ea"/>
                          <a:cs typeface="+mn-ea"/>
                          <a:sym typeface="+mn-lt"/>
                        </a:rPr>
                        <a:t>；</a:t>
                      </a:r>
                      <a:r>
                        <a:rPr lang="en-US" altLang="zh-CN" sz="1800" dirty="0" err="1">
                          <a:latin typeface="+mn-lt"/>
                          <a:ea typeface="+mn-ea"/>
                          <a:cs typeface="+mn-ea"/>
                          <a:sym typeface="+mn-lt"/>
                        </a:rPr>
                        <a:t>softmax</a:t>
                      </a:r>
                      <a:r>
                        <a:rPr lang="zh-CN" altLang="en-US" sz="1800" dirty="0">
                          <a:latin typeface="+mn-lt"/>
                          <a:ea typeface="+mn-ea"/>
                          <a:cs typeface="+mn-ea"/>
                          <a:sym typeface="+mn-lt"/>
                        </a:rPr>
                        <a:t>分类；</a:t>
                      </a:r>
                      <a:endParaRPr lang="en-US" altLang="zh-CN" sz="1800" dirty="0">
                        <a:latin typeface="+mn-lt"/>
                        <a:ea typeface="+mn-ea"/>
                        <a:cs typeface="+mn-ea"/>
                        <a:sym typeface="+mn-lt"/>
                      </a:endParaRPr>
                    </a:p>
                  </a:txBody>
                  <a:tcPr/>
                </a:tc>
                <a:tc>
                  <a:txBody>
                    <a:bodyPr/>
                    <a:lstStyle/>
                    <a:p>
                      <a:pPr algn="ctr"/>
                      <a:r>
                        <a:rPr lang="en-US" altLang="zh-CN" sz="1800" dirty="0">
                          <a:latin typeface="+mn-lt"/>
                          <a:ea typeface="+mn-ea"/>
                          <a:cs typeface="+mn-ea"/>
                          <a:sym typeface="+mn-lt"/>
                        </a:rPr>
                        <a:t>65.7%</a:t>
                      </a:r>
                      <a:endParaRPr lang="zh-CN" altLang="en-US" sz="1800" dirty="0">
                        <a:latin typeface="+mn-lt"/>
                        <a:ea typeface="+mn-ea"/>
                        <a:cs typeface="+mn-ea"/>
                        <a:sym typeface="+mn-lt"/>
                      </a:endParaRPr>
                    </a:p>
                  </a:txBody>
                  <a:tcPr/>
                </a:tc>
                <a:tc>
                  <a:txBody>
                    <a:bodyPr/>
                    <a:lstStyle/>
                    <a:p>
                      <a:pPr algn="ctr"/>
                      <a:r>
                        <a:rPr lang="en-US" altLang="zh-CN" sz="1800" dirty="0">
                          <a:latin typeface="+mn-lt"/>
                          <a:ea typeface="+mn-ea"/>
                          <a:cs typeface="+mn-ea"/>
                          <a:sym typeface="+mn-lt"/>
                        </a:rPr>
                        <a:t>2 s</a:t>
                      </a:r>
                      <a:endParaRPr lang="zh-CN" altLang="en-US" sz="1800" dirty="0">
                        <a:latin typeface="+mn-lt"/>
                        <a:ea typeface="+mn-ea"/>
                        <a:cs typeface="+mn-ea"/>
                        <a:sym typeface="+mn-lt"/>
                      </a:endParaRP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mn-lt"/>
                          <a:ea typeface="+mn-ea"/>
                          <a:cs typeface="+mn-ea"/>
                          <a:sym typeface="+mn-lt"/>
                        </a:rPr>
                        <a:t>Faster R-CNN</a:t>
                      </a:r>
                      <a:endParaRPr lang="zh-CN" altLang="en-US" sz="1800" dirty="0">
                        <a:latin typeface="+mn-lt"/>
                        <a:ea typeface="+mn-ea"/>
                        <a:cs typeface="+mn-ea"/>
                        <a:sym typeface="+mn-lt"/>
                      </a:endParaRPr>
                    </a:p>
                  </a:txBody>
                  <a:tcPr/>
                </a:tc>
                <a:tc>
                  <a:txBody>
                    <a:bodyPr/>
                    <a:lstStyle/>
                    <a:p>
                      <a:pPr algn="ctr">
                        <a:lnSpc>
                          <a:spcPct val="120000"/>
                        </a:lnSpc>
                      </a:pPr>
                      <a:r>
                        <a:rPr lang="zh-CN" altLang="en-US" sz="1800" dirty="0">
                          <a:latin typeface="+mn-lt"/>
                          <a:ea typeface="+mn-ea"/>
                          <a:cs typeface="+mn-ea"/>
                          <a:sym typeface="+mn-lt"/>
                        </a:rPr>
                        <a:t>使用</a:t>
                      </a:r>
                      <a:r>
                        <a:rPr lang="en-US" altLang="zh-CN" sz="1800" dirty="0">
                          <a:latin typeface="+mn-lt"/>
                          <a:ea typeface="+mn-ea"/>
                          <a:cs typeface="+mn-ea"/>
                          <a:sym typeface="+mn-lt"/>
                        </a:rPr>
                        <a:t>RPN(Region Proposal Network)</a:t>
                      </a:r>
                    </a:p>
                    <a:p>
                      <a:pPr algn="ctr">
                        <a:lnSpc>
                          <a:spcPct val="120000"/>
                        </a:lnSpc>
                      </a:pPr>
                      <a:r>
                        <a:rPr lang="zh-CN" altLang="en-US" sz="1800" dirty="0">
                          <a:latin typeface="+mn-lt"/>
                          <a:ea typeface="+mn-ea"/>
                          <a:cs typeface="+mn-ea"/>
                          <a:sym typeface="+mn-lt"/>
                        </a:rPr>
                        <a:t>生成候选区域</a:t>
                      </a:r>
                    </a:p>
                  </a:txBody>
                  <a:tcPr/>
                </a:tc>
                <a:tc>
                  <a:txBody>
                    <a:bodyPr/>
                    <a:lstStyle/>
                    <a:p>
                      <a:pPr algn="ctr"/>
                      <a:r>
                        <a:rPr lang="en-US" altLang="zh-CN" sz="1800" dirty="0">
                          <a:latin typeface="+mn-lt"/>
                          <a:ea typeface="+mn-ea"/>
                          <a:cs typeface="+mn-ea"/>
                          <a:sym typeface="+mn-lt"/>
                        </a:rPr>
                        <a:t>67.0%</a:t>
                      </a:r>
                      <a:endParaRPr lang="zh-CN" altLang="en-US" sz="1800" dirty="0">
                        <a:latin typeface="+mn-lt"/>
                        <a:ea typeface="+mn-ea"/>
                        <a:cs typeface="+mn-ea"/>
                        <a:sym typeface="+mn-lt"/>
                      </a:endParaRPr>
                    </a:p>
                  </a:txBody>
                  <a:tcPr/>
                </a:tc>
                <a:tc>
                  <a:txBody>
                    <a:bodyPr/>
                    <a:lstStyle/>
                    <a:p>
                      <a:pPr algn="ctr"/>
                      <a:r>
                        <a:rPr lang="en-US" altLang="zh-CN" sz="1800" dirty="0">
                          <a:latin typeface="+mn-lt"/>
                          <a:ea typeface="+mn-ea"/>
                          <a:cs typeface="+mn-ea"/>
                          <a:sym typeface="+mn-lt"/>
                        </a:rPr>
                        <a:t>0.2 s</a:t>
                      </a:r>
                      <a:endParaRPr lang="zh-CN" altLang="en-US" sz="1800" dirty="0">
                        <a:latin typeface="+mn-lt"/>
                        <a:ea typeface="+mn-ea"/>
                        <a:cs typeface="+mn-ea"/>
                        <a:sym typeface="+mn-lt"/>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pic>
        <p:nvPicPr>
          <p:cNvPr id="10" name="图片 9"/>
          <p:cNvPicPr>
            <a:picLocks noChangeAspect="1"/>
          </p:cNvPicPr>
          <p:nvPr/>
        </p:nvPicPr>
        <p:blipFill rotWithShape="1">
          <a:blip r:embed="rId5"/>
          <a:srcRect t="14998"/>
          <a:stretch>
            <a:fillRect/>
          </a:stretch>
        </p:blipFill>
        <p:spPr>
          <a:xfrm>
            <a:off x="1472586" y="3875017"/>
            <a:ext cx="8189841" cy="2370799"/>
          </a:xfrm>
          <a:prstGeom prst="rect">
            <a:avLst/>
          </a:prstGeom>
        </p:spPr>
      </p:pic>
      <p:sp>
        <p:nvSpPr>
          <p:cNvPr id="11" name="矩形 10"/>
          <p:cNvSpPr/>
          <p:nvPr/>
        </p:nvSpPr>
        <p:spPr>
          <a:xfrm>
            <a:off x="703502" y="1526621"/>
            <a:ext cx="9925918" cy="2086725"/>
          </a:xfrm>
          <a:prstGeom prst="rect">
            <a:avLst/>
          </a:prstGeom>
        </p:spPr>
        <p:txBody>
          <a:bodyPr wrap="square">
            <a:spAutoFit/>
          </a:bodyPr>
          <a:lstStyle/>
          <a:p>
            <a:pPr>
              <a:lnSpc>
                <a:spcPct val="120000"/>
              </a:lnSpc>
              <a:buClr>
                <a:schemeClr val="accent1"/>
              </a:buClr>
              <a:buSzPct val="100000"/>
            </a:pPr>
            <a:r>
              <a:rPr lang="en-US" altLang="zh-CN" dirty="0">
                <a:latin typeface="Microsoft YaHei UI Light" panose="020B0502040204020203" pitchFamily="34" charset="-122"/>
                <a:ea typeface="微软雅黑 Light" panose="020B0502040204020203" pitchFamily="34" charset="-122"/>
                <a:cs typeface="+mn-ea"/>
                <a:sym typeface="+mn-lt"/>
              </a:rPr>
              <a:t>R-CNN</a:t>
            </a:r>
            <a:r>
              <a:rPr lang="zh-CN" altLang="en-US" dirty="0">
                <a:latin typeface="Microsoft YaHei UI Light" panose="020B0502040204020203" pitchFamily="34" charset="-122"/>
                <a:ea typeface="微软雅黑 Light" panose="020B0502040204020203" pitchFamily="34" charset="-122"/>
                <a:cs typeface="+mn-ea"/>
                <a:sym typeface="+mn-lt"/>
              </a:rPr>
              <a:t>的主要步骤：</a:t>
            </a:r>
          </a:p>
          <a:p>
            <a:pPr>
              <a:lnSpc>
                <a:spcPct val="120000"/>
              </a:lnSpc>
            </a:pPr>
            <a:endParaRPr lang="zh-CN" altLang="en-US"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候选区域提取</a:t>
            </a:r>
            <a:r>
              <a:rPr lang="zh-CN" altLang="en-US" dirty="0">
                <a:latin typeface="Microsoft YaHei UI Light" panose="020B0502040204020203" pitchFamily="34" charset="-122"/>
                <a:ea typeface="微软雅黑 Light" panose="020B0502040204020203" pitchFamily="34" charset="-122"/>
                <a:cs typeface="+mn-ea"/>
                <a:sym typeface="+mn-lt"/>
              </a:rPr>
              <a:t>：使用</a:t>
            </a:r>
            <a:r>
              <a:rPr lang="en-US" altLang="zh-CN" dirty="0">
                <a:latin typeface="Microsoft YaHei UI Light" panose="020B0502040204020203" pitchFamily="34" charset="-122"/>
                <a:ea typeface="微软雅黑 Light" panose="020B0502040204020203" pitchFamily="34" charset="-122"/>
                <a:cs typeface="+mn-ea"/>
                <a:sym typeface="+mn-lt"/>
              </a:rPr>
              <a:t>Selective Search</a:t>
            </a:r>
            <a:r>
              <a:rPr lang="zh-CN" altLang="en-US" dirty="0">
                <a:latin typeface="Microsoft YaHei UI Light" panose="020B0502040204020203" pitchFamily="34" charset="-122"/>
                <a:ea typeface="微软雅黑 Light" panose="020B0502040204020203" pitchFamily="34" charset="-122"/>
                <a:cs typeface="+mn-ea"/>
                <a:sym typeface="+mn-lt"/>
              </a:rPr>
              <a:t>从输入图片中提取</a:t>
            </a:r>
            <a:r>
              <a:rPr lang="en-US" altLang="zh-CN" dirty="0">
                <a:latin typeface="Microsoft YaHei UI Light" panose="020B0502040204020203" pitchFamily="34" charset="-122"/>
                <a:ea typeface="微软雅黑 Light" panose="020B0502040204020203" pitchFamily="34" charset="-122"/>
                <a:cs typeface="+mn-ea"/>
                <a:sym typeface="+mn-lt"/>
              </a:rPr>
              <a:t>2000</a:t>
            </a:r>
            <a:r>
              <a:rPr lang="zh-CN" altLang="en-US" dirty="0">
                <a:latin typeface="Microsoft YaHei UI Light" panose="020B0502040204020203" pitchFamily="34" charset="-122"/>
                <a:ea typeface="微软雅黑 Light" panose="020B0502040204020203" pitchFamily="34" charset="-122"/>
                <a:cs typeface="+mn-ea"/>
                <a:sym typeface="+mn-lt"/>
              </a:rPr>
              <a:t>个左右候选区域</a:t>
            </a: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特征提取</a:t>
            </a:r>
            <a:r>
              <a:rPr lang="zh-CN" altLang="en-US" dirty="0">
                <a:latin typeface="Microsoft YaHei UI Light" panose="020B0502040204020203" pitchFamily="34" charset="-122"/>
                <a:ea typeface="微软雅黑 Light" panose="020B0502040204020203" pitchFamily="34" charset="-122"/>
                <a:cs typeface="+mn-ea"/>
                <a:sym typeface="+mn-lt"/>
              </a:rPr>
              <a:t>：首先将所有侯选区域裁切缩放为固定大小，再用</a:t>
            </a:r>
            <a:r>
              <a:rPr lang="en-US" altLang="zh-CN" dirty="0" err="1">
                <a:latin typeface="Microsoft YaHei UI Light" panose="020B0502040204020203" pitchFamily="34" charset="-122"/>
                <a:ea typeface="微软雅黑 Light" panose="020B0502040204020203" pitchFamily="34" charset="-122"/>
                <a:cs typeface="+mn-ea"/>
                <a:sym typeface="+mn-lt"/>
              </a:rPr>
              <a:t>AlexNet</a:t>
            </a:r>
            <a:r>
              <a:rPr lang="en-US" altLang="zh-CN" dirty="0">
                <a:latin typeface="Microsoft YaHei UI Light" panose="020B0502040204020203" pitchFamily="34" charset="-122"/>
                <a:ea typeface="微软雅黑 Light" panose="020B0502040204020203" pitchFamily="34" charset="-122"/>
                <a:cs typeface="+mn-ea"/>
                <a:sym typeface="+mn-lt"/>
              </a:rPr>
              <a:t>(</a:t>
            </a:r>
            <a:r>
              <a:rPr lang="en-US" altLang="zh-CN" dirty="0" err="1">
                <a:latin typeface="Microsoft YaHei UI Light" panose="020B0502040204020203" pitchFamily="34" charset="-122"/>
                <a:ea typeface="微软雅黑 Light" panose="020B0502040204020203" pitchFamily="34" charset="-122"/>
                <a:cs typeface="+mn-ea"/>
                <a:sym typeface="+mn-lt"/>
              </a:rPr>
              <a:t>5conv+2FC</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提取图像特征</a:t>
            </a: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线性分类</a:t>
            </a:r>
            <a:r>
              <a:rPr lang="zh-CN" altLang="en-US" dirty="0">
                <a:latin typeface="Microsoft YaHei UI Light" panose="020B0502040204020203" pitchFamily="34" charset="-122"/>
                <a:ea typeface="微软雅黑 Light" panose="020B0502040204020203" pitchFamily="34" charset="-122"/>
                <a:cs typeface="+mn-ea"/>
                <a:sym typeface="+mn-lt"/>
              </a:rPr>
              <a:t>：用特定类别的线性</a:t>
            </a:r>
            <a:r>
              <a:rPr lang="en-US" altLang="zh-CN" dirty="0" err="1">
                <a:latin typeface="Microsoft YaHei UI Light" panose="020B0502040204020203" pitchFamily="34" charset="-122"/>
                <a:ea typeface="微软雅黑 Light" panose="020B0502040204020203" pitchFamily="34" charset="-122"/>
                <a:cs typeface="+mn-ea"/>
                <a:sym typeface="+mn-lt"/>
              </a:rPr>
              <a:t>SVMs</a:t>
            </a:r>
            <a:r>
              <a:rPr lang="zh-CN" altLang="en-US" dirty="0">
                <a:latin typeface="Microsoft YaHei UI Light" panose="020B0502040204020203" pitchFamily="34" charset="-122"/>
                <a:ea typeface="微软雅黑 Light" panose="020B0502040204020203" pitchFamily="34" charset="-122"/>
                <a:cs typeface="+mn-ea"/>
                <a:sym typeface="+mn-lt"/>
              </a:rPr>
              <a:t>对每个候选区域做分类</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边界框回归</a:t>
            </a:r>
            <a:r>
              <a:rPr lang="zh-CN" altLang="en-US" dirty="0">
                <a:latin typeface="Microsoft YaHei UI Light" panose="020B0502040204020203" pitchFamily="34" charset="-122"/>
                <a:ea typeface="微软雅黑 Light" panose="020B0502040204020203" pitchFamily="34" charset="-122"/>
                <a:cs typeface="+mn-ea"/>
                <a:sym typeface="+mn-lt"/>
              </a:rPr>
              <a:t>：用线性回归修正边界框的位置与大小，其中每个类别单独训练一个边界框回归器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sp>
        <p:nvSpPr>
          <p:cNvPr id="8" name="内容占位符 2"/>
          <p:cNvSpPr txBox="1"/>
          <p:nvPr/>
        </p:nvSpPr>
        <p:spPr>
          <a:xfrm>
            <a:off x="678236" y="1371295"/>
            <a:ext cx="7659092" cy="618377"/>
          </a:xfrm>
          <a:prstGeom prst="rect">
            <a:avLst/>
          </a:prstGeom>
        </p:spPr>
        <p:txBody>
          <a:bodyPr vert="horz" lIns="91440" tIns="45720" rIns="91440" bIns="45720" rtlCol="0">
            <a:normAutofit/>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a:latin typeface="Microsoft YaHei UI Light" panose="020B0502040204020203" pitchFamily="34" charset="-122"/>
                <a:ea typeface="微软雅黑 Light" panose="020B0502040204020203" pitchFamily="34" charset="-122"/>
                <a:cs typeface="+mn-ea"/>
                <a:sym typeface="+mn-lt"/>
              </a:rPr>
              <a:t>候选区域</a:t>
            </a:r>
            <a:r>
              <a:rPr lang="en-US" altLang="zh-CN" sz="2400">
                <a:latin typeface="Microsoft YaHei UI Light" panose="020B0502040204020203" pitchFamily="34" charset="-122"/>
                <a:ea typeface="微软雅黑 Light" panose="020B0502040204020203" pitchFamily="34" charset="-122"/>
                <a:cs typeface="+mn-ea"/>
                <a:sym typeface="+mn-lt"/>
              </a:rPr>
              <a:t>(Region Proposal)</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678235" y="1952054"/>
            <a:ext cx="11252574"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dirty="0" err="1">
                <a:latin typeface="Microsoft YaHei UI Light" panose="020B0502040204020203" pitchFamily="34" charset="-122"/>
                <a:ea typeface="微软雅黑 Light" panose="020B0502040204020203" pitchFamily="34" charset="-122"/>
                <a:cs typeface="+mn-ea"/>
                <a:sym typeface="+mn-lt"/>
              </a:rPr>
              <a:t>Uijlings</a:t>
            </a:r>
            <a:r>
              <a:rPr lang="en-US" altLang="zh-CN" dirty="0">
                <a:latin typeface="Microsoft YaHei UI Light" panose="020B0502040204020203" pitchFamily="34" charset="-122"/>
                <a:ea typeface="微软雅黑 Light" panose="020B0502040204020203" pitchFamily="34" charset="-122"/>
                <a:cs typeface="+mn-ea"/>
                <a:sym typeface="+mn-lt"/>
              </a:rPr>
              <a:t> J R </a:t>
            </a:r>
            <a:r>
              <a:rPr lang="en-US" altLang="zh-CN" dirty="0" err="1">
                <a:latin typeface="Microsoft YaHei UI Light" panose="020B0502040204020203" pitchFamily="34" charset="-122"/>
                <a:ea typeface="微软雅黑 Light" panose="020B0502040204020203" pitchFamily="34" charset="-122"/>
                <a:cs typeface="+mn-ea"/>
                <a:sym typeface="+mn-lt"/>
              </a:rPr>
              <a:t>R</a:t>
            </a:r>
            <a:r>
              <a:rPr lang="en-US" altLang="zh-CN" dirty="0">
                <a:latin typeface="Microsoft YaHei UI Light" panose="020B0502040204020203" pitchFamily="34" charset="-122"/>
                <a:ea typeface="微软雅黑 Light" panose="020B0502040204020203" pitchFamily="34" charset="-122"/>
                <a:cs typeface="+mn-ea"/>
                <a:sym typeface="+mn-lt"/>
              </a:rPr>
              <a:t> , K. E. A. van de Sande…. Selective Search for Object Recognition[J]. International Journal of Computer Vision, 2013, 104(2):154-171.</a:t>
            </a:r>
          </a:p>
          <a:p>
            <a:pPr marL="285750" indent="-285750">
              <a:lnSpc>
                <a:spcPct val="15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意义</a:t>
            </a:r>
            <a:r>
              <a:rPr lang="zh-CN" altLang="en-US" dirty="0">
                <a:latin typeface="Microsoft YaHei UI Light" panose="020B0502040204020203" pitchFamily="34" charset="-122"/>
                <a:ea typeface="微软雅黑 Light" panose="020B0502040204020203" pitchFamily="34" charset="-122"/>
                <a:cs typeface="+mn-ea"/>
                <a:sym typeface="+mn-lt"/>
              </a:rPr>
              <a:t>：经典的目标检测算法使用滑动窗法依次判断所有可能的区域</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穷举</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，而 </a:t>
            </a:r>
            <a:r>
              <a:rPr lang="en-US" altLang="zh-CN" dirty="0">
                <a:latin typeface="Microsoft YaHei UI Light" panose="020B0502040204020203" pitchFamily="34" charset="-122"/>
                <a:ea typeface="微软雅黑 Light" panose="020B0502040204020203" pitchFamily="34" charset="-122"/>
                <a:cs typeface="+mn-ea"/>
                <a:sym typeface="+mn-lt"/>
              </a:rPr>
              <a:t>R-CNN </a:t>
            </a:r>
            <a:r>
              <a:rPr lang="zh-CN" altLang="en-US" dirty="0">
                <a:latin typeface="Microsoft YaHei UI Light" panose="020B0502040204020203" pitchFamily="34" charset="-122"/>
                <a:ea typeface="微软雅黑 Light" panose="020B0502040204020203" pitchFamily="34" charset="-122"/>
                <a:cs typeface="+mn-ea"/>
                <a:sym typeface="+mn-lt"/>
              </a:rPr>
              <a:t>采用 </a:t>
            </a:r>
            <a:r>
              <a:rPr lang="en-US" altLang="zh-CN" dirty="0">
                <a:latin typeface="Microsoft YaHei UI Light" panose="020B0502040204020203" pitchFamily="34" charset="-122"/>
                <a:ea typeface="微软雅黑 Light" panose="020B0502040204020203" pitchFamily="34" charset="-122"/>
                <a:cs typeface="+mn-ea"/>
                <a:sym typeface="+mn-lt"/>
              </a:rPr>
              <a:t>Region Proposal </a:t>
            </a:r>
            <a:r>
              <a:rPr lang="zh-CN" altLang="en-US" dirty="0">
                <a:latin typeface="Microsoft YaHei UI Light" panose="020B0502040204020203" pitchFamily="34" charset="-122"/>
                <a:ea typeface="微软雅黑 Light" panose="020B0502040204020203" pitchFamily="34" charset="-122"/>
                <a:cs typeface="+mn-ea"/>
                <a:sym typeface="+mn-lt"/>
              </a:rPr>
              <a:t>预先提取一系列较可能是物体的候选区域，之后仅在这些候选区域上提取特征，大大减少了计算量。</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方法</a:t>
            </a:r>
            <a:r>
              <a:rPr lang="zh-CN" altLang="en-US" dirty="0">
                <a:latin typeface="Microsoft YaHei UI Light" panose="020B0502040204020203" pitchFamily="34" charset="-122"/>
                <a:ea typeface="微软雅黑 Light" panose="020B0502040204020203" pitchFamily="34" charset="-122"/>
                <a:cs typeface="+mn-ea"/>
                <a:sym typeface="+mn-lt"/>
              </a:rPr>
              <a:t>：带多样性策略的</a:t>
            </a:r>
            <a:r>
              <a:rPr lang="zh-CN" altLang="en-US" b="1" dirty="0">
                <a:latin typeface="Microsoft YaHei UI Light" panose="020B0502040204020203" pitchFamily="34" charset="-122"/>
                <a:ea typeface="微软雅黑 Light" panose="020B0502040204020203" pitchFamily="34" charset="-122"/>
                <a:cs typeface="+mn-ea"/>
                <a:sym typeface="+mn-lt"/>
              </a:rPr>
              <a:t>选择性搜索</a:t>
            </a:r>
            <a:r>
              <a:rPr lang="en-US" altLang="zh-CN" dirty="0">
                <a:latin typeface="Microsoft YaHei UI Light" panose="020B0502040204020203" pitchFamily="34" charset="-122"/>
                <a:ea typeface="微软雅黑 Light" panose="020B0502040204020203" pitchFamily="34" charset="-122"/>
                <a:cs typeface="+mn-ea"/>
                <a:sym typeface="+mn-lt"/>
              </a:rPr>
              <a:t>(Selective Search)</a:t>
            </a:r>
          </a:p>
        </p:txBody>
      </p:sp>
      <p:pic>
        <p:nvPicPr>
          <p:cNvPr id="10" name="图片 9"/>
          <p:cNvPicPr>
            <a:picLocks noChangeAspect="1"/>
          </p:cNvPicPr>
          <p:nvPr/>
        </p:nvPicPr>
        <p:blipFill>
          <a:blip r:embed="rId5"/>
          <a:stretch>
            <a:fillRect/>
          </a:stretch>
        </p:blipFill>
        <p:spPr>
          <a:xfrm>
            <a:off x="1766495" y="4074466"/>
            <a:ext cx="7791854" cy="2456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pic>
        <p:nvPicPr>
          <p:cNvPr id="8" name="图片 7"/>
          <p:cNvPicPr>
            <a:picLocks noChangeAspect="1"/>
          </p:cNvPicPr>
          <p:nvPr/>
        </p:nvPicPr>
        <p:blipFill>
          <a:blip r:embed="rId5"/>
          <a:stretch>
            <a:fillRect/>
          </a:stretch>
        </p:blipFill>
        <p:spPr>
          <a:xfrm>
            <a:off x="467003" y="1891425"/>
            <a:ext cx="5919599" cy="4577066"/>
          </a:xfrm>
          <a:prstGeom prst="rect">
            <a:avLst/>
          </a:prstGeom>
        </p:spPr>
      </p:pic>
      <p:sp>
        <p:nvSpPr>
          <p:cNvPr id="9" name="矩形 8"/>
          <p:cNvSpPr/>
          <p:nvPr/>
        </p:nvSpPr>
        <p:spPr>
          <a:xfrm>
            <a:off x="666416" y="1310110"/>
            <a:ext cx="2525050" cy="500906"/>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候选区域提取步骤</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
        <p:nvSpPr>
          <p:cNvPr id="10" name="内容占位符 2"/>
          <p:cNvSpPr txBox="1"/>
          <p:nvPr/>
        </p:nvSpPr>
        <p:spPr>
          <a:xfrm>
            <a:off x="6560153" y="987152"/>
            <a:ext cx="5039362" cy="5491077"/>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层次化分组算法</a:t>
            </a:r>
            <a:endParaRPr lang="en-US" altLang="zh-CN" sz="1800" dirty="0">
              <a:latin typeface="Microsoft YaHei UI Light" panose="020B0502040204020203" pitchFamily="34" charset="-122"/>
              <a:ea typeface="微软雅黑 Light" panose="020B0502040204020203" pitchFamily="34" charset="-122"/>
              <a:cs typeface="+mn-ea"/>
              <a:sym typeface="+mn-lt"/>
            </a:endParaRPr>
          </a:p>
          <a:p>
            <a:pPr lvl="1">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用基于图的图像分割方法创建初始区域</a:t>
            </a:r>
            <a:endParaRPr lang="en-US" altLang="zh-CN" sz="1800" dirty="0">
              <a:latin typeface="Microsoft YaHei UI Light" panose="020B0502040204020203" pitchFamily="34" charset="-122"/>
              <a:ea typeface="微软雅黑 Light" panose="020B0502040204020203" pitchFamily="34" charset="-122"/>
              <a:cs typeface="+mn-ea"/>
              <a:sym typeface="+mn-lt"/>
            </a:endParaRPr>
          </a:p>
          <a:p>
            <a:pPr lvl="1">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计算所有相邻区域间的相似度</a:t>
            </a:r>
            <a:endParaRPr lang="en-US" altLang="zh-CN" sz="1800" dirty="0">
              <a:latin typeface="Microsoft YaHei UI Light" panose="020B0502040204020203" pitchFamily="34" charset="-122"/>
              <a:ea typeface="微软雅黑 Light" panose="020B0502040204020203" pitchFamily="34" charset="-122"/>
              <a:cs typeface="+mn-ea"/>
              <a:sym typeface="+mn-lt"/>
            </a:endParaRPr>
          </a:p>
          <a:p>
            <a:pPr lvl="1">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每次合并相似度最高的两个相邻图像区域，并计算合并后的区域与其相邻区域的相似度。重复该过程，直到所有图像区域合并为一张完整图像</a:t>
            </a:r>
            <a:endParaRPr lang="en-US" altLang="zh-CN" sz="1800" dirty="0">
              <a:latin typeface="Microsoft YaHei UI Light" panose="020B0502040204020203" pitchFamily="34" charset="-122"/>
              <a:ea typeface="微软雅黑 Light" panose="020B0502040204020203" pitchFamily="34" charset="-122"/>
              <a:cs typeface="+mn-ea"/>
              <a:sym typeface="+mn-lt"/>
            </a:endParaRPr>
          </a:p>
          <a:p>
            <a:pPr lvl="1">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提取所有图像区域的目标位置框，并按层级排序（覆盖整个图像区域的层级为</a:t>
            </a:r>
            <a:r>
              <a:rPr lang="en-US" altLang="zh-CN" sz="1800" dirty="0">
                <a:latin typeface="Microsoft YaHei UI Light" panose="020B0502040204020203" pitchFamily="34" charset="-122"/>
                <a:ea typeface="微软雅黑 Light" panose="020B0502040204020203" pitchFamily="34" charset="-122"/>
                <a:cs typeface="+mn-ea"/>
                <a:sym typeface="+mn-lt"/>
              </a:rPr>
              <a:t>1</a:t>
            </a:r>
            <a:r>
              <a:rPr lang="zh-CN" altLang="en-US" sz="1800" dirty="0">
                <a:latin typeface="Microsoft YaHei UI Light" panose="020B0502040204020203" pitchFamily="34" charset="-122"/>
                <a:ea typeface="微软雅黑 Light" panose="020B0502040204020203" pitchFamily="34" charset="-122"/>
                <a:cs typeface="+mn-ea"/>
                <a:sym typeface="+mn-lt"/>
              </a:rPr>
              <a:t>）</a:t>
            </a:r>
            <a:endParaRPr lang="en-US" altLang="zh-CN" sz="1800" dirty="0">
              <a:latin typeface="Microsoft YaHei UI Light" panose="020B0502040204020203" pitchFamily="34" charset="-122"/>
              <a:ea typeface="微软雅黑 Light" panose="020B0502040204020203" pitchFamily="34" charset="-122"/>
              <a:cs typeface="+mn-ea"/>
              <a:sym typeface="+mn-lt"/>
            </a:endParaRPr>
          </a:p>
          <a:p>
            <a:pPr>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在不同图像分割阈值、不同色彩空间以及不同相似度（综合考虑颜色、纹理、大小、重叠度）下，调用层次化分组算法，对所有合并策略下得到的位置框按层级</a:t>
            </a:r>
            <a:r>
              <a:rPr lang="en-US" altLang="zh-CN" sz="1800" dirty="0">
                <a:latin typeface="Microsoft YaHei UI Light" panose="020B0502040204020203" pitchFamily="34" charset="-122"/>
                <a:ea typeface="微软雅黑 Light" panose="020B0502040204020203" pitchFamily="34" charset="-122"/>
                <a:cs typeface="+mn-ea"/>
                <a:sym typeface="+mn-lt"/>
              </a:rPr>
              <a:t>*RND</a:t>
            </a:r>
            <a:r>
              <a:rPr lang="zh-CN" altLang="en-US" sz="1800" dirty="0">
                <a:latin typeface="Microsoft YaHei UI Light" panose="020B0502040204020203" pitchFamily="34" charset="-122"/>
                <a:ea typeface="微软雅黑 Light" panose="020B0502040204020203" pitchFamily="34" charset="-122"/>
                <a:cs typeface="+mn-ea"/>
                <a:sym typeface="+mn-lt"/>
              </a:rPr>
              <a:t>排序，去掉冗余框</a:t>
            </a:r>
            <a:endParaRPr lang="en-US" altLang="zh-CN" sz="1800" dirty="0">
              <a:latin typeface="Microsoft YaHei UI Light" panose="020B0502040204020203" pitchFamily="34" charset="-122"/>
              <a:ea typeface="微软雅黑 Light" panose="020B0502040204020203" pitchFamily="34" charset="-122"/>
              <a:cs typeface="+mn-ea"/>
              <a:sym typeface="+mn-lt"/>
            </a:endParaRPr>
          </a:p>
          <a:p>
            <a:pPr>
              <a:lnSpc>
                <a:spcPct val="120000"/>
              </a:lnSpc>
              <a:buFont typeface="Wingdings" panose="05000000000000000000" pitchFamily="2" charset="2"/>
              <a:buChar char="n"/>
            </a:pPr>
            <a:r>
              <a:rPr lang="zh-CN" altLang="en-US" sz="1800" dirty="0">
                <a:latin typeface="Microsoft YaHei UI Light" panose="020B0502040204020203" pitchFamily="34" charset="-122"/>
                <a:ea typeface="微软雅黑 Light" panose="020B0502040204020203" pitchFamily="34" charset="-122"/>
                <a:cs typeface="+mn-ea"/>
                <a:sym typeface="+mn-lt"/>
              </a:rPr>
              <a:t>取一定个数的候选区域作为后续卷积神经网络的输入</a:t>
            </a:r>
            <a:r>
              <a:rPr lang="en-US" altLang="zh-CN" sz="1800" dirty="0">
                <a:latin typeface="Microsoft YaHei UI Light" panose="020B0502040204020203" pitchFamily="34" charset="-122"/>
                <a:ea typeface="微软雅黑 Light" panose="020B0502040204020203" pitchFamily="34" charset="-122"/>
                <a:cs typeface="+mn-ea"/>
                <a:sym typeface="+mn-lt"/>
              </a:rPr>
              <a:t>(R-CNN</a:t>
            </a:r>
            <a:r>
              <a:rPr lang="zh-CN" altLang="en-US" sz="1800" dirty="0">
                <a:latin typeface="Microsoft YaHei UI Light" panose="020B0502040204020203" pitchFamily="34" charset="-122"/>
                <a:ea typeface="微软雅黑 Light" panose="020B0502040204020203" pitchFamily="34" charset="-122"/>
                <a:cs typeface="+mn-ea"/>
                <a:sym typeface="+mn-lt"/>
              </a:rPr>
              <a:t>取</a:t>
            </a:r>
            <a:r>
              <a:rPr lang="en-US" altLang="zh-CN" sz="1800" dirty="0">
                <a:latin typeface="Microsoft YaHei UI Light" panose="020B0502040204020203" pitchFamily="34" charset="-122"/>
                <a:ea typeface="微软雅黑 Light" panose="020B0502040204020203" pitchFamily="34" charset="-122"/>
                <a:cs typeface="+mn-ea"/>
                <a:sym typeface="+mn-lt"/>
              </a:rPr>
              <a:t>2000</a:t>
            </a:r>
            <a:r>
              <a:rPr lang="zh-CN" altLang="en-US" sz="1800" dirty="0">
                <a:latin typeface="Microsoft YaHei UI Light" panose="020B0502040204020203" pitchFamily="34" charset="-122"/>
                <a:ea typeface="微软雅黑 Light" panose="020B0502040204020203" pitchFamily="34" charset="-122"/>
                <a:cs typeface="+mn-ea"/>
                <a:sym typeface="+mn-lt"/>
              </a:rPr>
              <a:t>个</a:t>
            </a:r>
            <a:r>
              <a:rPr lang="en-US" altLang="zh-CN" sz="1800" dirty="0">
                <a:latin typeface="Microsoft YaHei UI Light" panose="020B0502040204020203" pitchFamily="34" charset="-122"/>
                <a:ea typeface="微软雅黑 Light" panose="020B0502040204020203" pitchFamily="34" charset="-122"/>
                <a:cs typeface="+mn-ea"/>
                <a:sym typeface="+mn-lt"/>
              </a:rPr>
              <a:t>)</a:t>
            </a:r>
          </a:p>
        </p:txBody>
      </p:sp>
      <p:cxnSp>
        <p:nvCxnSpPr>
          <p:cNvPr id="11" name="直接连接符 10"/>
          <p:cNvCxnSpPr/>
          <p:nvPr/>
        </p:nvCxnSpPr>
        <p:spPr>
          <a:xfrm>
            <a:off x="1100936" y="3082455"/>
            <a:ext cx="1667435" cy="0"/>
          </a:xfrm>
          <a:prstGeom prst="line">
            <a:avLst/>
          </a:prstGeom>
          <a:noFill/>
          <a:ln w="28575" cap="flat" cmpd="sng">
            <a:solidFill>
              <a:srgbClr val="FF0000"/>
            </a:solidFill>
            <a:prstDash val="solid"/>
            <a:round/>
            <a:tailEnd type="none"/>
          </a:ln>
          <a:effectLst/>
        </p:spPr>
      </p:cxnSp>
      <p:cxnSp>
        <p:nvCxnSpPr>
          <p:cNvPr id="12" name="直接连接符 11"/>
          <p:cNvCxnSpPr/>
          <p:nvPr/>
        </p:nvCxnSpPr>
        <p:spPr>
          <a:xfrm>
            <a:off x="1296509" y="3813378"/>
            <a:ext cx="1667435" cy="0"/>
          </a:xfrm>
          <a:prstGeom prst="line">
            <a:avLst/>
          </a:prstGeom>
          <a:noFill/>
          <a:ln w="28575" cap="flat" cmpd="sng">
            <a:solidFill>
              <a:srgbClr val="FF0000"/>
            </a:solidFill>
            <a:prstDash val="solid"/>
            <a:round/>
            <a:tailEnd type="none"/>
          </a:ln>
          <a:effectLst/>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sp>
        <p:nvSpPr>
          <p:cNvPr id="8" name="内容占位符 2"/>
          <p:cNvSpPr txBox="1"/>
          <p:nvPr/>
        </p:nvSpPr>
        <p:spPr>
          <a:xfrm>
            <a:off x="1050195" y="1293186"/>
            <a:ext cx="7659092" cy="618377"/>
          </a:xfrm>
          <a:prstGeom prst="rect">
            <a:avLst/>
          </a:prstGeom>
        </p:spPr>
        <p:txBody>
          <a:bodyPr vert="horz" lIns="91440" tIns="45720" rIns="91440" bIns="45720" rtlCol="0">
            <a:normAutofit/>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a:latin typeface="Microsoft YaHei UI Light" panose="020B0502040204020203" pitchFamily="34" charset="-122"/>
                <a:ea typeface="微软雅黑 Light" panose="020B0502040204020203" pitchFamily="34" charset="-122"/>
                <a:cs typeface="+mn-ea"/>
                <a:sym typeface="+mn-lt"/>
              </a:rPr>
              <a:t>分类与回归</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rotWithShape="1">
          <a:blip r:embed="rId5"/>
          <a:srcRect t="14998"/>
          <a:stretch>
            <a:fillRect/>
          </a:stretch>
        </p:blipFill>
        <p:spPr>
          <a:xfrm>
            <a:off x="1200441" y="1861588"/>
            <a:ext cx="7027731" cy="2034401"/>
          </a:xfrm>
          <a:prstGeom prst="rect">
            <a:avLst/>
          </a:prstGeom>
        </p:spPr>
      </p:pic>
      <p:sp>
        <p:nvSpPr>
          <p:cNvPr id="10" name="椭圆 9"/>
          <p:cNvSpPr/>
          <p:nvPr/>
        </p:nvSpPr>
        <p:spPr>
          <a:xfrm>
            <a:off x="6114681" y="1619650"/>
            <a:ext cx="2113491" cy="239000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8502904" y="2203026"/>
            <a:ext cx="1213794" cy="338554"/>
          </a:xfrm>
          <a:prstGeom prst="rect">
            <a:avLst/>
          </a:prstGeom>
          <a:noFill/>
        </p:spPr>
        <p:txBody>
          <a:bodyPr wrap="none" rtlCol="0">
            <a:spAutoFit/>
          </a:bodyPr>
          <a:lstStyle/>
          <a:p>
            <a:r>
              <a:rPr lang="en-US" altLang="zh-CN" sz="1600" b="1" i="1" u="sng" dirty="0">
                <a:latin typeface="Microsoft YaHei UI Light" panose="020B0502040204020203" pitchFamily="34" charset="-122"/>
                <a:ea typeface="微软雅黑 Light" panose="020B0502040204020203" pitchFamily="34" charset="-122"/>
                <a:cs typeface="+mn-ea"/>
                <a:sym typeface="+mn-lt"/>
              </a:rPr>
              <a:t>1. SVM</a:t>
            </a:r>
            <a:r>
              <a:rPr lang="zh-CN" altLang="en-US" sz="1600" b="1" i="1" u="sng" dirty="0">
                <a:latin typeface="Microsoft YaHei UI Light" panose="020B0502040204020203" pitchFamily="34" charset="-122"/>
                <a:ea typeface="微软雅黑 Light" panose="020B0502040204020203" pitchFamily="34" charset="-122"/>
                <a:cs typeface="+mn-ea"/>
                <a:sym typeface="+mn-lt"/>
              </a:rPr>
              <a:t>分类</a:t>
            </a:r>
            <a:endParaRPr lang="en-US" altLang="zh-CN" sz="1600" b="1" i="1" u="sng" dirty="0">
              <a:latin typeface="Microsoft YaHei UI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8502903" y="2767464"/>
            <a:ext cx="1662635" cy="338554"/>
          </a:xfrm>
          <a:prstGeom prst="rect">
            <a:avLst/>
          </a:prstGeom>
          <a:noFill/>
        </p:spPr>
        <p:txBody>
          <a:bodyPr wrap="none" rtlCol="0">
            <a:spAutoFit/>
          </a:bodyPr>
          <a:lstStyle/>
          <a:p>
            <a:r>
              <a:rPr lang="en-US" altLang="zh-CN" sz="1600" b="1" i="1" u="sng" dirty="0">
                <a:latin typeface="Microsoft YaHei UI Light" panose="020B0502040204020203" pitchFamily="34" charset="-122"/>
                <a:ea typeface="微软雅黑 Light" panose="020B0502040204020203" pitchFamily="34" charset="-122"/>
                <a:cs typeface="+mn-ea"/>
                <a:sym typeface="+mn-lt"/>
              </a:rPr>
              <a:t>2. </a:t>
            </a:r>
            <a:r>
              <a:rPr lang="zh-CN" altLang="en-US" sz="1600" b="1" i="1" u="sng" dirty="0">
                <a:latin typeface="Microsoft YaHei UI Light" panose="020B0502040204020203" pitchFamily="34" charset="-122"/>
                <a:ea typeface="微软雅黑 Light" panose="020B0502040204020203" pitchFamily="34" charset="-122"/>
                <a:cs typeface="+mn-ea"/>
                <a:sym typeface="+mn-lt"/>
              </a:rPr>
              <a:t>非极大值抑制</a:t>
            </a:r>
            <a:endParaRPr lang="en-US" altLang="zh-CN" sz="1600" b="1" i="1" u="sng" dirty="0">
              <a:latin typeface="Microsoft YaHei UI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8502903" y="3283492"/>
            <a:ext cx="2049535" cy="338554"/>
          </a:xfrm>
          <a:prstGeom prst="rect">
            <a:avLst/>
          </a:prstGeom>
          <a:noFill/>
        </p:spPr>
        <p:txBody>
          <a:bodyPr wrap="none" rtlCol="0">
            <a:spAutoFit/>
          </a:bodyPr>
          <a:lstStyle/>
          <a:p>
            <a:r>
              <a:rPr lang="en-US" altLang="zh-CN" sz="1600" b="1" i="1" u="sng" dirty="0">
                <a:latin typeface="Microsoft YaHei UI Light" panose="020B0502040204020203" pitchFamily="34" charset="-122"/>
                <a:ea typeface="微软雅黑 Light" panose="020B0502040204020203" pitchFamily="34" charset="-122"/>
                <a:cs typeface="+mn-ea"/>
                <a:sym typeface="+mn-lt"/>
              </a:rPr>
              <a:t>3. </a:t>
            </a:r>
            <a:r>
              <a:rPr lang="en-US" altLang="zh-CN" sz="1600" b="1" i="1" u="sng" dirty="0" err="1">
                <a:latin typeface="Microsoft YaHei UI Light" panose="020B0502040204020203" pitchFamily="34" charset="-122"/>
                <a:ea typeface="微软雅黑 Light" panose="020B0502040204020203" pitchFamily="34" charset="-122"/>
                <a:cs typeface="+mn-ea"/>
                <a:sym typeface="+mn-lt"/>
              </a:rPr>
              <a:t>BoundingBox</a:t>
            </a:r>
            <a:r>
              <a:rPr lang="zh-CN" altLang="en-US" sz="1600" b="1" i="1" u="sng" dirty="0">
                <a:latin typeface="Microsoft YaHei UI Light" panose="020B0502040204020203" pitchFamily="34" charset="-122"/>
                <a:ea typeface="微软雅黑 Light" panose="020B0502040204020203" pitchFamily="34" charset="-122"/>
                <a:cs typeface="+mn-ea"/>
                <a:sym typeface="+mn-lt"/>
              </a:rPr>
              <a:t>回归</a:t>
            </a:r>
            <a:endParaRPr lang="en-US" altLang="zh-CN" sz="1600" b="1" i="1" u="sng" dirty="0">
              <a:latin typeface="Microsoft YaHei UI Light" panose="020B0502040204020203" pitchFamily="34" charset="-122"/>
              <a:ea typeface="微软雅黑 Light" panose="020B0502040204020203" pitchFamily="34" charset="-122"/>
              <a:cs typeface="+mn-ea"/>
              <a:sym typeface="+mn-lt"/>
            </a:endParaRPr>
          </a:p>
        </p:txBody>
      </p:sp>
      <p:grpSp>
        <p:nvGrpSpPr>
          <p:cNvPr id="14" name="组合 13"/>
          <p:cNvGrpSpPr/>
          <p:nvPr/>
        </p:nvGrpSpPr>
        <p:grpSpPr>
          <a:xfrm>
            <a:off x="1200441" y="4009655"/>
            <a:ext cx="9101897" cy="2434781"/>
            <a:chOff x="208187" y="4177731"/>
            <a:chExt cx="8791882" cy="2233699"/>
          </a:xfrm>
        </p:grpSpPr>
        <p:sp>
          <p:nvSpPr>
            <p:cNvPr id="16" name="立方体 15"/>
            <p:cNvSpPr/>
            <p:nvPr/>
          </p:nvSpPr>
          <p:spPr>
            <a:xfrm>
              <a:off x="938781" y="5371738"/>
              <a:ext cx="739589" cy="746928"/>
            </a:xfrm>
            <a:prstGeom prst="cube">
              <a:avLst>
                <a:gd name="adj" fmla="val 76363"/>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8" name="文本框 17"/>
                <p:cNvSpPr txBox="1"/>
                <p:nvPr/>
              </p:nvSpPr>
              <p:spPr>
                <a:xfrm>
                  <a:off x="974095" y="6222342"/>
                  <a:ext cx="801501" cy="184666"/>
                </a:xfrm>
                <a:prstGeom prst="rect">
                  <a:avLst/>
                </a:prstGeom>
                <a:noFill/>
              </p:spPr>
              <p:txBody>
                <a:bodyPr wrap="none" lIns="0" tIns="0" rIns="0" bIns="0" rtlCol="0">
                  <a:spAutoFit/>
                </a:bodyPr>
                <a:lstStyle/>
                <a:p>
                  <a14:m>
                    <m:oMath xmlns:m="http://schemas.openxmlformats.org/officeDocument/2006/math">
                      <m:r>
                        <a:rPr lang="en-US" altLang="zh-CN" sz="1200" b="0" i="1" smtClean="0">
                          <a:latin typeface="Cambria Math" panose="02040503050406030204" pitchFamily="18" charset="0"/>
                          <a:cs typeface="+mn-ea"/>
                          <a:sym typeface="+mn-lt"/>
                        </a:rPr>
                        <m:t>4096</m:t>
                      </m:r>
                      <m:r>
                        <a:rPr lang="zh-CN" altLang="en-US" sz="1200" i="1">
                          <a:latin typeface="Cambria Math" panose="02040503050406030204" pitchFamily="18" charset="0"/>
                          <a:cs typeface="+mn-ea"/>
                          <a:sym typeface="+mn-lt"/>
                        </a:rPr>
                        <m:t>维</m:t>
                      </m:r>
                    </m:oMath>
                  </a14:m>
                  <a:r>
                    <a:rPr lang="zh-CN" altLang="en-US" sz="1200" dirty="0">
                      <a:latin typeface="Microsoft YaHei UI Light" panose="020B0502040204020203" pitchFamily="34" charset="-122"/>
                      <a:ea typeface="微软雅黑 Light" panose="020B0502040204020203" pitchFamily="34" charset="-122"/>
                      <a:cs typeface="+mn-ea"/>
                      <a:sym typeface="+mn-lt"/>
                    </a:rPr>
                    <a:t>特征</a:t>
                  </a:r>
                </a:p>
              </p:txBody>
            </p:sp>
          </mc:Choice>
          <mc:Fallback xmlns="">
            <p:sp>
              <p:nvSpPr>
                <p:cNvPr id="18" name="文本框 17"/>
                <p:cNvSpPr txBox="1">
                  <a:spLocks noRot="1" noChangeAspect="1" noMove="1" noResize="1" noEditPoints="1" noAdjustHandles="1" noChangeArrowheads="1" noChangeShapeType="1" noTextEdit="1"/>
                </p:cNvSpPr>
                <p:nvPr/>
              </p:nvSpPr>
              <p:spPr>
                <a:xfrm>
                  <a:off x="974095" y="6222342"/>
                  <a:ext cx="801501" cy="184666"/>
                </a:xfrm>
                <a:prstGeom prst="rect">
                  <a:avLst/>
                </a:prstGeom>
                <a:blipFill rotWithShape="1">
                  <a:blip r:embed="rId6"/>
                </a:blipFill>
              </p:spPr>
              <p:txBody>
                <a:bodyPr/>
                <a:lstStyle/>
                <a:p>
                  <a:r>
                    <a:rPr lang="zh-CN" altLang="en-US">
                      <a:noFill/>
                    </a:rPr>
                    <a:t> </a:t>
                  </a:r>
                </a:p>
              </p:txBody>
            </p:sp>
          </mc:Fallback>
        </mc:AlternateContent>
        <p:sp>
          <p:nvSpPr>
            <p:cNvPr id="19" name="立方体 18"/>
            <p:cNvSpPr/>
            <p:nvPr/>
          </p:nvSpPr>
          <p:spPr>
            <a:xfrm>
              <a:off x="938781" y="5075843"/>
              <a:ext cx="739589" cy="746928"/>
            </a:xfrm>
            <a:prstGeom prst="cube">
              <a:avLst>
                <a:gd name="adj" fmla="val 76363"/>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20" name="立方体 19"/>
            <p:cNvSpPr/>
            <p:nvPr/>
          </p:nvSpPr>
          <p:spPr>
            <a:xfrm>
              <a:off x="934873" y="4177731"/>
              <a:ext cx="739589" cy="746928"/>
            </a:xfrm>
            <a:prstGeom prst="cube">
              <a:avLst>
                <a:gd name="adj" fmla="val 76363"/>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a:xfrm>
              <a:off x="1144014" y="4852564"/>
              <a:ext cx="461665" cy="259045"/>
            </a:xfrm>
            <a:prstGeom prst="rect">
              <a:avLst/>
            </a:prstGeom>
            <a:noFill/>
          </p:spPr>
          <p:txBody>
            <a:bodyPr vert="eaVert"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22" name="左大括号 21"/>
            <p:cNvSpPr/>
            <p:nvPr/>
          </p:nvSpPr>
          <p:spPr>
            <a:xfrm>
              <a:off x="757294" y="4852564"/>
              <a:ext cx="103318" cy="1125390"/>
            </a:xfrm>
            <a:prstGeom prst="leftBrace">
              <a:avLst/>
            </a:prstGeom>
            <a:noFill/>
            <a:ln w="19050" cap="flat" cmpd="sng">
              <a:solidFill>
                <a:srgbClr val="525977"/>
              </a:solidFill>
              <a:prstDash val="solid"/>
              <a:round/>
              <a:tailEnd type="none"/>
            </a:ln>
            <a:effectLst/>
          </p:spPr>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23" name="文本框 22"/>
                <p:cNvSpPr txBox="1"/>
                <p:nvPr/>
              </p:nvSpPr>
              <p:spPr>
                <a:xfrm>
                  <a:off x="208187" y="5230593"/>
                  <a:ext cx="508152" cy="369332"/>
                </a:xfrm>
                <a:prstGeom prst="rect">
                  <a:avLst/>
                </a:prstGeom>
                <a:noFill/>
              </p:spPr>
              <p:txBody>
                <a:bodyPr wrap="none" lIns="0" tIns="0" rIns="0" bIns="0" rtlCol="0">
                  <a:spAutoFit/>
                </a:bodyPr>
                <a:lstStyle/>
                <a:p>
                  <a14:m>
                    <m:oMath xmlns:m="http://schemas.openxmlformats.org/officeDocument/2006/math">
                      <m:r>
                        <a:rPr lang="en-US" altLang="zh-CN" sz="1200" i="1">
                          <a:latin typeface="Cambria Math" panose="02040503050406030204" pitchFamily="18" charset="0"/>
                          <a:cs typeface="+mn-ea"/>
                          <a:sym typeface="+mn-lt"/>
                        </a:rPr>
                        <m:t>2</m:t>
                      </m:r>
                    </m:oMath>
                  </a14:m>
                  <a:r>
                    <a:rPr lang="en-US" altLang="zh-CN" sz="1200" dirty="0">
                      <a:latin typeface="Microsoft YaHei UI Light" panose="020B0502040204020203" pitchFamily="34" charset="-122"/>
                      <a:ea typeface="微软雅黑 Light" panose="020B0502040204020203" pitchFamily="34" charset="-122"/>
                      <a:cs typeface="+mn-ea"/>
                      <a:sym typeface="+mn-lt"/>
                    </a:rPr>
                    <a:t>000</a:t>
                  </a:r>
                  <a:r>
                    <a:rPr lang="zh-CN" altLang="en-US" sz="1200" dirty="0">
                      <a:latin typeface="Microsoft YaHei UI Light" panose="020B0502040204020203" pitchFamily="34" charset="-122"/>
                      <a:ea typeface="微软雅黑 Light" panose="020B0502040204020203" pitchFamily="34" charset="-122"/>
                      <a:cs typeface="+mn-ea"/>
                      <a:sym typeface="+mn-lt"/>
                    </a:rPr>
                    <a:t>个</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r>
                    <a:rPr lang="zh-CN" altLang="en-US" sz="1200" dirty="0">
                      <a:latin typeface="Microsoft YaHei UI Light" panose="020B0502040204020203" pitchFamily="34" charset="-122"/>
                      <a:ea typeface="微软雅黑 Light" panose="020B0502040204020203" pitchFamily="34" charset="-122"/>
                      <a:cs typeface="+mn-ea"/>
                      <a:sym typeface="+mn-lt"/>
                    </a:rPr>
                    <a:t>候选框</a:t>
                  </a:r>
                </a:p>
              </p:txBody>
            </p:sp>
          </mc:Choice>
          <mc:Fallback xmlns="">
            <p:sp>
              <p:nvSpPr>
                <p:cNvPr id="23" name="文本框 22"/>
                <p:cNvSpPr txBox="1">
                  <a:spLocks noRot="1" noChangeAspect="1" noMove="1" noResize="1" noEditPoints="1" noAdjustHandles="1" noChangeArrowheads="1" noChangeShapeType="1" noTextEdit="1"/>
                </p:cNvSpPr>
                <p:nvPr/>
              </p:nvSpPr>
              <p:spPr>
                <a:xfrm>
                  <a:off x="208187" y="5230593"/>
                  <a:ext cx="508152" cy="369332"/>
                </a:xfrm>
                <a:prstGeom prst="rect">
                  <a:avLst/>
                </a:prstGeom>
                <a:blipFill rotWithShape="1">
                  <a:blip r:embed="rId7"/>
                </a:blipFill>
              </p:spPr>
              <p:txBody>
                <a:bodyPr/>
                <a:lstStyle/>
                <a:p>
                  <a:r>
                    <a:rPr lang="zh-CN" altLang="en-US">
                      <a:noFill/>
                    </a:rPr>
                    <a:t> </a:t>
                  </a:r>
                </a:p>
              </p:txBody>
            </p:sp>
          </mc:Fallback>
        </mc:AlternateContent>
        <p:sp>
          <p:nvSpPr>
            <p:cNvPr id="24" name="右箭头 23"/>
            <p:cNvSpPr/>
            <p:nvPr/>
          </p:nvSpPr>
          <p:spPr>
            <a:xfrm>
              <a:off x="1939240" y="5349570"/>
              <a:ext cx="978800" cy="1340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25" name="立方体 24"/>
            <p:cNvSpPr/>
            <p:nvPr/>
          </p:nvSpPr>
          <p:spPr>
            <a:xfrm>
              <a:off x="3789563" y="5371738"/>
              <a:ext cx="739589" cy="746928"/>
            </a:xfrm>
            <a:prstGeom prst="cube">
              <a:avLst>
                <a:gd name="adj" fmla="val 76363"/>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26" name="文本框 25"/>
                <p:cNvSpPr txBox="1"/>
                <p:nvPr/>
              </p:nvSpPr>
              <p:spPr>
                <a:xfrm>
                  <a:off x="3916601" y="6222342"/>
                  <a:ext cx="631583" cy="184666"/>
                </a:xfrm>
                <a:prstGeom prst="rect">
                  <a:avLst/>
                </a:prstGeom>
                <a:noFill/>
              </p:spPr>
              <p:txBody>
                <a:bodyPr wrap="none" lIns="0" tIns="0" rIns="0" bIns="0" rtlCol="0">
                  <a:spAutoFit/>
                </a:bodyPr>
                <a:lstStyle/>
                <a:p>
                  <a14:m>
                    <m:oMath xmlns:m="http://schemas.openxmlformats.org/officeDocument/2006/math">
                      <m:r>
                        <a:rPr lang="en-US" altLang="zh-CN" sz="1200" i="1">
                          <a:latin typeface="Cambria Math" panose="02040503050406030204" pitchFamily="18" charset="0"/>
                          <a:cs typeface="+mn-ea"/>
                          <a:sym typeface="+mn-lt"/>
                        </a:rPr>
                        <m:t>2</m:t>
                      </m:r>
                      <m:r>
                        <a:rPr lang="en-US" altLang="zh-CN" sz="1200" i="1" smtClean="0">
                          <a:latin typeface="Cambria Math" panose="02040503050406030204" pitchFamily="18" charset="0"/>
                          <a:cs typeface="+mn-ea"/>
                          <a:sym typeface="+mn-lt"/>
                        </a:rPr>
                        <m:t>0</m:t>
                      </m:r>
                      <m:r>
                        <a:rPr lang="zh-CN" altLang="en-US" sz="1200" i="1">
                          <a:latin typeface="Cambria Math" panose="02040503050406030204" pitchFamily="18" charset="0"/>
                          <a:cs typeface="+mn-ea"/>
                          <a:sym typeface="+mn-lt"/>
                        </a:rPr>
                        <m:t>个</m:t>
                      </m:r>
                    </m:oMath>
                  </a14:m>
                  <a:r>
                    <a:rPr lang="zh-CN" altLang="en-US" sz="1200" dirty="0">
                      <a:latin typeface="Microsoft YaHei UI Light" panose="020B0502040204020203" pitchFamily="34" charset="-122"/>
                      <a:ea typeface="微软雅黑 Light" panose="020B0502040204020203" pitchFamily="34" charset="-122"/>
                      <a:cs typeface="+mn-ea"/>
                      <a:sym typeface="+mn-lt"/>
                    </a:rPr>
                    <a:t>类别</a:t>
                  </a:r>
                </a:p>
              </p:txBody>
            </p:sp>
          </mc:Choice>
          <mc:Fallback xmlns="">
            <p:sp>
              <p:nvSpPr>
                <p:cNvPr id="26" name="文本框 25"/>
                <p:cNvSpPr txBox="1">
                  <a:spLocks noRot="1" noChangeAspect="1" noMove="1" noResize="1" noEditPoints="1" noAdjustHandles="1" noChangeArrowheads="1" noChangeShapeType="1" noTextEdit="1"/>
                </p:cNvSpPr>
                <p:nvPr/>
              </p:nvSpPr>
              <p:spPr>
                <a:xfrm>
                  <a:off x="3916601" y="6222342"/>
                  <a:ext cx="631583" cy="184666"/>
                </a:xfrm>
                <a:prstGeom prst="rect">
                  <a:avLst/>
                </a:prstGeom>
                <a:blipFill rotWithShape="1">
                  <a:blip r:embed="rId8"/>
                </a:blipFill>
              </p:spPr>
              <p:txBody>
                <a:bodyPr/>
                <a:lstStyle/>
                <a:p>
                  <a:r>
                    <a:rPr lang="zh-CN" altLang="en-US">
                      <a:noFill/>
                    </a:rPr>
                    <a:t> </a:t>
                  </a:r>
                </a:p>
              </p:txBody>
            </p:sp>
          </mc:Fallback>
        </mc:AlternateContent>
        <p:sp>
          <p:nvSpPr>
            <p:cNvPr id="27" name="立方体 26"/>
            <p:cNvSpPr/>
            <p:nvPr/>
          </p:nvSpPr>
          <p:spPr>
            <a:xfrm>
              <a:off x="3789563" y="5075843"/>
              <a:ext cx="739589" cy="746928"/>
            </a:xfrm>
            <a:prstGeom prst="cube">
              <a:avLst>
                <a:gd name="adj" fmla="val 76363"/>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28" name="立方体 27"/>
            <p:cNvSpPr/>
            <p:nvPr/>
          </p:nvSpPr>
          <p:spPr>
            <a:xfrm>
              <a:off x="3785655" y="4177731"/>
              <a:ext cx="739589" cy="746928"/>
            </a:xfrm>
            <a:prstGeom prst="cube">
              <a:avLst>
                <a:gd name="adj" fmla="val 76363"/>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3994796" y="4852564"/>
              <a:ext cx="461665" cy="259045"/>
            </a:xfrm>
            <a:prstGeom prst="rect">
              <a:avLst/>
            </a:prstGeom>
            <a:noFill/>
          </p:spPr>
          <p:txBody>
            <a:bodyPr vert="eaVert" wrap="none" rtlCol="0">
              <a:spAutoFit/>
            </a:bodyPr>
            <a:lstStyle/>
            <a:p>
              <a:r>
                <a:rPr lang="en-US" altLang="zh-CN" dirty="0">
                  <a:latin typeface="Microsoft YaHei UI Light" panose="020B0502040204020203" pitchFamily="34" charset="-122"/>
                  <a:ea typeface="微软雅黑 Light" panose="020B0502040204020203" pitchFamily="34" charset="-122"/>
                  <a:cs typeface="+mn-ea"/>
                  <a:sym typeface="+mn-lt"/>
                </a:rPr>
                <a:t>…</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sp>
          <p:nvSpPr>
            <p:cNvPr id="31" name="左大括号 30"/>
            <p:cNvSpPr/>
            <p:nvPr/>
          </p:nvSpPr>
          <p:spPr>
            <a:xfrm>
              <a:off x="3626001" y="4852564"/>
              <a:ext cx="103318" cy="1125390"/>
            </a:xfrm>
            <a:prstGeom prst="leftBrace">
              <a:avLst/>
            </a:prstGeom>
            <a:noFill/>
            <a:ln w="19050" cap="flat" cmpd="sng">
              <a:solidFill>
                <a:srgbClr val="525977"/>
              </a:solidFill>
              <a:prstDash val="solid"/>
              <a:round/>
              <a:tailEnd type="none"/>
            </a:ln>
            <a:effectLst/>
          </p:spPr>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32" name="文本框 31"/>
                <p:cNvSpPr txBox="1"/>
                <p:nvPr/>
              </p:nvSpPr>
              <p:spPr>
                <a:xfrm>
                  <a:off x="3076894" y="5230593"/>
                  <a:ext cx="508152" cy="369332"/>
                </a:xfrm>
                <a:prstGeom prst="rect">
                  <a:avLst/>
                </a:prstGeom>
                <a:noFill/>
              </p:spPr>
              <p:txBody>
                <a:bodyPr wrap="none" lIns="0" tIns="0" rIns="0" bIns="0" rtlCol="0">
                  <a:spAutoFit/>
                </a:bodyPr>
                <a:lstStyle/>
                <a:p>
                  <a14:m>
                    <m:oMath xmlns:m="http://schemas.openxmlformats.org/officeDocument/2006/math">
                      <m:r>
                        <a:rPr lang="en-US" altLang="zh-CN" sz="1200" i="1">
                          <a:latin typeface="Cambria Math" panose="02040503050406030204" pitchFamily="18" charset="0"/>
                          <a:cs typeface="+mn-ea"/>
                          <a:sym typeface="+mn-lt"/>
                        </a:rPr>
                        <m:t>2</m:t>
                      </m:r>
                    </m:oMath>
                  </a14:m>
                  <a:r>
                    <a:rPr lang="en-US" altLang="zh-CN" sz="1200" dirty="0">
                      <a:latin typeface="Microsoft YaHei UI Light" panose="020B0502040204020203" pitchFamily="34" charset="-122"/>
                      <a:ea typeface="微软雅黑 Light" panose="020B0502040204020203" pitchFamily="34" charset="-122"/>
                      <a:cs typeface="+mn-ea"/>
                      <a:sym typeface="+mn-lt"/>
                    </a:rPr>
                    <a:t>000</a:t>
                  </a:r>
                  <a:r>
                    <a:rPr lang="zh-CN" altLang="en-US" sz="1200" dirty="0">
                      <a:latin typeface="Microsoft YaHei UI Light" panose="020B0502040204020203" pitchFamily="34" charset="-122"/>
                      <a:ea typeface="微软雅黑 Light" panose="020B0502040204020203" pitchFamily="34" charset="-122"/>
                      <a:cs typeface="+mn-ea"/>
                      <a:sym typeface="+mn-lt"/>
                    </a:rPr>
                    <a:t>个</a:t>
                  </a:r>
                  <a:endParaRPr lang="en-US" altLang="zh-CN" sz="1200" dirty="0">
                    <a:latin typeface="Microsoft YaHei UI Light" panose="020B0502040204020203" pitchFamily="34" charset="-122"/>
                    <a:ea typeface="微软雅黑 Light" panose="020B0502040204020203" pitchFamily="34" charset="-122"/>
                    <a:cs typeface="+mn-ea"/>
                    <a:sym typeface="+mn-lt"/>
                  </a:endParaRPr>
                </a:p>
                <a:p>
                  <a:r>
                    <a:rPr lang="zh-CN" altLang="en-US" sz="1200" dirty="0">
                      <a:latin typeface="Microsoft YaHei UI Light" panose="020B0502040204020203" pitchFamily="34" charset="-122"/>
                      <a:ea typeface="微软雅黑 Light" panose="020B0502040204020203" pitchFamily="34" charset="-122"/>
                      <a:cs typeface="+mn-ea"/>
                      <a:sym typeface="+mn-lt"/>
                    </a:rPr>
                    <a:t>候选框</a:t>
                  </a:r>
                </a:p>
              </p:txBody>
            </p:sp>
          </mc:Choice>
          <mc:Fallback xmlns="">
            <p:sp>
              <p:nvSpPr>
                <p:cNvPr id="32" name="文本框 31"/>
                <p:cNvSpPr txBox="1">
                  <a:spLocks noRot="1" noChangeAspect="1" noMove="1" noResize="1" noEditPoints="1" noAdjustHandles="1" noChangeArrowheads="1" noChangeShapeType="1" noTextEdit="1"/>
                </p:cNvSpPr>
                <p:nvPr/>
              </p:nvSpPr>
              <p:spPr>
                <a:xfrm>
                  <a:off x="3076894" y="5230593"/>
                  <a:ext cx="508152" cy="369332"/>
                </a:xfrm>
                <a:prstGeom prst="rect">
                  <a:avLst/>
                </a:prstGeom>
                <a:blipFill rotWithShape="1">
                  <a:blip r:embed="rId7"/>
                </a:blipFill>
              </p:spPr>
              <p:txBody>
                <a:bodyPr/>
                <a:lstStyle/>
                <a:p>
                  <a:r>
                    <a:rPr lang="zh-CN" altLang="en-US">
                      <a:noFill/>
                    </a:rPr>
                    <a:t> </a:t>
                  </a:r>
                </a:p>
              </p:txBody>
            </p:sp>
          </mc:Fallback>
        </mc:AlternateContent>
        <p:sp>
          <p:nvSpPr>
            <p:cNvPr id="34" name="文本框 33"/>
            <p:cNvSpPr txBox="1"/>
            <p:nvPr/>
          </p:nvSpPr>
          <p:spPr>
            <a:xfrm>
              <a:off x="1787281" y="4828328"/>
              <a:ext cx="1261885" cy="523220"/>
            </a:xfrm>
            <a:prstGeom prst="rect">
              <a:avLst/>
            </a:prstGeom>
            <a:noFill/>
          </p:spPr>
          <p:txBody>
            <a:bodyPr wrap="none" rtlCol="0">
              <a:spAutoFit/>
            </a:bodyPr>
            <a:lstStyle/>
            <a:p>
              <a:pPr algn="ctr"/>
              <a:r>
                <a:rPr lang="zh-CN" altLang="en-US" sz="1400" dirty="0">
                  <a:latin typeface="Microsoft YaHei UI Light" panose="020B0502040204020203" pitchFamily="34" charset="-122"/>
                  <a:ea typeface="微软雅黑 Light" panose="020B0502040204020203" pitchFamily="34" charset="-122"/>
                  <a:cs typeface="+mn-ea"/>
                  <a:sym typeface="+mn-lt"/>
                </a:rPr>
                <a:t>每个类别一个</a:t>
              </a:r>
              <a:endParaRPr lang="en-US" altLang="zh-CN" sz="1400" dirty="0">
                <a:latin typeface="Microsoft YaHei UI Light" panose="020B0502040204020203" pitchFamily="34" charset="-122"/>
                <a:ea typeface="微软雅黑 Light" panose="020B0502040204020203" pitchFamily="34" charset="-122"/>
                <a:cs typeface="+mn-ea"/>
                <a:sym typeface="+mn-lt"/>
              </a:endParaRPr>
            </a:p>
            <a:p>
              <a:pPr algn="ctr"/>
              <a:r>
                <a:rPr lang="en-US" altLang="zh-CN" sz="1400" dirty="0">
                  <a:latin typeface="Microsoft YaHei UI Light" panose="020B0502040204020203" pitchFamily="34" charset="-122"/>
                  <a:ea typeface="微软雅黑 Light" panose="020B0502040204020203" pitchFamily="34" charset="-122"/>
                  <a:cs typeface="+mn-ea"/>
                  <a:sym typeface="+mn-lt"/>
                </a:rPr>
                <a:t>SVM</a:t>
              </a:r>
              <a:r>
                <a:rPr lang="zh-CN" altLang="en-US" sz="1400" dirty="0">
                  <a:latin typeface="Microsoft YaHei UI Light" panose="020B0502040204020203" pitchFamily="34" charset="-122"/>
                  <a:ea typeface="微软雅黑 Light" panose="020B0502040204020203" pitchFamily="34" charset="-122"/>
                  <a:cs typeface="+mn-ea"/>
                  <a:sym typeface="+mn-lt"/>
                </a:rPr>
                <a:t>分类器</a:t>
              </a:r>
            </a:p>
          </p:txBody>
        </p:sp>
        <p:sp>
          <p:nvSpPr>
            <p:cNvPr id="35" name="文本框 34"/>
            <p:cNvSpPr txBox="1"/>
            <p:nvPr/>
          </p:nvSpPr>
          <p:spPr>
            <a:xfrm>
              <a:off x="1883502" y="5483592"/>
              <a:ext cx="1021433" cy="523220"/>
            </a:xfrm>
            <a:prstGeom prst="rect">
              <a:avLst/>
            </a:prstGeom>
            <a:noFill/>
          </p:spPr>
          <p:txBody>
            <a:bodyPr wrap="none" rtlCol="0">
              <a:spAutoFit/>
            </a:bodyPr>
            <a:lstStyle/>
            <a:p>
              <a:pPr algn="ctr"/>
              <a:r>
                <a:rPr lang="en-US" altLang="zh-CN" sz="1400" dirty="0">
                  <a:latin typeface="Microsoft YaHei UI Light" panose="020B0502040204020203" pitchFamily="34" charset="-122"/>
                  <a:ea typeface="微软雅黑 Light" panose="020B0502040204020203" pitchFamily="34" charset="-122"/>
                  <a:cs typeface="+mn-ea"/>
                  <a:sym typeface="+mn-lt"/>
                </a:rPr>
                <a:t>21</a:t>
              </a:r>
              <a:r>
                <a:rPr lang="zh-CN" altLang="en-US" sz="1400" dirty="0">
                  <a:latin typeface="Microsoft YaHei UI Light" panose="020B0502040204020203" pitchFamily="34" charset="-122"/>
                  <a:ea typeface="微软雅黑 Light" panose="020B0502040204020203" pitchFamily="34" charset="-122"/>
                  <a:cs typeface="+mn-ea"/>
                  <a:sym typeface="+mn-lt"/>
                </a:rPr>
                <a:t>个分类</a:t>
              </a:r>
              <a:endParaRPr lang="en-US" altLang="zh-CN" sz="1400" dirty="0">
                <a:latin typeface="Microsoft YaHei UI Light" panose="020B0502040204020203" pitchFamily="34" charset="-122"/>
                <a:ea typeface="微软雅黑 Light" panose="020B0502040204020203" pitchFamily="34" charset="-122"/>
                <a:cs typeface="+mn-ea"/>
                <a:sym typeface="+mn-lt"/>
              </a:endParaRPr>
            </a:p>
            <a:p>
              <a:pPr algn="ctr"/>
              <a:r>
                <a:rPr lang="en-US" altLang="zh-CN" sz="1400" dirty="0">
                  <a:latin typeface="Microsoft YaHei UI Light" panose="020B0502040204020203" pitchFamily="34" charset="-122"/>
                  <a:ea typeface="微软雅黑 Light" panose="020B0502040204020203" pitchFamily="34" charset="-122"/>
                  <a:cs typeface="+mn-ea"/>
                  <a:sym typeface="+mn-lt"/>
                </a:rPr>
                <a:t>(</a:t>
              </a:r>
              <a:r>
                <a:rPr lang="zh-CN" altLang="en-US" sz="1400" dirty="0">
                  <a:latin typeface="Microsoft YaHei UI Light" panose="020B0502040204020203" pitchFamily="34" charset="-122"/>
                  <a:ea typeface="微软雅黑 Light" panose="020B0502040204020203" pitchFamily="34" charset="-122"/>
                  <a:cs typeface="+mn-ea"/>
                  <a:sym typeface="+mn-lt"/>
                </a:rPr>
                <a:t>包括背景</a:t>
              </a:r>
              <a:r>
                <a:rPr lang="en-US" altLang="zh-CN" sz="1400" dirty="0">
                  <a:latin typeface="Microsoft YaHei UI Light" panose="020B0502040204020203" pitchFamily="34" charset="-122"/>
                  <a:ea typeface="微软雅黑 Light" panose="020B0502040204020203" pitchFamily="34" charset="-122"/>
                  <a:cs typeface="+mn-ea"/>
                  <a:sym typeface="+mn-lt"/>
                </a:rPr>
                <a:t>)</a:t>
              </a:r>
              <a:endParaRPr lang="zh-CN" altLang="en-US" sz="1400" dirty="0">
                <a:latin typeface="Microsoft YaHei UI Light" panose="020B0502040204020203" pitchFamily="34" charset="-122"/>
                <a:ea typeface="微软雅黑 Light" panose="020B0502040204020203" pitchFamily="34" charset="-122"/>
                <a:cs typeface="+mn-ea"/>
                <a:sym typeface="+mn-lt"/>
              </a:endParaRPr>
            </a:p>
          </p:txBody>
        </p:sp>
        <p:sp>
          <p:nvSpPr>
            <p:cNvPr id="36" name="右箭头 35"/>
            <p:cNvSpPr/>
            <p:nvPr/>
          </p:nvSpPr>
          <p:spPr>
            <a:xfrm>
              <a:off x="4712233" y="5349570"/>
              <a:ext cx="517883" cy="1340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37" name="文本框 36"/>
            <p:cNvSpPr txBox="1"/>
            <p:nvPr/>
          </p:nvSpPr>
          <p:spPr>
            <a:xfrm>
              <a:off x="4658620" y="5055163"/>
              <a:ext cx="580608" cy="307777"/>
            </a:xfrm>
            <a:prstGeom prst="rect">
              <a:avLst/>
            </a:prstGeom>
            <a:noFill/>
          </p:spPr>
          <p:txBody>
            <a:bodyPr wrap="none" rtlCol="0">
              <a:spAutoFit/>
            </a:bodyPr>
            <a:lstStyle/>
            <a:p>
              <a:pPr algn="ctr"/>
              <a:r>
                <a:rPr lang="en-US" altLang="zh-CN" sz="1400" dirty="0">
                  <a:latin typeface="Microsoft YaHei UI Light" panose="020B0502040204020203" pitchFamily="34" charset="-122"/>
                  <a:ea typeface="微软雅黑 Light" panose="020B0502040204020203" pitchFamily="34" charset="-122"/>
                  <a:cs typeface="+mn-ea"/>
                  <a:sym typeface="+mn-lt"/>
                </a:rPr>
                <a:t>NMS</a:t>
              </a:r>
              <a:endParaRPr lang="zh-CN" altLang="en-US" sz="1400" dirty="0">
                <a:latin typeface="Microsoft YaHei UI Light" panose="020B0502040204020203" pitchFamily="34" charset="-122"/>
                <a:ea typeface="微软雅黑 Light" panose="020B0502040204020203" pitchFamily="34" charset="-122"/>
                <a:cs typeface="+mn-ea"/>
                <a:sym typeface="+mn-lt"/>
              </a:endParaRPr>
            </a:p>
          </p:txBody>
        </p:sp>
        <p:pic>
          <p:nvPicPr>
            <p:cNvPr id="38" name="Picture 2" descr="https://img-blog.csdn.net/2016081612555028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333969" y="4828328"/>
              <a:ext cx="1525721" cy="102326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https://img-blog.csdn.net/2016081612565799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474915" y="4825042"/>
              <a:ext cx="1525154" cy="1026546"/>
            </a:xfrm>
            <a:prstGeom prst="rect">
              <a:avLst/>
            </a:prstGeom>
            <a:noFill/>
            <a:extLst>
              <a:ext uri="{909E8E84-426E-40DD-AFC4-6F175D3DCCD1}">
                <a14:hiddenFill xmlns:a14="http://schemas.microsoft.com/office/drawing/2010/main">
                  <a:solidFill>
                    <a:srgbClr val="FFFFFF"/>
                  </a:solidFill>
                </a14:hiddenFill>
              </a:ext>
            </a:extLst>
          </p:spPr>
        </p:pic>
        <p:sp>
          <p:nvSpPr>
            <p:cNvPr id="40" name="右箭头 39"/>
            <p:cNvSpPr/>
            <p:nvPr/>
          </p:nvSpPr>
          <p:spPr>
            <a:xfrm>
              <a:off x="6908361" y="5349570"/>
              <a:ext cx="517883" cy="1340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41" name="文本框 40"/>
            <p:cNvSpPr txBox="1"/>
            <p:nvPr/>
          </p:nvSpPr>
          <p:spPr>
            <a:xfrm>
              <a:off x="6873182" y="5055163"/>
              <a:ext cx="543739" cy="307777"/>
            </a:xfrm>
            <a:prstGeom prst="rect">
              <a:avLst/>
            </a:prstGeom>
            <a:noFill/>
          </p:spPr>
          <p:txBody>
            <a:bodyPr wrap="none" rtlCol="0">
              <a:spAutoFit/>
            </a:bodyPr>
            <a:lstStyle/>
            <a:p>
              <a:pPr algn="ctr"/>
              <a:r>
                <a:rPr lang="zh-CN" altLang="en-US" sz="1400" dirty="0">
                  <a:latin typeface="Microsoft YaHei UI Light" panose="020B0502040204020203" pitchFamily="34" charset="-122"/>
                  <a:ea typeface="微软雅黑 Light" panose="020B0502040204020203" pitchFamily="34" charset="-122"/>
                  <a:cs typeface="+mn-ea"/>
                  <a:sym typeface="+mn-lt"/>
                </a:rPr>
                <a:t>回归</a:t>
              </a:r>
            </a:p>
          </p:txBody>
        </p:sp>
        <mc:AlternateContent xmlns:mc="http://schemas.openxmlformats.org/markup-compatibility/2006" xmlns:a14="http://schemas.microsoft.com/office/drawing/2010/main">
          <mc:Choice Requires="a14">
            <p:sp>
              <p:nvSpPr>
                <p:cNvPr id="42" name="文本框 41"/>
                <p:cNvSpPr txBox="1"/>
                <p:nvPr/>
              </p:nvSpPr>
              <p:spPr>
                <a:xfrm>
                  <a:off x="5620888" y="6226764"/>
                  <a:ext cx="923330" cy="184666"/>
                </a:xfrm>
                <a:prstGeom prst="rect">
                  <a:avLst/>
                </a:prstGeom>
                <a:noFill/>
              </p:spPr>
              <p:txBody>
                <a:bodyPr wrap="none" lIns="0" tIns="0" rIns="0" bIns="0" rtlCol="0">
                  <a:spAutoFit/>
                </a:bodyPr>
                <a:lstStyle/>
                <a:p>
                  <a14:m>
                    <m:oMath xmlns:m="http://schemas.openxmlformats.org/officeDocument/2006/math">
                      <m:r>
                        <a:rPr lang="zh-CN" altLang="en-US" sz="1200" i="1" smtClean="0">
                          <a:latin typeface="Cambria Math" panose="02040503050406030204" pitchFamily="18" charset="0"/>
                          <a:cs typeface="+mn-ea"/>
                          <a:sym typeface="+mn-lt"/>
                        </a:rPr>
                        <m:t>去掉</m:t>
                      </m:r>
                      <m:r>
                        <a:rPr lang="zh-CN" altLang="en-US" sz="1200" i="1">
                          <a:latin typeface="Cambria Math" panose="02040503050406030204" pitchFamily="18" charset="0"/>
                          <a:cs typeface="+mn-ea"/>
                          <a:sym typeface="+mn-lt"/>
                        </a:rPr>
                        <m:t>冗余</m:t>
                      </m:r>
                    </m:oMath>
                  </a14:m>
                  <a:r>
                    <a:rPr lang="zh-CN" altLang="en-US" sz="1200" dirty="0">
                      <a:latin typeface="Microsoft YaHei UI Light" panose="020B0502040204020203" pitchFamily="34" charset="-122"/>
                      <a:ea typeface="微软雅黑 Light" panose="020B0502040204020203" pitchFamily="34" charset="-122"/>
                      <a:cs typeface="+mn-ea"/>
                      <a:sym typeface="+mn-lt"/>
                    </a:rPr>
                    <a:t>选框</a:t>
                  </a:r>
                </a:p>
              </p:txBody>
            </p:sp>
          </mc:Choice>
          <mc:Fallback xmlns="">
            <p:sp>
              <p:nvSpPr>
                <p:cNvPr id="42" name="文本框 41"/>
                <p:cNvSpPr txBox="1">
                  <a:spLocks noRot="1" noChangeAspect="1" noMove="1" noResize="1" noEditPoints="1" noAdjustHandles="1" noChangeArrowheads="1" noChangeShapeType="1" noTextEdit="1"/>
                </p:cNvSpPr>
                <p:nvPr/>
              </p:nvSpPr>
              <p:spPr>
                <a:xfrm>
                  <a:off x="5620888" y="6226764"/>
                  <a:ext cx="923330" cy="184666"/>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p:cNvSpPr txBox="1"/>
                <p:nvPr/>
              </p:nvSpPr>
              <p:spPr>
                <a:xfrm>
                  <a:off x="7426244" y="6222342"/>
                  <a:ext cx="1570943" cy="184666"/>
                </a:xfrm>
                <a:prstGeom prst="rect">
                  <a:avLst/>
                </a:prstGeom>
                <a:noFill/>
              </p:spPr>
              <p:txBody>
                <a:bodyPr wrap="none" lIns="0" tIns="0" rIns="0" bIns="0" rtlCol="0">
                  <a:spAutoFit/>
                </a:bodyPr>
                <a:lstStyle/>
                <a:p>
                  <a14:m>
                    <m:oMath xmlns:m="http://schemas.openxmlformats.org/officeDocument/2006/math">
                      <m:r>
                        <a:rPr lang="zh-CN" altLang="en-US" sz="1200" i="1">
                          <a:latin typeface="Cambria Math" panose="02040503050406030204" pitchFamily="18" charset="0"/>
                          <a:cs typeface="+mn-ea"/>
                          <a:sym typeface="+mn-lt"/>
                        </a:rPr>
                        <m:t>微调</m:t>
                      </m:r>
                    </m:oMath>
                  </a14:m>
                  <a:r>
                    <a:rPr lang="zh-CN" altLang="en-US" sz="1200" dirty="0">
                      <a:latin typeface="Microsoft YaHei UI Light" panose="020B0502040204020203" pitchFamily="34" charset="-122"/>
                      <a:ea typeface="微软雅黑 Light" panose="020B0502040204020203" pitchFamily="34" charset="-122"/>
                      <a:cs typeface="+mn-ea"/>
                      <a:sym typeface="+mn-lt"/>
                    </a:rPr>
                    <a:t>校准选框</a:t>
                  </a:r>
                  <a:r>
                    <a:rPr lang="zh-CN" altLang="en-US" sz="1200">
                      <a:latin typeface="Microsoft YaHei UI Light" panose="020B0502040204020203" pitchFamily="34" charset="-122"/>
                      <a:ea typeface="微软雅黑 Light" panose="020B0502040204020203" pitchFamily="34" charset="-122"/>
                      <a:cs typeface="+mn-ea"/>
                      <a:sym typeface="+mn-lt"/>
                    </a:rPr>
                    <a:t>以提高</a:t>
                  </a:r>
                  <a:r>
                    <a:rPr lang="en-US" altLang="zh-CN" sz="1200">
                      <a:latin typeface="Microsoft YaHei UI Light" panose="020B0502040204020203" pitchFamily="34" charset="-122"/>
                      <a:ea typeface="微软雅黑 Light" panose="020B0502040204020203" pitchFamily="34" charset="-122"/>
                      <a:cs typeface="+mn-ea"/>
                      <a:sym typeface="+mn-lt"/>
                    </a:rPr>
                    <a:t>AP</a:t>
                  </a:r>
                  <a:endParaRPr lang="zh-CN" altLang="en-US" sz="12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43" name="文本框 42"/>
                <p:cNvSpPr txBox="1">
                  <a:spLocks noRot="1" noChangeAspect="1" noMove="1" noResize="1" noEditPoints="1" noAdjustHandles="1" noChangeArrowheads="1" noChangeShapeType="1" noTextEdit="1"/>
                </p:cNvSpPr>
                <p:nvPr/>
              </p:nvSpPr>
              <p:spPr>
                <a:xfrm>
                  <a:off x="7426244" y="6222342"/>
                  <a:ext cx="1570943" cy="184666"/>
                </a:xfrm>
                <a:prstGeom prst="rect">
                  <a:avLst/>
                </a:prstGeom>
                <a:blipFill rotWithShape="1">
                  <a:blip r:embed="rId12"/>
                </a:blipFill>
              </p:spPr>
              <p:txBody>
                <a:bodyPr/>
                <a:lstStyle/>
                <a:p>
                  <a:r>
                    <a:rPr lang="zh-CN" altLang="en-US">
                      <a:noFill/>
                    </a:rPr>
                    <a:t> </a:t>
                  </a:r>
                </a:p>
              </p:txBody>
            </p:sp>
          </mc:Fallback>
        </mc:AlternateContent>
      </p:grpSp>
      <p:sp>
        <p:nvSpPr>
          <p:cNvPr id="44" name="文本框 43"/>
          <p:cNvSpPr txBox="1"/>
          <p:nvPr/>
        </p:nvSpPr>
        <p:spPr>
          <a:xfrm>
            <a:off x="5454961" y="4621251"/>
            <a:ext cx="1306769" cy="307777"/>
          </a:xfrm>
          <a:prstGeom prst="rect">
            <a:avLst/>
          </a:prstGeom>
          <a:noFill/>
        </p:spPr>
        <p:txBody>
          <a:bodyPr wrap="none" rtlCol="0">
            <a:spAutoFit/>
          </a:bodyPr>
          <a:lstStyle/>
          <a:p>
            <a:pPr algn="ctr"/>
            <a:r>
              <a:rPr lang="zh-CN" altLang="en-US" sz="1400" dirty="0">
                <a:latin typeface="Microsoft YaHei UI Light" panose="020B0502040204020203" pitchFamily="34" charset="-122"/>
                <a:ea typeface="微软雅黑 Light" panose="020B0502040204020203" pitchFamily="34" charset="-122"/>
                <a:cs typeface="+mn-ea"/>
                <a:sym typeface="+mn-lt"/>
              </a:rPr>
              <a:t>非极大值抑制</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sp>
        <p:nvSpPr>
          <p:cNvPr id="8" name="内容占位符 2"/>
          <p:cNvSpPr txBox="1"/>
          <p:nvPr/>
        </p:nvSpPr>
        <p:spPr>
          <a:xfrm>
            <a:off x="631741" y="1469357"/>
            <a:ext cx="7659092" cy="618377"/>
          </a:xfrm>
          <a:prstGeom prst="rect">
            <a:avLst/>
          </a:prstGeom>
        </p:spPr>
        <p:txBody>
          <a:bodyPr vert="horz" lIns="91440" tIns="45720" rIns="91440" bIns="45720" rtlCol="0">
            <a:normAutofit/>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a:latin typeface="Microsoft YaHei UI Light" panose="020B0502040204020203" pitchFamily="34" charset="-122"/>
                <a:ea typeface="微软雅黑 Light" panose="020B0502040204020203" pitchFamily="34" charset="-122"/>
                <a:cs typeface="+mn-ea"/>
                <a:sym typeface="+mn-lt"/>
              </a:rPr>
              <a:t>非极大值抑制</a:t>
            </a:r>
            <a:r>
              <a:rPr lang="en-US" altLang="zh-CN" sz="2400">
                <a:latin typeface="Microsoft YaHei UI Light" panose="020B0502040204020203" pitchFamily="34" charset="-122"/>
                <a:ea typeface="微软雅黑 Light" panose="020B0502040204020203" pitchFamily="34" charset="-122"/>
                <a:cs typeface="+mn-ea"/>
                <a:sym typeface="+mn-lt"/>
              </a:rPr>
              <a:t>(Non-Maximum Suppression, NMS)</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9" name="矩形 8"/>
              <p:cNvSpPr/>
              <p:nvPr/>
            </p:nvSpPr>
            <p:spPr>
              <a:xfrm>
                <a:off x="631740" y="2202516"/>
                <a:ext cx="10573289" cy="3924344"/>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200" b="1" dirty="0">
                    <a:latin typeface="Microsoft YaHei UI Light" panose="020B0502040204020203" pitchFamily="34" charset="-122"/>
                    <a:ea typeface="微软雅黑 Light" panose="020B0502040204020203" pitchFamily="34" charset="-122"/>
                    <a:cs typeface="+mn-ea"/>
                    <a:sym typeface="+mn-lt"/>
                  </a:rPr>
                  <a:t>问题</a:t>
                </a:r>
                <a:r>
                  <a:rPr lang="zh-CN" altLang="en-US" sz="2200" dirty="0">
                    <a:latin typeface="Microsoft YaHei UI Light" panose="020B0502040204020203" pitchFamily="34" charset="-122"/>
                    <a:ea typeface="微软雅黑 Light" panose="020B0502040204020203" pitchFamily="34" charset="-122"/>
                    <a:cs typeface="+mn-ea"/>
                    <a:sym typeface="+mn-lt"/>
                  </a:rPr>
                  <a:t>：同一目标的位置可能产生多个候选框，而这些候选框之间可能会有重叠</a:t>
                </a:r>
                <a:endParaRPr lang="en-US" altLang="zh-CN" sz="22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200" b="1" dirty="0">
                    <a:latin typeface="Microsoft YaHei UI Light" panose="020B0502040204020203" pitchFamily="34" charset="-122"/>
                    <a:ea typeface="微软雅黑 Light" panose="020B0502040204020203" pitchFamily="34" charset="-122"/>
                    <a:cs typeface="+mn-ea"/>
                    <a:sym typeface="+mn-lt"/>
                  </a:rPr>
                  <a:t>解决思路：</a:t>
                </a:r>
                <a:endParaRPr lang="en-US" altLang="zh-CN" sz="2200" b="1" dirty="0">
                  <a:latin typeface="Microsoft YaHei UI Light" panose="020B0502040204020203" pitchFamily="34" charset="-122"/>
                  <a:ea typeface="微软雅黑 Light" panose="020B0502040204020203" pitchFamily="34" charset="-122"/>
                  <a:cs typeface="+mn-ea"/>
                  <a:sym typeface="+mn-lt"/>
                </a:endParaRPr>
              </a:p>
              <a:p>
                <a:pPr marL="742950" lvl="1" indent="-285750">
                  <a:lnSpc>
                    <a:spcPct val="150000"/>
                  </a:lnSpc>
                  <a:buFont typeface="Arial" panose="020B0604020202020204" pitchFamily="34" charset="0"/>
                  <a:buChar char="•"/>
                </a:pPr>
                <a:r>
                  <a:rPr lang="zh-CN" altLang="en-US" sz="2200" dirty="0">
                    <a:latin typeface="Microsoft YaHei UI Light" panose="020B0502040204020203" pitchFamily="34" charset="-122"/>
                    <a:ea typeface="微软雅黑 Light" panose="020B0502040204020203" pitchFamily="34" charset="-122"/>
                    <a:cs typeface="+mn-ea"/>
                    <a:sym typeface="+mn-lt"/>
                  </a:rPr>
                  <a:t>对每个分类，使用贪心</a:t>
                </a:r>
                <a:r>
                  <a:rPr lang="en-US" altLang="zh-CN" sz="2200" dirty="0">
                    <a:latin typeface="Microsoft YaHei UI Light" panose="020B0502040204020203" pitchFamily="34" charset="-122"/>
                    <a:ea typeface="微软雅黑 Light" panose="020B0502040204020203" pitchFamily="34" charset="-122"/>
                    <a:cs typeface="+mn-ea"/>
                    <a:sym typeface="+mn-lt"/>
                  </a:rPr>
                  <a:t>NMS</a:t>
                </a:r>
                <a:r>
                  <a:rPr lang="zh-CN" altLang="en-US" sz="2200" dirty="0">
                    <a:latin typeface="Microsoft YaHei UI Light" panose="020B0502040204020203" pitchFamily="34" charset="-122"/>
                    <a:ea typeface="微软雅黑 Light" panose="020B0502040204020203" pitchFamily="34" charset="-122"/>
                    <a:cs typeface="+mn-ea"/>
                    <a:sym typeface="+mn-lt"/>
                  </a:rPr>
                  <a:t>选择较优</a:t>
                </a:r>
                <a:r>
                  <a:rPr lang="zh-CN" altLang="en-US" sz="2200" dirty="0"/>
                  <a:t>的目标边界框，去除冗余的边界框</a:t>
                </a:r>
                <a:endParaRPr lang="en-US" altLang="zh-CN" sz="2200" b="1"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en-US" altLang="zh-CN" sz="2200" b="1" dirty="0">
                    <a:latin typeface="Microsoft YaHei UI Light" panose="020B0502040204020203" pitchFamily="34" charset="-122"/>
                    <a:ea typeface="微软雅黑 Light" panose="020B0502040204020203" pitchFamily="34" charset="-122"/>
                    <a:cs typeface="+mn-ea"/>
                    <a:sym typeface="+mn-lt"/>
                  </a:rPr>
                  <a:t>NMS</a:t>
                </a:r>
                <a:r>
                  <a:rPr lang="zh-CN" altLang="en-US" sz="2200" b="1" dirty="0">
                    <a:latin typeface="Microsoft YaHei UI Light" panose="020B0502040204020203" pitchFamily="34" charset="-122"/>
                    <a:ea typeface="微软雅黑 Light" panose="020B0502040204020203" pitchFamily="34" charset="-122"/>
                    <a:cs typeface="+mn-ea"/>
                    <a:sym typeface="+mn-lt"/>
                  </a:rPr>
                  <a:t>算法流程</a:t>
                </a:r>
                <a:r>
                  <a:rPr lang="zh-CN" altLang="en-US" sz="2200" dirty="0">
                    <a:latin typeface="Microsoft YaHei UI Light" panose="020B0502040204020203" pitchFamily="34" charset="-122"/>
                    <a:ea typeface="微软雅黑 Light" panose="020B0502040204020203" pitchFamily="34" charset="-122"/>
                    <a:cs typeface="+mn-ea"/>
                    <a:sym typeface="+mn-lt"/>
                  </a:rPr>
                  <a:t>：</a:t>
                </a:r>
                <a:endParaRPr lang="en-US" altLang="zh-CN" sz="2200" dirty="0">
                  <a:latin typeface="Microsoft YaHei UI Light" panose="020B0502040204020203" pitchFamily="34" charset="-122"/>
                  <a:ea typeface="微软雅黑 Light" panose="020B0502040204020203" pitchFamily="34" charset="-122"/>
                  <a:cs typeface="+mn-ea"/>
                  <a:sym typeface="+mn-lt"/>
                </a:endParaRPr>
              </a:p>
              <a:p>
                <a:pPr marL="720090" indent="-342900">
                  <a:buFont typeface="+mj-lt"/>
                  <a:buAutoNum type="arabicPeriod"/>
                </a:pPr>
                <a:r>
                  <a:rPr lang="zh-CN" altLang="en-US" sz="2200" dirty="0">
                    <a:latin typeface="Microsoft YaHei UI Light" panose="020B0502040204020203" pitchFamily="34" charset="-122"/>
                    <a:ea typeface="微软雅黑 Light" panose="020B0502040204020203" pitchFamily="34" charset="-122"/>
                    <a:cs typeface="+mn-ea"/>
                    <a:sym typeface="+mn-lt"/>
                  </a:rPr>
                  <a:t>按照检测得分对候选框排序</a:t>
                </a:r>
              </a:p>
              <a:p>
                <a:pPr marL="720090" indent="-342900">
                  <a:buFont typeface="+mj-lt"/>
                  <a:buAutoNum type="arabicPeriod"/>
                </a:pPr>
                <a:r>
                  <a:rPr lang="zh-CN" altLang="en-US" sz="2200" dirty="0">
                    <a:latin typeface="Microsoft YaHei UI Light" panose="020B0502040204020203" pitchFamily="34" charset="-122"/>
                    <a:ea typeface="微软雅黑 Light" panose="020B0502040204020203" pitchFamily="34" charset="-122"/>
                    <a:cs typeface="+mn-ea"/>
                    <a:sym typeface="+mn-lt"/>
                  </a:rPr>
                  <a:t>将分数最高的候选框</a:t>
                </a:r>
                <a14:m>
                  <m:oMath xmlns:m="http://schemas.openxmlformats.org/officeDocument/2006/math">
                    <m:sSub>
                      <m:sSubPr>
                        <m:ctrlPr>
                          <a:rPr lang="en-US" altLang="zh-CN" sz="2200" i="1" smtClean="0">
                            <a:latin typeface="Cambria Math" panose="02040503050406030204" pitchFamily="18" charset="0"/>
                            <a:ea typeface="微软雅黑 Light" panose="020B0502040204020203" pitchFamily="34" charset="-122"/>
                            <a:cs typeface="+mn-ea"/>
                            <a:sym typeface="+mn-lt"/>
                          </a:rPr>
                        </m:ctrlPr>
                      </m:sSubPr>
                      <m:e>
                        <m:r>
                          <a:rPr lang="en-US" altLang="zh-CN" sz="2200" b="0" i="1" smtClean="0">
                            <a:latin typeface="Cambria Math" panose="02040503050406030204" pitchFamily="18" charset="0"/>
                            <a:ea typeface="微软雅黑 Light" panose="020B0502040204020203" pitchFamily="34" charset="-122"/>
                            <a:cs typeface="+mn-ea"/>
                            <a:sym typeface="+mn-lt"/>
                          </a:rPr>
                          <m:t>𝑏</m:t>
                        </m:r>
                      </m:e>
                      <m:sub>
                        <m:r>
                          <a:rPr lang="en-US" altLang="zh-CN" sz="2200" b="0" i="1" smtClean="0">
                            <a:latin typeface="Cambria Math" panose="02040503050406030204" pitchFamily="18" charset="0"/>
                            <a:ea typeface="微软雅黑 Light" panose="020B0502040204020203" pitchFamily="34" charset="-122"/>
                            <a:cs typeface="+mn-ea"/>
                            <a:sym typeface="+mn-lt"/>
                          </a:rPr>
                          <m:t>𝑚</m:t>
                        </m:r>
                      </m:sub>
                    </m:sSub>
                  </m:oMath>
                </a14:m>
                <a:r>
                  <a:rPr lang="zh-CN" altLang="en-US" sz="2200" dirty="0">
                    <a:latin typeface="Microsoft YaHei UI Light" panose="020B0502040204020203" pitchFamily="34" charset="-122"/>
                    <a:ea typeface="微软雅黑 Light" panose="020B0502040204020203" pitchFamily="34" charset="-122"/>
                    <a:cs typeface="+mn-ea"/>
                    <a:sym typeface="+mn-lt"/>
                  </a:rPr>
                  <a:t>加到最终输出列表中，并将其从候选框列表中删除</a:t>
                </a:r>
              </a:p>
              <a:p>
                <a:pPr marL="720090" indent="-342900">
                  <a:buFont typeface="+mj-lt"/>
                  <a:buAutoNum type="arabicPeriod"/>
                </a:pPr>
                <a:r>
                  <a:rPr lang="zh-CN" altLang="en-US" sz="2200" dirty="0">
                    <a:latin typeface="Microsoft YaHei UI Light" panose="020B0502040204020203" pitchFamily="34" charset="-122"/>
                    <a:ea typeface="微软雅黑 Light" panose="020B0502040204020203" pitchFamily="34" charset="-122"/>
                    <a:cs typeface="+mn-ea"/>
                    <a:sym typeface="+mn-lt"/>
                  </a:rPr>
                  <a:t>计算</a:t>
                </a:r>
                <a14:m>
                  <m:oMath xmlns:m="http://schemas.openxmlformats.org/officeDocument/2006/math">
                    <m:sSub>
                      <m:sSubPr>
                        <m:ctrlPr>
                          <a:rPr lang="en-US" altLang="zh-CN" sz="2200" i="1">
                            <a:latin typeface="Cambria Math" panose="02040503050406030204" pitchFamily="18" charset="0"/>
                            <a:ea typeface="微软雅黑 Light" panose="020B0502040204020203" pitchFamily="34" charset="-122"/>
                            <a:cs typeface="+mn-ea"/>
                            <a:sym typeface="+mn-lt"/>
                          </a:rPr>
                        </m:ctrlPr>
                      </m:sSubPr>
                      <m:e>
                        <m:r>
                          <a:rPr lang="en-US" altLang="zh-CN" sz="2200" i="1">
                            <a:latin typeface="Cambria Math" panose="02040503050406030204" pitchFamily="18" charset="0"/>
                            <a:ea typeface="微软雅黑 Light" panose="020B0502040204020203" pitchFamily="34" charset="-122"/>
                            <a:cs typeface="+mn-ea"/>
                            <a:sym typeface="+mn-lt"/>
                          </a:rPr>
                          <m:t>𝑏</m:t>
                        </m:r>
                      </m:e>
                      <m:sub>
                        <m:r>
                          <a:rPr lang="en-US" altLang="zh-CN" sz="2200" i="1">
                            <a:latin typeface="Cambria Math" panose="02040503050406030204" pitchFamily="18" charset="0"/>
                            <a:ea typeface="微软雅黑 Light" panose="020B0502040204020203" pitchFamily="34" charset="-122"/>
                            <a:cs typeface="+mn-ea"/>
                            <a:sym typeface="+mn-lt"/>
                          </a:rPr>
                          <m:t>𝑚</m:t>
                        </m:r>
                      </m:sub>
                    </m:sSub>
                  </m:oMath>
                </a14:m>
                <a:r>
                  <a:rPr lang="zh-CN" altLang="en-US" sz="2200" dirty="0">
                    <a:latin typeface="Microsoft YaHei UI Light" panose="020B0502040204020203" pitchFamily="34" charset="-122"/>
                    <a:ea typeface="微软雅黑 Light" panose="020B0502040204020203" pitchFamily="34" charset="-122"/>
                    <a:cs typeface="+mn-ea"/>
                    <a:sym typeface="+mn-lt"/>
                  </a:rPr>
                  <a:t>与其它候选框</a:t>
                </a:r>
                <a14:m>
                  <m:oMath xmlns:m="http://schemas.openxmlformats.org/officeDocument/2006/math">
                    <m:sSub>
                      <m:sSubPr>
                        <m:ctrlPr>
                          <a:rPr lang="en-US" altLang="zh-CN" sz="2200" i="1">
                            <a:latin typeface="Cambria Math" panose="02040503050406030204" pitchFamily="18" charset="0"/>
                            <a:ea typeface="微软雅黑 Light" panose="020B0502040204020203" pitchFamily="34" charset="-122"/>
                            <a:cs typeface="+mn-ea"/>
                            <a:sym typeface="+mn-lt"/>
                          </a:rPr>
                        </m:ctrlPr>
                      </m:sSubPr>
                      <m:e>
                        <m:r>
                          <a:rPr lang="en-US" altLang="zh-CN" sz="2200" i="1">
                            <a:latin typeface="Cambria Math" panose="02040503050406030204" pitchFamily="18" charset="0"/>
                            <a:ea typeface="微软雅黑 Light" panose="020B0502040204020203" pitchFamily="34" charset="-122"/>
                            <a:cs typeface="+mn-ea"/>
                            <a:sym typeface="+mn-lt"/>
                          </a:rPr>
                          <m:t>𝑏</m:t>
                        </m:r>
                      </m:e>
                      <m:sub>
                        <m:r>
                          <a:rPr lang="en-US" altLang="zh-CN" sz="2200" b="0" i="1" smtClean="0">
                            <a:latin typeface="Cambria Math" panose="02040503050406030204" pitchFamily="18" charset="0"/>
                            <a:ea typeface="微软雅黑 Light" panose="020B0502040204020203" pitchFamily="34" charset="-122"/>
                            <a:cs typeface="+mn-ea"/>
                            <a:sym typeface="+mn-lt"/>
                          </a:rPr>
                          <m:t>𝑖</m:t>
                        </m:r>
                      </m:sub>
                    </m:sSub>
                  </m:oMath>
                </a14:m>
                <a:r>
                  <a:rPr lang="zh-CN" altLang="en-US" sz="2200" dirty="0">
                    <a:latin typeface="Microsoft YaHei UI Light" panose="020B0502040204020203" pitchFamily="34" charset="-122"/>
                    <a:ea typeface="微软雅黑 Light" panose="020B0502040204020203" pitchFamily="34" charset="-122"/>
                    <a:cs typeface="+mn-ea"/>
                    <a:sym typeface="+mn-lt"/>
                  </a:rPr>
                  <a:t>的</a:t>
                </a:r>
                <a:r>
                  <a:rPr lang="en-US" altLang="zh-CN" sz="2200" dirty="0" err="1">
                    <a:latin typeface="Microsoft YaHei UI Light" panose="020B0502040204020203" pitchFamily="34" charset="-122"/>
                    <a:ea typeface="微软雅黑 Light" panose="020B0502040204020203" pitchFamily="34" charset="-122"/>
                    <a:cs typeface="+mn-ea"/>
                    <a:sym typeface="+mn-lt"/>
                  </a:rPr>
                  <a:t>IoU</a:t>
                </a:r>
                <a:r>
                  <a:rPr lang="zh-CN" altLang="en-US" sz="2200" dirty="0">
                    <a:latin typeface="Microsoft YaHei UI Light" panose="020B0502040204020203" pitchFamily="34" charset="-122"/>
                    <a:ea typeface="微软雅黑 Light" panose="020B0502040204020203" pitchFamily="34" charset="-122"/>
                    <a:cs typeface="+mn-ea"/>
                    <a:sym typeface="+mn-lt"/>
                  </a:rPr>
                  <a:t>；如果</a:t>
                </a:r>
                <a:r>
                  <a:rPr lang="en-US" altLang="zh-CN" sz="2200" dirty="0" err="1">
                    <a:latin typeface="Microsoft YaHei UI Light" panose="020B0502040204020203" pitchFamily="34" charset="-122"/>
                    <a:ea typeface="微软雅黑 Light" panose="020B0502040204020203" pitchFamily="34" charset="-122"/>
                    <a:cs typeface="+mn-ea"/>
                    <a:sym typeface="+mn-lt"/>
                  </a:rPr>
                  <a:t>IoU</a:t>
                </a:r>
                <a:r>
                  <a:rPr lang="zh-CN" altLang="en-US" sz="2200" dirty="0">
                    <a:latin typeface="Microsoft YaHei UI Light" panose="020B0502040204020203" pitchFamily="34" charset="-122"/>
                    <a:ea typeface="微软雅黑 Light" panose="020B0502040204020203" pitchFamily="34" charset="-122"/>
                    <a:cs typeface="+mn-ea"/>
                    <a:sym typeface="+mn-lt"/>
                  </a:rPr>
                  <a:t>大于阈值，则从候选框列表中删除</a:t>
                </a:r>
                <a14:m>
                  <m:oMath xmlns:m="http://schemas.openxmlformats.org/officeDocument/2006/math">
                    <m:sSub>
                      <m:sSubPr>
                        <m:ctrlPr>
                          <a:rPr lang="en-US" altLang="zh-CN" sz="2200" i="1">
                            <a:latin typeface="Cambria Math" panose="02040503050406030204" pitchFamily="18" charset="0"/>
                            <a:ea typeface="微软雅黑 Light" panose="020B0502040204020203" pitchFamily="34" charset="-122"/>
                            <a:cs typeface="+mn-ea"/>
                            <a:sym typeface="+mn-lt"/>
                          </a:rPr>
                        </m:ctrlPr>
                      </m:sSubPr>
                      <m:e>
                        <m:r>
                          <a:rPr lang="en-US" altLang="zh-CN" sz="2200" i="1">
                            <a:latin typeface="Cambria Math" panose="02040503050406030204" pitchFamily="18" charset="0"/>
                            <a:ea typeface="微软雅黑 Light" panose="020B0502040204020203" pitchFamily="34" charset="-122"/>
                            <a:cs typeface="+mn-ea"/>
                            <a:sym typeface="+mn-lt"/>
                          </a:rPr>
                          <m:t>𝑏</m:t>
                        </m:r>
                      </m:e>
                      <m:sub>
                        <m:r>
                          <a:rPr lang="en-US" altLang="zh-CN" sz="2200" i="1">
                            <a:latin typeface="Cambria Math" panose="02040503050406030204" pitchFamily="18" charset="0"/>
                            <a:ea typeface="微软雅黑 Light" panose="020B0502040204020203" pitchFamily="34" charset="-122"/>
                            <a:cs typeface="+mn-ea"/>
                            <a:sym typeface="+mn-lt"/>
                          </a:rPr>
                          <m:t>𝑖</m:t>
                        </m:r>
                      </m:sub>
                    </m:sSub>
                  </m:oMath>
                </a14:m>
                <a:r>
                  <a:rPr lang="zh-CN" altLang="en-US" sz="2200" dirty="0">
                    <a:latin typeface="Microsoft YaHei UI Light" panose="020B0502040204020203" pitchFamily="34" charset="-122"/>
                    <a:ea typeface="微软雅黑 Light" panose="020B0502040204020203" pitchFamily="34" charset="-122"/>
                    <a:cs typeface="+mn-ea"/>
                    <a:sym typeface="+mn-lt"/>
                  </a:rPr>
                  <a:t>；</a:t>
                </a:r>
              </a:p>
              <a:p>
                <a:pPr marL="720090" indent="-342900">
                  <a:buFont typeface="+mj-lt"/>
                  <a:buAutoNum type="arabicPeriod"/>
                </a:pPr>
                <a:r>
                  <a:rPr lang="zh-CN" altLang="en-US" sz="2200" dirty="0">
                    <a:latin typeface="Microsoft YaHei UI Light" panose="020B0502040204020203" pitchFamily="34" charset="-122"/>
                    <a:ea typeface="微软雅黑 Light" panose="020B0502040204020203" pitchFamily="34" charset="-122"/>
                    <a:cs typeface="+mn-ea"/>
                    <a:sym typeface="+mn-lt"/>
                  </a:rPr>
                  <a:t>重复上述步骤，直至候选框列表为空。</a:t>
                </a:r>
                <a:endParaRPr lang="en-US" altLang="zh-CN" sz="2200" dirty="0">
                  <a:latin typeface="Microsoft YaHei UI Light" panose="020B0502040204020203" pitchFamily="34" charset="-122"/>
                  <a:ea typeface="微软雅黑 Light" panose="020B0502040204020203" pitchFamily="34" charset="-122"/>
                  <a:cs typeface="+mn-ea"/>
                  <a:sym typeface="+mn-lt"/>
                </a:endParaRPr>
              </a:p>
              <a:p>
                <a:pPr marL="742950" lvl="1" indent="-285750">
                  <a:lnSpc>
                    <a:spcPct val="150000"/>
                  </a:lnSpc>
                  <a:buFont typeface="Arial" panose="020B0604020202020204" pitchFamily="34" charset="0"/>
                  <a:buChar char="•"/>
                </a:pPr>
                <a:endParaRPr lang="en-US" altLang="zh-CN" sz="22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9" name="矩形 8"/>
              <p:cNvSpPr>
                <a:spLocks noRot="1" noChangeAspect="1" noMove="1" noResize="1" noEditPoints="1" noAdjustHandles="1" noChangeArrowheads="1" noChangeShapeType="1" noTextEdit="1"/>
              </p:cNvSpPr>
              <p:nvPr/>
            </p:nvSpPr>
            <p:spPr>
              <a:xfrm>
                <a:off x="631740" y="2202516"/>
                <a:ext cx="10573289" cy="3924344"/>
              </a:xfrm>
              <a:prstGeom prst="rect">
                <a:avLst/>
              </a:prstGeom>
              <a:blipFill rotWithShape="1">
                <a:blip r:embed="rId5"/>
                <a:stretch>
                  <a:fillRect l="-5" t="-9" r="4" b="10"/>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sp>
        <p:nvSpPr>
          <p:cNvPr id="8" name="内容占位符 2"/>
          <p:cNvSpPr txBox="1"/>
          <p:nvPr/>
        </p:nvSpPr>
        <p:spPr>
          <a:xfrm>
            <a:off x="631739" y="1469357"/>
            <a:ext cx="6437801" cy="5012782"/>
          </a:xfrm>
          <a:prstGeom prst="rect">
            <a:avLst/>
          </a:prstGeom>
        </p:spPr>
        <p:txBody>
          <a:bodyPr vert="horz" lIns="91440" tIns="45720" rIns="91440" bIns="45720" rtlCol="0">
            <a:normAutofit fontScale="92500" lnSpcReduction="10000"/>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gn="just">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边框回归</a:t>
            </a:r>
            <a:r>
              <a:rPr lang="en-US" altLang="zh-CN" sz="2400" dirty="0">
                <a:latin typeface="Microsoft YaHei UI Light" panose="020B0502040204020203" pitchFamily="34" charset="-122"/>
                <a:ea typeface="微软雅黑 Light" panose="020B0502040204020203" pitchFamily="34" charset="-122"/>
                <a:cs typeface="+mn-ea"/>
                <a:sym typeface="+mn-lt"/>
              </a:rPr>
              <a:t>(Bounding Box Regression)</a:t>
            </a:r>
          </a:p>
          <a:p>
            <a:pPr algn="just">
              <a:lnSpc>
                <a:spcPct val="150000"/>
              </a:lnSpc>
              <a:buFont typeface="Wingdings" panose="05000000000000000000" pitchFamily="2" charset="2"/>
              <a:buChar char="l"/>
            </a:pPr>
            <a:r>
              <a:rPr lang="zh-CN" altLang="en-US" sz="2400" dirty="0">
                <a:latin typeface="Microsoft YaHei UI Light" panose="020B0502040204020203" pitchFamily="34" charset="-122"/>
                <a:ea typeface="微软雅黑 Light" panose="020B0502040204020203" pitchFamily="34" charset="-122"/>
                <a:cs typeface="+mn-ea"/>
                <a:sym typeface="+mn-lt"/>
              </a:rPr>
              <a:t>绿色的框表示</a:t>
            </a:r>
            <a:r>
              <a:rPr lang="en-US" altLang="zh-CN" sz="2400" dirty="0">
                <a:latin typeface="Microsoft YaHei UI Light" panose="020B0502040204020203" pitchFamily="34" charset="-122"/>
                <a:ea typeface="微软雅黑 Light" panose="020B0502040204020203" pitchFamily="34" charset="-122"/>
                <a:cs typeface="+mn-ea"/>
                <a:sym typeface="+mn-lt"/>
              </a:rPr>
              <a:t>Ground Truth, </a:t>
            </a:r>
            <a:r>
              <a:rPr lang="zh-CN" altLang="en-US" sz="2400" dirty="0">
                <a:latin typeface="Microsoft YaHei UI Light" panose="020B0502040204020203" pitchFamily="34" charset="-122"/>
                <a:ea typeface="微软雅黑 Light" panose="020B0502040204020203" pitchFamily="34" charset="-122"/>
                <a:cs typeface="+mn-ea"/>
                <a:sym typeface="+mn-lt"/>
              </a:rPr>
              <a:t>红色的框为</a:t>
            </a:r>
            <a:r>
              <a:rPr lang="en-US" altLang="zh-CN" sz="2400" dirty="0">
                <a:latin typeface="Microsoft YaHei UI Light" panose="020B0502040204020203" pitchFamily="34" charset="-122"/>
                <a:ea typeface="微软雅黑 Light" panose="020B0502040204020203" pitchFamily="34" charset="-122"/>
                <a:cs typeface="+mn-ea"/>
                <a:sym typeface="+mn-lt"/>
              </a:rPr>
              <a:t>Selective Search</a:t>
            </a:r>
            <a:r>
              <a:rPr lang="zh-CN" altLang="en-US" sz="2400" dirty="0">
                <a:latin typeface="Microsoft YaHei UI Light" panose="020B0502040204020203" pitchFamily="34" charset="-122"/>
                <a:ea typeface="微软雅黑 Light" panose="020B0502040204020203" pitchFamily="34" charset="-122"/>
                <a:cs typeface="+mn-ea"/>
                <a:sym typeface="+mn-lt"/>
              </a:rPr>
              <a:t>提取的</a:t>
            </a:r>
            <a:r>
              <a:rPr lang="en-US" altLang="zh-CN" sz="2400" dirty="0">
                <a:latin typeface="Microsoft YaHei UI Light" panose="020B0502040204020203" pitchFamily="34" charset="-122"/>
                <a:ea typeface="微软雅黑 Light" panose="020B0502040204020203" pitchFamily="34" charset="-122"/>
                <a:cs typeface="+mn-ea"/>
                <a:sym typeface="+mn-lt"/>
              </a:rPr>
              <a:t>Region Proposal</a:t>
            </a:r>
            <a:r>
              <a:rPr lang="zh-CN" altLang="en-US" sz="2400" dirty="0">
                <a:latin typeface="Microsoft YaHei UI Light" panose="020B0502040204020203" pitchFamily="34" charset="-122"/>
                <a:ea typeface="微软雅黑 Light" panose="020B0502040204020203" pitchFamily="34" charset="-122"/>
                <a:cs typeface="+mn-ea"/>
                <a:sym typeface="+mn-lt"/>
              </a:rPr>
              <a:t>。那么即便红色的框被分类器识别为飞机，但由于红色的框定位不准</a:t>
            </a:r>
            <a:r>
              <a:rPr lang="en-US" altLang="zh-CN" sz="2400" dirty="0">
                <a:latin typeface="Microsoft YaHei UI Light" panose="020B0502040204020203" pitchFamily="34" charset="-122"/>
                <a:ea typeface="微软雅黑 Light" panose="020B0502040204020203" pitchFamily="34" charset="-122"/>
                <a:cs typeface="+mn-ea"/>
                <a:sym typeface="+mn-lt"/>
              </a:rPr>
              <a:t>(</a:t>
            </a:r>
            <a:r>
              <a:rPr lang="en-US" altLang="zh-CN" sz="2400" dirty="0" err="1">
                <a:latin typeface="Microsoft YaHei UI Light" panose="020B0502040204020203" pitchFamily="34" charset="-122"/>
                <a:ea typeface="微软雅黑 Light" panose="020B0502040204020203" pitchFamily="34" charset="-122"/>
                <a:cs typeface="+mn-ea"/>
                <a:sym typeface="+mn-lt"/>
              </a:rPr>
              <a:t>IoU</a:t>
            </a:r>
            <a:r>
              <a:rPr lang="en-US" altLang="zh-CN" sz="2400" dirty="0">
                <a:latin typeface="Microsoft YaHei UI Light" panose="020B0502040204020203" pitchFamily="34" charset="-122"/>
                <a:ea typeface="微软雅黑 Light" panose="020B0502040204020203" pitchFamily="34" charset="-122"/>
                <a:cs typeface="+mn-ea"/>
                <a:sym typeface="+mn-lt"/>
              </a:rPr>
              <a:t>&lt;0.5)</a:t>
            </a:r>
            <a:r>
              <a:rPr lang="zh-CN" altLang="en-US" sz="2400" dirty="0">
                <a:latin typeface="Microsoft YaHei UI Light" panose="020B0502040204020203" pitchFamily="34" charset="-122"/>
                <a:ea typeface="微软雅黑 Light" panose="020B0502040204020203" pitchFamily="34" charset="-122"/>
                <a:cs typeface="+mn-ea"/>
                <a:sym typeface="+mn-lt"/>
              </a:rPr>
              <a:t>，那么这张图相当于没有正确的检测出飞机。 如果</a:t>
            </a:r>
            <a:r>
              <a:rPr lang="zh-CN" altLang="en-US" sz="2500" dirty="0">
                <a:latin typeface="Microsoft YaHei UI Light" panose="020B0502040204020203" pitchFamily="34" charset="-122"/>
                <a:ea typeface="微软雅黑 Light" panose="020B0502040204020203" pitchFamily="34" charset="-122"/>
                <a:cs typeface="+mn-ea"/>
                <a:sym typeface="+mn-lt"/>
              </a:rPr>
              <a:t>我们能对红色的框进行微调，使得经过微调后的窗口跟</a:t>
            </a:r>
            <a:r>
              <a:rPr lang="en-US" altLang="zh-CN" sz="2500" dirty="0">
                <a:latin typeface="Microsoft YaHei UI Light" panose="020B0502040204020203" pitchFamily="34" charset="-122"/>
                <a:ea typeface="微软雅黑 Light" panose="020B0502040204020203" pitchFamily="34" charset="-122"/>
                <a:cs typeface="+mn-ea"/>
                <a:sym typeface="+mn-lt"/>
              </a:rPr>
              <a:t>Ground Truth </a:t>
            </a:r>
            <a:r>
              <a:rPr lang="zh-CN" altLang="en-US" sz="2500" dirty="0">
                <a:latin typeface="Microsoft YaHei UI Light" panose="020B0502040204020203" pitchFamily="34" charset="-122"/>
                <a:ea typeface="微软雅黑 Light" panose="020B0502040204020203" pitchFamily="34" charset="-122"/>
                <a:cs typeface="+mn-ea"/>
                <a:sym typeface="+mn-lt"/>
              </a:rPr>
              <a:t>更接近， 这样岂不是定位会更准确。</a:t>
            </a:r>
            <a:r>
              <a:rPr lang="en-US" altLang="zh-CN" sz="2500" dirty="0">
                <a:latin typeface="Microsoft YaHei UI Light" panose="020B0502040204020203" pitchFamily="34" charset="-122"/>
                <a:ea typeface="微软雅黑 Light" panose="020B0502040204020203" pitchFamily="34" charset="-122"/>
                <a:cs typeface="+mn-ea"/>
              </a:rPr>
              <a:t>Bounding-box regression </a:t>
            </a:r>
            <a:r>
              <a:rPr lang="zh-CN" altLang="en-US" sz="2500" dirty="0">
                <a:latin typeface="Microsoft YaHei UI Light" panose="020B0502040204020203" pitchFamily="34" charset="-122"/>
                <a:ea typeface="微软雅黑 Light" panose="020B0502040204020203" pitchFamily="34" charset="-122"/>
                <a:cs typeface="+mn-ea"/>
              </a:rPr>
              <a:t>就是用来微调这个窗口的。</a:t>
            </a:r>
            <a:endParaRPr lang="en-US" altLang="zh-CN" sz="2500" dirty="0">
              <a:latin typeface="Microsoft YaHei UI Light" panose="020B0502040204020203" pitchFamily="34" charset="-122"/>
              <a:ea typeface="微软雅黑 Light" panose="020B0502040204020203" pitchFamily="34" charset="-122"/>
              <a:cs typeface="+mn-ea"/>
            </a:endParaRPr>
          </a:p>
          <a:p>
            <a:pPr algn="just">
              <a:lnSpc>
                <a:spcPct val="150000"/>
              </a:lnSpc>
              <a:buFont typeface="Wingdings" panose="05000000000000000000" pitchFamily="2" charset="2"/>
              <a:buChar char="l"/>
            </a:pPr>
            <a:r>
              <a:rPr lang="zh-CN" altLang="en-US" sz="2500" dirty="0">
                <a:latin typeface="Microsoft YaHei UI Light" panose="020B0502040204020203" pitchFamily="34" charset="-122"/>
                <a:ea typeface="微软雅黑 Light" panose="020B0502040204020203" pitchFamily="34" charset="-122"/>
                <a:cs typeface="+mn-ea"/>
              </a:rPr>
              <a:t>比较简单的思路就是</a:t>
            </a:r>
            <a:r>
              <a:rPr lang="en-US" altLang="zh-CN" sz="2500" dirty="0">
                <a:latin typeface="Microsoft YaHei UI Light" panose="020B0502040204020203" pitchFamily="34" charset="-122"/>
                <a:ea typeface="微软雅黑 Light" panose="020B0502040204020203" pitchFamily="34" charset="-122"/>
                <a:cs typeface="+mn-ea"/>
              </a:rPr>
              <a:t>: </a:t>
            </a:r>
            <a:r>
              <a:rPr lang="zh-CN" altLang="en-US" sz="2500" dirty="0">
                <a:latin typeface="Microsoft YaHei UI Light" panose="020B0502040204020203" pitchFamily="34" charset="-122"/>
                <a:ea typeface="微软雅黑 Light" panose="020B0502040204020203" pitchFamily="34" charset="-122"/>
                <a:cs typeface="+mn-ea"/>
              </a:rPr>
              <a:t>平移</a:t>
            </a:r>
            <a:r>
              <a:rPr lang="en-US" altLang="zh-CN" sz="2500" dirty="0">
                <a:latin typeface="Microsoft YaHei UI Light" panose="020B0502040204020203" pitchFamily="34" charset="-122"/>
                <a:ea typeface="微软雅黑 Light" panose="020B0502040204020203" pitchFamily="34" charset="-122"/>
                <a:cs typeface="+mn-ea"/>
              </a:rPr>
              <a:t>+</a:t>
            </a:r>
            <a:r>
              <a:rPr lang="zh-CN" altLang="en-US" sz="2500" dirty="0">
                <a:latin typeface="Microsoft YaHei UI Light" panose="020B0502040204020203" pitchFamily="34" charset="-122"/>
                <a:ea typeface="微软雅黑 Light" panose="020B0502040204020203" pitchFamily="34" charset="-122"/>
                <a:cs typeface="+mn-ea"/>
              </a:rPr>
              <a:t>尺度放缩</a:t>
            </a:r>
            <a:endParaRPr lang="zh-CN" altLang="en-US" sz="2500" dirty="0">
              <a:latin typeface="Microsoft YaHei UI Light" panose="020B0502040204020203" pitchFamily="34" charset="-122"/>
              <a:ea typeface="微软雅黑 Light" panose="020B0502040204020203" pitchFamily="34" charset="-122"/>
              <a:cs typeface="+mn-ea"/>
              <a:sym typeface="+mn-lt"/>
            </a:endParaRPr>
          </a:p>
        </p:txBody>
      </p:sp>
      <p:pic>
        <p:nvPicPr>
          <p:cNvPr id="2" name="图片 1"/>
          <p:cNvPicPr>
            <a:picLocks noChangeAspect="1"/>
          </p:cNvPicPr>
          <p:nvPr/>
        </p:nvPicPr>
        <p:blipFill>
          <a:blip r:embed="rId5"/>
          <a:stretch>
            <a:fillRect/>
          </a:stretch>
        </p:blipFill>
        <p:spPr>
          <a:xfrm>
            <a:off x="7301549" y="2018866"/>
            <a:ext cx="4409596" cy="336109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sp>
        <p:nvSpPr>
          <p:cNvPr id="8" name="矩形 7"/>
          <p:cNvSpPr/>
          <p:nvPr/>
        </p:nvSpPr>
        <p:spPr>
          <a:xfrm>
            <a:off x="1103536" y="5207279"/>
            <a:ext cx="9882912" cy="1288623"/>
          </a:xfrm>
          <a:prstGeom prst="rect">
            <a:avLst/>
          </a:prstGeom>
        </p:spPr>
        <p:txBody>
          <a:bodyPr wrap="square">
            <a:spAutoFit/>
          </a:bodyPr>
          <a:lstStyle/>
          <a:p>
            <a:pPr>
              <a:lnSpc>
                <a:spcPct val="150000"/>
              </a:lnSpc>
            </a:pPr>
            <a:r>
              <a:rPr lang="zh-CN" altLang="en-US" b="1" dirty="0">
                <a:latin typeface="Microsoft YaHei UI Light" panose="020B0502040204020203" pitchFamily="34" charset="-122"/>
                <a:ea typeface="微软雅黑 Light" panose="020B0502040204020203" pitchFamily="34" charset="-122"/>
                <a:cs typeface="+mn-ea"/>
                <a:sym typeface="+mn-lt"/>
              </a:rPr>
              <a:t>拓展：</a:t>
            </a:r>
            <a:r>
              <a:rPr lang="en-US" altLang="zh-CN" b="1" dirty="0">
                <a:latin typeface="Microsoft YaHei UI Light" panose="020B0502040204020203" pitchFamily="34" charset="-122"/>
                <a:ea typeface="微软雅黑 Light" panose="020B0502040204020203" pitchFamily="34" charset="-122"/>
                <a:cs typeface="+mn-ea"/>
                <a:sym typeface="+mn-lt"/>
              </a:rPr>
              <a:t>Soft-NMS</a:t>
            </a:r>
            <a:r>
              <a:rPr lang="zh-CN" altLang="en-US" dirty="0">
                <a:latin typeface="Microsoft YaHei UI Light" panose="020B0502040204020203" pitchFamily="34" charset="-122"/>
                <a:ea typeface="微软雅黑 Light" panose="020B0502040204020203" pitchFamily="34" charset="-122"/>
                <a:cs typeface="+mn-ea"/>
                <a:sym typeface="+mn-lt"/>
              </a:rPr>
              <a:t>，当两个不同</a:t>
            </a:r>
            <a:r>
              <a:rPr lang="en-US" altLang="zh-CN" dirty="0">
                <a:latin typeface="Microsoft YaHei UI Light" panose="020B0502040204020203" pitchFamily="34" charset="-122"/>
                <a:ea typeface="微软雅黑 Light" panose="020B0502040204020203" pitchFamily="34" charset="-122"/>
                <a:cs typeface="+mn-ea"/>
                <a:sym typeface="+mn-lt"/>
              </a:rPr>
              <a:t>ground truth</a:t>
            </a:r>
            <a:r>
              <a:rPr lang="zh-CN" altLang="en-US" dirty="0">
                <a:latin typeface="Microsoft YaHei UI Light" panose="020B0502040204020203" pitchFamily="34" charset="-122"/>
                <a:ea typeface="微软雅黑 Light" panose="020B0502040204020203" pitchFamily="34" charset="-122"/>
                <a:cs typeface="+mn-ea"/>
                <a:sym typeface="+mn-lt"/>
              </a:rPr>
              <a:t>目标重叠度很高时，能够保留置信度较低的选框；</a:t>
            </a:r>
            <a:endParaRPr lang="en-US" altLang="zh-CN"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dirty="0" err="1">
                <a:latin typeface="Microsoft YaHei UI Light" panose="020B0502040204020203" pitchFamily="34" charset="-122"/>
                <a:ea typeface="微软雅黑 Light" panose="020B0502040204020203" pitchFamily="34" charset="-122"/>
                <a:cs typeface="+mn-ea"/>
                <a:sym typeface="+mn-lt"/>
              </a:rPr>
              <a:t>Bodla</a:t>
            </a:r>
            <a:r>
              <a:rPr lang="en-US" altLang="zh-CN" dirty="0">
                <a:latin typeface="Microsoft YaHei UI Light" panose="020B0502040204020203" pitchFamily="34" charset="-122"/>
                <a:ea typeface="微软雅黑 Light" panose="020B0502040204020203" pitchFamily="34" charset="-122"/>
                <a:cs typeface="+mn-ea"/>
                <a:sym typeface="+mn-lt"/>
              </a:rPr>
              <a:t> N , Singh B , </a:t>
            </a:r>
            <a:r>
              <a:rPr lang="en-US" altLang="zh-CN" dirty="0" err="1">
                <a:latin typeface="Microsoft YaHei UI Light" panose="020B0502040204020203" pitchFamily="34" charset="-122"/>
                <a:ea typeface="微软雅黑 Light" panose="020B0502040204020203" pitchFamily="34" charset="-122"/>
                <a:cs typeface="+mn-ea"/>
                <a:sym typeface="+mn-lt"/>
              </a:rPr>
              <a:t>Chellappa</a:t>
            </a:r>
            <a:r>
              <a:rPr lang="en-US" altLang="zh-CN" dirty="0">
                <a:latin typeface="Microsoft YaHei UI Light" panose="020B0502040204020203" pitchFamily="34" charset="-122"/>
                <a:ea typeface="微软雅黑 Light" panose="020B0502040204020203" pitchFamily="34" charset="-122"/>
                <a:cs typeface="+mn-ea"/>
                <a:sym typeface="+mn-lt"/>
              </a:rPr>
              <a:t> R , et al. Soft-NMS -- Improving Object Detection With One Line of Code[J]. 2017.</a:t>
            </a:r>
          </a:p>
        </p:txBody>
      </p:sp>
      <p:pic>
        <p:nvPicPr>
          <p:cNvPr id="9" name="图片 8"/>
          <p:cNvPicPr>
            <a:picLocks noChangeAspect="1"/>
          </p:cNvPicPr>
          <p:nvPr/>
        </p:nvPicPr>
        <p:blipFill>
          <a:blip r:embed="rId5"/>
          <a:stretch>
            <a:fillRect/>
          </a:stretch>
        </p:blipFill>
        <p:spPr>
          <a:xfrm>
            <a:off x="3257803" y="816801"/>
            <a:ext cx="5718131" cy="435943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p>
        </p:txBody>
      </p:sp>
      <p:sp>
        <p:nvSpPr>
          <p:cNvPr id="8" name="矩形 7"/>
          <p:cNvSpPr/>
          <p:nvPr/>
        </p:nvSpPr>
        <p:spPr>
          <a:xfrm>
            <a:off x="676876" y="1480521"/>
            <a:ext cx="10664182" cy="3139321"/>
          </a:xfrm>
          <a:prstGeom prst="rect">
            <a:avLst/>
          </a:prstGeom>
        </p:spPr>
        <p:txBody>
          <a:bodyPr wrap="square">
            <a:spAutoFit/>
          </a:bodyPr>
          <a:lstStyle/>
          <a:p>
            <a:pPr>
              <a:lnSpc>
                <a:spcPct val="150000"/>
              </a:lnSpc>
            </a:pPr>
            <a:r>
              <a:rPr lang="en-US" altLang="zh-CN" sz="2200" dirty="0">
                <a:latin typeface="Microsoft YaHei UI Light" panose="020B0502040204020203" pitchFamily="34" charset="-122"/>
                <a:ea typeface="微软雅黑 Light" panose="020B0502040204020203" pitchFamily="34" charset="-122"/>
                <a:cs typeface="+mn-ea"/>
                <a:sym typeface="+mn-lt"/>
              </a:rPr>
              <a:t>R-CNN</a:t>
            </a:r>
            <a:r>
              <a:rPr lang="zh-CN" altLang="en-US" sz="2200" dirty="0">
                <a:latin typeface="Microsoft YaHei UI Light" panose="020B0502040204020203" pitchFamily="34" charset="-122"/>
                <a:ea typeface="微软雅黑 Light" panose="020B0502040204020203" pitchFamily="34" charset="-122"/>
                <a:cs typeface="+mn-ea"/>
                <a:sym typeface="+mn-lt"/>
              </a:rPr>
              <a:t>的缺点：</a:t>
            </a:r>
          </a:p>
          <a:p>
            <a:pPr marL="285750" indent="-285750">
              <a:lnSpc>
                <a:spcPct val="150000"/>
              </a:lnSpc>
              <a:buFont typeface="Arial" panose="020B0604020202020204" pitchFamily="34" charset="0"/>
              <a:buChar char="•"/>
            </a:pPr>
            <a:r>
              <a:rPr lang="zh-CN" altLang="en-US" sz="2200" dirty="0">
                <a:latin typeface="Microsoft YaHei UI Light" panose="020B0502040204020203" pitchFamily="34" charset="-122"/>
                <a:ea typeface="微软雅黑 Light" panose="020B0502040204020203" pitchFamily="34" charset="-122"/>
                <a:cs typeface="+mn-ea"/>
                <a:sym typeface="+mn-lt"/>
              </a:rPr>
              <a:t>重复计算：需要对</a:t>
            </a:r>
            <a:r>
              <a:rPr lang="en-US" altLang="zh-CN" sz="2200" dirty="0">
                <a:latin typeface="Microsoft YaHei UI Light" panose="020B0502040204020203" pitchFamily="34" charset="-122"/>
                <a:ea typeface="微软雅黑 Light" panose="020B0502040204020203" pitchFamily="34" charset="-122"/>
                <a:cs typeface="+mn-ea"/>
                <a:sym typeface="+mn-lt"/>
              </a:rPr>
              <a:t>2000</a:t>
            </a:r>
            <a:r>
              <a:rPr lang="zh-CN" altLang="en-US" sz="2200" dirty="0">
                <a:latin typeface="Microsoft YaHei UI Light" panose="020B0502040204020203" pitchFamily="34" charset="-122"/>
                <a:ea typeface="微软雅黑 Light" panose="020B0502040204020203" pitchFamily="34" charset="-122"/>
                <a:cs typeface="+mn-ea"/>
                <a:sym typeface="+mn-lt"/>
              </a:rPr>
              <a:t>个候选框做</a:t>
            </a:r>
            <a:r>
              <a:rPr lang="en-US" altLang="zh-CN" sz="2200" dirty="0">
                <a:latin typeface="Microsoft YaHei UI Light" panose="020B0502040204020203" pitchFamily="34" charset="-122"/>
                <a:ea typeface="微软雅黑 Light" panose="020B0502040204020203" pitchFamily="34" charset="-122"/>
                <a:cs typeface="+mn-ea"/>
                <a:sym typeface="+mn-lt"/>
              </a:rPr>
              <a:t>CNN</a:t>
            </a:r>
            <a:r>
              <a:rPr lang="zh-CN" altLang="en-US" sz="2200" dirty="0">
                <a:latin typeface="Microsoft YaHei UI Light" panose="020B0502040204020203" pitchFamily="34" charset="-122"/>
                <a:ea typeface="微软雅黑 Light" panose="020B0502040204020203" pitchFamily="34" charset="-122"/>
                <a:cs typeface="+mn-ea"/>
                <a:sym typeface="+mn-lt"/>
              </a:rPr>
              <a:t>，计算量很大，而且有很多重复计算</a:t>
            </a:r>
          </a:p>
          <a:p>
            <a:pPr marL="285750" indent="-285750">
              <a:lnSpc>
                <a:spcPct val="150000"/>
              </a:lnSpc>
              <a:buFont typeface="Arial" panose="020B0604020202020204" pitchFamily="34" charset="0"/>
              <a:buChar char="•"/>
            </a:pPr>
            <a:r>
              <a:rPr lang="en-US" altLang="zh-CN" sz="2200" dirty="0">
                <a:latin typeface="Microsoft YaHei UI Light" panose="020B0502040204020203" pitchFamily="34" charset="-122"/>
                <a:ea typeface="微软雅黑 Light" panose="020B0502040204020203" pitchFamily="34" charset="-122"/>
                <a:cs typeface="+mn-ea"/>
                <a:sym typeface="+mn-lt"/>
              </a:rPr>
              <a:t>SVM</a:t>
            </a:r>
            <a:r>
              <a:rPr lang="zh-CN" altLang="en-US" sz="2200" dirty="0">
                <a:latin typeface="Microsoft YaHei UI Light" panose="020B0502040204020203" pitchFamily="34" charset="-122"/>
                <a:ea typeface="微软雅黑 Light" panose="020B0502040204020203" pitchFamily="34" charset="-122"/>
                <a:cs typeface="+mn-ea"/>
                <a:sym typeface="+mn-lt"/>
              </a:rPr>
              <a:t>模型：在标注数据足够的时候不是最好的选择，</a:t>
            </a:r>
            <a:r>
              <a:rPr lang="en-US" altLang="zh-CN" sz="2200" dirty="0">
                <a:latin typeface="Microsoft YaHei UI Light" panose="020B0502040204020203" pitchFamily="34" charset="-122"/>
                <a:ea typeface="微软雅黑 Light" panose="020B0502040204020203" pitchFamily="34" charset="-122"/>
                <a:cs typeface="+mn-ea"/>
                <a:sym typeface="+mn-lt"/>
              </a:rPr>
              <a:t>CNN</a:t>
            </a:r>
            <a:r>
              <a:rPr lang="zh-CN" altLang="en-US" sz="2200" dirty="0">
                <a:latin typeface="Microsoft YaHei UI Light" panose="020B0502040204020203" pitchFamily="34" charset="-122"/>
                <a:ea typeface="微软雅黑 Light" panose="020B0502040204020203" pitchFamily="34" charset="-122"/>
                <a:cs typeface="+mn-ea"/>
                <a:sym typeface="+mn-lt"/>
              </a:rPr>
              <a:t>应该更准确</a:t>
            </a:r>
          </a:p>
          <a:p>
            <a:pPr marL="285750" indent="-285750">
              <a:lnSpc>
                <a:spcPct val="150000"/>
              </a:lnSpc>
              <a:buFont typeface="Arial" panose="020B0604020202020204" pitchFamily="34" charset="0"/>
              <a:buChar char="•"/>
            </a:pPr>
            <a:r>
              <a:rPr lang="zh-CN" altLang="en-US" sz="2200" dirty="0">
                <a:latin typeface="Microsoft YaHei UI Light" panose="020B0502040204020203" pitchFamily="34" charset="-122"/>
                <a:ea typeface="微软雅黑 Light" panose="020B0502040204020203" pitchFamily="34" charset="-122"/>
                <a:cs typeface="+mn-ea"/>
                <a:sym typeface="+mn-lt"/>
              </a:rPr>
              <a:t>多个步骤：候选区域提取、特征提取、分类、回归都要单独训练，大量中间数据需要保存</a:t>
            </a:r>
          </a:p>
          <a:p>
            <a:pPr marL="285750" indent="-285750">
              <a:lnSpc>
                <a:spcPct val="150000"/>
              </a:lnSpc>
              <a:buFont typeface="Arial" panose="020B0604020202020204" pitchFamily="34" charset="0"/>
              <a:buChar char="•"/>
            </a:pPr>
            <a:r>
              <a:rPr lang="zh-CN" altLang="en-US" sz="2200" dirty="0">
                <a:latin typeface="Microsoft YaHei UI Light" panose="020B0502040204020203" pitchFamily="34" charset="-122"/>
                <a:ea typeface="微软雅黑 Light" panose="020B0502040204020203" pitchFamily="34" charset="-122"/>
                <a:cs typeface="+mn-ea"/>
                <a:sym typeface="+mn-lt"/>
              </a:rPr>
              <a:t>检测速度慢：</a:t>
            </a:r>
            <a:r>
              <a:rPr lang="en-US" altLang="zh-CN" sz="2200" dirty="0" err="1">
                <a:latin typeface="Microsoft YaHei UI Light" panose="020B0502040204020203" pitchFamily="34" charset="-122"/>
                <a:ea typeface="微软雅黑 Light" panose="020B0502040204020203" pitchFamily="34" charset="-122"/>
                <a:cs typeface="+mn-ea"/>
                <a:sym typeface="+mn-lt"/>
              </a:rPr>
              <a:t>GPU</a:t>
            </a:r>
            <a:r>
              <a:rPr lang="zh-CN" altLang="en-US" sz="2200" dirty="0">
                <a:latin typeface="Microsoft YaHei UI Light" panose="020B0502040204020203" pitchFamily="34" charset="-122"/>
                <a:ea typeface="微软雅黑 Light" panose="020B0502040204020203" pitchFamily="34" charset="-122"/>
                <a:cs typeface="+mn-ea"/>
                <a:sym typeface="+mn-lt"/>
              </a:rPr>
              <a:t>上处理一张图片需要</a:t>
            </a:r>
            <a:r>
              <a:rPr lang="en-US" altLang="zh-CN" sz="2200" dirty="0">
                <a:latin typeface="Microsoft YaHei UI Light" panose="020B0502040204020203" pitchFamily="34" charset="-122"/>
                <a:ea typeface="微软雅黑 Light" panose="020B0502040204020203" pitchFamily="34" charset="-122"/>
                <a:cs typeface="+mn-ea"/>
                <a:sym typeface="+mn-lt"/>
              </a:rPr>
              <a:t>13</a:t>
            </a:r>
            <a:r>
              <a:rPr lang="zh-CN" altLang="en-US" sz="2200" dirty="0">
                <a:latin typeface="Microsoft YaHei UI Light" panose="020B0502040204020203" pitchFamily="34" charset="-122"/>
                <a:ea typeface="微软雅黑 Light" panose="020B0502040204020203" pitchFamily="34" charset="-122"/>
                <a:cs typeface="+mn-ea"/>
                <a:sym typeface="+mn-lt"/>
              </a:rPr>
              <a:t>秒，</a:t>
            </a:r>
            <a:r>
              <a:rPr lang="en-US" altLang="zh-CN" sz="2200" dirty="0">
                <a:latin typeface="Microsoft YaHei UI Light" panose="020B0502040204020203" pitchFamily="34" charset="-122"/>
                <a:ea typeface="微软雅黑 Light" panose="020B0502040204020203" pitchFamily="34" charset="-122"/>
                <a:cs typeface="+mn-ea"/>
                <a:sym typeface="+mn-lt"/>
              </a:rPr>
              <a:t>CPU</a:t>
            </a:r>
            <a:r>
              <a:rPr lang="zh-CN" altLang="en-US" sz="2200" dirty="0">
                <a:latin typeface="Microsoft YaHei UI Light" panose="020B0502040204020203" pitchFamily="34" charset="-122"/>
                <a:ea typeface="微软雅黑 Light" panose="020B0502040204020203" pitchFamily="34" charset="-122"/>
                <a:cs typeface="+mn-ea"/>
                <a:sym typeface="+mn-lt"/>
              </a:rPr>
              <a:t>上则需要</a:t>
            </a:r>
            <a:r>
              <a:rPr lang="en-US" altLang="zh-CN" sz="2200" dirty="0">
                <a:latin typeface="Microsoft YaHei UI Light" panose="020B0502040204020203" pitchFamily="34" charset="-122"/>
                <a:ea typeface="微软雅黑 Light" panose="020B0502040204020203" pitchFamily="34" charset="-122"/>
                <a:cs typeface="+mn-ea"/>
                <a:sym typeface="+mn-lt"/>
              </a:rPr>
              <a:t>53</a:t>
            </a:r>
            <a:r>
              <a:rPr lang="zh-CN" altLang="en-US" sz="2200" dirty="0">
                <a:latin typeface="Microsoft YaHei UI Light" panose="020B0502040204020203" pitchFamily="34" charset="-122"/>
                <a:ea typeface="微软雅黑 Light" panose="020B0502040204020203" pitchFamily="34" charset="-122"/>
                <a:cs typeface="+mn-ea"/>
                <a:sym typeface="+mn-lt"/>
              </a:rPr>
              <a:t>秒</a:t>
            </a:r>
          </a:p>
        </p:txBody>
      </p:sp>
      <p:sp>
        <p:nvSpPr>
          <p:cNvPr id="9" name="文本框 8"/>
          <p:cNvSpPr txBox="1"/>
          <p:nvPr/>
        </p:nvSpPr>
        <p:spPr>
          <a:xfrm>
            <a:off x="2402454" y="5325861"/>
            <a:ext cx="5057795" cy="400110"/>
          </a:xfrm>
          <a:prstGeom prst="rect">
            <a:avLst/>
          </a:prstGeom>
          <a:noFill/>
        </p:spPr>
        <p:txBody>
          <a:bodyPr wrap="none" rtlCol="0">
            <a:spAutoFit/>
          </a:bodyPr>
          <a:lstStyle/>
          <a:p>
            <a:r>
              <a:rPr lang="zh-CN" altLang="en-US" sz="2000" i="1" dirty="0">
                <a:solidFill>
                  <a:srgbClr val="C00000"/>
                </a:solidFill>
                <a:latin typeface="微软雅黑 Light" panose="020B0502040204020203" pitchFamily="34" charset="-122"/>
                <a:ea typeface="微软雅黑 Light" panose="020B0502040204020203" pitchFamily="34" charset="-122"/>
              </a:rPr>
              <a:t>能否避免候选框特征提取过程的重复计算？</a:t>
            </a:r>
          </a:p>
        </p:txBody>
      </p:sp>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57589" y="4944718"/>
            <a:ext cx="1468176" cy="146817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Fast R-CNN</a:t>
            </a:r>
          </a:p>
        </p:txBody>
      </p:sp>
      <p:sp>
        <p:nvSpPr>
          <p:cNvPr id="8" name="矩形 7"/>
          <p:cNvSpPr/>
          <p:nvPr/>
        </p:nvSpPr>
        <p:spPr>
          <a:xfrm>
            <a:off x="904980" y="1372106"/>
            <a:ext cx="8390456" cy="397738"/>
          </a:xfrm>
          <a:prstGeom prst="rect">
            <a:avLst/>
          </a:prstGeom>
        </p:spPr>
        <p:txBody>
          <a:bodyPr wrap="square">
            <a:spAutoFit/>
          </a:bodyPr>
          <a:lstStyle/>
          <a:p>
            <a:pPr>
              <a:lnSpc>
                <a:spcPct val="120000"/>
              </a:lnSpc>
              <a:buClr>
                <a:schemeClr val="accent1"/>
              </a:buClr>
              <a:buSzPct val="100000"/>
            </a:pPr>
            <a:r>
              <a:rPr lang="en-US" altLang="zh-CN" dirty="0">
                <a:latin typeface="Microsoft YaHei UI Light" panose="020B0502040204020203" pitchFamily="34" charset="-122"/>
                <a:ea typeface="微软雅黑 Light" panose="020B0502040204020203" pitchFamily="34" charset="-122"/>
                <a:cs typeface="+mn-ea"/>
                <a:sym typeface="+mn-lt"/>
              </a:rPr>
              <a:t>Fast R-CNN</a:t>
            </a:r>
            <a:r>
              <a:rPr lang="zh-CN" altLang="en-US" dirty="0">
                <a:latin typeface="Microsoft YaHei UI Light" panose="020B0502040204020203" pitchFamily="34" charset="-122"/>
                <a:ea typeface="微软雅黑 Light" panose="020B0502040204020203" pitchFamily="34" charset="-122"/>
                <a:cs typeface="+mn-ea"/>
                <a:sym typeface="+mn-lt"/>
              </a:rPr>
              <a:t>的主要步骤：</a:t>
            </a:r>
          </a:p>
        </p:txBody>
      </p:sp>
      <p:pic>
        <p:nvPicPr>
          <p:cNvPr id="9" name="图片 8"/>
          <p:cNvPicPr>
            <a:picLocks noChangeAspect="1"/>
          </p:cNvPicPr>
          <p:nvPr/>
        </p:nvPicPr>
        <p:blipFill>
          <a:blip r:embed="rId5"/>
          <a:stretch>
            <a:fillRect/>
          </a:stretch>
        </p:blipFill>
        <p:spPr>
          <a:xfrm>
            <a:off x="3161655" y="4110328"/>
            <a:ext cx="6265007" cy="2411691"/>
          </a:xfrm>
          <a:prstGeom prst="rect">
            <a:avLst/>
          </a:prstGeom>
        </p:spPr>
      </p:pic>
      <p:sp>
        <p:nvSpPr>
          <p:cNvPr id="10" name="矩形 9"/>
          <p:cNvSpPr/>
          <p:nvPr/>
        </p:nvSpPr>
        <p:spPr>
          <a:xfrm>
            <a:off x="8581656" y="6299290"/>
            <a:ext cx="831377" cy="21384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sp>
        <p:nvSpPr>
          <p:cNvPr id="11" name="矩形 10"/>
          <p:cNvSpPr/>
          <p:nvPr/>
        </p:nvSpPr>
        <p:spPr>
          <a:xfrm>
            <a:off x="904980" y="1786149"/>
            <a:ext cx="10594762" cy="2392130"/>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候选区域提取</a:t>
            </a:r>
            <a:r>
              <a:rPr lang="zh-CN" altLang="en-US" dirty="0">
                <a:latin typeface="Microsoft YaHei UI Light" panose="020B0502040204020203" pitchFamily="34" charset="-122"/>
                <a:ea typeface="微软雅黑 Light" panose="020B0502040204020203" pitchFamily="34" charset="-122"/>
                <a:cs typeface="+mn-ea"/>
                <a:sym typeface="+mn-lt"/>
              </a:rPr>
              <a:t>：通过</a:t>
            </a:r>
            <a:r>
              <a:rPr lang="en-US" altLang="zh-CN" dirty="0">
                <a:latin typeface="Microsoft YaHei UI Light" panose="020B0502040204020203" pitchFamily="34" charset="-122"/>
                <a:ea typeface="微软雅黑 Light" panose="020B0502040204020203" pitchFamily="34" charset="-122"/>
                <a:cs typeface="+mn-ea"/>
                <a:sym typeface="+mn-lt"/>
              </a:rPr>
              <a:t>Selective Search</a:t>
            </a:r>
            <a:r>
              <a:rPr lang="zh-CN" altLang="en-US" dirty="0">
                <a:latin typeface="Microsoft YaHei UI Light" panose="020B0502040204020203" pitchFamily="34" charset="-122"/>
                <a:ea typeface="微软雅黑 Light" panose="020B0502040204020203" pitchFamily="34" charset="-122"/>
                <a:cs typeface="+mn-ea"/>
                <a:sym typeface="+mn-lt"/>
              </a:rPr>
              <a:t>从原始图片提取</a:t>
            </a:r>
            <a:r>
              <a:rPr lang="en-US" altLang="zh-CN" dirty="0">
                <a:latin typeface="Microsoft YaHei UI Light" panose="020B0502040204020203" pitchFamily="34" charset="-122"/>
                <a:ea typeface="微软雅黑 Light" panose="020B0502040204020203" pitchFamily="34" charset="-122"/>
                <a:cs typeface="+mn-ea"/>
                <a:sym typeface="+mn-lt"/>
              </a:rPr>
              <a:t>2000</a:t>
            </a:r>
            <a:r>
              <a:rPr lang="zh-CN" altLang="en-US" dirty="0">
                <a:latin typeface="Microsoft YaHei UI Light" panose="020B0502040204020203" pitchFamily="34" charset="-122"/>
                <a:ea typeface="微软雅黑 Light" panose="020B0502040204020203" pitchFamily="34" charset="-122"/>
                <a:cs typeface="+mn-ea"/>
                <a:sym typeface="+mn-lt"/>
              </a:rPr>
              <a:t>个左右区域候选框；</a:t>
            </a: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特征提取</a:t>
            </a:r>
            <a:r>
              <a:rPr lang="zh-CN" altLang="en-US" dirty="0">
                <a:latin typeface="Microsoft YaHei UI Light" panose="020B0502040204020203" pitchFamily="34" charset="-122"/>
                <a:ea typeface="微软雅黑 Light" panose="020B0502040204020203" pitchFamily="34" charset="-122"/>
                <a:cs typeface="+mn-ea"/>
                <a:sym typeface="+mn-lt"/>
              </a:rPr>
              <a:t>：</a:t>
            </a:r>
            <a:r>
              <a:rPr lang="zh-CN" altLang="en-US" dirty="0">
                <a:solidFill>
                  <a:srgbClr val="C00000"/>
                </a:solidFill>
                <a:latin typeface="Microsoft YaHei UI Light" panose="020B0502040204020203" pitchFamily="34" charset="-122"/>
                <a:ea typeface="微软雅黑 Light" panose="020B0502040204020203" pitchFamily="34" charset="-122"/>
                <a:cs typeface="+mn-ea"/>
                <a:sym typeface="+mn-lt"/>
              </a:rPr>
              <a:t>原始图像</a:t>
            </a:r>
            <a:r>
              <a:rPr lang="zh-CN" altLang="en-US" dirty="0">
                <a:latin typeface="Microsoft YaHei UI Light" panose="020B0502040204020203" pitchFamily="34" charset="-122"/>
                <a:ea typeface="微软雅黑 Light" panose="020B0502040204020203" pitchFamily="34" charset="-122"/>
                <a:cs typeface="+mn-ea"/>
                <a:sym typeface="+mn-lt"/>
              </a:rPr>
              <a:t>输入</a:t>
            </a:r>
            <a:r>
              <a:rPr lang="en-US" altLang="zh-CN" dirty="0">
                <a:latin typeface="Microsoft YaHei UI Light" panose="020B0502040204020203" pitchFamily="34" charset="-122"/>
                <a:ea typeface="微软雅黑 Light" panose="020B0502040204020203" pitchFamily="34" charset="-122"/>
                <a:cs typeface="+mn-ea"/>
                <a:sym typeface="+mn-lt"/>
              </a:rPr>
              <a:t>CNN</a:t>
            </a:r>
            <a:r>
              <a:rPr lang="zh-CN" altLang="en-US" dirty="0">
                <a:latin typeface="Microsoft YaHei UI Light" panose="020B0502040204020203" pitchFamily="34" charset="-122"/>
                <a:ea typeface="微软雅黑 Light" panose="020B0502040204020203" pitchFamily="34" charset="-122"/>
                <a:cs typeface="+mn-ea"/>
                <a:sym typeface="+mn-lt"/>
              </a:rPr>
              <a:t>网络，得到特征图；</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Font typeface="Arial" panose="020B0604020202020204" pitchFamily="34" charset="0"/>
              <a:buChar char="•"/>
            </a:pPr>
            <a:r>
              <a:rPr lang="en-US" altLang="zh-CN" b="1" dirty="0">
                <a:solidFill>
                  <a:srgbClr val="C00000"/>
                </a:solidFill>
                <a:latin typeface="Microsoft YaHei UI Light" panose="020B0502040204020203" pitchFamily="34" charset="-122"/>
                <a:ea typeface="微软雅黑 Light" panose="020B0502040204020203" pitchFamily="34" charset="-122"/>
                <a:cs typeface="+mn-ea"/>
                <a:sym typeface="+mn-lt"/>
              </a:rPr>
              <a:t>ROI-Pooling</a:t>
            </a:r>
            <a:r>
              <a:rPr lang="zh-CN" altLang="en-US" dirty="0">
                <a:latin typeface="Microsoft YaHei UI Light" panose="020B0502040204020203" pitchFamily="34" charset="-122"/>
                <a:ea typeface="微软雅黑 Light" panose="020B0502040204020203" pitchFamily="34" charset="-122"/>
                <a:cs typeface="+mn-ea"/>
                <a:sym typeface="+mn-lt"/>
              </a:rPr>
              <a:t>：根据映射关系，将不同尺寸的候选框在特征图上的对应区域池化为维度相同的特征图</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因为全连接层要求输入尺寸固定</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全连接层</a:t>
            </a:r>
            <a:r>
              <a:rPr lang="zh-CN" altLang="en-US" dirty="0">
                <a:latin typeface="Microsoft YaHei UI Light" panose="020B0502040204020203" pitchFamily="34" charset="-122"/>
                <a:ea typeface="微软雅黑 Light" panose="020B0502040204020203" pitchFamily="34" charset="-122"/>
                <a:cs typeface="+mn-ea"/>
                <a:sym typeface="+mn-lt"/>
              </a:rPr>
              <a:t>：将维度相同的特征图转化为</a:t>
            </a:r>
            <a:r>
              <a:rPr lang="en-US" altLang="zh-CN" dirty="0">
                <a:latin typeface="Microsoft YaHei UI Light" panose="020B0502040204020203" pitchFamily="34" charset="-122"/>
                <a:ea typeface="微软雅黑 Light" panose="020B0502040204020203" pitchFamily="34" charset="-122"/>
                <a:cs typeface="+mn-ea"/>
                <a:sym typeface="+mn-lt"/>
              </a:rPr>
              <a:t>ROI</a:t>
            </a:r>
            <a:r>
              <a:rPr lang="zh-CN" altLang="en-US" dirty="0">
                <a:latin typeface="Microsoft YaHei UI Light" panose="020B0502040204020203" pitchFamily="34" charset="-122"/>
                <a:ea typeface="微软雅黑 Light" panose="020B0502040204020203" pitchFamily="34" charset="-122"/>
                <a:cs typeface="+mn-ea"/>
                <a:sym typeface="+mn-lt"/>
              </a:rPr>
              <a:t>特征向量</a:t>
            </a:r>
            <a:r>
              <a:rPr lang="en-US" altLang="zh-CN" dirty="0">
                <a:latin typeface="Microsoft YaHei UI Light" panose="020B0502040204020203" pitchFamily="34" charset="-122"/>
                <a:ea typeface="微软雅黑 Light" panose="020B0502040204020203" pitchFamily="34" charset="-122"/>
                <a:cs typeface="+mn-ea"/>
                <a:sym typeface="+mn-lt"/>
              </a:rPr>
              <a:t>(ROI feature vector)</a:t>
            </a:r>
            <a:r>
              <a:rPr lang="zh-CN" altLang="en-US" dirty="0">
                <a:latin typeface="Microsoft YaHei UI Light" panose="020B0502040204020203" pitchFamily="34" charset="-122"/>
                <a:ea typeface="微软雅黑 Light" panose="020B0502040204020203" pitchFamily="34" charset="-122"/>
                <a:cs typeface="+mn-ea"/>
                <a:sym typeface="+mn-lt"/>
              </a:rPr>
              <a:t>；</a:t>
            </a:r>
          </a:p>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分类与回归</a:t>
            </a:r>
            <a:r>
              <a:rPr lang="zh-CN" altLang="en-US" dirty="0">
                <a:latin typeface="Microsoft YaHei UI Light" panose="020B0502040204020203" pitchFamily="34" charset="-122"/>
                <a:ea typeface="微软雅黑 Light" panose="020B0502040204020203" pitchFamily="34" charset="-122"/>
                <a:cs typeface="+mn-ea"/>
                <a:sym typeface="+mn-lt"/>
              </a:rPr>
              <a:t>：经过两个全连接层，再用</a:t>
            </a:r>
            <a:r>
              <a:rPr lang="en-US" altLang="zh-CN" dirty="0" err="1">
                <a:latin typeface="Microsoft YaHei UI Light" panose="020B0502040204020203" pitchFamily="34" charset="-122"/>
                <a:ea typeface="微软雅黑 Light" panose="020B0502040204020203" pitchFamily="34" charset="-122"/>
                <a:cs typeface="+mn-ea"/>
                <a:sym typeface="+mn-lt"/>
              </a:rPr>
              <a:t>softmax</a:t>
            </a:r>
            <a:r>
              <a:rPr lang="zh-CN" altLang="en-US" dirty="0">
                <a:latin typeface="Microsoft YaHei UI Light" panose="020B0502040204020203" pitchFamily="34" charset="-122"/>
                <a:ea typeface="微软雅黑 Light" panose="020B0502040204020203" pitchFamily="34" charset="-122"/>
                <a:cs typeface="+mn-ea"/>
                <a:sym typeface="+mn-lt"/>
              </a:rPr>
              <a:t>分类器进行识别，用回归器修正边界框的位置与大小，最后对每个类别做</a:t>
            </a:r>
            <a:r>
              <a:rPr lang="en-US" altLang="zh-CN" dirty="0">
                <a:latin typeface="Microsoft YaHei UI Light" panose="020B0502040204020203" pitchFamily="34" charset="-122"/>
                <a:ea typeface="微软雅黑 Light" panose="020B0502040204020203" pitchFamily="34" charset="-122"/>
                <a:cs typeface="+mn-ea"/>
                <a:sym typeface="+mn-lt"/>
              </a:rPr>
              <a:t>NMS</a:t>
            </a:r>
            <a:r>
              <a:rPr lang="zh-CN" altLang="en-US" dirty="0">
                <a:latin typeface="Microsoft YaHei UI Light" panose="020B0502040204020203" pitchFamily="34" charset="-122"/>
                <a:ea typeface="微软雅黑 Light" panose="020B0502040204020203" pitchFamily="34" charset="-122"/>
                <a:cs typeface="+mn-ea"/>
                <a:sym typeface="+mn-lt"/>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Fast R-CNN</a:t>
            </a:r>
          </a:p>
        </p:txBody>
      </p:sp>
      <p:sp>
        <p:nvSpPr>
          <p:cNvPr id="8" name="内容占位符 2"/>
          <p:cNvSpPr txBox="1"/>
          <p:nvPr/>
        </p:nvSpPr>
        <p:spPr>
          <a:xfrm>
            <a:off x="693735" y="1566767"/>
            <a:ext cx="7659092" cy="618377"/>
          </a:xfrm>
          <a:prstGeom prst="rect">
            <a:avLst/>
          </a:prstGeom>
        </p:spPr>
        <p:txBody>
          <a:bodyPr vert="horz" lIns="91440" tIns="45720" rIns="91440" bIns="45720" rtlCol="0">
            <a:normAutofit/>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a:latin typeface="Microsoft YaHei UI Light" panose="020B0502040204020203" pitchFamily="34" charset="-122"/>
                <a:ea typeface="微软雅黑 Light" panose="020B0502040204020203" pitchFamily="34" charset="-122"/>
                <a:cs typeface="+mn-ea"/>
                <a:sym typeface="+mn-lt"/>
              </a:rPr>
              <a:t>ROI Pooling</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926204" y="2185144"/>
            <a:ext cx="10139586" cy="286232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latin typeface="Microsoft YaHei UI Light" panose="020B0502040204020203" pitchFamily="34" charset="-122"/>
                <a:ea typeface="微软雅黑 Light" panose="020B0502040204020203" pitchFamily="34" charset="-122"/>
                <a:cs typeface="+mn-ea"/>
                <a:sym typeface="+mn-lt"/>
              </a:rPr>
              <a:t>ROI</a:t>
            </a:r>
            <a:r>
              <a:rPr lang="zh-CN" altLang="en-US" sz="2000" dirty="0">
                <a:latin typeface="Microsoft YaHei UI Light" panose="020B0502040204020203" pitchFamily="34" charset="-122"/>
                <a:ea typeface="微软雅黑 Light" panose="020B0502040204020203" pitchFamily="34" charset="-122"/>
                <a:cs typeface="+mn-ea"/>
                <a:sym typeface="+mn-lt"/>
              </a:rPr>
              <a:t>：感兴趣区域</a:t>
            </a:r>
            <a:r>
              <a:rPr lang="en-US" altLang="zh-CN" sz="2000" dirty="0">
                <a:latin typeface="Microsoft YaHei UI Light" panose="020B0502040204020203" pitchFamily="34" charset="-122"/>
                <a:ea typeface="微软雅黑 Light" panose="020B0502040204020203" pitchFamily="34" charset="-122"/>
                <a:cs typeface="+mn-ea"/>
                <a:sym typeface="+mn-lt"/>
              </a:rPr>
              <a:t>regions of interest</a:t>
            </a:r>
            <a:r>
              <a:rPr lang="zh-CN" altLang="en-US" sz="2000" dirty="0">
                <a:latin typeface="Microsoft YaHei UI Light" panose="020B0502040204020203" pitchFamily="34" charset="-122"/>
                <a:ea typeface="微软雅黑 Light" panose="020B0502040204020203" pitchFamily="34" charset="-122"/>
                <a:cs typeface="+mn-ea"/>
                <a:sym typeface="+mn-lt"/>
              </a:rPr>
              <a:t>，对应前文中经过</a:t>
            </a:r>
            <a:r>
              <a:rPr lang="en-US" altLang="zh-CN" sz="2000" dirty="0">
                <a:latin typeface="Microsoft YaHei UI Light" panose="020B0502040204020203" pitchFamily="34" charset="-122"/>
                <a:ea typeface="微软雅黑 Light" panose="020B0502040204020203" pitchFamily="34" charset="-122"/>
                <a:cs typeface="+mn-ea"/>
                <a:sym typeface="+mn-lt"/>
              </a:rPr>
              <a:t>region proposal</a:t>
            </a:r>
            <a:r>
              <a:rPr lang="zh-CN" altLang="en-US" sz="2000" dirty="0">
                <a:latin typeface="Microsoft YaHei UI Light" panose="020B0502040204020203" pitchFamily="34" charset="-122"/>
                <a:ea typeface="微软雅黑 Light" panose="020B0502040204020203" pitchFamily="34" charset="-122"/>
                <a:cs typeface="+mn-ea"/>
                <a:sym typeface="+mn-lt"/>
              </a:rPr>
              <a:t>得到的候选框；</a:t>
            </a:r>
            <a:endParaRPr lang="en-US" altLang="zh-CN" sz="2000" b="1"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000" b="1" dirty="0">
                <a:latin typeface="Microsoft YaHei UI Light" panose="020B0502040204020203" pitchFamily="34" charset="-122"/>
                <a:ea typeface="微软雅黑 Light" panose="020B0502040204020203" pitchFamily="34" charset="-122"/>
                <a:cs typeface="+mn-ea"/>
                <a:sym typeface="+mn-lt"/>
              </a:rPr>
              <a:t>目的</a:t>
            </a:r>
            <a:r>
              <a:rPr lang="zh-CN" altLang="en-US" sz="2000" dirty="0">
                <a:latin typeface="Microsoft YaHei UI Light" panose="020B0502040204020203" pitchFamily="34" charset="-122"/>
                <a:ea typeface="微软雅黑 Light" panose="020B0502040204020203" pitchFamily="34" charset="-122"/>
                <a:cs typeface="+mn-ea"/>
                <a:sym typeface="+mn-lt"/>
              </a:rPr>
              <a:t>：将不同尺寸的</a:t>
            </a:r>
            <a:r>
              <a:rPr lang="en-US" altLang="zh-CN" sz="2000" dirty="0">
                <a:latin typeface="Microsoft YaHei UI Light" panose="020B0502040204020203" pitchFamily="34" charset="-122"/>
                <a:ea typeface="微软雅黑 Light" panose="020B0502040204020203" pitchFamily="34" charset="-122"/>
                <a:cs typeface="+mn-ea"/>
                <a:sym typeface="+mn-lt"/>
              </a:rPr>
              <a:t>ROI</a:t>
            </a:r>
            <a:r>
              <a:rPr lang="zh-CN" altLang="en-US" sz="2000" dirty="0">
                <a:latin typeface="Microsoft YaHei UI Light" panose="020B0502040204020203" pitchFamily="34" charset="-122"/>
                <a:ea typeface="微软雅黑 Light" panose="020B0502040204020203" pitchFamily="34" charset="-122"/>
                <a:cs typeface="+mn-ea"/>
                <a:sym typeface="+mn-lt"/>
              </a:rPr>
              <a:t>对应的卷积特征图转换为固定大小的特征图（比如</a:t>
            </a:r>
            <a:r>
              <a:rPr lang="en-US" altLang="zh-CN" sz="2000" dirty="0">
                <a:latin typeface="Microsoft YaHei UI Light" panose="020B0502040204020203" pitchFamily="34" charset="-122"/>
                <a:ea typeface="微软雅黑 Light" panose="020B0502040204020203" pitchFamily="34" charset="-122"/>
                <a:cs typeface="+mn-ea"/>
                <a:sym typeface="+mn-lt"/>
              </a:rPr>
              <a:t>7</a:t>
            </a:r>
            <a:r>
              <a:rPr lang="zh-CN" altLang="en-US" sz="2000" dirty="0">
                <a:latin typeface="Microsoft YaHei UI Light" panose="020B0502040204020203" pitchFamily="34" charset="-122"/>
                <a:ea typeface="微软雅黑 Light" panose="020B0502040204020203" pitchFamily="34" charset="-122"/>
                <a:cs typeface="+mn-ea"/>
                <a:sym typeface="+mn-lt"/>
              </a:rPr>
              <a:t>*</a:t>
            </a:r>
            <a:r>
              <a:rPr lang="en-US" altLang="zh-CN" sz="2000" dirty="0">
                <a:latin typeface="Microsoft YaHei UI Light" panose="020B0502040204020203" pitchFamily="34" charset="-122"/>
                <a:ea typeface="微软雅黑 Light" panose="020B0502040204020203" pitchFamily="34" charset="-122"/>
                <a:cs typeface="+mn-ea"/>
                <a:sym typeface="+mn-lt"/>
              </a:rPr>
              <a:t>7</a:t>
            </a:r>
            <a:r>
              <a:rPr lang="zh-CN" altLang="en-US" sz="2000" dirty="0">
                <a:latin typeface="Microsoft YaHei UI Light" panose="020B0502040204020203" pitchFamily="34" charset="-122"/>
                <a:ea typeface="微软雅黑 Light" panose="020B0502040204020203" pitchFamily="34" charset="-122"/>
                <a:cs typeface="+mn-ea"/>
                <a:sym typeface="+mn-lt"/>
              </a:rPr>
              <a:t>）。一方面</a:t>
            </a:r>
            <a:r>
              <a:rPr lang="en-US" altLang="zh-CN" sz="2000" dirty="0">
                <a:latin typeface="Microsoft YaHei UI Light" panose="020B0502040204020203" pitchFamily="34" charset="-122"/>
                <a:ea typeface="微软雅黑 Light" panose="020B0502040204020203" pitchFamily="34" charset="-122"/>
                <a:cs typeface="+mn-ea"/>
                <a:sym typeface="+mn-lt"/>
              </a:rPr>
              <a:t>ROI</a:t>
            </a:r>
            <a:r>
              <a:rPr lang="zh-CN" altLang="en-US" sz="2000" dirty="0">
                <a:latin typeface="Microsoft YaHei UI Light" panose="020B0502040204020203" pitchFamily="34" charset="-122"/>
                <a:ea typeface="微软雅黑 Light" panose="020B0502040204020203" pitchFamily="34" charset="-122"/>
                <a:cs typeface="+mn-ea"/>
                <a:sym typeface="+mn-lt"/>
              </a:rPr>
              <a:t>可以复用卷积层提取的特征图，提高图像处理速度；另一方面向全连接层提供固定尺寸的特征图。</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50000"/>
              </a:lnSpc>
              <a:buFont typeface="Arial" panose="020B0604020202020204" pitchFamily="34" charset="0"/>
              <a:buChar char="•"/>
            </a:pPr>
            <a:r>
              <a:rPr lang="zh-CN" altLang="en-US" sz="2000" b="1" dirty="0">
                <a:latin typeface="Microsoft YaHei UI Light" panose="020B0502040204020203" pitchFamily="34" charset="-122"/>
                <a:ea typeface="微软雅黑 Light" panose="020B0502040204020203" pitchFamily="34" charset="-122"/>
                <a:cs typeface="+mn-ea"/>
                <a:sym typeface="+mn-lt"/>
              </a:rPr>
              <a:t>特点</a:t>
            </a:r>
            <a:r>
              <a:rPr lang="zh-CN" altLang="en-US" sz="2000" dirty="0">
                <a:latin typeface="Microsoft YaHei UI Light" panose="020B0502040204020203" pitchFamily="34" charset="-122"/>
                <a:ea typeface="微软雅黑 Light" panose="020B0502040204020203" pitchFamily="34" charset="-122"/>
                <a:cs typeface="+mn-ea"/>
                <a:sym typeface="+mn-lt"/>
              </a:rPr>
              <a:t>：输出尺寸与输入尺寸无关。对每个特征图通道，根据输出尺寸</a:t>
            </a:r>
            <a:r>
              <a:rPr lang="en-US" altLang="zh-CN" sz="2000" dirty="0">
                <a:latin typeface="Microsoft YaHei UI Light" panose="020B0502040204020203" pitchFamily="34" charset="-122"/>
                <a:ea typeface="微软雅黑 Light" panose="020B0502040204020203" pitchFamily="34" charset="-122"/>
                <a:cs typeface="+mn-ea"/>
                <a:sym typeface="+mn-lt"/>
              </a:rPr>
              <a:t>H</a:t>
            </a:r>
            <a:r>
              <a:rPr lang="zh-CN" altLang="en-US" sz="2000" dirty="0">
                <a:latin typeface="Microsoft YaHei UI Light" panose="020B0502040204020203" pitchFamily="34" charset="-122"/>
                <a:ea typeface="微软雅黑 Light" panose="020B0502040204020203" pitchFamily="34" charset="-122"/>
                <a:cs typeface="+mn-ea"/>
                <a:sym typeface="+mn-lt"/>
              </a:rPr>
              <a:t>*</a:t>
            </a:r>
            <a:r>
              <a:rPr lang="en-US" altLang="zh-CN" sz="2000" dirty="0">
                <a:latin typeface="Microsoft YaHei UI Light" panose="020B0502040204020203" pitchFamily="34" charset="-122"/>
                <a:ea typeface="微软雅黑 Light" panose="020B0502040204020203" pitchFamily="34" charset="-122"/>
                <a:cs typeface="+mn-ea"/>
                <a:sym typeface="+mn-lt"/>
              </a:rPr>
              <a:t>W</a:t>
            </a:r>
            <a:r>
              <a:rPr lang="zh-CN" altLang="en-US" sz="2000" dirty="0">
                <a:latin typeface="Microsoft YaHei UI Light" panose="020B0502040204020203" pitchFamily="34" charset="-122"/>
                <a:ea typeface="微软雅黑 Light" panose="020B0502040204020203" pitchFamily="34" charset="-122"/>
                <a:cs typeface="+mn-ea"/>
                <a:sym typeface="+mn-lt"/>
              </a:rPr>
              <a:t>将输入特征图</a:t>
            </a:r>
            <a:r>
              <a:rPr lang="en-US" altLang="zh-CN" sz="2000" dirty="0">
                <a:latin typeface="Microsoft YaHei UI Light" panose="020B0502040204020203" pitchFamily="34" charset="-122"/>
                <a:ea typeface="微软雅黑 Light" panose="020B0502040204020203" pitchFamily="34" charset="-122"/>
                <a:cs typeface="+mn-ea"/>
                <a:sym typeface="+mn-lt"/>
              </a:rPr>
              <a:t>h</a:t>
            </a:r>
            <a:r>
              <a:rPr lang="zh-CN" altLang="en-US" sz="2000" dirty="0">
                <a:latin typeface="Microsoft YaHei UI Light" panose="020B0502040204020203" pitchFamily="34" charset="-122"/>
                <a:ea typeface="微软雅黑 Light" panose="020B0502040204020203" pitchFamily="34" charset="-122"/>
                <a:cs typeface="+mn-ea"/>
                <a:sym typeface="+mn-lt"/>
              </a:rPr>
              <a:t>*</a:t>
            </a:r>
            <a:r>
              <a:rPr lang="en-US" altLang="zh-CN" sz="2000" dirty="0">
                <a:latin typeface="Microsoft YaHei UI Light" panose="020B0502040204020203" pitchFamily="34" charset="-122"/>
                <a:ea typeface="微软雅黑 Light" panose="020B0502040204020203" pitchFamily="34" charset="-122"/>
                <a:cs typeface="+mn-ea"/>
                <a:sym typeface="+mn-lt"/>
              </a:rPr>
              <a:t>w</a:t>
            </a:r>
            <a:r>
              <a:rPr lang="zh-CN" altLang="en-US" sz="2000" dirty="0">
                <a:latin typeface="Microsoft YaHei UI Light" panose="020B0502040204020203" pitchFamily="34" charset="-122"/>
                <a:ea typeface="微软雅黑 Light" panose="020B0502040204020203" pitchFamily="34" charset="-122"/>
                <a:cs typeface="+mn-ea"/>
                <a:sym typeface="+mn-lt"/>
              </a:rPr>
              <a:t>均分成多块，每个块大小约为</a:t>
            </a:r>
            <a:r>
              <a:rPr lang="en-US" altLang="zh-CN" sz="2000" dirty="0">
                <a:latin typeface="Microsoft YaHei UI Light" panose="020B0502040204020203" pitchFamily="34" charset="-122"/>
                <a:ea typeface="微软雅黑 Light" panose="020B0502040204020203" pitchFamily="34" charset="-122"/>
                <a:cs typeface="+mn-ea"/>
                <a:sym typeface="+mn-lt"/>
              </a:rPr>
              <a:t>h/H*w/W</a:t>
            </a:r>
            <a:r>
              <a:rPr lang="zh-CN" altLang="en-US" sz="2000" dirty="0">
                <a:latin typeface="Microsoft YaHei UI Light" panose="020B0502040204020203" pitchFamily="34" charset="-122"/>
                <a:ea typeface="微软雅黑 Light" panose="020B0502040204020203" pitchFamily="34" charset="-122"/>
                <a:cs typeface="+mn-ea"/>
                <a:sym typeface="+mn-lt"/>
              </a:rPr>
              <a:t>，取每块的最大值作为输入。</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Fast R-CNN</a:t>
            </a:r>
          </a:p>
        </p:txBody>
      </p:sp>
      <p:sp>
        <p:nvSpPr>
          <p:cNvPr id="11" name="矩形 10"/>
          <p:cNvSpPr/>
          <p:nvPr/>
        </p:nvSpPr>
        <p:spPr>
          <a:xfrm>
            <a:off x="1019914" y="1357293"/>
            <a:ext cx="10185115" cy="2185214"/>
          </a:xfrm>
          <a:prstGeom prst="rect">
            <a:avLst/>
          </a:prstGeom>
        </p:spPr>
        <p:txBody>
          <a:bodyPr wrap="square">
            <a:spAutoFit/>
          </a:bodyPr>
          <a:lstStyle/>
          <a:p>
            <a:pPr>
              <a:lnSpc>
                <a:spcPct val="200000"/>
              </a:lnSpc>
              <a:buClr>
                <a:schemeClr val="accent1"/>
              </a:buClr>
              <a:buSzPct val="100000"/>
            </a:pPr>
            <a:r>
              <a:rPr lang="en-US" altLang="zh-CN" sz="2000" dirty="0">
                <a:latin typeface="Microsoft YaHei UI Light" panose="020B0502040204020203" pitchFamily="34" charset="-122"/>
                <a:ea typeface="微软雅黑 Light" panose="020B0502040204020203" pitchFamily="34" charset="-122"/>
                <a:cs typeface="+mn-ea"/>
                <a:sym typeface="+mn-lt"/>
              </a:rPr>
              <a:t>Fast R-CNN</a:t>
            </a:r>
            <a:r>
              <a:rPr lang="zh-CN" altLang="en-US" sz="2000" dirty="0">
                <a:latin typeface="Microsoft YaHei UI Light" panose="020B0502040204020203" pitchFamily="34" charset="-122"/>
                <a:ea typeface="微软雅黑 Light" panose="020B0502040204020203" pitchFamily="34" charset="-122"/>
                <a:cs typeface="+mn-ea"/>
                <a:sym typeface="+mn-lt"/>
              </a:rPr>
              <a:t> 改进之处：</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Clr>
                <a:schemeClr val="accent1"/>
              </a:buClr>
              <a:buSzPct val="100000"/>
              <a:buFont typeface="Arial" panose="020B0604020202020204" pitchFamily="34" charset="0"/>
              <a:buChar char="•"/>
            </a:pPr>
            <a:r>
              <a:rPr lang="zh-CN" altLang="en-US" sz="2000" dirty="0">
                <a:solidFill>
                  <a:srgbClr val="C00000"/>
                </a:solidFill>
                <a:latin typeface="Microsoft YaHei UI Light" panose="020B0502040204020203" pitchFamily="34" charset="-122"/>
                <a:ea typeface="微软雅黑 Light" panose="020B0502040204020203" pitchFamily="34" charset="-122"/>
                <a:cs typeface="+mn-ea"/>
                <a:sym typeface="+mn-lt"/>
              </a:rPr>
              <a:t>直接对整张图像做卷积，不再对每个候选区域分别做卷积</a:t>
            </a:r>
            <a:r>
              <a:rPr lang="zh-CN" altLang="en-US" sz="2000" dirty="0">
                <a:latin typeface="Microsoft YaHei UI Light" panose="020B0502040204020203" pitchFamily="34" charset="-122"/>
                <a:ea typeface="微软雅黑 Light" panose="020B0502040204020203" pitchFamily="34" charset="-122"/>
                <a:cs typeface="+mn-ea"/>
                <a:sym typeface="+mn-lt"/>
              </a:rPr>
              <a:t>，从而减少大量的重复计算。</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Clr>
                <a:schemeClr val="accent1"/>
              </a:buClr>
              <a:buSzPct val="100000"/>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用</a:t>
            </a:r>
            <a:r>
              <a:rPr lang="en-US" altLang="zh-CN" sz="2000" dirty="0">
                <a:latin typeface="Microsoft YaHei UI Light" panose="020B0502040204020203" pitchFamily="34" charset="-122"/>
                <a:ea typeface="微软雅黑 Light" panose="020B0502040204020203" pitchFamily="34" charset="-122"/>
                <a:cs typeface="+mn-ea"/>
                <a:sym typeface="+mn-lt"/>
              </a:rPr>
              <a:t>ROI pooling</a:t>
            </a:r>
            <a:r>
              <a:rPr lang="zh-CN" altLang="en-US" sz="2000" dirty="0">
                <a:latin typeface="Microsoft YaHei UI Light" panose="020B0502040204020203" pitchFamily="34" charset="-122"/>
                <a:ea typeface="微软雅黑 Light" panose="020B0502040204020203" pitchFamily="34" charset="-122"/>
                <a:cs typeface="+mn-ea"/>
                <a:sym typeface="+mn-lt"/>
              </a:rPr>
              <a:t>对不同候选框的特征进行尺寸归一化。</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Clr>
                <a:schemeClr val="accent1"/>
              </a:buClr>
              <a:buSzPct val="100000"/>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将边界框回归器放进网络一起训练，每个类别对应一个边界框回归器；</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Clr>
                <a:schemeClr val="accent1"/>
              </a:buClr>
              <a:buSzPct val="100000"/>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用</a:t>
            </a:r>
            <a:r>
              <a:rPr lang="en-US" altLang="zh-CN" sz="2000" dirty="0" err="1">
                <a:latin typeface="Microsoft YaHei UI Light" panose="020B0502040204020203" pitchFamily="34" charset="-122"/>
                <a:ea typeface="微软雅黑 Light" panose="020B0502040204020203" pitchFamily="34" charset="-122"/>
                <a:cs typeface="+mn-ea"/>
                <a:sym typeface="+mn-lt"/>
              </a:rPr>
              <a:t>softmax</a:t>
            </a:r>
            <a:r>
              <a:rPr lang="zh-CN" altLang="en-US" sz="2000" dirty="0">
                <a:latin typeface="Microsoft YaHei UI Light" panose="020B0502040204020203" pitchFamily="34" charset="-122"/>
                <a:ea typeface="微软雅黑 Light" panose="020B0502040204020203" pitchFamily="34" charset="-122"/>
                <a:cs typeface="+mn-ea"/>
                <a:sym typeface="+mn-lt"/>
              </a:rPr>
              <a:t>代替</a:t>
            </a:r>
            <a:r>
              <a:rPr lang="en-US" altLang="zh-CN" sz="2000" dirty="0">
                <a:latin typeface="Microsoft YaHei UI Light" panose="020B0502040204020203" pitchFamily="34" charset="-122"/>
                <a:ea typeface="微软雅黑 Light" panose="020B0502040204020203" pitchFamily="34" charset="-122"/>
                <a:cs typeface="+mn-ea"/>
                <a:sym typeface="+mn-lt"/>
              </a:rPr>
              <a:t>SVM</a:t>
            </a:r>
            <a:r>
              <a:rPr lang="zh-CN" altLang="en-US" sz="2000" dirty="0">
                <a:latin typeface="Microsoft YaHei UI Light" panose="020B0502040204020203" pitchFamily="34" charset="-122"/>
                <a:ea typeface="微软雅黑 Light" panose="020B0502040204020203" pitchFamily="34" charset="-122"/>
                <a:cs typeface="+mn-ea"/>
                <a:sym typeface="+mn-lt"/>
              </a:rPr>
              <a:t>分类器。</a:t>
            </a:r>
          </a:p>
        </p:txBody>
      </p:sp>
      <p:sp>
        <p:nvSpPr>
          <p:cNvPr id="12" name="矩形 11"/>
          <p:cNvSpPr/>
          <p:nvPr/>
        </p:nvSpPr>
        <p:spPr>
          <a:xfrm>
            <a:off x="1019913" y="3693637"/>
            <a:ext cx="9921889" cy="1446550"/>
          </a:xfrm>
          <a:prstGeom prst="rect">
            <a:avLst/>
          </a:prstGeom>
        </p:spPr>
        <p:txBody>
          <a:bodyPr wrap="square">
            <a:spAutoFit/>
          </a:bodyPr>
          <a:lstStyle/>
          <a:p>
            <a:pPr>
              <a:lnSpc>
                <a:spcPct val="200000"/>
              </a:lnSpc>
              <a:buClr>
                <a:schemeClr val="accent1"/>
              </a:buClr>
              <a:buSzPct val="100000"/>
            </a:pPr>
            <a:r>
              <a:rPr lang="en-US" altLang="zh-CN" sz="2000" dirty="0">
                <a:latin typeface="Microsoft YaHei UI Light" panose="020B0502040204020203" pitchFamily="34" charset="-122"/>
                <a:ea typeface="微软雅黑 Light" panose="020B0502040204020203" pitchFamily="34" charset="-122"/>
                <a:cs typeface="+mn-ea"/>
                <a:sym typeface="+mn-lt"/>
              </a:rPr>
              <a:t>Fast R-CNN</a:t>
            </a:r>
            <a:r>
              <a:rPr lang="zh-CN" altLang="en-US" sz="2000" dirty="0">
                <a:latin typeface="Microsoft YaHei UI Light" panose="020B0502040204020203" pitchFamily="34" charset="-122"/>
                <a:ea typeface="微软雅黑 Light" panose="020B0502040204020203" pitchFamily="34" charset="-122"/>
                <a:cs typeface="+mn-ea"/>
                <a:sym typeface="+mn-lt"/>
              </a:rPr>
              <a:t> 缺点：</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lnSpc>
                <a:spcPct val="120000"/>
              </a:lnSpc>
              <a:buClr>
                <a:schemeClr val="accent1"/>
              </a:buClr>
              <a:buSzPct val="100000"/>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候选区域提取仍使用</a:t>
            </a:r>
            <a:r>
              <a:rPr lang="en-US" altLang="zh-CN" sz="2000" dirty="0">
                <a:latin typeface="Microsoft YaHei UI Light" panose="020B0502040204020203" pitchFamily="34" charset="-122"/>
                <a:ea typeface="微软雅黑 Light" panose="020B0502040204020203" pitchFamily="34" charset="-122"/>
                <a:cs typeface="+mn-ea"/>
                <a:sym typeface="+mn-lt"/>
              </a:rPr>
              <a:t>selective search</a:t>
            </a:r>
            <a:r>
              <a:rPr lang="zh-CN" altLang="en-US" sz="2000" dirty="0">
                <a:latin typeface="Microsoft YaHei UI Light" panose="020B0502040204020203" pitchFamily="34" charset="-122"/>
                <a:ea typeface="微软雅黑 Light" panose="020B0502040204020203" pitchFamily="34" charset="-122"/>
                <a:cs typeface="+mn-ea"/>
                <a:sym typeface="+mn-lt"/>
              </a:rPr>
              <a:t>，目标检测时间大多消耗在这上面（</a:t>
            </a:r>
            <a:r>
              <a:rPr lang="en-US" altLang="zh-CN" sz="2000" dirty="0">
                <a:latin typeface="Microsoft YaHei UI Light" panose="020B0502040204020203" pitchFamily="34" charset="-122"/>
                <a:ea typeface="微软雅黑 Light" panose="020B0502040204020203" pitchFamily="34" charset="-122"/>
                <a:cs typeface="+mn-ea"/>
                <a:sym typeface="+mn-lt"/>
              </a:rPr>
              <a:t>region proposal 2~3s</a:t>
            </a:r>
            <a:r>
              <a:rPr lang="zh-CN" altLang="en-US" sz="2000" dirty="0">
                <a:latin typeface="Microsoft YaHei UI Light" panose="020B0502040204020203" pitchFamily="34" charset="-122"/>
                <a:ea typeface="微软雅黑 Light" panose="020B0502040204020203" pitchFamily="34" charset="-122"/>
                <a:cs typeface="+mn-ea"/>
                <a:sym typeface="+mn-lt"/>
              </a:rPr>
              <a:t>，而特征分类只需</a:t>
            </a:r>
            <a:r>
              <a:rPr lang="en-US" altLang="zh-CN" sz="2000" dirty="0">
                <a:latin typeface="Microsoft YaHei UI Light" panose="020B0502040204020203" pitchFamily="34" charset="-122"/>
                <a:ea typeface="微软雅黑 Light" panose="020B0502040204020203" pitchFamily="34" charset="-122"/>
                <a:cs typeface="+mn-ea"/>
                <a:sym typeface="+mn-lt"/>
              </a:rPr>
              <a:t>0.32s</a:t>
            </a:r>
            <a:r>
              <a:rPr lang="zh-CN" altLang="en-US" sz="2000" dirty="0">
                <a:latin typeface="Microsoft YaHei UI Light" panose="020B0502040204020203" pitchFamily="34" charset="-122"/>
                <a:ea typeface="微软雅黑 Light" panose="020B0502040204020203" pitchFamily="34" charset="-122"/>
                <a:cs typeface="+mn-ea"/>
                <a:sym typeface="+mn-lt"/>
              </a:rPr>
              <a:t>）</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3499622" y="5737689"/>
            <a:ext cx="4031873" cy="400110"/>
          </a:xfrm>
          <a:prstGeom prst="rect">
            <a:avLst/>
          </a:prstGeom>
          <a:noFill/>
        </p:spPr>
        <p:txBody>
          <a:bodyPr wrap="none" rtlCol="0">
            <a:spAutoFit/>
          </a:bodyPr>
          <a:lstStyle/>
          <a:p>
            <a:r>
              <a:rPr lang="zh-CN" altLang="en-US" sz="2000" i="1" dirty="0">
                <a:solidFill>
                  <a:srgbClr val="C00000"/>
                </a:solidFill>
                <a:latin typeface="微软雅黑 Light" panose="020B0502040204020203" pitchFamily="34" charset="-122"/>
                <a:ea typeface="微软雅黑 Light" panose="020B0502040204020203" pitchFamily="34" charset="-122"/>
              </a:rPr>
              <a:t>寻找更高效的候选区域生成方法？</a:t>
            </a:r>
          </a:p>
        </p:txBody>
      </p:sp>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31495" y="5070148"/>
            <a:ext cx="1468176" cy="146817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Fast R-CNN</a:t>
            </a:r>
          </a:p>
        </p:txBody>
      </p:sp>
      <p:sp>
        <p:nvSpPr>
          <p:cNvPr id="8" name="矩形 7"/>
          <p:cNvSpPr/>
          <p:nvPr/>
        </p:nvSpPr>
        <p:spPr>
          <a:xfrm>
            <a:off x="713639" y="1989687"/>
            <a:ext cx="3370729" cy="431657"/>
          </a:xfrm>
          <a:prstGeom prst="rect">
            <a:avLst/>
          </a:prstGeom>
        </p:spPr>
        <p:txBody>
          <a:bodyPr wrap="square">
            <a:spAutoFit/>
          </a:bodyPr>
          <a:lstStyle/>
          <a:p>
            <a:pPr>
              <a:lnSpc>
                <a:spcPct val="120000"/>
              </a:lnSpc>
              <a:buClr>
                <a:schemeClr val="accent1"/>
              </a:buClr>
              <a:buSzPct val="100000"/>
            </a:pPr>
            <a:r>
              <a:rPr lang="en-US" altLang="zh-CN" sz="2000" dirty="0">
                <a:latin typeface="Microsoft YaHei UI Light" panose="020B0502040204020203" pitchFamily="34" charset="-122"/>
                <a:ea typeface="微软雅黑 Light" panose="020B0502040204020203" pitchFamily="34" charset="-122"/>
                <a:cs typeface="+mn-ea"/>
                <a:sym typeface="+mn-lt"/>
              </a:rPr>
              <a:t>Faster R-CNN</a:t>
            </a:r>
            <a:r>
              <a:rPr lang="zh-CN" altLang="en-US" sz="2000" dirty="0">
                <a:latin typeface="Microsoft YaHei UI Light" panose="020B0502040204020203" pitchFamily="34" charset="-122"/>
                <a:ea typeface="微软雅黑 Light" panose="020B0502040204020203" pitchFamily="34" charset="-122"/>
                <a:cs typeface="+mn-ea"/>
                <a:sym typeface="+mn-lt"/>
              </a:rPr>
              <a:t>主要步骤：</a:t>
            </a:r>
          </a:p>
        </p:txBody>
      </p:sp>
      <p:sp>
        <p:nvSpPr>
          <p:cNvPr id="9" name="矩形 8"/>
          <p:cNvSpPr/>
          <p:nvPr/>
        </p:nvSpPr>
        <p:spPr>
          <a:xfrm>
            <a:off x="700690" y="5944674"/>
            <a:ext cx="10349602" cy="646331"/>
          </a:xfrm>
          <a:prstGeom prst="rect">
            <a:avLst/>
          </a:prstGeom>
        </p:spPr>
        <p:txBody>
          <a:bodyPr wrap="square">
            <a:spAutoFit/>
          </a:bodyPr>
          <a:lstStyle/>
          <a:p>
            <a:r>
              <a:rPr lang="en-US" altLang="zh-CN" b="1" dirty="0">
                <a:solidFill>
                  <a:srgbClr val="24292E"/>
                </a:solidFill>
                <a:latin typeface="Microsoft YaHei UI Light" panose="020B0502040204020203" pitchFamily="34" charset="-122"/>
                <a:ea typeface="微软雅黑 Light" panose="020B0502040204020203" pitchFamily="34" charset="-122"/>
                <a:cs typeface="+mn-ea"/>
                <a:sym typeface="+mn-lt"/>
              </a:rPr>
              <a:t>4. </a:t>
            </a:r>
            <a:r>
              <a:rPr lang="zh-CN" altLang="en-US" b="1" dirty="0">
                <a:solidFill>
                  <a:srgbClr val="24292E"/>
                </a:solidFill>
                <a:latin typeface="Microsoft YaHei UI Light" panose="020B0502040204020203" pitchFamily="34" charset="-122"/>
                <a:ea typeface="微软雅黑 Light" panose="020B0502040204020203" pitchFamily="34" charset="-122"/>
                <a:cs typeface="+mn-ea"/>
                <a:sym typeface="+mn-lt"/>
              </a:rPr>
              <a:t>分类与回归</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：同 </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Fast R-CNN</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，用</a:t>
            </a:r>
            <a:r>
              <a:rPr lang="en-US" altLang="zh-CN" dirty="0" err="1">
                <a:solidFill>
                  <a:srgbClr val="24292E"/>
                </a:solidFill>
                <a:latin typeface="Microsoft YaHei UI Light" panose="020B0502040204020203" pitchFamily="34" charset="-122"/>
                <a:ea typeface="微软雅黑 Light" panose="020B0502040204020203" pitchFamily="34" charset="-122"/>
                <a:cs typeface="+mn-ea"/>
                <a:sym typeface="+mn-lt"/>
              </a:rPr>
              <a:t>softmax</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分类器判断图像类别，同时用边界框回归修正边界框的位置和大小</a:t>
            </a:r>
            <a:endParaRPr lang="zh-CN" altLang="en-US" b="0" i="0" dirty="0">
              <a:solidFill>
                <a:srgbClr val="24292E"/>
              </a:solidFill>
              <a:effectLst/>
              <a:latin typeface="Microsoft YaHei UI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716189" y="2522822"/>
            <a:ext cx="5103909" cy="1200329"/>
          </a:xfrm>
          <a:prstGeom prst="rect">
            <a:avLst/>
          </a:prstGeom>
        </p:spPr>
        <p:txBody>
          <a:bodyPr wrap="square">
            <a:spAutoFit/>
          </a:bodyPr>
          <a:lstStyle/>
          <a:p>
            <a:pPr>
              <a:buFont typeface="+mj-lt"/>
              <a:buAutoNum type="arabicPeriod"/>
            </a:pPr>
            <a:r>
              <a:rPr lang="zh-CN" altLang="en-US" b="1" dirty="0">
                <a:solidFill>
                  <a:srgbClr val="24292E"/>
                </a:solidFill>
                <a:latin typeface="Microsoft YaHei UI Light" panose="020B0502040204020203" pitchFamily="34" charset="-122"/>
                <a:ea typeface="微软雅黑 Light" panose="020B0502040204020203" pitchFamily="34" charset="-122"/>
                <a:cs typeface="+mn-ea"/>
                <a:sym typeface="+mn-lt"/>
              </a:rPr>
              <a:t>卷积层</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：输入图片经过多层卷积神经网络</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a:t>
            </a:r>
            <a:r>
              <a:rPr lang="en-US" altLang="zh-CN" dirty="0" err="1">
                <a:solidFill>
                  <a:srgbClr val="24292E"/>
                </a:solidFill>
                <a:latin typeface="Microsoft YaHei UI Light" panose="020B0502040204020203" pitchFamily="34" charset="-122"/>
                <a:ea typeface="微软雅黑 Light" panose="020B0502040204020203" pitchFamily="34" charset="-122"/>
                <a:cs typeface="+mn-ea"/>
                <a:sym typeface="+mn-lt"/>
              </a:rPr>
              <a:t>ZF</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a:t>
            </a:r>
            <a:r>
              <a:rPr lang="en-US" altLang="zh-CN" dirty="0" err="1">
                <a:solidFill>
                  <a:srgbClr val="24292E"/>
                </a:solidFill>
                <a:latin typeface="Microsoft YaHei UI Light" panose="020B0502040204020203" pitchFamily="34" charset="-122"/>
                <a:ea typeface="微软雅黑 Light" panose="020B0502040204020203" pitchFamily="34" charset="-122"/>
                <a:cs typeface="+mn-ea"/>
                <a:sym typeface="+mn-lt"/>
              </a:rPr>
              <a:t>VGG</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），提取出卷积特征图，供</a:t>
            </a:r>
            <a:r>
              <a:rPr lang="en-US" altLang="zh-CN" dirty="0" err="1">
                <a:solidFill>
                  <a:srgbClr val="24292E"/>
                </a:solidFill>
                <a:latin typeface="Microsoft YaHei UI Light" panose="020B0502040204020203" pitchFamily="34" charset="-122"/>
                <a:ea typeface="微软雅黑 Light" panose="020B0502040204020203" pitchFamily="34" charset="-122"/>
                <a:cs typeface="+mn-ea"/>
                <a:sym typeface="+mn-lt"/>
              </a:rPr>
              <a:t>RPN</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网络和</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Fast R-CNN</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使用。</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RPN</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网络和</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Fast R-CNN</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共享特征提取网络可大大减小计算时间；</a:t>
            </a:r>
          </a:p>
        </p:txBody>
      </p:sp>
      <p:sp>
        <p:nvSpPr>
          <p:cNvPr id="11" name="矩形 10"/>
          <p:cNvSpPr/>
          <p:nvPr/>
        </p:nvSpPr>
        <p:spPr>
          <a:xfrm>
            <a:off x="700691" y="3976236"/>
            <a:ext cx="5808597" cy="923330"/>
          </a:xfrm>
          <a:prstGeom prst="rect">
            <a:avLst/>
          </a:prstGeom>
        </p:spPr>
        <p:txBody>
          <a:bodyPr wrap="square">
            <a:spAutoFit/>
          </a:bodyPr>
          <a:lstStyle/>
          <a:p>
            <a:r>
              <a:rPr lang="en-US" altLang="zh-CN" b="1" dirty="0">
                <a:solidFill>
                  <a:srgbClr val="24292E"/>
                </a:solidFill>
                <a:latin typeface="Microsoft YaHei UI Light" panose="020B0502040204020203" pitchFamily="34" charset="-122"/>
                <a:ea typeface="微软雅黑 Light" panose="020B0502040204020203" pitchFamily="34" charset="-122"/>
                <a:cs typeface="+mn-ea"/>
                <a:sym typeface="+mn-lt"/>
              </a:rPr>
              <a:t>2. RPN</a:t>
            </a:r>
            <a:r>
              <a:rPr lang="zh-CN" altLang="en-US" b="1" dirty="0">
                <a:solidFill>
                  <a:srgbClr val="24292E"/>
                </a:solidFill>
                <a:latin typeface="Microsoft YaHei UI Light" panose="020B0502040204020203" pitchFamily="34" charset="-122"/>
                <a:ea typeface="微软雅黑 Light" panose="020B0502040204020203" pitchFamily="34" charset="-122"/>
                <a:cs typeface="+mn-ea"/>
                <a:sym typeface="+mn-lt"/>
              </a:rPr>
              <a:t>层</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：生成候选区域，并用 </a:t>
            </a:r>
            <a:r>
              <a:rPr lang="en-US" altLang="zh-CN" dirty="0" err="1">
                <a:solidFill>
                  <a:srgbClr val="24292E"/>
                </a:solidFill>
                <a:latin typeface="Microsoft YaHei UI Light" panose="020B0502040204020203" pitchFamily="34" charset="-122"/>
                <a:ea typeface="微软雅黑 Light" panose="020B0502040204020203" pitchFamily="34" charset="-122"/>
                <a:cs typeface="+mn-ea"/>
                <a:sym typeface="+mn-lt"/>
              </a:rPr>
              <a:t>softmax</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 </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判断候选框是前景还是背景，从中选取前景候选框并利用 </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bounding box regression </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调整候选框的位置，得到候选区域；</a:t>
            </a:r>
          </a:p>
        </p:txBody>
      </p:sp>
      <p:sp>
        <p:nvSpPr>
          <p:cNvPr id="12" name="矩形 11"/>
          <p:cNvSpPr/>
          <p:nvPr/>
        </p:nvSpPr>
        <p:spPr>
          <a:xfrm>
            <a:off x="700691" y="5167931"/>
            <a:ext cx="6118563" cy="646331"/>
          </a:xfrm>
          <a:prstGeom prst="rect">
            <a:avLst/>
          </a:prstGeom>
        </p:spPr>
        <p:txBody>
          <a:bodyPr wrap="square">
            <a:spAutoFit/>
          </a:bodyPr>
          <a:lstStyle/>
          <a:p>
            <a:r>
              <a:rPr lang="en-US" altLang="zh-CN" b="1" dirty="0">
                <a:solidFill>
                  <a:srgbClr val="24292E"/>
                </a:solidFill>
                <a:latin typeface="Microsoft YaHei UI Light" panose="020B0502040204020203" pitchFamily="34" charset="-122"/>
                <a:ea typeface="微软雅黑 Light" panose="020B0502040204020203" pitchFamily="34" charset="-122"/>
                <a:cs typeface="+mn-ea"/>
                <a:sym typeface="+mn-lt"/>
              </a:rPr>
              <a:t>3. </a:t>
            </a:r>
            <a:r>
              <a:rPr lang="en-US" altLang="zh-CN" b="1" dirty="0" err="1">
                <a:solidFill>
                  <a:srgbClr val="24292E"/>
                </a:solidFill>
                <a:latin typeface="Microsoft YaHei UI Light" panose="020B0502040204020203" pitchFamily="34" charset="-122"/>
                <a:ea typeface="微软雅黑 Light" panose="020B0502040204020203" pitchFamily="34" charset="-122"/>
                <a:cs typeface="+mn-ea"/>
                <a:sym typeface="+mn-lt"/>
              </a:rPr>
              <a:t>ROIPooling</a:t>
            </a:r>
            <a:r>
              <a:rPr lang="zh-CN" altLang="en-US" b="1" dirty="0">
                <a:solidFill>
                  <a:srgbClr val="24292E"/>
                </a:solidFill>
                <a:latin typeface="Microsoft YaHei UI Light" panose="020B0502040204020203" pitchFamily="34" charset="-122"/>
                <a:ea typeface="微软雅黑 Light" panose="020B0502040204020203" pitchFamily="34" charset="-122"/>
                <a:cs typeface="+mn-ea"/>
                <a:sym typeface="+mn-lt"/>
              </a:rPr>
              <a:t>层</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：同 </a:t>
            </a:r>
            <a:r>
              <a:rPr lang="en-US" altLang="zh-CN" dirty="0">
                <a:solidFill>
                  <a:srgbClr val="24292E"/>
                </a:solidFill>
                <a:latin typeface="Microsoft YaHei UI Light" panose="020B0502040204020203" pitchFamily="34" charset="-122"/>
                <a:ea typeface="微软雅黑 Light" panose="020B0502040204020203" pitchFamily="34" charset="-122"/>
                <a:cs typeface="+mn-ea"/>
                <a:sym typeface="+mn-lt"/>
              </a:rPr>
              <a:t>Fast R-CNN</a:t>
            </a:r>
            <a:r>
              <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将不同尺寸的候选框在特征图上的对应区域池化为维度相同的特征图</a:t>
            </a:r>
            <a:endParaRPr lang="zh-CN" altLang="en-US" dirty="0">
              <a:solidFill>
                <a:srgbClr val="24292E"/>
              </a:solidFill>
              <a:latin typeface="Microsoft YaHei UI Light" panose="020B0502040204020203" pitchFamily="34" charset="-122"/>
              <a:ea typeface="微软雅黑 Light" panose="020B0502040204020203" pitchFamily="34" charset="-122"/>
              <a:cs typeface="+mn-ea"/>
              <a:sym typeface="+mn-lt"/>
            </a:endParaRPr>
          </a:p>
        </p:txBody>
      </p:sp>
      <p:pic>
        <p:nvPicPr>
          <p:cNvPr id="13" name="图片 12"/>
          <p:cNvPicPr>
            <a:picLocks noChangeAspect="1"/>
          </p:cNvPicPr>
          <p:nvPr/>
        </p:nvPicPr>
        <p:blipFill>
          <a:blip r:embed="rId5"/>
          <a:stretch>
            <a:fillRect/>
          </a:stretch>
        </p:blipFill>
        <p:spPr>
          <a:xfrm>
            <a:off x="6206713" y="649816"/>
            <a:ext cx="5200040" cy="5113987"/>
          </a:xfrm>
          <a:prstGeom prst="rect">
            <a:avLst/>
          </a:prstGeom>
        </p:spPr>
      </p:pic>
      <p:sp>
        <p:nvSpPr>
          <p:cNvPr id="14" name="矩形 13"/>
          <p:cNvSpPr/>
          <p:nvPr/>
        </p:nvSpPr>
        <p:spPr>
          <a:xfrm>
            <a:off x="668641" y="1490182"/>
            <a:ext cx="6359032" cy="431657"/>
          </a:xfrm>
          <a:prstGeom prst="rect">
            <a:avLst/>
          </a:prstGeom>
        </p:spPr>
        <p:txBody>
          <a:bodyPr wrap="square">
            <a:spAutoFit/>
          </a:bodyPr>
          <a:lstStyle/>
          <a:p>
            <a:pPr>
              <a:lnSpc>
                <a:spcPct val="120000"/>
              </a:lnSpc>
            </a:pPr>
            <a:r>
              <a:rPr lang="en-US" altLang="zh-CN" sz="2000" i="1" u="sng" dirty="0">
                <a:latin typeface="Microsoft YaHei UI Light" panose="020B0502040204020203" pitchFamily="34" charset="-122"/>
                <a:ea typeface="微软雅黑 Light" panose="020B0502040204020203" pitchFamily="34" charset="-122"/>
                <a:cs typeface="+mn-ea"/>
                <a:sym typeface="+mn-lt"/>
              </a:rPr>
              <a:t>Faster R-CNN = </a:t>
            </a:r>
            <a:r>
              <a:rPr lang="zh-CN" altLang="en-US" sz="2000" i="1" u="sng" dirty="0">
                <a:latin typeface="Microsoft YaHei UI Light" panose="020B0502040204020203" pitchFamily="34" charset="-122"/>
                <a:ea typeface="微软雅黑 Light" panose="020B0502040204020203" pitchFamily="34" charset="-122"/>
                <a:cs typeface="+mn-ea"/>
                <a:sym typeface="+mn-lt"/>
              </a:rPr>
              <a:t>候选区域生成网络 </a:t>
            </a:r>
            <a:r>
              <a:rPr lang="en-US" altLang="zh-CN" sz="2000" i="1" u="sng" dirty="0">
                <a:latin typeface="Microsoft YaHei UI Light" panose="020B0502040204020203" pitchFamily="34" charset="-122"/>
                <a:ea typeface="微软雅黑 Light" panose="020B0502040204020203" pitchFamily="34" charset="-122"/>
                <a:cs typeface="+mn-ea"/>
                <a:sym typeface="+mn-lt"/>
              </a:rPr>
              <a:t>RPN + Fast R-CNN </a:t>
            </a:r>
            <a:endParaRPr lang="en-US" altLang="zh-CN" sz="2000" b="1" i="1" u="sng"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Fast R-CNN</a:t>
            </a:r>
          </a:p>
        </p:txBody>
      </p:sp>
      <p:sp>
        <p:nvSpPr>
          <p:cNvPr id="8" name="内容占位符 2"/>
          <p:cNvSpPr txBox="1"/>
          <p:nvPr/>
        </p:nvSpPr>
        <p:spPr>
          <a:xfrm>
            <a:off x="574793" y="1324006"/>
            <a:ext cx="7467600" cy="618377"/>
          </a:xfrm>
          <a:prstGeom prst="rect">
            <a:avLst/>
          </a:prstGeom>
        </p:spPr>
        <p:txBody>
          <a:bodyPr vert="horz" lIns="91440" tIns="45720" rIns="91440" bIns="45720" rtlCol="0">
            <a:normAutofit/>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RPN (</a:t>
            </a:r>
            <a:r>
              <a:rPr lang="en-US" altLang="zh-CN" dirty="0">
                <a:latin typeface="Microsoft YaHei UI Light" panose="020B0502040204020203" pitchFamily="34" charset="-122"/>
                <a:ea typeface="微软雅黑 Light" panose="020B0502040204020203" pitchFamily="34" charset="-122"/>
                <a:cs typeface="+mn-ea"/>
                <a:sym typeface="+mn-lt"/>
              </a:rPr>
              <a:t>region proposal networks</a:t>
            </a:r>
            <a:r>
              <a:rPr lang="en-US" altLang="zh-CN" sz="2400" dirty="0">
                <a:latin typeface="Microsoft YaHei UI Light" panose="020B0502040204020203" pitchFamily="34" charset="-122"/>
                <a:ea typeface="微软雅黑 Light" panose="020B0502040204020203" pitchFamily="34" charset="-122"/>
                <a:cs typeface="+mn-ea"/>
                <a:sym typeface="+mn-lt"/>
              </a:rPr>
              <a:t>)</a:t>
            </a:r>
          </a:p>
        </p:txBody>
      </p:sp>
      <p:sp>
        <p:nvSpPr>
          <p:cNvPr id="9" name="矩形 8"/>
          <p:cNvSpPr/>
          <p:nvPr/>
        </p:nvSpPr>
        <p:spPr>
          <a:xfrm>
            <a:off x="574793" y="1934772"/>
            <a:ext cx="6436551"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目的</a:t>
            </a:r>
            <a:r>
              <a:rPr lang="zh-CN" altLang="en-US" dirty="0">
                <a:latin typeface="Microsoft YaHei UI Light" panose="020B0502040204020203" pitchFamily="34" charset="-122"/>
                <a:ea typeface="微软雅黑 Light" panose="020B0502040204020203" pitchFamily="34" charset="-122"/>
                <a:cs typeface="+mn-ea"/>
                <a:sym typeface="+mn-lt"/>
              </a:rPr>
              <a:t>：输入特征图，输出候选区域集合，包括各候选区域属于前</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背景的概率以及位置坐标，此时不限定个数。</a:t>
            </a:r>
            <a:r>
              <a:rPr lang="en-US" altLang="zh-CN" dirty="0" err="1">
                <a:latin typeface="Microsoft YaHei UI Light" panose="020B0502040204020203" pitchFamily="34" charset="-122"/>
                <a:ea typeface="微软雅黑 Light" panose="020B0502040204020203" pitchFamily="34" charset="-122"/>
                <a:cs typeface="+mn-ea"/>
                <a:sym typeface="+mn-lt"/>
              </a:rPr>
              <a:t>RPN</a:t>
            </a:r>
            <a:r>
              <a:rPr lang="zh-CN" altLang="en-US" dirty="0">
                <a:latin typeface="Microsoft YaHei UI Light" panose="020B0502040204020203" pitchFamily="34" charset="-122"/>
                <a:ea typeface="微软雅黑 Light" panose="020B0502040204020203" pitchFamily="34" charset="-122"/>
                <a:cs typeface="+mn-ea"/>
                <a:sym typeface="+mn-lt"/>
              </a:rPr>
              <a:t>采用</a:t>
            </a:r>
            <a:r>
              <a:rPr lang="en-US" altLang="zh-CN" dirty="0">
                <a:latin typeface="Microsoft YaHei UI Light" panose="020B0502040204020203" pitchFamily="34" charset="-122"/>
                <a:ea typeface="微软雅黑 Light" panose="020B0502040204020203" pitchFamily="34" charset="-122"/>
                <a:cs typeface="+mn-ea"/>
                <a:sym typeface="+mn-lt"/>
              </a:rPr>
              <a:t>Anchor</a:t>
            </a:r>
            <a:r>
              <a:rPr lang="zh-CN" altLang="en-US" dirty="0">
                <a:latin typeface="Microsoft YaHei UI Light" panose="020B0502040204020203" pitchFamily="34" charset="-122"/>
                <a:ea typeface="微软雅黑 Light" panose="020B0502040204020203" pitchFamily="34" charset="-122"/>
                <a:cs typeface="+mn-ea"/>
                <a:sym typeface="+mn-lt"/>
              </a:rPr>
              <a:t>机制，能够从特征图上直接提取候选区域的特征，相对于</a:t>
            </a:r>
            <a:r>
              <a:rPr lang="en-US" altLang="zh-CN" dirty="0">
                <a:latin typeface="Microsoft YaHei UI Light" panose="020B0502040204020203" pitchFamily="34" charset="-122"/>
                <a:ea typeface="微软雅黑 Light" panose="020B0502040204020203" pitchFamily="34" charset="-122"/>
                <a:cs typeface="+mn-ea"/>
                <a:sym typeface="+mn-lt"/>
              </a:rPr>
              <a:t>selective search</a:t>
            </a:r>
            <a:r>
              <a:rPr lang="zh-CN" altLang="en-US" dirty="0">
                <a:latin typeface="Microsoft YaHei UI Light" panose="020B0502040204020203" pitchFamily="34" charset="-122"/>
                <a:ea typeface="微软雅黑 Light" panose="020B0502040204020203" pitchFamily="34" charset="-122"/>
                <a:cs typeface="+mn-ea"/>
                <a:sym typeface="+mn-lt"/>
              </a:rPr>
              <a:t>大大减少运算量，且整个过程融合到一个网络中，方便训练和测试。</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605789" y="4147199"/>
            <a:ext cx="10997996" cy="2392130"/>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b="1" dirty="0">
                <a:latin typeface="Microsoft YaHei UI Light" panose="020B0502040204020203" pitchFamily="34" charset="-122"/>
                <a:ea typeface="微软雅黑 Light" panose="020B0502040204020203" pitchFamily="34" charset="-122"/>
                <a:cs typeface="+mn-ea"/>
                <a:sym typeface="+mn-lt"/>
              </a:rPr>
              <a:t>步骤及方法： </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342900" indent="-342900">
              <a:lnSpc>
                <a:spcPct val="120000"/>
              </a:lnSpc>
              <a:buAutoNum type="arabicPeriod"/>
            </a:pPr>
            <a:r>
              <a:rPr lang="zh-CN" altLang="en-US" dirty="0">
                <a:latin typeface="Microsoft YaHei UI Light" panose="020B0502040204020203" pitchFamily="34" charset="-122"/>
                <a:ea typeface="微软雅黑 Light" panose="020B0502040204020203" pitchFamily="34" charset="-122"/>
                <a:cs typeface="+mn-ea"/>
                <a:sym typeface="+mn-lt"/>
              </a:rPr>
              <a:t>先经过一个</a:t>
            </a:r>
            <a:r>
              <a:rPr lang="en-US" altLang="zh-CN" dirty="0">
                <a:latin typeface="Microsoft YaHei UI Light" panose="020B0502040204020203" pitchFamily="34" charset="-122"/>
                <a:ea typeface="微软雅黑 Light" panose="020B0502040204020203" pitchFamily="34" charset="-122"/>
                <a:cs typeface="+mn-ea"/>
                <a:sym typeface="+mn-lt"/>
              </a:rPr>
              <a:t>3x3</a:t>
            </a:r>
            <a:r>
              <a:rPr lang="zh-CN" altLang="en-US" dirty="0">
                <a:latin typeface="Microsoft YaHei UI Light" panose="020B0502040204020203" pitchFamily="34" charset="-122"/>
                <a:ea typeface="微软雅黑 Light" panose="020B0502040204020203" pitchFamily="34" charset="-122"/>
                <a:cs typeface="+mn-ea"/>
                <a:sym typeface="+mn-lt"/>
              </a:rPr>
              <a:t>卷积，使每一个点对应</a:t>
            </a:r>
            <a:r>
              <a:rPr lang="en-US" altLang="zh-CN" dirty="0">
                <a:latin typeface="Microsoft YaHei UI Light" panose="020B0502040204020203" pitchFamily="34" charset="-122"/>
                <a:ea typeface="微软雅黑 Light" panose="020B0502040204020203" pitchFamily="34" charset="-122"/>
                <a:cs typeface="+mn-ea"/>
                <a:sym typeface="+mn-lt"/>
              </a:rPr>
              <a:t>256</a:t>
            </a:r>
            <a:r>
              <a:rPr lang="zh-CN" altLang="en-US" dirty="0">
                <a:latin typeface="Microsoft YaHei UI Light" panose="020B0502040204020203" pitchFamily="34" charset="-122"/>
                <a:ea typeface="微软雅黑 Light" panose="020B0502040204020203" pitchFamily="34" charset="-122"/>
                <a:cs typeface="+mn-ea"/>
                <a:sym typeface="+mn-lt"/>
              </a:rPr>
              <a:t>维</a:t>
            </a:r>
            <a:r>
              <a:rPr lang="en-US" altLang="zh-CN" dirty="0">
                <a:latin typeface="Microsoft YaHei UI Light" panose="020B0502040204020203" pitchFamily="34" charset="-122"/>
                <a:ea typeface="微软雅黑 Light" panose="020B0502040204020203" pitchFamily="34" charset="-122"/>
                <a:cs typeface="+mn-ea"/>
                <a:sym typeface="+mn-lt"/>
              </a:rPr>
              <a:t>(</a:t>
            </a:r>
            <a:r>
              <a:rPr lang="en-US" altLang="zh-CN" dirty="0" err="1">
                <a:latin typeface="Microsoft YaHei UI Light" panose="020B0502040204020203" pitchFamily="34" charset="-122"/>
                <a:ea typeface="微软雅黑 Light" panose="020B0502040204020203" pitchFamily="34" charset="-122"/>
                <a:cs typeface="+mn-ea"/>
                <a:sym typeface="+mn-lt"/>
              </a:rPr>
              <a:t>ZF</a:t>
            </a:r>
            <a:r>
              <a:rPr lang="zh-CN" altLang="en-US" dirty="0">
                <a:latin typeface="Microsoft YaHei UI Light" panose="020B0502040204020203" pitchFamily="34" charset="-122"/>
                <a:ea typeface="微软雅黑 Light" panose="020B0502040204020203" pitchFamily="34" charset="-122"/>
                <a:cs typeface="+mn-ea"/>
                <a:sym typeface="+mn-lt"/>
              </a:rPr>
              <a:t>模型）或</a:t>
            </a:r>
            <a:r>
              <a:rPr lang="en-US" altLang="zh-CN" dirty="0">
                <a:latin typeface="Microsoft YaHei UI Light" panose="020B0502040204020203" pitchFamily="34" charset="-122"/>
                <a:ea typeface="微软雅黑 Light" panose="020B0502040204020203" pitchFamily="34" charset="-122"/>
                <a:cs typeface="+mn-ea"/>
                <a:sym typeface="+mn-lt"/>
              </a:rPr>
              <a:t>512</a:t>
            </a:r>
            <a:r>
              <a:rPr lang="zh-CN" altLang="en-US" dirty="0">
                <a:latin typeface="Microsoft YaHei UI Light" panose="020B0502040204020203" pitchFamily="34" charset="-122"/>
                <a:ea typeface="微软雅黑 Light" panose="020B0502040204020203" pitchFamily="34" charset="-122"/>
                <a:cs typeface="+mn-ea"/>
                <a:sym typeface="+mn-lt"/>
              </a:rPr>
              <a:t>维（</a:t>
            </a:r>
            <a:r>
              <a:rPr lang="en-US" altLang="zh-CN" dirty="0" err="1">
                <a:latin typeface="Microsoft YaHei UI Light" panose="020B0502040204020203" pitchFamily="34" charset="-122"/>
                <a:ea typeface="微软雅黑 Light" panose="020B0502040204020203" pitchFamily="34" charset="-122"/>
                <a:cs typeface="+mn-ea"/>
                <a:sym typeface="+mn-lt"/>
              </a:rPr>
              <a:t>VGG16</a:t>
            </a:r>
            <a:r>
              <a:rPr lang="zh-CN" altLang="en-US" dirty="0">
                <a:latin typeface="Microsoft YaHei UI Light" panose="020B0502040204020203" pitchFamily="34" charset="-122"/>
                <a:ea typeface="微软雅黑 Light" panose="020B0502040204020203" pitchFamily="34" charset="-122"/>
                <a:cs typeface="+mn-ea"/>
                <a:sym typeface="+mn-lt"/>
              </a:rPr>
              <a:t>）特征向量。</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342900" indent="-342900">
              <a:lnSpc>
                <a:spcPct val="120000"/>
              </a:lnSpc>
              <a:buAutoNum type="arabicPeriod"/>
            </a:pPr>
            <a:r>
              <a:rPr lang="zh-CN" altLang="en-US" dirty="0">
                <a:latin typeface="Microsoft YaHei UI Light" panose="020B0502040204020203" pitchFamily="34" charset="-122"/>
                <a:ea typeface="微软雅黑 Light" panose="020B0502040204020203" pitchFamily="34" charset="-122"/>
                <a:cs typeface="+mn-ea"/>
                <a:sym typeface="+mn-lt"/>
              </a:rPr>
              <a:t>然后分两路处理：一路用来判断候选框是前景还是背景，先将卷积特征</a:t>
            </a:r>
            <a:r>
              <a:rPr lang="en-US" altLang="zh-CN" dirty="0">
                <a:latin typeface="Microsoft YaHei UI Light" panose="020B0502040204020203" pitchFamily="34" charset="-122"/>
                <a:ea typeface="微软雅黑 Light" panose="020B0502040204020203" pitchFamily="34" charset="-122"/>
                <a:cs typeface="+mn-ea"/>
                <a:sym typeface="+mn-lt"/>
              </a:rPr>
              <a:t>reshape</a:t>
            </a:r>
            <a:r>
              <a:rPr lang="zh-CN" altLang="en-US" dirty="0">
                <a:latin typeface="Microsoft YaHei UI Light" panose="020B0502040204020203" pitchFamily="34" charset="-122"/>
                <a:ea typeface="微软雅黑 Light" panose="020B0502040204020203" pitchFamily="34" charset="-122"/>
                <a:cs typeface="+mn-ea"/>
                <a:sym typeface="+mn-lt"/>
              </a:rPr>
              <a:t>成一维向量，然后做</a:t>
            </a:r>
            <a:r>
              <a:rPr lang="en-US" altLang="zh-CN" dirty="0" err="1">
                <a:latin typeface="Microsoft YaHei UI Light" panose="020B0502040204020203" pitchFamily="34" charset="-122"/>
                <a:ea typeface="微软雅黑 Light" panose="020B0502040204020203" pitchFamily="34" charset="-122"/>
                <a:cs typeface="+mn-ea"/>
                <a:sym typeface="+mn-lt"/>
              </a:rPr>
              <a:t>softmax</a:t>
            </a:r>
            <a:r>
              <a:rPr lang="zh-CN" altLang="en-US" dirty="0">
                <a:latin typeface="Microsoft YaHei UI Light" panose="020B0502040204020203" pitchFamily="34" charset="-122"/>
                <a:ea typeface="微软雅黑 Light" panose="020B0502040204020203" pitchFamily="34" charset="-122"/>
                <a:cs typeface="+mn-ea"/>
                <a:sym typeface="+mn-lt"/>
              </a:rPr>
              <a:t>判断是前景还是背景，然后</a:t>
            </a:r>
            <a:r>
              <a:rPr lang="en-US" altLang="zh-CN" dirty="0">
                <a:latin typeface="Microsoft YaHei UI Light" panose="020B0502040204020203" pitchFamily="34" charset="-122"/>
                <a:ea typeface="微软雅黑 Light" panose="020B0502040204020203" pitchFamily="34" charset="-122"/>
                <a:cs typeface="+mn-ea"/>
                <a:sym typeface="+mn-lt"/>
              </a:rPr>
              <a:t>reshape</a:t>
            </a:r>
            <a:r>
              <a:rPr lang="zh-CN" altLang="en-US" dirty="0">
                <a:latin typeface="Microsoft YaHei UI Light" panose="020B0502040204020203" pitchFamily="34" charset="-122"/>
                <a:ea typeface="微软雅黑 Light" panose="020B0502040204020203" pitchFamily="34" charset="-122"/>
                <a:cs typeface="+mn-ea"/>
                <a:sym typeface="+mn-lt"/>
              </a:rPr>
              <a:t>回二维</a:t>
            </a:r>
            <a:r>
              <a:rPr lang="en-US" altLang="zh-CN" dirty="0">
                <a:latin typeface="Microsoft YaHei UI Light" panose="020B0502040204020203" pitchFamily="34" charset="-122"/>
                <a:ea typeface="微软雅黑 Light" panose="020B0502040204020203" pitchFamily="34" charset="-122"/>
                <a:cs typeface="+mn-ea"/>
                <a:sym typeface="+mn-lt"/>
              </a:rPr>
              <a:t>feature map</a:t>
            </a:r>
            <a:r>
              <a:rPr lang="zh-CN" altLang="en-US" dirty="0">
                <a:latin typeface="Microsoft YaHei UI Light" panose="020B0502040204020203" pitchFamily="34" charset="-122"/>
                <a:ea typeface="微软雅黑 Light" panose="020B0502040204020203" pitchFamily="34" charset="-122"/>
                <a:cs typeface="+mn-ea"/>
                <a:sym typeface="+mn-lt"/>
              </a:rPr>
              <a:t>；另一路用</a:t>
            </a:r>
            <a:r>
              <a:rPr lang="en-US" altLang="zh-CN" dirty="0" err="1">
                <a:latin typeface="Microsoft YaHei UI Light" panose="020B0502040204020203" pitchFamily="34" charset="-122"/>
                <a:ea typeface="微软雅黑 Light" panose="020B0502040204020203" pitchFamily="34" charset="-122"/>
                <a:cs typeface="+mn-ea"/>
                <a:sym typeface="+mn-lt"/>
              </a:rPr>
              <a:t>bbox</a:t>
            </a:r>
            <a:r>
              <a:rPr lang="en-US" altLang="zh-CN" dirty="0">
                <a:latin typeface="Microsoft YaHei UI Light" panose="020B0502040204020203" pitchFamily="34" charset="-122"/>
                <a:ea typeface="微软雅黑 Light" panose="020B0502040204020203" pitchFamily="34" charset="-122"/>
                <a:cs typeface="+mn-ea"/>
                <a:sym typeface="+mn-lt"/>
              </a:rPr>
              <a:t> regression</a:t>
            </a:r>
            <a:r>
              <a:rPr lang="zh-CN" altLang="en-US" dirty="0">
                <a:latin typeface="Microsoft YaHei UI Light" panose="020B0502040204020203" pitchFamily="34" charset="-122"/>
                <a:ea typeface="微软雅黑 Light" panose="020B0502040204020203" pitchFamily="34" charset="-122"/>
                <a:cs typeface="+mn-ea"/>
                <a:sym typeface="+mn-lt"/>
              </a:rPr>
              <a:t>来确定候选框的位置。</a:t>
            </a:r>
            <a:endParaRPr lang="en-US" altLang="zh-CN" dirty="0">
              <a:latin typeface="Microsoft YaHei UI Light" panose="020B0502040204020203" pitchFamily="34" charset="-122"/>
              <a:ea typeface="微软雅黑 Light" panose="020B0502040204020203" pitchFamily="34" charset="-122"/>
              <a:cs typeface="+mn-ea"/>
              <a:sym typeface="+mn-lt"/>
            </a:endParaRPr>
          </a:p>
          <a:p>
            <a:pPr marL="342900" indent="-342900">
              <a:lnSpc>
                <a:spcPct val="120000"/>
              </a:lnSpc>
              <a:buAutoNum type="arabicPeriod"/>
            </a:pPr>
            <a:r>
              <a:rPr lang="zh-CN" altLang="en-US" dirty="0">
                <a:latin typeface="Microsoft YaHei UI Light" panose="020B0502040204020203" pitchFamily="34" charset="-122"/>
                <a:ea typeface="微软雅黑 Light" panose="020B0502040204020203" pitchFamily="34" charset="-122"/>
                <a:cs typeface="+mn-ea"/>
                <a:sym typeface="+mn-lt"/>
              </a:rPr>
              <a:t>两路计算结束后，计算得到前景候选框（因为物体在前景中），再用</a:t>
            </a:r>
            <a:r>
              <a:rPr lang="en-US" altLang="zh-CN" dirty="0">
                <a:latin typeface="Microsoft YaHei UI Light" panose="020B0502040204020203" pitchFamily="34" charset="-122"/>
                <a:ea typeface="微软雅黑 Light" panose="020B0502040204020203" pitchFamily="34" charset="-122"/>
                <a:cs typeface="+mn-ea"/>
                <a:sym typeface="+mn-lt"/>
              </a:rPr>
              <a:t>NMS</a:t>
            </a:r>
            <a:r>
              <a:rPr lang="zh-CN" altLang="en-US" dirty="0">
                <a:latin typeface="Microsoft YaHei UI Light" panose="020B0502040204020203" pitchFamily="34" charset="-122"/>
                <a:ea typeface="微软雅黑 Light" panose="020B0502040204020203" pitchFamily="34" charset="-122"/>
                <a:cs typeface="+mn-ea"/>
                <a:sym typeface="+mn-lt"/>
              </a:rPr>
              <a:t>去除冗余候选框，最后输出候选区域。</a:t>
            </a:r>
          </a:p>
        </p:txBody>
      </p:sp>
      <p:pic>
        <p:nvPicPr>
          <p:cNvPr id="11" name="图片 10"/>
          <p:cNvPicPr>
            <a:picLocks noChangeAspect="1"/>
          </p:cNvPicPr>
          <p:nvPr/>
        </p:nvPicPr>
        <p:blipFill>
          <a:blip r:embed="rId5"/>
          <a:stretch>
            <a:fillRect/>
          </a:stretch>
        </p:blipFill>
        <p:spPr>
          <a:xfrm>
            <a:off x="7011344" y="1237358"/>
            <a:ext cx="4561445" cy="2475791"/>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Fast R-CNN</a:t>
            </a:r>
          </a:p>
        </p:txBody>
      </p:sp>
      <p:sp>
        <p:nvSpPr>
          <p:cNvPr id="8" name="内容占位符 2"/>
          <p:cNvSpPr txBox="1"/>
          <p:nvPr/>
        </p:nvSpPr>
        <p:spPr>
          <a:xfrm>
            <a:off x="732826" y="1385414"/>
            <a:ext cx="7467600" cy="618377"/>
          </a:xfrm>
          <a:prstGeom prst="rect">
            <a:avLst/>
          </a:prstGeom>
        </p:spPr>
        <p:txBody>
          <a:bodyPr vert="horz" lIns="91440" tIns="45720" rIns="91440" bIns="45720" rtlCol="0">
            <a:normAutofit/>
          </a:bodyPr>
          <a:lstStyle>
            <a:lvl1pPr marL="274320" indent="-274320" algn="l" defTabSz="914400"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defTabSz="914400"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defTabSz="914400"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defTabSz="914400"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defTabSz="914400"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defTabSz="914400" rtl="0" eaLnBrk="1" latinLnBrk="0" hangingPunct="1">
              <a:lnSpc>
                <a:spcPct val="90000"/>
              </a:lnSpc>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defTabSz="914400" rtl="0" eaLnBrk="1" latinLnBrk="0" hangingPunct="1">
              <a:lnSpc>
                <a:spcPct val="90000"/>
              </a:lnSpc>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defTabSz="914400" rtl="0" eaLnBrk="1" latinLnBrk="0" hangingPunct="1">
              <a:lnSpc>
                <a:spcPct val="90000"/>
              </a:lnSpc>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defTabSz="914400" rtl="0" eaLnBrk="1" latinLnBrk="0" hangingPunct="1">
              <a:lnSpc>
                <a:spcPct val="90000"/>
              </a:lnSpc>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zh-CN" altLang="en-US" sz="2400">
                <a:latin typeface="Microsoft YaHei UI Light" panose="020B0502040204020203" pitchFamily="34" charset="-122"/>
                <a:ea typeface="微软雅黑 Light" panose="020B0502040204020203" pitchFamily="34" charset="-122"/>
                <a:cs typeface="+mn-ea"/>
                <a:sym typeface="+mn-lt"/>
              </a:rPr>
              <a:t>关于</a:t>
            </a:r>
            <a:r>
              <a:rPr lang="en-US" altLang="zh-CN" sz="2400">
                <a:latin typeface="Microsoft YaHei UI Light" panose="020B0502040204020203" pitchFamily="34" charset="-122"/>
                <a:ea typeface="微软雅黑 Light" panose="020B0502040204020203" pitchFamily="34" charset="-122"/>
                <a:cs typeface="+mn-ea"/>
                <a:sym typeface="+mn-lt"/>
              </a:rPr>
              <a:t>anchor box</a:t>
            </a:r>
            <a:endParaRPr lang="en-US" altLang="zh-CN" sz="2400" dirty="0">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a:blip r:embed="rId5"/>
          <a:stretch>
            <a:fillRect/>
          </a:stretch>
        </p:blipFill>
        <p:spPr>
          <a:xfrm>
            <a:off x="5172670" y="992974"/>
            <a:ext cx="6075664" cy="3739402"/>
          </a:xfrm>
          <a:prstGeom prst="rect">
            <a:avLst/>
          </a:prstGeom>
        </p:spPr>
      </p:pic>
      <p:sp>
        <p:nvSpPr>
          <p:cNvPr id="10" name="矩形 9"/>
          <p:cNvSpPr/>
          <p:nvPr/>
        </p:nvSpPr>
        <p:spPr>
          <a:xfrm>
            <a:off x="5230011" y="4766687"/>
            <a:ext cx="6018059" cy="1394934"/>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在</a:t>
            </a:r>
            <a:r>
              <a:rPr lang="en-US" altLang="zh-CN" dirty="0">
                <a:latin typeface="Microsoft YaHei UI Light" panose="020B0502040204020203" pitchFamily="34" charset="-122"/>
                <a:ea typeface="微软雅黑 Light" panose="020B0502040204020203" pitchFamily="34" charset="-122"/>
                <a:cs typeface="+mn-ea"/>
                <a:sym typeface="+mn-lt"/>
              </a:rPr>
              <a:t>RPN</a:t>
            </a:r>
            <a:r>
              <a:rPr lang="zh-CN" altLang="en-US" dirty="0">
                <a:latin typeface="Microsoft YaHei UI Light" panose="020B0502040204020203" pitchFamily="34" charset="-122"/>
                <a:ea typeface="微软雅黑 Light" panose="020B0502040204020203" pitchFamily="34" charset="-122"/>
                <a:cs typeface="+mn-ea"/>
                <a:sym typeface="+mn-lt"/>
              </a:rPr>
              <a:t>中，</a:t>
            </a:r>
            <a:r>
              <a:rPr lang="en-US" altLang="zh-CN" dirty="0">
                <a:latin typeface="Microsoft YaHei UI Light" panose="020B0502040204020203" pitchFamily="34" charset="-122"/>
                <a:ea typeface="微软雅黑 Light" panose="020B0502040204020203" pitchFamily="34" charset="-122"/>
                <a:cs typeface="+mn-ea"/>
                <a:sym typeface="+mn-lt"/>
              </a:rPr>
              <a:t>feature map</a:t>
            </a:r>
            <a:r>
              <a:rPr lang="zh-CN" altLang="en-US" dirty="0">
                <a:latin typeface="Microsoft YaHei UI Light" panose="020B0502040204020203" pitchFamily="34" charset="-122"/>
                <a:ea typeface="微软雅黑 Light" panose="020B0502040204020203" pitchFamily="34" charset="-122"/>
                <a:cs typeface="+mn-ea"/>
                <a:sym typeface="+mn-lt"/>
              </a:rPr>
              <a:t>每个位置输出</a:t>
            </a:r>
            <a:r>
              <a:rPr lang="en-US" altLang="zh-CN" dirty="0">
                <a:latin typeface="Microsoft YaHei UI Light" panose="020B0502040204020203" pitchFamily="34" charset="-122"/>
                <a:ea typeface="微软雅黑 Light" panose="020B0502040204020203" pitchFamily="34" charset="-122"/>
                <a:cs typeface="+mn-ea"/>
                <a:sym typeface="+mn-lt"/>
              </a:rPr>
              <a:t>2k</a:t>
            </a:r>
            <a:r>
              <a:rPr lang="zh-CN" altLang="en-US" dirty="0">
                <a:latin typeface="Microsoft YaHei UI Light" panose="020B0502040204020203" pitchFamily="34" charset="-122"/>
                <a:ea typeface="微软雅黑 Light" panose="020B0502040204020203" pitchFamily="34" charset="-122"/>
                <a:cs typeface="+mn-ea"/>
                <a:sym typeface="+mn-lt"/>
              </a:rPr>
              <a:t>个得分，分别表示该位置的</a:t>
            </a:r>
            <a:r>
              <a:rPr lang="en-US" altLang="zh-CN" dirty="0">
                <a:latin typeface="Microsoft YaHei UI Light" panose="020B0502040204020203" pitchFamily="34" charset="-122"/>
                <a:ea typeface="微软雅黑 Light" panose="020B0502040204020203" pitchFamily="34" charset="-122"/>
                <a:cs typeface="+mn-ea"/>
                <a:sym typeface="+mn-lt"/>
              </a:rPr>
              <a:t>k</a:t>
            </a:r>
            <a:r>
              <a:rPr lang="zh-CN" altLang="en-US" dirty="0">
                <a:latin typeface="Microsoft YaHei UI Light" panose="020B0502040204020203" pitchFamily="34" charset="-122"/>
                <a:ea typeface="微软雅黑 Light" panose="020B0502040204020203" pitchFamily="34" charset="-122"/>
                <a:cs typeface="+mn-ea"/>
                <a:sym typeface="+mn-lt"/>
              </a:rPr>
              <a:t>个</a:t>
            </a:r>
            <a:r>
              <a:rPr lang="en-US" altLang="zh-CN" dirty="0">
                <a:latin typeface="Microsoft YaHei UI Light" panose="020B0502040204020203" pitchFamily="34" charset="-122"/>
                <a:ea typeface="微软雅黑 Light" panose="020B0502040204020203" pitchFamily="34" charset="-122"/>
                <a:cs typeface="+mn-ea"/>
                <a:sym typeface="+mn-lt"/>
              </a:rPr>
              <a:t>anchor</a:t>
            </a:r>
            <a:r>
              <a:rPr lang="zh-CN" altLang="en-US" dirty="0">
                <a:latin typeface="Microsoft YaHei UI Light" panose="020B0502040204020203" pitchFamily="34" charset="-122"/>
                <a:ea typeface="微软雅黑 Light" panose="020B0502040204020203" pitchFamily="34" charset="-122"/>
                <a:cs typeface="+mn-ea"/>
                <a:sym typeface="+mn-lt"/>
              </a:rPr>
              <a:t>为前景</a:t>
            </a:r>
            <a:r>
              <a:rPr lang="en-US" altLang="zh-CN" dirty="0">
                <a:latin typeface="Microsoft YaHei UI Light" panose="020B0502040204020203" pitchFamily="34" charset="-122"/>
                <a:ea typeface="微软雅黑 Light" panose="020B0502040204020203" pitchFamily="34" charset="-122"/>
                <a:cs typeface="+mn-ea"/>
                <a:sym typeface="+mn-lt"/>
              </a:rPr>
              <a:t>/</a:t>
            </a:r>
            <a:r>
              <a:rPr lang="zh-CN" altLang="en-US" dirty="0">
                <a:latin typeface="Microsoft YaHei UI Light" panose="020B0502040204020203" pitchFamily="34" charset="-122"/>
                <a:ea typeface="微软雅黑 Light" panose="020B0502040204020203" pitchFamily="34" charset="-122"/>
                <a:cs typeface="+mn-ea"/>
                <a:sym typeface="+mn-lt"/>
              </a:rPr>
              <a:t>背景的概率；同时每个位置输出</a:t>
            </a:r>
            <a:r>
              <a:rPr lang="en-US" altLang="zh-CN" dirty="0">
                <a:latin typeface="Microsoft YaHei UI Light" panose="020B0502040204020203" pitchFamily="34" charset="-122"/>
                <a:ea typeface="微软雅黑 Light" panose="020B0502040204020203" pitchFamily="34" charset="-122"/>
                <a:cs typeface="+mn-ea"/>
                <a:sym typeface="+mn-lt"/>
              </a:rPr>
              <a:t>4k</a:t>
            </a:r>
            <a:r>
              <a:rPr lang="zh-CN" altLang="en-US" dirty="0">
                <a:latin typeface="Microsoft YaHei UI Light" panose="020B0502040204020203" pitchFamily="34" charset="-122"/>
                <a:ea typeface="微软雅黑 Light" panose="020B0502040204020203" pitchFamily="34" charset="-122"/>
                <a:cs typeface="+mn-ea"/>
                <a:sym typeface="+mn-lt"/>
              </a:rPr>
              <a:t>个框位置参数，用 </a:t>
            </a:r>
            <a:r>
              <a:rPr lang="en-US" altLang="zh-CN" dirty="0">
                <a:latin typeface="Microsoft YaHei UI Light" panose="020B0502040204020203" pitchFamily="34" charset="-122"/>
                <a:ea typeface="微软雅黑 Light" panose="020B0502040204020203" pitchFamily="34" charset="-122"/>
                <a:cs typeface="+mn-ea"/>
                <a:sym typeface="+mn-lt"/>
              </a:rPr>
              <a:t>[</a:t>
            </a:r>
            <a:r>
              <a:rPr lang="en-US" altLang="zh-CN" dirty="0" err="1">
                <a:latin typeface="Microsoft YaHei UI Light" panose="020B0502040204020203" pitchFamily="34" charset="-122"/>
                <a:ea typeface="微软雅黑 Light" panose="020B0502040204020203" pitchFamily="34" charset="-122"/>
                <a:cs typeface="+mn-ea"/>
                <a:sym typeface="+mn-lt"/>
              </a:rPr>
              <a:t>x,y,w,h</a:t>
            </a:r>
            <a:r>
              <a:rPr lang="en-US" altLang="zh-CN" dirty="0">
                <a:latin typeface="Microsoft YaHei UI Light" panose="020B0502040204020203" pitchFamily="34" charset="-122"/>
                <a:ea typeface="微软雅黑 Light" panose="020B0502040204020203" pitchFamily="34" charset="-122"/>
                <a:cs typeface="+mn-ea"/>
                <a:sym typeface="+mn-lt"/>
              </a:rPr>
              <a:t>] </a:t>
            </a:r>
            <a:r>
              <a:rPr lang="zh-CN" altLang="en-US" dirty="0">
                <a:latin typeface="Microsoft YaHei UI Light" panose="020B0502040204020203" pitchFamily="34" charset="-122"/>
                <a:ea typeface="微软雅黑 Light" panose="020B0502040204020203" pitchFamily="34" charset="-122"/>
                <a:cs typeface="+mn-ea"/>
                <a:sym typeface="+mn-lt"/>
              </a:rPr>
              <a:t>四个坐标来表示 </a:t>
            </a:r>
            <a:r>
              <a:rPr lang="en-US" altLang="zh-CN" dirty="0">
                <a:latin typeface="Microsoft YaHei UI Light" panose="020B0502040204020203" pitchFamily="34" charset="-122"/>
                <a:ea typeface="微软雅黑 Light" panose="020B0502040204020203" pitchFamily="34" charset="-122"/>
                <a:cs typeface="+mn-ea"/>
                <a:sym typeface="+mn-lt"/>
              </a:rPr>
              <a:t>anchor</a:t>
            </a:r>
            <a:r>
              <a:rPr lang="zh-CN" altLang="en-US" dirty="0">
                <a:latin typeface="Microsoft YaHei UI Light" panose="020B0502040204020203" pitchFamily="34" charset="-122"/>
                <a:ea typeface="微软雅黑 Light" panose="020B0502040204020203" pitchFamily="34" charset="-122"/>
                <a:cs typeface="+mn-ea"/>
                <a:sym typeface="+mn-lt"/>
              </a:rPr>
              <a:t>的位置。</a:t>
            </a:r>
          </a:p>
        </p:txBody>
      </p:sp>
      <p:grpSp>
        <p:nvGrpSpPr>
          <p:cNvPr id="11" name="组合 10"/>
          <p:cNvGrpSpPr/>
          <p:nvPr/>
        </p:nvGrpSpPr>
        <p:grpSpPr>
          <a:xfrm>
            <a:off x="1770757" y="2220881"/>
            <a:ext cx="2139392" cy="1994256"/>
            <a:chOff x="5866092" y="2263194"/>
            <a:chExt cx="2409825" cy="2333626"/>
          </a:xfrm>
        </p:grpSpPr>
        <p:pic>
          <p:nvPicPr>
            <p:cNvPr id="12" name="Picture 2" descr="https://img2018.cnblogs.com/blog/1328274/201809/1328274-20180921091813366-202479766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6092" y="2263194"/>
              <a:ext cx="2409825" cy="2333626"/>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p:cNvSpPr/>
            <p:nvPr/>
          </p:nvSpPr>
          <p:spPr>
            <a:xfrm>
              <a:off x="7001435" y="3379693"/>
              <a:ext cx="98611" cy="10757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UI Light" panose="020B0502040204020203" pitchFamily="34" charset="-122"/>
                <a:ea typeface="微软雅黑 Light" panose="020B0502040204020203" pitchFamily="34" charset="-122"/>
                <a:cs typeface="+mn-ea"/>
                <a:sym typeface="+mn-lt"/>
              </a:endParaRPr>
            </a:p>
          </p:txBody>
        </p:sp>
      </p:grpSp>
      <p:sp>
        <p:nvSpPr>
          <p:cNvPr id="14" name="矩形 13"/>
          <p:cNvSpPr/>
          <p:nvPr/>
        </p:nvSpPr>
        <p:spPr>
          <a:xfrm>
            <a:off x="801816" y="4432228"/>
            <a:ext cx="4111147" cy="1754326"/>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dirty="0">
                <a:latin typeface="Microsoft YaHei UI Light" panose="020B0502040204020203" pitchFamily="34" charset="-122"/>
                <a:ea typeface="微软雅黑 Light" panose="020B0502040204020203" pitchFamily="34" charset="-122"/>
                <a:cs typeface="+mn-ea"/>
                <a:sym typeface="+mn-lt"/>
              </a:rPr>
              <a:t>对于</a:t>
            </a:r>
            <a:r>
              <a:rPr lang="en-US" altLang="zh-CN" dirty="0">
                <a:latin typeface="Microsoft YaHei UI Light" panose="020B0502040204020203" pitchFamily="34" charset="-122"/>
                <a:ea typeface="微软雅黑 Light" panose="020B0502040204020203" pitchFamily="34" charset="-122"/>
                <a:cs typeface="+mn-ea"/>
                <a:sym typeface="+mn-lt"/>
              </a:rPr>
              <a:t>feature map</a:t>
            </a:r>
            <a:r>
              <a:rPr lang="zh-CN" altLang="en-US" dirty="0">
                <a:latin typeface="Microsoft YaHei UI Light" panose="020B0502040204020203" pitchFamily="34" charset="-122"/>
                <a:ea typeface="微软雅黑 Light" panose="020B0502040204020203" pitchFamily="34" charset="-122"/>
                <a:cs typeface="+mn-ea"/>
                <a:sym typeface="+mn-lt"/>
              </a:rPr>
              <a:t>的每个位置，考虑</a:t>
            </a:r>
            <a:r>
              <a:rPr lang="en-US" altLang="zh-CN" dirty="0">
                <a:latin typeface="Microsoft YaHei UI Light" panose="020B0502040204020203" pitchFamily="34" charset="-122"/>
                <a:ea typeface="微软雅黑 Light" panose="020B0502040204020203" pitchFamily="34" charset="-122"/>
                <a:cs typeface="+mn-ea"/>
                <a:sym typeface="+mn-lt"/>
              </a:rPr>
              <a:t>9</a:t>
            </a:r>
            <a:r>
              <a:rPr lang="zh-CN" altLang="en-US" dirty="0">
                <a:latin typeface="Microsoft YaHei UI Light" panose="020B0502040204020203" pitchFamily="34" charset="-122"/>
                <a:ea typeface="微软雅黑 Light" panose="020B0502040204020203" pitchFamily="34" charset="-122"/>
                <a:cs typeface="+mn-ea"/>
                <a:sym typeface="+mn-lt"/>
              </a:rPr>
              <a:t>个可能的候选框：三种面积分别是</a:t>
            </a:r>
            <a:r>
              <a:rPr lang="en-US" altLang="zh-CN" dirty="0">
                <a:latin typeface="Microsoft YaHei UI Light" panose="020B0502040204020203" pitchFamily="34" charset="-122"/>
                <a:ea typeface="微软雅黑 Light" panose="020B0502040204020203" pitchFamily="34" charset="-122"/>
                <a:cs typeface="+mn-ea"/>
                <a:sym typeface="+mn-lt"/>
              </a:rPr>
              <a:t>128×128, 256×256, 512×512</a:t>
            </a:r>
            <a:r>
              <a:rPr lang="zh-CN" altLang="en-US" dirty="0">
                <a:latin typeface="Microsoft YaHei UI Light" panose="020B0502040204020203" pitchFamily="34" charset="-122"/>
                <a:ea typeface="微软雅黑 Light" panose="020B0502040204020203" pitchFamily="34" charset="-122"/>
                <a:cs typeface="+mn-ea"/>
                <a:sym typeface="+mn-lt"/>
              </a:rPr>
              <a:t>，每种面积又分成</a:t>
            </a:r>
            <a:r>
              <a:rPr lang="en-US" altLang="zh-CN" dirty="0">
                <a:latin typeface="Microsoft YaHei UI Light" panose="020B0502040204020203" pitchFamily="34" charset="-122"/>
                <a:ea typeface="微软雅黑 Light" panose="020B0502040204020203" pitchFamily="34" charset="-122"/>
                <a:cs typeface="+mn-ea"/>
                <a:sym typeface="+mn-lt"/>
              </a:rPr>
              <a:t>3</a:t>
            </a:r>
            <a:r>
              <a:rPr lang="zh-CN" altLang="en-US" dirty="0">
                <a:latin typeface="Microsoft YaHei UI Light" panose="020B0502040204020203" pitchFamily="34" charset="-122"/>
                <a:ea typeface="微软雅黑 Light" panose="020B0502040204020203" pitchFamily="34" charset="-122"/>
                <a:cs typeface="+mn-ea"/>
                <a:sym typeface="+mn-lt"/>
              </a:rPr>
              <a:t>种长宽比，分别是</a:t>
            </a:r>
            <a:r>
              <a:rPr lang="en-US" altLang="zh-CN" dirty="0">
                <a:latin typeface="Microsoft YaHei UI Light" panose="020B0502040204020203" pitchFamily="34" charset="-122"/>
                <a:ea typeface="微软雅黑 Light" panose="020B0502040204020203" pitchFamily="34" charset="-122"/>
                <a:cs typeface="+mn-ea"/>
                <a:sym typeface="+mn-lt"/>
              </a:rPr>
              <a:t>2:1, 1:2, 1:1 </a:t>
            </a:r>
            <a:r>
              <a:rPr lang="zh-CN" altLang="en-US" dirty="0">
                <a:latin typeface="Microsoft YaHei UI Light" panose="020B0502040204020203" pitchFamily="34" charset="-122"/>
                <a:ea typeface="微软雅黑 Light" panose="020B0502040204020203" pitchFamily="34" charset="-122"/>
                <a:cs typeface="+mn-ea"/>
                <a:sym typeface="+mn-lt"/>
              </a:rPr>
              <a:t>，这些候选框称为</a:t>
            </a:r>
            <a:r>
              <a:rPr lang="en-US" altLang="zh-CN" dirty="0">
                <a:latin typeface="Microsoft YaHei UI Light" panose="020B0502040204020203" pitchFamily="34" charset="-122"/>
                <a:ea typeface="微软雅黑 Light" panose="020B0502040204020203" pitchFamily="34" charset="-122"/>
                <a:cs typeface="+mn-ea"/>
                <a:sym typeface="+mn-lt"/>
              </a:rPr>
              <a:t>anchors</a:t>
            </a:r>
            <a:r>
              <a:rPr lang="zh-CN" altLang="en-US" dirty="0">
                <a:latin typeface="Microsoft YaHei UI Light" panose="020B0502040204020203" pitchFamily="34" charset="-122"/>
                <a:ea typeface="微软雅黑 Light" panose="020B0502040204020203" pitchFamily="34" charset="-122"/>
                <a:cs typeface="+mn-ea"/>
                <a:sym typeface="+mn-lt"/>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R-CNN</a:t>
            </a:r>
            <a:r>
              <a:rPr lang="zh-CN" altLang="en-US" sz="2800" b="1" dirty="0"/>
              <a:t>系列</a:t>
            </a:r>
            <a:endParaRPr lang="en-US" altLang="zh-CN" sz="2800" b="1" dirty="0"/>
          </a:p>
        </p:txBody>
      </p:sp>
      <p:pic>
        <p:nvPicPr>
          <p:cNvPr id="8" name="图片 7"/>
          <p:cNvPicPr>
            <a:picLocks noChangeAspect="1"/>
          </p:cNvPicPr>
          <p:nvPr/>
        </p:nvPicPr>
        <p:blipFill>
          <a:blip r:embed="rId5"/>
          <a:stretch>
            <a:fillRect/>
          </a:stretch>
        </p:blipFill>
        <p:spPr>
          <a:xfrm>
            <a:off x="1447364" y="1648913"/>
            <a:ext cx="7835153" cy="1780407"/>
          </a:xfrm>
          <a:prstGeom prst="rect">
            <a:avLst/>
          </a:prstGeom>
        </p:spPr>
      </p:pic>
      <p:sp>
        <p:nvSpPr>
          <p:cNvPr id="9" name="矩形 8"/>
          <p:cNvSpPr/>
          <p:nvPr/>
        </p:nvSpPr>
        <p:spPr>
          <a:xfrm>
            <a:off x="4834848" y="3816581"/>
            <a:ext cx="5445482"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solidFill>
                  <a:srgbClr val="4F4F4F"/>
                </a:solidFill>
                <a:latin typeface="Microsoft YaHei UI Light" panose="020B0502040204020203" pitchFamily="34" charset="-122"/>
                <a:ea typeface="微软雅黑 Light" panose="020B0502040204020203" pitchFamily="34" charset="-122"/>
                <a:cs typeface="+mn-ea"/>
                <a:sym typeface="+mn-lt"/>
              </a:rPr>
              <a:t>从</a:t>
            </a:r>
            <a:r>
              <a:rPr lang="en-US" altLang="zh-CN" dirty="0">
                <a:solidFill>
                  <a:srgbClr val="4F4F4F"/>
                </a:solidFill>
                <a:latin typeface="Microsoft YaHei UI Light" panose="020B0502040204020203" pitchFamily="34" charset="-122"/>
                <a:ea typeface="微软雅黑 Light" panose="020B0502040204020203" pitchFamily="34" charset="-122"/>
                <a:cs typeface="+mn-ea"/>
                <a:sym typeface="+mn-lt"/>
              </a:rPr>
              <a:t>R-CNN</a:t>
            </a:r>
            <a:r>
              <a:rPr lang="zh-CN" altLang="en-US" dirty="0">
                <a:solidFill>
                  <a:srgbClr val="4F4F4F"/>
                </a:solidFill>
                <a:latin typeface="Microsoft YaHei UI Light" panose="020B0502040204020203" pitchFamily="34" charset="-122"/>
                <a:ea typeface="微软雅黑 Light" panose="020B0502040204020203" pitchFamily="34" charset="-122"/>
                <a:cs typeface="+mn-ea"/>
                <a:sym typeface="+mn-lt"/>
              </a:rPr>
              <a:t>到</a:t>
            </a:r>
            <a:r>
              <a:rPr lang="en-US" altLang="zh-CN" dirty="0">
                <a:solidFill>
                  <a:srgbClr val="4F4F4F"/>
                </a:solidFill>
                <a:latin typeface="Microsoft YaHei UI Light" panose="020B0502040204020203" pitchFamily="34" charset="-122"/>
                <a:ea typeface="微软雅黑 Light" panose="020B0502040204020203" pitchFamily="34" charset="-122"/>
                <a:cs typeface="+mn-ea"/>
                <a:sym typeface="+mn-lt"/>
              </a:rPr>
              <a:t>Fast R-CNN</a:t>
            </a:r>
            <a:r>
              <a:rPr lang="zh-CN" altLang="en-US" dirty="0">
                <a:solidFill>
                  <a:srgbClr val="4F4F4F"/>
                </a:solidFill>
                <a:latin typeface="Microsoft YaHei UI Light" panose="020B0502040204020203" pitchFamily="34" charset="-122"/>
                <a:ea typeface="微软雅黑 Light" panose="020B0502040204020203" pitchFamily="34" charset="-122"/>
                <a:cs typeface="+mn-ea"/>
                <a:sym typeface="+mn-lt"/>
              </a:rPr>
              <a:t>，再到</a:t>
            </a:r>
            <a:r>
              <a:rPr lang="en-US" altLang="zh-CN" dirty="0">
                <a:solidFill>
                  <a:srgbClr val="4F4F4F"/>
                </a:solidFill>
                <a:latin typeface="Microsoft YaHei UI Light" panose="020B0502040204020203" pitchFamily="34" charset="-122"/>
                <a:ea typeface="微软雅黑 Light" panose="020B0502040204020203" pitchFamily="34" charset="-122"/>
                <a:cs typeface="+mn-ea"/>
                <a:sym typeface="+mn-lt"/>
              </a:rPr>
              <a:t>Faster R-CNN</a:t>
            </a:r>
            <a:r>
              <a:rPr lang="zh-CN" altLang="en-US" dirty="0">
                <a:solidFill>
                  <a:srgbClr val="4F4F4F"/>
                </a:solidFill>
                <a:latin typeface="Microsoft YaHei UI Light" panose="020B0502040204020203" pitchFamily="34" charset="-122"/>
                <a:ea typeface="微软雅黑 Light" panose="020B0502040204020203" pitchFamily="34" charset="-122"/>
                <a:cs typeface="+mn-ea"/>
                <a:sym typeface="+mn-lt"/>
              </a:rPr>
              <a:t>，目标检测的四个基本步骤（候选区域生成，特征提取，分类，位置调整）终于被统一到一个深度网络框架之内，大大提高了运行速度。</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p:graphicFrame>
        <p:nvGraphicFramePr>
          <p:cNvPr id="11" name="表格 10"/>
          <p:cNvGraphicFramePr>
            <a:graphicFrameLocks noGrp="1"/>
          </p:cNvGraphicFramePr>
          <p:nvPr/>
        </p:nvGraphicFramePr>
        <p:xfrm>
          <a:off x="1344749" y="3760355"/>
          <a:ext cx="3038527" cy="1610578"/>
        </p:xfrm>
        <a:graphic>
          <a:graphicData uri="http://schemas.openxmlformats.org/drawingml/2006/table">
            <a:tbl>
              <a:tblPr firstRow="1" bandRow="1">
                <a:tableStyleId>{3B4B98B0-60AC-42C2-AFA5-B58CD77FA1E5}</a:tableStyleId>
              </a:tblPr>
              <a:tblGrid>
                <a:gridCol w="1129045">
                  <a:extLst>
                    <a:ext uri="{9D8B030D-6E8A-4147-A177-3AD203B41FA5}">
                      <a16:colId xmlns:a16="http://schemas.microsoft.com/office/drawing/2014/main" val="20000"/>
                    </a:ext>
                  </a:extLst>
                </a:gridCol>
                <a:gridCol w="966213">
                  <a:extLst>
                    <a:ext uri="{9D8B030D-6E8A-4147-A177-3AD203B41FA5}">
                      <a16:colId xmlns:a16="http://schemas.microsoft.com/office/drawing/2014/main" val="20001"/>
                    </a:ext>
                  </a:extLst>
                </a:gridCol>
                <a:gridCol w="943269">
                  <a:extLst>
                    <a:ext uri="{9D8B030D-6E8A-4147-A177-3AD203B41FA5}">
                      <a16:colId xmlns:a16="http://schemas.microsoft.com/office/drawing/2014/main" val="20002"/>
                    </a:ext>
                  </a:extLst>
                </a:gridCol>
              </a:tblGrid>
              <a:tr h="370840">
                <a:tc>
                  <a:txBody>
                    <a:bodyPr/>
                    <a:lstStyle/>
                    <a:p>
                      <a:pPr algn="ctr"/>
                      <a:r>
                        <a:rPr lang="zh-CN" altLang="en-US" sz="1200" dirty="0">
                          <a:latin typeface="+mn-lt"/>
                          <a:ea typeface="+mn-ea"/>
                          <a:cs typeface="+mn-ea"/>
                          <a:sym typeface="+mn-lt"/>
                        </a:rPr>
                        <a:t>网络</a:t>
                      </a:r>
                    </a:p>
                  </a:txBody>
                  <a:tcPr/>
                </a:tc>
                <a:tc>
                  <a:txBody>
                    <a:bodyPr/>
                    <a:lstStyle/>
                    <a:p>
                      <a:pPr algn="ctr"/>
                      <a:r>
                        <a:rPr lang="en-US" altLang="zh-CN" sz="1200" dirty="0" err="1">
                          <a:latin typeface="+mn-lt"/>
                          <a:ea typeface="+mn-ea"/>
                          <a:cs typeface="+mn-ea"/>
                          <a:sym typeface="+mn-lt"/>
                        </a:rPr>
                        <a:t>mAP</a:t>
                      </a:r>
                      <a:endParaRPr lang="en-US" altLang="zh-CN" sz="1200" dirty="0">
                        <a:latin typeface="+mn-lt"/>
                        <a:ea typeface="+mn-ea"/>
                        <a:cs typeface="+mn-ea"/>
                        <a:sym typeface="+mn-lt"/>
                      </a:endParaRPr>
                    </a:p>
                    <a:p>
                      <a:pPr algn="ctr"/>
                      <a:r>
                        <a:rPr lang="en-US" altLang="zh-CN" sz="1200" dirty="0">
                          <a:latin typeface="+mn-lt"/>
                          <a:ea typeface="+mn-ea"/>
                          <a:cs typeface="+mn-ea"/>
                          <a:sym typeface="+mn-lt"/>
                        </a:rPr>
                        <a:t>(VOC2012)</a:t>
                      </a:r>
                      <a:endParaRPr lang="zh-CN" altLang="en-US" sz="1200" dirty="0">
                        <a:latin typeface="+mn-lt"/>
                        <a:ea typeface="+mn-ea"/>
                        <a:cs typeface="+mn-ea"/>
                        <a:sym typeface="+mn-lt"/>
                      </a:endParaRPr>
                    </a:p>
                  </a:txBody>
                  <a:tcPr/>
                </a:tc>
                <a:tc>
                  <a:txBody>
                    <a:bodyPr/>
                    <a:lstStyle/>
                    <a:p>
                      <a:pPr algn="ctr"/>
                      <a:r>
                        <a:rPr lang="zh-CN" altLang="en-US" sz="1200" dirty="0">
                          <a:latin typeface="+mn-lt"/>
                          <a:ea typeface="+mn-ea"/>
                          <a:cs typeface="+mn-ea"/>
                          <a:sym typeface="+mn-lt"/>
                        </a:rPr>
                        <a:t>单帧检测时间</a:t>
                      </a:r>
                    </a:p>
                  </a:txBody>
                  <a:tcPr/>
                </a:tc>
                <a:extLst>
                  <a:ext uri="{0D108BD9-81ED-4DB2-BD59-A6C34878D82A}">
                    <a16:rowId xmlns:a16="http://schemas.microsoft.com/office/drawing/2014/main" val="10000"/>
                  </a:ext>
                </a:extLst>
              </a:tr>
              <a:tr h="411698">
                <a:tc>
                  <a:txBody>
                    <a:bodyPr/>
                    <a:lstStyle/>
                    <a:p>
                      <a:pPr algn="ctr"/>
                      <a:r>
                        <a:rPr lang="en-US" altLang="zh-CN" sz="1200" dirty="0">
                          <a:latin typeface="+mn-lt"/>
                          <a:ea typeface="+mn-ea"/>
                          <a:cs typeface="+mn-ea"/>
                          <a:sym typeface="+mn-lt"/>
                        </a:rPr>
                        <a:t>R-CNN</a:t>
                      </a:r>
                      <a:endParaRPr lang="zh-CN" altLang="en-US" sz="1200" dirty="0">
                        <a:latin typeface="+mn-lt"/>
                        <a:ea typeface="+mn-ea"/>
                        <a:cs typeface="+mn-ea"/>
                        <a:sym typeface="+mn-lt"/>
                      </a:endParaRPr>
                    </a:p>
                  </a:txBody>
                  <a:tcPr/>
                </a:tc>
                <a:tc>
                  <a:txBody>
                    <a:bodyPr/>
                    <a:lstStyle/>
                    <a:p>
                      <a:pPr algn="ctr"/>
                      <a:r>
                        <a:rPr lang="en-US" altLang="zh-CN" sz="1200" dirty="0">
                          <a:latin typeface="+mn-lt"/>
                          <a:ea typeface="+mn-ea"/>
                          <a:cs typeface="+mn-ea"/>
                          <a:sym typeface="+mn-lt"/>
                        </a:rPr>
                        <a:t>53.3%</a:t>
                      </a:r>
                      <a:endParaRPr lang="zh-CN" altLang="en-US" sz="1200" dirty="0">
                        <a:latin typeface="+mn-lt"/>
                        <a:ea typeface="+mn-ea"/>
                        <a:cs typeface="+mn-ea"/>
                        <a:sym typeface="+mn-lt"/>
                      </a:endParaRPr>
                    </a:p>
                  </a:txBody>
                  <a:tcPr/>
                </a:tc>
                <a:tc>
                  <a:txBody>
                    <a:bodyPr/>
                    <a:lstStyle/>
                    <a:p>
                      <a:pPr algn="ctr"/>
                      <a:r>
                        <a:rPr lang="en-US" altLang="zh-CN" sz="1200" dirty="0">
                          <a:latin typeface="+mn-lt"/>
                          <a:ea typeface="+mn-ea"/>
                          <a:cs typeface="+mn-ea"/>
                          <a:sym typeface="+mn-lt"/>
                        </a:rPr>
                        <a:t>50 s</a:t>
                      </a:r>
                      <a:endParaRPr lang="zh-CN" altLang="en-US" sz="1200" dirty="0">
                        <a:latin typeface="+mn-lt"/>
                        <a:ea typeface="+mn-ea"/>
                        <a:cs typeface="+mn-ea"/>
                        <a:sym typeface="+mn-lt"/>
                      </a:endParaRPr>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mn-lt"/>
                          <a:ea typeface="+mn-ea"/>
                          <a:cs typeface="+mn-ea"/>
                          <a:sym typeface="+mn-lt"/>
                        </a:rPr>
                        <a:t>Fast R-CNN</a:t>
                      </a:r>
                      <a:endParaRPr lang="zh-CN" altLang="en-US" sz="1200" dirty="0">
                        <a:latin typeface="+mn-lt"/>
                        <a:ea typeface="+mn-ea"/>
                        <a:cs typeface="+mn-ea"/>
                        <a:sym typeface="+mn-lt"/>
                      </a:endParaRPr>
                    </a:p>
                  </a:txBody>
                  <a:tcPr/>
                </a:tc>
                <a:tc>
                  <a:txBody>
                    <a:bodyPr/>
                    <a:lstStyle/>
                    <a:p>
                      <a:pPr algn="ctr"/>
                      <a:r>
                        <a:rPr lang="en-US" altLang="zh-CN" sz="1200" dirty="0">
                          <a:latin typeface="+mn-lt"/>
                          <a:ea typeface="+mn-ea"/>
                          <a:cs typeface="+mn-ea"/>
                          <a:sym typeface="+mn-lt"/>
                        </a:rPr>
                        <a:t>65.7%</a:t>
                      </a:r>
                      <a:endParaRPr lang="zh-CN" altLang="en-US" sz="1200" dirty="0">
                        <a:latin typeface="+mn-lt"/>
                        <a:ea typeface="+mn-ea"/>
                        <a:cs typeface="+mn-ea"/>
                        <a:sym typeface="+mn-lt"/>
                      </a:endParaRPr>
                    </a:p>
                  </a:txBody>
                  <a:tcPr/>
                </a:tc>
                <a:tc>
                  <a:txBody>
                    <a:bodyPr/>
                    <a:lstStyle/>
                    <a:p>
                      <a:pPr algn="ctr"/>
                      <a:r>
                        <a:rPr lang="en-US" altLang="zh-CN" sz="1200" dirty="0">
                          <a:latin typeface="+mn-lt"/>
                          <a:ea typeface="+mn-ea"/>
                          <a:cs typeface="+mn-ea"/>
                          <a:sym typeface="+mn-lt"/>
                        </a:rPr>
                        <a:t>2 s</a:t>
                      </a:r>
                      <a:endParaRPr lang="zh-CN" altLang="en-US" sz="1200" dirty="0">
                        <a:latin typeface="+mn-lt"/>
                        <a:ea typeface="+mn-ea"/>
                        <a:cs typeface="+mn-ea"/>
                        <a:sym typeface="+mn-lt"/>
                      </a:endParaRP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mn-lt"/>
                          <a:ea typeface="+mn-ea"/>
                          <a:cs typeface="+mn-ea"/>
                          <a:sym typeface="+mn-lt"/>
                        </a:rPr>
                        <a:t>Faster R-CNN</a:t>
                      </a:r>
                      <a:endParaRPr lang="zh-CN" altLang="en-US" sz="1200" dirty="0">
                        <a:latin typeface="+mn-lt"/>
                        <a:ea typeface="+mn-ea"/>
                        <a:cs typeface="+mn-ea"/>
                        <a:sym typeface="+mn-lt"/>
                      </a:endParaRPr>
                    </a:p>
                  </a:txBody>
                  <a:tcPr/>
                </a:tc>
                <a:tc>
                  <a:txBody>
                    <a:bodyPr/>
                    <a:lstStyle/>
                    <a:p>
                      <a:pPr algn="ctr"/>
                      <a:r>
                        <a:rPr lang="en-US" altLang="zh-CN" sz="1200" dirty="0">
                          <a:latin typeface="+mn-lt"/>
                          <a:ea typeface="+mn-ea"/>
                          <a:cs typeface="+mn-ea"/>
                          <a:sym typeface="+mn-lt"/>
                        </a:rPr>
                        <a:t>67.0%</a:t>
                      </a:r>
                      <a:endParaRPr lang="zh-CN" altLang="en-US" sz="1200" dirty="0">
                        <a:latin typeface="+mn-lt"/>
                        <a:ea typeface="+mn-ea"/>
                        <a:cs typeface="+mn-ea"/>
                        <a:sym typeface="+mn-lt"/>
                      </a:endParaRPr>
                    </a:p>
                  </a:txBody>
                  <a:tcPr/>
                </a:tc>
                <a:tc>
                  <a:txBody>
                    <a:bodyPr/>
                    <a:lstStyle/>
                    <a:p>
                      <a:pPr algn="ctr"/>
                      <a:r>
                        <a:rPr lang="en-US" altLang="zh-CN" sz="1200" dirty="0">
                          <a:latin typeface="+mn-lt"/>
                          <a:ea typeface="+mn-ea"/>
                          <a:cs typeface="+mn-ea"/>
                          <a:sym typeface="+mn-lt"/>
                        </a:rPr>
                        <a:t>0.2 s</a:t>
                      </a:r>
                      <a:endParaRPr lang="zh-CN" altLang="en-US" sz="1200" dirty="0">
                        <a:latin typeface="+mn-lt"/>
                        <a:ea typeface="+mn-ea"/>
                        <a:cs typeface="+mn-ea"/>
                        <a:sym typeface="+mn-lt"/>
                      </a:endParaRPr>
                    </a:p>
                  </a:txBody>
                  <a:tcPr/>
                </a:tc>
                <a:extLst>
                  <a:ext uri="{0D108BD9-81ED-4DB2-BD59-A6C34878D82A}">
                    <a16:rowId xmlns:a16="http://schemas.microsoft.com/office/drawing/2014/main" val="10003"/>
                  </a:ext>
                </a:extLst>
              </a:tr>
            </a:tbl>
          </a:graphicData>
        </a:graphic>
      </p:graphicFrame>
      <p:sp>
        <p:nvSpPr>
          <p:cNvPr id="12" name="矩形 11"/>
          <p:cNvSpPr/>
          <p:nvPr/>
        </p:nvSpPr>
        <p:spPr>
          <a:xfrm>
            <a:off x="751407" y="5876621"/>
            <a:ext cx="11011806" cy="461665"/>
          </a:xfrm>
          <a:prstGeom prst="rect">
            <a:avLst/>
          </a:prstGeom>
        </p:spPr>
        <p:txBody>
          <a:bodyPr wrap="square">
            <a:spAutoFit/>
          </a:bodyPr>
          <a:lstStyle/>
          <a:p>
            <a:pPr>
              <a:lnSpc>
                <a:spcPct val="150000"/>
              </a:lnSpc>
            </a:pPr>
            <a:r>
              <a:rPr lang="zh-CN" altLang="en-US" sz="1600" b="1" dirty="0">
                <a:latin typeface="Microsoft YaHei UI Light" panose="020B0502040204020203" pitchFamily="34" charset="-122"/>
                <a:ea typeface="微软雅黑 Light" panose="020B0502040204020203" pitchFamily="34" charset="-122"/>
                <a:cs typeface="+mn-ea"/>
                <a:sym typeface="+mn-lt"/>
              </a:rPr>
              <a:t>拓展：</a:t>
            </a:r>
            <a:r>
              <a:rPr lang="en-US" altLang="zh-CN" sz="1600" b="1" dirty="0">
                <a:latin typeface="Microsoft YaHei UI Light" panose="020B0502040204020203" pitchFamily="34" charset="-122"/>
                <a:ea typeface="微软雅黑 Light" panose="020B0502040204020203" pitchFamily="34" charset="-122"/>
                <a:cs typeface="+mn-ea"/>
                <a:sym typeface="+mn-lt"/>
              </a:rPr>
              <a:t>R-CNN</a:t>
            </a:r>
            <a:r>
              <a:rPr lang="zh-CN" altLang="en-US" sz="1600" b="1" dirty="0">
                <a:latin typeface="Microsoft YaHei UI Light" panose="020B0502040204020203" pitchFamily="34" charset="-122"/>
                <a:ea typeface="微软雅黑 Light" panose="020B0502040204020203" pitchFamily="34" charset="-122"/>
                <a:cs typeface="+mn-ea"/>
                <a:sym typeface="+mn-lt"/>
              </a:rPr>
              <a:t>训练相关</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Ross </a:t>
            </a:r>
            <a:r>
              <a:rPr lang="en-US" altLang="zh-CN" sz="1600" dirty="0" err="1">
                <a:latin typeface="Microsoft YaHei UI Light" panose="020B0502040204020203" pitchFamily="34" charset="-122"/>
                <a:ea typeface="微软雅黑 Light" panose="020B0502040204020203" pitchFamily="34" charset="-122"/>
                <a:cs typeface="+mn-ea"/>
                <a:sym typeface="+mn-lt"/>
              </a:rPr>
              <a:t>Girshick</a:t>
            </a:r>
            <a:r>
              <a:rPr lang="zh-CN" altLang="en-US" sz="1600" dirty="0">
                <a:latin typeface="Microsoft YaHei UI Light" panose="020B0502040204020203" pitchFamily="34" charset="-122"/>
                <a:ea typeface="微软雅黑 Light" panose="020B0502040204020203" pitchFamily="34" charset="-122"/>
                <a:cs typeface="+mn-ea"/>
                <a:sym typeface="+mn-lt"/>
              </a:rPr>
              <a:t>在</a:t>
            </a:r>
            <a:r>
              <a:rPr lang="en-US" altLang="zh-CN" sz="1600" dirty="0">
                <a:latin typeface="Microsoft YaHei UI Light" panose="020B0502040204020203" pitchFamily="34" charset="-122"/>
                <a:ea typeface="微软雅黑 Light" panose="020B0502040204020203" pitchFamily="34" charset="-122"/>
                <a:cs typeface="+mn-ea"/>
                <a:sym typeface="+mn-lt"/>
              </a:rPr>
              <a:t>ICCV15</a:t>
            </a:r>
            <a:r>
              <a:rPr lang="zh-CN" altLang="en-US" sz="1600" dirty="0">
                <a:latin typeface="Microsoft YaHei UI Light" panose="020B0502040204020203" pitchFamily="34" charset="-122"/>
                <a:ea typeface="微软雅黑 Light" panose="020B0502040204020203" pitchFamily="34" charset="-122"/>
                <a:cs typeface="+mn-ea"/>
                <a:sym typeface="+mn-lt"/>
              </a:rPr>
              <a:t>的演讲，</a:t>
            </a:r>
            <a:r>
              <a:rPr lang="en-US" altLang="zh-CN" sz="1600" dirty="0">
                <a:latin typeface="Microsoft YaHei UI Light" panose="020B0502040204020203" pitchFamily="34" charset="-122"/>
                <a:ea typeface="微软雅黑 Light" panose="020B0502040204020203" pitchFamily="34" charset="-122"/>
                <a:cs typeface="+mn-ea"/>
                <a:sym typeface="+mn-lt"/>
                <a:hlinkClick r:id="rId6" action="ppaction://hlinkfile"/>
              </a:rPr>
              <a:t>Training R-CNNs of various velocities(Slow, fast, and faster)</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基于</a:t>
            </a:r>
            <a:r>
              <a:rPr lang="en-US" altLang="zh-CN" sz="2800" b="1" dirty="0"/>
              <a:t>CNN</a:t>
            </a:r>
            <a:r>
              <a:rPr lang="zh-CN" altLang="en-US" sz="2800" b="1" dirty="0"/>
              <a:t>的图像检测算法</a:t>
            </a:r>
            <a:endParaRPr lang="en-US" altLang="zh-CN" sz="2800" b="1" dirty="0"/>
          </a:p>
        </p:txBody>
      </p:sp>
      <p:sp>
        <p:nvSpPr>
          <p:cNvPr id="8" name="内容占位符 2"/>
          <p:cNvSpPr txBox="1"/>
          <p:nvPr/>
        </p:nvSpPr>
        <p:spPr>
          <a:xfrm>
            <a:off x="787484" y="1614747"/>
            <a:ext cx="7659092" cy="2617788"/>
          </a:xfrm>
          <a:prstGeom prst="rect">
            <a:avLst/>
          </a:prstGeom>
        </p:spPr>
        <p:txBody>
          <a:bodyPr vert="horz">
            <a:norm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R-CNN</a:t>
            </a:r>
            <a:r>
              <a:rPr lang="zh-CN" altLang="en-US" sz="2400" dirty="0">
                <a:latin typeface="Microsoft YaHei UI Light" panose="020B0502040204020203" pitchFamily="34" charset="-122"/>
                <a:ea typeface="微软雅黑 Light" panose="020B0502040204020203" pitchFamily="34" charset="-122"/>
                <a:cs typeface="+mn-ea"/>
                <a:sym typeface="+mn-lt"/>
              </a:rPr>
              <a:t>系列</a:t>
            </a:r>
            <a:endParaRPr lang="en-US" altLang="zh-CN" sz="2400" dirty="0">
              <a:latin typeface="Microsoft YaHei UI Light" panose="020B0502040204020203" pitchFamily="34" charset="-122"/>
              <a:ea typeface="微软雅黑 Light" panose="020B0502040204020203" pitchFamily="34" charset="-122"/>
              <a:cs typeface="+mn-ea"/>
              <a:sym typeface="+mn-lt"/>
            </a:endParaRP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YOLO</a:t>
            </a:r>
          </a:p>
          <a:p>
            <a:pPr>
              <a:lnSpc>
                <a:spcPct val="150000"/>
              </a:lnSpc>
              <a:buFont typeface="Wingdings" panose="05000000000000000000" pitchFamily="2" charset="2"/>
              <a:buChar char="l"/>
            </a:pPr>
            <a:r>
              <a:rPr lang="en-US" altLang="zh-CN" sz="2400" dirty="0">
                <a:latin typeface="Microsoft YaHei UI Light" panose="020B0502040204020203" pitchFamily="34" charset="-122"/>
                <a:ea typeface="微软雅黑 Light" panose="020B0502040204020203" pitchFamily="34" charset="-122"/>
                <a:cs typeface="+mn-ea"/>
                <a:sym typeface="+mn-lt"/>
              </a:rPr>
              <a:t>SSD</a:t>
            </a:r>
          </a:p>
        </p:txBody>
      </p:sp>
      <p:sp>
        <p:nvSpPr>
          <p:cNvPr id="9" name="矩形 8"/>
          <p:cNvSpPr/>
          <p:nvPr/>
        </p:nvSpPr>
        <p:spPr>
          <a:xfrm>
            <a:off x="787484" y="4756597"/>
            <a:ext cx="8642230" cy="1200329"/>
          </a:xfrm>
          <a:prstGeom prst="rect">
            <a:avLst/>
          </a:prstGeom>
          <a:solidFill>
            <a:srgbClr val="EDF0CA"/>
          </a:solidFill>
          <a:ln w="19050">
            <a:solidFill>
              <a:srgbClr val="181818"/>
            </a:solidFill>
          </a:ln>
        </p:spPr>
        <p:txBody>
          <a:bodyPr wrap="square">
            <a:spAutoFit/>
          </a:bodyPr>
          <a:lstStyle/>
          <a:p>
            <a:pPr>
              <a:lnSpc>
                <a:spcPct val="150000"/>
              </a:lnSpc>
            </a:pPr>
            <a:r>
              <a:rPr lang="zh-CN" altLang="en-US" sz="1600" u="sng" dirty="0">
                <a:latin typeface="Microsoft YaHei UI Light" panose="020B0502040204020203" pitchFamily="34" charset="-122"/>
                <a:ea typeface="微软雅黑 Light" panose="020B0502040204020203" pitchFamily="34" charset="-122"/>
                <a:cs typeface="+mn-ea"/>
                <a:sym typeface="+mn-lt"/>
              </a:rPr>
              <a:t>目前，基于深度学习的目标检测算法大致分为两类： </a:t>
            </a:r>
            <a:br>
              <a:rPr lang="zh-CN" altLang="en-US" sz="1600" u="sng" dirty="0">
                <a:latin typeface="Microsoft YaHei UI Light" panose="020B0502040204020203" pitchFamily="34" charset="-122"/>
                <a:ea typeface="微软雅黑 Light" panose="020B0502040204020203" pitchFamily="34" charset="-122"/>
                <a:cs typeface="+mn-ea"/>
                <a:sym typeface="+mn-lt"/>
              </a:rPr>
            </a:br>
            <a:r>
              <a:rPr lang="en-US" altLang="zh-CN" sz="1600" u="sng" dirty="0">
                <a:latin typeface="Microsoft YaHei UI Light" panose="020B0502040204020203" pitchFamily="34" charset="-122"/>
                <a:ea typeface="微软雅黑 Light" panose="020B0502040204020203" pitchFamily="34" charset="-122"/>
                <a:cs typeface="+mn-ea"/>
                <a:sym typeface="+mn-lt"/>
              </a:rPr>
              <a:t>1.</a:t>
            </a:r>
            <a:r>
              <a:rPr lang="zh-CN" altLang="en-US" sz="1600" u="sng" dirty="0">
                <a:latin typeface="Microsoft YaHei UI Light" panose="020B0502040204020203" pitchFamily="34" charset="-122"/>
                <a:ea typeface="微软雅黑 Light" panose="020B0502040204020203" pitchFamily="34" charset="-122"/>
                <a:cs typeface="+mn-ea"/>
                <a:sym typeface="+mn-lt"/>
              </a:rPr>
              <a:t>两步走（</a:t>
            </a:r>
            <a:r>
              <a:rPr lang="en-US" altLang="zh-CN" sz="1600" u="sng" dirty="0">
                <a:latin typeface="Microsoft YaHei UI Light" panose="020B0502040204020203" pitchFamily="34" charset="-122"/>
                <a:ea typeface="微软雅黑 Light" panose="020B0502040204020203" pitchFamily="34" charset="-122"/>
                <a:cs typeface="+mn-ea"/>
                <a:sym typeface="+mn-lt"/>
              </a:rPr>
              <a:t>two-stage</a:t>
            </a:r>
            <a:r>
              <a:rPr lang="zh-CN" altLang="en-US" sz="1600" u="sng" dirty="0">
                <a:latin typeface="Microsoft YaHei UI Light" panose="020B0502040204020203" pitchFamily="34" charset="-122"/>
                <a:ea typeface="微软雅黑 Light" panose="020B0502040204020203" pitchFamily="34" charset="-122"/>
                <a:cs typeface="+mn-ea"/>
                <a:sym typeface="+mn-lt"/>
              </a:rPr>
              <a:t>）算法：基于候选区域方法，先产生边界框</a:t>
            </a:r>
            <a:r>
              <a:rPr lang="zh-CN" altLang="en-US" sz="1600" b="1" u="sng" dirty="0">
                <a:latin typeface="Microsoft YaHei UI Light" panose="020B0502040204020203" pitchFamily="34" charset="-122"/>
                <a:ea typeface="微软雅黑 Light" panose="020B0502040204020203" pitchFamily="34" charset="-122"/>
                <a:cs typeface="+mn-ea"/>
                <a:sym typeface="+mn-lt"/>
              </a:rPr>
              <a:t>，</a:t>
            </a:r>
            <a:r>
              <a:rPr lang="zh-CN" altLang="en-US" sz="1600" u="sng" dirty="0">
                <a:latin typeface="Microsoft YaHei UI Light" panose="020B0502040204020203" pitchFamily="34" charset="-122"/>
                <a:ea typeface="微软雅黑 Light" panose="020B0502040204020203" pitchFamily="34" charset="-122"/>
                <a:cs typeface="+mn-ea"/>
                <a:sym typeface="+mn-lt"/>
              </a:rPr>
              <a:t>再做</a:t>
            </a:r>
            <a:r>
              <a:rPr lang="en-US" altLang="zh-CN" sz="1600" u="sng" dirty="0">
                <a:latin typeface="Microsoft YaHei UI Light" panose="020B0502040204020203" pitchFamily="34" charset="-122"/>
                <a:ea typeface="微软雅黑 Light" panose="020B0502040204020203" pitchFamily="34" charset="-122"/>
                <a:cs typeface="+mn-ea"/>
                <a:sym typeface="+mn-lt"/>
              </a:rPr>
              <a:t>CNN</a:t>
            </a:r>
            <a:r>
              <a:rPr lang="zh-CN" altLang="en-US" sz="1600" u="sng" dirty="0">
                <a:latin typeface="Microsoft YaHei UI Light" panose="020B0502040204020203" pitchFamily="34" charset="-122"/>
                <a:ea typeface="微软雅黑 Light" panose="020B0502040204020203" pitchFamily="34" charset="-122"/>
                <a:cs typeface="+mn-ea"/>
                <a:sym typeface="+mn-lt"/>
              </a:rPr>
              <a:t>分类</a:t>
            </a:r>
            <a:r>
              <a:rPr lang="en-US" altLang="zh-CN" sz="1600" u="sng" dirty="0">
                <a:latin typeface="Microsoft YaHei UI Light" panose="020B0502040204020203" pitchFamily="34" charset="-122"/>
                <a:ea typeface="微软雅黑 Light" panose="020B0502040204020203" pitchFamily="34" charset="-122"/>
                <a:cs typeface="+mn-ea"/>
                <a:sym typeface="+mn-lt"/>
              </a:rPr>
              <a:t>(R-CNN</a:t>
            </a:r>
            <a:r>
              <a:rPr lang="zh-CN" altLang="en-US" sz="1600" u="sng" dirty="0">
                <a:latin typeface="Microsoft YaHei UI Light" panose="020B0502040204020203" pitchFamily="34" charset="-122"/>
                <a:ea typeface="微软雅黑 Light" panose="020B0502040204020203" pitchFamily="34" charset="-122"/>
                <a:cs typeface="+mn-ea"/>
                <a:sym typeface="+mn-lt"/>
              </a:rPr>
              <a:t>系列</a:t>
            </a:r>
            <a:r>
              <a:rPr lang="en-US" altLang="zh-CN" sz="1600" u="sng" dirty="0">
                <a:latin typeface="Microsoft YaHei UI Light" panose="020B0502040204020203" pitchFamily="34" charset="-122"/>
                <a:ea typeface="微软雅黑 Light" panose="020B0502040204020203" pitchFamily="34" charset="-122"/>
                <a:cs typeface="+mn-ea"/>
                <a:sym typeface="+mn-lt"/>
              </a:rPr>
              <a:t>)</a:t>
            </a:r>
            <a:r>
              <a:rPr lang="zh-CN" altLang="en-US" sz="1600" u="sng" dirty="0">
                <a:latin typeface="Microsoft YaHei UI Light" panose="020B0502040204020203" pitchFamily="34" charset="-122"/>
                <a:ea typeface="微软雅黑 Light" panose="020B0502040204020203" pitchFamily="34" charset="-122"/>
                <a:cs typeface="+mn-ea"/>
                <a:sym typeface="+mn-lt"/>
              </a:rPr>
              <a:t> </a:t>
            </a:r>
            <a:br>
              <a:rPr lang="zh-CN" altLang="en-US" sz="1600" u="sng" dirty="0">
                <a:latin typeface="Microsoft YaHei UI Light" panose="020B0502040204020203" pitchFamily="34" charset="-122"/>
                <a:ea typeface="微软雅黑 Light" panose="020B0502040204020203" pitchFamily="34" charset="-122"/>
                <a:cs typeface="+mn-ea"/>
                <a:sym typeface="+mn-lt"/>
              </a:rPr>
            </a:br>
            <a:r>
              <a:rPr lang="en-US" altLang="zh-CN" sz="1600" u="sng" dirty="0">
                <a:latin typeface="Microsoft YaHei UI Light" panose="020B0502040204020203" pitchFamily="34" charset="-122"/>
                <a:ea typeface="微软雅黑 Light" panose="020B0502040204020203" pitchFamily="34" charset="-122"/>
                <a:cs typeface="+mn-ea"/>
                <a:sym typeface="+mn-lt"/>
              </a:rPr>
              <a:t>2.</a:t>
            </a:r>
            <a:r>
              <a:rPr lang="zh-CN" altLang="en-US" sz="1600" u="sng" dirty="0">
                <a:latin typeface="Microsoft YaHei UI Light" panose="020B0502040204020203" pitchFamily="34" charset="-122"/>
                <a:ea typeface="微软雅黑 Light" panose="020B0502040204020203" pitchFamily="34" charset="-122"/>
                <a:cs typeface="+mn-ea"/>
                <a:sym typeface="+mn-lt"/>
              </a:rPr>
              <a:t>一步走（</a:t>
            </a:r>
            <a:r>
              <a:rPr lang="en-US" altLang="zh-CN" sz="1600" u="sng" dirty="0">
                <a:latin typeface="Microsoft YaHei UI Light" panose="020B0502040204020203" pitchFamily="34" charset="-122"/>
                <a:ea typeface="微软雅黑 Light" panose="020B0502040204020203" pitchFamily="34" charset="-122"/>
                <a:cs typeface="+mn-ea"/>
                <a:sym typeface="+mn-lt"/>
              </a:rPr>
              <a:t>one-stage</a:t>
            </a:r>
            <a:r>
              <a:rPr lang="zh-CN" altLang="en-US" sz="1600" u="sng" dirty="0">
                <a:latin typeface="Microsoft YaHei UI Light" panose="020B0502040204020203" pitchFamily="34" charset="-122"/>
                <a:ea typeface="微软雅黑 Light" panose="020B0502040204020203" pitchFamily="34" charset="-122"/>
                <a:cs typeface="+mn-ea"/>
                <a:sym typeface="+mn-lt"/>
              </a:rPr>
              <a:t>）算法：</a:t>
            </a:r>
            <a:r>
              <a:rPr lang="zh-CN" altLang="en-US" sz="1600" b="1" u="sng" dirty="0">
                <a:latin typeface="Microsoft YaHei UI Light" panose="020B0502040204020203" pitchFamily="34" charset="-122"/>
                <a:ea typeface="微软雅黑 Light" panose="020B0502040204020203" pitchFamily="34" charset="-122"/>
                <a:cs typeface="+mn-ea"/>
                <a:sym typeface="+mn-lt"/>
              </a:rPr>
              <a:t>对输入图像</a:t>
            </a:r>
            <a:r>
              <a:rPr lang="zh-CN" altLang="en-US" sz="1600" u="sng" dirty="0">
                <a:latin typeface="Microsoft YaHei UI Light" panose="020B0502040204020203" pitchFamily="34" charset="-122"/>
                <a:ea typeface="微软雅黑 Light" panose="020B0502040204020203" pitchFamily="34" charset="-122"/>
                <a:cs typeface="+mn-ea"/>
                <a:sym typeface="+mn-lt"/>
              </a:rPr>
              <a:t>直接处理，同时输出定位及其类别 </a:t>
            </a:r>
            <a:r>
              <a:rPr lang="en-US" altLang="zh-CN" sz="1600" u="sng" dirty="0">
                <a:latin typeface="Microsoft YaHei UI Light" panose="020B0502040204020203" pitchFamily="34" charset="-122"/>
                <a:ea typeface="微软雅黑 Light" panose="020B0502040204020203" pitchFamily="34" charset="-122"/>
                <a:cs typeface="+mn-ea"/>
                <a:sym typeface="+mn-lt"/>
              </a:rPr>
              <a:t>(YOLO</a:t>
            </a:r>
            <a:r>
              <a:rPr lang="zh-CN" altLang="en-US" sz="1600" u="sng" dirty="0">
                <a:latin typeface="Microsoft YaHei UI Light" panose="020B0502040204020203" pitchFamily="34" charset="-122"/>
                <a:ea typeface="微软雅黑 Light" panose="020B0502040204020203" pitchFamily="34" charset="-122"/>
                <a:cs typeface="+mn-ea"/>
                <a:sym typeface="+mn-lt"/>
              </a:rPr>
              <a:t>系列</a:t>
            </a:r>
            <a:r>
              <a:rPr lang="en-US" altLang="zh-CN" sz="1600" u="sng" dirty="0">
                <a:latin typeface="Microsoft YaHei UI Light" panose="020B0502040204020203" pitchFamily="34" charset="-122"/>
                <a:ea typeface="微软雅黑 Light" panose="020B0502040204020203" pitchFamily="34" charset="-122"/>
                <a:cs typeface="+mn-ea"/>
                <a:sym typeface="+mn-lt"/>
              </a:rPr>
              <a:t>)</a:t>
            </a:r>
            <a:r>
              <a:rPr lang="zh-CN" altLang="en-US" sz="1600" u="sng" dirty="0">
                <a:latin typeface="Microsoft YaHei UI Light" panose="020B0502040204020203" pitchFamily="34" charset="-122"/>
                <a:ea typeface="微软雅黑 Light" panose="020B0502040204020203" pitchFamily="34" charset="-122"/>
                <a:cs typeface="+mn-ea"/>
                <a:sym typeface="+mn-lt"/>
              </a:rPr>
              <a:t> </a:t>
            </a:r>
            <a:endParaRPr lang="en-US" altLang="zh-CN" sz="1600" u="sng" dirty="0">
              <a:latin typeface="Microsoft YaHei UI Light" panose="020B0502040204020203" pitchFamily="34" charset="-122"/>
              <a:ea typeface="微软雅黑 Light" panose="020B0502040204020203" pitchFamily="34" charset="-122"/>
              <a:cs typeface="+mn-ea"/>
              <a:sym typeface="+mn-lt"/>
            </a:endParaRPr>
          </a:p>
        </p:txBody>
      </p:sp>
      <p:sp>
        <p:nvSpPr>
          <p:cNvPr id="10" name="右大括号 9"/>
          <p:cNvSpPr/>
          <p:nvPr/>
        </p:nvSpPr>
        <p:spPr>
          <a:xfrm>
            <a:off x="2387666" y="2536779"/>
            <a:ext cx="251209" cy="773723"/>
          </a:xfrm>
          <a:prstGeom prst="rightBrace">
            <a:avLst/>
          </a:prstGeom>
          <a:noFill/>
          <a:ln w="15875" cap="flat" cmpd="sng">
            <a:solidFill>
              <a:srgbClr val="BC3649"/>
            </a:solidFill>
            <a:prstDash val="solid"/>
            <a:round/>
          </a:ln>
          <a:effectLst/>
        </p:spPr>
        <p:txBody>
          <a:bodyPr rtlCol="0" anchor="ctr"/>
          <a:lstStyle/>
          <a:p>
            <a:pPr algn="ctr"/>
            <a:endParaRPr lang="zh-CN" altLang="en-US"/>
          </a:p>
        </p:txBody>
      </p:sp>
      <p:sp>
        <p:nvSpPr>
          <p:cNvPr id="11" name="文本框 10"/>
          <p:cNvSpPr txBox="1"/>
          <p:nvPr/>
        </p:nvSpPr>
        <p:spPr>
          <a:xfrm>
            <a:off x="2910649" y="2738974"/>
            <a:ext cx="1292341" cy="369332"/>
          </a:xfrm>
          <a:prstGeom prst="rect">
            <a:avLst/>
          </a:prstGeom>
          <a:noFill/>
        </p:spPr>
        <p:txBody>
          <a:bodyPr wrap="none" rtlCol="0">
            <a:spAutoFit/>
          </a:bodyPr>
          <a:lstStyle/>
          <a:p>
            <a:r>
              <a:rPr lang="en-US" altLang="zh-CN" b="1" dirty="0">
                <a:solidFill>
                  <a:srgbClr val="C00000"/>
                </a:solidFill>
                <a:latin typeface="微软雅黑 Light" panose="020B0502040204020203" pitchFamily="34" charset="-122"/>
                <a:ea typeface="微软雅黑 Light" panose="020B0502040204020203" pitchFamily="34" charset="-122"/>
              </a:rPr>
              <a:t>One-stage</a:t>
            </a:r>
            <a:endParaRPr lang="zh-CN" altLang="en-US" b="1" dirty="0">
              <a:solidFill>
                <a:srgbClr val="C0000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a:t>Yolo</a:t>
            </a:r>
            <a:endParaRPr lang="en-US" altLang="zh-CN" sz="2800" b="1" dirty="0"/>
          </a:p>
        </p:txBody>
      </p:sp>
      <p:sp>
        <p:nvSpPr>
          <p:cNvPr id="8" name="内容占位符 2"/>
          <p:cNvSpPr txBox="1"/>
          <p:nvPr/>
        </p:nvSpPr>
        <p:spPr>
          <a:xfrm>
            <a:off x="479698" y="1618916"/>
            <a:ext cx="4835640" cy="1822926"/>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2000" dirty="0">
                <a:latin typeface="Microsoft YaHei UI Light" panose="020B0502040204020203" pitchFamily="34" charset="-122"/>
                <a:ea typeface="微软雅黑 Light" panose="020B0502040204020203" pitchFamily="34" charset="-122"/>
                <a:cs typeface="+mn-ea"/>
                <a:sym typeface="+mn-lt"/>
              </a:rPr>
              <a:t>YOLO(v1)</a:t>
            </a:r>
            <a:r>
              <a:rPr lang="zh-CN" altLang="en-US" sz="2000" dirty="0">
                <a:latin typeface="Microsoft YaHei UI Light" panose="020B0502040204020203" pitchFamily="34" charset="-122"/>
                <a:ea typeface="微软雅黑 Light" panose="020B0502040204020203" pitchFamily="34" charset="-122"/>
                <a:cs typeface="+mn-ea"/>
                <a:sym typeface="+mn-lt"/>
              </a:rPr>
              <a:t>：</a:t>
            </a:r>
            <a:r>
              <a:rPr lang="en-US" altLang="zh-CN" sz="2000" dirty="0" err="1">
                <a:latin typeface="Microsoft YaHei UI Light" panose="020B0502040204020203" pitchFamily="34" charset="-122"/>
                <a:ea typeface="微软雅黑 Light" panose="020B0502040204020203" pitchFamily="34" charset="-122"/>
                <a:cs typeface="+mn-ea"/>
                <a:sym typeface="+mn-lt"/>
              </a:rPr>
              <a:t>Redmon</a:t>
            </a:r>
            <a:r>
              <a:rPr lang="en-US" altLang="zh-CN" sz="2000" dirty="0">
                <a:latin typeface="Microsoft YaHei UI Light" panose="020B0502040204020203" pitchFamily="34" charset="-122"/>
                <a:ea typeface="微软雅黑 Light" panose="020B0502040204020203" pitchFamily="34" charset="-122"/>
                <a:cs typeface="+mn-ea"/>
                <a:sym typeface="+mn-lt"/>
              </a:rPr>
              <a:t> J, </a:t>
            </a:r>
            <a:r>
              <a:rPr lang="en-US" altLang="zh-CN" sz="2000" dirty="0" err="1">
                <a:latin typeface="Microsoft YaHei UI Light" panose="020B0502040204020203" pitchFamily="34" charset="-122"/>
                <a:ea typeface="微软雅黑 Light" panose="020B0502040204020203" pitchFamily="34" charset="-122"/>
                <a:cs typeface="+mn-ea"/>
                <a:sym typeface="+mn-lt"/>
              </a:rPr>
              <a:t>Divvala</a:t>
            </a:r>
            <a:r>
              <a:rPr lang="en-US" altLang="zh-CN" sz="2000" dirty="0">
                <a:latin typeface="Microsoft YaHei UI Light" panose="020B0502040204020203" pitchFamily="34" charset="-122"/>
                <a:ea typeface="微软雅黑 Light" panose="020B0502040204020203" pitchFamily="34" charset="-122"/>
                <a:cs typeface="+mn-ea"/>
                <a:sym typeface="+mn-lt"/>
              </a:rPr>
              <a:t> S, </a:t>
            </a:r>
            <a:r>
              <a:rPr lang="en-US" altLang="zh-CN" sz="2000" dirty="0" err="1">
                <a:latin typeface="Microsoft YaHei UI Light" panose="020B0502040204020203" pitchFamily="34" charset="-122"/>
                <a:ea typeface="微软雅黑 Light" panose="020B0502040204020203" pitchFamily="34" charset="-122"/>
                <a:cs typeface="+mn-ea"/>
                <a:sym typeface="+mn-lt"/>
              </a:rPr>
              <a:t>Girshick</a:t>
            </a:r>
            <a:r>
              <a:rPr lang="en-US" altLang="zh-CN" sz="2000" dirty="0">
                <a:latin typeface="Microsoft YaHei UI Light" panose="020B0502040204020203" pitchFamily="34" charset="-122"/>
                <a:ea typeface="微软雅黑 Light" panose="020B0502040204020203" pitchFamily="34" charset="-122"/>
                <a:cs typeface="+mn-ea"/>
                <a:sym typeface="+mn-lt"/>
              </a:rPr>
              <a:t> R, et al. You Only Look Once: Unified, Real-Time Object Detection[J]. 2015.</a:t>
            </a:r>
          </a:p>
          <a:p>
            <a:pPr>
              <a:lnSpc>
                <a:spcPct val="150000"/>
              </a:lnSpc>
              <a:buFont typeface="Wingdings" panose="05000000000000000000" pitchFamily="2" charset="2"/>
              <a:buChar char="n"/>
            </a:pPr>
            <a:r>
              <a:rPr lang="zh-CN" altLang="en-US" sz="2000" b="1" dirty="0">
                <a:latin typeface="Microsoft YaHei UI Light" panose="020B0502040204020203" pitchFamily="34" charset="-122"/>
                <a:ea typeface="微软雅黑 Light" panose="020B0502040204020203" pitchFamily="34" charset="-122"/>
                <a:cs typeface="+mn-ea"/>
                <a:sym typeface="+mn-lt"/>
              </a:rPr>
              <a:t>主要思想：</a:t>
            </a:r>
            <a:r>
              <a:rPr lang="zh-CN" altLang="en-US" sz="2000" dirty="0">
                <a:latin typeface="Microsoft YaHei UI Light" panose="020B0502040204020203" pitchFamily="34" charset="-122"/>
                <a:ea typeface="微软雅黑 Light" panose="020B0502040204020203" pitchFamily="34" charset="-122"/>
                <a:cs typeface="+mn-ea"/>
                <a:sym typeface="+mn-lt"/>
              </a:rPr>
              <a:t>将目标检测问题转换为直接从图像中提取</a:t>
            </a:r>
            <a:r>
              <a:rPr lang="en-US" altLang="zh-CN" sz="2000" dirty="0">
                <a:latin typeface="Microsoft YaHei UI Light" panose="020B0502040204020203" pitchFamily="34" charset="-122"/>
                <a:ea typeface="微软雅黑 Light" panose="020B0502040204020203" pitchFamily="34" charset="-122"/>
                <a:cs typeface="+mn-ea"/>
                <a:sym typeface="+mn-lt"/>
              </a:rPr>
              <a:t>bounding boxes</a:t>
            </a:r>
            <a:r>
              <a:rPr lang="zh-CN" altLang="en-US" sz="2000" dirty="0">
                <a:latin typeface="Microsoft YaHei UI Light" panose="020B0502040204020203" pitchFamily="34" charset="-122"/>
                <a:ea typeface="微软雅黑 Light" panose="020B0502040204020203" pitchFamily="34" charset="-122"/>
                <a:cs typeface="+mn-ea"/>
                <a:sym typeface="+mn-lt"/>
              </a:rPr>
              <a:t>和类别</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pic>
        <p:nvPicPr>
          <p:cNvPr id="9" name="图片 8"/>
          <p:cNvPicPr>
            <a:picLocks noChangeAspect="1"/>
          </p:cNvPicPr>
          <p:nvPr/>
        </p:nvPicPr>
        <p:blipFill>
          <a:blip r:embed="rId5"/>
          <a:stretch>
            <a:fillRect/>
          </a:stretch>
        </p:blipFill>
        <p:spPr>
          <a:xfrm>
            <a:off x="5423083" y="1131376"/>
            <a:ext cx="5829987" cy="3148891"/>
          </a:xfrm>
          <a:prstGeom prst="rect">
            <a:avLst/>
          </a:prstGeom>
        </p:spPr>
      </p:pic>
      <p:sp>
        <p:nvSpPr>
          <p:cNvPr id="10" name="内容占位符 2"/>
          <p:cNvSpPr txBox="1"/>
          <p:nvPr/>
        </p:nvSpPr>
        <p:spPr>
          <a:xfrm>
            <a:off x="725393" y="4526330"/>
            <a:ext cx="10522677" cy="1131699"/>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marL="0" indent="0">
              <a:lnSpc>
                <a:spcPct val="150000"/>
              </a:lnSpc>
              <a:buNone/>
            </a:pPr>
            <a:r>
              <a:rPr lang="zh-CN" altLang="en-US" sz="2000" dirty="0">
                <a:latin typeface="Microsoft YaHei UI Light" panose="020B0502040204020203" pitchFamily="34" charset="-122"/>
                <a:ea typeface="微软雅黑 Light" panose="020B0502040204020203" pitchFamily="34" charset="-122"/>
                <a:cs typeface="+mn-ea"/>
                <a:sym typeface="+mn-lt"/>
              </a:rPr>
              <a:t>概率的</a:t>
            </a:r>
            <a:r>
              <a:rPr lang="zh-CN" altLang="en-US" sz="2000" b="1" dirty="0">
                <a:solidFill>
                  <a:srgbClr val="C00000"/>
                </a:solidFill>
                <a:latin typeface="Microsoft YaHei UI Light" panose="020B0502040204020203" pitchFamily="34" charset="-122"/>
                <a:ea typeface="微软雅黑 Light" panose="020B0502040204020203" pitchFamily="34" charset="-122"/>
                <a:cs typeface="+mn-ea"/>
                <a:sym typeface="+mn-lt"/>
              </a:rPr>
              <a:t>单回归问题</a:t>
            </a:r>
            <a:r>
              <a:rPr lang="zh-CN" altLang="en-US" sz="2000" dirty="0">
                <a:latin typeface="Microsoft YaHei UI Light" panose="020B0502040204020203" pitchFamily="34" charset="-122"/>
                <a:ea typeface="微软雅黑 Light" panose="020B0502040204020203" pitchFamily="34" charset="-122"/>
                <a:cs typeface="+mn-ea"/>
                <a:sym typeface="+mn-lt"/>
              </a:rPr>
              <a:t>，只需看一眼</a:t>
            </a:r>
            <a:r>
              <a:rPr lang="en-US" altLang="zh-CN" sz="2000" dirty="0">
                <a:latin typeface="Microsoft YaHei UI Light" panose="020B0502040204020203" pitchFamily="34" charset="-122"/>
                <a:ea typeface="微软雅黑 Light" panose="020B0502040204020203" pitchFamily="34" charset="-122"/>
                <a:cs typeface="+mn-ea"/>
                <a:sym typeface="+mn-lt"/>
              </a:rPr>
              <a:t>(you only look once, YOLO</a:t>
            </a:r>
            <a:r>
              <a:rPr lang="zh-CN" altLang="en-US" sz="2000" dirty="0">
                <a:latin typeface="Microsoft YaHei UI Light" panose="020B0502040204020203" pitchFamily="34" charset="-122"/>
                <a:ea typeface="微软雅黑 Light" panose="020B0502040204020203" pitchFamily="34" charset="-122"/>
                <a:cs typeface="+mn-ea"/>
                <a:sym typeface="+mn-lt"/>
              </a:rPr>
              <a:t>），就可以检测出目标的类别和位置。</a:t>
            </a:r>
            <a:r>
              <a:rPr lang="en-US" altLang="zh-CN" sz="2000" dirty="0">
                <a:latin typeface="Microsoft YaHei UI Light" panose="020B0502040204020203" pitchFamily="34" charset="-122"/>
                <a:ea typeface="微软雅黑 Light" panose="020B0502040204020203" pitchFamily="34" charset="-122"/>
                <a:cs typeface="+mn-ea"/>
                <a:sym typeface="+mn-lt"/>
              </a:rPr>
              <a:t>YOLO</a:t>
            </a:r>
            <a:r>
              <a:rPr lang="zh-CN" altLang="en-US" sz="2000" dirty="0">
                <a:latin typeface="Microsoft YaHei UI Light" panose="020B0502040204020203" pitchFamily="34" charset="-122"/>
                <a:ea typeface="微软雅黑 Light" panose="020B0502040204020203" pitchFamily="34" charset="-122"/>
                <a:cs typeface="+mn-ea"/>
                <a:sym typeface="+mn-lt"/>
              </a:rPr>
              <a:t>算法开创了</a:t>
            </a:r>
            <a:r>
              <a:rPr lang="en-US" altLang="zh-CN" sz="2000" dirty="0">
                <a:latin typeface="Microsoft YaHei UI Light" panose="020B0502040204020203" pitchFamily="34" charset="-122"/>
                <a:ea typeface="微软雅黑 Light" panose="020B0502040204020203" pitchFamily="34" charset="-122"/>
                <a:cs typeface="+mn-ea"/>
                <a:sym typeface="+mn-lt"/>
              </a:rPr>
              <a:t>one-stage</a:t>
            </a:r>
            <a:r>
              <a:rPr lang="zh-CN" altLang="en-US" sz="2000" dirty="0">
                <a:latin typeface="Microsoft YaHei UI Light" panose="020B0502040204020203" pitchFamily="34" charset="-122"/>
                <a:ea typeface="微软雅黑 Light" panose="020B0502040204020203" pitchFamily="34" charset="-122"/>
                <a:cs typeface="+mn-ea"/>
                <a:sym typeface="+mn-lt"/>
              </a:rPr>
              <a:t>检测的先河，将目标分类和边界框定位合二为一，实现了端到端的目标检测。</a:t>
            </a:r>
            <a:r>
              <a:rPr lang="en-US" altLang="zh-CN" sz="2000" dirty="0">
                <a:latin typeface="Microsoft YaHei UI Light" panose="020B0502040204020203" pitchFamily="34" charset="-122"/>
                <a:ea typeface="微软雅黑 Light" panose="020B0502040204020203" pitchFamily="34" charset="-122"/>
                <a:cs typeface="+mn-ea"/>
                <a:sym typeface="+mn-lt"/>
              </a:rPr>
              <a:t>YOLO</a:t>
            </a:r>
            <a:r>
              <a:rPr lang="zh-CN" altLang="en-US" sz="2000" dirty="0">
                <a:latin typeface="Microsoft YaHei UI Light" panose="020B0502040204020203" pitchFamily="34" charset="-122"/>
                <a:ea typeface="微软雅黑 Light" panose="020B0502040204020203" pitchFamily="34" charset="-122"/>
                <a:cs typeface="+mn-ea"/>
                <a:sym typeface="+mn-lt"/>
              </a:rPr>
              <a:t>的运行速度非常快，达到</a:t>
            </a:r>
            <a:r>
              <a:rPr lang="en-US" altLang="zh-CN" sz="2000" dirty="0">
                <a:latin typeface="Microsoft YaHei UI Light" panose="020B0502040204020203" pitchFamily="34" charset="-122"/>
                <a:ea typeface="微软雅黑 Light" panose="020B0502040204020203" pitchFamily="34" charset="-122"/>
                <a:cs typeface="+mn-ea"/>
                <a:sym typeface="+mn-lt"/>
              </a:rPr>
              <a:t>45</a:t>
            </a:r>
            <a:r>
              <a:rPr lang="zh-CN" altLang="en-US" sz="2000" dirty="0">
                <a:latin typeface="Microsoft YaHei UI Light" panose="020B0502040204020203" pitchFamily="34" charset="-122"/>
                <a:ea typeface="微软雅黑 Light" panose="020B0502040204020203" pitchFamily="34" charset="-122"/>
                <a:cs typeface="+mn-ea"/>
                <a:sym typeface="+mn-lt"/>
              </a:rPr>
              <a:t>帧</a:t>
            </a:r>
            <a:r>
              <a:rPr lang="en-US" altLang="zh-CN" sz="2000" dirty="0">
                <a:latin typeface="Microsoft YaHei UI Light" panose="020B0502040204020203" pitchFamily="34" charset="-122"/>
                <a:ea typeface="微软雅黑 Light" panose="020B0502040204020203" pitchFamily="34" charset="-122"/>
                <a:cs typeface="+mn-ea"/>
                <a:sym typeface="+mn-lt"/>
              </a:rPr>
              <a:t>/</a:t>
            </a:r>
            <a:r>
              <a:rPr lang="zh-CN" altLang="en-US" sz="2000" dirty="0">
                <a:latin typeface="Microsoft YaHei UI Light" panose="020B0502040204020203" pitchFamily="34" charset="-122"/>
                <a:ea typeface="微软雅黑 Light" panose="020B0502040204020203" pitchFamily="34" charset="-122"/>
                <a:cs typeface="+mn-ea"/>
                <a:sym typeface="+mn-lt"/>
              </a:rPr>
              <a:t>秒，满足实时性要求。</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a:t>Yolo</a:t>
            </a:r>
            <a:endParaRPr lang="en-US" altLang="zh-CN" sz="2800" b="1" dirty="0"/>
          </a:p>
        </p:txBody>
      </p:sp>
      <p:sp>
        <p:nvSpPr>
          <p:cNvPr id="8" name="矩形 7"/>
          <p:cNvSpPr/>
          <p:nvPr/>
        </p:nvSpPr>
        <p:spPr>
          <a:xfrm>
            <a:off x="1884477" y="861184"/>
            <a:ext cx="4227788" cy="397738"/>
          </a:xfrm>
          <a:prstGeom prst="rect">
            <a:avLst/>
          </a:prstGeom>
        </p:spPr>
        <p:txBody>
          <a:bodyPr wrap="square">
            <a:spAutoFit/>
          </a:bodyPr>
          <a:lstStyle/>
          <a:p>
            <a:pPr marL="285750" indent="-285750">
              <a:lnSpc>
                <a:spcPct val="120000"/>
              </a:lnSpc>
              <a:buClr>
                <a:schemeClr val="accent1"/>
              </a:buClr>
              <a:buSzPct val="100000"/>
              <a:buFont typeface="Wingdings" panose="05000000000000000000" pitchFamily="2" charset="2"/>
              <a:buChar char="l"/>
            </a:pPr>
            <a:r>
              <a:rPr lang="zh-CN" altLang="en-US" dirty="0">
                <a:latin typeface="Microsoft YaHei UI Light" panose="020B0502040204020203" pitchFamily="34" charset="-122"/>
                <a:ea typeface="微软雅黑 Light" panose="020B0502040204020203" pitchFamily="34" charset="-122"/>
                <a:cs typeface="+mn-ea"/>
                <a:sym typeface="+mn-lt"/>
              </a:rPr>
              <a:t>统一检测</a:t>
            </a:r>
            <a:r>
              <a:rPr lang="en-US" altLang="zh-CN" dirty="0">
                <a:latin typeface="Microsoft YaHei UI Light" panose="020B0502040204020203" pitchFamily="34" charset="-122"/>
                <a:ea typeface="微软雅黑 Light" panose="020B0502040204020203" pitchFamily="34" charset="-122"/>
                <a:cs typeface="+mn-ea"/>
                <a:sym typeface="+mn-lt"/>
              </a:rPr>
              <a:t>(Unified Detection)</a:t>
            </a:r>
            <a:r>
              <a:rPr lang="zh-CN" altLang="en-US" dirty="0">
                <a:latin typeface="Microsoft YaHei UI Light" panose="020B0502040204020203" pitchFamily="34" charset="-122"/>
                <a:ea typeface="微软雅黑 Light" panose="020B0502040204020203" pitchFamily="34" charset="-122"/>
                <a:cs typeface="+mn-ea"/>
                <a:sym typeface="+mn-lt"/>
              </a:rPr>
              <a:t>具体实现</a:t>
            </a:r>
          </a:p>
        </p:txBody>
      </p:sp>
      <p:pic>
        <p:nvPicPr>
          <p:cNvPr id="9" name="图片 8"/>
          <p:cNvPicPr>
            <a:picLocks noChangeAspect="1"/>
          </p:cNvPicPr>
          <p:nvPr/>
        </p:nvPicPr>
        <p:blipFill>
          <a:blip r:embed="rId5"/>
          <a:stretch>
            <a:fillRect/>
          </a:stretch>
        </p:blipFill>
        <p:spPr>
          <a:xfrm>
            <a:off x="616137" y="1428154"/>
            <a:ext cx="4670554" cy="2919698"/>
          </a:xfrm>
          <a:prstGeom prst="rect">
            <a:avLst/>
          </a:prstGeom>
        </p:spPr>
      </p:pic>
      <mc:AlternateContent xmlns:mc="http://schemas.openxmlformats.org/markup-compatibility/2006" xmlns:a14="http://schemas.microsoft.com/office/drawing/2010/main">
        <mc:Choice Requires="a14">
          <p:sp>
            <p:nvSpPr>
              <p:cNvPr id="10" name="矩形 9"/>
              <p:cNvSpPr/>
              <p:nvPr/>
            </p:nvSpPr>
            <p:spPr>
              <a:xfrm>
                <a:off x="1884477" y="4691893"/>
                <a:ext cx="9549725" cy="683264"/>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每个格子还要预测分别属于</a:t>
                </a:r>
                <a:r>
                  <a:rPr lang="en-US" altLang="zh-CN" sz="1600" dirty="0">
                    <a:latin typeface="Microsoft YaHei UI Light" panose="020B0502040204020203" pitchFamily="34" charset="-122"/>
                    <a:ea typeface="微软雅黑 Light" panose="020B0502040204020203" pitchFamily="34" charset="-122"/>
                    <a:cs typeface="+mn-ea"/>
                    <a:sym typeface="+mn-lt"/>
                  </a:rPr>
                  <a:t>C</a:t>
                </a:r>
                <a:r>
                  <a:rPr lang="zh-CN" altLang="en-US" sz="1600" dirty="0">
                    <a:latin typeface="Microsoft YaHei UI Light" panose="020B0502040204020203" pitchFamily="34" charset="-122"/>
                    <a:ea typeface="微软雅黑 Light" panose="020B0502040204020203" pitchFamily="34" charset="-122"/>
                    <a:cs typeface="+mn-ea"/>
                    <a:sym typeface="+mn-lt"/>
                  </a:rPr>
                  <a:t>种类别的条件概率</a:t>
                </a:r>
                <a14:m>
                  <m:oMath xmlns:m="http://schemas.openxmlformats.org/officeDocument/2006/math">
                    <m:func>
                      <m:funcPr>
                        <m:ctrlPr>
                          <a:rPr lang="en-US" altLang="zh-CN" sz="1600" b="0" i="1" smtClean="0">
                            <a:latin typeface="Cambria Math" panose="02040503050406030204" pitchFamily="18" charset="0"/>
                            <a:cs typeface="+mn-ea"/>
                            <a:sym typeface="+mn-lt"/>
                          </a:rPr>
                        </m:ctrlPr>
                      </m:funcPr>
                      <m:fName>
                        <m:r>
                          <m:rPr>
                            <m:sty m:val="p"/>
                          </m:rPr>
                          <a:rPr lang="en-US" altLang="zh-CN" sz="1600" b="0" i="0" smtClean="0">
                            <a:latin typeface="Cambria Math" panose="02040503050406030204" pitchFamily="18" charset="0"/>
                            <a:cs typeface="+mn-ea"/>
                            <a:sym typeface="+mn-lt"/>
                          </a:rPr>
                          <m:t>Pr</m:t>
                        </m:r>
                      </m:fName>
                      <m:e>
                        <m:d>
                          <m:dPr>
                            <m:ctrlPr>
                              <a:rPr lang="en-US" altLang="zh-CN" sz="1600" b="0" i="1" smtClean="0">
                                <a:latin typeface="Cambria Math" panose="02040503050406030204" pitchFamily="18" charset="0"/>
                                <a:cs typeface="+mn-ea"/>
                                <a:sym typeface="+mn-lt"/>
                              </a:rPr>
                            </m:ctrlPr>
                          </m:dPr>
                          <m:e>
                            <m:r>
                              <a:rPr lang="en-US" altLang="zh-CN" sz="1600" b="0" i="1" smtClean="0">
                                <a:latin typeface="Cambria Math" panose="02040503050406030204" pitchFamily="18" charset="0"/>
                                <a:cs typeface="+mn-ea"/>
                                <a:sym typeface="+mn-lt"/>
                              </a:rPr>
                              <m:t>𝐶𝑙𝑎𝑠</m:t>
                            </m:r>
                            <m:sSub>
                              <m:sSubPr>
                                <m:ctrlPr>
                                  <a:rPr lang="en-US" altLang="zh-CN" sz="1600" b="0" i="1" smtClean="0">
                                    <a:latin typeface="Cambria Math" panose="02040503050406030204" pitchFamily="18" charset="0"/>
                                    <a:cs typeface="+mn-ea"/>
                                    <a:sym typeface="+mn-lt"/>
                                  </a:rPr>
                                </m:ctrlPr>
                              </m:sSubPr>
                              <m:e>
                                <m:r>
                                  <a:rPr lang="en-US" altLang="zh-CN" sz="1600" b="0" i="1" smtClean="0">
                                    <a:latin typeface="Cambria Math" panose="02040503050406030204" pitchFamily="18" charset="0"/>
                                    <a:cs typeface="+mn-ea"/>
                                    <a:sym typeface="+mn-lt"/>
                                  </a:rPr>
                                  <m:t>𝑠</m:t>
                                </m:r>
                              </m:e>
                              <m:sub>
                                <m:r>
                                  <a:rPr lang="en-US" altLang="zh-CN" sz="1600" b="0" i="1" smtClean="0">
                                    <a:latin typeface="Cambria Math" panose="02040503050406030204" pitchFamily="18" charset="0"/>
                                    <a:cs typeface="+mn-ea"/>
                                    <a:sym typeface="+mn-lt"/>
                                  </a:rPr>
                                  <m:t>𝑖</m:t>
                                </m:r>
                              </m:sub>
                            </m:sSub>
                          </m:e>
                          <m:e>
                            <m:r>
                              <a:rPr lang="en-US" altLang="zh-CN" sz="1600" b="0" i="1" smtClean="0">
                                <a:latin typeface="Cambria Math" panose="02040503050406030204" pitchFamily="18" charset="0"/>
                                <a:cs typeface="+mn-ea"/>
                                <a:sym typeface="+mn-lt"/>
                              </a:rPr>
                              <m:t>𝑂𝑏𝑗𝑒𝑐𝑡</m:t>
                            </m:r>
                          </m:e>
                        </m:d>
                      </m:e>
                    </m:func>
                    <m:r>
                      <a:rPr lang="en-US" altLang="zh-CN" sz="1600" b="0" i="1" smtClean="0">
                        <a:latin typeface="Cambria Math" panose="02040503050406030204" pitchFamily="18" charset="0"/>
                        <a:cs typeface="+mn-ea"/>
                        <a:sym typeface="+mn-lt"/>
                      </a:rPr>
                      <m:t>, </m:t>
                    </m:r>
                    <m:r>
                      <a:rPr lang="en-US" altLang="zh-CN" sz="1600" b="0" i="1" smtClean="0">
                        <a:latin typeface="Cambria Math" panose="02040503050406030204" pitchFamily="18" charset="0"/>
                        <a:cs typeface="+mn-ea"/>
                        <a:sym typeface="+mn-lt"/>
                      </a:rPr>
                      <m:t>𝑖</m:t>
                    </m:r>
                    <m:r>
                      <a:rPr lang="en-US" altLang="zh-CN" sz="1600" b="0" i="1" smtClean="0">
                        <a:latin typeface="Cambria Math" panose="02040503050406030204" pitchFamily="18" charset="0"/>
                        <a:cs typeface="+mn-ea"/>
                        <a:sym typeface="+mn-lt"/>
                      </a:rPr>
                      <m:t>=0,1,…</m:t>
                    </m:r>
                    <m:r>
                      <a:rPr lang="en-US" altLang="zh-CN" sz="1600" b="0" i="1" smtClean="0">
                        <a:latin typeface="Cambria Math" panose="02040503050406030204" pitchFamily="18" charset="0"/>
                        <a:cs typeface="+mn-ea"/>
                        <a:sym typeface="+mn-lt"/>
                      </a:rPr>
                      <m:t>𝐶</m:t>
                    </m:r>
                  </m:oMath>
                </a14:m>
                <a:r>
                  <a:rPr lang="zh-CN" altLang="en-US" sz="1600" dirty="0">
                    <a:latin typeface="Microsoft YaHei UI Light" panose="020B0502040204020203" pitchFamily="34" charset="-122"/>
                    <a:ea typeface="微软雅黑 Light" panose="020B0502040204020203" pitchFamily="34" charset="-122"/>
                    <a:cs typeface="+mn-ea"/>
                    <a:sym typeface="+mn-lt"/>
                  </a:rPr>
                  <a:t>，其中</a:t>
                </a:r>
                <a:r>
                  <a:rPr lang="en-US" altLang="zh-CN" sz="1600" dirty="0">
                    <a:latin typeface="Microsoft YaHei UI Light" panose="020B0502040204020203" pitchFamily="34" charset="-122"/>
                    <a:ea typeface="微软雅黑 Light" panose="020B0502040204020203" pitchFamily="34" charset="-122"/>
                    <a:cs typeface="+mn-ea"/>
                    <a:sym typeface="+mn-lt"/>
                  </a:rPr>
                  <a:t>C</a:t>
                </a:r>
                <a:r>
                  <a:rPr lang="zh-CN" altLang="en-US" sz="1600" dirty="0">
                    <a:latin typeface="Microsoft YaHei UI Light" panose="020B0502040204020203" pitchFamily="34" charset="-122"/>
                    <a:ea typeface="微软雅黑 Light" panose="020B0502040204020203" pitchFamily="34" charset="-122"/>
                    <a:cs typeface="+mn-ea"/>
                    <a:sym typeface="+mn-lt"/>
                  </a:rPr>
                  <a:t>为数据集物体类别数量；在测试时，属于该格子的</a:t>
                </a:r>
                <a:r>
                  <a:rPr lang="en-US" altLang="zh-CN" sz="1600" dirty="0">
                    <a:latin typeface="Microsoft YaHei UI Light" panose="020B0502040204020203" pitchFamily="34" charset="-122"/>
                    <a:ea typeface="微软雅黑 Light" panose="020B0502040204020203" pitchFamily="34" charset="-122"/>
                    <a:cs typeface="+mn-ea"/>
                    <a:sym typeface="+mn-lt"/>
                  </a:rPr>
                  <a:t>B</a:t>
                </a:r>
                <a:r>
                  <a:rPr lang="zh-CN" altLang="en-US" sz="1600" dirty="0">
                    <a:latin typeface="Microsoft YaHei UI Light" panose="020B0502040204020203" pitchFamily="34" charset="-122"/>
                    <a:ea typeface="微软雅黑 Light" panose="020B0502040204020203" pitchFamily="34" charset="-122"/>
                    <a:cs typeface="+mn-ea"/>
                    <a:sym typeface="+mn-lt"/>
                  </a:rPr>
                  <a:t>个</a:t>
                </a:r>
                <a:r>
                  <a:rPr lang="en-US" altLang="zh-CN" sz="1600" dirty="0" err="1">
                    <a:latin typeface="Microsoft YaHei UI Light" panose="020B0502040204020203" pitchFamily="34" charset="-122"/>
                    <a:ea typeface="微软雅黑 Light" panose="020B0502040204020203" pitchFamily="34" charset="-122"/>
                    <a:cs typeface="+mn-ea"/>
                    <a:sym typeface="+mn-lt"/>
                  </a:rPr>
                  <a:t>bbox</a:t>
                </a:r>
                <a:r>
                  <a:rPr lang="zh-CN" altLang="en-US" sz="1600" dirty="0">
                    <a:latin typeface="Microsoft YaHei UI Light" panose="020B0502040204020203" pitchFamily="34" charset="-122"/>
                    <a:ea typeface="微软雅黑 Light" panose="020B0502040204020203" pitchFamily="34" charset="-122"/>
                    <a:cs typeface="+mn-ea"/>
                    <a:sym typeface="+mn-lt"/>
                  </a:rPr>
                  <a:t>共享这</a:t>
                </a:r>
                <a:r>
                  <a:rPr lang="en-US" altLang="zh-CN" sz="1600" dirty="0">
                    <a:latin typeface="Microsoft YaHei UI Light" panose="020B0502040204020203" pitchFamily="34" charset="-122"/>
                    <a:ea typeface="微软雅黑 Light" panose="020B0502040204020203" pitchFamily="34" charset="-122"/>
                    <a:cs typeface="+mn-ea"/>
                    <a:sym typeface="+mn-lt"/>
                  </a:rPr>
                  <a:t>C</a:t>
                </a:r>
                <a:r>
                  <a:rPr lang="zh-CN" altLang="en-US" sz="1600" dirty="0">
                    <a:latin typeface="Microsoft YaHei UI Light" panose="020B0502040204020203" pitchFamily="34" charset="-122"/>
                    <a:ea typeface="微软雅黑 Light" panose="020B0502040204020203" pitchFamily="34" charset="-122"/>
                    <a:cs typeface="+mn-ea"/>
                    <a:sym typeface="+mn-lt"/>
                  </a:rPr>
                  <a:t>个类别的条件概率，则某个</a:t>
                </a:r>
                <a:r>
                  <a:rPr lang="en-US" altLang="zh-CN" sz="1600" dirty="0" err="1">
                    <a:latin typeface="Microsoft YaHei UI Light" panose="020B0502040204020203" pitchFamily="34" charset="-122"/>
                    <a:ea typeface="微软雅黑 Light" panose="020B0502040204020203" pitchFamily="34" charset="-122"/>
                    <a:cs typeface="+mn-ea"/>
                    <a:sym typeface="+mn-lt"/>
                  </a:rPr>
                  <a:t>bbox</a:t>
                </a:r>
                <a:r>
                  <a:rPr lang="zh-CN" altLang="en-US" sz="1600" dirty="0">
                    <a:latin typeface="Microsoft YaHei UI Light" panose="020B0502040204020203" pitchFamily="34" charset="-122"/>
                    <a:ea typeface="微软雅黑 Light" panose="020B0502040204020203" pitchFamily="34" charset="-122"/>
                    <a:cs typeface="+mn-ea"/>
                    <a:sym typeface="+mn-lt"/>
                  </a:rPr>
                  <a:t>的类别置信度为：</a:t>
                </a:r>
              </a:p>
            </p:txBody>
          </p:sp>
        </mc:Choice>
        <mc:Fallback xmlns="">
          <p:sp>
            <p:nvSpPr>
              <p:cNvPr id="10" name="矩形 9"/>
              <p:cNvSpPr>
                <a:spLocks noRot="1" noChangeAspect="1" noMove="1" noResize="1" noEditPoints="1" noAdjustHandles="1" noChangeArrowheads="1" noChangeShapeType="1" noTextEdit="1"/>
              </p:cNvSpPr>
              <p:nvPr/>
            </p:nvSpPr>
            <p:spPr>
              <a:xfrm>
                <a:off x="1884477" y="4691893"/>
                <a:ext cx="9549725" cy="683264"/>
              </a:xfrm>
              <a:prstGeom prst="rect">
                <a:avLst/>
              </a:prstGeom>
              <a:blipFill rotWithShape="1">
                <a:blip r:embed="rId6"/>
                <a:stretch>
                  <a:fillRect l="-5" t="-75" r="4" b="76"/>
                </a:stretch>
              </a:blipFill>
            </p:spPr>
            <p:txBody>
              <a:bodyPr/>
              <a:lstStyle/>
              <a:p>
                <a:r>
                  <a:rPr lang="zh-CN" altLang="en-US">
                    <a:noFill/>
                  </a:rPr>
                  <a:t> </a:t>
                </a:r>
              </a:p>
            </p:txBody>
          </p:sp>
        </mc:Fallback>
      </mc:AlternateContent>
      <p:sp>
        <p:nvSpPr>
          <p:cNvPr id="11" name="矩形 10"/>
          <p:cNvSpPr/>
          <p:nvPr/>
        </p:nvSpPr>
        <p:spPr>
          <a:xfrm>
            <a:off x="6050596" y="1344591"/>
            <a:ext cx="5266441" cy="2456057"/>
          </a:xfrm>
          <a:prstGeom prst="rect">
            <a:avLst/>
          </a:prstGeom>
        </p:spPr>
        <p:txBody>
          <a:bodyPr wrap="square">
            <a:spAutoFit/>
          </a:bodyPr>
          <a:lstStyle/>
          <a:p>
            <a:pPr marL="285750" lvl="0" indent="-285750">
              <a:lnSpc>
                <a:spcPct val="120000"/>
              </a:lnSpc>
              <a:buFont typeface="Arial" panose="020B0604020202020204" pitchFamily="34" charset="0"/>
              <a:buChar char="•"/>
            </a:pP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将输入图像分为</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S×S</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个格子，每个格子都预测</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B</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个</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Bounding box</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，每个</a:t>
            </a:r>
            <a:r>
              <a:rPr lang="en-US" altLang="zh-CN" sz="1600" dirty="0" err="1">
                <a:solidFill>
                  <a:prstClr val="black"/>
                </a:solidFill>
                <a:latin typeface="Microsoft YaHei UI Light" panose="020B0502040204020203" pitchFamily="34" charset="-122"/>
                <a:ea typeface="微软雅黑 Light" panose="020B0502040204020203" pitchFamily="34" charset="-122"/>
                <a:cs typeface="+mn-ea"/>
                <a:sym typeface="+mn-lt"/>
              </a:rPr>
              <a:t>bbox</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包含五个预测值：</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x, y, w, h</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和</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confidence;</a:t>
            </a:r>
          </a:p>
          <a:p>
            <a:pPr marL="285750" lvl="0" indent="-285750">
              <a:lnSpc>
                <a:spcPct val="120000"/>
              </a:lnSpc>
              <a:buFont typeface="Arial" panose="020B0604020202020204" pitchFamily="34" charset="0"/>
              <a:buChar char="•"/>
            </a:pP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x, y, w, h</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用于表示</a:t>
            </a:r>
            <a:r>
              <a:rPr lang="en-US" altLang="zh-CN" sz="1600" dirty="0" err="1">
                <a:solidFill>
                  <a:prstClr val="black"/>
                </a:solidFill>
                <a:latin typeface="Microsoft YaHei UI Light" panose="020B0502040204020203" pitchFamily="34" charset="-122"/>
                <a:ea typeface="微软雅黑 Light" panose="020B0502040204020203" pitchFamily="34" charset="-122"/>
                <a:cs typeface="+mn-ea"/>
                <a:sym typeface="+mn-lt"/>
              </a:rPr>
              <a:t>bbox</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的位置和大小，且都被归一化到</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(0, 1)</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a:t>
            </a:r>
            <a:endPar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endParaRPr>
          </a:p>
          <a:p>
            <a:pPr marL="285750" lvl="0" indent="-285750">
              <a:lnSpc>
                <a:spcPct val="120000"/>
              </a:lnSpc>
              <a:buFont typeface="Arial" panose="020B0604020202020204" pitchFamily="34" charset="0"/>
              <a:buChar char="•"/>
            </a:pP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confidence(</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置信度分数</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a:t>
            </a:r>
            <a:r>
              <a:rPr lang="zh-CN" altLang="en-US" sz="1600" dirty="0">
                <a:latin typeface="Microsoft YaHei UI Light" panose="020B0502040204020203" pitchFamily="34" charset="-122"/>
                <a:ea typeface="微软雅黑 Light" panose="020B0502040204020203" pitchFamily="34" charset="-122"/>
                <a:cs typeface="+mn-ea"/>
                <a:sym typeface="+mn-lt"/>
              </a:rPr>
              <a:t> 综合考虑了当前</a:t>
            </a:r>
            <a:r>
              <a:rPr lang="en-US" altLang="zh-CN" sz="1600" dirty="0" err="1">
                <a:latin typeface="Microsoft YaHei UI Light" panose="020B0502040204020203" pitchFamily="34" charset="-122"/>
                <a:ea typeface="微软雅黑 Light" panose="020B0502040204020203" pitchFamily="34" charset="-122"/>
                <a:cs typeface="+mn-ea"/>
                <a:sym typeface="+mn-lt"/>
              </a:rPr>
              <a:t>bbox</a:t>
            </a:r>
            <a:r>
              <a:rPr lang="zh-CN" altLang="en-US" sz="1600" dirty="0">
                <a:latin typeface="Microsoft YaHei UI Light" panose="020B0502040204020203" pitchFamily="34" charset="-122"/>
                <a:ea typeface="微软雅黑 Light" panose="020B0502040204020203" pitchFamily="34" charset="-122"/>
                <a:cs typeface="+mn-ea"/>
                <a:sym typeface="+mn-lt"/>
              </a:rPr>
              <a:t>内存在目标的可能性</a:t>
            </a:r>
            <a:r>
              <a:rPr lang="en-US" altLang="zh-CN" sz="1600" dirty="0" err="1">
                <a:latin typeface="Microsoft YaHei UI Light" panose="020B0502040204020203" pitchFamily="34" charset="-122"/>
                <a:ea typeface="微软雅黑 Light" panose="020B0502040204020203" pitchFamily="34" charset="-122"/>
                <a:cs typeface="+mn-ea"/>
                <a:sym typeface="+mn-lt"/>
              </a:rPr>
              <a:t>Pr</a:t>
            </a:r>
            <a:r>
              <a:rPr lang="en-US" altLang="zh-CN" sz="1600" dirty="0">
                <a:latin typeface="Microsoft YaHei UI Light" panose="020B0502040204020203" pitchFamily="34" charset="-122"/>
                <a:ea typeface="微软雅黑 Light" panose="020B0502040204020203" pitchFamily="34" charset="-122"/>
                <a:cs typeface="+mn-ea"/>
                <a:sym typeface="+mn-lt"/>
              </a:rPr>
              <a:t>(Object)</a:t>
            </a:r>
            <a:r>
              <a:rPr lang="zh-CN" altLang="en-US" sz="1600" dirty="0">
                <a:latin typeface="Microsoft YaHei UI Light" panose="020B0502040204020203" pitchFamily="34" charset="-122"/>
                <a:ea typeface="微软雅黑 Light" panose="020B0502040204020203" pitchFamily="34" charset="-122"/>
                <a:cs typeface="+mn-ea"/>
                <a:sym typeface="+mn-lt"/>
              </a:rPr>
              <a:t>以及预测目标位置的准确性</a:t>
            </a:r>
            <a:r>
              <a:rPr lang="en-US" altLang="zh-CN" sz="1600" dirty="0">
                <a:latin typeface="Microsoft YaHei UI Light" panose="020B0502040204020203" pitchFamily="34" charset="-122"/>
                <a:ea typeface="微软雅黑 Light" panose="020B0502040204020203" pitchFamily="34" charset="-122"/>
                <a:cs typeface="+mn-ea"/>
                <a:sym typeface="+mn-lt"/>
              </a:rPr>
              <a:t>IOU(</a:t>
            </a:r>
            <a:r>
              <a:rPr lang="en-US" altLang="zh-CN" sz="1600" dirty="0" err="1">
                <a:latin typeface="Microsoft YaHei UI Light" panose="020B0502040204020203" pitchFamily="34" charset="-122"/>
                <a:ea typeface="微软雅黑 Light" panose="020B0502040204020203" pitchFamily="34" charset="-122"/>
                <a:cs typeface="+mn-ea"/>
                <a:sym typeface="+mn-lt"/>
              </a:rPr>
              <a:t>pred|truth</a:t>
            </a:r>
            <a:r>
              <a:rPr lang="en-US" altLang="zh-CN" sz="1600" dirty="0">
                <a:latin typeface="Microsoft YaHei UI Light" panose="020B0502040204020203" pitchFamily="34" charset="-122"/>
                <a:ea typeface="微软雅黑 Light" panose="020B0502040204020203" pitchFamily="34" charset="-122"/>
                <a:cs typeface="+mn-ea"/>
                <a:sym typeface="+mn-lt"/>
              </a:rPr>
              <a:t>)</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，定义为：</a:t>
            </a:r>
            <a:endPar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2" name="文本框 11"/>
              <p:cNvSpPr txBox="1"/>
              <p:nvPr/>
            </p:nvSpPr>
            <p:spPr>
              <a:xfrm>
                <a:off x="4480102" y="3906797"/>
                <a:ext cx="6836936" cy="576696"/>
              </a:xfrm>
              <a:prstGeom prst="rect">
                <a:avLst/>
              </a:prstGeom>
              <a:noFill/>
            </p:spPr>
            <p:txBody>
              <a:bodyPr wrap="none" lIns="0" tIns="0" rIns="0" bIns="0" rtlCol="0">
                <a:spAutoFit/>
              </a:bodyPr>
              <a:lstStyle/>
              <a:p>
                <a:pPr algn="ctr">
                  <a:lnSpc>
                    <a:spcPct val="120000"/>
                  </a:lnSpc>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cs typeface="+mn-ea"/>
                          <a:sym typeface="+mn-lt"/>
                        </a:rPr>
                        <m:t>𝑐𝑜𝑛𝑓𝑖𝑑𝑒𝑛𝑐𝑒</m:t>
                      </m:r>
                      <m:r>
                        <a:rPr lang="en-US" altLang="zh-CN" sz="1400" b="0" i="1" smtClean="0">
                          <a:latin typeface="Cambria Math" panose="02040503050406030204" pitchFamily="18" charset="0"/>
                          <a:cs typeface="+mn-ea"/>
                          <a:sym typeface="+mn-lt"/>
                        </a:rPr>
                        <m:t>=</m:t>
                      </m:r>
                      <m:func>
                        <m:funcPr>
                          <m:ctrlPr>
                            <a:rPr lang="en-US" altLang="zh-CN" sz="1400" b="0" i="1" smtClean="0">
                              <a:latin typeface="Cambria Math" panose="02040503050406030204" pitchFamily="18" charset="0"/>
                              <a:cs typeface="+mn-ea"/>
                              <a:sym typeface="+mn-lt"/>
                            </a:rPr>
                          </m:ctrlPr>
                        </m:funcPr>
                        <m:fName>
                          <m:r>
                            <m:rPr>
                              <m:sty m:val="p"/>
                            </m:rPr>
                            <a:rPr lang="en-US" altLang="zh-CN" sz="1400" b="0" i="0" smtClean="0">
                              <a:latin typeface="Cambria Math" panose="02040503050406030204" pitchFamily="18" charset="0"/>
                              <a:cs typeface="+mn-ea"/>
                              <a:sym typeface="+mn-lt"/>
                            </a:rPr>
                            <m:t>Pr</m:t>
                          </m:r>
                        </m:fName>
                        <m:e>
                          <m:d>
                            <m:dPr>
                              <m:ctrlPr>
                                <a:rPr lang="en-US" altLang="zh-CN" sz="1400" b="0" i="1" smtClean="0">
                                  <a:latin typeface="Cambria Math" panose="02040503050406030204" pitchFamily="18" charset="0"/>
                                  <a:cs typeface="+mn-ea"/>
                                  <a:sym typeface="+mn-lt"/>
                                </a:rPr>
                              </m:ctrlPr>
                            </m:dPr>
                            <m:e>
                              <m:r>
                                <a:rPr lang="en-US" altLang="zh-CN" sz="1400" b="0" i="1" smtClean="0">
                                  <a:latin typeface="Cambria Math" panose="02040503050406030204" pitchFamily="18" charset="0"/>
                                  <a:cs typeface="+mn-ea"/>
                                  <a:sym typeface="+mn-lt"/>
                                </a:rPr>
                                <m:t>𝑂𝑏𝑗𝑒𝑐𝑡</m:t>
                              </m:r>
                            </m:e>
                          </m:d>
                        </m:e>
                      </m:func>
                      <m:r>
                        <a:rPr lang="en-US" altLang="zh-CN" sz="1400" b="0" i="1" smtClean="0">
                          <a:latin typeface="Cambria Math" panose="02040503050406030204" pitchFamily="18" charset="0"/>
                          <a:cs typeface="+mn-ea"/>
                          <a:sym typeface="+mn-lt"/>
                        </a:rPr>
                        <m:t>∗</m:t>
                      </m:r>
                      <m:sSubSup>
                        <m:sSubSupPr>
                          <m:ctrlPr>
                            <a:rPr lang="en-US" altLang="zh-CN" sz="1400" b="0" i="1" smtClean="0">
                              <a:latin typeface="Cambria Math" panose="02040503050406030204" pitchFamily="18" charset="0"/>
                              <a:cs typeface="+mn-ea"/>
                              <a:sym typeface="+mn-lt"/>
                            </a:rPr>
                          </m:ctrlPr>
                        </m:sSubSupPr>
                        <m:e>
                          <m:r>
                            <a:rPr lang="en-US" altLang="zh-CN" sz="1400" b="0" i="1" smtClean="0">
                              <a:latin typeface="Cambria Math" panose="02040503050406030204" pitchFamily="18" charset="0"/>
                              <a:cs typeface="+mn-ea"/>
                              <a:sym typeface="+mn-lt"/>
                            </a:rPr>
                            <m:t>𝐼𝑂𝑈</m:t>
                          </m:r>
                        </m:e>
                        <m:sub>
                          <m:r>
                            <a:rPr lang="en-US" altLang="zh-CN" sz="1400" b="0" i="1" smtClean="0">
                              <a:latin typeface="Cambria Math" panose="02040503050406030204" pitchFamily="18" charset="0"/>
                              <a:cs typeface="+mn-ea"/>
                              <a:sym typeface="+mn-lt"/>
                            </a:rPr>
                            <m:t>𝑝𝑟𝑒𝑑</m:t>
                          </m:r>
                        </m:sub>
                        <m:sup>
                          <m:r>
                            <a:rPr lang="en-US" altLang="zh-CN" sz="1400" b="0" i="1" smtClean="0">
                              <a:latin typeface="Cambria Math" panose="02040503050406030204" pitchFamily="18" charset="0"/>
                              <a:cs typeface="+mn-ea"/>
                              <a:sym typeface="+mn-lt"/>
                            </a:rPr>
                            <m:t>𝑡𝑟𝑢𝑡h</m:t>
                          </m:r>
                        </m:sup>
                      </m:sSubSup>
                      <m:r>
                        <a:rPr lang="en-US" altLang="zh-CN" sz="1400" b="0" i="0" smtClean="0">
                          <a:latin typeface="Cambria Math" panose="02040503050406030204" pitchFamily="18" charset="0"/>
                          <a:cs typeface="+mn-ea"/>
                          <a:sym typeface="+mn-lt"/>
                        </a:rPr>
                        <m:t> </m:t>
                      </m:r>
                      <m:r>
                        <a:rPr lang="zh-CN" altLang="en-US" sz="1400" i="1">
                          <a:latin typeface="Cambria Math" panose="02040503050406030204" pitchFamily="18" charset="0"/>
                          <a:cs typeface="+mn-ea"/>
                          <a:sym typeface="+mn-lt"/>
                        </a:rPr>
                        <m:t>，</m:t>
                      </m:r>
                      <m:r>
                        <a:rPr lang="en-US" altLang="zh-CN" sz="1400" b="0" i="0" smtClean="0">
                          <a:latin typeface="Cambria Math" panose="02040503050406030204" pitchFamily="18" charset="0"/>
                          <a:cs typeface="+mn-ea"/>
                          <a:sym typeface="+mn-lt"/>
                        </a:rPr>
                        <m:t> </m:t>
                      </m:r>
                      <m:func>
                        <m:funcPr>
                          <m:ctrlPr>
                            <a:rPr lang="en-US" altLang="zh-CN" sz="1400" i="1">
                              <a:latin typeface="Cambria Math" panose="02040503050406030204" pitchFamily="18" charset="0"/>
                              <a:cs typeface="+mn-ea"/>
                              <a:sym typeface="+mn-lt"/>
                            </a:rPr>
                          </m:ctrlPr>
                        </m:funcPr>
                        <m:fName>
                          <m:r>
                            <m:rPr>
                              <m:sty m:val="p"/>
                            </m:rPr>
                            <a:rPr lang="en-US" altLang="zh-CN" sz="1400">
                              <a:latin typeface="Cambria Math" panose="02040503050406030204" pitchFamily="18" charset="0"/>
                              <a:cs typeface="+mn-ea"/>
                              <a:sym typeface="+mn-lt"/>
                            </a:rPr>
                            <m:t>Pr</m:t>
                          </m:r>
                        </m:fName>
                        <m:e>
                          <m:d>
                            <m:dPr>
                              <m:ctrlPr>
                                <a:rPr lang="en-US" altLang="zh-CN" sz="1400" i="1">
                                  <a:latin typeface="Cambria Math" panose="02040503050406030204" pitchFamily="18" charset="0"/>
                                  <a:cs typeface="+mn-ea"/>
                                  <a:sym typeface="+mn-lt"/>
                                </a:rPr>
                              </m:ctrlPr>
                            </m:dPr>
                            <m:e>
                              <m:r>
                                <a:rPr lang="en-US" altLang="zh-CN" sz="1400" i="1">
                                  <a:latin typeface="Cambria Math" panose="02040503050406030204" pitchFamily="18" charset="0"/>
                                  <a:cs typeface="+mn-ea"/>
                                  <a:sym typeface="+mn-lt"/>
                                </a:rPr>
                                <m:t>𝑂𝑏𝑗𝑒𝑐𝑡</m:t>
                              </m:r>
                            </m:e>
                          </m:d>
                        </m:e>
                      </m:func>
                      <m:r>
                        <a:rPr lang="en-US" altLang="zh-CN" sz="1400" b="0" i="1" smtClean="0">
                          <a:latin typeface="Cambria Math" panose="02040503050406030204" pitchFamily="18" charset="0"/>
                          <a:cs typeface="+mn-ea"/>
                          <a:sym typeface="+mn-lt"/>
                        </a:rPr>
                        <m:t>=</m:t>
                      </m:r>
                      <m:d>
                        <m:dPr>
                          <m:begChr m:val="{"/>
                          <m:endChr m:val=""/>
                          <m:ctrlPr>
                            <a:rPr lang="en-US" altLang="zh-CN" sz="1400" b="0" i="1" smtClean="0">
                              <a:latin typeface="Cambria Math" panose="02040503050406030204" pitchFamily="18" charset="0"/>
                              <a:cs typeface="+mn-ea"/>
                              <a:sym typeface="+mn-lt"/>
                            </a:rPr>
                          </m:ctrlPr>
                        </m:dPr>
                        <m:e>
                          <m:eqArr>
                            <m:eqArrPr>
                              <m:ctrlPr>
                                <a:rPr lang="en-US" altLang="zh-CN" sz="1400" b="0" i="1" smtClean="0">
                                  <a:latin typeface="Cambria Math" panose="02040503050406030204" pitchFamily="18" charset="0"/>
                                  <a:cs typeface="+mn-ea"/>
                                  <a:sym typeface="+mn-lt"/>
                                </a:rPr>
                              </m:ctrlPr>
                            </m:eqArrPr>
                            <m:e>
                              <m:r>
                                <a:rPr lang="en-US" altLang="zh-CN" sz="1400" b="0" i="1" smtClean="0">
                                  <a:latin typeface="Cambria Math" panose="02040503050406030204" pitchFamily="18" charset="0"/>
                                  <a:cs typeface="+mn-ea"/>
                                  <a:sym typeface="+mn-lt"/>
                                </a:rPr>
                                <m:t>1</m:t>
                              </m:r>
                              <m:r>
                                <a:rPr lang="zh-CN" altLang="en-US" sz="1400" i="1">
                                  <a:latin typeface="Cambria Math" panose="02040503050406030204" pitchFamily="18" charset="0"/>
                                  <a:cs typeface="+mn-ea"/>
                                  <a:sym typeface="+mn-lt"/>
                                </a:rPr>
                                <m:t>，</m:t>
                              </m:r>
                              <m:r>
                                <a:rPr lang="en-US" altLang="zh-CN" sz="1400" b="0" i="1" smtClean="0">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𝑜𝑏𝑗𝑒𝑐𝑡</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𝑒𝑥𝑖𝑠𝑡𝑠</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𝑖𝑛</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𝑡h𝑎𝑡</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𝑐𝑒𝑙𝑙</m:t>
                              </m:r>
                            </m:e>
                            <m:e>
                              <m:r>
                                <a:rPr lang="en-US" altLang="zh-CN" sz="1400" b="0" i="1" smtClean="0">
                                  <a:latin typeface="Cambria Math" panose="02040503050406030204" pitchFamily="18" charset="0"/>
                                  <a:cs typeface="+mn-ea"/>
                                  <a:sym typeface="+mn-lt"/>
                                </a:rPr>
                                <m:t>0</m:t>
                              </m:r>
                              <m:r>
                                <a:rPr lang="zh-CN" altLang="en-US" sz="1400" i="1">
                                  <a:latin typeface="Cambria Math" panose="02040503050406030204" pitchFamily="18" charset="0"/>
                                  <a:cs typeface="+mn-ea"/>
                                  <a:sym typeface="+mn-lt"/>
                                </a:rPr>
                                <m:t>，</m:t>
                              </m:r>
                              <m:r>
                                <a:rPr lang="en-US" altLang="zh-CN" sz="1400" b="0" i="1" smtClean="0">
                                  <a:latin typeface="Cambria Math" panose="02040503050406030204" pitchFamily="18" charset="0"/>
                                  <a:cs typeface="+mn-ea"/>
                                  <a:sym typeface="+mn-lt"/>
                                </a:rPr>
                                <m:t>𝑛𝑜</m:t>
                              </m:r>
                              <m:r>
                                <a:rPr lang="en-US" altLang="zh-CN" sz="1400" b="0" i="1" smtClean="0">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𝑜𝑏𝑗𝑒𝑐𝑡</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𝑒𝑥𝑖𝑠𝑡𝑠</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𝑖𝑛</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𝑡h𝑎𝑡</m:t>
                              </m:r>
                              <m:r>
                                <a:rPr lang="en-US" altLang="zh-CN" sz="1400" i="1">
                                  <a:latin typeface="Cambria Math" panose="02040503050406030204" pitchFamily="18" charset="0"/>
                                  <a:cs typeface="+mn-ea"/>
                                  <a:sym typeface="+mn-lt"/>
                                </a:rPr>
                                <m:t> </m:t>
                              </m:r>
                              <m:r>
                                <a:rPr lang="en-US" altLang="zh-CN" sz="1400" i="1">
                                  <a:latin typeface="Cambria Math" panose="02040503050406030204" pitchFamily="18" charset="0"/>
                                  <a:cs typeface="+mn-ea"/>
                                  <a:sym typeface="+mn-lt"/>
                                </a:rPr>
                                <m:t>𝑐𝑒𝑙𝑙</m:t>
                              </m:r>
                            </m:e>
                          </m:eqArr>
                        </m:e>
                      </m:d>
                    </m:oMath>
                  </m:oMathPara>
                </a14:m>
                <a:endParaRPr lang="zh-CN" altLang="en-US" sz="12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480102" y="3906797"/>
                <a:ext cx="6836936" cy="576696"/>
              </a:xfrm>
              <a:prstGeom prst="rect">
                <a:avLst/>
              </a:prstGeom>
              <a:blipFill rotWithShape="1">
                <a:blip r:embed="rId7"/>
                <a:stretch>
                  <a:fillRect l="-3" t="-48" r="1" b="68"/>
                </a:stretch>
              </a:blipFill>
            </p:spPr>
            <p:txBody>
              <a:bodyPr/>
              <a:lstStyle/>
              <a:p>
                <a:r>
                  <a:rPr lang="zh-CN" altLang="en-US">
                    <a:noFill/>
                  </a:rPr>
                  <a:t> </a:t>
                </a:r>
              </a:p>
            </p:txBody>
          </p:sp>
        </mc:Fallback>
      </mc:AlternateContent>
      <p:pic>
        <p:nvPicPr>
          <p:cNvPr id="13" name="图片 12"/>
          <p:cNvPicPr>
            <a:picLocks noChangeAspect="1"/>
          </p:cNvPicPr>
          <p:nvPr/>
        </p:nvPicPr>
        <p:blipFill>
          <a:blip r:embed="rId8"/>
          <a:stretch>
            <a:fillRect/>
          </a:stretch>
        </p:blipFill>
        <p:spPr>
          <a:xfrm>
            <a:off x="4377468" y="5483086"/>
            <a:ext cx="5275397" cy="440821"/>
          </a:xfrm>
          <a:prstGeom prst="rect">
            <a:avLst/>
          </a:prstGeom>
        </p:spPr>
      </p:pic>
      <mc:AlternateContent xmlns:mc="http://schemas.openxmlformats.org/markup-compatibility/2006" xmlns:a14="http://schemas.microsoft.com/office/drawing/2010/main">
        <mc:Choice Requires="a14">
          <p:sp>
            <p:nvSpPr>
              <p:cNvPr id="14" name="矩形 13"/>
              <p:cNvSpPr/>
              <p:nvPr/>
            </p:nvSpPr>
            <p:spPr>
              <a:xfrm>
                <a:off x="1884477" y="5989574"/>
                <a:ext cx="8560278" cy="363818"/>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最终输出</a:t>
                </a:r>
                <a:r>
                  <a:rPr lang="en-US" altLang="zh-CN" sz="1600" dirty="0">
                    <a:solidFill>
                      <a:prstClr val="black"/>
                    </a:solidFill>
                    <a:latin typeface="Microsoft YaHei UI Light" panose="020B0502040204020203" pitchFamily="34" charset="-122"/>
                    <a:ea typeface="微软雅黑 Light" panose="020B0502040204020203" pitchFamily="34" charset="-122"/>
                    <a:cs typeface="+mn-ea"/>
                    <a:sym typeface="+mn-lt"/>
                  </a:rPr>
                  <a:t>tensor</a:t>
                </a:r>
                <a:r>
                  <a:rPr lang="zh-CN" altLang="en-US" sz="1600" dirty="0">
                    <a:solidFill>
                      <a:prstClr val="black"/>
                    </a:solidFill>
                    <a:latin typeface="Microsoft YaHei UI Light" panose="020B0502040204020203" pitchFamily="34" charset="-122"/>
                    <a:ea typeface="微软雅黑 Light" panose="020B0502040204020203" pitchFamily="34" charset="-122"/>
                    <a:cs typeface="+mn-ea"/>
                    <a:sym typeface="+mn-lt"/>
                  </a:rPr>
                  <a:t>的维度为：</a:t>
                </a:r>
                <a14:m>
                  <m:oMath xmlns:m="http://schemas.openxmlformats.org/officeDocument/2006/math">
                    <m:r>
                      <a:rPr lang="en-US" altLang="zh-CN" sz="1600" b="0" i="1" smtClean="0">
                        <a:solidFill>
                          <a:prstClr val="black"/>
                        </a:solidFill>
                        <a:latin typeface="Cambria Math" panose="02040503050406030204" pitchFamily="18" charset="0"/>
                        <a:cs typeface="+mn-ea"/>
                        <a:sym typeface="+mn-lt"/>
                      </a:rPr>
                      <m:t>𝑆</m:t>
                    </m:r>
                    <m:r>
                      <a:rPr lang="en-US" altLang="zh-CN" sz="1600" b="0" i="1" smtClean="0">
                        <a:solidFill>
                          <a:prstClr val="black"/>
                        </a:solidFill>
                        <a:latin typeface="Cambria Math" panose="02040503050406030204" pitchFamily="18" charset="0"/>
                        <a:cs typeface="+mn-ea"/>
                        <a:sym typeface="+mn-lt"/>
                      </a:rPr>
                      <m:t>×</m:t>
                    </m:r>
                    <m:r>
                      <a:rPr lang="en-US" altLang="zh-CN" sz="1600" b="0" i="1" smtClean="0">
                        <a:solidFill>
                          <a:prstClr val="black"/>
                        </a:solidFill>
                        <a:latin typeface="Cambria Math" panose="02040503050406030204" pitchFamily="18" charset="0"/>
                        <a:cs typeface="+mn-ea"/>
                        <a:sym typeface="+mn-lt"/>
                      </a:rPr>
                      <m:t>𝑆</m:t>
                    </m:r>
                    <m:r>
                      <a:rPr lang="en-US" altLang="zh-CN" sz="1600" b="0" i="1" smtClean="0">
                        <a:solidFill>
                          <a:prstClr val="black"/>
                        </a:solidFill>
                        <a:latin typeface="Cambria Math" panose="02040503050406030204" pitchFamily="18" charset="0"/>
                        <a:cs typeface="+mn-ea"/>
                        <a:sym typeface="+mn-lt"/>
                      </a:rPr>
                      <m:t>×(</m:t>
                    </m:r>
                    <m:r>
                      <a:rPr lang="en-US" altLang="zh-CN" sz="1600" b="0" i="1" smtClean="0">
                        <a:solidFill>
                          <a:prstClr val="black"/>
                        </a:solidFill>
                        <a:latin typeface="Cambria Math" panose="02040503050406030204" pitchFamily="18" charset="0"/>
                        <a:cs typeface="+mn-ea"/>
                        <a:sym typeface="+mn-lt"/>
                      </a:rPr>
                      <m:t>𝐵</m:t>
                    </m:r>
                    <m:r>
                      <a:rPr lang="en-US" altLang="zh-CN" sz="1600" b="0" i="1" smtClean="0">
                        <a:solidFill>
                          <a:prstClr val="black"/>
                        </a:solidFill>
                        <a:latin typeface="Cambria Math" panose="02040503050406030204" pitchFamily="18" charset="0"/>
                        <a:cs typeface="+mn-ea"/>
                        <a:sym typeface="+mn-lt"/>
                      </a:rPr>
                      <m:t>×5+</m:t>
                    </m:r>
                    <m:r>
                      <a:rPr lang="en-US" altLang="zh-CN" sz="1600" b="0" i="1" smtClean="0">
                        <a:solidFill>
                          <a:prstClr val="black"/>
                        </a:solidFill>
                        <a:latin typeface="Cambria Math" panose="02040503050406030204" pitchFamily="18" charset="0"/>
                        <a:cs typeface="+mn-ea"/>
                        <a:sym typeface="+mn-lt"/>
                      </a:rPr>
                      <m:t>𝐶</m:t>
                    </m:r>
                    <m:r>
                      <a:rPr lang="en-US" altLang="zh-CN" sz="1600" b="0" i="1" smtClean="0">
                        <a:solidFill>
                          <a:prstClr val="black"/>
                        </a:solidFill>
                        <a:latin typeface="Cambria Math" panose="02040503050406030204" pitchFamily="18" charset="0"/>
                        <a:cs typeface="+mn-ea"/>
                        <a:sym typeface="+mn-lt"/>
                      </a:rPr>
                      <m:t>)</m:t>
                    </m:r>
                  </m:oMath>
                </a14:m>
                <a:endParaRPr lang="zh-CN" altLang="en-US" sz="16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4" name="矩形 13"/>
              <p:cNvSpPr>
                <a:spLocks noRot="1" noChangeAspect="1" noMove="1" noResize="1" noEditPoints="1" noAdjustHandles="1" noChangeArrowheads="1" noChangeShapeType="1" noTextEdit="1"/>
              </p:cNvSpPr>
              <p:nvPr/>
            </p:nvSpPr>
            <p:spPr>
              <a:xfrm>
                <a:off x="1884477" y="5989574"/>
                <a:ext cx="8560278" cy="363818"/>
              </a:xfrm>
              <a:prstGeom prst="rect">
                <a:avLst/>
              </a:prstGeom>
              <a:blipFill rotWithShape="1">
                <a:blip r:embed="rId9"/>
                <a:stretch>
                  <a:fillRect l="-5" t="-70" r="3" b="60"/>
                </a:stretch>
              </a:blipFill>
            </p:spPr>
            <p:txBody>
              <a:bodyPr/>
              <a:lstStyle/>
              <a:p>
                <a:r>
                  <a:rPr lang="zh-CN" altLang="en-US">
                    <a:noFill/>
                  </a:rPr>
                  <a:t> </a:t>
                </a:r>
              </a:p>
            </p:txBody>
          </p:sp>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Yolo</a:t>
            </a:r>
            <a:r>
              <a:rPr lang="zh-CN" altLang="en-US" sz="2800" b="1" dirty="0"/>
              <a:t>网络结构</a:t>
            </a:r>
            <a:endParaRPr lang="en-US" altLang="zh-CN" sz="2800" b="1" dirty="0"/>
          </a:p>
        </p:txBody>
      </p:sp>
      <p:sp>
        <p:nvSpPr>
          <p:cNvPr id="11" name="矩形 10"/>
          <p:cNvSpPr/>
          <p:nvPr/>
        </p:nvSpPr>
        <p:spPr>
          <a:xfrm>
            <a:off x="728419" y="5471465"/>
            <a:ext cx="11019295" cy="757130"/>
          </a:xfrm>
          <a:prstGeom prst="rect">
            <a:avLst/>
          </a:prstGeom>
        </p:spPr>
        <p:txBody>
          <a:bodyPr wrap="square">
            <a:spAutoFit/>
          </a:bodyPr>
          <a:lstStyle/>
          <a:p>
            <a:pPr marL="285750" lvl="0" indent="-285750">
              <a:lnSpc>
                <a:spcPct val="120000"/>
              </a:lnSpc>
              <a:buFont typeface="Arial" panose="020B0604020202020204" pitchFamily="34" charset="0"/>
              <a:buChar char="•"/>
            </a:pP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网络结构基于</a:t>
            </a:r>
            <a:r>
              <a:rPr lang="en-US" altLang="zh-CN" dirty="0" err="1">
                <a:solidFill>
                  <a:prstClr val="black"/>
                </a:solidFill>
                <a:latin typeface="Microsoft YaHei UI Light" panose="020B0502040204020203" pitchFamily="34" charset="-122"/>
                <a:ea typeface="微软雅黑 Light" panose="020B0502040204020203" pitchFamily="34" charset="-122"/>
                <a:cs typeface="+mn-ea"/>
                <a:sym typeface="+mn-lt"/>
              </a:rPr>
              <a:t>GoogleNet</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a:t>
            </a:r>
            <a:endPar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endParaRPr>
          </a:p>
          <a:p>
            <a:pPr marL="285750" lvl="0" indent="-285750">
              <a:lnSpc>
                <a:spcPct val="120000"/>
              </a:lnSpc>
              <a:buFont typeface="Arial" panose="020B0604020202020204" pitchFamily="34" charset="0"/>
              <a:buChar char="•"/>
            </a:pP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对于</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PASCAL VOC</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数据集，采用</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S=7</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 B=2</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 C=20</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 </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最终输出</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tensor</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维度为 </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7×7×30 (</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其中</a:t>
            </a:r>
            <a:r>
              <a:rPr lang="en-US" altLang="zh-CN" dirty="0">
                <a:solidFill>
                  <a:prstClr val="black"/>
                </a:solidFill>
                <a:latin typeface="Microsoft YaHei UI Light" panose="020B0502040204020203" pitchFamily="34" charset="-122"/>
                <a:ea typeface="微软雅黑 Light" panose="020B0502040204020203" pitchFamily="34" charset="-122"/>
                <a:cs typeface="+mn-ea"/>
                <a:sym typeface="+mn-lt"/>
              </a:rPr>
              <a:t>30=B*5+C)</a:t>
            </a:r>
            <a:r>
              <a:rPr lang="zh-CN" altLang="en-US" dirty="0">
                <a:solidFill>
                  <a:prstClr val="black"/>
                </a:solidFill>
                <a:latin typeface="Microsoft YaHei UI Light" panose="020B0502040204020203" pitchFamily="34" charset="-122"/>
                <a:ea typeface="微软雅黑 Light" panose="020B0502040204020203" pitchFamily="34" charset="-122"/>
                <a:cs typeface="+mn-ea"/>
                <a:sym typeface="+mn-lt"/>
              </a:rPr>
              <a:t>。</a:t>
            </a:r>
          </a:p>
        </p:txBody>
      </p:sp>
      <p:grpSp>
        <p:nvGrpSpPr>
          <p:cNvPr id="12" name="组合 11"/>
          <p:cNvGrpSpPr/>
          <p:nvPr/>
        </p:nvGrpSpPr>
        <p:grpSpPr>
          <a:xfrm>
            <a:off x="728420" y="1605789"/>
            <a:ext cx="10275375" cy="3759454"/>
            <a:chOff x="-4961" y="1810009"/>
            <a:chExt cx="10087306" cy="3759454"/>
          </a:xfrm>
        </p:grpSpPr>
        <p:pic>
          <p:nvPicPr>
            <p:cNvPr id="13" name="图片 12"/>
            <p:cNvPicPr>
              <a:picLocks noChangeAspect="1"/>
            </p:cNvPicPr>
            <p:nvPr/>
          </p:nvPicPr>
          <p:blipFill>
            <a:blip r:embed="rId5"/>
            <a:stretch>
              <a:fillRect/>
            </a:stretch>
          </p:blipFill>
          <p:spPr>
            <a:xfrm>
              <a:off x="-4961" y="1810009"/>
              <a:ext cx="9144000" cy="3759454"/>
            </a:xfrm>
            <a:prstGeom prst="rect">
              <a:avLst/>
            </a:prstGeom>
          </p:spPr>
        </p:pic>
        <p:sp>
          <p:nvSpPr>
            <p:cNvPr id="14" name="矩形 13"/>
            <p:cNvSpPr/>
            <p:nvPr/>
          </p:nvSpPr>
          <p:spPr>
            <a:xfrm>
              <a:off x="3905202" y="1810009"/>
              <a:ext cx="6177143" cy="1077218"/>
            </a:xfrm>
            <a:prstGeom prst="rect">
              <a:avLst/>
            </a:prstGeom>
            <a:ln w="3175">
              <a:noFill/>
            </a:ln>
          </p:spPr>
          <p:txBody>
            <a:bodyPr wrap="square">
              <a:spAutoFit/>
            </a:bodyPr>
            <a:lstStyle/>
            <a:p>
              <a:pPr marL="171450" indent="-171450">
                <a:buFont typeface="Wingdings" panose="05000000000000000000" pitchFamily="2" charset="2"/>
                <a:buChar char="n"/>
              </a:pP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激活函数用的是</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Leaky </a:t>
              </a:r>
              <a:r>
                <a:rPr lang="en-US" altLang="zh-CN" sz="1600" i="1" dirty="0" err="1">
                  <a:solidFill>
                    <a:srgbClr val="000000"/>
                  </a:solidFill>
                  <a:latin typeface="Microsoft YaHei UI Light" panose="020B0502040204020203" pitchFamily="34" charset="-122"/>
                  <a:ea typeface="微软雅黑 Light" panose="020B0502040204020203" pitchFamily="34" charset="-122"/>
                  <a:cs typeface="+mn-ea"/>
                  <a:sym typeface="+mn-lt"/>
                </a:rPr>
                <a:t>ReLU</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 : f(x)=max(x,0.1x)</a:t>
              </a: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，在</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x</a:t>
              </a: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小于</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0</a:t>
              </a: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的时候，用</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0.1x</a:t>
              </a: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，避免使用</a:t>
              </a:r>
              <a:r>
                <a:rPr lang="en-US" altLang="zh-CN" sz="1600" i="1" dirty="0" err="1">
                  <a:solidFill>
                    <a:srgbClr val="000000"/>
                  </a:solidFill>
                  <a:latin typeface="Microsoft YaHei UI Light" panose="020B0502040204020203" pitchFamily="34" charset="-122"/>
                  <a:ea typeface="微软雅黑 Light" panose="020B0502040204020203" pitchFamily="34" charset="-122"/>
                  <a:cs typeface="+mn-ea"/>
                  <a:sym typeface="+mn-lt"/>
                </a:rPr>
                <a:t>ReLU</a:t>
              </a: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的时候有些单元永远得不到激活（</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Dead </a:t>
              </a:r>
              <a:r>
                <a:rPr lang="en-US" altLang="zh-CN" sz="1600" i="1" dirty="0" err="1">
                  <a:solidFill>
                    <a:srgbClr val="000000"/>
                  </a:solidFill>
                  <a:latin typeface="Microsoft YaHei UI Light" panose="020B0502040204020203" pitchFamily="34" charset="-122"/>
                  <a:ea typeface="微软雅黑 Light" panose="020B0502040204020203" pitchFamily="34" charset="-122"/>
                  <a:cs typeface="+mn-ea"/>
                  <a:sym typeface="+mn-lt"/>
                </a:rPr>
                <a:t>ReLU</a:t>
              </a:r>
              <a:r>
                <a:rPr lang="en-US" altLang="zh-CN" sz="1600" i="1" dirty="0">
                  <a:solidFill>
                    <a:srgbClr val="000000"/>
                  </a:solidFill>
                  <a:latin typeface="Microsoft YaHei UI Light" panose="020B0502040204020203" pitchFamily="34" charset="-122"/>
                  <a:ea typeface="微软雅黑 Light" panose="020B0502040204020203" pitchFamily="34" charset="-122"/>
                  <a:cs typeface="+mn-ea"/>
                  <a:sym typeface="+mn-lt"/>
                </a:rPr>
                <a:t> Problem</a:t>
              </a:r>
              <a:r>
                <a:rPr lang="zh-CN" altLang="en-US" sz="1600" i="1" dirty="0">
                  <a:solidFill>
                    <a:srgbClr val="000000"/>
                  </a:solidFill>
                  <a:latin typeface="Microsoft YaHei UI Light" panose="020B0502040204020203" pitchFamily="34" charset="-122"/>
                  <a:ea typeface="微软雅黑 Light" panose="020B0502040204020203" pitchFamily="34" charset="-122"/>
                  <a:cs typeface="+mn-ea"/>
                  <a:sym typeface="+mn-lt"/>
                </a:rPr>
                <a:t>），在不增加计算法复杂度的前提下提升了模型的拟合能力。</a:t>
              </a:r>
              <a:endParaRPr lang="zh-CN" altLang="en-US" sz="1600" i="1" dirty="0">
                <a:latin typeface="Microsoft YaHei UI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a:t>Yolo</a:t>
            </a:r>
            <a:endParaRPr lang="en-US" altLang="zh-CN" sz="2800" b="1" dirty="0"/>
          </a:p>
        </p:txBody>
      </p:sp>
      <p:sp>
        <p:nvSpPr>
          <p:cNvPr id="8" name="矩形 7"/>
          <p:cNvSpPr/>
          <p:nvPr/>
        </p:nvSpPr>
        <p:spPr>
          <a:xfrm>
            <a:off x="655308" y="1412074"/>
            <a:ext cx="11284339" cy="5078313"/>
          </a:xfrm>
          <a:prstGeom prst="rect">
            <a:avLst/>
          </a:prstGeom>
        </p:spPr>
        <p:txBody>
          <a:bodyPr wrap="square">
            <a:spAutoFit/>
          </a:bodyPr>
          <a:lstStyle/>
          <a:p>
            <a:pPr>
              <a:lnSpc>
                <a:spcPct val="120000"/>
              </a:lnSpc>
            </a:pPr>
            <a:r>
              <a:rPr lang="en-US" altLang="zh-CN" b="1" dirty="0">
                <a:solidFill>
                  <a:srgbClr val="000000"/>
                </a:solidFill>
                <a:latin typeface="Microsoft YaHei UI Light" panose="020B0502040204020203" pitchFamily="34" charset="-122"/>
                <a:ea typeface="微软雅黑 Light" panose="020B0502040204020203" pitchFamily="34" charset="-122"/>
                <a:cs typeface="+mn-ea"/>
                <a:sym typeface="+mn-lt"/>
              </a:rPr>
              <a:t>YOLO(v1)</a:t>
            </a:r>
            <a:r>
              <a:rPr lang="zh-CN" altLang="en-US" b="1" dirty="0">
                <a:solidFill>
                  <a:srgbClr val="000000"/>
                </a:solidFill>
                <a:latin typeface="Microsoft YaHei UI Light" panose="020B0502040204020203" pitchFamily="34" charset="-122"/>
                <a:ea typeface="微软雅黑 Light" panose="020B0502040204020203" pitchFamily="34" charset="-122"/>
                <a:cs typeface="+mn-ea"/>
                <a:sym typeface="+mn-lt"/>
              </a:rPr>
              <a:t>的优点</a:t>
            </a: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1</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、检测速度快。</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将目标检测重建为单一回归问题，对输入图像直接处理，同时输出边界框坐标和分类概率，而且每张图像只预测</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98</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个</a:t>
            </a:r>
            <a:r>
              <a:rPr lang="en-US" altLang="zh-CN" dirty="0" err="1">
                <a:solidFill>
                  <a:srgbClr val="000000"/>
                </a:solidFill>
                <a:latin typeface="Microsoft YaHei UI Light" panose="020B0502040204020203" pitchFamily="34" charset="-122"/>
                <a:ea typeface="微软雅黑 Light" panose="020B0502040204020203" pitchFamily="34" charset="-122"/>
                <a:cs typeface="+mn-ea"/>
                <a:sym typeface="+mn-lt"/>
              </a:rPr>
              <a:t>bbox</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，检测速度非常快，在</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Titan X </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的 </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GPU </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上能达到</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45 FPS</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Fast 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检测速度可以达到</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155 FPS</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a:t>
            </a: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2</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、背景误判少。以往基于滑窗或候选区域提取的目标检测算法，只能看到图像的局部信息，会出现把背景当前景的问题。而</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在回归之前做了全连接，在训练和测试时每个</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cell</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都使用全局信息做预测，因此不容易把背景误认为目标。</a:t>
            </a:r>
            <a:endPar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endParaRP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3</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、泛化性更好。</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能够学习到目标的泛化表示，能够迁移到其它领域。例如，当</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在自然图像上做训练，在艺术品上做测试时，</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的性能远优于</a:t>
            </a:r>
            <a:r>
              <a:rPr lang="en-US" altLang="zh-CN" dirty="0" err="1">
                <a:solidFill>
                  <a:srgbClr val="000000"/>
                </a:solidFill>
                <a:latin typeface="Microsoft YaHei UI Light" panose="020B0502040204020203" pitchFamily="34" charset="-122"/>
                <a:ea typeface="微软雅黑 Light" panose="020B0502040204020203" pitchFamily="34" charset="-122"/>
                <a:cs typeface="+mn-ea"/>
                <a:sym typeface="+mn-lt"/>
              </a:rPr>
              <a:t>DPM</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R-CNN</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等。</a:t>
            </a:r>
            <a:endPar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endParaRPr>
          </a:p>
          <a:p>
            <a:pPr>
              <a:lnSpc>
                <a:spcPct val="120000"/>
              </a:lnSpc>
            </a:pPr>
            <a:r>
              <a:rPr lang="en-US" altLang="zh-CN" b="1" dirty="0">
                <a:solidFill>
                  <a:srgbClr val="000000"/>
                </a:solidFill>
                <a:latin typeface="Microsoft YaHei UI Light" panose="020B0502040204020203" pitchFamily="34" charset="-122"/>
                <a:ea typeface="微软雅黑 Light" panose="020B0502040204020203" pitchFamily="34" charset="-122"/>
                <a:cs typeface="+mn-ea"/>
                <a:sym typeface="+mn-lt"/>
              </a:rPr>
              <a:t>YOLO(v1) </a:t>
            </a:r>
            <a:r>
              <a:rPr lang="zh-CN" altLang="en-US" b="1" dirty="0">
                <a:solidFill>
                  <a:srgbClr val="000000"/>
                </a:solidFill>
                <a:latin typeface="Microsoft YaHei UI Light" panose="020B0502040204020203" pitchFamily="34" charset="-122"/>
                <a:ea typeface="微软雅黑 Light" panose="020B0502040204020203" pitchFamily="34" charset="-122"/>
                <a:cs typeface="+mn-ea"/>
                <a:sym typeface="+mn-lt"/>
              </a:rPr>
              <a:t>的缺点</a:t>
            </a: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1</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、邻近物体检测精度低。</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YOLO</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对每个</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cell</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只预测两个</a:t>
            </a:r>
            <a:r>
              <a:rPr lang="en-US" altLang="zh-CN" dirty="0" err="1">
                <a:solidFill>
                  <a:srgbClr val="000000"/>
                </a:solidFill>
                <a:latin typeface="Microsoft YaHei UI Light" panose="020B0502040204020203" pitchFamily="34" charset="-122"/>
                <a:ea typeface="微软雅黑 Light" panose="020B0502040204020203" pitchFamily="34" charset="-122"/>
                <a:cs typeface="+mn-ea"/>
                <a:sym typeface="+mn-lt"/>
              </a:rPr>
              <a:t>bbox</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和一个分类，如果多个物体的中心都在同一</a:t>
            </a: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cell</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内，检测精度低。</a:t>
            </a: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2</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、全连接层的参数量非常大。</a:t>
            </a: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3</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、损失函数的设计过于简单。用坐标和分类的</a:t>
            </a:r>
            <a:r>
              <a:rPr lang="en-US" altLang="zh-CN" dirty="0" err="1">
                <a:solidFill>
                  <a:srgbClr val="000000"/>
                </a:solidFill>
                <a:latin typeface="Microsoft YaHei UI Light" panose="020B0502040204020203" pitchFamily="34" charset="-122"/>
                <a:ea typeface="微软雅黑 Light" panose="020B0502040204020203" pitchFamily="34" charset="-122"/>
                <a:cs typeface="+mn-ea"/>
                <a:sym typeface="+mn-lt"/>
              </a:rPr>
              <a:t>MSE</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作为损失函数不合理（具体见论文）。</a:t>
            </a:r>
          </a:p>
          <a:p>
            <a:pPr>
              <a:lnSpc>
                <a:spcPct val="120000"/>
              </a:lnSpc>
            </a:pPr>
            <a:r>
              <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rPr>
              <a:t>4</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、训练不易收敛。直接预测的</a:t>
            </a:r>
            <a:r>
              <a:rPr lang="en-US" altLang="zh-CN" dirty="0" err="1">
                <a:solidFill>
                  <a:srgbClr val="000000"/>
                </a:solidFill>
                <a:latin typeface="Microsoft YaHei UI Light" panose="020B0502040204020203" pitchFamily="34" charset="-122"/>
                <a:ea typeface="微软雅黑 Light" panose="020B0502040204020203" pitchFamily="34" charset="-122"/>
                <a:cs typeface="+mn-ea"/>
                <a:sym typeface="+mn-lt"/>
              </a:rPr>
              <a:t>bbox</a:t>
            </a:r>
            <a:r>
              <a:rPr lang="zh-CN" altLang="en-US" dirty="0">
                <a:solidFill>
                  <a:srgbClr val="000000"/>
                </a:solidFill>
                <a:latin typeface="Microsoft YaHei UI Light" panose="020B0502040204020203" pitchFamily="34" charset="-122"/>
                <a:ea typeface="微软雅黑 Light" panose="020B0502040204020203" pitchFamily="34" charset="-122"/>
                <a:cs typeface="+mn-ea"/>
                <a:sym typeface="+mn-lt"/>
              </a:rPr>
              <a:t>位置，相较于预测物体的偏移量，模型收敛不稳定。</a:t>
            </a:r>
            <a:endParaRPr lang="en-US" altLang="zh-CN" dirty="0">
              <a:solidFill>
                <a:srgbClr val="000000"/>
              </a:solidFill>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Yolo</a:t>
            </a:r>
            <a:r>
              <a:rPr lang="zh-CN" altLang="en-US" sz="2800" b="1" dirty="0"/>
              <a:t>拓展</a:t>
            </a:r>
            <a:endParaRPr lang="en-US" altLang="zh-CN" sz="2800" b="1" dirty="0"/>
          </a:p>
        </p:txBody>
      </p:sp>
      <p:sp>
        <p:nvSpPr>
          <p:cNvPr id="8" name="内容占位符 2"/>
          <p:cNvSpPr txBox="1"/>
          <p:nvPr/>
        </p:nvSpPr>
        <p:spPr>
          <a:xfrm>
            <a:off x="545988" y="1720244"/>
            <a:ext cx="8363561" cy="743465"/>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800" dirty="0">
                <a:latin typeface="Microsoft YaHei UI Light" panose="020B0502040204020203" pitchFamily="34" charset="-122"/>
                <a:ea typeface="微软雅黑 Light" panose="020B0502040204020203" pitchFamily="34" charset="-122"/>
                <a:cs typeface="+mn-ea"/>
                <a:sym typeface="+mn-lt"/>
              </a:rPr>
              <a:t>YOLO-v2 </a:t>
            </a:r>
            <a:r>
              <a:rPr lang="zh-CN" altLang="en-US" sz="1800" dirty="0">
                <a:latin typeface="Microsoft YaHei UI Light" panose="020B0502040204020203" pitchFamily="34" charset="-122"/>
                <a:ea typeface="微软雅黑 Light" panose="020B0502040204020203" pitchFamily="34" charset="-122"/>
                <a:cs typeface="+mn-ea"/>
                <a:sym typeface="+mn-lt"/>
              </a:rPr>
              <a:t>：</a:t>
            </a:r>
            <a:r>
              <a:rPr lang="en-US" altLang="zh-CN" sz="1800" dirty="0" err="1">
                <a:latin typeface="Microsoft YaHei UI Light" panose="020B0502040204020203" pitchFamily="34" charset="-122"/>
                <a:ea typeface="微软雅黑 Light" panose="020B0502040204020203" pitchFamily="34" charset="-122"/>
                <a:cs typeface="+mn-ea"/>
                <a:sym typeface="+mn-lt"/>
              </a:rPr>
              <a:t>Redmon</a:t>
            </a:r>
            <a:r>
              <a:rPr lang="en-US" altLang="zh-CN" sz="1800" dirty="0">
                <a:latin typeface="Microsoft YaHei UI Light" panose="020B0502040204020203" pitchFamily="34" charset="-122"/>
                <a:ea typeface="微软雅黑 Light" panose="020B0502040204020203" pitchFamily="34" charset="-122"/>
                <a:cs typeface="+mn-ea"/>
                <a:sym typeface="+mn-lt"/>
              </a:rPr>
              <a:t> J, </a:t>
            </a:r>
            <a:r>
              <a:rPr lang="en-US" altLang="zh-CN" sz="1800" dirty="0" err="1">
                <a:latin typeface="Microsoft YaHei UI Light" panose="020B0502040204020203" pitchFamily="34" charset="-122"/>
                <a:ea typeface="微软雅黑 Light" panose="020B0502040204020203" pitchFamily="34" charset="-122"/>
                <a:cs typeface="+mn-ea"/>
                <a:sym typeface="+mn-lt"/>
              </a:rPr>
              <a:t>Farhadi</a:t>
            </a:r>
            <a:r>
              <a:rPr lang="en-US" altLang="zh-CN" sz="1800" dirty="0">
                <a:latin typeface="Microsoft YaHei UI Light" panose="020B0502040204020203" pitchFamily="34" charset="-122"/>
                <a:ea typeface="微软雅黑 Light" panose="020B0502040204020203" pitchFamily="34" charset="-122"/>
                <a:cs typeface="+mn-ea"/>
                <a:sym typeface="+mn-lt"/>
              </a:rPr>
              <a:t> A. YOLO9000: Better, Faster, Stronger[C]// IEEE Conference on Computer Vision &amp; Pattern Recognition. 2017.</a:t>
            </a:r>
          </a:p>
        </p:txBody>
      </p:sp>
      <p:sp>
        <p:nvSpPr>
          <p:cNvPr id="10" name="矩形 9"/>
          <p:cNvSpPr/>
          <p:nvPr/>
        </p:nvSpPr>
        <p:spPr>
          <a:xfrm>
            <a:off x="851094" y="2696994"/>
            <a:ext cx="10586655" cy="923330"/>
          </a:xfrm>
          <a:prstGeom prst="rect">
            <a:avLst/>
          </a:prstGeom>
        </p:spPr>
        <p:txBody>
          <a:bodyPr wrap="square">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提高了训练图像的分辨率；引入了</a:t>
            </a:r>
            <a:r>
              <a:rPr lang="en-US" altLang="zh-CN" dirty="0">
                <a:latin typeface="Microsoft YaHei UI Light" panose="020B0502040204020203" pitchFamily="34" charset="-122"/>
                <a:ea typeface="微软雅黑 Light" panose="020B0502040204020203" pitchFamily="34" charset="-122"/>
                <a:cs typeface="+mn-ea"/>
                <a:sym typeface="+mn-lt"/>
              </a:rPr>
              <a:t>faster </a:t>
            </a:r>
            <a:r>
              <a:rPr lang="en-US" altLang="zh-CN" dirty="0" err="1">
                <a:latin typeface="Microsoft YaHei UI Light" panose="020B0502040204020203" pitchFamily="34" charset="-122"/>
                <a:ea typeface="微软雅黑 Light" panose="020B0502040204020203" pitchFamily="34" charset="-122"/>
                <a:cs typeface="+mn-ea"/>
                <a:sym typeface="+mn-lt"/>
              </a:rPr>
              <a:t>rcnn</a:t>
            </a:r>
            <a:r>
              <a:rPr lang="zh-CN" altLang="en-US" dirty="0">
                <a:latin typeface="Microsoft YaHei UI Light" panose="020B0502040204020203" pitchFamily="34" charset="-122"/>
                <a:ea typeface="微软雅黑 Light" panose="020B0502040204020203" pitchFamily="34" charset="-122"/>
                <a:cs typeface="+mn-ea"/>
                <a:sym typeface="+mn-lt"/>
              </a:rPr>
              <a:t>中</a:t>
            </a:r>
            <a:r>
              <a:rPr lang="en-US" altLang="zh-CN" dirty="0">
                <a:latin typeface="Microsoft YaHei UI Light" panose="020B0502040204020203" pitchFamily="34" charset="-122"/>
                <a:ea typeface="微软雅黑 Light" panose="020B0502040204020203" pitchFamily="34" charset="-122"/>
                <a:cs typeface="+mn-ea"/>
                <a:sym typeface="+mn-lt"/>
              </a:rPr>
              <a:t>anchor box</a:t>
            </a:r>
            <a:r>
              <a:rPr lang="zh-CN" altLang="en-US" dirty="0">
                <a:latin typeface="Microsoft YaHei UI Light" panose="020B0502040204020203" pitchFamily="34" charset="-122"/>
                <a:ea typeface="微软雅黑 Light" panose="020B0502040204020203" pitchFamily="34" charset="-122"/>
                <a:cs typeface="+mn-ea"/>
                <a:sym typeface="+mn-lt"/>
              </a:rPr>
              <a:t>的思想；对网络结构的设计进行了改进</a:t>
            </a:r>
            <a:r>
              <a:rPr lang="en-US" altLang="zh-CN" dirty="0">
                <a:latin typeface="Microsoft YaHei UI Light" panose="020B0502040204020203" pitchFamily="34" charset="-122"/>
                <a:ea typeface="微软雅黑 Light" panose="020B0502040204020203" pitchFamily="34" charset="-122"/>
                <a:cs typeface="+mn-ea"/>
                <a:sym typeface="+mn-lt"/>
              </a:rPr>
              <a:t>(Darknet-19)</a:t>
            </a:r>
            <a:r>
              <a:rPr lang="zh-CN" altLang="en-US" dirty="0">
                <a:latin typeface="Microsoft YaHei UI Light" panose="020B0502040204020203" pitchFamily="34" charset="-122"/>
                <a:ea typeface="微软雅黑 Light" panose="020B0502040204020203" pitchFamily="34" charset="-122"/>
                <a:cs typeface="+mn-ea"/>
                <a:sym typeface="+mn-lt"/>
              </a:rPr>
              <a:t>；输出层使用卷积层替代</a:t>
            </a:r>
            <a:r>
              <a:rPr lang="en-US" altLang="zh-CN" dirty="0">
                <a:latin typeface="Microsoft YaHei UI Light" panose="020B0502040204020203" pitchFamily="34" charset="-122"/>
                <a:ea typeface="微软雅黑 Light" panose="020B0502040204020203" pitchFamily="34" charset="-122"/>
                <a:cs typeface="+mn-ea"/>
                <a:sym typeface="+mn-lt"/>
              </a:rPr>
              <a:t>YOLO</a:t>
            </a:r>
            <a:r>
              <a:rPr lang="zh-CN" altLang="en-US" dirty="0">
                <a:latin typeface="Microsoft YaHei UI Light" panose="020B0502040204020203" pitchFamily="34" charset="-122"/>
                <a:ea typeface="微软雅黑 Light" panose="020B0502040204020203" pitchFamily="34" charset="-122"/>
                <a:cs typeface="+mn-ea"/>
                <a:sym typeface="+mn-lt"/>
              </a:rPr>
              <a:t>的全连接层，联合使用</a:t>
            </a:r>
            <a:r>
              <a:rPr lang="en-US" altLang="zh-CN" dirty="0">
                <a:latin typeface="Microsoft YaHei UI Light" panose="020B0502040204020203" pitchFamily="34" charset="-122"/>
                <a:ea typeface="微软雅黑 Light" panose="020B0502040204020203" pitchFamily="34" charset="-122"/>
                <a:cs typeface="+mn-ea"/>
                <a:sym typeface="+mn-lt"/>
              </a:rPr>
              <a:t>coco</a:t>
            </a:r>
            <a:r>
              <a:rPr lang="zh-CN" altLang="en-US" dirty="0">
                <a:latin typeface="Microsoft YaHei UI Light" panose="020B0502040204020203" pitchFamily="34" charset="-122"/>
                <a:ea typeface="微软雅黑 Light" panose="020B0502040204020203" pitchFamily="34" charset="-122"/>
                <a:cs typeface="+mn-ea"/>
                <a:sym typeface="+mn-lt"/>
              </a:rPr>
              <a:t>物体检测标注数据和</a:t>
            </a:r>
            <a:r>
              <a:rPr lang="en-US" altLang="zh-CN" dirty="0" err="1">
                <a:latin typeface="Microsoft YaHei UI Light" panose="020B0502040204020203" pitchFamily="34" charset="-122"/>
                <a:ea typeface="微软雅黑 Light" panose="020B0502040204020203" pitchFamily="34" charset="-122"/>
                <a:cs typeface="+mn-ea"/>
                <a:sym typeface="+mn-lt"/>
              </a:rPr>
              <a:t>imagenet</a:t>
            </a:r>
            <a:r>
              <a:rPr lang="zh-CN" altLang="en-US" dirty="0">
                <a:latin typeface="Microsoft YaHei UI Light" panose="020B0502040204020203" pitchFamily="34" charset="-122"/>
                <a:ea typeface="微软雅黑 Light" panose="020B0502040204020203" pitchFamily="34" charset="-122"/>
                <a:cs typeface="+mn-ea"/>
                <a:sym typeface="+mn-lt"/>
              </a:rPr>
              <a:t>物体分类标注数据训练物体检测模型。</a:t>
            </a:r>
          </a:p>
        </p:txBody>
      </p:sp>
      <p:sp>
        <p:nvSpPr>
          <p:cNvPr id="11" name="矩形 10"/>
          <p:cNvSpPr/>
          <p:nvPr/>
        </p:nvSpPr>
        <p:spPr>
          <a:xfrm>
            <a:off x="851094" y="4455764"/>
            <a:ext cx="10396976" cy="646331"/>
          </a:xfrm>
          <a:prstGeom prst="rect">
            <a:avLst/>
          </a:prstGeom>
        </p:spPr>
        <p:txBody>
          <a:bodyPr wrap="square">
            <a:spAutoFit/>
          </a:bodyPr>
          <a:lstStyle/>
          <a:p>
            <a:r>
              <a:rPr lang="zh-CN" altLang="en-US" dirty="0">
                <a:latin typeface="Microsoft YaHei UI Light" panose="020B0502040204020203" pitchFamily="34" charset="-122"/>
                <a:ea typeface="微软雅黑 Light" panose="020B0502040204020203" pitchFamily="34" charset="-122"/>
                <a:cs typeface="+mn-ea"/>
                <a:sym typeface="+mn-lt"/>
              </a:rPr>
              <a:t>类似</a:t>
            </a:r>
            <a:r>
              <a:rPr lang="en-US" altLang="zh-CN" dirty="0">
                <a:latin typeface="Microsoft YaHei UI Light" panose="020B0502040204020203" pitchFamily="34" charset="-122"/>
                <a:ea typeface="微软雅黑 Light" panose="020B0502040204020203" pitchFamily="34" charset="-122"/>
                <a:cs typeface="+mn-ea"/>
                <a:sym typeface="+mn-lt"/>
              </a:rPr>
              <a:t>FPN</a:t>
            </a:r>
            <a:r>
              <a:rPr lang="zh-CN" altLang="en-US" dirty="0">
                <a:latin typeface="Microsoft YaHei UI Light" panose="020B0502040204020203" pitchFamily="34" charset="-122"/>
                <a:ea typeface="微软雅黑 Light" panose="020B0502040204020203" pitchFamily="34" charset="-122"/>
                <a:cs typeface="+mn-ea"/>
                <a:sym typeface="+mn-lt"/>
              </a:rPr>
              <a:t>的多尺度预测；更好的基础分类网络（</a:t>
            </a:r>
            <a:r>
              <a:rPr lang="en-US" altLang="zh-CN" dirty="0">
                <a:latin typeface="Microsoft YaHei UI Light" panose="020B0502040204020203" pitchFamily="34" charset="-122"/>
                <a:ea typeface="微软雅黑 Light" panose="020B0502040204020203" pitchFamily="34" charset="-122"/>
                <a:cs typeface="+mn-ea"/>
                <a:sym typeface="+mn-lt"/>
              </a:rPr>
              <a:t>Darknet-53</a:t>
            </a:r>
            <a:r>
              <a:rPr lang="zh-CN" altLang="en-US" dirty="0">
                <a:latin typeface="Microsoft YaHei UI Light" panose="020B0502040204020203" pitchFamily="34" charset="-122"/>
                <a:ea typeface="微软雅黑 Light" panose="020B0502040204020203" pitchFamily="34" charset="-122"/>
                <a:cs typeface="+mn-ea"/>
                <a:sym typeface="+mn-lt"/>
              </a:rPr>
              <a:t>，结合</a:t>
            </a:r>
            <a:r>
              <a:rPr lang="en-US" altLang="zh-CN" dirty="0" err="1">
                <a:latin typeface="Microsoft YaHei UI Light" panose="020B0502040204020203" pitchFamily="34" charset="-122"/>
                <a:ea typeface="微软雅黑 Light" panose="020B0502040204020203" pitchFamily="34" charset="-122"/>
                <a:cs typeface="+mn-ea"/>
                <a:sym typeface="+mn-lt"/>
              </a:rPr>
              <a:t>resnet</a:t>
            </a:r>
            <a:r>
              <a:rPr lang="zh-CN" altLang="en-US" dirty="0">
                <a:latin typeface="Microsoft YaHei UI Light" panose="020B0502040204020203" pitchFamily="34" charset="-122"/>
                <a:ea typeface="微软雅黑 Light" panose="020B0502040204020203" pitchFamily="34" charset="-122"/>
                <a:cs typeface="+mn-ea"/>
                <a:sym typeface="+mn-lt"/>
              </a:rPr>
              <a:t>）；</a:t>
            </a:r>
            <a:r>
              <a:rPr lang="en-US" altLang="zh-CN" dirty="0">
                <a:latin typeface="Microsoft YaHei UI Light" panose="020B0502040204020203" pitchFamily="34" charset="-122"/>
                <a:ea typeface="微软雅黑 Light" panose="020B0502040204020203" pitchFamily="34" charset="-122"/>
                <a:cs typeface="+mn-ea"/>
                <a:sym typeface="+mn-lt"/>
              </a:rPr>
              <a:t>Sigmoid</a:t>
            </a:r>
            <a:r>
              <a:rPr lang="zh-CN" altLang="en-US" dirty="0">
                <a:latin typeface="Microsoft YaHei UI Light" panose="020B0502040204020203" pitchFamily="34" charset="-122"/>
                <a:ea typeface="微软雅黑 Light" panose="020B0502040204020203" pitchFamily="34" charset="-122"/>
                <a:cs typeface="+mn-ea"/>
                <a:sym typeface="+mn-lt"/>
              </a:rPr>
              <a:t>代替</a:t>
            </a:r>
            <a:r>
              <a:rPr lang="en-US" altLang="zh-CN" dirty="0" err="1">
                <a:latin typeface="Microsoft YaHei UI Light" panose="020B0502040204020203" pitchFamily="34" charset="-122"/>
                <a:ea typeface="微软雅黑 Light" panose="020B0502040204020203" pitchFamily="34" charset="-122"/>
                <a:cs typeface="+mn-ea"/>
                <a:sym typeface="+mn-lt"/>
              </a:rPr>
              <a:t>Softmax</a:t>
            </a:r>
            <a:r>
              <a:rPr lang="zh-CN" altLang="en-US" dirty="0">
                <a:latin typeface="Microsoft YaHei UI Light" panose="020B0502040204020203" pitchFamily="34" charset="-122"/>
                <a:ea typeface="微软雅黑 Light" panose="020B0502040204020203" pitchFamily="34" charset="-122"/>
                <a:cs typeface="+mn-ea"/>
                <a:sym typeface="+mn-lt"/>
              </a:rPr>
              <a:t>用于多标签分类。</a:t>
            </a:r>
            <a:endParaRPr lang="en-US" altLang="zh-CN" dirty="0">
              <a:latin typeface="Microsoft YaHei UI Light" panose="020B0502040204020203" pitchFamily="34" charset="-122"/>
              <a:ea typeface="微软雅黑 Light" panose="020B0502040204020203" pitchFamily="34" charset="-122"/>
              <a:cs typeface="+mn-ea"/>
              <a:sym typeface="+mn-lt"/>
            </a:endParaRPr>
          </a:p>
        </p:txBody>
      </p:sp>
      <p:sp>
        <p:nvSpPr>
          <p:cNvPr id="12" name="内容占位符 2"/>
          <p:cNvSpPr txBox="1"/>
          <p:nvPr/>
        </p:nvSpPr>
        <p:spPr>
          <a:xfrm>
            <a:off x="545988" y="3807387"/>
            <a:ext cx="9217944" cy="478710"/>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800" dirty="0">
                <a:latin typeface="Microsoft YaHei UI Light" panose="020B0502040204020203" pitchFamily="34" charset="-122"/>
                <a:ea typeface="微软雅黑 Light" panose="020B0502040204020203" pitchFamily="34" charset="-122"/>
                <a:cs typeface="+mn-ea"/>
                <a:sym typeface="+mn-lt"/>
              </a:rPr>
              <a:t>YOLO-v3 </a:t>
            </a:r>
            <a:r>
              <a:rPr lang="zh-CN" altLang="en-US" sz="1800" dirty="0">
                <a:latin typeface="Microsoft YaHei UI Light" panose="020B0502040204020203" pitchFamily="34" charset="-122"/>
                <a:ea typeface="微软雅黑 Light" panose="020B0502040204020203" pitchFamily="34" charset="-122"/>
                <a:cs typeface="+mn-ea"/>
                <a:sym typeface="+mn-lt"/>
              </a:rPr>
              <a:t>：</a:t>
            </a:r>
            <a:r>
              <a:rPr lang="en-US" altLang="zh-CN" sz="1800" dirty="0" err="1">
                <a:latin typeface="Microsoft YaHei UI Light" panose="020B0502040204020203" pitchFamily="34" charset="-122"/>
                <a:ea typeface="微软雅黑 Light" panose="020B0502040204020203" pitchFamily="34" charset="-122"/>
                <a:cs typeface="+mn-ea"/>
                <a:sym typeface="+mn-lt"/>
              </a:rPr>
              <a:t>Redmon</a:t>
            </a:r>
            <a:r>
              <a:rPr lang="en-US" altLang="zh-CN" sz="1800" dirty="0">
                <a:latin typeface="Microsoft YaHei UI Light" panose="020B0502040204020203" pitchFamily="34" charset="-122"/>
                <a:ea typeface="微软雅黑 Light" panose="020B0502040204020203" pitchFamily="34" charset="-122"/>
                <a:cs typeface="+mn-ea"/>
                <a:sym typeface="+mn-lt"/>
              </a:rPr>
              <a:t> J, </a:t>
            </a:r>
            <a:r>
              <a:rPr lang="en-US" altLang="zh-CN" sz="1800" dirty="0" err="1">
                <a:latin typeface="Microsoft YaHei UI Light" panose="020B0502040204020203" pitchFamily="34" charset="-122"/>
                <a:ea typeface="微软雅黑 Light" panose="020B0502040204020203" pitchFamily="34" charset="-122"/>
                <a:cs typeface="+mn-ea"/>
                <a:sym typeface="+mn-lt"/>
              </a:rPr>
              <a:t>Farhadi</a:t>
            </a:r>
            <a:r>
              <a:rPr lang="en-US" altLang="zh-CN" sz="1800" dirty="0">
                <a:latin typeface="Microsoft YaHei UI Light" panose="020B0502040204020203" pitchFamily="34" charset="-122"/>
                <a:ea typeface="微软雅黑 Light" panose="020B0502040204020203" pitchFamily="34" charset="-122"/>
                <a:cs typeface="+mn-ea"/>
                <a:sym typeface="+mn-lt"/>
              </a:rPr>
              <a:t> A. YOLOv3: An Incremental Improvement[J]. 2018.</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SSD</a:t>
            </a:r>
          </a:p>
        </p:txBody>
      </p:sp>
      <p:sp>
        <p:nvSpPr>
          <p:cNvPr id="8" name="内容占位符 2"/>
          <p:cNvSpPr txBox="1"/>
          <p:nvPr/>
        </p:nvSpPr>
        <p:spPr>
          <a:xfrm>
            <a:off x="3910148" y="1030442"/>
            <a:ext cx="8363561" cy="812354"/>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en-US" altLang="zh-CN" sz="1600" dirty="0">
                <a:latin typeface="Microsoft YaHei UI Light" panose="020B0502040204020203" pitchFamily="34" charset="-122"/>
                <a:ea typeface="微软雅黑 Light" panose="020B0502040204020203" pitchFamily="34" charset="-122"/>
                <a:cs typeface="+mn-ea"/>
                <a:sym typeface="+mn-lt"/>
              </a:rPr>
              <a:t>Liu W, </a:t>
            </a:r>
            <a:r>
              <a:rPr lang="en-US" altLang="zh-CN" sz="1600" dirty="0" err="1">
                <a:latin typeface="Microsoft YaHei UI Light" panose="020B0502040204020203" pitchFamily="34" charset="-122"/>
                <a:ea typeface="微软雅黑 Light" panose="020B0502040204020203" pitchFamily="34" charset="-122"/>
                <a:cs typeface="+mn-ea"/>
                <a:sym typeface="+mn-lt"/>
              </a:rPr>
              <a:t>Anguelov</a:t>
            </a:r>
            <a:r>
              <a:rPr lang="en-US" altLang="zh-CN" sz="1600" dirty="0">
                <a:latin typeface="Microsoft YaHei UI Light" panose="020B0502040204020203" pitchFamily="34" charset="-122"/>
                <a:ea typeface="微软雅黑 Light" panose="020B0502040204020203" pitchFamily="34" charset="-122"/>
                <a:cs typeface="+mn-ea"/>
                <a:sym typeface="+mn-lt"/>
              </a:rPr>
              <a:t> D, </a:t>
            </a:r>
            <a:r>
              <a:rPr lang="en-US" altLang="zh-CN" sz="1600" dirty="0" err="1">
                <a:latin typeface="Microsoft YaHei UI Light" panose="020B0502040204020203" pitchFamily="34" charset="-122"/>
                <a:ea typeface="微软雅黑 Light" panose="020B0502040204020203" pitchFamily="34" charset="-122"/>
                <a:cs typeface="+mn-ea"/>
                <a:sym typeface="+mn-lt"/>
              </a:rPr>
              <a:t>Erhan</a:t>
            </a:r>
            <a:r>
              <a:rPr lang="en-US" altLang="zh-CN" sz="1600" dirty="0">
                <a:latin typeface="Microsoft YaHei UI Light" panose="020B0502040204020203" pitchFamily="34" charset="-122"/>
                <a:ea typeface="微软雅黑 Light" panose="020B0502040204020203" pitchFamily="34" charset="-122"/>
                <a:cs typeface="+mn-ea"/>
                <a:sym typeface="+mn-lt"/>
              </a:rPr>
              <a:t> D, et al. SSD: Single Shot </a:t>
            </a:r>
            <a:r>
              <a:rPr lang="en-US" altLang="zh-CN" sz="1600" dirty="0" err="1">
                <a:latin typeface="Microsoft YaHei UI Light" panose="020B0502040204020203" pitchFamily="34" charset="-122"/>
                <a:ea typeface="微软雅黑 Light" panose="020B0502040204020203" pitchFamily="34" charset="-122"/>
                <a:cs typeface="+mn-ea"/>
                <a:sym typeface="+mn-lt"/>
              </a:rPr>
              <a:t>MultiBox</a:t>
            </a:r>
            <a:r>
              <a:rPr lang="en-US" altLang="zh-CN" sz="1600" dirty="0">
                <a:latin typeface="Microsoft YaHei UI Light" panose="020B0502040204020203" pitchFamily="34" charset="-122"/>
                <a:ea typeface="微软雅黑 Light" panose="020B0502040204020203" pitchFamily="34" charset="-122"/>
                <a:cs typeface="+mn-ea"/>
                <a:sym typeface="+mn-lt"/>
              </a:rPr>
              <a:t> Detector[C]// European Conference on Computer Vision. 2016.</a:t>
            </a:r>
          </a:p>
        </p:txBody>
      </p:sp>
      <p:pic>
        <p:nvPicPr>
          <p:cNvPr id="9" name="图片 8"/>
          <p:cNvPicPr>
            <a:picLocks noChangeAspect="1"/>
          </p:cNvPicPr>
          <p:nvPr/>
        </p:nvPicPr>
        <p:blipFill>
          <a:blip r:embed="rId5"/>
          <a:stretch>
            <a:fillRect/>
          </a:stretch>
        </p:blipFill>
        <p:spPr>
          <a:xfrm>
            <a:off x="3937948" y="1992643"/>
            <a:ext cx="8013012" cy="4196493"/>
          </a:xfrm>
          <a:prstGeom prst="rect">
            <a:avLst/>
          </a:prstGeom>
        </p:spPr>
      </p:pic>
      <p:sp>
        <p:nvSpPr>
          <p:cNvPr id="10" name="内容占位符 2"/>
          <p:cNvSpPr txBox="1"/>
          <p:nvPr/>
        </p:nvSpPr>
        <p:spPr>
          <a:xfrm>
            <a:off x="475639" y="1782604"/>
            <a:ext cx="3434509" cy="4413645"/>
          </a:xfrm>
          <a:prstGeom prst="rect">
            <a:avLst/>
          </a:prstGeom>
        </p:spPr>
        <p:txBody>
          <a:bodyPr vert="horz">
            <a:noAutofit/>
          </a:bodyPr>
          <a:lstStyle>
            <a:lvl1pPr marL="274320" indent="-274320" algn="l" rtl="0" eaLnBrk="1" latinLnBrk="0" hangingPunct="1">
              <a:lnSpc>
                <a:spcPct val="125000"/>
              </a:lnSpc>
              <a:spcBef>
                <a:spcPts val="600"/>
              </a:spcBef>
              <a:buClr>
                <a:schemeClr val="accent1"/>
              </a:buClr>
              <a:buSzPct val="76000"/>
              <a:buFont typeface="Wingdings 3" panose="05040102010807070707"/>
              <a:buChar char=""/>
              <a:defRPr kumimoji="0" sz="2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548640" indent="-274320" algn="l" rtl="0" eaLnBrk="1" latinLnBrk="0" hangingPunct="1">
              <a:lnSpc>
                <a:spcPct val="100000"/>
              </a:lnSpc>
              <a:spcBef>
                <a:spcPts val="500"/>
              </a:spcBef>
              <a:buClr>
                <a:schemeClr val="accent2"/>
              </a:buClr>
              <a:buSzPct val="76000"/>
              <a:buFont typeface="Wingdings 3" panose="05040102010807070707"/>
              <a:buChar char=""/>
              <a:defRPr kumimoji="0" sz="2300" kern="1200">
                <a:solidFill>
                  <a:schemeClr val="tx2"/>
                </a:solidFill>
                <a:latin typeface="Times New Roman" panose="02020603050405020304" pitchFamily="18" charset="0"/>
                <a:ea typeface="楷体" panose="02010609060101010101" pitchFamily="49" charset="-122"/>
                <a:cs typeface="Times New Roman" panose="02020603050405020304" pitchFamily="18" charset="0"/>
              </a:defRPr>
            </a:lvl2pPr>
            <a:lvl3pPr marL="822960" indent="-228600" algn="l" rtl="0" eaLnBrk="1" latinLnBrk="0" hangingPunct="1">
              <a:lnSpc>
                <a:spcPct val="100000"/>
              </a:lnSpc>
              <a:spcBef>
                <a:spcPts val="500"/>
              </a:spcBef>
              <a:buClr>
                <a:schemeClr val="bg1">
                  <a:shade val="50000"/>
                </a:schemeClr>
              </a:buClr>
              <a:buSzPct val="76000"/>
              <a:buFont typeface="Wingdings 3" panose="05040102010807070707"/>
              <a:buChar char=""/>
              <a:defRPr kumimoji="0"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097280" indent="-228600" algn="l" rtl="0" eaLnBrk="1" latinLnBrk="0" hangingPunct="1">
              <a:lnSpc>
                <a:spcPct val="100000"/>
              </a:lnSpc>
              <a:spcBef>
                <a:spcPts val="400"/>
              </a:spcBef>
              <a:buClr>
                <a:schemeClr val="accent2">
                  <a:shade val="75000"/>
                </a:schemeClr>
              </a:buClr>
              <a:buSzPct val="70000"/>
              <a:buFont typeface="Wingdings" panose="05000000000000000000"/>
              <a:buChar char=""/>
              <a:defRPr kumimoji="0"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1371600" indent="-228600" algn="l" rtl="0" eaLnBrk="1" latinLnBrk="0" hangingPunct="1">
              <a:lnSpc>
                <a:spcPct val="100000"/>
              </a:lnSpc>
              <a:spcBef>
                <a:spcPts val="300"/>
              </a:spcBef>
              <a:buClr>
                <a:schemeClr val="accent2"/>
              </a:buClr>
              <a:buSzPct val="70000"/>
              <a:buFont typeface="Wingdings" panose="05000000000000000000"/>
              <a:buChar char=""/>
              <a:defRPr kumimoji="0" sz="16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a:lstStyle>
          <a:p>
            <a:pPr>
              <a:lnSpc>
                <a:spcPct val="150000"/>
              </a:lnSpc>
              <a:buFont typeface="Wingdings" panose="05000000000000000000" pitchFamily="2" charset="2"/>
              <a:buChar char="n"/>
            </a:pPr>
            <a:r>
              <a:rPr lang="zh-CN" altLang="en-US" sz="2000" b="1" dirty="0">
                <a:latin typeface="Microsoft YaHei UI Light" panose="020B0502040204020203" pitchFamily="34" charset="-122"/>
                <a:ea typeface="微软雅黑 Light" panose="020B0502040204020203" pitchFamily="34" charset="-122"/>
                <a:cs typeface="+mn-ea"/>
                <a:sym typeface="+mn-lt"/>
              </a:rPr>
              <a:t>主要思想：</a:t>
            </a:r>
            <a:r>
              <a:rPr lang="zh-CN" altLang="en-US" sz="2000" dirty="0">
                <a:latin typeface="Microsoft YaHei UI Light" panose="020B0502040204020203" pitchFamily="34" charset="-122"/>
                <a:ea typeface="微软雅黑 Light" panose="020B0502040204020203" pitchFamily="34" charset="-122"/>
                <a:cs typeface="+mn-ea"/>
                <a:sym typeface="+mn-lt"/>
              </a:rPr>
              <a:t>基于</a:t>
            </a:r>
            <a:r>
              <a:rPr lang="en-US" altLang="zh-CN" sz="2000" dirty="0">
                <a:latin typeface="Microsoft YaHei UI Light" panose="020B0502040204020203" pitchFamily="34" charset="-122"/>
                <a:ea typeface="微软雅黑 Light" panose="020B0502040204020203" pitchFamily="34" charset="-122"/>
                <a:cs typeface="+mn-ea"/>
                <a:sym typeface="+mn-lt"/>
              </a:rPr>
              <a:t>YOLO</a:t>
            </a:r>
            <a:r>
              <a:rPr lang="zh-CN" altLang="en-US" sz="2000" dirty="0">
                <a:latin typeface="Microsoft YaHei UI Light" panose="020B0502040204020203" pitchFamily="34" charset="-122"/>
                <a:ea typeface="微软雅黑 Light" panose="020B0502040204020203" pitchFamily="34" charset="-122"/>
                <a:cs typeface="+mn-ea"/>
                <a:sym typeface="+mn-lt"/>
              </a:rPr>
              <a:t>直接回归 </a:t>
            </a:r>
            <a:r>
              <a:rPr lang="en-US" altLang="zh-CN" sz="2000" dirty="0" err="1">
                <a:latin typeface="Microsoft YaHei UI Light" panose="020B0502040204020203" pitchFamily="34" charset="-122"/>
                <a:ea typeface="微软雅黑 Light" panose="020B0502040204020203" pitchFamily="34" charset="-122"/>
                <a:cs typeface="+mn-ea"/>
                <a:sym typeface="+mn-lt"/>
              </a:rPr>
              <a:t>bbox</a:t>
            </a:r>
            <a:r>
              <a:rPr lang="zh-CN" altLang="en-US" sz="2000" dirty="0">
                <a:latin typeface="Microsoft YaHei UI Light" panose="020B0502040204020203" pitchFamily="34" charset="-122"/>
                <a:ea typeface="微软雅黑 Light" panose="020B0502040204020203" pitchFamily="34" charset="-122"/>
                <a:cs typeface="+mn-ea"/>
                <a:sym typeface="+mn-lt"/>
              </a:rPr>
              <a:t>和分类概率的</a:t>
            </a:r>
            <a:r>
              <a:rPr lang="en-US" altLang="zh-CN" sz="2000" dirty="0">
                <a:latin typeface="Microsoft YaHei UI Light" panose="020B0502040204020203" pitchFamily="34" charset="-122"/>
                <a:ea typeface="微软雅黑 Light" panose="020B0502040204020203" pitchFamily="34" charset="-122"/>
                <a:cs typeface="+mn-ea"/>
                <a:sym typeface="+mn-lt"/>
              </a:rPr>
              <a:t>one-stage</a:t>
            </a:r>
            <a:r>
              <a:rPr lang="zh-CN" altLang="en-US" sz="2000" dirty="0">
                <a:latin typeface="Microsoft YaHei UI Light" panose="020B0502040204020203" pitchFamily="34" charset="-122"/>
                <a:ea typeface="微软雅黑 Light" panose="020B0502040204020203" pitchFamily="34" charset="-122"/>
                <a:cs typeface="+mn-ea"/>
                <a:sym typeface="+mn-lt"/>
              </a:rPr>
              <a:t>检测方法，结合</a:t>
            </a:r>
            <a:r>
              <a:rPr lang="en-US" altLang="zh-CN" sz="2000" dirty="0">
                <a:latin typeface="Microsoft YaHei UI Light" panose="020B0502040204020203" pitchFamily="34" charset="-122"/>
                <a:ea typeface="微软雅黑 Light" panose="020B0502040204020203" pitchFamily="34" charset="-122"/>
                <a:cs typeface="+mn-ea"/>
                <a:sym typeface="+mn-lt"/>
              </a:rPr>
              <a:t>Faster R-CNN</a:t>
            </a:r>
            <a:r>
              <a:rPr lang="zh-CN" altLang="en-US" sz="2000" dirty="0">
                <a:latin typeface="Microsoft YaHei UI Light" panose="020B0502040204020203" pitchFamily="34" charset="-122"/>
                <a:ea typeface="微软雅黑 Light" panose="020B0502040204020203" pitchFamily="34" charset="-122"/>
                <a:cs typeface="+mn-ea"/>
                <a:sym typeface="+mn-lt"/>
              </a:rPr>
              <a:t>中的</a:t>
            </a:r>
            <a:r>
              <a:rPr lang="en-US" altLang="zh-CN" sz="2000" dirty="0">
                <a:latin typeface="Microsoft YaHei UI Light" panose="020B0502040204020203" pitchFamily="34" charset="-122"/>
                <a:ea typeface="微软雅黑 Light" panose="020B0502040204020203" pitchFamily="34" charset="-122"/>
                <a:cs typeface="+mn-ea"/>
                <a:sym typeface="+mn-lt"/>
              </a:rPr>
              <a:t>anchor-box</a:t>
            </a:r>
            <a:r>
              <a:rPr lang="zh-CN" altLang="en-US" sz="2000" dirty="0">
                <a:latin typeface="Microsoft YaHei UI Light" panose="020B0502040204020203" pitchFamily="34" charset="-122"/>
                <a:ea typeface="微软雅黑 Light" panose="020B0502040204020203" pitchFamily="34" charset="-122"/>
                <a:cs typeface="+mn-ea"/>
                <a:sym typeface="+mn-lt"/>
              </a:rPr>
              <a:t>思想产生先验框，并且采用特征金字塔进行多尺度预测，在满足检测速度快的同时，大大提高了检测准确度。</a:t>
            </a:r>
            <a:endParaRPr lang="en-US" altLang="zh-CN" sz="2000" dirty="0">
              <a:latin typeface="Microsoft YaHei UI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SSD</a:t>
            </a:r>
          </a:p>
        </p:txBody>
      </p:sp>
      <p:sp>
        <p:nvSpPr>
          <p:cNvPr id="8" name="矩形 7"/>
          <p:cNvSpPr/>
          <p:nvPr/>
        </p:nvSpPr>
        <p:spPr>
          <a:xfrm>
            <a:off x="618214" y="1330875"/>
            <a:ext cx="6086968" cy="431657"/>
          </a:xfrm>
          <a:prstGeom prst="rect">
            <a:avLst/>
          </a:prstGeom>
        </p:spPr>
        <p:txBody>
          <a:bodyPr wrap="square">
            <a:spAutoFit/>
          </a:bodyPr>
          <a:lstStyle/>
          <a:p>
            <a:pPr marL="285750" indent="-285750">
              <a:lnSpc>
                <a:spcPct val="120000"/>
              </a:lnSpc>
              <a:buClr>
                <a:schemeClr val="accent1"/>
              </a:buClr>
              <a:buSzPct val="100000"/>
              <a:buFont typeface="Wingdings" panose="05000000000000000000" pitchFamily="2" charset="2"/>
              <a:buChar char="l"/>
            </a:pPr>
            <a:r>
              <a:rPr lang="zh-CN" altLang="en-US" sz="2000" dirty="0">
                <a:latin typeface="Microsoft YaHei UI Light" panose="020B0502040204020203" pitchFamily="34" charset="-122"/>
                <a:ea typeface="微软雅黑 Light" panose="020B0502040204020203" pitchFamily="34" charset="-122"/>
                <a:cs typeface="+mn-ea"/>
                <a:sym typeface="+mn-lt"/>
              </a:rPr>
              <a:t>多尺度特征图检测</a:t>
            </a:r>
          </a:p>
        </p:txBody>
      </p:sp>
      <p:pic>
        <p:nvPicPr>
          <p:cNvPr id="9" name="图片 8"/>
          <p:cNvPicPr>
            <a:picLocks noChangeAspect="1"/>
          </p:cNvPicPr>
          <p:nvPr/>
        </p:nvPicPr>
        <p:blipFill>
          <a:blip r:embed="rId5"/>
          <a:stretch>
            <a:fillRect/>
          </a:stretch>
        </p:blipFill>
        <p:spPr>
          <a:xfrm>
            <a:off x="1059451" y="1793553"/>
            <a:ext cx="4769802" cy="2248527"/>
          </a:xfrm>
          <a:prstGeom prst="rect">
            <a:avLst/>
          </a:prstGeom>
        </p:spPr>
      </p:pic>
      <p:pic>
        <p:nvPicPr>
          <p:cNvPr id="10" name="图片 9"/>
          <p:cNvPicPr>
            <a:picLocks noChangeAspect="1"/>
          </p:cNvPicPr>
          <p:nvPr/>
        </p:nvPicPr>
        <p:blipFill>
          <a:blip r:embed="rId6"/>
          <a:stretch>
            <a:fillRect/>
          </a:stretch>
        </p:blipFill>
        <p:spPr>
          <a:xfrm>
            <a:off x="517014" y="4258026"/>
            <a:ext cx="5817272" cy="2203413"/>
          </a:xfrm>
          <a:prstGeom prst="rect">
            <a:avLst/>
          </a:prstGeom>
        </p:spPr>
      </p:pic>
      <p:sp>
        <p:nvSpPr>
          <p:cNvPr id="11" name="矩形 10"/>
          <p:cNvSpPr/>
          <p:nvPr/>
        </p:nvSpPr>
        <p:spPr>
          <a:xfrm>
            <a:off x="6112265" y="1592684"/>
            <a:ext cx="4996014" cy="2246769"/>
          </a:xfrm>
          <a:prstGeom prst="rect">
            <a:avLst/>
          </a:prstGeom>
        </p:spPr>
        <p:txBody>
          <a:bodyPr wrap="square">
            <a:spAutoFit/>
          </a:bodyPr>
          <a:lstStyle/>
          <a:p>
            <a:pPr marL="285750" indent="-285750">
              <a:buClr>
                <a:schemeClr val="accent2">
                  <a:lumMod val="75000"/>
                </a:schemeClr>
              </a:buClr>
              <a:buSzPct val="60000"/>
              <a:buFont typeface="Wingdings" panose="05000000000000000000" pitchFamily="2" charset="2"/>
              <a:buChar char="n"/>
            </a:pPr>
            <a:r>
              <a:rPr lang="en-US" altLang="zh-CN" sz="2000" dirty="0">
                <a:latin typeface="Microsoft YaHei UI Light" panose="020B0502040204020203" pitchFamily="34" charset="-122"/>
                <a:ea typeface="微软雅黑 Light" panose="020B0502040204020203" pitchFamily="34" charset="-122"/>
                <a:cs typeface="+mn-ea"/>
                <a:sym typeface="+mn-lt"/>
              </a:rPr>
              <a:t>CNN</a:t>
            </a:r>
            <a:r>
              <a:rPr lang="zh-CN" altLang="en-US" sz="2000" dirty="0">
                <a:latin typeface="Microsoft YaHei UI Light" panose="020B0502040204020203" pitchFamily="34" charset="-122"/>
                <a:ea typeface="微软雅黑 Light" panose="020B0502040204020203" pitchFamily="34" charset="-122"/>
                <a:cs typeface="+mn-ea"/>
                <a:sym typeface="+mn-lt"/>
              </a:rPr>
              <a:t>网络一般前面的特征图比较大，后面会逐渐采用</a:t>
            </a:r>
            <a:r>
              <a:rPr lang="en-US" altLang="zh-CN" sz="2000" dirty="0">
                <a:latin typeface="Microsoft YaHei UI Light" panose="020B0502040204020203" pitchFamily="34" charset="-122"/>
                <a:ea typeface="微软雅黑 Light" panose="020B0502040204020203" pitchFamily="34" charset="-122"/>
                <a:cs typeface="+mn-ea"/>
                <a:sym typeface="+mn-lt"/>
              </a:rPr>
              <a:t>stride=2</a:t>
            </a:r>
            <a:r>
              <a:rPr lang="zh-CN" altLang="en-US" sz="2000" dirty="0">
                <a:latin typeface="Microsoft YaHei UI Light" panose="020B0502040204020203" pitchFamily="34" charset="-122"/>
                <a:ea typeface="微软雅黑 Light" panose="020B0502040204020203" pitchFamily="34" charset="-122"/>
                <a:cs typeface="+mn-ea"/>
                <a:sym typeface="+mn-lt"/>
              </a:rPr>
              <a:t>的卷积或者</a:t>
            </a:r>
            <a:r>
              <a:rPr lang="en-US" altLang="zh-CN" sz="2000" dirty="0">
                <a:latin typeface="Microsoft YaHei UI Light" panose="020B0502040204020203" pitchFamily="34" charset="-122"/>
                <a:ea typeface="微软雅黑 Light" panose="020B0502040204020203" pitchFamily="34" charset="-122"/>
                <a:cs typeface="+mn-ea"/>
                <a:sym typeface="+mn-lt"/>
              </a:rPr>
              <a:t>pool</a:t>
            </a:r>
            <a:r>
              <a:rPr lang="zh-CN" altLang="en-US" sz="2000" dirty="0">
                <a:latin typeface="Microsoft YaHei UI Light" panose="020B0502040204020203" pitchFamily="34" charset="-122"/>
                <a:ea typeface="微软雅黑 Light" panose="020B0502040204020203" pitchFamily="34" charset="-122"/>
                <a:cs typeface="+mn-ea"/>
                <a:sym typeface="+mn-lt"/>
              </a:rPr>
              <a:t>来降低特征图大小。不同尺寸的特征图中同样大小的框，框住的物体大小差异很大。在大的和小的特征图都提取</a:t>
            </a:r>
            <a:r>
              <a:rPr lang="en-US" altLang="zh-CN" sz="2000" dirty="0">
                <a:latin typeface="Microsoft YaHei UI Light" panose="020B0502040204020203" pitchFamily="34" charset="-122"/>
                <a:ea typeface="微软雅黑 Light" panose="020B0502040204020203" pitchFamily="34" charset="-122"/>
                <a:cs typeface="+mn-ea"/>
                <a:sym typeface="+mn-lt"/>
              </a:rPr>
              <a:t>anchor box</a:t>
            </a:r>
            <a:r>
              <a:rPr lang="zh-CN" altLang="en-US" sz="2000" dirty="0">
                <a:latin typeface="Microsoft YaHei UI Light" panose="020B0502040204020203" pitchFamily="34" charset="-122"/>
                <a:ea typeface="微软雅黑 Light" panose="020B0502040204020203" pitchFamily="34" charset="-122"/>
                <a:cs typeface="+mn-ea"/>
                <a:sym typeface="+mn-lt"/>
              </a:rPr>
              <a:t>用来做检测，可找到最合适的</a:t>
            </a:r>
            <a:r>
              <a:rPr lang="en-US" altLang="zh-CN" sz="2000" dirty="0">
                <a:latin typeface="Microsoft YaHei UI Light" panose="020B0502040204020203" pitchFamily="34" charset="-122"/>
                <a:ea typeface="微软雅黑 Light" panose="020B0502040204020203" pitchFamily="34" charset="-122"/>
                <a:cs typeface="+mn-ea"/>
                <a:sym typeface="+mn-lt"/>
              </a:rPr>
              <a:t>anchor box</a:t>
            </a:r>
            <a:r>
              <a:rPr lang="zh-CN" altLang="en-US" sz="2000" dirty="0">
                <a:latin typeface="Microsoft YaHei UI Light" panose="020B0502040204020203" pitchFamily="34" charset="-122"/>
                <a:ea typeface="微软雅黑 Light" panose="020B0502040204020203" pitchFamily="34" charset="-122"/>
                <a:cs typeface="+mn-ea"/>
                <a:sym typeface="+mn-lt"/>
              </a:rPr>
              <a:t>尺寸，提高检测准确度。</a:t>
            </a:r>
          </a:p>
        </p:txBody>
      </p:sp>
      <p:sp>
        <p:nvSpPr>
          <p:cNvPr id="12" name="矩形 11"/>
          <p:cNvSpPr/>
          <p:nvPr/>
        </p:nvSpPr>
        <p:spPr>
          <a:xfrm>
            <a:off x="6469538" y="3972516"/>
            <a:ext cx="5231682" cy="2554545"/>
          </a:xfrm>
          <a:prstGeom prst="rect">
            <a:avLst/>
          </a:prstGeom>
        </p:spPr>
        <p:txBody>
          <a:bodyPr wrap="square">
            <a:spAutoFit/>
          </a:bodyPr>
          <a:lstStyle/>
          <a:p>
            <a:pPr marL="285750" indent="-285750">
              <a:buClr>
                <a:schemeClr val="accent2">
                  <a:lumMod val="75000"/>
                </a:schemeClr>
              </a:buClr>
              <a:buSzPct val="60000"/>
              <a:buFont typeface="Wingdings" panose="05000000000000000000" pitchFamily="2" charset="2"/>
              <a:buChar char="n"/>
            </a:pPr>
            <a:r>
              <a:rPr lang="zh-CN" altLang="en-US" sz="2000" dirty="0">
                <a:latin typeface="Microsoft YaHei UI Light" panose="020B0502040204020203" pitchFamily="34" charset="-122"/>
                <a:ea typeface="微软雅黑 Light" panose="020B0502040204020203" pitchFamily="34" charset="-122"/>
                <a:cs typeface="+mn-ea"/>
                <a:sym typeface="+mn-lt"/>
              </a:rPr>
              <a:t>主要思想是在不同大小的特征图上都提取默认框，以找到最合适的默认框的位置和尺寸。比较大的特征图可以用来检测相对较小的目标，而小的特征图负责检测大目标。</a:t>
            </a:r>
            <a:endParaRPr lang="en-US" altLang="zh-CN" sz="2000" dirty="0">
              <a:latin typeface="Microsoft YaHei UI Light" panose="020B0502040204020203" pitchFamily="34" charset="-122"/>
              <a:ea typeface="微软雅黑 Light" panose="020B0502040204020203" pitchFamily="34" charset="-122"/>
              <a:cs typeface="+mn-ea"/>
              <a:sym typeface="+mn-lt"/>
            </a:endParaRPr>
          </a:p>
          <a:p>
            <a:pPr marL="285750" indent="-285750">
              <a:buClr>
                <a:schemeClr val="accent2">
                  <a:lumMod val="75000"/>
                </a:schemeClr>
              </a:buClr>
              <a:buSzPct val="60000"/>
              <a:buFont typeface="Wingdings" panose="05000000000000000000" pitchFamily="2" charset="2"/>
              <a:buChar char="n"/>
            </a:pPr>
            <a:r>
              <a:rPr lang="zh-CN" altLang="en-US" sz="2000" dirty="0">
                <a:latin typeface="Microsoft YaHei UI Light" panose="020B0502040204020203" pitchFamily="34" charset="-122"/>
                <a:ea typeface="微软雅黑 Light" panose="020B0502040204020203" pitchFamily="34" charset="-122"/>
                <a:cs typeface="+mn-ea"/>
                <a:sym typeface="+mn-lt"/>
              </a:rPr>
              <a:t>例如左图中</a:t>
            </a:r>
            <a:r>
              <a:rPr lang="en-US" altLang="zh-CN" sz="2000" dirty="0">
                <a:latin typeface="Microsoft YaHei UI Light" panose="020B0502040204020203" pitchFamily="34" charset="-122"/>
                <a:ea typeface="微软雅黑 Light" panose="020B0502040204020203" pitchFamily="34" charset="-122"/>
                <a:cs typeface="+mn-ea"/>
                <a:sym typeface="+mn-lt"/>
              </a:rPr>
              <a:t>8x8</a:t>
            </a:r>
            <a:r>
              <a:rPr lang="zh-CN" altLang="en-US" sz="2000" dirty="0">
                <a:latin typeface="Microsoft YaHei UI Light" panose="020B0502040204020203" pitchFamily="34" charset="-122"/>
                <a:ea typeface="微软雅黑 Light" panose="020B0502040204020203" pitchFamily="34" charset="-122"/>
                <a:cs typeface="+mn-ea"/>
                <a:sym typeface="+mn-lt"/>
              </a:rPr>
              <a:t>的特征图可以划分成更多单元，其每个单元的先验框尺度较小，适合用于检测较小的目标。</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SSD</a:t>
            </a:r>
          </a:p>
        </p:txBody>
      </p:sp>
      <p:sp>
        <p:nvSpPr>
          <p:cNvPr id="8" name="矩形 7"/>
          <p:cNvSpPr/>
          <p:nvPr/>
        </p:nvSpPr>
        <p:spPr>
          <a:xfrm>
            <a:off x="1801351" y="930853"/>
            <a:ext cx="6086968" cy="397738"/>
          </a:xfrm>
          <a:prstGeom prst="rect">
            <a:avLst/>
          </a:prstGeom>
        </p:spPr>
        <p:txBody>
          <a:bodyPr wrap="square">
            <a:spAutoFit/>
          </a:bodyPr>
          <a:lstStyle/>
          <a:p>
            <a:pPr marL="285750" indent="-285750">
              <a:lnSpc>
                <a:spcPct val="120000"/>
              </a:lnSpc>
              <a:buClr>
                <a:schemeClr val="accent1"/>
              </a:buClr>
              <a:buSzPct val="100000"/>
              <a:buFont typeface="Wingdings" panose="05000000000000000000" pitchFamily="2" charset="2"/>
              <a:buChar char="l"/>
            </a:pPr>
            <a:r>
              <a:rPr lang="en-US" altLang="zh-CN" dirty="0">
                <a:latin typeface="Microsoft YaHei UI Light" panose="020B0502040204020203" pitchFamily="34" charset="-122"/>
                <a:ea typeface="微软雅黑 Light" panose="020B0502040204020203" pitchFamily="34" charset="-122"/>
                <a:cs typeface="+mn-ea"/>
                <a:sym typeface="+mn-lt"/>
              </a:rPr>
              <a:t>Anchor box (</a:t>
            </a:r>
            <a:r>
              <a:rPr lang="zh-CN" altLang="en-US" dirty="0">
                <a:latin typeface="Microsoft YaHei UI Light" panose="020B0502040204020203" pitchFamily="34" charset="-122"/>
                <a:ea typeface="微软雅黑 Light" panose="020B0502040204020203" pitchFamily="34" charset="-122"/>
                <a:cs typeface="+mn-ea"/>
                <a:sym typeface="+mn-lt"/>
              </a:rPr>
              <a:t>论文中为</a:t>
            </a:r>
            <a:r>
              <a:rPr lang="en-US" altLang="zh-CN" dirty="0">
                <a:latin typeface="Microsoft YaHei UI Light" panose="020B0502040204020203" pitchFamily="34" charset="-122"/>
                <a:ea typeface="微软雅黑 Light" panose="020B0502040204020203" pitchFamily="34" charset="-122"/>
                <a:cs typeface="+mn-ea"/>
                <a:sym typeface="+mn-lt"/>
              </a:rPr>
              <a:t>default box)</a:t>
            </a:r>
            <a:endParaRPr lang="zh-CN" altLang="en-US"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9" name="文本框 8"/>
              <p:cNvSpPr txBox="1"/>
              <p:nvPr/>
            </p:nvSpPr>
            <p:spPr>
              <a:xfrm>
                <a:off x="1801351" y="1551868"/>
                <a:ext cx="8740080" cy="584775"/>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个数：每个点对应</a:t>
                </a:r>
                <a:r>
                  <a:rPr lang="en-US" altLang="zh-CN" sz="1600" dirty="0">
                    <a:latin typeface="Microsoft YaHei UI Light" panose="020B0502040204020203" pitchFamily="34" charset="-122"/>
                    <a:ea typeface="微软雅黑 Light" panose="020B0502040204020203" pitchFamily="34" charset="-122"/>
                    <a:cs typeface="+mn-ea"/>
                    <a:sym typeface="+mn-lt"/>
                  </a:rPr>
                  <a:t>6</a:t>
                </a:r>
                <a:r>
                  <a:rPr lang="zh-CN" altLang="en-US" sz="1600" dirty="0">
                    <a:latin typeface="Microsoft YaHei UI Light" panose="020B0502040204020203" pitchFamily="34" charset="-122"/>
                    <a:ea typeface="微软雅黑 Light" panose="020B0502040204020203" pitchFamily="34" charset="-122"/>
                    <a:cs typeface="+mn-ea"/>
                    <a:sym typeface="+mn-lt"/>
                  </a:rPr>
                  <a:t>个</a:t>
                </a:r>
                <a:r>
                  <a:rPr lang="en-US" altLang="zh-CN" sz="1600" dirty="0">
                    <a:latin typeface="Microsoft YaHei UI Light" panose="020B0502040204020203" pitchFamily="34" charset="-122"/>
                    <a:ea typeface="微软雅黑 Light" panose="020B0502040204020203" pitchFamily="34" charset="-122"/>
                    <a:cs typeface="+mn-ea"/>
                    <a:sym typeface="+mn-lt"/>
                  </a:rPr>
                  <a:t>anchor boxes</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2</a:t>
                </a:r>
                <a:r>
                  <a:rPr lang="zh-CN" altLang="en-US" sz="1600" dirty="0">
                    <a:latin typeface="Microsoft YaHei UI Light" panose="020B0502040204020203" pitchFamily="34" charset="-122"/>
                    <a:ea typeface="微软雅黑 Light" panose="020B0502040204020203" pitchFamily="34" charset="-122"/>
                    <a:cs typeface="+mn-ea"/>
                    <a:sym typeface="+mn-lt"/>
                  </a:rPr>
                  <a:t>个正方形和</a:t>
                </a:r>
                <a:r>
                  <a:rPr lang="en-US" altLang="zh-CN" sz="1600" dirty="0">
                    <a:latin typeface="Microsoft YaHei UI Light" panose="020B0502040204020203" pitchFamily="34" charset="-122"/>
                    <a:ea typeface="微软雅黑 Light" panose="020B0502040204020203" pitchFamily="34" charset="-122"/>
                    <a:cs typeface="+mn-ea"/>
                    <a:sym typeface="+mn-lt"/>
                  </a:rPr>
                  <a:t>4</a:t>
                </a:r>
                <a:r>
                  <a:rPr lang="zh-CN" altLang="en-US" sz="1600" dirty="0">
                    <a:latin typeface="Microsoft YaHei UI Light" panose="020B0502040204020203" pitchFamily="34" charset="-122"/>
                    <a:ea typeface="微软雅黑 Light" panose="020B0502040204020203" pitchFamily="34" charset="-122"/>
                    <a:cs typeface="+mn-ea"/>
                    <a:sym typeface="+mn-lt"/>
                  </a:rPr>
                  <a:t>个长方形</a:t>
                </a:r>
                <a:r>
                  <a:rPr lang="en-US" altLang="zh-CN" sz="1600" dirty="0">
                    <a:latin typeface="Microsoft YaHei UI Light" panose="020B0502040204020203" pitchFamily="34" charset="-122"/>
                    <a:ea typeface="微软雅黑 Light" panose="020B0502040204020203" pitchFamily="34" charset="-122"/>
                    <a:cs typeface="+mn-ea"/>
                    <a:sym typeface="+mn-lt"/>
                  </a:rPr>
                  <a:t>(</a:t>
                </a:r>
                <a:r>
                  <a:rPr lang="zh-CN" altLang="en-US" sz="1600" dirty="0">
                    <a:latin typeface="Microsoft YaHei UI Light" panose="020B0502040204020203" pitchFamily="34" charset="-122"/>
                    <a:ea typeface="微软雅黑 Light" panose="020B0502040204020203" pitchFamily="34" charset="-122"/>
                    <a:cs typeface="+mn-ea"/>
                    <a:sym typeface="+mn-lt"/>
                  </a:rPr>
                  <a:t>宽高比</a:t>
                </a:r>
                <a14:m>
                  <m:oMath xmlns:m="http://schemas.openxmlformats.org/officeDocument/2006/math">
                    <m:sSub>
                      <m:sSubPr>
                        <m:ctrlPr>
                          <a:rPr lang="en-US" altLang="zh-CN" sz="1600" i="1" dirty="0">
                            <a:latin typeface="Cambria Math" panose="02040503050406030204" pitchFamily="18" charset="0"/>
                            <a:cs typeface="+mn-ea"/>
                            <a:sym typeface="+mn-lt"/>
                          </a:rPr>
                        </m:ctrlPr>
                      </m:sSubPr>
                      <m:e>
                        <m:r>
                          <a:rPr lang="en-US" altLang="zh-CN" sz="1600" b="0" i="1" dirty="0" smtClean="0">
                            <a:latin typeface="Cambria Math" panose="02040503050406030204" pitchFamily="18" charset="0"/>
                            <a:cs typeface="+mn-ea"/>
                            <a:sym typeface="+mn-lt"/>
                          </a:rPr>
                          <m:t>𝑎</m:t>
                        </m:r>
                      </m:e>
                      <m:sub>
                        <m:r>
                          <a:rPr lang="en-US" altLang="zh-CN" sz="1600" b="0" i="1" dirty="0" smtClean="0">
                            <a:latin typeface="Cambria Math" panose="02040503050406030204" pitchFamily="18" charset="0"/>
                            <a:cs typeface="+mn-ea"/>
                            <a:sym typeface="+mn-lt"/>
                          </a:rPr>
                          <m:t>𝑟</m:t>
                        </m:r>
                      </m:sub>
                    </m:sSub>
                  </m:oMath>
                </a14:m>
                <a:r>
                  <a:rPr lang="zh-CN" altLang="en-US" sz="1600" dirty="0">
                    <a:latin typeface="Microsoft YaHei UI Light" panose="020B0502040204020203" pitchFamily="34" charset="-122"/>
                    <a:ea typeface="微软雅黑 Light" panose="020B0502040204020203" pitchFamily="34" charset="-122"/>
                    <a:cs typeface="+mn-ea"/>
                    <a:sym typeface="+mn-lt"/>
                  </a:rPr>
                  <a:t>取</a:t>
                </a:r>
                <a:r>
                  <a:rPr lang="en-US" altLang="zh-CN" sz="1600" dirty="0">
                    <a:latin typeface="Microsoft YaHei UI Light" panose="020B0502040204020203" pitchFamily="34" charset="-122"/>
                    <a:ea typeface="微软雅黑 Light" panose="020B0502040204020203" pitchFamily="34" charset="-122"/>
                    <a:cs typeface="+mn-ea"/>
                    <a:sym typeface="+mn-lt"/>
                  </a:rPr>
                  <a:t>1</a:t>
                </a:r>
                <a:r>
                  <a:rPr lang="zh-CN" altLang="en-US" sz="1600">
                    <a:latin typeface="Microsoft YaHei UI Light" panose="020B0502040204020203" pitchFamily="34" charset="-122"/>
                    <a:ea typeface="微软雅黑 Light" panose="020B0502040204020203" pitchFamily="34" charset="-122"/>
                    <a:cs typeface="+mn-ea"/>
                    <a:sym typeface="+mn-lt"/>
                  </a:rPr>
                  <a:t>、</a:t>
                </a:r>
                <a:r>
                  <a:rPr lang="en-US" altLang="zh-CN" sz="1600">
                    <a:latin typeface="Microsoft YaHei UI Light" panose="020B0502040204020203" pitchFamily="34" charset="-122"/>
                    <a:ea typeface="微软雅黑 Light" panose="020B0502040204020203" pitchFamily="34" charset="-122"/>
                    <a:cs typeface="+mn-ea"/>
                    <a:sym typeface="+mn-lt"/>
                  </a:rPr>
                  <a:t>2</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3</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1/2</a:t>
                </a:r>
                <a:r>
                  <a:rPr lang="zh-CN" altLang="en-US" sz="1600" dirty="0">
                    <a:latin typeface="Microsoft YaHei UI Light" panose="020B0502040204020203" pitchFamily="34" charset="-122"/>
                    <a:ea typeface="微软雅黑 Light" panose="020B0502040204020203" pitchFamily="34" charset="-122"/>
                    <a:cs typeface="+mn-ea"/>
                    <a:sym typeface="+mn-lt"/>
                  </a:rPr>
                  <a:t>、</a:t>
                </a:r>
                <a:r>
                  <a:rPr lang="en-US" altLang="zh-CN" sz="1600" dirty="0">
                    <a:latin typeface="Microsoft YaHei UI Light" panose="020B0502040204020203" pitchFamily="34" charset="-122"/>
                    <a:ea typeface="微软雅黑 Light" panose="020B0502040204020203" pitchFamily="34" charset="-122"/>
                    <a:cs typeface="+mn-ea"/>
                    <a:sym typeface="+mn-lt"/>
                  </a:rPr>
                  <a:t>1/3)</a:t>
                </a:r>
                <a:r>
                  <a:rPr lang="zh-CN" altLang="en-US" sz="1600" dirty="0">
                    <a:latin typeface="Microsoft YaHei UI Light" panose="020B0502040204020203" pitchFamily="34" charset="-122"/>
                    <a:ea typeface="微软雅黑 Light" panose="020B0502040204020203" pitchFamily="34" charset="-122"/>
                    <a:cs typeface="+mn-ea"/>
                    <a:sym typeface="+mn-lt"/>
                  </a:rPr>
                  <a:t>；可以同时在</a:t>
                </a:r>
                <a:r>
                  <a:rPr lang="en-US" altLang="zh-CN" sz="1600" dirty="0">
                    <a:latin typeface="Microsoft YaHei UI Light" panose="020B0502040204020203" pitchFamily="34" charset="-122"/>
                    <a:ea typeface="微软雅黑 Light" panose="020B0502040204020203" pitchFamily="34" charset="-122"/>
                    <a:cs typeface="+mn-ea"/>
                    <a:sym typeface="+mn-lt"/>
                  </a:rPr>
                  <a:t>m</a:t>
                </a:r>
                <a:r>
                  <a:rPr lang="zh-CN" altLang="en-US" sz="1600" dirty="0">
                    <a:latin typeface="Microsoft YaHei UI Light" panose="020B0502040204020203" pitchFamily="34" charset="-122"/>
                    <a:ea typeface="微软雅黑 Light" panose="020B0502040204020203" pitchFamily="34" charset="-122"/>
                    <a:cs typeface="+mn-ea"/>
                    <a:sym typeface="+mn-lt"/>
                  </a:rPr>
                  <a:t>个特征图上处理。</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801351" y="1551868"/>
                <a:ext cx="8740080" cy="584775"/>
              </a:xfrm>
              <a:prstGeom prst="rect">
                <a:avLst/>
              </a:prstGeom>
              <a:blipFill>
                <a:blip r:embed="rId5"/>
                <a:stretch>
                  <a:fillRect l="-279" t="-4211" r="-2789" b="-13684"/>
                </a:stretch>
              </a:blipFill>
            </p:spPr>
            <p:txBody>
              <a:bodyPr/>
              <a:lstStyle/>
              <a:p>
                <a:r>
                  <a:rPr lang="zh-CN" altLang="en-US">
                    <a:noFill/>
                  </a:rPr>
                  <a:t> </a:t>
                </a:r>
              </a:p>
            </p:txBody>
          </p:sp>
        </mc:Fallback>
      </mc:AlternateContent>
      <p:sp>
        <p:nvSpPr>
          <p:cNvPr id="10" name="文本框 9"/>
          <p:cNvSpPr txBox="1"/>
          <p:nvPr/>
        </p:nvSpPr>
        <p:spPr>
          <a:xfrm>
            <a:off x="1801351" y="2322384"/>
            <a:ext cx="5034855" cy="338554"/>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第</a:t>
            </a:r>
            <a:r>
              <a:rPr lang="en-US" altLang="zh-CN" sz="1600" dirty="0">
                <a:latin typeface="Microsoft YaHei UI Light" panose="020B0502040204020203" pitchFamily="34" charset="-122"/>
                <a:ea typeface="微软雅黑 Light" panose="020B0502040204020203" pitchFamily="34" charset="-122"/>
                <a:cs typeface="+mn-ea"/>
                <a:sym typeface="+mn-lt"/>
              </a:rPr>
              <a:t>k</a:t>
            </a:r>
            <a:r>
              <a:rPr lang="zh-CN" altLang="en-US" sz="1600" dirty="0">
                <a:latin typeface="Microsoft YaHei UI Light" panose="020B0502040204020203" pitchFamily="34" charset="-122"/>
                <a:ea typeface="微软雅黑 Light" panose="020B0502040204020203" pitchFamily="34" charset="-122"/>
                <a:cs typeface="+mn-ea"/>
                <a:sym typeface="+mn-lt"/>
              </a:rPr>
              <a:t>层</a:t>
            </a:r>
            <a:r>
              <a:rPr lang="en-US" altLang="zh-CN" sz="1600" dirty="0">
                <a:latin typeface="Microsoft YaHei UI Light" panose="020B0502040204020203" pitchFamily="34" charset="-122"/>
                <a:ea typeface="微软雅黑 Light" panose="020B0502040204020203" pitchFamily="34" charset="-122"/>
                <a:cs typeface="+mn-ea"/>
                <a:sym typeface="+mn-lt"/>
              </a:rPr>
              <a:t>scale</a:t>
            </a:r>
            <a:r>
              <a:rPr lang="zh-CN" altLang="en-US" sz="1600" dirty="0">
                <a:latin typeface="Microsoft YaHei UI Light" panose="020B0502040204020203" pitchFamily="34" charset="-122"/>
                <a:ea typeface="微软雅黑 Light" panose="020B0502040204020203" pitchFamily="34" charset="-122"/>
                <a:cs typeface="+mn-ea"/>
                <a:sym typeface="+mn-lt"/>
              </a:rPr>
              <a:t>：</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p:pic>
        <p:nvPicPr>
          <p:cNvPr id="11" name="图片 10"/>
          <p:cNvPicPr>
            <a:picLocks noChangeAspect="1"/>
          </p:cNvPicPr>
          <p:nvPr/>
        </p:nvPicPr>
        <p:blipFill>
          <a:blip r:embed="rId6"/>
          <a:stretch>
            <a:fillRect/>
          </a:stretch>
        </p:blipFill>
        <p:spPr>
          <a:xfrm>
            <a:off x="3332603" y="2291200"/>
            <a:ext cx="3676650" cy="427517"/>
          </a:xfrm>
          <a:prstGeom prst="rect">
            <a:avLst/>
          </a:prstGeom>
        </p:spPr>
      </p:pic>
      <mc:AlternateContent xmlns:mc="http://schemas.openxmlformats.org/markup-compatibility/2006" xmlns:a14="http://schemas.microsoft.com/office/drawing/2010/main">
        <mc:Choice Requires="a14">
          <p:sp>
            <p:nvSpPr>
              <p:cNvPr id="12" name="文本框 11"/>
              <p:cNvSpPr txBox="1"/>
              <p:nvPr/>
            </p:nvSpPr>
            <p:spPr>
              <a:xfrm>
                <a:off x="2064266" y="2734145"/>
                <a:ext cx="8477165" cy="830997"/>
              </a:xfrm>
              <a:prstGeom prst="rect">
                <a:avLst/>
              </a:prstGeom>
              <a:noFill/>
            </p:spPr>
            <p:txBody>
              <a:bodyPr wrap="square" rtlCol="0">
                <a:spAutoFit/>
              </a:bodyPr>
              <a:lstStyle/>
              <a:p>
                <a:pPr>
                  <a:lnSpc>
                    <a:spcPct val="150000"/>
                  </a:lnSpc>
                </a:pPr>
                <a:r>
                  <a:rPr lang="zh-CN" altLang="en-US" sz="1600" dirty="0">
                    <a:latin typeface="Microsoft YaHei UI Light" panose="020B0502040204020203" pitchFamily="34" charset="-122"/>
                    <a:ea typeface="微软雅黑 Light" panose="020B0502040204020203" pitchFamily="34" charset="-122"/>
                    <a:cs typeface="+mn-ea"/>
                    <a:sym typeface="+mn-lt"/>
                  </a:rPr>
                  <a:t>其中：</a:t>
                </a:r>
                <a14:m>
                  <m:oMath xmlns:m="http://schemas.openxmlformats.org/officeDocument/2006/math">
                    <m:sSub>
                      <m:sSubPr>
                        <m:ctrlPr>
                          <a:rPr lang="en-US" altLang="zh-CN" sz="1600" i="1" dirty="0">
                            <a:latin typeface="Cambria Math" panose="02040503050406030204" pitchFamily="18" charset="0"/>
                            <a:cs typeface="+mn-ea"/>
                            <a:sym typeface="+mn-lt"/>
                          </a:rPr>
                        </m:ctrlPr>
                      </m:sSubPr>
                      <m:e>
                        <m:r>
                          <a:rPr lang="en-US" altLang="zh-CN" sz="1600" i="1" dirty="0">
                            <a:latin typeface="Cambria Math" panose="02040503050406030204" pitchFamily="18" charset="0"/>
                            <a:cs typeface="+mn-ea"/>
                            <a:sym typeface="+mn-lt"/>
                          </a:rPr>
                          <m:t>𝑆</m:t>
                        </m:r>
                      </m:e>
                      <m:sub>
                        <m:r>
                          <a:rPr lang="en-US" altLang="zh-CN" sz="1600" b="0" i="1" dirty="0" smtClean="0">
                            <a:latin typeface="Cambria Math" panose="02040503050406030204" pitchFamily="18" charset="0"/>
                            <a:cs typeface="+mn-ea"/>
                            <a:sym typeface="+mn-lt"/>
                          </a:rPr>
                          <m:t>𝑚𝑖𝑛</m:t>
                        </m:r>
                      </m:sub>
                    </m:sSub>
                    <m:r>
                      <a:rPr lang="en-US" altLang="zh-CN" sz="1600" b="0" i="1" dirty="0" smtClean="0">
                        <a:latin typeface="Cambria Math" panose="02040503050406030204" pitchFamily="18" charset="0"/>
                        <a:cs typeface="+mn-ea"/>
                        <a:sym typeface="+mn-lt"/>
                      </a:rPr>
                      <m:t>=0.2,</m:t>
                    </m:r>
                    <m:sSub>
                      <m:sSubPr>
                        <m:ctrlPr>
                          <a:rPr lang="en-US" altLang="zh-CN" sz="1600" i="1" dirty="0">
                            <a:latin typeface="Cambria Math" panose="02040503050406030204" pitchFamily="18" charset="0"/>
                            <a:cs typeface="+mn-ea"/>
                            <a:sym typeface="+mn-lt"/>
                          </a:rPr>
                        </m:ctrlPr>
                      </m:sSubPr>
                      <m:e>
                        <m:r>
                          <a:rPr lang="en-US" altLang="zh-CN" sz="1600" i="1" dirty="0">
                            <a:latin typeface="Cambria Math" panose="02040503050406030204" pitchFamily="18" charset="0"/>
                            <a:cs typeface="+mn-ea"/>
                            <a:sym typeface="+mn-lt"/>
                          </a:rPr>
                          <m:t>𝑆</m:t>
                        </m:r>
                      </m:e>
                      <m:sub>
                        <m:r>
                          <a:rPr lang="en-US" altLang="zh-CN" sz="1600" i="1" dirty="0">
                            <a:latin typeface="Cambria Math" panose="02040503050406030204" pitchFamily="18" charset="0"/>
                            <a:cs typeface="+mn-ea"/>
                            <a:sym typeface="+mn-lt"/>
                          </a:rPr>
                          <m:t>𝑚</m:t>
                        </m:r>
                        <m:r>
                          <m:rPr>
                            <m:sty m:val="p"/>
                          </m:rPr>
                          <a:rPr lang="en-US" altLang="zh-CN" sz="1600" i="1" dirty="0" smtClean="0">
                            <a:latin typeface="Cambria Math" panose="02040503050406030204" pitchFamily="18" charset="0"/>
                            <a:cs typeface="+mn-ea"/>
                            <a:sym typeface="+mn-lt"/>
                          </a:rPr>
                          <m:t>ax</m:t>
                        </m:r>
                      </m:sub>
                    </m:sSub>
                    <m:r>
                      <a:rPr lang="en-US" altLang="zh-CN" sz="1600" i="1" dirty="0">
                        <a:latin typeface="Cambria Math" panose="02040503050406030204" pitchFamily="18" charset="0"/>
                        <a:cs typeface="+mn-ea"/>
                        <a:sym typeface="+mn-lt"/>
                      </a:rPr>
                      <m:t>=0.</m:t>
                    </m:r>
                    <m:r>
                      <a:rPr lang="en-US" altLang="zh-CN" sz="1600" b="0" i="1" dirty="0" smtClean="0">
                        <a:latin typeface="Cambria Math" panose="02040503050406030204" pitchFamily="18" charset="0"/>
                        <a:cs typeface="+mn-ea"/>
                        <a:sym typeface="+mn-lt"/>
                      </a:rPr>
                      <m:t>9</m:t>
                    </m:r>
                    <m:r>
                      <a:rPr lang="zh-CN" altLang="en-US" sz="1600" i="1" dirty="0">
                        <a:latin typeface="Cambria Math" panose="02040503050406030204" pitchFamily="18" charset="0"/>
                        <a:cs typeface="+mn-ea"/>
                        <a:sym typeface="+mn-lt"/>
                      </a:rPr>
                      <m:t>，</m:t>
                    </m:r>
                  </m:oMath>
                </a14:m>
                <a:r>
                  <a:rPr lang="en-US" altLang="zh-CN" sz="1600" dirty="0">
                    <a:latin typeface="Microsoft YaHei UI Light" panose="020B0502040204020203" pitchFamily="34" charset="-122"/>
                    <a:ea typeface="微软雅黑 Light" panose="020B0502040204020203" pitchFamily="34" charset="-122"/>
                    <a:cs typeface="+mn-ea"/>
                    <a:sym typeface="+mn-lt"/>
                  </a:rPr>
                  <a:t>m</a:t>
                </a:r>
                <a:r>
                  <a:rPr lang="zh-CN" altLang="en-US" sz="1600" dirty="0">
                    <a:latin typeface="Microsoft YaHei UI Light" panose="020B0502040204020203" pitchFamily="34" charset="-122"/>
                    <a:ea typeface="微软雅黑 Light" panose="020B0502040204020203" pitchFamily="34" charset="-122"/>
                    <a:cs typeface="+mn-ea"/>
                    <a:sym typeface="+mn-lt"/>
                  </a:rPr>
                  <a:t>为网络用于生成</a:t>
                </a:r>
                <a:r>
                  <a:rPr lang="en-US" altLang="zh-CN" sz="1600" dirty="0">
                    <a:latin typeface="Microsoft YaHei UI Light" panose="020B0502040204020203" pitchFamily="34" charset="-122"/>
                    <a:ea typeface="微软雅黑 Light" panose="020B0502040204020203" pitchFamily="34" charset="-122"/>
                    <a:cs typeface="+mn-ea"/>
                    <a:sym typeface="+mn-lt"/>
                  </a:rPr>
                  <a:t>anchor box</a:t>
                </a:r>
                <a:r>
                  <a:rPr lang="zh-CN" altLang="en-US" sz="1600" dirty="0">
                    <a:latin typeface="Microsoft YaHei UI Light" panose="020B0502040204020203" pitchFamily="34" charset="-122"/>
                    <a:ea typeface="微软雅黑 Light" panose="020B0502040204020203" pitchFamily="34" charset="-122"/>
                    <a:cs typeface="+mn-ea"/>
                    <a:sym typeface="+mn-lt"/>
                  </a:rPr>
                  <a:t>进行检测的卷积层总层数；</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zh-CN" altLang="en-US" sz="1600" dirty="0">
                    <a:latin typeface="Microsoft YaHei UI Light" panose="020B0502040204020203" pitchFamily="34" charset="-122"/>
                    <a:ea typeface="微软雅黑 Light" panose="020B0502040204020203" pitchFamily="34" charset="-122"/>
                    <a:cs typeface="+mn-ea"/>
                    <a:sym typeface="+mn-lt"/>
                  </a:rPr>
                  <a:t>宽高比为</a:t>
                </a:r>
                <a:r>
                  <a:rPr lang="en-US" altLang="zh-CN" sz="1600" dirty="0">
                    <a:latin typeface="Microsoft YaHei UI Light" panose="020B0502040204020203" pitchFamily="34" charset="-122"/>
                    <a:ea typeface="微软雅黑 Light" panose="020B0502040204020203" pitchFamily="34" charset="-122"/>
                    <a:cs typeface="+mn-ea"/>
                    <a:sym typeface="+mn-lt"/>
                  </a:rPr>
                  <a:t>1</a:t>
                </a:r>
                <a:r>
                  <a:rPr lang="zh-CN" altLang="en-US" sz="1600" dirty="0">
                    <a:latin typeface="Microsoft YaHei UI Light" panose="020B0502040204020203" pitchFamily="34" charset="-122"/>
                    <a:ea typeface="微软雅黑 Light" panose="020B0502040204020203" pitchFamily="34" charset="-122"/>
                    <a:cs typeface="+mn-ea"/>
                    <a:sym typeface="+mn-lt"/>
                  </a:rPr>
                  <a:t>的情况，增加一个默认框，其缩放为</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2064266" y="2734145"/>
                <a:ext cx="8477165" cy="830997"/>
              </a:xfrm>
              <a:prstGeom prst="rect">
                <a:avLst/>
              </a:prstGeom>
              <a:blipFill rotWithShape="1">
                <a:blip r:embed="rId7"/>
                <a:stretch>
                  <a:fillRect l="-6" t="-57" r="5" b="30"/>
                </a:stretch>
              </a:blipFill>
            </p:spPr>
            <p:txBody>
              <a:bodyPr/>
              <a:lstStyle/>
              <a:p>
                <a:r>
                  <a:rPr lang="zh-CN" altLang="en-US">
                    <a:noFill/>
                  </a:rPr>
                  <a:t> </a:t>
                </a:r>
              </a:p>
            </p:txBody>
          </p:sp>
        </mc:Fallback>
      </mc:AlternateContent>
      <p:sp>
        <p:nvSpPr>
          <p:cNvPr id="13" name="文本框 12"/>
          <p:cNvSpPr txBox="1"/>
          <p:nvPr/>
        </p:nvSpPr>
        <p:spPr>
          <a:xfrm>
            <a:off x="1872859" y="3759984"/>
            <a:ext cx="3734494" cy="7870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latin typeface="Microsoft YaHei UI Light" panose="020B0502040204020203" pitchFamily="34" charset="-122"/>
                <a:ea typeface="微软雅黑 Light" panose="020B0502040204020203" pitchFamily="34" charset="-122"/>
                <a:cs typeface="+mn-ea"/>
                <a:sym typeface="+mn-lt"/>
              </a:rPr>
              <a:t>第</a:t>
            </a:r>
            <a:r>
              <a:rPr lang="en-US" altLang="zh-CN" sz="1600" dirty="0">
                <a:latin typeface="Microsoft YaHei UI Light" panose="020B0502040204020203" pitchFamily="34" charset="-122"/>
                <a:ea typeface="微软雅黑 Light" panose="020B0502040204020203" pitchFamily="34" charset="-122"/>
                <a:cs typeface="+mn-ea"/>
                <a:sym typeface="+mn-lt"/>
              </a:rPr>
              <a:t>k</a:t>
            </a:r>
            <a:r>
              <a:rPr lang="zh-CN" altLang="en-US" sz="1600" dirty="0">
                <a:latin typeface="Microsoft YaHei UI Light" panose="020B0502040204020203" pitchFamily="34" charset="-122"/>
                <a:ea typeface="微软雅黑 Light" panose="020B0502040204020203" pitchFamily="34" charset="-122"/>
                <a:cs typeface="+mn-ea"/>
                <a:sym typeface="+mn-lt"/>
              </a:rPr>
              <a:t>层</a:t>
            </a:r>
            <a:r>
              <a:rPr lang="en-US" altLang="zh-CN" sz="1600" dirty="0">
                <a:latin typeface="Microsoft YaHei UI Light" panose="020B0502040204020203" pitchFamily="34" charset="-122"/>
                <a:ea typeface="微软雅黑 Light" panose="020B0502040204020203" pitchFamily="34" charset="-122"/>
                <a:cs typeface="+mn-ea"/>
                <a:sym typeface="+mn-lt"/>
              </a:rPr>
              <a:t>default box</a:t>
            </a:r>
            <a:r>
              <a:rPr lang="zh-CN" altLang="en-US" sz="1600" dirty="0">
                <a:latin typeface="Microsoft YaHei UI Light" panose="020B0502040204020203" pitchFamily="34" charset="-122"/>
                <a:ea typeface="微软雅黑 Light" panose="020B0502040204020203" pitchFamily="34" charset="-122"/>
                <a:cs typeface="+mn-ea"/>
                <a:sym typeface="+mn-lt"/>
              </a:rPr>
              <a:t>的宽：</a:t>
            </a:r>
            <a:endParaRPr lang="en-US" altLang="zh-CN" sz="1600" dirty="0">
              <a:latin typeface="Microsoft YaHei UI Light" panose="020B0502040204020203" pitchFamily="34" charset="-122"/>
              <a:ea typeface="微软雅黑 Light" panose="020B0502040204020203" pitchFamily="34" charset="-122"/>
              <a:cs typeface="+mn-ea"/>
              <a:sym typeface="+mn-lt"/>
            </a:endParaRPr>
          </a:p>
          <a:p>
            <a:pPr>
              <a:lnSpc>
                <a:spcPct val="150000"/>
              </a:lnSpc>
            </a:pPr>
            <a:r>
              <a:rPr lang="en-US" altLang="zh-CN" sz="1600" dirty="0">
                <a:latin typeface="Microsoft YaHei UI Light" panose="020B0502040204020203" pitchFamily="34" charset="-122"/>
                <a:ea typeface="微软雅黑 Light" panose="020B0502040204020203" pitchFamily="34" charset="-122"/>
                <a:cs typeface="+mn-ea"/>
                <a:sym typeface="+mn-lt"/>
              </a:rPr>
              <a:t>                                    </a:t>
            </a:r>
            <a:r>
              <a:rPr lang="zh-CN" altLang="en-US" sz="1600" dirty="0">
                <a:latin typeface="Microsoft YaHei UI Light" panose="020B0502040204020203" pitchFamily="34" charset="-122"/>
                <a:ea typeface="微软雅黑 Light" panose="020B0502040204020203" pitchFamily="34" charset="-122"/>
                <a:cs typeface="+mn-ea"/>
                <a:sym typeface="+mn-lt"/>
              </a:rPr>
              <a:t>高：</a:t>
            </a:r>
            <a:endParaRPr lang="en-US" altLang="zh-CN" sz="1600" dirty="0">
              <a:latin typeface="Microsoft YaHei UI Light" panose="020B0502040204020203" pitchFamily="34" charset="-122"/>
              <a:ea typeface="微软雅黑 Light" panose="020B0502040204020203" pitchFamily="34" charset="-122"/>
              <a:cs typeface="+mn-ea"/>
              <a:sym typeface="+mn-lt"/>
            </a:endParaRPr>
          </a:p>
        </p:txBody>
      </p:sp>
      <mc:AlternateContent xmlns:mc="http://schemas.openxmlformats.org/markup-compatibility/2006" xmlns:a14="http://schemas.microsoft.com/office/drawing/2010/main">
        <mc:Choice Requires="a14">
          <p:sp>
            <p:nvSpPr>
              <p:cNvPr id="14" name="矩形 13"/>
              <p:cNvSpPr/>
              <p:nvPr/>
            </p:nvSpPr>
            <p:spPr>
              <a:xfrm>
                <a:off x="9583713" y="4195127"/>
                <a:ext cx="44980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dirty="0">
                              <a:latin typeface="Cambria Math" panose="02040503050406030204" pitchFamily="18" charset="0"/>
                              <a:cs typeface="+mn-ea"/>
                              <a:sym typeface="+mn-lt"/>
                            </a:rPr>
                          </m:ctrlPr>
                        </m:sSubPr>
                        <m:e>
                          <m:r>
                            <a:rPr lang="en-US" altLang="zh-CN" sz="1600" i="1" dirty="0">
                              <a:latin typeface="Cambria Math" panose="02040503050406030204" pitchFamily="18" charset="0"/>
                              <a:cs typeface="+mn-ea"/>
                              <a:sym typeface="+mn-lt"/>
                            </a:rPr>
                            <m:t>𝑆</m:t>
                          </m:r>
                        </m:e>
                        <m:sub>
                          <m:r>
                            <a:rPr lang="en-US" altLang="zh-CN" sz="1600" i="1" dirty="0">
                              <a:latin typeface="Cambria Math" panose="02040503050406030204" pitchFamily="18" charset="0"/>
                              <a:cs typeface="+mn-ea"/>
                              <a:sym typeface="+mn-lt"/>
                            </a:rPr>
                            <m:t>𝑘</m:t>
                          </m:r>
                        </m:sub>
                      </m:sSub>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9583713" y="4195127"/>
                <a:ext cx="449802" cy="338554"/>
              </a:xfrm>
              <a:prstGeom prst="rect">
                <a:avLst/>
              </a:prstGeom>
              <a:blipFill rotWithShape="1">
                <a:blip r:embed="rId8"/>
                <a:stretch>
                  <a:fillRect l="-65" t="-94" r="114" b="1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9546044" y="5293912"/>
                <a:ext cx="817468" cy="344966"/>
              </a:xfrm>
              <a:prstGeom prst="rect">
                <a:avLst/>
              </a:prstGeom>
            </p:spPr>
            <p:txBody>
              <a:bodyPr wrap="none">
                <a:spAutoFit/>
              </a:bodyPr>
              <a:lstStyle/>
              <a:p>
                <a14:m>
                  <m:oMath xmlns:m="http://schemas.openxmlformats.org/officeDocument/2006/math">
                    <m:sSub>
                      <m:sSubPr>
                        <m:ctrlPr>
                          <a:rPr lang="en-US" altLang="zh-CN" sz="1600" i="1" dirty="0" smtClean="0">
                            <a:latin typeface="Cambria Math" panose="02040503050406030204" pitchFamily="18" charset="0"/>
                            <a:cs typeface="+mn-ea"/>
                            <a:sym typeface="+mn-lt"/>
                          </a:rPr>
                        </m:ctrlPr>
                      </m:sSubPr>
                      <m:e>
                        <m:r>
                          <a:rPr lang="en-US" altLang="zh-CN" sz="1600" i="1" dirty="0">
                            <a:latin typeface="Cambria Math" panose="02040503050406030204" pitchFamily="18" charset="0"/>
                            <a:cs typeface="+mn-ea"/>
                            <a:sym typeface="+mn-lt"/>
                          </a:rPr>
                          <m:t>𝑆</m:t>
                        </m:r>
                      </m:e>
                      <m:sub>
                        <m:r>
                          <a:rPr lang="en-US" altLang="zh-CN" sz="1600" i="1" dirty="0">
                            <a:latin typeface="Cambria Math" panose="02040503050406030204" pitchFamily="18" charset="0"/>
                            <a:cs typeface="+mn-ea"/>
                            <a:sym typeface="+mn-lt"/>
                          </a:rPr>
                          <m:t>𝑘</m:t>
                        </m:r>
                      </m:sub>
                    </m:sSub>
                  </m:oMath>
                </a14:m>
                <a:r>
                  <a:rPr lang="en-US" altLang="zh-CN" sz="1600" dirty="0"/>
                  <a:t>/</a:t>
                </a:r>
                <a14:m>
                  <m:oMath xmlns:m="http://schemas.openxmlformats.org/officeDocument/2006/math">
                    <m:rad>
                      <m:radPr>
                        <m:degHide m:val="on"/>
                        <m:ctrlPr>
                          <a:rPr lang="en-US" altLang="zh-CN" sz="1600" i="1" dirty="0" smtClean="0">
                            <a:latin typeface="Cambria Math" panose="02040503050406030204" pitchFamily="18" charset="0"/>
                          </a:rPr>
                        </m:ctrlPr>
                      </m:radPr>
                      <m:deg/>
                      <m:e>
                        <m:sSub>
                          <m:sSubPr>
                            <m:ctrlPr>
                              <a:rPr lang="en-US" altLang="zh-CN" sz="1600" i="1" dirty="0">
                                <a:latin typeface="Cambria Math" panose="02040503050406030204" pitchFamily="18" charset="0"/>
                                <a:cs typeface="+mn-ea"/>
                                <a:sym typeface="+mn-lt"/>
                              </a:rPr>
                            </m:ctrlPr>
                          </m:sSubPr>
                          <m:e>
                            <m:r>
                              <a:rPr lang="en-US" altLang="zh-CN" sz="1600" b="0" i="1" dirty="0" smtClean="0">
                                <a:latin typeface="Cambria Math" panose="02040503050406030204" pitchFamily="18" charset="0"/>
                                <a:cs typeface="+mn-ea"/>
                                <a:sym typeface="+mn-lt"/>
                              </a:rPr>
                              <m:t>𝑎</m:t>
                            </m:r>
                          </m:e>
                          <m:sub>
                            <m:r>
                              <a:rPr lang="en-US" altLang="zh-CN" sz="1600" b="0" i="1" dirty="0" smtClean="0">
                                <a:latin typeface="Cambria Math" panose="02040503050406030204" pitchFamily="18" charset="0"/>
                                <a:cs typeface="+mn-ea"/>
                                <a:sym typeface="+mn-lt"/>
                              </a:rPr>
                              <m:t>𝑟</m:t>
                            </m:r>
                          </m:sub>
                        </m:sSub>
                      </m:e>
                    </m:rad>
                  </m:oMath>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9546044" y="5293912"/>
                <a:ext cx="817468" cy="344966"/>
              </a:xfrm>
              <a:prstGeom prst="rect">
                <a:avLst/>
              </a:prstGeom>
              <a:blipFill rotWithShape="1">
                <a:blip r:embed="rId9"/>
                <a:stretch>
                  <a:fillRect l="-11" t="-160" r="38" b="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9486296" y="5787402"/>
                <a:ext cx="817468" cy="344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1600" i="1" dirty="0" smtClean="0">
                              <a:latin typeface="Cambria Math" panose="02040503050406030204" pitchFamily="18" charset="0"/>
                              <a:cs typeface="+mn-ea"/>
                              <a:sym typeface="+mn-lt"/>
                            </a:rPr>
                          </m:ctrlPr>
                        </m:sSubPr>
                        <m:e>
                          <m:r>
                            <a:rPr lang="en-US" altLang="zh-CN" sz="1600" i="1" dirty="0">
                              <a:latin typeface="Cambria Math" panose="02040503050406030204" pitchFamily="18" charset="0"/>
                              <a:cs typeface="+mn-ea"/>
                              <a:sym typeface="+mn-lt"/>
                            </a:rPr>
                            <m:t>𝑆</m:t>
                          </m:r>
                        </m:e>
                        <m:sub>
                          <m:r>
                            <a:rPr lang="en-US" altLang="zh-CN" sz="1600" i="1" dirty="0">
                              <a:latin typeface="Cambria Math" panose="02040503050406030204" pitchFamily="18" charset="0"/>
                              <a:cs typeface="+mn-ea"/>
                              <a:sym typeface="+mn-lt"/>
                            </a:rPr>
                            <m:t>𝑘</m:t>
                          </m:r>
                        </m:sub>
                      </m:sSub>
                      <m:rad>
                        <m:radPr>
                          <m:degHide m:val="on"/>
                          <m:ctrlPr>
                            <a:rPr lang="en-US" altLang="zh-CN" sz="1600" i="1" dirty="0" smtClean="0">
                              <a:latin typeface="Cambria Math" panose="02040503050406030204" pitchFamily="18" charset="0"/>
                            </a:rPr>
                          </m:ctrlPr>
                        </m:radPr>
                        <m:deg/>
                        <m:e>
                          <m:sSub>
                            <m:sSubPr>
                              <m:ctrlPr>
                                <a:rPr lang="en-US" altLang="zh-CN" sz="1600" i="1" dirty="0">
                                  <a:latin typeface="Cambria Math" panose="02040503050406030204" pitchFamily="18" charset="0"/>
                                  <a:cs typeface="+mn-ea"/>
                                  <a:sym typeface="+mn-lt"/>
                                </a:rPr>
                              </m:ctrlPr>
                            </m:sSubPr>
                            <m:e>
                              <m:r>
                                <a:rPr lang="en-US" altLang="zh-CN" sz="1600" b="0" i="1" dirty="0" smtClean="0">
                                  <a:latin typeface="Cambria Math" panose="02040503050406030204" pitchFamily="18" charset="0"/>
                                  <a:cs typeface="+mn-ea"/>
                                  <a:sym typeface="+mn-lt"/>
                                </a:rPr>
                                <m:t>𝑎</m:t>
                              </m:r>
                            </m:e>
                            <m:sub>
                              <m:r>
                                <a:rPr lang="en-US" altLang="zh-CN" sz="1600" b="0" i="1" dirty="0" smtClean="0">
                                  <a:latin typeface="Cambria Math" panose="02040503050406030204" pitchFamily="18" charset="0"/>
                                  <a:cs typeface="+mn-ea"/>
                                  <a:sym typeface="+mn-lt"/>
                                </a:rPr>
                                <m:t>𝑟</m:t>
                              </m:r>
                            </m:sub>
                          </m:sSub>
                        </m:e>
                      </m:rad>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9486296" y="5787402"/>
                <a:ext cx="817468" cy="344966"/>
              </a:xfrm>
              <a:prstGeom prst="rect">
                <a:avLst/>
              </a:prstGeom>
              <a:blipFill rotWithShape="1">
                <a:blip r:embed="rId10"/>
                <a:stretch>
                  <a:fillRect l="-4" t="-3" r="31"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9453776" y="4754896"/>
                <a:ext cx="1002005" cy="3904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n-US" altLang="zh-CN" sz="1600" i="1" dirty="0" smtClean="0">
                              <a:latin typeface="Cambria Math" panose="02040503050406030204" pitchFamily="18" charset="0"/>
                            </a:rPr>
                          </m:ctrlPr>
                        </m:radPr>
                        <m:deg/>
                        <m:e>
                          <m:sSub>
                            <m:sSubPr>
                              <m:ctrlPr>
                                <a:rPr lang="en-US" altLang="zh-CN" sz="1600" i="1" dirty="0">
                                  <a:latin typeface="Cambria Math" panose="02040503050406030204" pitchFamily="18" charset="0"/>
                                  <a:cs typeface="+mn-ea"/>
                                  <a:sym typeface="+mn-lt"/>
                                </a:rPr>
                              </m:ctrlPr>
                            </m:sSubPr>
                            <m:e>
                              <m:sSub>
                                <m:sSubPr>
                                  <m:ctrlPr>
                                    <a:rPr lang="en-US" altLang="zh-CN" sz="1600" i="1" dirty="0">
                                      <a:latin typeface="Cambria Math" panose="02040503050406030204" pitchFamily="18" charset="0"/>
                                      <a:cs typeface="+mn-ea"/>
                                      <a:sym typeface="+mn-lt"/>
                                    </a:rPr>
                                  </m:ctrlPr>
                                </m:sSubPr>
                                <m:e>
                                  <m:r>
                                    <a:rPr lang="en-US" altLang="zh-CN" sz="1600" i="1" dirty="0">
                                      <a:latin typeface="Cambria Math" panose="02040503050406030204" pitchFamily="18" charset="0"/>
                                      <a:cs typeface="+mn-ea"/>
                                      <a:sym typeface="+mn-lt"/>
                                    </a:rPr>
                                    <m:t>𝑆</m:t>
                                  </m:r>
                                </m:e>
                                <m:sub>
                                  <m:r>
                                    <a:rPr lang="en-US" altLang="zh-CN" sz="1600" i="1" dirty="0">
                                      <a:latin typeface="Cambria Math" panose="02040503050406030204" pitchFamily="18" charset="0"/>
                                      <a:cs typeface="+mn-ea"/>
                                      <a:sym typeface="+mn-lt"/>
                                    </a:rPr>
                                    <m:t>𝑘</m:t>
                                  </m:r>
                                </m:sub>
                              </m:sSub>
                              <m:r>
                                <a:rPr lang="en-US" altLang="zh-CN" sz="1600" b="0" i="1" dirty="0" smtClean="0">
                                  <a:latin typeface="Cambria Math" panose="02040503050406030204" pitchFamily="18" charset="0"/>
                                  <a:cs typeface="+mn-ea"/>
                                  <a:sym typeface="+mn-lt"/>
                                </a:rPr>
                                <m:t>𝑆</m:t>
                              </m:r>
                            </m:e>
                            <m:sub>
                              <m:r>
                                <a:rPr lang="en-US" altLang="zh-CN" sz="1600" b="0" i="1" dirty="0" smtClean="0">
                                  <a:latin typeface="Cambria Math" panose="02040503050406030204" pitchFamily="18" charset="0"/>
                                  <a:cs typeface="+mn-ea"/>
                                  <a:sym typeface="+mn-lt"/>
                                </a:rPr>
                                <m:t>𝑘</m:t>
                              </m:r>
                              <m:r>
                                <a:rPr lang="en-US" altLang="zh-CN" sz="1600" b="0" i="1" dirty="0" smtClean="0">
                                  <a:latin typeface="Cambria Math" panose="02040503050406030204" pitchFamily="18" charset="0"/>
                                  <a:cs typeface="+mn-ea"/>
                                  <a:sym typeface="+mn-lt"/>
                                </a:rPr>
                                <m:t>+1</m:t>
                              </m:r>
                            </m:sub>
                          </m:sSub>
                        </m:e>
                      </m:rad>
                    </m:oMath>
                  </m:oMathPara>
                </a14:m>
                <a:endParaRPr lang="zh-CN" altLang="en-US" sz="1600" dirty="0"/>
              </a:p>
            </p:txBody>
          </p:sp>
        </mc:Choice>
        <mc:Fallback xmlns="">
          <p:sp>
            <p:nvSpPr>
              <p:cNvPr id="19" name="矩形 18"/>
              <p:cNvSpPr>
                <a:spLocks noRot="1" noChangeAspect="1" noMove="1" noResize="1" noEditPoints="1" noAdjustHandles="1" noChangeArrowheads="1" noChangeShapeType="1" noTextEdit="1"/>
              </p:cNvSpPr>
              <p:nvPr/>
            </p:nvSpPr>
            <p:spPr>
              <a:xfrm>
                <a:off x="9453776" y="4754896"/>
                <a:ext cx="1002005" cy="390492"/>
              </a:xfrm>
              <a:prstGeom prst="rect">
                <a:avLst/>
              </a:prstGeom>
              <a:blipFill rotWithShape="1">
                <a:blip r:embed="rId11"/>
                <a:stretch>
                  <a:fillRect l="-53" t="-4" r="50" b="158"/>
                </a:stretch>
              </a:blipFill>
            </p:spPr>
            <p:txBody>
              <a:bodyPr/>
              <a:lstStyle/>
              <a:p>
                <a:r>
                  <a:rPr lang="zh-CN" altLang="en-US">
                    <a:noFill/>
                  </a:rPr>
                  <a:t> </a:t>
                </a:r>
              </a:p>
            </p:txBody>
          </p:sp>
        </mc:Fallback>
      </mc:AlternateContent>
      <p:pic>
        <p:nvPicPr>
          <p:cNvPr id="20" name="图片 19"/>
          <p:cNvPicPr>
            <a:picLocks noChangeAspect="1"/>
          </p:cNvPicPr>
          <p:nvPr/>
        </p:nvPicPr>
        <p:blipFill>
          <a:blip r:embed="rId12"/>
          <a:stretch>
            <a:fillRect/>
          </a:stretch>
        </p:blipFill>
        <p:spPr>
          <a:xfrm>
            <a:off x="4665842" y="3807626"/>
            <a:ext cx="1472041" cy="311640"/>
          </a:xfrm>
          <a:prstGeom prst="rect">
            <a:avLst/>
          </a:prstGeom>
        </p:spPr>
      </p:pic>
      <p:pic>
        <p:nvPicPr>
          <p:cNvPr id="21" name="图片 20"/>
          <p:cNvPicPr>
            <a:picLocks noChangeAspect="1"/>
          </p:cNvPicPr>
          <p:nvPr/>
        </p:nvPicPr>
        <p:blipFill>
          <a:blip r:embed="rId13"/>
          <a:stretch>
            <a:fillRect/>
          </a:stretch>
        </p:blipFill>
        <p:spPr>
          <a:xfrm>
            <a:off x="4675995" y="4226351"/>
            <a:ext cx="1497421" cy="305280"/>
          </a:xfrm>
          <a:prstGeom prst="rect">
            <a:avLst/>
          </a:prstGeom>
        </p:spPr>
      </p:pic>
      <p:graphicFrame>
        <p:nvGraphicFramePr>
          <p:cNvPr id="22" name="表格 21"/>
          <p:cNvGraphicFramePr>
            <a:graphicFrameLocks noGrp="1"/>
          </p:cNvGraphicFramePr>
          <p:nvPr/>
        </p:nvGraphicFramePr>
        <p:xfrm>
          <a:off x="6786863" y="3735520"/>
          <a:ext cx="2559599" cy="2560320"/>
        </p:xfrm>
        <a:graphic>
          <a:graphicData uri="http://schemas.openxmlformats.org/drawingml/2006/table">
            <a:tbl>
              <a:tblPr firstRow="1" bandRow="1">
                <a:tableStyleId>{5C22544A-7EE6-4342-B048-85BDC9FD1C3A}</a:tableStyleId>
              </a:tblPr>
              <a:tblGrid>
                <a:gridCol w="365657">
                  <a:extLst>
                    <a:ext uri="{9D8B030D-6E8A-4147-A177-3AD203B41FA5}">
                      <a16:colId xmlns:a16="http://schemas.microsoft.com/office/drawing/2014/main" val="20000"/>
                    </a:ext>
                  </a:extLst>
                </a:gridCol>
                <a:gridCol w="365657">
                  <a:extLst>
                    <a:ext uri="{9D8B030D-6E8A-4147-A177-3AD203B41FA5}">
                      <a16:colId xmlns:a16="http://schemas.microsoft.com/office/drawing/2014/main" val="20001"/>
                    </a:ext>
                  </a:extLst>
                </a:gridCol>
                <a:gridCol w="365657">
                  <a:extLst>
                    <a:ext uri="{9D8B030D-6E8A-4147-A177-3AD203B41FA5}">
                      <a16:colId xmlns:a16="http://schemas.microsoft.com/office/drawing/2014/main" val="20002"/>
                    </a:ext>
                  </a:extLst>
                </a:gridCol>
                <a:gridCol w="365657">
                  <a:extLst>
                    <a:ext uri="{9D8B030D-6E8A-4147-A177-3AD203B41FA5}">
                      <a16:colId xmlns:a16="http://schemas.microsoft.com/office/drawing/2014/main" val="20003"/>
                    </a:ext>
                  </a:extLst>
                </a:gridCol>
                <a:gridCol w="365657">
                  <a:extLst>
                    <a:ext uri="{9D8B030D-6E8A-4147-A177-3AD203B41FA5}">
                      <a16:colId xmlns:a16="http://schemas.microsoft.com/office/drawing/2014/main" val="20004"/>
                    </a:ext>
                  </a:extLst>
                </a:gridCol>
                <a:gridCol w="365657">
                  <a:extLst>
                    <a:ext uri="{9D8B030D-6E8A-4147-A177-3AD203B41FA5}">
                      <a16:colId xmlns:a16="http://schemas.microsoft.com/office/drawing/2014/main" val="20005"/>
                    </a:ext>
                  </a:extLst>
                </a:gridCol>
                <a:gridCol w="365657">
                  <a:extLst>
                    <a:ext uri="{9D8B030D-6E8A-4147-A177-3AD203B41FA5}">
                      <a16:colId xmlns:a16="http://schemas.microsoft.com/office/drawing/2014/main" val="20006"/>
                    </a:ext>
                  </a:extLst>
                </a:gridCol>
              </a:tblGrid>
              <a:tr h="329007">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29007">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29007">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29007">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29007">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29007">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29007">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pic>
        <p:nvPicPr>
          <p:cNvPr id="23" name="图片 22"/>
          <p:cNvPicPr>
            <a:picLocks noChangeAspect="1"/>
          </p:cNvPicPr>
          <p:nvPr/>
        </p:nvPicPr>
        <p:blipFill>
          <a:blip r:embed="rId14"/>
          <a:stretch>
            <a:fillRect/>
          </a:stretch>
        </p:blipFill>
        <p:spPr>
          <a:xfrm>
            <a:off x="6322487" y="3262794"/>
            <a:ext cx="1373533" cy="288000"/>
          </a:xfrm>
          <a:prstGeom prst="rect">
            <a:avLst/>
          </a:prstGeom>
        </p:spPr>
      </p:pic>
      <p:sp>
        <p:nvSpPr>
          <p:cNvPr id="24" name="矩形 23"/>
          <p:cNvSpPr/>
          <p:nvPr/>
        </p:nvSpPr>
        <p:spPr>
          <a:xfrm>
            <a:off x="7799020" y="4754896"/>
            <a:ext cx="518400" cy="518400"/>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7696020" y="4833267"/>
            <a:ext cx="734400" cy="367200"/>
          </a:xfrm>
          <a:prstGeom prst="rect">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5400000">
            <a:off x="7696020" y="4826025"/>
            <a:ext cx="734400" cy="367200"/>
          </a:xfrm>
          <a:prstGeom prst="rect">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7617220" y="4867411"/>
            <a:ext cx="882000" cy="298800"/>
          </a:xfrm>
          <a:prstGeom prst="rect">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5400000">
            <a:off x="7623934" y="4875995"/>
            <a:ext cx="882000" cy="298800"/>
          </a:xfrm>
          <a:prstGeom prst="rect">
            <a:avLst/>
          </a:prstGeom>
          <a:noFill/>
          <a:ln>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688288" y="4636272"/>
            <a:ext cx="759600" cy="759600"/>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p:cNvCxnSpPr/>
          <p:nvPr/>
        </p:nvCxnSpPr>
        <p:spPr>
          <a:xfrm flipV="1">
            <a:off x="8317420" y="4382986"/>
            <a:ext cx="1352908" cy="371910"/>
          </a:xfrm>
          <a:prstGeom prst="straightConnector1">
            <a:avLst/>
          </a:prstGeom>
          <a:noFill/>
          <a:ln w="15875" cap="flat" cmpd="sng">
            <a:solidFill>
              <a:srgbClr val="00B050"/>
            </a:solidFill>
            <a:prstDash val="solid"/>
            <a:round/>
            <a:tailEnd type="triangle"/>
          </a:ln>
          <a:effectLst/>
        </p:spPr>
      </p:cxnSp>
      <p:cxnSp>
        <p:nvCxnSpPr>
          <p:cNvPr id="32" name="直接箭头连接符 31"/>
          <p:cNvCxnSpPr/>
          <p:nvPr/>
        </p:nvCxnSpPr>
        <p:spPr>
          <a:xfrm flipV="1">
            <a:off x="8447888" y="4957085"/>
            <a:ext cx="1161911" cy="292534"/>
          </a:xfrm>
          <a:prstGeom prst="straightConnector1">
            <a:avLst/>
          </a:prstGeom>
          <a:noFill/>
          <a:ln w="15875" cap="flat" cmpd="sng">
            <a:solidFill>
              <a:srgbClr val="00B050"/>
            </a:solidFill>
            <a:prstDash val="solid"/>
            <a:round/>
            <a:tailEnd type="triangle"/>
          </a:ln>
          <a:effectLst/>
        </p:spPr>
      </p:cxnSp>
      <p:cxnSp>
        <p:nvCxnSpPr>
          <p:cNvPr id="34" name="直接箭头连接符 33"/>
          <p:cNvCxnSpPr/>
          <p:nvPr/>
        </p:nvCxnSpPr>
        <p:spPr>
          <a:xfrm>
            <a:off x="8064934" y="5485118"/>
            <a:ext cx="1544865" cy="489747"/>
          </a:xfrm>
          <a:prstGeom prst="straightConnector1">
            <a:avLst/>
          </a:prstGeom>
          <a:noFill/>
          <a:ln w="15875" cap="flat" cmpd="sng">
            <a:solidFill>
              <a:srgbClr val="00B050"/>
            </a:solidFill>
            <a:prstDash val="solid"/>
            <a:round/>
            <a:tailEnd type="triangle"/>
          </a:ln>
          <a:effectLst/>
        </p:spPr>
      </p:cxnSp>
      <p:cxnSp>
        <p:nvCxnSpPr>
          <p:cNvPr id="35" name="直接箭头连接符 34"/>
          <p:cNvCxnSpPr/>
          <p:nvPr/>
        </p:nvCxnSpPr>
        <p:spPr>
          <a:xfrm>
            <a:off x="8222023" y="5452608"/>
            <a:ext cx="1345093" cy="1"/>
          </a:xfrm>
          <a:prstGeom prst="straightConnector1">
            <a:avLst/>
          </a:prstGeom>
          <a:noFill/>
          <a:ln w="15875" cap="flat" cmpd="sng">
            <a:solidFill>
              <a:srgbClr val="00B050"/>
            </a:solidFill>
            <a:prstDash val="solid"/>
            <a:round/>
            <a:tailEnd type="triangle"/>
          </a:ln>
          <a:effectLst/>
        </p:spPr>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800" b="1" dirty="0"/>
              <a:t>SSD</a:t>
            </a:r>
          </a:p>
        </p:txBody>
      </p:sp>
      <p:sp>
        <p:nvSpPr>
          <p:cNvPr id="36" name="矩形 35"/>
          <p:cNvSpPr/>
          <p:nvPr/>
        </p:nvSpPr>
        <p:spPr>
          <a:xfrm>
            <a:off x="763342" y="1492108"/>
            <a:ext cx="10612414" cy="800989"/>
          </a:xfrm>
          <a:prstGeom prst="rect">
            <a:avLst/>
          </a:prstGeom>
        </p:spPr>
        <p:txBody>
          <a:bodyPr wrap="square">
            <a:spAutoFit/>
          </a:bodyPr>
          <a:lstStyle/>
          <a:p>
            <a:pPr marL="285750" indent="-285750">
              <a:lnSpc>
                <a:spcPct val="120000"/>
              </a:lnSpc>
              <a:buClr>
                <a:schemeClr val="accent1"/>
              </a:buClr>
              <a:buSzPct val="100000"/>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同时对多层特征图上的默认框计算</a:t>
            </a:r>
            <a:r>
              <a:rPr lang="en-US" altLang="zh-CN" sz="2000" dirty="0">
                <a:latin typeface="Microsoft YaHei UI Light" panose="020B0502040204020203" pitchFamily="34" charset="-122"/>
                <a:ea typeface="微软雅黑 Light" panose="020B0502040204020203" pitchFamily="34" charset="-122"/>
                <a:cs typeface="+mn-ea"/>
                <a:sym typeface="+mn-lt"/>
              </a:rPr>
              <a:t>IOU</a:t>
            </a:r>
            <a:r>
              <a:rPr lang="zh-CN" altLang="en-US" sz="2000" dirty="0">
                <a:latin typeface="Microsoft YaHei UI Light" panose="020B0502040204020203" pitchFamily="34" charset="-122"/>
                <a:ea typeface="微软雅黑 Light" panose="020B0502040204020203" pitchFamily="34" charset="-122"/>
                <a:cs typeface="+mn-ea"/>
                <a:sym typeface="+mn-lt"/>
              </a:rPr>
              <a:t>，可以找到与真实框大小和位置最接近（即</a:t>
            </a:r>
            <a:r>
              <a:rPr lang="en-US" altLang="zh-CN" sz="2000" dirty="0">
                <a:latin typeface="Microsoft YaHei UI Light" panose="020B0502040204020203" pitchFamily="34" charset="-122"/>
                <a:ea typeface="微软雅黑 Light" panose="020B0502040204020203" pitchFamily="34" charset="-122"/>
                <a:cs typeface="+mn-ea"/>
                <a:sym typeface="+mn-lt"/>
              </a:rPr>
              <a:t>IOU</a:t>
            </a:r>
            <a:r>
              <a:rPr lang="zh-CN" altLang="en-US" sz="2000" dirty="0">
                <a:latin typeface="Microsoft YaHei UI Light" panose="020B0502040204020203" pitchFamily="34" charset="-122"/>
                <a:ea typeface="微软雅黑 Light" panose="020B0502040204020203" pitchFamily="34" charset="-122"/>
                <a:cs typeface="+mn-ea"/>
                <a:sym typeface="+mn-lt"/>
              </a:rPr>
              <a:t>最大）的框，在训练时能达到最好的精度。</a:t>
            </a:r>
          </a:p>
        </p:txBody>
      </p:sp>
      <p:grpSp>
        <p:nvGrpSpPr>
          <p:cNvPr id="37" name="组合 36"/>
          <p:cNvGrpSpPr/>
          <p:nvPr/>
        </p:nvGrpSpPr>
        <p:grpSpPr>
          <a:xfrm>
            <a:off x="1236372" y="2667573"/>
            <a:ext cx="2994766" cy="2911965"/>
            <a:chOff x="698175" y="2788209"/>
            <a:chExt cx="2461167" cy="2469560"/>
          </a:xfrm>
        </p:grpSpPr>
        <p:pic>
          <p:nvPicPr>
            <p:cNvPr id="38" name="图片 37"/>
            <p:cNvPicPr>
              <a:picLocks noChangeAspect="1"/>
            </p:cNvPicPr>
            <p:nvPr/>
          </p:nvPicPr>
          <p:blipFill>
            <a:blip r:embed="rId5"/>
            <a:stretch>
              <a:fillRect/>
            </a:stretch>
          </p:blipFill>
          <p:spPr>
            <a:xfrm>
              <a:off x="698175" y="2802569"/>
              <a:ext cx="2461167" cy="2455200"/>
            </a:xfrm>
            <a:prstGeom prst="rect">
              <a:avLst/>
            </a:prstGeom>
          </p:spPr>
        </p:pic>
        <p:pic>
          <p:nvPicPr>
            <p:cNvPr id="39" name="图片 38"/>
            <p:cNvPicPr>
              <a:picLocks noChangeAspect="1"/>
            </p:cNvPicPr>
            <p:nvPr/>
          </p:nvPicPr>
          <p:blipFill>
            <a:blip r:embed="rId6"/>
            <a:stretch>
              <a:fillRect/>
            </a:stretch>
          </p:blipFill>
          <p:spPr>
            <a:xfrm>
              <a:off x="698175" y="2788209"/>
              <a:ext cx="2449409" cy="2455200"/>
            </a:xfrm>
            <a:prstGeom prst="rect">
              <a:avLst/>
            </a:prstGeom>
          </p:spPr>
        </p:pic>
      </p:grpSp>
      <p:grpSp>
        <p:nvGrpSpPr>
          <p:cNvPr id="40" name="组合 39"/>
          <p:cNvGrpSpPr/>
          <p:nvPr/>
        </p:nvGrpSpPr>
        <p:grpSpPr>
          <a:xfrm>
            <a:off x="4430299" y="2684505"/>
            <a:ext cx="2822907" cy="2895033"/>
            <a:chOff x="3511890" y="2772064"/>
            <a:chExt cx="2466852" cy="2471466"/>
          </a:xfrm>
        </p:grpSpPr>
        <p:pic>
          <p:nvPicPr>
            <p:cNvPr id="41" name="图片 40"/>
            <p:cNvPicPr>
              <a:picLocks noChangeAspect="1"/>
            </p:cNvPicPr>
            <p:nvPr/>
          </p:nvPicPr>
          <p:blipFill>
            <a:blip r:embed="rId5"/>
            <a:stretch>
              <a:fillRect/>
            </a:stretch>
          </p:blipFill>
          <p:spPr>
            <a:xfrm>
              <a:off x="3517575" y="2788330"/>
              <a:ext cx="2461167" cy="2455200"/>
            </a:xfrm>
            <a:prstGeom prst="rect">
              <a:avLst/>
            </a:prstGeom>
          </p:spPr>
        </p:pic>
        <p:pic>
          <p:nvPicPr>
            <p:cNvPr id="42" name="图片 41"/>
            <p:cNvPicPr>
              <a:picLocks noChangeAspect="1"/>
            </p:cNvPicPr>
            <p:nvPr/>
          </p:nvPicPr>
          <p:blipFill>
            <a:blip r:embed="rId7"/>
            <a:stretch>
              <a:fillRect/>
            </a:stretch>
          </p:blipFill>
          <p:spPr>
            <a:xfrm>
              <a:off x="3511890" y="2772064"/>
              <a:ext cx="2458688" cy="2464500"/>
            </a:xfrm>
            <a:prstGeom prst="rect">
              <a:avLst/>
            </a:prstGeom>
          </p:spPr>
        </p:pic>
      </p:grpSp>
      <p:grpSp>
        <p:nvGrpSpPr>
          <p:cNvPr id="43" name="组合 42"/>
          <p:cNvGrpSpPr/>
          <p:nvPr/>
        </p:nvGrpSpPr>
        <p:grpSpPr>
          <a:xfrm>
            <a:off x="7458873" y="2667573"/>
            <a:ext cx="2940490" cy="2871218"/>
            <a:chOff x="6173729" y="2757550"/>
            <a:chExt cx="2465445" cy="2464500"/>
          </a:xfrm>
        </p:grpSpPr>
        <p:pic>
          <p:nvPicPr>
            <p:cNvPr id="44" name="图片 43"/>
            <p:cNvPicPr>
              <a:picLocks noChangeAspect="1"/>
            </p:cNvPicPr>
            <p:nvPr/>
          </p:nvPicPr>
          <p:blipFill>
            <a:blip r:embed="rId5"/>
            <a:stretch>
              <a:fillRect/>
            </a:stretch>
          </p:blipFill>
          <p:spPr>
            <a:xfrm>
              <a:off x="6178007" y="2766850"/>
              <a:ext cx="2461167" cy="2455200"/>
            </a:xfrm>
            <a:prstGeom prst="rect">
              <a:avLst/>
            </a:prstGeom>
          </p:spPr>
        </p:pic>
        <p:pic>
          <p:nvPicPr>
            <p:cNvPr id="45" name="图片 44"/>
            <p:cNvPicPr>
              <a:picLocks noChangeAspect="1"/>
            </p:cNvPicPr>
            <p:nvPr/>
          </p:nvPicPr>
          <p:blipFill>
            <a:blip r:embed="rId8"/>
            <a:stretch>
              <a:fillRect/>
            </a:stretch>
          </p:blipFill>
          <p:spPr>
            <a:xfrm>
              <a:off x="6173729" y="2757550"/>
              <a:ext cx="2458688" cy="2464500"/>
            </a:xfrm>
            <a:prstGeom prst="rect">
              <a:avLst/>
            </a:prstGeom>
          </p:spPr>
        </p:pic>
      </p:grpSp>
      <p:sp>
        <p:nvSpPr>
          <p:cNvPr id="46" name="矩形 45"/>
          <p:cNvSpPr/>
          <p:nvPr/>
        </p:nvSpPr>
        <p:spPr>
          <a:xfrm>
            <a:off x="1759106" y="5687418"/>
            <a:ext cx="1890032" cy="387798"/>
          </a:xfrm>
          <a:prstGeom prst="rect">
            <a:avLst/>
          </a:prstGeom>
        </p:spPr>
        <p:txBody>
          <a:bodyPr wrap="square">
            <a:spAutoFit/>
          </a:bodyPr>
          <a:lstStyle/>
          <a:p>
            <a:pPr>
              <a:lnSpc>
                <a:spcPct val="120000"/>
              </a:lnSpc>
              <a:buClr>
                <a:schemeClr val="accent1"/>
              </a:buClr>
              <a:buSzPct val="100000"/>
            </a:pPr>
            <a:r>
              <a:rPr lang="zh-CN" altLang="en-US" sz="1600" dirty="0">
                <a:latin typeface="Microsoft YaHei UI Light" panose="020B0502040204020203" pitchFamily="34" charset="-122"/>
                <a:ea typeface="微软雅黑 Light" panose="020B0502040204020203" pitchFamily="34" charset="-122"/>
                <a:cs typeface="+mn-ea"/>
                <a:sym typeface="+mn-lt"/>
              </a:rPr>
              <a:t>较低层级的特征图</a:t>
            </a:r>
          </a:p>
        </p:txBody>
      </p:sp>
      <p:sp>
        <p:nvSpPr>
          <p:cNvPr id="47" name="矩形 46"/>
          <p:cNvSpPr/>
          <p:nvPr/>
        </p:nvSpPr>
        <p:spPr>
          <a:xfrm>
            <a:off x="4892065" y="5662667"/>
            <a:ext cx="1890032" cy="387798"/>
          </a:xfrm>
          <a:prstGeom prst="rect">
            <a:avLst/>
          </a:prstGeom>
        </p:spPr>
        <p:txBody>
          <a:bodyPr wrap="square">
            <a:spAutoFit/>
          </a:bodyPr>
          <a:lstStyle/>
          <a:p>
            <a:pPr>
              <a:lnSpc>
                <a:spcPct val="120000"/>
              </a:lnSpc>
              <a:buClr>
                <a:schemeClr val="accent1"/>
              </a:buClr>
              <a:buSzPct val="100000"/>
            </a:pPr>
            <a:r>
              <a:rPr lang="zh-CN" altLang="en-US" sz="1600" dirty="0">
                <a:latin typeface="Microsoft YaHei UI Light" panose="020B0502040204020203" pitchFamily="34" charset="-122"/>
                <a:ea typeface="微软雅黑 Light" panose="020B0502040204020203" pitchFamily="34" charset="-122"/>
                <a:cs typeface="+mn-ea"/>
                <a:sym typeface="+mn-lt"/>
              </a:rPr>
              <a:t>中间层级的特征图</a:t>
            </a:r>
          </a:p>
        </p:txBody>
      </p:sp>
      <p:sp>
        <p:nvSpPr>
          <p:cNvPr id="48" name="矩形 47"/>
          <p:cNvSpPr/>
          <p:nvPr/>
        </p:nvSpPr>
        <p:spPr>
          <a:xfrm>
            <a:off x="8025024" y="5662667"/>
            <a:ext cx="1890032" cy="387798"/>
          </a:xfrm>
          <a:prstGeom prst="rect">
            <a:avLst/>
          </a:prstGeom>
        </p:spPr>
        <p:txBody>
          <a:bodyPr wrap="square">
            <a:spAutoFit/>
          </a:bodyPr>
          <a:lstStyle/>
          <a:p>
            <a:pPr>
              <a:lnSpc>
                <a:spcPct val="120000"/>
              </a:lnSpc>
              <a:buClr>
                <a:schemeClr val="accent1"/>
              </a:buClr>
              <a:buSzPct val="100000"/>
            </a:pPr>
            <a:r>
              <a:rPr lang="zh-CN" altLang="en-US" sz="1600" dirty="0">
                <a:latin typeface="Microsoft YaHei UI Light" panose="020B0502040204020203" pitchFamily="34" charset="-122"/>
                <a:ea typeface="微软雅黑 Light" panose="020B0502040204020203" pitchFamily="34" charset="-122"/>
                <a:cs typeface="+mn-ea"/>
                <a:sym typeface="+mn-lt"/>
              </a:rPr>
              <a:t>较高层级的特征图</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cstate="print">
            <a:extLst>
              <a:ext uri="{28A0092B-C50C-407E-A947-70E740481C1C}">
                <a14:useLocalDpi xmlns:a14="http://schemas.microsoft.com/office/drawing/2010/main" val="0"/>
              </a:ext>
            </a:extLst>
          </a:blip>
          <a:srcRect l="3333" r="3125"/>
          <a:stretch>
            <a:fillRect/>
          </a:stretch>
        </p:blipFill>
        <p:spPr>
          <a:xfrm>
            <a:off x="972806" y="711422"/>
            <a:ext cx="10021101" cy="5811403"/>
          </a:xfrm>
          <a:prstGeom prst="rect">
            <a:avLst/>
          </a:prstGeom>
        </p:spPr>
      </p:pic>
      <p:sp>
        <p:nvSpPr>
          <p:cNvPr id="9" name="矩形 8"/>
          <p:cNvSpPr/>
          <p:nvPr/>
        </p:nvSpPr>
        <p:spPr>
          <a:xfrm>
            <a:off x="7358809" y="6276714"/>
            <a:ext cx="4572000" cy="261610"/>
          </a:xfrm>
          <a:prstGeom prst="rect">
            <a:avLst/>
          </a:prstGeom>
        </p:spPr>
        <p:txBody>
          <a:bodyPr>
            <a:spAutoFit/>
          </a:bodyPr>
          <a:lstStyle/>
          <a:p>
            <a:r>
              <a:rPr lang="en-US" altLang="zh-CN" sz="1100" dirty="0"/>
              <a:t>https://</a:t>
            </a:r>
            <a:r>
              <a:rPr lang="en-US" altLang="zh-CN" sz="1100" dirty="0" err="1"/>
              <a:t>zhuanlan.zhihu.com</a:t>
            </a:r>
            <a:r>
              <a:rPr lang="en-US" altLang="zh-CN" sz="1100" dirty="0"/>
              <a:t>/p/33277354</a:t>
            </a:r>
            <a:endParaRPr lang="zh-CN" altLang="en-US" sz="1100" dirty="0"/>
          </a:p>
        </p:txBody>
      </p:sp>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4"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卷积神经网络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p:nvPr/>
        </p:nvSpPr>
        <p:spPr>
          <a:xfrm>
            <a:off x="293722" y="691951"/>
            <a:ext cx="11637087" cy="80877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图像检测算法</a:t>
            </a:r>
            <a:endParaRPr lang="en-US" altLang="zh-CN" sz="2800" b="1" dirty="0"/>
          </a:p>
        </p:txBody>
      </p:sp>
      <p:sp>
        <p:nvSpPr>
          <p:cNvPr id="10" name="矩形 9"/>
          <p:cNvSpPr/>
          <p:nvPr/>
        </p:nvSpPr>
        <p:spPr>
          <a:xfrm>
            <a:off x="763342" y="1492108"/>
            <a:ext cx="6954814" cy="798360"/>
          </a:xfrm>
          <a:prstGeom prst="rect">
            <a:avLst/>
          </a:prstGeom>
        </p:spPr>
        <p:txBody>
          <a:bodyPr wrap="square">
            <a:spAutoFit/>
          </a:bodyPr>
          <a:lstStyle/>
          <a:p>
            <a:pPr marL="285750" indent="-285750">
              <a:lnSpc>
                <a:spcPct val="120000"/>
              </a:lnSpc>
              <a:buClr>
                <a:schemeClr val="accent1"/>
              </a:buClr>
              <a:buSzPct val="100000"/>
              <a:buFont typeface="Arial" panose="020B0604020202020204" pitchFamily="34" charset="0"/>
              <a:buChar char="•"/>
            </a:pPr>
            <a:r>
              <a:rPr lang="zh-CN" altLang="en-US" sz="2000" dirty="0">
                <a:latin typeface="Microsoft YaHei UI Light" panose="020B0502040204020203" pitchFamily="34" charset="-122"/>
                <a:ea typeface="微软雅黑 Light" panose="020B0502040204020203" pitchFamily="34" charset="-122"/>
                <a:cs typeface="+mn-ea"/>
                <a:sym typeface="+mn-lt"/>
              </a:rPr>
              <a:t>不论一步走还是两步走，主流图像检测算法现在都已经可以全部用神经网络完成。</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2982815"/>
            <a:ext cx="12192000" cy="1107482"/>
          </a:xfrm>
        </p:spPr>
        <p:txBody>
          <a:bodyPr>
            <a:noAutofit/>
          </a:bodyPr>
          <a:lstStyle/>
          <a:p>
            <a:pPr algn="ctr"/>
            <a:r>
              <a:rPr lang="zh-CN" altLang="en-US" sz="4800" b="1" dirty="0">
                <a:solidFill>
                  <a:srgbClr val="712355"/>
                </a:solidFill>
                <a:latin typeface="Calibri" panose="020F0502020204030204" pitchFamily="34" charset="0"/>
                <a:ea typeface="黑体" panose="02010609060101010101" pitchFamily="49" charset="-122"/>
                <a:cs typeface="Calibri" panose="020F0502020204030204" pitchFamily="34" charset="0"/>
              </a:rPr>
              <a:t>谢  谢</a:t>
            </a:r>
          </a:p>
        </p:txBody>
      </p:sp>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7" name="圆角矩形 6"/>
          <p:cNvSpPr/>
          <p:nvPr/>
        </p:nvSpPr>
        <p:spPr>
          <a:xfrm flipV="1">
            <a:off x="1735553" y="4306889"/>
            <a:ext cx="8611819"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881121" y="117984"/>
            <a:ext cx="7309394" cy="523220"/>
          </a:xfrm>
          <a:prstGeom prst="rect">
            <a:avLst/>
          </a:prstGeom>
        </p:spPr>
        <p:txBody>
          <a:bodyPr wrap="square">
            <a:spAutoFit/>
          </a:bodyPr>
          <a:lstStyle/>
          <a:p>
            <a:pPr lvl="0" algn="r"/>
            <a:r>
              <a:rPr lang="zh-CN" altLang="en-US" sz="2800" dirty="0">
                <a:solidFill>
                  <a:schemeClr val="bg1"/>
                </a:solidFill>
                <a:latin typeface="华文行楷" panose="02010800040101010101" pitchFamily="2" charset="-122"/>
                <a:ea typeface="华文行楷" panose="02010800040101010101" pitchFamily="2" charset="-122"/>
              </a:rPr>
              <a:t>允公允能  日新月异</a:t>
            </a:r>
            <a:endParaRPr lang="zh-HK" altLang="zh-HK" sz="2800" dirty="0">
              <a:solidFill>
                <a:schemeClr val="bg1">
                  <a:lumMod val="75000"/>
                </a:schemeClr>
              </a:solidFill>
              <a:latin typeface="华文行楷" panose="02010800040101010101" pitchFamily="2" charset="-122"/>
              <a:ea typeface="华文行楷" panose="02010800040101010101" pitchFamily="2" charset="-122"/>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01175" y="-1642"/>
            <a:ext cx="702890" cy="702890"/>
          </a:xfrm>
          <a:prstGeom prst="rect">
            <a:avLst/>
          </a:prstGeom>
        </p:spPr>
      </p:pic>
      <p:pic>
        <p:nvPicPr>
          <p:cNvPr id="10" name="图片 9"/>
          <p:cNvPicPr>
            <a:picLocks noChangeAspect="1"/>
          </p:cNvPicPr>
          <p:nvPr/>
        </p:nvPicPr>
        <p:blipFill>
          <a:blip r:embed="rId5"/>
          <a:stretch>
            <a:fillRect/>
          </a:stretch>
        </p:blipFill>
        <p:spPr>
          <a:xfrm>
            <a:off x="1758977" y="1042418"/>
            <a:ext cx="8564973" cy="1209463"/>
          </a:xfrm>
          <a:prstGeom prst="rect">
            <a:avLst/>
          </a:prstGeom>
        </p:spPr>
      </p:pic>
      <p:sp>
        <p:nvSpPr>
          <p:cNvPr id="11" name="矩形 10"/>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DIAGRAM" val="243693"/>
</p:tagLst>
</file>

<file path=ppt/tags/tag2.xml><?xml version="1.0" encoding="utf-8"?>
<p:tagLst xmlns:a="http://schemas.openxmlformats.org/drawingml/2006/main" xmlns:r="http://schemas.openxmlformats.org/officeDocument/2006/relationships" xmlns:p="http://schemas.openxmlformats.org/presentationml/2006/main">
  <p:tag name="ISLIDE.VECTOR" val="62a0234c-3beb-46f2-bd39-7e0bbc0a0fb7"/>
</p:tagLst>
</file>

<file path=ppt/tags/tag3.xml><?xml version="1.0" encoding="utf-8"?>
<p:tagLst xmlns:a="http://schemas.openxmlformats.org/drawingml/2006/main" xmlns:r="http://schemas.openxmlformats.org/officeDocument/2006/relationships" xmlns:p="http://schemas.openxmlformats.org/presentationml/2006/main">
  <p:tag name="ISLIDE.VECTOR" val="1042c4d6-065c-43ea-a1d1-115b3632b96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9894</Words>
  <Application>Microsoft Office PowerPoint</Application>
  <PresentationFormat>宽屏</PresentationFormat>
  <Paragraphs>1051</Paragraphs>
  <Slides>69</Slides>
  <Notes>68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69</vt:i4>
      </vt:variant>
    </vt:vector>
  </HeadingPairs>
  <TitlesOfParts>
    <vt:vector size="86" baseType="lpstr">
      <vt:lpstr>Microsoft YaHei UI</vt:lpstr>
      <vt:lpstr>Microsoft YaHei UI Light</vt:lpstr>
      <vt:lpstr>等线</vt:lpstr>
      <vt:lpstr>等线 Light</vt:lpstr>
      <vt:lpstr>黑体</vt:lpstr>
      <vt:lpstr>华文行楷</vt:lpstr>
      <vt:lpstr>宋体</vt:lpstr>
      <vt:lpstr>微软雅黑</vt:lpstr>
      <vt:lpstr>微软雅黑 Light</vt:lpstr>
      <vt:lpstr>Arial</vt:lpstr>
      <vt:lpstr>Calibri</vt:lpstr>
      <vt:lpstr>Cambria Math</vt:lpstr>
      <vt:lpstr>Symbol</vt:lpstr>
      <vt:lpstr>Times New Roman</vt:lpstr>
      <vt:lpstr>Wingdings</vt:lpstr>
      <vt:lpstr>Wingdings 3</vt:lpstr>
      <vt:lpstr>Office 主题​​</vt:lpstr>
      <vt:lpstr>深度学习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  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QianKun Dong</dc:creator>
  <cp:lastModifiedBy>QianKun Dong</cp:lastModifiedBy>
  <cp:revision>6</cp:revision>
  <dcterms:created xsi:type="dcterms:W3CDTF">2024-04-07T10:49:28Z</dcterms:created>
  <dcterms:modified xsi:type="dcterms:W3CDTF">2024-04-07T12:07:45Z</dcterms:modified>
</cp:coreProperties>
</file>