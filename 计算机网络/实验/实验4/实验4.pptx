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3" r:id="rId10"/>
    <p:sldId id="264" r:id="rId11"/>
    <p:sldId id="265" r:id="rId12"/>
    <p:sldId id="266" r:id="rId13"/>
    <p:sldId id="267" r:id="rId14"/>
    <p:sldId id="268" r:id="rId15"/>
    <p:sldId id="272" r:id="rId16"/>
    <p:sldId id="273" r:id="rId17"/>
    <p:sldId id="274" r:id="rId18"/>
    <p:sldId id="275" r:id="rId19"/>
    <p:sldId id="276" r:id="rId20"/>
    <p:sldId id="277" r:id="rId21"/>
  </p:sldIdLst>
  <p:sldSz cx="16256000" cy="9144000"/>
  <p:notesSz cx="6858000" cy="9144000"/>
  <p:custDataLst>
    <p:tags r:id="rId25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54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54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gs" Target="tags/tag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6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  <a:endParaRPr lang="en-US" sz="16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6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  <a:endParaRPr lang="en-US" sz="16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6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  <a:endParaRPr lang="en-US" sz="16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6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  <a:endParaRPr lang="en-US" sz="16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6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  <a:endParaRPr lang="en-US" sz="16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6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  <a:endParaRPr lang="en-US" sz="16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6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  <a:endParaRPr lang="en-US" sz="16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6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  <a:endParaRPr lang="en-US" sz="16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6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  <a:endParaRPr lang="en-US" sz="16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6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  <a:endParaRPr lang="en-US" sz="16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6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  <a:endParaRPr lang="en-US" sz="16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6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  <a:endParaRPr lang="en-US" sz="16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6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  <a:endParaRPr lang="en-US" sz="16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6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  <a:endParaRPr lang="en-US" sz="16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6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  <a:endParaRPr lang="en-US" sz="16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6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  <a:endParaRPr lang="en-US" sz="16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lnSpc>
                <a:spcPct val="100000"/>
              </a:lnSpc>
              <a:defRPr sz="16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单击此处添加文本</a:t>
            </a:r>
            <a:endParaRPr lang="en-US" sz="16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6" hasCustomPrompt="1"/>
          </p:nvPr>
        </p:nvSpPr>
        <p:spPr>
          <a:xfrm>
            <a:off x="2032000" y="1496484"/>
            <a:ext cx="12192000" cy="318346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b">
            <a:noAutofit/>
          </a:bodyPr>
          <a:lstStyle>
            <a:lvl1pPr algn="ctr">
              <a:lnSpc>
                <a:spcPct val="92000"/>
              </a:lnSpc>
              <a:defRPr sz="80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ctr">
              <a:lnSpc>
                <a:spcPct val="92000"/>
              </a:lnSpc>
            </a:pPr>
            <a:r>
              <a:rPr lang="en-US" sz="8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单击此处编辑母版标题样式</a:t>
            </a:r>
            <a:endParaRPr lang="en-US" sz="80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" name="AutoShape 3"/>
          <p:cNvSpPr/>
          <p:nvPr>
            <p:ph type="body" sz="quarter" idx="7" hasCustomPrompt="1"/>
          </p:nvPr>
        </p:nvSpPr>
        <p:spPr>
          <a:xfrm>
            <a:off x="2032000" y="4802717"/>
            <a:ext cx="12192000" cy="220768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t">
            <a:noAutofit/>
          </a:bodyPr>
          <a:lstStyle>
            <a:lvl1pPr algn="ctr">
              <a:lnSpc>
                <a:spcPct val="92000"/>
              </a:lnSpc>
              <a:defRPr sz="32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ctr">
              <a:lnSpc>
                <a:spcPct val="92000"/>
              </a:lnSpc>
            </a:pPr>
            <a:r>
              <a:rPr lang="en-US" sz="32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单击此处编辑母版副标题样式</a:t>
            </a:r>
            <a:endParaRPr lang="en-US" sz="32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" name="AutoShape 4"/>
          <p:cNvSpPr/>
          <p:nvPr>
            <p:ph type="body" sz="quarter" idx="8" hasCustomPrompt="1"/>
          </p:nvPr>
        </p:nvSpPr>
        <p:spPr>
          <a:xfrm>
            <a:off x="1117600" y="8475133"/>
            <a:ext cx="3657600" cy="486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l">
              <a:lnSpc>
                <a:spcPct val="100000"/>
              </a:lnSpc>
              <a:defRPr sz="16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2022/11/28</a:t>
            </a:r>
            <a:endParaRPr lang="en-US" sz="16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5" name="AutoShape 5"/>
          <p:cNvSpPr/>
          <p:nvPr>
            <p:ph type="body" sz="quarter" idx="9" hasCustomPrompt="1"/>
          </p:nvPr>
        </p:nvSpPr>
        <p:spPr>
          <a:xfrm>
            <a:off x="5384800" y="8475133"/>
            <a:ext cx="5486400" cy="486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ctr">
              <a:lnSpc>
                <a:spcPct val="100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页脚</a:t>
            </a:r>
            <a:endParaRPr lang="en-US" sz="16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AutoShape 6"/>
          <p:cNvSpPr/>
          <p:nvPr>
            <p:ph type="body" sz="quarter" idx="10" hasCustomPrompt="1"/>
          </p:nvPr>
        </p:nvSpPr>
        <p:spPr>
          <a:xfrm>
            <a:off x="11480800" y="8475133"/>
            <a:ext cx="3657600" cy="486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‹#›</a:t>
            </a:r>
            <a:endParaRPr lang="en-US" sz="16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1" hasCustomPrompt="1"/>
          </p:nvPr>
        </p:nvSpPr>
        <p:spPr>
          <a:xfrm>
            <a:off x="1117600" y="486833"/>
            <a:ext cx="14020800" cy="176741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l">
              <a:lnSpc>
                <a:spcPct val="92000"/>
              </a:lnSpc>
              <a:defRPr sz="58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58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单击此处编辑母版标题样式</a:t>
            </a:r>
            <a:endParaRPr lang="en-US" sz="58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" name="AutoShape 3"/>
          <p:cNvSpPr/>
          <p:nvPr>
            <p:ph type="body" sz="quarter" idx="12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t">
            <a:noAutofit/>
          </a:bodyPr>
          <a:lstStyle>
            <a:lvl1pPr algn="l">
              <a:lnSpc>
                <a:spcPct val="92000"/>
              </a:lnSpc>
              <a:defRPr sz="37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lvl="0" indent="4699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37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单击此处编辑母版文本样式</a:t>
            </a:r>
            <a:endParaRPr lang="en-US" sz="37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269875" lvl="1" indent="4064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二级</a:t>
            </a:r>
            <a:endParaRPr lang="en-US" sz="32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539750" lvl="2" indent="3302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2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三级</a:t>
            </a:r>
            <a:endParaRPr lang="en-US" sz="26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810260" lvl="3" indent="3048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四级</a:t>
            </a:r>
            <a:endParaRPr lang="en-US" sz="2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080135" lvl="4" indent="3048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五级</a:t>
            </a:r>
            <a:endParaRPr lang="en-US" sz="2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" name="AutoShape 4"/>
          <p:cNvSpPr/>
          <p:nvPr>
            <p:ph type="body" sz="quarter" idx="13" hasCustomPrompt="1"/>
          </p:nvPr>
        </p:nvSpPr>
        <p:spPr>
          <a:xfrm>
            <a:off x="1117600" y="8475133"/>
            <a:ext cx="3657600" cy="486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l">
              <a:lnSpc>
                <a:spcPct val="100000"/>
              </a:lnSpc>
              <a:defRPr sz="16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2022/11/28</a:t>
            </a:r>
            <a:endParaRPr lang="en-US" sz="16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5" name="AutoShape 5"/>
          <p:cNvSpPr/>
          <p:nvPr>
            <p:ph type="body" sz="quarter" idx="14" hasCustomPrompt="1"/>
          </p:nvPr>
        </p:nvSpPr>
        <p:spPr>
          <a:xfrm>
            <a:off x="5384800" y="8475133"/>
            <a:ext cx="5486400" cy="486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ctr">
              <a:lnSpc>
                <a:spcPct val="100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页脚</a:t>
            </a:r>
            <a:endParaRPr lang="en-US" sz="16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AutoShape 6"/>
          <p:cNvSpPr/>
          <p:nvPr>
            <p:ph type="body" sz="quarter" idx="15" hasCustomPrompt="1"/>
          </p:nvPr>
        </p:nvSpPr>
        <p:spPr>
          <a:xfrm>
            <a:off x="11480800" y="8475133"/>
            <a:ext cx="3657600" cy="486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‹#›</a:t>
            </a:r>
            <a:endParaRPr lang="en-US" sz="16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16" hasCustomPrompt="1"/>
          </p:nvPr>
        </p:nvSpPr>
        <p:spPr>
          <a:xfrm>
            <a:off x="1109133" y="2279651"/>
            <a:ext cx="14020800" cy="380364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b">
            <a:noAutofit/>
          </a:bodyPr>
          <a:lstStyle>
            <a:lvl1pPr algn="l">
              <a:lnSpc>
                <a:spcPct val="92000"/>
              </a:lnSpc>
              <a:defRPr sz="80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80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单击此处编辑母版标题样式</a:t>
            </a:r>
            <a:endParaRPr lang="en-US" sz="80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" name="AutoShape 3"/>
          <p:cNvSpPr/>
          <p:nvPr>
            <p:ph type="body" sz="quarter" idx="17"/>
          </p:nvPr>
        </p:nvSpPr>
        <p:spPr>
          <a:xfrm>
            <a:off x="1109133" y="6119284"/>
            <a:ext cx="14020800" cy="200024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t">
            <a:noAutofit/>
          </a:bodyPr>
          <a:lstStyle>
            <a:lvl1pPr algn="l">
              <a:lnSpc>
                <a:spcPct val="92000"/>
              </a:lnSpc>
              <a:defRPr sz="3200" b="0" i="0" u="none" strike="noStrike" spc="0">
                <a:solidFill>
                  <a:srgbClr val="89898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3200" b="0" i="0" u="none" strike="noStrike">
                <a:solidFill>
                  <a:srgbClr val="898989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单击此处编辑母版文本样式</a:t>
            </a:r>
            <a:endParaRPr lang="en-US" sz="3200" b="0" i="0" u="none" strike="noStrike">
              <a:solidFill>
                <a:srgbClr val="89898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" name="AutoShape 4"/>
          <p:cNvSpPr/>
          <p:nvPr>
            <p:ph type="body" sz="quarter" idx="18" hasCustomPrompt="1"/>
          </p:nvPr>
        </p:nvSpPr>
        <p:spPr>
          <a:xfrm>
            <a:off x="1117600" y="8475133"/>
            <a:ext cx="3657600" cy="486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l">
              <a:lnSpc>
                <a:spcPct val="100000"/>
              </a:lnSpc>
              <a:defRPr sz="16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2022/11/28</a:t>
            </a:r>
            <a:endParaRPr lang="en-US" sz="16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5" name="AutoShape 5"/>
          <p:cNvSpPr/>
          <p:nvPr>
            <p:ph type="body" sz="quarter" idx="19" hasCustomPrompt="1"/>
          </p:nvPr>
        </p:nvSpPr>
        <p:spPr>
          <a:xfrm>
            <a:off x="5384800" y="8475133"/>
            <a:ext cx="5486400" cy="486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ctr">
              <a:lnSpc>
                <a:spcPct val="100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页脚</a:t>
            </a:r>
            <a:endParaRPr lang="en-US" sz="16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AutoShape 6"/>
          <p:cNvSpPr/>
          <p:nvPr>
            <p:ph type="body" sz="quarter" idx="20" hasCustomPrompt="1"/>
          </p:nvPr>
        </p:nvSpPr>
        <p:spPr>
          <a:xfrm>
            <a:off x="11480800" y="8475133"/>
            <a:ext cx="3657600" cy="486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‹#›</a:t>
            </a:r>
            <a:endParaRPr lang="en-US" sz="16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1" hasCustomPrompt="1"/>
          </p:nvPr>
        </p:nvSpPr>
        <p:spPr>
          <a:xfrm>
            <a:off x="1117600" y="486833"/>
            <a:ext cx="14020800" cy="176741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l">
              <a:lnSpc>
                <a:spcPct val="92000"/>
              </a:lnSpc>
              <a:defRPr sz="58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58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单击此处编辑母版标题样式</a:t>
            </a:r>
            <a:endParaRPr lang="en-US" sz="58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" name="AutoShape 3"/>
          <p:cNvSpPr/>
          <p:nvPr>
            <p:ph type="body" sz="quarter" idx="22"/>
          </p:nvPr>
        </p:nvSpPr>
        <p:spPr>
          <a:xfrm>
            <a:off x="1117600" y="2434167"/>
            <a:ext cx="6908800" cy="58017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t">
            <a:noAutofit/>
          </a:bodyPr>
          <a:lstStyle>
            <a:lvl1pPr algn="l">
              <a:lnSpc>
                <a:spcPct val="92000"/>
              </a:lnSpc>
              <a:defRPr sz="37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lvl="0" indent="4699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37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单击此处编辑母版文本样式</a:t>
            </a:r>
            <a:endParaRPr lang="en-US" sz="37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269875" lvl="1" indent="4064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二级</a:t>
            </a:r>
            <a:endParaRPr lang="en-US" sz="32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539750" lvl="2" indent="3302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2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三级</a:t>
            </a:r>
            <a:endParaRPr lang="en-US" sz="26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810260" lvl="3" indent="3048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四级</a:t>
            </a:r>
            <a:endParaRPr lang="en-US" sz="2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080135" lvl="4" indent="3048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五级</a:t>
            </a:r>
            <a:endParaRPr lang="en-US" sz="2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" name="AutoShape 4"/>
          <p:cNvSpPr/>
          <p:nvPr>
            <p:ph type="body" sz="quarter" idx="23"/>
          </p:nvPr>
        </p:nvSpPr>
        <p:spPr>
          <a:xfrm>
            <a:off x="8229600" y="2434167"/>
            <a:ext cx="6908800" cy="58017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t">
            <a:noAutofit/>
          </a:bodyPr>
          <a:lstStyle>
            <a:lvl1pPr algn="l">
              <a:lnSpc>
                <a:spcPct val="92000"/>
              </a:lnSpc>
              <a:defRPr sz="37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lvl="0" indent="4699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37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单击此处编辑母版文本样式</a:t>
            </a:r>
            <a:endParaRPr lang="en-US" sz="37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269875" lvl="1" indent="4064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二级</a:t>
            </a:r>
            <a:endParaRPr lang="en-US" sz="32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539750" lvl="2" indent="3302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2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三级</a:t>
            </a:r>
            <a:endParaRPr lang="en-US" sz="26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810260" lvl="3" indent="3048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四级</a:t>
            </a:r>
            <a:endParaRPr lang="en-US" sz="2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080135" lvl="4" indent="3048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五级</a:t>
            </a:r>
            <a:endParaRPr lang="en-US" sz="2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" name="AutoShape 5"/>
          <p:cNvSpPr/>
          <p:nvPr>
            <p:ph type="body" sz="quarter" idx="24" hasCustomPrompt="1"/>
          </p:nvPr>
        </p:nvSpPr>
        <p:spPr>
          <a:xfrm>
            <a:off x="1117600" y="8475133"/>
            <a:ext cx="3657600" cy="486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l">
              <a:lnSpc>
                <a:spcPct val="100000"/>
              </a:lnSpc>
              <a:defRPr sz="16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2022/11/28</a:t>
            </a:r>
            <a:endParaRPr lang="en-US" sz="16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AutoShape 6"/>
          <p:cNvSpPr/>
          <p:nvPr>
            <p:ph type="body" sz="quarter" idx="25" hasCustomPrompt="1"/>
          </p:nvPr>
        </p:nvSpPr>
        <p:spPr>
          <a:xfrm>
            <a:off x="5384800" y="8475133"/>
            <a:ext cx="5486400" cy="486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ctr">
              <a:lnSpc>
                <a:spcPct val="100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页脚</a:t>
            </a:r>
            <a:endParaRPr lang="en-US" sz="16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7" name="AutoShape 7"/>
          <p:cNvSpPr/>
          <p:nvPr>
            <p:ph type="body" sz="quarter" idx="26" hasCustomPrompt="1"/>
          </p:nvPr>
        </p:nvSpPr>
        <p:spPr>
          <a:xfrm>
            <a:off x="11480800" y="8475133"/>
            <a:ext cx="3657600" cy="486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‹#›</a:t>
            </a:r>
            <a:endParaRPr lang="en-US" sz="16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27" hasCustomPrompt="1"/>
          </p:nvPr>
        </p:nvSpPr>
        <p:spPr>
          <a:xfrm>
            <a:off x="1119717" y="486833"/>
            <a:ext cx="14020800" cy="176741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l">
              <a:lnSpc>
                <a:spcPct val="92000"/>
              </a:lnSpc>
              <a:defRPr sz="58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58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单击此处编辑母版标题样式</a:t>
            </a:r>
            <a:endParaRPr lang="en-US" sz="58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" name="AutoShape 3"/>
          <p:cNvSpPr/>
          <p:nvPr>
            <p:ph type="body" sz="quarter" idx="28"/>
          </p:nvPr>
        </p:nvSpPr>
        <p:spPr>
          <a:xfrm>
            <a:off x="1119717" y="2241551"/>
            <a:ext cx="6877049" cy="109854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b">
            <a:noAutofit/>
          </a:bodyPr>
          <a:lstStyle>
            <a:lvl1pPr algn="l">
              <a:lnSpc>
                <a:spcPct val="92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3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单击此处编辑母版文本样式</a:t>
            </a:r>
            <a:endParaRPr lang="en-US" sz="3200" b="1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" name="AutoShape 4"/>
          <p:cNvSpPr/>
          <p:nvPr>
            <p:ph type="body" sz="quarter" idx="29"/>
          </p:nvPr>
        </p:nvSpPr>
        <p:spPr>
          <a:xfrm>
            <a:off x="1119717" y="3340100"/>
            <a:ext cx="6877049" cy="49127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t">
            <a:noAutofit/>
          </a:bodyPr>
          <a:lstStyle>
            <a:lvl1pPr algn="l">
              <a:lnSpc>
                <a:spcPct val="92000"/>
              </a:lnSpc>
              <a:defRPr sz="37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lvl="0" indent="4699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37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单击此处编辑母版文本样式</a:t>
            </a:r>
            <a:endParaRPr lang="en-US" sz="37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269875" lvl="1" indent="4064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二级</a:t>
            </a:r>
            <a:endParaRPr lang="en-US" sz="32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539750" lvl="2" indent="3302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2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三级</a:t>
            </a:r>
            <a:endParaRPr lang="en-US" sz="26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810260" lvl="3" indent="3048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四级</a:t>
            </a:r>
            <a:endParaRPr lang="en-US" sz="2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080135" lvl="4" indent="3048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五级</a:t>
            </a:r>
            <a:endParaRPr lang="en-US" sz="2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" name="AutoShape 5"/>
          <p:cNvSpPr/>
          <p:nvPr>
            <p:ph type="body" sz="quarter" idx="30"/>
          </p:nvPr>
        </p:nvSpPr>
        <p:spPr>
          <a:xfrm>
            <a:off x="8229600" y="2241551"/>
            <a:ext cx="6910917" cy="109854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b">
            <a:noAutofit/>
          </a:bodyPr>
          <a:lstStyle>
            <a:lvl1pPr algn="l">
              <a:lnSpc>
                <a:spcPct val="92000"/>
              </a:lnSpc>
              <a:defRPr sz="3200" b="1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32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单击此处编辑母版文本样式</a:t>
            </a:r>
            <a:endParaRPr lang="en-US" sz="3200" b="1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6" name="AutoShape 6"/>
          <p:cNvSpPr/>
          <p:nvPr>
            <p:ph type="body" sz="quarter" idx="31"/>
          </p:nvPr>
        </p:nvSpPr>
        <p:spPr>
          <a:xfrm>
            <a:off x="8229600" y="3340100"/>
            <a:ext cx="6910917" cy="49127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t">
            <a:noAutofit/>
          </a:bodyPr>
          <a:lstStyle>
            <a:lvl1pPr algn="l">
              <a:lnSpc>
                <a:spcPct val="92000"/>
              </a:lnSpc>
              <a:defRPr sz="37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lvl="0" indent="4699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37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单击此处编辑母版文本样式</a:t>
            </a:r>
            <a:endParaRPr lang="en-US" sz="37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269875" lvl="1" indent="4064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二级</a:t>
            </a:r>
            <a:endParaRPr lang="en-US" sz="32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539750" lvl="2" indent="3302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2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三级</a:t>
            </a:r>
            <a:endParaRPr lang="en-US" sz="26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810260" lvl="3" indent="3048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四级</a:t>
            </a:r>
            <a:endParaRPr lang="en-US" sz="2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080135" lvl="4" indent="3048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五级</a:t>
            </a:r>
            <a:endParaRPr lang="en-US" sz="2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7" name="AutoShape 7"/>
          <p:cNvSpPr/>
          <p:nvPr>
            <p:ph type="body" sz="quarter" idx="32" hasCustomPrompt="1"/>
          </p:nvPr>
        </p:nvSpPr>
        <p:spPr>
          <a:xfrm>
            <a:off x="1117600" y="8475133"/>
            <a:ext cx="3657600" cy="486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l">
              <a:lnSpc>
                <a:spcPct val="100000"/>
              </a:lnSpc>
              <a:defRPr sz="16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2022/11/28</a:t>
            </a:r>
            <a:endParaRPr lang="en-US" sz="16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8" name="AutoShape 8"/>
          <p:cNvSpPr/>
          <p:nvPr>
            <p:ph type="body" sz="quarter" idx="33" hasCustomPrompt="1"/>
          </p:nvPr>
        </p:nvSpPr>
        <p:spPr>
          <a:xfrm>
            <a:off x="5384800" y="8475133"/>
            <a:ext cx="5486400" cy="486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ctr">
              <a:lnSpc>
                <a:spcPct val="100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页脚</a:t>
            </a:r>
            <a:endParaRPr lang="en-US" sz="16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9" name="AutoShape 9"/>
          <p:cNvSpPr/>
          <p:nvPr>
            <p:ph type="body" sz="quarter" idx="34" hasCustomPrompt="1"/>
          </p:nvPr>
        </p:nvSpPr>
        <p:spPr>
          <a:xfrm>
            <a:off x="11480800" y="8475133"/>
            <a:ext cx="3657600" cy="486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‹#›</a:t>
            </a:r>
            <a:endParaRPr lang="en-US" sz="16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5" hasCustomPrompt="1"/>
          </p:nvPr>
        </p:nvSpPr>
        <p:spPr>
          <a:xfrm>
            <a:off x="1117600" y="486833"/>
            <a:ext cx="14020800" cy="176741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l">
              <a:lnSpc>
                <a:spcPct val="92000"/>
              </a:lnSpc>
              <a:defRPr sz="58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58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单击此处编辑母版标题样式</a:t>
            </a:r>
            <a:endParaRPr lang="en-US" sz="58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" name="AutoShape 3"/>
          <p:cNvSpPr/>
          <p:nvPr>
            <p:ph type="body" sz="quarter" idx="36" hasCustomPrompt="1"/>
          </p:nvPr>
        </p:nvSpPr>
        <p:spPr>
          <a:xfrm>
            <a:off x="1117600" y="8475133"/>
            <a:ext cx="3657600" cy="486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l">
              <a:lnSpc>
                <a:spcPct val="100000"/>
              </a:lnSpc>
              <a:defRPr sz="16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2022/11/28</a:t>
            </a:r>
            <a:endParaRPr lang="en-US" sz="16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4" name="AutoShape 4"/>
          <p:cNvSpPr/>
          <p:nvPr>
            <p:ph type="body" sz="quarter" idx="37" hasCustomPrompt="1"/>
          </p:nvPr>
        </p:nvSpPr>
        <p:spPr>
          <a:xfrm>
            <a:off x="5384800" y="8475133"/>
            <a:ext cx="5486400" cy="486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ctr">
              <a:lnSpc>
                <a:spcPct val="100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页脚</a:t>
            </a:r>
            <a:endParaRPr lang="en-US" sz="16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5" name="AutoShape 5"/>
          <p:cNvSpPr/>
          <p:nvPr>
            <p:ph type="body" sz="quarter" idx="38" hasCustomPrompt="1"/>
          </p:nvPr>
        </p:nvSpPr>
        <p:spPr>
          <a:xfrm>
            <a:off x="11480800" y="8475133"/>
            <a:ext cx="3657600" cy="486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‹#›</a:t>
            </a:r>
            <a:endParaRPr lang="en-US" sz="16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39" hasCustomPrompt="1"/>
          </p:nvPr>
        </p:nvSpPr>
        <p:spPr>
          <a:xfrm>
            <a:off x="1117600" y="8475133"/>
            <a:ext cx="3657600" cy="486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l">
              <a:lnSpc>
                <a:spcPct val="100000"/>
              </a:lnSpc>
              <a:defRPr sz="16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2022/11/28</a:t>
            </a:r>
            <a:endParaRPr lang="en-US" sz="16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3" name="AutoShape 3"/>
          <p:cNvSpPr/>
          <p:nvPr>
            <p:ph type="body" sz="quarter" idx="40" hasCustomPrompt="1"/>
          </p:nvPr>
        </p:nvSpPr>
        <p:spPr>
          <a:xfrm>
            <a:off x="5384800" y="8475133"/>
            <a:ext cx="5486400" cy="486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ctr">
              <a:lnSpc>
                <a:spcPct val="100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页脚</a:t>
            </a:r>
            <a:endParaRPr lang="en-US" sz="16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4" name="AutoShape 4"/>
          <p:cNvSpPr/>
          <p:nvPr>
            <p:ph type="body" sz="quarter" idx="41" hasCustomPrompt="1"/>
          </p:nvPr>
        </p:nvSpPr>
        <p:spPr>
          <a:xfrm>
            <a:off x="11480800" y="8475133"/>
            <a:ext cx="3657600" cy="486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‹#›</a:t>
            </a:r>
            <a:endParaRPr lang="en-US" sz="16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2" hasCustomPrompt="1"/>
          </p:nvPr>
        </p:nvSpPr>
        <p:spPr>
          <a:xfrm>
            <a:off x="1119717" y="609600"/>
            <a:ext cx="5242983" cy="213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b">
            <a:noAutofit/>
          </a:bodyPr>
          <a:lstStyle>
            <a:lvl1pPr algn="l">
              <a:lnSpc>
                <a:spcPct val="92000"/>
              </a:lnSpc>
              <a:defRPr sz="42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2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单击此处编辑母版标题样式</a:t>
            </a:r>
            <a:endParaRPr lang="en-US" sz="42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" name="AutoShape 3"/>
          <p:cNvSpPr/>
          <p:nvPr>
            <p:ph type="body" sz="quarter" idx="43"/>
          </p:nvPr>
        </p:nvSpPr>
        <p:spPr>
          <a:xfrm>
            <a:off x="6910917" y="1316567"/>
            <a:ext cx="8229600" cy="649816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t">
            <a:noAutofit/>
          </a:bodyPr>
          <a:lstStyle>
            <a:lvl1pPr algn="l">
              <a:lnSpc>
                <a:spcPct val="92000"/>
              </a:lnSpc>
              <a:defRPr sz="42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lvl="0" indent="5334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42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单击此处编辑母版文本样式</a:t>
            </a:r>
            <a:endParaRPr lang="en-US" sz="42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269875" lvl="1" indent="4699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37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二级</a:t>
            </a:r>
            <a:endParaRPr lang="en-US" sz="37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539750" lvl="2" indent="4064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三级</a:t>
            </a:r>
            <a:endParaRPr lang="en-US" sz="32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810260" lvl="3" indent="3302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2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四级</a:t>
            </a:r>
            <a:endParaRPr lang="en-US" sz="26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080135" lvl="4" indent="3302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2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五级</a:t>
            </a:r>
            <a:endParaRPr lang="en-US" sz="26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" name="AutoShape 4"/>
          <p:cNvSpPr/>
          <p:nvPr>
            <p:ph type="body" sz="quarter" idx="44"/>
          </p:nvPr>
        </p:nvSpPr>
        <p:spPr>
          <a:xfrm>
            <a:off x="1119717" y="2743200"/>
            <a:ext cx="5242983" cy="508211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t">
            <a:no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单击此处编辑母版文本样式</a:t>
            </a:r>
            <a:endParaRPr lang="en-US" sz="21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" name="AutoShape 5"/>
          <p:cNvSpPr/>
          <p:nvPr>
            <p:ph type="body" sz="quarter" idx="45" hasCustomPrompt="1"/>
          </p:nvPr>
        </p:nvSpPr>
        <p:spPr>
          <a:xfrm>
            <a:off x="1117600" y="8475133"/>
            <a:ext cx="3657600" cy="486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l">
              <a:lnSpc>
                <a:spcPct val="100000"/>
              </a:lnSpc>
              <a:defRPr sz="16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2022/11/28</a:t>
            </a:r>
            <a:endParaRPr lang="en-US" sz="16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AutoShape 6"/>
          <p:cNvSpPr/>
          <p:nvPr>
            <p:ph type="body" sz="quarter" idx="46" hasCustomPrompt="1"/>
          </p:nvPr>
        </p:nvSpPr>
        <p:spPr>
          <a:xfrm>
            <a:off x="5384800" y="8475133"/>
            <a:ext cx="5486400" cy="486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ctr">
              <a:lnSpc>
                <a:spcPct val="100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页脚</a:t>
            </a:r>
            <a:endParaRPr lang="en-US" sz="16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7" name="AutoShape 7"/>
          <p:cNvSpPr/>
          <p:nvPr>
            <p:ph type="body" sz="quarter" idx="47" hasCustomPrompt="1"/>
          </p:nvPr>
        </p:nvSpPr>
        <p:spPr>
          <a:xfrm>
            <a:off x="11480800" y="8475133"/>
            <a:ext cx="3657600" cy="486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‹#›</a:t>
            </a:r>
            <a:endParaRPr lang="en-US" sz="16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48" hasCustomPrompt="1"/>
          </p:nvPr>
        </p:nvSpPr>
        <p:spPr>
          <a:xfrm>
            <a:off x="1119717" y="609600"/>
            <a:ext cx="5242983" cy="2133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b">
            <a:noAutofit/>
          </a:bodyPr>
          <a:lstStyle>
            <a:lvl1pPr algn="l">
              <a:lnSpc>
                <a:spcPct val="92000"/>
              </a:lnSpc>
              <a:defRPr sz="42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2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单击此处编辑母版标题样式</a:t>
            </a:r>
            <a:endParaRPr lang="en-US" sz="42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" name="AutoShape 3"/>
          <p:cNvSpPr/>
          <p:nvPr>
            <p:ph type="pic" sz="quarter" idx="49"/>
          </p:nvPr>
        </p:nvSpPr>
        <p:spPr>
          <a:xfrm>
            <a:off x="6910917" y="1316567"/>
            <a:ext cx="8229600" cy="649816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>
            <a:noAutofit/>
          </a:bodyPr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algn="ctr"/>
          </a:p>
        </p:txBody>
      </p:sp>
      <p:sp>
        <p:nvSpPr>
          <p:cNvPr id="4" name="AutoShape 4"/>
          <p:cNvSpPr/>
          <p:nvPr>
            <p:ph type="body" sz="quarter" idx="50"/>
          </p:nvPr>
        </p:nvSpPr>
        <p:spPr>
          <a:xfrm>
            <a:off x="1119717" y="2743200"/>
            <a:ext cx="5242983" cy="508211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t">
            <a:noAutofit/>
          </a:bodyPr>
          <a:lstStyle>
            <a:lvl1pPr algn="l">
              <a:lnSpc>
                <a:spcPct val="92000"/>
              </a:lnSpc>
              <a:defRPr sz="21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21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单击此处编辑母版文本样式</a:t>
            </a:r>
            <a:endParaRPr lang="en-US" sz="21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5" name="AutoShape 5"/>
          <p:cNvSpPr/>
          <p:nvPr>
            <p:ph type="body" sz="quarter" idx="51" hasCustomPrompt="1"/>
          </p:nvPr>
        </p:nvSpPr>
        <p:spPr>
          <a:xfrm>
            <a:off x="1117600" y="8475133"/>
            <a:ext cx="3657600" cy="486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l">
              <a:lnSpc>
                <a:spcPct val="100000"/>
              </a:lnSpc>
              <a:defRPr sz="16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2022/11/28</a:t>
            </a:r>
            <a:endParaRPr lang="en-US" sz="16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AutoShape 6"/>
          <p:cNvSpPr/>
          <p:nvPr>
            <p:ph type="body" sz="quarter" idx="52" hasCustomPrompt="1"/>
          </p:nvPr>
        </p:nvSpPr>
        <p:spPr>
          <a:xfrm>
            <a:off x="5384800" y="8475133"/>
            <a:ext cx="5486400" cy="486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ctr">
              <a:lnSpc>
                <a:spcPct val="100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页脚</a:t>
            </a:r>
            <a:endParaRPr lang="en-US" sz="16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7" name="AutoShape 7"/>
          <p:cNvSpPr/>
          <p:nvPr>
            <p:ph type="body" sz="quarter" idx="53" hasCustomPrompt="1"/>
          </p:nvPr>
        </p:nvSpPr>
        <p:spPr>
          <a:xfrm>
            <a:off x="11480800" y="8475133"/>
            <a:ext cx="3657600" cy="486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‹#›</a:t>
            </a:r>
            <a:endParaRPr lang="en-US" sz="16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4" hasCustomPrompt="1"/>
          </p:nvPr>
        </p:nvSpPr>
        <p:spPr>
          <a:xfrm>
            <a:off x="1117600" y="486833"/>
            <a:ext cx="14020800" cy="176741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l">
              <a:lnSpc>
                <a:spcPct val="92000"/>
              </a:lnSpc>
              <a:defRPr sz="58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58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单击此处编辑母版标题样式</a:t>
            </a:r>
            <a:endParaRPr lang="en-US" sz="58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" name="AutoShape 3"/>
          <p:cNvSpPr/>
          <p:nvPr>
            <p:ph type="body" sz="quarter" idx="55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t">
            <a:noAutofit/>
          </a:bodyPr>
          <a:lstStyle>
            <a:lvl1pPr algn="l">
              <a:lnSpc>
                <a:spcPct val="92000"/>
              </a:lnSpc>
              <a:defRPr sz="37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lvl="0" indent="4699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37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单击此处编辑母版文本样式</a:t>
            </a:r>
            <a:endParaRPr lang="en-US" sz="37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269875" lvl="1" indent="4064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二级</a:t>
            </a:r>
            <a:endParaRPr lang="en-US" sz="32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539750" lvl="2" indent="3302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2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三级</a:t>
            </a:r>
            <a:endParaRPr lang="en-US" sz="26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810260" lvl="3" indent="3048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四级</a:t>
            </a:r>
            <a:endParaRPr lang="en-US" sz="2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080135" lvl="4" indent="3048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五级</a:t>
            </a:r>
            <a:endParaRPr lang="en-US" sz="2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" name="AutoShape 4"/>
          <p:cNvSpPr/>
          <p:nvPr>
            <p:ph type="body" sz="quarter" idx="56" hasCustomPrompt="1"/>
          </p:nvPr>
        </p:nvSpPr>
        <p:spPr>
          <a:xfrm>
            <a:off x="1117600" y="8475133"/>
            <a:ext cx="3657600" cy="486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l">
              <a:lnSpc>
                <a:spcPct val="100000"/>
              </a:lnSpc>
              <a:defRPr sz="16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2022/11/28</a:t>
            </a:r>
            <a:endParaRPr lang="en-US" sz="16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5" name="AutoShape 5"/>
          <p:cNvSpPr/>
          <p:nvPr>
            <p:ph type="body" sz="quarter" idx="57" hasCustomPrompt="1"/>
          </p:nvPr>
        </p:nvSpPr>
        <p:spPr>
          <a:xfrm>
            <a:off x="5384800" y="8475133"/>
            <a:ext cx="5486400" cy="486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ctr">
              <a:lnSpc>
                <a:spcPct val="100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页脚</a:t>
            </a:r>
            <a:endParaRPr lang="en-US" sz="16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AutoShape 6"/>
          <p:cNvSpPr/>
          <p:nvPr>
            <p:ph type="body" sz="quarter" idx="58" hasCustomPrompt="1"/>
          </p:nvPr>
        </p:nvSpPr>
        <p:spPr>
          <a:xfrm>
            <a:off x="11480800" y="8475133"/>
            <a:ext cx="3657600" cy="486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‹#›</a:t>
            </a:r>
            <a:endParaRPr lang="en-US" sz="16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>
            <p:ph type="body" sz="quarter" idx="59" hasCustomPrompt="1"/>
          </p:nvPr>
        </p:nvSpPr>
        <p:spPr>
          <a:xfrm>
            <a:off x="11633200" y="486833"/>
            <a:ext cx="3505200" cy="774911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l">
              <a:lnSpc>
                <a:spcPct val="92000"/>
              </a:lnSpc>
              <a:defRPr sz="58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58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单击此处编辑母版标题样式</a:t>
            </a:r>
            <a:endParaRPr lang="en-US" sz="58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" name="AutoShape 3"/>
          <p:cNvSpPr/>
          <p:nvPr>
            <p:ph type="body" sz="quarter" idx="60"/>
          </p:nvPr>
        </p:nvSpPr>
        <p:spPr>
          <a:xfrm>
            <a:off x="1117600" y="486833"/>
            <a:ext cx="10312400" cy="774911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t">
            <a:noAutofit/>
          </a:bodyPr>
          <a:lstStyle>
            <a:lvl1pPr algn="l">
              <a:lnSpc>
                <a:spcPct val="92000"/>
              </a:lnSpc>
              <a:defRPr sz="3700" b="0" i="0" u="none" strike="noStrike" spc="0">
                <a:solidFill>
                  <a:srgbClr val="000000">
                    <a:alpha val="100000"/>
                  </a:srgbClr>
                </a:solidFill>
                <a:latin typeface="Noto Sans SC"/>
              </a:defRPr>
            </a:lvl1pPr>
          </a:lstStyle>
          <a:p>
            <a:pPr marL="0" lvl="0" indent="4699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37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单击此处编辑母版文本样式</a:t>
            </a:r>
            <a:endParaRPr lang="en-US" sz="37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269875" lvl="1" indent="4064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32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二级</a:t>
            </a:r>
            <a:endParaRPr lang="en-US" sz="32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539750" lvl="2" indent="3302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2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三级</a:t>
            </a:r>
            <a:endParaRPr lang="en-US" sz="26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810260" lvl="3" indent="3048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四级</a:t>
            </a:r>
            <a:endParaRPr lang="en-US" sz="2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1080135" lvl="4" indent="304800" algn="l">
              <a:lnSpc>
                <a:spcPct val="92000"/>
              </a:lnSpc>
              <a:buClr>
                <a:srgbClr val="000000"/>
              </a:buClr>
              <a:buChar char="•"/>
            </a:pPr>
            <a:r>
              <a:rPr lang="en-US" sz="2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五级</a:t>
            </a:r>
            <a:endParaRPr lang="en-US" sz="2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" name="AutoShape 4"/>
          <p:cNvSpPr/>
          <p:nvPr>
            <p:ph type="body" sz="quarter" idx="61" hasCustomPrompt="1"/>
          </p:nvPr>
        </p:nvSpPr>
        <p:spPr>
          <a:xfrm>
            <a:off x="1117600" y="8475133"/>
            <a:ext cx="3657600" cy="486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l">
              <a:lnSpc>
                <a:spcPct val="100000"/>
              </a:lnSpc>
              <a:defRPr sz="16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2022/11/28</a:t>
            </a:r>
            <a:endParaRPr lang="en-US" sz="16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5" name="AutoShape 5"/>
          <p:cNvSpPr/>
          <p:nvPr>
            <p:ph type="body" sz="quarter" idx="62" hasCustomPrompt="1"/>
          </p:nvPr>
        </p:nvSpPr>
        <p:spPr>
          <a:xfrm>
            <a:off x="5384800" y="8475133"/>
            <a:ext cx="5486400" cy="486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ctr">
              <a:lnSpc>
                <a:spcPct val="100000"/>
              </a:lnSpc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页脚</a:t>
            </a:r>
            <a:endParaRPr lang="en-US" sz="16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AutoShape 6"/>
          <p:cNvSpPr/>
          <p:nvPr>
            <p:ph type="body" sz="quarter" idx="63" hasCustomPrompt="1"/>
          </p:nvPr>
        </p:nvSpPr>
        <p:spPr>
          <a:xfrm>
            <a:off x="11480800" y="8475133"/>
            <a:ext cx="3657600" cy="48683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898989">
                    <a:alpha val="100000"/>
                  </a:srgbClr>
                </a:solidFill>
                <a:latin typeface="等线" panose="02010600030101010101" charset="-122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898989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‹#›</a:t>
            </a:r>
            <a:endParaRPr lang="en-US" sz="1600" b="0" i="0" u="none" strike="noStrike">
              <a:solidFill>
                <a:srgbClr val="898989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4" Type="http://schemas.openxmlformats.org/officeDocument/2006/relationships/theme" Target="../theme/theme2.xml"/><Relationship Id="rId13" Type="http://schemas.openxmlformats.org/officeDocument/2006/relationships/image" Target="../media/image1.png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  <p:pic>
        <p:nvPicPr>
          <p:cNvPr id="1" name="Picture 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022667" y="6705600"/>
            <a:ext cx="3048000" cy="18288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" name="Picture 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022667" y="6705600"/>
            <a:ext cx="3048000" cy="1828800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3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3.xml"/><Relationship Id="rId4" Type="http://schemas.openxmlformats.org/officeDocument/2006/relationships/image" Target="../media/image16.jpeg"/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image" Target="../media/image13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3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23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706967"/>
          </a:xfrm>
          <a:prstGeom prst="rect">
            <a:avLst/>
          </a:prstGeom>
          <a:solidFill>
            <a:srgbClr val="9D688A">
              <a:alpha val="100000"/>
            </a:srgbClr>
          </a:solidFill>
          <a:ln w="12700" cap="flat">
            <a:noFill/>
            <a:prstDash val="solid"/>
          </a:ln>
        </p:spPr>
        <p:txBody>
          <a:bodyPr lIns="127000" tIns="63500" rIns="127000" bIns="6350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7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37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实验4：4.1 </a:t>
            </a:r>
            <a:r>
              <a:rPr lang="en-US" sz="37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套接字基础</a:t>
            </a:r>
            <a:endParaRPr lang="en-US" sz="37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2400" b="0" i="0" u="none" strike="noStrike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399627" y="706967"/>
            <a:ext cx="14632093" cy="29116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ctr">
            <a:noAutofit/>
          </a:bodyPr>
          <a:lstStyle/>
          <a:p>
            <a:pPr marL="0" lvl="0" indent="330200" algn="l">
              <a:lnSpc>
                <a:spcPct val="150000"/>
              </a:lnSpc>
              <a:buClr>
                <a:srgbClr val="000000"/>
              </a:buClr>
              <a:buChar char="•"/>
              <a:defRPr/>
            </a:pPr>
            <a:r>
              <a:rPr lang="en-US" sz="2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端口</a:t>
            </a:r>
            <a:endParaRPr lang="en-US" sz="1100"/>
          </a:p>
          <a:p>
            <a:pPr marL="269875" lvl="1" indent="330200" algn="l">
              <a:lnSpc>
                <a:spcPct val="150000"/>
              </a:lnSpc>
              <a:buClr>
                <a:srgbClr val="000000"/>
              </a:buClr>
              <a:buChar char="•"/>
            </a:pPr>
            <a:r>
              <a:rPr lang="en-US" sz="2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引入</a:t>
            </a:r>
            <a:endParaRPr lang="en-US" sz="2600" b="1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50000"/>
              </a:lnSpc>
            </a:pPr>
            <a:r>
              <a:rPr lang="en-US" sz="26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        </a:t>
            </a:r>
            <a:r>
              <a:rPr lang="en-US" sz="26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ip</a:t>
            </a:r>
            <a:r>
              <a:rPr lang="en-US" sz="2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地址用来标记一台电脑，为了能够标记电脑上运行中的程序，需要使用端口来标记</a:t>
            </a:r>
            <a:endParaRPr lang="en-US" sz="26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269875" lvl="1" indent="330200" algn="l">
              <a:lnSpc>
                <a:spcPct val="150000"/>
              </a:lnSpc>
              <a:buClr>
                <a:srgbClr val="000000"/>
              </a:buClr>
              <a:buChar char="•"/>
            </a:pPr>
            <a:r>
              <a:rPr lang="en-US" sz="2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什么是端口</a:t>
            </a:r>
            <a:endParaRPr lang="en-US" sz="2600" b="1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0" y="1880447"/>
            <a:ext cx="15002087" cy="81957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ctr">
            <a:noAutofit/>
          </a:bodyPr>
          <a:lstStyle/>
          <a:p>
            <a:pPr algn="l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399627" y="3744807"/>
            <a:ext cx="8552180" cy="4604173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6" name="AutoShape 6"/>
          <p:cNvSpPr/>
          <p:nvPr/>
        </p:nvSpPr>
        <p:spPr>
          <a:xfrm>
            <a:off x="399627" y="5014807"/>
            <a:ext cx="3972560" cy="130302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dest ip : 192.168.1.2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src ip : 192.168.1.1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content : hi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9204113" y="4010660"/>
            <a:ext cx="6893560" cy="4073313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706967"/>
          </a:xfrm>
          <a:prstGeom prst="rect">
            <a:avLst/>
          </a:prstGeom>
          <a:solidFill>
            <a:srgbClr val="9D688A">
              <a:alpha val="100000"/>
            </a:srgbClr>
          </a:solidFill>
          <a:ln w="12700" cap="flat">
            <a:noFill/>
            <a:prstDash val="solid"/>
          </a:ln>
        </p:spPr>
        <p:txBody>
          <a:bodyPr lIns="127000" tIns="63500" rIns="127000" bIns="6350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7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实验4：4.1 </a:t>
            </a:r>
            <a:r>
              <a:rPr lang="en-US" sz="37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套接字基础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660309" y="1056292"/>
            <a:ext cx="14067341" cy="819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ctr">
            <a:noAutofit/>
          </a:bodyPr>
          <a:lstStyle/>
          <a:p>
            <a:pPr marL="0" lvl="0" indent="330200" algn="l">
              <a:lnSpc>
                <a:spcPct val="150000"/>
              </a:lnSpc>
              <a:buClr>
                <a:srgbClr val="000000"/>
              </a:buClr>
              <a:buChar char="•"/>
              <a:defRPr/>
            </a:pPr>
            <a:r>
              <a:rPr lang="en-US" sz="2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端口</a:t>
            </a:r>
            <a:endParaRPr lang="en-US" sz="1100"/>
          </a:p>
          <a:p>
            <a:pPr marL="269875" lvl="1" indent="330200" algn="l">
              <a:lnSpc>
                <a:spcPct val="150000"/>
              </a:lnSpc>
              <a:buClr>
                <a:srgbClr val="000000"/>
              </a:buClr>
              <a:buChar char="•"/>
            </a:pPr>
            <a:r>
              <a:rPr lang="en-US" sz="2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端口号</a:t>
            </a:r>
            <a:endParaRPr lang="en-US" sz="2600" b="1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1095061" y="2302997"/>
            <a:ext cx="14067341" cy="819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ctr">
            <a:no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2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端口是通过端口号来标记的，端口号只有整数，范围是从</a:t>
            </a:r>
            <a:r>
              <a:rPr lang="en-US" sz="26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0</a:t>
            </a:r>
            <a:r>
              <a:rPr lang="en-US" sz="2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到</a:t>
            </a:r>
            <a:r>
              <a:rPr lang="en-US" sz="26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65535</a:t>
            </a:r>
            <a:r>
              <a:rPr lang="en-US" sz="2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，端口号不是随意使用的，而是按照一定的规定进行分配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93893" y="3299460"/>
            <a:ext cx="14067367" cy="5594773"/>
          </a:xfrm>
          <a:prstGeom prst="rect">
            <a:avLst/>
          </a:prstGeom>
          <a:solidFill>
            <a:srgbClr val="FFFFFF">
              <a:alpha val="100000"/>
            </a:srgbClr>
          </a:solidFill>
          <a:ln w="12700">
            <a:noFill/>
            <a:prstDash val="solid"/>
          </a:ln>
        </p:spPr>
        <p:txBody>
          <a:bodyPr lIns="127000" tIns="215900" rIns="127000" bIns="215900" rtlCol="0" anchor="ctr">
            <a:noAutofit/>
          </a:bodyPr>
          <a:lstStyle/>
          <a:p>
            <a:pPr marL="269875" lvl="1" indent="330200" algn="l">
              <a:lnSpc>
                <a:spcPct val="150000"/>
              </a:lnSpc>
              <a:buClr>
                <a:srgbClr val="000000"/>
              </a:buClr>
              <a:buChar char="•"/>
              <a:defRPr/>
            </a:pPr>
            <a:r>
              <a:rPr lang="en-US" sz="2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知名端口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26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      是众所周知的端口号，范围从0到1023，21端口分配给FTP服务，22端口分配给SSH服务，80端口分配给HTTP服务</a:t>
            </a:r>
            <a:endParaRPr lang="en-US" sz="26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269875" lvl="1" indent="330200" algn="l">
              <a:lnSpc>
                <a:spcPct val="150000"/>
              </a:lnSpc>
              <a:buClr>
                <a:srgbClr val="000000"/>
              </a:buClr>
              <a:buChar char="•"/>
            </a:pPr>
            <a:r>
              <a:rPr lang="en-US" sz="26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动态端口</a:t>
            </a:r>
            <a:endParaRPr lang="en-US" sz="26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50000"/>
              </a:lnSpc>
            </a:pPr>
            <a:r>
              <a:rPr lang="en-US" sz="26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      范围是从1024到65535，之所以称为动态端口，是因为它一般不固定分配某种服务，而是动态分配。 动态分配是指当一个系统程序或应用程序程序需要网络通信时，它向主机申请一个端口，主机从可用的端</a:t>
            </a:r>
            <a:r>
              <a:rPr lang="en-US" sz="2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口号中分配一个供它使用，当这个程序关闭时，同时也就释放了所占用的端口号</a:t>
            </a:r>
            <a:endParaRPr lang="en-US" sz="26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706967"/>
          </a:xfrm>
          <a:prstGeom prst="rect">
            <a:avLst/>
          </a:prstGeom>
          <a:solidFill>
            <a:srgbClr val="9D688A">
              <a:alpha val="100000"/>
            </a:srgbClr>
          </a:solidFill>
          <a:ln w="12700" cap="flat">
            <a:noFill/>
            <a:prstDash val="solid"/>
          </a:ln>
        </p:spPr>
        <p:txBody>
          <a:bodyPr lIns="127000" tIns="63500" rIns="127000" bIns="6350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7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实验4：4.1 </a:t>
            </a:r>
            <a:r>
              <a:rPr lang="en-US" sz="37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套接字基础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552756" y="770711"/>
            <a:ext cx="14570287" cy="214732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ctr">
            <a:noAutofit/>
          </a:bodyPr>
          <a:lstStyle/>
          <a:p>
            <a:pPr marL="0" lvl="0" indent="330200" algn="l">
              <a:lnSpc>
                <a:spcPct val="150000"/>
              </a:lnSpc>
              <a:buClr>
                <a:srgbClr val="000000"/>
              </a:buClr>
              <a:buChar char="•"/>
              <a:defRPr/>
            </a:pPr>
            <a:r>
              <a:rPr lang="en-US" sz="2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套接字</a:t>
            </a:r>
            <a:endParaRPr lang="en-US" sz="1100"/>
          </a:p>
          <a:p>
            <a:pPr marL="269875" lvl="1" indent="330200" algn="l">
              <a:lnSpc>
                <a:spcPct val="150000"/>
              </a:lnSpc>
              <a:buClr>
                <a:srgbClr val="000000"/>
              </a:buClr>
              <a:buChar char="•"/>
            </a:pPr>
            <a:r>
              <a:rPr lang="en-US" sz="2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引入</a:t>
            </a:r>
            <a:endParaRPr lang="en-US" sz="2600" b="1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50000"/>
              </a:lnSpc>
            </a:pPr>
            <a:r>
              <a:rPr lang="en-US" sz="2600" b="1" i="0" u="none" strike="noStrike">
                <a:solidFill>
                  <a:srgbClr val="34495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</a:t>
            </a:r>
            <a:r>
              <a:rPr lang="en-US" sz="2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程序如果想通过网络进行收发数据，需要使用</a:t>
            </a:r>
            <a:r>
              <a:rPr lang="en-US" sz="26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socket</a:t>
            </a:r>
            <a:r>
              <a:rPr lang="en-US" sz="2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进行编程来实现</a:t>
            </a:r>
            <a:endParaRPr lang="en-US" sz="26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093673" y="2918755"/>
            <a:ext cx="8067739" cy="4054191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5" name="AutoShape 5"/>
          <p:cNvSpPr/>
          <p:nvPr/>
        </p:nvSpPr>
        <p:spPr>
          <a:xfrm>
            <a:off x="1303867" y="7587827"/>
            <a:ext cx="14353540" cy="136482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ctr">
            <a:noAutofit/>
          </a:bodyPr>
          <a:lstStyle/>
          <a:p>
            <a:pPr marL="0" lvl="0" indent="330200" algn="l">
              <a:lnSpc>
                <a:spcPct val="150000"/>
              </a:lnSpc>
              <a:buClr>
                <a:srgbClr val="000000"/>
              </a:buClr>
              <a:buChar char="•"/>
              <a:defRPr/>
            </a:pPr>
            <a:r>
              <a:rPr lang="en-US" sz="2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定义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26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r>
              <a:rPr lang="en-US" sz="26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socket 是进程间通信的一种方式，它与其他进程间通信的一个主要不同是：套接字</a:t>
            </a:r>
            <a:r>
              <a:rPr lang="en-US" sz="2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，它能实现不同主机间的进程间通信，我们网络上各种各样的服务大多都是基于 socket 来完成通信的</a:t>
            </a:r>
            <a:endParaRPr lang="en-US" sz="26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</a:pPr>
          </a:p>
          <a:p>
            <a:pPr indent="0" algn="l">
              <a:lnSpc>
                <a:spcPct val="100000"/>
              </a:lnSpc>
            </a:p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07657" y="823403"/>
            <a:ext cx="14067341" cy="819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ctr">
            <a:noAutofit/>
          </a:bodyPr>
          <a:lstStyle/>
          <a:p>
            <a:pPr marL="0" lvl="0" indent="330200" algn="l">
              <a:lnSpc>
                <a:spcPct val="100000"/>
              </a:lnSpc>
              <a:buClr>
                <a:srgbClr val="000000"/>
              </a:buClr>
              <a:buChar char="•"/>
              <a:defRPr/>
            </a:pPr>
            <a:r>
              <a:rPr lang="en-US" sz="2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创建套接字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362579" y="1650659"/>
            <a:ext cx="9971467" cy="533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t">
            <a:noAutofit/>
          </a:bodyPr>
          <a:lstStyle/>
          <a:p>
            <a:pPr marL="0" lvl="0" indent="330200" algn="l">
              <a:lnSpc>
                <a:spcPct val="100000"/>
              </a:lnSpc>
              <a:buClr>
                <a:srgbClr val="000000"/>
              </a:buClr>
              <a:buChar char="•"/>
              <a:defRPr/>
            </a:pPr>
            <a:r>
              <a:rPr lang="en-US" sz="2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在 </a:t>
            </a:r>
            <a:r>
              <a:rPr lang="en-US" sz="26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Python </a:t>
            </a:r>
            <a:r>
              <a:rPr lang="en-US" sz="2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中 使用</a:t>
            </a:r>
            <a:r>
              <a:rPr lang="en-US" sz="26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socket </a:t>
            </a:r>
            <a:r>
              <a:rPr lang="en-US" sz="2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模块的</a:t>
            </a:r>
            <a:r>
              <a:rPr lang="en-US" sz="26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socket </a:t>
            </a:r>
            <a:r>
              <a:rPr lang="en-US" sz="2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函数就可以完成：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6256000" cy="706967"/>
          </a:xfrm>
          <a:prstGeom prst="rect">
            <a:avLst/>
          </a:prstGeom>
          <a:solidFill>
            <a:srgbClr val="9D688A">
              <a:alpha val="100000"/>
            </a:srgbClr>
          </a:solidFill>
          <a:ln w="12700" cap="flat">
            <a:noFill/>
            <a:prstDash val="solid"/>
          </a:ln>
        </p:spPr>
        <p:txBody>
          <a:bodyPr lIns="127000" tIns="63500" rIns="127000" bIns="6350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7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37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实验4：4.1 </a:t>
            </a:r>
            <a:r>
              <a:rPr lang="en-US" sz="37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套接字基础</a:t>
            </a:r>
            <a:endParaRPr lang="en-US" sz="3700" b="0" i="0" u="none" strike="noStrike">
              <a:solidFill>
                <a:srgbClr val="FFFFFF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2400" b="0" i="0" u="none" strike="noStrike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917700" y="2192020"/>
            <a:ext cx="8128000" cy="86021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import socket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socket.socket(AddressFamily, Type)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362287" y="3039533"/>
            <a:ext cx="8128000" cy="49106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t">
            <a:noAutofit/>
          </a:bodyPr>
          <a:lstStyle/>
          <a:p>
            <a:pPr marL="0" lvl="0" indent="304800" algn="l">
              <a:lnSpc>
                <a:spcPct val="100000"/>
              </a:lnSpc>
              <a:buClr>
                <a:srgbClr val="000000"/>
              </a:buClr>
              <a:buChar char="•"/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创建UDPSocket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917700" y="3516207"/>
            <a:ext cx="14430587" cy="1808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import socket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udp_socket = socket.socket(socket.AF_INET,socket.SOCK_DGRAM)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80808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# 参数socket.AF_INET表示使用IPv4，参数socket.SOCK_DGRAM表示使用UDP</a:t>
            </a:r>
            <a:endParaRPr lang="en-US" sz="2400" b="0" i="0" u="none" strike="noStrike">
              <a:solidFill>
                <a:srgbClr val="80808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80808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# 省略数据传递过程</a:t>
            </a:r>
            <a:endParaRPr lang="en-US" sz="2400" b="0" i="0" u="none" strike="noStrike">
              <a:solidFill>
                <a:srgbClr val="80808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80808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# 关闭套接字</a:t>
            </a:r>
            <a:endParaRPr lang="en-US" sz="2400" b="0" i="0" u="none" strike="noStrike">
              <a:solidFill>
                <a:srgbClr val="80808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udp_socket.close()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362287" y="5788660"/>
            <a:ext cx="14727767" cy="276182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t">
            <a:noAutofit/>
          </a:bodyPr>
          <a:lstStyle/>
          <a:p>
            <a:pPr marL="0" lvl="0" indent="304800" algn="l">
              <a:lnSpc>
                <a:spcPct val="100000"/>
              </a:lnSpc>
              <a:buClr>
                <a:srgbClr val="000000"/>
              </a:buClr>
              <a:buChar char="•"/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创建TCPSocket</a:t>
            </a: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     import socket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     tcp_socket = socket.socket(socket.AF_INET,socket.SOCK_STREAM) 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80808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     # 参数socket.AF_INET表示使用IPv4，参数socket.SOCK_STREAM表示使用TCP</a:t>
            </a:r>
            <a:endParaRPr lang="en-US" sz="2400" b="0" i="0" u="none" strike="noStrike">
              <a:solidFill>
                <a:srgbClr val="80808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80808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     # 省略数据传递过程</a:t>
            </a:r>
            <a:endParaRPr lang="en-US" sz="2400" b="0" i="0" u="none" strike="noStrike">
              <a:solidFill>
                <a:srgbClr val="80808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80808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     # 关闭套接字</a:t>
            </a:r>
            <a:endParaRPr lang="en-US" sz="2400" b="0" i="0" u="none" strike="noStrike">
              <a:solidFill>
                <a:srgbClr val="80808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     tcp_socket.close()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07657" y="823403"/>
            <a:ext cx="14067341" cy="819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ctr">
            <a:noAutofit/>
          </a:bodyPr>
          <a:lstStyle/>
          <a:p>
            <a:pPr marL="0" lvl="0" indent="330200" algn="l">
              <a:lnSpc>
                <a:spcPct val="100000"/>
              </a:lnSpc>
              <a:buClr>
                <a:srgbClr val="000000"/>
              </a:buClr>
              <a:buChar char="•"/>
              <a:defRPr/>
            </a:pPr>
            <a:r>
              <a:rPr lang="en-US" sz="26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UDP</a:t>
            </a:r>
            <a:r>
              <a:rPr lang="en-US" sz="2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客户/服务器流程图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543213" y="1853353"/>
            <a:ext cx="6397413" cy="609854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0" y="0"/>
            <a:ext cx="16256000" cy="706967"/>
          </a:xfrm>
          <a:prstGeom prst="rect">
            <a:avLst/>
          </a:prstGeom>
          <a:solidFill>
            <a:srgbClr val="9D688A">
              <a:alpha val="100000"/>
            </a:srgbClr>
          </a:solidFill>
          <a:ln w="12700" cap="flat">
            <a:noFill/>
            <a:prstDash val="solid"/>
          </a:ln>
        </p:spPr>
        <p:txBody>
          <a:bodyPr lIns="127000" tIns="63500" rIns="127000" bIns="6350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7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37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实验4：4.1 基于UDP协议的服务器/客户端程序</a:t>
            </a:r>
            <a:endParaRPr lang="en-US" sz="3700" b="0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2400" b="0" i="0" u="none" strike="noStrike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61463" y="751652"/>
            <a:ext cx="14615127" cy="1701329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ctr">
            <a:noAutofit/>
          </a:bodyPr>
          <a:lstStyle/>
          <a:p>
            <a:pPr marL="0" lvl="0" indent="330200" algn="l">
              <a:lnSpc>
                <a:spcPct val="100000"/>
              </a:lnSpc>
              <a:buClr>
                <a:srgbClr val="000000"/>
              </a:buClr>
              <a:buChar char="•"/>
              <a:defRPr/>
            </a:pPr>
            <a:r>
              <a:rPr lang="en-US" sz="26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Python3</a:t>
            </a:r>
            <a:r>
              <a:rPr lang="en-US" sz="2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编码转换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26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      python3</a:t>
            </a:r>
            <a:r>
              <a:rPr lang="en-US" sz="2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中使用套接字发送数据时，要求使用</a:t>
            </a:r>
            <a:r>
              <a:rPr lang="en-US" sz="26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bytes</a:t>
            </a:r>
            <a:r>
              <a:rPr lang="en-US" sz="26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类型的数据，因此就用到了编码转换</a:t>
            </a:r>
            <a:endParaRPr lang="en-US" sz="26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0" lvl="0" indent="2667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1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不同数据类型的编码方式</a:t>
            </a:r>
            <a:endParaRPr lang="en-US" sz="2100" b="1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162571" y="2034056"/>
            <a:ext cx="2702795" cy="592317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4" name="AutoShape 4"/>
          <p:cNvSpPr/>
          <p:nvPr/>
        </p:nvSpPr>
        <p:spPr>
          <a:xfrm>
            <a:off x="361463" y="2704324"/>
            <a:ext cx="9888847" cy="45140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t">
            <a:noAutofit/>
          </a:bodyPr>
          <a:lstStyle/>
          <a:p>
            <a:pPr marL="0" lvl="0" indent="266700" algn="l">
              <a:lnSpc>
                <a:spcPct val="100000"/>
              </a:lnSpc>
              <a:buClr>
                <a:srgbClr val="000000"/>
              </a:buClr>
              <a:buChar char="•"/>
              <a:defRPr/>
            </a:pPr>
            <a:r>
              <a:rPr lang="en-US" sz="21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字符串通过编码成为字节码，字节码通过解码成为字符串</a:t>
            </a:r>
            <a:endParaRPr lang="en-US" sz="1100"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62571" y="3233680"/>
            <a:ext cx="6441999" cy="5395428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6" name="AutoShape 6"/>
          <p:cNvSpPr/>
          <p:nvPr/>
        </p:nvSpPr>
        <p:spPr>
          <a:xfrm>
            <a:off x="0" y="0"/>
            <a:ext cx="16256000" cy="706967"/>
          </a:xfrm>
          <a:prstGeom prst="rect">
            <a:avLst/>
          </a:prstGeom>
          <a:solidFill>
            <a:srgbClr val="9D688A">
              <a:alpha val="100000"/>
            </a:srgbClr>
          </a:solidFill>
          <a:ln w="12700" cap="flat">
            <a:noFill/>
            <a:prstDash val="solid"/>
          </a:ln>
        </p:spPr>
        <p:txBody>
          <a:bodyPr lIns="127000" tIns="63500" rIns="127000" bIns="6350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7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37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实验4：4.1 基于UDP协议的服务器/客户端程序</a:t>
            </a:r>
            <a:endParaRPr lang="en-US" sz="3700" b="0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2400" b="0" i="0" u="none" strike="noStrike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519853"/>
            <a:ext cx="8757920" cy="30276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ctr">
            <a:noAutofit/>
          </a:bodyPr>
          <a:lstStyle/>
          <a:p>
            <a:pPr marL="0" lvl="0" indent="266700" algn="l">
              <a:lnSpc>
                <a:spcPct val="100000"/>
              </a:lnSpc>
              <a:buClr>
                <a:srgbClr val="000000"/>
              </a:buClr>
              <a:buChar char="•"/>
              <a:defRPr/>
            </a:pPr>
            <a:r>
              <a:rPr lang="en-US" sz="21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端口查看指令</a:t>
            </a:r>
            <a:endParaRPr lang="en-US" sz="1100"/>
          </a:p>
          <a:p>
            <a:pPr marL="269875" lvl="1" indent="2667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1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Windows</a:t>
            </a:r>
            <a:r>
              <a:rPr lang="en-US" sz="21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  <a:endParaRPr lang="en-US" sz="2100" b="1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539750" lvl="2" indent="2667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1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查看系统当前所有的端口使用情况：netstat -ano</a:t>
            </a:r>
            <a:endParaRPr lang="en-US" sz="21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539750" lvl="2" indent="2667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1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查看端口被哪个应用占用：netstat -ano|findstr "端口号"</a:t>
            </a:r>
            <a:endParaRPr lang="en-US" sz="21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539750" lvl="2" indent="2667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1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查看端口信息：tasklist|findstr "端口号"</a:t>
            </a:r>
            <a:endParaRPr lang="en-US" sz="21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539750" lvl="2" indent="2667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1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关闭端口：taskkill /pid "端口号" -t -f</a:t>
            </a:r>
            <a:endParaRPr lang="en-US" sz="21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6256000" cy="706967"/>
          </a:xfrm>
          <a:prstGeom prst="rect">
            <a:avLst/>
          </a:prstGeom>
          <a:solidFill>
            <a:srgbClr val="9D688A">
              <a:alpha val="100000"/>
            </a:srgbClr>
          </a:solidFill>
          <a:ln w="12700" cap="flat">
            <a:noFill/>
            <a:prstDash val="solid"/>
          </a:ln>
        </p:spPr>
        <p:txBody>
          <a:bodyPr lIns="127000" tIns="63500" rIns="127000" bIns="6350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7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37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实验4：4.1 基于UDP协议的服务器/客户端程序</a:t>
            </a:r>
            <a:endParaRPr lang="en-US" sz="3700" b="0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2400" b="0" i="0" u="none" strike="noStrike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2896447" y="3839633"/>
            <a:ext cx="11887200" cy="25146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5" name="AutoShape 5"/>
          <p:cNvSpPr/>
          <p:nvPr/>
        </p:nvSpPr>
        <p:spPr>
          <a:xfrm>
            <a:off x="8078893" y="1176867"/>
            <a:ext cx="7873153" cy="266276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t">
            <a:noAutofit/>
          </a:bodyPr>
          <a:lstStyle/>
          <a:p>
            <a:pPr marL="0" lvl="0" indent="266700" algn="l">
              <a:lnSpc>
                <a:spcPct val="100000"/>
              </a:lnSpc>
              <a:buClr>
                <a:srgbClr val="000000"/>
              </a:buClr>
              <a:buChar char="•"/>
              <a:defRPr/>
            </a:pPr>
            <a:r>
              <a:rPr lang="en-US" sz="21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Linux ：</a:t>
            </a:r>
            <a:endParaRPr lang="en-US" sz="1100"/>
          </a:p>
          <a:p>
            <a:pPr marL="269875" lvl="1" indent="2667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1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Linux系统查看端口常用命令：lsof 和 netstat</a:t>
            </a:r>
            <a:endParaRPr lang="en-US" sz="21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269875" lvl="1" indent="2667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1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列举当前所有端口连接信息，输出信息列表：lsof -i</a:t>
            </a:r>
            <a:endParaRPr lang="en-US" sz="21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539750" lvl="2" indent="2667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1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查看 TCP 端口情况：</a:t>
            </a:r>
            <a:endParaRPr lang="en-US" sz="21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810260" lvl="3" indent="2667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1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查看所有 TCP 端口</a:t>
            </a:r>
            <a:r>
              <a:rPr lang="en-US" sz="21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:lsof -i tcp</a:t>
            </a:r>
            <a:endParaRPr lang="en-US" sz="21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810260" lvl="3" indent="2667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1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查看指定 TCP 端口情况</a:t>
            </a:r>
            <a:r>
              <a:rPr lang="en-US" sz="21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:lsof -i tcp:"指定端口号"</a:t>
            </a:r>
            <a:endParaRPr lang="en-US" sz="21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marL="539750" lvl="2" indent="2667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1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查看 UDP 端口情况：lsof -i udp</a:t>
            </a:r>
            <a:endParaRPr lang="en-US" sz="21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2810933" y="6687820"/>
            <a:ext cx="13141113" cy="2316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t">
            <a:noAutofit/>
          </a:bodyPr>
          <a:lstStyle/>
          <a:p>
            <a:pPr marL="0" lvl="0" indent="266700" algn="l">
              <a:lnSpc>
                <a:spcPct val="100000"/>
              </a:lnSpc>
              <a:buClr>
                <a:srgbClr val="000000"/>
              </a:buClr>
              <a:buChar char="•"/>
              <a:defRPr/>
            </a:pPr>
            <a:r>
              <a:rPr lang="en-US" sz="21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netstat：netstat 命令用于显示网络状态，</a:t>
            </a:r>
            <a:endParaRPr lang="en-US" sz="1100"/>
          </a:p>
          <a:p>
            <a:pPr marL="269875" lvl="1" indent="2667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1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r>
              <a:rPr lang="en-US" sz="21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查看某一端口：netstat -anp|grep "端口号"</a:t>
            </a:r>
            <a:endParaRPr lang="en-US" sz="21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269875" lvl="1" indent="2667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1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查看 TCP 或 UDP 端口，即加 t 或 u：netstat -ntlp，netstat -nulp</a:t>
            </a:r>
            <a:endParaRPr lang="en-US" sz="21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269875" lvl="1" indent="2667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1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查看某一端口的连接数量：netstat -pnt|grep :3306 |wc</a:t>
            </a:r>
            <a:endParaRPr lang="en-US" sz="21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07657" y="823403"/>
            <a:ext cx="14067341" cy="819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ctr">
            <a:noAutofit/>
          </a:bodyPr>
          <a:lstStyle/>
          <a:p>
            <a:pPr marL="0" lvl="0" indent="330200" algn="l">
              <a:lnSpc>
                <a:spcPct val="100000"/>
              </a:lnSpc>
              <a:buClr>
                <a:srgbClr val="000000"/>
              </a:buClr>
              <a:buChar char="•"/>
              <a:defRPr/>
            </a:pPr>
            <a:r>
              <a:rPr lang="en-US" sz="26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UDP</a:t>
            </a:r>
            <a:r>
              <a:rPr lang="en-US" sz="2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sz="26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TCP</a:t>
            </a:r>
            <a:r>
              <a:rPr lang="en-US" sz="2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连接区别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6256000" cy="706967"/>
          </a:xfrm>
          <a:prstGeom prst="rect">
            <a:avLst/>
          </a:prstGeom>
          <a:solidFill>
            <a:srgbClr val="9D688A">
              <a:alpha val="100000"/>
            </a:srgbClr>
          </a:solidFill>
          <a:ln w="12700" cap="flat">
            <a:noFill/>
            <a:prstDash val="solid"/>
          </a:ln>
        </p:spPr>
        <p:txBody>
          <a:bodyPr lIns="127000" tIns="63500" rIns="127000" bIns="6350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7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37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实验4：4.2 基于TCP协议的服务器/客户端程序</a:t>
            </a:r>
            <a:endParaRPr lang="en-US" sz="3700" b="0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2400" b="0" i="0" u="none" strike="noStrike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t="9802"/>
          <a:stretch>
            <a:fillRect/>
          </a:stretch>
        </p:blipFill>
        <p:spPr>
          <a:xfrm>
            <a:off x="2635485" y="1492821"/>
            <a:ext cx="10211685" cy="3226053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t="2811"/>
          <a:stretch>
            <a:fillRect/>
          </a:stretch>
        </p:blipFill>
        <p:spPr>
          <a:xfrm>
            <a:off x="2483072" y="4572000"/>
            <a:ext cx="10364099" cy="4068579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07657" y="823403"/>
            <a:ext cx="14067341" cy="81993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ctr">
            <a:noAutofit/>
          </a:bodyPr>
          <a:lstStyle/>
          <a:p>
            <a:pPr marL="0" lvl="0" indent="330200" algn="l">
              <a:lnSpc>
                <a:spcPct val="100000"/>
              </a:lnSpc>
              <a:buClr>
                <a:srgbClr val="000000"/>
              </a:buClr>
              <a:buChar char="•"/>
              <a:defRPr/>
            </a:pPr>
            <a:r>
              <a:rPr lang="en-US" sz="26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TCP</a:t>
            </a:r>
            <a:r>
              <a:rPr lang="en-US" sz="2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客户/服务器流程图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0" y="0"/>
            <a:ext cx="16256000" cy="706967"/>
          </a:xfrm>
          <a:prstGeom prst="rect">
            <a:avLst/>
          </a:prstGeom>
          <a:solidFill>
            <a:srgbClr val="9D688A">
              <a:alpha val="100000"/>
            </a:srgbClr>
          </a:solidFill>
          <a:ln w="12700" cap="flat">
            <a:noFill/>
            <a:prstDash val="solid"/>
          </a:ln>
        </p:spPr>
        <p:txBody>
          <a:bodyPr lIns="127000" tIns="63500" rIns="127000" bIns="6350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7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37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实验4：4.2 基于TCP协议的服务器/客户端程序</a:t>
            </a:r>
            <a:endParaRPr lang="en-US" sz="3700" b="0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2400" b="0" i="0" u="none" strike="noStrike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227320" y="1672167"/>
            <a:ext cx="5802207" cy="6792807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35877" y="1795823"/>
            <a:ext cx="10191363" cy="3261643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3" name="AutoShape 3"/>
          <p:cNvSpPr/>
          <p:nvPr/>
        </p:nvSpPr>
        <p:spPr>
          <a:xfrm>
            <a:off x="571972" y="984655"/>
            <a:ext cx="8128000" cy="5334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t">
            <a:noAutofit/>
          </a:bodyPr>
          <a:lstStyle/>
          <a:p>
            <a:pPr marL="0" lvl="0" indent="330200" algn="l">
              <a:lnSpc>
                <a:spcPct val="100000"/>
              </a:lnSpc>
              <a:buClr>
                <a:srgbClr val="000000"/>
              </a:buClr>
              <a:buChar char="•"/>
              <a:defRPr/>
            </a:pPr>
            <a:r>
              <a:rPr lang="en-US" sz="26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TCP </a:t>
            </a:r>
            <a:r>
              <a:rPr lang="en-US" sz="2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通信与 </a:t>
            </a:r>
            <a:r>
              <a:rPr lang="en-US" sz="26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Web </a:t>
            </a:r>
            <a:r>
              <a:rPr lang="en-US" sz="2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服务器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6256000" cy="706967"/>
          </a:xfrm>
          <a:prstGeom prst="rect">
            <a:avLst/>
          </a:prstGeom>
          <a:solidFill>
            <a:srgbClr val="9D688A">
              <a:alpha val="100000"/>
            </a:srgbClr>
          </a:solidFill>
          <a:ln w="12700" cap="flat">
            <a:noFill/>
            <a:prstDash val="solid"/>
          </a:ln>
        </p:spPr>
        <p:txBody>
          <a:bodyPr lIns="127000" tIns="63500" rIns="127000" bIns="6350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7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37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实验4：4.2 基于TCP协议的Web服务器实现</a:t>
            </a:r>
            <a:endParaRPr lang="en-US" sz="3700" b="0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2400" b="0" i="0" u="none" strike="noStrike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63505" y="4911495"/>
            <a:ext cx="8128000" cy="5317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t">
            <a:noAutofit/>
          </a:bodyPr>
          <a:lstStyle/>
          <a:p>
            <a:pPr marL="0" lvl="0" indent="330200" algn="l">
              <a:lnSpc>
                <a:spcPct val="100000"/>
              </a:lnSpc>
              <a:buClr>
                <a:srgbClr val="000000"/>
              </a:buClr>
              <a:buChar char="•"/>
              <a:defRPr/>
            </a:pPr>
            <a:r>
              <a:rPr lang="en-US" sz="2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请求、响应报文示例</a:t>
            </a:r>
            <a:endParaRPr lang="en-US" sz="1100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416560" y="5565987"/>
            <a:ext cx="7412567" cy="2795693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349827" y="5565987"/>
            <a:ext cx="7427807" cy="276352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259233" y="1669204"/>
            <a:ext cx="7518400" cy="2933700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63880" y="1656927"/>
            <a:ext cx="7543800" cy="2946400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7" name="AutoShape 7"/>
          <p:cNvSpPr/>
          <p:nvPr/>
        </p:nvSpPr>
        <p:spPr>
          <a:xfrm>
            <a:off x="500005" y="972801"/>
            <a:ext cx="8128000" cy="5317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t">
            <a:noAutofit/>
          </a:bodyPr>
          <a:lstStyle/>
          <a:p>
            <a:pPr marL="0" lvl="0" indent="330200" algn="l">
              <a:lnSpc>
                <a:spcPct val="100000"/>
              </a:lnSpc>
              <a:buClr>
                <a:srgbClr val="000000"/>
              </a:buClr>
              <a:buChar char="•"/>
              <a:defRPr/>
            </a:pPr>
            <a:r>
              <a:rPr lang="en-US" sz="2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请求、响应报文示例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0"/>
            <a:ext cx="16256000" cy="706967"/>
          </a:xfrm>
          <a:prstGeom prst="rect">
            <a:avLst/>
          </a:prstGeom>
          <a:solidFill>
            <a:srgbClr val="9D688A">
              <a:alpha val="100000"/>
            </a:srgbClr>
          </a:solidFill>
          <a:ln w="12700" cap="flat">
            <a:noFill/>
            <a:prstDash val="solid"/>
          </a:ln>
        </p:spPr>
        <p:txBody>
          <a:bodyPr lIns="127000" tIns="63500" rIns="127000" bIns="6350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7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37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实验4：4.2 基于TCP协议的Web服务器实现</a:t>
            </a:r>
            <a:endParaRPr lang="en-US" sz="3700" b="0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2400" b="0" i="0" u="none" strike="noStrike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379307" y="706967"/>
            <a:ext cx="4460240" cy="8788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ctr">
            <a:noAutofit/>
          </a:bodyPr>
          <a:lstStyle/>
          <a:p>
            <a:pPr marL="0" lvl="0" indent="330200" algn="l">
              <a:lnSpc>
                <a:spcPct val="100000"/>
              </a:lnSpc>
              <a:buClr>
                <a:srgbClr val="000000"/>
              </a:buClr>
              <a:buChar char="•"/>
              <a:defRPr/>
            </a:pPr>
            <a:r>
              <a:rPr lang="en-US" sz="26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HTTP</a:t>
            </a:r>
            <a:r>
              <a:rPr lang="en-US" sz="2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状态码列表</a:t>
            </a:r>
            <a:r>
              <a:rPr lang="en-US" sz="26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                                                                      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55227" y="1978660"/>
            <a:ext cx="13586460" cy="582845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常见状态代码、状态描述：</a:t>
            </a:r>
            <a:endParaRPr lang="en-US" sz="1100"/>
          </a:p>
          <a:p>
            <a:pPr indent="0" algn="l">
              <a:lnSpc>
                <a:spcPct val="100000"/>
              </a:lnSpc>
            </a:p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200 OK：客户端请求成功。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400 Bad Request：客户端请求有语法错误，不能被服务器所理解。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401 Unauthorized：请求未经授权，这个状态代码必须和WWW-Authenticate报头域一起使用。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403 Forbidden：服务器收到请求，但是拒绝提供服务。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404 Not Found：请求资源不存在，举个例子：输入了错误的URL。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500 Internal Server Error：服务器发生不可预期的错误。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503 Server Unavailable：服务器当前不能处理客户端的请求，一段时间后可能恢复正常，举个例子：HTTP/1.1 200 OK（CRLF）。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6256000" cy="706967"/>
          </a:xfrm>
          <a:prstGeom prst="rect">
            <a:avLst/>
          </a:prstGeom>
          <a:solidFill>
            <a:srgbClr val="9D688A">
              <a:alpha val="100000"/>
            </a:srgbClr>
          </a:solidFill>
          <a:ln w="12700" cap="flat">
            <a:noFill/>
            <a:prstDash val="solid"/>
          </a:ln>
        </p:spPr>
        <p:txBody>
          <a:bodyPr lIns="127000" tIns="63500" rIns="127000" bIns="6350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7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37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实验4：4.2 基于TCP协议的Web服务器实现</a:t>
            </a:r>
            <a:endParaRPr lang="en-US" sz="3700" b="0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2400" b="0" i="0" u="none" strike="noStrike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706967"/>
          </a:xfrm>
          <a:prstGeom prst="rect">
            <a:avLst/>
          </a:prstGeom>
          <a:solidFill>
            <a:srgbClr val="9D688A">
              <a:alpha val="100000"/>
            </a:srgbClr>
          </a:solidFill>
          <a:ln w="12700" cap="flat">
            <a:noFill/>
            <a:prstDash val="solid"/>
          </a:ln>
        </p:spPr>
        <p:txBody>
          <a:bodyPr lIns="127000" tIns="63500" rIns="127000" bIns="6350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7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37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实验4：4.3 基于TCP协议的SMTP 客户端实现</a:t>
            </a:r>
            <a:endParaRPr lang="en-US" sz="3700" b="0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2400" b="0" i="0" u="none" strike="noStrike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571972" y="984655"/>
            <a:ext cx="8128000" cy="5317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t">
            <a:noAutofit/>
          </a:bodyPr>
          <a:lstStyle/>
          <a:p>
            <a:pPr marL="0" lvl="0" indent="330200" algn="l">
              <a:lnSpc>
                <a:spcPct val="100000"/>
              </a:lnSpc>
              <a:buClr>
                <a:srgbClr val="000000"/>
              </a:buClr>
              <a:buChar char="•"/>
              <a:defRPr/>
            </a:pPr>
            <a:r>
              <a:rPr lang="en-US" sz="26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SMTP协议（简单邮件传输协议）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847" y="2037927"/>
            <a:ext cx="5339080" cy="376004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命令：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HELO——发送端的主机信息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MAIL FROM——发件人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RCPT TO—— 收件人，可以有多个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DATA——邮件主体内容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QUIT——断开连接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VRFY—— 需要对收件人名字进行验证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EXPN——需要扩展的邮件发送清单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HELP——命令名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931660" y="2037927"/>
            <a:ext cx="7967980" cy="492336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响应：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220——服务器就绪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221——服务关闭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421——服务器未就绪，关闭传输信道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250——要求的邮件操作完成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501——参数格式错误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502——命令不可实现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503——错误的命令序列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504——命令参数不可实现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553——邮箱名不可用，要求的操作未执行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354——开始邮件输入，以“.”结束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535——权限验证失败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554——操作失败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706967"/>
          </a:xfrm>
          <a:prstGeom prst="rect">
            <a:avLst/>
          </a:prstGeom>
          <a:solidFill>
            <a:srgbClr val="9D688A">
              <a:alpha val="100000"/>
            </a:srgbClr>
          </a:solidFill>
          <a:ln w="12700" cap="flat">
            <a:noFill/>
            <a:prstDash val="solid"/>
          </a:ln>
        </p:spPr>
        <p:txBody>
          <a:bodyPr lIns="127000" tIns="63500" rIns="127000" bIns="6350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7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37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实验4：4.3 基于TCP协议的SMTP 客户端实现</a:t>
            </a:r>
            <a:endParaRPr lang="en-US" sz="3700" b="0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2400" b="0" i="0" u="none" strike="noStrike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571972" y="984655"/>
            <a:ext cx="8128000" cy="5317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t">
            <a:noAutofit/>
          </a:bodyPr>
          <a:lstStyle/>
          <a:p>
            <a:pPr marL="0" lvl="0" indent="330200" algn="l">
              <a:lnSpc>
                <a:spcPct val="100000"/>
              </a:lnSpc>
              <a:buClr>
                <a:srgbClr val="000000"/>
              </a:buClr>
              <a:buChar char="•"/>
              <a:defRPr/>
            </a:pPr>
            <a:r>
              <a:rPr lang="en-US" sz="2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电子邮件系统的组成结构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rcRect l="4240" t="8928" r="4807" b="10402"/>
          <a:stretch>
            <a:fillRect/>
          </a:stretch>
        </p:blipFill>
        <p:spPr>
          <a:xfrm>
            <a:off x="2826173" y="1515533"/>
            <a:ext cx="10603653" cy="3473027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2"/>
          <a:srcRect l="1204" t="5792" r="3505" b="2522"/>
          <a:stretch>
            <a:fillRect/>
          </a:stretch>
        </p:blipFill>
        <p:spPr>
          <a:xfrm>
            <a:off x="3168227" y="4988560"/>
            <a:ext cx="9919547" cy="4155440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706967"/>
          </a:xfrm>
          <a:prstGeom prst="rect">
            <a:avLst/>
          </a:prstGeom>
          <a:solidFill>
            <a:srgbClr val="9D688A">
              <a:alpha val="100000"/>
            </a:srgbClr>
          </a:solidFill>
          <a:ln w="12700" cap="flat">
            <a:noFill/>
            <a:prstDash val="solid"/>
          </a:ln>
        </p:spPr>
        <p:txBody>
          <a:bodyPr lIns="127000" tIns="63500" rIns="127000" bIns="6350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7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37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实验4：4.3 基于TCP协议的SMTP 客户端实现</a:t>
            </a:r>
            <a:endParaRPr lang="en-US" sz="3700" b="0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2400" b="0" i="0" u="none" strike="noStrike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571972" y="706948"/>
            <a:ext cx="8128000" cy="53170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t">
            <a:noAutofit/>
          </a:bodyPr>
          <a:lstStyle/>
          <a:p>
            <a:pPr marL="0" lvl="0" indent="330200" algn="l">
              <a:lnSpc>
                <a:spcPct val="100000"/>
              </a:lnSpc>
              <a:buClr>
                <a:srgbClr val="000000"/>
              </a:buClr>
              <a:buChar char="•"/>
              <a:defRPr/>
            </a:pPr>
            <a:r>
              <a:rPr lang="en-US" sz="26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流程分析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572347" y="1238673"/>
            <a:ext cx="15523633" cy="523578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t">
            <a:noAutofit/>
          </a:bodyPr>
          <a:lstStyle/>
          <a:p>
            <a:pPr marL="269875" lvl="1" indent="304800" algn="l">
              <a:lnSpc>
                <a:spcPct val="100000"/>
              </a:lnSpc>
              <a:buClr>
                <a:srgbClr val="000000"/>
              </a:buClr>
              <a:buChar char="•"/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建立TCP连接并域服务器交互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     </a:t>
            </a:r>
            <a:r>
              <a:rPr lang="en-US" sz="2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与</a:t>
            </a: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qq</a:t>
            </a:r>
            <a:r>
              <a:rPr lang="en-US" sz="2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邮件服务器建立连接，域名"smtp.</a:t>
            </a: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qq.com"，SMTP默认端口号25。建立连接后服务器将返回状态码220；与服务器的交互：发送"HELO"命令，开始与服务器的交互，服务器将返回状态码250（请求动作正确完成）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</a:p>
          <a:p>
            <a:pPr marL="269875" lvl="1" indent="3048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验证身份</a:t>
            </a:r>
            <a:endParaRPr lang="en-US" sz="2400" b="1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     </a:t>
            </a:r>
            <a:r>
              <a:rPr lang="en-US" sz="2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发送"AUTH LOGIN"命令，开始验证身份，服务器将返回状态码334（服务器等待用户输入验证信息）。发送经过base64编码的用户名，服务器等待用户输入验证信息，将返回状态码334。发送经过base64编码的密码（不是登录密码，而是开启SMTP时的授权码），用户验证成功，服务器将返回状态码235</a:t>
            </a:r>
            <a:endParaRPr lang="en-US" sz="2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</a:pPr>
          </a:p>
          <a:p>
            <a:pPr marL="269875" lvl="1" indent="3048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邮件传送</a:t>
            </a:r>
            <a:endParaRPr lang="en-US" sz="2400" b="1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    </a:t>
            </a:r>
            <a:r>
              <a:rPr lang="en-US" sz="2400" b="0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建立并且验证成功后，就可开始传送邮件。邮件的传送从MAIL FROM命令开始，MAIL 命令后面有发件人的地址。如MAIL FROM: abc@163.com。若SMTP服务器已准备好接收邮件，则回答250 OK。接着SMTP客户端发送一个或多个RCPT (收件人recipient的缩写)命令，格式为RCPT TO: &lt;收件人地址&gt;。每发送一个 RCPT命令，都应有相应的信息从SMTP服务器返回，如250 OK或550 No such user here (无此用户)。RCPT命令的作用：先弄清接收方系统是否已做好接收邮件的准备，然后才发送邮件，以便不至于发送了很长的邮件后才知道地址错误，进而避免浪费通信资源。获得0K的回答后，客户端就使用DATA命令，表示要开始传输邮件的内容。正常情况下，SMTP服务器回复信息是354 Start mail input; end with . 。表示回车换行。此时SMTP客户端就可开始传送邮件内容，并用. (两个回车，中间一个点)表示邮件内容的结束。</a:t>
            </a:r>
            <a:endParaRPr lang="en-US" sz="2400" b="0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</a:pPr>
          </a:p>
          <a:p>
            <a:pPr marL="269875" lvl="1" indent="304800" algn="l">
              <a:lnSpc>
                <a:spcPct val="100000"/>
              </a:lnSpc>
              <a:buClr>
                <a:srgbClr val="000000"/>
              </a:buClr>
              <a:buChar char="•"/>
            </a:pPr>
            <a:r>
              <a:rPr lang="en-US" sz="2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连接释放</a:t>
            </a:r>
            <a:endParaRPr lang="en-US" sz="2400" b="1" i="0" u="none" strike="noStrike">
              <a:solidFill>
                <a:srgbClr val="00000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706967"/>
          </a:xfrm>
          <a:prstGeom prst="rect">
            <a:avLst/>
          </a:prstGeom>
          <a:solidFill>
            <a:srgbClr val="9D688A">
              <a:alpha val="100000"/>
            </a:srgbClr>
          </a:solidFill>
          <a:ln w="12700" cap="flat">
            <a:noFill/>
            <a:prstDash val="solid"/>
          </a:ln>
        </p:spPr>
        <p:txBody>
          <a:bodyPr lIns="127000" tIns="63500" rIns="127000" bIns="6350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7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37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实验4：4.3 基于TCP协议的SMTP 客户端实现</a:t>
            </a:r>
            <a:endParaRPr lang="en-US" sz="3700" b="0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2400" b="0" i="0" u="none" strike="noStrike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2589953" y="1711113"/>
            <a:ext cx="8983133" cy="658706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import smtplib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from email.mime.text import MIMEText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from email.header import Header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mail_host = "smtp.qq.com" 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mail_user = "870011564@qq.com" 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mail_pass = "pgjequzynparbfhb" 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sender = '870011564@qq.com'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receivers = ["cui__tianyu@163.com"] 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message  = MIMEText('i love computer networks', 'plain', 'utf-8')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message['From'] = Header("cuitianyu1", 'utf-8')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message['To'] = Header("cuitianyu2", 'utf-8')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subject = '邮件测试'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message['Subject'] = Header(subject, 'utf-8')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374227" y="963507"/>
            <a:ext cx="5418667" cy="49106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t">
            <a:noAutofit/>
          </a:bodyPr>
          <a:lstStyle/>
          <a:p>
            <a:pPr marL="0" lvl="0" indent="304800" algn="l">
              <a:lnSpc>
                <a:spcPct val="100000"/>
              </a:lnSpc>
              <a:buClr>
                <a:srgbClr val="000000"/>
              </a:buClr>
              <a:buChar char="•"/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SMTP</a:t>
            </a:r>
            <a:r>
              <a:rPr lang="en-US" sz="2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客户端代码</a:t>
            </a:r>
            <a:endParaRPr lang="en-US" sz="110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6256000" cy="706967"/>
          </a:xfrm>
          <a:prstGeom prst="rect">
            <a:avLst/>
          </a:prstGeom>
          <a:solidFill>
            <a:srgbClr val="9D688A">
              <a:alpha val="100000"/>
            </a:srgbClr>
          </a:solidFill>
          <a:ln w="12700" cap="flat">
            <a:noFill/>
            <a:prstDash val="solid"/>
          </a:ln>
        </p:spPr>
        <p:txBody>
          <a:bodyPr lIns="127000" tIns="63500" rIns="127000" bIns="63500" rtlCol="0" anchor="ctr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7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       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3700" b="0" i="0" u="none" strike="noStrike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  实验4：4.3 基于TCP协议的SMTP 客户端实现</a:t>
            </a:r>
            <a:endParaRPr lang="en-US" sz="3700" b="0" i="0" u="none" strike="noStrike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微软雅黑" panose="020B0503020204020204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FFFFFF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 </a:t>
            </a:r>
            <a:endParaRPr lang="en-US" sz="2400" b="0" i="0" u="none" strike="noStrike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3" name="AutoShape 3"/>
          <p:cNvSpPr/>
          <p:nvPr/>
        </p:nvSpPr>
        <p:spPr>
          <a:xfrm>
            <a:off x="2313940" y="1910927"/>
            <a:ext cx="10479193" cy="712216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try: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	smtpObj = smtplib.SMTP()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	smtpObj.connect(mail_host, 25) # 25为SMTP端口号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	smtpObj.login(mail_user, mail_pass) 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	smtpObj.sendmail(sender, receivers, message.as_string())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	print("邮件发送成功")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except smtplib.SMTPException: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  <a:p>
            <a:pPr indent="0" algn="l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	print("Error: 无法发送邮件")</a:t>
            </a:r>
            <a:endParaRPr lang="en-US" sz="2400" b="0" i="0" u="none" strike="noStrike">
              <a:solidFill>
                <a:srgbClr val="000000"/>
              </a:solidFill>
              <a:latin typeface="等线" panose="02010600030101010101" charset="-122"/>
              <a:ea typeface="等线" panose="02010600030101010101" charset="-122"/>
              <a:cs typeface="等线" panose="02010600030101010101" charset="-122"/>
              <a:sym typeface="等线" panose="02010600030101010101" charset="-122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374227" y="963507"/>
            <a:ext cx="5418667" cy="491067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127000" tIns="63500" rIns="127000" bIns="63500" rtlCol="0" anchor="t">
            <a:noAutofit/>
          </a:bodyPr>
          <a:lstStyle/>
          <a:p>
            <a:pPr marL="0" lvl="0" indent="304800" algn="l">
              <a:lnSpc>
                <a:spcPct val="100000"/>
              </a:lnSpc>
              <a:buClr>
                <a:srgbClr val="000000"/>
              </a:buClr>
              <a:buChar char="•"/>
              <a:defRPr/>
            </a:pPr>
            <a:r>
              <a:rPr lang="en-US" sz="2400" b="1" i="0" u="none" strike="noStrike">
                <a:solidFill>
                  <a:srgbClr val="000000"/>
                </a:solidFill>
                <a:latin typeface="等线" panose="02010600030101010101" charset="-122"/>
                <a:ea typeface="等线" panose="02010600030101010101" charset="-122"/>
                <a:cs typeface="等线" panose="02010600030101010101" charset="-122"/>
                <a:sym typeface="等线" panose="02010600030101010101" charset="-122"/>
              </a:rPr>
              <a:t>SMTP</a:t>
            </a:r>
            <a:r>
              <a:rPr lang="en-US" sz="2400" b="1" i="0" u="none" strike="noStrike">
                <a:solidFill>
                  <a:srgbClr val="000000"/>
                </a:solidFill>
                <a:latin typeface="Noto Sans SC"/>
                <a:ea typeface="Noto Sans SC"/>
                <a:cs typeface="Noto Sans SC"/>
                <a:sym typeface="Noto Sans SC"/>
              </a:rPr>
              <a:t>客户端代码</a:t>
            </a:r>
            <a:endParaRPr lang="en-US" sz="1100"/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commondata" val="eyJoZGlkIjoiMzEwNTM5NzYwMDRjMzkwZTVkZjY2ODkwMGIxNGU0OT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4323</Words>
  <Application>WPS 演示</Application>
  <PresentationFormat/>
  <Paragraphs>247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28" baseType="lpstr">
      <vt:lpstr>Arial</vt:lpstr>
      <vt:lpstr>宋体</vt:lpstr>
      <vt:lpstr>Wingdings</vt:lpstr>
      <vt:lpstr>Arial</vt:lpstr>
      <vt:lpstr>Noto Sans SC</vt:lpstr>
      <vt:lpstr>Segoe Print</vt:lpstr>
      <vt:lpstr>等线</vt:lpstr>
      <vt:lpstr>微软雅黑</vt:lpstr>
      <vt:lpstr>Arial Unicode MS</vt:lpstr>
      <vt:lpstr>Office 主题​​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李梦瑶</cp:lastModifiedBy>
  <cp:revision>4</cp:revision>
  <dcterms:created xsi:type="dcterms:W3CDTF">2024-12-02T06:32:52Z</dcterms:created>
  <dcterms:modified xsi:type="dcterms:W3CDTF">2024-12-02T09:56:20Z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2513ADF6E25243ECA9C871A9BCAD3570_12</vt:lpwstr>
  </property>
  <property fmtid="{D5CDD505-2E9C-101B-9397-08002B2CF9AE}" pid="3" name="KSOProductBuildVer">
    <vt:lpwstr>2052-12.1.0.18608</vt:lpwstr>
  </property>
</Properties>
</file>