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23"/>
  </p:notesMasterIdLst>
  <p:handoutMasterIdLst>
    <p:handoutMasterId r:id="rId59"/>
  </p:handoutMasterIdLst>
  <p:sldIdLst>
    <p:sldId id="622" r:id="rId4"/>
    <p:sldId id="623" r:id="rId5"/>
    <p:sldId id="624" r:id="rId6"/>
    <p:sldId id="701" r:id="rId7"/>
    <p:sldId id="625" r:id="rId8"/>
    <p:sldId id="626" r:id="rId9"/>
    <p:sldId id="627" r:id="rId10"/>
    <p:sldId id="628" r:id="rId11"/>
    <p:sldId id="629" r:id="rId12"/>
    <p:sldId id="702" r:id="rId13"/>
    <p:sldId id="630" r:id="rId14"/>
    <p:sldId id="631" r:id="rId15"/>
    <p:sldId id="648" r:id="rId16"/>
    <p:sldId id="650" r:id="rId17"/>
    <p:sldId id="632" r:id="rId18"/>
    <p:sldId id="633" r:id="rId19"/>
    <p:sldId id="703" r:id="rId20"/>
    <p:sldId id="634" r:id="rId21"/>
    <p:sldId id="646" r:id="rId22"/>
    <p:sldId id="647" r:id="rId24"/>
    <p:sldId id="639" r:id="rId25"/>
    <p:sldId id="638" r:id="rId26"/>
    <p:sldId id="668" r:id="rId27"/>
    <p:sldId id="669" r:id="rId28"/>
    <p:sldId id="670" r:id="rId29"/>
    <p:sldId id="671" r:id="rId30"/>
    <p:sldId id="640" r:id="rId31"/>
    <p:sldId id="641" r:id="rId32"/>
    <p:sldId id="642" r:id="rId33"/>
    <p:sldId id="643" r:id="rId34"/>
    <p:sldId id="651" r:id="rId35"/>
    <p:sldId id="644" r:id="rId36"/>
    <p:sldId id="704" r:id="rId37"/>
    <p:sldId id="681" r:id="rId38"/>
    <p:sldId id="682" r:id="rId39"/>
    <p:sldId id="683" r:id="rId40"/>
    <p:sldId id="684" r:id="rId41"/>
    <p:sldId id="685" r:id="rId42"/>
    <p:sldId id="686" r:id="rId43"/>
    <p:sldId id="687" r:id="rId44"/>
    <p:sldId id="688" r:id="rId45"/>
    <p:sldId id="690" r:id="rId46"/>
    <p:sldId id="752" r:id="rId47"/>
    <p:sldId id="689" r:id="rId48"/>
    <p:sldId id="751" r:id="rId49"/>
    <p:sldId id="691" r:id="rId50"/>
    <p:sldId id="692" r:id="rId51"/>
    <p:sldId id="693" r:id="rId52"/>
    <p:sldId id="694" r:id="rId53"/>
    <p:sldId id="695" r:id="rId54"/>
    <p:sldId id="696" r:id="rId55"/>
    <p:sldId id="697" r:id="rId56"/>
    <p:sldId id="698" r:id="rId57"/>
    <p:sldId id="645" r:id="rId58"/>
  </p:sldIdLst>
  <p:sldSz cx="9144000" cy="6858000" type="screen4x3"/>
  <p:notesSz cx="7099300" cy="10234295"/>
  <p:custDataLst>
    <p:tags r:id="rId63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>
        <p:scale>
          <a:sx n="142" d="100"/>
          <a:sy n="142" d="100"/>
        </p:scale>
        <p:origin x="-1602" y="-14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gs" Target="tags/tag74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560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/src/string_pm_bm_bc/pm_bm_buildBC.cpp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串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String</a:t>
            </a:r>
            <a:endParaRPr lang="zh-CN" altLang="en-US" sz="320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串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的结构特性以及串的基本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操作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针对字符串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进行操作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的常用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算法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模式匹配算法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串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存储方式</a:t>
            </a:r>
            <a:endParaRPr lang="en-US" altLang="zh-CN" dirty="0"/>
          </a:p>
          <a:p>
            <a:pPr lvl="1">
              <a:defRPr/>
            </a:pPr>
            <a:r>
              <a:rPr lang="zh-CN" altLang="en-US" dirty="0" smtClean="0"/>
              <a:t>模式匹配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</a:t>
            </a:r>
            <a:r>
              <a:rPr lang="zh-CN" altLang="en-US"/>
              <a:t>存储方式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病毒感染</a:t>
            </a:r>
            <a:r>
              <a:rPr lang="zh-CN" altLang="en-US" kern="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</a:t>
            </a:r>
            <a:endParaRPr lang="en-US" altLang="zh-CN" kern="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研究者将人的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均表示成由一些字母组成的字符串序列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。然后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检测某种病毒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序列是否在患者的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序列中出现过，如果出现过，则此人感染了该病毒，否则没有感染。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例如，假设病毒的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aaabbba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，则感染，患者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，则未感染。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（注意，人的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序列是线性的，而病毒的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序列是环状的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kern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5" y="714375"/>
          <a:ext cx="3786188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Picture" r:id="rId1" imgW="2457450" imgH="2562225" progId="Word.Picture.8">
                  <p:embed/>
                </p:oleObj>
              </mc:Choice>
              <mc:Fallback>
                <p:oleObj name="Picture" r:id="rId1" imgW="2457450" imgH="2562225" progId="Word.Picture.8">
                  <p:embed/>
                  <p:pic>
                    <p:nvPicPr>
                      <p:cNvPr id="0" name="图片 11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714375"/>
                        <a:ext cx="3786188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"/>
          <p:cNvGraphicFramePr>
            <a:graphicFrameLocks noChangeAspect="1"/>
          </p:cNvGraphicFramePr>
          <p:nvPr/>
        </p:nvGraphicFramePr>
        <p:xfrm>
          <a:off x="4714875" y="714375"/>
          <a:ext cx="385762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Picture" r:id="rId3" imgW="2533650" imgH="2400300" progId="Word.Picture.8">
                  <p:embed/>
                </p:oleObj>
              </mc:Choice>
              <mc:Fallback>
                <p:oleObj name="Picture" r:id="rId3" imgW="2533650" imgH="2400300" progId="Word.Picture.8">
                  <p:embed/>
                  <p:pic>
                    <p:nvPicPr>
                      <p:cNvPr id="0" name="图片 11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714375"/>
                        <a:ext cx="3857625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0" y="2311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sz="1000">
                <a:ea typeface="方正书宋简体" charset="-122"/>
              </a:rPr>
              <a:t>        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5" dirty="0" smtClean="0"/>
              <a:t>串</a:t>
            </a:r>
            <a:r>
              <a:rPr lang="en-US" altLang="zh-CN" sz="3200" spc="-25" dirty="0" smtClean="0"/>
              <a:t>--------</a:t>
            </a:r>
            <a:r>
              <a:rPr lang="zh-CN" altLang="en-US" sz="3200" spc="-25" dirty="0"/>
              <a:t>特殊线性表</a:t>
            </a:r>
            <a:endParaRPr lang="zh-CN" altLang="en-US" spc="-25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41525"/>
            <a:ext cx="7886700" cy="4735438"/>
          </a:xfrm>
        </p:spPr>
        <p:txBody>
          <a:bodyPr>
            <a:normAutofit lnSpcReduction="20000"/>
          </a:bodyPr>
          <a:lstStyle/>
          <a:p>
            <a:r>
              <a:rPr lang="zh-CN" alt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逻辑结构</a:t>
            </a:r>
            <a:endParaRPr lang="en-US" altLang="zh-CN" sz="20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串：零个或多个字符组成的有限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串长度：串中所包含的字符个数。 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空串：长度为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的串，记为：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 ”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非空串通常记为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="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……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“,</a:t>
            </a:r>
            <a:b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其中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是串名，双引号是定界符，双引号引起来的部分 是串值 ，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1≤i≤n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）是一个任意字符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的操作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MakeNull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) 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IsNull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In( S, a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Len( S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Concat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S1, S2 )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Substr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S, m, n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Index( S, S1 )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与其他线性结构相比，串的操作对象有什么特点？</a:t>
            </a:r>
            <a:b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串的操作通常以串的整体作为操作对象。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247794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顺序串：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用数组来存储串中的字符序列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marR="508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如何表示串的长度？ 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一个变量来表示串的实际长度，同一般线性表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串尾存储一个不会在串中出现的特殊字符作为 串的终结符，表示串的结尾。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object 13"/>
          <p:cNvSpPr txBox="1"/>
          <p:nvPr/>
        </p:nvSpPr>
        <p:spPr>
          <a:xfrm>
            <a:off x="1375868" y="5334053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7	…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	</a:t>
            </a:r>
            <a:r>
              <a:rPr sz="2400" b="1" dirty="0" smtClean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sz="2400" b="1" spc="-5" dirty="0" smtClean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15"/>
          <p:cNvSpPr txBox="1"/>
          <p:nvPr/>
        </p:nvSpPr>
        <p:spPr>
          <a:xfrm>
            <a:off x="7596261" y="4515941"/>
            <a:ext cx="502284" cy="552450"/>
          </a:xfrm>
          <a:prstGeom prst="rect">
            <a:avLst/>
          </a:prstGeom>
          <a:ln w="28575">
            <a:solidFill>
              <a:srgbClr val="FF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4620">
              <a:lnSpc>
                <a:spcPct val="100000"/>
              </a:lnSpc>
            </a:pPr>
            <a:r>
              <a:rPr sz="32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12"/>
          <p:cNvGraphicFramePr>
            <a:graphicFrameLocks noGrp="1"/>
          </p:cNvGraphicFramePr>
          <p:nvPr/>
        </p:nvGraphicFramePr>
        <p:xfrm>
          <a:off x="1217032" y="5898634"/>
          <a:ext cx="7053068" cy="550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80466"/>
                <a:gridCol w="672083"/>
                <a:gridCol w="656844"/>
                <a:gridCol w="643127"/>
                <a:gridCol w="630174"/>
                <a:gridCol w="641603"/>
                <a:gridCol w="593597"/>
                <a:gridCol w="1847850"/>
              </a:tblGrid>
              <a:tr h="550926">
                <a:tc>
                  <a:txBody>
                    <a:bodyPr/>
                    <a:lstStyle/>
                    <a:p>
                      <a:pPr marL="16573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b="1" i="1" kern="12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c</a:t>
                      </a:r>
                      <a:endParaRPr lang="en-US" altLang="zh-CN" sz="3600" b="1" i="1" kern="1200" dirty="0" smtClean="0">
                        <a:solidFill>
                          <a:schemeClr val="tx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36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\0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6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14"/>
          <p:cNvGraphicFramePr>
            <a:graphicFrameLocks noGrp="1"/>
          </p:cNvGraphicFramePr>
          <p:nvPr/>
        </p:nvGraphicFramePr>
        <p:xfrm>
          <a:off x="1152799" y="4529739"/>
          <a:ext cx="6336788" cy="550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91895"/>
                <a:gridCol w="671322"/>
                <a:gridCol w="657605"/>
                <a:gridCol w="642366"/>
                <a:gridCol w="630935"/>
                <a:gridCol w="640829"/>
                <a:gridCol w="1714512"/>
              </a:tblGrid>
              <a:tr h="550163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13"/>
          <p:cNvSpPr txBox="1"/>
          <p:nvPr/>
        </p:nvSpPr>
        <p:spPr>
          <a:xfrm>
            <a:off x="1130235" y="3969624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sz="2800" b="1" spc="3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 Ma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-1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	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1095370"/>
          </a:xfrm>
        </p:spPr>
        <p:txBody>
          <a:bodyPr>
            <a:normAutofit/>
          </a:bodyPr>
          <a:lstStyle/>
          <a:p>
            <a:pPr marL="12700" marR="508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链接串：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用链接存储结构来存储串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931797" y="3487331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932" y="71627"/>
                </a:moveTo>
                <a:lnTo>
                  <a:pt x="5873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7380" y="86105"/>
                </a:lnTo>
                <a:lnTo>
                  <a:pt x="598932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782" y="0"/>
                </a:lnTo>
                <a:lnTo>
                  <a:pt x="587380" y="57150"/>
                </a:lnTo>
                <a:lnTo>
                  <a:pt x="598932" y="57150"/>
                </a:lnTo>
                <a:lnTo>
                  <a:pt x="598932" y="114528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932" y="114528"/>
                </a:moveTo>
                <a:lnTo>
                  <a:pt x="598932" y="86105"/>
                </a:lnTo>
                <a:lnTo>
                  <a:pt x="587380" y="86105"/>
                </a:lnTo>
                <a:lnTo>
                  <a:pt x="541782" y="143255"/>
                </a:lnTo>
                <a:lnTo>
                  <a:pt x="598932" y="114528"/>
                </a:lnTo>
                <a:close/>
              </a:path>
              <a:path w="684530" h="143510">
                <a:moveTo>
                  <a:pt x="598932" y="71627"/>
                </a:moveTo>
                <a:lnTo>
                  <a:pt x="598932" y="57150"/>
                </a:lnTo>
                <a:lnTo>
                  <a:pt x="587380" y="57150"/>
                </a:lnTo>
                <a:lnTo>
                  <a:pt x="598932" y="71627"/>
                </a:lnTo>
                <a:close/>
              </a:path>
              <a:path w="684530" h="143510">
                <a:moveTo>
                  <a:pt x="598932" y="86105"/>
                </a:moveTo>
                <a:lnTo>
                  <a:pt x="598932" y="71627"/>
                </a:lnTo>
                <a:lnTo>
                  <a:pt x="587380" y="86105"/>
                </a:lnTo>
                <a:lnTo>
                  <a:pt x="5989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9"/>
          <p:cNvSpPr txBox="1"/>
          <p:nvPr/>
        </p:nvSpPr>
        <p:spPr>
          <a:xfrm>
            <a:off x="1163693" y="3243844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464679" y="356657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581" y="0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1"/>
          <p:cNvSpPr/>
          <p:nvPr/>
        </p:nvSpPr>
        <p:spPr>
          <a:xfrm>
            <a:off x="3221607" y="3280829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2"/>
          <p:cNvSpPr txBox="1"/>
          <p:nvPr/>
        </p:nvSpPr>
        <p:spPr>
          <a:xfrm>
            <a:off x="3403973" y="3305632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3786249" y="3280829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4"/>
          <p:cNvSpPr/>
          <p:nvPr/>
        </p:nvSpPr>
        <p:spPr>
          <a:xfrm>
            <a:off x="4219827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7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7" y="71627"/>
                </a:lnTo>
                <a:close/>
              </a:path>
              <a:path w="576579" h="142875">
                <a:moveTo>
                  <a:pt x="576071" y="71627"/>
                </a:moveTo>
                <a:lnTo>
                  <a:pt x="433577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1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7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7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7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7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5"/>
          <p:cNvSpPr/>
          <p:nvPr/>
        </p:nvSpPr>
        <p:spPr>
          <a:xfrm>
            <a:off x="4802757" y="3283876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6"/>
          <p:cNvSpPr txBox="1"/>
          <p:nvPr/>
        </p:nvSpPr>
        <p:spPr>
          <a:xfrm>
            <a:off x="4985123" y="3308680"/>
            <a:ext cx="22352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h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7"/>
          <p:cNvSpPr/>
          <p:nvPr/>
        </p:nvSpPr>
        <p:spPr>
          <a:xfrm>
            <a:off x="5367386" y="328387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8"/>
          <p:cNvSpPr/>
          <p:nvPr/>
        </p:nvSpPr>
        <p:spPr>
          <a:xfrm>
            <a:off x="5772009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19"/>
          <p:cNvSpPr/>
          <p:nvPr/>
        </p:nvSpPr>
        <p:spPr>
          <a:xfrm>
            <a:off x="7064360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5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5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5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5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5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0"/>
          <p:cNvSpPr/>
          <p:nvPr/>
        </p:nvSpPr>
        <p:spPr>
          <a:xfrm>
            <a:off x="7647303" y="3290735"/>
            <a:ext cx="1118235" cy="483870"/>
          </a:xfrm>
          <a:custGeom>
            <a:avLst/>
            <a:gdLst/>
            <a:ahLst/>
            <a:cxnLst/>
            <a:rect l="l" t="t" r="r" b="b"/>
            <a:pathLst>
              <a:path w="1118234" h="483870">
                <a:moveTo>
                  <a:pt x="0" y="0"/>
                </a:moveTo>
                <a:lnTo>
                  <a:pt x="0" y="483870"/>
                </a:lnTo>
                <a:lnTo>
                  <a:pt x="1117853" y="483870"/>
                </a:lnTo>
                <a:lnTo>
                  <a:pt x="111785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1"/>
          <p:cNvSpPr txBox="1"/>
          <p:nvPr/>
        </p:nvSpPr>
        <p:spPr>
          <a:xfrm>
            <a:off x="7830431" y="3315538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8212707" y="329073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3"/>
          <p:cNvSpPr txBox="1"/>
          <p:nvPr/>
        </p:nvSpPr>
        <p:spPr>
          <a:xfrm>
            <a:off x="8323445" y="3374237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-25" dirty="0">
                <a:latin typeface="宋体" panose="02010600030101010101" pitchFamily="2" charset="-122"/>
                <a:cs typeface="宋体" panose="02010600030101010101" pitchFamily="2" charset="-122"/>
              </a:rPr>
              <a:t>∧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4"/>
          <p:cNvSpPr/>
          <p:nvPr/>
        </p:nvSpPr>
        <p:spPr>
          <a:xfrm>
            <a:off x="1624455" y="3280829"/>
            <a:ext cx="1117600" cy="486409"/>
          </a:xfrm>
          <a:custGeom>
            <a:avLst/>
            <a:gdLst/>
            <a:ahLst/>
            <a:cxnLst/>
            <a:rect l="l" t="t" r="r" b="b"/>
            <a:pathLst>
              <a:path w="1117600" h="486410">
                <a:moveTo>
                  <a:pt x="0" y="0"/>
                </a:moveTo>
                <a:lnTo>
                  <a:pt x="0" y="486156"/>
                </a:lnTo>
                <a:lnTo>
                  <a:pt x="1117091" y="486156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5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5"/>
                </a:lnTo>
                <a:lnTo>
                  <a:pt x="28575" y="486155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6"/>
          <p:cNvSpPr/>
          <p:nvPr/>
        </p:nvSpPr>
        <p:spPr>
          <a:xfrm>
            <a:off x="2622675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8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8" y="71627"/>
                </a:lnTo>
                <a:close/>
              </a:path>
              <a:path w="576579" h="142875">
                <a:moveTo>
                  <a:pt x="576072" y="71627"/>
                </a:moveTo>
                <a:lnTo>
                  <a:pt x="433578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2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8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8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8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8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7"/>
          <p:cNvSpPr/>
          <p:nvPr/>
        </p:nvSpPr>
        <p:spPr>
          <a:xfrm>
            <a:off x="1652649" y="3293782"/>
            <a:ext cx="508254" cy="4572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8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6"/>
                </a:lnTo>
                <a:lnTo>
                  <a:pt x="28575" y="486156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29"/>
          <p:cNvSpPr/>
          <p:nvPr/>
        </p:nvSpPr>
        <p:spPr>
          <a:xfrm>
            <a:off x="6171461" y="3984155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9563" y="253745"/>
                </a:moveTo>
                <a:lnTo>
                  <a:pt x="65836" y="264743"/>
                </a:lnTo>
                <a:lnTo>
                  <a:pt x="30733" y="287798"/>
                </a:lnTo>
                <a:lnTo>
                  <a:pt x="7424" y="320030"/>
                </a:lnTo>
                <a:lnTo>
                  <a:pt x="0" y="345194"/>
                </a:lnTo>
                <a:lnTo>
                  <a:pt x="517" y="360422"/>
                </a:lnTo>
                <a:lnTo>
                  <a:pt x="11191" y="400115"/>
                </a:lnTo>
                <a:lnTo>
                  <a:pt x="43834" y="438447"/>
                </a:lnTo>
                <a:lnTo>
                  <a:pt x="59271" y="447293"/>
                </a:lnTo>
                <a:lnTo>
                  <a:pt x="49652" y="457104"/>
                </a:lnTo>
                <a:lnTo>
                  <a:pt x="30625" y="491299"/>
                </a:lnTo>
                <a:lnTo>
                  <a:pt x="26525" y="516293"/>
                </a:lnTo>
                <a:lnTo>
                  <a:pt x="27508" y="530064"/>
                </a:lnTo>
                <a:lnTo>
                  <a:pt x="41348" y="567494"/>
                </a:lnTo>
                <a:lnTo>
                  <a:pt x="68994" y="597095"/>
                </a:lnTo>
                <a:lnTo>
                  <a:pt x="107191" y="616293"/>
                </a:lnTo>
                <a:lnTo>
                  <a:pt x="154257" y="622397"/>
                </a:lnTo>
                <a:lnTo>
                  <a:pt x="162949" y="621903"/>
                </a:lnTo>
                <a:lnTo>
                  <a:pt x="162903" y="622553"/>
                </a:lnTo>
                <a:lnTo>
                  <a:pt x="196420" y="660356"/>
                </a:lnTo>
                <a:lnTo>
                  <a:pt x="227792" y="682971"/>
                </a:lnTo>
                <a:lnTo>
                  <a:pt x="263402" y="700129"/>
                </a:lnTo>
                <a:lnTo>
                  <a:pt x="302251" y="711345"/>
                </a:lnTo>
                <a:lnTo>
                  <a:pt x="343344" y="716135"/>
                </a:lnTo>
                <a:lnTo>
                  <a:pt x="357911" y="715885"/>
                </a:lnTo>
                <a:lnTo>
                  <a:pt x="398332" y="711660"/>
                </a:lnTo>
                <a:lnTo>
                  <a:pt x="445535" y="698135"/>
                </a:lnTo>
                <a:lnTo>
                  <a:pt x="456314" y="693384"/>
                </a:lnTo>
                <a:lnTo>
                  <a:pt x="465600" y="702044"/>
                </a:lnTo>
                <a:lnTo>
                  <a:pt x="496223" y="725038"/>
                </a:lnTo>
                <a:lnTo>
                  <a:pt x="530446" y="743043"/>
                </a:lnTo>
                <a:lnTo>
                  <a:pt x="567569" y="755406"/>
                </a:lnTo>
                <a:lnTo>
                  <a:pt x="606893" y="761477"/>
                </a:lnTo>
                <a:lnTo>
                  <a:pt x="620369" y="761990"/>
                </a:lnTo>
                <a:lnTo>
                  <a:pt x="635301" y="761519"/>
                </a:lnTo>
                <a:lnTo>
                  <a:pt x="678177" y="754674"/>
                </a:lnTo>
                <a:lnTo>
                  <a:pt x="717225" y="740296"/>
                </a:lnTo>
                <a:lnTo>
                  <a:pt x="751226" y="719173"/>
                </a:lnTo>
                <a:lnTo>
                  <a:pt x="778960" y="692099"/>
                </a:lnTo>
                <a:lnTo>
                  <a:pt x="804086" y="648106"/>
                </a:lnTo>
                <a:lnTo>
                  <a:pt x="804507" y="647699"/>
                </a:lnTo>
                <a:lnTo>
                  <a:pt x="852335" y="664452"/>
                </a:lnTo>
                <a:lnTo>
                  <a:pt x="890995" y="668272"/>
                </a:lnTo>
                <a:lnTo>
                  <a:pt x="906917" y="667634"/>
                </a:lnTo>
                <a:lnTo>
                  <a:pt x="951718" y="658523"/>
                </a:lnTo>
                <a:lnTo>
                  <a:pt x="990648" y="639833"/>
                </a:lnTo>
                <a:lnTo>
                  <a:pt x="1021870" y="613125"/>
                </a:lnTo>
                <a:lnTo>
                  <a:pt x="1043549" y="579961"/>
                </a:lnTo>
                <a:lnTo>
                  <a:pt x="1053852" y="541903"/>
                </a:lnTo>
                <a:lnTo>
                  <a:pt x="1054443" y="530351"/>
                </a:lnTo>
                <a:lnTo>
                  <a:pt x="1069775" y="527936"/>
                </a:lnTo>
                <a:lnTo>
                  <a:pt x="1112695" y="514852"/>
                </a:lnTo>
                <a:lnTo>
                  <a:pt x="1150010" y="493966"/>
                </a:lnTo>
                <a:lnTo>
                  <a:pt x="1180445" y="466511"/>
                </a:lnTo>
                <a:lnTo>
                  <a:pt x="1202725" y="433722"/>
                </a:lnTo>
                <a:lnTo>
                  <a:pt x="1215573" y="396830"/>
                </a:lnTo>
                <a:lnTo>
                  <a:pt x="1218270" y="370566"/>
                </a:lnTo>
                <a:lnTo>
                  <a:pt x="1217700" y="357616"/>
                </a:lnTo>
                <a:lnTo>
                  <a:pt x="1209264" y="320149"/>
                </a:lnTo>
                <a:lnTo>
                  <a:pt x="1191054" y="285816"/>
                </a:lnTo>
                <a:lnTo>
                  <a:pt x="1182882" y="275303"/>
                </a:lnTo>
                <a:lnTo>
                  <a:pt x="1185317" y="261548"/>
                </a:lnTo>
                <a:lnTo>
                  <a:pt x="1187712" y="248636"/>
                </a:lnTo>
                <a:lnTo>
                  <a:pt x="1189657" y="236388"/>
                </a:lnTo>
                <a:lnTo>
                  <a:pt x="1190741" y="224625"/>
                </a:lnTo>
                <a:lnTo>
                  <a:pt x="1190008" y="210867"/>
                </a:lnTo>
                <a:lnTo>
                  <a:pt x="1179266" y="172464"/>
                </a:lnTo>
                <a:lnTo>
                  <a:pt x="1157072" y="139658"/>
                </a:lnTo>
                <a:lnTo>
                  <a:pt x="1125179" y="114103"/>
                </a:lnTo>
                <a:lnTo>
                  <a:pt x="1085339" y="97453"/>
                </a:lnTo>
                <a:lnTo>
                  <a:pt x="1080351" y="96011"/>
                </a:lnTo>
                <a:lnTo>
                  <a:pt x="1076781" y="83490"/>
                </a:lnTo>
                <a:lnTo>
                  <a:pt x="1057635" y="49836"/>
                </a:lnTo>
                <a:lnTo>
                  <a:pt x="1027790" y="23478"/>
                </a:lnTo>
                <a:lnTo>
                  <a:pt x="989751" y="6253"/>
                </a:lnTo>
                <a:lnTo>
                  <a:pt x="946027" y="0"/>
                </a:lnTo>
                <a:lnTo>
                  <a:pt x="932396" y="566"/>
                </a:lnTo>
                <a:lnTo>
                  <a:pt x="893507" y="8758"/>
                </a:lnTo>
                <a:lnTo>
                  <a:pt x="859142" y="25880"/>
                </a:lnTo>
                <a:lnTo>
                  <a:pt x="841083" y="41147"/>
                </a:lnTo>
                <a:lnTo>
                  <a:pt x="832134" y="32346"/>
                </a:lnTo>
                <a:lnTo>
                  <a:pt x="799979" y="11863"/>
                </a:lnTo>
                <a:lnTo>
                  <a:pt x="761817" y="1234"/>
                </a:lnTo>
                <a:lnTo>
                  <a:pt x="748194" y="97"/>
                </a:lnTo>
                <a:lnTo>
                  <a:pt x="733140" y="726"/>
                </a:lnTo>
                <a:lnTo>
                  <a:pt x="691937" y="10015"/>
                </a:lnTo>
                <a:lnTo>
                  <a:pt x="658223" y="29112"/>
                </a:lnTo>
                <a:lnTo>
                  <a:pt x="633057" y="60197"/>
                </a:lnTo>
                <a:lnTo>
                  <a:pt x="623059" y="52522"/>
                </a:lnTo>
                <a:lnTo>
                  <a:pt x="589255" y="34454"/>
                </a:lnTo>
                <a:lnTo>
                  <a:pt x="551434" y="24528"/>
                </a:lnTo>
                <a:lnTo>
                  <a:pt x="538312" y="23186"/>
                </a:lnTo>
                <a:lnTo>
                  <a:pt x="522806" y="23615"/>
                </a:lnTo>
                <a:lnTo>
                  <a:pt x="479894" y="30716"/>
                </a:lnTo>
                <a:lnTo>
                  <a:pt x="443131" y="45785"/>
                </a:lnTo>
                <a:lnTo>
                  <a:pt x="405334" y="76607"/>
                </a:lnTo>
                <a:lnTo>
                  <a:pt x="394551" y="92201"/>
                </a:lnTo>
                <a:lnTo>
                  <a:pt x="382998" y="86982"/>
                </a:lnTo>
                <a:lnTo>
                  <a:pt x="334176" y="73034"/>
                </a:lnTo>
                <a:lnTo>
                  <a:pt x="308467" y="70351"/>
                </a:lnTo>
                <a:lnTo>
                  <a:pt x="291326" y="70851"/>
                </a:lnTo>
                <a:lnTo>
                  <a:pt x="243059" y="78472"/>
                </a:lnTo>
                <a:lnTo>
                  <a:pt x="200390" y="94389"/>
                </a:lnTo>
                <a:lnTo>
                  <a:pt x="164430" y="117473"/>
                </a:lnTo>
                <a:lnTo>
                  <a:pt x="136290" y="146591"/>
                </a:lnTo>
                <a:lnTo>
                  <a:pt x="117080" y="180613"/>
                </a:lnTo>
                <a:lnTo>
                  <a:pt x="107910" y="218406"/>
                </a:lnTo>
                <a:lnTo>
                  <a:pt x="107277" y="231647"/>
                </a:lnTo>
                <a:lnTo>
                  <a:pt x="107277" y="239267"/>
                </a:lnTo>
                <a:lnTo>
                  <a:pt x="108039" y="246125"/>
                </a:lnTo>
                <a:lnTo>
                  <a:pt x="108801" y="253745"/>
                </a:lnTo>
                <a:lnTo>
                  <a:pt x="109563" y="253745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0"/>
          <p:cNvSpPr/>
          <p:nvPr/>
        </p:nvSpPr>
        <p:spPr>
          <a:xfrm>
            <a:off x="6231495" y="4432210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36326" y="12245"/>
                </a:lnTo>
                <a:lnTo>
                  <a:pt x="64769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1"/>
          <p:cNvSpPr/>
          <p:nvPr/>
        </p:nvSpPr>
        <p:spPr>
          <a:xfrm>
            <a:off x="5880820" y="4399387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2"/>
          <p:cNvSpPr/>
          <p:nvPr/>
        </p:nvSpPr>
        <p:spPr>
          <a:xfrm>
            <a:off x="6161998" y="4441074"/>
            <a:ext cx="13335" cy="22225"/>
          </a:xfrm>
          <a:custGeom>
            <a:avLst/>
            <a:gdLst/>
            <a:ahLst/>
            <a:cxnLst/>
            <a:rect l="l" t="t" r="r" b="b"/>
            <a:pathLst>
              <a:path w="13334" h="22225">
                <a:moveTo>
                  <a:pt x="0" y="0"/>
                </a:moveTo>
                <a:lnTo>
                  <a:pt x="5973" y="11240"/>
                </a:lnTo>
                <a:lnTo>
                  <a:pt x="12718" y="22078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3"/>
          <p:cNvSpPr/>
          <p:nvPr/>
        </p:nvSpPr>
        <p:spPr>
          <a:xfrm>
            <a:off x="6521662" y="4404086"/>
            <a:ext cx="6985" cy="25400"/>
          </a:xfrm>
          <a:custGeom>
            <a:avLst/>
            <a:gdLst/>
            <a:ahLst/>
            <a:cxnLst/>
            <a:rect l="l" t="t" r="r" b="b"/>
            <a:pathLst>
              <a:path w="6984" h="25400">
                <a:moveTo>
                  <a:pt x="0" y="24795"/>
                </a:moveTo>
                <a:lnTo>
                  <a:pt x="3761" y="12397"/>
                </a:lnTo>
                <a:lnTo>
                  <a:pt x="6493" y="0"/>
                </a:lnTo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4"/>
          <p:cNvSpPr/>
          <p:nvPr/>
        </p:nvSpPr>
        <p:spPr>
          <a:xfrm>
            <a:off x="7136441" y="4390366"/>
            <a:ext cx="89535" cy="125095"/>
          </a:xfrm>
          <a:custGeom>
            <a:avLst/>
            <a:gdLst/>
            <a:ahLst/>
            <a:cxnLst/>
            <a:rect l="l" t="t" r="r" b="b"/>
            <a:pathLst>
              <a:path w="89534" h="125095">
                <a:moveTo>
                  <a:pt x="89463" y="124903"/>
                </a:moveTo>
                <a:lnTo>
                  <a:pt x="89463" y="124141"/>
                </a:lnTo>
                <a:lnTo>
                  <a:pt x="89463" y="123379"/>
                </a:lnTo>
                <a:lnTo>
                  <a:pt x="88743" y="110480"/>
                </a:lnTo>
                <a:lnTo>
                  <a:pt x="78379" y="73456"/>
                </a:lnTo>
                <a:lnTo>
                  <a:pt x="56832" y="40491"/>
                </a:lnTo>
                <a:lnTo>
                  <a:pt x="25549" y="13584"/>
                </a:lnTo>
                <a:lnTo>
                  <a:pt x="13208" y="6307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5"/>
          <p:cNvSpPr/>
          <p:nvPr/>
        </p:nvSpPr>
        <p:spPr>
          <a:xfrm>
            <a:off x="7308963" y="4264792"/>
            <a:ext cx="35560" cy="37465"/>
          </a:xfrm>
          <a:custGeom>
            <a:avLst/>
            <a:gdLst/>
            <a:ahLst/>
            <a:cxnLst/>
            <a:rect l="l" t="t" r="r" b="b"/>
            <a:pathLst>
              <a:path w="35559" h="37464">
                <a:moveTo>
                  <a:pt x="0" y="37116"/>
                </a:moveTo>
                <a:lnTo>
                  <a:pt x="10263" y="28869"/>
                </a:lnTo>
                <a:lnTo>
                  <a:pt x="19660" y="19908"/>
                </a:lnTo>
                <a:lnTo>
                  <a:pt x="28078" y="10273"/>
                </a:lnTo>
                <a:lnTo>
                  <a:pt x="35401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6"/>
          <p:cNvSpPr/>
          <p:nvPr/>
        </p:nvSpPr>
        <p:spPr>
          <a:xfrm>
            <a:off x="7251813" y="4080167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7"/>
          <p:cNvSpPr/>
          <p:nvPr/>
        </p:nvSpPr>
        <p:spPr>
          <a:xfrm>
            <a:off x="6995904" y="4025303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878" y="0"/>
                </a:moveTo>
                <a:lnTo>
                  <a:pt x="7333" y="9681"/>
                </a:lnTo>
                <a:lnTo>
                  <a:pt x="0" y="2013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8"/>
          <p:cNvSpPr/>
          <p:nvPr/>
        </p:nvSpPr>
        <p:spPr>
          <a:xfrm>
            <a:off x="6794354" y="4042067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59" h="23495">
                <a:moveTo>
                  <a:pt x="10164" y="0"/>
                </a:moveTo>
                <a:lnTo>
                  <a:pt x="4358" y="11426"/>
                </a:lnTo>
                <a:lnTo>
                  <a:pt x="0" y="2324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39"/>
          <p:cNvSpPr/>
          <p:nvPr/>
        </p:nvSpPr>
        <p:spPr>
          <a:xfrm>
            <a:off x="6570833" y="4078746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755" y="21232"/>
                </a:moveTo>
                <a:lnTo>
                  <a:pt x="21559" y="13463"/>
                </a:lnTo>
                <a:lnTo>
                  <a:pt x="10974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0"/>
          <p:cNvSpPr/>
          <p:nvPr/>
        </p:nvSpPr>
        <p:spPr>
          <a:xfrm>
            <a:off x="6280263" y="4237900"/>
            <a:ext cx="6985" cy="24765"/>
          </a:xfrm>
          <a:custGeom>
            <a:avLst/>
            <a:gdLst/>
            <a:ahLst/>
            <a:cxnLst/>
            <a:rect l="l" t="t" r="r" b="b"/>
            <a:pathLst>
              <a:path w="6985" h="24764">
                <a:moveTo>
                  <a:pt x="0" y="0"/>
                </a:moveTo>
                <a:lnTo>
                  <a:pt x="2770" y="12252"/>
                </a:lnTo>
                <a:lnTo>
                  <a:pt x="6626" y="24505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1"/>
          <p:cNvSpPr/>
          <p:nvPr/>
        </p:nvSpPr>
        <p:spPr>
          <a:xfrm>
            <a:off x="5853034" y="3925480"/>
            <a:ext cx="202565" cy="127000"/>
          </a:xfrm>
          <a:custGeom>
            <a:avLst/>
            <a:gdLst/>
            <a:ahLst/>
            <a:cxnLst/>
            <a:rect l="l" t="t" r="r" b="b"/>
            <a:pathLst>
              <a:path w="202564" h="127000">
                <a:moveTo>
                  <a:pt x="101092" y="0"/>
                </a:moveTo>
                <a:lnTo>
                  <a:pt x="52054" y="7911"/>
                </a:lnTo>
                <a:lnTo>
                  <a:pt x="16033" y="28876"/>
                </a:lnTo>
                <a:lnTo>
                  <a:pt x="0" y="58742"/>
                </a:lnTo>
                <a:lnTo>
                  <a:pt x="1362" y="70679"/>
                </a:lnTo>
                <a:lnTo>
                  <a:pt x="31622" y="109141"/>
                </a:lnTo>
                <a:lnTo>
                  <a:pt x="73623" y="124808"/>
                </a:lnTo>
                <a:lnTo>
                  <a:pt x="90016" y="126866"/>
                </a:lnTo>
                <a:lnTo>
                  <a:pt x="109185" y="126156"/>
                </a:lnTo>
                <a:lnTo>
                  <a:pt x="157640" y="115189"/>
                </a:lnTo>
                <a:lnTo>
                  <a:pt x="189849" y="93727"/>
                </a:lnTo>
                <a:lnTo>
                  <a:pt x="202386" y="65316"/>
                </a:lnTo>
                <a:lnTo>
                  <a:pt x="200945" y="53909"/>
                </a:lnTo>
                <a:lnTo>
                  <a:pt x="169942" y="16920"/>
                </a:lnTo>
                <a:lnTo>
                  <a:pt x="126777" y="2026"/>
                </a:lnTo>
                <a:lnTo>
                  <a:pt x="101092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2"/>
          <p:cNvSpPr/>
          <p:nvPr/>
        </p:nvSpPr>
        <p:spPr>
          <a:xfrm>
            <a:off x="5498627" y="3770032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41" y="0"/>
                </a:moveTo>
                <a:lnTo>
                  <a:pt x="21386" y="11389"/>
                </a:lnTo>
                <a:lnTo>
                  <a:pt x="0" y="38903"/>
                </a:lnTo>
                <a:lnTo>
                  <a:pt x="2039" y="50699"/>
                </a:lnTo>
                <a:lnTo>
                  <a:pt x="43771" y="81824"/>
                </a:lnTo>
                <a:lnTo>
                  <a:pt x="59936" y="84307"/>
                </a:lnTo>
                <a:lnTo>
                  <a:pt x="78706" y="83235"/>
                </a:lnTo>
                <a:lnTo>
                  <a:pt x="120829" y="67917"/>
                </a:lnTo>
                <a:lnTo>
                  <a:pt x="134107" y="50386"/>
                </a:lnTo>
                <a:lnTo>
                  <a:pt x="132687" y="37268"/>
                </a:lnTo>
                <a:lnTo>
                  <a:pt x="94740" y="3687"/>
                </a:lnTo>
                <a:lnTo>
                  <a:pt x="67641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3"/>
          <p:cNvSpPr/>
          <p:nvPr/>
        </p:nvSpPr>
        <p:spPr>
          <a:xfrm>
            <a:off x="5199061" y="3638969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80">
                <a:moveTo>
                  <a:pt x="33450" y="0"/>
                </a:moveTo>
                <a:lnTo>
                  <a:pt x="17249" y="2761"/>
                </a:lnTo>
                <a:lnTo>
                  <a:pt x="5303" y="9951"/>
                </a:lnTo>
                <a:lnTo>
                  <a:pt x="0" y="19928"/>
                </a:lnTo>
                <a:lnTo>
                  <a:pt x="4052" y="31244"/>
                </a:lnTo>
                <a:lnTo>
                  <a:pt x="14850" y="39079"/>
                </a:lnTo>
                <a:lnTo>
                  <a:pt x="30137" y="42570"/>
                </a:lnTo>
                <a:lnTo>
                  <a:pt x="47777" y="40428"/>
                </a:lnTo>
                <a:lnTo>
                  <a:pt x="60507" y="34450"/>
                </a:lnTo>
                <a:lnTo>
                  <a:pt x="67098" y="25575"/>
                </a:lnTo>
                <a:lnTo>
                  <a:pt x="63868" y="13378"/>
                </a:lnTo>
                <a:lnTo>
                  <a:pt x="54266" y="4784"/>
                </a:lnTo>
                <a:lnTo>
                  <a:pt x="40121" y="420"/>
                </a:lnTo>
                <a:lnTo>
                  <a:pt x="33450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4"/>
          <p:cNvSpPr txBox="1"/>
          <p:nvPr/>
        </p:nvSpPr>
        <p:spPr>
          <a:xfrm>
            <a:off x="6537317" y="4174246"/>
            <a:ext cx="415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1/5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5"/>
          <p:cNvSpPr/>
          <p:nvPr/>
        </p:nvSpPr>
        <p:spPr>
          <a:xfrm>
            <a:off x="2884402" y="499094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6"/>
          <p:cNvSpPr/>
          <p:nvPr/>
        </p:nvSpPr>
        <p:spPr>
          <a:xfrm>
            <a:off x="828526" y="5178398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169" y="71627"/>
                </a:moveTo>
                <a:lnTo>
                  <a:pt x="586618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6618" y="86105"/>
                </a:lnTo>
                <a:lnTo>
                  <a:pt x="598169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019" y="0"/>
                </a:lnTo>
                <a:lnTo>
                  <a:pt x="586618" y="57150"/>
                </a:lnTo>
                <a:lnTo>
                  <a:pt x="598169" y="57150"/>
                </a:lnTo>
                <a:lnTo>
                  <a:pt x="598169" y="114680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169" y="114680"/>
                </a:moveTo>
                <a:lnTo>
                  <a:pt x="598169" y="86105"/>
                </a:lnTo>
                <a:lnTo>
                  <a:pt x="586618" y="86105"/>
                </a:lnTo>
                <a:lnTo>
                  <a:pt x="541019" y="143255"/>
                </a:lnTo>
                <a:lnTo>
                  <a:pt x="598169" y="114680"/>
                </a:lnTo>
                <a:close/>
              </a:path>
              <a:path w="684530" h="143510">
                <a:moveTo>
                  <a:pt x="598169" y="71627"/>
                </a:moveTo>
                <a:lnTo>
                  <a:pt x="598169" y="57150"/>
                </a:lnTo>
                <a:lnTo>
                  <a:pt x="586618" y="57150"/>
                </a:lnTo>
                <a:lnTo>
                  <a:pt x="598169" y="71627"/>
                </a:lnTo>
                <a:close/>
              </a:path>
              <a:path w="684530" h="143510">
                <a:moveTo>
                  <a:pt x="598169" y="86105"/>
                </a:moveTo>
                <a:lnTo>
                  <a:pt x="598169" y="71627"/>
                </a:lnTo>
                <a:lnTo>
                  <a:pt x="586618" y="86105"/>
                </a:lnTo>
                <a:lnTo>
                  <a:pt x="598169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7"/>
          <p:cNvSpPr txBox="1"/>
          <p:nvPr/>
        </p:nvSpPr>
        <p:spPr>
          <a:xfrm>
            <a:off x="1055088" y="4917386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8"/>
          <p:cNvSpPr/>
          <p:nvPr/>
        </p:nvSpPr>
        <p:spPr>
          <a:xfrm>
            <a:off x="5184118" y="497875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49"/>
          <p:cNvSpPr txBox="1"/>
          <p:nvPr/>
        </p:nvSpPr>
        <p:spPr>
          <a:xfrm>
            <a:off x="7424646" y="5066414"/>
            <a:ext cx="38163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8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1" name="object 50"/>
          <p:cNvSpPr/>
          <p:nvPr/>
        </p:nvSpPr>
        <p:spPr>
          <a:xfrm>
            <a:off x="3202918" y="5207354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34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19"/>
                </a:lnTo>
                <a:lnTo>
                  <a:pt x="576834" y="70865"/>
                </a:lnTo>
                <a:close/>
              </a:path>
              <a:path w="577214" h="142875">
                <a:moveTo>
                  <a:pt x="490727" y="113919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19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1"/>
          <p:cNvSpPr/>
          <p:nvPr/>
        </p:nvSpPr>
        <p:spPr>
          <a:xfrm>
            <a:off x="1531852" y="5005424"/>
            <a:ext cx="1345691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2"/>
          <p:cNvSpPr/>
          <p:nvPr/>
        </p:nvSpPr>
        <p:spPr>
          <a:xfrm>
            <a:off x="7380202" y="499780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3"/>
          <p:cNvSpPr/>
          <p:nvPr/>
        </p:nvSpPr>
        <p:spPr>
          <a:xfrm>
            <a:off x="5488905" y="5208878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4"/>
          <p:cNvSpPr/>
          <p:nvPr/>
        </p:nvSpPr>
        <p:spPr>
          <a:xfrm>
            <a:off x="6074884" y="4973421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5"/>
          <p:cNvSpPr txBox="1"/>
          <p:nvPr/>
        </p:nvSpPr>
        <p:spPr>
          <a:xfrm>
            <a:off x="6130770" y="5034800"/>
            <a:ext cx="8350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  <a:tab pos="64389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	f	g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6"/>
          <p:cNvSpPr/>
          <p:nvPr/>
        </p:nvSpPr>
        <p:spPr>
          <a:xfrm>
            <a:off x="1521946" y="4990947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7"/>
          <p:cNvSpPr/>
          <p:nvPr/>
        </p:nvSpPr>
        <p:spPr>
          <a:xfrm>
            <a:off x="3793468" y="4976468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8"/>
          <p:cNvSpPr txBox="1"/>
          <p:nvPr/>
        </p:nvSpPr>
        <p:spPr>
          <a:xfrm>
            <a:off x="3849342" y="5037848"/>
            <a:ext cx="12490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  <a:tab pos="722630" algn="l"/>
                <a:tab pos="105791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	b	c	d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59"/>
          <p:cNvSpPr/>
          <p:nvPr/>
        </p:nvSpPr>
        <p:spPr>
          <a:xfrm>
            <a:off x="7404663" y="5678298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8889" y="253718"/>
                </a:moveTo>
                <a:lnTo>
                  <a:pt x="65136" y="264781"/>
                </a:lnTo>
                <a:lnTo>
                  <a:pt x="30227" y="287978"/>
                </a:lnTo>
                <a:lnTo>
                  <a:pt x="7218" y="320397"/>
                </a:lnTo>
                <a:lnTo>
                  <a:pt x="0" y="345696"/>
                </a:lnTo>
                <a:lnTo>
                  <a:pt x="528" y="360883"/>
                </a:lnTo>
                <a:lnTo>
                  <a:pt x="11135" y="400538"/>
                </a:lnTo>
                <a:lnTo>
                  <a:pt x="43829" y="438864"/>
                </a:lnTo>
                <a:lnTo>
                  <a:pt x="59359" y="447266"/>
                </a:lnTo>
                <a:lnTo>
                  <a:pt x="49723" y="457035"/>
                </a:lnTo>
                <a:lnTo>
                  <a:pt x="30230" y="491071"/>
                </a:lnTo>
                <a:lnTo>
                  <a:pt x="25859" y="515954"/>
                </a:lnTo>
                <a:lnTo>
                  <a:pt x="26832" y="529728"/>
                </a:lnTo>
                <a:lnTo>
                  <a:pt x="40563" y="567147"/>
                </a:lnTo>
                <a:lnTo>
                  <a:pt x="68067" y="596759"/>
                </a:lnTo>
                <a:lnTo>
                  <a:pt x="106195" y="616050"/>
                </a:lnTo>
                <a:lnTo>
                  <a:pt x="153721" y="622359"/>
                </a:lnTo>
                <a:lnTo>
                  <a:pt x="162144" y="621896"/>
                </a:lnTo>
                <a:lnTo>
                  <a:pt x="162229" y="622526"/>
                </a:lnTo>
                <a:lnTo>
                  <a:pt x="195631" y="660222"/>
                </a:lnTo>
                <a:lnTo>
                  <a:pt x="226921" y="682794"/>
                </a:lnTo>
                <a:lnTo>
                  <a:pt x="262490" y="699949"/>
                </a:lnTo>
                <a:lnTo>
                  <a:pt x="301378" y="711205"/>
                </a:lnTo>
                <a:lnTo>
                  <a:pt x="342624" y="716083"/>
                </a:lnTo>
                <a:lnTo>
                  <a:pt x="357113" y="715844"/>
                </a:lnTo>
                <a:lnTo>
                  <a:pt x="397375" y="711687"/>
                </a:lnTo>
                <a:lnTo>
                  <a:pt x="444715" y="698337"/>
                </a:lnTo>
                <a:lnTo>
                  <a:pt x="463219" y="689582"/>
                </a:lnTo>
                <a:lnTo>
                  <a:pt x="471419" y="699273"/>
                </a:lnTo>
                <a:lnTo>
                  <a:pt x="500075" y="724524"/>
                </a:lnTo>
                <a:lnTo>
                  <a:pt x="533851" y="743673"/>
                </a:lnTo>
                <a:lnTo>
                  <a:pt x="571504" y="756242"/>
                </a:lnTo>
                <a:lnTo>
                  <a:pt x="611791" y="761753"/>
                </a:lnTo>
                <a:lnTo>
                  <a:pt x="627617" y="761347"/>
                </a:lnTo>
                <a:lnTo>
                  <a:pt x="672412" y="755022"/>
                </a:lnTo>
                <a:lnTo>
                  <a:pt x="712523" y="741596"/>
                </a:lnTo>
                <a:lnTo>
                  <a:pt x="747104" y="721791"/>
                </a:lnTo>
                <a:lnTo>
                  <a:pt x="783144" y="686704"/>
                </a:lnTo>
                <a:lnTo>
                  <a:pt x="804595" y="647672"/>
                </a:lnTo>
                <a:lnTo>
                  <a:pt x="815971" y="653152"/>
                </a:lnTo>
                <a:lnTo>
                  <a:pt x="852382" y="664510"/>
                </a:lnTo>
                <a:lnTo>
                  <a:pt x="878018" y="667847"/>
                </a:lnTo>
                <a:lnTo>
                  <a:pt x="895194" y="667331"/>
                </a:lnTo>
                <a:lnTo>
                  <a:pt x="942835" y="659173"/>
                </a:lnTo>
                <a:lnTo>
                  <a:pt x="983659" y="642164"/>
                </a:lnTo>
                <a:lnTo>
                  <a:pt x="1016395" y="617671"/>
                </a:lnTo>
                <a:lnTo>
                  <a:pt x="1039772" y="587058"/>
                </a:lnTo>
                <a:lnTo>
                  <a:pt x="1054183" y="539081"/>
                </a:lnTo>
                <a:lnTo>
                  <a:pt x="1053769" y="530324"/>
                </a:lnTo>
                <a:lnTo>
                  <a:pt x="1069184" y="527917"/>
                </a:lnTo>
                <a:lnTo>
                  <a:pt x="1112295" y="514880"/>
                </a:lnTo>
                <a:lnTo>
                  <a:pt x="1149734" y="494074"/>
                </a:lnTo>
                <a:lnTo>
                  <a:pt x="1180255" y="466724"/>
                </a:lnTo>
                <a:lnTo>
                  <a:pt x="1202612" y="434055"/>
                </a:lnTo>
                <a:lnTo>
                  <a:pt x="1215561" y="397290"/>
                </a:lnTo>
                <a:lnTo>
                  <a:pt x="1218352" y="371110"/>
                </a:lnTo>
                <a:lnTo>
                  <a:pt x="1217762" y="358045"/>
                </a:lnTo>
                <a:lnTo>
                  <a:pt x="1209171" y="320445"/>
                </a:lnTo>
                <a:lnTo>
                  <a:pt x="1191129" y="286165"/>
                </a:lnTo>
                <a:lnTo>
                  <a:pt x="1177975" y="270482"/>
                </a:lnTo>
                <a:lnTo>
                  <a:pt x="1183331" y="258459"/>
                </a:lnTo>
                <a:lnTo>
                  <a:pt x="1187103" y="246088"/>
                </a:lnTo>
                <a:lnTo>
                  <a:pt x="1189358" y="233572"/>
                </a:lnTo>
                <a:lnTo>
                  <a:pt x="1190163" y="221113"/>
                </a:lnTo>
                <a:lnTo>
                  <a:pt x="1189394" y="207832"/>
                </a:lnTo>
                <a:lnTo>
                  <a:pt x="1178362" y="170352"/>
                </a:lnTo>
                <a:lnTo>
                  <a:pt x="1155597" y="137969"/>
                </a:lnTo>
                <a:lnTo>
                  <a:pt x="1122839" y="112685"/>
                </a:lnTo>
                <a:lnTo>
                  <a:pt x="1081826" y="96499"/>
                </a:lnTo>
                <a:lnTo>
                  <a:pt x="1078004" y="84019"/>
                </a:lnTo>
                <a:lnTo>
                  <a:pt x="1058430" y="50480"/>
                </a:lnTo>
                <a:lnTo>
                  <a:pt x="1028583" y="24140"/>
                </a:lnTo>
                <a:lnTo>
                  <a:pt x="990889" y="6734"/>
                </a:lnTo>
                <a:lnTo>
                  <a:pt x="947774" y="0"/>
                </a:lnTo>
                <a:lnTo>
                  <a:pt x="933610" y="543"/>
                </a:lnTo>
                <a:lnTo>
                  <a:pt x="893987" y="8506"/>
                </a:lnTo>
                <a:lnTo>
                  <a:pt x="849944" y="32511"/>
                </a:lnTo>
                <a:lnTo>
                  <a:pt x="840876" y="40655"/>
                </a:lnTo>
                <a:lnTo>
                  <a:pt x="831951" y="31967"/>
                </a:lnTo>
                <a:lnTo>
                  <a:pt x="799550" y="11682"/>
                </a:lnTo>
                <a:lnTo>
                  <a:pt x="761243" y="1154"/>
                </a:lnTo>
                <a:lnTo>
                  <a:pt x="747724" y="55"/>
                </a:lnTo>
                <a:lnTo>
                  <a:pt x="732635" y="686"/>
                </a:lnTo>
                <a:lnTo>
                  <a:pt x="691376" y="9959"/>
                </a:lnTo>
                <a:lnTo>
                  <a:pt x="657648" y="29011"/>
                </a:lnTo>
                <a:lnTo>
                  <a:pt x="633145" y="60170"/>
                </a:lnTo>
                <a:lnTo>
                  <a:pt x="623212" y="52542"/>
                </a:lnTo>
                <a:lnTo>
                  <a:pt x="589581" y="34548"/>
                </a:lnTo>
                <a:lnTo>
                  <a:pt x="551727" y="24585"/>
                </a:lnTo>
                <a:lnTo>
                  <a:pt x="538510" y="23203"/>
                </a:lnTo>
                <a:lnTo>
                  <a:pt x="522838" y="23623"/>
                </a:lnTo>
                <a:lnTo>
                  <a:pt x="479718" y="30693"/>
                </a:lnTo>
                <a:lnTo>
                  <a:pt x="443036" y="45730"/>
                </a:lnTo>
                <a:lnTo>
                  <a:pt x="405453" y="76506"/>
                </a:lnTo>
                <a:lnTo>
                  <a:pt x="393877" y="92174"/>
                </a:lnTo>
                <a:lnTo>
                  <a:pt x="382461" y="86919"/>
                </a:lnTo>
                <a:lnTo>
                  <a:pt x="346066" y="75353"/>
                </a:lnTo>
                <a:lnTo>
                  <a:pt x="307684" y="70294"/>
                </a:lnTo>
                <a:lnTo>
                  <a:pt x="290564" y="70799"/>
                </a:lnTo>
                <a:lnTo>
                  <a:pt x="242408" y="78430"/>
                </a:lnTo>
                <a:lnTo>
                  <a:pt x="199900" y="94354"/>
                </a:lnTo>
                <a:lnTo>
                  <a:pt x="164123" y="117443"/>
                </a:lnTo>
                <a:lnTo>
                  <a:pt x="136158" y="146564"/>
                </a:lnTo>
                <a:lnTo>
                  <a:pt x="117087" y="180586"/>
                </a:lnTo>
                <a:lnTo>
                  <a:pt x="107992" y="218380"/>
                </a:lnTo>
                <a:lnTo>
                  <a:pt x="107365" y="231620"/>
                </a:lnTo>
                <a:lnTo>
                  <a:pt x="106603" y="239240"/>
                </a:lnTo>
                <a:lnTo>
                  <a:pt x="107365" y="246098"/>
                </a:lnTo>
                <a:lnTo>
                  <a:pt x="108889" y="253718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0"/>
          <p:cNvSpPr/>
          <p:nvPr/>
        </p:nvSpPr>
        <p:spPr>
          <a:xfrm>
            <a:off x="7464022" y="6126327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48809" y="13877"/>
                </a:lnTo>
                <a:lnTo>
                  <a:pt x="65532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1"/>
          <p:cNvSpPr/>
          <p:nvPr/>
        </p:nvSpPr>
        <p:spPr>
          <a:xfrm>
            <a:off x="7567654" y="6295714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2"/>
          <p:cNvSpPr/>
          <p:nvPr/>
        </p:nvSpPr>
        <p:spPr>
          <a:xfrm>
            <a:off x="7849594" y="6337401"/>
            <a:ext cx="12700" cy="22860"/>
          </a:xfrm>
          <a:custGeom>
            <a:avLst/>
            <a:gdLst/>
            <a:ahLst/>
            <a:cxnLst/>
            <a:rect l="l" t="t" r="r" b="b"/>
            <a:pathLst>
              <a:path w="12700" h="22860">
                <a:moveTo>
                  <a:pt x="0" y="0"/>
                </a:moveTo>
                <a:lnTo>
                  <a:pt x="5671" y="11365"/>
                </a:lnTo>
                <a:lnTo>
                  <a:pt x="12468" y="2231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3"/>
          <p:cNvSpPr/>
          <p:nvPr/>
        </p:nvSpPr>
        <p:spPr>
          <a:xfrm>
            <a:off x="8209258" y="6300413"/>
            <a:ext cx="6350" cy="25400"/>
          </a:xfrm>
          <a:custGeom>
            <a:avLst/>
            <a:gdLst/>
            <a:ahLst/>
            <a:cxnLst/>
            <a:rect l="l" t="t" r="r" b="b"/>
            <a:pathLst>
              <a:path w="6350" h="25400">
                <a:moveTo>
                  <a:pt x="0" y="24795"/>
                </a:moveTo>
                <a:lnTo>
                  <a:pt x="3570" y="12397"/>
                </a:lnTo>
                <a:lnTo>
                  <a:pt x="616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4"/>
          <p:cNvSpPr/>
          <p:nvPr/>
        </p:nvSpPr>
        <p:spPr>
          <a:xfrm>
            <a:off x="8369481" y="6084686"/>
            <a:ext cx="90170" cy="125095"/>
          </a:xfrm>
          <a:custGeom>
            <a:avLst/>
            <a:gdLst/>
            <a:ahLst/>
            <a:cxnLst/>
            <a:rect l="l" t="t" r="r" b="b"/>
            <a:pathLst>
              <a:path w="90170" h="125095">
                <a:moveTo>
                  <a:pt x="89713" y="124698"/>
                </a:moveTo>
                <a:lnTo>
                  <a:pt x="89713" y="123936"/>
                </a:lnTo>
                <a:lnTo>
                  <a:pt x="89713" y="123174"/>
                </a:lnTo>
                <a:lnTo>
                  <a:pt x="88997" y="110313"/>
                </a:lnTo>
                <a:lnTo>
                  <a:pt x="78665" y="73389"/>
                </a:lnTo>
                <a:lnTo>
                  <a:pt x="57119" y="40493"/>
                </a:lnTo>
                <a:lnTo>
                  <a:pt x="25725" y="13607"/>
                </a:lnTo>
                <a:lnTo>
                  <a:pt x="13308" y="6323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5"/>
          <p:cNvSpPr/>
          <p:nvPr/>
        </p:nvSpPr>
        <p:spPr>
          <a:xfrm>
            <a:off x="8542252" y="595856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4">
                <a:moveTo>
                  <a:pt x="0" y="37455"/>
                </a:moveTo>
                <a:lnTo>
                  <a:pt x="10259" y="29139"/>
                </a:lnTo>
                <a:lnTo>
                  <a:pt x="19525" y="20098"/>
                </a:lnTo>
                <a:lnTo>
                  <a:pt x="27759" y="10372"/>
                </a:lnTo>
                <a:lnTo>
                  <a:pt x="3492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6"/>
          <p:cNvSpPr/>
          <p:nvPr/>
        </p:nvSpPr>
        <p:spPr>
          <a:xfrm>
            <a:off x="8484340" y="5774283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7"/>
          <p:cNvSpPr/>
          <p:nvPr/>
        </p:nvSpPr>
        <p:spPr>
          <a:xfrm>
            <a:off x="8229429" y="5719418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643" y="0"/>
                </a:moveTo>
                <a:lnTo>
                  <a:pt x="7237" y="9540"/>
                </a:lnTo>
                <a:lnTo>
                  <a:pt x="0" y="2004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8"/>
          <p:cNvSpPr/>
          <p:nvPr/>
        </p:nvSpPr>
        <p:spPr>
          <a:xfrm>
            <a:off x="8027561" y="5736183"/>
            <a:ext cx="9525" cy="24130"/>
          </a:xfrm>
          <a:custGeom>
            <a:avLst/>
            <a:gdLst/>
            <a:ahLst/>
            <a:cxnLst/>
            <a:rect l="l" t="t" r="r" b="b"/>
            <a:pathLst>
              <a:path w="9525" h="24129">
                <a:moveTo>
                  <a:pt x="9484" y="0"/>
                </a:moveTo>
                <a:lnTo>
                  <a:pt x="3970" y="11548"/>
                </a:lnTo>
                <a:lnTo>
                  <a:pt x="0" y="2351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69"/>
          <p:cNvSpPr/>
          <p:nvPr/>
        </p:nvSpPr>
        <p:spPr>
          <a:xfrm>
            <a:off x="7803611" y="5772862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505" y="21232"/>
                </a:moveTo>
                <a:lnTo>
                  <a:pt x="21781" y="13463"/>
                </a:lnTo>
                <a:lnTo>
                  <a:pt x="11279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0"/>
          <p:cNvSpPr/>
          <p:nvPr/>
        </p:nvSpPr>
        <p:spPr>
          <a:xfrm>
            <a:off x="7513552" y="5932016"/>
            <a:ext cx="6350" cy="24765"/>
          </a:xfrm>
          <a:custGeom>
            <a:avLst/>
            <a:gdLst/>
            <a:ahLst/>
            <a:cxnLst/>
            <a:rect l="l" t="t" r="r" b="b"/>
            <a:pathLst>
              <a:path w="6350" h="24764">
                <a:moveTo>
                  <a:pt x="0" y="0"/>
                </a:moveTo>
                <a:lnTo>
                  <a:pt x="2424" y="12342"/>
                </a:lnTo>
                <a:lnTo>
                  <a:pt x="5929" y="2468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1"/>
          <p:cNvSpPr/>
          <p:nvPr/>
        </p:nvSpPr>
        <p:spPr>
          <a:xfrm>
            <a:off x="7085668" y="5619596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203200" h="127000">
                <a:moveTo>
                  <a:pt x="101748" y="0"/>
                </a:moveTo>
                <a:lnTo>
                  <a:pt x="52573" y="7960"/>
                </a:lnTo>
                <a:lnTo>
                  <a:pt x="16441" y="28951"/>
                </a:lnTo>
                <a:lnTo>
                  <a:pt x="0" y="58639"/>
                </a:lnTo>
                <a:lnTo>
                  <a:pt x="1316" y="70721"/>
                </a:lnTo>
                <a:lnTo>
                  <a:pt x="31263" y="109174"/>
                </a:lnTo>
                <a:lnTo>
                  <a:pt x="73141" y="124717"/>
                </a:lnTo>
                <a:lnTo>
                  <a:pt x="89561" y="126807"/>
                </a:lnTo>
                <a:lnTo>
                  <a:pt x="108756" y="126140"/>
                </a:lnTo>
                <a:lnTo>
                  <a:pt x="157453" y="115540"/>
                </a:lnTo>
                <a:lnTo>
                  <a:pt x="190056" y="94588"/>
                </a:lnTo>
                <a:lnTo>
                  <a:pt x="203012" y="66562"/>
                </a:lnTo>
                <a:lnTo>
                  <a:pt x="201573" y="55060"/>
                </a:lnTo>
                <a:lnTo>
                  <a:pt x="170644" y="17532"/>
                </a:lnTo>
                <a:lnTo>
                  <a:pt x="127932" y="2207"/>
                </a:lnTo>
                <a:lnTo>
                  <a:pt x="101748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2"/>
          <p:cNvSpPr/>
          <p:nvPr/>
        </p:nvSpPr>
        <p:spPr>
          <a:xfrm>
            <a:off x="6731195" y="5464148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01" y="0"/>
                </a:moveTo>
                <a:lnTo>
                  <a:pt x="21529" y="11365"/>
                </a:lnTo>
                <a:lnTo>
                  <a:pt x="0" y="39234"/>
                </a:lnTo>
                <a:lnTo>
                  <a:pt x="2031" y="50919"/>
                </a:lnTo>
                <a:lnTo>
                  <a:pt x="43873" y="81862"/>
                </a:lnTo>
                <a:lnTo>
                  <a:pt x="60083" y="84321"/>
                </a:lnTo>
                <a:lnTo>
                  <a:pt x="78893" y="83232"/>
                </a:lnTo>
                <a:lnTo>
                  <a:pt x="121050" y="67882"/>
                </a:lnTo>
                <a:lnTo>
                  <a:pt x="134184" y="50540"/>
                </a:lnTo>
                <a:lnTo>
                  <a:pt x="132720" y="37363"/>
                </a:lnTo>
                <a:lnTo>
                  <a:pt x="94698" y="3688"/>
                </a:lnTo>
                <a:lnTo>
                  <a:pt x="67601" y="0"/>
                </a:lnTo>
                <a:close/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3"/>
          <p:cNvSpPr/>
          <p:nvPr/>
        </p:nvSpPr>
        <p:spPr>
          <a:xfrm>
            <a:off x="6431613" y="5333846"/>
            <a:ext cx="67310" cy="41910"/>
          </a:xfrm>
          <a:custGeom>
            <a:avLst/>
            <a:gdLst/>
            <a:ahLst/>
            <a:cxnLst/>
            <a:rect l="l" t="t" r="r" b="b"/>
            <a:pathLst>
              <a:path w="67309" h="41910">
                <a:moveTo>
                  <a:pt x="34189" y="0"/>
                </a:moveTo>
                <a:lnTo>
                  <a:pt x="17557" y="2547"/>
                </a:lnTo>
                <a:lnTo>
                  <a:pt x="5429" y="9310"/>
                </a:lnTo>
                <a:lnTo>
                  <a:pt x="0" y="18970"/>
                </a:lnTo>
                <a:lnTo>
                  <a:pt x="3916" y="30237"/>
                </a:lnTo>
                <a:lnTo>
                  <a:pt x="14513" y="38089"/>
                </a:lnTo>
                <a:lnTo>
                  <a:pt x="29786" y="41743"/>
                </a:lnTo>
                <a:lnTo>
                  <a:pt x="47525" y="39674"/>
                </a:lnTo>
                <a:lnTo>
                  <a:pt x="60316" y="33793"/>
                </a:lnTo>
                <a:lnTo>
                  <a:pt x="67005" y="25030"/>
                </a:lnTo>
                <a:lnTo>
                  <a:pt x="63700" y="12637"/>
                </a:lnTo>
                <a:lnTo>
                  <a:pt x="53892" y="4259"/>
                </a:lnTo>
                <a:lnTo>
                  <a:pt x="39661" y="281"/>
                </a:lnTo>
                <a:lnTo>
                  <a:pt x="34189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6"/>
          <p:cNvSpPr/>
          <p:nvPr/>
        </p:nvSpPr>
        <p:spPr>
          <a:xfrm>
            <a:off x="625227" y="2956307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FCE2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82"/>
          <p:cNvSpPr txBox="1"/>
          <p:nvPr/>
        </p:nvSpPr>
        <p:spPr>
          <a:xfrm>
            <a:off x="952435" y="4052480"/>
            <a:ext cx="12509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object 82"/>
          <p:cNvSpPr txBox="1"/>
          <p:nvPr/>
        </p:nvSpPr>
        <p:spPr>
          <a:xfrm>
            <a:off x="851027" y="2597234"/>
            <a:ext cx="161595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en-US" sz="2400" b="1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sz="2400" b="1" spc="1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object 44"/>
          <p:cNvSpPr txBox="1"/>
          <p:nvPr/>
        </p:nvSpPr>
        <p:spPr>
          <a:xfrm>
            <a:off x="7913149" y="5879581"/>
            <a:ext cx="4152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5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3/8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0788" y="6084686"/>
            <a:ext cx="476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假设地址值</a:t>
            </a:r>
            <a:r>
              <a:rPr lang="en-US" altLang="zh-CN" b="1" dirty="0">
                <a:latin typeface="Arial" panose="020B0604020202020204"/>
                <a:cs typeface="Arial" panose="020B0604020202020204"/>
              </a:rPr>
              <a:t>4</a:t>
            </a: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四个字节，每个字符一个字节。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Brute-Force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蛮力算法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字符串的模式匹配</a:t>
            </a:r>
            <a:br>
              <a:rPr lang="en-US" altLang="zh-CN" sz="3200" dirty="0" smtClean="0"/>
            </a:br>
            <a:r>
              <a:rPr lang="en-US" altLang="zh-CN" sz="3200" dirty="0" smtClean="0"/>
              <a:t>pattern </a:t>
            </a:r>
            <a:r>
              <a:rPr lang="en-US" altLang="zh-CN" sz="3200" dirty="0"/>
              <a:t>matching</a:t>
            </a:r>
            <a:endParaRPr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给定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spc="-7" baseline="-21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lang="zh-CN" altLang="en-US" spc="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中寻找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过程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称为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模式匹配</a:t>
            </a:r>
            <a:r>
              <a:rPr lang="zh-CN" altLang="en-US" spc="10" dirty="0">
                <a:solidFill>
                  <a:srgbClr val="CC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如果匹配成功，返回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位置如果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匹配失败，返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回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假设串采用顺序存储结构，串的长度存放在数组的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，串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值从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号单元开始存放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朴素模式匹配算法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(Brute-Force</a:t>
            </a: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算</a:t>
            </a:r>
            <a:r>
              <a:rPr lang="zh-CN" altLang="en-US" spc="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lang="zh-CN" altLang="en-US" spc="10" dirty="0" smtClean="0">
                <a:solidFill>
                  <a:srgbClr val="FF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：枚举法</a:t>
            </a:r>
            <a:endParaRPr lang="en-US" altLang="zh-CN" spc="10" dirty="0" smtClean="0">
              <a:solidFill>
                <a:srgbClr val="FF33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的第一个字符开始和模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进行比较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，若相等，则继续比较两者的后续字符；否则，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的第二个字符开始和模式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第一个字符进行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，重复上述过程，直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的字符全部比较完毕，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则说明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本趟匹配成功；或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中字符全部比较完，则说明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8690"/>
            <a:ext cx="9144000" cy="56493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Index_BF</a:t>
            </a:r>
            <a:r>
              <a:rPr lang="en-US" altLang="zh-CN" dirty="0"/>
              <a:t> ( char* S, char* T, int </a:t>
            </a:r>
            <a:r>
              <a:rPr lang="en-US" altLang="zh-CN" dirty="0" err="1"/>
              <a:t>pos</a:t>
            </a:r>
            <a:r>
              <a:rPr lang="en-US" altLang="zh-CN" dirty="0"/>
              <a:t>=1)</a:t>
            </a:r>
            <a:endParaRPr lang="en-US" altLang="zh-CN" dirty="0"/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{    </a:t>
            </a:r>
            <a:r>
              <a:rPr lang="en-US" altLang="zh-CN" dirty="0" smtClean="0">
                <a:solidFill>
                  <a:srgbClr val="00B050"/>
                </a:solidFill>
              </a:rPr>
              <a:t>/* </a:t>
            </a:r>
            <a:r>
              <a:rPr lang="en-US" altLang="zh-CN" dirty="0">
                <a:solidFill>
                  <a:srgbClr val="00B050"/>
                </a:solidFill>
              </a:rPr>
              <a:t>S</a:t>
            </a:r>
            <a:r>
              <a:rPr lang="zh-CN" altLang="en-US" dirty="0">
                <a:solidFill>
                  <a:srgbClr val="00B050"/>
                </a:solidFill>
              </a:rPr>
              <a:t>为主串，</a:t>
            </a:r>
            <a:r>
              <a:rPr lang="en-US" altLang="zh-CN" dirty="0">
                <a:solidFill>
                  <a:srgbClr val="00B050"/>
                </a:solidFill>
              </a:rPr>
              <a:t>T</a:t>
            </a:r>
            <a:r>
              <a:rPr lang="zh-CN" altLang="en-US" dirty="0">
                <a:solidFill>
                  <a:srgbClr val="00B050"/>
                </a:solidFill>
              </a:rPr>
              <a:t>为模式，串的第</a:t>
            </a:r>
            <a:r>
              <a:rPr lang="en-US" altLang="zh-CN" dirty="0">
                <a:solidFill>
                  <a:srgbClr val="00B050"/>
                </a:solidFill>
              </a:rPr>
              <a:t>0</a:t>
            </a:r>
            <a:r>
              <a:rPr lang="zh-CN" altLang="en-US" dirty="0">
                <a:solidFill>
                  <a:srgbClr val="00B050"/>
                </a:solidFill>
              </a:rPr>
              <a:t>位置存放串</a:t>
            </a:r>
            <a:r>
              <a:rPr lang="zh-CN" altLang="en-US" dirty="0" smtClean="0">
                <a:solidFill>
                  <a:srgbClr val="00B050"/>
                </a:solidFill>
              </a:rPr>
              <a:t>长度*</a:t>
            </a:r>
            <a:r>
              <a:rPr lang="en-US" altLang="zh-CN" dirty="0" smtClean="0">
                <a:solidFill>
                  <a:srgbClr val="00B050"/>
                </a:solidFill>
              </a:rPr>
              <a:t>/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pos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j </a:t>
            </a:r>
            <a:r>
              <a:rPr lang="en-US" altLang="zh-CN" dirty="0"/>
              <a:t>= 1;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从第一个位置开始比较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while (</a:t>
            </a:r>
            <a:r>
              <a:rPr lang="en-US" altLang="zh-CN" dirty="0" err="1"/>
              <a:t>i</a:t>
            </a:r>
            <a:r>
              <a:rPr lang="en-US" altLang="zh-CN" dirty="0"/>
              <a:t>&lt;=S[0] &amp;&amp; j&lt;=T[0]) {</a:t>
            </a:r>
            <a:endParaRPr lang="en-US" altLang="zh-CN" dirty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(S[</a:t>
            </a:r>
            <a:r>
              <a:rPr lang="en-US" altLang="zh-CN" dirty="0" err="1"/>
              <a:t>i</a:t>
            </a:r>
            <a:r>
              <a:rPr lang="en-US" altLang="zh-CN" dirty="0"/>
              <a:t>] == T[j])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++</a:t>
            </a:r>
            <a:r>
              <a:rPr lang="en-US" altLang="zh-CN" dirty="0" err="1"/>
              <a:t>i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       ++</a:t>
            </a:r>
            <a:r>
              <a:rPr lang="en-US" altLang="zh-CN" dirty="0"/>
              <a:t>j;}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继续比较后继字符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else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i</a:t>
            </a:r>
            <a:r>
              <a:rPr lang="en-US" altLang="zh-CN" dirty="0"/>
              <a:t> – j + 2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j </a:t>
            </a:r>
            <a:r>
              <a:rPr lang="en-US" altLang="zh-CN" dirty="0"/>
              <a:t>= 1;}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指针后退重新开始匹配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(j &gt; T[0</a:t>
            </a:r>
            <a:r>
              <a:rPr lang="en-US" altLang="zh-CN" dirty="0" smtClean="0"/>
              <a:t>])</a:t>
            </a: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返回与模式第一字符相等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/>
              <a:t>return </a:t>
            </a:r>
            <a:r>
              <a:rPr lang="en-US" altLang="zh-CN" dirty="0" err="1"/>
              <a:t>i</a:t>
            </a:r>
            <a:r>
              <a:rPr lang="en-US" altLang="zh-CN" dirty="0"/>
              <a:t>-T[0</a:t>
            </a:r>
            <a:r>
              <a:rPr lang="en-US" altLang="zh-CN" dirty="0" smtClean="0"/>
              <a:t>];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的字符在主串中的序号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</a:t>
            </a:r>
            <a:r>
              <a:rPr lang="en-US" altLang="zh-CN" dirty="0"/>
              <a:t>else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return </a:t>
            </a:r>
            <a:r>
              <a:rPr lang="en-US" altLang="zh-CN" dirty="0"/>
              <a:t>0</a:t>
            </a:r>
            <a:r>
              <a:rPr lang="en-US" altLang="zh-CN" dirty="0" smtClean="0"/>
              <a:t>;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匹配不成功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}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8320" y="2992120"/>
            <a:ext cx="8267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0225" y="3853815"/>
            <a:ext cx="482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791077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上下箭头 9"/>
          <p:cNvSpPr/>
          <p:nvPr/>
        </p:nvSpPr>
        <p:spPr>
          <a:xfrm>
            <a:off x="228703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上下箭头 10"/>
          <p:cNvSpPr/>
          <p:nvPr/>
        </p:nvSpPr>
        <p:spPr>
          <a:xfrm>
            <a:off x="1963457" y="3598581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上下箭头 11"/>
          <p:cNvSpPr/>
          <p:nvPr/>
        </p:nvSpPr>
        <p:spPr>
          <a:xfrm>
            <a:off x="2598437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上下箭头 12"/>
          <p:cNvSpPr/>
          <p:nvPr/>
        </p:nvSpPr>
        <p:spPr>
          <a:xfrm>
            <a:off x="2890736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上下箭头 13"/>
          <p:cNvSpPr/>
          <p:nvPr/>
        </p:nvSpPr>
        <p:spPr>
          <a:xfrm>
            <a:off x="3233418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上下箭头 14"/>
          <p:cNvSpPr/>
          <p:nvPr/>
        </p:nvSpPr>
        <p:spPr>
          <a:xfrm>
            <a:off x="354971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6597" y="2999716"/>
            <a:ext cx="77369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8730" y="3757930"/>
            <a:ext cx="2615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87120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55600" marR="7620" indent="-342900">
              <a:lnSpc>
                <a:spcPct val="130000"/>
              </a:lnSpc>
              <a:spcBef>
                <a:spcPts val="195"/>
              </a:spcBef>
            </a:pP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。可能匹配成功的位置（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1~n-m+1</a:t>
            </a:r>
            <a:r>
              <a:rPr lang="en-US" altLang="zh-CN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20040" indent="-307975">
              <a:lnSpc>
                <a:spcPct val="100000"/>
              </a:lnSpc>
              <a:spcBef>
                <a:spcPts val="116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①最好的情况下，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模式串的第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38100" indent="-457200">
              <a:lnSpc>
                <a:spcPct val="100000"/>
              </a:lnSpc>
              <a:spcBef>
                <a:spcPts val="1005"/>
              </a:spcBef>
            </a:pP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z="2400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r>
              <a:rPr lang="en-US" altLang="zh-CN" sz="2400" spc="-80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z="2400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</a:t>
            </a:r>
            <a:r>
              <a:rPr lang="zh-CN" altLang="en-US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了</a:t>
            </a:r>
            <a:r>
              <a:rPr lang="en-US" altLang="zh-CN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，总共比较了（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i-1+m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）次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5080" indent="-457200">
              <a:lnSpc>
                <a:spcPts val="2870"/>
              </a:lnSpc>
              <a:spcBef>
                <a:spcPts val="95"/>
              </a:spcBef>
            </a:pP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所有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匹配成功的可能共有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种，所以在等概率情况下的 平均比较次数：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1" t="-56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3"/>
          <p:cNvSpPr txBox="1"/>
          <p:nvPr/>
        </p:nvSpPr>
        <p:spPr>
          <a:xfrm>
            <a:off x="1289521" y="6363864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</a:t>
            </a:r>
            <a:r>
              <a:rPr lang="zh-CN" altLang="en-US"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</a:t>
            </a: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情况下的平均时间复杂性为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2400" spc="-29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20040" marR="350520" indent="-307975">
              <a:lnSpc>
                <a:spcPct val="135000"/>
              </a:lnSpc>
              <a:spcBef>
                <a:spcPts val="150"/>
              </a:spcBef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②最坏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模式串的最后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r>
              <a:rPr lang="zh-CN" altLang="en-US" spc="-5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(i-1)*m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趟成功匹配共比较了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次，总共比较了</a:t>
            </a:r>
            <a:r>
              <a:rPr lang="en-US" altLang="zh-CN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pc="-3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*m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。共需要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趟比较，所以在等概率情况下的平均比较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次数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188719" y="4719917"/>
                <a:ext cx="7266791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i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9" y="4719917"/>
                <a:ext cx="7266791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9" t="-62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3"/>
          <p:cNvSpPr txBox="1"/>
          <p:nvPr/>
        </p:nvSpPr>
        <p:spPr>
          <a:xfrm>
            <a:off x="1052853" y="5933558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最坏情况下的平均时间复杂性为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O(n*m)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KMP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字符串的模式匹配</a:t>
            </a:r>
            <a:r>
              <a:rPr lang="en-US" altLang="zh-CN" dirty="0" smtClean="0"/>
              <a:t>-KMP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BF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算法时间性能低？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在每趟匹配不成功时存在大量回溯，没有利用已经部分匹配的结果。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如何在匹配不成功时主串不回溯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主串不回溯，模式就需要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回溯一段距离。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如何确定模式的滑动距离？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利用已经得到的“部分匹配”的结果 将模式向右“滑动”一段距离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【模式字符串的指针左偏移，指向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(next[j])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】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后，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继续进行比较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09563"/>
            <a:ext cx="1254125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>
          <a:xfrm>
            <a:off x="717550" y="78591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即没有一个字符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44836" name="Picture 4" descr="kmp-prat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425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7" name="Picture 5" descr="kmp-knu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4778375"/>
            <a:ext cx="885825" cy="1154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8" name="Picture 6" descr="KMP-morr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88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4840" name="AutoShape 8"/>
          <p:cNvSpPr>
            <a:spLocks noChangeArrowheads="1"/>
          </p:cNvSpPr>
          <p:nvPr/>
        </p:nvSpPr>
        <p:spPr bwMode="auto">
          <a:xfrm>
            <a:off x="4860493" y="6003016"/>
            <a:ext cx="85652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E.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nuth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1" name="AutoShape 9"/>
          <p:cNvSpPr>
            <a:spLocks noChangeArrowheads="1"/>
          </p:cNvSpPr>
          <p:nvPr/>
        </p:nvSpPr>
        <p:spPr bwMode="auto">
          <a:xfrm>
            <a:off x="6326867" y="6003016"/>
            <a:ext cx="893993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J. H.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orris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2" name="AutoShape 10"/>
          <p:cNvSpPr>
            <a:spLocks noChangeArrowheads="1"/>
          </p:cNvSpPr>
          <p:nvPr/>
        </p:nvSpPr>
        <p:spPr bwMode="auto">
          <a:xfrm>
            <a:off x="7795621" y="6003016"/>
            <a:ext cx="76000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V. R.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ratt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3" name="Rectangle 11"/>
          <p:cNvSpPr/>
          <p:nvPr/>
        </p:nvSpPr>
        <p:spPr>
          <a:xfrm>
            <a:off x="1023620" y="1346835"/>
            <a:ext cx="2827655" cy="3054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44844" name="Rectangle 12"/>
          <p:cNvSpPr/>
          <p:nvPr/>
        </p:nvSpPr>
        <p:spPr>
          <a:xfrm>
            <a:off x="1337310" y="4419600"/>
            <a:ext cx="1655763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14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14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48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300" fill="hold"/>
                                        <p:tgtEl>
                                          <p:spTgt spid="11448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600" fill="hold"/>
                                        <p:tgtEl>
                                          <p:spTgt spid="114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48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1144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600" fill="hold"/>
                                        <p:tgtEl>
                                          <p:spTgt spid="11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448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144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600" fill="hold"/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1448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448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4"/>
                  </p:tgtEl>
                </p:cond>
              </p:nextCondLst>
            </p:seq>
          </p:childTnLst>
        </p:cTn>
      </p:par>
    </p:tnLst>
    <p:bldLst>
      <p:bldP spid="1144843" grpId="0" bldLvl="0" animBg="1"/>
      <p:bldP spid="114484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528320" y="367983"/>
            <a:ext cx="21386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195" name="Group 4"/>
          <p:cNvGrpSpPr/>
          <p:nvPr/>
        </p:nvGrpSpPr>
        <p:grpSpPr>
          <a:xfrm>
            <a:off x="4283075" y="1500188"/>
            <a:ext cx="2881313" cy="431800"/>
            <a:chOff x="1972" y="1570"/>
            <a:chExt cx="1815" cy="272"/>
          </a:xfrm>
        </p:grpSpPr>
        <p:sp>
          <p:nvSpPr>
            <p:cNvPr id="8258" name="Rectangle 5"/>
            <p:cNvSpPr/>
            <p:nvPr/>
          </p:nvSpPr>
          <p:spPr>
            <a:xfrm>
              <a:off x="233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59" name="Rectangle 6"/>
            <p:cNvSpPr/>
            <p:nvPr/>
          </p:nvSpPr>
          <p:spPr>
            <a:xfrm>
              <a:off x="2517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0" name="Rectangle 7"/>
            <p:cNvSpPr/>
            <p:nvPr/>
          </p:nvSpPr>
          <p:spPr>
            <a:xfrm>
              <a:off x="2698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1" name="Rectangle 8"/>
            <p:cNvSpPr/>
            <p:nvPr/>
          </p:nvSpPr>
          <p:spPr>
            <a:xfrm>
              <a:off x="2880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2" name="Rectangle 9"/>
            <p:cNvSpPr/>
            <p:nvPr/>
          </p:nvSpPr>
          <p:spPr>
            <a:xfrm>
              <a:off x="3061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3" name="Rectangle 10"/>
            <p:cNvSpPr/>
            <p:nvPr/>
          </p:nvSpPr>
          <p:spPr>
            <a:xfrm>
              <a:off x="3243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4" name="Rectangle 11"/>
            <p:cNvSpPr/>
            <p:nvPr/>
          </p:nvSpPr>
          <p:spPr>
            <a:xfrm>
              <a:off x="342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5" name="Rectangle 12"/>
            <p:cNvSpPr/>
            <p:nvPr/>
          </p:nvSpPr>
          <p:spPr>
            <a:xfrm>
              <a:off x="360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6" name="Rectangle 13"/>
            <p:cNvSpPr/>
            <p:nvPr/>
          </p:nvSpPr>
          <p:spPr>
            <a:xfrm>
              <a:off x="1972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-1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7" name="Rectangle 14"/>
            <p:cNvSpPr/>
            <p:nvPr/>
          </p:nvSpPr>
          <p:spPr>
            <a:xfrm>
              <a:off x="217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8175" name="Group 15"/>
          <p:cNvGrpSpPr/>
          <p:nvPr/>
        </p:nvGrpSpPr>
        <p:grpSpPr>
          <a:xfrm>
            <a:off x="4284663" y="1066800"/>
            <a:ext cx="2881312" cy="431800"/>
            <a:chOff x="1972" y="1298"/>
            <a:chExt cx="1815" cy="272"/>
          </a:xfrm>
        </p:grpSpPr>
        <p:sp>
          <p:nvSpPr>
            <p:cNvPr id="988176" name="Rectangle 1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7" name="Rectangle 1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8" name="Rectangle 1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9" name="Rectangle 1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0" name="Rectangle 2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1" name="Rectangle 2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2" name="Rectangle 2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3" name="Rectangle 2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4" name="Rectangle 2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5" name="Rectangle 2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186" name="Group 26"/>
          <p:cNvGrpSpPr/>
          <p:nvPr/>
        </p:nvGrpSpPr>
        <p:grpSpPr>
          <a:xfrm>
            <a:off x="971550" y="3213100"/>
            <a:ext cx="7272338" cy="431800"/>
            <a:chOff x="612" y="1661"/>
            <a:chExt cx="4581" cy="272"/>
          </a:xfrm>
        </p:grpSpPr>
        <p:grpSp>
          <p:nvGrpSpPr>
            <p:cNvPr id="8235" name="Group 27"/>
            <p:cNvGrpSpPr/>
            <p:nvPr/>
          </p:nvGrpSpPr>
          <p:grpSpPr>
            <a:xfrm>
              <a:off x="2698" y="1661"/>
              <a:ext cx="1815" cy="272"/>
              <a:chOff x="1972" y="1298"/>
              <a:chExt cx="1815" cy="272"/>
            </a:xfrm>
          </p:grpSpPr>
          <p:sp>
            <p:nvSpPr>
              <p:cNvPr id="988188" name="Rectangle 28"/>
              <p:cNvSpPr>
                <a:spLocks noChangeArrowheads="1"/>
              </p:cNvSpPr>
              <p:nvPr/>
            </p:nvSpPr>
            <p:spPr bwMode="auto">
              <a:xfrm>
                <a:off x="2336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89" name="Rectangle 29"/>
              <p:cNvSpPr>
                <a:spLocks noChangeArrowheads="1"/>
              </p:cNvSpPr>
              <p:nvPr/>
            </p:nvSpPr>
            <p:spPr bwMode="auto">
              <a:xfrm>
                <a:off x="2517" y="1298"/>
                <a:ext cx="181" cy="272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0" name="Rectangle 30"/>
              <p:cNvSpPr>
                <a:spLocks noChangeArrowheads="1"/>
              </p:cNvSpPr>
              <p:nvPr/>
            </p:nvSpPr>
            <p:spPr bwMode="auto">
              <a:xfrm>
                <a:off x="2698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1" name="Rectangle 31"/>
              <p:cNvSpPr>
                <a:spLocks noChangeArrowheads="1"/>
              </p:cNvSpPr>
              <p:nvPr/>
            </p:nvSpPr>
            <p:spPr bwMode="auto">
              <a:xfrm>
                <a:off x="2880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2" name="Rectangle 32"/>
              <p:cNvSpPr>
                <a:spLocks noChangeArrowheads="1"/>
              </p:cNvSpPr>
              <p:nvPr/>
            </p:nvSpPr>
            <p:spPr bwMode="auto">
              <a:xfrm>
                <a:off x="3061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3" name="Rectangle 33"/>
              <p:cNvSpPr>
                <a:spLocks noChangeArrowheads="1"/>
              </p:cNvSpPr>
              <p:nvPr/>
            </p:nvSpPr>
            <p:spPr bwMode="auto">
              <a:xfrm>
                <a:off x="3243" y="1298"/>
                <a:ext cx="181" cy="272"/>
              </a:xfrm>
              <a:prstGeom prst="rect">
                <a:avLst/>
              </a:prstGeom>
              <a:solidFill>
                <a:srgbClr val="333333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4" name="Rectangle 34"/>
              <p:cNvSpPr>
                <a:spLocks noChangeArrowheads="1"/>
              </p:cNvSpPr>
              <p:nvPr/>
            </p:nvSpPr>
            <p:spPr bwMode="auto">
              <a:xfrm>
                <a:off x="3424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5" name="Rectangle 35"/>
              <p:cNvSpPr>
                <a:spLocks noChangeArrowheads="1"/>
              </p:cNvSpPr>
              <p:nvPr/>
            </p:nvSpPr>
            <p:spPr bwMode="auto">
              <a:xfrm>
                <a:off x="3606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6" name="Rectangle 36"/>
              <p:cNvSpPr>
                <a:spLocks noChangeArrowheads="1"/>
              </p:cNvSpPr>
              <p:nvPr/>
            </p:nvSpPr>
            <p:spPr bwMode="auto">
              <a:xfrm>
                <a:off x="1972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7" name="Rectangle 37"/>
              <p:cNvSpPr>
                <a:spLocks noChangeArrowheads="1"/>
              </p:cNvSpPr>
              <p:nvPr/>
            </p:nvSpPr>
            <p:spPr bwMode="auto">
              <a:xfrm>
                <a:off x="2154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88198" name="Freeform 38"/>
            <p:cNvSpPr/>
            <p:nvPr/>
          </p:nvSpPr>
          <p:spPr bwMode="auto">
            <a:xfrm>
              <a:off x="612" y="1661"/>
              <a:ext cx="2087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93725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99" name="Freeform 39"/>
            <p:cNvSpPr/>
            <p:nvPr/>
          </p:nvSpPr>
          <p:spPr bwMode="auto">
            <a:xfrm flipH="1">
              <a:off x="4513" y="1661"/>
              <a:ext cx="680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shade val="96471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00" name="Group 40"/>
          <p:cNvGrpSpPr/>
          <p:nvPr/>
        </p:nvGrpSpPr>
        <p:grpSpPr>
          <a:xfrm>
            <a:off x="4283076" y="2493963"/>
            <a:ext cx="2881312" cy="431800"/>
            <a:chOff x="1972" y="1298"/>
            <a:chExt cx="1815" cy="272"/>
          </a:xfrm>
        </p:grpSpPr>
        <p:sp>
          <p:nvSpPr>
            <p:cNvPr id="988201" name="Rectangle 41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2" name="Rectangle 42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3" name="Rectangle 43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4" name="Rectangle 44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5" name="Rectangle 45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6" name="Rectangle 46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7" name="Rectangle 47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8" name="Rectangle 48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9" name="Rectangle 49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0" name="Rectangle 50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99" name="AutoShape 51"/>
          <p:cNvCxnSpPr>
            <a:stCxn id="988181" idx="0"/>
            <a:endCxn id="988177" idx="0"/>
          </p:cNvCxnSpPr>
          <p:nvPr/>
        </p:nvCxnSpPr>
        <p:spPr>
          <a:xfrm rot="16200000" flipH="1" flipV="1">
            <a:off x="5868988" y="476250"/>
            <a:ext cx="1587" cy="1152525"/>
          </a:xfrm>
          <a:prstGeom prst="bentConnector3">
            <a:avLst>
              <a:gd name="adj1" fmla="val -13500000"/>
            </a:avLst>
          </a:prstGeom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988213" name="Line 53"/>
          <p:cNvSpPr/>
          <p:nvPr/>
        </p:nvSpPr>
        <p:spPr>
          <a:xfrm flipH="1">
            <a:off x="6443663" y="2133600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8214" name="Line 54"/>
          <p:cNvSpPr/>
          <p:nvPr/>
        </p:nvSpPr>
        <p:spPr>
          <a:xfrm flipH="1" flipV="1">
            <a:off x="6443663" y="3716338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88215" name="Group 55"/>
          <p:cNvGrpSpPr/>
          <p:nvPr/>
        </p:nvGrpSpPr>
        <p:grpSpPr>
          <a:xfrm>
            <a:off x="4284663" y="4437063"/>
            <a:ext cx="2881312" cy="431800"/>
            <a:chOff x="1972" y="1298"/>
            <a:chExt cx="1815" cy="272"/>
          </a:xfrm>
        </p:grpSpPr>
        <p:sp>
          <p:nvSpPr>
            <p:cNvPr id="988216" name="Rectangle 5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7" name="Rectangle 5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8" name="Rectangle 5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9" name="Rectangle 5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0" name="Rectangle 6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1" name="Rectangle 6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2" name="Rectangle 6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3" name="Rectangle 6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4" name="Rectangle 6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5" name="Rectangle 6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26" name="Group 66"/>
          <p:cNvGrpSpPr/>
          <p:nvPr/>
        </p:nvGrpSpPr>
        <p:grpSpPr>
          <a:xfrm>
            <a:off x="5435600" y="5157788"/>
            <a:ext cx="2881313" cy="431800"/>
            <a:chOff x="1972" y="1298"/>
            <a:chExt cx="1815" cy="272"/>
          </a:xfrm>
        </p:grpSpPr>
        <p:sp>
          <p:nvSpPr>
            <p:cNvPr id="988227" name="Rectangle 67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8" name="Rectangle 68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9" name="Rectangle 69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0" name="Rectangle 70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1" name="Rectangle 71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2" name="Rectangle 72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3" name="Rectangle 73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4" name="Rectangle 74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5" name="Rectangle 75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6" name="Rectangle 76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88010" y="5746750"/>
            <a:ext cx="79679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数组中数据的含义为，如果当前位置失配，模式字符串需要回溯的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位置。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主串指针无需回溯。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8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98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98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98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8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0.12604 1.1111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8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1.11111E-6 L 0.0316 0.0002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61 0.000278 L 0.062017 -0.000648 " pathEditMode="relative" rAng="0" ptsTypes="">
                                      <p:cBhvr>
                                        <p:cTn id="51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8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75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88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88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3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0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988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1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88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9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2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</a:t>
            </a:r>
            <a:r>
              <a:rPr lang="en-US" altLang="zh-CN" dirty="0" smtClean="0"/>
              <a:t>next[j]</a:t>
            </a:r>
            <a:r>
              <a:rPr lang="zh-CN" altLang="en-US" dirty="0" smtClean="0"/>
              <a:t>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j=0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表示，根本不进行字符比较，下次从主串的下一个位置，模式字符串的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++0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开始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的值为：模式串的位置从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构成的串 中所出现的首尾相同的子串的最大长度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当无首尾相同的子串时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表示，当前失配位置的前面已匹配子串，无法和模式字符串的失配位置的前面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字串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重叠。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28650" y="3261995"/>
            <a:ext cx="7886700" cy="2915285"/>
          </a:xfrm>
        </p:spPr>
        <p:txBody>
          <a:bodyPr>
            <a:normAutofit fontScale="90000"/>
          </a:bodyPr>
          <a:p>
            <a:r>
              <a:rPr lang="zh-CN" altLang="en-US"/>
              <a:t>k = next[j]实质是找T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j-1</a:t>
            </a:r>
            <a:r>
              <a:rPr lang="zh-CN" altLang="en-US"/>
              <a:t>中中的最长相同的前缀 (T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k-1</a:t>
            </a:r>
            <a:r>
              <a:rPr lang="zh-CN" altLang="en-US"/>
              <a:t>)和后缀(T</a:t>
            </a:r>
            <a:r>
              <a:rPr lang="zh-CN" altLang="en-US" baseline="-25000"/>
              <a:t>j-</a:t>
            </a:r>
            <a:r>
              <a:rPr lang="en-US" altLang="zh-CN" baseline="-25000"/>
              <a:t>k</a:t>
            </a:r>
            <a:r>
              <a:rPr lang="zh-CN" altLang="en-US"/>
              <a:t>  T</a:t>
            </a:r>
            <a:r>
              <a:rPr lang="zh-CN" altLang="en-US" baseline="-25000"/>
              <a:t>j-(k-</a:t>
            </a:r>
            <a:r>
              <a:rPr lang="en-US" altLang="zh-CN" baseline="-25000"/>
              <a:t>1</a:t>
            </a:r>
            <a:r>
              <a:rPr lang="zh-CN" altLang="en-US" baseline="-25000"/>
              <a:t>)</a:t>
            </a:r>
            <a:r>
              <a:rPr lang="zh-CN" altLang="en-US"/>
              <a:t> …T</a:t>
            </a:r>
            <a:r>
              <a:rPr lang="zh-CN" altLang="en-US" baseline="-25000"/>
              <a:t>j-1</a:t>
            </a:r>
            <a:r>
              <a:rPr lang="zh-CN" altLang="en-US"/>
              <a:t>)。 模式中相似部分越多，则next[j]函数越大表示模式 T 字符之间的相关度越高，</a:t>
            </a:r>
            <a:endParaRPr lang="zh-CN" altLang="en-US"/>
          </a:p>
          <a:p>
            <a:r>
              <a:rPr lang="zh-CN" altLang="en-US">
                <a:sym typeface="+mn-ea"/>
              </a:rPr>
              <a:t>next[j]函数越小</a:t>
            </a:r>
            <a:r>
              <a:rPr lang="zh-CN" altLang="en-US"/>
              <a:t>模式串向右滑动得越远， 与主串进行比较的次数越少，时间复杂度就越低。</a:t>
            </a:r>
            <a:endParaRPr lang="zh-CN" altLang="en-US"/>
          </a:p>
          <a:p>
            <a:r>
              <a:rPr lang="zh-CN" altLang="en-US"/>
              <a:t>仍是一个模式匹配的过程,只是主串和模式串在同一个串T中。</a:t>
            </a:r>
            <a:endParaRPr lang="zh-CN" altLang="en-US"/>
          </a:p>
        </p:txBody>
      </p:sp>
      <p:sp>
        <p:nvSpPr>
          <p:cNvPr id="3" name="object 9"/>
          <p:cNvSpPr txBox="1"/>
          <p:nvPr/>
        </p:nvSpPr>
        <p:spPr>
          <a:xfrm>
            <a:off x="871048" y="2119439"/>
            <a:ext cx="134683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next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 j 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object 10"/>
          <p:cNvSpPr txBox="1"/>
          <p:nvPr/>
        </p:nvSpPr>
        <p:spPr>
          <a:xfrm>
            <a:off x="2507615" y="1720850"/>
            <a:ext cx="312420" cy="3067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</p:txBody>
      </p:sp>
      <p:sp>
        <p:nvSpPr>
          <p:cNvPr id="5" name="object 11"/>
          <p:cNvSpPr txBox="1"/>
          <p:nvPr/>
        </p:nvSpPr>
        <p:spPr>
          <a:xfrm>
            <a:off x="3269824" y="1720151"/>
            <a:ext cx="119824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000" spc="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bject 12"/>
          <p:cNvSpPr txBox="1"/>
          <p:nvPr/>
        </p:nvSpPr>
        <p:spPr>
          <a:xfrm>
            <a:off x="4803151" y="1720151"/>
            <a:ext cx="3552573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//</a:t>
            </a:r>
            <a:r>
              <a:rPr sz="2000" spc="5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不比较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2507824" y="2044465"/>
            <a:ext cx="5553305" cy="75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max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{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	|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&lt;k&lt;j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   </a:t>
            </a:r>
            <a:r>
              <a:rPr lang="zh-CN" altLang="en-US" sz="3200" spc="7" baseline="14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k-1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</a:t>
            </a:r>
            <a:r>
              <a:rPr lang="en-US" altLang="zh-CN" sz="3200" baseline="14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-k</a:t>
            </a:r>
            <a:r>
              <a:rPr lang="en-US" altLang="zh-CN" sz="1400" spc="19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j-1 </a:t>
            </a:r>
            <a:r>
              <a:rPr lang="en-US" altLang="zh-CN" sz="1400" spc="-2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}</a:t>
            </a:r>
            <a:endParaRPr lang="en-US" altLang="zh-CN" sz="4800" baseline="14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	</a:t>
            </a:r>
            <a:r>
              <a:rPr sz="2000" spc="1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其他情况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2246816" y="1825625"/>
            <a:ext cx="69850" cy="913765"/>
          </a:xfrm>
          <a:custGeom>
            <a:avLst/>
            <a:gdLst/>
            <a:ahLst/>
            <a:cxnLst/>
            <a:rect l="l" t="t" r="r" b="b"/>
            <a:pathLst>
              <a:path w="69850" h="913764">
                <a:moveTo>
                  <a:pt x="69802" y="0"/>
                </a:moveTo>
                <a:lnTo>
                  <a:pt x="39097" y="30921"/>
                </a:lnTo>
                <a:lnTo>
                  <a:pt x="31702" y="381000"/>
                </a:lnTo>
                <a:lnTo>
                  <a:pt x="30582" y="399146"/>
                </a:lnTo>
                <a:lnTo>
                  <a:pt x="16077" y="442188"/>
                </a:lnTo>
                <a:lnTo>
                  <a:pt x="0" y="456084"/>
                </a:lnTo>
                <a:lnTo>
                  <a:pt x="6622" y="458802"/>
                </a:lnTo>
                <a:lnTo>
                  <a:pt x="28960" y="504884"/>
                </a:lnTo>
                <a:lnTo>
                  <a:pt x="31702" y="838200"/>
                </a:lnTo>
                <a:lnTo>
                  <a:pt x="32779" y="856346"/>
                </a:lnTo>
                <a:lnTo>
                  <a:pt x="35850" y="872946"/>
                </a:lnTo>
                <a:lnTo>
                  <a:pt x="40670" y="887470"/>
                </a:lnTo>
                <a:lnTo>
                  <a:pt x="46999" y="899388"/>
                </a:lnTo>
                <a:lnTo>
                  <a:pt x="54594" y="908169"/>
                </a:lnTo>
                <a:lnTo>
                  <a:pt x="63212" y="9132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object 15"/>
          <p:cNvSpPr/>
          <p:nvPr/>
        </p:nvSpPr>
        <p:spPr>
          <a:xfrm>
            <a:off x="1009789" y="1360042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676656"/>
                </a:moveTo>
                <a:lnTo>
                  <a:pt x="0" y="676656"/>
                </a:lnTo>
                <a:lnTo>
                  <a:pt x="28193" y="733043"/>
                </a:lnTo>
                <a:lnTo>
                  <a:pt x="28193" y="691134"/>
                </a:lnTo>
                <a:lnTo>
                  <a:pt x="57150" y="691134"/>
                </a:lnTo>
                <a:lnTo>
                  <a:pt x="57150" y="733044"/>
                </a:lnTo>
                <a:lnTo>
                  <a:pt x="85343" y="676656"/>
                </a:lnTo>
                <a:close/>
              </a:path>
              <a:path w="85725" h="762000">
                <a:moveTo>
                  <a:pt x="57150" y="676656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676656"/>
                </a:lnTo>
                <a:lnTo>
                  <a:pt x="57150" y="676656"/>
                </a:lnTo>
                <a:close/>
              </a:path>
              <a:path w="85725" h="762000">
                <a:moveTo>
                  <a:pt x="57150" y="733044"/>
                </a:moveTo>
                <a:lnTo>
                  <a:pt x="57150" y="691134"/>
                </a:lnTo>
                <a:lnTo>
                  <a:pt x="28193" y="691134"/>
                </a:lnTo>
                <a:lnTo>
                  <a:pt x="28193" y="733043"/>
                </a:lnTo>
                <a:lnTo>
                  <a:pt x="42672" y="762000"/>
                </a:lnTo>
                <a:lnTo>
                  <a:pt x="57150" y="733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0759" y="836822"/>
            <a:ext cx="30651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1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k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next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[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]</a:t>
            </a:r>
            <a:r>
              <a:rPr lang="zh-CN" altLang="en-US" sz="2400" spc="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37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07010"/>
            <a:ext cx="5093335" cy="105092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的含义：避免回溯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74470"/>
            <a:ext cx="7886700" cy="4404360"/>
          </a:xfrm>
        </p:spPr>
        <p:txBody>
          <a:bodyPr vert="horz" wrap="none" lIns="144000" tIns="72000" rIns="0" bIns="72000" numCol="1" anchor="t" anchorCtr="0" compatLnSpc="1"/>
          <a:lstStyle/>
          <a:p>
            <a:pPr algn="l" eaLnBrk="1" fontAlgn="base" hangingPunct="1"/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对任意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j</a:t>
            </a:r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，考察集合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N(P, j) = </a:t>
            </a:r>
            <a:r>
              <a:rPr lang="en-US" altLang="zh-CN" sz="2000" strike="noStrike" noProof="1" dirty="0">
                <a:effectLst/>
              </a:rPr>
              <a:t>{ 0 </a:t>
            </a:r>
            <a:r>
              <a:rPr lang="zh-CN" altLang="en-US" sz="2000" strike="noStrike" noProof="1" dirty="0"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t 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j-1 |</a:t>
            </a:r>
            <a:br>
              <a:rPr lang="en-US" altLang="zh-CN" sz="2000" dirty="0">
                <a:effectLst/>
              </a:rPr>
            </a:br>
            <a:r>
              <a:rPr lang="en-US" altLang="zh-CN" sz="2000" strike="noStrike" noProof="1" dirty="0">
                <a:effectLst/>
              </a:rPr>
              <a:t>   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prefix</a:t>
            </a:r>
            <a:r>
              <a:rPr lang="en-US" altLang="zh-CN" sz="2000" strike="noStrike" noProof="1" dirty="0">
                <a:effectLst/>
              </a:rPr>
              <a:t>(prefix(P, j), t) =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suffix</a:t>
            </a:r>
            <a:r>
              <a:rPr lang="en-US" altLang="zh-CN" sz="2000" strike="noStrike" noProof="1" dirty="0">
                <a:effectLst/>
              </a:rPr>
              <a:t>(prefix(P, j), t) }</a:t>
            </a:r>
            <a:br>
              <a:rPr lang="en-US" altLang="zh-CN" sz="2000" dirty="0">
                <a:effectLst/>
              </a:rPr>
            </a:b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亦即，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t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为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prefix(P, j)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中，所有匹配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真前缀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和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真后缀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的长度</a:t>
            </a:r>
            <a:endParaRPr lang="zh-CN" altLang="en-US" sz="2000" strike="noStrike" noProof="1" dirty="0"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algn="l" eaLnBrk="1" fontAlgn="base" hangingPunct="1"/>
            <a:r>
              <a:rPr lang="en-US" altLang="zh-CN" sz="2000" strike="noStrike" noProof="1" dirty="0">
                <a:effectLst/>
              </a:rPr>
              <a:t>P</a:t>
            </a:r>
            <a:r>
              <a:rPr lang="zh-CN" altLang="en-US" sz="2000" strike="noStrike" noProof="1" dirty="0">
                <a:effectLst/>
              </a:rPr>
              <a:t>右移之后，若与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在此局部仍然匹配，则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必来自</a:t>
            </a:r>
            <a:r>
              <a:rPr lang="en-US" altLang="zh-CN" sz="2000" strike="noStrike" noProof="1" dirty="0">
                <a:effectLst/>
              </a:rPr>
              <a:t>N(P, j)</a:t>
            </a:r>
            <a:r>
              <a:rPr lang="en-US" altLang="zh-CN" sz="2000" strike="noStrike" noProof="1" dirty="0">
                <a:effectLst/>
                <a:latin typeface="微软雅黑" panose="020B0503020204020204" pitchFamily="34" charset="-122"/>
              </a:rPr>
              <a:t>——</a:t>
            </a:r>
            <a:r>
              <a:rPr lang="zh-CN" altLang="en-US" sz="2000" strike="noStrike" noProof="1" dirty="0">
                <a:effectLst/>
              </a:rPr>
              <a:t>因此</a:t>
            </a:r>
            <a:r>
              <a:rPr lang="en-US" altLang="zh-CN" sz="2000" strike="noStrike" noProof="1" dirty="0">
                <a:effectLst/>
              </a:rPr>
              <a:t>...</a:t>
            </a:r>
            <a:endParaRPr lang="en-US" altLang="zh-CN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若</a:t>
            </a:r>
            <a:r>
              <a:rPr lang="en-US" altLang="zh-CN" sz="2000" strike="noStrike" noProof="1" dirty="0">
                <a:effectLst/>
              </a:rPr>
              <a:t>T[i] </a:t>
            </a:r>
            <a:r>
              <a:rPr lang="en-US" altLang="zh-CN" sz="2000" strike="noStrike" noProof="1" dirty="0">
                <a:effectLst/>
                <a:cs typeface="Arial" panose="020B0604020202020204" pitchFamily="34" charset="0"/>
              </a:rPr>
              <a:t>≠ </a:t>
            </a:r>
            <a:r>
              <a:rPr lang="en-US" altLang="zh-CN" sz="2000" strike="noStrike" noProof="1" dirty="0">
                <a:effectLst/>
              </a:rPr>
              <a:t>P[j]</a:t>
            </a:r>
            <a:r>
              <a:rPr lang="zh-CN" altLang="en-US" sz="2000" strike="noStrike" noProof="1" dirty="0">
                <a:effectLst/>
              </a:rPr>
              <a:t>，可取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某个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，将</a:t>
            </a:r>
            <a:r>
              <a:rPr lang="en-US" altLang="zh-CN" sz="2000" strike="noStrike" noProof="1" dirty="0">
                <a:effectLst/>
              </a:rPr>
              <a:t>P[t]</a:t>
            </a:r>
            <a:r>
              <a:rPr lang="zh-CN" altLang="en-US" sz="2000" strike="noStrike" noProof="1" dirty="0">
                <a:effectLst/>
              </a:rPr>
              <a:t>对准</a:t>
            </a:r>
            <a:r>
              <a:rPr lang="en-US" altLang="zh-CN" sz="2000" strike="noStrike" noProof="1" dirty="0">
                <a:effectLst/>
              </a:rPr>
              <a:t>T[i]</a:t>
            </a:r>
            <a:r>
              <a:rPr lang="zh-CN" altLang="en-US" sz="2000" strike="noStrike" noProof="1" dirty="0">
                <a:effectLst/>
              </a:rPr>
              <a:t>，继续比对后续字符</a:t>
            </a:r>
            <a:endParaRPr lang="zh-CN" altLang="en-US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观察：位移量 </a:t>
            </a:r>
            <a:r>
              <a:rPr lang="en-US" altLang="zh-CN" sz="2000" strike="noStrike" noProof="1" dirty="0">
                <a:effectLst/>
              </a:rPr>
              <a:t>= j - t</a:t>
            </a:r>
            <a:r>
              <a:rPr lang="zh-CN" altLang="en-US" sz="2000" strike="noStrike" noProof="1" dirty="0">
                <a:effectLst/>
              </a:rPr>
              <a:t>，与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成反比 </a:t>
            </a:r>
            <a:endParaRPr lang="zh-CN" altLang="en-US" sz="2000" strike="noStrike" noProof="1" dirty="0">
              <a:effectLst/>
            </a:endParaRPr>
          </a:p>
        </p:txBody>
      </p:sp>
      <p:sp>
        <p:nvSpPr>
          <p:cNvPr id="17411" name="Line 117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412" name="Line 118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54487" name="Freeform 119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8" name="Freeform 120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9" name="Rectangle 121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0" name="Rectangle 122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1" name="Rectangle 123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2" name="Rectangle 124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3" name="Rectangle 125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4" name="Rectangle 126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5" name="Rectangle 127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6" name="Line 128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54497" name="Rectangle 129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8" name="Rectangle 130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9" name="Rectangle 131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0" name="Rectangle 132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1" name="AutoShape 133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2" name="AutoShape 134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3" name="AutoShape 135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54488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54487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5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4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3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5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5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4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54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54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5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54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4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4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544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5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5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54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1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54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2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54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3"/>
                  </p:tgtEl>
                </p:cond>
              </p:nextCondLst>
            </p:seq>
          </p:childTnLst>
        </p:cTn>
      </p:par>
    </p:tnLst>
    <p:bldLst>
      <p:bldP spid="954497" grpId="0"/>
      <p:bldP spid="954498" grpId="0"/>
      <p:bldP spid="954499" grpId="0"/>
      <p:bldP spid="954500" grpId="0"/>
      <p:bldP spid="954501" grpId="0" bldLvl="0" animBg="1"/>
      <p:bldP spid="954502" grpId="0" bldLvl="0" animBg="1"/>
      <p:bldP spid="954502" grpId="1" bldLvl="0" animBg="1"/>
      <p:bldP spid="954502" grpId="2" bldLvl="0" animBg="1"/>
      <p:bldP spid="954503" grpId="0" bldLvl="0" animBg="1"/>
      <p:bldP spid="954503" grpId="1" bldLvl="0" animBg="1"/>
      <p:bldP spid="954503" grpId="2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1236" name="AutoShape 4"/>
          <p:cNvSpPr>
            <a:spLocks noGrp="1" noChangeArrowheads="1"/>
          </p:cNvSpPr>
          <p:nvPr>
            <p:ph type="title"/>
          </p:nvPr>
        </p:nvSpPr>
        <p:spPr>
          <a:xfrm>
            <a:off x="847725" y="247015"/>
            <a:ext cx="5795010" cy="101092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的含义：不致遗漏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1237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|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N(P, j)| &gt; 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时，难道需要遍历其中的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每一个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？不必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max(N(P, j))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真前缀、真后缀的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匹配长度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则既可避免回溯，也不致遗漏匹配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（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安全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）的位移量</a:t>
            </a: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Line 68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9460" name="Line 69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1302" name="Freeform 70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3" name="Freeform 71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4" name="Rectangle 72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5" name="Rectangle 73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6" name="Rectangle 74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7" name="Rectangle 75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8" name="Rectangle 76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9" name="Rectangle 77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0" name="Rectangle 78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1" name="Line 79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91312" name="Rectangle 80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3" name="Rectangle 81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4" name="Rectangle 82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5" name="Rectangle 83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6" name="AutoShape 84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7" name="AutoShape 85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8" name="AutoShape 86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9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9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91303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3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9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91302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9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9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0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9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9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1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1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9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91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91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1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13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91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91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91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91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91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8"/>
                  </p:tgtEl>
                </p:cond>
              </p:nextCondLst>
            </p:seq>
          </p:childTnLst>
        </p:cTn>
      </p:par>
    </p:tnLst>
    <p:bldLst>
      <p:bldP spid="991312" grpId="0"/>
      <p:bldP spid="991313" grpId="0"/>
      <p:bldP spid="991314" grpId="0"/>
      <p:bldP spid="991315" grpId="0"/>
      <p:bldP spid="991316" grpId="0" bldLvl="0" animBg="1"/>
      <p:bldP spid="991317" grpId="0" bldLvl="0" animBg="1"/>
      <p:bldP spid="991317" grpId="1" bldLvl="0" animBg="1"/>
      <p:bldP spid="991317" grpId="2" bldLvl="0" animBg="1"/>
      <p:bldP spid="991318" grpId="0" bldLvl="0" animBg="1"/>
      <p:bldP spid="991318" grpId="1" bldLvl="0" animBg="1"/>
      <p:bldP spid="991318" grpId="2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562" name="Line 186"/>
          <p:cNvSpPr/>
          <p:nvPr/>
        </p:nvSpPr>
        <p:spPr>
          <a:xfrm flipH="1">
            <a:off x="572452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533" name="Line 157"/>
          <p:cNvSpPr/>
          <p:nvPr/>
        </p:nvSpPr>
        <p:spPr>
          <a:xfrm flipH="1">
            <a:off x="169227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27025"/>
            <a:ext cx="5163820" cy="93091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7560" name="Rectangle 18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根据已知的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next[0, j]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，如何高效地计算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t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则：在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prefix(P, j)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中，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自匹配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前缀和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后缀的长度为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故：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t + 1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——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特别地，当且仅当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=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时取等号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一般地，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时，又该如何得到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97534" name="Rectangle 158"/>
          <p:cNvSpPr/>
          <p:nvPr/>
        </p:nvSpPr>
        <p:spPr>
          <a:xfrm>
            <a:off x="755650" y="558800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6" name="Rectangle 160"/>
          <p:cNvSpPr/>
          <p:nvPr/>
        </p:nvSpPr>
        <p:spPr>
          <a:xfrm>
            <a:off x="6013450" y="5588000"/>
            <a:ext cx="13684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7" name="Rectangle 161"/>
          <p:cNvSpPr/>
          <p:nvPr/>
        </p:nvSpPr>
        <p:spPr>
          <a:xfrm>
            <a:off x="1692275" y="5588000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8" name="Rectangle 162"/>
          <p:cNvSpPr/>
          <p:nvPr/>
        </p:nvSpPr>
        <p:spPr>
          <a:xfrm>
            <a:off x="1692275" y="450691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0" name="Rectangle 164"/>
          <p:cNvSpPr/>
          <p:nvPr/>
        </p:nvSpPr>
        <p:spPr>
          <a:xfrm>
            <a:off x="6013450" y="4506913"/>
            <a:ext cx="2303463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1" name="Rectangle 165"/>
          <p:cNvSpPr/>
          <p:nvPr/>
        </p:nvSpPr>
        <p:spPr>
          <a:xfrm>
            <a:off x="5724525" y="53006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2" name="Rectangle 166"/>
          <p:cNvSpPr/>
          <p:nvPr/>
        </p:nvSpPr>
        <p:spPr>
          <a:xfrm>
            <a:off x="572452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3" name="Rectangle 167"/>
          <p:cNvSpPr/>
          <p:nvPr/>
        </p:nvSpPr>
        <p:spPr>
          <a:xfrm>
            <a:off x="1692275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4" name="Rectangle 168"/>
          <p:cNvSpPr/>
          <p:nvPr/>
        </p:nvSpPr>
        <p:spPr>
          <a:xfrm>
            <a:off x="1692275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1" name="Rectangle 175"/>
          <p:cNvSpPr/>
          <p:nvPr/>
        </p:nvSpPr>
        <p:spPr>
          <a:xfrm>
            <a:off x="5437188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2" name="Rectangle 176"/>
          <p:cNvSpPr/>
          <p:nvPr/>
        </p:nvSpPr>
        <p:spPr>
          <a:xfrm>
            <a:off x="5437188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5" name="Rectangle 179"/>
          <p:cNvSpPr/>
          <p:nvPr/>
        </p:nvSpPr>
        <p:spPr>
          <a:xfrm>
            <a:off x="169227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57" name="Rectangle 181"/>
          <p:cNvSpPr/>
          <p:nvPr/>
        </p:nvSpPr>
        <p:spPr>
          <a:xfrm>
            <a:off x="5437188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1" name="Rectangle 185"/>
          <p:cNvSpPr/>
          <p:nvPr/>
        </p:nvSpPr>
        <p:spPr>
          <a:xfrm>
            <a:off x="1692275" y="5300980"/>
            <a:ext cx="391160" cy="28702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4" name="Rectangle 188"/>
          <p:cNvSpPr/>
          <p:nvPr/>
        </p:nvSpPr>
        <p:spPr>
          <a:xfrm>
            <a:off x="2268538" y="42211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5" name="Rectangle 189"/>
          <p:cNvSpPr/>
          <p:nvPr/>
        </p:nvSpPr>
        <p:spPr>
          <a:xfrm>
            <a:off x="2268538" y="53006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7" name="Rectangle 191"/>
          <p:cNvSpPr/>
          <p:nvPr/>
        </p:nvSpPr>
        <p:spPr>
          <a:xfrm>
            <a:off x="5437188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70" name="AutoShape 194"/>
          <p:cNvSpPr>
            <a:spLocks noChangeArrowheads="1"/>
          </p:cNvSpPr>
          <p:nvPr/>
        </p:nvSpPr>
        <p:spPr bwMode="auto">
          <a:xfrm>
            <a:off x="5724525" y="55895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1" name="AutoShape 195"/>
          <p:cNvSpPr>
            <a:spLocks noChangeArrowheads="1"/>
          </p:cNvSpPr>
          <p:nvPr/>
        </p:nvSpPr>
        <p:spPr bwMode="auto">
          <a:xfrm>
            <a:off x="5724525" y="45085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2" name="Rectangle 196"/>
          <p:cNvSpPr/>
          <p:nvPr/>
        </p:nvSpPr>
        <p:spPr>
          <a:xfrm>
            <a:off x="6011863" y="5589588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73" name="Rectangle 197"/>
          <p:cNvSpPr/>
          <p:nvPr/>
        </p:nvSpPr>
        <p:spPr>
          <a:xfrm>
            <a:off x="6011863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7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97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97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97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97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8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97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997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97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97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97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97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97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7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7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7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7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97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97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97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97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97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97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9975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997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7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97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97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97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97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1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97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2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97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97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3"/>
                  </p:tgtEl>
                </p:cond>
              </p:nextCondLst>
            </p:seq>
          </p:childTnLst>
        </p:cTn>
      </p:par>
    </p:tnLst>
    <p:bldLst>
      <p:bldP spid="997541" grpId="0"/>
      <p:bldP spid="997542" grpId="0"/>
      <p:bldP spid="997555" grpId="0"/>
      <p:bldP spid="997557" grpId="0"/>
      <p:bldP spid="997561" grpId="0"/>
      <p:bldP spid="997564" grpId="0"/>
      <p:bldP spid="997565" grpId="0"/>
      <p:bldP spid="997567" grpId="0"/>
      <p:bldP spid="997571" grpId="0" bldLvl="0" animBg="1"/>
      <p:bldP spid="997571" grpId="1" bldLvl="0" animBg="1"/>
      <p:bldP spid="9975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893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20980"/>
            <a:ext cx="4963160" cy="103695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>
          <a:xfrm>
            <a:off x="337820" y="1407583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，则根据定义，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next[j+1]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的下一候选者应该是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next[j]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 next[j] 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因此，只需反复考察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 = next[t]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//t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严格递减，为保证收敛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幸亏，已经统一约定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1148932" name="Line 4"/>
          <p:cNvSpPr/>
          <p:nvPr/>
        </p:nvSpPr>
        <p:spPr>
          <a:xfrm flipH="1">
            <a:off x="2627313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3" name="Line 5"/>
          <p:cNvSpPr/>
          <p:nvPr/>
        </p:nvSpPr>
        <p:spPr>
          <a:xfrm flipH="1">
            <a:off x="5435600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4" name="Line 6"/>
          <p:cNvSpPr/>
          <p:nvPr/>
        </p:nvSpPr>
        <p:spPr>
          <a:xfrm flipH="1">
            <a:off x="1403350" y="5300663"/>
            <a:ext cx="0" cy="433387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5" name="Rectangle 7"/>
          <p:cNvSpPr/>
          <p:nvPr/>
        </p:nvSpPr>
        <p:spPr>
          <a:xfrm>
            <a:off x="466725" y="573405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6" name="Rectangle 8"/>
          <p:cNvSpPr/>
          <p:nvPr/>
        </p:nvSpPr>
        <p:spPr>
          <a:xfrm>
            <a:off x="5724525" y="5732463"/>
            <a:ext cx="1079500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7" name="Rectangle 9"/>
          <p:cNvSpPr/>
          <p:nvPr/>
        </p:nvSpPr>
        <p:spPr>
          <a:xfrm>
            <a:off x="1403350" y="573246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8" name="Rectangle 10"/>
          <p:cNvSpPr/>
          <p:nvPr/>
        </p:nvSpPr>
        <p:spPr>
          <a:xfrm>
            <a:off x="1403350" y="4937125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9" name="Rectangle 11"/>
          <p:cNvSpPr/>
          <p:nvPr/>
        </p:nvSpPr>
        <p:spPr>
          <a:xfrm>
            <a:off x="5724525" y="4937125"/>
            <a:ext cx="20161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0" name="Rectangle 12"/>
          <p:cNvSpPr/>
          <p:nvPr/>
        </p:nvSpPr>
        <p:spPr>
          <a:xfrm>
            <a:off x="543560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1" name="Rectangle 13"/>
          <p:cNvSpPr/>
          <p:nvPr/>
        </p:nvSpPr>
        <p:spPr>
          <a:xfrm>
            <a:off x="5435600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2" name="Rectangle 14"/>
          <p:cNvSpPr/>
          <p:nvPr/>
        </p:nvSpPr>
        <p:spPr>
          <a:xfrm>
            <a:off x="1403350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3" name="Rectangle 15"/>
          <p:cNvSpPr/>
          <p:nvPr/>
        </p:nvSpPr>
        <p:spPr>
          <a:xfrm>
            <a:off x="1403350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4" name="Rectangle 16"/>
          <p:cNvSpPr/>
          <p:nvPr/>
        </p:nvSpPr>
        <p:spPr>
          <a:xfrm>
            <a:off x="1690688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5" name="Rectangle 17"/>
          <p:cNvSpPr/>
          <p:nvPr/>
        </p:nvSpPr>
        <p:spPr>
          <a:xfrm>
            <a:off x="1690688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6" name="Rectangle 18"/>
          <p:cNvSpPr/>
          <p:nvPr/>
        </p:nvSpPr>
        <p:spPr>
          <a:xfrm>
            <a:off x="5148263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7" name="Rectangle 19"/>
          <p:cNvSpPr/>
          <p:nvPr/>
        </p:nvSpPr>
        <p:spPr>
          <a:xfrm>
            <a:off x="5148263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8" name="Rectangle 20"/>
          <p:cNvSpPr/>
          <p:nvPr/>
        </p:nvSpPr>
        <p:spPr>
          <a:xfrm>
            <a:off x="1403350" y="46513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9" name="Rectangle 21"/>
          <p:cNvSpPr/>
          <p:nvPr/>
        </p:nvSpPr>
        <p:spPr>
          <a:xfrm>
            <a:off x="1690688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0" name="Rectangle 22"/>
          <p:cNvSpPr/>
          <p:nvPr/>
        </p:nvSpPr>
        <p:spPr>
          <a:xfrm>
            <a:off x="5148263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1" name="Rectangle 23"/>
          <p:cNvSpPr/>
          <p:nvPr/>
        </p:nvSpPr>
        <p:spPr>
          <a:xfrm>
            <a:off x="140335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2" name="Rectangle 24"/>
          <p:cNvSpPr/>
          <p:nvPr/>
        </p:nvSpPr>
        <p:spPr>
          <a:xfrm>
            <a:off x="1979613" y="465137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3" name="Rectangle 25"/>
          <p:cNvSpPr/>
          <p:nvPr/>
        </p:nvSpPr>
        <p:spPr>
          <a:xfrm>
            <a:off x="1979613" y="544512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4" name="Rectangle 26"/>
          <p:cNvSpPr/>
          <p:nvPr/>
        </p:nvSpPr>
        <p:spPr>
          <a:xfrm>
            <a:off x="169068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5" name="Rectangle 27"/>
          <p:cNvSpPr/>
          <p:nvPr/>
        </p:nvSpPr>
        <p:spPr>
          <a:xfrm>
            <a:off x="5148263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6" name="Rectangle 28"/>
          <p:cNvSpPr/>
          <p:nvPr/>
        </p:nvSpPr>
        <p:spPr>
          <a:xfrm>
            <a:off x="2627313" y="4148138"/>
            <a:ext cx="28067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s)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7" name="Rectangle 29"/>
          <p:cNvSpPr/>
          <p:nvPr/>
        </p:nvSpPr>
        <p:spPr>
          <a:xfrm>
            <a:off x="5724525" y="4148138"/>
            <a:ext cx="28797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8" name="Rectangle 30"/>
          <p:cNvSpPr/>
          <p:nvPr/>
        </p:nvSpPr>
        <p:spPr>
          <a:xfrm>
            <a:off x="5167313" y="3859213"/>
            <a:ext cx="850900" cy="31750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>
            <a:spAutoFit/>
          </a:bodyPr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next[t]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9" name="Rectangle 31"/>
          <p:cNvSpPr/>
          <p:nvPr/>
        </p:nvSpPr>
        <p:spPr>
          <a:xfrm>
            <a:off x="2627313" y="386080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0" name="Rectangle 32"/>
          <p:cNvSpPr/>
          <p:nvPr/>
        </p:nvSpPr>
        <p:spPr>
          <a:xfrm>
            <a:off x="2627313" y="3862388"/>
            <a:ext cx="2808287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1" name="Rectangle 33"/>
          <p:cNvSpPr/>
          <p:nvPr/>
        </p:nvSpPr>
        <p:spPr>
          <a:xfrm>
            <a:off x="5722938" y="573405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62" name="Rectangle 34"/>
          <p:cNvSpPr/>
          <p:nvPr/>
        </p:nvSpPr>
        <p:spPr>
          <a:xfrm>
            <a:off x="572293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3" name="AutoShape 35"/>
          <p:cNvSpPr>
            <a:spLocks noChangeArrowheads="1"/>
          </p:cNvSpPr>
          <p:nvPr/>
        </p:nvSpPr>
        <p:spPr bwMode="auto">
          <a:xfrm>
            <a:off x="5435600" y="49403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4" name="AutoShape 36"/>
          <p:cNvSpPr>
            <a:spLocks noChangeArrowheads="1"/>
          </p:cNvSpPr>
          <p:nvPr/>
        </p:nvSpPr>
        <p:spPr bwMode="auto">
          <a:xfrm>
            <a:off x="5435600" y="57340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5" name="AutoShape 37"/>
          <p:cNvSpPr>
            <a:spLocks noChangeArrowheads="1"/>
          </p:cNvSpPr>
          <p:nvPr/>
        </p:nvSpPr>
        <p:spPr bwMode="auto">
          <a:xfrm>
            <a:off x="5435600" y="414813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</p:childTnLst>
        </p:cTn>
      </p:par>
    </p:tnLst>
    <p:bldLst>
      <p:bldP spid="1148940" grpId="0"/>
      <p:bldP spid="1148941" grpId="0"/>
      <p:bldP spid="1148948" grpId="0"/>
      <p:bldP spid="1148949" grpId="0"/>
      <p:bldP spid="1148950" grpId="0"/>
      <p:bldP spid="1148951" grpId="0"/>
      <p:bldP spid="1148952" grpId="0"/>
      <p:bldP spid="1148953" grpId="0"/>
      <p:bldP spid="1148954" grpId="0"/>
      <p:bldP spid="1148955" grpId="0"/>
      <p:bldP spid="1148958" grpId="0"/>
      <p:bldP spid="1148959" grpId="0"/>
      <p:bldP spid="1148960" grpId="0"/>
      <p:bldP spid="1148962" grpId="0"/>
      <p:bldP spid="1148963" grpId="0" bldLvl="0" animBg="1"/>
      <p:bldP spid="1148964" grpId="0" bldLvl="0" animBg="1"/>
      <p:bldP spid="1148964" grpId="1" bldLvl="0" animBg="1"/>
      <p:bldP spid="1148964" grpId="2" bldLvl="0" animBg="1"/>
      <p:bldP spid="1148965" grpId="0" bldLvl="0" animBg="1"/>
      <p:bldP spid="1148965" grpId="1" bldLvl="0" animBg="1"/>
      <p:bldP spid="1148965" grpId="2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的实现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8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n = (int) strlen(t)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 Next=new int [n]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||T[j]==T[k]){ </a:t>
            </a:r>
            <a:endParaRPr lang="en-US" sz="1800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</a:t>
            </a:r>
            <a:r>
              <a:rPr lang="zh-CN" alt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9"/>
          <p:cNvSpPr txBox="1"/>
          <p:nvPr/>
        </p:nvSpPr>
        <p:spPr>
          <a:xfrm>
            <a:off x="1647606" y="724305"/>
            <a:ext cx="277812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next[j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的方法：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0"/>
          <p:cNvSpPr txBox="1"/>
          <p:nvPr/>
        </p:nvSpPr>
        <p:spPr>
          <a:xfrm>
            <a:off x="862965" y="1127125"/>
            <a:ext cx="3331210" cy="1349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marR="5080" indent="304165" algn="r">
              <a:lnSpc>
                <a:spcPct val="123000"/>
              </a:lnSpc>
            </a:pP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</a:t>
            </a:r>
            <a:r>
              <a:rPr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endParaRPr sz="2400" spc="-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74065" marR="5080" indent="304165" algn="r">
              <a:lnSpc>
                <a:spcPct val="123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可能失配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sz="2400" spc="-60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r">
              <a:lnSpc>
                <a:spcPct val="100000"/>
              </a:lnSpc>
              <a:spcBef>
                <a:spcPts val="565"/>
              </a:spcBef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新匹配位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k=next[j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4374515" y="1174115"/>
            <a:ext cx="4364355" cy="885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a    b    a    a    b    c    a    c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0  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1    2    3    4    5    6    7  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  <p:sp>
        <p:nvSpPr>
          <p:cNvPr id="9" name="object 12"/>
          <p:cNvSpPr/>
          <p:nvPr/>
        </p:nvSpPr>
        <p:spPr>
          <a:xfrm>
            <a:off x="1276264" y="25582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3"/>
          <p:cNvSpPr txBox="1"/>
          <p:nvPr/>
        </p:nvSpPr>
        <p:spPr>
          <a:xfrm>
            <a:off x="4370070" y="2117725"/>
            <a:ext cx="399478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lvl="0" algn="l">
              <a:lnSpc>
                <a:spcPct val="120000"/>
              </a:lnSpc>
              <a:buClrTx/>
              <a:buSzTx/>
              <a:buFontTx/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-1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2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  <a:sym typeface="+mn-ea"/>
            </a:endParaRPr>
          </a:p>
        </p:txBody>
      </p:sp>
      <p:sp>
        <p:nvSpPr>
          <p:cNvPr id="11" name="object 14"/>
          <p:cNvSpPr txBox="1"/>
          <p:nvPr/>
        </p:nvSpPr>
        <p:spPr>
          <a:xfrm>
            <a:off x="1369060" y="2897505"/>
            <a:ext cx="7091680" cy="339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 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next[2]=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lang="en-US"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next[3]=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k=next[k]=</a:t>
            </a:r>
            <a:r>
              <a:rPr lang="en-US" sz="2400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5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ts val="2840"/>
              </a:lnSpc>
              <a:spcBef>
                <a:spcPts val="2600"/>
              </a:spcBef>
            </a:pP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以此类推。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bject 15"/>
          <p:cNvSpPr/>
          <p:nvPr/>
        </p:nvSpPr>
        <p:spPr>
          <a:xfrm>
            <a:off x="1276264" y="20629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实现步骤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.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和串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中分别设比较的起始下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循环直到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中所剩字符长度小于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的长度或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 符均比较完毕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355600" marR="12065" indent="0">
              <a:lnSpc>
                <a:spcPts val="3890"/>
              </a:lnSpc>
              <a:spcBef>
                <a:spcPts val="145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S[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]=T[j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，继续比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较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的下一个字符；否则 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向右滑动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位置，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55600" indent="0">
              <a:lnSpc>
                <a:spcPct val="100000"/>
              </a:lnSpc>
              <a:spcBef>
                <a:spcPts val="710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分别加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，准备下一趟比较；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4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如果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中所有字符均比较完毕，则返回匹配的起始</a:t>
            </a:r>
            <a:r>
              <a:rPr lang="zh-CN" altLang="en-US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下标；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否则返回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；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算法实现</a:t>
            </a:r>
            <a:endParaRPr lang="zh-CN" altLang="en-US" dirty="0"/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717550" y="1354455"/>
            <a:ext cx="7886700" cy="4118610"/>
          </a:xfrm>
        </p:spPr>
        <p:txBody>
          <a:bodyPr vert="horz" wrap="none" lIns="144000" tIns="72000" rIns="0" bIns="72000" numCol="1" anchor="t" anchorCtr="0" compatLnSpc="1">
            <a:noAutofit/>
          </a:bodyPr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已移出最左侧即没有一个字符匹配）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AutoShape 2"/>
          <p:cNvSpPr>
            <a:spLocks noGrp="1" noChangeArrowheads="1"/>
          </p:cNvSpPr>
          <p:nvPr>
            <p:ph type="title"/>
          </p:nvPr>
        </p:nvSpPr>
        <p:spPr>
          <a:xfrm>
            <a:off x="784225" y="297815"/>
            <a:ext cx="3690620" cy="91884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en-US" altLang="zh-CN" dirty="0" smtClean="0">
                <a:sym typeface="+mn-ea"/>
              </a:rPr>
              <a:t>KMP复杂度</a:t>
            </a:r>
            <a:r>
              <a:rPr lang="zh-CN" altLang="en-US" dirty="0" smtClean="0">
                <a:sym typeface="+mn-ea"/>
              </a:rPr>
              <a:t>分析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0186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分摊分析：考察整个匹配过程，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循环累计执行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2i - 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在算法过程中的变化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初始时，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0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每经过一次循环，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至少增加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不变，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至少减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也至少加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算法结束时，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2i - j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2(n-1) - (-1)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2n-1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同理，建立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next[]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也只需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O(m)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O(n+m)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995" y="4655185"/>
            <a:ext cx="8355330" cy="175323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(j &lt;= m &amp;&amp; i &lt; =n)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自左向右逐个比对字符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== j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|| T[i] == P[j])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若匹配（或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已移出最左侧即没有一个字符匹配）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i ++;  j ++;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则转到下一字符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否则，模式串右移（主串不用回退，即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的值不会减少）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 = next[j];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算法复杂度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的时间复杂度为</a:t>
            </a:r>
            <a:r>
              <a:rPr lang="en-US" altLang="zh-CN" dirty="0" smtClean="0"/>
              <a:t>O(m)</a:t>
            </a:r>
            <a:endParaRPr lang="en-US" altLang="zh-CN" dirty="0" smtClean="0"/>
          </a:p>
          <a:p>
            <a:r>
              <a:rPr lang="zh-CN" altLang="en-US" dirty="0" smtClean="0"/>
              <a:t>匹配字符串的复杂度为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总体时间复杂度为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m+n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BM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R. S.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oyer + J. S.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oore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fast string searching algorithm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1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Comm. of ACM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20:762-772, 1977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预处理：	根据模式串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，预先构造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迭代：	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依次比对字符，找到极大的匹配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若完全匹配，则返回位置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否则，根据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，适当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，并重新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1300" name="Rectangle 4"/>
          <p:cNvSpPr>
            <a:spLocks noChangeArrowheads="1"/>
          </p:cNvSpPr>
          <p:nvPr/>
        </p:nvSpPr>
        <p:spPr bwMode="auto">
          <a:xfrm>
            <a:off x="1871663" y="5683965"/>
            <a:ext cx="5400675" cy="215504"/>
          </a:xfrm>
          <a:prstGeom prst="rect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string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1" name="Rectangle 5"/>
          <p:cNvSpPr>
            <a:spLocks noChangeArrowheads="1"/>
          </p:cNvSpPr>
          <p:nvPr/>
        </p:nvSpPr>
        <p:spPr bwMode="auto">
          <a:xfrm>
            <a:off x="2681288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2" name="Line 6"/>
          <p:cNvSpPr/>
          <p:nvPr/>
        </p:nvSpPr>
        <p:spPr>
          <a:xfrm flipH="1">
            <a:off x="2681288" y="4819571"/>
            <a:ext cx="0" cy="863203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3" name="Line 7"/>
          <p:cNvSpPr/>
          <p:nvPr/>
        </p:nvSpPr>
        <p:spPr>
          <a:xfrm>
            <a:off x="2681288" y="4981496"/>
            <a:ext cx="264676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04" name="Rectangle 8"/>
          <p:cNvSpPr>
            <a:spLocks noChangeArrowheads="1"/>
          </p:cNvSpPr>
          <p:nvPr/>
        </p:nvSpPr>
        <p:spPr bwMode="auto">
          <a:xfrm>
            <a:off x="3898702" y="4766430"/>
            <a:ext cx="31432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shift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1305" name="Line 9"/>
          <p:cNvSpPr/>
          <p:nvPr/>
        </p:nvSpPr>
        <p:spPr>
          <a:xfrm flipH="1">
            <a:off x="5328047" y="4819571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6" name="Rectangle 10"/>
          <p:cNvSpPr>
            <a:spLocks noChangeArrowheads="1"/>
          </p:cNvSpPr>
          <p:nvPr/>
        </p:nvSpPr>
        <p:spPr bwMode="auto">
          <a:xfrm>
            <a:off x="2681288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7" name="Rectangle 11"/>
          <p:cNvSpPr>
            <a:spLocks noChangeArrowheads="1"/>
          </p:cNvSpPr>
          <p:nvPr/>
        </p:nvSpPr>
        <p:spPr bwMode="auto">
          <a:xfrm>
            <a:off x="5328047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8" name="Rectangle 12"/>
          <p:cNvSpPr>
            <a:spLocks noChangeArrowheads="1"/>
          </p:cNvSpPr>
          <p:nvPr/>
        </p:nvSpPr>
        <p:spPr bwMode="auto">
          <a:xfrm>
            <a:off x="5328047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9" name="Line 13"/>
          <p:cNvSpPr/>
          <p:nvPr/>
        </p:nvSpPr>
        <p:spPr>
          <a:xfrm flipH="1">
            <a:off x="3762375" y="5358924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10" name="Line 14"/>
          <p:cNvSpPr/>
          <p:nvPr/>
        </p:nvSpPr>
        <p:spPr>
          <a:xfrm flipH="1" flipV="1">
            <a:off x="2681288" y="5467271"/>
            <a:ext cx="10810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11" name="Rectangle 15"/>
          <p:cNvSpPr>
            <a:spLocks noChangeArrowheads="1"/>
          </p:cNvSpPr>
          <p:nvPr/>
        </p:nvSpPr>
        <p:spPr bwMode="auto">
          <a:xfrm>
            <a:off x="2957513" y="5467708"/>
            <a:ext cx="588169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scan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串的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BM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匹配算法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-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构思</a:t>
            </a:r>
            <a:endParaRPr lang="zh-CN" altLang="en-US">
              <a:effectLst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1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1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5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5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800"/>
                                        <p:tgtEl>
                                          <p:spTgt spid="9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4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95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95130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5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13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9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5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0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951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900"/>
                                        <p:tgtEl>
                                          <p:spTgt spid="9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1"/>
                  </p:tgtEl>
                </p:cond>
              </p:nextCondLst>
            </p:seq>
          </p:childTnLst>
        </p:cTn>
      </p:par>
    </p:tnLst>
    <p:bldLst>
      <p:bldP spid="951300" grpId="0" bldLvl="0" animBg="1"/>
      <p:bldP spid="951301" grpId="0" bldLvl="0" animBg="1"/>
      <p:bldP spid="951301" grpId="1" bldLvl="0" animBg="1"/>
      <p:bldP spid="951303" grpId="0" bldLvl="0" animBg="1"/>
      <p:bldP spid="951304" grpId="0" bldLvl="0" animBg="1"/>
      <p:bldP spid="951306" grpId="0" bldLvl="0" animBg="1"/>
      <p:bldP spid="951306" grpId="1" bldLvl="0" animBg="1"/>
      <p:bldP spid="951307" grpId="0" bldLvl="0" animBg="1"/>
      <p:bldP spid="951307" grpId="1" bldLvl="0" animBg="1"/>
      <p:bldP spid="951308" grpId="0" bldLvl="0" animBg="1"/>
      <p:bldP spid="951308" grpId="1" bldLvl="0" animBg="1"/>
      <p:bldP spid="951310" grpId="0" bldLvl="0" animBg="1"/>
      <p:bldP spid="95131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6428" name="AutoShape 28"/>
          <p:cNvSpPr>
            <a:spLocks noChangeAspect="1" noChangeArrowheads="1"/>
          </p:cNvSpPr>
          <p:nvPr/>
        </p:nvSpPr>
        <p:spPr bwMode="auto">
          <a:xfrm>
            <a:off x="71639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29" name="AutoShape 29"/>
          <p:cNvSpPr>
            <a:spLocks noChangeAspect="1" noChangeArrowheads="1"/>
          </p:cNvSpPr>
          <p:nvPr/>
        </p:nvSpPr>
        <p:spPr bwMode="auto">
          <a:xfrm>
            <a:off x="7163991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0" name="AutoShape 30"/>
          <p:cNvSpPr>
            <a:spLocks noChangeAspect="1" noChangeArrowheads="1"/>
          </p:cNvSpPr>
          <p:nvPr/>
        </p:nvSpPr>
        <p:spPr bwMode="auto">
          <a:xfrm>
            <a:off x="6657975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1" name="AutoShape 31"/>
          <p:cNvSpPr>
            <a:spLocks noChangeAspect="1" noChangeArrowheads="1"/>
          </p:cNvSpPr>
          <p:nvPr/>
        </p:nvSpPr>
        <p:spPr bwMode="auto">
          <a:xfrm>
            <a:off x="6678216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2" name="AutoShape 32"/>
          <p:cNvSpPr>
            <a:spLocks noChangeAspect="1" noChangeArrowheads="1"/>
          </p:cNvSpPr>
          <p:nvPr/>
        </p:nvSpPr>
        <p:spPr bwMode="auto">
          <a:xfrm>
            <a:off x="6151960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3" name="AutoShape 33"/>
          <p:cNvSpPr>
            <a:spLocks noChangeAspect="1" noChangeArrowheads="1"/>
          </p:cNvSpPr>
          <p:nvPr/>
        </p:nvSpPr>
        <p:spPr bwMode="auto">
          <a:xfrm>
            <a:off x="6191250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4" name="AutoShape 34"/>
          <p:cNvSpPr>
            <a:spLocks noChangeAspect="1" noChangeArrowheads="1"/>
          </p:cNvSpPr>
          <p:nvPr/>
        </p:nvSpPr>
        <p:spPr bwMode="auto">
          <a:xfrm>
            <a:off x="564594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5" name="AutoShape 35"/>
          <p:cNvSpPr>
            <a:spLocks noChangeAspect="1" noChangeArrowheads="1"/>
          </p:cNvSpPr>
          <p:nvPr/>
        </p:nvSpPr>
        <p:spPr bwMode="auto">
          <a:xfrm>
            <a:off x="5651897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6" name="AutoShape 36"/>
          <p:cNvSpPr>
            <a:spLocks noChangeAspect="1" noChangeArrowheads="1"/>
          </p:cNvSpPr>
          <p:nvPr/>
        </p:nvSpPr>
        <p:spPr bwMode="auto">
          <a:xfrm>
            <a:off x="5141119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7" name="AutoShape 37"/>
          <p:cNvSpPr>
            <a:spLocks noChangeAspect="1" noChangeArrowheads="1"/>
          </p:cNvSpPr>
          <p:nvPr/>
        </p:nvSpPr>
        <p:spPr bwMode="auto">
          <a:xfrm>
            <a:off x="5138738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8" name="AutoShape 38"/>
          <p:cNvSpPr>
            <a:spLocks noChangeAspect="1" noChangeArrowheads="1"/>
          </p:cNvSpPr>
          <p:nvPr/>
        </p:nvSpPr>
        <p:spPr bwMode="auto">
          <a:xfrm>
            <a:off x="4129088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9" name="AutoShape 39"/>
          <p:cNvSpPr>
            <a:spLocks noChangeAspect="1" noChangeArrowheads="1"/>
          </p:cNvSpPr>
          <p:nvPr/>
        </p:nvSpPr>
        <p:spPr bwMode="auto">
          <a:xfrm>
            <a:off x="413980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0" name="AutoShape 40"/>
          <p:cNvSpPr>
            <a:spLocks noChangeAspect="1" noChangeArrowheads="1"/>
          </p:cNvSpPr>
          <p:nvPr/>
        </p:nvSpPr>
        <p:spPr bwMode="auto">
          <a:xfrm>
            <a:off x="261223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1" name="AutoShape 41"/>
          <p:cNvSpPr>
            <a:spLocks noChangeAspect="1" noChangeArrowheads="1"/>
          </p:cNvSpPr>
          <p:nvPr/>
        </p:nvSpPr>
        <p:spPr bwMode="auto">
          <a:xfrm>
            <a:off x="262771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2" name="AutoShape 42"/>
          <p:cNvSpPr>
            <a:spLocks noChangeAspect="1" noChangeArrowheads="1"/>
          </p:cNvSpPr>
          <p:nvPr/>
        </p:nvSpPr>
        <p:spPr bwMode="auto">
          <a:xfrm>
            <a:off x="16013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3" name="AutoShape 43"/>
          <p:cNvSpPr>
            <a:spLocks noChangeAspect="1" noChangeArrowheads="1"/>
          </p:cNvSpPr>
          <p:nvPr/>
        </p:nvSpPr>
        <p:spPr bwMode="auto">
          <a:xfrm>
            <a:off x="1601391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4" name="AutoShape 44"/>
          <p:cNvSpPr>
            <a:spLocks noChangeAspect="1" noChangeArrowheads="1"/>
          </p:cNvSpPr>
          <p:nvPr/>
        </p:nvSpPr>
        <p:spPr bwMode="auto">
          <a:xfrm>
            <a:off x="2106216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5" name="AutoShape 45"/>
          <p:cNvSpPr>
            <a:spLocks noChangeAspect="1" noChangeArrowheads="1"/>
          </p:cNvSpPr>
          <p:nvPr/>
        </p:nvSpPr>
        <p:spPr bwMode="auto">
          <a:xfrm>
            <a:off x="211336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6" name="AutoShape 46"/>
          <p:cNvSpPr>
            <a:spLocks noChangeAspect="1" noChangeArrowheads="1"/>
          </p:cNvSpPr>
          <p:nvPr/>
        </p:nvSpPr>
        <p:spPr bwMode="auto">
          <a:xfrm>
            <a:off x="3623072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7" name="AutoShape 47"/>
          <p:cNvSpPr>
            <a:spLocks noChangeAspect="1" noChangeArrowheads="1"/>
          </p:cNvSpPr>
          <p:nvPr/>
        </p:nvSpPr>
        <p:spPr bwMode="auto">
          <a:xfrm>
            <a:off x="362545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8" name="AutoShape 48"/>
          <p:cNvSpPr>
            <a:spLocks noChangeAspect="1" noChangeArrowheads="1"/>
          </p:cNvSpPr>
          <p:nvPr/>
        </p:nvSpPr>
        <p:spPr bwMode="auto">
          <a:xfrm>
            <a:off x="3118247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9" name="AutoShape 49"/>
          <p:cNvSpPr>
            <a:spLocks noChangeAspect="1" noChangeArrowheads="1"/>
          </p:cNvSpPr>
          <p:nvPr/>
        </p:nvSpPr>
        <p:spPr bwMode="auto">
          <a:xfrm>
            <a:off x="3113485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0" name="AutoShape 50"/>
          <p:cNvSpPr>
            <a:spLocks noChangeAspect="1" noChangeArrowheads="1"/>
          </p:cNvSpPr>
          <p:nvPr/>
        </p:nvSpPr>
        <p:spPr bwMode="auto">
          <a:xfrm>
            <a:off x="463510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1" name="AutoShape 51"/>
          <p:cNvSpPr>
            <a:spLocks noChangeAspect="1" noChangeArrowheads="1"/>
          </p:cNvSpPr>
          <p:nvPr/>
        </p:nvSpPr>
        <p:spPr bwMode="auto">
          <a:xfrm>
            <a:off x="4625579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12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12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12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2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12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112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26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126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126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26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1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26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126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126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26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126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6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26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26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8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26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9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126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126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1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126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26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3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1126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4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26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1126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6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26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7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126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126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9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9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126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0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26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1"/>
                  </p:tgtEl>
                </p:cond>
              </p:nextCondLst>
            </p:seq>
          </p:childTnLst>
        </p:cTn>
      </p:par>
    </p:tnLst>
    <p:bldLst>
      <p:bldP spid="1126429" grpId="0" bldLvl="0" animBg="1"/>
      <p:bldP spid="1126429" grpId="1" bldLvl="0" animBg="1"/>
      <p:bldP spid="1126429" grpId="2" bldLvl="0" animBg="1"/>
      <p:bldP spid="1126431" grpId="0" bldLvl="0" animBg="1"/>
      <p:bldP spid="1126431" grpId="1" bldLvl="0" animBg="1"/>
      <p:bldP spid="1126431" grpId="2" bldLvl="0" animBg="1"/>
      <p:bldP spid="1126433" grpId="0" bldLvl="0" animBg="1"/>
      <p:bldP spid="1126433" grpId="1" bldLvl="0" animBg="1"/>
      <p:bldP spid="1126433" grpId="2" bldLvl="0" animBg="1"/>
      <p:bldP spid="1126435" grpId="0" bldLvl="0" animBg="1"/>
      <p:bldP spid="1126435" grpId="1" bldLvl="0" animBg="1"/>
      <p:bldP spid="1126435" grpId="2" bldLvl="0" animBg="1"/>
      <p:bldP spid="1126437" grpId="0" bldLvl="0" animBg="1"/>
      <p:bldP spid="1126437" grpId="1" bldLvl="0" animBg="1"/>
      <p:bldP spid="1126437" grpId="2" bldLvl="0" animBg="1"/>
      <p:bldP spid="1126439" grpId="0" bldLvl="0" animBg="1"/>
      <p:bldP spid="1126439" grpId="1" bldLvl="0" animBg="1"/>
      <p:bldP spid="1126439" grpId="2" bldLvl="0" animBg="1"/>
      <p:bldP spid="1126441" grpId="0" bldLvl="0" animBg="1"/>
      <p:bldP spid="1126441" grpId="1" bldLvl="0" animBg="1"/>
      <p:bldP spid="1126441" grpId="2" bldLvl="0" animBg="1"/>
      <p:bldP spid="1126443" grpId="0" bldLvl="0" animBg="1"/>
      <p:bldP spid="1126443" grpId="1" bldLvl="0" animBg="1"/>
      <p:bldP spid="1126443" grpId="2" bldLvl="0" animBg="1"/>
      <p:bldP spid="1126445" grpId="0" bldLvl="0" animBg="1"/>
      <p:bldP spid="1126445" grpId="1" bldLvl="0" animBg="1"/>
      <p:bldP spid="1126445" grpId="2" bldLvl="0" animBg="1"/>
      <p:bldP spid="1126447" grpId="0" bldLvl="0" animBg="1"/>
      <p:bldP spid="1126447" grpId="1" bldLvl="0" animBg="1"/>
      <p:bldP spid="1126447" grpId="2" bldLvl="0" animBg="1"/>
      <p:bldP spid="1126449" grpId="0" bldLvl="0" animBg="1"/>
      <p:bldP spid="1126449" grpId="1" bldLvl="0" animBg="1"/>
      <p:bldP spid="1126449" grpId="2" bldLvl="0" animBg="1"/>
      <p:bldP spid="1126451" grpId="0" bldLvl="0" animBg="1"/>
      <p:bldP spid="1126451" grpId="1" bldLvl="0" animBg="1"/>
      <p:bldP spid="1126451" grpId="2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Bad-Character Shift</a:t>
            </a:r>
            <a:endParaRPr lang="zh-CN" altLang="en-US">
              <a:effectLst/>
            </a:endParaRPr>
          </a:p>
        </p:txBody>
      </p:sp>
      <p:sp>
        <p:nvSpPr>
          <p:cNvPr id="98304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自右向左的扫描比对过程中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一旦发现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//'Y'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称作坏字符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则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并重新扫描比对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哪些右移量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值得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试探？或者反过来，哪些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必要条件：至少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坏字符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本身应得以恢复匹配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3122" name="Freeform 82"/>
          <p:cNvSpPr/>
          <p:nvPr/>
        </p:nvSpPr>
        <p:spPr>
          <a:xfrm>
            <a:off x="1276350" y="4075034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3" name="Freeform 83"/>
          <p:cNvSpPr/>
          <p:nvPr/>
        </p:nvSpPr>
        <p:spPr>
          <a:xfrm flipH="1">
            <a:off x="5595938" y="4075034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4" name="Line 84"/>
          <p:cNvSpPr/>
          <p:nvPr/>
        </p:nvSpPr>
        <p:spPr>
          <a:xfrm>
            <a:off x="2250281" y="526327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125" name="Rectangle 85"/>
          <p:cNvSpPr/>
          <p:nvPr/>
        </p:nvSpPr>
        <p:spPr>
          <a:xfrm>
            <a:off x="2322910" y="493117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26" name="AutoShape 86"/>
          <p:cNvSpPr/>
          <p:nvPr/>
        </p:nvSpPr>
        <p:spPr>
          <a:xfrm>
            <a:off x="4301729" y="407503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3127" name="AutoShape 87"/>
          <p:cNvSpPr/>
          <p:nvPr/>
        </p:nvSpPr>
        <p:spPr>
          <a:xfrm>
            <a:off x="4301729" y="461557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8" name="AutoShape 88"/>
          <p:cNvSpPr/>
          <p:nvPr/>
        </p:nvSpPr>
        <p:spPr>
          <a:xfrm>
            <a:off x="4301729" y="515493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9" name="Line 89"/>
          <p:cNvSpPr/>
          <p:nvPr/>
        </p:nvSpPr>
        <p:spPr>
          <a:xfrm>
            <a:off x="2249091" y="4075034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0" name="Rectangle 90"/>
          <p:cNvSpPr/>
          <p:nvPr/>
        </p:nvSpPr>
        <p:spPr>
          <a:xfrm>
            <a:off x="2207419" y="384722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1" name="Line 91"/>
          <p:cNvSpPr/>
          <p:nvPr/>
        </p:nvSpPr>
        <p:spPr>
          <a:xfrm flipH="1">
            <a:off x="4086225" y="4075034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2" name="Rectangle 92"/>
          <p:cNvSpPr/>
          <p:nvPr/>
        </p:nvSpPr>
        <p:spPr>
          <a:xfrm>
            <a:off x="3963591" y="384722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3" name="AutoShape 93"/>
          <p:cNvSpPr/>
          <p:nvPr/>
        </p:nvSpPr>
        <p:spPr>
          <a:xfrm>
            <a:off x="2250281" y="461557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4" name="AutoShape 94"/>
          <p:cNvSpPr/>
          <p:nvPr/>
        </p:nvSpPr>
        <p:spPr>
          <a:xfrm>
            <a:off x="3223022" y="5154930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5" name="Rectangle 95"/>
          <p:cNvSpPr/>
          <p:nvPr/>
        </p:nvSpPr>
        <p:spPr>
          <a:xfrm>
            <a:off x="4139803" y="438658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6" name="Line 96"/>
          <p:cNvSpPr/>
          <p:nvPr/>
        </p:nvSpPr>
        <p:spPr>
          <a:xfrm flipH="1">
            <a:off x="3220641" y="5371624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7" name="Line 97"/>
          <p:cNvSpPr/>
          <p:nvPr/>
        </p:nvSpPr>
        <p:spPr>
          <a:xfrm>
            <a:off x="3221831" y="547997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3138" name="Rectangle 98"/>
          <p:cNvSpPr/>
          <p:nvPr/>
        </p:nvSpPr>
        <p:spPr>
          <a:xfrm>
            <a:off x="3349228" y="547076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39" name="AutoShape 99"/>
          <p:cNvSpPr>
            <a:spLocks noChangeArrowheads="1"/>
          </p:cNvSpPr>
          <p:nvPr/>
        </p:nvSpPr>
        <p:spPr bwMode="auto">
          <a:xfrm>
            <a:off x="4086225" y="461557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0" name="AutoShape 100"/>
          <p:cNvSpPr>
            <a:spLocks noChangeArrowheads="1"/>
          </p:cNvSpPr>
          <p:nvPr/>
        </p:nvSpPr>
        <p:spPr bwMode="auto">
          <a:xfrm>
            <a:off x="4086225" y="515493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1" name="AutoShape 101"/>
          <p:cNvSpPr>
            <a:spLocks noChangeArrowheads="1"/>
          </p:cNvSpPr>
          <p:nvPr/>
        </p:nvSpPr>
        <p:spPr bwMode="auto">
          <a:xfrm>
            <a:off x="4086225" y="407503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3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3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3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3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3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3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3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4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3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3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3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3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3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3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3137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8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3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9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83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0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3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1"/>
                  </p:tgtEl>
                </p:cond>
              </p:nextCondLst>
            </p:seq>
          </p:childTnLst>
        </p:cTn>
      </p:par>
    </p:tnLst>
    <p:bldLst>
      <p:bldP spid="983125" grpId="0"/>
      <p:bldP spid="983127" grpId="0" bldLvl="0" animBg="1"/>
      <p:bldP spid="983127" grpId="1" bldLvl="0" animBg="1"/>
      <p:bldP spid="983128" grpId="0" bldLvl="0" animBg="1"/>
      <p:bldP spid="983130" grpId="0"/>
      <p:bldP spid="983130" grpId="1"/>
      <p:bldP spid="983132" grpId="0"/>
      <p:bldP spid="983132" grpId="1"/>
      <p:bldP spid="983132" grpId="2"/>
      <p:bldP spid="983133" grpId="0" bldLvl="0" animBg="1"/>
      <p:bldP spid="983134" grpId="0" bldLvl="0" animBg="1"/>
      <p:bldP spid="983135" grpId="0"/>
      <p:bldP spid="983135" grpId="1"/>
      <p:bldP spid="983135" grpId="2"/>
      <p:bldP spid="983138" grpId="0"/>
      <p:bldP spid="983139" grpId="0" bldLvl="0" animBg="1"/>
      <p:bldP spid="983140" grpId="0" bldLvl="0" animBg="1"/>
      <p:bldP spid="983140" grpId="1" bldLvl="0" animBg="1"/>
      <p:bldP spid="983140" grpId="2" bldLvl="0" animBg="1"/>
      <p:bldP spid="983141" grpId="0" bldLvl="0" animBg="1"/>
      <p:bldP spid="983141" grpId="1" bldLvl="0" animBg="1"/>
      <p:bldP spid="983141" grpId="2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0756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75885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分别使之与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T[i+j] = 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对准，然后再做一轮比对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	位移量取决于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失配位置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秩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无关！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若：令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bc['X'] = rank['X'] = j - shift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项，且可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0906" name="Freeform 154"/>
          <p:cNvSpPr/>
          <p:nvPr/>
        </p:nvSpPr>
        <p:spPr>
          <a:xfrm>
            <a:off x="1276350" y="4417616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7" name="Freeform 155"/>
          <p:cNvSpPr/>
          <p:nvPr/>
        </p:nvSpPr>
        <p:spPr>
          <a:xfrm flipH="1">
            <a:off x="5595938" y="4417616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8" name="Line 156"/>
          <p:cNvSpPr/>
          <p:nvPr/>
        </p:nvSpPr>
        <p:spPr>
          <a:xfrm>
            <a:off x="2250281" y="5605860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0909" name="Rectangle 157"/>
          <p:cNvSpPr/>
          <p:nvPr/>
        </p:nvSpPr>
        <p:spPr>
          <a:xfrm>
            <a:off x="2322910" y="5273755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10" name="AutoShape 158"/>
          <p:cNvSpPr/>
          <p:nvPr/>
        </p:nvSpPr>
        <p:spPr>
          <a:xfrm>
            <a:off x="4301729" y="4417616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70911" name="AutoShape 159"/>
          <p:cNvSpPr/>
          <p:nvPr/>
        </p:nvSpPr>
        <p:spPr>
          <a:xfrm>
            <a:off x="4301729" y="49581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2" name="AutoShape 160"/>
          <p:cNvSpPr/>
          <p:nvPr/>
        </p:nvSpPr>
        <p:spPr>
          <a:xfrm>
            <a:off x="4301729" y="5497513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3" name="Line 161"/>
          <p:cNvSpPr/>
          <p:nvPr/>
        </p:nvSpPr>
        <p:spPr>
          <a:xfrm>
            <a:off x="2249091" y="4417616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4" name="Rectangle 162"/>
          <p:cNvSpPr/>
          <p:nvPr/>
        </p:nvSpPr>
        <p:spPr>
          <a:xfrm>
            <a:off x="2207419" y="4189809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5" name="Line 163"/>
          <p:cNvSpPr/>
          <p:nvPr/>
        </p:nvSpPr>
        <p:spPr>
          <a:xfrm flipH="1">
            <a:off x="4086225" y="4417616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6" name="Rectangle 164"/>
          <p:cNvSpPr/>
          <p:nvPr/>
        </p:nvSpPr>
        <p:spPr>
          <a:xfrm>
            <a:off x="3963591" y="4189809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7" name="AutoShape 165"/>
          <p:cNvSpPr/>
          <p:nvPr/>
        </p:nvSpPr>
        <p:spPr>
          <a:xfrm>
            <a:off x="2250281" y="4958160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8" name="AutoShape 166"/>
          <p:cNvSpPr/>
          <p:nvPr/>
        </p:nvSpPr>
        <p:spPr>
          <a:xfrm>
            <a:off x="3223022" y="5497513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9" name="Rectangle 167"/>
          <p:cNvSpPr/>
          <p:nvPr/>
        </p:nvSpPr>
        <p:spPr>
          <a:xfrm>
            <a:off x="4139803" y="472916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20" name="Line 168"/>
          <p:cNvSpPr/>
          <p:nvPr/>
        </p:nvSpPr>
        <p:spPr>
          <a:xfrm flipH="1">
            <a:off x="3220641" y="5714206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21" name="Line 169"/>
          <p:cNvSpPr/>
          <p:nvPr/>
        </p:nvSpPr>
        <p:spPr>
          <a:xfrm>
            <a:off x="3221831" y="5822554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70922" name="Rectangle 170"/>
          <p:cNvSpPr/>
          <p:nvPr/>
        </p:nvSpPr>
        <p:spPr>
          <a:xfrm>
            <a:off x="3349228" y="5813346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23" name="AutoShape 171"/>
          <p:cNvSpPr>
            <a:spLocks noChangeArrowheads="1"/>
          </p:cNvSpPr>
          <p:nvPr/>
        </p:nvSpPr>
        <p:spPr bwMode="auto">
          <a:xfrm>
            <a:off x="4086225" y="49581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4" name="AutoShape 172"/>
          <p:cNvSpPr>
            <a:spLocks noChangeArrowheads="1"/>
          </p:cNvSpPr>
          <p:nvPr/>
        </p:nvSpPr>
        <p:spPr bwMode="auto">
          <a:xfrm>
            <a:off x="4086225" y="549751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5" name="AutoShape 173"/>
          <p:cNvSpPr>
            <a:spLocks noChangeArrowheads="1"/>
          </p:cNvSpPr>
          <p:nvPr/>
        </p:nvSpPr>
        <p:spPr bwMode="auto">
          <a:xfrm>
            <a:off x="4086225" y="441761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70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7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09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70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70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70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2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70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70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0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70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70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70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70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70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70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709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70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3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70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4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70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5"/>
                  </p:tgtEl>
                </p:cond>
              </p:nextCondLst>
            </p:seq>
          </p:childTnLst>
        </p:cTn>
      </p:par>
    </p:tnLst>
    <p:bldLst>
      <p:bldP spid="970909" grpId="0"/>
      <p:bldP spid="970911" grpId="0" bldLvl="0" animBg="1"/>
      <p:bldP spid="970911" grpId="1" bldLvl="0" animBg="1"/>
      <p:bldP spid="970912" grpId="0" bldLvl="0" animBg="1"/>
      <p:bldP spid="970914" grpId="0"/>
      <p:bldP spid="970914" grpId="1"/>
      <p:bldP spid="970916" grpId="0"/>
      <p:bldP spid="970916" grpId="1"/>
      <p:bldP spid="970916" grpId="2"/>
      <p:bldP spid="970917" grpId="0" bldLvl="0" animBg="1"/>
      <p:bldP spid="970918" grpId="0" bldLvl="0" animBg="1"/>
      <p:bldP spid="970919" grpId="0"/>
      <p:bldP spid="970919" grpId="1"/>
      <p:bldP spid="970919" grpId="2"/>
      <p:bldP spid="970922" grpId="0"/>
      <p:bldP spid="970923" grpId="0" bldLvl="0" animBg="1"/>
      <p:bldP spid="970924" grpId="0" bldLvl="0" animBg="1"/>
      <p:bldP spid="970924" grpId="1" bldLvl="0" animBg="1"/>
      <p:bldP spid="970924" grpId="2" bldLvl="0" animBg="1"/>
      <p:bldP spid="970925" grpId="0" bldLvl="0" animBg="1"/>
      <p:bldP spid="970925" grpId="1" bldLvl="0" animBg="1"/>
      <p:bldP spid="970925" grpId="2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4068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37468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中出现多次？取其中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其效果可理解为，在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确保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无需回溯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的前提下，取最大的安全距离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呢？将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整体移过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类似地，其效果等价于，与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最左侧假想的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4171" name="Freeform 107"/>
          <p:cNvSpPr/>
          <p:nvPr/>
        </p:nvSpPr>
        <p:spPr>
          <a:xfrm>
            <a:off x="1277541" y="3934063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2" name="Freeform 108"/>
          <p:cNvSpPr/>
          <p:nvPr/>
        </p:nvSpPr>
        <p:spPr>
          <a:xfrm flipH="1">
            <a:off x="5597129" y="3934063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3" name="Line 109"/>
          <p:cNvSpPr/>
          <p:nvPr/>
        </p:nvSpPr>
        <p:spPr>
          <a:xfrm>
            <a:off x="2251472" y="512230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74" name="Rectangle 110"/>
          <p:cNvSpPr/>
          <p:nvPr/>
        </p:nvSpPr>
        <p:spPr>
          <a:xfrm>
            <a:off x="2324100" y="479020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75" name="AutoShape 111"/>
          <p:cNvSpPr/>
          <p:nvPr/>
        </p:nvSpPr>
        <p:spPr>
          <a:xfrm>
            <a:off x="4302919" y="3934063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4176" name="AutoShape 112"/>
          <p:cNvSpPr/>
          <p:nvPr/>
        </p:nvSpPr>
        <p:spPr>
          <a:xfrm>
            <a:off x="4302919" y="447460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7" name="AutoShape 113"/>
          <p:cNvSpPr/>
          <p:nvPr/>
        </p:nvSpPr>
        <p:spPr>
          <a:xfrm>
            <a:off x="4302919" y="501396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8" name="Line 114"/>
          <p:cNvSpPr/>
          <p:nvPr/>
        </p:nvSpPr>
        <p:spPr>
          <a:xfrm flipH="1">
            <a:off x="2250281" y="3934063"/>
            <a:ext cx="0" cy="210621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79" name="Rectangle 115"/>
          <p:cNvSpPr/>
          <p:nvPr/>
        </p:nvSpPr>
        <p:spPr>
          <a:xfrm>
            <a:off x="2208610" y="370625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0" name="Line 116"/>
          <p:cNvSpPr/>
          <p:nvPr/>
        </p:nvSpPr>
        <p:spPr>
          <a:xfrm flipH="1">
            <a:off x="4086225" y="3934063"/>
            <a:ext cx="1191" cy="156686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1" name="Rectangle 117"/>
          <p:cNvSpPr/>
          <p:nvPr/>
        </p:nvSpPr>
        <p:spPr>
          <a:xfrm>
            <a:off x="3964781" y="370625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2" name="AutoShape 118"/>
          <p:cNvSpPr/>
          <p:nvPr/>
        </p:nvSpPr>
        <p:spPr>
          <a:xfrm>
            <a:off x="2251472" y="447460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3" name="AutoShape 119"/>
          <p:cNvSpPr/>
          <p:nvPr/>
        </p:nvSpPr>
        <p:spPr>
          <a:xfrm>
            <a:off x="3224213" y="5013960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4" name="Rectangle 120"/>
          <p:cNvSpPr/>
          <p:nvPr/>
        </p:nvSpPr>
        <p:spPr>
          <a:xfrm>
            <a:off x="4140994" y="424561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5" name="Line 121"/>
          <p:cNvSpPr/>
          <p:nvPr/>
        </p:nvSpPr>
        <p:spPr>
          <a:xfrm flipH="1">
            <a:off x="3221831" y="5230654"/>
            <a:ext cx="1191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6" name="Line 122"/>
          <p:cNvSpPr/>
          <p:nvPr/>
        </p:nvSpPr>
        <p:spPr>
          <a:xfrm>
            <a:off x="3223022" y="533900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4187" name="Rectangle 123"/>
          <p:cNvSpPr/>
          <p:nvPr/>
        </p:nvSpPr>
        <p:spPr>
          <a:xfrm>
            <a:off x="3350419" y="532979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88" name="AutoShape 124"/>
          <p:cNvSpPr/>
          <p:nvPr/>
        </p:nvSpPr>
        <p:spPr>
          <a:xfrm>
            <a:off x="4304110" y="5554504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9" name="Line 125"/>
          <p:cNvSpPr/>
          <p:nvPr/>
        </p:nvSpPr>
        <p:spPr>
          <a:xfrm>
            <a:off x="2251472" y="5662851"/>
            <a:ext cx="2051447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90" name="Rectangle 126"/>
          <p:cNvSpPr/>
          <p:nvPr/>
        </p:nvSpPr>
        <p:spPr>
          <a:xfrm>
            <a:off x="2378869" y="5651263"/>
            <a:ext cx="172974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j-(-1) = j+1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91" name="AutoShape 127"/>
          <p:cNvSpPr>
            <a:spLocks noChangeArrowheads="1"/>
          </p:cNvSpPr>
          <p:nvPr/>
        </p:nvSpPr>
        <p:spPr bwMode="auto">
          <a:xfrm>
            <a:off x="4087416" y="447460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2" name="AutoShape 128"/>
          <p:cNvSpPr>
            <a:spLocks noChangeArrowheads="1"/>
          </p:cNvSpPr>
          <p:nvPr/>
        </p:nvSpPr>
        <p:spPr bwMode="auto">
          <a:xfrm>
            <a:off x="4087416" y="50139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3" name="AutoShape 129"/>
          <p:cNvSpPr>
            <a:spLocks noChangeArrowheads="1"/>
          </p:cNvSpPr>
          <p:nvPr/>
        </p:nvSpPr>
        <p:spPr bwMode="auto">
          <a:xfrm>
            <a:off x="4087416" y="393406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4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4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4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4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4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4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4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4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4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4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0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4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4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4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4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4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4186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4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4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8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984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984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800"/>
                                        <p:tgtEl>
                                          <p:spTgt spid="98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84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4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2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4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3"/>
                  </p:tgtEl>
                </p:cond>
              </p:nextCondLst>
            </p:seq>
          </p:childTnLst>
        </p:cTn>
      </p:par>
    </p:tnLst>
    <p:bldLst>
      <p:bldP spid="984174" grpId="0"/>
      <p:bldP spid="984176" grpId="0" bldLvl="0" animBg="1"/>
      <p:bldP spid="984176" grpId="1" bldLvl="0" animBg="1"/>
      <p:bldP spid="984177" grpId="0" bldLvl="0" animBg="1"/>
      <p:bldP spid="984179" grpId="0"/>
      <p:bldP spid="984179" grpId="1"/>
      <p:bldP spid="984181" grpId="0"/>
      <p:bldP spid="984181" grpId="1"/>
      <p:bldP spid="984181" grpId="2"/>
      <p:bldP spid="984182" grpId="0" bldLvl="0" animBg="1"/>
      <p:bldP spid="984183" grpId="0" bldLvl="0" animBg="1"/>
      <p:bldP spid="984184" grpId="0"/>
      <p:bldP spid="984184" grpId="1"/>
      <p:bldP spid="984184" grpId="2"/>
      <p:bldP spid="984187" grpId="0"/>
      <p:bldP spid="984188" grpId="0" bldLvl="0" animBg="1"/>
      <p:bldP spid="984190" grpId="0"/>
      <p:bldP spid="984191" grpId="0" bldLvl="0" animBg="1"/>
      <p:bldP spid="984192" grpId="0" bldLvl="0" animBg="1"/>
      <p:bldP spid="984192" grpId="1" bldLvl="0" animBg="1"/>
      <p:bldP spid="984192" grpId="2" bldLvl="0" animBg="1"/>
      <p:bldP spid="984193" grpId="0" bldLvl="0" animBg="1"/>
      <p:bldP spid="984193" grpId="1" bldLvl="0" animBg="1"/>
      <p:bldP spid="984193" grpId="2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64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中出现，但最右侧者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过于靠右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（以至于位移量为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右移一个字符！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不选用“在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并与之最近”的那个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6515" name="Freeform 99"/>
          <p:cNvSpPr/>
          <p:nvPr/>
        </p:nvSpPr>
        <p:spPr>
          <a:xfrm>
            <a:off x="1277541" y="3332560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6" name="Freeform 100"/>
          <p:cNvSpPr/>
          <p:nvPr/>
        </p:nvSpPr>
        <p:spPr>
          <a:xfrm flipH="1">
            <a:off x="5597129" y="3332560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9" name="AutoShape 103"/>
          <p:cNvSpPr/>
          <p:nvPr/>
        </p:nvSpPr>
        <p:spPr>
          <a:xfrm>
            <a:off x="4302919" y="33325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56520" name="AutoShape 104"/>
          <p:cNvSpPr/>
          <p:nvPr/>
        </p:nvSpPr>
        <p:spPr>
          <a:xfrm>
            <a:off x="4302919" y="387310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2" name="Line 106"/>
          <p:cNvSpPr/>
          <p:nvPr/>
        </p:nvSpPr>
        <p:spPr>
          <a:xfrm flipH="1">
            <a:off x="2250281" y="3320654"/>
            <a:ext cx="0" cy="1850231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3" name="Rectangle 107"/>
          <p:cNvSpPr/>
          <p:nvPr/>
        </p:nvSpPr>
        <p:spPr>
          <a:xfrm>
            <a:off x="2208610" y="310475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4" name="Line 108"/>
          <p:cNvSpPr/>
          <p:nvPr/>
        </p:nvSpPr>
        <p:spPr>
          <a:xfrm flipH="1">
            <a:off x="4086225" y="3320654"/>
            <a:ext cx="0" cy="109418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5" name="Rectangle 109"/>
          <p:cNvSpPr/>
          <p:nvPr/>
        </p:nvSpPr>
        <p:spPr>
          <a:xfrm>
            <a:off x="3964781" y="3104753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6" name="AutoShape 110"/>
          <p:cNvSpPr/>
          <p:nvPr/>
        </p:nvSpPr>
        <p:spPr>
          <a:xfrm>
            <a:off x="2251472" y="3873104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8" name="Rectangle 112"/>
          <p:cNvSpPr/>
          <p:nvPr/>
        </p:nvSpPr>
        <p:spPr>
          <a:xfrm>
            <a:off x="4140994" y="364410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35" name="AutoShape 119"/>
          <p:cNvSpPr/>
          <p:nvPr/>
        </p:nvSpPr>
        <p:spPr>
          <a:xfrm>
            <a:off x="4302919" y="4414838"/>
            <a:ext cx="7560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6" name="AutoShape 120"/>
          <p:cNvSpPr/>
          <p:nvPr/>
        </p:nvSpPr>
        <p:spPr>
          <a:xfrm>
            <a:off x="1710929" y="4414838"/>
            <a:ext cx="237529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7" name="AutoShape 121"/>
          <p:cNvSpPr/>
          <p:nvPr/>
        </p:nvSpPr>
        <p:spPr>
          <a:xfrm>
            <a:off x="2466975" y="4955381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8" name="Line 122"/>
          <p:cNvSpPr/>
          <p:nvPr/>
        </p:nvSpPr>
        <p:spPr>
          <a:xfrm>
            <a:off x="2250281" y="5062538"/>
            <a:ext cx="21550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39" name="Rectangle 123"/>
          <p:cNvSpPr/>
          <p:nvPr/>
        </p:nvSpPr>
        <p:spPr>
          <a:xfrm>
            <a:off x="1945481" y="5189062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0" name="AutoShape 124"/>
          <p:cNvSpPr>
            <a:spLocks noChangeArrowheads="1"/>
          </p:cNvSpPr>
          <p:nvPr/>
        </p:nvSpPr>
        <p:spPr bwMode="auto">
          <a:xfrm>
            <a:off x="4087416" y="387310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2" name="AutoShape 126"/>
          <p:cNvSpPr>
            <a:spLocks noChangeArrowheads="1"/>
          </p:cNvSpPr>
          <p:nvPr/>
        </p:nvSpPr>
        <p:spPr bwMode="auto">
          <a:xfrm>
            <a:off x="4087416" y="33325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3" name="AutoShape 127"/>
          <p:cNvSpPr>
            <a:spLocks noChangeArrowheads="1"/>
          </p:cNvSpPr>
          <p:nvPr/>
        </p:nvSpPr>
        <p:spPr bwMode="auto">
          <a:xfrm>
            <a:off x="4086225" y="4414838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4" name="Line 128"/>
          <p:cNvSpPr/>
          <p:nvPr/>
        </p:nvSpPr>
        <p:spPr>
          <a:xfrm flipH="1" flipV="1">
            <a:off x="1709738" y="4737497"/>
            <a:ext cx="5405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45" name="Rectangle 129"/>
          <p:cNvSpPr/>
          <p:nvPr/>
        </p:nvSpPr>
        <p:spPr>
          <a:xfrm>
            <a:off x="1451372" y="4727099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&lt; 0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6" name="Line 130"/>
          <p:cNvSpPr/>
          <p:nvPr/>
        </p:nvSpPr>
        <p:spPr>
          <a:xfrm flipH="1">
            <a:off x="1709738" y="4630341"/>
            <a:ext cx="0" cy="16192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6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6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9565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0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56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56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56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56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6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56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56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6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56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56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56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6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56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800"/>
                                        <p:tgtEl>
                                          <p:spTgt spid="95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9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56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56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56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9565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65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56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4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956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56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1800"/>
                                        <p:tgtEl>
                                          <p:spTgt spid="95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56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6"/>
                  </p:tgtEl>
                </p:cond>
              </p:nextCondLst>
            </p:seq>
          </p:childTnLst>
        </p:cTn>
      </p:par>
    </p:tnLst>
    <p:bldLst>
      <p:bldP spid="956520" grpId="0" bldLvl="0" animBg="1"/>
      <p:bldP spid="956520" grpId="1" bldLvl="0" animBg="1"/>
      <p:bldP spid="956523" grpId="0"/>
      <p:bldP spid="956523" grpId="1"/>
      <p:bldP spid="956525" grpId="0"/>
      <p:bldP spid="956525" grpId="1"/>
      <p:bldP spid="956525" grpId="2"/>
      <p:bldP spid="956526" grpId="0" bldLvl="0" animBg="1"/>
      <p:bldP spid="956528" grpId="0"/>
      <p:bldP spid="956528" grpId="1"/>
      <p:bldP spid="956528" grpId="2"/>
      <p:bldP spid="956535" grpId="0" bldLvl="0" animBg="1"/>
      <p:bldP spid="956536" grpId="0" bldLvl="0" animBg="1"/>
      <p:bldP spid="956537" grpId="0" bldLvl="0" animBg="1"/>
      <p:bldP spid="956538" grpId="0" bldLvl="0" animBg="1"/>
      <p:bldP spid="956539" grpId="0"/>
      <p:bldP spid="956540" grpId="0" bldLvl="0" animBg="1"/>
      <p:bldP spid="956540" grpId="1" bldLvl="0" animBg="1"/>
      <p:bldP spid="956542" grpId="0" bldLvl="0" animBg="1"/>
      <p:bldP spid="956542" grpId="1" bldLvl="0" animBg="1"/>
      <p:bldP spid="956542" grpId="2" bldLvl="0" animBg="1"/>
      <p:bldP spid="956543" grpId="0" bldLvl="0" animBg="1"/>
      <p:bldP spid="956543" grpId="1" bldLvl="0" animBg="1"/>
      <p:bldP spid="956544" grpId="0" bldLvl="0" animBg="1"/>
      <p:bldP spid="95654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0" name="AutoShape 2"/>
          <p:cNvSpPr/>
          <p:nvPr/>
        </p:nvSpPr>
        <p:spPr>
          <a:xfrm>
            <a:off x="2736056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3" name="AutoShape 15"/>
          <p:cNvSpPr/>
          <p:nvPr/>
        </p:nvSpPr>
        <p:spPr>
          <a:xfrm>
            <a:off x="3114675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4" name="AutoShape 16"/>
          <p:cNvSpPr/>
          <p:nvPr/>
        </p:nvSpPr>
        <p:spPr>
          <a:xfrm>
            <a:off x="3492104" y="4023122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5" name="AutoShape 17"/>
          <p:cNvSpPr/>
          <p:nvPr/>
        </p:nvSpPr>
        <p:spPr>
          <a:xfrm>
            <a:off x="2357438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6" name="AutoShape 18"/>
          <p:cNvSpPr/>
          <p:nvPr/>
        </p:nvSpPr>
        <p:spPr>
          <a:xfrm>
            <a:off x="3492104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7" name="AutoShape 19"/>
          <p:cNvSpPr/>
          <p:nvPr/>
        </p:nvSpPr>
        <p:spPr>
          <a:xfrm>
            <a:off x="3869531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8" name="AutoShape 20"/>
          <p:cNvSpPr/>
          <p:nvPr/>
        </p:nvSpPr>
        <p:spPr>
          <a:xfrm>
            <a:off x="4248150" y="440174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9" name="AutoShape 21"/>
          <p:cNvSpPr/>
          <p:nvPr/>
        </p:nvSpPr>
        <p:spPr>
          <a:xfrm>
            <a:off x="3113485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0" name="AutoShape 22"/>
          <p:cNvSpPr/>
          <p:nvPr/>
        </p:nvSpPr>
        <p:spPr>
          <a:xfrm>
            <a:off x="5381625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1" name="AutoShape 23"/>
          <p:cNvSpPr/>
          <p:nvPr/>
        </p:nvSpPr>
        <p:spPr>
          <a:xfrm>
            <a:off x="5759054" y="477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2" name="AutoShape 24"/>
          <p:cNvSpPr/>
          <p:nvPr/>
        </p:nvSpPr>
        <p:spPr>
          <a:xfrm>
            <a:off x="4624388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3" name="AutoShape 25"/>
          <p:cNvSpPr/>
          <p:nvPr/>
        </p:nvSpPr>
        <p:spPr>
          <a:xfrm>
            <a:off x="5003006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4" name="AutoShape 26"/>
          <p:cNvSpPr/>
          <p:nvPr/>
        </p:nvSpPr>
        <p:spPr>
          <a:xfrm>
            <a:off x="5382816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5" name="AutoShape 27"/>
          <p:cNvSpPr/>
          <p:nvPr/>
        </p:nvSpPr>
        <p:spPr>
          <a:xfrm>
            <a:off x="5759054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6" name="AutoShape 28"/>
          <p:cNvSpPr/>
          <p:nvPr/>
        </p:nvSpPr>
        <p:spPr>
          <a:xfrm>
            <a:off x="6138863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7" name="AutoShape 29"/>
          <p:cNvSpPr/>
          <p:nvPr/>
        </p:nvSpPr>
        <p:spPr>
          <a:xfrm>
            <a:off x="6516291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8991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3" name="AutoShape 35"/>
          <p:cNvSpPr/>
          <p:nvPr/>
        </p:nvSpPr>
        <p:spPr>
          <a:xfrm>
            <a:off x="2734866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4" name="AutoShape 36"/>
          <p:cNvSpPr/>
          <p:nvPr/>
        </p:nvSpPr>
        <p:spPr>
          <a:xfrm>
            <a:off x="3492104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5" name="AutoShape 37"/>
          <p:cNvSpPr/>
          <p:nvPr/>
        </p:nvSpPr>
        <p:spPr>
          <a:xfrm>
            <a:off x="3870722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6" name="AutoShape 38"/>
          <p:cNvSpPr/>
          <p:nvPr/>
        </p:nvSpPr>
        <p:spPr>
          <a:xfrm>
            <a:off x="3114675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7" name="AutoShape 39"/>
          <p:cNvSpPr/>
          <p:nvPr/>
        </p:nvSpPr>
        <p:spPr>
          <a:xfrm>
            <a:off x="4248150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8" name="AutoShape 40"/>
          <p:cNvSpPr/>
          <p:nvPr/>
        </p:nvSpPr>
        <p:spPr>
          <a:xfrm>
            <a:off x="3490913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9" name="AutoShape 41"/>
          <p:cNvSpPr/>
          <p:nvPr/>
        </p:nvSpPr>
        <p:spPr>
          <a:xfrm>
            <a:off x="4626769" y="21859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0" name="AutoShape 42"/>
          <p:cNvSpPr/>
          <p:nvPr/>
        </p:nvSpPr>
        <p:spPr>
          <a:xfrm>
            <a:off x="3868341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1" name="AutoShape 43"/>
          <p:cNvSpPr/>
          <p:nvPr/>
        </p:nvSpPr>
        <p:spPr>
          <a:xfrm>
            <a:off x="5004197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2" name="AutoShape 44"/>
          <p:cNvSpPr/>
          <p:nvPr/>
        </p:nvSpPr>
        <p:spPr>
          <a:xfrm>
            <a:off x="4248150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3" name="AutoShape 45"/>
          <p:cNvSpPr/>
          <p:nvPr/>
        </p:nvSpPr>
        <p:spPr>
          <a:xfrm>
            <a:off x="5384006" y="18085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4" name="AutoShape 46"/>
          <p:cNvSpPr/>
          <p:nvPr/>
        </p:nvSpPr>
        <p:spPr>
          <a:xfrm>
            <a:off x="4625579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5" name="AutoShape 47"/>
          <p:cNvSpPr/>
          <p:nvPr/>
        </p:nvSpPr>
        <p:spPr>
          <a:xfrm>
            <a:off x="5004197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6" name="AutoShape 48"/>
          <p:cNvSpPr/>
          <p:nvPr/>
        </p:nvSpPr>
        <p:spPr>
          <a:xfrm>
            <a:off x="5384006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7" name="AutoShape 49"/>
          <p:cNvSpPr/>
          <p:nvPr/>
        </p:nvSpPr>
        <p:spPr>
          <a:xfrm>
            <a:off x="576024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8" name="AutoShape 50"/>
          <p:cNvSpPr/>
          <p:nvPr/>
        </p:nvSpPr>
        <p:spPr>
          <a:xfrm>
            <a:off x="614005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12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2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12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12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12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12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12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112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12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12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112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112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12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11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112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112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112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112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112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112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112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0"/>
                                        <p:tgtEl>
                                          <p:spTgt spid="112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900"/>
                                        <p:tgtEl>
                                          <p:spTgt spid="112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900"/>
                                        <p:tgtEl>
                                          <p:spTgt spid="112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11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900"/>
                                        <p:tgtEl>
                                          <p:spTgt spid="112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900"/>
                                        <p:tgtEl>
                                          <p:spTgt spid="112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900"/>
                                        <p:tgtEl>
                                          <p:spTgt spid="112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900"/>
                                        <p:tgtEl>
                                          <p:spTgt spid="112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7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28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28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28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7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28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6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128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1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7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128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128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5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9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28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7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0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0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128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1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128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1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4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2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128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3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6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28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1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8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4"/>
                  </p:tgtEl>
                </p:cond>
              </p:nextCondLst>
            </p:seq>
            <p:seq concurrent="1" nextAc="seek">
              <p:cTn id="429" restart="whenNotActive" fill="hold" evtFilter="cancelBubble" nodeType="interactiveSeq">
                <p:stCondLst>
                  <p:cond evt="onClick" delay="0">
                    <p:tgtEl>
                      <p:spTgt spid="1128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128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5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2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6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128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7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4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7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28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1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2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3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128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4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128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1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8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5"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1128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0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6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28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5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9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2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7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128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7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1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4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8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128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6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9"/>
                  </p:tgtEl>
                </p:cond>
              </p:nextCondLst>
            </p:seq>
            <p:seq concurrent="1" nextAc="seek">
              <p:cTn id="597" restart="whenNotActive" fill="hold" evtFilter="cancelBubble" nodeType="interactiveSeq">
                <p:stCondLst>
                  <p:cond evt="onClick" delay="0">
                    <p:tgtEl>
                      <p:spTgt spid="1128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5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8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0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28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7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0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1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128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5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9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2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128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4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3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128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9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0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53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28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5"/>
                  </p:tgtEl>
                </p:cond>
              </p:nextCondLst>
            </p:seq>
            <p:seq concurrent="1" nextAc="seek">
              <p:cTn id="669" restart="whenNotActive" fill="hold" evtFilter="cancelBubble" nodeType="interactiveSeq">
                <p:stCondLst>
                  <p:cond evt="onClick" delay="0">
                    <p:tgtEl>
                      <p:spTgt spid="1128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6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128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7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128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8"/>
                  </p:tgtEl>
                </p:cond>
              </p:nextCondLst>
            </p:seq>
          </p:childTnLst>
        </p:cTn>
      </p:par>
    </p:tnLst>
    <p:bldLst>
      <p:bldP spid="1128450" grpId="0" bldLvl="0" animBg="1"/>
      <p:bldP spid="1128450" grpId="1" bldLvl="0" animBg="1"/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63" grpId="0" bldLvl="0" animBg="1"/>
      <p:bldP spid="1128463" grpId="1" bldLvl="0" animBg="1"/>
      <p:bldP spid="1128464" grpId="0" bldLvl="0" animBg="1"/>
      <p:bldP spid="1128464" grpId="1" bldLvl="0" animBg="1"/>
      <p:bldP spid="1128465" grpId="0" bldLvl="0" animBg="1"/>
      <p:bldP spid="1128465" grpId="1" bldLvl="0" animBg="1"/>
      <p:bldP spid="1128466" grpId="0" bldLvl="0" animBg="1"/>
      <p:bldP spid="1128466" grpId="1" bldLvl="0" animBg="1"/>
      <p:bldP spid="1128467" grpId="0" bldLvl="0" animBg="1"/>
      <p:bldP spid="1128467" grpId="1" bldLvl="0" animBg="1"/>
      <p:bldP spid="1128468" grpId="0" bldLvl="0" animBg="1"/>
      <p:bldP spid="1128468" grpId="1" bldLvl="0" animBg="1"/>
      <p:bldP spid="1128469" grpId="0" bldLvl="0" animBg="1"/>
      <p:bldP spid="1128469" grpId="1" bldLvl="0" animBg="1"/>
      <p:bldP spid="1128470" grpId="0" bldLvl="0" animBg="1"/>
      <p:bldP spid="1128470" grpId="1" bldLvl="0" animBg="1"/>
      <p:bldP spid="1128471" grpId="0" bldLvl="0" animBg="1"/>
      <p:bldP spid="1128471" grpId="1" bldLvl="0" animBg="1"/>
      <p:bldP spid="1128472" grpId="0" bldLvl="0" animBg="1"/>
      <p:bldP spid="1128472" grpId="1" bldLvl="0" animBg="1"/>
      <p:bldP spid="1128473" grpId="0" bldLvl="0" animBg="1"/>
      <p:bldP spid="1128473" grpId="1" bldLvl="0" animBg="1"/>
      <p:bldP spid="1128474" grpId="0" bldLvl="0" animBg="1"/>
      <p:bldP spid="1128474" grpId="1" bldLvl="0" animBg="1"/>
      <p:bldP spid="1128475" grpId="0" bldLvl="0" animBg="1"/>
      <p:bldP spid="1128475" grpId="1" bldLvl="0" animBg="1"/>
      <p:bldP spid="1128476" grpId="0" bldLvl="0" animBg="1"/>
      <p:bldP spid="1128476" grpId="1" bldLvl="0" animBg="1"/>
      <p:bldP spid="1128477" grpId="0" bldLvl="0" animBg="1"/>
      <p:bldP spid="1128477" grpId="1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1128483" grpId="0" bldLvl="0" animBg="1"/>
      <p:bldP spid="1128483" grpId="1" bldLvl="0" animBg="1"/>
      <p:bldP spid="1128484" grpId="0" bldLvl="0" animBg="1"/>
      <p:bldP spid="1128484" grpId="1" bldLvl="0" animBg="1"/>
      <p:bldP spid="1128485" grpId="0" bldLvl="0" animBg="1"/>
      <p:bldP spid="1128485" grpId="1" bldLvl="0" animBg="1"/>
      <p:bldP spid="1128486" grpId="0" bldLvl="0" animBg="1"/>
      <p:bldP spid="1128486" grpId="1" bldLvl="0" animBg="1"/>
      <p:bldP spid="1128487" grpId="0" bldLvl="0" animBg="1"/>
      <p:bldP spid="1128487" grpId="1" bldLvl="0" animBg="1"/>
      <p:bldP spid="1128488" grpId="0" bldLvl="0" animBg="1"/>
      <p:bldP spid="1128488" grpId="1" bldLvl="0" animBg="1"/>
      <p:bldP spid="1128489" grpId="0" bldLvl="0" animBg="1"/>
      <p:bldP spid="1128489" grpId="1" bldLvl="0" animBg="1"/>
      <p:bldP spid="1128490" grpId="0" bldLvl="0" animBg="1"/>
      <p:bldP spid="1128490" grpId="1" bldLvl="0" animBg="1"/>
      <p:bldP spid="1128491" grpId="0" bldLvl="0" animBg="1"/>
      <p:bldP spid="1128491" grpId="1" bldLvl="0" animBg="1"/>
      <p:bldP spid="1128492" grpId="0" bldLvl="0" animBg="1"/>
      <p:bldP spid="1128492" grpId="1" bldLvl="0" animBg="1"/>
      <p:bldP spid="1128493" grpId="0" bldLvl="0" animBg="1"/>
      <p:bldP spid="1128493" grpId="1" bldLvl="0" animBg="1"/>
      <p:bldP spid="1128494" grpId="0" bldLvl="0" animBg="1"/>
      <p:bldP spid="1128494" grpId="1" bldLvl="0" animBg="1"/>
      <p:bldP spid="1128495" grpId="0" bldLvl="0" animBg="1"/>
      <p:bldP spid="1128495" grpId="1" bldLvl="0" animBg="1"/>
      <p:bldP spid="1128496" grpId="0" bldLvl="0" animBg="1"/>
      <p:bldP spid="1128496" grpId="1" bldLvl="0" animBg="1"/>
      <p:bldP spid="1128497" grpId="0" bldLvl="0" animBg="1"/>
      <p:bldP spid="1128497" grpId="1" bldLvl="0" animBg="1"/>
      <p:bldP spid="1128498" grpId="0" bldLvl="0" animBg="1"/>
      <p:bldP spid="1128498" grpId="1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BC[]表的构造：算法</a:t>
            </a:r>
            <a:endParaRPr lang="zh-CN" altLang="en-US"/>
          </a:p>
        </p:txBody>
      </p:sp>
      <p:sp>
        <p:nvSpPr>
          <p:cNvPr id="1102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int*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buildBC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(char* P) {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int* bc = new int[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//bc[]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表，与字母表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候选字符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等长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bc[j]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strlen(P),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画家算法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bc[P[j]] = j;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刷新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的出现位置记录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bc;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第二个循环，通过引入临时变量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，避免反复调用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strlen()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同理，未出现字符的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值取作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，相当于在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的左侧添加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自左向右扫描，可保证各字符的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值非降第更新，最终各取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m)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 + m)	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BC策略：最差情况</a:t>
            </a:r>
            <a:endParaRPr lang="zh-CN" altLang="en-US"/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等效于蛮力算法？是的！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"00000...00"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P = "10000"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一般地，每轮迭代都要在扫过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之后，方能确定右移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此类情况下，须经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比较，方能排除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的场合，性能退化至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于蛮力算法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比如位图、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序列之类，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反思：借助以上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表，仅仅利用了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失配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类比：可否仿照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，同时利用起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193540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最差</a:t>
            </a: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2707005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1949768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085624" y="44533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327196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AutoShape 31"/>
          <p:cNvSpPr/>
          <p:nvPr/>
        </p:nvSpPr>
        <p:spPr>
          <a:xfrm>
            <a:off x="3058795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3" name="AutoShape 32"/>
          <p:cNvSpPr/>
          <p:nvPr/>
        </p:nvSpPr>
        <p:spPr>
          <a:xfrm>
            <a:off x="2301558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" name="AutoShape 33"/>
          <p:cNvSpPr/>
          <p:nvPr/>
        </p:nvSpPr>
        <p:spPr>
          <a:xfrm>
            <a:off x="3437414" y="4001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AutoShape 34"/>
          <p:cNvSpPr/>
          <p:nvPr/>
        </p:nvSpPr>
        <p:spPr>
          <a:xfrm>
            <a:off x="2678986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6" name="AutoShape 31"/>
          <p:cNvSpPr/>
          <p:nvPr/>
        </p:nvSpPr>
        <p:spPr>
          <a:xfrm>
            <a:off x="3491230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5" name="AutoShape 32"/>
          <p:cNvSpPr/>
          <p:nvPr/>
        </p:nvSpPr>
        <p:spPr>
          <a:xfrm>
            <a:off x="2733993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33"/>
          <p:cNvSpPr/>
          <p:nvPr/>
        </p:nvSpPr>
        <p:spPr>
          <a:xfrm>
            <a:off x="3869849" y="35662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34"/>
          <p:cNvSpPr/>
          <p:nvPr/>
        </p:nvSpPr>
        <p:spPr>
          <a:xfrm>
            <a:off x="3111421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8" name="AutoShape 31"/>
          <p:cNvSpPr/>
          <p:nvPr/>
        </p:nvSpPr>
        <p:spPr>
          <a:xfrm>
            <a:off x="3896360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9" name="AutoShape 32"/>
          <p:cNvSpPr/>
          <p:nvPr/>
        </p:nvSpPr>
        <p:spPr>
          <a:xfrm>
            <a:off x="3139123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33"/>
          <p:cNvSpPr/>
          <p:nvPr/>
        </p:nvSpPr>
        <p:spPr>
          <a:xfrm>
            <a:off x="4274979" y="31033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AutoShape 34"/>
          <p:cNvSpPr/>
          <p:nvPr/>
        </p:nvSpPr>
        <p:spPr>
          <a:xfrm>
            <a:off x="3516551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2" name="AutoShape 31"/>
          <p:cNvSpPr/>
          <p:nvPr/>
        </p:nvSpPr>
        <p:spPr>
          <a:xfrm>
            <a:off x="4248150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3" name="AutoShape 32"/>
          <p:cNvSpPr/>
          <p:nvPr/>
        </p:nvSpPr>
        <p:spPr>
          <a:xfrm>
            <a:off x="3490913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4" name="AutoShape 33"/>
          <p:cNvSpPr/>
          <p:nvPr/>
        </p:nvSpPr>
        <p:spPr>
          <a:xfrm>
            <a:off x="4626769" y="26518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5" name="AutoShape 34"/>
          <p:cNvSpPr/>
          <p:nvPr/>
        </p:nvSpPr>
        <p:spPr>
          <a:xfrm>
            <a:off x="3868341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6" name="AutoShape 31"/>
          <p:cNvSpPr/>
          <p:nvPr/>
        </p:nvSpPr>
        <p:spPr>
          <a:xfrm>
            <a:off x="4680585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7" name="AutoShape 32"/>
          <p:cNvSpPr/>
          <p:nvPr/>
        </p:nvSpPr>
        <p:spPr>
          <a:xfrm>
            <a:off x="3923348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8" name="AutoShape 33"/>
          <p:cNvSpPr/>
          <p:nvPr/>
        </p:nvSpPr>
        <p:spPr>
          <a:xfrm>
            <a:off x="5059204" y="22162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9" name="AutoShape 34"/>
          <p:cNvSpPr/>
          <p:nvPr/>
        </p:nvSpPr>
        <p:spPr>
          <a:xfrm>
            <a:off x="4300776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9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0" fill="hold">
                      <p:stCondLst>
                        <p:cond delay="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7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2" grpId="0" bldLvl="0" animBg="1"/>
      <p:bldP spid="2" grpId="1" bldLvl="0" animBg="1"/>
      <p:bldP spid="3" grpId="0" bldLvl="0" animBg="1"/>
      <p:bldP spid="3" grpId="1" bldLvl="0" animBg="1"/>
      <p:bldP spid="4" grpId="0" bldLvl="0" animBg="1"/>
      <p:bldP spid="4" grpId="1" bldLvl="0" animBg="1"/>
      <p:bldP spid="5" grpId="0" bldLvl="0" animBg="1"/>
      <p:bldP spid="5" grpId="1" bldLvl="0" animBg="1"/>
      <p:bldP spid="6" grpId="0" bldLvl="0" animBg="1"/>
      <p:bldP spid="6" grpId="1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3" grpId="1" bldLvl="0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29" grpId="1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BC策略：最好情况</a:t>
            </a:r>
            <a:endParaRPr lang="zh-CN" altLang="en-US"/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/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除法？没错！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xxxxx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00000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一般地，只要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的当前字符未在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中出现，即可直接移动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此类情况下，仅需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比较，即可排除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的场合，相对于蛮力算法的性能优势越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明显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ACSII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串、汉字、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，这类移动的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效果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越明显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最好情况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7" name="AutoShape 31"/>
          <p:cNvSpPr/>
          <p:nvPr/>
        </p:nvSpPr>
        <p:spPr>
          <a:xfrm>
            <a:off x="4624705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8" name="AutoShape 32"/>
          <p:cNvSpPr/>
          <p:nvPr/>
        </p:nvSpPr>
        <p:spPr>
          <a:xfrm>
            <a:off x="3867468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" name="AutoShape 33"/>
          <p:cNvSpPr/>
          <p:nvPr/>
        </p:nvSpPr>
        <p:spPr>
          <a:xfrm>
            <a:off x="5003324" y="2482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34"/>
          <p:cNvSpPr/>
          <p:nvPr/>
        </p:nvSpPr>
        <p:spPr>
          <a:xfrm>
            <a:off x="4244896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" name="AutoShape 31"/>
          <p:cNvSpPr/>
          <p:nvPr/>
        </p:nvSpPr>
        <p:spPr>
          <a:xfrm>
            <a:off x="6084570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2" name="AutoShape 32"/>
          <p:cNvSpPr/>
          <p:nvPr/>
        </p:nvSpPr>
        <p:spPr>
          <a:xfrm>
            <a:off x="5327333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3" name="AutoShape 33"/>
          <p:cNvSpPr/>
          <p:nvPr/>
        </p:nvSpPr>
        <p:spPr>
          <a:xfrm>
            <a:off x="6463189" y="20193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34"/>
          <p:cNvSpPr/>
          <p:nvPr/>
        </p:nvSpPr>
        <p:spPr>
          <a:xfrm>
            <a:off x="5704761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7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9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3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7" grpId="0" bldLvl="0" animBg="1"/>
      <p:bldP spid="7" grpId="1" bldLvl="0" animBg="1"/>
      <p:bldP spid="8" grpId="0" bldLvl="0" animBg="1"/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2" grpId="0" bldLvl="0" animBg="1"/>
      <p:bldP spid="12" grpId="1" bldLvl="0" animBg="1"/>
      <p:bldP spid="13" grpId="0" bldLvl="0" animBg="1"/>
      <p:bldP spid="13" grpId="1" bldLvl="0" animBg="1"/>
      <p:bldP spid="14" grpId="0" bldLvl="0" animBg="1"/>
      <p:bldP spid="14" grpId="1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BC策略：不足与改进</a:t>
            </a:r>
            <a:endParaRPr lang="zh-CN" altLang="en-US"/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更具一般性的例子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首趟比对虽以失败结束，却积累了足够的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"ATCH"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据此，可以省去中间的两趟，而直接转至最后一趟（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个字符）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这一现象与规律，与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完全一致，只不过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前后颠倒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而已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62625" name="Picture 6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5" name="Picture 12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05038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6" name="Picture 12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482579"/>
            <a:ext cx="215504" cy="21550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7" name="Picture 127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9147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/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89" name="AutoShape 129"/>
          <p:cNvSpPr/>
          <p:nvPr/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0" name="AutoShape 130"/>
          <p:cNvSpPr/>
          <p:nvPr/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1" name="AutoShape 131"/>
          <p:cNvSpPr/>
          <p:nvPr/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2" name="AutoShape 132"/>
          <p:cNvSpPr/>
          <p:nvPr/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3" name="AutoShape 133"/>
          <p:cNvSpPr/>
          <p:nvPr/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4" name="AutoShape 134"/>
          <p:cNvSpPr/>
          <p:nvPr/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5" name="AutoShape 135"/>
          <p:cNvSpPr/>
          <p:nvPr/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6" name="AutoShape 136"/>
          <p:cNvSpPr/>
          <p:nvPr/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7" name="AutoShape 137"/>
          <p:cNvSpPr/>
          <p:nvPr/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8" name="AutoShape 138"/>
          <p:cNvSpPr/>
          <p:nvPr/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9" name="AutoShape 139"/>
          <p:cNvSpPr/>
          <p:nvPr/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0" name="AutoShape 140"/>
          <p:cNvSpPr/>
          <p:nvPr/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1" name="AutoShape 141"/>
          <p:cNvSpPr/>
          <p:nvPr/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2" name="AutoShape 142"/>
          <p:cNvSpPr/>
          <p:nvPr/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3" name="AutoShape 143"/>
          <p:cNvSpPr/>
          <p:nvPr/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4" name="AutoShape 144"/>
          <p:cNvSpPr/>
          <p:nvPr/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5" name="AutoShape 145"/>
          <p:cNvSpPr/>
          <p:nvPr/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6" name="AutoShape 146"/>
          <p:cNvSpPr/>
          <p:nvPr/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7" name="AutoShape 147"/>
          <p:cNvSpPr/>
          <p:nvPr/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8" name="AutoShape 148"/>
          <p:cNvSpPr/>
          <p:nvPr/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9" name="AutoShape 149"/>
          <p:cNvSpPr/>
          <p:nvPr/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0" name="AutoShape 150"/>
          <p:cNvSpPr/>
          <p:nvPr/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1" name="AutoShape 151"/>
          <p:cNvSpPr/>
          <p:nvPr/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2" name="AutoShape 152"/>
          <p:cNvSpPr/>
          <p:nvPr/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3" name="AutoShape 153"/>
          <p:cNvSpPr/>
          <p:nvPr/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4" name="AutoShape 154"/>
          <p:cNvSpPr/>
          <p:nvPr/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5" name="AutoShape 155"/>
          <p:cNvSpPr/>
          <p:nvPr/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6" name="AutoShape 156"/>
          <p:cNvSpPr/>
          <p:nvPr/>
        </p:nvSpPr>
        <p:spPr>
          <a:xfrm>
            <a:off x="49518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7" name="AutoShape 157"/>
          <p:cNvSpPr/>
          <p:nvPr/>
        </p:nvSpPr>
        <p:spPr>
          <a:xfrm>
            <a:off x="46279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8" name="AutoShape 158"/>
          <p:cNvSpPr/>
          <p:nvPr/>
        </p:nvSpPr>
        <p:spPr>
          <a:xfrm>
            <a:off x="23610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9" name="AutoShape 159"/>
          <p:cNvSpPr/>
          <p:nvPr/>
        </p:nvSpPr>
        <p:spPr>
          <a:xfrm>
            <a:off x="26848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0" name="AutoShape 160"/>
          <p:cNvSpPr/>
          <p:nvPr/>
        </p:nvSpPr>
        <p:spPr>
          <a:xfrm>
            <a:off x="2035969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1" name="AutoShape 161"/>
          <p:cNvSpPr/>
          <p:nvPr/>
        </p:nvSpPr>
        <p:spPr>
          <a:xfrm>
            <a:off x="30087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2" name="AutoShape 162"/>
          <p:cNvSpPr/>
          <p:nvPr/>
        </p:nvSpPr>
        <p:spPr>
          <a:xfrm>
            <a:off x="36564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3" name="AutoShape 163"/>
          <p:cNvSpPr/>
          <p:nvPr/>
        </p:nvSpPr>
        <p:spPr>
          <a:xfrm>
            <a:off x="39802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4" name="AutoShape 164"/>
          <p:cNvSpPr/>
          <p:nvPr/>
        </p:nvSpPr>
        <p:spPr>
          <a:xfrm>
            <a:off x="43041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5" name="AutoShape 165"/>
          <p:cNvSpPr/>
          <p:nvPr/>
        </p:nvSpPr>
        <p:spPr>
          <a:xfrm>
            <a:off x="527685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26" name="AutoShape 166"/>
          <p:cNvSpPr/>
          <p:nvPr/>
        </p:nvSpPr>
        <p:spPr>
          <a:xfrm>
            <a:off x="26848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7" name="AutoShape 167"/>
          <p:cNvSpPr/>
          <p:nvPr/>
        </p:nvSpPr>
        <p:spPr>
          <a:xfrm>
            <a:off x="30087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8" name="AutoShape 168"/>
          <p:cNvSpPr/>
          <p:nvPr/>
        </p:nvSpPr>
        <p:spPr>
          <a:xfrm>
            <a:off x="2359819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9" name="AutoShape 169"/>
          <p:cNvSpPr/>
          <p:nvPr/>
        </p:nvSpPr>
        <p:spPr>
          <a:xfrm>
            <a:off x="33325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0" name="AutoShape 170"/>
          <p:cNvSpPr/>
          <p:nvPr/>
        </p:nvSpPr>
        <p:spPr>
          <a:xfrm>
            <a:off x="36564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1" name="AutoShape 171"/>
          <p:cNvSpPr/>
          <p:nvPr/>
        </p:nvSpPr>
        <p:spPr>
          <a:xfrm>
            <a:off x="39802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2" name="AutoShape 172"/>
          <p:cNvSpPr/>
          <p:nvPr/>
        </p:nvSpPr>
        <p:spPr>
          <a:xfrm>
            <a:off x="43041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3" name="AutoShape 173"/>
          <p:cNvSpPr/>
          <p:nvPr/>
        </p:nvSpPr>
        <p:spPr>
          <a:xfrm>
            <a:off x="46279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4" name="AutoShape 174"/>
          <p:cNvSpPr/>
          <p:nvPr/>
        </p:nvSpPr>
        <p:spPr>
          <a:xfrm>
            <a:off x="49518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5" name="AutoShape 175"/>
          <p:cNvSpPr/>
          <p:nvPr/>
        </p:nvSpPr>
        <p:spPr>
          <a:xfrm>
            <a:off x="33313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6" name="AutoShape 176"/>
          <p:cNvSpPr/>
          <p:nvPr/>
        </p:nvSpPr>
        <p:spPr>
          <a:xfrm>
            <a:off x="365402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7" name="AutoShape 177"/>
          <p:cNvSpPr/>
          <p:nvPr/>
        </p:nvSpPr>
        <p:spPr>
          <a:xfrm>
            <a:off x="39790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8" name="AutoShape 178"/>
          <p:cNvSpPr/>
          <p:nvPr/>
        </p:nvSpPr>
        <p:spPr>
          <a:xfrm>
            <a:off x="43041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9" name="AutoShape 179"/>
          <p:cNvSpPr/>
          <p:nvPr/>
        </p:nvSpPr>
        <p:spPr>
          <a:xfrm>
            <a:off x="46267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0" name="AutoShape 180"/>
          <p:cNvSpPr/>
          <p:nvPr/>
        </p:nvSpPr>
        <p:spPr>
          <a:xfrm>
            <a:off x="49518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1" name="AutoShape 181"/>
          <p:cNvSpPr/>
          <p:nvPr/>
        </p:nvSpPr>
        <p:spPr>
          <a:xfrm>
            <a:off x="527566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2" name="AutoShape 182"/>
          <p:cNvSpPr/>
          <p:nvPr/>
        </p:nvSpPr>
        <p:spPr>
          <a:xfrm>
            <a:off x="56007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3" name="AutoShape 183"/>
          <p:cNvSpPr/>
          <p:nvPr/>
        </p:nvSpPr>
        <p:spPr>
          <a:xfrm>
            <a:off x="5925741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4" name="AutoShape 184"/>
          <p:cNvSpPr/>
          <p:nvPr/>
        </p:nvSpPr>
        <p:spPr>
          <a:xfrm>
            <a:off x="62484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5" name="AutoShape 185"/>
          <p:cNvSpPr/>
          <p:nvPr/>
        </p:nvSpPr>
        <p:spPr>
          <a:xfrm>
            <a:off x="33325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pic>
        <p:nvPicPr>
          <p:cNvPr id="962746" name="Picture 18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423862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749" name="Line 189"/>
          <p:cNvSpPr/>
          <p:nvPr/>
        </p:nvSpPr>
        <p:spPr>
          <a:xfrm>
            <a:off x="3654029" y="4293394"/>
            <a:ext cx="129659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0" name="Line 190"/>
          <p:cNvSpPr/>
          <p:nvPr/>
        </p:nvSpPr>
        <p:spPr>
          <a:xfrm>
            <a:off x="5274469" y="4293394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1" name="Line 191"/>
          <p:cNvSpPr/>
          <p:nvPr/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626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962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6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6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6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6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6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6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6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6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300"/>
                                        <p:tgtEl>
                                          <p:spTgt spid="962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6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6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6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6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6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6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6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6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6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6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00"/>
                                        <p:tgtEl>
                                          <p:spTgt spid="962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900"/>
                                        <p:tgtEl>
                                          <p:spTgt spid="96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900"/>
                                        <p:tgtEl>
                                          <p:spTgt spid="96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900"/>
                                        <p:tgtEl>
                                          <p:spTgt spid="96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900"/>
                                        <p:tgtEl>
                                          <p:spTgt spid="96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900"/>
                                        <p:tgtEl>
                                          <p:spTgt spid="96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900"/>
                                        <p:tgtEl>
                                          <p:spTgt spid="96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6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6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6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6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62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6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62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7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62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8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62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9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62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98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9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62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62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0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2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5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62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34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7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3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62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46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4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962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962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70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962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2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627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627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9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9627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9627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1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962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2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62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62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62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62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0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6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62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2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962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2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4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5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7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962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4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6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9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962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8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962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0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3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62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2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62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4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5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7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3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62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6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7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9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62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8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1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62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6" dur="300"/>
                                        <p:tgtEl>
                                          <p:spTgt spid="962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900"/>
                                        <p:tgtEl>
                                          <p:spTgt spid="96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900"/>
                                        <p:tgtEl>
                                          <p:spTgt spid="96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62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6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9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962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0"/>
                  </p:tgtEl>
                </p:cond>
              </p:nextCondLst>
            </p:seq>
            <p:seq concurrent="1" nextAc="seek">
              <p:cTn id="941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2" fill="hold">
                      <p:stCondLst>
                        <p:cond delay="0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16" grpId="0" bldLvl="0" animBg="1"/>
      <p:bldP spid="962716" grpId="1" bldLvl="0" animBg="1"/>
      <p:bldP spid="962717" grpId="0" bldLvl="0" animBg="1"/>
      <p:bldP spid="962717" grpId="1" bldLvl="0" animBg="1"/>
      <p:bldP spid="962718" grpId="0" bldLvl="0" animBg="1"/>
      <p:bldP spid="962718" grpId="1" bldLvl="0" animBg="1"/>
      <p:bldP spid="962719" grpId="0" bldLvl="0" animBg="1"/>
      <p:bldP spid="962719" grpId="1" bldLvl="0" animBg="1"/>
      <p:bldP spid="962720" grpId="0" bldLvl="0" animBg="1"/>
      <p:bldP spid="962720" grpId="1" bldLvl="0" animBg="1"/>
      <p:bldP spid="962721" grpId="0" bldLvl="0" animBg="1"/>
      <p:bldP spid="962721" grpId="1" bldLvl="0" animBg="1"/>
      <p:bldP spid="962722" grpId="0" bldLvl="0" animBg="1"/>
      <p:bldP spid="962722" grpId="1" bldLvl="0" animBg="1"/>
      <p:bldP spid="962723" grpId="0" bldLvl="0" animBg="1"/>
      <p:bldP spid="962723" grpId="1" bldLvl="0" animBg="1"/>
      <p:bldP spid="962724" grpId="0" bldLvl="0" animBg="1"/>
      <p:bldP spid="962724" grpId="1" bldLvl="0" animBg="1"/>
      <p:bldP spid="962725" grpId="0" bldLvl="0" animBg="1"/>
      <p:bldP spid="962725" grpId="1" bldLvl="0" animBg="1"/>
      <p:bldP spid="962726" grpId="0" bldLvl="0" animBg="1"/>
      <p:bldP spid="962726" grpId="1" bldLvl="0" animBg="1"/>
      <p:bldP spid="962727" grpId="0" bldLvl="0" animBg="1"/>
      <p:bldP spid="962727" grpId="1" bldLvl="0" animBg="1"/>
      <p:bldP spid="962728" grpId="0" bldLvl="0" animBg="1"/>
      <p:bldP spid="962728" grpId="1" bldLvl="0" animBg="1"/>
      <p:bldP spid="962729" grpId="0" bldLvl="0" animBg="1"/>
      <p:bldP spid="962729" grpId="1" bldLvl="0" animBg="1"/>
      <p:bldP spid="962730" grpId="0" bldLvl="0" animBg="1"/>
      <p:bldP spid="962730" grpId="1" bldLvl="0" animBg="1"/>
      <p:bldP spid="962731" grpId="0" bldLvl="0" animBg="1"/>
      <p:bldP spid="962731" grpId="1" bldLvl="0" animBg="1"/>
      <p:bldP spid="962732" grpId="0" bldLvl="0" animBg="1"/>
      <p:bldP spid="962732" grpId="1" bldLvl="0" animBg="1"/>
      <p:bldP spid="962733" grpId="0" bldLvl="0" animBg="1"/>
      <p:bldP spid="962733" grpId="1" bldLvl="0" animBg="1"/>
      <p:bldP spid="962734" grpId="0" bldLvl="0" animBg="1"/>
      <p:bldP spid="962734" grpId="1" bldLvl="0" animBg="1"/>
      <p:bldP spid="962735" grpId="0" bldLvl="0" animBg="1"/>
      <p:bldP spid="962735" grpId="1" bldLvl="0" animBg="1"/>
      <p:bldP spid="962736" grpId="0" bldLvl="0" animBg="1"/>
      <p:bldP spid="962736" grpId="1" bldLvl="0" animBg="1"/>
      <p:bldP spid="962737" grpId="0" bldLvl="0" animBg="1"/>
      <p:bldP spid="962737" grpId="1" bldLvl="0" animBg="1"/>
      <p:bldP spid="962738" grpId="0" bldLvl="0" animBg="1"/>
      <p:bldP spid="962738" grpId="1" bldLvl="0" animBg="1"/>
      <p:bldP spid="962739" grpId="0" bldLvl="0" animBg="1"/>
      <p:bldP spid="962739" grpId="1" bldLvl="0" animBg="1"/>
      <p:bldP spid="962740" grpId="0" bldLvl="0" animBg="1"/>
      <p:bldP spid="962740" grpId="1" bldLvl="0" animBg="1"/>
      <p:bldP spid="962741" grpId="0" bldLvl="0" animBg="1"/>
      <p:bldP spid="962741" grpId="1" bldLvl="0" animBg="1"/>
      <p:bldP spid="962742" grpId="0" bldLvl="0" animBg="1"/>
      <p:bldP spid="962742" grpId="1" bldLvl="0" animBg="1"/>
      <p:bldP spid="962743" grpId="0" bldLvl="0" animBg="1"/>
      <p:bldP spid="962743" grpId="1" bldLvl="0" animBg="1"/>
      <p:bldP spid="962744" grpId="0" bldLvl="0" animBg="1"/>
      <p:bldP spid="962744" grpId="1" bldLvl="0" animBg="1"/>
      <p:bldP spid="962745" grpId="0" bldLvl="0" animBg="1"/>
      <p:bldP spid="962745" grpId="1" bldLvl="0" animBg="1"/>
      <p:bldP spid="962749" grpId="0" bldLvl="0" animBg="1"/>
      <p:bldP spid="962750" grpId="0" bldLvl="0" animBg="1"/>
      <p:bldP spid="96275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扫描比对的过程，尽管可能中断于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'Y' = P[j]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但此时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= suffix(P, m-j)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必然已经匹配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好后缀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于是，下一轮的对齐位置必须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 = substr(P, k+1, m-j-1)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匹配，而且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P[k]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71992" name="Line 216"/>
          <p:cNvSpPr/>
          <p:nvPr/>
        </p:nvSpPr>
        <p:spPr>
          <a:xfrm>
            <a:off x="5391150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/>
        </p:nvSpPr>
        <p:spPr>
          <a:xfrm>
            <a:off x="1610916" y="41704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4" name="Freeform 218"/>
          <p:cNvSpPr/>
          <p:nvPr/>
        </p:nvSpPr>
        <p:spPr>
          <a:xfrm flipH="1">
            <a:off x="5391150" y="41704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5" name="Line 219"/>
          <p:cNvSpPr/>
          <p:nvPr/>
        </p:nvSpPr>
        <p:spPr>
          <a:xfrm>
            <a:off x="2043113" y="53586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/>
        </p:nvSpPr>
        <p:spPr>
          <a:xfrm>
            <a:off x="2205038" y="50776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1997" name="AutoShape 221"/>
          <p:cNvSpPr/>
          <p:nvPr/>
        </p:nvSpPr>
        <p:spPr>
          <a:xfrm>
            <a:off x="5381625" y="52503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/>
        </p:nvSpPr>
        <p:spPr>
          <a:xfrm flipH="1">
            <a:off x="2043113" y="41704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/>
        </p:nvSpPr>
        <p:spPr>
          <a:xfrm>
            <a:off x="1934766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00" name="AutoShape 224"/>
          <p:cNvSpPr/>
          <p:nvPr/>
        </p:nvSpPr>
        <p:spPr>
          <a:xfrm>
            <a:off x="3339703" y="52503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/>
        </p:nvSpPr>
        <p:spPr>
          <a:xfrm>
            <a:off x="5381625" y="57908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/>
        </p:nvSpPr>
        <p:spPr>
          <a:xfrm>
            <a:off x="2481263" y="58876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2003" name="AutoShape 227"/>
          <p:cNvSpPr>
            <a:spLocks noChangeArrowheads="1"/>
          </p:cNvSpPr>
          <p:nvPr/>
        </p:nvSpPr>
        <p:spPr bwMode="auto">
          <a:xfrm>
            <a:off x="4085035" y="47109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4" name="AutoShape 228"/>
          <p:cNvSpPr>
            <a:spLocks noChangeArrowheads="1"/>
          </p:cNvSpPr>
          <p:nvPr/>
        </p:nvSpPr>
        <p:spPr bwMode="auto">
          <a:xfrm>
            <a:off x="4086225" y="52515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5" name="AutoShape 229"/>
          <p:cNvSpPr>
            <a:spLocks noChangeArrowheads="1"/>
          </p:cNvSpPr>
          <p:nvPr/>
        </p:nvSpPr>
        <p:spPr bwMode="auto">
          <a:xfrm>
            <a:off x="4095750" y="41704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6" name="AutoShape 230"/>
          <p:cNvSpPr>
            <a:spLocks noChangeArrowheads="1"/>
          </p:cNvSpPr>
          <p:nvPr/>
        </p:nvSpPr>
        <p:spPr bwMode="auto">
          <a:xfrm>
            <a:off x="4517231" y="57908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7" name="AutoShape 231"/>
          <p:cNvSpPr>
            <a:spLocks noChangeArrowheads="1"/>
          </p:cNvSpPr>
          <p:nvPr/>
        </p:nvSpPr>
        <p:spPr bwMode="auto">
          <a:xfrm>
            <a:off x="3870722" y="52503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72008" name="AutoShape 232"/>
          <p:cNvSpPr>
            <a:spLocks noChangeArrowheads="1"/>
          </p:cNvSpPr>
          <p:nvPr/>
        </p:nvSpPr>
        <p:spPr bwMode="auto">
          <a:xfrm>
            <a:off x="3880247" y="41704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9" name="Line 233"/>
          <p:cNvSpPr/>
          <p:nvPr/>
        </p:nvSpPr>
        <p:spPr>
          <a:xfrm>
            <a:off x="3869531" y="43871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/>
        </p:nvSpPr>
        <p:spPr>
          <a:xfrm>
            <a:off x="3761185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1" name="Rectangle 235"/>
          <p:cNvSpPr/>
          <p:nvPr/>
        </p:nvSpPr>
        <p:spPr>
          <a:xfrm>
            <a:off x="3869531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2" name="Rectangle 236"/>
          <p:cNvSpPr/>
          <p:nvPr/>
        </p:nvSpPr>
        <p:spPr>
          <a:xfrm>
            <a:off x="3869531" y="44942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3" name="AutoShape 237"/>
          <p:cNvSpPr/>
          <p:nvPr/>
        </p:nvSpPr>
        <p:spPr>
          <a:xfrm>
            <a:off x="2044303" y="47109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/>
        </p:nvSpPr>
        <p:spPr bwMode="auto">
          <a:xfrm>
            <a:off x="3869531" y="47109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15" name="Line 239"/>
          <p:cNvSpPr/>
          <p:nvPr/>
        </p:nvSpPr>
        <p:spPr>
          <a:xfrm flipH="1">
            <a:off x="3339703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/>
        </p:nvSpPr>
        <p:spPr>
          <a:xfrm>
            <a:off x="3231356" y="39549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7" name="Line 241"/>
          <p:cNvSpPr/>
          <p:nvPr/>
        </p:nvSpPr>
        <p:spPr>
          <a:xfrm>
            <a:off x="2044303" y="58992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/>
        </p:nvSpPr>
        <p:spPr>
          <a:xfrm>
            <a:off x="6159104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/>
        </p:nvSpPr>
        <p:spPr>
          <a:xfrm>
            <a:off x="6040041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0" name="Rectangle 244"/>
          <p:cNvSpPr/>
          <p:nvPr/>
        </p:nvSpPr>
        <p:spPr>
          <a:xfrm>
            <a:off x="6148388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1" name="Line 245"/>
          <p:cNvSpPr/>
          <p:nvPr/>
        </p:nvSpPr>
        <p:spPr>
          <a:xfrm>
            <a:off x="7335441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/>
        </p:nvSpPr>
        <p:spPr>
          <a:xfrm>
            <a:off x="7216379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3" name="Rectangle 247"/>
          <p:cNvSpPr/>
          <p:nvPr/>
        </p:nvSpPr>
        <p:spPr>
          <a:xfrm>
            <a:off x="7324725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4" name="Rectangle 248"/>
          <p:cNvSpPr/>
          <p:nvPr/>
        </p:nvSpPr>
        <p:spPr>
          <a:xfrm>
            <a:off x="5282804" y="39537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5" name="Rectangle 249"/>
          <p:cNvSpPr/>
          <p:nvPr/>
        </p:nvSpPr>
        <p:spPr>
          <a:xfrm>
            <a:off x="5391150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6" name="Rectangle 250"/>
          <p:cNvSpPr/>
          <p:nvPr/>
        </p:nvSpPr>
        <p:spPr>
          <a:xfrm>
            <a:off x="5391150" y="44954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7" name="Rectangle 251"/>
          <p:cNvSpPr/>
          <p:nvPr/>
        </p:nvSpPr>
        <p:spPr>
          <a:xfrm>
            <a:off x="5391150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just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中的确存在这样的子串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，则可选择其中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最大者（尽可能靠右）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然后，通过右移使之与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对齐（右移距离尽可能小）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否则，在所有前缀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prefix(P, t)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中，取与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的后缀匹配的最长者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注意：有可能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0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无论如何，位移量仅取决于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亦可预先计算，并制表待查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9744" name="Line 256"/>
          <p:cNvSpPr/>
          <p:nvPr/>
        </p:nvSpPr>
        <p:spPr>
          <a:xfrm>
            <a:off x="5391150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45" name="Freeform 257"/>
          <p:cNvSpPr/>
          <p:nvPr/>
        </p:nvSpPr>
        <p:spPr>
          <a:xfrm>
            <a:off x="1610916" y="42593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6" name="Freeform 258"/>
          <p:cNvSpPr/>
          <p:nvPr/>
        </p:nvSpPr>
        <p:spPr>
          <a:xfrm flipH="1">
            <a:off x="5391150" y="42593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7" name="Line 259"/>
          <p:cNvSpPr/>
          <p:nvPr/>
        </p:nvSpPr>
        <p:spPr>
          <a:xfrm>
            <a:off x="2043113" y="54475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48" name="Rectangle 260"/>
          <p:cNvSpPr/>
          <p:nvPr/>
        </p:nvSpPr>
        <p:spPr>
          <a:xfrm>
            <a:off x="2205038" y="51665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49" name="AutoShape 261"/>
          <p:cNvSpPr/>
          <p:nvPr/>
        </p:nvSpPr>
        <p:spPr>
          <a:xfrm>
            <a:off x="5381625" y="53392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0" name="Line 262"/>
          <p:cNvSpPr/>
          <p:nvPr/>
        </p:nvSpPr>
        <p:spPr>
          <a:xfrm flipH="1">
            <a:off x="2043113" y="42593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51" name="Rectangle 263"/>
          <p:cNvSpPr/>
          <p:nvPr/>
        </p:nvSpPr>
        <p:spPr>
          <a:xfrm>
            <a:off x="1934766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52" name="AutoShape 264"/>
          <p:cNvSpPr/>
          <p:nvPr/>
        </p:nvSpPr>
        <p:spPr>
          <a:xfrm>
            <a:off x="3339703" y="53392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3" name="AutoShape 265"/>
          <p:cNvSpPr/>
          <p:nvPr/>
        </p:nvSpPr>
        <p:spPr>
          <a:xfrm>
            <a:off x="5381625" y="58797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4" name="Rectangle 266"/>
          <p:cNvSpPr/>
          <p:nvPr/>
        </p:nvSpPr>
        <p:spPr>
          <a:xfrm>
            <a:off x="2481263" y="59765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55" name="AutoShape 267"/>
          <p:cNvSpPr>
            <a:spLocks noChangeArrowheads="1"/>
          </p:cNvSpPr>
          <p:nvPr/>
        </p:nvSpPr>
        <p:spPr bwMode="auto">
          <a:xfrm>
            <a:off x="4085035" y="47998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6" name="AutoShape 268"/>
          <p:cNvSpPr>
            <a:spLocks noChangeArrowheads="1"/>
          </p:cNvSpPr>
          <p:nvPr/>
        </p:nvSpPr>
        <p:spPr bwMode="auto">
          <a:xfrm>
            <a:off x="4086225" y="53404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7" name="AutoShape 269"/>
          <p:cNvSpPr>
            <a:spLocks noChangeArrowheads="1"/>
          </p:cNvSpPr>
          <p:nvPr/>
        </p:nvSpPr>
        <p:spPr bwMode="auto">
          <a:xfrm>
            <a:off x="4095750" y="42593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8" name="AutoShape 270"/>
          <p:cNvSpPr>
            <a:spLocks noChangeArrowheads="1"/>
          </p:cNvSpPr>
          <p:nvPr/>
        </p:nvSpPr>
        <p:spPr bwMode="auto">
          <a:xfrm>
            <a:off x="4517231" y="58797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9" name="AutoShape 271"/>
          <p:cNvSpPr>
            <a:spLocks noChangeArrowheads="1"/>
          </p:cNvSpPr>
          <p:nvPr/>
        </p:nvSpPr>
        <p:spPr bwMode="auto">
          <a:xfrm>
            <a:off x="3870722" y="53392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59760" name="AutoShape 272"/>
          <p:cNvSpPr>
            <a:spLocks noChangeArrowheads="1"/>
          </p:cNvSpPr>
          <p:nvPr/>
        </p:nvSpPr>
        <p:spPr bwMode="auto">
          <a:xfrm>
            <a:off x="3880247" y="42593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1" name="Line 273"/>
          <p:cNvSpPr/>
          <p:nvPr/>
        </p:nvSpPr>
        <p:spPr>
          <a:xfrm>
            <a:off x="3869531" y="44760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2" name="Rectangle 274"/>
          <p:cNvSpPr/>
          <p:nvPr/>
        </p:nvSpPr>
        <p:spPr>
          <a:xfrm>
            <a:off x="3761185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3" name="Rectangle 275"/>
          <p:cNvSpPr/>
          <p:nvPr/>
        </p:nvSpPr>
        <p:spPr>
          <a:xfrm>
            <a:off x="3869531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4" name="Rectangle 276"/>
          <p:cNvSpPr/>
          <p:nvPr/>
        </p:nvSpPr>
        <p:spPr>
          <a:xfrm>
            <a:off x="3869531" y="45831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5" name="AutoShape 277"/>
          <p:cNvSpPr/>
          <p:nvPr/>
        </p:nvSpPr>
        <p:spPr>
          <a:xfrm>
            <a:off x="2044303" y="47998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66" name="AutoShape 278"/>
          <p:cNvSpPr>
            <a:spLocks noChangeArrowheads="1"/>
          </p:cNvSpPr>
          <p:nvPr/>
        </p:nvSpPr>
        <p:spPr bwMode="auto">
          <a:xfrm>
            <a:off x="3869531" y="47998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7" name="Line 279"/>
          <p:cNvSpPr/>
          <p:nvPr/>
        </p:nvSpPr>
        <p:spPr>
          <a:xfrm flipH="1">
            <a:off x="3339703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8" name="Rectangle 280"/>
          <p:cNvSpPr/>
          <p:nvPr/>
        </p:nvSpPr>
        <p:spPr>
          <a:xfrm>
            <a:off x="3231356" y="40438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9" name="Line 281"/>
          <p:cNvSpPr/>
          <p:nvPr/>
        </p:nvSpPr>
        <p:spPr>
          <a:xfrm>
            <a:off x="2044303" y="59881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70" name="Line 282"/>
          <p:cNvSpPr/>
          <p:nvPr/>
        </p:nvSpPr>
        <p:spPr>
          <a:xfrm>
            <a:off x="6159104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1" name="Rectangle 283"/>
          <p:cNvSpPr/>
          <p:nvPr/>
        </p:nvSpPr>
        <p:spPr>
          <a:xfrm>
            <a:off x="6040041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2" name="Rectangle 284"/>
          <p:cNvSpPr/>
          <p:nvPr/>
        </p:nvSpPr>
        <p:spPr>
          <a:xfrm>
            <a:off x="6148388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3" name="Line 285"/>
          <p:cNvSpPr/>
          <p:nvPr/>
        </p:nvSpPr>
        <p:spPr>
          <a:xfrm>
            <a:off x="7335441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4" name="Rectangle 286"/>
          <p:cNvSpPr/>
          <p:nvPr/>
        </p:nvSpPr>
        <p:spPr>
          <a:xfrm>
            <a:off x="7216379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5" name="Rectangle 287"/>
          <p:cNvSpPr/>
          <p:nvPr/>
        </p:nvSpPr>
        <p:spPr>
          <a:xfrm>
            <a:off x="7324725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6" name="Rectangle 288"/>
          <p:cNvSpPr/>
          <p:nvPr/>
        </p:nvSpPr>
        <p:spPr>
          <a:xfrm>
            <a:off x="5282804" y="40426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7" name="Rectangle 289"/>
          <p:cNvSpPr/>
          <p:nvPr/>
        </p:nvSpPr>
        <p:spPr>
          <a:xfrm>
            <a:off x="5391150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8" name="Rectangle 290"/>
          <p:cNvSpPr/>
          <p:nvPr/>
        </p:nvSpPr>
        <p:spPr>
          <a:xfrm>
            <a:off x="5391150" y="45843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9" name="Rectangle 291"/>
          <p:cNvSpPr/>
          <p:nvPr/>
        </p:nvSpPr>
        <p:spPr>
          <a:xfrm>
            <a:off x="5391150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9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9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59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59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9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9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59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5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9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9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59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59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59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59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59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5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9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59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9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59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0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59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59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6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59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59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8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59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1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59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2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59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3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59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4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59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7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59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8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59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59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1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59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2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59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3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59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4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59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5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59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4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59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6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59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59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8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59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9"/>
                  </p:tgtEl>
                </p:cond>
              </p:nextCondLst>
            </p:seq>
          </p:childTnLst>
        </p:cTn>
      </p:par>
    </p:tnLst>
    <p:bldLst>
      <p:bldP spid="959747" grpId="0" bldLvl="0" animBg="1"/>
      <p:bldP spid="959748" grpId="0"/>
      <p:bldP spid="959749" grpId="0" bldLvl="0" animBg="1"/>
      <p:bldP spid="959751" grpId="0"/>
      <p:bldP spid="959751" grpId="1"/>
      <p:bldP spid="959752" grpId="0" bldLvl="0" animBg="1"/>
      <p:bldP spid="959753" grpId="0" bldLvl="0" animBg="1"/>
      <p:bldP spid="959754" grpId="0"/>
      <p:bldP spid="959755" grpId="0" bldLvl="0" animBg="1"/>
      <p:bldP spid="959755" grpId="1" bldLvl="0" animBg="1"/>
      <p:bldP spid="959756" grpId="0" bldLvl="0" animBg="1"/>
      <p:bldP spid="959756" grpId="1" bldLvl="0" animBg="1"/>
      <p:bldP spid="959756" grpId="2" bldLvl="0" animBg="1"/>
      <p:bldP spid="959756" grpId="3" bldLvl="0" animBg="1"/>
      <p:bldP spid="959757" grpId="0" bldLvl="0" animBg="1"/>
      <p:bldP spid="959757" grpId="1" bldLvl="0" animBg="1"/>
      <p:bldP spid="959757" grpId="2" bldLvl="0" animBg="1"/>
      <p:bldP spid="959757" grpId="3" bldLvl="0" animBg="1"/>
      <p:bldP spid="959758" grpId="0" bldLvl="0" animBg="1"/>
      <p:bldP spid="959758" grpId="1" bldLvl="0" animBg="1"/>
      <p:bldP spid="959758" grpId="2" bldLvl="0" animBg="1"/>
      <p:bldP spid="959759" grpId="0" bldLvl="0" animBg="1"/>
      <p:bldP spid="959759" grpId="1" bldLvl="0" animBg="1"/>
      <p:bldP spid="959759" grpId="2" bldLvl="0" animBg="1"/>
      <p:bldP spid="959760" grpId="0" bldLvl="0" animBg="1"/>
      <p:bldP spid="959760" grpId="1" bldLvl="0" animBg="1"/>
      <p:bldP spid="959760" grpId="2" bldLvl="0" animBg="1"/>
      <p:bldP spid="959762" grpId="0"/>
      <p:bldP spid="959762" grpId="1"/>
      <p:bldP spid="959762" grpId="2"/>
      <p:bldP spid="959762" grpId="3"/>
      <p:bldP spid="959763" grpId="0"/>
      <p:bldP spid="959763" grpId="1"/>
      <p:bldP spid="959763" grpId="2"/>
      <p:bldP spid="959763" grpId="3"/>
      <p:bldP spid="959764" grpId="0"/>
      <p:bldP spid="959764" grpId="1"/>
      <p:bldP spid="959764" grpId="2"/>
      <p:bldP spid="959764" grpId="3"/>
      <p:bldP spid="959765" grpId="0" bldLvl="0" animBg="1"/>
      <p:bldP spid="959766" grpId="0" bldLvl="0" animBg="1"/>
      <p:bldP spid="959768" grpId="0"/>
      <p:bldP spid="959768" grpId="1"/>
      <p:bldP spid="959769" grpId="0" bldLvl="0" animBg="1"/>
      <p:bldP spid="959771" grpId="0"/>
      <p:bldP spid="959771" grpId="1"/>
      <p:bldP spid="959771" grpId="2"/>
      <p:bldP spid="959772" grpId="0"/>
      <p:bldP spid="959772" grpId="1"/>
      <p:bldP spid="959772" grpId="2"/>
      <p:bldP spid="959774" grpId="0"/>
      <p:bldP spid="959774" grpId="1"/>
      <p:bldP spid="959774" grpId="2"/>
      <p:bldP spid="959775" grpId="0"/>
      <p:bldP spid="959775" grpId="1"/>
      <p:bldP spid="959775" grpId="2"/>
      <p:bldP spid="959776" grpId="0"/>
      <p:bldP spid="959776" grpId="1"/>
      <p:bldP spid="959776" grpId="2"/>
      <p:bldP spid="959776" grpId="3"/>
      <p:bldP spid="959776" grpId="4"/>
      <p:bldP spid="959777" grpId="0"/>
      <p:bldP spid="959777" grpId="1"/>
      <p:bldP spid="959777" grpId="2"/>
      <p:bldP spid="959777" grpId="3"/>
      <p:bldP spid="959777" grpId="4"/>
      <p:bldP spid="959778" grpId="0"/>
      <p:bldP spid="959778" grpId="1"/>
      <p:bldP spid="959778" grpId="2"/>
      <p:bldP spid="959778" grpId="3"/>
      <p:bldP spid="959778" grpId="4"/>
      <p:bldP spid="959779" grpId="0"/>
      <p:bldP spid="959779" grpId="1"/>
      <p:bldP spid="959779" grpId="2"/>
      <p:bldP spid="959779" grpId="3"/>
      <p:bldP spid="959779" grpId="4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37732" name="AutoShape 68"/>
          <p:cNvSpPr/>
          <p:nvPr/>
        </p:nvSpPr>
        <p:spPr>
          <a:xfrm>
            <a:off x="2626519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33" name="AutoShape 69"/>
          <p:cNvSpPr>
            <a:spLocks noChangeArrowheads="1"/>
          </p:cNvSpPr>
          <p:nvPr/>
        </p:nvSpPr>
        <p:spPr bwMode="auto">
          <a:xfrm>
            <a:off x="187047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圣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4" name="AutoShape 70"/>
          <p:cNvSpPr>
            <a:spLocks noChangeArrowheads="1"/>
          </p:cNvSpPr>
          <p:nvPr/>
        </p:nvSpPr>
        <p:spPr bwMode="auto">
          <a:xfrm>
            <a:off x="224790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5" name="AutoShape 71"/>
          <p:cNvSpPr>
            <a:spLocks noChangeArrowheads="1"/>
          </p:cNvSpPr>
          <p:nvPr/>
        </p:nvSpPr>
        <p:spPr bwMode="auto">
          <a:xfrm>
            <a:off x="2626519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6" name="AutoShape 72"/>
          <p:cNvSpPr>
            <a:spLocks noChangeArrowheads="1"/>
          </p:cNvSpPr>
          <p:nvPr/>
        </p:nvSpPr>
        <p:spPr bwMode="auto">
          <a:xfrm>
            <a:off x="300394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7" name="AutoShape 73"/>
          <p:cNvSpPr>
            <a:spLocks noChangeArrowheads="1"/>
          </p:cNvSpPr>
          <p:nvPr/>
        </p:nvSpPr>
        <p:spPr bwMode="auto">
          <a:xfrm>
            <a:off x="3383756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8" name="AutoShape 74"/>
          <p:cNvSpPr>
            <a:spLocks noChangeArrowheads="1"/>
          </p:cNvSpPr>
          <p:nvPr/>
        </p:nvSpPr>
        <p:spPr bwMode="auto">
          <a:xfrm>
            <a:off x="376118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9" name="AutoShape 75"/>
          <p:cNvSpPr>
            <a:spLocks noChangeArrowheads="1"/>
          </p:cNvSpPr>
          <p:nvPr/>
        </p:nvSpPr>
        <p:spPr bwMode="auto">
          <a:xfrm>
            <a:off x="413742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0" name="AutoShape 76"/>
          <p:cNvSpPr>
            <a:spLocks noChangeArrowheads="1"/>
          </p:cNvSpPr>
          <p:nvPr/>
        </p:nvSpPr>
        <p:spPr bwMode="auto">
          <a:xfrm>
            <a:off x="4517231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1" name="AutoShape 77"/>
          <p:cNvSpPr>
            <a:spLocks noChangeArrowheads="1"/>
          </p:cNvSpPr>
          <p:nvPr/>
        </p:nvSpPr>
        <p:spPr bwMode="auto">
          <a:xfrm>
            <a:off x="489585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2" name="AutoShape 78"/>
          <p:cNvSpPr>
            <a:spLocks noChangeArrowheads="1"/>
          </p:cNvSpPr>
          <p:nvPr/>
        </p:nvSpPr>
        <p:spPr bwMode="auto">
          <a:xfrm>
            <a:off x="5272088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3" name="AutoShape 79"/>
          <p:cNvSpPr>
            <a:spLocks noChangeArrowheads="1"/>
          </p:cNvSpPr>
          <p:nvPr/>
        </p:nvSpPr>
        <p:spPr bwMode="auto">
          <a:xfrm>
            <a:off x="565189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4" name="AutoShape 80"/>
          <p:cNvSpPr/>
          <p:nvPr/>
        </p:nvSpPr>
        <p:spPr>
          <a:xfrm>
            <a:off x="1870472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5" name="AutoShape 81"/>
          <p:cNvSpPr>
            <a:spLocks noChangeArrowheads="1"/>
          </p:cNvSpPr>
          <p:nvPr/>
        </p:nvSpPr>
        <p:spPr bwMode="auto">
          <a:xfrm>
            <a:off x="4517231" y="36445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6" name="AutoShape 82"/>
          <p:cNvSpPr/>
          <p:nvPr/>
        </p:nvSpPr>
        <p:spPr>
          <a:xfrm>
            <a:off x="2246710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7" name="AutoShape 83"/>
          <p:cNvSpPr>
            <a:spLocks noChangeArrowheads="1"/>
          </p:cNvSpPr>
          <p:nvPr/>
        </p:nvSpPr>
        <p:spPr bwMode="auto">
          <a:xfrm>
            <a:off x="602932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8" name="AutoShape 84"/>
          <p:cNvSpPr>
            <a:spLocks noChangeArrowheads="1"/>
          </p:cNvSpPr>
          <p:nvPr/>
        </p:nvSpPr>
        <p:spPr bwMode="auto">
          <a:xfrm>
            <a:off x="6407944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9" name="AutoShape 85"/>
          <p:cNvSpPr/>
          <p:nvPr/>
        </p:nvSpPr>
        <p:spPr>
          <a:xfrm>
            <a:off x="3003947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0" name="AutoShape 86"/>
          <p:cNvSpPr/>
          <p:nvPr/>
        </p:nvSpPr>
        <p:spPr>
          <a:xfrm>
            <a:off x="3383756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1" name="AutoShape 87"/>
          <p:cNvSpPr/>
          <p:nvPr/>
        </p:nvSpPr>
        <p:spPr>
          <a:xfrm>
            <a:off x="3761185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故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2" name="AutoShape 88"/>
          <p:cNvSpPr/>
          <p:nvPr/>
        </p:nvSpPr>
        <p:spPr>
          <a:xfrm>
            <a:off x="4138613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 useBgFill="1">
        <p:nvSpPr>
          <p:cNvPr id="1137753" name="AutoShape 89"/>
          <p:cNvSpPr>
            <a:spLocks noChangeAspect="1"/>
          </p:cNvSpPr>
          <p:nvPr/>
        </p:nvSpPr>
        <p:spPr>
          <a:xfrm>
            <a:off x="187166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非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4" name="Rectangle 90"/>
          <p:cNvSpPr>
            <a:spLocks noChangeAspect="1" noChangeArrowheads="1"/>
          </p:cNvSpPr>
          <p:nvPr/>
        </p:nvSpPr>
        <p:spPr bwMode="auto">
          <a:xfrm>
            <a:off x="187166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5" name="AutoShape 91"/>
          <p:cNvSpPr>
            <a:spLocks noChangeAspect="1"/>
          </p:cNvSpPr>
          <p:nvPr/>
        </p:nvSpPr>
        <p:spPr>
          <a:xfrm>
            <a:off x="2247900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曰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6" name="Rectangle 92"/>
          <p:cNvSpPr>
            <a:spLocks noChangeAspect="1" noChangeArrowheads="1"/>
          </p:cNvSpPr>
          <p:nvPr/>
        </p:nvSpPr>
        <p:spPr bwMode="auto">
          <a:xfrm>
            <a:off x="2247900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7" name="AutoShape 93"/>
          <p:cNvSpPr>
            <a:spLocks noChangeAspect="1"/>
          </p:cNvSpPr>
          <p:nvPr/>
        </p:nvSpPr>
        <p:spPr>
          <a:xfrm>
            <a:off x="2626519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8" name="Rectangle 94"/>
          <p:cNvSpPr>
            <a:spLocks noChangeAspect="1" noChangeArrowheads="1"/>
          </p:cNvSpPr>
          <p:nvPr/>
        </p:nvSpPr>
        <p:spPr bwMode="auto">
          <a:xfrm>
            <a:off x="2626519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9" name="AutoShape 95"/>
          <p:cNvSpPr>
            <a:spLocks noChangeAspect="1"/>
          </p:cNvSpPr>
          <p:nvPr/>
        </p:nvSpPr>
        <p:spPr>
          <a:xfrm>
            <a:off x="3003947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0" name="Rectangle 96"/>
          <p:cNvSpPr>
            <a:spLocks noChangeAspect="1" noChangeArrowheads="1"/>
          </p:cNvSpPr>
          <p:nvPr/>
        </p:nvSpPr>
        <p:spPr bwMode="auto">
          <a:xfrm>
            <a:off x="3003947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1" name="AutoShape 97"/>
          <p:cNvSpPr>
            <a:spLocks noChangeAspect="1"/>
          </p:cNvSpPr>
          <p:nvPr/>
        </p:nvSpPr>
        <p:spPr>
          <a:xfrm>
            <a:off x="3383756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善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2" name="Rectangle 98"/>
          <p:cNvSpPr>
            <a:spLocks noChangeAspect="1" noChangeArrowheads="1"/>
          </p:cNvSpPr>
          <p:nvPr/>
        </p:nvSpPr>
        <p:spPr bwMode="auto">
          <a:xfrm>
            <a:off x="3383756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3" name="AutoShape 99"/>
          <p:cNvSpPr>
            <a:spLocks noChangeAspect="1"/>
          </p:cNvSpPr>
          <p:nvPr/>
        </p:nvSpPr>
        <p:spPr>
          <a:xfrm>
            <a:off x="3761185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故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4" name="Rectangle 100"/>
          <p:cNvSpPr>
            <a:spLocks noChangeAspect="1" noChangeArrowheads="1"/>
          </p:cNvSpPr>
          <p:nvPr/>
        </p:nvSpPr>
        <p:spPr bwMode="auto">
          <a:xfrm>
            <a:off x="3761185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5" name="AutoShape 101"/>
          <p:cNvSpPr>
            <a:spLocks noChangeAspect="1"/>
          </p:cNvSpPr>
          <p:nvPr/>
        </p:nvSpPr>
        <p:spPr>
          <a:xfrm>
            <a:off x="413861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6" name="Rectangle 102"/>
          <p:cNvSpPr>
            <a:spLocks noChangeAspect="1" noChangeArrowheads="1"/>
          </p:cNvSpPr>
          <p:nvPr/>
        </p:nvSpPr>
        <p:spPr bwMode="auto">
          <a:xfrm>
            <a:off x="413861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7" name="AutoShape 103"/>
          <p:cNvSpPr>
            <a:spLocks noChangeAspect="1"/>
          </p:cNvSpPr>
          <p:nvPr/>
        </p:nvSpPr>
        <p:spPr>
          <a:xfrm>
            <a:off x="4517231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8" name="Rectangle 104"/>
          <p:cNvSpPr>
            <a:spLocks noChangeAspect="1" noChangeArrowheads="1"/>
          </p:cNvSpPr>
          <p:nvPr/>
        </p:nvSpPr>
        <p:spPr bwMode="auto">
          <a:xfrm>
            <a:off x="4517231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69" name="AutoShape 105"/>
          <p:cNvSpPr/>
          <p:nvPr/>
        </p:nvSpPr>
        <p:spPr>
          <a:xfrm>
            <a:off x="3005138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0" name="AutoShape 106"/>
          <p:cNvSpPr/>
          <p:nvPr/>
        </p:nvSpPr>
        <p:spPr>
          <a:xfrm>
            <a:off x="224790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1" name="AutoShape 107"/>
          <p:cNvSpPr/>
          <p:nvPr/>
        </p:nvSpPr>
        <p:spPr>
          <a:xfrm>
            <a:off x="2626519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2" name="AutoShape 108"/>
          <p:cNvSpPr/>
          <p:nvPr/>
        </p:nvSpPr>
        <p:spPr>
          <a:xfrm>
            <a:off x="3383756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3" name="AutoShape 109"/>
          <p:cNvSpPr>
            <a:spLocks noChangeArrowheads="1"/>
          </p:cNvSpPr>
          <p:nvPr/>
        </p:nvSpPr>
        <p:spPr bwMode="auto">
          <a:xfrm>
            <a:off x="489466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4" name="AutoShape 110"/>
          <p:cNvSpPr>
            <a:spLocks noChangeArrowheads="1"/>
          </p:cNvSpPr>
          <p:nvPr/>
        </p:nvSpPr>
        <p:spPr bwMode="auto">
          <a:xfrm>
            <a:off x="4138613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5" name="AutoShape 111"/>
          <p:cNvSpPr>
            <a:spLocks noChangeArrowheads="1"/>
          </p:cNvSpPr>
          <p:nvPr/>
        </p:nvSpPr>
        <p:spPr bwMode="auto">
          <a:xfrm>
            <a:off x="376118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6" name="AutoShape 112"/>
          <p:cNvSpPr>
            <a:spLocks noChangeArrowheads="1"/>
          </p:cNvSpPr>
          <p:nvPr/>
        </p:nvSpPr>
        <p:spPr bwMode="auto">
          <a:xfrm>
            <a:off x="4137422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7" name="AutoShape 113"/>
          <p:cNvSpPr>
            <a:spLocks noChangeArrowheads="1"/>
          </p:cNvSpPr>
          <p:nvPr/>
        </p:nvSpPr>
        <p:spPr bwMode="auto">
          <a:xfrm>
            <a:off x="4517231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8" name="AutoShape 114"/>
          <p:cNvSpPr>
            <a:spLocks noChangeArrowheads="1"/>
          </p:cNvSpPr>
          <p:nvPr/>
        </p:nvSpPr>
        <p:spPr bwMode="auto">
          <a:xfrm>
            <a:off x="4895850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9" name="AutoShape 115"/>
          <p:cNvSpPr>
            <a:spLocks noChangeArrowheads="1"/>
          </p:cNvSpPr>
          <p:nvPr/>
        </p:nvSpPr>
        <p:spPr bwMode="auto">
          <a:xfrm>
            <a:off x="5272088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0" name="AutoShape 116"/>
          <p:cNvSpPr>
            <a:spLocks noChangeArrowheads="1"/>
          </p:cNvSpPr>
          <p:nvPr/>
        </p:nvSpPr>
        <p:spPr bwMode="auto">
          <a:xfrm>
            <a:off x="5651897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1" name="AutoShape 117"/>
          <p:cNvSpPr>
            <a:spLocks noChangeArrowheads="1"/>
          </p:cNvSpPr>
          <p:nvPr/>
        </p:nvSpPr>
        <p:spPr bwMode="auto">
          <a:xfrm>
            <a:off x="602932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2" name="AutoShape 118"/>
          <p:cNvSpPr>
            <a:spLocks noChangeArrowheads="1"/>
          </p:cNvSpPr>
          <p:nvPr/>
        </p:nvSpPr>
        <p:spPr bwMode="auto">
          <a:xfrm>
            <a:off x="6407944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3" name="Line 119"/>
          <p:cNvSpPr/>
          <p:nvPr/>
        </p:nvSpPr>
        <p:spPr>
          <a:xfrm>
            <a:off x="1871663" y="4346972"/>
            <a:ext cx="378619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4" name="Rectangle 120"/>
          <p:cNvSpPr/>
          <p:nvPr/>
        </p:nvSpPr>
        <p:spPr>
          <a:xfrm>
            <a:off x="1926431" y="4077891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+1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5" name="Line 121"/>
          <p:cNvSpPr/>
          <p:nvPr/>
        </p:nvSpPr>
        <p:spPr>
          <a:xfrm flipH="1">
            <a:off x="1871663" y="4185047"/>
            <a:ext cx="0" cy="32504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6" name="Line 122"/>
          <p:cNvSpPr/>
          <p:nvPr/>
        </p:nvSpPr>
        <p:spPr>
          <a:xfrm>
            <a:off x="2247900" y="4886325"/>
            <a:ext cx="151447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7" name="Rectangle 123"/>
          <p:cNvSpPr/>
          <p:nvPr/>
        </p:nvSpPr>
        <p:spPr>
          <a:xfrm>
            <a:off x="2897981" y="4616054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+4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8" name="Line 124"/>
          <p:cNvSpPr/>
          <p:nvPr/>
        </p:nvSpPr>
        <p:spPr>
          <a:xfrm flipH="1">
            <a:off x="2247900" y="4724400"/>
            <a:ext cx="0" cy="325041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9" name="AutoShape 125"/>
          <p:cNvSpPr>
            <a:spLocks noChangeArrowheads="1"/>
          </p:cNvSpPr>
          <p:nvPr/>
        </p:nvSpPr>
        <p:spPr bwMode="auto">
          <a:xfrm>
            <a:off x="4517231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90" name="AutoShape 126"/>
          <p:cNvSpPr/>
          <p:nvPr/>
        </p:nvSpPr>
        <p:spPr>
          <a:xfrm>
            <a:off x="3762375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7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37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37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37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37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37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37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37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37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37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37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37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37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37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37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8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37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7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37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37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37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37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37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37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37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37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4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1137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5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1137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1137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6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137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7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137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137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8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1137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9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137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37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37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137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37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2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137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37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137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4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137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137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37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6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37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7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137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1" dur="300" fill="hold"/>
                                        <p:tgtEl>
                                          <p:spTgt spid="1137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137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0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9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1137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2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5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0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137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4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7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1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137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6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9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2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37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8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90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37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3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1137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4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137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137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137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7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137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137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5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9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137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7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0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137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9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1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137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4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1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2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137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137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37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5" dur="1800"/>
                                        <p:tgtEl>
                                          <p:spTgt spid="113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4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137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5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37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137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2" dur="300" fill="hold"/>
                                        <p:tgtEl>
                                          <p:spTgt spid="1137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5" dur="1800"/>
                                        <p:tgtEl>
                                          <p:spTgt spid="113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7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137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8"/>
                  </p:tgtEl>
                </p:cond>
              </p:nextCondLst>
            </p:seq>
          </p:childTnLst>
        </p:cTn>
      </p:par>
    </p:tnLst>
    <p:bldLst>
      <p:bldP spid="1137732" grpId="0" bldLvl="0" animBg="1"/>
      <p:bldP spid="1137733" grpId="0" bldLvl="0" animBg="1"/>
      <p:bldP spid="1137734" grpId="0" bldLvl="0" animBg="1"/>
      <p:bldP spid="1137735" grpId="0" bldLvl="0" animBg="1"/>
      <p:bldP spid="1137736" grpId="0" bldLvl="0" animBg="1"/>
      <p:bldP spid="1137737" grpId="0" bldLvl="0" animBg="1"/>
      <p:bldP spid="1137738" grpId="0" bldLvl="0" animBg="1"/>
      <p:bldP spid="1137739" grpId="0" bldLvl="0" animBg="1"/>
      <p:bldP spid="1137740" grpId="0" bldLvl="0" animBg="1"/>
      <p:bldP spid="1137741" grpId="0" bldLvl="0" animBg="1"/>
      <p:bldP spid="1137742" grpId="0" bldLvl="0" animBg="1"/>
      <p:bldP spid="1137743" grpId="0" bldLvl="0" animBg="1"/>
      <p:bldP spid="1137744" grpId="0" bldLvl="0" animBg="1"/>
      <p:bldP spid="1137745" grpId="0" bldLvl="0" animBg="1"/>
      <p:bldP spid="1137746" grpId="0" bldLvl="0" animBg="1"/>
      <p:bldP spid="1137747" grpId="0" bldLvl="0" animBg="1"/>
      <p:bldP spid="1137748" grpId="0" bldLvl="0" animBg="1"/>
      <p:bldP spid="1137749" grpId="0" bldLvl="0" animBg="1"/>
      <p:bldP spid="1137750" grpId="0" bldLvl="0" animBg="1"/>
      <p:bldP spid="1137751" grpId="0" bldLvl="0" animBg="1"/>
      <p:bldP spid="1137752" grpId="0" bldLvl="0" animBg="1"/>
      <p:bldP spid="1137753" grpId="0" bldLvl="0" animBg="1"/>
      <p:bldP spid="1137754" grpId="0" bldLvl="0" animBg="1"/>
      <p:bldP spid="1137755" grpId="0" bldLvl="0" animBg="1"/>
      <p:bldP spid="1137756" grpId="0" bldLvl="0" animBg="1"/>
      <p:bldP spid="1137757" grpId="0" bldLvl="0" animBg="1"/>
      <p:bldP spid="1137758" grpId="0" bldLvl="0" animBg="1"/>
      <p:bldP spid="1137759" grpId="0" bldLvl="0" animBg="1"/>
      <p:bldP spid="1137760" grpId="0" bldLvl="0" animBg="1"/>
      <p:bldP spid="1137761" grpId="0" bldLvl="0" animBg="1"/>
      <p:bldP spid="1137762" grpId="0" bldLvl="0" animBg="1"/>
      <p:bldP spid="1137763" grpId="0" bldLvl="0" animBg="1"/>
      <p:bldP spid="1137764" grpId="0" bldLvl="0" animBg="1"/>
      <p:bldP spid="1137765" grpId="0" bldLvl="0" animBg="1"/>
      <p:bldP spid="1137766" grpId="0" bldLvl="0" animBg="1"/>
      <p:bldP spid="1137767" grpId="0" bldLvl="0" animBg="1"/>
      <p:bldP spid="1137768" grpId="0" bldLvl="0" animBg="1"/>
      <p:bldP spid="1137769" grpId="0" bldLvl="0" animBg="1"/>
      <p:bldP spid="1137770" grpId="0" bldLvl="0" animBg="1"/>
      <p:bldP spid="1137771" grpId="0" bldLvl="0" animBg="1"/>
      <p:bldP spid="1137772" grpId="0" bldLvl="0" animBg="1"/>
      <p:bldP spid="1137773" grpId="0" bldLvl="0" animBg="1"/>
      <p:bldP spid="1137774" grpId="0" bldLvl="0" animBg="1"/>
      <p:bldP spid="1137775" grpId="0" bldLvl="0" animBg="1"/>
      <p:bldP spid="1137776" grpId="0" bldLvl="0" animBg="1"/>
      <p:bldP spid="1137777" grpId="0" bldLvl="0" animBg="1"/>
      <p:bldP spid="1137778" grpId="0" bldLvl="0" animBg="1"/>
      <p:bldP spid="1137779" grpId="0" bldLvl="0" animBg="1"/>
      <p:bldP spid="1137780" grpId="0" bldLvl="0" animBg="1"/>
      <p:bldP spid="1137781" grpId="0" bldLvl="0" animBg="1"/>
      <p:bldP spid="1137782" grpId="0" bldLvl="0" animBg="1"/>
      <p:bldP spid="1137783" grpId="0" bldLvl="0" animBg="1"/>
      <p:bldP spid="1137784" grpId="0"/>
      <p:bldP spid="1137786" grpId="0" bldLvl="0" animBg="1"/>
      <p:bldP spid="1137787" grpId="0"/>
      <p:bldP spid="1137789" grpId="0" bldLvl="0" animBg="1"/>
      <p:bldP spid="1137790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MS[]串与SS[]表</a:t>
            </a:r>
            <a:endParaRPr lang="zh-CN" altLang="en-US"/>
          </a:p>
        </p:txBody>
      </p:sp>
      <p:sp>
        <p:nvSpPr>
          <p:cNvPr id="11458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P[0, 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的所有后缀中，与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的某一后缀匹配的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|MS[j]|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max{ 0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j+1 | P(j-s, j] = P[m-s, m) 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表中蕴含了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表的所有信息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5879" name="AutoShape 23"/>
          <p:cNvSpPr/>
          <p:nvPr/>
        </p:nvSpPr>
        <p:spPr>
          <a:xfrm>
            <a:off x="7231856" y="3533537"/>
            <a:ext cx="215504" cy="215503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</a:rPr>
              <a:t>m</a:t>
            </a:r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90" name="AutoShape 34"/>
          <p:cNvSpPr/>
          <p:nvPr/>
        </p:nvSpPr>
        <p:spPr>
          <a:xfrm>
            <a:off x="2572941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1" name="AutoShape 35"/>
          <p:cNvSpPr>
            <a:spLocks noChangeArrowheads="1"/>
          </p:cNvSpPr>
          <p:nvPr/>
        </p:nvSpPr>
        <p:spPr bwMode="auto">
          <a:xfrm>
            <a:off x="257294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2" name="AutoShape 36"/>
          <p:cNvSpPr>
            <a:spLocks noChangeArrowheads="1"/>
          </p:cNvSpPr>
          <p:nvPr/>
        </p:nvSpPr>
        <p:spPr bwMode="auto">
          <a:xfrm>
            <a:off x="257294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5" name="AutoShape 39"/>
          <p:cNvSpPr/>
          <p:nvPr/>
        </p:nvSpPr>
        <p:spPr>
          <a:xfrm>
            <a:off x="2843213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6" name="AutoShape 40"/>
          <p:cNvSpPr>
            <a:spLocks noChangeArrowheads="1"/>
          </p:cNvSpPr>
          <p:nvPr/>
        </p:nvSpPr>
        <p:spPr bwMode="auto">
          <a:xfrm>
            <a:off x="2843213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7" name="AutoShape 41"/>
          <p:cNvSpPr>
            <a:spLocks noChangeArrowheads="1"/>
          </p:cNvSpPr>
          <p:nvPr/>
        </p:nvSpPr>
        <p:spPr bwMode="auto">
          <a:xfrm>
            <a:off x="2843213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8" name="AutoShape 42"/>
          <p:cNvSpPr/>
          <p:nvPr/>
        </p:nvSpPr>
        <p:spPr>
          <a:xfrm>
            <a:off x="3113485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9" name="AutoShape 43"/>
          <p:cNvSpPr>
            <a:spLocks noChangeArrowheads="1"/>
          </p:cNvSpPr>
          <p:nvPr/>
        </p:nvSpPr>
        <p:spPr bwMode="auto">
          <a:xfrm>
            <a:off x="311348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0" name="AutoShape 44"/>
          <p:cNvSpPr>
            <a:spLocks noChangeArrowheads="1"/>
          </p:cNvSpPr>
          <p:nvPr/>
        </p:nvSpPr>
        <p:spPr bwMode="auto">
          <a:xfrm>
            <a:off x="311348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1" name="AutoShape 45"/>
          <p:cNvSpPr/>
          <p:nvPr/>
        </p:nvSpPr>
        <p:spPr>
          <a:xfrm>
            <a:off x="33825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2" name="AutoShape 46"/>
          <p:cNvSpPr>
            <a:spLocks noChangeArrowheads="1"/>
          </p:cNvSpPr>
          <p:nvPr/>
        </p:nvSpPr>
        <p:spPr bwMode="auto">
          <a:xfrm>
            <a:off x="33825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3" name="AutoShape 47"/>
          <p:cNvSpPr>
            <a:spLocks noChangeArrowheads="1"/>
          </p:cNvSpPr>
          <p:nvPr/>
        </p:nvSpPr>
        <p:spPr bwMode="auto">
          <a:xfrm>
            <a:off x="33825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4" name="AutoShape 48"/>
          <p:cNvSpPr/>
          <p:nvPr/>
        </p:nvSpPr>
        <p:spPr>
          <a:xfrm>
            <a:off x="3652838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5" name="AutoShape 49"/>
          <p:cNvSpPr>
            <a:spLocks noChangeArrowheads="1"/>
          </p:cNvSpPr>
          <p:nvPr/>
        </p:nvSpPr>
        <p:spPr bwMode="auto">
          <a:xfrm>
            <a:off x="3652838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6" name="AutoShape 50"/>
          <p:cNvSpPr>
            <a:spLocks noChangeArrowheads="1"/>
          </p:cNvSpPr>
          <p:nvPr/>
        </p:nvSpPr>
        <p:spPr bwMode="auto">
          <a:xfrm>
            <a:off x="3652838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7" name="AutoShape 51"/>
          <p:cNvSpPr/>
          <p:nvPr/>
        </p:nvSpPr>
        <p:spPr>
          <a:xfrm>
            <a:off x="3923110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8" name="AutoShape 52"/>
          <p:cNvSpPr>
            <a:spLocks noChangeArrowheads="1"/>
          </p:cNvSpPr>
          <p:nvPr/>
        </p:nvSpPr>
        <p:spPr bwMode="auto">
          <a:xfrm>
            <a:off x="392311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9" name="AutoShape 53"/>
          <p:cNvSpPr>
            <a:spLocks noChangeArrowheads="1"/>
          </p:cNvSpPr>
          <p:nvPr/>
        </p:nvSpPr>
        <p:spPr bwMode="auto">
          <a:xfrm>
            <a:off x="392311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0" name="AutoShape 54"/>
          <p:cNvSpPr/>
          <p:nvPr/>
        </p:nvSpPr>
        <p:spPr>
          <a:xfrm>
            <a:off x="4193381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1" name="AutoShape 55"/>
          <p:cNvSpPr>
            <a:spLocks noChangeArrowheads="1"/>
          </p:cNvSpPr>
          <p:nvPr/>
        </p:nvSpPr>
        <p:spPr bwMode="auto">
          <a:xfrm>
            <a:off x="419338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2" name="AutoShape 56"/>
          <p:cNvSpPr>
            <a:spLocks noChangeArrowheads="1"/>
          </p:cNvSpPr>
          <p:nvPr/>
        </p:nvSpPr>
        <p:spPr bwMode="auto">
          <a:xfrm>
            <a:off x="419338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3" name="AutoShape 57"/>
          <p:cNvSpPr/>
          <p:nvPr/>
        </p:nvSpPr>
        <p:spPr>
          <a:xfrm>
            <a:off x="4463654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4" name="AutoShape 58"/>
          <p:cNvSpPr>
            <a:spLocks noChangeArrowheads="1"/>
          </p:cNvSpPr>
          <p:nvPr/>
        </p:nvSpPr>
        <p:spPr bwMode="auto">
          <a:xfrm>
            <a:off x="446365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5" name="AutoShape 59"/>
          <p:cNvSpPr>
            <a:spLocks noChangeArrowheads="1"/>
          </p:cNvSpPr>
          <p:nvPr/>
        </p:nvSpPr>
        <p:spPr bwMode="auto">
          <a:xfrm>
            <a:off x="446365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6" name="AutoShape 60"/>
          <p:cNvSpPr/>
          <p:nvPr/>
        </p:nvSpPr>
        <p:spPr>
          <a:xfrm>
            <a:off x="4733925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7" name="AutoShape 61"/>
          <p:cNvSpPr>
            <a:spLocks noChangeArrowheads="1"/>
          </p:cNvSpPr>
          <p:nvPr/>
        </p:nvSpPr>
        <p:spPr bwMode="auto">
          <a:xfrm>
            <a:off x="473392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8" name="AutoShape 62"/>
          <p:cNvSpPr>
            <a:spLocks noChangeArrowheads="1"/>
          </p:cNvSpPr>
          <p:nvPr/>
        </p:nvSpPr>
        <p:spPr bwMode="auto">
          <a:xfrm>
            <a:off x="473392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9" name="AutoShape 63"/>
          <p:cNvSpPr/>
          <p:nvPr/>
        </p:nvSpPr>
        <p:spPr>
          <a:xfrm>
            <a:off x="5273279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0" name="AutoShape 64"/>
          <p:cNvSpPr>
            <a:spLocks noChangeArrowheads="1"/>
          </p:cNvSpPr>
          <p:nvPr/>
        </p:nvSpPr>
        <p:spPr bwMode="auto">
          <a:xfrm>
            <a:off x="5273279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1" name="AutoShape 65"/>
          <p:cNvSpPr>
            <a:spLocks noChangeArrowheads="1"/>
          </p:cNvSpPr>
          <p:nvPr/>
        </p:nvSpPr>
        <p:spPr bwMode="auto">
          <a:xfrm>
            <a:off x="5273279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2" name="AutoShape 66"/>
          <p:cNvSpPr/>
          <p:nvPr/>
        </p:nvSpPr>
        <p:spPr>
          <a:xfrm>
            <a:off x="5543550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3" name="AutoShape 67"/>
          <p:cNvSpPr>
            <a:spLocks noChangeArrowheads="1"/>
          </p:cNvSpPr>
          <p:nvPr/>
        </p:nvSpPr>
        <p:spPr bwMode="auto">
          <a:xfrm>
            <a:off x="554355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4" name="AutoShape 68"/>
          <p:cNvSpPr>
            <a:spLocks noChangeArrowheads="1"/>
          </p:cNvSpPr>
          <p:nvPr/>
        </p:nvSpPr>
        <p:spPr bwMode="auto">
          <a:xfrm>
            <a:off x="554355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5" name="AutoShape 69"/>
          <p:cNvSpPr/>
          <p:nvPr/>
        </p:nvSpPr>
        <p:spPr>
          <a:xfrm>
            <a:off x="5813822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6" name="AutoShape 70"/>
          <p:cNvSpPr>
            <a:spLocks noChangeArrowheads="1"/>
          </p:cNvSpPr>
          <p:nvPr/>
        </p:nvSpPr>
        <p:spPr bwMode="auto">
          <a:xfrm>
            <a:off x="5813822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7" name="AutoShape 71"/>
          <p:cNvSpPr>
            <a:spLocks noChangeArrowheads="1"/>
          </p:cNvSpPr>
          <p:nvPr/>
        </p:nvSpPr>
        <p:spPr bwMode="auto">
          <a:xfrm>
            <a:off x="5813822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8" name="AutoShape 72"/>
          <p:cNvSpPr/>
          <p:nvPr/>
        </p:nvSpPr>
        <p:spPr>
          <a:xfrm>
            <a:off x="6084094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9" name="AutoShape 73"/>
          <p:cNvSpPr>
            <a:spLocks noChangeArrowheads="1"/>
          </p:cNvSpPr>
          <p:nvPr/>
        </p:nvSpPr>
        <p:spPr bwMode="auto">
          <a:xfrm>
            <a:off x="608409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0" name="AutoShape 74"/>
          <p:cNvSpPr>
            <a:spLocks noChangeArrowheads="1"/>
          </p:cNvSpPr>
          <p:nvPr/>
        </p:nvSpPr>
        <p:spPr bwMode="auto">
          <a:xfrm>
            <a:off x="608409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1" name="AutoShape 75"/>
          <p:cNvSpPr/>
          <p:nvPr/>
        </p:nvSpPr>
        <p:spPr>
          <a:xfrm>
            <a:off x="63543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2" name="AutoShape 76"/>
          <p:cNvSpPr>
            <a:spLocks noChangeArrowheads="1"/>
          </p:cNvSpPr>
          <p:nvPr/>
        </p:nvSpPr>
        <p:spPr bwMode="auto">
          <a:xfrm>
            <a:off x="63543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3" name="AutoShape 77"/>
          <p:cNvSpPr>
            <a:spLocks noChangeArrowheads="1"/>
          </p:cNvSpPr>
          <p:nvPr/>
        </p:nvSpPr>
        <p:spPr bwMode="auto">
          <a:xfrm>
            <a:off x="63543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4" name="AutoShape 78"/>
          <p:cNvSpPr/>
          <p:nvPr/>
        </p:nvSpPr>
        <p:spPr>
          <a:xfrm>
            <a:off x="5003006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5" name="AutoShape 79"/>
          <p:cNvSpPr>
            <a:spLocks noChangeArrowheads="1"/>
          </p:cNvSpPr>
          <p:nvPr/>
        </p:nvSpPr>
        <p:spPr bwMode="auto">
          <a:xfrm>
            <a:off x="500300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6" name="AutoShape 80"/>
          <p:cNvSpPr>
            <a:spLocks noChangeArrowheads="1"/>
          </p:cNvSpPr>
          <p:nvPr/>
        </p:nvSpPr>
        <p:spPr bwMode="auto">
          <a:xfrm>
            <a:off x="500300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78" name="AutoShape 22"/>
          <p:cNvSpPr/>
          <p:nvPr/>
        </p:nvSpPr>
        <p:spPr>
          <a:xfrm>
            <a:off x="1925241" y="3533537"/>
            <a:ext cx="5262563" cy="21550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85" name="AutoShape 29"/>
          <p:cNvSpPr/>
          <p:nvPr/>
        </p:nvSpPr>
        <p:spPr>
          <a:xfrm>
            <a:off x="5410200" y="3318034"/>
            <a:ext cx="1781175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maximum matched suffix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6" name="AutoShape 30"/>
          <p:cNvSpPr/>
          <p:nvPr/>
        </p:nvSpPr>
        <p:spPr>
          <a:xfrm>
            <a:off x="2737247" y="3318034"/>
            <a:ext cx="177998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MS[j]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0" name="AutoShape 24"/>
          <p:cNvSpPr/>
          <p:nvPr/>
        </p:nvSpPr>
        <p:spPr>
          <a:xfrm>
            <a:off x="4301729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5881" name="Rectangle 25"/>
          <p:cNvSpPr/>
          <p:nvPr/>
        </p:nvSpPr>
        <p:spPr>
          <a:xfrm>
            <a:off x="5409010" y="4019312"/>
            <a:ext cx="215503" cy="215503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m-SS[j]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2" name="AutoShape 26"/>
          <p:cNvSpPr/>
          <p:nvPr/>
        </p:nvSpPr>
        <p:spPr>
          <a:xfrm>
            <a:off x="5409010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20247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3" name="Rectangle 27"/>
          <p:cNvSpPr/>
          <p:nvPr/>
        </p:nvSpPr>
        <p:spPr>
          <a:xfrm>
            <a:off x="2572941" y="4019312"/>
            <a:ext cx="215503" cy="215503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j-SS[j]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4" name="AutoShape 28"/>
          <p:cNvSpPr/>
          <p:nvPr/>
        </p:nvSpPr>
        <p:spPr>
          <a:xfrm>
            <a:off x="2572941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5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5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5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5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5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1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45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5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3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145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45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145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6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45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0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5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1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5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45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145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145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45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8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5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9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45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0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45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1"/>
                  </p:tgtEl>
                </p:cond>
              </p:nextCondLst>
            </p:seq>
            <p:seq concurrent="1" nextAc="seek">
              <p:cTn id="289" restart="whenNotActive" fill="hold" evtFilter="cancelBubble" nodeType="interactiveSeq">
                <p:stCondLst>
                  <p:cond evt="onClick" delay="0">
                    <p:tgtEl>
                      <p:spTgt spid="1145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2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1145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9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45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4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145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1145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6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45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7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45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145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9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45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1145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1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1145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3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5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2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45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145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4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145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3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5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45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6"/>
                  </p:tgtEl>
                </p:cond>
              </p:nextCondLst>
            </p:seq>
            <p:seq concurrent="1" nextAc="seek">
              <p:cTn id="529" restart="whenNotActive" fill="hold" evtFilter="cancelBubble" nodeType="interactiveSeq">
                <p:stCondLst>
                  <p:cond evt="onClick" delay="0">
                    <p:tgtEl>
                      <p:spTgt spid="1145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0" fill="hold">
                      <p:stCondLst>
                        <p:cond delay="0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2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7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1145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8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45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9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145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0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0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145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7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9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1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45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4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2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145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8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0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14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5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7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4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2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5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14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8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6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114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7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14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8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14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9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114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1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3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0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14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8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1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14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2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2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14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1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3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14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0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4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14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0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5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14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7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9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6"/>
                  </p:tgtEl>
                </p:cond>
              </p:nextCondLst>
            </p:seq>
          </p:childTnLst>
        </p:cTn>
      </p:par>
    </p:tnLst>
    <p:bldLst>
      <p:bldP spid="1145879" grpId="0"/>
      <p:bldP spid="1145890" grpId="0"/>
      <p:bldP spid="1145891" grpId="0" bldLvl="0" animBg="1"/>
      <p:bldP spid="1145891" grpId="1" bldLvl="0" animBg="1"/>
      <p:bldP spid="1145891" grpId="2" bldLvl="0" animBg="1"/>
      <p:bldP spid="1145892" grpId="0" bldLvl="0" animBg="1"/>
      <p:bldP spid="1145892" grpId="1" bldLvl="0" animBg="1"/>
      <p:bldP spid="1145892" grpId="2" bldLvl="0" animBg="1"/>
      <p:bldP spid="1145895" grpId="0"/>
      <p:bldP spid="1145896" grpId="0" bldLvl="0" animBg="1"/>
      <p:bldP spid="1145896" grpId="1" bldLvl="0" animBg="1"/>
      <p:bldP spid="1145896" grpId="2" bldLvl="0" animBg="1"/>
      <p:bldP spid="1145897" grpId="0" bldLvl="0" animBg="1"/>
      <p:bldP spid="1145897" grpId="1" bldLvl="0" animBg="1"/>
      <p:bldP spid="1145897" grpId="2" bldLvl="0" animBg="1"/>
      <p:bldP spid="1145898" grpId="0"/>
      <p:bldP spid="1145899" grpId="0" bldLvl="0" animBg="1"/>
      <p:bldP spid="1145899" grpId="1" bldLvl="0" animBg="1"/>
      <p:bldP spid="1145899" grpId="2" bldLvl="0" animBg="1"/>
      <p:bldP spid="1145900" grpId="0" bldLvl="0" animBg="1"/>
      <p:bldP spid="1145900" grpId="1" bldLvl="0" animBg="1"/>
      <p:bldP spid="1145900" grpId="2" bldLvl="0" animBg="1"/>
      <p:bldP spid="1145901" grpId="0"/>
      <p:bldP spid="1145902" grpId="0" bldLvl="0" animBg="1"/>
      <p:bldP spid="1145902" grpId="1" bldLvl="0" animBg="1"/>
      <p:bldP spid="1145902" grpId="2" bldLvl="0" animBg="1"/>
      <p:bldP spid="1145903" grpId="0" bldLvl="0" animBg="1"/>
      <p:bldP spid="1145903" grpId="1" bldLvl="0" animBg="1"/>
      <p:bldP spid="1145903" grpId="2" bldLvl="0" animBg="1"/>
      <p:bldP spid="1145904" grpId="0"/>
      <p:bldP spid="1145905" grpId="0" bldLvl="0" animBg="1"/>
      <p:bldP spid="1145905" grpId="1" bldLvl="0" animBg="1"/>
      <p:bldP spid="1145905" grpId="2" bldLvl="0" animBg="1"/>
      <p:bldP spid="1145906" grpId="0" bldLvl="0" animBg="1"/>
      <p:bldP spid="1145906" grpId="1" bldLvl="0" animBg="1"/>
      <p:bldP spid="1145906" grpId="2" bldLvl="0" animBg="1"/>
      <p:bldP spid="1145907" grpId="0"/>
      <p:bldP spid="1145908" grpId="0" bldLvl="0" animBg="1"/>
      <p:bldP spid="1145908" grpId="1" bldLvl="0" animBg="1"/>
      <p:bldP spid="1145908" grpId="2" bldLvl="0" animBg="1"/>
      <p:bldP spid="1145909" grpId="0" bldLvl="0" animBg="1"/>
      <p:bldP spid="1145909" grpId="1" bldLvl="0" animBg="1"/>
      <p:bldP spid="1145909" grpId="2" bldLvl="0" animBg="1"/>
      <p:bldP spid="1145910" grpId="0"/>
      <p:bldP spid="1145911" grpId="0" bldLvl="0" animBg="1"/>
      <p:bldP spid="1145911" grpId="1" bldLvl="0" animBg="1"/>
      <p:bldP spid="1145911" grpId="2" bldLvl="0" animBg="1"/>
      <p:bldP spid="1145912" grpId="0" bldLvl="0" animBg="1"/>
      <p:bldP spid="1145912" grpId="1" bldLvl="0" animBg="1"/>
      <p:bldP spid="1145912" grpId="2" bldLvl="0" animBg="1"/>
      <p:bldP spid="1145913" grpId="0"/>
      <p:bldP spid="1145914" grpId="0" bldLvl="0" animBg="1"/>
      <p:bldP spid="1145914" grpId="1" bldLvl="0" animBg="1"/>
      <p:bldP spid="1145914" grpId="2" bldLvl="0" animBg="1"/>
      <p:bldP spid="1145915" grpId="0" bldLvl="0" animBg="1"/>
      <p:bldP spid="1145915" grpId="1" bldLvl="0" animBg="1"/>
      <p:bldP spid="1145915" grpId="2" bldLvl="0" animBg="1"/>
      <p:bldP spid="1145916" grpId="0"/>
      <p:bldP spid="1145917" grpId="0" bldLvl="0" animBg="1"/>
      <p:bldP spid="1145917" grpId="1" bldLvl="0" animBg="1"/>
      <p:bldP spid="1145917" grpId="2" bldLvl="0" animBg="1"/>
      <p:bldP spid="1145918" grpId="0" bldLvl="0" animBg="1"/>
      <p:bldP spid="1145918" grpId="1" bldLvl="0" animBg="1"/>
      <p:bldP spid="1145918" grpId="2" bldLvl="0" animBg="1"/>
      <p:bldP spid="1145919" grpId="0"/>
      <p:bldP spid="1145920" grpId="0" bldLvl="0" animBg="1"/>
      <p:bldP spid="1145920" grpId="1" bldLvl="0" animBg="1"/>
      <p:bldP spid="1145920" grpId="2" bldLvl="0" animBg="1"/>
      <p:bldP spid="1145921" grpId="0" bldLvl="0" animBg="1"/>
      <p:bldP spid="1145921" grpId="1" bldLvl="0" animBg="1"/>
      <p:bldP spid="1145921" grpId="2" bldLvl="0" animBg="1"/>
      <p:bldP spid="1145922" grpId="0"/>
      <p:bldP spid="1145923" grpId="0" bldLvl="0" animBg="1"/>
      <p:bldP spid="1145923" grpId="1" bldLvl="0" animBg="1"/>
      <p:bldP spid="1145923" grpId="2" bldLvl="0" animBg="1"/>
      <p:bldP spid="1145924" grpId="0" bldLvl="0" animBg="1"/>
      <p:bldP spid="1145924" grpId="1" bldLvl="0" animBg="1"/>
      <p:bldP spid="1145924" grpId="2" bldLvl="0" animBg="1"/>
      <p:bldP spid="1145925" grpId="0"/>
      <p:bldP spid="1145926" grpId="0" bldLvl="0" animBg="1"/>
      <p:bldP spid="1145926" grpId="1" bldLvl="0" animBg="1"/>
      <p:bldP spid="1145926" grpId="2" bldLvl="0" animBg="1"/>
      <p:bldP spid="1145927" grpId="0" bldLvl="0" animBg="1"/>
      <p:bldP spid="1145927" grpId="1" bldLvl="0" animBg="1"/>
      <p:bldP spid="1145927" grpId="2" bldLvl="0" animBg="1"/>
      <p:bldP spid="1145928" grpId="0"/>
      <p:bldP spid="1145929" grpId="0" bldLvl="0" animBg="1"/>
      <p:bldP spid="1145929" grpId="1" bldLvl="0" animBg="1"/>
      <p:bldP spid="1145929" grpId="2" bldLvl="0" animBg="1"/>
      <p:bldP spid="1145930" grpId="0" bldLvl="0" animBg="1"/>
      <p:bldP spid="1145930" grpId="1" bldLvl="0" animBg="1"/>
      <p:bldP spid="1145930" grpId="2" bldLvl="0" animBg="1"/>
      <p:bldP spid="1145931" grpId="0"/>
      <p:bldP spid="1145932" grpId="0" bldLvl="0" animBg="1"/>
      <p:bldP spid="1145932" grpId="1" bldLvl="0" animBg="1"/>
      <p:bldP spid="1145932" grpId="2" bldLvl="0" animBg="1"/>
      <p:bldP spid="1145933" grpId="0" bldLvl="0" animBg="1"/>
      <p:bldP spid="1145933" grpId="1" bldLvl="0" animBg="1"/>
      <p:bldP spid="1145933" grpId="2" bldLvl="0" animBg="1"/>
      <p:bldP spid="1145934" grpId="0"/>
      <p:bldP spid="1145935" grpId="0" bldLvl="0" animBg="1"/>
      <p:bldP spid="1145935" grpId="1" bldLvl="0" animBg="1"/>
      <p:bldP spid="1145935" grpId="2" bldLvl="0" animBg="1"/>
      <p:bldP spid="1145936" grpId="0" bldLvl="0" animBg="1"/>
      <p:bldP spid="1145936" grpId="1" bldLvl="0" animBg="1"/>
      <p:bldP spid="1145936" grpId="2" bldLvl="0" animBg="1"/>
      <p:bldP spid="1145878" grpId="0" bldLvl="0" animBg="1"/>
      <p:bldP spid="1145886" grpId="0" bldLvl="0" animBg="1"/>
      <p:bldP spid="1145886" grpId="1" bldLvl="0" animBg="1"/>
      <p:bldP spid="1145880" grpId="0" bldLvl="0" animBg="1"/>
      <p:bldP spid="1145882" grpId="0" bldLvl="0" animBg="1"/>
      <p:bldP spid="1145882" grpId="1" bldLvl="0" animBg="1"/>
      <p:bldP spid="1145884" grpId="0" bldLvl="0" animBg="1"/>
      <p:bldP spid="1145884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由SS[]表构造GS[]表</a:t>
            </a:r>
            <a:endParaRPr lang="zh-CN" altLang="en-US"/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63463"/>
            <a:ext cx="7886700" cy="4686830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无非两种情况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j + 1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&lt; 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&lt;= 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7908" name="AutoShape 4"/>
          <p:cNvSpPr/>
          <p:nvPr/>
        </p:nvSpPr>
        <p:spPr>
          <a:xfrm>
            <a:off x="7448550" y="4483339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09" name="AutoShape 5"/>
          <p:cNvSpPr/>
          <p:nvPr/>
        </p:nvSpPr>
        <p:spPr>
          <a:xfrm>
            <a:off x="376118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10" name="Rectangle 6"/>
          <p:cNvSpPr>
            <a:spLocks noChangeArrowheads="1"/>
          </p:cNvSpPr>
          <p:nvPr/>
        </p:nvSpPr>
        <p:spPr bwMode="auto">
          <a:xfrm>
            <a:off x="5625704" y="4847670"/>
            <a:ext cx="16073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j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1" name="AutoShape 7"/>
          <p:cNvSpPr>
            <a:spLocks noChangeArrowheads="1"/>
          </p:cNvSpPr>
          <p:nvPr/>
        </p:nvSpPr>
        <p:spPr bwMode="auto">
          <a:xfrm>
            <a:off x="5625704" y="4644073"/>
            <a:ext cx="16073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2" name="AutoShape 8"/>
          <p:cNvSpPr>
            <a:spLocks noChangeArrowheads="1"/>
          </p:cNvSpPr>
          <p:nvPr/>
        </p:nvSpPr>
        <p:spPr bwMode="auto">
          <a:xfrm>
            <a:off x="214193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3" name="AutoShape 9"/>
          <p:cNvSpPr>
            <a:spLocks noChangeArrowheads="1"/>
          </p:cNvSpPr>
          <p:nvPr/>
        </p:nvSpPr>
        <p:spPr bwMode="auto">
          <a:xfrm>
            <a:off x="5626894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4" name="AutoShape 10"/>
          <p:cNvSpPr>
            <a:spLocks noChangeArrowheads="1"/>
          </p:cNvSpPr>
          <p:nvPr/>
        </p:nvSpPr>
        <p:spPr bwMode="auto">
          <a:xfrm>
            <a:off x="2141935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5" name="Line 11"/>
          <p:cNvSpPr/>
          <p:nvPr/>
        </p:nvSpPr>
        <p:spPr>
          <a:xfrm>
            <a:off x="3923110" y="4158298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16" name="Rectangle 12"/>
          <p:cNvSpPr/>
          <p:nvPr/>
        </p:nvSpPr>
        <p:spPr>
          <a:xfrm>
            <a:off x="5828110" y="3953510"/>
            <a:ext cx="241697" cy="244079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17" name="Line 13"/>
          <p:cNvSpPr/>
          <p:nvPr/>
        </p:nvSpPr>
        <p:spPr>
          <a:xfrm flipH="1">
            <a:off x="3923110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8" name="Line 14"/>
          <p:cNvSpPr/>
          <p:nvPr/>
        </p:nvSpPr>
        <p:spPr>
          <a:xfrm flipH="1">
            <a:off x="7408069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9" name="AutoShape 15"/>
          <p:cNvSpPr/>
          <p:nvPr/>
        </p:nvSpPr>
        <p:spPr>
          <a:xfrm>
            <a:off x="2141935" y="5578713"/>
            <a:ext cx="5262563" cy="160734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0" name="AutoShape 16"/>
          <p:cNvSpPr/>
          <p:nvPr/>
        </p:nvSpPr>
        <p:spPr>
          <a:xfrm>
            <a:off x="744855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1" name="AutoShape 17"/>
          <p:cNvSpPr/>
          <p:nvPr/>
        </p:nvSpPr>
        <p:spPr>
          <a:xfrm>
            <a:off x="376118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22" name="AutoShape 18"/>
          <p:cNvSpPr>
            <a:spLocks noChangeArrowheads="1"/>
          </p:cNvSpPr>
          <p:nvPr/>
        </p:nvSpPr>
        <p:spPr bwMode="auto">
          <a:xfrm>
            <a:off x="214193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3" name="AutoShape 19"/>
          <p:cNvSpPr>
            <a:spLocks noChangeArrowheads="1"/>
          </p:cNvSpPr>
          <p:nvPr/>
        </p:nvSpPr>
        <p:spPr bwMode="auto">
          <a:xfrm>
            <a:off x="5950744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4" name="AutoShape 20"/>
          <p:cNvSpPr>
            <a:spLocks noChangeArrowheads="1"/>
          </p:cNvSpPr>
          <p:nvPr/>
        </p:nvSpPr>
        <p:spPr bwMode="auto">
          <a:xfrm>
            <a:off x="2465785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5" name="Line 21"/>
          <p:cNvSpPr/>
          <p:nvPr/>
        </p:nvSpPr>
        <p:spPr>
          <a:xfrm>
            <a:off x="3923110" y="5253673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26" name="Rectangle 22"/>
          <p:cNvSpPr/>
          <p:nvPr/>
        </p:nvSpPr>
        <p:spPr>
          <a:xfrm>
            <a:off x="5828110" y="5050076"/>
            <a:ext cx="241697" cy="24407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27" name="Line 23"/>
          <p:cNvSpPr/>
          <p:nvPr/>
        </p:nvSpPr>
        <p:spPr>
          <a:xfrm flipH="1">
            <a:off x="3923110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8" name="Line 24"/>
          <p:cNvSpPr/>
          <p:nvPr/>
        </p:nvSpPr>
        <p:spPr>
          <a:xfrm flipH="1">
            <a:off x="7408069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9" name="AutoShape 25"/>
          <p:cNvSpPr/>
          <p:nvPr/>
        </p:nvSpPr>
        <p:spPr>
          <a:xfrm>
            <a:off x="5625704" y="4482148"/>
            <a:ext cx="1782365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0" name="AutoShape 26"/>
          <p:cNvSpPr/>
          <p:nvPr/>
        </p:nvSpPr>
        <p:spPr>
          <a:xfrm>
            <a:off x="2141935" y="4482148"/>
            <a:ext cx="3482578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i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1" name="AutoShape 27"/>
          <p:cNvSpPr/>
          <p:nvPr/>
        </p:nvSpPr>
        <p:spPr>
          <a:xfrm>
            <a:off x="1656160" y="4482148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2" name="AutoShape 28"/>
          <p:cNvSpPr/>
          <p:nvPr/>
        </p:nvSpPr>
        <p:spPr>
          <a:xfrm>
            <a:off x="165616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3" name="Rectangle 29"/>
          <p:cNvSpPr>
            <a:spLocks noChangeArrowheads="1"/>
          </p:cNvSpPr>
          <p:nvPr/>
        </p:nvSpPr>
        <p:spPr bwMode="auto">
          <a:xfrm>
            <a:off x="5786438" y="5901373"/>
            <a:ext cx="16073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SS[j]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34" name="AutoShape 30"/>
          <p:cNvSpPr>
            <a:spLocks noChangeArrowheads="1"/>
          </p:cNvSpPr>
          <p:nvPr/>
        </p:nvSpPr>
        <p:spPr bwMode="auto">
          <a:xfrm>
            <a:off x="5786438" y="5739448"/>
            <a:ext cx="16073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7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47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47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7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0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147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47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7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7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47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47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147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800"/>
                                        <p:tgtEl>
                                          <p:spTgt spid="114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6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147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7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147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8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47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5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147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1147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147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2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147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7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3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7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4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7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7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1800"/>
                                        <p:tgtEl>
                                          <p:spTgt spid="114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147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47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47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147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6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147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1147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1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147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300" fill="hold"/>
                                        <p:tgtEl>
                                          <p:spTgt spid="1147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2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147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147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4"/>
                  </p:tgtEl>
                </p:cond>
              </p:nextCondLst>
            </p:seq>
          </p:childTnLst>
        </p:cTn>
      </p:par>
    </p:tnLst>
    <p:bldLst>
      <p:bldP spid="1147908" grpId="0"/>
      <p:bldP spid="1147909" grpId="0" bldLvl="0" animBg="1"/>
      <p:bldP spid="1147911" grpId="0" bldLvl="0" animBg="1"/>
      <p:bldP spid="1147911" grpId="1" bldLvl="0" animBg="1"/>
      <p:bldP spid="1147912" grpId="0" bldLvl="0" animBg="1"/>
      <p:bldP spid="1147914" grpId="0" bldLvl="0" animBg="1"/>
      <p:bldP spid="1147914" grpId="1" bldLvl="0" animBg="1"/>
      <p:bldP spid="1147915" grpId="0" bldLvl="0" animBg="1"/>
      <p:bldP spid="1147916" grpId="0"/>
      <p:bldP spid="1147919" grpId="0" bldLvl="0" animBg="1"/>
      <p:bldP spid="1147920" grpId="0"/>
      <p:bldP spid="1147921" grpId="0" bldLvl="0" animBg="1"/>
      <p:bldP spid="1147922" grpId="0" bldLvl="0" animBg="1"/>
      <p:bldP spid="1147924" grpId="0" bldLvl="0" animBg="1"/>
      <p:bldP spid="1147924" grpId="1" bldLvl="0" animBg="1"/>
      <p:bldP spid="1147925" grpId="0" bldLvl="0" animBg="1"/>
      <p:bldP spid="1147926" grpId="0"/>
      <p:bldP spid="1147929" grpId="0" bldLvl="0" animBg="1"/>
      <p:bldP spid="1147930" grpId="0" bldLvl="0" animBg="1"/>
      <p:bldP spid="1147931" grpId="0"/>
      <p:bldP spid="1147932" grpId="0"/>
      <p:bldP spid="1147934" grpId="0" bldLvl="0" animBg="1"/>
      <p:bldP spid="1147934" grpId="1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SS[]表的构造</a:t>
            </a:r>
            <a:endParaRPr lang="zh-CN" altLang="en-US"/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采用蛮力策略，每个字符都需一趟扫描，累计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</a:t>
            </a:r>
            <a:r>
              <a:rPr kumimoji="0" lang="en-US" altLang="zh-CN" sz="18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自后向前逆向扫描，可在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时间内计算出整个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SS[]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48932" name="AutoShape 4"/>
          <p:cNvSpPr>
            <a:spLocks noChangeArrowheads="1"/>
          </p:cNvSpPr>
          <p:nvPr/>
        </p:nvSpPr>
        <p:spPr bwMode="auto">
          <a:xfrm>
            <a:off x="2087166" y="4401741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3" name="AutoShape 5"/>
          <p:cNvSpPr>
            <a:spLocks noChangeArrowheads="1"/>
          </p:cNvSpPr>
          <p:nvPr/>
        </p:nvSpPr>
        <p:spPr bwMode="auto">
          <a:xfrm>
            <a:off x="7393781" y="4401741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4" name="AutoShape 6"/>
          <p:cNvSpPr>
            <a:spLocks noChangeArrowheads="1"/>
          </p:cNvSpPr>
          <p:nvPr/>
        </p:nvSpPr>
        <p:spPr bwMode="auto">
          <a:xfrm>
            <a:off x="4113610" y="4725591"/>
            <a:ext cx="16192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5" name="AutoShape 7"/>
          <p:cNvSpPr>
            <a:spLocks noChangeArrowheads="1"/>
          </p:cNvSpPr>
          <p:nvPr/>
        </p:nvSpPr>
        <p:spPr bwMode="auto">
          <a:xfrm>
            <a:off x="2087166" y="3320654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6" name="AutoShape 8"/>
          <p:cNvSpPr>
            <a:spLocks noChangeArrowheads="1"/>
          </p:cNvSpPr>
          <p:nvPr/>
        </p:nvSpPr>
        <p:spPr bwMode="auto">
          <a:xfrm>
            <a:off x="7393781" y="3320654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7" name="AutoShape 9"/>
          <p:cNvSpPr>
            <a:spLocks noChangeArrowheads="1"/>
          </p:cNvSpPr>
          <p:nvPr/>
        </p:nvSpPr>
        <p:spPr bwMode="auto">
          <a:xfrm>
            <a:off x="4517231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8" name="AutoShape 10"/>
          <p:cNvSpPr>
            <a:spLocks noChangeArrowheads="1"/>
          </p:cNvSpPr>
          <p:nvPr/>
        </p:nvSpPr>
        <p:spPr bwMode="auto">
          <a:xfrm>
            <a:off x="3100388" y="3158729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9" name="Rectangle 11"/>
          <p:cNvSpPr>
            <a:spLocks noChangeArrowheads="1"/>
          </p:cNvSpPr>
          <p:nvPr/>
        </p:nvSpPr>
        <p:spPr bwMode="auto">
          <a:xfrm>
            <a:off x="5975747" y="2834879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0" name="AutoShape 12"/>
          <p:cNvSpPr>
            <a:spLocks noChangeArrowheads="1"/>
          </p:cNvSpPr>
          <p:nvPr/>
        </p:nvSpPr>
        <p:spPr bwMode="auto">
          <a:xfrm>
            <a:off x="5975747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1" name="AutoShape 13"/>
          <p:cNvSpPr>
            <a:spLocks noChangeArrowheads="1"/>
          </p:cNvSpPr>
          <p:nvPr/>
        </p:nvSpPr>
        <p:spPr bwMode="auto">
          <a:xfrm>
            <a:off x="4113610" y="3644504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42" name="AutoShape 14"/>
          <p:cNvSpPr>
            <a:spLocks noChangeArrowheads="1"/>
          </p:cNvSpPr>
          <p:nvPr/>
        </p:nvSpPr>
        <p:spPr bwMode="auto">
          <a:xfrm>
            <a:off x="5164931" y="4563666"/>
            <a:ext cx="178236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MS[m-hi+j-1]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3" name="AutoShape 15"/>
          <p:cNvSpPr>
            <a:spLocks noChangeArrowheads="1"/>
          </p:cNvSpPr>
          <p:nvPr/>
        </p:nvSpPr>
        <p:spPr bwMode="auto">
          <a:xfrm>
            <a:off x="2491979" y="4563666"/>
            <a:ext cx="178355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4" name="AutoShape 16"/>
          <p:cNvSpPr>
            <a:spLocks noChangeArrowheads="1"/>
          </p:cNvSpPr>
          <p:nvPr/>
        </p:nvSpPr>
        <p:spPr bwMode="auto">
          <a:xfrm>
            <a:off x="5975747" y="3158729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5" name="AutoShape 17"/>
          <p:cNvSpPr>
            <a:spLocks noChangeArrowheads="1"/>
          </p:cNvSpPr>
          <p:nvPr/>
        </p:nvSpPr>
        <p:spPr bwMode="auto">
          <a:xfrm>
            <a:off x="3302794" y="3158729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6" name="AutoShape 18"/>
          <p:cNvSpPr/>
          <p:nvPr/>
        </p:nvSpPr>
        <p:spPr>
          <a:xfrm>
            <a:off x="1601391" y="3320654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7" name="AutoShape 19"/>
          <p:cNvSpPr/>
          <p:nvPr/>
        </p:nvSpPr>
        <p:spPr>
          <a:xfrm>
            <a:off x="1601391" y="4401741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8" name="Rectangle 20"/>
          <p:cNvSpPr>
            <a:spLocks noChangeArrowheads="1"/>
          </p:cNvSpPr>
          <p:nvPr/>
        </p:nvSpPr>
        <p:spPr bwMode="auto">
          <a:xfrm>
            <a:off x="6947297" y="3645694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9" name="AutoShape 21"/>
          <p:cNvSpPr>
            <a:spLocks noChangeArrowheads="1"/>
          </p:cNvSpPr>
          <p:nvPr/>
        </p:nvSpPr>
        <p:spPr bwMode="auto">
          <a:xfrm>
            <a:off x="6947297" y="3482579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0" name="Rectangle 22"/>
          <p:cNvSpPr>
            <a:spLocks noChangeArrowheads="1"/>
          </p:cNvSpPr>
          <p:nvPr/>
        </p:nvSpPr>
        <p:spPr bwMode="auto">
          <a:xfrm>
            <a:off x="6947297" y="4725591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1" name="AutoShape 23"/>
          <p:cNvSpPr>
            <a:spLocks noChangeArrowheads="1"/>
          </p:cNvSpPr>
          <p:nvPr/>
        </p:nvSpPr>
        <p:spPr bwMode="auto">
          <a:xfrm>
            <a:off x="6947297" y="4563666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2" name="AutoShape 24"/>
          <p:cNvSpPr>
            <a:spLocks noChangeArrowheads="1"/>
          </p:cNvSpPr>
          <p:nvPr/>
        </p:nvSpPr>
        <p:spPr bwMode="auto">
          <a:xfrm>
            <a:off x="6340079" y="3482579"/>
            <a:ext cx="607219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3" name="AutoShape 25"/>
          <p:cNvSpPr>
            <a:spLocks noChangeArrowheads="1"/>
          </p:cNvSpPr>
          <p:nvPr/>
        </p:nvSpPr>
        <p:spPr bwMode="auto">
          <a:xfrm>
            <a:off x="3667125" y="3482579"/>
            <a:ext cx="608410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4" name="AutoShape 26"/>
          <p:cNvSpPr>
            <a:spLocks noChangeArrowheads="1"/>
          </p:cNvSpPr>
          <p:nvPr/>
        </p:nvSpPr>
        <p:spPr bwMode="auto">
          <a:xfrm>
            <a:off x="4517231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5" name="AutoShape 27"/>
          <p:cNvSpPr>
            <a:spLocks noChangeArrowheads="1"/>
          </p:cNvSpPr>
          <p:nvPr/>
        </p:nvSpPr>
        <p:spPr bwMode="auto">
          <a:xfrm>
            <a:off x="3100388" y="4239816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6" name="Rectangle 28"/>
          <p:cNvSpPr>
            <a:spLocks noChangeArrowheads="1"/>
          </p:cNvSpPr>
          <p:nvPr/>
        </p:nvSpPr>
        <p:spPr bwMode="auto">
          <a:xfrm>
            <a:off x="5975747" y="3914775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7" name="AutoShape 29"/>
          <p:cNvSpPr>
            <a:spLocks noChangeArrowheads="1"/>
          </p:cNvSpPr>
          <p:nvPr/>
        </p:nvSpPr>
        <p:spPr bwMode="auto">
          <a:xfrm>
            <a:off x="5975747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8" name="AutoShape 30"/>
          <p:cNvSpPr>
            <a:spLocks noChangeArrowheads="1"/>
          </p:cNvSpPr>
          <p:nvPr/>
        </p:nvSpPr>
        <p:spPr bwMode="auto">
          <a:xfrm>
            <a:off x="5975747" y="4239816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9" name="AutoShape 31"/>
          <p:cNvSpPr>
            <a:spLocks noChangeArrowheads="1"/>
          </p:cNvSpPr>
          <p:nvPr/>
        </p:nvSpPr>
        <p:spPr bwMode="auto">
          <a:xfrm>
            <a:off x="3302794" y="4239816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60" name="Line 32"/>
          <p:cNvSpPr/>
          <p:nvPr/>
        </p:nvSpPr>
        <p:spPr>
          <a:xfrm>
            <a:off x="5205413" y="4926806"/>
            <a:ext cx="77033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1" name="Rectangle 33"/>
          <p:cNvSpPr/>
          <p:nvPr/>
        </p:nvSpPr>
        <p:spPr>
          <a:xfrm>
            <a:off x="5449491" y="4806554"/>
            <a:ext cx="24288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2" name="Line 34"/>
          <p:cNvSpPr/>
          <p:nvPr/>
        </p:nvSpPr>
        <p:spPr>
          <a:xfrm flipH="1">
            <a:off x="5164931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3" name="Line 35"/>
          <p:cNvSpPr/>
          <p:nvPr/>
        </p:nvSpPr>
        <p:spPr>
          <a:xfrm flipH="1">
            <a:off x="5975747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4" name="Line 36"/>
          <p:cNvSpPr/>
          <p:nvPr/>
        </p:nvSpPr>
        <p:spPr>
          <a:xfrm>
            <a:off x="6015038" y="4926806"/>
            <a:ext cx="93226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5" name="Rectangle 37"/>
          <p:cNvSpPr/>
          <p:nvPr/>
        </p:nvSpPr>
        <p:spPr>
          <a:xfrm>
            <a:off x="6340079" y="4806554"/>
            <a:ext cx="24407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6" name="Line 38"/>
          <p:cNvSpPr/>
          <p:nvPr/>
        </p:nvSpPr>
        <p:spPr>
          <a:xfrm flipH="1">
            <a:off x="6947297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7" name="Line 39"/>
          <p:cNvSpPr/>
          <p:nvPr/>
        </p:nvSpPr>
        <p:spPr>
          <a:xfrm>
            <a:off x="2532460" y="4926806"/>
            <a:ext cx="770334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8" name="Rectangle 40"/>
          <p:cNvSpPr/>
          <p:nvPr/>
        </p:nvSpPr>
        <p:spPr>
          <a:xfrm>
            <a:off x="2777729" y="4806554"/>
            <a:ext cx="239315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9" name="Line 41"/>
          <p:cNvSpPr/>
          <p:nvPr/>
        </p:nvSpPr>
        <p:spPr>
          <a:xfrm flipH="1">
            <a:off x="2491979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0" name="Line 42"/>
          <p:cNvSpPr/>
          <p:nvPr/>
        </p:nvSpPr>
        <p:spPr>
          <a:xfrm flipH="1">
            <a:off x="3302794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1" name="Line 43"/>
          <p:cNvSpPr/>
          <p:nvPr/>
        </p:nvSpPr>
        <p:spPr>
          <a:xfrm>
            <a:off x="3342085" y="4926806"/>
            <a:ext cx="93345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72" name="Rectangle 44"/>
          <p:cNvSpPr/>
          <p:nvPr/>
        </p:nvSpPr>
        <p:spPr>
          <a:xfrm>
            <a:off x="3667125" y="4806554"/>
            <a:ext cx="245269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20525" name="Line 45"/>
          <p:cNvSpPr/>
          <p:nvPr/>
        </p:nvSpPr>
        <p:spPr>
          <a:xfrm flipH="1">
            <a:off x="4275535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7" dur="1800"/>
                                        <p:tgtEl>
                                          <p:spTgt spid="11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3" dur="1800"/>
                                        <p:tgtEl>
                                          <p:spTgt spid="11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1148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6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148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7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1148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48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3" dur="1800"/>
                                        <p:tgtEl>
                                          <p:spTgt spid="11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1148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9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9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48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148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0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1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48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148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9" dur="1800"/>
                                        <p:tgtEl>
                                          <p:spTgt spid="11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2"/>
                  </p:tgtEl>
                </p:cond>
              </p:nextCondLst>
            </p:seq>
          </p:childTnLst>
        </p:cTn>
      </p:par>
    </p:tnLst>
    <p:bldLst>
      <p:bldP spid="1148932" grpId="0" bldLvl="0" animBg="1"/>
      <p:bldP spid="1148933" grpId="0" bldLvl="0" animBg="1"/>
      <p:bldP spid="1148934" grpId="0" bldLvl="0" animBg="1"/>
      <p:bldP spid="1148935" grpId="0" bldLvl="0" animBg="1"/>
      <p:bldP spid="1148936" grpId="0" bldLvl="0" animBg="1"/>
      <p:bldP spid="1148937" grpId="0" bldLvl="0" animBg="1"/>
      <p:bldP spid="1148938" grpId="0" bldLvl="0" animBg="1"/>
      <p:bldP spid="1148940" grpId="0" bldLvl="0" animBg="1"/>
      <p:bldP spid="1148940" grpId="1" bldLvl="0" animBg="1"/>
      <p:bldP spid="1148941" grpId="0" bldLvl="0" animBg="1"/>
      <p:bldP spid="1148943" grpId="0" bldLvl="0" animBg="1"/>
      <p:bldP spid="1148943" grpId="1" bldLvl="0" animBg="1"/>
      <p:bldP spid="1148945" grpId="0" bldLvl="0" animBg="1"/>
      <p:bldP spid="1148945" grpId="1" bldLvl="0" animBg="1"/>
      <p:bldP spid="1148946" grpId="0"/>
      <p:bldP spid="1148947" grpId="0"/>
      <p:bldP spid="1148949" grpId="0" bldLvl="0" animBg="1"/>
      <p:bldP spid="1148949" grpId="1" bldLvl="0" animBg="1"/>
      <p:bldP spid="1148951" grpId="0" bldLvl="0" animBg="1"/>
      <p:bldP spid="1148951" grpId="1" bldLvl="0" animBg="1"/>
      <p:bldP spid="1148953" grpId="0" bldLvl="0" animBg="1"/>
      <p:bldP spid="1148953" grpId="1" bldLvl="0" animBg="1"/>
      <p:bldP spid="1148954" grpId="0" bldLvl="0" animBg="1"/>
      <p:bldP spid="1148955" grpId="0" bldLvl="0" animBg="1"/>
      <p:bldP spid="1148957" grpId="0" bldLvl="0" animBg="1"/>
      <p:bldP spid="1148957" grpId="1" bldLvl="0" animBg="1"/>
      <p:bldP spid="1148959" grpId="0" bldLvl="0" animBg="1"/>
      <p:bldP spid="1148959" grpId="1" bldLvl="0" animBg="1"/>
      <p:bldP spid="1148960" grpId="0" bldLvl="0" animBg="1"/>
      <p:bldP spid="1148961" grpId="0"/>
      <p:bldP spid="1148964" grpId="0" bldLvl="0" animBg="1"/>
      <p:bldP spid="1148965" grpId="0"/>
      <p:bldP spid="1148967" grpId="0" bldLvl="0" animBg="1"/>
      <p:bldP spid="1148968" grpId="0"/>
      <p:bldP spid="1148971" grpId="0" bldLvl="0" animBg="1"/>
      <p:bldP spid="114897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 + GS：性能分析</a:t>
            </a:r>
            <a:endParaRPr lang="zh-CN" altLang="en-US"/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+ |GS[]|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预处理时间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查找时间：最好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(n/m)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	最差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(n+m)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算法的分析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4372" name="Line 4"/>
          <p:cNvSpPr/>
          <p:nvPr/>
        </p:nvSpPr>
        <p:spPr>
          <a:xfrm>
            <a:off x="1871663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3" name="Rectangle 5"/>
          <p:cNvSpPr>
            <a:spLocks noChangeArrowheads="1"/>
          </p:cNvSpPr>
          <p:nvPr/>
        </p:nvSpPr>
        <p:spPr bwMode="auto">
          <a:xfrm>
            <a:off x="3005138" y="52966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4" name="Line 6"/>
          <p:cNvSpPr/>
          <p:nvPr/>
        </p:nvSpPr>
        <p:spPr>
          <a:xfrm>
            <a:off x="4572000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5" name="Rectangle 7"/>
          <p:cNvSpPr>
            <a:spLocks noChangeArrowheads="1"/>
          </p:cNvSpPr>
          <p:nvPr/>
        </p:nvSpPr>
        <p:spPr bwMode="auto">
          <a:xfrm>
            <a:off x="5219700" y="5296694"/>
            <a:ext cx="140374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BM = BC + 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6" name="Line 8"/>
          <p:cNvSpPr/>
          <p:nvPr/>
        </p:nvSpPr>
        <p:spPr>
          <a:xfrm flipV="1">
            <a:off x="4572000" y="5297885"/>
            <a:ext cx="0" cy="2155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7" name="Rectangle 9"/>
          <p:cNvSpPr>
            <a:spLocks noChangeArrowheads="1"/>
          </p:cNvSpPr>
          <p:nvPr/>
        </p:nvSpPr>
        <p:spPr bwMode="auto">
          <a:xfrm>
            <a:off x="4248150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(n+m)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78" name="Line 10"/>
          <p:cNvSpPr/>
          <p:nvPr/>
        </p:nvSpPr>
        <p:spPr>
          <a:xfrm flipV="1">
            <a:off x="1871663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9" name="Rectangle 11"/>
          <p:cNvSpPr>
            <a:spLocks noChangeArrowheads="1"/>
          </p:cNvSpPr>
          <p:nvPr/>
        </p:nvSpPr>
        <p:spPr bwMode="auto">
          <a:xfrm>
            <a:off x="1547813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(n*m)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0" name="Line 12"/>
          <p:cNvSpPr/>
          <p:nvPr/>
        </p:nvSpPr>
        <p:spPr>
          <a:xfrm flipV="1">
            <a:off x="7272338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81" name="Rectangle 13"/>
          <p:cNvSpPr>
            <a:spLocks noChangeArrowheads="1"/>
          </p:cNvSpPr>
          <p:nvPr/>
        </p:nvSpPr>
        <p:spPr bwMode="auto">
          <a:xfrm>
            <a:off x="6948488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(n/m)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2" name="Line 14"/>
          <p:cNvSpPr/>
          <p:nvPr/>
        </p:nvSpPr>
        <p:spPr>
          <a:xfrm>
            <a:off x="1871663" y="4757341"/>
            <a:ext cx="5400675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83" name="Rectangle 15"/>
          <p:cNvSpPr>
            <a:spLocks noChangeArrowheads="1"/>
          </p:cNvSpPr>
          <p:nvPr/>
        </p:nvSpPr>
        <p:spPr bwMode="auto">
          <a:xfrm>
            <a:off x="4355306" y="46489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4" name="Line 16"/>
          <p:cNvSpPr/>
          <p:nvPr/>
        </p:nvSpPr>
        <p:spPr>
          <a:xfrm flipV="1">
            <a:off x="4575572" y="5576491"/>
            <a:ext cx="0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5" name="Rectangle 17"/>
          <p:cNvSpPr>
            <a:spLocks noChangeArrowheads="1"/>
          </p:cNvSpPr>
          <p:nvPr/>
        </p:nvSpPr>
        <p:spPr bwMode="auto">
          <a:xfrm>
            <a:off x="4419600" y="5823189"/>
            <a:ext cx="314325" cy="23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6" name="Line 18"/>
          <p:cNvSpPr/>
          <p:nvPr/>
        </p:nvSpPr>
        <p:spPr>
          <a:xfrm>
            <a:off x="1871663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7" name="Rectangle 19"/>
          <p:cNvSpPr>
            <a:spLocks noChangeArrowheads="1"/>
          </p:cNvSpPr>
          <p:nvPr/>
        </p:nvSpPr>
        <p:spPr bwMode="auto">
          <a:xfrm>
            <a:off x="2736056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8" name="Line 20"/>
          <p:cNvSpPr/>
          <p:nvPr/>
        </p:nvSpPr>
        <p:spPr>
          <a:xfrm flipV="1">
            <a:off x="1871663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9" name="Rectangle 21"/>
          <p:cNvSpPr>
            <a:spLocks noChangeArrowheads="1"/>
          </p:cNvSpPr>
          <p:nvPr/>
        </p:nvSpPr>
        <p:spPr bwMode="auto">
          <a:xfrm>
            <a:off x="1763316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0" name="Line 22"/>
          <p:cNvSpPr/>
          <p:nvPr/>
        </p:nvSpPr>
        <p:spPr>
          <a:xfrm flipV="1">
            <a:off x="1871663" y="3676253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1" name="Rectangle 23"/>
          <p:cNvSpPr>
            <a:spLocks noChangeArrowheads="1"/>
          </p:cNvSpPr>
          <p:nvPr/>
        </p:nvSpPr>
        <p:spPr bwMode="auto">
          <a:xfrm>
            <a:off x="2141935" y="3514328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2" name="Line 24"/>
          <p:cNvSpPr/>
          <p:nvPr/>
        </p:nvSpPr>
        <p:spPr>
          <a:xfrm>
            <a:off x="3383756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3" name="Rectangle 25"/>
          <p:cNvSpPr>
            <a:spLocks noChangeArrowheads="1"/>
          </p:cNvSpPr>
          <p:nvPr/>
        </p:nvSpPr>
        <p:spPr bwMode="auto">
          <a:xfrm>
            <a:off x="4248150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4" name="Line 26"/>
          <p:cNvSpPr/>
          <p:nvPr/>
        </p:nvSpPr>
        <p:spPr>
          <a:xfrm flipV="1">
            <a:off x="3383756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5" name="Rectangle 27"/>
          <p:cNvSpPr>
            <a:spLocks noChangeArrowheads="1"/>
          </p:cNvSpPr>
          <p:nvPr/>
        </p:nvSpPr>
        <p:spPr bwMode="auto">
          <a:xfrm>
            <a:off x="3275410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6" name="Line 28"/>
          <p:cNvSpPr/>
          <p:nvPr/>
        </p:nvSpPr>
        <p:spPr>
          <a:xfrm>
            <a:off x="3383756" y="3891756"/>
            <a:ext cx="756047" cy="1191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7" name="Rectangle 29"/>
          <p:cNvSpPr>
            <a:spLocks noChangeArrowheads="1"/>
          </p:cNvSpPr>
          <p:nvPr/>
        </p:nvSpPr>
        <p:spPr bwMode="auto">
          <a:xfrm>
            <a:off x="3654028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8" name="Line 30"/>
          <p:cNvSpPr/>
          <p:nvPr/>
        </p:nvSpPr>
        <p:spPr>
          <a:xfrm>
            <a:off x="4895850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9" name="Rectangle 31"/>
          <p:cNvSpPr>
            <a:spLocks noChangeArrowheads="1"/>
          </p:cNvSpPr>
          <p:nvPr/>
        </p:nvSpPr>
        <p:spPr bwMode="auto">
          <a:xfrm>
            <a:off x="5760244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0" name="Line 32"/>
          <p:cNvSpPr/>
          <p:nvPr/>
        </p:nvSpPr>
        <p:spPr>
          <a:xfrm flipV="1">
            <a:off x="4895850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1" name="Rectangle 33"/>
          <p:cNvSpPr>
            <a:spLocks noChangeArrowheads="1"/>
          </p:cNvSpPr>
          <p:nvPr/>
        </p:nvSpPr>
        <p:spPr bwMode="auto">
          <a:xfrm>
            <a:off x="4787504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2" name="Line 34"/>
          <p:cNvSpPr/>
          <p:nvPr/>
        </p:nvSpPr>
        <p:spPr>
          <a:xfrm flipV="1">
            <a:off x="4895850" y="3676253"/>
            <a:ext cx="756047" cy="432197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3" name="Rectangle 35"/>
          <p:cNvSpPr>
            <a:spLocks noChangeArrowheads="1"/>
          </p:cNvSpPr>
          <p:nvPr/>
        </p:nvSpPr>
        <p:spPr bwMode="auto">
          <a:xfrm>
            <a:off x="5166122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4" name="Line 36"/>
          <p:cNvSpPr/>
          <p:nvPr/>
        </p:nvSpPr>
        <p:spPr>
          <a:xfrm>
            <a:off x="6407944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5" name="Rectangle 37"/>
          <p:cNvSpPr>
            <a:spLocks noChangeArrowheads="1"/>
          </p:cNvSpPr>
          <p:nvPr/>
        </p:nvSpPr>
        <p:spPr bwMode="auto">
          <a:xfrm>
            <a:off x="7272338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6" name="Line 38"/>
          <p:cNvSpPr/>
          <p:nvPr/>
        </p:nvSpPr>
        <p:spPr>
          <a:xfrm flipV="1">
            <a:off x="6407944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7" name="Rectangle 39"/>
          <p:cNvSpPr>
            <a:spLocks noChangeArrowheads="1"/>
          </p:cNvSpPr>
          <p:nvPr/>
        </p:nvSpPr>
        <p:spPr bwMode="auto">
          <a:xfrm>
            <a:off x="6299597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8" name="Line 40"/>
          <p:cNvSpPr/>
          <p:nvPr/>
        </p:nvSpPr>
        <p:spPr>
          <a:xfrm flipV="1">
            <a:off x="6407944" y="3892947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9" name="Rectangle 41"/>
          <p:cNvSpPr>
            <a:spLocks noChangeArrowheads="1"/>
          </p:cNvSpPr>
          <p:nvPr/>
        </p:nvSpPr>
        <p:spPr bwMode="auto">
          <a:xfrm>
            <a:off x="6678216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BC+GS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503" name="Line 135"/>
          <p:cNvSpPr/>
          <p:nvPr/>
        </p:nvSpPr>
        <p:spPr>
          <a:xfrm>
            <a:off x="1763316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4" name="Line 136"/>
          <p:cNvSpPr/>
          <p:nvPr/>
        </p:nvSpPr>
        <p:spPr>
          <a:xfrm>
            <a:off x="1763316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5" name="Line 137"/>
          <p:cNvSpPr/>
          <p:nvPr/>
        </p:nvSpPr>
        <p:spPr>
          <a:xfrm>
            <a:off x="1763316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6" name="Line 138"/>
          <p:cNvSpPr/>
          <p:nvPr/>
        </p:nvSpPr>
        <p:spPr>
          <a:xfrm>
            <a:off x="3275410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7" name="Line 139"/>
          <p:cNvSpPr/>
          <p:nvPr/>
        </p:nvSpPr>
        <p:spPr>
          <a:xfrm>
            <a:off x="3275410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8" name="Line 140"/>
          <p:cNvSpPr/>
          <p:nvPr/>
        </p:nvSpPr>
        <p:spPr>
          <a:xfrm>
            <a:off x="3275410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9" name="Line 141"/>
          <p:cNvSpPr/>
          <p:nvPr/>
        </p:nvSpPr>
        <p:spPr>
          <a:xfrm>
            <a:off x="4787504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0" name="Line 142"/>
          <p:cNvSpPr/>
          <p:nvPr/>
        </p:nvSpPr>
        <p:spPr>
          <a:xfrm>
            <a:off x="4787504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1" name="Line 143"/>
          <p:cNvSpPr/>
          <p:nvPr/>
        </p:nvSpPr>
        <p:spPr>
          <a:xfrm>
            <a:off x="4787504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2" name="Line 144"/>
          <p:cNvSpPr/>
          <p:nvPr/>
        </p:nvSpPr>
        <p:spPr>
          <a:xfrm>
            <a:off x="6300788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3" name="Line 145"/>
          <p:cNvSpPr/>
          <p:nvPr/>
        </p:nvSpPr>
        <p:spPr>
          <a:xfrm>
            <a:off x="6300788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4" name="Line 146"/>
          <p:cNvSpPr/>
          <p:nvPr/>
        </p:nvSpPr>
        <p:spPr>
          <a:xfrm>
            <a:off x="6300788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5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5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5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1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54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54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4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54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1800"/>
                                        <p:tgtEl>
                                          <p:spTgt spid="95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4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54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4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2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95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3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4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5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54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954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7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54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954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4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54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54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954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3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95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95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5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5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6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5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7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5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8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9"/>
                  </p:tgtEl>
                </p:cond>
              </p:nextCondLst>
            </p:seq>
          </p:childTnLst>
        </p:cTn>
      </p:par>
    </p:tnLst>
    <p:bldLst>
      <p:bldP spid="954373" grpId="0" bldLvl="0" animBg="1"/>
      <p:bldP spid="954373" grpId="1" bldLvl="0" animBg="1"/>
      <p:bldP spid="954375" grpId="0" bldLvl="0" animBg="1"/>
      <p:bldP spid="954375" grpId="1" bldLvl="0" animBg="1"/>
      <p:bldP spid="954377" grpId="0" bldLvl="0" animBg="1"/>
      <p:bldP spid="954377" grpId="1" bldLvl="0" animBg="1"/>
      <p:bldP spid="954379" grpId="0" bldLvl="0" animBg="1"/>
      <p:bldP spid="954379" grpId="1" bldLvl="0" animBg="1"/>
      <p:bldP spid="954381" grpId="0" bldLvl="0" animBg="1"/>
      <p:bldP spid="954381" grpId="1" bldLvl="0" animBg="1"/>
      <p:bldP spid="954383" grpId="0" bldLvl="0" animBg="1"/>
      <p:bldP spid="954383" grpId="1" bldLvl="0" animBg="1"/>
      <p:bldP spid="954385" grpId="0" bldLvl="0" animBg="1"/>
      <p:bldP spid="954385" grpId="1" bldLvl="0" animBg="1"/>
      <p:bldP spid="954387" grpId="0" bldLvl="0" animBg="1"/>
      <p:bldP spid="954387" grpId="1" bldLvl="0" animBg="1"/>
      <p:bldP spid="954389" grpId="0" bldLvl="0" animBg="1"/>
      <p:bldP spid="954391" grpId="0" bldLvl="0" animBg="1"/>
      <p:bldP spid="954391" grpId="1" bldLvl="0" animBg="1"/>
      <p:bldP spid="954393" grpId="0" bldLvl="0" animBg="1"/>
      <p:bldP spid="954393" grpId="1" bldLvl="0" animBg="1"/>
      <p:bldP spid="954395" grpId="0" bldLvl="0" animBg="1"/>
      <p:bldP spid="954397" grpId="0" bldLvl="0" animBg="1"/>
      <p:bldP spid="954397" grpId="1" bldLvl="0" animBg="1"/>
      <p:bldP spid="954399" grpId="0" bldLvl="0" animBg="1"/>
      <p:bldP spid="954399" grpId="1" bldLvl="0" animBg="1"/>
      <p:bldP spid="954401" grpId="0" bldLvl="0" animBg="1"/>
      <p:bldP spid="954403" grpId="0" bldLvl="0" animBg="1"/>
      <p:bldP spid="954403" grpId="1" bldLvl="0" animBg="1"/>
      <p:bldP spid="954405" grpId="0" bldLvl="0" animBg="1"/>
      <p:bldP spid="954405" grpId="1" bldLvl="0" animBg="1"/>
      <p:bldP spid="954407" grpId="0" bldLvl="0" animBg="1"/>
      <p:bldP spid="954409" grpId="0" bldLvl="0" animBg="1"/>
      <p:bldP spid="954409" grpId="1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PP_MARK_KEY" val="5484ffba-fcca-4c4e-9d39-ae1ea1e3d938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9502</Words>
  <Application>WPS 演示</Application>
  <PresentationFormat>全屏显示(4:3)</PresentationFormat>
  <Paragraphs>1568</Paragraphs>
  <Slides>54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81" baseType="lpstr">
      <vt:lpstr>Arial</vt:lpstr>
      <vt:lpstr>宋体</vt:lpstr>
      <vt:lpstr>Wingdings</vt:lpstr>
      <vt:lpstr>Microsoft YaHei UI</vt:lpstr>
      <vt:lpstr>微软雅黑</vt:lpstr>
      <vt:lpstr>Times New Roman</vt:lpstr>
      <vt:lpstr>楷体_GB2312</vt:lpstr>
      <vt:lpstr>新宋体</vt:lpstr>
      <vt:lpstr>方正书宋简体</vt:lpstr>
      <vt:lpstr>Times New Roman</vt:lpstr>
      <vt:lpstr>华文行楷</vt:lpstr>
      <vt:lpstr>Arial</vt:lpstr>
      <vt:lpstr>Arial Unicode MS</vt:lpstr>
      <vt:lpstr>Calibri</vt:lpstr>
      <vt:lpstr>Cambria Math</vt:lpstr>
      <vt:lpstr>Consolas</vt:lpstr>
      <vt:lpstr>Symbol</vt:lpstr>
      <vt:lpstr>Arial Unicode MS</vt:lpstr>
      <vt:lpstr>华文仿宋</vt:lpstr>
      <vt:lpstr>黑体</vt:lpstr>
      <vt:lpstr>BrushScript BT</vt:lpstr>
      <vt:lpstr>ksdb</vt:lpstr>
      <vt:lpstr>Brush Script MT</vt:lpstr>
      <vt:lpstr>basetag20163155_docer802382.通用教学课件</vt:lpstr>
      <vt:lpstr>1_Office 主题​​</vt:lpstr>
      <vt:lpstr>Word.Picture.8</vt:lpstr>
      <vt:lpstr>Word.Picture.8</vt:lpstr>
      <vt:lpstr>第三章 串</vt:lpstr>
      <vt:lpstr>学习目标</vt:lpstr>
      <vt:lpstr>本章内容</vt:lpstr>
      <vt:lpstr>串存储方式</vt:lpstr>
      <vt:lpstr>案例</vt:lpstr>
      <vt:lpstr>PowerPoint 演示文稿</vt:lpstr>
      <vt:lpstr>串--------特殊线性表</vt:lpstr>
      <vt:lpstr>串的存储结构(1)</vt:lpstr>
      <vt:lpstr>串的存储结构(2)</vt:lpstr>
      <vt:lpstr>串匹配：Brute-Force算法</vt:lpstr>
      <vt:lpstr>字符串的模式匹配 pattern matching</vt:lpstr>
      <vt:lpstr>Brute-Force算法实现</vt:lpstr>
      <vt:lpstr>PowerPoint 演示文稿</vt:lpstr>
      <vt:lpstr>PowerPoint 演示文稿</vt:lpstr>
      <vt:lpstr>Brute-Force算法分析（1）</vt:lpstr>
      <vt:lpstr>Brute-Force算法分析（2）</vt:lpstr>
      <vt:lpstr>串匹配：KMP算法</vt:lpstr>
      <vt:lpstr>字符串的模式匹配-KMP算法</vt:lpstr>
      <vt:lpstr>KMP算法</vt:lpstr>
      <vt:lpstr>KMP算法：实例</vt:lpstr>
      <vt:lpstr>计算next[j]的方法</vt:lpstr>
      <vt:lpstr>PowerPoint 演示文稿</vt:lpstr>
      <vt:lpstr>next[j]的含义：避免回溯</vt:lpstr>
      <vt:lpstr>next[j]的含义：不致遗漏</vt:lpstr>
      <vt:lpstr>next[]的构造：递推</vt:lpstr>
      <vt:lpstr>next[]的构造：递推</vt:lpstr>
      <vt:lpstr>函数buildNext的实现</vt:lpstr>
      <vt:lpstr>PowerPoint 演示文稿</vt:lpstr>
      <vt:lpstr>KMP实现步骤</vt:lpstr>
      <vt:lpstr>KMP算法实现</vt:lpstr>
      <vt:lpstr>KMP复杂度分析</vt:lpstr>
      <vt:lpstr>KMP算法复杂度</vt:lpstr>
      <vt:lpstr>串匹配：BM算法</vt:lpstr>
      <vt:lpstr>串的BM匹配算法-构思</vt:lpstr>
      <vt:lpstr>实例</vt:lpstr>
      <vt:lpstr>Bad-Character Shift</vt:lpstr>
      <vt:lpstr>Bad-Character Shift</vt:lpstr>
      <vt:lpstr>Bad-Character Shift</vt:lpstr>
      <vt:lpstr>Bad-Character Shift</vt:lpstr>
      <vt:lpstr>实例</vt:lpstr>
      <vt:lpstr>BC[]表的构造：算法</vt:lpstr>
      <vt:lpstr>BC策略：最差情况</vt:lpstr>
      <vt:lpstr>最差情况</vt:lpstr>
      <vt:lpstr>BC策略：最好情况</vt:lpstr>
      <vt:lpstr>最好情况</vt:lpstr>
      <vt:lpstr>BC策略：不足与改进</vt:lpstr>
      <vt:lpstr>Good-Suffix Shift</vt:lpstr>
      <vt:lpstr>Good-Suffix Shift</vt:lpstr>
      <vt:lpstr>实例</vt:lpstr>
      <vt:lpstr>MS[]串与SS[]表</vt:lpstr>
      <vt:lpstr>由SS[]表构造GS[]表</vt:lpstr>
      <vt:lpstr>SS[]表的构造</vt:lpstr>
      <vt:lpstr>BC + GS：性能分析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136</cp:revision>
  <cp:lastPrinted>2017-09-11T08:45:00Z</cp:lastPrinted>
  <dcterms:created xsi:type="dcterms:W3CDTF">2017-09-04T08:16:00Z</dcterms:created>
  <dcterms:modified xsi:type="dcterms:W3CDTF">2023-10-10T10:18:04Z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F6010723C5A8420585EABC0DFD08B4BC</vt:lpwstr>
  </property>
</Properties>
</file>