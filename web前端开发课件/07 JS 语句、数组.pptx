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50"/>
  </p:notesMasterIdLst>
  <p:sldIdLst>
    <p:sldId id="358" r:id="rId2"/>
    <p:sldId id="359" r:id="rId3"/>
    <p:sldId id="259" r:id="rId4"/>
    <p:sldId id="260" r:id="rId5"/>
    <p:sldId id="263" r:id="rId6"/>
    <p:sldId id="360" r:id="rId7"/>
    <p:sldId id="361" r:id="rId8"/>
    <p:sldId id="362" r:id="rId9"/>
    <p:sldId id="288" r:id="rId10"/>
    <p:sldId id="271" r:id="rId11"/>
    <p:sldId id="363" r:id="rId12"/>
    <p:sldId id="289" r:id="rId13"/>
    <p:sldId id="364" r:id="rId14"/>
    <p:sldId id="314" r:id="rId15"/>
    <p:sldId id="274" r:id="rId16"/>
    <p:sldId id="278" r:id="rId17"/>
    <p:sldId id="365" r:id="rId18"/>
    <p:sldId id="366" r:id="rId19"/>
    <p:sldId id="367" r:id="rId20"/>
    <p:sldId id="368" r:id="rId21"/>
    <p:sldId id="280" r:id="rId22"/>
    <p:sldId id="281" r:id="rId23"/>
    <p:sldId id="369" r:id="rId24"/>
    <p:sldId id="282" r:id="rId25"/>
    <p:sldId id="286" r:id="rId26"/>
    <p:sldId id="316" r:id="rId27"/>
    <p:sldId id="370" r:id="rId28"/>
    <p:sldId id="296" r:id="rId29"/>
    <p:sldId id="371" r:id="rId30"/>
    <p:sldId id="317" r:id="rId31"/>
    <p:sldId id="300" r:id="rId32"/>
    <p:sldId id="372" r:id="rId33"/>
    <p:sldId id="373" r:id="rId34"/>
    <p:sldId id="374" r:id="rId35"/>
    <p:sldId id="375" r:id="rId36"/>
    <p:sldId id="304" r:id="rId37"/>
    <p:sldId id="308" r:id="rId38"/>
    <p:sldId id="312" r:id="rId39"/>
    <p:sldId id="318" r:id="rId40"/>
    <p:sldId id="319" r:id="rId41"/>
    <p:sldId id="376" r:id="rId42"/>
    <p:sldId id="320" r:id="rId43"/>
    <p:sldId id="321" r:id="rId44"/>
    <p:sldId id="322" r:id="rId45"/>
    <p:sldId id="377" r:id="rId46"/>
    <p:sldId id="324" r:id="rId47"/>
    <p:sldId id="325" r:id="rId48"/>
    <p:sldId id="378" r:id="rId4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35" autoAdjust="0"/>
    <p:restoredTop sz="95388" autoAdjust="0"/>
  </p:normalViewPr>
  <p:slideViewPr>
    <p:cSldViewPr>
      <p:cViewPr>
        <p:scale>
          <a:sx n="50" d="100"/>
          <a:sy n="50" d="100"/>
        </p:scale>
        <p:origin x="1392" y="8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A43C590-6F94-45FD-B16E-3530CEBB5D50}" type="datetimeFigureOut">
              <a:rPr lang="zh-CN" altLang="en-US" smtClean="0"/>
              <a:t>2023/11/5</a:t>
            </a:fld>
            <a:endParaRPr lang="zh-CN" altLang="en-US"/>
          </a:p>
        </p:txBody>
      </p:sp>
      <p:sp>
        <p:nvSpPr>
          <p:cNvPr id="4" name="幻灯片图像占位符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E3913FB-3E5A-4E62-979F-A31DC039ED8E}" type="slidenum">
              <a:rPr lang="zh-CN" altLang="en-US" smtClean="0"/>
              <a:t>‹#›</a:t>
            </a:fld>
            <a:endParaRPr lang="zh-CN" altLang="en-US"/>
          </a:p>
        </p:txBody>
      </p:sp>
    </p:spTree>
    <p:extLst>
      <p:ext uri="{BB962C8B-B14F-4D97-AF65-F5344CB8AC3E}">
        <p14:creationId xmlns:p14="http://schemas.microsoft.com/office/powerpoint/2010/main" val="1799067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5400"/>
            </a:lvl1pPr>
          </a:lstStyle>
          <a:p>
            <a:r>
              <a:rPr lang="zh-CN" altLang="en-US" smtClean="0"/>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320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单击以编辑母版副标题样式</a:t>
            </a:r>
            <a:endParaRPr lang="en-US"/>
          </a:p>
        </p:txBody>
      </p:sp>
      <p:sp>
        <p:nvSpPr>
          <p:cNvPr id="4" name="Date Placeholder 3"/>
          <p:cNvSpPr>
            <a:spLocks noGrp="1"/>
          </p:cNvSpPr>
          <p:nvPr>
            <p:ph type="dt" sz="half" idx="10"/>
          </p:nvPr>
        </p:nvSpPr>
        <p:spPr/>
        <p:txBody>
          <a:bodyPr/>
          <a:lstStyle/>
          <a:p>
            <a:fld id="{FE63162C-209A-45B1-8750-00A0290475BB}" type="datetime1">
              <a:rPr lang="en-US" altLang="zh-CN" smtClean="0"/>
              <a:t>11/5/2023</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604319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051A1045-A9D8-467A-8608-A3AE33891D49}" type="datetime1">
              <a:rPr lang="en-US" altLang="zh-CN" smtClean="0"/>
              <a:t>11/5/2023</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238249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4406900"/>
            <a:ext cx="10515600" cy="1362075"/>
          </a:xfrm>
        </p:spPr>
        <p:txBody>
          <a:bodyPr anchor="t"/>
          <a:lstStyle>
            <a:lvl1pPr>
              <a:defRPr sz="4000" b="1"/>
            </a:lvl1pPr>
          </a:lstStyle>
          <a:p>
            <a:r>
              <a:rPr lang="zh-CN" altLang="en-US" smtClean="0"/>
              <a:t>单击此处编辑母版标题样式</a:t>
            </a:r>
            <a:endParaRPr lang="en-US"/>
          </a:p>
        </p:txBody>
      </p:sp>
      <p:sp>
        <p:nvSpPr>
          <p:cNvPr id="3" name="Text Placeholder 2"/>
          <p:cNvSpPr>
            <a:spLocks noGrp="1"/>
          </p:cNvSpPr>
          <p:nvPr>
            <p:ph type="body" idx="1"/>
          </p:nvPr>
        </p:nvSpPr>
        <p:spPr>
          <a:xfrm>
            <a:off x="831850" y="2906713"/>
            <a:ext cx="105156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86A26AED-82A0-4070-A047-0D71A156D1A8}" type="datetime1">
              <a:rPr lang="en-US" altLang="zh-CN" smtClean="0"/>
              <a:t>11/5/2023</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4218122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838200" y="1820863"/>
            <a:ext cx="5181600" cy="4351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Content Placeholder 3"/>
          <p:cNvSpPr>
            <a:spLocks noGrp="1"/>
          </p:cNvSpPr>
          <p:nvPr>
            <p:ph sz="half" idx="2"/>
          </p:nvPr>
        </p:nvSpPr>
        <p:spPr>
          <a:xfrm>
            <a:off x="6172200" y="1820863"/>
            <a:ext cx="5181600" cy="4351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Date Placeholder 4"/>
          <p:cNvSpPr>
            <a:spLocks noGrp="1"/>
          </p:cNvSpPr>
          <p:nvPr>
            <p:ph type="dt" sz="half" idx="10"/>
          </p:nvPr>
        </p:nvSpPr>
        <p:spPr/>
        <p:txBody>
          <a:bodyPr/>
          <a:lstStyle/>
          <a:p>
            <a:fld id="{AA5F8009-2C7B-4039-BB68-77BBD0CA082F}" type="datetime1">
              <a:rPr lang="en-US" altLang="zh-CN" smtClean="0"/>
              <a:t>11/5/2023</a:t>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120016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1850" y="274638"/>
            <a:ext cx="10515600" cy="1143000"/>
          </a:xfrm>
        </p:spPr>
        <p:txBody>
          <a:bodyPr/>
          <a:lstStyle/>
          <a:p>
            <a:r>
              <a:rPr lang="zh-CN" altLang="en-US" smtClean="0"/>
              <a:t>单击此处编辑母版标题样式</a:t>
            </a:r>
            <a:endParaRPr lang="en-US"/>
          </a:p>
        </p:txBody>
      </p:sp>
      <p:sp>
        <p:nvSpPr>
          <p:cNvPr id="3" name="Text Placeholder 2"/>
          <p:cNvSpPr>
            <a:spLocks noGrp="1"/>
          </p:cNvSpPr>
          <p:nvPr>
            <p:ph type="body" idx="1"/>
          </p:nvPr>
        </p:nvSpPr>
        <p:spPr>
          <a:xfrm>
            <a:off x="831850" y="1535113"/>
            <a:ext cx="51562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1850" y="2174875"/>
            <a:ext cx="5156200"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5" name="Text Placeholder 4"/>
          <p:cNvSpPr>
            <a:spLocks noGrp="1"/>
          </p:cNvSpPr>
          <p:nvPr>
            <p:ph type="body" sz="quarter" idx="3"/>
          </p:nvPr>
        </p:nvSpPr>
        <p:spPr>
          <a:xfrm>
            <a:off x="6189663" y="1535113"/>
            <a:ext cx="515778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89663" y="2174875"/>
            <a:ext cx="5157787"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7" name="Date Placeholder 6"/>
          <p:cNvSpPr>
            <a:spLocks noGrp="1"/>
          </p:cNvSpPr>
          <p:nvPr>
            <p:ph type="dt" sz="half" idx="10"/>
          </p:nvPr>
        </p:nvSpPr>
        <p:spPr/>
        <p:txBody>
          <a:bodyPr/>
          <a:lstStyle/>
          <a:p>
            <a:fld id="{291DB1B0-8ED6-4B7B-B11F-8B56CF976F9B}" type="datetime1">
              <a:rPr lang="en-US" altLang="zh-CN" smtClean="0"/>
              <a:t>11/5/2023</a:t>
            </a:fld>
            <a:endParaRPr 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289979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41D70519-EB0F-4FA6-9523-4C5569B88691}" type="datetime1">
              <a:rPr lang="en-US" altLang="zh-CN" smtClean="0"/>
              <a:t>11/5/2023</a:t>
            </a:fld>
            <a:endParaRPr lang="en-US" dirty="0"/>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333027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A022C-396B-41DF-A504-4DC72FECBCAC}" type="datetime1">
              <a:rPr lang="en-US" altLang="zh-CN" smtClean="0"/>
              <a:t>11/5/2023</a:t>
            </a:fld>
            <a:endParaRPr lang="en-US" dirty="0"/>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415681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685800"/>
            <a:ext cx="4013200" cy="1160463"/>
          </a:xfrm>
        </p:spPr>
        <p:txBody>
          <a:bodyPr anchor="b"/>
          <a:lstStyle>
            <a:lvl1pPr>
              <a:defRPr sz="2000" b="1"/>
            </a:lvl1pPr>
          </a:lstStyle>
          <a:p>
            <a:r>
              <a:rPr lang="zh-CN" altLang="en-US" smtClean="0"/>
              <a:t>单击此处编辑母版标题样式</a:t>
            </a:r>
            <a:endParaRPr lang="en-US"/>
          </a:p>
        </p:txBody>
      </p:sp>
      <p:sp>
        <p:nvSpPr>
          <p:cNvPr id="3" name="Content Placeholder 2"/>
          <p:cNvSpPr>
            <a:spLocks noGrp="1"/>
          </p:cNvSpPr>
          <p:nvPr>
            <p:ph idx="1"/>
          </p:nvPr>
        </p:nvSpPr>
        <p:spPr>
          <a:xfrm>
            <a:off x="5046663" y="685800"/>
            <a:ext cx="6300787" cy="5486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Text Placeholder 3"/>
          <p:cNvSpPr>
            <a:spLocks noGrp="1"/>
          </p:cNvSpPr>
          <p:nvPr>
            <p:ph type="body" sz="half" idx="2"/>
          </p:nvPr>
        </p:nvSpPr>
        <p:spPr>
          <a:xfrm>
            <a:off x="831850" y="1846263"/>
            <a:ext cx="4013200" cy="432593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EF5A9596-1636-433D-AFA2-9143FB706BD6}" type="datetime1">
              <a:rPr lang="en-US" altLang="zh-CN" smtClean="0"/>
              <a:t>11/5/2023</a:t>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74780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05075" y="4800600"/>
            <a:ext cx="7177088" cy="566738"/>
          </a:xfrm>
        </p:spPr>
        <p:txBody>
          <a:bodyPr anchor="b"/>
          <a:lstStyle>
            <a:lvl1pPr>
              <a:defRPr sz="2000" b="1"/>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2505075" y="685800"/>
            <a:ext cx="7177088" cy="4041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4" name="Text Placeholder 3"/>
          <p:cNvSpPr>
            <a:spLocks noGrp="1"/>
          </p:cNvSpPr>
          <p:nvPr>
            <p:ph type="body" sz="half" idx="2"/>
          </p:nvPr>
        </p:nvSpPr>
        <p:spPr>
          <a:xfrm>
            <a:off x="2505075" y="5367338"/>
            <a:ext cx="71770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967FFAC5-AD84-4971-8D2D-5BA188B3F373}" type="datetime1">
              <a:rPr lang="en-US" altLang="zh-CN" smtClean="0"/>
              <a:t>11/5/2023</a:t>
            </a:fld>
            <a:endParaRPr 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4117112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BDFD17E1-607A-45E0-AAE0-C120FA84B961}" type="datetime1">
              <a:rPr lang="en-US" altLang="zh-CN" smtClean="0"/>
              <a:t>11/5/2023</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890793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CADA4891-4F25-4164-BD9D-D440387F2A54}" type="datetime1">
              <a:rPr lang="en-US" altLang="zh-CN" smtClean="0"/>
              <a:t>11/5/2023</a:t>
            </a:fld>
            <a:endParaRPr 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F15528-21DE-4FAA-801E-634DDDAF4B2B}" type="slidenum">
              <a:rPr lang="en-US" altLang="zh-CN" smtClean="0"/>
              <a:t>‹#›</a:t>
            </a:fld>
            <a:endParaRPr lang="zh-CN" altLang="en-US"/>
          </a:p>
        </p:txBody>
      </p:sp>
    </p:spTree>
    <p:extLst>
      <p:ext uri="{BB962C8B-B14F-4D97-AF65-F5344CB8AC3E}">
        <p14:creationId xmlns:p14="http://schemas.microsoft.com/office/powerpoint/2010/main" val="2599971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74638"/>
            <a:ext cx="10515600" cy="1325562"/>
          </a:xfrm>
          <a:prstGeom prst="rect">
            <a:avLst/>
          </a:prstGeom>
        </p:spPr>
        <p:txBody>
          <a:bodyPr vert="horz" lIns="91440" tIns="45720" rIns="91440" bIns="45720" rtlCol="0" anchor="ctr">
            <a:normAutofit/>
          </a:bodyPr>
          <a:lstStyle/>
          <a:p>
            <a:r>
              <a:rPr lang="zh-CN" altLang="en-US" smtClean="0"/>
              <a:t>单击此处编辑母版标题样式</a:t>
            </a:r>
            <a:endParaRPr lang="en-US"/>
          </a:p>
        </p:txBody>
      </p:sp>
      <p:sp>
        <p:nvSpPr>
          <p:cNvPr id="3" name="Text Placeholder 2"/>
          <p:cNvSpPr>
            <a:spLocks noGrp="1"/>
          </p:cNvSpPr>
          <p:nvPr>
            <p:ph type="body" idx="1"/>
          </p:nvPr>
        </p:nvSpPr>
        <p:spPr>
          <a:xfrm>
            <a:off x="838200" y="1820863"/>
            <a:ext cx="10515600" cy="4351337"/>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2"/>
          </p:nvPr>
        </p:nvSpPr>
        <p:spPr>
          <a:xfrm>
            <a:off x="838200" y="6356350"/>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EEAB5-0EBA-4FB9-8666-C336D5259515}" type="datetime1">
              <a:rPr lang="en-US" altLang="zh-CN" smtClean="0"/>
              <a:t>11/5/2023</a:t>
            </a:fld>
            <a:endParaRPr lang="en-US" dirty="0"/>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altLang="zh-CN" smtClean="0"/>
              <a:t>‹#›</a:t>
            </a:fld>
            <a:endParaRPr lang="zh-CN" altLang="en-US"/>
          </a:p>
        </p:txBody>
      </p:sp>
      <p:sp>
        <p:nvSpPr>
          <p:cNvPr id="7" name="矩形 6"/>
          <p:cNvSpPr/>
          <p:nvPr userDrawn="1"/>
        </p:nvSpPr>
        <p:spPr>
          <a:xfrm>
            <a:off x="304800" y="823119"/>
            <a:ext cx="228600" cy="228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858000"/>
            <a:ext cx="12192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94080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altLang="zh-CN" smtClean="0"/>
              <a:pPr/>
              <a:t>1</a:t>
            </a:fld>
            <a:endParaRPr lang="zh-CN" altLang="en-US"/>
          </a:p>
        </p:txBody>
      </p:sp>
      <p:sp>
        <p:nvSpPr>
          <p:cNvPr id="5" name="标题 3"/>
          <p:cNvSpPr txBox="1">
            <a:spLocks/>
          </p:cNvSpPr>
          <p:nvPr/>
        </p:nvSpPr>
        <p:spPr>
          <a:xfrm>
            <a:off x="3962400" y="2971800"/>
            <a:ext cx="7467600" cy="677108"/>
          </a:xfrm>
          <a:prstGeom prst="rect">
            <a:avLst/>
          </a:prstGeom>
        </p:spPr>
        <p:txBody>
          <a:bodyPr vert="horz" lIns="91440" tIns="45720" rIns="91440" bIns="45720" rtlCol="0" anchor="ctr">
            <a:normAutofit fontScale="92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smtClean="0">
                <a:latin typeface="微软雅黑" panose="020B0503020204020204" pitchFamily="34" charset="-122"/>
                <a:ea typeface="微软雅黑" panose="020B0503020204020204" pitchFamily="34" charset="-122"/>
              </a:rPr>
              <a:t>JavaScript</a:t>
            </a:r>
            <a:r>
              <a:rPr lang="zh-CN" altLang="en-US" dirty="0" smtClean="0">
                <a:latin typeface="微软雅黑" panose="020B0503020204020204" pitchFamily="34" charset="-122"/>
                <a:ea typeface="微软雅黑" panose="020B0503020204020204" pitchFamily="34" charset="-122"/>
              </a:rPr>
              <a:t>语句、数组</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9586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smtClean="0"/>
              <a:t>表达式</a:t>
            </a:r>
            <a:r>
              <a:rPr lang="zh-CN" altLang="en-US" sz="3600" dirty="0"/>
              <a:t>和</a:t>
            </a:r>
            <a:r>
              <a:rPr lang="zh-CN" altLang="en-US" sz="3600" dirty="0" smtClean="0"/>
              <a:t>语句</a:t>
            </a:r>
            <a:endParaRPr lang="zh-CN" altLang="en-US" sz="3600" dirty="0"/>
          </a:p>
        </p:txBody>
      </p:sp>
      <p:sp>
        <p:nvSpPr>
          <p:cNvPr id="3" name="内容占位符 2"/>
          <p:cNvSpPr>
            <a:spLocks noGrp="1"/>
          </p:cNvSpPr>
          <p:nvPr>
            <p:ph idx="1"/>
          </p:nvPr>
        </p:nvSpPr>
        <p:spPr>
          <a:xfrm>
            <a:off x="838200" y="1638301"/>
            <a:ext cx="10515600" cy="4000500"/>
          </a:xfrm>
        </p:spPr>
        <p:txBody>
          <a:bodyPr>
            <a:normAutofit/>
          </a:bodyPr>
          <a:lstStyle/>
          <a:p>
            <a:pPr marL="0" indent="0">
              <a:lnSpc>
                <a:spcPct val="150000"/>
              </a:lnSpc>
              <a:buNone/>
            </a:pPr>
            <a:r>
              <a:rPr lang="zh-CN" altLang="en-US" sz="2400" dirty="0" smtClean="0"/>
              <a:t>区别</a:t>
            </a:r>
            <a:r>
              <a:rPr lang="zh-CN" altLang="en-US" sz="2400" dirty="0"/>
              <a:t>：</a:t>
            </a:r>
          </a:p>
          <a:p>
            <a:pPr marL="0" indent="0">
              <a:lnSpc>
                <a:spcPct val="150000"/>
              </a:lnSpc>
              <a:buNone/>
            </a:pPr>
            <a:r>
              <a:rPr lang="zh-CN" altLang="en-US" sz="2400" dirty="0" smtClean="0"/>
              <a:t>表达式一般计算</a:t>
            </a:r>
            <a:r>
              <a:rPr lang="zh-CN" altLang="en-US" sz="2400" dirty="0"/>
              <a:t>出一个</a:t>
            </a:r>
            <a:r>
              <a:rPr lang="zh-CN" altLang="en-US" sz="2400" dirty="0" smtClean="0"/>
              <a:t>值，表达式可以放在任何一个需要值的地方，语句</a:t>
            </a:r>
            <a:r>
              <a:rPr lang="zh-CN" altLang="en-US" sz="2400" dirty="0"/>
              <a:t>用来执行以使某件事发生（做什么事</a:t>
            </a:r>
            <a:r>
              <a:rPr lang="zh-CN" altLang="en-US" sz="2400" dirty="0" smtClean="0"/>
              <a:t>）</a:t>
            </a:r>
            <a:endParaRPr lang="en-US" altLang="zh-CN" sz="2400" dirty="0"/>
          </a:p>
          <a:p>
            <a:pPr>
              <a:lnSpc>
                <a:spcPct val="150000"/>
              </a:lnSpc>
            </a:pPr>
            <a:r>
              <a:rPr lang="zh-CN" altLang="en-US" sz="2400" dirty="0"/>
              <a:t>表达式	</a:t>
            </a:r>
            <a:r>
              <a:rPr lang="en-US" altLang="zh-CN" sz="2400" dirty="0"/>
              <a:t>3 + 4</a:t>
            </a:r>
          </a:p>
          <a:p>
            <a:pPr>
              <a:lnSpc>
                <a:spcPct val="150000"/>
              </a:lnSpc>
            </a:pPr>
            <a:r>
              <a:rPr lang="zh-CN" altLang="en-US" sz="2400" dirty="0"/>
              <a:t>语句	</a:t>
            </a:r>
            <a:r>
              <a:rPr lang="en-US" altLang="zh-CN" sz="2400" dirty="0"/>
              <a:t>alert() </a:t>
            </a:r>
            <a:r>
              <a:rPr lang="zh-CN" altLang="en-US" sz="2400" dirty="0"/>
              <a:t>弹出</a:t>
            </a:r>
            <a:r>
              <a:rPr lang="zh-CN" altLang="en-US" sz="2400" dirty="0" smtClean="0"/>
              <a:t>对话框， </a:t>
            </a:r>
            <a:r>
              <a:rPr lang="en-US" altLang="zh-CN" sz="2400" dirty="0"/>
              <a:t>console.log()</a:t>
            </a:r>
            <a:r>
              <a:rPr lang="zh-CN" altLang="en-US" sz="2400" dirty="0"/>
              <a:t>控制台</a:t>
            </a:r>
            <a:r>
              <a:rPr lang="zh-CN" altLang="en-US" sz="2400" dirty="0" smtClean="0"/>
              <a:t>打印，</a:t>
            </a:r>
            <a:r>
              <a:rPr lang="en-US" altLang="zh-CN" sz="2400" dirty="0" smtClean="0"/>
              <a:t>if()</a:t>
            </a:r>
            <a:r>
              <a:rPr lang="zh-CN" altLang="en-US" sz="2400" dirty="0" smtClean="0"/>
              <a:t>选择结构</a:t>
            </a:r>
            <a:endParaRPr lang="zh-CN" altLang="en-US" sz="2400" dirty="0"/>
          </a:p>
          <a:p>
            <a:pPr>
              <a:lnSpc>
                <a:spcPct val="150000"/>
              </a:lnSpc>
            </a:pPr>
            <a:endParaRPr lang="zh-CN" altLang="en-US" sz="2400" dirty="0"/>
          </a:p>
          <a:p>
            <a:pPr>
              <a:lnSpc>
                <a:spcPct val="150000"/>
              </a:lnSpc>
            </a:pPr>
            <a:endParaRPr lang="zh-CN" altLang="en-US" sz="2400" dirty="0"/>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2</a:t>
            </a:fld>
            <a:endParaRPr lang="zh-CN" altLang="en-US"/>
          </a:p>
        </p:txBody>
      </p:sp>
    </p:spTree>
    <p:extLst>
      <p:ext uri="{BB962C8B-B14F-4D97-AF65-F5344CB8AC3E}">
        <p14:creationId xmlns:p14="http://schemas.microsoft.com/office/powerpoint/2010/main" val="2902498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18793" y="1523523"/>
            <a:ext cx="255016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1" i="0" u="none" strike="noStrike" kern="1200" cap="none" spc="-30" normalizeH="0" baseline="0" noProof="0" dirty="0" err="1" smtClean="0">
                <a:ln>
                  <a:noFill/>
                </a:ln>
                <a:solidFill>
                  <a:srgbClr val="404040"/>
                </a:solidFill>
                <a:effectLst/>
                <a:uLnTx/>
                <a:uFillTx/>
                <a:latin typeface="微软雅黑"/>
                <a:ea typeface="+mn-ea"/>
                <a:cs typeface="微软雅黑"/>
              </a:rPr>
              <a:t>程序三大流程控制</a:t>
            </a:r>
            <a:r>
              <a:rPr kumimoji="0" sz="1800" b="1" i="0" u="none" strike="noStrike" kern="1200" cap="none" spc="-25" normalizeH="0" baseline="0" noProof="0" dirty="0" err="1" smtClean="0">
                <a:ln>
                  <a:noFill/>
                </a:ln>
                <a:solidFill>
                  <a:srgbClr val="404040"/>
                </a:solidFill>
                <a:effectLst/>
                <a:uLnTx/>
                <a:uFillTx/>
                <a:latin typeface="微软雅黑"/>
                <a:ea typeface="+mn-ea"/>
                <a:cs typeface="微软雅黑"/>
              </a:rPr>
              <a:t>语句</a:t>
            </a:r>
            <a:endParaRPr kumimoji="0" sz="1800" b="0" i="0" u="none" strike="noStrike" kern="1200" cap="none" spc="0" normalizeH="0" baseline="0" noProof="0" dirty="0">
              <a:ln>
                <a:noFill/>
              </a:ln>
              <a:solidFill>
                <a:prstClr val="black"/>
              </a:solidFill>
              <a:effectLst/>
              <a:uLnTx/>
              <a:uFillTx/>
              <a:latin typeface="微软雅黑"/>
              <a:ea typeface="+mn-ea"/>
              <a:cs typeface="微软雅黑"/>
            </a:endParaRPr>
          </a:p>
        </p:txBody>
      </p:sp>
      <p:sp>
        <p:nvSpPr>
          <p:cNvPr id="4" name="object 4"/>
          <p:cNvSpPr txBox="1"/>
          <p:nvPr/>
        </p:nvSpPr>
        <p:spPr>
          <a:xfrm>
            <a:off x="818793" y="1977440"/>
            <a:ext cx="6005195" cy="1176604"/>
          </a:xfrm>
          <a:prstGeom prst="rect">
            <a:avLst/>
          </a:prstGeom>
        </p:spPr>
        <p:txBody>
          <a:bodyPr vert="horz" wrap="square" lIns="0" tIns="12065" rIns="0" bIns="0" rtlCol="0">
            <a:spAutoFit/>
          </a:bodyPr>
          <a:lstStyle/>
          <a:p>
            <a:pPr marL="190500" marR="0" lvl="0" indent="-177800" algn="l" defTabSz="914400" rtl="0" eaLnBrk="1" fontAlgn="auto" latinLnBrk="0" hangingPunct="1">
              <a:lnSpc>
                <a:spcPct val="100000"/>
              </a:lnSpc>
              <a:spcBef>
                <a:spcPts val="95"/>
              </a:spcBef>
              <a:buClr>
                <a:srgbClr val="404040"/>
              </a:buClr>
              <a:buSzPct val="84375"/>
              <a:buFont typeface="Wingdings"/>
              <a:buChar char=""/>
              <a:tabLst>
                <a:tab pos="191135" algn="l"/>
              </a:tabLst>
              <a:defRPr/>
            </a:pPr>
            <a:r>
              <a:rPr kumimoji="0" b="0" i="0" u="none" strike="noStrike" kern="1200" cap="none" spc="-30" normalizeH="0" baseline="0" noProof="0" dirty="0" err="1" smtClean="0">
                <a:ln>
                  <a:noFill/>
                </a:ln>
                <a:solidFill>
                  <a:srgbClr val="252525"/>
                </a:solidFill>
                <a:effectLst/>
                <a:uLnTx/>
                <a:uFillTx/>
                <a:latin typeface="宋体"/>
                <a:ea typeface="+mn-ea"/>
                <a:cs typeface="宋体"/>
              </a:rPr>
              <a:t>从上往下执行</a:t>
            </a:r>
            <a:r>
              <a:rPr kumimoji="0" lang="zh-CN" altLang="en-US" b="0" i="0" u="none" strike="noStrike" kern="1200" cap="none" spc="-30" normalizeH="0" baseline="0" noProof="0" dirty="0" smtClean="0">
                <a:ln>
                  <a:noFill/>
                </a:ln>
                <a:solidFill>
                  <a:srgbClr val="252525"/>
                </a:solidFill>
                <a:effectLst/>
                <a:uLnTx/>
                <a:uFillTx/>
                <a:latin typeface="宋体"/>
                <a:ea typeface="+mn-ea"/>
                <a:cs typeface="宋体"/>
              </a:rPr>
              <a:t>代码的结构</a:t>
            </a:r>
            <a:r>
              <a:rPr kumimoji="0" b="0" i="0" u="none" strike="noStrike" kern="1200" cap="none" spc="-30" normalizeH="0" baseline="0" noProof="0" dirty="0" smtClean="0">
                <a:ln>
                  <a:noFill/>
                </a:ln>
                <a:solidFill>
                  <a:srgbClr val="252525"/>
                </a:solidFill>
                <a:effectLst/>
                <a:uLnTx/>
                <a:uFillTx/>
                <a:latin typeface="宋体"/>
                <a:ea typeface="+mn-ea"/>
                <a:cs typeface="宋体"/>
              </a:rPr>
              <a:t>，</a:t>
            </a:r>
            <a:r>
              <a:rPr kumimoji="0" b="0" i="0" u="none" strike="noStrike" kern="1200" cap="none" spc="-15" normalizeH="0" baseline="0" noProof="0" dirty="0" err="1" smtClean="0">
                <a:ln>
                  <a:noFill/>
                </a:ln>
                <a:solidFill>
                  <a:srgbClr val="252525"/>
                </a:solidFill>
                <a:effectLst/>
                <a:uLnTx/>
                <a:uFillTx/>
                <a:latin typeface="宋体"/>
                <a:ea typeface="+mn-ea"/>
                <a:cs typeface="宋体"/>
              </a:rPr>
              <a:t>叫</a:t>
            </a:r>
            <a:r>
              <a:rPr kumimoji="0" b="0" i="0" u="none" strike="noStrike" kern="1200" cap="none" spc="-30" normalizeH="0" baseline="0" noProof="0" dirty="0" err="1" smtClean="0">
                <a:ln>
                  <a:noFill/>
                </a:ln>
                <a:solidFill>
                  <a:srgbClr val="252525"/>
                </a:solidFill>
                <a:effectLst/>
                <a:uLnTx/>
                <a:uFillTx/>
                <a:latin typeface="宋体"/>
                <a:ea typeface="+mn-ea"/>
                <a:cs typeface="宋体"/>
              </a:rPr>
              <a:t>顺序结构</a:t>
            </a:r>
            <a:r>
              <a:rPr kumimoji="0" lang="en-US" b="0" i="0" u="none" strike="noStrike" kern="1200" cap="none" spc="-30" normalizeH="0" baseline="0" noProof="0" dirty="0" smtClean="0">
                <a:ln>
                  <a:noFill/>
                </a:ln>
                <a:solidFill>
                  <a:srgbClr val="252525"/>
                </a:solidFill>
                <a:effectLst/>
                <a:uLnTx/>
                <a:uFillTx/>
                <a:latin typeface="宋体"/>
                <a:ea typeface="+mn-ea"/>
                <a:cs typeface="宋体"/>
              </a:rPr>
              <a:t>;</a:t>
            </a:r>
            <a:endParaRPr kumimoji="0" b="0" i="0" u="none" strike="noStrike" kern="1200" cap="none" spc="0" normalizeH="0" baseline="0" noProof="0" dirty="0">
              <a:ln>
                <a:noFill/>
              </a:ln>
              <a:solidFill>
                <a:prstClr val="black"/>
              </a:solidFill>
              <a:effectLst/>
              <a:uLnTx/>
              <a:uFillTx/>
              <a:latin typeface="宋体"/>
              <a:ea typeface="+mn-ea"/>
              <a:cs typeface="宋体"/>
            </a:endParaRPr>
          </a:p>
          <a:p>
            <a:pPr marL="190500" marR="0" lvl="0" indent="-177800" algn="l" defTabSz="914400" rtl="0" eaLnBrk="1" fontAlgn="auto" latinLnBrk="0" hangingPunct="1">
              <a:lnSpc>
                <a:spcPct val="100000"/>
              </a:lnSpc>
              <a:spcBef>
                <a:spcPts val="1345"/>
              </a:spcBef>
              <a:buClr>
                <a:srgbClr val="404040"/>
              </a:buClr>
              <a:buSzPct val="84375"/>
              <a:buFont typeface="Wingdings"/>
              <a:buChar char=""/>
              <a:tabLst>
                <a:tab pos="191135" algn="l"/>
              </a:tabLst>
              <a:defRPr/>
            </a:pPr>
            <a:r>
              <a:rPr kumimoji="0" b="0" i="0" u="none" strike="noStrike" kern="1200" cap="none" spc="-30" normalizeH="0" baseline="0" noProof="0" dirty="0" err="1" smtClean="0">
                <a:ln>
                  <a:noFill/>
                </a:ln>
                <a:solidFill>
                  <a:srgbClr val="252525"/>
                </a:solidFill>
                <a:effectLst/>
                <a:uLnTx/>
                <a:uFillTx/>
                <a:latin typeface="宋体"/>
                <a:ea typeface="+mn-ea"/>
                <a:cs typeface="宋体"/>
              </a:rPr>
              <a:t>根据条件选择执行代码，叫</a:t>
            </a:r>
            <a:r>
              <a:rPr kumimoji="0" b="0" i="0" u="none" strike="noStrike" kern="1200" cap="none" spc="-20" normalizeH="0" baseline="0" noProof="0" dirty="0" err="1" smtClean="0">
                <a:ln>
                  <a:noFill/>
                </a:ln>
                <a:solidFill>
                  <a:srgbClr val="252525"/>
                </a:solidFill>
                <a:effectLst/>
                <a:uLnTx/>
                <a:uFillTx/>
                <a:latin typeface="宋体"/>
                <a:ea typeface="+mn-ea"/>
                <a:cs typeface="宋体"/>
              </a:rPr>
              <a:t>分</a:t>
            </a:r>
            <a:r>
              <a:rPr kumimoji="0" b="0" i="0" u="none" strike="noStrike" kern="1200" cap="none" spc="-30" normalizeH="0" baseline="0" noProof="0" dirty="0" err="1" smtClean="0">
                <a:ln>
                  <a:noFill/>
                </a:ln>
                <a:solidFill>
                  <a:srgbClr val="252525"/>
                </a:solidFill>
                <a:effectLst/>
                <a:uLnTx/>
                <a:uFillTx/>
                <a:latin typeface="宋体"/>
                <a:ea typeface="+mn-ea"/>
                <a:cs typeface="宋体"/>
              </a:rPr>
              <a:t>支结构</a:t>
            </a:r>
            <a:r>
              <a:rPr kumimoji="0" lang="en-US" b="0" i="0" u="none" strike="noStrike" kern="1200" cap="none" spc="-30" normalizeH="0" baseline="0" noProof="0" dirty="0" smtClean="0">
                <a:ln>
                  <a:noFill/>
                </a:ln>
                <a:solidFill>
                  <a:srgbClr val="252525"/>
                </a:solidFill>
                <a:effectLst/>
                <a:uLnTx/>
                <a:uFillTx/>
                <a:latin typeface="宋体"/>
                <a:ea typeface="+mn-ea"/>
                <a:cs typeface="宋体"/>
              </a:rPr>
              <a:t>;</a:t>
            </a:r>
            <a:endParaRPr kumimoji="0" b="0" i="0" u="none" strike="noStrike" kern="1200" cap="none" spc="0" normalizeH="0" baseline="0" noProof="0" dirty="0">
              <a:ln>
                <a:noFill/>
              </a:ln>
              <a:solidFill>
                <a:prstClr val="black"/>
              </a:solidFill>
              <a:effectLst/>
              <a:uLnTx/>
              <a:uFillTx/>
              <a:latin typeface="宋体"/>
              <a:ea typeface="+mn-ea"/>
              <a:cs typeface="宋体"/>
            </a:endParaRPr>
          </a:p>
          <a:p>
            <a:pPr marL="190500" marR="0" lvl="0" indent="-177800" algn="l" defTabSz="914400" rtl="0" eaLnBrk="1" fontAlgn="auto" latinLnBrk="0" hangingPunct="1">
              <a:lnSpc>
                <a:spcPct val="100000"/>
              </a:lnSpc>
              <a:spcBef>
                <a:spcPts val="1340"/>
              </a:spcBef>
              <a:spcAft>
                <a:spcPts val="0"/>
              </a:spcAft>
              <a:buClr>
                <a:srgbClr val="404040"/>
              </a:buClr>
              <a:buSzPct val="84375"/>
              <a:buFont typeface="Wingdings"/>
              <a:buChar char=""/>
              <a:tabLst>
                <a:tab pos="191135" algn="l"/>
              </a:tabLst>
              <a:defRPr/>
            </a:pPr>
            <a:r>
              <a:rPr kumimoji="0" b="0" i="0" u="none" strike="noStrike" kern="1200" cap="none" spc="-30" normalizeH="0" baseline="0" noProof="0" dirty="0" err="1">
                <a:ln>
                  <a:noFill/>
                </a:ln>
                <a:solidFill>
                  <a:srgbClr val="252525"/>
                </a:solidFill>
                <a:effectLst/>
                <a:uLnTx/>
                <a:uFillTx/>
                <a:latin typeface="宋体"/>
                <a:ea typeface="+mn-ea"/>
                <a:cs typeface="宋体"/>
              </a:rPr>
              <a:t>某</a:t>
            </a:r>
            <a:r>
              <a:rPr kumimoji="0" b="0" i="0" u="none" strike="noStrike" kern="1200" cap="none" spc="-35" normalizeH="0" baseline="0" noProof="0" dirty="0" err="1">
                <a:ln>
                  <a:noFill/>
                </a:ln>
                <a:solidFill>
                  <a:srgbClr val="252525"/>
                </a:solidFill>
                <a:effectLst/>
                <a:uLnTx/>
                <a:uFillTx/>
                <a:latin typeface="宋体"/>
                <a:ea typeface="+mn-ea"/>
                <a:cs typeface="宋体"/>
              </a:rPr>
              <a:t>段代码被重复执行</a:t>
            </a:r>
            <a:r>
              <a:rPr kumimoji="0" b="0" i="0" u="none" strike="noStrike" kern="1200" cap="none" spc="-35" normalizeH="0" baseline="0" noProof="0" dirty="0" err="1" smtClean="0">
                <a:ln>
                  <a:noFill/>
                </a:ln>
                <a:solidFill>
                  <a:srgbClr val="252525"/>
                </a:solidFill>
                <a:effectLst/>
                <a:uLnTx/>
                <a:uFillTx/>
                <a:latin typeface="宋体"/>
                <a:ea typeface="+mn-ea"/>
                <a:cs typeface="宋体"/>
              </a:rPr>
              <a:t>，叫循环结构</a:t>
            </a:r>
            <a:r>
              <a:rPr kumimoji="0" lang="en-US" b="0" i="0" u="none" strike="noStrike" kern="1200" cap="none" spc="-35" normalizeH="0" baseline="0" noProof="0" dirty="0" smtClean="0">
                <a:ln>
                  <a:noFill/>
                </a:ln>
                <a:solidFill>
                  <a:srgbClr val="252525"/>
                </a:solidFill>
                <a:effectLst/>
                <a:uLnTx/>
                <a:uFillTx/>
                <a:latin typeface="宋体"/>
                <a:ea typeface="+mn-ea"/>
                <a:cs typeface="宋体"/>
              </a:rPr>
              <a:t>;</a:t>
            </a:r>
            <a:endParaRPr kumimoji="0" b="0" i="0" u="none" strike="noStrike" kern="1200" cap="none" spc="0" normalizeH="0" baseline="0" noProof="0" dirty="0">
              <a:ln>
                <a:noFill/>
              </a:ln>
              <a:solidFill>
                <a:prstClr val="black"/>
              </a:solidFill>
              <a:effectLst/>
              <a:uLnTx/>
              <a:uFillTx/>
              <a:latin typeface="宋体"/>
              <a:ea typeface="+mn-ea"/>
              <a:cs typeface="宋体"/>
            </a:endParaRPr>
          </a:p>
        </p:txBody>
      </p:sp>
      <p:sp>
        <p:nvSpPr>
          <p:cNvPr id="5" name="object 5"/>
          <p:cNvSpPr/>
          <p:nvPr/>
        </p:nvSpPr>
        <p:spPr>
          <a:xfrm>
            <a:off x="1459991" y="3787140"/>
            <a:ext cx="1734820" cy="402590"/>
          </a:xfrm>
          <a:custGeom>
            <a:avLst/>
            <a:gdLst/>
            <a:ahLst/>
            <a:cxnLst/>
            <a:rect l="l" t="t" r="r" b="b"/>
            <a:pathLst>
              <a:path w="1734820" h="402589">
                <a:moveTo>
                  <a:pt x="1667256" y="0"/>
                </a:moveTo>
                <a:lnTo>
                  <a:pt x="67056" y="0"/>
                </a:lnTo>
                <a:lnTo>
                  <a:pt x="40933" y="5262"/>
                </a:lnTo>
                <a:lnTo>
                  <a:pt x="19621" y="19621"/>
                </a:lnTo>
                <a:lnTo>
                  <a:pt x="5262" y="40933"/>
                </a:lnTo>
                <a:lnTo>
                  <a:pt x="0" y="67056"/>
                </a:lnTo>
                <a:lnTo>
                  <a:pt x="0" y="335280"/>
                </a:lnTo>
                <a:lnTo>
                  <a:pt x="5262" y="361402"/>
                </a:lnTo>
                <a:lnTo>
                  <a:pt x="19621" y="382714"/>
                </a:lnTo>
                <a:lnTo>
                  <a:pt x="40933" y="397073"/>
                </a:lnTo>
                <a:lnTo>
                  <a:pt x="67056" y="402336"/>
                </a:lnTo>
                <a:lnTo>
                  <a:pt x="1667256" y="402336"/>
                </a:lnTo>
                <a:lnTo>
                  <a:pt x="1693378" y="397073"/>
                </a:lnTo>
                <a:lnTo>
                  <a:pt x="1714690" y="382714"/>
                </a:lnTo>
                <a:lnTo>
                  <a:pt x="1729049" y="361402"/>
                </a:lnTo>
                <a:lnTo>
                  <a:pt x="1734312" y="335280"/>
                </a:lnTo>
                <a:lnTo>
                  <a:pt x="1734312" y="67056"/>
                </a:lnTo>
                <a:lnTo>
                  <a:pt x="1729049" y="40933"/>
                </a:lnTo>
                <a:lnTo>
                  <a:pt x="1714690" y="19621"/>
                </a:lnTo>
                <a:lnTo>
                  <a:pt x="1693378" y="5262"/>
                </a:lnTo>
                <a:lnTo>
                  <a:pt x="1667256"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459991" y="4948428"/>
            <a:ext cx="1734820" cy="401320"/>
          </a:xfrm>
          <a:custGeom>
            <a:avLst/>
            <a:gdLst/>
            <a:ahLst/>
            <a:cxnLst/>
            <a:rect l="l" t="t" r="r" b="b"/>
            <a:pathLst>
              <a:path w="1734820" h="401320">
                <a:moveTo>
                  <a:pt x="1667510" y="0"/>
                </a:moveTo>
                <a:lnTo>
                  <a:pt x="66802" y="0"/>
                </a:lnTo>
                <a:lnTo>
                  <a:pt x="40772" y="5240"/>
                </a:lnTo>
                <a:lnTo>
                  <a:pt x="19542" y="19542"/>
                </a:lnTo>
                <a:lnTo>
                  <a:pt x="5240" y="40772"/>
                </a:lnTo>
                <a:lnTo>
                  <a:pt x="0" y="66802"/>
                </a:lnTo>
                <a:lnTo>
                  <a:pt x="0" y="334010"/>
                </a:lnTo>
                <a:lnTo>
                  <a:pt x="5240" y="359985"/>
                </a:lnTo>
                <a:lnTo>
                  <a:pt x="19542" y="381222"/>
                </a:lnTo>
                <a:lnTo>
                  <a:pt x="40772" y="395553"/>
                </a:lnTo>
                <a:lnTo>
                  <a:pt x="66802" y="400812"/>
                </a:lnTo>
                <a:lnTo>
                  <a:pt x="1667510" y="400812"/>
                </a:lnTo>
                <a:lnTo>
                  <a:pt x="1693485" y="395553"/>
                </a:lnTo>
                <a:lnTo>
                  <a:pt x="1714722" y="381222"/>
                </a:lnTo>
                <a:lnTo>
                  <a:pt x="1729053" y="359985"/>
                </a:lnTo>
                <a:lnTo>
                  <a:pt x="1734312" y="334010"/>
                </a:lnTo>
                <a:lnTo>
                  <a:pt x="1734312" y="66802"/>
                </a:lnTo>
                <a:lnTo>
                  <a:pt x="1729053" y="40772"/>
                </a:lnTo>
                <a:lnTo>
                  <a:pt x="1714722" y="19542"/>
                </a:lnTo>
                <a:lnTo>
                  <a:pt x="1693485" y="5240"/>
                </a:lnTo>
                <a:lnTo>
                  <a:pt x="1667510"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2028825" y="4989067"/>
            <a:ext cx="5988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2</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8" name="object 8"/>
          <p:cNvSpPr/>
          <p:nvPr/>
        </p:nvSpPr>
        <p:spPr>
          <a:xfrm>
            <a:off x="1459991" y="6108191"/>
            <a:ext cx="1734820" cy="401320"/>
          </a:xfrm>
          <a:custGeom>
            <a:avLst/>
            <a:gdLst/>
            <a:ahLst/>
            <a:cxnLst/>
            <a:rect l="l" t="t" r="r" b="b"/>
            <a:pathLst>
              <a:path w="1734820" h="401320">
                <a:moveTo>
                  <a:pt x="1667510" y="0"/>
                </a:moveTo>
                <a:lnTo>
                  <a:pt x="66802" y="0"/>
                </a:lnTo>
                <a:lnTo>
                  <a:pt x="40772" y="5249"/>
                </a:lnTo>
                <a:lnTo>
                  <a:pt x="19542" y="19565"/>
                </a:lnTo>
                <a:lnTo>
                  <a:pt x="5240" y="40799"/>
                </a:lnTo>
                <a:lnTo>
                  <a:pt x="0" y="66802"/>
                </a:lnTo>
                <a:lnTo>
                  <a:pt x="0" y="334010"/>
                </a:lnTo>
                <a:lnTo>
                  <a:pt x="5240" y="360012"/>
                </a:lnTo>
                <a:lnTo>
                  <a:pt x="19542" y="381246"/>
                </a:lnTo>
                <a:lnTo>
                  <a:pt x="40772" y="395562"/>
                </a:lnTo>
                <a:lnTo>
                  <a:pt x="66802" y="400812"/>
                </a:lnTo>
                <a:lnTo>
                  <a:pt x="1667510" y="400812"/>
                </a:lnTo>
                <a:lnTo>
                  <a:pt x="1693485" y="395562"/>
                </a:lnTo>
                <a:lnTo>
                  <a:pt x="1714722" y="381246"/>
                </a:lnTo>
                <a:lnTo>
                  <a:pt x="1729053" y="360012"/>
                </a:lnTo>
                <a:lnTo>
                  <a:pt x="1734312" y="334010"/>
                </a:lnTo>
                <a:lnTo>
                  <a:pt x="1734312" y="66802"/>
                </a:lnTo>
                <a:lnTo>
                  <a:pt x="1729053" y="40799"/>
                </a:lnTo>
                <a:lnTo>
                  <a:pt x="1714722" y="19565"/>
                </a:lnTo>
                <a:lnTo>
                  <a:pt x="1693485" y="5249"/>
                </a:lnTo>
                <a:lnTo>
                  <a:pt x="1667510"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txBox="1"/>
          <p:nvPr/>
        </p:nvSpPr>
        <p:spPr>
          <a:xfrm>
            <a:off x="2028825" y="6149441"/>
            <a:ext cx="5988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3</a:t>
            </a: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0" name="object 10"/>
          <p:cNvSpPr/>
          <p:nvPr/>
        </p:nvSpPr>
        <p:spPr>
          <a:xfrm>
            <a:off x="2240279" y="4189476"/>
            <a:ext cx="173990" cy="758825"/>
          </a:xfrm>
          <a:custGeom>
            <a:avLst/>
            <a:gdLst/>
            <a:ahLst/>
            <a:cxnLst/>
            <a:rect l="l" t="t" r="r" b="b"/>
            <a:pathLst>
              <a:path w="173989" h="758825">
                <a:moveTo>
                  <a:pt x="57912" y="585088"/>
                </a:moveTo>
                <a:lnTo>
                  <a:pt x="0" y="585088"/>
                </a:lnTo>
                <a:lnTo>
                  <a:pt x="86868" y="758825"/>
                </a:lnTo>
                <a:lnTo>
                  <a:pt x="159257" y="614044"/>
                </a:lnTo>
                <a:lnTo>
                  <a:pt x="57912" y="614044"/>
                </a:lnTo>
                <a:lnTo>
                  <a:pt x="57912" y="585088"/>
                </a:lnTo>
                <a:close/>
              </a:path>
              <a:path w="173989" h="758825">
                <a:moveTo>
                  <a:pt x="115824" y="0"/>
                </a:moveTo>
                <a:lnTo>
                  <a:pt x="57912" y="0"/>
                </a:lnTo>
                <a:lnTo>
                  <a:pt x="57912" y="614044"/>
                </a:lnTo>
                <a:lnTo>
                  <a:pt x="115824" y="614044"/>
                </a:lnTo>
                <a:lnTo>
                  <a:pt x="115824" y="0"/>
                </a:lnTo>
                <a:close/>
              </a:path>
              <a:path w="173989" h="758825">
                <a:moveTo>
                  <a:pt x="173736" y="585088"/>
                </a:moveTo>
                <a:lnTo>
                  <a:pt x="115824" y="585088"/>
                </a:lnTo>
                <a:lnTo>
                  <a:pt x="115824" y="614044"/>
                </a:lnTo>
                <a:lnTo>
                  <a:pt x="159257" y="614044"/>
                </a:lnTo>
                <a:lnTo>
                  <a:pt x="173736" y="58508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p:nvPr/>
        </p:nvSpPr>
        <p:spPr>
          <a:xfrm>
            <a:off x="2240279" y="5349240"/>
            <a:ext cx="173990" cy="759460"/>
          </a:xfrm>
          <a:custGeom>
            <a:avLst/>
            <a:gdLst/>
            <a:ahLst/>
            <a:cxnLst/>
            <a:rect l="l" t="t" r="r" b="b"/>
            <a:pathLst>
              <a:path w="173989" h="759460">
                <a:moveTo>
                  <a:pt x="57912" y="585152"/>
                </a:moveTo>
                <a:lnTo>
                  <a:pt x="0" y="585152"/>
                </a:lnTo>
                <a:lnTo>
                  <a:pt x="86868" y="758888"/>
                </a:lnTo>
                <a:lnTo>
                  <a:pt x="159257" y="614108"/>
                </a:lnTo>
                <a:lnTo>
                  <a:pt x="57912" y="614108"/>
                </a:lnTo>
                <a:lnTo>
                  <a:pt x="57912" y="585152"/>
                </a:lnTo>
                <a:close/>
              </a:path>
              <a:path w="173989" h="759460">
                <a:moveTo>
                  <a:pt x="115824" y="0"/>
                </a:moveTo>
                <a:lnTo>
                  <a:pt x="57912" y="0"/>
                </a:lnTo>
                <a:lnTo>
                  <a:pt x="57912" y="614108"/>
                </a:lnTo>
                <a:lnTo>
                  <a:pt x="115824" y="614108"/>
                </a:lnTo>
                <a:lnTo>
                  <a:pt x="115824" y="0"/>
                </a:lnTo>
                <a:close/>
              </a:path>
              <a:path w="173989" h="759460">
                <a:moveTo>
                  <a:pt x="173736" y="585152"/>
                </a:moveTo>
                <a:lnTo>
                  <a:pt x="115824" y="585152"/>
                </a:lnTo>
                <a:lnTo>
                  <a:pt x="115824" y="614108"/>
                </a:lnTo>
                <a:lnTo>
                  <a:pt x="159257" y="614108"/>
                </a:lnTo>
                <a:lnTo>
                  <a:pt x="173736" y="58515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object 12"/>
          <p:cNvSpPr txBox="1"/>
          <p:nvPr/>
        </p:nvSpPr>
        <p:spPr>
          <a:xfrm>
            <a:off x="1812417" y="3370834"/>
            <a:ext cx="824230" cy="75341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buClrTx/>
              <a:buSzTx/>
              <a:buFontTx/>
              <a:buNone/>
              <a:tabLst/>
              <a:defRPr/>
            </a:pPr>
            <a:r>
              <a:rPr kumimoji="0" sz="1600" b="1" i="0" u="none" strike="noStrike" kern="1200" cap="none" spc="-30" normalizeH="0" baseline="0" noProof="0" dirty="0">
                <a:ln>
                  <a:noFill/>
                </a:ln>
                <a:solidFill>
                  <a:srgbClr val="585858"/>
                </a:solidFill>
                <a:effectLst/>
                <a:uLnTx/>
                <a:uFillTx/>
                <a:latin typeface="微软雅黑"/>
                <a:ea typeface="+mn-ea"/>
                <a:cs typeface="微软雅黑"/>
              </a:rPr>
              <a:t>顺序结构</a:t>
            </a:r>
            <a:endParaRPr kumimoji="0" sz="1600" b="0" i="0" u="none" strike="noStrike" kern="1200" cap="none" spc="0" normalizeH="0" baseline="0" noProof="0" dirty="0">
              <a:ln>
                <a:noFill/>
              </a:ln>
              <a:solidFill>
                <a:prstClr val="black"/>
              </a:solidFill>
              <a:effectLst/>
              <a:uLnTx/>
              <a:uFillTx/>
              <a:latin typeface="微软雅黑"/>
              <a:ea typeface="+mn-ea"/>
              <a:cs typeface="微软雅黑"/>
            </a:endParaRPr>
          </a:p>
          <a:p>
            <a:pPr marL="228600" marR="0" lvl="0" indent="0" algn="l" defTabSz="914400" rtl="0" eaLnBrk="1" fontAlgn="auto" latinLnBrk="0" hangingPunct="1">
              <a:lnSpc>
                <a:spcPct val="100000"/>
              </a:lnSpc>
              <a:spcBef>
                <a:spcPts val="1690"/>
              </a:spcBef>
              <a:spcAft>
                <a:spcPts val="0"/>
              </a:spcAft>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1</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3" name="object 13"/>
          <p:cNvSpPr/>
          <p:nvPr/>
        </p:nvSpPr>
        <p:spPr>
          <a:xfrm>
            <a:off x="6117335" y="4948428"/>
            <a:ext cx="1423670" cy="401320"/>
          </a:xfrm>
          <a:custGeom>
            <a:avLst/>
            <a:gdLst/>
            <a:ahLst/>
            <a:cxnLst/>
            <a:rect l="l" t="t" r="r" b="b"/>
            <a:pathLst>
              <a:path w="1423670" h="401320">
                <a:moveTo>
                  <a:pt x="1356614" y="0"/>
                </a:moveTo>
                <a:lnTo>
                  <a:pt x="66801" y="0"/>
                </a:lnTo>
                <a:lnTo>
                  <a:pt x="40772" y="5240"/>
                </a:lnTo>
                <a:lnTo>
                  <a:pt x="19542" y="19542"/>
                </a:lnTo>
                <a:lnTo>
                  <a:pt x="5240" y="40772"/>
                </a:lnTo>
                <a:lnTo>
                  <a:pt x="0" y="66802"/>
                </a:lnTo>
                <a:lnTo>
                  <a:pt x="0" y="334010"/>
                </a:lnTo>
                <a:lnTo>
                  <a:pt x="5240" y="359985"/>
                </a:lnTo>
                <a:lnTo>
                  <a:pt x="19542" y="381222"/>
                </a:lnTo>
                <a:lnTo>
                  <a:pt x="40772" y="395553"/>
                </a:lnTo>
                <a:lnTo>
                  <a:pt x="66801" y="400812"/>
                </a:lnTo>
                <a:lnTo>
                  <a:pt x="1356614" y="400812"/>
                </a:lnTo>
                <a:lnTo>
                  <a:pt x="1382589" y="395553"/>
                </a:lnTo>
                <a:lnTo>
                  <a:pt x="1403826" y="381222"/>
                </a:lnTo>
                <a:lnTo>
                  <a:pt x="1418157" y="359985"/>
                </a:lnTo>
                <a:lnTo>
                  <a:pt x="1423415" y="334010"/>
                </a:lnTo>
                <a:lnTo>
                  <a:pt x="1423415" y="66802"/>
                </a:lnTo>
                <a:lnTo>
                  <a:pt x="1418157" y="40772"/>
                </a:lnTo>
                <a:lnTo>
                  <a:pt x="1403826" y="19542"/>
                </a:lnTo>
                <a:lnTo>
                  <a:pt x="1382589" y="5240"/>
                </a:lnTo>
                <a:lnTo>
                  <a:pt x="1356614"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14"/>
          <p:cNvSpPr txBox="1"/>
          <p:nvPr/>
        </p:nvSpPr>
        <p:spPr>
          <a:xfrm>
            <a:off x="6531102" y="4989067"/>
            <a:ext cx="5988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2</a:t>
            </a: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5" name="object 15"/>
          <p:cNvSpPr/>
          <p:nvPr/>
        </p:nvSpPr>
        <p:spPr>
          <a:xfrm>
            <a:off x="4613147" y="3787140"/>
            <a:ext cx="1423670" cy="402590"/>
          </a:xfrm>
          <a:custGeom>
            <a:avLst/>
            <a:gdLst/>
            <a:ahLst/>
            <a:cxnLst/>
            <a:rect l="l" t="t" r="r" b="b"/>
            <a:pathLst>
              <a:path w="1423670" h="402589">
                <a:moveTo>
                  <a:pt x="1356360" y="0"/>
                </a:moveTo>
                <a:lnTo>
                  <a:pt x="67055" y="0"/>
                </a:lnTo>
                <a:lnTo>
                  <a:pt x="40933" y="5262"/>
                </a:lnTo>
                <a:lnTo>
                  <a:pt x="19621" y="19621"/>
                </a:lnTo>
                <a:lnTo>
                  <a:pt x="5262" y="40933"/>
                </a:lnTo>
                <a:lnTo>
                  <a:pt x="0" y="67056"/>
                </a:lnTo>
                <a:lnTo>
                  <a:pt x="0" y="335280"/>
                </a:lnTo>
                <a:lnTo>
                  <a:pt x="5262" y="361402"/>
                </a:lnTo>
                <a:lnTo>
                  <a:pt x="19621" y="382714"/>
                </a:lnTo>
                <a:lnTo>
                  <a:pt x="40933" y="397073"/>
                </a:lnTo>
                <a:lnTo>
                  <a:pt x="67055" y="402336"/>
                </a:lnTo>
                <a:lnTo>
                  <a:pt x="1356360" y="402336"/>
                </a:lnTo>
                <a:lnTo>
                  <a:pt x="1382482" y="397073"/>
                </a:lnTo>
                <a:lnTo>
                  <a:pt x="1403794" y="382714"/>
                </a:lnTo>
                <a:lnTo>
                  <a:pt x="1418153" y="361402"/>
                </a:lnTo>
                <a:lnTo>
                  <a:pt x="1423415" y="335280"/>
                </a:lnTo>
                <a:lnTo>
                  <a:pt x="1423415" y="67056"/>
                </a:lnTo>
                <a:lnTo>
                  <a:pt x="1418153" y="40933"/>
                </a:lnTo>
                <a:lnTo>
                  <a:pt x="1403794" y="19621"/>
                </a:lnTo>
                <a:lnTo>
                  <a:pt x="1382482" y="5262"/>
                </a:lnTo>
                <a:lnTo>
                  <a:pt x="1356360"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4613147" y="6108191"/>
            <a:ext cx="1423670" cy="401320"/>
          </a:xfrm>
          <a:custGeom>
            <a:avLst/>
            <a:gdLst/>
            <a:ahLst/>
            <a:cxnLst/>
            <a:rect l="l" t="t" r="r" b="b"/>
            <a:pathLst>
              <a:path w="1423670" h="401320">
                <a:moveTo>
                  <a:pt x="1356614" y="0"/>
                </a:moveTo>
                <a:lnTo>
                  <a:pt x="66801" y="0"/>
                </a:lnTo>
                <a:lnTo>
                  <a:pt x="40826" y="5249"/>
                </a:lnTo>
                <a:lnTo>
                  <a:pt x="19589" y="19565"/>
                </a:lnTo>
                <a:lnTo>
                  <a:pt x="5258" y="40799"/>
                </a:lnTo>
                <a:lnTo>
                  <a:pt x="0" y="66802"/>
                </a:lnTo>
                <a:lnTo>
                  <a:pt x="0" y="334010"/>
                </a:lnTo>
                <a:lnTo>
                  <a:pt x="5258" y="360012"/>
                </a:lnTo>
                <a:lnTo>
                  <a:pt x="19589" y="381246"/>
                </a:lnTo>
                <a:lnTo>
                  <a:pt x="40826" y="395562"/>
                </a:lnTo>
                <a:lnTo>
                  <a:pt x="66801" y="400812"/>
                </a:lnTo>
                <a:lnTo>
                  <a:pt x="1356614" y="400812"/>
                </a:lnTo>
                <a:lnTo>
                  <a:pt x="1382589" y="395562"/>
                </a:lnTo>
                <a:lnTo>
                  <a:pt x="1403826" y="381246"/>
                </a:lnTo>
                <a:lnTo>
                  <a:pt x="1418157" y="360012"/>
                </a:lnTo>
                <a:lnTo>
                  <a:pt x="1423415" y="334010"/>
                </a:lnTo>
                <a:lnTo>
                  <a:pt x="1423415" y="66802"/>
                </a:lnTo>
                <a:lnTo>
                  <a:pt x="1418157" y="40799"/>
                </a:lnTo>
                <a:lnTo>
                  <a:pt x="1403826" y="19565"/>
                </a:lnTo>
                <a:lnTo>
                  <a:pt x="1382589" y="5249"/>
                </a:lnTo>
                <a:lnTo>
                  <a:pt x="1356614"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object 17"/>
          <p:cNvSpPr txBox="1"/>
          <p:nvPr/>
        </p:nvSpPr>
        <p:spPr>
          <a:xfrm>
            <a:off x="5026278" y="6149441"/>
            <a:ext cx="5988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3</a:t>
            </a: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18" name="object 18"/>
          <p:cNvSpPr/>
          <p:nvPr/>
        </p:nvSpPr>
        <p:spPr>
          <a:xfrm>
            <a:off x="5311775" y="4163567"/>
            <a:ext cx="1517650" cy="784860"/>
          </a:xfrm>
          <a:custGeom>
            <a:avLst/>
            <a:gdLst/>
            <a:ahLst/>
            <a:cxnLst/>
            <a:rect l="l" t="t" r="r" b="b"/>
            <a:pathLst>
              <a:path w="1517650" h="784860">
                <a:moveTo>
                  <a:pt x="1349310" y="732452"/>
                </a:moveTo>
                <a:lnTo>
                  <a:pt x="1323213" y="784097"/>
                </a:lnTo>
                <a:lnTo>
                  <a:pt x="1517523" y="784732"/>
                </a:lnTo>
                <a:lnTo>
                  <a:pt x="1488298" y="745489"/>
                </a:lnTo>
                <a:lnTo>
                  <a:pt x="1375155" y="745489"/>
                </a:lnTo>
                <a:lnTo>
                  <a:pt x="1349310" y="732452"/>
                </a:lnTo>
                <a:close/>
              </a:path>
              <a:path w="1517650" h="784860">
                <a:moveTo>
                  <a:pt x="1375489" y="680645"/>
                </a:moveTo>
                <a:lnTo>
                  <a:pt x="1349310" y="732452"/>
                </a:lnTo>
                <a:lnTo>
                  <a:pt x="1375155" y="745489"/>
                </a:lnTo>
                <a:lnTo>
                  <a:pt x="1401318" y="693673"/>
                </a:lnTo>
                <a:lnTo>
                  <a:pt x="1375489" y="680645"/>
                </a:lnTo>
                <a:close/>
              </a:path>
              <a:path w="1517650" h="784860">
                <a:moveTo>
                  <a:pt x="1401572" y="629030"/>
                </a:moveTo>
                <a:lnTo>
                  <a:pt x="1375489" y="680645"/>
                </a:lnTo>
                <a:lnTo>
                  <a:pt x="1401318" y="693673"/>
                </a:lnTo>
                <a:lnTo>
                  <a:pt x="1375155" y="745489"/>
                </a:lnTo>
                <a:lnTo>
                  <a:pt x="1488298" y="745489"/>
                </a:lnTo>
                <a:lnTo>
                  <a:pt x="1401572" y="629030"/>
                </a:lnTo>
                <a:close/>
              </a:path>
              <a:path w="1517650" h="784860">
                <a:moveTo>
                  <a:pt x="26162" y="0"/>
                </a:moveTo>
                <a:lnTo>
                  <a:pt x="0" y="51815"/>
                </a:lnTo>
                <a:lnTo>
                  <a:pt x="1349310" y="732452"/>
                </a:lnTo>
                <a:lnTo>
                  <a:pt x="1375489" y="680645"/>
                </a:lnTo>
                <a:lnTo>
                  <a:pt x="26162" y="0"/>
                </a:lnTo>
                <a:close/>
              </a:path>
            </a:pathLst>
          </a:custGeom>
          <a:solidFill>
            <a:srgbClr val="C0504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object 19"/>
          <p:cNvSpPr/>
          <p:nvPr/>
        </p:nvSpPr>
        <p:spPr>
          <a:xfrm>
            <a:off x="5237988" y="4189476"/>
            <a:ext cx="173990" cy="1918970"/>
          </a:xfrm>
          <a:custGeom>
            <a:avLst/>
            <a:gdLst/>
            <a:ahLst/>
            <a:cxnLst/>
            <a:rect l="l" t="t" r="r" b="b"/>
            <a:pathLst>
              <a:path w="173989" h="1918970">
                <a:moveTo>
                  <a:pt x="57912" y="1745208"/>
                </a:moveTo>
                <a:lnTo>
                  <a:pt x="0" y="1745208"/>
                </a:lnTo>
                <a:lnTo>
                  <a:pt x="86867" y="1918944"/>
                </a:lnTo>
                <a:lnTo>
                  <a:pt x="159258" y="1774164"/>
                </a:lnTo>
                <a:lnTo>
                  <a:pt x="57912" y="1774164"/>
                </a:lnTo>
                <a:lnTo>
                  <a:pt x="57912" y="1745208"/>
                </a:lnTo>
                <a:close/>
              </a:path>
              <a:path w="173989" h="1918970">
                <a:moveTo>
                  <a:pt x="115824" y="0"/>
                </a:moveTo>
                <a:lnTo>
                  <a:pt x="57912" y="0"/>
                </a:lnTo>
                <a:lnTo>
                  <a:pt x="57912" y="1774164"/>
                </a:lnTo>
                <a:lnTo>
                  <a:pt x="115824" y="1774164"/>
                </a:lnTo>
                <a:lnTo>
                  <a:pt x="115824" y="0"/>
                </a:lnTo>
                <a:close/>
              </a:path>
              <a:path w="173989" h="1918970">
                <a:moveTo>
                  <a:pt x="173736" y="1745208"/>
                </a:moveTo>
                <a:lnTo>
                  <a:pt x="115824" y="1745208"/>
                </a:lnTo>
                <a:lnTo>
                  <a:pt x="115824" y="1774164"/>
                </a:lnTo>
                <a:lnTo>
                  <a:pt x="159258" y="1774164"/>
                </a:lnTo>
                <a:lnTo>
                  <a:pt x="173736" y="1745208"/>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bject 20"/>
          <p:cNvSpPr/>
          <p:nvPr/>
        </p:nvSpPr>
        <p:spPr>
          <a:xfrm>
            <a:off x="5962015" y="4189348"/>
            <a:ext cx="713486" cy="542289"/>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21"/>
          <p:cNvSpPr/>
          <p:nvPr/>
        </p:nvSpPr>
        <p:spPr>
          <a:xfrm>
            <a:off x="5324855" y="5323332"/>
            <a:ext cx="1517650" cy="784860"/>
          </a:xfrm>
          <a:custGeom>
            <a:avLst/>
            <a:gdLst/>
            <a:ahLst/>
            <a:cxnLst/>
            <a:rect l="l" t="t" r="r" b="b"/>
            <a:pathLst>
              <a:path w="1517650" h="784860">
                <a:moveTo>
                  <a:pt x="115951" y="628992"/>
                </a:moveTo>
                <a:lnTo>
                  <a:pt x="0" y="784796"/>
                </a:lnTo>
                <a:lnTo>
                  <a:pt x="194183" y="784110"/>
                </a:lnTo>
                <a:lnTo>
                  <a:pt x="174679" y="745439"/>
                </a:lnTo>
                <a:lnTo>
                  <a:pt x="142367" y="745439"/>
                </a:lnTo>
                <a:lnTo>
                  <a:pt x="116205" y="693737"/>
                </a:lnTo>
                <a:lnTo>
                  <a:pt x="142032" y="680707"/>
                </a:lnTo>
                <a:lnTo>
                  <a:pt x="115951" y="628992"/>
                </a:lnTo>
                <a:close/>
              </a:path>
              <a:path w="1517650" h="784860">
                <a:moveTo>
                  <a:pt x="142032" y="680707"/>
                </a:moveTo>
                <a:lnTo>
                  <a:pt x="116205" y="693737"/>
                </a:lnTo>
                <a:lnTo>
                  <a:pt x="142367" y="745439"/>
                </a:lnTo>
                <a:lnTo>
                  <a:pt x="168126" y="732446"/>
                </a:lnTo>
                <a:lnTo>
                  <a:pt x="142032" y="680707"/>
                </a:lnTo>
                <a:close/>
              </a:path>
              <a:path w="1517650" h="784860">
                <a:moveTo>
                  <a:pt x="168126" y="732446"/>
                </a:moveTo>
                <a:lnTo>
                  <a:pt x="142367" y="745439"/>
                </a:lnTo>
                <a:lnTo>
                  <a:pt x="174679" y="745439"/>
                </a:lnTo>
                <a:lnTo>
                  <a:pt x="168126" y="732446"/>
                </a:lnTo>
                <a:close/>
              </a:path>
              <a:path w="1517650" h="784860">
                <a:moveTo>
                  <a:pt x="1491361" y="0"/>
                </a:moveTo>
                <a:lnTo>
                  <a:pt x="142032" y="680707"/>
                </a:lnTo>
                <a:lnTo>
                  <a:pt x="168126" y="732446"/>
                </a:lnTo>
                <a:lnTo>
                  <a:pt x="1517523" y="51816"/>
                </a:lnTo>
                <a:lnTo>
                  <a:pt x="1491361" y="0"/>
                </a:lnTo>
                <a:close/>
              </a:path>
            </a:pathLst>
          </a:custGeom>
          <a:solidFill>
            <a:srgbClr val="C0504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object 22"/>
          <p:cNvSpPr txBox="1"/>
          <p:nvPr/>
        </p:nvSpPr>
        <p:spPr>
          <a:xfrm>
            <a:off x="4916170" y="3370834"/>
            <a:ext cx="824230" cy="753411"/>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buClrTx/>
              <a:buSzTx/>
              <a:buFontTx/>
              <a:buNone/>
              <a:tabLst/>
              <a:defRPr/>
            </a:pPr>
            <a:r>
              <a:rPr kumimoji="0" sz="1600" b="1" i="0" u="none" strike="noStrike" kern="1200" cap="none" spc="-30" normalizeH="0" baseline="0" noProof="0" dirty="0">
                <a:ln>
                  <a:noFill/>
                </a:ln>
                <a:solidFill>
                  <a:srgbClr val="585858"/>
                </a:solidFill>
                <a:effectLst/>
                <a:uLnTx/>
                <a:uFillTx/>
                <a:latin typeface="微软雅黑"/>
                <a:ea typeface="+mn-ea"/>
                <a:cs typeface="微软雅黑"/>
              </a:rPr>
              <a:t>分支结构</a:t>
            </a:r>
            <a:endParaRPr kumimoji="0" sz="1600" b="0" i="0" u="none" strike="noStrike" kern="1200" cap="none" spc="0" normalizeH="0" baseline="0" noProof="0" dirty="0">
              <a:ln>
                <a:noFill/>
              </a:ln>
              <a:solidFill>
                <a:prstClr val="black"/>
              </a:solidFill>
              <a:effectLst/>
              <a:uLnTx/>
              <a:uFillTx/>
              <a:latin typeface="微软雅黑"/>
              <a:ea typeface="+mn-ea"/>
              <a:cs typeface="微软雅黑"/>
            </a:endParaRPr>
          </a:p>
          <a:p>
            <a:pPr marL="0" marR="0" lvl="0" indent="0" algn="ctr" defTabSz="914400" rtl="0" eaLnBrk="1" fontAlgn="auto" latinLnBrk="0" hangingPunct="1">
              <a:lnSpc>
                <a:spcPct val="100000"/>
              </a:lnSpc>
              <a:spcBef>
                <a:spcPts val="1690"/>
              </a:spcBef>
              <a:spcAft>
                <a:spcPts val="0"/>
              </a:spcAft>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1</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object 23"/>
          <p:cNvSpPr txBox="1"/>
          <p:nvPr/>
        </p:nvSpPr>
        <p:spPr>
          <a:xfrm>
            <a:off x="4927472" y="4676775"/>
            <a:ext cx="225425" cy="674370"/>
          </a:xfrm>
          <a:prstGeom prst="rect">
            <a:avLst/>
          </a:prstGeom>
        </p:spPr>
        <p:txBody>
          <a:bodyPr vert="horz" wrap="square" lIns="0" tIns="52705" rIns="0" bIns="0" rtlCol="0">
            <a:spAutoFit/>
          </a:bodyPr>
          <a:lstStyle/>
          <a:p>
            <a:pPr marL="12700" marR="5080" lvl="0" indent="0" algn="just" defTabSz="914400" rtl="0" eaLnBrk="1" fontAlgn="auto" latinLnBrk="0" hangingPunct="1">
              <a:lnSpc>
                <a:spcPts val="1600"/>
              </a:lnSpc>
              <a:spcBef>
                <a:spcPts val="415"/>
              </a:spcBef>
              <a:buClrTx/>
              <a:buSzTx/>
              <a:buFontTx/>
              <a:buNone/>
              <a:tabLst/>
              <a:defRPr/>
            </a:pPr>
            <a:r>
              <a:rPr kumimoji="0" sz="1600" b="0" i="0" u="none" strike="noStrike" kern="1200" cap="none" spc="-25" normalizeH="0" baseline="0" noProof="0" dirty="0">
                <a:ln>
                  <a:noFill/>
                </a:ln>
                <a:solidFill>
                  <a:srgbClr val="585858"/>
                </a:solidFill>
                <a:effectLst/>
                <a:uLnTx/>
                <a:uFillTx/>
                <a:latin typeface="宋体"/>
                <a:ea typeface="+mn-ea"/>
                <a:cs typeface="宋体"/>
              </a:rPr>
              <a:t>不 满 足</a:t>
            </a:r>
            <a:endParaRPr kumimoji="0" sz="1600" b="0" i="0" u="none" strike="noStrike" kern="1200" cap="none" spc="0" normalizeH="0" baseline="0" noProof="0">
              <a:ln>
                <a:noFill/>
              </a:ln>
              <a:solidFill>
                <a:prstClr val="black"/>
              </a:solidFill>
              <a:effectLst/>
              <a:uLnTx/>
              <a:uFillTx/>
              <a:latin typeface="宋体"/>
              <a:ea typeface="+mn-ea"/>
              <a:cs typeface="宋体"/>
            </a:endParaRPr>
          </a:p>
        </p:txBody>
      </p:sp>
      <p:sp>
        <p:nvSpPr>
          <p:cNvPr id="24" name="object 24"/>
          <p:cNvSpPr/>
          <p:nvPr/>
        </p:nvSpPr>
        <p:spPr>
          <a:xfrm>
            <a:off x="8514588" y="3767328"/>
            <a:ext cx="1423670" cy="401320"/>
          </a:xfrm>
          <a:custGeom>
            <a:avLst/>
            <a:gdLst/>
            <a:ahLst/>
            <a:cxnLst/>
            <a:rect l="l" t="t" r="r" b="b"/>
            <a:pathLst>
              <a:path w="1423670" h="401320">
                <a:moveTo>
                  <a:pt x="1356613" y="0"/>
                </a:moveTo>
                <a:lnTo>
                  <a:pt x="66801" y="0"/>
                </a:lnTo>
                <a:lnTo>
                  <a:pt x="40772" y="5240"/>
                </a:lnTo>
                <a:lnTo>
                  <a:pt x="19542" y="19542"/>
                </a:lnTo>
                <a:lnTo>
                  <a:pt x="5240" y="40772"/>
                </a:lnTo>
                <a:lnTo>
                  <a:pt x="0" y="66802"/>
                </a:lnTo>
                <a:lnTo>
                  <a:pt x="0" y="334010"/>
                </a:lnTo>
                <a:lnTo>
                  <a:pt x="5240" y="359985"/>
                </a:lnTo>
                <a:lnTo>
                  <a:pt x="19542" y="381222"/>
                </a:lnTo>
                <a:lnTo>
                  <a:pt x="40772" y="395553"/>
                </a:lnTo>
                <a:lnTo>
                  <a:pt x="66801" y="400812"/>
                </a:lnTo>
                <a:lnTo>
                  <a:pt x="1356613" y="400812"/>
                </a:lnTo>
                <a:lnTo>
                  <a:pt x="1382589" y="395553"/>
                </a:lnTo>
                <a:lnTo>
                  <a:pt x="1403826" y="381222"/>
                </a:lnTo>
                <a:lnTo>
                  <a:pt x="1418157" y="359985"/>
                </a:lnTo>
                <a:lnTo>
                  <a:pt x="1423415" y="334010"/>
                </a:lnTo>
                <a:lnTo>
                  <a:pt x="1423415" y="66802"/>
                </a:lnTo>
                <a:lnTo>
                  <a:pt x="1418157" y="40772"/>
                </a:lnTo>
                <a:lnTo>
                  <a:pt x="1403826" y="19542"/>
                </a:lnTo>
                <a:lnTo>
                  <a:pt x="1382589" y="5240"/>
                </a:lnTo>
                <a:lnTo>
                  <a:pt x="1356613"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bject 25"/>
          <p:cNvSpPr txBox="1"/>
          <p:nvPr/>
        </p:nvSpPr>
        <p:spPr>
          <a:xfrm>
            <a:off x="8810370" y="3370834"/>
            <a:ext cx="824230" cy="72776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buClrTx/>
              <a:buSzTx/>
              <a:buFontTx/>
              <a:buNone/>
              <a:tabLst/>
              <a:defRPr/>
            </a:pPr>
            <a:r>
              <a:rPr kumimoji="0" sz="1600" b="1" i="0" u="none" strike="noStrike" kern="1200" cap="none" spc="-30" normalizeH="0" baseline="0" noProof="0" dirty="0">
                <a:ln>
                  <a:noFill/>
                </a:ln>
                <a:solidFill>
                  <a:srgbClr val="585858"/>
                </a:solidFill>
                <a:effectLst/>
                <a:uLnTx/>
                <a:uFillTx/>
                <a:latin typeface="微软雅黑"/>
                <a:ea typeface="+mn-ea"/>
                <a:cs typeface="微软雅黑"/>
              </a:rPr>
              <a:t>循环结构</a:t>
            </a:r>
            <a:endParaRPr kumimoji="0" sz="1600" b="0" i="0" u="none" strike="noStrike" kern="1200" cap="none" spc="0" normalizeH="0" baseline="0" noProof="0" dirty="0">
              <a:ln>
                <a:noFill/>
              </a:ln>
              <a:solidFill>
                <a:prstClr val="black"/>
              </a:solidFill>
              <a:effectLst/>
              <a:uLnTx/>
              <a:uFillTx/>
              <a:latin typeface="微软雅黑"/>
              <a:ea typeface="+mn-ea"/>
              <a:cs typeface="微软雅黑"/>
            </a:endParaRPr>
          </a:p>
          <a:p>
            <a:pPr marL="11430" marR="0" lvl="0" indent="0" algn="ctr" defTabSz="914400" rtl="0" eaLnBrk="1" fontAlgn="auto" latinLnBrk="0" hangingPunct="1">
              <a:lnSpc>
                <a:spcPct val="100000"/>
              </a:lnSpc>
              <a:spcBef>
                <a:spcPts val="1530"/>
              </a:spcBef>
              <a:spcAft>
                <a:spcPts val="0"/>
              </a:spcAft>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1</a:t>
            </a:r>
            <a:endParaRPr kumimoji="0"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6" name="object 26"/>
          <p:cNvSpPr/>
          <p:nvPr/>
        </p:nvSpPr>
        <p:spPr>
          <a:xfrm>
            <a:off x="8514588" y="4934711"/>
            <a:ext cx="1423670" cy="401320"/>
          </a:xfrm>
          <a:custGeom>
            <a:avLst/>
            <a:gdLst/>
            <a:ahLst/>
            <a:cxnLst/>
            <a:rect l="l" t="t" r="r" b="b"/>
            <a:pathLst>
              <a:path w="1423670" h="401320">
                <a:moveTo>
                  <a:pt x="1356613" y="0"/>
                </a:moveTo>
                <a:lnTo>
                  <a:pt x="66801" y="0"/>
                </a:lnTo>
                <a:lnTo>
                  <a:pt x="40772" y="5240"/>
                </a:lnTo>
                <a:lnTo>
                  <a:pt x="19542" y="19542"/>
                </a:lnTo>
                <a:lnTo>
                  <a:pt x="5240" y="40772"/>
                </a:lnTo>
                <a:lnTo>
                  <a:pt x="0" y="66801"/>
                </a:lnTo>
                <a:lnTo>
                  <a:pt x="0" y="334009"/>
                </a:lnTo>
                <a:lnTo>
                  <a:pt x="5240" y="359985"/>
                </a:lnTo>
                <a:lnTo>
                  <a:pt x="19542" y="381222"/>
                </a:lnTo>
                <a:lnTo>
                  <a:pt x="40772" y="395553"/>
                </a:lnTo>
                <a:lnTo>
                  <a:pt x="66801" y="400812"/>
                </a:lnTo>
                <a:lnTo>
                  <a:pt x="1356613" y="400812"/>
                </a:lnTo>
                <a:lnTo>
                  <a:pt x="1382589" y="395553"/>
                </a:lnTo>
                <a:lnTo>
                  <a:pt x="1403826" y="381222"/>
                </a:lnTo>
                <a:lnTo>
                  <a:pt x="1418157" y="359985"/>
                </a:lnTo>
                <a:lnTo>
                  <a:pt x="1423415" y="334009"/>
                </a:lnTo>
                <a:lnTo>
                  <a:pt x="1423415" y="66801"/>
                </a:lnTo>
                <a:lnTo>
                  <a:pt x="1418157" y="40772"/>
                </a:lnTo>
                <a:lnTo>
                  <a:pt x="1403826" y="19542"/>
                </a:lnTo>
                <a:lnTo>
                  <a:pt x="1382589" y="5240"/>
                </a:lnTo>
                <a:lnTo>
                  <a:pt x="1356613"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bject 27"/>
          <p:cNvSpPr txBox="1"/>
          <p:nvPr/>
        </p:nvSpPr>
        <p:spPr>
          <a:xfrm>
            <a:off x="8758555" y="4976241"/>
            <a:ext cx="93980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重复代码</a:t>
            </a:r>
            <a:endParaRPr kumimoji="0" sz="1800" b="0" i="0" u="none" strike="noStrike" kern="1200" cap="none" spc="0" normalizeH="0" baseline="0" noProof="0">
              <a:ln>
                <a:noFill/>
              </a:ln>
              <a:solidFill>
                <a:prstClr val="black"/>
              </a:solidFill>
              <a:effectLst/>
              <a:uLnTx/>
              <a:uFillTx/>
              <a:latin typeface="黑体"/>
              <a:ea typeface="+mn-ea"/>
              <a:cs typeface="黑体"/>
            </a:endParaRPr>
          </a:p>
        </p:txBody>
      </p:sp>
      <p:sp>
        <p:nvSpPr>
          <p:cNvPr id="28" name="object 28"/>
          <p:cNvSpPr/>
          <p:nvPr/>
        </p:nvSpPr>
        <p:spPr>
          <a:xfrm>
            <a:off x="8514588" y="6108191"/>
            <a:ext cx="1423670" cy="401320"/>
          </a:xfrm>
          <a:custGeom>
            <a:avLst/>
            <a:gdLst/>
            <a:ahLst/>
            <a:cxnLst/>
            <a:rect l="l" t="t" r="r" b="b"/>
            <a:pathLst>
              <a:path w="1423670" h="401320">
                <a:moveTo>
                  <a:pt x="1356613" y="0"/>
                </a:moveTo>
                <a:lnTo>
                  <a:pt x="66801" y="0"/>
                </a:lnTo>
                <a:lnTo>
                  <a:pt x="40772" y="5249"/>
                </a:lnTo>
                <a:lnTo>
                  <a:pt x="19542" y="19565"/>
                </a:lnTo>
                <a:lnTo>
                  <a:pt x="5240" y="40799"/>
                </a:lnTo>
                <a:lnTo>
                  <a:pt x="0" y="66802"/>
                </a:lnTo>
                <a:lnTo>
                  <a:pt x="0" y="334010"/>
                </a:lnTo>
                <a:lnTo>
                  <a:pt x="5240" y="360012"/>
                </a:lnTo>
                <a:lnTo>
                  <a:pt x="19542" y="381246"/>
                </a:lnTo>
                <a:lnTo>
                  <a:pt x="40772" y="395562"/>
                </a:lnTo>
                <a:lnTo>
                  <a:pt x="66801" y="400812"/>
                </a:lnTo>
                <a:lnTo>
                  <a:pt x="1356613" y="400812"/>
                </a:lnTo>
                <a:lnTo>
                  <a:pt x="1382589" y="395562"/>
                </a:lnTo>
                <a:lnTo>
                  <a:pt x="1403826" y="381246"/>
                </a:lnTo>
                <a:lnTo>
                  <a:pt x="1418157" y="360012"/>
                </a:lnTo>
                <a:lnTo>
                  <a:pt x="1423415" y="334010"/>
                </a:lnTo>
                <a:lnTo>
                  <a:pt x="1423415" y="66802"/>
                </a:lnTo>
                <a:lnTo>
                  <a:pt x="1418157" y="40799"/>
                </a:lnTo>
                <a:lnTo>
                  <a:pt x="1403826" y="19565"/>
                </a:lnTo>
                <a:lnTo>
                  <a:pt x="1382589" y="5249"/>
                </a:lnTo>
                <a:lnTo>
                  <a:pt x="1356613" y="0"/>
                </a:lnTo>
                <a:close/>
              </a:path>
            </a:pathLst>
          </a:custGeom>
          <a:solidFill>
            <a:srgbClr val="4F81B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object 29"/>
          <p:cNvSpPr txBox="1"/>
          <p:nvPr/>
        </p:nvSpPr>
        <p:spPr>
          <a:xfrm>
            <a:off x="8929243" y="6149441"/>
            <a:ext cx="59880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0" i="0" u="none" strike="noStrike" kern="1200" cap="none" spc="0" normalizeH="0" baseline="0" noProof="0" dirty="0">
                <a:ln>
                  <a:noFill/>
                </a:ln>
                <a:solidFill>
                  <a:srgbClr val="FFFFFF"/>
                </a:solidFill>
                <a:effectLst/>
                <a:uLnTx/>
                <a:uFillTx/>
                <a:latin typeface="黑体"/>
                <a:ea typeface="+mn-ea"/>
                <a:cs typeface="黑体"/>
              </a:rPr>
              <a:t>代码</a:t>
            </a:r>
            <a:r>
              <a:rPr kumimoji="0" sz="1800" b="0" i="0" u="none" strike="noStrike" kern="1200" cap="none" spc="0" normalizeH="0" baseline="0" noProof="0" dirty="0">
                <a:ln>
                  <a:noFill/>
                </a:ln>
                <a:solidFill>
                  <a:srgbClr val="FFFFFF"/>
                </a:solidFill>
                <a:effectLst/>
                <a:uLnTx/>
                <a:uFillTx/>
                <a:latin typeface="Calibri"/>
                <a:ea typeface="+mn-ea"/>
                <a:cs typeface="Calibri"/>
              </a:rPr>
              <a:t>3</a:t>
            </a:r>
            <a:endParaRPr kumimoji="0" sz="1800" b="0" i="0" u="none" strike="noStrike" kern="1200" cap="none" spc="0" normalizeH="0" baseline="0" noProof="0">
              <a:ln>
                <a:noFill/>
              </a:ln>
              <a:solidFill>
                <a:prstClr val="black"/>
              </a:solidFill>
              <a:effectLst/>
              <a:uLnTx/>
              <a:uFillTx/>
              <a:latin typeface="Calibri"/>
              <a:ea typeface="+mn-ea"/>
              <a:cs typeface="Calibri"/>
            </a:endParaRPr>
          </a:p>
        </p:txBody>
      </p:sp>
      <p:sp>
        <p:nvSpPr>
          <p:cNvPr id="30" name="object 30"/>
          <p:cNvSpPr/>
          <p:nvPr/>
        </p:nvSpPr>
        <p:spPr>
          <a:xfrm>
            <a:off x="9139428" y="4168140"/>
            <a:ext cx="173990" cy="766445"/>
          </a:xfrm>
          <a:custGeom>
            <a:avLst/>
            <a:gdLst/>
            <a:ahLst/>
            <a:cxnLst/>
            <a:rect l="l" t="t" r="r" b="b"/>
            <a:pathLst>
              <a:path w="173990" h="766445">
                <a:moveTo>
                  <a:pt x="57912" y="592582"/>
                </a:moveTo>
                <a:lnTo>
                  <a:pt x="0" y="592582"/>
                </a:lnTo>
                <a:lnTo>
                  <a:pt x="86868" y="766318"/>
                </a:lnTo>
                <a:lnTo>
                  <a:pt x="159258" y="621538"/>
                </a:lnTo>
                <a:lnTo>
                  <a:pt x="57912" y="621538"/>
                </a:lnTo>
                <a:lnTo>
                  <a:pt x="57912" y="592582"/>
                </a:lnTo>
                <a:close/>
              </a:path>
              <a:path w="173990" h="766445">
                <a:moveTo>
                  <a:pt x="115824" y="0"/>
                </a:moveTo>
                <a:lnTo>
                  <a:pt x="57912" y="0"/>
                </a:lnTo>
                <a:lnTo>
                  <a:pt x="57912" y="621538"/>
                </a:lnTo>
                <a:lnTo>
                  <a:pt x="115824" y="621538"/>
                </a:lnTo>
                <a:lnTo>
                  <a:pt x="115824" y="0"/>
                </a:lnTo>
                <a:close/>
              </a:path>
              <a:path w="173990" h="766445">
                <a:moveTo>
                  <a:pt x="173736" y="592582"/>
                </a:moveTo>
                <a:lnTo>
                  <a:pt x="115824" y="592582"/>
                </a:lnTo>
                <a:lnTo>
                  <a:pt x="115824" y="621538"/>
                </a:lnTo>
                <a:lnTo>
                  <a:pt x="159258" y="621538"/>
                </a:lnTo>
                <a:lnTo>
                  <a:pt x="173736" y="592582"/>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object 31"/>
          <p:cNvSpPr/>
          <p:nvPr/>
        </p:nvSpPr>
        <p:spPr>
          <a:xfrm>
            <a:off x="9139428" y="5335523"/>
            <a:ext cx="173990" cy="772160"/>
          </a:xfrm>
          <a:custGeom>
            <a:avLst/>
            <a:gdLst/>
            <a:ahLst/>
            <a:cxnLst/>
            <a:rect l="l" t="t" r="r" b="b"/>
            <a:pathLst>
              <a:path w="173990" h="772160">
                <a:moveTo>
                  <a:pt x="57912" y="597890"/>
                </a:moveTo>
                <a:lnTo>
                  <a:pt x="0" y="597890"/>
                </a:lnTo>
                <a:lnTo>
                  <a:pt x="86868" y="771626"/>
                </a:lnTo>
                <a:lnTo>
                  <a:pt x="159258" y="626846"/>
                </a:lnTo>
                <a:lnTo>
                  <a:pt x="57912" y="626846"/>
                </a:lnTo>
                <a:lnTo>
                  <a:pt x="57912" y="597890"/>
                </a:lnTo>
                <a:close/>
              </a:path>
              <a:path w="173990" h="772160">
                <a:moveTo>
                  <a:pt x="115824" y="0"/>
                </a:moveTo>
                <a:lnTo>
                  <a:pt x="57912" y="0"/>
                </a:lnTo>
                <a:lnTo>
                  <a:pt x="57912" y="626846"/>
                </a:lnTo>
                <a:lnTo>
                  <a:pt x="115824" y="626846"/>
                </a:lnTo>
                <a:lnTo>
                  <a:pt x="115824" y="0"/>
                </a:lnTo>
                <a:close/>
              </a:path>
              <a:path w="173990" h="772160">
                <a:moveTo>
                  <a:pt x="173736" y="597890"/>
                </a:moveTo>
                <a:lnTo>
                  <a:pt x="115824" y="597890"/>
                </a:lnTo>
                <a:lnTo>
                  <a:pt x="115824" y="626846"/>
                </a:lnTo>
                <a:lnTo>
                  <a:pt x="159258" y="626846"/>
                </a:lnTo>
                <a:lnTo>
                  <a:pt x="173736" y="59789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object 32"/>
          <p:cNvSpPr txBox="1"/>
          <p:nvPr/>
        </p:nvSpPr>
        <p:spPr>
          <a:xfrm>
            <a:off x="9306814" y="5509666"/>
            <a:ext cx="824230" cy="258404"/>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buClrTx/>
              <a:buSzTx/>
              <a:buFontTx/>
              <a:buNone/>
              <a:tabLst/>
              <a:defRPr/>
            </a:pPr>
            <a:r>
              <a:rPr kumimoji="0" sz="1600" b="0" i="0" u="none" strike="noStrike" kern="1200" cap="none" spc="-30" normalizeH="0" baseline="0" noProof="0" dirty="0">
                <a:ln>
                  <a:noFill/>
                </a:ln>
                <a:solidFill>
                  <a:srgbClr val="585858"/>
                </a:solidFill>
                <a:effectLst/>
                <a:uLnTx/>
                <a:uFillTx/>
                <a:latin typeface="宋体"/>
                <a:ea typeface="+mn-ea"/>
                <a:cs typeface="宋体"/>
              </a:rPr>
              <a:t>执行多次</a:t>
            </a:r>
            <a:endParaRPr kumimoji="0" sz="1600" b="0" i="0" u="none" strike="noStrike" kern="1200" cap="none" spc="0" normalizeH="0" baseline="0" noProof="0">
              <a:ln>
                <a:noFill/>
              </a:ln>
              <a:solidFill>
                <a:prstClr val="black"/>
              </a:solidFill>
              <a:effectLst/>
              <a:uLnTx/>
              <a:uFillTx/>
              <a:latin typeface="宋体"/>
              <a:ea typeface="+mn-ea"/>
              <a:cs typeface="宋体"/>
            </a:endParaRPr>
          </a:p>
        </p:txBody>
      </p:sp>
      <p:sp>
        <p:nvSpPr>
          <p:cNvPr id="33" name="灯片编号占位符 32"/>
          <p:cNvSpPr>
            <a:spLocks noGrp="1"/>
          </p:cNvSpPr>
          <p:nvPr>
            <p:ph type="sldNum" sz="quarter" idx="12"/>
          </p:nvPr>
        </p:nvSpPr>
        <p:spPr/>
        <p:txBody>
          <a:bodyPr/>
          <a:lstStyle/>
          <a:p>
            <a:fld id="{B6F15528-21DE-4FAA-801E-634DDDAF4B2B}" type="slidenum">
              <a:rPr lang="en-US" altLang="zh-CN" smtClean="0"/>
              <a:pPr/>
              <a:t>3</a:t>
            </a:fld>
            <a:endParaRPr lang="zh-CN" altLang="en-US"/>
          </a:p>
        </p:txBody>
      </p:sp>
      <p:sp>
        <p:nvSpPr>
          <p:cNvPr id="34" name="矩形 33"/>
          <p:cNvSpPr/>
          <p:nvPr/>
        </p:nvSpPr>
        <p:spPr>
          <a:xfrm>
            <a:off x="708232" y="597130"/>
            <a:ext cx="10874167" cy="646331"/>
          </a:xfrm>
          <a:prstGeom prst="rect">
            <a:avLst/>
          </a:prstGeom>
        </p:spPr>
        <p:txBody>
          <a:bodyPr vert="horz" lIns="91440" tIns="45720" rIns="91440" bIns="45720" rtlCol="0" anchor="ctr">
            <a:normAutofit/>
          </a:bodyPr>
          <a:lstStyle/>
          <a:p>
            <a:pPr>
              <a:spcBef>
                <a:spcPct val="0"/>
              </a:spcBef>
            </a:pPr>
            <a:r>
              <a:rPr lang="zh-CN" altLang="en-US" sz="3600" dirty="0" smtClean="0">
                <a:latin typeface="+mj-lt"/>
                <a:ea typeface="+mj-ea"/>
                <a:cs typeface="+mj-cs"/>
              </a:rPr>
              <a:t>流程控制语句</a:t>
            </a:r>
            <a:endParaRPr lang="zh-CN" altLang="en-US" sz="3600" dirty="0">
              <a:latin typeface="+mj-lt"/>
              <a:ea typeface="+mj-ea"/>
              <a:cs typeface="+mj-cs"/>
            </a:endParaRPr>
          </a:p>
        </p:txBody>
      </p:sp>
    </p:spTree>
    <p:extLst>
      <p:ext uri="{BB962C8B-B14F-4D97-AF65-F5344CB8AC3E}">
        <p14:creationId xmlns:p14="http://schemas.microsoft.com/office/powerpoint/2010/main" val="3173566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9838" y="1600200"/>
            <a:ext cx="10716362" cy="2231380"/>
          </a:xfrm>
          <a:prstGeom prst="rect">
            <a:avLst/>
          </a:prstGeom>
        </p:spPr>
        <p:txBody>
          <a:bodyPr vert="horz" wrap="square" lIns="0" tIns="12700" rIns="0" bIns="0" rtlCol="0">
            <a:spAutoFit/>
          </a:bodyPr>
          <a:lstStyle/>
          <a:p>
            <a:pPr marL="309245" lvl="0" indent="-178435">
              <a:spcBef>
                <a:spcPts val="5"/>
              </a:spcBef>
              <a:buClr>
                <a:srgbClr val="404040"/>
              </a:buClr>
              <a:buSzPct val="84375"/>
              <a:buFont typeface="Wingdings"/>
              <a:buChar char=""/>
              <a:tabLst>
                <a:tab pos="309880" algn="l"/>
              </a:tabLst>
              <a:defRPr/>
            </a:pPr>
            <a:r>
              <a:rPr lang="zh-CN" altLang="en-US" sz="2000" spc="-30" dirty="0">
                <a:solidFill>
                  <a:srgbClr val="252525"/>
                </a:solidFill>
                <a:latin typeface="宋体"/>
                <a:cs typeface="宋体"/>
              </a:rPr>
              <a:t>分支语句可以让我们有</a:t>
            </a:r>
            <a:r>
              <a:rPr lang="zh-CN" altLang="en-US" sz="2000" spc="-30" dirty="0">
                <a:solidFill>
                  <a:srgbClr val="C00000"/>
                </a:solidFill>
                <a:latin typeface="宋体"/>
                <a:cs typeface="宋体"/>
              </a:rPr>
              <a:t>选择性</a:t>
            </a:r>
            <a:r>
              <a:rPr lang="zh-CN" altLang="en-US" sz="2000" spc="-30" dirty="0">
                <a:solidFill>
                  <a:srgbClr val="252525"/>
                </a:solidFill>
                <a:latin typeface="宋体"/>
                <a:cs typeface="宋体"/>
              </a:rPr>
              <a:t>的执行想要的代码</a:t>
            </a:r>
            <a:endParaRPr lang="zh-CN" altLang="en-US" sz="2000" dirty="0">
              <a:solidFill>
                <a:prstClr val="black"/>
              </a:solidFill>
              <a:latin typeface="宋体"/>
              <a:cs typeface="宋体"/>
            </a:endParaRPr>
          </a:p>
          <a:p>
            <a:pPr marL="309245" lvl="0" indent="-178435">
              <a:spcBef>
                <a:spcPts val="1340"/>
              </a:spcBef>
              <a:buClr>
                <a:srgbClr val="404040"/>
              </a:buClr>
              <a:buSzPct val="84375"/>
              <a:buFont typeface="Wingdings"/>
              <a:buChar char=""/>
              <a:tabLst>
                <a:tab pos="309880" algn="l"/>
              </a:tabLst>
              <a:defRPr/>
            </a:pPr>
            <a:r>
              <a:rPr lang="zh-CN" altLang="en-US" sz="2000" spc="-35" dirty="0">
                <a:solidFill>
                  <a:srgbClr val="252525"/>
                </a:solidFill>
                <a:latin typeface="宋体"/>
                <a:cs typeface="宋体"/>
              </a:rPr>
              <a:t>分支语句包含：</a:t>
            </a:r>
            <a:endParaRPr lang="zh-CN" altLang="en-US" sz="2000" dirty="0">
              <a:solidFill>
                <a:prstClr val="black"/>
              </a:solidFill>
              <a:latin typeface="宋体"/>
              <a:cs typeface="宋体"/>
            </a:endParaRPr>
          </a:p>
          <a:p>
            <a:pPr marL="777240" lvl="1" indent="-286385">
              <a:spcBef>
                <a:spcPts val="1350"/>
              </a:spcBef>
              <a:buFont typeface="Wingdings"/>
              <a:buChar char=""/>
              <a:tabLst>
                <a:tab pos="777875" algn="l"/>
              </a:tabLst>
              <a:defRPr/>
            </a:pPr>
            <a:r>
              <a:rPr lang="en-US" altLang="zh-CN" sz="2000" spc="-315" dirty="0" smtClean="0">
                <a:latin typeface="宋体"/>
                <a:cs typeface="宋体"/>
              </a:rPr>
              <a:t>if</a:t>
            </a:r>
            <a:r>
              <a:rPr lang="zh-CN" altLang="en-US" sz="2000" spc="-30" dirty="0">
                <a:latin typeface="宋体"/>
                <a:cs typeface="宋体"/>
              </a:rPr>
              <a:t>分支语句</a:t>
            </a:r>
            <a:endParaRPr lang="zh-CN" altLang="en-US" sz="2000" dirty="0">
              <a:latin typeface="宋体"/>
              <a:cs typeface="宋体"/>
            </a:endParaRPr>
          </a:p>
          <a:p>
            <a:pPr marL="777240" lvl="1" indent="-286385">
              <a:spcBef>
                <a:spcPts val="1345"/>
              </a:spcBef>
              <a:buFont typeface="Wingdings"/>
              <a:buChar char=""/>
              <a:tabLst>
                <a:tab pos="777875" algn="l"/>
              </a:tabLst>
              <a:defRPr/>
            </a:pPr>
            <a:r>
              <a:rPr lang="zh-CN" altLang="en-US" sz="2000" spc="-30" dirty="0">
                <a:solidFill>
                  <a:prstClr val="black"/>
                </a:solidFill>
                <a:latin typeface="宋体"/>
                <a:cs typeface="宋体"/>
              </a:rPr>
              <a:t>三元运算符</a:t>
            </a:r>
            <a:endParaRPr lang="zh-CN" altLang="en-US" sz="2000" dirty="0">
              <a:solidFill>
                <a:prstClr val="black"/>
              </a:solidFill>
              <a:latin typeface="宋体"/>
              <a:cs typeface="宋体"/>
            </a:endParaRPr>
          </a:p>
          <a:p>
            <a:pPr marL="777240" lvl="1" indent="-286385">
              <a:spcBef>
                <a:spcPts val="1340"/>
              </a:spcBef>
              <a:buFont typeface="Wingdings"/>
              <a:buChar char=""/>
              <a:tabLst>
                <a:tab pos="777875" algn="l"/>
              </a:tabLst>
              <a:defRPr/>
            </a:pPr>
            <a:r>
              <a:rPr lang="en-US" altLang="zh-CN" sz="2000" spc="5" dirty="0">
                <a:solidFill>
                  <a:prstClr val="black"/>
                </a:solidFill>
                <a:latin typeface="宋体"/>
                <a:cs typeface="宋体"/>
              </a:rPr>
              <a:t>switch</a:t>
            </a:r>
            <a:r>
              <a:rPr lang="zh-CN" altLang="en-US" sz="2000" spc="-400" dirty="0">
                <a:solidFill>
                  <a:prstClr val="black"/>
                </a:solidFill>
                <a:latin typeface="宋体"/>
                <a:cs typeface="宋体"/>
              </a:rPr>
              <a:t> </a:t>
            </a:r>
            <a:r>
              <a:rPr lang="zh-CN" altLang="en-US" sz="2000" spc="-30" dirty="0">
                <a:solidFill>
                  <a:prstClr val="black"/>
                </a:solidFill>
                <a:latin typeface="宋体"/>
                <a:cs typeface="宋体"/>
              </a:rPr>
              <a:t>语句</a:t>
            </a:r>
            <a:endParaRPr lang="zh-CN" altLang="en-US" sz="2000" dirty="0">
              <a:solidFill>
                <a:prstClr val="black"/>
              </a:solidFill>
              <a:latin typeface="宋体"/>
              <a:cs typeface="宋体"/>
            </a:endParaRPr>
          </a:p>
        </p:txBody>
      </p:sp>
      <p:sp>
        <p:nvSpPr>
          <p:cNvPr id="5" name="object 2"/>
          <p:cNvSpPr txBox="1">
            <a:spLocks noGrp="1"/>
          </p:cNvSpPr>
          <p:nvPr>
            <p:ph type="title"/>
          </p:nvPr>
        </p:nvSpPr>
        <p:spPr>
          <a:xfrm>
            <a:off x="914400" y="634856"/>
            <a:ext cx="4086962" cy="566822"/>
          </a:xfrm>
          <a:prstGeom prst="rect">
            <a:avLst/>
          </a:prstGeom>
        </p:spPr>
        <p:txBody>
          <a:bodyPr vert="horz" lIns="91440" tIns="45720" rIns="91440" bIns="45720" rtlCol="0" anchor="ctr">
            <a:normAutofit fontScale="90000"/>
          </a:bodyPr>
          <a:lstStyle/>
          <a:p>
            <a:r>
              <a:rPr lang="zh-CN" altLang="en-US" sz="3600" dirty="0" smtClean="0"/>
              <a:t>分支语句</a:t>
            </a:r>
            <a:endParaRPr sz="3600" dirty="0"/>
          </a:p>
        </p:txBody>
      </p:sp>
      <p:sp>
        <p:nvSpPr>
          <p:cNvPr id="2" name="矩形 1"/>
          <p:cNvSpPr/>
          <p:nvPr/>
        </p:nvSpPr>
        <p:spPr>
          <a:xfrm>
            <a:off x="789838" y="4137770"/>
            <a:ext cx="10563962" cy="2400657"/>
          </a:xfrm>
          <a:prstGeom prst="rect">
            <a:avLst/>
          </a:prstGeom>
        </p:spPr>
        <p:txBody>
          <a:bodyPr wrap="square">
            <a:spAutoFit/>
          </a:bodyPr>
          <a:lstStyle/>
          <a:p>
            <a:pPr>
              <a:lnSpc>
                <a:spcPct val="150000"/>
              </a:lnSpc>
            </a:pPr>
            <a:r>
              <a:rPr lang="zh-CN" altLang="en-US" sz="2000" spc="-30" dirty="0">
                <a:solidFill>
                  <a:srgbClr val="252525"/>
                </a:solidFill>
                <a:latin typeface="宋体"/>
                <a:cs typeface="宋体"/>
              </a:rPr>
              <a:t>分支语句的条件部分可以是变量或者表达式，其他类型按照如下规律转换为</a:t>
            </a:r>
            <a:r>
              <a:rPr lang="en-US" altLang="zh-CN" sz="2000" spc="-30" dirty="0">
                <a:solidFill>
                  <a:srgbClr val="252525"/>
                </a:solidFill>
                <a:latin typeface="宋体"/>
                <a:cs typeface="宋体"/>
              </a:rPr>
              <a:t>Boolean</a:t>
            </a:r>
            <a:r>
              <a:rPr lang="zh-CN" altLang="en-US" sz="2000" spc="-30" dirty="0">
                <a:solidFill>
                  <a:srgbClr val="252525"/>
                </a:solidFill>
                <a:latin typeface="宋体"/>
                <a:cs typeface="宋体"/>
              </a:rPr>
              <a:t>类型。</a:t>
            </a:r>
            <a:endParaRPr lang="en-US" altLang="zh-CN" sz="2000" spc="-30" dirty="0">
              <a:solidFill>
                <a:srgbClr val="252525"/>
              </a:solidFill>
              <a:latin typeface="宋体"/>
              <a:cs typeface="宋体"/>
            </a:endParaRPr>
          </a:p>
          <a:p>
            <a:pPr marL="342900" indent="-342900">
              <a:lnSpc>
                <a:spcPct val="150000"/>
              </a:lnSpc>
              <a:buFont typeface="+mj-ea"/>
              <a:buAutoNum type="circleNumDbPlain"/>
            </a:pPr>
            <a:r>
              <a:rPr lang="en-US" altLang="zh-CN" sz="2000" spc="-30" dirty="0">
                <a:solidFill>
                  <a:srgbClr val="C00000"/>
                </a:solidFill>
                <a:latin typeface="宋体"/>
                <a:cs typeface="宋体"/>
              </a:rPr>
              <a:t>String</a:t>
            </a:r>
            <a:r>
              <a:rPr lang="en-US" altLang="zh-CN" sz="2000" spc="-30" dirty="0" smtClean="0">
                <a:solidFill>
                  <a:srgbClr val="C00000"/>
                </a:solidFill>
                <a:latin typeface="宋体"/>
                <a:cs typeface="宋体"/>
              </a:rPr>
              <a:t>: </a:t>
            </a:r>
            <a:r>
              <a:rPr lang="zh-CN" altLang="en-US" sz="2000" spc="-30" dirty="0" smtClean="0">
                <a:solidFill>
                  <a:srgbClr val="C00000"/>
                </a:solidFill>
                <a:latin typeface="宋体"/>
                <a:cs typeface="宋体"/>
              </a:rPr>
              <a:t>空字符</a:t>
            </a:r>
            <a:r>
              <a:rPr lang="zh-CN" altLang="en-US" sz="2000" spc="-30" dirty="0">
                <a:solidFill>
                  <a:srgbClr val="C00000"/>
                </a:solidFill>
                <a:latin typeface="宋体"/>
                <a:cs typeface="宋体"/>
              </a:rPr>
              <a:t>串为</a:t>
            </a:r>
            <a:r>
              <a:rPr lang="en-US" altLang="zh-CN" sz="2000" spc="-30" dirty="0">
                <a:solidFill>
                  <a:srgbClr val="C00000"/>
                </a:solidFill>
                <a:latin typeface="宋体"/>
                <a:cs typeface="宋体"/>
              </a:rPr>
              <a:t>false</a:t>
            </a:r>
            <a:r>
              <a:rPr lang="zh-CN" altLang="en-US" sz="2000" spc="-30" dirty="0">
                <a:solidFill>
                  <a:srgbClr val="C00000"/>
                </a:solidFill>
                <a:latin typeface="宋体"/>
                <a:cs typeface="宋体"/>
              </a:rPr>
              <a:t>，所有非空字符串为</a:t>
            </a:r>
            <a:r>
              <a:rPr lang="en-US" altLang="zh-CN" sz="2000" spc="-30" dirty="0">
                <a:solidFill>
                  <a:srgbClr val="C00000"/>
                </a:solidFill>
                <a:latin typeface="宋体"/>
                <a:cs typeface="宋体"/>
              </a:rPr>
              <a:t>true</a:t>
            </a:r>
            <a:r>
              <a:rPr lang="zh-CN" altLang="en-US" sz="2000" spc="-30" dirty="0">
                <a:solidFill>
                  <a:srgbClr val="C00000"/>
                </a:solidFill>
                <a:latin typeface="宋体"/>
                <a:cs typeface="宋体"/>
              </a:rPr>
              <a:t>；</a:t>
            </a:r>
            <a:endParaRPr lang="en-US" altLang="zh-CN" sz="2000" spc="-30" dirty="0">
              <a:solidFill>
                <a:srgbClr val="C00000"/>
              </a:solidFill>
              <a:latin typeface="宋体"/>
              <a:cs typeface="宋体"/>
            </a:endParaRPr>
          </a:p>
          <a:p>
            <a:pPr marL="342900" indent="-342900">
              <a:lnSpc>
                <a:spcPct val="150000"/>
              </a:lnSpc>
              <a:buFont typeface="+mj-ea"/>
              <a:buAutoNum type="circleNumDbPlain"/>
            </a:pPr>
            <a:r>
              <a:rPr lang="en-US" altLang="zh-CN" sz="2000" spc="-30" dirty="0">
                <a:solidFill>
                  <a:srgbClr val="C00000"/>
                </a:solidFill>
                <a:latin typeface="宋体"/>
                <a:cs typeface="宋体"/>
              </a:rPr>
              <a:t>Number</a:t>
            </a:r>
            <a:r>
              <a:rPr lang="zh-CN" altLang="en-US" sz="2000" spc="-30" dirty="0">
                <a:solidFill>
                  <a:srgbClr val="C00000"/>
                </a:solidFill>
                <a:latin typeface="宋体"/>
                <a:cs typeface="宋体"/>
              </a:rPr>
              <a:t>：</a:t>
            </a:r>
            <a:r>
              <a:rPr lang="en-US" altLang="zh-CN" sz="2000" spc="-30" dirty="0">
                <a:solidFill>
                  <a:srgbClr val="C00000"/>
                </a:solidFill>
                <a:latin typeface="宋体"/>
                <a:cs typeface="宋体"/>
              </a:rPr>
              <a:t>0</a:t>
            </a:r>
            <a:r>
              <a:rPr lang="zh-CN" altLang="en-US" sz="2000" spc="-30" dirty="0">
                <a:solidFill>
                  <a:srgbClr val="C00000"/>
                </a:solidFill>
                <a:latin typeface="宋体"/>
                <a:cs typeface="宋体"/>
              </a:rPr>
              <a:t>为</a:t>
            </a:r>
            <a:r>
              <a:rPr lang="en-US" altLang="zh-CN" sz="2000" spc="-30" dirty="0">
                <a:solidFill>
                  <a:srgbClr val="C00000"/>
                </a:solidFill>
                <a:latin typeface="宋体"/>
                <a:cs typeface="宋体"/>
              </a:rPr>
              <a:t>false</a:t>
            </a:r>
            <a:r>
              <a:rPr lang="zh-CN" altLang="en-US" sz="2000" spc="-30" dirty="0">
                <a:solidFill>
                  <a:srgbClr val="C00000"/>
                </a:solidFill>
                <a:latin typeface="宋体"/>
                <a:cs typeface="宋体"/>
              </a:rPr>
              <a:t>，一切非</a:t>
            </a:r>
            <a:r>
              <a:rPr lang="en-US" altLang="zh-CN" sz="2000" spc="-30" dirty="0">
                <a:solidFill>
                  <a:srgbClr val="C00000"/>
                </a:solidFill>
                <a:latin typeface="宋体"/>
                <a:cs typeface="宋体"/>
              </a:rPr>
              <a:t>0</a:t>
            </a:r>
            <a:r>
              <a:rPr lang="zh-CN" altLang="en-US" sz="2000" spc="-30" dirty="0">
                <a:solidFill>
                  <a:srgbClr val="C00000"/>
                </a:solidFill>
                <a:latin typeface="宋体"/>
                <a:cs typeface="宋体"/>
              </a:rPr>
              <a:t>数字为</a:t>
            </a:r>
            <a:r>
              <a:rPr lang="en-US" altLang="zh-CN" sz="2000" spc="-30" dirty="0">
                <a:solidFill>
                  <a:srgbClr val="C00000"/>
                </a:solidFill>
                <a:latin typeface="宋体"/>
                <a:cs typeface="宋体"/>
              </a:rPr>
              <a:t>true</a:t>
            </a:r>
            <a:r>
              <a:rPr lang="zh-CN" altLang="en-US" sz="2000" spc="-30" dirty="0">
                <a:solidFill>
                  <a:srgbClr val="C00000"/>
                </a:solidFill>
                <a:latin typeface="宋体"/>
                <a:cs typeface="宋体"/>
              </a:rPr>
              <a:t>；</a:t>
            </a:r>
            <a:endParaRPr lang="en-US" altLang="zh-CN" sz="2000" spc="-30" dirty="0">
              <a:solidFill>
                <a:srgbClr val="C00000"/>
              </a:solidFill>
              <a:latin typeface="宋体"/>
              <a:cs typeface="宋体"/>
            </a:endParaRPr>
          </a:p>
          <a:p>
            <a:pPr marL="342900" indent="-342900">
              <a:lnSpc>
                <a:spcPct val="150000"/>
              </a:lnSpc>
              <a:buFont typeface="+mj-ea"/>
              <a:buAutoNum type="circleNumDbPlain"/>
            </a:pPr>
            <a:r>
              <a:rPr lang="en-US" altLang="zh-CN" sz="2000" spc="-30" dirty="0">
                <a:solidFill>
                  <a:srgbClr val="C00000"/>
                </a:solidFill>
                <a:latin typeface="宋体"/>
                <a:cs typeface="宋体"/>
              </a:rPr>
              <a:t>Null/Undefined/</a:t>
            </a:r>
            <a:r>
              <a:rPr lang="en-US" altLang="zh-CN" sz="2000" spc="-30" dirty="0" err="1">
                <a:solidFill>
                  <a:srgbClr val="C00000"/>
                </a:solidFill>
                <a:latin typeface="宋体"/>
                <a:cs typeface="宋体"/>
              </a:rPr>
              <a:t>NaN</a:t>
            </a:r>
            <a:r>
              <a:rPr lang="zh-CN" altLang="en-US" sz="2000" spc="-30" dirty="0">
                <a:solidFill>
                  <a:srgbClr val="C00000"/>
                </a:solidFill>
                <a:latin typeface="宋体"/>
                <a:cs typeface="宋体"/>
              </a:rPr>
              <a:t>：全为</a:t>
            </a:r>
            <a:r>
              <a:rPr lang="en-US" altLang="zh-CN" sz="2000" spc="-30" dirty="0">
                <a:solidFill>
                  <a:srgbClr val="C00000"/>
                </a:solidFill>
                <a:latin typeface="宋体"/>
                <a:cs typeface="宋体"/>
              </a:rPr>
              <a:t>false</a:t>
            </a:r>
            <a:r>
              <a:rPr lang="zh-CN" altLang="en-US" sz="2000" spc="-30" dirty="0">
                <a:solidFill>
                  <a:srgbClr val="C00000"/>
                </a:solidFill>
                <a:latin typeface="宋体"/>
                <a:cs typeface="宋体"/>
              </a:rPr>
              <a:t>；</a:t>
            </a:r>
            <a:endParaRPr lang="en-US" altLang="zh-CN" sz="2000" spc="-30" dirty="0">
              <a:solidFill>
                <a:srgbClr val="C00000"/>
              </a:solidFill>
              <a:latin typeface="宋体"/>
              <a:cs typeface="宋体"/>
            </a:endParaRPr>
          </a:p>
          <a:p>
            <a:pPr marL="342900" indent="-342900">
              <a:lnSpc>
                <a:spcPct val="150000"/>
              </a:lnSpc>
              <a:buFont typeface="+mj-ea"/>
              <a:buAutoNum type="circleNumDbPlain"/>
            </a:pPr>
            <a:r>
              <a:rPr lang="en-US" altLang="zh-CN" sz="2000" spc="-30" dirty="0">
                <a:solidFill>
                  <a:srgbClr val="C00000"/>
                </a:solidFill>
                <a:latin typeface="宋体"/>
                <a:cs typeface="宋体"/>
              </a:rPr>
              <a:t>Object</a:t>
            </a:r>
            <a:r>
              <a:rPr lang="zh-CN" altLang="en-US" sz="2000" spc="-30" dirty="0">
                <a:solidFill>
                  <a:srgbClr val="C00000"/>
                </a:solidFill>
                <a:latin typeface="宋体"/>
                <a:cs typeface="宋体"/>
              </a:rPr>
              <a:t>：全为</a:t>
            </a:r>
            <a:r>
              <a:rPr lang="en-US" altLang="zh-CN" sz="2000" spc="-30" dirty="0">
                <a:solidFill>
                  <a:srgbClr val="C00000"/>
                </a:solidFill>
                <a:latin typeface="宋体"/>
                <a:cs typeface="宋体"/>
              </a:rPr>
              <a:t>true</a:t>
            </a:r>
            <a:endParaRPr lang="zh-CN" altLang="en-US" sz="2000" spc="-30" dirty="0">
              <a:solidFill>
                <a:srgbClr val="C00000"/>
              </a:solidFill>
              <a:latin typeface="宋体"/>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4</a:t>
            </a:fld>
            <a:endParaRPr lang="zh-CN" altLang="en-US"/>
          </a:p>
        </p:txBody>
      </p:sp>
    </p:spTree>
    <p:extLst>
      <p:ext uri="{BB962C8B-B14F-4D97-AF65-F5344CB8AC3E}">
        <p14:creationId xmlns:p14="http://schemas.microsoft.com/office/powerpoint/2010/main" val="10904459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80192" y="1348128"/>
            <a:ext cx="8046720" cy="382156"/>
          </a:xfrm>
          <a:prstGeom prst="rect">
            <a:avLst/>
          </a:prstGeom>
        </p:spPr>
        <p:txBody>
          <a:bodyPr vert="horz" wrap="square" lIns="0" tIns="12700" rIns="0" bIns="0" rtlCol="0">
            <a:spAutoFit/>
          </a:bodyPr>
          <a:lstStyle/>
          <a:p>
            <a:pPr marL="372110" lvl="0" indent="-359410">
              <a:buClr>
                <a:srgbClr val="404040"/>
              </a:buClr>
              <a:buSzPct val="84375"/>
              <a:buFont typeface="Wingdings"/>
              <a:buChar char=""/>
              <a:tabLst>
                <a:tab pos="372110" algn="l"/>
                <a:tab pos="372745" algn="l"/>
              </a:tabLst>
              <a:defRPr/>
            </a:pPr>
            <a:r>
              <a:rPr lang="zh-CN" altLang="en-US" sz="2400" spc="-30" dirty="0">
                <a:solidFill>
                  <a:srgbClr val="FF0000"/>
                </a:solidFill>
                <a:latin typeface="宋体"/>
                <a:cs typeface="宋体"/>
              </a:rPr>
              <a:t>双分支</a:t>
            </a:r>
            <a:r>
              <a:rPr lang="en-US" altLang="zh-CN" sz="2400" spc="-315" dirty="0" smtClean="0">
                <a:solidFill>
                  <a:srgbClr val="FF0000"/>
                </a:solidFill>
                <a:latin typeface="宋体"/>
                <a:cs typeface="宋体"/>
              </a:rPr>
              <a:t>if </a:t>
            </a:r>
            <a:r>
              <a:rPr lang="zh-CN" altLang="en-US" sz="2400" spc="-30" dirty="0" smtClean="0">
                <a:solidFill>
                  <a:srgbClr val="FF0000"/>
                </a:solidFill>
                <a:latin typeface="宋体"/>
                <a:cs typeface="宋体"/>
              </a:rPr>
              <a:t>语法</a:t>
            </a:r>
            <a:r>
              <a:rPr lang="zh-CN" altLang="en-US" sz="2400" spc="-30" dirty="0">
                <a:solidFill>
                  <a:srgbClr val="FF0000"/>
                </a:solidFill>
                <a:latin typeface="宋体"/>
                <a:cs typeface="宋体"/>
              </a:rPr>
              <a:t>：</a:t>
            </a:r>
            <a:endParaRPr lang="zh-CN" altLang="en-US" sz="2400" dirty="0">
              <a:solidFill>
                <a:srgbClr val="FF0000"/>
              </a:solidFill>
              <a:latin typeface="宋体"/>
              <a:cs typeface="宋体"/>
            </a:endParaRPr>
          </a:p>
        </p:txBody>
      </p:sp>
      <p:sp>
        <p:nvSpPr>
          <p:cNvPr id="8" name="矩形 7"/>
          <p:cNvSpPr/>
          <p:nvPr/>
        </p:nvSpPr>
        <p:spPr>
          <a:xfrm>
            <a:off x="650709" y="3888843"/>
            <a:ext cx="6374257" cy="1631216"/>
          </a:xfrm>
          <a:prstGeom prst="rect">
            <a:avLst/>
          </a:prstGeom>
        </p:spPr>
        <p:txBody>
          <a:bodyPr wrap="square">
            <a:spAutoFit/>
          </a:bodyPr>
          <a:lstStyle/>
          <a:p>
            <a:pPr marL="299085" lvl="0" indent="-286385">
              <a:spcBef>
                <a:spcPts val="95"/>
              </a:spcBef>
              <a:buClr>
                <a:srgbClr val="404040"/>
              </a:buClr>
              <a:buSzPct val="84375"/>
              <a:buFont typeface="Wingdings"/>
              <a:buChar char=""/>
              <a:tabLst>
                <a:tab pos="299085" algn="l"/>
                <a:tab pos="299720" algn="l"/>
              </a:tabLst>
              <a:defRPr/>
            </a:pPr>
            <a:r>
              <a:rPr lang="zh-CN" altLang="en-US" sz="2000" spc="-30" dirty="0">
                <a:solidFill>
                  <a:srgbClr val="252525"/>
                </a:solidFill>
                <a:latin typeface="宋体"/>
                <a:cs typeface="宋体"/>
              </a:rPr>
              <a:t>让用户输入年份，</a:t>
            </a:r>
            <a:r>
              <a:rPr lang="zh-CN" altLang="en-US" sz="2000" spc="-20" dirty="0">
                <a:solidFill>
                  <a:srgbClr val="252525"/>
                </a:solidFill>
                <a:latin typeface="宋体"/>
                <a:cs typeface="宋体"/>
              </a:rPr>
              <a:t>判</a:t>
            </a:r>
            <a:r>
              <a:rPr lang="zh-CN" altLang="en-US" sz="2000" spc="-30" dirty="0">
                <a:solidFill>
                  <a:srgbClr val="252525"/>
                </a:solidFill>
                <a:latin typeface="宋体"/>
                <a:cs typeface="宋体"/>
              </a:rPr>
              <a:t>断这一</a:t>
            </a:r>
            <a:r>
              <a:rPr lang="zh-CN" altLang="en-US" sz="2000" spc="-20" dirty="0">
                <a:solidFill>
                  <a:srgbClr val="252525"/>
                </a:solidFill>
                <a:latin typeface="宋体"/>
                <a:cs typeface="宋体"/>
              </a:rPr>
              <a:t>年</a:t>
            </a:r>
            <a:r>
              <a:rPr lang="zh-CN" altLang="en-US" sz="2000" spc="-30" dirty="0">
                <a:solidFill>
                  <a:srgbClr val="252525"/>
                </a:solidFill>
                <a:latin typeface="宋体"/>
                <a:cs typeface="宋体"/>
              </a:rPr>
              <a:t>是闰年</a:t>
            </a:r>
            <a:r>
              <a:rPr lang="zh-CN" altLang="en-US" sz="2000" spc="-20" dirty="0">
                <a:solidFill>
                  <a:srgbClr val="252525"/>
                </a:solidFill>
                <a:latin typeface="宋体"/>
                <a:cs typeface="宋体"/>
              </a:rPr>
              <a:t>还</a:t>
            </a:r>
            <a:r>
              <a:rPr lang="zh-CN" altLang="en-US" sz="2000" spc="-30" dirty="0">
                <a:solidFill>
                  <a:srgbClr val="252525"/>
                </a:solidFill>
                <a:latin typeface="宋体"/>
                <a:cs typeface="宋体"/>
              </a:rPr>
              <a:t>是平年</a:t>
            </a:r>
            <a:r>
              <a:rPr lang="zh-CN" altLang="en-US" sz="2000" spc="-20" dirty="0">
                <a:solidFill>
                  <a:srgbClr val="252525"/>
                </a:solidFill>
                <a:latin typeface="宋体"/>
                <a:cs typeface="宋体"/>
              </a:rPr>
              <a:t>并</a:t>
            </a:r>
            <a:r>
              <a:rPr lang="zh-CN" altLang="en-US" sz="2000" spc="-30" dirty="0">
                <a:solidFill>
                  <a:srgbClr val="252525"/>
                </a:solidFill>
                <a:latin typeface="宋体"/>
                <a:cs typeface="宋体"/>
              </a:rPr>
              <a:t>输出</a:t>
            </a:r>
            <a:endParaRPr lang="zh-CN" altLang="en-US" sz="2000" dirty="0">
              <a:solidFill>
                <a:prstClr val="black"/>
              </a:solidFill>
              <a:latin typeface="宋体"/>
              <a:cs typeface="宋体"/>
            </a:endParaRPr>
          </a:p>
          <a:p>
            <a:pPr marL="658495" lvl="1" indent="-286385">
              <a:spcBef>
                <a:spcPts val="1230"/>
              </a:spcBef>
              <a:buFont typeface="Wingdings"/>
              <a:buChar char=""/>
              <a:tabLst>
                <a:tab pos="658495" algn="l"/>
                <a:tab pos="659130" algn="l"/>
              </a:tabLst>
              <a:defRPr/>
            </a:pPr>
            <a:r>
              <a:rPr lang="zh-CN" altLang="en-US" sz="2000" spc="-25" dirty="0">
                <a:solidFill>
                  <a:prstClr val="black"/>
                </a:solidFill>
                <a:latin typeface="宋体"/>
                <a:cs typeface="宋体"/>
              </a:rPr>
              <a:t>能被</a:t>
            </a:r>
            <a:r>
              <a:rPr lang="en-US" altLang="zh-CN" sz="2000" spc="100" dirty="0">
                <a:solidFill>
                  <a:prstClr val="black"/>
                </a:solidFill>
                <a:latin typeface="宋体"/>
                <a:cs typeface="宋体"/>
              </a:rPr>
              <a:t>4</a:t>
            </a:r>
            <a:r>
              <a:rPr lang="zh-CN" altLang="en-US" sz="2000" spc="-25" dirty="0">
                <a:solidFill>
                  <a:prstClr val="black"/>
                </a:solidFill>
                <a:latin typeface="宋体"/>
                <a:cs typeface="宋体"/>
              </a:rPr>
              <a:t>整除但不能</a:t>
            </a:r>
            <a:r>
              <a:rPr lang="zh-CN" altLang="en-US" sz="2000" spc="-40" dirty="0">
                <a:solidFill>
                  <a:prstClr val="black"/>
                </a:solidFill>
                <a:latin typeface="宋体"/>
                <a:cs typeface="宋体"/>
              </a:rPr>
              <a:t>被</a:t>
            </a:r>
            <a:r>
              <a:rPr lang="en-US" altLang="zh-CN" sz="2000" spc="95" dirty="0">
                <a:solidFill>
                  <a:prstClr val="black"/>
                </a:solidFill>
                <a:latin typeface="宋体"/>
                <a:cs typeface="宋体"/>
              </a:rPr>
              <a:t>100</a:t>
            </a:r>
            <a:r>
              <a:rPr lang="zh-CN" altLang="en-US" sz="2000" spc="-20" dirty="0">
                <a:solidFill>
                  <a:prstClr val="black"/>
                </a:solidFill>
                <a:latin typeface="宋体"/>
                <a:cs typeface="宋体"/>
              </a:rPr>
              <a:t>整</a:t>
            </a:r>
            <a:r>
              <a:rPr lang="zh-CN" altLang="en-US" sz="2000" spc="-30" dirty="0">
                <a:solidFill>
                  <a:prstClr val="black"/>
                </a:solidFill>
                <a:latin typeface="宋体"/>
                <a:cs typeface="宋体"/>
              </a:rPr>
              <a:t>除</a:t>
            </a:r>
            <a:r>
              <a:rPr lang="zh-CN" altLang="en-US" sz="2000" spc="-40" dirty="0">
                <a:solidFill>
                  <a:prstClr val="black"/>
                </a:solidFill>
                <a:latin typeface="宋体"/>
                <a:cs typeface="宋体"/>
              </a:rPr>
              <a:t>，</a:t>
            </a:r>
            <a:r>
              <a:rPr lang="zh-CN" altLang="en-US" sz="2000" spc="-20" dirty="0">
                <a:solidFill>
                  <a:prstClr val="black"/>
                </a:solidFill>
                <a:latin typeface="宋体"/>
                <a:cs typeface="宋体"/>
              </a:rPr>
              <a:t>或</a:t>
            </a:r>
            <a:r>
              <a:rPr lang="zh-CN" altLang="en-US" sz="2000" spc="-40" dirty="0">
                <a:solidFill>
                  <a:prstClr val="black"/>
                </a:solidFill>
                <a:latin typeface="宋体"/>
                <a:cs typeface="宋体"/>
              </a:rPr>
              <a:t>者</a:t>
            </a:r>
            <a:r>
              <a:rPr lang="zh-CN" altLang="en-US" sz="2000" spc="-25" dirty="0">
                <a:solidFill>
                  <a:prstClr val="black"/>
                </a:solidFill>
                <a:latin typeface="宋体"/>
                <a:cs typeface="宋体"/>
              </a:rPr>
              <a:t>被</a:t>
            </a:r>
            <a:r>
              <a:rPr lang="en-US" altLang="zh-CN" sz="2000" spc="95" dirty="0">
                <a:solidFill>
                  <a:prstClr val="black"/>
                </a:solidFill>
                <a:latin typeface="宋体"/>
                <a:cs typeface="宋体"/>
              </a:rPr>
              <a:t>400</a:t>
            </a:r>
            <a:r>
              <a:rPr lang="zh-CN" altLang="en-US" sz="2000" spc="-40" dirty="0">
                <a:solidFill>
                  <a:prstClr val="black"/>
                </a:solidFill>
                <a:latin typeface="宋体"/>
                <a:cs typeface="宋体"/>
              </a:rPr>
              <a:t>整</a:t>
            </a:r>
            <a:r>
              <a:rPr lang="zh-CN" altLang="en-US" sz="2000" spc="-20" dirty="0">
                <a:solidFill>
                  <a:prstClr val="black"/>
                </a:solidFill>
                <a:latin typeface="宋体"/>
                <a:cs typeface="宋体"/>
              </a:rPr>
              <a:t>除</a:t>
            </a:r>
            <a:r>
              <a:rPr lang="zh-CN" altLang="en-US" sz="2000" spc="-30" dirty="0">
                <a:solidFill>
                  <a:prstClr val="black"/>
                </a:solidFill>
                <a:latin typeface="宋体"/>
                <a:cs typeface="宋体"/>
              </a:rPr>
              <a:t>的</a:t>
            </a:r>
            <a:r>
              <a:rPr lang="zh-CN" altLang="en-US" sz="2000" spc="-40" dirty="0">
                <a:solidFill>
                  <a:prstClr val="black"/>
                </a:solidFill>
                <a:latin typeface="宋体"/>
                <a:cs typeface="宋体"/>
              </a:rPr>
              <a:t>年</a:t>
            </a:r>
            <a:r>
              <a:rPr lang="zh-CN" altLang="en-US" sz="2000" spc="-20" dirty="0">
                <a:solidFill>
                  <a:prstClr val="black"/>
                </a:solidFill>
                <a:latin typeface="宋体"/>
                <a:cs typeface="宋体"/>
              </a:rPr>
              <a:t>份</a:t>
            </a:r>
            <a:r>
              <a:rPr lang="zh-CN" altLang="en-US" sz="2000" spc="-40" dirty="0">
                <a:solidFill>
                  <a:prstClr val="black"/>
                </a:solidFill>
                <a:latin typeface="宋体"/>
                <a:cs typeface="宋体"/>
              </a:rPr>
              <a:t>是</a:t>
            </a:r>
            <a:r>
              <a:rPr lang="zh-CN" altLang="en-US" sz="2000" spc="-20" dirty="0">
                <a:solidFill>
                  <a:prstClr val="black"/>
                </a:solidFill>
                <a:latin typeface="宋体"/>
                <a:cs typeface="宋体"/>
              </a:rPr>
              <a:t>闰</a:t>
            </a:r>
            <a:r>
              <a:rPr lang="zh-CN" altLang="en-US" sz="2000" spc="-30" dirty="0">
                <a:solidFill>
                  <a:prstClr val="black"/>
                </a:solidFill>
                <a:latin typeface="宋体"/>
                <a:cs typeface="宋体"/>
              </a:rPr>
              <a:t>年</a:t>
            </a:r>
            <a:r>
              <a:rPr lang="zh-CN" altLang="en-US" sz="2000" spc="-40" dirty="0">
                <a:solidFill>
                  <a:prstClr val="black"/>
                </a:solidFill>
                <a:latin typeface="宋体"/>
                <a:cs typeface="宋体"/>
              </a:rPr>
              <a:t>，</a:t>
            </a:r>
            <a:r>
              <a:rPr lang="zh-CN" altLang="en-US" sz="2000" spc="-20" dirty="0">
                <a:solidFill>
                  <a:prstClr val="black"/>
                </a:solidFill>
                <a:latin typeface="宋体"/>
                <a:cs typeface="宋体"/>
              </a:rPr>
              <a:t>否</a:t>
            </a:r>
            <a:r>
              <a:rPr lang="zh-CN" altLang="en-US" sz="2000" spc="-40" dirty="0">
                <a:solidFill>
                  <a:prstClr val="black"/>
                </a:solidFill>
                <a:latin typeface="宋体"/>
                <a:cs typeface="宋体"/>
              </a:rPr>
              <a:t>则</a:t>
            </a:r>
            <a:r>
              <a:rPr lang="zh-CN" altLang="en-US" sz="2000" spc="-20" dirty="0">
                <a:solidFill>
                  <a:prstClr val="black"/>
                </a:solidFill>
                <a:latin typeface="宋体"/>
                <a:cs typeface="宋体"/>
              </a:rPr>
              <a:t>都</a:t>
            </a:r>
            <a:r>
              <a:rPr lang="zh-CN" altLang="en-US" sz="2000" spc="-40" dirty="0">
                <a:solidFill>
                  <a:prstClr val="black"/>
                </a:solidFill>
                <a:latin typeface="宋体"/>
                <a:cs typeface="宋体"/>
              </a:rPr>
              <a:t>是</a:t>
            </a:r>
            <a:r>
              <a:rPr lang="zh-CN" altLang="en-US" sz="2000" spc="-20" dirty="0">
                <a:solidFill>
                  <a:prstClr val="black"/>
                </a:solidFill>
                <a:latin typeface="宋体"/>
                <a:cs typeface="宋体"/>
              </a:rPr>
              <a:t>平年</a:t>
            </a:r>
            <a:endParaRPr lang="zh-CN" altLang="en-US" sz="2000" dirty="0">
              <a:solidFill>
                <a:prstClr val="black"/>
              </a:solidFill>
              <a:latin typeface="宋体"/>
              <a:cs typeface="宋体"/>
            </a:endParaRPr>
          </a:p>
          <a:p>
            <a:pPr marL="658495" lvl="1" indent="-286385">
              <a:spcBef>
                <a:spcPts val="1180"/>
              </a:spcBef>
              <a:buFont typeface="Wingdings"/>
              <a:buChar char=""/>
              <a:tabLst>
                <a:tab pos="658495" algn="l"/>
                <a:tab pos="659130" algn="l"/>
              </a:tabLst>
              <a:defRPr/>
            </a:pPr>
            <a:r>
              <a:rPr lang="zh-CN" altLang="en-US" sz="2000" spc="-25" dirty="0">
                <a:solidFill>
                  <a:prstClr val="black"/>
                </a:solidFill>
                <a:latin typeface="宋体"/>
                <a:cs typeface="宋体"/>
              </a:rPr>
              <a:t>需要逻辑运算符</a:t>
            </a:r>
            <a:endParaRPr lang="zh-CN" altLang="en-US" sz="2000" dirty="0">
              <a:solidFill>
                <a:prstClr val="black"/>
              </a:solidFill>
              <a:latin typeface="宋体"/>
              <a:cs typeface="宋体"/>
            </a:endParaRPr>
          </a:p>
        </p:txBody>
      </p:sp>
      <p:sp>
        <p:nvSpPr>
          <p:cNvPr id="9" name="矩形 8"/>
          <p:cNvSpPr/>
          <p:nvPr/>
        </p:nvSpPr>
        <p:spPr>
          <a:xfrm>
            <a:off x="5803900" y="4793093"/>
            <a:ext cx="6388100" cy="1938992"/>
          </a:xfrm>
          <a:prstGeom prst="rect">
            <a:avLst/>
          </a:prstGeom>
        </p:spPr>
        <p:txBody>
          <a:bodyPr wrap="square">
            <a:spAutoFit/>
          </a:bodyPr>
          <a:lstStyle/>
          <a:p>
            <a:r>
              <a:rPr lang="en-US" altLang="zh-CN" sz="2000" spc="-25" dirty="0" smtClean="0">
                <a:solidFill>
                  <a:srgbClr val="404040"/>
                </a:solidFill>
                <a:latin typeface="+mj-lt"/>
                <a:cs typeface="宋体"/>
              </a:rPr>
              <a:t>if((year%4===0&amp;&amp;year%100!==0) || (year%400===0))</a:t>
            </a:r>
            <a:endParaRPr lang="en-US" altLang="zh-CN" sz="2000" spc="-25" dirty="0">
              <a:solidFill>
                <a:srgbClr val="404040"/>
              </a:solidFill>
              <a:latin typeface="+mj-lt"/>
              <a:cs typeface="宋体"/>
            </a:endParaRPr>
          </a:p>
          <a:p>
            <a:r>
              <a:rPr lang="en-US" altLang="zh-CN" sz="2000" spc="-25" dirty="0">
                <a:solidFill>
                  <a:srgbClr val="404040"/>
                </a:solidFill>
                <a:latin typeface="+mj-lt"/>
                <a:cs typeface="宋体"/>
              </a:rPr>
              <a:t>{</a:t>
            </a:r>
            <a:br>
              <a:rPr lang="en-US" altLang="zh-CN" sz="2000" spc="-25" dirty="0">
                <a:solidFill>
                  <a:srgbClr val="404040"/>
                </a:solidFill>
                <a:latin typeface="+mj-lt"/>
                <a:cs typeface="宋体"/>
              </a:rPr>
            </a:br>
            <a:r>
              <a:rPr lang="en-US" altLang="zh-CN" sz="2000" spc="-25" dirty="0">
                <a:solidFill>
                  <a:srgbClr val="404040"/>
                </a:solidFill>
                <a:latin typeface="+mj-lt"/>
                <a:cs typeface="宋体"/>
              </a:rPr>
              <a:t>     alert</a:t>
            </a:r>
            <a:r>
              <a:rPr lang="en-US" altLang="zh-CN" sz="2000" spc="-25" dirty="0" smtClean="0">
                <a:solidFill>
                  <a:srgbClr val="404040"/>
                </a:solidFill>
                <a:latin typeface="+mj-lt"/>
                <a:cs typeface="宋体"/>
              </a:rPr>
              <a:t>(‘</a:t>
            </a:r>
            <a:r>
              <a:rPr lang="zh-CN" altLang="en-US" sz="2000" spc="-25" dirty="0" smtClean="0">
                <a:solidFill>
                  <a:srgbClr val="404040"/>
                </a:solidFill>
                <a:latin typeface="+mj-lt"/>
                <a:cs typeface="宋体"/>
              </a:rPr>
              <a:t>闰年</a:t>
            </a:r>
            <a:r>
              <a:rPr lang="en-US" altLang="zh-CN" sz="2000" spc="-25" dirty="0" smtClean="0">
                <a:solidFill>
                  <a:srgbClr val="404040"/>
                </a:solidFill>
                <a:latin typeface="+mj-lt"/>
                <a:cs typeface="宋体"/>
              </a:rPr>
              <a:t>’)</a:t>
            </a:r>
            <a:endParaRPr lang="en-US" altLang="zh-CN" sz="2000" spc="-25" dirty="0">
              <a:solidFill>
                <a:srgbClr val="404040"/>
              </a:solidFill>
              <a:latin typeface="+mj-lt"/>
              <a:cs typeface="宋体"/>
            </a:endParaRPr>
          </a:p>
          <a:p>
            <a:r>
              <a:rPr lang="en-US" altLang="zh-CN" sz="2000" spc="-25" dirty="0" smtClean="0">
                <a:solidFill>
                  <a:srgbClr val="404040"/>
                </a:solidFill>
                <a:latin typeface="+mj-lt"/>
                <a:cs typeface="宋体"/>
              </a:rPr>
              <a:t>}else{</a:t>
            </a:r>
          </a:p>
          <a:p>
            <a:r>
              <a:rPr lang="en-US" altLang="zh-CN" sz="2000" spc="-25" dirty="0" smtClean="0">
                <a:solidFill>
                  <a:srgbClr val="404040"/>
                </a:solidFill>
                <a:latin typeface="+mj-lt"/>
                <a:cs typeface="宋体"/>
              </a:rPr>
              <a:t>     alert(‘</a:t>
            </a:r>
            <a:r>
              <a:rPr lang="zh-CN" altLang="en-US" sz="2000" spc="-25" dirty="0" smtClean="0">
                <a:solidFill>
                  <a:srgbClr val="404040"/>
                </a:solidFill>
                <a:latin typeface="+mj-lt"/>
                <a:cs typeface="宋体"/>
              </a:rPr>
              <a:t>平年</a:t>
            </a:r>
            <a:r>
              <a:rPr lang="en-US" altLang="zh-CN" sz="2000" spc="-25" dirty="0" smtClean="0">
                <a:solidFill>
                  <a:srgbClr val="404040"/>
                </a:solidFill>
                <a:latin typeface="+mj-lt"/>
                <a:cs typeface="宋体"/>
              </a:rPr>
              <a:t>’)</a:t>
            </a:r>
            <a:endParaRPr lang="en-US" altLang="zh-CN" sz="2000" spc="-25" dirty="0">
              <a:solidFill>
                <a:srgbClr val="404040"/>
              </a:solidFill>
              <a:latin typeface="+mj-lt"/>
              <a:cs typeface="宋体"/>
            </a:endParaRPr>
          </a:p>
          <a:p>
            <a:r>
              <a:rPr lang="en-US" altLang="zh-CN" sz="2000" spc="-25" dirty="0" smtClean="0">
                <a:solidFill>
                  <a:srgbClr val="404040"/>
                </a:solidFill>
                <a:latin typeface="+mj-lt"/>
                <a:cs typeface="宋体"/>
              </a:rPr>
              <a:t>}</a:t>
            </a:r>
            <a:endParaRPr lang="zh-CN" altLang="en-US" sz="2000" spc="-25" dirty="0">
              <a:solidFill>
                <a:srgbClr val="404040"/>
              </a:solidFill>
              <a:latin typeface="+mj-lt"/>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5</a:t>
            </a:fld>
            <a:endParaRPr lang="zh-CN" altLang="en-US"/>
          </a:p>
        </p:txBody>
      </p:sp>
      <p:sp>
        <p:nvSpPr>
          <p:cNvPr id="10" name="矩形 9"/>
          <p:cNvSpPr/>
          <p:nvPr/>
        </p:nvSpPr>
        <p:spPr>
          <a:xfrm>
            <a:off x="777298" y="1898002"/>
            <a:ext cx="6096000" cy="1938992"/>
          </a:xfrm>
          <a:prstGeom prst="rect">
            <a:avLst/>
          </a:prstGeom>
        </p:spPr>
        <p:txBody>
          <a:bodyPr>
            <a:spAutoFit/>
          </a:bodyPr>
          <a:lstStyle/>
          <a:p>
            <a:r>
              <a:rPr lang="en-US" altLang="zh-CN" sz="2400" dirty="0"/>
              <a:t>if (condition) {</a:t>
            </a:r>
          </a:p>
          <a:p>
            <a:r>
              <a:rPr lang="en-US" altLang="zh-CN" sz="2400" dirty="0"/>
              <a:t>  /* </a:t>
            </a:r>
            <a:r>
              <a:rPr lang="zh-CN" altLang="en-US" sz="2400" dirty="0"/>
              <a:t>条件为真时运行的代码 *</a:t>
            </a:r>
            <a:r>
              <a:rPr lang="en-US" altLang="zh-CN" sz="2400" dirty="0"/>
              <a:t>/</a:t>
            </a:r>
          </a:p>
          <a:p>
            <a:r>
              <a:rPr lang="en-US" altLang="zh-CN" sz="2400" dirty="0"/>
              <a:t>} else {</a:t>
            </a:r>
          </a:p>
          <a:p>
            <a:r>
              <a:rPr lang="en-US" altLang="zh-CN" sz="2400" dirty="0"/>
              <a:t>  /* </a:t>
            </a:r>
            <a:r>
              <a:rPr lang="zh-CN" altLang="en-US" sz="2400" dirty="0"/>
              <a:t>否则，运行其他的代码 *</a:t>
            </a:r>
            <a:r>
              <a:rPr lang="en-US" altLang="zh-CN" sz="2400" dirty="0"/>
              <a:t>/</a:t>
            </a:r>
          </a:p>
          <a:p>
            <a:r>
              <a:rPr lang="en-US" altLang="zh-CN" sz="2400" dirty="0"/>
              <a:t>}</a:t>
            </a:r>
          </a:p>
        </p:txBody>
      </p:sp>
      <p:sp>
        <p:nvSpPr>
          <p:cNvPr id="11" name="标题 10"/>
          <p:cNvSpPr>
            <a:spLocks noGrp="1"/>
          </p:cNvSpPr>
          <p:nvPr>
            <p:ph type="title"/>
          </p:nvPr>
        </p:nvSpPr>
        <p:spPr/>
        <p:txBody>
          <a:bodyPr/>
          <a:lstStyle/>
          <a:p>
            <a:r>
              <a:rPr lang="zh-CN" altLang="en-US" dirty="0" smtClean="0"/>
              <a:t>分支语句</a:t>
            </a:r>
            <a:endParaRPr lang="zh-CN" altLang="en-US" dirty="0"/>
          </a:p>
        </p:txBody>
      </p:sp>
    </p:spTree>
    <p:extLst>
      <p:ext uri="{BB962C8B-B14F-4D97-AF65-F5344CB8AC3E}">
        <p14:creationId xmlns:p14="http://schemas.microsoft.com/office/powerpoint/2010/main" val="3691279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15238" y="1602764"/>
            <a:ext cx="8046720" cy="382156"/>
          </a:xfrm>
          <a:prstGeom prst="rect">
            <a:avLst/>
          </a:prstGeom>
        </p:spPr>
        <p:txBody>
          <a:bodyPr vert="horz" wrap="square" lIns="0" tIns="12700" rIns="0" bIns="0" rtlCol="0">
            <a:spAutoFit/>
          </a:bodyPr>
          <a:lstStyle/>
          <a:p>
            <a:pPr marL="372110" lvl="0" indent="-359410">
              <a:buClr>
                <a:srgbClr val="404040"/>
              </a:buClr>
              <a:buSzPct val="84375"/>
              <a:buFont typeface="Wingdings"/>
              <a:buChar char=""/>
              <a:tabLst>
                <a:tab pos="372110" algn="l"/>
                <a:tab pos="372745" algn="l"/>
              </a:tabLst>
              <a:defRPr/>
            </a:pPr>
            <a:r>
              <a:rPr lang="zh-CN" altLang="en-US" sz="2400" spc="-30" dirty="0">
                <a:solidFill>
                  <a:srgbClr val="FF0000"/>
                </a:solidFill>
                <a:latin typeface="宋体"/>
                <a:cs typeface="宋体"/>
              </a:rPr>
              <a:t>多</a:t>
            </a:r>
            <a:r>
              <a:rPr lang="zh-CN" altLang="en-US" sz="2400" spc="-30" dirty="0" smtClean="0">
                <a:solidFill>
                  <a:srgbClr val="FF0000"/>
                </a:solidFill>
                <a:latin typeface="宋体"/>
                <a:cs typeface="宋体"/>
              </a:rPr>
              <a:t>分支</a:t>
            </a:r>
            <a:r>
              <a:rPr lang="en-US" altLang="zh-CN" sz="2400" spc="-315" dirty="0" smtClean="0">
                <a:solidFill>
                  <a:srgbClr val="FF0000"/>
                </a:solidFill>
                <a:latin typeface="宋体"/>
                <a:cs typeface="宋体"/>
              </a:rPr>
              <a:t>if </a:t>
            </a:r>
            <a:r>
              <a:rPr lang="zh-CN" altLang="en-US" sz="2400" spc="-30" dirty="0" smtClean="0">
                <a:solidFill>
                  <a:srgbClr val="FF0000"/>
                </a:solidFill>
                <a:latin typeface="宋体"/>
                <a:cs typeface="宋体"/>
              </a:rPr>
              <a:t>语法</a:t>
            </a:r>
            <a:r>
              <a:rPr lang="zh-CN" altLang="en-US" sz="2400" spc="-30" dirty="0">
                <a:solidFill>
                  <a:srgbClr val="FF0000"/>
                </a:solidFill>
                <a:latin typeface="宋体"/>
                <a:cs typeface="宋体"/>
              </a:rPr>
              <a:t>：</a:t>
            </a:r>
            <a:endParaRPr lang="zh-CN" altLang="en-US" sz="2400" dirty="0">
              <a:solidFill>
                <a:srgbClr val="FF0000"/>
              </a:solidFill>
              <a:latin typeface="宋体"/>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6</a:t>
            </a:fld>
            <a:endParaRPr lang="zh-CN" altLang="en-US"/>
          </a:p>
        </p:txBody>
      </p:sp>
      <p:sp>
        <p:nvSpPr>
          <p:cNvPr id="11" name="标题 10"/>
          <p:cNvSpPr>
            <a:spLocks noGrp="1"/>
          </p:cNvSpPr>
          <p:nvPr>
            <p:ph type="title"/>
          </p:nvPr>
        </p:nvSpPr>
        <p:spPr/>
        <p:txBody>
          <a:bodyPr/>
          <a:lstStyle/>
          <a:p>
            <a:r>
              <a:rPr lang="zh-CN" altLang="en-US" dirty="0" smtClean="0"/>
              <a:t>分支语句</a:t>
            </a:r>
            <a:endParaRPr lang="zh-CN" altLang="en-US" dirty="0"/>
          </a:p>
        </p:txBody>
      </p:sp>
      <p:pic>
        <p:nvPicPr>
          <p:cNvPr id="5" name="图片 4"/>
          <p:cNvPicPr>
            <a:picLocks noChangeAspect="1"/>
          </p:cNvPicPr>
          <p:nvPr/>
        </p:nvPicPr>
        <p:blipFill>
          <a:blip r:embed="rId2"/>
          <a:stretch>
            <a:fillRect/>
          </a:stretch>
        </p:blipFill>
        <p:spPr>
          <a:xfrm>
            <a:off x="850900" y="2286000"/>
            <a:ext cx="10635934" cy="4070350"/>
          </a:xfrm>
          <a:prstGeom prst="rect">
            <a:avLst/>
          </a:prstGeom>
        </p:spPr>
      </p:pic>
    </p:spTree>
    <p:extLst>
      <p:ext uri="{BB962C8B-B14F-4D97-AF65-F5344CB8AC3E}">
        <p14:creationId xmlns:p14="http://schemas.microsoft.com/office/powerpoint/2010/main" val="1631814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15238" y="1602764"/>
            <a:ext cx="8046720" cy="382156"/>
          </a:xfrm>
          <a:prstGeom prst="rect">
            <a:avLst/>
          </a:prstGeom>
        </p:spPr>
        <p:txBody>
          <a:bodyPr vert="horz" wrap="square" lIns="0" tIns="12700" rIns="0" bIns="0" rtlCol="0">
            <a:spAutoFit/>
          </a:bodyPr>
          <a:lstStyle/>
          <a:p>
            <a:pPr marL="372110" lvl="0" indent="-359410">
              <a:buClr>
                <a:srgbClr val="404040"/>
              </a:buClr>
              <a:buSzPct val="84375"/>
              <a:buFont typeface="Wingdings"/>
              <a:buChar char=""/>
              <a:tabLst>
                <a:tab pos="372110" algn="l"/>
                <a:tab pos="372745" algn="l"/>
              </a:tabLst>
              <a:defRPr/>
            </a:pPr>
            <a:r>
              <a:rPr lang="zh-CN" altLang="en-US" sz="2400" spc="-30" dirty="0">
                <a:solidFill>
                  <a:srgbClr val="FF0000"/>
                </a:solidFill>
                <a:latin typeface="宋体"/>
                <a:cs typeface="宋体"/>
              </a:rPr>
              <a:t>嵌套 </a:t>
            </a:r>
            <a:r>
              <a:rPr lang="en-US" altLang="zh-CN" sz="2400" spc="-30" dirty="0">
                <a:solidFill>
                  <a:srgbClr val="FF0000"/>
                </a:solidFill>
                <a:latin typeface="宋体"/>
                <a:cs typeface="宋体"/>
              </a:rPr>
              <a:t>if...else</a:t>
            </a:r>
            <a:r>
              <a:rPr lang="zh-CN" altLang="en-US" sz="2400" spc="-30" dirty="0" smtClean="0">
                <a:solidFill>
                  <a:srgbClr val="FF0000"/>
                </a:solidFill>
                <a:latin typeface="宋体"/>
                <a:cs typeface="宋体"/>
              </a:rPr>
              <a:t>：</a:t>
            </a:r>
            <a:endParaRPr lang="zh-CN" altLang="en-US" sz="2400" dirty="0">
              <a:solidFill>
                <a:srgbClr val="FF0000"/>
              </a:solidFill>
              <a:latin typeface="宋体"/>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7</a:t>
            </a:fld>
            <a:endParaRPr lang="zh-CN" altLang="en-US"/>
          </a:p>
        </p:txBody>
      </p:sp>
      <p:sp>
        <p:nvSpPr>
          <p:cNvPr id="11" name="标题 10"/>
          <p:cNvSpPr>
            <a:spLocks noGrp="1"/>
          </p:cNvSpPr>
          <p:nvPr>
            <p:ph type="title"/>
          </p:nvPr>
        </p:nvSpPr>
        <p:spPr/>
        <p:txBody>
          <a:bodyPr/>
          <a:lstStyle/>
          <a:p>
            <a:r>
              <a:rPr lang="zh-CN" altLang="en-US" dirty="0" smtClean="0"/>
              <a:t>分支语句</a:t>
            </a:r>
            <a:endParaRPr lang="zh-CN" altLang="en-US" dirty="0"/>
          </a:p>
        </p:txBody>
      </p:sp>
      <p:pic>
        <p:nvPicPr>
          <p:cNvPr id="2" name="图片 1"/>
          <p:cNvPicPr>
            <a:picLocks noChangeAspect="1"/>
          </p:cNvPicPr>
          <p:nvPr/>
        </p:nvPicPr>
        <p:blipFill>
          <a:blip r:embed="rId2"/>
          <a:stretch>
            <a:fillRect/>
          </a:stretch>
        </p:blipFill>
        <p:spPr>
          <a:xfrm>
            <a:off x="838199" y="2285999"/>
            <a:ext cx="11125201" cy="3555161"/>
          </a:xfrm>
          <a:prstGeom prst="rect">
            <a:avLst/>
          </a:prstGeom>
        </p:spPr>
      </p:pic>
    </p:spTree>
    <p:extLst>
      <p:ext uri="{BB962C8B-B14F-4D97-AF65-F5344CB8AC3E}">
        <p14:creationId xmlns:p14="http://schemas.microsoft.com/office/powerpoint/2010/main" val="25635505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15238" y="1602764"/>
            <a:ext cx="8046720" cy="382156"/>
          </a:xfrm>
          <a:prstGeom prst="rect">
            <a:avLst/>
          </a:prstGeom>
        </p:spPr>
        <p:txBody>
          <a:bodyPr vert="horz" wrap="square" lIns="0" tIns="12700" rIns="0" bIns="0" rtlCol="0">
            <a:spAutoFit/>
          </a:bodyPr>
          <a:lstStyle/>
          <a:p>
            <a:pPr marL="372110" lvl="0" indent="-359410">
              <a:buClr>
                <a:srgbClr val="404040"/>
              </a:buClr>
              <a:buSzPct val="84375"/>
              <a:buFont typeface="Wingdings"/>
              <a:buChar char=""/>
              <a:tabLst>
                <a:tab pos="372110" algn="l"/>
                <a:tab pos="372745" algn="l"/>
              </a:tabLst>
              <a:defRPr/>
            </a:pPr>
            <a:r>
              <a:rPr lang="zh-CN" altLang="en-US" sz="2400" spc="-30" dirty="0" smtClean="0">
                <a:solidFill>
                  <a:srgbClr val="FF0000"/>
                </a:solidFill>
                <a:latin typeface="宋体"/>
                <a:cs typeface="宋体"/>
              </a:rPr>
              <a:t>不写嵌套 </a:t>
            </a:r>
            <a:r>
              <a:rPr lang="en-US" altLang="zh-CN" sz="2400" spc="-30" dirty="0">
                <a:solidFill>
                  <a:srgbClr val="FF0000"/>
                </a:solidFill>
                <a:latin typeface="宋体"/>
                <a:cs typeface="宋体"/>
              </a:rPr>
              <a:t>if...</a:t>
            </a:r>
            <a:r>
              <a:rPr lang="en-US" altLang="zh-CN" sz="2400" spc="-30" dirty="0" smtClean="0">
                <a:solidFill>
                  <a:srgbClr val="FF0000"/>
                </a:solidFill>
                <a:latin typeface="宋体"/>
                <a:cs typeface="宋体"/>
              </a:rPr>
              <a:t>else</a:t>
            </a:r>
            <a:r>
              <a:rPr lang="zh-CN" altLang="en-US" sz="2400" spc="-30" dirty="0" smtClean="0">
                <a:solidFill>
                  <a:srgbClr val="FF0000"/>
                </a:solidFill>
                <a:latin typeface="宋体"/>
                <a:cs typeface="宋体"/>
              </a:rPr>
              <a:t>，可以使用逻辑运算符与、或、非：</a:t>
            </a:r>
            <a:endParaRPr lang="zh-CN" altLang="en-US" sz="2400" dirty="0">
              <a:solidFill>
                <a:srgbClr val="FF0000"/>
              </a:solidFill>
              <a:latin typeface="宋体"/>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8</a:t>
            </a:fld>
            <a:endParaRPr lang="zh-CN" altLang="en-US"/>
          </a:p>
        </p:txBody>
      </p:sp>
      <p:sp>
        <p:nvSpPr>
          <p:cNvPr id="11" name="标题 10"/>
          <p:cNvSpPr>
            <a:spLocks noGrp="1"/>
          </p:cNvSpPr>
          <p:nvPr>
            <p:ph type="title"/>
          </p:nvPr>
        </p:nvSpPr>
        <p:spPr/>
        <p:txBody>
          <a:bodyPr/>
          <a:lstStyle/>
          <a:p>
            <a:r>
              <a:rPr lang="zh-CN" altLang="en-US" dirty="0" smtClean="0"/>
              <a:t>分支语句</a:t>
            </a:r>
            <a:endParaRPr lang="zh-CN" altLang="en-US" dirty="0"/>
          </a:p>
        </p:txBody>
      </p:sp>
      <p:pic>
        <p:nvPicPr>
          <p:cNvPr id="5" name="图片 4"/>
          <p:cNvPicPr>
            <a:picLocks noChangeAspect="1"/>
          </p:cNvPicPr>
          <p:nvPr/>
        </p:nvPicPr>
        <p:blipFill>
          <a:blip r:embed="rId2"/>
          <a:stretch>
            <a:fillRect/>
          </a:stretch>
        </p:blipFill>
        <p:spPr>
          <a:xfrm>
            <a:off x="838200" y="2061889"/>
            <a:ext cx="6829425" cy="1724025"/>
          </a:xfrm>
          <a:prstGeom prst="rect">
            <a:avLst/>
          </a:prstGeom>
        </p:spPr>
      </p:pic>
      <p:pic>
        <p:nvPicPr>
          <p:cNvPr id="6" name="图片 5"/>
          <p:cNvPicPr>
            <a:picLocks noChangeAspect="1"/>
          </p:cNvPicPr>
          <p:nvPr/>
        </p:nvPicPr>
        <p:blipFill>
          <a:blip r:embed="rId3"/>
          <a:stretch>
            <a:fillRect/>
          </a:stretch>
        </p:blipFill>
        <p:spPr>
          <a:xfrm>
            <a:off x="838200" y="3893045"/>
            <a:ext cx="6829425" cy="1190625"/>
          </a:xfrm>
          <a:prstGeom prst="rect">
            <a:avLst/>
          </a:prstGeom>
        </p:spPr>
      </p:pic>
      <p:pic>
        <p:nvPicPr>
          <p:cNvPr id="7" name="图片 6"/>
          <p:cNvPicPr>
            <a:picLocks noChangeAspect="1"/>
          </p:cNvPicPr>
          <p:nvPr/>
        </p:nvPicPr>
        <p:blipFill>
          <a:blip r:embed="rId4"/>
          <a:stretch>
            <a:fillRect/>
          </a:stretch>
        </p:blipFill>
        <p:spPr>
          <a:xfrm>
            <a:off x="838199" y="5243511"/>
            <a:ext cx="6829425" cy="1315583"/>
          </a:xfrm>
          <a:prstGeom prst="rect">
            <a:avLst/>
          </a:prstGeom>
        </p:spPr>
      </p:pic>
    </p:spTree>
    <p:extLst>
      <p:ext uri="{BB962C8B-B14F-4D97-AF65-F5344CB8AC3E}">
        <p14:creationId xmlns:p14="http://schemas.microsoft.com/office/powerpoint/2010/main" val="3234732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a:spLocks noGrp="1"/>
          </p:cNvSpPr>
          <p:nvPr>
            <p:ph type="title"/>
          </p:nvPr>
        </p:nvSpPr>
        <p:spPr>
          <a:xfrm>
            <a:off x="914400" y="1425093"/>
            <a:ext cx="4086962" cy="382156"/>
          </a:xfrm>
          <a:prstGeom prst="rect">
            <a:avLst/>
          </a:prstGeom>
        </p:spPr>
        <p:txBody>
          <a:bodyPr vert="horz" wrap="square" lIns="0" tIns="12700" rIns="0" bIns="0" rtlCol="0">
            <a:spAutoFit/>
          </a:bodyPr>
          <a:lstStyle/>
          <a:p>
            <a:pPr marL="12700">
              <a:lnSpc>
                <a:spcPct val="100000"/>
              </a:lnSpc>
              <a:spcBef>
                <a:spcPts val="100"/>
              </a:spcBef>
            </a:pPr>
            <a:r>
              <a:rPr lang="zh-CN" altLang="en-US" sz="2400" spc="-190" dirty="0" smtClean="0">
                <a:latin typeface="宋体" panose="02010600030101010101" pitchFamily="2" charset="-122"/>
                <a:ea typeface="宋体" panose="02010600030101010101" pitchFamily="2" charset="-122"/>
              </a:rPr>
              <a:t>三</a:t>
            </a:r>
            <a:r>
              <a:rPr lang="zh-CN" altLang="en-US" sz="2400" spc="-190" dirty="0">
                <a:latin typeface="宋体" panose="02010600030101010101" pitchFamily="2" charset="-122"/>
                <a:ea typeface="宋体" panose="02010600030101010101" pitchFamily="2" charset="-122"/>
              </a:rPr>
              <a:t>元运算符</a:t>
            </a:r>
          </a:p>
        </p:txBody>
      </p:sp>
      <p:sp>
        <p:nvSpPr>
          <p:cNvPr id="8" name="object 6"/>
          <p:cNvSpPr/>
          <p:nvPr/>
        </p:nvSpPr>
        <p:spPr>
          <a:xfrm>
            <a:off x="920187" y="1938759"/>
            <a:ext cx="5495543" cy="63597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7"/>
          <p:cNvSpPr txBox="1"/>
          <p:nvPr/>
        </p:nvSpPr>
        <p:spPr>
          <a:xfrm>
            <a:off x="914400" y="2574736"/>
            <a:ext cx="5791200" cy="2649443"/>
          </a:xfrm>
          <a:prstGeom prst="rect">
            <a:avLst/>
          </a:prstGeom>
        </p:spPr>
        <p:txBody>
          <a:bodyPr vert="horz" wrap="square" lIns="0" tIns="12700" rIns="0" bIns="0" rtlCol="0">
            <a:spAutoFit/>
          </a:bodyPr>
          <a:lstStyle/>
          <a:p>
            <a:pPr marL="12700">
              <a:spcBef>
                <a:spcPts val="100"/>
              </a:spcBef>
              <a:defRPr/>
            </a:pPr>
            <a:r>
              <a:rPr lang="zh-CN" altLang="en-US" sz="2000" spc="-35" dirty="0" smtClean="0">
                <a:latin typeface="+mn-ea"/>
                <a:cs typeface="宋体"/>
              </a:rPr>
              <a:t>例：</a:t>
            </a:r>
            <a:r>
              <a:rPr kumimoji="0" sz="2000" b="0" i="0" u="none" strike="noStrike" kern="1200" cap="none" spc="-40" normalizeH="0" baseline="0" noProof="0" dirty="0" smtClean="0">
                <a:ln>
                  <a:noFill/>
                </a:ln>
                <a:effectLst/>
                <a:uLnTx/>
                <a:uFillTx/>
                <a:latin typeface="+mn-ea"/>
                <a:cs typeface="宋体"/>
              </a:rPr>
              <a:t>判断</a:t>
            </a:r>
            <a:r>
              <a:rPr kumimoji="0" sz="2000" b="0" i="0" u="none" strike="noStrike" kern="1200" cap="none" spc="175" normalizeH="0" baseline="0" noProof="0" dirty="0">
                <a:ln>
                  <a:noFill/>
                </a:ln>
                <a:effectLst/>
                <a:uLnTx/>
                <a:uFillTx/>
                <a:latin typeface="+mn-ea"/>
                <a:cs typeface="宋体"/>
              </a:rPr>
              <a:t>2</a:t>
            </a:r>
            <a:r>
              <a:rPr kumimoji="0" sz="2000" b="0" i="0" u="none" strike="noStrike" kern="1200" cap="none" spc="-40" normalizeH="0" baseline="0" noProof="0" dirty="0">
                <a:ln>
                  <a:noFill/>
                </a:ln>
                <a:effectLst/>
                <a:uLnTx/>
                <a:uFillTx/>
                <a:latin typeface="+mn-ea"/>
                <a:cs typeface="宋体"/>
              </a:rPr>
              <a:t>个数的最大值</a:t>
            </a:r>
            <a:endParaRPr kumimoji="0" sz="2000" b="0" i="0" u="none" strike="noStrike" kern="1200" cap="none" spc="0" normalizeH="0" baseline="0" noProof="0" dirty="0">
              <a:ln>
                <a:noFill/>
              </a:ln>
              <a:effectLst/>
              <a:uLnTx/>
              <a:uFillTx/>
              <a:latin typeface="+mn-ea"/>
              <a:cs typeface="宋体"/>
            </a:endParaRPr>
          </a:p>
          <a:p>
            <a:pPr marL="12700" marR="5080" lvl="0" indent="0" algn="l" defTabSz="914400" rtl="0" eaLnBrk="1" fontAlgn="auto" latinLnBrk="0" hangingPunct="1">
              <a:lnSpc>
                <a:spcPct val="170000"/>
              </a:lnSpc>
              <a:spcBef>
                <a:spcPts val="1335"/>
              </a:spcBef>
              <a:buClrTx/>
              <a:buSzTx/>
              <a:buFontTx/>
              <a:buNone/>
              <a:tabLst/>
              <a:defRPr/>
            </a:pPr>
            <a:r>
              <a:rPr kumimoji="0" sz="2000" b="0" i="0" u="none" strike="noStrike" kern="1200" cap="none" spc="-30" normalizeH="0" baseline="0" noProof="0" dirty="0">
                <a:ln>
                  <a:noFill/>
                </a:ln>
                <a:effectLst/>
                <a:uLnTx/>
                <a:uFillTx/>
                <a:latin typeface="+mn-ea"/>
                <a:cs typeface="宋体"/>
              </a:rPr>
              <a:t>需求：</a:t>
            </a:r>
            <a:r>
              <a:rPr kumimoji="0" sz="2000" b="0" i="0" u="none" strike="noStrike" kern="1200" cap="none" spc="-5" normalizeH="0" baseline="0" noProof="0" dirty="0">
                <a:ln>
                  <a:noFill/>
                </a:ln>
                <a:effectLst/>
                <a:uLnTx/>
                <a:uFillTx/>
                <a:latin typeface="+mn-ea"/>
                <a:cs typeface="微软雅黑"/>
              </a:rPr>
              <a:t>用户输入2个数，控制台输出</a:t>
            </a:r>
            <a:r>
              <a:rPr kumimoji="0" sz="2000" b="0" i="0" u="none" strike="noStrike" kern="1200" cap="none" spc="5" normalizeH="0" baseline="0" noProof="0" dirty="0">
                <a:ln>
                  <a:noFill/>
                </a:ln>
                <a:effectLst/>
                <a:uLnTx/>
                <a:uFillTx/>
                <a:latin typeface="+mn-ea"/>
                <a:cs typeface="微软雅黑"/>
              </a:rPr>
              <a:t>最</a:t>
            </a:r>
            <a:r>
              <a:rPr kumimoji="0" sz="2000" b="0" i="0" u="none" strike="noStrike" kern="1200" cap="none" spc="-5" normalizeH="0" baseline="0" noProof="0" dirty="0">
                <a:ln>
                  <a:noFill/>
                </a:ln>
                <a:effectLst/>
                <a:uLnTx/>
                <a:uFillTx/>
                <a:latin typeface="+mn-ea"/>
                <a:cs typeface="微软雅黑"/>
              </a:rPr>
              <a:t>大的值 </a:t>
            </a:r>
            <a:endParaRPr kumimoji="0" lang="en-US" sz="2000" b="0" i="0" u="none" strike="noStrike" kern="1200" cap="none" spc="-5" normalizeH="0" baseline="0" noProof="0" dirty="0" smtClean="0">
              <a:ln>
                <a:noFill/>
              </a:ln>
              <a:effectLst/>
              <a:uLnTx/>
              <a:uFillTx/>
              <a:latin typeface="+mn-ea"/>
              <a:cs typeface="微软雅黑"/>
            </a:endParaRPr>
          </a:p>
          <a:p>
            <a:pPr marL="12700" marR="5080" lvl="0" indent="0" algn="l" defTabSz="914400" rtl="0" eaLnBrk="1" fontAlgn="auto" latinLnBrk="0" hangingPunct="1">
              <a:lnSpc>
                <a:spcPct val="170000"/>
              </a:lnSpc>
              <a:spcBef>
                <a:spcPts val="1335"/>
              </a:spcBef>
              <a:buClrTx/>
              <a:buSzTx/>
              <a:buFontTx/>
              <a:buNone/>
              <a:tabLst/>
              <a:defRPr/>
            </a:pPr>
            <a:r>
              <a:rPr kumimoji="0" sz="2000" b="0" i="0" u="none" strike="noStrike" kern="1200" cap="none" spc="-30" normalizeH="0" baseline="0" noProof="0" dirty="0" err="1" smtClean="0">
                <a:ln>
                  <a:noFill/>
                </a:ln>
                <a:effectLst/>
                <a:uLnTx/>
                <a:uFillTx/>
                <a:latin typeface="+mn-ea"/>
                <a:cs typeface="宋体"/>
              </a:rPr>
              <a:t>分析</a:t>
            </a:r>
            <a:r>
              <a:rPr kumimoji="0" sz="2000" b="0" i="0" u="none" strike="noStrike" kern="1200" cap="none" spc="-30" normalizeH="0" baseline="0" noProof="0" dirty="0">
                <a:ln>
                  <a:noFill/>
                </a:ln>
                <a:effectLst/>
                <a:uLnTx/>
                <a:uFillTx/>
                <a:latin typeface="+mn-ea"/>
                <a:cs typeface="宋体"/>
              </a:rPr>
              <a:t>：</a:t>
            </a:r>
            <a:endParaRPr kumimoji="0" sz="2000" b="0" i="0" u="none" strike="noStrike" kern="1200" cap="none" spc="0" normalizeH="0" baseline="0" noProof="0" dirty="0">
              <a:ln>
                <a:noFill/>
              </a:ln>
              <a:effectLst/>
              <a:uLnTx/>
              <a:uFillTx/>
              <a:latin typeface="+mn-ea"/>
              <a:cs typeface="宋体"/>
            </a:endParaRPr>
          </a:p>
          <a:p>
            <a:pPr marL="12700" marR="0" lvl="0" indent="0" algn="l" defTabSz="914400" rtl="0" eaLnBrk="1" fontAlgn="auto" latinLnBrk="0" hangingPunct="1">
              <a:lnSpc>
                <a:spcPct val="100000"/>
              </a:lnSpc>
              <a:spcBef>
                <a:spcPts val="1345"/>
              </a:spcBef>
              <a:buClrTx/>
              <a:buSzTx/>
              <a:buFontTx/>
              <a:buNone/>
              <a:tabLst/>
              <a:defRPr/>
            </a:pPr>
            <a:r>
              <a:rPr kumimoji="0" sz="2000" b="0" i="0" u="none" strike="noStrike" kern="1200" cap="none" spc="-30" normalizeH="0" baseline="0" noProof="0" dirty="0">
                <a:ln>
                  <a:noFill/>
                </a:ln>
                <a:effectLst/>
                <a:uLnTx/>
                <a:uFillTx/>
                <a:latin typeface="+mn-ea"/>
                <a:cs typeface="宋体"/>
              </a:rPr>
              <a:t>①：用户输入</a:t>
            </a:r>
            <a:r>
              <a:rPr kumimoji="0" sz="2000" b="0" i="0" u="none" strike="noStrike" kern="1200" cap="none" spc="105" normalizeH="0" baseline="0" noProof="0" dirty="0">
                <a:ln>
                  <a:noFill/>
                </a:ln>
                <a:effectLst/>
                <a:uLnTx/>
                <a:uFillTx/>
                <a:latin typeface="+mn-ea"/>
                <a:cs typeface="宋体"/>
              </a:rPr>
              <a:t>2</a:t>
            </a:r>
            <a:r>
              <a:rPr kumimoji="0" sz="2000" b="0" i="0" u="none" strike="noStrike" kern="1200" cap="none" spc="-30" normalizeH="0" baseline="0" noProof="0" dirty="0">
                <a:ln>
                  <a:noFill/>
                </a:ln>
                <a:effectLst/>
                <a:uLnTx/>
                <a:uFillTx/>
                <a:latin typeface="+mn-ea"/>
                <a:cs typeface="宋体"/>
              </a:rPr>
              <a:t>个数</a:t>
            </a:r>
            <a:endParaRPr kumimoji="0" sz="2000" b="0" i="0" u="none" strike="noStrike" kern="1200" cap="none" spc="0" normalizeH="0" baseline="0" noProof="0" dirty="0">
              <a:ln>
                <a:noFill/>
              </a:ln>
              <a:effectLst/>
              <a:uLnTx/>
              <a:uFillTx/>
              <a:latin typeface="+mn-ea"/>
              <a:cs typeface="宋体"/>
            </a:endParaRPr>
          </a:p>
          <a:p>
            <a:pPr marL="12700" marR="0" lvl="0" indent="0" algn="l" defTabSz="914400" rtl="0" eaLnBrk="1" fontAlgn="auto" latinLnBrk="0" hangingPunct="1">
              <a:lnSpc>
                <a:spcPct val="100000"/>
              </a:lnSpc>
              <a:spcBef>
                <a:spcPts val="1340"/>
              </a:spcBef>
              <a:spcAft>
                <a:spcPts val="0"/>
              </a:spcAft>
              <a:buClrTx/>
              <a:buSzTx/>
              <a:buFontTx/>
              <a:buNone/>
              <a:tabLst/>
              <a:defRPr/>
            </a:pPr>
            <a:r>
              <a:rPr kumimoji="0" sz="2000" b="0" i="0" u="none" strike="noStrike" kern="1200" cap="none" spc="-35" normalizeH="0" baseline="0" noProof="0" dirty="0">
                <a:ln>
                  <a:noFill/>
                </a:ln>
                <a:effectLst/>
                <a:uLnTx/>
                <a:uFillTx/>
                <a:latin typeface="+mn-ea"/>
                <a:cs typeface="宋体"/>
              </a:rPr>
              <a:t>②：利用三元运算符输出最大值</a:t>
            </a:r>
            <a:endParaRPr kumimoji="0" sz="2000" b="0" i="0" u="none" strike="noStrike" kern="1200" cap="none" spc="0" normalizeH="0" baseline="0" noProof="0" dirty="0">
              <a:ln>
                <a:noFill/>
              </a:ln>
              <a:effectLst/>
              <a:uLnTx/>
              <a:uFillTx/>
              <a:latin typeface="+mn-ea"/>
              <a:cs typeface="宋体"/>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9</a:t>
            </a:fld>
            <a:endParaRPr lang="zh-CN" altLang="en-US"/>
          </a:p>
        </p:txBody>
      </p:sp>
      <p:pic>
        <p:nvPicPr>
          <p:cNvPr id="3" name="图片 2"/>
          <p:cNvPicPr>
            <a:picLocks noChangeAspect="1"/>
          </p:cNvPicPr>
          <p:nvPr/>
        </p:nvPicPr>
        <p:blipFill>
          <a:blip r:embed="rId3"/>
          <a:stretch>
            <a:fillRect/>
          </a:stretch>
        </p:blipFill>
        <p:spPr>
          <a:xfrm>
            <a:off x="901700" y="5248793"/>
            <a:ext cx="8342136" cy="1576587"/>
          </a:xfrm>
          <a:prstGeom prst="rect">
            <a:avLst/>
          </a:prstGeom>
        </p:spPr>
      </p:pic>
      <p:sp>
        <p:nvSpPr>
          <p:cNvPr id="11" name="标题 10"/>
          <p:cNvSpPr txBox="1">
            <a:spLocks/>
          </p:cNvSpPr>
          <p:nvPr/>
        </p:nvSpPr>
        <p:spPr>
          <a:xfrm>
            <a:off x="838200" y="274638"/>
            <a:ext cx="10515600" cy="1325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zh-CN" altLang="en-US" dirty="0" smtClean="0"/>
              <a:t>分支语句</a:t>
            </a:r>
            <a:endParaRPr lang="zh-CN" altLang="en-US" dirty="0"/>
          </a:p>
        </p:txBody>
      </p:sp>
    </p:spTree>
    <p:extLst>
      <p:ext uri="{BB962C8B-B14F-4D97-AF65-F5344CB8AC3E}">
        <p14:creationId xmlns:p14="http://schemas.microsoft.com/office/powerpoint/2010/main" val="19341027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838200" y="1447800"/>
            <a:ext cx="10744200" cy="1436291"/>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2400" b="0" i="0" u="none" strike="noStrike" kern="1200" cap="none" spc="-40" normalizeH="0" baseline="0" noProof="0" dirty="0">
                <a:ln>
                  <a:noFill/>
                </a:ln>
                <a:solidFill>
                  <a:srgbClr val="AC2B25"/>
                </a:solidFill>
                <a:effectLst/>
                <a:uLnTx/>
                <a:uFillTx/>
                <a:latin typeface="宋体"/>
                <a:ea typeface="+mn-ea"/>
                <a:cs typeface="宋体"/>
              </a:rPr>
              <a:t>数字补</a:t>
            </a:r>
            <a:r>
              <a:rPr kumimoji="0" sz="2400" b="0" i="0" u="none" strike="noStrike" kern="1200" cap="none" spc="175" normalizeH="0" baseline="0" noProof="0" dirty="0" smtClean="0">
                <a:ln>
                  <a:noFill/>
                </a:ln>
                <a:solidFill>
                  <a:srgbClr val="AC2B25"/>
                </a:solidFill>
                <a:effectLst/>
                <a:uLnTx/>
                <a:uFillTx/>
                <a:latin typeface="宋体"/>
                <a:ea typeface="+mn-ea"/>
                <a:cs typeface="宋体"/>
              </a:rPr>
              <a:t>0</a:t>
            </a:r>
            <a:endParaRPr kumimoji="0" lang="en-US" sz="2400" b="0" i="0" u="none" strike="noStrike" kern="1200" cap="none" spc="175" normalizeH="0" baseline="0" noProof="0" dirty="0" smtClean="0">
              <a:ln>
                <a:noFill/>
              </a:ln>
              <a:solidFill>
                <a:srgbClr val="AC2B25"/>
              </a:solidFill>
              <a:effectLst/>
              <a:uLnTx/>
              <a:uFillTx/>
              <a:latin typeface="宋体"/>
              <a:ea typeface="+mn-ea"/>
              <a:cs typeface="宋体"/>
            </a:endParaRPr>
          </a:p>
          <a:p>
            <a:pPr marL="12700" marR="0" lvl="0" indent="0" algn="l" defTabSz="914400" rtl="0" eaLnBrk="1" fontAlgn="auto" latinLnBrk="0" hangingPunct="1">
              <a:lnSpc>
                <a:spcPct val="100000"/>
              </a:lnSpc>
              <a:spcBef>
                <a:spcPts val="100"/>
              </a:spcBef>
              <a:spcAft>
                <a:spcPts val="0"/>
              </a:spcAft>
              <a:buClrTx/>
              <a:buSzTx/>
              <a:buFontTx/>
              <a:buNone/>
              <a:tabLst/>
              <a:defRPr/>
            </a:pPr>
            <a:endParaRPr kumimoji="0" lang="en-US" sz="1600" b="0" i="0" u="none" strike="noStrike" kern="1200" cap="none" spc="-30" normalizeH="0" baseline="0" noProof="0" dirty="0" smtClean="0">
              <a:ln>
                <a:noFill/>
              </a:ln>
              <a:solidFill>
                <a:srgbClr val="252525"/>
              </a:solidFill>
              <a:effectLst/>
              <a:uLnTx/>
              <a:uFillTx/>
              <a:latin typeface="宋体"/>
              <a:ea typeface="+mn-ea"/>
              <a:cs typeface="宋体"/>
            </a:endParaRPr>
          </a:p>
          <a:p>
            <a:pPr marL="12700" marR="0" lvl="0" indent="0" algn="l" defTabSz="914400" rtl="0" eaLnBrk="1" fontAlgn="auto" latinLnBrk="0" hangingPunct="1">
              <a:lnSpc>
                <a:spcPct val="100000"/>
              </a:lnSpc>
              <a:spcBef>
                <a:spcPts val="100"/>
              </a:spcBef>
              <a:buClrTx/>
              <a:buSzTx/>
              <a:buFontTx/>
              <a:buNone/>
              <a:tabLst/>
              <a:defRPr/>
            </a:pPr>
            <a:r>
              <a:rPr kumimoji="0" sz="2000" b="0" i="0" u="none" strike="noStrike" kern="1200" cap="none" spc="-30" normalizeH="0" baseline="0" noProof="0" dirty="0" smtClean="0">
                <a:ln>
                  <a:noFill/>
                </a:ln>
                <a:solidFill>
                  <a:srgbClr val="252525"/>
                </a:solidFill>
                <a:effectLst/>
                <a:uLnTx/>
                <a:uFillTx/>
                <a:latin typeface="宋体"/>
                <a:ea typeface="+mn-ea"/>
                <a:cs typeface="宋体"/>
              </a:rPr>
              <a:t>需求</a:t>
            </a:r>
            <a:r>
              <a:rPr kumimoji="0" sz="2000" b="0" i="0" u="none" strike="noStrike" kern="1200" cap="none" spc="-30" normalizeH="0" baseline="0" noProof="0" dirty="0">
                <a:ln>
                  <a:noFill/>
                </a:ln>
                <a:solidFill>
                  <a:srgbClr val="252525"/>
                </a:solidFill>
                <a:effectLst/>
                <a:uLnTx/>
                <a:uFillTx/>
                <a:latin typeface="宋体"/>
                <a:ea typeface="+mn-ea"/>
                <a:cs typeface="宋体"/>
              </a:rPr>
              <a:t>：</a:t>
            </a:r>
            <a:r>
              <a:rPr kumimoji="0" sz="2000" b="0" i="0" u="none" strike="noStrike" kern="1200" cap="none" spc="-5" normalizeH="0" baseline="0" noProof="0" dirty="0">
                <a:ln>
                  <a:noFill/>
                </a:ln>
                <a:solidFill>
                  <a:srgbClr val="404040"/>
                </a:solidFill>
                <a:effectLst/>
                <a:uLnTx/>
                <a:uFillTx/>
                <a:latin typeface="微软雅黑"/>
                <a:ea typeface="+mn-ea"/>
                <a:cs typeface="微软雅黑"/>
              </a:rPr>
              <a:t>用户输入1个数，如果数字小</a:t>
            </a:r>
            <a:r>
              <a:rPr kumimoji="0" sz="2000" b="0" i="0" u="none" strike="noStrike" kern="1200" cap="none" spc="-25" normalizeH="0" baseline="0" noProof="0" dirty="0">
                <a:ln>
                  <a:noFill/>
                </a:ln>
                <a:solidFill>
                  <a:srgbClr val="404040"/>
                </a:solidFill>
                <a:effectLst/>
                <a:uLnTx/>
                <a:uFillTx/>
                <a:latin typeface="微软雅黑"/>
                <a:ea typeface="+mn-ea"/>
                <a:cs typeface="微软雅黑"/>
              </a:rPr>
              <a:t>于</a:t>
            </a:r>
            <a:r>
              <a:rPr kumimoji="0" sz="2000" b="0" i="0" u="none" strike="noStrike" kern="1200" cap="none" spc="0" normalizeH="0" baseline="0" noProof="0" dirty="0">
                <a:ln>
                  <a:noFill/>
                </a:ln>
                <a:solidFill>
                  <a:srgbClr val="404040"/>
                </a:solidFill>
                <a:effectLst/>
                <a:uLnTx/>
                <a:uFillTx/>
                <a:latin typeface="微软雅黑"/>
                <a:ea typeface="+mn-ea"/>
                <a:cs typeface="微软雅黑"/>
              </a:rPr>
              <a:t>10，</a:t>
            </a:r>
            <a:r>
              <a:rPr kumimoji="0" sz="2000" b="0" i="0" u="none" strike="noStrike" kern="1200" cap="none" spc="-5" normalizeH="0" baseline="0" noProof="0" dirty="0">
                <a:ln>
                  <a:noFill/>
                </a:ln>
                <a:solidFill>
                  <a:srgbClr val="404040"/>
                </a:solidFill>
                <a:effectLst/>
                <a:uLnTx/>
                <a:uFillTx/>
                <a:latin typeface="微软雅黑"/>
                <a:ea typeface="+mn-ea"/>
                <a:cs typeface="微软雅黑"/>
              </a:rPr>
              <a:t>则</a:t>
            </a:r>
            <a:r>
              <a:rPr kumimoji="0" sz="2000" b="0" i="0" u="none" strike="noStrike" kern="1200" cap="none" spc="5" normalizeH="0" baseline="0" noProof="0" dirty="0">
                <a:ln>
                  <a:noFill/>
                </a:ln>
                <a:solidFill>
                  <a:srgbClr val="404040"/>
                </a:solidFill>
                <a:effectLst/>
                <a:uLnTx/>
                <a:uFillTx/>
                <a:latin typeface="微软雅黑"/>
                <a:ea typeface="+mn-ea"/>
                <a:cs typeface="微软雅黑"/>
              </a:rPr>
              <a:t>前</a:t>
            </a:r>
            <a:r>
              <a:rPr kumimoji="0" sz="2000" b="0" i="0" u="none" strike="noStrike" kern="1200" cap="none" spc="-5" normalizeH="0" baseline="0" noProof="0" dirty="0">
                <a:ln>
                  <a:noFill/>
                </a:ln>
                <a:solidFill>
                  <a:srgbClr val="404040"/>
                </a:solidFill>
                <a:effectLst/>
                <a:uLnTx/>
                <a:uFillTx/>
                <a:latin typeface="微软雅黑"/>
                <a:ea typeface="+mn-ea"/>
                <a:cs typeface="微软雅黑"/>
              </a:rPr>
              <a:t>面进</a:t>
            </a:r>
            <a:r>
              <a:rPr kumimoji="0" sz="2000" b="0" i="0" u="none" strike="noStrike" kern="1200" cap="none" spc="5" normalizeH="0" baseline="0" noProof="0" dirty="0">
                <a:ln>
                  <a:noFill/>
                </a:ln>
                <a:solidFill>
                  <a:srgbClr val="404040"/>
                </a:solidFill>
                <a:effectLst/>
                <a:uLnTx/>
                <a:uFillTx/>
                <a:latin typeface="微软雅黑"/>
                <a:ea typeface="+mn-ea"/>
                <a:cs typeface="微软雅黑"/>
              </a:rPr>
              <a:t>行</a:t>
            </a:r>
            <a:r>
              <a:rPr kumimoji="0" sz="2000" b="0" i="0" u="none" strike="noStrike" kern="1200" cap="none" spc="-5" normalizeH="0" baseline="0" noProof="0" dirty="0">
                <a:ln>
                  <a:noFill/>
                </a:ln>
                <a:solidFill>
                  <a:srgbClr val="404040"/>
                </a:solidFill>
                <a:effectLst/>
                <a:uLnTx/>
                <a:uFillTx/>
                <a:latin typeface="微软雅黑"/>
                <a:ea typeface="+mn-ea"/>
                <a:cs typeface="微软雅黑"/>
              </a:rPr>
              <a:t>补0，</a:t>
            </a:r>
            <a:r>
              <a:rPr kumimoji="0" sz="2000" b="0" i="0" u="none" strike="noStrike" kern="1200" cap="none" spc="70" normalizeH="0" baseline="0" noProof="0" dirty="0">
                <a:ln>
                  <a:noFill/>
                </a:ln>
                <a:solidFill>
                  <a:srgbClr val="404040"/>
                </a:solidFill>
                <a:effectLst/>
                <a:uLnTx/>
                <a:uFillTx/>
                <a:latin typeface="微软雅黑"/>
                <a:ea typeface="+mn-ea"/>
                <a:cs typeface="微软雅黑"/>
              </a:rPr>
              <a:t> </a:t>
            </a:r>
            <a:r>
              <a:rPr kumimoji="0" sz="2000" b="0" i="0" u="none" strike="noStrike" kern="1200" cap="none" spc="-5" normalizeH="0" baseline="0" noProof="0" dirty="0" err="1">
                <a:ln>
                  <a:noFill/>
                </a:ln>
                <a:solidFill>
                  <a:srgbClr val="404040"/>
                </a:solidFill>
                <a:effectLst/>
                <a:uLnTx/>
                <a:uFillTx/>
                <a:latin typeface="微软雅黑"/>
                <a:ea typeface="+mn-ea"/>
                <a:cs typeface="微软雅黑"/>
              </a:rPr>
              <a:t>比如</a:t>
            </a:r>
            <a:r>
              <a:rPr kumimoji="0" sz="2000" b="0" i="0" u="none" strike="noStrike" kern="1200" cap="none" spc="10" normalizeH="0" baseline="0" noProof="0" dirty="0">
                <a:ln>
                  <a:noFill/>
                </a:ln>
                <a:solidFill>
                  <a:srgbClr val="404040"/>
                </a:solidFill>
                <a:effectLst/>
                <a:uLnTx/>
                <a:uFillTx/>
                <a:latin typeface="微软雅黑"/>
                <a:ea typeface="+mn-ea"/>
                <a:cs typeface="微软雅黑"/>
              </a:rPr>
              <a:t> </a:t>
            </a:r>
            <a:r>
              <a:rPr kumimoji="0" sz="2000" b="0" i="0" u="none" strike="noStrike" kern="1200" cap="none" spc="-5" normalizeH="0" baseline="0" noProof="0" dirty="0" smtClean="0">
                <a:ln>
                  <a:noFill/>
                </a:ln>
                <a:solidFill>
                  <a:srgbClr val="404040"/>
                </a:solidFill>
                <a:effectLst/>
                <a:uLnTx/>
                <a:uFillTx/>
                <a:latin typeface="微软雅黑"/>
                <a:ea typeface="+mn-ea"/>
                <a:cs typeface="微软雅黑"/>
              </a:rPr>
              <a:t>09</a:t>
            </a:r>
            <a:r>
              <a:rPr kumimoji="0" lang="zh-CN" altLang="en-US" sz="2000" b="0" i="0" u="none" strike="noStrike" kern="1200" cap="none" spc="-5" normalizeH="0" baseline="0" noProof="0" dirty="0" smtClean="0">
                <a:ln>
                  <a:noFill/>
                </a:ln>
                <a:solidFill>
                  <a:srgbClr val="404040"/>
                </a:solidFill>
                <a:effectLst/>
                <a:uLnTx/>
                <a:uFillTx/>
                <a:latin typeface="微软雅黑"/>
                <a:ea typeface="+mn-ea"/>
                <a:cs typeface="微软雅黑"/>
              </a:rPr>
              <a:t>，</a:t>
            </a:r>
            <a:r>
              <a:rPr kumimoji="0" sz="2000" b="0" i="0" u="none" strike="noStrike" kern="1200" cap="none" spc="-5" normalizeH="0" baseline="0" noProof="0" dirty="0" smtClean="0">
                <a:ln>
                  <a:noFill/>
                </a:ln>
                <a:solidFill>
                  <a:srgbClr val="404040"/>
                </a:solidFill>
                <a:effectLst/>
                <a:uLnTx/>
                <a:uFillTx/>
                <a:latin typeface="微软雅黑"/>
                <a:ea typeface="+mn-ea"/>
                <a:cs typeface="微软雅黑"/>
              </a:rPr>
              <a:t>03</a:t>
            </a:r>
            <a:r>
              <a:rPr kumimoji="0" sz="2000" b="0" i="0" u="none" strike="noStrike" kern="1200" cap="none" spc="-70" normalizeH="0" baseline="0" noProof="0" dirty="0" smtClean="0">
                <a:ln>
                  <a:noFill/>
                </a:ln>
                <a:solidFill>
                  <a:srgbClr val="404040"/>
                </a:solidFill>
                <a:effectLst/>
                <a:uLnTx/>
                <a:uFillTx/>
                <a:latin typeface="微软雅黑"/>
                <a:ea typeface="+mn-ea"/>
                <a:cs typeface="微软雅黑"/>
              </a:rPr>
              <a:t> </a:t>
            </a:r>
            <a:r>
              <a:rPr kumimoji="0" sz="2000" b="0" i="0" u="none" strike="noStrike" kern="1200" cap="none" spc="-5" normalizeH="0" baseline="0" noProof="0" dirty="0">
                <a:ln>
                  <a:noFill/>
                </a:ln>
                <a:solidFill>
                  <a:srgbClr val="404040"/>
                </a:solidFill>
                <a:effectLst/>
                <a:uLnTx/>
                <a:uFillTx/>
                <a:latin typeface="微软雅黑"/>
                <a:ea typeface="+mn-ea"/>
                <a:cs typeface="微软雅黑"/>
              </a:rPr>
              <a:t>等</a:t>
            </a:r>
            <a:endParaRPr kumimoji="0" sz="2000" b="0" i="0" u="none" strike="noStrike" kern="1200" cap="none" spc="0" normalizeH="0" baseline="0" noProof="0" dirty="0">
              <a:ln>
                <a:noFill/>
              </a:ln>
              <a:solidFill>
                <a:prstClr val="black"/>
              </a:solidFill>
              <a:effectLst/>
              <a:uLnTx/>
              <a:uFillTx/>
              <a:latin typeface="微软雅黑"/>
              <a:ea typeface="+mn-ea"/>
              <a:cs typeface="微软雅黑"/>
            </a:endParaRPr>
          </a:p>
          <a:p>
            <a:pPr marL="12700" marR="0" lvl="0" indent="0" algn="l" defTabSz="914400" rtl="0" eaLnBrk="1" fontAlgn="auto" latinLnBrk="0" hangingPunct="1">
              <a:lnSpc>
                <a:spcPct val="100000"/>
              </a:lnSpc>
              <a:spcBef>
                <a:spcPts val="1340"/>
              </a:spcBef>
              <a:spcAft>
                <a:spcPts val="0"/>
              </a:spcAft>
              <a:buClrTx/>
              <a:buSzTx/>
              <a:buFontTx/>
              <a:buNone/>
              <a:tabLst/>
              <a:defRPr/>
            </a:pPr>
            <a:r>
              <a:rPr kumimoji="0" sz="2000" b="0" i="0" u="none" strike="noStrike" kern="1200" cap="none" spc="-30" normalizeH="0" baseline="0" noProof="0" dirty="0" err="1">
                <a:ln>
                  <a:noFill/>
                </a:ln>
                <a:solidFill>
                  <a:srgbClr val="252525"/>
                </a:solidFill>
                <a:effectLst/>
                <a:uLnTx/>
                <a:uFillTx/>
                <a:latin typeface="宋体"/>
                <a:ea typeface="+mn-ea"/>
                <a:cs typeface="宋体"/>
              </a:rPr>
              <a:t>分析</a:t>
            </a:r>
            <a:r>
              <a:rPr kumimoji="0" sz="2000" b="0" i="0" u="none" strike="noStrike" kern="1200" cap="none" spc="-30" normalizeH="0" baseline="0" noProof="0" dirty="0" err="1" smtClean="0">
                <a:ln>
                  <a:noFill/>
                </a:ln>
                <a:solidFill>
                  <a:srgbClr val="252525"/>
                </a:solidFill>
                <a:effectLst/>
                <a:uLnTx/>
                <a:uFillTx/>
                <a:latin typeface="宋体"/>
                <a:ea typeface="+mn-ea"/>
                <a:cs typeface="宋体"/>
              </a:rPr>
              <a:t>：</a:t>
            </a:r>
            <a:r>
              <a:rPr kumimoji="0" sz="2000" b="0" i="0" u="none" strike="noStrike" kern="1200" cap="none" spc="-35" normalizeH="0" baseline="0" noProof="0" dirty="0" err="1" smtClean="0">
                <a:ln>
                  <a:noFill/>
                </a:ln>
                <a:solidFill>
                  <a:srgbClr val="252525"/>
                </a:solidFill>
                <a:effectLst/>
                <a:uLnTx/>
                <a:uFillTx/>
                <a:latin typeface="宋体"/>
                <a:ea typeface="+mn-ea"/>
                <a:cs typeface="宋体"/>
              </a:rPr>
              <a:t>利用三元运算</a:t>
            </a:r>
            <a:r>
              <a:rPr kumimoji="0" sz="2000" b="0" i="0" u="none" strike="noStrike" kern="1200" cap="none" spc="-30" normalizeH="0" baseline="0" noProof="0" dirty="0" err="1" smtClean="0">
                <a:ln>
                  <a:noFill/>
                </a:ln>
                <a:solidFill>
                  <a:srgbClr val="252525"/>
                </a:solidFill>
                <a:effectLst/>
                <a:uLnTx/>
                <a:uFillTx/>
                <a:latin typeface="宋体"/>
                <a:ea typeface="+mn-ea"/>
                <a:cs typeface="宋体"/>
              </a:rPr>
              <a:t>符</a:t>
            </a:r>
            <a:r>
              <a:rPr kumimoji="0" sz="2000" b="0" i="0" u="none" strike="noStrike" kern="1200" cap="none" spc="-360" normalizeH="0" baseline="0" noProof="0" dirty="0" smtClean="0">
                <a:ln>
                  <a:noFill/>
                </a:ln>
                <a:solidFill>
                  <a:srgbClr val="252525"/>
                </a:solidFill>
                <a:effectLst/>
                <a:uLnTx/>
                <a:uFillTx/>
                <a:latin typeface="宋体"/>
                <a:ea typeface="+mn-ea"/>
                <a:cs typeface="宋体"/>
              </a:rPr>
              <a:t> </a:t>
            </a:r>
            <a:r>
              <a:rPr kumimoji="0" sz="2000" b="0" i="0" u="none" strike="noStrike" kern="1200" cap="none" spc="-30" normalizeH="0" baseline="0" noProof="0" dirty="0">
                <a:ln>
                  <a:noFill/>
                </a:ln>
                <a:solidFill>
                  <a:srgbClr val="252525"/>
                </a:solidFill>
                <a:effectLst/>
                <a:uLnTx/>
                <a:uFillTx/>
                <a:latin typeface="宋体"/>
                <a:ea typeface="+mn-ea"/>
                <a:cs typeface="宋体"/>
              </a:rPr>
              <a:t>补</a:t>
            </a:r>
            <a:r>
              <a:rPr kumimoji="0" sz="2000" b="0" i="0" u="none" strike="noStrike" kern="1200" cap="none" spc="-395" normalizeH="0" baseline="0" noProof="0" dirty="0">
                <a:ln>
                  <a:noFill/>
                </a:ln>
                <a:solidFill>
                  <a:srgbClr val="252525"/>
                </a:solidFill>
                <a:effectLst/>
                <a:uLnTx/>
                <a:uFillTx/>
                <a:latin typeface="宋体"/>
                <a:ea typeface="+mn-ea"/>
                <a:cs typeface="宋体"/>
              </a:rPr>
              <a:t> </a:t>
            </a:r>
            <a:r>
              <a:rPr kumimoji="0" sz="2000" b="0" i="0" u="none" strike="noStrike" kern="1200" cap="none" spc="114" normalizeH="0" baseline="0" noProof="0" dirty="0">
                <a:ln>
                  <a:noFill/>
                </a:ln>
                <a:solidFill>
                  <a:srgbClr val="252525"/>
                </a:solidFill>
                <a:effectLst/>
                <a:uLnTx/>
                <a:uFillTx/>
                <a:latin typeface="宋体"/>
                <a:ea typeface="+mn-ea"/>
                <a:cs typeface="宋体"/>
              </a:rPr>
              <a:t>0</a:t>
            </a:r>
            <a:r>
              <a:rPr kumimoji="0" sz="2000" b="0" i="0" u="none" strike="noStrike" kern="1200" cap="none" spc="-380" normalizeH="0" baseline="0" noProof="0" dirty="0">
                <a:ln>
                  <a:noFill/>
                </a:ln>
                <a:solidFill>
                  <a:srgbClr val="252525"/>
                </a:solidFill>
                <a:effectLst/>
                <a:uLnTx/>
                <a:uFillTx/>
                <a:latin typeface="宋体"/>
                <a:ea typeface="+mn-ea"/>
                <a:cs typeface="宋体"/>
              </a:rPr>
              <a:t> </a:t>
            </a:r>
            <a:r>
              <a:rPr kumimoji="0" sz="2000" b="0" i="0" u="none" strike="noStrike" kern="1200" cap="none" spc="-35" normalizeH="0" baseline="0" noProof="0" dirty="0">
                <a:ln>
                  <a:noFill/>
                </a:ln>
                <a:solidFill>
                  <a:srgbClr val="252525"/>
                </a:solidFill>
                <a:effectLst/>
                <a:uLnTx/>
                <a:uFillTx/>
                <a:latin typeface="宋体"/>
                <a:ea typeface="+mn-ea"/>
                <a:cs typeface="宋体"/>
              </a:rPr>
              <a:t>计算</a:t>
            </a:r>
            <a:endParaRPr kumimoji="0" sz="2000" b="0" i="0" u="none" strike="noStrike" kern="1200" cap="none" spc="0" normalizeH="0" baseline="0" noProof="0" dirty="0">
              <a:ln>
                <a:noFill/>
              </a:ln>
              <a:solidFill>
                <a:prstClr val="black"/>
              </a:solidFill>
              <a:effectLst/>
              <a:uLnTx/>
              <a:uFillTx/>
              <a:latin typeface="宋体"/>
              <a:ea typeface="+mn-ea"/>
              <a:cs typeface="宋体"/>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10</a:t>
            </a:fld>
            <a:endParaRPr lang="zh-CN" altLang="en-US"/>
          </a:p>
        </p:txBody>
      </p:sp>
      <p:pic>
        <p:nvPicPr>
          <p:cNvPr id="3" name="图片 2"/>
          <p:cNvPicPr>
            <a:picLocks noChangeAspect="1"/>
          </p:cNvPicPr>
          <p:nvPr/>
        </p:nvPicPr>
        <p:blipFill>
          <a:blip r:embed="rId2"/>
          <a:stretch>
            <a:fillRect/>
          </a:stretch>
        </p:blipFill>
        <p:spPr>
          <a:xfrm>
            <a:off x="838200" y="3037930"/>
            <a:ext cx="9067800" cy="1462548"/>
          </a:xfrm>
          <a:prstGeom prst="rect">
            <a:avLst/>
          </a:prstGeom>
        </p:spPr>
      </p:pic>
      <p:sp>
        <p:nvSpPr>
          <p:cNvPr id="8" name="标题 10"/>
          <p:cNvSpPr txBox="1">
            <a:spLocks/>
          </p:cNvSpPr>
          <p:nvPr/>
        </p:nvSpPr>
        <p:spPr>
          <a:xfrm>
            <a:off x="838200" y="274638"/>
            <a:ext cx="10515600" cy="1325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zh-CN" altLang="en-US" dirty="0" smtClean="0"/>
              <a:t>分支语句</a:t>
            </a:r>
            <a:endParaRPr lang="zh-CN" altLang="en-US" dirty="0"/>
          </a:p>
        </p:txBody>
      </p:sp>
    </p:spTree>
    <p:extLst>
      <p:ext uri="{BB962C8B-B14F-4D97-AF65-F5344CB8AC3E}">
        <p14:creationId xmlns:p14="http://schemas.microsoft.com/office/powerpoint/2010/main" val="16288226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838200" y="1447800"/>
            <a:ext cx="10744200" cy="38215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lang="zh-CN" altLang="en-US" sz="2400" b="0" i="0" u="none" strike="noStrike" kern="1200" cap="none" spc="-40" normalizeH="0" baseline="0" noProof="0" dirty="0" smtClean="0">
                <a:ln>
                  <a:noFill/>
                </a:ln>
                <a:solidFill>
                  <a:srgbClr val="AC2B25"/>
                </a:solidFill>
                <a:effectLst/>
                <a:uLnTx/>
                <a:uFillTx/>
                <a:latin typeface="宋体"/>
                <a:ea typeface="+mn-ea"/>
                <a:cs typeface="宋体"/>
              </a:rPr>
              <a:t>三元运算符示例：</a:t>
            </a:r>
            <a:endParaRPr kumimoji="0" lang="en-US" altLang="zh-CN" sz="2400" b="0" i="0" u="none" strike="noStrike" kern="1200" cap="none" spc="-40" normalizeH="0" baseline="0" noProof="0" dirty="0" smtClean="0">
              <a:ln>
                <a:noFill/>
              </a:ln>
              <a:solidFill>
                <a:srgbClr val="AC2B25"/>
              </a:solidFill>
              <a:effectLst/>
              <a:uLnTx/>
              <a:uFillTx/>
              <a:latin typeface="宋体"/>
              <a:ea typeface="+mn-ea"/>
              <a:cs typeface="宋体"/>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11</a:t>
            </a:fld>
            <a:endParaRPr lang="zh-CN" altLang="en-US"/>
          </a:p>
        </p:txBody>
      </p:sp>
      <p:sp>
        <p:nvSpPr>
          <p:cNvPr id="8" name="标题 10"/>
          <p:cNvSpPr txBox="1">
            <a:spLocks/>
          </p:cNvSpPr>
          <p:nvPr/>
        </p:nvSpPr>
        <p:spPr>
          <a:xfrm>
            <a:off x="838200" y="274638"/>
            <a:ext cx="10515600" cy="132556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zh-CN" altLang="en-US" dirty="0" smtClean="0"/>
              <a:t>分支语句</a:t>
            </a:r>
            <a:endParaRPr lang="zh-CN" altLang="en-US" dirty="0"/>
          </a:p>
        </p:txBody>
      </p:sp>
      <p:pic>
        <p:nvPicPr>
          <p:cNvPr id="4" name="图片 3"/>
          <p:cNvPicPr>
            <a:picLocks noChangeAspect="1"/>
          </p:cNvPicPr>
          <p:nvPr/>
        </p:nvPicPr>
        <p:blipFill>
          <a:blip r:embed="rId2"/>
          <a:stretch>
            <a:fillRect/>
          </a:stretch>
        </p:blipFill>
        <p:spPr>
          <a:xfrm>
            <a:off x="849775" y="1961908"/>
            <a:ext cx="9496130" cy="4876801"/>
          </a:xfrm>
          <a:prstGeom prst="rect">
            <a:avLst/>
          </a:prstGeom>
        </p:spPr>
      </p:pic>
    </p:spTree>
    <p:extLst>
      <p:ext uri="{BB962C8B-B14F-4D97-AF65-F5344CB8AC3E}">
        <p14:creationId xmlns:p14="http://schemas.microsoft.com/office/powerpoint/2010/main" val="3075041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7"/>
          <p:cNvGraphicFramePr>
            <a:graphicFrameLocks noGrp="1"/>
          </p:cNvGraphicFramePr>
          <p:nvPr>
            <p:extLst>
              <p:ext uri="{D42A27DB-BD31-4B8C-83A1-F6EECF244321}">
                <p14:modId xmlns:p14="http://schemas.microsoft.com/office/powerpoint/2010/main" val="3269421563"/>
              </p:ext>
            </p:extLst>
          </p:nvPr>
        </p:nvGraphicFramePr>
        <p:xfrm>
          <a:off x="5029200" y="4114800"/>
          <a:ext cx="6629400" cy="1604771"/>
        </p:xfrm>
        <a:graphic>
          <a:graphicData uri="http://schemas.openxmlformats.org/drawingml/2006/table">
            <a:tbl>
              <a:tblPr firstRow="1" bandRow="1">
                <a:tableStyleId>{2D5ABB26-0587-4C30-8999-92F81FD0307C}</a:tableStyleId>
              </a:tblPr>
              <a:tblGrid>
                <a:gridCol w="107585">
                  <a:extLst>
                    <a:ext uri="{9D8B030D-6E8A-4147-A177-3AD203B41FA5}">
                      <a16:colId xmlns:a16="http://schemas.microsoft.com/office/drawing/2014/main" val="20000"/>
                    </a:ext>
                  </a:extLst>
                </a:gridCol>
                <a:gridCol w="1021374">
                  <a:extLst>
                    <a:ext uri="{9D8B030D-6E8A-4147-A177-3AD203B41FA5}">
                      <a16:colId xmlns:a16="http://schemas.microsoft.com/office/drawing/2014/main" val="20001"/>
                    </a:ext>
                  </a:extLst>
                </a:gridCol>
                <a:gridCol w="5500441">
                  <a:extLst>
                    <a:ext uri="{9D8B030D-6E8A-4147-A177-3AD203B41FA5}">
                      <a16:colId xmlns:a16="http://schemas.microsoft.com/office/drawing/2014/main" val="20002"/>
                    </a:ext>
                  </a:extLst>
                </a:gridCol>
              </a:tblGrid>
              <a:tr h="71628">
                <a:tc>
                  <a:txBody>
                    <a:bodyPr/>
                    <a:lstStyle/>
                    <a:p>
                      <a:pPr>
                        <a:lnSpc>
                          <a:spcPct val="100000"/>
                        </a:lnSpc>
                      </a:pPr>
                      <a:endParaRPr sz="300">
                        <a:latin typeface="Times New Roman"/>
                        <a:cs typeface="Times New Roman"/>
                      </a:endParaRPr>
                    </a:p>
                  </a:txBody>
                  <a:tcPr marL="0" marR="0" marT="0" marB="0">
                    <a:lnR w="9525">
                      <a:solidFill>
                        <a:srgbClr val="AC2B25"/>
                      </a:solidFill>
                      <a:prstDash val="solid"/>
                    </a:lnR>
                  </a:tcPr>
                </a:tc>
                <a:tc>
                  <a:txBody>
                    <a:bodyPr/>
                    <a:lstStyle/>
                    <a:p>
                      <a:pPr>
                        <a:lnSpc>
                          <a:spcPct val="100000"/>
                        </a:lnSpc>
                      </a:pPr>
                      <a:endParaRPr sz="300">
                        <a:latin typeface="Times New Roman"/>
                        <a:cs typeface="Times New Roman"/>
                      </a:endParaRPr>
                    </a:p>
                  </a:txBody>
                  <a:tcPr marL="0" marR="0" marT="0" marB="0">
                    <a:lnL w="9525">
                      <a:solidFill>
                        <a:srgbClr val="AC2B25"/>
                      </a:solidFill>
                      <a:prstDash val="solid"/>
                    </a:lnL>
                    <a:lnT w="9525">
                      <a:solidFill>
                        <a:srgbClr val="AC2B25"/>
                      </a:solidFill>
                      <a:prstDash val="solid"/>
                    </a:lnT>
                  </a:tcPr>
                </a:tc>
                <a:tc rowSpan="2">
                  <a:txBody>
                    <a:bodyPr/>
                    <a:lstStyle/>
                    <a:p>
                      <a:pPr>
                        <a:lnSpc>
                          <a:spcPct val="100000"/>
                        </a:lnSpc>
                      </a:pPr>
                      <a:endParaRPr sz="1500">
                        <a:latin typeface="Times New Roman"/>
                        <a:cs typeface="Times New Roman"/>
                      </a:endParaRPr>
                    </a:p>
                  </a:txBody>
                  <a:tcPr marL="0" marR="0" marT="0" marB="0">
                    <a:lnR w="9525">
                      <a:solidFill>
                        <a:srgbClr val="AC2B25"/>
                      </a:solidFill>
                      <a:prstDash val="solid"/>
                    </a:lnR>
                    <a:lnT w="9525">
                      <a:solidFill>
                        <a:srgbClr val="AC2B25"/>
                      </a:solidFill>
                      <a:prstDash val="solid"/>
                    </a:lnT>
                  </a:tcPr>
                </a:tc>
                <a:extLst>
                  <a:ext uri="{0D108BD9-81ED-4DB2-BD59-A6C34878D82A}">
                    <a16:rowId xmlns:a16="http://schemas.microsoft.com/office/drawing/2014/main" val="10000"/>
                  </a:ext>
                </a:extLst>
              </a:tr>
              <a:tr h="301751">
                <a:tc>
                  <a:txBody>
                    <a:bodyPr/>
                    <a:lstStyle/>
                    <a:p>
                      <a:pPr>
                        <a:lnSpc>
                          <a:spcPct val="100000"/>
                        </a:lnSpc>
                      </a:pPr>
                      <a:endParaRPr sz="1500">
                        <a:latin typeface="Times New Roman"/>
                        <a:cs typeface="Times New Roman"/>
                      </a:endParaRPr>
                    </a:p>
                  </a:txBody>
                  <a:tcPr marL="0" marR="0" marT="0" marB="0">
                    <a:solidFill>
                      <a:srgbClr val="AC2B25"/>
                    </a:solidFill>
                  </a:tcPr>
                </a:tc>
                <a:tc>
                  <a:txBody>
                    <a:bodyPr/>
                    <a:lstStyle/>
                    <a:p>
                      <a:pPr marL="75565">
                        <a:lnSpc>
                          <a:spcPct val="100000"/>
                        </a:lnSpc>
                        <a:spcBef>
                          <a:spcPts val="240"/>
                        </a:spcBef>
                      </a:pPr>
                      <a:r>
                        <a:rPr sz="1400" spc="-25" dirty="0">
                          <a:solidFill>
                            <a:srgbClr val="FFFFFF"/>
                          </a:solidFill>
                          <a:latin typeface="宋体"/>
                          <a:cs typeface="宋体"/>
                        </a:rPr>
                        <a:t>注意事项</a:t>
                      </a:r>
                      <a:endParaRPr sz="1400">
                        <a:latin typeface="宋体"/>
                        <a:cs typeface="宋体"/>
                      </a:endParaRPr>
                    </a:p>
                  </a:txBody>
                  <a:tcPr marL="0" marR="0" marT="30480" marB="0">
                    <a:solidFill>
                      <a:srgbClr val="AC2B25"/>
                    </a:solidFill>
                  </a:tcPr>
                </a:tc>
                <a:tc vMerge="1">
                  <a:txBody>
                    <a:bodyPr/>
                    <a:lstStyle/>
                    <a:p>
                      <a:endParaRPr/>
                    </a:p>
                  </a:txBody>
                  <a:tcPr marL="0" marR="0" marT="0" marB="0">
                    <a:lnR w="9525">
                      <a:solidFill>
                        <a:srgbClr val="AC2B25"/>
                      </a:solidFill>
                      <a:prstDash val="solid"/>
                    </a:lnR>
                    <a:lnT w="9525">
                      <a:solidFill>
                        <a:srgbClr val="AC2B25"/>
                      </a:solidFill>
                      <a:prstDash val="solid"/>
                    </a:lnT>
                  </a:tcPr>
                </a:tc>
                <a:extLst>
                  <a:ext uri="{0D108BD9-81ED-4DB2-BD59-A6C34878D82A}">
                    <a16:rowId xmlns:a16="http://schemas.microsoft.com/office/drawing/2014/main" val="10001"/>
                  </a:ext>
                </a:extLst>
              </a:tr>
              <a:tr h="1231392">
                <a:tc>
                  <a:txBody>
                    <a:bodyPr/>
                    <a:lstStyle/>
                    <a:p>
                      <a:pPr>
                        <a:lnSpc>
                          <a:spcPct val="100000"/>
                        </a:lnSpc>
                      </a:pPr>
                      <a:endParaRPr sz="1500">
                        <a:latin typeface="Times New Roman"/>
                        <a:cs typeface="Times New Roman"/>
                      </a:endParaRPr>
                    </a:p>
                  </a:txBody>
                  <a:tcPr marL="0" marR="0" marT="0" marB="0">
                    <a:lnR w="9525">
                      <a:solidFill>
                        <a:srgbClr val="AC2B25"/>
                      </a:solidFill>
                      <a:prstDash val="solid"/>
                    </a:lnR>
                  </a:tcPr>
                </a:tc>
                <a:tc gridSpan="2">
                  <a:txBody>
                    <a:bodyPr/>
                    <a:lstStyle/>
                    <a:p>
                      <a:pPr>
                        <a:lnSpc>
                          <a:spcPct val="100000"/>
                        </a:lnSpc>
                        <a:spcBef>
                          <a:spcPts val="40"/>
                        </a:spcBef>
                      </a:pPr>
                      <a:endParaRPr sz="1750" dirty="0">
                        <a:latin typeface="Times New Roman"/>
                        <a:cs typeface="Times New Roman"/>
                      </a:endParaRPr>
                    </a:p>
                    <a:p>
                      <a:pPr marL="376555" indent="-201295">
                        <a:lnSpc>
                          <a:spcPct val="100000"/>
                        </a:lnSpc>
                        <a:buAutoNum type="arabicPeriod"/>
                        <a:tabLst>
                          <a:tab pos="377190" algn="l"/>
                        </a:tabLst>
                      </a:pPr>
                      <a:r>
                        <a:rPr sz="1400" spc="5" dirty="0">
                          <a:solidFill>
                            <a:srgbClr val="AC2B25"/>
                          </a:solidFill>
                          <a:latin typeface="宋体"/>
                          <a:cs typeface="宋体"/>
                        </a:rPr>
                        <a:t>switch</a:t>
                      </a:r>
                      <a:r>
                        <a:rPr sz="1400" spc="-330" dirty="0">
                          <a:solidFill>
                            <a:srgbClr val="AC2B25"/>
                          </a:solidFill>
                          <a:latin typeface="宋体"/>
                          <a:cs typeface="宋体"/>
                        </a:rPr>
                        <a:t> </a:t>
                      </a:r>
                      <a:r>
                        <a:rPr sz="1400" spc="60" dirty="0">
                          <a:solidFill>
                            <a:srgbClr val="AC2B25"/>
                          </a:solidFill>
                          <a:latin typeface="宋体"/>
                          <a:cs typeface="宋体"/>
                        </a:rPr>
                        <a:t>case</a:t>
                      </a:r>
                      <a:r>
                        <a:rPr sz="1400" spc="-25" dirty="0">
                          <a:solidFill>
                            <a:srgbClr val="AC2B25"/>
                          </a:solidFill>
                          <a:latin typeface="宋体"/>
                          <a:cs typeface="宋体"/>
                        </a:rPr>
                        <a:t>语句一般用于等值</a:t>
                      </a:r>
                      <a:r>
                        <a:rPr sz="1400" spc="-35" dirty="0">
                          <a:solidFill>
                            <a:srgbClr val="AC2B25"/>
                          </a:solidFill>
                          <a:latin typeface="宋体"/>
                          <a:cs typeface="宋体"/>
                        </a:rPr>
                        <a:t>判</a:t>
                      </a:r>
                      <a:r>
                        <a:rPr sz="1400" spc="-20" dirty="0">
                          <a:solidFill>
                            <a:srgbClr val="AC2B25"/>
                          </a:solidFill>
                          <a:latin typeface="宋体"/>
                          <a:cs typeface="宋体"/>
                        </a:rPr>
                        <a:t>断</a:t>
                      </a:r>
                      <a:r>
                        <a:rPr sz="1400" spc="-285" dirty="0">
                          <a:solidFill>
                            <a:srgbClr val="AC2B25"/>
                          </a:solidFill>
                          <a:latin typeface="宋体"/>
                          <a:cs typeface="宋体"/>
                        </a:rPr>
                        <a:t>,</a:t>
                      </a:r>
                      <a:r>
                        <a:rPr sz="1400" spc="-20" dirty="0">
                          <a:solidFill>
                            <a:srgbClr val="AC2B25"/>
                          </a:solidFill>
                          <a:latin typeface="宋体"/>
                          <a:cs typeface="宋体"/>
                        </a:rPr>
                        <a:t>不</a:t>
                      </a:r>
                      <a:r>
                        <a:rPr sz="1400" spc="-40" dirty="0">
                          <a:solidFill>
                            <a:srgbClr val="AC2B25"/>
                          </a:solidFill>
                          <a:latin typeface="宋体"/>
                          <a:cs typeface="宋体"/>
                        </a:rPr>
                        <a:t>适</a:t>
                      </a:r>
                      <a:r>
                        <a:rPr sz="1400" spc="-20" dirty="0">
                          <a:solidFill>
                            <a:srgbClr val="AC2B25"/>
                          </a:solidFill>
                          <a:latin typeface="宋体"/>
                          <a:cs typeface="宋体"/>
                        </a:rPr>
                        <a:t>合</a:t>
                      </a:r>
                      <a:r>
                        <a:rPr sz="1400" spc="-40" dirty="0">
                          <a:solidFill>
                            <a:srgbClr val="AC2B25"/>
                          </a:solidFill>
                          <a:latin typeface="宋体"/>
                          <a:cs typeface="宋体"/>
                        </a:rPr>
                        <a:t>于</a:t>
                      </a:r>
                      <a:r>
                        <a:rPr sz="1400" spc="-20" dirty="0">
                          <a:solidFill>
                            <a:srgbClr val="AC2B25"/>
                          </a:solidFill>
                          <a:latin typeface="宋体"/>
                          <a:cs typeface="宋体"/>
                        </a:rPr>
                        <a:t>区间</a:t>
                      </a:r>
                      <a:r>
                        <a:rPr sz="1400" spc="-40" dirty="0">
                          <a:solidFill>
                            <a:srgbClr val="AC2B25"/>
                          </a:solidFill>
                          <a:latin typeface="宋体"/>
                          <a:cs typeface="宋体"/>
                        </a:rPr>
                        <a:t>判</a:t>
                      </a:r>
                      <a:r>
                        <a:rPr sz="1400" spc="-20" dirty="0">
                          <a:solidFill>
                            <a:srgbClr val="AC2B25"/>
                          </a:solidFill>
                          <a:latin typeface="宋体"/>
                          <a:cs typeface="宋体"/>
                        </a:rPr>
                        <a:t>断</a:t>
                      </a:r>
                      <a:endParaRPr sz="1400" dirty="0">
                        <a:latin typeface="宋体"/>
                        <a:cs typeface="宋体"/>
                      </a:endParaRPr>
                    </a:p>
                    <a:p>
                      <a:pPr marL="376555" indent="-201295">
                        <a:lnSpc>
                          <a:spcPct val="100000"/>
                        </a:lnSpc>
                        <a:spcBef>
                          <a:spcPts val="840"/>
                        </a:spcBef>
                        <a:buAutoNum type="arabicPeriod"/>
                        <a:tabLst>
                          <a:tab pos="377190" algn="l"/>
                        </a:tabLst>
                      </a:pPr>
                      <a:r>
                        <a:rPr sz="1400" spc="5" dirty="0">
                          <a:solidFill>
                            <a:srgbClr val="AC2B25"/>
                          </a:solidFill>
                          <a:latin typeface="宋体"/>
                          <a:cs typeface="宋体"/>
                        </a:rPr>
                        <a:t>switch</a:t>
                      </a:r>
                      <a:r>
                        <a:rPr sz="1400" spc="-330" dirty="0">
                          <a:solidFill>
                            <a:srgbClr val="AC2B25"/>
                          </a:solidFill>
                          <a:latin typeface="宋体"/>
                          <a:cs typeface="宋体"/>
                        </a:rPr>
                        <a:t> </a:t>
                      </a:r>
                      <a:r>
                        <a:rPr sz="1400" spc="60" dirty="0" err="1">
                          <a:solidFill>
                            <a:srgbClr val="AC2B25"/>
                          </a:solidFill>
                          <a:latin typeface="宋体"/>
                          <a:cs typeface="宋体"/>
                        </a:rPr>
                        <a:t>case</a:t>
                      </a:r>
                      <a:r>
                        <a:rPr sz="1400" spc="-25" dirty="0" err="1">
                          <a:solidFill>
                            <a:srgbClr val="AC2B25"/>
                          </a:solidFill>
                          <a:latin typeface="宋体"/>
                          <a:cs typeface="宋体"/>
                        </a:rPr>
                        <a:t>一般需要配</a:t>
                      </a:r>
                      <a:r>
                        <a:rPr sz="1400" spc="-20" dirty="0" err="1">
                          <a:solidFill>
                            <a:srgbClr val="AC2B25"/>
                          </a:solidFill>
                          <a:latin typeface="宋体"/>
                          <a:cs typeface="宋体"/>
                        </a:rPr>
                        <a:t>合</a:t>
                      </a:r>
                      <a:r>
                        <a:rPr sz="1400" spc="60" dirty="0" err="1">
                          <a:solidFill>
                            <a:srgbClr val="AC2B25"/>
                          </a:solidFill>
                          <a:latin typeface="宋体"/>
                          <a:cs typeface="宋体"/>
                        </a:rPr>
                        <a:t>break</a:t>
                      </a:r>
                      <a:r>
                        <a:rPr sz="1400" spc="-20" dirty="0" err="1" smtClean="0">
                          <a:solidFill>
                            <a:srgbClr val="AC2B25"/>
                          </a:solidFill>
                          <a:latin typeface="宋体"/>
                          <a:cs typeface="宋体"/>
                        </a:rPr>
                        <a:t>关</a:t>
                      </a:r>
                      <a:r>
                        <a:rPr sz="1400" spc="-40" dirty="0" err="1" smtClean="0">
                          <a:solidFill>
                            <a:srgbClr val="AC2B25"/>
                          </a:solidFill>
                          <a:latin typeface="宋体"/>
                          <a:cs typeface="宋体"/>
                        </a:rPr>
                        <a:t>键</a:t>
                      </a:r>
                      <a:r>
                        <a:rPr sz="1400" spc="-20" dirty="0" err="1" smtClean="0">
                          <a:solidFill>
                            <a:srgbClr val="AC2B25"/>
                          </a:solidFill>
                          <a:latin typeface="宋体"/>
                          <a:cs typeface="宋体"/>
                        </a:rPr>
                        <a:t>字</a:t>
                      </a:r>
                      <a:r>
                        <a:rPr sz="1400" spc="-40" dirty="0" err="1" smtClean="0">
                          <a:solidFill>
                            <a:srgbClr val="AC2B25"/>
                          </a:solidFill>
                          <a:latin typeface="宋体"/>
                          <a:cs typeface="宋体"/>
                        </a:rPr>
                        <a:t>使</a:t>
                      </a:r>
                      <a:r>
                        <a:rPr sz="1400" spc="-20" dirty="0" err="1" smtClean="0">
                          <a:solidFill>
                            <a:srgbClr val="AC2B25"/>
                          </a:solidFill>
                          <a:latin typeface="宋体"/>
                          <a:cs typeface="宋体"/>
                        </a:rPr>
                        <a:t>用</a:t>
                      </a:r>
                      <a:r>
                        <a:rPr lang="zh-CN" altLang="en-US" sz="1400" spc="-385" dirty="0" smtClean="0">
                          <a:solidFill>
                            <a:srgbClr val="AC2B25"/>
                          </a:solidFill>
                          <a:latin typeface="宋体"/>
                          <a:cs typeface="宋体"/>
                        </a:rPr>
                        <a:t>，</a:t>
                      </a:r>
                      <a:r>
                        <a:rPr sz="1400" spc="-25" dirty="0" err="1" smtClean="0">
                          <a:solidFill>
                            <a:srgbClr val="AC2B25"/>
                          </a:solidFill>
                          <a:latin typeface="宋体"/>
                          <a:cs typeface="宋体"/>
                        </a:rPr>
                        <a:t>没有</a:t>
                      </a:r>
                      <a:r>
                        <a:rPr sz="1400" spc="60" dirty="0" err="1">
                          <a:solidFill>
                            <a:srgbClr val="AC2B25"/>
                          </a:solidFill>
                          <a:latin typeface="宋体"/>
                          <a:cs typeface="宋体"/>
                        </a:rPr>
                        <a:t>break</a:t>
                      </a:r>
                      <a:r>
                        <a:rPr sz="1400" spc="-20" dirty="0" err="1">
                          <a:solidFill>
                            <a:srgbClr val="AC2B25"/>
                          </a:solidFill>
                          <a:latin typeface="宋体"/>
                          <a:cs typeface="宋体"/>
                        </a:rPr>
                        <a:t>会造</a:t>
                      </a:r>
                      <a:r>
                        <a:rPr sz="1400" spc="-25" dirty="0" err="1">
                          <a:solidFill>
                            <a:srgbClr val="AC2B25"/>
                          </a:solidFill>
                          <a:latin typeface="宋体"/>
                          <a:cs typeface="宋体"/>
                        </a:rPr>
                        <a:t>成</a:t>
                      </a:r>
                      <a:r>
                        <a:rPr sz="1400" spc="60" dirty="0" err="1">
                          <a:solidFill>
                            <a:srgbClr val="AC2B25"/>
                          </a:solidFill>
                          <a:latin typeface="宋体"/>
                          <a:cs typeface="宋体"/>
                        </a:rPr>
                        <a:t>case</a:t>
                      </a:r>
                      <a:r>
                        <a:rPr sz="1400" spc="-25" dirty="0" err="1" smtClean="0">
                          <a:solidFill>
                            <a:srgbClr val="AC2B25"/>
                          </a:solidFill>
                          <a:latin typeface="宋体"/>
                          <a:cs typeface="宋体"/>
                        </a:rPr>
                        <a:t>穿透</a:t>
                      </a:r>
                      <a:endParaRPr lang="en-US" sz="1400" spc="-25" dirty="0" smtClean="0">
                        <a:solidFill>
                          <a:srgbClr val="AC2B25"/>
                        </a:solidFill>
                        <a:latin typeface="宋体"/>
                        <a:cs typeface="宋体"/>
                      </a:endParaRPr>
                    </a:p>
                    <a:p>
                      <a:pPr marL="376555" indent="-201295">
                        <a:lnSpc>
                          <a:spcPct val="100000"/>
                        </a:lnSpc>
                        <a:spcBef>
                          <a:spcPts val="840"/>
                        </a:spcBef>
                        <a:buAutoNum type="arabicPeriod"/>
                        <a:tabLst>
                          <a:tab pos="377190" algn="l"/>
                        </a:tabLst>
                      </a:pPr>
                      <a:r>
                        <a:rPr lang="zh-CN" altLang="en-US" sz="1400" spc="-25" dirty="0" smtClean="0">
                          <a:solidFill>
                            <a:srgbClr val="AC2B25"/>
                          </a:solidFill>
                          <a:latin typeface="宋体"/>
                          <a:cs typeface="宋体"/>
                        </a:rPr>
                        <a:t>当出现</a:t>
                      </a:r>
                      <a:r>
                        <a:rPr lang="en-US" altLang="zh-CN" sz="1400" spc="-25" dirty="0" smtClean="0">
                          <a:solidFill>
                            <a:srgbClr val="AC2B25"/>
                          </a:solidFill>
                          <a:latin typeface="宋体"/>
                          <a:cs typeface="宋体"/>
                        </a:rPr>
                        <a:t>case</a:t>
                      </a:r>
                      <a:r>
                        <a:rPr lang="zh-CN" altLang="en-US" sz="1400" spc="-25" dirty="0" smtClean="0">
                          <a:solidFill>
                            <a:srgbClr val="AC2B25"/>
                          </a:solidFill>
                          <a:latin typeface="宋体"/>
                          <a:cs typeface="宋体"/>
                        </a:rPr>
                        <a:t>穿透后，只有当执行第一个</a:t>
                      </a:r>
                      <a:r>
                        <a:rPr lang="en-US" altLang="zh-CN" sz="1400" spc="-25" dirty="0" smtClean="0">
                          <a:solidFill>
                            <a:srgbClr val="AC2B25"/>
                          </a:solidFill>
                          <a:latin typeface="宋体"/>
                          <a:cs typeface="宋体"/>
                        </a:rPr>
                        <a:t>break</a:t>
                      </a:r>
                      <a:r>
                        <a:rPr lang="zh-CN" altLang="en-US" sz="1400" spc="-25" dirty="0" smtClean="0">
                          <a:solidFill>
                            <a:srgbClr val="AC2B25"/>
                          </a:solidFill>
                          <a:latin typeface="宋体"/>
                          <a:cs typeface="宋体"/>
                        </a:rPr>
                        <a:t>语句时，才会退出</a:t>
                      </a:r>
                      <a:r>
                        <a:rPr lang="en-US" altLang="zh-CN" sz="1400" spc="-25" dirty="0" smtClean="0">
                          <a:solidFill>
                            <a:srgbClr val="AC2B25"/>
                          </a:solidFill>
                          <a:latin typeface="宋体"/>
                          <a:cs typeface="宋体"/>
                        </a:rPr>
                        <a:t>switch</a:t>
                      </a:r>
                      <a:r>
                        <a:rPr lang="zh-CN" altLang="en-US" sz="1400" spc="-25" dirty="0" smtClean="0">
                          <a:solidFill>
                            <a:srgbClr val="AC2B25"/>
                          </a:solidFill>
                          <a:latin typeface="宋体"/>
                          <a:cs typeface="宋体"/>
                        </a:rPr>
                        <a:t>语句。</a:t>
                      </a:r>
                      <a:endParaRPr sz="1400" dirty="0">
                        <a:latin typeface="宋体"/>
                        <a:cs typeface="宋体"/>
                      </a:endParaRPr>
                    </a:p>
                  </a:txBody>
                  <a:tcPr marL="0" marR="0" marT="5080" marB="0">
                    <a:lnL w="9525">
                      <a:solidFill>
                        <a:srgbClr val="AC2B25"/>
                      </a:solidFill>
                      <a:prstDash val="solid"/>
                    </a:lnL>
                    <a:lnR w="9525">
                      <a:solidFill>
                        <a:srgbClr val="AC2B25"/>
                      </a:solidFill>
                      <a:prstDash val="solid"/>
                    </a:lnR>
                    <a:lnB w="9525">
                      <a:solidFill>
                        <a:srgbClr val="AC2B25"/>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12"/>
          </p:nvPr>
        </p:nvSpPr>
        <p:spPr/>
        <p:txBody>
          <a:bodyPr/>
          <a:lstStyle/>
          <a:p>
            <a:fld id="{B6F15528-21DE-4FAA-801E-634DDDAF4B2B}" type="slidenum">
              <a:rPr lang="en-US" altLang="zh-CN" smtClean="0"/>
              <a:pPr/>
              <a:t>12</a:t>
            </a:fld>
            <a:endParaRPr lang="zh-CN" altLang="en-US"/>
          </a:p>
        </p:txBody>
      </p:sp>
      <p:sp>
        <p:nvSpPr>
          <p:cNvPr id="3" name="内容占位符 2"/>
          <p:cNvSpPr>
            <a:spLocks noGrp="1"/>
          </p:cNvSpPr>
          <p:nvPr>
            <p:ph idx="1"/>
          </p:nvPr>
        </p:nvSpPr>
        <p:spPr>
          <a:xfrm>
            <a:off x="838200" y="1447800"/>
            <a:ext cx="10515600" cy="4351337"/>
          </a:xfrm>
        </p:spPr>
        <p:txBody>
          <a:bodyPr>
            <a:normAutofit/>
          </a:bodyPr>
          <a:lstStyle/>
          <a:p>
            <a:r>
              <a:rPr lang="en-US" altLang="zh-CN" sz="2400" dirty="0"/>
              <a:t>if...else </a:t>
            </a:r>
            <a:r>
              <a:rPr lang="zh-CN" altLang="en-US" sz="2400" dirty="0"/>
              <a:t>语句能够很好地实现条件代码，但是它们不是没有缺点。它们主要适用于只有几个选择的情况，每个都需要相当数量的代码来运行</a:t>
            </a:r>
            <a:r>
              <a:rPr lang="zh-CN" altLang="en-US" sz="2400" dirty="0" smtClean="0"/>
              <a:t>，或</a:t>
            </a:r>
            <a:r>
              <a:rPr lang="zh-CN" altLang="en-US" sz="2400" dirty="0"/>
              <a:t>条件很复杂的情况（例如多个逻辑运算符）。对于只想将变量设置一系列为特定值的选项或根据条件打印特定语句的情况，语法可能会很麻烦，特别是如果有大量选择的时候。</a:t>
            </a:r>
          </a:p>
        </p:txBody>
      </p:sp>
      <p:sp>
        <p:nvSpPr>
          <p:cNvPr id="4" name="标题 3"/>
          <p:cNvSpPr>
            <a:spLocks noGrp="1"/>
          </p:cNvSpPr>
          <p:nvPr>
            <p:ph type="title"/>
          </p:nvPr>
        </p:nvSpPr>
        <p:spPr/>
        <p:txBody>
          <a:bodyPr/>
          <a:lstStyle/>
          <a:p>
            <a:r>
              <a:rPr lang="en-US" altLang="zh-CN" dirty="0" smtClean="0"/>
              <a:t>switch</a:t>
            </a:r>
            <a:r>
              <a:rPr lang="zh-CN" altLang="en-US" dirty="0" smtClean="0"/>
              <a:t>语句</a:t>
            </a:r>
            <a:endParaRPr lang="zh-CN" altLang="en-US" dirty="0"/>
          </a:p>
        </p:txBody>
      </p:sp>
      <p:pic>
        <p:nvPicPr>
          <p:cNvPr id="5" name="图片 4"/>
          <p:cNvPicPr>
            <a:picLocks noChangeAspect="1"/>
          </p:cNvPicPr>
          <p:nvPr/>
        </p:nvPicPr>
        <p:blipFill>
          <a:blip r:embed="rId2"/>
          <a:stretch>
            <a:fillRect/>
          </a:stretch>
        </p:blipFill>
        <p:spPr>
          <a:xfrm>
            <a:off x="1431161" y="3299950"/>
            <a:ext cx="2933700" cy="3409950"/>
          </a:xfrm>
          <a:prstGeom prst="rect">
            <a:avLst/>
          </a:prstGeom>
        </p:spPr>
      </p:pic>
    </p:spTree>
    <p:extLst>
      <p:ext uri="{BB962C8B-B14F-4D97-AF65-F5344CB8AC3E}">
        <p14:creationId xmlns:p14="http://schemas.microsoft.com/office/powerpoint/2010/main" val="370588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13</a:t>
            </a:fld>
            <a:endParaRPr lang="zh-CN" altLang="en-US"/>
          </a:p>
        </p:txBody>
      </p:sp>
      <p:sp>
        <p:nvSpPr>
          <p:cNvPr id="4" name="标题 3"/>
          <p:cNvSpPr>
            <a:spLocks noGrp="1"/>
          </p:cNvSpPr>
          <p:nvPr>
            <p:ph type="title"/>
          </p:nvPr>
        </p:nvSpPr>
        <p:spPr/>
        <p:txBody>
          <a:bodyPr/>
          <a:lstStyle/>
          <a:p>
            <a:r>
              <a:rPr lang="en-US" altLang="zh-CN" dirty="0" smtClean="0"/>
              <a:t>switch</a:t>
            </a:r>
            <a:r>
              <a:rPr lang="zh-CN" altLang="en-US" dirty="0" smtClean="0"/>
              <a:t>语句</a:t>
            </a:r>
            <a:endParaRPr lang="zh-CN" altLang="en-US" dirty="0"/>
          </a:p>
        </p:txBody>
      </p:sp>
      <p:pic>
        <p:nvPicPr>
          <p:cNvPr id="7" name="图片 6"/>
          <p:cNvPicPr>
            <a:picLocks noChangeAspect="1"/>
          </p:cNvPicPr>
          <p:nvPr/>
        </p:nvPicPr>
        <p:blipFill>
          <a:blip r:embed="rId2"/>
          <a:stretch>
            <a:fillRect/>
          </a:stretch>
        </p:blipFill>
        <p:spPr>
          <a:xfrm>
            <a:off x="838200" y="1295401"/>
            <a:ext cx="8221965" cy="5562600"/>
          </a:xfrm>
          <a:prstGeom prst="rect">
            <a:avLst/>
          </a:prstGeom>
        </p:spPr>
      </p:pic>
    </p:spTree>
    <p:extLst>
      <p:ext uri="{BB962C8B-B14F-4D97-AF65-F5344CB8AC3E}">
        <p14:creationId xmlns:p14="http://schemas.microsoft.com/office/powerpoint/2010/main" val="17321831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66800" y="1671637"/>
            <a:ext cx="4953000" cy="4905375"/>
          </a:xfrm>
          <a:prstGeom prst="rect">
            <a:avLst/>
          </a:prstGeom>
        </p:spPr>
      </p:pic>
      <p:sp>
        <p:nvSpPr>
          <p:cNvPr id="5" name="灯片编号占位符 4"/>
          <p:cNvSpPr>
            <a:spLocks noGrp="1"/>
          </p:cNvSpPr>
          <p:nvPr>
            <p:ph type="sldNum" sz="quarter" idx="12"/>
          </p:nvPr>
        </p:nvSpPr>
        <p:spPr/>
        <p:txBody>
          <a:bodyPr/>
          <a:lstStyle/>
          <a:p>
            <a:fld id="{B6F15528-21DE-4FAA-801E-634DDDAF4B2B}" type="slidenum">
              <a:rPr lang="en-US" altLang="zh-CN" smtClean="0"/>
              <a:pPr/>
              <a:t>14</a:t>
            </a:fld>
            <a:endParaRPr lang="zh-CN" altLang="en-US"/>
          </a:p>
        </p:txBody>
      </p:sp>
      <p:sp>
        <p:nvSpPr>
          <p:cNvPr id="2" name="标题 1"/>
          <p:cNvSpPr>
            <a:spLocks noGrp="1"/>
          </p:cNvSpPr>
          <p:nvPr>
            <p:ph type="title"/>
          </p:nvPr>
        </p:nvSpPr>
        <p:spPr/>
        <p:txBody>
          <a:bodyPr/>
          <a:lstStyle/>
          <a:p>
            <a:r>
              <a:rPr lang="en-US" altLang="zh-CN" dirty="0"/>
              <a:t>switch</a:t>
            </a:r>
            <a:r>
              <a:rPr lang="zh-CN" altLang="en-US" dirty="0"/>
              <a:t>语句</a:t>
            </a:r>
          </a:p>
        </p:txBody>
      </p:sp>
      <p:pic>
        <p:nvPicPr>
          <p:cNvPr id="6" name="图片 5"/>
          <p:cNvPicPr>
            <a:picLocks noChangeAspect="1"/>
          </p:cNvPicPr>
          <p:nvPr/>
        </p:nvPicPr>
        <p:blipFill>
          <a:blip r:embed="rId3"/>
          <a:stretch>
            <a:fillRect/>
          </a:stretch>
        </p:blipFill>
        <p:spPr>
          <a:xfrm>
            <a:off x="6553200" y="1811337"/>
            <a:ext cx="5391150" cy="4333875"/>
          </a:xfrm>
          <a:prstGeom prst="rect">
            <a:avLst/>
          </a:prstGeom>
        </p:spPr>
      </p:pic>
    </p:spTree>
    <p:extLst>
      <p:ext uri="{BB962C8B-B14F-4D97-AF65-F5344CB8AC3E}">
        <p14:creationId xmlns:p14="http://schemas.microsoft.com/office/powerpoint/2010/main" val="36357571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99744" y="1086611"/>
            <a:ext cx="1001394" cy="376555"/>
          </a:xfrm>
          <a:custGeom>
            <a:avLst/>
            <a:gdLst/>
            <a:ahLst/>
            <a:cxnLst/>
            <a:rect l="l" t="t" r="r" b="b"/>
            <a:pathLst>
              <a:path w="1001394" h="376555">
                <a:moveTo>
                  <a:pt x="0" y="376427"/>
                </a:moveTo>
                <a:lnTo>
                  <a:pt x="1001268" y="376427"/>
                </a:lnTo>
                <a:lnTo>
                  <a:pt x="1001268" y="0"/>
                </a:lnTo>
                <a:lnTo>
                  <a:pt x="0" y="0"/>
                </a:lnTo>
                <a:lnTo>
                  <a:pt x="0" y="376427"/>
                </a:lnTo>
                <a:close/>
              </a:path>
            </a:pathLst>
          </a:custGeom>
          <a:ln w="12192">
            <a:solidFill>
              <a:srgbClr val="AC2B2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p:nvPr/>
        </p:nvSpPr>
        <p:spPr>
          <a:xfrm>
            <a:off x="806195" y="1036319"/>
            <a:ext cx="398145" cy="462280"/>
          </a:xfrm>
          <a:custGeom>
            <a:avLst/>
            <a:gdLst/>
            <a:ahLst/>
            <a:cxnLst/>
            <a:rect l="l" t="t" r="r" b="b"/>
            <a:pathLst>
              <a:path w="398144" h="462280">
                <a:moveTo>
                  <a:pt x="198882" y="0"/>
                </a:moveTo>
                <a:lnTo>
                  <a:pt x="0" y="99440"/>
                </a:lnTo>
                <a:lnTo>
                  <a:pt x="0" y="362330"/>
                </a:lnTo>
                <a:lnTo>
                  <a:pt x="198882" y="461771"/>
                </a:lnTo>
                <a:lnTo>
                  <a:pt x="397764" y="362330"/>
                </a:lnTo>
                <a:lnTo>
                  <a:pt x="397764" y="99440"/>
                </a:lnTo>
                <a:lnTo>
                  <a:pt x="198882" y="0"/>
                </a:lnTo>
                <a:close/>
              </a:path>
            </a:pathLst>
          </a:custGeom>
          <a:solidFill>
            <a:srgbClr val="AC2B2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899160" y="1159763"/>
            <a:ext cx="202691" cy="20116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1338452" y="1090676"/>
            <a:ext cx="525780" cy="33083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buClrTx/>
              <a:buSzTx/>
              <a:buFontTx/>
              <a:buNone/>
              <a:tabLst/>
              <a:defRPr/>
            </a:pPr>
            <a:r>
              <a:rPr kumimoji="0" sz="2000" b="0" i="0" u="none" strike="noStrike" kern="1200" cap="none" spc="-35" normalizeH="0" baseline="0" noProof="0" dirty="0">
                <a:ln>
                  <a:noFill/>
                </a:ln>
                <a:solidFill>
                  <a:srgbClr val="AC2B25"/>
                </a:solidFill>
                <a:effectLst/>
                <a:uLnTx/>
                <a:uFillTx/>
                <a:latin typeface="宋体"/>
                <a:ea typeface="+mn-ea"/>
                <a:cs typeface="宋体"/>
              </a:rPr>
              <a:t>案例</a:t>
            </a:r>
            <a:endParaRPr kumimoji="0" sz="2000" b="0" i="0" u="none" strike="noStrike" kern="1200" cap="none" spc="0" normalizeH="0" baseline="0" noProof="0">
              <a:ln>
                <a:noFill/>
              </a:ln>
              <a:solidFill>
                <a:prstClr val="black"/>
              </a:solidFill>
              <a:effectLst/>
              <a:uLnTx/>
              <a:uFillTx/>
              <a:latin typeface="宋体"/>
              <a:ea typeface="+mn-ea"/>
              <a:cs typeface="宋体"/>
            </a:endParaRPr>
          </a:p>
        </p:txBody>
      </p:sp>
      <p:sp>
        <p:nvSpPr>
          <p:cNvPr id="7" name="object 7"/>
          <p:cNvSpPr txBox="1"/>
          <p:nvPr/>
        </p:nvSpPr>
        <p:spPr>
          <a:xfrm>
            <a:off x="2274570" y="1054684"/>
            <a:ext cx="6097270" cy="97462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2400" b="0" i="0" u="none" strike="noStrike" kern="1200" cap="none" spc="-40" normalizeH="0" baseline="0" noProof="0" dirty="0">
                <a:ln>
                  <a:noFill/>
                </a:ln>
                <a:solidFill>
                  <a:srgbClr val="AC2B25"/>
                </a:solidFill>
                <a:effectLst/>
                <a:uLnTx/>
                <a:uFillTx/>
                <a:latin typeface="宋体"/>
                <a:ea typeface="+mn-ea"/>
                <a:cs typeface="宋体"/>
              </a:rPr>
              <a:t>简单计算器</a:t>
            </a:r>
            <a:endParaRPr kumimoji="0" sz="2400" b="0" i="0" u="none" strike="noStrike" kern="1200" cap="none" spc="0" normalizeH="0" baseline="0" noProof="0">
              <a:ln>
                <a:noFill/>
              </a:ln>
              <a:solidFill>
                <a:prstClr val="black"/>
              </a:solidFill>
              <a:effectLst/>
              <a:uLnTx/>
              <a:uFillTx/>
              <a:latin typeface="宋体"/>
              <a:ea typeface="+mn-ea"/>
              <a:cs typeface="宋体"/>
            </a:endParaRPr>
          </a:p>
          <a:p>
            <a:pPr marL="12700" marR="0" lvl="0" indent="0" algn="l" defTabSz="914400" rtl="0" eaLnBrk="1" fontAlgn="auto" latinLnBrk="0" hangingPunct="1">
              <a:lnSpc>
                <a:spcPct val="100000"/>
              </a:lnSpc>
              <a:spcBef>
                <a:spcPts val="2680"/>
              </a:spcBef>
              <a:spcAft>
                <a:spcPts val="0"/>
              </a:spcAft>
              <a:buClrTx/>
              <a:buSzTx/>
              <a:buFontTx/>
              <a:buNone/>
              <a:tabLst/>
              <a:defRPr/>
            </a:pPr>
            <a:r>
              <a:rPr kumimoji="0" sz="1600" b="0" i="0" u="none" strike="noStrike" kern="1200" cap="none" spc="-30" normalizeH="0" baseline="0" noProof="0" dirty="0">
                <a:ln>
                  <a:noFill/>
                </a:ln>
                <a:solidFill>
                  <a:srgbClr val="252525"/>
                </a:solidFill>
                <a:effectLst/>
                <a:uLnTx/>
                <a:uFillTx/>
                <a:latin typeface="宋体"/>
                <a:ea typeface="+mn-ea"/>
                <a:cs typeface="宋体"/>
              </a:rPr>
              <a:t>需求：用户输入</a:t>
            </a:r>
            <a:r>
              <a:rPr kumimoji="0" sz="1600" b="0" i="0" u="none" strike="noStrike" kern="1200" cap="none" spc="105" normalizeH="0" baseline="0" noProof="0" dirty="0">
                <a:ln>
                  <a:noFill/>
                </a:ln>
                <a:solidFill>
                  <a:srgbClr val="252525"/>
                </a:solidFill>
                <a:effectLst/>
                <a:uLnTx/>
                <a:uFillTx/>
                <a:latin typeface="宋体"/>
                <a:ea typeface="+mn-ea"/>
                <a:cs typeface="宋体"/>
              </a:rPr>
              <a:t>2</a:t>
            </a:r>
            <a:r>
              <a:rPr kumimoji="0" sz="1600" b="0" i="0" u="none" strike="noStrike" kern="1200" cap="none" spc="-30" normalizeH="0" baseline="0" noProof="0" dirty="0">
                <a:ln>
                  <a:noFill/>
                </a:ln>
                <a:solidFill>
                  <a:srgbClr val="252525"/>
                </a:solidFill>
                <a:effectLst/>
                <a:uLnTx/>
                <a:uFillTx/>
                <a:latin typeface="宋体"/>
                <a:ea typeface="+mn-ea"/>
                <a:cs typeface="宋体"/>
              </a:rPr>
              <a:t>个数字，然后输入</a:t>
            </a:r>
            <a:r>
              <a:rPr kumimoji="0" sz="1600" b="0" i="0" u="none" strike="noStrike" kern="1200" cap="none" spc="-365" normalizeH="0" baseline="0" noProof="0" dirty="0">
                <a:ln>
                  <a:noFill/>
                </a:ln>
                <a:solidFill>
                  <a:srgbClr val="252525"/>
                </a:solidFill>
                <a:effectLst/>
                <a:uLnTx/>
                <a:uFillTx/>
                <a:latin typeface="宋体"/>
                <a:ea typeface="+mn-ea"/>
                <a:cs typeface="宋体"/>
              </a:rPr>
              <a:t> </a:t>
            </a:r>
            <a:r>
              <a:rPr kumimoji="0" sz="1600" b="0" i="0" u="none" strike="noStrike" kern="1200" cap="none" spc="80" normalizeH="0" baseline="0" noProof="0" dirty="0">
                <a:ln>
                  <a:noFill/>
                </a:ln>
                <a:solidFill>
                  <a:srgbClr val="252525"/>
                </a:solidFill>
                <a:effectLst/>
                <a:uLnTx/>
                <a:uFillTx/>
                <a:latin typeface="宋体"/>
                <a:ea typeface="+mn-ea"/>
                <a:cs typeface="宋体"/>
              </a:rPr>
              <a:t>+</a:t>
            </a:r>
            <a:r>
              <a:rPr kumimoji="0" sz="1600" b="0" i="0" u="none" strike="noStrike" kern="1200" cap="none" spc="-385" normalizeH="0" baseline="0" noProof="0" dirty="0">
                <a:ln>
                  <a:noFill/>
                </a:ln>
                <a:solidFill>
                  <a:srgbClr val="252525"/>
                </a:solidFill>
                <a:effectLst/>
                <a:uLnTx/>
                <a:uFillTx/>
                <a:latin typeface="宋体"/>
                <a:ea typeface="+mn-ea"/>
                <a:cs typeface="宋体"/>
              </a:rPr>
              <a:t> </a:t>
            </a:r>
            <a:r>
              <a:rPr kumimoji="0" sz="1600" b="0" i="0" u="none" strike="noStrike" kern="1200" cap="none" spc="-100" normalizeH="0" baseline="0" noProof="0" dirty="0">
                <a:ln>
                  <a:noFill/>
                </a:ln>
                <a:solidFill>
                  <a:srgbClr val="252525"/>
                </a:solidFill>
                <a:effectLst/>
                <a:uLnTx/>
                <a:uFillTx/>
                <a:latin typeface="宋体"/>
                <a:ea typeface="+mn-ea"/>
                <a:cs typeface="宋体"/>
              </a:rPr>
              <a:t>-</a:t>
            </a:r>
            <a:r>
              <a:rPr kumimoji="0" sz="1600" b="0" i="0" u="none" strike="noStrike" kern="1200" cap="none" spc="-409" normalizeH="0" baseline="0" noProof="0" dirty="0">
                <a:ln>
                  <a:noFill/>
                </a:ln>
                <a:solidFill>
                  <a:srgbClr val="252525"/>
                </a:solidFill>
                <a:effectLst/>
                <a:uLnTx/>
                <a:uFillTx/>
                <a:latin typeface="宋体"/>
                <a:ea typeface="+mn-ea"/>
                <a:cs typeface="宋体"/>
              </a:rPr>
              <a:t> </a:t>
            </a:r>
            <a:r>
              <a:rPr kumimoji="0" sz="1600" b="0" i="0" u="none" strike="noStrike" kern="1200" cap="none" spc="-114" normalizeH="0" baseline="0" noProof="0" dirty="0">
                <a:ln>
                  <a:noFill/>
                </a:ln>
                <a:solidFill>
                  <a:srgbClr val="252525"/>
                </a:solidFill>
                <a:effectLst/>
                <a:uLnTx/>
                <a:uFillTx/>
                <a:latin typeface="宋体"/>
                <a:ea typeface="+mn-ea"/>
                <a:cs typeface="宋体"/>
              </a:rPr>
              <a:t>*</a:t>
            </a:r>
            <a:r>
              <a:rPr kumimoji="0" sz="1600" b="0" i="0" u="none" strike="noStrike" kern="1200" cap="none" spc="5" normalizeH="0" baseline="0" noProof="0" dirty="0">
                <a:ln>
                  <a:noFill/>
                </a:ln>
                <a:solidFill>
                  <a:srgbClr val="252525"/>
                </a:solidFill>
                <a:effectLst/>
                <a:uLnTx/>
                <a:uFillTx/>
                <a:latin typeface="宋体"/>
                <a:ea typeface="+mn-ea"/>
                <a:cs typeface="宋体"/>
              </a:rPr>
              <a:t> </a:t>
            </a:r>
            <a:r>
              <a:rPr kumimoji="0" sz="1600" b="0" i="0" u="none" strike="noStrike" kern="1200" cap="none" spc="-5" normalizeH="0" baseline="0" noProof="0" dirty="0">
                <a:ln>
                  <a:noFill/>
                </a:ln>
                <a:solidFill>
                  <a:srgbClr val="252525"/>
                </a:solidFill>
                <a:effectLst/>
                <a:uLnTx/>
                <a:uFillTx/>
                <a:latin typeface="宋体"/>
                <a:ea typeface="+mn-ea"/>
                <a:cs typeface="宋体"/>
              </a:rPr>
              <a:t>/</a:t>
            </a:r>
            <a:r>
              <a:rPr kumimoji="0" sz="1600" b="0" i="0" u="none" strike="noStrike" kern="1200" cap="none" spc="10" normalizeH="0" baseline="0" noProof="0" dirty="0">
                <a:ln>
                  <a:noFill/>
                </a:ln>
                <a:solidFill>
                  <a:srgbClr val="252525"/>
                </a:solidFill>
                <a:effectLst/>
                <a:uLnTx/>
                <a:uFillTx/>
                <a:latin typeface="宋体"/>
                <a:ea typeface="+mn-ea"/>
                <a:cs typeface="宋体"/>
              </a:rPr>
              <a:t> </a:t>
            </a:r>
            <a:r>
              <a:rPr kumimoji="0" sz="1600" b="0" i="0" u="none" strike="noStrike" kern="1200" cap="none" spc="-30" normalizeH="0" baseline="0" noProof="0" dirty="0">
                <a:ln>
                  <a:noFill/>
                </a:ln>
                <a:solidFill>
                  <a:srgbClr val="252525"/>
                </a:solidFill>
                <a:effectLst/>
                <a:uLnTx/>
                <a:uFillTx/>
                <a:latin typeface="宋体"/>
                <a:ea typeface="+mn-ea"/>
                <a:cs typeface="宋体"/>
              </a:rPr>
              <a:t>任何一个，可以计算结果</a:t>
            </a:r>
            <a:endParaRPr kumimoji="0" sz="1600" b="0" i="0" u="none" strike="noStrike" kern="1200" cap="none" spc="0" normalizeH="0" baseline="0" noProof="0">
              <a:ln>
                <a:noFill/>
              </a:ln>
              <a:solidFill>
                <a:prstClr val="black"/>
              </a:solidFill>
              <a:effectLst/>
              <a:uLnTx/>
              <a:uFillTx/>
              <a:latin typeface="宋体"/>
              <a:ea typeface="+mn-ea"/>
              <a:cs typeface="宋体"/>
            </a:endParaRPr>
          </a:p>
        </p:txBody>
      </p:sp>
      <p:pic>
        <p:nvPicPr>
          <p:cNvPr id="10" name="图片 9"/>
          <p:cNvPicPr>
            <a:picLocks noChangeAspect="1"/>
          </p:cNvPicPr>
          <p:nvPr/>
        </p:nvPicPr>
        <p:blipFill>
          <a:blip r:embed="rId3"/>
          <a:stretch>
            <a:fillRect/>
          </a:stretch>
        </p:blipFill>
        <p:spPr>
          <a:xfrm>
            <a:off x="2269071" y="2514600"/>
            <a:ext cx="4391025" cy="1885950"/>
          </a:xfrm>
          <a:prstGeom prst="rect">
            <a:avLst/>
          </a:prstGeom>
        </p:spPr>
      </p:pic>
      <p:sp>
        <p:nvSpPr>
          <p:cNvPr id="6" name="灯片编号占位符 5"/>
          <p:cNvSpPr>
            <a:spLocks noGrp="1"/>
          </p:cNvSpPr>
          <p:nvPr>
            <p:ph type="sldNum" sz="quarter" idx="12"/>
          </p:nvPr>
        </p:nvSpPr>
        <p:spPr/>
        <p:txBody>
          <a:bodyPr/>
          <a:lstStyle/>
          <a:p>
            <a:fld id="{B6F15528-21DE-4FAA-801E-634DDDAF4B2B}" type="slidenum">
              <a:rPr lang="en-US" altLang="zh-CN" smtClean="0"/>
              <a:pPr/>
              <a:t>15</a:t>
            </a:fld>
            <a:endParaRPr lang="zh-CN" altLang="en-US"/>
          </a:p>
        </p:txBody>
      </p:sp>
      <p:sp>
        <p:nvSpPr>
          <p:cNvPr id="8" name="矩形 7"/>
          <p:cNvSpPr/>
          <p:nvPr/>
        </p:nvSpPr>
        <p:spPr>
          <a:xfrm>
            <a:off x="2209800" y="4628698"/>
            <a:ext cx="8305800" cy="1450654"/>
          </a:xfrm>
          <a:prstGeom prst="rect">
            <a:avLst/>
          </a:prstGeom>
        </p:spPr>
        <p:txBody>
          <a:bodyPr wrap="square">
            <a:spAutoFit/>
          </a:bodyPr>
          <a:lstStyle/>
          <a:p>
            <a:pPr marL="12700" marR="5080" lvl="0">
              <a:lnSpc>
                <a:spcPct val="170000"/>
              </a:lnSpc>
              <a:spcBef>
                <a:spcPts val="1335"/>
              </a:spcBef>
              <a:defRPr/>
            </a:pPr>
            <a:r>
              <a:rPr lang="zh-CN" altLang="en-US" spc="-30" dirty="0">
                <a:solidFill>
                  <a:srgbClr val="252525"/>
                </a:solidFill>
                <a:latin typeface="宋体"/>
                <a:cs typeface="宋体"/>
              </a:rPr>
              <a:t>分析：</a:t>
            </a:r>
            <a:endParaRPr lang="zh-CN" altLang="en-US" dirty="0">
              <a:solidFill>
                <a:prstClr val="black"/>
              </a:solidFill>
              <a:latin typeface="宋体"/>
              <a:cs typeface="宋体"/>
            </a:endParaRPr>
          </a:p>
          <a:p>
            <a:pPr marL="12700" lvl="0">
              <a:spcBef>
                <a:spcPts val="1345"/>
              </a:spcBef>
              <a:defRPr/>
            </a:pPr>
            <a:r>
              <a:rPr lang="zh-CN" altLang="en-US" spc="-30" dirty="0">
                <a:solidFill>
                  <a:srgbClr val="252525"/>
                </a:solidFill>
                <a:latin typeface="宋体"/>
                <a:cs typeface="宋体"/>
              </a:rPr>
              <a:t>①：用户输入数字</a:t>
            </a:r>
            <a:endParaRPr lang="zh-CN" altLang="en-US" dirty="0">
              <a:solidFill>
                <a:prstClr val="black"/>
              </a:solidFill>
              <a:latin typeface="宋体"/>
              <a:cs typeface="宋体"/>
            </a:endParaRPr>
          </a:p>
          <a:p>
            <a:pPr marL="12700" lvl="0">
              <a:spcBef>
                <a:spcPts val="1340"/>
              </a:spcBef>
              <a:defRPr/>
            </a:pPr>
            <a:r>
              <a:rPr lang="zh-CN" altLang="en-US" spc="-35" dirty="0">
                <a:solidFill>
                  <a:srgbClr val="252525"/>
                </a:solidFill>
                <a:latin typeface="宋体"/>
                <a:cs typeface="宋体"/>
              </a:rPr>
              <a:t>②：用户输入不同算术运算符，可以去执行不</a:t>
            </a:r>
            <a:r>
              <a:rPr lang="zh-CN" altLang="en-US" spc="-20" dirty="0">
                <a:solidFill>
                  <a:srgbClr val="252525"/>
                </a:solidFill>
                <a:latin typeface="宋体"/>
                <a:cs typeface="宋体"/>
              </a:rPr>
              <a:t>同</a:t>
            </a:r>
            <a:r>
              <a:rPr lang="zh-CN" altLang="en-US" spc="-35" dirty="0">
                <a:solidFill>
                  <a:srgbClr val="252525"/>
                </a:solidFill>
                <a:latin typeface="宋体"/>
                <a:cs typeface="宋体"/>
              </a:rPr>
              <a:t>的运</a:t>
            </a:r>
            <a:r>
              <a:rPr lang="zh-CN" altLang="en-US" spc="-30" dirty="0">
                <a:solidFill>
                  <a:srgbClr val="252525"/>
                </a:solidFill>
                <a:latin typeface="宋体"/>
                <a:cs typeface="宋体"/>
              </a:rPr>
              <a:t>算</a:t>
            </a:r>
            <a:r>
              <a:rPr lang="zh-CN" altLang="en-US" spc="-335" dirty="0">
                <a:solidFill>
                  <a:srgbClr val="252525"/>
                </a:solidFill>
                <a:latin typeface="宋体"/>
                <a:cs typeface="宋体"/>
              </a:rPr>
              <a:t> </a:t>
            </a:r>
            <a:r>
              <a:rPr lang="en-US" altLang="zh-CN" spc="-55" dirty="0">
                <a:solidFill>
                  <a:srgbClr val="252525"/>
                </a:solidFill>
                <a:latin typeface="宋体"/>
                <a:cs typeface="宋体"/>
              </a:rPr>
              <a:t>(switch)</a:t>
            </a:r>
            <a:endParaRPr lang="zh-CN" altLang="en-US" dirty="0">
              <a:solidFill>
                <a:prstClr val="black"/>
              </a:solidFill>
              <a:latin typeface="宋体"/>
              <a:cs typeface="宋体"/>
            </a:endParaRPr>
          </a:p>
        </p:txBody>
      </p:sp>
    </p:spTree>
    <p:extLst>
      <p:ext uri="{BB962C8B-B14F-4D97-AF65-F5344CB8AC3E}">
        <p14:creationId xmlns:p14="http://schemas.microsoft.com/office/powerpoint/2010/main" val="347828362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685800"/>
            <a:ext cx="48489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r>
              <a:rPr lang="en-US" altLang="zh-CN" sz="3200" b="1" dirty="0" smtClean="0">
                <a:solidFill>
                  <a:srgbClr val="585858"/>
                </a:solidFill>
                <a:latin typeface="微软雅黑" panose="020B0503020204020204" pitchFamily="34" charset="-122"/>
                <a:ea typeface="微软雅黑" panose="020B0503020204020204" pitchFamily="34" charset="-122"/>
              </a:rPr>
              <a:t>—</a:t>
            </a:r>
            <a:r>
              <a:rPr sz="3200" b="1" spc="-40" dirty="0" err="1" smtClean="0">
                <a:solidFill>
                  <a:srgbClr val="585858"/>
                </a:solidFill>
                <a:latin typeface="微软雅黑" panose="020B0503020204020204" pitchFamily="34" charset="-122"/>
                <a:ea typeface="微软雅黑" panose="020B0503020204020204" pitchFamily="34" charset="-122"/>
              </a:rPr>
              <a:t>断点调试</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object 3"/>
          <p:cNvSpPr txBox="1"/>
          <p:nvPr/>
        </p:nvSpPr>
        <p:spPr>
          <a:xfrm>
            <a:off x="789838" y="1768282"/>
            <a:ext cx="10868762" cy="2376933"/>
          </a:xfrm>
          <a:prstGeom prst="rect">
            <a:avLst/>
          </a:prstGeom>
        </p:spPr>
        <p:txBody>
          <a:bodyPr vert="horz" wrap="square" lIns="0" tIns="12065" rIns="0" bIns="0" rtlCol="0">
            <a:spAutoFit/>
          </a:bodyPr>
          <a:lstStyle/>
          <a:p>
            <a:pPr marL="299085" marR="0" lvl="0" indent="-286385" algn="l" defTabSz="914400" rtl="0" eaLnBrk="1" fontAlgn="auto" latinLnBrk="0" hangingPunct="1">
              <a:lnSpc>
                <a:spcPct val="100000"/>
              </a:lnSpc>
              <a:spcBef>
                <a:spcPts val="95"/>
              </a:spcBef>
              <a:buClrTx/>
              <a:buSzTx/>
              <a:buFont typeface="Wingdings"/>
              <a:buChar char=""/>
              <a:tabLst>
                <a:tab pos="299085" algn="l"/>
                <a:tab pos="299720" algn="l"/>
              </a:tabLst>
              <a:defRPr/>
            </a:pPr>
            <a:r>
              <a:rPr kumimoji="0" b="0" i="0" u="none" strike="noStrike" kern="1200" cap="none" spc="-30" normalizeH="0" baseline="0" noProof="0" dirty="0">
                <a:ln>
                  <a:noFill/>
                </a:ln>
                <a:solidFill>
                  <a:srgbClr val="252525"/>
                </a:solidFill>
                <a:effectLst/>
                <a:uLnTx/>
                <a:uFillTx/>
                <a:latin typeface="宋体"/>
                <a:ea typeface="+mn-ea"/>
                <a:cs typeface="宋体"/>
              </a:rPr>
              <a:t>作用</a:t>
            </a:r>
            <a:r>
              <a:rPr kumimoji="0" b="0" i="0" u="none" strike="noStrike" kern="1200" cap="none" spc="-30" normalizeH="0" baseline="0" noProof="0" dirty="0">
                <a:ln>
                  <a:noFill/>
                </a:ln>
                <a:solidFill>
                  <a:srgbClr val="404040"/>
                </a:solidFill>
                <a:effectLst/>
                <a:uLnTx/>
                <a:uFillTx/>
                <a:latin typeface="宋体"/>
                <a:ea typeface="+mn-ea"/>
                <a:cs typeface="宋体"/>
              </a:rPr>
              <a:t>：学习时可以帮助更好的理解代码运行，</a:t>
            </a:r>
            <a:r>
              <a:rPr kumimoji="0" b="0" i="0" u="none" strike="noStrike" kern="1200" cap="none" spc="-20" normalizeH="0" baseline="0" noProof="0" dirty="0">
                <a:ln>
                  <a:noFill/>
                </a:ln>
                <a:solidFill>
                  <a:srgbClr val="404040"/>
                </a:solidFill>
                <a:effectLst/>
                <a:uLnTx/>
                <a:uFillTx/>
                <a:latin typeface="宋体"/>
                <a:ea typeface="+mn-ea"/>
                <a:cs typeface="宋体"/>
              </a:rPr>
              <a:t>工</a:t>
            </a:r>
            <a:r>
              <a:rPr kumimoji="0" b="0" i="0" u="none" strike="noStrike" kern="1200" cap="none" spc="-30" normalizeH="0" baseline="0" noProof="0" dirty="0">
                <a:ln>
                  <a:noFill/>
                </a:ln>
                <a:solidFill>
                  <a:srgbClr val="404040"/>
                </a:solidFill>
                <a:effectLst/>
                <a:uLnTx/>
                <a:uFillTx/>
                <a:latin typeface="宋体"/>
                <a:ea typeface="+mn-ea"/>
                <a:cs typeface="宋体"/>
              </a:rPr>
              <a:t>作时可</a:t>
            </a:r>
            <a:r>
              <a:rPr kumimoji="0" b="0" i="0" u="none" strike="noStrike" kern="1200" cap="none" spc="-20" normalizeH="0" baseline="0" noProof="0" dirty="0">
                <a:ln>
                  <a:noFill/>
                </a:ln>
                <a:solidFill>
                  <a:srgbClr val="404040"/>
                </a:solidFill>
                <a:effectLst/>
                <a:uLnTx/>
                <a:uFillTx/>
                <a:latin typeface="宋体"/>
                <a:ea typeface="+mn-ea"/>
                <a:cs typeface="宋体"/>
              </a:rPr>
              <a:t>以</a:t>
            </a:r>
            <a:r>
              <a:rPr kumimoji="0" b="0" i="0" u="none" strike="noStrike" kern="1200" cap="none" spc="-30" normalizeH="0" baseline="0" noProof="0" dirty="0">
                <a:ln>
                  <a:noFill/>
                </a:ln>
                <a:solidFill>
                  <a:srgbClr val="404040"/>
                </a:solidFill>
                <a:effectLst/>
                <a:uLnTx/>
                <a:uFillTx/>
                <a:latin typeface="宋体"/>
                <a:ea typeface="+mn-ea"/>
                <a:cs typeface="宋体"/>
              </a:rPr>
              <a:t>更快找</a:t>
            </a:r>
            <a:r>
              <a:rPr kumimoji="0" b="0" i="0" u="none" strike="noStrike" kern="1200" cap="none" spc="-10" normalizeH="0" baseline="0" noProof="0" dirty="0">
                <a:ln>
                  <a:noFill/>
                </a:ln>
                <a:solidFill>
                  <a:srgbClr val="404040"/>
                </a:solidFill>
                <a:effectLst/>
                <a:uLnTx/>
                <a:uFillTx/>
                <a:latin typeface="宋体"/>
                <a:ea typeface="+mn-ea"/>
                <a:cs typeface="宋体"/>
              </a:rPr>
              <a:t>到</a:t>
            </a:r>
            <a:r>
              <a:rPr kumimoji="0" b="0" i="0" u="none" strike="noStrike" kern="1200" cap="none" spc="200" normalizeH="0" baseline="0" noProof="0" dirty="0">
                <a:ln>
                  <a:noFill/>
                </a:ln>
                <a:solidFill>
                  <a:srgbClr val="404040"/>
                </a:solidFill>
                <a:effectLst/>
                <a:uLnTx/>
                <a:uFillTx/>
                <a:latin typeface="宋体"/>
                <a:ea typeface="+mn-ea"/>
                <a:cs typeface="宋体"/>
              </a:rPr>
              <a:t>bug</a:t>
            </a:r>
            <a:endParaRPr kumimoji="0" b="0" i="0" u="none" strike="noStrike" kern="1200" cap="none" spc="0" normalizeH="0" baseline="0" noProof="0" dirty="0">
              <a:ln>
                <a:noFill/>
              </a:ln>
              <a:solidFill>
                <a:prstClr val="black"/>
              </a:solidFill>
              <a:effectLst/>
              <a:uLnTx/>
              <a:uFillTx/>
              <a:latin typeface="宋体"/>
              <a:ea typeface="+mn-ea"/>
              <a:cs typeface="宋体"/>
            </a:endParaRPr>
          </a:p>
          <a:p>
            <a:pPr marL="299085" marR="0" lvl="0" indent="-286385" algn="l" defTabSz="914400" rtl="0" eaLnBrk="1" fontAlgn="auto" latinLnBrk="0" hangingPunct="1">
              <a:lnSpc>
                <a:spcPct val="100000"/>
              </a:lnSpc>
              <a:spcBef>
                <a:spcPts val="1345"/>
              </a:spcBef>
              <a:buClrTx/>
              <a:buSzTx/>
              <a:buFont typeface="Wingdings"/>
              <a:buChar char=""/>
              <a:tabLst>
                <a:tab pos="299085" algn="l"/>
                <a:tab pos="299720" algn="l"/>
              </a:tabLst>
              <a:defRPr/>
            </a:pPr>
            <a:r>
              <a:rPr kumimoji="0" b="0" i="0" u="none" strike="noStrike" kern="1200" cap="none" spc="-30" normalizeH="0" baseline="0" noProof="0" dirty="0">
                <a:ln>
                  <a:noFill/>
                </a:ln>
                <a:solidFill>
                  <a:srgbClr val="252525"/>
                </a:solidFill>
                <a:effectLst/>
                <a:uLnTx/>
                <a:uFillTx/>
                <a:latin typeface="宋体"/>
                <a:ea typeface="+mn-ea"/>
                <a:cs typeface="宋体"/>
              </a:rPr>
              <a:t>浏览器打开调试界面</a:t>
            </a:r>
            <a:endParaRPr kumimoji="0" b="0" i="0" u="none" strike="noStrike" kern="1200" cap="none" spc="0" normalizeH="0" baseline="0" noProof="0" dirty="0">
              <a:ln>
                <a:noFill/>
              </a:ln>
              <a:solidFill>
                <a:prstClr val="black"/>
              </a:solidFill>
              <a:effectLst/>
              <a:uLnTx/>
              <a:uFillTx/>
              <a:latin typeface="宋体"/>
              <a:ea typeface="+mn-ea"/>
              <a:cs typeface="宋体"/>
            </a:endParaRPr>
          </a:p>
          <a:p>
            <a:pPr marL="736600" marR="0" lvl="1" indent="-278765" algn="l" defTabSz="914400" rtl="0" eaLnBrk="1" fontAlgn="auto" latinLnBrk="0" hangingPunct="1">
              <a:lnSpc>
                <a:spcPct val="100000"/>
              </a:lnSpc>
              <a:spcBef>
                <a:spcPts val="1230"/>
              </a:spcBef>
              <a:buClrTx/>
              <a:buSzTx/>
              <a:buFontTx/>
              <a:buAutoNum type="arabicPeriod"/>
              <a:tabLst>
                <a:tab pos="737235" algn="l"/>
              </a:tabLst>
              <a:defRPr/>
            </a:pPr>
            <a:r>
              <a:rPr kumimoji="0" sz="1600" b="0" i="0" u="none" strike="noStrike" kern="1200" cap="none" spc="-25" normalizeH="0" baseline="0" noProof="0" dirty="0">
                <a:ln>
                  <a:noFill/>
                </a:ln>
                <a:solidFill>
                  <a:srgbClr val="404040"/>
                </a:solidFill>
                <a:effectLst/>
                <a:uLnTx/>
                <a:uFillTx/>
                <a:latin typeface="宋体"/>
                <a:ea typeface="+mn-ea"/>
                <a:cs typeface="宋体"/>
              </a:rPr>
              <a:t>按</a:t>
            </a:r>
            <a:r>
              <a:rPr kumimoji="0" sz="1600" b="0" i="0" u="none" strike="noStrike" kern="1200" cap="none" spc="80" normalizeH="0" baseline="0" noProof="0" dirty="0">
                <a:ln>
                  <a:noFill/>
                </a:ln>
                <a:solidFill>
                  <a:srgbClr val="404040"/>
                </a:solidFill>
                <a:effectLst/>
                <a:uLnTx/>
                <a:uFillTx/>
                <a:latin typeface="宋体"/>
                <a:ea typeface="+mn-ea"/>
                <a:cs typeface="宋体"/>
              </a:rPr>
              <a:t>F12</a:t>
            </a:r>
            <a:r>
              <a:rPr kumimoji="0" sz="1600" b="0" i="0" u="none" strike="noStrike" kern="1200" cap="none" spc="-20" normalizeH="0" baseline="0" noProof="0" dirty="0">
                <a:ln>
                  <a:noFill/>
                </a:ln>
                <a:solidFill>
                  <a:srgbClr val="404040"/>
                </a:solidFill>
                <a:effectLst/>
                <a:uLnTx/>
                <a:uFillTx/>
                <a:latin typeface="宋体"/>
                <a:ea typeface="+mn-ea"/>
                <a:cs typeface="宋体"/>
              </a:rPr>
              <a:t>打开</a:t>
            </a:r>
            <a:r>
              <a:rPr kumimoji="0" sz="1600" b="0" i="0" u="none" strike="noStrike" kern="1200" cap="none" spc="-25" normalizeH="0" baseline="0" noProof="0" dirty="0">
                <a:ln>
                  <a:noFill/>
                </a:ln>
                <a:solidFill>
                  <a:srgbClr val="404040"/>
                </a:solidFill>
                <a:effectLst/>
                <a:uLnTx/>
                <a:uFillTx/>
                <a:latin typeface="宋体"/>
                <a:ea typeface="+mn-ea"/>
                <a:cs typeface="宋体"/>
              </a:rPr>
              <a:t>开</a:t>
            </a:r>
            <a:r>
              <a:rPr kumimoji="0" sz="1600" b="0" i="0" u="none" strike="noStrike" kern="1200" cap="none" spc="-20" normalizeH="0" baseline="0" noProof="0" dirty="0">
                <a:ln>
                  <a:noFill/>
                </a:ln>
                <a:solidFill>
                  <a:srgbClr val="404040"/>
                </a:solidFill>
                <a:effectLst/>
                <a:uLnTx/>
                <a:uFillTx/>
                <a:latin typeface="宋体"/>
                <a:ea typeface="+mn-ea"/>
                <a:cs typeface="宋体"/>
              </a:rPr>
              <a:t>发</a:t>
            </a:r>
            <a:r>
              <a:rPr kumimoji="0" sz="1600" b="0" i="0" u="none" strike="noStrike" kern="1200" cap="none" spc="-40" normalizeH="0" baseline="0" noProof="0" dirty="0">
                <a:ln>
                  <a:noFill/>
                </a:ln>
                <a:solidFill>
                  <a:srgbClr val="404040"/>
                </a:solidFill>
                <a:effectLst/>
                <a:uLnTx/>
                <a:uFillTx/>
                <a:latin typeface="宋体"/>
                <a:ea typeface="+mn-ea"/>
                <a:cs typeface="宋体"/>
              </a:rPr>
              <a:t>者</a:t>
            </a:r>
            <a:r>
              <a:rPr kumimoji="0" sz="1600" b="0" i="0" u="none" strike="noStrike" kern="1200" cap="none" spc="-20" normalizeH="0" baseline="0" noProof="0" dirty="0">
                <a:ln>
                  <a:noFill/>
                </a:ln>
                <a:solidFill>
                  <a:srgbClr val="404040"/>
                </a:solidFill>
                <a:effectLst/>
                <a:uLnTx/>
                <a:uFillTx/>
                <a:latin typeface="宋体"/>
                <a:ea typeface="+mn-ea"/>
                <a:cs typeface="宋体"/>
              </a:rPr>
              <a:t>工具</a:t>
            </a:r>
            <a:endParaRPr kumimoji="0" sz="1600" b="0" i="0" u="none" strike="noStrike" kern="1200" cap="none" spc="0" normalizeH="0" baseline="0" noProof="0" dirty="0">
              <a:ln>
                <a:noFill/>
              </a:ln>
              <a:solidFill>
                <a:prstClr val="black"/>
              </a:solidFill>
              <a:effectLst/>
              <a:uLnTx/>
              <a:uFillTx/>
              <a:latin typeface="宋体"/>
              <a:ea typeface="+mn-ea"/>
              <a:cs typeface="宋体"/>
            </a:endParaRPr>
          </a:p>
          <a:p>
            <a:pPr marL="736600" marR="0" lvl="1" indent="-278765" algn="l" defTabSz="914400" rtl="0" eaLnBrk="1" fontAlgn="auto" latinLnBrk="0" hangingPunct="1">
              <a:lnSpc>
                <a:spcPct val="100000"/>
              </a:lnSpc>
              <a:spcBef>
                <a:spcPts val="1180"/>
              </a:spcBef>
              <a:buClrTx/>
              <a:buSzTx/>
              <a:buFontTx/>
              <a:buAutoNum type="arabicPeriod"/>
              <a:tabLst>
                <a:tab pos="737235" algn="l"/>
              </a:tabLst>
              <a:defRPr/>
            </a:pPr>
            <a:r>
              <a:rPr kumimoji="0" sz="1600" b="0" i="0" u="none" strike="noStrike" kern="1200" cap="none" spc="-25" normalizeH="0" baseline="0" noProof="0" dirty="0">
                <a:ln>
                  <a:noFill/>
                </a:ln>
                <a:solidFill>
                  <a:srgbClr val="404040"/>
                </a:solidFill>
                <a:effectLst/>
                <a:uLnTx/>
                <a:uFillTx/>
                <a:latin typeface="宋体"/>
                <a:ea typeface="+mn-ea"/>
                <a:cs typeface="宋体"/>
              </a:rPr>
              <a:t>点到</a:t>
            </a:r>
            <a:r>
              <a:rPr kumimoji="0" sz="1600" b="0" i="0" u="none" strike="noStrike" kern="1200" cap="none" spc="25" normalizeH="0" baseline="0" noProof="0" dirty="0">
                <a:ln>
                  <a:noFill/>
                </a:ln>
                <a:solidFill>
                  <a:srgbClr val="404040"/>
                </a:solidFill>
                <a:effectLst/>
                <a:uLnTx/>
                <a:uFillTx/>
                <a:latin typeface="宋体"/>
                <a:ea typeface="+mn-ea"/>
                <a:cs typeface="宋体"/>
              </a:rPr>
              <a:t>sources</a:t>
            </a:r>
            <a:r>
              <a:rPr kumimoji="0" sz="1600" b="0" i="0" u="none" strike="noStrike" kern="1200" cap="none" spc="-25" normalizeH="0" baseline="0" noProof="0" dirty="0">
                <a:ln>
                  <a:noFill/>
                </a:ln>
                <a:solidFill>
                  <a:srgbClr val="404040"/>
                </a:solidFill>
                <a:effectLst/>
                <a:uLnTx/>
                <a:uFillTx/>
                <a:latin typeface="宋体"/>
                <a:ea typeface="+mn-ea"/>
                <a:cs typeface="宋体"/>
              </a:rPr>
              <a:t>一栏</a:t>
            </a:r>
            <a:endParaRPr kumimoji="0" sz="1600" b="0" i="0" u="none" strike="noStrike" kern="1200" cap="none" spc="0" normalizeH="0" baseline="0" noProof="0" dirty="0">
              <a:ln>
                <a:noFill/>
              </a:ln>
              <a:solidFill>
                <a:prstClr val="black"/>
              </a:solidFill>
              <a:effectLst/>
              <a:uLnTx/>
              <a:uFillTx/>
              <a:latin typeface="宋体"/>
              <a:ea typeface="+mn-ea"/>
              <a:cs typeface="宋体"/>
            </a:endParaRPr>
          </a:p>
          <a:p>
            <a:pPr marL="736600" marR="0" lvl="1" indent="-278765" algn="l" defTabSz="914400" rtl="0" eaLnBrk="1" fontAlgn="auto" latinLnBrk="0" hangingPunct="1">
              <a:lnSpc>
                <a:spcPct val="100000"/>
              </a:lnSpc>
              <a:spcBef>
                <a:spcPts val="1175"/>
              </a:spcBef>
              <a:buClrTx/>
              <a:buSzTx/>
              <a:buFontTx/>
              <a:buAutoNum type="arabicPeriod"/>
              <a:tabLst>
                <a:tab pos="737235" algn="l"/>
              </a:tabLst>
              <a:defRPr/>
            </a:pPr>
            <a:r>
              <a:rPr kumimoji="0" sz="1600" b="0" i="0" u="none" strike="noStrike" kern="1200" cap="none" spc="-25" normalizeH="0" baseline="0" noProof="0" dirty="0">
                <a:ln>
                  <a:noFill/>
                </a:ln>
                <a:solidFill>
                  <a:srgbClr val="404040"/>
                </a:solidFill>
                <a:effectLst/>
                <a:uLnTx/>
                <a:uFillTx/>
                <a:latin typeface="宋体"/>
                <a:ea typeface="+mn-ea"/>
                <a:cs typeface="宋体"/>
              </a:rPr>
              <a:t>选择代码文件</a:t>
            </a:r>
            <a:endParaRPr kumimoji="0" sz="1600" b="0" i="0" u="none" strike="noStrike" kern="1200" cap="none" spc="0" normalizeH="0" baseline="0" noProof="0" dirty="0">
              <a:ln>
                <a:noFill/>
              </a:ln>
              <a:solidFill>
                <a:prstClr val="black"/>
              </a:solidFill>
              <a:effectLst/>
              <a:uLnTx/>
              <a:uFillTx/>
              <a:latin typeface="宋体"/>
              <a:ea typeface="+mn-ea"/>
              <a:cs typeface="宋体"/>
            </a:endParaRPr>
          </a:p>
          <a:p>
            <a:pPr marL="299085" marR="0" lvl="0" indent="-286385" algn="l" defTabSz="914400" rtl="0" eaLnBrk="1" fontAlgn="auto" latinLnBrk="0" hangingPunct="1">
              <a:lnSpc>
                <a:spcPct val="100000"/>
              </a:lnSpc>
              <a:spcBef>
                <a:spcPts val="1290"/>
              </a:spcBef>
              <a:spcAft>
                <a:spcPts val="0"/>
              </a:spcAft>
              <a:buClrTx/>
              <a:buSzTx/>
              <a:buFont typeface="Wingdings"/>
              <a:buChar char=""/>
              <a:tabLst>
                <a:tab pos="299085" algn="l"/>
                <a:tab pos="299720" algn="l"/>
              </a:tabLst>
              <a:defRPr/>
            </a:pPr>
            <a:r>
              <a:rPr kumimoji="0" b="0" i="0" u="none" strike="noStrike" kern="1200" cap="none" spc="-30" normalizeH="0" baseline="0" noProof="0" dirty="0">
                <a:ln>
                  <a:noFill/>
                </a:ln>
                <a:solidFill>
                  <a:srgbClr val="252525"/>
                </a:solidFill>
                <a:effectLst/>
                <a:uLnTx/>
                <a:uFillTx/>
                <a:latin typeface="宋体"/>
                <a:ea typeface="+mn-ea"/>
                <a:cs typeface="宋体"/>
              </a:rPr>
              <a:t>断点：在某句代码上加的标记就叫断点，当程</a:t>
            </a:r>
            <a:r>
              <a:rPr kumimoji="0" b="0" i="0" u="none" strike="noStrike" kern="1200" cap="none" spc="-20" normalizeH="0" baseline="0" noProof="0" dirty="0">
                <a:ln>
                  <a:noFill/>
                </a:ln>
                <a:solidFill>
                  <a:srgbClr val="252525"/>
                </a:solidFill>
                <a:effectLst/>
                <a:uLnTx/>
                <a:uFillTx/>
                <a:latin typeface="宋体"/>
                <a:ea typeface="+mn-ea"/>
                <a:cs typeface="宋体"/>
              </a:rPr>
              <a:t>序</a:t>
            </a:r>
            <a:r>
              <a:rPr kumimoji="0" b="0" i="0" u="none" strike="noStrike" kern="1200" cap="none" spc="-30" normalizeH="0" baseline="0" noProof="0" dirty="0">
                <a:ln>
                  <a:noFill/>
                </a:ln>
                <a:solidFill>
                  <a:srgbClr val="252525"/>
                </a:solidFill>
                <a:effectLst/>
                <a:uLnTx/>
                <a:uFillTx/>
                <a:latin typeface="宋体"/>
                <a:ea typeface="+mn-ea"/>
                <a:cs typeface="宋体"/>
              </a:rPr>
              <a:t>执行到</a:t>
            </a:r>
            <a:r>
              <a:rPr kumimoji="0" b="0" i="0" u="none" strike="noStrike" kern="1200" cap="none" spc="-20" normalizeH="0" baseline="0" noProof="0" dirty="0">
                <a:ln>
                  <a:noFill/>
                </a:ln>
                <a:solidFill>
                  <a:srgbClr val="252525"/>
                </a:solidFill>
                <a:effectLst/>
                <a:uLnTx/>
                <a:uFillTx/>
                <a:latin typeface="宋体"/>
                <a:ea typeface="+mn-ea"/>
                <a:cs typeface="宋体"/>
              </a:rPr>
              <a:t>这</a:t>
            </a:r>
            <a:r>
              <a:rPr kumimoji="0" b="0" i="0" u="none" strike="noStrike" kern="1200" cap="none" spc="-30" normalizeH="0" baseline="0" noProof="0" dirty="0">
                <a:ln>
                  <a:noFill/>
                </a:ln>
                <a:solidFill>
                  <a:srgbClr val="252525"/>
                </a:solidFill>
                <a:effectLst/>
                <a:uLnTx/>
                <a:uFillTx/>
                <a:latin typeface="宋体"/>
                <a:ea typeface="+mn-ea"/>
                <a:cs typeface="宋体"/>
              </a:rPr>
              <a:t>句有标</a:t>
            </a:r>
            <a:r>
              <a:rPr kumimoji="0" b="0" i="0" u="none" strike="noStrike" kern="1200" cap="none" spc="-20" normalizeH="0" baseline="0" noProof="0" dirty="0">
                <a:ln>
                  <a:noFill/>
                </a:ln>
                <a:solidFill>
                  <a:srgbClr val="252525"/>
                </a:solidFill>
                <a:effectLst/>
                <a:uLnTx/>
                <a:uFillTx/>
                <a:latin typeface="宋体"/>
                <a:ea typeface="+mn-ea"/>
                <a:cs typeface="宋体"/>
              </a:rPr>
              <a:t>记</a:t>
            </a:r>
            <a:r>
              <a:rPr kumimoji="0" b="0" i="0" u="none" strike="noStrike" kern="1200" cap="none" spc="-30" normalizeH="0" baseline="0" noProof="0" dirty="0">
                <a:ln>
                  <a:noFill/>
                </a:ln>
                <a:solidFill>
                  <a:srgbClr val="252525"/>
                </a:solidFill>
                <a:effectLst/>
                <a:uLnTx/>
                <a:uFillTx/>
                <a:latin typeface="宋体"/>
                <a:ea typeface="+mn-ea"/>
                <a:cs typeface="宋体"/>
              </a:rPr>
              <a:t>的代码</a:t>
            </a:r>
            <a:r>
              <a:rPr kumimoji="0" b="0" i="0" u="none" strike="noStrike" kern="1200" cap="none" spc="-20" normalizeH="0" baseline="0" noProof="0" dirty="0">
                <a:ln>
                  <a:noFill/>
                </a:ln>
                <a:solidFill>
                  <a:srgbClr val="252525"/>
                </a:solidFill>
                <a:effectLst/>
                <a:uLnTx/>
                <a:uFillTx/>
                <a:latin typeface="宋体"/>
                <a:ea typeface="+mn-ea"/>
                <a:cs typeface="宋体"/>
              </a:rPr>
              <a:t>时</a:t>
            </a:r>
            <a:r>
              <a:rPr kumimoji="0" b="0" i="0" u="none" strike="noStrike" kern="1200" cap="none" spc="-30" normalizeH="0" baseline="0" noProof="0" dirty="0">
                <a:ln>
                  <a:noFill/>
                </a:ln>
                <a:solidFill>
                  <a:srgbClr val="252525"/>
                </a:solidFill>
                <a:effectLst/>
                <a:uLnTx/>
                <a:uFillTx/>
                <a:latin typeface="宋体"/>
                <a:ea typeface="+mn-ea"/>
                <a:cs typeface="宋体"/>
              </a:rPr>
              <a:t>会暂停</a:t>
            </a:r>
            <a:r>
              <a:rPr kumimoji="0" b="0" i="0" u="none" strike="noStrike" kern="1200" cap="none" spc="-20" normalizeH="0" baseline="0" noProof="0" dirty="0">
                <a:ln>
                  <a:noFill/>
                </a:ln>
                <a:solidFill>
                  <a:srgbClr val="252525"/>
                </a:solidFill>
                <a:effectLst/>
                <a:uLnTx/>
                <a:uFillTx/>
                <a:latin typeface="宋体"/>
                <a:ea typeface="+mn-ea"/>
                <a:cs typeface="宋体"/>
              </a:rPr>
              <a:t>下</a:t>
            </a:r>
            <a:r>
              <a:rPr kumimoji="0" b="0" i="0" u="none" strike="noStrike" kern="1200" cap="none" spc="-30" normalizeH="0" baseline="0" noProof="0" dirty="0">
                <a:ln>
                  <a:noFill/>
                </a:ln>
                <a:solidFill>
                  <a:srgbClr val="252525"/>
                </a:solidFill>
                <a:effectLst/>
                <a:uLnTx/>
                <a:uFillTx/>
                <a:latin typeface="宋体"/>
                <a:ea typeface="+mn-ea"/>
                <a:cs typeface="宋体"/>
              </a:rPr>
              <a:t>来</a:t>
            </a:r>
            <a:endParaRPr kumimoji="0" b="0" i="0" u="none" strike="noStrike" kern="1200" cap="none" spc="0" normalizeH="0" baseline="0" noProof="0" dirty="0">
              <a:ln>
                <a:noFill/>
              </a:ln>
              <a:solidFill>
                <a:prstClr val="black"/>
              </a:solidFill>
              <a:effectLst/>
              <a:uLnTx/>
              <a:uFillTx/>
              <a:latin typeface="宋体"/>
              <a:ea typeface="+mn-ea"/>
              <a:cs typeface="宋体"/>
            </a:endParaRPr>
          </a:p>
        </p:txBody>
      </p:sp>
      <p:sp>
        <p:nvSpPr>
          <p:cNvPr id="4" name="object 4"/>
          <p:cNvSpPr txBox="1"/>
          <p:nvPr/>
        </p:nvSpPr>
        <p:spPr>
          <a:xfrm>
            <a:off x="789838" y="1358684"/>
            <a:ext cx="5045710"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1800" b="1" i="0" u="none" strike="noStrike" kern="1200" cap="none" spc="-30" normalizeH="0" baseline="0" noProof="0" dirty="0" err="1" smtClean="0">
                <a:ln>
                  <a:noFill/>
                </a:ln>
                <a:solidFill>
                  <a:srgbClr val="252525"/>
                </a:solidFill>
                <a:effectLst/>
                <a:uLnTx/>
                <a:uFillTx/>
                <a:latin typeface="微软雅黑"/>
                <a:ea typeface="+mn-ea"/>
                <a:cs typeface="微软雅黑"/>
              </a:rPr>
              <a:t>掌握断点调试方法</a:t>
            </a:r>
            <a:r>
              <a:rPr kumimoji="0" sz="1800" b="1" i="0" u="none" strike="noStrike" kern="1200" cap="none" spc="-30" normalizeH="0" baseline="0" noProof="0" dirty="0" err="1">
                <a:ln>
                  <a:noFill/>
                </a:ln>
                <a:solidFill>
                  <a:srgbClr val="252525"/>
                </a:solidFill>
                <a:effectLst/>
                <a:uLnTx/>
                <a:uFillTx/>
                <a:latin typeface="微软雅黑"/>
                <a:ea typeface="+mn-ea"/>
                <a:cs typeface="微软雅黑"/>
              </a:rPr>
              <a:t>，学会通过调试检查代码</a:t>
            </a:r>
            <a:endParaRPr kumimoji="0" sz="1800" b="0" i="0" u="none" strike="noStrike" kern="1200" cap="none" spc="0" normalizeH="0" baseline="0" noProof="0" dirty="0">
              <a:ln>
                <a:noFill/>
              </a:ln>
              <a:solidFill>
                <a:prstClr val="black"/>
              </a:solidFill>
              <a:effectLst/>
              <a:uLnTx/>
              <a:uFillTx/>
              <a:latin typeface="微软雅黑"/>
              <a:ea typeface="+mn-ea"/>
              <a:cs typeface="微软雅黑"/>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16</a:t>
            </a:fld>
            <a:endParaRPr lang="zh-CN" altLang="en-US"/>
          </a:p>
        </p:txBody>
      </p:sp>
      <p:pic>
        <p:nvPicPr>
          <p:cNvPr id="8" name="图片 7"/>
          <p:cNvPicPr>
            <a:picLocks noChangeAspect="1"/>
          </p:cNvPicPr>
          <p:nvPr/>
        </p:nvPicPr>
        <p:blipFill>
          <a:blip r:embed="rId2"/>
          <a:stretch>
            <a:fillRect/>
          </a:stretch>
        </p:blipFill>
        <p:spPr>
          <a:xfrm>
            <a:off x="914400" y="4267200"/>
            <a:ext cx="6681158" cy="2788154"/>
          </a:xfrm>
          <a:prstGeom prst="rect">
            <a:avLst/>
          </a:prstGeom>
        </p:spPr>
      </p:pic>
    </p:spTree>
    <p:extLst>
      <p:ext uri="{BB962C8B-B14F-4D97-AF65-F5344CB8AC3E}">
        <p14:creationId xmlns:p14="http://schemas.microsoft.com/office/powerpoint/2010/main" val="8636521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685800"/>
            <a:ext cx="48489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object 3"/>
          <p:cNvSpPr txBox="1"/>
          <p:nvPr/>
        </p:nvSpPr>
        <p:spPr>
          <a:xfrm>
            <a:off x="789838" y="1477430"/>
            <a:ext cx="10868762" cy="689291"/>
          </a:xfrm>
          <a:prstGeom prst="rect">
            <a:avLst/>
          </a:prstGeom>
        </p:spPr>
        <p:txBody>
          <a:bodyPr vert="horz" wrap="square" lIns="0" tIns="12065" rIns="0" bIns="0" rtlCol="0">
            <a:spAutoFit/>
          </a:bodyPr>
          <a:lstStyle/>
          <a:p>
            <a:pPr marL="12700" lvl="0">
              <a:spcBef>
                <a:spcPts val="95"/>
              </a:spcBef>
              <a:tabLst>
                <a:tab pos="299085" algn="l"/>
                <a:tab pos="299720" algn="l"/>
              </a:tabLst>
              <a:defRPr/>
            </a:pPr>
            <a:r>
              <a:rPr lang="zh-CN" altLang="en-US" sz="2200" dirty="0">
                <a:solidFill>
                  <a:prstClr val="black"/>
                </a:solidFill>
                <a:latin typeface="宋体"/>
                <a:cs typeface="宋体"/>
              </a:rPr>
              <a:t>编程语言可以很迅速方便地帮我们完成一些重复性的任务。看一个例子来完美地说明为什么循环是一件好事。假设我们想在</a:t>
            </a:r>
            <a:r>
              <a:rPr lang="en-US" altLang="zh-CN" sz="2200" dirty="0">
                <a:solidFill>
                  <a:prstClr val="black"/>
                </a:solidFill>
                <a:latin typeface="宋体"/>
                <a:cs typeface="宋体"/>
              </a:rPr>
              <a:t>&lt;canvas&gt;</a:t>
            </a:r>
            <a:r>
              <a:rPr lang="zh-CN" altLang="en-US" sz="2200" dirty="0">
                <a:solidFill>
                  <a:prstClr val="black"/>
                </a:solidFill>
                <a:latin typeface="宋体"/>
                <a:cs typeface="宋体"/>
              </a:rPr>
              <a:t>元素上绘制 </a:t>
            </a:r>
            <a:r>
              <a:rPr lang="en-US" altLang="zh-CN" sz="2200" dirty="0">
                <a:solidFill>
                  <a:prstClr val="black"/>
                </a:solidFill>
                <a:latin typeface="宋体"/>
                <a:cs typeface="宋体"/>
              </a:rPr>
              <a:t>100 </a:t>
            </a:r>
            <a:r>
              <a:rPr lang="zh-CN" altLang="en-US" sz="2200" dirty="0">
                <a:solidFill>
                  <a:prstClr val="black"/>
                </a:solidFill>
                <a:latin typeface="宋体"/>
                <a:cs typeface="宋体"/>
              </a:rPr>
              <a:t>个随机</a:t>
            </a:r>
            <a:r>
              <a:rPr lang="zh-CN" altLang="en-US" sz="2200" dirty="0" smtClean="0">
                <a:solidFill>
                  <a:prstClr val="black"/>
                </a:solidFill>
                <a:latin typeface="宋体"/>
                <a:cs typeface="宋体"/>
              </a:rPr>
              <a:t>圆。</a:t>
            </a:r>
            <a:endParaRPr kumimoji="0" sz="2200" b="0" i="0" u="none" strike="noStrike" kern="1200" cap="none" spc="0" normalizeH="0" baseline="0" noProof="0" dirty="0">
              <a:ln>
                <a:noFill/>
              </a:ln>
              <a:solidFill>
                <a:prstClr val="black"/>
              </a:solidFill>
              <a:effectLst/>
              <a:uLnTx/>
              <a:uFillTx/>
              <a:latin typeface="宋体"/>
              <a:cs typeface="宋体"/>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17</a:t>
            </a:fld>
            <a:endParaRPr lang="zh-CN" altLang="en-US"/>
          </a:p>
        </p:txBody>
      </p:sp>
      <p:pic>
        <p:nvPicPr>
          <p:cNvPr id="7" name="图片 6"/>
          <p:cNvPicPr>
            <a:picLocks noChangeAspect="1"/>
          </p:cNvPicPr>
          <p:nvPr/>
        </p:nvPicPr>
        <p:blipFill>
          <a:blip r:embed="rId2"/>
          <a:stretch>
            <a:fillRect/>
          </a:stretch>
        </p:blipFill>
        <p:spPr>
          <a:xfrm>
            <a:off x="2320287" y="2663979"/>
            <a:ext cx="6637025" cy="3671161"/>
          </a:xfrm>
          <a:prstGeom prst="rect">
            <a:avLst/>
          </a:prstGeom>
        </p:spPr>
      </p:pic>
    </p:spTree>
    <p:extLst>
      <p:ext uri="{BB962C8B-B14F-4D97-AF65-F5344CB8AC3E}">
        <p14:creationId xmlns:p14="http://schemas.microsoft.com/office/powerpoint/2010/main" val="5639459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685800"/>
            <a:ext cx="48489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r>
              <a:rPr lang="en-US" altLang="zh-CN" sz="3200" b="1" dirty="0" smtClean="0">
                <a:solidFill>
                  <a:srgbClr val="585858"/>
                </a:solidFill>
                <a:latin typeface="微软雅黑" panose="020B0503020204020204" pitchFamily="34" charset="-122"/>
                <a:ea typeface="微软雅黑" panose="020B0503020204020204" pitchFamily="34" charset="-122"/>
              </a:rPr>
              <a:t>—for</a:t>
            </a:r>
            <a:r>
              <a:rPr lang="zh-CN" altLang="en-US" sz="3200" b="1" dirty="0" smtClean="0">
                <a:solidFill>
                  <a:srgbClr val="585858"/>
                </a:solidFill>
                <a:latin typeface="微软雅黑" panose="020B0503020204020204" pitchFamily="34" charset="-122"/>
                <a:ea typeface="微软雅黑" panose="020B0503020204020204" pitchFamily="34" charset="-122"/>
              </a:rPr>
              <a:t>循环</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18</a:t>
            </a:fld>
            <a:endParaRPr lang="zh-CN" altLang="en-US"/>
          </a:p>
        </p:txBody>
      </p:sp>
      <p:sp>
        <p:nvSpPr>
          <p:cNvPr id="3" name="矩形 2"/>
          <p:cNvSpPr/>
          <p:nvPr/>
        </p:nvSpPr>
        <p:spPr>
          <a:xfrm>
            <a:off x="789838" y="1455442"/>
            <a:ext cx="6096000" cy="461665"/>
          </a:xfrm>
          <a:prstGeom prst="rect">
            <a:avLst/>
          </a:prstGeom>
        </p:spPr>
        <p:txBody>
          <a:bodyPr>
            <a:spAutoFit/>
          </a:bodyPr>
          <a:lstStyle/>
          <a:p>
            <a:r>
              <a:rPr lang="en-US" altLang="zh-CN" sz="2400" b="1" dirty="0" smtClean="0"/>
              <a:t>Cats</a:t>
            </a:r>
            <a:r>
              <a:rPr lang="zh-CN" altLang="en-US" sz="2400" b="1" dirty="0" smtClean="0"/>
              <a:t>数组</a:t>
            </a:r>
            <a:endParaRPr lang="zh-CN" altLang="en-US" sz="2400" b="1" dirty="0"/>
          </a:p>
        </p:txBody>
      </p:sp>
      <p:sp>
        <p:nvSpPr>
          <p:cNvPr id="5" name="矩形 4"/>
          <p:cNvSpPr/>
          <p:nvPr/>
        </p:nvSpPr>
        <p:spPr>
          <a:xfrm>
            <a:off x="789838" y="2181482"/>
            <a:ext cx="9982200" cy="4093428"/>
          </a:xfrm>
          <a:prstGeom prst="rect">
            <a:avLst/>
          </a:prstGeom>
          <a:solidFill>
            <a:schemeClr val="tx1">
              <a:lumMod val="85000"/>
              <a:lumOff val="15000"/>
            </a:schemeClr>
          </a:solidFill>
        </p:spPr>
        <p:txBody>
          <a:bodyPr wrap="square">
            <a:spAutoFit/>
          </a:bodyPr>
          <a:lstStyle/>
          <a:p>
            <a:r>
              <a:rPr lang="en-US" altLang="zh-CN" sz="2000" dirty="0">
                <a:solidFill>
                  <a:srgbClr val="D4D4D4"/>
                </a:solidFill>
                <a:latin typeface="+mj-lt"/>
              </a:rPr>
              <a:t>  </a:t>
            </a:r>
            <a:r>
              <a:rPr lang="en-US" altLang="zh-CN" sz="2000" dirty="0">
                <a:solidFill>
                  <a:srgbClr val="808080"/>
                </a:solidFill>
                <a:latin typeface="+mj-lt"/>
              </a:rPr>
              <a:t>&lt;</a:t>
            </a:r>
            <a:r>
              <a:rPr lang="en-US" altLang="zh-CN" sz="2000" dirty="0">
                <a:solidFill>
                  <a:srgbClr val="569CD6"/>
                </a:solidFill>
                <a:latin typeface="+mj-lt"/>
              </a:rPr>
              <a:t>p</a:t>
            </a:r>
            <a:r>
              <a:rPr lang="en-US" altLang="zh-CN" sz="2000" dirty="0">
                <a:solidFill>
                  <a:srgbClr val="808080"/>
                </a:solidFill>
                <a:latin typeface="+mj-lt"/>
              </a:rPr>
              <a:t>&gt;&lt;/</a:t>
            </a:r>
            <a:r>
              <a:rPr lang="en-US" altLang="zh-CN" sz="2000" dirty="0">
                <a:solidFill>
                  <a:srgbClr val="569CD6"/>
                </a:solidFill>
                <a:latin typeface="+mj-lt"/>
              </a:rPr>
              <a:t>p</a:t>
            </a:r>
            <a:r>
              <a:rPr lang="en-US" altLang="zh-CN" sz="2000" dirty="0">
                <a:solidFill>
                  <a:srgbClr val="808080"/>
                </a:solidFill>
                <a:latin typeface="+mj-lt"/>
              </a:rPr>
              <a:t>&gt;</a:t>
            </a:r>
            <a:endParaRPr lang="en-US" altLang="zh-CN" sz="2000" dirty="0">
              <a:solidFill>
                <a:srgbClr val="D4D4D4"/>
              </a:solidFill>
              <a:latin typeface="+mj-lt"/>
            </a:endParaRPr>
          </a:p>
          <a:p>
            <a:r>
              <a:rPr lang="en-US" altLang="zh-CN" sz="2000" dirty="0">
                <a:solidFill>
                  <a:srgbClr val="D4D4D4"/>
                </a:solidFill>
                <a:latin typeface="+mj-lt"/>
              </a:rPr>
              <a:t>  </a:t>
            </a:r>
            <a:r>
              <a:rPr lang="en-US" altLang="zh-CN" sz="2000" dirty="0">
                <a:solidFill>
                  <a:srgbClr val="808080"/>
                </a:solidFill>
                <a:latin typeface="+mj-lt"/>
              </a:rPr>
              <a:t>&lt;</a:t>
            </a:r>
            <a:r>
              <a:rPr lang="en-US" altLang="zh-CN" sz="2000" dirty="0">
                <a:solidFill>
                  <a:srgbClr val="569CD6"/>
                </a:solidFill>
                <a:latin typeface="+mj-lt"/>
              </a:rPr>
              <a:t>script</a:t>
            </a:r>
            <a:r>
              <a:rPr lang="en-US" altLang="zh-CN" sz="2000" dirty="0">
                <a:solidFill>
                  <a:srgbClr val="808080"/>
                </a:solidFill>
                <a:latin typeface="+mj-lt"/>
              </a:rPr>
              <a:t>&gt;</a:t>
            </a:r>
            <a:endParaRPr lang="en-US" altLang="zh-CN" sz="2000" dirty="0">
              <a:solidFill>
                <a:srgbClr val="D4D4D4"/>
              </a:solidFill>
              <a:latin typeface="+mj-lt"/>
            </a:endParaRPr>
          </a:p>
          <a:p>
            <a:r>
              <a:rPr lang="en-US" altLang="zh-CN" sz="2000" dirty="0">
                <a:solidFill>
                  <a:srgbClr val="D4D4D4"/>
                </a:solidFill>
                <a:latin typeface="+mj-lt"/>
              </a:rPr>
              <a:t>    </a:t>
            </a:r>
            <a:r>
              <a:rPr lang="en-US" altLang="zh-CN" sz="2000" dirty="0" err="1">
                <a:solidFill>
                  <a:srgbClr val="569CD6"/>
                </a:solidFill>
                <a:latin typeface="+mj-lt"/>
              </a:rPr>
              <a:t>const</a:t>
            </a:r>
            <a:r>
              <a:rPr lang="en-US" altLang="zh-CN" sz="2000" dirty="0">
                <a:solidFill>
                  <a:srgbClr val="D4D4D4"/>
                </a:solidFill>
                <a:latin typeface="+mj-lt"/>
              </a:rPr>
              <a:t> </a:t>
            </a:r>
            <a:r>
              <a:rPr lang="en-US" altLang="zh-CN" sz="2000" dirty="0">
                <a:solidFill>
                  <a:srgbClr val="4FC1FF"/>
                </a:solidFill>
                <a:latin typeface="+mj-lt"/>
              </a:rPr>
              <a:t>cats</a:t>
            </a:r>
            <a:r>
              <a:rPr lang="en-US" altLang="zh-CN" sz="2000" dirty="0">
                <a:solidFill>
                  <a:srgbClr val="D4D4D4"/>
                </a:solidFill>
                <a:latin typeface="+mj-lt"/>
              </a:rPr>
              <a:t> = [</a:t>
            </a:r>
            <a:r>
              <a:rPr lang="en-US" altLang="zh-CN" sz="2000" dirty="0">
                <a:solidFill>
                  <a:srgbClr val="CE9178"/>
                </a:solidFill>
                <a:latin typeface="+mj-lt"/>
              </a:rPr>
              <a:t>'Bill'</a:t>
            </a:r>
            <a:r>
              <a:rPr lang="en-US" altLang="zh-CN" sz="2000" dirty="0">
                <a:solidFill>
                  <a:srgbClr val="D4D4D4"/>
                </a:solidFill>
                <a:latin typeface="+mj-lt"/>
              </a:rPr>
              <a:t>, </a:t>
            </a:r>
            <a:r>
              <a:rPr lang="en-US" altLang="zh-CN" sz="2000" dirty="0">
                <a:solidFill>
                  <a:srgbClr val="CE9178"/>
                </a:solidFill>
                <a:latin typeface="+mj-lt"/>
              </a:rPr>
              <a:t>'Jeff'</a:t>
            </a:r>
            <a:r>
              <a:rPr lang="en-US" altLang="zh-CN" sz="2000" dirty="0">
                <a:solidFill>
                  <a:srgbClr val="D4D4D4"/>
                </a:solidFill>
                <a:latin typeface="+mj-lt"/>
              </a:rPr>
              <a:t>, </a:t>
            </a:r>
            <a:r>
              <a:rPr lang="en-US" altLang="zh-CN" sz="2000" dirty="0">
                <a:solidFill>
                  <a:srgbClr val="CE9178"/>
                </a:solidFill>
                <a:latin typeface="+mj-lt"/>
              </a:rPr>
              <a:t>'Pete'</a:t>
            </a:r>
            <a:r>
              <a:rPr lang="en-US" altLang="zh-CN" sz="2000" dirty="0">
                <a:solidFill>
                  <a:srgbClr val="D4D4D4"/>
                </a:solidFill>
                <a:latin typeface="+mj-lt"/>
              </a:rPr>
              <a:t>, </a:t>
            </a:r>
            <a:r>
              <a:rPr lang="en-US" altLang="zh-CN" sz="2000" dirty="0">
                <a:solidFill>
                  <a:srgbClr val="CE9178"/>
                </a:solidFill>
                <a:latin typeface="+mj-lt"/>
              </a:rPr>
              <a:t>'Biggles'</a:t>
            </a:r>
            <a:r>
              <a:rPr lang="en-US" altLang="zh-CN" sz="2000" dirty="0">
                <a:solidFill>
                  <a:srgbClr val="D4D4D4"/>
                </a:solidFill>
                <a:latin typeface="+mj-lt"/>
              </a:rPr>
              <a:t>, </a:t>
            </a:r>
            <a:r>
              <a:rPr lang="en-US" altLang="zh-CN" sz="2000" dirty="0">
                <a:solidFill>
                  <a:srgbClr val="CE9178"/>
                </a:solidFill>
                <a:latin typeface="+mj-lt"/>
              </a:rPr>
              <a:t>'Jasmin'</a:t>
            </a:r>
            <a:r>
              <a:rPr lang="en-US" altLang="zh-CN" sz="2000" dirty="0">
                <a:solidFill>
                  <a:srgbClr val="D4D4D4"/>
                </a:solidFill>
                <a:latin typeface="+mj-lt"/>
              </a:rPr>
              <a:t>];</a:t>
            </a:r>
          </a:p>
          <a:p>
            <a:r>
              <a:rPr lang="en-US" altLang="zh-CN" sz="2000" dirty="0">
                <a:solidFill>
                  <a:srgbClr val="D4D4D4"/>
                </a:solidFill>
                <a:latin typeface="+mj-lt"/>
              </a:rPr>
              <a:t>    </a:t>
            </a:r>
            <a:r>
              <a:rPr lang="en-US" altLang="zh-CN" sz="2000" dirty="0">
                <a:solidFill>
                  <a:srgbClr val="569CD6"/>
                </a:solidFill>
                <a:latin typeface="+mj-lt"/>
              </a:rPr>
              <a:t>let</a:t>
            </a:r>
            <a:r>
              <a:rPr lang="en-US" altLang="zh-CN" sz="2000" dirty="0">
                <a:solidFill>
                  <a:srgbClr val="D4D4D4"/>
                </a:solidFill>
                <a:latin typeface="+mj-lt"/>
              </a:rPr>
              <a:t> </a:t>
            </a:r>
            <a:r>
              <a:rPr lang="en-US" altLang="zh-CN" sz="2000" dirty="0">
                <a:solidFill>
                  <a:srgbClr val="9CDCFE"/>
                </a:solidFill>
                <a:latin typeface="+mj-lt"/>
              </a:rPr>
              <a:t>info</a:t>
            </a:r>
            <a:r>
              <a:rPr lang="en-US" altLang="zh-CN" sz="2000" dirty="0">
                <a:solidFill>
                  <a:srgbClr val="D4D4D4"/>
                </a:solidFill>
                <a:latin typeface="+mj-lt"/>
              </a:rPr>
              <a:t> = </a:t>
            </a:r>
            <a:r>
              <a:rPr lang="en-US" altLang="zh-CN" sz="2000" dirty="0">
                <a:solidFill>
                  <a:srgbClr val="CE9178"/>
                </a:solidFill>
                <a:latin typeface="+mj-lt"/>
              </a:rPr>
              <a:t>'My cats are called '</a:t>
            </a:r>
            <a:r>
              <a:rPr lang="en-US" altLang="zh-CN" sz="2000" dirty="0">
                <a:solidFill>
                  <a:srgbClr val="D4D4D4"/>
                </a:solidFill>
                <a:latin typeface="+mj-lt"/>
              </a:rPr>
              <a:t>;</a:t>
            </a:r>
          </a:p>
          <a:p>
            <a:r>
              <a:rPr lang="en-US" altLang="zh-CN" sz="2000" dirty="0">
                <a:solidFill>
                  <a:srgbClr val="D4D4D4"/>
                </a:solidFill>
                <a:latin typeface="+mj-lt"/>
              </a:rPr>
              <a:t>    </a:t>
            </a:r>
            <a:r>
              <a:rPr lang="en-US" altLang="zh-CN" sz="2000" dirty="0" err="1">
                <a:solidFill>
                  <a:srgbClr val="569CD6"/>
                </a:solidFill>
                <a:latin typeface="+mj-lt"/>
              </a:rPr>
              <a:t>const</a:t>
            </a:r>
            <a:r>
              <a:rPr lang="en-US" altLang="zh-CN" sz="2000" dirty="0">
                <a:solidFill>
                  <a:srgbClr val="D4D4D4"/>
                </a:solidFill>
                <a:latin typeface="+mj-lt"/>
              </a:rPr>
              <a:t> </a:t>
            </a:r>
            <a:r>
              <a:rPr lang="en-US" altLang="zh-CN" sz="2000" dirty="0">
                <a:solidFill>
                  <a:srgbClr val="4FC1FF"/>
                </a:solidFill>
                <a:latin typeface="+mj-lt"/>
              </a:rPr>
              <a:t>para</a:t>
            </a:r>
            <a:r>
              <a:rPr lang="en-US" altLang="zh-CN" sz="2000" dirty="0">
                <a:solidFill>
                  <a:srgbClr val="D4D4D4"/>
                </a:solidFill>
                <a:latin typeface="+mj-lt"/>
              </a:rPr>
              <a:t> = </a:t>
            </a:r>
            <a:r>
              <a:rPr lang="en-US" altLang="zh-CN" sz="2000" dirty="0" err="1">
                <a:solidFill>
                  <a:srgbClr val="9CDCFE"/>
                </a:solidFill>
                <a:latin typeface="+mj-lt"/>
              </a:rPr>
              <a:t>document</a:t>
            </a:r>
            <a:r>
              <a:rPr lang="en-US" altLang="zh-CN" sz="2000" dirty="0" err="1">
                <a:solidFill>
                  <a:srgbClr val="D4D4D4"/>
                </a:solidFill>
                <a:latin typeface="+mj-lt"/>
              </a:rPr>
              <a:t>.</a:t>
            </a:r>
            <a:r>
              <a:rPr lang="en-US" altLang="zh-CN" sz="2000" dirty="0" err="1">
                <a:solidFill>
                  <a:srgbClr val="DCDCAA"/>
                </a:solidFill>
                <a:latin typeface="+mj-lt"/>
              </a:rPr>
              <a:t>querySelector</a:t>
            </a:r>
            <a:r>
              <a:rPr lang="en-US" altLang="zh-CN" sz="2000" dirty="0">
                <a:solidFill>
                  <a:srgbClr val="D4D4D4"/>
                </a:solidFill>
                <a:latin typeface="+mj-lt"/>
              </a:rPr>
              <a:t>(</a:t>
            </a:r>
            <a:r>
              <a:rPr lang="en-US" altLang="zh-CN" sz="2000" dirty="0">
                <a:solidFill>
                  <a:srgbClr val="CE9178"/>
                </a:solidFill>
                <a:latin typeface="+mj-lt"/>
              </a:rPr>
              <a:t>'p'</a:t>
            </a:r>
            <a:r>
              <a:rPr lang="en-US" altLang="zh-CN" sz="2000" dirty="0">
                <a:solidFill>
                  <a:srgbClr val="D4D4D4"/>
                </a:solidFill>
                <a:latin typeface="+mj-lt"/>
              </a:rPr>
              <a:t>);</a:t>
            </a:r>
          </a:p>
          <a:p>
            <a:r>
              <a:rPr lang="en-US" altLang="zh-CN" sz="2000" dirty="0">
                <a:solidFill>
                  <a:srgbClr val="D4D4D4"/>
                </a:solidFill>
                <a:latin typeface="+mj-lt"/>
              </a:rPr>
              <a:t/>
            </a:r>
            <a:br>
              <a:rPr lang="en-US" altLang="zh-CN" sz="2000" dirty="0">
                <a:solidFill>
                  <a:srgbClr val="D4D4D4"/>
                </a:solidFill>
                <a:latin typeface="+mj-lt"/>
              </a:rPr>
            </a:br>
            <a:r>
              <a:rPr lang="en-US" altLang="zh-CN" sz="2000" dirty="0">
                <a:solidFill>
                  <a:srgbClr val="D4D4D4"/>
                </a:solidFill>
                <a:latin typeface="+mj-lt"/>
              </a:rPr>
              <a:t>    </a:t>
            </a:r>
            <a:r>
              <a:rPr lang="en-US" altLang="zh-CN" sz="2000" dirty="0">
                <a:solidFill>
                  <a:srgbClr val="C586C0"/>
                </a:solidFill>
                <a:latin typeface="+mj-lt"/>
              </a:rPr>
              <a:t>for</a:t>
            </a:r>
            <a:r>
              <a:rPr lang="en-US" altLang="zh-CN" sz="2000" dirty="0">
                <a:solidFill>
                  <a:srgbClr val="D4D4D4"/>
                </a:solidFill>
                <a:latin typeface="+mj-lt"/>
              </a:rPr>
              <a:t> (</a:t>
            </a:r>
            <a:r>
              <a:rPr lang="en-US" altLang="zh-CN" sz="2000" dirty="0">
                <a:solidFill>
                  <a:srgbClr val="569CD6"/>
                </a:solidFill>
                <a:latin typeface="+mj-lt"/>
              </a:rPr>
              <a:t>let</a:t>
            </a:r>
            <a:r>
              <a:rPr lang="en-US" altLang="zh-CN" sz="2000" dirty="0">
                <a:solidFill>
                  <a:srgbClr val="D4D4D4"/>
                </a:solidFill>
                <a:latin typeface="+mj-lt"/>
              </a:rPr>
              <a:t> </a:t>
            </a:r>
            <a:r>
              <a:rPr lang="en-US" altLang="zh-CN" sz="2000" dirty="0" err="1">
                <a:solidFill>
                  <a:srgbClr val="9CDCFE"/>
                </a:solidFill>
                <a:latin typeface="+mj-lt"/>
              </a:rPr>
              <a:t>i</a:t>
            </a:r>
            <a:r>
              <a:rPr lang="en-US" altLang="zh-CN" sz="2000" dirty="0">
                <a:solidFill>
                  <a:srgbClr val="D4D4D4"/>
                </a:solidFill>
                <a:latin typeface="+mj-lt"/>
              </a:rPr>
              <a:t> = </a:t>
            </a:r>
            <a:r>
              <a:rPr lang="en-US" altLang="zh-CN" sz="2000" dirty="0">
                <a:solidFill>
                  <a:srgbClr val="B5CEA8"/>
                </a:solidFill>
                <a:latin typeface="+mj-lt"/>
              </a:rPr>
              <a:t>0</a:t>
            </a:r>
            <a:r>
              <a:rPr lang="en-US" altLang="zh-CN" sz="2000" dirty="0">
                <a:solidFill>
                  <a:srgbClr val="D4D4D4"/>
                </a:solidFill>
                <a:latin typeface="+mj-lt"/>
              </a:rPr>
              <a:t>; </a:t>
            </a:r>
            <a:r>
              <a:rPr lang="en-US" altLang="zh-CN" sz="2000" dirty="0" err="1">
                <a:solidFill>
                  <a:srgbClr val="9CDCFE"/>
                </a:solidFill>
                <a:latin typeface="+mj-lt"/>
              </a:rPr>
              <a:t>i</a:t>
            </a:r>
            <a:r>
              <a:rPr lang="en-US" altLang="zh-CN" sz="2000" dirty="0">
                <a:solidFill>
                  <a:srgbClr val="D4D4D4"/>
                </a:solidFill>
                <a:latin typeface="+mj-lt"/>
              </a:rPr>
              <a:t> &lt; </a:t>
            </a:r>
            <a:r>
              <a:rPr lang="en-US" altLang="zh-CN" sz="2000" dirty="0" err="1">
                <a:solidFill>
                  <a:srgbClr val="4FC1FF"/>
                </a:solidFill>
                <a:latin typeface="+mj-lt"/>
              </a:rPr>
              <a:t>cats</a:t>
            </a:r>
            <a:r>
              <a:rPr lang="en-US" altLang="zh-CN" sz="2000" dirty="0" err="1">
                <a:solidFill>
                  <a:srgbClr val="D4D4D4"/>
                </a:solidFill>
                <a:latin typeface="+mj-lt"/>
              </a:rPr>
              <a:t>.</a:t>
            </a:r>
            <a:r>
              <a:rPr lang="en-US" altLang="zh-CN" sz="2000" dirty="0" err="1">
                <a:solidFill>
                  <a:srgbClr val="9CDCFE"/>
                </a:solidFill>
                <a:latin typeface="+mj-lt"/>
              </a:rPr>
              <a:t>length</a:t>
            </a:r>
            <a:r>
              <a:rPr lang="en-US" altLang="zh-CN" sz="2000" dirty="0">
                <a:solidFill>
                  <a:srgbClr val="D4D4D4"/>
                </a:solidFill>
                <a:latin typeface="+mj-lt"/>
              </a:rPr>
              <a:t>; </a:t>
            </a:r>
            <a:r>
              <a:rPr lang="en-US" altLang="zh-CN" sz="2000" dirty="0" err="1">
                <a:solidFill>
                  <a:srgbClr val="9CDCFE"/>
                </a:solidFill>
                <a:latin typeface="+mj-lt"/>
              </a:rPr>
              <a:t>i</a:t>
            </a:r>
            <a:r>
              <a:rPr lang="en-US" altLang="zh-CN" sz="2000" dirty="0">
                <a:solidFill>
                  <a:srgbClr val="D4D4D4"/>
                </a:solidFill>
                <a:latin typeface="+mj-lt"/>
              </a:rPr>
              <a:t>++) {</a:t>
            </a:r>
          </a:p>
          <a:p>
            <a:r>
              <a:rPr lang="en-US" altLang="zh-CN" sz="2000" dirty="0">
                <a:solidFill>
                  <a:srgbClr val="D4D4D4"/>
                </a:solidFill>
                <a:latin typeface="+mj-lt"/>
              </a:rPr>
              <a:t>      </a:t>
            </a:r>
            <a:r>
              <a:rPr lang="en-US" altLang="zh-CN" sz="2000" dirty="0">
                <a:solidFill>
                  <a:srgbClr val="9CDCFE"/>
                </a:solidFill>
                <a:latin typeface="+mj-lt"/>
              </a:rPr>
              <a:t>info</a:t>
            </a:r>
            <a:r>
              <a:rPr lang="en-US" altLang="zh-CN" sz="2000" dirty="0">
                <a:solidFill>
                  <a:srgbClr val="D4D4D4"/>
                </a:solidFill>
                <a:latin typeface="+mj-lt"/>
              </a:rPr>
              <a:t> += </a:t>
            </a:r>
            <a:r>
              <a:rPr lang="en-US" altLang="zh-CN" sz="2000" dirty="0">
                <a:solidFill>
                  <a:srgbClr val="4FC1FF"/>
                </a:solidFill>
                <a:latin typeface="+mj-lt"/>
              </a:rPr>
              <a:t>cats</a:t>
            </a:r>
            <a:r>
              <a:rPr lang="en-US" altLang="zh-CN" sz="2000" dirty="0">
                <a:solidFill>
                  <a:srgbClr val="D4D4D4"/>
                </a:solidFill>
                <a:latin typeface="+mj-lt"/>
              </a:rPr>
              <a:t>[</a:t>
            </a:r>
            <a:r>
              <a:rPr lang="en-US" altLang="zh-CN" sz="2000" dirty="0" err="1">
                <a:solidFill>
                  <a:srgbClr val="9CDCFE"/>
                </a:solidFill>
                <a:latin typeface="+mj-lt"/>
              </a:rPr>
              <a:t>i</a:t>
            </a:r>
            <a:r>
              <a:rPr lang="en-US" altLang="zh-CN" sz="2000" dirty="0">
                <a:solidFill>
                  <a:srgbClr val="D4D4D4"/>
                </a:solidFill>
                <a:latin typeface="+mj-lt"/>
              </a:rPr>
              <a:t>] + </a:t>
            </a:r>
            <a:r>
              <a:rPr lang="en-US" altLang="zh-CN" sz="2000" dirty="0">
                <a:solidFill>
                  <a:srgbClr val="CE9178"/>
                </a:solidFill>
                <a:latin typeface="+mj-lt"/>
              </a:rPr>
              <a:t>', '</a:t>
            </a:r>
            <a:r>
              <a:rPr lang="en-US" altLang="zh-CN" sz="2000" dirty="0">
                <a:solidFill>
                  <a:srgbClr val="D4D4D4"/>
                </a:solidFill>
                <a:latin typeface="+mj-lt"/>
              </a:rPr>
              <a:t>;</a:t>
            </a:r>
          </a:p>
          <a:p>
            <a:r>
              <a:rPr lang="en-US" altLang="zh-CN" sz="2000" dirty="0">
                <a:solidFill>
                  <a:srgbClr val="D4D4D4"/>
                </a:solidFill>
                <a:latin typeface="+mj-lt"/>
              </a:rPr>
              <a:t>    }</a:t>
            </a:r>
          </a:p>
          <a:p>
            <a:r>
              <a:rPr lang="en-US" altLang="zh-CN" sz="2000" dirty="0">
                <a:solidFill>
                  <a:srgbClr val="D4D4D4"/>
                </a:solidFill>
                <a:latin typeface="+mj-lt"/>
              </a:rPr>
              <a:t/>
            </a:r>
            <a:br>
              <a:rPr lang="en-US" altLang="zh-CN" sz="2000" dirty="0">
                <a:solidFill>
                  <a:srgbClr val="D4D4D4"/>
                </a:solidFill>
                <a:latin typeface="+mj-lt"/>
              </a:rPr>
            </a:br>
            <a:r>
              <a:rPr lang="en-US" altLang="zh-CN" sz="2000" dirty="0">
                <a:solidFill>
                  <a:srgbClr val="D4D4D4"/>
                </a:solidFill>
                <a:latin typeface="+mj-lt"/>
              </a:rPr>
              <a:t>    </a:t>
            </a:r>
            <a:r>
              <a:rPr lang="en-US" altLang="zh-CN" sz="2000" dirty="0" err="1">
                <a:solidFill>
                  <a:srgbClr val="4FC1FF"/>
                </a:solidFill>
                <a:latin typeface="+mj-lt"/>
              </a:rPr>
              <a:t>para</a:t>
            </a:r>
            <a:r>
              <a:rPr lang="en-US" altLang="zh-CN" sz="2000" dirty="0" err="1">
                <a:solidFill>
                  <a:srgbClr val="D4D4D4"/>
                </a:solidFill>
                <a:latin typeface="+mj-lt"/>
              </a:rPr>
              <a:t>.</a:t>
            </a:r>
            <a:r>
              <a:rPr lang="en-US" altLang="zh-CN" sz="2000" dirty="0" err="1">
                <a:solidFill>
                  <a:srgbClr val="9CDCFE"/>
                </a:solidFill>
                <a:latin typeface="+mj-lt"/>
              </a:rPr>
              <a:t>textContent</a:t>
            </a:r>
            <a:r>
              <a:rPr lang="en-US" altLang="zh-CN" sz="2000" dirty="0">
                <a:solidFill>
                  <a:srgbClr val="D4D4D4"/>
                </a:solidFill>
                <a:latin typeface="+mj-lt"/>
              </a:rPr>
              <a:t> = </a:t>
            </a:r>
            <a:r>
              <a:rPr lang="en-US" altLang="zh-CN" sz="2000" dirty="0">
                <a:solidFill>
                  <a:srgbClr val="9CDCFE"/>
                </a:solidFill>
                <a:latin typeface="+mj-lt"/>
              </a:rPr>
              <a:t>info</a:t>
            </a:r>
            <a:r>
              <a:rPr lang="en-US" altLang="zh-CN" sz="2000" dirty="0">
                <a:solidFill>
                  <a:srgbClr val="D4D4D4"/>
                </a:solidFill>
                <a:latin typeface="+mj-lt"/>
              </a:rPr>
              <a:t>;</a:t>
            </a:r>
          </a:p>
          <a:p>
            <a:r>
              <a:rPr lang="en-US" altLang="zh-CN" sz="2000" dirty="0">
                <a:solidFill>
                  <a:srgbClr val="D4D4D4"/>
                </a:solidFill>
                <a:latin typeface="+mj-lt"/>
              </a:rPr>
              <a:t/>
            </a:r>
            <a:br>
              <a:rPr lang="en-US" altLang="zh-CN" sz="2000" dirty="0">
                <a:solidFill>
                  <a:srgbClr val="D4D4D4"/>
                </a:solidFill>
                <a:latin typeface="+mj-lt"/>
              </a:rPr>
            </a:br>
            <a:r>
              <a:rPr lang="en-US" altLang="zh-CN" sz="2000" dirty="0">
                <a:solidFill>
                  <a:srgbClr val="D4D4D4"/>
                </a:solidFill>
                <a:latin typeface="+mj-lt"/>
              </a:rPr>
              <a:t>  </a:t>
            </a:r>
            <a:r>
              <a:rPr lang="en-US" altLang="zh-CN" sz="2000" dirty="0">
                <a:solidFill>
                  <a:srgbClr val="808080"/>
                </a:solidFill>
                <a:latin typeface="+mj-lt"/>
              </a:rPr>
              <a:t>&lt;/</a:t>
            </a:r>
            <a:r>
              <a:rPr lang="en-US" altLang="zh-CN" sz="2000" dirty="0">
                <a:solidFill>
                  <a:srgbClr val="569CD6"/>
                </a:solidFill>
                <a:latin typeface="+mj-lt"/>
              </a:rPr>
              <a:t>script</a:t>
            </a:r>
            <a:r>
              <a:rPr lang="en-US" altLang="zh-CN" sz="2000" dirty="0">
                <a:solidFill>
                  <a:srgbClr val="808080"/>
                </a:solidFill>
                <a:latin typeface="+mj-lt"/>
              </a:rPr>
              <a:t>&gt;</a:t>
            </a:r>
            <a:endParaRPr lang="en-US" altLang="zh-CN" sz="2000" b="0" dirty="0">
              <a:solidFill>
                <a:srgbClr val="D4D4D4"/>
              </a:solidFill>
              <a:effectLst/>
              <a:latin typeface="+mj-lt"/>
            </a:endParaRPr>
          </a:p>
        </p:txBody>
      </p:sp>
    </p:spTree>
    <p:extLst>
      <p:ext uri="{BB962C8B-B14F-4D97-AF65-F5344CB8AC3E}">
        <p14:creationId xmlns:p14="http://schemas.microsoft.com/office/powerpoint/2010/main" val="17758596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685800"/>
            <a:ext cx="48489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r>
              <a:rPr lang="en-US" altLang="zh-CN" sz="3200" b="1" dirty="0" smtClean="0">
                <a:solidFill>
                  <a:srgbClr val="585858"/>
                </a:solidFill>
                <a:latin typeface="微软雅黑" panose="020B0503020204020204" pitchFamily="34" charset="-122"/>
                <a:ea typeface="微软雅黑" panose="020B0503020204020204" pitchFamily="34" charset="-122"/>
              </a:rPr>
              <a:t>—for</a:t>
            </a:r>
            <a:r>
              <a:rPr lang="zh-CN" altLang="en-US" sz="3200" b="1" dirty="0" smtClean="0">
                <a:solidFill>
                  <a:srgbClr val="585858"/>
                </a:solidFill>
                <a:latin typeface="微软雅黑" panose="020B0503020204020204" pitchFamily="34" charset="-122"/>
                <a:ea typeface="微软雅黑" panose="020B0503020204020204" pitchFamily="34" charset="-122"/>
              </a:rPr>
              <a:t>循环</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19</a:t>
            </a:fld>
            <a:endParaRPr lang="zh-CN" altLang="en-US"/>
          </a:p>
        </p:txBody>
      </p:sp>
      <p:sp>
        <p:nvSpPr>
          <p:cNvPr id="5" name="矩形 4"/>
          <p:cNvSpPr/>
          <p:nvPr/>
        </p:nvSpPr>
        <p:spPr>
          <a:xfrm>
            <a:off x="685800" y="1370233"/>
            <a:ext cx="8415252" cy="461665"/>
          </a:xfrm>
          <a:prstGeom prst="rect">
            <a:avLst/>
          </a:prstGeom>
        </p:spPr>
        <p:txBody>
          <a:bodyPr wrap="none">
            <a:spAutoFit/>
          </a:bodyPr>
          <a:lstStyle/>
          <a:p>
            <a:r>
              <a:rPr lang="zh-CN" altLang="en-US" sz="2400" dirty="0"/>
              <a:t>如果要在所有迭代完成之前退出循环，可以使用 </a:t>
            </a:r>
            <a:r>
              <a:rPr lang="en-US" altLang="zh-CN" sz="2400" dirty="0"/>
              <a:t>break </a:t>
            </a:r>
            <a:r>
              <a:rPr lang="zh-CN" altLang="en-US" sz="2400" dirty="0"/>
              <a:t>语句。</a:t>
            </a:r>
          </a:p>
        </p:txBody>
      </p:sp>
      <p:pic>
        <p:nvPicPr>
          <p:cNvPr id="3" name="图片 2"/>
          <p:cNvPicPr>
            <a:picLocks noChangeAspect="1"/>
          </p:cNvPicPr>
          <p:nvPr/>
        </p:nvPicPr>
        <p:blipFill>
          <a:blip r:embed="rId2"/>
          <a:stretch>
            <a:fillRect/>
          </a:stretch>
        </p:blipFill>
        <p:spPr>
          <a:xfrm>
            <a:off x="815238" y="1905000"/>
            <a:ext cx="6980618" cy="4840288"/>
          </a:xfrm>
          <a:prstGeom prst="rect">
            <a:avLst/>
          </a:prstGeom>
        </p:spPr>
      </p:pic>
    </p:spTree>
    <p:extLst>
      <p:ext uri="{BB962C8B-B14F-4D97-AF65-F5344CB8AC3E}">
        <p14:creationId xmlns:p14="http://schemas.microsoft.com/office/powerpoint/2010/main" val="39889174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9838" y="685800"/>
            <a:ext cx="48489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r>
              <a:rPr lang="en-US" altLang="zh-CN" sz="3200" b="1" dirty="0" smtClean="0">
                <a:solidFill>
                  <a:srgbClr val="585858"/>
                </a:solidFill>
                <a:latin typeface="微软雅黑" panose="020B0503020204020204" pitchFamily="34" charset="-122"/>
                <a:ea typeface="微软雅黑" panose="020B0503020204020204" pitchFamily="34" charset="-122"/>
              </a:rPr>
              <a:t>—for</a:t>
            </a:r>
            <a:r>
              <a:rPr lang="zh-CN" altLang="en-US" sz="3200" b="1" dirty="0" smtClean="0">
                <a:solidFill>
                  <a:srgbClr val="585858"/>
                </a:solidFill>
                <a:latin typeface="微软雅黑" panose="020B0503020204020204" pitchFamily="34" charset="-122"/>
                <a:ea typeface="微软雅黑" panose="020B0503020204020204" pitchFamily="34" charset="-122"/>
              </a:rPr>
              <a:t>循环</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20</a:t>
            </a:fld>
            <a:endParaRPr lang="zh-CN" altLang="en-US"/>
          </a:p>
        </p:txBody>
      </p:sp>
      <p:sp>
        <p:nvSpPr>
          <p:cNvPr id="5" name="矩形 4"/>
          <p:cNvSpPr/>
          <p:nvPr/>
        </p:nvSpPr>
        <p:spPr>
          <a:xfrm>
            <a:off x="685800" y="1370233"/>
            <a:ext cx="10585911" cy="830997"/>
          </a:xfrm>
          <a:prstGeom prst="rect">
            <a:avLst/>
          </a:prstGeom>
        </p:spPr>
        <p:txBody>
          <a:bodyPr wrap="none">
            <a:spAutoFit/>
          </a:bodyPr>
          <a:lstStyle/>
          <a:p>
            <a:r>
              <a:rPr lang="en-US" altLang="zh-CN" sz="2400" dirty="0"/>
              <a:t>continue </a:t>
            </a:r>
            <a:r>
              <a:rPr lang="zh-CN" altLang="en-US" sz="2400" dirty="0"/>
              <a:t>语句以类似的方式工作，而不是完全跳出循环，而是跳过当前循环</a:t>
            </a:r>
            <a:r>
              <a:rPr lang="zh-CN" altLang="en-US" sz="2400" dirty="0" smtClean="0"/>
              <a:t>而</a:t>
            </a:r>
            <a:endParaRPr lang="en-US" altLang="zh-CN" sz="2400" dirty="0" smtClean="0"/>
          </a:p>
          <a:p>
            <a:r>
              <a:rPr lang="zh-CN" altLang="en-US" sz="2400" dirty="0" smtClean="0"/>
              <a:t>执行</a:t>
            </a:r>
            <a:r>
              <a:rPr lang="zh-CN" altLang="en-US" sz="2400" dirty="0"/>
              <a:t>下一个循环。</a:t>
            </a:r>
          </a:p>
        </p:txBody>
      </p:sp>
      <p:pic>
        <p:nvPicPr>
          <p:cNvPr id="4" name="图片 3"/>
          <p:cNvPicPr>
            <a:picLocks noChangeAspect="1"/>
          </p:cNvPicPr>
          <p:nvPr/>
        </p:nvPicPr>
        <p:blipFill>
          <a:blip r:embed="rId2"/>
          <a:stretch>
            <a:fillRect/>
          </a:stretch>
        </p:blipFill>
        <p:spPr>
          <a:xfrm>
            <a:off x="789838" y="2418496"/>
            <a:ext cx="7315246" cy="4134704"/>
          </a:xfrm>
          <a:prstGeom prst="rect">
            <a:avLst/>
          </a:prstGeom>
        </p:spPr>
      </p:pic>
      <p:sp>
        <p:nvSpPr>
          <p:cNvPr id="3" name="矩形 2"/>
          <p:cNvSpPr/>
          <p:nvPr/>
        </p:nvSpPr>
        <p:spPr>
          <a:xfrm>
            <a:off x="5953355" y="2367696"/>
            <a:ext cx="6096000" cy="923330"/>
          </a:xfrm>
          <a:prstGeom prst="rect">
            <a:avLst/>
          </a:prstGeom>
        </p:spPr>
        <p:txBody>
          <a:bodyPr>
            <a:spAutoFit/>
          </a:bodyPr>
          <a:lstStyle/>
          <a:p>
            <a:r>
              <a:rPr lang="zh-CN" altLang="en-US" dirty="0">
                <a:solidFill>
                  <a:srgbClr val="FF0000"/>
                </a:solidFill>
              </a:rPr>
              <a:t>使用</a:t>
            </a:r>
            <a:r>
              <a:rPr lang="en-US" altLang="zh-CN" dirty="0" err="1">
                <a:solidFill>
                  <a:srgbClr val="FF0000"/>
                </a:solidFill>
              </a:rPr>
              <a:t>Math.sqrt</a:t>
            </a:r>
            <a:r>
              <a:rPr lang="en-US" altLang="zh-CN" dirty="0">
                <a:solidFill>
                  <a:srgbClr val="FF0000"/>
                </a:solidFill>
              </a:rPr>
              <a:t>(</a:t>
            </a:r>
            <a:r>
              <a:rPr lang="en-US" altLang="zh-CN" dirty="0" err="1">
                <a:solidFill>
                  <a:srgbClr val="FF0000"/>
                </a:solidFill>
              </a:rPr>
              <a:t>i</a:t>
            </a:r>
            <a:r>
              <a:rPr lang="en-US" altLang="zh-CN" dirty="0">
                <a:solidFill>
                  <a:srgbClr val="FF0000"/>
                </a:solidFill>
              </a:rPr>
              <a:t>)</a:t>
            </a:r>
            <a:r>
              <a:rPr lang="zh-CN" altLang="en-US" dirty="0">
                <a:solidFill>
                  <a:srgbClr val="FF0000"/>
                </a:solidFill>
              </a:rPr>
              <a:t>找到每个数字的平方根，然后测试平方根是否是一个整数，通过判断当它被向下取整时，它是否与自身</a:t>
            </a:r>
            <a:r>
              <a:rPr lang="zh-CN" altLang="en-US" dirty="0" smtClean="0">
                <a:solidFill>
                  <a:srgbClr val="FF0000"/>
                </a:solidFill>
              </a:rPr>
              <a:t>相同。</a:t>
            </a:r>
            <a:endParaRPr lang="zh-CN" altLang="en-US" dirty="0">
              <a:solidFill>
                <a:srgbClr val="FF0000"/>
              </a:solidFill>
            </a:endParaRPr>
          </a:p>
        </p:txBody>
      </p:sp>
    </p:spTree>
    <p:extLst>
      <p:ext uri="{BB962C8B-B14F-4D97-AF65-F5344CB8AC3E}">
        <p14:creationId xmlns:p14="http://schemas.microsoft.com/office/powerpoint/2010/main" val="14822643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55022"/>
            <a:ext cx="7696200"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smtClean="0">
                <a:solidFill>
                  <a:srgbClr val="585858"/>
                </a:solidFill>
                <a:latin typeface="微软雅黑" panose="020B0503020204020204" pitchFamily="34" charset="-122"/>
                <a:ea typeface="微软雅黑" panose="020B0503020204020204" pitchFamily="34" charset="-122"/>
              </a:rPr>
              <a:t>循环结构</a:t>
            </a:r>
            <a:r>
              <a:rPr lang="en-US" altLang="zh-CN" sz="3200" b="1" dirty="0" smtClean="0">
                <a:solidFill>
                  <a:srgbClr val="585858"/>
                </a:solidFill>
                <a:latin typeface="微软雅黑" panose="020B0503020204020204" pitchFamily="34" charset="-122"/>
                <a:ea typeface="微软雅黑" panose="020B0503020204020204" pitchFamily="34" charset="-122"/>
              </a:rPr>
              <a:t>—</a:t>
            </a:r>
            <a:r>
              <a:rPr sz="3200" b="1" spc="5" dirty="0" smtClean="0">
                <a:solidFill>
                  <a:srgbClr val="585858"/>
                </a:solidFill>
                <a:latin typeface="微软雅黑" panose="020B0503020204020204" pitchFamily="34" charset="-122"/>
                <a:ea typeface="微软雅黑" panose="020B0503020204020204" pitchFamily="34" charset="-122"/>
              </a:rPr>
              <a:t>while</a:t>
            </a:r>
            <a:r>
              <a:rPr sz="3200" b="1" spc="-135" dirty="0" smtClean="0">
                <a:solidFill>
                  <a:srgbClr val="585858"/>
                </a:solidFill>
                <a:latin typeface="微软雅黑" panose="020B0503020204020204" pitchFamily="34" charset="-122"/>
                <a:ea typeface="微软雅黑" panose="020B0503020204020204" pitchFamily="34" charset="-122"/>
              </a:rPr>
              <a:t> </a:t>
            </a:r>
            <a:r>
              <a:rPr lang="zh-CN" altLang="en-US" sz="3200" b="1" spc="-40" dirty="0" smtClean="0">
                <a:solidFill>
                  <a:srgbClr val="585858"/>
                </a:solidFill>
                <a:latin typeface="微软雅黑" panose="020B0503020204020204" pitchFamily="34" charset="-122"/>
                <a:ea typeface="微软雅黑" panose="020B0503020204020204" pitchFamily="34" charset="-122"/>
              </a:rPr>
              <a:t>和</a:t>
            </a:r>
            <a:r>
              <a:rPr lang="en-US" altLang="zh-CN" sz="3200" b="1" spc="-40" dirty="0" smtClean="0">
                <a:solidFill>
                  <a:srgbClr val="585858"/>
                </a:solidFill>
                <a:latin typeface="微软雅黑" panose="020B0503020204020204" pitchFamily="34" charset="-122"/>
                <a:ea typeface="微软雅黑" panose="020B0503020204020204" pitchFamily="34" charset="-122"/>
              </a:rPr>
              <a:t>do while</a:t>
            </a:r>
            <a:r>
              <a:rPr lang="zh-CN" altLang="en-US" sz="3200" b="1" spc="-40" dirty="0" smtClean="0">
                <a:solidFill>
                  <a:srgbClr val="585858"/>
                </a:solidFill>
                <a:latin typeface="微软雅黑" panose="020B0503020204020204" pitchFamily="34" charset="-122"/>
                <a:ea typeface="微软雅黑" panose="020B0503020204020204" pitchFamily="34" charset="-122"/>
              </a:rPr>
              <a:t>语句</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6" name="object 6"/>
          <p:cNvSpPr txBox="1"/>
          <p:nvPr/>
        </p:nvSpPr>
        <p:spPr>
          <a:xfrm>
            <a:off x="711200" y="4150984"/>
            <a:ext cx="10564495" cy="260584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buClrTx/>
              <a:buSzTx/>
              <a:buFontTx/>
              <a:buNone/>
              <a:tabLst/>
              <a:defRPr/>
            </a:pPr>
            <a:r>
              <a:rPr kumimoji="0" sz="2400" b="0" i="0" u="none" strike="noStrike" kern="1200" cap="none" spc="-25" normalizeH="0" baseline="0" noProof="0" dirty="0">
                <a:ln>
                  <a:noFill/>
                </a:ln>
                <a:solidFill>
                  <a:srgbClr val="585858"/>
                </a:solidFill>
                <a:effectLst/>
                <a:uLnTx/>
                <a:uFillTx/>
                <a:latin typeface="宋体"/>
                <a:ea typeface="+mn-ea"/>
                <a:cs typeface="宋体"/>
              </a:rPr>
              <a:t>释义：</a:t>
            </a:r>
            <a:endParaRPr kumimoji="0" sz="2400" b="0" i="0" u="none" strike="noStrike" kern="1200" cap="none" spc="0" normalizeH="0" baseline="0" noProof="0" dirty="0">
              <a:ln>
                <a:noFill/>
              </a:ln>
              <a:solidFill>
                <a:prstClr val="black"/>
              </a:solidFill>
              <a:effectLst/>
              <a:uLnTx/>
              <a:uFillTx/>
              <a:latin typeface="宋体"/>
              <a:ea typeface="+mn-ea"/>
              <a:cs typeface="宋体"/>
            </a:endParaRPr>
          </a:p>
          <a:p>
            <a:pPr marL="659130" marR="0" lvl="0" indent="-287020" algn="l" defTabSz="914400" rtl="0" eaLnBrk="1" fontAlgn="auto" latinLnBrk="0" hangingPunct="1">
              <a:lnSpc>
                <a:spcPct val="100000"/>
              </a:lnSpc>
              <a:spcBef>
                <a:spcPts val="1180"/>
              </a:spcBef>
              <a:buClrTx/>
              <a:buSzTx/>
              <a:buFont typeface="Wingdings"/>
              <a:buChar char=""/>
              <a:tabLst>
                <a:tab pos="658495" algn="l"/>
                <a:tab pos="659130" algn="l"/>
              </a:tabLst>
              <a:defRPr/>
            </a:pPr>
            <a:r>
              <a:rPr kumimoji="0" sz="2400" b="0" i="0" u="none" strike="noStrike" kern="1200" cap="none" spc="-25" normalizeH="0" baseline="0" noProof="0" dirty="0">
                <a:ln>
                  <a:noFill/>
                </a:ln>
                <a:solidFill>
                  <a:srgbClr val="404040"/>
                </a:solidFill>
                <a:effectLst/>
                <a:uLnTx/>
                <a:uFillTx/>
                <a:latin typeface="宋体"/>
                <a:ea typeface="+mn-ea"/>
                <a:cs typeface="宋体"/>
              </a:rPr>
              <a:t>跟</a:t>
            </a:r>
            <a:r>
              <a:rPr kumimoji="0" sz="2400" b="0" i="0" u="none" strike="noStrike" kern="1200" cap="none" spc="-270" normalizeH="0" baseline="0" noProof="0" dirty="0">
                <a:ln>
                  <a:noFill/>
                </a:ln>
                <a:solidFill>
                  <a:srgbClr val="404040"/>
                </a:solidFill>
                <a:effectLst/>
                <a:uLnTx/>
                <a:uFillTx/>
                <a:latin typeface="宋体"/>
                <a:ea typeface="+mn-ea"/>
                <a:cs typeface="宋体"/>
              </a:rPr>
              <a:t>if</a:t>
            </a:r>
            <a:r>
              <a:rPr kumimoji="0" sz="2400" b="0" i="0" u="none" strike="noStrike" kern="1200" cap="none" spc="-25" normalizeH="0" baseline="0" noProof="0" dirty="0">
                <a:ln>
                  <a:noFill/>
                </a:ln>
                <a:solidFill>
                  <a:srgbClr val="404040"/>
                </a:solidFill>
                <a:effectLst/>
                <a:uLnTx/>
                <a:uFillTx/>
                <a:latin typeface="宋体"/>
                <a:ea typeface="+mn-ea"/>
                <a:cs typeface="宋体"/>
              </a:rPr>
              <a:t>语句很像，都要</a:t>
            </a:r>
            <a:r>
              <a:rPr kumimoji="0" sz="2400" b="0" i="0" u="none" strike="noStrike" kern="1200" cap="none" spc="-35" normalizeH="0" baseline="0" noProof="0" dirty="0">
                <a:ln>
                  <a:noFill/>
                </a:ln>
                <a:solidFill>
                  <a:srgbClr val="404040"/>
                </a:solidFill>
                <a:effectLst/>
                <a:uLnTx/>
                <a:uFillTx/>
                <a:latin typeface="宋体"/>
                <a:ea typeface="+mn-ea"/>
                <a:cs typeface="宋体"/>
              </a:rPr>
              <a:t>满</a:t>
            </a:r>
            <a:r>
              <a:rPr kumimoji="0" sz="2400" b="0" i="0" u="none" strike="noStrike" kern="1200" cap="none" spc="-25" normalizeH="0" baseline="0" noProof="0" dirty="0">
                <a:ln>
                  <a:noFill/>
                </a:ln>
                <a:solidFill>
                  <a:srgbClr val="404040"/>
                </a:solidFill>
                <a:effectLst/>
                <a:uLnTx/>
                <a:uFillTx/>
                <a:latin typeface="宋体"/>
                <a:ea typeface="+mn-ea"/>
                <a:cs typeface="宋体"/>
              </a:rPr>
              <a:t>足</a:t>
            </a:r>
            <a:r>
              <a:rPr kumimoji="0" sz="2400" b="0" i="0" u="none" strike="noStrike" kern="1200" cap="none" spc="-35" normalizeH="0" baseline="0" noProof="0" dirty="0">
                <a:ln>
                  <a:noFill/>
                </a:ln>
                <a:solidFill>
                  <a:srgbClr val="404040"/>
                </a:solidFill>
                <a:effectLst/>
                <a:uLnTx/>
                <a:uFillTx/>
                <a:latin typeface="宋体"/>
                <a:ea typeface="+mn-ea"/>
                <a:cs typeface="宋体"/>
              </a:rPr>
              <a:t>小</a:t>
            </a:r>
            <a:r>
              <a:rPr kumimoji="0" sz="2400" b="0" i="0" u="none" strike="noStrike" kern="1200" cap="none" spc="-25" normalizeH="0" baseline="0" noProof="0" dirty="0">
                <a:ln>
                  <a:noFill/>
                </a:ln>
                <a:solidFill>
                  <a:srgbClr val="404040"/>
                </a:solidFill>
                <a:effectLst/>
                <a:uLnTx/>
                <a:uFillTx/>
                <a:latin typeface="宋体"/>
                <a:ea typeface="+mn-ea"/>
                <a:cs typeface="宋体"/>
              </a:rPr>
              <a:t>括</a:t>
            </a:r>
            <a:r>
              <a:rPr kumimoji="0" sz="2400" b="0" i="0" u="none" strike="noStrike" kern="1200" cap="none" spc="-35" normalizeH="0" baseline="0" noProof="0" dirty="0">
                <a:ln>
                  <a:noFill/>
                </a:ln>
                <a:solidFill>
                  <a:srgbClr val="404040"/>
                </a:solidFill>
                <a:effectLst/>
                <a:uLnTx/>
                <a:uFillTx/>
                <a:latin typeface="宋体"/>
                <a:ea typeface="+mn-ea"/>
                <a:cs typeface="宋体"/>
              </a:rPr>
              <a:t>号</a:t>
            </a:r>
            <a:r>
              <a:rPr kumimoji="0" sz="2400" b="0" i="0" u="none" strike="noStrike" kern="1200" cap="none" spc="-25" normalizeH="0" baseline="0" noProof="0" dirty="0">
                <a:ln>
                  <a:noFill/>
                </a:ln>
                <a:solidFill>
                  <a:srgbClr val="404040"/>
                </a:solidFill>
                <a:effectLst/>
                <a:uLnTx/>
                <a:uFillTx/>
                <a:latin typeface="宋体"/>
                <a:ea typeface="+mn-ea"/>
                <a:cs typeface="宋体"/>
              </a:rPr>
              <a:t>里</a:t>
            </a:r>
            <a:r>
              <a:rPr kumimoji="0" sz="2400" b="0" i="0" u="none" strike="noStrike" kern="1200" cap="none" spc="-20" normalizeH="0" baseline="0" noProof="0" dirty="0">
                <a:ln>
                  <a:noFill/>
                </a:ln>
                <a:solidFill>
                  <a:srgbClr val="404040"/>
                </a:solidFill>
                <a:effectLst/>
                <a:uLnTx/>
                <a:uFillTx/>
                <a:latin typeface="宋体"/>
                <a:ea typeface="+mn-ea"/>
                <a:cs typeface="宋体"/>
              </a:rPr>
              <a:t>的</a:t>
            </a:r>
            <a:r>
              <a:rPr kumimoji="0" sz="2400" b="0" i="0" u="none" strike="noStrike" kern="1200" cap="none" spc="-35" normalizeH="0" baseline="0" noProof="0" dirty="0">
                <a:ln>
                  <a:noFill/>
                </a:ln>
                <a:solidFill>
                  <a:srgbClr val="404040"/>
                </a:solidFill>
                <a:effectLst/>
                <a:uLnTx/>
                <a:uFillTx/>
                <a:latin typeface="宋体"/>
                <a:ea typeface="+mn-ea"/>
                <a:cs typeface="宋体"/>
              </a:rPr>
              <a:t>条</a:t>
            </a:r>
            <a:r>
              <a:rPr kumimoji="0" sz="2400" b="0" i="0" u="none" strike="noStrike" kern="1200" cap="none" spc="-20" normalizeH="0" baseline="0" noProof="0" dirty="0">
                <a:ln>
                  <a:noFill/>
                </a:ln>
                <a:solidFill>
                  <a:srgbClr val="404040"/>
                </a:solidFill>
                <a:effectLst/>
                <a:uLnTx/>
                <a:uFillTx/>
                <a:latin typeface="宋体"/>
                <a:ea typeface="+mn-ea"/>
                <a:cs typeface="宋体"/>
              </a:rPr>
              <a:t>件</a:t>
            </a:r>
            <a:r>
              <a:rPr kumimoji="0" sz="2400" b="0" i="0" u="none" strike="noStrike" kern="1200" cap="none" spc="-35" normalizeH="0" baseline="0" noProof="0" dirty="0">
                <a:ln>
                  <a:noFill/>
                </a:ln>
                <a:solidFill>
                  <a:srgbClr val="404040"/>
                </a:solidFill>
                <a:effectLst/>
                <a:uLnTx/>
                <a:uFillTx/>
                <a:latin typeface="宋体"/>
                <a:ea typeface="+mn-ea"/>
                <a:cs typeface="宋体"/>
              </a:rPr>
              <a:t>为true</a:t>
            </a:r>
            <a:r>
              <a:rPr kumimoji="0" sz="2400" b="0" i="0" u="none" strike="noStrike" kern="1200" cap="none" spc="-25" normalizeH="0" baseline="0" noProof="0" dirty="0">
                <a:ln>
                  <a:noFill/>
                </a:ln>
                <a:solidFill>
                  <a:srgbClr val="404040"/>
                </a:solidFill>
                <a:effectLst/>
                <a:uLnTx/>
                <a:uFillTx/>
                <a:latin typeface="宋体"/>
                <a:ea typeface="+mn-ea"/>
                <a:cs typeface="宋体"/>
              </a:rPr>
              <a:t>才</a:t>
            </a:r>
            <a:r>
              <a:rPr kumimoji="0" sz="2400" b="0" i="0" u="none" strike="noStrike" kern="1200" cap="none" spc="-35" normalizeH="0" baseline="0" noProof="0" dirty="0">
                <a:ln>
                  <a:noFill/>
                </a:ln>
                <a:solidFill>
                  <a:srgbClr val="404040"/>
                </a:solidFill>
                <a:effectLst/>
                <a:uLnTx/>
                <a:uFillTx/>
                <a:latin typeface="宋体"/>
                <a:ea typeface="+mn-ea"/>
                <a:cs typeface="宋体"/>
              </a:rPr>
              <a:t>会</a:t>
            </a:r>
            <a:r>
              <a:rPr kumimoji="0" sz="2400" b="0" i="0" u="none" strike="noStrike" kern="1200" cap="none" spc="-20" normalizeH="0" baseline="0" noProof="0" dirty="0">
                <a:ln>
                  <a:noFill/>
                </a:ln>
                <a:solidFill>
                  <a:srgbClr val="404040"/>
                </a:solidFill>
                <a:effectLst/>
                <a:uLnTx/>
                <a:uFillTx/>
                <a:latin typeface="宋体"/>
                <a:ea typeface="+mn-ea"/>
                <a:cs typeface="宋体"/>
              </a:rPr>
              <a:t>进入</a:t>
            </a:r>
            <a:r>
              <a:rPr kumimoji="0" sz="2400" b="0" i="0" u="none" strike="noStrike" kern="1200" cap="none" spc="-40" normalizeH="0" baseline="0" noProof="0" dirty="0">
                <a:ln>
                  <a:noFill/>
                </a:ln>
                <a:solidFill>
                  <a:srgbClr val="404040"/>
                </a:solidFill>
                <a:effectLst/>
                <a:uLnTx/>
                <a:uFillTx/>
                <a:latin typeface="宋体"/>
                <a:ea typeface="+mn-ea"/>
                <a:cs typeface="宋体"/>
              </a:rPr>
              <a:t>执</a:t>
            </a:r>
            <a:r>
              <a:rPr kumimoji="0" sz="2400" b="0" i="0" u="none" strike="noStrike" kern="1200" cap="none" spc="-20" normalizeH="0" baseline="0" noProof="0" dirty="0">
                <a:ln>
                  <a:noFill/>
                </a:ln>
                <a:solidFill>
                  <a:srgbClr val="404040"/>
                </a:solidFill>
                <a:effectLst/>
                <a:uLnTx/>
                <a:uFillTx/>
                <a:latin typeface="宋体"/>
                <a:ea typeface="+mn-ea"/>
                <a:cs typeface="宋体"/>
              </a:rPr>
              <a:t>行</a:t>
            </a:r>
            <a:r>
              <a:rPr kumimoji="0" sz="2400" b="0" i="0" u="none" strike="noStrike" kern="1200" cap="none" spc="-40" normalizeH="0" baseline="0" noProof="0" dirty="0">
                <a:ln>
                  <a:noFill/>
                </a:ln>
                <a:solidFill>
                  <a:srgbClr val="404040"/>
                </a:solidFill>
                <a:effectLst/>
                <a:uLnTx/>
                <a:uFillTx/>
                <a:latin typeface="宋体"/>
                <a:ea typeface="+mn-ea"/>
                <a:cs typeface="宋体"/>
              </a:rPr>
              <a:t>代</a:t>
            </a:r>
            <a:r>
              <a:rPr kumimoji="0" sz="2400" b="0" i="0" u="none" strike="noStrike" kern="1200" cap="none" spc="-20" normalizeH="0" baseline="0" noProof="0" dirty="0">
                <a:ln>
                  <a:noFill/>
                </a:ln>
                <a:solidFill>
                  <a:srgbClr val="404040"/>
                </a:solidFill>
                <a:effectLst/>
                <a:uLnTx/>
                <a:uFillTx/>
                <a:latin typeface="宋体"/>
                <a:ea typeface="+mn-ea"/>
                <a:cs typeface="宋体"/>
              </a:rPr>
              <a:t>码</a:t>
            </a:r>
            <a:endParaRPr kumimoji="0" sz="2400" b="0" i="0" u="none" strike="noStrike" kern="1200" cap="none" spc="0" normalizeH="0" baseline="0" noProof="0" dirty="0">
              <a:ln>
                <a:noFill/>
              </a:ln>
              <a:solidFill>
                <a:prstClr val="black"/>
              </a:solidFill>
              <a:effectLst/>
              <a:uLnTx/>
              <a:uFillTx/>
              <a:latin typeface="宋体"/>
              <a:ea typeface="+mn-ea"/>
              <a:cs typeface="宋体"/>
            </a:endParaRPr>
          </a:p>
          <a:p>
            <a:pPr marL="659130" marR="5080" lvl="0" indent="-287020" algn="l" defTabSz="914400" rtl="0" eaLnBrk="1" fontAlgn="auto" latinLnBrk="0" hangingPunct="1">
              <a:lnSpc>
                <a:spcPct val="150000"/>
              </a:lnSpc>
              <a:spcBef>
                <a:spcPts val="335"/>
              </a:spcBef>
              <a:spcAft>
                <a:spcPts val="0"/>
              </a:spcAft>
              <a:buClrTx/>
              <a:buSzTx/>
              <a:buFont typeface="Wingdings"/>
              <a:buChar char=""/>
              <a:tabLst>
                <a:tab pos="658495" algn="l"/>
                <a:tab pos="659130" algn="l"/>
              </a:tabLst>
              <a:defRPr/>
            </a:pPr>
            <a:r>
              <a:rPr kumimoji="0" sz="2400" b="0" i="0" u="none" strike="noStrike" kern="1200" cap="none" spc="20" normalizeH="0" baseline="0" noProof="0" dirty="0">
                <a:ln>
                  <a:noFill/>
                </a:ln>
                <a:solidFill>
                  <a:srgbClr val="404040"/>
                </a:solidFill>
                <a:effectLst/>
                <a:uLnTx/>
                <a:uFillTx/>
                <a:latin typeface="宋体"/>
                <a:ea typeface="+mn-ea"/>
                <a:cs typeface="宋体"/>
              </a:rPr>
              <a:t>while</a:t>
            </a:r>
            <a:r>
              <a:rPr kumimoji="0" sz="2400" b="0" i="0" u="none" strike="noStrike" kern="1200" cap="none" spc="-25" normalizeH="0" baseline="0" noProof="0" dirty="0">
                <a:ln>
                  <a:noFill/>
                </a:ln>
                <a:solidFill>
                  <a:srgbClr val="404040"/>
                </a:solidFill>
                <a:effectLst/>
                <a:uLnTx/>
                <a:uFillTx/>
                <a:latin typeface="宋体"/>
                <a:ea typeface="+mn-ea"/>
                <a:cs typeface="宋体"/>
              </a:rPr>
              <a:t>大括号里代码执行</a:t>
            </a:r>
            <a:r>
              <a:rPr kumimoji="0" sz="2400" b="0" i="0" u="none" strike="noStrike" kern="1200" cap="none" spc="-35" normalizeH="0" baseline="0" noProof="0" dirty="0">
                <a:ln>
                  <a:noFill/>
                </a:ln>
                <a:solidFill>
                  <a:srgbClr val="404040"/>
                </a:solidFill>
                <a:effectLst/>
                <a:uLnTx/>
                <a:uFillTx/>
                <a:latin typeface="宋体"/>
                <a:ea typeface="+mn-ea"/>
                <a:cs typeface="宋体"/>
              </a:rPr>
              <a:t>完</a:t>
            </a:r>
            <a:r>
              <a:rPr kumimoji="0" sz="2400" b="0" i="0" u="none" strike="noStrike" kern="1200" cap="none" spc="-25" normalizeH="0" baseline="0" noProof="0" dirty="0">
                <a:ln>
                  <a:noFill/>
                </a:ln>
                <a:solidFill>
                  <a:srgbClr val="404040"/>
                </a:solidFill>
                <a:effectLst/>
                <a:uLnTx/>
                <a:uFillTx/>
                <a:latin typeface="宋体"/>
                <a:ea typeface="+mn-ea"/>
                <a:cs typeface="宋体"/>
              </a:rPr>
              <a:t>毕</a:t>
            </a:r>
            <a:r>
              <a:rPr kumimoji="0" sz="2400" b="0" i="0" u="none" strike="noStrike" kern="1200" cap="none" spc="-35" normalizeH="0" baseline="0" noProof="0" dirty="0">
                <a:ln>
                  <a:noFill/>
                </a:ln>
                <a:solidFill>
                  <a:srgbClr val="404040"/>
                </a:solidFill>
                <a:effectLst/>
                <a:uLnTx/>
                <a:uFillTx/>
                <a:latin typeface="宋体"/>
                <a:ea typeface="+mn-ea"/>
                <a:cs typeface="宋体"/>
              </a:rPr>
              <a:t>后</a:t>
            </a:r>
            <a:r>
              <a:rPr kumimoji="0" sz="2400" b="0" i="0" u="none" strike="noStrike" kern="1200" cap="none" spc="-25" normalizeH="0" baseline="0" noProof="0" dirty="0">
                <a:ln>
                  <a:noFill/>
                </a:ln>
                <a:solidFill>
                  <a:srgbClr val="404040"/>
                </a:solidFill>
                <a:effectLst/>
                <a:uLnTx/>
                <a:uFillTx/>
                <a:latin typeface="宋体"/>
                <a:ea typeface="+mn-ea"/>
                <a:cs typeface="宋体"/>
              </a:rPr>
              <a:t>不会</a:t>
            </a:r>
            <a:r>
              <a:rPr kumimoji="0" sz="2400" b="0" i="0" u="none" strike="noStrike" kern="1200" cap="none" spc="-35" normalizeH="0" baseline="0" noProof="0" dirty="0">
                <a:ln>
                  <a:noFill/>
                </a:ln>
                <a:solidFill>
                  <a:srgbClr val="404040"/>
                </a:solidFill>
                <a:effectLst/>
                <a:uLnTx/>
                <a:uFillTx/>
                <a:latin typeface="宋体"/>
                <a:ea typeface="+mn-ea"/>
                <a:cs typeface="宋体"/>
              </a:rPr>
              <a:t>跳</a:t>
            </a:r>
            <a:r>
              <a:rPr kumimoji="0" sz="2400" b="0" i="0" u="none" strike="noStrike" kern="1200" cap="none" spc="-25" normalizeH="0" baseline="0" noProof="0" dirty="0">
                <a:ln>
                  <a:noFill/>
                </a:ln>
                <a:solidFill>
                  <a:srgbClr val="404040"/>
                </a:solidFill>
                <a:effectLst/>
                <a:uLnTx/>
                <a:uFillTx/>
                <a:latin typeface="宋体"/>
                <a:ea typeface="+mn-ea"/>
                <a:cs typeface="宋体"/>
              </a:rPr>
              <a:t>出</a:t>
            </a:r>
            <a:r>
              <a:rPr kumimoji="0" sz="2400" b="0" i="0" u="none" strike="noStrike" kern="1200" cap="none" spc="-35" normalizeH="0" baseline="0" noProof="0" dirty="0">
                <a:ln>
                  <a:noFill/>
                </a:ln>
                <a:solidFill>
                  <a:srgbClr val="404040"/>
                </a:solidFill>
                <a:effectLst/>
                <a:uLnTx/>
                <a:uFillTx/>
                <a:latin typeface="宋体"/>
                <a:ea typeface="+mn-ea"/>
                <a:cs typeface="宋体"/>
              </a:rPr>
              <a:t>，</a:t>
            </a:r>
            <a:r>
              <a:rPr kumimoji="0" sz="2400" b="0" i="0" u="none" strike="noStrike" kern="1200" cap="none" spc="-25" normalizeH="0" baseline="0" noProof="0" dirty="0">
                <a:ln>
                  <a:noFill/>
                </a:ln>
                <a:solidFill>
                  <a:srgbClr val="404040"/>
                </a:solidFill>
                <a:effectLst/>
                <a:uLnTx/>
                <a:uFillTx/>
                <a:latin typeface="宋体"/>
                <a:ea typeface="+mn-ea"/>
                <a:cs typeface="宋体"/>
              </a:rPr>
              <a:t>而是</a:t>
            </a:r>
            <a:r>
              <a:rPr kumimoji="0" sz="2400" b="0" i="0" u="none" strike="noStrike" kern="1200" cap="none" spc="-35" normalizeH="0" baseline="0" noProof="0" dirty="0">
                <a:ln>
                  <a:noFill/>
                </a:ln>
                <a:solidFill>
                  <a:srgbClr val="404040"/>
                </a:solidFill>
                <a:effectLst/>
                <a:uLnTx/>
                <a:uFillTx/>
                <a:latin typeface="宋体"/>
                <a:ea typeface="+mn-ea"/>
                <a:cs typeface="宋体"/>
              </a:rPr>
              <a:t>继</a:t>
            </a:r>
            <a:r>
              <a:rPr kumimoji="0" sz="2400" b="0" i="0" u="none" strike="noStrike" kern="1200" cap="none" spc="-25" normalizeH="0" baseline="0" noProof="0" dirty="0">
                <a:ln>
                  <a:noFill/>
                </a:ln>
                <a:solidFill>
                  <a:srgbClr val="404040"/>
                </a:solidFill>
                <a:effectLst/>
                <a:uLnTx/>
                <a:uFillTx/>
                <a:latin typeface="宋体"/>
                <a:ea typeface="+mn-ea"/>
                <a:cs typeface="宋体"/>
              </a:rPr>
              <a:t>续</a:t>
            </a:r>
            <a:r>
              <a:rPr kumimoji="0" sz="2400" b="0" i="0" u="none" strike="noStrike" kern="1200" cap="none" spc="-35" normalizeH="0" baseline="0" noProof="0" dirty="0">
                <a:ln>
                  <a:noFill/>
                </a:ln>
                <a:solidFill>
                  <a:srgbClr val="404040"/>
                </a:solidFill>
                <a:effectLst/>
                <a:uLnTx/>
                <a:uFillTx/>
                <a:latin typeface="宋体"/>
                <a:ea typeface="+mn-ea"/>
                <a:cs typeface="宋体"/>
              </a:rPr>
              <a:t>回</a:t>
            </a:r>
            <a:r>
              <a:rPr kumimoji="0" sz="2400" b="0" i="0" u="none" strike="noStrike" kern="1200" cap="none" spc="-25" normalizeH="0" baseline="0" noProof="0" dirty="0">
                <a:ln>
                  <a:noFill/>
                </a:ln>
                <a:solidFill>
                  <a:srgbClr val="404040"/>
                </a:solidFill>
                <a:effectLst/>
                <a:uLnTx/>
                <a:uFillTx/>
                <a:latin typeface="宋体"/>
                <a:ea typeface="+mn-ea"/>
                <a:cs typeface="宋体"/>
              </a:rPr>
              <a:t>到</a:t>
            </a:r>
            <a:r>
              <a:rPr kumimoji="0" sz="2400" b="0" i="0" u="none" strike="noStrike" kern="1200" cap="none" spc="-35" normalizeH="0" baseline="0" noProof="0" dirty="0">
                <a:ln>
                  <a:noFill/>
                </a:ln>
                <a:solidFill>
                  <a:srgbClr val="404040"/>
                </a:solidFill>
                <a:effectLst/>
                <a:uLnTx/>
                <a:uFillTx/>
                <a:latin typeface="宋体"/>
                <a:ea typeface="+mn-ea"/>
                <a:cs typeface="宋体"/>
              </a:rPr>
              <a:t>小</a:t>
            </a:r>
            <a:r>
              <a:rPr kumimoji="0" sz="2400" b="0" i="0" u="none" strike="noStrike" kern="1200" cap="none" spc="-25" normalizeH="0" baseline="0" noProof="0" dirty="0">
                <a:ln>
                  <a:noFill/>
                </a:ln>
                <a:solidFill>
                  <a:srgbClr val="404040"/>
                </a:solidFill>
                <a:effectLst/>
                <a:uLnTx/>
                <a:uFillTx/>
                <a:latin typeface="宋体"/>
                <a:ea typeface="+mn-ea"/>
                <a:cs typeface="宋体"/>
              </a:rPr>
              <a:t>括号</a:t>
            </a:r>
            <a:r>
              <a:rPr kumimoji="0" sz="2400" b="0" i="0" u="none" strike="noStrike" kern="1200" cap="none" spc="-35" normalizeH="0" baseline="0" noProof="0" dirty="0">
                <a:ln>
                  <a:noFill/>
                </a:ln>
                <a:solidFill>
                  <a:srgbClr val="404040"/>
                </a:solidFill>
                <a:effectLst/>
                <a:uLnTx/>
                <a:uFillTx/>
                <a:latin typeface="宋体"/>
                <a:ea typeface="+mn-ea"/>
                <a:cs typeface="宋体"/>
              </a:rPr>
              <a:t>里</a:t>
            </a:r>
            <a:r>
              <a:rPr kumimoji="0" sz="2400" b="0" i="0" u="none" strike="noStrike" kern="1200" cap="none" spc="-25" normalizeH="0" baseline="0" noProof="0" dirty="0">
                <a:ln>
                  <a:noFill/>
                </a:ln>
                <a:solidFill>
                  <a:srgbClr val="404040"/>
                </a:solidFill>
                <a:effectLst/>
                <a:uLnTx/>
                <a:uFillTx/>
                <a:latin typeface="宋体"/>
                <a:ea typeface="+mn-ea"/>
                <a:cs typeface="宋体"/>
              </a:rPr>
              <a:t>判</a:t>
            </a:r>
            <a:r>
              <a:rPr kumimoji="0" sz="2400" b="0" i="0" u="none" strike="noStrike" kern="1200" cap="none" spc="-35" normalizeH="0" baseline="0" noProof="0" dirty="0">
                <a:ln>
                  <a:noFill/>
                </a:ln>
                <a:solidFill>
                  <a:srgbClr val="404040"/>
                </a:solidFill>
                <a:effectLst/>
                <a:uLnTx/>
                <a:uFillTx/>
                <a:latin typeface="宋体"/>
                <a:ea typeface="+mn-ea"/>
                <a:cs typeface="宋体"/>
              </a:rPr>
              <a:t>断</a:t>
            </a:r>
            <a:r>
              <a:rPr kumimoji="0" sz="2400" b="0" i="0" u="none" strike="noStrike" kern="1200" cap="none" spc="-25" normalizeH="0" baseline="0" noProof="0" dirty="0">
                <a:ln>
                  <a:noFill/>
                </a:ln>
                <a:solidFill>
                  <a:srgbClr val="404040"/>
                </a:solidFill>
                <a:effectLst/>
                <a:uLnTx/>
                <a:uFillTx/>
                <a:latin typeface="宋体"/>
                <a:ea typeface="+mn-ea"/>
                <a:cs typeface="宋体"/>
              </a:rPr>
              <a:t>条件</a:t>
            </a:r>
            <a:r>
              <a:rPr kumimoji="0" sz="2400" b="0" i="0" u="none" strike="noStrike" kern="1200" cap="none" spc="-35" normalizeH="0" baseline="0" noProof="0" dirty="0">
                <a:ln>
                  <a:noFill/>
                </a:ln>
                <a:solidFill>
                  <a:srgbClr val="404040"/>
                </a:solidFill>
                <a:effectLst/>
                <a:uLnTx/>
                <a:uFillTx/>
                <a:latin typeface="宋体"/>
                <a:ea typeface="+mn-ea"/>
                <a:cs typeface="宋体"/>
              </a:rPr>
              <a:t>是</a:t>
            </a:r>
            <a:r>
              <a:rPr kumimoji="0" sz="2400" b="0" i="0" u="none" strike="noStrike" kern="1200" cap="none" spc="-25" normalizeH="0" baseline="0" noProof="0" dirty="0">
                <a:ln>
                  <a:noFill/>
                </a:ln>
                <a:solidFill>
                  <a:srgbClr val="404040"/>
                </a:solidFill>
                <a:effectLst/>
                <a:uLnTx/>
                <a:uFillTx/>
                <a:latin typeface="宋体"/>
                <a:ea typeface="+mn-ea"/>
                <a:cs typeface="宋体"/>
              </a:rPr>
              <a:t>否</a:t>
            </a:r>
            <a:r>
              <a:rPr kumimoji="0" sz="2400" b="0" i="0" u="none" strike="noStrike" kern="1200" cap="none" spc="-35" normalizeH="0" baseline="0" noProof="0" dirty="0">
                <a:ln>
                  <a:noFill/>
                </a:ln>
                <a:solidFill>
                  <a:srgbClr val="404040"/>
                </a:solidFill>
                <a:effectLst/>
                <a:uLnTx/>
                <a:uFillTx/>
                <a:latin typeface="宋体"/>
                <a:ea typeface="+mn-ea"/>
                <a:cs typeface="宋体"/>
              </a:rPr>
              <a:t>满</a:t>
            </a:r>
            <a:r>
              <a:rPr kumimoji="0" sz="2400" b="0" i="0" u="none" strike="noStrike" kern="1200" cap="none" spc="-25" normalizeH="0" baseline="0" noProof="0" dirty="0">
                <a:ln>
                  <a:noFill/>
                </a:ln>
                <a:solidFill>
                  <a:srgbClr val="404040"/>
                </a:solidFill>
                <a:effectLst/>
                <a:uLnTx/>
                <a:uFillTx/>
                <a:latin typeface="宋体"/>
                <a:ea typeface="+mn-ea"/>
                <a:cs typeface="宋体"/>
              </a:rPr>
              <a:t>足</a:t>
            </a:r>
            <a:r>
              <a:rPr kumimoji="0" sz="2400" b="0" i="0" u="none" strike="noStrike" kern="1200" cap="none" spc="-35" normalizeH="0" baseline="0" noProof="0" dirty="0">
                <a:ln>
                  <a:noFill/>
                </a:ln>
                <a:solidFill>
                  <a:srgbClr val="404040"/>
                </a:solidFill>
                <a:effectLst/>
                <a:uLnTx/>
                <a:uFillTx/>
                <a:latin typeface="宋体"/>
                <a:ea typeface="+mn-ea"/>
                <a:cs typeface="宋体"/>
              </a:rPr>
              <a:t>，</a:t>
            </a:r>
            <a:r>
              <a:rPr kumimoji="0" sz="2400" b="0" i="0" u="none" strike="noStrike" kern="1200" cap="none" spc="-25" normalizeH="0" baseline="0" noProof="0" dirty="0">
                <a:ln>
                  <a:noFill/>
                </a:ln>
                <a:solidFill>
                  <a:srgbClr val="404040"/>
                </a:solidFill>
                <a:effectLst/>
                <a:uLnTx/>
                <a:uFillTx/>
                <a:latin typeface="宋体"/>
                <a:ea typeface="+mn-ea"/>
                <a:cs typeface="宋体"/>
              </a:rPr>
              <a:t>若满</a:t>
            </a:r>
            <a:r>
              <a:rPr kumimoji="0" sz="2400" b="0" i="0" u="none" strike="noStrike" kern="1200" cap="none" spc="-35" normalizeH="0" baseline="0" noProof="0" dirty="0">
                <a:ln>
                  <a:noFill/>
                </a:ln>
                <a:solidFill>
                  <a:srgbClr val="404040"/>
                </a:solidFill>
                <a:effectLst/>
                <a:uLnTx/>
                <a:uFillTx/>
                <a:latin typeface="宋体"/>
                <a:ea typeface="+mn-ea"/>
                <a:cs typeface="宋体"/>
              </a:rPr>
              <a:t>足</a:t>
            </a:r>
            <a:r>
              <a:rPr kumimoji="0" sz="2400" b="0" i="0" u="none" strike="noStrike" kern="1200" cap="none" spc="-25" normalizeH="0" baseline="0" noProof="0" dirty="0">
                <a:ln>
                  <a:noFill/>
                </a:ln>
                <a:solidFill>
                  <a:srgbClr val="404040"/>
                </a:solidFill>
                <a:effectLst/>
                <a:uLnTx/>
                <a:uFillTx/>
                <a:latin typeface="宋体"/>
                <a:ea typeface="+mn-ea"/>
                <a:cs typeface="宋体"/>
              </a:rPr>
              <a:t>又</a:t>
            </a:r>
            <a:r>
              <a:rPr kumimoji="0" sz="2400" b="0" i="0" u="none" strike="noStrike" kern="1200" cap="none" spc="-35" normalizeH="0" baseline="0" noProof="0" dirty="0">
                <a:ln>
                  <a:noFill/>
                </a:ln>
                <a:solidFill>
                  <a:srgbClr val="404040"/>
                </a:solidFill>
                <a:effectLst/>
                <a:uLnTx/>
                <a:uFillTx/>
                <a:latin typeface="宋体"/>
                <a:ea typeface="+mn-ea"/>
                <a:cs typeface="宋体"/>
              </a:rPr>
              <a:t>执</a:t>
            </a:r>
            <a:r>
              <a:rPr kumimoji="0" sz="2400" b="0" i="0" u="none" strike="noStrike" kern="1200" cap="none" spc="-25" normalizeH="0" baseline="0" noProof="0" dirty="0">
                <a:ln>
                  <a:noFill/>
                </a:ln>
                <a:solidFill>
                  <a:srgbClr val="404040"/>
                </a:solidFill>
                <a:effectLst/>
                <a:uLnTx/>
                <a:uFillTx/>
                <a:latin typeface="宋体"/>
                <a:ea typeface="+mn-ea"/>
                <a:cs typeface="宋体"/>
              </a:rPr>
              <a:t>行大</a:t>
            </a:r>
            <a:r>
              <a:rPr kumimoji="0" sz="2400" b="0" i="0" u="none" strike="noStrike" kern="1200" cap="none" spc="-35" normalizeH="0" baseline="0" noProof="0" dirty="0">
                <a:ln>
                  <a:noFill/>
                </a:ln>
                <a:solidFill>
                  <a:srgbClr val="404040"/>
                </a:solidFill>
                <a:effectLst/>
                <a:uLnTx/>
                <a:uFillTx/>
                <a:latin typeface="宋体"/>
                <a:ea typeface="+mn-ea"/>
                <a:cs typeface="宋体"/>
              </a:rPr>
              <a:t>括</a:t>
            </a:r>
            <a:r>
              <a:rPr kumimoji="0" sz="2400" b="0" i="0" u="none" strike="noStrike" kern="1200" cap="none" spc="-25" normalizeH="0" baseline="0" noProof="0" dirty="0">
                <a:ln>
                  <a:noFill/>
                </a:ln>
                <a:solidFill>
                  <a:srgbClr val="404040"/>
                </a:solidFill>
                <a:effectLst/>
                <a:uLnTx/>
                <a:uFillTx/>
                <a:latin typeface="宋体"/>
                <a:ea typeface="+mn-ea"/>
                <a:cs typeface="宋体"/>
              </a:rPr>
              <a:t>号</a:t>
            </a:r>
            <a:r>
              <a:rPr kumimoji="0" sz="2400" b="0" i="0" u="none" strike="noStrike" kern="1200" cap="none" spc="-35" normalizeH="0" baseline="0" noProof="0" dirty="0">
                <a:ln>
                  <a:noFill/>
                </a:ln>
                <a:solidFill>
                  <a:srgbClr val="404040"/>
                </a:solidFill>
                <a:effectLst/>
                <a:uLnTx/>
                <a:uFillTx/>
                <a:latin typeface="宋体"/>
                <a:ea typeface="+mn-ea"/>
                <a:cs typeface="宋体"/>
              </a:rPr>
              <a:t>里</a:t>
            </a:r>
            <a:r>
              <a:rPr kumimoji="0" sz="2400" b="0" i="0" u="none" strike="noStrike" kern="1200" cap="none" spc="-25" normalizeH="0" baseline="0" noProof="0" dirty="0">
                <a:ln>
                  <a:noFill/>
                </a:ln>
                <a:solidFill>
                  <a:srgbClr val="404040"/>
                </a:solidFill>
                <a:effectLst/>
                <a:uLnTx/>
                <a:uFillTx/>
                <a:latin typeface="宋体"/>
                <a:ea typeface="+mn-ea"/>
                <a:cs typeface="宋体"/>
              </a:rPr>
              <a:t>的</a:t>
            </a:r>
            <a:r>
              <a:rPr kumimoji="0" sz="2400" b="0" i="0" u="none" strike="noStrike" kern="1200" cap="none" spc="-35" normalizeH="0" baseline="0" noProof="0" dirty="0">
                <a:ln>
                  <a:noFill/>
                </a:ln>
                <a:solidFill>
                  <a:srgbClr val="404040"/>
                </a:solidFill>
                <a:effectLst/>
                <a:uLnTx/>
                <a:uFillTx/>
                <a:latin typeface="宋体"/>
                <a:ea typeface="+mn-ea"/>
                <a:cs typeface="宋体"/>
              </a:rPr>
              <a:t>代</a:t>
            </a:r>
            <a:r>
              <a:rPr kumimoji="0" sz="2400" b="0" i="0" u="none" strike="noStrike" kern="1200" cap="none" spc="-25" normalizeH="0" baseline="0" noProof="0" dirty="0">
                <a:ln>
                  <a:noFill/>
                </a:ln>
                <a:solidFill>
                  <a:srgbClr val="404040"/>
                </a:solidFill>
                <a:effectLst/>
                <a:uLnTx/>
                <a:uFillTx/>
                <a:latin typeface="宋体"/>
                <a:ea typeface="+mn-ea"/>
                <a:cs typeface="宋体"/>
              </a:rPr>
              <a:t>码，</a:t>
            </a:r>
            <a:r>
              <a:rPr kumimoji="0" sz="2400" b="0" i="0" u="none" strike="noStrike" kern="1200" cap="none" spc="-35" normalizeH="0" baseline="0" noProof="0" dirty="0" smtClean="0">
                <a:ln>
                  <a:noFill/>
                </a:ln>
                <a:solidFill>
                  <a:srgbClr val="404040"/>
                </a:solidFill>
                <a:effectLst/>
                <a:uLnTx/>
                <a:uFillTx/>
                <a:latin typeface="宋体"/>
                <a:ea typeface="+mn-ea"/>
                <a:cs typeface="宋体"/>
              </a:rPr>
              <a:t>然</a:t>
            </a:r>
            <a:r>
              <a:rPr kumimoji="0" sz="2400" b="0" i="0" u="none" strike="noStrike" kern="1200" cap="none" spc="-25" normalizeH="0" baseline="0" noProof="0" dirty="0" smtClean="0">
                <a:ln>
                  <a:noFill/>
                </a:ln>
                <a:solidFill>
                  <a:srgbClr val="404040"/>
                </a:solidFill>
                <a:effectLst/>
                <a:uLnTx/>
                <a:uFillTx/>
                <a:latin typeface="宋体"/>
                <a:ea typeface="+mn-ea"/>
                <a:cs typeface="宋体"/>
              </a:rPr>
              <a:t>后</a:t>
            </a:r>
            <a:r>
              <a:rPr kumimoji="0" sz="2400" b="0" i="0" u="none" strike="noStrike" kern="1200" cap="none" spc="-35" normalizeH="0" baseline="0" noProof="0" dirty="0" smtClean="0">
                <a:ln>
                  <a:noFill/>
                </a:ln>
                <a:solidFill>
                  <a:srgbClr val="404040"/>
                </a:solidFill>
                <a:effectLst/>
                <a:uLnTx/>
                <a:uFillTx/>
                <a:latin typeface="宋体"/>
                <a:ea typeface="+mn-ea"/>
                <a:cs typeface="宋体"/>
              </a:rPr>
              <a:t>再</a:t>
            </a:r>
            <a:r>
              <a:rPr kumimoji="0" sz="2400" b="0" i="0" u="none" strike="noStrike" kern="1200" cap="none" spc="-25" normalizeH="0" baseline="0" noProof="0" dirty="0" smtClean="0">
                <a:ln>
                  <a:noFill/>
                </a:ln>
                <a:solidFill>
                  <a:srgbClr val="404040"/>
                </a:solidFill>
                <a:effectLst/>
                <a:uLnTx/>
                <a:uFillTx/>
                <a:latin typeface="宋体"/>
                <a:ea typeface="+mn-ea"/>
                <a:cs typeface="宋体"/>
              </a:rPr>
              <a:t>回到小括号判断条件</a:t>
            </a:r>
            <a:r>
              <a:rPr kumimoji="0" sz="2400" b="0" i="0" u="none" strike="noStrike" kern="1200" cap="none" spc="-25" normalizeH="0" baseline="0" noProof="0" dirty="0">
                <a:ln>
                  <a:noFill/>
                </a:ln>
                <a:solidFill>
                  <a:srgbClr val="404040"/>
                </a:solidFill>
                <a:effectLst/>
                <a:uLnTx/>
                <a:uFillTx/>
                <a:latin typeface="宋体"/>
                <a:ea typeface="+mn-ea"/>
                <a:cs typeface="宋体"/>
              </a:rPr>
              <a:t>，</a:t>
            </a:r>
            <a:r>
              <a:rPr kumimoji="0" sz="2400" b="0" i="0" u="none" strike="noStrike" kern="1200" cap="none" spc="-35" normalizeH="0" baseline="0" noProof="0" dirty="0">
                <a:ln>
                  <a:noFill/>
                </a:ln>
                <a:solidFill>
                  <a:srgbClr val="404040"/>
                </a:solidFill>
                <a:effectLst/>
                <a:uLnTx/>
                <a:uFillTx/>
                <a:latin typeface="宋体"/>
                <a:ea typeface="+mn-ea"/>
                <a:cs typeface="宋体"/>
              </a:rPr>
              <a:t>直</a:t>
            </a:r>
            <a:r>
              <a:rPr kumimoji="0" sz="2400" b="0" i="0" u="none" strike="noStrike" kern="1200" cap="none" spc="-25" normalizeH="0" baseline="0" noProof="0" dirty="0">
                <a:ln>
                  <a:noFill/>
                </a:ln>
                <a:solidFill>
                  <a:srgbClr val="404040"/>
                </a:solidFill>
                <a:effectLst/>
                <a:uLnTx/>
                <a:uFillTx/>
                <a:latin typeface="宋体"/>
                <a:ea typeface="+mn-ea"/>
                <a:cs typeface="宋体"/>
              </a:rPr>
              <a:t>到</a:t>
            </a:r>
            <a:r>
              <a:rPr kumimoji="0" sz="2400" b="0" i="0" u="none" strike="noStrike" kern="1200" cap="none" spc="-35" normalizeH="0" baseline="0" noProof="0" dirty="0">
                <a:ln>
                  <a:noFill/>
                </a:ln>
                <a:solidFill>
                  <a:srgbClr val="404040"/>
                </a:solidFill>
                <a:effectLst/>
                <a:uLnTx/>
                <a:uFillTx/>
                <a:latin typeface="宋体"/>
                <a:ea typeface="+mn-ea"/>
                <a:cs typeface="宋体"/>
              </a:rPr>
              <a:t>括</a:t>
            </a:r>
            <a:r>
              <a:rPr kumimoji="0" sz="2400" b="0" i="0" u="none" strike="noStrike" kern="1200" cap="none" spc="-25" normalizeH="0" baseline="0" noProof="0" dirty="0">
                <a:ln>
                  <a:noFill/>
                </a:ln>
                <a:solidFill>
                  <a:srgbClr val="404040"/>
                </a:solidFill>
                <a:effectLst/>
                <a:uLnTx/>
                <a:uFillTx/>
                <a:latin typeface="宋体"/>
                <a:ea typeface="+mn-ea"/>
                <a:cs typeface="宋体"/>
              </a:rPr>
              <a:t>号内</a:t>
            </a:r>
            <a:r>
              <a:rPr kumimoji="0" sz="2400" b="0" i="0" u="none" strike="noStrike" kern="1200" cap="none" spc="-35" normalizeH="0" baseline="0" noProof="0" dirty="0">
                <a:ln>
                  <a:noFill/>
                </a:ln>
                <a:solidFill>
                  <a:srgbClr val="404040"/>
                </a:solidFill>
                <a:effectLst/>
                <a:uLnTx/>
                <a:uFillTx/>
                <a:latin typeface="宋体"/>
                <a:ea typeface="+mn-ea"/>
                <a:cs typeface="宋体"/>
              </a:rPr>
              <a:t>条</a:t>
            </a:r>
            <a:r>
              <a:rPr kumimoji="0" sz="2400" b="0" i="0" u="none" strike="noStrike" kern="1200" cap="none" spc="-25" normalizeH="0" baseline="0" noProof="0" dirty="0">
                <a:ln>
                  <a:noFill/>
                </a:ln>
                <a:solidFill>
                  <a:srgbClr val="404040"/>
                </a:solidFill>
                <a:effectLst/>
                <a:uLnTx/>
                <a:uFillTx/>
                <a:latin typeface="宋体"/>
                <a:ea typeface="+mn-ea"/>
                <a:cs typeface="宋体"/>
              </a:rPr>
              <a:t>件</a:t>
            </a:r>
            <a:r>
              <a:rPr kumimoji="0" sz="2400" b="0" i="0" u="none" strike="noStrike" kern="1200" cap="none" spc="-35" normalizeH="0" baseline="0" noProof="0" dirty="0">
                <a:ln>
                  <a:noFill/>
                </a:ln>
                <a:solidFill>
                  <a:srgbClr val="404040"/>
                </a:solidFill>
                <a:effectLst/>
                <a:uLnTx/>
                <a:uFillTx/>
                <a:latin typeface="宋体"/>
                <a:ea typeface="+mn-ea"/>
                <a:cs typeface="宋体"/>
              </a:rPr>
              <a:t>不</a:t>
            </a:r>
            <a:r>
              <a:rPr kumimoji="0" sz="2400" b="0" i="0" u="none" strike="noStrike" kern="1200" cap="none" spc="-25" normalizeH="0" baseline="0" noProof="0" dirty="0">
                <a:ln>
                  <a:noFill/>
                </a:ln>
                <a:solidFill>
                  <a:srgbClr val="404040"/>
                </a:solidFill>
                <a:effectLst/>
                <a:uLnTx/>
                <a:uFillTx/>
                <a:latin typeface="宋体"/>
                <a:ea typeface="+mn-ea"/>
                <a:cs typeface="宋体"/>
              </a:rPr>
              <a:t>满足</a:t>
            </a:r>
            <a:r>
              <a:rPr kumimoji="0" sz="2400" b="0" i="0" u="none" strike="noStrike" kern="1200" cap="none" spc="-35" normalizeH="0" baseline="0" noProof="0" dirty="0">
                <a:ln>
                  <a:noFill/>
                </a:ln>
                <a:solidFill>
                  <a:srgbClr val="404040"/>
                </a:solidFill>
                <a:effectLst/>
                <a:uLnTx/>
                <a:uFillTx/>
                <a:latin typeface="宋体"/>
                <a:ea typeface="+mn-ea"/>
                <a:cs typeface="宋体"/>
              </a:rPr>
              <a:t>，</a:t>
            </a:r>
            <a:r>
              <a:rPr kumimoji="0" sz="2400" b="0" i="0" u="none" strike="noStrike" kern="1200" cap="none" spc="-20" normalizeH="0" baseline="0" noProof="0" dirty="0">
                <a:ln>
                  <a:noFill/>
                </a:ln>
                <a:solidFill>
                  <a:srgbClr val="404040"/>
                </a:solidFill>
                <a:effectLst/>
                <a:uLnTx/>
                <a:uFillTx/>
                <a:latin typeface="宋体"/>
                <a:ea typeface="+mn-ea"/>
                <a:cs typeface="宋体"/>
              </a:rPr>
              <a:t>即</a:t>
            </a:r>
            <a:r>
              <a:rPr kumimoji="0" sz="2400" b="0" i="0" u="none" strike="noStrike" kern="1200" cap="none" spc="-35" normalizeH="0" baseline="0" noProof="0" dirty="0">
                <a:ln>
                  <a:noFill/>
                </a:ln>
                <a:solidFill>
                  <a:srgbClr val="404040"/>
                </a:solidFill>
                <a:effectLst/>
                <a:uLnTx/>
                <a:uFillTx/>
                <a:latin typeface="宋体"/>
                <a:ea typeface="+mn-ea"/>
                <a:cs typeface="宋体"/>
              </a:rPr>
              <a:t>跳出</a:t>
            </a:r>
            <a:endParaRPr kumimoji="0" sz="2400" b="0" i="0" u="none" strike="noStrike" kern="1200" cap="none" spc="0" normalizeH="0" baseline="0" noProof="0" dirty="0">
              <a:ln>
                <a:noFill/>
              </a:ln>
              <a:solidFill>
                <a:prstClr val="black"/>
              </a:solidFill>
              <a:effectLst/>
              <a:uLnTx/>
              <a:uFillTx/>
              <a:latin typeface="宋体"/>
              <a:ea typeface="+mn-ea"/>
              <a:cs typeface="宋体"/>
            </a:endParaRPr>
          </a:p>
        </p:txBody>
      </p:sp>
      <p:sp>
        <p:nvSpPr>
          <p:cNvPr id="4" name="灯片编号占位符 3"/>
          <p:cNvSpPr>
            <a:spLocks noGrp="1"/>
          </p:cNvSpPr>
          <p:nvPr>
            <p:ph type="sldNum" sz="quarter" idx="12"/>
          </p:nvPr>
        </p:nvSpPr>
        <p:spPr/>
        <p:txBody>
          <a:bodyPr/>
          <a:lstStyle/>
          <a:p>
            <a:fld id="{B6F15528-21DE-4FAA-801E-634DDDAF4B2B}" type="slidenum">
              <a:rPr lang="en-US" altLang="zh-CN" smtClean="0"/>
              <a:pPr/>
              <a:t>21</a:t>
            </a:fld>
            <a:endParaRPr lang="zh-CN" altLang="en-US"/>
          </a:p>
        </p:txBody>
      </p:sp>
      <p:sp>
        <p:nvSpPr>
          <p:cNvPr id="3" name="矩形 2"/>
          <p:cNvSpPr/>
          <p:nvPr/>
        </p:nvSpPr>
        <p:spPr>
          <a:xfrm>
            <a:off x="711200" y="1371600"/>
            <a:ext cx="11099800" cy="523220"/>
          </a:xfrm>
          <a:prstGeom prst="rect">
            <a:avLst/>
          </a:prstGeom>
        </p:spPr>
        <p:txBody>
          <a:bodyPr wrap="square">
            <a:spAutoFit/>
          </a:bodyPr>
          <a:lstStyle/>
          <a:p>
            <a:r>
              <a:rPr lang="en-US" altLang="zh-CN" sz="2800" dirty="0"/>
              <a:t>for </a:t>
            </a:r>
            <a:r>
              <a:rPr lang="zh-CN" altLang="en-US" sz="2800" dirty="0"/>
              <a:t>不是 </a:t>
            </a:r>
            <a:r>
              <a:rPr lang="en-US" altLang="zh-CN" sz="2800" dirty="0"/>
              <a:t>JavaScript </a:t>
            </a:r>
            <a:r>
              <a:rPr lang="zh-CN" altLang="en-US" sz="2800" dirty="0"/>
              <a:t>中唯一可用的循环</a:t>
            </a:r>
            <a:r>
              <a:rPr lang="zh-CN" altLang="en-US" sz="2800" dirty="0" smtClean="0"/>
              <a:t>类型。</a:t>
            </a:r>
            <a:endParaRPr lang="zh-CN" altLang="en-US" sz="2800" dirty="0"/>
          </a:p>
        </p:txBody>
      </p:sp>
      <p:sp>
        <p:nvSpPr>
          <p:cNvPr id="7" name="矩形 6"/>
          <p:cNvSpPr/>
          <p:nvPr/>
        </p:nvSpPr>
        <p:spPr>
          <a:xfrm>
            <a:off x="762000" y="2028328"/>
            <a:ext cx="6096000" cy="1938992"/>
          </a:xfrm>
          <a:prstGeom prst="rect">
            <a:avLst/>
          </a:prstGeom>
        </p:spPr>
        <p:txBody>
          <a:bodyPr>
            <a:spAutoFit/>
          </a:bodyPr>
          <a:lstStyle/>
          <a:p>
            <a:r>
              <a:rPr lang="en-US" altLang="zh-CN" sz="2400" dirty="0" smtClean="0"/>
              <a:t>Initializer </a:t>
            </a:r>
            <a:r>
              <a:rPr lang="en-US" altLang="zh-CN" sz="2400" dirty="0" smtClean="0">
                <a:solidFill>
                  <a:schemeClr val="accent6"/>
                </a:solidFill>
              </a:rPr>
              <a:t>//</a:t>
            </a:r>
            <a:r>
              <a:rPr lang="zh-CN" altLang="en-US" sz="2400" dirty="0" smtClean="0">
                <a:solidFill>
                  <a:schemeClr val="accent6"/>
                </a:solidFill>
              </a:rPr>
              <a:t>初始化</a:t>
            </a:r>
            <a:endParaRPr lang="en-US" altLang="zh-CN" sz="2400" dirty="0">
              <a:solidFill>
                <a:schemeClr val="accent6"/>
              </a:solidFill>
            </a:endParaRPr>
          </a:p>
          <a:p>
            <a:r>
              <a:rPr lang="en-US" altLang="zh-CN" sz="2400" b="1" dirty="0">
                <a:solidFill>
                  <a:srgbClr val="FF0000"/>
                </a:solidFill>
              </a:rPr>
              <a:t>while</a:t>
            </a:r>
            <a:r>
              <a:rPr lang="en-US" altLang="zh-CN" sz="2400" dirty="0"/>
              <a:t> (exit-condition) {</a:t>
            </a:r>
          </a:p>
          <a:p>
            <a:r>
              <a:rPr lang="en-US" altLang="zh-CN" sz="2400" dirty="0"/>
              <a:t>  </a:t>
            </a:r>
            <a:r>
              <a:rPr lang="en-US" altLang="zh-CN" sz="2400" dirty="0" smtClean="0"/>
              <a:t> </a:t>
            </a:r>
            <a:r>
              <a:rPr lang="en-US" altLang="zh-CN" sz="2400" dirty="0" smtClean="0">
                <a:solidFill>
                  <a:schemeClr val="accent6"/>
                </a:solidFill>
              </a:rPr>
              <a:t>// </a:t>
            </a:r>
            <a:r>
              <a:rPr lang="en-US" altLang="zh-CN" sz="2400" dirty="0">
                <a:solidFill>
                  <a:schemeClr val="accent6"/>
                </a:solidFill>
              </a:rPr>
              <a:t>code to </a:t>
            </a:r>
            <a:r>
              <a:rPr lang="en-US" altLang="zh-CN" sz="2400" dirty="0" smtClean="0">
                <a:solidFill>
                  <a:schemeClr val="accent6"/>
                </a:solidFill>
              </a:rPr>
              <a:t>run</a:t>
            </a:r>
            <a:endParaRPr lang="en-US" altLang="zh-CN" sz="2400" dirty="0"/>
          </a:p>
          <a:p>
            <a:r>
              <a:rPr lang="en-US" altLang="zh-CN" sz="2400" dirty="0"/>
              <a:t>  </a:t>
            </a:r>
            <a:r>
              <a:rPr lang="en-US" altLang="zh-CN" sz="2400" dirty="0" smtClean="0"/>
              <a:t> final-expression</a:t>
            </a:r>
            <a:endParaRPr lang="en-US" altLang="zh-CN" sz="2400" dirty="0"/>
          </a:p>
          <a:p>
            <a:r>
              <a:rPr lang="en-US" altLang="zh-CN" sz="2400" dirty="0"/>
              <a:t>}</a:t>
            </a:r>
            <a:endParaRPr lang="zh-CN" altLang="en-US" sz="2400" dirty="0"/>
          </a:p>
        </p:txBody>
      </p:sp>
    </p:spTree>
    <p:extLst>
      <p:ext uri="{BB962C8B-B14F-4D97-AF65-F5344CB8AC3E}">
        <p14:creationId xmlns:p14="http://schemas.microsoft.com/office/powerpoint/2010/main" val="3505321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p:cNvSpPr txBox="1">
            <a:spLocks noGrp="1"/>
          </p:cNvSpPr>
          <p:nvPr>
            <p:ph type="title"/>
          </p:nvPr>
        </p:nvSpPr>
        <p:spPr>
          <a:xfrm>
            <a:off x="755026" y="611024"/>
            <a:ext cx="7322174"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a:solidFill>
                  <a:srgbClr val="585858"/>
                </a:solidFill>
                <a:latin typeface="微软雅黑" panose="020B0503020204020204" pitchFamily="34" charset="-122"/>
                <a:ea typeface="微软雅黑" panose="020B0503020204020204" pitchFamily="34" charset="-122"/>
              </a:rPr>
              <a:t>循环结构</a:t>
            </a:r>
            <a:r>
              <a:rPr lang="en-US" altLang="zh-CN" sz="3200" b="1" dirty="0">
                <a:solidFill>
                  <a:srgbClr val="585858"/>
                </a:solidFill>
                <a:latin typeface="微软雅黑" panose="020B0503020204020204" pitchFamily="34" charset="-122"/>
                <a:ea typeface="微软雅黑" panose="020B0503020204020204" pitchFamily="34" charset="-122"/>
              </a:rPr>
              <a:t>—</a:t>
            </a:r>
            <a:r>
              <a:rPr lang="en-US" altLang="zh-CN" sz="3200" b="1" spc="5" dirty="0">
                <a:solidFill>
                  <a:srgbClr val="585858"/>
                </a:solidFill>
                <a:latin typeface="微软雅黑" panose="020B0503020204020204" pitchFamily="34" charset="-122"/>
                <a:ea typeface="微软雅黑" panose="020B0503020204020204" pitchFamily="34" charset="-122"/>
              </a:rPr>
              <a:t>while</a:t>
            </a:r>
            <a:r>
              <a:rPr lang="en-US" altLang="zh-CN" sz="3200" b="1" spc="-135" dirty="0">
                <a:solidFill>
                  <a:srgbClr val="585858"/>
                </a:solidFill>
                <a:latin typeface="微软雅黑" panose="020B0503020204020204" pitchFamily="34" charset="-122"/>
                <a:ea typeface="微软雅黑" panose="020B0503020204020204" pitchFamily="34" charset="-122"/>
              </a:rPr>
              <a:t> </a:t>
            </a:r>
            <a:r>
              <a:rPr lang="zh-CN" altLang="en-US" sz="3200" b="1" spc="-40" dirty="0">
                <a:solidFill>
                  <a:srgbClr val="585858"/>
                </a:solidFill>
                <a:latin typeface="微软雅黑" panose="020B0503020204020204" pitchFamily="34" charset="-122"/>
                <a:ea typeface="微软雅黑" panose="020B0503020204020204" pitchFamily="34" charset="-122"/>
              </a:rPr>
              <a:t>和</a:t>
            </a:r>
            <a:r>
              <a:rPr lang="en-US" altLang="zh-CN" sz="3200" b="1" spc="-40" dirty="0">
                <a:solidFill>
                  <a:srgbClr val="585858"/>
                </a:solidFill>
                <a:latin typeface="微软雅黑" panose="020B0503020204020204" pitchFamily="34" charset="-122"/>
                <a:ea typeface="微软雅黑" panose="020B0503020204020204" pitchFamily="34" charset="-122"/>
              </a:rPr>
              <a:t>do while</a:t>
            </a:r>
            <a:r>
              <a:rPr lang="zh-CN" altLang="en-US" sz="3200" b="1" spc="-40" dirty="0">
                <a:solidFill>
                  <a:srgbClr val="585858"/>
                </a:solidFill>
                <a:latin typeface="微软雅黑" panose="020B0503020204020204" pitchFamily="34" charset="-122"/>
                <a:ea typeface="微软雅黑" panose="020B0503020204020204" pitchFamily="34" charset="-122"/>
              </a:rPr>
              <a:t>语句</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22</a:t>
            </a:fld>
            <a:endParaRPr lang="zh-CN" altLang="en-US"/>
          </a:p>
        </p:txBody>
      </p:sp>
      <p:pic>
        <p:nvPicPr>
          <p:cNvPr id="4" name="图片 3"/>
          <p:cNvPicPr>
            <a:picLocks noChangeAspect="1"/>
          </p:cNvPicPr>
          <p:nvPr/>
        </p:nvPicPr>
        <p:blipFill>
          <a:blip r:embed="rId2"/>
          <a:stretch>
            <a:fillRect/>
          </a:stretch>
        </p:blipFill>
        <p:spPr>
          <a:xfrm>
            <a:off x="755026" y="1268318"/>
            <a:ext cx="6077115" cy="5616575"/>
          </a:xfrm>
          <a:prstGeom prst="rect">
            <a:avLst/>
          </a:prstGeom>
        </p:spPr>
      </p:pic>
    </p:spTree>
    <p:extLst>
      <p:ext uri="{BB962C8B-B14F-4D97-AF65-F5344CB8AC3E}">
        <p14:creationId xmlns:p14="http://schemas.microsoft.com/office/powerpoint/2010/main" val="32552826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p:cNvSpPr txBox="1">
            <a:spLocks noGrp="1"/>
          </p:cNvSpPr>
          <p:nvPr>
            <p:ph type="title"/>
          </p:nvPr>
        </p:nvSpPr>
        <p:spPr>
          <a:xfrm>
            <a:off x="755026" y="611024"/>
            <a:ext cx="7322174"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dirty="0">
                <a:solidFill>
                  <a:srgbClr val="585858"/>
                </a:solidFill>
                <a:latin typeface="微软雅黑" panose="020B0503020204020204" pitchFamily="34" charset="-122"/>
                <a:ea typeface="微软雅黑" panose="020B0503020204020204" pitchFamily="34" charset="-122"/>
              </a:rPr>
              <a:t>循环结构</a:t>
            </a:r>
            <a:r>
              <a:rPr lang="en-US" altLang="zh-CN" sz="3200" b="1" dirty="0">
                <a:solidFill>
                  <a:srgbClr val="585858"/>
                </a:solidFill>
                <a:latin typeface="微软雅黑" panose="020B0503020204020204" pitchFamily="34" charset="-122"/>
                <a:ea typeface="微软雅黑" panose="020B0503020204020204" pitchFamily="34" charset="-122"/>
              </a:rPr>
              <a:t>—</a:t>
            </a:r>
            <a:r>
              <a:rPr lang="en-US" altLang="zh-CN" sz="3200" b="1" spc="5" dirty="0">
                <a:solidFill>
                  <a:srgbClr val="585858"/>
                </a:solidFill>
                <a:latin typeface="微软雅黑" panose="020B0503020204020204" pitchFamily="34" charset="-122"/>
                <a:ea typeface="微软雅黑" panose="020B0503020204020204" pitchFamily="34" charset="-122"/>
              </a:rPr>
              <a:t>while</a:t>
            </a:r>
            <a:r>
              <a:rPr lang="en-US" altLang="zh-CN" sz="3200" b="1" spc="-135" dirty="0">
                <a:solidFill>
                  <a:srgbClr val="585858"/>
                </a:solidFill>
                <a:latin typeface="微软雅黑" panose="020B0503020204020204" pitchFamily="34" charset="-122"/>
                <a:ea typeface="微软雅黑" panose="020B0503020204020204" pitchFamily="34" charset="-122"/>
              </a:rPr>
              <a:t> </a:t>
            </a:r>
            <a:r>
              <a:rPr lang="zh-CN" altLang="en-US" sz="3200" b="1" spc="-40" dirty="0">
                <a:solidFill>
                  <a:srgbClr val="585858"/>
                </a:solidFill>
                <a:latin typeface="微软雅黑" panose="020B0503020204020204" pitchFamily="34" charset="-122"/>
                <a:ea typeface="微软雅黑" panose="020B0503020204020204" pitchFamily="34" charset="-122"/>
              </a:rPr>
              <a:t>和</a:t>
            </a:r>
            <a:r>
              <a:rPr lang="en-US" altLang="zh-CN" sz="3200" b="1" spc="-40" dirty="0">
                <a:solidFill>
                  <a:srgbClr val="585858"/>
                </a:solidFill>
                <a:latin typeface="微软雅黑" panose="020B0503020204020204" pitchFamily="34" charset="-122"/>
                <a:ea typeface="微软雅黑" panose="020B0503020204020204" pitchFamily="34" charset="-122"/>
              </a:rPr>
              <a:t>do while</a:t>
            </a:r>
            <a:r>
              <a:rPr lang="zh-CN" altLang="en-US" sz="3200" b="1" spc="-40" dirty="0">
                <a:solidFill>
                  <a:srgbClr val="585858"/>
                </a:solidFill>
                <a:latin typeface="微软雅黑" panose="020B0503020204020204" pitchFamily="34" charset="-122"/>
                <a:ea typeface="微软雅黑" panose="020B0503020204020204" pitchFamily="34" charset="-122"/>
              </a:rPr>
              <a:t>语句</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23</a:t>
            </a:fld>
            <a:endParaRPr lang="zh-CN" altLang="en-US"/>
          </a:p>
        </p:txBody>
      </p:sp>
      <p:sp>
        <p:nvSpPr>
          <p:cNvPr id="3" name="矩形 2"/>
          <p:cNvSpPr/>
          <p:nvPr/>
        </p:nvSpPr>
        <p:spPr>
          <a:xfrm>
            <a:off x="729626" y="1447800"/>
            <a:ext cx="7452105" cy="461665"/>
          </a:xfrm>
          <a:prstGeom prst="rect">
            <a:avLst/>
          </a:prstGeom>
        </p:spPr>
        <p:txBody>
          <a:bodyPr wrap="none">
            <a:spAutoFit/>
          </a:bodyPr>
          <a:lstStyle/>
          <a:p>
            <a:r>
              <a:rPr lang="en-US" altLang="zh-CN" sz="2400" dirty="0"/>
              <a:t>do...while</a:t>
            </a:r>
            <a:r>
              <a:rPr lang="zh-CN" altLang="en-US" sz="2400" dirty="0"/>
              <a:t>循环非常类似但在 </a:t>
            </a:r>
            <a:r>
              <a:rPr lang="en-US" altLang="zh-CN" sz="2400" dirty="0"/>
              <a:t>while </a:t>
            </a:r>
            <a:r>
              <a:rPr lang="zh-CN" altLang="en-US" sz="2400" dirty="0"/>
              <a:t>后提供了终止条件：</a:t>
            </a:r>
          </a:p>
        </p:txBody>
      </p:sp>
      <p:sp>
        <p:nvSpPr>
          <p:cNvPr id="5" name="矩形 4"/>
          <p:cNvSpPr/>
          <p:nvPr/>
        </p:nvSpPr>
        <p:spPr>
          <a:xfrm>
            <a:off x="755026" y="2137707"/>
            <a:ext cx="6096000" cy="4401205"/>
          </a:xfrm>
          <a:prstGeom prst="rect">
            <a:avLst/>
          </a:prstGeom>
          <a:ln>
            <a:solidFill>
              <a:schemeClr val="accent1"/>
            </a:solidFill>
          </a:ln>
        </p:spPr>
        <p:txBody>
          <a:bodyPr>
            <a:spAutoFit/>
          </a:bodyPr>
          <a:lstStyle/>
          <a:p>
            <a:r>
              <a:rPr lang="en-US" altLang="zh-CN" sz="2800" dirty="0" err="1"/>
              <a:t>var</a:t>
            </a:r>
            <a:r>
              <a:rPr lang="en-US" altLang="zh-CN" sz="2800" dirty="0"/>
              <a:t> </a:t>
            </a:r>
            <a:r>
              <a:rPr lang="en-US" altLang="zh-CN" sz="2800" dirty="0" err="1"/>
              <a:t>i</a:t>
            </a:r>
            <a:r>
              <a:rPr lang="en-US" altLang="zh-CN" sz="2800" dirty="0"/>
              <a:t> = 0</a:t>
            </a:r>
            <a:r>
              <a:rPr lang="en-US" altLang="zh-CN" sz="2800" dirty="0" smtClean="0"/>
              <a:t>;</a:t>
            </a:r>
            <a:endParaRPr lang="en-US" altLang="zh-CN" sz="2800" dirty="0"/>
          </a:p>
          <a:p>
            <a:r>
              <a:rPr lang="en-US" altLang="zh-CN" sz="2800" b="1" dirty="0">
                <a:solidFill>
                  <a:srgbClr val="FF0000"/>
                </a:solidFill>
              </a:rPr>
              <a:t>do</a:t>
            </a:r>
            <a:r>
              <a:rPr lang="en-US" altLang="zh-CN" sz="2800" dirty="0"/>
              <a:t> {</a:t>
            </a:r>
          </a:p>
          <a:p>
            <a:pPr lvl="1"/>
            <a:r>
              <a:rPr lang="en-US" altLang="zh-CN" sz="2800" dirty="0"/>
              <a:t>  if (</a:t>
            </a:r>
            <a:r>
              <a:rPr lang="en-US" altLang="zh-CN" sz="2800" dirty="0" err="1"/>
              <a:t>i</a:t>
            </a:r>
            <a:r>
              <a:rPr lang="en-US" altLang="zh-CN" sz="2800" dirty="0"/>
              <a:t> === </a:t>
            </a:r>
            <a:r>
              <a:rPr lang="en-US" altLang="zh-CN" sz="2800" dirty="0" err="1"/>
              <a:t>cats.length</a:t>
            </a:r>
            <a:r>
              <a:rPr lang="en-US" altLang="zh-CN" sz="2800" dirty="0"/>
              <a:t> - 1) {</a:t>
            </a:r>
          </a:p>
          <a:p>
            <a:pPr lvl="1"/>
            <a:r>
              <a:rPr lang="en-US" altLang="zh-CN" sz="2800" dirty="0"/>
              <a:t>    </a:t>
            </a:r>
            <a:r>
              <a:rPr lang="en-US" altLang="zh-CN" sz="2800" dirty="0" smtClean="0"/>
              <a:t>	info </a:t>
            </a:r>
            <a:r>
              <a:rPr lang="en-US" altLang="zh-CN" sz="2800" dirty="0"/>
              <a:t>+= 'and ' + cats[</a:t>
            </a:r>
            <a:r>
              <a:rPr lang="en-US" altLang="zh-CN" sz="2800" dirty="0" err="1"/>
              <a:t>i</a:t>
            </a:r>
            <a:r>
              <a:rPr lang="en-US" altLang="zh-CN" sz="2800" dirty="0"/>
              <a:t>] + '.';</a:t>
            </a:r>
          </a:p>
          <a:p>
            <a:pPr lvl="1"/>
            <a:r>
              <a:rPr lang="en-US" altLang="zh-CN" sz="2800" dirty="0"/>
              <a:t>  } else {</a:t>
            </a:r>
          </a:p>
          <a:p>
            <a:pPr lvl="1"/>
            <a:r>
              <a:rPr lang="en-US" altLang="zh-CN" sz="2800" dirty="0"/>
              <a:t>    </a:t>
            </a:r>
            <a:r>
              <a:rPr lang="en-US" altLang="zh-CN" sz="2800" dirty="0" smtClean="0"/>
              <a:t>	info </a:t>
            </a:r>
            <a:r>
              <a:rPr lang="en-US" altLang="zh-CN" sz="2800" dirty="0"/>
              <a:t>+= cats[</a:t>
            </a:r>
            <a:r>
              <a:rPr lang="en-US" altLang="zh-CN" sz="2800" dirty="0" err="1"/>
              <a:t>i</a:t>
            </a:r>
            <a:r>
              <a:rPr lang="en-US" altLang="zh-CN" sz="2800" dirty="0"/>
              <a:t>] + ', ';</a:t>
            </a:r>
          </a:p>
          <a:p>
            <a:pPr lvl="1"/>
            <a:r>
              <a:rPr lang="en-US" altLang="zh-CN" sz="2800" dirty="0"/>
              <a:t>  }</a:t>
            </a:r>
          </a:p>
          <a:p>
            <a:endParaRPr lang="en-US" altLang="zh-CN" sz="2800" dirty="0"/>
          </a:p>
          <a:p>
            <a:r>
              <a:rPr lang="en-US" altLang="zh-CN" sz="2800" dirty="0"/>
              <a:t>   </a:t>
            </a:r>
            <a:r>
              <a:rPr lang="en-US" altLang="zh-CN" sz="2800" dirty="0" smtClean="0"/>
              <a:t>     </a:t>
            </a:r>
            <a:r>
              <a:rPr lang="en-US" altLang="zh-CN" sz="2800" dirty="0" err="1" smtClean="0"/>
              <a:t>i</a:t>
            </a:r>
            <a:r>
              <a:rPr lang="en-US" altLang="zh-CN" sz="2800" dirty="0" smtClean="0"/>
              <a:t>++;</a:t>
            </a:r>
            <a:endParaRPr lang="en-US" altLang="zh-CN" sz="2800" dirty="0"/>
          </a:p>
          <a:p>
            <a:r>
              <a:rPr lang="en-US" altLang="zh-CN" sz="2800" dirty="0"/>
              <a:t>} </a:t>
            </a:r>
            <a:r>
              <a:rPr lang="en-US" altLang="zh-CN" sz="2800" b="1" dirty="0">
                <a:solidFill>
                  <a:srgbClr val="FF0000"/>
                </a:solidFill>
              </a:rPr>
              <a:t>while</a:t>
            </a:r>
            <a:r>
              <a:rPr lang="en-US" altLang="zh-CN" sz="2800" dirty="0"/>
              <a:t> (</a:t>
            </a:r>
            <a:r>
              <a:rPr lang="en-US" altLang="zh-CN" sz="2800" dirty="0" err="1"/>
              <a:t>i</a:t>
            </a:r>
            <a:r>
              <a:rPr lang="en-US" altLang="zh-CN" sz="2800" dirty="0"/>
              <a:t> &lt; </a:t>
            </a:r>
            <a:r>
              <a:rPr lang="en-US" altLang="zh-CN" sz="2800" dirty="0" err="1"/>
              <a:t>cats.length</a:t>
            </a:r>
            <a:r>
              <a:rPr lang="en-US" altLang="zh-CN" sz="2800" dirty="0"/>
              <a:t>);</a:t>
            </a:r>
            <a:endParaRPr lang="zh-CN" altLang="en-US" sz="2800" dirty="0"/>
          </a:p>
        </p:txBody>
      </p:sp>
      <p:sp>
        <p:nvSpPr>
          <p:cNvPr id="6" name="矩形 5"/>
          <p:cNvSpPr/>
          <p:nvPr/>
        </p:nvSpPr>
        <p:spPr>
          <a:xfrm>
            <a:off x="7162800" y="2137707"/>
            <a:ext cx="4559300" cy="2862322"/>
          </a:xfrm>
          <a:prstGeom prst="rect">
            <a:avLst/>
          </a:prstGeom>
        </p:spPr>
        <p:txBody>
          <a:bodyPr wrap="square">
            <a:spAutoFit/>
          </a:bodyPr>
          <a:lstStyle/>
          <a:p>
            <a:pPr>
              <a:lnSpc>
                <a:spcPct val="150000"/>
              </a:lnSpc>
            </a:pPr>
            <a:r>
              <a:rPr lang="zh-CN" altLang="en-US" sz="2400" dirty="0"/>
              <a:t>必须保证初始变量是迭代的，那么它才会逐渐地达到退出条件。不然，它将会永远循环下去，要么浏览器会强制终止它，要么它自己会崩溃。</a:t>
            </a:r>
            <a:r>
              <a:rPr lang="zh-CN" altLang="en-US" sz="2400" dirty="0" smtClean="0"/>
              <a:t>这就是无限</a:t>
            </a:r>
            <a:r>
              <a:rPr lang="zh-CN" altLang="en-US" sz="2400" dirty="0"/>
              <a:t>循环。</a:t>
            </a:r>
          </a:p>
        </p:txBody>
      </p:sp>
    </p:spTree>
    <p:extLst>
      <p:ext uri="{BB962C8B-B14F-4D97-AF65-F5344CB8AC3E}">
        <p14:creationId xmlns:p14="http://schemas.microsoft.com/office/powerpoint/2010/main" val="38986670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806194" y="1732930"/>
            <a:ext cx="10700005" cy="49885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2570"/>
              </a:spcBef>
              <a:buClrTx/>
              <a:buSzTx/>
              <a:buFontTx/>
              <a:buNone/>
              <a:tabLst/>
              <a:defRPr/>
            </a:pPr>
            <a:r>
              <a:rPr kumimoji="0" sz="2000" b="0" i="0" u="none" strike="noStrike" kern="1200" cap="none" spc="-30" normalizeH="0" baseline="0" noProof="0" dirty="0" err="1" smtClean="0">
                <a:ln>
                  <a:noFill/>
                </a:ln>
                <a:solidFill>
                  <a:srgbClr val="252525"/>
                </a:solidFill>
                <a:effectLst/>
                <a:uLnTx/>
                <a:uFillTx/>
                <a:latin typeface="宋体"/>
                <a:ea typeface="+mn-ea"/>
                <a:cs typeface="宋体"/>
              </a:rPr>
              <a:t>需求</a:t>
            </a:r>
            <a:r>
              <a:rPr kumimoji="0" sz="2000" b="0" i="0" u="none" strike="noStrike" kern="1200" cap="none" spc="-30" normalizeH="0" baseline="0" noProof="0" dirty="0" err="1">
                <a:ln>
                  <a:noFill/>
                </a:ln>
                <a:solidFill>
                  <a:srgbClr val="252525"/>
                </a:solidFill>
                <a:effectLst/>
                <a:uLnTx/>
                <a:uFillTx/>
                <a:latin typeface="宋体"/>
                <a:ea typeface="+mn-ea"/>
                <a:cs typeface="宋体"/>
              </a:rPr>
              <a:t>：使用</a:t>
            </a:r>
            <a:r>
              <a:rPr kumimoji="0" sz="2000" b="0" i="0" u="none" strike="noStrike" kern="1200" cap="none" spc="20" normalizeH="0" baseline="0" noProof="0" dirty="0" err="1">
                <a:ln>
                  <a:noFill/>
                </a:ln>
                <a:solidFill>
                  <a:srgbClr val="252525"/>
                </a:solidFill>
                <a:effectLst/>
                <a:uLnTx/>
                <a:uFillTx/>
                <a:latin typeface="宋体"/>
                <a:ea typeface="+mn-ea"/>
                <a:cs typeface="宋体"/>
              </a:rPr>
              <a:t>while</a:t>
            </a:r>
            <a:r>
              <a:rPr kumimoji="0" sz="2000" b="0" i="0" u="none" strike="noStrike" kern="1200" cap="none" spc="-30" normalizeH="0" baseline="0" noProof="0" dirty="0" err="1">
                <a:ln>
                  <a:noFill/>
                </a:ln>
                <a:solidFill>
                  <a:srgbClr val="252525"/>
                </a:solidFill>
                <a:effectLst/>
                <a:uLnTx/>
                <a:uFillTx/>
                <a:latin typeface="宋体"/>
                <a:ea typeface="+mn-ea"/>
                <a:cs typeface="宋体"/>
              </a:rPr>
              <a:t>循环，页</a:t>
            </a:r>
            <a:r>
              <a:rPr kumimoji="0" sz="2000" b="0" i="0" u="none" strike="noStrike" kern="1200" cap="none" spc="-40" normalizeH="0" baseline="0" noProof="0" dirty="0" err="1">
                <a:ln>
                  <a:noFill/>
                </a:ln>
                <a:solidFill>
                  <a:srgbClr val="252525"/>
                </a:solidFill>
                <a:effectLst/>
                <a:uLnTx/>
                <a:uFillTx/>
                <a:latin typeface="宋体"/>
                <a:ea typeface="+mn-ea"/>
                <a:cs typeface="宋体"/>
              </a:rPr>
              <a:t>面</a:t>
            </a:r>
            <a:r>
              <a:rPr kumimoji="0" sz="2000" b="0" i="0" u="none" strike="noStrike" kern="1200" cap="none" spc="-30" normalizeH="0" baseline="0" noProof="0" dirty="0" err="1">
                <a:ln>
                  <a:noFill/>
                </a:ln>
                <a:solidFill>
                  <a:srgbClr val="252525"/>
                </a:solidFill>
                <a:effectLst/>
                <a:uLnTx/>
                <a:uFillTx/>
                <a:latin typeface="宋体"/>
                <a:ea typeface="+mn-ea"/>
                <a:cs typeface="宋体"/>
              </a:rPr>
              <a:t>中打印，可以添</a:t>
            </a:r>
            <a:r>
              <a:rPr kumimoji="0" sz="2000" b="0" i="0" u="none" strike="noStrike" kern="1200" cap="none" spc="-20" normalizeH="0" baseline="0" noProof="0" dirty="0" err="1">
                <a:ln>
                  <a:noFill/>
                </a:ln>
                <a:solidFill>
                  <a:srgbClr val="252525"/>
                </a:solidFill>
                <a:effectLst/>
                <a:uLnTx/>
                <a:uFillTx/>
                <a:latin typeface="宋体"/>
                <a:ea typeface="+mn-ea"/>
                <a:cs typeface="宋体"/>
              </a:rPr>
              <a:t>加</a:t>
            </a:r>
            <a:r>
              <a:rPr kumimoji="0" sz="2000" b="0" i="0" u="none" strike="noStrike" kern="1200" cap="none" spc="-30" normalizeH="0" baseline="0" noProof="0" dirty="0" err="1">
                <a:ln>
                  <a:noFill/>
                </a:ln>
                <a:solidFill>
                  <a:srgbClr val="252525"/>
                </a:solidFill>
                <a:effectLst/>
                <a:uLnTx/>
                <a:uFillTx/>
                <a:latin typeface="宋体"/>
                <a:ea typeface="+mn-ea"/>
                <a:cs typeface="宋体"/>
              </a:rPr>
              <a:t>换行效果</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2700" marR="0" lvl="0" indent="0" algn="l" defTabSz="914400" rtl="0" eaLnBrk="1" fontAlgn="auto" latinLnBrk="0" hangingPunct="1">
              <a:lnSpc>
                <a:spcPct val="100000"/>
              </a:lnSpc>
              <a:spcBef>
                <a:spcPts val="1340"/>
              </a:spcBef>
              <a:buClrTx/>
              <a:buSzTx/>
              <a:buFontTx/>
              <a:buNone/>
              <a:tabLst>
                <a:tab pos="354965" algn="l"/>
              </a:tabLst>
              <a:defRPr/>
            </a:pPr>
            <a:r>
              <a:rPr kumimoji="0" sz="2000" b="1" i="0" u="none" strike="noStrike" kern="1200" cap="none" spc="5" normalizeH="0" baseline="0" noProof="0" dirty="0">
                <a:ln>
                  <a:noFill/>
                </a:ln>
                <a:solidFill>
                  <a:srgbClr val="252525"/>
                </a:solidFill>
                <a:effectLst/>
                <a:uLnTx/>
                <a:uFillTx/>
                <a:latin typeface="微软雅黑"/>
                <a:ea typeface="+mn-ea"/>
                <a:cs typeface="微软雅黑"/>
              </a:rPr>
              <a:t>1.	</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页面输出</a:t>
            </a:r>
            <a:r>
              <a:rPr kumimoji="0" sz="2000" b="1" i="0" u="none" strike="noStrike" kern="1200" cap="none" spc="-45" normalizeH="0" baseline="0" noProof="0" dirty="0">
                <a:ln>
                  <a:noFill/>
                </a:ln>
                <a:solidFill>
                  <a:srgbClr val="252525"/>
                </a:solidFill>
                <a:effectLst/>
                <a:uLnTx/>
                <a:uFillTx/>
                <a:latin typeface="微软雅黑"/>
                <a:ea typeface="+mn-ea"/>
                <a:cs typeface="微软雅黑"/>
              </a:rPr>
              <a:t>1-100</a:t>
            </a:r>
            <a:endParaRPr kumimoji="0" sz="2000" b="0" i="0" u="none" strike="noStrike" kern="1200" cap="none" spc="0" normalizeH="0" baseline="0" noProof="0" dirty="0">
              <a:ln>
                <a:noFill/>
              </a:ln>
              <a:solidFill>
                <a:prstClr val="black"/>
              </a:solidFill>
              <a:effectLst/>
              <a:uLnTx/>
              <a:uFillTx/>
              <a:latin typeface="微软雅黑"/>
              <a:ea typeface="+mn-ea"/>
              <a:cs typeface="微软雅黑"/>
            </a:endParaRPr>
          </a:p>
          <a:p>
            <a:pPr marL="355600" marR="0" lvl="0" indent="-342900" algn="l" defTabSz="914400" rtl="0" eaLnBrk="1" fontAlgn="auto" latinLnBrk="0" hangingPunct="1">
              <a:lnSpc>
                <a:spcPct val="100000"/>
              </a:lnSpc>
              <a:spcBef>
                <a:spcPts val="1345"/>
              </a:spcBef>
              <a:buClrTx/>
              <a:buSzTx/>
              <a:buFont typeface="Wingdings"/>
              <a:buChar char=""/>
              <a:tabLst>
                <a:tab pos="354965" algn="l"/>
                <a:tab pos="355600" algn="l"/>
              </a:tabLst>
              <a:defRPr/>
            </a:pPr>
            <a:r>
              <a:rPr kumimoji="0" sz="2000" b="0" i="0" u="none" strike="noStrike" kern="1200" cap="none" spc="-30" normalizeH="0" baseline="0" noProof="0" dirty="0">
                <a:ln>
                  <a:noFill/>
                </a:ln>
                <a:solidFill>
                  <a:srgbClr val="252525"/>
                </a:solidFill>
                <a:effectLst/>
                <a:uLnTx/>
                <a:uFillTx/>
                <a:latin typeface="宋体"/>
                <a:ea typeface="+mn-ea"/>
                <a:cs typeface="宋体"/>
              </a:rPr>
              <a:t>核心思路：</a:t>
            </a:r>
            <a:r>
              <a:rPr kumimoji="0" sz="2000" b="0" i="0" u="none" strike="noStrike" kern="1200" cap="none" spc="-375" normalizeH="0" baseline="0" noProof="0" dirty="0">
                <a:ln>
                  <a:noFill/>
                </a:ln>
                <a:solidFill>
                  <a:srgbClr val="252525"/>
                </a:solidFill>
                <a:effectLst/>
                <a:uLnTx/>
                <a:uFillTx/>
                <a:latin typeface="宋体"/>
                <a:ea typeface="+mn-ea"/>
                <a:cs typeface="宋体"/>
              </a:rPr>
              <a:t> </a:t>
            </a:r>
            <a:r>
              <a:rPr kumimoji="0" sz="2000" b="0" i="0" u="none" strike="noStrike" kern="1200" cap="none" spc="-30" normalizeH="0" baseline="0" noProof="0" dirty="0">
                <a:ln>
                  <a:noFill/>
                </a:ln>
                <a:solidFill>
                  <a:srgbClr val="252525"/>
                </a:solidFill>
                <a:effectLst/>
                <a:uLnTx/>
                <a:uFillTx/>
                <a:latin typeface="宋体"/>
                <a:ea typeface="+mn-ea"/>
                <a:cs typeface="宋体"/>
              </a:rPr>
              <a:t>利用</a:t>
            </a:r>
            <a:r>
              <a:rPr kumimoji="0" sz="2000" b="0" i="0" u="none" strike="noStrike" kern="1200" cap="none" spc="-395" normalizeH="0" baseline="0" noProof="0" dirty="0">
                <a:ln>
                  <a:noFill/>
                </a:ln>
                <a:solidFill>
                  <a:srgbClr val="252525"/>
                </a:solidFill>
                <a:effectLst/>
                <a:uLnTx/>
                <a:uFillTx/>
                <a:latin typeface="宋体"/>
                <a:ea typeface="+mn-ea"/>
                <a:cs typeface="宋体"/>
              </a:rPr>
              <a:t> </a:t>
            </a:r>
            <a:r>
              <a:rPr kumimoji="0" sz="2000" b="0" i="0" u="none" strike="noStrike" kern="1200" cap="none" spc="-375" normalizeH="0" baseline="0" noProof="0" dirty="0">
                <a:ln>
                  <a:noFill/>
                </a:ln>
                <a:solidFill>
                  <a:srgbClr val="252525"/>
                </a:solidFill>
                <a:effectLst/>
                <a:uLnTx/>
                <a:uFillTx/>
                <a:latin typeface="宋体"/>
                <a:ea typeface="+mn-ea"/>
                <a:cs typeface="宋体"/>
              </a:rPr>
              <a:t>i</a:t>
            </a:r>
            <a:r>
              <a:rPr kumimoji="0" sz="2000" b="0" i="0" u="none" strike="noStrike" kern="1200" cap="none" spc="-395" normalizeH="0" baseline="0" noProof="0" dirty="0">
                <a:ln>
                  <a:noFill/>
                </a:ln>
                <a:solidFill>
                  <a:srgbClr val="252525"/>
                </a:solidFill>
                <a:effectLst/>
                <a:uLnTx/>
                <a:uFillTx/>
                <a:latin typeface="宋体"/>
                <a:ea typeface="+mn-ea"/>
                <a:cs typeface="宋体"/>
              </a:rPr>
              <a:t> </a:t>
            </a:r>
            <a:r>
              <a:rPr kumimoji="0" sz="2000" b="0" i="0" u="none" strike="noStrike" kern="1200" cap="none" spc="-325" normalizeH="0" baseline="0" noProof="0" dirty="0">
                <a:ln>
                  <a:noFill/>
                </a:ln>
                <a:solidFill>
                  <a:srgbClr val="252525"/>
                </a:solidFill>
                <a:effectLst/>
                <a:uLnTx/>
                <a:uFillTx/>
                <a:latin typeface="宋体"/>
                <a:ea typeface="+mn-ea"/>
                <a:cs typeface="宋体"/>
              </a:rPr>
              <a:t>,</a:t>
            </a:r>
            <a:r>
              <a:rPr kumimoji="0" sz="2000" b="0" i="0" u="none" strike="noStrike" kern="1200" cap="none" spc="-30" normalizeH="0" baseline="0" noProof="0" dirty="0" err="1" smtClean="0">
                <a:ln>
                  <a:noFill/>
                </a:ln>
                <a:solidFill>
                  <a:srgbClr val="252525"/>
                </a:solidFill>
                <a:effectLst/>
                <a:uLnTx/>
                <a:uFillTx/>
                <a:latin typeface="宋体"/>
                <a:ea typeface="+mn-ea"/>
                <a:cs typeface="宋体"/>
              </a:rPr>
              <a:t>因为正好和数字对应</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2700" marR="0" lvl="0" indent="0" algn="l" defTabSz="914400" rtl="0" eaLnBrk="1" fontAlgn="auto" latinLnBrk="0" hangingPunct="1">
              <a:lnSpc>
                <a:spcPct val="100000"/>
              </a:lnSpc>
              <a:spcBef>
                <a:spcPts val="1345"/>
              </a:spcBef>
              <a:buClrTx/>
              <a:buSzTx/>
              <a:buFontTx/>
              <a:buNone/>
              <a:tabLst/>
              <a:defRPr/>
            </a:pPr>
            <a:r>
              <a:rPr kumimoji="0" sz="2000" b="1" i="0" u="none" strike="noStrike" kern="1200" cap="none" spc="5" normalizeH="0" baseline="0" noProof="0" dirty="0">
                <a:ln>
                  <a:noFill/>
                </a:ln>
                <a:solidFill>
                  <a:srgbClr val="252525"/>
                </a:solidFill>
                <a:effectLst/>
                <a:uLnTx/>
                <a:uFillTx/>
                <a:latin typeface="微软雅黑"/>
                <a:ea typeface="+mn-ea"/>
                <a:cs typeface="微软雅黑"/>
              </a:rPr>
              <a:t>2.</a:t>
            </a:r>
            <a:r>
              <a:rPr kumimoji="0" sz="2000" b="1" i="0" u="none" strike="noStrike" kern="1200" cap="none" spc="-60" normalizeH="0" baseline="0" noProof="0" dirty="0">
                <a:ln>
                  <a:noFill/>
                </a:ln>
                <a:solidFill>
                  <a:srgbClr val="252525"/>
                </a:solidFill>
                <a:effectLst/>
                <a:uLnTx/>
                <a:uFillTx/>
                <a:latin typeface="微软雅黑"/>
                <a:ea typeface="+mn-ea"/>
                <a:cs typeface="微软雅黑"/>
              </a:rPr>
              <a:t> </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计算从</a:t>
            </a:r>
            <a:r>
              <a:rPr kumimoji="0" sz="2000" b="1" i="0" u="none" strike="noStrike" kern="1200" cap="none" spc="-60" normalizeH="0" baseline="0" noProof="0" dirty="0">
                <a:ln>
                  <a:noFill/>
                </a:ln>
                <a:solidFill>
                  <a:srgbClr val="252525"/>
                </a:solidFill>
                <a:effectLst/>
                <a:uLnTx/>
                <a:uFillTx/>
                <a:latin typeface="微软雅黑"/>
                <a:ea typeface="+mn-ea"/>
                <a:cs typeface="微软雅黑"/>
              </a:rPr>
              <a:t>1</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加到</a:t>
            </a:r>
            <a:r>
              <a:rPr kumimoji="0" sz="2000" b="1" i="0" u="none" strike="noStrike" kern="1200" cap="none" spc="-55" normalizeH="0" baseline="0" noProof="0" dirty="0">
                <a:ln>
                  <a:noFill/>
                </a:ln>
                <a:solidFill>
                  <a:srgbClr val="252525"/>
                </a:solidFill>
                <a:effectLst/>
                <a:uLnTx/>
                <a:uFillTx/>
                <a:latin typeface="微软雅黑"/>
                <a:ea typeface="+mn-ea"/>
                <a:cs typeface="微软雅黑"/>
              </a:rPr>
              <a:t>100</a:t>
            </a:r>
            <a:r>
              <a:rPr kumimoji="0" sz="2000" b="1" i="0" u="none" strike="noStrike" kern="1200" cap="none" spc="-20" normalizeH="0" baseline="0" noProof="0" dirty="0">
                <a:ln>
                  <a:noFill/>
                </a:ln>
                <a:solidFill>
                  <a:srgbClr val="252525"/>
                </a:solidFill>
                <a:effectLst/>
                <a:uLnTx/>
                <a:uFillTx/>
                <a:latin typeface="微软雅黑"/>
                <a:ea typeface="+mn-ea"/>
                <a:cs typeface="微软雅黑"/>
              </a:rPr>
              <a:t>的</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总和</a:t>
            </a:r>
            <a:r>
              <a:rPr kumimoji="0" sz="2000" b="1" i="0" u="none" strike="noStrike" kern="1200" cap="none" spc="-25" normalizeH="0" baseline="0" noProof="0" dirty="0">
                <a:ln>
                  <a:noFill/>
                </a:ln>
                <a:solidFill>
                  <a:srgbClr val="252525"/>
                </a:solidFill>
                <a:effectLst/>
                <a:uLnTx/>
                <a:uFillTx/>
                <a:latin typeface="微软雅黑"/>
                <a:ea typeface="+mn-ea"/>
                <a:cs typeface="微软雅黑"/>
              </a:rPr>
              <a:t>并</a:t>
            </a:r>
            <a:r>
              <a:rPr kumimoji="0" sz="2000" b="1" i="0" u="none" strike="noStrike" kern="1200" cap="none" spc="-20" normalizeH="0" baseline="0" noProof="0" dirty="0">
                <a:ln>
                  <a:noFill/>
                </a:ln>
                <a:solidFill>
                  <a:srgbClr val="252525"/>
                </a:solidFill>
                <a:effectLst/>
                <a:uLnTx/>
                <a:uFillTx/>
                <a:latin typeface="微软雅黑"/>
                <a:ea typeface="+mn-ea"/>
                <a:cs typeface="微软雅黑"/>
              </a:rPr>
              <a:t>输出</a:t>
            </a:r>
            <a:endParaRPr kumimoji="0" sz="2000" b="0" i="0" u="none" strike="noStrike" kern="1200" cap="none" spc="0" normalizeH="0" baseline="0" noProof="0" dirty="0">
              <a:ln>
                <a:noFill/>
              </a:ln>
              <a:solidFill>
                <a:prstClr val="black"/>
              </a:solidFill>
              <a:effectLst/>
              <a:uLnTx/>
              <a:uFillTx/>
              <a:latin typeface="微软雅黑"/>
              <a:ea typeface="+mn-ea"/>
              <a:cs typeface="微软雅黑"/>
            </a:endParaRPr>
          </a:p>
          <a:p>
            <a:pPr marL="355600" marR="0" lvl="0" indent="-342900" algn="l" defTabSz="914400" rtl="0" eaLnBrk="1" fontAlgn="auto" latinLnBrk="0" hangingPunct="1">
              <a:lnSpc>
                <a:spcPct val="100000"/>
              </a:lnSpc>
              <a:spcBef>
                <a:spcPts val="1345"/>
              </a:spcBef>
              <a:buClrTx/>
              <a:buSzTx/>
              <a:buFont typeface="Wingdings"/>
              <a:buChar char=""/>
              <a:tabLst>
                <a:tab pos="354965" algn="l"/>
                <a:tab pos="355600" algn="l"/>
              </a:tabLst>
              <a:defRPr/>
            </a:pPr>
            <a:r>
              <a:rPr kumimoji="0" sz="2000" b="0" i="0" u="none" strike="noStrike" kern="1200" cap="none" spc="-30" normalizeH="0" baseline="0" noProof="0" dirty="0">
                <a:ln>
                  <a:noFill/>
                </a:ln>
                <a:solidFill>
                  <a:srgbClr val="252525"/>
                </a:solidFill>
                <a:effectLst/>
                <a:uLnTx/>
                <a:uFillTx/>
                <a:latin typeface="宋体"/>
                <a:ea typeface="+mn-ea"/>
                <a:cs typeface="宋体"/>
              </a:rPr>
              <a:t>核心思路：</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346200" marR="0" lvl="1" indent="-342900" algn="l" defTabSz="914400" rtl="0" eaLnBrk="1" fontAlgn="auto" latinLnBrk="0" hangingPunct="1">
              <a:lnSpc>
                <a:spcPct val="100000"/>
              </a:lnSpc>
              <a:spcBef>
                <a:spcPts val="650"/>
              </a:spcBef>
              <a:buClrTx/>
              <a:buSzTx/>
              <a:buFont typeface="Wingdings"/>
              <a:buChar char=""/>
              <a:tabLst>
                <a:tab pos="1345565" algn="l"/>
                <a:tab pos="1346200" algn="l"/>
              </a:tabLst>
              <a:defRPr/>
            </a:pPr>
            <a:r>
              <a:rPr kumimoji="0" sz="2000" b="0" i="0" u="none" strike="noStrike" kern="1200" cap="none" spc="-30" normalizeH="0" baseline="0" noProof="0" dirty="0">
                <a:ln>
                  <a:noFill/>
                </a:ln>
                <a:solidFill>
                  <a:prstClr val="black"/>
                </a:solidFill>
                <a:effectLst/>
                <a:uLnTx/>
                <a:uFillTx/>
                <a:latin typeface="宋体"/>
                <a:ea typeface="+mn-ea"/>
                <a:cs typeface="宋体"/>
              </a:rPr>
              <a:t>声明累加和的变量</a:t>
            </a:r>
            <a:r>
              <a:rPr kumimoji="0" sz="2000" b="0" i="0" u="none" strike="noStrike" kern="1200" cap="none" spc="-455" normalizeH="0" baseline="0" noProof="0" dirty="0">
                <a:ln>
                  <a:noFill/>
                </a:ln>
                <a:solidFill>
                  <a:prstClr val="black"/>
                </a:solidFill>
                <a:effectLst/>
                <a:uLnTx/>
                <a:uFillTx/>
                <a:latin typeface="宋体"/>
                <a:ea typeface="+mn-ea"/>
                <a:cs typeface="宋体"/>
              </a:rPr>
              <a:t> </a:t>
            </a:r>
            <a:r>
              <a:rPr kumimoji="0" sz="2000" b="0" i="0" u="none" strike="noStrike" kern="1200" cap="none" spc="270" normalizeH="0" baseline="0" noProof="0" dirty="0">
                <a:ln>
                  <a:noFill/>
                </a:ln>
                <a:solidFill>
                  <a:prstClr val="black"/>
                </a:solidFill>
                <a:effectLst/>
                <a:uLnTx/>
                <a:uFillTx/>
                <a:latin typeface="宋体"/>
                <a:ea typeface="+mn-ea"/>
                <a:cs typeface="宋体"/>
              </a:rPr>
              <a:t>sum</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346200" marR="0" lvl="1" indent="-342900" algn="l" defTabSz="914400" rtl="0" eaLnBrk="1" fontAlgn="auto" latinLnBrk="0" hangingPunct="1">
              <a:lnSpc>
                <a:spcPct val="100000"/>
              </a:lnSpc>
              <a:spcBef>
                <a:spcPts val="430"/>
              </a:spcBef>
              <a:buClrTx/>
              <a:buSzTx/>
              <a:buFont typeface="Wingdings"/>
              <a:buChar char=""/>
              <a:tabLst>
                <a:tab pos="1345565" algn="l"/>
                <a:tab pos="1346200" algn="l"/>
              </a:tabLst>
              <a:defRPr/>
            </a:pPr>
            <a:r>
              <a:rPr kumimoji="0" sz="2000" b="0" i="0" u="none" strike="noStrike" kern="1200" cap="none" spc="-35" normalizeH="0" baseline="0" noProof="0" dirty="0">
                <a:ln>
                  <a:noFill/>
                </a:ln>
                <a:solidFill>
                  <a:prstClr val="black"/>
                </a:solidFill>
                <a:effectLst/>
                <a:uLnTx/>
                <a:uFillTx/>
                <a:latin typeface="宋体"/>
                <a:ea typeface="+mn-ea"/>
                <a:cs typeface="宋体"/>
              </a:rPr>
              <a:t>每次</a:t>
            </a:r>
            <a:r>
              <a:rPr kumimoji="0" sz="2000" b="0" i="0" u="none" strike="noStrike" kern="1200" cap="none" spc="-30" normalizeH="0" baseline="0" noProof="0" dirty="0">
                <a:ln>
                  <a:noFill/>
                </a:ln>
                <a:solidFill>
                  <a:prstClr val="black"/>
                </a:solidFill>
                <a:effectLst/>
                <a:uLnTx/>
                <a:uFillTx/>
                <a:latin typeface="宋体"/>
                <a:ea typeface="+mn-ea"/>
                <a:cs typeface="宋体"/>
              </a:rPr>
              <a:t>把</a:t>
            </a:r>
            <a:r>
              <a:rPr kumimoji="0" sz="2000" b="0" i="0" u="none" strike="noStrike" kern="1200" cap="none" spc="-400" normalizeH="0" baseline="0" noProof="0" dirty="0">
                <a:ln>
                  <a:noFill/>
                </a:ln>
                <a:solidFill>
                  <a:prstClr val="black"/>
                </a:solidFill>
                <a:effectLst/>
                <a:uLnTx/>
                <a:uFillTx/>
                <a:latin typeface="宋体"/>
                <a:ea typeface="+mn-ea"/>
                <a:cs typeface="宋体"/>
              </a:rPr>
              <a:t> </a:t>
            </a:r>
            <a:r>
              <a:rPr kumimoji="0" sz="2000" b="0" i="0" u="none" strike="noStrike" kern="1200" cap="none" spc="-375" normalizeH="0" baseline="0" noProof="0" dirty="0">
                <a:ln>
                  <a:noFill/>
                </a:ln>
                <a:solidFill>
                  <a:prstClr val="black"/>
                </a:solidFill>
                <a:effectLst/>
                <a:uLnTx/>
                <a:uFillTx/>
                <a:latin typeface="宋体"/>
                <a:ea typeface="+mn-ea"/>
                <a:cs typeface="宋体"/>
              </a:rPr>
              <a:t>i</a:t>
            </a:r>
            <a:r>
              <a:rPr kumimoji="0" sz="2000" b="0" i="0" u="none" strike="noStrike" kern="1200" cap="none" spc="-405" normalizeH="0" baseline="0" noProof="0" dirty="0">
                <a:ln>
                  <a:noFill/>
                </a:ln>
                <a:solidFill>
                  <a:prstClr val="black"/>
                </a:solidFill>
                <a:effectLst/>
                <a:uLnTx/>
                <a:uFillTx/>
                <a:latin typeface="宋体"/>
                <a:ea typeface="+mn-ea"/>
                <a:cs typeface="宋体"/>
              </a:rPr>
              <a:t> </a:t>
            </a:r>
            <a:r>
              <a:rPr kumimoji="0" sz="2000" b="0" i="0" u="none" strike="noStrike" kern="1200" cap="none" spc="-35" normalizeH="0" baseline="0" noProof="0" dirty="0">
                <a:ln>
                  <a:noFill/>
                </a:ln>
                <a:solidFill>
                  <a:prstClr val="black"/>
                </a:solidFill>
                <a:effectLst/>
                <a:uLnTx/>
                <a:uFillTx/>
                <a:latin typeface="宋体"/>
                <a:ea typeface="+mn-ea"/>
                <a:cs typeface="宋体"/>
              </a:rPr>
              <a:t>加</a:t>
            </a:r>
            <a:r>
              <a:rPr kumimoji="0" sz="2000" b="0" i="0" u="none" strike="noStrike" kern="1200" cap="none" spc="-30" normalizeH="0" baseline="0" noProof="0" dirty="0">
                <a:ln>
                  <a:noFill/>
                </a:ln>
                <a:solidFill>
                  <a:prstClr val="black"/>
                </a:solidFill>
                <a:effectLst/>
                <a:uLnTx/>
                <a:uFillTx/>
                <a:latin typeface="宋体"/>
                <a:ea typeface="+mn-ea"/>
                <a:cs typeface="宋体"/>
              </a:rPr>
              <a:t>到</a:t>
            </a:r>
            <a:r>
              <a:rPr kumimoji="0" sz="2000" b="0" i="0" u="none" strike="noStrike" kern="1200" cap="none" spc="-405" normalizeH="0" baseline="0" noProof="0" dirty="0">
                <a:ln>
                  <a:noFill/>
                </a:ln>
                <a:solidFill>
                  <a:prstClr val="black"/>
                </a:solidFill>
                <a:effectLst/>
                <a:uLnTx/>
                <a:uFillTx/>
                <a:latin typeface="宋体"/>
                <a:ea typeface="+mn-ea"/>
                <a:cs typeface="宋体"/>
              </a:rPr>
              <a:t> </a:t>
            </a:r>
            <a:r>
              <a:rPr kumimoji="0" sz="2000" b="0" i="0" u="none" strike="noStrike" kern="1200" cap="none" spc="270" normalizeH="0" baseline="0" noProof="0" dirty="0">
                <a:ln>
                  <a:noFill/>
                </a:ln>
                <a:solidFill>
                  <a:prstClr val="black"/>
                </a:solidFill>
                <a:effectLst/>
                <a:uLnTx/>
                <a:uFillTx/>
                <a:latin typeface="宋体"/>
                <a:ea typeface="+mn-ea"/>
                <a:cs typeface="宋体"/>
              </a:rPr>
              <a:t>sum</a:t>
            </a:r>
            <a:r>
              <a:rPr kumimoji="0" sz="2000" b="0" i="0" u="none" strike="noStrike" kern="1200" cap="none" spc="-415" normalizeH="0" baseline="0" noProof="0" dirty="0">
                <a:ln>
                  <a:noFill/>
                </a:ln>
                <a:solidFill>
                  <a:prstClr val="black"/>
                </a:solidFill>
                <a:effectLst/>
                <a:uLnTx/>
                <a:uFillTx/>
                <a:latin typeface="宋体"/>
                <a:ea typeface="+mn-ea"/>
                <a:cs typeface="宋体"/>
              </a:rPr>
              <a:t> </a:t>
            </a:r>
            <a:r>
              <a:rPr kumimoji="0" sz="2000" b="0" i="0" u="none" strike="noStrike" kern="1200" cap="none" spc="-35" normalizeH="0" baseline="0" noProof="0" dirty="0">
                <a:ln>
                  <a:noFill/>
                </a:ln>
                <a:solidFill>
                  <a:prstClr val="black"/>
                </a:solidFill>
                <a:effectLst/>
                <a:uLnTx/>
                <a:uFillTx/>
                <a:latin typeface="宋体"/>
                <a:ea typeface="+mn-ea"/>
                <a:cs typeface="宋体"/>
              </a:rPr>
              <a:t>里面</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2700" marR="0" lvl="0" indent="0" algn="l" defTabSz="914400" rtl="0" eaLnBrk="1" fontAlgn="auto" latinLnBrk="0" hangingPunct="1">
              <a:lnSpc>
                <a:spcPct val="100000"/>
              </a:lnSpc>
              <a:spcBef>
                <a:spcPts val="1035"/>
              </a:spcBef>
              <a:buClrTx/>
              <a:buSzTx/>
              <a:buFontTx/>
              <a:buNone/>
              <a:tabLst/>
              <a:defRPr/>
            </a:pPr>
            <a:r>
              <a:rPr kumimoji="0" sz="2000" b="1" i="0" u="none" strike="noStrike" kern="1200" cap="none" spc="5" normalizeH="0" baseline="0" noProof="0" dirty="0">
                <a:ln>
                  <a:noFill/>
                </a:ln>
                <a:solidFill>
                  <a:srgbClr val="252525"/>
                </a:solidFill>
                <a:effectLst/>
                <a:uLnTx/>
                <a:uFillTx/>
                <a:latin typeface="微软雅黑"/>
                <a:ea typeface="+mn-ea"/>
                <a:cs typeface="微软雅黑"/>
              </a:rPr>
              <a:t>3.</a:t>
            </a:r>
            <a:r>
              <a:rPr kumimoji="0" sz="2000" b="1" i="0" u="none" strike="noStrike" kern="1200" cap="none" spc="-60" normalizeH="0" baseline="0" noProof="0" dirty="0">
                <a:ln>
                  <a:noFill/>
                </a:ln>
                <a:solidFill>
                  <a:srgbClr val="252525"/>
                </a:solidFill>
                <a:effectLst/>
                <a:uLnTx/>
                <a:uFillTx/>
                <a:latin typeface="微软雅黑"/>
                <a:ea typeface="+mn-ea"/>
                <a:cs typeface="微软雅黑"/>
              </a:rPr>
              <a:t> </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计算</a:t>
            </a:r>
            <a:r>
              <a:rPr kumimoji="0" sz="2000" b="1" i="0" u="none" strike="noStrike" kern="1200" cap="none" spc="-45" normalizeH="0" baseline="0" noProof="0" dirty="0">
                <a:ln>
                  <a:noFill/>
                </a:ln>
                <a:solidFill>
                  <a:srgbClr val="252525"/>
                </a:solidFill>
                <a:effectLst/>
                <a:uLnTx/>
                <a:uFillTx/>
                <a:latin typeface="微软雅黑"/>
                <a:ea typeface="+mn-ea"/>
                <a:cs typeface="微软雅黑"/>
              </a:rPr>
              <a:t>1-100</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之</a:t>
            </a:r>
            <a:r>
              <a:rPr kumimoji="0" sz="2000" b="1" i="0" u="none" strike="noStrike" kern="1200" cap="none" spc="-20" normalizeH="0" baseline="0" noProof="0" dirty="0">
                <a:ln>
                  <a:noFill/>
                </a:ln>
                <a:solidFill>
                  <a:srgbClr val="252525"/>
                </a:solidFill>
                <a:effectLst/>
                <a:uLnTx/>
                <a:uFillTx/>
                <a:latin typeface="微软雅黑"/>
                <a:ea typeface="+mn-ea"/>
                <a:cs typeface="微软雅黑"/>
              </a:rPr>
              <a:t>间</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的所有</a:t>
            </a:r>
            <a:r>
              <a:rPr kumimoji="0" sz="2000" b="1" i="0" u="none" strike="noStrike" kern="1200" cap="none" spc="-15" normalizeH="0" baseline="0" noProof="0" dirty="0">
                <a:ln>
                  <a:noFill/>
                </a:ln>
                <a:solidFill>
                  <a:srgbClr val="252525"/>
                </a:solidFill>
                <a:effectLst/>
                <a:uLnTx/>
                <a:uFillTx/>
                <a:latin typeface="微软雅黑"/>
                <a:ea typeface="+mn-ea"/>
                <a:cs typeface="微软雅黑"/>
              </a:rPr>
              <a:t>偶</a:t>
            </a:r>
            <a:r>
              <a:rPr kumimoji="0" sz="2000" b="1" i="0" u="none" strike="noStrike" kern="1200" cap="none" spc="-25" normalizeH="0" baseline="0" noProof="0" dirty="0">
                <a:ln>
                  <a:noFill/>
                </a:ln>
                <a:solidFill>
                  <a:srgbClr val="252525"/>
                </a:solidFill>
                <a:effectLst/>
                <a:uLnTx/>
                <a:uFillTx/>
                <a:latin typeface="微软雅黑"/>
                <a:ea typeface="+mn-ea"/>
                <a:cs typeface="微软雅黑"/>
              </a:rPr>
              <a:t>数</a:t>
            </a:r>
            <a:r>
              <a:rPr kumimoji="0" sz="2000" b="1" i="0" u="none" strike="noStrike" kern="1200" cap="none" spc="-30" normalizeH="0" baseline="0" noProof="0" dirty="0">
                <a:ln>
                  <a:noFill/>
                </a:ln>
                <a:solidFill>
                  <a:srgbClr val="252525"/>
                </a:solidFill>
                <a:effectLst/>
                <a:uLnTx/>
                <a:uFillTx/>
                <a:latin typeface="微软雅黑"/>
                <a:ea typeface="+mn-ea"/>
                <a:cs typeface="微软雅黑"/>
              </a:rPr>
              <a:t>和</a:t>
            </a:r>
            <a:endParaRPr kumimoji="0" sz="2000" b="0" i="0" u="none" strike="noStrike" kern="1200" cap="none" spc="0" normalizeH="0" baseline="0" noProof="0" dirty="0">
              <a:ln>
                <a:noFill/>
              </a:ln>
              <a:solidFill>
                <a:prstClr val="black"/>
              </a:solidFill>
              <a:effectLst/>
              <a:uLnTx/>
              <a:uFillTx/>
              <a:latin typeface="微软雅黑"/>
              <a:ea typeface="+mn-ea"/>
              <a:cs typeface="微软雅黑"/>
            </a:endParaRPr>
          </a:p>
          <a:p>
            <a:pPr marL="355600" marR="0" lvl="0" indent="-342900" algn="l" defTabSz="914400" rtl="0" eaLnBrk="1" fontAlgn="auto" latinLnBrk="0" hangingPunct="1">
              <a:lnSpc>
                <a:spcPct val="100000"/>
              </a:lnSpc>
              <a:spcBef>
                <a:spcPts val="1345"/>
              </a:spcBef>
              <a:buClrTx/>
              <a:buSzTx/>
              <a:buFont typeface="Wingdings"/>
              <a:buChar char=""/>
              <a:tabLst>
                <a:tab pos="354965" algn="l"/>
                <a:tab pos="355600" algn="l"/>
              </a:tabLst>
              <a:defRPr/>
            </a:pPr>
            <a:r>
              <a:rPr kumimoji="0" sz="2000" b="0" i="0" u="none" strike="noStrike" kern="1200" cap="none" spc="-30" normalizeH="0" baseline="0" noProof="0" dirty="0">
                <a:ln>
                  <a:noFill/>
                </a:ln>
                <a:solidFill>
                  <a:srgbClr val="252525"/>
                </a:solidFill>
                <a:effectLst/>
                <a:uLnTx/>
                <a:uFillTx/>
                <a:latin typeface="宋体"/>
                <a:ea typeface="+mn-ea"/>
                <a:cs typeface="宋体"/>
              </a:rPr>
              <a:t>核心思路：</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346200" marR="0" lvl="1" indent="-342900" algn="l" defTabSz="914400" rtl="0" eaLnBrk="1" fontAlgn="auto" latinLnBrk="0" hangingPunct="1">
              <a:lnSpc>
                <a:spcPct val="100000"/>
              </a:lnSpc>
              <a:spcBef>
                <a:spcPts val="645"/>
              </a:spcBef>
              <a:buClrTx/>
              <a:buSzTx/>
              <a:buFont typeface="Wingdings"/>
              <a:buChar char=""/>
              <a:tabLst>
                <a:tab pos="1345565" algn="l"/>
                <a:tab pos="1346200" algn="l"/>
              </a:tabLst>
              <a:defRPr/>
            </a:pPr>
            <a:r>
              <a:rPr kumimoji="0" sz="2000" b="0" i="0" u="none" strike="noStrike" kern="1200" cap="none" spc="-30" normalizeH="0" baseline="0" noProof="0" dirty="0">
                <a:ln>
                  <a:noFill/>
                </a:ln>
                <a:solidFill>
                  <a:prstClr val="black"/>
                </a:solidFill>
                <a:effectLst/>
                <a:uLnTx/>
                <a:uFillTx/>
                <a:latin typeface="宋体"/>
                <a:ea typeface="+mn-ea"/>
                <a:cs typeface="宋体"/>
              </a:rPr>
              <a:t>声明累加和的变量</a:t>
            </a:r>
            <a:r>
              <a:rPr kumimoji="0" sz="2000" b="0" i="0" u="none" strike="noStrike" kern="1200" cap="none" spc="-370" normalizeH="0" baseline="0" noProof="0" dirty="0">
                <a:ln>
                  <a:noFill/>
                </a:ln>
                <a:solidFill>
                  <a:prstClr val="black"/>
                </a:solidFill>
                <a:effectLst/>
                <a:uLnTx/>
                <a:uFillTx/>
                <a:latin typeface="宋体"/>
                <a:ea typeface="+mn-ea"/>
                <a:cs typeface="宋体"/>
              </a:rPr>
              <a:t> </a:t>
            </a:r>
            <a:r>
              <a:rPr kumimoji="0" sz="2000" b="0" i="0" u="none" strike="noStrike" kern="1200" cap="none" spc="270" normalizeH="0" baseline="0" noProof="0" dirty="0">
                <a:ln>
                  <a:noFill/>
                </a:ln>
                <a:solidFill>
                  <a:prstClr val="black"/>
                </a:solidFill>
                <a:effectLst/>
                <a:uLnTx/>
                <a:uFillTx/>
                <a:latin typeface="宋体"/>
                <a:ea typeface="+mn-ea"/>
                <a:cs typeface="宋体"/>
              </a:rPr>
              <a:t>sum</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346200" marR="0" lvl="1" indent="-342900" algn="l" defTabSz="914400" rtl="0" eaLnBrk="1" fontAlgn="auto" latinLnBrk="0" hangingPunct="1">
              <a:lnSpc>
                <a:spcPct val="100000"/>
              </a:lnSpc>
              <a:spcBef>
                <a:spcPts val="385"/>
              </a:spcBef>
              <a:buClrTx/>
              <a:buSzTx/>
              <a:buFont typeface="Wingdings"/>
              <a:buChar char=""/>
              <a:tabLst>
                <a:tab pos="1345565" algn="l"/>
                <a:tab pos="1346200" algn="l"/>
              </a:tabLst>
              <a:defRPr/>
            </a:pPr>
            <a:r>
              <a:rPr kumimoji="0" sz="2000" b="0" i="0" u="none" strike="noStrike" kern="1200" cap="none" spc="-35" normalizeH="0" baseline="0" noProof="0" dirty="0">
                <a:ln>
                  <a:noFill/>
                </a:ln>
                <a:solidFill>
                  <a:prstClr val="black"/>
                </a:solidFill>
                <a:effectLst/>
                <a:uLnTx/>
                <a:uFillTx/>
                <a:latin typeface="宋体"/>
                <a:ea typeface="+mn-ea"/>
                <a:cs typeface="宋体"/>
              </a:rPr>
              <a:t>首</a:t>
            </a:r>
            <a:r>
              <a:rPr kumimoji="0" sz="2000" b="0" i="0" u="none" strike="noStrike" kern="1200" cap="none" spc="-30" normalizeH="0" baseline="0" noProof="0" dirty="0">
                <a:ln>
                  <a:noFill/>
                </a:ln>
                <a:solidFill>
                  <a:prstClr val="black"/>
                </a:solidFill>
                <a:effectLst/>
                <a:uLnTx/>
                <a:uFillTx/>
                <a:latin typeface="宋体"/>
                <a:ea typeface="+mn-ea"/>
                <a:cs typeface="宋体"/>
              </a:rPr>
              <a:t>先</a:t>
            </a:r>
            <a:r>
              <a:rPr kumimoji="0" sz="2000" b="0" i="0" u="none" strike="noStrike" kern="1200" cap="none" spc="-35" normalizeH="0" baseline="0" noProof="0" dirty="0">
                <a:ln>
                  <a:noFill/>
                </a:ln>
                <a:solidFill>
                  <a:prstClr val="black"/>
                </a:solidFill>
                <a:effectLst/>
                <a:uLnTx/>
                <a:uFillTx/>
                <a:latin typeface="宋体"/>
                <a:ea typeface="+mn-ea"/>
                <a:cs typeface="宋体"/>
              </a:rPr>
              <a:t>利用</a:t>
            </a:r>
            <a:r>
              <a:rPr kumimoji="0" sz="2000" b="0" i="0" u="none" strike="noStrike" kern="1200" cap="none" spc="-315" normalizeH="0" baseline="0" noProof="0" dirty="0">
                <a:ln>
                  <a:noFill/>
                </a:ln>
                <a:solidFill>
                  <a:prstClr val="black"/>
                </a:solidFill>
                <a:effectLst/>
                <a:uLnTx/>
                <a:uFillTx/>
                <a:latin typeface="宋体"/>
                <a:ea typeface="+mn-ea"/>
                <a:cs typeface="宋体"/>
              </a:rPr>
              <a:t>if</a:t>
            </a:r>
            <a:r>
              <a:rPr kumimoji="0" sz="2000" b="0" i="0" u="none" strike="noStrike" kern="1200" cap="none" spc="-35" normalizeH="0" baseline="0" noProof="0" dirty="0">
                <a:ln>
                  <a:noFill/>
                </a:ln>
                <a:solidFill>
                  <a:prstClr val="black"/>
                </a:solidFill>
                <a:effectLst/>
                <a:uLnTx/>
                <a:uFillTx/>
                <a:latin typeface="宋体"/>
                <a:ea typeface="+mn-ea"/>
                <a:cs typeface="宋体"/>
              </a:rPr>
              <a:t>语句</a:t>
            </a:r>
            <a:r>
              <a:rPr kumimoji="0" sz="2000" b="0" i="0" u="none" strike="noStrike" kern="1200" cap="none" spc="-30" normalizeH="0" baseline="0" noProof="0" dirty="0">
                <a:ln>
                  <a:noFill/>
                </a:ln>
                <a:solidFill>
                  <a:prstClr val="black"/>
                </a:solidFill>
                <a:effectLst/>
                <a:uLnTx/>
                <a:uFillTx/>
                <a:latin typeface="宋体"/>
                <a:ea typeface="+mn-ea"/>
                <a:cs typeface="宋体"/>
              </a:rPr>
              <a:t>把</a:t>
            </a:r>
            <a:r>
              <a:rPr kumimoji="0" sz="2000" b="0" i="0" u="none" strike="noStrike" kern="1200" cap="none" spc="-385" normalizeH="0" baseline="0" noProof="0" dirty="0">
                <a:ln>
                  <a:noFill/>
                </a:ln>
                <a:solidFill>
                  <a:prstClr val="black"/>
                </a:solidFill>
                <a:effectLst/>
                <a:uLnTx/>
                <a:uFillTx/>
                <a:latin typeface="宋体"/>
                <a:ea typeface="+mn-ea"/>
                <a:cs typeface="宋体"/>
              </a:rPr>
              <a:t> </a:t>
            </a:r>
            <a:r>
              <a:rPr kumimoji="0" sz="2000" b="0" i="0" u="none" strike="noStrike" kern="1200" cap="none" spc="-375" normalizeH="0" baseline="0" noProof="0" dirty="0">
                <a:ln>
                  <a:noFill/>
                </a:ln>
                <a:solidFill>
                  <a:prstClr val="black"/>
                </a:solidFill>
                <a:effectLst/>
                <a:uLnTx/>
                <a:uFillTx/>
                <a:latin typeface="宋体"/>
                <a:ea typeface="+mn-ea"/>
                <a:cs typeface="宋体"/>
              </a:rPr>
              <a:t>i</a:t>
            </a:r>
            <a:r>
              <a:rPr kumimoji="0" sz="2000" b="0" i="0" u="none" strike="noStrike" kern="1200" cap="none" spc="-400" normalizeH="0" baseline="0" noProof="0" dirty="0">
                <a:ln>
                  <a:noFill/>
                </a:ln>
                <a:solidFill>
                  <a:prstClr val="black"/>
                </a:solidFill>
                <a:effectLst/>
                <a:uLnTx/>
                <a:uFillTx/>
                <a:latin typeface="宋体"/>
                <a:ea typeface="+mn-ea"/>
                <a:cs typeface="宋体"/>
              </a:rPr>
              <a:t> </a:t>
            </a:r>
            <a:r>
              <a:rPr kumimoji="0" sz="2000" b="0" i="0" u="none" strike="noStrike" kern="1200" cap="none" spc="-35" normalizeH="0" baseline="0" noProof="0" dirty="0">
                <a:ln>
                  <a:noFill/>
                </a:ln>
                <a:solidFill>
                  <a:prstClr val="black"/>
                </a:solidFill>
                <a:effectLst/>
                <a:uLnTx/>
                <a:uFillTx/>
                <a:latin typeface="宋体"/>
                <a:ea typeface="+mn-ea"/>
                <a:cs typeface="宋体"/>
              </a:rPr>
              <a:t>里面是偶数</a:t>
            </a:r>
            <a:r>
              <a:rPr kumimoji="0" sz="2000" b="0" i="0" u="none" strike="noStrike" kern="1200" cap="none" spc="-30" normalizeH="0" baseline="0" noProof="0" dirty="0">
                <a:ln>
                  <a:noFill/>
                </a:ln>
                <a:solidFill>
                  <a:prstClr val="black"/>
                </a:solidFill>
                <a:effectLst/>
                <a:uLnTx/>
                <a:uFillTx/>
                <a:latin typeface="宋体"/>
                <a:ea typeface="+mn-ea"/>
                <a:cs typeface="宋体"/>
              </a:rPr>
              <a:t>筛</a:t>
            </a:r>
            <a:r>
              <a:rPr kumimoji="0" sz="2000" b="0" i="0" u="none" strike="noStrike" kern="1200" cap="none" spc="-35" normalizeH="0" baseline="0" noProof="0" dirty="0">
                <a:ln>
                  <a:noFill/>
                </a:ln>
                <a:solidFill>
                  <a:prstClr val="black"/>
                </a:solidFill>
                <a:effectLst/>
                <a:uLnTx/>
                <a:uFillTx/>
                <a:latin typeface="宋体"/>
                <a:ea typeface="+mn-ea"/>
                <a:cs typeface="宋体"/>
              </a:rPr>
              <a:t>选出来</a:t>
            </a:r>
            <a:endParaRPr kumimoji="0" sz="2000" b="0" i="0" u="none" strike="noStrike" kern="1200" cap="none" spc="0" normalizeH="0" baseline="0" noProof="0" dirty="0">
              <a:ln>
                <a:noFill/>
              </a:ln>
              <a:solidFill>
                <a:prstClr val="black"/>
              </a:solidFill>
              <a:effectLst/>
              <a:uLnTx/>
              <a:uFillTx/>
              <a:latin typeface="宋体"/>
              <a:ea typeface="+mn-ea"/>
              <a:cs typeface="宋体"/>
            </a:endParaRPr>
          </a:p>
          <a:p>
            <a:pPr marL="1346200" marR="0" lvl="1" indent="-342900" algn="l" defTabSz="914400" rtl="0" eaLnBrk="1" fontAlgn="auto" latinLnBrk="0" hangingPunct="1">
              <a:lnSpc>
                <a:spcPct val="100000"/>
              </a:lnSpc>
              <a:spcBef>
                <a:spcPts val="390"/>
              </a:spcBef>
              <a:spcAft>
                <a:spcPts val="0"/>
              </a:spcAft>
              <a:buClrTx/>
              <a:buSzTx/>
              <a:buFont typeface="Wingdings"/>
              <a:buChar char=""/>
              <a:tabLst>
                <a:tab pos="1345565" algn="l"/>
                <a:tab pos="1346200" algn="l"/>
              </a:tabLst>
              <a:defRPr/>
            </a:pPr>
            <a:r>
              <a:rPr kumimoji="0" sz="2000" b="0" i="0" u="none" strike="noStrike" kern="1200" cap="none" spc="-30" normalizeH="0" baseline="0" noProof="0" dirty="0" err="1" smtClean="0">
                <a:ln>
                  <a:noFill/>
                </a:ln>
                <a:solidFill>
                  <a:prstClr val="black"/>
                </a:solidFill>
                <a:effectLst/>
                <a:uLnTx/>
                <a:uFillTx/>
                <a:latin typeface="宋体"/>
                <a:ea typeface="+mn-ea"/>
                <a:cs typeface="宋体"/>
              </a:rPr>
              <a:t>把筛选的</a:t>
            </a:r>
            <a:r>
              <a:rPr kumimoji="0" sz="2000" b="0" i="0" u="none" strike="noStrike" kern="1200" cap="none" spc="-385" normalizeH="0" baseline="0" noProof="0" dirty="0" smtClean="0">
                <a:ln>
                  <a:noFill/>
                </a:ln>
                <a:solidFill>
                  <a:prstClr val="black"/>
                </a:solidFill>
                <a:effectLst/>
                <a:uLnTx/>
                <a:uFillTx/>
                <a:latin typeface="宋体"/>
                <a:ea typeface="+mn-ea"/>
                <a:cs typeface="宋体"/>
              </a:rPr>
              <a:t> </a:t>
            </a:r>
            <a:r>
              <a:rPr kumimoji="0" sz="2000" b="0" i="0" u="none" strike="noStrike" kern="1200" cap="none" spc="-375" normalizeH="0" baseline="0" noProof="0" dirty="0">
                <a:ln>
                  <a:noFill/>
                </a:ln>
                <a:solidFill>
                  <a:prstClr val="black"/>
                </a:solidFill>
                <a:effectLst/>
                <a:uLnTx/>
                <a:uFillTx/>
                <a:latin typeface="宋体"/>
                <a:ea typeface="+mn-ea"/>
                <a:cs typeface="宋体"/>
              </a:rPr>
              <a:t>i</a:t>
            </a:r>
            <a:r>
              <a:rPr kumimoji="0" sz="2000" b="0" i="0" u="none" strike="noStrike" kern="1200" cap="none" spc="-390" normalizeH="0" baseline="0" noProof="0" dirty="0">
                <a:ln>
                  <a:noFill/>
                </a:ln>
                <a:solidFill>
                  <a:prstClr val="black"/>
                </a:solidFill>
                <a:effectLst/>
                <a:uLnTx/>
                <a:uFillTx/>
                <a:latin typeface="宋体"/>
                <a:ea typeface="+mn-ea"/>
                <a:cs typeface="宋体"/>
              </a:rPr>
              <a:t> </a:t>
            </a:r>
            <a:r>
              <a:rPr kumimoji="0" sz="2000" b="0" i="0" u="none" strike="noStrike" kern="1200" cap="none" spc="-30" normalizeH="0" baseline="0" noProof="0" dirty="0">
                <a:ln>
                  <a:noFill/>
                </a:ln>
                <a:solidFill>
                  <a:prstClr val="black"/>
                </a:solidFill>
                <a:effectLst/>
                <a:uLnTx/>
                <a:uFillTx/>
                <a:latin typeface="宋体"/>
                <a:ea typeface="+mn-ea"/>
                <a:cs typeface="宋体"/>
              </a:rPr>
              <a:t>加到</a:t>
            </a:r>
            <a:r>
              <a:rPr kumimoji="0" sz="2000" b="0" i="0" u="none" strike="noStrike" kern="1200" cap="none" spc="-400" normalizeH="0" baseline="0" noProof="0" dirty="0">
                <a:ln>
                  <a:noFill/>
                </a:ln>
                <a:solidFill>
                  <a:prstClr val="black"/>
                </a:solidFill>
                <a:effectLst/>
                <a:uLnTx/>
                <a:uFillTx/>
                <a:latin typeface="宋体"/>
                <a:ea typeface="+mn-ea"/>
                <a:cs typeface="宋体"/>
              </a:rPr>
              <a:t> </a:t>
            </a:r>
            <a:r>
              <a:rPr kumimoji="0" sz="2000" b="0" i="0" u="none" strike="noStrike" kern="1200" cap="none" spc="270" normalizeH="0" baseline="0" noProof="0" dirty="0">
                <a:ln>
                  <a:noFill/>
                </a:ln>
                <a:solidFill>
                  <a:prstClr val="black"/>
                </a:solidFill>
                <a:effectLst/>
                <a:uLnTx/>
                <a:uFillTx/>
                <a:latin typeface="宋体"/>
                <a:ea typeface="+mn-ea"/>
                <a:cs typeface="宋体"/>
              </a:rPr>
              <a:t>sum</a:t>
            </a:r>
            <a:r>
              <a:rPr kumimoji="0" sz="2000" b="0" i="0" u="none" strike="noStrike" kern="1200" cap="none" spc="-385" normalizeH="0" baseline="0" noProof="0" dirty="0">
                <a:ln>
                  <a:noFill/>
                </a:ln>
                <a:solidFill>
                  <a:prstClr val="black"/>
                </a:solidFill>
                <a:effectLst/>
                <a:uLnTx/>
                <a:uFillTx/>
                <a:latin typeface="宋体"/>
                <a:ea typeface="+mn-ea"/>
                <a:cs typeface="宋体"/>
              </a:rPr>
              <a:t> </a:t>
            </a:r>
            <a:r>
              <a:rPr kumimoji="0" sz="2000" b="0" i="0" u="none" strike="noStrike" kern="1200" cap="none" spc="-30" normalizeH="0" baseline="0" noProof="0" dirty="0">
                <a:ln>
                  <a:noFill/>
                </a:ln>
                <a:solidFill>
                  <a:prstClr val="black"/>
                </a:solidFill>
                <a:effectLst/>
                <a:uLnTx/>
                <a:uFillTx/>
                <a:latin typeface="宋体"/>
                <a:ea typeface="+mn-ea"/>
                <a:cs typeface="宋体"/>
              </a:rPr>
              <a:t>里面</a:t>
            </a:r>
            <a:endParaRPr kumimoji="0" sz="2000" b="0" i="0" u="none" strike="noStrike" kern="1200" cap="none" spc="0" normalizeH="0" baseline="0" noProof="0" dirty="0">
              <a:ln>
                <a:noFill/>
              </a:ln>
              <a:solidFill>
                <a:prstClr val="black"/>
              </a:solidFill>
              <a:effectLst/>
              <a:uLnTx/>
              <a:uFillTx/>
              <a:latin typeface="宋体"/>
              <a:ea typeface="+mn-ea"/>
              <a:cs typeface="宋体"/>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24</a:t>
            </a:fld>
            <a:endParaRPr lang="zh-CN" altLang="en-US"/>
          </a:p>
        </p:txBody>
      </p:sp>
      <p:sp>
        <p:nvSpPr>
          <p:cNvPr id="8" name="矩形 7"/>
          <p:cNvSpPr/>
          <p:nvPr/>
        </p:nvSpPr>
        <p:spPr>
          <a:xfrm>
            <a:off x="806194" y="685800"/>
            <a:ext cx="2101857" cy="584775"/>
          </a:xfrm>
          <a:prstGeom prst="rect">
            <a:avLst/>
          </a:prstGeom>
        </p:spPr>
        <p:txBody>
          <a:bodyPr wrap="none">
            <a:spAutoFit/>
          </a:bodyPr>
          <a:lstStyle/>
          <a:p>
            <a:r>
              <a:rPr lang="en-US" altLang="zh-CN" sz="3200" b="1" dirty="0"/>
              <a:t>While </a:t>
            </a:r>
            <a:r>
              <a:rPr lang="zh-CN" altLang="en-US" sz="3200" b="1" dirty="0"/>
              <a:t>练习</a:t>
            </a:r>
          </a:p>
        </p:txBody>
      </p:sp>
    </p:spTree>
    <p:extLst>
      <p:ext uri="{BB962C8B-B14F-4D97-AF65-F5344CB8AC3E}">
        <p14:creationId xmlns:p14="http://schemas.microsoft.com/office/powerpoint/2010/main" val="8813496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762000" y="1485468"/>
            <a:ext cx="8757667" cy="38215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2645"/>
              </a:spcBef>
              <a:buClrTx/>
              <a:buSzTx/>
              <a:buFontTx/>
              <a:buNone/>
              <a:tabLst/>
              <a:defRPr/>
            </a:pPr>
            <a:r>
              <a:rPr kumimoji="0" sz="2400" b="0" i="0" u="none" strike="noStrike" kern="1200" cap="none" spc="-30" normalizeH="0" baseline="0" noProof="0" dirty="0" err="1" smtClean="0">
                <a:ln>
                  <a:noFill/>
                </a:ln>
                <a:solidFill>
                  <a:srgbClr val="252525"/>
                </a:solidFill>
                <a:effectLst/>
                <a:uLnTx/>
                <a:uFillTx/>
                <a:latin typeface="宋体"/>
                <a:ea typeface="+mn-ea"/>
                <a:cs typeface="宋体"/>
              </a:rPr>
              <a:t>需求</a:t>
            </a:r>
            <a:r>
              <a:rPr kumimoji="0" sz="2400" b="0" i="0" u="none" strike="noStrike" kern="1200" cap="none" spc="-30" normalizeH="0" baseline="0" noProof="0" dirty="0" err="1">
                <a:ln>
                  <a:noFill/>
                </a:ln>
                <a:solidFill>
                  <a:srgbClr val="252525"/>
                </a:solidFill>
                <a:effectLst/>
                <a:uLnTx/>
                <a:uFillTx/>
                <a:latin typeface="宋体"/>
                <a:ea typeface="+mn-ea"/>
                <a:cs typeface="宋体"/>
              </a:rPr>
              <a:t>：用户可以选择存钱、取钱、查看余额和退出功能</a:t>
            </a:r>
            <a:endParaRPr kumimoji="0" sz="2400" b="0" i="0" u="none" strike="noStrike" kern="1200" cap="none" spc="0" normalizeH="0" baseline="0" noProof="0" dirty="0">
              <a:ln>
                <a:noFill/>
              </a:ln>
              <a:solidFill>
                <a:prstClr val="black"/>
              </a:solidFill>
              <a:effectLst/>
              <a:uLnTx/>
              <a:uFillTx/>
              <a:latin typeface="宋体"/>
              <a:ea typeface="+mn-ea"/>
              <a:cs typeface="宋体"/>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25</a:t>
            </a:fld>
            <a:endParaRPr lang="zh-CN" altLang="en-US"/>
          </a:p>
        </p:txBody>
      </p:sp>
      <p:pic>
        <p:nvPicPr>
          <p:cNvPr id="9" name="图片 8"/>
          <p:cNvPicPr>
            <a:picLocks noChangeAspect="1"/>
          </p:cNvPicPr>
          <p:nvPr/>
        </p:nvPicPr>
        <p:blipFill>
          <a:blip r:embed="rId2"/>
          <a:stretch>
            <a:fillRect/>
          </a:stretch>
        </p:blipFill>
        <p:spPr>
          <a:xfrm>
            <a:off x="455347" y="2362200"/>
            <a:ext cx="5640653" cy="3124200"/>
          </a:xfrm>
          <a:prstGeom prst="rect">
            <a:avLst/>
          </a:prstGeom>
        </p:spPr>
      </p:pic>
      <p:sp>
        <p:nvSpPr>
          <p:cNvPr id="10" name="矩形 9"/>
          <p:cNvSpPr/>
          <p:nvPr/>
        </p:nvSpPr>
        <p:spPr>
          <a:xfrm>
            <a:off x="762000" y="638320"/>
            <a:ext cx="3811300" cy="584775"/>
          </a:xfrm>
          <a:prstGeom prst="rect">
            <a:avLst/>
          </a:prstGeom>
        </p:spPr>
        <p:txBody>
          <a:bodyPr wrap="none">
            <a:spAutoFit/>
          </a:bodyPr>
          <a:lstStyle/>
          <a:p>
            <a:pPr marL="12700" lvl="0">
              <a:spcBef>
                <a:spcPts val="100"/>
              </a:spcBef>
              <a:defRPr/>
            </a:pPr>
            <a:r>
              <a:rPr lang="zh-CN" altLang="en-US" sz="3200" b="1" spc="-40" dirty="0">
                <a:solidFill>
                  <a:srgbClr val="AC2B25"/>
                </a:solidFill>
                <a:latin typeface="宋体"/>
                <a:cs typeface="宋体"/>
              </a:rPr>
              <a:t>简易</a:t>
            </a:r>
            <a:r>
              <a:rPr lang="en-US" altLang="zh-CN" sz="3200" b="1" spc="420" dirty="0">
                <a:solidFill>
                  <a:srgbClr val="AC2B25"/>
                </a:solidFill>
                <a:latin typeface="宋体"/>
                <a:cs typeface="宋体"/>
              </a:rPr>
              <a:t>ATM</a:t>
            </a:r>
            <a:r>
              <a:rPr lang="zh-CN" altLang="en-US" sz="3200" b="1" spc="-40" dirty="0">
                <a:solidFill>
                  <a:srgbClr val="AC2B25"/>
                </a:solidFill>
                <a:latin typeface="宋体"/>
                <a:cs typeface="宋体"/>
              </a:rPr>
              <a:t>取款机案例</a:t>
            </a:r>
            <a:endParaRPr lang="zh-CN" altLang="en-US" sz="3200" b="1" dirty="0">
              <a:solidFill>
                <a:prstClr val="black"/>
              </a:solidFill>
              <a:latin typeface="宋体"/>
              <a:cs typeface="宋体"/>
            </a:endParaRPr>
          </a:p>
        </p:txBody>
      </p:sp>
      <p:sp>
        <p:nvSpPr>
          <p:cNvPr id="3" name="矩形 2"/>
          <p:cNvSpPr/>
          <p:nvPr/>
        </p:nvSpPr>
        <p:spPr>
          <a:xfrm>
            <a:off x="5943600" y="2083109"/>
            <a:ext cx="6096000" cy="4247317"/>
          </a:xfrm>
          <a:prstGeom prst="rect">
            <a:avLst/>
          </a:prstGeom>
        </p:spPr>
        <p:txBody>
          <a:bodyPr>
            <a:spAutoFit/>
          </a:bodyPr>
          <a:lstStyle/>
          <a:p>
            <a:pPr>
              <a:lnSpc>
                <a:spcPct val="150000"/>
              </a:lnSpc>
            </a:pPr>
            <a:r>
              <a:rPr lang="zh-CN" altLang="en-US" dirty="0"/>
              <a:t>分析</a:t>
            </a:r>
            <a:r>
              <a:rPr lang="zh-CN" altLang="en-US" dirty="0" smtClean="0"/>
              <a:t>：</a:t>
            </a:r>
            <a:endParaRPr lang="en-US" altLang="zh-CN" dirty="0" smtClean="0"/>
          </a:p>
          <a:p>
            <a:pPr>
              <a:lnSpc>
                <a:spcPct val="150000"/>
              </a:lnSpc>
            </a:pPr>
            <a:r>
              <a:rPr lang="en-US" altLang="zh-CN" dirty="0" smtClean="0"/>
              <a:t>1</a:t>
            </a:r>
            <a:r>
              <a:rPr lang="zh-CN" altLang="en-US" dirty="0"/>
              <a:t>：循环的时候，需要反复提示输入框，所以提示框写到循环里面</a:t>
            </a:r>
            <a:r>
              <a:rPr lang="zh-CN" altLang="en-US" dirty="0" smtClean="0"/>
              <a:t>；</a:t>
            </a:r>
            <a:endParaRPr lang="en-US" altLang="zh-CN" dirty="0" smtClean="0"/>
          </a:p>
          <a:p>
            <a:pPr>
              <a:lnSpc>
                <a:spcPct val="150000"/>
              </a:lnSpc>
            </a:pPr>
            <a:r>
              <a:rPr lang="en-US" altLang="zh-CN" dirty="0" smtClean="0"/>
              <a:t>2</a:t>
            </a:r>
            <a:r>
              <a:rPr lang="zh-CN" altLang="en-US" dirty="0"/>
              <a:t>：退出的条件是用户输入了 </a:t>
            </a:r>
            <a:r>
              <a:rPr lang="en-US" altLang="zh-CN" dirty="0"/>
              <a:t>4</a:t>
            </a:r>
            <a:r>
              <a:rPr lang="zh-CN" altLang="en-US" dirty="0"/>
              <a:t>，如果是</a:t>
            </a:r>
            <a:r>
              <a:rPr lang="en-US" altLang="zh-CN" dirty="0"/>
              <a:t>4</a:t>
            </a:r>
            <a:r>
              <a:rPr lang="zh-CN" altLang="en-US" dirty="0"/>
              <a:t>，则结束循环，不再弹窗</a:t>
            </a:r>
            <a:r>
              <a:rPr lang="zh-CN" altLang="en-US" dirty="0" smtClean="0"/>
              <a:t>；</a:t>
            </a:r>
            <a:endParaRPr lang="en-US" altLang="zh-CN" dirty="0" smtClean="0"/>
          </a:p>
          <a:p>
            <a:pPr>
              <a:lnSpc>
                <a:spcPct val="150000"/>
              </a:lnSpc>
            </a:pPr>
            <a:r>
              <a:rPr lang="en-US" altLang="zh-CN" dirty="0" smtClean="0"/>
              <a:t>3</a:t>
            </a:r>
            <a:r>
              <a:rPr lang="zh-CN" altLang="en-US" dirty="0"/>
              <a:t>：提前准备一个金额</a:t>
            </a:r>
            <a:r>
              <a:rPr lang="en-US" altLang="zh-CN" dirty="0"/>
              <a:t>1000</a:t>
            </a:r>
            <a:r>
              <a:rPr lang="zh-CN" altLang="en-US" dirty="0"/>
              <a:t>元作为预先存储的数额</a:t>
            </a:r>
            <a:r>
              <a:rPr lang="zh-CN" altLang="en-US" dirty="0" smtClean="0"/>
              <a:t>；</a:t>
            </a:r>
            <a:endParaRPr lang="en-US" altLang="zh-CN" dirty="0" smtClean="0"/>
          </a:p>
          <a:p>
            <a:pPr>
              <a:lnSpc>
                <a:spcPct val="150000"/>
              </a:lnSpc>
            </a:pPr>
            <a:r>
              <a:rPr lang="en-US" altLang="zh-CN" dirty="0" smtClean="0"/>
              <a:t>4</a:t>
            </a:r>
            <a:r>
              <a:rPr lang="zh-CN" altLang="en-US" dirty="0"/>
              <a:t>：取钱是减法操作， 存钱是加法操作，查看余额是直接显示金额</a:t>
            </a:r>
            <a:r>
              <a:rPr lang="zh-CN" altLang="en-US" dirty="0" smtClean="0"/>
              <a:t>；</a:t>
            </a:r>
            <a:endParaRPr lang="en-US" altLang="zh-CN" dirty="0" smtClean="0"/>
          </a:p>
          <a:p>
            <a:pPr>
              <a:lnSpc>
                <a:spcPct val="150000"/>
              </a:lnSpc>
            </a:pPr>
            <a:r>
              <a:rPr lang="en-US" altLang="zh-CN" dirty="0" smtClean="0"/>
              <a:t>5</a:t>
            </a:r>
            <a:r>
              <a:rPr lang="zh-CN" altLang="en-US" dirty="0"/>
              <a:t>：用户输入不同的值，可以使用</a:t>
            </a:r>
            <a:r>
              <a:rPr lang="en-US" altLang="zh-CN" dirty="0"/>
              <a:t>switch</a:t>
            </a:r>
            <a:r>
              <a:rPr lang="zh-CN" altLang="en-US" dirty="0"/>
              <a:t>来执行不同的操作；</a:t>
            </a:r>
            <a:r>
              <a:rPr lang="en-US" altLang="zh-CN" dirty="0"/>
              <a:t>6</a:t>
            </a:r>
            <a:r>
              <a:rPr lang="zh-CN" altLang="en-US" dirty="0"/>
              <a:t>：输入数字有误，提示“输入格式有误，请您重新输入！”</a:t>
            </a:r>
          </a:p>
        </p:txBody>
      </p:sp>
    </p:spTree>
    <p:extLst>
      <p:ext uri="{BB962C8B-B14F-4D97-AF65-F5344CB8AC3E}">
        <p14:creationId xmlns:p14="http://schemas.microsoft.com/office/powerpoint/2010/main" val="4825091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762000" y="682530"/>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panose="020B0503020204020204" pitchFamily="34" charset="-122"/>
                <a:ea typeface="微软雅黑" panose="020B0503020204020204" pitchFamily="34" charset="-122"/>
              </a:rPr>
              <a:t>数组</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26</a:t>
            </a:fld>
            <a:endParaRPr lang="zh-CN" altLang="en-US"/>
          </a:p>
        </p:txBody>
      </p:sp>
      <p:sp>
        <p:nvSpPr>
          <p:cNvPr id="7" name="矩形 6"/>
          <p:cNvSpPr/>
          <p:nvPr/>
        </p:nvSpPr>
        <p:spPr>
          <a:xfrm>
            <a:off x="838200" y="4486325"/>
            <a:ext cx="10337800" cy="2246769"/>
          </a:xfrm>
          <a:prstGeom prst="rect">
            <a:avLst/>
          </a:prstGeom>
          <a:solidFill>
            <a:schemeClr val="tx1"/>
          </a:solidFill>
        </p:spPr>
        <p:txBody>
          <a:bodyPr wrap="square">
            <a:spAutoFit/>
          </a:bodyPr>
          <a:lstStyle/>
          <a:p>
            <a:r>
              <a:rPr lang="en-US" altLang="zh-CN" sz="2000" dirty="0">
                <a:solidFill>
                  <a:srgbClr val="C792EA"/>
                </a:solidFill>
              </a:rPr>
              <a:t>let</a:t>
            </a:r>
            <a:r>
              <a:rPr lang="zh-CN" altLang="en-US" sz="2000" dirty="0">
                <a:solidFill>
                  <a:srgbClr val="80CBC4"/>
                </a:solidFill>
              </a:rPr>
              <a:t> </a:t>
            </a:r>
            <a:r>
              <a:rPr lang="en-US" altLang="zh-CN" sz="2000" dirty="0" err="1">
                <a:solidFill>
                  <a:srgbClr val="FF5370"/>
                </a:solidFill>
              </a:rPr>
              <a:t>arr</a:t>
            </a:r>
            <a:r>
              <a:rPr lang="zh-CN" altLang="en-US" sz="2000" dirty="0">
                <a:solidFill>
                  <a:srgbClr val="1290BF"/>
                </a:solidFill>
              </a:rPr>
              <a:t> </a:t>
            </a:r>
            <a:r>
              <a:rPr lang="en-US" altLang="zh-CN" sz="2000" dirty="0">
                <a:solidFill>
                  <a:srgbClr val="80CBC4"/>
                </a:solidFill>
              </a:rPr>
              <a:t>= [] </a:t>
            </a:r>
            <a:r>
              <a:rPr lang="en-US" altLang="zh-CN" sz="2000" dirty="0">
                <a:solidFill>
                  <a:srgbClr val="5C7E8C"/>
                </a:solidFill>
              </a:rPr>
              <a:t>//</a:t>
            </a:r>
            <a:r>
              <a:rPr lang="zh-CN" altLang="en-US" sz="2000" dirty="0">
                <a:solidFill>
                  <a:srgbClr val="4CAE4C"/>
                </a:solidFill>
              </a:rPr>
              <a:t>创建空数组</a:t>
            </a:r>
            <a:endParaRPr lang="zh-CN" altLang="en-US" sz="2000" dirty="0">
              <a:solidFill>
                <a:srgbClr val="CBCCC6"/>
              </a:solidFill>
            </a:endParaRPr>
          </a:p>
          <a:p>
            <a:r>
              <a:rPr lang="en-US" altLang="zh-CN" sz="2000" dirty="0" smtClean="0">
                <a:solidFill>
                  <a:srgbClr val="C792EA"/>
                </a:solidFill>
              </a:rPr>
              <a:t>let</a:t>
            </a:r>
            <a:r>
              <a:rPr lang="zh-CN" altLang="en-US" sz="2000" dirty="0" smtClean="0">
                <a:solidFill>
                  <a:srgbClr val="80CBC4"/>
                </a:solidFill>
              </a:rPr>
              <a:t> </a:t>
            </a:r>
            <a:r>
              <a:rPr lang="en-US" altLang="zh-CN" sz="2000" dirty="0" err="1">
                <a:solidFill>
                  <a:srgbClr val="FF5370"/>
                </a:solidFill>
              </a:rPr>
              <a:t>arr</a:t>
            </a:r>
            <a:r>
              <a:rPr lang="zh-CN" altLang="en-US" sz="2000" dirty="0">
                <a:solidFill>
                  <a:srgbClr val="1290BF"/>
                </a:solidFill>
              </a:rPr>
              <a:t> </a:t>
            </a:r>
            <a:r>
              <a:rPr lang="en-US" altLang="zh-CN" sz="2000" dirty="0">
                <a:solidFill>
                  <a:srgbClr val="80CBC4"/>
                </a:solidFill>
              </a:rPr>
              <a:t>= [</a:t>
            </a:r>
            <a:r>
              <a:rPr lang="en-US" altLang="zh-CN" sz="2000" dirty="0">
                <a:solidFill>
                  <a:srgbClr val="F77669"/>
                </a:solidFill>
              </a:rPr>
              <a:t>1</a:t>
            </a:r>
            <a:r>
              <a:rPr lang="en-US" altLang="zh-CN" sz="2000" dirty="0">
                <a:solidFill>
                  <a:srgbClr val="80CBC4"/>
                </a:solidFill>
              </a:rPr>
              <a:t>, </a:t>
            </a:r>
            <a:r>
              <a:rPr lang="en-US" altLang="zh-CN" sz="2000" dirty="0">
                <a:solidFill>
                  <a:srgbClr val="F77669"/>
                </a:solidFill>
              </a:rPr>
              <a:t>2</a:t>
            </a:r>
            <a:r>
              <a:rPr lang="en-US" altLang="zh-CN" sz="2000" dirty="0">
                <a:solidFill>
                  <a:srgbClr val="80CBC4"/>
                </a:solidFill>
              </a:rPr>
              <a:t>, </a:t>
            </a:r>
            <a:r>
              <a:rPr lang="en-US" altLang="zh-CN" sz="2000" dirty="0">
                <a:solidFill>
                  <a:srgbClr val="F77669"/>
                </a:solidFill>
              </a:rPr>
              <a:t>3</a:t>
            </a:r>
            <a:r>
              <a:rPr lang="en-US" altLang="zh-CN" sz="2000" dirty="0">
                <a:solidFill>
                  <a:srgbClr val="80CBC4"/>
                </a:solidFill>
              </a:rPr>
              <a:t>] </a:t>
            </a:r>
            <a:r>
              <a:rPr lang="en-US" altLang="zh-CN" sz="2000" dirty="0">
                <a:solidFill>
                  <a:srgbClr val="5C7E8C"/>
                </a:solidFill>
              </a:rPr>
              <a:t>//</a:t>
            </a:r>
            <a:r>
              <a:rPr lang="zh-CN" altLang="en-US" sz="2000" dirty="0">
                <a:solidFill>
                  <a:srgbClr val="4CAE4C"/>
                </a:solidFill>
              </a:rPr>
              <a:t>创建长度为</a:t>
            </a:r>
            <a:r>
              <a:rPr lang="en-US" altLang="zh-CN" sz="2000" dirty="0">
                <a:solidFill>
                  <a:srgbClr val="4CAE4C"/>
                </a:solidFill>
              </a:rPr>
              <a:t>3</a:t>
            </a:r>
            <a:r>
              <a:rPr lang="zh-CN" altLang="en-US" sz="2000" dirty="0">
                <a:solidFill>
                  <a:srgbClr val="4CAE4C"/>
                </a:solidFill>
              </a:rPr>
              <a:t>的数组，数组元素取值分别为</a:t>
            </a:r>
            <a:r>
              <a:rPr lang="en-US" altLang="zh-CN" sz="2000" dirty="0">
                <a:solidFill>
                  <a:srgbClr val="4CAE4C"/>
                </a:solidFill>
              </a:rPr>
              <a:t>1,2,3</a:t>
            </a:r>
            <a:endParaRPr lang="zh-CN" altLang="en-US" sz="2000" dirty="0">
              <a:solidFill>
                <a:srgbClr val="CBCCC6"/>
              </a:solidFill>
            </a:endParaRPr>
          </a:p>
          <a:p>
            <a:r>
              <a:rPr lang="en-US" altLang="zh-CN" sz="2000" dirty="0" smtClean="0">
                <a:solidFill>
                  <a:srgbClr val="C792EA"/>
                </a:solidFill>
              </a:rPr>
              <a:t>let</a:t>
            </a:r>
            <a:r>
              <a:rPr lang="zh-CN" altLang="en-US" sz="2000" dirty="0" smtClean="0">
                <a:solidFill>
                  <a:srgbClr val="80CBC4"/>
                </a:solidFill>
              </a:rPr>
              <a:t> </a:t>
            </a:r>
            <a:r>
              <a:rPr lang="en-US" altLang="zh-CN" sz="2000" dirty="0" err="1">
                <a:solidFill>
                  <a:srgbClr val="FF5370"/>
                </a:solidFill>
              </a:rPr>
              <a:t>arr</a:t>
            </a:r>
            <a:r>
              <a:rPr lang="zh-CN" altLang="en-US" sz="2000" dirty="0">
                <a:solidFill>
                  <a:srgbClr val="1290BF"/>
                </a:solidFill>
              </a:rPr>
              <a:t> </a:t>
            </a:r>
            <a:r>
              <a:rPr lang="en-US" altLang="zh-CN" sz="2000" dirty="0">
                <a:solidFill>
                  <a:srgbClr val="80CBC4"/>
                </a:solidFill>
              </a:rPr>
              <a:t>= [</a:t>
            </a:r>
            <a:endParaRPr lang="zh-CN" altLang="en-US" sz="2000" dirty="0">
              <a:solidFill>
                <a:srgbClr val="CBCCC6"/>
              </a:solidFill>
            </a:endParaRPr>
          </a:p>
          <a:p>
            <a:r>
              <a:rPr lang="zh-CN" altLang="en-US" sz="2000" dirty="0">
                <a:solidFill>
                  <a:srgbClr val="80CBC4"/>
                </a:solidFill>
              </a:rPr>
              <a:t>        </a:t>
            </a:r>
            <a:r>
              <a:rPr lang="en-US" altLang="zh-CN" sz="2000" dirty="0">
                <a:solidFill>
                  <a:srgbClr val="80CBC4"/>
                </a:solidFill>
              </a:rPr>
              <a:t>[</a:t>
            </a:r>
            <a:r>
              <a:rPr lang="en-US" altLang="zh-CN" sz="2000" dirty="0">
                <a:solidFill>
                  <a:srgbClr val="F77669"/>
                </a:solidFill>
              </a:rPr>
              <a:t>0</a:t>
            </a:r>
            <a:r>
              <a:rPr lang="en-US" altLang="zh-CN" sz="2000" dirty="0">
                <a:solidFill>
                  <a:srgbClr val="80CBC4"/>
                </a:solidFill>
              </a:rPr>
              <a:t>, </a:t>
            </a:r>
            <a:r>
              <a:rPr lang="en-US" altLang="zh-CN" sz="2000" dirty="0">
                <a:solidFill>
                  <a:srgbClr val="F77669"/>
                </a:solidFill>
              </a:rPr>
              <a:t>1</a:t>
            </a:r>
            <a:r>
              <a:rPr lang="en-US" altLang="zh-CN" sz="2000" dirty="0">
                <a:solidFill>
                  <a:srgbClr val="80CBC4"/>
                </a:solidFill>
              </a:rPr>
              <a:t>],</a:t>
            </a:r>
            <a:endParaRPr lang="zh-CN" altLang="en-US" sz="2000" dirty="0">
              <a:solidFill>
                <a:srgbClr val="CBCCC6"/>
              </a:solidFill>
            </a:endParaRPr>
          </a:p>
          <a:p>
            <a:r>
              <a:rPr lang="zh-CN" altLang="en-US" sz="2000" dirty="0">
                <a:solidFill>
                  <a:srgbClr val="80CBC4"/>
                </a:solidFill>
              </a:rPr>
              <a:t>        </a:t>
            </a:r>
            <a:r>
              <a:rPr lang="en-US" altLang="zh-CN" sz="2000" dirty="0">
                <a:solidFill>
                  <a:srgbClr val="80CBC4"/>
                </a:solidFill>
              </a:rPr>
              <a:t>[</a:t>
            </a:r>
            <a:r>
              <a:rPr lang="en-US" altLang="zh-CN" sz="2000" dirty="0">
                <a:solidFill>
                  <a:srgbClr val="F77669"/>
                </a:solidFill>
              </a:rPr>
              <a:t>2</a:t>
            </a:r>
            <a:r>
              <a:rPr lang="en-US" altLang="zh-CN" sz="2000" dirty="0">
                <a:solidFill>
                  <a:srgbClr val="80CBC4"/>
                </a:solidFill>
              </a:rPr>
              <a:t>, </a:t>
            </a:r>
            <a:r>
              <a:rPr lang="en-US" altLang="zh-CN" sz="2000" dirty="0">
                <a:solidFill>
                  <a:srgbClr val="F77669"/>
                </a:solidFill>
              </a:rPr>
              <a:t>3</a:t>
            </a:r>
            <a:r>
              <a:rPr lang="en-US" altLang="zh-CN" sz="2000" dirty="0">
                <a:solidFill>
                  <a:srgbClr val="80CBC4"/>
                </a:solidFill>
              </a:rPr>
              <a:t>],</a:t>
            </a:r>
            <a:endParaRPr lang="zh-CN" altLang="en-US" sz="2000" dirty="0">
              <a:solidFill>
                <a:srgbClr val="CBCCC6"/>
              </a:solidFill>
            </a:endParaRPr>
          </a:p>
          <a:p>
            <a:r>
              <a:rPr lang="zh-CN" altLang="en-US" sz="2000" dirty="0">
                <a:solidFill>
                  <a:srgbClr val="80CBC4"/>
                </a:solidFill>
              </a:rPr>
              <a:t>        </a:t>
            </a:r>
            <a:r>
              <a:rPr lang="en-US" altLang="zh-CN" sz="2000" dirty="0">
                <a:solidFill>
                  <a:srgbClr val="80CBC4"/>
                </a:solidFill>
              </a:rPr>
              <a:t>[</a:t>
            </a:r>
            <a:r>
              <a:rPr lang="en-US" altLang="zh-CN" sz="2000" dirty="0">
                <a:solidFill>
                  <a:srgbClr val="F77669"/>
                </a:solidFill>
              </a:rPr>
              <a:t>4</a:t>
            </a:r>
            <a:r>
              <a:rPr lang="en-US" altLang="zh-CN" sz="2000" dirty="0">
                <a:solidFill>
                  <a:srgbClr val="80CBC4"/>
                </a:solidFill>
              </a:rPr>
              <a:t>, </a:t>
            </a:r>
            <a:r>
              <a:rPr lang="en-US" altLang="zh-CN" sz="2000" dirty="0">
                <a:solidFill>
                  <a:srgbClr val="F77669"/>
                </a:solidFill>
              </a:rPr>
              <a:t>5</a:t>
            </a:r>
            <a:r>
              <a:rPr lang="en-US" altLang="zh-CN" sz="2000" dirty="0">
                <a:solidFill>
                  <a:srgbClr val="80CBC4"/>
                </a:solidFill>
              </a:rPr>
              <a:t>]</a:t>
            </a:r>
            <a:endParaRPr lang="zh-CN" altLang="en-US" sz="2000" dirty="0">
              <a:solidFill>
                <a:srgbClr val="CBCCC6"/>
              </a:solidFill>
            </a:endParaRPr>
          </a:p>
          <a:p>
            <a:r>
              <a:rPr lang="zh-CN" altLang="en-US" sz="2000" dirty="0">
                <a:solidFill>
                  <a:srgbClr val="80CBC4"/>
                </a:solidFill>
              </a:rPr>
              <a:t>      </a:t>
            </a:r>
            <a:r>
              <a:rPr lang="en-US" altLang="zh-CN" sz="2000" dirty="0">
                <a:solidFill>
                  <a:srgbClr val="80CBC4"/>
                </a:solidFill>
              </a:rPr>
              <a:t>] </a:t>
            </a:r>
            <a:r>
              <a:rPr lang="en-US" altLang="zh-CN" sz="2000" dirty="0">
                <a:solidFill>
                  <a:srgbClr val="5C7E8C"/>
                </a:solidFill>
              </a:rPr>
              <a:t>//</a:t>
            </a:r>
            <a:r>
              <a:rPr lang="zh-CN" altLang="en-US" sz="2000" dirty="0">
                <a:solidFill>
                  <a:srgbClr val="4CAE4C"/>
                </a:solidFill>
              </a:rPr>
              <a:t>创建二维数组，长度为</a:t>
            </a:r>
            <a:r>
              <a:rPr lang="en-US" altLang="zh-CN" sz="2000" dirty="0">
                <a:solidFill>
                  <a:srgbClr val="4CAE4C"/>
                </a:solidFill>
              </a:rPr>
              <a:t>3</a:t>
            </a:r>
            <a:r>
              <a:rPr lang="zh-CN" altLang="en-US" sz="2000" dirty="0">
                <a:solidFill>
                  <a:srgbClr val="4CAE4C"/>
                </a:solidFill>
              </a:rPr>
              <a:t>，包含</a:t>
            </a:r>
            <a:r>
              <a:rPr lang="en-US" altLang="zh-CN" sz="2000" dirty="0">
                <a:solidFill>
                  <a:srgbClr val="4CAE4C"/>
                </a:solidFill>
              </a:rPr>
              <a:t>3</a:t>
            </a:r>
            <a:r>
              <a:rPr lang="zh-CN" altLang="en-US" sz="2000" dirty="0">
                <a:solidFill>
                  <a:srgbClr val="4CAE4C"/>
                </a:solidFill>
              </a:rPr>
              <a:t>行</a:t>
            </a:r>
            <a:r>
              <a:rPr lang="en-US" altLang="zh-CN" sz="2000" dirty="0">
                <a:solidFill>
                  <a:srgbClr val="4CAE4C"/>
                </a:solidFill>
              </a:rPr>
              <a:t>2</a:t>
            </a:r>
            <a:r>
              <a:rPr lang="zh-CN" altLang="en-US" sz="2000" dirty="0">
                <a:solidFill>
                  <a:srgbClr val="4CAE4C"/>
                </a:solidFill>
              </a:rPr>
              <a:t>列共</a:t>
            </a:r>
            <a:r>
              <a:rPr lang="en-US" altLang="zh-CN" sz="2000" dirty="0">
                <a:solidFill>
                  <a:srgbClr val="4CAE4C"/>
                </a:solidFill>
              </a:rPr>
              <a:t>6</a:t>
            </a:r>
            <a:r>
              <a:rPr lang="zh-CN" altLang="en-US" sz="2000" dirty="0">
                <a:solidFill>
                  <a:srgbClr val="4CAE4C"/>
                </a:solidFill>
              </a:rPr>
              <a:t>个元素</a:t>
            </a:r>
            <a:endParaRPr lang="zh-CN" altLang="en-US" sz="2000" b="0" dirty="0">
              <a:solidFill>
                <a:srgbClr val="CBCCC6"/>
              </a:solidFill>
              <a:effectLst/>
            </a:endParaRPr>
          </a:p>
        </p:txBody>
      </p:sp>
      <p:sp>
        <p:nvSpPr>
          <p:cNvPr id="4" name="矩形 3"/>
          <p:cNvSpPr/>
          <p:nvPr/>
        </p:nvSpPr>
        <p:spPr>
          <a:xfrm>
            <a:off x="762001" y="1445120"/>
            <a:ext cx="11277600" cy="2862322"/>
          </a:xfrm>
          <a:prstGeom prst="rect">
            <a:avLst/>
          </a:prstGeom>
        </p:spPr>
        <p:txBody>
          <a:bodyPr wrap="square">
            <a:spAutoFit/>
          </a:bodyPr>
          <a:lstStyle/>
          <a:p>
            <a:pPr>
              <a:lnSpc>
                <a:spcPct val="150000"/>
              </a:lnSpc>
            </a:pPr>
            <a:r>
              <a:rPr lang="zh-CN" altLang="en-US" sz="2400" dirty="0" smtClean="0"/>
              <a:t>一种将一组数据存储在单个变量名下的优雅方式。接下来学习如何来创建一个数组，</a:t>
            </a:r>
            <a:endParaRPr lang="en-US" altLang="zh-CN" sz="2400" dirty="0" smtClean="0"/>
          </a:p>
          <a:p>
            <a:pPr>
              <a:lnSpc>
                <a:spcPct val="150000"/>
              </a:lnSpc>
            </a:pPr>
            <a:r>
              <a:rPr lang="zh-CN" altLang="en-US" sz="2400" dirty="0" smtClean="0"/>
              <a:t>检索、添加和删除存储在数组中的元素。</a:t>
            </a:r>
            <a:endParaRPr lang="en-US" altLang="zh-CN" sz="2400" dirty="0" smtClean="0"/>
          </a:p>
          <a:p>
            <a:pPr>
              <a:lnSpc>
                <a:spcPct val="150000"/>
              </a:lnSpc>
            </a:pPr>
            <a:r>
              <a:rPr lang="zh-CN" altLang="en-US" sz="2400" dirty="0" smtClean="0"/>
              <a:t>简单来说，数组是一个包含了多个值的对象。</a:t>
            </a:r>
            <a:endParaRPr lang="en-US" altLang="zh-CN" sz="2400" dirty="0" smtClean="0"/>
          </a:p>
          <a:p>
            <a:pPr marL="342900" indent="-342900">
              <a:lnSpc>
                <a:spcPct val="150000"/>
              </a:lnSpc>
              <a:buFont typeface="Wingdings" panose="05000000000000000000" pitchFamily="2" charset="2"/>
              <a:buChar char="n"/>
            </a:pPr>
            <a:r>
              <a:rPr lang="zh-CN" altLang="en-US" sz="2400" b="1" dirty="0" smtClean="0">
                <a:solidFill>
                  <a:srgbClr val="C00000"/>
                </a:solidFill>
              </a:rPr>
              <a:t>创建数组</a:t>
            </a:r>
            <a:endParaRPr lang="en-US" altLang="zh-CN" sz="2400" b="1" dirty="0" smtClean="0">
              <a:solidFill>
                <a:srgbClr val="C00000"/>
              </a:solidFill>
            </a:endParaRPr>
          </a:p>
          <a:p>
            <a:pPr>
              <a:lnSpc>
                <a:spcPct val="150000"/>
              </a:lnSpc>
            </a:pPr>
            <a:r>
              <a:rPr lang="zh-CN" altLang="en-US" sz="2400" b="1" dirty="0" smtClean="0">
                <a:solidFill>
                  <a:srgbClr val="C00000"/>
                </a:solidFill>
              </a:rPr>
              <a:t>数组由方括号构成，其中包含用逗号分隔的元素列表。</a:t>
            </a:r>
            <a:endParaRPr lang="zh-CN" altLang="en-US" sz="2400" b="1" dirty="0">
              <a:solidFill>
                <a:srgbClr val="C00000"/>
              </a:solidFill>
            </a:endParaRPr>
          </a:p>
        </p:txBody>
      </p:sp>
    </p:spTree>
    <p:extLst>
      <p:ext uri="{BB962C8B-B14F-4D97-AF65-F5344CB8AC3E}">
        <p14:creationId xmlns:p14="http://schemas.microsoft.com/office/powerpoint/2010/main" val="9246355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762000" y="682530"/>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panose="020B0503020204020204" pitchFamily="34" charset="-122"/>
                <a:ea typeface="微软雅黑" panose="020B0503020204020204" pitchFamily="34" charset="-122"/>
              </a:rPr>
              <a:t>数组</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27</a:t>
            </a:fld>
            <a:endParaRPr lang="zh-CN" altLang="en-US"/>
          </a:p>
        </p:txBody>
      </p:sp>
      <p:sp>
        <p:nvSpPr>
          <p:cNvPr id="4" name="矩形 3"/>
          <p:cNvSpPr/>
          <p:nvPr/>
        </p:nvSpPr>
        <p:spPr>
          <a:xfrm>
            <a:off x="736600" y="1511299"/>
            <a:ext cx="10881505" cy="1200329"/>
          </a:xfrm>
          <a:prstGeom prst="rect">
            <a:avLst/>
          </a:prstGeom>
        </p:spPr>
        <p:txBody>
          <a:bodyPr wrap="none">
            <a:spAutoFit/>
          </a:bodyPr>
          <a:lstStyle/>
          <a:p>
            <a:pPr>
              <a:lnSpc>
                <a:spcPct val="150000"/>
              </a:lnSpc>
            </a:pPr>
            <a:r>
              <a:rPr lang="zh-CN" altLang="en-US" sz="2400" dirty="0"/>
              <a:t>可以将任何类型的元素存储在数组中 </a:t>
            </a:r>
            <a:r>
              <a:rPr lang="en-US" altLang="zh-CN" sz="2400" dirty="0"/>
              <a:t>- </a:t>
            </a:r>
            <a:r>
              <a:rPr lang="zh-CN" altLang="en-US" sz="2400" dirty="0"/>
              <a:t>字符串，数字，对象，另一个变量，</a:t>
            </a:r>
            <a:r>
              <a:rPr lang="zh-CN" altLang="en-US" sz="2400" dirty="0" smtClean="0"/>
              <a:t>甚至</a:t>
            </a:r>
            <a:endParaRPr lang="en-US" altLang="zh-CN" sz="2400" dirty="0" smtClean="0"/>
          </a:p>
          <a:p>
            <a:pPr>
              <a:lnSpc>
                <a:spcPct val="150000"/>
              </a:lnSpc>
            </a:pPr>
            <a:r>
              <a:rPr lang="zh-CN" altLang="en-US" sz="2400" dirty="0" smtClean="0"/>
              <a:t>另</a:t>
            </a:r>
            <a:r>
              <a:rPr lang="zh-CN" altLang="en-US" sz="2400" dirty="0"/>
              <a:t>一个数组</a:t>
            </a:r>
            <a:r>
              <a:rPr lang="zh-CN" altLang="en-US" sz="2400" dirty="0" smtClean="0"/>
              <a:t>。可以混合各数据类型。</a:t>
            </a:r>
            <a:endParaRPr lang="zh-CN" altLang="en-US" sz="2400" dirty="0"/>
          </a:p>
        </p:txBody>
      </p:sp>
      <p:sp>
        <p:nvSpPr>
          <p:cNvPr id="5" name="矩形 4"/>
          <p:cNvSpPr/>
          <p:nvPr/>
        </p:nvSpPr>
        <p:spPr>
          <a:xfrm>
            <a:off x="762000" y="2971907"/>
            <a:ext cx="6096000" cy="954107"/>
          </a:xfrm>
          <a:prstGeom prst="rect">
            <a:avLst/>
          </a:prstGeom>
        </p:spPr>
        <p:txBody>
          <a:bodyPr>
            <a:spAutoFit/>
          </a:bodyPr>
          <a:lstStyle/>
          <a:p>
            <a:r>
              <a:rPr lang="en-US" altLang="zh-CN" sz="2800" dirty="0"/>
              <a:t>let sequence = [1, 1, 2, 3, 5, 8, 13];</a:t>
            </a:r>
          </a:p>
          <a:p>
            <a:r>
              <a:rPr lang="en-US" altLang="zh-CN" sz="2800" dirty="0"/>
              <a:t>let random = ['tree', 795, [0, 1, 2]];</a:t>
            </a:r>
          </a:p>
        </p:txBody>
      </p:sp>
    </p:spTree>
    <p:extLst>
      <p:ext uri="{BB962C8B-B14F-4D97-AF65-F5344CB8AC3E}">
        <p14:creationId xmlns:p14="http://schemas.microsoft.com/office/powerpoint/2010/main" val="42237228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775919" y="661707"/>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panose="020B0503020204020204" pitchFamily="34" charset="-122"/>
                <a:ea typeface="微软雅黑" panose="020B0503020204020204" pitchFamily="34" charset="-122"/>
              </a:rPr>
              <a:t>数组</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28</a:t>
            </a:fld>
            <a:endParaRPr lang="zh-CN" altLang="en-US"/>
          </a:p>
        </p:txBody>
      </p:sp>
      <p:sp>
        <p:nvSpPr>
          <p:cNvPr id="4" name="矩形 3"/>
          <p:cNvSpPr/>
          <p:nvPr/>
        </p:nvSpPr>
        <p:spPr>
          <a:xfrm>
            <a:off x="750519" y="1439507"/>
            <a:ext cx="3704860" cy="523220"/>
          </a:xfrm>
          <a:prstGeom prst="rect">
            <a:avLst/>
          </a:prstGeom>
        </p:spPr>
        <p:txBody>
          <a:bodyPr wrap="none">
            <a:spAutoFit/>
          </a:bodyPr>
          <a:lstStyle/>
          <a:p>
            <a:pPr marL="285750" indent="-285750">
              <a:buFont typeface="Wingdings" panose="05000000000000000000" pitchFamily="2" charset="2"/>
              <a:buChar char="n"/>
            </a:pPr>
            <a:r>
              <a:rPr lang="zh-CN" altLang="en-US" sz="2800" b="1" dirty="0">
                <a:solidFill>
                  <a:srgbClr val="C00000"/>
                </a:solidFill>
              </a:rPr>
              <a:t>访问和修改数组元素</a:t>
            </a:r>
          </a:p>
        </p:txBody>
      </p:sp>
      <p:sp>
        <p:nvSpPr>
          <p:cNvPr id="5" name="矩形 4"/>
          <p:cNvSpPr/>
          <p:nvPr/>
        </p:nvSpPr>
        <p:spPr>
          <a:xfrm>
            <a:off x="775918" y="2057400"/>
            <a:ext cx="10349281" cy="1384995"/>
          </a:xfrm>
          <a:prstGeom prst="rect">
            <a:avLst/>
          </a:prstGeom>
        </p:spPr>
        <p:txBody>
          <a:bodyPr wrap="square">
            <a:spAutoFit/>
          </a:bodyPr>
          <a:lstStyle/>
          <a:p>
            <a:r>
              <a:rPr lang="en-US" altLang="zh-CN" sz="2800" dirty="0"/>
              <a:t>let shopping = ['bread', 'milk', 'cheese', 'hummus', 'noodles</a:t>
            </a:r>
            <a:r>
              <a:rPr lang="en-US" altLang="zh-CN" sz="2800" dirty="0" smtClean="0"/>
              <a:t>'];</a:t>
            </a:r>
          </a:p>
          <a:p>
            <a:r>
              <a:rPr lang="en-US" altLang="zh-CN" sz="2800" dirty="0"/>
              <a:t>shopping[0];</a:t>
            </a:r>
          </a:p>
          <a:p>
            <a:r>
              <a:rPr lang="en-US" altLang="zh-CN" sz="2800" dirty="0"/>
              <a:t>// returns "bread"</a:t>
            </a:r>
          </a:p>
        </p:txBody>
      </p:sp>
      <p:sp>
        <p:nvSpPr>
          <p:cNvPr id="6" name="矩形 5"/>
          <p:cNvSpPr/>
          <p:nvPr/>
        </p:nvSpPr>
        <p:spPr>
          <a:xfrm>
            <a:off x="750519" y="3557709"/>
            <a:ext cx="7725192" cy="523220"/>
          </a:xfrm>
          <a:prstGeom prst="rect">
            <a:avLst/>
          </a:prstGeom>
        </p:spPr>
        <p:txBody>
          <a:bodyPr wrap="none">
            <a:spAutoFit/>
          </a:bodyPr>
          <a:lstStyle/>
          <a:p>
            <a:r>
              <a:rPr lang="zh-CN" altLang="en-US" sz="2800" dirty="0"/>
              <a:t>为单个数组元素提供新值来修改数组中的</a:t>
            </a:r>
            <a:r>
              <a:rPr lang="zh-CN" altLang="en-US" sz="2800" dirty="0" smtClean="0"/>
              <a:t>元素：</a:t>
            </a:r>
            <a:endParaRPr lang="zh-CN" altLang="en-US" sz="2800" dirty="0"/>
          </a:p>
        </p:txBody>
      </p:sp>
      <p:sp>
        <p:nvSpPr>
          <p:cNvPr id="7" name="矩形 6"/>
          <p:cNvSpPr/>
          <p:nvPr/>
        </p:nvSpPr>
        <p:spPr>
          <a:xfrm>
            <a:off x="801318" y="4196243"/>
            <a:ext cx="11390682" cy="1323439"/>
          </a:xfrm>
          <a:prstGeom prst="rect">
            <a:avLst/>
          </a:prstGeom>
        </p:spPr>
        <p:txBody>
          <a:bodyPr wrap="square">
            <a:spAutoFit/>
          </a:bodyPr>
          <a:lstStyle/>
          <a:p>
            <a:r>
              <a:rPr lang="en-US" altLang="zh-CN" sz="2800" dirty="0"/>
              <a:t>shopping[0] = 'tahini';</a:t>
            </a:r>
          </a:p>
          <a:p>
            <a:r>
              <a:rPr lang="en-US" altLang="zh-CN" sz="2800" dirty="0"/>
              <a:t>shopping;</a:t>
            </a:r>
          </a:p>
          <a:p>
            <a:r>
              <a:rPr lang="en-US" altLang="zh-CN" sz="2400" dirty="0"/>
              <a:t>// shopping will now return [ "tahini", "milk", "cheese", "hummus", "noodles" ]</a:t>
            </a:r>
          </a:p>
        </p:txBody>
      </p:sp>
    </p:spTree>
    <p:extLst>
      <p:ext uri="{BB962C8B-B14F-4D97-AF65-F5344CB8AC3E}">
        <p14:creationId xmlns:p14="http://schemas.microsoft.com/office/powerpoint/2010/main" val="25633221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775919" y="661707"/>
            <a:ext cx="3934562" cy="505267"/>
          </a:xfrm>
          <a:prstGeom prst="rect">
            <a:avLst/>
          </a:prstGeom>
        </p:spPr>
        <p:txBody>
          <a:bodyPr vert="horz" wrap="square" lIns="0" tIns="12700" rIns="0" bIns="0" rtlCol="0">
            <a:spAutoFit/>
          </a:bodyPr>
          <a:lstStyle/>
          <a:p>
            <a:pPr marL="12700">
              <a:lnSpc>
                <a:spcPct val="100000"/>
              </a:lnSpc>
              <a:spcBef>
                <a:spcPts val="100"/>
              </a:spcBef>
            </a:pPr>
            <a:r>
              <a:rPr lang="zh-CN" altLang="en-US" sz="3200" b="1" spc="5" dirty="0" smtClean="0">
                <a:solidFill>
                  <a:srgbClr val="585858"/>
                </a:solidFill>
                <a:latin typeface="微软雅黑" panose="020B0503020204020204" pitchFamily="34" charset="-122"/>
                <a:ea typeface="微软雅黑" panose="020B0503020204020204" pitchFamily="34" charset="-122"/>
              </a:rPr>
              <a:t>数组</a:t>
            </a:r>
            <a:endParaRPr sz="3200" b="1" spc="-40" dirty="0">
              <a:solidFill>
                <a:srgbClr val="585858"/>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29</a:t>
            </a:fld>
            <a:endParaRPr lang="zh-CN" altLang="en-US"/>
          </a:p>
        </p:txBody>
      </p:sp>
      <p:sp>
        <p:nvSpPr>
          <p:cNvPr id="4" name="矩形 3"/>
          <p:cNvSpPr/>
          <p:nvPr/>
        </p:nvSpPr>
        <p:spPr>
          <a:xfrm>
            <a:off x="750519" y="1439507"/>
            <a:ext cx="2637260" cy="523220"/>
          </a:xfrm>
          <a:prstGeom prst="rect">
            <a:avLst/>
          </a:prstGeom>
        </p:spPr>
        <p:txBody>
          <a:bodyPr wrap="none">
            <a:spAutoFit/>
          </a:bodyPr>
          <a:lstStyle/>
          <a:p>
            <a:pPr marL="285750" indent="-285750">
              <a:buFont typeface="Wingdings" panose="05000000000000000000" pitchFamily="2" charset="2"/>
              <a:buChar char="n"/>
            </a:pPr>
            <a:r>
              <a:rPr lang="zh-CN" altLang="en-US" sz="2800" b="1" dirty="0" smtClean="0">
                <a:solidFill>
                  <a:srgbClr val="C00000"/>
                </a:solidFill>
              </a:rPr>
              <a:t>获取数组长度</a:t>
            </a:r>
            <a:endParaRPr lang="zh-CN" altLang="en-US" sz="2800" b="1" dirty="0">
              <a:solidFill>
                <a:srgbClr val="C00000"/>
              </a:solidFill>
            </a:endParaRPr>
          </a:p>
        </p:txBody>
      </p:sp>
      <p:sp>
        <p:nvSpPr>
          <p:cNvPr id="5" name="矩形 4"/>
          <p:cNvSpPr/>
          <p:nvPr/>
        </p:nvSpPr>
        <p:spPr>
          <a:xfrm>
            <a:off x="775918" y="2057400"/>
            <a:ext cx="10349281" cy="954107"/>
          </a:xfrm>
          <a:prstGeom prst="rect">
            <a:avLst/>
          </a:prstGeom>
        </p:spPr>
        <p:txBody>
          <a:bodyPr wrap="square">
            <a:spAutoFit/>
          </a:bodyPr>
          <a:lstStyle/>
          <a:p>
            <a:r>
              <a:rPr lang="zh-CN" altLang="en-US" sz="2800" dirty="0"/>
              <a:t>通过使用 </a:t>
            </a:r>
            <a:r>
              <a:rPr lang="en-US" altLang="zh-CN" sz="2800" dirty="0"/>
              <a:t>length </a:t>
            </a:r>
            <a:r>
              <a:rPr lang="zh-CN" altLang="en-US" sz="2800" dirty="0"/>
              <a:t>属性获取数组的长度。虽然 </a:t>
            </a:r>
            <a:r>
              <a:rPr lang="en-US" altLang="zh-CN" sz="2800" dirty="0"/>
              <a:t>length </a:t>
            </a:r>
            <a:r>
              <a:rPr lang="zh-CN" altLang="en-US" sz="2800" dirty="0"/>
              <a:t>属性也有其他用途，但最常用于循环（循环遍历数组中的所有项</a:t>
            </a:r>
            <a:r>
              <a:rPr lang="zh-CN" altLang="en-US" sz="2800" dirty="0" smtClean="0"/>
              <a:t>）。</a:t>
            </a:r>
            <a:endParaRPr lang="en-US" altLang="zh-CN" sz="2800" dirty="0"/>
          </a:p>
        </p:txBody>
      </p:sp>
      <p:sp>
        <p:nvSpPr>
          <p:cNvPr id="7" name="矩形 6"/>
          <p:cNvSpPr/>
          <p:nvPr/>
        </p:nvSpPr>
        <p:spPr>
          <a:xfrm>
            <a:off x="775918" y="3106180"/>
            <a:ext cx="10196882" cy="1815882"/>
          </a:xfrm>
          <a:prstGeom prst="rect">
            <a:avLst/>
          </a:prstGeom>
        </p:spPr>
        <p:txBody>
          <a:bodyPr wrap="square">
            <a:spAutoFit/>
          </a:bodyPr>
          <a:lstStyle/>
          <a:p>
            <a:r>
              <a:rPr lang="en-US" altLang="zh-CN" sz="2800" dirty="0"/>
              <a:t>let sequence = [1, 1, 2, 3, 5, 8, 13];</a:t>
            </a:r>
          </a:p>
          <a:p>
            <a:r>
              <a:rPr lang="en-US" altLang="zh-CN" sz="2800" dirty="0"/>
              <a:t>for (let </a:t>
            </a:r>
            <a:r>
              <a:rPr lang="en-US" altLang="zh-CN" sz="2800" dirty="0" err="1"/>
              <a:t>i</a:t>
            </a:r>
            <a:r>
              <a:rPr lang="en-US" altLang="zh-CN" sz="2800" dirty="0"/>
              <a:t> = 0; </a:t>
            </a:r>
            <a:r>
              <a:rPr lang="en-US" altLang="zh-CN" sz="2800" dirty="0" err="1"/>
              <a:t>i</a:t>
            </a:r>
            <a:r>
              <a:rPr lang="en-US" altLang="zh-CN" sz="2800" dirty="0"/>
              <a:t> &lt; </a:t>
            </a:r>
            <a:r>
              <a:rPr lang="en-US" altLang="zh-CN" sz="2800" dirty="0" err="1"/>
              <a:t>sequence.length</a:t>
            </a:r>
            <a:r>
              <a:rPr lang="en-US" altLang="zh-CN" sz="2800" dirty="0"/>
              <a:t>; </a:t>
            </a:r>
            <a:r>
              <a:rPr lang="en-US" altLang="zh-CN" sz="2800" dirty="0" err="1"/>
              <a:t>i</a:t>
            </a:r>
            <a:r>
              <a:rPr lang="en-US" altLang="zh-CN" sz="2800" dirty="0"/>
              <a:t>++) {</a:t>
            </a:r>
          </a:p>
          <a:p>
            <a:r>
              <a:rPr lang="en-US" altLang="zh-CN" sz="2800" dirty="0"/>
              <a:t>  </a:t>
            </a:r>
            <a:r>
              <a:rPr lang="en-US" altLang="zh-CN" sz="2800" dirty="0" smtClean="0"/>
              <a:t> console.log(sequence[</a:t>
            </a:r>
            <a:r>
              <a:rPr lang="en-US" altLang="zh-CN" sz="2800" dirty="0" err="1" smtClean="0"/>
              <a:t>i</a:t>
            </a:r>
            <a:r>
              <a:rPr lang="en-US" altLang="zh-CN" sz="2800" dirty="0"/>
              <a:t>]);</a:t>
            </a:r>
          </a:p>
          <a:p>
            <a:r>
              <a:rPr lang="en-US" altLang="zh-CN" sz="2800" dirty="0"/>
              <a:t>}</a:t>
            </a:r>
          </a:p>
        </p:txBody>
      </p:sp>
    </p:spTree>
    <p:extLst>
      <p:ext uri="{BB962C8B-B14F-4D97-AF65-F5344CB8AC3E}">
        <p14:creationId xmlns:p14="http://schemas.microsoft.com/office/powerpoint/2010/main" val="3446242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63600" y="1520891"/>
            <a:ext cx="10642600" cy="1200329"/>
          </a:xfrm>
          <a:prstGeom prst="rect">
            <a:avLst/>
          </a:prstGeom>
        </p:spPr>
        <p:txBody>
          <a:bodyPr wrap="square">
            <a:spAutoFit/>
          </a:bodyPr>
          <a:lstStyle/>
          <a:p>
            <a:pPr marL="12700" lvl="0">
              <a:tabLst>
                <a:tab pos="354965" algn="l"/>
                <a:tab pos="355600" algn="l"/>
              </a:tabLst>
            </a:pPr>
            <a:r>
              <a:rPr lang="zh-CN" altLang="en-US" sz="2400" spc="-55" dirty="0" smtClean="0">
                <a:solidFill>
                  <a:srgbClr val="404040"/>
                </a:solidFill>
                <a:cs typeface="宋体"/>
              </a:rPr>
              <a:t>创建数组还可以用</a:t>
            </a:r>
            <a:r>
              <a:rPr lang="en-US" altLang="zh-CN" sz="2400" spc="-55" dirty="0">
                <a:solidFill>
                  <a:srgbClr val="404040"/>
                </a:solidFill>
                <a:cs typeface="宋体"/>
              </a:rPr>
              <a:t>Array</a:t>
            </a:r>
            <a:r>
              <a:rPr lang="en-US" altLang="zh-CN" sz="2400" spc="-55" dirty="0" smtClean="0">
                <a:solidFill>
                  <a:srgbClr val="404040"/>
                </a:solidFill>
                <a:cs typeface="宋体"/>
              </a:rPr>
              <a:t>()</a:t>
            </a:r>
            <a:r>
              <a:rPr lang="zh-CN" altLang="en-US" sz="2400" spc="-55" dirty="0" smtClean="0">
                <a:solidFill>
                  <a:srgbClr val="404040"/>
                </a:solidFill>
                <a:cs typeface="宋体"/>
              </a:rPr>
              <a:t>，格式如下：</a:t>
            </a:r>
            <a:endParaRPr lang="en-US" altLang="zh-CN" sz="2400" spc="-55" dirty="0" smtClean="0">
              <a:solidFill>
                <a:srgbClr val="404040"/>
              </a:solidFill>
              <a:cs typeface="宋体"/>
            </a:endParaRPr>
          </a:p>
          <a:p>
            <a:pPr marL="12700" lvl="0">
              <a:tabLst>
                <a:tab pos="354965" algn="l"/>
                <a:tab pos="355600" algn="l"/>
              </a:tabLst>
            </a:pPr>
            <a:endParaRPr lang="en-US" altLang="zh-CN" sz="2400" spc="-55" dirty="0">
              <a:solidFill>
                <a:srgbClr val="404040"/>
              </a:solidFill>
              <a:cs typeface="宋体"/>
            </a:endParaRPr>
          </a:p>
          <a:p>
            <a:pPr marL="12700" lvl="0">
              <a:tabLst>
                <a:tab pos="354965" algn="l"/>
                <a:tab pos="355600" algn="l"/>
              </a:tabLst>
            </a:pPr>
            <a:r>
              <a:rPr lang="en-US" altLang="zh-CN" sz="2400" spc="-55" dirty="0">
                <a:solidFill>
                  <a:srgbClr val="FF0000"/>
                </a:solidFill>
                <a:cs typeface="宋体"/>
              </a:rPr>
              <a:t>l</a:t>
            </a:r>
            <a:r>
              <a:rPr lang="en-US" altLang="zh-CN" sz="2400" spc="-55" dirty="0" smtClean="0">
                <a:solidFill>
                  <a:srgbClr val="FF0000"/>
                </a:solidFill>
                <a:cs typeface="宋体"/>
              </a:rPr>
              <a:t>et </a:t>
            </a:r>
            <a:r>
              <a:rPr lang="zh-CN" altLang="en-US" sz="2400" spc="-55" dirty="0" smtClean="0">
                <a:solidFill>
                  <a:srgbClr val="FF0000"/>
                </a:solidFill>
                <a:cs typeface="宋体"/>
              </a:rPr>
              <a:t>数组名 </a:t>
            </a:r>
            <a:r>
              <a:rPr lang="en-US" altLang="zh-CN" sz="2400" spc="-55" dirty="0" smtClean="0">
                <a:solidFill>
                  <a:srgbClr val="FF0000"/>
                </a:solidFill>
                <a:cs typeface="宋体"/>
              </a:rPr>
              <a:t>= new Array();</a:t>
            </a:r>
            <a:endParaRPr lang="zh-CN" altLang="en-US" sz="2400" dirty="0">
              <a:solidFill>
                <a:srgbClr val="FF0000"/>
              </a:solidFill>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30</a:t>
            </a:fld>
            <a:endParaRPr lang="zh-CN" altLang="en-US"/>
          </a:p>
        </p:txBody>
      </p:sp>
      <p:sp>
        <p:nvSpPr>
          <p:cNvPr id="5" name="矩形 4"/>
          <p:cNvSpPr/>
          <p:nvPr/>
        </p:nvSpPr>
        <p:spPr>
          <a:xfrm>
            <a:off x="952500" y="3048000"/>
            <a:ext cx="10553700" cy="2308324"/>
          </a:xfrm>
          <a:prstGeom prst="rect">
            <a:avLst/>
          </a:prstGeom>
          <a:solidFill>
            <a:schemeClr val="tx1"/>
          </a:solidFill>
        </p:spPr>
        <p:txBody>
          <a:bodyPr wrap="square">
            <a:spAutoFit/>
          </a:bodyPr>
          <a:lstStyle/>
          <a:p>
            <a:r>
              <a:rPr lang="en-US" altLang="zh-CN" sz="2400" dirty="0">
                <a:solidFill>
                  <a:srgbClr val="C792EA"/>
                </a:solidFill>
              </a:rPr>
              <a:t>let</a:t>
            </a:r>
            <a:r>
              <a:rPr lang="en-US" altLang="zh-CN" sz="2400" dirty="0">
                <a:solidFill>
                  <a:srgbClr val="80CBC4"/>
                </a:solidFill>
              </a:rPr>
              <a:t> </a:t>
            </a:r>
            <a:r>
              <a:rPr lang="en-US" altLang="zh-CN" sz="2400" dirty="0" err="1">
                <a:solidFill>
                  <a:srgbClr val="FF5370"/>
                </a:solidFill>
              </a:rPr>
              <a:t>arr</a:t>
            </a:r>
            <a:r>
              <a:rPr lang="en-US" altLang="zh-CN" sz="2400" dirty="0">
                <a:solidFill>
                  <a:srgbClr val="1290BF"/>
                </a:solidFill>
              </a:rPr>
              <a:t> </a:t>
            </a:r>
            <a:r>
              <a:rPr lang="en-US" altLang="zh-CN" sz="2400" dirty="0">
                <a:solidFill>
                  <a:srgbClr val="80CBC4"/>
                </a:solidFill>
              </a:rPr>
              <a:t>= new </a:t>
            </a:r>
            <a:r>
              <a:rPr lang="en-US" altLang="zh-CN" sz="2400" dirty="0">
                <a:solidFill>
                  <a:srgbClr val="89DDFF"/>
                </a:solidFill>
              </a:rPr>
              <a:t>Array</a:t>
            </a:r>
            <a:r>
              <a:rPr lang="en-US" altLang="zh-CN" sz="2400" dirty="0">
                <a:solidFill>
                  <a:srgbClr val="80CBC4"/>
                </a:solidFill>
              </a:rPr>
              <a:t>() </a:t>
            </a:r>
            <a:r>
              <a:rPr lang="en-US" altLang="zh-CN" sz="2400" dirty="0">
                <a:solidFill>
                  <a:srgbClr val="5C7E8C"/>
                </a:solidFill>
              </a:rPr>
              <a:t>//</a:t>
            </a:r>
            <a:r>
              <a:rPr lang="zh-CN" altLang="en-US" sz="2400" dirty="0">
                <a:solidFill>
                  <a:srgbClr val="4CAE4C"/>
                </a:solidFill>
              </a:rPr>
              <a:t>创建空数组</a:t>
            </a:r>
            <a:endParaRPr lang="zh-CN" altLang="en-US" sz="2400" dirty="0">
              <a:solidFill>
                <a:srgbClr val="CBCCC6"/>
              </a:solidFill>
            </a:endParaRPr>
          </a:p>
          <a:p>
            <a:r>
              <a:rPr lang="en-US" altLang="zh-CN" sz="2400" dirty="0" smtClean="0">
                <a:solidFill>
                  <a:srgbClr val="C792EA"/>
                </a:solidFill>
              </a:rPr>
              <a:t>let</a:t>
            </a:r>
            <a:r>
              <a:rPr lang="en-US" altLang="zh-CN" sz="2400" dirty="0" smtClean="0">
                <a:solidFill>
                  <a:srgbClr val="80CBC4"/>
                </a:solidFill>
              </a:rPr>
              <a:t> </a:t>
            </a:r>
            <a:r>
              <a:rPr lang="en-US" altLang="zh-CN" sz="2400" dirty="0" err="1">
                <a:solidFill>
                  <a:srgbClr val="FF5370"/>
                </a:solidFill>
              </a:rPr>
              <a:t>arr</a:t>
            </a:r>
            <a:r>
              <a:rPr lang="en-US" altLang="zh-CN" sz="2400" dirty="0">
                <a:solidFill>
                  <a:srgbClr val="1290BF"/>
                </a:solidFill>
              </a:rPr>
              <a:t> </a:t>
            </a:r>
            <a:r>
              <a:rPr lang="en-US" altLang="zh-CN" sz="2400" dirty="0">
                <a:solidFill>
                  <a:srgbClr val="80CBC4"/>
                </a:solidFill>
              </a:rPr>
              <a:t>= new </a:t>
            </a:r>
            <a:r>
              <a:rPr lang="en-US" altLang="zh-CN" sz="2400" dirty="0">
                <a:solidFill>
                  <a:srgbClr val="89DDFF"/>
                </a:solidFill>
              </a:rPr>
              <a:t>Array</a:t>
            </a:r>
            <a:r>
              <a:rPr lang="en-US" altLang="zh-CN" sz="2400" dirty="0">
                <a:solidFill>
                  <a:srgbClr val="80CBC4"/>
                </a:solidFill>
              </a:rPr>
              <a:t>(</a:t>
            </a:r>
            <a:r>
              <a:rPr lang="en-US" altLang="zh-CN" sz="2400" dirty="0">
                <a:solidFill>
                  <a:srgbClr val="F77669"/>
                </a:solidFill>
              </a:rPr>
              <a:t>3</a:t>
            </a:r>
            <a:r>
              <a:rPr lang="en-US" altLang="zh-CN" sz="2400" dirty="0">
                <a:solidFill>
                  <a:srgbClr val="80CBC4"/>
                </a:solidFill>
              </a:rPr>
              <a:t>) </a:t>
            </a:r>
            <a:r>
              <a:rPr lang="en-US" altLang="zh-CN" sz="2400" dirty="0">
                <a:solidFill>
                  <a:srgbClr val="5C7E8C"/>
                </a:solidFill>
              </a:rPr>
              <a:t>//</a:t>
            </a:r>
            <a:r>
              <a:rPr lang="zh-CN" altLang="en-US" sz="2400" dirty="0">
                <a:solidFill>
                  <a:srgbClr val="4CAE4C"/>
                </a:solidFill>
              </a:rPr>
              <a:t>创建长度为</a:t>
            </a:r>
            <a:r>
              <a:rPr lang="en-US" altLang="zh-CN" sz="2400" dirty="0">
                <a:solidFill>
                  <a:srgbClr val="4CAE4C"/>
                </a:solidFill>
              </a:rPr>
              <a:t>3</a:t>
            </a:r>
            <a:r>
              <a:rPr lang="zh-CN" altLang="en-US" sz="2400" dirty="0">
                <a:solidFill>
                  <a:srgbClr val="4CAE4C"/>
                </a:solidFill>
              </a:rPr>
              <a:t>的数组</a:t>
            </a:r>
            <a:endParaRPr lang="zh-CN" altLang="en-US" sz="2400" dirty="0">
              <a:solidFill>
                <a:srgbClr val="CBCCC6"/>
              </a:solidFill>
            </a:endParaRPr>
          </a:p>
          <a:p>
            <a:r>
              <a:rPr lang="en-US" altLang="zh-CN" sz="2400" dirty="0" smtClean="0">
                <a:solidFill>
                  <a:srgbClr val="C792EA"/>
                </a:solidFill>
              </a:rPr>
              <a:t>let</a:t>
            </a:r>
            <a:r>
              <a:rPr lang="en-US" altLang="zh-CN" sz="2400" dirty="0" smtClean="0">
                <a:solidFill>
                  <a:srgbClr val="80CBC4"/>
                </a:solidFill>
              </a:rPr>
              <a:t> </a:t>
            </a:r>
            <a:r>
              <a:rPr lang="en-US" altLang="zh-CN" sz="2400" dirty="0" err="1">
                <a:solidFill>
                  <a:srgbClr val="FF5370"/>
                </a:solidFill>
              </a:rPr>
              <a:t>arr</a:t>
            </a:r>
            <a:r>
              <a:rPr lang="en-US" altLang="zh-CN" sz="2400" dirty="0">
                <a:solidFill>
                  <a:srgbClr val="1290BF"/>
                </a:solidFill>
              </a:rPr>
              <a:t> </a:t>
            </a:r>
            <a:r>
              <a:rPr lang="en-US" altLang="zh-CN" sz="2400" dirty="0">
                <a:solidFill>
                  <a:srgbClr val="80CBC4"/>
                </a:solidFill>
              </a:rPr>
              <a:t>= new </a:t>
            </a:r>
            <a:r>
              <a:rPr lang="en-US" altLang="zh-CN" sz="2400" dirty="0">
                <a:solidFill>
                  <a:srgbClr val="89DDFF"/>
                </a:solidFill>
              </a:rPr>
              <a:t>Array</a:t>
            </a:r>
            <a:r>
              <a:rPr lang="en-US" altLang="zh-CN" sz="2400" dirty="0">
                <a:solidFill>
                  <a:srgbClr val="80CBC4"/>
                </a:solidFill>
              </a:rPr>
              <a:t>(</a:t>
            </a:r>
            <a:r>
              <a:rPr lang="en-US" altLang="zh-CN" sz="2400" dirty="0">
                <a:solidFill>
                  <a:srgbClr val="F77669"/>
                </a:solidFill>
              </a:rPr>
              <a:t>1</a:t>
            </a:r>
            <a:r>
              <a:rPr lang="en-US" altLang="zh-CN" sz="2400" dirty="0">
                <a:solidFill>
                  <a:srgbClr val="80CBC4"/>
                </a:solidFill>
              </a:rPr>
              <a:t>, </a:t>
            </a:r>
            <a:r>
              <a:rPr lang="en-US" altLang="zh-CN" sz="2400" dirty="0">
                <a:solidFill>
                  <a:srgbClr val="F77669"/>
                </a:solidFill>
              </a:rPr>
              <a:t>2</a:t>
            </a:r>
            <a:r>
              <a:rPr lang="en-US" altLang="zh-CN" sz="2400" dirty="0">
                <a:solidFill>
                  <a:srgbClr val="80CBC4"/>
                </a:solidFill>
              </a:rPr>
              <a:t>, </a:t>
            </a:r>
            <a:r>
              <a:rPr lang="en-US" altLang="zh-CN" sz="2400" dirty="0">
                <a:solidFill>
                  <a:srgbClr val="F77669"/>
                </a:solidFill>
              </a:rPr>
              <a:t>3</a:t>
            </a:r>
            <a:r>
              <a:rPr lang="en-US" altLang="zh-CN" sz="2400" dirty="0">
                <a:solidFill>
                  <a:srgbClr val="80CBC4"/>
                </a:solidFill>
              </a:rPr>
              <a:t>) </a:t>
            </a:r>
            <a:r>
              <a:rPr lang="en-US" altLang="zh-CN" sz="2400" dirty="0">
                <a:solidFill>
                  <a:srgbClr val="5C7E8C"/>
                </a:solidFill>
              </a:rPr>
              <a:t>//</a:t>
            </a:r>
            <a:r>
              <a:rPr lang="zh-CN" altLang="en-US" sz="2400" dirty="0">
                <a:solidFill>
                  <a:srgbClr val="4CAE4C"/>
                </a:solidFill>
              </a:rPr>
              <a:t>创建长度为</a:t>
            </a:r>
            <a:r>
              <a:rPr lang="en-US" altLang="zh-CN" sz="2400" dirty="0">
                <a:solidFill>
                  <a:srgbClr val="4CAE4C"/>
                </a:solidFill>
              </a:rPr>
              <a:t>3</a:t>
            </a:r>
            <a:r>
              <a:rPr lang="zh-CN" altLang="en-US" sz="2400" dirty="0">
                <a:solidFill>
                  <a:srgbClr val="4CAE4C"/>
                </a:solidFill>
              </a:rPr>
              <a:t>的数组，数组元素取值分别为</a:t>
            </a:r>
            <a:r>
              <a:rPr lang="en-US" altLang="zh-CN" sz="2400" dirty="0">
                <a:solidFill>
                  <a:srgbClr val="4CAE4C"/>
                </a:solidFill>
              </a:rPr>
              <a:t>1,2,3</a:t>
            </a:r>
            <a:endParaRPr lang="zh-CN" altLang="en-US" sz="2400" dirty="0">
              <a:solidFill>
                <a:srgbClr val="CBCCC6"/>
              </a:solidFill>
            </a:endParaRPr>
          </a:p>
          <a:p>
            <a:r>
              <a:rPr lang="en-US" altLang="zh-CN" sz="2400" dirty="0" smtClean="0">
                <a:solidFill>
                  <a:srgbClr val="C792EA"/>
                </a:solidFill>
              </a:rPr>
              <a:t>let</a:t>
            </a:r>
            <a:r>
              <a:rPr lang="en-US" altLang="zh-CN" sz="2400" dirty="0" smtClean="0">
                <a:solidFill>
                  <a:srgbClr val="80CBC4"/>
                </a:solidFill>
              </a:rPr>
              <a:t> </a:t>
            </a:r>
            <a:r>
              <a:rPr lang="en-US" altLang="zh-CN" sz="2400" dirty="0" err="1">
                <a:solidFill>
                  <a:srgbClr val="FF5370"/>
                </a:solidFill>
              </a:rPr>
              <a:t>arr</a:t>
            </a:r>
            <a:r>
              <a:rPr lang="en-US" altLang="zh-CN" sz="2400" dirty="0">
                <a:solidFill>
                  <a:srgbClr val="1290BF"/>
                </a:solidFill>
              </a:rPr>
              <a:t> </a:t>
            </a:r>
            <a:r>
              <a:rPr lang="en-US" altLang="zh-CN" sz="2400" dirty="0">
                <a:solidFill>
                  <a:srgbClr val="80CBC4"/>
                </a:solidFill>
              </a:rPr>
              <a:t>= new </a:t>
            </a:r>
            <a:r>
              <a:rPr lang="en-US" altLang="zh-CN" sz="2400" dirty="0">
                <a:solidFill>
                  <a:srgbClr val="89DDFF"/>
                </a:solidFill>
              </a:rPr>
              <a:t>Array</a:t>
            </a:r>
            <a:r>
              <a:rPr lang="en-US" altLang="zh-CN" sz="2400" dirty="0">
                <a:solidFill>
                  <a:srgbClr val="80CBC4"/>
                </a:solidFill>
              </a:rPr>
              <a:t>([], []) </a:t>
            </a:r>
            <a:r>
              <a:rPr lang="en-US" altLang="zh-CN" sz="2400" dirty="0">
                <a:solidFill>
                  <a:srgbClr val="5C7E8C"/>
                </a:solidFill>
              </a:rPr>
              <a:t>//</a:t>
            </a:r>
            <a:r>
              <a:rPr lang="zh-CN" altLang="en-US" sz="2400" dirty="0">
                <a:solidFill>
                  <a:srgbClr val="4CAE4C"/>
                </a:solidFill>
              </a:rPr>
              <a:t>创建二维空数组，长度为</a:t>
            </a:r>
            <a:r>
              <a:rPr lang="en-US" altLang="zh-CN" sz="2400" dirty="0">
                <a:solidFill>
                  <a:srgbClr val="4CAE4C"/>
                </a:solidFill>
              </a:rPr>
              <a:t>2</a:t>
            </a:r>
            <a:endParaRPr lang="zh-CN" altLang="en-US" sz="2400" dirty="0">
              <a:solidFill>
                <a:srgbClr val="CBCCC6"/>
              </a:solidFill>
            </a:endParaRPr>
          </a:p>
          <a:p>
            <a:r>
              <a:rPr lang="en-US" altLang="zh-CN" sz="2400" dirty="0" smtClean="0">
                <a:solidFill>
                  <a:srgbClr val="C792EA"/>
                </a:solidFill>
              </a:rPr>
              <a:t>let</a:t>
            </a:r>
            <a:r>
              <a:rPr lang="en-US" altLang="zh-CN" sz="2400" dirty="0" smtClean="0">
                <a:solidFill>
                  <a:srgbClr val="80CBC4"/>
                </a:solidFill>
              </a:rPr>
              <a:t> </a:t>
            </a:r>
            <a:r>
              <a:rPr lang="en-US" altLang="zh-CN" sz="2400" dirty="0" err="1">
                <a:solidFill>
                  <a:srgbClr val="FF5370"/>
                </a:solidFill>
              </a:rPr>
              <a:t>arr</a:t>
            </a:r>
            <a:r>
              <a:rPr lang="en-US" altLang="zh-CN" sz="2400" dirty="0">
                <a:solidFill>
                  <a:srgbClr val="1290BF"/>
                </a:solidFill>
              </a:rPr>
              <a:t> </a:t>
            </a:r>
            <a:r>
              <a:rPr lang="en-US" altLang="zh-CN" sz="2400" dirty="0">
                <a:solidFill>
                  <a:srgbClr val="80CBC4"/>
                </a:solidFill>
              </a:rPr>
              <a:t>= new </a:t>
            </a:r>
            <a:r>
              <a:rPr lang="en-US" altLang="zh-CN" sz="2400" dirty="0">
                <a:solidFill>
                  <a:srgbClr val="89DDFF"/>
                </a:solidFill>
              </a:rPr>
              <a:t>Array</a:t>
            </a:r>
            <a:r>
              <a:rPr lang="en-US" altLang="zh-CN" sz="2400" dirty="0">
                <a:solidFill>
                  <a:srgbClr val="80CBC4"/>
                </a:solidFill>
              </a:rPr>
              <a:t>([</a:t>
            </a:r>
            <a:r>
              <a:rPr lang="en-US" altLang="zh-CN" sz="2400" dirty="0">
                <a:solidFill>
                  <a:srgbClr val="F77669"/>
                </a:solidFill>
              </a:rPr>
              <a:t>1</a:t>
            </a:r>
            <a:r>
              <a:rPr lang="en-US" altLang="zh-CN" sz="2400" dirty="0">
                <a:solidFill>
                  <a:srgbClr val="80CBC4"/>
                </a:solidFill>
              </a:rPr>
              <a:t>, </a:t>
            </a:r>
            <a:r>
              <a:rPr lang="en-US" altLang="zh-CN" sz="2400" dirty="0">
                <a:solidFill>
                  <a:srgbClr val="F77669"/>
                </a:solidFill>
              </a:rPr>
              <a:t>2</a:t>
            </a:r>
            <a:r>
              <a:rPr lang="en-US" altLang="zh-CN" sz="2400" dirty="0">
                <a:solidFill>
                  <a:srgbClr val="80CBC4"/>
                </a:solidFill>
              </a:rPr>
              <a:t>, </a:t>
            </a:r>
            <a:r>
              <a:rPr lang="en-US" altLang="zh-CN" sz="2400" dirty="0">
                <a:solidFill>
                  <a:srgbClr val="F77669"/>
                </a:solidFill>
              </a:rPr>
              <a:t>3</a:t>
            </a:r>
            <a:r>
              <a:rPr lang="en-US" altLang="zh-CN" sz="2400" dirty="0">
                <a:solidFill>
                  <a:srgbClr val="80CBC4"/>
                </a:solidFill>
              </a:rPr>
              <a:t>], [</a:t>
            </a:r>
            <a:r>
              <a:rPr lang="en-US" altLang="zh-CN" sz="2400" dirty="0">
                <a:solidFill>
                  <a:srgbClr val="F77669"/>
                </a:solidFill>
              </a:rPr>
              <a:t>4</a:t>
            </a:r>
            <a:r>
              <a:rPr lang="en-US" altLang="zh-CN" sz="2400" dirty="0">
                <a:solidFill>
                  <a:srgbClr val="80CBC4"/>
                </a:solidFill>
              </a:rPr>
              <a:t>, </a:t>
            </a:r>
            <a:r>
              <a:rPr lang="en-US" altLang="zh-CN" sz="2400" dirty="0">
                <a:solidFill>
                  <a:srgbClr val="F77669"/>
                </a:solidFill>
              </a:rPr>
              <a:t>5</a:t>
            </a:r>
            <a:r>
              <a:rPr lang="en-US" altLang="zh-CN" sz="2400" dirty="0">
                <a:solidFill>
                  <a:srgbClr val="80CBC4"/>
                </a:solidFill>
              </a:rPr>
              <a:t>, </a:t>
            </a:r>
            <a:r>
              <a:rPr lang="en-US" altLang="zh-CN" sz="2400" dirty="0">
                <a:solidFill>
                  <a:srgbClr val="F77669"/>
                </a:solidFill>
              </a:rPr>
              <a:t>6</a:t>
            </a:r>
            <a:r>
              <a:rPr lang="en-US" altLang="zh-CN" sz="2400" dirty="0">
                <a:solidFill>
                  <a:srgbClr val="80CBC4"/>
                </a:solidFill>
              </a:rPr>
              <a:t>]) </a:t>
            </a:r>
            <a:r>
              <a:rPr lang="en-US" altLang="zh-CN" sz="2400" dirty="0">
                <a:solidFill>
                  <a:srgbClr val="5C7E8C"/>
                </a:solidFill>
              </a:rPr>
              <a:t>//</a:t>
            </a:r>
            <a:r>
              <a:rPr lang="zh-CN" altLang="en-US" sz="2400" dirty="0">
                <a:solidFill>
                  <a:srgbClr val="4CAE4C"/>
                </a:solidFill>
              </a:rPr>
              <a:t>创建二维数组，长度为</a:t>
            </a:r>
            <a:r>
              <a:rPr lang="en-US" altLang="zh-CN" sz="2400" dirty="0">
                <a:solidFill>
                  <a:srgbClr val="4CAE4C"/>
                </a:solidFill>
              </a:rPr>
              <a:t>2</a:t>
            </a:r>
            <a:r>
              <a:rPr lang="zh-CN" altLang="en-US" sz="2400" dirty="0">
                <a:solidFill>
                  <a:srgbClr val="4CAE4C"/>
                </a:solidFill>
              </a:rPr>
              <a:t>，包含</a:t>
            </a:r>
            <a:r>
              <a:rPr lang="en-US" altLang="zh-CN" sz="2400" dirty="0">
                <a:solidFill>
                  <a:srgbClr val="4CAE4C"/>
                </a:solidFill>
              </a:rPr>
              <a:t>2</a:t>
            </a:r>
            <a:r>
              <a:rPr lang="zh-CN" altLang="en-US" sz="2400" dirty="0">
                <a:solidFill>
                  <a:srgbClr val="4CAE4C"/>
                </a:solidFill>
              </a:rPr>
              <a:t>行</a:t>
            </a:r>
            <a:r>
              <a:rPr lang="en-US" altLang="zh-CN" sz="2400" dirty="0">
                <a:solidFill>
                  <a:srgbClr val="4CAE4C"/>
                </a:solidFill>
              </a:rPr>
              <a:t>3</a:t>
            </a:r>
            <a:r>
              <a:rPr lang="zh-CN" altLang="en-US" sz="2400" dirty="0">
                <a:solidFill>
                  <a:srgbClr val="4CAE4C"/>
                </a:solidFill>
              </a:rPr>
              <a:t>列共</a:t>
            </a:r>
            <a:r>
              <a:rPr lang="en-US" altLang="zh-CN" sz="2400" dirty="0">
                <a:solidFill>
                  <a:srgbClr val="4CAE4C"/>
                </a:solidFill>
              </a:rPr>
              <a:t>6</a:t>
            </a:r>
            <a:r>
              <a:rPr lang="zh-CN" altLang="en-US" sz="2400" dirty="0">
                <a:solidFill>
                  <a:srgbClr val="4CAE4C"/>
                </a:solidFill>
              </a:rPr>
              <a:t>个元素</a:t>
            </a:r>
            <a:endParaRPr lang="zh-CN" altLang="en-US" sz="2400" b="0" dirty="0">
              <a:solidFill>
                <a:srgbClr val="CBCCC6"/>
              </a:solidFill>
              <a:effectLst/>
            </a:endParaRPr>
          </a:p>
        </p:txBody>
      </p:sp>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7600003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7"/>
          <p:cNvSpPr txBox="1"/>
          <p:nvPr/>
        </p:nvSpPr>
        <p:spPr>
          <a:xfrm>
            <a:off x="863600" y="1828800"/>
            <a:ext cx="11023600" cy="4362220"/>
          </a:xfrm>
          <a:prstGeom prst="rect">
            <a:avLst/>
          </a:prstGeom>
        </p:spPr>
        <p:txBody>
          <a:bodyPr vert="horz" wrap="square" lIns="0" tIns="12700" rIns="0" bIns="0" rtlCol="0">
            <a:spAutoFit/>
          </a:bodyPr>
          <a:lstStyle/>
          <a:p>
            <a:pPr marL="12700">
              <a:lnSpc>
                <a:spcPct val="100000"/>
              </a:lnSpc>
              <a:spcBef>
                <a:spcPts val="100"/>
              </a:spcBef>
            </a:pPr>
            <a:r>
              <a:rPr sz="3200" spc="-40" dirty="0">
                <a:solidFill>
                  <a:srgbClr val="AC2B25"/>
                </a:solidFill>
                <a:cs typeface="宋体"/>
              </a:rPr>
              <a:t>数组求最大值和最小值</a:t>
            </a:r>
            <a:endParaRPr sz="3200" dirty="0">
              <a:cs typeface="宋体"/>
            </a:endParaRPr>
          </a:p>
          <a:p>
            <a:pPr marL="12700" marR="4019550">
              <a:lnSpc>
                <a:spcPct val="170000"/>
              </a:lnSpc>
              <a:spcBef>
                <a:spcPts val="1335"/>
              </a:spcBef>
            </a:pPr>
            <a:r>
              <a:rPr sz="2400" spc="-30" dirty="0">
                <a:solidFill>
                  <a:srgbClr val="252525"/>
                </a:solidFill>
                <a:cs typeface="宋体"/>
              </a:rPr>
              <a:t>需求：求数组</a:t>
            </a:r>
            <a:r>
              <a:rPr sz="2400" spc="-385" dirty="0">
                <a:solidFill>
                  <a:srgbClr val="252525"/>
                </a:solidFill>
                <a:cs typeface="宋体"/>
              </a:rPr>
              <a:t> </a:t>
            </a:r>
            <a:r>
              <a:rPr sz="2400" spc="-80" dirty="0">
                <a:solidFill>
                  <a:srgbClr val="252525"/>
                </a:solidFill>
                <a:cs typeface="宋体"/>
              </a:rPr>
              <a:t>[2,6,1,77,52,25,7]</a:t>
            </a:r>
            <a:r>
              <a:rPr sz="2400" spc="-350" dirty="0">
                <a:solidFill>
                  <a:srgbClr val="252525"/>
                </a:solidFill>
                <a:cs typeface="宋体"/>
              </a:rPr>
              <a:t> </a:t>
            </a:r>
            <a:r>
              <a:rPr sz="2400" spc="-30" dirty="0" err="1" smtClean="0">
                <a:solidFill>
                  <a:srgbClr val="252525"/>
                </a:solidFill>
                <a:cs typeface="宋体"/>
              </a:rPr>
              <a:t>中的最大值</a:t>
            </a:r>
            <a:r>
              <a:rPr lang="zh-CN" altLang="en-US" sz="2400" spc="-30" dirty="0" smtClean="0">
                <a:solidFill>
                  <a:srgbClr val="252525"/>
                </a:solidFill>
                <a:cs typeface="宋体"/>
              </a:rPr>
              <a:t>。</a:t>
            </a:r>
            <a:r>
              <a:rPr sz="2400" spc="-30" dirty="0" err="1" smtClean="0">
                <a:solidFill>
                  <a:srgbClr val="252525"/>
                </a:solidFill>
                <a:cs typeface="宋体"/>
              </a:rPr>
              <a:t>分析</a:t>
            </a:r>
            <a:endParaRPr sz="2400" dirty="0">
              <a:cs typeface="宋体"/>
            </a:endParaRPr>
          </a:p>
          <a:p>
            <a:pPr marL="12700">
              <a:lnSpc>
                <a:spcPct val="100000"/>
              </a:lnSpc>
              <a:spcBef>
                <a:spcPts val="1345"/>
              </a:spcBef>
            </a:pPr>
            <a:r>
              <a:rPr sz="2400" spc="-35" dirty="0">
                <a:solidFill>
                  <a:srgbClr val="252525"/>
                </a:solidFill>
                <a:cs typeface="宋体"/>
              </a:rPr>
              <a:t>①：声明一个保存最大元素的变</a:t>
            </a:r>
            <a:r>
              <a:rPr sz="2400" spc="-30" dirty="0">
                <a:solidFill>
                  <a:srgbClr val="252525"/>
                </a:solidFill>
                <a:cs typeface="宋体"/>
              </a:rPr>
              <a:t>量</a:t>
            </a:r>
            <a:r>
              <a:rPr sz="2400" spc="-350" dirty="0">
                <a:solidFill>
                  <a:srgbClr val="252525"/>
                </a:solidFill>
                <a:cs typeface="宋体"/>
              </a:rPr>
              <a:t> </a:t>
            </a:r>
            <a:r>
              <a:rPr sz="2400" spc="285" dirty="0">
                <a:solidFill>
                  <a:srgbClr val="252525"/>
                </a:solidFill>
                <a:cs typeface="宋体"/>
              </a:rPr>
              <a:t>max</a:t>
            </a:r>
            <a:r>
              <a:rPr sz="2400" spc="-30" dirty="0">
                <a:solidFill>
                  <a:srgbClr val="252525"/>
                </a:solidFill>
                <a:cs typeface="宋体"/>
              </a:rPr>
              <a:t>。</a:t>
            </a:r>
            <a:endParaRPr sz="2400" dirty="0">
              <a:cs typeface="宋体"/>
            </a:endParaRPr>
          </a:p>
          <a:p>
            <a:pPr marL="12700">
              <a:lnSpc>
                <a:spcPct val="100000"/>
              </a:lnSpc>
              <a:spcBef>
                <a:spcPts val="1345"/>
              </a:spcBef>
            </a:pPr>
            <a:r>
              <a:rPr sz="2400" spc="-30" dirty="0">
                <a:solidFill>
                  <a:srgbClr val="252525"/>
                </a:solidFill>
                <a:cs typeface="宋体"/>
              </a:rPr>
              <a:t>②：默认最大值可以取数组中的第一个元素。</a:t>
            </a:r>
            <a:endParaRPr sz="2400" dirty="0">
              <a:cs typeface="宋体"/>
            </a:endParaRPr>
          </a:p>
          <a:p>
            <a:pPr marL="12700">
              <a:lnSpc>
                <a:spcPct val="100000"/>
              </a:lnSpc>
              <a:spcBef>
                <a:spcPts val="1345"/>
              </a:spcBef>
            </a:pPr>
            <a:r>
              <a:rPr sz="2400" spc="-30" dirty="0">
                <a:solidFill>
                  <a:srgbClr val="252525"/>
                </a:solidFill>
                <a:cs typeface="宋体"/>
              </a:rPr>
              <a:t>③：遍历这个数组，把里面每个数组元素和</a:t>
            </a:r>
            <a:r>
              <a:rPr sz="2400" spc="-335" dirty="0">
                <a:solidFill>
                  <a:srgbClr val="252525"/>
                </a:solidFill>
                <a:cs typeface="宋体"/>
              </a:rPr>
              <a:t> </a:t>
            </a:r>
            <a:r>
              <a:rPr sz="2400" spc="285" dirty="0">
                <a:solidFill>
                  <a:srgbClr val="252525"/>
                </a:solidFill>
                <a:cs typeface="宋体"/>
              </a:rPr>
              <a:t>max</a:t>
            </a:r>
            <a:r>
              <a:rPr sz="2400" spc="-380" dirty="0">
                <a:solidFill>
                  <a:srgbClr val="252525"/>
                </a:solidFill>
                <a:cs typeface="宋体"/>
              </a:rPr>
              <a:t> </a:t>
            </a:r>
            <a:r>
              <a:rPr sz="2400" spc="-30" dirty="0">
                <a:solidFill>
                  <a:srgbClr val="252525"/>
                </a:solidFill>
                <a:cs typeface="宋体"/>
              </a:rPr>
              <a:t>相比较。</a:t>
            </a:r>
            <a:endParaRPr sz="2400" dirty="0">
              <a:cs typeface="宋体"/>
            </a:endParaRPr>
          </a:p>
          <a:p>
            <a:pPr marL="12700">
              <a:lnSpc>
                <a:spcPct val="100000"/>
              </a:lnSpc>
              <a:spcBef>
                <a:spcPts val="1340"/>
              </a:spcBef>
            </a:pPr>
            <a:r>
              <a:rPr sz="2400" spc="-30" dirty="0">
                <a:solidFill>
                  <a:srgbClr val="252525"/>
                </a:solidFill>
                <a:cs typeface="宋体"/>
              </a:rPr>
              <a:t>④：如果这个数组元素大于</a:t>
            </a:r>
            <a:r>
              <a:rPr sz="2400" spc="285" dirty="0">
                <a:solidFill>
                  <a:srgbClr val="252525"/>
                </a:solidFill>
                <a:cs typeface="宋体"/>
              </a:rPr>
              <a:t>max</a:t>
            </a:r>
            <a:r>
              <a:rPr sz="2400" spc="-370" dirty="0">
                <a:solidFill>
                  <a:srgbClr val="252525"/>
                </a:solidFill>
                <a:cs typeface="宋体"/>
              </a:rPr>
              <a:t> </a:t>
            </a:r>
            <a:r>
              <a:rPr sz="2400" spc="-30" dirty="0">
                <a:solidFill>
                  <a:srgbClr val="252525"/>
                </a:solidFill>
                <a:cs typeface="宋体"/>
              </a:rPr>
              <a:t>就把这个数组元素存到</a:t>
            </a:r>
            <a:r>
              <a:rPr sz="2400" spc="-375" dirty="0">
                <a:solidFill>
                  <a:srgbClr val="252525"/>
                </a:solidFill>
                <a:cs typeface="宋体"/>
              </a:rPr>
              <a:t> </a:t>
            </a:r>
            <a:r>
              <a:rPr sz="2400" spc="285" dirty="0">
                <a:solidFill>
                  <a:srgbClr val="252525"/>
                </a:solidFill>
                <a:cs typeface="宋体"/>
              </a:rPr>
              <a:t>max</a:t>
            </a:r>
            <a:r>
              <a:rPr sz="2400" spc="-400" dirty="0">
                <a:solidFill>
                  <a:srgbClr val="252525"/>
                </a:solidFill>
                <a:cs typeface="宋体"/>
              </a:rPr>
              <a:t> </a:t>
            </a:r>
            <a:r>
              <a:rPr sz="2400" spc="-30" dirty="0">
                <a:solidFill>
                  <a:srgbClr val="252525"/>
                </a:solidFill>
                <a:cs typeface="宋体"/>
              </a:rPr>
              <a:t>里面，否则继续下一轮比较。</a:t>
            </a:r>
            <a:endParaRPr sz="2400" dirty="0">
              <a:cs typeface="宋体"/>
            </a:endParaRPr>
          </a:p>
          <a:p>
            <a:pPr marL="12700">
              <a:lnSpc>
                <a:spcPct val="100000"/>
              </a:lnSpc>
              <a:spcBef>
                <a:spcPts val="1350"/>
              </a:spcBef>
            </a:pPr>
            <a:r>
              <a:rPr sz="2400" spc="-30" dirty="0">
                <a:solidFill>
                  <a:srgbClr val="252525"/>
                </a:solidFill>
                <a:cs typeface="宋体"/>
              </a:rPr>
              <a:t>⑤：</a:t>
            </a:r>
            <a:r>
              <a:rPr sz="2400" spc="-30" dirty="0" err="1">
                <a:solidFill>
                  <a:srgbClr val="252525"/>
                </a:solidFill>
                <a:cs typeface="宋体"/>
              </a:rPr>
              <a:t>最后输出这个</a:t>
            </a:r>
            <a:r>
              <a:rPr sz="2400" spc="-370" dirty="0">
                <a:solidFill>
                  <a:srgbClr val="252525"/>
                </a:solidFill>
                <a:cs typeface="宋体"/>
              </a:rPr>
              <a:t> </a:t>
            </a:r>
            <a:r>
              <a:rPr sz="2400" spc="285" dirty="0" smtClean="0">
                <a:solidFill>
                  <a:srgbClr val="252525"/>
                </a:solidFill>
                <a:cs typeface="宋体"/>
              </a:rPr>
              <a:t>max</a:t>
            </a:r>
            <a:endParaRPr sz="2400" dirty="0">
              <a:cs typeface="宋体"/>
            </a:endParaRPr>
          </a:p>
        </p:txBody>
      </p:sp>
      <p:sp>
        <p:nvSpPr>
          <p:cNvPr id="2" name="灯片编号占位符 1"/>
          <p:cNvSpPr>
            <a:spLocks noGrp="1"/>
          </p:cNvSpPr>
          <p:nvPr>
            <p:ph type="sldNum" sz="quarter" idx="12"/>
          </p:nvPr>
        </p:nvSpPr>
        <p:spPr/>
        <p:txBody>
          <a:bodyPr/>
          <a:lstStyle/>
          <a:p>
            <a:fld id="{B6F15528-21DE-4FAA-801E-634DDDAF4B2B}" type="slidenum">
              <a:rPr lang="en-US" altLang="zh-CN" smtClean="0"/>
              <a:pPr/>
              <a:t>31</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9801903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32</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
        <p:nvSpPr>
          <p:cNvPr id="4" name="矩形 3"/>
          <p:cNvSpPr/>
          <p:nvPr/>
        </p:nvSpPr>
        <p:spPr>
          <a:xfrm>
            <a:off x="838200" y="1574800"/>
            <a:ext cx="3877985" cy="523220"/>
          </a:xfrm>
          <a:prstGeom prst="rect">
            <a:avLst/>
          </a:prstGeom>
        </p:spPr>
        <p:txBody>
          <a:bodyPr wrap="none">
            <a:spAutoFit/>
          </a:bodyPr>
          <a:lstStyle/>
          <a:p>
            <a:pPr marL="457200" indent="-457200">
              <a:buFont typeface="Wingdings" panose="05000000000000000000" pitchFamily="2" charset="2"/>
              <a:buChar char="n"/>
            </a:pPr>
            <a:r>
              <a:rPr lang="zh-CN" altLang="en-US" sz="2800" b="1" dirty="0">
                <a:solidFill>
                  <a:srgbClr val="C00000"/>
                </a:solidFill>
              </a:rPr>
              <a:t>一些有用的数组方法</a:t>
            </a:r>
          </a:p>
        </p:txBody>
      </p:sp>
      <p:sp>
        <p:nvSpPr>
          <p:cNvPr id="6" name="矩形 5"/>
          <p:cNvSpPr/>
          <p:nvPr/>
        </p:nvSpPr>
        <p:spPr>
          <a:xfrm>
            <a:off x="863600" y="2286000"/>
            <a:ext cx="4033476" cy="461665"/>
          </a:xfrm>
          <a:prstGeom prst="rect">
            <a:avLst/>
          </a:prstGeom>
        </p:spPr>
        <p:txBody>
          <a:bodyPr wrap="none">
            <a:spAutoFit/>
          </a:bodyPr>
          <a:lstStyle/>
          <a:p>
            <a:r>
              <a:rPr lang="en-US" altLang="zh-CN" sz="2400" b="1" dirty="0" smtClean="0"/>
              <a:t>1</a:t>
            </a:r>
            <a:r>
              <a:rPr lang="zh-CN" altLang="en-US" sz="2400" b="1" dirty="0" smtClean="0"/>
              <a:t>、字符串</a:t>
            </a:r>
            <a:r>
              <a:rPr lang="zh-CN" altLang="en-US" sz="2400" b="1" dirty="0"/>
              <a:t>和数组之间的转换</a:t>
            </a:r>
          </a:p>
        </p:txBody>
      </p:sp>
      <p:sp>
        <p:nvSpPr>
          <p:cNvPr id="7" name="矩形 6"/>
          <p:cNvSpPr/>
          <p:nvPr/>
        </p:nvSpPr>
        <p:spPr>
          <a:xfrm>
            <a:off x="838200" y="2887662"/>
            <a:ext cx="10795000" cy="3108543"/>
          </a:xfrm>
          <a:prstGeom prst="rect">
            <a:avLst/>
          </a:prstGeom>
        </p:spPr>
        <p:txBody>
          <a:bodyPr wrap="square">
            <a:spAutoFit/>
          </a:bodyPr>
          <a:lstStyle/>
          <a:p>
            <a:r>
              <a:rPr lang="en-US" altLang="zh-CN" sz="2800" dirty="0"/>
              <a:t>let </a:t>
            </a:r>
            <a:r>
              <a:rPr lang="en-US" altLang="zh-CN" sz="2800" dirty="0" err="1"/>
              <a:t>myData</a:t>
            </a:r>
            <a:r>
              <a:rPr lang="en-US" altLang="zh-CN" sz="2800" dirty="0"/>
              <a:t> = '</a:t>
            </a:r>
            <a:r>
              <a:rPr lang="en-US" altLang="zh-CN" sz="2800" dirty="0" err="1"/>
              <a:t>Manchester,London,Liverpool,Birmingham,Leeds,Carlisle</a:t>
            </a:r>
            <a:r>
              <a:rPr lang="en-US" altLang="zh-CN" sz="2800" dirty="0" smtClean="0"/>
              <a:t>';</a:t>
            </a:r>
          </a:p>
          <a:p>
            <a:r>
              <a:rPr lang="en-US" altLang="zh-CN" sz="2800" dirty="0"/>
              <a:t>let </a:t>
            </a:r>
            <a:r>
              <a:rPr lang="en-US" altLang="zh-CN" sz="2800" dirty="0" err="1"/>
              <a:t>myArray</a:t>
            </a:r>
            <a:r>
              <a:rPr lang="en-US" altLang="zh-CN" sz="2800" dirty="0"/>
              <a:t> = </a:t>
            </a:r>
            <a:r>
              <a:rPr lang="en-US" altLang="zh-CN" sz="2800" dirty="0" err="1"/>
              <a:t>myData.</a:t>
            </a:r>
            <a:r>
              <a:rPr lang="en-US" altLang="zh-CN" sz="2800" b="1" dirty="0" err="1">
                <a:solidFill>
                  <a:srgbClr val="C00000"/>
                </a:solidFill>
              </a:rPr>
              <a:t>split</a:t>
            </a:r>
            <a:r>
              <a:rPr lang="en-US" altLang="zh-CN" sz="2800" dirty="0"/>
              <a:t>(',');</a:t>
            </a:r>
          </a:p>
          <a:p>
            <a:r>
              <a:rPr lang="en-US" altLang="zh-CN" sz="2800" dirty="0" err="1"/>
              <a:t>myArray</a:t>
            </a:r>
            <a:r>
              <a:rPr lang="en-US" altLang="zh-CN" sz="2800" dirty="0" smtClean="0"/>
              <a:t>;</a:t>
            </a:r>
          </a:p>
          <a:p>
            <a:r>
              <a:rPr lang="en-US" altLang="zh-CN" sz="2800" dirty="0" err="1"/>
              <a:t>myArray.length</a:t>
            </a:r>
            <a:r>
              <a:rPr lang="en-US" altLang="zh-CN" sz="2800" dirty="0"/>
              <a:t>;</a:t>
            </a:r>
          </a:p>
          <a:p>
            <a:r>
              <a:rPr lang="en-US" altLang="zh-CN" sz="2800" dirty="0" err="1"/>
              <a:t>myArray</a:t>
            </a:r>
            <a:r>
              <a:rPr lang="en-US" altLang="zh-CN" sz="2800" dirty="0"/>
              <a:t>[0]; </a:t>
            </a:r>
            <a:r>
              <a:rPr lang="en-US" altLang="zh-CN" sz="2800" dirty="0">
                <a:solidFill>
                  <a:schemeClr val="accent6"/>
                </a:solidFill>
              </a:rPr>
              <a:t>// the first item in the array</a:t>
            </a:r>
          </a:p>
          <a:p>
            <a:r>
              <a:rPr lang="en-US" altLang="zh-CN" sz="2800" dirty="0" err="1"/>
              <a:t>myArray</a:t>
            </a:r>
            <a:r>
              <a:rPr lang="en-US" altLang="zh-CN" sz="2800" dirty="0"/>
              <a:t>[1]; </a:t>
            </a:r>
            <a:r>
              <a:rPr lang="en-US" altLang="zh-CN" sz="2800" dirty="0">
                <a:solidFill>
                  <a:schemeClr val="accent6"/>
                </a:solidFill>
              </a:rPr>
              <a:t>// the second item in the array</a:t>
            </a:r>
          </a:p>
          <a:p>
            <a:r>
              <a:rPr lang="en-US" altLang="zh-CN" sz="2800" dirty="0" err="1"/>
              <a:t>myArray</a:t>
            </a:r>
            <a:r>
              <a:rPr lang="en-US" altLang="zh-CN" sz="2800" dirty="0"/>
              <a:t>[myArray.length-1]; </a:t>
            </a:r>
            <a:r>
              <a:rPr lang="en-US" altLang="zh-CN" sz="2800" dirty="0">
                <a:solidFill>
                  <a:schemeClr val="accent6"/>
                </a:solidFill>
              </a:rPr>
              <a:t>// the last item in the </a:t>
            </a:r>
            <a:r>
              <a:rPr lang="en-US" altLang="zh-CN" sz="2800" dirty="0" smtClean="0">
                <a:solidFill>
                  <a:schemeClr val="accent6"/>
                </a:solidFill>
              </a:rPr>
              <a:t>array</a:t>
            </a:r>
            <a:endParaRPr lang="en-US" altLang="zh-CN" sz="2800" dirty="0">
              <a:solidFill>
                <a:schemeClr val="accent6"/>
              </a:solidFill>
            </a:endParaRPr>
          </a:p>
        </p:txBody>
      </p:sp>
    </p:spTree>
    <p:extLst>
      <p:ext uri="{BB962C8B-B14F-4D97-AF65-F5344CB8AC3E}">
        <p14:creationId xmlns:p14="http://schemas.microsoft.com/office/powerpoint/2010/main" val="378414791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33</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
        <p:nvSpPr>
          <p:cNvPr id="4" name="矩形 3"/>
          <p:cNvSpPr/>
          <p:nvPr/>
        </p:nvSpPr>
        <p:spPr>
          <a:xfrm>
            <a:off x="838200" y="1574800"/>
            <a:ext cx="3877985" cy="523220"/>
          </a:xfrm>
          <a:prstGeom prst="rect">
            <a:avLst/>
          </a:prstGeom>
        </p:spPr>
        <p:txBody>
          <a:bodyPr wrap="none">
            <a:spAutoFit/>
          </a:bodyPr>
          <a:lstStyle/>
          <a:p>
            <a:pPr marL="457200" indent="-457200">
              <a:buFont typeface="Wingdings" panose="05000000000000000000" pitchFamily="2" charset="2"/>
              <a:buChar char="n"/>
            </a:pPr>
            <a:r>
              <a:rPr lang="zh-CN" altLang="en-US" sz="2800" b="1" dirty="0">
                <a:solidFill>
                  <a:srgbClr val="C00000"/>
                </a:solidFill>
              </a:rPr>
              <a:t>一些有用的数组方法</a:t>
            </a:r>
          </a:p>
        </p:txBody>
      </p:sp>
      <p:sp>
        <p:nvSpPr>
          <p:cNvPr id="6" name="矩形 5"/>
          <p:cNvSpPr/>
          <p:nvPr/>
        </p:nvSpPr>
        <p:spPr>
          <a:xfrm>
            <a:off x="863600" y="2286000"/>
            <a:ext cx="5639685" cy="461665"/>
          </a:xfrm>
          <a:prstGeom prst="rect">
            <a:avLst/>
          </a:prstGeom>
        </p:spPr>
        <p:txBody>
          <a:bodyPr wrap="none">
            <a:spAutoFit/>
          </a:bodyPr>
          <a:lstStyle/>
          <a:p>
            <a:r>
              <a:rPr lang="zh-CN" altLang="en-US" sz="2400" b="1" dirty="0"/>
              <a:t>也可以使用 </a:t>
            </a:r>
            <a:r>
              <a:rPr lang="en-US" altLang="zh-CN" sz="2400" b="1" dirty="0"/>
              <a:t>join() </a:t>
            </a:r>
            <a:r>
              <a:rPr lang="zh-CN" altLang="en-US" sz="2400" b="1" dirty="0"/>
              <a:t>方法进行相反的操作。</a:t>
            </a:r>
          </a:p>
        </p:txBody>
      </p:sp>
      <p:sp>
        <p:nvSpPr>
          <p:cNvPr id="8" name="矩形 7"/>
          <p:cNvSpPr/>
          <p:nvPr/>
        </p:nvSpPr>
        <p:spPr>
          <a:xfrm>
            <a:off x="906184" y="2900362"/>
            <a:ext cx="10447615" cy="954107"/>
          </a:xfrm>
          <a:prstGeom prst="rect">
            <a:avLst/>
          </a:prstGeom>
        </p:spPr>
        <p:txBody>
          <a:bodyPr wrap="square">
            <a:spAutoFit/>
          </a:bodyPr>
          <a:lstStyle/>
          <a:p>
            <a:r>
              <a:rPr lang="en-US" altLang="zh-CN" sz="2800" dirty="0"/>
              <a:t>let </a:t>
            </a:r>
            <a:r>
              <a:rPr lang="en-US" altLang="zh-CN" sz="2800" dirty="0" err="1"/>
              <a:t>myNewString</a:t>
            </a:r>
            <a:r>
              <a:rPr lang="en-US" altLang="zh-CN" sz="2800" dirty="0"/>
              <a:t> = </a:t>
            </a:r>
            <a:r>
              <a:rPr lang="en-US" altLang="zh-CN" sz="2800" dirty="0" err="1"/>
              <a:t>myArray.</a:t>
            </a:r>
            <a:r>
              <a:rPr lang="en-US" altLang="zh-CN" sz="2800" b="1" dirty="0" err="1">
                <a:solidFill>
                  <a:srgbClr val="C00000"/>
                </a:solidFill>
              </a:rPr>
              <a:t>join</a:t>
            </a:r>
            <a:r>
              <a:rPr lang="en-US" altLang="zh-CN" sz="2800" dirty="0"/>
              <a:t>(',');</a:t>
            </a:r>
          </a:p>
          <a:p>
            <a:r>
              <a:rPr lang="en-US" altLang="zh-CN" sz="2800" dirty="0" err="1"/>
              <a:t>myNewString</a:t>
            </a:r>
            <a:r>
              <a:rPr lang="en-US" altLang="zh-CN" sz="2800" dirty="0" smtClean="0"/>
              <a:t>;</a:t>
            </a:r>
            <a:endParaRPr lang="en-US" altLang="zh-CN" sz="2800" dirty="0"/>
          </a:p>
        </p:txBody>
      </p:sp>
      <p:sp>
        <p:nvSpPr>
          <p:cNvPr id="9" name="矩形 8"/>
          <p:cNvSpPr/>
          <p:nvPr/>
        </p:nvSpPr>
        <p:spPr>
          <a:xfrm>
            <a:off x="850900" y="3754349"/>
            <a:ext cx="10896600" cy="1691104"/>
          </a:xfrm>
          <a:prstGeom prst="rect">
            <a:avLst/>
          </a:prstGeom>
        </p:spPr>
        <p:txBody>
          <a:bodyPr wrap="square">
            <a:spAutoFit/>
          </a:bodyPr>
          <a:lstStyle/>
          <a:p>
            <a:pPr>
              <a:lnSpc>
                <a:spcPct val="150000"/>
              </a:lnSpc>
            </a:pPr>
            <a:r>
              <a:rPr lang="zh-CN" altLang="en-US" sz="2400" dirty="0"/>
              <a:t>将数组转换为字符串的另一种方法是使用 </a:t>
            </a:r>
            <a:r>
              <a:rPr lang="en-US" altLang="zh-CN" sz="2400" dirty="0" err="1"/>
              <a:t>toString</a:t>
            </a:r>
            <a:r>
              <a:rPr lang="en-US" altLang="zh-CN" sz="2400" dirty="0"/>
              <a:t>() </a:t>
            </a:r>
            <a:r>
              <a:rPr lang="zh-CN" altLang="en-US" sz="2400" dirty="0"/>
              <a:t>方法。 </a:t>
            </a:r>
            <a:r>
              <a:rPr lang="en-US" altLang="zh-CN" sz="2400" dirty="0" err="1"/>
              <a:t>toString</a:t>
            </a:r>
            <a:r>
              <a:rPr lang="en-US" altLang="zh-CN" sz="2400" dirty="0"/>
              <a:t>() </a:t>
            </a:r>
            <a:r>
              <a:rPr lang="zh-CN" altLang="en-US" sz="2400" dirty="0"/>
              <a:t>可以比 </a:t>
            </a:r>
            <a:r>
              <a:rPr lang="en-US" altLang="zh-CN" sz="2400" dirty="0"/>
              <a:t>join() </a:t>
            </a:r>
            <a:r>
              <a:rPr lang="zh-CN" altLang="en-US" sz="2400" dirty="0"/>
              <a:t>更简单，因为它不需要一个参数，但更有限制。使用 </a:t>
            </a:r>
            <a:r>
              <a:rPr lang="en-US" altLang="zh-CN" sz="2400" dirty="0"/>
              <a:t>join() </a:t>
            </a:r>
            <a:r>
              <a:rPr lang="zh-CN" altLang="en-US" sz="2400" dirty="0"/>
              <a:t>可以指定不同的</a:t>
            </a:r>
            <a:r>
              <a:rPr lang="zh-CN" altLang="en-US" sz="2400" dirty="0" smtClean="0"/>
              <a:t>分隔符。</a:t>
            </a:r>
            <a:endParaRPr lang="zh-CN" altLang="en-US" sz="2400" dirty="0"/>
          </a:p>
        </p:txBody>
      </p:sp>
      <p:sp>
        <p:nvSpPr>
          <p:cNvPr id="10" name="矩形 9"/>
          <p:cNvSpPr/>
          <p:nvPr/>
        </p:nvSpPr>
        <p:spPr>
          <a:xfrm>
            <a:off x="850900" y="5445453"/>
            <a:ext cx="10198100" cy="954107"/>
          </a:xfrm>
          <a:prstGeom prst="rect">
            <a:avLst/>
          </a:prstGeom>
        </p:spPr>
        <p:txBody>
          <a:bodyPr wrap="square">
            <a:spAutoFit/>
          </a:bodyPr>
          <a:lstStyle/>
          <a:p>
            <a:r>
              <a:rPr lang="en-US" altLang="zh-CN" sz="2800" dirty="0"/>
              <a:t>let </a:t>
            </a:r>
            <a:r>
              <a:rPr lang="en-US" altLang="zh-CN" sz="2800" dirty="0" err="1"/>
              <a:t>dogNames</a:t>
            </a:r>
            <a:r>
              <a:rPr lang="en-US" altLang="zh-CN" sz="2800" dirty="0"/>
              <a:t> = ["</a:t>
            </a:r>
            <a:r>
              <a:rPr lang="en-US" altLang="zh-CN" sz="2800" dirty="0" err="1"/>
              <a:t>Rocket","Flash","Bella","Slugger</a:t>
            </a:r>
            <a:r>
              <a:rPr lang="en-US" altLang="zh-CN" sz="2800" dirty="0"/>
              <a:t>"];</a:t>
            </a:r>
          </a:p>
          <a:p>
            <a:r>
              <a:rPr lang="en-US" altLang="zh-CN" sz="2800" dirty="0" err="1"/>
              <a:t>dogNames.toString</a:t>
            </a:r>
            <a:r>
              <a:rPr lang="en-US" altLang="zh-CN" sz="2800" dirty="0"/>
              <a:t>(); </a:t>
            </a:r>
            <a:r>
              <a:rPr lang="en-US" altLang="zh-CN" sz="2800" dirty="0">
                <a:solidFill>
                  <a:schemeClr val="accent6"/>
                </a:solidFill>
              </a:rPr>
              <a:t>//</a:t>
            </a:r>
            <a:r>
              <a:rPr lang="en-US" altLang="zh-CN" sz="2800" dirty="0" err="1">
                <a:solidFill>
                  <a:schemeClr val="accent6"/>
                </a:solidFill>
              </a:rPr>
              <a:t>Rocket,Flash,Bella,Slugger</a:t>
            </a:r>
            <a:endParaRPr lang="en-US" altLang="zh-CN" sz="2800" dirty="0">
              <a:solidFill>
                <a:schemeClr val="accent6"/>
              </a:solidFill>
            </a:endParaRPr>
          </a:p>
        </p:txBody>
      </p:sp>
    </p:spTree>
    <p:extLst>
      <p:ext uri="{BB962C8B-B14F-4D97-AF65-F5344CB8AC3E}">
        <p14:creationId xmlns:p14="http://schemas.microsoft.com/office/powerpoint/2010/main" val="39383037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34</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
        <p:nvSpPr>
          <p:cNvPr id="4" name="矩形 3"/>
          <p:cNvSpPr/>
          <p:nvPr/>
        </p:nvSpPr>
        <p:spPr>
          <a:xfrm>
            <a:off x="838200" y="1574800"/>
            <a:ext cx="3877985" cy="523220"/>
          </a:xfrm>
          <a:prstGeom prst="rect">
            <a:avLst/>
          </a:prstGeom>
        </p:spPr>
        <p:txBody>
          <a:bodyPr wrap="none">
            <a:spAutoFit/>
          </a:bodyPr>
          <a:lstStyle/>
          <a:p>
            <a:pPr marL="457200" indent="-457200">
              <a:buFont typeface="Wingdings" panose="05000000000000000000" pitchFamily="2" charset="2"/>
              <a:buChar char="n"/>
            </a:pPr>
            <a:r>
              <a:rPr lang="zh-CN" altLang="en-US" sz="2800" b="1" dirty="0">
                <a:solidFill>
                  <a:srgbClr val="C00000"/>
                </a:solidFill>
              </a:rPr>
              <a:t>一些有用的数组方法</a:t>
            </a:r>
          </a:p>
        </p:txBody>
      </p:sp>
      <p:sp>
        <p:nvSpPr>
          <p:cNvPr id="6" name="矩形 5"/>
          <p:cNvSpPr/>
          <p:nvPr/>
        </p:nvSpPr>
        <p:spPr>
          <a:xfrm>
            <a:off x="863600" y="2286000"/>
            <a:ext cx="6686446" cy="461665"/>
          </a:xfrm>
          <a:prstGeom prst="rect">
            <a:avLst/>
          </a:prstGeom>
        </p:spPr>
        <p:txBody>
          <a:bodyPr wrap="none">
            <a:spAutoFit/>
          </a:bodyPr>
          <a:lstStyle/>
          <a:p>
            <a:r>
              <a:rPr lang="en-US" altLang="zh-CN" sz="2400" b="1" dirty="0" smtClean="0"/>
              <a:t>2</a:t>
            </a:r>
            <a:r>
              <a:rPr lang="zh-CN" altLang="en-US" sz="2400" b="1" dirty="0"/>
              <a:t>、添加和删除数组项，可以使用 </a:t>
            </a:r>
            <a:r>
              <a:rPr lang="en-US" altLang="zh-CN" sz="2400" b="1" dirty="0"/>
              <a:t>push() </a:t>
            </a:r>
            <a:r>
              <a:rPr lang="zh-CN" altLang="en-US" sz="2400" b="1" dirty="0"/>
              <a:t>和 </a:t>
            </a:r>
            <a:r>
              <a:rPr lang="en-US" altLang="zh-CN" sz="2400" b="1" dirty="0"/>
              <a:t>pop()</a:t>
            </a:r>
            <a:endParaRPr lang="zh-CN" altLang="en-US" sz="2400" b="1" dirty="0"/>
          </a:p>
        </p:txBody>
      </p:sp>
      <p:sp>
        <p:nvSpPr>
          <p:cNvPr id="5" name="矩形 4"/>
          <p:cNvSpPr/>
          <p:nvPr/>
        </p:nvSpPr>
        <p:spPr>
          <a:xfrm>
            <a:off x="876300" y="2833300"/>
            <a:ext cx="6096000" cy="1815882"/>
          </a:xfrm>
          <a:prstGeom prst="rect">
            <a:avLst/>
          </a:prstGeom>
        </p:spPr>
        <p:txBody>
          <a:bodyPr>
            <a:spAutoFit/>
          </a:bodyPr>
          <a:lstStyle/>
          <a:p>
            <a:r>
              <a:rPr lang="en-US" altLang="zh-CN" sz="2800" dirty="0" err="1"/>
              <a:t>myArray.</a:t>
            </a:r>
            <a:r>
              <a:rPr lang="en-US" altLang="zh-CN" sz="2800" b="1" dirty="0" err="1">
                <a:solidFill>
                  <a:srgbClr val="C00000"/>
                </a:solidFill>
              </a:rPr>
              <a:t>push</a:t>
            </a:r>
            <a:r>
              <a:rPr lang="en-US" altLang="zh-CN" sz="2800" dirty="0"/>
              <a:t>('Cardiff');</a:t>
            </a:r>
          </a:p>
          <a:p>
            <a:r>
              <a:rPr lang="en-US" altLang="zh-CN" sz="2800" dirty="0" err="1"/>
              <a:t>myArray</a:t>
            </a:r>
            <a:r>
              <a:rPr lang="en-US" altLang="zh-CN" sz="2800" dirty="0"/>
              <a:t>;</a:t>
            </a:r>
          </a:p>
          <a:p>
            <a:r>
              <a:rPr lang="en-US" altLang="zh-CN" sz="2800" dirty="0" err="1"/>
              <a:t>myArray.</a:t>
            </a:r>
            <a:r>
              <a:rPr lang="en-US" altLang="zh-CN" sz="2800" b="1" dirty="0" err="1">
                <a:solidFill>
                  <a:srgbClr val="C00000"/>
                </a:solidFill>
              </a:rPr>
              <a:t>push</a:t>
            </a:r>
            <a:r>
              <a:rPr lang="en-US" altLang="zh-CN" sz="2800" dirty="0"/>
              <a:t>('Bradford', 'Brighton');</a:t>
            </a:r>
          </a:p>
          <a:p>
            <a:r>
              <a:rPr lang="en-US" altLang="zh-CN" sz="2800" dirty="0" err="1"/>
              <a:t>myArray</a:t>
            </a:r>
            <a:r>
              <a:rPr lang="en-US" altLang="zh-CN" sz="2800" dirty="0"/>
              <a:t>;</a:t>
            </a:r>
          </a:p>
        </p:txBody>
      </p:sp>
      <p:sp>
        <p:nvSpPr>
          <p:cNvPr id="7" name="矩形 6"/>
          <p:cNvSpPr/>
          <p:nvPr/>
        </p:nvSpPr>
        <p:spPr>
          <a:xfrm>
            <a:off x="812800" y="4734817"/>
            <a:ext cx="6465231" cy="461665"/>
          </a:xfrm>
          <a:prstGeom prst="rect">
            <a:avLst/>
          </a:prstGeom>
        </p:spPr>
        <p:txBody>
          <a:bodyPr wrap="none">
            <a:spAutoFit/>
          </a:bodyPr>
          <a:lstStyle/>
          <a:p>
            <a:r>
              <a:rPr lang="zh-CN" altLang="en-US" sz="2400" b="1" dirty="0"/>
              <a:t>从数组中删除最后一个元素的话直接使用 </a:t>
            </a:r>
            <a:r>
              <a:rPr lang="en-US" altLang="zh-CN" sz="2400" b="1" dirty="0"/>
              <a:t>pop()</a:t>
            </a:r>
            <a:endParaRPr lang="zh-CN" altLang="en-US" sz="2400" b="1" dirty="0"/>
          </a:p>
        </p:txBody>
      </p:sp>
      <p:sp>
        <p:nvSpPr>
          <p:cNvPr id="11" name="矩形 10"/>
          <p:cNvSpPr/>
          <p:nvPr/>
        </p:nvSpPr>
        <p:spPr>
          <a:xfrm>
            <a:off x="863600" y="5326914"/>
            <a:ext cx="2354042" cy="523220"/>
          </a:xfrm>
          <a:prstGeom prst="rect">
            <a:avLst/>
          </a:prstGeom>
        </p:spPr>
        <p:txBody>
          <a:bodyPr wrap="none">
            <a:spAutoFit/>
          </a:bodyPr>
          <a:lstStyle/>
          <a:p>
            <a:r>
              <a:rPr lang="en-US" altLang="zh-CN" sz="2800" dirty="0" err="1"/>
              <a:t>myArray.</a:t>
            </a:r>
            <a:r>
              <a:rPr lang="en-US" altLang="zh-CN" sz="2800" b="1" dirty="0" err="1">
                <a:solidFill>
                  <a:srgbClr val="C00000"/>
                </a:solidFill>
              </a:rPr>
              <a:t>pop</a:t>
            </a:r>
            <a:r>
              <a:rPr lang="en-US" altLang="zh-CN" sz="2800" dirty="0"/>
              <a:t>();</a:t>
            </a:r>
            <a:endParaRPr lang="zh-CN" altLang="en-US" sz="2800" dirty="0"/>
          </a:p>
        </p:txBody>
      </p:sp>
    </p:spTree>
    <p:extLst>
      <p:ext uri="{BB962C8B-B14F-4D97-AF65-F5344CB8AC3E}">
        <p14:creationId xmlns:p14="http://schemas.microsoft.com/office/powerpoint/2010/main" val="77128407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35</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
        <p:nvSpPr>
          <p:cNvPr id="4" name="矩形 3"/>
          <p:cNvSpPr/>
          <p:nvPr/>
        </p:nvSpPr>
        <p:spPr>
          <a:xfrm>
            <a:off x="838200" y="1574800"/>
            <a:ext cx="3877985" cy="523220"/>
          </a:xfrm>
          <a:prstGeom prst="rect">
            <a:avLst/>
          </a:prstGeom>
        </p:spPr>
        <p:txBody>
          <a:bodyPr wrap="none">
            <a:spAutoFit/>
          </a:bodyPr>
          <a:lstStyle/>
          <a:p>
            <a:pPr marL="457200" indent="-457200">
              <a:buFont typeface="Wingdings" panose="05000000000000000000" pitchFamily="2" charset="2"/>
              <a:buChar char="n"/>
            </a:pPr>
            <a:r>
              <a:rPr lang="zh-CN" altLang="en-US" sz="2800" b="1" dirty="0">
                <a:solidFill>
                  <a:srgbClr val="C00000"/>
                </a:solidFill>
              </a:rPr>
              <a:t>一些有用的数组方法</a:t>
            </a:r>
          </a:p>
        </p:txBody>
      </p:sp>
      <p:sp>
        <p:nvSpPr>
          <p:cNvPr id="6" name="矩形 5"/>
          <p:cNvSpPr/>
          <p:nvPr/>
        </p:nvSpPr>
        <p:spPr>
          <a:xfrm>
            <a:off x="863600" y="2286000"/>
            <a:ext cx="10980891" cy="830997"/>
          </a:xfrm>
          <a:prstGeom prst="rect">
            <a:avLst/>
          </a:prstGeom>
        </p:spPr>
        <p:txBody>
          <a:bodyPr wrap="none">
            <a:spAutoFit/>
          </a:bodyPr>
          <a:lstStyle/>
          <a:p>
            <a:r>
              <a:rPr lang="en-US" altLang="zh-CN" sz="2400" b="1" dirty="0" smtClean="0"/>
              <a:t>3</a:t>
            </a:r>
            <a:r>
              <a:rPr lang="zh-CN" altLang="en-US" sz="2400" b="1" dirty="0" smtClean="0"/>
              <a:t>、</a:t>
            </a:r>
            <a:r>
              <a:rPr lang="en-US" altLang="zh-CN" sz="2400" b="1" dirty="0" err="1"/>
              <a:t>unshift</a:t>
            </a:r>
            <a:r>
              <a:rPr lang="en-US" altLang="zh-CN" sz="2400" b="1" dirty="0"/>
              <a:t>() </a:t>
            </a:r>
            <a:r>
              <a:rPr lang="zh-CN" altLang="en-US" sz="2400" b="1" dirty="0"/>
              <a:t>和 </a:t>
            </a:r>
            <a:r>
              <a:rPr lang="en-US" altLang="zh-CN" sz="2400" b="1" dirty="0"/>
              <a:t>shift() </a:t>
            </a:r>
            <a:r>
              <a:rPr lang="zh-CN" altLang="en-US" sz="2400" b="1" dirty="0"/>
              <a:t>从功能上与 </a:t>
            </a:r>
            <a:r>
              <a:rPr lang="en-US" altLang="zh-CN" sz="2400" b="1" dirty="0"/>
              <a:t>push() </a:t>
            </a:r>
            <a:r>
              <a:rPr lang="zh-CN" altLang="en-US" sz="2400" b="1" dirty="0"/>
              <a:t>和 </a:t>
            </a:r>
            <a:r>
              <a:rPr lang="en-US" altLang="zh-CN" sz="2400" b="1" dirty="0"/>
              <a:t>pop() </a:t>
            </a:r>
            <a:r>
              <a:rPr lang="zh-CN" altLang="en-US" sz="2400" b="1" dirty="0"/>
              <a:t>完全相同，只是它们分别作用</a:t>
            </a:r>
            <a:r>
              <a:rPr lang="zh-CN" altLang="en-US" sz="2400" b="1" dirty="0" smtClean="0"/>
              <a:t>于</a:t>
            </a:r>
            <a:endParaRPr lang="en-US" altLang="zh-CN" sz="2400" b="1" dirty="0" smtClean="0"/>
          </a:p>
          <a:p>
            <a:r>
              <a:rPr lang="zh-CN" altLang="en-US" sz="2400" b="1" dirty="0" smtClean="0"/>
              <a:t>数组</a:t>
            </a:r>
            <a:r>
              <a:rPr lang="zh-CN" altLang="en-US" sz="2400" b="1" dirty="0"/>
              <a:t>的开始，而不是结尾。</a:t>
            </a:r>
          </a:p>
        </p:txBody>
      </p:sp>
      <p:sp>
        <p:nvSpPr>
          <p:cNvPr id="5" name="矩形 4"/>
          <p:cNvSpPr/>
          <p:nvPr/>
        </p:nvSpPr>
        <p:spPr>
          <a:xfrm>
            <a:off x="850900" y="3292277"/>
            <a:ext cx="6096000" cy="3108543"/>
          </a:xfrm>
          <a:prstGeom prst="rect">
            <a:avLst/>
          </a:prstGeom>
        </p:spPr>
        <p:txBody>
          <a:bodyPr>
            <a:spAutoFit/>
          </a:bodyPr>
          <a:lstStyle/>
          <a:p>
            <a:r>
              <a:rPr lang="en-US" altLang="zh-CN" sz="2800" dirty="0" err="1"/>
              <a:t>myArray.</a:t>
            </a:r>
            <a:r>
              <a:rPr lang="en-US" altLang="zh-CN" sz="2800" b="1" dirty="0" err="1">
                <a:solidFill>
                  <a:srgbClr val="C00000"/>
                </a:solidFill>
              </a:rPr>
              <a:t>unshift</a:t>
            </a:r>
            <a:r>
              <a:rPr lang="en-US" altLang="zh-CN" sz="2800" dirty="0"/>
              <a:t>('Edinburgh');</a:t>
            </a:r>
          </a:p>
          <a:p>
            <a:r>
              <a:rPr lang="en-US" altLang="zh-CN" sz="2800" dirty="0" err="1"/>
              <a:t>myArray</a:t>
            </a:r>
            <a:r>
              <a:rPr lang="en-US" altLang="zh-CN" sz="2800" dirty="0" smtClean="0"/>
              <a:t>;</a:t>
            </a:r>
          </a:p>
          <a:p>
            <a:endParaRPr lang="en-US" altLang="zh-CN" sz="2800" dirty="0"/>
          </a:p>
          <a:p>
            <a:r>
              <a:rPr lang="en-US" altLang="zh-CN" sz="2800" dirty="0"/>
              <a:t>let </a:t>
            </a:r>
            <a:r>
              <a:rPr lang="en-US" altLang="zh-CN" sz="2800" dirty="0" err="1"/>
              <a:t>removedItem</a:t>
            </a:r>
            <a:r>
              <a:rPr lang="en-US" altLang="zh-CN" sz="2800" dirty="0"/>
              <a:t> = </a:t>
            </a:r>
            <a:r>
              <a:rPr lang="en-US" altLang="zh-CN" sz="2800" dirty="0" err="1"/>
              <a:t>myArray.</a:t>
            </a:r>
            <a:r>
              <a:rPr lang="en-US" altLang="zh-CN" sz="2800" b="1" dirty="0" err="1">
                <a:solidFill>
                  <a:srgbClr val="C00000"/>
                </a:solidFill>
              </a:rPr>
              <a:t>shift</a:t>
            </a:r>
            <a:r>
              <a:rPr lang="en-US" altLang="zh-CN" sz="2800" dirty="0"/>
              <a:t>();</a:t>
            </a:r>
          </a:p>
          <a:p>
            <a:r>
              <a:rPr lang="en-US" altLang="zh-CN" sz="2800" dirty="0" err="1"/>
              <a:t>myArray</a:t>
            </a:r>
            <a:r>
              <a:rPr lang="en-US" altLang="zh-CN" sz="2800" dirty="0"/>
              <a:t>;</a:t>
            </a:r>
          </a:p>
          <a:p>
            <a:r>
              <a:rPr lang="en-US" altLang="zh-CN" sz="2800" dirty="0" err="1"/>
              <a:t>removedItem</a:t>
            </a:r>
            <a:r>
              <a:rPr lang="en-US" altLang="zh-CN" sz="2800" dirty="0"/>
              <a:t>;</a:t>
            </a:r>
          </a:p>
          <a:p>
            <a:endParaRPr lang="en-US" altLang="zh-CN" sz="2800" dirty="0"/>
          </a:p>
        </p:txBody>
      </p:sp>
    </p:spTree>
    <p:extLst>
      <p:ext uri="{BB962C8B-B14F-4D97-AF65-F5344CB8AC3E}">
        <p14:creationId xmlns:p14="http://schemas.microsoft.com/office/powerpoint/2010/main" val="18680146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914400" y="1524000"/>
            <a:ext cx="10515600" cy="3671261"/>
          </a:xfrm>
          <a:prstGeom prst="rect">
            <a:avLst/>
          </a:prstGeom>
        </p:spPr>
        <p:txBody>
          <a:bodyPr vert="horz" wrap="square" lIns="0" tIns="12700" rIns="0" bIns="0" rtlCol="0">
            <a:spAutoFit/>
          </a:bodyPr>
          <a:lstStyle/>
          <a:p>
            <a:pPr marL="12700" marR="5080">
              <a:lnSpc>
                <a:spcPct val="170000"/>
              </a:lnSpc>
              <a:spcBef>
                <a:spcPts val="1335"/>
              </a:spcBef>
            </a:pPr>
            <a:r>
              <a:rPr sz="2400" spc="-30" dirty="0" err="1" smtClean="0">
                <a:solidFill>
                  <a:srgbClr val="252525"/>
                </a:solidFill>
                <a:latin typeface="宋体"/>
                <a:cs typeface="宋体"/>
              </a:rPr>
              <a:t>将数组</a:t>
            </a:r>
            <a:r>
              <a:rPr sz="2400" spc="-370" dirty="0" smtClean="0">
                <a:solidFill>
                  <a:srgbClr val="252525"/>
                </a:solidFill>
                <a:latin typeface="宋体"/>
                <a:cs typeface="宋体"/>
              </a:rPr>
              <a:t> </a:t>
            </a:r>
            <a:r>
              <a:rPr sz="2400" spc="-180" dirty="0">
                <a:solidFill>
                  <a:srgbClr val="252525"/>
                </a:solidFill>
                <a:latin typeface="宋体"/>
                <a:cs typeface="宋体"/>
              </a:rPr>
              <a:t>[2,</a:t>
            </a:r>
            <a:r>
              <a:rPr sz="2400" spc="-365" dirty="0">
                <a:solidFill>
                  <a:srgbClr val="252525"/>
                </a:solidFill>
                <a:latin typeface="宋体"/>
                <a:cs typeface="宋体"/>
              </a:rPr>
              <a:t> </a:t>
            </a:r>
            <a:r>
              <a:rPr sz="2400" spc="-105" dirty="0">
                <a:solidFill>
                  <a:srgbClr val="252525"/>
                </a:solidFill>
                <a:latin typeface="宋体"/>
                <a:cs typeface="宋体"/>
              </a:rPr>
              <a:t>0,</a:t>
            </a:r>
            <a:r>
              <a:rPr sz="2400" spc="-375" dirty="0">
                <a:solidFill>
                  <a:srgbClr val="252525"/>
                </a:solidFill>
                <a:latin typeface="宋体"/>
                <a:cs typeface="宋体"/>
              </a:rPr>
              <a:t> </a:t>
            </a:r>
            <a:r>
              <a:rPr sz="2400" spc="-105" dirty="0">
                <a:solidFill>
                  <a:srgbClr val="252525"/>
                </a:solidFill>
                <a:latin typeface="宋体"/>
                <a:cs typeface="宋体"/>
              </a:rPr>
              <a:t>6,</a:t>
            </a:r>
            <a:r>
              <a:rPr sz="2400" spc="-370" dirty="0">
                <a:solidFill>
                  <a:srgbClr val="252525"/>
                </a:solidFill>
                <a:latin typeface="宋体"/>
                <a:cs typeface="宋体"/>
              </a:rPr>
              <a:t> </a:t>
            </a:r>
            <a:r>
              <a:rPr sz="2400" spc="-105" dirty="0">
                <a:solidFill>
                  <a:srgbClr val="252525"/>
                </a:solidFill>
                <a:latin typeface="宋体"/>
                <a:cs typeface="宋体"/>
              </a:rPr>
              <a:t>1,</a:t>
            </a:r>
            <a:r>
              <a:rPr sz="2400" spc="-375" dirty="0">
                <a:solidFill>
                  <a:srgbClr val="252525"/>
                </a:solidFill>
                <a:latin typeface="宋体"/>
                <a:cs typeface="宋体"/>
              </a:rPr>
              <a:t> </a:t>
            </a:r>
            <a:r>
              <a:rPr sz="2400" spc="-35" dirty="0">
                <a:solidFill>
                  <a:srgbClr val="252525"/>
                </a:solidFill>
                <a:latin typeface="宋体"/>
                <a:cs typeface="宋体"/>
              </a:rPr>
              <a:t>77,</a:t>
            </a:r>
            <a:r>
              <a:rPr sz="2400" spc="-360" dirty="0">
                <a:solidFill>
                  <a:srgbClr val="252525"/>
                </a:solidFill>
                <a:latin typeface="宋体"/>
                <a:cs typeface="宋体"/>
              </a:rPr>
              <a:t> </a:t>
            </a:r>
            <a:r>
              <a:rPr sz="2400" spc="-105" dirty="0">
                <a:solidFill>
                  <a:srgbClr val="252525"/>
                </a:solidFill>
                <a:latin typeface="宋体"/>
                <a:cs typeface="宋体"/>
              </a:rPr>
              <a:t>0,</a:t>
            </a:r>
            <a:r>
              <a:rPr sz="2400" spc="-375" dirty="0">
                <a:solidFill>
                  <a:srgbClr val="252525"/>
                </a:solidFill>
                <a:latin typeface="宋体"/>
                <a:cs typeface="宋体"/>
              </a:rPr>
              <a:t> </a:t>
            </a:r>
            <a:r>
              <a:rPr sz="2400" spc="-35" dirty="0">
                <a:solidFill>
                  <a:srgbClr val="252525"/>
                </a:solidFill>
                <a:latin typeface="宋体"/>
                <a:cs typeface="宋体"/>
              </a:rPr>
              <a:t>52,</a:t>
            </a:r>
            <a:r>
              <a:rPr sz="2400" spc="-355" dirty="0">
                <a:solidFill>
                  <a:srgbClr val="252525"/>
                </a:solidFill>
                <a:latin typeface="宋体"/>
                <a:cs typeface="宋体"/>
              </a:rPr>
              <a:t> </a:t>
            </a:r>
            <a:r>
              <a:rPr sz="2400" spc="-105" dirty="0">
                <a:solidFill>
                  <a:srgbClr val="252525"/>
                </a:solidFill>
                <a:latin typeface="宋体"/>
                <a:cs typeface="宋体"/>
              </a:rPr>
              <a:t>0,</a:t>
            </a:r>
            <a:r>
              <a:rPr sz="2400" spc="-375" dirty="0">
                <a:solidFill>
                  <a:srgbClr val="252525"/>
                </a:solidFill>
                <a:latin typeface="宋体"/>
                <a:cs typeface="宋体"/>
              </a:rPr>
              <a:t> </a:t>
            </a:r>
            <a:r>
              <a:rPr sz="2400" spc="-35" dirty="0">
                <a:solidFill>
                  <a:srgbClr val="252525"/>
                </a:solidFill>
                <a:latin typeface="宋体"/>
                <a:cs typeface="宋体"/>
              </a:rPr>
              <a:t>25,</a:t>
            </a:r>
            <a:r>
              <a:rPr sz="2400" spc="-360" dirty="0">
                <a:solidFill>
                  <a:srgbClr val="252525"/>
                </a:solidFill>
                <a:latin typeface="宋体"/>
                <a:cs typeface="宋体"/>
              </a:rPr>
              <a:t> </a:t>
            </a:r>
            <a:r>
              <a:rPr sz="2400" spc="-110" dirty="0">
                <a:solidFill>
                  <a:srgbClr val="252525"/>
                </a:solidFill>
                <a:latin typeface="宋体"/>
                <a:cs typeface="宋体"/>
              </a:rPr>
              <a:t>7]</a:t>
            </a:r>
            <a:r>
              <a:rPr sz="2400" spc="-380" dirty="0">
                <a:solidFill>
                  <a:srgbClr val="252525"/>
                </a:solidFill>
                <a:latin typeface="宋体"/>
                <a:cs typeface="宋体"/>
              </a:rPr>
              <a:t> </a:t>
            </a:r>
            <a:r>
              <a:rPr sz="2400" spc="-30" dirty="0">
                <a:solidFill>
                  <a:srgbClr val="252525"/>
                </a:solidFill>
                <a:latin typeface="宋体"/>
                <a:cs typeface="宋体"/>
              </a:rPr>
              <a:t>中大于等于</a:t>
            </a:r>
            <a:r>
              <a:rPr sz="2400" spc="-375" dirty="0">
                <a:solidFill>
                  <a:srgbClr val="252525"/>
                </a:solidFill>
                <a:latin typeface="宋体"/>
                <a:cs typeface="宋体"/>
              </a:rPr>
              <a:t> </a:t>
            </a:r>
            <a:r>
              <a:rPr sz="2400" spc="110" dirty="0">
                <a:solidFill>
                  <a:srgbClr val="252525"/>
                </a:solidFill>
                <a:latin typeface="宋体"/>
                <a:cs typeface="宋体"/>
              </a:rPr>
              <a:t>10</a:t>
            </a:r>
            <a:r>
              <a:rPr sz="2400" spc="-365" dirty="0">
                <a:solidFill>
                  <a:srgbClr val="252525"/>
                </a:solidFill>
                <a:latin typeface="宋体"/>
                <a:cs typeface="宋体"/>
              </a:rPr>
              <a:t> </a:t>
            </a:r>
            <a:r>
              <a:rPr sz="2400" spc="-30" dirty="0" err="1">
                <a:solidFill>
                  <a:srgbClr val="252525"/>
                </a:solidFill>
                <a:latin typeface="宋体"/>
                <a:cs typeface="宋体"/>
              </a:rPr>
              <a:t>的元素选出来，</a:t>
            </a:r>
            <a:r>
              <a:rPr sz="2400" spc="-30" dirty="0" err="1" smtClean="0">
                <a:solidFill>
                  <a:srgbClr val="252525"/>
                </a:solidFill>
                <a:latin typeface="宋体"/>
                <a:cs typeface="宋体"/>
              </a:rPr>
              <a:t>放入新数组</a:t>
            </a:r>
            <a:r>
              <a:rPr lang="zh-CN" altLang="en-US" sz="2400" spc="-30" dirty="0" smtClean="0">
                <a:solidFill>
                  <a:srgbClr val="252525"/>
                </a:solidFill>
                <a:latin typeface="宋体"/>
                <a:cs typeface="宋体"/>
              </a:rPr>
              <a:t>。</a:t>
            </a:r>
            <a:endParaRPr lang="en-US" altLang="zh-CN" sz="2400" spc="-30" dirty="0" smtClean="0">
              <a:solidFill>
                <a:srgbClr val="252525"/>
              </a:solidFill>
              <a:latin typeface="宋体"/>
              <a:cs typeface="宋体"/>
            </a:endParaRPr>
          </a:p>
          <a:p>
            <a:pPr marL="12700" marR="5080">
              <a:lnSpc>
                <a:spcPct val="170000"/>
              </a:lnSpc>
              <a:spcBef>
                <a:spcPts val="1335"/>
              </a:spcBef>
            </a:pPr>
            <a:r>
              <a:rPr sz="2400" spc="-30" dirty="0" err="1" smtClean="0">
                <a:solidFill>
                  <a:srgbClr val="252525"/>
                </a:solidFill>
                <a:latin typeface="宋体"/>
                <a:cs typeface="宋体"/>
              </a:rPr>
              <a:t>分析</a:t>
            </a:r>
            <a:r>
              <a:rPr sz="2400" spc="-30" dirty="0">
                <a:solidFill>
                  <a:srgbClr val="252525"/>
                </a:solidFill>
                <a:latin typeface="宋体"/>
                <a:cs typeface="宋体"/>
              </a:rPr>
              <a:t>：</a:t>
            </a:r>
            <a:endParaRPr sz="2400" dirty="0">
              <a:latin typeface="宋体"/>
              <a:cs typeface="宋体"/>
            </a:endParaRPr>
          </a:p>
          <a:p>
            <a:pPr marL="12700">
              <a:spcBef>
                <a:spcPts val="1345"/>
              </a:spcBef>
            </a:pPr>
            <a:r>
              <a:rPr sz="2400" spc="-35" dirty="0">
                <a:solidFill>
                  <a:srgbClr val="252525"/>
                </a:solidFill>
                <a:latin typeface="宋体"/>
                <a:cs typeface="宋体"/>
              </a:rPr>
              <a:t>①：</a:t>
            </a:r>
            <a:r>
              <a:rPr sz="2400" spc="-35" dirty="0" err="1" smtClean="0">
                <a:solidFill>
                  <a:srgbClr val="252525"/>
                </a:solidFill>
                <a:latin typeface="宋体"/>
                <a:cs typeface="宋体"/>
              </a:rPr>
              <a:t>声明一个新的数组</a:t>
            </a:r>
            <a:r>
              <a:rPr lang="en-US" altLang="zh-CN" sz="2400" spc="114" dirty="0" err="1" smtClean="0">
                <a:solidFill>
                  <a:srgbClr val="252525"/>
                </a:solidFill>
                <a:latin typeface="宋体"/>
                <a:cs typeface="宋体"/>
              </a:rPr>
              <a:t>newArr</a:t>
            </a:r>
            <a:r>
              <a:rPr sz="2400" spc="-35" dirty="0" err="1" smtClean="0">
                <a:solidFill>
                  <a:srgbClr val="252525"/>
                </a:solidFill>
                <a:latin typeface="宋体"/>
                <a:cs typeface="宋体"/>
              </a:rPr>
              <a:t>用于存放新数</a:t>
            </a:r>
            <a:r>
              <a:rPr sz="2400" spc="-30" dirty="0" err="1" smtClean="0">
                <a:solidFill>
                  <a:srgbClr val="252525"/>
                </a:solidFill>
                <a:latin typeface="宋体"/>
                <a:cs typeface="宋体"/>
              </a:rPr>
              <a:t>据</a:t>
            </a:r>
            <a:endParaRPr lang="en-US" sz="2400" spc="-30" dirty="0" smtClean="0">
              <a:solidFill>
                <a:srgbClr val="252525"/>
              </a:solidFill>
              <a:latin typeface="宋体"/>
              <a:cs typeface="宋体"/>
            </a:endParaRPr>
          </a:p>
          <a:p>
            <a:pPr marL="12700">
              <a:lnSpc>
                <a:spcPct val="100000"/>
              </a:lnSpc>
              <a:spcBef>
                <a:spcPts val="1345"/>
              </a:spcBef>
            </a:pPr>
            <a:r>
              <a:rPr sz="2400" spc="-30" dirty="0" smtClean="0">
                <a:solidFill>
                  <a:srgbClr val="252525"/>
                </a:solidFill>
                <a:latin typeface="宋体"/>
                <a:cs typeface="宋体"/>
              </a:rPr>
              <a:t>②</a:t>
            </a:r>
            <a:r>
              <a:rPr sz="2400" spc="-30" dirty="0">
                <a:solidFill>
                  <a:srgbClr val="252525"/>
                </a:solidFill>
                <a:latin typeface="宋体"/>
                <a:cs typeface="宋体"/>
              </a:rPr>
              <a:t>：</a:t>
            </a:r>
            <a:r>
              <a:rPr sz="2400" spc="-30" dirty="0" err="1">
                <a:solidFill>
                  <a:srgbClr val="252525"/>
                </a:solidFill>
                <a:latin typeface="宋体"/>
                <a:cs typeface="宋体"/>
              </a:rPr>
              <a:t>遍历原来的旧数组</a:t>
            </a:r>
            <a:r>
              <a:rPr sz="2400" spc="-30" dirty="0" err="1" smtClean="0">
                <a:solidFill>
                  <a:srgbClr val="252525"/>
                </a:solidFill>
                <a:latin typeface="宋体"/>
                <a:cs typeface="宋体"/>
              </a:rPr>
              <a:t>，找出大于等于</a:t>
            </a:r>
            <a:r>
              <a:rPr sz="2400" spc="-370" dirty="0" smtClean="0">
                <a:solidFill>
                  <a:srgbClr val="252525"/>
                </a:solidFill>
                <a:latin typeface="宋体"/>
                <a:cs typeface="宋体"/>
              </a:rPr>
              <a:t> </a:t>
            </a:r>
            <a:r>
              <a:rPr sz="2400" spc="114" dirty="0">
                <a:solidFill>
                  <a:srgbClr val="252525"/>
                </a:solidFill>
                <a:latin typeface="宋体"/>
                <a:cs typeface="宋体"/>
              </a:rPr>
              <a:t>10</a:t>
            </a:r>
            <a:r>
              <a:rPr sz="2400" spc="-365" dirty="0">
                <a:solidFill>
                  <a:srgbClr val="252525"/>
                </a:solidFill>
                <a:latin typeface="宋体"/>
                <a:cs typeface="宋体"/>
              </a:rPr>
              <a:t> </a:t>
            </a:r>
            <a:r>
              <a:rPr sz="2400" spc="-30" dirty="0">
                <a:solidFill>
                  <a:srgbClr val="252525"/>
                </a:solidFill>
                <a:latin typeface="宋体"/>
                <a:cs typeface="宋体"/>
              </a:rPr>
              <a:t>的元素</a:t>
            </a:r>
            <a:endParaRPr sz="2400" dirty="0">
              <a:latin typeface="宋体"/>
              <a:cs typeface="宋体"/>
            </a:endParaRPr>
          </a:p>
          <a:p>
            <a:pPr marL="12700">
              <a:lnSpc>
                <a:spcPct val="100000"/>
              </a:lnSpc>
              <a:spcBef>
                <a:spcPts val="1345"/>
              </a:spcBef>
            </a:pPr>
            <a:r>
              <a:rPr sz="2400" spc="-30" dirty="0">
                <a:solidFill>
                  <a:srgbClr val="252525"/>
                </a:solidFill>
                <a:latin typeface="宋体"/>
                <a:cs typeface="宋体"/>
              </a:rPr>
              <a:t>③：依次追加给新数组</a:t>
            </a:r>
            <a:r>
              <a:rPr sz="2400" spc="-360" dirty="0">
                <a:solidFill>
                  <a:srgbClr val="252525"/>
                </a:solidFill>
                <a:latin typeface="宋体"/>
                <a:cs typeface="宋体"/>
              </a:rPr>
              <a:t> </a:t>
            </a:r>
            <a:r>
              <a:rPr sz="2400" spc="114" dirty="0">
                <a:solidFill>
                  <a:srgbClr val="252525"/>
                </a:solidFill>
                <a:latin typeface="宋体"/>
                <a:cs typeface="宋体"/>
              </a:rPr>
              <a:t>newArr</a:t>
            </a:r>
            <a:endParaRPr sz="2400" dirty="0">
              <a:latin typeface="宋体"/>
              <a:cs typeface="宋体"/>
            </a:endParaRPr>
          </a:p>
        </p:txBody>
      </p:sp>
      <p:sp>
        <p:nvSpPr>
          <p:cNvPr id="6" name="灯片编号占位符 5"/>
          <p:cNvSpPr>
            <a:spLocks noGrp="1"/>
          </p:cNvSpPr>
          <p:nvPr>
            <p:ph type="sldNum" sz="quarter" idx="12"/>
          </p:nvPr>
        </p:nvSpPr>
        <p:spPr/>
        <p:txBody>
          <a:bodyPr/>
          <a:lstStyle/>
          <a:p>
            <a:fld id="{B6F15528-21DE-4FAA-801E-634DDDAF4B2B}" type="slidenum">
              <a:rPr lang="en-US" altLang="zh-CN" smtClean="0"/>
              <a:pPr/>
              <a:t>36</a:t>
            </a:fld>
            <a:endParaRPr lang="zh-CN" altLang="en-US"/>
          </a:p>
        </p:txBody>
      </p:sp>
      <p:sp>
        <p:nvSpPr>
          <p:cNvPr id="8" name="矩形 7"/>
          <p:cNvSpPr/>
          <p:nvPr/>
        </p:nvSpPr>
        <p:spPr>
          <a:xfrm>
            <a:off x="838200" y="609600"/>
            <a:ext cx="1818447" cy="584775"/>
          </a:xfrm>
          <a:prstGeom prst="rect">
            <a:avLst/>
          </a:prstGeom>
        </p:spPr>
        <p:txBody>
          <a:bodyPr wrap="none">
            <a:spAutoFit/>
          </a:bodyPr>
          <a:lstStyle/>
          <a:p>
            <a:pPr marL="12700">
              <a:lnSpc>
                <a:spcPct val="100000"/>
              </a:lnSpc>
              <a:spcBef>
                <a:spcPts val="100"/>
              </a:spcBef>
            </a:pPr>
            <a:r>
              <a:rPr lang="zh-CN" altLang="en-US" sz="3200" b="1" spc="-40" dirty="0">
                <a:solidFill>
                  <a:srgbClr val="AC2B25"/>
                </a:solidFill>
                <a:latin typeface="宋体"/>
                <a:cs typeface="宋体"/>
              </a:rPr>
              <a:t>数组筛选</a:t>
            </a:r>
            <a:endParaRPr lang="zh-CN" altLang="en-US" sz="3200" b="1" dirty="0">
              <a:latin typeface="宋体"/>
              <a:cs typeface="宋体"/>
            </a:endParaRPr>
          </a:p>
        </p:txBody>
      </p:sp>
    </p:spTree>
    <p:extLst>
      <p:ext uri="{BB962C8B-B14F-4D97-AF65-F5344CB8AC3E}">
        <p14:creationId xmlns:p14="http://schemas.microsoft.com/office/powerpoint/2010/main" val="24296313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B6F15528-21DE-4FAA-801E-634DDDAF4B2B}" type="slidenum">
              <a:rPr lang="en-US" altLang="zh-CN" smtClean="0"/>
              <a:pPr/>
              <a:t>37</a:t>
            </a:fld>
            <a:endParaRPr lang="zh-CN" altLang="en-US"/>
          </a:p>
        </p:txBody>
      </p:sp>
      <p:sp>
        <p:nvSpPr>
          <p:cNvPr id="3" name="标题 2"/>
          <p:cNvSpPr>
            <a:spLocks noGrp="1"/>
          </p:cNvSpPr>
          <p:nvPr>
            <p:ph type="title"/>
          </p:nvPr>
        </p:nvSpPr>
        <p:spPr/>
        <p:txBody>
          <a:bodyPr/>
          <a:lstStyle/>
          <a:p>
            <a:r>
              <a:rPr lang="zh-CN" altLang="en-US" dirty="0" smtClean="0"/>
              <a:t>数组</a:t>
            </a:r>
            <a:endParaRPr lang="zh-CN" altLang="en-US" dirty="0"/>
          </a:p>
        </p:txBody>
      </p:sp>
      <p:sp>
        <p:nvSpPr>
          <p:cNvPr id="4" name="矩形 3"/>
          <p:cNvSpPr/>
          <p:nvPr/>
        </p:nvSpPr>
        <p:spPr>
          <a:xfrm>
            <a:off x="838200" y="1574800"/>
            <a:ext cx="3672800" cy="461665"/>
          </a:xfrm>
          <a:prstGeom prst="rect">
            <a:avLst/>
          </a:prstGeom>
        </p:spPr>
        <p:txBody>
          <a:bodyPr wrap="none">
            <a:spAutoFit/>
          </a:bodyPr>
          <a:lstStyle/>
          <a:p>
            <a:pPr marL="12700">
              <a:lnSpc>
                <a:spcPct val="100000"/>
              </a:lnSpc>
              <a:spcBef>
                <a:spcPts val="105"/>
              </a:spcBef>
            </a:pPr>
            <a:r>
              <a:rPr lang="en-US" altLang="zh-CN" sz="2400" b="1" spc="-35" dirty="0" smtClean="0">
                <a:latin typeface="微软雅黑"/>
                <a:cs typeface="微软雅黑"/>
              </a:rPr>
              <a:t>4</a:t>
            </a:r>
            <a:r>
              <a:rPr lang="zh-CN" altLang="en-US" sz="2400" b="1" spc="-35" dirty="0" smtClean="0">
                <a:latin typeface="微软雅黑"/>
                <a:cs typeface="微软雅黑"/>
              </a:rPr>
              <a:t>、数组</a:t>
            </a:r>
            <a:r>
              <a:rPr lang="zh-CN" altLang="en-US" sz="2400" b="1" spc="-35" dirty="0">
                <a:latin typeface="微软雅黑"/>
                <a:cs typeface="微软雅黑"/>
              </a:rPr>
              <a:t>删除</a:t>
            </a:r>
            <a:r>
              <a:rPr lang="zh-CN" altLang="en-US" sz="2400" b="1" spc="-35" dirty="0" smtClean="0">
                <a:latin typeface="微软雅黑"/>
                <a:cs typeface="微软雅黑"/>
              </a:rPr>
              <a:t>元素：</a:t>
            </a:r>
            <a:r>
              <a:rPr lang="en-US" altLang="zh-CN" sz="2400" b="1" spc="-35" dirty="0" smtClean="0">
                <a:latin typeface="微软雅黑"/>
                <a:cs typeface="微软雅黑"/>
              </a:rPr>
              <a:t>splice</a:t>
            </a:r>
            <a:endParaRPr lang="zh-CN" altLang="en-US" sz="2400" dirty="0">
              <a:latin typeface="微软雅黑"/>
              <a:cs typeface="微软雅黑"/>
            </a:endParaRPr>
          </a:p>
        </p:txBody>
      </p:sp>
      <p:sp>
        <p:nvSpPr>
          <p:cNvPr id="5" name="矩形 4"/>
          <p:cNvSpPr/>
          <p:nvPr/>
        </p:nvSpPr>
        <p:spPr>
          <a:xfrm>
            <a:off x="838200" y="2162393"/>
            <a:ext cx="6096000" cy="1815882"/>
          </a:xfrm>
          <a:prstGeom prst="rect">
            <a:avLst/>
          </a:prstGeom>
        </p:spPr>
        <p:txBody>
          <a:bodyPr>
            <a:spAutoFit/>
          </a:bodyPr>
          <a:lstStyle/>
          <a:p>
            <a:r>
              <a:rPr lang="zh-CN" altLang="en-US" sz="2800" dirty="0" smtClean="0"/>
              <a:t>语法：</a:t>
            </a:r>
            <a:endParaRPr lang="en-US" altLang="zh-CN" sz="2800" dirty="0" smtClean="0"/>
          </a:p>
          <a:p>
            <a:pPr marL="514350" indent="-514350">
              <a:buFont typeface="+mj-lt"/>
              <a:buAutoNum type="arabicPeriod"/>
            </a:pPr>
            <a:r>
              <a:rPr lang="en-US" altLang="zh-CN" sz="2800" dirty="0" smtClean="0"/>
              <a:t>splice(start</a:t>
            </a:r>
            <a:r>
              <a:rPr lang="en-US" altLang="zh-CN" sz="2800" dirty="0"/>
              <a:t>)</a:t>
            </a:r>
          </a:p>
          <a:p>
            <a:pPr marL="514350" indent="-514350">
              <a:buFont typeface="+mj-lt"/>
              <a:buAutoNum type="arabicPeriod"/>
            </a:pPr>
            <a:r>
              <a:rPr lang="en-US" altLang="zh-CN" sz="2800" dirty="0"/>
              <a:t>splice(start, </a:t>
            </a:r>
            <a:r>
              <a:rPr lang="en-US" altLang="zh-CN" sz="2800" dirty="0" err="1"/>
              <a:t>deleteCount</a:t>
            </a:r>
            <a:r>
              <a:rPr lang="en-US" altLang="zh-CN" sz="2800" dirty="0"/>
              <a:t>)</a:t>
            </a:r>
          </a:p>
          <a:p>
            <a:pPr marL="514350" indent="-514350">
              <a:buFont typeface="+mj-lt"/>
              <a:buAutoNum type="arabicPeriod"/>
            </a:pPr>
            <a:r>
              <a:rPr lang="en-US" altLang="zh-CN" sz="2800" dirty="0"/>
              <a:t>splice(start, </a:t>
            </a:r>
            <a:r>
              <a:rPr lang="en-US" altLang="zh-CN" sz="2800" dirty="0" err="1"/>
              <a:t>deleteCount</a:t>
            </a:r>
            <a:r>
              <a:rPr lang="en-US" altLang="zh-CN" sz="2800" dirty="0"/>
              <a:t>, item1</a:t>
            </a:r>
            <a:r>
              <a:rPr lang="en-US" altLang="zh-CN" sz="2800" dirty="0" smtClean="0"/>
              <a:t>)</a:t>
            </a:r>
            <a:endParaRPr lang="en-US" altLang="zh-CN" sz="2800" dirty="0"/>
          </a:p>
        </p:txBody>
      </p:sp>
      <p:sp>
        <p:nvSpPr>
          <p:cNvPr id="6" name="矩形 5"/>
          <p:cNvSpPr/>
          <p:nvPr/>
        </p:nvSpPr>
        <p:spPr>
          <a:xfrm>
            <a:off x="838200" y="4078803"/>
            <a:ext cx="10820400" cy="1886286"/>
          </a:xfrm>
          <a:prstGeom prst="rect">
            <a:avLst/>
          </a:prstGeom>
        </p:spPr>
        <p:txBody>
          <a:bodyPr wrap="square">
            <a:spAutoFit/>
          </a:bodyPr>
          <a:lstStyle/>
          <a:p>
            <a:pPr>
              <a:lnSpc>
                <a:spcPct val="150000"/>
              </a:lnSpc>
            </a:pPr>
            <a:r>
              <a:rPr lang="en-US" altLang="zh-CN" sz="2000" b="1" dirty="0">
                <a:solidFill>
                  <a:srgbClr val="C00000"/>
                </a:solidFill>
              </a:rPr>
              <a:t>start</a:t>
            </a:r>
          </a:p>
          <a:p>
            <a:pPr>
              <a:lnSpc>
                <a:spcPct val="150000"/>
              </a:lnSpc>
            </a:pPr>
            <a:r>
              <a:rPr lang="zh-CN" altLang="en-US" sz="2000" dirty="0"/>
              <a:t>指定修改的开始位置（从 </a:t>
            </a:r>
            <a:r>
              <a:rPr lang="en-US" altLang="zh-CN" sz="2000" dirty="0"/>
              <a:t>0 </a:t>
            </a:r>
            <a:r>
              <a:rPr lang="zh-CN" altLang="en-US" sz="2000" dirty="0"/>
              <a:t>计数）。如果超出了数组的长度，则从数组末尾开始添加</a:t>
            </a:r>
            <a:r>
              <a:rPr lang="zh-CN" altLang="en-US" sz="2000" dirty="0" smtClean="0"/>
              <a:t>内容；</a:t>
            </a:r>
            <a:endParaRPr lang="en-US" altLang="zh-CN" sz="2000" dirty="0" smtClean="0"/>
          </a:p>
          <a:p>
            <a:pPr>
              <a:lnSpc>
                <a:spcPct val="150000"/>
              </a:lnSpc>
            </a:pPr>
            <a:r>
              <a:rPr lang="en-US" altLang="zh-CN" sz="2000" b="1" dirty="0" err="1" smtClean="0">
                <a:solidFill>
                  <a:srgbClr val="C00000"/>
                </a:solidFill>
              </a:rPr>
              <a:t>deleteCount</a:t>
            </a:r>
            <a:endParaRPr lang="zh-CN" altLang="en-US" sz="2000" b="1" dirty="0">
              <a:solidFill>
                <a:srgbClr val="C00000"/>
              </a:solidFill>
            </a:endParaRPr>
          </a:p>
          <a:p>
            <a:pPr>
              <a:lnSpc>
                <a:spcPct val="150000"/>
              </a:lnSpc>
            </a:pPr>
            <a:r>
              <a:rPr lang="zh-CN" altLang="en-US" sz="2000" dirty="0"/>
              <a:t>整数，表示要移除的数组元素的个数。如果 </a:t>
            </a:r>
            <a:r>
              <a:rPr lang="en-US" altLang="zh-CN" sz="2000" dirty="0" err="1"/>
              <a:t>deleteCount</a:t>
            </a:r>
            <a:r>
              <a:rPr lang="en-US" altLang="zh-CN" sz="2000" dirty="0"/>
              <a:t> </a:t>
            </a:r>
            <a:r>
              <a:rPr lang="zh-CN" altLang="en-US" sz="2000" dirty="0"/>
              <a:t>是 </a:t>
            </a:r>
            <a:r>
              <a:rPr lang="en-US" altLang="zh-CN" sz="2000" dirty="0"/>
              <a:t>0 </a:t>
            </a:r>
            <a:r>
              <a:rPr lang="zh-CN" altLang="en-US" sz="2000" dirty="0"/>
              <a:t>或者</a:t>
            </a:r>
            <a:r>
              <a:rPr lang="zh-CN" altLang="en-US" sz="2000" dirty="0" smtClean="0"/>
              <a:t>负数，表示添加元素。</a:t>
            </a:r>
            <a:endParaRPr lang="zh-CN" altLang="en-US" sz="2000" dirty="0"/>
          </a:p>
        </p:txBody>
      </p:sp>
      <p:sp>
        <p:nvSpPr>
          <p:cNvPr id="7" name="矩形 6"/>
          <p:cNvSpPr/>
          <p:nvPr/>
        </p:nvSpPr>
        <p:spPr>
          <a:xfrm>
            <a:off x="838200" y="6456878"/>
            <a:ext cx="11201400" cy="369332"/>
          </a:xfrm>
          <a:prstGeom prst="rect">
            <a:avLst/>
          </a:prstGeom>
        </p:spPr>
        <p:txBody>
          <a:bodyPr wrap="square">
            <a:spAutoFit/>
          </a:bodyPr>
          <a:lstStyle/>
          <a:p>
            <a:r>
              <a:rPr lang="en-US" altLang="zh-CN" dirty="0"/>
              <a:t>https://developer.mozilla.org/zh-CN/docs/Web/JavaScript/Reference/Global_Objects/Array/splice</a:t>
            </a:r>
            <a:endParaRPr lang="zh-CN" altLang="en-US" dirty="0"/>
          </a:p>
        </p:txBody>
      </p:sp>
    </p:spTree>
    <p:extLst>
      <p:ext uri="{BB962C8B-B14F-4D97-AF65-F5344CB8AC3E}">
        <p14:creationId xmlns:p14="http://schemas.microsoft.com/office/powerpoint/2010/main" val="5239135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7"/>
          <p:cNvSpPr txBox="1"/>
          <p:nvPr/>
        </p:nvSpPr>
        <p:spPr>
          <a:xfrm>
            <a:off x="876300" y="1781309"/>
            <a:ext cx="7200900" cy="1066959"/>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AC2B25"/>
                </a:solidFill>
                <a:latin typeface="宋体"/>
                <a:cs typeface="宋体"/>
              </a:rPr>
              <a:t>根据数据生成柱形图</a:t>
            </a:r>
            <a:endParaRPr sz="2800" dirty="0">
              <a:latin typeface="宋体"/>
              <a:cs typeface="宋体"/>
            </a:endParaRPr>
          </a:p>
          <a:p>
            <a:pPr marL="12700">
              <a:lnSpc>
                <a:spcPct val="100000"/>
              </a:lnSpc>
              <a:spcBef>
                <a:spcPts val="2680"/>
              </a:spcBef>
            </a:pPr>
            <a:r>
              <a:rPr spc="-30" dirty="0">
                <a:solidFill>
                  <a:srgbClr val="252525"/>
                </a:solidFill>
                <a:latin typeface="宋体"/>
                <a:cs typeface="宋体"/>
              </a:rPr>
              <a:t>需求：</a:t>
            </a:r>
            <a:r>
              <a:rPr spc="-450" dirty="0">
                <a:solidFill>
                  <a:srgbClr val="252525"/>
                </a:solidFill>
                <a:latin typeface="宋体"/>
                <a:cs typeface="宋体"/>
              </a:rPr>
              <a:t> </a:t>
            </a:r>
            <a:r>
              <a:rPr spc="-30" dirty="0">
                <a:solidFill>
                  <a:srgbClr val="252525"/>
                </a:solidFill>
                <a:latin typeface="宋体"/>
                <a:cs typeface="宋体"/>
              </a:rPr>
              <a:t>用户输入四个季度的数据，可以生成柱形图</a:t>
            </a:r>
            <a:endParaRPr dirty="0">
              <a:latin typeface="宋体"/>
              <a:cs typeface="宋体"/>
            </a:endParaRPr>
          </a:p>
        </p:txBody>
      </p:sp>
      <p:pic>
        <p:nvPicPr>
          <p:cNvPr id="2" name="图片 1"/>
          <p:cNvPicPr>
            <a:picLocks noChangeAspect="1"/>
          </p:cNvPicPr>
          <p:nvPr/>
        </p:nvPicPr>
        <p:blipFill>
          <a:blip r:embed="rId2"/>
          <a:stretch>
            <a:fillRect/>
          </a:stretch>
        </p:blipFill>
        <p:spPr>
          <a:xfrm>
            <a:off x="304800" y="3417838"/>
            <a:ext cx="5373038" cy="2590800"/>
          </a:xfrm>
          <a:prstGeom prst="rect">
            <a:avLst/>
          </a:prstGeom>
        </p:spPr>
      </p:pic>
      <p:sp>
        <p:nvSpPr>
          <p:cNvPr id="3" name="灯片编号占位符 2"/>
          <p:cNvSpPr>
            <a:spLocks noGrp="1"/>
          </p:cNvSpPr>
          <p:nvPr>
            <p:ph type="sldNum" sz="quarter" idx="12"/>
          </p:nvPr>
        </p:nvSpPr>
        <p:spPr/>
        <p:txBody>
          <a:bodyPr/>
          <a:lstStyle/>
          <a:p>
            <a:fld id="{B6F15528-21DE-4FAA-801E-634DDDAF4B2B}" type="slidenum">
              <a:rPr lang="en-US" altLang="zh-CN" smtClean="0"/>
              <a:pPr/>
              <a:t>38</a:t>
            </a:fld>
            <a:endParaRPr lang="zh-CN" altLang="en-US"/>
          </a:p>
        </p:txBody>
      </p:sp>
      <p:sp>
        <p:nvSpPr>
          <p:cNvPr id="4" name="标题 3"/>
          <p:cNvSpPr>
            <a:spLocks noGrp="1"/>
          </p:cNvSpPr>
          <p:nvPr>
            <p:ph type="title"/>
          </p:nvPr>
        </p:nvSpPr>
        <p:spPr>
          <a:xfrm>
            <a:off x="762000" y="304800"/>
            <a:ext cx="10515600" cy="1325562"/>
          </a:xfrm>
        </p:spPr>
        <p:txBody>
          <a:bodyPr/>
          <a:lstStyle/>
          <a:p>
            <a:r>
              <a:rPr lang="zh-CN" altLang="en-US" dirty="0" smtClean="0"/>
              <a:t>数组</a:t>
            </a:r>
            <a:endParaRPr lang="zh-CN" altLang="en-US" dirty="0"/>
          </a:p>
        </p:txBody>
      </p:sp>
      <p:sp>
        <p:nvSpPr>
          <p:cNvPr id="5" name="矩形 4"/>
          <p:cNvSpPr/>
          <p:nvPr/>
        </p:nvSpPr>
        <p:spPr>
          <a:xfrm>
            <a:off x="5830238" y="3106036"/>
            <a:ext cx="6361762" cy="3323987"/>
          </a:xfrm>
          <a:prstGeom prst="rect">
            <a:avLst/>
          </a:prstGeom>
        </p:spPr>
        <p:txBody>
          <a:bodyPr wrap="square">
            <a:spAutoFit/>
          </a:bodyPr>
          <a:lstStyle/>
          <a:p>
            <a:pPr>
              <a:lnSpc>
                <a:spcPct val="150000"/>
              </a:lnSpc>
            </a:pPr>
            <a:r>
              <a:rPr lang="zh-CN" altLang="en-US" sz="2000" dirty="0">
                <a:latin typeface="+mj-ea"/>
                <a:ea typeface="+mj-ea"/>
              </a:rPr>
              <a:t>分析：</a:t>
            </a:r>
          </a:p>
          <a:p>
            <a:pPr>
              <a:lnSpc>
                <a:spcPct val="150000"/>
              </a:lnSpc>
            </a:pPr>
            <a:r>
              <a:rPr lang="zh-CN" altLang="en-US" sz="2000" dirty="0">
                <a:latin typeface="+mj-ea"/>
                <a:ea typeface="+mj-ea"/>
              </a:rPr>
              <a:t>①：需要输入</a:t>
            </a:r>
            <a:r>
              <a:rPr lang="en-US" altLang="zh-CN" sz="2000" dirty="0">
                <a:latin typeface="+mj-ea"/>
                <a:ea typeface="+mj-ea"/>
              </a:rPr>
              <a:t>4</a:t>
            </a:r>
            <a:r>
              <a:rPr lang="zh-CN" altLang="en-US" sz="2000" dirty="0">
                <a:latin typeface="+mj-ea"/>
                <a:ea typeface="+mj-ea"/>
              </a:rPr>
              <a:t>次，所以可以把</a:t>
            </a:r>
            <a:r>
              <a:rPr lang="en-US" altLang="zh-CN" sz="2000" dirty="0">
                <a:latin typeface="+mj-ea"/>
                <a:ea typeface="+mj-ea"/>
              </a:rPr>
              <a:t>4</a:t>
            </a:r>
            <a:r>
              <a:rPr lang="zh-CN" altLang="en-US" sz="2000" dirty="0">
                <a:latin typeface="+mj-ea"/>
                <a:ea typeface="+mj-ea"/>
              </a:rPr>
              <a:t>个数据放到一个数组</a:t>
            </a:r>
            <a:r>
              <a:rPr lang="zh-CN" altLang="en-US" sz="2000" dirty="0" smtClean="0">
                <a:latin typeface="+mj-ea"/>
                <a:ea typeface="+mj-ea"/>
              </a:rPr>
              <a:t>里面，利用</a:t>
            </a:r>
            <a:r>
              <a:rPr lang="zh-CN" altLang="en-US" sz="2000" dirty="0">
                <a:latin typeface="+mj-ea"/>
                <a:ea typeface="+mj-ea"/>
              </a:rPr>
              <a:t>循环，弹出</a:t>
            </a:r>
            <a:r>
              <a:rPr lang="en-US" altLang="zh-CN" sz="2000" dirty="0">
                <a:latin typeface="+mj-ea"/>
                <a:ea typeface="+mj-ea"/>
              </a:rPr>
              <a:t>4</a:t>
            </a:r>
            <a:r>
              <a:rPr lang="zh-CN" altLang="en-US" sz="2000" dirty="0">
                <a:latin typeface="+mj-ea"/>
                <a:ea typeface="+mj-ea"/>
              </a:rPr>
              <a:t>次框，同时存到数组</a:t>
            </a:r>
            <a:r>
              <a:rPr lang="zh-CN" altLang="en-US" sz="2000" dirty="0" smtClean="0">
                <a:latin typeface="+mj-ea"/>
                <a:ea typeface="+mj-ea"/>
              </a:rPr>
              <a:t>里面。</a:t>
            </a:r>
            <a:endParaRPr lang="zh-CN" altLang="en-US" sz="2000" dirty="0">
              <a:latin typeface="+mj-ea"/>
              <a:ea typeface="+mj-ea"/>
            </a:endParaRPr>
          </a:p>
          <a:p>
            <a:pPr>
              <a:lnSpc>
                <a:spcPct val="150000"/>
              </a:lnSpc>
            </a:pPr>
            <a:r>
              <a:rPr lang="zh-CN" altLang="en-US" sz="2000" dirty="0">
                <a:latin typeface="+mj-ea"/>
                <a:ea typeface="+mj-ea"/>
              </a:rPr>
              <a:t>②：遍历该数组，根据数据生成</a:t>
            </a:r>
            <a:r>
              <a:rPr lang="en-US" altLang="zh-CN" sz="2000" dirty="0">
                <a:latin typeface="+mj-ea"/>
                <a:ea typeface="+mj-ea"/>
              </a:rPr>
              <a:t>4</a:t>
            </a:r>
            <a:r>
              <a:rPr lang="zh-CN" altLang="en-US" sz="2000" dirty="0">
                <a:latin typeface="+mj-ea"/>
                <a:ea typeface="+mj-ea"/>
              </a:rPr>
              <a:t>个柱形图，渲染打印到页面</a:t>
            </a:r>
            <a:r>
              <a:rPr lang="zh-CN" altLang="en-US" sz="2000" dirty="0" smtClean="0">
                <a:latin typeface="+mj-ea"/>
                <a:ea typeface="+mj-ea"/>
              </a:rPr>
              <a:t>中，柱形图</a:t>
            </a:r>
            <a:r>
              <a:rPr lang="zh-CN" altLang="en-US" sz="2000" dirty="0">
                <a:latin typeface="+mj-ea"/>
                <a:ea typeface="+mj-ea"/>
              </a:rPr>
              <a:t>就是</a:t>
            </a:r>
            <a:r>
              <a:rPr lang="en-US" altLang="zh-CN" sz="2000" dirty="0">
                <a:latin typeface="+mj-ea"/>
                <a:ea typeface="+mj-ea"/>
              </a:rPr>
              <a:t>div</a:t>
            </a:r>
            <a:r>
              <a:rPr lang="zh-CN" altLang="en-US" sz="2000" dirty="0">
                <a:latin typeface="+mj-ea"/>
                <a:ea typeface="+mj-ea"/>
              </a:rPr>
              <a:t>盒子，设置宽度固定，高度是用户输入的</a:t>
            </a:r>
            <a:r>
              <a:rPr lang="zh-CN" altLang="en-US" sz="2000" dirty="0" smtClean="0">
                <a:latin typeface="+mj-ea"/>
                <a:ea typeface="+mj-ea"/>
              </a:rPr>
              <a:t>数据。</a:t>
            </a:r>
            <a:endParaRPr lang="zh-CN" altLang="en-US" sz="2000" dirty="0">
              <a:latin typeface="+mj-ea"/>
              <a:ea typeface="+mj-ea"/>
            </a:endParaRPr>
          </a:p>
          <a:p>
            <a:pPr>
              <a:lnSpc>
                <a:spcPct val="150000"/>
              </a:lnSpc>
            </a:pPr>
            <a:r>
              <a:rPr lang="en-US" altLang="zh-CN" sz="2000" dirty="0">
                <a:latin typeface="+mj-ea"/>
                <a:ea typeface="+mj-ea"/>
              </a:rPr>
              <a:t>div</a:t>
            </a:r>
            <a:r>
              <a:rPr lang="zh-CN" altLang="en-US" sz="2000" dirty="0">
                <a:latin typeface="+mj-ea"/>
                <a:ea typeface="+mj-ea"/>
              </a:rPr>
              <a:t>里面包含显示的数字</a:t>
            </a:r>
            <a:r>
              <a:rPr lang="zh-CN" altLang="en-US" sz="2000" dirty="0" smtClean="0">
                <a:latin typeface="+mj-ea"/>
                <a:ea typeface="+mj-ea"/>
              </a:rPr>
              <a:t>和第</a:t>
            </a:r>
            <a:r>
              <a:rPr lang="en-US" altLang="zh-CN" sz="2000" dirty="0">
                <a:latin typeface="+mj-ea"/>
                <a:ea typeface="+mj-ea"/>
              </a:rPr>
              <a:t>n</a:t>
            </a:r>
            <a:r>
              <a:rPr lang="zh-CN" altLang="en-US" sz="2000" dirty="0" smtClean="0">
                <a:latin typeface="+mj-ea"/>
                <a:ea typeface="+mj-ea"/>
              </a:rPr>
              <a:t>季度。</a:t>
            </a:r>
            <a:endParaRPr lang="zh-CN" altLang="en-US" sz="2000" dirty="0">
              <a:latin typeface="+mj-ea"/>
              <a:ea typeface="+mj-ea"/>
            </a:endParaRPr>
          </a:p>
        </p:txBody>
      </p:sp>
    </p:spTree>
    <p:extLst>
      <p:ext uri="{BB962C8B-B14F-4D97-AF65-F5344CB8AC3E}">
        <p14:creationId xmlns:p14="http://schemas.microsoft.com/office/powerpoint/2010/main" val="26227555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952499" y="1447800"/>
            <a:ext cx="11010900" cy="2162130"/>
          </a:xfrm>
          <a:prstGeom prst="rect">
            <a:avLst/>
          </a:prstGeom>
        </p:spPr>
        <p:txBody>
          <a:bodyPr vert="horz" wrap="square" lIns="0" tIns="12700" rIns="0" bIns="0" rtlCol="0">
            <a:spAutoFit/>
          </a:bodyPr>
          <a:lstStyle/>
          <a:p>
            <a:pPr marL="12700">
              <a:lnSpc>
                <a:spcPct val="150000"/>
              </a:lnSpc>
              <a:spcBef>
                <a:spcPts val="100"/>
              </a:spcBef>
            </a:pPr>
            <a:r>
              <a:rPr lang="en-US" altLang="zh-CN" sz="3200" b="1" spc="-40" dirty="0" smtClean="0">
                <a:solidFill>
                  <a:srgbClr val="C00000"/>
                </a:solidFill>
                <a:latin typeface="宋体"/>
                <a:cs typeface="宋体"/>
              </a:rPr>
              <a:t>5</a:t>
            </a:r>
            <a:r>
              <a:rPr lang="zh-CN" altLang="en-US" sz="3200" b="1" spc="-40" dirty="0" smtClean="0">
                <a:solidFill>
                  <a:srgbClr val="C00000"/>
                </a:solidFill>
                <a:latin typeface="宋体"/>
                <a:cs typeface="宋体"/>
              </a:rPr>
              <a:t>、</a:t>
            </a:r>
            <a:r>
              <a:rPr lang="en-US" altLang="zh-CN" sz="3200" b="1" spc="-40" dirty="0" smtClean="0">
                <a:solidFill>
                  <a:srgbClr val="C00000"/>
                </a:solidFill>
                <a:latin typeface="宋体"/>
                <a:cs typeface="宋体"/>
              </a:rPr>
              <a:t>sort()</a:t>
            </a:r>
            <a:r>
              <a:rPr lang="zh-CN" altLang="en-US" sz="3200" b="1" spc="-40" dirty="0" smtClean="0">
                <a:solidFill>
                  <a:srgbClr val="C00000"/>
                </a:solidFill>
                <a:latin typeface="宋体"/>
                <a:cs typeface="宋体"/>
              </a:rPr>
              <a:t>方法</a:t>
            </a:r>
            <a:endParaRPr lang="en-US" sz="2000" b="1" spc="-30" dirty="0" smtClean="0">
              <a:solidFill>
                <a:srgbClr val="C00000"/>
              </a:solidFill>
              <a:latin typeface="宋体"/>
              <a:cs typeface="宋体"/>
            </a:endParaRPr>
          </a:p>
          <a:p>
            <a:pPr marL="12700">
              <a:lnSpc>
                <a:spcPct val="150000"/>
              </a:lnSpc>
              <a:spcBef>
                <a:spcPts val="100"/>
              </a:spcBef>
            </a:pPr>
            <a:r>
              <a:rPr lang="zh-CN" altLang="en-US" sz="2000" spc="-30" dirty="0" smtClean="0">
                <a:solidFill>
                  <a:srgbClr val="252525"/>
                </a:solidFill>
                <a:latin typeface="宋体"/>
                <a:cs typeface="宋体"/>
              </a:rPr>
              <a:t>用于对数组进行升序排序。在排序时，</a:t>
            </a:r>
            <a:r>
              <a:rPr lang="en-US" altLang="zh-CN" sz="2000" spc="-30" dirty="0" smtClean="0">
                <a:solidFill>
                  <a:srgbClr val="252525"/>
                </a:solidFill>
                <a:latin typeface="宋体"/>
                <a:cs typeface="宋体"/>
              </a:rPr>
              <a:t>sort</a:t>
            </a:r>
            <a:r>
              <a:rPr lang="zh-CN" altLang="en-US" sz="2000" spc="-30" dirty="0" smtClean="0">
                <a:solidFill>
                  <a:srgbClr val="252525"/>
                </a:solidFill>
                <a:latin typeface="宋体"/>
                <a:cs typeface="宋体"/>
              </a:rPr>
              <a:t>方法会调用每个数组元素的</a:t>
            </a:r>
            <a:r>
              <a:rPr lang="en-US" altLang="zh-CN" sz="2000" spc="-30" dirty="0" err="1" smtClean="0">
                <a:solidFill>
                  <a:srgbClr val="252525"/>
                </a:solidFill>
                <a:latin typeface="宋体"/>
                <a:cs typeface="宋体"/>
              </a:rPr>
              <a:t>toString</a:t>
            </a:r>
            <a:r>
              <a:rPr lang="en-US" altLang="zh-CN" sz="2000" spc="-30" dirty="0" smtClean="0">
                <a:solidFill>
                  <a:srgbClr val="252525"/>
                </a:solidFill>
                <a:latin typeface="宋体"/>
                <a:cs typeface="宋体"/>
              </a:rPr>
              <a:t>()</a:t>
            </a:r>
            <a:r>
              <a:rPr lang="zh-CN" altLang="en-US" sz="2000" spc="-30" dirty="0" smtClean="0">
                <a:solidFill>
                  <a:srgbClr val="252525"/>
                </a:solidFill>
                <a:latin typeface="宋体"/>
                <a:cs typeface="宋体"/>
              </a:rPr>
              <a:t>方法，然后比较得到的字符串，以确定如何排序。</a:t>
            </a:r>
            <a:endParaRPr lang="en-US" altLang="zh-CN" sz="2000" spc="-30" dirty="0" smtClean="0">
              <a:solidFill>
                <a:srgbClr val="252525"/>
              </a:solidFill>
              <a:latin typeface="宋体"/>
              <a:cs typeface="宋体"/>
            </a:endParaRPr>
          </a:p>
          <a:p>
            <a:pPr marL="12700">
              <a:lnSpc>
                <a:spcPct val="150000"/>
              </a:lnSpc>
              <a:spcBef>
                <a:spcPts val="100"/>
              </a:spcBef>
            </a:pPr>
            <a:r>
              <a:rPr lang="zh-CN" altLang="en-US" sz="2000" spc="-30" dirty="0" smtClean="0">
                <a:solidFill>
                  <a:srgbClr val="252525"/>
                </a:solidFill>
                <a:latin typeface="宋体"/>
                <a:cs typeface="宋体"/>
              </a:rPr>
              <a:t>例如：</a:t>
            </a:r>
            <a:endParaRPr lang="en-US" altLang="zh-CN" sz="2000" spc="-30" dirty="0" smtClean="0">
              <a:solidFill>
                <a:srgbClr val="252525"/>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39</a:t>
            </a:fld>
            <a:endParaRPr lang="zh-CN" altLang="en-US"/>
          </a:p>
        </p:txBody>
      </p:sp>
      <p:pic>
        <p:nvPicPr>
          <p:cNvPr id="2" name="图片 1"/>
          <p:cNvPicPr>
            <a:picLocks noChangeAspect="1"/>
          </p:cNvPicPr>
          <p:nvPr/>
        </p:nvPicPr>
        <p:blipFill>
          <a:blip r:embed="rId2"/>
          <a:stretch>
            <a:fillRect/>
          </a:stretch>
        </p:blipFill>
        <p:spPr>
          <a:xfrm>
            <a:off x="2362200" y="3614755"/>
            <a:ext cx="7021406" cy="2499424"/>
          </a:xfrm>
          <a:prstGeom prst="rect">
            <a:avLst/>
          </a:prstGeom>
        </p:spPr>
      </p:pic>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14402330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762000" y="1669871"/>
            <a:ext cx="8763000" cy="4047262"/>
          </a:xfrm>
          <a:prstGeom prst="rect">
            <a:avLst/>
          </a:prstGeom>
        </p:spPr>
        <p:txBody>
          <a:bodyPr vert="horz" wrap="square" lIns="0" tIns="12700" rIns="0" bIns="0" rtlCol="0">
            <a:spAutoFit/>
          </a:bodyPr>
          <a:lstStyle/>
          <a:p>
            <a:pPr marL="12700">
              <a:lnSpc>
                <a:spcPct val="150000"/>
              </a:lnSpc>
              <a:spcBef>
                <a:spcPts val="100"/>
              </a:spcBef>
            </a:pPr>
            <a:r>
              <a:rPr lang="en-US" altLang="zh-CN" sz="2800" b="1" spc="-40" dirty="0" smtClean="0">
                <a:solidFill>
                  <a:srgbClr val="C00000"/>
                </a:solidFill>
                <a:latin typeface="宋体"/>
                <a:cs typeface="宋体"/>
              </a:rPr>
              <a:t>6</a:t>
            </a:r>
            <a:r>
              <a:rPr lang="zh-CN" altLang="en-US" sz="2800" b="1" spc="-40" dirty="0" smtClean="0">
                <a:solidFill>
                  <a:srgbClr val="C00000"/>
                </a:solidFill>
                <a:latin typeface="宋体"/>
                <a:cs typeface="宋体"/>
              </a:rPr>
              <a:t>、</a:t>
            </a:r>
            <a:r>
              <a:rPr lang="en-US" altLang="zh-CN" sz="2800" b="1" spc="-40" dirty="0" smtClean="0">
                <a:solidFill>
                  <a:srgbClr val="C00000"/>
                </a:solidFill>
                <a:latin typeface="宋体"/>
                <a:cs typeface="宋体"/>
              </a:rPr>
              <a:t>reverse()</a:t>
            </a:r>
            <a:r>
              <a:rPr lang="zh-CN" altLang="en-US" sz="2800" b="1" spc="-40" dirty="0" smtClean="0">
                <a:solidFill>
                  <a:srgbClr val="C00000"/>
                </a:solidFill>
                <a:latin typeface="宋体"/>
                <a:cs typeface="宋体"/>
              </a:rPr>
              <a:t>方法</a:t>
            </a:r>
            <a:endParaRPr lang="en-US" b="1" spc="-30" dirty="0" smtClean="0">
              <a:solidFill>
                <a:srgbClr val="C00000"/>
              </a:solidFill>
              <a:latin typeface="宋体"/>
              <a:cs typeface="宋体"/>
            </a:endParaRPr>
          </a:p>
          <a:p>
            <a:pPr marL="12700">
              <a:lnSpc>
                <a:spcPct val="150000"/>
              </a:lnSpc>
              <a:spcBef>
                <a:spcPts val="100"/>
              </a:spcBef>
            </a:pPr>
            <a:r>
              <a:rPr lang="zh-CN" altLang="en-US" sz="2000" spc="-30" dirty="0" smtClean="0">
                <a:solidFill>
                  <a:srgbClr val="252525"/>
                </a:solidFill>
                <a:latin typeface="宋体"/>
                <a:cs typeface="宋体"/>
              </a:rPr>
              <a:t>用于对数组进行</a:t>
            </a:r>
            <a:r>
              <a:rPr lang="zh-CN" altLang="en-US" sz="2000" spc="-30" dirty="0">
                <a:solidFill>
                  <a:srgbClr val="252525"/>
                </a:solidFill>
                <a:latin typeface="宋体"/>
                <a:cs typeface="宋体"/>
              </a:rPr>
              <a:t>逆</a:t>
            </a:r>
            <a:r>
              <a:rPr lang="zh-CN" altLang="en-US" sz="2000" spc="-30" dirty="0" smtClean="0">
                <a:solidFill>
                  <a:srgbClr val="252525"/>
                </a:solidFill>
                <a:latin typeface="宋体"/>
                <a:cs typeface="宋体"/>
              </a:rPr>
              <a:t>序。</a:t>
            </a:r>
            <a:endParaRPr lang="en-US" altLang="zh-CN" sz="2000" spc="-30" dirty="0" smtClean="0">
              <a:solidFill>
                <a:srgbClr val="252525"/>
              </a:solidFill>
              <a:latin typeface="宋体"/>
              <a:cs typeface="宋体"/>
            </a:endParaRPr>
          </a:p>
          <a:p>
            <a:pPr marL="12700">
              <a:lnSpc>
                <a:spcPct val="150000"/>
              </a:lnSpc>
              <a:spcBef>
                <a:spcPts val="100"/>
              </a:spcBef>
            </a:pPr>
            <a:endParaRPr lang="en-US" altLang="zh-CN" sz="2000" spc="-30" dirty="0">
              <a:solidFill>
                <a:srgbClr val="252525"/>
              </a:solidFill>
              <a:latin typeface="宋体"/>
              <a:cs typeface="宋体"/>
            </a:endParaRPr>
          </a:p>
          <a:p>
            <a:pPr marL="12700">
              <a:lnSpc>
                <a:spcPct val="150000"/>
              </a:lnSpc>
              <a:spcBef>
                <a:spcPts val="100"/>
              </a:spcBef>
            </a:pPr>
            <a:r>
              <a:rPr lang="en-US" altLang="zh-CN" sz="2800" b="1" spc="-30" dirty="0" smtClean="0">
                <a:solidFill>
                  <a:srgbClr val="C00000"/>
                </a:solidFill>
                <a:latin typeface="宋体"/>
                <a:cs typeface="宋体"/>
              </a:rPr>
              <a:t>7</a:t>
            </a:r>
            <a:r>
              <a:rPr lang="zh-CN" altLang="en-US" sz="2800" b="1" spc="-30" dirty="0" smtClean="0">
                <a:solidFill>
                  <a:srgbClr val="C00000"/>
                </a:solidFill>
                <a:latin typeface="宋体"/>
                <a:cs typeface="宋体"/>
              </a:rPr>
              <a:t>、</a:t>
            </a:r>
            <a:r>
              <a:rPr lang="en-US" altLang="zh-CN" sz="2800" b="1" spc="-30" dirty="0" err="1" smtClean="0">
                <a:solidFill>
                  <a:srgbClr val="C00000"/>
                </a:solidFill>
                <a:latin typeface="宋体"/>
                <a:cs typeface="宋体"/>
              </a:rPr>
              <a:t>concat</a:t>
            </a:r>
            <a:r>
              <a:rPr lang="en-US" altLang="zh-CN" sz="2800" b="1" spc="-30" dirty="0" smtClean="0">
                <a:solidFill>
                  <a:srgbClr val="C00000"/>
                </a:solidFill>
                <a:latin typeface="宋体"/>
                <a:cs typeface="宋体"/>
              </a:rPr>
              <a:t>()</a:t>
            </a:r>
            <a:r>
              <a:rPr lang="zh-CN" altLang="en-US" sz="2800" b="1" spc="-30" dirty="0" smtClean="0">
                <a:solidFill>
                  <a:srgbClr val="C00000"/>
                </a:solidFill>
                <a:latin typeface="宋体"/>
                <a:cs typeface="宋体"/>
              </a:rPr>
              <a:t>方法</a:t>
            </a:r>
            <a:endParaRPr lang="en-US" altLang="zh-CN" sz="2800" b="1" spc="-30" dirty="0" smtClean="0">
              <a:solidFill>
                <a:srgbClr val="C00000"/>
              </a:solidFill>
              <a:latin typeface="宋体"/>
              <a:cs typeface="宋体"/>
            </a:endParaRPr>
          </a:p>
          <a:p>
            <a:pPr marL="12700">
              <a:lnSpc>
                <a:spcPct val="150000"/>
              </a:lnSpc>
              <a:spcBef>
                <a:spcPts val="100"/>
              </a:spcBef>
            </a:pPr>
            <a:r>
              <a:rPr lang="zh-CN" altLang="en-US" sz="2400" spc="-30" dirty="0">
                <a:latin typeface="宋体"/>
                <a:cs typeface="宋体"/>
              </a:rPr>
              <a:t>用于数组连接。这个方法会先创建当前数组的一个副本进行连接，并返回新的副本，原始数组内容不变。</a:t>
            </a:r>
          </a:p>
          <a:p>
            <a:pPr marL="12700">
              <a:lnSpc>
                <a:spcPct val="150000"/>
              </a:lnSpc>
              <a:spcBef>
                <a:spcPts val="100"/>
              </a:spcBef>
            </a:pPr>
            <a:endParaRPr lang="en-US" altLang="zh-CN" sz="2800" b="1" spc="-30" dirty="0" smtClean="0">
              <a:solidFill>
                <a:srgbClr val="C00000"/>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40</a:t>
            </a:fld>
            <a:endParaRPr lang="zh-CN" altLang="en-US"/>
          </a:p>
        </p:txBody>
      </p:sp>
      <p:pic>
        <p:nvPicPr>
          <p:cNvPr id="4" name="图片 3"/>
          <p:cNvPicPr>
            <a:picLocks noChangeAspect="1"/>
          </p:cNvPicPr>
          <p:nvPr/>
        </p:nvPicPr>
        <p:blipFill>
          <a:blip r:embed="rId2"/>
          <a:stretch>
            <a:fillRect/>
          </a:stretch>
        </p:blipFill>
        <p:spPr>
          <a:xfrm>
            <a:off x="5029200" y="2022764"/>
            <a:ext cx="6270172" cy="1330036"/>
          </a:xfrm>
          <a:prstGeom prst="rect">
            <a:avLst/>
          </a:prstGeom>
        </p:spPr>
      </p:pic>
      <p:pic>
        <p:nvPicPr>
          <p:cNvPr id="5" name="图片 4"/>
          <p:cNvPicPr>
            <a:picLocks noChangeAspect="1"/>
          </p:cNvPicPr>
          <p:nvPr/>
        </p:nvPicPr>
        <p:blipFill>
          <a:blip r:embed="rId3"/>
          <a:stretch>
            <a:fillRect/>
          </a:stretch>
        </p:blipFill>
        <p:spPr>
          <a:xfrm>
            <a:off x="1066800" y="5164786"/>
            <a:ext cx="7236494" cy="1538121"/>
          </a:xfrm>
          <a:prstGeom prst="rect">
            <a:avLst/>
          </a:prstGeom>
        </p:spPr>
      </p:pic>
      <p:sp>
        <p:nvSpPr>
          <p:cNvPr id="2" name="标题 1"/>
          <p:cNvSpPr>
            <a:spLocks noGrp="1"/>
          </p:cNvSpPr>
          <p:nvPr>
            <p:ph type="title"/>
          </p:nvPr>
        </p:nvSpPr>
        <p:spPr>
          <a:xfrm>
            <a:off x="685800" y="289838"/>
            <a:ext cx="10515600" cy="1325562"/>
          </a:xfrm>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36730035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655377" y="1377608"/>
            <a:ext cx="8763000" cy="5345053"/>
          </a:xfrm>
          <a:prstGeom prst="rect">
            <a:avLst/>
          </a:prstGeom>
        </p:spPr>
        <p:txBody>
          <a:bodyPr vert="horz" wrap="square" lIns="0" tIns="12700" rIns="0" bIns="0" rtlCol="0">
            <a:spAutoFit/>
          </a:bodyPr>
          <a:lstStyle/>
          <a:p>
            <a:pPr marL="12700">
              <a:lnSpc>
                <a:spcPct val="150000"/>
              </a:lnSpc>
              <a:spcBef>
                <a:spcPts val="100"/>
              </a:spcBef>
            </a:pPr>
            <a:r>
              <a:rPr lang="en-US" altLang="zh-CN" sz="2800" b="1" spc="-40" dirty="0" smtClean="0">
                <a:solidFill>
                  <a:srgbClr val="AC2B25"/>
                </a:solidFill>
                <a:latin typeface="宋体"/>
                <a:cs typeface="宋体"/>
              </a:rPr>
              <a:t>8</a:t>
            </a:r>
            <a:r>
              <a:rPr lang="zh-CN" altLang="en-US" sz="2800" b="1" spc="-40" dirty="0" smtClean="0">
                <a:solidFill>
                  <a:srgbClr val="AC2B25"/>
                </a:solidFill>
                <a:latin typeface="宋体"/>
                <a:cs typeface="宋体"/>
              </a:rPr>
              <a:t>、</a:t>
            </a:r>
            <a:r>
              <a:rPr lang="en-US" altLang="zh-CN" sz="2800" b="1" spc="-40" dirty="0" smtClean="0">
                <a:solidFill>
                  <a:srgbClr val="AC2B25"/>
                </a:solidFill>
                <a:latin typeface="宋体"/>
                <a:cs typeface="宋体"/>
              </a:rPr>
              <a:t>slice()</a:t>
            </a:r>
            <a:r>
              <a:rPr lang="zh-CN" altLang="en-US" sz="2800" b="1" spc="-40" dirty="0" smtClean="0">
                <a:solidFill>
                  <a:srgbClr val="AC2B25"/>
                </a:solidFill>
                <a:latin typeface="宋体"/>
                <a:cs typeface="宋体"/>
              </a:rPr>
              <a:t>方法</a:t>
            </a:r>
            <a:endParaRPr lang="en-US" b="1"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用于对数组进行切片，原数组不变。格式如下：</a:t>
            </a:r>
            <a:r>
              <a:rPr lang="zh-CN" altLang="en-US" spc="-30" dirty="0" smtClean="0">
                <a:solidFill>
                  <a:srgbClr val="FF0000"/>
                </a:solidFill>
                <a:latin typeface="宋体"/>
                <a:cs typeface="宋体"/>
              </a:rPr>
              <a:t>数组</a:t>
            </a:r>
            <a:r>
              <a:rPr lang="en-US" altLang="zh-CN" spc="-30" dirty="0" smtClean="0">
                <a:solidFill>
                  <a:srgbClr val="FF0000"/>
                </a:solidFill>
                <a:latin typeface="宋体"/>
                <a:cs typeface="宋体"/>
              </a:rPr>
              <a:t>.slice(</a:t>
            </a:r>
            <a:r>
              <a:rPr lang="zh-CN" altLang="en-US" spc="-30" dirty="0" smtClean="0">
                <a:solidFill>
                  <a:srgbClr val="FF0000"/>
                </a:solidFill>
                <a:latin typeface="宋体"/>
                <a:cs typeface="宋体"/>
              </a:rPr>
              <a:t>开始下标</a:t>
            </a:r>
            <a:r>
              <a:rPr lang="en-US" altLang="zh-CN" spc="-30" dirty="0" smtClean="0">
                <a:solidFill>
                  <a:srgbClr val="FF0000"/>
                </a:solidFill>
                <a:latin typeface="宋体"/>
                <a:cs typeface="宋体"/>
              </a:rPr>
              <a:t>, </a:t>
            </a:r>
            <a:r>
              <a:rPr lang="zh-CN" altLang="en-US" spc="-30" dirty="0" smtClean="0">
                <a:solidFill>
                  <a:srgbClr val="FF0000"/>
                </a:solidFill>
                <a:latin typeface="宋体"/>
                <a:cs typeface="宋体"/>
              </a:rPr>
              <a:t>结束下标</a:t>
            </a:r>
            <a:r>
              <a:rPr lang="en-US" altLang="zh-CN" spc="-30" dirty="0" smtClean="0">
                <a:solidFill>
                  <a:srgbClr val="FF0000"/>
                </a:solidFill>
                <a:latin typeface="宋体"/>
                <a:cs typeface="宋体"/>
              </a:rPr>
              <a:t>)</a:t>
            </a:r>
          </a:p>
          <a:p>
            <a:pPr marL="12700">
              <a:lnSpc>
                <a:spcPct val="150000"/>
              </a:lnSpc>
              <a:spcBef>
                <a:spcPts val="100"/>
              </a:spcBef>
            </a:pPr>
            <a:r>
              <a:rPr lang="en-US" altLang="zh-CN" spc="-30" dirty="0">
                <a:solidFill>
                  <a:srgbClr val="252525"/>
                </a:solidFill>
                <a:latin typeface="宋体"/>
                <a:cs typeface="宋体"/>
              </a:rPr>
              <a:t>s</a:t>
            </a:r>
            <a:r>
              <a:rPr lang="en-US" altLang="zh-CN" spc="-30" dirty="0" smtClean="0">
                <a:solidFill>
                  <a:srgbClr val="252525"/>
                </a:solidFill>
                <a:latin typeface="宋体"/>
                <a:cs typeface="宋体"/>
              </a:rPr>
              <a:t>lice()</a:t>
            </a:r>
            <a:r>
              <a:rPr lang="zh-CN" altLang="en-US" spc="-30" dirty="0" smtClean="0">
                <a:solidFill>
                  <a:srgbClr val="252525"/>
                </a:solidFill>
                <a:latin typeface="宋体"/>
                <a:cs typeface="宋体"/>
              </a:rPr>
              <a:t>返回从原数组中截取下来的新数组，新数组包含开始下标元素，不包含结束下标元素。结束下标可以省略，下标可以为正序下标或逆序下标。例如定义数组</a:t>
            </a:r>
            <a:r>
              <a:rPr lang="en-US" altLang="zh-CN" spc="-30" dirty="0" err="1" smtClean="0">
                <a:solidFill>
                  <a:srgbClr val="252525"/>
                </a:solidFill>
                <a:latin typeface="宋体"/>
                <a:cs typeface="宋体"/>
              </a:rPr>
              <a:t>arr</a:t>
            </a:r>
            <a:r>
              <a:rPr lang="zh-CN" altLang="en-US" spc="-30" dirty="0" smtClean="0">
                <a:solidFill>
                  <a:srgbClr val="252525"/>
                </a:solidFill>
                <a:latin typeface="宋体"/>
                <a:cs typeface="宋体"/>
              </a:rPr>
              <a:t>后，其正序和逆序下标：</a:t>
            </a:r>
            <a:endParaRPr lang="en-US" altLang="zh-CN"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数组</a:t>
            </a:r>
            <a:r>
              <a:rPr lang="en-US" altLang="zh-CN" spc="-30" dirty="0" err="1" smtClean="0">
                <a:solidFill>
                  <a:srgbClr val="252525"/>
                </a:solidFill>
                <a:latin typeface="宋体"/>
                <a:cs typeface="宋体"/>
              </a:rPr>
              <a:t>arr</a:t>
            </a:r>
            <a:r>
              <a:rPr lang="en-US" altLang="zh-CN" spc="-30" dirty="0" smtClean="0">
                <a:solidFill>
                  <a:srgbClr val="252525"/>
                </a:solidFill>
                <a:latin typeface="宋体"/>
                <a:cs typeface="宋体"/>
              </a:rPr>
              <a:t> </a:t>
            </a:r>
            <a:r>
              <a:rPr lang="zh-CN" altLang="en-US" spc="-30" dirty="0" smtClean="0">
                <a:solidFill>
                  <a:srgbClr val="252525"/>
                </a:solidFill>
                <a:latin typeface="宋体"/>
                <a:cs typeface="宋体"/>
              </a:rPr>
              <a:t>：</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正序下标：</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逆序下标：</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使用</a:t>
            </a:r>
            <a:r>
              <a:rPr lang="en-US" altLang="zh-CN" spc="-30" dirty="0" smtClean="0">
                <a:solidFill>
                  <a:srgbClr val="252525"/>
                </a:solidFill>
                <a:latin typeface="宋体"/>
                <a:cs typeface="宋体"/>
              </a:rPr>
              <a:t>slice()</a:t>
            </a:r>
            <a:r>
              <a:rPr lang="zh-CN" altLang="en-US" spc="-30" dirty="0" smtClean="0">
                <a:solidFill>
                  <a:srgbClr val="252525"/>
                </a:solidFill>
                <a:latin typeface="宋体"/>
                <a:cs typeface="宋体"/>
              </a:rPr>
              <a:t>对</a:t>
            </a:r>
            <a:r>
              <a:rPr lang="en-US" altLang="zh-CN" spc="-30" dirty="0" err="1" smtClean="0">
                <a:solidFill>
                  <a:srgbClr val="252525"/>
                </a:solidFill>
                <a:latin typeface="宋体"/>
                <a:cs typeface="宋体"/>
              </a:rPr>
              <a:t>arr</a:t>
            </a:r>
            <a:r>
              <a:rPr lang="zh-CN" altLang="en-US" spc="-30" dirty="0" smtClean="0">
                <a:solidFill>
                  <a:srgbClr val="252525"/>
                </a:solidFill>
                <a:latin typeface="宋体"/>
                <a:cs typeface="宋体"/>
              </a:rPr>
              <a:t>进行切片，代码如下：</a:t>
            </a:r>
            <a:endParaRPr lang="en-US" altLang="zh-CN" spc="-30" dirty="0" smtClean="0">
              <a:solidFill>
                <a:srgbClr val="252525"/>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41</a:t>
            </a:fld>
            <a:endParaRPr lang="zh-CN" altLang="en-US"/>
          </a:p>
        </p:txBody>
      </p:sp>
      <p:graphicFrame>
        <p:nvGraphicFramePr>
          <p:cNvPr id="2" name="表格 1"/>
          <p:cNvGraphicFramePr>
            <a:graphicFrameLocks noGrp="1"/>
          </p:cNvGraphicFramePr>
          <p:nvPr>
            <p:extLst>
              <p:ext uri="{D42A27DB-BD31-4B8C-83A1-F6EECF244321}">
                <p14:modId xmlns:p14="http://schemas.microsoft.com/office/powerpoint/2010/main" val="3807092188"/>
              </p:ext>
            </p:extLst>
          </p:nvPr>
        </p:nvGraphicFramePr>
        <p:xfrm>
          <a:off x="1942229" y="3786855"/>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t>0</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9</a:t>
                      </a:r>
                      <a:endParaRPr lang="zh-CN" altLang="en-US" dirty="0"/>
                    </a:p>
                  </a:txBody>
                  <a:tcPr/>
                </a:tc>
                <a:extLst>
                  <a:ext uri="{0D108BD9-81ED-4DB2-BD59-A6C34878D82A}">
                    <a16:rowId xmlns:a16="http://schemas.microsoft.com/office/drawing/2014/main" val="2629200669"/>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323037728"/>
              </p:ext>
            </p:extLst>
          </p:nvPr>
        </p:nvGraphicFramePr>
        <p:xfrm>
          <a:off x="1942229" y="4608170"/>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solidFill>
                            <a:schemeClr val="tx1"/>
                          </a:solidFill>
                        </a:rPr>
                        <a:t>0</a:t>
                      </a:r>
                      <a:endParaRPr lang="zh-CN" altLang="en-US" dirty="0">
                        <a:solidFill>
                          <a:schemeClr val="tx1"/>
                        </a:solidFill>
                      </a:endParaRPr>
                    </a:p>
                  </a:txBody>
                  <a:tcPr>
                    <a:noFill/>
                  </a:tcPr>
                </a:tc>
                <a:tc>
                  <a:txBody>
                    <a:bodyPr/>
                    <a:lstStyle/>
                    <a:p>
                      <a:r>
                        <a:rPr lang="en-US" altLang="zh-CN" dirty="0" smtClean="0">
                          <a:solidFill>
                            <a:schemeClr val="tx1"/>
                          </a:solidFill>
                        </a:rPr>
                        <a:t>1</a:t>
                      </a:r>
                      <a:endParaRPr lang="zh-CN" altLang="en-US" dirty="0">
                        <a:solidFill>
                          <a:schemeClr val="tx1"/>
                        </a:solidFill>
                      </a:endParaRPr>
                    </a:p>
                  </a:txBody>
                  <a:tcPr>
                    <a:noFill/>
                  </a:tcPr>
                </a:tc>
                <a:tc>
                  <a:txBody>
                    <a:bodyPr/>
                    <a:lstStyle/>
                    <a:p>
                      <a:r>
                        <a:rPr lang="en-US" altLang="zh-CN" dirty="0" smtClean="0">
                          <a:solidFill>
                            <a:schemeClr val="tx1"/>
                          </a:solidFill>
                        </a:rPr>
                        <a:t>2</a:t>
                      </a:r>
                      <a:endParaRPr lang="zh-CN" altLang="en-US" dirty="0">
                        <a:solidFill>
                          <a:schemeClr val="tx1"/>
                        </a:solidFill>
                      </a:endParaRPr>
                    </a:p>
                  </a:txBody>
                  <a:tcPr>
                    <a:noFill/>
                  </a:tcPr>
                </a:tc>
                <a:tc>
                  <a:txBody>
                    <a:bodyPr/>
                    <a:lstStyle/>
                    <a:p>
                      <a:r>
                        <a:rPr lang="en-US" altLang="zh-CN" dirty="0" smtClean="0">
                          <a:solidFill>
                            <a:schemeClr val="tx1"/>
                          </a:solidFill>
                        </a:rPr>
                        <a:t>3</a:t>
                      </a:r>
                      <a:endParaRPr lang="zh-CN" altLang="en-US" dirty="0">
                        <a:solidFill>
                          <a:schemeClr val="tx1"/>
                        </a:solidFill>
                      </a:endParaRPr>
                    </a:p>
                  </a:txBody>
                  <a:tcPr>
                    <a:noFill/>
                  </a:tcPr>
                </a:tc>
                <a:tc>
                  <a:txBody>
                    <a:bodyPr/>
                    <a:lstStyle/>
                    <a:p>
                      <a:r>
                        <a:rPr lang="en-US" altLang="zh-CN" dirty="0" smtClean="0">
                          <a:solidFill>
                            <a:schemeClr val="tx1"/>
                          </a:solidFill>
                        </a:rPr>
                        <a:t>4</a:t>
                      </a:r>
                      <a:endParaRPr lang="zh-CN" altLang="en-US" dirty="0">
                        <a:solidFill>
                          <a:schemeClr val="tx1"/>
                        </a:solidFill>
                      </a:endParaRPr>
                    </a:p>
                  </a:txBody>
                  <a:tcPr>
                    <a:noFill/>
                  </a:tcPr>
                </a:tc>
                <a:tc>
                  <a:txBody>
                    <a:bodyPr/>
                    <a:lstStyle/>
                    <a:p>
                      <a:r>
                        <a:rPr lang="en-US" altLang="zh-CN" dirty="0" smtClean="0">
                          <a:solidFill>
                            <a:schemeClr val="tx1"/>
                          </a:solidFill>
                        </a:rPr>
                        <a:t>5</a:t>
                      </a:r>
                      <a:endParaRPr lang="zh-CN" altLang="en-US" dirty="0">
                        <a:solidFill>
                          <a:schemeClr val="tx1"/>
                        </a:solidFill>
                      </a:endParaRPr>
                    </a:p>
                  </a:txBody>
                  <a:tcPr>
                    <a:noFill/>
                  </a:tcPr>
                </a:tc>
                <a:tc>
                  <a:txBody>
                    <a:bodyPr/>
                    <a:lstStyle/>
                    <a:p>
                      <a:r>
                        <a:rPr lang="en-US" altLang="zh-CN" dirty="0" smtClean="0">
                          <a:solidFill>
                            <a:schemeClr val="tx1"/>
                          </a:solidFill>
                        </a:rPr>
                        <a:t>6</a:t>
                      </a:r>
                      <a:endParaRPr lang="zh-CN" altLang="en-US" dirty="0">
                        <a:solidFill>
                          <a:schemeClr val="tx1"/>
                        </a:solidFill>
                      </a:endParaRPr>
                    </a:p>
                  </a:txBody>
                  <a:tcPr>
                    <a:noFill/>
                  </a:tcPr>
                </a:tc>
                <a:tc>
                  <a:txBody>
                    <a:bodyPr/>
                    <a:lstStyle/>
                    <a:p>
                      <a:r>
                        <a:rPr lang="en-US" altLang="zh-CN" dirty="0" smtClean="0">
                          <a:solidFill>
                            <a:schemeClr val="tx1"/>
                          </a:solidFill>
                        </a:rPr>
                        <a:t>7</a:t>
                      </a:r>
                      <a:endParaRPr lang="zh-CN" altLang="en-US" dirty="0">
                        <a:solidFill>
                          <a:schemeClr val="tx1"/>
                        </a:solidFill>
                      </a:endParaRPr>
                    </a:p>
                  </a:txBody>
                  <a:tcPr>
                    <a:noFill/>
                  </a:tcPr>
                </a:tc>
                <a:tc>
                  <a:txBody>
                    <a:bodyPr/>
                    <a:lstStyle/>
                    <a:p>
                      <a:r>
                        <a:rPr lang="en-US" altLang="zh-CN" dirty="0" smtClean="0">
                          <a:solidFill>
                            <a:schemeClr val="tx1"/>
                          </a:solidFill>
                        </a:rPr>
                        <a:t>8</a:t>
                      </a:r>
                      <a:endParaRPr lang="zh-CN" altLang="en-US" dirty="0">
                        <a:solidFill>
                          <a:schemeClr val="tx1"/>
                        </a:solidFill>
                      </a:endParaRPr>
                    </a:p>
                  </a:txBody>
                  <a:tcPr>
                    <a:noFill/>
                  </a:tcPr>
                </a:tc>
                <a:tc>
                  <a:txBody>
                    <a:bodyPr/>
                    <a:lstStyle/>
                    <a:p>
                      <a:r>
                        <a:rPr lang="en-US" altLang="zh-CN" dirty="0" smtClean="0">
                          <a:solidFill>
                            <a:schemeClr val="tx1"/>
                          </a:solidFill>
                        </a:rPr>
                        <a:t>9</a:t>
                      </a:r>
                      <a:endParaRPr lang="zh-CN" altLang="en-US" dirty="0">
                        <a:solidFill>
                          <a:schemeClr val="tx1"/>
                        </a:solidFill>
                      </a:endParaRPr>
                    </a:p>
                  </a:txBody>
                  <a:tcPr>
                    <a:noFill/>
                  </a:tcPr>
                </a:tc>
                <a:extLst>
                  <a:ext uri="{0D108BD9-81ED-4DB2-BD59-A6C34878D82A}">
                    <a16:rowId xmlns:a16="http://schemas.microsoft.com/office/drawing/2014/main" val="2629200669"/>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79416922"/>
              </p:ext>
            </p:extLst>
          </p:nvPr>
        </p:nvGraphicFramePr>
        <p:xfrm>
          <a:off x="1879600" y="5410200"/>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solidFill>
                            <a:schemeClr val="tx1"/>
                          </a:solidFill>
                        </a:rPr>
                        <a:t>-10</a:t>
                      </a:r>
                      <a:endParaRPr lang="zh-CN" altLang="en-US" dirty="0">
                        <a:solidFill>
                          <a:schemeClr val="tx1"/>
                        </a:solidFill>
                      </a:endParaRPr>
                    </a:p>
                  </a:txBody>
                  <a:tcPr>
                    <a:noFill/>
                  </a:tcPr>
                </a:tc>
                <a:tc>
                  <a:txBody>
                    <a:bodyPr/>
                    <a:lstStyle/>
                    <a:p>
                      <a:r>
                        <a:rPr lang="en-US" altLang="zh-CN" dirty="0" smtClean="0">
                          <a:solidFill>
                            <a:schemeClr val="tx1"/>
                          </a:solidFill>
                        </a:rPr>
                        <a:t>-9</a:t>
                      </a:r>
                      <a:endParaRPr lang="zh-CN" altLang="en-US" dirty="0">
                        <a:solidFill>
                          <a:schemeClr val="tx1"/>
                        </a:solidFill>
                      </a:endParaRPr>
                    </a:p>
                  </a:txBody>
                  <a:tcPr>
                    <a:noFill/>
                  </a:tcPr>
                </a:tc>
                <a:tc>
                  <a:txBody>
                    <a:bodyPr/>
                    <a:lstStyle/>
                    <a:p>
                      <a:r>
                        <a:rPr lang="en-US" altLang="zh-CN" dirty="0" smtClean="0">
                          <a:solidFill>
                            <a:schemeClr val="tx1"/>
                          </a:solidFill>
                        </a:rPr>
                        <a:t>-8</a:t>
                      </a:r>
                      <a:endParaRPr lang="zh-CN" altLang="en-US" dirty="0">
                        <a:solidFill>
                          <a:schemeClr val="tx1"/>
                        </a:solidFill>
                      </a:endParaRPr>
                    </a:p>
                  </a:txBody>
                  <a:tcPr>
                    <a:noFill/>
                  </a:tcPr>
                </a:tc>
                <a:tc>
                  <a:txBody>
                    <a:bodyPr/>
                    <a:lstStyle/>
                    <a:p>
                      <a:r>
                        <a:rPr lang="en-US" altLang="zh-CN" dirty="0" smtClean="0">
                          <a:solidFill>
                            <a:schemeClr val="tx1"/>
                          </a:solidFill>
                        </a:rPr>
                        <a:t>-7</a:t>
                      </a:r>
                      <a:endParaRPr lang="zh-CN" altLang="en-US" dirty="0">
                        <a:solidFill>
                          <a:schemeClr val="tx1"/>
                        </a:solidFill>
                      </a:endParaRPr>
                    </a:p>
                  </a:txBody>
                  <a:tcPr>
                    <a:noFill/>
                  </a:tcPr>
                </a:tc>
                <a:tc>
                  <a:txBody>
                    <a:bodyPr/>
                    <a:lstStyle/>
                    <a:p>
                      <a:r>
                        <a:rPr lang="en-US" altLang="zh-CN" dirty="0" smtClean="0">
                          <a:solidFill>
                            <a:schemeClr val="tx1"/>
                          </a:solidFill>
                        </a:rPr>
                        <a:t>-6</a:t>
                      </a:r>
                      <a:endParaRPr lang="zh-CN" altLang="en-US" dirty="0">
                        <a:solidFill>
                          <a:schemeClr val="tx1"/>
                        </a:solidFill>
                      </a:endParaRPr>
                    </a:p>
                  </a:txBody>
                  <a:tcPr>
                    <a:noFill/>
                  </a:tcPr>
                </a:tc>
                <a:tc>
                  <a:txBody>
                    <a:bodyPr/>
                    <a:lstStyle/>
                    <a:p>
                      <a:r>
                        <a:rPr lang="en-US" altLang="zh-CN" dirty="0" smtClean="0">
                          <a:solidFill>
                            <a:schemeClr val="tx1"/>
                          </a:solidFill>
                        </a:rPr>
                        <a:t>-5</a:t>
                      </a:r>
                      <a:endParaRPr lang="zh-CN" altLang="en-US" dirty="0">
                        <a:solidFill>
                          <a:schemeClr val="tx1"/>
                        </a:solidFill>
                      </a:endParaRPr>
                    </a:p>
                  </a:txBody>
                  <a:tcPr>
                    <a:noFill/>
                  </a:tcPr>
                </a:tc>
                <a:tc>
                  <a:txBody>
                    <a:bodyPr/>
                    <a:lstStyle/>
                    <a:p>
                      <a:r>
                        <a:rPr lang="en-US" altLang="zh-CN" dirty="0" smtClean="0">
                          <a:solidFill>
                            <a:schemeClr val="tx1"/>
                          </a:solidFill>
                        </a:rPr>
                        <a:t>-4</a:t>
                      </a:r>
                      <a:endParaRPr lang="zh-CN" altLang="en-US" dirty="0">
                        <a:solidFill>
                          <a:schemeClr val="tx1"/>
                        </a:solidFill>
                      </a:endParaRPr>
                    </a:p>
                  </a:txBody>
                  <a:tcPr>
                    <a:noFill/>
                  </a:tcPr>
                </a:tc>
                <a:tc>
                  <a:txBody>
                    <a:bodyPr/>
                    <a:lstStyle/>
                    <a:p>
                      <a:r>
                        <a:rPr lang="en-US" altLang="zh-CN" dirty="0" smtClean="0">
                          <a:solidFill>
                            <a:schemeClr val="tx1"/>
                          </a:solidFill>
                        </a:rPr>
                        <a:t>-3</a:t>
                      </a:r>
                      <a:endParaRPr lang="zh-CN" altLang="en-US" dirty="0">
                        <a:solidFill>
                          <a:schemeClr val="tx1"/>
                        </a:solidFill>
                      </a:endParaRPr>
                    </a:p>
                  </a:txBody>
                  <a:tcPr>
                    <a:noFill/>
                  </a:tcPr>
                </a:tc>
                <a:tc>
                  <a:txBody>
                    <a:bodyPr/>
                    <a:lstStyle/>
                    <a:p>
                      <a:r>
                        <a:rPr lang="en-US" altLang="zh-CN" dirty="0" smtClean="0">
                          <a:solidFill>
                            <a:schemeClr val="tx1"/>
                          </a:solidFill>
                        </a:rPr>
                        <a:t>-2</a:t>
                      </a:r>
                      <a:endParaRPr lang="zh-CN" altLang="en-US" dirty="0">
                        <a:solidFill>
                          <a:schemeClr val="tx1"/>
                        </a:solidFill>
                      </a:endParaRPr>
                    </a:p>
                  </a:txBody>
                  <a:tcPr>
                    <a:noFill/>
                  </a:tcPr>
                </a:tc>
                <a:tc>
                  <a:txBody>
                    <a:bodyPr/>
                    <a:lstStyle/>
                    <a:p>
                      <a:r>
                        <a:rPr lang="en-US" altLang="zh-CN" dirty="0" smtClean="0">
                          <a:solidFill>
                            <a:schemeClr val="tx1"/>
                          </a:solidFill>
                        </a:rPr>
                        <a:t>-1</a:t>
                      </a:r>
                      <a:endParaRPr lang="zh-CN" altLang="en-US" dirty="0">
                        <a:solidFill>
                          <a:schemeClr val="tx1"/>
                        </a:solidFill>
                      </a:endParaRPr>
                    </a:p>
                  </a:txBody>
                  <a:tcPr>
                    <a:noFill/>
                  </a:tcPr>
                </a:tc>
                <a:extLst>
                  <a:ext uri="{0D108BD9-81ED-4DB2-BD59-A6C34878D82A}">
                    <a16:rowId xmlns:a16="http://schemas.microsoft.com/office/drawing/2014/main" val="2629200669"/>
                  </a:ext>
                </a:extLst>
              </a:tr>
            </a:tbl>
          </a:graphicData>
        </a:graphic>
      </p:graphicFrame>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42472129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655377" y="1377608"/>
            <a:ext cx="8763000" cy="5345053"/>
          </a:xfrm>
          <a:prstGeom prst="rect">
            <a:avLst/>
          </a:prstGeom>
        </p:spPr>
        <p:txBody>
          <a:bodyPr vert="horz" wrap="square" lIns="0" tIns="12700" rIns="0" bIns="0" rtlCol="0">
            <a:spAutoFit/>
          </a:bodyPr>
          <a:lstStyle/>
          <a:p>
            <a:pPr marL="12700">
              <a:lnSpc>
                <a:spcPct val="150000"/>
              </a:lnSpc>
              <a:spcBef>
                <a:spcPts val="100"/>
              </a:spcBef>
            </a:pPr>
            <a:r>
              <a:rPr lang="en-US" altLang="zh-CN" sz="2800" b="1" spc="-40" dirty="0" smtClean="0">
                <a:solidFill>
                  <a:srgbClr val="AC2B25"/>
                </a:solidFill>
                <a:latin typeface="宋体"/>
                <a:cs typeface="宋体"/>
              </a:rPr>
              <a:t>8</a:t>
            </a:r>
            <a:r>
              <a:rPr lang="zh-CN" altLang="en-US" sz="2800" b="1" spc="-40" dirty="0" smtClean="0">
                <a:solidFill>
                  <a:srgbClr val="AC2B25"/>
                </a:solidFill>
                <a:latin typeface="宋体"/>
                <a:cs typeface="宋体"/>
              </a:rPr>
              <a:t>、</a:t>
            </a:r>
            <a:r>
              <a:rPr lang="en-US" altLang="zh-CN" sz="2800" b="1" spc="-40" dirty="0" smtClean="0">
                <a:solidFill>
                  <a:srgbClr val="AC2B25"/>
                </a:solidFill>
                <a:latin typeface="宋体"/>
                <a:cs typeface="宋体"/>
              </a:rPr>
              <a:t>slice()</a:t>
            </a:r>
            <a:r>
              <a:rPr lang="zh-CN" altLang="en-US" sz="2800" b="1" spc="-40" dirty="0" smtClean="0">
                <a:solidFill>
                  <a:srgbClr val="AC2B25"/>
                </a:solidFill>
                <a:latin typeface="宋体"/>
                <a:cs typeface="宋体"/>
              </a:rPr>
              <a:t>方法</a:t>
            </a:r>
            <a:endParaRPr lang="en-US" b="1"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用于对数组进行切片，原数组不变。格式如下：</a:t>
            </a:r>
            <a:r>
              <a:rPr lang="zh-CN" altLang="en-US" spc="-30" dirty="0" smtClean="0">
                <a:solidFill>
                  <a:srgbClr val="FF0000"/>
                </a:solidFill>
                <a:latin typeface="宋体"/>
                <a:cs typeface="宋体"/>
              </a:rPr>
              <a:t>数组</a:t>
            </a:r>
            <a:r>
              <a:rPr lang="en-US" altLang="zh-CN" spc="-30" dirty="0" smtClean="0">
                <a:solidFill>
                  <a:srgbClr val="FF0000"/>
                </a:solidFill>
                <a:latin typeface="宋体"/>
                <a:cs typeface="宋体"/>
              </a:rPr>
              <a:t>.slice(</a:t>
            </a:r>
            <a:r>
              <a:rPr lang="zh-CN" altLang="en-US" spc="-30" dirty="0" smtClean="0">
                <a:solidFill>
                  <a:srgbClr val="FF0000"/>
                </a:solidFill>
                <a:latin typeface="宋体"/>
                <a:cs typeface="宋体"/>
              </a:rPr>
              <a:t>开始下标</a:t>
            </a:r>
            <a:r>
              <a:rPr lang="en-US" altLang="zh-CN" spc="-30" dirty="0" smtClean="0">
                <a:solidFill>
                  <a:srgbClr val="FF0000"/>
                </a:solidFill>
                <a:latin typeface="宋体"/>
                <a:cs typeface="宋体"/>
              </a:rPr>
              <a:t>, </a:t>
            </a:r>
            <a:r>
              <a:rPr lang="zh-CN" altLang="en-US" spc="-30" dirty="0" smtClean="0">
                <a:solidFill>
                  <a:srgbClr val="FF0000"/>
                </a:solidFill>
                <a:latin typeface="宋体"/>
                <a:cs typeface="宋体"/>
              </a:rPr>
              <a:t>结束下标</a:t>
            </a:r>
            <a:r>
              <a:rPr lang="en-US" altLang="zh-CN" spc="-30" dirty="0" smtClean="0">
                <a:solidFill>
                  <a:srgbClr val="FF0000"/>
                </a:solidFill>
                <a:latin typeface="宋体"/>
                <a:cs typeface="宋体"/>
              </a:rPr>
              <a:t>)</a:t>
            </a:r>
          </a:p>
          <a:p>
            <a:pPr marL="12700">
              <a:lnSpc>
                <a:spcPct val="150000"/>
              </a:lnSpc>
              <a:spcBef>
                <a:spcPts val="100"/>
              </a:spcBef>
            </a:pPr>
            <a:r>
              <a:rPr lang="en-US" altLang="zh-CN" spc="-30" dirty="0">
                <a:solidFill>
                  <a:srgbClr val="252525"/>
                </a:solidFill>
                <a:latin typeface="宋体"/>
                <a:cs typeface="宋体"/>
              </a:rPr>
              <a:t>s</a:t>
            </a:r>
            <a:r>
              <a:rPr lang="en-US" altLang="zh-CN" spc="-30" dirty="0" smtClean="0">
                <a:solidFill>
                  <a:srgbClr val="252525"/>
                </a:solidFill>
                <a:latin typeface="宋体"/>
                <a:cs typeface="宋体"/>
              </a:rPr>
              <a:t>lice()</a:t>
            </a:r>
            <a:r>
              <a:rPr lang="zh-CN" altLang="en-US" spc="-30" dirty="0" smtClean="0">
                <a:solidFill>
                  <a:srgbClr val="252525"/>
                </a:solidFill>
                <a:latin typeface="宋体"/>
                <a:cs typeface="宋体"/>
              </a:rPr>
              <a:t>返回从原数组中截取下来的新数组，新数组包含开始下标元素，不包含结束下标元素。结束下标可以省略，下标可以为正序下标或逆序下标。例如定义数组</a:t>
            </a:r>
            <a:r>
              <a:rPr lang="en-US" altLang="zh-CN" spc="-30" dirty="0" err="1" smtClean="0">
                <a:solidFill>
                  <a:srgbClr val="252525"/>
                </a:solidFill>
                <a:latin typeface="宋体"/>
                <a:cs typeface="宋体"/>
              </a:rPr>
              <a:t>arr</a:t>
            </a:r>
            <a:r>
              <a:rPr lang="zh-CN" altLang="en-US" spc="-30" dirty="0" smtClean="0">
                <a:solidFill>
                  <a:srgbClr val="252525"/>
                </a:solidFill>
                <a:latin typeface="宋体"/>
                <a:cs typeface="宋体"/>
              </a:rPr>
              <a:t>后，其正序和逆序下标：</a:t>
            </a:r>
            <a:endParaRPr lang="en-US" altLang="zh-CN"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数组</a:t>
            </a:r>
            <a:r>
              <a:rPr lang="en-US" altLang="zh-CN" spc="-30" dirty="0" err="1" smtClean="0">
                <a:solidFill>
                  <a:srgbClr val="252525"/>
                </a:solidFill>
                <a:latin typeface="宋体"/>
                <a:cs typeface="宋体"/>
              </a:rPr>
              <a:t>arr</a:t>
            </a:r>
            <a:r>
              <a:rPr lang="en-US" altLang="zh-CN" spc="-30" dirty="0" smtClean="0">
                <a:solidFill>
                  <a:srgbClr val="252525"/>
                </a:solidFill>
                <a:latin typeface="宋体"/>
                <a:cs typeface="宋体"/>
              </a:rPr>
              <a:t> </a:t>
            </a:r>
            <a:r>
              <a:rPr lang="zh-CN" altLang="en-US" spc="-30" dirty="0" smtClean="0">
                <a:solidFill>
                  <a:srgbClr val="252525"/>
                </a:solidFill>
                <a:latin typeface="宋体"/>
                <a:cs typeface="宋体"/>
              </a:rPr>
              <a:t>：</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正序下标：</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逆序下标：</a:t>
            </a:r>
            <a:endParaRPr lang="en-US" altLang="zh-CN" spc="-30" dirty="0" smtClean="0">
              <a:solidFill>
                <a:srgbClr val="252525"/>
              </a:solidFill>
              <a:latin typeface="宋体"/>
              <a:cs typeface="宋体"/>
            </a:endParaRPr>
          </a:p>
          <a:p>
            <a:pPr marL="12700">
              <a:lnSpc>
                <a:spcPct val="150000"/>
              </a:lnSpc>
              <a:spcBef>
                <a:spcPts val="100"/>
              </a:spcBef>
            </a:pPr>
            <a:endParaRPr lang="en-US" altLang="zh-CN"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使用</a:t>
            </a:r>
            <a:r>
              <a:rPr lang="en-US" altLang="zh-CN" spc="-30" dirty="0" smtClean="0">
                <a:solidFill>
                  <a:srgbClr val="252525"/>
                </a:solidFill>
                <a:latin typeface="宋体"/>
                <a:cs typeface="宋体"/>
              </a:rPr>
              <a:t>slice()</a:t>
            </a:r>
            <a:r>
              <a:rPr lang="zh-CN" altLang="en-US" spc="-30" dirty="0" smtClean="0">
                <a:solidFill>
                  <a:srgbClr val="252525"/>
                </a:solidFill>
                <a:latin typeface="宋体"/>
                <a:cs typeface="宋体"/>
              </a:rPr>
              <a:t>对</a:t>
            </a:r>
            <a:r>
              <a:rPr lang="en-US" altLang="zh-CN" spc="-30" dirty="0" err="1" smtClean="0">
                <a:solidFill>
                  <a:srgbClr val="252525"/>
                </a:solidFill>
                <a:latin typeface="宋体"/>
                <a:cs typeface="宋体"/>
              </a:rPr>
              <a:t>arr</a:t>
            </a:r>
            <a:r>
              <a:rPr lang="zh-CN" altLang="en-US" spc="-30" dirty="0" smtClean="0">
                <a:solidFill>
                  <a:srgbClr val="252525"/>
                </a:solidFill>
                <a:latin typeface="宋体"/>
                <a:cs typeface="宋体"/>
              </a:rPr>
              <a:t>进行切片，代码如下：</a:t>
            </a:r>
            <a:endParaRPr lang="en-US" altLang="zh-CN" spc="-30" dirty="0" smtClean="0">
              <a:solidFill>
                <a:srgbClr val="252525"/>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42</a:t>
            </a:fld>
            <a:endParaRPr lang="zh-CN" altLang="en-US"/>
          </a:p>
        </p:txBody>
      </p:sp>
      <p:graphicFrame>
        <p:nvGraphicFramePr>
          <p:cNvPr id="2" name="表格 1"/>
          <p:cNvGraphicFramePr>
            <a:graphicFrameLocks noGrp="1"/>
          </p:cNvGraphicFramePr>
          <p:nvPr>
            <p:extLst>
              <p:ext uri="{D42A27DB-BD31-4B8C-83A1-F6EECF244321}">
                <p14:modId xmlns:p14="http://schemas.microsoft.com/office/powerpoint/2010/main" val="3807092188"/>
              </p:ext>
            </p:extLst>
          </p:nvPr>
        </p:nvGraphicFramePr>
        <p:xfrm>
          <a:off x="1942229" y="3786855"/>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t>0</a:t>
                      </a:r>
                      <a:endParaRPr lang="zh-CN" altLang="en-US" dirty="0"/>
                    </a:p>
                  </a:txBody>
                  <a:tcPr/>
                </a:tc>
                <a:tc>
                  <a:txBody>
                    <a:bodyPr/>
                    <a:lstStyle/>
                    <a:p>
                      <a:r>
                        <a:rPr lang="en-US" altLang="zh-CN" dirty="0" smtClean="0"/>
                        <a:t>1</a:t>
                      </a:r>
                      <a:endParaRPr lang="zh-CN" altLang="en-US" dirty="0"/>
                    </a:p>
                  </a:txBody>
                  <a:tcPr/>
                </a:tc>
                <a:tc>
                  <a:txBody>
                    <a:bodyPr/>
                    <a:lstStyle/>
                    <a:p>
                      <a:r>
                        <a:rPr lang="en-US" altLang="zh-CN" dirty="0" smtClean="0"/>
                        <a:t>2</a:t>
                      </a:r>
                      <a:endParaRPr lang="zh-CN" altLang="en-US" dirty="0"/>
                    </a:p>
                  </a:txBody>
                  <a:tcPr/>
                </a:tc>
                <a:tc>
                  <a:txBody>
                    <a:bodyPr/>
                    <a:lstStyle/>
                    <a:p>
                      <a:r>
                        <a:rPr lang="en-US" altLang="zh-CN" dirty="0" smtClean="0"/>
                        <a:t>3</a:t>
                      </a:r>
                      <a:endParaRPr lang="zh-CN" altLang="en-US" dirty="0"/>
                    </a:p>
                  </a:txBody>
                  <a:tcPr/>
                </a:tc>
                <a:tc>
                  <a:txBody>
                    <a:bodyPr/>
                    <a:lstStyle/>
                    <a:p>
                      <a:r>
                        <a:rPr lang="en-US" altLang="zh-CN" dirty="0" smtClean="0"/>
                        <a:t>4</a:t>
                      </a:r>
                      <a:endParaRPr lang="zh-CN" altLang="en-US" dirty="0"/>
                    </a:p>
                  </a:txBody>
                  <a:tcPr/>
                </a:tc>
                <a:tc>
                  <a:txBody>
                    <a:bodyPr/>
                    <a:lstStyle/>
                    <a:p>
                      <a:r>
                        <a:rPr lang="en-US" altLang="zh-CN" dirty="0" smtClean="0"/>
                        <a:t>5</a:t>
                      </a:r>
                      <a:endParaRPr lang="zh-CN" altLang="en-US" dirty="0"/>
                    </a:p>
                  </a:txBody>
                  <a:tcPr/>
                </a:tc>
                <a:tc>
                  <a:txBody>
                    <a:bodyPr/>
                    <a:lstStyle/>
                    <a:p>
                      <a:r>
                        <a:rPr lang="en-US" altLang="zh-CN" dirty="0" smtClean="0"/>
                        <a:t>6</a:t>
                      </a:r>
                      <a:endParaRPr lang="zh-CN" altLang="en-US" dirty="0"/>
                    </a:p>
                  </a:txBody>
                  <a:tcPr/>
                </a:tc>
                <a:tc>
                  <a:txBody>
                    <a:bodyPr/>
                    <a:lstStyle/>
                    <a:p>
                      <a:r>
                        <a:rPr lang="en-US" altLang="zh-CN" dirty="0" smtClean="0"/>
                        <a:t>7</a:t>
                      </a:r>
                      <a:endParaRPr lang="zh-CN" altLang="en-US" dirty="0"/>
                    </a:p>
                  </a:txBody>
                  <a:tcPr/>
                </a:tc>
                <a:tc>
                  <a:txBody>
                    <a:bodyPr/>
                    <a:lstStyle/>
                    <a:p>
                      <a:r>
                        <a:rPr lang="en-US" altLang="zh-CN" dirty="0" smtClean="0"/>
                        <a:t>8</a:t>
                      </a:r>
                      <a:endParaRPr lang="zh-CN" altLang="en-US" dirty="0"/>
                    </a:p>
                  </a:txBody>
                  <a:tcPr/>
                </a:tc>
                <a:tc>
                  <a:txBody>
                    <a:bodyPr/>
                    <a:lstStyle/>
                    <a:p>
                      <a:r>
                        <a:rPr lang="en-US" altLang="zh-CN" dirty="0" smtClean="0"/>
                        <a:t>9</a:t>
                      </a:r>
                      <a:endParaRPr lang="zh-CN" altLang="en-US" dirty="0"/>
                    </a:p>
                  </a:txBody>
                  <a:tcPr/>
                </a:tc>
                <a:extLst>
                  <a:ext uri="{0D108BD9-81ED-4DB2-BD59-A6C34878D82A}">
                    <a16:rowId xmlns:a16="http://schemas.microsoft.com/office/drawing/2014/main" val="2629200669"/>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323037728"/>
              </p:ext>
            </p:extLst>
          </p:nvPr>
        </p:nvGraphicFramePr>
        <p:xfrm>
          <a:off x="1942229" y="4608170"/>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solidFill>
                            <a:schemeClr val="tx1"/>
                          </a:solidFill>
                        </a:rPr>
                        <a:t>0</a:t>
                      </a:r>
                      <a:endParaRPr lang="zh-CN" altLang="en-US" dirty="0">
                        <a:solidFill>
                          <a:schemeClr val="tx1"/>
                        </a:solidFill>
                      </a:endParaRPr>
                    </a:p>
                  </a:txBody>
                  <a:tcPr>
                    <a:noFill/>
                  </a:tcPr>
                </a:tc>
                <a:tc>
                  <a:txBody>
                    <a:bodyPr/>
                    <a:lstStyle/>
                    <a:p>
                      <a:r>
                        <a:rPr lang="en-US" altLang="zh-CN" dirty="0" smtClean="0">
                          <a:solidFill>
                            <a:schemeClr val="tx1"/>
                          </a:solidFill>
                        </a:rPr>
                        <a:t>1</a:t>
                      </a:r>
                      <a:endParaRPr lang="zh-CN" altLang="en-US" dirty="0">
                        <a:solidFill>
                          <a:schemeClr val="tx1"/>
                        </a:solidFill>
                      </a:endParaRPr>
                    </a:p>
                  </a:txBody>
                  <a:tcPr>
                    <a:noFill/>
                  </a:tcPr>
                </a:tc>
                <a:tc>
                  <a:txBody>
                    <a:bodyPr/>
                    <a:lstStyle/>
                    <a:p>
                      <a:r>
                        <a:rPr lang="en-US" altLang="zh-CN" dirty="0" smtClean="0">
                          <a:solidFill>
                            <a:schemeClr val="tx1"/>
                          </a:solidFill>
                        </a:rPr>
                        <a:t>2</a:t>
                      </a:r>
                      <a:endParaRPr lang="zh-CN" altLang="en-US" dirty="0">
                        <a:solidFill>
                          <a:schemeClr val="tx1"/>
                        </a:solidFill>
                      </a:endParaRPr>
                    </a:p>
                  </a:txBody>
                  <a:tcPr>
                    <a:noFill/>
                  </a:tcPr>
                </a:tc>
                <a:tc>
                  <a:txBody>
                    <a:bodyPr/>
                    <a:lstStyle/>
                    <a:p>
                      <a:r>
                        <a:rPr lang="en-US" altLang="zh-CN" dirty="0" smtClean="0">
                          <a:solidFill>
                            <a:schemeClr val="tx1"/>
                          </a:solidFill>
                        </a:rPr>
                        <a:t>3</a:t>
                      </a:r>
                      <a:endParaRPr lang="zh-CN" altLang="en-US" dirty="0">
                        <a:solidFill>
                          <a:schemeClr val="tx1"/>
                        </a:solidFill>
                      </a:endParaRPr>
                    </a:p>
                  </a:txBody>
                  <a:tcPr>
                    <a:noFill/>
                  </a:tcPr>
                </a:tc>
                <a:tc>
                  <a:txBody>
                    <a:bodyPr/>
                    <a:lstStyle/>
                    <a:p>
                      <a:r>
                        <a:rPr lang="en-US" altLang="zh-CN" dirty="0" smtClean="0">
                          <a:solidFill>
                            <a:schemeClr val="tx1"/>
                          </a:solidFill>
                        </a:rPr>
                        <a:t>4</a:t>
                      </a:r>
                      <a:endParaRPr lang="zh-CN" altLang="en-US" dirty="0">
                        <a:solidFill>
                          <a:schemeClr val="tx1"/>
                        </a:solidFill>
                      </a:endParaRPr>
                    </a:p>
                  </a:txBody>
                  <a:tcPr>
                    <a:noFill/>
                  </a:tcPr>
                </a:tc>
                <a:tc>
                  <a:txBody>
                    <a:bodyPr/>
                    <a:lstStyle/>
                    <a:p>
                      <a:r>
                        <a:rPr lang="en-US" altLang="zh-CN" dirty="0" smtClean="0">
                          <a:solidFill>
                            <a:schemeClr val="tx1"/>
                          </a:solidFill>
                        </a:rPr>
                        <a:t>5</a:t>
                      </a:r>
                      <a:endParaRPr lang="zh-CN" altLang="en-US" dirty="0">
                        <a:solidFill>
                          <a:schemeClr val="tx1"/>
                        </a:solidFill>
                      </a:endParaRPr>
                    </a:p>
                  </a:txBody>
                  <a:tcPr>
                    <a:noFill/>
                  </a:tcPr>
                </a:tc>
                <a:tc>
                  <a:txBody>
                    <a:bodyPr/>
                    <a:lstStyle/>
                    <a:p>
                      <a:r>
                        <a:rPr lang="en-US" altLang="zh-CN" dirty="0" smtClean="0">
                          <a:solidFill>
                            <a:schemeClr val="tx1"/>
                          </a:solidFill>
                        </a:rPr>
                        <a:t>6</a:t>
                      </a:r>
                      <a:endParaRPr lang="zh-CN" altLang="en-US" dirty="0">
                        <a:solidFill>
                          <a:schemeClr val="tx1"/>
                        </a:solidFill>
                      </a:endParaRPr>
                    </a:p>
                  </a:txBody>
                  <a:tcPr>
                    <a:noFill/>
                  </a:tcPr>
                </a:tc>
                <a:tc>
                  <a:txBody>
                    <a:bodyPr/>
                    <a:lstStyle/>
                    <a:p>
                      <a:r>
                        <a:rPr lang="en-US" altLang="zh-CN" dirty="0" smtClean="0">
                          <a:solidFill>
                            <a:schemeClr val="tx1"/>
                          </a:solidFill>
                        </a:rPr>
                        <a:t>7</a:t>
                      </a:r>
                      <a:endParaRPr lang="zh-CN" altLang="en-US" dirty="0">
                        <a:solidFill>
                          <a:schemeClr val="tx1"/>
                        </a:solidFill>
                      </a:endParaRPr>
                    </a:p>
                  </a:txBody>
                  <a:tcPr>
                    <a:noFill/>
                  </a:tcPr>
                </a:tc>
                <a:tc>
                  <a:txBody>
                    <a:bodyPr/>
                    <a:lstStyle/>
                    <a:p>
                      <a:r>
                        <a:rPr lang="en-US" altLang="zh-CN" dirty="0" smtClean="0">
                          <a:solidFill>
                            <a:schemeClr val="tx1"/>
                          </a:solidFill>
                        </a:rPr>
                        <a:t>8</a:t>
                      </a:r>
                      <a:endParaRPr lang="zh-CN" altLang="en-US" dirty="0">
                        <a:solidFill>
                          <a:schemeClr val="tx1"/>
                        </a:solidFill>
                      </a:endParaRPr>
                    </a:p>
                  </a:txBody>
                  <a:tcPr>
                    <a:noFill/>
                  </a:tcPr>
                </a:tc>
                <a:tc>
                  <a:txBody>
                    <a:bodyPr/>
                    <a:lstStyle/>
                    <a:p>
                      <a:r>
                        <a:rPr lang="en-US" altLang="zh-CN" dirty="0" smtClean="0">
                          <a:solidFill>
                            <a:schemeClr val="tx1"/>
                          </a:solidFill>
                        </a:rPr>
                        <a:t>9</a:t>
                      </a:r>
                      <a:endParaRPr lang="zh-CN" altLang="en-US" dirty="0">
                        <a:solidFill>
                          <a:schemeClr val="tx1"/>
                        </a:solidFill>
                      </a:endParaRPr>
                    </a:p>
                  </a:txBody>
                  <a:tcPr>
                    <a:noFill/>
                  </a:tcPr>
                </a:tc>
                <a:extLst>
                  <a:ext uri="{0D108BD9-81ED-4DB2-BD59-A6C34878D82A}">
                    <a16:rowId xmlns:a16="http://schemas.microsoft.com/office/drawing/2014/main" val="2629200669"/>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79416922"/>
              </p:ext>
            </p:extLst>
          </p:nvPr>
        </p:nvGraphicFramePr>
        <p:xfrm>
          <a:off x="1879600" y="5410200"/>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4277479902"/>
                    </a:ext>
                  </a:extLst>
                </a:gridCol>
                <a:gridCol w="812800">
                  <a:extLst>
                    <a:ext uri="{9D8B030D-6E8A-4147-A177-3AD203B41FA5}">
                      <a16:colId xmlns:a16="http://schemas.microsoft.com/office/drawing/2014/main" val="99615785"/>
                    </a:ext>
                  </a:extLst>
                </a:gridCol>
                <a:gridCol w="812800">
                  <a:extLst>
                    <a:ext uri="{9D8B030D-6E8A-4147-A177-3AD203B41FA5}">
                      <a16:colId xmlns:a16="http://schemas.microsoft.com/office/drawing/2014/main" val="886305209"/>
                    </a:ext>
                  </a:extLst>
                </a:gridCol>
                <a:gridCol w="812800">
                  <a:extLst>
                    <a:ext uri="{9D8B030D-6E8A-4147-A177-3AD203B41FA5}">
                      <a16:colId xmlns:a16="http://schemas.microsoft.com/office/drawing/2014/main" val="3467658482"/>
                    </a:ext>
                  </a:extLst>
                </a:gridCol>
                <a:gridCol w="812800">
                  <a:extLst>
                    <a:ext uri="{9D8B030D-6E8A-4147-A177-3AD203B41FA5}">
                      <a16:colId xmlns:a16="http://schemas.microsoft.com/office/drawing/2014/main" val="1007267824"/>
                    </a:ext>
                  </a:extLst>
                </a:gridCol>
                <a:gridCol w="812800">
                  <a:extLst>
                    <a:ext uri="{9D8B030D-6E8A-4147-A177-3AD203B41FA5}">
                      <a16:colId xmlns:a16="http://schemas.microsoft.com/office/drawing/2014/main" val="701848261"/>
                    </a:ext>
                  </a:extLst>
                </a:gridCol>
                <a:gridCol w="812800">
                  <a:extLst>
                    <a:ext uri="{9D8B030D-6E8A-4147-A177-3AD203B41FA5}">
                      <a16:colId xmlns:a16="http://schemas.microsoft.com/office/drawing/2014/main" val="2666143913"/>
                    </a:ext>
                  </a:extLst>
                </a:gridCol>
                <a:gridCol w="812800">
                  <a:extLst>
                    <a:ext uri="{9D8B030D-6E8A-4147-A177-3AD203B41FA5}">
                      <a16:colId xmlns:a16="http://schemas.microsoft.com/office/drawing/2014/main" val="2662062343"/>
                    </a:ext>
                  </a:extLst>
                </a:gridCol>
                <a:gridCol w="812800">
                  <a:extLst>
                    <a:ext uri="{9D8B030D-6E8A-4147-A177-3AD203B41FA5}">
                      <a16:colId xmlns:a16="http://schemas.microsoft.com/office/drawing/2014/main" val="1716648642"/>
                    </a:ext>
                  </a:extLst>
                </a:gridCol>
                <a:gridCol w="812800">
                  <a:extLst>
                    <a:ext uri="{9D8B030D-6E8A-4147-A177-3AD203B41FA5}">
                      <a16:colId xmlns:a16="http://schemas.microsoft.com/office/drawing/2014/main" val="1498763901"/>
                    </a:ext>
                  </a:extLst>
                </a:gridCol>
              </a:tblGrid>
              <a:tr h="370840">
                <a:tc>
                  <a:txBody>
                    <a:bodyPr/>
                    <a:lstStyle/>
                    <a:p>
                      <a:r>
                        <a:rPr lang="en-US" altLang="zh-CN" dirty="0" smtClean="0">
                          <a:solidFill>
                            <a:schemeClr val="tx1"/>
                          </a:solidFill>
                        </a:rPr>
                        <a:t>-10</a:t>
                      </a:r>
                      <a:endParaRPr lang="zh-CN" altLang="en-US" dirty="0">
                        <a:solidFill>
                          <a:schemeClr val="tx1"/>
                        </a:solidFill>
                      </a:endParaRPr>
                    </a:p>
                  </a:txBody>
                  <a:tcPr>
                    <a:noFill/>
                  </a:tcPr>
                </a:tc>
                <a:tc>
                  <a:txBody>
                    <a:bodyPr/>
                    <a:lstStyle/>
                    <a:p>
                      <a:r>
                        <a:rPr lang="en-US" altLang="zh-CN" dirty="0" smtClean="0">
                          <a:solidFill>
                            <a:schemeClr val="tx1"/>
                          </a:solidFill>
                        </a:rPr>
                        <a:t>-9</a:t>
                      </a:r>
                      <a:endParaRPr lang="zh-CN" altLang="en-US" dirty="0">
                        <a:solidFill>
                          <a:schemeClr val="tx1"/>
                        </a:solidFill>
                      </a:endParaRPr>
                    </a:p>
                  </a:txBody>
                  <a:tcPr>
                    <a:noFill/>
                  </a:tcPr>
                </a:tc>
                <a:tc>
                  <a:txBody>
                    <a:bodyPr/>
                    <a:lstStyle/>
                    <a:p>
                      <a:r>
                        <a:rPr lang="en-US" altLang="zh-CN" dirty="0" smtClean="0">
                          <a:solidFill>
                            <a:schemeClr val="tx1"/>
                          </a:solidFill>
                        </a:rPr>
                        <a:t>-8</a:t>
                      </a:r>
                      <a:endParaRPr lang="zh-CN" altLang="en-US" dirty="0">
                        <a:solidFill>
                          <a:schemeClr val="tx1"/>
                        </a:solidFill>
                      </a:endParaRPr>
                    </a:p>
                  </a:txBody>
                  <a:tcPr>
                    <a:noFill/>
                  </a:tcPr>
                </a:tc>
                <a:tc>
                  <a:txBody>
                    <a:bodyPr/>
                    <a:lstStyle/>
                    <a:p>
                      <a:r>
                        <a:rPr lang="en-US" altLang="zh-CN" dirty="0" smtClean="0">
                          <a:solidFill>
                            <a:schemeClr val="tx1"/>
                          </a:solidFill>
                        </a:rPr>
                        <a:t>-7</a:t>
                      </a:r>
                      <a:endParaRPr lang="zh-CN" altLang="en-US" dirty="0">
                        <a:solidFill>
                          <a:schemeClr val="tx1"/>
                        </a:solidFill>
                      </a:endParaRPr>
                    </a:p>
                  </a:txBody>
                  <a:tcPr>
                    <a:noFill/>
                  </a:tcPr>
                </a:tc>
                <a:tc>
                  <a:txBody>
                    <a:bodyPr/>
                    <a:lstStyle/>
                    <a:p>
                      <a:r>
                        <a:rPr lang="en-US" altLang="zh-CN" dirty="0" smtClean="0">
                          <a:solidFill>
                            <a:schemeClr val="tx1"/>
                          </a:solidFill>
                        </a:rPr>
                        <a:t>-6</a:t>
                      </a:r>
                      <a:endParaRPr lang="zh-CN" altLang="en-US" dirty="0">
                        <a:solidFill>
                          <a:schemeClr val="tx1"/>
                        </a:solidFill>
                      </a:endParaRPr>
                    </a:p>
                  </a:txBody>
                  <a:tcPr>
                    <a:noFill/>
                  </a:tcPr>
                </a:tc>
                <a:tc>
                  <a:txBody>
                    <a:bodyPr/>
                    <a:lstStyle/>
                    <a:p>
                      <a:r>
                        <a:rPr lang="en-US" altLang="zh-CN" dirty="0" smtClean="0">
                          <a:solidFill>
                            <a:schemeClr val="tx1"/>
                          </a:solidFill>
                        </a:rPr>
                        <a:t>-5</a:t>
                      </a:r>
                      <a:endParaRPr lang="zh-CN" altLang="en-US" dirty="0">
                        <a:solidFill>
                          <a:schemeClr val="tx1"/>
                        </a:solidFill>
                      </a:endParaRPr>
                    </a:p>
                  </a:txBody>
                  <a:tcPr>
                    <a:noFill/>
                  </a:tcPr>
                </a:tc>
                <a:tc>
                  <a:txBody>
                    <a:bodyPr/>
                    <a:lstStyle/>
                    <a:p>
                      <a:r>
                        <a:rPr lang="en-US" altLang="zh-CN" dirty="0" smtClean="0">
                          <a:solidFill>
                            <a:schemeClr val="tx1"/>
                          </a:solidFill>
                        </a:rPr>
                        <a:t>-4</a:t>
                      </a:r>
                      <a:endParaRPr lang="zh-CN" altLang="en-US" dirty="0">
                        <a:solidFill>
                          <a:schemeClr val="tx1"/>
                        </a:solidFill>
                      </a:endParaRPr>
                    </a:p>
                  </a:txBody>
                  <a:tcPr>
                    <a:noFill/>
                  </a:tcPr>
                </a:tc>
                <a:tc>
                  <a:txBody>
                    <a:bodyPr/>
                    <a:lstStyle/>
                    <a:p>
                      <a:r>
                        <a:rPr lang="en-US" altLang="zh-CN" dirty="0" smtClean="0">
                          <a:solidFill>
                            <a:schemeClr val="tx1"/>
                          </a:solidFill>
                        </a:rPr>
                        <a:t>-3</a:t>
                      </a:r>
                      <a:endParaRPr lang="zh-CN" altLang="en-US" dirty="0">
                        <a:solidFill>
                          <a:schemeClr val="tx1"/>
                        </a:solidFill>
                      </a:endParaRPr>
                    </a:p>
                  </a:txBody>
                  <a:tcPr>
                    <a:noFill/>
                  </a:tcPr>
                </a:tc>
                <a:tc>
                  <a:txBody>
                    <a:bodyPr/>
                    <a:lstStyle/>
                    <a:p>
                      <a:r>
                        <a:rPr lang="en-US" altLang="zh-CN" dirty="0" smtClean="0">
                          <a:solidFill>
                            <a:schemeClr val="tx1"/>
                          </a:solidFill>
                        </a:rPr>
                        <a:t>-2</a:t>
                      </a:r>
                      <a:endParaRPr lang="zh-CN" altLang="en-US" dirty="0">
                        <a:solidFill>
                          <a:schemeClr val="tx1"/>
                        </a:solidFill>
                      </a:endParaRPr>
                    </a:p>
                  </a:txBody>
                  <a:tcPr>
                    <a:noFill/>
                  </a:tcPr>
                </a:tc>
                <a:tc>
                  <a:txBody>
                    <a:bodyPr/>
                    <a:lstStyle/>
                    <a:p>
                      <a:r>
                        <a:rPr lang="en-US" altLang="zh-CN" dirty="0" smtClean="0">
                          <a:solidFill>
                            <a:schemeClr val="tx1"/>
                          </a:solidFill>
                        </a:rPr>
                        <a:t>-1</a:t>
                      </a:r>
                      <a:endParaRPr lang="zh-CN" altLang="en-US" dirty="0">
                        <a:solidFill>
                          <a:schemeClr val="tx1"/>
                        </a:solidFill>
                      </a:endParaRPr>
                    </a:p>
                  </a:txBody>
                  <a:tcPr>
                    <a:noFill/>
                  </a:tcPr>
                </a:tc>
                <a:extLst>
                  <a:ext uri="{0D108BD9-81ED-4DB2-BD59-A6C34878D82A}">
                    <a16:rowId xmlns:a16="http://schemas.microsoft.com/office/drawing/2014/main" val="2629200669"/>
                  </a:ext>
                </a:extLst>
              </a:tr>
            </a:tbl>
          </a:graphicData>
        </a:graphic>
      </p:graphicFrame>
      <p:pic>
        <p:nvPicPr>
          <p:cNvPr id="8" name="图片 7"/>
          <p:cNvPicPr>
            <a:picLocks noChangeAspect="1"/>
          </p:cNvPicPr>
          <p:nvPr/>
        </p:nvPicPr>
        <p:blipFill>
          <a:blip r:embed="rId2"/>
          <a:stretch>
            <a:fillRect/>
          </a:stretch>
        </p:blipFill>
        <p:spPr>
          <a:xfrm>
            <a:off x="1638668" y="2964840"/>
            <a:ext cx="8368932" cy="3221083"/>
          </a:xfrm>
          <a:prstGeom prst="rect">
            <a:avLst/>
          </a:prstGeom>
        </p:spPr>
      </p:pic>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157631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952500" y="1445709"/>
            <a:ext cx="8763000" cy="3611245"/>
          </a:xfrm>
          <a:prstGeom prst="rect">
            <a:avLst/>
          </a:prstGeom>
        </p:spPr>
        <p:txBody>
          <a:bodyPr vert="horz" wrap="square" lIns="0" tIns="12700" rIns="0" bIns="0" rtlCol="0">
            <a:spAutoFit/>
          </a:bodyPr>
          <a:lstStyle/>
          <a:p>
            <a:pPr marL="12700">
              <a:lnSpc>
                <a:spcPct val="150000"/>
              </a:lnSpc>
              <a:spcBef>
                <a:spcPts val="100"/>
              </a:spcBef>
            </a:pPr>
            <a:r>
              <a:rPr lang="en-US" altLang="zh-CN" sz="2400" b="1" spc="-40" dirty="0" smtClean="0">
                <a:solidFill>
                  <a:srgbClr val="AC2B25"/>
                </a:solidFill>
                <a:latin typeface="宋体"/>
                <a:cs typeface="宋体"/>
              </a:rPr>
              <a:t>9</a:t>
            </a:r>
            <a:r>
              <a:rPr lang="zh-CN" altLang="en-US" sz="2400" b="1" spc="-40" dirty="0" smtClean="0">
                <a:solidFill>
                  <a:srgbClr val="AC2B25"/>
                </a:solidFill>
                <a:latin typeface="宋体"/>
                <a:cs typeface="宋体"/>
              </a:rPr>
              <a:t>、</a:t>
            </a:r>
            <a:r>
              <a:rPr lang="en-US" altLang="zh-CN" sz="2400" b="1" spc="-40" dirty="0" err="1" smtClean="0">
                <a:solidFill>
                  <a:srgbClr val="AC2B25"/>
                </a:solidFill>
                <a:latin typeface="宋体"/>
                <a:cs typeface="宋体"/>
              </a:rPr>
              <a:t>indexOf</a:t>
            </a:r>
            <a:r>
              <a:rPr lang="en-US" altLang="zh-CN" sz="2400" b="1" spc="-40" dirty="0" smtClean="0">
                <a:solidFill>
                  <a:srgbClr val="AC2B25"/>
                </a:solidFill>
                <a:latin typeface="宋体"/>
                <a:cs typeface="宋体"/>
              </a:rPr>
              <a:t>()</a:t>
            </a:r>
            <a:r>
              <a:rPr lang="zh-CN" altLang="en-US" sz="2400" b="1" spc="-40" dirty="0" smtClean="0">
                <a:solidFill>
                  <a:srgbClr val="AC2B25"/>
                </a:solidFill>
                <a:latin typeface="宋体"/>
                <a:cs typeface="宋体"/>
              </a:rPr>
              <a:t>方法和</a:t>
            </a:r>
            <a:r>
              <a:rPr lang="en-US" altLang="zh-CN" sz="2400" b="1" spc="-40" dirty="0" err="1" smtClean="0">
                <a:solidFill>
                  <a:srgbClr val="AC2B25"/>
                </a:solidFill>
                <a:latin typeface="宋体"/>
                <a:cs typeface="宋体"/>
              </a:rPr>
              <a:t>lastIndexOf</a:t>
            </a:r>
            <a:r>
              <a:rPr lang="en-US" altLang="zh-CN" sz="2400" b="1" spc="-40" dirty="0" smtClean="0">
                <a:solidFill>
                  <a:srgbClr val="AC2B25"/>
                </a:solidFill>
                <a:latin typeface="宋体"/>
                <a:cs typeface="宋体"/>
              </a:rPr>
              <a:t>()</a:t>
            </a:r>
            <a:r>
              <a:rPr lang="zh-CN" altLang="en-US" sz="2400" b="1" spc="-40" dirty="0" smtClean="0">
                <a:solidFill>
                  <a:srgbClr val="AC2B25"/>
                </a:solidFill>
                <a:latin typeface="宋体"/>
                <a:cs typeface="宋体"/>
              </a:rPr>
              <a:t>方法</a:t>
            </a:r>
            <a:endParaRPr lang="en-US" sz="1600" b="1"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两个方法用于在数组中查找数据。格式如下：</a:t>
            </a:r>
            <a:endParaRPr lang="en-US" altLang="zh-CN" spc="-30" dirty="0" smtClean="0">
              <a:solidFill>
                <a:srgbClr val="FF0000"/>
              </a:solidFill>
              <a:latin typeface="宋体"/>
              <a:cs typeface="宋体"/>
            </a:endParaRPr>
          </a:p>
          <a:p>
            <a:pPr marL="12700">
              <a:lnSpc>
                <a:spcPct val="150000"/>
              </a:lnSpc>
              <a:spcBef>
                <a:spcPts val="100"/>
              </a:spcBef>
            </a:pPr>
            <a:r>
              <a:rPr lang="zh-CN" altLang="en-US" sz="2000" spc="-30" dirty="0" smtClean="0">
                <a:solidFill>
                  <a:srgbClr val="FF0000"/>
                </a:solidFill>
                <a:latin typeface="宋体"/>
                <a:cs typeface="宋体"/>
              </a:rPr>
              <a:t>数组</a:t>
            </a:r>
            <a:r>
              <a:rPr lang="en-US" altLang="zh-CN" sz="2000" spc="-30" dirty="0" smtClean="0">
                <a:solidFill>
                  <a:srgbClr val="FF0000"/>
                </a:solidFill>
                <a:latin typeface="宋体"/>
                <a:cs typeface="宋体"/>
              </a:rPr>
              <a:t>.</a:t>
            </a:r>
            <a:r>
              <a:rPr lang="en-US" altLang="zh-CN" sz="2000" spc="-30" dirty="0" err="1" smtClean="0">
                <a:solidFill>
                  <a:srgbClr val="FF0000"/>
                </a:solidFill>
                <a:latin typeface="宋体"/>
                <a:cs typeface="宋体"/>
              </a:rPr>
              <a:t>indexOf</a:t>
            </a:r>
            <a:r>
              <a:rPr lang="en-US" altLang="zh-CN" sz="2000" spc="-30" dirty="0" smtClean="0">
                <a:solidFill>
                  <a:srgbClr val="FF0000"/>
                </a:solidFill>
                <a:latin typeface="宋体"/>
                <a:cs typeface="宋体"/>
              </a:rPr>
              <a:t>(</a:t>
            </a:r>
            <a:r>
              <a:rPr lang="zh-CN" altLang="en-US" sz="2000" spc="-30" dirty="0" smtClean="0">
                <a:solidFill>
                  <a:srgbClr val="FF0000"/>
                </a:solidFill>
                <a:latin typeface="宋体"/>
                <a:cs typeface="宋体"/>
              </a:rPr>
              <a:t>待查找项</a:t>
            </a:r>
            <a:r>
              <a:rPr lang="en-US" altLang="zh-CN" sz="2000" spc="-30" dirty="0" smtClean="0">
                <a:solidFill>
                  <a:srgbClr val="FF0000"/>
                </a:solidFill>
                <a:latin typeface="宋体"/>
                <a:cs typeface="宋体"/>
              </a:rPr>
              <a:t>, </a:t>
            </a:r>
            <a:r>
              <a:rPr lang="zh-CN" altLang="en-US" sz="2000" spc="-30" dirty="0" smtClean="0">
                <a:solidFill>
                  <a:srgbClr val="FF0000"/>
                </a:solidFill>
                <a:latin typeface="宋体"/>
                <a:cs typeface="宋体"/>
              </a:rPr>
              <a:t>查找起点的下标</a:t>
            </a:r>
            <a:r>
              <a:rPr lang="en-US" altLang="zh-CN" sz="2000" spc="-30" dirty="0" smtClean="0">
                <a:solidFill>
                  <a:srgbClr val="FF0000"/>
                </a:solidFill>
                <a:latin typeface="宋体"/>
                <a:cs typeface="宋体"/>
              </a:rPr>
              <a:t>)</a:t>
            </a:r>
          </a:p>
          <a:p>
            <a:pPr marL="12700">
              <a:lnSpc>
                <a:spcPct val="150000"/>
              </a:lnSpc>
              <a:spcBef>
                <a:spcPts val="100"/>
              </a:spcBef>
            </a:pPr>
            <a:r>
              <a:rPr lang="zh-CN" altLang="en-US" sz="2000" spc="-30" dirty="0">
                <a:solidFill>
                  <a:srgbClr val="FF0000"/>
                </a:solidFill>
                <a:latin typeface="宋体"/>
                <a:cs typeface="宋体"/>
              </a:rPr>
              <a:t>数组</a:t>
            </a:r>
            <a:r>
              <a:rPr lang="en-US" altLang="zh-CN" sz="2000" spc="-30" dirty="0" smtClean="0">
                <a:solidFill>
                  <a:srgbClr val="FF0000"/>
                </a:solidFill>
                <a:latin typeface="宋体"/>
                <a:cs typeface="宋体"/>
              </a:rPr>
              <a:t>.</a:t>
            </a:r>
            <a:r>
              <a:rPr lang="en-US" altLang="zh-CN" sz="2000" spc="-30" dirty="0" err="1" smtClean="0">
                <a:solidFill>
                  <a:srgbClr val="FF0000"/>
                </a:solidFill>
                <a:latin typeface="宋体"/>
                <a:cs typeface="宋体"/>
              </a:rPr>
              <a:t>lastIndexOf</a:t>
            </a:r>
            <a:r>
              <a:rPr lang="en-US" altLang="zh-CN" sz="2000" spc="-30" dirty="0">
                <a:solidFill>
                  <a:srgbClr val="FF0000"/>
                </a:solidFill>
                <a:latin typeface="宋体"/>
                <a:cs typeface="宋体"/>
              </a:rPr>
              <a:t>(</a:t>
            </a:r>
            <a:r>
              <a:rPr lang="zh-CN" altLang="en-US" sz="2000" spc="-30" dirty="0">
                <a:solidFill>
                  <a:srgbClr val="FF0000"/>
                </a:solidFill>
                <a:latin typeface="宋体"/>
                <a:cs typeface="宋体"/>
              </a:rPr>
              <a:t>待查找项</a:t>
            </a:r>
            <a:r>
              <a:rPr lang="en-US" altLang="zh-CN" sz="2000" spc="-30" dirty="0">
                <a:solidFill>
                  <a:srgbClr val="FF0000"/>
                </a:solidFill>
                <a:latin typeface="宋体"/>
                <a:cs typeface="宋体"/>
              </a:rPr>
              <a:t>, </a:t>
            </a:r>
            <a:r>
              <a:rPr lang="zh-CN" altLang="en-US" sz="2000" spc="-30" dirty="0">
                <a:solidFill>
                  <a:srgbClr val="FF0000"/>
                </a:solidFill>
                <a:latin typeface="宋体"/>
                <a:cs typeface="宋体"/>
              </a:rPr>
              <a:t>查找起点的下标</a:t>
            </a:r>
            <a:r>
              <a:rPr lang="en-US" altLang="zh-CN" sz="2000" spc="-30" dirty="0" smtClean="0">
                <a:solidFill>
                  <a:srgbClr val="FF0000"/>
                </a:solidFill>
                <a:latin typeface="宋体"/>
                <a:cs typeface="宋体"/>
              </a:rPr>
              <a:t>)</a:t>
            </a:r>
            <a:endParaRPr lang="en-US" altLang="zh-CN" sz="1600" spc="-30" dirty="0">
              <a:solidFill>
                <a:srgbClr val="FF0000"/>
              </a:solidFill>
              <a:latin typeface="宋体"/>
              <a:cs typeface="宋体"/>
            </a:endParaRPr>
          </a:p>
          <a:p>
            <a:pPr marL="12700">
              <a:lnSpc>
                <a:spcPct val="150000"/>
              </a:lnSpc>
              <a:spcBef>
                <a:spcPts val="100"/>
              </a:spcBef>
            </a:pPr>
            <a:r>
              <a:rPr lang="en-US" altLang="zh-CN" spc="-30" dirty="0" err="1">
                <a:solidFill>
                  <a:srgbClr val="252525"/>
                </a:solidFill>
                <a:latin typeface="宋体"/>
                <a:cs typeface="宋体"/>
              </a:rPr>
              <a:t>indexOf</a:t>
            </a:r>
            <a:r>
              <a:rPr lang="en-US" altLang="zh-CN" spc="-30" dirty="0" smtClean="0">
                <a:solidFill>
                  <a:srgbClr val="252525"/>
                </a:solidFill>
                <a:latin typeface="宋体"/>
                <a:cs typeface="宋体"/>
              </a:rPr>
              <a:t>()</a:t>
            </a:r>
            <a:r>
              <a:rPr lang="zh-CN" altLang="en-US" spc="-30" dirty="0" smtClean="0">
                <a:solidFill>
                  <a:srgbClr val="252525"/>
                </a:solidFill>
                <a:latin typeface="宋体"/>
                <a:cs typeface="宋体"/>
              </a:rPr>
              <a:t>用于从前向后查找数组元素，默认从第一个元素开始查找。</a:t>
            </a:r>
            <a:endParaRPr lang="en-US" altLang="zh-CN" spc="-30" dirty="0" smtClean="0">
              <a:solidFill>
                <a:srgbClr val="252525"/>
              </a:solidFill>
              <a:latin typeface="宋体"/>
              <a:cs typeface="宋体"/>
            </a:endParaRPr>
          </a:p>
          <a:p>
            <a:pPr marL="12700">
              <a:lnSpc>
                <a:spcPct val="150000"/>
              </a:lnSpc>
              <a:spcBef>
                <a:spcPts val="100"/>
              </a:spcBef>
            </a:pPr>
            <a:r>
              <a:rPr lang="en-US" altLang="zh-CN" spc="-30" dirty="0" err="1" smtClean="0">
                <a:solidFill>
                  <a:srgbClr val="252525"/>
                </a:solidFill>
                <a:latin typeface="宋体"/>
                <a:cs typeface="宋体"/>
              </a:rPr>
              <a:t>lastIndexOf</a:t>
            </a:r>
            <a:r>
              <a:rPr lang="en-US" altLang="zh-CN" spc="-30" dirty="0" smtClean="0">
                <a:solidFill>
                  <a:srgbClr val="252525"/>
                </a:solidFill>
                <a:latin typeface="宋体"/>
                <a:cs typeface="宋体"/>
              </a:rPr>
              <a:t>()</a:t>
            </a:r>
            <a:r>
              <a:rPr lang="zh-CN" altLang="en-US" spc="-30" dirty="0">
                <a:solidFill>
                  <a:srgbClr val="252525"/>
                </a:solidFill>
                <a:latin typeface="宋体"/>
                <a:cs typeface="宋体"/>
              </a:rPr>
              <a:t>用于</a:t>
            </a:r>
            <a:r>
              <a:rPr lang="zh-CN" altLang="en-US" spc="-30" dirty="0" smtClean="0">
                <a:solidFill>
                  <a:srgbClr val="252525"/>
                </a:solidFill>
                <a:latin typeface="宋体"/>
                <a:cs typeface="宋体"/>
              </a:rPr>
              <a:t>从后向前查找</a:t>
            </a:r>
            <a:r>
              <a:rPr lang="zh-CN" altLang="en-US" spc="-30" dirty="0">
                <a:solidFill>
                  <a:srgbClr val="252525"/>
                </a:solidFill>
                <a:latin typeface="宋体"/>
                <a:cs typeface="宋体"/>
              </a:rPr>
              <a:t>数组元素，默认</a:t>
            </a:r>
            <a:r>
              <a:rPr lang="zh-CN" altLang="en-US" spc="-30" dirty="0" smtClean="0">
                <a:solidFill>
                  <a:srgbClr val="252525"/>
                </a:solidFill>
                <a:latin typeface="宋体"/>
                <a:cs typeface="宋体"/>
              </a:rPr>
              <a:t>从最后一</a:t>
            </a:r>
            <a:r>
              <a:rPr lang="zh-CN" altLang="en-US" spc="-30" dirty="0">
                <a:solidFill>
                  <a:srgbClr val="252525"/>
                </a:solidFill>
                <a:latin typeface="宋体"/>
                <a:cs typeface="宋体"/>
              </a:rPr>
              <a:t>个元素开始</a:t>
            </a:r>
            <a:r>
              <a:rPr lang="zh-CN" altLang="en-US" spc="-30" dirty="0" smtClean="0">
                <a:solidFill>
                  <a:srgbClr val="252525"/>
                </a:solidFill>
                <a:latin typeface="宋体"/>
                <a:cs typeface="宋体"/>
              </a:rPr>
              <a:t>查找。</a:t>
            </a:r>
            <a:endParaRPr lang="en-US" altLang="zh-CN" spc="-30" dirty="0" smtClean="0">
              <a:solidFill>
                <a:srgbClr val="252525"/>
              </a:solidFill>
              <a:latin typeface="宋体"/>
              <a:cs typeface="宋体"/>
            </a:endParaRPr>
          </a:p>
          <a:p>
            <a:pPr marL="12700">
              <a:lnSpc>
                <a:spcPct val="150000"/>
              </a:lnSpc>
              <a:spcBef>
                <a:spcPts val="100"/>
              </a:spcBef>
            </a:pPr>
            <a:r>
              <a:rPr lang="zh-CN" altLang="en-US" spc="-30" dirty="0" smtClean="0">
                <a:solidFill>
                  <a:srgbClr val="252525"/>
                </a:solidFill>
                <a:latin typeface="宋体"/>
                <a:cs typeface="宋体"/>
              </a:rPr>
              <a:t>数据找到后返回元素下标，未找到返回</a:t>
            </a:r>
            <a:r>
              <a:rPr lang="en-US" altLang="zh-CN" spc="-30" dirty="0" smtClean="0">
                <a:solidFill>
                  <a:srgbClr val="252525"/>
                </a:solidFill>
                <a:latin typeface="宋体"/>
                <a:cs typeface="宋体"/>
              </a:rPr>
              <a:t>-1</a:t>
            </a:r>
            <a:r>
              <a:rPr lang="zh-CN" altLang="en-US" spc="-30" dirty="0" smtClean="0">
                <a:solidFill>
                  <a:srgbClr val="252525"/>
                </a:solidFill>
                <a:latin typeface="宋体"/>
                <a:cs typeface="宋体"/>
              </a:rPr>
              <a:t>；查找过程中采用</a:t>
            </a:r>
            <a:r>
              <a:rPr lang="en-US" altLang="zh-CN" spc="-30" dirty="0" smtClean="0">
                <a:solidFill>
                  <a:srgbClr val="252525"/>
                </a:solidFill>
                <a:latin typeface="宋体"/>
                <a:cs typeface="宋体"/>
              </a:rPr>
              <a:t>===</a:t>
            </a:r>
            <a:r>
              <a:rPr lang="zh-CN" altLang="en-US" spc="-30" dirty="0" smtClean="0">
                <a:solidFill>
                  <a:srgbClr val="252525"/>
                </a:solidFill>
                <a:latin typeface="宋体"/>
                <a:cs typeface="宋体"/>
              </a:rPr>
              <a:t>进行比较。</a:t>
            </a:r>
            <a:endParaRPr lang="en-US" altLang="zh-CN" spc="-30" dirty="0" smtClean="0">
              <a:solidFill>
                <a:srgbClr val="252525"/>
              </a:solidFill>
              <a:latin typeface="宋体"/>
              <a:cs typeface="宋体"/>
            </a:endParaRPr>
          </a:p>
          <a:p>
            <a:pPr marL="12700">
              <a:lnSpc>
                <a:spcPct val="150000"/>
              </a:lnSpc>
              <a:spcBef>
                <a:spcPts val="100"/>
              </a:spcBef>
            </a:pPr>
            <a:r>
              <a:rPr lang="zh-CN" altLang="en-US" sz="1600" spc="-30" dirty="0" smtClean="0">
                <a:solidFill>
                  <a:srgbClr val="252525"/>
                </a:solidFill>
                <a:latin typeface="宋体"/>
                <a:cs typeface="宋体"/>
              </a:rPr>
              <a:t> </a:t>
            </a:r>
            <a:endParaRPr lang="en-US" sz="1600" spc="-30" dirty="0" smtClean="0">
              <a:solidFill>
                <a:srgbClr val="252525"/>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43</a:t>
            </a:fld>
            <a:endParaRPr lang="zh-CN" altLang="en-US"/>
          </a:p>
        </p:txBody>
      </p:sp>
      <p:pic>
        <p:nvPicPr>
          <p:cNvPr id="4" name="图片 3"/>
          <p:cNvPicPr>
            <a:picLocks noChangeAspect="1"/>
          </p:cNvPicPr>
          <p:nvPr/>
        </p:nvPicPr>
        <p:blipFill>
          <a:blip r:embed="rId2"/>
          <a:stretch>
            <a:fillRect/>
          </a:stretch>
        </p:blipFill>
        <p:spPr>
          <a:xfrm>
            <a:off x="952500" y="4828765"/>
            <a:ext cx="8116940" cy="2029235"/>
          </a:xfrm>
          <a:prstGeom prst="rect">
            <a:avLst/>
          </a:prstGeom>
        </p:spPr>
      </p:pic>
      <p:sp>
        <p:nvSpPr>
          <p:cNvPr id="5" name="标题 4"/>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15288220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952500" y="1369608"/>
            <a:ext cx="8763000" cy="1700466"/>
          </a:xfrm>
          <a:prstGeom prst="rect">
            <a:avLst/>
          </a:prstGeom>
        </p:spPr>
        <p:txBody>
          <a:bodyPr vert="horz" wrap="square" lIns="0" tIns="12700" rIns="0" bIns="0" rtlCol="0">
            <a:spAutoFit/>
          </a:bodyPr>
          <a:lstStyle/>
          <a:p>
            <a:pPr marL="12700">
              <a:lnSpc>
                <a:spcPct val="150000"/>
              </a:lnSpc>
              <a:spcBef>
                <a:spcPts val="100"/>
              </a:spcBef>
            </a:pPr>
            <a:r>
              <a:rPr lang="en-US" altLang="zh-CN" sz="3200" spc="-40" dirty="0" smtClean="0">
                <a:solidFill>
                  <a:srgbClr val="AC2B25"/>
                </a:solidFill>
                <a:latin typeface="宋体"/>
                <a:cs typeface="宋体"/>
              </a:rPr>
              <a:t>10</a:t>
            </a:r>
            <a:r>
              <a:rPr lang="zh-CN" altLang="en-US" sz="3200" spc="-40" dirty="0" smtClean="0">
                <a:solidFill>
                  <a:srgbClr val="AC2B25"/>
                </a:solidFill>
                <a:latin typeface="宋体"/>
                <a:cs typeface="宋体"/>
              </a:rPr>
              <a:t>、</a:t>
            </a:r>
            <a:r>
              <a:rPr lang="en-US" altLang="zh-CN" sz="3200" spc="-40" dirty="0" smtClean="0">
                <a:solidFill>
                  <a:srgbClr val="AC2B25"/>
                </a:solidFill>
                <a:latin typeface="宋体"/>
                <a:cs typeface="宋体"/>
              </a:rPr>
              <a:t>map()</a:t>
            </a:r>
            <a:r>
              <a:rPr lang="zh-CN" altLang="en-US" sz="3200" spc="-40" dirty="0" smtClean="0">
                <a:solidFill>
                  <a:srgbClr val="AC2B25"/>
                </a:solidFill>
                <a:latin typeface="宋体"/>
                <a:cs typeface="宋体"/>
              </a:rPr>
              <a:t>方法</a:t>
            </a:r>
            <a:endParaRPr lang="en-US" altLang="zh-CN" sz="3200" spc="-40" dirty="0" smtClean="0">
              <a:solidFill>
                <a:srgbClr val="AC2B25"/>
              </a:solidFill>
              <a:latin typeface="宋体"/>
              <a:cs typeface="宋体"/>
            </a:endParaRPr>
          </a:p>
          <a:p>
            <a:pPr marL="12700">
              <a:lnSpc>
                <a:spcPct val="150000"/>
              </a:lnSpc>
              <a:spcBef>
                <a:spcPts val="100"/>
              </a:spcBef>
            </a:pPr>
            <a:r>
              <a:rPr lang="zh-CN" altLang="en-US" sz="2000" spc="-30" dirty="0" smtClean="0">
                <a:solidFill>
                  <a:srgbClr val="252525"/>
                </a:solidFill>
                <a:latin typeface="宋体"/>
                <a:cs typeface="宋体"/>
              </a:rPr>
              <a:t>用于对每个数组元素运行指定函数，映射结果组成新的数组并返回。</a:t>
            </a:r>
            <a:endParaRPr lang="en-US" altLang="zh-CN" sz="2000" spc="-30" dirty="0" smtClean="0">
              <a:solidFill>
                <a:srgbClr val="252525"/>
              </a:solidFill>
              <a:latin typeface="宋体"/>
              <a:cs typeface="宋体"/>
            </a:endParaRPr>
          </a:p>
          <a:p>
            <a:pPr marL="12700">
              <a:lnSpc>
                <a:spcPct val="150000"/>
              </a:lnSpc>
              <a:spcBef>
                <a:spcPts val="100"/>
              </a:spcBef>
            </a:pPr>
            <a:r>
              <a:rPr lang="zh-CN" altLang="en-US" sz="2000" spc="-30" dirty="0" smtClean="0">
                <a:solidFill>
                  <a:srgbClr val="252525"/>
                </a:solidFill>
                <a:latin typeface="宋体"/>
                <a:cs typeface="宋体"/>
              </a:rPr>
              <a:t>例如，使用</a:t>
            </a:r>
            <a:r>
              <a:rPr lang="en-US" altLang="zh-CN" sz="2000" spc="-30" dirty="0" smtClean="0">
                <a:solidFill>
                  <a:srgbClr val="252525"/>
                </a:solidFill>
                <a:latin typeface="宋体"/>
                <a:cs typeface="宋体"/>
              </a:rPr>
              <a:t>map()</a:t>
            </a:r>
            <a:r>
              <a:rPr lang="zh-CN" altLang="en-US" sz="2000" spc="-30" dirty="0" smtClean="0">
                <a:solidFill>
                  <a:srgbClr val="252525"/>
                </a:solidFill>
                <a:latin typeface="宋体"/>
                <a:cs typeface="宋体"/>
              </a:rPr>
              <a:t>方法实现求数组中每个元素的平方。</a:t>
            </a:r>
            <a:endParaRPr lang="en-US" altLang="zh-CN" sz="2000" spc="-30" dirty="0" smtClean="0">
              <a:solidFill>
                <a:srgbClr val="FF0000"/>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44</a:t>
            </a:fld>
            <a:endParaRPr lang="zh-CN" altLang="en-US"/>
          </a:p>
        </p:txBody>
      </p:sp>
      <p:pic>
        <p:nvPicPr>
          <p:cNvPr id="2" name="图片 1"/>
          <p:cNvPicPr>
            <a:picLocks noChangeAspect="1"/>
          </p:cNvPicPr>
          <p:nvPr/>
        </p:nvPicPr>
        <p:blipFill>
          <a:blip r:embed="rId2"/>
          <a:stretch>
            <a:fillRect/>
          </a:stretch>
        </p:blipFill>
        <p:spPr>
          <a:xfrm>
            <a:off x="952499" y="3429000"/>
            <a:ext cx="10042635" cy="2667000"/>
          </a:xfrm>
          <a:prstGeom prst="rect">
            <a:avLst/>
          </a:prstGeom>
        </p:spPr>
      </p:pic>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32648675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952500" y="1369608"/>
            <a:ext cx="10934700" cy="1872307"/>
          </a:xfrm>
          <a:prstGeom prst="rect">
            <a:avLst/>
          </a:prstGeom>
        </p:spPr>
        <p:txBody>
          <a:bodyPr vert="horz" wrap="square" lIns="0" tIns="12700" rIns="0" bIns="0" rtlCol="0">
            <a:spAutoFit/>
          </a:bodyPr>
          <a:lstStyle/>
          <a:p>
            <a:pPr marL="12700">
              <a:lnSpc>
                <a:spcPct val="150000"/>
              </a:lnSpc>
              <a:spcBef>
                <a:spcPts val="100"/>
              </a:spcBef>
            </a:pPr>
            <a:r>
              <a:rPr lang="en-US" altLang="zh-CN" sz="3200" spc="-40" dirty="0" smtClean="0">
                <a:solidFill>
                  <a:srgbClr val="AC2B25"/>
                </a:solidFill>
                <a:latin typeface="宋体"/>
                <a:cs typeface="宋体"/>
              </a:rPr>
              <a:t>11</a:t>
            </a:r>
            <a:r>
              <a:rPr lang="zh-CN" altLang="en-US" sz="3200" spc="-40" dirty="0" smtClean="0">
                <a:solidFill>
                  <a:srgbClr val="AC2B25"/>
                </a:solidFill>
                <a:latin typeface="宋体"/>
                <a:cs typeface="宋体"/>
              </a:rPr>
              <a:t>、</a:t>
            </a:r>
            <a:r>
              <a:rPr lang="en-US" altLang="zh-CN" sz="3200" spc="-40" dirty="0">
                <a:solidFill>
                  <a:srgbClr val="AC2B25"/>
                </a:solidFill>
                <a:latin typeface="宋体"/>
                <a:cs typeface="宋体"/>
              </a:rPr>
              <a:t>reduce()</a:t>
            </a:r>
            <a:r>
              <a:rPr lang="zh-CN" altLang="en-US" sz="3200" spc="-40" dirty="0">
                <a:solidFill>
                  <a:srgbClr val="AC2B25"/>
                </a:solidFill>
                <a:latin typeface="宋体"/>
                <a:cs typeface="宋体"/>
              </a:rPr>
              <a:t>方法</a:t>
            </a:r>
          </a:p>
          <a:p>
            <a:pPr marL="12700">
              <a:lnSpc>
                <a:spcPct val="150000"/>
              </a:lnSpc>
              <a:spcBef>
                <a:spcPts val="100"/>
              </a:spcBef>
            </a:pPr>
            <a:r>
              <a:rPr lang="zh-CN" altLang="en-US" sz="2400" spc="-40" dirty="0">
                <a:latin typeface="宋体"/>
                <a:cs typeface="宋体"/>
              </a:rPr>
              <a:t>可以对数组每个元素运行指定函数作为累计器，数组元素依次汇集，最终成为一个值</a:t>
            </a:r>
            <a:r>
              <a:rPr lang="zh-CN" altLang="en-US" sz="2400" spc="-40" dirty="0" smtClean="0">
                <a:latin typeface="宋体"/>
                <a:cs typeface="宋体"/>
              </a:rPr>
              <a:t>。例如</a:t>
            </a:r>
            <a:r>
              <a:rPr lang="zh-CN" altLang="en-US" sz="2400" spc="-40" dirty="0">
                <a:latin typeface="宋体"/>
                <a:cs typeface="宋体"/>
              </a:rPr>
              <a:t>，使用</a:t>
            </a:r>
            <a:r>
              <a:rPr lang="en-US" altLang="zh-CN" sz="2400" spc="-40" dirty="0">
                <a:latin typeface="宋体"/>
                <a:cs typeface="宋体"/>
              </a:rPr>
              <a:t>reduce()</a:t>
            </a:r>
            <a:r>
              <a:rPr lang="zh-CN" altLang="en-US" sz="2400" spc="-40" dirty="0">
                <a:latin typeface="宋体"/>
                <a:cs typeface="宋体"/>
              </a:rPr>
              <a:t>方法求数组元素的和，如图所示：</a:t>
            </a: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45</a:t>
            </a:fld>
            <a:endParaRPr lang="zh-CN" altLang="en-US"/>
          </a:p>
        </p:txBody>
      </p:sp>
      <p:sp>
        <p:nvSpPr>
          <p:cNvPr id="4" name="标题 3"/>
          <p:cNvSpPr>
            <a:spLocks noGrp="1"/>
          </p:cNvSpPr>
          <p:nvPr>
            <p:ph type="title"/>
          </p:nvPr>
        </p:nvSpPr>
        <p:spPr/>
        <p:txBody>
          <a:bodyPr/>
          <a:lstStyle/>
          <a:p>
            <a:r>
              <a:rPr lang="zh-CN" altLang="en-US" dirty="0" smtClean="0"/>
              <a:t>数组</a:t>
            </a:r>
            <a:endParaRPr lang="zh-CN" altLang="en-US" dirty="0"/>
          </a:p>
        </p:txBody>
      </p:sp>
      <p:pic>
        <p:nvPicPr>
          <p:cNvPr id="7" name="图片 6"/>
          <p:cNvPicPr>
            <a:picLocks noChangeAspect="1"/>
          </p:cNvPicPr>
          <p:nvPr/>
        </p:nvPicPr>
        <p:blipFill>
          <a:blip r:embed="rId2"/>
          <a:stretch>
            <a:fillRect/>
          </a:stretch>
        </p:blipFill>
        <p:spPr>
          <a:xfrm>
            <a:off x="952500" y="3434364"/>
            <a:ext cx="10842893" cy="2661636"/>
          </a:xfrm>
          <a:prstGeom prst="rect">
            <a:avLst/>
          </a:prstGeom>
        </p:spPr>
      </p:pic>
    </p:spTree>
    <p:extLst>
      <p:ext uri="{BB962C8B-B14F-4D97-AF65-F5344CB8AC3E}">
        <p14:creationId xmlns:p14="http://schemas.microsoft.com/office/powerpoint/2010/main" val="29238315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952500" y="1625600"/>
            <a:ext cx="10096500" cy="1885131"/>
          </a:xfrm>
          <a:prstGeom prst="rect">
            <a:avLst/>
          </a:prstGeom>
        </p:spPr>
        <p:txBody>
          <a:bodyPr vert="horz" wrap="square" lIns="0" tIns="12700" rIns="0" bIns="0" rtlCol="0">
            <a:spAutoFit/>
          </a:bodyPr>
          <a:lstStyle/>
          <a:p>
            <a:pPr marL="12700">
              <a:lnSpc>
                <a:spcPct val="150000"/>
              </a:lnSpc>
              <a:spcBef>
                <a:spcPts val="100"/>
              </a:spcBef>
            </a:pPr>
            <a:r>
              <a:rPr lang="en-US" altLang="zh-CN" sz="3200" b="1" spc="-40" dirty="0" smtClean="0">
                <a:solidFill>
                  <a:srgbClr val="AC2B25"/>
                </a:solidFill>
                <a:latin typeface="宋体"/>
                <a:cs typeface="宋体"/>
              </a:rPr>
              <a:t>12</a:t>
            </a:r>
            <a:r>
              <a:rPr lang="zh-CN" altLang="en-US" sz="3200" b="1" spc="-40" dirty="0" smtClean="0">
                <a:solidFill>
                  <a:srgbClr val="AC2B25"/>
                </a:solidFill>
                <a:latin typeface="宋体"/>
                <a:cs typeface="宋体"/>
              </a:rPr>
              <a:t>、</a:t>
            </a:r>
            <a:r>
              <a:rPr lang="en-US" altLang="zh-CN" sz="3200" b="1" spc="-40" dirty="0" smtClean="0">
                <a:solidFill>
                  <a:srgbClr val="AC2B25"/>
                </a:solidFill>
                <a:latin typeface="宋体"/>
                <a:cs typeface="宋体"/>
              </a:rPr>
              <a:t>filter()</a:t>
            </a:r>
            <a:r>
              <a:rPr lang="zh-CN" altLang="en-US" sz="3200" b="1" spc="-40" dirty="0" smtClean="0">
                <a:solidFill>
                  <a:srgbClr val="AC2B25"/>
                </a:solidFill>
                <a:latin typeface="宋体"/>
                <a:cs typeface="宋体"/>
              </a:rPr>
              <a:t>方法</a:t>
            </a:r>
            <a:endParaRPr lang="en-US" altLang="zh-CN" sz="3200" b="1" spc="-40" dirty="0" smtClean="0">
              <a:solidFill>
                <a:srgbClr val="AC2B25"/>
              </a:solidFill>
              <a:latin typeface="宋体"/>
              <a:cs typeface="宋体"/>
            </a:endParaRPr>
          </a:p>
          <a:p>
            <a:pPr marL="12700">
              <a:lnSpc>
                <a:spcPct val="150000"/>
              </a:lnSpc>
              <a:spcBef>
                <a:spcPts val="100"/>
              </a:spcBef>
            </a:pPr>
            <a:r>
              <a:rPr lang="zh-CN" altLang="en-US" sz="2400" spc="-30" dirty="0">
                <a:solidFill>
                  <a:srgbClr val="252525"/>
                </a:solidFill>
                <a:latin typeface="宋体"/>
                <a:cs typeface="宋体"/>
              </a:rPr>
              <a:t>可以</a:t>
            </a:r>
            <a:r>
              <a:rPr lang="zh-CN" altLang="en-US" sz="2400" spc="-30" dirty="0" smtClean="0">
                <a:solidFill>
                  <a:srgbClr val="252525"/>
                </a:solidFill>
                <a:latin typeface="宋体"/>
                <a:cs typeface="宋体"/>
              </a:rPr>
              <a:t>对数组每个元素运行指定函数，过滤结果组成新的数组并返回。</a:t>
            </a:r>
            <a:endParaRPr lang="en-US" altLang="zh-CN" sz="2400" spc="-30" dirty="0" smtClean="0">
              <a:solidFill>
                <a:srgbClr val="252525"/>
              </a:solidFill>
              <a:latin typeface="宋体"/>
              <a:cs typeface="宋体"/>
            </a:endParaRPr>
          </a:p>
          <a:p>
            <a:pPr marL="12700">
              <a:lnSpc>
                <a:spcPct val="150000"/>
              </a:lnSpc>
              <a:spcBef>
                <a:spcPts val="100"/>
              </a:spcBef>
            </a:pPr>
            <a:r>
              <a:rPr lang="zh-CN" altLang="en-US" sz="2400" spc="-30" dirty="0" smtClean="0">
                <a:solidFill>
                  <a:srgbClr val="252525"/>
                </a:solidFill>
                <a:latin typeface="宋体"/>
                <a:cs typeface="宋体"/>
              </a:rPr>
              <a:t>例如：</a:t>
            </a:r>
            <a:endParaRPr lang="en-US" altLang="zh-CN" sz="2400" spc="-30" dirty="0" smtClean="0">
              <a:solidFill>
                <a:srgbClr val="FF0000"/>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46</a:t>
            </a:fld>
            <a:endParaRPr lang="zh-CN" altLang="en-US"/>
          </a:p>
        </p:txBody>
      </p:sp>
      <p:pic>
        <p:nvPicPr>
          <p:cNvPr id="2" name="图片 1"/>
          <p:cNvPicPr>
            <a:picLocks noChangeAspect="1"/>
          </p:cNvPicPr>
          <p:nvPr/>
        </p:nvPicPr>
        <p:blipFill>
          <a:blip r:embed="rId2"/>
          <a:stretch>
            <a:fillRect/>
          </a:stretch>
        </p:blipFill>
        <p:spPr>
          <a:xfrm>
            <a:off x="952500" y="3657600"/>
            <a:ext cx="9782750" cy="2819400"/>
          </a:xfrm>
          <a:prstGeom prst="rect">
            <a:avLst/>
          </a:prstGeom>
        </p:spPr>
      </p:pic>
      <p:sp>
        <p:nvSpPr>
          <p:cNvPr id="4" name="标题 3"/>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5634096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764438" y="1611027"/>
            <a:ext cx="8763000" cy="1225977"/>
          </a:xfrm>
          <a:prstGeom prst="rect">
            <a:avLst/>
          </a:prstGeom>
        </p:spPr>
        <p:txBody>
          <a:bodyPr vert="horz" wrap="square" lIns="0" tIns="12700" rIns="0" bIns="0" rtlCol="0">
            <a:spAutoFit/>
          </a:bodyPr>
          <a:lstStyle/>
          <a:p>
            <a:pPr marL="12700">
              <a:lnSpc>
                <a:spcPct val="150000"/>
              </a:lnSpc>
              <a:spcBef>
                <a:spcPts val="100"/>
              </a:spcBef>
            </a:pPr>
            <a:r>
              <a:rPr lang="en-US" altLang="zh-CN" sz="2800" spc="-40" dirty="0" smtClean="0">
                <a:solidFill>
                  <a:srgbClr val="AC2B25"/>
                </a:solidFill>
                <a:latin typeface="宋体"/>
                <a:cs typeface="宋体"/>
              </a:rPr>
              <a:t>13</a:t>
            </a:r>
            <a:r>
              <a:rPr lang="zh-CN" altLang="en-US" sz="2800" spc="-40" dirty="0" smtClean="0">
                <a:solidFill>
                  <a:srgbClr val="AC2B25"/>
                </a:solidFill>
                <a:latin typeface="宋体"/>
                <a:cs typeface="宋体"/>
              </a:rPr>
              <a:t>、</a:t>
            </a:r>
            <a:r>
              <a:rPr lang="en-US" altLang="zh-CN" sz="2800" spc="-40" dirty="0" smtClean="0">
                <a:solidFill>
                  <a:srgbClr val="AC2B25"/>
                </a:solidFill>
                <a:latin typeface="宋体"/>
                <a:cs typeface="宋体"/>
              </a:rPr>
              <a:t>every()</a:t>
            </a:r>
            <a:r>
              <a:rPr lang="zh-CN" altLang="en-US" sz="2800" spc="-40" dirty="0" smtClean="0">
                <a:solidFill>
                  <a:srgbClr val="AC2B25"/>
                </a:solidFill>
                <a:latin typeface="宋体"/>
                <a:cs typeface="宋体"/>
              </a:rPr>
              <a:t>方法</a:t>
            </a:r>
            <a:endParaRPr lang="en-US" altLang="zh-CN" sz="2800" spc="-40" dirty="0" smtClean="0">
              <a:solidFill>
                <a:srgbClr val="AC2B25"/>
              </a:solidFill>
              <a:latin typeface="宋体"/>
              <a:cs typeface="宋体"/>
            </a:endParaRPr>
          </a:p>
          <a:p>
            <a:pPr marL="12700">
              <a:lnSpc>
                <a:spcPct val="150000"/>
              </a:lnSpc>
              <a:spcBef>
                <a:spcPts val="100"/>
              </a:spcBef>
            </a:pPr>
            <a:r>
              <a:rPr lang="zh-CN" altLang="en-US" sz="2400" spc="-30" dirty="0" smtClean="0">
                <a:solidFill>
                  <a:srgbClr val="252525"/>
                </a:solidFill>
                <a:latin typeface="宋体"/>
                <a:cs typeface="宋体"/>
              </a:rPr>
              <a:t>用于检测是否数组每个元素都符合函数中的条件。例如：</a:t>
            </a:r>
            <a:endParaRPr lang="en-US" altLang="zh-CN" sz="2400" spc="-30" dirty="0" smtClean="0">
              <a:solidFill>
                <a:srgbClr val="FF0000"/>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47</a:t>
            </a:fld>
            <a:endParaRPr lang="zh-CN" altLang="en-US"/>
          </a:p>
        </p:txBody>
      </p:sp>
      <p:pic>
        <p:nvPicPr>
          <p:cNvPr id="4" name="图片 3"/>
          <p:cNvPicPr>
            <a:picLocks noChangeAspect="1"/>
          </p:cNvPicPr>
          <p:nvPr/>
        </p:nvPicPr>
        <p:blipFill>
          <a:blip r:embed="rId2"/>
          <a:stretch>
            <a:fillRect/>
          </a:stretch>
        </p:blipFill>
        <p:spPr>
          <a:xfrm>
            <a:off x="5029332" y="303849"/>
            <a:ext cx="6845168" cy="1926672"/>
          </a:xfrm>
          <a:prstGeom prst="rect">
            <a:avLst/>
          </a:prstGeom>
        </p:spPr>
      </p:pic>
      <p:sp>
        <p:nvSpPr>
          <p:cNvPr id="7" name="object 7"/>
          <p:cNvSpPr txBox="1"/>
          <p:nvPr/>
        </p:nvSpPr>
        <p:spPr>
          <a:xfrm>
            <a:off x="764438" y="3403825"/>
            <a:ext cx="11122762" cy="1225977"/>
          </a:xfrm>
          <a:prstGeom prst="rect">
            <a:avLst/>
          </a:prstGeom>
        </p:spPr>
        <p:txBody>
          <a:bodyPr vert="horz" wrap="square" lIns="0" tIns="12700" rIns="0" bIns="0" rtlCol="0">
            <a:spAutoFit/>
          </a:bodyPr>
          <a:lstStyle>
            <a:defPPr>
              <a:defRPr lang="en-US"/>
            </a:defPPr>
            <a:lvl1pPr marL="12700">
              <a:lnSpc>
                <a:spcPct val="150000"/>
              </a:lnSpc>
              <a:spcBef>
                <a:spcPts val="100"/>
              </a:spcBef>
              <a:defRPr sz="2800" spc="-40">
                <a:solidFill>
                  <a:srgbClr val="AC2B25"/>
                </a:solidFill>
                <a:latin typeface="宋体"/>
                <a:cs typeface="宋体"/>
              </a:defRPr>
            </a:lvl1pPr>
          </a:lstStyle>
          <a:p>
            <a:r>
              <a:rPr lang="en-US" altLang="zh-CN" dirty="0" smtClean="0"/>
              <a:t>14</a:t>
            </a:r>
            <a:r>
              <a:rPr lang="zh-CN" altLang="en-US" dirty="0" smtClean="0"/>
              <a:t>、</a:t>
            </a:r>
            <a:r>
              <a:rPr lang="en-US" altLang="zh-CN" dirty="0" smtClean="0"/>
              <a:t>some</a:t>
            </a:r>
            <a:r>
              <a:rPr lang="en-US" altLang="zh-CN" dirty="0"/>
              <a:t>()</a:t>
            </a:r>
            <a:r>
              <a:rPr lang="zh-CN" altLang="en-US" dirty="0"/>
              <a:t>方法</a:t>
            </a:r>
            <a:endParaRPr lang="en-US" altLang="zh-CN" dirty="0"/>
          </a:p>
          <a:p>
            <a:r>
              <a:rPr lang="zh-CN" altLang="en-US" sz="2400" dirty="0">
                <a:solidFill>
                  <a:schemeClr val="tx1"/>
                </a:solidFill>
              </a:rPr>
              <a:t>用于检测是否有一些数组元素符合函数中的条件</a:t>
            </a:r>
            <a:r>
              <a:rPr lang="zh-CN" altLang="en-US" sz="2400" dirty="0" smtClean="0">
                <a:solidFill>
                  <a:schemeClr val="tx1"/>
                </a:solidFill>
              </a:rPr>
              <a:t>。例如</a:t>
            </a:r>
            <a:r>
              <a:rPr lang="zh-CN" altLang="en-US" sz="2400" dirty="0">
                <a:solidFill>
                  <a:schemeClr val="tx1"/>
                </a:solidFill>
              </a:rPr>
              <a:t>：</a:t>
            </a:r>
            <a:endParaRPr lang="en-US" altLang="zh-CN" sz="2400" dirty="0">
              <a:solidFill>
                <a:schemeClr val="tx1"/>
              </a:solidFill>
            </a:endParaRPr>
          </a:p>
        </p:txBody>
      </p:sp>
      <p:pic>
        <p:nvPicPr>
          <p:cNvPr id="5" name="图片 4"/>
          <p:cNvPicPr>
            <a:picLocks noChangeAspect="1"/>
          </p:cNvPicPr>
          <p:nvPr/>
        </p:nvPicPr>
        <p:blipFill>
          <a:blip r:embed="rId3"/>
          <a:stretch>
            <a:fillRect/>
          </a:stretch>
        </p:blipFill>
        <p:spPr>
          <a:xfrm>
            <a:off x="789838" y="4702623"/>
            <a:ext cx="6886891" cy="2018852"/>
          </a:xfrm>
          <a:prstGeom prst="rect">
            <a:avLst/>
          </a:prstGeom>
        </p:spPr>
      </p:pic>
      <p:sp>
        <p:nvSpPr>
          <p:cNvPr id="2" name="标题 1"/>
          <p:cNvSpPr>
            <a:spLocks noGrp="1"/>
          </p:cNvSpPr>
          <p:nvPr>
            <p:ph type="title"/>
          </p:nvPr>
        </p:nvSpPr>
        <p:spPr/>
        <p:txBody>
          <a:bodyPr/>
          <a:lstStyle/>
          <a:p>
            <a:r>
              <a:rPr lang="zh-CN" altLang="en-US" dirty="0" smtClean="0"/>
              <a:t>数组</a:t>
            </a:r>
            <a:endParaRPr lang="zh-CN" altLang="en-US" dirty="0"/>
          </a:p>
        </p:txBody>
      </p:sp>
    </p:spTree>
    <p:extLst>
      <p:ext uri="{BB962C8B-B14F-4D97-AF65-F5344CB8AC3E}">
        <p14:creationId xmlns:p14="http://schemas.microsoft.com/office/powerpoint/2010/main" val="17589430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764438" y="1611027"/>
            <a:ext cx="8763000" cy="1225977"/>
          </a:xfrm>
          <a:prstGeom prst="rect">
            <a:avLst/>
          </a:prstGeom>
        </p:spPr>
        <p:txBody>
          <a:bodyPr vert="horz" wrap="square" lIns="0" tIns="12700" rIns="0" bIns="0" rtlCol="0">
            <a:spAutoFit/>
          </a:bodyPr>
          <a:lstStyle/>
          <a:p>
            <a:pPr marL="12700">
              <a:lnSpc>
                <a:spcPct val="150000"/>
              </a:lnSpc>
              <a:spcBef>
                <a:spcPts val="100"/>
              </a:spcBef>
            </a:pPr>
            <a:r>
              <a:rPr lang="en-US" altLang="zh-CN" sz="2800" spc="-40" dirty="0" smtClean="0">
                <a:solidFill>
                  <a:srgbClr val="AC2B25"/>
                </a:solidFill>
                <a:latin typeface="宋体"/>
                <a:cs typeface="宋体"/>
              </a:rPr>
              <a:t>15</a:t>
            </a:r>
            <a:r>
              <a:rPr lang="zh-CN" altLang="en-US" sz="2800" spc="-40" dirty="0" smtClean="0">
                <a:solidFill>
                  <a:srgbClr val="AC2B25"/>
                </a:solidFill>
                <a:latin typeface="宋体"/>
                <a:cs typeface="宋体"/>
              </a:rPr>
              <a:t>、</a:t>
            </a:r>
            <a:r>
              <a:rPr lang="en-US" altLang="zh-CN" sz="2800" spc="-40" dirty="0" err="1">
                <a:solidFill>
                  <a:srgbClr val="AC2B25"/>
                </a:solidFill>
                <a:latin typeface="宋体"/>
                <a:cs typeface="宋体"/>
              </a:rPr>
              <a:t>forEach</a:t>
            </a:r>
            <a:r>
              <a:rPr lang="en-US" altLang="zh-CN" sz="2800" spc="-40" dirty="0">
                <a:solidFill>
                  <a:srgbClr val="AC2B25"/>
                </a:solidFill>
                <a:latin typeface="宋体"/>
                <a:cs typeface="宋体"/>
              </a:rPr>
              <a:t>()</a:t>
            </a:r>
            <a:r>
              <a:rPr lang="zh-CN" altLang="en-US" sz="2800" spc="-40" dirty="0" smtClean="0">
                <a:solidFill>
                  <a:srgbClr val="AC2B25"/>
                </a:solidFill>
                <a:latin typeface="宋体"/>
                <a:cs typeface="宋体"/>
              </a:rPr>
              <a:t>方法</a:t>
            </a:r>
            <a:endParaRPr lang="en-US" altLang="zh-CN" sz="2800" spc="-40" dirty="0" smtClean="0">
              <a:solidFill>
                <a:srgbClr val="AC2B25"/>
              </a:solidFill>
              <a:latin typeface="宋体"/>
              <a:cs typeface="宋体"/>
            </a:endParaRPr>
          </a:p>
          <a:p>
            <a:pPr marL="12700">
              <a:lnSpc>
                <a:spcPct val="150000"/>
              </a:lnSpc>
              <a:spcBef>
                <a:spcPts val="100"/>
              </a:spcBef>
            </a:pPr>
            <a:r>
              <a:rPr lang="zh-CN" altLang="en-US" sz="2400" spc="-30" dirty="0">
                <a:solidFill>
                  <a:srgbClr val="252525"/>
                </a:solidFill>
                <a:latin typeface="宋体"/>
                <a:cs typeface="宋体"/>
              </a:rPr>
              <a:t>为每个数组元素调用</a:t>
            </a:r>
            <a:r>
              <a:rPr lang="zh-CN" altLang="en-US" sz="2400" spc="-30" dirty="0" smtClean="0">
                <a:solidFill>
                  <a:srgbClr val="252525"/>
                </a:solidFill>
                <a:latin typeface="宋体"/>
                <a:cs typeface="宋体"/>
              </a:rPr>
              <a:t>一次函数。</a:t>
            </a:r>
            <a:endParaRPr lang="en-US" altLang="zh-CN" sz="2400" spc="-30" dirty="0" smtClean="0">
              <a:solidFill>
                <a:srgbClr val="FF0000"/>
              </a:solidFill>
              <a:latin typeface="宋体"/>
              <a:cs typeface="宋体"/>
            </a:endParaRPr>
          </a:p>
        </p:txBody>
      </p:sp>
      <p:sp>
        <p:nvSpPr>
          <p:cNvPr id="3" name="灯片编号占位符 2"/>
          <p:cNvSpPr>
            <a:spLocks noGrp="1"/>
          </p:cNvSpPr>
          <p:nvPr>
            <p:ph type="sldNum" sz="quarter" idx="12"/>
          </p:nvPr>
        </p:nvSpPr>
        <p:spPr/>
        <p:txBody>
          <a:bodyPr/>
          <a:lstStyle/>
          <a:p>
            <a:fld id="{B6F15528-21DE-4FAA-801E-634DDDAF4B2B}" type="slidenum">
              <a:rPr lang="en-US" altLang="zh-CN" smtClean="0"/>
              <a:pPr/>
              <a:t>48</a:t>
            </a:fld>
            <a:endParaRPr lang="zh-CN" altLang="en-US"/>
          </a:p>
        </p:txBody>
      </p:sp>
      <p:sp>
        <p:nvSpPr>
          <p:cNvPr id="2" name="标题 1"/>
          <p:cNvSpPr>
            <a:spLocks noGrp="1"/>
          </p:cNvSpPr>
          <p:nvPr>
            <p:ph type="title"/>
          </p:nvPr>
        </p:nvSpPr>
        <p:spPr/>
        <p:txBody>
          <a:bodyPr/>
          <a:lstStyle/>
          <a:p>
            <a:r>
              <a:rPr lang="zh-CN" altLang="en-US" dirty="0" smtClean="0"/>
              <a:t>数组</a:t>
            </a:r>
            <a:endParaRPr lang="zh-CN" altLang="en-US" dirty="0"/>
          </a:p>
        </p:txBody>
      </p:sp>
      <p:pic>
        <p:nvPicPr>
          <p:cNvPr id="8" name="图片 7"/>
          <p:cNvPicPr>
            <a:picLocks noChangeAspect="1"/>
          </p:cNvPicPr>
          <p:nvPr/>
        </p:nvPicPr>
        <p:blipFill>
          <a:blip r:embed="rId2"/>
          <a:stretch>
            <a:fillRect/>
          </a:stretch>
        </p:blipFill>
        <p:spPr>
          <a:xfrm>
            <a:off x="740069" y="3050125"/>
            <a:ext cx="6956131" cy="2932486"/>
          </a:xfrm>
          <a:prstGeom prst="rect">
            <a:avLst/>
          </a:prstGeom>
        </p:spPr>
      </p:pic>
    </p:spTree>
    <p:extLst>
      <p:ext uri="{BB962C8B-B14F-4D97-AF65-F5344CB8AC3E}">
        <p14:creationId xmlns:p14="http://schemas.microsoft.com/office/powerpoint/2010/main" val="1248506779"/>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6E747A"/>
      </a:dk2>
      <a:lt2>
        <a:srgbClr val="E7E6E6"/>
      </a:lt2>
      <a:accent1>
        <a:srgbClr val="5B9BD5"/>
      </a:accent1>
      <a:accent2>
        <a:srgbClr val="ED7D31"/>
      </a:accent2>
      <a:accent3>
        <a:srgbClr val="A5A5A5"/>
      </a:accent3>
      <a:accent4>
        <a:srgbClr val="FFC000"/>
      </a:accent4>
      <a:accent5>
        <a:srgbClr val="4472C4"/>
      </a:accent5>
      <a:accent6>
        <a:srgbClr val="70AD47"/>
      </a:accent6>
      <a:hlink>
        <a:srgbClr val="085296"/>
      </a:hlink>
      <a:folHlink>
        <a:srgbClr val="993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8003</TotalTime>
  <Words>2888</Words>
  <Application>Microsoft Office PowerPoint</Application>
  <PresentationFormat>宽屏</PresentationFormat>
  <Paragraphs>439</Paragraphs>
  <Slides>48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48</vt:i4>
      </vt:variant>
    </vt:vector>
  </HeadingPairs>
  <TitlesOfParts>
    <vt:vector size="57" baseType="lpstr">
      <vt:lpstr>等线</vt:lpstr>
      <vt:lpstr>黑体</vt:lpstr>
      <vt:lpstr>宋体</vt:lpstr>
      <vt:lpstr>微软雅黑</vt:lpstr>
      <vt:lpstr>Arial</vt:lpstr>
      <vt:lpstr>Calibri</vt:lpstr>
      <vt:lpstr>Times New Roman</vt:lpstr>
      <vt:lpstr>Wingdings</vt:lpstr>
      <vt:lpstr>Blank</vt:lpstr>
      <vt:lpstr>PowerPoint 演示文稿</vt:lpstr>
      <vt:lpstr>表达式和语句</vt:lpstr>
      <vt:lpstr>PowerPoint 演示文稿</vt:lpstr>
      <vt:lpstr>分支语句</vt:lpstr>
      <vt:lpstr>分支语句</vt:lpstr>
      <vt:lpstr>分支语句</vt:lpstr>
      <vt:lpstr>分支语句</vt:lpstr>
      <vt:lpstr>分支语句</vt:lpstr>
      <vt:lpstr>三元运算符</vt:lpstr>
      <vt:lpstr>PowerPoint 演示文稿</vt:lpstr>
      <vt:lpstr>PowerPoint 演示文稿</vt:lpstr>
      <vt:lpstr>switch语句</vt:lpstr>
      <vt:lpstr>switch语句</vt:lpstr>
      <vt:lpstr>switch语句</vt:lpstr>
      <vt:lpstr>PowerPoint 演示文稿</vt:lpstr>
      <vt:lpstr>循环结构—断点调试</vt:lpstr>
      <vt:lpstr>循环结构</vt:lpstr>
      <vt:lpstr>循环结构—for循环</vt:lpstr>
      <vt:lpstr>循环结构—for循环</vt:lpstr>
      <vt:lpstr>循环结构—for循环</vt:lpstr>
      <vt:lpstr>循环结构—while 和do while语句</vt:lpstr>
      <vt:lpstr>循环结构—while 和do while语句</vt:lpstr>
      <vt:lpstr>循环结构—while 和do while语句</vt:lpstr>
      <vt:lpstr>PowerPoint 演示文稿</vt:lpstr>
      <vt:lpstr>PowerPoint 演示文稿</vt:lpstr>
      <vt:lpstr>数组</vt:lpstr>
      <vt:lpstr>数组</vt:lpstr>
      <vt:lpstr>数组</vt:lpstr>
      <vt:lpstr>数组</vt:lpstr>
      <vt:lpstr>数组</vt:lpstr>
      <vt:lpstr>数组</vt:lpstr>
      <vt:lpstr>数组</vt:lpstr>
      <vt:lpstr>数组</vt:lpstr>
      <vt:lpstr>数组</vt:lpstr>
      <vt:lpstr>数组</vt:lpstr>
      <vt:lpstr>PowerPoint 演示文稿</vt:lpstr>
      <vt:lpstr>数组</vt:lpstr>
      <vt:lpstr>数组</vt:lpstr>
      <vt:lpstr>数组</vt:lpstr>
      <vt:lpstr>数组</vt:lpstr>
      <vt:lpstr>数组</vt:lpstr>
      <vt:lpstr>数组</vt:lpstr>
      <vt:lpstr>数组</vt:lpstr>
      <vt:lpstr>数组</vt:lpstr>
      <vt:lpstr>数组</vt:lpstr>
      <vt:lpstr>数组</vt:lpstr>
      <vt:lpstr>数组</vt:lpstr>
      <vt:lpstr>数组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zhu jw</cp:lastModifiedBy>
  <cp:revision>211</cp:revision>
  <dcterms:created xsi:type="dcterms:W3CDTF">2022-09-11T00:22:28Z</dcterms:created>
  <dcterms:modified xsi:type="dcterms:W3CDTF">2023-11-05T06:45:24Z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2021-07-18T00:00:00Z</vt:filetime>
  </property>
  <property fmtid="{D5CDD505-2E9C-101B-9397-08002B2CF9AE}" pid="3" name="Creator">
    <vt:lpwstr>Microsoft® PowerPoint® 2013</vt:lpwstr>
  </property>
  <property fmtid="{D5CDD505-2E9C-101B-9397-08002B2CF9AE}" pid="4" name="LastSaved">
    <vt:filetime>2022-09-11T00:00:00Z</vt:filetime>
  </property>
</Properties>
</file>