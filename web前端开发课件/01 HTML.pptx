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55" r:id="rId3"/>
    <p:sldId id="446" r:id="rId4"/>
    <p:sldId id="447" r:id="rId5"/>
    <p:sldId id="427" r:id="rId6"/>
    <p:sldId id="418" r:id="rId8"/>
    <p:sldId id="450" r:id="rId9"/>
    <p:sldId id="451" r:id="rId10"/>
    <p:sldId id="452" r:id="rId11"/>
    <p:sldId id="453" r:id="rId12"/>
    <p:sldId id="454" r:id="rId13"/>
    <p:sldId id="449" r:id="rId14"/>
    <p:sldId id="428" r:id="rId15"/>
    <p:sldId id="429" r:id="rId16"/>
    <p:sldId id="431" r:id="rId17"/>
    <p:sldId id="430" r:id="rId18"/>
    <p:sldId id="432" r:id="rId19"/>
    <p:sldId id="436" r:id="rId20"/>
    <p:sldId id="433" r:id="rId21"/>
    <p:sldId id="434" r:id="rId22"/>
    <p:sldId id="435" r:id="rId23"/>
    <p:sldId id="437" r:id="rId24"/>
    <p:sldId id="438" r:id="rId25"/>
    <p:sldId id="440" r:id="rId26"/>
    <p:sldId id="439" r:id="rId27"/>
    <p:sldId id="441" r:id="rId28"/>
    <p:sldId id="442" r:id="rId29"/>
    <p:sldId id="444" r:id="rId30"/>
    <p:sldId id="445" r:id="rId31"/>
    <p:sldId id="443" r:id="rId32"/>
    <p:sldId id="448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子果" initials="子果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2F73"/>
    <a:srgbClr val="286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3" autoAdjust="0"/>
    <p:restoredTop sz="94099" autoAdjust="0"/>
  </p:normalViewPr>
  <p:slideViewPr>
    <p:cSldViewPr snapToGrid="0">
      <p:cViewPr>
        <p:scale>
          <a:sx n="125" d="100"/>
          <a:sy n="125" d="100"/>
        </p:scale>
        <p:origin x="725" y="31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BA5A4-48EA-4DF8-A5E4-571711B0CC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HTML5 </a:t>
            </a:r>
            <a:r>
              <a:rPr lang="zh-CN" altLang="en-US" dirty="0" smtClean="0"/>
              <a:t>引入了 </a:t>
            </a:r>
            <a:r>
              <a:rPr lang="en-US" altLang="zh-CN" dirty="0" smtClean="0"/>
              <a:t>Web Workers</a:t>
            </a:r>
            <a:r>
              <a:rPr lang="zh-CN" altLang="en-US" dirty="0" smtClean="0"/>
              <a:t>技术，允许在浏览器中创建多个 </a:t>
            </a:r>
            <a:r>
              <a:rPr lang="en-US" altLang="zh-CN" dirty="0" smtClean="0"/>
              <a:t>JavaScript </a:t>
            </a:r>
            <a:r>
              <a:rPr lang="zh-CN" altLang="en-US" dirty="0" smtClean="0"/>
              <a:t>线程，在</a:t>
            </a:r>
            <a:r>
              <a:rPr lang="zh-CN" altLang="en-US" dirty="0" smtClean="0"/>
              <a:t>后台执行计算密集型任务，从而避免阻塞主线程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 smtClean="0">
                <a:solidFill>
                  <a:schemeClr val="accent2"/>
                </a:solidFill>
              </a:rPr>
              <a:t>Emmet</a:t>
            </a:r>
            <a:r>
              <a:rPr lang="zh-CN" altLang="en-US" sz="1200" b="1" dirty="0" smtClean="0">
                <a:solidFill>
                  <a:schemeClr val="accent2"/>
                </a:solidFill>
              </a:rPr>
              <a:t>中用首字母</a:t>
            </a:r>
            <a:r>
              <a:rPr lang="en-US" altLang="zh-CN" sz="1200" b="1" dirty="0" smtClean="0">
                <a:solidFill>
                  <a:schemeClr val="accent2"/>
                </a:solidFill>
              </a:rPr>
              <a:t>+</a:t>
            </a:r>
            <a:r>
              <a:rPr lang="zh-CN" altLang="en-US" sz="1200" b="1" dirty="0" smtClean="0">
                <a:solidFill>
                  <a:schemeClr val="accent2"/>
                </a:solidFill>
              </a:rPr>
              <a:t>具体值的形式生成</a:t>
            </a:r>
            <a:r>
              <a:rPr lang="en-US" altLang="zh-CN" sz="1200" b="1" dirty="0" smtClean="0">
                <a:solidFill>
                  <a:schemeClr val="accent2"/>
                </a:solidFill>
              </a:rPr>
              <a:t>CSS</a:t>
            </a:r>
            <a:r>
              <a:rPr lang="zh-CN" altLang="en-US" sz="1200" b="1" dirty="0" smtClean="0">
                <a:solidFill>
                  <a:schemeClr val="accent2"/>
                </a:solidFill>
              </a:rPr>
              <a:t>代码片段</a:t>
            </a:r>
            <a:endParaRPr lang="zh-CN" altLang="en-US" sz="1200" b="1" dirty="0" smtClean="0">
              <a:solidFill>
                <a:schemeClr val="accent2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7E96-A9DF-45CB-92A7-103C15373C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C85E-75EC-4599-990B-D95D618BF85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524F-3CA5-4A39-BBE7-C6B8F9A5D79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99DF-6A70-4777-B639-889AF788F12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2048-7B1A-428D-9A57-5986A5A0725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901E-D02C-4329-99E4-4964776D577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37BF-1ADC-4CCE-9275-4A5D02A4551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B462-32C4-4C07-A5F0-726CE79FB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18FAD-791A-4DE7-99D3-C7D3E58C6EE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4055-C4B2-4D9D-A697-691753F3EA9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C481-74C9-4550-8352-37B186282D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u=2764189635,1659407017&amp;fm=26&amp;gp=0"/>
          <p:cNvPicPr>
            <a:picLocks noChangeAspect="1"/>
          </p:cNvPicPr>
          <p:nvPr userDrawn="1"/>
        </p:nvPicPr>
        <p:blipFill>
          <a:blip r:embed="rId2">
            <a:grayscl/>
            <a:lum bright="70000" contrast="-70000"/>
          </a:blip>
          <a:srcRect l="9988" r="9385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2C3BF-67FD-4EDB-A8C4-335EEC1D0A5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3.xml"/><Relationship Id="rId3" Type="http://schemas.openxmlformats.org/officeDocument/2006/relationships/hyperlink" Target="https://developer.mozilla.org/zh-CN/docs/Learn" TargetMode="External"/><Relationship Id="rId2" Type="http://schemas.openxmlformats.org/officeDocument/2006/relationships/hyperlink" Target="https://www.w3school.com.cn/" TargetMode="Externa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4160" y="615315"/>
            <a:ext cx="4575810" cy="52755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065395" y="995680"/>
            <a:ext cx="6553200" cy="451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80" y="508696"/>
            <a:ext cx="10515600" cy="1038418"/>
          </a:xfrm>
        </p:spPr>
        <p:txBody>
          <a:bodyPr/>
          <a:lstStyle/>
          <a:p>
            <a:r>
              <a:rPr lang="zh-CN" altLang="en-US" dirty="0" smtClean="0"/>
              <a:t>成绩分布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任务：</a:t>
            </a:r>
            <a:r>
              <a:rPr lang="en-US" altLang="zh-CN" dirty="0" smtClean="0"/>
              <a:t>35%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考勤：</a:t>
            </a:r>
            <a:r>
              <a:rPr lang="en-US" altLang="zh-CN" dirty="0" smtClean="0"/>
              <a:t>5%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小组</a:t>
            </a:r>
            <a:r>
              <a:rPr lang="zh-CN" altLang="en-US" dirty="0" smtClean="0"/>
              <a:t>完成一个前端应用：</a:t>
            </a:r>
            <a:r>
              <a:rPr lang="en-US" altLang="zh-CN" dirty="0" smtClean="0"/>
              <a:t>60%</a:t>
            </a:r>
            <a:endParaRPr lang="en-US" altLang="zh-CN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 smtClean="0"/>
              <a:t>考核</a:t>
            </a:r>
            <a:r>
              <a:rPr lang="zh-CN" altLang="en-US" dirty="0"/>
              <a:t>标准：</a:t>
            </a:r>
            <a:r>
              <a:rPr lang="zh-CN" altLang="en-US" dirty="0" smtClean="0"/>
              <a:t>使用</a:t>
            </a:r>
            <a:r>
              <a:rPr lang="en-US" altLang="zh-CN" dirty="0" err="1" smtClean="0"/>
              <a:t>Vue</a:t>
            </a:r>
            <a:r>
              <a:rPr lang="zh-CN" altLang="en-US" dirty="0" smtClean="0"/>
              <a:t>框架完成</a:t>
            </a:r>
            <a:r>
              <a:rPr lang="zh-CN" altLang="en-US" dirty="0"/>
              <a:t>完整应用，代码结构符合工程规范，使用</a:t>
            </a:r>
            <a:r>
              <a:rPr lang="en-US" altLang="zh-CN" dirty="0" err="1"/>
              <a:t>Git</a:t>
            </a:r>
            <a:r>
              <a:rPr lang="zh-CN" altLang="en-US" dirty="0" smtClean="0"/>
              <a:t>管理，</a:t>
            </a:r>
            <a:r>
              <a:rPr lang="zh-CN" altLang="en-US" dirty="0"/>
              <a:t>代码有注释</a:t>
            </a:r>
            <a:r>
              <a:rPr lang="zh-CN" altLang="en-US" dirty="0" smtClean="0"/>
              <a:t>。前端应用整体</a:t>
            </a:r>
            <a:r>
              <a:rPr lang="zh-CN" altLang="en-US" dirty="0"/>
              <a:t>美观</a:t>
            </a:r>
            <a:r>
              <a:rPr lang="zh-CN" altLang="en-US" dirty="0" smtClean="0"/>
              <a:t>，小组成员分工</a:t>
            </a:r>
            <a:r>
              <a:rPr lang="zh-CN" altLang="en-US" dirty="0" smtClean="0"/>
              <a:t>合理，汇报时表达流畅，展示</a:t>
            </a:r>
            <a:r>
              <a:rPr lang="zh-CN" altLang="en-US" dirty="0"/>
              <a:t>内容</a:t>
            </a:r>
            <a:r>
              <a:rPr lang="zh-CN" altLang="en-US" dirty="0" smtClean="0"/>
              <a:t>详细。</a:t>
            </a:r>
            <a:endParaRPr lang="en-US" altLang="zh-CN" dirty="0" smtClean="0"/>
          </a:p>
        </p:txBody>
      </p:sp>
      <p:sp>
        <p:nvSpPr>
          <p:cNvPr id="4" name="矩形 3"/>
          <p:cNvSpPr/>
          <p:nvPr/>
        </p:nvSpPr>
        <p:spPr>
          <a:xfrm>
            <a:off x="0" y="652268"/>
            <a:ext cx="838200" cy="751275"/>
          </a:xfrm>
          <a:prstGeom prst="rect">
            <a:avLst/>
          </a:prstGeom>
          <a:solidFill>
            <a:srgbClr val="8E2F73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80" y="508696"/>
            <a:ext cx="10515600" cy="1038418"/>
          </a:xfrm>
        </p:spPr>
        <p:txBody>
          <a:bodyPr/>
          <a:lstStyle/>
          <a:p>
            <a:r>
              <a:rPr lang="zh-CN" altLang="en-US" dirty="0" smtClean="0"/>
              <a:t>预习</a:t>
            </a:r>
            <a:r>
              <a:rPr lang="zh-CN" altLang="en-US" dirty="0" smtClean="0"/>
              <a:t>参考视频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47371"/>
            <a:ext cx="10515600" cy="45295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视频链接：</a:t>
            </a:r>
            <a:r>
              <a:rPr lang="en-US" altLang="zh-CN" sz="2400" dirty="0"/>
              <a:t>https://www.icourse163.org/course/BFU-1003382003</a:t>
            </a: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0" y="652268"/>
            <a:ext cx="838200" cy="751275"/>
          </a:xfrm>
          <a:prstGeom prst="rect">
            <a:avLst/>
          </a:prstGeom>
          <a:solidFill>
            <a:srgbClr val="8E2F73">
              <a:alpha val="10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96727"/>
            <a:ext cx="8356135" cy="43747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 txBox="1"/>
          <p:nvPr/>
        </p:nvSpPr>
        <p:spPr>
          <a:xfrm>
            <a:off x="2343540" y="2517282"/>
            <a:ext cx="7429404" cy="10698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第</a:t>
            </a:r>
            <a:r>
              <a:rPr lang="en-US" altLang="zh-CN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1</a:t>
            </a: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章 </a:t>
            </a:r>
            <a:r>
              <a:rPr lang="en-US" altLang="zh-CN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HTML</a:t>
            </a: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技术</a:t>
            </a:r>
            <a:endParaRPr lang="zh-CN" altLang="en-US" sz="4800" b="1" spc="600" dirty="0">
              <a:latin typeface="微软雅黑" panose="020B0503020204020204" pitchFamily="34" charset="-122"/>
              <a:ea typeface="微软雅黑" panose="020B0503020204020204" pitchFamily="34" charset="-122"/>
              <a:cs typeface="方正颜宋简体_大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50533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30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前端发展的几个时代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82222" y="1457148"/>
            <a:ext cx="53622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 smtClean="0">
                <a:latin typeface="+mn-ea"/>
              </a:rPr>
              <a:t>附属时代</a:t>
            </a:r>
            <a:endParaRPr lang="en-US" altLang="zh-CN" sz="2000" b="1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 smtClean="0">
                <a:latin typeface="+mn-ea"/>
              </a:rPr>
              <a:t>分家时代</a:t>
            </a:r>
            <a:endParaRPr lang="en-US" altLang="zh-CN" sz="2000" b="1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>
                <a:latin typeface="+mn-ea"/>
              </a:rPr>
              <a:t>工程</a:t>
            </a:r>
            <a:r>
              <a:rPr lang="zh-CN" altLang="en-US" sz="2000" b="1" dirty="0" smtClean="0">
                <a:latin typeface="+mn-ea"/>
              </a:rPr>
              <a:t>时代</a:t>
            </a:r>
            <a:endParaRPr lang="en-US" altLang="zh-CN" sz="2000" b="1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b="1" dirty="0">
                <a:latin typeface="+mn-ea"/>
              </a:rPr>
              <a:t>大</a:t>
            </a:r>
            <a:r>
              <a:rPr lang="zh-CN" altLang="en-US" sz="2000" b="1" dirty="0" smtClean="0">
                <a:latin typeface="+mn-ea"/>
              </a:rPr>
              <a:t>前端时代</a:t>
            </a:r>
            <a:endParaRPr lang="en-US" altLang="zh-CN" sz="2000" b="1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50533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30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前端发展的几个时代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9098" y="979875"/>
            <a:ext cx="10601540" cy="4974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、附属时代</a:t>
            </a:r>
            <a:endParaRPr lang="en-US" altLang="zh-CN" sz="2000" b="1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 smtClean="0">
                <a:latin typeface="+mn-ea"/>
              </a:rPr>
              <a:t>Web 1.0</a:t>
            </a:r>
            <a:r>
              <a:rPr lang="zh-CN" altLang="en-US" dirty="0" smtClean="0">
                <a:latin typeface="+mn-ea"/>
              </a:rPr>
              <a:t>时代，网页是纯静态的，并没有前后端之分，随着</a:t>
            </a:r>
            <a:r>
              <a:rPr lang="en-US" altLang="zh-CN" dirty="0" smtClean="0">
                <a:latin typeface="+mn-ea"/>
              </a:rPr>
              <a:t>APS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JSP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PHP</a:t>
            </a:r>
            <a:r>
              <a:rPr lang="zh-CN" altLang="en-US" dirty="0" smtClean="0">
                <a:latin typeface="+mn-ea"/>
              </a:rPr>
              <a:t>为代表的动态页面技术诞生，网站能够从数据库中获取数据并展示出来，因此网站被划分为前端、后端两个方向。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后端开发主要任务是编写业务逻辑和处理数据；前端开发工作主要是对文字、图片做排版以及样式修饰，并没有非常复杂的交互。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随着互联网时代快速发展，</a:t>
            </a:r>
            <a:r>
              <a:rPr lang="en-US" altLang="zh-CN" dirty="0" smtClean="0">
                <a:latin typeface="+mn-ea"/>
              </a:rPr>
              <a:t>Web</a:t>
            </a:r>
            <a:r>
              <a:rPr lang="zh-CN" altLang="en-US" dirty="0" smtClean="0">
                <a:latin typeface="+mn-ea"/>
              </a:rPr>
              <a:t>应用体量越来越大，前后端杂糅一起弊端越来越明显。于是前端需求高涨，企业需要的是能解决复杂问题和实现复杂功能的专业的前端工程师。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在</a:t>
            </a:r>
            <a:r>
              <a:rPr lang="en-US" altLang="zh-CN" dirty="0" smtClean="0">
                <a:latin typeface="+mn-ea"/>
              </a:rPr>
              <a:t>Web 1.0</a:t>
            </a:r>
            <a:r>
              <a:rPr lang="zh-CN" altLang="en-US" dirty="0" smtClean="0">
                <a:latin typeface="+mn-ea"/>
              </a:rPr>
              <a:t>时代，前端的“技术性”体现在</a:t>
            </a:r>
            <a:r>
              <a:rPr lang="en-US" altLang="zh-CN" dirty="0" smtClean="0">
                <a:latin typeface="+mn-ea"/>
              </a:rPr>
              <a:t>jQ</a:t>
            </a:r>
            <a:r>
              <a:rPr lang="en-US" altLang="zh-CN" dirty="0" smtClean="0">
                <a:latin typeface="+mn-ea"/>
              </a:rPr>
              <a:t>uery</a:t>
            </a:r>
            <a:r>
              <a:rPr lang="zh-CN" altLang="en-US" dirty="0" smtClean="0">
                <a:latin typeface="+mn-ea"/>
              </a:rPr>
              <a:t>上</a:t>
            </a:r>
            <a:r>
              <a:rPr lang="zh-CN" altLang="en-US" dirty="0" smtClean="0">
                <a:latin typeface="+mn-ea"/>
              </a:rPr>
              <a:t>，一些交互复杂的页面上，需要大量的</a:t>
            </a:r>
            <a:r>
              <a:rPr lang="en-US" altLang="zh-CN" dirty="0" smtClean="0">
                <a:latin typeface="+mn-ea"/>
              </a:rPr>
              <a:t>DOM</a:t>
            </a:r>
            <a:r>
              <a:rPr lang="zh-CN" altLang="en-US" dirty="0" smtClean="0">
                <a:latin typeface="+mn-ea"/>
              </a:rPr>
              <a:t>操作来实现功能，原生的</a:t>
            </a:r>
            <a:r>
              <a:rPr lang="en-US" altLang="zh-CN" dirty="0" smtClean="0">
                <a:latin typeface="+mn-ea"/>
              </a:rPr>
              <a:t>JS</a:t>
            </a:r>
            <a:r>
              <a:rPr lang="zh-CN" altLang="en-US" dirty="0" smtClean="0">
                <a:latin typeface="+mn-ea"/>
              </a:rPr>
              <a:t>使用效率低，因此</a:t>
            </a:r>
            <a:r>
              <a:rPr lang="en-US" altLang="zh-CN" dirty="0" smtClean="0">
                <a:latin typeface="+mn-ea"/>
              </a:rPr>
              <a:t>jQuery</a:t>
            </a:r>
            <a:r>
              <a:rPr lang="zh-CN" altLang="en-US" dirty="0" smtClean="0">
                <a:latin typeface="+mn-ea"/>
              </a:rPr>
              <a:t>的出现是操作</a:t>
            </a:r>
            <a:r>
              <a:rPr lang="en-US" altLang="zh-CN" dirty="0" smtClean="0">
                <a:latin typeface="+mn-ea"/>
              </a:rPr>
              <a:t>DOM</a:t>
            </a:r>
            <a:r>
              <a:rPr lang="zh-CN" altLang="en-US" dirty="0" smtClean="0">
                <a:latin typeface="+mn-ea"/>
              </a:rPr>
              <a:t>的效率大大提高，带来的极简</a:t>
            </a:r>
            <a:r>
              <a:rPr lang="en-US" altLang="zh-CN" dirty="0" smtClean="0">
                <a:latin typeface="+mn-ea"/>
              </a:rPr>
              <a:t>API</a:t>
            </a:r>
            <a:r>
              <a:rPr lang="zh-CN" altLang="en-US" dirty="0" smtClean="0">
                <a:latin typeface="+mn-ea"/>
              </a:rPr>
              <a:t>，使得操作</a:t>
            </a:r>
            <a:r>
              <a:rPr lang="en-US" altLang="zh-CN" dirty="0" smtClean="0">
                <a:latin typeface="+mn-ea"/>
              </a:rPr>
              <a:t>DOM</a:t>
            </a:r>
            <a:r>
              <a:rPr lang="zh-CN" altLang="en-US" dirty="0" smtClean="0">
                <a:latin typeface="+mn-ea"/>
              </a:rPr>
              <a:t>更简单，直观，容易理解。</a:t>
            </a:r>
            <a:r>
              <a:rPr lang="en-US" altLang="zh-CN" dirty="0" smtClean="0">
                <a:latin typeface="+mn-ea"/>
              </a:rPr>
              <a:t>jQuery</a:t>
            </a:r>
            <a:r>
              <a:rPr lang="zh-CN" altLang="en-US" dirty="0" smtClean="0">
                <a:latin typeface="+mn-ea"/>
              </a:rPr>
              <a:t>的插件生态非常丰富，现在一些网站的比如日历、轮播图、弹框等等都是基于</a:t>
            </a:r>
            <a:r>
              <a:rPr lang="en-US" altLang="zh-CN" dirty="0" smtClean="0">
                <a:latin typeface="+mn-ea"/>
              </a:rPr>
              <a:t>jQuery</a:t>
            </a:r>
            <a:r>
              <a:rPr lang="zh-CN" altLang="en-US" dirty="0" smtClean="0">
                <a:latin typeface="+mn-ea"/>
              </a:rPr>
              <a:t>实现的。</a:t>
            </a:r>
            <a:endParaRPr lang="en-US" altLang="zh-CN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50533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30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前端发展的几个时代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9098" y="979875"/>
            <a:ext cx="106015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、分家时代</a:t>
            </a:r>
            <a:endParaRPr lang="en-US" altLang="zh-CN" sz="2000" b="1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 smtClean="0">
                <a:latin typeface="+mn-ea"/>
              </a:rPr>
              <a:t>Web</a:t>
            </a:r>
            <a:r>
              <a:rPr lang="zh-CN" altLang="en-US" dirty="0" smtClean="0">
                <a:latin typeface="+mn-ea"/>
              </a:rPr>
              <a:t>应用体量不断变大，交互体验要求不断提高，前端复杂度也越来越高，一些规模较大的</a:t>
            </a:r>
            <a:r>
              <a:rPr lang="en-US" altLang="zh-CN" dirty="0" smtClean="0">
                <a:latin typeface="+mn-ea"/>
              </a:rPr>
              <a:t>Web</a:t>
            </a:r>
            <a:r>
              <a:rPr lang="zh-CN" altLang="en-US" dirty="0" smtClean="0">
                <a:latin typeface="+mn-ea"/>
              </a:rPr>
              <a:t>应用中，前端和后端一体化开发弊端凸显，体现在两个方面：模块划分（项目代码日渐庞大臃肿，必须通过拆分模块来降低代码耦合性，然而大部分的视图代码都是前后端混合一起，难以解耦）、多人协作（项目越大，开发者就越多，前后端开发者不断在同一个代码仓库中拉取、合并，容易引起冲突和覆盖的问题）。这个时候</a:t>
            </a:r>
            <a:r>
              <a:rPr lang="en-US" altLang="zh-CN" dirty="0" smtClean="0">
                <a:latin typeface="+mn-ea"/>
              </a:rPr>
              <a:t>Web</a:t>
            </a:r>
            <a:r>
              <a:rPr lang="zh-CN" altLang="en-US" dirty="0" smtClean="0">
                <a:latin typeface="+mn-ea"/>
              </a:rPr>
              <a:t>应用已经有分离的趋势，但受制于技术，短期内无法实现。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 smtClean="0">
                <a:latin typeface="+mn-ea"/>
              </a:rPr>
              <a:t>2005</a:t>
            </a:r>
            <a:r>
              <a:rPr lang="zh-CN" altLang="en-US" dirty="0" smtClean="0">
                <a:latin typeface="+mn-ea"/>
              </a:rPr>
              <a:t>年</a:t>
            </a:r>
            <a:r>
              <a:rPr lang="en-US" altLang="zh-CN" dirty="0" smtClean="0">
                <a:latin typeface="+mn-ea"/>
              </a:rPr>
              <a:t>AJAX</a:t>
            </a:r>
            <a:r>
              <a:rPr lang="zh-CN" altLang="en-US" dirty="0" smtClean="0">
                <a:latin typeface="+mn-ea"/>
              </a:rPr>
              <a:t>出现，</a:t>
            </a:r>
            <a:r>
              <a:rPr lang="en-US" altLang="zh-CN" dirty="0" smtClean="0">
                <a:latin typeface="+mn-ea"/>
              </a:rPr>
              <a:t>AJAX</a:t>
            </a:r>
            <a:r>
              <a:rPr lang="zh-CN" altLang="en-US" dirty="0" smtClean="0">
                <a:latin typeface="+mn-ea"/>
              </a:rPr>
              <a:t>为</a:t>
            </a:r>
            <a:r>
              <a:rPr lang="en-US" altLang="zh-CN" dirty="0" smtClean="0">
                <a:latin typeface="+mn-ea"/>
              </a:rPr>
              <a:t>JavaScript</a:t>
            </a:r>
            <a:r>
              <a:rPr lang="zh-CN" altLang="en-US" dirty="0" smtClean="0">
                <a:latin typeface="+mn-ea"/>
              </a:rPr>
              <a:t>带来了异步获取数据的能力，这种能力使“不刷新浏览器便能更新页面状态成为可能”，大大提升了用户体验。</a:t>
            </a:r>
            <a:r>
              <a:rPr lang="en-US" altLang="zh-CN" dirty="0" smtClean="0">
                <a:latin typeface="+mn-ea"/>
              </a:rPr>
              <a:t>AJAX</a:t>
            </a:r>
            <a:r>
              <a:rPr lang="zh-CN" altLang="en-US" dirty="0" smtClean="0">
                <a:latin typeface="+mn-ea"/>
              </a:rPr>
              <a:t>在前端中可以实现按需加载文件，甚至是多客户端之间的异步通信，在前端中不断创造价值，大大促进了</a:t>
            </a:r>
            <a:r>
              <a:rPr lang="en-US" altLang="zh-CN" dirty="0" smtClean="0">
                <a:latin typeface="+mn-ea"/>
              </a:rPr>
              <a:t>Web 2.0</a:t>
            </a:r>
            <a:r>
              <a:rPr lang="zh-CN" altLang="en-US" dirty="0" smtClean="0">
                <a:latin typeface="+mn-ea"/>
              </a:rPr>
              <a:t>时代的发展。</a:t>
            </a:r>
            <a:endParaRPr lang="en-US" altLang="zh-CN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50533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30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前端发展的几个时代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9098" y="979875"/>
            <a:ext cx="1060154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smtClean="0">
                <a:latin typeface="+mn-ea"/>
              </a:rPr>
              <a:t>2</a:t>
            </a:r>
            <a:r>
              <a:rPr lang="zh-CN" altLang="en-US" sz="2000" b="1" dirty="0" smtClean="0">
                <a:latin typeface="+mn-ea"/>
              </a:rPr>
              <a:t>、分家时代</a:t>
            </a:r>
            <a:endParaRPr lang="en-US" altLang="zh-CN" sz="2000" b="1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>
                <a:latin typeface="+mn-ea"/>
              </a:rPr>
              <a:t>2009</a:t>
            </a:r>
            <a:r>
              <a:rPr lang="zh-CN" altLang="en-US" dirty="0">
                <a:latin typeface="+mn-ea"/>
              </a:rPr>
              <a:t>年，谷歌工程师设计的前端开发框架</a:t>
            </a:r>
            <a:r>
              <a:rPr lang="en-US" altLang="zh-CN" dirty="0">
                <a:latin typeface="+mn-ea"/>
              </a:rPr>
              <a:t>AngularJS</a:t>
            </a:r>
            <a:r>
              <a:rPr lang="zh-CN" altLang="en-US" dirty="0">
                <a:latin typeface="+mn-ea"/>
              </a:rPr>
              <a:t>出现，该框架引入了</a:t>
            </a:r>
            <a:r>
              <a:rPr lang="en-US" altLang="zh-CN" dirty="0">
                <a:latin typeface="+mn-ea"/>
              </a:rPr>
              <a:t>MVC</a:t>
            </a:r>
            <a:r>
              <a:rPr lang="zh-CN" altLang="en-US" dirty="0">
                <a:latin typeface="+mn-ea"/>
              </a:rPr>
              <a:t>、依赖注入和模块化等设计思想，这种全新的设计思路启发无数前端开发工程师积极探索；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>
                <a:latin typeface="+mn-ea"/>
              </a:rPr>
              <a:t>2013</a:t>
            </a:r>
            <a:r>
              <a:rPr lang="zh-CN" altLang="en-US" dirty="0">
                <a:latin typeface="+mn-ea"/>
              </a:rPr>
              <a:t>年</a:t>
            </a:r>
            <a:r>
              <a:rPr lang="en-US" altLang="zh-CN" dirty="0">
                <a:latin typeface="+mn-ea"/>
              </a:rPr>
              <a:t>Facebook</a:t>
            </a:r>
            <a:r>
              <a:rPr lang="zh-CN" altLang="en-US" dirty="0">
                <a:latin typeface="+mn-ea"/>
              </a:rPr>
              <a:t>推出的</a:t>
            </a:r>
            <a:r>
              <a:rPr lang="en-US" altLang="zh-CN" dirty="0">
                <a:latin typeface="+mn-ea"/>
              </a:rPr>
              <a:t>React</a:t>
            </a:r>
            <a:r>
              <a:rPr lang="zh-CN" altLang="en-US" dirty="0">
                <a:latin typeface="+mn-ea"/>
              </a:rPr>
              <a:t>在前端开发圈流行，</a:t>
            </a:r>
            <a:r>
              <a:rPr lang="en-US" altLang="zh-CN" dirty="0">
                <a:latin typeface="+mn-ea"/>
              </a:rPr>
              <a:t>React</a:t>
            </a:r>
            <a:r>
              <a:rPr lang="zh-CN" altLang="en-US" dirty="0">
                <a:latin typeface="+mn-ea"/>
              </a:rPr>
              <a:t>吸收了</a:t>
            </a:r>
            <a:r>
              <a:rPr lang="en-US" altLang="zh-CN" dirty="0">
                <a:latin typeface="+mn-ea"/>
              </a:rPr>
              <a:t>AngularJS</a:t>
            </a:r>
            <a:r>
              <a:rPr lang="zh-CN" altLang="en-US" dirty="0">
                <a:latin typeface="+mn-ea"/>
              </a:rPr>
              <a:t>精华的基础上，又创造了虚拟</a:t>
            </a:r>
            <a:r>
              <a:rPr lang="en-US" altLang="zh-CN" dirty="0">
                <a:latin typeface="+mn-ea"/>
              </a:rPr>
              <a:t>DOM</a:t>
            </a:r>
            <a:r>
              <a:rPr lang="zh-CN" altLang="en-US" dirty="0">
                <a:latin typeface="+mn-ea"/>
              </a:rPr>
              <a:t>，突破了复杂页面的性能瓶颈，此外</a:t>
            </a:r>
            <a:r>
              <a:rPr lang="en-US" altLang="zh-CN" dirty="0">
                <a:latin typeface="+mn-ea"/>
              </a:rPr>
              <a:t>React</a:t>
            </a:r>
            <a:r>
              <a:rPr lang="zh-CN" altLang="en-US" dirty="0">
                <a:latin typeface="+mn-ea"/>
              </a:rPr>
              <a:t>还提供了创新性的</a:t>
            </a:r>
            <a:r>
              <a:rPr lang="en-US" altLang="zh-CN" dirty="0">
                <a:latin typeface="+mn-ea"/>
              </a:rPr>
              <a:t>JSX</a:t>
            </a:r>
            <a:r>
              <a:rPr lang="zh-CN" altLang="en-US" dirty="0">
                <a:latin typeface="+mn-ea"/>
              </a:rPr>
              <a:t>语法和</a:t>
            </a:r>
            <a:r>
              <a:rPr lang="en-US" altLang="zh-CN" dirty="0">
                <a:latin typeface="+mn-ea"/>
              </a:rPr>
              <a:t>Diff</a:t>
            </a:r>
            <a:r>
              <a:rPr lang="zh-CN" altLang="en-US" dirty="0">
                <a:latin typeface="+mn-ea"/>
              </a:rPr>
              <a:t>算法；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>
                <a:latin typeface="+mn-ea"/>
              </a:rPr>
              <a:t>2014</a:t>
            </a:r>
            <a:r>
              <a:rPr lang="zh-CN" altLang="en-US" dirty="0">
                <a:latin typeface="+mn-ea"/>
              </a:rPr>
              <a:t>年，出现了</a:t>
            </a:r>
            <a:r>
              <a:rPr lang="en-US" altLang="zh-CN" dirty="0">
                <a:latin typeface="+mn-ea"/>
              </a:rPr>
              <a:t>Vue.js</a:t>
            </a:r>
            <a:r>
              <a:rPr lang="zh-CN" altLang="en-US" dirty="0">
                <a:latin typeface="+mn-ea"/>
              </a:rPr>
              <a:t>，开发者尤雨溪是中国人，</a:t>
            </a:r>
            <a:r>
              <a:rPr lang="en-US" altLang="zh-CN" dirty="0">
                <a:latin typeface="+mn-ea"/>
              </a:rPr>
              <a:t>Vue.js</a:t>
            </a:r>
            <a:r>
              <a:rPr lang="zh-CN" altLang="en-US" dirty="0">
                <a:latin typeface="+mn-ea"/>
              </a:rPr>
              <a:t>足以和</a:t>
            </a:r>
            <a:r>
              <a:rPr lang="en-US" altLang="zh-CN" dirty="0">
                <a:latin typeface="+mn-ea"/>
              </a:rPr>
              <a:t>React</a:t>
            </a:r>
            <a:r>
              <a:rPr lang="zh-CN" altLang="en-US" dirty="0">
                <a:latin typeface="+mn-ea"/>
              </a:rPr>
              <a:t>媲美。</a:t>
            </a:r>
            <a:r>
              <a:rPr lang="en-US" altLang="zh-CN" dirty="0">
                <a:latin typeface="+mn-ea"/>
              </a:rPr>
              <a:t>Vue.js</a:t>
            </a:r>
            <a:r>
              <a:rPr lang="zh-CN" altLang="en-US" dirty="0">
                <a:latin typeface="+mn-ea"/>
              </a:rPr>
              <a:t>吸收了</a:t>
            </a:r>
            <a:r>
              <a:rPr lang="en-US" altLang="zh-CN" dirty="0">
                <a:latin typeface="+mn-ea"/>
              </a:rPr>
              <a:t>AngularJS</a:t>
            </a:r>
            <a:r>
              <a:rPr lang="zh-CN" altLang="en-US" dirty="0">
                <a:latin typeface="+mn-ea"/>
              </a:rPr>
              <a:t>和</a:t>
            </a:r>
            <a:r>
              <a:rPr lang="en-US" altLang="zh-CN" dirty="0">
                <a:latin typeface="+mn-ea"/>
              </a:rPr>
              <a:t>React</a:t>
            </a:r>
            <a:r>
              <a:rPr lang="zh-CN" altLang="en-US" dirty="0">
                <a:latin typeface="+mn-ea"/>
              </a:rPr>
              <a:t>的精华，兼具虚拟</a:t>
            </a:r>
            <a:r>
              <a:rPr lang="en-US" altLang="zh-CN" dirty="0">
                <a:latin typeface="+mn-ea"/>
              </a:rPr>
              <a:t>DOM</a:t>
            </a:r>
            <a:r>
              <a:rPr lang="zh-CN" altLang="en-US" dirty="0">
                <a:latin typeface="+mn-ea"/>
              </a:rPr>
              <a:t>和双向数据绑定。最重要的是</a:t>
            </a:r>
            <a:r>
              <a:rPr lang="en-US" altLang="zh-CN" dirty="0">
                <a:latin typeface="+mn-ea"/>
              </a:rPr>
              <a:t>API</a:t>
            </a:r>
            <a:r>
              <a:rPr lang="zh-CN" altLang="en-US" dirty="0">
                <a:latin typeface="+mn-ea"/>
              </a:rPr>
              <a:t>设计非常简单，易上手，技术文档提供中文版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三</a:t>
            </a:r>
            <a:r>
              <a:rPr lang="zh-CN" altLang="en-US" dirty="0" smtClean="0">
                <a:latin typeface="+mn-ea"/>
              </a:rPr>
              <a:t>大框架的出现彻底改变了前端的开发方式，使前端开发进入完全的前后端分离模式。也促使后端发生变化，由之前的嵌套模板变成纯粹的接口输出。前端从一个</a:t>
            </a:r>
            <a:r>
              <a:rPr lang="en-US" altLang="zh-CN" dirty="0" smtClean="0">
                <a:latin typeface="+mn-ea"/>
              </a:rPr>
              <a:t>Web</a:t>
            </a:r>
            <a:r>
              <a:rPr lang="zh-CN" altLang="en-US" dirty="0" smtClean="0">
                <a:latin typeface="+mn-ea"/>
              </a:rPr>
              <a:t>应用的模板正式进化为前端应用。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50533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30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前端发展的几个时代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9098" y="979875"/>
            <a:ext cx="10601540" cy="460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smtClean="0">
                <a:latin typeface="+mn-ea"/>
              </a:rPr>
              <a:t>3</a:t>
            </a:r>
            <a:r>
              <a:rPr lang="zh-CN" altLang="en-US" sz="2000" b="1" dirty="0" smtClean="0">
                <a:latin typeface="+mn-ea"/>
              </a:rPr>
              <a:t>、工程时代</a:t>
            </a:r>
            <a:endParaRPr lang="en-US" altLang="zh-CN" sz="2000" b="1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>
                <a:latin typeface="+mn-ea"/>
              </a:rPr>
              <a:t>2009</a:t>
            </a:r>
            <a:r>
              <a:rPr lang="zh-CN" altLang="en-US" dirty="0" smtClean="0">
                <a:latin typeface="+mn-ea"/>
              </a:rPr>
              <a:t>年推出的</a:t>
            </a:r>
            <a:r>
              <a:rPr lang="en-US" altLang="zh-CN" dirty="0" smtClean="0">
                <a:latin typeface="+mn-ea"/>
              </a:rPr>
              <a:t>AngularJS</a:t>
            </a:r>
            <a:r>
              <a:rPr lang="zh-CN" altLang="en-US" dirty="0" smtClean="0">
                <a:latin typeface="+mn-ea"/>
              </a:rPr>
              <a:t>加速了前后端分离，这个时期还有一项对前端意义非凡的新技术出现，</a:t>
            </a:r>
            <a:r>
              <a:rPr lang="en-US" altLang="zh-CN" dirty="0" smtClean="0">
                <a:latin typeface="+mn-ea"/>
              </a:rPr>
              <a:t>Node.js</a:t>
            </a:r>
            <a:r>
              <a:rPr lang="zh-CN" altLang="en-US" dirty="0" smtClean="0">
                <a:latin typeface="+mn-ea"/>
              </a:rPr>
              <a:t>，它把客户端脚本语言</a:t>
            </a:r>
            <a:r>
              <a:rPr lang="en-US" altLang="zh-CN" dirty="0" smtClean="0">
                <a:latin typeface="+mn-ea"/>
              </a:rPr>
              <a:t>JavaScript</a:t>
            </a:r>
            <a:r>
              <a:rPr lang="zh-CN" altLang="en-US" dirty="0" smtClean="0">
                <a:latin typeface="+mn-ea"/>
              </a:rPr>
              <a:t>应用到了服务器端，使</a:t>
            </a:r>
            <a:r>
              <a:rPr lang="en-US" altLang="zh-CN" dirty="0" smtClean="0">
                <a:latin typeface="+mn-ea"/>
              </a:rPr>
              <a:t>JavaScript</a:t>
            </a:r>
            <a:r>
              <a:rPr lang="zh-CN" altLang="en-US" dirty="0" smtClean="0">
                <a:latin typeface="+mn-ea"/>
              </a:rPr>
              <a:t>拥有操作文件和操作数据库的能力。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 smtClean="0">
                <a:latin typeface="+mn-ea"/>
              </a:rPr>
              <a:t>Node.js</a:t>
            </a:r>
            <a:r>
              <a:rPr lang="zh-CN" altLang="en-US" dirty="0" smtClean="0">
                <a:latin typeface="+mn-ea"/>
              </a:rPr>
              <a:t>是一个单线程、基于事件循环的异步</a:t>
            </a:r>
            <a:r>
              <a:rPr lang="en-US" altLang="zh-CN" dirty="0" smtClean="0">
                <a:latin typeface="+mn-ea"/>
              </a:rPr>
              <a:t>I/O</a:t>
            </a:r>
            <a:r>
              <a:rPr lang="zh-CN" altLang="en-US" dirty="0" smtClean="0">
                <a:latin typeface="+mn-ea"/>
              </a:rPr>
              <a:t>框架，基于</a:t>
            </a:r>
            <a:r>
              <a:rPr lang="en-US" altLang="zh-CN" dirty="0" smtClean="0">
                <a:latin typeface="+mn-ea"/>
              </a:rPr>
              <a:t>Chrome v8</a:t>
            </a:r>
            <a:r>
              <a:rPr lang="zh-CN" altLang="en-US" dirty="0" smtClean="0">
                <a:latin typeface="+mn-ea"/>
              </a:rPr>
              <a:t>引擎，性能卓越，可以代替传统的</a:t>
            </a:r>
            <a:r>
              <a:rPr lang="en-US" altLang="zh-CN" dirty="0" smtClean="0">
                <a:latin typeface="+mn-ea"/>
              </a:rPr>
              <a:t>MVC</a:t>
            </a:r>
            <a:r>
              <a:rPr lang="zh-CN" altLang="en-US" dirty="0" smtClean="0">
                <a:latin typeface="+mn-ea"/>
              </a:rPr>
              <a:t>框架编写后端。</a:t>
            </a:r>
            <a:r>
              <a:rPr lang="en-US" altLang="zh-CN" dirty="0" smtClean="0">
                <a:latin typeface="+mn-ea"/>
              </a:rPr>
              <a:t>API</a:t>
            </a:r>
            <a:r>
              <a:rPr lang="zh-CN" altLang="en-US" dirty="0" smtClean="0">
                <a:latin typeface="+mn-ea"/>
              </a:rPr>
              <a:t>也非常简单，几行代码就可以运行一个</a:t>
            </a:r>
            <a:r>
              <a:rPr lang="en-US" altLang="zh-CN" dirty="0" smtClean="0">
                <a:latin typeface="+mn-ea"/>
              </a:rPr>
              <a:t>Web</a:t>
            </a:r>
            <a:r>
              <a:rPr lang="zh-CN" altLang="en-US" dirty="0" smtClean="0">
                <a:latin typeface="+mn-ea"/>
              </a:rPr>
              <a:t>服务器。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en-US" altLang="zh-CN" dirty="0" smtClean="0">
                <a:latin typeface="+mn-ea"/>
              </a:rPr>
              <a:t>Node.js</a:t>
            </a:r>
            <a:r>
              <a:rPr lang="zh-CN" altLang="en-US" dirty="0" smtClean="0">
                <a:latin typeface="+mn-ea"/>
              </a:rPr>
              <a:t>提供的服务器能力和文件操作能力开启了前端的工程之路，前端工程化实际上是将</a:t>
            </a:r>
            <a:r>
              <a:rPr lang="en-US" altLang="zh-CN" dirty="0" smtClean="0">
                <a:latin typeface="+mn-ea"/>
              </a:rPr>
              <a:t>Node.js</a:t>
            </a:r>
            <a:r>
              <a:rPr lang="zh-CN" altLang="en-US" dirty="0" smtClean="0">
                <a:latin typeface="+mn-ea"/>
              </a:rPr>
              <a:t>的功能投射到前端项目中，为前端安装各种装备，从而提高前端开发效率。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各种优秀工具被集成到工程化体系中，比如</a:t>
            </a:r>
            <a:r>
              <a:rPr lang="en-US" altLang="zh-CN" dirty="0" smtClean="0">
                <a:latin typeface="+mn-ea"/>
              </a:rPr>
              <a:t>Babel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Less/Sass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err="1" smtClean="0">
                <a:latin typeface="+mn-ea"/>
              </a:rPr>
              <a:t>ESLint</a:t>
            </a:r>
            <a:r>
              <a:rPr lang="zh-CN" altLang="en-US" dirty="0" smtClean="0">
                <a:latin typeface="+mn-ea"/>
              </a:rPr>
              <a:t>。前端在后期也衍生出很多工程化技术，比如持续集成、自动化部署等，前端越来越高效和成熟。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50533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300" normalizeH="0" baseline="0" noProof="0" dirty="0" smtClean="0">
                <a:ln>
                  <a:noFill/>
                </a:ln>
                <a:effectLst/>
                <a:uLnTx/>
                <a:uFillTx/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前端发展的几个时代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89098" y="979875"/>
            <a:ext cx="1060154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smtClean="0">
                <a:latin typeface="+mn-ea"/>
              </a:rPr>
              <a:t>4</a:t>
            </a:r>
            <a:r>
              <a:rPr lang="zh-CN" altLang="en-US" sz="2000" b="1" dirty="0" smtClean="0">
                <a:latin typeface="+mn-ea"/>
              </a:rPr>
              <a:t>、大前端时代</a:t>
            </a:r>
            <a:endParaRPr lang="en-US" altLang="zh-CN" sz="2000" b="1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前端在跨端方向的统一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最开始的前端就是指</a:t>
            </a:r>
            <a:r>
              <a:rPr lang="en-US" altLang="zh-CN" dirty="0" smtClean="0">
                <a:latin typeface="+mn-ea"/>
              </a:rPr>
              <a:t>PC</a:t>
            </a:r>
            <a:r>
              <a:rPr lang="zh-CN" altLang="en-US" dirty="0" smtClean="0">
                <a:latin typeface="+mn-ea"/>
              </a:rPr>
              <a:t>端浏览器网页应用，随着移动互联网的兴起，用手机刷新闻、浏览网页成为趋势，慢慢的手机客户端应用的开发开始流行。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小</a:t>
            </a:r>
            <a:r>
              <a:rPr lang="zh-CN" altLang="en-US" dirty="0" smtClean="0">
                <a:latin typeface="+mn-ea"/>
              </a:rPr>
              <a:t>程序出现，内嵌在</a:t>
            </a:r>
            <a:r>
              <a:rPr lang="en-US" altLang="zh-CN" dirty="0" smtClean="0">
                <a:latin typeface="+mn-ea"/>
              </a:rPr>
              <a:t>App</a:t>
            </a:r>
            <a:r>
              <a:rPr lang="zh-CN" altLang="en-US" dirty="0" smtClean="0">
                <a:latin typeface="+mn-ea"/>
              </a:rPr>
              <a:t>中，以一种微应用的方式打开，没有网页的糟糕的加载体验，而且权限方面，小程序依靠原生应用提供的</a:t>
            </a:r>
            <a:r>
              <a:rPr lang="en-US" altLang="zh-CN" dirty="0" smtClean="0">
                <a:latin typeface="+mn-ea"/>
              </a:rPr>
              <a:t>API</a:t>
            </a:r>
            <a:r>
              <a:rPr lang="zh-CN" altLang="en-US" dirty="0" smtClean="0">
                <a:latin typeface="+mn-ea"/>
              </a:rPr>
              <a:t>能做的事情更多。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跨</a:t>
            </a:r>
            <a:r>
              <a:rPr lang="zh-CN" altLang="en-US" dirty="0" smtClean="0">
                <a:latin typeface="+mn-ea"/>
              </a:rPr>
              <a:t>端开发逐渐成为趋势，以</a:t>
            </a:r>
            <a:r>
              <a:rPr lang="en-US" altLang="zh-CN" dirty="0" smtClean="0">
                <a:latin typeface="+mn-ea"/>
              </a:rPr>
              <a:t>JavaScript</a:t>
            </a:r>
            <a:r>
              <a:rPr lang="zh-CN" altLang="en-US" dirty="0" smtClean="0">
                <a:latin typeface="+mn-ea"/>
              </a:rPr>
              <a:t>为主的跨端解决方案出现，主要有</a:t>
            </a:r>
            <a:r>
              <a:rPr lang="en-US" altLang="zh-CN" dirty="0" smtClean="0">
                <a:latin typeface="+mn-ea"/>
              </a:rPr>
              <a:t>Taro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React Native</a:t>
            </a:r>
            <a:r>
              <a:rPr lang="zh-CN" altLang="en-US" dirty="0" smtClean="0">
                <a:latin typeface="+mn-ea"/>
              </a:rPr>
              <a:t>、</a:t>
            </a:r>
            <a:r>
              <a:rPr lang="en-US" altLang="zh-CN" dirty="0" smtClean="0">
                <a:latin typeface="+mn-ea"/>
              </a:rPr>
              <a:t>Electron</a:t>
            </a:r>
            <a:r>
              <a:rPr lang="zh-CN" altLang="en-US" dirty="0" smtClean="0">
                <a:latin typeface="+mn-ea"/>
              </a:rPr>
              <a:t>。分别实现了小程序跨端、</a:t>
            </a:r>
            <a:r>
              <a:rPr lang="en-US" altLang="zh-CN" dirty="0" smtClean="0">
                <a:latin typeface="+mn-ea"/>
              </a:rPr>
              <a:t>App</a:t>
            </a:r>
            <a:r>
              <a:rPr lang="zh-CN" altLang="en-US" dirty="0" smtClean="0">
                <a:latin typeface="+mn-ea"/>
              </a:rPr>
              <a:t>跨端和桌面应用跨端，真正做到了“一处代码，多处运行”。</a:t>
            </a:r>
            <a:endParaRPr lang="en-US" altLang="zh-CN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搭建网页结构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61288" y="913451"/>
            <a:ext cx="103786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+mn-ea"/>
              </a:rPr>
              <a:t>HTML</a:t>
            </a:r>
            <a:r>
              <a:rPr lang="zh-CN" altLang="en-US" sz="2000" b="1" dirty="0" smtClean="0">
                <a:latin typeface="+mn-ea"/>
              </a:rPr>
              <a:t>是伴随浏览器一同出现的超文本标记语言。严格来说，</a:t>
            </a:r>
            <a:r>
              <a:rPr lang="en-US" altLang="zh-CN" sz="2000" b="1" dirty="0" smtClean="0">
                <a:latin typeface="+mn-ea"/>
              </a:rPr>
              <a:t>HTML</a:t>
            </a:r>
            <a:r>
              <a:rPr lang="zh-CN" altLang="en-US" sz="2000" b="1" dirty="0" smtClean="0">
                <a:latin typeface="+mn-ea"/>
              </a:rPr>
              <a:t>并不是编程语言。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+mn-ea"/>
              </a:rPr>
              <a:t>HTML</a:t>
            </a:r>
            <a:r>
              <a:rPr lang="zh-CN" altLang="en-US" sz="2000" b="1" dirty="0" smtClean="0">
                <a:latin typeface="+mn-ea"/>
              </a:rPr>
              <a:t>由一系列的元素组成，在浏览器上看到的所有信息（文字、图片、视频等）都是基于</a:t>
            </a:r>
            <a:r>
              <a:rPr lang="en-US" altLang="zh-CN" sz="2000" b="1" dirty="0" smtClean="0">
                <a:latin typeface="+mn-ea"/>
              </a:rPr>
              <a:t>HTML</a:t>
            </a:r>
            <a:r>
              <a:rPr lang="zh-CN" altLang="en-US" sz="2000" b="1" dirty="0" smtClean="0">
                <a:latin typeface="+mn-ea"/>
              </a:rPr>
              <a:t>元素搭建的。</a:t>
            </a:r>
            <a:r>
              <a:rPr lang="en-US" altLang="zh-CN" sz="2000" b="1" dirty="0" smtClean="0">
                <a:latin typeface="+mn-ea"/>
              </a:rPr>
              <a:t>HTML</a:t>
            </a:r>
            <a:r>
              <a:rPr lang="zh-CN" altLang="en-US" sz="2000" b="1" dirty="0" smtClean="0">
                <a:latin typeface="+mn-ea"/>
              </a:rPr>
              <a:t>元素就像积木一样可以任意嵌套和组合，搭建出各种各样的页面。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1287" y="2897769"/>
            <a:ext cx="320409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&lt;!DOCTYPE html&gt;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&lt;html&gt;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&lt;head&gt;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 &lt;meta charset="utf-8"&gt;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 &lt;title</a:t>
            </a:r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&gt;</a:t>
            </a:r>
            <a:r>
              <a:rPr lang="zh-CN" altLang="en-US" dirty="0" smtClean="0">
                <a:latin typeface="Arial" panose="020B0604020202090204" pitchFamily="34" charset="0"/>
                <a:cs typeface="Arial" panose="020B0604020202090204" pitchFamily="34" charset="0"/>
              </a:rPr>
              <a:t>搭建网页结构</a:t>
            </a:r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&lt;/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title</a:t>
            </a:r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&gt;</a:t>
            </a:r>
            <a:endParaRPr lang="en-US" altLang="zh-CN" dirty="0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&lt;/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head</a:t>
            </a:r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&gt;</a:t>
            </a:r>
            <a:endParaRPr lang="en-US" altLang="zh-CN" dirty="0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&lt;body</a:t>
            </a:r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&gt;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  &lt;</a:t>
            </a:r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h1&gt;Hello World&lt;/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h1</a:t>
            </a:r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&gt;</a:t>
            </a:r>
            <a:endParaRPr lang="en-US" altLang="zh-CN" dirty="0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 smtClean="0">
                <a:latin typeface="Arial" panose="020B0604020202090204" pitchFamily="34" charset="0"/>
                <a:cs typeface="Arial" panose="020B0604020202090204" pitchFamily="34" charset="0"/>
              </a:rPr>
              <a:t>  &lt;div id=“app”&gt;&lt;/div&gt;</a:t>
            </a:r>
            <a:endParaRPr lang="en-US" altLang="zh-CN" dirty="0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&lt;/body&gt;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&lt;/html&gt;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66665" y="2768053"/>
            <a:ext cx="7449475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prstClr val="black"/>
                </a:solidFill>
                <a:latin typeface="等线" panose="02010600030101010101" pitchFamily="2" charset="-122"/>
              </a:rPr>
              <a:t>HTML</a:t>
            </a:r>
            <a:r>
              <a:rPr lang="zh-CN" altLang="en-US" sz="2000" b="1" dirty="0" smtClean="0">
                <a:solidFill>
                  <a:prstClr val="black"/>
                </a:solidFill>
                <a:latin typeface="等线" panose="02010600030101010101" pitchFamily="2" charset="-122"/>
              </a:rPr>
              <a:t>结构中最基本的</a:t>
            </a:r>
            <a:r>
              <a:rPr lang="en-US" altLang="zh-CN" sz="2000" b="1" dirty="0" smtClean="0">
                <a:solidFill>
                  <a:prstClr val="black"/>
                </a:solidFill>
                <a:latin typeface="等线" panose="02010600030101010101" pitchFamily="2" charset="-122"/>
              </a:rPr>
              <a:t>3</a:t>
            </a:r>
            <a:r>
              <a:rPr lang="zh-CN" altLang="en-US" sz="2000" b="1" dirty="0" smtClean="0">
                <a:solidFill>
                  <a:prstClr val="black"/>
                </a:solidFill>
                <a:latin typeface="等线" panose="02010600030101010101" pitchFamily="2" charset="-122"/>
              </a:rPr>
              <a:t>个元素：</a:t>
            </a:r>
            <a:endParaRPr lang="en-US" altLang="zh-CN" sz="2000" b="1" dirty="0" smtClean="0">
              <a:solidFill>
                <a:prstClr val="black"/>
              </a:solidFill>
              <a:latin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/>
              <a:t>&lt;html&gt;</a:t>
            </a:r>
            <a:r>
              <a:rPr lang="zh-CN" altLang="en-US" dirty="0" smtClean="0"/>
              <a:t>元素：应用的根元素，包裹所有的元素；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&lt;head&gt;</a:t>
            </a:r>
            <a:r>
              <a:rPr lang="zh-CN" altLang="en-US" dirty="0" smtClean="0"/>
              <a:t>元素：该元素的内容对用户不可见，主要包含文档的配置信息；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&lt;body&gt;</a:t>
            </a:r>
            <a:r>
              <a:rPr lang="zh-CN" altLang="en-US" dirty="0" smtClean="0"/>
              <a:t>元素：所有可见元素的父元素，包含期望让用户在访问页面时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可以看到的所有文档内容。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0" name="文本框 9"/>
          <p:cNvSpPr txBox="1"/>
          <p:nvPr/>
        </p:nvSpPr>
        <p:spPr>
          <a:xfrm>
            <a:off x="1161288" y="934549"/>
            <a:ext cx="103786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h</a:t>
            </a:r>
            <a:r>
              <a:rPr lang="en-US" altLang="zh-CN" sz="2000" b="1" dirty="0" smtClean="0">
                <a:latin typeface="+mn-ea"/>
              </a:rPr>
              <a:t>ead</a:t>
            </a:r>
            <a:r>
              <a:rPr lang="zh-CN" altLang="en-US" sz="2000" b="1" dirty="0" smtClean="0">
                <a:latin typeface="+mn-ea"/>
              </a:rPr>
              <a:t>元素解析：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</a:rPr>
              <a:t>&lt;title&gt;</a:t>
            </a:r>
            <a:r>
              <a:rPr lang="zh-CN" altLang="en-US" sz="2000" dirty="0" smtClean="0">
                <a:latin typeface="+mn-ea"/>
              </a:rPr>
              <a:t>：用于设置文档的标题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8E2F73"/>
                </a:solidFill>
                <a:latin typeface="+mn-ea"/>
              </a:rPr>
              <a:t>&lt;link&gt;</a:t>
            </a:r>
            <a:r>
              <a:rPr lang="zh-CN" altLang="en-US" sz="2000" dirty="0" smtClean="0">
                <a:solidFill>
                  <a:srgbClr val="8E2F73"/>
                </a:solidFill>
                <a:latin typeface="+mn-ea"/>
              </a:rPr>
              <a:t>：用于引入外部资源，通常引入的是</a:t>
            </a:r>
            <a:r>
              <a:rPr lang="en-US" altLang="zh-CN" sz="2000" dirty="0" smtClean="0">
                <a:solidFill>
                  <a:srgbClr val="8E2F73"/>
                </a:solidFill>
                <a:latin typeface="+mn-ea"/>
              </a:rPr>
              <a:t>CSS</a:t>
            </a:r>
            <a:r>
              <a:rPr lang="zh-CN" altLang="en-US" sz="2000" dirty="0" smtClean="0">
                <a:solidFill>
                  <a:srgbClr val="8E2F73"/>
                </a:solidFill>
                <a:latin typeface="+mn-ea"/>
              </a:rPr>
              <a:t>样式文件和图标</a:t>
            </a:r>
            <a:endParaRPr lang="en-US" altLang="zh-CN" sz="2000" dirty="0" smtClean="0">
              <a:solidFill>
                <a:srgbClr val="8E2F73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</a:rPr>
              <a:t>&lt;script&gt;</a:t>
            </a:r>
            <a:r>
              <a:rPr lang="zh-CN" altLang="en-US" sz="2000" dirty="0" smtClean="0">
                <a:latin typeface="+mn-ea"/>
              </a:rPr>
              <a:t>：用于引入</a:t>
            </a:r>
            <a:r>
              <a:rPr lang="en-US" altLang="zh-CN" sz="2000" dirty="0" smtClean="0">
                <a:latin typeface="+mn-ea"/>
              </a:rPr>
              <a:t>JavaScript</a:t>
            </a:r>
            <a:r>
              <a:rPr lang="zh-CN" altLang="en-US" sz="2000" dirty="0" smtClean="0">
                <a:latin typeface="+mn-ea"/>
              </a:rPr>
              <a:t>文件或者是执行</a:t>
            </a:r>
            <a:r>
              <a:rPr lang="en-US" altLang="zh-CN" sz="2000" dirty="0" smtClean="0">
                <a:latin typeface="+mn-ea"/>
              </a:rPr>
              <a:t>JavaScript</a:t>
            </a:r>
            <a:r>
              <a:rPr lang="zh-CN" altLang="en-US" sz="2000" dirty="0" smtClean="0">
                <a:latin typeface="+mn-ea"/>
              </a:rPr>
              <a:t>脚本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8E2F73"/>
                </a:solidFill>
                <a:latin typeface="+mn-ea"/>
              </a:rPr>
              <a:t>&lt;meta&gt;</a:t>
            </a:r>
            <a:r>
              <a:rPr lang="zh-CN" altLang="en-US" sz="2000" dirty="0" smtClean="0">
                <a:solidFill>
                  <a:srgbClr val="8E2F73"/>
                </a:solidFill>
                <a:latin typeface="+mn-ea"/>
              </a:rPr>
              <a:t>：用于配置元数据</a:t>
            </a:r>
            <a:endParaRPr lang="en-US" altLang="zh-CN" sz="2000" dirty="0" smtClean="0">
              <a:solidFill>
                <a:srgbClr val="8E2F73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25830" y="3401217"/>
            <a:ext cx="88707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&lt;link&gt;</a:t>
            </a:r>
            <a:r>
              <a:rPr lang="zh-CN" altLang="en-US" b="1" dirty="0" smtClean="0"/>
              <a:t>元素：</a:t>
            </a:r>
            <a:endParaRPr lang="en-US" altLang="zh-CN" b="1" dirty="0" smtClean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link </a:t>
            </a:r>
            <a:r>
              <a:rPr lang="en-US" altLang="zh-CN" dirty="0" err="1"/>
              <a:t>rel</a:t>
            </a:r>
            <a:r>
              <a:rPr lang="en-US" altLang="zh-CN" dirty="0"/>
              <a:t>="icon" </a:t>
            </a:r>
            <a:r>
              <a:rPr lang="en-US" altLang="zh-CN" dirty="0" err="1"/>
              <a:t>href</a:t>
            </a:r>
            <a:r>
              <a:rPr lang="en-US" altLang="zh-CN" dirty="0"/>
              <a:t>="example.ico"&gt;</a:t>
            </a:r>
            <a:endParaRPr lang="en-US" altLang="zh-CN" dirty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link </a:t>
            </a:r>
            <a:r>
              <a:rPr lang="en-US" altLang="zh-CN" dirty="0" err="1"/>
              <a:t>rel</a:t>
            </a:r>
            <a:r>
              <a:rPr lang="en-US" altLang="zh-CN" dirty="0"/>
              <a:t>="stylesheet" </a:t>
            </a:r>
            <a:r>
              <a:rPr lang="en-US" altLang="zh-CN" dirty="0" err="1"/>
              <a:t>href</a:t>
            </a:r>
            <a:r>
              <a:rPr lang="en-US" altLang="zh-CN" dirty="0"/>
              <a:t>="style.css"&gt;</a:t>
            </a:r>
            <a:endParaRPr lang="en-US" altLang="zh-CN" dirty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link </a:t>
            </a:r>
            <a:r>
              <a:rPr lang="en-US" altLang="zh-CN" dirty="0" err="1"/>
              <a:t>rel</a:t>
            </a:r>
            <a:r>
              <a:rPr lang="en-US" altLang="zh-CN" dirty="0"/>
              <a:t>="apple-touch-icon" </a:t>
            </a:r>
            <a:r>
              <a:rPr lang="en-US" altLang="zh-CN" dirty="0" err="1"/>
              <a:t>href</a:t>
            </a:r>
            <a:r>
              <a:rPr lang="en-US" altLang="zh-CN" dirty="0"/>
              <a:t>="example.png"&gt;</a:t>
            </a:r>
            <a:endParaRPr lang="en-US" altLang="zh-CN" dirty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link </a:t>
            </a:r>
            <a:r>
              <a:rPr lang="en-US" altLang="zh-CN" dirty="0" err="1"/>
              <a:t>rel</a:t>
            </a:r>
            <a:r>
              <a:rPr lang="en-US" altLang="zh-CN" dirty="0"/>
              <a:t>="stylesheet" media="print" </a:t>
            </a:r>
            <a:r>
              <a:rPr lang="en-US" altLang="zh-CN" dirty="0" err="1"/>
              <a:t>href</a:t>
            </a:r>
            <a:r>
              <a:rPr lang="en-US" altLang="zh-CN" dirty="0"/>
              <a:t>="./print.css</a:t>
            </a:r>
            <a:r>
              <a:rPr lang="en-US" altLang="zh-CN" dirty="0" smtClean="0"/>
              <a:t>"&gt;</a:t>
            </a:r>
            <a:endParaRPr lang="en-US" altLang="zh-CN" dirty="0" smtClean="0"/>
          </a:p>
          <a:p>
            <a:endParaRPr lang="en-US" altLang="zh-CN" b="1" dirty="0" smtClean="0"/>
          </a:p>
          <a:p>
            <a:r>
              <a:rPr lang="en-US" altLang="zh-CN" b="1" dirty="0" smtClean="0"/>
              <a:t>&lt;meta&gt;</a:t>
            </a:r>
            <a:r>
              <a:rPr lang="zh-CN" altLang="en-US" b="1" dirty="0"/>
              <a:t>元素</a:t>
            </a:r>
            <a:r>
              <a:rPr lang="zh-CN" altLang="en-US" b="1" dirty="0" smtClean="0"/>
              <a:t>：</a:t>
            </a:r>
            <a:endParaRPr lang="en-US" altLang="zh-CN" dirty="0"/>
          </a:p>
          <a:p>
            <a:r>
              <a:rPr lang="en-US" altLang="zh-CN" dirty="0"/>
              <a:t>&lt;meta charset="UTF-8"&gt;</a:t>
            </a:r>
            <a:endParaRPr lang="en-US" altLang="zh-CN" dirty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meta name="author" content="Author1"&gt;</a:t>
            </a:r>
            <a:endParaRPr lang="en-US" altLang="zh-CN" dirty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meta name="keywords" content="Keywords1, Keywords2"&gt;</a:t>
            </a:r>
            <a:endParaRPr lang="en-US" altLang="zh-CN" dirty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meta name="description" content="Description1"&gt;</a:t>
            </a:r>
            <a:endParaRPr lang="en-US" altLang="zh-CN" dirty="0"/>
          </a:p>
          <a:p>
            <a:r>
              <a:rPr lang="en-US" altLang="zh-CN" dirty="0" smtClean="0"/>
              <a:t>&lt;</a:t>
            </a:r>
            <a:r>
              <a:rPr lang="en-US" altLang="zh-CN" dirty="0"/>
              <a:t>meta name="viewport" content="width=device-width, initial-scale=1.0"&gt;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搭建网页结构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6334" y="979875"/>
            <a:ext cx="1042362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&lt;html&gt;</a:t>
            </a:r>
            <a:endParaRPr lang="en-US" altLang="zh-CN" dirty="0"/>
          </a:p>
          <a:p>
            <a:r>
              <a:rPr lang="en-US" altLang="zh-CN" dirty="0"/>
              <a:t>	&lt;head&gt;</a:t>
            </a:r>
            <a:endParaRPr lang="en-US" altLang="zh-CN" dirty="0"/>
          </a:p>
          <a:p>
            <a:r>
              <a:rPr lang="en-US" altLang="zh-CN" dirty="0"/>
              <a:t>		&lt;title&gt;</a:t>
            </a:r>
            <a:r>
              <a:rPr lang="zh-CN" altLang="en-US" dirty="0"/>
              <a:t>前端开发</a:t>
            </a:r>
            <a:r>
              <a:rPr lang="en-US" altLang="zh-CN" dirty="0"/>
              <a:t>&lt;/title&gt;</a:t>
            </a:r>
            <a:endParaRPr lang="en-US" altLang="zh-CN" dirty="0"/>
          </a:p>
          <a:p>
            <a:r>
              <a:rPr lang="en-US" altLang="zh-CN" dirty="0"/>
              <a:t>	&lt;/head&gt;</a:t>
            </a:r>
            <a:endParaRPr lang="en-US" altLang="zh-CN" dirty="0"/>
          </a:p>
          <a:p>
            <a:r>
              <a:rPr lang="en-US" altLang="zh-CN" dirty="0"/>
              <a:t>	&lt;body&gt;</a:t>
            </a:r>
            <a:endParaRPr lang="en-US" altLang="zh-CN" dirty="0"/>
          </a:p>
          <a:p>
            <a:r>
              <a:rPr lang="en-US" altLang="zh-CN" dirty="0"/>
              <a:t>		&lt;h1&gt;HTML&lt;/h1&gt;</a:t>
            </a:r>
            <a:endParaRPr lang="en-US" altLang="zh-CN" dirty="0"/>
          </a:p>
          <a:p>
            <a:r>
              <a:rPr lang="en-US" altLang="zh-CN" dirty="0"/>
              <a:t>		&lt;p&gt; HTML</a:t>
            </a:r>
            <a:r>
              <a:rPr lang="zh-CN" altLang="en-US" dirty="0"/>
              <a:t>超文本标记语言，是用来描述网页的一种标准语言。</a:t>
            </a:r>
            <a:r>
              <a:rPr lang="en-US" altLang="zh-CN" dirty="0"/>
              <a:t>&lt;/p&gt;</a:t>
            </a:r>
            <a:endParaRPr lang="en-US" altLang="zh-CN" dirty="0"/>
          </a:p>
          <a:p>
            <a:r>
              <a:rPr lang="en-US" altLang="zh-CN" dirty="0"/>
              <a:t>	&lt;/body&gt;</a:t>
            </a:r>
            <a:endParaRPr lang="en-US" altLang="zh-CN" dirty="0"/>
          </a:p>
          <a:p>
            <a:r>
              <a:rPr lang="en-US" altLang="zh-CN" dirty="0"/>
              <a:t>&lt;/html&gt;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1116334" y="3565198"/>
            <a:ext cx="103786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 smtClean="0">
                <a:latin typeface="+mn-ea"/>
              </a:rPr>
              <a:t>&lt;</a:t>
            </a:r>
            <a:r>
              <a:rPr lang="en-US" altLang="zh-CN" sz="2000" dirty="0">
                <a:latin typeface="+mn-ea"/>
              </a:rPr>
              <a:t>html&gt;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&lt;title&gt;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&lt;h1&gt;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&lt;p&gt;</a:t>
            </a:r>
            <a:r>
              <a:rPr lang="zh-CN" altLang="en-US" sz="2000" dirty="0">
                <a:latin typeface="+mn-ea"/>
              </a:rPr>
              <a:t>等都是标签，都有特定含义。</a:t>
            </a:r>
            <a:r>
              <a:rPr lang="en-US" altLang="zh-CN" sz="2000" dirty="0">
                <a:latin typeface="+mn-ea"/>
              </a:rPr>
              <a:t>&lt;title&gt;</a:t>
            </a:r>
            <a:r>
              <a:rPr lang="zh-CN" altLang="en-US" sz="2000" dirty="0">
                <a:latin typeface="+mn-ea"/>
              </a:rPr>
              <a:t>表示标题，</a:t>
            </a:r>
            <a:r>
              <a:rPr lang="en-US" altLang="zh-CN" sz="2000" dirty="0">
                <a:latin typeface="+mn-ea"/>
              </a:rPr>
              <a:t>&lt;h1&gt;</a:t>
            </a:r>
            <a:r>
              <a:rPr lang="zh-CN" altLang="en-US" sz="2000" dirty="0">
                <a:latin typeface="+mn-ea"/>
              </a:rPr>
              <a:t>表示一级标题，</a:t>
            </a:r>
            <a:r>
              <a:rPr lang="en-US" altLang="zh-CN" sz="2000" dirty="0">
                <a:latin typeface="+mn-ea"/>
              </a:rPr>
              <a:t>&lt;p&gt;</a:t>
            </a:r>
            <a:r>
              <a:rPr lang="zh-CN" altLang="en-US" sz="2000" dirty="0">
                <a:latin typeface="+mn-ea"/>
              </a:rPr>
              <a:t>表示段落。</a:t>
            </a:r>
            <a:endParaRPr lang="zh-CN" altLang="en-US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 smtClean="0">
                <a:latin typeface="+mn-ea"/>
              </a:rPr>
              <a:t>HTML</a:t>
            </a:r>
            <a:r>
              <a:rPr lang="zh-CN" altLang="en-US" sz="2000" dirty="0">
                <a:latin typeface="+mn-ea"/>
              </a:rPr>
              <a:t>语言不区分大小写，标签名按照规范全部小写。</a:t>
            </a:r>
            <a:endParaRPr lang="zh-CN" altLang="en-US" sz="20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 dirty="0">
              <a:latin typeface="+mn-ea"/>
            </a:endParaRPr>
          </a:p>
        </p:txBody>
      </p:sp>
      <p:pic>
        <p:nvPicPr>
          <p:cNvPr id="11" name="Picture 2" descr="HTML 元素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221" y="5165596"/>
            <a:ext cx="4712874" cy="1463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h1&gt; </a:t>
            </a:r>
            <a:r>
              <a:rPr lang="zh-CN" altLang="en-US" sz="1600" dirty="0">
                <a:latin typeface="+mn-ea"/>
              </a:rPr>
              <a:t>到 </a:t>
            </a:r>
            <a:r>
              <a:rPr lang="en-US" altLang="zh-CN" sz="1600" dirty="0">
                <a:latin typeface="+mn-ea"/>
              </a:rPr>
              <a:t>&lt;h6</a:t>
            </a:r>
            <a:r>
              <a:rPr lang="en-US" altLang="zh-CN" sz="1600" dirty="0" smtClean="0">
                <a:latin typeface="+mn-ea"/>
              </a:rPr>
              <a:t>&gt;:</a:t>
            </a:r>
            <a:r>
              <a:rPr lang="zh-CN" altLang="en-US" sz="1600" dirty="0">
                <a:latin typeface="+mn-ea"/>
              </a:rPr>
              <a:t>用于标题的级别</a:t>
            </a:r>
            <a:r>
              <a:rPr lang="zh-CN" altLang="en-US" sz="1600" dirty="0" smtClean="0">
                <a:latin typeface="+mn-ea"/>
              </a:rPr>
              <a:t>化。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p</a:t>
            </a:r>
            <a:r>
              <a:rPr lang="en-US" altLang="zh-CN" sz="1600" dirty="0" smtClean="0">
                <a:latin typeface="+mn-ea"/>
              </a:rPr>
              <a:t>&gt; </a:t>
            </a:r>
            <a:r>
              <a:rPr lang="zh-CN" altLang="en-US" sz="1600" dirty="0">
                <a:latin typeface="+mn-ea"/>
              </a:rPr>
              <a:t>段落标签，用于定义文本的</a:t>
            </a:r>
            <a:r>
              <a:rPr lang="zh-CN" altLang="en-US" sz="1600" dirty="0" smtClean="0">
                <a:latin typeface="+mn-ea"/>
              </a:rPr>
              <a:t>段落，特殊字用</a:t>
            </a: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 </a:t>
            </a:r>
            <a:r>
              <a:rPr lang="en-US" altLang="zh-CN" sz="1600" dirty="0" smtClean="0">
                <a:latin typeface="+mn-ea"/>
              </a:rPr>
              <a:t>span&gt;span&lt;/span&gt;</a:t>
            </a:r>
            <a:r>
              <a:rPr lang="zh-CN" altLang="en-US" sz="1600" dirty="0" smtClean="0">
                <a:latin typeface="+mn-ea"/>
              </a:rPr>
              <a:t>包裹</a:t>
            </a:r>
            <a:r>
              <a:rPr lang="en-US" altLang="zh-CN" sz="1600" dirty="0" smtClean="0">
                <a:latin typeface="+mn-ea"/>
              </a:rPr>
              <a:t>&lt;/p&gt;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 err="1">
                <a:latin typeface="+mn-ea"/>
              </a:rPr>
              <a:t>br</a:t>
            </a:r>
            <a:r>
              <a:rPr lang="en-US" altLang="zh-CN" sz="1600" dirty="0" smtClean="0">
                <a:latin typeface="+mn-ea"/>
              </a:rPr>
              <a:t>&gt;:</a:t>
            </a:r>
            <a:r>
              <a:rPr lang="zh-CN" altLang="en-US" sz="1600" dirty="0" smtClean="0">
                <a:latin typeface="+mn-ea"/>
              </a:rPr>
              <a:t>用于</a:t>
            </a:r>
            <a:r>
              <a:rPr lang="zh-CN" altLang="en-US" sz="1600" dirty="0">
                <a:latin typeface="+mn-ea"/>
              </a:rPr>
              <a:t>在文本中插入换行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a&gt;: </a:t>
            </a:r>
            <a:r>
              <a:rPr lang="zh-CN" altLang="en-US" sz="1600" dirty="0">
                <a:latin typeface="+mn-ea"/>
              </a:rPr>
              <a:t>链接标签，用于创建超链接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 err="1">
                <a:latin typeface="+mn-ea"/>
              </a:rPr>
              <a:t>img</a:t>
            </a:r>
            <a:r>
              <a:rPr lang="en-US" altLang="zh-CN" sz="1600" dirty="0">
                <a:latin typeface="+mn-ea"/>
              </a:rPr>
              <a:t>&gt;: </a:t>
            </a:r>
            <a:r>
              <a:rPr lang="zh-CN" altLang="en-US" sz="1600" dirty="0">
                <a:latin typeface="+mn-ea"/>
              </a:rPr>
              <a:t>图像标签，用于嵌入图片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table&gt;: </a:t>
            </a:r>
            <a:r>
              <a:rPr lang="zh-CN" altLang="en-US" sz="1600" dirty="0">
                <a:latin typeface="+mn-ea"/>
              </a:rPr>
              <a:t>表格标签，用于创建表格。</a:t>
            </a:r>
            <a:r>
              <a:rPr lang="en-US" altLang="zh-CN" sz="1600" dirty="0">
                <a:latin typeface="+mn-ea"/>
              </a:rPr>
              <a:t>&lt;</a:t>
            </a:r>
            <a:r>
              <a:rPr lang="en-US" altLang="zh-CN" sz="1600" dirty="0" err="1">
                <a:latin typeface="+mn-ea"/>
              </a:rPr>
              <a:t>tr</a:t>
            </a:r>
            <a:r>
              <a:rPr lang="en-US" altLang="zh-CN" sz="1600" dirty="0">
                <a:latin typeface="+mn-ea"/>
              </a:rPr>
              <a:t>&gt;: </a:t>
            </a:r>
            <a:r>
              <a:rPr lang="zh-CN" altLang="en-US" sz="1600" dirty="0">
                <a:latin typeface="+mn-ea"/>
              </a:rPr>
              <a:t>表格行标签，用于定义表格中的一行。</a:t>
            </a:r>
            <a:r>
              <a:rPr lang="en-US" altLang="zh-CN" sz="1600" dirty="0">
                <a:latin typeface="+mn-ea"/>
              </a:rPr>
              <a:t>&lt;td&gt; </a:t>
            </a:r>
            <a:r>
              <a:rPr lang="zh-CN" altLang="en-US" sz="1600" dirty="0">
                <a:latin typeface="+mn-ea"/>
              </a:rPr>
              <a:t>和 </a:t>
            </a:r>
            <a:r>
              <a:rPr lang="en-US" altLang="zh-CN" sz="1600" dirty="0">
                <a:latin typeface="+mn-ea"/>
              </a:rPr>
              <a:t>&lt;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&gt;: </a:t>
            </a:r>
            <a:r>
              <a:rPr lang="zh-CN" altLang="en-US" sz="1600" dirty="0">
                <a:latin typeface="+mn-ea"/>
              </a:rPr>
              <a:t>单元格标签，用于定义表格中的单元格，</a:t>
            </a:r>
            <a:r>
              <a:rPr lang="en-US" altLang="zh-CN" sz="1600" dirty="0">
                <a:latin typeface="+mn-ea"/>
              </a:rPr>
              <a:t>&lt;</a:t>
            </a:r>
            <a:r>
              <a:rPr lang="en-US" altLang="zh-CN" sz="1600" dirty="0" err="1">
                <a:latin typeface="+mn-ea"/>
              </a:rPr>
              <a:t>th</a:t>
            </a:r>
            <a:r>
              <a:rPr lang="en-US" altLang="zh-CN" sz="1600" dirty="0">
                <a:latin typeface="+mn-ea"/>
              </a:rPr>
              <a:t>&gt;</a:t>
            </a:r>
            <a:r>
              <a:rPr lang="zh-CN" altLang="en-US" sz="1600" dirty="0">
                <a:latin typeface="+mn-ea"/>
              </a:rPr>
              <a:t>用于表头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 err="1">
                <a:latin typeface="+mn-ea"/>
              </a:rPr>
              <a:t>ul</a:t>
            </a:r>
            <a:r>
              <a:rPr lang="en-US" altLang="zh-CN" sz="1600" dirty="0">
                <a:latin typeface="+mn-ea"/>
              </a:rPr>
              <a:t>&gt; </a:t>
            </a:r>
            <a:r>
              <a:rPr lang="zh-CN" altLang="en-US" sz="1600" dirty="0">
                <a:latin typeface="+mn-ea"/>
              </a:rPr>
              <a:t>和 </a:t>
            </a:r>
            <a:r>
              <a:rPr lang="en-US" altLang="zh-CN" sz="1600" dirty="0">
                <a:latin typeface="+mn-ea"/>
              </a:rPr>
              <a:t>&lt;</a:t>
            </a:r>
            <a:r>
              <a:rPr lang="en-US" altLang="zh-CN" sz="1600" dirty="0" err="1">
                <a:latin typeface="+mn-ea"/>
              </a:rPr>
              <a:t>ol</a:t>
            </a:r>
            <a:r>
              <a:rPr lang="en-US" altLang="zh-CN" sz="1600" dirty="0">
                <a:latin typeface="+mn-ea"/>
              </a:rPr>
              <a:t>&gt;: </a:t>
            </a:r>
            <a:r>
              <a:rPr lang="zh-CN" altLang="en-US" sz="1600" dirty="0">
                <a:latin typeface="+mn-ea"/>
              </a:rPr>
              <a:t>无序列表和有序列表标签，用于创建列表。</a:t>
            </a:r>
            <a:r>
              <a:rPr lang="en-US" altLang="zh-CN" sz="1600" dirty="0">
                <a:latin typeface="+mn-ea"/>
              </a:rPr>
              <a:t>&lt;li&gt;: </a:t>
            </a:r>
            <a:r>
              <a:rPr lang="zh-CN" altLang="en-US" sz="1600" dirty="0">
                <a:latin typeface="+mn-ea"/>
              </a:rPr>
              <a:t>列表项标签，用于定义列表中的项目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form&gt;: </a:t>
            </a:r>
            <a:r>
              <a:rPr lang="zh-CN" altLang="en-US" sz="1600" dirty="0">
                <a:latin typeface="+mn-ea"/>
              </a:rPr>
              <a:t>表单标签，用于创建表单以便用户输入数据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input&gt;: </a:t>
            </a:r>
            <a:r>
              <a:rPr lang="zh-CN" altLang="en-US" sz="1600" dirty="0">
                <a:latin typeface="+mn-ea"/>
              </a:rPr>
              <a:t>输入标签，用于创建输入字段，如文本框、复选框等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button&gt;: </a:t>
            </a:r>
            <a:r>
              <a:rPr lang="zh-CN" altLang="en-US" sz="1600" dirty="0">
                <a:latin typeface="+mn-ea"/>
              </a:rPr>
              <a:t>按钮标签，用于创建按钮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</a:t>
            </a:r>
            <a:r>
              <a:rPr lang="en-US" altLang="zh-CN" sz="1600" dirty="0">
                <a:latin typeface="+mn-ea"/>
              </a:rPr>
              <a:t>select&gt;: </a:t>
            </a:r>
            <a:r>
              <a:rPr lang="zh-CN" altLang="en-US" sz="1600" dirty="0">
                <a:latin typeface="+mn-ea"/>
              </a:rPr>
              <a:t>选择标签，用于创建下拉菜单</a:t>
            </a:r>
            <a:r>
              <a:rPr lang="zh-CN" altLang="en-US" sz="1600" dirty="0" smtClean="0">
                <a:latin typeface="+mn-ea"/>
              </a:rPr>
              <a:t>。</a:t>
            </a:r>
            <a:endParaRPr lang="en-US" altLang="zh-CN" sz="1600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1600" dirty="0" smtClean="0">
                <a:latin typeface="+mn-ea"/>
              </a:rPr>
              <a:t>&lt;div&gt;</a:t>
            </a:r>
            <a:r>
              <a:rPr lang="zh-CN" altLang="en-US" sz="1600" dirty="0" smtClean="0">
                <a:latin typeface="+mn-ea"/>
              </a:rPr>
              <a:t>：较为经典的一个布局元素标签，可以装载万物，但</a:t>
            </a:r>
            <a:r>
              <a:rPr lang="en-US" altLang="zh-CN" sz="1600" dirty="0" smtClean="0">
                <a:latin typeface="+mn-ea"/>
              </a:rPr>
              <a:t>HTML5</a:t>
            </a:r>
            <a:r>
              <a:rPr lang="zh-CN" altLang="en-US" sz="1600" dirty="0" smtClean="0">
                <a:latin typeface="+mn-ea"/>
              </a:rPr>
              <a:t>语义化标签出现后不推荐全部使用</a:t>
            </a:r>
            <a:r>
              <a:rPr lang="en-US" altLang="zh-CN" sz="1600" dirty="0" smtClean="0">
                <a:latin typeface="+mn-ea"/>
              </a:rPr>
              <a:t>div</a:t>
            </a:r>
            <a:r>
              <a:rPr lang="zh-CN" altLang="en-US" sz="1600" dirty="0" smtClean="0">
                <a:latin typeface="+mn-ea"/>
              </a:rPr>
              <a:t>布局。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1108245"/>
            <a:ext cx="10378671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网页的整体结构</a:t>
            </a:r>
            <a:r>
              <a:rPr lang="zh-CN" altLang="en-US" dirty="0" smtClean="0">
                <a:latin typeface="+mn-ea"/>
              </a:rPr>
              <a:t>通常一般会</a:t>
            </a:r>
            <a:r>
              <a:rPr lang="zh-CN" altLang="en-US" dirty="0">
                <a:latin typeface="+mn-ea"/>
              </a:rPr>
              <a:t>被划分为若干区域，例如页眉、页脚、内容区、边条等部分，方便页面布局，如图所示</a:t>
            </a:r>
            <a:endParaRPr lang="zh-CN" altLang="en-US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7" y="2229504"/>
            <a:ext cx="6667963" cy="453705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383975" y="2298037"/>
            <a:ext cx="29386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dirty="0">
                <a:latin typeface="+mn-ea"/>
              </a:rPr>
              <a:t>实现上述区域划分，</a:t>
            </a:r>
            <a:r>
              <a:rPr lang="en-US" altLang="zh-CN" dirty="0">
                <a:latin typeface="+mn-ea"/>
              </a:rPr>
              <a:t>HTML</a:t>
            </a:r>
            <a:r>
              <a:rPr lang="zh-CN" altLang="zh-CN" dirty="0">
                <a:latin typeface="+mn-ea"/>
              </a:rPr>
              <a:t>部分需要在</a:t>
            </a:r>
            <a:r>
              <a:rPr lang="en-US" altLang="zh-CN" dirty="0">
                <a:latin typeface="+mn-ea"/>
              </a:rPr>
              <a:t>body</a:t>
            </a:r>
            <a:r>
              <a:rPr lang="zh-CN" altLang="zh-CN" dirty="0">
                <a:latin typeface="+mn-ea"/>
              </a:rPr>
              <a:t>中添加一些结构性标签，如</a:t>
            </a:r>
            <a:r>
              <a:rPr lang="en-US" altLang="zh-CN" dirty="0">
                <a:latin typeface="+mn-ea"/>
              </a:rPr>
              <a:t>div</a:t>
            </a:r>
            <a:r>
              <a:rPr lang="zh-CN" altLang="zh-CN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header</a:t>
            </a:r>
            <a:r>
              <a:rPr lang="zh-CN" altLang="zh-CN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footer</a:t>
            </a:r>
            <a:r>
              <a:rPr lang="zh-CN" altLang="zh-CN" dirty="0">
                <a:latin typeface="+mn-ea"/>
              </a:rPr>
              <a:t>等</a:t>
            </a:r>
            <a:r>
              <a:rPr lang="zh-CN" altLang="zh-CN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+mn-ea"/>
              </a:rPr>
              <a:t>div</a:t>
            </a:r>
            <a:r>
              <a:rPr lang="zh-CN" altLang="en-US" dirty="0">
                <a:latin typeface="+mn-ea"/>
              </a:rPr>
              <a:t>标签用于划分区域，</a:t>
            </a:r>
            <a:r>
              <a:rPr lang="en-US" altLang="zh-CN" dirty="0">
                <a:latin typeface="+mn-ea"/>
              </a:rPr>
              <a:t>div</a:t>
            </a:r>
            <a:r>
              <a:rPr lang="zh-CN" altLang="en-US" dirty="0">
                <a:latin typeface="+mn-ea"/>
              </a:rPr>
              <a:t>本身没有特定含义。可以通过</a:t>
            </a:r>
            <a:r>
              <a:rPr lang="en-US" altLang="zh-CN" dirty="0">
                <a:latin typeface="+mn-ea"/>
              </a:rPr>
              <a:t>id</a:t>
            </a:r>
            <a:r>
              <a:rPr lang="zh-CN" altLang="en-US" dirty="0">
                <a:latin typeface="+mn-ea"/>
              </a:rPr>
              <a:t>属性或</a:t>
            </a:r>
            <a:r>
              <a:rPr lang="en-US" altLang="zh-CN" dirty="0">
                <a:latin typeface="+mn-ea"/>
              </a:rPr>
              <a:t>class</a:t>
            </a:r>
            <a:r>
              <a:rPr lang="zh-CN" altLang="en-US" dirty="0">
                <a:latin typeface="+mn-ea"/>
              </a:rPr>
              <a:t>属性定义一个名字来区分这一区域，以便</a:t>
            </a:r>
            <a:r>
              <a:rPr lang="en-US" altLang="zh-CN" dirty="0">
                <a:latin typeface="+mn-ea"/>
              </a:rPr>
              <a:t>CSS</a:t>
            </a:r>
            <a:r>
              <a:rPr lang="zh-CN" altLang="en-US" dirty="0">
                <a:latin typeface="+mn-ea"/>
              </a:rPr>
              <a:t>或</a:t>
            </a:r>
            <a:r>
              <a:rPr lang="en-US" altLang="zh-CN" dirty="0">
                <a:latin typeface="+mn-ea"/>
              </a:rPr>
              <a:t>JS</a:t>
            </a:r>
            <a:r>
              <a:rPr lang="zh-CN" altLang="en-US" dirty="0">
                <a:latin typeface="+mn-ea"/>
              </a:rPr>
              <a:t>进行引用</a:t>
            </a:r>
            <a:endParaRPr lang="zh-CN" altLang="en-US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1116334" y="1145251"/>
            <a:ext cx="10606644" cy="5697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altLang="zh-CN" dirty="0"/>
              <a:t>&lt;!DOCTYPE html&gt;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&lt;html </a:t>
            </a:r>
            <a:r>
              <a:rPr lang="en-US" altLang="zh-CN" dirty="0" err="1"/>
              <a:t>lang</a:t>
            </a:r>
            <a:r>
              <a:rPr lang="en-US" altLang="zh-CN" dirty="0"/>
              <a:t>="</a:t>
            </a:r>
            <a:r>
              <a:rPr lang="en-US" altLang="zh-CN" dirty="0" err="1"/>
              <a:t>en</a:t>
            </a:r>
            <a:r>
              <a:rPr lang="en-US" altLang="zh-CN" dirty="0"/>
              <a:t>"&gt;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&lt;head&gt;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&lt;meta charset="UTF-8"&gt;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&lt;title&gt;Document&lt;/title&gt;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&lt;/head&gt;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&lt;body&gt;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&lt;div id="container"&gt;</a:t>
            </a:r>
            <a:r>
              <a:rPr lang="zh-CN" altLang="zh-CN" dirty="0"/>
              <a:t>页面全部内容的容器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&lt;div id="header"&gt;</a:t>
            </a:r>
            <a:r>
              <a:rPr lang="zh-CN" altLang="zh-CN" dirty="0"/>
              <a:t>页眉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	&lt;div id="</a:t>
            </a:r>
            <a:r>
              <a:rPr lang="en-US" altLang="zh-CN" dirty="0" err="1"/>
              <a:t>nav</a:t>
            </a:r>
            <a:r>
              <a:rPr lang="en-US" altLang="zh-CN" dirty="0"/>
              <a:t>"&gt;</a:t>
            </a:r>
            <a:r>
              <a:rPr lang="zh-CN" altLang="zh-CN" dirty="0"/>
              <a:t>导航条</a:t>
            </a:r>
            <a:r>
              <a:rPr lang="en-US" altLang="zh-CN" dirty="0"/>
              <a:t>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&lt;div id="sidebar"&gt;</a:t>
            </a:r>
            <a:r>
              <a:rPr lang="zh-CN" altLang="zh-CN" dirty="0"/>
              <a:t>边栏条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	&lt;div class="aside"&gt;</a:t>
            </a:r>
            <a:r>
              <a:rPr lang="zh-CN" altLang="zh-CN" dirty="0"/>
              <a:t>边栏</a:t>
            </a:r>
            <a:r>
              <a:rPr lang="en-US" altLang="zh-CN" dirty="0"/>
              <a:t>1&lt;/div&gt;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	&lt;div class="aside"&gt;</a:t>
            </a:r>
            <a:r>
              <a:rPr lang="zh-CN" altLang="zh-CN" dirty="0"/>
              <a:t>边栏</a:t>
            </a:r>
            <a:r>
              <a:rPr lang="en-US" altLang="zh-CN" dirty="0"/>
              <a:t>2&lt;/div&gt;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&lt;div id="content"&gt;</a:t>
            </a:r>
            <a:r>
              <a:rPr lang="zh-CN" altLang="zh-CN" dirty="0"/>
              <a:t>内容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	&lt;div class="article"&gt;</a:t>
            </a:r>
            <a:r>
              <a:rPr lang="zh-CN" altLang="zh-CN" dirty="0"/>
              <a:t>文章</a:t>
            </a:r>
            <a:r>
              <a:rPr lang="en-US" altLang="zh-CN" dirty="0"/>
              <a:t>1&lt;/div&gt;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	&lt;div class="article"&gt;</a:t>
            </a:r>
            <a:r>
              <a:rPr lang="zh-CN" altLang="zh-CN" dirty="0"/>
              <a:t>文章</a:t>
            </a:r>
            <a:r>
              <a:rPr lang="en-US" altLang="zh-CN" dirty="0"/>
              <a:t>2&lt;/div&gt;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&lt;div id="footer"&gt;</a:t>
            </a:r>
            <a:r>
              <a:rPr lang="zh-CN" altLang="zh-CN" dirty="0"/>
              <a:t>页脚</a:t>
            </a:r>
            <a:r>
              <a:rPr lang="en-US" altLang="zh-CN" dirty="0"/>
              <a:t>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&lt;/div&gt;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&lt;/body&gt;</a:t>
            </a:r>
            <a:endParaRPr lang="zh-CN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&lt;/html&gt;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6" name="文本框 5"/>
          <p:cNvSpPr txBox="1"/>
          <p:nvPr/>
        </p:nvSpPr>
        <p:spPr>
          <a:xfrm>
            <a:off x="1116334" y="1138378"/>
            <a:ext cx="10606644" cy="5697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US" altLang="zh-CN" dirty="0"/>
              <a:t>&lt;!DOCTYPE html&gt;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&lt;html </a:t>
            </a:r>
            <a:r>
              <a:rPr lang="en-US" altLang="zh-CN" dirty="0" err="1"/>
              <a:t>lang</a:t>
            </a:r>
            <a:r>
              <a:rPr lang="en-US" altLang="zh-CN" dirty="0"/>
              <a:t>="</a:t>
            </a:r>
            <a:r>
              <a:rPr lang="en-US" altLang="zh-CN" dirty="0" err="1"/>
              <a:t>en</a:t>
            </a:r>
            <a:r>
              <a:rPr lang="en-US" altLang="zh-CN" dirty="0"/>
              <a:t>"&gt;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&lt;head&gt;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&lt;meta charset="UTF-8"&gt;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&lt;title&gt;Document&lt;/title&gt;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&lt;/head&gt;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&lt;body&gt;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&lt;div id="container"&gt;</a:t>
            </a:r>
            <a:r>
              <a:rPr lang="zh-CN" altLang="en-US" dirty="0"/>
              <a:t>页面全部内容的容器</a:t>
            </a:r>
            <a:endParaRPr lang="zh-CN" altLang="en-US" dirty="0"/>
          </a:p>
          <a:p>
            <a:pPr>
              <a:lnSpc>
                <a:spcPts val="1900"/>
              </a:lnSpc>
            </a:pPr>
            <a:r>
              <a:rPr lang="zh-CN" altLang="en-US" dirty="0"/>
              <a:t>		</a:t>
            </a:r>
            <a:r>
              <a:rPr lang="en-US" altLang="zh-CN" dirty="0"/>
              <a:t>&lt;header&gt; </a:t>
            </a:r>
            <a:r>
              <a:rPr lang="zh-CN" altLang="en-US" dirty="0"/>
              <a:t>页眉</a:t>
            </a:r>
            <a:endParaRPr lang="zh-CN" altLang="en-US" dirty="0"/>
          </a:p>
          <a:p>
            <a:pPr>
              <a:lnSpc>
                <a:spcPts val="1900"/>
              </a:lnSpc>
            </a:pPr>
            <a:r>
              <a:rPr lang="zh-CN" altLang="en-US" dirty="0"/>
              <a:t>			</a:t>
            </a:r>
            <a:r>
              <a:rPr lang="en-US" altLang="zh-CN" dirty="0"/>
              <a:t>&lt;</a:t>
            </a:r>
            <a:r>
              <a:rPr lang="en-US" altLang="zh-CN" dirty="0" err="1"/>
              <a:t>nav</a:t>
            </a:r>
            <a:r>
              <a:rPr lang="en-US" altLang="zh-CN" dirty="0"/>
              <a:t>&gt;</a:t>
            </a:r>
            <a:r>
              <a:rPr lang="zh-CN" altLang="en-US" dirty="0"/>
              <a:t>导航条</a:t>
            </a:r>
            <a:r>
              <a:rPr lang="en-US" altLang="zh-CN" dirty="0"/>
              <a:t>&lt;/</a:t>
            </a:r>
            <a:r>
              <a:rPr lang="en-US" altLang="zh-CN" dirty="0" err="1"/>
              <a:t>nav</a:t>
            </a:r>
            <a:r>
              <a:rPr lang="en-US" altLang="zh-CN" dirty="0"/>
              <a:t>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&lt;/header&gt;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&lt;div id="sidebar"&gt;</a:t>
            </a:r>
            <a:r>
              <a:rPr lang="zh-CN" altLang="en-US" dirty="0"/>
              <a:t>边栏条</a:t>
            </a:r>
            <a:endParaRPr lang="zh-CN" altLang="en-US" dirty="0"/>
          </a:p>
          <a:p>
            <a:pPr>
              <a:lnSpc>
                <a:spcPts val="1900"/>
              </a:lnSpc>
            </a:pPr>
            <a:r>
              <a:rPr lang="zh-CN" altLang="en-US" dirty="0"/>
              <a:t>			</a:t>
            </a:r>
            <a:r>
              <a:rPr lang="en-US" altLang="zh-CN" dirty="0"/>
              <a:t>&lt;aside&gt;</a:t>
            </a:r>
            <a:r>
              <a:rPr lang="zh-CN" altLang="en-US" dirty="0"/>
              <a:t>边栏</a:t>
            </a:r>
            <a:r>
              <a:rPr lang="en-US" altLang="zh-CN" dirty="0"/>
              <a:t>1&lt;/aside&gt;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	&lt;aside&gt;</a:t>
            </a:r>
            <a:r>
              <a:rPr lang="zh-CN" altLang="en-US" dirty="0"/>
              <a:t>边栏</a:t>
            </a:r>
            <a:r>
              <a:rPr lang="en-US" altLang="zh-CN" dirty="0"/>
              <a:t>2&lt;/aside&gt;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&lt;/div&gt;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&lt;main&gt;</a:t>
            </a:r>
            <a:r>
              <a:rPr lang="zh-CN" altLang="en-US" dirty="0"/>
              <a:t>内容</a:t>
            </a:r>
            <a:endParaRPr lang="zh-CN" altLang="en-US" dirty="0"/>
          </a:p>
          <a:p>
            <a:pPr>
              <a:lnSpc>
                <a:spcPts val="1900"/>
              </a:lnSpc>
            </a:pPr>
            <a:r>
              <a:rPr lang="zh-CN" altLang="en-US" dirty="0"/>
              <a:t>			</a:t>
            </a:r>
            <a:r>
              <a:rPr lang="en-US" altLang="zh-CN" dirty="0"/>
              <a:t>&lt;article&gt;</a:t>
            </a:r>
            <a:r>
              <a:rPr lang="zh-CN" altLang="en-US" dirty="0"/>
              <a:t>文章</a:t>
            </a:r>
            <a:r>
              <a:rPr lang="en-US" altLang="zh-CN" dirty="0"/>
              <a:t>1&lt;/article&gt;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	&lt;article&gt;</a:t>
            </a:r>
            <a:r>
              <a:rPr lang="zh-CN" altLang="en-US" dirty="0"/>
              <a:t>文章</a:t>
            </a:r>
            <a:r>
              <a:rPr lang="en-US" altLang="zh-CN" dirty="0"/>
              <a:t>2&lt;/article&gt;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&lt;/ main&gt;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	&lt;footer&gt;</a:t>
            </a:r>
            <a:r>
              <a:rPr lang="zh-CN" altLang="en-US" dirty="0"/>
              <a:t>页脚</a:t>
            </a:r>
            <a:r>
              <a:rPr lang="en-US" altLang="zh-CN" dirty="0"/>
              <a:t>&lt;/footer&gt;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	&lt;/div&gt;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&lt;/body&gt;</a:t>
            </a:r>
            <a:endParaRPr lang="en-US" altLang="zh-CN" dirty="0"/>
          </a:p>
          <a:p>
            <a:pPr>
              <a:lnSpc>
                <a:spcPts val="1900"/>
              </a:lnSpc>
            </a:pPr>
            <a:r>
              <a:rPr lang="en-US" altLang="zh-CN" dirty="0"/>
              <a:t>&lt;/html&gt;</a:t>
            </a: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语义化结构标签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1288" y="988980"/>
            <a:ext cx="10378671" cy="46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HTML5</a:t>
            </a:r>
            <a:r>
              <a:rPr lang="zh-CN" altLang="en-US" dirty="0">
                <a:latin typeface="+mn-ea"/>
              </a:rPr>
              <a:t>提供了一系列语义化的结构</a:t>
            </a:r>
            <a:r>
              <a:rPr lang="zh-CN" altLang="en-US" dirty="0" smtClean="0">
                <a:latin typeface="+mn-ea"/>
              </a:rPr>
              <a:t>标签，常用</a:t>
            </a:r>
            <a:r>
              <a:rPr lang="zh-CN" altLang="en-US" dirty="0">
                <a:latin typeface="+mn-ea"/>
              </a:rPr>
              <a:t>结构化标签</a:t>
            </a:r>
            <a:r>
              <a:rPr lang="zh-CN" altLang="en-US" dirty="0" smtClean="0">
                <a:latin typeface="+mn-ea"/>
              </a:rPr>
              <a:t>包括：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）</a:t>
            </a:r>
            <a:r>
              <a:rPr lang="en-US" altLang="zh-CN" dirty="0">
                <a:latin typeface="+mn-ea"/>
              </a:rPr>
              <a:t>header</a:t>
            </a:r>
            <a:r>
              <a:rPr lang="zh-CN" altLang="en-US" dirty="0">
                <a:latin typeface="+mn-ea"/>
              </a:rPr>
              <a:t>：页眉，可以作为整个页面的页眉，也可以是某个部分的页眉。页面的页眉通常包括</a:t>
            </a:r>
            <a:r>
              <a:rPr lang="en-US" altLang="zh-CN" dirty="0">
                <a:latin typeface="+mn-ea"/>
              </a:rPr>
              <a:t>Logo</a:t>
            </a:r>
            <a:r>
              <a:rPr lang="zh-CN" altLang="en-US" dirty="0">
                <a:latin typeface="+mn-ea"/>
              </a:rPr>
              <a:t>、主导航、搜索框等。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）</a:t>
            </a:r>
            <a:r>
              <a:rPr lang="en-US" altLang="zh-CN" dirty="0" err="1">
                <a:latin typeface="+mn-ea"/>
              </a:rPr>
              <a:t>nav</a:t>
            </a:r>
            <a:r>
              <a:rPr lang="zh-CN" altLang="en-US" dirty="0">
                <a:latin typeface="+mn-ea"/>
              </a:rPr>
              <a:t>：导航条。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3</a:t>
            </a:r>
            <a:r>
              <a:rPr lang="zh-CN" altLang="en-US" dirty="0">
                <a:latin typeface="+mn-ea"/>
              </a:rPr>
              <a:t>）</a:t>
            </a:r>
            <a:r>
              <a:rPr lang="en-US" altLang="zh-CN" dirty="0">
                <a:latin typeface="+mn-ea"/>
              </a:rPr>
              <a:t>footer</a:t>
            </a:r>
            <a:r>
              <a:rPr lang="zh-CN" altLang="en-US" dirty="0">
                <a:latin typeface="+mn-ea"/>
              </a:rPr>
              <a:t>：页脚，可以是整个页面的页脚，也可以是某个部分的页脚。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）</a:t>
            </a:r>
            <a:r>
              <a:rPr lang="en-US" altLang="zh-CN" dirty="0">
                <a:latin typeface="+mn-ea"/>
              </a:rPr>
              <a:t>main</a:t>
            </a:r>
            <a:r>
              <a:rPr lang="zh-CN" altLang="en-US" dirty="0">
                <a:latin typeface="+mn-ea"/>
              </a:rPr>
              <a:t>：页面主要内容，一个页面只能使用一次。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）</a:t>
            </a:r>
            <a:r>
              <a:rPr lang="en-US" altLang="zh-CN" dirty="0">
                <a:latin typeface="+mn-ea"/>
              </a:rPr>
              <a:t>aside</a:t>
            </a:r>
            <a:r>
              <a:rPr lang="zh-CN" altLang="en-US" dirty="0">
                <a:latin typeface="+mn-ea"/>
              </a:rPr>
              <a:t>：侧栏，例如文章的一组链接、广告、友情链接、相关产品列表等。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（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）</a:t>
            </a:r>
            <a:r>
              <a:rPr lang="en-US" altLang="zh-CN" dirty="0">
                <a:latin typeface="+mn-ea"/>
              </a:rPr>
              <a:t>article</a:t>
            </a:r>
            <a:r>
              <a:rPr lang="zh-CN" altLang="en-US" dirty="0">
                <a:latin typeface="+mn-ea"/>
              </a:rPr>
              <a:t>与</a:t>
            </a:r>
            <a:r>
              <a:rPr lang="en-US" altLang="zh-CN" dirty="0">
                <a:latin typeface="+mn-ea"/>
              </a:rPr>
              <a:t>section</a:t>
            </a:r>
            <a:endParaRPr lang="en-US" altLang="zh-CN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latin typeface="+mn-ea"/>
              </a:rPr>
              <a:t>① article</a:t>
            </a:r>
            <a:r>
              <a:rPr lang="zh-CN" altLang="en-US" dirty="0">
                <a:latin typeface="+mn-ea"/>
              </a:rPr>
              <a:t>：可以独自被外部引用的内容，可以是一篇文章、博客、帖子等，通常都带有标题。</a:t>
            </a:r>
            <a:endParaRPr lang="zh-CN" altLang="en-US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② </a:t>
            </a:r>
            <a:r>
              <a:rPr lang="en-US" altLang="zh-CN" dirty="0">
                <a:latin typeface="+mn-ea"/>
              </a:rPr>
              <a:t>section</a:t>
            </a:r>
            <a:r>
              <a:rPr lang="zh-CN" altLang="en-US" dirty="0">
                <a:latin typeface="+mn-ea"/>
              </a:rPr>
              <a:t>用于一段主题性的内容，例如一个章节、片段，通常也带有标题。</a:t>
            </a:r>
            <a:endParaRPr lang="zh-CN" altLang="en-US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③ </a:t>
            </a:r>
            <a:r>
              <a:rPr lang="en-US" altLang="zh-CN" dirty="0">
                <a:latin typeface="+mn-ea"/>
              </a:rPr>
              <a:t>div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section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article</a:t>
            </a:r>
            <a:r>
              <a:rPr lang="zh-CN" altLang="en-US" dirty="0">
                <a:latin typeface="+mn-ea"/>
              </a:rPr>
              <a:t>，语义是从无到有，逐渐增强的。可以使用</a:t>
            </a:r>
            <a:r>
              <a:rPr lang="en-US" altLang="zh-CN" dirty="0">
                <a:latin typeface="+mn-ea"/>
              </a:rPr>
              <a:t>article</a:t>
            </a:r>
            <a:r>
              <a:rPr lang="zh-CN" altLang="en-US" dirty="0">
                <a:latin typeface="+mn-ea"/>
              </a:rPr>
              <a:t>就不要使用</a:t>
            </a:r>
            <a:r>
              <a:rPr lang="en-US" altLang="zh-CN" dirty="0">
                <a:latin typeface="+mn-ea"/>
              </a:rPr>
              <a:t>section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1288" y="1064394"/>
            <a:ext cx="103786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</a:rPr>
              <a:t>HTML5</a:t>
            </a:r>
            <a:r>
              <a:rPr lang="zh-CN" altLang="en-US" dirty="0" smtClean="0">
                <a:latin typeface="+mn-ea"/>
              </a:rPr>
              <a:t>作为下一代</a:t>
            </a:r>
            <a:r>
              <a:rPr lang="en-US" altLang="zh-CN" dirty="0" smtClean="0">
                <a:latin typeface="+mn-ea"/>
              </a:rPr>
              <a:t>HTML</a:t>
            </a:r>
            <a:r>
              <a:rPr lang="zh-CN" altLang="en-US" dirty="0" smtClean="0">
                <a:latin typeface="+mn-ea"/>
              </a:rPr>
              <a:t>标准，有许多新特性，语义化元素是一部分，还有下边几点：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增加了音频元素</a:t>
            </a:r>
            <a:r>
              <a:rPr lang="en-US" altLang="zh-CN" dirty="0" smtClean="0">
                <a:latin typeface="+mn-ea"/>
              </a:rPr>
              <a:t>&lt;audio&gt;</a:t>
            </a:r>
            <a:r>
              <a:rPr lang="zh-CN" altLang="en-US" dirty="0" smtClean="0">
                <a:latin typeface="+mn-ea"/>
              </a:rPr>
              <a:t>和视频元素</a:t>
            </a:r>
            <a:r>
              <a:rPr lang="en-US" altLang="zh-CN" dirty="0" smtClean="0">
                <a:latin typeface="+mn-ea"/>
              </a:rPr>
              <a:t>&lt;video&gt;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增加了绘画元素</a:t>
            </a:r>
            <a:r>
              <a:rPr lang="en-US" altLang="zh-CN" dirty="0" smtClean="0">
                <a:latin typeface="+mn-ea"/>
              </a:rPr>
              <a:t>&lt;canvas&gt;</a:t>
            </a:r>
            <a:r>
              <a:rPr lang="zh-CN" altLang="en-US" dirty="0" smtClean="0">
                <a:latin typeface="+mn-ea"/>
              </a:rPr>
              <a:t>和</a:t>
            </a:r>
            <a:r>
              <a:rPr lang="en-US" altLang="zh-CN" dirty="0" smtClean="0">
                <a:latin typeface="+mn-ea"/>
              </a:rPr>
              <a:t>&lt;</a:t>
            </a:r>
            <a:r>
              <a:rPr lang="en-US" altLang="zh-CN" dirty="0" err="1" smtClean="0">
                <a:latin typeface="+mn-ea"/>
              </a:rPr>
              <a:t>svg</a:t>
            </a:r>
            <a:r>
              <a:rPr lang="en-US" altLang="zh-CN" dirty="0" smtClean="0">
                <a:latin typeface="+mn-ea"/>
              </a:rPr>
              <a:t>&gt;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增强了对表单的支持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latin typeface="+mn-ea"/>
              </a:rPr>
              <a:t>引入</a:t>
            </a:r>
            <a:r>
              <a:rPr lang="zh-CN" altLang="en-US" dirty="0" smtClean="0">
                <a:latin typeface="+mn-ea"/>
              </a:rPr>
              <a:t>了本地存储机制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支持地理定位和拖放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支持</a:t>
            </a:r>
            <a:r>
              <a:rPr lang="en-US" altLang="zh-CN" dirty="0" err="1" smtClean="0">
                <a:latin typeface="+mn-ea"/>
              </a:rPr>
              <a:t>WebWorkers</a:t>
            </a:r>
            <a:endParaRPr lang="en-US" altLang="zh-CN" dirty="0" smtClean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>
                <a:latin typeface="+mn-ea"/>
              </a:rPr>
              <a:t>支持</a:t>
            </a:r>
            <a:r>
              <a:rPr lang="en-US" altLang="zh-CN" dirty="0" err="1" smtClean="0">
                <a:latin typeface="+mn-ea"/>
              </a:rPr>
              <a:t>WebSocket</a:t>
            </a:r>
            <a:r>
              <a:rPr lang="zh-CN" altLang="en-US" dirty="0" smtClean="0">
                <a:latin typeface="+mn-ea"/>
              </a:rPr>
              <a:t>（浏览器与服务器的双向通信）</a:t>
            </a:r>
            <a:endParaRPr lang="en-US" altLang="zh-CN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615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ea"/>
              </a:rPr>
              <a:t>认识音</a:t>
            </a:r>
            <a:r>
              <a:rPr lang="en-US" altLang="zh-CN" b="1" dirty="0" smtClean="0">
                <a:latin typeface="+mn-ea"/>
              </a:rPr>
              <a:t>/</a:t>
            </a:r>
            <a:r>
              <a:rPr lang="zh-CN" altLang="en-US" b="1" dirty="0" smtClean="0">
                <a:latin typeface="+mn-ea"/>
              </a:rPr>
              <a:t>视频元素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</a:rPr>
              <a:t>1. </a:t>
            </a:r>
            <a:r>
              <a:rPr lang="zh-CN" altLang="en-US" dirty="0" smtClean="0">
                <a:latin typeface="+mn-ea"/>
              </a:rPr>
              <a:t>使用</a:t>
            </a:r>
            <a:r>
              <a:rPr lang="en-US" altLang="zh-CN" dirty="0">
                <a:latin typeface="+mn-ea"/>
              </a:rPr>
              <a:t>audio</a:t>
            </a:r>
            <a:r>
              <a:rPr lang="zh-CN" altLang="en-US" dirty="0">
                <a:latin typeface="+mn-ea"/>
              </a:rPr>
              <a:t>标签直接插入单一来源的音频文件，格式如下：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&lt;audio </a:t>
            </a:r>
            <a:r>
              <a:rPr lang="en-US" altLang="zh-CN" dirty="0" err="1">
                <a:latin typeface="+mn-ea"/>
              </a:rPr>
              <a:t>src</a:t>
            </a:r>
            <a:r>
              <a:rPr lang="en-US" altLang="zh-CN" dirty="0">
                <a:latin typeface="+mn-ea"/>
              </a:rPr>
              <a:t>="</a:t>
            </a:r>
            <a:r>
              <a:rPr lang="zh-CN" altLang="en-US" dirty="0">
                <a:latin typeface="+mn-ea"/>
              </a:rPr>
              <a:t>音频文件</a:t>
            </a:r>
            <a:r>
              <a:rPr lang="en-US" altLang="zh-CN" dirty="0">
                <a:latin typeface="+mn-ea"/>
              </a:rPr>
              <a:t>" controls="controls" loop="loop" &gt; &lt;/audio&gt;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其中，</a:t>
            </a:r>
            <a:r>
              <a:rPr lang="en-US" altLang="zh-CN" dirty="0" err="1">
                <a:latin typeface="+mn-ea"/>
              </a:rPr>
              <a:t>src</a:t>
            </a:r>
            <a:r>
              <a:rPr lang="zh-CN" altLang="en-US" dirty="0">
                <a:latin typeface="+mn-ea"/>
              </a:rPr>
              <a:t>取值由音频文件位置、文件名、后缀构成；</a:t>
            </a:r>
            <a:r>
              <a:rPr lang="en-US" altLang="zh-CN" dirty="0">
                <a:latin typeface="+mn-ea"/>
              </a:rPr>
              <a:t>controls</a:t>
            </a:r>
            <a:r>
              <a:rPr lang="zh-CN" altLang="en-US" dirty="0">
                <a:latin typeface="+mn-ea"/>
              </a:rPr>
              <a:t>属性可选，取值</a:t>
            </a:r>
            <a:r>
              <a:rPr lang="en-US" altLang="zh-CN" dirty="0">
                <a:latin typeface="+mn-ea"/>
              </a:rPr>
              <a:t>controls</a:t>
            </a:r>
            <a:r>
              <a:rPr lang="zh-CN" altLang="en-US" dirty="0">
                <a:latin typeface="+mn-ea"/>
              </a:rPr>
              <a:t>表示显示控制条；</a:t>
            </a:r>
            <a:r>
              <a:rPr lang="en-US" altLang="zh-CN" dirty="0">
                <a:latin typeface="+mn-ea"/>
              </a:rPr>
              <a:t>loop</a:t>
            </a:r>
            <a:r>
              <a:rPr lang="zh-CN" altLang="en-US" dirty="0">
                <a:latin typeface="+mn-ea"/>
              </a:rPr>
              <a:t>属性可选，取值</a:t>
            </a:r>
            <a:r>
              <a:rPr lang="en-US" altLang="zh-CN" dirty="0">
                <a:latin typeface="+mn-ea"/>
              </a:rPr>
              <a:t>loop</a:t>
            </a:r>
            <a:r>
              <a:rPr lang="zh-CN" altLang="en-US" dirty="0">
                <a:latin typeface="+mn-ea"/>
              </a:rPr>
              <a:t>表示循环播放。</a:t>
            </a:r>
            <a:endParaRPr lang="zh-CN" altLang="en-US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插入名为</a:t>
            </a:r>
            <a:r>
              <a:rPr lang="en-US" altLang="zh-CN" dirty="0"/>
              <a:t>peppa.mp3</a:t>
            </a:r>
            <a:r>
              <a:rPr lang="zh-CN" altLang="en-US" dirty="0"/>
              <a:t>的音频文件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en-US" altLang="zh-CN" dirty="0"/>
              <a:t>&lt;audio </a:t>
            </a:r>
            <a:r>
              <a:rPr lang="en-US" altLang="zh-CN" dirty="0" err="1"/>
              <a:t>src</a:t>
            </a:r>
            <a:r>
              <a:rPr lang="en-US" altLang="zh-CN" dirty="0"/>
              <a:t>="peppa.mp3" controls="controls"&gt;</a:t>
            </a:r>
            <a:r>
              <a:rPr lang="zh-CN" altLang="en-US" dirty="0"/>
              <a:t>浏览器不支持</a:t>
            </a:r>
            <a:r>
              <a:rPr lang="en-US" altLang="zh-CN" dirty="0"/>
              <a:t>HTML5:audio&lt;/audio&gt;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使用</a:t>
            </a:r>
            <a:r>
              <a:rPr lang="en-US" altLang="zh-CN" dirty="0">
                <a:latin typeface="+mn-ea"/>
              </a:rPr>
              <a:t>audio</a:t>
            </a:r>
            <a:r>
              <a:rPr lang="zh-CN" altLang="en-US" dirty="0">
                <a:latin typeface="+mn-ea"/>
              </a:rPr>
              <a:t>与</a:t>
            </a:r>
            <a:r>
              <a:rPr lang="en-US" altLang="zh-CN" dirty="0">
                <a:latin typeface="+mn-ea"/>
              </a:rPr>
              <a:t>source</a:t>
            </a:r>
            <a:r>
              <a:rPr lang="zh-CN" altLang="en-US" dirty="0" smtClean="0">
                <a:latin typeface="+mn-ea"/>
              </a:rPr>
              <a:t>标签指定音频资源地址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&lt;audio controls="controls"&gt;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	&lt;source </a:t>
            </a:r>
            <a:r>
              <a:rPr lang="en-US" altLang="zh-CN" dirty="0" err="1">
                <a:latin typeface="+mn-ea"/>
              </a:rPr>
              <a:t>src</a:t>
            </a:r>
            <a:r>
              <a:rPr lang="en-US" altLang="zh-CN" dirty="0">
                <a:latin typeface="+mn-ea"/>
              </a:rPr>
              <a:t>="peppa.mp3" type="audio/mp3"&gt; &lt;/source&gt;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	&lt;source </a:t>
            </a:r>
            <a:r>
              <a:rPr lang="en-US" altLang="zh-CN" dirty="0" err="1">
                <a:latin typeface="+mn-ea"/>
              </a:rPr>
              <a:t>src</a:t>
            </a:r>
            <a:r>
              <a:rPr lang="en-US" altLang="zh-CN" dirty="0">
                <a:latin typeface="+mn-ea"/>
              </a:rPr>
              <a:t>="peppa.ogg" type="audio/</a:t>
            </a:r>
            <a:r>
              <a:rPr lang="en-US" altLang="zh-CN" dirty="0" err="1">
                <a:latin typeface="+mn-ea"/>
              </a:rPr>
              <a:t>ogg</a:t>
            </a:r>
            <a:r>
              <a:rPr lang="en-US" altLang="zh-CN" dirty="0">
                <a:latin typeface="+mn-ea"/>
              </a:rPr>
              <a:t>"&gt; &lt;/source&gt;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	</a:t>
            </a:r>
            <a:r>
              <a:rPr lang="zh-CN" altLang="en-US" dirty="0">
                <a:latin typeface="+mn-ea"/>
              </a:rPr>
              <a:t>浏览器不支持</a:t>
            </a:r>
            <a:r>
              <a:rPr lang="en-US" altLang="zh-CN" dirty="0">
                <a:latin typeface="+mn-ea"/>
              </a:rPr>
              <a:t>HTML5:audio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&lt;/audio&gt;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6741782" y="3771818"/>
            <a:ext cx="3594735" cy="592932"/>
          </a:xfrm>
          <a:prstGeom prst="rect">
            <a:avLst/>
          </a:prstGeom>
          <a:ln w="6348" cmpd="sng">
            <a:noFill/>
            <a:prstDash val="solid"/>
          </a:ln>
        </p:spPr>
      </p:pic>
      <p:sp>
        <p:nvSpPr>
          <p:cNvPr id="7" name="矩形 6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ea"/>
              </a:rPr>
              <a:t>认识音</a:t>
            </a:r>
            <a:r>
              <a:rPr lang="en-US" altLang="zh-CN" b="1" dirty="0" smtClean="0">
                <a:latin typeface="+mn-ea"/>
              </a:rPr>
              <a:t>/</a:t>
            </a:r>
            <a:r>
              <a:rPr lang="zh-CN" altLang="en-US" b="1" dirty="0" smtClean="0">
                <a:latin typeface="+mn-ea"/>
              </a:rPr>
              <a:t>视频元素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常见</a:t>
            </a:r>
            <a:r>
              <a:rPr lang="zh-CN" altLang="en-US" dirty="0">
                <a:latin typeface="+mn-ea"/>
              </a:rPr>
              <a:t>的视频文件格式为</a:t>
            </a:r>
            <a:r>
              <a:rPr lang="en-US" altLang="zh-CN" dirty="0">
                <a:latin typeface="+mn-ea"/>
              </a:rPr>
              <a:t>.mp4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.</a:t>
            </a:r>
            <a:r>
              <a:rPr lang="en-US" altLang="zh-CN" dirty="0" err="1">
                <a:latin typeface="+mn-ea"/>
              </a:rPr>
              <a:t>webm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.</a:t>
            </a:r>
            <a:r>
              <a:rPr lang="en-US" altLang="zh-CN" dirty="0" err="1">
                <a:latin typeface="+mn-ea"/>
              </a:rPr>
              <a:t>ogg</a:t>
            </a:r>
            <a:r>
              <a:rPr lang="zh-CN" altLang="en-US" dirty="0">
                <a:latin typeface="+mn-ea"/>
              </a:rPr>
              <a:t>文件，不同文件格式之间可以相互转换。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2. </a:t>
            </a:r>
            <a:r>
              <a:rPr lang="zh-CN" altLang="en-US" dirty="0" smtClean="0">
                <a:latin typeface="+mn-ea"/>
              </a:rPr>
              <a:t>使用</a:t>
            </a:r>
            <a:r>
              <a:rPr lang="en-US" altLang="zh-CN" dirty="0">
                <a:latin typeface="+mn-ea"/>
              </a:rPr>
              <a:t>video</a:t>
            </a:r>
            <a:r>
              <a:rPr lang="zh-CN" altLang="en-US" dirty="0">
                <a:latin typeface="+mn-ea"/>
              </a:rPr>
              <a:t>标签直接插入单一来源的视频</a:t>
            </a:r>
            <a:r>
              <a:rPr lang="zh-CN" altLang="en-US" dirty="0" smtClean="0">
                <a:latin typeface="+mn-ea"/>
              </a:rPr>
              <a:t>文件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 </a:t>
            </a:r>
            <a:r>
              <a:rPr lang="en-US" altLang="zh-CN" dirty="0">
                <a:latin typeface="+mn-ea"/>
              </a:rPr>
              <a:t>【</a:t>
            </a:r>
            <a:r>
              <a:rPr lang="zh-CN" altLang="en-US" dirty="0">
                <a:latin typeface="+mn-ea"/>
              </a:rPr>
              <a:t>例</a:t>
            </a:r>
            <a:r>
              <a:rPr lang="en-US" altLang="zh-CN" dirty="0">
                <a:latin typeface="+mn-ea"/>
              </a:rPr>
              <a:t>】</a:t>
            </a:r>
            <a:r>
              <a:rPr lang="zh-CN" altLang="en-US" dirty="0">
                <a:latin typeface="+mn-ea"/>
              </a:rPr>
              <a:t>插入名为</a:t>
            </a:r>
            <a:r>
              <a:rPr lang="en-US" altLang="zh-CN" dirty="0">
                <a:latin typeface="+mn-ea"/>
              </a:rPr>
              <a:t>course.mp4</a:t>
            </a:r>
            <a:r>
              <a:rPr lang="zh-CN" altLang="en-US" dirty="0">
                <a:latin typeface="+mn-ea"/>
              </a:rPr>
              <a:t>的视频文件，代码如下。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  </a:t>
            </a:r>
            <a:r>
              <a:rPr lang="en-US" altLang="zh-CN" dirty="0">
                <a:latin typeface="+mn-ea"/>
              </a:rPr>
              <a:t>&lt;video </a:t>
            </a:r>
            <a:r>
              <a:rPr lang="en-US" altLang="zh-CN" dirty="0" err="1">
                <a:latin typeface="+mn-ea"/>
              </a:rPr>
              <a:t>src</a:t>
            </a:r>
            <a:r>
              <a:rPr lang="en-US" altLang="zh-CN" dirty="0">
                <a:latin typeface="+mn-ea"/>
              </a:rPr>
              <a:t>="course.mp4" controls="controls" width="420" &gt;  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    </a:t>
            </a:r>
            <a:r>
              <a:rPr lang="zh-CN" altLang="en-US" dirty="0">
                <a:latin typeface="+mn-ea"/>
              </a:rPr>
              <a:t>浏览器不支持</a:t>
            </a:r>
            <a:r>
              <a:rPr lang="en-US" altLang="zh-CN" dirty="0">
                <a:latin typeface="+mn-ea"/>
              </a:rPr>
              <a:t>HTML5:video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  &lt;/video&gt;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 </a:t>
            </a:r>
            <a:r>
              <a:rPr lang="zh-CN" altLang="en-US" dirty="0" smtClean="0">
                <a:latin typeface="+mn-ea"/>
              </a:rPr>
              <a:t> 使用</a:t>
            </a:r>
            <a:r>
              <a:rPr lang="en-US" altLang="zh-CN" dirty="0">
                <a:latin typeface="+mn-ea"/>
              </a:rPr>
              <a:t>poster</a:t>
            </a:r>
            <a:r>
              <a:rPr lang="zh-CN" altLang="en-US" dirty="0">
                <a:latin typeface="+mn-ea"/>
              </a:rPr>
              <a:t>属性设置开始海报图像。视频默认初始状态是蓝屏，可以通过设置</a:t>
            </a:r>
            <a:r>
              <a:rPr lang="en-US" altLang="zh-CN" dirty="0">
                <a:latin typeface="+mn-ea"/>
              </a:rPr>
              <a:t>poster</a:t>
            </a:r>
            <a:r>
              <a:rPr lang="zh-CN" altLang="en-US" dirty="0">
                <a:latin typeface="+mn-ea"/>
              </a:rPr>
              <a:t>属性完成初始</a:t>
            </a:r>
            <a:r>
              <a:rPr lang="zh-CN" altLang="en-US" dirty="0" smtClean="0">
                <a:latin typeface="+mn-ea"/>
              </a:rPr>
              <a:t>图 像</a:t>
            </a:r>
            <a:r>
              <a:rPr lang="zh-CN" altLang="en-US" dirty="0">
                <a:latin typeface="+mn-ea"/>
              </a:rPr>
              <a:t>的设置，如图所示，代码如下。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&lt;video </a:t>
            </a:r>
            <a:r>
              <a:rPr lang="en-US" altLang="zh-CN" dirty="0" err="1">
                <a:latin typeface="+mn-ea"/>
              </a:rPr>
              <a:t>src</a:t>
            </a:r>
            <a:r>
              <a:rPr lang="en-US" altLang="zh-CN" dirty="0">
                <a:latin typeface="+mn-ea"/>
              </a:rPr>
              <a:t>="course.mp4" controls="controls" </a:t>
            </a:r>
            <a:r>
              <a:rPr lang="en-US" altLang="zh-CN" b="1" dirty="0">
                <a:solidFill>
                  <a:srgbClr val="8E2F73"/>
                </a:solidFill>
                <a:latin typeface="+mn-ea"/>
              </a:rPr>
              <a:t>poster="startimg.jpg"</a:t>
            </a:r>
            <a:r>
              <a:rPr lang="en-US" altLang="zh-CN" dirty="0">
                <a:latin typeface="+mn-ea"/>
              </a:rPr>
              <a:t> width="420" &gt;  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  </a:t>
            </a:r>
            <a:r>
              <a:rPr lang="zh-CN" altLang="en-US" dirty="0">
                <a:latin typeface="+mn-ea"/>
              </a:rPr>
              <a:t>浏览器不支持</a:t>
            </a:r>
            <a:r>
              <a:rPr lang="en-US" altLang="zh-CN" dirty="0">
                <a:latin typeface="+mn-ea"/>
              </a:rPr>
              <a:t>HTML5:video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&lt;/video&gt;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8450" y="5218808"/>
            <a:ext cx="2029038" cy="154682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ea"/>
              </a:rPr>
              <a:t>使用</a:t>
            </a:r>
            <a:r>
              <a:rPr lang="en-US" altLang="zh-CN" b="1" dirty="0" smtClean="0">
                <a:latin typeface="+mn-ea"/>
              </a:rPr>
              <a:t>JavaScript</a:t>
            </a:r>
            <a:r>
              <a:rPr lang="zh-CN" altLang="en-US" b="1" dirty="0" smtClean="0">
                <a:latin typeface="+mn-ea"/>
              </a:rPr>
              <a:t>操作视频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除了使用</a:t>
            </a:r>
            <a:r>
              <a:rPr lang="en-US" altLang="zh-CN" dirty="0" smtClean="0">
                <a:latin typeface="+mn-ea"/>
              </a:rPr>
              <a:t>controls</a:t>
            </a:r>
            <a:r>
              <a:rPr lang="zh-CN" altLang="en-US" dirty="0" smtClean="0">
                <a:latin typeface="+mn-ea"/>
              </a:rPr>
              <a:t>属性显示视频控制条，还可以通过</a:t>
            </a:r>
            <a:r>
              <a:rPr lang="en-US" altLang="zh-CN" dirty="0" smtClean="0">
                <a:latin typeface="+mn-ea"/>
              </a:rPr>
              <a:t>DOM API</a:t>
            </a:r>
            <a:r>
              <a:rPr lang="zh-CN" altLang="en-US" dirty="0" smtClean="0">
                <a:latin typeface="+mn-ea"/>
              </a:rPr>
              <a:t>来操作视频，示例代码如下：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1288" y="1929103"/>
            <a:ext cx="408716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&lt;button </a:t>
            </a:r>
            <a:r>
              <a:rPr lang="en-US" altLang="zh-CN" sz="1200" dirty="0" err="1"/>
              <a:t>onclick</a:t>
            </a:r>
            <a:r>
              <a:rPr lang="en-US" altLang="zh-CN" sz="1200" dirty="0"/>
              <a:t>="</a:t>
            </a:r>
            <a:r>
              <a:rPr lang="en-US" altLang="zh-CN" sz="1200" dirty="0" err="1"/>
              <a:t>toPlay</a:t>
            </a:r>
            <a:r>
              <a:rPr lang="en-US" altLang="zh-CN" sz="1200" dirty="0"/>
              <a:t>"&gt;</a:t>
            </a:r>
            <a:r>
              <a:rPr lang="zh-CN" altLang="en-US" sz="1200" dirty="0"/>
              <a:t>暂停</a:t>
            </a:r>
            <a:r>
              <a:rPr lang="en-US" altLang="zh-CN" sz="1200" dirty="0"/>
              <a:t>/</a:t>
            </a:r>
            <a:r>
              <a:rPr lang="zh-CN" altLang="en-US" sz="1200" dirty="0"/>
              <a:t>播放</a:t>
            </a:r>
            <a:r>
              <a:rPr lang="en-US" altLang="zh-CN" sz="1200" dirty="0"/>
              <a:t>&lt;/button&gt;</a:t>
            </a:r>
            <a:endParaRPr lang="en-US" altLang="zh-CN" sz="1200" dirty="0"/>
          </a:p>
          <a:p>
            <a:r>
              <a:rPr lang="en-US" altLang="zh-CN" sz="1200" dirty="0" smtClean="0"/>
              <a:t>&lt;</a:t>
            </a:r>
            <a:r>
              <a:rPr lang="en-US" altLang="zh-CN" sz="1200" dirty="0"/>
              <a:t>button </a:t>
            </a:r>
            <a:r>
              <a:rPr lang="en-US" altLang="zh-CN" sz="1200" dirty="0" err="1"/>
              <a:t>onclick</a:t>
            </a:r>
            <a:r>
              <a:rPr lang="en-US" altLang="zh-CN" sz="1200" dirty="0"/>
              <a:t>="</a:t>
            </a:r>
            <a:r>
              <a:rPr lang="en-US" altLang="zh-CN" sz="1200" dirty="0" err="1"/>
              <a:t>setVolume</a:t>
            </a:r>
            <a:r>
              <a:rPr lang="en-US" altLang="zh-CN" sz="1200" dirty="0"/>
              <a:t>"&gt;</a:t>
            </a:r>
            <a:r>
              <a:rPr lang="zh-CN" altLang="en-US" sz="1200" dirty="0"/>
              <a:t>设置音量</a:t>
            </a:r>
            <a:r>
              <a:rPr lang="en-US" altLang="zh-CN" sz="1200" dirty="0"/>
              <a:t>&lt;/button&gt;</a:t>
            </a:r>
            <a:endParaRPr lang="en-US" altLang="zh-CN" sz="1200" dirty="0"/>
          </a:p>
          <a:p>
            <a:r>
              <a:rPr lang="en-US" altLang="zh-CN" sz="1200" dirty="0" smtClean="0"/>
              <a:t>&lt;</a:t>
            </a:r>
            <a:r>
              <a:rPr lang="en-US" altLang="zh-CN" sz="1200" dirty="0"/>
              <a:t>button </a:t>
            </a:r>
            <a:r>
              <a:rPr lang="en-US" altLang="zh-CN" sz="1200" dirty="0" err="1"/>
              <a:t>onclick</a:t>
            </a:r>
            <a:r>
              <a:rPr lang="en-US" altLang="zh-CN" sz="1200" dirty="0"/>
              <a:t>="forward"&gt;</a:t>
            </a:r>
            <a:r>
              <a:rPr lang="zh-CN" altLang="en-US" sz="1200" dirty="0"/>
              <a:t>快进</a:t>
            </a:r>
            <a:r>
              <a:rPr lang="en-US" altLang="zh-CN" sz="1200" dirty="0"/>
              <a:t>5</a:t>
            </a:r>
            <a:r>
              <a:rPr lang="zh-CN" altLang="en-US" sz="1200" dirty="0"/>
              <a:t>秒</a:t>
            </a:r>
            <a:r>
              <a:rPr lang="en-US" altLang="zh-CN" sz="1200" dirty="0"/>
              <a:t>&lt;/button&gt;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</a:t>
            </a:r>
            <a:r>
              <a:rPr lang="en-US" altLang="zh-CN" sz="1200" dirty="0" smtClean="0"/>
              <a:t>&lt;</a:t>
            </a:r>
            <a:r>
              <a:rPr lang="en-US" altLang="zh-CN" sz="1200" dirty="0"/>
              <a:t>script&gt;</a:t>
            </a:r>
            <a:endParaRPr lang="en-US" altLang="zh-CN" sz="1200" dirty="0"/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var</a:t>
            </a:r>
            <a:r>
              <a:rPr lang="en-US" altLang="zh-CN" sz="1200" dirty="0"/>
              <a:t> video = </a:t>
            </a:r>
            <a:r>
              <a:rPr lang="en-US" altLang="zh-CN" sz="1200" dirty="0" err="1"/>
              <a:t>document.getElementById</a:t>
            </a:r>
            <a:r>
              <a:rPr lang="en-US" altLang="zh-CN" sz="1200" dirty="0"/>
              <a:t>('video1')</a:t>
            </a:r>
            <a:endParaRPr lang="en-US" altLang="zh-CN" sz="1200" dirty="0"/>
          </a:p>
          <a:p>
            <a:r>
              <a:rPr lang="en-US" altLang="zh-CN" sz="1200" dirty="0"/>
              <a:t>    function </a:t>
            </a:r>
            <a:r>
              <a:rPr lang="en-US" altLang="zh-CN" sz="1200" dirty="0" err="1"/>
              <a:t>toPlay</a:t>
            </a:r>
            <a:r>
              <a:rPr lang="en-US" altLang="zh-CN" sz="1200" dirty="0"/>
              <a:t>() {</a:t>
            </a:r>
            <a:endParaRPr lang="en-US" altLang="zh-CN" sz="1200" dirty="0"/>
          </a:p>
          <a:p>
            <a:r>
              <a:rPr lang="en-US" altLang="zh-CN" sz="1200" dirty="0"/>
              <a:t>      if (</a:t>
            </a:r>
            <a:r>
              <a:rPr lang="en-US" altLang="zh-CN" sz="1200" dirty="0" err="1"/>
              <a:t>video.paused</a:t>
            </a:r>
            <a:r>
              <a:rPr lang="en-US" altLang="zh-CN" sz="1200" dirty="0"/>
              <a:t>) {</a:t>
            </a:r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err="1"/>
              <a:t>video.play</a:t>
            </a:r>
            <a:r>
              <a:rPr lang="en-US" altLang="zh-CN" sz="1200" dirty="0"/>
              <a:t>()</a:t>
            </a:r>
            <a:endParaRPr lang="en-US" altLang="zh-CN" sz="1200" dirty="0"/>
          </a:p>
          <a:p>
            <a:r>
              <a:rPr lang="en-US" altLang="zh-CN" sz="1200" dirty="0"/>
              <a:t>      } else {</a:t>
            </a:r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err="1"/>
              <a:t>video.pause</a:t>
            </a:r>
            <a:r>
              <a:rPr lang="en-US" altLang="zh-CN" sz="1200" dirty="0"/>
              <a:t>()</a:t>
            </a:r>
            <a:endParaRPr lang="en-US" altLang="zh-CN" sz="1200" dirty="0"/>
          </a:p>
          <a:p>
            <a:r>
              <a:rPr lang="en-US" altLang="zh-CN" sz="1200" dirty="0"/>
              <a:t>      }</a:t>
            </a:r>
            <a:endParaRPr lang="en-US" altLang="zh-CN" sz="1200" dirty="0"/>
          </a:p>
          <a:p>
            <a:r>
              <a:rPr lang="en-US" altLang="zh-CN" sz="1200" dirty="0"/>
              <a:t>    }</a:t>
            </a:r>
            <a:endParaRPr lang="en-US" altLang="zh-CN" sz="1200" dirty="0"/>
          </a:p>
          <a:p>
            <a:r>
              <a:rPr lang="en-US" altLang="zh-CN" sz="1200" dirty="0"/>
              <a:t>    function </a:t>
            </a:r>
            <a:r>
              <a:rPr lang="en-US" altLang="zh-CN" sz="1200" dirty="0" err="1"/>
              <a:t>setVolume</a:t>
            </a:r>
            <a:r>
              <a:rPr lang="en-US" altLang="zh-CN" sz="1200" dirty="0"/>
              <a:t>() {</a:t>
            </a:r>
            <a:endParaRPr lang="en-US" altLang="zh-CN" sz="1200" dirty="0"/>
          </a:p>
          <a:p>
            <a:r>
              <a:rPr lang="en-US" altLang="zh-CN" sz="1200" dirty="0"/>
              <a:t>      </a:t>
            </a:r>
            <a:r>
              <a:rPr lang="en-US" altLang="zh-CN" sz="1200" dirty="0" err="1"/>
              <a:t>var</a:t>
            </a:r>
            <a:r>
              <a:rPr lang="en-US" altLang="zh-CN" sz="1200" dirty="0"/>
              <a:t> volume = 0.3</a:t>
            </a:r>
            <a:endParaRPr lang="en-US" altLang="zh-CN" sz="1200" dirty="0"/>
          </a:p>
          <a:p>
            <a:r>
              <a:rPr lang="en-US" altLang="zh-CN" sz="1200" dirty="0"/>
              <a:t>    }</a:t>
            </a:r>
            <a:endParaRPr lang="en-US" altLang="zh-CN" sz="1200" dirty="0"/>
          </a:p>
          <a:p>
            <a:endParaRPr lang="en-US" altLang="zh-CN" sz="1200" dirty="0"/>
          </a:p>
          <a:p>
            <a:r>
              <a:rPr lang="en-US" altLang="zh-CN" sz="1200" dirty="0"/>
              <a:t>    function forward() {</a:t>
            </a:r>
            <a:endParaRPr lang="en-US" altLang="zh-CN" sz="1200" dirty="0"/>
          </a:p>
          <a:p>
            <a:r>
              <a:rPr lang="en-US" altLang="zh-CN" sz="1200" dirty="0"/>
              <a:t>      let time = 5</a:t>
            </a:r>
            <a:endParaRPr lang="en-US" altLang="zh-CN" sz="1200" dirty="0"/>
          </a:p>
          <a:p>
            <a:r>
              <a:rPr lang="en-US" altLang="zh-CN" sz="1200" dirty="0"/>
              <a:t>      if (</a:t>
            </a:r>
            <a:r>
              <a:rPr lang="en-US" altLang="zh-CN" sz="1200" dirty="0" err="1"/>
              <a:t>video.duration</a:t>
            </a:r>
            <a:r>
              <a:rPr lang="en-US" altLang="zh-CN" sz="1200" dirty="0"/>
              <a:t> &gt; </a:t>
            </a:r>
            <a:r>
              <a:rPr lang="en-US" altLang="zh-CN" sz="1200" dirty="0" err="1"/>
              <a:t>video.currentTime</a:t>
            </a:r>
            <a:r>
              <a:rPr lang="en-US" altLang="zh-CN" sz="1200" dirty="0"/>
              <a:t> + time)</a:t>
            </a:r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err="1"/>
              <a:t>video.currentTime</a:t>
            </a:r>
            <a:r>
              <a:rPr lang="en-US" altLang="zh-CN" sz="1200" dirty="0"/>
              <a:t> += time</a:t>
            </a:r>
            <a:endParaRPr lang="en-US" altLang="zh-CN" sz="1200" dirty="0"/>
          </a:p>
          <a:p>
            <a:r>
              <a:rPr lang="en-US" altLang="zh-CN" sz="1200" dirty="0"/>
              <a:t>      else</a:t>
            </a:r>
            <a:endParaRPr lang="en-US" altLang="zh-CN" sz="1200" dirty="0"/>
          </a:p>
          <a:p>
            <a:r>
              <a:rPr lang="en-US" altLang="zh-CN" sz="1200" dirty="0"/>
              <a:t>        </a:t>
            </a:r>
            <a:r>
              <a:rPr lang="en-US" altLang="zh-CN" sz="1200" dirty="0" err="1"/>
              <a:t>video.currentTime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video.duration</a:t>
            </a:r>
            <a:endParaRPr lang="en-US" altLang="zh-CN" sz="1200" dirty="0"/>
          </a:p>
          <a:p>
            <a:r>
              <a:rPr lang="en-US" altLang="zh-CN" sz="1200" dirty="0"/>
              <a:t>    </a:t>
            </a:r>
            <a:r>
              <a:rPr lang="en-US" altLang="zh-CN" sz="1200" dirty="0" smtClean="0"/>
              <a:t>}</a:t>
            </a:r>
            <a:endParaRPr lang="en-US" altLang="zh-CN" sz="1200" dirty="0" smtClean="0"/>
          </a:p>
          <a:p>
            <a:r>
              <a:rPr lang="en-US" altLang="zh-CN" sz="1200" dirty="0" smtClean="0"/>
              <a:t>&lt;/script&gt;</a:t>
            </a:r>
            <a:endParaRPr lang="zh-CN" altLang="en-US" sz="1200" dirty="0"/>
          </a:p>
        </p:txBody>
      </p:sp>
      <p:sp>
        <p:nvSpPr>
          <p:cNvPr id="7" name="矩形 6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88523" y="216533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&lt;</a:t>
            </a:r>
            <a:r>
              <a:rPr lang="en-US" altLang="zh-CN" sz="1600" dirty="0" smtClean="0">
                <a:latin typeface="+mn-ea"/>
              </a:rPr>
              <a:t>video id=“video1” </a:t>
            </a:r>
            <a:r>
              <a:rPr lang="en-US" altLang="zh-CN" sz="1600" dirty="0" err="1">
                <a:latin typeface="+mn-ea"/>
              </a:rPr>
              <a:t>src</a:t>
            </a:r>
            <a:r>
              <a:rPr lang="en-US" altLang="zh-CN" sz="1600" dirty="0">
                <a:latin typeface="+mn-ea"/>
              </a:rPr>
              <a:t>="course.mp4" controls="controls" </a:t>
            </a:r>
            <a:r>
              <a:rPr lang="en-US" altLang="zh-CN" sz="1600" b="1" dirty="0">
                <a:solidFill>
                  <a:srgbClr val="8E2F73"/>
                </a:solidFill>
                <a:latin typeface="+mn-ea"/>
              </a:rPr>
              <a:t>poster="startimg.jpg"</a:t>
            </a:r>
            <a:r>
              <a:rPr lang="en-US" altLang="zh-CN" sz="1600" dirty="0">
                <a:latin typeface="+mn-ea"/>
              </a:rPr>
              <a:t> width="420" &gt;  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  </a:t>
            </a:r>
            <a:r>
              <a:rPr lang="zh-CN" altLang="en-US" sz="1600" dirty="0">
                <a:latin typeface="+mn-ea"/>
              </a:rPr>
              <a:t>浏览器不支持</a:t>
            </a:r>
            <a:r>
              <a:rPr lang="en-US" altLang="zh-CN" sz="1600" dirty="0">
                <a:latin typeface="+mn-ea"/>
              </a:rPr>
              <a:t>HTML5:video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&lt;/video&gt;</a:t>
            </a:r>
            <a:endParaRPr lang="en-US" altLang="zh-CN" sz="16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ea"/>
              </a:rPr>
              <a:t>实现表单验证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</a:rPr>
              <a:t>HTML5</a:t>
            </a:r>
            <a:r>
              <a:rPr lang="zh-CN" altLang="en-US" dirty="0" smtClean="0">
                <a:latin typeface="+mn-ea"/>
              </a:rPr>
              <a:t>在原有表单元素的基础上进行了丰富的扩展，主要表现为添加了许多新的属性：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</a:rPr>
              <a:t>&lt;input&gt;</a:t>
            </a:r>
            <a:r>
              <a:rPr lang="zh-CN" altLang="en-US" dirty="0" smtClean="0">
                <a:latin typeface="+mn-ea"/>
              </a:rPr>
              <a:t>元素的新功能：</a:t>
            </a:r>
            <a:endParaRPr lang="en-US" altLang="zh-CN" dirty="0" smtClean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236" y="232780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 &lt;input type="date"&gt;</a:t>
            </a:r>
            <a:endParaRPr lang="en-US" altLang="zh-CN" dirty="0"/>
          </a:p>
          <a:p>
            <a:r>
              <a:rPr lang="en-US" altLang="zh-CN" dirty="0"/>
              <a:t>  &lt;input type="time</a:t>
            </a:r>
            <a:r>
              <a:rPr lang="en-US" altLang="zh-CN" dirty="0" smtClean="0"/>
              <a:t>"&gt;</a:t>
            </a:r>
            <a:endParaRPr lang="en-US" altLang="zh-CN" dirty="0" smtClean="0"/>
          </a:p>
          <a:p>
            <a:r>
              <a:rPr lang="en-US" altLang="zh-CN" dirty="0" smtClean="0"/>
              <a:t>  &lt;</a:t>
            </a:r>
            <a:r>
              <a:rPr lang="en-US" altLang="zh-CN" dirty="0"/>
              <a:t>input type="image"&gt;</a:t>
            </a:r>
            <a:endParaRPr lang="en-US" altLang="zh-CN" dirty="0"/>
          </a:p>
          <a:p>
            <a:r>
              <a:rPr lang="en-US" altLang="zh-CN" dirty="0"/>
              <a:t>  &lt;input type="</a:t>
            </a:r>
            <a:r>
              <a:rPr lang="en-US" altLang="zh-CN" dirty="0" err="1"/>
              <a:t>datetime</a:t>
            </a:r>
            <a:r>
              <a:rPr lang="en-US" altLang="zh-CN" dirty="0"/>
              <a:t>-local"&gt;</a:t>
            </a:r>
            <a:endParaRPr lang="en-US" altLang="zh-CN" dirty="0"/>
          </a:p>
          <a:p>
            <a:r>
              <a:rPr lang="en-US" altLang="zh-CN" dirty="0"/>
              <a:t>  &lt;input type="month"&gt;</a:t>
            </a:r>
            <a:endParaRPr lang="en-US" altLang="zh-CN" dirty="0"/>
          </a:p>
          <a:p>
            <a:r>
              <a:rPr lang="en-US" altLang="zh-CN" dirty="0"/>
              <a:t>  &lt;input type="color"&gt;</a:t>
            </a:r>
            <a:endParaRPr lang="en-US" altLang="zh-CN" dirty="0"/>
          </a:p>
          <a:p>
            <a:r>
              <a:rPr lang="en-US" altLang="zh-CN" dirty="0"/>
              <a:t>  &lt;input type="number" min="1" max="</a:t>
            </a:r>
            <a:r>
              <a:rPr lang="en-US" altLang="zh-CN" dirty="0" smtClean="0"/>
              <a:t>100“&gt;</a:t>
            </a:r>
            <a:endParaRPr lang="en-US" altLang="zh-CN" dirty="0"/>
          </a:p>
          <a:p>
            <a:r>
              <a:rPr lang="en-US" altLang="zh-CN" dirty="0"/>
              <a:t>  &lt;input type="email"&gt;</a:t>
            </a:r>
            <a:endParaRPr lang="en-US" altLang="zh-CN" dirty="0"/>
          </a:p>
          <a:p>
            <a:r>
              <a:rPr lang="en-US" altLang="zh-CN" dirty="0"/>
              <a:t>  &lt;input type="range" min="1" max="10"&gt;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4" y="5135650"/>
            <a:ext cx="2616654" cy="128453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721" y="5135650"/>
            <a:ext cx="2623457" cy="13117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78" y="5323102"/>
            <a:ext cx="1836928" cy="105353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634" y="5290444"/>
            <a:ext cx="2063931" cy="1045029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ea"/>
              </a:rPr>
              <a:t>实现表单验证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除了带来新功能的</a:t>
            </a:r>
            <a:r>
              <a:rPr lang="en-US" altLang="zh-CN" dirty="0" smtClean="0">
                <a:latin typeface="+mn-ea"/>
              </a:rPr>
              <a:t>type</a:t>
            </a:r>
            <a:r>
              <a:rPr lang="zh-CN" altLang="en-US" dirty="0" smtClean="0">
                <a:latin typeface="+mn-ea"/>
              </a:rPr>
              <a:t>属性，</a:t>
            </a:r>
            <a:r>
              <a:rPr lang="en-US" altLang="zh-CN" dirty="0" smtClean="0">
                <a:latin typeface="+mn-ea"/>
              </a:rPr>
              <a:t>input</a:t>
            </a:r>
            <a:r>
              <a:rPr lang="zh-CN" altLang="en-US" dirty="0" smtClean="0">
                <a:latin typeface="+mn-ea"/>
              </a:rPr>
              <a:t>元素还增加了其他好用的属性：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>
                <a:latin typeface="+mn-ea"/>
              </a:rPr>
              <a:t>autocomplete</a:t>
            </a:r>
            <a:r>
              <a:rPr lang="zh-CN" altLang="en-US" dirty="0">
                <a:latin typeface="+mn-ea"/>
              </a:rPr>
              <a:t>：规定输入字段是否启用自动完成功能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>
                <a:latin typeface="+mn-ea"/>
              </a:rPr>
              <a:t>autofocus</a:t>
            </a:r>
            <a:r>
              <a:rPr lang="zh-CN" altLang="en-US" dirty="0">
                <a:latin typeface="+mn-ea"/>
              </a:rPr>
              <a:t>：指定页面加载时</a:t>
            </a:r>
            <a:r>
              <a:rPr lang="en-US" altLang="zh-CN" dirty="0">
                <a:latin typeface="+mn-ea"/>
              </a:rPr>
              <a:t>input</a:t>
            </a:r>
            <a:r>
              <a:rPr lang="zh-CN" altLang="en-US" dirty="0">
                <a:latin typeface="+mn-ea"/>
              </a:rPr>
              <a:t>元素自动获得焦点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>
                <a:latin typeface="+mn-ea"/>
              </a:rPr>
              <a:t>m</a:t>
            </a:r>
            <a:r>
              <a:rPr lang="en-US" altLang="zh-CN" dirty="0" smtClean="0">
                <a:latin typeface="+mn-ea"/>
              </a:rPr>
              <a:t>ax/min</a:t>
            </a:r>
            <a:r>
              <a:rPr lang="zh-CN" altLang="en-US" dirty="0" smtClean="0">
                <a:latin typeface="+mn-ea"/>
              </a:rPr>
              <a:t>：最大最小值。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 smtClean="0">
                <a:latin typeface="+mn-ea"/>
              </a:rPr>
              <a:t>readonly</a:t>
            </a:r>
            <a:r>
              <a:rPr lang="zh-CN" altLang="en-US" dirty="0" smtClean="0">
                <a:latin typeface="+mn-ea"/>
              </a:rPr>
              <a:t>：元素只读。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>
                <a:latin typeface="+mn-ea"/>
              </a:rPr>
              <a:t>form</a:t>
            </a:r>
            <a:r>
              <a:rPr lang="zh-CN" altLang="en-US" dirty="0">
                <a:latin typeface="+mn-ea"/>
              </a:rPr>
              <a:t>：允许</a:t>
            </a:r>
            <a:r>
              <a:rPr lang="en-US" altLang="zh-CN" dirty="0">
                <a:latin typeface="+mn-ea"/>
              </a:rPr>
              <a:t>input</a:t>
            </a:r>
            <a:r>
              <a:rPr lang="zh-CN" altLang="en-US" dirty="0">
                <a:latin typeface="+mn-ea"/>
              </a:rPr>
              <a:t>元素指定所属的</a:t>
            </a:r>
            <a:r>
              <a:rPr lang="en-US" altLang="zh-CN" dirty="0">
                <a:latin typeface="+mn-ea"/>
              </a:rPr>
              <a:t>form</a:t>
            </a:r>
            <a:r>
              <a:rPr lang="zh-CN" altLang="en-US" dirty="0" smtClean="0">
                <a:latin typeface="+mn-ea"/>
              </a:rPr>
              <a:t>标签。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>
                <a:latin typeface="+mn-ea"/>
              </a:rPr>
              <a:t>pattern</a:t>
            </a:r>
            <a:r>
              <a:rPr lang="zh-CN" altLang="en-US" dirty="0">
                <a:latin typeface="+mn-ea"/>
              </a:rPr>
              <a:t>：定义输入字段的正则表达式验证模式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err="1" smtClean="0">
                <a:latin typeface="+mn-ea"/>
              </a:rPr>
              <a:t>novalidate</a:t>
            </a:r>
            <a:r>
              <a:rPr lang="zh-CN" altLang="en-US" dirty="0" smtClean="0">
                <a:latin typeface="+mn-ea"/>
              </a:rPr>
              <a:t>：提交表单时不验证。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>
                <a:latin typeface="+mn-ea"/>
              </a:rPr>
              <a:t>placeholder</a:t>
            </a:r>
            <a:r>
              <a:rPr lang="zh-CN" altLang="en-US" dirty="0">
                <a:latin typeface="+mn-ea"/>
              </a:rPr>
              <a:t>：在输入字段中显示提示文本，帮助用户了解应输入什么样的数据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>
                <a:latin typeface="+mn-ea"/>
              </a:rPr>
              <a:t>required</a:t>
            </a:r>
            <a:r>
              <a:rPr lang="zh-CN" altLang="en-US" dirty="0">
                <a:latin typeface="+mn-ea"/>
              </a:rPr>
              <a:t>：表明该字段是必填的，如果为空，则提交表单时会有错误提示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 smtClean="0">
                <a:latin typeface="+mn-ea"/>
              </a:rPr>
              <a:t>step</a:t>
            </a:r>
            <a:r>
              <a:rPr lang="zh-CN" altLang="en-US" dirty="0">
                <a:latin typeface="+mn-ea"/>
              </a:rPr>
              <a:t>：定义数字输入字段的合法增量，例如日期和时间字段。</a:t>
            </a:r>
            <a:endParaRPr lang="en-US" altLang="zh-CN" dirty="0" smtClean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8770" y="3072557"/>
            <a:ext cx="5163230" cy="91115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前端开发工具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1288" y="1116095"/>
            <a:ext cx="103786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Web</a:t>
            </a:r>
            <a:r>
              <a:rPr lang="zh-CN" altLang="en-US" sz="2000" b="1" dirty="0">
                <a:latin typeface="+mn-ea"/>
              </a:rPr>
              <a:t>前端开发的主要工具有</a:t>
            </a:r>
            <a:r>
              <a:rPr lang="en-US" altLang="zh-CN" sz="2000" b="1" dirty="0">
                <a:latin typeface="+mn-ea"/>
              </a:rPr>
              <a:t>VS Code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Atom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Web Storm</a:t>
            </a:r>
            <a:r>
              <a:rPr lang="zh-CN" altLang="en-US" sz="2000" b="1" dirty="0">
                <a:latin typeface="+mn-ea"/>
              </a:rPr>
              <a:t>等。</a:t>
            </a:r>
            <a:endParaRPr lang="zh-CN" altLang="en-US" sz="20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b="1" dirty="0">
                <a:latin typeface="+mn-ea"/>
              </a:rPr>
              <a:t>VS Code  </a:t>
            </a:r>
            <a:r>
              <a:rPr lang="zh-CN" altLang="en-US" sz="2000" b="1" dirty="0">
                <a:latin typeface="+mn-ea"/>
              </a:rPr>
              <a:t>免费开源      首选</a:t>
            </a:r>
            <a:endParaRPr lang="zh-CN" altLang="en-US" sz="20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b="1" dirty="0">
                <a:latin typeface="+mn-ea"/>
              </a:rPr>
              <a:t>Atom  </a:t>
            </a:r>
            <a:r>
              <a:rPr lang="zh-CN" altLang="en-US" sz="2000" b="1" dirty="0">
                <a:latin typeface="+mn-ea"/>
              </a:rPr>
              <a:t>开源 跨平台 插件丰富 轻量级</a:t>
            </a:r>
            <a:endParaRPr lang="zh-CN" altLang="en-US" sz="20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b="1" dirty="0">
                <a:latin typeface="+mn-ea"/>
              </a:rPr>
              <a:t>Web Storm </a:t>
            </a:r>
            <a:r>
              <a:rPr lang="zh-CN" altLang="en-US" sz="2000" b="1" dirty="0">
                <a:latin typeface="+mn-ea"/>
              </a:rPr>
              <a:t>工程化开发</a:t>
            </a:r>
            <a:endParaRPr lang="zh-CN" altLang="en-US" sz="2000" b="1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407" y="3001956"/>
            <a:ext cx="6654794" cy="18058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61288" y="4948508"/>
            <a:ext cx="96659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1" dirty="0">
                <a:latin typeface="+mn-ea"/>
              </a:rPr>
              <a:t>常用学习网站：</a:t>
            </a:r>
            <a:r>
              <a:rPr lang="en-US" altLang="zh-CN" sz="2000" b="1" dirty="0">
                <a:latin typeface="+mn-ea"/>
              </a:rPr>
              <a:t>W3C</a:t>
            </a:r>
            <a:r>
              <a:rPr lang="zh-CN" altLang="en-US" sz="2000" b="1" dirty="0">
                <a:latin typeface="+mn-ea"/>
              </a:rPr>
              <a:t>、</a:t>
            </a:r>
            <a:r>
              <a:rPr lang="en-US" altLang="zh-CN" sz="2000" b="1" dirty="0">
                <a:latin typeface="+mn-ea"/>
              </a:rPr>
              <a:t>MDN</a:t>
            </a:r>
            <a:endParaRPr lang="en-US" altLang="zh-CN" sz="20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b="1" dirty="0">
                <a:latin typeface="+mn-ea"/>
                <a:hlinkClick r:id="rId2"/>
              </a:rPr>
              <a:t>https://www.w3school.com.cn/</a:t>
            </a:r>
            <a:endParaRPr lang="en-US" altLang="zh-CN" sz="2000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b="1" dirty="0">
                <a:latin typeface="+mn-ea"/>
                <a:hlinkClick r:id="rId3"/>
              </a:rPr>
              <a:t>https://</a:t>
            </a:r>
            <a:r>
              <a:rPr lang="en-US" altLang="zh-CN" sz="2000" b="1" dirty="0" smtClean="0">
                <a:latin typeface="+mn-ea"/>
                <a:hlinkClick r:id="rId3"/>
              </a:rPr>
              <a:t>developer.Mozilla.org/zh-CN/docs/Learn</a:t>
            </a:r>
            <a:endParaRPr lang="en-US" altLang="zh-CN" sz="2000" b="1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+mn-ea"/>
              </a:rPr>
              <a:t>推荐使用</a:t>
            </a:r>
            <a:r>
              <a:rPr lang="en-US" altLang="zh-CN" sz="2000" b="1" dirty="0">
                <a:latin typeface="+mn-ea"/>
              </a:rPr>
              <a:t>Visual Studio Code</a:t>
            </a:r>
            <a:r>
              <a:rPr lang="zh-CN" altLang="en-US" sz="2000" b="1" dirty="0">
                <a:latin typeface="+mn-ea"/>
              </a:rPr>
              <a:t>（</a:t>
            </a:r>
            <a:r>
              <a:rPr lang="en-US" altLang="zh-CN" sz="2000" b="1" dirty="0">
                <a:latin typeface="+mn-ea"/>
              </a:rPr>
              <a:t>VS Code</a:t>
            </a:r>
            <a:r>
              <a:rPr lang="zh-CN" altLang="en-US" sz="2000" b="1" dirty="0" smtClean="0">
                <a:latin typeface="+mn-ea"/>
              </a:rPr>
              <a:t>）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推荐</a:t>
            </a:r>
            <a:r>
              <a:rPr lang="en-US" altLang="zh-CN" sz="2000" dirty="0" smtClean="0">
                <a:latin typeface="+mn-ea"/>
              </a:rPr>
              <a:t>VS Code</a:t>
            </a:r>
            <a:r>
              <a:rPr lang="zh-CN" altLang="en-US" sz="2000" dirty="0" smtClean="0">
                <a:latin typeface="+mn-ea"/>
              </a:rPr>
              <a:t>插件：</a:t>
            </a:r>
            <a:endParaRPr lang="en-US" altLang="zh-CN" sz="20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Live Server - </a:t>
            </a:r>
            <a:r>
              <a:rPr lang="zh-CN" altLang="en-US" sz="2000" dirty="0" smtClean="0">
                <a:latin typeface="+mn-ea"/>
              </a:rPr>
              <a:t>允许</a:t>
            </a:r>
            <a:r>
              <a:rPr lang="zh-CN" altLang="en-US" sz="2000" dirty="0">
                <a:latin typeface="+mn-ea"/>
              </a:rPr>
              <a:t>开发者启动一个本地服务器，</a:t>
            </a:r>
            <a:r>
              <a:rPr lang="zh-CN" altLang="en-US" sz="2000" dirty="0" smtClean="0">
                <a:latin typeface="+mn-ea"/>
              </a:rPr>
              <a:t>并实时</a:t>
            </a:r>
            <a:r>
              <a:rPr lang="zh-CN" altLang="en-US" sz="2000" dirty="0">
                <a:latin typeface="+mn-ea"/>
              </a:rPr>
              <a:t>预览</a:t>
            </a:r>
            <a:r>
              <a:rPr lang="en-US" altLang="zh-CN" sz="2000" dirty="0">
                <a:latin typeface="+mn-ea"/>
              </a:rPr>
              <a:t>HTML</a:t>
            </a:r>
            <a:r>
              <a:rPr lang="zh-CN" altLang="en-US" sz="2000" dirty="0">
                <a:latin typeface="+mn-ea"/>
              </a:rPr>
              <a:t>文件</a:t>
            </a:r>
            <a:r>
              <a:rPr lang="zh-CN" altLang="en-US" sz="2000" dirty="0" smtClean="0">
                <a:latin typeface="+mn-ea"/>
              </a:rPr>
              <a:t>。对于</a:t>
            </a:r>
            <a:r>
              <a:rPr lang="zh-CN" altLang="en-US" sz="2000" dirty="0">
                <a:latin typeface="+mn-ea"/>
              </a:rPr>
              <a:t>快速查看和调试网页应用非常有帮助</a:t>
            </a:r>
            <a:r>
              <a:rPr lang="zh-CN" altLang="en-US" sz="2000" dirty="0" smtClean="0">
                <a:latin typeface="+mn-ea"/>
              </a:rPr>
              <a:t>。</a:t>
            </a:r>
            <a:endParaRPr lang="en-US" altLang="zh-CN" sz="20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Auto Rename Tag - </a:t>
            </a:r>
            <a:r>
              <a:rPr lang="zh-CN" altLang="en-US" sz="2000" dirty="0" smtClean="0">
                <a:latin typeface="+mn-ea"/>
              </a:rPr>
              <a:t>修改</a:t>
            </a:r>
            <a:r>
              <a:rPr lang="zh-CN" altLang="en-US" sz="2000" dirty="0">
                <a:latin typeface="+mn-ea"/>
              </a:rPr>
              <a:t>了一个</a:t>
            </a:r>
            <a:r>
              <a:rPr lang="en-US" altLang="zh-CN" sz="2000" dirty="0">
                <a:latin typeface="+mn-ea"/>
              </a:rPr>
              <a:t>HTML</a:t>
            </a:r>
            <a:r>
              <a:rPr lang="zh-CN" altLang="en-US" sz="2000" dirty="0">
                <a:latin typeface="+mn-ea"/>
              </a:rPr>
              <a:t>标签的名字时</a:t>
            </a:r>
            <a:r>
              <a:rPr lang="zh-CN" altLang="en-US" sz="2000" dirty="0" smtClean="0">
                <a:latin typeface="+mn-ea"/>
              </a:rPr>
              <a:t>，插件</a:t>
            </a:r>
            <a:r>
              <a:rPr lang="zh-CN" altLang="en-US" sz="2000" dirty="0">
                <a:latin typeface="+mn-ea"/>
              </a:rPr>
              <a:t>会自动同步更新另一个匹配的闭合</a:t>
            </a:r>
            <a:r>
              <a:rPr lang="zh-CN" altLang="en-US" sz="2000" dirty="0" smtClean="0">
                <a:latin typeface="+mn-ea"/>
              </a:rPr>
              <a:t>标签。</a:t>
            </a:r>
            <a:endParaRPr lang="en-US" altLang="zh-CN" sz="20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Chinese (Simplified) - </a:t>
            </a:r>
            <a:r>
              <a:rPr lang="zh-CN" altLang="en-US" sz="2000" dirty="0" smtClean="0">
                <a:latin typeface="+mn-ea"/>
              </a:rPr>
              <a:t>提高</a:t>
            </a:r>
            <a:r>
              <a:rPr lang="zh-CN" altLang="en-US" sz="2000" dirty="0">
                <a:latin typeface="+mn-ea"/>
              </a:rPr>
              <a:t>中文用户的</a:t>
            </a:r>
            <a:r>
              <a:rPr lang="zh-CN" altLang="en-US" sz="2000" dirty="0" smtClean="0">
                <a:latin typeface="+mn-ea"/>
              </a:rPr>
              <a:t>体验。</a:t>
            </a:r>
            <a:endParaRPr lang="en-US" altLang="zh-CN" sz="20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 dirty="0">
                <a:latin typeface="+mn-ea"/>
              </a:rPr>
              <a:t>CSS Peek - </a:t>
            </a:r>
            <a:r>
              <a:rPr lang="zh-CN" altLang="en-US" sz="2000" dirty="0" smtClean="0">
                <a:latin typeface="+mn-ea"/>
              </a:rPr>
              <a:t>在</a:t>
            </a:r>
            <a:r>
              <a:rPr lang="en-US" altLang="zh-CN" sz="2000" dirty="0">
                <a:latin typeface="+mn-ea"/>
              </a:rPr>
              <a:t>HTML</a:t>
            </a:r>
            <a:r>
              <a:rPr lang="zh-CN" altLang="en-US" sz="2000" dirty="0">
                <a:latin typeface="+mn-ea"/>
              </a:rPr>
              <a:t>文件中看到一个类名或者</a:t>
            </a:r>
            <a:r>
              <a:rPr lang="en-US" altLang="zh-CN" sz="2000" dirty="0">
                <a:latin typeface="+mn-ea"/>
              </a:rPr>
              <a:t>ID</a:t>
            </a:r>
            <a:r>
              <a:rPr lang="zh-CN" altLang="en-US" sz="2000" dirty="0">
                <a:latin typeface="+mn-ea"/>
              </a:rPr>
              <a:t>时，这个插件可以</a:t>
            </a:r>
            <a:r>
              <a:rPr lang="zh-CN" altLang="en-US" sz="2000" dirty="0" smtClean="0">
                <a:latin typeface="+mn-ea"/>
              </a:rPr>
              <a:t>帮助直接</a:t>
            </a:r>
            <a:r>
              <a:rPr lang="zh-CN" altLang="en-US" sz="2000" dirty="0">
                <a:latin typeface="+mn-ea"/>
              </a:rPr>
              <a:t>跳转到对应的</a:t>
            </a:r>
            <a:r>
              <a:rPr lang="en-US" altLang="zh-CN" sz="2000" dirty="0">
                <a:latin typeface="+mn-ea"/>
              </a:rPr>
              <a:t>CSS</a:t>
            </a:r>
            <a:r>
              <a:rPr lang="zh-CN" altLang="en-US" sz="2000" dirty="0">
                <a:latin typeface="+mn-ea"/>
              </a:rPr>
              <a:t>文件中，并且定位到相应的样式规则，大大提高了查找和编辑</a:t>
            </a:r>
            <a:r>
              <a:rPr lang="en-US" altLang="zh-CN" sz="2000" dirty="0">
                <a:latin typeface="+mn-ea"/>
              </a:rPr>
              <a:t>CSS</a:t>
            </a:r>
            <a:r>
              <a:rPr lang="zh-CN" altLang="en-US" sz="2000" dirty="0">
                <a:latin typeface="+mn-ea"/>
              </a:rPr>
              <a:t>的</a:t>
            </a:r>
            <a:r>
              <a:rPr lang="zh-CN" altLang="en-US" sz="2000" dirty="0" smtClean="0">
                <a:latin typeface="+mn-ea"/>
              </a:rPr>
              <a:t>效率。</a:t>
            </a:r>
            <a:endParaRPr lang="en-US" altLang="zh-CN" sz="2000" dirty="0" smtClean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前端开发工具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Emmet </a:t>
            </a:r>
            <a:r>
              <a:rPr lang="zh-CN" altLang="en-US" sz="2000" b="1" dirty="0">
                <a:latin typeface="+mn-ea"/>
              </a:rPr>
              <a:t>语法</a:t>
            </a:r>
            <a:endParaRPr lang="zh-CN" altLang="en-US" sz="2000" b="1" dirty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原名</a:t>
            </a:r>
            <a:r>
              <a:rPr lang="en-US" altLang="zh-CN" sz="2000" dirty="0">
                <a:latin typeface="+mn-ea"/>
              </a:rPr>
              <a:t>Zen coding</a:t>
            </a:r>
            <a:r>
              <a:rPr lang="zh-CN" altLang="en-US" sz="2000" dirty="0">
                <a:latin typeface="+mn-ea"/>
              </a:rPr>
              <a:t>，是一种用于提高</a:t>
            </a:r>
            <a:r>
              <a:rPr lang="en-US" altLang="zh-CN" sz="2000" dirty="0">
                <a:latin typeface="+mn-ea"/>
              </a:rPr>
              <a:t>HTML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CSS</a:t>
            </a:r>
            <a:r>
              <a:rPr lang="zh-CN" altLang="en-US" sz="2000" dirty="0">
                <a:latin typeface="+mn-ea"/>
              </a:rPr>
              <a:t>编写速度的缩写语法。它被广泛使用于</a:t>
            </a:r>
            <a:r>
              <a:rPr lang="en-US" altLang="zh-CN" sz="2000" dirty="0" smtClean="0">
                <a:latin typeface="+mn-ea"/>
              </a:rPr>
              <a:t>VS Code</a:t>
            </a:r>
            <a:r>
              <a:rPr lang="zh-CN" altLang="en-US" sz="2000" dirty="0">
                <a:latin typeface="+mn-ea"/>
              </a:rPr>
              <a:t>编辑器内部</a:t>
            </a:r>
            <a:r>
              <a:rPr lang="zh-CN" altLang="en-US" sz="2000" dirty="0" smtClean="0">
                <a:latin typeface="+mn-ea"/>
              </a:rPr>
              <a:t>。</a:t>
            </a:r>
            <a:r>
              <a:rPr lang="en-US" altLang="zh-CN" sz="2000" dirty="0">
                <a:latin typeface="+mn-ea"/>
              </a:rPr>
              <a:t>Emmet</a:t>
            </a:r>
            <a:r>
              <a:rPr lang="zh-CN" altLang="en-US" sz="2000" dirty="0">
                <a:latin typeface="+mn-ea"/>
              </a:rPr>
              <a:t>主要包括两部分，即快速生成</a:t>
            </a:r>
            <a:r>
              <a:rPr lang="en-US" altLang="zh-CN" sz="2000" dirty="0">
                <a:latin typeface="+mn-ea"/>
              </a:rPr>
              <a:t>HTML</a:t>
            </a:r>
            <a:r>
              <a:rPr lang="zh-CN" altLang="en-US" sz="2000" dirty="0">
                <a:latin typeface="+mn-ea"/>
              </a:rPr>
              <a:t>结构语法和快速生成</a:t>
            </a:r>
            <a:r>
              <a:rPr lang="en-US" altLang="zh-CN" sz="2000" dirty="0">
                <a:latin typeface="+mn-ea"/>
              </a:rPr>
              <a:t>CSS</a:t>
            </a:r>
            <a:r>
              <a:rPr lang="zh-CN" altLang="en-US" sz="2000" dirty="0">
                <a:latin typeface="+mn-ea"/>
              </a:rPr>
              <a:t>样式</a:t>
            </a:r>
            <a:r>
              <a:rPr lang="zh-CN" altLang="en-US" sz="2000" dirty="0" smtClean="0">
                <a:latin typeface="+mn-ea"/>
              </a:rPr>
              <a:t>语法。</a:t>
            </a:r>
            <a:endParaRPr lang="en-US" altLang="zh-CN" sz="20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latin typeface="+mn-ea"/>
              </a:rPr>
              <a:t>快速生成</a:t>
            </a:r>
            <a:r>
              <a:rPr lang="en-US" altLang="zh-CN" sz="2000" dirty="0" smtClean="0">
                <a:latin typeface="+mn-ea"/>
              </a:rPr>
              <a:t>HTML</a:t>
            </a:r>
            <a:r>
              <a:rPr lang="zh-CN" altLang="en-US" sz="2000" dirty="0" smtClean="0">
                <a:latin typeface="+mn-ea"/>
              </a:rPr>
              <a:t>结构语法</a:t>
            </a:r>
            <a:endParaRPr lang="en-US" altLang="zh-CN" sz="2000" dirty="0" smtClean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389637"/>
            <a:ext cx="8511595" cy="30522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前端开发工具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文本框 8"/>
          <p:cNvSpPr txBox="1"/>
          <p:nvPr/>
        </p:nvSpPr>
        <p:spPr>
          <a:xfrm>
            <a:off x="1161288" y="988980"/>
            <a:ext cx="103786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Emmet </a:t>
            </a:r>
            <a:r>
              <a:rPr lang="zh-CN" altLang="en-US" sz="2000" b="1" dirty="0">
                <a:latin typeface="+mn-ea"/>
              </a:rPr>
              <a:t>语法</a:t>
            </a:r>
            <a:endParaRPr lang="zh-CN" altLang="en-US" sz="2000" b="1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 smtClean="0">
                <a:latin typeface="+mn-ea"/>
              </a:rPr>
              <a:t>快速生成</a:t>
            </a:r>
            <a:r>
              <a:rPr lang="en-US" altLang="zh-CN" sz="2000" dirty="0" smtClean="0">
                <a:latin typeface="+mn-ea"/>
              </a:rPr>
              <a:t>CSS</a:t>
            </a:r>
            <a:r>
              <a:rPr lang="zh-CN" altLang="en-US" sz="2000" dirty="0" smtClean="0">
                <a:latin typeface="+mn-ea"/>
              </a:rPr>
              <a:t>样式语法</a:t>
            </a:r>
            <a:endParaRPr lang="en-US" altLang="zh-CN" sz="2000" dirty="0" smtClean="0">
              <a:latin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059074"/>
            <a:ext cx="5411107" cy="231615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前端开发工具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1288" y="988980"/>
            <a:ext cx="1039024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ea"/>
              </a:rPr>
              <a:t>采用</a:t>
            </a:r>
            <a:r>
              <a:rPr lang="en-US" altLang="zh-CN" b="1" dirty="0" smtClean="0">
                <a:latin typeface="+mn-ea"/>
              </a:rPr>
              <a:t>HTML</a:t>
            </a:r>
            <a:r>
              <a:rPr lang="zh-CN" altLang="en-US" b="1" dirty="0" smtClean="0">
                <a:latin typeface="+mn-ea"/>
              </a:rPr>
              <a:t>语义标签组织“观鸟网”页面内容。添加正确的语义标签之后，</a:t>
            </a:r>
            <a:r>
              <a:rPr lang="en-US" altLang="zh-CN" b="1" dirty="0" smtClean="0">
                <a:latin typeface="+mn-ea"/>
              </a:rPr>
              <a:t>CSS</a:t>
            </a:r>
            <a:r>
              <a:rPr lang="zh-CN" altLang="en-US" b="1" dirty="0" smtClean="0">
                <a:latin typeface="+mn-ea"/>
              </a:rPr>
              <a:t>样式会应用在网页中。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assets </a:t>
            </a:r>
            <a:r>
              <a:rPr lang="zh-CN" altLang="en-US" b="1" dirty="0">
                <a:latin typeface="+mn-ea"/>
              </a:rPr>
              <a:t>文件夹包含：</a:t>
            </a:r>
            <a:endParaRPr lang="zh-CN" altLang="en-US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1. </a:t>
            </a:r>
            <a:r>
              <a:rPr lang="zh-CN" altLang="en-US" dirty="0">
                <a:latin typeface="+mn-ea"/>
              </a:rPr>
              <a:t>需要补充结构标记的 </a:t>
            </a:r>
            <a:r>
              <a:rPr lang="en-US" altLang="zh-CN" dirty="0">
                <a:latin typeface="+mn-ea"/>
              </a:rPr>
              <a:t>HTML </a:t>
            </a:r>
            <a:r>
              <a:rPr lang="zh-CN" altLang="en-US" dirty="0">
                <a:latin typeface="+mn-ea"/>
              </a:rPr>
              <a:t>文件。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2. </a:t>
            </a:r>
            <a:r>
              <a:rPr lang="zh-CN" altLang="en-US" dirty="0">
                <a:latin typeface="+mn-ea"/>
              </a:rPr>
              <a:t>给标记添加样式的 </a:t>
            </a:r>
            <a:r>
              <a:rPr lang="en-US" altLang="zh-CN" dirty="0">
                <a:latin typeface="+mn-ea"/>
              </a:rPr>
              <a:t>CSS </a:t>
            </a:r>
            <a:r>
              <a:rPr lang="zh-CN" altLang="en-US" dirty="0">
                <a:latin typeface="+mn-ea"/>
              </a:rPr>
              <a:t>文件。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3. </a:t>
            </a:r>
            <a:r>
              <a:rPr lang="zh-CN" altLang="en-US" dirty="0">
                <a:latin typeface="+mn-ea"/>
              </a:rPr>
              <a:t>网页中使用的图片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+mn-ea"/>
              </a:rPr>
              <a:t>任务：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为该网站的主页添加结构化元素，使其可以进行布局设计。需添加的有：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1. </a:t>
            </a:r>
            <a:r>
              <a:rPr lang="zh-CN" altLang="en-US" dirty="0">
                <a:latin typeface="+mn-ea"/>
              </a:rPr>
              <a:t>页眉（ </a:t>
            </a:r>
            <a:r>
              <a:rPr lang="en-US" altLang="zh-CN" dirty="0">
                <a:latin typeface="+mn-ea"/>
              </a:rPr>
              <a:t>&lt;header&gt; </a:t>
            </a:r>
            <a:r>
              <a:rPr lang="zh-CN" altLang="en-US" dirty="0">
                <a:latin typeface="+mn-ea"/>
              </a:rPr>
              <a:t>），应充满页面宽度，并包含网站主标题、网站 </a:t>
            </a:r>
            <a:r>
              <a:rPr lang="en-US" altLang="zh-CN" dirty="0">
                <a:latin typeface="+mn-ea"/>
              </a:rPr>
              <a:t>logo </a:t>
            </a:r>
            <a:r>
              <a:rPr lang="zh-CN" altLang="en-US" dirty="0">
                <a:latin typeface="+mn-ea"/>
              </a:rPr>
              <a:t>和导航栏菜单</a:t>
            </a:r>
            <a:r>
              <a:rPr lang="zh-CN" altLang="en-US" dirty="0" smtClean="0">
                <a:latin typeface="+mn-ea"/>
              </a:rPr>
              <a:t>。</a:t>
            </a:r>
            <a:r>
              <a:rPr lang="en-US" altLang="zh-CN" dirty="0" smtClean="0">
                <a:latin typeface="+mn-ea"/>
              </a:rPr>
              <a:t>CSS</a:t>
            </a:r>
            <a:r>
              <a:rPr lang="zh-CN" altLang="en-US" dirty="0" smtClean="0">
                <a:latin typeface="+mn-ea"/>
              </a:rPr>
              <a:t>样式生效后</a:t>
            </a:r>
            <a:r>
              <a:rPr lang="zh-CN" altLang="en-US" dirty="0">
                <a:latin typeface="+mn-ea"/>
              </a:rPr>
              <a:t>标题和 </a:t>
            </a:r>
            <a:r>
              <a:rPr lang="en-US" altLang="zh-CN" dirty="0">
                <a:latin typeface="+mn-ea"/>
              </a:rPr>
              <a:t>logo </a:t>
            </a:r>
            <a:r>
              <a:rPr lang="zh-CN" altLang="en-US" dirty="0">
                <a:latin typeface="+mn-ea"/>
              </a:rPr>
              <a:t>应显示</a:t>
            </a:r>
            <a:r>
              <a:rPr lang="zh-CN" altLang="en-US" dirty="0" smtClean="0">
                <a:latin typeface="+mn-ea"/>
              </a:rPr>
              <a:t>在两边</a:t>
            </a:r>
            <a:r>
              <a:rPr lang="zh-CN" altLang="en-US" dirty="0">
                <a:latin typeface="+mn-ea"/>
              </a:rPr>
              <a:t>，导航栏在它们下方。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2. </a:t>
            </a:r>
            <a:r>
              <a:rPr lang="zh-CN" altLang="en-US" dirty="0">
                <a:latin typeface="+mn-ea"/>
              </a:rPr>
              <a:t>主内容区域（ </a:t>
            </a:r>
            <a:r>
              <a:rPr lang="en-US" altLang="zh-CN" dirty="0">
                <a:latin typeface="+mn-ea"/>
              </a:rPr>
              <a:t>&lt;main&gt; </a:t>
            </a:r>
            <a:r>
              <a:rPr lang="zh-CN" altLang="en-US" dirty="0">
                <a:latin typeface="+mn-ea"/>
              </a:rPr>
              <a:t>），应有两栏，其中主区域显示欢迎信息，侧边栏包含一些缩略图。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3. </a:t>
            </a:r>
            <a:r>
              <a:rPr lang="zh-CN" altLang="en-US" dirty="0">
                <a:latin typeface="+mn-ea"/>
              </a:rPr>
              <a:t>页脚（ </a:t>
            </a:r>
            <a:r>
              <a:rPr lang="en-US" altLang="zh-CN" dirty="0">
                <a:latin typeface="+mn-ea"/>
              </a:rPr>
              <a:t>&lt;footer&gt; </a:t>
            </a:r>
            <a:r>
              <a:rPr lang="zh-CN" altLang="en-US" dirty="0">
                <a:latin typeface="+mn-ea"/>
              </a:rPr>
              <a:t>），包含版权信息和鸣谢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+mn-ea"/>
              </a:rPr>
              <a:t>通过在</a:t>
            </a:r>
            <a:r>
              <a:rPr lang="en-US" altLang="zh-CN" dirty="0">
                <a:latin typeface="+mn-ea"/>
              </a:rPr>
              <a:t>header </a:t>
            </a:r>
            <a:r>
              <a:rPr lang="zh-CN" altLang="en-US" dirty="0">
                <a:latin typeface="+mn-ea"/>
              </a:rPr>
              <a:t>头部提供的现有元素下方添加另一个 元素，将</a:t>
            </a:r>
            <a:r>
              <a:rPr lang="en-US" altLang="zh-CN" dirty="0">
                <a:latin typeface="+mn-ea"/>
              </a:rPr>
              <a:t>assets </a:t>
            </a:r>
            <a:r>
              <a:rPr lang="zh-CN" altLang="en-US" dirty="0">
                <a:latin typeface="+mn-ea"/>
              </a:rPr>
              <a:t>文件夹提供的 </a:t>
            </a:r>
            <a:r>
              <a:rPr lang="en-US" altLang="zh-CN" dirty="0">
                <a:latin typeface="+mn-ea"/>
              </a:rPr>
              <a:t>CSS </a:t>
            </a:r>
            <a:r>
              <a:rPr lang="zh-CN" altLang="en-US" dirty="0">
                <a:latin typeface="+mn-ea"/>
              </a:rPr>
              <a:t>应用到页面。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&lt;link </a:t>
            </a:r>
            <a:r>
              <a:rPr lang="en-US" altLang="zh-CN" dirty="0" err="1">
                <a:latin typeface="+mn-ea"/>
              </a:rPr>
              <a:t>rel</a:t>
            </a:r>
            <a:r>
              <a:rPr lang="en-US" altLang="zh-CN" dirty="0">
                <a:latin typeface="+mn-ea"/>
              </a:rPr>
              <a:t>="stylesheet" </a:t>
            </a:r>
            <a:r>
              <a:rPr lang="en-US" altLang="zh-CN" dirty="0" err="1">
                <a:latin typeface="+mn-ea"/>
              </a:rPr>
              <a:t>href</a:t>
            </a:r>
            <a:r>
              <a:rPr lang="en-US" altLang="zh-CN" dirty="0">
                <a:latin typeface="+mn-ea"/>
              </a:rPr>
              <a:t>="style.css"&gt;</a:t>
            </a:r>
            <a:endParaRPr lang="en-US" altLang="zh-CN" dirty="0" smtClean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600" b="1" kern="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4" y="1100150"/>
            <a:ext cx="10476951" cy="5385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8368</Words>
  <Application>WPS 表格</Application>
  <PresentationFormat>宽屏</PresentationFormat>
  <Paragraphs>422</Paragraphs>
  <Slides>30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汉仪旗黑</vt:lpstr>
      <vt:lpstr>方正颜宋简体_大</vt:lpstr>
      <vt:lpstr>思源黑体 CN Light</vt:lpstr>
      <vt:lpstr>汉仪中黑KW</vt:lpstr>
      <vt:lpstr>宋体</vt:lpstr>
      <vt:lpstr>Arial Unicode MS</vt:lpstr>
      <vt:lpstr>等线 Light</vt:lpstr>
      <vt:lpstr>汉仪中等线KW</vt:lpstr>
      <vt:lpstr>等线</vt:lpstr>
      <vt:lpstr>等线</vt:lpstr>
      <vt:lpstr>汉仪书宋二KW</vt:lpstr>
      <vt:lpstr>Office 主题​​</vt:lpstr>
      <vt:lpstr>PowerPoint 演示文稿</vt:lpstr>
      <vt:lpstr>成绩分布</vt:lpstr>
      <vt:lpstr>预习参考视频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浩然</dc:creator>
  <cp:lastModifiedBy>朱静雯</cp:lastModifiedBy>
  <cp:revision>141</cp:revision>
  <dcterms:created xsi:type="dcterms:W3CDTF">2024-09-05T01:54:42Z</dcterms:created>
  <dcterms:modified xsi:type="dcterms:W3CDTF">2024-09-05T01:54:42Z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2052-6.8.2.8850</vt:lpwstr>
  </property>
  <property fmtid="{D5CDD505-2E9C-101B-9397-08002B2CF9AE}" pid="3" name="ICV">
    <vt:lpwstr/>
  </property>
</Properties>
</file>